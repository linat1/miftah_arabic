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4 (TC-L04). The website lesson reuses D4-L03 (Environmental Problems — Causes and Effects) with the Topic C focus “Explain pollution, climate change and habitat loss through cause and effect” (grammar: passive voice; cause/effect connectors). The picture match is the website lesson game “Cause &amp; Effect”; the “cause–effect chain” task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D4-L03 is B1 language. CORE: the problem words (most are iḍāfa phrases like TC-L02: تَلَوُّثُ الهَوَاءِ = pollution of the air) + two connectors: بِسَبَبِ (because of) and يُؤَدِّي إِلَى (leads to). The three website game sentences are the Core models. DEVELOP: active vs passive (تُلَوِّثُ المَصَانِعُ الهَوَاءَ / يُلَوَّثُ الهَوَاءُ). STRETCH: مِمَّا يُسَبِّبُ, نَتِيجَةً لِـ and the passive/process-verb distinction.
• Each problem card breaks the phrase into its two words with English; read-along listening with English; picture match with icons.
• Urdu bridge words (سبب، نتیجہ، مشکل، خطرہ، مرض).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TC-L03 and TC-L02.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Today we link a CAUSE to an EFFECT: بِسَبَبِ + cause, or cause + يُؤَدِّي إِلَى +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سبب (cause), نتیجہ (result), مشکل (difficulty), خطرہ (danger — the listening says أَخْطَرِ المُشْكِلَاتِ “the most dangerous problems”), مرض (illness — أَمْرَاضُ التَّنَفُّسِ).
All four groups are the website D4-L03 vocabulary; Group 2 also adds الدُّخَانُ and المَصَانِعُ from the website lesson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problems (website D4-L03). Hear → Say → See → Use.
The small boxes break each phrase into its two words (English label above). Most are iḍāfa — “the pollution OF the air” — exactly the structure from TC-L02. Two are noun + nisba adjective (pink ending): البِلَاسْتِيكِيَّةُ، الحَرَارِيُّ.
Link to TC-L02: التَّصَحُّرُ comes from صَحْرَاء (desert), and إِزَالَةُ الغَابَاتِ uses غَابَة (forest).
Quick check: “Type the NUMBER of the problem you think is worst in your city” (personal response, English reason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more problems (website D4-L03 + website lesson game for الدُّخَانُ / المَصَانِعُ). Core: الدُّخَانُ and المَصَانِعُ; Develop / Stretch: all six.
Link to TC-L03: ارْتِفَاع (a rise) is the noun from تَرْتَفِعُ (it 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Cause and effect (website D4-L03). Teal = key connector.
Core: learn cards 1–2 today. Develop: 1–5. Stretch: all six.
Gesture: point backwards over your shoulder for بِسَبَبِ (the cause came before), point forwards for يُؤَدِّي إِلَى (the effect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Active and passive processes (website D4-L03). Develop / Stretch; Core students learn row 1 only.
Listen to the vowels: ACTIVE يُلَوِّثُ (yu-law-WI-thu) → PASSIVE يُلَوَّثُ (yu-law-WA-thu). The passive sounds “u … a”.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“Result with يُؤَدِّي إِلَى”: cause + يُؤَدِّي إِلَى + verbal noun / noun. Keep the preposition إِلَى after يُؤَدِّي.
Sentences: website lesson game (row 1), website pattern (row 2), mission (row 3), website common mistake corrected (row 4).
Read each row in three beats; students tap the three beats. Arabic often puts the verb FIRST: “causes — factory smoke — air pollution”.
Core: learn rows 1–2 as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“Cause phrases” (بِسَبَبِ / نَتِيجَةً لِـ + genitive noun: these expressions are followed by a noun phrase, not a complete finite clause) and “Linking a whole clause to a consequence” (مِمَّا refers back to the whole previous idea).
Examples: website pattern and rule examples.
• CORE: بِسَبَبِ and يُؤَدِّي إِلَى. • DEVELOP: add نَتِيجَةً لِـ. • STRETCH: مِمَّا يُسَبِّبُ.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“Active and passive”: تُلَوِّثُ Xُ Yَ ↔ يُلَوَّثُ Yُ. The active sentence names the agent. The passive focuses on the affected thing; the passive subject is nominative.
Sentences: website grammar examples, quiz and listening script.
Develop focus — Core students listen and notice only: the active sentence tells you WHO (blue).
Stretch: explain why row 5 is not a passive (website: “ينبعث is not a passive form of لوّث; it describes smoke or gas emanating”).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4, 5, 3 and 1.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chain into their books.
Step 1 — “I name the problem: تَلَوُّثُ الهَوَاءِ. يَزْدَادُ means it is increasing.”
Step 2 — “Why? بِسَبَبِ + nouns: السَّيَّارَاتِ وَالمَصَانِعِ.”
Step 3 — “What happens? وَهٰذَا يُؤَدِّي إِلَى أَمْرَاضٍ — I must keep إِلَى.”
Step 4 — “My judgement: فِي رَأْيِي، هٰذِهِ مُشْكِلَةٌ خَطِيرَةٌ.”
Built from website language: listening script (السَّيَّارَاتُ وَالمَصَانِعُ … تَزْدَادُ أَمْرَاضُ التَّنَفُّسِ), website speaking model (فِي رَأْيِي، تَلَوُّثُ الهَوَاءِ خَطِيرٌ …) and the corrected website mistake (يُؤَدِّي التَّلَوُّثُ إِلَى أَمْرَاضٍ).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patterns and rules. Students copy TWO that are useful for them.
• Core: copy 1 and 2. • Develop: copy 3 and change the cause. • Stretch: copy 4 and write another chain with مِمَّا.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(“Cause &amp; Effect”)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دُخَانُ المَصَانِعِ (factory smoke), النُّفَايَاتِ فِي البَحْرِ (waste in the sea), قَطْعُ الأَشْجَارِ (cutting trees). Develop: find يُؤَدِّي … إِلَى in sentences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(“Cause &amp; Effect”)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دُخَانُ المَصَانِعِ (factory smoke), النُّفَايَاتِ فِي البَحْرِ (waste in the sea), قَطْعُ الأَشْجَارِ (cutting trees). Develop: find يُؤَدِّي … إِلَى in sentences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website pattern, website common mistake).
Students choose ONE box per column (start from Column 1 on the right) and type the letters, e.g. “1: B A B”. ↔ Rehearse 30s first.
Core: sentences 2–3 (connectors). Develop / Stretch: sentence 1 (active + object ending) and explain the wrong options.
Website “Advanced application — Cause–effect chain”: after the builder, pairs build a four-step chain from a cause to a problem and two effects in the chat; a partner must challenge or improve one link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website pattern, website common mistake).
Students choose ONE box per column (start from Column 1 on the right) and type the letters, e.g. “1: B A B”. ↔ Rehearse 30s first.
Core: sentences 2–3 (connectors). Develop / Stretch: sentence 1 (active + object ending) and explain the wrong options.
Website “Advanced application — Cause–effect chain”: after the builder, pairs build a four-step chain from a cause to a problem and two effects in the chat; a partner must challenge or improve one link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with a VERB (يُـ / تُـ at the start) is a process; a tile that starts with تَلَوُّث / النُّفَايَات is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with a VERB (يُـ / تُـ at the start) is a process; a tile that starts with تَلَوُّث / النُّفَايَات is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يُعَدُّ تَلَوُّثُ الهَوَاءِ مِنْ أَخْطَرِ المُشْكِلَاتِ فِي المَدِينَةِ. تُلَوِّثُ السَّيَّارَاتُ وَالمَصَانِعُ الهَوَاءَ، وَيَنْبَعِثُ مِنْهَا دُخَانٌ كَثِيفٌ. نَتِيجَةً لِذٰلِكَ، تَزْدَادُ أَمْرَاضُ التَّنَفُّسِ. كَمَا تُرْمَى نُفَايَاتٌ بِلَاسْتِيكِيَّةٌ فِي النَّهْرِ، مِمَّا يُؤَدِّي إِلَى تَلَوُّثِ المِيَاهِ وَنُفُوقِ بَعْضِ الأَسْمَاكِ.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is an environmental problem in your city?” — answered with the Core stem, e.g. تَلَوُّثُ الهَوَاءِ مُشْكِلَةٌ خَطِيرَةٌ بِسَبَبِ السَّيَّارَاتِ.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explaining two environmental problems, their causes and consequences.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passives يُلَوَّثُ الهَوَاءُ · تُرْمَى النُّفَايَاتُ · تُقْطَعُ الأَشْجَارُ; connectors فَبِسَبَبِ · مِمَّا يَضُرُّ · فَيُؤَدِّي ذٰلِكَ إِلَى; judgement لَا بُدَّ مِنْ فَهْمِ الأَسْبَابِ.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(TC-L05 · Environmental Solutions and Responsibility) will spend class time USING this language, so students prepare it tonight — short, simple, easy to access (school guidance: “Simple, Short, Interesting, Relevant, Easy to access”). The five words come from the website D4-L04 vocabulary (Environmental solutions; Action verbs; Advice).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2  ·  LESSON 1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Environmental Problems and Their Causes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المُشْكِلَاتُ البِيئِيَّةُ وَأَسْبَابُهَا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pollution, climate change and habitat loss through cause and effect: </a:t>
            </a:r>
            <a:pPr algn="l" indent="0" marL="0">
              <a:buNone/>
            </a:pPr>
            <a:r>
              <a:rPr lang="ar-SA" altLang="en-US" sz="1800" dirty="0">
                <a:solidFill>
                  <a:srgbClr val="C6D2E6"/>
                </a:solidFill>
                <a:latin typeface="Amiri" pitchFamily="34" charset="0"/>
                <a:ea typeface="Amiri" pitchFamily="34" charset="-122"/>
                <a:cs typeface="Amiri" pitchFamily="34" charset="-120"/>
              </a:rPr>
              <a:t>بِسَبَبِ</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يُؤَدِّي إِلَى</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مِمَّا يُسَبِّبُ</a:t>
            </a:r>
            <a:pPr algn="l" indent="0" marL="0">
              <a:buNone/>
            </a:pPr>
            <a:r>
              <a:rPr lang="en-US" sz="1400" dirty="0">
                <a:solidFill>
                  <a:srgbClr val="C6D2E6"/>
                </a:solidFill>
                <a:latin typeface="Calibri" pitchFamily="34" charset="0"/>
                <a:ea typeface="Calibri" pitchFamily="34" charset="-122"/>
                <a:cs typeface="Calibri" pitchFamily="34" charset="-120"/>
              </a:rPr>
              <a:t>, and active or passive verbs (</a:t>
            </a:r>
            <a:pPr algn="l" indent="0" marL="0">
              <a:buNone/>
            </a:pPr>
            <a:r>
              <a:rPr lang="ar-SA" altLang="en-US" sz="1800" dirty="0">
                <a:solidFill>
                  <a:srgbClr val="C6D2E6"/>
                </a:solidFill>
                <a:latin typeface="Amiri" pitchFamily="34" charset="0"/>
                <a:ea typeface="Amiri" pitchFamily="34" charset="-122"/>
                <a:cs typeface="Amiri" pitchFamily="34" charset="-120"/>
              </a:rPr>
              <a:t>تُلَوِّثُ / يُلَوَّثُ</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TC-L04 · Week 2, lesson 1</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Problem words, then “because of” and “leads to”.</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a chain,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“pollution”?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شَجَرَةٌ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بِسَبَبِ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of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between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order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الشِّتَاءِ.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“hotter than”?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حَارٌّ 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حَرَارَةً أَكْثَرُ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حَرَارَةً 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تَضُمُّ الغَابَةُ آلَافَ الأَنْوَاعِ.</a:t>
            </a:r>
            <a:endParaRPr lang="ar-SA"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forest includes thousands of species.</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forest is a natural habitat.</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sea includes coral reefs.</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“pollution”?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هَوَاءٌ</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تَلَوُّثٌ</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شَجَرَةٌ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تَلَوُّثٌ</a:t>
            </a:r>
            <a:pPr algn="l" indent="0" marL="0">
              <a:buNone/>
            </a:pPr>
            <a:r>
              <a:rPr lang="en-US" sz="1050" i="1" dirty="0">
                <a:solidFill>
                  <a:srgbClr val="8A6D1E"/>
                </a:solidFill>
                <a:latin typeface="Calibri" pitchFamily="34" charset="0"/>
                <a:ea typeface="Calibri" pitchFamily="34" charset="-122"/>
                <a:cs typeface="Calibri" pitchFamily="34" charset="-120"/>
              </a:rPr>
              <a:t> = pollution · </a:t>
            </a:r>
            <a:pPr algn="l" indent="0" marL="0">
              <a:buNone/>
            </a:pPr>
            <a:r>
              <a:rPr lang="ar-SA" altLang="en-US" sz="1350" dirty="0">
                <a:solidFill>
                  <a:srgbClr val="8A6D1E"/>
                </a:solidFill>
                <a:latin typeface="Amiri" pitchFamily="34" charset="0"/>
                <a:ea typeface="Amiri" pitchFamily="34" charset="-122"/>
                <a:cs typeface="Amiri" pitchFamily="34" charset="-120"/>
              </a:rPr>
              <a:t>هَوَاءٌ</a:t>
            </a:r>
            <a:pPr algn="l" indent="0" marL="0">
              <a:buNone/>
            </a:pPr>
            <a:r>
              <a:rPr lang="en-US" sz="1050" i="1" dirty="0">
                <a:solidFill>
                  <a:srgbClr val="8A6D1E"/>
                </a:solidFill>
                <a:latin typeface="Calibri" pitchFamily="34" charset="0"/>
                <a:ea typeface="Calibri" pitchFamily="34" charset="-122"/>
                <a:cs typeface="Calibri" pitchFamily="34" charset="-120"/>
              </a:rPr>
              <a:t> = air · </a:t>
            </a:r>
            <a:pPr algn="l" indent="0" marL="0">
              <a:buNone/>
            </a:pPr>
            <a:r>
              <a:rPr lang="ar-SA" altLang="en-US" sz="1350" dirty="0">
                <a:solidFill>
                  <a:srgbClr val="8A6D1E"/>
                </a:solidFill>
                <a:latin typeface="Amiri" pitchFamily="34" charset="0"/>
                <a:ea typeface="Amiri" pitchFamily="34" charset="-122"/>
                <a:cs typeface="Amiri" pitchFamily="34" charset="-120"/>
              </a:rPr>
              <a:t>شَجَرَةٌ</a:t>
            </a:r>
            <a:pPr algn="l" indent="0" marL="0">
              <a:buNone/>
            </a:pPr>
            <a:r>
              <a:rPr lang="en-US" sz="1050" i="1" dirty="0">
                <a:solidFill>
                  <a:srgbClr val="8A6D1E"/>
                </a:solidFill>
                <a:latin typeface="Calibri" pitchFamily="34" charset="0"/>
                <a:ea typeface="Calibri" pitchFamily="34" charset="-122"/>
                <a:cs typeface="Calibri" pitchFamily="34" charset="-120"/>
              </a:rPr>
              <a:t> = tree.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بِسَبَبِ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because of</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between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order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بِسَبَبِ</a:t>
            </a:r>
            <a:pPr algn="l" indent="0" marL="0">
              <a:buNone/>
            </a:pPr>
            <a:r>
              <a:rPr lang="en-US" sz="1050" i="1" dirty="0">
                <a:solidFill>
                  <a:srgbClr val="8A6D1E"/>
                </a:solidFill>
                <a:latin typeface="Calibri" pitchFamily="34" charset="0"/>
                <a:ea typeface="Calibri" pitchFamily="34" charset="-122"/>
                <a:cs typeface="Calibri" pitchFamily="34" charset="-120"/>
              </a:rPr>
              <a:t> = because of (Urdu: </a:t>
            </a:r>
            <a:pPr algn="l" indent="0" marL="0">
              <a:buNone/>
            </a:pPr>
            <a:r>
              <a:rPr lang="ar-SA" altLang="en-US" sz="1350" dirty="0">
                <a:solidFill>
                  <a:srgbClr val="8A6D1E"/>
                </a:solidFill>
                <a:latin typeface="Amiri" pitchFamily="34" charset="0"/>
                <a:ea typeface="Amiri" pitchFamily="34" charset="-122"/>
                <a:cs typeface="Amiri" pitchFamily="34" charset="-120"/>
              </a:rPr>
              <a:t>سبب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الشِّتَاءِ.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الثُّلُوجِ فِي الشِّتَاءِ.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الشِّتَاءِ.</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TC-L03: </a:t>
            </a:r>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“hotter than”?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حَارٌّ 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حَرَارَةً أَكْثَرُ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حَرَارَةً 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TC-L03: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 noun (</a:t>
            </a:r>
            <a:pPr algn="l" indent="0" marL="0">
              <a:buNone/>
            </a:pPr>
            <a:r>
              <a:rPr lang="ar-SA" altLang="en-US" sz="1350" dirty="0">
                <a:solidFill>
                  <a:srgbClr val="8A6D1E"/>
                </a:solidFill>
                <a:latin typeface="Amiri" pitchFamily="34" charset="0"/>
                <a:ea typeface="Amiri" pitchFamily="34" charset="-122"/>
                <a:cs typeface="Amiri" pitchFamily="34" charset="-120"/>
              </a:rPr>
              <a:t>ـًا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تَضُمُّ الغَابَةُ آلَافَ الأَنْوَاعِ.</a:t>
            </a:r>
            <a:endParaRPr lang="ar-SA"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forest includes thousands of species.</a:t>
            </a:r>
            <a:endParaRPr lang="en-US" sz="11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forest is a natural habitat.</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sea includes coral reefs.</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a:t>
            </a:r>
            <a:pPr algn="l" indent="0" marL="0">
              <a:buNone/>
            </a:pPr>
            <a:r>
              <a:rPr lang="ar-SA" altLang="en-US" sz="1350" dirty="0">
                <a:solidFill>
                  <a:srgbClr val="8A6D1E"/>
                </a:solidFill>
                <a:latin typeface="Amiri" pitchFamily="34" charset="0"/>
                <a:ea typeface="Amiri" pitchFamily="34" charset="-122"/>
                <a:cs typeface="Amiri" pitchFamily="34" charset="-120"/>
              </a:rPr>
              <a:t>يَضُمُّ</a:t>
            </a:r>
            <a:pPr algn="l" indent="0" marL="0">
              <a:buNone/>
            </a:pPr>
            <a:r>
              <a:rPr lang="en-US" sz="1050" i="1" dirty="0">
                <a:solidFill>
                  <a:srgbClr val="8A6D1E"/>
                </a:solidFill>
                <a:latin typeface="Calibri" pitchFamily="34" charset="0"/>
                <a:ea typeface="Calibri" pitchFamily="34" charset="-122"/>
                <a:cs typeface="Calibri" pitchFamily="34" charset="-120"/>
              </a:rPr>
              <a:t> = includes.</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Today we link a CAUSE to an EFFECT: </a:t>
            </a:r>
            <a:pPr algn="l" indent="0" marL="0">
              <a:buNone/>
            </a:pPr>
            <a:r>
              <a:rPr lang="ar-SA" altLang="en-US" sz="1700" b="1" dirty="0">
                <a:solidFill>
                  <a:srgbClr val="1F2A37"/>
                </a:solidFill>
                <a:latin typeface="Amiri" pitchFamily="34" charset="0"/>
                <a:ea typeface="Amiri" pitchFamily="34" charset="-122"/>
                <a:cs typeface="Amiri" pitchFamily="34" charset="-120"/>
              </a:rPr>
              <a:t>بِسَبَبِ</a:t>
            </a:r>
            <a:pPr algn="l" indent="0" marL="0">
              <a:buNone/>
            </a:pPr>
            <a:r>
              <a:rPr lang="en-US" sz="1300" b="1" dirty="0">
                <a:solidFill>
                  <a:srgbClr val="1F2A37"/>
                </a:solidFill>
                <a:latin typeface="Calibri" pitchFamily="34" charset="0"/>
                <a:ea typeface="Calibri" pitchFamily="34" charset="-122"/>
                <a:cs typeface="Calibri" pitchFamily="34" charset="-120"/>
              </a:rPr>
              <a:t> + cause, or cause + </a:t>
            </a:r>
            <a:pPr algn="l" indent="0" marL="0">
              <a:buNone/>
            </a:pPr>
            <a:r>
              <a:rPr lang="ar-SA" altLang="en-US" sz="1700" b="1" dirty="0">
                <a:solidFill>
                  <a:srgbClr val="1F2A37"/>
                </a:solidFill>
                <a:latin typeface="Amiri" pitchFamily="34" charset="0"/>
                <a:ea typeface="Amiri" pitchFamily="34" charset="-122"/>
                <a:cs typeface="Amiri" pitchFamily="34" charset="-120"/>
              </a:rPr>
              <a:t>يُؤَدِّي إِلَى</a:t>
            </a:r>
            <a:pPr algn="l" indent="0" marL="0">
              <a:buNone/>
            </a:pPr>
            <a:r>
              <a:rPr lang="en-US" sz="1300" b="1" dirty="0">
                <a:solidFill>
                  <a:srgbClr val="1F2A37"/>
                </a:solidFill>
                <a:latin typeface="Calibri" pitchFamily="34" charset="0"/>
                <a:ea typeface="Calibri" pitchFamily="34" charset="-122"/>
                <a:cs typeface="Calibri" pitchFamily="34" charset="-120"/>
              </a:rPr>
              <a:t> + effect.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بِسَبَبِ  ·  يُؤَدِّي إِلَى</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1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250" b="1" dirty="0">
                <a:solidFill>
                  <a:srgbClr val="2E8B57"/>
                </a:solidFill>
                <a:latin typeface="Calibri" pitchFamily="34" charset="0"/>
                <a:ea typeface="Calibri" pitchFamily="34" charset="-122"/>
                <a:cs typeface="Calibri" pitchFamily="34" charset="-120"/>
              </a:rPr>
              <a:t>☐  I can name 6 environmental problems (</a:t>
            </a:r>
            <a:pPr algn="l" indent="0" marL="0">
              <a:buNone/>
            </a:pPr>
            <a:r>
              <a:rPr lang="ar-SA" altLang="en-US" sz="1650" b="1" dirty="0">
                <a:solidFill>
                  <a:srgbClr val="2E8B57"/>
                </a:solidFill>
                <a:latin typeface="Amiri" pitchFamily="34" charset="0"/>
                <a:ea typeface="Amiri" pitchFamily="34" charset="-122"/>
                <a:cs typeface="Amiri" pitchFamily="34" charset="-120"/>
              </a:rPr>
              <a:t>تَلَوُّثُ الهَوَاءِ، إِزَالَةُ الغَابَاتِ</a:t>
            </a:r>
            <a:pPr algn="l" indent="0" marL="0">
              <a:buNone/>
            </a:pPr>
            <a:r>
              <a:rPr lang="en-US" sz="1250" b="1" dirty="0">
                <a:solidFill>
                  <a:srgbClr val="2E8B57"/>
                </a:solidFill>
                <a:latin typeface="Calibri" pitchFamily="34" charset="0"/>
                <a:ea typeface="Calibri" pitchFamily="34" charset="-122"/>
                <a:cs typeface="Calibri" pitchFamily="34" charset="-120"/>
              </a:rPr>
              <a:t> …).</a:t>
            </a:r>
            <a:endParaRPr lang="en-US" sz="125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a cause with </a:t>
            </a:r>
            <a:pPr algn="l" indent="0" marL="0">
              <a:buNone/>
            </a:pPr>
            <a:r>
              <a:rPr lang="ar-SA" altLang="en-US" sz="1700" b="1" dirty="0">
                <a:solidFill>
                  <a:srgbClr val="2E8B57"/>
                </a:solidFill>
                <a:latin typeface="Amiri" pitchFamily="34" charset="0"/>
                <a:ea typeface="Amiri" pitchFamily="34" charset="-122"/>
                <a:cs typeface="Amiri" pitchFamily="34" charset="-120"/>
              </a:rPr>
              <a:t>بِسَبَبِ</a:t>
            </a:r>
            <a:pPr algn="l" indent="0" marL="0">
              <a:buNone/>
            </a:pPr>
            <a:r>
              <a:rPr lang="en-US" sz="1300" b="1" dirty="0">
                <a:solidFill>
                  <a:srgbClr val="2E8B57"/>
                </a:solidFill>
                <a:latin typeface="Calibri" pitchFamily="34" charset="0"/>
                <a:ea typeface="Calibri" pitchFamily="34" charset="-122"/>
                <a:cs typeface="Calibri" pitchFamily="34" charset="-120"/>
              </a:rPr>
              <a:t> and an effect with </a:t>
            </a:r>
            <a:pPr algn="l" indent="0" marL="0">
              <a:buNone/>
            </a:pPr>
            <a:r>
              <a:rPr lang="ar-SA" altLang="en-US" sz="1700" b="1" dirty="0">
                <a:solidFill>
                  <a:srgbClr val="2E8B57"/>
                </a:solidFill>
                <a:latin typeface="Amiri" pitchFamily="34" charset="0"/>
                <a:ea typeface="Amiri" pitchFamily="34" charset="-122"/>
                <a:cs typeface="Amiri" pitchFamily="34" charset="-120"/>
              </a:rPr>
              <a:t>يُؤَدِّي إِلَى</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an active sentence from a passive one: </a:t>
            </a:r>
            <a:pPr algn="l" indent="0" marL="0">
              <a:buNone/>
            </a:pPr>
            <a:r>
              <a:rPr lang="ar-SA" altLang="en-US" sz="1700" b="1" dirty="0">
                <a:solidFill>
                  <a:srgbClr val="C9780A"/>
                </a:solidFill>
                <a:latin typeface="Amiri" pitchFamily="34" charset="0"/>
                <a:ea typeface="Amiri" pitchFamily="34" charset="-122"/>
                <a:cs typeface="Amiri" pitchFamily="34" charset="-120"/>
              </a:rPr>
              <a:t>تُلَوِّثُ / يُلَوَّثُ</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build a chain of two causes and effects.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link a whole idea to its result with </a:t>
            </a:r>
            <a:pPr algn="l" indent="0" marL="0">
              <a:buNone/>
            </a:pPr>
            <a:r>
              <a:rPr lang="ar-SA" altLang="en-US" sz="1700" b="1" dirty="0">
                <a:solidFill>
                  <a:srgbClr val="B83227"/>
                </a:solidFill>
                <a:latin typeface="Amiri" pitchFamily="34" charset="0"/>
                <a:ea typeface="Amiri" pitchFamily="34" charset="-122"/>
                <a:cs typeface="Amiri" pitchFamily="34" charset="-120"/>
              </a:rPr>
              <a:t>مِمَّا يُسَبِّبُ</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120–140 words about two problems.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Problems · 6</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More problems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Cause and effect · 6</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Active or passive? · 8</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سَبَبٌ</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cause</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نَتِيجَةٌ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‎نتیجہ‎ </a:t>
            </a:r>
            <a:pPr indent="0" marL="0">
              <a:buNone/>
            </a:pPr>
            <a:r>
              <a:rPr lang="en-US" sz="950" b="1" dirty="0">
                <a:solidFill>
                  <a:srgbClr val="2E8B57"/>
                </a:solidFill>
                <a:latin typeface="Calibri" pitchFamily="34" charset="0"/>
                <a:ea typeface="Calibri" pitchFamily="34" charset="-122"/>
                <a:cs typeface="Calibri" pitchFamily="34" charset="-120"/>
              </a:rPr>
              <a:t> natīja · result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مُشْكِلَةٌ</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‎مشکل‎ </a:t>
            </a:r>
            <a:pPr indent="0" marL="0">
              <a:buNone/>
            </a:pPr>
            <a:r>
              <a:rPr lang="en-US" sz="950" b="1" dirty="0">
                <a:solidFill>
                  <a:srgbClr val="2E8B57"/>
                </a:solidFill>
                <a:latin typeface="Calibri" pitchFamily="34" charset="0"/>
                <a:ea typeface="Calibri" pitchFamily="34" charset="-122"/>
                <a:cs typeface="Calibri" pitchFamily="34" charset="-120"/>
              </a:rPr>
              <a:t> mushkil · problem</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خَطَرٌ</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‎خطرہ‎ </a:t>
            </a:r>
            <a:pPr indent="0" marL="0">
              <a:buNone/>
            </a:pPr>
            <a:r>
              <a:rPr lang="en-US" sz="950" b="1" dirty="0">
                <a:solidFill>
                  <a:srgbClr val="2E8B57"/>
                </a:solidFill>
                <a:latin typeface="Calibri" pitchFamily="34" charset="0"/>
                <a:ea typeface="Calibri" pitchFamily="34" charset="-122"/>
                <a:cs typeface="Calibri" pitchFamily="34" charset="-120"/>
              </a:rPr>
              <a:t> khatra · danger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مَرَضٌ</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‎مرض‎ </a:t>
            </a:r>
            <a:pPr indent="0" marL="0">
              <a:buNone/>
            </a:pPr>
            <a:r>
              <a:rPr lang="en-US" sz="950" b="1" dirty="0">
                <a:solidFill>
                  <a:srgbClr val="2E8B57"/>
                </a:solidFill>
                <a:latin typeface="Calibri" pitchFamily="34" charset="0"/>
                <a:ea typeface="Calibri" pitchFamily="34" charset="-122"/>
                <a:cs typeface="Calibri" pitchFamily="34" charset="-120"/>
              </a:rPr>
              <a:t> marz · illness</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المُشْكِلَاتُ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تَلَوُّثُ الهَوَاءِ</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 pollution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ta-law-wuth al-ha-wāʾ</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pollution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تَلَوُّثٌ</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air</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الهَوَاءُ</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تَلَوُّثُ المِيَاهِ</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pollution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ta-law-wuth al-mi-yāh</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pollution</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تَلَوُّثٌ</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water</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المِيَاهُ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النُّفَايَاتُ </a:t>
            </a:r>
            <a:pPr rtl="1" algn="r" indent="0" marL="0">
              <a:buNone/>
            </a:pPr>
            <a:r>
              <a:rPr lang="ar-SA" altLang="en-US" sz="3000" b="1" dirty="0">
                <a:solidFill>
                  <a:srgbClr val="7B3FA0"/>
                </a:solidFill>
                <a:latin typeface="Amiri" pitchFamily="34" charset="0"/>
                <a:ea typeface="Amiri" pitchFamily="34" charset="-122"/>
                <a:cs typeface="Amiri" pitchFamily="34" charset="-120"/>
              </a:rPr>
              <a:t>البِلَاسْتِيكِ</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plastic waste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an-nu-fā-yāt al-bi-lās-tī-kiy-ya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waste</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نُفَايَاتٌ</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plastic</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بِلَاسْتِيكِيَّةٌ</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إِزَالَةُ الغَابَاتِ</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deforestation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i-zā-lat al-ghā-bāt</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removal</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إِزَالَةٌ</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forests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الغَابَاتُ</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الاحْتِبَاسُ </a:t>
            </a:r>
            <a:pPr rtl="1" algn="r" indent="0" marL="0">
              <a:buNone/>
            </a:pPr>
            <a:r>
              <a:rPr lang="ar-SA" altLang="en-US" sz="3000" b="1" dirty="0">
                <a:solidFill>
                  <a:srgbClr val="7B3FA0"/>
                </a:solidFill>
                <a:latin typeface="Amiri" pitchFamily="34" charset="0"/>
                <a:ea typeface="Amiri" pitchFamily="34" charset="-122"/>
                <a:cs typeface="Amiri" pitchFamily="34" charset="-120"/>
              </a:rPr>
              <a:t>الحَرَارِ</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global warming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al-iḥ-ti-bās al-ḥa-rā-riyy</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trapping</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احْتِبَاسٌ</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heat (adj.)</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حَرَارِيٌّ</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التَّصَحُّرُ</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desertification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at-ta-ṣaḥ-ḥur</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desert</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صَحْرَاءُ</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 becoming desert</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التَّصَحُّرُ</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problems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المُشْكِلَاتُ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الدُّخَانُ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smoke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ad-du-khān</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Website game: </a:t>
            </a:r>
            <a:pPr algn="l" indent="0" marL="0">
              <a:buNone/>
            </a:pPr>
            <a:r>
              <a:rPr lang="ar-SA" altLang="en-US" sz="1300" dirty="0">
                <a:solidFill>
                  <a:srgbClr val="8A6D1E"/>
                </a:solidFill>
                <a:latin typeface="Amiri" pitchFamily="34" charset="0"/>
                <a:ea typeface="Amiri" pitchFamily="34" charset="-122"/>
                <a:cs typeface="Amiri" pitchFamily="34" charset="-120"/>
              </a:rPr>
              <a:t>دُخَانُ المَصَانِعِ</a:t>
            </a:r>
            <a:pPr algn="l" indent="0" marL="0">
              <a:buNone/>
            </a:pPr>
            <a:r>
              <a:rPr lang="en-US" sz="1000" i="1" dirty="0">
                <a:solidFill>
                  <a:srgbClr val="8A6D1E"/>
                </a:solidFill>
                <a:latin typeface="Calibri" pitchFamily="34" charset="0"/>
                <a:ea typeface="Calibri" pitchFamily="34" charset="-122"/>
                <a:cs typeface="Calibri" pitchFamily="34" charset="-120"/>
              </a:rPr>
              <a:t> (factory smoke).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Shape 2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المَصَانِعُ</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factories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al-ma-ṣā-niʿ · sg. maṣ-naʿ</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مَصْنَعٌ</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مَصَانِعُ</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3" name="Shape 40"/>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ذَوَبَانُ الجَلِيدِ</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melting 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dha-wa-bān al-ja-līd</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melting</a:t>
            </a:r>
            <a:endParaRPr lang="en-US" sz="700" dirty="0"/>
          </a:p>
        </p:txBody>
      </p:sp>
      <p:sp>
        <p:nvSpPr>
          <p:cNvPr id="49" name="Text 46"/>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ذَوَبَانٌ</a:t>
            </a:r>
            <a:endParaRPr lang="ar-SA" sz="135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ice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الجَلِيدُ</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ارْتِفَاعُ مُسْتَوَى البَحْرِ</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sea-level rise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ir-ti-fāʿ mus-ta-wā l-baḥr</a:t>
            </a:r>
            <a:endParaRPr lang="en-US" sz="1350" dirty="0"/>
          </a:p>
        </p:txBody>
      </p:sp>
      <p:sp>
        <p:nvSpPr>
          <p:cNvPr id="60" name="Text 5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ارْتِفَاع</a:t>
            </a:r>
            <a:pPr algn="l" indent="0" marL="0">
              <a:buNone/>
            </a:pPr>
            <a:r>
              <a:rPr lang="en-US" sz="1000" i="1" dirty="0">
                <a:solidFill>
                  <a:srgbClr val="8A6D1E"/>
                </a:solidFill>
                <a:latin typeface="Calibri" pitchFamily="34" charset="0"/>
                <a:ea typeface="Calibri" pitchFamily="34" charset="-122"/>
                <a:cs typeface="Calibri" pitchFamily="34" charset="-120"/>
              </a:rPr>
              <a:t> = rise (TC-L03: </a:t>
            </a:r>
            <a:pPr algn="l" indent="0" marL="0">
              <a:buNone/>
            </a:pPr>
            <a:r>
              <a:rPr lang="ar-SA" altLang="en-US" sz="1300" dirty="0">
                <a:solidFill>
                  <a:srgbClr val="8A6D1E"/>
                </a:solidFill>
                <a:latin typeface="Amiri" pitchFamily="34" charset="0"/>
                <a:ea typeface="Amiri" pitchFamily="34" charset="-122"/>
                <a:cs typeface="Amiri" pitchFamily="34" charset="-120"/>
              </a:rPr>
              <a:t>تَرْتَفِعُ</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فَقْدُ المَوَائِلِ</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habitat loss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faqd al-ma-wā-ʾil</a:t>
            </a:r>
            <a:endParaRPr lang="en-US" sz="1350" dirty="0"/>
          </a:p>
        </p:txBody>
      </p:sp>
      <p:sp>
        <p:nvSpPr>
          <p:cNvPr id="68" name="Shape 6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loss</a:t>
            </a:r>
            <a:endParaRPr lang="en-US" sz="700" dirty="0"/>
          </a:p>
        </p:txBody>
      </p:sp>
      <p:sp>
        <p:nvSpPr>
          <p:cNvPr id="70" name="Text 67"/>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فَقْدٌ</a:t>
            </a:r>
            <a:endParaRPr lang="ar-SA" sz="1350" dirty="0"/>
          </a:p>
        </p:txBody>
      </p:sp>
      <p:sp>
        <p:nvSpPr>
          <p:cNvPr id="71" name="Shape 6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habitats</a:t>
            </a:r>
            <a:endParaRPr lang="en-US" sz="700" dirty="0"/>
          </a:p>
        </p:txBody>
      </p:sp>
      <p:sp>
        <p:nvSpPr>
          <p:cNvPr id="73" name="Text 70"/>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المَوَائِلُ</a:t>
            </a:r>
            <a:endParaRPr lang="ar-SA"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7" name="Shape 74"/>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79" name="Text 7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انْقِرَاضُ الأَنْوَاعِ</a:t>
            </a:r>
            <a:endParaRPr lang="ar-SA" sz="3000" dirty="0"/>
          </a:p>
        </p:txBody>
      </p:sp>
      <p:sp>
        <p:nvSpPr>
          <p:cNvPr id="80" name="Text 7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species extinction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in-qi-rāḍ al-an-wāʿ</a:t>
            </a:r>
            <a:endParaRPr lang="en-US" sz="1350" dirty="0"/>
          </a:p>
        </p:txBody>
      </p:sp>
      <p:sp>
        <p:nvSpPr>
          <p:cNvPr id="81" name="Text 78"/>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TC-L02: </a:t>
            </a:r>
            <a:pPr algn="l" indent="0" marL="0">
              <a:buNone/>
            </a:pPr>
            <a:r>
              <a:rPr lang="ar-SA" altLang="en-US" sz="1300" dirty="0">
                <a:solidFill>
                  <a:srgbClr val="8A6D1E"/>
                </a:solidFill>
                <a:latin typeface="Amiri" pitchFamily="34" charset="0"/>
                <a:ea typeface="Amiri" pitchFamily="34" charset="-122"/>
                <a:cs typeface="Amiri" pitchFamily="34" charset="-120"/>
              </a:rPr>
              <a:t>الانْقِرَاضُ</a:t>
            </a:r>
            <a:pPr algn="l" indent="0" marL="0">
              <a:buNone/>
            </a:pPr>
            <a:r>
              <a:rPr lang="en-US" sz="1000" i="1" dirty="0">
                <a:solidFill>
                  <a:srgbClr val="8A6D1E"/>
                </a:solidFill>
                <a:latin typeface="Calibri" pitchFamily="34" charset="0"/>
                <a:ea typeface="Calibri" pitchFamily="34" charset="-122"/>
                <a:cs typeface="Calibri" pitchFamily="34" charset="-120"/>
              </a:rPr>
              <a:t> = extinction.</a:t>
            </a:r>
            <a:endParaRPr lang="en-US" sz="10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CAUSE AND EFFECT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Cause and effect connectors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noun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بِسَبَبِ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bi-sa-ba-bi</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a NOUN, not a whole sentence.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إِلَى</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يُؤَدِّي إِلَى</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Always </a:t>
            </a:r>
            <a:pPr algn="l" indent="0" marL="0">
              <a:buNone/>
            </a:pPr>
            <a:r>
              <a:rPr lang="ar-SA" altLang="en-US" sz="1300" dirty="0">
                <a:solidFill>
                  <a:srgbClr val="8A6D1E"/>
                </a:solidFill>
                <a:latin typeface="Amiri" pitchFamily="34" charset="0"/>
                <a:ea typeface="Amiri" pitchFamily="34" charset="-122"/>
                <a:cs typeface="Amiri" pitchFamily="34" charset="-120"/>
              </a:rPr>
              <a:t>إِلَى</a:t>
            </a:r>
            <a:pPr algn="l" indent="0" marL="0">
              <a:buNone/>
            </a:pPr>
            <a:r>
              <a:rPr lang="en-US" sz="100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00" dirty="0">
                <a:solidFill>
                  <a:srgbClr val="8A6D1E"/>
                </a:solidFill>
                <a:latin typeface="Amiri" pitchFamily="34" charset="0"/>
                <a:ea typeface="Amiri" pitchFamily="34" charset="-122"/>
                <a:cs typeface="Amiri" pitchFamily="34" charset="-120"/>
              </a:rPr>
              <a:t>يُؤَدِّي</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noun</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نَتِيجَةً لِـ</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a:t>
            </a:r>
            <a:endParaRPr lang="en-US" sz="1350" dirty="0"/>
          </a:p>
        </p:txBody>
      </p:sp>
      <p:sp>
        <p:nvSpPr>
          <p:cNvPr id="42" name="Text 3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a noun in the genitive.</a:t>
            </a:r>
            <a:endParaRPr lang="en-US" sz="10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6" name="Shape 43"/>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after a comma</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مِمَّا يُسَبِّبُ</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causes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mim-mā yu-sab-bi-bu</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مِمَّا</a:t>
            </a:r>
            <a:pPr algn="l" indent="0" marL="0">
              <a:buNone/>
            </a:pPr>
            <a:r>
              <a:rPr lang="en-US" sz="1000" i="1" dirty="0">
                <a:solidFill>
                  <a:srgbClr val="8A6D1E"/>
                </a:solidFill>
                <a:latin typeface="Calibri" pitchFamily="34" charset="0"/>
                <a:ea typeface="Calibri" pitchFamily="34" charset="-122"/>
                <a:cs typeface="Calibri" pitchFamily="34" charset="-120"/>
              </a:rPr>
              <a:t> refers back to the whole idea before it.</a:t>
            </a:r>
            <a:endParaRPr lang="en-US" sz="10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4" name="Shape 51"/>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starts a sentence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نَتِيجَةً لِذٰلِكَ</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1" name="Shape 58"/>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time phrase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المَدَى الطَّوِيلِ</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long term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l-ma-dā ṭ-ṭa-wīl</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DEVELOP ·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Active or passive? Processes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المَعْلُومُ وَالمَجْهُولُ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 (website)</a:t>
            </a:r>
            <a:endParaRPr lang="en-US" sz="1100" dirty="0"/>
          </a:p>
        </p:txBody>
      </p:sp>
      <p:sp>
        <p:nvSpPr>
          <p:cNvPr id="17" name="Text 14"/>
          <p:cNvSpPr txBox="1"/>
          <p:nvPr/>
        </p:nvSpPr>
        <p:spPr>
          <a:xfrm>
            <a:off x="467258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 passive or process?</a:t>
            </a:r>
            <a:endParaRPr lang="en-US" sz="1100" dirty="0"/>
          </a:p>
        </p:txBody>
      </p:sp>
      <p:sp>
        <p:nvSpPr>
          <p:cNvPr id="19" name="Shape 16"/>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0" name="Text 17"/>
          <p:cNvSpPr txBox="1"/>
          <p:nvPr/>
        </p:nvSpPr>
        <p:spPr>
          <a:xfrm>
            <a:off x="7799832" y="2286000"/>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تُلَوِّثُ المَصَانِعُ الهَوَاءَ</a:t>
            </a:r>
            <a:endParaRPr lang="ar-SA" sz="1300" dirty="0"/>
          </a:p>
        </p:txBody>
      </p:sp>
      <p:sp>
        <p:nvSpPr>
          <p:cNvPr id="21" name="Text 18"/>
          <p:cNvSpPr txBox="1"/>
          <p:nvPr/>
        </p:nvSpPr>
        <p:spPr>
          <a:xfrm>
            <a:off x="7754112" y="2542032"/>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tu-law-wi-thu l-ma-ṣā-niʿ al-ha-wāʾ</a:t>
            </a:r>
            <a:endParaRPr lang="en-US" sz="950" dirty="0"/>
          </a:p>
        </p:txBody>
      </p:sp>
      <p:sp>
        <p:nvSpPr>
          <p:cNvPr id="22" name="Text 19"/>
          <p:cNvSpPr txBox="1"/>
          <p:nvPr/>
        </p:nvSpPr>
        <p:spPr>
          <a:xfrm>
            <a:off x="4709160" y="2267712"/>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factories pollute the air</a:t>
            </a:r>
            <a:endParaRPr lang="en-US" sz="1100" dirty="0"/>
          </a:p>
        </p:txBody>
      </p:sp>
      <p:sp>
        <p:nvSpPr>
          <p:cNvPr id="23" name="Text 20"/>
          <p:cNvSpPr txBox="1"/>
          <p:nvPr/>
        </p:nvSpPr>
        <p:spPr>
          <a:xfrm>
            <a:off x="566928" y="2267712"/>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ACTIVE — names who does it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7" name="Text 24"/>
          <p:cNvSpPr txBox="1"/>
          <p:nvPr/>
        </p:nvSpPr>
        <p:spPr>
          <a:xfrm>
            <a:off x="7799832" y="2798064"/>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يُلَوَّثُ الهَوَاءُ</a:t>
            </a:r>
            <a:endParaRPr lang="ar-SA" sz="1300" dirty="0"/>
          </a:p>
        </p:txBody>
      </p:sp>
      <p:sp>
        <p:nvSpPr>
          <p:cNvPr id="28" name="Text 25"/>
          <p:cNvSpPr txBox="1"/>
          <p:nvPr/>
        </p:nvSpPr>
        <p:spPr>
          <a:xfrm>
            <a:off x="7754112" y="3054096"/>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yu-law-wa-thu l-ha-wāʾ</a:t>
            </a:r>
            <a:endParaRPr lang="en-US" sz="950" dirty="0"/>
          </a:p>
        </p:txBody>
      </p:sp>
      <p:sp>
        <p:nvSpPr>
          <p:cNvPr id="29" name="Text 26"/>
          <p:cNvSpPr txBox="1"/>
          <p:nvPr/>
        </p:nvSpPr>
        <p:spPr>
          <a:xfrm>
            <a:off x="4709160" y="2779776"/>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air is polluted</a:t>
            </a:r>
            <a:endParaRPr lang="en-US" sz="1100" dirty="0"/>
          </a:p>
        </p:txBody>
      </p:sp>
      <p:sp>
        <p:nvSpPr>
          <p:cNvPr id="30" name="Text 27"/>
          <p:cNvSpPr txBox="1"/>
          <p:nvPr/>
        </p:nvSpPr>
        <p:spPr>
          <a:xfrm>
            <a:off x="566928" y="2779776"/>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PASSIVE — yu-…-wa-: “is …-ed”</a:t>
            </a:r>
            <a:endParaRPr lang="en-US" sz="1100" dirty="0"/>
          </a:p>
        </p:txBody>
      </p:sp>
      <p:sp>
        <p:nvSpPr>
          <p:cNvPr id="31" name="Shape 28"/>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2" name="Text 29"/>
          <p:cNvSpPr txBox="1"/>
          <p:nvPr/>
        </p:nvSpPr>
        <p:spPr>
          <a:xfrm>
            <a:off x="7799832" y="3310128"/>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تُقْطَعُ الأَشْجَارُ</a:t>
            </a:r>
            <a:endParaRPr lang="ar-SA" sz="1300" dirty="0"/>
          </a:p>
        </p:txBody>
      </p:sp>
      <p:sp>
        <p:nvSpPr>
          <p:cNvPr id="33" name="Text 30"/>
          <p:cNvSpPr txBox="1"/>
          <p:nvPr/>
        </p:nvSpPr>
        <p:spPr>
          <a:xfrm>
            <a:off x="7754112" y="3566160"/>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tuq-ṭa-ʿu l-ash-jār</a:t>
            </a:r>
            <a:endParaRPr lang="en-US" sz="950" dirty="0"/>
          </a:p>
        </p:txBody>
      </p:sp>
      <p:sp>
        <p:nvSpPr>
          <p:cNvPr id="34" name="Text 31"/>
          <p:cNvSpPr txBox="1"/>
          <p:nvPr/>
        </p:nvSpPr>
        <p:spPr>
          <a:xfrm>
            <a:off x="4709160" y="3291840"/>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trees are cut down</a:t>
            </a:r>
            <a:endParaRPr lang="en-US" sz="1100" dirty="0"/>
          </a:p>
        </p:txBody>
      </p:sp>
      <p:sp>
        <p:nvSpPr>
          <p:cNvPr id="35" name="Text 32"/>
          <p:cNvSpPr txBox="1"/>
          <p:nvPr/>
        </p:nvSpPr>
        <p:spPr>
          <a:xfrm>
            <a:off x="566928" y="3291840"/>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PASSIVE — </a:t>
            </a:r>
            <a:pPr algn="l" indent="0" marL="0">
              <a:buNone/>
            </a:pPr>
            <a:r>
              <a:rPr lang="ar-SA" altLang="en-US" sz="1450" dirty="0">
                <a:solidFill>
                  <a:srgbClr val="5A6472"/>
                </a:solidFill>
                <a:latin typeface="Amiri" pitchFamily="34" charset="0"/>
                <a:ea typeface="Amiri" pitchFamily="34" charset="-122"/>
                <a:cs typeface="Amiri" pitchFamily="34" charset="-120"/>
              </a:rPr>
              <a:t>الأَشْجَار</a:t>
            </a:r>
            <a:pPr algn="l" indent="0" marL="0">
              <a:buNone/>
            </a:pPr>
            <a:r>
              <a:rPr lang="en-US" sz="1100" i="1" dirty="0">
                <a:solidFill>
                  <a:srgbClr val="5A6472"/>
                </a:solidFill>
                <a:latin typeface="Calibri" pitchFamily="34" charset="0"/>
                <a:ea typeface="Calibri" pitchFamily="34" charset="-122"/>
                <a:cs typeface="Calibri" pitchFamily="34" charset="-120"/>
              </a:rPr>
              <a:t> → feminine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6" name="Shape 33"/>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37" name="Text 34"/>
          <p:cNvSpPr txBox="1"/>
          <p:nvPr/>
        </p:nvSpPr>
        <p:spPr>
          <a:xfrm>
            <a:off x="7799832" y="3822192"/>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تُرْمَى النُّفَايَاتُ</a:t>
            </a:r>
            <a:endParaRPr lang="ar-SA" sz="1300" dirty="0"/>
          </a:p>
        </p:txBody>
      </p:sp>
      <p:sp>
        <p:nvSpPr>
          <p:cNvPr id="38" name="Text 35"/>
          <p:cNvSpPr txBox="1"/>
          <p:nvPr/>
        </p:nvSpPr>
        <p:spPr>
          <a:xfrm>
            <a:off x="7754112" y="4078224"/>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tur-mā n-nu-fā-yāt</a:t>
            </a:r>
            <a:endParaRPr lang="en-US" sz="950" dirty="0"/>
          </a:p>
        </p:txBody>
      </p:sp>
      <p:sp>
        <p:nvSpPr>
          <p:cNvPr id="39" name="Text 36"/>
          <p:cNvSpPr txBox="1"/>
          <p:nvPr/>
        </p:nvSpPr>
        <p:spPr>
          <a:xfrm>
            <a:off x="4709160" y="3803904"/>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waste is thrown</a:t>
            </a:r>
            <a:endParaRPr lang="en-US" sz="1100" dirty="0"/>
          </a:p>
        </p:txBody>
      </p:sp>
      <p:sp>
        <p:nvSpPr>
          <p:cNvPr id="40" name="Text 37"/>
          <p:cNvSpPr txBox="1"/>
          <p:nvPr/>
        </p:nvSpPr>
        <p:spPr>
          <a:xfrm>
            <a:off x="566928" y="3803904"/>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PASSIVE</a:t>
            </a:r>
            <a:endParaRPr lang="en-US" sz="1100" dirty="0"/>
          </a:p>
        </p:txBody>
      </p:sp>
      <p:sp>
        <p:nvSpPr>
          <p:cNvPr id="41" name="Shape 38"/>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2" name="Text 39"/>
          <p:cNvSpPr txBox="1"/>
          <p:nvPr/>
        </p:nvSpPr>
        <p:spPr>
          <a:xfrm>
            <a:off x="7799832" y="4334256"/>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يَنْبَعِثُ الدُّخَانُ</a:t>
            </a:r>
            <a:endParaRPr lang="ar-SA" sz="1300" dirty="0"/>
          </a:p>
        </p:txBody>
      </p:sp>
      <p:sp>
        <p:nvSpPr>
          <p:cNvPr id="43" name="Text 40"/>
          <p:cNvSpPr txBox="1"/>
          <p:nvPr/>
        </p:nvSpPr>
        <p:spPr>
          <a:xfrm>
            <a:off x="7754112" y="4590288"/>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yan-ba-ʿi-thu d-du-khān</a:t>
            </a:r>
            <a:endParaRPr lang="en-US" sz="950" dirty="0"/>
          </a:p>
        </p:txBody>
      </p:sp>
      <p:sp>
        <p:nvSpPr>
          <p:cNvPr id="44" name="Text 41"/>
          <p:cNvSpPr txBox="1"/>
          <p:nvPr/>
        </p:nvSpPr>
        <p:spPr>
          <a:xfrm>
            <a:off x="4709160" y="4315968"/>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smoke is emitted</a:t>
            </a:r>
            <a:endParaRPr lang="en-US" sz="1100" dirty="0"/>
          </a:p>
        </p:txBody>
      </p:sp>
      <p:sp>
        <p:nvSpPr>
          <p:cNvPr id="45" name="Text 42"/>
          <p:cNvSpPr txBox="1"/>
          <p:nvPr/>
        </p:nvSpPr>
        <p:spPr>
          <a:xfrm>
            <a:off x="566928" y="4315968"/>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PROCESS verb — not a passive</a:t>
            </a:r>
            <a:endParaRPr lang="en-US" sz="1100" dirty="0"/>
          </a:p>
        </p:txBody>
      </p:sp>
      <p:sp>
        <p:nvSpPr>
          <p:cNvPr id="46" name="Shape 43"/>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47" name="Text 44"/>
          <p:cNvSpPr txBox="1"/>
          <p:nvPr/>
        </p:nvSpPr>
        <p:spPr>
          <a:xfrm>
            <a:off x="7799832" y="4846320"/>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يَتَرَاكَمُ البِلَاسْتِيكُ</a:t>
            </a:r>
            <a:endParaRPr lang="ar-SA" sz="1300" dirty="0"/>
          </a:p>
        </p:txBody>
      </p:sp>
      <p:sp>
        <p:nvSpPr>
          <p:cNvPr id="48" name="Text 45"/>
          <p:cNvSpPr txBox="1"/>
          <p:nvPr/>
        </p:nvSpPr>
        <p:spPr>
          <a:xfrm>
            <a:off x="7754112" y="5102352"/>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ya-ta-rā-ka-mu l-bi-lās-tīk</a:t>
            </a:r>
            <a:endParaRPr lang="en-US" sz="950" dirty="0"/>
          </a:p>
        </p:txBody>
      </p:sp>
      <p:sp>
        <p:nvSpPr>
          <p:cNvPr id="49" name="Text 46"/>
          <p:cNvSpPr txBox="1"/>
          <p:nvPr/>
        </p:nvSpPr>
        <p:spPr>
          <a:xfrm>
            <a:off x="4709160" y="4828032"/>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plastic accumulates</a:t>
            </a:r>
            <a:endParaRPr lang="en-US" sz="1100" dirty="0"/>
          </a:p>
        </p:txBody>
      </p:sp>
      <p:sp>
        <p:nvSpPr>
          <p:cNvPr id="50" name="Text 47"/>
          <p:cNvSpPr txBox="1"/>
          <p:nvPr/>
        </p:nvSpPr>
        <p:spPr>
          <a:xfrm>
            <a:off x="566928" y="4828032"/>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PROCESS verb</a:t>
            </a:r>
            <a:endParaRPr lang="en-US" sz="1100" dirty="0"/>
          </a:p>
        </p:txBody>
      </p:sp>
      <p:sp>
        <p:nvSpPr>
          <p:cNvPr id="51" name="Shape 48"/>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2" name="Text 49"/>
          <p:cNvSpPr txBox="1"/>
          <p:nvPr/>
        </p:nvSpPr>
        <p:spPr>
          <a:xfrm>
            <a:off x="7799832" y="5358384"/>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يُهَدِّدُ</a:t>
            </a:r>
            <a:endParaRPr lang="ar-SA" sz="1300" dirty="0"/>
          </a:p>
        </p:txBody>
      </p:sp>
      <p:sp>
        <p:nvSpPr>
          <p:cNvPr id="53" name="Text 50"/>
          <p:cNvSpPr txBox="1"/>
          <p:nvPr/>
        </p:nvSpPr>
        <p:spPr>
          <a:xfrm>
            <a:off x="7754112" y="5614416"/>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yu-had-di-du</a:t>
            </a:r>
            <a:endParaRPr lang="en-US" sz="950" dirty="0"/>
          </a:p>
        </p:txBody>
      </p:sp>
      <p:sp>
        <p:nvSpPr>
          <p:cNvPr id="54" name="Text 51"/>
          <p:cNvSpPr txBox="1"/>
          <p:nvPr/>
        </p:nvSpPr>
        <p:spPr>
          <a:xfrm>
            <a:off x="4709160" y="5340096"/>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threatens</a:t>
            </a:r>
            <a:endParaRPr lang="en-US" sz="1100" dirty="0"/>
          </a:p>
        </p:txBody>
      </p:sp>
      <p:sp>
        <p:nvSpPr>
          <p:cNvPr id="55" name="Text 52"/>
          <p:cNvSpPr txBox="1"/>
          <p:nvPr/>
        </p:nvSpPr>
        <p:spPr>
          <a:xfrm>
            <a:off x="566928" y="5340096"/>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ACTIVE + object (TC-L02)</a:t>
            </a:r>
            <a:endParaRPr lang="en-US" sz="1100" dirty="0"/>
          </a:p>
        </p:txBody>
      </p:sp>
      <p:sp>
        <p:nvSpPr>
          <p:cNvPr id="56" name="Shape 53"/>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57" name="Text 54"/>
          <p:cNvSpPr txBox="1"/>
          <p:nvPr/>
        </p:nvSpPr>
        <p:spPr>
          <a:xfrm>
            <a:off x="7799832" y="5870448"/>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يَضُرُّ بِـ</a:t>
            </a:r>
            <a:endParaRPr lang="ar-SA" sz="1300" dirty="0"/>
          </a:p>
        </p:txBody>
      </p:sp>
      <p:sp>
        <p:nvSpPr>
          <p:cNvPr id="58" name="Text 55"/>
          <p:cNvSpPr txBox="1"/>
          <p:nvPr/>
        </p:nvSpPr>
        <p:spPr>
          <a:xfrm>
            <a:off x="7754112" y="6126480"/>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ya-ḍur-ru bi</a:t>
            </a:r>
            <a:endParaRPr lang="en-US" sz="950" dirty="0"/>
          </a:p>
        </p:txBody>
      </p:sp>
      <p:sp>
        <p:nvSpPr>
          <p:cNvPr id="59" name="Text 56"/>
          <p:cNvSpPr txBox="1"/>
          <p:nvPr/>
        </p:nvSpPr>
        <p:spPr>
          <a:xfrm>
            <a:off x="4709160" y="5852160"/>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harms</a:t>
            </a:r>
            <a:endParaRPr lang="en-US" sz="1100" dirty="0"/>
          </a:p>
        </p:txBody>
      </p:sp>
      <p:sp>
        <p:nvSpPr>
          <p:cNvPr id="60" name="Text 57"/>
          <p:cNvSpPr txBox="1"/>
          <p:nvPr/>
        </p:nvSpPr>
        <p:spPr>
          <a:xfrm>
            <a:off x="566928" y="5852160"/>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ACTIVE + </a:t>
            </a:r>
            <a:pPr algn="l" indent="0" marL="0">
              <a:buNone/>
            </a:pPr>
            <a:r>
              <a:rPr lang="ar-SA" altLang="en-US" sz="1450" dirty="0">
                <a:solidFill>
                  <a:srgbClr val="5A6472"/>
                </a:solidFill>
                <a:latin typeface="Amiri" pitchFamily="34" charset="0"/>
                <a:ea typeface="Amiri" pitchFamily="34" charset="-122"/>
                <a:cs typeface="Amiri" pitchFamily="34" charset="-120"/>
              </a:rPr>
              <a:t>بِـ</a:t>
            </a:r>
            <a:endParaRPr lang="en-US" sz="11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CAUSE → EFFECT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Cause and effect in three beats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 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يُسَبِّبُ / يُؤَدِّي</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connector verb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B3B6F"/>
          </a:solidFill>
          <a:ln w="12700">
            <a:solidFill>
              <a:srgbClr val="1B3B6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cause</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النَّتِيجَةُ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effect</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Factory smoke causes air pollution.</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يُسَبِّبُ</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دُخَانُ المَصَانِعِ</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تَلَوُّثَ الهَوَاءِ.</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Cutting down trees leads to habitat loss.</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يُؤَدِّي</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قَطْعُ الأَشْجَارِ</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فَقْدِ المَوَائِلِ.</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Global warming leads to the ice melting.</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يُؤَدِّي</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الاحْتِبَاسُ الحَرَارِيُّ</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ذَوَبَانِ الجَلِيدِ.</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Pollution leads to illnesses.</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يُؤَدِّي</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التَّلَوُّثُ</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أَمْرَاضٍ.</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Pattern: </a:t>
            </a:r>
            <a:pPr algn="l" indent="0" marL="0">
              <a:buNone/>
            </a:pPr>
            <a:r>
              <a:rPr lang="ar-SA" altLang="en-US" sz="1550" b="1" dirty="0">
                <a:solidFill>
                  <a:srgbClr val="8A6D1E"/>
                </a:solidFill>
                <a:latin typeface="Amiri" pitchFamily="34" charset="0"/>
                <a:ea typeface="Amiri" pitchFamily="34" charset="-122"/>
                <a:cs typeface="Amiri" pitchFamily="34" charset="-120"/>
              </a:rPr>
              <a:t>يُسَبِّبُ</a:t>
            </a:r>
            <a:pPr algn="l" indent="0" marL="0">
              <a:buNone/>
            </a:pPr>
            <a:r>
              <a:rPr lang="en-US" sz="1200" b="1" dirty="0">
                <a:solidFill>
                  <a:srgbClr val="8A6D1E"/>
                </a:solidFill>
                <a:latin typeface="Calibri" pitchFamily="34" charset="0"/>
                <a:ea typeface="Calibri" pitchFamily="34" charset="-122"/>
                <a:cs typeface="Calibri" pitchFamily="34" charset="-120"/>
              </a:rPr>
              <a:t> + cause + effect, or </a:t>
            </a:r>
            <a:pPr algn="l" indent="0" marL="0">
              <a:buNone/>
            </a:pPr>
            <a:r>
              <a:rPr lang="ar-SA" altLang="en-US" sz="1550" b="1" dirty="0">
                <a:solidFill>
                  <a:srgbClr val="8A6D1E"/>
                </a:solidFill>
                <a:latin typeface="Amiri" pitchFamily="34" charset="0"/>
                <a:ea typeface="Amiri" pitchFamily="34" charset="-122"/>
                <a:cs typeface="Amiri" pitchFamily="34" charset="-120"/>
              </a:rPr>
              <a:t>يُؤَدِّي</a:t>
            </a:r>
            <a:pPr algn="l" indent="0" marL="0">
              <a:buNone/>
            </a:pPr>
            <a:r>
              <a:rPr lang="en-US" sz="1200" b="1" dirty="0">
                <a:solidFill>
                  <a:srgbClr val="8A6D1E"/>
                </a:solidFill>
                <a:latin typeface="Calibri" pitchFamily="34" charset="0"/>
                <a:ea typeface="Calibri" pitchFamily="34" charset="-122"/>
                <a:cs typeface="Calibri" pitchFamily="34" charset="-120"/>
              </a:rPr>
              <a:t> + cause + </a:t>
            </a:r>
            <a:pPr algn="l" indent="0" marL="0">
              <a:buNone/>
            </a:pPr>
            <a:r>
              <a:rPr lang="ar-SA" altLang="en-US" sz="1550" b="1" dirty="0">
                <a:solidFill>
                  <a:srgbClr val="8A6D1E"/>
                </a:solidFill>
                <a:latin typeface="Amiri" pitchFamily="34" charset="0"/>
                <a:ea typeface="Amiri" pitchFamily="34" charset="-122"/>
                <a:cs typeface="Amiri" pitchFamily="34" charset="-120"/>
              </a:rPr>
              <a:t>إِلَى</a:t>
            </a:r>
            <a:pPr algn="l" indent="0" marL="0">
              <a:buNone/>
            </a:pPr>
            <a:r>
              <a:rPr lang="en-US" sz="1200" b="1" dirty="0">
                <a:solidFill>
                  <a:srgbClr val="8A6D1E"/>
                </a:solidFill>
                <a:latin typeface="Calibri" pitchFamily="34" charset="0"/>
                <a:ea typeface="Calibri" pitchFamily="34" charset="-122"/>
                <a:cs typeface="Calibri" pitchFamily="34" charset="-120"/>
              </a:rPr>
              <a:t> + effect. Never </a:t>
            </a:r>
            <a:pPr algn="l" indent="0" marL="0">
              <a:buNone/>
            </a:pPr>
            <a:r>
              <a:rPr lang="ar-SA" altLang="en-US" sz="1550" b="1" dirty="0">
                <a:solidFill>
                  <a:srgbClr val="8A6D1E"/>
                </a:solidFill>
                <a:latin typeface="Amiri" pitchFamily="34" charset="0"/>
                <a:ea typeface="Amiri" pitchFamily="34" charset="-122"/>
                <a:cs typeface="Amiri" pitchFamily="34" charset="-120"/>
              </a:rPr>
              <a:t>يُؤَدِّي فِي</a:t>
            </a:r>
            <a:pPr algn="l" indent="0" marL="0">
              <a:buNone/>
            </a:pPr>
            <a:r>
              <a:rPr lang="en-US" sz="1200" b="1" dirty="0">
                <a:solidFill>
                  <a:srgbClr val="8A6D1E"/>
                </a:solidFill>
                <a:latin typeface="Calibri" pitchFamily="34" charset="0"/>
                <a:ea typeface="Calibri" pitchFamily="34" charset="-122"/>
                <a:cs typeface="Calibri" pitchFamily="34" charset="-120"/>
              </a:rPr>
              <a:t> ✗</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THREE CONNECTORS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Because of · leads to · which causes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 · because of</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بِسَبَبِ</a:t>
            </a:r>
            <a:pPr algn="l" indent="0" marL="0">
              <a:buNone/>
            </a:pPr>
            <a:r>
              <a:rPr lang="en-US" sz="1600" b="1" dirty="0">
                <a:solidFill>
                  <a:srgbClr val="8A6D1E"/>
                </a:solidFill>
                <a:latin typeface="Calibri" pitchFamily="34" charset="0"/>
                <a:ea typeface="Calibri" pitchFamily="34" charset="-122"/>
                <a:cs typeface="Calibri" pitchFamily="34" charset="-120"/>
              </a:rPr>
              <a:t> + noun</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يَتَلَوَّثُ البَحْرُ بِسَبَبِ النُّفَايَاتِ</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sea gets polluted because of waste.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بِسَبَبِ / نَتِيجَةً لِـ</a:t>
            </a:r>
            <a:pPr algn="l" indent="0" marL="0">
              <a:buNone/>
            </a:pPr>
            <a:r>
              <a:rPr lang="en-US" sz="1100" dirty="0">
                <a:solidFill>
                  <a:srgbClr val="1F2A37"/>
                </a:solidFill>
                <a:latin typeface="Calibri" pitchFamily="34" charset="0"/>
                <a:ea typeface="Calibri" pitchFamily="34" charset="-122"/>
                <a:cs typeface="Calibri" pitchFamily="34" charset="-120"/>
              </a:rPr>
              <a:t> + a NOUN phrase, not a whole sentence.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 · leads to</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يُؤَدِّي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يُؤَدِّي التَّلَوُّثُ إِلَى أَمْرَاضٍ</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Pollution leads to illnesses.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Always </a:t>
            </a:r>
            <a:pPr algn="l" indent="0" marL="0">
              <a:buNone/>
            </a:pPr>
            <a:r>
              <a:rPr lang="ar-SA" altLang="en-US" sz="1450" dirty="0">
                <a:solidFill>
                  <a:srgbClr val="1F2A37"/>
                </a:solidFill>
                <a:latin typeface="Amiri" pitchFamily="34" charset="0"/>
                <a:ea typeface="Amiri" pitchFamily="34" charset="-122"/>
                <a:cs typeface="Amiri" pitchFamily="34" charset="-120"/>
              </a:rPr>
              <a:t>إِلَى</a:t>
            </a:r>
            <a:pPr algn="l" indent="0" marL="0">
              <a:buNone/>
            </a:pPr>
            <a:r>
              <a:rPr lang="en-US" sz="1100" dirty="0">
                <a:solidFill>
                  <a:srgbClr val="1F2A37"/>
                </a:solidFill>
                <a:latin typeface="Calibri" pitchFamily="34" charset="0"/>
                <a:ea typeface="Calibri" pitchFamily="34" charset="-122"/>
                <a:cs typeface="Calibri" pitchFamily="34" charset="-120"/>
              </a:rPr>
              <a:t> after </a:t>
            </a:r>
            <a:pPr algn="l" indent="0" marL="0">
              <a:buNone/>
            </a:pPr>
            <a:r>
              <a:rPr lang="ar-SA" altLang="en-US" sz="1450" dirty="0">
                <a:solidFill>
                  <a:srgbClr val="1F2A37"/>
                </a:solidFill>
                <a:latin typeface="Amiri" pitchFamily="34" charset="0"/>
                <a:ea typeface="Amiri" pitchFamily="34" charset="-122"/>
                <a:cs typeface="Amiri" pitchFamily="34" charset="-120"/>
              </a:rPr>
              <a:t>يُؤَدِّي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 which causes</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مِمَّا يُسَبِّبُ</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تَرْتَفِعُ الحَرَارَةُ، مِمَّا يُسَبِّبُ ذَوَبَانَ الجَلِيدِ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temperature rises, which causes the ice to melt.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مِمَّا</a:t>
            </a:r>
            <a:pPr algn="l" indent="0" marL="0">
              <a:buNone/>
            </a:pPr>
            <a:r>
              <a:rPr lang="en-US" sz="1100" dirty="0">
                <a:solidFill>
                  <a:srgbClr val="1F2A37"/>
                </a:solidFill>
                <a:latin typeface="Calibri" pitchFamily="34" charset="0"/>
                <a:ea typeface="Calibri" pitchFamily="34" charset="-122"/>
                <a:cs typeface="Calibri" pitchFamily="34" charset="-120"/>
              </a:rPr>
              <a:t> refers back to the WHOLE idea before the comma.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the wrong preposition after </a:t>
            </a:r>
            <a:pPr algn="l" indent="0" marL="0">
              <a:buNone/>
            </a:pPr>
            <a:r>
              <a:rPr lang="ar-SA" altLang="en-US" sz="1500" dirty="0">
                <a:solidFill>
                  <a:srgbClr val="1F2A37"/>
                </a:solidFill>
                <a:latin typeface="Amiri" pitchFamily="34" charset="0"/>
                <a:ea typeface="Amiri" pitchFamily="34" charset="-122"/>
                <a:cs typeface="Amiri" pitchFamily="34" charset="-120"/>
              </a:rPr>
              <a:t>يُؤَدِّي</a:t>
            </a:r>
            <a:pPr algn="l" indent="0" marL="0">
              <a:buNone/>
            </a:pPr>
            <a:r>
              <a:rPr lang="en-US" sz="1150" dirty="0">
                <a:solidFill>
                  <a:srgbClr val="1F2A37"/>
                </a:solidFill>
                <a:latin typeface="Calibri" pitchFamily="34" charset="0"/>
                <a:ea typeface="Calibri" pitchFamily="34" charset="-122"/>
                <a:cs typeface="Calibri" pitchFamily="34" charset="-120"/>
              </a:rPr>
              <a:t>, and a masculine verb with </a:t>
            </a:r>
            <a:pPr algn="l" indent="0" marL="0">
              <a:buNone/>
            </a:pPr>
            <a:r>
              <a:rPr lang="ar-SA" altLang="en-US" sz="1500" dirty="0">
                <a:solidFill>
                  <a:srgbClr val="1F2A37"/>
                </a:solidFill>
                <a:latin typeface="Amiri" pitchFamily="34" charset="0"/>
                <a:ea typeface="Amiri" pitchFamily="34" charset="-122"/>
                <a:cs typeface="Amiri" pitchFamily="34" charset="-120"/>
              </a:rPr>
              <a:t>الأَشْجَار</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يُؤَدِّي إِلَى</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يُؤَدِّي فِي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تُقْطَعُ الأَشْجَارُ</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يُقْطَعُ الأَشْجَارُ</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3 · DEVELOP · WEBSITE RULE “ACTIVE AND PASSIVE”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it? Active or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مَعْلُومٌ</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active</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تُلَوِّثُ</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تُلَوِّثُ </a:t>
            </a:r>
            <a:pPr rtl="1" algn="r" indent="0" marL="0">
              <a:buNone/>
            </a:pPr>
            <a:r>
              <a:rPr lang="ar-SA" altLang="en-US" sz="2000" dirty="0">
                <a:solidFill>
                  <a:srgbClr val="1D5FBF"/>
                </a:solidFill>
                <a:latin typeface="Amiri" pitchFamily="34" charset="0"/>
                <a:ea typeface="Amiri" pitchFamily="34" charset="-122"/>
                <a:cs typeface="Amiri" pitchFamily="34" charset="-120"/>
              </a:rPr>
              <a:t>المَصَانِعُ</a:t>
            </a:r>
            <a:pPr rtl="1" algn="r" indent="0" marL="0">
              <a:buNone/>
            </a:pPr>
            <a:r>
              <a:rPr lang="ar-SA" altLang="en-US" sz="2000" dirty="0">
                <a:solidFill>
                  <a:srgbClr val="1F2A37"/>
                </a:solidFill>
                <a:latin typeface="Amiri" pitchFamily="34" charset="0"/>
                <a:ea typeface="Amiri" pitchFamily="34" charset="-122"/>
                <a:cs typeface="Amiri" pitchFamily="34" charset="-120"/>
              </a:rPr>
              <a:t> الهَوَاءَ.</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Factories pollute the air. (who: the factories)</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مَجْهُولٌ</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passive</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يُلَوَّثُ</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يُلَوَّثُ الهَوَاءُ بِدُخَانِ المَصَانِعِ.</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air is polluted by factory smoke.</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مَجْهُولٌ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passive</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تُقْطَعُ</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تُقْطَعُ الأَشْجَارُ فِي بَعْضِ المَنَاطِقِ.</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Trees are cut down in some areas.</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مَجْهُولٌ</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passive</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تُرْمَى</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تُرْمَى نُفَايَاتٌ بِلَاسْتِيكِيَّةٌ فِي النَّهْرِ.</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Plastic waste is thrown into the river.</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لَازِمٌ</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process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يَنْبَعِثُ</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يَنْبَعِثُ مِنْهَا دُخَانٌ كَثِيفٌ.</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Thick smoke comes out of them.</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Active and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تُلَوِّثُ</a:t>
            </a:r>
            <a:pPr algn="l" indent="0" marL="0">
              <a:buNone/>
            </a:pPr>
            <a:r>
              <a:rPr lang="en-US" sz="1050" dirty="0">
                <a:solidFill>
                  <a:srgbClr val="5A6472"/>
                </a:solidFill>
                <a:latin typeface="Calibri" pitchFamily="34" charset="0"/>
                <a:ea typeface="Calibri" pitchFamily="34" charset="-122"/>
                <a:cs typeface="Calibri" pitchFamily="34" charset="-120"/>
              </a:rPr>
              <a:t> X</a:t>
            </a:r>
            <a:pPr algn="l" indent="0" marL="0">
              <a:buNone/>
            </a:pPr>
            <a:r>
              <a:rPr lang="ar-SA" altLang="en-US" sz="1350" dirty="0">
                <a:solidFill>
                  <a:srgbClr val="5A6472"/>
                </a:solidFill>
                <a:latin typeface="Amiri" pitchFamily="34" charset="0"/>
                <a:ea typeface="Amiri" pitchFamily="34" charset="-122"/>
                <a:cs typeface="Amiri" pitchFamily="34" charset="-120"/>
              </a:rPr>
              <a:t>ُ</a:t>
            </a:r>
            <a:pPr algn="l" indent="0" marL="0">
              <a:buNone/>
            </a:pPr>
            <a:r>
              <a:rPr lang="en-US" sz="1050" dirty="0">
                <a:solidFill>
                  <a:srgbClr val="5A6472"/>
                </a:solidFill>
                <a:latin typeface="Calibri" pitchFamily="34" charset="0"/>
                <a:ea typeface="Calibri" pitchFamily="34" charset="-122"/>
                <a:cs typeface="Calibri" pitchFamily="34" charset="-120"/>
              </a:rPr>
              <a:t> Y</a:t>
            </a:r>
            <a:pPr algn="l" indent="0" marL="0">
              <a:buNone/>
            </a:pPr>
            <a:r>
              <a:rPr lang="ar-SA" altLang="en-US" sz="1350" dirty="0">
                <a:solidFill>
                  <a:srgbClr val="5A6472"/>
                </a:solidFill>
                <a:latin typeface="Amiri" pitchFamily="34" charset="0"/>
                <a:ea typeface="Amiri" pitchFamily="34" charset="-122"/>
                <a:cs typeface="Amiri" pitchFamily="34" charset="-120"/>
              </a:rPr>
              <a:t>َ</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يُلَوَّثُ</a:t>
            </a:r>
            <a:pPr algn="l" indent="0" marL="0">
              <a:buNone/>
            </a:pPr>
            <a:r>
              <a:rPr lang="en-US" sz="1050" dirty="0">
                <a:solidFill>
                  <a:srgbClr val="5A6472"/>
                </a:solidFill>
                <a:latin typeface="Calibri" pitchFamily="34" charset="0"/>
                <a:ea typeface="Calibri" pitchFamily="34" charset="-122"/>
                <a:cs typeface="Calibri" pitchFamily="34" charset="-120"/>
              </a:rPr>
              <a:t> Y</a:t>
            </a:r>
            <a:pPr algn="l" indent="0" marL="0">
              <a:buNone/>
            </a:pPr>
            <a:r>
              <a:rPr lang="ar-SA" altLang="en-US" sz="1350" dirty="0">
                <a:solidFill>
                  <a:srgbClr val="5A6472"/>
                </a:solidFill>
                <a:latin typeface="Amiri" pitchFamily="34" charset="0"/>
                <a:ea typeface="Amiri" pitchFamily="34" charset="-122"/>
                <a:cs typeface="Amiri" pitchFamily="34" charset="-120"/>
              </a:rPr>
              <a: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تُلَوِّثُ المَصَانِعُ الهَوَاءَ.   ·   يُلَوَّثُ الهَوَاءُ بِدُخَانِ المَصَانِعِ.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Cause phrases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بِسَبَبِ / نَتِيجَةً لِـ</a:t>
            </a:r>
            <a:pPr algn="l" indent="0" marL="0">
              <a:buNone/>
            </a:pPr>
            <a:r>
              <a:rPr lang="en-US" sz="1050" dirty="0">
                <a:solidFill>
                  <a:srgbClr val="5A6472"/>
                </a:solidFill>
                <a:latin typeface="Calibri" pitchFamily="34" charset="0"/>
                <a:ea typeface="Calibri" pitchFamily="34" charset="-122"/>
                <a:cs typeface="Calibri" pitchFamily="34" charset="-120"/>
              </a:rPr>
              <a:t> + genitive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يَتَلَوَّثُ البَحْرُ بِسَبَبِ النُّفَايَاتِ البِلَاسْتِيكِيَّةِ.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Result with </a:t>
            </a:r>
            <a:pPr algn="l" indent="0" marL="0">
              <a:buNone/>
            </a:pPr>
            <a:r>
              <a:rPr lang="ar-SA" altLang="en-US" sz="1650" b="1" dirty="0">
                <a:solidFill>
                  <a:srgbClr val="1B3B6F"/>
                </a:solidFill>
                <a:latin typeface="Amiri" pitchFamily="34" charset="0"/>
                <a:ea typeface="Amiri" pitchFamily="34" charset="-122"/>
                <a:cs typeface="Amiri" pitchFamily="34" charset="-120"/>
              </a:rPr>
              <a:t>يُؤَدِّي إِلَى</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cause + </a:t>
            </a:r>
            <a:pPr algn="l" indent="0" marL="0">
              <a:buNone/>
            </a:pPr>
            <a:r>
              <a:rPr lang="ar-SA" altLang="en-US" sz="1350" dirty="0">
                <a:solidFill>
                  <a:srgbClr val="5A6472"/>
                </a:solidFill>
                <a:latin typeface="Amiri" pitchFamily="34" charset="0"/>
                <a:ea typeface="Amiri" pitchFamily="34" charset="-122"/>
                <a:cs typeface="Amiri" pitchFamily="34" charset="-120"/>
              </a:rPr>
              <a:t>يُؤَدِّي إِلَى</a:t>
            </a:r>
            <a:pPr algn="l" indent="0" marL="0">
              <a:buNone/>
            </a:pPr>
            <a:r>
              <a:rPr lang="en-US" sz="1050" dirty="0">
                <a:solidFill>
                  <a:srgbClr val="5A6472"/>
                </a:solidFill>
                <a:latin typeface="Calibri" pitchFamily="34" charset="0"/>
                <a:ea typeface="Calibri" pitchFamily="34" charset="-122"/>
                <a:cs typeface="Calibri" pitchFamily="34" charset="-120"/>
              </a:rPr>
              <a:t> + verbal noun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يُؤَدِّي قَطْعُ الأَشْجَارِ إِلَى فَقْدِ المَوَائِلِ.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Linking a whole clause to a consequence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clause</a:t>
            </a:r>
            <a:pPr algn="l" indent="0" marL="0">
              <a:buNone/>
            </a:pPr>
            <a:r>
              <a:rPr lang="ar-SA" altLang="en-US" sz="1350" dirty="0">
                <a:solidFill>
                  <a:srgbClr val="5A6472"/>
                </a:solidFill>
                <a:latin typeface="Amiri" pitchFamily="34" charset="0"/>
                <a:ea typeface="Amiri" pitchFamily="34" charset="-122"/>
                <a:cs typeface="Amiri" pitchFamily="34" charset="-120"/>
              </a:rPr>
              <a:t>، مِمَّا يُسَبِّبُ / مِمَّا يُؤَدِّي إِلَى</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تَرْتَفِعُ دَرَجَةُ الحَرَارَةِ، مِمَّا يُسَبِّبُ ذَوَبَانَ الجَلِيدِ.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يَتَلَوَّثُ البَحْرُ ___ النُّفَايَاتِ.</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إِلَى</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مِمَّا</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result structure.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التَّصَحُّرُ إِلَى فَقْدِ الأَرَاضِي الزِّرَاعِيَّةِ.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التَّصَحُّرُ مِنْ فَقْدِ الأَرَاضِي.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التَّصَحُّرُ فِي فَقْدِ الأَرَاضِي.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trees.</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يُقْطَعُ الأَشْجَارُ فِي بَعْضِ المَنَاطِقِ.</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 فِي بَعْضِ المَنَاطِقِ.</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 فِي بَعْضِ المَنَاطِقِ.</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active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المَصَانِعُ الهَوَاءَ.</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بِالدُّخَانِ.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يَتَلَوَّثُ البَحْرُ ___ النُّفَايَاتِ.</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إِلَى</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مِمَّا</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بِسَبَبِ</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بسبب</a:t>
            </a:r>
            <a:pPr algn="l" indent="0" marL="0">
              <a:buNone/>
            </a:pPr>
            <a:r>
              <a:rPr lang="en-US" sz="1050" i="1" dirty="0">
                <a:solidFill>
                  <a:srgbClr val="8A6D1E"/>
                </a:solidFill>
                <a:latin typeface="Calibri" pitchFamily="34" charset="0"/>
                <a:ea typeface="Calibri" pitchFamily="34" charset="-122"/>
                <a:cs typeface="Calibri" pitchFamily="34" charset="-120"/>
              </a:rPr>
              <a:t> is followed by the cause noun.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result structure.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 التَّصَحُّرُ إِلَى فَقْدِ الأَرَاضِي الزِّرَاعِيَّةِ.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التَّصَحُّرُ مِنْ فَقْدِ الأَرَاضِي.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التَّصَحُّرُ فِي فَقْدِ الأَرَاضِي.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يؤدي</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trees.</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يُقْطَعُ الأَشْجَارُ فِي بَعْضِ المَنَاطِقِ.</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تُقْطَعُ الأَشْجَارُ فِي بَعْضِ المَنَاطِقِ.</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تَقْطَعُ الأَشْجَارَ فِي بَعْضِ المَنَاطِقِ.</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الأشجار</a:t>
            </a:r>
            <a:pPr algn="l" indent="0" marL="0">
              <a:buNone/>
            </a:pPr>
            <a:r>
              <a:rPr lang="en-US" sz="1050" i="1" dirty="0">
                <a:solidFill>
                  <a:srgbClr val="8A6D1E"/>
                </a:solidFill>
                <a:latin typeface="Calibri" pitchFamily="34" charset="0"/>
                <a:ea typeface="Calibri" pitchFamily="34" charset="-122"/>
                <a:cs typeface="Calibri" pitchFamily="34" charset="-120"/>
              </a:rPr>
              <a:t> is a non-human plural treated as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تُقْطَعُ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active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تُلَوِّثُ المَصَانِعُ الهَوَاءَ.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بِالدُّخَانِ.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تُقْطَعُ الأَشْجَارُ.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active sentence names factories as the agent.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build a cause–effect chain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 the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يَزْدَادُ </a:t>
            </a:r>
            <a:pPr rtl="1" algn="ctr" indent="0" marL="0">
              <a:buNone/>
            </a:pPr>
            <a:r>
              <a:rPr lang="ar-SA" altLang="en-US" sz="2800" b="1" dirty="0">
                <a:solidFill>
                  <a:srgbClr val="0E7C86"/>
                </a:solidFill>
                <a:latin typeface="Amiri" pitchFamily="34" charset="0"/>
                <a:ea typeface="Amiri" pitchFamily="34" charset="-122"/>
                <a:cs typeface="Amiri" pitchFamily="34" charset="-120"/>
              </a:rPr>
              <a:t>تَلَوُّثُ الهَوَاءِ</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يَزْدَادُ</a:t>
            </a:r>
            <a:pPr algn="l" indent="0" marL="0">
              <a:buNone/>
            </a:pPr>
            <a:r>
              <a:rPr lang="en-US" sz="1150" dirty="0">
                <a:solidFill>
                  <a:srgbClr val="1F2A37"/>
                </a:solidFill>
                <a:latin typeface="Calibri" pitchFamily="34" charset="0"/>
                <a:ea typeface="Calibri" pitchFamily="34" charset="-122"/>
                <a:cs typeface="Calibri" pitchFamily="34" charset="-120"/>
              </a:rPr>
              <a:t> = increases. An iḍāfa: pollution of the air.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Give the cause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بِسَبَبِ</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السَّيَّارَاتِ وَالمَصَانِعِ</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بِسَبَبِ</a:t>
            </a:r>
            <a:pPr algn="l" indent="0" marL="0">
              <a:buNone/>
            </a:pPr>
            <a:r>
              <a:rPr lang="en-US" sz="1150" dirty="0">
                <a:solidFill>
                  <a:srgbClr val="1F2A37"/>
                </a:solidFill>
                <a:latin typeface="Calibri" pitchFamily="34" charset="0"/>
                <a:ea typeface="Calibri" pitchFamily="34" charset="-122"/>
                <a:cs typeface="Calibri" pitchFamily="34" charset="-120"/>
              </a:rPr>
              <a:t> + noun. Two causes joined with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Give the effect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وَهٰذَا </a:t>
            </a:r>
            <a:pPr rtl="1" algn="ctr" indent="0" marL="0">
              <a:buNone/>
            </a:pPr>
            <a:r>
              <a:rPr lang="ar-SA" altLang="en-US" sz="2550" b="1" dirty="0">
                <a:solidFill>
                  <a:srgbClr val="1D5FBF"/>
                </a:solidFill>
                <a:latin typeface="Amiri" pitchFamily="34" charset="0"/>
                <a:ea typeface="Amiri" pitchFamily="34" charset="-122"/>
                <a:cs typeface="Amiri" pitchFamily="34" charset="-120"/>
              </a:rPr>
              <a:t>يُؤَدِّي إِلَى</a:t>
            </a:r>
            <a:pPr rtl="1" algn="ctr" indent="0" marL="0">
              <a:buNone/>
            </a:pPr>
            <a:r>
              <a:rPr lang="ar-SA" altLang="en-US" sz="2550" b="1" dirty="0">
                <a:solidFill>
                  <a:srgbClr val="1B3B6F"/>
                </a:solidFill>
                <a:latin typeface="Amiri" pitchFamily="34" charset="0"/>
                <a:ea typeface="Amiri" pitchFamily="34" charset="-122"/>
                <a:cs typeface="Amiri" pitchFamily="34" charset="-120"/>
              </a:rPr>
              <a:t> أَمْرَاضٍ</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يُؤَدِّي</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إِلَى</a:t>
            </a:r>
            <a:pPr algn="l" indent="0" marL="0">
              <a:buNone/>
            </a:pPr>
            <a:r>
              <a:rPr lang="en-US" sz="1150" dirty="0">
                <a:solidFill>
                  <a:srgbClr val="1F2A37"/>
                </a:solidFill>
                <a:latin typeface="Calibri" pitchFamily="34" charset="0"/>
                <a:ea typeface="Calibri" pitchFamily="34" charset="-122"/>
                <a:cs typeface="Calibri" pitchFamily="34" charset="-120"/>
              </a:rPr>
              <a:t> — never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your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فِي رَأْيِي، هٰذِهِ مُشْكِلَةٌ خَطِيرَةٌ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فِي رَأْيِي</a:t>
            </a:r>
            <a:pPr algn="l" indent="0" marL="0">
              <a:buNone/>
            </a:pPr>
            <a:r>
              <a:rPr lang="en-US" sz="1150" dirty="0">
                <a:solidFill>
                  <a:srgbClr val="1F2A37"/>
                </a:solidFill>
                <a:latin typeface="Calibri" pitchFamily="34" charset="0"/>
                <a:ea typeface="Calibri" pitchFamily="34" charset="-122"/>
                <a:cs typeface="Calibri" pitchFamily="34" charset="-120"/>
              </a:rPr>
              <a:t> = in my opinion (website model).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PROBLEM</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يَزْدَادُ </a:t>
            </a:r>
            <a:pPr rtl="1" algn="r" indent="0" marL="0">
              <a:buNone/>
            </a:pPr>
            <a:r>
              <a:rPr lang="ar-SA" altLang="en-US" sz="2400" b="1" dirty="0">
                <a:solidFill>
                  <a:srgbClr val="0E7C86"/>
                </a:solidFill>
                <a:latin typeface="Amiri" pitchFamily="34" charset="0"/>
                <a:ea typeface="Amiri" pitchFamily="34" charset="-122"/>
                <a:cs typeface="Amiri" pitchFamily="34" charset="-120"/>
              </a:rPr>
              <a:t>تَلَوُّثُ الهَوَاءِ</a:t>
            </a:r>
            <a:pPr rtl="1" algn="r" indent="0" marL="0">
              <a:buNone/>
            </a:pPr>
            <a:r>
              <a:rPr lang="ar-SA" altLang="en-US" sz="2400" b="1" dirty="0">
                <a:solidFill>
                  <a:srgbClr val="1B3B6F"/>
                </a:solidFill>
                <a:latin typeface="Amiri" pitchFamily="34" charset="0"/>
                <a:ea typeface="Amiri" pitchFamily="34" charset="-122"/>
                <a:cs typeface="Amiri" pitchFamily="34" charset="-120"/>
              </a:rPr>
              <a:t> </a:t>
            </a:r>
            <a:pPr rtl="1" algn="r" indent="0" marL="0">
              <a:buNone/>
            </a:pPr>
            <a:r>
              <a:rPr lang="ar-SA" altLang="en-US" sz="2400" b="1" dirty="0">
                <a:solidFill>
                  <a:srgbClr val="1D5FBF"/>
                </a:solidFill>
                <a:latin typeface="Amiri" pitchFamily="34" charset="0"/>
                <a:ea typeface="Amiri" pitchFamily="34" charset="-122"/>
                <a:cs typeface="Amiri" pitchFamily="34" charset="-120"/>
              </a:rPr>
              <a:t>بِسَبَبِ</a:t>
            </a:r>
            <a:pPr rtl="1" algn="r" indent="0" marL="0">
              <a:buNone/>
            </a:pPr>
            <a:r>
              <a:rPr lang="ar-SA" altLang="en-US" sz="2400" b="1" dirty="0">
                <a:solidFill>
                  <a:srgbClr val="1B3B6F"/>
                </a:solidFill>
                <a:latin typeface="Amiri" pitchFamily="34" charset="0"/>
                <a:ea typeface="Amiri" pitchFamily="34" charset="-122"/>
                <a:cs typeface="Amiri" pitchFamily="34" charset="-120"/>
              </a:rPr>
              <a:t> السَّيَّارَاتِ وَالمَصَانِعِ، وَهٰذَا </a:t>
            </a:r>
            <a:pPr rtl="1" algn="r" indent="0" marL="0">
              <a:buNone/>
            </a:pPr>
            <a:r>
              <a:rPr lang="ar-SA" altLang="en-US" sz="2400" b="1" dirty="0">
                <a:solidFill>
                  <a:srgbClr val="1D5FBF"/>
                </a:solidFill>
                <a:latin typeface="Amiri" pitchFamily="34" charset="0"/>
                <a:ea typeface="Amiri" pitchFamily="34" charset="-122"/>
                <a:cs typeface="Amiri" pitchFamily="34" charset="-120"/>
              </a:rPr>
              <a:t>يُؤَدِّي إِلَى</a:t>
            </a:r>
            <a:pPr rtl="1" algn="r" indent="0" marL="0">
              <a:buNone/>
            </a:pPr>
            <a:r>
              <a:rPr lang="ar-SA" altLang="en-US" sz="2400" b="1" dirty="0">
                <a:solidFill>
                  <a:srgbClr val="1B3B6F"/>
                </a:solidFill>
                <a:latin typeface="Amiri" pitchFamily="34" charset="0"/>
                <a:ea typeface="Amiri" pitchFamily="34" charset="-122"/>
                <a:cs typeface="Amiri" pitchFamily="34" charset="-120"/>
              </a:rPr>
              <a:t> أَمْرَاضٍ. فِي رَأْيِي، هٰذِهِ مُشْكِلَةٌ خَطِيرَةٌ.</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Air pollution is increasing because of cars and factories, and this leads to illnesses. In my opinion, this is a serious problem.</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يُسَبِّبُ دُخَانُ الْمَصَانِعِ تَلَوُّثَ الْهَوَاءِ.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Factory smoke causes air pollution.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يَتَلَوَّثُ البَحْرُ بِسَبَبِ النُّفَايَاتِ البِلَاسْتِيكِيَّةِ.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sea gets polluted because of plastic waste.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بِسَبَبِ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يُؤَدِّي قَطْعُ الأَشْجَارِ إِلَى فَقْدِ المَوَائِلِ.</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Cutting down trees leads to habitat loss.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إِلَى after يُؤَدِّي.</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تَرْتَفِعُ دَرَجَةُ الحَرَارَةِ، مِمَّا يُسَبِّبُ ذَوَبَانَ الجَلِيدِ.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temperature rises, which causes the ice to melt.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Stretch: مِمَّا refers back to the whole idea.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“CAUSE &amp; EFFECT”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Match the picture to the cause and effect</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Text 16"/>
          <p:cNvSpPr txBox="1"/>
          <p:nvPr/>
        </p:nvSpPr>
        <p:spPr>
          <a:xfrm>
            <a:off x="9771888"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21" name="Shape 17"/>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2"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Text 22"/>
          <p:cNvSpPr txBox="1"/>
          <p:nvPr/>
        </p:nvSpPr>
        <p:spPr>
          <a:xfrm>
            <a:off x="5952744"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29"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0"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Text 28"/>
          <p:cNvSpPr txBox="1"/>
          <p:nvPr/>
        </p:nvSpPr>
        <p:spPr>
          <a:xfrm>
            <a:off x="2133600"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37"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8"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يُؤَدِّي قَطْعُ الأَشْجَارِ إِلَى فَقْدَانِ مَوَائِلِ الْحَيَوَانَاتِ.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يُسَبِّبُ دُخَانُ الْمَصَانِعِ تَلَوُّثَ الْهَوَاءِ.</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يُؤَدِّي رَمْيُ النُّفَايَاتِ فِي الْبَحْرِ إِلَى إِضْرَارِ الْحَيَاةِ الْبَحْرِيَّةِ.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Text 16"/>
          <p:cNvSpPr txBox="1"/>
          <p:nvPr/>
        </p:nvSpPr>
        <p:spPr>
          <a:xfrm>
            <a:off x="9771888"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21" name="Shape 17"/>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2"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يُسَبِّبُ دُخَانُ الْمَصَانِعِ تَلَوُّثَ الْهَوَاءِ.</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Factory smoke causes air pollution.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Text 27"/>
          <p:cNvSpPr txBox="1"/>
          <p:nvPr/>
        </p:nvSpPr>
        <p:spPr>
          <a:xfrm>
            <a:off x="5952744"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34"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يُؤَدِّي رَمْيُ النُّفَايَاتِ فِي الْبَحْرِ إِلَى إِضْرَارِ الْحَيَاةِ الْبَحْرِيَّةِ.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Throwing waste into the sea harms marine life.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Text 38"/>
          <p:cNvSpPr txBox="1"/>
          <p:nvPr/>
        </p:nvSpPr>
        <p:spPr>
          <a:xfrm>
            <a:off x="2133600"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47"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8"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يُؤَدِّي قَطْعُ الأَشْجَارِ إِلَى فَقْدَانِ مَوَائِلِ الْحَيَوَانَاتِ.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Cutting down trees leads to the loss of animal habitats.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Cars pollute the air.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يُلَوَّثُ</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تُلَوِّثُ</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السَّيَّارَاتُ</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الأَشْجَارُ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الهَوَاءُ.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الهَوَاءَ.</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sea gets polluted because of plastic waste.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يَتَلَوَّثُ</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يُؤَدِّي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الهَوَاءُ</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البَحْرُ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بِسَبَبِ النُّفَايَاتِ البِلَاسْتِيكِيَّةِ.</a:t>
            </a:r>
            <a:endParaRPr lang="ar-SA" sz="15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إِلَى النُّفَايَاتِ البِلَاسْتِيكِيَّةِ.</a:t>
            </a:r>
            <a:endParaRPr lang="ar-SA" sz="155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Pollution leads to illnesses.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يُؤَدِّي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يَتَرَاكَمُ</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التَّلَوُّثُ</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الجَلِيدُ</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أَمْرَاضٍ.</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أَمْرَاضٍ.</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Cars pollute the air.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Active: the cars do it; the air is the object → </a:t>
            </a:r>
            <a:pPr algn="l" indent="0" marL="0">
              <a:buNone/>
            </a:pPr>
            <a:r>
              <a:rPr lang="ar-SA" altLang="en-US" sz="1350" dirty="0">
                <a:solidFill>
                  <a:srgbClr val="5A6472"/>
                </a:solidFill>
                <a:latin typeface="Amiri" pitchFamily="34" charset="0"/>
                <a:ea typeface="Amiri" pitchFamily="34" charset="-122"/>
                <a:cs typeface="Amiri" pitchFamily="34" charset="-120"/>
              </a:rPr>
              <a:t>الهَوَاءَ</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تُلَوِّثُ السَّيَّارَاتُ الهَوَاءَ.</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sea gets polluted because of plastic waste.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بِسَبَبِ</a:t>
            </a:r>
            <a:pPr algn="l" indent="0" marL="0">
              <a:buNone/>
            </a:pPr>
            <a:r>
              <a:rPr lang="en-US" sz="1050" i="1" dirty="0">
                <a:solidFill>
                  <a:srgbClr val="5A6472"/>
                </a:solidFill>
                <a:latin typeface="Calibri" pitchFamily="34" charset="0"/>
                <a:ea typeface="Calibri" pitchFamily="34" charset="-122"/>
                <a:cs typeface="Calibri" pitchFamily="34" charset="-120"/>
              </a:rPr>
              <a:t> + the cause (a noun).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يَتَلَوَّثُ البَحْرُ بِسَبَبِ النُّفَايَاتِ البِلَاسْتِيكِيَّةِ.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Pollution leads to illnesses.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Always </a:t>
            </a:r>
            <a:pPr algn="l" indent="0" marL="0">
              <a:buNone/>
            </a:pPr>
            <a:r>
              <a:rPr lang="ar-SA" altLang="en-US" sz="1350" dirty="0">
                <a:solidFill>
                  <a:srgbClr val="5A6472"/>
                </a:solidFill>
                <a:latin typeface="Amiri" pitchFamily="34" charset="0"/>
                <a:ea typeface="Amiri" pitchFamily="34" charset="-122"/>
                <a:cs typeface="Amiri" pitchFamily="34" charset="-120"/>
              </a:rPr>
              <a:t>إِلَى</a:t>
            </a:r>
            <a:pPr algn="l" indent="0" marL="0">
              <a:buNone/>
            </a:pPr>
            <a:r>
              <a:rPr lang="en-US" sz="1050" i="1" dirty="0">
                <a:solidFill>
                  <a:srgbClr val="5A6472"/>
                </a:solidFill>
                <a:latin typeface="Calibri" pitchFamily="34" charset="0"/>
                <a:ea typeface="Calibri" pitchFamily="34" charset="-122"/>
                <a:cs typeface="Calibri" pitchFamily="34" charset="-120"/>
              </a:rPr>
              <a:t> after </a:t>
            </a:r>
            <a:pPr algn="l" indent="0" marL="0">
              <a:buNone/>
            </a:pPr>
            <a:r>
              <a:rPr lang="ar-SA" altLang="en-US" sz="1350" dirty="0">
                <a:solidFill>
                  <a:srgbClr val="5A6472"/>
                </a:solidFill>
                <a:latin typeface="Amiri" pitchFamily="34" charset="0"/>
                <a:ea typeface="Amiri" pitchFamily="34" charset="-122"/>
                <a:cs typeface="Amiri" pitchFamily="34" charset="-120"/>
              </a:rPr>
              <a:t>يُؤَدِّي</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يُؤَدِّي التَّلَوُّثُ إِلَى أَمْرَاضٍ.</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Problem, process or connector?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بِسَبَبِ</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الهَوَاءِ</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يُلَوَّثُ الهَوَاءُ</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 إِلَى</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النُّفَايَاتُ البِلَاسْتِيكِيَّةُ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تُقْطَعُ الأَشْجَارُ</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المِيَاهِ</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نَتِيجَةً لِـ</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المَصَانِعُ الهَوَاءَ</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problems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Active and passive processes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Cause and effect</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problems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الهَوَاءِ</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النُّفَايَاتُ البِلَاسْتِيكِيَّةُ</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المِيَاهِ</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Active and passive processes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يُلَوَّثُ الهَوَاءُ</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تُقْطَعُ الأَشْجَارُ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المَصَانِعُ الهَوَاءَ</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Cause and effect</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بِسَبَبِ</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 إِلَى</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نَتِيجَةً لِـ</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QUIZ QUESTIONS 2, 6,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الهَوَاءُ بِالدُّخَانِ.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بِدُخَانِ المَصَانِعِ.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بِدُخَانِ المَصَانِعِ.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complete cause to its consequence?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 بِسَبَبِ يُسَبِّبُ الجَلِيدَ.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 مِمَّا يُسَبِّبُ ذَوَبَانَ الجَلِيدِ.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 إِلَى مِمَّا الجَلِيدِ.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t>
            </a:r>
            <a:pPr algn="l" indent="0" marL="0">
              <a:buNone/>
            </a:pPr>
            <a:r>
              <a:rPr lang="ar-SA" altLang="en-US" sz="1650" b="1" dirty="0">
                <a:solidFill>
                  <a:srgbClr val="1B3B6F"/>
                </a:solidFill>
                <a:latin typeface="Amiri" pitchFamily="34" charset="0"/>
                <a:ea typeface="Amiri" pitchFamily="34" charset="-122"/>
                <a:cs typeface="Amiri" pitchFamily="34" charset="-120"/>
              </a:rPr>
              <a:t>يَنْبَعِثُ</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regular passive of </a:t>
            </a:r>
            <a:pPr algn="l" indent="0" marL="0">
              <a:buNone/>
            </a:pPr>
            <a:r>
              <a:rPr lang="ar-SA" altLang="en-US" sz="1650" dirty="0">
                <a:solidFill>
                  <a:srgbClr val="1F2A37"/>
                </a:solidFill>
                <a:latin typeface="Amiri" pitchFamily="34" charset="0"/>
                <a:ea typeface="Amiri" pitchFamily="34" charset="-122"/>
                <a:cs typeface="Amiri" pitchFamily="34" charset="-120"/>
              </a:rPr>
              <a:t>يُلَوِّثُ</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an intransitive process verb meaning “emanates/is emitted”.</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must always take a direct object.</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cause phrase.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لِحَرَقَ الوَقُودَ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إِلَى حَرْقُ الوَقُودِ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لِحَرْقِ الوَقُودِ الأُحْفُورِيِّ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تُلَوَّثُ الهَوَاءُ بِالدُّخَانِ.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بِدُخَانِ المَصَانِعِ.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 بِدُخَانِ المَصَانِعِ.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الهواء</a:t>
            </a:r>
            <a:pPr algn="l" indent="0" marL="0">
              <a:buNone/>
            </a:pPr>
            <a:r>
              <a:rPr lang="en-US" sz="1050" i="1" dirty="0">
                <a:solidFill>
                  <a:srgbClr val="8A6D1E"/>
                </a:solidFill>
                <a:latin typeface="Calibri" pitchFamily="34" charset="0"/>
                <a:ea typeface="Calibri" pitchFamily="34" charset="-122"/>
                <a:cs typeface="Calibri" pitchFamily="34" charset="-120"/>
              </a:rPr>
              <a:t> is masculine; the passive is </a:t>
            </a:r>
            <a:pPr algn="l" indent="0" marL="0">
              <a:buNone/>
            </a:pPr>
            <a:r>
              <a:rPr lang="ar-SA" altLang="en-US" sz="1350" dirty="0">
                <a:solidFill>
                  <a:srgbClr val="8A6D1E"/>
                </a:solidFill>
                <a:latin typeface="Amiri" pitchFamily="34" charset="0"/>
                <a:ea typeface="Amiri" pitchFamily="34" charset="-122"/>
                <a:cs typeface="Amiri" pitchFamily="34" charset="-120"/>
              </a:rPr>
              <a:t>يُلَوَّثُ</a:t>
            </a:r>
            <a:pPr algn="l" indent="0" marL="0">
              <a:buNone/>
            </a:pPr>
            <a:r>
              <a:rPr lang="en-US" sz="1050" i="1" dirty="0">
                <a:solidFill>
                  <a:srgbClr val="8A6D1E"/>
                </a:solidFill>
                <a:latin typeface="Calibri" pitchFamily="34" charset="0"/>
                <a:ea typeface="Calibri" pitchFamily="34" charset="-122"/>
                <a:cs typeface="Calibri" pitchFamily="34" charset="-120"/>
              </a:rPr>
              <a:t> and the passive subject is nominative.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complete cause to its consequence?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الحَرَارَةُ بِسَبَبِ يُسَبِّبُ الجَلِيدَ.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تَرْتَفِعُ الحَرَارَةُ، مِمَّا يُسَبِّبُ ذَوَبَانَ الجَلِيدِ.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الحَرَارَةُ إِلَى مِمَّا الجَلِيدِ.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مما يسبب</a:t>
            </a:r>
            <a:pPr algn="l" indent="0" marL="0">
              <a:buNone/>
            </a:pPr>
            <a:r>
              <a:rPr lang="en-US" sz="1050" i="1" dirty="0">
                <a:solidFill>
                  <a:srgbClr val="8A6D1E"/>
                </a:solidFill>
                <a:latin typeface="Calibri" pitchFamily="34" charset="0"/>
                <a:ea typeface="Calibri" pitchFamily="34" charset="-122"/>
                <a:cs typeface="Calibri" pitchFamily="34" charset="-120"/>
              </a:rPr>
              <a:t> refers to the whole preceding clause.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t>
            </a:r>
            <a:pPr algn="l" indent="0" marL="0">
              <a:buNone/>
            </a:pPr>
            <a:r>
              <a:rPr lang="ar-SA" altLang="en-US" sz="1650" b="1" dirty="0">
                <a:solidFill>
                  <a:srgbClr val="1B3B6F"/>
                </a:solidFill>
                <a:latin typeface="Amiri" pitchFamily="34" charset="0"/>
                <a:ea typeface="Amiri" pitchFamily="34" charset="-122"/>
                <a:cs typeface="Amiri" pitchFamily="34" charset="-120"/>
              </a:rPr>
              <a:t>يَنْبَعِثُ</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regular passive of </a:t>
            </a:r>
            <a:pPr algn="l" indent="0" marL="0">
              <a:buNone/>
            </a:pPr>
            <a:r>
              <a:rPr lang="ar-SA" altLang="en-US" sz="1650" dirty="0">
                <a:solidFill>
                  <a:srgbClr val="9AA1AB"/>
                </a:solidFill>
                <a:latin typeface="Amiri" pitchFamily="34" charset="0"/>
                <a:ea typeface="Amiri" pitchFamily="34" charset="-122"/>
                <a:cs typeface="Amiri" pitchFamily="34" charset="-120"/>
              </a:rPr>
              <a:t>يُلَوِّثُ</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It is an intransitive process verb meaning “emanates/is emitted”.</a:t>
            </a:r>
            <a:endParaRPr lang="en-US" sz="12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must always take a direct object.</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ينبعث</a:t>
            </a:r>
            <a:pPr algn="l" indent="0" marL="0">
              <a:buNone/>
            </a:pPr>
            <a:r>
              <a:rPr lang="en-US" sz="1050" i="1" dirty="0">
                <a:solidFill>
                  <a:srgbClr val="8A6D1E"/>
                </a:solidFill>
                <a:latin typeface="Calibri" pitchFamily="34" charset="0"/>
                <a:ea typeface="Calibri" pitchFamily="34" charset="-122"/>
                <a:cs typeface="Calibri" pitchFamily="34" charset="-120"/>
              </a:rPr>
              <a:t> is not a passive form of </a:t>
            </a:r>
            <a:pPr algn="l" indent="0" marL="0">
              <a:buNone/>
            </a:pPr>
            <a:r>
              <a:rPr lang="ar-SA" altLang="en-US" sz="1350" dirty="0">
                <a:solidFill>
                  <a:srgbClr val="8A6D1E"/>
                </a:solidFill>
                <a:latin typeface="Amiri" pitchFamily="34" charset="0"/>
                <a:ea typeface="Amiri" pitchFamily="34" charset="-122"/>
                <a:cs typeface="Amiri" pitchFamily="34" charset="-120"/>
              </a:rPr>
              <a:t>لوّث</a:t>
            </a:r>
            <a:pPr algn="l" indent="0" marL="0">
              <a:buNone/>
            </a:pPr>
            <a:r>
              <a:rPr lang="en-US" sz="1050" i="1" dirty="0">
                <a:solidFill>
                  <a:srgbClr val="8A6D1E"/>
                </a:solidFill>
                <a:latin typeface="Calibri" pitchFamily="34" charset="0"/>
                <a:ea typeface="Calibri" pitchFamily="34" charset="-122"/>
                <a:cs typeface="Calibri" pitchFamily="34" charset="-120"/>
              </a:rPr>
              <a:t>; it describes smoke or gas emanating.</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cause phrase.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لِحَرَقَ الوَقُودَ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إِلَى حَرْقُ الوَقُودِ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نَتِيجَةً لِحَرْقِ الوَقُودِ الأُحْفُورِيِّ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نتيجةً لـ</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genitive noun phrase.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يُلَوِّثُ الهَوَاءُ بِالدُّخَانِ.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the air doing the polluting, or being polluted?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يُؤَدِّي التَّلَوُّثُ فِي أَمْرَاضٍ.</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preposition always follows </a:t>
            </a:r>
            <a:pPr algn="l" indent="0" marL="0">
              <a:buNone/>
            </a:pPr>
            <a:r>
              <a:rPr lang="ar-SA" altLang="en-US" sz="1700" dirty="0">
                <a:solidFill>
                  <a:srgbClr val="5A6472"/>
                </a:solidFill>
                <a:latin typeface="Amiri" pitchFamily="34" charset="0"/>
                <a:ea typeface="Amiri" pitchFamily="34" charset="-122"/>
                <a:cs typeface="Amiri" pitchFamily="34" charset="-120"/>
              </a:rPr>
              <a:t>يُؤَدِّي</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يُقْطَعُ الأَشْجَارُ.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الأَشْجَار</a:t>
            </a:r>
            <a:pPr algn="l" indent="0" marL="0">
              <a:buNone/>
            </a:pPr>
            <a:r>
              <a:rPr lang="en-US" sz="1300" i="1" dirty="0">
                <a:solidFill>
                  <a:srgbClr val="5A6472"/>
                </a:solidFill>
                <a:latin typeface="Calibri" pitchFamily="34" charset="0"/>
                <a:ea typeface="Calibri" pitchFamily="34" charset="-122"/>
                <a:cs typeface="Calibri" pitchFamily="34" charset="-120"/>
              </a:rPr>
              <a:t> treated as masculine or feminine?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يُلَوِّثُ الهَوَاءُ بِالدُّخَانِ.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يُلَوَّثُ الهَوَاءُ بِالدُّخَانِ.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passive present of </a:t>
            </a:r>
            <a:pPr algn="l" indent="0" marL="0">
              <a:buNone/>
            </a:pPr>
            <a:r>
              <a:rPr lang="ar-SA" altLang="en-US" sz="1500" b="1" dirty="0">
                <a:solidFill>
                  <a:srgbClr val="1B3B6F"/>
                </a:solidFill>
                <a:latin typeface="Amiri" pitchFamily="34" charset="0"/>
                <a:ea typeface="Amiri" pitchFamily="34" charset="-122"/>
                <a:cs typeface="Amiri" pitchFamily="34" charset="-120"/>
              </a:rPr>
              <a:t>لوّث</a:t>
            </a:r>
            <a:pPr algn="l" indent="0" marL="0">
              <a:buNone/>
            </a:pPr>
            <a:r>
              <a:rPr lang="en-US" sz="1150" b="1" dirty="0">
                <a:solidFill>
                  <a:srgbClr val="1B3B6F"/>
                </a:solidFill>
                <a:latin typeface="Calibri" pitchFamily="34" charset="0"/>
                <a:ea typeface="Calibri" pitchFamily="34" charset="-122"/>
                <a:cs typeface="Calibri" pitchFamily="34" charset="-120"/>
              </a:rPr>
              <a:t> is </a:t>
            </a:r>
            <a:pPr algn="l" indent="0" marL="0">
              <a:buNone/>
            </a:pPr>
            <a:r>
              <a:rPr lang="ar-SA" altLang="en-US" sz="1500" b="1" dirty="0">
                <a:solidFill>
                  <a:srgbClr val="1B3B6F"/>
                </a:solidFill>
                <a:latin typeface="Amiri" pitchFamily="34" charset="0"/>
                <a:ea typeface="Amiri" pitchFamily="34" charset="-122"/>
                <a:cs typeface="Amiri" pitchFamily="34" charset="-120"/>
              </a:rPr>
              <a:t>يُلَوَّثُ</a:t>
            </a:r>
            <a:pPr algn="l" indent="0" marL="0">
              <a:buNone/>
            </a:pPr>
            <a:r>
              <a:rPr lang="en-US" sz="1150" b="1" dirty="0">
                <a:solidFill>
                  <a:srgbClr val="1B3B6F"/>
                </a:solidFill>
                <a:latin typeface="Calibri" pitchFamily="34" charset="0"/>
                <a:ea typeface="Calibri" pitchFamily="34" charset="-122"/>
                <a:cs typeface="Calibri" pitchFamily="34" charset="-120"/>
              </a:rPr>
              <a:t>; the air is the passive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يُؤَدِّي التَّلَوُّثُ فِي أَمْرَاضٍ.</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يُؤَدِّي التَّلَوُّثُ إِلَى أَمْرَاضٍ.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يؤدي</a:t>
            </a:r>
            <a:pPr algn="l" indent="0" marL="0">
              <a:buNone/>
            </a:pPr>
            <a:r>
              <a:rPr lang="en-US" sz="1150" b="1" dirty="0">
                <a:solidFill>
                  <a:srgbClr val="1B3B6F"/>
                </a:solidFill>
                <a:latin typeface="Calibri" pitchFamily="34" charset="0"/>
                <a:ea typeface="Calibri" pitchFamily="34" charset="-122"/>
                <a:cs typeface="Calibri" pitchFamily="34" charset="-120"/>
              </a:rPr>
              <a:t> takes the preposition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يُقْطَعُ الأَشْجَارُ.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تُقْطَعُ الأَشْجَارُ.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الأشجار</a:t>
            </a:r>
            <a:pPr algn="l" indent="0" marL="0">
              <a:buNone/>
            </a:pPr>
            <a:r>
              <a:rPr lang="en-US" sz="1150" b="1" dirty="0">
                <a:solidFill>
                  <a:srgbClr val="1B3B6F"/>
                </a:solidFill>
                <a:latin typeface="Calibri" pitchFamily="34" charset="0"/>
                <a:ea typeface="Calibri" pitchFamily="34" charset="-122"/>
                <a:cs typeface="Calibri" pitchFamily="34" charset="-120"/>
              </a:rPr>
              <a:t> is a non-human plural treated as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Listening: pollution and its consequences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What is described as one of the city’s most serious problems?</a:t>
            </a:r>
            <a:endParaRPr lang="en-US" sz="10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 pollution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Lack of schools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weather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sources pollute the air?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 and wind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Farms and hospitals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Cars and factories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emanates from them?</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Fresh water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Thick smoke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health effect increases?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Respiratory illnesses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Broken bones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Food allergies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plastic waste thrown?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recycling centre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river</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mountains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are the two water-related consequences?</a:t>
            </a:r>
            <a:endParaRPr lang="en-US" sz="11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pollution and the death of some fish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drinking water and cleaner beaches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Lower sea levels and more forests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a:t>
            </a:r>
            <a:pPr algn="l" indent="0" marL="0">
              <a:buNone/>
            </a:pPr>
            <a:r>
              <a:rPr lang="ar-SA" altLang="en-US" sz="1650" dirty="0">
                <a:solidFill>
                  <a:srgbClr val="1E6B52"/>
                </a:solidFill>
                <a:latin typeface="Amiri" pitchFamily="34" charset="0"/>
                <a:ea typeface="Amiri" pitchFamily="34" charset="-122"/>
                <a:cs typeface="Amiri" pitchFamily="34" charset="-120"/>
              </a:rPr>
              <a:t>تَلَوُّثُ الهَوَاءِ</a:t>
            </a:r>
            <a:pPr algn="l" indent="0" marL="0">
              <a:buNone/>
            </a:pPr>
            <a:r>
              <a:rPr lang="en-US" sz="1250" dirty="0">
                <a:solidFill>
                  <a:srgbClr val="1E6B52"/>
                </a:solidFill>
                <a:latin typeface="Calibri" pitchFamily="34" charset="0"/>
                <a:ea typeface="Calibri" pitchFamily="34" charset="-122"/>
                <a:cs typeface="Calibri" pitchFamily="34" charset="-120"/>
              </a:rPr>
              <a:t>, </a:t>
            </a:r>
            <a:pPr algn="l" indent="0" marL="0">
              <a:buNone/>
            </a:pPr>
            <a:r>
              <a:rPr lang="ar-SA" altLang="en-US" sz="1650" dirty="0">
                <a:solidFill>
                  <a:srgbClr val="1E6B52"/>
                </a:solidFill>
                <a:latin typeface="Amiri" pitchFamily="34" charset="0"/>
                <a:ea typeface="Amiri" pitchFamily="34" charset="-122"/>
                <a:cs typeface="Amiri" pitchFamily="34" charset="-120"/>
              </a:rPr>
              <a:t>السَّيَّارَاتُ وَالمَصَانِعُ</a:t>
            </a:r>
            <a:pPr algn="l" indent="0" marL="0">
              <a:buNone/>
            </a:pPr>
            <a:r>
              <a:rPr lang="en-US" sz="1250" dirty="0">
                <a:solidFill>
                  <a:srgbClr val="1E6B52"/>
                </a:solidFill>
                <a:latin typeface="Calibri" pitchFamily="34" charset="0"/>
                <a:ea typeface="Calibri" pitchFamily="34" charset="-122"/>
                <a:cs typeface="Calibri" pitchFamily="34" charset="-120"/>
              </a:rPr>
              <a:t> and </a:t>
            </a:r>
            <a:pPr algn="l" indent="0" marL="0">
              <a:buNone/>
            </a:pPr>
            <a:r>
              <a:rPr lang="ar-SA" altLang="en-US" sz="1650" dirty="0">
                <a:solidFill>
                  <a:srgbClr val="1E6B52"/>
                </a:solidFill>
                <a:latin typeface="Amiri" pitchFamily="34" charset="0"/>
                <a:ea typeface="Amiri" pitchFamily="34" charset="-122"/>
                <a:cs typeface="Amiri" pitchFamily="34" charset="-120"/>
              </a:rPr>
              <a:t>النَّهْرِ</a:t>
            </a:r>
            <a:pPr algn="l" indent="0" marL="0">
              <a:buNone/>
            </a:pPr>
            <a:r>
              <a:rPr lang="en-US" sz="1250" dirty="0">
                <a:solidFill>
                  <a:srgbClr val="1E6B52"/>
                </a:solidFill>
                <a:latin typeface="Calibri" pitchFamily="34" charset="0"/>
                <a:ea typeface="Calibri" pitchFamily="34" charset="-122"/>
                <a:cs typeface="Calibri" pitchFamily="34" charset="-120"/>
              </a:rPr>
              <a:t> (river).</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يُعَدُّ تَلَوُّثُ الهَوَاءِ مِنْ أَخْطَرِ المُشْكِلَاتِ فِي المَدِينَةِ.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 pollution is considered one of the most serious problems in the city.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تُلَوِّثُ السَّيَّارَاتُ وَالمَصَانِعُ الهَوَاءَ، وَيَنْبَعِثُ مِنْهَا دُخَانٌ كَثِيفٌ.</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Cars and factories pollute the air, and thick smoke comes out of them.</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نَتِيجَةً لِذٰلِكَ، تَزْدَادُ أَمْرَاضُ التَّنَفُّسِ.</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result, breathing (respiratory) illnesses increase.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كَمَا تُرْمَى نُفَايَاتٌ بِلَاسْتِيكِيَّةٌ فِي النَّهْرِ، مِمَّا يُؤَدِّي إِلَى تَلَوُّثِ المِيَاهِ وَنُفُوقِ بَعْضِ الأَسْمَاكِ.</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waste is also thrown into the river, which leads to water pollution and the death of some fish.</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What is described as one of the city’s most serious problems?</a:t>
            </a:r>
            <a:endParaRPr lang="en-US" sz="10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Air pollution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Lack of schools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 weather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تلوث الهواء</a:t>
            </a:r>
            <a:pPr algn="l" indent="0" marL="0">
              <a:buNone/>
            </a:pPr>
            <a:r>
              <a:rPr lang="en-US" sz="1050" i="1" dirty="0">
                <a:solidFill>
                  <a:srgbClr val="8A6D1E"/>
                </a:solidFill>
                <a:latin typeface="Calibri" pitchFamily="34" charset="0"/>
                <a:ea typeface="Calibri" pitchFamily="34" charset="-122"/>
                <a:cs typeface="Calibri" pitchFamily="34" charset="-120"/>
              </a:rPr>
              <a:t> is named.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sources pollute the air?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 and wind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Farms and hospitals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Cars and factories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السيارات والمصانع.</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emanates from them?</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Fresh water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Thick smoke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دخان كثيف.</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health effect increases?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Respiratory illnesses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Broken bones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Food allergies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أمراض التنفس.</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plastic waste thrown?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recycling centre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river</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mountains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النهر.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are the two water-related consequences?</a:t>
            </a:r>
            <a:endParaRPr lang="en-US" sz="11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Water pollution and the death of some fish</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More drinking water and cleaner beaches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Lower sea levels and more forests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clause names both consequences.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a:t>
            </a:r>
            <a:pPr algn="l" indent="0" marL="0">
              <a:buNone/>
            </a:pPr>
            <a:r>
              <a:rPr lang="ar-SA" altLang="en-US" sz="1650" dirty="0">
                <a:solidFill>
                  <a:srgbClr val="1E6B52"/>
                </a:solidFill>
                <a:latin typeface="Amiri" pitchFamily="34" charset="0"/>
                <a:ea typeface="Amiri" pitchFamily="34" charset="-122"/>
                <a:cs typeface="Amiri" pitchFamily="34" charset="-120"/>
              </a:rPr>
              <a:t>تَلَوُّثُ الهَوَاءِ</a:t>
            </a:r>
            <a:pPr algn="l" indent="0" marL="0">
              <a:buNone/>
            </a:pPr>
            <a:r>
              <a:rPr lang="en-US" sz="1250" dirty="0">
                <a:solidFill>
                  <a:srgbClr val="1E6B52"/>
                </a:solidFill>
                <a:latin typeface="Calibri" pitchFamily="34" charset="0"/>
                <a:ea typeface="Calibri" pitchFamily="34" charset="-122"/>
                <a:cs typeface="Calibri" pitchFamily="34" charset="-120"/>
              </a:rPr>
              <a:t>, </a:t>
            </a:r>
            <a:pPr algn="l" indent="0" marL="0">
              <a:buNone/>
            </a:pPr>
            <a:r>
              <a:rPr lang="ar-SA" altLang="en-US" sz="1650" dirty="0">
                <a:solidFill>
                  <a:srgbClr val="1E6B52"/>
                </a:solidFill>
                <a:latin typeface="Amiri" pitchFamily="34" charset="0"/>
                <a:ea typeface="Amiri" pitchFamily="34" charset="-122"/>
                <a:cs typeface="Amiri" pitchFamily="34" charset="-120"/>
              </a:rPr>
              <a:t>السَّيَّارَاتُ وَالمَصَانِعُ</a:t>
            </a:r>
            <a:pPr algn="l" indent="0" marL="0">
              <a:buNone/>
            </a:pPr>
            <a:r>
              <a:rPr lang="en-US" sz="1250" dirty="0">
                <a:solidFill>
                  <a:srgbClr val="1E6B52"/>
                </a:solidFill>
                <a:latin typeface="Calibri" pitchFamily="34" charset="0"/>
                <a:ea typeface="Calibri" pitchFamily="34" charset="-122"/>
                <a:cs typeface="Calibri" pitchFamily="34" charset="-120"/>
              </a:rPr>
              <a:t> and </a:t>
            </a:r>
            <a:pPr algn="l" indent="0" marL="0">
              <a:buNone/>
            </a:pPr>
            <a:r>
              <a:rPr lang="ar-SA" altLang="en-US" sz="1650" dirty="0">
                <a:solidFill>
                  <a:srgbClr val="1E6B52"/>
                </a:solidFill>
                <a:latin typeface="Amiri" pitchFamily="34" charset="0"/>
                <a:ea typeface="Amiri" pitchFamily="34" charset="-122"/>
                <a:cs typeface="Amiri" pitchFamily="34" charset="-120"/>
              </a:rPr>
              <a:t>النَّهْرِ</a:t>
            </a:r>
            <a:pPr algn="l" indent="0" marL="0">
              <a:buNone/>
            </a:pPr>
            <a:r>
              <a:rPr lang="en-US" sz="1250" dirty="0">
                <a:solidFill>
                  <a:srgbClr val="1E6B52"/>
                </a:solidFill>
                <a:latin typeface="Calibri" pitchFamily="34" charset="0"/>
                <a:ea typeface="Calibri" pitchFamily="34" charset="-122"/>
                <a:cs typeface="Calibri" pitchFamily="34" charset="-120"/>
              </a:rPr>
              <a:t> (river).</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Speaking: explain a problem and its consequences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مُشْكِلَةٌ بِيئِيَّةٌ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أَخْطَرُ مُشْكِلَةٍ بِيئِيَّةٍ؟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سَبَبُهَا؟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نَتَائِجُهَا عَلَى المَدَى الطَّوِيلِ؟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مُشْكِلَةٌ خَطِيرَةٌ بِسَبَبِ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يُؤَدِّي ___ إِلَى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مِمَّا يُسَبِّبُ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أَخْطَرُ مُشْكِلَةٍ بِيئِيَّةٍ فِي رَأْيِكَ؟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What is the most serious environmental problem, in your opinion?</a:t>
            </a:r>
            <a:endParaRPr lang="en-US" sz="90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رَأْيِي، تَلَوُّثُ الهَوَاءِ خَطِيرٌ لِأَنَّ السَّيَّارَاتِ وَالمَصَانِعَ تُطْلِقُ دُخَانًا يُؤَدِّي إِلَى أَمْرَاضٍ تَنَفُّسِيَّةٍ.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a problem + بِسَبَبِ + cause; يُؤَدِّي … إِلَى + effect.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active and one passive sentence (يُلَوَّثُ / تُقْطَعُ) and at least two different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explain two problems, their causes and consequences.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يُلَوَّثُ الهَوَاءُ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air is polluted by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تُقْطَعُ الأَشْجَارُ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Trees are cut down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نَتِيجَةً لِـ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a result of …,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مِمَّا يُسَبِّبُ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which causes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الطَّوِيلِ،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long term,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تَلَوُّثُ ______ مُشْكِلَةٌ خَطِيرَةٌ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Air pollution is a serious problem.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يَتَلَوَّثُ البَحْرُ بِسَبَبِ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sea is polluted because of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يُؤَدِّي ______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leads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تُلَوِّثُ ______ الهَوَاءَ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Factories pollute the air.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______ خَطِيرٌ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 is serious.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تَلَوُّثُ الهَوَاءِ  ·  تَلَوُّثُ المِيَاهِ  ·  النُّفَايَاتُ  ·  الدُّخَانُ  ·  المَصَانِعُ  ·  السَّيَّارَاتُ  ·  قَطْعُ الأَشْجَارِ  ·  الاحْتِبَاسُ الحَرَارِيُّ  ·  ذَوَبَانُ الجَلِيدِ  ·  أَمْرَاضٌ  ·  بِسَبَبِ  ·  يُؤَدِّي إِلَى</a:t>
            </a:r>
            <a:endParaRPr lang="ar-SA" sz="15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explaining two environmental problems, their causes and consequences.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one accurate active sentence and one passive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different cause–effect connectors.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Develop two chains with precise consequences.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Finish with a justified judgement.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تُوَاجِهُ مُدُنٌ كَثِيرَةٌ مُشْكِلَاتٍ بِيئِيَّةً مُتَرَابِطَةً</a:t>
            </a:r>
            <a:endParaRPr lang="ar-SA" sz="17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many cities face linked environmental problems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فَبِسَبَبِ كَثْرَةِ السَّيَّارَاتِ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of the large number of cars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مِمَّا يَضُرُّ بِالأَسْمَاكِ وَالطُّيُورِ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which harms fish and birds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فَيُؤَدِّي ذٰلِكَ إِلَى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this leads to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الطَّوِيلِ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long term</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بُدَّ مِنْ فَهْمِ الأَسْبَابِ قَبْلَ اخْتِيَارِ الحُلُولِ</a:t>
            </a:r>
            <a:endParaRPr lang="ar-SA" sz="16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must understand the causes before choosing solutions</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تُوَاجِهُ مُدُنٌ كَثِيرَةٌ مُشْكِلَاتٍ بِيئِيَّةً مُتَرَابِطَةً. فَبِسَبَبِ كَثْرَةِ السَّيَّارَاتِ وَحَرْقِ الوَقُودِ الأُحْفُورِيِّ، يُلَوَّثُ الهَوَاءُ وَتَزْدَادُ أَمْرَاضُ التَّنَفُّسِ. كَمَا تُرْمَى النُّفَايَاتُ البِلَاسْتِيكِيَّةُ فِي البِحَارِ، مِمَّا يَضُرُّ بِالأَسْمَاكِ وَالطُّيُورِ. وَتُقْطَعُ الأَشْجَارُ فِي بَعْضِ المَنَاطِقِ، فَيُؤَدِّي ذٰلِكَ إِلَى فَقْدِ المَوَائِلِ وَالتَّصَحُّرِ. عَلَى المَدَى الطَّوِيلِ، سَتُؤَثِّرُ هٰذِهِ المَشَاكِلُ فِي صِحَّةِ النَّاسِ وَالاقْتِصَادِ. لِذٰلِكَ، لَا بُدَّ مِنْ فَهْمِ الأَسْبَابِ قَبْلَ اخْتِيَارِ الحُلُولِ.</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Many cities face linked environmental problems. Because of the large number of cars and the burning of fossil fuels, the air is polluted and breathing illnesses increase. Plastic waste is also thrown into the seas, which harms fish and birds. In some areas trees are cut down, and this leads to habitat loss and desertification. In the long term, these problems will affect people’s health and the economy. So we must understand the causes before choosing solutions.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active sentence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passive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بِسَبَبِ / مِمَّا / يُؤَدِّي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environmental problems and give a cause with </a:t>
            </a:r>
            <a:pPr algn="l" indent="0" marL="0">
              <a:buNone/>
            </a:pPr>
            <a:r>
              <a:rPr lang="ar-SA" altLang="en-US" sz="1700" dirty="0">
                <a:solidFill>
                  <a:srgbClr val="1F2A37"/>
                </a:solidFill>
                <a:latin typeface="Amiri" pitchFamily="34" charset="0"/>
                <a:ea typeface="Amiri" pitchFamily="34" charset="-122"/>
                <a:cs typeface="Amiri" pitchFamily="34" charset="-120"/>
              </a:rPr>
              <a:t>بِسَبَبِ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يُؤَدِّي إِلَى</a:t>
            </a:r>
            <a:pPr algn="l" indent="0" marL="0">
              <a:buNone/>
            </a:pPr>
            <a:r>
              <a:rPr lang="en-US" sz="1300" dirty="0">
                <a:solidFill>
                  <a:srgbClr val="1F2A37"/>
                </a:solidFill>
                <a:latin typeface="Calibri" pitchFamily="34" charset="0"/>
                <a:ea typeface="Calibri" pitchFamily="34" charset="-122"/>
                <a:cs typeface="Calibri" pitchFamily="34" charset="-120"/>
              </a:rPr>
              <a:t> — never </a:t>
            </a:r>
            <a:pPr algn="l" indent="0" marL="0">
              <a:buNone/>
            </a:pPr>
            <a:r>
              <a:rPr lang="ar-SA" altLang="en-US" sz="1700" dirty="0">
                <a:solidFill>
                  <a:srgbClr val="1F2A37"/>
                </a:solidFill>
                <a:latin typeface="Amiri" pitchFamily="34" charset="0"/>
                <a:ea typeface="Amiri" pitchFamily="34" charset="-122"/>
                <a:cs typeface="Amiri" pitchFamily="34" charset="-120"/>
              </a:rPr>
              <a:t>يُؤَدِّي فِي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tell an active sentence (</a:t>
            </a:r>
            <a:pPr algn="l" indent="0" marL="0">
              <a:buNone/>
            </a:pPr>
            <a:r>
              <a:rPr lang="ar-SA" altLang="en-US" sz="1700" dirty="0">
                <a:solidFill>
                  <a:srgbClr val="1F2A37"/>
                </a:solidFill>
                <a:latin typeface="Amiri" pitchFamily="34" charset="0"/>
                <a:ea typeface="Amiri" pitchFamily="34" charset="-122"/>
                <a:cs typeface="Amiri" pitchFamily="34" charset="-120"/>
              </a:rPr>
              <a:t>تُلَوِّثُ المَصَانِعُ الهَوَاءَ</a:t>
            </a:r>
            <a:pPr algn="l" indent="0" marL="0">
              <a:buNone/>
            </a:pPr>
            <a:r>
              <a:rPr lang="en-US" sz="1300" dirty="0">
                <a:solidFill>
                  <a:srgbClr val="1F2A37"/>
                </a:solidFill>
                <a:latin typeface="Calibri" pitchFamily="34" charset="0"/>
                <a:ea typeface="Calibri" pitchFamily="34" charset="-122"/>
                <a:cs typeface="Calibri" pitchFamily="34" charset="-120"/>
              </a:rPr>
              <a:t>) from a passive one (</a:t>
            </a:r>
            <a:pPr algn="l" indent="0" marL="0">
              <a:buNone/>
            </a:pPr>
            <a:r>
              <a:rPr lang="ar-SA" altLang="en-US" sz="1700" dirty="0">
                <a:solidFill>
                  <a:srgbClr val="1F2A37"/>
                </a:solidFill>
                <a:latin typeface="Amiri" pitchFamily="34" charset="0"/>
                <a:ea typeface="Amiri" pitchFamily="34" charset="-122"/>
                <a:cs typeface="Amiri" pitchFamily="34" charset="-120"/>
              </a:rPr>
              <a:t>يُلَوَّثُ الهَوَاءُ</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produce an organised response with relevant detail.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يُقْطَعُ الأَشْجَارُ بِصُورَةٍ غَيْرِ قَانُونِيَّةٍ.</a:t>
            </a:r>
            <a:endParaRPr lang="ar-SA" sz="18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cause–effect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يَتَرَاكَمُ البِلَاسْتِيكُ فِي البَحْرِ، مِمَّا يَضُرُّ بِالحَيَوَانَاتِ.</a:t>
            </a:r>
            <a:endParaRPr lang="ar-SA"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يَتَرَاكَمُ البِلَاسْتِيكُ فِي البَحْرِ، مِمَّا يَزْرَعُ الغَابَاتِ.</a:t>
            </a:r>
            <a:endParaRPr lang="ar-SA"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يَتَرَاكَمُ البِلَاسْتِيكُ فِي البَحْرِ، مِمَّا يُبَرِّدُ الصَّحْرَاءَ.</a:t>
            </a:r>
            <a:endParaRPr lang="ar-SA"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يُقْطَعُ الأَشْجَارُ بِصُورَةٍ غَيْرِ قَانُونِيَّةٍ.</a:t>
            </a:r>
            <a:endParaRPr lang="ar-SA" sz="18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الأشجار</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in agreement.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نَتِيجَةً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يُؤَدِّي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pattern is </a:t>
            </a:r>
            <a:pPr algn="l" indent="0" marL="0">
              <a:buNone/>
            </a:pPr>
            <a:r>
              <a:rPr lang="ar-SA" altLang="en-US" sz="1350" dirty="0">
                <a:solidFill>
                  <a:srgbClr val="8A6D1E"/>
                </a:solidFill>
                <a:latin typeface="Amiri" pitchFamily="34" charset="0"/>
                <a:ea typeface="Amiri" pitchFamily="34" charset="-122"/>
                <a:cs typeface="Amiri" pitchFamily="34" charset="-120"/>
              </a:rPr>
              <a:t>يؤدي 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cause–effect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يَتَرَاكَمُ البِلَاسْتِيكُ فِي البَحْرِ، مِمَّا يَضُرُّ بِالحَيَوَانَاتِ.</a:t>
            </a:r>
            <a:endParaRPr lang="ar-SA"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يَتَرَاكَمُ البِلَاسْتِيكُ فِي البَحْرِ، مِمَّا يَزْرَعُ الغَابَاتِ.</a:t>
            </a:r>
            <a:endParaRPr lang="ar-SA"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يَتَرَاكَمُ البِلَاسْتِيكُ فِي البَحْرِ، مِمَّا يُبَرِّدُ الصَّحْرَاءَ.</a:t>
            </a:r>
            <a:endParaRPr lang="ar-SA"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Plastic accumulation harms animals.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cause–effect chain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بِسَبَبِ حَرْقِ الوَقُودِ الأُحْفُورِيِّ، تَرْتَفِعُ نِسْبَةُ ثَانِي أُكْسِيدِ الكَرْبُونِ فِي الهَوَاءِ. يُؤَدِّي ذٰلِكَ إِلَى الاحْتِبَاسِ الحَرَارِيِّ، مِمَّا يُسَبِّبُ ذَوَبَانَ الجَلِيدِ وَارْتِفَاعَ مُسْتَوَى البَحْرِ. وَفِي مَنَاطِقَ أُخْرَى تُقْطَعُ الأَشْجَارُ، فَتَفْقِدُ الحَيَوَانَاتُ مَوَائِلَهَا. وَإِذَا اسْتَمَرَّتْ هٰذِهِ المَشَاكِلُ، فَسَتَكُونُ نَتَائِجُهَا طَوِيلَةَ الأَمَدِ.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حَرْقٌ</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burning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الوَقُودُ الأُحْفُورِيُّ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fossil fuel</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level, proportion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ثَانِي أُكْسِيدِ الكَرْبُونِ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carbon dioxide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الاحْتِبَاسُ الحَرَارِيُّ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global warming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ذَوَبَانُ الجَلِيدِ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melting ice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مُسْتَوَى البَحْرِ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sea level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تَفْقِدُ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loses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مَوَائِلُ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habitats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طَوِيلَةُ الأَمَدِ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long-term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causes carbon dioxide levels to rise?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Planting trees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Burning fossil fuels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Recycling paper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higher carbon dioxide lead to?</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habitats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Lower temperatures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Global warming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effects of global warming are named?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Melting ice and rising sea level</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forests and fresh water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wind and more soil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when trees are cut down?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Sea levels fall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Animals lose their habitats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 becomes colder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هٰذِهِ المَشَاكِلُ</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environmental problems already described</a:t>
            </a:r>
            <a:endParaRPr lang="en-US" sz="120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transport plan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trees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future consequences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Temporary and harmless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Unrelated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Long-term</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causes carbon dioxide levels to rise?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Planting trees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Burning fossil fuels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Recycling paper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begins </a:t>
            </a:r>
            <a:pPr algn="l" indent="0" marL="0">
              <a:buNone/>
            </a:pPr>
            <a:r>
              <a:rPr lang="ar-SA" altLang="en-US" sz="1350" dirty="0">
                <a:solidFill>
                  <a:srgbClr val="8A6D1E"/>
                </a:solidFill>
                <a:latin typeface="Amiri" pitchFamily="34" charset="0"/>
                <a:ea typeface="Amiri" pitchFamily="34" charset="-122"/>
                <a:cs typeface="Amiri" pitchFamily="34" charset="-120"/>
              </a:rPr>
              <a:t>بسبب حرق الوقود الأحفوري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higher carbon dioxide lead to?</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habitats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Lower temperatures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Global warming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يؤدي ذلك إلى الاحتباس الحراري.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effects of global warming are named?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Melting ice and rising sea level</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More forests and fresh water</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wind and more soil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are in the correct sentence.</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when trees are cut down?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Sea levels fall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Animals lose their habitats</a:t>
            </a:r>
            <a:endParaRPr lang="en-US" sz="12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Air becomes colder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فتفقد الحيوانات موائلها.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هٰذِهِ المَشَاكِلُ</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environmental problems already described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transport plan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trees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refers back to the chain of problems.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future consequences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Temporary and harmless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Unrelated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Long-term</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طويلة الأمد.</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1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TC-L05 · Environmental Solutions and Responsibility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إِعَادَةُ التَّدْوِيرِ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recycling</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نَزْرَعُ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plant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نُوَفِّرُ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save, conserve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must</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النَّقْلُ العَامُّ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public transport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can you do to help the environment?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مَاذَا تَسْتَطِيعُ أَنْ تَفْعَلَ لِحِمَايَةِ البِيئَةِ؟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TC-L04 · play “Cause &amp; Effect”,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four-step cause–effect chain about one problem (website application task).</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TC-L04 · the application mission and the reading “A cause–effect chain”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TC-L05 · Environmental Solutions and Responsibility</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الحُلُولُ البِيئِيَّةُ وَالمَسْؤُولِيَّةُ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TC-L04 · Environmental Problems and Their Causes</dc:title>
  <dc:subject>PptxGenJS Presentation</dc:subject>
  <dc:creator>Al Madina Online School · Arabic Department</dc:creator>
  <cp:lastModifiedBy>Al Madina Online School · Arabic Department</cp:lastModifiedBy>
  <cp:revision>1</cp:revision>
  <dcterms:created xsi:type="dcterms:W3CDTF">2026-09-27T08:18:13Z</dcterms:created>
  <dcterms:modified xsi:type="dcterms:W3CDTF">2026-09-27T08:18:13Z</dcterms:modified>
</cp:coreProperties>
</file>