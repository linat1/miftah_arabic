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2 (TC-L02). The website lesson reuses P4-L01 (The Natural World — Landscapes, Ecosystems and Biodiversity) and adds the Topic C focus “Describe natural settings and explain relationships within them” (grammar: adjective agreement; relative clauses; iḍāfa). Landscape and animal words come from the Topic C “Natural World, Environment &amp; Weather” vocabulary bank; the picture match is the website lesson game “Nature Scene”; the sorter is the website’s “Landscape classification”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P4-L01 is B1–B2 language, so the lesson is layered. CORE: landscapes and animals (with plurals) + noun and describing word that agree — most describing words here use the nisba ending from TC-L01 (بِيئِيٌّ، طَبِيعِيٌّ، مَرْجَانِيَّةٌ). DEVELOP: the website composition verbs يَضُمُّ / يُشَكِّلُ / يَتَفَاعَلُ مَعَ / يَعْتَمِدُ عَلَى. STRETCH: the website conditionals (إِذَا … سَـ / لَوْ … لَـ) and لِكَيْ + subjunctive.
• Transliteration on every Core word, sg./pl. forms, English on every model sentence, a picture-match game with icons, a read-along listening script with English.
• Urdu bridge words (صحرا، جزیرہ، حیوان، بحر، طبیعت) value home language as a resource.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TC-L01 (nisba, place sentence, compass points).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ending ـِيٌّ / ـِيَّةٌ makes describing words: بِيئَة (environment) → بِيئِيٌّ.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(natural settings; adjective agreement) using the Natural World vocabulary bank. The website objectives on the left are the P4-L01 objectives (Develop/Stretch).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ask “Which of these do you already know from home?” (● 10s → ◎). بحرِ ہند (the Indian Ocean) uses بَحْر; طبیعت in Urdu means one’s nature or health — in Arabic طَبِيعَة means nature, and طَبِيعِيٌّ “natural”.
Groups 1–2 are from the Topic C Natural World bank (Core). Groups 3–5 are the website P4-L01 vocabulary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Landscapes (website: Topic C Natural World bank, “Landscapes &amp; natural features”). Hear → Say → See → Use.
Gesture for each: hands in a peak (mountain), wavy hand (river / sea), wipe brow (desert), fingers up (trees), circle (island).
Link to TC-L01: جُزُرٌ is the plural of جَزِيرَة — as in جُزُرُ القَمَرِ (the Comoros).
PRONUNCIATION: ح in بَحْر / صَحْرَاء is a breathy “ḥ” from the throat, not “h”; ص is a heavy “ṣ”.
Quick check: “Type the NUMBER of the word that means desert / island /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landscapes (website Natural World bank). Develop / Stretch; Core students listen and repeat.
Notice: بُحَيْرَة (lake) is a “little sea” — it comes from بَحْر. Stretch: find the root ب ح ر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Animals (website Natural World bank, “Animals &amp; wildlife”). Hear → Say → See → Use.
Also in the website game: الْمَاعِزُ (goats). Urdu bridge: حَيَوَان ↔ حیوان; فِيل ↔ فیل (fīl, elephant — as in Surat al-Fīl).
Quick check: “Which animal lives in the desert?” → 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(website P4-L01 vocabulary “Ecosystems and biodiversity”).
The big idea: almost every describing word here is a NISBA — the same ending as the nationalities in TC-L01. Blue = the noun (WHO it describes), purple = meaning, pink = ending.
Core students learn the three CORE phrases. Develop: all seven. Stretch: explain the third column (why شِعَاب takes a feminine adjective: a plural of things behaves like a feminine singular).
Also on the website: أَنْوَاعٌ مُهَدَّدَةٌ بِالانْقِرَاضِ (endangered species) and الانْقِرَاضُ (extinction) — Group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P4-L01). Develop focus; Core students learn يَضُمُّ only (“includes”).
Website notes on each card. Teach them in pairs: the verbs with NO preposition (يَضُمُّ، يُشَكِّلُ، يُهَدِّدُ) and the verbs that ALWAYS take one (مَعَ، عَلَى، إِلَى).
Also on the website: يَتَكَوَّنُ مِنْ (is composed of) and حِمَايَةُ التَّنَوُّعِ (protecting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Protection and the purpose subjunctive (website P4-L01; FLEX — Stretch or homework). Website notes shown on cards.
Also on the website: لِكَيْ تَسْتَمِرَّ (so that it continues), لِكَيْ تُحَافِظَ (so that it preserves), الفِعْلُ المَنْصُوبُ (the subjunctive verb), فَتْحَةُ النَّصْبِ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adjective agreement (2 min). Topic C grammar focus for this lesson: “Adjective agreement; relative clauses; iḍāfa”.
Think aloud: “Arabic puts the noun FIRST and the describing word AFTER it — the opposite of English. The describing word copies the noun: feminine → ـِيَّةٌ, masculine → ـِيٌّ. If the noun has ال, the describing word has ال too.”
Core rule for today: noun first, then the describing word with the SAME ending type.
Misconception: English order (اسْتِوَائِيَّةٌ غَابَةٌ) or a masculine ending on a feminine noun (غَابَةٌ اسْتِوَائِيٌّ).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in real website sentences (2 min). Sentences from the website reading, sorter, builder and lesson game.
Read each row: students say only the blue noun + the pink ending.
Develop / Stretch: plurals of THINGS (سَلَاسِل، شِعَاب، مَنَاطِق) take a FEMININE SINGULAR describing word — that is why they all end in ـِيَّة. Row 5: جَبَل (mountain) → جَبَلِيَّة (mountainous).
The endings change with the grammar (ـٌّ / ـٍّ / ـً): Core students only need to notice “ـِيّ” = he-type, “ـِيَّة” = she-type.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structures named in the Topic C focus for this lesson (2 min; Develop focus, Core listen for the adjective card).
Examples use website vocabulary: التَّوَازُنُ البِيئِيُّ، حِمَايَةُ التَّنَوُّعِ، إِجْرَاءَاتُ الحِمَايَةِ (website word bank); the relative clause is built from the website quiz sentence تَضُمُّ الغَابَةُ آلَافَ الأَنْوَاعِ (teacher-made).
Common errors (teacher-made): masculine ending on غَابَة; ال on the first noun of an iḍāfa.
Stretch challenge: turn نِظَامٌ بِيئِيٌّ into a relative clause: النِّظَامُ الَّذِي يَضُمُّ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“Composition”: يَضُمُّ / يُشَكِّلُ + object. Both take a direct object; يَتَفَاعَلُ takes مَعَ.
Arabic often starts with the VERB. Read each row in three beats: verb → subject → object. Note تَضُمُّ (feminine) because الغَابَةُ is feminine; يُشَكِّلُ because المَرْجَانُ is masculine.
Sentences: website grammar examples, quiz and reading text.
Website teaching point: “Both take a direct object. يَتَفَاعَلُ مَعَ links the parts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5 — website rules “Real threat (Type 1)”, “Counterfactual (Type 2)” and “Purpose subjunctive” (FLEX — Stretch focus; Develop may try Type 1 only).
Website teaching point: “After لِكَي the verb ends in a fatḥa, not a ḍamma … The final fatḥa is the subjunctive marker, and P4 accuracy depends on it.”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ecosystem verbs with their complements, both conditional types applied to threats, and the لِكَي purpose clause with its subjunctive verb.”
Core: row 1 only. Develop: rows 1–2. Stretch: all four, and explain the difference between rows 2 and 3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one teacher-made agreement question, Ecosystem Mission round 9 and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Think-aloud script:
Step 1 — “I choose البَحْرُ الأَحْمَرُ. The colour word comes after the noun and copies ال.”
Step 2 — “Where? Between Asia and Africa: بَيْنَ آسِيَا وَأَفْرِيقِيَا. No word for ‘is’.”
Step 3 — “What does it include? يَضُمُّ + object — no بِـ. شِعَاب is a plural of things, so مَرْجَانِيَّة is feminine.”
Step 4 — “Which animals? تَعِيشُ فِيهِ أَسْمَاكٌ كَثِيرَةٌ.”
Built from website language: the listening/model text (يَقَعُ البَحْرُ الأَحْمَرُ بَيْنَ شِبْهِ الجَزِيرَةِ العَرَبِيَّةِ وَشَمَالِ أَفْرِيقِيَا … يَضُمُّ … شِعَابًا مَرْجَانِيَّةً) simplified for Core, and the lesson game (تَعِيشُ الأَسْمَاكُ فِي البَحْرِ).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website patterns. Read each aloud; students copy TWO that are useful for them.
• Core: copy 1 and 2 and change the animal or place (تَعِيشُ الجِمَالُ فِي الصَّحْرَاءِ).
• Develop: copy 3 and change the place.
• Stretch: copy 4 and write a second sentence with لِكَيْ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3, 4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1–2. Develop: 1–3. Stretch: all 5.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Core prompt (teacher-made): “Describe a natural place: where is it? Which animals live there?” — answered with the Core stem, e.g. الصَّحْرَاءُ فِي أَفْرِيقِيَا، وَتَعِيشُ فِيهَا الجِمَالُ. (Note فِيهَا for a feminine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Routes adapted for this class: the website Core task (يَضُمُّ / يُشَكِّلُ sentences) becomes the Develop task; Core writes about landscapes and animals with agreeing describing words (Topic C focus); Stretch does the full website writing task.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noun + describing word pairs (شِعَابًا مَرْجَانِيَّةً، النُّظُمِ البِيئِيَّةِ، الإِرْثَ الطَّبِيعِيَّ) and the animals/places; Stretch find the conditionals and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(TC-L03 · Climate, Seasons and Weather) will spend class time USING this language, so students prepare it tonight — short, simple, easy to access (school guidance: “Simple, Short, Interesting, Relevant, Easy to access”). The five words come from the website Natural World vocabulary bank (Weather and Climate).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Landscapes, Nature and Animals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التَّضَارِيسُ وَالطَّبِيعَةُ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natural settings and explain relationships within them: landscapes, animals and ecosystems, with describing words that agree (</a:t>
            </a:r>
            <a:pPr algn="l" indent="0" marL="0">
              <a:buNone/>
            </a:pPr>
            <a:r>
              <a:rPr lang="ar-SA" altLang="en-US" sz="1800" dirty="0">
                <a:solidFill>
                  <a:srgbClr val="C6D2E6"/>
                </a:solidFill>
                <a:latin typeface="Amiri" pitchFamily="2" charset="-78"/>
                <a:cs typeface="Amiri" pitchFamily="2" charset="-78"/>
              </a:rPr>
              <a:t>نِظَامٌ بِيئِيٌّ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غَابَةٌ اسْتِوَائِيَّةٌ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TC-L02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Key words for nature, then describing words that agree.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“mountain”?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بَحْرٌ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“desert”?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حَيَوَانٌ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المَغْرِبُ فِي شَمَالِ أَفْرِيقِيَا.</a:t>
            </a:r>
            <a:endParaRPr lang="ar-SA" sz="13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is west of Africa.</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is in Asia.</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is in the north of Africa.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“south”?</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جَنُوبٌ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شَمَالٌ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“mountain”?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نَهْرٌ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بَحْرٌ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جَبَلٌ</a:t>
            </a:r>
            <a:pPr algn="l" indent="0" marL="0">
              <a:buNone/>
            </a:pPr>
            <a:r>
              <a:rPr lang="en-US" sz="1050" i="1" dirty="0">
                <a:solidFill>
                  <a:srgbClr val="8A6D1E"/>
                </a:solidFill>
                <a:latin typeface="Calibri" pitchFamily="34" charset="0"/>
                <a:cs typeface="Amiri" pitchFamily="2" charset="-78"/>
              </a:rPr>
              <a:t> = mountain · </a:t>
            </a:r>
            <a:pPr algn="l" indent="0" marL="0">
              <a:buNone/>
            </a:pPr>
            <a:r>
              <a:rPr lang="ar-SA" altLang="en-US" sz="1350" dirty="0">
                <a:solidFill>
                  <a:srgbClr val="8A6D1E"/>
                </a:solidFill>
                <a:latin typeface="Amiri" pitchFamily="2" charset="-78"/>
                <a:cs typeface="Amiri" pitchFamily="2" charset="-78"/>
              </a:rPr>
              <a:t>نَهْرٌ</a:t>
            </a:r>
            <a:pPr algn="l" indent="0" marL="0">
              <a:buNone/>
            </a:pPr>
            <a:r>
              <a:rPr lang="en-US" sz="1050" i="1" dirty="0">
                <a:solidFill>
                  <a:srgbClr val="8A6D1E"/>
                </a:solidFill>
                <a:latin typeface="Calibri" pitchFamily="34" charset="0"/>
                <a:cs typeface="Amiri" pitchFamily="2" charset="-78"/>
              </a:rPr>
              <a:t> = river · </a:t>
            </a:r>
            <a:pPr algn="l" indent="0" marL="0">
              <a:buNone/>
            </a:pPr>
            <a:r>
              <a:rPr lang="ar-SA" altLang="en-US" sz="1350" dirty="0">
                <a:solidFill>
                  <a:srgbClr val="8A6D1E"/>
                </a:solidFill>
                <a:latin typeface="Amiri" pitchFamily="2" charset="-78"/>
                <a:cs typeface="Amiri" pitchFamily="2" charset="-78"/>
              </a:rPr>
              <a:t>بَحْرٌ</a:t>
            </a:r>
            <a:pPr algn="l" indent="0" marL="0">
              <a:buNone/>
            </a:pPr>
            <a:r>
              <a:rPr lang="en-US" sz="1050" i="1" dirty="0">
                <a:solidFill>
                  <a:srgbClr val="8A6D1E"/>
                </a:solidFill>
                <a:latin typeface="Calibri" pitchFamily="34" charset="0"/>
                <a:cs typeface="Amiri" pitchFamily="2" charset="-78"/>
              </a:rPr>
              <a:t> = sea.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“desert”?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حَيَوَانٌ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صَحْرَاءُ</a:t>
            </a:r>
            <a:pPr algn="l" indent="0" marL="0">
              <a:buNone/>
            </a:pPr>
            <a:r>
              <a:rPr lang="en-US" sz="1050" i="1" dirty="0">
                <a:solidFill>
                  <a:srgbClr val="8A6D1E"/>
                </a:solidFill>
                <a:latin typeface="Calibri" pitchFamily="34" charset="0"/>
                <a:cs typeface="Amiri" pitchFamily="2" charset="-78"/>
              </a:rPr>
              <a:t> = desert · </a:t>
            </a:r>
            <a:pPr algn="l" indent="0" marL="0">
              <a:buNone/>
            </a:pPr>
            <a:r>
              <a:rPr lang="ar-SA" altLang="en-US" sz="1350" dirty="0">
                <a:solidFill>
                  <a:srgbClr val="8A6D1E"/>
                </a:solidFill>
                <a:latin typeface="Amiri" pitchFamily="2" charset="-78"/>
                <a:cs typeface="Amiri" pitchFamily="2" charset="-78"/>
              </a:rPr>
              <a:t>غَابَةٌ</a:t>
            </a:r>
            <a:pPr algn="l" indent="0" marL="0">
              <a:buNone/>
            </a:pPr>
            <a:r>
              <a:rPr lang="en-US" sz="1050" i="1" dirty="0">
                <a:solidFill>
                  <a:srgbClr val="8A6D1E"/>
                </a:solidFill>
                <a:latin typeface="Calibri" pitchFamily="34" charset="0"/>
                <a:cs typeface="Amiri" pitchFamily="2" charset="-78"/>
              </a:rPr>
              <a:t> = forest · </a:t>
            </a:r>
            <a:pPr algn="l" indent="0" marL="0">
              <a:buNone/>
            </a:pPr>
            <a:r>
              <a:rPr lang="ar-SA" altLang="en-US" sz="1350" dirty="0">
                <a:solidFill>
                  <a:srgbClr val="8A6D1E"/>
                </a:solidFill>
                <a:latin typeface="Amiri" pitchFamily="2" charset="-78"/>
                <a:cs typeface="Amiri" pitchFamily="2" charset="-78"/>
              </a:rPr>
              <a:t>حَيَوَانٌ</a:t>
            </a:r>
            <a:pPr algn="l" indent="0" marL="0">
              <a:buNone/>
            </a:pPr>
            <a:r>
              <a:rPr lang="en-US" sz="1050" i="1" dirty="0">
                <a:solidFill>
                  <a:srgbClr val="8A6D1E"/>
                </a:solidFill>
                <a:latin typeface="Calibri" pitchFamily="34" charset="0"/>
                <a:cs typeface="Amiri" pitchFamily="2" charset="-78"/>
              </a:rPr>
              <a:t> = animal.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مِصْرِيَّةٌ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TC-L01: </a:t>
            </a:r>
            <a:pPr algn="l" indent="0" marL="0">
              <a:buNone/>
            </a:pPr>
            <a:r>
              <a:rPr lang="ar-SA" altLang="en-US" sz="1350" dirty="0">
                <a:solidFill>
                  <a:srgbClr val="8A6D1E"/>
                </a:solidFill>
                <a:latin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 = she ·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 he · </a:t>
            </a:r>
            <a:pPr algn="l" indent="0" marL="0">
              <a:buNone/>
            </a:pPr>
            <a:r>
              <a:rPr lang="ar-SA" altLang="en-US" sz="1350" dirty="0">
                <a:solidFill>
                  <a:srgbClr val="8A6D1E"/>
                </a:solidFill>
                <a:latin typeface="Amiri" pitchFamily="2" charset="-78"/>
                <a:cs typeface="Amiri" pitchFamily="2" charset="-78"/>
              </a:rPr>
              <a:t>ـِيُّونَ</a:t>
            </a:r>
            <a:pPr algn="l" indent="0" marL="0">
              <a:buNone/>
            </a:pPr>
            <a:r>
              <a:rPr lang="en-US" sz="1050" i="1" dirty="0">
                <a:solidFill>
                  <a:srgbClr val="8A6D1E"/>
                </a:solidFill>
                <a:latin typeface="Calibri" pitchFamily="34" charset="0"/>
                <a:cs typeface="Amiri" pitchFamily="2" charset="-78"/>
              </a:rPr>
              <a:t> = they.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المَغْرِبُ فِي شَمَالِ أَفْرِيقِيَا.</a:t>
            </a:r>
            <a:endParaRPr lang="ar-SA" sz="13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 is west of Africa.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 is in Asia.</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is in the north of Africa.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word for “is”: country +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“south”?</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جَنُوبٌ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شَمَالٌ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Urdu bridge: </a:t>
            </a:r>
            <a:pPr algn="l" indent="0" marL="0">
              <a:buNone/>
            </a:pPr>
            <a:r>
              <a:rPr lang="ar-SA" altLang="en-US" sz="1350" dirty="0">
                <a:solidFill>
                  <a:srgbClr val="8A6D1E"/>
                </a:solidFill>
                <a:latin typeface="Amiri" pitchFamily="2" charset="-78"/>
                <a:cs typeface="Amiri" pitchFamily="2" charset="-78"/>
              </a:rPr>
              <a:t>جنوب</a:t>
            </a:r>
            <a:pPr algn="l" indent="0" marL="0">
              <a:buNone/>
            </a:pPr>
            <a:r>
              <a:rPr lang="en-US" sz="1050" i="1" dirty="0">
                <a:solidFill>
                  <a:srgbClr val="8A6D1E"/>
                </a:solidFill>
                <a:latin typeface="Calibri" pitchFamily="34" charset="0"/>
                <a:cs typeface="Amiri" pitchFamily="2" charset="-78"/>
              </a:rPr>
              <a:t> junūb = south.</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ending </a:t>
            </a:r>
            <a:pPr algn="l" indent="0" marL="0">
              <a:buNone/>
            </a:pPr>
            <a:r>
              <a:rPr lang="ar-SA" altLang="en-US" sz="1700" b="1" dirty="0">
                <a:solidFill>
                  <a:srgbClr val="1F2A37"/>
                </a:solidFill>
                <a:latin typeface="Amiri" pitchFamily="2" charset="-78"/>
                <a:cs typeface="Amiri" pitchFamily="2" charset="-78"/>
              </a:rPr>
              <a:t>ـِيٌّ / ـِيَّةٌ</a:t>
            </a:r>
            <a:pPr algn="l" indent="0" marL="0">
              <a:buNone/>
            </a:pPr>
            <a:r>
              <a:rPr lang="en-US" sz="1300" b="1" dirty="0">
                <a:solidFill>
                  <a:srgbClr val="1F2A37"/>
                </a:solidFill>
                <a:latin typeface="Calibri" pitchFamily="34" charset="0"/>
                <a:cs typeface="Amiri" pitchFamily="2" charset="-78"/>
              </a:rPr>
              <a:t> makes describing words: </a:t>
            </a:r>
            <a:pPr algn="l" indent="0" marL="0">
              <a:buNone/>
            </a:pPr>
            <a:r>
              <a:rPr lang="ar-SA" altLang="en-US" sz="1700" b="1" dirty="0">
                <a:solidFill>
                  <a:srgbClr val="1F2A37"/>
                </a:solidFill>
                <a:latin typeface="Amiri" pitchFamily="2" charset="-78"/>
                <a:cs typeface="Amiri" pitchFamily="2" charset="-78"/>
              </a:rPr>
              <a:t>بِيئَة</a:t>
            </a:r>
            <a:pPr algn="l" indent="0" marL="0">
              <a:buNone/>
            </a:pPr>
            <a:r>
              <a:rPr lang="en-US" sz="1300" b="1" dirty="0">
                <a:solidFill>
                  <a:srgbClr val="1F2A37"/>
                </a:solidFill>
                <a:latin typeface="Calibri" pitchFamily="34" charset="0"/>
                <a:cs typeface="Amiri" pitchFamily="2" charset="-78"/>
              </a:rPr>
              <a:t> (environment) → </a:t>
            </a:r>
            <a:pPr algn="l" indent="0" marL="0">
              <a:buNone/>
            </a:pPr>
            <a:r>
              <a:rPr lang="ar-SA" altLang="en-US" sz="1700" b="1" dirty="0">
                <a:solidFill>
                  <a:srgbClr val="1F2A37"/>
                </a:solidFill>
                <a:latin typeface="Amiri" pitchFamily="2" charset="-78"/>
                <a:cs typeface="Amiri" pitchFamily="2" charset="-78"/>
              </a:rPr>
              <a:t>بِيئِيٌّ</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بِيئَةٌ</a:t>
            </a:r>
            <a:pPr rtl="1" algn="ctr" indent="0" marL="0">
              <a:buNone/>
            </a:pPr>
            <a:r>
              <a:rPr lang="ar-SA" altLang="en-US" sz="2400" b="1" dirty="0">
                <a:solidFill>
                  <a:srgbClr val="1B3B6F"/>
                </a:solidFill>
                <a:latin typeface="Amiri" pitchFamily="2" charset="-78"/>
                <a:cs typeface="Amiri" pitchFamily="2" charset="-78"/>
              </a:rPr>
              <a:t>  ←  نِظَامٌ </a:t>
            </a:r>
            <a:pPr rtl="1" algn="ctr" indent="0" marL="0">
              <a:buNone/>
            </a:pPr>
            <a:r>
              <a:rPr lang="ar-SA" altLang="en-US" sz="2400" b="1" dirty="0">
                <a:solidFill>
                  <a:srgbClr val="7B3FA0"/>
                </a:solidFill>
                <a:latin typeface="Amiri" pitchFamily="2" charset="-78"/>
                <a:cs typeface="Amiri" pitchFamily="2" charset="-78"/>
              </a:rPr>
              <a:t>بِيئِ</a:t>
            </a:r>
            <a:pPr rtl="1" algn="ctr" indent="0" marL="0">
              <a:buNone/>
            </a:pPr>
            <a:r>
              <a:rPr lang="ar-SA" altLang="en-US" sz="2400" b="1" dirty="0">
                <a:solidFill>
                  <a:srgbClr val="D6336C"/>
                </a:solidFill>
                <a:latin typeface="Amiri" pitchFamily="2" charset="-78"/>
                <a:cs typeface="Amiri" pitchFamily="2" charset="-78"/>
              </a:rPr>
              <a:t>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ecosystem and biodiversity vocabulary in scientific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composition with </a:t>
            </a:r>
            <a:pPr algn="l" indent="0" marL="0">
              <a:buNone/>
            </a:pPr>
            <a:r>
              <a:rPr lang="ar-SA" altLang="en-US" sz="1700" dirty="0">
                <a:solidFill>
                  <a:srgbClr val="1F2A37"/>
                </a:solidFill>
                <a:latin typeface="Amiri" pitchFamily="2" charset="-78"/>
                <a:cs typeface="Amiri" pitchFamily="2" charset="-78"/>
              </a:rPr>
              <a:t>يَضُمُّ، يُشَكِّلُ، يَتَفَاعَلُ مَعَ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 real threat (</a:t>
            </a:r>
            <a:pPr algn="l" indent="0" marL="0">
              <a:buNone/>
            </a:pPr>
            <a:r>
              <a:rPr lang="ar-SA" altLang="en-US" sz="1700" dirty="0">
                <a:solidFill>
                  <a:srgbClr val="1F2A37"/>
                </a:solidFill>
                <a:latin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against a counterfactual (</a:t>
            </a:r>
            <a:pPr algn="l" indent="0" marL="0">
              <a:buNone/>
            </a:pPr>
            <a:r>
              <a:rPr lang="ar-SA" altLang="en-US" sz="1700" dirty="0">
                <a:solidFill>
                  <a:srgbClr val="1F2A37"/>
                </a:solidFill>
                <a:latin typeface="Amiri" pitchFamily="2" charset="-78"/>
                <a:cs typeface="Amiri" pitchFamily="2" charset="-78"/>
              </a:rPr>
              <a:t>لَوْ</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a purpose clause with </a:t>
            </a:r>
            <a:pPr algn="l" indent="0" marL="0">
              <a:buNone/>
            </a:pPr>
            <a:r>
              <a:rPr lang="ar-SA" altLang="en-US" sz="1700" dirty="0">
                <a:solidFill>
                  <a:srgbClr val="1F2A37"/>
                </a:solidFill>
                <a:latin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 a subjunctive verb (final fatḥa).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landscapes and 6 animals, with their plurals.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a describing word agree: </a:t>
            </a:r>
            <a:pPr algn="l" indent="0" marL="0">
              <a:buNone/>
            </a:pPr>
            <a:r>
              <a:rPr lang="ar-SA" altLang="en-US" sz="1700" b="1" dirty="0">
                <a:solidFill>
                  <a:srgbClr val="2E8B57"/>
                </a:solidFill>
                <a:latin typeface="Amiri" pitchFamily="2" charset="-78"/>
                <a:cs typeface="Amiri" pitchFamily="2" charset="-78"/>
              </a:rPr>
              <a:t>نِظَامٌ بِيئِيٌّ / غَابَةٌ اسْتِوَائِيَّةٌ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an ecosystem with </a:t>
            </a:r>
            <a:pPr algn="l" indent="0" marL="0">
              <a:buNone/>
            </a:pPr>
            <a:r>
              <a:rPr lang="ar-SA" altLang="en-US" sz="1700" b="1" dirty="0">
                <a:solidFill>
                  <a:srgbClr val="C9780A"/>
                </a:solidFill>
                <a:latin typeface="Amiri" pitchFamily="2" charset="-78"/>
                <a:cs typeface="Amiri" pitchFamily="2" charset="-78"/>
              </a:rPr>
              <a:t>يَضُمُّ</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cs typeface="Amiri" pitchFamily="2" charset="-78"/>
              </a:rPr>
              <a:t>يُشَكِّلُ</a:t>
            </a:r>
            <a:pPr algn="l" indent="0" marL="0">
              <a:buNone/>
            </a:pPr>
            <a:r>
              <a:rPr lang="en-US" sz="1300" b="1" dirty="0">
                <a:solidFill>
                  <a:srgbClr val="C9780A"/>
                </a:solidFill>
                <a:latin typeface="Calibri" pitchFamily="34" charset="0"/>
                <a:cs typeface="Amiri" pitchFamily="2" charset="-78"/>
              </a:rPr>
              <a:t> +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the parts with </a:t>
            </a:r>
            <a:pPr algn="l" indent="0" marL="0">
              <a:buNone/>
            </a:pPr>
            <a:r>
              <a:rPr lang="ar-SA" altLang="en-US" sz="1700" b="1" dirty="0">
                <a:solidFill>
                  <a:srgbClr val="C9780A"/>
                </a:solidFill>
                <a:latin typeface="Amiri" pitchFamily="2" charset="-78"/>
                <a:cs typeface="Amiri" pitchFamily="2" charset="-78"/>
              </a:rPr>
              <a:t>يَتَفَاعَلُ مَعَ</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cs typeface="Amiri" pitchFamily="2" charset="-78"/>
              </a:rPr>
              <a:t>يَعْتَمِدُ عَلَى</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cs typeface="Amiri" pitchFamily="2" charset="-78"/>
              </a:rPr>
              <a:t>إِذَا … سَـ</a:t>
            </a:r>
            <a:pPr algn="l" indent="0" marL="0">
              <a:buNone/>
            </a:pPr>
            <a:r>
              <a:rPr lang="en-US" sz="1300" b="1" dirty="0">
                <a:solidFill>
                  <a:srgbClr val="B83227"/>
                </a:solidFill>
                <a:latin typeface="Calibri" pitchFamily="34" charset="0"/>
                <a:cs typeface="Amiri" pitchFamily="2" charset="-78"/>
              </a:rPr>
              <a:t> for a real threat and </a:t>
            </a:r>
            <a:pPr algn="l" indent="0" marL="0">
              <a:buNone/>
            </a:pPr>
            <a:r>
              <a:rPr lang="ar-SA" altLang="en-US" sz="1700" b="1" dirty="0">
                <a:solidFill>
                  <a:srgbClr val="B83227"/>
                </a:solidFill>
                <a:latin typeface="Amiri" pitchFamily="2" charset="-78"/>
                <a:cs typeface="Amiri" pitchFamily="2" charset="-78"/>
              </a:rPr>
              <a:t>لَوْ … لَـ</a:t>
            </a:r>
            <a:pPr algn="l" indent="0" marL="0">
              <a:buNone/>
            </a:pPr>
            <a:r>
              <a:rPr lang="en-US" sz="1300" b="1" dirty="0">
                <a:solidFill>
                  <a:srgbClr val="B83227"/>
                </a:solidFill>
                <a:latin typeface="Calibri" pitchFamily="34" charset="0"/>
                <a:cs typeface="Amiri" pitchFamily="2" charset="-78"/>
              </a:rPr>
              <a:t> for a “what if”.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t>
            </a:r>
            <a:pPr algn="l" indent="0" marL="0">
              <a:buNone/>
            </a:pPr>
            <a:r>
              <a:rPr lang="ar-SA" altLang="en-US" sz="1700" b="1" dirty="0">
                <a:solidFill>
                  <a:srgbClr val="B83227"/>
                </a:solidFill>
                <a:latin typeface="Amiri" pitchFamily="2" charset="-78"/>
                <a:cs typeface="Amiri" pitchFamily="2" charset="-78"/>
              </a:rPr>
              <a:t>لِكَيْ</a:t>
            </a:r>
            <a:pPr algn="l" indent="0" marL="0">
              <a:buNone/>
            </a:pPr>
            <a:r>
              <a:rPr lang="en-US" sz="1300" b="1" dirty="0">
                <a:solidFill>
                  <a:srgbClr val="B83227"/>
                </a:solidFill>
                <a:latin typeface="Calibri" pitchFamily="34" charset="0"/>
                <a:cs typeface="Amiri" pitchFamily="2" charset="-78"/>
              </a:rPr>
              <a:t> + subjunctive: </a:t>
            </a:r>
            <a:pPr algn="l" indent="0" marL="0">
              <a:buNone/>
            </a:pPr>
            <a:r>
              <a:rPr lang="ar-SA" altLang="en-US" sz="1700" b="1" dirty="0">
                <a:solidFill>
                  <a:srgbClr val="B83227"/>
                </a:solidFill>
                <a:latin typeface="Amiri" pitchFamily="2" charset="-78"/>
                <a:cs typeface="Amiri" pitchFamily="2" charset="-78"/>
              </a:rPr>
              <a:t>لِكَيْ نَحْمِيَ</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37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Landscapes · 12</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Animals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Ecosystems · 7</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Describing verbs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0D1F3C"/>
          </a:solidFill>
          <a:ln w="12700">
            <a:solidFill>
              <a:srgbClr val="7E92B4"/>
            </a:solidFill>
            <a:prstDash val="dash"/>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 · FLEX</a:t>
            </a:r>
            <a:endParaRPr lang="en-US" sz="900" dirty="0"/>
          </a:p>
          <a:p>
            <a:pPr indent="0" marL="0">
              <a:buNone/>
            </a:pPr>
            <a:r>
              <a:rPr lang="en-US" sz="1200" b="1" dirty="0">
                <a:solidFill>
                  <a:srgbClr val="FFFFFF"/>
                </a:solidFill>
                <a:latin typeface="Calibri" pitchFamily="34" charset="0"/>
                <a:cs typeface="Amiri" pitchFamily="2" charset="-78"/>
              </a:rPr>
              <a:t>Protection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صَحْرَاءُ</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‎صحرا‎ </a:t>
            </a:r>
            <a:pPr indent="0" marL="0">
              <a:buNone/>
            </a:pPr>
            <a:r>
              <a:rPr lang="en-US" sz="950" b="1" dirty="0">
                <a:solidFill>
                  <a:srgbClr val="2E8B57"/>
                </a:solidFill>
                <a:latin typeface="Calibri" pitchFamily="34" charset="0"/>
                <a:cs typeface="Amiri" pitchFamily="2" charset="-78"/>
              </a:rPr>
              <a:t> ṣaḥrā · desert</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جَزِيرَةٌ</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‎جزیرہ‎ </a:t>
            </a:r>
            <a:pPr indent="0" marL="0">
              <a:buNone/>
            </a:pPr>
            <a:r>
              <a:rPr lang="en-US" sz="950" b="1" dirty="0">
                <a:solidFill>
                  <a:srgbClr val="2E8B57"/>
                </a:solidFill>
                <a:latin typeface="Calibri" pitchFamily="34" charset="0"/>
                <a:cs typeface="Amiri" pitchFamily="2" charset="-78"/>
              </a:rPr>
              <a:t> jazīra · island</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حَيَوَانٌ</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‎حیوان‎ </a:t>
            </a:r>
            <a:pPr indent="0" marL="0">
              <a:buNone/>
            </a:pPr>
            <a:r>
              <a:rPr lang="en-US" sz="950" b="1" dirty="0">
                <a:solidFill>
                  <a:srgbClr val="2E8B57"/>
                </a:solidFill>
                <a:latin typeface="Calibri" pitchFamily="34" charset="0"/>
                <a:cs typeface="Amiri" pitchFamily="2" charset="-78"/>
              </a:rPr>
              <a:t> ḥaiwān · animal</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بَحْرٌ</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‎بحر‎ </a:t>
            </a:r>
            <a:pPr indent="0" marL="0">
              <a:buNone/>
            </a:pPr>
            <a:r>
              <a:rPr lang="en-US" sz="950" b="1" dirty="0">
                <a:solidFill>
                  <a:srgbClr val="2E8B57"/>
                </a:solidFill>
                <a:latin typeface="Calibri" pitchFamily="34" charset="0"/>
                <a:cs typeface="Amiri" pitchFamily="2" charset="-78"/>
              </a:rPr>
              <a:t> baḥr · sea</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طَبِيعَةٌ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‎طبیعت‎ </a:t>
            </a:r>
            <a:pPr indent="0" marL="0">
              <a:buNone/>
            </a:pPr>
            <a:r>
              <a:rPr lang="en-US" sz="950" b="1" dirty="0">
                <a:solidFill>
                  <a:srgbClr val="2E8B57"/>
                </a:solidFill>
                <a:latin typeface="Calibri" pitchFamily="34" charset="0"/>
                <a:cs typeface="Amiri" pitchFamily="2" charset="-78"/>
              </a:rPr>
              <a:t> ṭabīʿat · nature</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جَبَلٌ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mountain</a:t>
            </a:r>
            <a:endParaRPr lang="en-US" sz="1350" dirty="0"/>
          </a:p>
          <a:p>
            <a:pPr indent="0" marL="0">
              <a:buNone/>
            </a:pPr>
            <a:r>
              <a:rPr lang="en-US" sz="1100" i="1" dirty="0">
                <a:solidFill>
                  <a:srgbClr val="5A6472"/>
                </a:solidFill>
                <a:latin typeface="Calibri" pitchFamily="34" charset="0"/>
                <a:cs typeface="Amiri" pitchFamily="2" charset="-78"/>
              </a:rPr>
              <a:t>ja-bal · pl. ji-bāl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جَبَلٌ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جِبَالٌ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نَهْرٌ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river</a:t>
            </a:r>
            <a:endParaRPr lang="en-US" sz="1350" dirty="0"/>
          </a:p>
          <a:p>
            <a:pPr indent="0" marL="0">
              <a:buNone/>
            </a:pPr>
            <a:r>
              <a:rPr lang="en-US" sz="1100" i="1" dirty="0">
                <a:solidFill>
                  <a:srgbClr val="5A6472"/>
                </a:solidFill>
                <a:latin typeface="Calibri" pitchFamily="34" charset="0"/>
                <a:cs typeface="Amiri" pitchFamily="2" charset="-78"/>
              </a:rPr>
              <a:t>nahr · pl. an-hār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نَهْرٌ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أَنْهَارٌ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بَحْرٌ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a:t>
            </a:r>
            <a:endParaRPr lang="en-US" sz="1350" dirty="0"/>
          </a:p>
          <a:p>
            <a:pPr indent="0" marL="0">
              <a:buNone/>
            </a:pPr>
            <a:r>
              <a:rPr lang="en-US" sz="1100" i="1" dirty="0">
                <a:solidFill>
                  <a:srgbClr val="5A6472"/>
                </a:solidFill>
                <a:latin typeface="Calibri" pitchFamily="34" charset="0"/>
                <a:cs typeface="Amiri" pitchFamily="2" charset="-78"/>
              </a:rPr>
              <a:t>baḥr · pl. bi-ḥār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بِحَارٌ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صَحْرَاءُ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a:t>
            </a:r>
            <a:endParaRPr lang="en-US" sz="1350" dirty="0"/>
          </a:p>
          <a:p>
            <a:pPr indent="0" marL="0">
              <a:buNone/>
            </a:pPr>
            <a:r>
              <a:rPr lang="en-US" sz="1100" i="1" dirty="0">
                <a:solidFill>
                  <a:srgbClr val="5A6472"/>
                </a:solidFill>
                <a:latin typeface="Calibri" pitchFamily="34" charset="0"/>
                <a:cs typeface="Amiri" pitchFamily="2" charset="-78"/>
              </a:rPr>
              <a:t>ṣaḥ-rāʾ · pl. ṣa-ḥā-rā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صَحْرَاءُ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صَحَارَى</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forest</a:t>
            </a:r>
            <a:endParaRPr lang="en-US" sz="1350" dirty="0"/>
          </a:p>
          <a:p>
            <a:pPr indent="0" marL="0">
              <a:buNone/>
            </a:pPr>
            <a:r>
              <a:rPr lang="en-US" sz="1100" i="1" dirty="0">
                <a:solidFill>
                  <a:srgbClr val="5A6472"/>
                </a:solidFill>
                <a:latin typeface="Calibri" pitchFamily="34" charset="0"/>
                <a:cs typeface="Amiri" pitchFamily="2" charset="-78"/>
              </a:rPr>
              <a:t>ghā-ba · pl. ghā-bāt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غَابَةٌ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غَابَاتٌ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جَزِيرَةٌ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island</a:t>
            </a:r>
            <a:endParaRPr lang="en-US" sz="1350" dirty="0"/>
          </a:p>
          <a:p>
            <a:pPr indent="0" marL="0">
              <a:buNone/>
            </a:pPr>
            <a:r>
              <a:rPr lang="en-US" sz="1100" i="1" dirty="0">
                <a:solidFill>
                  <a:srgbClr val="5A6472"/>
                </a:solidFill>
                <a:latin typeface="Calibri" pitchFamily="34" charset="0"/>
                <a:cs typeface="Amiri" pitchFamily="2" charset="-78"/>
              </a:rPr>
              <a:t>ja-zī-ra · pl. ju-zur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جَزِيرَةٌ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جُزُرٌ</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بُحَيْرَةٌ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lake</a:t>
            </a:r>
            <a:endParaRPr lang="en-US" sz="1350" dirty="0"/>
          </a:p>
          <a:p>
            <a:pPr indent="0" marL="0">
              <a:buNone/>
            </a:pPr>
            <a:r>
              <a:rPr lang="en-US" sz="1100" i="1" dirty="0">
                <a:solidFill>
                  <a:srgbClr val="5A6472"/>
                </a:solidFill>
                <a:latin typeface="Calibri" pitchFamily="34" charset="0"/>
                <a:cs typeface="Amiri" pitchFamily="2" charset="-78"/>
              </a:rPr>
              <a:t>bu-ḥay-ra · pl. bu-ḥay-rāt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بُحَيْرَةٌ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بُحَيْرَاتٌ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شَاطِئٌ</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beach, shore</a:t>
            </a:r>
            <a:endParaRPr lang="en-US" sz="1350" dirty="0"/>
          </a:p>
          <a:p>
            <a:pPr indent="0" marL="0">
              <a:buNone/>
            </a:pPr>
            <a:r>
              <a:rPr lang="en-US" sz="1100" i="1" dirty="0">
                <a:solidFill>
                  <a:srgbClr val="5A6472"/>
                </a:solidFill>
                <a:latin typeface="Calibri" pitchFamily="34" charset="0"/>
                <a:cs typeface="Amiri" pitchFamily="2" charset="-78"/>
              </a:rPr>
              <a:t>shā-ṭiʾ · pl. sha-wā-ṭiʾ</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شَاطِئٌ</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شَوَاطِئُ</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سَاحِلٌ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coast</a:t>
            </a:r>
            <a:endParaRPr lang="en-US" sz="1350" dirty="0"/>
          </a:p>
          <a:p>
            <a:pPr indent="0" marL="0">
              <a:buNone/>
            </a:pPr>
            <a:r>
              <a:rPr lang="en-US" sz="1100" i="1" dirty="0">
                <a:solidFill>
                  <a:srgbClr val="5A6472"/>
                </a:solidFill>
                <a:latin typeface="Calibri" pitchFamily="34" charset="0"/>
                <a:cs typeface="Amiri" pitchFamily="2" charset="-78"/>
              </a:rPr>
              <a:t>sā-ḥil · pl. sa-wā-ḥil</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سَاحِلٌ</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سَوَاحِلُ</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7" name="Shape 54"/>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شَلَّالٌ</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waterfall</a:t>
            </a:r>
            <a:endParaRPr lang="en-US" sz="1350" dirty="0"/>
          </a:p>
          <a:p>
            <a:pPr indent="0" marL="0">
              <a:buNone/>
            </a:pPr>
            <a:r>
              <a:rPr lang="en-US" sz="1100" i="1" dirty="0">
                <a:solidFill>
                  <a:srgbClr val="5A6472"/>
                </a:solidFill>
                <a:latin typeface="Calibri" pitchFamily="34" charset="0"/>
                <a:cs typeface="Amiri" pitchFamily="2" charset="-78"/>
              </a:rPr>
              <a:t>shal-lāl · pl. shal-lā-lāt</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شَلَّالٌ</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شَلَّالَاتٌ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0" name="Shape 6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بُرْكَانٌ</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volcano</a:t>
            </a:r>
            <a:endParaRPr lang="en-US" sz="1350" dirty="0"/>
          </a:p>
          <a:p>
            <a:pPr indent="0" marL="0">
              <a:buNone/>
            </a:pPr>
            <a:r>
              <a:rPr lang="en-US" sz="1100" i="1" dirty="0">
                <a:solidFill>
                  <a:srgbClr val="5A6472"/>
                </a:solidFill>
                <a:latin typeface="Calibri" pitchFamily="34" charset="0"/>
                <a:cs typeface="Amiri" pitchFamily="2" charset="-78"/>
              </a:rPr>
              <a:t>bur-kān · pl. ba-rā-kīn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بُرْكَانٌ</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9" name="Text 7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بَرَاكِينُ</a:t>
            </a:r>
            <a:endParaRPr lang="ar-SA" sz="150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3" name="Shape 8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هَضْبَةٌ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plateau</a:t>
            </a:r>
            <a:endParaRPr lang="en-US" sz="1350" dirty="0"/>
          </a:p>
          <a:p>
            <a:pPr indent="0" marL="0">
              <a:buNone/>
            </a:pPr>
            <a:r>
              <a:rPr lang="en-US" sz="1100" i="1" dirty="0">
                <a:solidFill>
                  <a:srgbClr val="5A6472"/>
                </a:solidFill>
                <a:latin typeface="Calibri" pitchFamily="34" charset="0"/>
                <a:cs typeface="Amiri" pitchFamily="2" charset="-78"/>
              </a:rPr>
              <a:t>haḍ-ba · pl. hi-ḍāb</a:t>
            </a:r>
            <a:endParaRPr lang="en-US" sz="1350" dirty="0"/>
          </a:p>
        </p:txBody>
      </p:sp>
      <p:sp>
        <p:nvSpPr>
          <p:cNvPr id="87" name="Shape 8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9" name="Text 8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هَضْبَةٌ</a:t>
            </a:r>
            <a:endParaRPr lang="ar-SA" sz="1500" dirty="0"/>
          </a:p>
        </p:txBody>
      </p:sp>
      <p:sp>
        <p:nvSpPr>
          <p:cNvPr id="90" name="Shape 8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هِضَابٌ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Animals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الحَيَوَانَاتُ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حَيَوَانٌ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animal</a:t>
            </a:r>
            <a:endParaRPr lang="en-US" sz="1350" dirty="0"/>
          </a:p>
          <a:p>
            <a:pPr indent="0" marL="0">
              <a:buNone/>
            </a:pPr>
            <a:r>
              <a:rPr lang="en-US" sz="1100" i="1" dirty="0">
                <a:solidFill>
                  <a:srgbClr val="5A6472"/>
                </a:solidFill>
                <a:latin typeface="Calibri" pitchFamily="34" charset="0"/>
                <a:cs typeface="Amiri" pitchFamily="2" charset="-78"/>
              </a:rPr>
              <a:t>ḥa-ya-wān · pl. ḥa-ya-wā-nāt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حَيَوَانٌ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حَيَوَانَاتٌ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سَمَكٌ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 · pl. as-māk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سَمَكٌ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أَسْمَاكٌ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camel</a:t>
            </a:r>
            <a:endParaRPr lang="en-US" sz="1350" dirty="0"/>
          </a:p>
          <a:p>
            <a:pPr indent="0" marL="0">
              <a:buNone/>
            </a:pPr>
            <a:r>
              <a:rPr lang="en-US" sz="1100" i="1" dirty="0">
                <a:solidFill>
                  <a:srgbClr val="5A6472"/>
                </a:solidFill>
                <a:latin typeface="Calibri" pitchFamily="34" charset="0"/>
                <a:cs typeface="Amiri" pitchFamily="2" charset="-78"/>
              </a:rPr>
              <a:t>ja-mal · pl. ji-māl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جَمَلٌ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جِمَالٌ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lion</a:t>
            </a:r>
            <a:endParaRPr lang="en-US" sz="1350" dirty="0"/>
          </a:p>
          <a:p>
            <a:pPr indent="0" marL="0">
              <a:buNone/>
            </a:pPr>
            <a:r>
              <a:rPr lang="en-US" sz="1100" i="1" dirty="0">
                <a:solidFill>
                  <a:srgbClr val="5A6472"/>
                </a:solidFill>
                <a:latin typeface="Calibri" pitchFamily="34" charset="0"/>
                <a:cs typeface="Amiri" pitchFamily="2" charset="-78"/>
              </a:rPr>
              <a:t>a-sad · pl. u-sūd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أَسَدٌ</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أُسُودٌ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elephant</a:t>
            </a:r>
            <a:endParaRPr lang="en-US" sz="1350" dirty="0"/>
          </a:p>
          <a:p>
            <a:pPr indent="0" marL="0">
              <a:buNone/>
            </a:pPr>
            <a:r>
              <a:rPr lang="en-US" sz="1100" i="1" dirty="0">
                <a:solidFill>
                  <a:srgbClr val="5A6472"/>
                </a:solidFill>
                <a:latin typeface="Calibri" pitchFamily="34" charset="0"/>
                <a:cs typeface="Amiri" pitchFamily="2" charset="-78"/>
              </a:rPr>
              <a:t>fīl · pl. fi-ya-la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فِيَلَةٌ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قِرْدٌ</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monkey</a:t>
            </a:r>
            <a:endParaRPr lang="en-US" sz="1350" dirty="0"/>
          </a:p>
          <a:p>
            <a:pPr indent="0" marL="0">
              <a:buNone/>
            </a:pPr>
            <a:r>
              <a:rPr lang="en-US" sz="1100" i="1" dirty="0">
                <a:solidFill>
                  <a:srgbClr val="5A6472"/>
                </a:solidFill>
                <a:latin typeface="Calibri" pitchFamily="34" charset="0"/>
                <a:cs typeface="Amiri" pitchFamily="2" charset="-78"/>
              </a:rPr>
              <a:t>qird · pl. qu-rūd</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قِرْدٌ</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قُرُودٌ</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WEBSITE P4-L01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Ecosystems: a noun + a describing word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الأَنْظِمَةُ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 (website)</a:t>
            </a:r>
            <a:endParaRPr lang="en-US" sz="1100" dirty="0"/>
          </a:p>
        </p:txBody>
      </p:sp>
      <p:sp>
        <p:nvSpPr>
          <p:cNvPr id="17" name="Text 14"/>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describing word comes from…</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7982712" y="228600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نِظَامٌ</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بِيئِ</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21" name="Text 18"/>
          <p:cNvSpPr txBox="1"/>
          <p:nvPr/>
        </p:nvSpPr>
        <p:spPr>
          <a:xfrm>
            <a:off x="7936992" y="258592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ni-ẓām bī-ʾiyy</a:t>
            </a:r>
            <a:endParaRPr lang="en-US" sz="950" dirty="0"/>
          </a:p>
        </p:txBody>
      </p:sp>
      <p:sp>
        <p:nvSpPr>
          <p:cNvPr id="22" name="Text 19"/>
          <p:cNvSpPr txBox="1"/>
          <p:nvPr/>
        </p:nvSpPr>
        <p:spPr>
          <a:xfrm>
            <a:off x="507492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ecosystem</a:t>
            </a:r>
            <a:endParaRPr lang="en-US" sz="1100" dirty="0"/>
          </a:p>
        </p:txBody>
      </p:sp>
      <p:sp>
        <p:nvSpPr>
          <p:cNvPr id="23" name="Text 20"/>
          <p:cNvSpPr txBox="1"/>
          <p:nvPr/>
        </p:nvSpPr>
        <p:spPr>
          <a:xfrm>
            <a:off x="566928" y="226771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بِيئَة</a:t>
            </a:r>
            <a:pPr algn="l" indent="0" marL="0">
              <a:buNone/>
            </a:pPr>
            <a:r>
              <a:rPr lang="en-US" sz="1100" i="1" dirty="0">
                <a:solidFill>
                  <a:srgbClr val="5A6472"/>
                </a:solidFill>
                <a:latin typeface="Calibri" pitchFamily="34" charset="0"/>
                <a:cs typeface="Amiri" pitchFamily="2" charset="-78"/>
              </a:rPr>
              <a:t> (environment) → </a:t>
            </a:r>
            <a:pPr algn="l" indent="0" marL="0">
              <a:buNone/>
            </a:pPr>
            <a:r>
              <a:rPr lang="ar-SA" altLang="en-US" sz="1450" dirty="0">
                <a:solidFill>
                  <a:srgbClr val="5A6472"/>
                </a:solidFill>
                <a:latin typeface="Amiri" pitchFamily="2" charset="-78"/>
                <a:cs typeface="Amiri" pitchFamily="2" charset="-78"/>
              </a:rPr>
              <a:t>بِيئِيٌّ</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7982712" y="287121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تَنَوُّعٌ</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حَيَوِ</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28" name="Text 25"/>
          <p:cNvSpPr txBox="1"/>
          <p:nvPr/>
        </p:nvSpPr>
        <p:spPr>
          <a:xfrm>
            <a:off x="7936992" y="317113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ta-na-wwuʿ ḥa-ya-wiyy</a:t>
            </a:r>
            <a:endParaRPr lang="en-US" sz="950" dirty="0"/>
          </a:p>
        </p:txBody>
      </p:sp>
      <p:sp>
        <p:nvSpPr>
          <p:cNvPr id="29" name="Text 26"/>
          <p:cNvSpPr txBox="1"/>
          <p:nvPr/>
        </p:nvSpPr>
        <p:spPr>
          <a:xfrm>
            <a:off x="507492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biodiversity</a:t>
            </a:r>
            <a:endParaRPr lang="en-US" sz="1100" dirty="0"/>
          </a:p>
        </p:txBody>
      </p:sp>
      <p:sp>
        <p:nvSpPr>
          <p:cNvPr id="30" name="Text 27"/>
          <p:cNvSpPr txBox="1"/>
          <p:nvPr/>
        </p:nvSpPr>
        <p:spPr>
          <a:xfrm>
            <a:off x="566928" y="285292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حَيَاة</a:t>
            </a:r>
            <a:pPr algn="l" indent="0" marL="0">
              <a:buNone/>
            </a:pPr>
            <a:r>
              <a:rPr lang="en-US" sz="1100" i="1" dirty="0">
                <a:solidFill>
                  <a:srgbClr val="5A6472"/>
                </a:solidFill>
                <a:latin typeface="Calibri" pitchFamily="34" charset="0"/>
                <a:cs typeface="Amiri" pitchFamily="2" charset="-78"/>
              </a:rPr>
              <a:t> (life) → </a:t>
            </a:r>
            <a:pPr algn="l" indent="0" marL="0">
              <a:buNone/>
            </a:pPr>
            <a:r>
              <a:rPr lang="ar-SA" altLang="en-US" sz="1450" dirty="0">
                <a:solidFill>
                  <a:srgbClr val="5A6472"/>
                </a:solidFill>
                <a:latin typeface="Amiri" pitchFamily="2" charset="-78"/>
                <a:cs typeface="Amiri" pitchFamily="2" charset="-78"/>
              </a:rPr>
              <a:t>حَيَوِيٌّ</a:t>
            </a:r>
            <a:endParaRPr lang="en-US" sz="110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7982712" y="3456432"/>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سِلْسِلَةٌ</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غِذَائِ</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33" name="Text 30"/>
          <p:cNvSpPr txBox="1"/>
          <p:nvPr/>
        </p:nvSpPr>
        <p:spPr>
          <a:xfrm>
            <a:off x="7936992" y="3756355"/>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sil-si-la ghi-dhā-ʾiy-ya</a:t>
            </a:r>
            <a:endParaRPr lang="en-US" sz="950" dirty="0"/>
          </a:p>
        </p:txBody>
      </p:sp>
      <p:sp>
        <p:nvSpPr>
          <p:cNvPr id="34" name="Text 31"/>
          <p:cNvSpPr txBox="1"/>
          <p:nvPr/>
        </p:nvSpPr>
        <p:spPr>
          <a:xfrm>
            <a:off x="507492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chain</a:t>
            </a:r>
            <a:endParaRPr lang="en-US" sz="1100" dirty="0"/>
          </a:p>
        </p:txBody>
      </p:sp>
      <p:sp>
        <p:nvSpPr>
          <p:cNvPr id="35" name="Text 32"/>
          <p:cNvSpPr txBox="1"/>
          <p:nvPr/>
        </p:nvSpPr>
        <p:spPr>
          <a:xfrm>
            <a:off x="566928" y="3438144"/>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غِذَاء</a:t>
            </a:r>
            <a:pPr algn="l" indent="0" marL="0">
              <a:buNone/>
            </a:pPr>
            <a:r>
              <a:rPr lang="en-US" sz="1100" i="1" dirty="0">
                <a:solidFill>
                  <a:srgbClr val="5A6472"/>
                </a:solidFill>
                <a:latin typeface="Calibri" pitchFamily="34" charset="0"/>
                <a:cs typeface="Amiri" pitchFamily="2" charset="-78"/>
              </a:rPr>
              <a:t> (food) → </a:t>
            </a:r>
            <a:pPr algn="l" indent="0" marL="0">
              <a:buNone/>
            </a:pPr>
            <a:r>
              <a:rPr lang="ar-SA" altLang="en-US" sz="1450" dirty="0">
                <a:solidFill>
                  <a:srgbClr val="5A6472"/>
                </a:solidFill>
                <a:latin typeface="Amiri" pitchFamily="2" charset="-78"/>
                <a:cs typeface="Amiri" pitchFamily="2" charset="-78"/>
              </a:rPr>
              <a:t>غِذَائِيَّةٌ</a:t>
            </a:r>
            <a:pPr algn="l" indent="0" marL="0">
              <a:buNone/>
            </a:pPr>
            <a:r>
              <a:rPr lang="en-US" sz="1100" i="1" dirty="0">
                <a:solidFill>
                  <a:srgbClr val="5A6472"/>
                </a:solidFill>
                <a:latin typeface="Calibri" pitchFamily="34" charset="0"/>
                <a:cs typeface="Amiri" pitchFamily="2" charset="-78"/>
              </a:rPr>
              <a:t> — f. noun</a:t>
            </a:r>
            <a:endParaRPr lang="en-US" sz="1100" dirty="0"/>
          </a:p>
        </p:txBody>
      </p:sp>
      <p:sp>
        <p:nvSpPr>
          <p:cNvPr id="36" name="Shape 33"/>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7" name="Text 34"/>
          <p:cNvSpPr txBox="1"/>
          <p:nvPr/>
        </p:nvSpPr>
        <p:spPr>
          <a:xfrm>
            <a:off x="7982712" y="4041648"/>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مَوْطِنٌ</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طَبِيعِ</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38" name="Text 35"/>
          <p:cNvSpPr txBox="1"/>
          <p:nvPr/>
        </p:nvSpPr>
        <p:spPr>
          <a:xfrm>
            <a:off x="7936992" y="4341571"/>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maw-ṭin ṭa-bī-ʿiyy</a:t>
            </a:r>
            <a:endParaRPr lang="en-US" sz="950" dirty="0"/>
          </a:p>
        </p:txBody>
      </p:sp>
      <p:sp>
        <p:nvSpPr>
          <p:cNvPr id="39" name="Text 36"/>
          <p:cNvSpPr txBox="1"/>
          <p:nvPr/>
        </p:nvSpPr>
        <p:spPr>
          <a:xfrm>
            <a:off x="507492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natural habitat</a:t>
            </a:r>
            <a:endParaRPr lang="en-US" sz="1100" dirty="0"/>
          </a:p>
        </p:txBody>
      </p:sp>
      <p:sp>
        <p:nvSpPr>
          <p:cNvPr id="40" name="Text 37"/>
          <p:cNvSpPr txBox="1"/>
          <p:nvPr/>
        </p:nvSpPr>
        <p:spPr>
          <a:xfrm>
            <a:off x="566928" y="4023360"/>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طَبِيعَة</a:t>
            </a:r>
            <a:pPr algn="l" indent="0" marL="0">
              <a:buNone/>
            </a:pPr>
            <a:r>
              <a:rPr lang="en-US" sz="1100" i="1" dirty="0">
                <a:solidFill>
                  <a:srgbClr val="5A6472"/>
                </a:solidFill>
                <a:latin typeface="Calibri" pitchFamily="34" charset="0"/>
                <a:cs typeface="Amiri" pitchFamily="2" charset="-78"/>
              </a:rPr>
              <a:t> (nature) → </a:t>
            </a:r>
            <a:pPr algn="l" indent="0" marL="0">
              <a:buNone/>
            </a:pPr>
            <a:r>
              <a:rPr lang="ar-SA" altLang="en-US" sz="1450" dirty="0">
                <a:solidFill>
                  <a:srgbClr val="5A6472"/>
                </a:solidFill>
                <a:latin typeface="Amiri" pitchFamily="2" charset="-78"/>
                <a:cs typeface="Amiri" pitchFamily="2" charset="-78"/>
              </a:rPr>
              <a:t>طَبِيعِيٌّ</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7982712" y="4626864"/>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غَابَةٌ</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اسْتِوَائِ</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45" name="Text 42"/>
          <p:cNvSpPr txBox="1"/>
          <p:nvPr/>
        </p:nvSpPr>
        <p:spPr>
          <a:xfrm>
            <a:off x="7936992" y="4926787"/>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ghā-ba is-ti-wā-ʾiy-ya</a:t>
            </a:r>
            <a:endParaRPr lang="en-US" sz="950" dirty="0"/>
          </a:p>
        </p:txBody>
      </p:sp>
      <p:sp>
        <p:nvSpPr>
          <p:cNvPr id="46" name="Text 43"/>
          <p:cNvSpPr txBox="1"/>
          <p:nvPr/>
        </p:nvSpPr>
        <p:spPr>
          <a:xfrm>
            <a:off x="507492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tropical rainforest</a:t>
            </a:r>
            <a:endParaRPr lang="en-US" sz="1100" dirty="0"/>
          </a:p>
        </p:txBody>
      </p:sp>
      <p:sp>
        <p:nvSpPr>
          <p:cNvPr id="47" name="Text 44"/>
          <p:cNvSpPr txBox="1"/>
          <p:nvPr/>
        </p:nvSpPr>
        <p:spPr>
          <a:xfrm>
            <a:off x="566928" y="4608576"/>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اسْتِوَاء</a:t>
            </a:r>
            <a:pPr algn="l" indent="0" marL="0">
              <a:buNone/>
            </a:pPr>
            <a:r>
              <a:rPr lang="en-US" sz="1100" i="1" dirty="0">
                <a:solidFill>
                  <a:srgbClr val="5A6472"/>
                </a:solidFill>
                <a:latin typeface="Calibri" pitchFamily="34" charset="0"/>
                <a:cs typeface="Amiri" pitchFamily="2" charset="-78"/>
              </a:rPr>
              <a:t> (equator) → </a:t>
            </a:r>
            <a:pPr algn="l" indent="0" marL="0">
              <a:buNone/>
            </a:pPr>
            <a:r>
              <a:rPr lang="ar-SA" altLang="en-US" sz="1450" dirty="0">
                <a:solidFill>
                  <a:srgbClr val="5A6472"/>
                </a:solidFill>
                <a:latin typeface="Amiri" pitchFamily="2" charset="-78"/>
                <a:cs typeface="Amiri" pitchFamily="2" charset="-78"/>
              </a:rPr>
              <a:t>اسْتِوَائِيَّةٌ</a:t>
            </a:r>
            <a:pPr algn="l" indent="0" marL="0">
              <a:buNone/>
            </a:pPr>
            <a:r>
              <a:rPr lang="en-US" sz="1100" i="1" dirty="0">
                <a:solidFill>
                  <a:srgbClr val="5A6472"/>
                </a:solidFill>
                <a:latin typeface="Calibri" pitchFamily="34" charset="0"/>
                <a:cs typeface="Amiri" pitchFamily="2" charset="-78"/>
              </a:rPr>
              <a:t> — f. noun</a:t>
            </a:r>
            <a:endParaRPr lang="en-US" sz="1100" dirty="0"/>
          </a:p>
        </p:txBody>
      </p:sp>
      <p:sp>
        <p:nvSpPr>
          <p:cNvPr id="48" name="Shape 45"/>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7982712" y="521208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شِعَابٌ</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مَرْجَانِ</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52" name="Text 49"/>
          <p:cNvSpPr txBox="1"/>
          <p:nvPr/>
        </p:nvSpPr>
        <p:spPr>
          <a:xfrm>
            <a:off x="7936992" y="551200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shi-ʿāb mar-jā-niy-ya</a:t>
            </a:r>
            <a:endParaRPr lang="en-US" sz="950" dirty="0"/>
          </a:p>
        </p:txBody>
      </p:sp>
      <p:sp>
        <p:nvSpPr>
          <p:cNvPr id="53" name="Text 50"/>
          <p:cNvSpPr txBox="1"/>
          <p:nvPr/>
        </p:nvSpPr>
        <p:spPr>
          <a:xfrm>
            <a:off x="507492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coral reefs</a:t>
            </a:r>
            <a:endParaRPr lang="en-US" sz="1100" dirty="0"/>
          </a:p>
        </p:txBody>
      </p:sp>
      <p:sp>
        <p:nvSpPr>
          <p:cNvPr id="54" name="Text 51"/>
          <p:cNvSpPr txBox="1"/>
          <p:nvPr/>
        </p:nvSpPr>
        <p:spPr>
          <a:xfrm>
            <a:off x="566928" y="519379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مَرْجَان</a:t>
            </a:r>
            <a:pPr algn="l" indent="0" marL="0">
              <a:buNone/>
            </a:pPr>
            <a:r>
              <a:rPr lang="en-US" sz="1100" i="1" dirty="0">
                <a:solidFill>
                  <a:srgbClr val="5A6472"/>
                </a:solidFill>
                <a:latin typeface="Calibri" pitchFamily="34" charset="0"/>
                <a:cs typeface="Amiri" pitchFamily="2" charset="-78"/>
              </a:rPr>
              <a:t> (coral) → plural of things takes f.</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7982712" y="579729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cs typeface="Amiri" pitchFamily="2" charset="-78"/>
              </a:rPr>
              <a:t>التَّوَازُنُ</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cs typeface="Amiri" pitchFamily="2" charset="-78"/>
              </a:rPr>
              <a:t>البِيئِ</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57" name="Text 54"/>
          <p:cNvSpPr txBox="1"/>
          <p:nvPr/>
        </p:nvSpPr>
        <p:spPr>
          <a:xfrm>
            <a:off x="7936992" y="609721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at-ta-wā-zun al-bī-ʾiyy</a:t>
            </a:r>
            <a:endParaRPr lang="en-US" sz="950" dirty="0"/>
          </a:p>
        </p:txBody>
      </p:sp>
      <p:sp>
        <p:nvSpPr>
          <p:cNvPr id="58" name="Text 55"/>
          <p:cNvSpPr txBox="1"/>
          <p:nvPr/>
        </p:nvSpPr>
        <p:spPr>
          <a:xfrm>
            <a:off x="507492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ecological balance</a:t>
            </a:r>
            <a:endParaRPr lang="en-US" sz="1100" dirty="0"/>
          </a:p>
        </p:txBody>
      </p:sp>
      <p:sp>
        <p:nvSpPr>
          <p:cNvPr id="59" name="Text 56"/>
          <p:cNvSpPr txBox="1"/>
          <p:nvPr/>
        </p:nvSpPr>
        <p:spPr>
          <a:xfrm>
            <a:off x="566928" y="577900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a:t>
            </a:r>
            <a:pPr algn="l" indent="0" marL="0">
              <a:buNone/>
            </a:pPr>
            <a:r>
              <a:rPr lang="en-US" sz="1100" i="1" dirty="0">
                <a:solidFill>
                  <a:srgbClr val="5A6472"/>
                </a:solidFill>
                <a:latin typeface="Calibri" pitchFamily="34" charset="0"/>
                <a:cs typeface="Amiri" pitchFamily="2" charset="-78"/>
              </a:rPr>
              <a:t> on BOTH words</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verbs (website)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object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يَضُمُّ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includes, encompasses</a:t>
            </a:r>
            <a:endParaRPr lang="en-US" sz="1350" dirty="0"/>
          </a:p>
          <a:p>
            <a:pPr indent="0" marL="0">
              <a:buNone/>
            </a:pPr>
            <a:r>
              <a:rPr lang="en-US" sz="1100" i="1" dirty="0">
                <a:solidFill>
                  <a:srgbClr val="5A6472"/>
                </a:solidFill>
                <a:latin typeface="Calibri" pitchFamily="34" charset="0"/>
                <a:cs typeface="Amiri" pitchFamily="2" charset="-78"/>
              </a:rPr>
              <a:t>ya-ḍum-mu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 doubled;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object</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يُشَكِّلُ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forms, constitutes</a:t>
            </a:r>
            <a:endParaRPr lang="en-US" sz="1350" dirty="0"/>
          </a:p>
          <a:p>
            <a:pPr indent="0" marL="0">
              <a:buNone/>
            </a:pPr>
            <a:r>
              <a:rPr lang="en-US" sz="1100" i="1" dirty="0">
                <a:solidFill>
                  <a:srgbClr val="5A6472"/>
                </a:solidFill>
                <a:latin typeface="Calibri" pitchFamily="34" charset="0"/>
                <a:cs typeface="Amiri" pitchFamily="2" charset="-78"/>
              </a:rPr>
              <a:t>yu-shak-ki-lu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مَعَ</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يَتَفَاعَلُ</a:t>
            </a:r>
            <a:pPr rtl="1" algn="r" indent="0" marL="0">
              <a:buNone/>
            </a:pPr>
            <a:r>
              <a:rPr lang="ar-SA" altLang="en-US" sz="3000" b="1" dirty="0">
                <a:solidFill>
                  <a:srgbClr val="1B3B6F"/>
                </a:solidFill>
                <a:latin typeface="Amiri" pitchFamily="2" charset="-78"/>
                <a:cs typeface="Amiri" pitchFamily="2" charset="-78"/>
              </a:rPr>
              <a:t> 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interacts with</a:t>
            </a:r>
            <a:endParaRPr lang="en-US" sz="1350" dirty="0"/>
          </a:p>
          <a:p>
            <a:pPr indent="0" marL="0">
              <a:buNone/>
            </a:pPr>
            <a:r>
              <a:rPr lang="en-US" sz="1100" i="1" dirty="0">
                <a:solidFill>
                  <a:srgbClr val="5A6472"/>
                </a:solidFill>
                <a:latin typeface="Calibri" pitchFamily="34" charset="0"/>
                <a:cs typeface="Amiri" pitchFamily="2" charset="-78"/>
              </a:rPr>
              <a:t>ya-ta-fā-ʿa-lu 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fixed with </a:t>
            </a:r>
            <a:pPr algn="l" indent="0" marL="0">
              <a:buNone/>
            </a:pPr>
            <a:r>
              <a:rPr lang="ar-SA" altLang="en-US" sz="1300" dirty="0">
                <a:solidFill>
                  <a:srgbClr val="8A6D1E"/>
                </a:solidFill>
                <a:latin typeface="Amiri" pitchFamily="2" charset="-78"/>
                <a:cs typeface="Amiri" pitchFamily="2" charset="-78"/>
              </a:rPr>
              <a:t>مَعَ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عَلَى</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يَعْتَمِدُ</a:t>
            </a:r>
            <a:pPr rtl="1" algn="r" indent="0" marL="0">
              <a:buNone/>
            </a:pPr>
            <a:r>
              <a:rPr lang="ar-SA" altLang="en-US" sz="3000" b="1" dirty="0">
                <a:solidFill>
                  <a:srgbClr val="1B3B6F"/>
                </a:solidFill>
                <a:latin typeface="Amiri" pitchFamily="2" charset="-78"/>
                <a:cs typeface="Amiri" pitchFamily="2" charset="-78"/>
              </a:rPr>
              <a:t> عَلَى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Fixed with </a:t>
            </a:r>
            <a:pPr algn="l" indent="0" marL="0">
              <a:buNone/>
            </a:pPr>
            <a:r>
              <a:rPr lang="ar-SA" altLang="en-US" sz="1300" dirty="0">
                <a:solidFill>
                  <a:srgbClr val="8A6D1E"/>
                </a:solidFill>
                <a:latin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object</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يُهَدِّدُ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a:t>
            </a:r>
            <a:endParaRPr lang="en-US" sz="1350" dirty="0"/>
          </a:p>
          <a:p>
            <a:pPr indent="0" marL="0">
              <a:buNone/>
            </a:pPr>
            <a:r>
              <a:rPr lang="en-US" sz="1100" i="1" dirty="0">
                <a:solidFill>
                  <a:srgbClr val="5A6472"/>
                </a:solidFill>
                <a:latin typeface="Calibri" pitchFamily="34" charset="0"/>
                <a:cs typeface="Amiri" pitchFamily="2" charset="-78"/>
              </a:rPr>
              <a:t>yu-had-di-du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direct object.</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إِلَى</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يُؤَدِّي</a:t>
            </a:r>
            <a:pPr rtl="1" algn="r" indent="0" marL="0">
              <a:buNone/>
            </a:pPr>
            <a:r>
              <a:rPr lang="ar-SA" altLang="en-US" sz="3000" b="1" dirty="0">
                <a:solidFill>
                  <a:srgbClr val="1B3B6F"/>
                </a:solidFill>
                <a:latin typeface="Amiri" pitchFamily="2" charset="-78"/>
                <a:cs typeface="Amiri" pitchFamily="2" charset="-78"/>
              </a:rPr>
              <a:t>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Fixed with </a:t>
            </a:r>
            <a:pPr algn="l" indent="0" marL="0">
              <a:buNone/>
            </a:pPr>
            <a:r>
              <a:rPr lang="ar-SA" altLang="en-US" sz="1300" dirty="0">
                <a:solidFill>
                  <a:srgbClr val="8A6D1E"/>
                </a:solidFill>
                <a:latin typeface="Amiri" pitchFamily="2" charset="-78"/>
                <a:cs typeface="Amiri" pitchFamily="2" charset="-78"/>
              </a:rPr>
              <a:t>إِلَى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Protecting nature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حِمَايَةُ الطَّبِيعَةِ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أَنْوَاعٌ مُهَدَّدَةٌ بِالانْقِرَاضِ</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endangered species</a:t>
            </a:r>
            <a:endParaRPr lang="en-US" sz="1350" dirty="0"/>
          </a:p>
          <a:p>
            <a:pPr indent="0" marL="0">
              <a:buNone/>
            </a:pPr>
            <a:r>
              <a:rPr lang="en-US" sz="1100" i="1" dirty="0">
                <a:solidFill>
                  <a:srgbClr val="5A6472"/>
                </a:solidFill>
                <a:latin typeface="Calibri" pitchFamily="34" charset="0"/>
                <a:cs typeface="Amiri" pitchFamily="2" charset="-78"/>
              </a:rPr>
              <a:t>an-wāʿ mu-had-da-da bil-in-qi-rāḍ</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الانْقِرَاضُ</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extinction</a:t>
            </a:r>
            <a:endParaRPr lang="en-US" sz="1350" dirty="0"/>
          </a:p>
          <a:p>
            <a:pPr indent="0" marL="0">
              <a:buNone/>
            </a:pPr>
            <a:r>
              <a:rPr lang="en-US" sz="1100" i="1" dirty="0">
                <a:solidFill>
                  <a:srgbClr val="5A6472"/>
                </a:solidFill>
                <a:latin typeface="Calibri" pitchFamily="34" charset="0"/>
                <a:cs typeface="Amiri" pitchFamily="2" charset="-78"/>
              </a:rPr>
              <a:t>al-in-qi-rāḍ</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particle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in order that</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Triggers the subjunctive.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تَحْمِيَ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protects</a:t>
            </a:r>
            <a:endParaRPr lang="en-US" sz="1350" dirty="0"/>
          </a:p>
          <a:p>
            <a:pPr indent="0" marL="0">
              <a:buNone/>
            </a:pPr>
            <a:r>
              <a:rPr lang="en-US" sz="1100" i="1" dirty="0">
                <a:solidFill>
                  <a:srgbClr val="5A6472"/>
                </a:solidFill>
                <a:latin typeface="Calibri" pitchFamily="34" charset="0"/>
                <a:cs typeface="Amiri" pitchFamily="2" charset="-78"/>
              </a:rPr>
              <a:t>li-kay taḥ-mi-ya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Subjunctive </a:t>
            </a:r>
            <a:pPr algn="l" indent="0" marL="0">
              <a:buNone/>
            </a:pPr>
            <a:r>
              <a:rPr lang="ar-SA" altLang="en-US" sz="1300" dirty="0">
                <a:solidFill>
                  <a:srgbClr val="8A6D1E"/>
                </a:solidFill>
                <a:latin typeface="Amiri" pitchFamily="2" charset="-78"/>
                <a:cs typeface="Amiri" pitchFamily="2" charset="-78"/>
              </a:rPr>
              <a:t>تَحْمِيَ</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إِجْرَاءَاتُ الحِمَايَةِ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protection measures</a:t>
            </a:r>
            <a:endParaRPr lang="en-US" sz="1350" dirty="0"/>
          </a:p>
          <a:p>
            <a:pPr indent="0" marL="0">
              <a:buNone/>
            </a:pPr>
            <a:r>
              <a:rPr lang="en-US" sz="1100" i="1" dirty="0">
                <a:solidFill>
                  <a:srgbClr val="5A6472"/>
                </a:solidFill>
                <a:latin typeface="Calibri" pitchFamily="34" charset="0"/>
                <a:cs typeface="Amiri" pitchFamily="2" charset="-78"/>
              </a:rPr>
              <a:t>ij-rā-ʾāt al-ḥi-mā-ya</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7" name="Shape 5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تَعَاوُنٌ </a:t>
            </a:r>
            <a:pPr rtl="1" algn="r" indent="0" marL="0">
              <a:buNone/>
            </a:pPr>
            <a:r>
              <a:rPr lang="ar-SA" altLang="en-US" sz="3000" b="1" dirty="0">
                <a:solidFill>
                  <a:srgbClr val="7B3FA0"/>
                </a:solidFill>
                <a:latin typeface="Amiri" pitchFamily="2" charset="-78"/>
                <a:cs typeface="Amiri" pitchFamily="2" charset="-78"/>
              </a:rPr>
              <a:t>إِقْلِيمِ</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regional cooperation</a:t>
            </a:r>
            <a:endParaRPr lang="en-US" sz="1350" dirty="0"/>
          </a:p>
          <a:p>
            <a:pPr indent="0" marL="0">
              <a:buNone/>
            </a:pPr>
            <a:r>
              <a:rPr lang="en-US" sz="1100" i="1" dirty="0">
                <a:solidFill>
                  <a:srgbClr val="5A6472"/>
                </a:solidFill>
                <a:latin typeface="Calibri" pitchFamily="34" charset="0"/>
                <a:cs typeface="Amiri" pitchFamily="2" charset="-78"/>
              </a:rPr>
              <a:t>ta-ʿā-wun iq-lī-miyy</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ADJECTIVE AGREEMENT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The describing word agrees with its noun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2" charset="-78"/>
                <a:cs typeface="Amiri" pitchFamily="2" charset="-78"/>
              </a:rPr>
              <a:t>غَابَةٌ</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7B3FA0"/>
                </a:solidFill>
                <a:latin typeface="Amiri" pitchFamily="2" charset="-78"/>
                <a:cs typeface="Amiri" pitchFamily="2" charset="-78"/>
              </a:rPr>
              <a:t>اسْتِوَائِ</a:t>
            </a:r>
            <a:pPr rtl="1" algn="ctr" indent="0" marL="0">
              <a:buNone/>
            </a:pPr>
            <a:r>
              <a:rPr lang="ar-SA" altLang="en-US" sz="7200" b="1" dirty="0">
                <a:solidFill>
                  <a:srgbClr val="D6336C"/>
                </a:solidFill>
                <a:latin typeface="Amiri" pitchFamily="2" charset="-78"/>
                <a:cs typeface="Amiri" pitchFamily="2" charset="-78"/>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ghā-ba is-ti-wā-ʾiy-ya · a tropical rainforest</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cs typeface="Amiri" pitchFamily="2" charset="-78"/>
              </a:rPr>
              <a:t>غَابَةٌ</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NOUN first (WHO it describes)</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noun comes first. </a:t>
            </a:r>
            <a:pPr algn="l" indent="0" marL="0">
              <a:buNone/>
            </a:pPr>
            <a:r>
              <a:rPr lang="ar-SA" altLang="en-US" sz="1500" dirty="0">
                <a:solidFill>
                  <a:srgbClr val="5A6472"/>
                </a:solidFill>
                <a:latin typeface="Amiri" pitchFamily="2" charset="-78"/>
                <a:cs typeface="Amiri" pitchFamily="2" charset="-78"/>
              </a:rPr>
              <a:t>غَابَة</a:t>
            </a:r>
            <a:pPr algn="l" indent="0" marL="0">
              <a:buNone/>
            </a:pPr>
            <a:r>
              <a:rPr lang="en-US" sz="1150" dirty="0">
                <a:solidFill>
                  <a:srgbClr val="5A6472"/>
                </a:solidFill>
                <a:latin typeface="Calibri" pitchFamily="34" charset="0"/>
                <a:cs typeface="Amiri" pitchFamily="2" charset="-78"/>
              </a:rPr>
              <a:t> ends in </a:t>
            </a:r>
            <a:pPr algn="l" indent="0" marL="0">
              <a:buNone/>
            </a:pPr>
            <a:r>
              <a:rPr lang="ar-SA" altLang="en-US" sz="1500" dirty="0">
                <a:solidFill>
                  <a:srgbClr val="5A6472"/>
                </a:solidFill>
                <a:latin typeface="Amiri" pitchFamily="2" charset="-78"/>
                <a:cs typeface="Amiri" pitchFamily="2" charset="-78"/>
              </a:rPr>
              <a:t>ـة</a:t>
            </a:r>
            <a:pPr algn="l" indent="0" marL="0">
              <a:buNone/>
            </a:pPr>
            <a:r>
              <a:rPr lang="en-US" sz="1150" dirty="0">
                <a:solidFill>
                  <a:srgbClr val="5A6472"/>
                </a:solidFill>
                <a:latin typeface="Calibri" pitchFamily="34" charset="0"/>
                <a:cs typeface="Amiri" pitchFamily="2" charset="-78"/>
              </a:rPr>
              <a:t>, so it is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cs typeface="Amiri" pitchFamily="2" charset="-78"/>
              </a:rPr>
              <a:t>اسْتِوَاء</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describing word is made from a noun: </a:t>
            </a:r>
            <a:pPr algn="l" indent="0" marL="0">
              <a:buNone/>
            </a:pPr>
            <a:r>
              <a:rPr lang="ar-SA" altLang="en-US" sz="1500" dirty="0">
                <a:solidFill>
                  <a:srgbClr val="5A6472"/>
                </a:solidFill>
                <a:latin typeface="Amiri" pitchFamily="2" charset="-78"/>
                <a:cs typeface="Amiri" pitchFamily="2" charset="-78"/>
              </a:rPr>
              <a:t>اسْتِوَاء</a:t>
            </a:r>
            <a:pPr algn="l" indent="0" marL="0">
              <a:buNone/>
            </a:pPr>
            <a:r>
              <a:rPr lang="en-US" sz="1150" dirty="0">
                <a:solidFill>
                  <a:srgbClr val="5A6472"/>
                </a:solidFill>
                <a:latin typeface="Calibri" pitchFamily="34" charset="0"/>
                <a:cs typeface="Amiri" pitchFamily="2" charset="-78"/>
              </a:rPr>
              <a:t> (equator) → tropical.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cs typeface="Amiri" pitchFamily="2" charset="-78"/>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agrees</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Feminine noun → </a:t>
            </a:r>
            <a:pPr algn="l" indent="0" marL="0">
              <a:buNone/>
            </a:pPr>
            <a:r>
              <a:rPr lang="ar-SA" altLang="en-US" sz="1500" dirty="0">
                <a:solidFill>
                  <a:srgbClr val="5A6472"/>
                </a:solidFill>
                <a:latin typeface="Amiri" pitchFamily="2" charset="-78"/>
                <a:cs typeface="Amiri" pitchFamily="2" charset="-78"/>
              </a:rPr>
              <a:t>ـِيَّةٌ</a:t>
            </a:r>
            <a:pPr algn="l" indent="0" marL="0">
              <a:buNone/>
            </a:pPr>
            <a:r>
              <a:rPr lang="en-US" sz="1150" dirty="0">
                <a:solidFill>
                  <a:srgbClr val="5A6472"/>
                </a:solidFill>
                <a:latin typeface="Calibri" pitchFamily="34" charset="0"/>
                <a:cs typeface="Amiri" pitchFamily="2" charset="-78"/>
              </a:rPr>
              <a:t>. Masculine noun → </a:t>
            </a:r>
            <a:pPr algn="l" indent="0" marL="0">
              <a:buNone/>
            </a:pPr>
            <a:r>
              <a:rPr lang="ar-SA" altLang="en-US" sz="1500" dirty="0">
                <a:solidFill>
                  <a:srgbClr val="5A6472"/>
                </a:solidFill>
                <a:latin typeface="Amiri" pitchFamily="2" charset="-78"/>
                <a:cs typeface="Amiri" pitchFamily="2" charset="-78"/>
              </a:rPr>
              <a:t>ـِيٌّ</a:t>
            </a:r>
            <a:pPr algn="l" indent="0" marL="0">
              <a:buNone/>
            </a:pPr>
            <a:r>
              <a:rPr lang="en-US" sz="1150" dirty="0">
                <a:solidFill>
                  <a:srgbClr val="5A6472"/>
                </a:solidFill>
                <a:latin typeface="Calibri" pitchFamily="34" charset="0"/>
                <a:cs typeface="Amiri" pitchFamily="2" charset="-78"/>
              </a:rPr>
              <a:t>: </a:t>
            </a:r>
            <a:pPr algn="l" indent="0" marL="0">
              <a:buNone/>
            </a:pPr>
            <a:r>
              <a:rPr lang="ar-SA" altLang="en-US" sz="1500" dirty="0">
                <a:solidFill>
                  <a:srgbClr val="5A6472"/>
                </a:solidFill>
                <a:latin typeface="Amiri" pitchFamily="2" charset="-78"/>
                <a:cs typeface="Amiri" pitchFamily="2" charset="-78"/>
              </a:rPr>
              <a:t>نِظَامٌ بِيئِيٌّ</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ONE ENDING, MANY NATURE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Nouns and describing words in website sentences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صِفَاتٌ مِنَ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Noun</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Describing word</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نِظَامٌ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system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بِيئِ</a:t>
            </a:r>
            <a:pPr rtl="1" algn="ct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كُلُّ </a:t>
            </a:r>
            <a:pPr rtl="1" algn="r" indent="0" marL="0">
              <a:buNone/>
            </a:pPr>
            <a:r>
              <a:rPr lang="ar-SA" altLang="en-US" sz="2000" dirty="0">
                <a:solidFill>
                  <a:srgbClr val="1D5FBF"/>
                </a:solidFill>
                <a:latin typeface="Amiri" pitchFamily="2" charset="-78"/>
                <a:cs typeface="Amiri" pitchFamily="2" charset="-78"/>
              </a:rPr>
              <a:t>نِظَامٍ</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بِيئِ</a:t>
            </a:r>
            <a:pPr rtl="1" algn="r" indent="0" marL="0">
              <a:buNone/>
            </a:pPr>
            <a:r>
              <a:rPr lang="ar-SA" altLang="en-US" sz="2000" dirty="0">
                <a:solidFill>
                  <a:srgbClr val="D6336C"/>
                </a:solidFill>
                <a:latin typeface="Amiri" pitchFamily="2" charset="-78"/>
                <a:cs typeface="Amiri" pitchFamily="2" charset="-78"/>
              </a:rPr>
              <a:t>يٍّ</a:t>
            </a:r>
            <a:pPr rtl="1" algn="r" indent="0" marL="0">
              <a:buNone/>
            </a:pPr>
            <a:r>
              <a:rPr lang="ar-SA" altLang="en-US" sz="2000" dirty="0">
                <a:solidFill>
                  <a:srgbClr val="1F2A37"/>
                </a:solidFill>
                <a:latin typeface="Amiri" pitchFamily="2" charset="-78"/>
                <a:cs typeface="Amiri" pitchFamily="2" charset="-78"/>
              </a:rPr>
              <a:t> يَضُمُّ أَنْوَاعًا.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Every ecosystem includes (many) species.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غَابَةٌ</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forest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اسْتِوَائِ</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تَضُمُّ </a:t>
            </a:r>
            <a:pPr rtl="1" algn="r" indent="0" marL="0">
              <a:buNone/>
            </a:pPr>
            <a:r>
              <a:rPr lang="ar-SA" altLang="en-US" sz="2000" dirty="0">
                <a:solidFill>
                  <a:srgbClr val="1D5FBF"/>
                </a:solidFill>
                <a:latin typeface="Amiri" pitchFamily="2" charset="-78"/>
                <a:cs typeface="Amiri" pitchFamily="2" charset="-78"/>
              </a:rPr>
              <a:t>الغَابَةُ</a:t>
            </a:r>
            <a:pPr rtl="1" algn="r" indent="0" marL="0">
              <a:buNone/>
            </a:pPr>
            <a:r>
              <a:rPr lang="ar-SA" altLang="en-US" sz="2000" dirty="0">
                <a:solidFill>
                  <a:srgbClr val="1F2A37"/>
                </a:solidFill>
                <a:latin typeface="Amiri" pitchFamily="2" charset="-78"/>
                <a:cs typeface="Amiri" pitchFamily="2" charset="-78"/>
              </a:rPr>
              <a:t> آلَافَ الأَنْوَاعِ.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forest includes thousands of species.</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سَلَاسِلُ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chains (pl. things)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غِذَائِ</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تَتَفَاعَلُ الأَنْوَاعُ فِي </a:t>
            </a:r>
            <a:pPr rtl="1" algn="r" indent="0" marL="0">
              <a:buNone/>
            </a:pPr>
            <a:r>
              <a:rPr lang="ar-SA" altLang="en-US" sz="2000" dirty="0">
                <a:solidFill>
                  <a:srgbClr val="1D5FBF"/>
                </a:solidFill>
                <a:latin typeface="Amiri" pitchFamily="2" charset="-78"/>
                <a:cs typeface="Amiri" pitchFamily="2" charset="-78"/>
              </a:rPr>
              <a:t>سَلَاسِلَ</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غِذَائِ</a:t>
            </a:r>
            <a:pPr rtl="1" algn="r" indent="0" marL="0">
              <a:buNone/>
            </a:pPr>
            <a:r>
              <a:rPr lang="ar-SA" altLang="en-US" sz="2000" dirty="0">
                <a:solidFill>
                  <a:srgbClr val="D6336C"/>
                </a:solidFill>
                <a:latin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Species interact in food chains.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شِعَابٌ</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reefs (pl. things)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مَرْجَانِ</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يَضُمُّ البَحْرُ </a:t>
            </a:r>
            <a:pPr rtl="1" algn="r" indent="0" marL="0">
              <a:buNone/>
            </a:pPr>
            <a:r>
              <a:rPr lang="ar-SA" altLang="en-US" sz="2000" dirty="0">
                <a:solidFill>
                  <a:srgbClr val="1D5FBF"/>
                </a:solidFill>
                <a:latin typeface="Amiri" pitchFamily="2" charset="-78"/>
                <a:cs typeface="Amiri" pitchFamily="2" charset="-78"/>
              </a:rPr>
              <a:t>شِعَابًا</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مَرْجَانِ</a:t>
            </a:r>
            <a:pPr rtl="1" algn="r" indent="0" marL="0">
              <a:buNone/>
            </a:pPr>
            <a:r>
              <a:rPr lang="ar-SA" altLang="en-US" sz="2000" dirty="0">
                <a:solidFill>
                  <a:srgbClr val="D6336C"/>
                </a:solidFill>
                <a:latin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sea includes coral reefs.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المَنَاطِقُ</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areas (pl. things)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الجَبَلِ</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تَعِيشُ المَاعِزُ فِي </a:t>
            </a:r>
            <a:pPr rtl="1" algn="r" indent="0" marL="0">
              <a:buNone/>
            </a:pPr>
            <a:r>
              <a:rPr lang="ar-SA" altLang="en-US" sz="2000" dirty="0">
                <a:solidFill>
                  <a:srgbClr val="1D5FBF"/>
                </a:solidFill>
                <a:latin typeface="Amiri" pitchFamily="2" charset="-78"/>
                <a:cs typeface="Amiri" pitchFamily="2" charset="-78"/>
              </a:rPr>
              <a:t>المَنَاطِقِ</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الجَبَلِ</a:t>
            </a:r>
            <a:pPr rtl="1" algn="r" indent="0" marL="0">
              <a:buNone/>
            </a:pPr>
            <a:r>
              <a:rPr lang="ar-SA" altLang="en-US" sz="2000" dirty="0">
                <a:solidFill>
                  <a:srgbClr val="D6336C"/>
                </a:solidFill>
                <a:latin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Goats live in mountainous areas.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THREE WAYS TO JOIN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Adjective, iḍāfa, relative clause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الصِّفَةُ وَالإِضَافَةُ وَالمَوْصُولُ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ADJECTIVE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نِظَامٌ بِيئِيٌّ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التَّوَازُنُ البِيئِيُّ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ecological balance — noun + describing word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on BOTH words or on NEITHER: </a:t>
            </a:r>
            <a:pPr algn="l" indent="0" marL="0">
              <a:buNone/>
            </a:pPr>
            <a:r>
              <a:rPr lang="ar-SA" altLang="en-US" sz="1450" dirty="0">
                <a:solidFill>
                  <a:srgbClr val="1F2A37"/>
                </a:solidFill>
                <a:latin typeface="Amiri" pitchFamily="2" charset="-78"/>
                <a:cs typeface="Amiri" pitchFamily="2" charset="-78"/>
              </a:rPr>
              <a:t>نِظَامٌ بِيئِيٌّ / النِّظَامُ البِيئِيُّ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IḌĀFA · “the … of …”</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حِمَايَةُ التَّنَوُّعِ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إِجْرَاءَاتُ الحِمَايَةِ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measures of protection — protection measures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1st noun: no </a:t>
            </a:r>
            <a:pPr algn="l" indent="0" marL="0">
              <a:buNone/>
            </a:pPr>
            <a:r>
              <a:rPr lang="ar-SA" altLang="en-US" sz="1450" dirty="0">
                <a:solidFill>
                  <a:srgbClr val="1F2A37"/>
                </a:solidFill>
                <a:latin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no tanwīn. 2nd noun: often </a:t>
            </a:r>
            <a:pPr algn="l" indent="0" marL="0">
              <a:buNone/>
            </a:pPr>
            <a:r>
              <a:rPr lang="ar-SA" altLang="en-US" sz="1450" dirty="0">
                <a:solidFill>
                  <a:srgbClr val="1F2A37"/>
                </a:solidFill>
                <a:latin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 kasra: </a:t>
            </a:r>
            <a:pPr algn="l" indent="0" marL="0">
              <a:buNone/>
            </a:pPr>
            <a:r>
              <a:rPr lang="ar-SA" altLang="en-US" sz="1450" dirty="0">
                <a:solidFill>
                  <a:srgbClr val="1F2A37"/>
                </a:solidFill>
                <a:latin typeface="Amiri" pitchFamily="2" charset="-78"/>
                <a:cs typeface="Amiri" pitchFamily="2" charset="-78"/>
              </a:rPr>
              <a:t>حِمَايَةُ التَّنَوُّعِ</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RELATIVE · which / that</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الَّتِي / الَّذِي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الغَابَةُ الَّتِي تَضُمُّ آلَافَ الأَنْوَاعِ</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forest which includes thousands of species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الَّذِي</a:t>
            </a:r>
            <a:pPr algn="l" indent="0" marL="0">
              <a:buNone/>
            </a:pPr>
            <a:r>
              <a:rPr lang="en-US" sz="1100" dirty="0">
                <a:solidFill>
                  <a:srgbClr val="1F2A37"/>
                </a:solidFill>
                <a:latin typeface="Calibri" pitchFamily="34" charset="0"/>
                <a:cs typeface="Amiri" pitchFamily="2" charset="-78"/>
              </a:rPr>
              <a:t> after a masculine noun; </a:t>
            </a:r>
            <a:pPr algn="l" indent="0" marL="0">
              <a:buNone/>
            </a:pPr>
            <a:r>
              <a:rPr lang="ar-SA" altLang="en-US" sz="1450" dirty="0">
                <a:solidFill>
                  <a:srgbClr val="1F2A37"/>
                </a:solidFill>
                <a:latin typeface="Amiri" pitchFamily="2" charset="-78"/>
                <a:cs typeface="Amiri" pitchFamily="2" charset="-78"/>
              </a:rPr>
              <a:t>الَّتِي</a:t>
            </a:r>
            <a:pPr algn="l" indent="0" marL="0">
              <a:buNone/>
            </a:pPr>
            <a:r>
              <a:rPr lang="en-US" sz="1100" dirty="0">
                <a:solidFill>
                  <a:srgbClr val="1F2A37"/>
                </a:solidFill>
                <a:latin typeface="Calibri" pitchFamily="34" charset="0"/>
                <a:cs typeface="Amiri" pitchFamily="2" charset="-78"/>
              </a:rPr>
              <a:t> after a feminine noun or a plural of things.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Using English word order, or a masculine ending on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cs typeface="Amiri" pitchFamily="2" charset="-78"/>
              </a:rPr>
              <a:t>غَابَةٌ اسْتِوَائِيَّةٌ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غَابَةٌ اسْتِوَائِيٌّ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حِمَايَةُ التَّنَوُّعِ</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الحِمَايَةُ التَّنَوُّعِ</a:t>
            </a:r>
            <a:endParaRPr lang="ar-SA" sz="23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4 · DEVELOP · WEBSITE RULE “COMPOSITION”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Describe an ecosystem: verb + subject + object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التَّكْوِينِ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الفِعْلُ</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الفَاعِلُ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subject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التَّكْمِلَةُ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object / complement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forest includes thousands of species.</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تَضُمُّ</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الغَابَةُ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آلَافَ الأَنْوَاعِ.</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Coral forms a vital environment.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يُشَكِّلُ</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المَرْجَانُ</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بِيئَةً حَيَوِيَّةً.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Each element interacts with the others.</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يَتَفَاعَلُ</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كُلُّ عُنْصُرٍ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 العَنَاصِرِ الأُخْرَى.</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balance depends on every element surviving.</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يَعْتَمِدُ</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التَّوَازُنُ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عَلَى بَقَاءِ كُلِّ عُنْصُرٍ.</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 preposition after </a:t>
            </a:r>
            <a:pPr algn="l" indent="0" marL="0">
              <a:buNone/>
            </a:pPr>
            <a:r>
              <a:rPr lang="ar-SA" altLang="en-US" sz="1550" b="1" dirty="0">
                <a:solidFill>
                  <a:srgbClr val="8A6D1E"/>
                </a:solidFill>
                <a:latin typeface="Amiri" pitchFamily="2" charset="-78"/>
                <a:cs typeface="Amiri" pitchFamily="2" charset="-78"/>
              </a:rPr>
              <a:t>يَضُمُّ / يُشَكِّلُ</a:t>
            </a:r>
            <a:pPr algn="l" indent="0" marL="0">
              <a:buNone/>
            </a:pPr>
            <a:r>
              <a:rPr lang="en-US" sz="1200" b="1" dirty="0">
                <a:solidFill>
                  <a:srgbClr val="8A6D1E"/>
                </a:solidFill>
                <a:latin typeface="Calibri" pitchFamily="34" charset="0"/>
                <a:cs typeface="Amiri" pitchFamily="2" charset="-78"/>
              </a:rPr>
              <a:t>. Fixed partners: </a:t>
            </a:r>
            <a:pPr algn="l" indent="0" marL="0">
              <a:buNone/>
            </a:pPr>
            <a:r>
              <a:rPr lang="ar-SA" altLang="en-US" sz="1550" b="1" dirty="0">
                <a:solidFill>
                  <a:srgbClr val="8A6D1E"/>
                </a:solidFill>
                <a:latin typeface="Amiri" pitchFamily="2" charset="-78"/>
                <a:cs typeface="Amiri" pitchFamily="2" charset="-78"/>
              </a:rPr>
              <a:t>يَتَفَاعَلُ مَعَ</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cs typeface="Amiri" pitchFamily="2" charset="-78"/>
              </a:rPr>
              <a:t>يَعْتَمِدُ عَلَى</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cs typeface="Amiri" pitchFamily="2" charset="-78"/>
              </a:rPr>
              <a:t>يُؤَدِّي إِلَى</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Threats and purpose: </a:t>
            </a:r>
            <a:pPr algn="l" indent="0" marL="0">
              <a:buNone/>
            </a:pPr>
            <a:r>
              <a:rPr lang="ar-SA" altLang="en-US" sz="3200" b="1" dirty="0">
                <a:solidFill>
                  <a:srgbClr val="1B3B6F"/>
                </a:solidFill>
                <a:latin typeface="Amiri" pitchFamily="2" charset="-78"/>
                <a:cs typeface="Amiri" pitchFamily="2" charset="-78"/>
              </a:rPr>
              <a:t>إِذَا</a:t>
            </a:r>
            <a:pPr algn="l" indent="0" marL="0">
              <a:buNone/>
            </a:pPr>
            <a:r>
              <a:rPr lang="en-US" sz="2450" b="1" dirty="0">
                <a:solidFill>
                  <a:srgbClr val="1B3B6F"/>
                </a:solidFill>
                <a:latin typeface="Cambria" pitchFamily="34" charset="0"/>
                <a:cs typeface="Amiri" pitchFamily="2" charset="-78"/>
              </a:rPr>
              <a:t> · </a:t>
            </a:r>
            <a:pPr algn="l" indent="0" marL="0">
              <a:buNone/>
            </a:pPr>
            <a:r>
              <a:rPr lang="ar-SA" altLang="en-US" sz="3200" b="1" dirty="0">
                <a:solidFill>
                  <a:srgbClr val="1B3B6F"/>
                </a:solidFill>
                <a:latin typeface="Amiri" pitchFamily="2" charset="-78"/>
                <a:cs typeface="Amiri" pitchFamily="2" charset="-78"/>
              </a:rPr>
              <a:t>لَوْ</a:t>
            </a:r>
            <a:pPr algn="l" indent="0" marL="0">
              <a:buNone/>
            </a:pPr>
            <a:r>
              <a:rPr lang="en-US" sz="2450" b="1" dirty="0">
                <a:solidFill>
                  <a:srgbClr val="1B3B6F"/>
                </a:solidFill>
                <a:latin typeface="Cambria" pitchFamily="34" charset="0"/>
                <a:cs typeface="Amiri" pitchFamily="2" charset="-78"/>
              </a:rPr>
              <a:t> · </a:t>
            </a:r>
            <a:pPr algn="l" indent="0" marL="0">
              <a:buNone/>
            </a:pPr>
            <a:r>
              <a:rPr lang="ar-SA" altLang="en-US" sz="3200" b="1" dirty="0">
                <a:solidFill>
                  <a:srgbClr val="1B3B6F"/>
                </a:solidFill>
                <a:latin typeface="Amiri" pitchFamily="2" charset="-78"/>
                <a:cs typeface="Amiri" pitchFamily="2" charset="-78"/>
              </a:rPr>
              <a:t>لِكَيْ</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الشَّرْطُ وَالمَنْصُوبُ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64592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THREAT · TYPE 1</a:t>
            </a:r>
            <a:endParaRPr lang="en-US" sz="850" dirty="0"/>
          </a:p>
        </p:txBody>
      </p:sp>
      <p:sp>
        <p:nvSpPr>
          <p:cNvPr id="20" name="Text 17"/>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اسْتَمَرَّ الاحْتِرَارُ، سَتَمُوتُ الشِّعَابُ</a:t>
            </a:r>
            <a:endParaRPr lang="ar-SA" sz="21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warming continues, the reefs will die.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likely consequence of a current trend: </a:t>
            </a:r>
            <a:pPr algn="l" indent="0" marL="0">
              <a:buNone/>
            </a:pPr>
            <a:r>
              <a:rPr lang="ar-SA" altLang="en-US" sz="1450" dirty="0">
                <a:solidFill>
                  <a:srgbClr val="1F2A37"/>
                </a:solidFill>
                <a:latin typeface="Amiri" pitchFamily="2" charset="-78"/>
                <a:cs typeface="Amiri" pitchFamily="2" charset="-78"/>
              </a:rPr>
              <a:t>إِذَا</a:t>
            </a:r>
            <a:pPr algn="l" indent="0" marL="0">
              <a:buNone/>
            </a:pPr>
            <a:r>
              <a:rPr lang="en-US" sz="1100" dirty="0">
                <a:solidFill>
                  <a:srgbClr val="1F2A37"/>
                </a:solidFill>
                <a:latin typeface="Calibri" pitchFamily="34" charset="0"/>
                <a:cs typeface="Amiri" pitchFamily="2" charset="-78"/>
              </a:rPr>
              <a:t> + past → </a:t>
            </a:r>
            <a:pPr algn="l" indent="0" marL="0">
              <a:buNone/>
            </a:pPr>
            <a:r>
              <a:rPr lang="ar-SA" altLang="en-US" sz="1450" dirty="0">
                <a:solidFill>
                  <a:srgbClr val="1F2A37"/>
                </a:solidFill>
                <a:latin typeface="Amiri" pitchFamily="2" charset="-78"/>
                <a:cs typeface="Amiri" pitchFamily="2" charset="-78"/>
              </a:rPr>
              <a:t>سَـ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“WHAT IF” · TYPE 2</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لَوْ حُمِيَتْ مُبَكِّرًا، لَبَقِيَتِ الشِّعَابُ</a:t>
            </a:r>
            <a:endParaRPr lang="ar-SA" sz="245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they been protected early, the reefs would have survived.</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would have been better: </a:t>
            </a:r>
            <a:pPr algn="l" indent="0" marL="0">
              <a:buNone/>
            </a:pPr>
            <a:r>
              <a:rPr lang="ar-SA" altLang="en-US" sz="1450" dirty="0">
                <a:solidFill>
                  <a:srgbClr val="1F2A37"/>
                </a:solidFill>
                <a:latin typeface="Amiri" pitchFamily="2" charset="-78"/>
                <a:cs typeface="Amiri" pitchFamily="2" charset="-78"/>
              </a:rPr>
              <a:t>لَوْ</a:t>
            </a:r>
            <a:pPr algn="l" indent="0" marL="0">
              <a:buNone/>
            </a:pPr>
            <a:r>
              <a:rPr lang="en-US" sz="1100" dirty="0">
                <a:solidFill>
                  <a:srgbClr val="1F2A37"/>
                </a:solidFill>
                <a:latin typeface="Calibri" pitchFamily="34" charset="0"/>
                <a:cs typeface="Amiri" pitchFamily="2" charset="-78"/>
              </a:rPr>
              <a:t> + past → </a:t>
            </a:r>
            <a:pPr algn="l" indent="0" marL="0">
              <a:buNone/>
            </a:pPr>
            <a:r>
              <a:rPr lang="ar-SA" altLang="en-US" sz="1450" dirty="0">
                <a:solidFill>
                  <a:srgbClr val="1F2A37"/>
                </a:solidFill>
                <a:latin typeface="Amiri" pitchFamily="2" charset="-78"/>
                <a:cs typeface="Amiri" pitchFamily="2" charset="-78"/>
              </a:rPr>
              <a:t>لَـ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75438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PURPOSE</a:t>
            </a:r>
            <a:endParaRPr lang="en-US" sz="850" dirty="0"/>
          </a:p>
        </p:txBody>
      </p:sp>
      <p:sp>
        <p:nvSpPr>
          <p:cNvPr id="36" name="Text 33"/>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لِكَيْ + 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لِكَيْ نَحْمِيَ الغَابَاتِ</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 that we protect the forests</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t>
            </a:r>
            <a:pPr algn="l" indent="0" marL="0">
              <a:buNone/>
            </a:pPr>
            <a:r>
              <a:rPr lang="ar-SA" altLang="en-US" sz="1450" dirty="0">
                <a:solidFill>
                  <a:srgbClr val="1F2A37"/>
                </a:solidFill>
                <a:latin typeface="Amiri" pitchFamily="2" charset="-78"/>
                <a:cs typeface="Amiri" pitchFamily="2" charset="-78"/>
              </a:rPr>
              <a:t>لِكَيْ</a:t>
            </a:r>
            <a:pPr algn="l" indent="0" marL="0">
              <a:buNone/>
            </a:pPr>
            <a:r>
              <a:rPr lang="en-US" sz="1100" dirty="0">
                <a:solidFill>
                  <a:srgbClr val="1F2A37"/>
                </a:solidFill>
                <a:latin typeface="Calibri" pitchFamily="34" charset="0"/>
                <a:cs typeface="Amiri" pitchFamily="2" charset="-78"/>
              </a:rPr>
              <a:t> the verb ends in a fatḥa: </a:t>
            </a:r>
            <a:pPr algn="l" indent="0" marL="0">
              <a:buNone/>
            </a:pPr>
            <a:r>
              <a:rPr lang="ar-SA" altLang="en-US" sz="1450" dirty="0">
                <a:solidFill>
                  <a:srgbClr val="1F2A37"/>
                </a:solidFill>
                <a:latin typeface="Amiri" pitchFamily="2" charset="-78"/>
                <a:cs typeface="Amiri" pitchFamily="2" charset="-78"/>
              </a:rPr>
              <a:t>نَحْمِيَ</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cs typeface="Amiri" pitchFamily="2" charset="-78"/>
              </a:rPr>
              <a:t>نَحْمِي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Leaving the verb after </a:t>
            </a:r>
            <a:pPr algn="l" indent="0" marL="0">
              <a:buNone/>
            </a:pPr>
            <a:r>
              <a:rPr lang="ar-SA" altLang="en-US" sz="1500" dirty="0">
                <a:solidFill>
                  <a:srgbClr val="1F2A37"/>
                </a:solidFill>
                <a:latin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in the indicative (</a:t>
            </a:r>
            <a:pPr algn="l" indent="0" marL="0">
              <a:buNone/>
            </a:pPr>
            <a:r>
              <a:rPr lang="ar-SA" altLang="en-US" sz="1500" dirty="0">
                <a:solidFill>
                  <a:srgbClr val="1F2A37"/>
                </a:solidFill>
                <a:latin typeface="Amiri" pitchFamily="2" charset="-78"/>
                <a:cs typeface="Amiri" pitchFamily="2" charset="-78"/>
              </a:rPr>
              <a:t>تَحْمِي</a:t>
            </a:r>
            <a:pPr algn="l" indent="0" marL="0">
              <a:buNone/>
            </a:pPr>
            <a:r>
              <a:rPr lang="en-US" sz="1150" dirty="0">
                <a:solidFill>
                  <a:srgbClr val="1F2A37"/>
                </a:solidFill>
                <a:latin typeface="Calibri" pitchFamily="34" charset="0"/>
                <a:cs typeface="Amiri" pitchFamily="2" charset="-78"/>
              </a:rPr>
              <a:t>) instead of the subjunctive (</a:t>
            </a:r>
            <a:pPr algn="l" indent="0" marL="0">
              <a:buNone/>
            </a:pPr>
            <a:r>
              <a:rPr lang="ar-SA" altLang="en-US" sz="1500" dirty="0">
                <a:solidFill>
                  <a:srgbClr val="1F2A37"/>
                </a:solidFill>
                <a:latin typeface="Amiri" pitchFamily="2" charset="-78"/>
                <a:cs typeface="Amiri" pitchFamily="2" charset="-78"/>
              </a:rPr>
              <a:t>تَحْمِيَ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لِكَيْ نَحْمِيَ</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لِكَيْ نَحْمِي</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لَوْ … لَمَاتَتْ</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لَوْ … سَتَمُوتُ</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6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يَضُمُّ / يُشَكِّلُ</a:t>
            </a:r>
            <a:pPr algn="l" indent="0" marL="0">
              <a:buNone/>
            </a:pPr>
            <a:r>
              <a:rPr lang="en-US" sz="1050" dirty="0">
                <a:solidFill>
                  <a:srgbClr val="5A6472"/>
                </a:solidFill>
                <a:latin typeface="Calibri" pitchFamily="34" charset="0"/>
                <a:cs typeface="Amiri" pitchFamily="2" charset="-78"/>
              </a:rPr>
              <a:t>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 past → </a:t>
            </a:r>
            <a:pPr algn="l" indent="0" marL="0">
              <a:buNone/>
            </a:pPr>
            <a:r>
              <a:rPr lang="ar-SA" altLang="en-US" sz="1350" dirty="0">
                <a:solidFill>
                  <a:srgbClr val="5A6472"/>
                </a:solidFill>
                <a:latin typeface="Amiri" pitchFamily="2" charset="-78"/>
                <a:cs typeface="Amiri" pitchFamily="2" charset="-78"/>
              </a:rPr>
              <a:t>سَـ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اسْتَمَرَّ الاحْتِرَارُ، سَتَتَبَيَّضُ الشِّعَابُ وَتَمُوتُ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لَوْ</a:t>
            </a:r>
            <a:pPr algn="l" indent="0" marL="0">
              <a:buNone/>
            </a:pPr>
            <a:r>
              <a:rPr lang="en-US" sz="1050" dirty="0">
                <a:solidFill>
                  <a:srgbClr val="5A6472"/>
                </a:solidFill>
                <a:latin typeface="Calibri" pitchFamily="34" charset="0"/>
                <a:cs typeface="Amiri" pitchFamily="2" charset="-78"/>
              </a:rPr>
              <a:t> + past → </a:t>
            </a:r>
            <a:pPr algn="l" indent="0" marL="0">
              <a:buNone/>
            </a:pPr>
            <a:r>
              <a:rPr lang="ar-SA" altLang="en-US" sz="1350" dirty="0">
                <a:solidFill>
                  <a:srgbClr val="5A6472"/>
                </a:solidFill>
                <a:latin typeface="Amiri" pitchFamily="2" charset="-78"/>
                <a:cs typeface="Amiri" pitchFamily="2" charset="-78"/>
              </a:rPr>
              <a:t>لَـ</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كَانَتِ الحِمَايَةُ أَصْرَمَ سَابِقًا، لَكَانَتِ الشِّعَابُ أَفْضَلَ حَالًا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تَحْتَاجُ المِنْطَقَةُ إِلَى تَعَاوُنٍ لِكَيْ تَحْمِيَ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غَابَةٌ اسْتِوَائِيٌّ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اسْتِوَائِيَّةٌ غَابَةٌ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غَابَةٌ اسْتِوَائِيَّةٌ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“biodiversity”?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تَنَوُّعٌ حَيَوِيٌّ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تَوَازُنٌ بِيئِيٌّ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انْقِرَاضٌ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بِآلَافِ الأَنْوَاعِ.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آلَافَ الأَنْوَاعِ.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لِآلَافِ الأَنْوَاعِ.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يَتَفَاعَلُ كُلُّ عُنْصُرٍ ___ العَنَاصِرِ الأُخْرَى.</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غَابَةٌ اسْتِوَائِيٌّ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اسْتِوَائِيَّةٌ غَابَةٌ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غَابَةٌ اسْتِوَائِيَّةٌ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غَابَة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 and the describing word comes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“biodiversity”?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تَنَوُّعٌ حَيَوِيٌّ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تَوَازُنٌ بِيئِيٌّ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انْقِرَاضٌ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تَنَوُّعٌ حَيَوِيٌّ</a:t>
            </a:r>
            <a:pPr algn="l" indent="0" marL="0">
              <a:buNone/>
            </a:pPr>
            <a:r>
              <a:rPr lang="en-US" sz="1050" i="1" dirty="0">
                <a:solidFill>
                  <a:srgbClr val="8A6D1E"/>
                </a:solidFill>
                <a:latin typeface="Calibri" pitchFamily="34" charset="0"/>
                <a:cs typeface="Amiri" pitchFamily="2" charset="-78"/>
              </a:rPr>
              <a:t> = biodiversity (</a:t>
            </a:r>
            <a:pPr algn="l" indent="0" marL="0">
              <a:buNone/>
            </a:pPr>
            <a:r>
              <a:rPr lang="ar-SA" altLang="en-US" sz="1350" dirty="0">
                <a:solidFill>
                  <a:srgbClr val="8A6D1E"/>
                </a:solidFill>
                <a:latin typeface="Amiri" pitchFamily="2" charset="-78"/>
                <a:cs typeface="Amiri" pitchFamily="2" charset="-78"/>
              </a:rPr>
              <a:t>حَيَاة</a:t>
            </a:r>
            <a:pPr algn="l" indent="0" marL="0">
              <a:buNone/>
            </a:pPr>
            <a:r>
              <a:rPr lang="en-US" sz="1050" i="1" dirty="0">
                <a:solidFill>
                  <a:srgbClr val="8A6D1E"/>
                </a:solidFill>
                <a:latin typeface="Calibri" pitchFamily="34" charset="0"/>
                <a:cs typeface="Amiri" pitchFamily="2" charset="-78"/>
              </a:rPr>
              <a:t> = life).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تَضُمُّ الغَابَةُ بِآلَافِ الأَنْوَاعِ.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تَضُمُّ الغَابَةُ آلَافَ الأَنْوَاعِ.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تَضُمُّ الغَابَةُ لِآلَافِ الأَنْوَاعِ.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يَتَفَاعَلُ كُلُّ عُنْصُرٍ ___ العَنَاصِرِ الأُخْرَى.</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describe a natural place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البَحْرُ</a:t>
            </a:r>
            <a:pPr rtl="1" algn="ctr" indent="0" marL="0">
              <a:buNone/>
            </a:pPr>
            <a:r>
              <a:rPr lang="ar-SA" altLang="en-US" sz="2800" b="1" dirty="0">
                <a:solidFill>
                  <a:srgbClr val="1B3B6F"/>
                </a:solidFill>
                <a:latin typeface="Amiri" pitchFamily="2" charset="-78"/>
                <a:cs typeface="Amiri" pitchFamily="2" charset="-78"/>
              </a:rPr>
              <a:t> الأَحْمَرُ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بَحْر</a:t>
            </a:r>
            <a:pPr algn="l" indent="0" marL="0">
              <a:buNone/>
            </a:pPr>
            <a:r>
              <a:rPr lang="en-US" sz="1150" dirty="0">
                <a:solidFill>
                  <a:srgbClr val="1F2A37"/>
                </a:solidFill>
                <a:latin typeface="Calibri" pitchFamily="34" charset="0"/>
                <a:cs typeface="Amiri" pitchFamily="2" charset="-78"/>
              </a:rPr>
              <a:t> = sea. </a:t>
            </a:r>
            <a:pPr algn="l" indent="0" marL="0">
              <a:buNone/>
            </a:pPr>
            <a:r>
              <a:rPr lang="ar-SA" altLang="en-US" sz="1500" dirty="0">
                <a:solidFill>
                  <a:srgbClr val="1F2A37"/>
                </a:solidFill>
                <a:latin typeface="Amiri" pitchFamily="2" charset="-78"/>
                <a:cs typeface="Amiri" pitchFamily="2" charset="-78"/>
              </a:rPr>
              <a:t>الأَحْمَرُ</a:t>
            </a:r>
            <a:pPr algn="l" indent="0" marL="0">
              <a:buNone/>
            </a:pPr>
            <a:r>
              <a:rPr lang="en-US" sz="1150" dirty="0">
                <a:solidFill>
                  <a:srgbClr val="1F2A37"/>
                </a:solidFill>
                <a:latin typeface="Calibri" pitchFamily="34" charset="0"/>
                <a:cs typeface="Amiri" pitchFamily="2" charset="-78"/>
              </a:rPr>
              <a:t> (red) agrees: </a:t>
            </a:r>
            <a:pPr algn="l" indent="0" marL="0">
              <a:buNone/>
            </a:pPr>
            <a:r>
              <a:rPr lang="ar-SA" altLang="en-US" sz="1500" dirty="0">
                <a:solidFill>
                  <a:srgbClr val="1F2A37"/>
                </a:solidFill>
                <a:latin typeface="Amiri" pitchFamily="2" charset="-78"/>
                <a:cs typeface="Amiri" pitchFamily="2" charset="-78"/>
              </a:rPr>
              <a:t>ال</a:t>
            </a:r>
            <a:pPr algn="l" indent="0" marL="0">
              <a:buNone/>
            </a:pPr>
            <a:r>
              <a:rPr lang="en-US" sz="1150" dirty="0">
                <a:solidFill>
                  <a:srgbClr val="1F2A37"/>
                </a:solidFill>
                <a:latin typeface="Calibri" pitchFamily="34" charset="0"/>
                <a:cs typeface="Amiri" pitchFamily="2" charset="-78"/>
              </a:rPr>
              <a:t> +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بَيْنَ آسِيَا وَأَفْرِيقِيَا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بَيْنَ</a:t>
            </a:r>
            <a:pPr algn="l" indent="0" marL="0">
              <a:buNone/>
            </a:pPr>
            <a:r>
              <a:rPr lang="en-US" sz="1150" dirty="0">
                <a:solidFill>
                  <a:srgbClr val="1F2A37"/>
                </a:solidFill>
                <a:latin typeface="Calibri" pitchFamily="34" charset="0"/>
                <a:cs typeface="Amiri" pitchFamily="2" charset="-78"/>
              </a:rPr>
              <a:t> = between. Recycle the continents from TC-L01.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does it include?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يَضُمُّ</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1D5FBF"/>
                </a:solidFill>
                <a:latin typeface="Amiri" pitchFamily="2" charset="-78"/>
                <a:cs typeface="Amiri" pitchFamily="2" charset="-78"/>
              </a:rPr>
              <a:t>شِعَابًا</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7B3FA0"/>
                </a:solidFill>
                <a:latin typeface="Amiri" pitchFamily="2" charset="-78"/>
                <a:cs typeface="Amiri" pitchFamily="2" charset="-78"/>
              </a:rPr>
              <a:t>مَرْجَانِ</a:t>
            </a:r>
            <a:pPr rtl="1" algn="ctr" indent="0" marL="0">
              <a:buNone/>
            </a:pPr>
            <a:r>
              <a:rPr lang="ar-SA" altLang="en-US" sz="2800" b="1" dirty="0">
                <a:solidFill>
                  <a:srgbClr val="D6336C"/>
                </a:solidFill>
                <a:latin typeface="Amiri" pitchFamily="2" charset="-78"/>
                <a:cs typeface="Amiri" pitchFamily="2" charset="-78"/>
              </a:rPr>
              <a:t>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يَضُمُّ</a:t>
            </a:r>
            <a:pPr algn="l" indent="0" marL="0">
              <a:buNone/>
            </a:pPr>
            <a:r>
              <a:rPr lang="en-US" sz="1150" dirty="0">
                <a:solidFill>
                  <a:srgbClr val="1F2A37"/>
                </a:solidFill>
                <a:latin typeface="Calibri" pitchFamily="34" charset="0"/>
                <a:cs typeface="Amiri" pitchFamily="2" charset="-78"/>
              </a:rPr>
              <a:t> + object (no </a:t>
            </a:r>
            <a:pPr algn="l" indent="0" marL="0">
              <a:buNone/>
            </a:pPr>
            <a:r>
              <a:rPr lang="ar-SA" altLang="en-US" sz="1500" dirty="0">
                <a:solidFill>
                  <a:srgbClr val="1F2A37"/>
                </a:solidFill>
                <a:latin typeface="Amiri" pitchFamily="2" charset="-78"/>
                <a:cs typeface="Amiri" pitchFamily="2" charset="-78"/>
              </a:rPr>
              <a:t>بِـ</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cs typeface="Amiri" pitchFamily="2" charset="-78"/>
              </a:rPr>
              <a:t>شِعَاب</a:t>
            </a:r>
            <a:pPr algn="l" indent="0" marL="0">
              <a:buNone/>
            </a:pPr>
            <a:r>
              <a:rPr lang="en-US" sz="1150" dirty="0">
                <a:solidFill>
                  <a:srgbClr val="1F2A37"/>
                </a:solidFill>
                <a:latin typeface="Calibri" pitchFamily="34" charset="0"/>
                <a:cs typeface="Amiri" pitchFamily="2" charset="-78"/>
              </a:rPr>
              <a:t> = plural of things → </a:t>
            </a:r>
            <a:pPr algn="l" indent="0" marL="0">
              <a:buNone/>
            </a:pPr>
            <a:r>
              <a:rPr lang="ar-SA" altLang="en-US" sz="1500" dirty="0">
                <a:solidFill>
                  <a:srgbClr val="1F2A37"/>
                </a:solidFill>
                <a:latin typeface="Amiri" pitchFamily="2" charset="-78"/>
                <a:cs typeface="Amiri" pitchFamily="2" charset="-78"/>
              </a:rPr>
              <a:t>ـِيَّة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 animals live there?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تَعِيشُ فِيهِ أَسْمَاكٌ كَثِيرَةٌ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تَعِيشُ</a:t>
            </a:r>
            <a:pPr algn="l" indent="0" marL="0">
              <a:buNone/>
            </a:pPr>
            <a:r>
              <a:rPr lang="en-US" sz="1150" dirty="0">
                <a:solidFill>
                  <a:srgbClr val="1F2A37"/>
                </a:solidFill>
                <a:latin typeface="Calibri" pitchFamily="34" charset="0"/>
                <a:cs typeface="Amiri" pitchFamily="2" charset="-78"/>
              </a:rPr>
              <a:t> = (they) live — from the website game.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MEANING</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D5FBF"/>
                </a:solidFill>
                <a:latin typeface="Amiri" pitchFamily="2" charset="-78"/>
                <a:cs typeface="Amiri" pitchFamily="2" charset="-78"/>
              </a:rPr>
              <a:t>البَحْرُ</a:t>
            </a:r>
            <a:pPr rtl="1" algn="r" indent="0" marL="0">
              <a:buNone/>
            </a:pPr>
            <a:r>
              <a:rPr lang="ar-SA" altLang="en-US" sz="2600" b="1" dirty="0">
                <a:solidFill>
                  <a:srgbClr val="1B3B6F"/>
                </a:solidFill>
                <a:latin typeface="Amiri" pitchFamily="2" charset="-78"/>
                <a:cs typeface="Amiri" pitchFamily="2" charset="-78"/>
              </a:rPr>
              <a:t> الأَحْمَرُ بَيْنَ آسِيَا وَأَفْرِيقِيَا. </a:t>
            </a:r>
            <a:pPr rtl="1" algn="r" indent="0" marL="0">
              <a:buNone/>
            </a:pPr>
            <a:r>
              <a:rPr lang="ar-SA" altLang="en-US" sz="2600" b="1" dirty="0">
                <a:solidFill>
                  <a:srgbClr val="0E7C86"/>
                </a:solidFill>
                <a:latin typeface="Amiri" pitchFamily="2" charset="-78"/>
                <a:cs typeface="Amiri" pitchFamily="2" charset="-78"/>
              </a:rPr>
              <a:t>يَضُمُّ</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1D5FBF"/>
                </a:solidFill>
                <a:latin typeface="Amiri" pitchFamily="2" charset="-78"/>
                <a:cs typeface="Amiri" pitchFamily="2" charset="-78"/>
              </a:rPr>
              <a:t>شِعَابًا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7B3FA0"/>
                </a:solidFill>
                <a:latin typeface="Amiri" pitchFamily="2" charset="-78"/>
                <a:cs typeface="Amiri" pitchFamily="2" charset="-78"/>
              </a:rPr>
              <a:t>مَرْجَانِ</a:t>
            </a:r>
            <a:pPr rtl="1" algn="r" indent="0" marL="0">
              <a:buNone/>
            </a:pPr>
            <a:r>
              <a:rPr lang="ar-SA" altLang="en-US" sz="2600" b="1" dirty="0">
                <a:solidFill>
                  <a:srgbClr val="D6336C"/>
                </a:solidFill>
                <a:latin typeface="Amiri" pitchFamily="2" charset="-78"/>
                <a:cs typeface="Amiri" pitchFamily="2" charset="-78"/>
              </a:rPr>
              <a:t>يَّةً</a:t>
            </a:r>
            <a:pPr rtl="1" algn="r" indent="0" marL="0">
              <a:buNone/>
            </a:pPr>
            <a:r>
              <a:rPr lang="ar-SA" altLang="en-US" sz="2600" b="1" dirty="0">
                <a:solidFill>
                  <a:srgbClr val="1B3B6F"/>
                </a:solidFill>
                <a:latin typeface="Amiri" pitchFamily="2" charset="-78"/>
                <a:cs typeface="Amiri" pitchFamily="2" charset="-78"/>
              </a:rPr>
              <a:t>، وَتَعِيشُ فِيهِ أَسْمَاكٌ كَثِيرَةٌ.</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Red Sea is between Asia and Africa. It includes coral reefs, and many fish live in it.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تَعِيشُ الأَسْمَاكُ فِي البَحْرِ.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Fish live in the sea.</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تَعِيشُ المَاعِزُ فِي المَنَاطِقِ </a:t>
            </a:r>
            <a:pPr rtl="1" algn="r" indent="0" marL="0">
              <a:buNone/>
            </a:pPr>
            <a:r>
              <a:rPr lang="ar-SA" altLang="en-US" sz="2600" b="1" dirty="0">
                <a:solidFill>
                  <a:srgbClr val="7B3FA0"/>
                </a:solidFill>
                <a:latin typeface="Amiri" pitchFamily="2" charset="-78"/>
                <a:cs typeface="Amiri" pitchFamily="2" charset="-78"/>
              </a:rPr>
              <a:t>الجَبَلِ</a:t>
            </a:r>
            <a:pPr rtl="1" algn="r" indent="0" marL="0">
              <a:buNone/>
            </a:pPr>
            <a:r>
              <a:rPr lang="ar-SA" altLang="en-US" sz="2600" b="1" dirty="0">
                <a:solidFill>
                  <a:srgbClr val="D6336C"/>
                </a:solidFill>
                <a:latin typeface="Amiri" pitchFamily="2" charset="-78"/>
                <a:cs typeface="Amiri" pitchFamily="2" charset="-78"/>
              </a:rPr>
              <a:t>يَّةِ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Goats live in mountainous areas.</a:t>
            </a:r>
            <a:endParaRPr lang="en-US" sz="1250" dirty="0"/>
          </a:p>
          <a:p>
            <a:pPr indent="0" marL="0">
              <a:buNone/>
            </a:pPr>
            <a:r>
              <a:rPr lang="en-US" sz="1050" i="1" dirty="0">
                <a:solidFill>
                  <a:srgbClr val="8A6D1E"/>
                </a:solidFill>
                <a:latin typeface="Calibri" pitchFamily="34" charset="0"/>
                <a:cs typeface="Amiri" pitchFamily="2" charset="-78"/>
              </a:rPr>
              <a:t>جَبَل → جَبَلِيَّة: the nisba again.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cs typeface="Amiri" pitchFamily="2" charset="-78"/>
              </a:rPr>
              <a:t>تَضُمُّ الشِّعَابُ المَرْجَانِيَّةُ فِي البَحْرِ الأَحْمَرِ أَلْفَ نَوْعٍ مِنَ الأَسْمَاكِ.</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coral reefs in the Red Sea include a thousand species of fish.</a:t>
            </a:r>
            <a:endParaRPr lang="en-US" sz="1250" dirty="0"/>
          </a:p>
          <a:p>
            <a:pPr indent="0" marL="0">
              <a:buNone/>
            </a:pPr>
            <a:r>
              <a:rPr lang="en-US" sz="1050" i="1" dirty="0">
                <a:solidFill>
                  <a:srgbClr val="8A6D1E"/>
                </a:solidFill>
                <a:latin typeface="Calibri" pitchFamily="34" charset="0"/>
                <a:cs typeface="Amiri" pitchFamily="2" charset="-78"/>
              </a:rPr>
              <a:t>يَضُمُّ takes a direct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تَحْتَاجُ الدُّوَلُ إِلَى تَعَاوُنٍ لِكَيْ تَحْمِيَ هٰذَا الإِرْثَ الطَّبِيعِيَّ.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Countries need cooperation so that they protect this natural heritage.</a:t>
            </a:r>
            <a:endParaRPr lang="en-US" sz="1250" dirty="0"/>
          </a:p>
          <a:p>
            <a:pPr indent="0" marL="0">
              <a:buNone/>
            </a:pPr>
            <a:r>
              <a:rPr lang="en-US" sz="1050" i="1" dirty="0">
                <a:solidFill>
                  <a:srgbClr val="8A6D1E"/>
                </a:solidFill>
                <a:latin typeface="Calibri" pitchFamily="34" charset="0"/>
                <a:cs typeface="Amiri" pitchFamily="2" charset="-78"/>
              </a:rPr>
              <a:t>لِكَيْ + subjunctive تَحْمِيَ.</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“NATURE SCENE”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تَعِيشُ الأَسْمَاكُ فِي الْبَحْرِ.</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الصَّحْرَاءِ نَبَاتَاتٌ تَتَحَمَّلُ الْجَفَافَ.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تَعِيشُ الْمَاعِزُ فِي الْمَنَاطِقِ الْجَبَلِيَّةِ.</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تَعِيشُ الْمَاعِزُ فِي الْمَنَاطِقِ الْجَبَلِيَّةِ.</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Goats live in mountainous areas.</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تَعِيشُ الأَسْمَاكُ فِي الْبَحْرِ.</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Fish live in the sea.</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فِي الصَّحْرَاءِ نَبَاتَاتٌ تَتَحَمَّلُ الْجَفَافَ.</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the desert there are plants that tolerate drought.</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CHALLENGE “LANDSCAPE CLASSIFICATION”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 animal or ecosystem?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جَبَلٌ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نِظَامٌ بِيئِيٌّ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صَحْرَاءُ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شِعَابٌ مَرْجَانِيَّةٌ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نَهْرٌ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سِلْسِلَةٌ غِذَائِيَّةٌ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Landscape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Animal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Ecosystem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Landscape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جَبَلٌ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صَحْرَاءُ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نَهْرٌ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Animal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Ecosystem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نِظَامٌ بِيئِيٌّ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شِعَابٌ مَرْجَانِيَّةٌ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سِلْسِلَةٌ غِذَائِيَّةٌ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tropical rainforest is a natural habitat.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البَحْرُ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الغَابَةُ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الاسْتِوَائِيَّةُ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الاسْتِوَائِيُّ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مَوْطِنٌ طَبِيعِيَّةٌ.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مَوْطِنٌ طَبِيعِيٌّ.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Red Sea includes coral reefs.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يَضُمُّ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يَعْتَمِدُ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البَحْرُ الأَحْمَرُ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الصَّحْرَاءُ</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بِشِعَابٍ مَرْجَانِيَّةٍ.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شِعَابًا مَرْجَانِيَّةً.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Each element interacts with the other elements.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يُشَكِّلُ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يَتَفَاعَلُ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 عُنْصُرٍ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 عُنْصُرًا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عَلَى العَنَاصِرِ الأُخْرَى.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مَعَ العَنَاصِرِ الأُخْرَى.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tropical rainforest is a natural habitat.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غَابَة</a:t>
            </a:r>
            <a:pPr algn="l" indent="0" marL="0">
              <a:buNone/>
            </a:pPr>
            <a:r>
              <a:rPr lang="en-US" sz="1050" i="1" dirty="0">
                <a:solidFill>
                  <a:srgbClr val="5A6472"/>
                </a:solidFill>
                <a:latin typeface="Calibri" pitchFamily="34" charset="0"/>
                <a:cs typeface="Amiri" pitchFamily="2" charset="-78"/>
              </a:rPr>
              <a:t> is f. → </a:t>
            </a:r>
            <a:pPr algn="l" indent="0" marL="0">
              <a:buNone/>
            </a:pPr>
            <a:r>
              <a:rPr lang="ar-SA" altLang="en-US" sz="1350" dirty="0">
                <a:solidFill>
                  <a:srgbClr val="5A6472"/>
                </a:solidFill>
                <a:latin typeface="Amiri" pitchFamily="2" charset="-78"/>
                <a:cs typeface="Amiri" pitchFamily="2" charset="-78"/>
              </a:rPr>
              <a:t>الاسْتِوَائِيَّةُ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cs typeface="Amiri" pitchFamily="2" charset="-78"/>
              </a:rPr>
              <a:t>مَوْطِن</a:t>
            </a:r>
            <a:pPr algn="l" indent="0" marL="0">
              <a:buNone/>
            </a:pPr>
            <a:r>
              <a:rPr lang="en-US" sz="1050" i="1" dirty="0">
                <a:solidFill>
                  <a:srgbClr val="5A6472"/>
                </a:solidFill>
                <a:latin typeface="Calibri" pitchFamily="34" charset="0"/>
                <a:cs typeface="Amiri" pitchFamily="2" charset="-78"/>
              </a:rPr>
              <a:t> is m. → </a:t>
            </a:r>
            <a:pPr algn="l" indent="0" marL="0">
              <a:buNone/>
            </a:pPr>
            <a:r>
              <a:rPr lang="ar-SA" altLang="en-US" sz="1350" dirty="0">
                <a:solidFill>
                  <a:srgbClr val="5A6472"/>
                </a:solidFill>
                <a:latin typeface="Amiri" pitchFamily="2" charset="-78"/>
                <a:cs typeface="Amiri" pitchFamily="2" charset="-78"/>
              </a:rPr>
              <a:t>طَبِيعِيٌّ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الغَابَةُ الاسْتِوَائِيَّةُ مَوْطِنٌ طَبِيعِيٌّ.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Red Sea includes coral reefs.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يَضُمُّ</a:t>
            </a:r>
            <a:pPr algn="l" indent="0" marL="0">
              <a:buNone/>
            </a:pPr>
            <a:r>
              <a:rPr lang="en-US" sz="1050" i="1" dirty="0">
                <a:solidFill>
                  <a:srgbClr val="5A6472"/>
                </a:solidFill>
                <a:latin typeface="Calibri" pitchFamily="34" charset="0"/>
                <a:cs typeface="Amiri" pitchFamily="2" charset="-78"/>
              </a:rPr>
              <a:t> takes a direct object — no </a:t>
            </a:r>
            <a:pPr algn="l" indent="0" marL="0">
              <a:buNone/>
            </a:pPr>
            <a:r>
              <a:rPr lang="ar-SA" altLang="en-US" sz="1350" dirty="0">
                <a:solidFill>
                  <a:srgbClr val="5A6472"/>
                </a:solidFill>
                <a:latin typeface="Amiri" pitchFamily="2" charset="-78"/>
                <a:cs typeface="Amiri" pitchFamily="2" charset="-78"/>
              </a:rPr>
              <a:t>بِـ</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يَضُمُّ البَحْرُ الأَحْمَرُ شِعَابًا مَرْجَانِيَّةً.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Each element interacts with the other elements.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يَتَفَاعَلُ</a:t>
            </a:r>
            <a:pPr algn="l" indent="0" marL="0">
              <a:buNone/>
            </a:pPr>
            <a:r>
              <a:rPr lang="en-US" sz="1050" i="1" dirty="0">
                <a:solidFill>
                  <a:srgbClr val="5A6472"/>
                </a:solidFill>
                <a:latin typeface="Calibri" pitchFamily="34" charset="0"/>
                <a:cs typeface="Amiri" pitchFamily="2" charset="-78"/>
              </a:rPr>
              <a:t> is fixed with </a:t>
            </a:r>
            <a:pPr algn="l" indent="0" marL="0">
              <a:buNone/>
            </a:pPr>
            <a:r>
              <a:rPr lang="ar-SA" altLang="en-US" sz="1350" dirty="0">
                <a:solidFill>
                  <a:srgbClr val="5A6472"/>
                </a:solidFill>
                <a:latin typeface="Amiri" pitchFamily="2" charset="-78"/>
                <a:cs typeface="Amiri" pitchFamily="2" charset="-78"/>
              </a:rPr>
              <a:t>مَعَ</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يَتَفَاعَلُ كُلُّ عُنْصُرٍ مَعَ العَنَاصِرِ الأُخْرَى.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5, 8, 3, 4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نَحْتَاجُ إِلَى قَوَانِينَ لِكَيْ ___ الغَابَاتِ.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نَحْمِيهَا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اسْتَمَرَّ الاحْتِرَارُ، لَتَبَيَّضَتِ الشِّعَابُ.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اسْتَمَرَّ الاحْتِرَارُ، سَتَتَبَيَّضُ الشِّعَابُ.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 الاحْتِرَارُ.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صَارَتِ الحِمَايَةُ أَصْرَمَ، سَتَتَحَسَّنُ الشِّعَابُ.</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تُحْمَى الشِّعَابُ.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كَانَتِ الحِمَايَةُ أَصْرَمَ، لَكَانَتِ الشِّعَابُ أَفْضَلَ.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نَحْتَاجُ إِلَى قَوَانِينَ لِكَيْ ___ الغَابَاتِ.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نَحْمِي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نَحْمِيهَا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نَحْمِيَ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اسْتَمَرَّ الاحْتِرَارُ، لَتَبَيَّضَتِ الشِّعَابُ.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اسْتَمَرَّ الاحْتِرَارُ، سَتَتَبَيَّضُ الشِّعَابُ.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يَسْتَمِرُّ الاحْتِرَارُ.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likely consequence.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صَارَتِ الحِمَايَةُ أَصْرَمَ، سَتَتَحَسَّنُ الشِّعَابُ.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تُحْمَى الشِّعَابُ.</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كَانَتِ الحِمَايَةُ أَصْرَمَ، لَكَانَتِ الشِّعَابُ أَفْضَلَ.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Look at the last vowel of the verb after </a:t>
            </a:r>
            <a:pPr algn="l" indent="0" marL="0">
              <a:buNone/>
            </a:pPr>
            <a:r>
              <a:rPr lang="ar-SA" altLang="en-US" sz="1700" dirty="0">
                <a:solidFill>
                  <a:srgbClr val="5A6472"/>
                </a:solidFill>
                <a:latin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Does </a:t>
            </a:r>
            <a:pPr algn="l" indent="0" marL="0">
              <a:buNone/>
            </a:pPr>
            <a:r>
              <a:rPr lang="ar-SA" altLang="en-US" sz="1700" dirty="0">
                <a:solidFill>
                  <a:srgbClr val="5A6472"/>
                </a:solidFill>
                <a:latin typeface="Amiri" pitchFamily="2" charset="-78"/>
                <a:cs typeface="Amiri" pitchFamily="2" charset="-78"/>
              </a:rPr>
              <a:t>يَضُمُّ</a:t>
            </a:r>
            <a:pPr algn="l" indent="0" marL="0">
              <a:buNone/>
            </a:pPr>
            <a:r>
              <a:rPr lang="en-US" sz="1300" i="1" dirty="0">
                <a:solidFill>
                  <a:srgbClr val="5A6472"/>
                </a:solidFill>
                <a:latin typeface="Calibri" pitchFamily="34" charset="0"/>
                <a:cs typeface="Amiri" pitchFamily="2" charset="-78"/>
              </a:rPr>
              <a:t> need </a:t>
            </a:r>
            <a:pPr algn="l" indent="0" marL="0">
              <a:buNone/>
            </a:pPr>
            <a:r>
              <a:rPr lang="ar-SA" altLang="en-US" sz="1700" dirty="0">
                <a:solidFill>
                  <a:srgbClr val="5A6472"/>
                </a:solidFill>
                <a:latin typeface="Amiri" pitchFamily="2" charset="-78"/>
                <a:cs typeface="Amiri" pitchFamily="2" charset="-78"/>
              </a:rPr>
              <a:t>بِـ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cs typeface="Amiri" pitchFamily="2" charset="-78"/>
              </a:rPr>
              <a:t>لَوْ</a:t>
            </a:r>
            <a:pPr algn="l" indent="0" marL="0">
              <a:buNone/>
            </a:pPr>
            <a:r>
              <a:rPr lang="en-US" sz="1300" i="1" dirty="0">
                <a:solidFill>
                  <a:srgbClr val="5A6472"/>
                </a:solidFill>
                <a:latin typeface="Calibri" pitchFamily="34" charset="0"/>
                <a:cs typeface="Amiri" pitchFamily="2" charset="-78"/>
              </a:rPr>
              <a:t>, which result word: </a:t>
            </a:r>
            <a:pPr algn="l" indent="0" marL="0">
              <a:buNone/>
            </a:pPr>
            <a:r>
              <a:rPr lang="ar-SA" altLang="en-US" sz="1700" dirty="0">
                <a:solidFill>
                  <a:srgbClr val="5A6472"/>
                </a:solidFill>
                <a:latin typeface="Amiri" pitchFamily="2" charset="-78"/>
                <a:cs typeface="Amiri" pitchFamily="2" charset="-78"/>
              </a:rPr>
              <a:t>سَـ</a:t>
            </a:r>
            <a:pPr algn="l" indent="0" marL="0">
              <a:buNone/>
            </a:pPr>
            <a:r>
              <a:rPr lang="en-US" sz="1300" i="1" dirty="0">
                <a:solidFill>
                  <a:srgbClr val="5A6472"/>
                </a:solidFill>
                <a:latin typeface="Calibri" pitchFamily="34" charset="0"/>
                <a:cs typeface="Amiri" pitchFamily="2" charset="-78"/>
              </a:rPr>
              <a:t> or </a:t>
            </a:r>
            <a:pPr algn="l" indent="0" marL="0">
              <a:buNone/>
            </a:pPr>
            <a:r>
              <a:rPr lang="ar-SA" altLang="en-US" sz="1700" dirty="0">
                <a:solidFill>
                  <a:srgbClr val="5A6472"/>
                </a:solidFill>
                <a:latin typeface="Amiri" pitchFamily="2" charset="-78"/>
                <a:cs typeface="Amiri" pitchFamily="2" charset="-78"/>
              </a:rPr>
              <a:t>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يَضُمُّ</a:t>
            </a:r>
            <a:pPr algn="l" indent="0" marL="0">
              <a:buNone/>
            </a:pPr>
            <a:r>
              <a:rPr lang="en-US" sz="1150" b="1" dirty="0">
                <a:solidFill>
                  <a:srgbClr val="1B3B6F"/>
                </a:solidFill>
                <a:latin typeface="Calibri" pitchFamily="34" charset="0"/>
                <a:cs typeface="Amiri" pitchFamily="2" charset="-78"/>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Core: questions 1–2 — listen for </a:t>
            </a:r>
            <a:pPr algn="l" indent="0" marL="0">
              <a:lnSpc>
                <a:spcPct val="115000"/>
              </a:lnSpc>
              <a:buNone/>
            </a:pPr>
            <a:r>
              <a:rPr lang="ar-SA" altLang="en-US" sz="1650" dirty="0">
                <a:solidFill>
                  <a:srgbClr val="1E6B52"/>
                </a:solidFill>
                <a:latin typeface="Amiri" pitchFamily="2" charset="-78"/>
                <a:cs typeface="Amiri" pitchFamily="2" charset="-78"/>
              </a:rPr>
              <a:t>يَضُمُّ</a:t>
            </a:r>
            <a:pPr algn="l" indent="0" marL="0">
              <a:lnSpc>
                <a:spcPct val="115000"/>
              </a:lnSpc>
              <a:buNone/>
            </a:pPr>
            <a:r>
              <a:rPr lang="en-US" sz="1250" dirty="0">
                <a:solidFill>
                  <a:srgbClr val="1E6B52"/>
                </a:solidFill>
                <a:latin typeface="Calibri" pitchFamily="34" charset="0"/>
                <a:cs typeface="Amiri" pitchFamily="2" charset="-78"/>
              </a:rPr>
              <a:t> (includes), </a:t>
            </a:r>
            <a:pPr algn="l" indent="0" marL="0">
              <a:lnSpc>
                <a:spcPct val="115000"/>
              </a:lnSpc>
              <a:buNone/>
            </a:pPr>
            <a:r>
              <a:rPr lang="ar-SA" altLang="en-US" sz="1650" dirty="0">
                <a:solidFill>
                  <a:srgbClr val="1E6B52"/>
                </a:solidFill>
                <a:latin typeface="Amiri" pitchFamily="2" charset="-78"/>
                <a:cs typeface="Amiri" pitchFamily="2" charset="-78"/>
              </a:rPr>
              <a:t>يُشَكِّلُ</a:t>
            </a:r>
            <a:pPr algn="l" indent="0" marL="0">
              <a:lnSpc>
                <a:spcPct val="115000"/>
              </a:lnSpc>
              <a:buNone/>
            </a:pPr>
            <a:r>
              <a:rPr lang="en-US" sz="1250" dirty="0">
                <a:solidFill>
                  <a:srgbClr val="1E6B52"/>
                </a:solidFill>
                <a:latin typeface="Calibri" pitchFamily="34" charset="0"/>
                <a:cs typeface="Amiri" pitchFamily="2" charset="-78"/>
              </a:rPr>
              <a:t> (forms), </a:t>
            </a:r>
            <a:pPr algn="l" indent="0" marL="0">
              <a:lnSpc>
                <a:spcPct val="115000"/>
              </a:lnSpc>
              <a:buNone/>
            </a:pPr>
            <a:r>
              <a:rPr lang="ar-SA" altLang="en-US" sz="1650" dirty="0">
                <a:solidFill>
                  <a:srgbClr val="1E6B52"/>
                </a:solidFill>
                <a:latin typeface="Amiri" pitchFamily="2" charset="-78"/>
                <a:cs typeface="Amiri" pitchFamily="2" charset="-78"/>
              </a:rPr>
              <a:t>شِعَاب</a:t>
            </a:r>
            <a:pPr algn="l" indent="0" marL="0">
              <a:lnSpc>
                <a:spcPct val="115000"/>
              </a:lnSpc>
              <a:buNone/>
            </a:pPr>
            <a:r>
              <a:rPr lang="en-US" sz="1250" dirty="0">
                <a:solidFill>
                  <a:srgbClr val="1E6B52"/>
                </a:solidFill>
                <a:latin typeface="Calibri" pitchFamily="34" charset="0"/>
                <a:cs typeface="Amiri" pitchFamily="2" charset="-78"/>
              </a:rPr>
              <a:t> (reefs) and </a:t>
            </a:r>
            <a:pPr algn="l" indent="0" marL="0">
              <a:lnSpc>
                <a:spcPct val="115000"/>
              </a:lnSpc>
              <a:buNone/>
            </a:pPr>
            <a:r>
              <a:rPr lang="ar-SA" altLang="en-US" sz="1650" dirty="0">
                <a:solidFill>
                  <a:srgbClr val="1E6B52"/>
                </a:solidFill>
                <a:latin typeface="Amiri" pitchFamily="2" charset="-78"/>
                <a:cs typeface="Amiri" pitchFamily="2" charset="-78"/>
              </a:rPr>
              <a:t>أَسْمَاك</a:t>
            </a:r>
            <a:pPr algn="l" indent="0" marL="0">
              <a:lnSpc>
                <a:spcPct val="115000"/>
              </a:lnSpc>
              <a:buNone/>
            </a:pPr>
            <a:r>
              <a:rPr lang="en-US" sz="1250" dirty="0">
                <a:solidFill>
                  <a:srgbClr val="1E6B52"/>
                </a:solidFill>
                <a:latin typeface="Calibri" pitchFamily="34" charset="0"/>
                <a:cs typeface="Amiri" pitchFamily="2" charset="-78"/>
              </a:rPr>
              <a:t> (fish).</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يَقَعُ البَحْرُ الأَحْمَرُ بَيْنَ شِبْهِ الجَزِيرَةِ العَرَبِيَّةِ وَشَمَالِ أَفْرِيقِيَا.</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 Sea lies between the Arabian Peninsula and North Africa.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يَضُمُّ هٰذَا البَحْرُ شِعَابًا مَرْجَانِيَّةً مِنْ أَغْنَى النُّظُمِ البِيئِيَّةِ البَحْرِيَّةِ فِي العَالَمِ.</a:t>
            </a:r>
            <a:endParaRPr lang="ar-SA" sz="19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sea includes coral reefs that are among the richest marine ecosystems in the world.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يُشَكِّلُ المَرْجَانُ بِيئَةً لَا غِنَى عَنْهَا لِآلَافِ الأَسْمَاكِ.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Coral forms an environment that thousands of fish cannot do without.</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غَيْرَ أَنَّ الاحْتِرَارَ يُهَدِّدُ هٰذَا التَّوَازُنَ.</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(global) warming threatens this balance.</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اسْتَمَرَّ ارْتِفَاعُ حَرَارَةِ المُحِيطَاتِ، سَتَتَبَيَّضُ الشِّعَابُ وَتَمُوتُ.</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ocean temperatures keep rising, the reefs will bleach and die.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وَلَوْ كَانَتْ إِجْرَاءَاتُ الحِمَايَةِ أَصْرَمَ فِي العُقُودِ المَاضِيَةِ، لَكَانَتِ الشِّعَابُ أَفْضَلَ حَالًا اليَوْمَ.</a:t>
            </a:r>
            <a:endParaRPr lang="ar-SA" sz="16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been stricter in past decades, the reefs would be in a better state today.</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لِذٰلِكَ تَحْتَاجُ دُوَلُ المِنْطَقَةِ إِلَى تَعَاوُنٍ إِقْلِيمِيٍّ لِكَيْ تَحْمِيَ هٰذَا الإِرْثَ الطَّبِيعِيَّ الاسْتِثْنَائِيَّ.</a:t>
            </a:r>
            <a:endParaRPr lang="ar-SA" sz="165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 region’s countries need regional cooperation to protect this exceptional natural heritage.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Core: questions 1–2 — listen for </a:t>
            </a:r>
            <a:pPr algn="l" indent="0" marL="0">
              <a:lnSpc>
                <a:spcPct val="115000"/>
              </a:lnSpc>
              <a:buNone/>
            </a:pPr>
            <a:r>
              <a:rPr lang="ar-SA" altLang="en-US" sz="1650" dirty="0">
                <a:solidFill>
                  <a:srgbClr val="1E6B52"/>
                </a:solidFill>
                <a:latin typeface="Amiri" pitchFamily="2" charset="-78"/>
                <a:cs typeface="Amiri" pitchFamily="2" charset="-78"/>
              </a:rPr>
              <a:t>يَضُمُّ</a:t>
            </a:r>
            <a:pPr algn="l" indent="0" marL="0">
              <a:lnSpc>
                <a:spcPct val="115000"/>
              </a:lnSpc>
              <a:buNone/>
            </a:pPr>
            <a:r>
              <a:rPr lang="en-US" sz="1250" dirty="0">
                <a:solidFill>
                  <a:srgbClr val="1E6B52"/>
                </a:solidFill>
                <a:latin typeface="Calibri" pitchFamily="34" charset="0"/>
                <a:cs typeface="Amiri" pitchFamily="2" charset="-78"/>
              </a:rPr>
              <a:t> (includes), </a:t>
            </a:r>
            <a:pPr algn="l" indent="0" marL="0">
              <a:lnSpc>
                <a:spcPct val="115000"/>
              </a:lnSpc>
              <a:buNone/>
            </a:pPr>
            <a:r>
              <a:rPr lang="ar-SA" altLang="en-US" sz="1650" dirty="0">
                <a:solidFill>
                  <a:srgbClr val="1E6B52"/>
                </a:solidFill>
                <a:latin typeface="Amiri" pitchFamily="2" charset="-78"/>
                <a:cs typeface="Amiri" pitchFamily="2" charset="-78"/>
              </a:rPr>
              <a:t>يُشَكِّلُ</a:t>
            </a:r>
            <a:pPr algn="l" indent="0" marL="0">
              <a:lnSpc>
                <a:spcPct val="115000"/>
              </a:lnSpc>
              <a:buNone/>
            </a:pPr>
            <a:r>
              <a:rPr lang="en-US" sz="1250" dirty="0">
                <a:solidFill>
                  <a:srgbClr val="1E6B52"/>
                </a:solidFill>
                <a:latin typeface="Calibri" pitchFamily="34" charset="0"/>
                <a:cs typeface="Amiri" pitchFamily="2" charset="-78"/>
              </a:rPr>
              <a:t> (forms), </a:t>
            </a:r>
            <a:pPr algn="l" indent="0" marL="0">
              <a:lnSpc>
                <a:spcPct val="115000"/>
              </a:lnSpc>
              <a:buNone/>
            </a:pPr>
            <a:r>
              <a:rPr lang="ar-SA" altLang="en-US" sz="1650" dirty="0">
                <a:solidFill>
                  <a:srgbClr val="1E6B52"/>
                </a:solidFill>
                <a:latin typeface="Amiri" pitchFamily="2" charset="-78"/>
                <a:cs typeface="Amiri" pitchFamily="2" charset="-78"/>
              </a:rPr>
              <a:t>شِعَاب</a:t>
            </a:r>
            <a:pPr algn="l" indent="0" marL="0">
              <a:lnSpc>
                <a:spcPct val="115000"/>
              </a:lnSpc>
              <a:buNone/>
            </a:pPr>
            <a:r>
              <a:rPr lang="en-US" sz="1250" dirty="0">
                <a:solidFill>
                  <a:srgbClr val="1E6B52"/>
                </a:solidFill>
                <a:latin typeface="Calibri" pitchFamily="34" charset="0"/>
                <a:cs typeface="Amiri" pitchFamily="2" charset="-78"/>
              </a:rPr>
              <a:t> (reefs) and </a:t>
            </a:r>
            <a:pPr algn="l" indent="0" marL="0">
              <a:lnSpc>
                <a:spcPct val="115000"/>
              </a:lnSpc>
              <a:buNone/>
            </a:pPr>
            <a:r>
              <a:rPr lang="ar-SA" altLang="en-US" sz="1650" dirty="0">
                <a:solidFill>
                  <a:srgbClr val="1E6B52"/>
                </a:solidFill>
                <a:latin typeface="Amiri" pitchFamily="2" charset="-78"/>
                <a:cs typeface="Amiri" pitchFamily="2" charset="-78"/>
              </a:rPr>
              <a:t>أَسْمَاك</a:t>
            </a:r>
            <a:pPr algn="l" indent="0" marL="0">
              <a:lnSpc>
                <a:spcPct val="115000"/>
              </a:lnSpc>
              <a:buNone/>
            </a:pPr>
            <a:r>
              <a:rPr lang="en-US" sz="1250" dirty="0">
                <a:solidFill>
                  <a:srgbClr val="1E6B52"/>
                </a:solidFill>
                <a:latin typeface="Calibri" pitchFamily="34" charset="0"/>
                <a:cs typeface="Amiri" pitchFamily="2" charset="-78"/>
              </a:rPr>
              <a:t> (fish).</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مَكَانًا طَبِيعِيًّا: أَيْنَ هُوَ؟ وَأَيُّ حَيَوَانَاتٍ تَعِيشُ فِيهِ؟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نِظَامًا بِيئِيًّا مُسْتَعْمِلًا يَضُمُّ وَيُشَكِّلُ.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الخَطَرُ الحَقِيقِيُّ عَلَيْهِ؟ عَبِّرْ عَنْهُ بِشَرْطٍ مِنَ النَّوْعِ الأَوَّلِ.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نَحْتَاجُ إِلَى حِمَايَتِهِ؟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___ فِي ___ ، وَتَعِيشُ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يَضُمُّ ___ ___ ، وَيُشَكِّلُ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اسْتَمَرَّ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نِظَامًا بِيئِيًّا.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an ecosystem.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يَضُمُّ البَحْرُ الأَحْمَرُ شِعَابًا مَرْجَانِيَّةً غَنِيَّةً، وَيُشَكِّلُ المَرْجَانُ بِيئَةً لِآلَافِ الأَسْمَاكِ.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ar-SA" altLang="en-US" sz="1250" dirty="0">
                <a:solidFill>
                  <a:srgbClr val="5A6472"/>
                </a:solidFill>
                <a:latin typeface="Amiri" pitchFamily="2" charset="-78"/>
                <a:cs typeface="Amiri" pitchFamily="2" charset="-78"/>
              </a:rPr>
              <a:t>يَضُمُّ</a:t>
            </a:r>
            <a:pPr algn="l" indent="0" marL="0">
              <a:buNone/>
            </a:pPr>
            <a:r>
              <a:rPr lang="en-US" sz="950" i="1" dirty="0">
                <a:solidFill>
                  <a:srgbClr val="5A6472"/>
                </a:solidFill>
                <a:latin typeface="Calibri" pitchFamily="34" charset="0"/>
                <a:cs typeface="Amiri" pitchFamily="2" charset="-78"/>
              </a:rPr>
              <a:t> + </a:t>
            </a:r>
            <a:pPr algn="l" indent="0" marL="0">
              <a:buNone/>
            </a:pPr>
            <a:r>
              <a:rPr lang="ar-SA" altLang="en-US" sz="1250" dirty="0">
                <a:solidFill>
                  <a:srgbClr val="5A6472"/>
                </a:solidFill>
                <a:latin typeface="Amiri" pitchFamily="2" charset="-78"/>
                <a:cs typeface="Amiri" pitchFamily="2" charset="-78"/>
              </a:rPr>
              <a:t>يُشَكِّلُ</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about a natural place and its animals. Try one sentence with </a:t>
            </a:r>
            <a:pPr algn="l" indent="0" marL="0">
              <a:buNone/>
            </a:pPr>
            <a:r>
              <a:rPr lang="ar-SA" altLang="en-US" sz="1800" b="1" dirty="0">
                <a:solidFill>
                  <a:srgbClr val="1F2A37"/>
                </a:solidFill>
                <a:latin typeface="Amiri" pitchFamily="2" charset="-78"/>
                <a:cs typeface="Amiri" pitchFamily="2" charset="-78"/>
              </a:rPr>
              <a:t>يَضُمُّ</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(next slide). Noun first, then the describing word with the same ending (ـِيٌّ / ـِيَّةٌ).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+ 1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ecosystem sentences with </a:t>
            </a:r>
            <a:pPr algn="l" indent="0" marL="0">
              <a:buNone/>
            </a:pPr>
            <a:r>
              <a:rPr lang="ar-SA" altLang="en-US" sz="1800" b="1" dirty="0">
                <a:solidFill>
                  <a:srgbClr val="1F2A37"/>
                </a:solidFill>
                <a:latin typeface="Amiri" pitchFamily="2" charset="-78"/>
                <a:cs typeface="Amiri" pitchFamily="2" charset="-78"/>
              </a:rPr>
              <a:t>يَضُمُّ</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cs typeface="Amiri" pitchFamily="2" charset="-78"/>
              </a:rPr>
              <a:t>يُشَكِّلُ</a:t>
            </a:r>
            <a:pPr algn="l" indent="0" marL="0">
              <a:buNone/>
            </a:pPr>
            <a:r>
              <a:rPr lang="en-US" sz="1400" b="1" dirty="0">
                <a:solidFill>
                  <a:srgbClr val="1F2A37"/>
                </a:solidFill>
                <a:latin typeface="Calibri" pitchFamily="34" charset="0"/>
                <a:cs typeface="Amiri" pitchFamily="2" charset="-78"/>
              </a:rPr>
              <a:t> and their complements. Add one real threat with </a:t>
            </a:r>
            <a:pPr algn="l" indent="0" marL="0">
              <a:buNone/>
            </a:pPr>
            <a:r>
              <a:rPr lang="ar-SA" altLang="en-US" sz="1800" b="1" dirty="0">
                <a:solidFill>
                  <a:srgbClr val="1F2A37"/>
                </a:solidFill>
                <a:latin typeface="Amiri" pitchFamily="2" charset="-78"/>
                <a:cs typeface="Amiri" pitchFamily="2" charset="-78"/>
              </a:rPr>
              <a:t>إِذَا … سَـ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Develop frames on the next slide: يَضُمُّ / يُشَكِّلُ + object, يَتَفَاعَلُ مَعَ, يَعْتَمِدُ عَلَى.</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writing task: describe a natural ecosystem with composition verbs, a Type 1 threat, a Type 2 “what if” and </a:t>
            </a:r>
            <a:pPr algn="l" indent="0" marL="0">
              <a:buNone/>
            </a:pPr>
            <a:r>
              <a:rPr lang="ar-SA" altLang="en-US" sz="1800" b="1" dirty="0">
                <a:solidFill>
                  <a:srgbClr val="1F2A37"/>
                </a:solidFill>
                <a:latin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Checklist and phrase bank on the Stretch slide. Close with a لِكَي purpose clause using the subjunctive fatḥa.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يَضُمُّ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includes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يُشَكِّلُ ______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forms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يَتَفَاعَلُ ______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interacts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يَعْتَمِدُ ______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depends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اسْتَمَرَّ ______ ، سَـ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 continues, … will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البَحْرُ الأَحْمَرُ بَيْنَ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Red Sea is between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الصَّحْرَاءُ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desert is in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تَعِيشُ ______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Fish live in the sea.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غَابَةٌ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 tropical forest.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نِظَامٌ ______ ـِيٌّ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an ecosystem.</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جَبَلٌ  ·  نَهْرٌ  ·  بَحْرٌ  ·  صَحْرَاءُ  ·  غَابَةٌ  ·  جَزِيرَةٌ  ·  أَسْمَاكٌ  ·  جِمَالٌ  ·  أُسُودٌ  ·  بِيئِيٌّ  ·  طَبِيعِيٌّ  ·  اسْتِوَائِيَّةٌ  ·  مَرْجَانِيَّةٌ  ·  آلَافَ الأَنْوَاعِ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describing a natural ecosystem. Use </a:t>
            </a:r>
            <a:pPr algn="l" indent="0" marL="0">
              <a:buNone/>
            </a:pPr>
            <a:r>
              <a:rPr lang="ar-SA" altLang="en-US" sz="1750" b="1" dirty="0">
                <a:solidFill>
                  <a:srgbClr val="1F2A37"/>
                </a:solidFill>
                <a:latin typeface="Amiri" pitchFamily="2" charset="-78"/>
                <a:cs typeface="Amiri" pitchFamily="2" charset="-78"/>
              </a:rPr>
              <a:t>يَضُمُّ</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يُشَكِّلُ</a:t>
            </a:r>
            <a:pPr algn="l" indent="0" marL="0">
              <a:buNone/>
            </a:pPr>
            <a:r>
              <a:rPr lang="en-US" sz="1350" b="1" dirty="0">
                <a:solidFill>
                  <a:srgbClr val="1F2A37"/>
                </a:solidFill>
                <a:latin typeface="Calibri" pitchFamily="34" charset="0"/>
                <a:cs typeface="Amiri" pitchFamily="2" charset="-78"/>
              </a:rPr>
              <a:t>, a Type 1 threat and a Type 2 counterfactual, and a purpose clause with </a:t>
            </a:r>
            <a:pPr algn="l" indent="0" marL="0">
              <a:buNone/>
            </a:pPr>
            <a:r>
              <a:rPr lang="ar-SA" altLang="en-US" sz="1750" b="1" dirty="0">
                <a:solidFill>
                  <a:srgbClr val="1F2A37"/>
                </a:solidFill>
                <a:latin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Composition with </a:t>
            </a:r>
            <a:pPr algn="l" indent="0" marL="0">
              <a:buNone/>
            </a:pPr>
            <a:r>
              <a:rPr lang="ar-SA" altLang="en-US" sz="1550" dirty="0">
                <a:solidFill>
                  <a:srgbClr val="1F2A37"/>
                </a:solidFill>
                <a:latin typeface="Amiri" pitchFamily="2" charset="-78"/>
                <a:cs typeface="Amiri" pitchFamily="2" charset="-78"/>
              </a:rPr>
              <a:t>يَضُمُّ</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يُشَكِّلُ</a:t>
            </a:r>
            <a:pPr algn="l" indent="0" marL="0">
              <a:buNone/>
            </a:pPr>
            <a:r>
              <a:rPr lang="en-US" sz="1200" dirty="0">
                <a:solidFill>
                  <a:srgbClr val="1F2A37"/>
                </a:solidFill>
                <a:latin typeface="Calibri" pitchFamily="34" charset="0"/>
                <a:cs typeface="Amiri" pitchFamily="2" charset="-78"/>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cause-effect link with </a:t>
            </a:r>
            <a:pPr algn="l" indent="0" marL="0">
              <a:buNone/>
            </a:pPr>
            <a:r>
              <a:rPr lang="ar-SA" altLang="en-US" sz="1550" dirty="0">
                <a:solidFill>
                  <a:srgbClr val="1F2A37"/>
                </a:solidFill>
                <a:latin typeface="Amiri" pitchFamily="2" charset="-78"/>
                <a:cs typeface="Amiri" pitchFamily="2" charset="-78"/>
              </a:rPr>
              <a:t>يُؤَدِّي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يَقَعُ … بَيْنَ … وَ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lies between … and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أَغْنَى النُّظُمِ البِيئِيَّةِ فِي العَالَمِ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richest ecosystems in the world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بِيئَةً لَا غِنَى عَنْهَا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indispensable environment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أَنَّ … يُهَدِّدُ هٰذَا التَّوَازُنَ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however, … threatens this balance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تَحْتَاجُ …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is why … needs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لِلْأَجْيَالِ القَادِمَةِ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future generations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Red Sea lies between the Arabian Peninsula and North Africa, and it includes coral reefs that are among the richest ecosystems in the world. Coral forms an indispensable environment for thousands of fish, and species interact with one another in complex food chains. However, warming threatens this balance and leads to coral bleaching. If ocean temperatures keep rising, the reefs will die within decades. Had protection measures been stricter in the past, the reefs would be in a better state today. That is why the region’s countries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noun + describing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يَضُمُّ / يُشَكِّلُ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 سَـ / لَوْ … 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landscapes and animals and use a describing word that agrees (</a:t>
            </a:r>
            <a:pPr algn="l" indent="0" marL="0">
              <a:buNone/>
            </a:pPr>
            <a:r>
              <a:rPr lang="ar-SA" altLang="en-US" sz="1700" dirty="0">
                <a:solidFill>
                  <a:srgbClr val="1F2A37"/>
                </a:solidFill>
                <a:latin typeface="Amiri" pitchFamily="2" charset="-78"/>
                <a:cs typeface="Amiri" pitchFamily="2" charset="-78"/>
              </a:rPr>
              <a:t>غَابَةٌ اسْتِوَائِيَّةٌ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cs typeface="Amiri" pitchFamily="2" charset="-78"/>
              </a:rPr>
              <a:t>يَضُمُّ</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يُشَكِّلُ</a:t>
            </a:r>
            <a:pPr algn="l" indent="0" marL="0">
              <a:buNone/>
            </a:pPr>
            <a:r>
              <a:rPr lang="en-US" sz="1300" dirty="0">
                <a:solidFill>
                  <a:srgbClr val="1F2A37"/>
                </a:solidFill>
                <a:latin typeface="Calibri" pitchFamily="34" charset="0"/>
                <a:cs typeface="Amiri" pitchFamily="2" charset="-78"/>
              </a:rPr>
              <a:t> with direct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 an ecosystem before arguing about its protection.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cs typeface="Amiri" pitchFamily="2" charset="-78"/>
              </a:rPr>
              <a:t>إِذَا … سَـ</a:t>
            </a:r>
            <a:pPr algn="l" indent="0" marL="0">
              <a:buNone/>
            </a:pPr>
            <a:r>
              <a:rPr lang="en-US" sz="1300" dirty="0">
                <a:solidFill>
                  <a:srgbClr val="1F2A37"/>
                </a:solidFill>
                <a:latin typeface="Calibri" pitchFamily="34" charset="0"/>
                <a:cs typeface="Amiri" pitchFamily="2" charset="-78"/>
              </a:rPr>
              <a:t> for a real risk and </a:t>
            </a:r>
            <a:pPr algn="l" indent="0" marL="0">
              <a:buNone/>
            </a:pPr>
            <a:r>
              <a:rPr lang="ar-SA" altLang="en-US" sz="1700" dirty="0">
                <a:solidFill>
                  <a:srgbClr val="1F2A37"/>
                </a:solidFill>
                <a:latin typeface="Amiri" pitchFamily="2" charset="-78"/>
                <a:cs typeface="Amiri" pitchFamily="2" charset="-78"/>
              </a:rPr>
              <a:t>لَوْ … لَـ</a:t>
            </a:r>
            <a:pPr algn="l" indent="0" marL="0">
              <a:buNone/>
            </a:pPr>
            <a:r>
              <a:rPr lang="en-US" sz="1300" dirty="0">
                <a:solidFill>
                  <a:srgbClr val="1F2A37"/>
                </a:solidFill>
                <a:latin typeface="Calibri" pitchFamily="34" charset="0"/>
                <a:cs typeface="Amiri" pitchFamily="2" charset="-78"/>
              </a:rPr>
              <a:t> for a counterfactual.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a fatḥa on the verb after </a:t>
            </a:r>
            <a:pPr algn="l" indent="0" marL="0">
              <a:buNone/>
            </a:pPr>
            <a:r>
              <a:rPr lang="ar-SA" altLang="en-US" sz="1700" dirty="0">
                <a:solidFill>
                  <a:srgbClr val="1F2A37"/>
                </a:solidFill>
                <a:latin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تَحْمِيَ</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cs typeface="Amiri" pitchFamily="2" charset="-78"/>
              </a:rPr>
              <a:t>تَحْمِي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نَحْتَاجُ إِلَى قَوَانِينَ لِكَيْ ___ الغَابَاتِ.</a:t>
            </a:r>
            <a:endParaRPr lang="ar-SA" sz="10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سَنَحْمِي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نَحْتَاجُ إِلَى قَوَانِينَ لِكَيْ ___ الغَابَاتِ.</a:t>
            </a:r>
            <a:endParaRPr lang="ar-SA" sz="10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نَحْمِي</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نَحْمِيَ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سَنَحْمِي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يُعَدُّ</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أَسَاسٌ</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basis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الأَرْضُ</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Earth</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مُعَقَّدَةٌ</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complex</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بَقَاءٌ</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survival</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عُنْصُرٌ</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element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النَّشَاطُ البَشَرِيُّ</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human activity</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فَقَدْنَا</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lost</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بِاحْتِرَامٍ</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respect</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حَافَّةُ الانْقِرَاضِ</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edge of extinction</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الأَجْيَالُ القَادِمَةُ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future generations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cs typeface="Amiri" pitchFamily="2" charset="-78"/>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TC-L03 · Climate, Seasons and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طَقْسٌ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weather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climate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مَطَرٌ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rain</a:t>
            </a:r>
            <a:pPr indent="0" marL="0">
              <a:buNone/>
            </a:pPr>
            <a:r>
              <a:rPr lang="en-US" sz="1000" i="1" dirty="0">
                <a:solidFill>
                  <a:srgbClr val="5A6472"/>
                </a:solidFill>
                <a:latin typeface="Calibri" pitchFamily="34" charset="0"/>
                <a:cs typeface="Amiri" pitchFamily="2" charset="-78"/>
              </a:rPr>
              <a:t>  pl. أَمْطَارٌ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بَارِدٌ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cold</a:t>
            </a:r>
            <a:pPr indent="0" marL="0">
              <a:buNone/>
            </a:pPr>
            <a:r>
              <a:rPr lang="en-US" sz="1000" i="1" dirty="0">
                <a:solidFill>
                  <a:srgbClr val="5A6472"/>
                </a:solidFill>
                <a:latin typeface="Calibri" pitchFamily="34" charset="0"/>
                <a:cs typeface="Amiri" pitchFamily="2" charset="-78"/>
              </a:rPr>
              <a:t>  f. بَارِدَةٌ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season</a:t>
            </a:r>
            <a:pPr indent="0" marL="0">
              <a:buNone/>
            </a:pPr>
            <a:r>
              <a:rPr lang="en-US" sz="1000" i="1" dirty="0">
                <a:solidFill>
                  <a:srgbClr val="5A6472"/>
                </a:solidFill>
                <a:latin typeface="Calibri" pitchFamily="34" charset="0"/>
                <a:cs typeface="Amiri" pitchFamily="2" charset="-78"/>
              </a:rPr>
              <a:t>  pl. فُصُولٌ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is the weather like today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كَيْفَ الطَّقْسُ اليَوْمَ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TC-L02 · play “Nature Scene”,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with </a:t>
            </a:r>
            <a:pPr algn="l" indent="0" marL="0">
              <a:buNone/>
            </a:pPr>
            <a:r>
              <a:rPr lang="ar-SA" altLang="en-US" sz="1550" dirty="0">
                <a:solidFill>
                  <a:srgbClr val="1F2A37"/>
                </a:solidFill>
                <a:latin typeface="Amiri" pitchFamily="2" charset="-78"/>
                <a:cs typeface="Amiri" pitchFamily="2" charset="-78"/>
              </a:rPr>
              <a:t>يَضُمُّ / يُشَكِّلُ</a:t>
            </a:r>
            <a:pPr algn="l" indent="0" marL="0">
              <a:buNone/>
            </a:pPr>
            <a:r>
              <a:rPr lang="en-US" sz="1200" dirty="0">
                <a:solidFill>
                  <a:srgbClr val="1F2A37"/>
                </a:solidFill>
                <a:latin typeface="Calibri" pitchFamily="34" charset="0"/>
                <a:cs typeface="Amiri" pitchFamily="2" charset="-78"/>
              </a:rPr>
              <a:t> about a sea, a desert or a forest.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TC-L02 · “Ecosystem Mission” (14 rounds) and the reading “A threatened balance”.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TC-L03 · Climate, Seasons and Weather</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المُنَاخُ وَالفُصُولُ وَالطَّقْسُ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Landscapes, Nature and Animals</dc:title>
  <dc:subject>PptxGenJS Presentation</dc:subject>
  <dc:creator>Al Madina Online School · Arabic Department</dc:creator>
  <cp:lastModifiedBy>Al Madina Online School · Arabic Department</cp:lastModifiedBy>
  <cp:revision>1</cp:revision>
  <dcterms:created xsi:type="dcterms:W3CDTF">2026-10-11T06:43:57Z</dcterms:created>
  <dcterms:modified xsi:type="dcterms:W3CDTF">2026-10-11T06:43:57Z</dcterms:modified>
</cp:coreProperties>
</file>