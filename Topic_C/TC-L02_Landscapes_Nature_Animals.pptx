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2 (TC-L02). The website lesson reuses P4-L01 (The Natural World — Landscapes, Ecosystems and Biodiversity) and adds the Topic C focus “Describe natural settings and explain relationships within them” (grammar: adjective agreement; relative clauses; iḍāfa). Landscape and animal words come from the Topic C “Natural World, Environment &amp; Weather” vocabulary bank; the picture match is the website lesson game “Nature Scene”; the sorter is the website’s “Landscape classification”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P4-L01 is B1–B2 language, so the lesson is layered. CORE: landscapes and animals (with plurals) + noun and describing word that agree — most describing words here use the nisba ending from TC-L01 (بِيئِيٌّ، طَبِيعِيٌّ، مَرْجَانِيَّةٌ). DEVELOP: the website composition verbs يَضُمُّ / يُشَكِّلُ / يَتَفَاعَلُ مَعَ / يَعْتَمِدُ عَلَى. STRETCH: the website conditionals (إِذَا … سَـ / لَوْ … لَـ) and لِكَيْ + subjunctive.
• Transliteration on every Core word, sg./pl. forms, English on every model sentence, a picture-match game with icons, a read-along listening script with English.
• Urdu bridge words (صحرا، جزیرہ، حیوان، بحر، طبیعت) value home language as a resource.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TC-L01 (nisba, place sentence, compass points).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ending ـِيٌّ / ـِيَّةٌ makes describing words: بِيئَة (environment) → بِيئِيٌّ.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(natural settings; adjective agreement) using the Natural World vocabulary bank. The website objectives on the left are the P4-L01 objectives (Develop/Stretch).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ask “Which of these do you already know from home?” (● 10s → ◎). بحرِ ہند (the Indian Ocean) uses بَحْر; طبیعت in Urdu means one’s nature or health — in Arabic طَبِيعَة means nature, and طَبِيعِيٌّ “natural”.
Groups 1–2 are from the Topic C Natural World bank (Core). Groups 3–5 are the website P4-L01 vocabulary (Develop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Landscapes (website: Topic C Natural World bank, “Landscapes &amp; natural features”). Hear → Say → See → Use.
Gesture for each: hands in a peak (mountain), wavy hand (river / sea), wipe brow (desert), fingers up (trees), circle (island).
Link to TC-L01: جُزُرٌ is the plural of جَزِيرَة — as in جُزُرُ القَمَرِ (the Comoros).
PRONUNCIATION: ح in بَحْر / صَحْرَاء is a breathy “ḥ” from the throat, not “h”; ص is a heavy “ṣ”.
Quick check: “Type the NUMBER of the word that means desert / island /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more landscapes (website Natural World bank). Develop / Stretch; Core students listen and repeat.
Notice: بُحَيْرَة (lake) is a “little sea” — it comes from بَحْر. Stretch: find the root ب ح ر in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Animals (website Natural World bank, “Animals &amp; wildlife”). Hear → Say → See → Use.
Also in the website game: الْمَاعِزُ (goats). Urdu bridge: حَيَوَان ↔ حیوان; فِيل ↔ فیل (fīl, elephant — as in Surat al-Fīl).
Quick check: “Which animal lives in the desert?” → جَمَلٌ.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Ecosystems (website P4-L01 vocabulary “Ecosystems and biodiversity”).
The big idea: almost every describing word here is a NISBA — the same ending as the nationalities in TC-L01. Blue = the noun (WHO it describes), purple = meaning, pink = ending.
Core students learn the three CORE phrases. Develop: all seven. Stretch: explain the third column (why شِعَاب takes a feminine adjective: a plural of things behaves like a feminine singular).
Also on the website: أَنْوَاعٌ مُهَدَّدَةٌ بِالانْقِرَاضِ (endangered species) and الانْقِرَاضُ (extinction) — Group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Composition and impact verbs (website P4-L01). Develop focus; Core students learn يَضُمُّ only (“includes”).
Website notes on each card. Teach them in pairs: the verbs with NO preposition (يَضُمُّ، يُشَكِّلُ، يُهَدِّدُ) and the verbs that ALWAYS take one (مَعَ، عَلَى، إِلَى).
Also on the website: يَتَكَوَّنُ مِنْ (is composed of) and حِمَايَةُ التَّنَوُّعِ (protecting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Protection and the purpose subjunctive (website P4-L01; FLEX — Stretch or homework). Website notes shown on cards.
Also on the website: لِكَيْ تَسْتَمِرَّ (so that it continues), لِكَيْ تُحَافِظَ (so that it preserves), الفِعْلُ المَنْصُوبُ (the subjunctive verb), فَتْحَةُ النَّصْبِ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adjective agreement (2 min). Topic C grammar focus for this lesson: “Adjective agreement; relative clauses; iḍāfa”.
Think aloud: “Arabic puts the noun FIRST and the describing word AFTER it — the opposite of English. The describing word copies the noun: feminine → ـِيَّةٌ, masculine → ـِيٌّ. If the noun has ال, the describing word has ال too.”
Core rule for today: noun first, then the describing word with the SAME ending type.
Misconception: English order (اسْتِوَائِيَّةٌ غَابَةٌ) or a masculine ending on a feminine noun (غَابَةٌ اسْتِوَائِيٌّ).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in real website sentences (2 min). Sentences from the website reading, sorter, builder and lesson game.
Read each row: students say only the blue noun + the pink ending.
Develop / Stretch: plurals of THINGS (سَلَاسِل، شِعَاب، مَنَاطِق) take a FEMININE SINGULAR describing word — that is why they all end in ـِيَّة. Row 5: جَبَل (mountain) → جَبَلِيَّة (mountainous).
The endings change with the grammar (ـٌّ / ـٍّ / ـً): Core students only need to notice “ـِيّ” = he-type, “ـِيَّة” = she-type.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three structures named in the Topic C focus for this lesson (2 min; Develop focus, Core listen for the adjective card).
Examples use website vocabulary: التَّوَازُنُ البِيئِيُّ، حِمَايَةُ التَّنَوُّعِ، إِجْرَاءَاتُ الحِمَايَةِ (website word bank); the relative clause is built from the website quiz sentence تَضُمُّ الغَابَةُ آلَافَ الأَنْوَاعِ (teacher-made).
Common errors (teacher-made): masculine ending on غَابَة; ال on the first noun of an iḍāfa.
Stretch challenge: turn نِظَامٌ بِيئِيٌّ into a relative clause: النِّظَامُ الَّذِي يَضُمُّ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“Composition”: يَضُمُّ / يُشَكِّلُ + object. Both take a direct object; يَتَفَاعَلُ takes مَعَ.
Arabic often starts with the VERB. Read each row in three beats: verb → subject → object. Note تَضُمُّ (feminine) because الغَابَةُ is feminine; يُشَكِّلُ because المَرْجَانُ is masculine.
Sentences: website grammar examples, quiz and reading text.
Website teaching point: “Both take a direct object. يَتَفَاعَلُ مَعَ links the parts of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5 — website rules “Real threat (Type 1)”, “Counterfactual (Type 2)” and “Purpose subjunctive” (FLEX — Stretch focus; Develop may try Type 1 only).
Website teaching point: “After لِكَي the verb ends in a fatḥa, not a ḍamma … The final fatḥa is the subjunctive marker, and P4 accuracy depends on it.”
Website common error: Leaving the verb after لِكَي in the indicative (تَحْمِي) instead of the subjunctive (تَحْمِيَ). The final fatḥa is the mark that earns the accuracy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ecosystem verbs with their complements, both conditional types applied to threats, and the لِكَي purpose clause with its subjunctive verb.”
Core: row 1 only. Develop: rows 1–2. Stretch: all four, and explain the difference between rows 2 and 3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one teacher-made agreement question, Ecosystem Mission round 9 and website grammar quiz questions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description into their books.
Think-aloud script:
Step 1 — “I choose البَحْرُ الأَحْمَرُ. The colour word comes after the noun and copies ال.”
Step 2 — “Where? Between Asia and Africa: بَيْنَ آسِيَا وَأَفْرِيقِيَا. No word for ‘is’.”
Step 3 — “What does it include? يَضُمُّ + object — no بِـ. شِعَاب is a plural of things, so مَرْجَانِيَّة is feminine.”
Step 4 — “Which animals? تَعِيشُ فِيهِ أَسْمَاكٌ كَثِيرَةٌ.”
Built from website language: the listening/model text (يَقَعُ البَحْرُ الأَحْمَرُ بَيْنَ شِبْهِ الجَزِيرَةِ العَرَبِيَّةِ وَشَمَالِ أَفْرِيقِيَا … يَضُمُّ … شِعَابًا مَرْجَانِيَّةً) simplified for Core, and the lesson game (تَعِيشُ الأَسْمَاكُ فِي البَحْرِ).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website patterns. Read each aloud; students copy TWO that are useful for them.
• Core: copy 1 and 2 and change the animal or place (تَعِيشُ الجِمَالُ فِي الصَّحْرَاءِ).
• Develop: copy 3 and change the place.
• Stretch: copy 4 and write a second sentence with لِكَيْ +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(“Nature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الجَبَلِيَّةِ (mountain), البَحْرِ (sea), الصَّحْرَاءِ (desert). Stretch: explain تَتَحَمَّلُ الجَفَافَ (tolerate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(“Nature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الجَبَلِيَّةِ (mountain), البَحْرِ (sea), الصَّحْرَاءِ (desert). Stretch: explain تَتَحَمَّلُ الجَفَافَ (tolerate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“Advanced application” for this lesson: “Landscape classification — sort natural-world vocabulary into landscape, animal, plant or ecosystem groups, then describe one scene with location and comparison language.” (2 min)
On Teams: drag the tiles into the columns live, or annotate on the shared screen. Core: sort and say the English. Develop: say a sentence for one tile (تَعِيشُ الجِمَالُ فِي الصَّحْرَاءِ). Stretch: describe one scene with a location and a comparison.
The website P4-L01 grammar sorter (composition / conditional / purpose) is on the website for Stretch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“Advanced application” for this lesson: “Landscape classification — sort natural-world vocabulary into landscape, animal, plant or ecosystem groups, then describe one scene with location and comparison language.” (2 min)
On Teams: drag the tiles into the columns live, or annotate on the shared screen. Core: sort and say the English. Develop: say a sentence for one tile (تَعِيشُ الجِمَالُ فِي الصَّحْرَاءِ). Stretch: describe one scene with a location and a comparison.
The website P4-L01 grammar sorter (composition / conditional / purpose) is on the website for Stretch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examples, quiz and builder tasks).
Students choose ONE box from each column (start from Column 1 on the right) and type the letters in chat, e.g. “1: B A B”.
↔ Rehearse 30s: whisper the full Arabic sentence before typing.
Core: sentence 1 (agreement). Develop: sentences 2–3 (verb + object / fixed preposition). Separate the class if needed: Develop/Stretch continue to the FLEX practice while you work with Core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examples, quiz and builder tasks).
Students choose ONE box from each column (start from Column 1 on the right) and type the letters in chat, e.g. “1: B A B”.
↔ Rehearse 30s: whisper the full Arabic sentence before typing.
Core: sentence 1 (agreement). Develop: sentences 2–3 (verb + object / fixed preposition). Separate the class if needed: Develop/Stretch continue to the FLEX practice while you work with Core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8, 3, 4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1–2. Develop: 1–3. Stretch: all 5.
Listen 1: just listen. Listen 2: note answers. Then chat the letters.
Support: after the second listening, show the read-along slide (Arabic + English, line by line) for Core students.
SCRIPT (read aloud):
يَقَعُ البَحْرُ الأَحْمَرُ بَيْنَ شِبْهِ الجَزِيرَةِ العَرَبِيَّةِ وَشَمَالِ أَفْرِيقِيَا. يَضُمُّ هٰذَا البَحْرُ شِعَابًا مَرْجَانِيَّةً مِنْ أَغْنَى النُّظُمِ البِيئِيَّةِ البَحْرِيَّةِ فِي العَالَمِ. يُشَكِّلُ المَرْجَانُ بِيئَةً لَا غِنَى عَنْهَا لِآلَافِ الأَسْمَاكِ. غَيْرَ أَنَّ الاحْتِرَارَ يُهَدِّدُ هٰذَا التَّوَازُنَ. إِذَا اسْتَمَرَّ ارْتِفَاعُ حَرَارَةِ المُحِيطَاتِ، سَتَتَبَيَّضُ الشِّعَابُ وَتَمُوتُ. وَلَوْ كَانَتْ إِجْرَاءَاتُ الحِمَايَةِ أَصْرَمَ فِي العُقُودِ المَاضِيَةِ، لَكَانَتِ الشِّعَابُ أَفْضَلَ حَالًا اليَوْمَ. لِذٰلِكَ تَحْتَاجُ دُوَلُ المِنْطَقَةِ إِلَى تَعَاوُنٍ إِقْلِيمِيٍّ لِكَيْ تَحْمِيَ هٰذَا الإِرْثَ الطَّبِيعِيَّ الاسْتِثْنَائِيَّ.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نَحْتَاجُ إِلَى حِمَايَتِهِ؟ (Purpose)
B: نَحْتَاجُ إِلَى تَعَاوُنٍ لِكَيْ نَحْمِيَ هٰذَا الإِرْثَ، وَلَوْ تَأَخَّرْنَا أَكْثَرَ لَخَسِرْنَاهُ. (لِكَيْ + subjunctive plus a Type 2)
Core prompt (teacher-made): “Describe a natural place: where is it? Which animals live there?” — answered with the Core stem, e.g. الصَّحْرَاءُ فِي أَفْرِيقِيَا، وَتَعِيشُ فِيهَا الجِمَالُ. (Note فِيهَا for a feminine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ecosystem sentences with يَضُمُّ, يُشَكِّلُ and their complements. · Develop — Add a Type 1 threat and a Type 2 counterfactual. · Stretch — Close with a لِكَي purpose clause using the subjunctive fatḥa.
Website writing task (Stretch): Write one hundred to one hundred and ten words describing a natural ecosystem. Use يَضُمُّ and يُشَكِّلُ, a Type 1 threat and a Type 2 counterfactual, and a purpose clause with لِكَي + a subjunctive verb.
Routes adapted for this class: the website Core task (يَضُمُّ / يُشَكِّلُ sentences) becomes the Develop task; Core writes about landscapes and animals with agreeing describing words (Topic C focus); Stretch does the full website writing task.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noun + describing word pairs (شِعَابًا مَرْجَانِيَّةً، النُّظُمِ البِيئِيَّةِ، الإِرْثَ الطَّبِيعِيَّ) and the animals/places; Stretch find the conditionals and تَحْمِيَ.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(TC-L03 · Climate, Seasons and Weather) will spend class time USING this language, so students prepare it tonight — short, simple, easy to access (school guidance: “Simple, Short, Interesting, Relevant, Easy to access”). The five words come from the website Natural World vocabulary bank (Weather and Climate).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ea typeface="Cambria" pitchFamily="34" charset="-122"/>
                <a:cs typeface="Cambria" pitchFamily="34" charset="-120"/>
              </a:rPr>
              <a:t>Landscapes, Nature and Animals</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التَّضَارِيسُ وَالطَّبِيعَةُ وَالحَيَوَانَاتُ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natural settings and explain relationships within them: landscapes, animals and ecosystems, with describing words that agree (</a:t>
            </a:r>
            <a:pPr algn="l" indent="0" marL="0">
              <a:buNone/>
            </a:pPr>
            <a:r>
              <a:rPr lang="ar-SA" altLang="en-US" sz="1800" dirty="0">
                <a:solidFill>
                  <a:srgbClr val="C6D2E6"/>
                </a:solidFill>
                <a:latin typeface="Amiri" pitchFamily="34" charset="0"/>
                <a:ea typeface="Amiri" pitchFamily="34" charset="-122"/>
                <a:cs typeface="Amiri" pitchFamily="34" charset="-120"/>
              </a:rPr>
              <a:t>نِظَامٌ بِيئِيٌّ</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غَابَةٌ اسْتِوَائِيَّةٌ</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TC-L02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Key words for nature, then describing words that agree.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“mountain”?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نَهْرٌ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بَحْرٌ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“desert”?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حَيَوَانٌ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nationality.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مِصْرِيُّونَ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المَغْرِبُ فِي شَمَالِ أَفْرِيقِيَا.</a:t>
            </a:r>
            <a:endParaRPr lang="ar-SA" sz="13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is west of Africa.</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is in Asia.</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is in the north of Africa.</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“south”?</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جَنُوبٌ</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شَمَالٌ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غَرْبٌ</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“mountain”?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نَهْرٌ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جَبَلٌ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بَحْرٌ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جَبَلٌ</a:t>
            </a:r>
            <a:pPr algn="l" indent="0" marL="0">
              <a:buNone/>
            </a:pPr>
            <a:r>
              <a:rPr lang="en-US" sz="1050" i="1" dirty="0">
                <a:solidFill>
                  <a:srgbClr val="8A6D1E"/>
                </a:solidFill>
                <a:latin typeface="Calibri" pitchFamily="34" charset="0"/>
                <a:ea typeface="Calibri" pitchFamily="34" charset="-122"/>
                <a:cs typeface="Calibri" pitchFamily="34" charset="-120"/>
              </a:rPr>
              <a:t> = mountain · </a:t>
            </a:r>
            <a:pPr algn="l" indent="0" marL="0">
              <a:buNone/>
            </a:pPr>
            <a:r>
              <a:rPr lang="ar-SA" altLang="en-US" sz="1350" dirty="0">
                <a:solidFill>
                  <a:srgbClr val="8A6D1E"/>
                </a:solidFill>
                <a:latin typeface="Amiri" pitchFamily="34" charset="0"/>
                <a:ea typeface="Amiri" pitchFamily="34" charset="-122"/>
                <a:cs typeface="Amiri" pitchFamily="34" charset="-120"/>
              </a:rPr>
              <a:t>نَهْرٌ</a:t>
            </a:r>
            <a:pPr algn="l" indent="0" marL="0">
              <a:buNone/>
            </a:pPr>
            <a:r>
              <a:rPr lang="en-US" sz="1050" i="1" dirty="0">
                <a:solidFill>
                  <a:srgbClr val="8A6D1E"/>
                </a:solidFill>
                <a:latin typeface="Calibri" pitchFamily="34" charset="0"/>
                <a:ea typeface="Calibri" pitchFamily="34" charset="-122"/>
                <a:cs typeface="Calibri" pitchFamily="34" charset="-120"/>
              </a:rPr>
              <a:t> = river · </a:t>
            </a:r>
            <a:pPr algn="l" indent="0" marL="0">
              <a:buNone/>
            </a:pPr>
            <a:r>
              <a:rPr lang="ar-SA" altLang="en-US" sz="1350" dirty="0">
                <a:solidFill>
                  <a:srgbClr val="8A6D1E"/>
                </a:solidFill>
                <a:latin typeface="Amiri" pitchFamily="34" charset="0"/>
                <a:ea typeface="Amiri" pitchFamily="34" charset="-122"/>
                <a:cs typeface="Amiri" pitchFamily="34" charset="-120"/>
              </a:rPr>
              <a:t>بَحْرٌ</a:t>
            </a:r>
            <a:pPr algn="l" indent="0" marL="0">
              <a:buNone/>
            </a:pPr>
            <a:r>
              <a:rPr lang="en-US" sz="1050" i="1" dirty="0">
                <a:solidFill>
                  <a:srgbClr val="8A6D1E"/>
                </a:solidFill>
                <a:latin typeface="Calibri" pitchFamily="34" charset="0"/>
                <a:ea typeface="Calibri" pitchFamily="34" charset="-122"/>
                <a:cs typeface="Calibri" pitchFamily="34" charset="-120"/>
              </a:rPr>
              <a:t> = sea.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“desert”?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حَيَوَانٌ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صَحْرَاءُ</a:t>
            </a:r>
            <a:pPr algn="l" indent="0" marL="0">
              <a:buNone/>
            </a:pPr>
            <a:r>
              <a:rPr lang="en-US" sz="1050" i="1" dirty="0">
                <a:solidFill>
                  <a:srgbClr val="8A6D1E"/>
                </a:solidFill>
                <a:latin typeface="Calibri" pitchFamily="34" charset="0"/>
                <a:ea typeface="Calibri" pitchFamily="34" charset="-122"/>
                <a:cs typeface="Calibri" pitchFamily="34" charset="-120"/>
              </a:rPr>
              <a:t> = desert · </a:t>
            </a:r>
            <a:pPr algn="l" indent="0" marL="0">
              <a:buNone/>
            </a:pPr>
            <a:r>
              <a:rPr lang="ar-SA" altLang="en-US" sz="1350" dirty="0">
                <a:solidFill>
                  <a:srgbClr val="8A6D1E"/>
                </a:solidFill>
                <a:latin typeface="Amiri" pitchFamily="34" charset="0"/>
                <a:ea typeface="Amiri" pitchFamily="34" charset="-122"/>
                <a:cs typeface="Amiri" pitchFamily="34" charset="-120"/>
              </a:rPr>
              <a:t>غَابَةٌ</a:t>
            </a:r>
            <a:pPr algn="l" indent="0" marL="0">
              <a:buNone/>
            </a:pPr>
            <a:r>
              <a:rPr lang="en-US" sz="1050" i="1" dirty="0">
                <a:solidFill>
                  <a:srgbClr val="8A6D1E"/>
                </a:solidFill>
                <a:latin typeface="Calibri" pitchFamily="34" charset="0"/>
                <a:ea typeface="Calibri" pitchFamily="34" charset="-122"/>
                <a:cs typeface="Calibri" pitchFamily="34" charset="-120"/>
              </a:rPr>
              <a:t> = forest · </a:t>
            </a:r>
            <a:pPr algn="l" indent="0" marL="0">
              <a:buNone/>
            </a:pPr>
            <a:r>
              <a:rPr lang="ar-SA" altLang="en-US" sz="1350" dirty="0">
                <a:solidFill>
                  <a:srgbClr val="8A6D1E"/>
                </a:solidFill>
                <a:latin typeface="Amiri" pitchFamily="34" charset="0"/>
                <a:ea typeface="Amiri" pitchFamily="34" charset="-122"/>
                <a:cs typeface="Amiri" pitchFamily="34" charset="-120"/>
              </a:rPr>
              <a:t>حَيَوَانٌ</a:t>
            </a:r>
            <a:pPr algn="l" indent="0" marL="0">
              <a:buNone/>
            </a:pPr>
            <a:r>
              <a:rPr lang="en-US" sz="1050" i="1" dirty="0">
                <a:solidFill>
                  <a:srgbClr val="8A6D1E"/>
                </a:solidFill>
                <a:latin typeface="Calibri" pitchFamily="34" charset="0"/>
                <a:ea typeface="Calibri" pitchFamily="34" charset="-122"/>
                <a:cs typeface="Calibri" pitchFamily="34" charset="-120"/>
              </a:rPr>
              <a:t> = animal.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nationality.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مِصْرِيُّونَ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مِصْرِيَّةٌ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TC-L01: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 = she ·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 he · </a:t>
            </a:r>
            <a:pPr algn="l" indent="0" marL="0">
              <a:buNone/>
            </a:pPr>
            <a:r>
              <a:rPr lang="ar-SA" altLang="en-US" sz="1350" dirty="0">
                <a:solidFill>
                  <a:srgbClr val="8A6D1E"/>
                </a:solidFill>
                <a:latin typeface="Amiri" pitchFamily="34" charset="0"/>
                <a:ea typeface="Amiri" pitchFamily="34" charset="-122"/>
                <a:cs typeface="Amiri" pitchFamily="34" charset="-120"/>
              </a:rPr>
              <a:t>ـِيُّونَ</a:t>
            </a:r>
            <a:pPr algn="l" indent="0" marL="0">
              <a:buNone/>
            </a:pPr>
            <a:r>
              <a:rPr lang="en-US" sz="1050" i="1" dirty="0">
                <a:solidFill>
                  <a:srgbClr val="8A6D1E"/>
                </a:solidFill>
                <a:latin typeface="Calibri" pitchFamily="34" charset="0"/>
                <a:ea typeface="Calibri" pitchFamily="34" charset="-122"/>
                <a:cs typeface="Calibri" pitchFamily="34" charset="-120"/>
              </a:rPr>
              <a:t> = they.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المَغْرِبُ فِي شَمَالِ أَفْرِيقِيَا.</a:t>
            </a:r>
            <a:endParaRPr lang="ar-SA" sz="13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Morocco is west of Africa.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Morocco is in Asia.</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Morocco is in the north of Africa.</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word for “is”: country +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 place.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“south”?</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جَنُوبٌ</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شَمَالٌ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غَرْبٌ</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Urdu bridge: </a:t>
            </a:r>
            <a:pPr algn="l" indent="0" marL="0">
              <a:buNone/>
            </a:pPr>
            <a:r>
              <a:rPr lang="ar-SA" altLang="en-US" sz="1350" dirty="0">
                <a:solidFill>
                  <a:srgbClr val="8A6D1E"/>
                </a:solidFill>
                <a:latin typeface="Amiri" pitchFamily="34" charset="0"/>
                <a:ea typeface="Amiri" pitchFamily="34" charset="-122"/>
                <a:cs typeface="Amiri" pitchFamily="34" charset="-120"/>
              </a:rPr>
              <a:t>جنوب</a:t>
            </a:r>
            <a:pPr algn="l" indent="0" marL="0">
              <a:buNone/>
            </a:pPr>
            <a:r>
              <a:rPr lang="en-US" sz="1050" i="1" dirty="0">
                <a:solidFill>
                  <a:srgbClr val="8A6D1E"/>
                </a:solidFill>
                <a:latin typeface="Calibri" pitchFamily="34" charset="0"/>
                <a:ea typeface="Calibri" pitchFamily="34" charset="-122"/>
                <a:cs typeface="Calibri" pitchFamily="34" charset="-120"/>
              </a:rPr>
              <a:t> junūb = south.</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same ending </a:t>
            </a:r>
            <a:pPr algn="l" indent="0" marL="0">
              <a:buNone/>
            </a:pPr>
            <a:r>
              <a:rPr lang="ar-SA" altLang="en-US" sz="1700" b="1" dirty="0">
                <a:solidFill>
                  <a:srgbClr val="1F2A37"/>
                </a:solidFill>
                <a:latin typeface="Amiri" pitchFamily="34" charset="0"/>
                <a:ea typeface="Amiri" pitchFamily="34" charset="-122"/>
                <a:cs typeface="Amiri" pitchFamily="34" charset="-120"/>
              </a:rPr>
              <a:t>ـِيٌّ / ـِيَّةٌ</a:t>
            </a:r>
            <a:pPr algn="l" indent="0" marL="0">
              <a:buNone/>
            </a:pPr>
            <a:r>
              <a:rPr lang="en-US" sz="1300" b="1" dirty="0">
                <a:solidFill>
                  <a:srgbClr val="1F2A37"/>
                </a:solidFill>
                <a:latin typeface="Calibri" pitchFamily="34" charset="0"/>
                <a:ea typeface="Calibri" pitchFamily="34" charset="-122"/>
                <a:cs typeface="Calibri" pitchFamily="34" charset="-120"/>
              </a:rPr>
              <a:t> makes describing words: </a:t>
            </a:r>
            <a:pPr algn="l" indent="0" marL="0">
              <a:buNone/>
            </a:pPr>
            <a:r>
              <a:rPr lang="ar-SA" altLang="en-US" sz="1700" b="1" dirty="0">
                <a:solidFill>
                  <a:srgbClr val="1F2A37"/>
                </a:solidFill>
                <a:latin typeface="Amiri" pitchFamily="34" charset="0"/>
                <a:ea typeface="Amiri" pitchFamily="34" charset="-122"/>
                <a:cs typeface="Amiri" pitchFamily="34" charset="-120"/>
              </a:rPr>
              <a:t>بِيئَة</a:t>
            </a:r>
            <a:pPr algn="l" indent="0" marL="0">
              <a:buNone/>
            </a:pPr>
            <a:r>
              <a:rPr lang="en-US" sz="1300" b="1" dirty="0">
                <a:solidFill>
                  <a:srgbClr val="1F2A37"/>
                </a:solidFill>
                <a:latin typeface="Calibri" pitchFamily="34" charset="0"/>
                <a:ea typeface="Calibri" pitchFamily="34" charset="-122"/>
                <a:cs typeface="Calibri" pitchFamily="34" charset="-120"/>
              </a:rPr>
              <a:t> (environment) → </a:t>
            </a:r>
            <a:pPr algn="l" indent="0" marL="0">
              <a:buNone/>
            </a:pPr>
            <a:r>
              <a:rPr lang="ar-SA" altLang="en-US" sz="1700" b="1" dirty="0">
                <a:solidFill>
                  <a:srgbClr val="1F2A37"/>
                </a:solidFill>
                <a:latin typeface="Amiri" pitchFamily="34" charset="0"/>
                <a:ea typeface="Amiri" pitchFamily="34" charset="-122"/>
                <a:cs typeface="Amiri" pitchFamily="34" charset="-120"/>
              </a:rPr>
              <a:t>بِيئِيٌّ</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بِيئَةٌ</a:t>
            </a:r>
            <a:pPr rtl="1" algn="ctr" indent="0" marL="0">
              <a:buNone/>
            </a:pPr>
            <a:r>
              <a:rPr lang="ar-SA" altLang="en-US" sz="2400" b="1" dirty="0">
                <a:solidFill>
                  <a:srgbClr val="1B3B6F"/>
                </a:solidFill>
                <a:latin typeface="Amiri" pitchFamily="34" charset="0"/>
                <a:ea typeface="Amiri" pitchFamily="34" charset="-122"/>
                <a:cs typeface="Amiri" pitchFamily="34" charset="-120"/>
              </a:rPr>
              <a:t>  ←  نِظَامٌ </a:t>
            </a:r>
            <a:pPr rtl="1" algn="ctr" indent="0" marL="0">
              <a:buNone/>
            </a:pPr>
            <a:r>
              <a:rPr lang="ar-SA" altLang="en-US" sz="2400" b="1" dirty="0">
                <a:solidFill>
                  <a:srgbClr val="7B3FA0"/>
                </a:solidFill>
                <a:latin typeface="Amiri" pitchFamily="34" charset="0"/>
                <a:ea typeface="Amiri" pitchFamily="34" charset="-122"/>
                <a:cs typeface="Amiri" pitchFamily="34" charset="-120"/>
              </a:rPr>
              <a:t>بِيئِ</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ecosystem and biodiversity vocabulary in scientific register.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composition with </a:t>
            </a:r>
            <a:pPr algn="l" indent="0" marL="0">
              <a:buNone/>
            </a:pPr>
            <a:r>
              <a:rPr lang="ar-SA" altLang="en-US" sz="1700" dirty="0">
                <a:solidFill>
                  <a:srgbClr val="1F2A37"/>
                </a:solidFill>
                <a:latin typeface="Amiri" pitchFamily="34" charset="0"/>
                <a:ea typeface="Amiri" pitchFamily="34" charset="-122"/>
                <a:cs typeface="Amiri" pitchFamily="34" charset="-120"/>
              </a:rPr>
              <a:t>يَضُمُّ، يُشَكِّلُ، يَتَفَاعَلُ مَعَ</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Weigh a real threat (</a:t>
            </a:r>
            <a:pPr algn="l" indent="0" marL="0">
              <a:buNone/>
            </a:pPr>
            <a:r>
              <a:rPr lang="ar-SA" altLang="en-US" sz="1700" dirty="0">
                <a:solidFill>
                  <a:srgbClr val="1F2A37"/>
                </a:solidFill>
                <a:latin typeface="Amiri" pitchFamily="34" charset="0"/>
                <a:ea typeface="Amiri" pitchFamily="34" charset="-122"/>
                <a:cs typeface="Amiri" pitchFamily="34" charset="-120"/>
              </a:rPr>
              <a:t>إِذَا</a:t>
            </a:r>
            <a:pPr algn="l" indent="0" marL="0">
              <a:buNone/>
            </a:pPr>
            <a:r>
              <a:rPr lang="en-US" sz="1300" dirty="0">
                <a:solidFill>
                  <a:srgbClr val="1F2A37"/>
                </a:solidFill>
                <a:latin typeface="Calibri" pitchFamily="34" charset="0"/>
                <a:ea typeface="Calibri" pitchFamily="34" charset="-122"/>
                <a:cs typeface="Calibri" pitchFamily="34" charset="-120"/>
              </a:rPr>
              <a:t>) against a counterfactual (</a:t>
            </a:r>
            <a:pPr algn="l" indent="0" marL="0">
              <a:buNone/>
            </a:pPr>
            <a:r>
              <a:rPr lang="ar-SA" altLang="en-US" sz="1700" dirty="0">
                <a:solidFill>
                  <a:srgbClr val="1F2A37"/>
                </a:solidFill>
                <a:latin typeface="Amiri" pitchFamily="34" charset="0"/>
                <a:ea typeface="Amiri" pitchFamily="34" charset="-122"/>
                <a:cs typeface="Amiri" pitchFamily="34" charset="-120"/>
              </a:rPr>
              <a:t>لَوْ</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a purpose clause with </a:t>
            </a:r>
            <a:pPr algn="l" indent="0" marL="0">
              <a:buNone/>
            </a:pPr>
            <a:r>
              <a:rPr lang="ar-SA" altLang="en-US" sz="1700" dirty="0">
                <a:solidFill>
                  <a:srgbClr val="1F2A37"/>
                </a:solidFill>
                <a:latin typeface="Amiri" pitchFamily="34" charset="0"/>
                <a:ea typeface="Amiri" pitchFamily="34" charset="-122"/>
                <a:cs typeface="Amiri" pitchFamily="34" charset="-120"/>
              </a:rPr>
              <a:t>لِكَي</a:t>
            </a:r>
            <a:pPr algn="l" indent="0" marL="0">
              <a:buNone/>
            </a:pPr>
            <a:r>
              <a:rPr lang="en-US" sz="1300" dirty="0">
                <a:solidFill>
                  <a:srgbClr val="1F2A37"/>
                </a:solidFill>
                <a:latin typeface="Calibri" pitchFamily="34" charset="0"/>
                <a:ea typeface="Calibri" pitchFamily="34" charset="-122"/>
                <a:cs typeface="Calibri" pitchFamily="34" charset="-120"/>
              </a:rPr>
              <a:t> + a subjunctive verb (final fatḥa).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landscapes and 6 animals, with their plurals.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make a describing word agree: </a:t>
            </a:r>
            <a:pPr algn="l" indent="0" marL="0">
              <a:buNone/>
            </a:pPr>
            <a:r>
              <a:rPr lang="ar-SA" altLang="en-US" sz="1700" b="1" dirty="0">
                <a:solidFill>
                  <a:srgbClr val="2E8B57"/>
                </a:solidFill>
                <a:latin typeface="Amiri" pitchFamily="34" charset="0"/>
                <a:ea typeface="Amiri" pitchFamily="34" charset="-122"/>
                <a:cs typeface="Amiri" pitchFamily="34" charset="-120"/>
              </a:rPr>
              <a:t>نِظَامٌ بِيئِيٌّ / غَابَةٌ اسْتِوَائِيَّةٌ</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an ecosystem with </a:t>
            </a:r>
            <a:pPr algn="l" indent="0" marL="0">
              <a:buNone/>
            </a:pPr>
            <a:r>
              <a:rPr lang="ar-SA" altLang="en-US" sz="1700" b="1" dirty="0">
                <a:solidFill>
                  <a:srgbClr val="C9780A"/>
                </a:solidFill>
                <a:latin typeface="Amiri" pitchFamily="34" charset="0"/>
                <a:ea typeface="Amiri" pitchFamily="34" charset="-122"/>
                <a:cs typeface="Amiri" pitchFamily="34" charset="-120"/>
              </a:rPr>
              <a:t>يَضُمُّ</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يُشَكِّلُ</a:t>
            </a:r>
            <a:pPr algn="l" indent="0" marL="0">
              <a:buNone/>
            </a:pPr>
            <a:r>
              <a:rPr lang="en-US" sz="1300" b="1" dirty="0">
                <a:solidFill>
                  <a:srgbClr val="C9780A"/>
                </a:solidFill>
                <a:latin typeface="Calibri" pitchFamily="34" charset="0"/>
                <a:ea typeface="Calibri" pitchFamily="34" charset="-122"/>
                <a:cs typeface="Calibri" pitchFamily="34" charset="-120"/>
              </a:rPr>
              <a:t> + an object.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link the parts with </a:t>
            </a:r>
            <a:pPr algn="l" indent="0" marL="0">
              <a:buNone/>
            </a:pPr>
            <a:r>
              <a:rPr lang="ar-SA" altLang="en-US" sz="1700" b="1" dirty="0">
                <a:solidFill>
                  <a:srgbClr val="C9780A"/>
                </a:solidFill>
                <a:latin typeface="Amiri" pitchFamily="34" charset="0"/>
                <a:ea typeface="Amiri" pitchFamily="34" charset="-122"/>
                <a:cs typeface="Amiri" pitchFamily="34" charset="-120"/>
              </a:rPr>
              <a:t>يَتَفَاعَلُ مَعَ</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يَعْتَمِدُ عَلَى</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t>
            </a:r>
            <a:pPr algn="l" indent="0" marL="0">
              <a:buNone/>
            </a:pPr>
            <a:r>
              <a:rPr lang="ar-SA" altLang="en-US" sz="1700" b="1" dirty="0">
                <a:solidFill>
                  <a:srgbClr val="B83227"/>
                </a:solidFill>
                <a:latin typeface="Amiri" pitchFamily="34" charset="0"/>
                <a:ea typeface="Amiri" pitchFamily="34" charset="-122"/>
                <a:cs typeface="Amiri" pitchFamily="34" charset="-120"/>
              </a:rPr>
              <a:t>إِذَا … سَـ</a:t>
            </a:r>
            <a:pPr algn="l" indent="0" marL="0">
              <a:buNone/>
            </a:pPr>
            <a:r>
              <a:rPr lang="en-US" sz="1300" b="1" dirty="0">
                <a:solidFill>
                  <a:srgbClr val="B83227"/>
                </a:solidFill>
                <a:latin typeface="Calibri" pitchFamily="34" charset="0"/>
                <a:ea typeface="Calibri" pitchFamily="34" charset="-122"/>
                <a:cs typeface="Calibri" pitchFamily="34" charset="-120"/>
              </a:rPr>
              <a:t> for a real threat and </a:t>
            </a:r>
            <a:pPr algn="l" indent="0" marL="0">
              <a:buNone/>
            </a:pPr>
            <a:r>
              <a:rPr lang="ar-SA" altLang="en-US" sz="1700" b="1" dirty="0">
                <a:solidFill>
                  <a:srgbClr val="B83227"/>
                </a:solidFill>
                <a:latin typeface="Amiri" pitchFamily="34" charset="0"/>
                <a:ea typeface="Amiri" pitchFamily="34" charset="-122"/>
                <a:cs typeface="Amiri" pitchFamily="34" charset="-120"/>
              </a:rPr>
              <a:t>لَوْ … لَـ</a:t>
            </a:r>
            <a:pPr algn="l" indent="0" marL="0">
              <a:buNone/>
            </a:pPr>
            <a:r>
              <a:rPr lang="en-US" sz="1300" b="1" dirty="0">
                <a:solidFill>
                  <a:srgbClr val="B83227"/>
                </a:solidFill>
                <a:latin typeface="Calibri" pitchFamily="34" charset="0"/>
                <a:ea typeface="Calibri" pitchFamily="34" charset="-122"/>
                <a:cs typeface="Calibri" pitchFamily="34" charset="-120"/>
              </a:rPr>
              <a:t> for a “what if”.</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t>
            </a:r>
            <a:pPr algn="l" indent="0" marL="0">
              <a:buNone/>
            </a:pPr>
            <a:r>
              <a:rPr lang="ar-SA" altLang="en-US" sz="1700" b="1" dirty="0">
                <a:solidFill>
                  <a:srgbClr val="B83227"/>
                </a:solidFill>
                <a:latin typeface="Amiri" pitchFamily="34" charset="0"/>
                <a:ea typeface="Amiri" pitchFamily="34" charset="-122"/>
                <a:cs typeface="Amiri" pitchFamily="34" charset="-120"/>
              </a:rPr>
              <a:t>لِكَيْ</a:t>
            </a:r>
            <a:pPr algn="l" indent="0" marL="0">
              <a:buNone/>
            </a:pPr>
            <a:r>
              <a:rPr lang="en-US" sz="1300" b="1" dirty="0">
                <a:solidFill>
                  <a:srgbClr val="B83227"/>
                </a:solidFill>
                <a:latin typeface="Calibri" pitchFamily="34" charset="0"/>
                <a:ea typeface="Calibri" pitchFamily="34" charset="-122"/>
                <a:cs typeface="Calibri" pitchFamily="34" charset="-120"/>
              </a:rPr>
              <a:t> + subjunctive: </a:t>
            </a:r>
            <a:pPr algn="l" indent="0" marL="0">
              <a:buNone/>
            </a:pPr>
            <a:r>
              <a:rPr lang="ar-SA" altLang="en-US" sz="1700" b="1" dirty="0">
                <a:solidFill>
                  <a:srgbClr val="B83227"/>
                </a:solidFill>
                <a:latin typeface="Amiri" pitchFamily="34" charset="0"/>
                <a:ea typeface="Amiri" pitchFamily="34" charset="-122"/>
                <a:cs typeface="Amiri" pitchFamily="34" charset="-120"/>
              </a:rPr>
              <a:t>لِكَيْ نَحْمِيَ</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37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Landscapes · 12</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Animals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Ecosystems · 7</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verbs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0D1F3C"/>
          </a:solidFill>
          <a:ln w="12700">
            <a:solidFill>
              <a:srgbClr val="7E92B4"/>
            </a:solidFill>
            <a:prstDash val="dash"/>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 · FLEX</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Protection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صَحْرَاءُ</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‎صحرا‎ </a:t>
            </a:r>
            <a:pPr indent="0" marL="0">
              <a:buNone/>
            </a:pPr>
            <a:r>
              <a:rPr lang="en-US" sz="950" b="1" dirty="0">
                <a:solidFill>
                  <a:srgbClr val="2E8B57"/>
                </a:solidFill>
                <a:latin typeface="Calibri" pitchFamily="34" charset="0"/>
                <a:ea typeface="Calibri" pitchFamily="34" charset="-122"/>
                <a:cs typeface="Calibri" pitchFamily="34" charset="-120"/>
              </a:rPr>
              <a:t> ṣaḥrā · desert</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جَزِيرَةٌ</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‎جزیرہ‎ </a:t>
            </a:r>
            <a:pPr indent="0" marL="0">
              <a:buNone/>
            </a:pPr>
            <a:r>
              <a:rPr lang="en-US" sz="950" b="1" dirty="0">
                <a:solidFill>
                  <a:srgbClr val="2E8B57"/>
                </a:solidFill>
                <a:latin typeface="Calibri" pitchFamily="34" charset="0"/>
                <a:ea typeface="Calibri" pitchFamily="34" charset="-122"/>
                <a:cs typeface="Calibri" pitchFamily="34" charset="-120"/>
              </a:rPr>
              <a:t> jazīra · island</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حَيَوَانٌ</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‎حیوان‎ </a:t>
            </a:r>
            <a:pPr indent="0" marL="0">
              <a:buNone/>
            </a:pPr>
            <a:r>
              <a:rPr lang="en-US" sz="950" b="1" dirty="0">
                <a:solidFill>
                  <a:srgbClr val="2E8B57"/>
                </a:solidFill>
                <a:latin typeface="Calibri" pitchFamily="34" charset="0"/>
                <a:ea typeface="Calibri" pitchFamily="34" charset="-122"/>
                <a:cs typeface="Calibri" pitchFamily="34" charset="-120"/>
              </a:rPr>
              <a:t> ḥaiwān · animal</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بَحْرٌ</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‎بحر‎ </a:t>
            </a:r>
            <a:pPr indent="0" marL="0">
              <a:buNone/>
            </a:pPr>
            <a:r>
              <a:rPr lang="en-US" sz="950" b="1" dirty="0">
                <a:solidFill>
                  <a:srgbClr val="2E8B57"/>
                </a:solidFill>
                <a:latin typeface="Calibri" pitchFamily="34" charset="0"/>
                <a:ea typeface="Calibri" pitchFamily="34" charset="-122"/>
                <a:cs typeface="Calibri" pitchFamily="34" charset="-120"/>
              </a:rPr>
              <a:t> baḥr · sea</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طَبِيعَةٌ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‎طبیعت‎ </a:t>
            </a:r>
            <a:pPr indent="0" marL="0">
              <a:buNone/>
            </a:pPr>
            <a:r>
              <a:rPr lang="en-US" sz="950" b="1" dirty="0">
                <a:solidFill>
                  <a:srgbClr val="2E8B57"/>
                </a:solidFill>
                <a:latin typeface="Calibri" pitchFamily="34" charset="0"/>
                <a:ea typeface="Calibri" pitchFamily="34" charset="-122"/>
                <a:cs typeface="Calibri" pitchFamily="34" charset="-120"/>
              </a:rPr>
              <a:t> ṭabīʿat · nature</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Landscapes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المَنَاظِرُ الطَّبِيعِيَّةُ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جَبَلٌ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mountain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ja-bal · pl. ji-bāl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جَبَلٌ</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جِبَالٌ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نَهْرٌ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nahr · pl. an-hār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نَهْرٌ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أَنْهَارٌ</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بَحْرٌ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baḥr · pl. bi-ḥār</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بَحْرٌ</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بِحَارٌ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صَحْرَاءُ</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ṣaḥ-rāʾ · pl. ṣa-ḥā-rā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صَحْرَاءُ</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صَحَارَى</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غَابَةٌ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ghā-ba · pl. ghā-bāt</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غَابَةٌ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غَابَاتٌ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جَزِيرَةٌ</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island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ja-zī-ra · pl. ju-zur</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جَزِيرَةٌ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جُزُرٌ</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Landscapes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المَنَاظِرُ الطَّبِيعِيَّةُ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بُحَيْرَةٌ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bu-ḥay-ra · pl. bu-ḥay-rāt</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بُحَيْرَةٌ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بُحَيْرَاتٌ</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1" name="Shape 28"/>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شَاطِئٌ</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beach, shore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shā-ṭiʾ · pl. sha-wā-ṭiʾ</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شَاطِئٌ</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شَوَاطِئُ</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4" name="Shape 4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سَاحِلٌ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sā-ḥil · pl. sa-wā-ḥil</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سَاحِلٌ</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سَوَاحِلُ</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7" name="Shape 54"/>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شَلَّالٌ</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waterfall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shal-lāl · pl. shal-lā-lāt</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3" name="Text 6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شَلَّالٌ</a:t>
            </a:r>
            <a:endParaRPr lang="ar-SA" sz="150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شَلَّالَاتٌ</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0" name="Shape 67"/>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72" name="Text 6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بُرْكَانٌ</a:t>
            </a:r>
            <a:endParaRPr lang="ar-SA" sz="3000" dirty="0"/>
          </a:p>
        </p:txBody>
      </p:sp>
      <p:sp>
        <p:nvSpPr>
          <p:cNvPr id="73" name="Text 7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volcano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bur-kān · pl. ba-rā-kīn</a:t>
            </a:r>
            <a:endParaRPr lang="en-US" sz="1350" dirty="0"/>
          </a:p>
        </p:txBody>
      </p:sp>
      <p:sp>
        <p:nvSpPr>
          <p:cNvPr id="74" name="Shape 7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6" name="Text 7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بُرْكَانٌ</a:t>
            </a:r>
            <a:endParaRPr lang="ar-SA" sz="1500" dirty="0"/>
          </a:p>
        </p:txBody>
      </p:sp>
      <p:sp>
        <p:nvSpPr>
          <p:cNvPr id="77" name="Shape 7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9" name="Text 7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بَرَاكِينُ</a:t>
            </a:r>
            <a:endParaRPr lang="ar-SA" sz="1500" dirty="0"/>
          </a:p>
        </p:txBody>
      </p:sp>
      <p:sp>
        <p:nvSpPr>
          <p:cNvPr id="80" name="Shape 7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566928" y="4261104"/>
            <a:ext cx="310896" cy="310896"/>
          </a:xfrm>
          <a:prstGeom prst="ellipse">
            <a:avLst/>
          </a:prstGeom>
          <a:solidFill>
            <a:srgbClr val="F4F1EA"/>
          </a:solidFill>
          <a:ln w="12700">
            <a:solidFill>
              <a:srgbClr val="F4F1EA"/>
            </a:solidFill>
            <a:prstDash val="solid"/>
          </a:ln>
        </p:spPr>
      </p:sp>
      <p:sp>
        <p:nvSpPr>
          <p:cNvPr id="82" name="Text 7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3" name="Shape 8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4" name="Text 8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هَضْبَةٌ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plateau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haḍ-ba · pl. hi-ḍāb</a:t>
            </a:r>
            <a:endParaRPr lang="en-US" sz="1350" dirty="0"/>
          </a:p>
        </p:txBody>
      </p:sp>
      <p:sp>
        <p:nvSpPr>
          <p:cNvPr id="87" name="Shape 8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9" name="Text 8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هَضْبَةٌ</a:t>
            </a:r>
            <a:endParaRPr lang="ar-SA" sz="1500" dirty="0"/>
          </a:p>
        </p:txBody>
      </p:sp>
      <p:sp>
        <p:nvSpPr>
          <p:cNvPr id="90" name="Shape 8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هِضَابٌ</a:t>
            </a:r>
            <a:endParaRPr lang="ar-SA" sz="150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Animals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الحَيَوَانَاتُ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حَيَوَانٌ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animal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ḥa-ya-wān · pl. ḥa-ya-wā-nāt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حَيَوَانٌ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حَيَوَانَاتٌ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سَمَكٌ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sa-mak · pl. as-māk</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سَمَكٌ</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أَسْمَاكٌ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camel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ja-mal · pl. ji-māl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جَمَلٌ</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جِمَالٌ</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أَسَدٌ</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a-sad · pl. u-sūd</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أَسَدٌ</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أُسُودٌ</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فِيلٌ</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elephant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fīl · pl. fi-ya-la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فِيلٌ</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فِيَلَةٌ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قِرْدٌ</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monkey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qird · pl. qu-rūd</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قِرْدٌ</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قُرُودٌ</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WEBSITE P4-L01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Ecosystems: a noun + a describing word</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الأَنْظِمَةُ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 (website)</a:t>
            </a:r>
            <a:endParaRPr lang="en-US" sz="1100" dirty="0"/>
          </a:p>
        </p:txBody>
      </p:sp>
      <p:sp>
        <p:nvSpPr>
          <p:cNvPr id="17" name="Text 14"/>
          <p:cNvSpPr txBox="1"/>
          <p:nvPr/>
        </p:nvSpPr>
        <p:spPr>
          <a:xfrm>
            <a:off x="50383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describing word comes from…</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7982712" y="2286000"/>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نِظَامٌ</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بِيئِ</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21" name="Text 18"/>
          <p:cNvSpPr txBox="1"/>
          <p:nvPr/>
        </p:nvSpPr>
        <p:spPr>
          <a:xfrm>
            <a:off x="7936992" y="2585923"/>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ni-ẓām bī-ʾiyy</a:t>
            </a:r>
            <a:endParaRPr lang="en-US" sz="950" dirty="0"/>
          </a:p>
        </p:txBody>
      </p:sp>
      <p:sp>
        <p:nvSpPr>
          <p:cNvPr id="22" name="Text 19"/>
          <p:cNvSpPr txBox="1"/>
          <p:nvPr/>
        </p:nvSpPr>
        <p:spPr>
          <a:xfrm>
            <a:off x="5074920" y="226771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ecosystem</a:t>
            </a:r>
            <a:endParaRPr lang="en-US" sz="1100" dirty="0"/>
          </a:p>
        </p:txBody>
      </p:sp>
      <p:sp>
        <p:nvSpPr>
          <p:cNvPr id="23" name="Text 20"/>
          <p:cNvSpPr txBox="1"/>
          <p:nvPr/>
        </p:nvSpPr>
        <p:spPr>
          <a:xfrm>
            <a:off x="566928" y="2267712"/>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بِيئَة</a:t>
            </a:r>
            <a:pPr algn="l" indent="0" marL="0">
              <a:buNone/>
            </a:pPr>
            <a:r>
              <a:rPr lang="en-US" sz="1100" i="1" dirty="0">
                <a:solidFill>
                  <a:srgbClr val="5A6472"/>
                </a:solidFill>
                <a:latin typeface="Calibri" pitchFamily="34" charset="0"/>
                <a:ea typeface="Calibri" pitchFamily="34" charset="-122"/>
                <a:cs typeface="Calibri" pitchFamily="34" charset="-120"/>
              </a:rPr>
              <a:t> (environment) → </a:t>
            </a:r>
            <a:pPr algn="l" indent="0" marL="0">
              <a:buNone/>
            </a:pPr>
            <a:r>
              <a:rPr lang="ar-SA" altLang="en-US" sz="1450" dirty="0">
                <a:solidFill>
                  <a:srgbClr val="5A6472"/>
                </a:solidFill>
                <a:latin typeface="Amiri" pitchFamily="34" charset="0"/>
                <a:ea typeface="Amiri" pitchFamily="34" charset="-122"/>
                <a:cs typeface="Amiri" pitchFamily="34" charset="-120"/>
              </a:rPr>
              <a:t>بِيئِيٌّ</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7" name="Text 24"/>
          <p:cNvSpPr txBox="1"/>
          <p:nvPr/>
        </p:nvSpPr>
        <p:spPr>
          <a:xfrm>
            <a:off x="7982712" y="2871216"/>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تَنَوُّعٌ</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حَيَوِ</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28" name="Text 25"/>
          <p:cNvSpPr txBox="1"/>
          <p:nvPr/>
        </p:nvSpPr>
        <p:spPr>
          <a:xfrm>
            <a:off x="7936992" y="3171139"/>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ta-na-wwuʿ ḥa-ya-wiyy</a:t>
            </a:r>
            <a:endParaRPr lang="en-US" sz="950" dirty="0"/>
          </a:p>
        </p:txBody>
      </p:sp>
      <p:sp>
        <p:nvSpPr>
          <p:cNvPr id="29" name="Text 26"/>
          <p:cNvSpPr txBox="1"/>
          <p:nvPr/>
        </p:nvSpPr>
        <p:spPr>
          <a:xfrm>
            <a:off x="5074920" y="285292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biodiversity</a:t>
            </a:r>
            <a:endParaRPr lang="en-US" sz="1100" dirty="0"/>
          </a:p>
        </p:txBody>
      </p:sp>
      <p:sp>
        <p:nvSpPr>
          <p:cNvPr id="30" name="Text 27"/>
          <p:cNvSpPr txBox="1"/>
          <p:nvPr/>
        </p:nvSpPr>
        <p:spPr>
          <a:xfrm>
            <a:off x="566928" y="2852928"/>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حَيَاة</a:t>
            </a:r>
            <a:pPr algn="l" indent="0" marL="0">
              <a:buNone/>
            </a:pPr>
            <a:r>
              <a:rPr lang="en-US" sz="1100" i="1" dirty="0">
                <a:solidFill>
                  <a:srgbClr val="5A6472"/>
                </a:solidFill>
                <a:latin typeface="Calibri" pitchFamily="34" charset="0"/>
                <a:ea typeface="Calibri" pitchFamily="34" charset="-122"/>
                <a:cs typeface="Calibri" pitchFamily="34" charset="-120"/>
              </a:rPr>
              <a:t> (life) → </a:t>
            </a:r>
            <a:pPr algn="l" indent="0" marL="0">
              <a:buNone/>
            </a:pPr>
            <a:r>
              <a:rPr lang="ar-SA" altLang="en-US" sz="1450" dirty="0">
                <a:solidFill>
                  <a:srgbClr val="5A6472"/>
                </a:solidFill>
                <a:latin typeface="Amiri" pitchFamily="34" charset="0"/>
                <a:ea typeface="Amiri" pitchFamily="34" charset="-122"/>
                <a:cs typeface="Amiri" pitchFamily="34" charset="-120"/>
              </a:rPr>
              <a:t>حَيَوِيٌّ</a:t>
            </a:r>
            <a:endParaRPr lang="en-US" sz="1100" dirty="0"/>
          </a:p>
        </p:txBody>
      </p:sp>
      <p:sp>
        <p:nvSpPr>
          <p:cNvPr id="31" name="Shape 28"/>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2" name="Text 29"/>
          <p:cNvSpPr txBox="1"/>
          <p:nvPr/>
        </p:nvSpPr>
        <p:spPr>
          <a:xfrm>
            <a:off x="7982712" y="3456432"/>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سِلْسِلَةٌ</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غِذَائِ</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33" name="Text 30"/>
          <p:cNvSpPr txBox="1"/>
          <p:nvPr/>
        </p:nvSpPr>
        <p:spPr>
          <a:xfrm>
            <a:off x="7936992" y="3756355"/>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sil-si-la ghi-dhā-ʾiy-ya</a:t>
            </a:r>
            <a:endParaRPr lang="en-US" sz="950" dirty="0"/>
          </a:p>
        </p:txBody>
      </p:sp>
      <p:sp>
        <p:nvSpPr>
          <p:cNvPr id="34" name="Text 31"/>
          <p:cNvSpPr txBox="1"/>
          <p:nvPr/>
        </p:nvSpPr>
        <p:spPr>
          <a:xfrm>
            <a:off x="5074920" y="3438144"/>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food chain</a:t>
            </a:r>
            <a:endParaRPr lang="en-US" sz="1100" dirty="0"/>
          </a:p>
        </p:txBody>
      </p:sp>
      <p:sp>
        <p:nvSpPr>
          <p:cNvPr id="35" name="Text 32"/>
          <p:cNvSpPr txBox="1"/>
          <p:nvPr/>
        </p:nvSpPr>
        <p:spPr>
          <a:xfrm>
            <a:off x="566928" y="3438144"/>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غِذَاء</a:t>
            </a:r>
            <a:pPr algn="l" indent="0" marL="0">
              <a:buNone/>
            </a:pPr>
            <a:r>
              <a:rPr lang="en-US" sz="1100" i="1" dirty="0">
                <a:solidFill>
                  <a:srgbClr val="5A6472"/>
                </a:solidFill>
                <a:latin typeface="Calibri" pitchFamily="34" charset="0"/>
                <a:ea typeface="Calibri" pitchFamily="34" charset="-122"/>
                <a:cs typeface="Calibri" pitchFamily="34" charset="-120"/>
              </a:rPr>
              <a:t> (food) → </a:t>
            </a:r>
            <a:pPr algn="l" indent="0" marL="0">
              <a:buNone/>
            </a:pPr>
            <a:r>
              <a:rPr lang="ar-SA" altLang="en-US" sz="1450" dirty="0">
                <a:solidFill>
                  <a:srgbClr val="5A6472"/>
                </a:solidFill>
                <a:latin typeface="Amiri" pitchFamily="34" charset="0"/>
                <a:ea typeface="Amiri" pitchFamily="34" charset="-122"/>
                <a:cs typeface="Amiri" pitchFamily="34" charset="-120"/>
              </a:rPr>
              <a:t>غِذَائِيَّةٌ</a:t>
            </a:r>
            <a:pPr algn="l" indent="0" marL="0">
              <a:buNone/>
            </a:pPr>
            <a:r>
              <a:rPr lang="en-US" sz="1100" i="1" dirty="0">
                <a:solidFill>
                  <a:srgbClr val="5A6472"/>
                </a:solidFill>
                <a:latin typeface="Calibri" pitchFamily="34" charset="0"/>
                <a:ea typeface="Calibri" pitchFamily="34" charset="-122"/>
                <a:cs typeface="Calibri" pitchFamily="34" charset="-120"/>
              </a:rPr>
              <a:t> — f. noun</a:t>
            </a:r>
            <a:endParaRPr lang="en-US" sz="1100" dirty="0"/>
          </a:p>
        </p:txBody>
      </p:sp>
      <p:sp>
        <p:nvSpPr>
          <p:cNvPr id="36" name="Shape 33"/>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7" name="Text 34"/>
          <p:cNvSpPr txBox="1"/>
          <p:nvPr/>
        </p:nvSpPr>
        <p:spPr>
          <a:xfrm>
            <a:off x="7982712" y="4041648"/>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مَوْطِنٌ</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طَبِيعِ</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38" name="Text 35"/>
          <p:cNvSpPr txBox="1"/>
          <p:nvPr/>
        </p:nvSpPr>
        <p:spPr>
          <a:xfrm>
            <a:off x="7936992" y="4341571"/>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maw-ṭin ṭa-bī-ʿiyy</a:t>
            </a:r>
            <a:endParaRPr lang="en-US" sz="950" dirty="0"/>
          </a:p>
        </p:txBody>
      </p:sp>
      <p:sp>
        <p:nvSpPr>
          <p:cNvPr id="39" name="Text 36"/>
          <p:cNvSpPr txBox="1"/>
          <p:nvPr/>
        </p:nvSpPr>
        <p:spPr>
          <a:xfrm>
            <a:off x="5074920" y="4023360"/>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natural habitat</a:t>
            </a:r>
            <a:endParaRPr lang="en-US" sz="1100" dirty="0"/>
          </a:p>
        </p:txBody>
      </p:sp>
      <p:sp>
        <p:nvSpPr>
          <p:cNvPr id="40" name="Text 37"/>
          <p:cNvSpPr txBox="1"/>
          <p:nvPr/>
        </p:nvSpPr>
        <p:spPr>
          <a:xfrm>
            <a:off x="566928" y="4023360"/>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طَبِيعَة</a:t>
            </a:r>
            <a:pPr algn="l" indent="0" marL="0">
              <a:buNone/>
            </a:pPr>
            <a:r>
              <a:rPr lang="en-US" sz="1100" i="1" dirty="0">
                <a:solidFill>
                  <a:srgbClr val="5A6472"/>
                </a:solidFill>
                <a:latin typeface="Calibri" pitchFamily="34" charset="0"/>
                <a:ea typeface="Calibri" pitchFamily="34" charset="-122"/>
                <a:cs typeface="Calibri" pitchFamily="34" charset="-120"/>
              </a:rPr>
              <a:t> (nature) → </a:t>
            </a:r>
            <a:pPr algn="l" indent="0" marL="0">
              <a:buNone/>
            </a:pPr>
            <a:r>
              <a:rPr lang="ar-SA" altLang="en-US" sz="1450" dirty="0">
                <a:solidFill>
                  <a:srgbClr val="5A6472"/>
                </a:solidFill>
                <a:latin typeface="Amiri" pitchFamily="34" charset="0"/>
                <a:ea typeface="Amiri" pitchFamily="34" charset="-122"/>
                <a:cs typeface="Amiri" pitchFamily="34" charset="-120"/>
              </a:rPr>
              <a:t>طَبِيعِيٌّ</a:t>
            </a:r>
            <a:endParaRPr lang="en-US" sz="1100" dirty="0"/>
          </a:p>
        </p:txBody>
      </p:sp>
      <p:sp>
        <p:nvSpPr>
          <p:cNvPr id="41" name="Shape 38"/>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4" name="Text 41"/>
          <p:cNvSpPr txBox="1"/>
          <p:nvPr/>
        </p:nvSpPr>
        <p:spPr>
          <a:xfrm>
            <a:off x="7982712" y="4626864"/>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غَابَةٌ</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اسْتِوَائِ</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45" name="Text 42"/>
          <p:cNvSpPr txBox="1"/>
          <p:nvPr/>
        </p:nvSpPr>
        <p:spPr>
          <a:xfrm>
            <a:off x="7936992" y="4926787"/>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ghā-ba is-ti-wā-ʾiy-ya</a:t>
            </a:r>
            <a:endParaRPr lang="en-US" sz="950" dirty="0"/>
          </a:p>
        </p:txBody>
      </p:sp>
      <p:sp>
        <p:nvSpPr>
          <p:cNvPr id="46" name="Text 43"/>
          <p:cNvSpPr txBox="1"/>
          <p:nvPr/>
        </p:nvSpPr>
        <p:spPr>
          <a:xfrm>
            <a:off x="5074920" y="4608576"/>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tropical rainforest</a:t>
            </a:r>
            <a:endParaRPr lang="en-US" sz="1100" dirty="0"/>
          </a:p>
        </p:txBody>
      </p:sp>
      <p:sp>
        <p:nvSpPr>
          <p:cNvPr id="47" name="Text 44"/>
          <p:cNvSpPr txBox="1"/>
          <p:nvPr/>
        </p:nvSpPr>
        <p:spPr>
          <a:xfrm>
            <a:off x="566928" y="4608576"/>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اسْتِوَاء</a:t>
            </a:r>
            <a:pPr algn="l" indent="0" marL="0">
              <a:buNone/>
            </a:pPr>
            <a:r>
              <a:rPr lang="en-US" sz="1100" i="1" dirty="0">
                <a:solidFill>
                  <a:srgbClr val="5A6472"/>
                </a:solidFill>
                <a:latin typeface="Calibri" pitchFamily="34" charset="0"/>
                <a:ea typeface="Calibri" pitchFamily="34" charset="-122"/>
                <a:cs typeface="Calibri" pitchFamily="34" charset="-120"/>
              </a:rPr>
              <a:t> (equator) → </a:t>
            </a:r>
            <a:pPr algn="l" indent="0" marL="0">
              <a:buNone/>
            </a:pPr>
            <a:r>
              <a:rPr lang="ar-SA" altLang="en-US" sz="1450" dirty="0">
                <a:solidFill>
                  <a:srgbClr val="5A6472"/>
                </a:solidFill>
                <a:latin typeface="Amiri" pitchFamily="34" charset="0"/>
                <a:ea typeface="Amiri" pitchFamily="34" charset="-122"/>
                <a:cs typeface="Amiri" pitchFamily="34" charset="-120"/>
              </a:rPr>
              <a:t>اسْتِوَائِيَّةٌ</a:t>
            </a:r>
            <a:pPr algn="l" indent="0" marL="0">
              <a:buNone/>
            </a:pPr>
            <a:r>
              <a:rPr lang="en-US" sz="1100" i="1" dirty="0">
                <a:solidFill>
                  <a:srgbClr val="5A6472"/>
                </a:solidFill>
                <a:latin typeface="Calibri" pitchFamily="34" charset="0"/>
                <a:ea typeface="Calibri" pitchFamily="34" charset="-122"/>
                <a:cs typeface="Calibri" pitchFamily="34" charset="-120"/>
              </a:rPr>
              <a:t> — f. noun</a:t>
            </a:r>
            <a:endParaRPr lang="en-US" sz="1100" dirty="0"/>
          </a:p>
        </p:txBody>
      </p:sp>
      <p:sp>
        <p:nvSpPr>
          <p:cNvPr id="48" name="Shape 45"/>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0" name="Shape 47"/>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1" name="Text 48"/>
          <p:cNvSpPr txBox="1"/>
          <p:nvPr/>
        </p:nvSpPr>
        <p:spPr>
          <a:xfrm>
            <a:off x="7982712" y="5212080"/>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شِعَابٌ</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مَرْجَانِ</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52" name="Text 49"/>
          <p:cNvSpPr txBox="1"/>
          <p:nvPr/>
        </p:nvSpPr>
        <p:spPr>
          <a:xfrm>
            <a:off x="7936992" y="5512003"/>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shi-ʿāb mar-jā-niy-ya</a:t>
            </a:r>
            <a:endParaRPr lang="en-US" sz="950" dirty="0"/>
          </a:p>
        </p:txBody>
      </p:sp>
      <p:sp>
        <p:nvSpPr>
          <p:cNvPr id="53" name="Text 50"/>
          <p:cNvSpPr txBox="1"/>
          <p:nvPr/>
        </p:nvSpPr>
        <p:spPr>
          <a:xfrm>
            <a:off x="5074920" y="519379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coral reefs</a:t>
            </a:r>
            <a:endParaRPr lang="en-US" sz="1100" dirty="0"/>
          </a:p>
        </p:txBody>
      </p:sp>
      <p:sp>
        <p:nvSpPr>
          <p:cNvPr id="54" name="Text 51"/>
          <p:cNvSpPr txBox="1"/>
          <p:nvPr/>
        </p:nvSpPr>
        <p:spPr>
          <a:xfrm>
            <a:off x="566928" y="5193792"/>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مَرْجَان</a:t>
            </a:r>
            <a:pPr algn="l" indent="0" marL="0">
              <a:buNone/>
            </a:pPr>
            <a:r>
              <a:rPr lang="en-US" sz="1100" i="1" dirty="0">
                <a:solidFill>
                  <a:srgbClr val="5A6472"/>
                </a:solidFill>
                <a:latin typeface="Calibri" pitchFamily="34" charset="0"/>
                <a:ea typeface="Calibri" pitchFamily="34" charset="-122"/>
                <a:cs typeface="Calibri" pitchFamily="34" charset="-120"/>
              </a:rPr>
              <a:t> (coral) → plural of things takes f.</a:t>
            </a:r>
            <a:endParaRPr lang="en-US" sz="1100" dirty="0"/>
          </a:p>
        </p:txBody>
      </p:sp>
      <p:sp>
        <p:nvSpPr>
          <p:cNvPr id="55" name="Shape 5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6" name="Text 53"/>
          <p:cNvSpPr txBox="1"/>
          <p:nvPr/>
        </p:nvSpPr>
        <p:spPr>
          <a:xfrm>
            <a:off x="7982712" y="5797296"/>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التَّوَازُنُ</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البِيئِ</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57" name="Text 54"/>
          <p:cNvSpPr txBox="1"/>
          <p:nvPr/>
        </p:nvSpPr>
        <p:spPr>
          <a:xfrm>
            <a:off x="7936992" y="6097219"/>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at-ta-wā-zun al-bī-ʾiyy</a:t>
            </a:r>
            <a:endParaRPr lang="en-US" sz="950" dirty="0"/>
          </a:p>
        </p:txBody>
      </p:sp>
      <p:sp>
        <p:nvSpPr>
          <p:cNvPr id="58" name="Text 55"/>
          <p:cNvSpPr txBox="1"/>
          <p:nvPr/>
        </p:nvSpPr>
        <p:spPr>
          <a:xfrm>
            <a:off x="5074920" y="577900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ecological balance</a:t>
            </a:r>
            <a:endParaRPr lang="en-US" sz="1100" dirty="0"/>
          </a:p>
        </p:txBody>
      </p:sp>
      <p:sp>
        <p:nvSpPr>
          <p:cNvPr id="59" name="Text 56"/>
          <p:cNvSpPr txBox="1"/>
          <p:nvPr/>
        </p:nvSpPr>
        <p:spPr>
          <a:xfrm>
            <a:off x="566928" y="5779008"/>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a:t>
            </a:r>
            <a:pPr algn="l" indent="0" marL="0">
              <a:buNone/>
            </a:pPr>
            <a:r>
              <a:rPr lang="en-US" sz="1100" i="1" dirty="0">
                <a:solidFill>
                  <a:srgbClr val="5A6472"/>
                </a:solidFill>
                <a:latin typeface="Calibri" pitchFamily="34" charset="0"/>
                <a:ea typeface="Calibri" pitchFamily="34" charset="-122"/>
                <a:cs typeface="Calibri" pitchFamily="34" charset="-120"/>
              </a:rPr>
              <a:t> on BOTH words</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verbs (website)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الوَصْفِ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object</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يَضُمُّ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includes, encompasses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ya-ḍum-mu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 doubled;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object</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يُشَكِّلُ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forms, constitutes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yu-shak-ki-lu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direct object.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مَعَ</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يَتَفَاعَلُ</a:t>
            </a:r>
            <a:pPr rtl="1" algn="r" indent="0" marL="0">
              <a:buNone/>
            </a:pPr>
            <a:r>
              <a:rPr lang="ar-SA" altLang="en-US" sz="3000" b="1" dirty="0">
                <a:solidFill>
                  <a:srgbClr val="1B3B6F"/>
                </a:solidFill>
                <a:latin typeface="Amiri" pitchFamily="34" charset="0"/>
                <a:ea typeface="Amiri" pitchFamily="34" charset="-122"/>
                <a:cs typeface="Amiri" pitchFamily="34" charset="-120"/>
              </a:rPr>
              <a:t> مَعَ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interacts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ya-ta-fā-ʿa-lu ma-ʿa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 fixed with </a:t>
            </a:r>
            <a:pPr algn="l" indent="0" marL="0">
              <a:buNone/>
            </a:pPr>
            <a:r>
              <a:rPr lang="ar-SA" altLang="en-US" sz="1300" dirty="0">
                <a:solidFill>
                  <a:srgbClr val="8A6D1E"/>
                </a:solidFill>
                <a:latin typeface="Amiri" pitchFamily="34" charset="0"/>
                <a:ea typeface="Amiri" pitchFamily="34" charset="-122"/>
                <a:cs typeface="Amiri" pitchFamily="34" charset="-120"/>
              </a:rPr>
              <a:t>مَعَ</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عَلَى</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يَعْتَمِدُ</a:t>
            </a:r>
            <a:pPr rtl="1" algn="r" indent="0" marL="0">
              <a:buNone/>
            </a:pPr>
            <a:r>
              <a:rPr lang="ar-SA" altLang="en-US" sz="3000" b="1" dirty="0">
                <a:solidFill>
                  <a:srgbClr val="1B3B6F"/>
                </a:solidFill>
                <a:latin typeface="Amiri" pitchFamily="34" charset="0"/>
                <a:ea typeface="Amiri" pitchFamily="34" charset="-122"/>
                <a:cs typeface="Amiri" pitchFamily="34" charset="-120"/>
              </a:rPr>
              <a:t> عَلَى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depends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yaʿ-ta-mi-du ʿa-lā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Fixed with </a:t>
            </a:r>
            <a:pPr algn="l" indent="0" marL="0">
              <a:buNone/>
            </a:pPr>
            <a:r>
              <a:rPr lang="ar-SA" altLang="en-US" sz="1300" dirty="0">
                <a:solidFill>
                  <a:srgbClr val="8A6D1E"/>
                </a:solidFill>
                <a:latin typeface="Amiri" pitchFamily="34" charset="0"/>
                <a:ea typeface="Amiri" pitchFamily="34" charset="-122"/>
                <a:cs typeface="Amiri" pitchFamily="34" charset="-120"/>
              </a:rPr>
              <a:t>عَلَى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4782312" y="4279392"/>
            <a:ext cx="108265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object</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يُهَدِّدُ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threatens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yu-had-di-du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direct object.</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إِلَى</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يُؤَدِّي</a:t>
            </a:r>
            <a:pPr rtl="1" algn="r" indent="0" marL="0">
              <a:buNone/>
            </a:pPr>
            <a:r>
              <a:rPr lang="ar-SA" altLang="en-US" sz="3000" b="1" dirty="0">
                <a:solidFill>
                  <a:srgbClr val="1B3B6F"/>
                </a:solidFill>
                <a:latin typeface="Amiri" pitchFamily="34" charset="0"/>
                <a:ea typeface="Amiri" pitchFamily="34" charset="-122"/>
                <a:cs typeface="Amiri" pitchFamily="34" charset="-120"/>
              </a:rPr>
              <a:t> إِلَى</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Fixed with </a:t>
            </a:r>
            <a:pPr algn="l" indent="0" marL="0">
              <a:buNone/>
            </a:pPr>
            <a:r>
              <a:rPr lang="ar-SA" altLang="en-US" sz="1300" dirty="0">
                <a:solidFill>
                  <a:srgbClr val="8A6D1E"/>
                </a:solidFill>
                <a:latin typeface="Amiri" pitchFamily="34" charset="0"/>
                <a:ea typeface="Amiri" pitchFamily="34" charset="-122"/>
                <a:cs typeface="Amiri" pitchFamily="34" charset="-120"/>
              </a:rPr>
              <a:t>إِلَى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Protecting nature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حِمَايَةُ الطَّبِيعَةِ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أَنْوَاعٌ مُهَدَّدَةٌ بِالانْقِرَاضِ</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endangered species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an-wāʿ mu-had-da-da bil-in-qi-rāḍ</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الانْقِرَاضُ</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extinction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al-in-qi-rāḍ</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particle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in order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Triggers the subjunctive.</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subjunctive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 تَحْمِيَ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it protects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 taḥ-mi-ya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Subjunctive </a:t>
            </a:r>
            <a:pPr algn="l" indent="0" marL="0">
              <a:buNone/>
            </a:pPr>
            <a:r>
              <a:rPr lang="ar-SA" altLang="en-US" sz="1300" dirty="0">
                <a:solidFill>
                  <a:srgbClr val="8A6D1E"/>
                </a:solidFill>
                <a:latin typeface="Amiri" pitchFamily="34" charset="0"/>
                <a:ea typeface="Amiri" pitchFamily="34" charset="-122"/>
                <a:cs typeface="Amiri" pitchFamily="34" charset="-120"/>
              </a:rPr>
              <a:t>تَحْمِيَ</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إِجْرَاءَاتُ الحِمَايَةِ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protection measures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ij-rā-ʾāt al-ḥi-mā-ya</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7" name="Shape 54"/>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9" name="Text 5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تَعَاوُنٌ </a:t>
            </a:r>
            <a:pPr rtl="1" algn="r" indent="0" marL="0">
              <a:buNone/>
            </a:pPr>
            <a:r>
              <a:rPr lang="ar-SA" altLang="en-US" sz="3000" b="1" dirty="0">
                <a:solidFill>
                  <a:srgbClr val="7B3FA0"/>
                </a:solidFill>
                <a:latin typeface="Amiri" pitchFamily="34" charset="0"/>
                <a:ea typeface="Amiri" pitchFamily="34" charset="-122"/>
                <a:cs typeface="Amiri" pitchFamily="34" charset="-120"/>
              </a:rPr>
              <a:t>إِقْلِيمِ</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60" name="Text 5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regional cooperation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ta-ʿā-wun iq-lī-miyy</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ADJECTIVE AGREEMENT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The describing word agrees with its noun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تَتْبَعُ المَوْصُوفَ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34" charset="0"/>
                <a:ea typeface="Amiri" pitchFamily="34" charset="-122"/>
                <a:cs typeface="Amiri" pitchFamily="34" charset="-120"/>
              </a:rPr>
              <a:t>غَابَةٌ</a:t>
            </a:r>
            <a:pPr rtl="1" algn="ctr" indent="0" marL="0">
              <a:buNone/>
            </a:pPr>
            <a:r>
              <a:rPr lang="ar-SA" altLang="en-US" sz="7200" b="1" dirty="0">
                <a:solidFill>
                  <a:srgbClr val="1B3B6F"/>
                </a:solidFill>
                <a:latin typeface="Amiri" pitchFamily="34" charset="0"/>
                <a:ea typeface="Amiri" pitchFamily="34" charset="-122"/>
                <a:cs typeface="Amiri" pitchFamily="34" charset="-120"/>
              </a:rPr>
              <a:t> </a:t>
            </a:r>
            <a:pPr rtl="1" algn="ctr" indent="0" marL="0">
              <a:buNone/>
            </a:pPr>
            <a:r>
              <a:rPr lang="ar-SA" altLang="en-US" sz="7200" b="1" dirty="0">
                <a:solidFill>
                  <a:srgbClr val="7B3FA0"/>
                </a:solidFill>
                <a:latin typeface="Amiri" pitchFamily="34" charset="0"/>
                <a:ea typeface="Amiri" pitchFamily="34" charset="-122"/>
                <a:cs typeface="Amiri" pitchFamily="34" charset="-120"/>
              </a:rPr>
              <a:t>اسْتِوَائِ</a:t>
            </a:r>
            <a:pPr rtl="1" algn="ctr" indent="0" marL="0">
              <a:buNone/>
            </a:pPr>
            <a:r>
              <a:rPr lang="ar-SA" altLang="en-US" sz="7200" b="1" dirty="0">
                <a:solidFill>
                  <a:srgbClr val="D6336C"/>
                </a:solidFill>
                <a:latin typeface="Amiri" pitchFamily="34" charset="0"/>
                <a:ea typeface="Amiri" pitchFamily="34" charset="-122"/>
                <a:cs typeface="Amiri" pitchFamily="34" charset="-120"/>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ghā-ba is-ti-wā-ʾiy-ya · a tropical rainforest</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غَابَةٌ</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NOUN first (WHO it describes)</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noun comes first. </a:t>
            </a:r>
            <a:pPr algn="l" indent="0" marL="0">
              <a:buNone/>
            </a:pPr>
            <a:r>
              <a:rPr lang="ar-SA" altLang="en-US" sz="1500" dirty="0">
                <a:solidFill>
                  <a:srgbClr val="5A6472"/>
                </a:solidFill>
                <a:latin typeface="Amiri" pitchFamily="34" charset="0"/>
                <a:ea typeface="Amiri" pitchFamily="34" charset="-122"/>
                <a:cs typeface="Amiri" pitchFamily="34" charset="-120"/>
              </a:rPr>
              <a:t>غَابَة</a:t>
            </a:r>
            <a:pPr algn="l" indent="0" marL="0">
              <a:buNone/>
            </a:pPr>
            <a:r>
              <a:rPr lang="en-US" sz="1150" dirty="0">
                <a:solidFill>
                  <a:srgbClr val="5A6472"/>
                </a:solidFill>
                <a:latin typeface="Calibri" pitchFamily="34" charset="0"/>
                <a:ea typeface="Calibri" pitchFamily="34" charset="-122"/>
                <a:cs typeface="Calibri" pitchFamily="34" charset="-120"/>
              </a:rPr>
              <a:t> ends in </a:t>
            </a:r>
            <a:pPr algn="l" indent="0" marL="0">
              <a:buNone/>
            </a:pPr>
            <a:r>
              <a:rPr lang="ar-SA" altLang="en-US" sz="1500" dirty="0">
                <a:solidFill>
                  <a:srgbClr val="5A6472"/>
                </a:solidFill>
                <a:latin typeface="Amiri" pitchFamily="34" charset="0"/>
                <a:ea typeface="Amiri" pitchFamily="34" charset="-122"/>
                <a:cs typeface="Amiri" pitchFamily="34" charset="-120"/>
              </a:rPr>
              <a:t>ـة</a:t>
            </a:r>
            <a:pPr algn="l" indent="0" marL="0">
              <a:buNone/>
            </a:pPr>
            <a:r>
              <a:rPr lang="en-US" sz="1150" dirty="0">
                <a:solidFill>
                  <a:srgbClr val="5A6472"/>
                </a:solidFill>
                <a:latin typeface="Calibri" pitchFamily="34" charset="0"/>
                <a:ea typeface="Calibri" pitchFamily="34" charset="-122"/>
                <a:cs typeface="Calibri" pitchFamily="34" charset="-120"/>
              </a:rPr>
              <a:t>, so it is feminine.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اسْتِوَاء</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describing word is made from a noun: </a:t>
            </a:r>
            <a:pPr algn="l" indent="0" marL="0">
              <a:buNone/>
            </a:pPr>
            <a:r>
              <a:rPr lang="ar-SA" altLang="en-US" sz="1500" dirty="0">
                <a:solidFill>
                  <a:srgbClr val="5A6472"/>
                </a:solidFill>
                <a:latin typeface="Amiri" pitchFamily="34" charset="0"/>
                <a:ea typeface="Amiri" pitchFamily="34" charset="-122"/>
                <a:cs typeface="Amiri" pitchFamily="34" charset="-120"/>
              </a:rPr>
              <a:t>اسْتِوَاء</a:t>
            </a:r>
            <a:pPr algn="l" indent="0" marL="0">
              <a:buNone/>
            </a:pPr>
            <a:r>
              <a:rPr lang="en-US" sz="1150" dirty="0">
                <a:solidFill>
                  <a:srgbClr val="5A6472"/>
                </a:solidFill>
                <a:latin typeface="Calibri" pitchFamily="34" charset="0"/>
                <a:ea typeface="Calibri" pitchFamily="34" charset="-122"/>
                <a:cs typeface="Calibri" pitchFamily="34" charset="-120"/>
              </a:rPr>
              <a:t> (equator) → tropical.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agrees</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Feminine noun → </a:t>
            </a:r>
            <a:pPr algn="l" indent="0" marL="0">
              <a:buNone/>
            </a:pPr>
            <a:r>
              <a:rPr lang="ar-SA" altLang="en-US" sz="1500" dirty="0">
                <a:solidFill>
                  <a:srgbClr val="5A6472"/>
                </a:solidFill>
                <a:latin typeface="Amiri" pitchFamily="34" charset="0"/>
                <a:ea typeface="Amiri" pitchFamily="34" charset="-122"/>
                <a:cs typeface="Amiri" pitchFamily="34" charset="-120"/>
              </a:rPr>
              <a:t>ـِيَّةٌ</a:t>
            </a:r>
            <a:pPr algn="l" indent="0" marL="0">
              <a:buNone/>
            </a:pPr>
            <a:r>
              <a:rPr lang="en-US" sz="1150" dirty="0">
                <a:solidFill>
                  <a:srgbClr val="5A6472"/>
                </a:solidFill>
                <a:latin typeface="Calibri" pitchFamily="34" charset="0"/>
                <a:ea typeface="Calibri" pitchFamily="34" charset="-122"/>
                <a:cs typeface="Calibri" pitchFamily="34" charset="-120"/>
              </a:rPr>
              <a:t>. Masculine noun → </a:t>
            </a:r>
            <a:pPr algn="l" indent="0" marL="0">
              <a:buNone/>
            </a:pPr>
            <a:r>
              <a:rPr lang="ar-SA" altLang="en-US" sz="1500" dirty="0">
                <a:solidFill>
                  <a:srgbClr val="5A6472"/>
                </a:solidFill>
                <a:latin typeface="Amiri" pitchFamily="34" charset="0"/>
                <a:ea typeface="Amiri" pitchFamily="34" charset="-122"/>
                <a:cs typeface="Amiri" pitchFamily="34" charset="-120"/>
              </a:rPr>
              <a:t>ـِيٌّ</a:t>
            </a:r>
            <a:pPr algn="l" indent="0" marL="0">
              <a:buNone/>
            </a:pPr>
            <a:r>
              <a:rPr lang="en-US" sz="1150" dirty="0">
                <a:solidFill>
                  <a:srgbClr val="5A6472"/>
                </a:solidFill>
                <a:latin typeface="Calibri" pitchFamily="34" charset="0"/>
                <a:ea typeface="Calibri" pitchFamily="34" charset="-122"/>
                <a:cs typeface="Calibri" pitchFamily="34" charset="-120"/>
              </a:rPr>
              <a:t>: </a:t>
            </a:r>
            <a:pPr algn="l" indent="0" marL="0">
              <a:buNone/>
            </a:pPr>
            <a:r>
              <a:rPr lang="ar-SA" altLang="en-US" sz="1500" dirty="0">
                <a:solidFill>
                  <a:srgbClr val="5A6472"/>
                </a:solidFill>
                <a:latin typeface="Amiri" pitchFamily="34" charset="0"/>
                <a:ea typeface="Amiri" pitchFamily="34" charset="-122"/>
                <a:cs typeface="Amiri" pitchFamily="34" charset="-120"/>
              </a:rPr>
              <a:t>نِظَامٌ بِيئِيٌّ</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ONE ENDING, MANY NATURE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Nouns and describing words in website sentences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صِفَاتٌ مِنَ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Noun</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Describing word</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نِظَامٌ</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system (m.)</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بِيئِ</a:t>
            </a:r>
            <a:pPr rtl="1" algn="ct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كُلُّ </a:t>
            </a:r>
            <a:pPr rtl="1" algn="r" indent="0" marL="0">
              <a:buNone/>
            </a:pPr>
            <a:r>
              <a:rPr lang="ar-SA" altLang="en-US" sz="2000" dirty="0">
                <a:solidFill>
                  <a:srgbClr val="1D5FBF"/>
                </a:solidFill>
                <a:latin typeface="Amiri" pitchFamily="34" charset="0"/>
                <a:ea typeface="Amiri" pitchFamily="34" charset="-122"/>
                <a:cs typeface="Amiri" pitchFamily="34" charset="-120"/>
              </a:rPr>
              <a:t>نِظَامٍ</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بِيئِ</a:t>
            </a:r>
            <a:pPr rtl="1" algn="r" indent="0" marL="0">
              <a:buNone/>
            </a:pPr>
            <a:r>
              <a:rPr lang="ar-SA" altLang="en-US" sz="2000" dirty="0">
                <a:solidFill>
                  <a:srgbClr val="D6336C"/>
                </a:solidFill>
                <a:latin typeface="Amiri" pitchFamily="34" charset="0"/>
                <a:ea typeface="Amiri" pitchFamily="34" charset="-122"/>
                <a:cs typeface="Amiri" pitchFamily="34" charset="-120"/>
              </a:rPr>
              <a:t>يٍّ</a:t>
            </a:r>
            <a:pPr rtl="1" algn="r" indent="0" marL="0">
              <a:buNone/>
            </a:pPr>
            <a:r>
              <a:rPr lang="ar-SA" altLang="en-US" sz="2000" dirty="0">
                <a:solidFill>
                  <a:srgbClr val="1F2A37"/>
                </a:solidFill>
                <a:latin typeface="Amiri" pitchFamily="34" charset="0"/>
                <a:ea typeface="Amiri" pitchFamily="34" charset="-122"/>
                <a:cs typeface="Amiri" pitchFamily="34" charset="-120"/>
              </a:rPr>
              <a:t> يَضُمُّ أَنْوَاعًا.</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Every ecosystem includes (many) species.</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غَابَةٌ</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forest (f.)</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اسْتِوَائِ</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تَضُمُّ </a:t>
            </a:r>
            <a:pPr rtl="1" algn="r" indent="0" marL="0">
              <a:buNone/>
            </a:pPr>
            <a:r>
              <a:rPr lang="ar-SA" altLang="en-US" sz="2000" dirty="0">
                <a:solidFill>
                  <a:srgbClr val="1D5FBF"/>
                </a:solidFill>
                <a:latin typeface="Amiri" pitchFamily="34" charset="0"/>
                <a:ea typeface="Amiri" pitchFamily="34" charset="-122"/>
                <a:cs typeface="Amiri" pitchFamily="34" charset="-120"/>
              </a:rPr>
              <a:t>الغَابَةُ</a:t>
            </a:r>
            <a:pPr rtl="1" algn="r" indent="0" marL="0">
              <a:buNone/>
            </a:pPr>
            <a:r>
              <a:rPr lang="ar-SA" altLang="en-US" sz="2000" dirty="0">
                <a:solidFill>
                  <a:srgbClr val="1F2A37"/>
                </a:solidFill>
                <a:latin typeface="Amiri" pitchFamily="34" charset="0"/>
                <a:ea typeface="Amiri" pitchFamily="34" charset="-122"/>
                <a:cs typeface="Amiri" pitchFamily="34" charset="-120"/>
              </a:rPr>
              <a:t> آلَافَ الأَنْوَاعِ.</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forest includes thousands of species.</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سَلَاسِلُ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chains (pl. things)</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غِذَائِ</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تَتَفَاعَلُ الأَنْوَاعُ فِي </a:t>
            </a:r>
            <a:pPr rtl="1" algn="r" indent="0" marL="0">
              <a:buNone/>
            </a:pPr>
            <a:r>
              <a:rPr lang="ar-SA" altLang="en-US" sz="2000" dirty="0">
                <a:solidFill>
                  <a:srgbClr val="1D5FBF"/>
                </a:solidFill>
                <a:latin typeface="Amiri" pitchFamily="34" charset="0"/>
                <a:ea typeface="Amiri" pitchFamily="34" charset="-122"/>
                <a:cs typeface="Amiri" pitchFamily="34" charset="-120"/>
              </a:rPr>
              <a:t>سَلَاسِلَ</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غِذَائِ</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Species interact in food chains.</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شِعَابٌ</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reefs (pl. things)</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مَرْجَانِ</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يَضُمُّ البَحْرُ </a:t>
            </a:r>
            <a:pPr rtl="1" algn="r" indent="0" marL="0">
              <a:buNone/>
            </a:pPr>
            <a:r>
              <a:rPr lang="ar-SA" altLang="en-US" sz="2000" dirty="0">
                <a:solidFill>
                  <a:srgbClr val="1D5FBF"/>
                </a:solidFill>
                <a:latin typeface="Amiri" pitchFamily="34" charset="0"/>
                <a:ea typeface="Amiri" pitchFamily="34" charset="-122"/>
                <a:cs typeface="Amiri" pitchFamily="34" charset="-120"/>
              </a:rPr>
              <a:t>شِعَابًا</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مَرْجَانِ</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sea includes coral reefs.</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المَنَاطِقُ</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areas (pl. things)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الجَبَلِ</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تَعِيشُ المَاعِزُ فِي </a:t>
            </a:r>
            <a:pPr rtl="1" algn="r" indent="0" marL="0">
              <a:buNone/>
            </a:pPr>
            <a:r>
              <a:rPr lang="ar-SA" altLang="en-US" sz="2000" dirty="0">
                <a:solidFill>
                  <a:srgbClr val="1D5FBF"/>
                </a:solidFill>
                <a:latin typeface="Amiri" pitchFamily="34" charset="0"/>
                <a:ea typeface="Amiri" pitchFamily="34" charset="-122"/>
                <a:cs typeface="Amiri" pitchFamily="34" charset="-120"/>
              </a:rPr>
              <a:t>المَنَاطِقِ</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الجَبَلِ</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Goats live in mountainous areas. (website game)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THREE WAYS TO JOIN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Adjective, iḍāfa, relative clause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وَالإِضَافَةُ وَالمَوْصُولُ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ADJECTIVE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نِظَامٌ بِيئِيٌّ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التَّوَازُنُ البِيئِيُّ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ecological balance — noun + describing word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ال</a:t>
            </a:r>
            <a:pPr algn="l" indent="0" marL="0">
              <a:buNone/>
            </a:pPr>
            <a:r>
              <a:rPr lang="en-US" sz="1100" dirty="0">
                <a:solidFill>
                  <a:srgbClr val="1F2A37"/>
                </a:solidFill>
                <a:latin typeface="Calibri" pitchFamily="34" charset="0"/>
                <a:ea typeface="Calibri" pitchFamily="34" charset="-122"/>
                <a:cs typeface="Calibri" pitchFamily="34" charset="-120"/>
              </a:rPr>
              <a:t> on BOTH words or on NEITHER: </a:t>
            </a:r>
            <a:pPr algn="l" indent="0" marL="0">
              <a:buNone/>
            </a:pPr>
            <a:r>
              <a:rPr lang="ar-SA" altLang="en-US" sz="1450" dirty="0">
                <a:solidFill>
                  <a:srgbClr val="1F2A37"/>
                </a:solidFill>
                <a:latin typeface="Amiri" pitchFamily="34" charset="0"/>
                <a:ea typeface="Amiri" pitchFamily="34" charset="-122"/>
                <a:cs typeface="Amiri" pitchFamily="34" charset="-120"/>
              </a:rPr>
              <a:t>نِظَامٌ بِيئِيٌّ / النِّظَامُ البِيئِيُّ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IḌĀFA · “the … of …”</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حِمَايَةُ التَّنَوُّعِ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إِجْرَاءَاتُ الحِمَايَةِ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measures of protection — protection measures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1st noun: no </a:t>
            </a:r>
            <a:pPr algn="l" indent="0" marL="0">
              <a:buNone/>
            </a:pPr>
            <a:r>
              <a:rPr lang="ar-SA" altLang="en-US" sz="1450" dirty="0">
                <a:solidFill>
                  <a:srgbClr val="1F2A37"/>
                </a:solidFill>
                <a:latin typeface="Amiri" pitchFamily="34" charset="0"/>
                <a:ea typeface="Amiri" pitchFamily="34" charset="-122"/>
                <a:cs typeface="Amiri" pitchFamily="34" charset="-120"/>
              </a:rPr>
              <a:t>ال</a:t>
            </a:r>
            <a:pPr algn="l" indent="0" marL="0">
              <a:buNone/>
            </a:pPr>
            <a:r>
              <a:rPr lang="en-US" sz="1100" dirty="0">
                <a:solidFill>
                  <a:srgbClr val="1F2A37"/>
                </a:solidFill>
                <a:latin typeface="Calibri" pitchFamily="34" charset="0"/>
                <a:ea typeface="Calibri" pitchFamily="34" charset="-122"/>
                <a:cs typeface="Calibri" pitchFamily="34" charset="-120"/>
              </a:rPr>
              <a:t>, no tanwīn. 2nd noun: often </a:t>
            </a:r>
            <a:pPr algn="l" indent="0" marL="0">
              <a:buNone/>
            </a:pPr>
            <a:r>
              <a:rPr lang="ar-SA" altLang="en-US" sz="1450" dirty="0">
                <a:solidFill>
                  <a:srgbClr val="1F2A37"/>
                </a:solidFill>
                <a:latin typeface="Amiri" pitchFamily="34" charset="0"/>
                <a:ea typeface="Amiri" pitchFamily="34" charset="-122"/>
                <a:cs typeface="Amiri" pitchFamily="34" charset="-120"/>
              </a:rPr>
              <a:t>ال</a:t>
            </a:r>
            <a:pPr algn="l" indent="0" marL="0">
              <a:buNone/>
            </a:pPr>
            <a:r>
              <a:rPr lang="en-US" sz="1100" dirty="0">
                <a:solidFill>
                  <a:srgbClr val="1F2A37"/>
                </a:solidFill>
                <a:latin typeface="Calibri" pitchFamily="34" charset="0"/>
                <a:ea typeface="Calibri" pitchFamily="34" charset="-122"/>
                <a:cs typeface="Calibri" pitchFamily="34" charset="-120"/>
              </a:rPr>
              <a:t> + kasra: </a:t>
            </a:r>
            <a:pPr algn="l" indent="0" marL="0">
              <a:buNone/>
            </a:pPr>
            <a:r>
              <a:rPr lang="ar-SA" altLang="en-US" sz="1450" dirty="0">
                <a:solidFill>
                  <a:srgbClr val="1F2A37"/>
                </a:solidFill>
                <a:latin typeface="Amiri" pitchFamily="34" charset="0"/>
                <a:ea typeface="Amiri" pitchFamily="34" charset="-122"/>
                <a:cs typeface="Amiri" pitchFamily="34" charset="-120"/>
              </a:rPr>
              <a:t>حِمَايَةُ التَّنَوُّعِ</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RELATIVE · which / that</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الَّتِي / الَّذِي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الغَابَةُ الَّتِي تَضُمُّ آلَافَ الأَنْوَاعِ</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forest which includes thousands of species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الَّذِي</a:t>
            </a:r>
            <a:pPr algn="l" indent="0" marL="0">
              <a:buNone/>
            </a:pPr>
            <a:r>
              <a:rPr lang="en-US" sz="1100" dirty="0">
                <a:solidFill>
                  <a:srgbClr val="1F2A37"/>
                </a:solidFill>
                <a:latin typeface="Calibri" pitchFamily="34" charset="0"/>
                <a:ea typeface="Calibri" pitchFamily="34" charset="-122"/>
                <a:cs typeface="Calibri" pitchFamily="34" charset="-120"/>
              </a:rPr>
              <a:t> after a masculine noun; </a:t>
            </a:r>
            <a:pPr algn="l" indent="0" marL="0">
              <a:buNone/>
            </a:pPr>
            <a:r>
              <a:rPr lang="ar-SA" altLang="en-US" sz="1450" dirty="0">
                <a:solidFill>
                  <a:srgbClr val="1F2A37"/>
                </a:solidFill>
                <a:latin typeface="Amiri" pitchFamily="34" charset="0"/>
                <a:ea typeface="Amiri" pitchFamily="34" charset="-122"/>
                <a:cs typeface="Amiri" pitchFamily="34" charset="-120"/>
              </a:rPr>
              <a:t>الَّتِي</a:t>
            </a:r>
            <a:pPr algn="l" indent="0" marL="0">
              <a:buNone/>
            </a:pPr>
            <a:r>
              <a:rPr lang="en-US" sz="1100" dirty="0">
                <a:solidFill>
                  <a:srgbClr val="1F2A37"/>
                </a:solidFill>
                <a:latin typeface="Calibri" pitchFamily="34" charset="0"/>
                <a:ea typeface="Calibri" pitchFamily="34" charset="-122"/>
                <a:cs typeface="Calibri" pitchFamily="34" charset="-120"/>
              </a:rPr>
              <a:t> after a feminine noun or a plural of things.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Using English word order, or a masculine ending on a feminine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34" charset="0"/>
                <a:ea typeface="Amiri" pitchFamily="34" charset="-122"/>
                <a:cs typeface="Amiri" pitchFamily="34" charset="-120"/>
              </a:rPr>
              <a:t>غَابَةٌ اسْتِوَائِيَّةٌ</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غَابَةٌ اسْتِوَائِيٌّ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حِمَايَةُ التَّنَوُّعِ</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الحِمَايَةُ التَّنَوُّعِ</a:t>
            </a:r>
            <a:endParaRPr lang="ar-SA" sz="23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4 · DEVELOP · WEBSITE RULE “COMPOSITION”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Describe an ecosystem: verb + subject + object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التَّكْوِينِ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الفِعْلُ</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verb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B3B6F"/>
          </a:solidFill>
          <a:ln w="12700">
            <a:solidFill>
              <a:srgbClr val="1B3B6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الفَاعِلُ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subject</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التَّكْمِلَةُ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object / complement</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forest includes thousands of species.</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تَضُمُّ</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الغَابَةُ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آلَافَ الأَنْوَاعِ.</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Coral forms a vital environment.</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يُشَكِّلُ</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المَرْجَانُ</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بِيئَةً حَيَوِيَّةً.</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Each element interacts with the others.</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يَتَفَاعَلُ</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كُلُّ عُنْصُرٍ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العَنَاصِرِ الأُخْرَى.</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balance depends on every element surviving.</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يَعْتَمِدُ</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التَّوَازُنُ</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عَلَى بَقَاءِ كُلِّ عُنْصُرٍ.</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No preposition after </a:t>
            </a:r>
            <a:pPr algn="l" indent="0" marL="0">
              <a:buNone/>
            </a:pPr>
            <a:r>
              <a:rPr lang="ar-SA" altLang="en-US" sz="1550" b="1" dirty="0">
                <a:solidFill>
                  <a:srgbClr val="8A6D1E"/>
                </a:solidFill>
                <a:latin typeface="Amiri" pitchFamily="34" charset="0"/>
                <a:ea typeface="Amiri" pitchFamily="34" charset="-122"/>
                <a:cs typeface="Amiri" pitchFamily="34" charset="-120"/>
              </a:rPr>
              <a:t>يَضُمُّ / يُشَكِّلُ</a:t>
            </a:r>
            <a:pPr algn="l" indent="0" marL="0">
              <a:buNone/>
            </a:pPr>
            <a:r>
              <a:rPr lang="en-US" sz="1200" b="1" dirty="0">
                <a:solidFill>
                  <a:srgbClr val="8A6D1E"/>
                </a:solidFill>
                <a:latin typeface="Calibri" pitchFamily="34" charset="0"/>
                <a:ea typeface="Calibri" pitchFamily="34" charset="-122"/>
                <a:cs typeface="Calibri" pitchFamily="34" charset="-120"/>
              </a:rPr>
              <a:t>. Fixed partners: </a:t>
            </a:r>
            <a:pPr algn="l" indent="0" marL="0">
              <a:buNone/>
            </a:pPr>
            <a:r>
              <a:rPr lang="ar-SA" altLang="en-US" sz="1550" b="1" dirty="0">
                <a:solidFill>
                  <a:srgbClr val="8A6D1E"/>
                </a:solidFill>
                <a:latin typeface="Amiri" pitchFamily="34" charset="0"/>
                <a:ea typeface="Amiri" pitchFamily="34" charset="-122"/>
                <a:cs typeface="Amiri" pitchFamily="34" charset="-120"/>
              </a:rPr>
              <a:t>يَتَفَاعَلُ مَعَ</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يَعْتَمِدُ عَلَى</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يُؤَدِّي إِلَى</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Threats and purpose: </a:t>
            </a:r>
            <a:pPr algn="l" indent="0" marL="0">
              <a:buNone/>
            </a:pPr>
            <a:r>
              <a:rPr lang="ar-SA" altLang="en-US" sz="3200" b="1" dirty="0">
                <a:solidFill>
                  <a:srgbClr val="1B3B6F"/>
                </a:solidFill>
                <a:latin typeface="Amiri" pitchFamily="34" charset="0"/>
                <a:ea typeface="Amiri" pitchFamily="34" charset="-122"/>
                <a:cs typeface="Amiri" pitchFamily="34" charset="-120"/>
              </a:rPr>
              <a:t>إِذَا</a:t>
            </a:r>
            <a:pPr algn="l" indent="0" marL="0">
              <a:buNone/>
            </a:pPr>
            <a:r>
              <a:rPr lang="en-US" sz="2450" b="1" dirty="0">
                <a:solidFill>
                  <a:srgbClr val="1B3B6F"/>
                </a:solidFill>
                <a:latin typeface="Cambria" pitchFamily="34" charset="0"/>
                <a:ea typeface="Cambria" pitchFamily="34" charset="-122"/>
                <a:cs typeface="Cambria" pitchFamily="34" charset="-120"/>
              </a:rPr>
              <a:t> · </a:t>
            </a:r>
            <a:pPr algn="l" indent="0" marL="0">
              <a:buNone/>
            </a:pPr>
            <a:r>
              <a:rPr lang="ar-SA" altLang="en-US" sz="3200" b="1" dirty="0">
                <a:solidFill>
                  <a:srgbClr val="1B3B6F"/>
                </a:solidFill>
                <a:latin typeface="Amiri" pitchFamily="34" charset="0"/>
                <a:ea typeface="Amiri" pitchFamily="34" charset="-122"/>
                <a:cs typeface="Amiri" pitchFamily="34" charset="-120"/>
              </a:rPr>
              <a:t>لَوْ</a:t>
            </a:r>
            <a:pPr algn="l" indent="0" marL="0">
              <a:buNone/>
            </a:pPr>
            <a:r>
              <a:rPr lang="en-US" sz="2450" b="1" dirty="0">
                <a:solidFill>
                  <a:srgbClr val="1B3B6F"/>
                </a:solidFill>
                <a:latin typeface="Cambria" pitchFamily="34" charset="0"/>
                <a:ea typeface="Cambria" pitchFamily="34" charset="-122"/>
                <a:cs typeface="Cambria" pitchFamily="34" charset="-120"/>
              </a:rPr>
              <a:t> · </a:t>
            </a:r>
            <a:pPr algn="l" indent="0" marL="0">
              <a:buNone/>
            </a:pPr>
            <a:r>
              <a:rPr lang="ar-SA" altLang="en-US" sz="3200" b="1" dirty="0">
                <a:solidFill>
                  <a:srgbClr val="1B3B6F"/>
                </a:solidFill>
                <a:latin typeface="Amiri" pitchFamily="34" charset="0"/>
                <a:ea typeface="Amiri" pitchFamily="34" charset="-122"/>
                <a:cs typeface="Amiri" pitchFamily="34" charset="-120"/>
              </a:rPr>
              <a:t>لِكَيْ</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الشَّرْطُ وَالمَنْصُوبُ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164592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REAL THREAT · TYPE 1</a:t>
            </a:r>
            <a:endParaRPr lang="en-US" sz="850" dirty="0"/>
          </a:p>
        </p:txBody>
      </p:sp>
      <p:sp>
        <p:nvSpPr>
          <p:cNvPr id="20" name="Text 17"/>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اسْتَمَرَّ الاحْتِرَارُ، سَتَمُوتُ الشِّعَابُ</a:t>
            </a:r>
            <a:endParaRPr lang="ar-SA" sz="21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warming continues, the reefs will die.</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likely consequence of a current trend: </a:t>
            </a:r>
            <a:pPr algn="l" indent="0" marL="0">
              <a:buNone/>
            </a:pPr>
            <a:r>
              <a:rPr lang="ar-SA" altLang="en-US" sz="1450" dirty="0">
                <a:solidFill>
                  <a:srgbClr val="1F2A37"/>
                </a:solidFill>
                <a:latin typeface="Amiri" pitchFamily="34" charset="0"/>
                <a:ea typeface="Amiri" pitchFamily="34" charset="-122"/>
                <a:cs typeface="Amiri" pitchFamily="34" charset="-120"/>
              </a:rPr>
              <a:t>إِذَا</a:t>
            </a:r>
            <a:pPr algn="l" indent="0" marL="0">
              <a:buNone/>
            </a:pPr>
            <a:r>
              <a:rPr lang="en-US" sz="1100" dirty="0">
                <a:solidFill>
                  <a:srgbClr val="1F2A37"/>
                </a:solidFill>
                <a:latin typeface="Calibri" pitchFamily="34" charset="0"/>
                <a:ea typeface="Calibri" pitchFamily="34" charset="-122"/>
                <a:cs typeface="Calibri" pitchFamily="34" charset="-120"/>
              </a:rPr>
              <a:t> + past → </a:t>
            </a:r>
            <a:pPr algn="l" indent="0" marL="0">
              <a:buNone/>
            </a:pPr>
            <a:r>
              <a:rPr lang="ar-SA" altLang="en-US" sz="1450" dirty="0">
                <a:solidFill>
                  <a:srgbClr val="1F2A37"/>
                </a:solidFill>
                <a:latin typeface="Amiri" pitchFamily="34" charset="0"/>
                <a:ea typeface="Amiri" pitchFamily="34" charset="-122"/>
                <a:cs typeface="Amiri" pitchFamily="34" charset="-120"/>
              </a:rPr>
              <a:t>سَـ</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0876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“WHAT IF” · TYPE 2</a:t>
            </a:r>
            <a:endParaRPr lang="en-US" sz="850" dirty="0"/>
          </a:p>
        </p:txBody>
      </p:sp>
      <p:sp>
        <p:nvSpPr>
          <p:cNvPr id="28" name="Text 25"/>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لَوْ حُمِيَتْ مُبَكِّرًا، لَبَقِيَتِ الشِّعَابُ</a:t>
            </a:r>
            <a:endParaRPr lang="ar-SA" sz="245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they been protected early, the reefs would have survived.</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What would have been better: </a:t>
            </a:r>
            <a:pPr algn="l" indent="0" marL="0">
              <a:buNone/>
            </a:pPr>
            <a:r>
              <a:rPr lang="ar-SA" altLang="en-US" sz="1450" dirty="0">
                <a:solidFill>
                  <a:srgbClr val="1F2A37"/>
                </a:solidFill>
                <a:latin typeface="Amiri" pitchFamily="34" charset="0"/>
                <a:ea typeface="Amiri" pitchFamily="34" charset="-122"/>
                <a:cs typeface="Amiri" pitchFamily="34" charset="-120"/>
              </a:rPr>
              <a:t>لَوْ</a:t>
            </a:r>
            <a:pPr algn="l" indent="0" marL="0">
              <a:buNone/>
            </a:pPr>
            <a:r>
              <a:rPr lang="en-US" sz="1100" dirty="0">
                <a:solidFill>
                  <a:srgbClr val="1F2A37"/>
                </a:solidFill>
                <a:latin typeface="Calibri" pitchFamily="34" charset="0"/>
                <a:ea typeface="Calibri" pitchFamily="34" charset="-122"/>
                <a:cs typeface="Calibri" pitchFamily="34" charset="-120"/>
              </a:rPr>
              <a:t> + past → </a:t>
            </a:r>
            <a:pPr algn="l" indent="0" marL="0">
              <a:buNone/>
            </a:pPr>
            <a:r>
              <a:rPr lang="ar-SA" altLang="en-US" sz="1450" dirty="0">
                <a:solidFill>
                  <a:srgbClr val="1F2A37"/>
                </a:solidFill>
                <a:latin typeface="Amiri" pitchFamily="34" charset="0"/>
                <a:ea typeface="Amiri" pitchFamily="34" charset="-122"/>
                <a:cs typeface="Amiri" pitchFamily="34" charset="-120"/>
              </a:rPr>
              <a:t>لَـ</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754380" cy="274320"/>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PURPOSE</a:t>
            </a:r>
            <a:endParaRPr lang="en-US" sz="850" dirty="0"/>
          </a:p>
        </p:txBody>
      </p:sp>
      <p:sp>
        <p:nvSpPr>
          <p:cNvPr id="36" name="Text 33"/>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ـَ</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لِكَيْ نَحْمِيَ الغَابَاتِ</a:t>
            </a:r>
            <a:endParaRPr lang="ar-SA" sz="32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 that we protect the forests</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a:t>
            </a:r>
            <a:pPr algn="l" indent="0" marL="0">
              <a:buNone/>
            </a:pPr>
            <a:r>
              <a:rPr lang="ar-SA" altLang="en-US" sz="1450" dirty="0">
                <a:solidFill>
                  <a:srgbClr val="1F2A37"/>
                </a:solidFill>
                <a:latin typeface="Amiri" pitchFamily="34" charset="0"/>
                <a:ea typeface="Amiri" pitchFamily="34" charset="-122"/>
                <a:cs typeface="Amiri" pitchFamily="34" charset="-120"/>
              </a:rPr>
              <a:t>لِكَيْ</a:t>
            </a:r>
            <a:pPr algn="l" indent="0" marL="0">
              <a:buNone/>
            </a:pPr>
            <a:r>
              <a:rPr lang="en-US" sz="1100" dirty="0">
                <a:solidFill>
                  <a:srgbClr val="1F2A37"/>
                </a:solidFill>
                <a:latin typeface="Calibri" pitchFamily="34" charset="0"/>
                <a:ea typeface="Calibri" pitchFamily="34" charset="-122"/>
                <a:cs typeface="Calibri" pitchFamily="34" charset="-120"/>
              </a:rPr>
              <a:t> the verb ends in a fatḥa: </a:t>
            </a:r>
            <a:pPr algn="l" indent="0" marL="0">
              <a:buNone/>
            </a:pPr>
            <a:r>
              <a:rPr lang="ar-SA" altLang="en-US" sz="1450" dirty="0">
                <a:solidFill>
                  <a:srgbClr val="1F2A37"/>
                </a:solidFill>
                <a:latin typeface="Amiri" pitchFamily="34" charset="0"/>
                <a:ea typeface="Amiri" pitchFamily="34" charset="-122"/>
                <a:cs typeface="Amiri" pitchFamily="34" charset="-120"/>
              </a:rPr>
              <a:t>نَحْمِيَ</a:t>
            </a:r>
            <a:pPr algn="l" indent="0" marL="0">
              <a:buNone/>
            </a:pPr>
            <a:r>
              <a:rPr lang="en-US" sz="1100" dirty="0">
                <a:solidFill>
                  <a:srgbClr val="1F2A37"/>
                </a:solidFill>
                <a:latin typeface="Calibri" pitchFamily="34" charset="0"/>
                <a:ea typeface="Calibri" pitchFamily="34" charset="-122"/>
                <a:cs typeface="Calibri" pitchFamily="34" charset="-120"/>
              </a:rPr>
              <a:t>, not </a:t>
            </a:r>
            <a:pPr algn="l" indent="0" marL="0">
              <a:buNone/>
            </a:pPr>
            <a:r>
              <a:rPr lang="ar-SA" altLang="en-US" sz="1450" dirty="0">
                <a:solidFill>
                  <a:srgbClr val="1F2A37"/>
                </a:solidFill>
                <a:latin typeface="Amiri" pitchFamily="34" charset="0"/>
                <a:ea typeface="Amiri" pitchFamily="34" charset="-122"/>
                <a:cs typeface="Amiri" pitchFamily="34" charset="-120"/>
              </a:rPr>
              <a:t>نَحْمِي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Leaving the verb after </a:t>
            </a:r>
            <a:pPr algn="l" indent="0" marL="0">
              <a:buNone/>
            </a:pPr>
            <a:r>
              <a:rPr lang="ar-SA" altLang="en-US" sz="1500" dirty="0">
                <a:solidFill>
                  <a:srgbClr val="1F2A37"/>
                </a:solidFill>
                <a:latin typeface="Amiri" pitchFamily="34" charset="0"/>
                <a:ea typeface="Amiri" pitchFamily="34" charset="-122"/>
                <a:cs typeface="Amiri" pitchFamily="34" charset="-120"/>
              </a:rPr>
              <a:t>لِكَي</a:t>
            </a:r>
            <a:pPr algn="l" indent="0" marL="0">
              <a:buNone/>
            </a:pPr>
            <a:r>
              <a:rPr lang="en-US" sz="1150" dirty="0">
                <a:solidFill>
                  <a:srgbClr val="1F2A37"/>
                </a:solidFill>
                <a:latin typeface="Calibri" pitchFamily="34" charset="0"/>
                <a:ea typeface="Calibri" pitchFamily="34" charset="-122"/>
                <a:cs typeface="Calibri" pitchFamily="34" charset="-120"/>
              </a:rPr>
              <a:t> in the indicative (</a:t>
            </a:r>
            <a:pPr algn="l" indent="0" marL="0">
              <a:buNone/>
            </a:pPr>
            <a:r>
              <a:rPr lang="ar-SA" altLang="en-US" sz="1500" dirty="0">
                <a:solidFill>
                  <a:srgbClr val="1F2A37"/>
                </a:solidFill>
                <a:latin typeface="Amiri" pitchFamily="34" charset="0"/>
                <a:ea typeface="Amiri" pitchFamily="34" charset="-122"/>
                <a:cs typeface="Amiri" pitchFamily="34" charset="-120"/>
              </a:rPr>
              <a:t>تَحْمِي</a:t>
            </a:r>
            <a:pPr algn="l" indent="0" marL="0">
              <a:buNone/>
            </a:pPr>
            <a:r>
              <a:rPr lang="en-US" sz="1150" dirty="0">
                <a:solidFill>
                  <a:srgbClr val="1F2A37"/>
                </a:solidFill>
                <a:latin typeface="Calibri" pitchFamily="34" charset="0"/>
                <a:ea typeface="Calibri" pitchFamily="34" charset="-122"/>
                <a:cs typeface="Calibri" pitchFamily="34" charset="-120"/>
              </a:rPr>
              <a:t>) instead of the subjunctive (</a:t>
            </a:r>
            <a:pPr algn="l" indent="0" marL="0">
              <a:buNone/>
            </a:pPr>
            <a:r>
              <a:rPr lang="ar-SA" altLang="en-US" sz="1500" dirty="0">
                <a:solidFill>
                  <a:srgbClr val="1F2A37"/>
                </a:solidFill>
                <a:latin typeface="Amiri" pitchFamily="34" charset="0"/>
                <a:ea typeface="Amiri" pitchFamily="34" charset="-122"/>
                <a:cs typeface="Amiri" pitchFamily="34" charset="-120"/>
              </a:rPr>
              <a:t>تَحْمِيَ</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لِكَيْ نَحْمِيَ</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لِكَيْ نَحْمِي</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لَوْ … لَمَاتَتْ</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لَوْ … سَتَمُوتُ</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6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Composition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يَضُمُّ / يُشَكِّلُ</a:t>
            </a:r>
            <a:pPr algn="l" indent="0" marL="0">
              <a:buNone/>
            </a:pPr>
            <a:r>
              <a:rPr lang="en-US" sz="1050" dirty="0">
                <a:solidFill>
                  <a:srgbClr val="5A6472"/>
                </a:solidFill>
                <a:latin typeface="Calibri" pitchFamily="34" charset="0"/>
                <a:ea typeface="Calibri" pitchFamily="34" charset="-122"/>
                <a:cs typeface="Calibri" pitchFamily="34" charset="-120"/>
              </a:rPr>
              <a:t>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تَضُمُّ الغَابَةُ آلَافَ الأَنْوَاعِ   ·   يُشَكِّلُ المَرْجَانُ بِيئَةً حَيَوِيَّةً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Real threat (Type 1)</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إِذَا</a:t>
            </a:r>
            <a:pPr algn="l" indent="0" marL="0">
              <a:buNone/>
            </a:pPr>
            <a:r>
              <a:rPr lang="en-US" sz="1050" dirty="0">
                <a:solidFill>
                  <a:srgbClr val="5A6472"/>
                </a:solidFill>
                <a:latin typeface="Calibri" pitchFamily="34" charset="0"/>
                <a:ea typeface="Calibri" pitchFamily="34" charset="-122"/>
                <a:cs typeface="Calibri" pitchFamily="34" charset="-120"/>
              </a:rPr>
              <a:t> + past → </a:t>
            </a:r>
            <a:pPr algn="l" indent="0" marL="0">
              <a:buNone/>
            </a:pPr>
            <a:r>
              <a:rPr lang="ar-SA" altLang="en-US" sz="1350" dirty="0">
                <a:solidFill>
                  <a:srgbClr val="5A6472"/>
                </a:solidFill>
                <a:latin typeface="Amiri" pitchFamily="34" charset="0"/>
                <a:ea typeface="Amiri" pitchFamily="34" charset="-122"/>
                <a:cs typeface="Amiri" pitchFamily="34" charset="-120"/>
              </a:rPr>
              <a:t>سَـ</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اسْتَمَرَّ الاحْتِرَارُ، سَتَتَبَيَّضُ الشِّعَابُ وَتَمُوتُ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Counterfactual (Type 2)</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لَوْ</a:t>
            </a:r>
            <a:pPr algn="l" indent="0" marL="0">
              <a:buNone/>
            </a:pPr>
            <a:r>
              <a:rPr lang="en-US" sz="1050" dirty="0">
                <a:solidFill>
                  <a:srgbClr val="5A6472"/>
                </a:solidFill>
                <a:latin typeface="Calibri" pitchFamily="34" charset="0"/>
                <a:ea typeface="Calibri" pitchFamily="34" charset="-122"/>
                <a:cs typeface="Calibri" pitchFamily="34" charset="-120"/>
              </a:rPr>
              <a:t> + past → </a:t>
            </a:r>
            <a:pPr algn="l" indent="0" marL="0">
              <a:buNone/>
            </a:pPr>
            <a:r>
              <a:rPr lang="ar-SA" altLang="en-US" sz="1350" dirty="0">
                <a:solidFill>
                  <a:srgbClr val="5A6472"/>
                </a:solidFill>
                <a:latin typeface="Amiri" pitchFamily="34" charset="0"/>
                <a:ea typeface="Amiri" pitchFamily="34" charset="-122"/>
                <a:cs typeface="Amiri" pitchFamily="34" charset="-120"/>
              </a:rPr>
              <a:t>لَـ</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كَانَتِ الحِمَايَةُ أَصْرَمَ سَابِقًا، لَكَانَتِ الشِّعَابُ أَفْضَلَ حَالًا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Purpose subjunctive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verb (final fatḥa)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تَحْتَاجُ المِنْطَقَةُ إِلَى تَعَاوُنٍ لِكَيْ تَحْمِيَ إِرْثَهَا الطَّبِيعِيَّ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اسْتِوَائِيَّةٌ غَابَةٌ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“biodiversity”?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 حَيَوِيٌّ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تَوَازُنٌ بِيئِيٌّ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انْقِرَاضٌ</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بِآلَافِ الأَنْوَاعِ.</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آلَافَ الأَنْوَاعِ.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لِآلَافِ الأَنْوَاعِ.</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يَتَفَاعَلُ كُلُّ عُنْصُرٍ ___ العَنَاصِرِ الأُخْرَى.</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غَابَةٌ اسْتِوَائِيٌّ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اسْتِوَائِيَّةٌ غَابَةٌ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غَابَةٌ اسْتِوَائِيَّةٌ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غَابَة</a:t>
            </a:r>
            <a:pPr algn="l" indent="0" marL="0">
              <a:buNone/>
            </a:pPr>
            <a:r>
              <a:rPr lang="en-US" sz="1050" i="1" dirty="0">
                <a:solidFill>
                  <a:srgbClr val="8A6D1E"/>
                </a:solidFill>
                <a:latin typeface="Calibri" pitchFamily="34" charset="0"/>
                <a:ea typeface="Calibri" pitchFamily="34" charset="-122"/>
                <a:cs typeface="Calibri" pitchFamily="34" charset="-120"/>
              </a:rPr>
              <a:t> is feminine →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 and the describing word comes AFTER the 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“biodiversity”?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تَنَوُّعٌ حَيَوِيٌّ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تَوَازُنٌ بِيئِيٌّ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انْقِرَاضٌ</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تَنَوُّعٌ حَيَوِيٌّ</a:t>
            </a:r>
            <a:pPr algn="l" indent="0" marL="0">
              <a:buNone/>
            </a:pPr>
            <a:r>
              <a:rPr lang="en-US" sz="1050" i="1" dirty="0">
                <a:solidFill>
                  <a:srgbClr val="8A6D1E"/>
                </a:solidFill>
                <a:latin typeface="Calibri" pitchFamily="34" charset="0"/>
                <a:ea typeface="Calibri" pitchFamily="34" charset="-122"/>
                <a:cs typeface="Calibri" pitchFamily="34" charset="-120"/>
              </a:rPr>
              <a:t> = biodiversity (</a:t>
            </a:r>
            <a:pPr algn="l" indent="0" marL="0">
              <a:buNone/>
            </a:pPr>
            <a:r>
              <a:rPr lang="ar-SA" altLang="en-US" sz="1350" dirty="0">
                <a:solidFill>
                  <a:srgbClr val="8A6D1E"/>
                </a:solidFill>
                <a:latin typeface="Amiri" pitchFamily="34" charset="0"/>
                <a:ea typeface="Amiri" pitchFamily="34" charset="-122"/>
                <a:cs typeface="Amiri" pitchFamily="34" charset="-120"/>
              </a:rPr>
              <a:t>حَيَاة</a:t>
            </a:r>
            <a:pPr algn="l" indent="0" marL="0">
              <a:buNone/>
            </a:pPr>
            <a:r>
              <a:rPr lang="en-US" sz="1050" i="1" dirty="0">
                <a:solidFill>
                  <a:srgbClr val="8A6D1E"/>
                </a:solidFill>
                <a:latin typeface="Calibri" pitchFamily="34" charset="0"/>
                <a:ea typeface="Calibri" pitchFamily="34" charset="-122"/>
                <a:cs typeface="Calibri" pitchFamily="34" charset="-120"/>
              </a:rPr>
              <a:t> = life).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تَضُمُّ الغَابَةُ بِآلَافِ الأَنْوَاعِ.</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تَضُمُّ الغَابَةُ آلَافَ الأَنْوَاعِ.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تَضُمُّ الغَابَةُ لِآلَافِ الأَنْوَاعِ.</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يَضُمُّ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يَتَفَاعَلُ كُلُّ عُنْصُرٍ ___ العَنَاصِرِ الأُخْرَى.</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describe a natural place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Choose a place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البَحْرُ</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الأَحْمَرُ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بَحْر</a:t>
            </a:r>
            <a:pPr algn="l" indent="0" marL="0">
              <a:buNone/>
            </a:pPr>
            <a:r>
              <a:rPr lang="en-US" sz="1150" dirty="0">
                <a:solidFill>
                  <a:srgbClr val="1F2A37"/>
                </a:solidFill>
                <a:latin typeface="Calibri" pitchFamily="34" charset="0"/>
                <a:ea typeface="Calibri" pitchFamily="34" charset="-122"/>
                <a:cs typeface="Calibri" pitchFamily="34" charset="-120"/>
              </a:rPr>
              <a:t> = sea. </a:t>
            </a:r>
            <a:pPr algn="l" indent="0" marL="0">
              <a:buNone/>
            </a:pPr>
            <a:r>
              <a:rPr lang="ar-SA" altLang="en-US" sz="1500" dirty="0">
                <a:solidFill>
                  <a:srgbClr val="1F2A37"/>
                </a:solidFill>
                <a:latin typeface="Amiri" pitchFamily="34" charset="0"/>
                <a:ea typeface="Amiri" pitchFamily="34" charset="-122"/>
                <a:cs typeface="Amiri" pitchFamily="34" charset="-120"/>
              </a:rPr>
              <a:t>الأَحْمَرُ</a:t>
            </a:r>
            <a:pPr algn="l" indent="0" marL="0">
              <a:buNone/>
            </a:pPr>
            <a:r>
              <a:rPr lang="en-US" sz="1150" dirty="0">
                <a:solidFill>
                  <a:srgbClr val="1F2A37"/>
                </a:solidFill>
                <a:latin typeface="Calibri" pitchFamily="34" charset="0"/>
                <a:ea typeface="Calibri" pitchFamily="34" charset="-122"/>
                <a:cs typeface="Calibri" pitchFamily="34" charset="-120"/>
              </a:rPr>
              <a:t> (red) agrees: </a:t>
            </a:r>
            <a:pPr algn="l" indent="0" marL="0">
              <a:buNone/>
            </a:pPr>
            <a:r>
              <a:rPr lang="ar-SA" altLang="en-US" sz="1500" dirty="0">
                <a:solidFill>
                  <a:srgbClr val="1F2A37"/>
                </a:solidFill>
                <a:latin typeface="Amiri" pitchFamily="34" charset="0"/>
                <a:ea typeface="Amiri" pitchFamily="34" charset="-122"/>
                <a:cs typeface="Amiri" pitchFamily="34" charset="-120"/>
              </a:rPr>
              <a:t>ال</a:t>
            </a:r>
            <a:pPr algn="l" indent="0" marL="0">
              <a:buNone/>
            </a:pPr>
            <a:r>
              <a:rPr lang="en-US" sz="1150" dirty="0">
                <a:solidFill>
                  <a:srgbClr val="1F2A37"/>
                </a:solidFill>
                <a:latin typeface="Calibri" pitchFamily="34" charset="0"/>
                <a:ea typeface="Calibri" pitchFamily="34" charset="-122"/>
                <a:cs typeface="Calibri" pitchFamily="34" charset="-120"/>
              </a:rPr>
              <a:t> +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Say where it 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بَيْنَ آسِيَا وَأَفْرِيقِيَا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بَيْنَ</a:t>
            </a:r>
            <a:pPr algn="l" indent="0" marL="0">
              <a:buNone/>
            </a:pPr>
            <a:r>
              <a:rPr lang="en-US" sz="1150" dirty="0">
                <a:solidFill>
                  <a:srgbClr val="1F2A37"/>
                </a:solidFill>
                <a:latin typeface="Calibri" pitchFamily="34" charset="0"/>
                <a:ea typeface="Calibri" pitchFamily="34" charset="-122"/>
                <a:cs typeface="Calibri" pitchFamily="34" charset="-120"/>
              </a:rPr>
              <a:t> = between. Recycle the continents from TC-L01.</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What does it include?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يَضُمُّ</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1D5FBF"/>
                </a:solidFill>
                <a:latin typeface="Amiri" pitchFamily="34" charset="0"/>
                <a:ea typeface="Amiri" pitchFamily="34" charset="-122"/>
                <a:cs typeface="Amiri" pitchFamily="34" charset="-120"/>
              </a:rPr>
              <a:t>شِعَابًا</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7B3FA0"/>
                </a:solidFill>
                <a:latin typeface="Amiri" pitchFamily="34" charset="0"/>
                <a:ea typeface="Amiri" pitchFamily="34" charset="-122"/>
                <a:cs typeface="Amiri" pitchFamily="34" charset="-120"/>
              </a:rPr>
              <a:t>مَرْجَانِ</a:t>
            </a:r>
            <a:pPr rtl="1" algn="ctr" indent="0" marL="0">
              <a:buNone/>
            </a:pPr>
            <a:r>
              <a:rPr lang="ar-SA" altLang="en-US" sz="2800" b="1" dirty="0">
                <a:solidFill>
                  <a:srgbClr val="D6336C"/>
                </a:solidFill>
                <a:latin typeface="Amiri" pitchFamily="34" charset="0"/>
                <a:ea typeface="Amiri" pitchFamily="34" charset="-122"/>
                <a:cs typeface="Amiri" pitchFamily="34" charset="-120"/>
              </a:rPr>
              <a:t>يَّةً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يَضُمُّ</a:t>
            </a:r>
            <a:pPr algn="l" indent="0" marL="0">
              <a:buNone/>
            </a:pPr>
            <a:r>
              <a:rPr lang="en-US" sz="1150" dirty="0">
                <a:solidFill>
                  <a:srgbClr val="1F2A37"/>
                </a:solidFill>
                <a:latin typeface="Calibri" pitchFamily="34" charset="0"/>
                <a:ea typeface="Calibri" pitchFamily="34" charset="-122"/>
                <a:cs typeface="Calibri" pitchFamily="34" charset="-120"/>
              </a:rPr>
              <a:t> + object (no </a:t>
            </a:r>
            <a:pPr algn="l" indent="0" marL="0">
              <a:buNone/>
            </a:pPr>
            <a:r>
              <a:rPr lang="ar-SA" altLang="en-US" sz="1500" dirty="0">
                <a:solidFill>
                  <a:srgbClr val="1F2A37"/>
                </a:solidFill>
                <a:latin typeface="Amiri" pitchFamily="34" charset="0"/>
                <a:ea typeface="Amiri" pitchFamily="34" charset="-122"/>
                <a:cs typeface="Amiri" pitchFamily="34" charset="-120"/>
              </a:rPr>
              <a:t>بِـ</a:t>
            </a:r>
            <a:pPr algn="l" indent="0" marL="0">
              <a:buNone/>
            </a:pPr>
            <a:r>
              <a:rPr lang="en-US" sz="1150" dirty="0">
                <a:solidFill>
                  <a:srgbClr val="1F2A37"/>
                </a:solidFill>
                <a:latin typeface="Calibri" pitchFamily="34" charset="0"/>
                <a:ea typeface="Calibri" pitchFamily="34" charset="-122"/>
                <a:cs typeface="Calibri" pitchFamily="34" charset="-120"/>
              </a:rPr>
              <a:t>). </a:t>
            </a:r>
            <a:pPr algn="l" indent="0" marL="0">
              <a:buNone/>
            </a:pPr>
            <a:r>
              <a:rPr lang="ar-SA" altLang="en-US" sz="1500" dirty="0">
                <a:solidFill>
                  <a:srgbClr val="1F2A37"/>
                </a:solidFill>
                <a:latin typeface="Amiri" pitchFamily="34" charset="0"/>
                <a:ea typeface="Amiri" pitchFamily="34" charset="-122"/>
                <a:cs typeface="Amiri" pitchFamily="34" charset="-120"/>
              </a:rPr>
              <a:t>شِعَاب</a:t>
            </a:r>
            <a:pPr algn="l" indent="0" marL="0">
              <a:buNone/>
            </a:pPr>
            <a:r>
              <a:rPr lang="en-US" sz="1150" dirty="0">
                <a:solidFill>
                  <a:srgbClr val="1F2A37"/>
                </a:solidFill>
                <a:latin typeface="Calibri" pitchFamily="34" charset="0"/>
                <a:ea typeface="Calibri" pitchFamily="34" charset="-122"/>
                <a:cs typeface="Calibri" pitchFamily="34" charset="-120"/>
              </a:rPr>
              <a:t> = plural of things → </a:t>
            </a:r>
            <a:pPr algn="l" indent="0" marL="0">
              <a:buNone/>
            </a:pPr>
            <a:r>
              <a:rPr lang="ar-SA" altLang="en-US" sz="1500" dirty="0">
                <a:solidFill>
                  <a:srgbClr val="1F2A37"/>
                </a:solidFill>
                <a:latin typeface="Amiri" pitchFamily="34" charset="0"/>
                <a:ea typeface="Amiri" pitchFamily="34" charset="-122"/>
                <a:cs typeface="Amiri" pitchFamily="34" charset="-120"/>
              </a:rPr>
              <a:t>ـِيَّة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Which animals live there?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تَعِيشُ فِيهِ أَسْمَاكٌ كَثِيرَةٌ</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تَعِيشُ</a:t>
            </a:r>
            <a:pPr algn="l" indent="0" marL="0">
              <a:buNone/>
            </a:pPr>
            <a:r>
              <a:rPr lang="en-US" sz="1150" dirty="0">
                <a:solidFill>
                  <a:srgbClr val="1F2A37"/>
                </a:solidFill>
                <a:latin typeface="Calibri" pitchFamily="34" charset="0"/>
                <a:ea typeface="Calibri" pitchFamily="34" charset="-122"/>
                <a:cs typeface="Calibri" pitchFamily="34" charset="-120"/>
              </a:rPr>
              <a:t> = (they) live — from the website game.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NOUN</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MEANING</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KEY VERB</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D5FBF"/>
                </a:solidFill>
                <a:latin typeface="Amiri" pitchFamily="34" charset="0"/>
                <a:ea typeface="Amiri" pitchFamily="34" charset="-122"/>
                <a:cs typeface="Amiri" pitchFamily="34" charset="-120"/>
              </a:rPr>
              <a:t>البَحْرُ</a:t>
            </a:r>
            <a:pPr rtl="1" algn="r" indent="0" marL="0">
              <a:buNone/>
            </a:pPr>
            <a:r>
              <a:rPr lang="ar-SA" altLang="en-US" sz="2600" b="1" dirty="0">
                <a:solidFill>
                  <a:srgbClr val="1B3B6F"/>
                </a:solidFill>
                <a:latin typeface="Amiri" pitchFamily="34" charset="0"/>
                <a:ea typeface="Amiri" pitchFamily="34" charset="-122"/>
                <a:cs typeface="Amiri" pitchFamily="34" charset="-120"/>
              </a:rPr>
              <a:t> الأَحْمَرُ بَيْنَ آسِيَا وَأَفْرِيقِيَا. </a:t>
            </a:r>
            <a:pPr rtl="1" algn="r" indent="0" marL="0">
              <a:buNone/>
            </a:pPr>
            <a:r>
              <a:rPr lang="ar-SA" altLang="en-US" sz="2600" b="1" dirty="0">
                <a:solidFill>
                  <a:srgbClr val="0E7C86"/>
                </a:solidFill>
                <a:latin typeface="Amiri" pitchFamily="34" charset="0"/>
                <a:ea typeface="Amiri" pitchFamily="34" charset="-122"/>
                <a:cs typeface="Amiri" pitchFamily="34" charset="-120"/>
              </a:rPr>
              <a:t>يَضُمُّ</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1D5FBF"/>
                </a:solidFill>
                <a:latin typeface="Amiri" pitchFamily="34" charset="0"/>
                <a:ea typeface="Amiri" pitchFamily="34" charset="-122"/>
                <a:cs typeface="Amiri" pitchFamily="34" charset="-120"/>
              </a:rPr>
              <a:t>شِعَابًا</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7B3FA0"/>
                </a:solidFill>
                <a:latin typeface="Amiri" pitchFamily="34" charset="0"/>
                <a:ea typeface="Amiri" pitchFamily="34" charset="-122"/>
                <a:cs typeface="Amiri" pitchFamily="34" charset="-120"/>
              </a:rPr>
              <a:t>مَرْجَانِ</a:t>
            </a:r>
            <a:pPr rtl="1" algn="r" indent="0" marL="0">
              <a:buNone/>
            </a:pPr>
            <a:r>
              <a:rPr lang="ar-SA" altLang="en-US" sz="2600" b="1" dirty="0">
                <a:solidFill>
                  <a:srgbClr val="D6336C"/>
                </a:solidFill>
                <a:latin typeface="Amiri" pitchFamily="34" charset="0"/>
                <a:ea typeface="Amiri" pitchFamily="34" charset="-122"/>
                <a:cs typeface="Amiri" pitchFamily="34" charset="-120"/>
              </a:rPr>
              <a:t>يَّةً</a:t>
            </a:r>
            <a:pPr rtl="1" algn="r" indent="0" marL="0">
              <a:buNone/>
            </a:pPr>
            <a:r>
              <a:rPr lang="ar-SA" altLang="en-US" sz="2600" b="1" dirty="0">
                <a:solidFill>
                  <a:srgbClr val="1B3B6F"/>
                </a:solidFill>
                <a:latin typeface="Amiri" pitchFamily="34" charset="0"/>
                <a:ea typeface="Amiri" pitchFamily="34" charset="-122"/>
                <a:cs typeface="Amiri" pitchFamily="34" charset="-120"/>
              </a:rPr>
              <a:t>، وَتَعِيشُ فِيهِ أَسْمَاكٌ كَثِيرَةٌ.</a:t>
            </a:r>
            <a:endParaRPr lang="ar-SA" sz="26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Red Sea is between Asia and Africa. It includes coral reefs, and many fish live in it.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تَعِيشُ الأَسْمَاكُ فِي البَحْرِ.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Fish live in the sea.</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تَعِيشُ المَاعِزُ فِي المَنَاطِقِ </a:t>
            </a:r>
            <a:pPr rtl="1" algn="r" indent="0" marL="0">
              <a:buNone/>
            </a:pPr>
            <a:r>
              <a:rPr lang="ar-SA" altLang="en-US" sz="2600" b="1" dirty="0">
                <a:solidFill>
                  <a:srgbClr val="7B3FA0"/>
                </a:solidFill>
                <a:latin typeface="Amiri" pitchFamily="34" charset="0"/>
                <a:ea typeface="Amiri" pitchFamily="34" charset="-122"/>
                <a:cs typeface="Amiri" pitchFamily="34" charset="-120"/>
              </a:rPr>
              <a:t>الجَبَلِ</a:t>
            </a:r>
            <a:pPr rtl="1" algn="r" indent="0" marL="0">
              <a:buNone/>
            </a:pPr>
            <a:r>
              <a:rPr lang="ar-SA" altLang="en-US" sz="2600" b="1" dirty="0">
                <a:solidFill>
                  <a:srgbClr val="D6336C"/>
                </a:solidFill>
                <a:latin typeface="Amiri" pitchFamily="34" charset="0"/>
                <a:ea typeface="Amiri" pitchFamily="34" charset="-122"/>
                <a:cs typeface="Amiri" pitchFamily="34" charset="-120"/>
              </a:rPr>
              <a:t>يَّةِ</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Goats live in mountainous areas.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جَبَل → جَبَلِيَّة: the nisba again.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34" charset="0"/>
                <a:ea typeface="Amiri" pitchFamily="34" charset="-122"/>
                <a:cs typeface="Amiri" pitchFamily="34" charset="-120"/>
              </a:rPr>
              <a:t>تَضُمُّ الشِّعَابُ المَرْجَانِيَّةُ فِي البَحْرِ الأَحْمَرِ أَلْفَ نَوْعٍ مِنَ الأَسْمَاكِ.</a:t>
            </a:r>
            <a:endParaRPr lang="ar-SA" sz="225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coral reefs in the Red Sea include a thousand species of fish.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يَضُمُّ takes a direct object.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تَحْتَاجُ الدُّوَلُ إِلَى تَعَاوُنٍ لِكَيْ تَحْمِيَ هٰذَا الإِرْثَ الطَّبِيعِيَّ.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Countries need cooperation so that they protect this natural heritage.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لِكَيْ + subjunctive تَحْمِيَ.</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“NATURE SCENE”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4"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6"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7"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8"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29"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4"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6"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7"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8"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9"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تَعِيشُ الأَسْمَاكُ فِي الْبَحْرِ.</a:t>
            </a:r>
            <a:endParaRPr lang="ar-SA" sz="2000" dirty="0"/>
          </a:p>
        </p:txBody>
      </p:sp>
      <p:sp>
        <p:nvSpPr>
          <p:cNvPr id="40"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1"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42"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3"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الصَّحْرَاءِ نَبَاتَاتٌ تَتَحَمَّلُ الْجَفَافَ.</a:t>
            </a:r>
            <a:endParaRPr lang="ar-SA" sz="2000" dirty="0"/>
          </a:p>
        </p:txBody>
      </p:sp>
      <p:sp>
        <p:nvSpPr>
          <p:cNvPr id="44"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5"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6"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7"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تَعِيشُ الْمَاعِزُ فِي الْمَنَاطِقِ الْجَبَلِيَّةِ.</a:t>
            </a:r>
            <a:endParaRPr lang="ar-SA" sz="2000" dirty="0"/>
          </a:p>
        </p:txBody>
      </p:sp>
      <p:sp>
        <p:nvSpPr>
          <p:cNvPr id="48"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9"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0"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4"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5" name="Text 20"/>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تَعِيشُ الْمَاعِزُ فِي الْمَنَاطِقِ الْجَبَلِيَّةِ.</a:t>
            </a:r>
            <a:endParaRPr lang="ar-SA" sz="2200" dirty="0"/>
          </a:p>
        </p:txBody>
      </p:sp>
      <p:sp>
        <p:nvSpPr>
          <p:cNvPr id="26"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Goats live in mountainous areas.</a:t>
            </a:r>
            <a:endParaRPr lang="en-US" sz="1200" dirty="0"/>
          </a:p>
        </p:txBody>
      </p:sp>
      <p:sp>
        <p:nvSpPr>
          <p:cNvPr id="27"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2"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4"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تَعِيشُ الأَسْمَاكُ فِي الْبَحْرِ.</a:t>
            </a:r>
            <a:endParaRPr lang="ar-SA" sz="2200" dirty="0"/>
          </a:p>
        </p:txBody>
      </p:sp>
      <p:sp>
        <p:nvSpPr>
          <p:cNvPr id="38"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Fish live in the sea.</a:t>
            </a:r>
            <a:endParaRPr lang="en-US" sz="1200" dirty="0"/>
          </a:p>
        </p:txBody>
      </p:sp>
      <p:sp>
        <p:nvSpPr>
          <p:cNvPr id="39"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4"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6"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7"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8"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9" name="Text 40"/>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فِي الصَّحْرَاءِ نَبَاتَاتٌ تَتَحَمَّلُ الْجَفَافَ.</a:t>
            </a:r>
            <a:endParaRPr lang="ar-SA" sz="2200" dirty="0"/>
          </a:p>
        </p:txBody>
      </p:sp>
      <p:sp>
        <p:nvSpPr>
          <p:cNvPr id="50"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In the desert there are plants that tolerate drought.</a:t>
            </a:r>
            <a:endParaRPr lang="en-US" sz="1200" dirty="0"/>
          </a:p>
        </p:txBody>
      </p:sp>
      <p:sp>
        <p:nvSpPr>
          <p:cNvPr id="51"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CHALLENGE “LANDSCAPE CLASSIFICATION”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Landscape, animal or ecosystem?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جَبَلٌ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نِظَامٌ بِيئِيٌّ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صَحْرَاءُ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شِعَابٌ مَرْجَانِيَّةٌ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نَهْرٌ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سِلْسِلَةٌ غِذَائِيَّةٌ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Landscape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Animal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Ecosystem</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Landscape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جَبَلٌ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صَحْرَاءُ</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نَهْرٌ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Animal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جَمَلٌ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Ecosystem</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نِظَامٌ بِيئِيٌّ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شِعَابٌ مَرْجَانِيَّةٌ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سِلْسِلَةٌ غِذَائِيَّةٌ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tropical rainforest is a natural habitat.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البَحْرُ</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الغَابَةُ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الاسْتِوَائِيَّةُ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الاسْتِوَائِيُّ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مَوْطِنٌ طَبِيعِيَّةٌ.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مَوْطِنٌ طَبِيعِيٌّ.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Red Sea includes coral reefs.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يَضُمُّ</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يَعْتَمِدُ</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البَحْرُ الأَحْمَرُ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الصَّحْرَاءُ</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بِشِعَابٍ مَرْجَانِيَّةٍ.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شِعَابًا مَرْجَانِيَّةً.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Each element interacts with the other elements.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يُشَكِّلُ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يَتَفَاعَلُ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عُنْصُرٍ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عُنْصُرًا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عَلَى العَنَاصِرِ الأُخْرَى.</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مَعَ العَنَاصِرِ الأُخْرَى.</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tropical rainforest is a natural habitat.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غَابَة</a:t>
            </a:r>
            <a:pPr algn="l" indent="0" marL="0">
              <a:buNone/>
            </a:pPr>
            <a:r>
              <a:rPr lang="en-US" sz="1050" i="1" dirty="0">
                <a:solidFill>
                  <a:srgbClr val="5A6472"/>
                </a:solidFill>
                <a:latin typeface="Calibri" pitchFamily="34" charset="0"/>
                <a:ea typeface="Calibri" pitchFamily="34" charset="-122"/>
                <a:cs typeface="Calibri" pitchFamily="34" charset="-120"/>
              </a:rPr>
              <a:t> is f. → </a:t>
            </a:r>
            <a:pPr algn="l" indent="0" marL="0">
              <a:buNone/>
            </a:pPr>
            <a:r>
              <a:rPr lang="ar-SA" altLang="en-US" sz="1350" dirty="0">
                <a:solidFill>
                  <a:srgbClr val="5A6472"/>
                </a:solidFill>
                <a:latin typeface="Amiri" pitchFamily="34" charset="0"/>
                <a:ea typeface="Amiri" pitchFamily="34" charset="-122"/>
                <a:cs typeface="Amiri" pitchFamily="34" charset="-120"/>
              </a:rPr>
              <a:t>الاسْتِوَائِيَّةُ</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مَوْطِن</a:t>
            </a:r>
            <a:pPr algn="l" indent="0" marL="0">
              <a:buNone/>
            </a:pPr>
            <a:r>
              <a:rPr lang="en-US" sz="1050" i="1" dirty="0">
                <a:solidFill>
                  <a:srgbClr val="5A6472"/>
                </a:solidFill>
                <a:latin typeface="Calibri" pitchFamily="34" charset="0"/>
                <a:ea typeface="Calibri" pitchFamily="34" charset="-122"/>
                <a:cs typeface="Calibri" pitchFamily="34" charset="-120"/>
              </a:rPr>
              <a:t> is m. → </a:t>
            </a:r>
            <a:pPr algn="l" indent="0" marL="0">
              <a:buNone/>
            </a:pPr>
            <a:r>
              <a:rPr lang="ar-SA" altLang="en-US" sz="1350" dirty="0">
                <a:solidFill>
                  <a:srgbClr val="5A6472"/>
                </a:solidFill>
                <a:latin typeface="Amiri" pitchFamily="34" charset="0"/>
                <a:ea typeface="Amiri" pitchFamily="34" charset="-122"/>
                <a:cs typeface="Amiri" pitchFamily="34" charset="-120"/>
              </a:rPr>
              <a:t>طَبِيعِيٌّ</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الغَابَةُ الاسْتِوَائِيَّةُ مَوْطِنٌ طَبِيعِيٌّ.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Red Sea includes coral reefs.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يَضُمُّ</a:t>
            </a:r>
            <a:pPr algn="l" indent="0" marL="0">
              <a:buNone/>
            </a:pPr>
            <a:r>
              <a:rPr lang="en-US" sz="1050" i="1" dirty="0">
                <a:solidFill>
                  <a:srgbClr val="5A6472"/>
                </a:solidFill>
                <a:latin typeface="Calibri" pitchFamily="34" charset="0"/>
                <a:ea typeface="Calibri" pitchFamily="34" charset="-122"/>
                <a:cs typeface="Calibri" pitchFamily="34" charset="-120"/>
              </a:rPr>
              <a:t> takes a direct object — no </a:t>
            </a:r>
            <a:pPr algn="l" indent="0" marL="0">
              <a:buNone/>
            </a:pPr>
            <a:r>
              <a:rPr lang="ar-SA" altLang="en-US" sz="1350" dirty="0">
                <a:solidFill>
                  <a:srgbClr val="5A6472"/>
                </a:solidFill>
                <a:latin typeface="Amiri" pitchFamily="34" charset="0"/>
                <a:ea typeface="Amiri" pitchFamily="34" charset="-122"/>
                <a:cs typeface="Amiri" pitchFamily="34" charset="-120"/>
              </a:rPr>
              <a:t>بِـ</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يَضُمُّ البَحْرُ الأَحْمَرُ شِعَابًا مَرْجَانِيَّةً.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Each element interacts with the other elements.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يَتَفَاعَلُ</a:t>
            </a:r>
            <a:pPr algn="l" indent="0" marL="0">
              <a:buNone/>
            </a:pPr>
            <a:r>
              <a:rPr lang="en-US" sz="1050" i="1" dirty="0">
                <a:solidFill>
                  <a:srgbClr val="5A6472"/>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5A6472"/>
                </a:solidFill>
                <a:latin typeface="Amiri" pitchFamily="34" charset="0"/>
                <a:ea typeface="Amiri" pitchFamily="34" charset="-122"/>
                <a:cs typeface="Amiri" pitchFamily="34" charset="-120"/>
              </a:rPr>
              <a:t>مَعَ</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يَتَفَاعَلُ كُلُّ عُنْصُرٍ مَعَ العَنَاصِرِ الأُخْرَى.</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QUIZ QUESTIONS 5, 8, 3, 4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نَحْتَاجُ إِلَى قَوَانِينَ لِكَيْ ___ الغَابَاتِ.</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نَحْمِيهَا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ḍamma</a:t>
            </a:r>
            <a:endParaRPr lang="en-US" sz="12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sukūn</a:t>
            </a:r>
            <a:endParaRPr lang="en-US" sz="12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threat (Type 1)?</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اسْتَمَرَّ الاحْتِرَارُ، لَتَبَيَّضَتِ الشِّعَابُ.</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اسْتَمَرَّ الاحْتِرَارُ، سَتَتَبَيَّضُ الشِّعَابُ.</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 الاحْتِرَارُ.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صَارَتِ الحِمَايَةُ أَصْرَمَ، سَتَتَحَسَّنُ الشِّعَابُ.</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تُحْمَى الشِّعَابُ.</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كَانَتِ الحِمَايَةُ أَصْرَمَ، لَكَانَتِ الشِّعَابُ أَفْضَلَ.</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نَحْتَاجُ إِلَى قَوَانِينَ لِكَيْ ___ الغَابَاتِ.</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نَحْمِي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نَحْمِيهَا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نَحْمِيَ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نَحْمِيَ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ḍamma</a:t>
            </a:r>
            <a:endParaRPr lang="en-US" sz="125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sukūn</a:t>
            </a:r>
            <a:endParaRPr lang="en-US" sz="125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verb ends in a fatḥa.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threat (Type 1)?</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اسْتَمَرَّ الاحْتِرَارُ، لَتَبَيَّضَتِ الشِّعَابُ.</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اسْتَمَرَّ الاحْتِرَارُ، سَتَتَبَيَّضُ الشِّعَابُ.</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يَسْتَمِرُّ الاحْتِرَارُ.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states a real, likely consequence.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صَارَتِ الحِمَايَةُ أَصْرَمَ، سَتَتَحَسَّنُ الشِّعَابُ.</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تُحْمَى الشِّعَابُ.</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كَانَتِ الحِمَايَةُ أَصْرَمَ، لَكَانَتِ الشِّعَابُ أَفْضَلَ.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imagines an unreal past.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نَحْتَاجُ إِلَى قَوَانِينَ لِكَيْ نَحْمِي الغَابَاتِ.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Look at the last vowel of the verb after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تَضُمُّ الغَابَةُ بِآلَافِ الأَنْوَاعِ.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Does </a:t>
            </a:r>
            <a:pPr algn="l" indent="0" marL="0">
              <a:buNone/>
            </a:pPr>
            <a:r>
              <a:rPr lang="ar-SA" altLang="en-US" sz="1700" dirty="0">
                <a:solidFill>
                  <a:srgbClr val="5A6472"/>
                </a:solidFill>
                <a:latin typeface="Amiri" pitchFamily="34" charset="0"/>
                <a:ea typeface="Amiri" pitchFamily="34" charset="-122"/>
                <a:cs typeface="Amiri" pitchFamily="34" charset="-120"/>
              </a:rPr>
              <a:t>يَضُمُّ</a:t>
            </a:r>
            <a:pPr algn="l" indent="0" marL="0">
              <a:buNone/>
            </a:pPr>
            <a:r>
              <a:rPr lang="en-US" sz="1300" i="1" dirty="0">
                <a:solidFill>
                  <a:srgbClr val="5A6472"/>
                </a:solidFill>
                <a:latin typeface="Calibri" pitchFamily="34" charset="0"/>
                <a:ea typeface="Calibri" pitchFamily="34" charset="-122"/>
                <a:cs typeface="Calibri" pitchFamily="34" charset="-120"/>
              </a:rPr>
              <a:t> need </a:t>
            </a:r>
            <a:pPr algn="l" indent="0" marL="0">
              <a:buNone/>
            </a:pPr>
            <a:r>
              <a:rPr lang="ar-SA" altLang="en-US" sz="1700" dirty="0">
                <a:solidFill>
                  <a:srgbClr val="5A6472"/>
                </a:solidFill>
                <a:latin typeface="Amiri" pitchFamily="34" charset="0"/>
                <a:ea typeface="Amiri" pitchFamily="34" charset="-122"/>
                <a:cs typeface="Amiri" pitchFamily="34" charset="-120"/>
              </a:rPr>
              <a:t>بِـ</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اسْتَمَرَّ الاحْتِرَارُ، سَتَمُوتُ الشِّعَابُ.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لَوْ</a:t>
            </a:r>
            <a:pPr algn="l" indent="0" marL="0">
              <a:buNone/>
            </a:pPr>
            <a:r>
              <a:rPr lang="en-US" sz="1300" i="1" dirty="0">
                <a:solidFill>
                  <a:srgbClr val="5A6472"/>
                </a:solidFill>
                <a:latin typeface="Calibri" pitchFamily="34" charset="0"/>
                <a:ea typeface="Calibri" pitchFamily="34" charset="-122"/>
                <a:cs typeface="Calibri" pitchFamily="34" charset="-120"/>
              </a:rPr>
              <a:t>, which result word: </a:t>
            </a:r>
            <a:pPr algn="l" indent="0" marL="0">
              <a:buNone/>
            </a:pPr>
            <a:r>
              <a:rPr lang="ar-SA" altLang="en-US" sz="1700" dirty="0">
                <a:solidFill>
                  <a:srgbClr val="5A6472"/>
                </a:solidFill>
                <a:latin typeface="Amiri" pitchFamily="34" charset="0"/>
                <a:ea typeface="Amiri" pitchFamily="34" charset="-122"/>
                <a:cs typeface="Amiri" pitchFamily="34" charset="-120"/>
              </a:rPr>
              <a:t>سَـ</a:t>
            </a:r>
            <a:pPr algn="l" indent="0" marL="0">
              <a:buNone/>
            </a:pPr>
            <a:r>
              <a:rPr lang="en-US" sz="1300" i="1" dirty="0">
                <a:solidFill>
                  <a:srgbClr val="5A6472"/>
                </a:solidFill>
                <a:latin typeface="Calibri" pitchFamily="34" charset="0"/>
                <a:ea typeface="Calibri" pitchFamily="34" charset="-122"/>
                <a:cs typeface="Calibri" pitchFamily="34" charset="-120"/>
              </a:rPr>
              <a:t> or </a:t>
            </a:r>
            <a:pPr algn="l" indent="0" marL="0">
              <a:buNone/>
            </a:pPr>
            <a:r>
              <a:rPr lang="ar-SA" altLang="en-US" sz="1700" dirty="0">
                <a:solidFill>
                  <a:srgbClr val="5A6472"/>
                </a:solidFill>
                <a:latin typeface="Amiri" pitchFamily="34" charset="0"/>
                <a:ea typeface="Amiri" pitchFamily="34" charset="-122"/>
                <a:cs typeface="Amiri" pitchFamily="34" charset="-120"/>
              </a:rPr>
              <a:t>لَـ</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نَحْتَاجُ إِلَى قَوَانِينَ لِكَيْ نَحْمِي الغَابَاتِ.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نَحْتَاجُ إِلَى قَوَانِينَ لِكَيْ نَحْمِيَ الغَابَاتِ.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نَحْمِيَ</a:t>
            </a:r>
            <a:pPr algn="l" indent="0" marL="0">
              <a:buNone/>
            </a:pPr>
            <a:r>
              <a:rPr lang="en-US" sz="1150" b="1" dirty="0">
                <a:solidFill>
                  <a:srgbClr val="1B3B6F"/>
                </a:solidFill>
                <a:latin typeface="Calibri" pitchFamily="34" charset="0"/>
                <a:ea typeface="Calibri" pitchFamily="34" charset="-122"/>
                <a:cs typeface="Calibri" pitchFamily="34" charset="-120"/>
              </a:rPr>
              <a:t>, with a final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تَضُمُّ الغَابَةُ بِآلَافِ الأَنْوَاعِ.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تَضُمُّ الغَابَةُ آلَافَ الأَنْوَاعِ.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يَضُمُّ</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with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اسْتَمَرَّ الاحْتِرَارُ، سَتَمُوتُ الشِّعَابُ.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اسْتَمَرَّ الاحْتِرَارُ، لَمَاتَتِ الشِّعَابُ.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Listening: the Red Sea's coral reefs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Red Sea encompass?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of the world's richest marine coral reefs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sand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life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coral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barrier to fish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indispensable environment for thousands of 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Reefs are indestructible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Warming has stopped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ocean warming continues, reefs will bleach and die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protection been stricter, the reefs would be better today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Protection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reefs cannot recover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the region's states need cooperation?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exploit the reefs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they protect this natural heritage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tourism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1st time: just listen. 2nd time: choose A, B or C.</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Core: questions 1–2 — 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يَضُمُّ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(includes),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يُشَكِّلُ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(forms),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شِعَاب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(reefs) and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أَسْمَاك</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(fish).</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يَقَعُ البَحْرُ الأَحْمَرُ بَيْنَ شِبْهِ الجَزِيرَةِ العَرَبِيَّةِ وَشَمَالِ أَفْرِيقِيَا.</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Red Sea lies between the Arabian Peninsula and North Africa.</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يَضُمُّ هٰذَا البَحْرُ شِعَابًا مَرْجَانِيَّةً مِنْ أَغْنَى النُّظُمِ البِيئِيَّةِ البَحْرِيَّةِ فِي العَالَمِ.</a:t>
            </a:r>
            <a:endParaRPr lang="ar-SA" sz="19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sea includes coral reefs that are among the richest marine ecosystems in the world.</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يُشَكِّلُ المَرْجَانُ بِيئَةً لَا غِنَى عَنْهَا لِآلَافِ الأَسْمَاكِ.</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Coral forms an environment that thousands of fish cannot do without.</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غَيْرَ أَنَّ الاحْتِرَارَ يُهَدِّدُ هٰذَا التَّوَازُنَ.</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 (global) warming threatens this balance.</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اسْتَمَرَّ ارْتِفَاعُ حَرَارَةِ المُحِيطَاتِ، سَتَتَبَيَّضُ الشِّعَابُ وَتَمُوتُ.</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ocean temperatures keep rising, the reefs will bleach and die.</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وَلَوْ كَانَتْ إِجْرَاءَاتُ الحِمَايَةِ أَصْرَمَ فِي العُقُودِ المَاضِيَةِ، لَكَانَتِ الشِّعَابُ أَفْضَلَ حَالًا اليَوْمَ.</a:t>
            </a:r>
            <a:endParaRPr lang="ar-SA" sz="165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protection been stricter in past decades, the reefs would be in a better state today.</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لِذٰلِكَ تَحْتَاجُ دُوَلُ المِنْطَقَةِ إِلَى تَعَاوُنٍ إِقْلِيمِيٍّ لِكَيْ تَحْمِيَ هٰذَا الإِرْثَ الطَّبِيعِيَّ الاسْتِثْنَائِيَّ.</a:t>
            </a:r>
            <a:endParaRPr lang="ar-SA" sz="165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the region’s countries need regional cooperation to protect this exceptional natural heritage.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Red Sea encompass?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Some of the world's richest marine coral reefs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sand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life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يَضُمُّ … شِعَابًا مَرْجَانِيَّةً مِنْ أَغْنَى النُّظُمِ البِيئِيَّةِ.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coral form?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barrier to fish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An indispensable environment for thousands of fish</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يُشَكِّلُ المَرْجَانُ بِيئَةً لَا غِنَى عَنْهَا لِآلَافِ الأَسْمَاكِ.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Reefs are indestructible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Warming has stopped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ocean warming continues, reefs will bleach and die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إِذَا اسْتَمَرَّ ارْتِفَاعُ حَرَارَةِ المُحِيطَاتِ، سَتَتَبَيَّضُ الشِّعَابُ وَتَمُوتُ.</a:t>
            </a:r>
            <a:endParaRPr lang="ar-SA" sz="12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protection been stricter, the reefs would be better today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Protection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reefs cannot recover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كَانَتْ إِجْرَاءَاتُ الحِمَايَةِ أَصْرَمَ … لَكَانَتِ الشِّعَابُ أَفْضَلَ.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the region's states need cooperation?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exploit the reefs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 that they protect this natural heritage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tourism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تَحْمِيَ هٰذَا الإِرْثَ الطَّبِيعِيَّ.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1st time: just listen. 2nd time: choose A, B or C.</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Core: questions 1–2 — 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يَضُمُّ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(includes),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يُشَكِّلُ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(forms),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شِعَاب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(reefs) and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أَسْمَاك</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(fish).</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Speaking: describe and defend an ecosystem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مَكَانًا طَبِيعِيًّا: أَيْنَ هُوَ؟ وَأَيُّ حَيَوَانَاتٍ تَعِيشُ فِيهِ؟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نِظَامًا بِيئِيًّا مُسْتَعْمِلًا يَضُمُّ وَيُشَكِّلُ.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الخَطَرُ الحَقِيقِيُّ عَلَيْهِ؟ عَبِّرْ عَنْهُ بِشَرْطٍ مِنَ النَّوْعِ الأَوَّلِ.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نَحْتَاجُ إِلَى حِمَايَتِهِ؟ اِسْتَعْمِلْ لِكَيْ + مَنْصُوبًا.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فِي ___ ، وَتَعِيشُ فِيهِ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يَضُمُّ ___ ___ ، وَيُشَكِّلُ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اسْتَمَرَّ ___ ، 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نِظَامًا بِيئِيًّا.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an ecosystem.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يَضُمُّ البَحْرُ الأَحْمَرُ شِعَابًا مَرْجَانِيَّةً غَنِيَّةً، وَيُشَكِّلُ المَرْجَانُ بِيئَةً لِآلَافِ الأَسْمَاكِ.</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ar-SA" altLang="en-US" sz="1250" dirty="0">
                <a:solidFill>
                  <a:srgbClr val="5A6472"/>
                </a:solidFill>
                <a:latin typeface="Amiri" pitchFamily="34" charset="0"/>
                <a:ea typeface="Amiri" pitchFamily="34" charset="-122"/>
                <a:cs typeface="Amiri" pitchFamily="34" charset="-120"/>
              </a:rPr>
              <a:t>يَضُمُّ</a:t>
            </a:r>
            <a:pPr algn="l" indent="0" marL="0">
              <a:buNone/>
            </a:pPr>
            <a:r>
              <a:rPr lang="en-US" sz="950" i="1" dirty="0">
                <a:solidFill>
                  <a:srgbClr val="5A6472"/>
                </a:solidFill>
                <a:latin typeface="Calibri" pitchFamily="34" charset="0"/>
                <a:ea typeface="Calibri" pitchFamily="34" charset="-122"/>
                <a:cs typeface="Calibri" pitchFamily="34" charset="-120"/>
              </a:rPr>
              <a:t> + </a:t>
            </a:r>
            <a:pPr algn="l" indent="0" marL="0">
              <a:buNone/>
            </a:pPr>
            <a:r>
              <a:rPr lang="ar-SA" altLang="en-US" sz="1250" dirty="0">
                <a:solidFill>
                  <a:srgbClr val="5A6472"/>
                </a:solidFill>
                <a:latin typeface="Amiri" pitchFamily="34" charset="0"/>
                <a:ea typeface="Amiri" pitchFamily="34" charset="-122"/>
                <a:cs typeface="Amiri" pitchFamily="34" charset="-120"/>
              </a:rPr>
              <a:t>يُشَكِّلُ</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about a natural place and its animals. Try one sentence with </a:t>
            </a:r>
            <a:pPr algn="l" indent="0" marL="0">
              <a:buNone/>
            </a:pPr>
            <a:r>
              <a:rPr lang="ar-SA" altLang="en-US" sz="1800" b="1" dirty="0">
                <a:solidFill>
                  <a:srgbClr val="1F2A37"/>
                </a:solidFill>
                <a:latin typeface="Amiri" pitchFamily="34" charset="0"/>
                <a:ea typeface="Amiri" pitchFamily="34" charset="-122"/>
                <a:cs typeface="Amiri" pitchFamily="34" charset="-120"/>
              </a:rPr>
              <a:t>يَضُمُّ</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and word bank (next slide). Noun first, then the describing word with the same ending (ـِيٌّ / ـِيَّةٌ).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 + 1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ecosystem sentences with </a:t>
            </a:r>
            <a:pPr algn="l" indent="0" marL="0">
              <a:buNone/>
            </a:pPr>
            <a:r>
              <a:rPr lang="ar-SA" altLang="en-US" sz="1800" b="1" dirty="0">
                <a:solidFill>
                  <a:srgbClr val="1F2A37"/>
                </a:solidFill>
                <a:latin typeface="Amiri" pitchFamily="34" charset="0"/>
                <a:ea typeface="Amiri" pitchFamily="34" charset="-122"/>
                <a:cs typeface="Amiri" pitchFamily="34" charset="-120"/>
              </a:rPr>
              <a:t>يَضُمُّ</a:t>
            </a:r>
            <a:pPr algn="l" indent="0" marL="0">
              <a:buNone/>
            </a:pPr>
            <a:r>
              <a:rPr lang="en-US" sz="1400" b="1" dirty="0">
                <a:solidFill>
                  <a:srgbClr val="1F2A37"/>
                </a:solidFill>
                <a:latin typeface="Calibri" pitchFamily="34" charset="0"/>
                <a:ea typeface="Calibri" pitchFamily="34" charset="-122"/>
                <a:cs typeface="Calibri" pitchFamily="34" charset="-120"/>
              </a:rPr>
              <a:t>, </a:t>
            </a:r>
            <a:pPr algn="l" indent="0" marL="0">
              <a:buNone/>
            </a:pPr>
            <a:r>
              <a:rPr lang="ar-SA" altLang="en-US" sz="1800" b="1" dirty="0">
                <a:solidFill>
                  <a:srgbClr val="1F2A37"/>
                </a:solidFill>
                <a:latin typeface="Amiri" pitchFamily="34" charset="0"/>
                <a:ea typeface="Amiri" pitchFamily="34" charset="-122"/>
                <a:cs typeface="Amiri" pitchFamily="34" charset="-120"/>
              </a:rPr>
              <a:t>يُشَكِّلُ</a:t>
            </a:r>
            <a:pPr algn="l" indent="0" marL="0">
              <a:buNone/>
            </a:pPr>
            <a:r>
              <a:rPr lang="en-US" sz="1400" b="1" dirty="0">
                <a:solidFill>
                  <a:srgbClr val="1F2A37"/>
                </a:solidFill>
                <a:latin typeface="Calibri" pitchFamily="34" charset="0"/>
                <a:ea typeface="Calibri" pitchFamily="34" charset="-122"/>
                <a:cs typeface="Calibri" pitchFamily="34" charset="-120"/>
              </a:rPr>
              <a:t> and their complements. Add one real threat with </a:t>
            </a:r>
            <a:pPr algn="l" indent="0" marL="0">
              <a:buNone/>
            </a:pPr>
            <a:r>
              <a:rPr lang="ar-SA" altLang="en-US" sz="1800" b="1" dirty="0">
                <a:solidFill>
                  <a:srgbClr val="1F2A37"/>
                </a:solidFill>
                <a:latin typeface="Amiri" pitchFamily="34" charset="0"/>
                <a:ea typeface="Amiri" pitchFamily="34" charset="-122"/>
                <a:cs typeface="Amiri" pitchFamily="34" charset="-120"/>
              </a:rPr>
              <a:t>إِذَا … سَـ</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Develop frames on the next slide: يَضُمُّ / يُشَكِّلُ + object, يَتَفَاعَلُ مَعَ, يَعْتَمِدُ عَلَى.</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writing task: describe a natural ecosystem with composition verbs, a Type 1 threat, a Type 2 “what if” and </a:t>
            </a:r>
            <a:pPr algn="l" indent="0" marL="0">
              <a:buNone/>
            </a:pPr>
            <a:r>
              <a:rPr lang="ar-SA" altLang="en-US" sz="1800" b="1" dirty="0">
                <a:solidFill>
                  <a:srgbClr val="1F2A37"/>
                </a:solidFill>
                <a:latin typeface="Amiri" pitchFamily="34" charset="0"/>
                <a:ea typeface="Amiri" pitchFamily="34" charset="-122"/>
                <a:cs typeface="Amiri" pitchFamily="34" charset="-120"/>
              </a:rPr>
              <a:t>لِكَيْ</a:t>
            </a:r>
            <a:pPr algn="l" indent="0" marL="0">
              <a:buNone/>
            </a:pPr>
            <a:r>
              <a:rPr lang="en-US" sz="1400" b="1" dirty="0">
                <a:solidFill>
                  <a:srgbClr val="1F2A37"/>
                </a:solidFill>
                <a:latin typeface="Calibri" pitchFamily="34" charset="0"/>
                <a:ea typeface="Calibri" pitchFamily="34" charset="-122"/>
                <a:cs typeface="Calibri" pitchFamily="34" charset="-120"/>
              </a:rPr>
              <a:t> +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Checklist and phrase bank on the Stretch slide. Close with a لِكَي purpose clause using the subjunctive fatḥa.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يَضُمُّ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includes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يُشَكِّلُ ______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forms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يَتَفَاعَلُ ______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interacts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يَعْتَمِدُ ______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depends on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اسْتَمَرَّ ______ ، سَـ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 continues, … will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البَحْرُ الأَحْمَرُ بَيْنَ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Red Sea is between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الصَّحْرَاءُ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desert is in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تَعِيشُ ______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Fish live in the sea.</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غَابَةٌ ______ ـِيَّةٌ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a tropical forest.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نِظَامٌ ______ ـِيٌّ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an ecosystem.</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جَبَلٌ  ·  نَهْرٌ  ·  بَحْرٌ  ·  صَحْرَاءُ  ·  غَابَةٌ  ·  جَزِيرَةٌ  ·  أَسْمَاكٌ  ·  جِمَالٌ  ·  أُسُودٌ  ·  بِيئِيٌّ  ·  طَبِيعِيٌّ  ·  اسْتِوَائِيَّةٌ  ·  مَرْجَانِيَّةٌ  ·  آلَافَ الأَنْوَاعِ</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describing a natural ecosystem. Use </a:t>
            </a:r>
            <a:pPr algn="l" indent="0" marL="0">
              <a:buNone/>
            </a:pPr>
            <a:r>
              <a:rPr lang="ar-SA" altLang="en-US" sz="1750" b="1" dirty="0">
                <a:solidFill>
                  <a:srgbClr val="1F2A37"/>
                </a:solidFill>
                <a:latin typeface="Amiri" pitchFamily="34" charset="0"/>
                <a:ea typeface="Amiri" pitchFamily="34" charset="-122"/>
                <a:cs typeface="Amiri" pitchFamily="34" charset="-120"/>
              </a:rPr>
              <a:t>يَضُمُّ</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يُشَكِّلُ</a:t>
            </a:r>
            <a:pPr algn="l" indent="0" marL="0">
              <a:buNone/>
            </a:pPr>
            <a:r>
              <a:rPr lang="en-US" sz="1350" b="1" dirty="0">
                <a:solidFill>
                  <a:srgbClr val="1F2A37"/>
                </a:solidFill>
                <a:latin typeface="Calibri" pitchFamily="34" charset="0"/>
                <a:ea typeface="Calibri" pitchFamily="34" charset="-122"/>
                <a:cs typeface="Calibri" pitchFamily="34" charset="-120"/>
              </a:rPr>
              <a:t>, a Type 1 threat and a Type 2 counterfactual, and a purpose clause with </a:t>
            </a:r>
            <a:pPr algn="l" indent="0" marL="0">
              <a:buNone/>
            </a:pPr>
            <a:r>
              <a:rPr lang="ar-SA" altLang="en-US" sz="1750" b="1" dirty="0">
                <a:solidFill>
                  <a:srgbClr val="1F2A37"/>
                </a:solidFill>
                <a:latin typeface="Amiri" pitchFamily="34" charset="0"/>
                <a:ea typeface="Amiri" pitchFamily="34" charset="-122"/>
                <a:cs typeface="Amiri" pitchFamily="34" charset="-120"/>
              </a:rPr>
              <a:t>لِكَي</a:t>
            </a:r>
            <a:pPr algn="l" indent="0" marL="0">
              <a:buNone/>
            </a:pPr>
            <a:r>
              <a:rPr lang="en-US" sz="1350" b="1" dirty="0">
                <a:solidFill>
                  <a:srgbClr val="1F2A37"/>
                </a:solidFill>
                <a:latin typeface="Calibri" pitchFamily="34" charset="0"/>
                <a:ea typeface="Calibri" pitchFamily="34" charset="-122"/>
                <a:cs typeface="Calibri" pitchFamily="34" charset="-120"/>
              </a:rPr>
              <a:t> + a subjunctive verb.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Composition with </a:t>
            </a:r>
            <a:pPr algn="l" indent="0" marL="0">
              <a:buNone/>
            </a:pPr>
            <a:r>
              <a:rPr lang="ar-SA" altLang="en-US" sz="1550" dirty="0">
                <a:solidFill>
                  <a:srgbClr val="1F2A37"/>
                </a:solidFill>
                <a:latin typeface="Amiri" pitchFamily="34" charset="0"/>
                <a:ea typeface="Amiri" pitchFamily="34" charset="-122"/>
                <a:cs typeface="Amiri" pitchFamily="34" charset="-120"/>
              </a:rPr>
              <a:t>يَضُمُّ</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يُشَكِّلُ</a:t>
            </a:r>
            <a:pPr algn="l" indent="0" marL="0">
              <a:buNone/>
            </a:pPr>
            <a:r>
              <a:rPr lang="en-US" sz="1200" dirty="0">
                <a:solidFill>
                  <a:srgbClr val="1F2A37"/>
                </a:solidFill>
                <a:latin typeface="Calibri" pitchFamily="34" charset="0"/>
                <a:ea typeface="Calibri" pitchFamily="34" charset="-122"/>
                <a:cs typeface="Calibri" pitchFamily="34" charset="-120"/>
              </a:rPr>
              <a:t>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threat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a:t>
            </a:r>
            <a:pPr algn="l" indent="0" marL="0">
              <a:buNone/>
            </a:pPr>
            <a:r>
              <a:rPr lang="ar-SA" altLang="en-US" sz="1550" dirty="0">
                <a:solidFill>
                  <a:srgbClr val="1F2A37"/>
                </a:solidFill>
                <a:latin typeface="Amiri" pitchFamily="34" charset="0"/>
                <a:ea typeface="Amiri" pitchFamily="34" charset="-122"/>
                <a:cs typeface="Amiri" pitchFamily="34" charset="-120"/>
              </a:rPr>
              <a:t>لِكَي</a:t>
            </a:r>
            <a:pPr algn="l" indent="0" marL="0">
              <a:buNone/>
            </a:pPr>
            <a:r>
              <a:rPr lang="en-US" sz="1200" dirty="0">
                <a:solidFill>
                  <a:srgbClr val="1F2A37"/>
                </a:solidFill>
                <a:latin typeface="Calibri" pitchFamily="34" charset="0"/>
                <a:ea typeface="Calibri" pitchFamily="34" charset="-122"/>
                <a:cs typeface="Calibri" pitchFamily="34" charset="-120"/>
              </a:rPr>
              <a:t> purpose clause with the subjunctive fatḥa.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cause-effect link with </a:t>
            </a:r>
            <a:pPr algn="l" indent="0" marL="0">
              <a:buNone/>
            </a:pPr>
            <a:r>
              <a:rPr lang="ar-SA" altLang="en-US" sz="1550" dirty="0">
                <a:solidFill>
                  <a:srgbClr val="1F2A37"/>
                </a:solidFill>
                <a:latin typeface="Amiri" pitchFamily="34" charset="0"/>
                <a:ea typeface="Amiri" pitchFamily="34" charset="-122"/>
                <a:cs typeface="Amiri" pitchFamily="34" charset="-120"/>
              </a:rPr>
              <a:t>يُؤَدِّي إِلَى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يَقَعُ … بَيْنَ … وَ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lies between … and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أَغْنَى النُّظُمِ البِيئِيَّةِ فِي العَالَمِ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among the richest ecosystems in the world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بِيئَةً لَا غِنَى عَنْهَا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indispensable environment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أَنَّ … يُهَدِّدُ هٰذَا التَّوَازُنَ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however, … threatens this balance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تَحْتَاجُ …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is why … needs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لِلْأَجْيَالِ القَادِمَةِ</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future generations</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يَقَعُ البَحْرُ الأَحْمَرُ بَيْنَ شِبْهِ الجَزِيرَةِ العَرَبِيَّةِ وَشَمَالِ أَفْرِيقِيَا، وَيَضُمُّ شِعَابًا مَرْجَانِيَّةً مِنْ أَغْنَى النُّظُمِ البِيئِيَّةِ فِي العَالَمِ. يُشَكِّلُ المَرْجَانُ بِيئَةً لَا غِنَى عَنْهَا لِآلَافِ الأَسْمَاكِ، وَتَتَفَاعَلُ الأَنْوَاعُ مَعَ بَعْضِهَا فِي سَلَاسِلَ غِذَائِيَّةٍ مُعَقَّدَةٍ. غَيْرَ أَنَّ الاحْتِرَارَ يُهَدِّدُ هٰذَا التَّوَازُنَ وَيُؤَدِّي إِلَى تَبْيِيضِ المَرْجَانِ. إِذَا اسْتَمَرَّ ارْتِفَاعُ حَرَارَةِ المُحِيطَاتِ، سَتَمُوتُ الشِّعَابُ خِلَالَ عُقُودٍ. وَلَوْ كَانَتْ إِجْرَاءَاتُ الحِمَايَةِ أَصْرَمَ فِي المَاضِي، لَكَانَتِ الشِّعَابُ أَفْضَلَ حَالًا اليَوْمَ. لِذٰلِكَ تَحْتَاجُ دُوَلُ المِنْطَقَةِ إِلَى تَعَاوُنٍ إِقْلِيمِيٍّ لِكَيْ تَحْمِيَ هٰذَا الإِرْثَ الطَّبِيعِيَّ الاسْتِثْنَائِيَّ لِلْأَجْيَالِ القَادِمَةِ.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Red Sea lies between the Arabian Peninsula and North Africa, and it includes coral reefs that are among the richest ecosystems in the world. Coral forms an indispensable environment for thousands of fish, and species interact with one another in complex food chains. However, warming threatens this balance and leads to coral bleaching. If ocean temperatures keep rising, the reefs will die within decades. Had protection measures been stricter in the past, the reefs would be in a better state today. That is why the region’s countries need regional cooperation, so that they protect this exceptional natural heritage for future generations.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noun + describing word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يَضُمُّ / يُشَكِّلُ +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إِذَا … سَـ / لَوْ … لَـ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لِكَيْ + subjunctive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landscapes and animals and use a describing word that agrees (</a:t>
            </a:r>
            <a:pPr algn="l" indent="0" marL="0">
              <a:buNone/>
            </a:pPr>
            <a:r>
              <a:rPr lang="ar-SA" altLang="en-US" sz="1700" dirty="0">
                <a:solidFill>
                  <a:srgbClr val="1F2A37"/>
                </a:solidFill>
                <a:latin typeface="Amiri" pitchFamily="34" charset="0"/>
                <a:ea typeface="Amiri" pitchFamily="34" charset="-122"/>
                <a:cs typeface="Amiri" pitchFamily="34" charset="-120"/>
              </a:rPr>
              <a:t>غَابَةٌ اسْتِوَائِيَّةٌ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C9780A"/>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يَضُمُّ</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يُشَكِّلُ</a:t>
            </a:r>
            <a:pPr algn="l" indent="0" marL="0">
              <a:buNone/>
            </a:pPr>
            <a:r>
              <a:rPr lang="en-US" sz="1300" dirty="0">
                <a:solidFill>
                  <a:srgbClr val="1F2A37"/>
                </a:solidFill>
                <a:latin typeface="Calibri" pitchFamily="34" charset="0"/>
                <a:ea typeface="Calibri" pitchFamily="34" charset="-122"/>
                <a:cs typeface="Calibri" pitchFamily="34" charset="-120"/>
              </a:rPr>
              <a:t> with direct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C9780A"/>
          </a:solidFill>
          <a:ln w="12700">
            <a:solidFill>
              <a:srgbClr val="C9780A"/>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 an ecosystem before arguing about its protection.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B83227"/>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إِذَا … سَـ</a:t>
            </a:r>
            <a:pPr algn="l" indent="0" marL="0">
              <a:buNone/>
            </a:pPr>
            <a:r>
              <a:rPr lang="en-US" sz="1300" dirty="0">
                <a:solidFill>
                  <a:srgbClr val="1F2A37"/>
                </a:solidFill>
                <a:latin typeface="Calibri" pitchFamily="34" charset="0"/>
                <a:ea typeface="Calibri" pitchFamily="34" charset="-122"/>
                <a:cs typeface="Calibri" pitchFamily="34" charset="-120"/>
              </a:rPr>
              <a:t> for a real risk and </a:t>
            </a:r>
            <a:pPr algn="l" indent="0" marL="0">
              <a:buNone/>
            </a:pPr>
            <a:r>
              <a:rPr lang="ar-SA" altLang="en-US" sz="1700" dirty="0">
                <a:solidFill>
                  <a:srgbClr val="1F2A37"/>
                </a:solidFill>
                <a:latin typeface="Amiri" pitchFamily="34" charset="0"/>
                <a:ea typeface="Amiri" pitchFamily="34" charset="-122"/>
                <a:cs typeface="Amiri" pitchFamily="34" charset="-120"/>
              </a:rPr>
              <a:t>لَوْ … لَـ</a:t>
            </a:r>
            <a:pPr algn="l" indent="0" marL="0">
              <a:buNone/>
            </a:pPr>
            <a:r>
              <a:rPr lang="en-US" sz="1300" dirty="0">
                <a:solidFill>
                  <a:srgbClr val="1F2A37"/>
                </a:solidFill>
                <a:latin typeface="Calibri" pitchFamily="34" charset="0"/>
                <a:ea typeface="Calibri" pitchFamily="34" charset="-122"/>
                <a:cs typeface="Calibri" pitchFamily="34" charset="-120"/>
              </a:rPr>
              <a:t> for a counterfactual.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B83227"/>
          </a:solidFill>
          <a:ln w="12700">
            <a:solidFill>
              <a:srgbClr val="B83227"/>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put a fatḥa on the verb after </a:t>
            </a:r>
            <a:pPr algn="l" indent="0" marL="0">
              <a:buNone/>
            </a:pPr>
            <a:r>
              <a:rPr lang="ar-SA" altLang="en-US" sz="1700" dirty="0">
                <a:solidFill>
                  <a:srgbClr val="1F2A37"/>
                </a:solidFill>
                <a:latin typeface="Amiri" pitchFamily="34" charset="0"/>
                <a:ea typeface="Amiri" pitchFamily="34" charset="-122"/>
                <a:cs typeface="Amiri" pitchFamily="34" charset="-120"/>
              </a:rPr>
              <a:t>لِكَي</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تَحْمِيَ</a:t>
            </a:r>
            <a:pPr algn="l" indent="0" marL="0">
              <a:buNone/>
            </a:pPr>
            <a:r>
              <a:rPr lang="en-US" sz="1300" dirty="0">
                <a:solidFill>
                  <a:srgbClr val="1F2A37"/>
                </a:solidFill>
                <a:latin typeface="Calibri" pitchFamily="34" charset="0"/>
                <a:ea typeface="Calibri" pitchFamily="34" charset="-122"/>
                <a:cs typeface="Calibri" pitchFamily="34" charset="-120"/>
              </a:rPr>
              <a:t>, not </a:t>
            </a:r>
            <a:pPr algn="l" indent="0" marL="0">
              <a:buNone/>
            </a:pPr>
            <a:r>
              <a:rPr lang="ar-SA" altLang="en-US" sz="1700" dirty="0">
                <a:solidFill>
                  <a:srgbClr val="1F2A37"/>
                </a:solidFill>
                <a:latin typeface="Amiri" pitchFamily="34" charset="0"/>
                <a:ea typeface="Amiri" pitchFamily="34" charset="-122"/>
                <a:cs typeface="Amiri" pitchFamily="34" charset="-120"/>
              </a:rPr>
              <a:t>تَحْمِي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آلَافَ الأَنْوَاعِ.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بِآلَافِ الأَنْوَاعِ.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لِآلَافِ الأَنْوَاعِ.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نَحْتَاجُ إِلَى قَوَانِينَ لِكَيْ ___ الغَابَاتِ.</a:t>
            </a:r>
            <a:endParaRPr lang="ar-SA" sz="10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سَنَحْمِي</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ḍamma</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sukūn</a:t>
            </a:r>
            <a:endParaRPr lang="en-US" sz="12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تَضُمُّ الغَابَةُ آلَافَ الأَنْوَاعِ.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تَضُمُّ الغَابَةُ بِآلَافِ الأَنْوَاعِ.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تَضُمُّ الغَابَةُ لِآلَافِ الأَنْوَاعِ.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يَضُمُّ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نَحْتَاجُ إِلَى قَوَانِينَ لِكَيْ ___ الغَابَاتِ.</a:t>
            </a:r>
            <a:endParaRPr lang="ar-SA" sz="10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نَحْمِي</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نَحْمِيَ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سَنَحْمِي</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نَحْمِيَ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ḍamma</a:t>
            </a:r>
            <a:endParaRPr lang="en-US" sz="12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sukūn</a:t>
            </a:r>
            <a:endParaRPr lang="en-US" sz="12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verb ends in a fatḥa.</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threatened balance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يُعَدُّ التَّنَوُّعُ الحَيَوِيُّ أَسَاسَ الحَيَاةِ عَلَى الأَرْضِ. فَكُلُّ نِظَامٍ بِيئِيٍّ يَضُمُّ أَنْوَاعًا تَتَفَاعَلُ مَعَ بَعْضِهَا فِي سَلَاسِلَ غِذَائِيَّةٍ مُعَقَّدَةٍ، وَيَعْتَمِدُ تَوَازُنُهُ عَلَى بَقَاءِ كُلِّ عُنْصُرٍ. غَيْرَ أَنَّ النَّشَاطَ البَشَرِيَّ يُهَدِّدُ هٰذَا التَّوَازُنَ وَيُؤَدِّي إِلَى انْقِرَاضِ أَنْوَاعٍ كَثِيرَةٍ. إِذَا فَقَدْنَا نَوْعًا وَاحِدًا، سَتَتَأَثَّرُ السِّلْسِلَةُ كُلُّهَا. وَلَوْ عَامَلْنَا الطَّبِيعَةَ بِاحْتِرَامٍ أَكْبَرَ فِي المَاضِي، لَمَا وَصَلَ كَثِيرٌ مِنَ الأَنْوَاعِ إِلَى حَافَّةِ الانْقِرَاضِ. لِذٰلِكَ يَجِبُ أَنْ نَتَعَاوَنَ لِكَيْ نَحْمِيَ التَّنَوُّعَ الحَيَوِيَّ لِلْأَجْيَالِ القَادِمَةِ.</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يُعَدُّ</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considered</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أَسَاسٌ</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basis</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الأَرْضُ</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Earth</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مُعَقَّدَةٌ</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complex</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بَقَاءٌ</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survival</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عُنْصُرٌ</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element</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النَّشَاطُ البَشَرِيُّ</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human activity</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فَقَدْنَا</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lost</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بِاحْتِرَامٍ</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respect</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حَافَّةُ الانْقِرَاضِ</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edge of extinction</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الأَجْيَالُ القَادِمَةُ</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future generations</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biodiversity called?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luxury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basis of life on Earth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obstacle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each ecosystem's balance depend 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species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Human activity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survival of every element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we lose one species, the whole chain is affected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Losing a species has no effect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Chains cannot be affected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Had we treated nature with more respect, many species would not have neared extinction</a:t>
            </a:r>
            <a:endParaRPr lang="en-US" sz="1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Extinction is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we cooperate, per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we protect biodiversity for future generations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exploit nature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biodiversity called?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luxury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basis of life on Earth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obstacle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يُعَدُّ التَّنَوُّعُ الحَيَوِيُّ أَسَاسَ الحَيَاةِ عَلَى الأَرْضِ.</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each ecosystem's balance depend 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species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Human activity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survival of every element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يَعْتَمِدُ تَوَازُنُهُ عَلَى بَقَاءِ كُلِّ عُنْصُرٍ.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we lose one species, the whole chain is affected</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Losing a species has no effect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Chains cannot be affected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فَقَدْنَا نَوْعًا وَاحِدًا، سَتَتَأَثَّرُ السِّلْسِلَةُ كُلُّهَا.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ea typeface="Calibri" pitchFamily="34" charset="-122"/>
                <a:cs typeface="Calibri" pitchFamily="34" charset="-120"/>
              </a:rPr>
              <a:t>Had we treated nature with more respect, many species would not have neared extinction</a:t>
            </a:r>
            <a:endParaRPr lang="en-US" sz="10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Extinction is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34" charset="0"/>
                <a:ea typeface="Amiri" pitchFamily="34" charset="-122"/>
                <a:cs typeface="Amiri" pitchFamily="34" charset="-120"/>
              </a:rPr>
              <a:t>لَوْ عَامَلْنَا الطَّبِيعَةَ بِاحْتِرَامٍ أَكْبَرَ … لَمَا وَصَلَ كَثِيرٌ مِنَ الأَنْوَاعِ إِلَى حَافَّةِ الانْقِرَاضِ.</a:t>
            </a:r>
            <a:endParaRPr lang="ar-SA" sz="9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we cooperate, per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 that we protect biodiversity for future generations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exploit nature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يَجِبُ أَنْ نَتَعَاوَنَ لِكَيْ نَحْمِيَ التَّنَوُّعَ الحَيَوِيَّ لِلْأَجْيَالِ القَادِمَةِ.</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TC-L03 · Climate, Seasons and Weather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طَقْسٌ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weather</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مُنَاخٌ</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climate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rain</a:t>
            </a:r>
            <a:pPr indent="0" marL="0">
              <a:buNone/>
            </a:pPr>
            <a:r>
              <a:rPr lang="en-US" sz="1000" i="1" dirty="0">
                <a:solidFill>
                  <a:srgbClr val="5A6472"/>
                </a:solidFill>
                <a:latin typeface="Calibri" pitchFamily="34" charset="0"/>
                <a:ea typeface="Calibri" pitchFamily="34" charset="-122"/>
                <a:cs typeface="Calibri" pitchFamily="34" charset="-120"/>
              </a:rPr>
              <a:t>  pl. أَمْطَارٌ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بَارِدٌ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cold</a:t>
            </a:r>
            <a:pPr indent="0" marL="0">
              <a:buNone/>
            </a:pPr>
            <a:r>
              <a:rPr lang="en-US" sz="1000" i="1" dirty="0">
                <a:solidFill>
                  <a:srgbClr val="5A6472"/>
                </a:solidFill>
                <a:latin typeface="Calibri" pitchFamily="34" charset="0"/>
                <a:ea typeface="Calibri" pitchFamily="34" charset="-122"/>
                <a:cs typeface="Calibri" pitchFamily="34" charset="-120"/>
              </a:rPr>
              <a:t>  f. بَارِدَةٌ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فَصْلٌ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season</a:t>
            </a:r>
            <a:pPr indent="0" marL="0">
              <a:buNone/>
            </a:pPr>
            <a:r>
              <a:rPr lang="en-US" sz="1000" i="1" dirty="0">
                <a:solidFill>
                  <a:srgbClr val="5A6472"/>
                </a:solidFill>
                <a:latin typeface="Calibri" pitchFamily="34" charset="0"/>
                <a:ea typeface="Calibri" pitchFamily="34" charset="-122"/>
                <a:cs typeface="Calibri" pitchFamily="34" charset="-120"/>
              </a:rPr>
              <a:t>  pl. فُصُولٌ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is the weather like today where you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كَيْفَ الطَّقْسُ اليَوْمَ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TC-L02 · play “Nature Scene”,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with </a:t>
            </a:r>
            <a:pPr algn="l" indent="0" marL="0">
              <a:buNone/>
            </a:pPr>
            <a:r>
              <a:rPr lang="ar-SA" altLang="en-US" sz="1550" dirty="0">
                <a:solidFill>
                  <a:srgbClr val="1F2A37"/>
                </a:solidFill>
                <a:latin typeface="Amiri" pitchFamily="34" charset="0"/>
                <a:ea typeface="Amiri" pitchFamily="34" charset="-122"/>
                <a:cs typeface="Amiri" pitchFamily="34" charset="-120"/>
              </a:rPr>
              <a:t>يَضُمُّ / يُشَكِّلُ</a:t>
            </a:r>
            <a:pPr algn="l" indent="0" marL="0">
              <a:buNone/>
            </a:pPr>
            <a:r>
              <a:rPr lang="en-US" sz="1200" dirty="0">
                <a:solidFill>
                  <a:srgbClr val="1F2A37"/>
                </a:solidFill>
                <a:latin typeface="Calibri" pitchFamily="34" charset="0"/>
                <a:ea typeface="Calibri" pitchFamily="34" charset="-122"/>
                <a:cs typeface="Calibri" pitchFamily="34" charset="-120"/>
              </a:rPr>
              <a:t> about a sea, a desert or a forest.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TC-L02 · “Ecosystem Mission” (14 rounds) and the reading “A threatened balance”.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ea typeface="Cambria" pitchFamily="34" charset="-122"/>
                <a:cs typeface="Cambria" pitchFamily="34" charset="-120"/>
              </a:rPr>
              <a:t>TC-L03 · Climate, Seasons and Weather</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المُنَاخُ وَالفُصُولُ وَالطَّقْسُ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TC-L02 · Landscapes, Nature and Animals</dc:title>
  <dc:subject>PptxGenJS Presentation</dc:subject>
  <dc:creator>Al Madina Online School · Arabic Department</dc:creator>
  <cp:lastModifiedBy>Al Madina Online School · Arabic Department</cp:lastModifiedBy>
  <cp:revision>1</cp:revision>
  <dcterms:created xsi:type="dcterms:W3CDTF">2026-09-27T10:53:30Z</dcterms:created>
  <dcterms:modified xsi:type="dcterms:W3CDTF">2026-09-27T10:53:30Z</dcterms:modified>
</cp:coreProperties>
</file>