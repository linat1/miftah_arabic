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4 (TC-L04). The website lesson reuses D4-L03 (Environmental Problems — Causes and Effects) with the Topic C focus “Explain pollution, climate change and habitat loss through cause and effect” (grammar: passive voice; cause/effect connectors). The picture match is the website lesson game “Cause &amp; Effect”; the “cause–effect chain”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D4-L03 is B1 language. CORE: the problem words (most are iḍāfa phrases like TC-L02: تَلَوُّثُ الهَوَاءِ = pollution of the air) + two connectors: بِسَبَبِ (because of) and يُؤَدِّي إِلَى (leads to). The three website game sentences are the Core models. DEVELOP: active vs passive (تُلَوِّثُ المَصَانِعُ الهَوَاءَ / يُلَوَّثُ الهَوَاءُ). STRETCH: مِمَّا يُسَبِّبُ, نَتِيجَةً لِـ and the passive/process-verb distinction.
• Each problem card breaks the phrase into its two words with English; read-along listening with English; picture match with icons.
• Urdu bridge words (سبب، نتیجہ، مشکل، خطرہ، مرض).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TC-L03 and TC-L02.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link a CAUSE to an EFFECT: بِسَبَبِ + cause, or cause + يُؤَدِّي إِلَى +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(cause), نتیجہ (result), مشکل (difficulty), خطرہ (danger — the listening says أَخْطَرِ المُشْكِلَاتِ “the most dangerous problems”), مرض (illness — أَمْرَاضُ التَّنَفُّسِ).
All four groups are the website D4-L03 vocabulary; Group 2 also adds الدُّخَانُ and المَصَانِعُ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D4-L03). Hear → Say → See → Use.
The small boxes break each phrase into its two words (English label above). Most are iḍāfa — “the pollution OF the air” — exactly the structure from TC-L02. Two are noun + nisba adjective (pink ending): البِلَاسْتِيكِيَّةُ، الحَرَارِيُّ.
Link to TC-L02: التَّصَحُّرُ comes from صَحْرَاء (desert), and إِزَالَةُ الغَابَاتِ uses غَابَة (forest).
Quick check: “Type the NUMBER of the problem you think is worst in your city” (personal response, English reason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problems (website D4-L03 + website lesson game for الدُّخَانُ / المَصَانِعُ). Core: الدُّخَانُ and المَصَانِعُ; Develop / Stretch: all six.
Link to TC-L03: ارْتِفَاع (a rise) is the noun from تَرْتَفِعُ (it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D4-L03). Teal = key connector.
Core: learn cards 1–2 today. Develop: 1–5. Stretch: all six.
Gesture: point backwards over your shoulder for بِسَبَبِ (the cause came before), point forwards for يُؤَدِّي إِلَى (the effect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D4-L03). Develop / Stretch; Core students learn row 1 only.
Listen to the vowels: ACTIVE يُلَوِّثُ (yu-law-WI-thu) → PASSIVE يُلَوَّثُ (yu-law-WA-thu). The passive sounds “u … 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“Result with يُؤَدِّي إِلَى”: cause + يُؤَدِّي إِلَى + verbal noun / noun. Keep the preposition إِلَى after يُؤَدِّي.
Sentences: website lesson game (row 1), website pattern (row 2), mission (row 3), website common mistake corrected (row 4).
Read each row in three beats; students tap the three beats. Arabic often puts the verb FIRST: “causes — factory smoke — air pollution”.
Core: learn rows 1–2 as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“Cause phrases” (بِسَبَبِ / نَتِيجَةً لِـ + genitive noun: these expressions are followed by a noun phrase, not a complete finite clause) and “Linking a whole clause to a consequence” (مِمَّا refers back to the whole previous idea).
Examples: website pattern and rule examples.
• CORE: بِسَبَبِ and يُؤَدِّي إِلَى. • DEVELOP: add نَتِيجَةً لِـ. • STRETCH: مِمَّا يُسَبِّبُ.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“Active and passive”: تُلَوِّثُ Xُ Yَ ↔ يُلَوَّثُ Yُ. The active sentence names the agent. The passive focuses on the affected thing; the passive subject is nominative.
Sentences: website grammar examples, quiz and listening script.
Develop focus — Core students listen and notice only: the active sentence tells you WHO (blue).
Stretch: explain why row 5 is not a passive (website: “ينبعث is not a passive form of لوّث; it describes smoke or gas emanating”).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5, 3 and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chain into their books.
Step 1 — “I name the problem: تَلَوُّثُ الهَوَاءِ. يَزْدَادُ means it is increasing.”
Step 2 — “Why? بِسَبَبِ + nouns: السَّيَّارَاتِ وَالمَصَانِعِ.”
Step 3 — “What happens? وَهٰذَا يُؤَدِّي إِلَى أَمْرَاضٍ — I must keep إِلَى.”
Step 4 — “My judgement: فِي رَأْيِي، هٰذِهِ مُشْكِلَةٌ خَطِيرَةٌ.”
Built from website language: listening script (السَّيَّارَاتُ وَالمَصَانِعُ … تَزْدَادُ أَمْرَاضُ التَّنَفُّسِ), website speaking model (فِي رَأْيِي، تَلَوُّثُ الهَوَاءِ خَطِيرٌ …) and the corrected website mistake (يُؤَدِّي التَّلَوُّثُ إِلَى أَمْرَاضٍ).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patterns and rules. Students copy TWO that are useful for them.
• Core: copy 1 and 2. • Develop: copy 3 and change the cause. • Stretch: copy 4 and write another chain with مِمَّا.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an environmental problem in your city?” — answered with the Core stem, e.g. تَلَوُّثُ الهَوَاءِ مُشْكِلَةٌ خَطِيرَةٌ بِسَبَبِ السَّيَّارَاتِ.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passives يُلَوَّثُ الهَوَاءُ · تُرْمَى النُّفَايَاتُ · تُقْطَعُ الأَشْجَارُ; connectors فَبِسَبَبِ · مِمَّا يَضُرُّ · فَيُؤَدِّي ذٰلِكَ إِلَى; judgement لَا بُدَّ مِنْ فَهْمِ الأَسْبَابِ.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(TC-L05 · Environmental Solutions and Responsibility) will spend class time USING this language, so students prepare it tonight — short, simple, easy to access (school guidance: “Simple, Short, Interesting, Relevant, Easy to access”). The five words come from the website D4-L04 vocabulary (Environmental solutions; Action verbs;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Environmental Problems and Their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المُشْكِلَاتُ البِيئِيَّةُ وَأَسْبَابُهَا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pollution, climate change and habitat loss through cause and effect: </a:t>
            </a:r>
            <a:pPr algn="l" indent="0" marL="0">
              <a:buNone/>
            </a:pPr>
            <a:r>
              <a:rPr lang="ar-SA" altLang="en-US" sz="1800" dirty="0">
                <a:solidFill>
                  <a:srgbClr val="C6D2E6"/>
                </a:solidFill>
                <a:latin typeface="Amiri" pitchFamily="34" charset="0"/>
                <a:ea typeface="Amiri" pitchFamily="34" charset="-122"/>
                <a:cs typeface="Amiri" pitchFamily="34" charset="-120"/>
              </a:rPr>
              <a:t>بِسَبَبِ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يُؤَدِّي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مِمَّا يُسَبِّبُ</a:t>
            </a:r>
            <a:pPr algn="l" indent="0" marL="0">
              <a:buNone/>
            </a:pPr>
            <a:r>
              <a:rPr lang="en-US" sz="1400" dirty="0">
                <a:solidFill>
                  <a:srgbClr val="C6D2E6"/>
                </a:solidFill>
                <a:latin typeface="Calibri" pitchFamily="34" charset="0"/>
                <a:ea typeface="Calibri" pitchFamily="34" charset="-122"/>
                <a:cs typeface="Calibri" pitchFamily="34" charset="-120"/>
              </a:rPr>
              <a:t>, and active or passive verbs (</a:t>
            </a:r>
            <a:pPr algn="l" indent="0" marL="0">
              <a:buNone/>
            </a:pPr>
            <a:r>
              <a:rPr lang="ar-SA" altLang="en-US" sz="1800" dirty="0">
                <a:solidFill>
                  <a:srgbClr val="C6D2E6"/>
                </a:solidFill>
                <a:latin typeface="Amiri" pitchFamily="34" charset="0"/>
                <a:ea typeface="Amiri" pitchFamily="34" charset="-122"/>
                <a:cs typeface="Amiri" pitchFamily="34" charset="-120"/>
              </a:rPr>
              <a:t>تُلَوِّثُ / يُلَوَّثُ</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TC-L04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Problem words, then “because of” and “leads to”.</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a chain,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شَجَرَةٌ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order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“hotter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حَارٌّ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حَرَارَةً أَكْثَرُ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حَرَارَةً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تَضُمُّ الغَابَةُ آلَافَ الأَنْوَاعِ.</a:t>
            </a:r>
            <a:endParaRPr lang="ar-SA"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 includes thousands of species.</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 is a natural habitat.</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sea includes coral reefs.</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هَوَاءٌ</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شَجَرَةٌ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تَلَوُّثٌ</a:t>
            </a:r>
            <a:pPr algn="l" indent="0" marL="0">
              <a:buNone/>
            </a:pPr>
            <a:r>
              <a:rPr lang="en-US" sz="1050" i="1" dirty="0">
                <a:solidFill>
                  <a:srgbClr val="8A6D1E"/>
                </a:solidFill>
                <a:latin typeface="Calibri" pitchFamily="34" charset="0"/>
                <a:ea typeface="Calibri" pitchFamily="34" charset="-122"/>
                <a:cs typeface="Calibri" pitchFamily="34" charset="-120"/>
              </a:rPr>
              <a:t> = pollution · </a:t>
            </a:r>
            <a:pPr algn="l" indent="0" marL="0">
              <a:buNone/>
            </a:pPr>
            <a:r>
              <a:rPr lang="ar-SA" altLang="en-US" sz="1350" dirty="0">
                <a:solidFill>
                  <a:srgbClr val="8A6D1E"/>
                </a:solidFill>
                <a:latin typeface="Amiri" pitchFamily="34" charset="0"/>
                <a:ea typeface="Amiri" pitchFamily="34" charset="-122"/>
                <a:cs typeface="Amiri" pitchFamily="34" charset="-120"/>
              </a:rPr>
              <a:t>هَوَاءٌ</a:t>
            </a:r>
            <a:pPr algn="l" indent="0" marL="0">
              <a:buNone/>
            </a:pPr>
            <a:r>
              <a:rPr lang="en-US" sz="1050" i="1" dirty="0">
                <a:solidFill>
                  <a:srgbClr val="8A6D1E"/>
                </a:solidFill>
                <a:latin typeface="Calibri" pitchFamily="34" charset="0"/>
                <a:ea typeface="Calibri" pitchFamily="34" charset="-122"/>
                <a:cs typeface="Calibri" pitchFamily="34" charset="-120"/>
              </a:rPr>
              <a:t> = air · </a:t>
            </a:r>
            <a:pPr algn="l" indent="0" marL="0">
              <a:buNone/>
            </a:pPr>
            <a:r>
              <a:rPr lang="ar-SA" altLang="en-US" sz="1350" dirty="0">
                <a:solidFill>
                  <a:srgbClr val="8A6D1E"/>
                </a:solidFill>
                <a:latin typeface="Amiri" pitchFamily="34" charset="0"/>
                <a:ea typeface="Amiri" pitchFamily="34" charset="-122"/>
                <a:cs typeface="Amiri" pitchFamily="34" charset="-120"/>
              </a:rPr>
              <a:t>شَجَرَةٌ</a:t>
            </a:r>
            <a:pPr algn="l" indent="0" marL="0">
              <a:buNone/>
            </a:pPr>
            <a:r>
              <a:rPr lang="en-US" sz="1050" i="1" dirty="0">
                <a:solidFill>
                  <a:srgbClr val="8A6D1E"/>
                </a:solidFill>
                <a:latin typeface="Calibri" pitchFamily="34" charset="0"/>
                <a:ea typeface="Calibri" pitchFamily="34" charset="-122"/>
                <a:cs typeface="Calibri" pitchFamily="34" charset="-120"/>
              </a:rPr>
              <a:t> = tree.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بِسَبَبِ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order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 because of (Urdu: </a:t>
            </a:r>
            <a:pPr algn="l" indent="0" marL="0">
              <a:buNone/>
            </a:pPr>
            <a:r>
              <a:rPr lang="ar-SA" altLang="en-US" sz="1350" dirty="0">
                <a:solidFill>
                  <a:srgbClr val="8A6D1E"/>
                </a:solidFill>
                <a:latin typeface="Amiri" pitchFamily="34" charset="0"/>
                <a:ea typeface="Amiri" pitchFamily="34" charset="-122"/>
                <a:cs typeface="Amiri" pitchFamily="34" charset="-120"/>
              </a:rPr>
              <a:t>سبب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“hotter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حَارٌّ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حَرَارَةً أَكْثَرُ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حَرَارَةً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noun (</a:t>
            </a:r>
            <a:pPr algn="l" indent="0" marL="0">
              <a:buNone/>
            </a:pPr>
            <a:r>
              <a:rPr lang="ar-SA" altLang="en-US" sz="1350" dirty="0">
                <a:solidFill>
                  <a:srgbClr val="8A6D1E"/>
                </a:solidFill>
                <a:latin typeface="Amiri" pitchFamily="34" charset="0"/>
                <a:ea typeface="Amiri" pitchFamily="34" charset="-122"/>
                <a:cs typeface="Amiri" pitchFamily="34" charset="-120"/>
              </a:rPr>
              <a:t>ـًا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تَضُمُّ الغَابَةُ آلَافَ الأَنْوَاعِ.</a:t>
            </a:r>
            <a:endParaRPr lang="ar-SA"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forest includes thousands of species.</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forest is a natural habitat.</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sea includes coral reefs.</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a:t>
            </a:r>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 includes.</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Today we link a CAUSE to an EFFECT: </a:t>
            </a:r>
            <a:pPr algn="l" indent="0" marL="0">
              <a:buNone/>
            </a:pPr>
            <a:r>
              <a:rPr lang="ar-SA" altLang="en-US" sz="1700" b="1" dirty="0">
                <a:solidFill>
                  <a:srgbClr val="1F2A37"/>
                </a:solidFill>
                <a:latin typeface="Amiri" pitchFamily="34" charset="0"/>
                <a:ea typeface="Amiri" pitchFamily="34" charset="-122"/>
                <a:cs typeface="Amiri" pitchFamily="34" charset="-120"/>
              </a:rPr>
              <a:t>بِسَبَبِ</a:t>
            </a:r>
            <a:pPr algn="l" indent="0" marL="0">
              <a:buNone/>
            </a:pPr>
            <a:r>
              <a:rPr lang="en-US" sz="1300" b="1" dirty="0">
                <a:solidFill>
                  <a:srgbClr val="1F2A37"/>
                </a:solidFill>
                <a:latin typeface="Calibri" pitchFamily="34" charset="0"/>
                <a:ea typeface="Calibri" pitchFamily="34" charset="-122"/>
                <a:cs typeface="Calibri" pitchFamily="34" charset="-120"/>
              </a:rPr>
              <a:t> + cause, or cause + </a:t>
            </a:r>
            <a:pPr algn="l" indent="0" marL="0">
              <a:buNone/>
            </a:pPr>
            <a:r>
              <a:rPr lang="ar-SA" altLang="en-US" sz="1700" b="1" dirty="0">
                <a:solidFill>
                  <a:srgbClr val="1F2A37"/>
                </a:solidFill>
                <a:latin typeface="Amiri" pitchFamily="34" charset="0"/>
                <a:ea typeface="Amiri" pitchFamily="34" charset="-122"/>
                <a:cs typeface="Amiri" pitchFamily="34" charset="-120"/>
              </a:rPr>
              <a:t>يُؤَدِّي إِلَى</a:t>
            </a:r>
            <a:pPr algn="l" indent="0" marL="0">
              <a:buNone/>
            </a:pPr>
            <a:r>
              <a:rPr lang="en-US" sz="1300" b="1" dirty="0">
                <a:solidFill>
                  <a:srgbClr val="1F2A37"/>
                </a:solidFill>
                <a:latin typeface="Calibri" pitchFamily="34" charset="0"/>
                <a:ea typeface="Calibri" pitchFamily="34" charset="-122"/>
                <a:cs typeface="Calibri" pitchFamily="34" charset="-120"/>
              </a:rPr>
              <a:t> + effect.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بِسَبَبِ  ·  يُؤَدِّي إِلَى</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250" b="1" dirty="0">
                <a:solidFill>
                  <a:srgbClr val="2E8B57"/>
                </a:solidFill>
                <a:latin typeface="Calibri" pitchFamily="34" charset="0"/>
                <a:ea typeface="Calibri" pitchFamily="34" charset="-122"/>
                <a:cs typeface="Calibri" pitchFamily="34" charset="-120"/>
              </a:rPr>
              <a:t>☐  I can name 6 environmental problems (</a:t>
            </a:r>
            <a:pPr algn="l" indent="0" marL="0">
              <a:buNone/>
            </a:pPr>
            <a:r>
              <a:rPr lang="ar-SA" altLang="en-US" sz="1650" b="1" dirty="0">
                <a:solidFill>
                  <a:srgbClr val="2E8B57"/>
                </a:solidFill>
                <a:latin typeface="Amiri" pitchFamily="34" charset="0"/>
                <a:ea typeface="Amiri" pitchFamily="34" charset="-122"/>
                <a:cs typeface="Amiri" pitchFamily="34" charset="-120"/>
              </a:rPr>
              <a:t>تَلَوُّثُ الهَوَاءِ، إِزَالَةُ الغَابَاتِ</a:t>
            </a:r>
            <a:pPr algn="l" indent="0" marL="0">
              <a:buNone/>
            </a:pPr>
            <a:r>
              <a:rPr lang="en-US" sz="1250" b="1" dirty="0">
                <a:solidFill>
                  <a:srgbClr val="2E8B57"/>
                </a:solidFill>
                <a:latin typeface="Calibri" pitchFamily="34" charset="0"/>
                <a:ea typeface="Calibri" pitchFamily="34" charset="-122"/>
                <a:cs typeface="Calibri" pitchFamily="34" charset="-120"/>
              </a:rPr>
              <a:t> …).</a:t>
            </a:r>
            <a:endParaRPr lang="en-US" sz="125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 cause with </a:t>
            </a:r>
            <a:pPr algn="l" indent="0" marL="0">
              <a:buNone/>
            </a:pPr>
            <a:r>
              <a:rPr lang="ar-SA" altLang="en-US" sz="1700" b="1" dirty="0">
                <a:solidFill>
                  <a:srgbClr val="2E8B57"/>
                </a:solidFill>
                <a:latin typeface="Amiri" pitchFamily="34" charset="0"/>
                <a:ea typeface="Amiri" pitchFamily="34" charset="-122"/>
                <a:cs typeface="Amiri" pitchFamily="34" charset="-120"/>
              </a:rPr>
              <a:t>بِسَبَبِ</a:t>
            </a:r>
            <a:pPr algn="l" indent="0" marL="0">
              <a:buNone/>
            </a:pPr>
            <a:r>
              <a:rPr lang="en-US" sz="1300" b="1" dirty="0">
                <a:solidFill>
                  <a:srgbClr val="2E8B57"/>
                </a:solidFill>
                <a:latin typeface="Calibri" pitchFamily="34" charset="0"/>
                <a:ea typeface="Calibri" pitchFamily="34" charset="-122"/>
                <a:cs typeface="Calibri" pitchFamily="34" charset="-120"/>
              </a:rPr>
              <a:t> and an effect with </a:t>
            </a:r>
            <a:pPr algn="l" indent="0" marL="0">
              <a:buNone/>
            </a:pPr>
            <a:r>
              <a:rPr lang="ar-SA" altLang="en-US" sz="1700" b="1" dirty="0">
                <a:solidFill>
                  <a:srgbClr val="2E8B57"/>
                </a:solidFill>
                <a:latin typeface="Amiri" pitchFamily="34" charset="0"/>
                <a:ea typeface="Amiri" pitchFamily="34" charset="-122"/>
                <a:cs typeface="Amiri" pitchFamily="34" charset="-120"/>
              </a:rPr>
              <a:t>يُؤَدِّي إِلَى</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an active sentence from a passive one: </a:t>
            </a:r>
            <a:pPr algn="l" indent="0" marL="0">
              <a:buNone/>
            </a:pPr>
            <a:r>
              <a:rPr lang="ar-SA" altLang="en-US" sz="1700" b="1" dirty="0">
                <a:solidFill>
                  <a:srgbClr val="C9780A"/>
                </a:solidFill>
                <a:latin typeface="Amiri" pitchFamily="34" charset="0"/>
                <a:ea typeface="Amiri" pitchFamily="34" charset="-122"/>
                <a:cs typeface="Amiri" pitchFamily="34" charset="-120"/>
              </a:rPr>
              <a:t>تُلَوِّثُ / يُلَوَّثُ</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chain of two causes and effects.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link a whole idea to its result with </a:t>
            </a:r>
            <a:pPr algn="l" indent="0" marL="0">
              <a:buNone/>
            </a:pPr>
            <a:r>
              <a:rPr lang="ar-SA" altLang="en-US" sz="1700" b="1" dirty="0">
                <a:solidFill>
                  <a:srgbClr val="B83227"/>
                </a:solidFill>
                <a:latin typeface="Amiri" pitchFamily="34" charset="0"/>
                <a:ea typeface="Amiri" pitchFamily="34" charset="-122"/>
                <a:cs typeface="Amiri" pitchFamily="34" charset="-120"/>
              </a:rPr>
              <a:t>مِمَّا يُسَبِّبُ</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120–140 words about two problems.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Problems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problems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Cause and effect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Active or passive? · 8</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cause</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مُشْكِلَةٌ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‎مشکل‎ </a:t>
            </a:r>
            <a:pPr indent="0" marL="0">
              <a:buNone/>
            </a:pPr>
            <a:r>
              <a:rPr lang="en-US" sz="950" b="1" dirty="0">
                <a:solidFill>
                  <a:srgbClr val="2E8B57"/>
                </a:solidFill>
                <a:latin typeface="Calibri" pitchFamily="34" charset="0"/>
                <a:ea typeface="Calibri" pitchFamily="34" charset="-122"/>
                <a:cs typeface="Calibri" pitchFamily="34" charset="-120"/>
              </a:rPr>
              <a:t> mushkil · problem</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‎خطرہ‎ </a:t>
            </a:r>
            <a:pPr indent="0" marL="0">
              <a:buNone/>
            </a:pPr>
            <a:r>
              <a:rPr lang="en-US" sz="950" b="1" dirty="0">
                <a:solidFill>
                  <a:srgbClr val="2E8B57"/>
                </a:solidFill>
                <a:latin typeface="Calibri" pitchFamily="34" charset="0"/>
                <a:ea typeface="Calibri" pitchFamily="34" charset="-122"/>
                <a:cs typeface="Calibri" pitchFamily="34" charset="-120"/>
              </a:rPr>
              <a:t> khatra · danger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مَرَضٌ</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‎مرض‎ </a:t>
            </a:r>
            <a:pPr indent="0" marL="0">
              <a:buNone/>
            </a:pPr>
            <a:r>
              <a:rPr lang="en-US" sz="950" b="1" dirty="0">
                <a:solidFill>
                  <a:srgbClr val="2E8B57"/>
                </a:solidFill>
                <a:latin typeface="Calibri" pitchFamily="34" charset="0"/>
                <a:ea typeface="Calibri" pitchFamily="34" charset="-122"/>
                <a:cs typeface="Calibri" pitchFamily="34" charset="-120"/>
              </a:rPr>
              <a:t> marz · illness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الهَوَاءِ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 al-ha-wāʾ</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pollution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تَلَوُّثٌ</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air</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الهَوَاءُ</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تَلَوُّثُ المِيَاهِ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ta-law-wuth al-mi-yāh</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pollution</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تَلَوُّثٌ</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water</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المِيَاهُ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النُّفَايَاتُ </a:t>
            </a:r>
            <a:pPr rtl="1" algn="r" indent="0" marL="0">
              <a:buNone/>
            </a:pPr>
            <a:r>
              <a:rPr lang="ar-SA" altLang="en-US" sz="3000" b="1" dirty="0">
                <a:solidFill>
                  <a:srgbClr val="7B3FA0"/>
                </a:solidFill>
                <a:latin typeface="Amiri" pitchFamily="34" charset="0"/>
                <a:ea typeface="Amiri" pitchFamily="34" charset="-122"/>
                <a:cs typeface="Amiri" pitchFamily="34" charset="-120"/>
              </a:rPr>
              <a:t>البِلَاسْتِيكِ</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plastic waste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an-nu-fā-yāt al-bi-lās-tī-kiy-ya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waste</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نُفَايَاتٌ</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plastic</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بِلَاسْتِيكِيَّةٌ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إِزَالَةُ الغَابَاتِ</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deforestation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i-zā-lat al-ghā-bāt</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removal</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إِزَالَةٌ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forests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الغَابَاتُ</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الاحْتِبَاسُ </a:t>
            </a:r>
            <a:pPr rtl="1" algn="r" indent="0" marL="0">
              <a:buNone/>
            </a:pPr>
            <a:r>
              <a:rPr lang="ar-SA" altLang="en-US" sz="3000" b="1" dirty="0">
                <a:solidFill>
                  <a:srgbClr val="7B3FA0"/>
                </a:solidFill>
                <a:latin typeface="Amiri" pitchFamily="34" charset="0"/>
                <a:ea typeface="Amiri" pitchFamily="34" charset="-122"/>
                <a:cs typeface="Amiri" pitchFamily="34" charset="-120"/>
              </a:rPr>
              <a:t>الحَرَارِ</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global warming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al-iḥ-ti-bās al-ḥa-rā-riyy</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trapping</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احْتِبَاسٌ</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heat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حَرَارِيٌّ</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التَّصَحُّرُ</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at-ta-ṣaḥ-ḥur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desert</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صَحْرَاءُ</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 becoming desert</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التَّصَحُّرُ</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الدُّخَانُ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smoke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ad-du-khān</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Website game: </a:t>
            </a:r>
            <a:pPr algn="l" indent="0" marL="0">
              <a:buNone/>
            </a:pPr>
            <a:r>
              <a:rPr lang="ar-SA" altLang="en-US" sz="1300" dirty="0">
                <a:solidFill>
                  <a:srgbClr val="8A6D1E"/>
                </a:solidFill>
                <a:latin typeface="Amiri" pitchFamily="34" charset="0"/>
                <a:ea typeface="Amiri" pitchFamily="34" charset="-122"/>
                <a:cs typeface="Amiri" pitchFamily="34" charset="-120"/>
              </a:rPr>
              <a:t>دُخَانُ المَصَانِعِ</a:t>
            </a:r>
            <a:pPr algn="l" indent="0" marL="0">
              <a:buNone/>
            </a:pPr>
            <a:r>
              <a:rPr lang="en-US" sz="1000" i="1" dirty="0">
                <a:solidFill>
                  <a:srgbClr val="8A6D1E"/>
                </a:solidFill>
                <a:latin typeface="Calibri" pitchFamily="34" charset="0"/>
                <a:ea typeface="Calibri" pitchFamily="34" charset="-122"/>
                <a:cs typeface="Calibri" pitchFamily="34" charset="-120"/>
              </a:rPr>
              <a:t> (factory smoke).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المَصَانِعُ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al-ma-ṣā-niʿ · sg. maṣ-naʿ</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مَصْنَعٌ</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مَصَانِعُ</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ذَوَبَانُ الجَلِيدِ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melting 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dha-wa-bān al-ja-līd</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melting</a:t>
            </a:r>
            <a:endParaRPr lang="en-US" sz="700" dirty="0"/>
          </a:p>
        </p:txBody>
      </p:sp>
      <p:sp>
        <p:nvSpPr>
          <p:cNvPr id="49" name="Text 46"/>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ذَوَبَانٌ</a:t>
            </a:r>
            <a:endParaRPr lang="ar-SA" sz="135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 ice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الجَلِيدُ</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ارْتِفَاعُ مُسْتَوَى البَحْرِ</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sea-level rise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ir-ti-fāʿ mus-ta-wā l-baḥr</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ارْتِفَاع</a:t>
            </a:r>
            <a:pPr algn="l" indent="0" marL="0">
              <a:buNone/>
            </a:pPr>
            <a:r>
              <a:rPr lang="en-US" sz="1000" i="1" dirty="0">
                <a:solidFill>
                  <a:srgbClr val="8A6D1E"/>
                </a:solidFill>
                <a:latin typeface="Calibri" pitchFamily="34" charset="0"/>
                <a:ea typeface="Calibri" pitchFamily="34" charset="-122"/>
                <a:cs typeface="Calibri" pitchFamily="34" charset="-120"/>
              </a:rPr>
              <a:t> = rise (TC-L03: </a:t>
            </a:r>
            <a:pPr algn="l" indent="0" marL="0">
              <a:buNone/>
            </a:pPr>
            <a:r>
              <a:rPr lang="ar-SA" altLang="en-US" sz="1300" dirty="0">
                <a:solidFill>
                  <a:srgbClr val="8A6D1E"/>
                </a:solidFill>
                <a:latin typeface="Amiri" pitchFamily="34" charset="0"/>
                <a:ea typeface="Amiri" pitchFamily="34" charset="-122"/>
                <a:cs typeface="Amiri" pitchFamily="34" charset="-120"/>
              </a:rPr>
              <a:t>تَرْتَفِعُ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فَقْدُ المَوَائِلِ</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habitat loss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faqd al-ma-wā-ʾil</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loss</a:t>
            </a:r>
            <a:endParaRPr lang="en-US" sz="700" dirty="0"/>
          </a:p>
        </p:txBody>
      </p:sp>
      <p:sp>
        <p:nvSpPr>
          <p:cNvPr id="70" name="Text 67"/>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فَقْدٌ</a:t>
            </a:r>
            <a:endParaRPr lang="ar-SA" sz="135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habitats</a:t>
            </a:r>
            <a:endParaRPr lang="en-US" sz="700" dirty="0"/>
          </a:p>
        </p:txBody>
      </p:sp>
      <p:sp>
        <p:nvSpPr>
          <p:cNvPr id="73" name="Text 7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المَوَائِلُ</a:t>
            </a:r>
            <a:endParaRPr lang="ar-SA"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7" name="Shape 7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انْقِرَاضُ الأَنْوَاعِ</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species 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in-qi-rāḍ al-an-wāʿ</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TC-L02: </a:t>
            </a:r>
            <a:pPr algn="l" indent="0" marL="0">
              <a:buNone/>
            </a:pPr>
            <a:r>
              <a:rPr lang="ar-SA" altLang="en-US" sz="1300" dirty="0">
                <a:solidFill>
                  <a:srgbClr val="8A6D1E"/>
                </a:solidFill>
                <a:latin typeface="Amiri" pitchFamily="34" charset="0"/>
                <a:ea typeface="Amiri" pitchFamily="34" charset="-122"/>
                <a:cs typeface="Amiri" pitchFamily="34" charset="-120"/>
              </a:rPr>
              <a:t>الانْقِرَاضُ</a:t>
            </a:r>
            <a:pPr algn="l" indent="0" marL="0">
              <a:buNone/>
            </a:pPr>
            <a:r>
              <a:rPr lang="en-US" sz="1000" i="1" dirty="0">
                <a:solidFill>
                  <a:srgbClr val="8A6D1E"/>
                </a:solidFill>
                <a:latin typeface="Calibri" pitchFamily="34" charset="0"/>
                <a:ea typeface="Calibri" pitchFamily="34" charset="-122"/>
                <a:cs typeface="Calibri" pitchFamily="34" charset="-120"/>
              </a:rPr>
              <a:t> = extinction.</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CAUSE AND EFFECT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connectors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بِسَبَبِ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bi-sa-ba-bi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NOUN, not a whole sentence.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إِلَى</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يُؤَدِّي إِلَى</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Always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00" dirty="0">
                <a:solidFill>
                  <a:srgbClr val="8A6D1E"/>
                </a:solidFill>
                <a:latin typeface="Amiri" pitchFamily="34" charset="0"/>
                <a:ea typeface="Amiri" pitchFamily="34" charset="-122"/>
                <a:cs typeface="Amiri" pitchFamily="34" charset="-120"/>
              </a:rPr>
              <a:t>يُؤَدِّي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noun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نَتِيجَةً لِـ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noun in the genitive.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after a comma</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مِمَّا يُسَبِّبُ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mim-mā yu-sab-bi-bu</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مِمَّا</a:t>
            </a:r>
            <a:pPr algn="l" indent="0" marL="0">
              <a:buNone/>
            </a:pPr>
            <a:r>
              <a:rPr lang="en-US" sz="1000" i="1" dirty="0">
                <a:solidFill>
                  <a:srgbClr val="8A6D1E"/>
                </a:solidFill>
                <a:latin typeface="Calibri" pitchFamily="34" charset="0"/>
                <a:ea typeface="Calibri" pitchFamily="34" charset="-122"/>
                <a:cs typeface="Calibri" pitchFamily="34" charset="-120"/>
              </a:rPr>
              <a:t> refers back to the whole idea before it.</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starts a sentence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نَتِيجَةً لِذٰلِكَ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time phrase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الطَّوِيلِ</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l-ma-dā ṭ-ṭa-wīl</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DEVELOP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Active or passive? Processes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المَعْلُومُ وَالمَجْهُولُ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(website)</a:t>
            </a:r>
            <a:endParaRPr lang="en-US" sz="1100" dirty="0"/>
          </a:p>
        </p:txBody>
      </p:sp>
      <p:sp>
        <p:nvSpPr>
          <p:cNvPr id="17" name="Text 14"/>
          <p:cNvSpPr txBox="1"/>
          <p:nvPr/>
        </p:nvSpPr>
        <p:spPr>
          <a:xfrm>
            <a:off x="467258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 passive or process?</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799832" y="228600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تُلَوِّثُ المَصَانِعُ الهَوَاءَ</a:t>
            </a:r>
            <a:endParaRPr lang="ar-SA" sz="1300" dirty="0"/>
          </a:p>
        </p:txBody>
      </p:sp>
      <p:sp>
        <p:nvSpPr>
          <p:cNvPr id="21" name="Text 18"/>
          <p:cNvSpPr txBox="1"/>
          <p:nvPr/>
        </p:nvSpPr>
        <p:spPr>
          <a:xfrm>
            <a:off x="7754112" y="254203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tu-law-wi-thu l-ma-ṣā-niʿ al-ha-wāʾ</a:t>
            </a:r>
            <a:endParaRPr lang="en-US" sz="950" dirty="0"/>
          </a:p>
        </p:txBody>
      </p:sp>
      <p:sp>
        <p:nvSpPr>
          <p:cNvPr id="22" name="Text 19"/>
          <p:cNvSpPr txBox="1"/>
          <p:nvPr/>
        </p:nvSpPr>
        <p:spPr>
          <a:xfrm>
            <a:off x="4709160" y="226771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factories pollute the air</a:t>
            </a:r>
            <a:endParaRPr lang="en-US" sz="1100" dirty="0"/>
          </a:p>
        </p:txBody>
      </p:sp>
      <p:sp>
        <p:nvSpPr>
          <p:cNvPr id="23" name="Text 20"/>
          <p:cNvSpPr txBox="1"/>
          <p:nvPr/>
        </p:nvSpPr>
        <p:spPr>
          <a:xfrm>
            <a:off x="566928" y="226771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names who does it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799832" y="279806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يُلَوَّثُ الهَوَاءُ</a:t>
            </a:r>
            <a:endParaRPr lang="ar-SA" sz="1300" dirty="0"/>
          </a:p>
        </p:txBody>
      </p:sp>
      <p:sp>
        <p:nvSpPr>
          <p:cNvPr id="28" name="Text 25"/>
          <p:cNvSpPr txBox="1"/>
          <p:nvPr/>
        </p:nvSpPr>
        <p:spPr>
          <a:xfrm>
            <a:off x="7754112" y="305409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yu-law-wa-thu l-ha-wāʾ</a:t>
            </a:r>
            <a:endParaRPr lang="en-US" sz="950" dirty="0"/>
          </a:p>
        </p:txBody>
      </p:sp>
      <p:sp>
        <p:nvSpPr>
          <p:cNvPr id="29" name="Text 26"/>
          <p:cNvSpPr txBox="1"/>
          <p:nvPr/>
        </p:nvSpPr>
        <p:spPr>
          <a:xfrm>
            <a:off x="4709160" y="277977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air is polluted</a:t>
            </a:r>
            <a:endParaRPr lang="en-US" sz="1100" dirty="0"/>
          </a:p>
        </p:txBody>
      </p:sp>
      <p:sp>
        <p:nvSpPr>
          <p:cNvPr id="30" name="Text 27"/>
          <p:cNvSpPr txBox="1"/>
          <p:nvPr/>
        </p:nvSpPr>
        <p:spPr>
          <a:xfrm>
            <a:off x="566928" y="277977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 — yu-…-wa-: “is …-ed”</a:t>
            </a:r>
            <a:endParaRPr lang="en-US" sz="1100" dirty="0"/>
          </a:p>
        </p:txBody>
      </p:sp>
      <p:sp>
        <p:nvSpPr>
          <p:cNvPr id="31" name="Shape 28"/>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2" name="Text 29"/>
          <p:cNvSpPr txBox="1"/>
          <p:nvPr/>
        </p:nvSpPr>
        <p:spPr>
          <a:xfrm>
            <a:off x="7799832" y="331012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تُقْطَعُ الأَشْجَارُ</a:t>
            </a:r>
            <a:endParaRPr lang="ar-SA" sz="1300" dirty="0"/>
          </a:p>
        </p:txBody>
      </p:sp>
      <p:sp>
        <p:nvSpPr>
          <p:cNvPr id="33" name="Text 30"/>
          <p:cNvSpPr txBox="1"/>
          <p:nvPr/>
        </p:nvSpPr>
        <p:spPr>
          <a:xfrm>
            <a:off x="7754112" y="356616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tuq-ṭa-ʿu l-ash-jār</a:t>
            </a:r>
            <a:endParaRPr lang="en-US" sz="950" dirty="0"/>
          </a:p>
        </p:txBody>
      </p:sp>
      <p:sp>
        <p:nvSpPr>
          <p:cNvPr id="34" name="Text 31"/>
          <p:cNvSpPr txBox="1"/>
          <p:nvPr/>
        </p:nvSpPr>
        <p:spPr>
          <a:xfrm>
            <a:off x="4709160" y="329184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trees are cut down</a:t>
            </a:r>
            <a:endParaRPr lang="en-US" sz="1100" dirty="0"/>
          </a:p>
        </p:txBody>
      </p:sp>
      <p:sp>
        <p:nvSpPr>
          <p:cNvPr id="35" name="Text 32"/>
          <p:cNvSpPr txBox="1"/>
          <p:nvPr/>
        </p:nvSpPr>
        <p:spPr>
          <a:xfrm>
            <a:off x="566928" y="329184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 — </a:t>
            </a:r>
            <a:pPr algn="l" indent="0" marL="0">
              <a:buNone/>
            </a:pPr>
            <a:r>
              <a:rPr lang="ar-SA" altLang="en-US" sz="1450" dirty="0">
                <a:solidFill>
                  <a:srgbClr val="5A6472"/>
                </a:solidFill>
                <a:latin typeface="Amiri" pitchFamily="34" charset="0"/>
                <a:ea typeface="Amiri" pitchFamily="34" charset="-122"/>
                <a:cs typeface="Amiri" pitchFamily="34" charset="-120"/>
              </a:rPr>
              <a:t>الأَشْجَار</a:t>
            </a:r>
            <a:pPr algn="l" indent="0" marL="0">
              <a:buNone/>
            </a:pPr>
            <a:r>
              <a:rPr lang="en-US" sz="1100" i="1" dirty="0">
                <a:solidFill>
                  <a:srgbClr val="5A6472"/>
                </a:solidFill>
                <a:latin typeface="Calibri" pitchFamily="34" charset="0"/>
                <a:ea typeface="Calibri" pitchFamily="34" charset="-122"/>
                <a:cs typeface="Calibri" pitchFamily="34" charset="-120"/>
              </a:rPr>
              <a:t> → feminine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6" name="Shape 33"/>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37" name="Text 34"/>
          <p:cNvSpPr txBox="1"/>
          <p:nvPr/>
        </p:nvSpPr>
        <p:spPr>
          <a:xfrm>
            <a:off x="7799832" y="3822192"/>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تُرْمَى النُّفَايَاتُ</a:t>
            </a:r>
            <a:endParaRPr lang="ar-SA" sz="1300" dirty="0"/>
          </a:p>
        </p:txBody>
      </p:sp>
      <p:sp>
        <p:nvSpPr>
          <p:cNvPr id="38" name="Text 35"/>
          <p:cNvSpPr txBox="1"/>
          <p:nvPr/>
        </p:nvSpPr>
        <p:spPr>
          <a:xfrm>
            <a:off x="7754112" y="4078224"/>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tur-mā n-nu-fā-yāt</a:t>
            </a:r>
            <a:endParaRPr lang="en-US" sz="950" dirty="0"/>
          </a:p>
        </p:txBody>
      </p:sp>
      <p:sp>
        <p:nvSpPr>
          <p:cNvPr id="39" name="Text 36"/>
          <p:cNvSpPr txBox="1"/>
          <p:nvPr/>
        </p:nvSpPr>
        <p:spPr>
          <a:xfrm>
            <a:off x="4709160" y="3803904"/>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waste is thrown</a:t>
            </a:r>
            <a:endParaRPr lang="en-US" sz="1100" dirty="0"/>
          </a:p>
        </p:txBody>
      </p:sp>
      <p:sp>
        <p:nvSpPr>
          <p:cNvPr id="40" name="Text 37"/>
          <p:cNvSpPr txBox="1"/>
          <p:nvPr/>
        </p:nvSpPr>
        <p:spPr>
          <a:xfrm>
            <a:off x="566928" y="3803904"/>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PASSIVE</a:t>
            </a:r>
            <a:endParaRPr lang="en-US" sz="1100" dirty="0"/>
          </a:p>
        </p:txBody>
      </p:sp>
      <p:sp>
        <p:nvSpPr>
          <p:cNvPr id="41" name="Shape 38"/>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2" name="Text 39"/>
          <p:cNvSpPr txBox="1"/>
          <p:nvPr/>
        </p:nvSpPr>
        <p:spPr>
          <a:xfrm>
            <a:off x="7799832" y="4334256"/>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يَنْبَعِثُ الدُّخَانُ</a:t>
            </a:r>
            <a:endParaRPr lang="ar-SA" sz="1300" dirty="0"/>
          </a:p>
        </p:txBody>
      </p:sp>
      <p:sp>
        <p:nvSpPr>
          <p:cNvPr id="43" name="Text 40"/>
          <p:cNvSpPr txBox="1"/>
          <p:nvPr/>
        </p:nvSpPr>
        <p:spPr>
          <a:xfrm>
            <a:off x="7754112" y="4590288"/>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yan-ba-ʿi-thu d-du-khān</a:t>
            </a:r>
            <a:endParaRPr lang="en-US" sz="950" dirty="0"/>
          </a:p>
        </p:txBody>
      </p:sp>
      <p:sp>
        <p:nvSpPr>
          <p:cNvPr id="44" name="Text 41"/>
          <p:cNvSpPr txBox="1"/>
          <p:nvPr/>
        </p:nvSpPr>
        <p:spPr>
          <a:xfrm>
            <a:off x="4709160" y="4315968"/>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smoke is emitted</a:t>
            </a:r>
            <a:endParaRPr lang="en-US" sz="1100" dirty="0"/>
          </a:p>
        </p:txBody>
      </p:sp>
      <p:sp>
        <p:nvSpPr>
          <p:cNvPr id="45" name="Text 42"/>
          <p:cNvSpPr txBox="1"/>
          <p:nvPr/>
        </p:nvSpPr>
        <p:spPr>
          <a:xfrm>
            <a:off x="566928" y="4315968"/>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PROCESS verb — not a passive</a:t>
            </a:r>
            <a:endParaRPr lang="en-US" sz="1100" dirty="0"/>
          </a:p>
        </p:txBody>
      </p:sp>
      <p:sp>
        <p:nvSpPr>
          <p:cNvPr id="46" name="Shape 4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47" name="Text 44"/>
          <p:cNvSpPr txBox="1"/>
          <p:nvPr/>
        </p:nvSpPr>
        <p:spPr>
          <a:xfrm>
            <a:off x="7799832" y="484632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يَتَرَاكَمُ البِلَاسْتِيكُ</a:t>
            </a:r>
            <a:endParaRPr lang="ar-SA" sz="1300" dirty="0"/>
          </a:p>
        </p:txBody>
      </p:sp>
      <p:sp>
        <p:nvSpPr>
          <p:cNvPr id="48" name="Text 45"/>
          <p:cNvSpPr txBox="1"/>
          <p:nvPr/>
        </p:nvSpPr>
        <p:spPr>
          <a:xfrm>
            <a:off x="7754112" y="510235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ya-ta-rā-ka-mu l-bi-lās-tīk</a:t>
            </a:r>
            <a:endParaRPr lang="en-US" sz="950" dirty="0"/>
          </a:p>
        </p:txBody>
      </p:sp>
      <p:sp>
        <p:nvSpPr>
          <p:cNvPr id="49" name="Text 46"/>
          <p:cNvSpPr txBox="1"/>
          <p:nvPr/>
        </p:nvSpPr>
        <p:spPr>
          <a:xfrm>
            <a:off x="4709160" y="482803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plastic accumulates</a:t>
            </a:r>
            <a:endParaRPr lang="en-US" sz="1100" dirty="0"/>
          </a:p>
        </p:txBody>
      </p:sp>
      <p:sp>
        <p:nvSpPr>
          <p:cNvPr id="50" name="Text 47"/>
          <p:cNvSpPr txBox="1"/>
          <p:nvPr/>
        </p:nvSpPr>
        <p:spPr>
          <a:xfrm>
            <a:off x="566928" y="482803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PROCESS verb</a:t>
            </a:r>
            <a:endParaRPr lang="en-US" sz="1100" dirty="0"/>
          </a:p>
        </p:txBody>
      </p:sp>
      <p:sp>
        <p:nvSpPr>
          <p:cNvPr id="51" name="Shape 48"/>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2" name="Text 49"/>
          <p:cNvSpPr txBox="1"/>
          <p:nvPr/>
        </p:nvSpPr>
        <p:spPr>
          <a:xfrm>
            <a:off x="7799832" y="535838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يُهَدِّدُ</a:t>
            </a:r>
            <a:endParaRPr lang="ar-SA" sz="1300" dirty="0"/>
          </a:p>
        </p:txBody>
      </p:sp>
      <p:sp>
        <p:nvSpPr>
          <p:cNvPr id="53" name="Text 50"/>
          <p:cNvSpPr txBox="1"/>
          <p:nvPr/>
        </p:nvSpPr>
        <p:spPr>
          <a:xfrm>
            <a:off x="7754112" y="561441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yu-had-di-du</a:t>
            </a:r>
            <a:endParaRPr lang="en-US" sz="950" dirty="0"/>
          </a:p>
        </p:txBody>
      </p:sp>
      <p:sp>
        <p:nvSpPr>
          <p:cNvPr id="54" name="Text 51"/>
          <p:cNvSpPr txBox="1"/>
          <p:nvPr/>
        </p:nvSpPr>
        <p:spPr>
          <a:xfrm>
            <a:off x="4709160" y="534009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threatens</a:t>
            </a:r>
            <a:endParaRPr lang="en-US" sz="1100" dirty="0"/>
          </a:p>
        </p:txBody>
      </p:sp>
      <p:sp>
        <p:nvSpPr>
          <p:cNvPr id="55" name="Text 52"/>
          <p:cNvSpPr txBox="1"/>
          <p:nvPr/>
        </p:nvSpPr>
        <p:spPr>
          <a:xfrm>
            <a:off x="566928" y="534009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object (TC-L02)</a:t>
            </a:r>
            <a:endParaRPr lang="en-US" sz="1100" dirty="0"/>
          </a:p>
        </p:txBody>
      </p:sp>
      <p:sp>
        <p:nvSpPr>
          <p:cNvPr id="56" name="Shape 53"/>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7799832" y="587044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يَضُرُّ بِـ</a:t>
            </a:r>
            <a:endParaRPr lang="ar-SA" sz="1300" dirty="0"/>
          </a:p>
        </p:txBody>
      </p:sp>
      <p:sp>
        <p:nvSpPr>
          <p:cNvPr id="58" name="Text 55"/>
          <p:cNvSpPr txBox="1"/>
          <p:nvPr/>
        </p:nvSpPr>
        <p:spPr>
          <a:xfrm>
            <a:off x="7754112" y="612648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ya-ḍur-ru bi</a:t>
            </a:r>
            <a:endParaRPr lang="en-US" sz="950" dirty="0"/>
          </a:p>
        </p:txBody>
      </p:sp>
      <p:sp>
        <p:nvSpPr>
          <p:cNvPr id="59" name="Text 56"/>
          <p:cNvSpPr txBox="1"/>
          <p:nvPr/>
        </p:nvSpPr>
        <p:spPr>
          <a:xfrm>
            <a:off x="4709160" y="585216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harms</a:t>
            </a:r>
            <a:endParaRPr lang="en-US" sz="1100" dirty="0"/>
          </a:p>
        </p:txBody>
      </p:sp>
      <p:sp>
        <p:nvSpPr>
          <p:cNvPr id="60" name="Text 57"/>
          <p:cNvSpPr txBox="1"/>
          <p:nvPr/>
        </p:nvSpPr>
        <p:spPr>
          <a:xfrm>
            <a:off x="566928" y="585216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ACTIVE + </a:t>
            </a:r>
            <a:pPr algn="l" indent="0" marL="0">
              <a:buNone/>
            </a:pPr>
            <a:r>
              <a:rPr lang="ar-SA" altLang="en-US" sz="1450" dirty="0">
                <a:solidFill>
                  <a:srgbClr val="5A6472"/>
                </a:solidFill>
                <a:latin typeface="Amiri" pitchFamily="34" charset="0"/>
                <a:ea typeface="Amiri" pitchFamily="34" charset="-122"/>
                <a:cs typeface="Amiri" pitchFamily="34" charset="-120"/>
              </a:rPr>
              <a:t>بِـ</a:t>
            </a:r>
            <a:endParaRPr lang="en-US" sz="11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CAUSE → EFFECT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Cause and effect in three beats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 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يُسَبِّبُ / يُؤَدِّي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 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cause</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النَّتِيجَةُ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effect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Factory smoke causes air pollution.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يُسَبِّبُ</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دُخَانُ المَصَانِعِ</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تَلَوُّثَ الهَوَاءِ.</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Cutting down trees leads to habitat loss.</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قَطْعُ الأَشْجَارِ</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فَقْدِ المَوَائِلِ.</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Global warming leads to the ice melting.</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الاحْتِبَاسُ الحَرَارِيُّ</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ذَوَبَانِ الجَلِيدِ.</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Pollution leads to illnesses.</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يُؤَدِّي</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التَّلَوُّثُ</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أَمْرَاضٍ.</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Pattern: </a:t>
            </a:r>
            <a:pPr algn="l" indent="0" marL="0">
              <a:buNone/>
            </a:pPr>
            <a:r>
              <a:rPr lang="ar-SA" altLang="en-US" sz="1550" b="1" dirty="0">
                <a:solidFill>
                  <a:srgbClr val="8A6D1E"/>
                </a:solidFill>
                <a:latin typeface="Amiri" pitchFamily="34" charset="0"/>
                <a:ea typeface="Amiri" pitchFamily="34" charset="-122"/>
                <a:cs typeface="Amiri" pitchFamily="34" charset="-120"/>
              </a:rPr>
              <a:t>يُسَبِّبُ</a:t>
            </a:r>
            <a:pPr algn="l" indent="0" marL="0">
              <a:buNone/>
            </a:pPr>
            <a:r>
              <a:rPr lang="en-US" sz="1200" b="1" dirty="0">
                <a:solidFill>
                  <a:srgbClr val="8A6D1E"/>
                </a:solidFill>
                <a:latin typeface="Calibri" pitchFamily="34" charset="0"/>
                <a:ea typeface="Calibri" pitchFamily="34" charset="-122"/>
                <a:cs typeface="Calibri" pitchFamily="34" charset="-120"/>
              </a:rPr>
              <a:t> + cause + effect, or </a:t>
            </a:r>
            <a:pPr algn="l" indent="0" marL="0">
              <a:buNone/>
            </a:pPr>
            <a:r>
              <a:rPr lang="ar-SA" altLang="en-US" sz="1550" b="1" dirty="0">
                <a:solidFill>
                  <a:srgbClr val="8A6D1E"/>
                </a:solidFill>
                <a:latin typeface="Amiri" pitchFamily="34" charset="0"/>
                <a:ea typeface="Amiri" pitchFamily="34" charset="-122"/>
                <a:cs typeface="Amiri" pitchFamily="34" charset="-120"/>
              </a:rPr>
              <a:t>يُؤَدِّي</a:t>
            </a:r>
            <a:pPr algn="l" indent="0" marL="0">
              <a:buNone/>
            </a:pPr>
            <a:r>
              <a:rPr lang="en-US" sz="1200" b="1" dirty="0">
                <a:solidFill>
                  <a:srgbClr val="8A6D1E"/>
                </a:solidFill>
                <a:latin typeface="Calibri" pitchFamily="34" charset="0"/>
                <a:ea typeface="Calibri" pitchFamily="34" charset="-122"/>
                <a:cs typeface="Calibri" pitchFamily="34" charset="-120"/>
              </a:rPr>
              <a:t> + cause + </a:t>
            </a:r>
            <a:pPr algn="l" indent="0" marL="0">
              <a:buNone/>
            </a:pPr>
            <a:r>
              <a:rPr lang="ar-SA" altLang="en-US" sz="1550" b="1" dirty="0">
                <a:solidFill>
                  <a:srgbClr val="8A6D1E"/>
                </a:solidFill>
                <a:latin typeface="Amiri" pitchFamily="34" charset="0"/>
                <a:ea typeface="Amiri" pitchFamily="34" charset="-122"/>
                <a:cs typeface="Amiri" pitchFamily="34" charset="-120"/>
              </a:rPr>
              <a:t>إِلَى</a:t>
            </a:r>
            <a:pPr algn="l" indent="0" marL="0">
              <a:buNone/>
            </a:pPr>
            <a:r>
              <a:rPr lang="en-US" sz="1200" b="1" dirty="0">
                <a:solidFill>
                  <a:srgbClr val="8A6D1E"/>
                </a:solidFill>
                <a:latin typeface="Calibri" pitchFamily="34" charset="0"/>
                <a:ea typeface="Calibri" pitchFamily="34" charset="-122"/>
                <a:cs typeface="Calibri" pitchFamily="34" charset="-120"/>
              </a:rPr>
              <a:t> + effect. Never </a:t>
            </a:r>
            <a:pPr algn="l" indent="0" marL="0">
              <a:buNone/>
            </a:pPr>
            <a:r>
              <a:rPr lang="ar-SA" altLang="en-US" sz="1550" b="1" dirty="0">
                <a:solidFill>
                  <a:srgbClr val="8A6D1E"/>
                </a:solidFill>
                <a:latin typeface="Amiri" pitchFamily="34" charset="0"/>
                <a:ea typeface="Amiri" pitchFamily="34" charset="-122"/>
                <a:cs typeface="Amiri" pitchFamily="34" charset="-120"/>
              </a:rPr>
              <a:t>يُؤَدِّي فِي</a:t>
            </a:r>
            <a:pPr algn="l" indent="0" marL="0">
              <a:buNone/>
            </a:pPr>
            <a:r>
              <a:rPr lang="en-US" sz="1200" b="1" dirty="0">
                <a:solidFill>
                  <a:srgbClr val="8A6D1E"/>
                </a:solidFill>
                <a:latin typeface="Calibri" pitchFamily="34" charset="0"/>
                <a:ea typeface="Calibri" pitchFamily="34" charset="-122"/>
                <a:cs typeface="Calibri" pitchFamily="34" charset="-120"/>
              </a:rPr>
              <a:t> ✗</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THREE CONNECTORS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Because of · leads to · which causes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because of</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بِسَبَبِ</a:t>
            </a:r>
            <a:pPr algn="l" indent="0" marL="0">
              <a:buNone/>
            </a:pPr>
            <a:r>
              <a:rPr lang="en-US" sz="1600" b="1" dirty="0">
                <a:solidFill>
                  <a:srgbClr val="8A6D1E"/>
                </a:solidFill>
                <a:latin typeface="Calibri" pitchFamily="34" charset="0"/>
                <a:ea typeface="Calibri" pitchFamily="34" charset="-122"/>
                <a:cs typeface="Calibri" pitchFamily="34" charset="-120"/>
              </a:rPr>
              <a:t> + noun</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يَتَلَوَّثُ البَحْرُ بِسَبَبِ النُّفَايَاتِ</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sea gets polluted because of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بِسَبَبِ / نَتِيجَةً لِـ</a:t>
            </a:r>
            <a:pPr algn="l" indent="0" marL="0">
              <a:buNone/>
            </a:pPr>
            <a:r>
              <a:rPr lang="en-US" sz="1100" dirty="0">
                <a:solidFill>
                  <a:srgbClr val="1F2A37"/>
                </a:solidFill>
                <a:latin typeface="Calibri" pitchFamily="34" charset="0"/>
                <a:ea typeface="Calibri" pitchFamily="34" charset="-122"/>
                <a:cs typeface="Calibri" pitchFamily="34" charset="-120"/>
              </a:rPr>
              <a:t> + a NOUN phrase, not a whole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leads to</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يُؤَدِّي التَّلَوُّثُ إِلَى أَمْرَاضٍ</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Pollution leads to illnesses.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a:t>
            </a:r>
            <a:pPr algn="l" indent="0" marL="0">
              <a:buNone/>
            </a:pPr>
            <a:r>
              <a:rPr lang="ar-SA" altLang="en-US" sz="1450" dirty="0">
                <a:solidFill>
                  <a:srgbClr val="1F2A37"/>
                </a:solidFill>
                <a:latin typeface="Amiri" pitchFamily="34" charset="0"/>
                <a:ea typeface="Amiri" pitchFamily="34" charset="-122"/>
                <a:cs typeface="Amiri" pitchFamily="34" charset="-120"/>
              </a:rPr>
              <a:t>إِلَى</a:t>
            </a:r>
            <a:pPr algn="l" indent="0" marL="0">
              <a:buNone/>
            </a:pPr>
            <a:r>
              <a:rPr lang="en-US" sz="1100" dirty="0">
                <a:solidFill>
                  <a:srgbClr val="1F2A37"/>
                </a:solidFill>
                <a:latin typeface="Calibri" pitchFamily="34" charset="0"/>
                <a:ea typeface="Calibri" pitchFamily="34" charset="-122"/>
                <a:cs typeface="Calibri" pitchFamily="34" charset="-120"/>
              </a:rPr>
              <a:t> after </a:t>
            </a:r>
            <a:pPr algn="l" indent="0" marL="0">
              <a:buNone/>
            </a:pPr>
            <a:r>
              <a:rPr lang="ar-SA" altLang="en-US" sz="1450" dirty="0">
                <a:solidFill>
                  <a:srgbClr val="1F2A37"/>
                </a:solidFill>
                <a:latin typeface="Amiri" pitchFamily="34" charset="0"/>
                <a:ea typeface="Amiri" pitchFamily="34" charset="-122"/>
                <a:cs typeface="Amiri" pitchFamily="34" charset="-120"/>
              </a:rPr>
              <a:t>يُؤَدِّي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 which causes</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تَرْتَفِعُ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مِمَّا</a:t>
            </a:r>
            <a:pPr algn="l" indent="0" marL="0">
              <a:buNone/>
            </a:pPr>
            <a:r>
              <a:rPr lang="en-US" sz="1100" dirty="0">
                <a:solidFill>
                  <a:srgbClr val="1F2A37"/>
                </a:solidFill>
                <a:latin typeface="Calibri" pitchFamily="34" charset="0"/>
                <a:ea typeface="Calibri" pitchFamily="34" charset="-122"/>
                <a:cs typeface="Calibri" pitchFamily="34" charset="-120"/>
              </a:rPr>
              <a:t> refers back to the WHOLE idea before the comma.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wrong preposition after </a:t>
            </a:r>
            <a:pPr algn="l" indent="0" marL="0">
              <a:buNone/>
            </a:pPr>
            <a:r>
              <a:rPr lang="ar-SA" altLang="en-US" sz="1500" dirty="0">
                <a:solidFill>
                  <a:srgbClr val="1F2A37"/>
                </a:solidFill>
                <a:latin typeface="Amiri" pitchFamily="34" charset="0"/>
                <a:ea typeface="Amiri" pitchFamily="34" charset="-122"/>
                <a:cs typeface="Amiri" pitchFamily="34" charset="-120"/>
              </a:rPr>
              <a:t>يُؤَدِّي</a:t>
            </a:r>
            <a:pPr algn="l" indent="0" marL="0">
              <a:buNone/>
            </a:pPr>
            <a:r>
              <a:rPr lang="en-US" sz="1150" dirty="0">
                <a:solidFill>
                  <a:srgbClr val="1F2A37"/>
                </a:solidFill>
                <a:latin typeface="Calibri" pitchFamily="34" charset="0"/>
                <a:ea typeface="Calibri" pitchFamily="34" charset="-122"/>
                <a:cs typeface="Calibri" pitchFamily="34" charset="-120"/>
              </a:rPr>
              <a:t>, and a masculine verb with </a:t>
            </a:r>
            <a:pPr algn="l" indent="0" marL="0">
              <a:buNone/>
            </a:pPr>
            <a:r>
              <a:rPr lang="ar-SA" altLang="en-US" sz="1500" dirty="0">
                <a:solidFill>
                  <a:srgbClr val="1F2A37"/>
                </a:solidFill>
                <a:latin typeface="Amiri" pitchFamily="34" charset="0"/>
                <a:ea typeface="Amiri" pitchFamily="34" charset="-122"/>
                <a:cs typeface="Amiri" pitchFamily="34" charset="-120"/>
              </a:rPr>
              <a:t>الأَشْجَار</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يُؤَدِّي إِلَى</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يُؤَدِّي فِي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تُقْطَعُ الأَشْجَارُ</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يُقْطَعُ الأَشْجَارُ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DEVELOP · WEBSITE RULE “ACTIVE AND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مَعْلُومٌ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active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تُلَوِّثُ</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تُلَوِّثُ </a:t>
            </a:r>
            <a:pPr rtl="1" algn="r" indent="0" marL="0">
              <a:buNone/>
            </a:pPr>
            <a:r>
              <a:rPr lang="ar-SA" altLang="en-US" sz="2000" dirty="0">
                <a:solidFill>
                  <a:srgbClr val="1D5FBF"/>
                </a:solidFill>
                <a:latin typeface="Amiri" pitchFamily="34" charset="0"/>
                <a:ea typeface="Amiri" pitchFamily="34" charset="-122"/>
                <a:cs typeface="Amiri" pitchFamily="34" charset="-120"/>
              </a:rPr>
              <a:t>المَصَانِعُ</a:t>
            </a:r>
            <a:pPr rtl="1" algn="r" indent="0" marL="0">
              <a:buNone/>
            </a:pPr>
            <a:r>
              <a:rPr lang="ar-SA" altLang="en-US" sz="2000" dirty="0">
                <a:solidFill>
                  <a:srgbClr val="1F2A37"/>
                </a:solidFill>
                <a:latin typeface="Amiri" pitchFamily="34" charset="0"/>
                <a:ea typeface="Amiri" pitchFamily="34" charset="-122"/>
                <a:cs typeface="Amiri" pitchFamily="34" charset="-120"/>
              </a:rPr>
              <a:t> الهَوَاءَ.</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Factories pollute the air. (who: the factories)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يُلَوَّثُ</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يُلَوَّثُ الهَوَاءُ بِدُخَانِ المَصَانِعِ.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air is polluted by factory smoke.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تُقْطَعُ</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تُقْطَعُ الأَشْجَارُ فِي بَعْضِ المَنَاطِقِ.</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Trees are cut down in some areas.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مَجْهُولٌ</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passive</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تُرْمَى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تُرْمَى نُفَايَاتٌ بِلَاسْتِيكِيَّةٌ فِي النَّهْرِ.</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Plastic waste is thrown into the river.</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لَازِمٌ</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process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يَنْبَعِثُ</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يَنْبَعِثُ مِنْهَا دُخَانٌ كَثِيفٌ.</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Thick smoke comes out of them.</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تُلَوِّثُ</a:t>
            </a:r>
            <a:pPr algn="l" indent="0" marL="0">
              <a:buNone/>
            </a:pPr>
            <a:r>
              <a:rPr lang="en-US" sz="1050" dirty="0">
                <a:solidFill>
                  <a:srgbClr val="5A6472"/>
                </a:solidFill>
                <a:latin typeface="Calibri" pitchFamily="34" charset="0"/>
                <a:ea typeface="Calibri" pitchFamily="34" charset="-122"/>
                <a:cs typeface="Calibri" pitchFamily="34" charset="-120"/>
              </a:rPr>
              <a:t> X</a:t>
            </a:r>
            <a:pPr algn="l" indent="0" marL="0">
              <a:buNone/>
            </a:pPr>
            <a:r>
              <a:rPr lang="ar-SA" altLang="en-US" sz="1350" dirty="0">
                <a:solidFill>
                  <a:srgbClr val="5A6472"/>
                </a:solidFill>
                <a:latin typeface="Amiri" pitchFamily="34" charset="0"/>
                <a:ea typeface="Amiri" pitchFamily="34" charset="-122"/>
                <a:cs typeface="Amiri" pitchFamily="34" charset="-120"/>
              </a:rPr>
              <a:t>ُ</a:t>
            </a:r>
            <a:pPr algn="l" indent="0" marL="0">
              <a:buNone/>
            </a:pPr>
            <a:r>
              <a:rPr lang="en-US" sz="1050" dirty="0">
                <a:solidFill>
                  <a:srgbClr val="5A6472"/>
                </a:solidFill>
                <a:latin typeface="Calibri" pitchFamily="34" charset="0"/>
                <a:ea typeface="Calibri" pitchFamily="34" charset="-122"/>
                <a:cs typeface="Calibri" pitchFamily="34" charset="-120"/>
              </a:rPr>
              <a:t> Y</a:t>
            </a:r>
            <a:pPr algn="l" indent="0" marL="0">
              <a:buNone/>
            </a:pPr>
            <a:r>
              <a:rPr lang="ar-SA" altLang="en-US" sz="1350" dirty="0">
                <a:solidFill>
                  <a:srgbClr val="5A6472"/>
                </a:solidFill>
                <a:latin typeface="Amiri" pitchFamily="34" charset="0"/>
                <a:ea typeface="Amiri" pitchFamily="34" charset="-122"/>
                <a:cs typeface="Amiri" pitchFamily="34" charset="-120"/>
              </a:rPr>
              <a:t>َ</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يُلَوَّثُ</a:t>
            </a:r>
            <a:pPr algn="l" indent="0" marL="0">
              <a:buNone/>
            </a:pPr>
            <a:r>
              <a:rPr lang="en-US" sz="1050" dirty="0">
                <a:solidFill>
                  <a:srgbClr val="5A6472"/>
                </a:solidFill>
                <a:latin typeface="Calibri" pitchFamily="34" charset="0"/>
                <a:ea typeface="Calibri" pitchFamily="34" charset="-122"/>
                <a:cs typeface="Calibri" pitchFamily="34" charset="-120"/>
              </a:rPr>
              <a:t> Y</a:t>
            </a:r>
            <a:pPr algn="l" indent="0" marL="0">
              <a:buNone/>
            </a:pPr>
            <a:r>
              <a:rPr lang="ar-SA" altLang="en-US" sz="1350" dirty="0">
                <a:solidFill>
                  <a:srgbClr val="5A6472"/>
                </a:solidFill>
                <a:latin typeface="Amiri" pitchFamily="34" charset="0"/>
                <a:ea typeface="Amiri" pitchFamily="34" charset="-122"/>
                <a:cs typeface="Amiri" pitchFamily="34" charset="-120"/>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 / نَتِيجَةً لِـ</a:t>
            </a:r>
            <a:pPr algn="l" indent="0" marL="0">
              <a:buNone/>
            </a:pPr>
            <a:r>
              <a:rPr lang="en-US" sz="1050" dirty="0">
                <a:solidFill>
                  <a:srgbClr val="5A6472"/>
                </a:solidFill>
                <a:latin typeface="Calibri" pitchFamily="34" charset="0"/>
                <a:ea typeface="Calibri" pitchFamily="34" charset="-122"/>
                <a:cs typeface="Calibri" pitchFamily="34" charset="-120"/>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Result with </a:t>
            </a:r>
            <a:pPr algn="l" indent="0" marL="0">
              <a:buNone/>
            </a:pPr>
            <a:r>
              <a:rPr lang="ar-SA" altLang="en-US" sz="1650" b="1" dirty="0">
                <a:solidFill>
                  <a:srgbClr val="1B3B6F"/>
                </a:solidFill>
                <a:latin typeface="Amiri" pitchFamily="34" charset="0"/>
                <a:ea typeface="Amiri" pitchFamily="34" charset="-122"/>
                <a:cs typeface="Amiri" pitchFamily="34" charset="-120"/>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cause + </a:t>
            </a:r>
            <a:pPr algn="l" indent="0" marL="0">
              <a:buNone/>
            </a:pPr>
            <a:r>
              <a:rPr lang="ar-SA" altLang="en-US" sz="1350" dirty="0">
                <a:solidFill>
                  <a:srgbClr val="5A6472"/>
                </a:solidFill>
                <a:latin typeface="Amiri" pitchFamily="34" charset="0"/>
                <a:ea typeface="Amiri" pitchFamily="34" charset="-122"/>
                <a:cs typeface="Amiri" pitchFamily="34" charset="-120"/>
              </a:rPr>
              <a:t>يُؤَدِّي إِلَى</a:t>
            </a:r>
            <a:pPr algn="l" indent="0" marL="0">
              <a:buNone/>
            </a:pPr>
            <a:r>
              <a:rPr lang="en-US" sz="1050" dirty="0">
                <a:solidFill>
                  <a:srgbClr val="5A6472"/>
                </a:solidFill>
                <a:latin typeface="Calibri" pitchFamily="34" charset="0"/>
                <a:ea typeface="Calibri" pitchFamily="34" charset="-122"/>
                <a:cs typeface="Calibri" pitchFamily="34" charset="-120"/>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a:t>
            </a:r>
            <a:pPr algn="l" indent="0" marL="0">
              <a:buNone/>
            </a:pPr>
            <a:r>
              <a:rPr lang="ar-SA" altLang="en-US" sz="1350" dirty="0">
                <a:solidFill>
                  <a:srgbClr val="5A6472"/>
                </a:solidFill>
                <a:latin typeface="Amiri" pitchFamily="34" charset="0"/>
                <a:ea typeface="Amiri" pitchFamily="34" charset="-122"/>
                <a:cs typeface="Amiri" pitchFamily="34" charset="-120"/>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مِنْ فَقْدِ الأَرَاضِي.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التَّصَحُّرُ فِي فَقْدِ الأَرَاضِي.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يُقْطَعُ الأَشْجَارُ فِي بَعْضِ المَنَاطِقِ.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 فِي بَعْضِ المَنَاطِقِ.</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بِالدُّخَانِ.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تُقْطَعُ الأَشْجَارُ.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يَتَلَوَّثُ البَحْرُ ___ النُّفَايَاتِ.</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بِسَبَبِ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بسبب</a:t>
            </a:r>
            <a:pPr algn="l" indent="0" marL="0">
              <a:buNone/>
            </a:pPr>
            <a:r>
              <a:rPr lang="en-US" sz="1050" i="1" dirty="0">
                <a:solidFill>
                  <a:srgbClr val="8A6D1E"/>
                </a:solidFill>
                <a:latin typeface="Calibri" pitchFamily="34" charset="0"/>
                <a:ea typeface="Calibri" pitchFamily="34" charset="-122"/>
                <a:cs typeface="Calibri" pitchFamily="34" charset="-120"/>
              </a:rPr>
              <a:t> is followed by the cause noun.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result structure.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 التَّصَحُّرُ إِلَى فَقْدِ الأَرَاضِي الزِّرَاعِيَّةِ.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مِنْ فَقْدِ الأَرَاضِي.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التَّصَحُّرُ فِي فَقْدِ الأَرَاضِي.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يؤدي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trees.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يُقْطَعُ الأَشْجَارُ فِي بَعْضِ المَنَاطِقِ.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تُقْطَعُ الأَشْجَارُ فِي بَعْضِ المَنَاطِقِ.</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 فِي بَعْضِ المَنَاطِقِ.</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a non-human plural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تُقْطَعُ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تُلَوِّثُ المَصَانِعُ الهَوَاءَ.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بِالدُّخَانِ.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تُقْطَعُ الأَشْجَارُ.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active sentence names factories as the agent.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يَزْدَادُ </a:t>
            </a:r>
            <a:pPr rtl="1" algn="ctr" indent="0" marL="0">
              <a:buNone/>
            </a:pPr>
            <a:r>
              <a:rPr lang="ar-SA" altLang="en-US" sz="2800" b="1" dirty="0">
                <a:solidFill>
                  <a:srgbClr val="0E7C86"/>
                </a:solidFill>
                <a:latin typeface="Amiri" pitchFamily="34" charset="0"/>
                <a:ea typeface="Amiri" pitchFamily="34" charset="-122"/>
                <a:cs typeface="Amiri" pitchFamily="34" charset="-120"/>
              </a:rPr>
              <a:t>تَلَوُّثُ الهَوَاءِ</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يَزْدَادُ</a:t>
            </a:r>
            <a:pPr algn="l" indent="0" marL="0">
              <a:buNone/>
            </a:pPr>
            <a:r>
              <a:rPr lang="en-US" sz="1150" dirty="0">
                <a:solidFill>
                  <a:srgbClr val="1F2A37"/>
                </a:solidFill>
                <a:latin typeface="Calibri" pitchFamily="34" charset="0"/>
                <a:ea typeface="Calibri" pitchFamily="34" charset="-122"/>
                <a:cs typeface="Calibri" pitchFamily="34" charset="-120"/>
              </a:rPr>
              <a:t> = increases. An iḍāfa: pollution of the air.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the cause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بِسَبَبِ</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السَّيَّارَاتِ وَالمَصَانِعِ</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بِسَبَبِ</a:t>
            </a:r>
            <a:pPr algn="l" indent="0" marL="0">
              <a:buNone/>
            </a:pPr>
            <a:r>
              <a:rPr lang="en-US" sz="1150" dirty="0">
                <a:solidFill>
                  <a:srgbClr val="1F2A37"/>
                </a:solidFill>
                <a:latin typeface="Calibri" pitchFamily="34" charset="0"/>
                <a:ea typeface="Calibri" pitchFamily="34" charset="-122"/>
                <a:cs typeface="Calibri" pitchFamily="34" charset="-120"/>
              </a:rPr>
              <a:t> + noun. Two causes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Give the 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وَهٰذَا </a:t>
            </a:r>
            <a:pPr rtl="1" algn="ctr" indent="0" marL="0">
              <a:buNone/>
            </a:pPr>
            <a:r>
              <a:rPr lang="ar-SA" altLang="en-US" sz="2550" b="1" dirty="0">
                <a:solidFill>
                  <a:srgbClr val="1D5FBF"/>
                </a:solidFill>
                <a:latin typeface="Amiri" pitchFamily="34" charset="0"/>
                <a:ea typeface="Amiri" pitchFamily="34" charset="-122"/>
                <a:cs typeface="Amiri" pitchFamily="34" charset="-120"/>
              </a:rPr>
              <a:t>يُؤَدِّي إِلَى</a:t>
            </a:r>
            <a:pPr rtl="1" algn="ctr" indent="0" marL="0">
              <a:buNone/>
            </a:pPr>
            <a:r>
              <a:rPr lang="ar-SA" altLang="en-US" sz="2550" b="1" dirty="0">
                <a:solidFill>
                  <a:srgbClr val="1B3B6F"/>
                </a:solidFill>
                <a:latin typeface="Amiri" pitchFamily="34" charset="0"/>
                <a:ea typeface="Amiri" pitchFamily="34" charset="-122"/>
                <a:cs typeface="Amiri" pitchFamily="34" charset="-120"/>
              </a:rPr>
              <a:t> أَمْرَاضٍ</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يُؤَدِّي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never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your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رَأْيِي، هٰذِهِ مُشْكِلَةٌ خَطِيرَةٌ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فِي رَأْيِي</a:t>
            </a:r>
            <a:pPr algn="l" indent="0" marL="0">
              <a:buNone/>
            </a:pPr>
            <a:r>
              <a:rPr lang="en-US" sz="1150" dirty="0">
                <a:solidFill>
                  <a:srgbClr val="1F2A37"/>
                </a:solidFill>
                <a:latin typeface="Calibri" pitchFamily="34" charset="0"/>
                <a:ea typeface="Calibri" pitchFamily="34" charset="-122"/>
                <a:cs typeface="Calibri" pitchFamily="34" charset="-120"/>
              </a:rPr>
              <a:t> = in my opinion (website model).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PROBLEM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يَزْدَادُ </a:t>
            </a:r>
            <a:pPr rtl="1" algn="r" indent="0" marL="0">
              <a:buNone/>
            </a:pPr>
            <a:r>
              <a:rPr lang="ar-SA" altLang="en-US" sz="2400" b="1" dirty="0">
                <a:solidFill>
                  <a:srgbClr val="0E7C86"/>
                </a:solidFill>
                <a:latin typeface="Amiri" pitchFamily="34" charset="0"/>
                <a:ea typeface="Amiri" pitchFamily="34" charset="-122"/>
                <a:cs typeface="Amiri" pitchFamily="34" charset="-120"/>
              </a:rPr>
              <a:t>تَلَوُّثُ الهَوَاءِ</a:t>
            </a:r>
            <a:pPr rtl="1" algn="r" indent="0" marL="0">
              <a:buNone/>
            </a:pPr>
            <a:r>
              <a:rPr lang="ar-SA" altLang="en-US" sz="2400" b="1" dirty="0">
                <a:solidFill>
                  <a:srgbClr val="1B3B6F"/>
                </a:solidFill>
                <a:latin typeface="Amiri" pitchFamily="34" charset="0"/>
                <a:ea typeface="Amiri" pitchFamily="34" charset="-122"/>
                <a:cs typeface="Amiri" pitchFamily="34" charset="-120"/>
              </a:rPr>
              <a:t> </a:t>
            </a:r>
            <a:pPr rtl="1" algn="r" indent="0" marL="0">
              <a:buNone/>
            </a:pPr>
            <a:r>
              <a:rPr lang="ar-SA" altLang="en-US" sz="2400" b="1" dirty="0">
                <a:solidFill>
                  <a:srgbClr val="1D5FBF"/>
                </a:solidFill>
                <a:latin typeface="Amiri" pitchFamily="34" charset="0"/>
                <a:ea typeface="Amiri" pitchFamily="34" charset="-122"/>
                <a:cs typeface="Amiri" pitchFamily="34" charset="-120"/>
              </a:rPr>
              <a:t>بِسَبَبِ</a:t>
            </a:r>
            <a:pPr rtl="1" algn="r" indent="0" marL="0">
              <a:buNone/>
            </a:pPr>
            <a:r>
              <a:rPr lang="ar-SA" altLang="en-US" sz="2400" b="1" dirty="0">
                <a:solidFill>
                  <a:srgbClr val="1B3B6F"/>
                </a:solidFill>
                <a:latin typeface="Amiri" pitchFamily="34" charset="0"/>
                <a:ea typeface="Amiri" pitchFamily="34" charset="-122"/>
                <a:cs typeface="Amiri" pitchFamily="34" charset="-120"/>
              </a:rPr>
              <a:t> السَّيَّارَاتِ وَالمَصَانِعِ، وَهٰذَا </a:t>
            </a:r>
            <a:pPr rtl="1" algn="r" indent="0" marL="0">
              <a:buNone/>
            </a:pPr>
            <a:r>
              <a:rPr lang="ar-SA" altLang="en-US" sz="2400" b="1" dirty="0">
                <a:solidFill>
                  <a:srgbClr val="1D5FBF"/>
                </a:solidFill>
                <a:latin typeface="Amiri" pitchFamily="34" charset="0"/>
                <a:ea typeface="Amiri" pitchFamily="34" charset="-122"/>
                <a:cs typeface="Amiri" pitchFamily="34" charset="-120"/>
              </a:rPr>
              <a:t>يُؤَدِّي إِلَى</a:t>
            </a:r>
            <a:pPr rtl="1" algn="r" indent="0" marL="0">
              <a:buNone/>
            </a:pPr>
            <a:r>
              <a:rPr lang="ar-SA" altLang="en-US" sz="2400" b="1" dirty="0">
                <a:solidFill>
                  <a:srgbClr val="1B3B6F"/>
                </a:solidFill>
                <a:latin typeface="Amiri" pitchFamily="34" charset="0"/>
                <a:ea typeface="Amiri" pitchFamily="34" charset="-122"/>
                <a:cs typeface="Amiri" pitchFamily="34" charset="-120"/>
              </a:rPr>
              <a:t> أَمْرَاضٍ. فِي رَأْيِي، هٰذِهِ مُشْكِلَةٌ خَطِيرَةٌ.</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Air pollution is increasing because of cars and factories, and this leads to illnesses. In my opinion, this is a serious problem.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يُسَبِّبُ دُخَانُ الْمَصَانِعِ تَلَوُّثَ الْهَوَاءِ.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Factory smoke causes air pollution.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sea gets polluted because of plastic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بِسَبَبِ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يُؤَدِّي قَطْعُ الأَشْجَارِ إِلَى فَقْدِ المَوَائِلِ.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Cutting down trees leads to habitat loss.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إِلَى after يُؤَدِّي.</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تَرْتَفِعُ دَرَجَةُ الحَرَارَةِ، مِمَّا يُسَبِّبُ ذَوَبَانَ الجَلِيدِ.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rises, which causes the ice to melt.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مِمَّا refers back to the whole idea.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“CAUSE &amp; EFFECT”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picture to the cause and effect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Text 22"/>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9"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0"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Text 2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37"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قَطْعُ الأَشْجَارِ إِلَى فَقْدَانِ مَوَائِلِ الْحَيَوَانَاتِ.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يُسَبِّبُ دُخَانُ الْمَصَانِعِ تَلَوُّثَ الْهَوَاءِ.</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يُؤَدِّي رَمْيُ النُّفَايَاتِ فِي الْبَحْرِ إِلَى إِضْرَارِ الْحَيَاةِ الْبَحْرِيَّةِ.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يُسَبِّبُ دُخَانُ الْمَصَانِعِ تَلَوُّثَ الْهَوَاءِ.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Factory smoke causes air pollution.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Text 27"/>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34"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يُؤَدِّي رَمْيُ النُّفَايَاتِ فِي الْبَحْرِ إِلَى إِضْرَارِ الْحَيَاةِ الْبَحْرِيَّةِ.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Throwing waste into the sea harms marine life.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Text 3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ea typeface="Calibri" pitchFamily="34" charset="-122"/>
                <a:cs typeface="Calibri" pitchFamily="34" charset="-120"/>
              </a:rPr>
              <a:t>→</a:t>
            </a:r>
            <a:endParaRPr lang="en-US" sz="1600" dirty="0"/>
          </a:p>
        </p:txBody>
      </p:sp>
      <p:sp>
        <p:nvSpPr>
          <p:cNvPr id="47"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يُؤَدِّي قَطْعُ الأَشْجَارِ إِلَى فَقْدَانِ مَوَائِلِ الْحَيَوَانَاتِ.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Cutting down trees leads to the loss of animal habitats.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Cars pollute the air.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يُلَوَّثُ</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تُلَوِّثُ</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السَّيَّارَاتُ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الأَشْجَارُ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sea gets polluted because of plastic waste.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يَتَلَوَّثُ</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الهَوَاءُ</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بِسَبَبِ النُّفَايَاتِ البِلَاسْتِيكِيَّةِ.</a:t>
            </a:r>
            <a:endParaRPr lang="ar-SA" sz="15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إِلَى النُّفَايَاتِ البِلَاسْتِيكِيَّةِ.</a:t>
            </a:r>
            <a:endParaRPr lang="ar-SA" sz="155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Pollution leads to illnesses.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يَتَرَاكَمُ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التَّلَوُّثُ</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الجَلِيدُ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أَمْرَاضٍ.</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أَمْرَاضٍ.</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Cars pollute the air.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Active: the cars do it; the air is the object → </a:t>
            </a:r>
            <a:pPr algn="l" indent="0" marL="0">
              <a:buNone/>
            </a:pPr>
            <a:r>
              <a:rPr lang="ar-SA" altLang="en-US" sz="1350" dirty="0">
                <a:solidFill>
                  <a:srgbClr val="5A6472"/>
                </a:solidFill>
                <a:latin typeface="Amiri" pitchFamily="34" charset="0"/>
                <a:ea typeface="Amiri" pitchFamily="34" charset="-122"/>
                <a:cs typeface="Amiri" pitchFamily="34" charset="-120"/>
              </a:rPr>
              <a:t>الهَوَاءَ</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تُلَوِّثُ السَّيَّارَاتُ الهَوَاءَ.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sea gets polluted because of plastic waste.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بِسَبَبِ</a:t>
            </a:r>
            <a:pPr algn="l" indent="0" marL="0">
              <a:buNone/>
            </a:pPr>
            <a:r>
              <a:rPr lang="en-US" sz="1050" i="1" dirty="0">
                <a:solidFill>
                  <a:srgbClr val="5A6472"/>
                </a:solidFill>
                <a:latin typeface="Calibri" pitchFamily="34" charset="0"/>
                <a:ea typeface="Calibri" pitchFamily="34" charset="-122"/>
                <a:cs typeface="Calibri" pitchFamily="34" charset="-120"/>
              </a:rPr>
              <a:t> + the cause (a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يَتَلَوَّثُ البَحْرُ بِسَبَبِ النُّفَايَاتِ البِلَاسْتِيكِيَّةِ.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Pollution leads to illnesses.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Always </a:t>
            </a:r>
            <a:pPr algn="l" indent="0" marL="0">
              <a:buNone/>
            </a:pPr>
            <a:r>
              <a:rPr lang="ar-SA" altLang="en-US" sz="1350" dirty="0">
                <a:solidFill>
                  <a:srgbClr val="5A6472"/>
                </a:solidFill>
                <a:latin typeface="Amiri" pitchFamily="34" charset="0"/>
                <a:ea typeface="Amiri" pitchFamily="34" charset="-122"/>
                <a:cs typeface="Amiri" pitchFamily="34" charset="-120"/>
              </a:rPr>
              <a:t>إِلَى</a:t>
            </a:r>
            <a:pPr algn="l" indent="0" marL="0">
              <a:buNone/>
            </a:pPr>
            <a:r>
              <a:rPr lang="en-US" sz="1050" i="1" dirty="0">
                <a:solidFill>
                  <a:srgbClr val="5A6472"/>
                </a:solidFill>
                <a:latin typeface="Calibri" pitchFamily="34" charset="0"/>
                <a:ea typeface="Calibri" pitchFamily="34" charset="-122"/>
                <a:cs typeface="Calibri" pitchFamily="34" charset="-120"/>
              </a:rPr>
              <a:t> after </a:t>
            </a:r>
            <a:pPr algn="l" indent="0" marL="0">
              <a:buNone/>
            </a:pPr>
            <a:r>
              <a:rPr lang="ar-SA" altLang="en-US" sz="1350" dirty="0">
                <a:solidFill>
                  <a:srgbClr val="5A6472"/>
                </a:solidFill>
                <a:latin typeface="Amiri" pitchFamily="34" charset="0"/>
                <a:ea typeface="Amiri" pitchFamily="34" charset="-122"/>
                <a:cs typeface="Amiri" pitchFamily="34" charset="-120"/>
              </a:rPr>
              <a:t>يُؤَدِّي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يُؤَدِّي التَّلَوُّثُ إِلَى أَمْرَاضٍ.</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Problem, process or connector?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Environmental problems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الهَوَاءِ</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النُّفَايَاتُ البِلَاسْتِيكِيَّةُ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المِيَاهِ</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and passive processes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يُلَوَّثُ الهَوَاءُ</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تُقْطَعُ الأَشْجَارُ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تُلَوِّثُ المَصَانِعُ الهَوَاءَ</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Cause and effect</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بِسَبَبِ</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إِلَى</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لِـ</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2, 6,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بِسَبَبِ يُسَبِّبُ الجَلِيدَ.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الحَرَارَةُ إِلَى مِمَّا الجَلِيدِ.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1F2A37"/>
                </a:solidFill>
                <a:latin typeface="Amiri" pitchFamily="34" charset="0"/>
                <a:ea typeface="Amiri" pitchFamily="34" charset="-122"/>
                <a:cs typeface="Amiri" pitchFamily="34" charset="-120"/>
              </a:rPr>
              <a:t>يُلَوِّثُ</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الهواء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the passive is </a:t>
            </a:r>
            <a:pPr algn="l" indent="0" marL="0">
              <a:buNone/>
            </a:pPr>
            <a:r>
              <a:rPr lang="ar-SA" altLang="en-US" sz="1350" dirty="0">
                <a:solidFill>
                  <a:srgbClr val="8A6D1E"/>
                </a:solidFill>
                <a:latin typeface="Amiri" pitchFamily="34" charset="0"/>
                <a:ea typeface="Amiri" pitchFamily="34" charset="-122"/>
                <a:cs typeface="Amiri" pitchFamily="34" charset="-120"/>
              </a:rPr>
              <a:t>يُلَوَّثُ</a:t>
            </a:r>
            <a:pPr algn="l" indent="0" marL="0">
              <a:buNone/>
            </a:pPr>
            <a:r>
              <a:rPr lang="en-US" sz="1050" i="1" dirty="0">
                <a:solidFill>
                  <a:srgbClr val="8A6D1E"/>
                </a:solidFill>
                <a:latin typeface="Calibri" pitchFamily="34" charset="0"/>
                <a:ea typeface="Calibri" pitchFamily="34" charset="-122"/>
                <a:cs typeface="Calibri" pitchFamily="34" charset="-120"/>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complete cause to its consequence?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بِسَبَبِ يُسَبِّبُ الجَلِيدَ.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الحَرَارَةُ، مِمَّا يُسَبِّبُ ذَوَبَانَ الجَلِيدِ.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الحَرَارَةُ إِلَى مِمَّا الجَلِيدِ.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مما يسبب</a:t>
            </a:r>
            <a:pPr algn="l" indent="0" marL="0">
              <a:buNone/>
            </a:pPr>
            <a:r>
              <a:rPr lang="en-US" sz="1050" i="1" dirty="0">
                <a:solidFill>
                  <a:srgbClr val="8A6D1E"/>
                </a:solidFill>
                <a:latin typeface="Calibri" pitchFamily="34" charset="0"/>
                <a:ea typeface="Calibri" pitchFamily="34" charset="-122"/>
                <a:cs typeface="Calibri" pitchFamily="34" charset="-120"/>
              </a:rPr>
              <a:t> refers to the whole preceding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a:t>
            </a:r>
            <a:pPr algn="l" indent="0" marL="0">
              <a:buNone/>
            </a:pPr>
            <a:r>
              <a:rPr lang="ar-SA" altLang="en-US" sz="1650" b="1" dirty="0">
                <a:solidFill>
                  <a:srgbClr val="1B3B6F"/>
                </a:solidFill>
                <a:latin typeface="Amiri" pitchFamily="34" charset="0"/>
                <a:ea typeface="Amiri" pitchFamily="34" charset="-122"/>
                <a:cs typeface="Amiri" pitchFamily="34" charset="-120"/>
              </a:rPr>
              <a:t>يَنْبَعِثُ</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regular passive of </a:t>
            </a:r>
            <a:pPr algn="l" indent="0" marL="0">
              <a:buNone/>
            </a:pPr>
            <a:r>
              <a:rPr lang="ar-SA" altLang="en-US" sz="1650" dirty="0">
                <a:solidFill>
                  <a:srgbClr val="9AA1AB"/>
                </a:solidFill>
                <a:latin typeface="Amiri" pitchFamily="34" charset="0"/>
                <a:ea typeface="Amiri" pitchFamily="34" charset="-122"/>
                <a:cs typeface="Amiri" pitchFamily="34" charset="-120"/>
              </a:rPr>
              <a:t>يُلَوِّثُ</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ينبعث</a:t>
            </a:r>
            <a:pPr algn="l" indent="0" marL="0">
              <a:buNone/>
            </a:pPr>
            <a:r>
              <a:rPr lang="en-US" sz="1050" i="1" dirty="0">
                <a:solidFill>
                  <a:srgbClr val="8A6D1E"/>
                </a:solidFill>
                <a:latin typeface="Calibri" pitchFamily="34" charset="0"/>
                <a:ea typeface="Calibri" pitchFamily="34" charset="-122"/>
                <a:cs typeface="Calibri" pitchFamily="34" charset="-120"/>
              </a:rPr>
              <a:t> is not a passive form of </a:t>
            </a:r>
            <a:pPr algn="l" indent="0" marL="0">
              <a:buNone/>
            </a:pPr>
            <a:r>
              <a:rPr lang="ar-SA" altLang="en-US" sz="1350" dirty="0">
                <a:solidFill>
                  <a:srgbClr val="8A6D1E"/>
                </a:solidFill>
                <a:latin typeface="Amiri" pitchFamily="34" charset="0"/>
                <a:ea typeface="Amiri" pitchFamily="34" charset="-122"/>
                <a:cs typeface="Amiri" pitchFamily="34" charset="-120"/>
              </a:rPr>
              <a:t>لوّث</a:t>
            </a:r>
            <a:pPr algn="l" indent="0" marL="0">
              <a:buNone/>
            </a:pPr>
            <a:r>
              <a:rPr lang="en-US" sz="1050" i="1" dirty="0">
                <a:solidFill>
                  <a:srgbClr val="8A6D1E"/>
                </a:solidFill>
                <a:latin typeface="Calibri" pitchFamily="34" charset="0"/>
                <a:ea typeface="Calibri" pitchFamily="34" charset="-122"/>
                <a:cs typeface="Calibri" pitchFamily="34" charset="-120"/>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لـ</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the air doing the polluting, or being polluted?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preposition always follows </a:t>
            </a:r>
            <a:pPr algn="l" indent="0" marL="0">
              <a:buNone/>
            </a:pPr>
            <a:r>
              <a:rPr lang="ar-SA" altLang="en-US" sz="1700" dirty="0">
                <a:solidFill>
                  <a:srgbClr val="5A6472"/>
                </a:solidFill>
                <a:latin typeface="Amiri" pitchFamily="34" charset="0"/>
                <a:ea typeface="Amiri" pitchFamily="34" charset="-122"/>
                <a:cs typeface="Amiri" pitchFamily="34" charset="-120"/>
              </a:rPr>
              <a:t>يُؤَدِّي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الأَشْجَار</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passive present of </a:t>
            </a:r>
            <a:pPr algn="l" indent="0" marL="0">
              <a:buNone/>
            </a:pPr>
            <a:r>
              <a:rPr lang="ar-SA" altLang="en-US" sz="1500" b="1" dirty="0">
                <a:solidFill>
                  <a:srgbClr val="1B3B6F"/>
                </a:solidFill>
                <a:latin typeface="Amiri" pitchFamily="34" charset="0"/>
                <a:ea typeface="Amiri" pitchFamily="34" charset="-122"/>
                <a:cs typeface="Amiri" pitchFamily="34" charset="-120"/>
              </a:rPr>
              <a:t>لوّث</a:t>
            </a:r>
            <a:pPr algn="l" indent="0" marL="0">
              <a:buNone/>
            </a:pPr>
            <a:r>
              <a:rPr lang="en-US" sz="1150" b="1" dirty="0">
                <a:solidFill>
                  <a:srgbClr val="1B3B6F"/>
                </a:solidFill>
                <a:latin typeface="Calibri" pitchFamily="34" charset="0"/>
                <a:ea typeface="Calibri" pitchFamily="34" charset="-122"/>
                <a:cs typeface="Calibri" pitchFamily="34" charset="-120"/>
              </a:rPr>
              <a:t> is </a:t>
            </a:r>
            <a:pPr algn="l" indent="0" marL="0">
              <a:buNone/>
            </a:pPr>
            <a:r>
              <a:rPr lang="ar-SA" altLang="en-US" sz="1500" b="1" dirty="0">
                <a:solidFill>
                  <a:srgbClr val="1B3B6F"/>
                </a:solidFill>
                <a:latin typeface="Amiri" pitchFamily="34" charset="0"/>
                <a:ea typeface="Amiri" pitchFamily="34" charset="-122"/>
                <a:cs typeface="Amiri" pitchFamily="34" charset="-120"/>
              </a:rPr>
              <a:t>يُلَوَّثُ</a:t>
            </a:r>
            <a:pPr algn="l" indent="0" marL="0">
              <a:buNone/>
            </a:pPr>
            <a:r>
              <a:rPr lang="en-US" sz="1150" b="1" dirty="0">
                <a:solidFill>
                  <a:srgbClr val="1B3B6F"/>
                </a:solidFill>
                <a:latin typeface="Calibri" pitchFamily="34" charset="0"/>
                <a:ea typeface="Calibri" pitchFamily="34" charset="-122"/>
                <a:cs typeface="Calibri" pitchFamily="34" charset="-120"/>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يؤدي</a:t>
            </a:r>
            <a:pPr algn="l" indent="0" marL="0">
              <a:buNone/>
            </a:pPr>
            <a:r>
              <a:rPr lang="en-US" sz="1150" b="1" dirty="0">
                <a:solidFill>
                  <a:srgbClr val="1B3B6F"/>
                </a:solidFill>
                <a:latin typeface="Calibri" pitchFamily="34" charset="0"/>
                <a:ea typeface="Calibri" pitchFamily="34" charset="-122"/>
                <a:cs typeface="Calibri" pitchFamily="34" charset="-120"/>
              </a:rPr>
              <a:t> takes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الأشجار</a:t>
            </a:r>
            <a:pPr algn="l" indent="0" marL="0">
              <a:buNone/>
            </a:pPr>
            <a:r>
              <a:rPr lang="en-US" sz="1150" b="1" dirty="0">
                <a:solidFill>
                  <a:srgbClr val="1B3B6F"/>
                </a:solidFill>
                <a:latin typeface="Calibri" pitchFamily="34" charset="0"/>
                <a:ea typeface="Calibri" pitchFamily="34" charset="-122"/>
                <a:cs typeface="Calibri" pitchFamily="34" charset="-120"/>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a:t>
            </a:r>
            <a:pPr algn="l" indent="0" marL="0">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السَّيَّارَاتُ وَالمَصَانِعُ</a:t>
            </a:r>
            <a:pPr algn="l" indent="0" marL="0">
              <a:buNone/>
            </a:pPr>
            <a:r>
              <a:rPr lang="en-US" sz="1250" dirty="0">
                <a:solidFill>
                  <a:srgbClr val="1E6B52"/>
                </a:solidFill>
                <a:latin typeface="Calibri" pitchFamily="34" charset="0"/>
                <a:ea typeface="Calibri" pitchFamily="34" charset="-122"/>
                <a:cs typeface="Calibri" pitchFamily="34" charset="-120"/>
              </a:rPr>
              <a:t> and </a:t>
            </a:r>
            <a:pPr algn="l" indent="0" marL="0">
              <a:buNone/>
            </a:pPr>
            <a:r>
              <a:rPr lang="ar-SA" altLang="en-US" sz="1650" dirty="0">
                <a:solidFill>
                  <a:srgbClr val="1E6B52"/>
                </a:solidFill>
                <a:latin typeface="Amiri" pitchFamily="34" charset="0"/>
                <a:ea typeface="Amiri" pitchFamily="34" charset="-122"/>
                <a:cs typeface="Amiri" pitchFamily="34" charset="-120"/>
              </a:rPr>
              <a:t>النَّهْرِ</a:t>
            </a:r>
            <a:pPr algn="l" indent="0" marL="0">
              <a:buNone/>
            </a:pPr>
            <a:r>
              <a:rPr lang="en-US" sz="1250" dirty="0">
                <a:solidFill>
                  <a:srgbClr val="1E6B52"/>
                </a:solidFill>
                <a:latin typeface="Calibri" pitchFamily="34" charset="0"/>
                <a:ea typeface="Calibri" pitchFamily="34" charset="-122"/>
                <a:cs typeface="Calibri" pitchFamily="34" charset="-120"/>
              </a:rPr>
              <a:t> (river).</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يُعَدُّ تَلَوُّثُ الهَوَاءِ مِنْ أَخْطَرِ المُشْكِلَاتِ فِي المَدِينَةِ.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pollution is considered one of the most serious problems in the 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 السَّيَّارَاتُ وَالمَصَانِعُ الهَوَاءَ، وَيَنْبَعِثُ مِنْهَا دُخَانٌ كَثِيفٌ.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Cars and factories pollute the air, and thick smoke comes out of them.</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 لِذٰلِكَ، تَزْدَادُ أَمْرَاضُ التَّنَفُّسِ.</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 breathing (respiratory) illnesses increase.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كَمَا تُرْمَى نُفَايَاتٌ بِلَاسْتِيكِيَّةٌ فِي النَّهْرِ، مِمَّا يُؤَدِّي إِلَى تَلَوُّثِ المِيَاهِ وَنُفُوقِ بَعْضِ الأَسْمَاكِ.</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waste is also thrown into the river, which leads to water pollution and the death of some fish.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تلوث الهواء</a:t>
            </a:r>
            <a:pPr algn="l" indent="0" marL="0">
              <a:buNone/>
            </a:pPr>
            <a:r>
              <a:rPr lang="en-US" sz="1050" i="1" dirty="0">
                <a:solidFill>
                  <a:srgbClr val="8A6D1E"/>
                </a:solidFill>
                <a:latin typeface="Calibri" pitchFamily="34" charset="0"/>
                <a:ea typeface="Calibri" pitchFamily="34" charset="-122"/>
                <a:cs typeface="Calibri" pitchFamily="34" charset="-120"/>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a:t>
            </a:r>
            <a:pPr algn="l" indent="0" marL="0">
              <a:buNone/>
            </a:pPr>
            <a:r>
              <a:rPr lang="ar-SA" altLang="en-US" sz="1650" dirty="0">
                <a:solidFill>
                  <a:srgbClr val="1E6B52"/>
                </a:solidFill>
                <a:latin typeface="Amiri" pitchFamily="34" charset="0"/>
                <a:ea typeface="Amiri" pitchFamily="34" charset="-122"/>
                <a:cs typeface="Amiri" pitchFamily="34" charset="-120"/>
              </a:rPr>
              <a:t>تَلَوُّثُ الهَوَاءِ</a:t>
            </a:r>
            <a:pPr algn="l" indent="0" marL="0">
              <a:buNone/>
            </a:pPr>
            <a:r>
              <a:rPr lang="en-US" sz="1250" dirty="0">
                <a:solidFill>
                  <a:srgbClr val="1E6B52"/>
                </a:solidFill>
                <a:latin typeface="Calibri" pitchFamily="34" charset="0"/>
                <a:ea typeface="Calibri" pitchFamily="34" charset="-122"/>
                <a:cs typeface="Calibri" pitchFamily="34" charset="-120"/>
              </a:rPr>
              <a:t>, </a:t>
            </a:r>
            <a:pPr algn="l" indent="0" marL="0">
              <a:buNone/>
            </a:pPr>
            <a:r>
              <a:rPr lang="ar-SA" altLang="en-US" sz="1650" dirty="0">
                <a:solidFill>
                  <a:srgbClr val="1E6B52"/>
                </a:solidFill>
                <a:latin typeface="Amiri" pitchFamily="34" charset="0"/>
                <a:ea typeface="Amiri" pitchFamily="34" charset="-122"/>
                <a:cs typeface="Amiri" pitchFamily="34" charset="-120"/>
              </a:rPr>
              <a:t>السَّيَّارَاتُ وَالمَصَانِعُ</a:t>
            </a:r>
            <a:pPr algn="l" indent="0" marL="0">
              <a:buNone/>
            </a:pPr>
            <a:r>
              <a:rPr lang="en-US" sz="1250" dirty="0">
                <a:solidFill>
                  <a:srgbClr val="1E6B52"/>
                </a:solidFill>
                <a:latin typeface="Calibri" pitchFamily="34" charset="0"/>
                <a:ea typeface="Calibri" pitchFamily="34" charset="-122"/>
                <a:cs typeface="Calibri" pitchFamily="34" charset="-120"/>
              </a:rPr>
              <a:t> and </a:t>
            </a:r>
            <a:pPr algn="l" indent="0" marL="0">
              <a:buNone/>
            </a:pPr>
            <a:r>
              <a:rPr lang="ar-SA" altLang="en-US" sz="1650" dirty="0">
                <a:solidFill>
                  <a:srgbClr val="1E6B52"/>
                </a:solidFill>
                <a:latin typeface="Amiri" pitchFamily="34" charset="0"/>
                <a:ea typeface="Amiri" pitchFamily="34" charset="-122"/>
                <a:cs typeface="Amiri" pitchFamily="34" charset="-120"/>
              </a:rPr>
              <a:t>النَّهْرِ</a:t>
            </a:r>
            <a:pPr algn="l" indent="0" marL="0">
              <a:buNone/>
            </a:pPr>
            <a:r>
              <a:rPr lang="en-US" sz="1250" dirty="0">
                <a:solidFill>
                  <a:srgbClr val="1E6B52"/>
                </a:solidFill>
                <a:latin typeface="Calibri" pitchFamily="34" charset="0"/>
                <a:ea typeface="Calibri" pitchFamily="34" charset="-122"/>
                <a:cs typeface="Calibri" pitchFamily="34" charset="-120"/>
              </a:rPr>
              <a:t> (river).</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مُشْكِلَةٌ بِيئِيَّةٌ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أَخْطَرُ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سَبَبُهَا؟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نَتَائِجُهَا عَلَى المَدَى الطَّوِيلِ؟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مُشْكِلَةٌ خَطِيرَةٌ بِسَبَبِ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يُؤَدِّي ___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مِمَّا يُسَبِّبُ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أَخْطَرُ مُشْكِلَةٍ بِيئِيَّةٍ فِي رَأْيِكَ؟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What is the most serious environmental problem, in your opinion?</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رَأْيِي، تَلَوُّثُ الهَوَاءِ خَطِيرٌ لِأَنَّ السَّيَّارَاتِ وَالمَصَانِعَ تُطْلِقُ دُخَانًا يُؤَدِّي إِلَى أَمْرَاضٍ تَنَفُّسِيَّةٍ.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a problem + بِسَبَبِ + cause; يُؤَدِّي … إِلَى + effect.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active and one passive sentence (يُلَوَّثُ / تُقْطَعُ) and at least two different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explain two problems, their causes and consequences.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يُلَوَّثُ الهَوَاءُ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air is polluted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تُقْطَعُ الأَشْجَارُ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Trees are cut down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a result of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مِمَّا يُسَبِّبُ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which causes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مُشْكِلَةٌ خَطِيرَةٌ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Air pollution is a serious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يَتَلَوَّثُ البَحْرُ بِسَبَبِ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sea is polluted because of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يُؤَدِّي ______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leads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تُلَوِّثُ ______ الهَوَاءَ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Factories pollute the 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خَطِيرٌ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is serious.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تَلَوُّثُ الهَوَاءِ  ·  تَلَوُّثُ المِيَاهِ  ·  النُّفَايَاتُ  ·  الدُّخَانُ  ·  المَصَانِعُ  ·  السَّيَّارَاتُ  ·  قَطْعُ الأَشْجَارِ  ·  الاحْتِبَاسُ الحَرَارِيُّ  ·  ذَوَبَانُ الجَلِيدِ  ·  أَمْرَاضٌ  ·  بِسَبَبِ  ·  يُؤَدِّي إِلَى</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تُوَاجِهُ مُدُنٌ كَثِيرَةٌ مُشْكِلَاتٍ بِيئِيَّةً مُتَرَابِطَةً</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many cities face linked environmental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فَبِسَبَبِ كَثْرَةِ السَّيَّارَاتِ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the large number of cars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مِمَّا يَضُرُّ بِالأَسْمَاكِ وَالطُّيُورِ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harms fish and birds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فَيُؤَدِّي ذٰلِكَ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leads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long term</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بُدَّ مِنْ فَهْمِ الأَسْبَابِ قَبْلَ اخْتِيَارِ الحُلُولِ</a:t>
            </a:r>
            <a:endParaRPr lang="ar-SA" sz="16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must understand the causes before choosing solutions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Many cities face linked environmental problems. Because of the large number of cars and the burning of fossil fuels, the air is polluted and breathing illnesses increase. Plastic waste is also thrown into the seas, which harms fish and birds. In some areas trees are cut down, and this leads to habitat loss and desertification. In the long term, these problems will affect people’s health and the economy. So we must understand the causes before choosing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بِسَبَبِ / مِمَّا / 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environmental problems and give a cause with </a:t>
            </a:r>
            <a:pPr algn="l" indent="0" marL="0">
              <a:buNone/>
            </a:pPr>
            <a:r>
              <a:rPr lang="ar-SA" altLang="en-US" sz="1700" dirty="0">
                <a:solidFill>
                  <a:srgbClr val="1F2A37"/>
                </a:solidFill>
                <a:latin typeface="Amiri" pitchFamily="34" charset="0"/>
                <a:ea typeface="Amiri" pitchFamily="34" charset="-122"/>
                <a:cs typeface="Amiri" pitchFamily="34" charset="-120"/>
              </a:rPr>
              <a:t>بِسَبَبِ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يُؤَدِّي إِلَى</a:t>
            </a:r>
            <a:pPr algn="l" indent="0" marL="0">
              <a:buNone/>
            </a:pPr>
            <a:r>
              <a:rPr lang="en-US" sz="1300" dirty="0">
                <a:solidFill>
                  <a:srgbClr val="1F2A37"/>
                </a:solidFill>
                <a:latin typeface="Calibri" pitchFamily="34" charset="0"/>
                <a:ea typeface="Calibri" pitchFamily="34" charset="-122"/>
                <a:cs typeface="Calibri" pitchFamily="34" charset="-120"/>
              </a:rPr>
              <a:t> — never </a:t>
            </a:r>
            <a:pPr algn="l" indent="0" marL="0">
              <a:buNone/>
            </a:pPr>
            <a:r>
              <a:rPr lang="ar-SA" altLang="en-US" sz="1700" dirty="0">
                <a:solidFill>
                  <a:srgbClr val="1F2A37"/>
                </a:solidFill>
                <a:latin typeface="Amiri" pitchFamily="34" charset="0"/>
                <a:ea typeface="Amiri" pitchFamily="34" charset="-122"/>
                <a:cs typeface="Amiri" pitchFamily="34" charset="-120"/>
              </a:rPr>
              <a:t>يُؤَدِّي فِي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tell an active sentence (</a:t>
            </a:r>
            <a:pPr algn="l" indent="0" marL="0">
              <a:buNone/>
            </a:pPr>
            <a:r>
              <a:rPr lang="ar-SA" altLang="en-US" sz="1700" dirty="0">
                <a:solidFill>
                  <a:srgbClr val="1F2A37"/>
                </a:solidFill>
                <a:latin typeface="Amiri" pitchFamily="34" charset="0"/>
                <a:ea typeface="Amiri" pitchFamily="34" charset="-122"/>
                <a:cs typeface="Amiri" pitchFamily="34" charset="-120"/>
              </a:rPr>
              <a:t>تُلَوِّثُ المَصَانِعُ الهَوَاءَ</a:t>
            </a:r>
            <a:pPr algn="l" indent="0" marL="0">
              <a:buNone/>
            </a:pPr>
            <a:r>
              <a:rPr lang="en-US" sz="1300" dirty="0">
                <a:solidFill>
                  <a:srgbClr val="1F2A37"/>
                </a:solidFill>
                <a:latin typeface="Calibri" pitchFamily="34" charset="0"/>
                <a:ea typeface="Calibri" pitchFamily="34" charset="-122"/>
                <a:cs typeface="Calibri" pitchFamily="34" charset="-120"/>
              </a:rPr>
              <a:t>) from a passive one (</a:t>
            </a:r>
            <a:pPr algn="l" indent="0" marL="0">
              <a:buNone/>
            </a:pPr>
            <a:r>
              <a:rPr lang="ar-SA" altLang="en-US" sz="1700" dirty="0">
                <a:solidFill>
                  <a:srgbClr val="1F2A37"/>
                </a:solidFill>
                <a:latin typeface="Amiri" pitchFamily="34" charset="0"/>
                <a:ea typeface="Amiri" pitchFamily="34" charset="-122"/>
                <a:cs typeface="Amiri" pitchFamily="34" charset="-120"/>
              </a:rPr>
              <a:t>يُلَوَّثُ الهَوَاءُ</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produce an organised response with relevant detail.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الأشجار</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حَرْقٌ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burning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الوَقُودُ الأُحْفُورِيُّ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fossil fuel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level, proportion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ثَانِي أُكْسِيدِ الكَرْبُونِ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carbon dioxide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الاحْتِبَاسُ الحَرَارِيُّ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global warming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ذَوَبَانُ الجَلِيدِ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melting ice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مُسْتَوَى البَحْرِ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sea level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تَفْقِدُ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loses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مَوَائِلُ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habitats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begins </a:t>
            </a:r>
            <a:pPr algn="l" indent="0" marL="0">
              <a:buNone/>
            </a:pPr>
            <a:r>
              <a:rPr lang="ar-SA" altLang="en-US" sz="1350" dirty="0">
                <a:solidFill>
                  <a:srgbClr val="8A6D1E"/>
                </a:solidFill>
                <a:latin typeface="Amiri" pitchFamily="34" charset="0"/>
                <a:ea typeface="Amiri" pitchFamily="34" charset="-122"/>
                <a:cs typeface="Amiri" pitchFamily="34" charset="-120"/>
              </a:rPr>
              <a:t>بسبب حرق الوقود الأحفوري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المَشَاكِلُ</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TC-L05 · Environmental Solutions and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recycling</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نَزْرَعُ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plant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نُوَفِّرُ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save, conserve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must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النَّقْلُ العَامُّ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public transport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can you do to help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مَاذَا تَسْتَطِيعُ أَنْ تَفْعَلَ لِحِمَايَةِ البِيئَةِ؟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TC-L04 · play “Cause &amp; Effect”,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four-step cause–effect chain about one problem (website application task).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TC-L04 · the application mission and the reading “A cause–effect chain”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TC-L05 · Environmental Solutions and Responsibility</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الحُلُولُ البِيئِيَّةُ وَالمَسْؤُولِيَّةُ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Environmental Problems and Their Causes</dc:title>
  <dc:subject>PptxGenJS Presentation</dc:subject>
  <dc:creator>Al Madina Online School · Arabic Department</dc:creator>
  <cp:lastModifiedBy>Al Madina Online School · Arabic Department</cp:lastModifiedBy>
  <cp:revision>1</cp:revision>
  <dcterms:created xsi:type="dcterms:W3CDTF">2026-09-27T10:53:30Z</dcterms:created>
  <dcterms:modified xsi:type="dcterms:W3CDTF">2026-09-27T10:53:30Z</dcterms:modified>
</cp:coreProperties>
</file>