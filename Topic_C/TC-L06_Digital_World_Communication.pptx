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6 (TC-L06). The website lesson reuses D4-L05 (The Digital World — Technology and Social Media) with the Topic C focus “Discuss devices, platforms, benefits, risks and patterns of use” (grammar: verbal nouns; object pronouns; contrast). The picture match is the website lesson game “Digital Life”; the “benefit–risk debate”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D4-L05 is B1 language. CORE: devices and apps + “I” verbs from the website game (أُرْسِلُ رَسَائِلَ … بِالهَاتِفِ · أَسْتَعْمِلُ الحَاسُوبَ لِلدِّرَاسَةِ) and the rule “keep the verb with its partner preposition”. DEVELOP: verbal nouns and a balanced view (مِنْ نَاحِيَةٍ … وَمِنْ نَاحِيَةٍ أُخْرَى). STRETCH: pronoun reference (عَلَيْهِ / فِيهَا), عَلَى الرَّغْمِ مِنْ أَنَّ and شَرِيطَةَ أَنْ.
• “He / I” verb tables with transliteration; picture match with icons; read-along listening with English.
• Website note: the website lists “follows” as يَتَابِعُ; the correct form is يُتَابِعُ (Form III) — used on the slides.
• Safeguarding: keep discussion of apps and social media general; remind students never to share passwords or personal details (the lesson content supports this message).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TC-L05, TC-L02 and TC-L04 — questions 4–5 are fixed verb + preposition pairs, today’s key idea.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Many verbs have a PARTNER word that never changes: يَتَفَاعَلُ مَعَ · يُعَلِّقُ عَلَى · يَبْحَثُ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(information — مَعْلُومَاتٌ مُضَلِّلَةٌ = misinformation), تعلیم (education — same root as التَّعَلُّمُ), صحت (health — الصِّحَّةُ الرَّقْمِيَّةُ), مفید (useful), خطرات (dangers — مَخَاطِرُ).
Groups 2–4 are the website D4-L05 vocabulary; Group 1 adds هَاتِفٌ / حَاسُوبٌ / الإِنْتَرْنِتُ from the website game; Group 5 (verbal nouns — Topic C grammar focus) uses nouns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devices and apps (website D4-L05 + the website game “Digital Life”). Hear → Say → See → Use.
Pink ending again: إِلِكْتُرُونِيٌّ is a nisba (electronic). كَلِمَةُ المُرُورِ = “word of passing” (iḍāfa, TC-L02).
Quick check: “Type the NUMBER of the thing you used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online world (website D4-L05 “Digital tools and 2028 vocabulary”). Develop / Stretch; Core students listen and repeat.
Also on the website: عَلَامَةٌ تِجَارِيَّةٌ / مَارْكَةٌ =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Online actions (website D4-L05). The blue letter is WHO: يُـ / يَـ = he, أُـ / أَـ = I. Change only the blue letter (the morning-routine rule).
Core: the three CORE rows — say “he … / I …” for each.
Website note: the website lists “follows” as يَتَابِعُ; the correct Form III form is يُتَابِعُ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that keep a partner word (website D4-L05 “Online actions and their prepositions”). Teal = the partner word, which NEVER changes.
Teach as chunks: “interact-WITH”, “comment-ON”, “search-FOR”. Website rule: “Arabic digital verbs often govern a specific preposition. Changing it makes the phrase inaccurate.”
Core: the three CORE rows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Digital benefits and risks (website D4-L05). Also on the website: مِنْ نَاحِيَةٍ (on the one hand) and مِنْ نَاحِيَةٍ أُخْرَى (on the other hand) — taught on the contrast slide.
Nisba again: رَقْمِيٌّ (digital, from رَقْم = number) — masculine الأَمَانُ الرَّقْمِيُّ vs feminine الصِّحَّةُ الرَّقْمِيَّةُ.
Safeguarding: if cyberbullying comes up, remind students who they can talk to in school; do not invite personal disclosures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verbal nouns (Topic C grammar focus for this lesson). A verbal noun (مَصْدَر) is the “-ing” noun of a verb. The website phrases come from the mission (اسْتِخْدَامُ كَلِمَةِ مُرُورٍ قَوِيَّةٍ · نَشْرُ العُنْوَانِ الشَّخْصِيِّ), vocabulary (التَّعَلُّمُ عَنْ بُعْدٍ), lesson title (وَسَائِلُ التَّوَاصُلِ الاجْتِمَاعِيِّ) and listening (تَقْلِيلُ وَقْتِ الشَّاشَةِ).
Develop: say the verb, then the noun. Stretch: make a verbal noun the subject of a sentence (اسْتِخْدَامُ الهَاتِفِ مُفِيدٌ).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“Keep the verb with its required preposition”: verb + fixed preposition. Arabic digital verbs often govern a specific preposition. Changing it makes the phrase inaccurate.
Think aloud: “Blue tells me WHO (I). Purple is the meaning. Teal is the partner word — I learn the verb and its partner together as one chunk.”
Misconception (website common mistakes): يَتَفَاعَلُ … عَلَى ✗ · يُعَلِّقُ … مَعَ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verbs and their partners in website sentences (website rule examples, game, listening script).
Read each row; students repeat the verb + partner as ONE chunk.
Row 4 shows the partner with an attached pronoun: عَلَى + ـهِ = عَلَيْهِ (on it) — Stretch pronoun reference.
Row 5: تُسَاعِدُنِي = helps ME (ـنِي = me, an object pronoun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“Balanced contrast” (present a benefit and a limitation before reaching a judgement) and “Pronoun reference” (refer back precisely: عَلَيْهِ for a masculine noun, عَلَيْهَا for a feminine noun).
Examples are the website rule examples (shortened on the cards; full sentences in the FLEX rules slide).
• CORE: listen. • DEVELOP: card 1. • STRETCH: cards 2–3.
Website application “Technology benefit–risk debate”: sort statements into benefit / risk / balanced, then defend a balanced viewpoint.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Rule 3 is the Stretch concession: عَلَى الرَّغْمِ مِنْ أَنَّ + nominal clause (use أَنَّ with a noun or attached pronoun; the sentence that follows states the unexpected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paragraph into their books.
Step 1 — “Which device? أَسْتَعْمِلُ الحَاسُوبَ — أَـ tells you it is me.”
Step 2 — “What for? لِلدِّرَاسَةِ = for studying — لِـ + a verbal noun.”
Step 3 — “A benefit: مِنْ نَاحِيَةٍ، أَتَفَاعَلُ مَعَ المُعَلِّمِ — the verb keeps its partner مَعَ.”
Step 4 — “A risk: وَمِنْ نَاحِيَةٍ أُخْرَى، أَحْتَاجُ إِلَى تَقْلِيلِ وَقْتِ الشَّاشَةِ.”
Built from website language: game (أَسْتَعْمِلُ الحَاسُوبَ لِلدِّرَاسَةِ عَبْرَ الإِنْتَرْنِتِ) and listening script (أَتَفَاعَلُ مَعَ المُعَلِّمِ … أَحْتَاجُ إِلَى تَقْلِيلِ وَقْتِ 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device or the person. • Develop: copy 3 with a different verb and partner. • Stretch: copy 4 about a different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“Which app do you use a lot, and why?” — answered with the Core stem, e.g. أَسْتَعْمِلُ تَطْبِيقًا لِلدِّرَاسَةِ.
Website note: the listening script on the website spells مَنْصَّةً; the read-along slide uses the standard vowelling مِنَصَّةً.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يُسَاعِدُ … عَلَى · تُؤَدِّي … إِلَى · يَتَعَرَّضُ … لِـ; the risks إِدْمَانِ الشَّاشَاتِ / مَعْلُومَاتٍ مُضَلِّلَةٍ; the qualified conclusion شَرِيطَةَ أَنْ نَسْتَخْدِمَهَا (ـهَا = technology, feminine).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(TC-L07 · Documents, Texts and Digital Information) will spend class time USING this language, so students prepare it tonight — short, simple, easy to access (school guidance: “Simple, Short, Interesting, Relevant, Easy to access”). The five words come from the website lesson game “Document Detective” and the website P3-L02 travel-documents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The Digital World and Communication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العَالَمُ الرَّقْمِيُّ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devices, platforms, benefits, risks and patterns of use: “I” verbs with their fixed prepositions (</a:t>
            </a:r>
            <a:pPr algn="l" indent="0" marL="0">
              <a:buNone/>
            </a:pPr>
            <a:r>
              <a:rPr lang="ar-SA" altLang="en-US" sz="1800" dirty="0">
                <a:solidFill>
                  <a:srgbClr val="C6D2E6"/>
                </a:solidFill>
                <a:latin typeface="Amiri" pitchFamily="2" charset="-78"/>
                <a:ea typeface="Amiri" pitchFamily="2" charset="-78"/>
                <a:cs typeface="Amiri" pitchFamily="2" charset="-78"/>
              </a:rPr>
              <a:t>أَتَفَاعَلُ مَعَ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أُعَلِّقُ عَلَى</a:t>
            </a:r>
            <a:pPr algn="l" indent="0" marL="0">
              <a:buNone/>
            </a:pPr>
            <a:r>
              <a:rPr lang="en-US" sz="1400" dirty="0">
                <a:solidFill>
                  <a:srgbClr val="C6D2E6"/>
                </a:solidFill>
                <a:latin typeface="Calibri" pitchFamily="34" charset="0"/>
                <a:cs typeface="Amiri" pitchFamily="2" charset="-78"/>
              </a:rPr>
              <a:t>), verbal nouns and a balanced view (</a:t>
            </a:r>
            <a:pPr algn="l" indent="0" marL="0">
              <a:buNone/>
            </a:pPr>
            <a:r>
              <a:rPr lang="ar-SA" altLang="en-US" sz="1800" dirty="0">
                <a:solidFill>
                  <a:srgbClr val="C6D2E6"/>
                </a:solidFill>
                <a:latin typeface="Amiri" pitchFamily="2" charset="-78"/>
                <a:ea typeface="Amiri" pitchFamily="2" charset="-78"/>
                <a:cs typeface="Amiri" pitchFamily="2" charset="-78"/>
              </a:rPr>
              <a:t>مِنْ نَاحِيَةٍ … وَمِنْ نَاحِيَةٍ أُخْرَى</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TC-L06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Digital words, “I” verbs and their partner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“app”?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تَطْبِيقٌ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مَوْقِعٌ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البِلَاسْتِيكَ.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نُقَلِّلُ البِلَاسْتِيكَ.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البِلَاسْتِيكَ.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يَتَفَاعَلُ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depends 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interacts with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إِلَى أَمْرَاضٍ.</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فِي أَمْرَاضٍ.</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مَعَ أَمْرَاضٍ.</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“app”?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هَاتِفٌ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تَطْبِيقٌ</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مَوْقِعٌ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تَطْبِيقٌ</a:t>
            </a:r>
            <a:pPr algn="l" indent="0" marL="0">
              <a:buNone/>
            </a:pPr>
            <a:r>
              <a:rPr lang="en-US" sz="1050" i="1" dirty="0">
                <a:solidFill>
                  <a:srgbClr val="8A6D1E"/>
                </a:solidFill>
                <a:latin typeface="Calibri" pitchFamily="34" charset="0"/>
                <a:cs typeface="Amiri" pitchFamily="2" charset="-78"/>
              </a:rPr>
              <a:t> = app · </a:t>
            </a:r>
            <a:pPr algn="l" indent="0" marL="0">
              <a:buNone/>
            </a:pPr>
            <a:r>
              <a:rPr lang="ar-SA" altLang="en-US" sz="1350" dirty="0">
                <a:solidFill>
                  <a:srgbClr val="8A6D1E"/>
                </a:solidFill>
                <a:latin typeface="Amiri" pitchFamily="2" charset="-78"/>
                <a:ea typeface="Amiri" pitchFamily="2" charset="-78"/>
                <a:cs typeface="Amiri" pitchFamily="2" charset="-78"/>
              </a:rPr>
              <a:t>هَاتِفٌ</a:t>
            </a:r>
            <a:pPr algn="l" indent="0" marL="0">
              <a:buNone/>
            </a:pPr>
            <a:r>
              <a:rPr lang="en-US" sz="1050" i="1" dirty="0">
                <a:solidFill>
                  <a:srgbClr val="8A6D1E"/>
                </a:solidFill>
                <a:latin typeface="Calibri" pitchFamily="34" charset="0"/>
                <a:cs typeface="Amiri" pitchFamily="2" charset="-78"/>
              </a:rPr>
              <a:t> = phone · </a:t>
            </a:r>
            <a:pPr algn="l" indent="0" marL="0">
              <a:buNone/>
            </a:pPr>
            <a:r>
              <a:rPr lang="ar-SA" altLang="en-US" sz="1350" dirty="0">
                <a:solidFill>
                  <a:srgbClr val="8A6D1E"/>
                </a:solidFill>
                <a:latin typeface="Amiri" pitchFamily="2" charset="-78"/>
                <a:ea typeface="Amiri" pitchFamily="2" charset="-78"/>
                <a:cs typeface="Amiri" pitchFamily="2" charset="-78"/>
              </a:rPr>
              <a:t>مَوْقِعٌ</a:t>
            </a:r>
            <a:pPr algn="l" indent="0" marL="0">
              <a:buNone/>
            </a:pPr>
            <a:r>
              <a:rPr lang="en-US" sz="1050" i="1" dirty="0">
                <a:solidFill>
                  <a:srgbClr val="8A6D1E"/>
                </a:solidFill>
                <a:latin typeface="Calibri" pitchFamily="34" charset="0"/>
                <a:cs typeface="Amiri" pitchFamily="2" charset="-78"/>
              </a:rPr>
              <a:t> =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password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website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كَلِمَةُ المُرُورِ</a:t>
            </a:r>
            <a:pPr algn="l" indent="0" marL="0">
              <a:buNone/>
            </a:pPr>
            <a:r>
              <a:rPr lang="en-US" sz="1050" i="1" dirty="0">
                <a:solidFill>
                  <a:srgbClr val="8A6D1E"/>
                </a:solidFill>
                <a:latin typeface="Calibri" pitchFamily="34" charset="0"/>
                <a:cs typeface="Amiri" pitchFamily="2" charset="-78"/>
              </a:rPr>
              <a:t> = password.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نُقَلِّلُ البِلَاسْتِيكَ.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نُقَلِّلُ البِلَاسْتِيكَ.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نُقَلِّلَ البِلَاسْتِيكَ.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TC-L05: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a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يَتَفَاعَلُ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depends 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leads to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interacts with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a:t>
            </a:r>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is always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التَّلَوُّثُ إِلَى أَمْرَاضٍ.</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التَّلَوُّثُ فِي أَمْرَاضٍ.</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التَّلَوُّثُ مَعَ أَمْرَاضٍ.</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a:t>
            </a:r>
            <a:pPr algn="l" indent="0" marL="0">
              <a:buNone/>
            </a:pPr>
            <a:r>
              <a:rPr lang="ar-SA" altLang="en-US" sz="1350" dirty="0">
                <a:solidFill>
                  <a:srgbClr val="8A6D1E"/>
                </a:solidFill>
                <a:latin typeface="Amiri" pitchFamily="2" charset="-78"/>
                <a:ea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 is always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Many verbs have a PARTNER word that never changes: </a:t>
            </a:r>
            <a:pPr algn="l" indent="0" marL="0">
              <a:buNone/>
            </a:pPr>
            <a:r>
              <a:rPr lang="ar-SA" altLang="en-US" sz="1700" b="1" dirty="0">
                <a:solidFill>
                  <a:srgbClr val="1F2A37"/>
                </a:solidFill>
                <a:latin typeface="Amiri" pitchFamily="2" charset="-78"/>
                <a:ea typeface="Amiri" pitchFamily="2" charset="-78"/>
                <a:cs typeface="Amiri" pitchFamily="2" charset="-78"/>
              </a:rPr>
              <a:t>يَتَفَاعَلُ مَعَ</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يُعَلِّقُ عَلَى</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يَبْحَثُ عَنْ</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أَتَفَاعَلُ </a:t>
            </a:r>
            <a:pPr rtl="1" algn="ctr" indent="0" marL="0">
              <a:buNone/>
            </a:pPr>
            <a:r>
              <a:rPr lang="ar-SA" altLang="en-US" sz="2400" b="1" dirty="0">
                <a:solidFill>
                  <a:srgbClr val="0E7C86"/>
                </a:solidFill>
                <a:latin typeface="Amiri" pitchFamily="2" charset="-78"/>
                <a:ea typeface="Amiri" pitchFamily="2" charset="-78"/>
                <a:cs typeface="Amiri" pitchFamily="2" charset="-78"/>
              </a:rPr>
              <a:t>مَعَ</a:t>
            </a:r>
            <a:pPr rtl="1" algn="ctr" indent="0" marL="0">
              <a:buNone/>
            </a:pPr>
            <a:r>
              <a:rPr lang="ar-SA" altLang="en-US" sz="2400" b="1" dirty="0">
                <a:solidFill>
                  <a:srgbClr val="1B3B6F"/>
                </a:solidFill>
                <a:latin typeface="Amiri" pitchFamily="2" charset="-78"/>
                <a:ea typeface="Amiri" pitchFamily="2" charset="-78"/>
                <a:cs typeface="Amiri" pitchFamily="2" charset="-78"/>
              </a:rPr>
              <a:t>  ·  أُعَلِّقُ </a:t>
            </a:r>
            <a:pPr rtl="1" algn="ctr" indent="0" marL="0">
              <a:buNone/>
            </a:pPr>
            <a:r>
              <a:rPr lang="ar-SA" altLang="en-US" sz="2400" b="1" dirty="0">
                <a:solidFill>
                  <a:srgbClr val="0E7C86"/>
                </a:solidFill>
                <a:latin typeface="Amiri" pitchFamily="2" charset="-78"/>
                <a:ea typeface="Amiri" pitchFamily="2" charset="-78"/>
                <a:cs typeface="Amiri" pitchFamily="2" charset="-78"/>
              </a:rPr>
              <a:t>عَلَى</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devices and apps and say what I use them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keep each verb with its partner: </a:t>
            </a:r>
            <a:pPr algn="l" indent="0" marL="0">
              <a:buNone/>
            </a:pPr>
            <a:r>
              <a:rPr lang="ar-SA" altLang="en-US" sz="1700" b="1" dirty="0">
                <a:solidFill>
                  <a:srgbClr val="2E8B57"/>
                </a:solidFill>
                <a:latin typeface="Amiri" pitchFamily="2" charset="-78"/>
                <a:ea typeface="Amiri" pitchFamily="2" charset="-78"/>
                <a:cs typeface="Amiri" pitchFamily="2" charset="-78"/>
              </a:rPr>
              <a:t>أَتَفَاعَلُ مَعَ، أُعَلِّقُ عَلَى، أَبْحَثُ عَنْ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benefit and a risk with </a:t>
            </a:r>
            <a:pPr algn="l" indent="0" marL="0">
              <a:buNone/>
            </a:pPr>
            <a:r>
              <a:rPr lang="ar-SA" altLang="en-US" sz="1700" b="1" dirty="0">
                <a:solidFill>
                  <a:srgbClr val="C9780A"/>
                </a:solidFill>
                <a:latin typeface="Amiri" pitchFamily="2" charset="-78"/>
                <a:ea typeface="Amiri" pitchFamily="2" charset="-78"/>
                <a:cs typeface="Amiri" pitchFamily="2" charset="-78"/>
              </a:rPr>
              <a:t>مِنْ نَاحِيَةٍ … وَمِنْ نَاحِيَةٍ أُخْرَى</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verbal nouns: </a:t>
            </a:r>
            <a:pPr algn="l" indent="0" marL="0">
              <a:buNone/>
            </a:pPr>
            <a:r>
              <a:rPr lang="ar-SA" altLang="en-US" sz="1700" b="1" dirty="0">
                <a:solidFill>
                  <a:srgbClr val="C9780A"/>
                </a:solidFill>
                <a:latin typeface="Amiri" pitchFamily="2" charset="-78"/>
                <a:ea typeface="Amiri" pitchFamily="2" charset="-78"/>
                <a:cs typeface="Amiri" pitchFamily="2" charset="-78"/>
              </a:rPr>
              <a:t>اسْتِخْدَامٌ، تَعَلُّمٌ، نَشْرٌ</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refer back with </a:t>
            </a:r>
            <a:pPr algn="l" indent="0" marL="0">
              <a:buNone/>
            </a:pPr>
            <a:r>
              <a:rPr lang="ar-SA" altLang="en-US" sz="1700" b="1" dirty="0">
                <a:solidFill>
                  <a:srgbClr val="B83227"/>
                </a:solidFill>
                <a:latin typeface="Amiri" pitchFamily="2" charset="-78"/>
                <a:ea typeface="Amiri" pitchFamily="2" charset="-78"/>
                <a:cs typeface="Amiri" pitchFamily="2" charset="-78"/>
              </a:rPr>
              <a:t>عَلَيْهِ / فِيهَا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an opinion with </a:t>
            </a:r>
            <a:pPr algn="l" indent="0" marL="0">
              <a:buNone/>
            </a:pPr>
            <a:r>
              <a:rPr lang="ar-SA" altLang="en-US" sz="1700" b="1" dirty="0">
                <a:solidFill>
                  <a:srgbClr val="B83227"/>
                </a:solidFill>
                <a:latin typeface="Amiri" pitchFamily="2" charset="-78"/>
                <a:ea typeface="Amiri" pitchFamily="2" charset="-78"/>
                <a:cs typeface="Amiri" pitchFamily="2" charset="-78"/>
              </a:rPr>
              <a:t>شَرِيطَةَ أَنْ</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Devices and apps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Online world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Online actions · 10</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Benefits and risks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Verbal nouns · 5</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مَعْلُومَاتٌ</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تَعَلُّمٌ</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learning</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صِحَّةٌ</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مُفِيدٌ</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مَخَاطِرُ</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‎خطرات‎ </a:t>
            </a:r>
            <a:pPr indent="0" marL="0">
              <a:buNone/>
            </a:pPr>
            <a:r>
              <a:rPr lang="en-US" sz="950" b="1" dirty="0">
                <a:solidFill>
                  <a:srgbClr val="2E8B57"/>
                </a:solidFill>
                <a:latin typeface="Calibri" pitchFamily="34" charset="0"/>
                <a:cs typeface="Amiri" pitchFamily="2" charset="-78"/>
              </a:rPr>
              <a:t> khatrāt · risks</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Devices and apps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الأَجْهِزَةُ وَالتَّطْبِيقَاتُ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هَاتِفٌ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phone</a:t>
            </a:r>
            <a:endParaRPr lang="en-US" sz="1350" dirty="0"/>
          </a:p>
          <a:p>
            <a:pPr indent="0" marL="0">
              <a:buNone/>
            </a:pPr>
            <a:r>
              <a:rPr lang="en-US" sz="1100" i="1" dirty="0">
                <a:solidFill>
                  <a:srgbClr val="5A6472"/>
                </a:solidFill>
                <a:latin typeface="Calibri" pitchFamily="34" charset="0"/>
                <a:cs typeface="Amiri" pitchFamily="2" charset="-78"/>
              </a:rPr>
              <a:t>hā-tif · pl. ha-wā-tif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هَاتِفٌ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هَوَاتِفُ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حَاسُوبٌ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a:t>
            </a:r>
            <a:endParaRPr lang="en-US" sz="1350" dirty="0"/>
          </a:p>
          <a:p>
            <a:pPr indent="0" marL="0">
              <a:buNone/>
            </a:pPr>
            <a:r>
              <a:rPr lang="en-US" sz="1100" i="1" dirty="0">
                <a:solidFill>
                  <a:srgbClr val="5A6472"/>
                </a:solidFill>
                <a:latin typeface="Calibri" pitchFamily="34" charset="0"/>
                <a:cs typeface="Amiri" pitchFamily="2" charset="-78"/>
              </a:rPr>
              <a:t>ḥā-sūb · pl. ḥa-wā-sīb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حَاسُوبٌ</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حَوَاسِيبُ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(game)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الإِنْتَرْنِتُ</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internet</a:t>
            </a:r>
            <a:endParaRPr lang="en-US" sz="1350" dirty="0"/>
          </a:p>
          <a:p>
            <a:pPr indent="0" marL="0">
              <a:buNone/>
            </a:pPr>
            <a:r>
              <a:rPr lang="en-US" sz="1100" i="1" dirty="0">
                <a:solidFill>
                  <a:srgbClr val="5A6472"/>
                </a:solidFill>
                <a:latin typeface="Calibri" pitchFamily="34" charset="0"/>
                <a:cs typeface="Amiri" pitchFamily="2" charset="-78"/>
              </a:rPr>
              <a:t>al-in-tar-nit</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عَبْرَ الإِنْتَرْنِتِ</a:t>
            </a:r>
            <a:pPr algn="l" indent="0" marL="0">
              <a:buNone/>
            </a:pPr>
            <a:r>
              <a:rPr lang="en-US" sz="1000" i="1" dirty="0">
                <a:solidFill>
                  <a:srgbClr val="8A6D1E"/>
                </a:solidFill>
                <a:latin typeface="Calibri" pitchFamily="34" charset="0"/>
                <a:cs typeface="Amiri" pitchFamily="2" charset="-78"/>
              </a:rPr>
              <a:t> = online, via the internet</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تَطْبِيقٌ</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a:t>
            </a:r>
            <a:endParaRPr lang="en-US" sz="1350" dirty="0"/>
          </a:p>
          <a:p>
            <a:pPr indent="0" marL="0">
              <a:buNone/>
            </a:pPr>
            <a:r>
              <a:rPr lang="en-US" sz="1100" i="1" dirty="0">
                <a:solidFill>
                  <a:srgbClr val="5A6472"/>
                </a:solidFill>
                <a:latin typeface="Calibri" pitchFamily="34" charset="0"/>
                <a:cs typeface="Amiri" pitchFamily="2" charset="-78"/>
              </a:rPr>
              <a:t>taṭ-bīq · pl. taṭ-bī-qāt</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تَطْبِيقٌ</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تَطْبِيقَاتٌ</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a:t>
            </a:r>
            <a:pPr rtl="1" algn="r" indent="0" marL="0">
              <a:buNone/>
            </a:pPr>
            <a:r>
              <a:rPr lang="ar-SA" altLang="en-US" sz="3000" b="1" dirty="0">
                <a:solidFill>
                  <a:srgbClr val="7B3FA0"/>
                </a:solidFill>
                <a:latin typeface="Amiri" pitchFamily="2" charset="-78"/>
                <a:ea typeface="Amiri" pitchFamily="2" charset="-78"/>
                <a:cs typeface="Amiri" pitchFamily="2" charset="-78"/>
              </a:rPr>
              <a:t>إِلِكْتُرُونِ</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website</a:t>
            </a:r>
            <a:endParaRPr lang="en-US" sz="1350" dirty="0"/>
          </a:p>
          <a:p>
            <a:pPr indent="0" marL="0">
              <a:buNone/>
            </a:pPr>
            <a:r>
              <a:rPr lang="en-US" sz="1100" i="1" dirty="0">
                <a:solidFill>
                  <a:srgbClr val="5A6472"/>
                </a:solidFill>
                <a:latin typeface="Calibri" pitchFamily="34" charset="0"/>
                <a:cs typeface="Amiri" pitchFamily="2" charset="-78"/>
              </a:rPr>
              <a:t>maw-qiʿ i-lik-tru-niyy · pl. ma-wā-qiʿ</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مَوْقِعٌ</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مَوَاقِعُ</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90" name="Shape 8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المُرُورِ</a:t>
            </a:r>
            <a:endParaRPr lang="ar-SA" sz="3000" dirty="0"/>
          </a:p>
        </p:txBody>
      </p:sp>
      <p:sp>
        <p:nvSpPr>
          <p:cNvPr id="93" name="Text 9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password</a:t>
            </a:r>
            <a:endParaRPr lang="en-US" sz="1350" dirty="0"/>
          </a:p>
          <a:p>
            <a:pPr indent="0" marL="0">
              <a:buNone/>
            </a:pPr>
            <a:r>
              <a:rPr lang="en-US" sz="1100" i="1" dirty="0">
                <a:solidFill>
                  <a:srgbClr val="5A6472"/>
                </a:solidFill>
                <a:latin typeface="Calibri" pitchFamily="34" charset="0"/>
                <a:cs typeface="Amiri" pitchFamily="2" charset="-78"/>
              </a:rPr>
              <a:t>ka-li-mat al-mu-rūr</a:t>
            </a:r>
            <a:endParaRPr lang="en-US" sz="1350" dirty="0"/>
          </a:p>
        </p:txBody>
      </p:sp>
      <p:sp>
        <p:nvSpPr>
          <p:cNvPr id="94" name="Text 9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كَلِمَةُ السِّرِّ</a:t>
            </a:r>
            <a:endParaRPr lang="en-US" sz="1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online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مِنَصَّةٌ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mi-naṣ-ṣa · pl. mi-naṣ-ṣāt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مِنَصَّةٌ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مِنَصَّاتٌ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عَنْ بُعْدٍ</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 ʿan buʿd</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الذَّكَاءُ </a:t>
            </a:r>
            <a:pPr rtl="1" algn="r" indent="0" marL="0">
              <a:buNone/>
            </a:pPr>
            <a:r>
              <a:rPr lang="ar-SA" altLang="en-US" sz="3000" b="1" dirty="0">
                <a:solidFill>
                  <a:srgbClr val="7B3FA0"/>
                </a:solidFill>
                <a:latin typeface="Amiri" pitchFamily="2" charset="-78"/>
                <a:ea typeface="Amiri" pitchFamily="2" charset="-78"/>
                <a:cs typeface="Amiri" pitchFamily="2" charset="-78"/>
              </a:rPr>
              <a:t>الاصْطِنَاعِ</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 al-iṣ-ṭi-nā-ʿiyy</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5" name="Shape 4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شَبَكَةٌ </a:t>
            </a:r>
            <a:pPr rtl="1" algn="r" indent="0" marL="0">
              <a:buNone/>
            </a:pPr>
            <a:r>
              <a:rPr lang="ar-SA" altLang="en-US" sz="3000" b="1" dirty="0">
                <a:solidFill>
                  <a:srgbClr val="7B3FA0"/>
                </a:solidFill>
                <a:latin typeface="Amiri" pitchFamily="2" charset="-78"/>
                <a:ea typeface="Amiri" pitchFamily="2" charset="-78"/>
                <a:cs typeface="Amiri" pitchFamily="2" charset="-78"/>
              </a:rPr>
              <a:t>اجْتِمَاعِ</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network</a:t>
            </a:r>
            <a:endParaRPr lang="en-US" sz="1350" dirty="0"/>
          </a:p>
          <a:p>
            <a:pPr indent="0" marL="0">
              <a:buNone/>
            </a:pPr>
            <a:r>
              <a:rPr lang="en-US" sz="1100" i="1" dirty="0">
                <a:solidFill>
                  <a:srgbClr val="5A6472"/>
                </a:solidFill>
                <a:latin typeface="Calibri" pitchFamily="34" charset="0"/>
                <a:cs typeface="Amiri" pitchFamily="2" charset="-78"/>
              </a:rPr>
              <a:t>sha-ba-ka ij-ti-mā-ʿiy-ya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2" name="Shape 49"/>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بَثٌّ مُبَاشِرٌ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 stream</a:t>
            </a:r>
            <a:endParaRPr lang="en-US" sz="1350" dirty="0"/>
          </a:p>
          <a:p>
            <a:pPr indent="0" marL="0">
              <a:buNone/>
            </a:pPr>
            <a:r>
              <a:rPr lang="en-US" sz="1100" i="1" dirty="0">
                <a:solidFill>
                  <a:srgbClr val="5A6472"/>
                </a:solidFill>
                <a:latin typeface="Calibri" pitchFamily="34" charset="0"/>
                <a:cs typeface="Amiri" pitchFamily="2" charset="-78"/>
              </a:rPr>
              <a:t>baththun mu-bā-shir</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9" name="Shape 56"/>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ONLINE ACTIONS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 actions: he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رْسِلُ</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yur-si-lu</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sends</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رْسِلُ</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إِلَى</a:t>
            </a:r>
            <a:pPr algn="l" indent="0" marL="0">
              <a:buNone/>
            </a:pPr>
            <a:r>
              <a:rPr lang="en-US" sz="1100" i="1" dirty="0">
                <a:solidFill>
                  <a:srgbClr val="5A6472"/>
                </a:solidFill>
                <a:latin typeface="Calibri" pitchFamily="34" charset="0"/>
                <a:cs typeface="Amiri" pitchFamily="2" charset="-78"/>
              </a:rPr>
              <a:t> (to someone)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نْشُرُ</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yan-shu-ru</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posts, publishes</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نْشُرُ</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حَمِّلُ</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yu-ḥam-mi-lu</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uploads</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حَمِّلُ</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نَزِّلُ</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yu-naz-zi-lu</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downloads</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نَزِّلُ</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تَابِعُ</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yu-tā-bi-ʿu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follows</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تَابِعُ</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ONLINE ACTIONS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with a partner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مَعَ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تَفَاعَلُ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مَعَ</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ya-ta-fā-ʿa-lu ma-ʿa</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interacts with</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تَفَاعَلُ</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مَعَ</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ea typeface="Amiri" pitchFamily="2" charset="-78"/>
                <a:cs typeface="Amiri" pitchFamily="2" charset="-78"/>
              </a:rPr>
              <a:t>مَعَ</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عَلِّقُ</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عَلَى</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yu-ʿal-li-qu ʿa-lā</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comments on</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عَلِّقُ</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عَلَى</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ea typeface="Amiri" pitchFamily="2" charset="-78"/>
                <a:cs typeface="Amiri" pitchFamily="2" charset="-78"/>
              </a:rPr>
              <a:t>عَلَى</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بْحَثُ</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عَنْ</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yab-ḥa-thu ʿan</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searches for</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بْحَثُ</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عَنْ</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ea typeface="Amiri" pitchFamily="2" charset="-78"/>
                <a:cs typeface="Amiri" pitchFamily="2" charset="-78"/>
              </a:rPr>
              <a:t>عَنْ</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عْتَمِدُ</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عَلَى</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yaʿ-ta-mi-du ʿa-lā</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relies on</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عْتَمِدُ</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عَلَى</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always </a:t>
            </a:r>
            <a:pPr algn="l" indent="0" marL="0">
              <a:buNone/>
            </a:pPr>
            <a:r>
              <a:rPr lang="ar-SA" altLang="en-US" sz="1450" dirty="0">
                <a:solidFill>
                  <a:srgbClr val="5A6472"/>
                </a:solidFill>
                <a:latin typeface="Amiri" pitchFamily="2" charset="-78"/>
                <a:ea typeface="Amiri" pitchFamily="2" charset="-78"/>
                <a:cs typeface="Amiri" pitchFamily="2" charset="-78"/>
              </a:rPr>
              <a:t>عَلَى</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7B3FA0"/>
                </a:solidFill>
                <a:latin typeface="Amiri" pitchFamily="2" charset="-78"/>
                <a:ea typeface="Amiri" pitchFamily="2" charset="-78"/>
                <a:cs typeface="Amiri" pitchFamily="2" charset="-78"/>
              </a:rPr>
              <a:t>شَارِكُ</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yu-shā-ri-ku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shares, takes part</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a:t>
            </a:r>
            <a:pPr rtl="1" algn="ctr" indent="0" marL="0">
              <a:buNone/>
            </a:pPr>
            <a:r>
              <a:rPr lang="ar-SA" altLang="en-US" sz="2200" b="1" dirty="0">
                <a:solidFill>
                  <a:srgbClr val="7B3FA0"/>
                </a:solidFill>
                <a:latin typeface="Amiri" pitchFamily="2" charset="-78"/>
                <a:ea typeface="Amiri" pitchFamily="2" charset="-78"/>
                <a:cs typeface="Amiri" pitchFamily="2" charset="-78"/>
              </a:rPr>
              <a:t>شَارِكُ</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i="1" dirty="0">
                <a:solidFill>
                  <a:srgbClr val="5A6472"/>
                </a:solidFill>
                <a:latin typeface="Calibri" pitchFamily="34" charset="0"/>
                <a:cs typeface="Amiri" pitchFamily="2" charset="-78"/>
              </a:rPr>
              <a:t> = takes part in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Benefits and risks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الفَوَائِدُ وَالمَخَاطِرُ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الخُصُوصِيَّةُ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privacy</a:t>
            </a:r>
            <a:endParaRPr lang="en-US" sz="1350" dirty="0"/>
          </a:p>
          <a:p>
            <a:pPr indent="0" marL="0">
              <a:buNone/>
            </a:pPr>
            <a:r>
              <a:rPr lang="en-US" sz="1100" i="1" dirty="0">
                <a:solidFill>
                  <a:srgbClr val="5A6472"/>
                </a:solidFill>
                <a:latin typeface="Calibri" pitchFamily="34" charset="0"/>
                <a:cs typeface="Amiri" pitchFamily="2" charset="-78"/>
              </a:rPr>
              <a:t>al-khu-ṣū-ṣiy-ya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الأَمَانُ </a:t>
            </a:r>
            <a:pPr rtl="1" algn="r" indent="0" marL="0">
              <a:buNone/>
            </a:pPr>
            <a:r>
              <a:rPr lang="ar-SA" altLang="en-US" sz="3000" b="1" dirty="0">
                <a:solidFill>
                  <a:srgbClr val="7B3FA0"/>
                </a:solidFill>
                <a:latin typeface="Amiri" pitchFamily="2" charset="-78"/>
                <a:ea typeface="Amiri" pitchFamily="2" charset="-78"/>
                <a:cs typeface="Amiri" pitchFamily="2" charset="-78"/>
              </a:rPr>
              <a:t>الرَّقْمِ</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security</a:t>
            </a:r>
            <a:endParaRPr lang="en-US" sz="1350" dirty="0"/>
          </a:p>
          <a:p>
            <a:pPr indent="0" marL="0">
              <a:buNone/>
            </a:pPr>
            <a:r>
              <a:rPr lang="en-US" sz="1100" i="1" dirty="0">
                <a:solidFill>
                  <a:srgbClr val="5A6472"/>
                </a:solidFill>
                <a:latin typeface="Calibri" pitchFamily="34" charset="0"/>
                <a:cs typeface="Amiri" pitchFamily="2" charset="-78"/>
              </a:rPr>
              <a:t>al-a-mān ar-raq-miyy</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إِدْمَانُ الشَّاشَاتِ</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addiction</a:t>
            </a:r>
            <a:endParaRPr lang="en-US" sz="1350" dirty="0"/>
          </a:p>
          <a:p>
            <a:pPr indent="0" marL="0">
              <a:buNone/>
            </a:pPr>
            <a:r>
              <a:rPr lang="en-US" sz="1100" i="1" dirty="0">
                <a:solidFill>
                  <a:srgbClr val="5A6472"/>
                </a:solidFill>
                <a:latin typeface="Calibri" pitchFamily="34" charset="0"/>
                <a:cs typeface="Amiri" pitchFamily="2" charset="-78"/>
              </a:rPr>
              <a:t>id-mān ash-shā-shāt</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addiction</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إِدْمَانٌ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screens</a:t>
            </a:r>
            <a:endParaRPr lang="en-US" sz="700" dirty="0"/>
          </a:p>
        </p:txBody>
      </p:sp>
      <p:sp>
        <p:nvSpPr>
          <p:cNvPr id="47" name="Text 4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الشَّاشَاتُ</a:t>
            </a:r>
            <a:endParaRPr lang="ar-SA"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1" name="Shape 48"/>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مَعْلُومَاتٌ مُضَلِّلَةٌ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misinformation</a:t>
            </a:r>
            <a:endParaRPr lang="en-US" sz="1350" dirty="0"/>
          </a:p>
          <a:p>
            <a:pPr indent="0" marL="0">
              <a:buNone/>
            </a:pPr>
            <a:r>
              <a:rPr lang="en-US" sz="1100" i="1" dirty="0">
                <a:solidFill>
                  <a:srgbClr val="5A6472"/>
                </a:solidFill>
                <a:latin typeface="Calibri" pitchFamily="34" charset="0"/>
                <a:cs typeface="Amiri" pitchFamily="2" charset="-78"/>
              </a:rPr>
              <a:t>maʿ-lū-māt mu-ḍal-li-la</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التَّنَمُّرُ </a:t>
            </a:r>
            <a:pPr rtl="1" algn="r" indent="0" marL="0">
              <a:buNone/>
            </a:pPr>
            <a:r>
              <a:rPr lang="ar-SA" altLang="en-US" sz="3000" b="1" dirty="0">
                <a:solidFill>
                  <a:srgbClr val="7B3FA0"/>
                </a:solidFill>
                <a:latin typeface="Amiri" pitchFamily="2" charset="-78"/>
                <a:ea typeface="Amiri" pitchFamily="2" charset="-78"/>
                <a:cs typeface="Amiri" pitchFamily="2" charset="-78"/>
              </a:rPr>
              <a:t>الإِلِكْتُرُونِ</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cyberbullying</a:t>
            </a:r>
            <a:endParaRPr lang="en-US" sz="1350" dirty="0"/>
          </a:p>
          <a:p>
            <a:pPr indent="0" marL="0">
              <a:buNone/>
            </a:pPr>
            <a:r>
              <a:rPr lang="en-US" sz="1100" i="1" dirty="0">
                <a:solidFill>
                  <a:srgbClr val="5A6472"/>
                </a:solidFill>
                <a:latin typeface="Calibri" pitchFamily="34" charset="0"/>
                <a:cs typeface="Amiri" pitchFamily="2" charset="-78"/>
              </a:rPr>
              <a:t>at-ta-nam-mur al-i-lik-tru-niyy</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5" name="Shape 6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الصِّحَّةُ </a:t>
            </a:r>
            <a:pPr rtl="1" algn="r" indent="0" marL="0">
              <a:buNone/>
            </a:pPr>
            <a:r>
              <a:rPr lang="ar-SA" altLang="en-US" sz="3000" b="1" dirty="0">
                <a:solidFill>
                  <a:srgbClr val="7B3FA0"/>
                </a:solidFill>
                <a:latin typeface="Amiri" pitchFamily="2" charset="-78"/>
                <a:ea typeface="Amiri" pitchFamily="2" charset="-78"/>
                <a:cs typeface="Amiri" pitchFamily="2" charset="-78"/>
              </a:rPr>
              <a:t>الرَّقْمِ</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wellbeing</a:t>
            </a:r>
            <a:endParaRPr lang="en-US" sz="1350" dirty="0"/>
          </a:p>
          <a:p>
            <a:pPr indent="0" marL="0">
              <a:buNone/>
            </a:pPr>
            <a:r>
              <a:rPr lang="en-US" sz="1100" i="1" dirty="0">
                <a:solidFill>
                  <a:srgbClr val="5A6472"/>
                </a:solidFill>
                <a:latin typeface="Calibri" pitchFamily="34" charset="0"/>
                <a:cs typeface="Amiri" pitchFamily="2" charset="-78"/>
              </a:rPr>
              <a:t>aṣ-ṣiḥ-ḥa r-raq-miy-ya</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5 · DEVELOP · VERBAL NOUNS (TOPIC C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 → verbal noun (“-ing”)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(he)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8" name="Text 15"/>
          <p:cNvSpPr txBox="1"/>
          <p:nvPr/>
        </p:nvSpPr>
        <p:spPr>
          <a:xfrm>
            <a:off x="458114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 website phrase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يَسْتَخْدِمُ</a:t>
            </a:r>
            <a:endParaRPr lang="ar-SA" sz="2100" dirty="0"/>
          </a:p>
        </p:txBody>
      </p:sp>
      <p:sp>
        <p:nvSpPr>
          <p:cNvPr id="22" name="Text 19"/>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uses</a:t>
            </a:r>
            <a:endParaRPr lang="en-US" sz="950" dirty="0"/>
          </a:p>
        </p:txBody>
      </p:sp>
      <p:sp>
        <p:nvSpPr>
          <p:cNvPr id="23" name="Text 20"/>
          <p:cNvSpPr txBox="1"/>
          <p:nvPr/>
        </p:nvSpPr>
        <p:spPr>
          <a:xfrm>
            <a:off x="67025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اسْتِخْدَامٌ</a:t>
            </a:r>
            <a:endParaRPr lang="ar-SA" sz="2100" dirty="0"/>
          </a:p>
        </p:txBody>
      </p:sp>
      <p:sp>
        <p:nvSpPr>
          <p:cNvPr id="24" name="Text 21"/>
          <p:cNvSpPr txBox="1"/>
          <p:nvPr/>
        </p:nvSpPr>
        <p:spPr>
          <a:xfrm>
            <a:off x="66568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is-tikh-dām</a:t>
            </a:r>
            <a:endParaRPr lang="en-US" sz="950" dirty="0"/>
          </a:p>
        </p:txBody>
      </p:sp>
      <p:sp>
        <p:nvSpPr>
          <p:cNvPr id="25" name="Text 22"/>
          <p:cNvSpPr txBox="1"/>
          <p:nvPr/>
        </p:nvSpPr>
        <p:spPr>
          <a:xfrm>
            <a:off x="461772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using, use</a:t>
            </a:r>
            <a:endParaRPr lang="en-US" sz="1100" dirty="0"/>
          </a:p>
        </p:txBody>
      </p:sp>
      <p:sp>
        <p:nvSpPr>
          <p:cNvPr id="26" name="Text 23"/>
          <p:cNvSpPr txBox="1"/>
          <p:nvPr/>
        </p:nvSpPr>
        <p:spPr>
          <a:xfrm>
            <a:off x="548640" y="2267712"/>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اسْتِخْدَامُ كَلِمَةِ مُرُورٍ قَوِيَّةٍ</a:t>
            </a:r>
            <a:endParaRPr lang="ar-SA" sz="18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يَتَعَلَّمُ</a:t>
            </a:r>
            <a:endParaRPr lang="ar-SA" sz="2100" dirty="0"/>
          </a:p>
        </p:txBody>
      </p:sp>
      <p:sp>
        <p:nvSpPr>
          <p:cNvPr id="29" name="Text 26"/>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learns</a:t>
            </a:r>
            <a:endParaRPr lang="en-US" sz="950" dirty="0"/>
          </a:p>
        </p:txBody>
      </p:sp>
      <p:sp>
        <p:nvSpPr>
          <p:cNvPr id="30" name="Text 27"/>
          <p:cNvSpPr txBox="1"/>
          <p:nvPr/>
        </p:nvSpPr>
        <p:spPr>
          <a:xfrm>
            <a:off x="67025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تَعَلُّمٌ</a:t>
            </a:r>
            <a:endParaRPr lang="ar-SA" sz="2100" dirty="0"/>
          </a:p>
        </p:txBody>
      </p:sp>
      <p:sp>
        <p:nvSpPr>
          <p:cNvPr id="31" name="Text 28"/>
          <p:cNvSpPr txBox="1"/>
          <p:nvPr/>
        </p:nvSpPr>
        <p:spPr>
          <a:xfrm>
            <a:off x="66568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ta-ʿal-lum</a:t>
            </a:r>
            <a:endParaRPr lang="en-US" sz="950" dirty="0"/>
          </a:p>
        </p:txBody>
      </p:sp>
      <p:sp>
        <p:nvSpPr>
          <p:cNvPr id="32" name="Text 29"/>
          <p:cNvSpPr txBox="1"/>
          <p:nvPr/>
        </p:nvSpPr>
        <p:spPr>
          <a:xfrm>
            <a:off x="461772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learning</a:t>
            </a:r>
            <a:endParaRPr lang="en-US" sz="1100" dirty="0"/>
          </a:p>
        </p:txBody>
      </p:sp>
      <p:sp>
        <p:nvSpPr>
          <p:cNvPr id="33" name="Text 30"/>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التَّعَلُّمُ عَنْ بُعْدٍ</a:t>
            </a:r>
            <a:endParaRPr lang="ar-SA" sz="18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يَنْشُرُ</a:t>
            </a:r>
            <a:endParaRPr lang="ar-SA" sz="2100" dirty="0"/>
          </a:p>
        </p:txBody>
      </p:sp>
      <p:sp>
        <p:nvSpPr>
          <p:cNvPr id="36" name="Text 33"/>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posts</a:t>
            </a:r>
            <a:endParaRPr lang="en-US" sz="950" dirty="0"/>
          </a:p>
        </p:txBody>
      </p:sp>
      <p:sp>
        <p:nvSpPr>
          <p:cNvPr id="37" name="Text 34"/>
          <p:cNvSpPr txBox="1"/>
          <p:nvPr/>
        </p:nvSpPr>
        <p:spPr>
          <a:xfrm>
            <a:off x="67025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نَشْرٌ</a:t>
            </a:r>
            <a:endParaRPr lang="ar-SA" sz="2100" dirty="0"/>
          </a:p>
        </p:txBody>
      </p:sp>
      <p:sp>
        <p:nvSpPr>
          <p:cNvPr id="38" name="Text 35"/>
          <p:cNvSpPr txBox="1"/>
          <p:nvPr/>
        </p:nvSpPr>
        <p:spPr>
          <a:xfrm>
            <a:off x="66568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nashr</a:t>
            </a:r>
            <a:endParaRPr lang="en-US" sz="950" dirty="0"/>
          </a:p>
        </p:txBody>
      </p:sp>
      <p:sp>
        <p:nvSpPr>
          <p:cNvPr id="39" name="Text 36"/>
          <p:cNvSpPr txBox="1"/>
          <p:nvPr/>
        </p:nvSpPr>
        <p:spPr>
          <a:xfrm>
            <a:off x="461772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posting</a:t>
            </a:r>
            <a:endParaRPr lang="en-US" sz="1100" dirty="0"/>
          </a:p>
        </p:txBody>
      </p:sp>
      <p:sp>
        <p:nvSpPr>
          <p:cNvPr id="40" name="Text 37"/>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نَشْرُ العُنْوَانِ الشَّخْصِيِّ</a:t>
            </a:r>
            <a:endParaRPr lang="ar-SA" sz="18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يَتَوَاصَلُ</a:t>
            </a:r>
            <a:endParaRPr lang="ar-SA" sz="2100" dirty="0"/>
          </a:p>
        </p:txBody>
      </p:sp>
      <p:sp>
        <p:nvSpPr>
          <p:cNvPr id="43" name="Text 40"/>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communicates</a:t>
            </a:r>
            <a:endParaRPr lang="en-US" sz="950" dirty="0"/>
          </a:p>
        </p:txBody>
      </p:sp>
      <p:sp>
        <p:nvSpPr>
          <p:cNvPr id="44" name="Text 41"/>
          <p:cNvSpPr txBox="1"/>
          <p:nvPr/>
        </p:nvSpPr>
        <p:spPr>
          <a:xfrm>
            <a:off x="670255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تَوَاصُلٌ</a:t>
            </a:r>
            <a:endParaRPr lang="ar-SA" sz="2100" dirty="0"/>
          </a:p>
        </p:txBody>
      </p:sp>
      <p:sp>
        <p:nvSpPr>
          <p:cNvPr id="45" name="Text 42"/>
          <p:cNvSpPr txBox="1"/>
          <p:nvPr/>
        </p:nvSpPr>
        <p:spPr>
          <a:xfrm>
            <a:off x="665683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ta-wā-ṣul</a:t>
            </a:r>
            <a:endParaRPr lang="en-US" sz="950" dirty="0"/>
          </a:p>
        </p:txBody>
      </p:sp>
      <p:sp>
        <p:nvSpPr>
          <p:cNvPr id="46" name="Text 43"/>
          <p:cNvSpPr txBox="1"/>
          <p:nvPr/>
        </p:nvSpPr>
        <p:spPr>
          <a:xfrm>
            <a:off x="461772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a:t>
            </a:r>
            <a:endParaRPr lang="en-US" sz="1100" dirty="0"/>
          </a:p>
        </p:txBody>
      </p:sp>
      <p:sp>
        <p:nvSpPr>
          <p:cNvPr id="47" name="Text 44"/>
          <p:cNvSpPr txBox="1"/>
          <p:nvPr/>
        </p:nvSpPr>
        <p:spPr>
          <a:xfrm>
            <a:off x="548640" y="4626864"/>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وَسَائِلُ التَّوَاصُلِ الاجْتِمَاعِيِّ</a:t>
            </a:r>
            <a:endParaRPr lang="ar-SA" sz="180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926287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يُقَلِّلُ</a:t>
            </a:r>
            <a:endParaRPr lang="ar-SA" sz="2100" dirty="0"/>
          </a:p>
        </p:txBody>
      </p:sp>
      <p:sp>
        <p:nvSpPr>
          <p:cNvPr id="50" name="Text 47"/>
          <p:cNvSpPr txBox="1"/>
          <p:nvPr/>
        </p:nvSpPr>
        <p:spPr>
          <a:xfrm>
            <a:off x="921715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reduces</a:t>
            </a:r>
            <a:endParaRPr lang="en-US" sz="950" dirty="0"/>
          </a:p>
        </p:txBody>
      </p:sp>
      <p:sp>
        <p:nvSpPr>
          <p:cNvPr id="51" name="Text 48"/>
          <p:cNvSpPr txBox="1"/>
          <p:nvPr/>
        </p:nvSpPr>
        <p:spPr>
          <a:xfrm>
            <a:off x="670255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تَقْلِيلٌ</a:t>
            </a:r>
            <a:endParaRPr lang="ar-SA" sz="2100" dirty="0"/>
          </a:p>
        </p:txBody>
      </p:sp>
      <p:sp>
        <p:nvSpPr>
          <p:cNvPr id="52" name="Text 49"/>
          <p:cNvSpPr txBox="1"/>
          <p:nvPr/>
        </p:nvSpPr>
        <p:spPr>
          <a:xfrm>
            <a:off x="665683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taq-līl</a:t>
            </a:r>
            <a:endParaRPr lang="en-US" sz="950" dirty="0"/>
          </a:p>
        </p:txBody>
      </p:sp>
      <p:sp>
        <p:nvSpPr>
          <p:cNvPr id="53" name="Text 50"/>
          <p:cNvSpPr txBox="1"/>
          <p:nvPr/>
        </p:nvSpPr>
        <p:spPr>
          <a:xfrm>
            <a:off x="461772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reducing</a:t>
            </a:r>
            <a:endParaRPr lang="en-US" sz="1100" dirty="0"/>
          </a:p>
        </p:txBody>
      </p:sp>
      <p:sp>
        <p:nvSpPr>
          <p:cNvPr id="54" name="Text 51"/>
          <p:cNvSpPr txBox="1"/>
          <p:nvPr/>
        </p:nvSpPr>
        <p:spPr>
          <a:xfrm>
            <a:off x="548640" y="5413248"/>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تَقْلِيلُ وَقْتِ الشَّاشَةِ</a:t>
            </a:r>
            <a:endParaRPr lang="ar-SA" sz="18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WEBSITE RULE “VERB + FIXED PREPOSITION”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verb and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2" charset="-78"/>
                <a:ea typeface="Amiri" pitchFamily="2" charset="-78"/>
                <a:cs typeface="Amiri" pitchFamily="2" charset="-78"/>
              </a:rPr>
              <a:t>أَ</a:t>
            </a:r>
            <a:pPr rtl="1" algn="ctr" indent="0" marL="0">
              <a:buNone/>
            </a:pPr>
            <a:r>
              <a:rPr lang="ar-SA" altLang="en-US" sz="7200" b="1" dirty="0">
                <a:solidFill>
                  <a:srgbClr val="7B3FA0"/>
                </a:solidFill>
                <a:latin typeface="Amiri" pitchFamily="2" charset="-78"/>
                <a:ea typeface="Amiri" pitchFamily="2" charset="-78"/>
                <a:cs typeface="Amiri" pitchFamily="2" charset="-78"/>
              </a:rPr>
              <a:t>تَفَاعَلُ</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0E7C86"/>
                </a:solidFill>
                <a:latin typeface="Amiri" pitchFamily="2" charset="-78"/>
                <a:ea typeface="Amiri" pitchFamily="2" charset="-78"/>
                <a:cs typeface="Amiri" pitchFamily="2" charset="-78"/>
              </a:rPr>
              <a:t>مَعَ</a:t>
            </a:r>
            <a:pPr rtl="1" algn="ctr" indent="0" marL="0">
              <a:buNone/>
            </a:pPr>
            <a:r>
              <a:rPr lang="ar-SA" altLang="en-US" sz="7200" b="1" dirty="0">
                <a:solidFill>
                  <a:srgbClr val="1B3B6F"/>
                </a:solidFill>
                <a:latin typeface="Amiri" pitchFamily="2" charset="-78"/>
                <a:ea typeface="Amiri" pitchFamily="2" charset="-78"/>
                <a:cs typeface="Amiri" pitchFamily="2" charset="-78"/>
              </a:rPr>
              <a:t> المُعَلِّمِ</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a-ta-fā-ʿa-lu ma-ʿa l-mu-ʿal-lim · I interact with the teacher</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أَـ</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a:t>
            </a:r>
            <a:pPr algn="l" indent="0" marL="0">
              <a:buNone/>
            </a:pPr>
            <a:r>
              <a:rPr lang="ar-SA" altLang="en-US" sz="2100" b="1" dirty="0">
                <a:solidFill>
                  <a:srgbClr val="1D5FBF"/>
                </a:solidFill>
                <a:latin typeface="Amiri" pitchFamily="2" charset="-78"/>
                <a:ea typeface="Amiri" pitchFamily="2" charset="-78"/>
                <a:cs typeface="Amiri" pitchFamily="2" charset="-78"/>
              </a:rPr>
              <a:t>أَـ</a:t>
            </a:r>
            <a:pPr algn="l" indent="0" marL="0">
              <a:buNone/>
            </a:pPr>
            <a:r>
              <a:rPr lang="en-US" sz="1600" b="1" dirty="0">
                <a:solidFill>
                  <a:srgbClr val="1D5FBF"/>
                </a:solidFill>
                <a:latin typeface="Calibri" pitchFamily="34" charset="0"/>
                <a:cs typeface="Amiri" pitchFamily="2" charset="-78"/>
              </a:rPr>
              <a:t> =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Change the first letter for the person: </a:t>
            </a:r>
            <a:pPr algn="l" indent="0" marL="0">
              <a:buNone/>
            </a:pPr>
            <a:r>
              <a:rPr lang="ar-SA" altLang="en-US" sz="1500" dirty="0">
                <a:solidFill>
                  <a:srgbClr val="5A6472"/>
                </a:solidFill>
                <a:latin typeface="Amiri" pitchFamily="2" charset="-78"/>
                <a:ea typeface="Amiri" pitchFamily="2" charset="-78"/>
                <a:cs typeface="Amiri" pitchFamily="2" charset="-78"/>
              </a:rPr>
              <a:t>أَتَفَاعَلُ</a:t>
            </a:r>
            <a:pPr algn="l" indent="0" marL="0">
              <a:buNone/>
            </a:pPr>
            <a:r>
              <a:rPr lang="en-US" sz="1150" dirty="0">
                <a:solidFill>
                  <a:srgbClr val="5A6472"/>
                </a:solidFill>
                <a:latin typeface="Calibri" pitchFamily="34" charset="0"/>
                <a:cs typeface="Amiri" pitchFamily="2" charset="-78"/>
              </a:rPr>
              <a:t> (I) · </a:t>
            </a:r>
            <a:pPr algn="l" indent="0" marL="0">
              <a:buNone/>
            </a:pPr>
            <a:r>
              <a:rPr lang="ar-SA" altLang="en-US" sz="1500" dirty="0">
                <a:solidFill>
                  <a:srgbClr val="5A6472"/>
                </a:solidFill>
                <a:latin typeface="Amiri" pitchFamily="2" charset="-78"/>
                <a:ea typeface="Amiri" pitchFamily="2" charset="-78"/>
                <a:cs typeface="Amiri" pitchFamily="2" charset="-78"/>
              </a:rPr>
              <a:t>يَتَفَاعَلُ</a:t>
            </a:r>
            <a:pPr algn="l" indent="0" marL="0">
              <a:buNone/>
            </a:pPr>
            <a:r>
              <a:rPr lang="en-US" sz="1150" dirty="0">
                <a:solidFill>
                  <a:srgbClr val="5A6472"/>
                </a:solidFill>
                <a:latin typeface="Calibri" pitchFamily="34" charset="0"/>
                <a:cs typeface="Amiri" pitchFamily="2" charset="-78"/>
              </a:rPr>
              <a:t> (he).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تَفَاعَلُ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rest of the verb carries the meaning: interact.</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مَعَ</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PARTNER word</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Each verb keeps its own partner: </a:t>
            </a:r>
            <a:pPr algn="l" indent="0" marL="0">
              <a:buNone/>
            </a:pPr>
            <a:r>
              <a:rPr lang="ar-SA" altLang="en-US" sz="1500" dirty="0">
                <a:solidFill>
                  <a:srgbClr val="5A6472"/>
                </a:solidFill>
                <a:latin typeface="Amiri" pitchFamily="2" charset="-78"/>
                <a:ea typeface="Amiri" pitchFamily="2" charset="-78"/>
                <a:cs typeface="Amiri" pitchFamily="2" charset="-78"/>
              </a:rPr>
              <a:t>مَعَ</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عَلَى</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عَنْ</a:t>
            </a:r>
            <a:pPr algn="l" indent="0" marL="0">
              <a:buNone/>
            </a:pPr>
            <a:r>
              <a:rPr lang="en-US" sz="1150" dirty="0">
                <a:solidFill>
                  <a:srgbClr val="5A6472"/>
                </a:solidFill>
                <a:latin typeface="Calibri" pitchFamily="34" charset="0"/>
                <a:cs typeface="Amiri" pitchFamily="2" charset="-78"/>
              </a:rPr>
              <a:t>. It never changes.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VERBS AND THEIR PARTNERS IN WEBSITE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وَاحِدٌ، حَرْفٌ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Partner</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يَتَفَاعَلُ</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interacts</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ea typeface="Amiri" pitchFamily="2" charset="-78"/>
                <a:cs typeface="Amiri" pitchFamily="2" charset="-78"/>
              </a:rPr>
              <a:t>مَعَ</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يَتَفَاعَلُ الطُّلَّابُ </a:t>
            </a:r>
            <a:pPr rtl="1" algn="r" indent="0" marL="0">
              <a:buNone/>
            </a:pPr>
            <a:r>
              <a:rPr lang="ar-SA" altLang="en-US" sz="2000" dirty="0">
                <a:solidFill>
                  <a:srgbClr val="0E7C86"/>
                </a:solidFill>
                <a:latin typeface="Amiri" pitchFamily="2" charset="-78"/>
                <a:ea typeface="Amiri" pitchFamily="2" charset="-78"/>
                <a:cs typeface="Amiri" pitchFamily="2" charset="-78"/>
              </a:rPr>
              <a:t>مَعَ</a:t>
            </a:r>
            <a:pPr rtl="1" algn="r" indent="0" marL="0">
              <a:buNone/>
            </a:pPr>
            <a:r>
              <a:rPr lang="ar-SA" altLang="en-US" sz="2000" dirty="0">
                <a:solidFill>
                  <a:srgbClr val="1F2A37"/>
                </a:solidFill>
                <a:latin typeface="Amiri" pitchFamily="2" charset="-78"/>
                <a:ea typeface="Amiri" pitchFamily="2" charset="-78"/>
                <a:cs typeface="Amiri" pitchFamily="2" charset="-78"/>
              </a:rPr>
              <a:t> المُعَلِّمِ.</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students interact with the teacher.</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يُعَلِّقُ</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comments</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ea typeface="Amiri" pitchFamily="2" charset="-78"/>
                <a:cs typeface="Amiri" pitchFamily="2" charset="-78"/>
              </a:rPr>
              <a:t>عَلَى</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يُعَلِّقُ المُسْتَخْدِمُ </a:t>
            </a:r>
            <a:pPr rtl="1" algn="r" indent="0" marL="0">
              <a:buNone/>
            </a:pPr>
            <a:r>
              <a:rPr lang="ar-SA" altLang="en-US" sz="2000" dirty="0">
                <a:solidFill>
                  <a:srgbClr val="0E7C86"/>
                </a:solidFill>
                <a:latin typeface="Amiri" pitchFamily="2" charset="-78"/>
                <a:ea typeface="Amiri" pitchFamily="2" charset="-78"/>
                <a:cs typeface="Amiri" pitchFamily="2" charset="-78"/>
              </a:rPr>
              <a:t>عَلَى</a:t>
            </a:r>
            <a:pPr rtl="1" algn="r" indent="0" marL="0">
              <a:buNone/>
            </a:pPr>
            <a:r>
              <a:rPr lang="ar-SA" altLang="en-US" sz="2000" dirty="0">
                <a:solidFill>
                  <a:srgbClr val="1F2A37"/>
                </a:solidFill>
                <a:latin typeface="Amiri" pitchFamily="2" charset="-78"/>
                <a:ea typeface="Amiri" pitchFamily="2" charset="-78"/>
                <a:cs typeface="Amiri" pitchFamily="2" charset="-78"/>
              </a:rPr>
              <a:t> المَنْشُورِ.</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user comments on the post.</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يُرْسِلُ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sends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ea typeface="Amiri" pitchFamily="2" charset="-78"/>
                <a:cs typeface="Amiri" pitchFamily="2" charset="-78"/>
              </a:rPr>
              <a:t>إِلَى</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أُرْسِلُ رَسَائِلَ </a:t>
            </a:r>
            <a:pPr rtl="1" algn="r" indent="0" marL="0">
              <a:buNone/>
            </a:pPr>
            <a:r>
              <a:rPr lang="ar-SA" altLang="en-US" sz="2000" dirty="0">
                <a:solidFill>
                  <a:srgbClr val="0E7C86"/>
                </a:solidFill>
                <a:latin typeface="Amiri" pitchFamily="2" charset="-78"/>
                <a:ea typeface="Amiri" pitchFamily="2" charset="-78"/>
                <a:cs typeface="Amiri" pitchFamily="2" charset="-78"/>
              </a:rPr>
              <a:t>إِلَى</a:t>
            </a:r>
            <a:pPr rtl="1" algn="r" indent="0" marL="0">
              <a:buNone/>
            </a:pPr>
            <a:r>
              <a:rPr lang="ar-SA" altLang="en-US" sz="2000" dirty="0">
                <a:solidFill>
                  <a:srgbClr val="1F2A37"/>
                </a:solidFill>
                <a:latin typeface="Amiri" pitchFamily="2" charset="-78"/>
                <a:ea typeface="Amiri" pitchFamily="2" charset="-78"/>
                <a:cs typeface="Amiri" pitchFamily="2" charset="-78"/>
              </a:rPr>
              <a:t> أَصْدِقَائِي بِالهَاتِفِ.</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send messages to my friends by phone. (website game)</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يَعْتَمِدُ</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relies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ea typeface="Amiri" pitchFamily="2" charset="-78"/>
                <a:cs typeface="Amiri" pitchFamily="2" charset="-78"/>
              </a:rPr>
              <a:t>عَلَى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لَا يَجِبُ أَنْ نَعْتَمِدَ </a:t>
            </a:r>
            <a:pPr rtl="1" algn="r" indent="0" marL="0">
              <a:buNone/>
            </a:pPr>
            <a:r>
              <a:rPr lang="ar-SA" altLang="en-US" sz="2000" dirty="0">
                <a:solidFill>
                  <a:srgbClr val="0E7C86"/>
                </a:solidFill>
                <a:latin typeface="Amiri" pitchFamily="2" charset="-78"/>
                <a:ea typeface="Amiri" pitchFamily="2" charset="-78"/>
                <a:cs typeface="Amiri" pitchFamily="2" charset="-78"/>
              </a:rPr>
              <a:t>عَلَيْهِ</a:t>
            </a:r>
            <a:pPr rtl="1" algn="r" indent="0" marL="0">
              <a:buNone/>
            </a:pPr>
            <a:r>
              <a:rPr lang="ar-SA" altLang="en-US" sz="2000" dirty="0">
                <a:solidFill>
                  <a:srgbClr val="1F2A37"/>
                </a:solidFill>
                <a:latin typeface="Amiri" pitchFamily="2" charset="-78"/>
                <a:ea typeface="Amiri" pitchFamily="2" charset="-78"/>
                <a:cs typeface="Amiri" pitchFamily="2" charset="-78"/>
              </a:rPr>
              <a:t> كُلِّيًّا.</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must not rely on it completely.</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يُسَاعِدُ</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helps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2" charset="-78"/>
                <a:ea typeface="Amiri" pitchFamily="2" charset="-78"/>
                <a:cs typeface="Amiri" pitchFamily="2" charset="-78"/>
              </a:rPr>
              <a:t>عَلَى</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تُسَاعِدُنِي المِنَصَّةُ </a:t>
            </a:r>
            <a:pPr rtl="1" algn="r" indent="0" marL="0">
              <a:buNone/>
            </a:pPr>
            <a:r>
              <a:rPr lang="ar-SA" altLang="en-US" sz="2000" dirty="0">
                <a:solidFill>
                  <a:srgbClr val="0E7C86"/>
                </a:solidFill>
                <a:latin typeface="Amiri" pitchFamily="2" charset="-78"/>
                <a:ea typeface="Amiri" pitchFamily="2" charset="-78"/>
                <a:cs typeface="Amiri" pitchFamily="2" charset="-78"/>
              </a:rPr>
              <a:t>عَلَى</a:t>
            </a:r>
            <a:pPr rtl="1" algn="r" indent="0" marL="0">
              <a:buNone/>
            </a:pPr>
            <a:r>
              <a:rPr lang="ar-SA" altLang="en-US" sz="2000" dirty="0">
                <a:solidFill>
                  <a:srgbClr val="1F2A37"/>
                </a:solidFill>
                <a:latin typeface="Amiri" pitchFamily="2" charset="-78"/>
                <a:ea typeface="Amiri" pitchFamily="2" charset="-78"/>
                <a:cs typeface="Amiri" pitchFamily="2" charset="-78"/>
              </a:rPr>
              <a:t> التَّعَلُّمِ فِي أَيِّ مَكَانٍ.</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platform helps me learn anywhere.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CONTRAST AND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the one hand … on the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نَاحِيَةٍ … وَمِنْ نَاحِيَةٍ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CONTRAST</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نَاحِيَةٍ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مِنْ نَاحِيَةٍ … وَمِنْ نَاحِيَةٍ أُخْرَى …</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the one hand … and on the other hand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Give a benefit first, then a risk, then your judgement (website rule “Balanced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“it” (m.)</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عَلَيْهِ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المَوْقِعُ مُفِيدٌ … يُنْشَرُ عَلَيْهِ</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website is useful … (check) what is posted on it.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Masculine noun → </a:t>
            </a:r>
            <a:pPr algn="l" indent="0" marL="0">
              <a:buNone/>
            </a:pPr>
            <a:r>
              <a:rPr lang="ar-SA" altLang="en-US" sz="1450" dirty="0">
                <a:solidFill>
                  <a:srgbClr val="1F2A37"/>
                </a:solidFill>
                <a:latin typeface="Amiri" pitchFamily="2" charset="-78"/>
                <a:ea typeface="Amiri" pitchFamily="2" charset="-78"/>
                <a:cs typeface="Amiri" pitchFamily="2" charset="-78"/>
              </a:rPr>
              <a:t>ـهُ / ـهِ</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ea typeface="Amiri" pitchFamily="2" charset="-78"/>
                <a:cs typeface="Amiri" pitchFamily="2" charset="-78"/>
              </a:rPr>
              <a:t>عَلَيْهِ</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“it” (f.)</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المِنَصَّةُ آمِنَةٌ … فِيهَا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platform is safe … (our privacy) on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noun → </a:t>
            </a:r>
            <a:pPr algn="l" indent="0" marL="0">
              <a:buNone/>
            </a:pPr>
            <a:r>
              <a:rPr lang="ar-SA" altLang="en-US" sz="1450" dirty="0">
                <a:solidFill>
                  <a:srgbClr val="1F2A37"/>
                </a:solidFill>
                <a:latin typeface="Amiri" pitchFamily="2" charset="-78"/>
                <a:ea typeface="Amiri" pitchFamily="2" charset="-78"/>
                <a:cs typeface="Amiri" pitchFamily="2" charset="-78"/>
              </a:rPr>
              <a:t>ـهَا</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ea typeface="Amiri" pitchFamily="2" charset="-78"/>
                <a:cs typeface="Amiri" pitchFamily="2" charset="-78"/>
              </a:rPr>
              <a:t>فِيهَا</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نَسْتَخْدِمُهَا</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wrong partner word after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يَتَفَاعَلُ مَعَ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يَتَفَاعَلُ عَلَى</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يُعَلِّقُ عَلَى</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يُعَلِّقُ مَعَ</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نَاحِيَةٍ، يُسَهِّلُ التَّعَلُّمُ عَنْ بُعْدٍ الوُصُولَ إِلَى الدُّرُوسِ، وَمِنْ نَاحِيَةٍ أُخْرَى، قَدْ يَزِيدُ وَقْتَ الشَّاشَةِ.</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Concession with </a:t>
            </a:r>
            <a:pPr algn="l" indent="0" marL="0">
              <a:buNone/>
            </a:pPr>
            <a:r>
              <a:rPr lang="ar-SA" altLang="en-US" sz="1650" b="1" dirty="0">
                <a:solidFill>
                  <a:srgbClr val="1B3B6F"/>
                </a:solidFill>
                <a:latin typeface="Amiri" pitchFamily="2" charset="-78"/>
                <a:ea typeface="Amiri" pitchFamily="2" charset="-78"/>
                <a:cs typeface="Amiri" pitchFamily="2" charset="-78"/>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عَلَى الرَّغْمِ مِنْ أَنَّ</a:t>
            </a:r>
            <a:pPr algn="l" indent="0" marL="0">
              <a:buNone/>
            </a:pPr>
            <a:r>
              <a:rPr lang="en-US" sz="1050" dirty="0">
                <a:solidFill>
                  <a:srgbClr val="5A6472"/>
                </a:solidFill>
                <a:latin typeface="Calibri" pitchFamily="34" charset="0"/>
                <a:cs typeface="Amiri" pitchFamily="2" charset="-78"/>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المَوْقِعُ مُفِيدٌ، وَلٰكِنْ يَجِبُ التَّحَقُّقُ مِمَّا يُنْشَرُ عَلَيْهِ.   ·   المِنَصَّةُ آمِنَةٌ إِذَا حَافَظْنَا عَلَى خُصُوصِيَّتِنَا فِيهَا.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“distance learning”?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التَّعَلُّمُ فِي قُرْبٍ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التَّعَلُّمُ عَنْ بُعْدٍ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التَّعَلُّمُ عَلَى مَارْكَةٍ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المِنَصَّةُ</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يعلق</a:t>
            </a:r>
            <a:pPr algn="l" indent="0" marL="0">
              <a:buNone/>
            </a:pPr>
            <a:r>
              <a:rPr lang="en-US" sz="1050" i="1" dirty="0">
                <a:solidFill>
                  <a:srgbClr val="8A6D1E"/>
                </a:solidFill>
                <a:latin typeface="Calibri" pitchFamily="34" charset="0"/>
                <a:cs typeface="Amiri" pitchFamily="2" charset="-78"/>
              </a:rPr>
              <a:t> governs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“distance learning”?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التَّعَلُّمُ فِي قُرْبٍ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التَّعَلُّمُ عَنْ بُعْدٍ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التَّعَلُّمُ عَلَى مَارْكَةٍ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التعلم عن بعد</a:t>
            </a:r>
            <a:pPr algn="l" indent="0" marL="0">
              <a:buNone/>
            </a:pPr>
            <a:r>
              <a:rPr lang="en-US" sz="1050" i="1" dirty="0">
                <a:solidFill>
                  <a:srgbClr val="8A6D1E"/>
                </a:solidFill>
                <a:latin typeface="Calibri" pitchFamily="34" charset="0"/>
                <a:cs typeface="Amiri" pitchFamily="2" charset="-78"/>
              </a:rPr>
              <a:t> is the required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المِنَصَّةُ</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منصة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فيها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how I use technology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 device?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أَ</a:t>
            </a:r>
            <a:pPr rtl="1" algn="ctr" indent="0" marL="0">
              <a:buNone/>
            </a:pPr>
            <a:r>
              <a:rPr lang="ar-SA" altLang="en-US" sz="2800" b="1" dirty="0">
                <a:solidFill>
                  <a:srgbClr val="1B3B6F"/>
                </a:solidFill>
                <a:latin typeface="Amiri" pitchFamily="2" charset="-78"/>
                <a:ea typeface="Amiri" pitchFamily="2" charset="-78"/>
                <a:cs typeface="Amiri" pitchFamily="2" charset="-78"/>
              </a:rPr>
              <a:t>سْتَعْمِلُ الحَاسُوبَ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أَـ</a:t>
            </a:r>
            <a:pPr algn="l" indent="0" marL="0">
              <a:buNone/>
            </a:pPr>
            <a:r>
              <a:rPr lang="en-US" sz="1150" dirty="0">
                <a:solidFill>
                  <a:srgbClr val="1F2A37"/>
                </a:solidFill>
                <a:latin typeface="Calibri" pitchFamily="34" charset="0"/>
                <a:cs typeface="Amiri" pitchFamily="2" charset="-78"/>
              </a:rPr>
              <a:t> = I. From the website game.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لِلدِّرَاسَةِ عَبْرَ الإِنْتَرْنِتِ</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لِـ</a:t>
            </a:r>
            <a:pPr algn="l" indent="0" marL="0">
              <a:buNone/>
            </a:pPr>
            <a:r>
              <a:rPr lang="en-US" sz="1150" dirty="0">
                <a:solidFill>
                  <a:srgbClr val="1F2A37"/>
                </a:solidFill>
                <a:latin typeface="Calibri" pitchFamily="34" charset="0"/>
                <a:cs typeface="Amiri" pitchFamily="2" charset="-78"/>
              </a:rPr>
              <a:t> + verbal noun = for studying.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أَتَفَاعَلُ مَعَ المُعَلِّمِ</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Keep </a:t>
            </a:r>
            <a:pPr algn="l" indent="0" marL="0">
              <a:buNone/>
            </a:pPr>
            <a:r>
              <a:rPr lang="ar-SA" altLang="en-US" sz="1500" dirty="0">
                <a:solidFill>
                  <a:srgbClr val="1F2A37"/>
                </a:solidFill>
                <a:latin typeface="Amiri" pitchFamily="2" charset="-78"/>
                <a:ea typeface="Amiri" pitchFamily="2" charset="-78"/>
                <a:cs typeface="Amiri" pitchFamily="2" charset="-78"/>
              </a:rPr>
              <a:t>مَعَ</a:t>
            </a:r>
            <a:pPr algn="l" indent="0" marL="0">
              <a:buNone/>
            </a:pPr>
            <a:r>
              <a:rPr lang="en-US" sz="1150" dirty="0">
                <a:solidFill>
                  <a:srgbClr val="1F2A37"/>
                </a:solidFill>
                <a:latin typeface="Calibri" pitchFamily="34" charset="0"/>
                <a:cs typeface="Amiri" pitchFamily="2" charset="-78"/>
              </a:rPr>
              <a:t> with </a:t>
            </a:r>
            <a:pPr algn="l" indent="0" marL="0">
              <a:buNone/>
            </a:pPr>
            <a:r>
              <a:rPr lang="ar-SA" altLang="en-US" sz="1500" dirty="0">
                <a:solidFill>
                  <a:srgbClr val="1F2A37"/>
                </a:solidFill>
                <a:latin typeface="Amiri" pitchFamily="2" charset="-78"/>
                <a:ea typeface="Amiri" pitchFamily="2" charset="-78"/>
                <a:cs typeface="Amiri" pitchFamily="2" charset="-78"/>
              </a:rPr>
              <a:t>أَتَفَاعَلُ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risk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وَمِنْ نَاحِيَةٍ أُخْرَى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أَحْتَاجُ إِلَى تَقْلِيلِ وَقْتِ الشَّاشَةِ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other side: a risk (website listening).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 (I)</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D5FBF"/>
                </a:solidFill>
                <a:latin typeface="Amiri" pitchFamily="2" charset="-78"/>
                <a:ea typeface="Amiri" pitchFamily="2" charset="-78"/>
                <a:cs typeface="Amiri" pitchFamily="2" charset="-78"/>
              </a:rPr>
              <a:t>أَ</a:t>
            </a:r>
            <a:pPr rtl="1" algn="r" indent="0" marL="0">
              <a:buNone/>
            </a:pPr>
            <a:r>
              <a:rPr lang="ar-SA" altLang="en-US" sz="1950" b="1" dirty="0">
                <a:solidFill>
                  <a:srgbClr val="1B3B6F"/>
                </a:solidFill>
                <a:latin typeface="Amiri" pitchFamily="2" charset="-78"/>
                <a:ea typeface="Amiri" pitchFamily="2" charset="-78"/>
                <a:cs typeface="Amiri" pitchFamily="2" charset="-78"/>
              </a:rPr>
              <a:t>سْتَعْمِلُ الحَاسُوبَ لِلدِّرَاسَةِ عَبْرَ الإِنْتَرْنِتِ. </a:t>
            </a:r>
            <a:pPr rtl="1" algn="r" indent="0" marL="0">
              <a:buNone/>
            </a:pPr>
            <a:r>
              <a:rPr lang="ar-SA" altLang="en-US" sz="1950" b="1" dirty="0">
                <a:solidFill>
                  <a:srgbClr val="0E7C86"/>
                </a:solidFill>
                <a:latin typeface="Amiri" pitchFamily="2" charset="-78"/>
                <a:ea typeface="Amiri" pitchFamily="2" charset="-78"/>
                <a:cs typeface="Amiri" pitchFamily="2" charset="-78"/>
              </a:rPr>
              <a:t>مِنْ نَاحِيَةٍ</a:t>
            </a:r>
            <a:pPr rtl="1" algn="r" indent="0" marL="0">
              <a:buNone/>
            </a:pPr>
            <a:r>
              <a:rPr lang="ar-SA" altLang="en-US" sz="1950" b="1" dirty="0">
                <a:solidFill>
                  <a:srgbClr val="1B3B6F"/>
                </a:solidFill>
                <a:latin typeface="Amiri" pitchFamily="2" charset="-78"/>
                <a:ea typeface="Amiri" pitchFamily="2" charset="-78"/>
                <a:cs typeface="Amiri" pitchFamily="2" charset="-78"/>
              </a:rPr>
              <a:t>، أَتَفَاعَلُ مَعَ المُعَلِّمِ، </a:t>
            </a:r>
            <a:pPr rtl="1" algn="r" indent="0" marL="0">
              <a:buNone/>
            </a:pPr>
            <a:r>
              <a:rPr lang="ar-SA" altLang="en-US" sz="1950" b="1" dirty="0">
                <a:solidFill>
                  <a:srgbClr val="0E7C86"/>
                </a:solidFill>
                <a:latin typeface="Amiri" pitchFamily="2" charset="-78"/>
                <a:ea typeface="Amiri" pitchFamily="2" charset="-78"/>
                <a:cs typeface="Amiri" pitchFamily="2" charset="-78"/>
              </a:rPr>
              <a:t>وَمِنْ نَاحِيَةٍ أُخْرَى</a:t>
            </a:r>
            <a:pPr rtl="1" algn="r" indent="0" marL="0">
              <a:buNone/>
            </a:pPr>
            <a:r>
              <a:rPr lang="ar-SA" altLang="en-US" sz="1950" b="1" dirty="0">
                <a:solidFill>
                  <a:srgbClr val="1B3B6F"/>
                </a:solidFill>
                <a:latin typeface="Amiri" pitchFamily="2" charset="-78"/>
                <a:ea typeface="Amiri" pitchFamily="2" charset="-78"/>
                <a:cs typeface="Amiri" pitchFamily="2" charset="-78"/>
              </a:rPr>
              <a:t>، أَحْتَاجُ إِلَى تَقْلِيلِ وَقْتِ الشَّاشَةِ.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use the computer to study online. On the one hand, I interact with the teacher; on the other hand, I need to reduce screen time.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أُرْسِلُ رَسَائِلَ إِلَى أَصْدِقَائِي بِالْهَاتِفِ.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send messages to my friends by phone.</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نَسْتَعْمِلَ كَلِمَةَ مُرُورٍ قَوِيَّةً.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must use a strong password.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Website game — أَنْ + fatḥa (TC-L05).</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يَتَفَاعَلُ الطُّلَّابُ مَعَ المُعَلِّمِ.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interact with the teacher.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Keep مَعَ with يَتَفَاعَلُ.</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عَلَى الرَّغْمِ مِنْ أَنَّ الذَّكَاءَ الاصْطِنَاعِيَّ مُفِيدٌ، فَلَا يَجِبُ أَنْ نَعْتَمِدَ عَلَيْهِ كُلِّيًّا.</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AI is useful, we must not rely on it completely.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Stretch: concession + عَلَيْهِ.</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“DIGITAL LIFE”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نَسْتَعْمِلَ كَلِمَةَ مُرُورٍ قَوِيَّةً.</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أُرْسِلُ رَسَائِلَ إِلَى أَصْدِقَائِي بِالْهَاتِفِ.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أَسْتَعْمِلُ الْحَاسُوبَ لِلدِّرَاسَةِ عَبْرَ الْإِنْتَرْنِتِ.</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أُرْسِلُ رَسَائِلَ إِلَى أَصْدِقَائِي بِالْهَاتِفِ.</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send messages to my friends by phone.</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أَسْتَعْمِلُ الْحَاسُوبَ لِلدِّرَاسَةِ عَبْرَ الْإِنْتَرْنِتِ.</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the computer to study online.</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نَسْتَعْمِلَ كَلِمَةَ مُرُورٍ قَوِيَّةً.</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use a strong password.</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send messages to my friends.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يُرْسِلُ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أُرْسِلُ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رَسَائِلَ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كَلِمَةَ المُرُورِ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أَصْدِقَائِي.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أَصْدِقَائِي.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user comments on the post.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يُعَلِّقُ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يُنَزِّلُ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المُسْتَخْدِمُ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المَنْشُورِ.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المَنْشُورِ.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use a strong password.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يُؤَدِّي إِلَى</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نَسْتَخْدِمُ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نَسْتَخْدِمَ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كَلِمَةَ مُرُورٍ قَوِيَّةً.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كَلِمَةَ مُرُورٍ قَوِيٌّ.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send messages to my friends.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أُـ</a:t>
            </a:r>
            <a:pPr algn="l" indent="0" marL="0">
              <a:buNone/>
            </a:pPr>
            <a:r>
              <a:rPr lang="en-US" sz="1050" i="1" dirty="0">
                <a:solidFill>
                  <a:srgbClr val="5A6472"/>
                </a:solidFill>
                <a:latin typeface="Calibri" pitchFamily="34" charset="0"/>
                <a:cs typeface="Amiri" pitchFamily="2" charset="-78"/>
              </a:rPr>
              <a:t> = I; </a:t>
            </a:r>
            <a:pPr algn="l" indent="0" marL="0">
              <a:buNone/>
            </a:pPr>
            <a:r>
              <a:rPr lang="ar-SA" altLang="en-US" sz="1350" dirty="0">
                <a:solidFill>
                  <a:srgbClr val="5A6472"/>
                </a:solidFill>
                <a:latin typeface="Amiri" pitchFamily="2" charset="-78"/>
                <a:ea typeface="Amiri" pitchFamily="2" charset="-78"/>
                <a:cs typeface="Amiri" pitchFamily="2" charset="-78"/>
              </a:rPr>
              <a:t>يُرْسِلُ … إِلَى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أُرْسِلُ رَسَائِلَ إِلَى أَصْدِقَائِي.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user comments on the post.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يُعَلِّقُ</a:t>
            </a:r>
            <a:pPr algn="l" indent="0" marL="0">
              <a:buNone/>
            </a:pPr>
            <a:r>
              <a:rPr lang="en-US" sz="1050" i="1" dirty="0">
                <a:solidFill>
                  <a:srgbClr val="5A6472"/>
                </a:solidFill>
                <a:latin typeface="Calibri" pitchFamily="34" charset="0"/>
                <a:cs typeface="Amiri" pitchFamily="2" charset="-78"/>
              </a:rPr>
              <a:t> always with </a:t>
            </a:r>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يُعَلِّقُ المُسْتَخْدِمُ عَلَى المَنْشُورِ.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use a strong password.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fatḥa; </a:t>
            </a:r>
            <a:pPr algn="l" indent="0" marL="0">
              <a:buNone/>
            </a:pPr>
            <a:r>
              <a:rPr lang="ar-SA" altLang="en-US" sz="1350" dirty="0">
                <a:solidFill>
                  <a:srgbClr val="5A6472"/>
                </a:solidFill>
                <a:latin typeface="Amiri" pitchFamily="2" charset="-78"/>
                <a:ea typeface="Amiri" pitchFamily="2" charset="-78"/>
                <a:cs typeface="Amiri" pitchFamily="2" charset="-78"/>
              </a:rPr>
              <a:t>قَوِيَّةً</a:t>
            </a:r>
            <a:pPr algn="l" indent="0" marL="0">
              <a:buNone/>
            </a:pPr>
            <a:r>
              <a:rPr lang="en-US" sz="1050" i="1" dirty="0">
                <a:solidFill>
                  <a:srgbClr val="5A6472"/>
                </a:solidFill>
                <a:latin typeface="Calibri" pitchFamily="34" charset="0"/>
                <a:cs typeface="Amiri" pitchFamily="2" charset="-78"/>
              </a:rPr>
              <a:t> agrees with </a:t>
            </a:r>
            <a:pPr algn="l" indent="0" marL="0">
              <a:buNone/>
            </a:pPr>
            <a:r>
              <a:rPr lang="ar-SA" altLang="en-US" sz="1350" dirty="0">
                <a:solidFill>
                  <a:srgbClr val="5A6472"/>
                </a:solidFill>
                <a:latin typeface="Amiri" pitchFamily="2" charset="-78"/>
                <a:ea typeface="Amiri" pitchFamily="2" charset="-78"/>
                <a:cs typeface="Amiri" pitchFamily="2" charset="-78"/>
              </a:rPr>
              <a:t>كَلِمَة</a:t>
            </a:r>
            <a:pPr algn="l" indent="0" marL="0">
              <a:buNone/>
            </a:pPr>
            <a:r>
              <a:rPr lang="en-US" sz="1050" i="1" dirty="0">
                <a:solidFill>
                  <a:srgbClr val="5A6472"/>
                </a:solidFill>
                <a:latin typeface="Calibri" pitchFamily="34" charset="0"/>
                <a:cs typeface="Amiri" pitchFamily="2" charset="-78"/>
              </a:rPr>
              <a:t> (f.).</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نَسْتَخْدِمَ كَلِمَةَ مُرُورٍ قَوِيَّةً.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Tool, action or benefit/risk?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يُحَمِّلُ</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الخُصُوصِيَّةُ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يَنْشُرُ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المُرُورِ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الأَمَانُ الرَّقْمِيُّ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يُنَزِّلُ</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مَعْلُومَاتٌ مُضَلِّلَةٌ</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عَلَامَةٌ تِجَارِيَّةٌ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Digital tools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Online actions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Benefits and risks</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Digital tools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المُرُورِ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عَلَامَةٌ تِجَارِيَّةٌ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Online actions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يُحَمِّلُ</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يَنْشُرُ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يُنَزِّلُ</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Benefits and risks</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الخُصُوصِيَّةُ</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الأَمَانُ الرَّقْمِيُّ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مَعْلُومَاتٌ مُضَلِّلَةٌ</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3, 4,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التِّقْنِيَّةُ مُفِيدَةٌ، لَهَا مَخَاطِرُ.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 التِّقْنِيَّةَ مُفِيدَةٌ، فَلَهَا مَخَاطِرُ.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التِّقْنِيَّةَ أَنَّ مُفِيدَةٌ.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التِّقْنِيَّةُ مُفِيدَةٌ، لَهَا مَخَاطِرُ.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 التِّقْنِيَّةَ مُفِيدَةٌ، فَلَهَا مَخَاطِرُ.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 التِّقْنِيَّةَ أَنَّ مُفِيدَةٌ.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على الرغم من أن</a:t>
            </a:r>
            <a:pPr algn="l" indent="0" marL="0">
              <a:buNone/>
            </a:pPr>
            <a:r>
              <a:rPr lang="en-US" sz="1050" i="1" dirty="0">
                <a:solidFill>
                  <a:srgbClr val="8A6D1E"/>
                </a:solidFill>
                <a:latin typeface="Calibri" pitchFamily="34" charset="0"/>
                <a:cs typeface="Amiri" pitchFamily="2" charset="-78"/>
              </a:rPr>
              <a:t> +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شريطة أن</a:t>
            </a:r>
            <a:pPr algn="l" indent="0" marL="0">
              <a:buNone/>
            </a:pPr>
            <a:r>
              <a:rPr lang="en-US" sz="1050" i="1" dirty="0">
                <a:solidFill>
                  <a:srgbClr val="8A6D1E"/>
                </a:solidFill>
                <a:latin typeface="Calibri" pitchFamily="34" charset="0"/>
                <a:cs typeface="Amiri" pitchFamily="2" charset="-78"/>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partner word goes with </a:t>
            </a:r>
            <a:pPr algn="l" indent="0" marL="0">
              <a:buNone/>
            </a:pPr>
            <a:r>
              <a:rPr lang="ar-SA" altLang="en-US" sz="1700" dirty="0">
                <a:solidFill>
                  <a:srgbClr val="5A6472"/>
                </a:solidFill>
                <a:latin typeface="Amiri" pitchFamily="2" charset="-78"/>
                <a:ea typeface="Amiri" pitchFamily="2" charset="-78"/>
                <a:cs typeface="Amiri" pitchFamily="2" charset="-78"/>
              </a:rPr>
              <a:t>يَتَفَاعَلُ</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partner word goes with </a:t>
            </a:r>
            <a:pPr algn="l" indent="0" marL="0">
              <a:buNone/>
            </a:pPr>
            <a:r>
              <a:rPr lang="ar-SA" altLang="en-US" sz="1700" dirty="0">
                <a:solidFill>
                  <a:srgbClr val="5A6472"/>
                </a:solidFill>
                <a:latin typeface="Amiri" pitchFamily="2" charset="-78"/>
                <a:ea typeface="Amiri" pitchFamily="2" charset="-78"/>
                <a:cs typeface="Amiri" pitchFamily="2" charset="-78"/>
              </a:rPr>
              <a:t>يُعَلِّقُ</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The full connector is </a:t>
            </a:r>
            <a:pPr algn="l" indent="0" marL="0">
              <a:buNone/>
            </a:pPr>
            <a:r>
              <a:rPr lang="ar-SA" altLang="en-US" sz="1700" dirty="0">
                <a:solidFill>
                  <a:srgbClr val="5A6472"/>
                </a:solidFill>
                <a:latin typeface="Amiri" pitchFamily="2" charset="-78"/>
                <a:ea typeface="Amiri" pitchFamily="2" charset="-78"/>
                <a:cs typeface="Amiri" pitchFamily="2" charset="-78"/>
              </a:rPr>
              <a:t>عَلَى الرَّغْمِ … أَنَّ</a:t>
            </a:r>
            <a:pPr algn="l" indent="0" marL="0">
              <a:buNone/>
            </a:pPr>
            <a:r>
              <a:rPr lang="en-US" sz="1300" i="1" dirty="0">
                <a:solidFill>
                  <a:srgbClr val="5A6472"/>
                </a:solidFill>
                <a:latin typeface="Calibri" pitchFamily="34" charset="0"/>
                <a:cs typeface="Amiri" pitchFamily="2" charset="-78"/>
              </a:rPr>
              <a:t>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يتفاعل</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ea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يعلّق</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عَلَى الرَّغْمِ مِنْ أَنَّ الذَّكَاءَ الاصْطِنَاعِيَّ مُفِيدٌ.</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complete connector is </a:t>
            </a:r>
            <a:pPr algn="l" indent="0" marL="0">
              <a:buNone/>
            </a:pPr>
            <a:r>
              <a:rPr lang="ar-SA" altLang="en-US" sz="1500" b="1" dirty="0">
                <a:solidFill>
                  <a:srgbClr val="1B3B6F"/>
                </a:solidFill>
                <a:latin typeface="Amiri" pitchFamily="2" charset="-78"/>
                <a:ea typeface="Amiri" pitchFamily="2" charset="-78"/>
                <a:cs typeface="Amiri" pitchFamily="2" charset="-78"/>
              </a:rPr>
              <a:t>على الرغم من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 — listen for </a:t>
            </a:r>
            <a:pPr algn="l" indent="0" marL="0">
              <a:buNone/>
            </a:pPr>
            <a:r>
              <a:rPr lang="ar-SA" altLang="en-US" sz="1650" dirty="0">
                <a:solidFill>
                  <a:srgbClr val="1E6B52"/>
                </a:solidFill>
                <a:latin typeface="Amiri" pitchFamily="2" charset="-78"/>
                <a:ea typeface="Amiri" pitchFamily="2" charset="-78"/>
                <a:cs typeface="Amiri" pitchFamily="2" charset="-78"/>
              </a:rPr>
              <a:t>ثَلَاثَ مَرَّاتٍ</a:t>
            </a:r>
            <a:pPr algn="l" indent="0" marL="0">
              <a:buNone/>
            </a:pPr>
            <a:r>
              <a:rPr lang="en-US" sz="1250" dirty="0">
                <a:solidFill>
                  <a:srgbClr val="1E6B52"/>
                </a:solidFill>
                <a:latin typeface="Calibri" pitchFamily="34" charset="0"/>
                <a:cs typeface="Amiri" pitchFamily="2" charset="-78"/>
              </a:rPr>
              <a:t> (three times), </a:t>
            </a:r>
            <a:pPr algn="l" indent="0" marL="0">
              <a:buNone/>
            </a:pPr>
            <a:r>
              <a:rPr lang="ar-SA" altLang="en-US" sz="1650" dirty="0">
                <a:solidFill>
                  <a:srgbClr val="1E6B52"/>
                </a:solidFill>
                <a:latin typeface="Amiri" pitchFamily="2" charset="-78"/>
                <a:ea typeface="Amiri" pitchFamily="2" charset="-78"/>
                <a:cs typeface="Amiri" pitchFamily="2" charset="-78"/>
              </a:rPr>
              <a:t>المُعَلِّم</a:t>
            </a:r>
            <a:pPr algn="l" indent="0" marL="0">
              <a:buNone/>
            </a:pPr>
            <a:r>
              <a:rPr lang="en-US" sz="1250" dirty="0">
                <a:solidFill>
                  <a:srgbClr val="1E6B52"/>
                </a:solidFill>
                <a:latin typeface="Calibri" pitchFamily="34" charset="0"/>
                <a:cs typeface="Amiri" pitchFamily="2" charset="-78"/>
              </a:rPr>
              <a:t> (teacher) and </a:t>
            </a:r>
            <a:pPr algn="l" indent="0" marL="0">
              <a:buNone/>
            </a:pPr>
            <a:r>
              <a:rPr lang="ar-SA" altLang="en-US" sz="1650" dirty="0">
                <a:solidFill>
                  <a:srgbClr val="1E6B52"/>
                </a:solidFill>
                <a:latin typeface="Amiri" pitchFamily="2" charset="-78"/>
                <a:ea typeface="Amiri" pitchFamily="2" charset="-78"/>
                <a:cs typeface="Amiri" pitchFamily="2" charset="-78"/>
              </a:rPr>
              <a:t>وَاجِبَاتِي</a:t>
            </a:r>
            <a:pPr algn="l" indent="0" marL="0">
              <a:buNone/>
            </a:pPr>
            <a:r>
              <a:rPr lang="en-US" sz="1250" dirty="0">
                <a:solidFill>
                  <a:srgbClr val="1E6B52"/>
                </a:solidFill>
                <a:latin typeface="Calibri" pitchFamily="34" charset="0"/>
                <a:cs typeface="Amiri" pitchFamily="2" charset="-78"/>
              </a:rPr>
              <a:t> (my homework).</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a platform for distance learning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I use a strong password and I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 — listen for </a:t>
            </a:r>
            <a:pPr algn="l" indent="0" marL="0">
              <a:buNone/>
            </a:pPr>
            <a:r>
              <a:rPr lang="ar-SA" altLang="en-US" sz="1650" dirty="0">
                <a:solidFill>
                  <a:srgbClr val="1E6B52"/>
                </a:solidFill>
                <a:latin typeface="Amiri" pitchFamily="2" charset="-78"/>
                <a:ea typeface="Amiri" pitchFamily="2" charset="-78"/>
                <a:cs typeface="Amiri" pitchFamily="2" charset="-78"/>
              </a:rPr>
              <a:t>ثَلَاثَ مَرَّاتٍ</a:t>
            </a:r>
            <a:pPr algn="l" indent="0" marL="0">
              <a:buNone/>
            </a:pPr>
            <a:r>
              <a:rPr lang="en-US" sz="1250" dirty="0">
                <a:solidFill>
                  <a:srgbClr val="1E6B52"/>
                </a:solidFill>
                <a:latin typeface="Calibri" pitchFamily="34" charset="0"/>
                <a:cs typeface="Amiri" pitchFamily="2" charset="-78"/>
              </a:rPr>
              <a:t> (three times), </a:t>
            </a:r>
            <a:pPr algn="l" indent="0" marL="0">
              <a:buNone/>
            </a:pPr>
            <a:r>
              <a:rPr lang="ar-SA" altLang="en-US" sz="1650" dirty="0">
                <a:solidFill>
                  <a:srgbClr val="1E6B52"/>
                </a:solidFill>
                <a:latin typeface="Amiri" pitchFamily="2" charset="-78"/>
                <a:ea typeface="Amiri" pitchFamily="2" charset="-78"/>
                <a:cs typeface="Amiri" pitchFamily="2" charset="-78"/>
              </a:rPr>
              <a:t>المُعَلِّم</a:t>
            </a:r>
            <a:pPr algn="l" indent="0" marL="0">
              <a:buNone/>
            </a:pPr>
            <a:r>
              <a:rPr lang="en-US" sz="1250" dirty="0">
                <a:solidFill>
                  <a:srgbClr val="1E6B52"/>
                </a:solidFill>
                <a:latin typeface="Calibri" pitchFamily="34" charset="0"/>
                <a:cs typeface="Amiri" pitchFamily="2" charset="-78"/>
              </a:rPr>
              <a:t> (teacher) and </a:t>
            </a:r>
            <a:pPr algn="l" indent="0" marL="0">
              <a:buNone/>
            </a:pPr>
            <a:r>
              <a:rPr lang="ar-SA" altLang="en-US" sz="1650" dirty="0">
                <a:solidFill>
                  <a:srgbClr val="1E6B52"/>
                </a:solidFill>
                <a:latin typeface="Amiri" pitchFamily="2" charset="-78"/>
                <a:ea typeface="Amiri" pitchFamily="2" charset="-78"/>
                <a:cs typeface="Amiri" pitchFamily="2" charset="-78"/>
              </a:rPr>
              <a:t>وَاجِبَاتِي</a:t>
            </a:r>
            <a:pPr algn="l" indent="0" marL="0">
              <a:buNone/>
            </a:pPr>
            <a:r>
              <a:rPr lang="en-US" sz="1250" dirty="0">
                <a:solidFill>
                  <a:srgbClr val="1E6B52"/>
                </a:solidFill>
                <a:latin typeface="Calibri" pitchFamily="34" charset="0"/>
                <a:cs typeface="Amiri" pitchFamily="2" charset="-78"/>
              </a:rPr>
              <a:t> (my homework).</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تَطْبِيقٍ تَسْتَعْمِلُ كَثِيرًا؟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تَسْتَخْدِمُ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فَوَائِدُ التَّعَلُّمِ عَنْ بُعْدٍ؟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مَخَاطِرُ وَسَائِلِ التَّوَاصُلِ؟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أَسْتَعْمِلُ ___ لِـ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يَسْتَعْمِلُ / هِيَ تَسْتَعْمِلُ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رَأْيُكَ فِي التَّعَلُّمِ عَنْ بُعْدٍ؟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opinion of distance learning?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(next slide): أَسْتَعْمِلُ / أُرْسِلُ / أَبْحَثُ عَنْ … — the أَـ / أُـ “I” verbs with their partner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One benefit and one risk with مِنْ نَاحِيَةٍ … وَمِنْ نَاحِيَةٍ أُخْرَى; two verbs with their partner words; one verbal noun.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writing task: evaluate technology or social media with a qualified conclusion (شَرِيطَةَ أَنْ).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أَتَفَاعَلُ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interact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أُعَلِّقُ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comment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مُفِيدٌ، وَلٰكِنْ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useful,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أَسْتَعْمِلُ هَاتِفِي 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my phone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أُرْسِلُ رَسَائِلَ إِلَى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send messages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______ عَلَى الإِنْتَرْنِتِ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search for … online.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تَطْبِيقِي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app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أَسْتَخْدِمُ كَلِمَةَ مُرُورٍ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a strong password.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هَاتِفٌ  ·  حَاسُوبٌ  ·  الإِنْتَرْنِتُ  ·  تَطْبِيقٌ  ·  مَوْقِعٌ  ·  رَسَائِلُ  ·  أَصْدِقَائِي  ·  الدِّرَاسَةِ  ·  الخُصُوصِيَّةُ  ·  وَقْتُ الشَّاشَةِ  ·  مُفِيدٌ  ·  خَطِيرٌ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أَصْبَحَتِ التِّقْنِيَّةُ جُزْءًا أَسَاسِيًّا مِنْ حَيَاتِنَا</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technology has become a basic part of our lives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يُسَهِّلُ … الوُصُولَ إِلَى الدُّرُوسِ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makes access to lessons easier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 تُؤَدِّي كَثْرَةُ الاسْتِخْدَامِ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too much use may lead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 يَتَعَرَّضُ المُسْتَخْدِمُ لِـ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user may be exposed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 فَـ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شَرِيطَةَ أَنْ نَسْتَخْدِمَهَا بِمَسْؤُولِيَّةٍ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we use it responsibly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has become a basic part of our lives. On the one hand, distance learning makes access to lessons easier, and artificial intelligence helps to organise ideas. On the other hand, too much use may lead to screen addiction, and the user may be exposed to misleading 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 its partner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نَاحِيَةٍ … أُخْرَى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risk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devices and apps and say what I use them for: </a:t>
            </a:r>
            <a:pPr algn="l" indent="0" marL="0">
              <a:buNone/>
            </a:pPr>
            <a:r>
              <a:rPr lang="ar-SA" altLang="en-US" sz="1700" dirty="0">
                <a:solidFill>
                  <a:srgbClr val="1F2A37"/>
                </a:solidFill>
                <a:latin typeface="Amiri" pitchFamily="2" charset="-78"/>
                <a:ea typeface="Amiri" pitchFamily="2" charset="-78"/>
                <a:cs typeface="Amiri" pitchFamily="2" charset="-78"/>
              </a:rPr>
              <a:t>أَسْتَعْمِلُ … لِـ</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keep each verb with its partner: </a:t>
            </a:r>
            <a:pPr algn="l" indent="0" marL="0">
              <a:buNone/>
            </a:pPr>
            <a:r>
              <a:rPr lang="ar-SA" altLang="en-US" sz="1700" dirty="0">
                <a:solidFill>
                  <a:srgbClr val="1F2A37"/>
                </a:solidFill>
                <a:latin typeface="Amiri" pitchFamily="2" charset="-78"/>
                <a:ea typeface="Amiri" pitchFamily="2" charset="-78"/>
                <a:cs typeface="Amiri" pitchFamily="2" charset="-78"/>
              </a:rPr>
              <a:t>أَتَفَاعَلُ مَعَ، أُعَلِّقُ عَلَى، أَبْحَثُ عَنْ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give a benefit and a risk with </a:t>
            </a:r>
            <a:pPr algn="l" indent="0" marL="0">
              <a:buNone/>
            </a:pPr>
            <a:r>
              <a:rPr lang="ar-SA" altLang="en-US" sz="170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refer back with </a:t>
            </a:r>
            <a:pPr algn="l" indent="0" marL="0">
              <a:buNone/>
            </a:pPr>
            <a:r>
              <a:rPr lang="ar-SA" altLang="en-US" sz="1700" dirty="0">
                <a:solidFill>
                  <a:srgbClr val="1F2A37"/>
                </a:solidFill>
                <a:latin typeface="Amiri" pitchFamily="2" charset="-78"/>
                <a:ea typeface="Amiri" pitchFamily="2" charset="-78"/>
                <a:cs typeface="Amiri" pitchFamily="2" charset="-78"/>
              </a:rPr>
              <a:t>عَلَيْهِ / فِيهَا</a:t>
            </a:r>
            <a:pPr algn="l" indent="0" marL="0">
              <a:buNone/>
            </a:pPr>
            <a:r>
              <a:rPr lang="en-US" sz="1300" dirty="0">
                <a:solidFill>
                  <a:srgbClr val="1F2A37"/>
                </a:solidFill>
                <a:latin typeface="Calibri" pitchFamily="34" charset="0"/>
                <a:cs typeface="Amiri" pitchFamily="2" charset="-78"/>
              </a:rPr>
              <a:t> and qualify with </a:t>
            </a:r>
            <a:pPr algn="l" indent="0" marL="0">
              <a:buNone/>
            </a:pPr>
            <a:r>
              <a:rPr lang="ar-SA" altLang="en-US" sz="1700" dirty="0">
                <a:solidFill>
                  <a:srgbClr val="1F2A37"/>
                </a:solidFill>
                <a:latin typeface="Amiri" pitchFamily="2" charset="-78"/>
                <a:ea typeface="Amiri" pitchFamily="2" charset="-78"/>
                <a:cs typeface="Amiri" pitchFamily="2" charset="-78"/>
              </a:rPr>
              <a:t>شَرِيطَةَ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التِّقْنِيَّةُ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التِّقْنِيَّةُ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أَصْبَحَ</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became</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جُزْءٌ</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part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المَفَاهِيمُ</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concepts</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تَنْظِيمٌ</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organising</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يُنْتِجُ</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produces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دَقِيقَةٌ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التَّحَقُّقُ مِنَ</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checking</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المَصَادِرُ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sources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البَيَانَاتُ الشَّخْصِيَّةُ</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personal data</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أَدَاةٌ</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tool</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شَرِيطَةَ أَنْ</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provided that</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TC-L07 · Documents, Texts and Digital Information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جَوَازُ سَفَرٍ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passport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تَذْكِرَةٌ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ticket</a:t>
            </a:r>
            <a:pPr indent="0" marL="0">
              <a:buNone/>
            </a:pPr>
            <a:r>
              <a:rPr lang="ar-SA" sz="1000" i="1" dirty="0">
                <a:solidFill>
                  <a:srgbClr val="5A6472"/>
                </a:solidFill>
                <a:latin typeface="Calibri" pitchFamily="34" charset="0"/>
                <a:ea typeface="Amiri" pitchFamily="2" charset="-78"/>
                <a:cs typeface="Amiri" pitchFamily="2" charset="-78"/>
              </a:rPr>
              <a:t>  pl. تَذَاكِرُ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booking</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appointment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رِسَالَةٌ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message, email</a:t>
            </a:r>
            <a:pPr indent="0" marL="0">
              <a:buNone/>
            </a:pPr>
            <a:r>
              <a:rPr lang="ar-SA" sz="1000" i="1" dirty="0">
                <a:solidFill>
                  <a:srgbClr val="5A6472"/>
                </a:solidFill>
                <a:latin typeface="Calibri" pitchFamily="34" charset="0"/>
                <a:ea typeface="Amiri" pitchFamily="2" charset="-78"/>
                <a:cs typeface="Amiri" pitchFamily="2" charset="-78"/>
              </a:rPr>
              <a:t>  pl. رَسَائِلُ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documents do you need to travel?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الوَثَائِقُ الَّتِي تَحْتَاجُهَا لِلسَّفَرِ؟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TC-L06 · play “Digital Life”,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about how you use technology, with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TC-L06 · the application mission and the reading “Responsible use of artificial intelligence”.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TC-L07 · Documents, Texts and Digital Information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الوَثَائِقُ وَالنُّصُوصُ وَالمَعْلُومَاتُ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The Digital World and Communication</dc:title>
  <dc:subject>PptxGenJS Presentation</dc:subject>
  <dc:creator>Al Madina Online School · Arabic Department</dc:creator>
  <cp:lastModifiedBy>Al Madina Online School · Arabic Department</cp:lastModifiedBy>
  <cp:revision>1</cp:revision>
  <dcterms:created xsi:type="dcterms:W3CDTF">2026-10-11T06:43:59Z</dcterms:created>
  <dcterms:modified xsi:type="dcterms:W3CDTF">2026-10-11T06:43:59Z</dcterms:modified>
</cp:coreProperties>
</file>