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Lst>
  <p:notesMasterIdLst>
    <p:notesMasterId r:id="rId3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notesMaster" Target="notesMasters/notesMaster1.xml"/><Relationship Id="rId36" Type="http://schemas.openxmlformats.org/officeDocument/2006/relationships/presProps" Target="presProps.xml"/><Relationship Id="rId37" Type="http://schemas.openxmlformats.org/officeDocument/2006/relationships/viewProps" Target="viewProps.xml"/><Relationship Id="rId38" Type="http://schemas.openxmlformats.org/officeDocument/2006/relationships/theme" Target="theme/theme1.xml"/><Relationship Id="rId3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AT A GLANCE — planned for 56 minutes, leaving about 4 minutes for Teams delays.
0–1 Welcome · 1–2 Lesson map · 2–9 Do Now + answers · 9–10 Objectives · 10–17 Key words · 17–23 Grammar · 23–25 Quick check · 25–28 I Do · 28–37 We Do · 37–49 You Do (speaking 3 + writing 9, with live feedback) · 49–54 Feedback (model, self-check, exit ticket) · 54–56 Preparation for next lesson.
FLEX slides are optional. Use them if the class is moving quickly; otherwise the same activities are on the website for homework.
Content source: Miftah Arabic website, Advanced Topics › Topic C › Lesson 12 (TC-L12). The website lesson reuses D4-L12 (Review and Unit Assessment: listening 20 · reading 10 · writing 20 · speaking 10) with the Topic C focus “Assess knowledge, inference, communication and accuracy across Topic C”. The website assessment is B1–B2, so each section here is TIERED: a Core part (teacher-made from Topic C lessons 1–11) that every student can access, then the website’s own questions for Develop / Stretch. The warm-up picture match is the website game “Topic C Mixed Challenge”.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50 marks, 5 sections × 10: A words and grammar · B listening · C reading · D writing · E speaking. In every section the first half is Core; the second half is Develop / Stretch (website questions).
• Access arrangements: Core students may use the Topic C word bank for Section D only. SEND: extra time, reading of questions in English allowed, one section at a time on screen.
• Every section has an answer slide straight after — mark live and record scores on the Score profile slide, or hide the answer slides and mark later (teacher choice).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(predictability — SEND). This lesson is an assessment, so the stages are the five sections. Timings are a guide for one 60-minute lesson; if time is short, Section E (speaking) can be done in the next lesson or as a 2-minute recording.
Reassure students: “Every section starts with questions everyone can answer. Do the Core part first, then go as far as you can.”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Warm-up only — not part of the 50 marks. Questions 2–4 are the five revision words prepared at home (Flipped Learning follow-up). Question 1 previews Topic D (teachers: accept “pass”).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Do the Core part of every section first. Then aim higher. Read every question twice.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The four objectives on the left summarise the website D4-L12 assessment aims for Topic C.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THE ASSESSMENT WORKS (3 min). Tiered design so that weak and strong students are both assessed fairly on the same Topic C content.
Scoring: 1 mark per question in A–C (10 each). Writing and speaking: marked out of 10 with the mark scheme slide (Task 4 · Range 3 · Accuracy 3), adapted from the website’s Task /5 · Range /5 · Accuracy /5.
Rules: cameras on, mics muted, chat only for your answers (A–C: type e.g. “A: 1B 2A 3C …” privately to the teacher). Write sections D in books / OneNote, then photograph or upload.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the website’s interactive lesson game (“Topic C Mixed Challenge”)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WARM-UP (not marked): each sentence joins two or three parts of Topic C. Key words: المُنَاخُ (climate), التَّلَوُّثِ + إِعَادَةِ التَّدْوِيرِ (pollution + recycling), المَتَاجِرِ + الأَسْعَارِ (shops + prices).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the website’s interactive lesson game (“Topic C Mixed Challenge”)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WARM-UP (not marked): each sentence joins two or three parts of Topic C. Key words: المُنَاخُ (climate), التَّلَوُّثِ + إِعَادَةِ التَّدْوِيرِ (pollution + recycling), المَتَاجِرِ + الأَسْعَارِ (shops + prices).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A part 1 (Core — everyone, 3 min). Teacher-made from Topic C lessons 3, 6, 8, 9 and 10. 1 mark each. Read each question aloud in English once for SEND / EAL students (allowed: questions only, not answers).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1 mark each (5). If marking live, students tick their own in a different colour. Note any question most students got wrong — it becomes a Do Now item in Topic 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A part 2 (Develop / Stretch, 3 min) — five of the website’s 12 “cumulative grammar laboratory” questions (2, 3, 4, 5, 12). Core students attempt question 8 (يُؤَدِّي إِلَى, TC-L04) and any others they can.
The other website grammar questions (for Stretch revision later): Choose the accurate formal climate description. · Which five-verb form is accurate after أَنْ? · Choose the accurate negative condition. · Choose the accurate resource sentence. · Choose the accurate reporting frame. · Choose the accurate prediction. · Which sentence gives a genuine concession?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1 mark each (5). Section A total /10.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B part 1 (Core — everyone, 4 min). Teacher-made script from Topic C lessons 1, 3, 4, 8, 9. Read it aloud twice at a calm pace.
SCRIPT (read aloud):
مَرْحَبًا! أَنَا لَيْلَى، وَأَسْكُنُ فِي مَدِينَةٍ فِي شَمَالِ المَغْرِبِ. أَمْسِ كَانَ الطَّقْسُ حَارًّا، وَلٰكِنْ غَدًا سَيَكُونُ مُمْطِرًا. فِي مَدِينَتِي تُوجَدُ مَكْتَبَةٌ كَبِيرَةٌ بِجَانِبِ المَسْجِدِ. المُشْكِلَةُ هِيَ التَّلَوُّثُ بِسَبَبِ السَّيَّارَاتِ، لِذٰلِكَ أَذْهَبُ إِلَى المَدْرَسَةِ بِالحَافِلَةِ. اِشْتَرَيْتُ هَاتِفًا جَدِيدًا بِمِئَةِ دِينَارٍ، وَهُوَ أَرْخَصُ مِنْ هَاتِفِ أُخْتِي.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READ-ALONG — show ONLY AFTER Section B part 1 answers have been submitted. Teacher-made script using Topic C language (L01 place, L03 weather, L08 town, L04 problem, L09 price).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1 mark each (5). Then show the read-along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B part 2 (Develop / Stretch, 4 min) — the website assessment listening texts 2 and 3 with five of the website questions (9, 10, 11, 15, 16). Read each text twice.
SCRIPTS (read aloud):
Text 2 · Two views on technology: سَلْمَى: أُؤَيِّدُ الطَّاقَةَ الشَّمْسِيَّةَ وَالشَّبَكَاتِ الذَّكِيَّةَ لِأَنَّهَا تُقَلِّلُ الهَدْرَ. عُمَرُ: أُوَافِقُ عَلَى تَقْلِيلِ الهَدْرِ، وَلٰكِنِّي أَخْشَى ارْتِفَاعَ التَّكْلِفَةِ وَجَمْعَ البَيَانَاتِ الشَّخْصِيَّةِ. سَلْمَى: إِذَنْ نَحْنُ مُتَّفِقَانِ عَلَى الهَدَفِ، وَلٰكِنَّنَا نَخْتَلِفُ فِي طَرِيقَةِ التَّطْبِيقِ.
Text 3 · Smart-city report: تُمَثِّلُ الطَّاقَةُ المُتَجَدِّدَةُ خَمْسًا وَثَلَاثِينَ فِي المِئَةِ مِنْ إِنْتَاجِ الكَهْرَبَاءِ فِي المَدِينَةِ. وَكَانَ مِنَ المُقَرَّرِ اكْتِمَالُ شَبَكَةِ النَّقْلِ فِي عَامِ ٢٠٣٠، وَلٰكِنَّ المَوْعِدَ الجَدِيدَ هُوَ ٢٠٣٢. وَيُؤَكِّدُ الخَبِيرُ أَنَّ التِّقْنِيَّةَ وَحْدَهَا لَا تَكْفِي؛ بَلْ يَجِبُ أَنْ يَتَغَيَّرَ سُلُوكُ المُسْتَخْدِمِينَ أَيْضًا.
Website text 1 (climate and water) and its 8 questions can be used for Stretch revision: Text 1: Which region has the driest climate? · Text 1: What has become longer? · Text 1: What consequence is named? · Text 1: Which solution is proposed? · Text 1: Which formal phrase introduces reported information? · Text 1: Which two responses are recommended? · Text 1: What is the overall topic? · Text 1: Which idea is NOT mentioned?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1 mark each (5). Section B total /10.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C part 1 (Core — everyone). Teacher-made email using Topic C language: L07 (نُقِيمُ فِي, travel), L03 (weather, temperature), L10 (مَبْنِيَّةٌ مِنَ الحَجَرِ), L09 (ثَمَنُهَا), L05 (recycling advice).
The glossary is allowed — this assesses reading for meaning, not vocabulary recall. Students read silently (3 min), then answer on the next slide.
Translation for the teacher: From Yusuf to my friend Adam. Peace be upon you, Adam. I am now in Oman with my family. We are staying in a hotel near the sea. The weather here is hot and sunny, and the temperature is 35. Yesterday we visited an old castle built of stone. In the market I bought you a present; it cost ten riyals. My advice: don’t forget to recycle plastic! Goodbye.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C part 1 questions (Core — everyone). 1 mark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1 mark each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C part 2 (Develop / Stretch) — the website assessment reading text (Part B), unchanged. Core students may read it for the extra challenge but are not expected to finish.
Translation for the teacher: It is reported that climate change is increasing water scarcity in several Arab regions. Because of longer droughts, groundwater stocks fall and agriculture suffers. In cities, the air is polluted by car exhaust. So some councils are investing in electric transport and smart systems. According to one council’s data, electricity use in public buildings fell by 18% after systems were installed that switch off the lights in empty rooms. However, these solutions are expensive and may collect personal data. In my opinion, technology is an important part of the solution, provided that privacy is protected and it is accompanied by responsible policies and behaviour.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C part 2 questions — five of the website’s 10 reading questions (2, 4, 7, 8, 1). The website’s other reading questions for Stretch revision: Which passive foregrounds an environmental result? · What does “ها” refer to in “تُرَكَّبُ الأَنْظِمَةُ فِي المَبَانِي لِأَنَّهَا تُقَلِّلُ الهَدْرَ”? · Which phrase attributes information to a source? · Why does the writer mention public transport? · What tone best describes the article?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1 mark each (5). Section C total /10.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(9 min writing). Steer routes using the Do Now and quick-check results.
Website differentiation tasks: Core — Write 5 sentences about your town or a trip, with help from the word bank. · Develop — Write 80–100 words: your town, its environment and technology in three tenses. · Stretch — Website task: a 130–140-word environment and technology article.
Website writing task (Stretch): Write 130–140 Arabic words. Explain an environmental issue, causes and effects, a practical or technological solution, evidence and one limitation.
SECTION D — WRITING (12 min). Assessment conditions: silent, on your own. Core may use the word bank slide; Develop / Stretch without support. Photograph or upload at the end.
LIVE FEEDBACK: students post their first two sentences in the chat (or OneNote) after 3 minutes. Scan and correct misconceptions immediately — use private chat for individual corrections (Behaviour: quiet, individual).
Work with the less able: stay with Core students for the first 3 minutes; Develop/Stretch continue independently. SEND: chunk the Core task — “two sentences, then show me”.
Extension (fast finishers): the reading on the Extension slides. Pastoral: Self-Management point for students who work without prompting.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WRITING MARK SCHEME (Section D, /10) — adapted from the website: Task /5 · Range /5 · Accuracy /5. Each route is marked against its OWN column, so a Core student can score full marks for 5 accurate sentences.
Band guide: 9–10 all points, accurate; 6–8 most points, some errors; 3–5 some points, errors affect meaning; 1–2 very limited.
Website Question 1 (environmental action profile — problem, two causes, evidence, a solution, expected result) can be used as a Develop scaffold before writing.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Stretch students work from this slide. Checklist = website writing checklist; phrase bank = phrases from the website model, reading text and listening script. Live feedback for Stretch: check the target structures appear and are accurate.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SPEAKING REHEARSAL (3 min) — website speaking prompts (the Core prompt is teacher-made). No breakout rooms (saves setup time).
Sequence: ● 10s think → ↔ 45s everyone rehearses their answer aloud with mic muted → ◎ pairs on open mic: name two students (warned in advance); A asks, B answers; the rest of the class types one follow-up question in chat (+ / ?) → ↺ one student summarises the answer they heard.
Routes: Core uses the Core prompt and stem; Develop the Develop prompts; Stretch the last prompt.
Model (website) at the bottom — read it with a confident student first. The website model continues:
A: وَمَا الحَلُّ فِي رَأْيِكَ؟ (And what is the solution, in your opinion?)
B: فِي رَأْيِي، يَجِبُ أَنْ نَسْتَعْمِلَ النَّقْلَ العَامَّ أَكْثَرَ لِكَيْ نُقَلِّلَ التَّلَوُّثَ. (In my opinion, we must use public transport more so that we reduce pollution.)
SECTION E — SPEAKING (/10). Website Part D cues: identify one issue; explain causes and consequences; propose and evaluate one solution; use one example or statistic; respond to a follow-up question.
Online delivery: each student answers the Core questions and then their route question on open mic (1–2 minutes each), or records a short voice note if time is short. Mark: Communication /4 · Range /3 · Accuracy and pronunciation /3.
The stems are for the rehearsal minute only — remove them (next slide) for the assessed answer if you want a stricter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SCORE PROFILE (3 min) — website Section 07 “Evidence · target · transfer”. Students copy this table into their books and fill it in (/50 total).
Reflection (website): “My strongest Topic C evidence was …” · “My precise next action is …” — each student writes ONE of each in English or Arabic.
Guide: 40–50 → Stretch route in Topic D; 25–39 → Develop; below 25 → Core route with a Do Now check-in. Record results in the markbook and the Pastoral Tracker (Character: resilience for students who attempted every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(Topic D · The World of Work) will spend class time USING this language, so students prepare it tonight — short, simple, easy to access (school guidance: “Simple, Short, Interesting, Relevant, Easy to access”). Next: Topic D “The World of Work”, lesson TD-L01 “Learning Institutions and Stages of Education”. The five words come from the Topic D “School, Education &amp; Training” bank.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slideLayout" Target="../slideLayouts/slideLayout1.xml"/><Relationship Id="rId9"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slideLayout" Target="../slideLayouts/slideLayout1.xml"/><Relationship Id="rId9"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34" charset="0"/>
                <a:ea typeface="Amiri" pitchFamily="34" charset="-122"/>
                <a:cs typeface="Amiri" pitchFamily="34" charset="-120"/>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Al Madina Online School</a:t>
            </a:r>
            <a:endParaRPr lang="en-US" sz="1400" dirty="0"/>
          </a:p>
          <a:p>
            <a:pPr indent="0" marL="0">
              <a:buNone/>
            </a:pPr>
            <a:r>
              <a:rPr lang="en-US" sz="800" b="1" spc="200" kern="0" dirty="0">
                <a:solidFill>
                  <a:srgbClr val="D4AF37"/>
                </a:solidFill>
                <a:latin typeface="Calibri" pitchFamily="34" charset="0"/>
                <a:ea typeface="Calibri" pitchFamily="34" charset="-122"/>
                <a:cs typeface="Calibri" pitchFamily="34" charset="-120"/>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ea typeface="Calibri" pitchFamily="34" charset="-122"/>
                <a:cs typeface="Calibri" pitchFamily="34" charset="-120"/>
              </a:rPr>
              <a:t>CAMBRIDGE IGCSE ARABIC 0544  ·  YEAR 8  ·  ADVANCED TOPIC C  ·  WEEK 4  ·  LESSON 3 OF 3</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ea typeface="Cambria" pitchFamily="34" charset="-122"/>
                <a:cs typeface="Cambria" pitchFamily="34" charset="-120"/>
              </a:rPr>
              <a:t>TC-L12</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ea typeface="Cambria" pitchFamily="34" charset="-122"/>
                <a:cs typeface="Cambria" pitchFamily="34" charset="-120"/>
              </a:rPr>
              <a:t>Topic C Review and Four-Skills Assessment</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34" charset="0"/>
                <a:ea typeface="Amiri" pitchFamily="34" charset="-122"/>
                <a:cs typeface="Amiri" pitchFamily="34" charset="-120"/>
              </a:rPr>
              <a:t>مُرَاجَعَةُ الوَحْدَةِ وَتَقْيِيمُ المَهَارَاتِ الأَرْبَعِ</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ea typeface="Calibri" pitchFamily="34" charset="-122"/>
                <a:cs typeface="Calibri" pitchFamily="34" charset="-120"/>
              </a:rPr>
              <a:t>Show what you know from Topic C: words and grammar, listening, reading, writing and speaking — each section with a Core part for everyone and a Stretch part to aim high.</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ea typeface="Calibri" pitchFamily="34" charset="-122"/>
                <a:cs typeface="Calibri" pitchFamily="34" charset="-120"/>
              </a:rPr>
              <a:t>LESSON</a:t>
            </a:r>
            <a:endParaRPr lang="en-US" sz="850" dirty="0"/>
          </a:p>
          <a:p>
            <a:pPr indent="0" marL="0">
              <a:buNone/>
            </a:pPr>
            <a:r>
              <a:rPr lang="en-US" sz="1200" b="1" dirty="0">
                <a:solidFill>
                  <a:srgbClr val="FFFFFF"/>
                </a:solidFill>
                <a:latin typeface="Calibri" pitchFamily="34" charset="0"/>
                <a:ea typeface="Calibri" pitchFamily="34" charset="-122"/>
                <a:cs typeface="Calibri" pitchFamily="34" charset="-120"/>
              </a:rPr>
              <a:t>TC-L12 · Week 4, lesson 3</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ea typeface="Calibri" pitchFamily="34" charset="-122"/>
                <a:cs typeface="Calibri" pitchFamily="34" charset="-120"/>
              </a:rPr>
              <a:t>DURATION</a:t>
            </a:r>
            <a:endParaRPr lang="en-US" sz="850" dirty="0"/>
          </a:p>
          <a:p>
            <a:pPr indent="0" marL="0">
              <a:buNone/>
            </a:pPr>
            <a:r>
              <a:rPr lang="en-US" sz="1200" b="1" dirty="0">
                <a:solidFill>
                  <a:srgbClr val="FFFFFF"/>
                </a:solidFill>
                <a:latin typeface="Calibri" pitchFamily="34" charset="0"/>
                <a:ea typeface="Calibri" pitchFamily="34" charset="-122"/>
                <a:cs typeface="Calibri" pitchFamily="34" charset="-120"/>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ea typeface="Calibri" pitchFamily="34" charset="-122"/>
                <a:cs typeface="Calibri" pitchFamily="34" charset="-120"/>
              </a:rPr>
              <a:t>LEVEL</a:t>
            </a:r>
            <a:endParaRPr lang="en-US" sz="850" dirty="0"/>
          </a:p>
          <a:p>
            <a:pPr indent="0" marL="0">
              <a:buNone/>
            </a:pPr>
            <a:r>
              <a:rPr lang="en-US" sz="1200" b="1" dirty="0">
                <a:solidFill>
                  <a:srgbClr val="FFFFFF"/>
                </a:solidFill>
                <a:latin typeface="Calibri" pitchFamily="34" charset="0"/>
                <a:ea typeface="Calibri" pitchFamily="34" charset="-122"/>
                <a:cs typeface="Calibri" pitchFamily="34" charset="-120"/>
              </a:rPr>
              <a:t>Topic C · A1+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ea typeface="Calibri" pitchFamily="34" charset="-122"/>
                <a:cs typeface="Calibri" pitchFamily="34" charset="-120"/>
              </a:rPr>
              <a:t>ON THE WEBSITE</a:t>
            </a:r>
            <a:endParaRPr lang="en-US" sz="850" dirty="0"/>
          </a:p>
          <a:p>
            <a:pPr indent="0" marL="0">
              <a:buNone/>
            </a:pPr>
            <a:r>
              <a:rPr lang="en-US" sz="1200" b="1" dirty="0">
                <a:solidFill>
                  <a:srgbClr val="FFFFFF"/>
                </a:solidFill>
                <a:latin typeface="Calibri" pitchFamily="34" charset="0"/>
                <a:ea typeface="Calibri" pitchFamily="34" charset="-122"/>
                <a:cs typeface="Calibri" pitchFamily="34" charset="-120"/>
              </a:rPr>
              <a:t>Advanced Topics › C › Lesson 12</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TC-L12 · Topic C Assessment</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ea typeface="Calibri" pitchFamily="34" charset="-122"/>
                <a:cs typeface="Calibri" pitchFamily="34" charset="-120"/>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4 · Lesson 3 of 3</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ea typeface="Calibri" pitchFamily="34" charset="-122"/>
                <a:cs typeface="Calibri" pitchFamily="34" charset="-120"/>
              </a:rPr>
              <a:t>Camera on</a:t>
            </a:r>
            <a:endParaRPr lang="en-US" sz="1500" dirty="0"/>
          </a:p>
          <a:p>
            <a:pPr indent="0" marL="0">
              <a:buNone/>
            </a:pPr>
            <a:r>
              <a:rPr lang="en-US" sz="1150" dirty="0">
                <a:solidFill>
                  <a:srgbClr val="5A6472"/>
                </a:solidFill>
                <a:latin typeface="Calibri" pitchFamily="34" charset="0"/>
                <a:ea typeface="Calibri" pitchFamily="34" charset="-122"/>
                <a:cs typeface="Calibri" pitchFamily="34" charset="-120"/>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ea typeface="Calibri" pitchFamily="34" charset="-122"/>
                <a:cs typeface="Calibri" pitchFamily="34" charset="-120"/>
              </a:rPr>
              <a:t>Mic muted</a:t>
            </a:r>
            <a:endParaRPr lang="en-US" sz="1500" dirty="0"/>
          </a:p>
          <a:p>
            <a:pPr indent="0" marL="0">
              <a:buNone/>
            </a:pPr>
            <a:r>
              <a:rPr lang="en-US" sz="1150" dirty="0">
                <a:solidFill>
                  <a:srgbClr val="5A6472"/>
                </a:solidFill>
                <a:latin typeface="Calibri" pitchFamily="34" charset="0"/>
                <a:ea typeface="Calibri" pitchFamily="34" charset="-122"/>
                <a:cs typeface="Calibri" pitchFamily="34" charset="-120"/>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ea typeface="Calibri" pitchFamily="34" charset="-122"/>
                <a:cs typeface="Calibri" pitchFamily="34" charset="-120"/>
              </a:rPr>
              <a:t>Chat for learning</a:t>
            </a:r>
            <a:endParaRPr lang="en-US" sz="1500" dirty="0"/>
          </a:p>
          <a:p>
            <a:pPr indent="0" marL="0">
              <a:buNone/>
            </a:pPr>
            <a:r>
              <a:rPr lang="en-US" sz="1150" dirty="0">
                <a:solidFill>
                  <a:srgbClr val="5A6472"/>
                </a:solidFill>
                <a:latin typeface="Calibri" pitchFamily="34" charset="0"/>
                <a:ea typeface="Calibri" pitchFamily="34" charset="-122"/>
                <a:cs typeface="Calibri" pitchFamily="34" charset="-120"/>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ea typeface="Calibri" pitchFamily="34" charset="-122"/>
                <a:cs typeface="Calibri" pitchFamily="34" charset="-120"/>
              </a:rPr>
              <a:t>Raise your hand</a:t>
            </a:r>
            <a:endParaRPr lang="en-US" sz="1500" dirty="0"/>
          </a:p>
          <a:p>
            <a:pPr indent="0" marL="0">
              <a:buNone/>
            </a:pPr>
            <a:r>
              <a:rPr lang="en-US" sz="1150" dirty="0">
                <a:solidFill>
                  <a:srgbClr val="5A6472"/>
                </a:solidFill>
                <a:latin typeface="Calibri" pitchFamily="34" charset="0"/>
                <a:ea typeface="Calibri" pitchFamily="34" charset="-122"/>
                <a:cs typeface="Calibri" pitchFamily="34" charset="-120"/>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ea typeface="Calibri" pitchFamily="34" charset="-122"/>
                <a:cs typeface="Calibri" pitchFamily="34" charset="-120"/>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Think</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Rehearse</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Build</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Challenge</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Share</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Summarise</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ea typeface="Calibri" pitchFamily="34" charset="-122"/>
                <a:cs typeface="Calibri" pitchFamily="34" charset="-120"/>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 / 33</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TC-L12 · Topic C Assessment</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ea typeface="Calibri" pitchFamily="34" charset="-122"/>
                <a:cs typeface="Calibri" pitchFamily="34" charset="-120"/>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00" b="1" dirty="0">
                <a:solidFill>
                  <a:srgbClr val="1B3B6F"/>
                </a:solidFill>
                <a:latin typeface="Cambria" pitchFamily="34" charset="0"/>
                <a:ea typeface="Cambria" pitchFamily="34" charset="-122"/>
                <a:cs typeface="Cambria" pitchFamily="34" charset="-120"/>
              </a:rPr>
              <a:t>Our assessment today, step by step</a:t>
            </a:r>
            <a:endParaRPr lang="en-US" sz="26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4 · Lesson 3 of 3</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5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Warm-up quiz,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34" charset="0"/>
                <a:ea typeface="Amiri" pitchFamily="34" charset="-122"/>
                <a:cs typeface="Amiri" pitchFamily="34" charset="-120"/>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5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How the assessment works; picture match.</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كَيْفَ؟</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10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Section A: words and grammar.</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34" charset="0"/>
                <a:ea typeface="Amiri" pitchFamily="34" charset="-122"/>
                <a:cs typeface="Amiri" pitchFamily="34" charset="-120"/>
              </a:rPr>
              <a:t>القِسْمُ أ</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12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Sections B and C: listening and reading.</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34" charset="0"/>
                <a:ea typeface="Amiri" pitchFamily="34" charset="-122"/>
                <a:cs typeface="Amiri" pitchFamily="34" charset="-120"/>
              </a:rPr>
              <a:t>ب · ج</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18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Sections D and E: writing and speaking.</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34" charset="0"/>
                <a:ea typeface="Amiri" pitchFamily="34" charset="-122"/>
                <a:cs typeface="Amiri" pitchFamily="34" charset="-120"/>
              </a:rPr>
              <a:t>د · هـ</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7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Score profile and my target.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34" charset="0"/>
                <a:ea typeface="Amiri" pitchFamily="34" charset="-122"/>
                <a:cs typeface="Amiri" pitchFamily="34" charset="-120"/>
              </a:rPr>
              <a:t>نَتَائِجِي</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3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Get ready for Topic D.</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34" charset="0"/>
                <a:ea typeface="Amiri" pitchFamily="34" charset="-122"/>
                <a:cs typeface="Amiri" pitchFamily="34" charset="-120"/>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ea typeface="Calibri" pitchFamily="34" charset="-122"/>
                <a:cs typeface="Calibri" pitchFamily="34" charset="-120"/>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ea typeface="Calibri" pitchFamily="34" charset="-122"/>
                <a:cs typeface="Calibri" pitchFamily="34" charset="-120"/>
              </a:rPr>
              <a:t>Every section starts with Core questions that everyone can answer. Do the Core part first, then go as far as you can. Read each question twice.</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 / 33</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TC-L12 · Topic C Assessment</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ea typeface="Calibri" pitchFamily="34" charset="-122"/>
                <a:cs typeface="Calibri" pitchFamily="34" charset="-120"/>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ea typeface="Cambria" pitchFamily="34" charset="-122"/>
                <a:cs typeface="Cambria" pitchFamily="34" charset="-120"/>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4 · Lesson 3 of 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a:t>
            </a:r>
            <a:pPr algn="l" indent="0" marL="0">
              <a:buNone/>
            </a:pPr>
            <a:r>
              <a:rPr lang="ar-SA" altLang="en-US" sz="1650" b="1" dirty="0">
                <a:solidFill>
                  <a:srgbClr val="1B3B6F"/>
                </a:solidFill>
                <a:latin typeface="Amiri" pitchFamily="34" charset="0"/>
                <a:ea typeface="Amiri" pitchFamily="34" charset="-122"/>
                <a:cs typeface="Amiri" pitchFamily="34" charset="-120"/>
              </a:rPr>
              <a:t>أُسْتَاذٌ</a:t>
            </a:r>
            <a:pPr algn="l" indent="0" marL="0">
              <a:buNone/>
            </a:pPr>
            <a:r>
              <a:rPr lang="en-US" sz="1250" b="1" dirty="0">
                <a:solidFill>
                  <a:srgbClr val="1B3B6F"/>
                </a:solidFill>
                <a:latin typeface="Calibri" pitchFamily="34" charset="0"/>
                <a:ea typeface="Calibri" pitchFamily="34" charset="-122"/>
                <a:cs typeface="Calibri" pitchFamily="34" charset="-120"/>
              </a:rPr>
              <a:t> mean?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student</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teacher</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school</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word means “pollution”?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التَّلَوُّثُ</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الطَّقْسُ</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الشَّمَالُ</a:t>
            </a:r>
            <a:endParaRPr lang="ar-SA" sz="20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a:t>
            </a:r>
            <a:pPr algn="l" indent="0" marL="0">
              <a:buNone/>
            </a:pPr>
            <a:r>
              <a:rPr lang="ar-SA" altLang="en-US" sz="1650" b="1" dirty="0">
                <a:solidFill>
                  <a:srgbClr val="1B3B6F"/>
                </a:solidFill>
                <a:latin typeface="Amiri" pitchFamily="34" charset="0"/>
                <a:ea typeface="Amiri" pitchFamily="34" charset="-122"/>
                <a:cs typeface="Amiri" pitchFamily="34" charset="-120"/>
              </a:rPr>
              <a:t>كَلِمَةُ مُرُورٍ</a:t>
            </a:r>
            <a:pPr algn="l" indent="0" marL="0">
              <a:buNone/>
            </a:pPr>
            <a:r>
              <a:rPr lang="en-US" sz="1250" b="1" dirty="0">
                <a:solidFill>
                  <a:srgbClr val="1B3B6F"/>
                </a:solidFill>
                <a:latin typeface="Calibri" pitchFamily="34" charset="0"/>
                <a:ea typeface="Calibri" pitchFamily="34" charset="-122"/>
                <a:cs typeface="Calibri" pitchFamily="34" charset="-120"/>
              </a:rPr>
              <a:t> mean?</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message</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website</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password</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word means “hospital”?</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مَكْتَبَةٌ</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مَقْهًى</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مُسْتَشْفًى</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linking word means “so, therefore”?</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لِذٰلِكَ</a:t>
            </a:r>
            <a:endParaRPr lang="ar-SA" sz="20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لِأَنَّ</a:t>
            </a:r>
            <a:endParaRPr lang="ar-SA" sz="20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بَيْنَمَا</a:t>
            </a:r>
            <a:endParaRPr lang="ar-SA" sz="20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ea typeface="Calibri" pitchFamily="34" charset="-122"/>
                <a:cs typeface="Calibri" pitchFamily="34" charset="-120"/>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ea typeface="Calibri" pitchFamily="34" charset="-122"/>
                <a:cs typeface="Calibri" pitchFamily="34" charset="-120"/>
              </a:rPr>
              <a:t>Work on your own in silence.</a:t>
            </a:r>
            <a:endParaRPr lang="en-US" sz="1350" dirty="0"/>
          </a:p>
          <a:p>
            <a:pPr algn="l" indent="0" marL="0">
              <a:buNone/>
            </a:pPr>
            <a:r>
              <a:rPr lang="en-US" sz="1350" dirty="0">
                <a:solidFill>
                  <a:srgbClr val="1F2A37"/>
                </a:solidFill>
                <a:latin typeface="Calibri" pitchFamily="34" charset="0"/>
                <a:ea typeface="Calibri" pitchFamily="34" charset="-122"/>
                <a:cs typeface="Calibri" pitchFamily="34" charset="-120"/>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ea typeface="Consolas" pitchFamily="34" charset="-122"/>
                <a:cs typeface="Consolas" pitchFamily="34" charset="-120"/>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ea typeface="Calibri" pitchFamily="34" charset="-122"/>
                <a:cs typeface="Calibri" pitchFamily="34" charset="-120"/>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4 / 33</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TC-L12 · Topic C Assessment</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ea typeface="Calibri" pitchFamily="34" charset="-122"/>
                <a:cs typeface="Calibri" pitchFamily="34" charset="-120"/>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4 · Lesson 3 of 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a:t>
            </a:r>
            <a:pPr algn="l" indent="0" marL="0">
              <a:buNone/>
            </a:pPr>
            <a:r>
              <a:rPr lang="ar-SA" altLang="en-US" sz="1650" b="1" dirty="0">
                <a:solidFill>
                  <a:srgbClr val="1B3B6F"/>
                </a:solidFill>
                <a:latin typeface="Amiri" pitchFamily="34" charset="0"/>
                <a:ea typeface="Amiri" pitchFamily="34" charset="-122"/>
                <a:cs typeface="Amiri" pitchFamily="34" charset="-120"/>
              </a:rPr>
              <a:t>أُسْتَاذٌ</a:t>
            </a:r>
            <a:pPr algn="l" indent="0" marL="0">
              <a:buNone/>
            </a:pPr>
            <a:r>
              <a:rPr lang="en-US" sz="1250" b="1" dirty="0">
                <a:solidFill>
                  <a:srgbClr val="1B3B6F"/>
                </a:solidFill>
                <a:latin typeface="Calibri" pitchFamily="34" charset="0"/>
                <a:ea typeface="Calibri" pitchFamily="34" charset="-122"/>
                <a:cs typeface="Calibri" pitchFamily="34" charset="-120"/>
              </a:rPr>
              <a:t> mean?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student</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teacher</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school</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Prepared at home? This is next topic’s word — a free point for curious students! (Otherwise: pass.)</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word means “pollution”?</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التَّلَوُّثُ</a:t>
            </a:r>
            <a:endParaRPr lang="ar-SA" sz="170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الطَّقْسُ</a:t>
            </a:r>
            <a:endParaRPr lang="ar-SA" sz="170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الشَّمَالُ</a:t>
            </a:r>
            <a:endParaRPr lang="ar-SA" sz="170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TC-L04 / prepared at home.</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a:t>
            </a:r>
            <a:pPr algn="l" indent="0" marL="0">
              <a:buNone/>
            </a:pPr>
            <a:r>
              <a:rPr lang="ar-SA" altLang="en-US" sz="1650" b="1" dirty="0">
                <a:solidFill>
                  <a:srgbClr val="1B3B6F"/>
                </a:solidFill>
                <a:latin typeface="Amiri" pitchFamily="34" charset="0"/>
                <a:ea typeface="Amiri" pitchFamily="34" charset="-122"/>
                <a:cs typeface="Amiri" pitchFamily="34" charset="-120"/>
              </a:rPr>
              <a:t>كَلِمَةُ مُرُورٍ</a:t>
            </a:r>
            <a:pPr algn="l" indent="0" marL="0">
              <a:buNone/>
            </a:pPr>
            <a:r>
              <a:rPr lang="en-US" sz="1250" b="1" dirty="0">
                <a:solidFill>
                  <a:srgbClr val="1B3B6F"/>
                </a:solidFill>
                <a:latin typeface="Calibri" pitchFamily="34" charset="0"/>
                <a:ea typeface="Calibri" pitchFamily="34" charset="-122"/>
                <a:cs typeface="Calibri" pitchFamily="34" charset="-120"/>
              </a:rPr>
              <a:t> mean?</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message</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website</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password</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TC-L06 / prepared at home.</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word means “hospital”?</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مَكْتَبَةٌ</a:t>
            </a:r>
            <a:endParaRPr lang="ar-SA" sz="170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مَقْهًى</a:t>
            </a:r>
            <a:endParaRPr lang="ar-SA" sz="170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مُسْتَشْفًى</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TC-L08 / prepared at home.</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linking word means “so, therefore”?</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لِذٰلِكَ</a:t>
            </a:r>
            <a:endParaRPr lang="ar-SA" sz="170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لِأَنَّ</a:t>
            </a:r>
            <a:endParaRPr lang="ar-SA" sz="170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بَيْنَمَا</a:t>
            </a:r>
            <a:endParaRPr lang="ar-SA" sz="17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TC-L11.</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ea typeface="Calibri" pitchFamily="34" charset="-122"/>
                <a:cs typeface="Calibri" pitchFamily="34" charset="-120"/>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ea typeface="Calibri" pitchFamily="34" charset="-122"/>
                <a:cs typeface="Calibri" pitchFamily="34" charset="-120"/>
              </a:rPr>
              <a:t>Do the Core part of every section first. Then aim higher. Read every question twice.</a:t>
            </a:r>
            <a:endParaRPr lang="en-US" sz="13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34" charset="0"/>
                <a:ea typeface="Amiri" pitchFamily="34" charset="-122"/>
                <a:cs typeface="Amiri" pitchFamily="34" charset="-120"/>
              </a:rPr>
              <a:t>اِقْرَأْ · فَكِّرْ · أَجِبْ</a:t>
            </a:r>
            <a:endParaRPr lang="ar-SA" sz="240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5 / 33</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TC-L12 · Topic C Assessment</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ea typeface="Calibri" pitchFamily="34" charset="-122"/>
                <a:cs typeface="Calibri" pitchFamily="34" charset="-120"/>
              </a:rPr>
              <a:t>LESSON 3 OF 3 THIS WEEK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4 · Lesson 3 of 3</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ea typeface="Calibri" pitchFamily="34" charset="-122"/>
                <a:cs typeface="Calibri" pitchFamily="34" charset="-120"/>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34" charset="0"/>
                <a:ea typeface="Amiri" pitchFamily="34" charset="-122"/>
                <a:cs typeface="Amiri" pitchFamily="34" charset="-120"/>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ea typeface="Calibri" pitchFamily="34" charset="-122"/>
                <a:cs typeface="Calibri" pitchFamily="34" charset="-120"/>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Understand and use the full Topic C vocabulary.</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ea typeface="Calibri" pitchFamily="34" charset="-122"/>
                <a:cs typeface="Calibri" pitchFamily="34" charset="-120"/>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Apply the Topic C grammar accurately.</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ea typeface="Calibri" pitchFamily="34" charset="-122"/>
                <a:cs typeface="Calibri" pitchFamily="34" charset="-120"/>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Extract exact information from listening and reading texts.</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ea typeface="Calibri" pitchFamily="34" charset="-122"/>
                <a:cs typeface="Calibri" pitchFamily="34" charset="-120"/>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Produce an organised spoken and written response.</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ea typeface="Calibri" pitchFamily="34" charset="-122"/>
                <a:cs typeface="Calibri" pitchFamily="34" charset="-120"/>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ea typeface="Calibri" pitchFamily="34" charset="-122"/>
                <a:cs typeface="Calibri" pitchFamily="34" charset="-120"/>
              </a:rPr>
              <a:t>☐  I can answer the Core questions in every section.</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ea typeface="Calibri" pitchFamily="34" charset="-122"/>
                <a:cs typeface="Calibri" pitchFamily="34" charset="-120"/>
              </a:rPr>
              <a:t>☐  I can write 5 correct sentences about my town or a trip.</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ea typeface="Calibri" pitchFamily="34" charset="-122"/>
                <a:cs typeface="Calibri" pitchFamily="34" charset="-120"/>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ea typeface="Calibri" pitchFamily="34" charset="-122"/>
                <a:cs typeface="Calibri" pitchFamily="34" charset="-120"/>
              </a:rPr>
              <a:t>☐  I can use three tenses and linking words in writing.</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ea typeface="Calibri" pitchFamily="34" charset="-122"/>
                <a:cs typeface="Calibri" pitchFamily="34" charset="-120"/>
              </a:rPr>
              <a:t>☐  I can answer some website (B1) questions.</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ea typeface="Calibri" pitchFamily="34" charset="-122"/>
                <a:cs typeface="Calibri" pitchFamily="34" charset="-120"/>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ea typeface="Calibri" pitchFamily="34" charset="-122"/>
                <a:cs typeface="Calibri" pitchFamily="34" charset="-120"/>
              </a:rPr>
              <a:t>☐  I can answer the website listening and reading questions.</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ea typeface="Calibri" pitchFamily="34" charset="-122"/>
                <a:cs typeface="Calibri" pitchFamily="34" charset="-120"/>
              </a:rPr>
              <a:t>☐  I can write the 130–140-word article.</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6 / 33</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TC-L12 · Topic C Assessment</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HOW THE ASSESSMENT WORKS · 50 MARKS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Five sections, two levels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أَقْسَامُ التَّقْيِيمِ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4 · Lesson 3 of 3</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793224" y="1810512"/>
            <a:ext cx="18653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Section</a:t>
            </a:r>
            <a:endParaRPr lang="en-US" sz="1100" dirty="0"/>
          </a:p>
        </p:txBody>
      </p:sp>
      <p:sp>
        <p:nvSpPr>
          <p:cNvPr id="17" name="Text 14"/>
          <p:cNvSpPr txBox="1"/>
          <p:nvPr/>
        </p:nvSpPr>
        <p:spPr>
          <a:xfrm>
            <a:off x="7872984" y="1810512"/>
            <a:ext cx="17739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Skill</a:t>
            </a:r>
            <a:endParaRPr lang="en-US" sz="1100" dirty="0"/>
          </a:p>
        </p:txBody>
      </p:sp>
      <p:sp>
        <p:nvSpPr>
          <p:cNvPr id="18" name="Text 15"/>
          <p:cNvSpPr txBox="1"/>
          <p:nvPr/>
        </p:nvSpPr>
        <p:spPr>
          <a:xfrm>
            <a:off x="4855464" y="1810512"/>
            <a:ext cx="28712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Core part (everyone)</a:t>
            </a:r>
            <a:endParaRPr lang="en-US" sz="1100" dirty="0"/>
          </a:p>
        </p:txBody>
      </p:sp>
      <p:sp>
        <p:nvSpPr>
          <p:cNvPr id="19" name="Text 16"/>
          <p:cNvSpPr txBox="1"/>
          <p:nvPr/>
        </p:nvSpPr>
        <p:spPr>
          <a:xfrm>
            <a:off x="1719072" y="1810512"/>
            <a:ext cx="29900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Develop / Stretch part</a:t>
            </a:r>
            <a:endParaRPr lang="en-US" sz="1100" dirty="0"/>
          </a:p>
        </p:txBody>
      </p:sp>
      <p:sp>
        <p:nvSpPr>
          <p:cNvPr id="20" name="Text 17"/>
          <p:cNvSpPr txBox="1"/>
          <p:nvPr/>
        </p:nvSpPr>
        <p:spPr>
          <a:xfrm>
            <a:off x="530352" y="1810512"/>
            <a:ext cx="10424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Marks</a:t>
            </a:r>
            <a:endParaRPr lang="en-US" sz="1100" dirty="0"/>
          </a:p>
        </p:txBody>
      </p:sp>
      <p:sp>
        <p:nvSpPr>
          <p:cNvPr id="21" name="Shape 18"/>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2" name="Text 19"/>
          <p:cNvSpPr txBox="1"/>
          <p:nvPr/>
        </p:nvSpPr>
        <p:spPr>
          <a:xfrm>
            <a:off x="9829800" y="2267712"/>
            <a:ext cx="18288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A</a:t>
            </a:r>
            <a:endParaRPr lang="en-US" sz="1100" dirty="0"/>
          </a:p>
        </p:txBody>
      </p:sp>
      <p:sp>
        <p:nvSpPr>
          <p:cNvPr id="23" name="Text 20"/>
          <p:cNvSpPr txBox="1"/>
          <p:nvPr/>
        </p:nvSpPr>
        <p:spPr>
          <a:xfrm>
            <a:off x="7909560" y="2267712"/>
            <a:ext cx="17373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Words and grammar</a:t>
            </a:r>
            <a:endParaRPr lang="en-US" sz="1100" dirty="0"/>
          </a:p>
        </p:txBody>
      </p:sp>
      <p:sp>
        <p:nvSpPr>
          <p:cNvPr id="24" name="Text 21"/>
          <p:cNvSpPr txBox="1"/>
          <p:nvPr/>
        </p:nvSpPr>
        <p:spPr>
          <a:xfrm>
            <a:off x="4892040" y="2267712"/>
            <a:ext cx="28346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5 questions from Topic C</a:t>
            </a:r>
            <a:endParaRPr lang="en-US" sz="1100" dirty="0"/>
          </a:p>
        </p:txBody>
      </p:sp>
      <p:sp>
        <p:nvSpPr>
          <p:cNvPr id="25" name="Text 22"/>
          <p:cNvSpPr txBox="1"/>
          <p:nvPr/>
        </p:nvSpPr>
        <p:spPr>
          <a:xfrm>
            <a:off x="1755648" y="2267712"/>
            <a:ext cx="295351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5 website grammar questions</a:t>
            </a:r>
            <a:endParaRPr lang="en-US" sz="1100" dirty="0"/>
          </a:p>
        </p:txBody>
      </p:sp>
      <p:sp>
        <p:nvSpPr>
          <p:cNvPr id="26" name="Text 23"/>
          <p:cNvSpPr txBox="1"/>
          <p:nvPr/>
        </p:nvSpPr>
        <p:spPr>
          <a:xfrm>
            <a:off x="566928" y="2267712"/>
            <a:ext cx="10058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10</a:t>
            </a:r>
            <a:endParaRPr lang="en-US" sz="1100" dirty="0"/>
          </a:p>
        </p:txBody>
      </p:sp>
      <p:sp>
        <p:nvSpPr>
          <p:cNvPr id="27" name="Shape 24"/>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29" name="Shape 26"/>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30" name="Text 27"/>
          <p:cNvSpPr txBox="1"/>
          <p:nvPr/>
        </p:nvSpPr>
        <p:spPr>
          <a:xfrm>
            <a:off x="9829800" y="3054096"/>
            <a:ext cx="18288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B</a:t>
            </a:r>
            <a:endParaRPr lang="en-US" sz="1100" dirty="0"/>
          </a:p>
        </p:txBody>
      </p:sp>
      <p:sp>
        <p:nvSpPr>
          <p:cNvPr id="31" name="Text 28"/>
          <p:cNvSpPr txBox="1"/>
          <p:nvPr/>
        </p:nvSpPr>
        <p:spPr>
          <a:xfrm>
            <a:off x="7909560" y="3054096"/>
            <a:ext cx="17373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Listening</a:t>
            </a:r>
            <a:endParaRPr lang="en-US" sz="1100" dirty="0"/>
          </a:p>
        </p:txBody>
      </p:sp>
      <p:sp>
        <p:nvSpPr>
          <p:cNvPr id="32" name="Text 29"/>
          <p:cNvSpPr txBox="1"/>
          <p:nvPr/>
        </p:nvSpPr>
        <p:spPr>
          <a:xfrm>
            <a:off x="4892040" y="3054096"/>
            <a:ext cx="28346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Layla’s message (5 questions)</a:t>
            </a:r>
            <a:endParaRPr lang="en-US" sz="1100" dirty="0"/>
          </a:p>
        </p:txBody>
      </p:sp>
      <p:sp>
        <p:nvSpPr>
          <p:cNvPr id="33" name="Text 30"/>
          <p:cNvSpPr txBox="1"/>
          <p:nvPr/>
        </p:nvSpPr>
        <p:spPr>
          <a:xfrm>
            <a:off x="1755648" y="3054096"/>
            <a:ext cx="295351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Website texts 2 and 3 (5 questions)</a:t>
            </a:r>
            <a:endParaRPr lang="en-US" sz="1100" dirty="0"/>
          </a:p>
        </p:txBody>
      </p:sp>
      <p:sp>
        <p:nvSpPr>
          <p:cNvPr id="34" name="Text 31"/>
          <p:cNvSpPr txBox="1"/>
          <p:nvPr/>
        </p:nvSpPr>
        <p:spPr>
          <a:xfrm>
            <a:off x="566928" y="3054096"/>
            <a:ext cx="10058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10</a:t>
            </a:r>
            <a:endParaRPr lang="en-US" sz="1100" dirty="0"/>
          </a:p>
        </p:txBody>
      </p:sp>
      <p:sp>
        <p:nvSpPr>
          <p:cNvPr id="35" name="Shape 32"/>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37" name="Shape 34"/>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8" name="Text 35"/>
          <p:cNvSpPr txBox="1"/>
          <p:nvPr/>
        </p:nvSpPr>
        <p:spPr>
          <a:xfrm>
            <a:off x="9829800" y="3840480"/>
            <a:ext cx="18288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C</a:t>
            </a:r>
            <a:endParaRPr lang="en-US" sz="1100" dirty="0"/>
          </a:p>
        </p:txBody>
      </p:sp>
      <p:sp>
        <p:nvSpPr>
          <p:cNvPr id="39" name="Text 36"/>
          <p:cNvSpPr txBox="1"/>
          <p:nvPr/>
        </p:nvSpPr>
        <p:spPr>
          <a:xfrm>
            <a:off x="7909560" y="3840480"/>
            <a:ext cx="17373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Reading</a:t>
            </a:r>
            <a:endParaRPr lang="en-US" sz="1100" dirty="0"/>
          </a:p>
        </p:txBody>
      </p:sp>
      <p:sp>
        <p:nvSpPr>
          <p:cNvPr id="40" name="Text 37"/>
          <p:cNvSpPr txBox="1"/>
          <p:nvPr/>
        </p:nvSpPr>
        <p:spPr>
          <a:xfrm>
            <a:off x="4892040" y="3840480"/>
            <a:ext cx="28346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Yusuf’s email (5 questions)</a:t>
            </a:r>
            <a:endParaRPr lang="en-US" sz="1100" dirty="0"/>
          </a:p>
        </p:txBody>
      </p:sp>
      <p:sp>
        <p:nvSpPr>
          <p:cNvPr id="41" name="Text 38"/>
          <p:cNvSpPr txBox="1"/>
          <p:nvPr/>
        </p:nvSpPr>
        <p:spPr>
          <a:xfrm>
            <a:off x="1755648" y="3840480"/>
            <a:ext cx="295351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Website article (5 questions)</a:t>
            </a:r>
            <a:endParaRPr lang="en-US" sz="1100" dirty="0"/>
          </a:p>
        </p:txBody>
      </p:sp>
      <p:sp>
        <p:nvSpPr>
          <p:cNvPr id="42" name="Text 39"/>
          <p:cNvSpPr txBox="1"/>
          <p:nvPr/>
        </p:nvSpPr>
        <p:spPr>
          <a:xfrm>
            <a:off x="566928" y="3840480"/>
            <a:ext cx="10058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10</a:t>
            </a:r>
            <a:endParaRPr lang="en-US" sz="1100" dirty="0"/>
          </a:p>
        </p:txBody>
      </p:sp>
      <p:sp>
        <p:nvSpPr>
          <p:cNvPr id="43" name="Shape 40"/>
          <p:cNvSpPr/>
          <p:nvPr/>
        </p:nvSpPr>
        <p:spPr>
          <a:xfrm>
            <a:off x="11091672" y="3886200"/>
            <a:ext cx="548640" cy="182880"/>
          </a:xfrm>
          <a:prstGeom prst="roundRect">
            <a:avLst>
              <a:gd name="adj" fmla="val 50000"/>
            </a:avLst>
          </a:prstGeom>
          <a:solidFill>
            <a:srgbClr val="2E8B57"/>
          </a:solidFill>
          <a:ln w="12700">
            <a:solidFill>
              <a:srgbClr val="2E8B57"/>
            </a:solidFill>
            <a:prstDash val="solid"/>
          </a:ln>
        </p:spPr>
      </p:sp>
      <p:sp>
        <p:nvSpPr>
          <p:cNvPr id="44" name="Text 41"/>
          <p:cNvSpPr txBox="1"/>
          <p:nvPr/>
        </p:nvSpPr>
        <p:spPr>
          <a:xfrm>
            <a:off x="11091672" y="388620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45" name="Shape 42"/>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46" name="Text 43"/>
          <p:cNvSpPr txBox="1"/>
          <p:nvPr/>
        </p:nvSpPr>
        <p:spPr>
          <a:xfrm>
            <a:off x="9829800" y="4626864"/>
            <a:ext cx="18288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D</a:t>
            </a:r>
            <a:endParaRPr lang="en-US" sz="1100" dirty="0"/>
          </a:p>
        </p:txBody>
      </p:sp>
      <p:sp>
        <p:nvSpPr>
          <p:cNvPr id="47" name="Text 44"/>
          <p:cNvSpPr txBox="1"/>
          <p:nvPr/>
        </p:nvSpPr>
        <p:spPr>
          <a:xfrm>
            <a:off x="7909560" y="4626864"/>
            <a:ext cx="17373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Writing</a:t>
            </a:r>
            <a:endParaRPr lang="en-US" sz="1100" dirty="0"/>
          </a:p>
        </p:txBody>
      </p:sp>
      <p:sp>
        <p:nvSpPr>
          <p:cNvPr id="48" name="Text 45"/>
          <p:cNvSpPr txBox="1"/>
          <p:nvPr/>
        </p:nvSpPr>
        <p:spPr>
          <a:xfrm>
            <a:off x="4892040" y="4626864"/>
            <a:ext cx="28346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5 sentences with the word bank</a:t>
            </a:r>
            <a:endParaRPr lang="en-US" sz="1100" dirty="0"/>
          </a:p>
        </p:txBody>
      </p:sp>
      <p:sp>
        <p:nvSpPr>
          <p:cNvPr id="49" name="Text 46"/>
          <p:cNvSpPr txBox="1"/>
          <p:nvPr/>
        </p:nvSpPr>
        <p:spPr>
          <a:xfrm>
            <a:off x="1755648" y="4626864"/>
            <a:ext cx="295351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80–100 words · or the 130–140-word article</a:t>
            </a:r>
            <a:endParaRPr lang="en-US" sz="1100" dirty="0"/>
          </a:p>
        </p:txBody>
      </p:sp>
      <p:sp>
        <p:nvSpPr>
          <p:cNvPr id="50" name="Text 47"/>
          <p:cNvSpPr txBox="1"/>
          <p:nvPr/>
        </p:nvSpPr>
        <p:spPr>
          <a:xfrm>
            <a:off x="566928" y="4626864"/>
            <a:ext cx="10058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10</a:t>
            </a:r>
            <a:endParaRPr lang="en-US" sz="1100" dirty="0"/>
          </a:p>
        </p:txBody>
      </p:sp>
      <p:sp>
        <p:nvSpPr>
          <p:cNvPr id="51" name="Shape 48"/>
          <p:cNvSpPr/>
          <p:nvPr/>
        </p:nvSpPr>
        <p:spPr>
          <a:xfrm>
            <a:off x="11091672" y="4672584"/>
            <a:ext cx="548640" cy="182880"/>
          </a:xfrm>
          <a:prstGeom prst="roundRect">
            <a:avLst>
              <a:gd name="adj" fmla="val 50000"/>
            </a:avLst>
          </a:prstGeom>
          <a:solidFill>
            <a:srgbClr val="2E8B57"/>
          </a:solidFill>
          <a:ln w="12700">
            <a:solidFill>
              <a:srgbClr val="2E8B57"/>
            </a:solidFill>
            <a:prstDash val="solid"/>
          </a:ln>
        </p:spPr>
      </p:sp>
      <p:sp>
        <p:nvSpPr>
          <p:cNvPr id="52" name="Text 49"/>
          <p:cNvSpPr txBox="1"/>
          <p:nvPr/>
        </p:nvSpPr>
        <p:spPr>
          <a:xfrm>
            <a:off x="11091672" y="467258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53" name="Shape 50"/>
          <p:cNvSpPr/>
          <p:nvPr/>
        </p:nvSpPr>
        <p:spPr>
          <a:xfrm>
            <a:off x="457200" y="5413248"/>
            <a:ext cx="11274552" cy="731520"/>
          </a:xfrm>
          <a:prstGeom prst="roundRect">
            <a:avLst>
              <a:gd name="adj" fmla="val 6250"/>
            </a:avLst>
          </a:prstGeom>
          <a:solidFill>
            <a:srgbClr val="FFFFFF"/>
          </a:solidFill>
          <a:ln w="9525">
            <a:solidFill>
              <a:srgbClr val="D8D0BF"/>
            </a:solidFill>
            <a:prstDash val="solid"/>
          </a:ln>
        </p:spPr>
      </p:sp>
      <p:sp>
        <p:nvSpPr>
          <p:cNvPr id="54" name="Text 51"/>
          <p:cNvSpPr txBox="1"/>
          <p:nvPr/>
        </p:nvSpPr>
        <p:spPr>
          <a:xfrm>
            <a:off x="9829800" y="5413248"/>
            <a:ext cx="18288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E</a:t>
            </a:r>
            <a:endParaRPr lang="en-US" sz="1100" dirty="0"/>
          </a:p>
        </p:txBody>
      </p:sp>
      <p:sp>
        <p:nvSpPr>
          <p:cNvPr id="55" name="Text 52"/>
          <p:cNvSpPr txBox="1"/>
          <p:nvPr/>
        </p:nvSpPr>
        <p:spPr>
          <a:xfrm>
            <a:off x="7909560" y="5413248"/>
            <a:ext cx="17373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Speaking</a:t>
            </a:r>
            <a:endParaRPr lang="en-US" sz="1100" dirty="0"/>
          </a:p>
        </p:txBody>
      </p:sp>
      <p:sp>
        <p:nvSpPr>
          <p:cNvPr id="56" name="Text 53"/>
          <p:cNvSpPr txBox="1"/>
          <p:nvPr/>
        </p:nvSpPr>
        <p:spPr>
          <a:xfrm>
            <a:off x="4892040" y="5413248"/>
            <a:ext cx="28346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Answer 3 questions about your town</a:t>
            </a:r>
            <a:endParaRPr lang="en-US" sz="1100" dirty="0"/>
          </a:p>
        </p:txBody>
      </p:sp>
      <p:sp>
        <p:nvSpPr>
          <p:cNvPr id="57" name="Text 54"/>
          <p:cNvSpPr txBox="1"/>
          <p:nvPr/>
        </p:nvSpPr>
        <p:spPr>
          <a:xfrm>
            <a:off x="1755648" y="5413248"/>
            <a:ext cx="295351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Discuss a problem and a solution</a:t>
            </a:r>
            <a:endParaRPr lang="en-US" sz="1100" dirty="0"/>
          </a:p>
        </p:txBody>
      </p:sp>
      <p:sp>
        <p:nvSpPr>
          <p:cNvPr id="58" name="Text 55"/>
          <p:cNvSpPr txBox="1"/>
          <p:nvPr/>
        </p:nvSpPr>
        <p:spPr>
          <a:xfrm>
            <a:off x="566928" y="5413248"/>
            <a:ext cx="10058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10</a:t>
            </a:r>
            <a:endParaRPr lang="en-US" sz="1100" dirty="0"/>
          </a:p>
        </p:txBody>
      </p:sp>
      <p:sp>
        <p:nvSpPr>
          <p:cNvPr id="59" name="Shape 56"/>
          <p:cNvSpPr/>
          <p:nvPr/>
        </p:nvSpPr>
        <p:spPr>
          <a:xfrm>
            <a:off x="11091672" y="5458968"/>
            <a:ext cx="548640" cy="182880"/>
          </a:xfrm>
          <a:prstGeom prst="roundRect">
            <a:avLst>
              <a:gd name="adj" fmla="val 50000"/>
            </a:avLst>
          </a:prstGeom>
          <a:solidFill>
            <a:srgbClr val="2E8B57"/>
          </a:solidFill>
          <a:ln w="12700">
            <a:solidFill>
              <a:srgbClr val="2E8B57"/>
            </a:solidFill>
            <a:prstDash val="solid"/>
          </a:ln>
        </p:spPr>
      </p:sp>
      <p:sp>
        <p:nvSpPr>
          <p:cNvPr id="60" name="Text 57"/>
          <p:cNvSpPr txBox="1"/>
          <p:nvPr/>
        </p:nvSpPr>
        <p:spPr>
          <a:xfrm>
            <a:off x="11091672" y="545896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61" name="Text 5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7 / 33</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TC-L12 · Topic C Assessment</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ea typeface="Calibri" pitchFamily="34" charset="-122"/>
                <a:cs typeface="Calibri" pitchFamily="34" charset="-120"/>
              </a:rPr>
              <a:t>WE DO · PICTURE MATCH · WEBSITE GAME “TOPIC C MIXED CHALLENGE”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00" b="1" dirty="0">
                <a:solidFill>
                  <a:srgbClr val="1B3B6F"/>
                </a:solidFill>
                <a:latin typeface="Cambria" pitchFamily="34" charset="0"/>
                <a:ea typeface="Cambria" pitchFamily="34" charset="-122"/>
                <a:cs typeface="Cambria" pitchFamily="34" charset="-120"/>
              </a:rPr>
              <a:t>Match the picture to the sentence</a:t>
            </a:r>
            <a:endParaRPr lang="en-US" sz="27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تَحَدِّي الوَحْدَةِ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4 · Lesson 3 of 3</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8" name="Shape 15"/>
          <p:cNvSpPr/>
          <p:nvPr/>
        </p:nvSpPr>
        <p:spPr>
          <a:xfrm>
            <a:off x="881176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0" name="Shape 16"/>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1"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2" name="Text 17"/>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ea typeface="Calibri" pitchFamily="34" charset="-122"/>
                <a:cs typeface="Calibri" pitchFamily="34" charset="-120"/>
              </a:rPr>
              <a:t>places + climate</a:t>
            </a:r>
            <a:endParaRPr lang="en-US" sz="1100" dirty="0"/>
          </a:p>
        </p:txBody>
      </p:sp>
      <p:sp>
        <p:nvSpPr>
          <p:cNvPr id="23" name="Shape 18"/>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4404360" y="1938528"/>
            <a:ext cx="365760" cy="365760"/>
          </a:xfrm>
          <a:prstGeom prst="ellipse">
            <a:avLst/>
          </a:prstGeom>
          <a:solidFill>
            <a:srgbClr val="1B3B6F"/>
          </a:solidFill>
          <a:ln w="12700">
            <a:solidFill>
              <a:srgbClr val="1B3B6F"/>
            </a:solidFill>
            <a:prstDash val="solid"/>
          </a:ln>
        </p:spPr>
      </p:sp>
      <p:sp>
        <p:nvSpPr>
          <p:cNvPr id="25" name="Text 20"/>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26" name="Shape 21"/>
          <p:cNvSpPr/>
          <p:nvPr/>
        </p:nvSpPr>
        <p:spPr>
          <a:xfrm>
            <a:off x="4992624" y="2066544"/>
            <a:ext cx="1014984" cy="1014984"/>
          </a:xfrm>
          <a:prstGeom prst="ellipse">
            <a:avLst/>
          </a:prstGeom>
          <a:solidFill>
            <a:srgbClr val="F4F1EA"/>
          </a:solidFill>
          <a:ln w="12700">
            <a:solidFill>
              <a:srgbClr val="F4F1EA"/>
            </a:solidFill>
            <a:prstDash val="solid"/>
          </a:ln>
        </p:spPr>
      </p:sp>
      <p:pic>
        <p:nvPicPr>
          <p:cNvPr id="27" name="Image 2" descr="preencoded.png">    </p:cNvPr>
          <p:cNvPicPr>
            <a:picLocks noChangeAspect="1"/>
          </p:cNvPicPr>
          <p:nvPr/>
        </p:nvPicPr>
        <p:blipFill>
          <a:blip r:embed="rId3"/>
          <a:stretch>
            <a:fillRect/>
          </a:stretch>
        </p:blipFill>
        <p:spPr>
          <a:xfrm>
            <a:off x="5175504" y="2249424"/>
            <a:ext cx="649224" cy="649224"/>
          </a:xfrm>
          <a:prstGeom prst="rect">
            <a:avLst/>
          </a:prstGeom>
        </p:spPr>
      </p:pic>
      <p:sp>
        <p:nvSpPr>
          <p:cNvPr id="28" name="Shape 22"/>
          <p:cNvSpPr/>
          <p:nvPr/>
        </p:nvSpPr>
        <p:spPr>
          <a:xfrm>
            <a:off x="6181344" y="2066544"/>
            <a:ext cx="1014984" cy="1014984"/>
          </a:xfrm>
          <a:prstGeom prst="ellipse">
            <a:avLst/>
          </a:prstGeom>
          <a:solidFill>
            <a:srgbClr val="F4F1EA"/>
          </a:solidFill>
          <a:ln w="12700">
            <a:solidFill>
              <a:srgbClr val="F4F1EA"/>
            </a:solidFill>
            <a:prstDash val="solid"/>
          </a:ln>
        </p:spPr>
      </p:sp>
      <p:pic>
        <p:nvPicPr>
          <p:cNvPr id="29" name="Image 3" descr="preencoded.png">    </p:cNvPr>
          <p:cNvPicPr>
            <a:picLocks noChangeAspect="1"/>
          </p:cNvPicPr>
          <p:nvPr/>
        </p:nvPicPr>
        <p:blipFill>
          <a:blip r:embed="rId4"/>
          <a:stretch>
            <a:fillRect/>
          </a:stretch>
        </p:blipFill>
        <p:spPr>
          <a:xfrm>
            <a:off x="6364224" y="2249424"/>
            <a:ext cx="649224" cy="649224"/>
          </a:xfrm>
          <a:prstGeom prst="rect">
            <a:avLst/>
          </a:prstGeom>
        </p:spPr>
      </p:pic>
      <p:sp>
        <p:nvSpPr>
          <p:cNvPr id="30" name="Text 23"/>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ea typeface="Calibri" pitchFamily="34" charset="-122"/>
                <a:cs typeface="Calibri" pitchFamily="34" charset="-120"/>
              </a:rPr>
              <a:t>problem + solution</a:t>
            </a:r>
            <a:endParaRPr lang="en-US" sz="1100" dirty="0"/>
          </a:p>
        </p:txBody>
      </p:sp>
      <p:sp>
        <p:nvSpPr>
          <p:cNvPr id="31" name="Shape 24"/>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5"/>
          <p:cNvSpPr/>
          <p:nvPr/>
        </p:nvSpPr>
        <p:spPr>
          <a:xfrm>
            <a:off x="585216" y="1938528"/>
            <a:ext cx="365760" cy="365760"/>
          </a:xfrm>
          <a:prstGeom prst="ellipse">
            <a:avLst/>
          </a:prstGeom>
          <a:solidFill>
            <a:srgbClr val="1B3B6F"/>
          </a:solidFill>
          <a:ln w="12700">
            <a:solidFill>
              <a:srgbClr val="1B3B6F"/>
            </a:solidFill>
            <a:prstDash val="solid"/>
          </a:ln>
        </p:spPr>
      </p:sp>
      <p:sp>
        <p:nvSpPr>
          <p:cNvPr id="33" name="Text 26"/>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34" name="Shape 27"/>
          <p:cNvSpPr/>
          <p:nvPr/>
        </p:nvSpPr>
        <p:spPr>
          <a:xfrm>
            <a:off x="579120" y="2066544"/>
            <a:ext cx="1014984" cy="1014984"/>
          </a:xfrm>
          <a:prstGeom prst="ellipse">
            <a:avLst/>
          </a:prstGeom>
          <a:solidFill>
            <a:srgbClr val="F4F1EA"/>
          </a:solidFill>
          <a:ln w="12700">
            <a:solidFill>
              <a:srgbClr val="F4F1EA"/>
            </a:solidFill>
            <a:prstDash val="solid"/>
          </a:ln>
        </p:spPr>
      </p:sp>
      <p:pic>
        <p:nvPicPr>
          <p:cNvPr id="35" name="Image 4" descr="preencoded.png">    </p:cNvPr>
          <p:cNvPicPr>
            <a:picLocks noChangeAspect="1"/>
          </p:cNvPicPr>
          <p:nvPr/>
        </p:nvPicPr>
        <p:blipFill>
          <a:blip r:embed="rId5"/>
          <a:stretch>
            <a:fillRect/>
          </a:stretch>
        </p:blipFill>
        <p:spPr>
          <a:xfrm>
            <a:off x="762000" y="2249424"/>
            <a:ext cx="649224" cy="649224"/>
          </a:xfrm>
          <a:prstGeom prst="rect">
            <a:avLst/>
          </a:prstGeom>
        </p:spPr>
      </p:pic>
      <p:sp>
        <p:nvSpPr>
          <p:cNvPr id="36" name="Shape 28"/>
          <p:cNvSpPr/>
          <p:nvPr/>
        </p:nvSpPr>
        <p:spPr>
          <a:xfrm>
            <a:off x="1767840" y="2066544"/>
            <a:ext cx="1014984" cy="1014984"/>
          </a:xfrm>
          <a:prstGeom prst="ellipse">
            <a:avLst/>
          </a:prstGeom>
          <a:solidFill>
            <a:srgbClr val="F4F1EA"/>
          </a:solidFill>
          <a:ln w="12700">
            <a:solidFill>
              <a:srgbClr val="F4F1EA"/>
            </a:solidFill>
            <a:prstDash val="solid"/>
          </a:ln>
        </p:spPr>
      </p:sp>
      <p:pic>
        <p:nvPicPr>
          <p:cNvPr id="37" name="Image 5" descr="preencoded.png">    </p:cNvPr>
          <p:cNvPicPr>
            <a:picLocks noChangeAspect="1"/>
          </p:cNvPicPr>
          <p:nvPr/>
        </p:nvPicPr>
        <p:blipFill>
          <a:blip r:embed="rId6"/>
          <a:stretch>
            <a:fillRect/>
          </a:stretch>
        </p:blipFill>
        <p:spPr>
          <a:xfrm>
            <a:off x="1950720" y="2249424"/>
            <a:ext cx="649224" cy="649224"/>
          </a:xfrm>
          <a:prstGeom prst="rect">
            <a:avLst/>
          </a:prstGeom>
        </p:spPr>
      </p:pic>
      <p:sp>
        <p:nvSpPr>
          <p:cNvPr id="38" name="Shape 29"/>
          <p:cNvSpPr/>
          <p:nvPr/>
        </p:nvSpPr>
        <p:spPr>
          <a:xfrm>
            <a:off x="2956560" y="2066544"/>
            <a:ext cx="1014984" cy="1014984"/>
          </a:xfrm>
          <a:prstGeom prst="ellipse">
            <a:avLst/>
          </a:prstGeom>
          <a:solidFill>
            <a:srgbClr val="F4F1EA"/>
          </a:solidFill>
          <a:ln w="12700">
            <a:solidFill>
              <a:srgbClr val="F4F1EA"/>
            </a:solidFill>
            <a:prstDash val="solid"/>
          </a:ln>
        </p:spPr>
      </p:sp>
      <p:pic>
        <p:nvPicPr>
          <p:cNvPr id="39" name="Image 6" descr="preencoded.png">    </p:cNvPr>
          <p:cNvPicPr>
            <a:picLocks noChangeAspect="1"/>
          </p:cNvPicPr>
          <p:nvPr/>
        </p:nvPicPr>
        <p:blipFill>
          <a:blip r:embed="rId7"/>
          <a:stretch>
            <a:fillRect/>
          </a:stretch>
        </p:blipFill>
        <p:spPr>
          <a:xfrm>
            <a:off x="3139440" y="2249424"/>
            <a:ext cx="649224" cy="649224"/>
          </a:xfrm>
          <a:prstGeom prst="rect">
            <a:avLst/>
          </a:prstGeom>
        </p:spPr>
      </p:pic>
      <p:sp>
        <p:nvSpPr>
          <p:cNvPr id="40" name="Text 30"/>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ea typeface="Calibri" pitchFamily="34" charset="-122"/>
                <a:cs typeface="Calibri" pitchFamily="34" charset="-120"/>
              </a:rPr>
              <a:t>town + shopping + phone</a:t>
            </a:r>
            <a:endParaRPr lang="en-US" sz="1100" dirty="0"/>
          </a:p>
        </p:txBody>
      </p:sp>
      <p:sp>
        <p:nvSpPr>
          <p:cNvPr id="41" name="Shape 31"/>
          <p:cNvSpPr/>
          <p:nvPr/>
        </p:nvSpPr>
        <p:spPr>
          <a:xfrm>
            <a:off x="457200" y="3730752"/>
            <a:ext cx="11274552" cy="493776"/>
          </a:xfrm>
          <a:prstGeom prst="roundRect">
            <a:avLst>
              <a:gd name="adj" fmla="val 11111"/>
            </a:avLst>
          </a:prstGeom>
          <a:solidFill>
            <a:srgbClr val="EEF3FA"/>
          </a:solidFill>
          <a:ln w="9525">
            <a:solidFill>
              <a:srgbClr val="C9D6EA"/>
            </a:solidFill>
            <a:prstDash val="solid"/>
          </a:ln>
        </p:spPr>
      </p:sp>
      <p:sp>
        <p:nvSpPr>
          <p:cNvPr id="42" name="Shape 32"/>
          <p:cNvSpPr/>
          <p:nvPr/>
        </p:nvSpPr>
        <p:spPr>
          <a:xfrm>
            <a:off x="11247120" y="3831336"/>
            <a:ext cx="292608" cy="292608"/>
          </a:xfrm>
          <a:prstGeom prst="ellipse">
            <a:avLst/>
          </a:prstGeom>
          <a:solidFill>
            <a:srgbClr val="2F6FB0"/>
          </a:solidFill>
          <a:ln w="12700">
            <a:solidFill>
              <a:srgbClr val="2F6FB0"/>
            </a:solidFill>
            <a:prstDash val="solid"/>
          </a:ln>
        </p:spPr>
      </p:sp>
      <p:sp>
        <p:nvSpPr>
          <p:cNvPr id="43" name="Text 33"/>
          <p:cNvSpPr txBox="1"/>
          <p:nvPr/>
        </p:nvSpPr>
        <p:spPr>
          <a:xfrm>
            <a:off x="11247120" y="3831336"/>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a:t>
            </a:r>
            <a:endParaRPr lang="en-US" sz="1000" dirty="0"/>
          </a:p>
        </p:txBody>
      </p:sp>
      <p:sp>
        <p:nvSpPr>
          <p:cNvPr id="44" name="Text 34"/>
          <p:cNvSpPr txBox="1"/>
          <p:nvPr/>
        </p:nvSpPr>
        <p:spPr>
          <a:xfrm>
            <a:off x="731520" y="3730752"/>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يُمْكِنُنَا تَقْلِيلُ التَّلَوُّثِ بِإِعَادَةِ التَّدْوِيرِ وَاسْتِعْمَالِ طَاقَةٍ أَنْظَفَ.</a:t>
            </a:r>
            <a:endParaRPr lang="ar-SA" sz="2000" dirty="0"/>
          </a:p>
        </p:txBody>
      </p:sp>
      <p:sp>
        <p:nvSpPr>
          <p:cNvPr id="45" name="Shape 35"/>
          <p:cNvSpPr/>
          <p:nvPr/>
        </p:nvSpPr>
        <p:spPr>
          <a:xfrm>
            <a:off x="457200" y="4297680"/>
            <a:ext cx="11274552" cy="493776"/>
          </a:xfrm>
          <a:prstGeom prst="roundRect">
            <a:avLst>
              <a:gd name="adj" fmla="val 11111"/>
            </a:avLst>
          </a:prstGeom>
          <a:solidFill>
            <a:srgbClr val="EEF3FA"/>
          </a:solidFill>
          <a:ln w="9525">
            <a:solidFill>
              <a:srgbClr val="C9D6EA"/>
            </a:solidFill>
            <a:prstDash val="solid"/>
          </a:ln>
        </p:spPr>
      </p:sp>
      <p:sp>
        <p:nvSpPr>
          <p:cNvPr id="46" name="Shape 36"/>
          <p:cNvSpPr/>
          <p:nvPr/>
        </p:nvSpPr>
        <p:spPr>
          <a:xfrm>
            <a:off x="11247120" y="4398264"/>
            <a:ext cx="292608" cy="292608"/>
          </a:xfrm>
          <a:prstGeom prst="ellipse">
            <a:avLst/>
          </a:prstGeom>
          <a:solidFill>
            <a:srgbClr val="2F6FB0"/>
          </a:solidFill>
          <a:ln w="12700">
            <a:solidFill>
              <a:srgbClr val="2F6FB0"/>
            </a:solidFill>
            <a:prstDash val="solid"/>
          </a:ln>
        </p:spPr>
      </p:sp>
      <p:sp>
        <p:nvSpPr>
          <p:cNvPr id="47" name="Text 37"/>
          <p:cNvSpPr txBox="1"/>
          <p:nvPr/>
        </p:nvSpPr>
        <p:spPr>
          <a:xfrm>
            <a:off x="11247120" y="4398264"/>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a:t>
            </a:r>
            <a:endParaRPr lang="en-US" sz="1000" dirty="0"/>
          </a:p>
        </p:txBody>
      </p:sp>
      <p:sp>
        <p:nvSpPr>
          <p:cNvPr id="48" name="Text 38"/>
          <p:cNvSpPr txBox="1"/>
          <p:nvPr/>
        </p:nvSpPr>
        <p:spPr>
          <a:xfrm>
            <a:off x="731520" y="4297680"/>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أَسْتَعْمِلُ هَاتِفِي لِلْعُثُورِ عَلَى الْمَتَاجِرِ وَمُقَارَنَةِ الأَسْعَارِ.</a:t>
            </a:r>
            <a:endParaRPr lang="ar-SA" sz="2000" dirty="0"/>
          </a:p>
        </p:txBody>
      </p:sp>
      <p:sp>
        <p:nvSpPr>
          <p:cNvPr id="49" name="Shape 39"/>
          <p:cNvSpPr/>
          <p:nvPr/>
        </p:nvSpPr>
        <p:spPr>
          <a:xfrm>
            <a:off x="457200" y="4864608"/>
            <a:ext cx="11274552" cy="493776"/>
          </a:xfrm>
          <a:prstGeom prst="roundRect">
            <a:avLst>
              <a:gd name="adj" fmla="val 11111"/>
            </a:avLst>
          </a:prstGeom>
          <a:solidFill>
            <a:srgbClr val="EEF3FA"/>
          </a:solidFill>
          <a:ln w="9525">
            <a:solidFill>
              <a:srgbClr val="C9D6EA"/>
            </a:solidFill>
            <a:prstDash val="solid"/>
          </a:ln>
        </p:spPr>
      </p:sp>
      <p:sp>
        <p:nvSpPr>
          <p:cNvPr id="50" name="Shape 40"/>
          <p:cNvSpPr/>
          <p:nvPr/>
        </p:nvSpPr>
        <p:spPr>
          <a:xfrm>
            <a:off x="11247120" y="4965192"/>
            <a:ext cx="292608" cy="292608"/>
          </a:xfrm>
          <a:prstGeom prst="ellipse">
            <a:avLst/>
          </a:prstGeom>
          <a:solidFill>
            <a:srgbClr val="2F6FB0"/>
          </a:solidFill>
          <a:ln w="12700">
            <a:solidFill>
              <a:srgbClr val="2F6FB0"/>
            </a:solidFill>
            <a:prstDash val="solid"/>
          </a:ln>
        </p:spPr>
      </p:sp>
      <p:sp>
        <p:nvSpPr>
          <p:cNvPr id="51" name="Text 41"/>
          <p:cNvSpPr txBox="1"/>
          <p:nvPr/>
        </p:nvSpPr>
        <p:spPr>
          <a:xfrm>
            <a:off x="11247120" y="496519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a:t>
            </a:r>
            <a:endParaRPr lang="en-US" sz="1000" dirty="0"/>
          </a:p>
        </p:txBody>
      </p:sp>
      <p:sp>
        <p:nvSpPr>
          <p:cNvPr id="52" name="Text 42"/>
          <p:cNvSpPr txBox="1"/>
          <p:nvPr/>
        </p:nvSpPr>
        <p:spPr>
          <a:xfrm>
            <a:off x="731520" y="4864608"/>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يَخْتَلِفُ الْمُنَاخُ مِنْ مَنْطِقَةٍ إِلَى أُخْرَى.</a:t>
            </a:r>
            <a:endParaRPr lang="ar-SA" sz="2000" dirty="0"/>
          </a:p>
        </p:txBody>
      </p:sp>
      <p:sp>
        <p:nvSpPr>
          <p:cNvPr id="53" name="Text 43"/>
          <p:cNvSpPr txBox="1"/>
          <p:nvPr/>
        </p:nvSpPr>
        <p:spPr>
          <a:xfrm>
            <a:off x="457200" y="5468112"/>
            <a:ext cx="11274552" cy="365760"/>
          </a:xfrm>
          <a:prstGeom prst="rect">
            <a:avLst/>
          </a:prstGeom>
          <a:noFill/>
          <a:ln/>
        </p:spPr>
        <p:txBody>
          <a:bodyPr wrap="square" lIns="0" tIns="0" rIns="0" bIns="0" rtlCol="0" anchor="ctr"/>
          <a:lstStyle/>
          <a:p>
            <a:pPr algn="l" indent="0" marL="0">
              <a:buNone/>
            </a:pPr>
            <a:r>
              <a:rPr lang="en-US" sz="1250" b="1" dirty="0">
                <a:solidFill>
                  <a:srgbClr val="2F6FB0"/>
                </a:solidFill>
                <a:latin typeface="Calibri" pitchFamily="34" charset="0"/>
                <a:ea typeface="Calibri" pitchFamily="34" charset="-122"/>
                <a:cs typeface="Calibri" pitchFamily="34" charset="-120"/>
              </a:rPr>
              <a:t>Match each picture to a sentence. Type in the chat: 1_  2_  3_</a:t>
            </a:r>
            <a:endParaRPr lang="en-US" sz="1250" dirty="0"/>
          </a:p>
        </p:txBody>
      </p:sp>
      <p:sp>
        <p:nvSpPr>
          <p:cNvPr id="54" name="Text 44"/>
          <p:cNvSpPr txBox="1"/>
          <p:nvPr/>
        </p:nvSpPr>
        <p:spPr>
          <a:xfrm>
            <a:off x="457200" y="5852160"/>
            <a:ext cx="11274552" cy="365760"/>
          </a:xfrm>
          <a:prstGeom prst="rect">
            <a:avLst/>
          </a:prstGeom>
          <a:noFill/>
          <a:ln/>
        </p:spPr>
        <p:txBody>
          <a:bodyPr wrap="square" lIns="0" tIns="0" rIns="0" bIns="0" rtlCol="0" anchor="ctr"/>
          <a:lstStyle/>
          <a:p>
            <a:pPr algn="l" indent="0" marL="0">
              <a:buNone/>
            </a:pPr>
            <a:r>
              <a:rPr lang="en-US" sz="1150" i="1" dirty="0">
                <a:solidFill>
                  <a:srgbClr val="5A6472"/>
                </a:solidFill>
                <a:latin typeface="Calibri" pitchFamily="34" charset="0"/>
                <a:ea typeface="Calibri" pitchFamily="34" charset="-122"/>
                <a:cs typeface="Calibri" pitchFamily="34" charset="-120"/>
              </a:rPr>
              <a:t>Core: find ONE key word you know in each sentence first.</a:t>
            </a:r>
            <a:endParaRPr lang="en-US" sz="1150" dirty="0"/>
          </a:p>
        </p:txBody>
      </p:sp>
      <p:sp>
        <p:nvSpPr>
          <p:cNvPr id="55"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8 / 33</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TC-L12 · Topic C Assessment</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PICTURE MATCH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Picture match: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تَحَدِّي الوَحْدَةِ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4 · Lesson 3 of 3</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8" name="Shape 15"/>
          <p:cNvSpPr/>
          <p:nvPr/>
        </p:nvSpPr>
        <p:spPr>
          <a:xfrm>
            <a:off x="881176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0" name="Shape 16"/>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1"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2" name="Text 17"/>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ea typeface="Calibri" pitchFamily="34" charset="-122"/>
                <a:cs typeface="Calibri" pitchFamily="34" charset="-120"/>
              </a:rPr>
              <a:t>places + climate</a:t>
            </a:r>
            <a:endParaRPr lang="en-US" sz="1100" dirty="0"/>
          </a:p>
        </p:txBody>
      </p:sp>
      <p:sp>
        <p:nvSpPr>
          <p:cNvPr id="23" name="Shape 18"/>
          <p:cNvSpPr/>
          <p:nvPr/>
        </p:nvSpPr>
        <p:spPr>
          <a:xfrm>
            <a:off x="8095488"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11256264" y="3785616"/>
            <a:ext cx="329184" cy="329184"/>
          </a:xfrm>
          <a:prstGeom prst="ellipse">
            <a:avLst/>
          </a:prstGeom>
          <a:solidFill>
            <a:srgbClr val="2E8B57"/>
          </a:solidFill>
          <a:ln w="12700">
            <a:solidFill>
              <a:srgbClr val="2E8B57"/>
            </a:solidFill>
            <a:prstDash val="solid"/>
          </a:ln>
        </p:spPr>
      </p:sp>
      <p:sp>
        <p:nvSpPr>
          <p:cNvPr id="25" name="Text 20"/>
          <p:cNvSpPr txBox="1"/>
          <p:nvPr/>
        </p:nvSpPr>
        <p:spPr>
          <a:xfrm>
            <a:off x="11256264"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a:t>
            </a:r>
            <a:endParaRPr lang="en-US" sz="1100" dirty="0"/>
          </a:p>
        </p:txBody>
      </p:sp>
      <p:sp>
        <p:nvSpPr>
          <p:cNvPr id="26" name="Text 21"/>
          <p:cNvSpPr txBox="1"/>
          <p:nvPr/>
        </p:nvSpPr>
        <p:spPr>
          <a:xfrm>
            <a:off x="8232648" y="4160520"/>
            <a:ext cx="3361944" cy="1143000"/>
          </a:xfrm>
          <a:prstGeom prst="rect">
            <a:avLst/>
          </a:prstGeom>
          <a:noFill/>
          <a:ln/>
        </p:spPr>
        <p:txBody>
          <a:bodyPr wrap="square" lIns="0" tIns="0" rIns="0" bIns="0" rtlCol="0" anchor="ctr"/>
          <a:lstStyle/>
          <a:p>
            <a:pPr rtl="1" algn="ctr" indent="0" marL="0">
              <a:lnSpc>
                <a:spcPct val="120000"/>
              </a:lnSpc>
              <a:buNone/>
            </a:pPr>
            <a:r>
              <a:rPr lang="ar-SA" altLang="en-US" sz="2200" b="1" dirty="0">
                <a:solidFill>
                  <a:srgbClr val="1B3B6F"/>
                </a:solidFill>
                <a:latin typeface="Amiri" pitchFamily="34" charset="0"/>
                <a:ea typeface="Amiri" pitchFamily="34" charset="-122"/>
                <a:cs typeface="Amiri" pitchFamily="34" charset="-120"/>
              </a:rPr>
              <a:t>يَخْتَلِفُ الْمُنَاخُ مِنْ مَنْطِقَةٍ إِلَى أُخْرَى.</a:t>
            </a:r>
            <a:endParaRPr lang="ar-SA" sz="2200" dirty="0"/>
          </a:p>
        </p:txBody>
      </p:sp>
      <p:sp>
        <p:nvSpPr>
          <p:cNvPr id="27" name="Text 22"/>
          <p:cNvSpPr txBox="1"/>
          <p:nvPr/>
        </p:nvSpPr>
        <p:spPr>
          <a:xfrm>
            <a:off x="8232648"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ea typeface="Calibri" pitchFamily="34" charset="-122"/>
                <a:cs typeface="Calibri" pitchFamily="34" charset="-120"/>
              </a:rPr>
              <a:t>The climate differs from one region to another.</a:t>
            </a:r>
            <a:endParaRPr lang="en-US" sz="1200" dirty="0"/>
          </a:p>
        </p:txBody>
      </p:sp>
      <p:sp>
        <p:nvSpPr>
          <p:cNvPr id="28" name="Shape 23"/>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4"/>
          <p:cNvSpPr/>
          <p:nvPr/>
        </p:nvSpPr>
        <p:spPr>
          <a:xfrm>
            <a:off x="4404360" y="1938528"/>
            <a:ext cx="365760" cy="365760"/>
          </a:xfrm>
          <a:prstGeom prst="ellipse">
            <a:avLst/>
          </a:prstGeom>
          <a:solidFill>
            <a:srgbClr val="1B3B6F"/>
          </a:solidFill>
          <a:ln w="12700">
            <a:solidFill>
              <a:srgbClr val="1B3B6F"/>
            </a:solidFill>
            <a:prstDash val="solid"/>
          </a:ln>
        </p:spPr>
      </p:sp>
      <p:sp>
        <p:nvSpPr>
          <p:cNvPr id="30" name="Text 25"/>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31" name="Shape 26"/>
          <p:cNvSpPr/>
          <p:nvPr/>
        </p:nvSpPr>
        <p:spPr>
          <a:xfrm>
            <a:off x="4992624" y="2066544"/>
            <a:ext cx="1014984" cy="1014984"/>
          </a:xfrm>
          <a:prstGeom prst="ellipse">
            <a:avLst/>
          </a:prstGeom>
          <a:solidFill>
            <a:srgbClr val="F4F1EA"/>
          </a:solidFill>
          <a:ln w="12700">
            <a:solidFill>
              <a:srgbClr val="F4F1EA"/>
            </a:solidFill>
            <a:prstDash val="solid"/>
          </a:ln>
        </p:spPr>
      </p:sp>
      <p:pic>
        <p:nvPicPr>
          <p:cNvPr id="32" name="Image 2" descr="preencoded.png">    </p:cNvPr>
          <p:cNvPicPr>
            <a:picLocks noChangeAspect="1"/>
          </p:cNvPicPr>
          <p:nvPr/>
        </p:nvPicPr>
        <p:blipFill>
          <a:blip r:embed="rId3"/>
          <a:stretch>
            <a:fillRect/>
          </a:stretch>
        </p:blipFill>
        <p:spPr>
          <a:xfrm>
            <a:off x="5175504" y="2249424"/>
            <a:ext cx="649224" cy="649224"/>
          </a:xfrm>
          <a:prstGeom prst="rect">
            <a:avLst/>
          </a:prstGeom>
        </p:spPr>
      </p:pic>
      <p:sp>
        <p:nvSpPr>
          <p:cNvPr id="33" name="Shape 27"/>
          <p:cNvSpPr/>
          <p:nvPr/>
        </p:nvSpPr>
        <p:spPr>
          <a:xfrm>
            <a:off x="6181344" y="2066544"/>
            <a:ext cx="1014984" cy="1014984"/>
          </a:xfrm>
          <a:prstGeom prst="ellipse">
            <a:avLst/>
          </a:prstGeom>
          <a:solidFill>
            <a:srgbClr val="F4F1EA"/>
          </a:solidFill>
          <a:ln w="12700">
            <a:solidFill>
              <a:srgbClr val="F4F1EA"/>
            </a:solidFill>
            <a:prstDash val="solid"/>
          </a:ln>
        </p:spPr>
      </p:sp>
      <p:pic>
        <p:nvPicPr>
          <p:cNvPr id="34" name="Image 3" descr="preencoded.png">    </p:cNvPr>
          <p:cNvPicPr>
            <a:picLocks noChangeAspect="1"/>
          </p:cNvPicPr>
          <p:nvPr/>
        </p:nvPicPr>
        <p:blipFill>
          <a:blip r:embed="rId4"/>
          <a:stretch>
            <a:fillRect/>
          </a:stretch>
        </p:blipFill>
        <p:spPr>
          <a:xfrm>
            <a:off x="6364224" y="2249424"/>
            <a:ext cx="649224" cy="649224"/>
          </a:xfrm>
          <a:prstGeom prst="rect">
            <a:avLst/>
          </a:prstGeom>
        </p:spPr>
      </p:pic>
      <p:sp>
        <p:nvSpPr>
          <p:cNvPr id="35" name="Text 28"/>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ea typeface="Calibri" pitchFamily="34" charset="-122"/>
                <a:cs typeface="Calibri" pitchFamily="34" charset="-120"/>
              </a:rPr>
              <a:t>problem + solution</a:t>
            </a:r>
            <a:endParaRPr lang="en-US" sz="1100" dirty="0"/>
          </a:p>
        </p:txBody>
      </p:sp>
      <p:sp>
        <p:nvSpPr>
          <p:cNvPr id="36" name="Shape 29"/>
          <p:cNvSpPr/>
          <p:nvPr/>
        </p:nvSpPr>
        <p:spPr>
          <a:xfrm>
            <a:off x="4276344"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7" name="Shape 30"/>
          <p:cNvSpPr/>
          <p:nvPr/>
        </p:nvSpPr>
        <p:spPr>
          <a:xfrm>
            <a:off x="7437120" y="3785616"/>
            <a:ext cx="329184" cy="329184"/>
          </a:xfrm>
          <a:prstGeom prst="ellipse">
            <a:avLst/>
          </a:prstGeom>
          <a:solidFill>
            <a:srgbClr val="2E8B57"/>
          </a:solidFill>
          <a:ln w="12700">
            <a:solidFill>
              <a:srgbClr val="2E8B57"/>
            </a:solidFill>
            <a:prstDash val="solid"/>
          </a:ln>
        </p:spPr>
      </p:sp>
      <p:sp>
        <p:nvSpPr>
          <p:cNvPr id="38" name="Text 31"/>
          <p:cNvSpPr txBox="1"/>
          <p:nvPr/>
        </p:nvSpPr>
        <p:spPr>
          <a:xfrm>
            <a:off x="7437120"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sp>
        <p:nvSpPr>
          <p:cNvPr id="39" name="Text 32"/>
          <p:cNvSpPr txBox="1"/>
          <p:nvPr/>
        </p:nvSpPr>
        <p:spPr>
          <a:xfrm>
            <a:off x="4413504" y="4160520"/>
            <a:ext cx="3361944" cy="1143000"/>
          </a:xfrm>
          <a:prstGeom prst="rect">
            <a:avLst/>
          </a:prstGeom>
          <a:noFill/>
          <a:ln/>
        </p:spPr>
        <p:txBody>
          <a:bodyPr wrap="square" lIns="0" tIns="0" rIns="0" bIns="0" rtlCol="0" anchor="ctr"/>
          <a:lstStyle/>
          <a:p>
            <a:pPr rtl="1" algn="ctr" indent="0" marL="0">
              <a:lnSpc>
                <a:spcPct val="120000"/>
              </a:lnSpc>
              <a:buNone/>
            </a:pPr>
            <a:r>
              <a:rPr lang="ar-SA" altLang="en-US" sz="2200" b="1" dirty="0">
                <a:solidFill>
                  <a:srgbClr val="1B3B6F"/>
                </a:solidFill>
                <a:latin typeface="Amiri" pitchFamily="34" charset="0"/>
                <a:ea typeface="Amiri" pitchFamily="34" charset="-122"/>
                <a:cs typeface="Amiri" pitchFamily="34" charset="-120"/>
              </a:rPr>
              <a:t>يُمْكِنُنَا تَقْلِيلُ التَّلَوُّثِ بِإِعَادَةِ التَّدْوِيرِ وَاسْتِعْمَالِ طَاقَةٍ أَنْظَفَ.</a:t>
            </a:r>
            <a:endParaRPr lang="ar-SA" sz="2200" dirty="0"/>
          </a:p>
        </p:txBody>
      </p:sp>
      <p:sp>
        <p:nvSpPr>
          <p:cNvPr id="40" name="Text 33"/>
          <p:cNvSpPr txBox="1"/>
          <p:nvPr/>
        </p:nvSpPr>
        <p:spPr>
          <a:xfrm>
            <a:off x="4413504"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ea typeface="Calibri" pitchFamily="34" charset="-122"/>
                <a:cs typeface="Calibri" pitchFamily="34" charset="-120"/>
              </a:rPr>
              <a:t>We can reduce pollution by recycling and using cleaner energy.</a:t>
            </a:r>
            <a:endParaRPr lang="en-US" sz="1200" dirty="0"/>
          </a:p>
        </p:txBody>
      </p:sp>
      <p:sp>
        <p:nvSpPr>
          <p:cNvPr id="41" name="Shape 34"/>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5"/>
          <p:cNvSpPr/>
          <p:nvPr/>
        </p:nvSpPr>
        <p:spPr>
          <a:xfrm>
            <a:off x="585216" y="1938528"/>
            <a:ext cx="365760" cy="365760"/>
          </a:xfrm>
          <a:prstGeom prst="ellipse">
            <a:avLst/>
          </a:prstGeom>
          <a:solidFill>
            <a:srgbClr val="1B3B6F"/>
          </a:solidFill>
          <a:ln w="12700">
            <a:solidFill>
              <a:srgbClr val="1B3B6F"/>
            </a:solidFill>
            <a:prstDash val="solid"/>
          </a:ln>
        </p:spPr>
      </p:sp>
      <p:sp>
        <p:nvSpPr>
          <p:cNvPr id="43" name="Text 36"/>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44" name="Shape 37"/>
          <p:cNvSpPr/>
          <p:nvPr/>
        </p:nvSpPr>
        <p:spPr>
          <a:xfrm>
            <a:off x="579120" y="2066544"/>
            <a:ext cx="1014984" cy="1014984"/>
          </a:xfrm>
          <a:prstGeom prst="ellipse">
            <a:avLst/>
          </a:prstGeom>
          <a:solidFill>
            <a:srgbClr val="F4F1EA"/>
          </a:solidFill>
          <a:ln w="12700">
            <a:solidFill>
              <a:srgbClr val="F4F1EA"/>
            </a:solidFill>
            <a:prstDash val="solid"/>
          </a:ln>
        </p:spPr>
      </p:sp>
      <p:pic>
        <p:nvPicPr>
          <p:cNvPr id="45" name="Image 4" descr="preencoded.png">    </p:cNvPr>
          <p:cNvPicPr>
            <a:picLocks noChangeAspect="1"/>
          </p:cNvPicPr>
          <p:nvPr/>
        </p:nvPicPr>
        <p:blipFill>
          <a:blip r:embed="rId5"/>
          <a:stretch>
            <a:fillRect/>
          </a:stretch>
        </p:blipFill>
        <p:spPr>
          <a:xfrm>
            <a:off x="762000" y="2249424"/>
            <a:ext cx="649224" cy="649224"/>
          </a:xfrm>
          <a:prstGeom prst="rect">
            <a:avLst/>
          </a:prstGeom>
        </p:spPr>
      </p:pic>
      <p:sp>
        <p:nvSpPr>
          <p:cNvPr id="46" name="Shape 38"/>
          <p:cNvSpPr/>
          <p:nvPr/>
        </p:nvSpPr>
        <p:spPr>
          <a:xfrm>
            <a:off x="1767840" y="2066544"/>
            <a:ext cx="1014984" cy="1014984"/>
          </a:xfrm>
          <a:prstGeom prst="ellipse">
            <a:avLst/>
          </a:prstGeom>
          <a:solidFill>
            <a:srgbClr val="F4F1EA"/>
          </a:solidFill>
          <a:ln w="12700">
            <a:solidFill>
              <a:srgbClr val="F4F1EA"/>
            </a:solidFill>
            <a:prstDash val="solid"/>
          </a:ln>
        </p:spPr>
      </p:sp>
      <p:pic>
        <p:nvPicPr>
          <p:cNvPr id="47" name="Image 5" descr="preencoded.png">    </p:cNvPr>
          <p:cNvPicPr>
            <a:picLocks noChangeAspect="1"/>
          </p:cNvPicPr>
          <p:nvPr/>
        </p:nvPicPr>
        <p:blipFill>
          <a:blip r:embed="rId6"/>
          <a:stretch>
            <a:fillRect/>
          </a:stretch>
        </p:blipFill>
        <p:spPr>
          <a:xfrm>
            <a:off x="1950720" y="2249424"/>
            <a:ext cx="649224" cy="649224"/>
          </a:xfrm>
          <a:prstGeom prst="rect">
            <a:avLst/>
          </a:prstGeom>
        </p:spPr>
      </p:pic>
      <p:sp>
        <p:nvSpPr>
          <p:cNvPr id="48" name="Shape 39"/>
          <p:cNvSpPr/>
          <p:nvPr/>
        </p:nvSpPr>
        <p:spPr>
          <a:xfrm>
            <a:off x="2956560" y="2066544"/>
            <a:ext cx="1014984" cy="1014984"/>
          </a:xfrm>
          <a:prstGeom prst="ellipse">
            <a:avLst/>
          </a:prstGeom>
          <a:solidFill>
            <a:srgbClr val="F4F1EA"/>
          </a:solidFill>
          <a:ln w="12700">
            <a:solidFill>
              <a:srgbClr val="F4F1EA"/>
            </a:solidFill>
            <a:prstDash val="solid"/>
          </a:ln>
        </p:spPr>
      </p:sp>
      <p:pic>
        <p:nvPicPr>
          <p:cNvPr id="49" name="Image 6" descr="preencoded.png">    </p:cNvPr>
          <p:cNvPicPr>
            <a:picLocks noChangeAspect="1"/>
          </p:cNvPicPr>
          <p:nvPr/>
        </p:nvPicPr>
        <p:blipFill>
          <a:blip r:embed="rId7"/>
          <a:stretch>
            <a:fillRect/>
          </a:stretch>
        </p:blipFill>
        <p:spPr>
          <a:xfrm>
            <a:off x="3139440" y="2249424"/>
            <a:ext cx="649224" cy="649224"/>
          </a:xfrm>
          <a:prstGeom prst="rect">
            <a:avLst/>
          </a:prstGeom>
        </p:spPr>
      </p:pic>
      <p:sp>
        <p:nvSpPr>
          <p:cNvPr id="50" name="Text 40"/>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ea typeface="Calibri" pitchFamily="34" charset="-122"/>
                <a:cs typeface="Calibri" pitchFamily="34" charset="-120"/>
              </a:rPr>
              <a:t>town + shopping + phone</a:t>
            </a:r>
            <a:endParaRPr lang="en-US" sz="1100" dirty="0"/>
          </a:p>
        </p:txBody>
      </p:sp>
      <p:sp>
        <p:nvSpPr>
          <p:cNvPr id="51" name="Shape 41"/>
          <p:cNvSpPr/>
          <p:nvPr/>
        </p:nvSpPr>
        <p:spPr>
          <a:xfrm>
            <a:off x="457200"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2" name="Shape 42"/>
          <p:cNvSpPr/>
          <p:nvPr/>
        </p:nvSpPr>
        <p:spPr>
          <a:xfrm>
            <a:off x="3617976" y="3785616"/>
            <a:ext cx="329184" cy="329184"/>
          </a:xfrm>
          <a:prstGeom prst="ellipse">
            <a:avLst/>
          </a:prstGeom>
          <a:solidFill>
            <a:srgbClr val="2E8B57"/>
          </a:solidFill>
          <a:ln w="12700">
            <a:solidFill>
              <a:srgbClr val="2E8B57"/>
            </a:solidFill>
            <a:prstDash val="solid"/>
          </a:ln>
        </p:spPr>
      </p:sp>
      <p:sp>
        <p:nvSpPr>
          <p:cNvPr id="53" name="Text 43"/>
          <p:cNvSpPr txBox="1"/>
          <p:nvPr/>
        </p:nvSpPr>
        <p:spPr>
          <a:xfrm>
            <a:off x="3617976"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a:t>
            </a:r>
            <a:endParaRPr lang="en-US" sz="1100" dirty="0"/>
          </a:p>
        </p:txBody>
      </p:sp>
      <p:sp>
        <p:nvSpPr>
          <p:cNvPr id="54" name="Text 44"/>
          <p:cNvSpPr txBox="1"/>
          <p:nvPr/>
        </p:nvSpPr>
        <p:spPr>
          <a:xfrm>
            <a:off x="594360" y="4160520"/>
            <a:ext cx="3361944" cy="1143000"/>
          </a:xfrm>
          <a:prstGeom prst="rect">
            <a:avLst/>
          </a:prstGeom>
          <a:noFill/>
          <a:ln/>
        </p:spPr>
        <p:txBody>
          <a:bodyPr wrap="square" lIns="0" tIns="0" rIns="0" bIns="0" rtlCol="0" anchor="ctr"/>
          <a:lstStyle/>
          <a:p>
            <a:pPr rtl="1" algn="ctr" indent="0" marL="0">
              <a:lnSpc>
                <a:spcPct val="120000"/>
              </a:lnSpc>
              <a:buNone/>
            </a:pPr>
            <a:r>
              <a:rPr lang="ar-SA" altLang="en-US" sz="2200" b="1" dirty="0">
                <a:solidFill>
                  <a:srgbClr val="1B3B6F"/>
                </a:solidFill>
                <a:latin typeface="Amiri" pitchFamily="34" charset="0"/>
                <a:ea typeface="Amiri" pitchFamily="34" charset="-122"/>
                <a:cs typeface="Amiri" pitchFamily="34" charset="-120"/>
              </a:rPr>
              <a:t>أَسْتَعْمِلُ هَاتِفِي لِلْعُثُورِ عَلَى الْمَتَاجِرِ وَمُقَارَنَةِ الأَسْعَارِ.</a:t>
            </a:r>
            <a:endParaRPr lang="ar-SA" sz="2200" dirty="0"/>
          </a:p>
        </p:txBody>
      </p:sp>
      <p:sp>
        <p:nvSpPr>
          <p:cNvPr id="55" name="Text 45"/>
          <p:cNvSpPr txBox="1"/>
          <p:nvPr/>
        </p:nvSpPr>
        <p:spPr>
          <a:xfrm>
            <a:off x="594360"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ea typeface="Calibri" pitchFamily="34" charset="-122"/>
                <a:cs typeface="Calibri" pitchFamily="34" charset="-120"/>
              </a:rPr>
              <a:t>I use my phone to find shops and compare prices.</a:t>
            </a:r>
            <a:endParaRPr lang="en-US" sz="1200" dirty="0"/>
          </a:p>
        </p:txBody>
      </p:sp>
      <p:sp>
        <p:nvSpPr>
          <p:cNvPr id="56" name="Text 4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9 / 33</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TC-L12 · Topic C Assessment</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I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ea typeface="Calibri" pitchFamily="34" charset="-122"/>
                <a:cs typeface="Calibri" pitchFamily="34" charset="-120"/>
              </a:rPr>
              <a:t>SECTION A · PART 1 · CORE · WORDS AND GRAMMAR · 5 MARKS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50" b="1" dirty="0">
                <a:solidFill>
                  <a:srgbClr val="1B3B6F"/>
                </a:solidFill>
                <a:latin typeface="Cambria" pitchFamily="34" charset="0"/>
                <a:ea typeface="Cambria" pitchFamily="34" charset="-122"/>
                <a:cs typeface="Cambria" pitchFamily="34" charset="-120"/>
              </a:rPr>
              <a:t>Section A: Topic C words and grammar</a:t>
            </a:r>
            <a:endParaRPr lang="en-US" sz="24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القِسْمُ 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4 · Lesson 3 of 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word means “the weather”?</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الطَّقْسُ</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الشَّمَالُ</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السُّوقُ</a:t>
            </a:r>
            <a:endParaRPr lang="ar-SA" sz="20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1" name="Text 28"/>
          <p:cNvSpPr txBox="1"/>
          <p:nvPr/>
        </p:nvSpPr>
        <p:spPr>
          <a:xfrm>
            <a:off x="4770120"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Complete:</a:t>
            </a:r>
            <a:endParaRPr lang="en-US" sz="1200" dirty="0"/>
          </a:p>
        </p:txBody>
      </p:sp>
      <p:sp>
        <p:nvSpPr>
          <p:cNvPr id="32" name="Text 29"/>
          <p:cNvSpPr txBox="1"/>
          <p:nvPr/>
        </p:nvSpPr>
        <p:spPr>
          <a:xfrm>
            <a:off x="6225845" y="1883664"/>
            <a:ext cx="1577035"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34" charset="0"/>
                <a:ea typeface="Amiri" pitchFamily="34" charset="-122"/>
                <a:cs typeface="Amiri" pitchFamily="34" charset="-120"/>
              </a:rPr>
              <a:t>___ مَكْتَبَةٌ فِي مَدِينَتِي.</a:t>
            </a:r>
            <a:endParaRPr lang="ar-SA" sz="1500" dirty="0"/>
          </a:p>
        </p:txBody>
      </p:sp>
      <p:sp>
        <p:nvSpPr>
          <p:cNvPr id="33" name="Shape 30"/>
          <p:cNvSpPr/>
          <p:nvPr/>
        </p:nvSpPr>
        <p:spPr>
          <a:xfrm>
            <a:off x="4459224" y="2532888"/>
            <a:ext cx="256032" cy="256032"/>
          </a:xfrm>
          <a:prstGeom prst="ellipse">
            <a:avLst/>
          </a:prstGeom>
          <a:solidFill>
            <a:srgbClr val="F4F1EA"/>
          </a:solidFill>
          <a:ln w="12700">
            <a:solidFill>
              <a:srgbClr val="F4F1EA"/>
            </a:solidFill>
            <a:prstDash val="solid"/>
          </a:ln>
        </p:spPr>
      </p:sp>
      <p:sp>
        <p:nvSpPr>
          <p:cNvPr id="34" name="Text 31"/>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5" name="Text 32"/>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يُوجَدُ</a:t>
            </a:r>
            <a:endParaRPr lang="ar-SA" sz="2050" dirty="0"/>
          </a:p>
        </p:txBody>
      </p:sp>
      <p:sp>
        <p:nvSpPr>
          <p:cNvPr id="36" name="Shape 33"/>
          <p:cNvSpPr/>
          <p:nvPr/>
        </p:nvSpPr>
        <p:spPr>
          <a:xfrm>
            <a:off x="4459224" y="2990088"/>
            <a:ext cx="256032" cy="256032"/>
          </a:xfrm>
          <a:prstGeom prst="ellipse">
            <a:avLst/>
          </a:prstGeom>
          <a:solidFill>
            <a:srgbClr val="F4F1EA"/>
          </a:solidFill>
          <a:ln w="12700">
            <a:solidFill>
              <a:srgbClr val="F4F1EA"/>
            </a:solidFill>
            <a:prstDash val="solid"/>
          </a:ln>
        </p:spPr>
      </p:sp>
      <p:sp>
        <p:nvSpPr>
          <p:cNvPr id="37" name="Text 34"/>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8" name="Text 35"/>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تُوجَدُ</a:t>
            </a:r>
            <a:endParaRPr lang="ar-SA" sz="2050" dirty="0"/>
          </a:p>
        </p:txBody>
      </p:sp>
      <p:sp>
        <p:nvSpPr>
          <p:cNvPr id="39" name="Shape 36"/>
          <p:cNvSpPr/>
          <p:nvPr/>
        </p:nvSpPr>
        <p:spPr>
          <a:xfrm>
            <a:off x="4459224" y="3447288"/>
            <a:ext cx="256032" cy="256032"/>
          </a:xfrm>
          <a:prstGeom prst="ellipse">
            <a:avLst/>
          </a:prstGeom>
          <a:solidFill>
            <a:srgbClr val="F4F1EA"/>
          </a:solidFill>
          <a:ln w="12700">
            <a:solidFill>
              <a:srgbClr val="F4F1EA"/>
            </a:solidFill>
            <a:prstDash val="solid"/>
          </a:ln>
        </p:spPr>
      </p:sp>
      <p:sp>
        <p:nvSpPr>
          <p:cNvPr id="40" name="Text 37"/>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1" name="Text 38"/>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يُوجَدُونَ</a:t>
            </a:r>
            <a:endParaRPr lang="ar-SA" sz="2050" dirty="0"/>
          </a:p>
        </p:txBody>
      </p:sp>
      <p:sp>
        <p:nvSpPr>
          <p:cNvPr id="42" name="Shape 39"/>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8223504" y="1947672"/>
            <a:ext cx="310896" cy="310896"/>
          </a:xfrm>
          <a:prstGeom prst="ellipse">
            <a:avLst/>
          </a:prstGeom>
          <a:solidFill>
            <a:srgbClr val="1B3B6F"/>
          </a:solidFill>
          <a:ln w="12700">
            <a:solidFill>
              <a:srgbClr val="1B3B6F"/>
            </a:solidFill>
            <a:prstDash val="solid"/>
          </a:ln>
        </p:spPr>
      </p:sp>
      <p:sp>
        <p:nvSpPr>
          <p:cNvPr id="44" name="Text 41"/>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5" name="Text 42"/>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This is a bag. How much is it?</a:t>
            </a:r>
            <a:endParaRPr lang="en-US" sz="1250" dirty="0"/>
          </a:p>
        </p:txBody>
      </p:sp>
      <p:sp>
        <p:nvSpPr>
          <p:cNvPr id="46" name="Shape 43"/>
          <p:cNvSpPr/>
          <p:nvPr/>
        </p:nvSpPr>
        <p:spPr>
          <a:xfrm>
            <a:off x="8278368" y="2532888"/>
            <a:ext cx="256032" cy="256032"/>
          </a:xfrm>
          <a:prstGeom prst="ellipse">
            <a:avLst/>
          </a:prstGeom>
          <a:solidFill>
            <a:srgbClr val="F4F1EA"/>
          </a:solidFill>
          <a:ln w="12700">
            <a:solidFill>
              <a:srgbClr val="F4F1EA"/>
            </a:solidFill>
            <a:prstDash val="solid"/>
          </a:ln>
        </p:spPr>
      </p:sp>
      <p:sp>
        <p:nvSpPr>
          <p:cNvPr id="47" name="Text 44"/>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8" name="Text 45"/>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هٰذِهِ حَقِيبَةٌ. كَمْ ثَمَنُهَا؟</a:t>
            </a:r>
            <a:endParaRPr lang="ar-SA" sz="2050" dirty="0"/>
          </a:p>
        </p:txBody>
      </p:sp>
      <p:sp>
        <p:nvSpPr>
          <p:cNvPr id="49" name="Shape 46"/>
          <p:cNvSpPr/>
          <p:nvPr/>
        </p:nvSpPr>
        <p:spPr>
          <a:xfrm>
            <a:off x="8278368" y="2990088"/>
            <a:ext cx="256032" cy="256032"/>
          </a:xfrm>
          <a:prstGeom prst="ellipse">
            <a:avLst/>
          </a:prstGeom>
          <a:solidFill>
            <a:srgbClr val="F4F1EA"/>
          </a:solidFill>
          <a:ln w="12700">
            <a:solidFill>
              <a:srgbClr val="F4F1EA"/>
            </a:solidFill>
            <a:prstDash val="solid"/>
          </a:ln>
        </p:spPr>
      </p:sp>
      <p:sp>
        <p:nvSpPr>
          <p:cNvPr id="50" name="Text 47"/>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1" name="Text 48"/>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هٰذَا حَقِيبَةٌ. كَمْ ثَمَنُهُ؟</a:t>
            </a:r>
            <a:endParaRPr lang="ar-SA" sz="2050" dirty="0"/>
          </a:p>
        </p:txBody>
      </p:sp>
      <p:sp>
        <p:nvSpPr>
          <p:cNvPr id="52" name="Shape 49"/>
          <p:cNvSpPr/>
          <p:nvPr/>
        </p:nvSpPr>
        <p:spPr>
          <a:xfrm>
            <a:off x="8278368" y="3447288"/>
            <a:ext cx="256032" cy="256032"/>
          </a:xfrm>
          <a:prstGeom prst="ellipse">
            <a:avLst/>
          </a:prstGeom>
          <a:solidFill>
            <a:srgbClr val="F4F1EA"/>
          </a:solidFill>
          <a:ln w="12700">
            <a:solidFill>
              <a:srgbClr val="F4F1EA"/>
            </a:solidFill>
            <a:prstDash val="solid"/>
          </a:ln>
        </p:spPr>
      </p:sp>
      <p:sp>
        <p:nvSpPr>
          <p:cNvPr id="53" name="Text 50"/>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4" name="Text 51"/>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هٰذِهِ حَقِيبَةٌ. كَمْ ثَمَنُهُ؟</a:t>
            </a:r>
            <a:endParaRPr lang="ar-SA" sz="2050" dirty="0"/>
          </a:p>
        </p:txBody>
      </p:sp>
      <p:sp>
        <p:nvSpPr>
          <p:cNvPr id="55" name="Shape 52"/>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585216" y="4288536"/>
            <a:ext cx="310896" cy="310896"/>
          </a:xfrm>
          <a:prstGeom prst="ellipse">
            <a:avLst/>
          </a:prstGeom>
          <a:solidFill>
            <a:srgbClr val="1B3B6F"/>
          </a:solidFill>
          <a:ln w="12700">
            <a:solidFill>
              <a:srgbClr val="1B3B6F"/>
            </a:solidFill>
            <a:prstDash val="solid"/>
          </a:ln>
        </p:spPr>
      </p:sp>
      <p:sp>
        <p:nvSpPr>
          <p:cNvPr id="57" name="Text 5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58" name="Text 55"/>
          <p:cNvSpPr txBox="1"/>
          <p:nvPr/>
        </p:nvSpPr>
        <p:spPr>
          <a:xfrm>
            <a:off x="950976"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Complete:</a:t>
            </a:r>
            <a:endParaRPr lang="en-US" sz="1200" dirty="0"/>
          </a:p>
        </p:txBody>
      </p:sp>
      <p:sp>
        <p:nvSpPr>
          <p:cNvPr id="59" name="Text 56"/>
          <p:cNvSpPr txBox="1"/>
          <p:nvPr/>
        </p:nvSpPr>
        <p:spPr>
          <a:xfrm>
            <a:off x="2406701" y="4224528"/>
            <a:ext cx="1577035" cy="475488"/>
          </a:xfrm>
          <a:prstGeom prst="rect">
            <a:avLst/>
          </a:prstGeom>
          <a:noFill/>
          <a:ln/>
        </p:spPr>
        <p:txBody>
          <a:bodyPr wrap="square" lIns="0" tIns="0" rIns="0" bIns="0" rtlCol="0" anchor="ctr"/>
          <a:lstStyle/>
          <a:p>
            <a:pPr rtl="1" algn="r" indent="0" marL="0">
              <a:buNone/>
            </a:pPr>
            <a:r>
              <a:rPr lang="ar-SA" altLang="en-US" sz="1450" b="1" dirty="0">
                <a:solidFill>
                  <a:srgbClr val="1F2A37"/>
                </a:solidFill>
                <a:latin typeface="Amiri" pitchFamily="34" charset="0"/>
                <a:ea typeface="Amiri" pitchFamily="34" charset="-122"/>
                <a:cs typeface="Amiri" pitchFamily="34" charset="-120"/>
              </a:rPr>
              <a:t>الطَّاوِلَةُ ___ مِنَ الخَشَبِ.</a:t>
            </a:r>
            <a:endParaRPr lang="ar-SA" sz="1450" dirty="0"/>
          </a:p>
        </p:txBody>
      </p:sp>
      <p:sp>
        <p:nvSpPr>
          <p:cNvPr id="60" name="Shape 57"/>
          <p:cNvSpPr/>
          <p:nvPr/>
        </p:nvSpPr>
        <p:spPr>
          <a:xfrm>
            <a:off x="640080"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2" name="Text 59"/>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مَصْنُوعٌ</a:t>
            </a:r>
            <a:endParaRPr lang="ar-SA" sz="2050" dirty="0"/>
          </a:p>
        </p:txBody>
      </p:sp>
      <p:sp>
        <p:nvSpPr>
          <p:cNvPr id="63" name="Shape 60"/>
          <p:cNvSpPr/>
          <p:nvPr/>
        </p:nvSpPr>
        <p:spPr>
          <a:xfrm>
            <a:off x="640080"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5" name="Text 62"/>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مَصْنُوعُونَ</a:t>
            </a:r>
            <a:endParaRPr lang="ar-SA" sz="2050" dirty="0"/>
          </a:p>
        </p:txBody>
      </p:sp>
      <p:sp>
        <p:nvSpPr>
          <p:cNvPr id="66" name="Shape 63"/>
          <p:cNvSpPr/>
          <p:nvPr/>
        </p:nvSpPr>
        <p:spPr>
          <a:xfrm>
            <a:off x="640080"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8" name="Text 65"/>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مَصْنُوعَةٌ</a:t>
            </a:r>
            <a:endParaRPr lang="ar-SA" sz="2050" dirty="0"/>
          </a:p>
        </p:txBody>
      </p:sp>
      <p:sp>
        <p:nvSpPr>
          <p:cNvPr id="69" name="Shape 66"/>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4404360"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2" name="Text 69"/>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sentence is about the FUTURE?</a:t>
            </a:r>
            <a:endParaRPr lang="en-US" sz="1250" dirty="0"/>
          </a:p>
        </p:txBody>
      </p:sp>
      <p:sp>
        <p:nvSpPr>
          <p:cNvPr id="73" name="Shape 70"/>
          <p:cNvSpPr/>
          <p:nvPr/>
        </p:nvSpPr>
        <p:spPr>
          <a:xfrm>
            <a:off x="4459224"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75" name="Text 72"/>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أَرْسَلْتُ رِسَالَةً إِلَى صَدِيقِي.</a:t>
            </a:r>
            <a:endParaRPr lang="ar-SA" sz="2050" dirty="0"/>
          </a:p>
        </p:txBody>
      </p:sp>
      <p:sp>
        <p:nvSpPr>
          <p:cNvPr id="76" name="Shape 73"/>
          <p:cNvSpPr/>
          <p:nvPr/>
        </p:nvSpPr>
        <p:spPr>
          <a:xfrm>
            <a:off x="4459224"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8" name="Text 75"/>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أُرْسِلُ رِسَالَةً إِلَى صَدِيقِي.</a:t>
            </a:r>
            <a:endParaRPr lang="ar-SA" sz="2050" dirty="0"/>
          </a:p>
        </p:txBody>
      </p:sp>
      <p:sp>
        <p:nvSpPr>
          <p:cNvPr id="79" name="Shape 76"/>
          <p:cNvSpPr/>
          <p:nvPr/>
        </p:nvSpPr>
        <p:spPr>
          <a:xfrm>
            <a:off x="4459224"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81" name="Text 78"/>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سَأُرْسِلُ رِسَالَةً إِلَى صَدِيقِي.</a:t>
            </a:r>
            <a:endParaRPr lang="ar-SA" sz="2050" dirty="0"/>
          </a:p>
        </p:txBody>
      </p:sp>
      <p:sp>
        <p:nvSpPr>
          <p:cNvPr id="82" name="Shape 79"/>
          <p:cNvSpPr/>
          <p:nvPr/>
        </p:nvSpPr>
        <p:spPr>
          <a:xfrm>
            <a:off x="8095488" y="4151376"/>
            <a:ext cx="3636264" cy="2157984"/>
          </a:xfrm>
          <a:prstGeom prst="roundRect">
            <a:avLst>
              <a:gd name="adj" fmla="val 3390"/>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83" name="Text 80"/>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ea typeface="Calibri" pitchFamily="34" charset="-122"/>
                <a:cs typeface="Calibri" pitchFamily="34" charset="-120"/>
              </a:rPr>
              <a:t>HOW TO ANSWER</a:t>
            </a:r>
            <a:endParaRPr lang="en-US" sz="1000" dirty="0"/>
          </a:p>
        </p:txBody>
      </p:sp>
      <p:sp>
        <p:nvSpPr>
          <p:cNvPr id="84" name="Text 81"/>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ea typeface="Calibri" pitchFamily="34" charset="-122"/>
                <a:cs typeface="Calibri" pitchFamily="34" charset="-120"/>
              </a:rPr>
              <a:t>Work on your own in silence.</a:t>
            </a:r>
            <a:endParaRPr lang="en-US" sz="1250" dirty="0"/>
          </a:p>
          <a:p>
            <a:pPr algn="l" indent="0" marL="0">
              <a:buNone/>
            </a:pPr>
            <a:r>
              <a:rPr lang="en-US" sz="1250" dirty="0">
                <a:solidFill>
                  <a:srgbClr val="1F2A37"/>
                </a:solidFill>
                <a:latin typeface="Calibri" pitchFamily="34" charset="0"/>
                <a:ea typeface="Calibri" pitchFamily="34" charset="-122"/>
                <a:cs typeface="Calibri" pitchFamily="34" charset="-120"/>
              </a:rPr>
              <a:t>Private chat to the teacher:</a:t>
            </a:r>
            <a:endParaRPr lang="en-US" sz="1250" dirty="0"/>
          </a:p>
          <a:p>
            <a:pPr algn="l" indent="0" marL="0">
              <a:buNone/>
            </a:pPr>
            <a:r>
              <a:rPr lang="en-US" sz="1250" dirty="0">
                <a:solidFill>
                  <a:srgbClr val="1F2A37"/>
                </a:solidFill>
                <a:latin typeface="Calibri" pitchFamily="34" charset="0"/>
                <a:ea typeface="Calibri" pitchFamily="34" charset="-122"/>
                <a:cs typeface="Calibri" pitchFamily="34" charset="-120"/>
              </a:rPr>
              <a:t>A: 1_ 2_ 3_ 4_ 5_</a:t>
            </a:r>
            <a:endParaRPr lang="en-US" sz="125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10 / 33</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TC-L12 · Topic C Assessment</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I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ea typeface="Calibri" pitchFamily="34" charset="-122"/>
                <a:cs typeface="Calibri" pitchFamily="34" charset="-120"/>
              </a:rPr>
              <a:t>SECTION A · PART 1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Section A part 1: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4 · Lesson 3 of 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word means “the weather”?</a:t>
            </a:r>
            <a:endParaRPr lang="en-US" sz="1250" dirty="0"/>
          </a:p>
        </p:txBody>
      </p:sp>
      <p:sp>
        <p:nvSpPr>
          <p:cNvPr id="19" name="Shape 16"/>
          <p:cNvSpPr/>
          <p:nvPr/>
        </p:nvSpPr>
        <p:spPr>
          <a:xfrm>
            <a:off x="548640" y="2453640"/>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الطَّقْسُ</a:t>
            </a:r>
            <a:endParaRPr lang="ar-SA" sz="170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الشَّمَالُ</a:t>
            </a:r>
            <a:endParaRPr lang="ar-SA" sz="170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السُّوقُ</a:t>
            </a:r>
            <a:endParaRPr lang="ar-SA" sz="170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TC-L03: </a:t>
            </a:r>
            <a:pPr algn="l" indent="0" marL="0">
              <a:buNone/>
            </a:pPr>
            <a:r>
              <a:rPr lang="ar-SA" altLang="en-US" sz="1350" dirty="0">
                <a:solidFill>
                  <a:srgbClr val="8A6D1E"/>
                </a:solidFill>
                <a:latin typeface="Amiri" pitchFamily="34" charset="0"/>
                <a:ea typeface="Amiri" pitchFamily="34" charset="-122"/>
                <a:cs typeface="Amiri" pitchFamily="34" charset="-120"/>
              </a:rPr>
              <a:t>الطَّقْسُ</a:t>
            </a:r>
            <a:pPr algn="l" indent="0" marL="0">
              <a:buNone/>
            </a:pPr>
            <a:r>
              <a:rPr lang="en-US" sz="1050" i="1" dirty="0">
                <a:solidFill>
                  <a:srgbClr val="8A6D1E"/>
                </a:solidFill>
                <a:latin typeface="Calibri" pitchFamily="34" charset="0"/>
                <a:ea typeface="Calibri" pitchFamily="34" charset="-122"/>
                <a:cs typeface="Calibri" pitchFamily="34" charset="-120"/>
              </a:rPr>
              <a:t> = the weather.</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3" name="Text 30"/>
          <p:cNvSpPr txBox="1"/>
          <p:nvPr/>
        </p:nvSpPr>
        <p:spPr>
          <a:xfrm>
            <a:off x="4770120"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Complete:</a:t>
            </a:r>
            <a:endParaRPr lang="en-US" sz="1200" dirty="0"/>
          </a:p>
        </p:txBody>
      </p:sp>
      <p:sp>
        <p:nvSpPr>
          <p:cNvPr id="34" name="Text 31"/>
          <p:cNvSpPr txBox="1"/>
          <p:nvPr/>
        </p:nvSpPr>
        <p:spPr>
          <a:xfrm>
            <a:off x="6225845" y="1883664"/>
            <a:ext cx="1577035"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34" charset="0"/>
                <a:ea typeface="Amiri" pitchFamily="34" charset="-122"/>
                <a:cs typeface="Amiri" pitchFamily="34" charset="-120"/>
              </a:rPr>
              <a:t>___ مَكْتَبَةٌ فِي مَدِينَتِي.</a:t>
            </a:r>
            <a:endParaRPr lang="ar-SA" sz="1500" dirty="0"/>
          </a:p>
        </p:txBody>
      </p:sp>
      <p:sp>
        <p:nvSpPr>
          <p:cNvPr id="35" name="Shape 32"/>
          <p:cNvSpPr/>
          <p:nvPr/>
        </p:nvSpPr>
        <p:spPr>
          <a:xfrm>
            <a:off x="4459224" y="2490216"/>
            <a:ext cx="256032" cy="256032"/>
          </a:xfrm>
          <a:prstGeom prst="ellipse">
            <a:avLst/>
          </a:prstGeom>
          <a:solidFill>
            <a:srgbClr val="C9CED6"/>
          </a:solidFill>
          <a:ln w="12700">
            <a:solidFill>
              <a:srgbClr val="C9CED6"/>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يُوجَدُ</a:t>
            </a:r>
            <a:endParaRPr lang="ar-SA" sz="1700" dirty="0"/>
          </a:p>
        </p:txBody>
      </p:sp>
      <p:sp>
        <p:nvSpPr>
          <p:cNvPr id="38" name="Shape 35"/>
          <p:cNvSpPr/>
          <p:nvPr/>
        </p:nvSpPr>
        <p:spPr>
          <a:xfrm>
            <a:off x="4367784" y="2825496"/>
            <a:ext cx="3453384" cy="347472"/>
          </a:xfrm>
          <a:prstGeom prst="roundRect">
            <a:avLst>
              <a:gd name="adj" fmla="val 15789"/>
            </a:avLst>
          </a:prstGeom>
          <a:solidFill>
            <a:srgbClr val="E6F4EC"/>
          </a:solidFill>
          <a:ln w="9525">
            <a:solidFill>
              <a:srgbClr val="2E8B57"/>
            </a:solidFill>
            <a:prstDash val="solid"/>
          </a:ln>
        </p:spPr>
      </p:sp>
      <p:sp>
        <p:nvSpPr>
          <p:cNvPr id="39" name="Shape 36"/>
          <p:cNvSpPr/>
          <p:nvPr/>
        </p:nvSpPr>
        <p:spPr>
          <a:xfrm>
            <a:off x="4459224" y="2862072"/>
            <a:ext cx="256032" cy="256032"/>
          </a:xfrm>
          <a:prstGeom prst="ellipse">
            <a:avLst/>
          </a:prstGeom>
          <a:solidFill>
            <a:srgbClr val="2E8B57"/>
          </a:solidFill>
          <a:ln w="12700">
            <a:solidFill>
              <a:srgbClr val="2E8B57"/>
            </a:solidFill>
            <a:prstDash val="solid"/>
          </a:ln>
        </p:spPr>
      </p:sp>
      <p:sp>
        <p:nvSpPr>
          <p:cNvPr id="40" name="Text 37"/>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41" name="Text 38"/>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تُوجَدُ</a:t>
            </a:r>
            <a:endParaRPr lang="ar-SA" sz="1700" dirty="0"/>
          </a:p>
        </p:txBody>
      </p:sp>
      <p:sp>
        <p:nvSpPr>
          <p:cNvPr id="42" name="Shape 39"/>
          <p:cNvSpPr/>
          <p:nvPr/>
        </p:nvSpPr>
        <p:spPr>
          <a:xfrm>
            <a:off x="4459224" y="3233928"/>
            <a:ext cx="256032" cy="256032"/>
          </a:xfrm>
          <a:prstGeom prst="ellipse">
            <a:avLst/>
          </a:prstGeom>
          <a:solidFill>
            <a:srgbClr val="C9CED6"/>
          </a:solidFill>
          <a:ln w="12700">
            <a:solidFill>
              <a:srgbClr val="C9CED6"/>
            </a:solidFill>
            <a:prstDash val="solid"/>
          </a:ln>
        </p:spPr>
      </p:sp>
      <p:sp>
        <p:nvSpPr>
          <p:cNvPr id="43" name="Text 40"/>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4" name="Text 41"/>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يُوجَدُونَ</a:t>
            </a:r>
            <a:endParaRPr lang="ar-SA" sz="1700" dirty="0"/>
          </a:p>
        </p:txBody>
      </p:sp>
      <p:sp>
        <p:nvSpPr>
          <p:cNvPr id="45" name="Text 42"/>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TC-L08: </a:t>
            </a:r>
            <a:pPr algn="l" indent="0" marL="0">
              <a:buNone/>
            </a:pPr>
            <a:r>
              <a:rPr lang="ar-SA" altLang="en-US" sz="1350" dirty="0">
                <a:solidFill>
                  <a:srgbClr val="8A6D1E"/>
                </a:solidFill>
                <a:latin typeface="Amiri" pitchFamily="34" charset="0"/>
                <a:ea typeface="Amiri" pitchFamily="34" charset="-122"/>
                <a:cs typeface="Amiri" pitchFamily="34" charset="-120"/>
              </a:rPr>
              <a:t>مَكْتَبَةٌ</a:t>
            </a:r>
            <a:pPr algn="l" indent="0" marL="0">
              <a:buNone/>
            </a:pPr>
            <a:r>
              <a:rPr lang="en-US" sz="1050" i="1" dirty="0">
                <a:solidFill>
                  <a:srgbClr val="8A6D1E"/>
                </a:solidFill>
                <a:latin typeface="Calibri" pitchFamily="34" charset="0"/>
                <a:ea typeface="Calibri" pitchFamily="34" charset="-122"/>
                <a:cs typeface="Calibri" pitchFamily="34" charset="-120"/>
              </a:rPr>
              <a:t> is feminine → </a:t>
            </a:r>
            <a:pPr algn="l" indent="0" marL="0">
              <a:buNone/>
            </a:pPr>
            <a:r>
              <a:rPr lang="ar-SA" altLang="en-US" sz="1350" dirty="0">
                <a:solidFill>
                  <a:srgbClr val="8A6D1E"/>
                </a:solidFill>
                <a:latin typeface="Amiri" pitchFamily="34" charset="0"/>
                <a:ea typeface="Amiri" pitchFamily="34" charset="-122"/>
                <a:cs typeface="Amiri" pitchFamily="34" charset="-120"/>
              </a:rPr>
              <a:t>تُوجَدُ</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46" name="Shape 43"/>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7" name="Shape 44"/>
          <p:cNvSpPr/>
          <p:nvPr/>
        </p:nvSpPr>
        <p:spPr>
          <a:xfrm>
            <a:off x="8223504" y="1947672"/>
            <a:ext cx="310896" cy="310896"/>
          </a:xfrm>
          <a:prstGeom prst="ellipse">
            <a:avLst/>
          </a:prstGeom>
          <a:solidFill>
            <a:srgbClr val="1B3B6F"/>
          </a:solidFill>
          <a:ln w="12700">
            <a:solidFill>
              <a:srgbClr val="1B3B6F"/>
            </a:solidFill>
            <a:prstDash val="solid"/>
          </a:ln>
        </p:spPr>
      </p:sp>
      <p:sp>
        <p:nvSpPr>
          <p:cNvPr id="48" name="Text 45"/>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9" name="Text 46"/>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This is a bag. How much is it?</a:t>
            </a:r>
            <a:endParaRPr lang="en-US" sz="1250" dirty="0"/>
          </a:p>
        </p:txBody>
      </p:sp>
      <p:sp>
        <p:nvSpPr>
          <p:cNvPr id="50" name="Shape 47"/>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1" name="Shape 48"/>
          <p:cNvSpPr/>
          <p:nvPr/>
        </p:nvSpPr>
        <p:spPr>
          <a:xfrm>
            <a:off x="8278368" y="2490216"/>
            <a:ext cx="256032" cy="256032"/>
          </a:xfrm>
          <a:prstGeom prst="ellipse">
            <a:avLst/>
          </a:prstGeom>
          <a:solidFill>
            <a:srgbClr val="2E8B57"/>
          </a:solidFill>
          <a:ln w="12700">
            <a:solidFill>
              <a:srgbClr val="2E8B57"/>
            </a:solidFill>
            <a:prstDash val="solid"/>
          </a:ln>
        </p:spPr>
      </p:sp>
      <p:sp>
        <p:nvSpPr>
          <p:cNvPr id="52" name="Text 49"/>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53" name="Text 50"/>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هٰذِهِ حَقِيبَةٌ. كَمْ ثَمَنُهَا؟</a:t>
            </a:r>
            <a:endParaRPr lang="ar-SA" sz="1700" dirty="0"/>
          </a:p>
        </p:txBody>
      </p:sp>
      <p:sp>
        <p:nvSpPr>
          <p:cNvPr id="54" name="Shape 51"/>
          <p:cNvSpPr/>
          <p:nvPr/>
        </p:nvSpPr>
        <p:spPr>
          <a:xfrm>
            <a:off x="8278368" y="2862072"/>
            <a:ext cx="256032" cy="256032"/>
          </a:xfrm>
          <a:prstGeom prst="ellipse">
            <a:avLst/>
          </a:prstGeom>
          <a:solidFill>
            <a:srgbClr val="C9CED6"/>
          </a:solidFill>
          <a:ln w="12700">
            <a:solidFill>
              <a:srgbClr val="C9CED6"/>
            </a:solidFill>
            <a:prstDash val="solid"/>
          </a:ln>
        </p:spPr>
      </p:sp>
      <p:sp>
        <p:nvSpPr>
          <p:cNvPr id="55" name="Text 52"/>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6" name="Text 53"/>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هٰذَا حَقِيبَةٌ. كَمْ ثَمَنُهُ؟</a:t>
            </a:r>
            <a:endParaRPr lang="ar-SA" sz="1700" dirty="0"/>
          </a:p>
        </p:txBody>
      </p:sp>
      <p:sp>
        <p:nvSpPr>
          <p:cNvPr id="57" name="Shape 54"/>
          <p:cNvSpPr/>
          <p:nvPr/>
        </p:nvSpPr>
        <p:spPr>
          <a:xfrm>
            <a:off x="8278368" y="3233928"/>
            <a:ext cx="256032" cy="256032"/>
          </a:xfrm>
          <a:prstGeom prst="ellipse">
            <a:avLst/>
          </a:prstGeom>
          <a:solidFill>
            <a:srgbClr val="C9CED6"/>
          </a:solidFill>
          <a:ln w="12700">
            <a:solidFill>
              <a:srgbClr val="C9CED6"/>
            </a:solidFill>
            <a:prstDash val="solid"/>
          </a:ln>
        </p:spPr>
      </p:sp>
      <p:sp>
        <p:nvSpPr>
          <p:cNvPr id="58" name="Text 55"/>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9" name="Text 56"/>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هٰذِهِ حَقِيبَةٌ. كَمْ ثَمَنُهُ؟</a:t>
            </a:r>
            <a:endParaRPr lang="ar-SA" sz="1700" dirty="0"/>
          </a:p>
        </p:txBody>
      </p:sp>
      <p:sp>
        <p:nvSpPr>
          <p:cNvPr id="60" name="Text 57"/>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TC-L09: feminine → </a:t>
            </a:r>
            <a:pPr algn="l" indent="0" marL="0">
              <a:buNone/>
            </a:pPr>
            <a:r>
              <a:rPr lang="ar-SA" altLang="en-US" sz="1350" dirty="0">
                <a:solidFill>
                  <a:srgbClr val="8A6D1E"/>
                </a:solidFill>
                <a:latin typeface="Amiri" pitchFamily="34" charset="0"/>
                <a:ea typeface="Amiri" pitchFamily="34" charset="-122"/>
                <a:cs typeface="Amiri" pitchFamily="34" charset="-120"/>
              </a:rPr>
              <a:t>هٰذِهِ … ثَمَنُهَا</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61" name="Shape 58"/>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2" name="Shape 59"/>
          <p:cNvSpPr/>
          <p:nvPr/>
        </p:nvSpPr>
        <p:spPr>
          <a:xfrm>
            <a:off x="585216" y="4288536"/>
            <a:ext cx="310896" cy="310896"/>
          </a:xfrm>
          <a:prstGeom prst="ellipse">
            <a:avLst/>
          </a:prstGeom>
          <a:solidFill>
            <a:srgbClr val="1B3B6F"/>
          </a:solidFill>
          <a:ln w="12700">
            <a:solidFill>
              <a:srgbClr val="1B3B6F"/>
            </a:solidFill>
            <a:prstDash val="solid"/>
          </a:ln>
        </p:spPr>
      </p:sp>
      <p:sp>
        <p:nvSpPr>
          <p:cNvPr id="63" name="Text 6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64" name="Text 61"/>
          <p:cNvSpPr txBox="1"/>
          <p:nvPr/>
        </p:nvSpPr>
        <p:spPr>
          <a:xfrm>
            <a:off x="950976"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Complete:</a:t>
            </a:r>
            <a:endParaRPr lang="en-US" sz="1200" dirty="0"/>
          </a:p>
        </p:txBody>
      </p:sp>
      <p:sp>
        <p:nvSpPr>
          <p:cNvPr id="65" name="Text 62"/>
          <p:cNvSpPr txBox="1"/>
          <p:nvPr/>
        </p:nvSpPr>
        <p:spPr>
          <a:xfrm>
            <a:off x="2406701" y="4224528"/>
            <a:ext cx="1577035" cy="475488"/>
          </a:xfrm>
          <a:prstGeom prst="rect">
            <a:avLst/>
          </a:prstGeom>
          <a:noFill/>
          <a:ln/>
        </p:spPr>
        <p:txBody>
          <a:bodyPr wrap="square" lIns="0" tIns="0" rIns="0" bIns="0" rtlCol="0" anchor="ctr"/>
          <a:lstStyle/>
          <a:p>
            <a:pPr rtl="1" algn="r" indent="0" marL="0">
              <a:buNone/>
            </a:pPr>
            <a:r>
              <a:rPr lang="ar-SA" altLang="en-US" sz="1450" b="1" dirty="0">
                <a:solidFill>
                  <a:srgbClr val="1F2A37"/>
                </a:solidFill>
                <a:latin typeface="Amiri" pitchFamily="34" charset="0"/>
                <a:ea typeface="Amiri" pitchFamily="34" charset="-122"/>
                <a:cs typeface="Amiri" pitchFamily="34" charset="-120"/>
              </a:rPr>
              <a:t>الطَّاوِلَةُ ___ مِنَ الخَشَبِ.</a:t>
            </a:r>
            <a:endParaRPr lang="ar-SA" sz="1450" dirty="0"/>
          </a:p>
        </p:txBody>
      </p:sp>
      <p:sp>
        <p:nvSpPr>
          <p:cNvPr id="66" name="Shape 63"/>
          <p:cNvSpPr/>
          <p:nvPr/>
        </p:nvSpPr>
        <p:spPr>
          <a:xfrm>
            <a:off x="640080" y="4831080"/>
            <a:ext cx="256032" cy="256032"/>
          </a:xfrm>
          <a:prstGeom prst="ellipse">
            <a:avLst/>
          </a:prstGeom>
          <a:solidFill>
            <a:srgbClr val="C9CED6"/>
          </a:solidFill>
          <a:ln w="12700">
            <a:solidFill>
              <a:srgbClr val="C9CED6"/>
            </a:solidFill>
            <a:prstDash val="solid"/>
          </a:ln>
        </p:spPr>
      </p:sp>
      <p:sp>
        <p:nvSpPr>
          <p:cNvPr id="67" name="Text 64"/>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8" name="Text 65"/>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مَصْنُوعٌ</a:t>
            </a:r>
            <a:endParaRPr lang="ar-SA" sz="1700" dirty="0"/>
          </a:p>
        </p:txBody>
      </p:sp>
      <p:sp>
        <p:nvSpPr>
          <p:cNvPr id="69" name="Shape 66"/>
          <p:cNvSpPr/>
          <p:nvPr/>
        </p:nvSpPr>
        <p:spPr>
          <a:xfrm>
            <a:off x="640080" y="5202936"/>
            <a:ext cx="256032" cy="256032"/>
          </a:xfrm>
          <a:prstGeom prst="ellipse">
            <a:avLst/>
          </a:prstGeom>
          <a:solidFill>
            <a:srgbClr val="C9CED6"/>
          </a:solidFill>
          <a:ln w="12700">
            <a:solidFill>
              <a:srgbClr val="C9CED6"/>
            </a:solidFill>
            <a:prstDash val="solid"/>
          </a:ln>
        </p:spPr>
      </p:sp>
      <p:sp>
        <p:nvSpPr>
          <p:cNvPr id="70" name="Text 67"/>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1" name="Text 68"/>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مَصْنُوعُونَ</a:t>
            </a:r>
            <a:endParaRPr lang="ar-SA" sz="1700" dirty="0"/>
          </a:p>
        </p:txBody>
      </p:sp>
      <p:sp>
        <p:nvSpPr>
          <p:cNvPr id="72" name="Shape 69"/>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3" name="Shape 70"/>
          <p:cNvSpPr/>
          <p:nvPr/>
        </p:nvSpPr>
        <p:spPr>
          <a:xfrm>
            <a:off x="640080" y="5574792"/>
            <a:ext cx="256032" cy="256032"/>
          </a:xfrm>
          <a:prstGeom prst="ellipse">
            <a:avLst/>
          </a:prstGeom>
          <a:solidFill>
            <a:srgbClr val="2E8B57"/>
          </a:solidFill>
          <a:ln w="12700">
            <a:solidFill>
              <a:srgbClr val="2E8B57"/>
            </a:solidFill>
            <a:prstDash val="solid"/>
          </a:ln>
        </p:spPr>
      </p:sp>
      <p:sp>
        <p:nvSpPr>
          <p:cNvPr id="74" name="Text 71"/>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75" name="Text 72"/>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مَصْنُوعَةٌ</a:t>
            </a:r>
            <a:endParaRPr lang="ar-SA" sz="1700" dirty="0"/>
          </a:p>
        </p:txBody>
      </p:sp>
      <p:sp>
        <p:nvSpPr>
          <p:cNvPr id="76" name="Text 73"/>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TC-L10: </a:t>
            </a:r>
            <a:pPr algn="l" indent="0" marL="0">
              <a:buNone/>
            </a:pPr>
            <a:r>
              <a:rPr lang="ar-SA" altLang="en-US" sz="1350" dirty="0">
                <a:solidFill>
                  <a:srgbClr val="8A6D1E"/>
                </a:solidFill>
                <a:latin typeface="Amiri" pitchFamily="34" charset="0"/>
                <a:ea typeface="Amiri" pitchFamily="34" charset="-122"/>
                <a:cs typeface="Amiri" pitchFamily="34" charset="-120"/>
              </a:rPr>
              <a:t>الطَّاوِلَةُ</a:t>
            </a:r>
            <a:pPr algn="l" indent="0" marL="0">
              <a:buNone/>
            </a:pPr>
            <a:r>
              <a:rPr lang="en-US" sz="1050" i="1" dirty="0">
                <a:solidFill>
                  <a:srgbClr val="8A6D1E"/>
                </a:solidFill>
                <a:latin typeface="Calibri" pitchFamily="34" charset="0"/>
                <a:ea typeface="Calibri" pitchFamily="34" charset="-122"/>
                <a:cs typeface="Calibri" pitchFamily="34" charset="-120"/>
              </a:rPr>
              <a:t> is feminine → </a:t>
            </a:r>
            <a:pPr algn="l" indent="0" marL="0">
              <a:buNone/>
            </a:pPr>
            <a:r>
              <a:rPr lang="ar-SA" altLang="en-US" sz="1350" dirty="0">
                <a:solidFill>
                  <a:srgbClr val="8A6D1E"/>
                </a:solidFill>
                <a:latin typeface="Amiri" pitchFamily="34" charset="0"/>
                <a:ea typeface="Amiri" pitchFamily="34" charset="-122"/>
                <a:cs typeface="Amiri" pitchFamily="34" charset="-120"/>
              </a:rPr>
              <a:t>مَصْنُوعَةٌ</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77" name="Shape 7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8" name="Shape 75"/>
          <p:cNvSpPr/>
          <p:nvPr/>
        </p:nvSpPr>
        <p:spPr>
          <a:xfrm>
            <a:off x="4404360" y="4288536"/>
            <a:ext cx="310896" cy="310896"/>
          </a:xfrm>
          <a:prstGeom prst="ellipse">
            <a:avLst/>
          </a:prstGeom>
          <a:solidFill>
            <a:srgbClr val="1B3B6F"/>
          </a:solidFill>
          <a:ln w="12700">
            <a:solidFill>
              <a:srgbClr val="1B3B6F"/>
            </a:solidFill>
            <a:prstDash val="solid"/>
          </a:ln>
        </p:spPr>
      </p:sp>
      <p:sp>
        <p:nvSpPr>
          <p:cNvPr id="79" name="Text 7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80" name="Text 7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sentence is about the FUTURE?</a:t>
            </a:r>
            <a:endParaRPr lang="en-US" sz="1250" dirty="0"/>
          </a:p>
        </p:txBody>
      </p:sp>
      <p:sp>
        <p:nvSpPr>
          <p:cNvPr id="81" name="Shape 78"/>
          <p:cNvSpPr/>
          <p:nvPr/>
        </p:nvSpPr>
        <p:spPr>
          <a:xfrm>
            <a:off x="4459224" y="4831080"/>
            <a:ext cx="256032" cy="256032"/>
          </a:xfrm>
          <a:prstGeom prst="ellipse">
            <a:avLst/>
          </a:prstGeom>
          <a:solidFill>
            <a:srgbClr val="C9CED6"/>
          </a:solidFill>
          <a:ln w="12700">
            <a:solidFill>
              <a:srgbClr val="C9CED6"/>
            </a:solidFill>
            <a:prstDash val="solid"/>
          </a:ln>
        </p:spPr>
      </p:sp>
      <p:sp>
        <p:nvSpPr>
          <p:cNvPr id="82" name="Text 79"/>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83" name="Text 80"/>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أَرْسَلْتُ رِسَالَةً إِلَى صَدِيقِي.</a:t>
            </a:r>
            <a:endParaRPr lang="ar-SA" sz="1700" dirty="0"/>
          </a:p>
        </p:txBody>
      </p:sp>
      <p:sp>
        <p:nvSpPr>
          <p:cNvPr id="84" name="Shape 81"/>
          <p:cNvSpPr/>
          <p:nvPr/>
        </p:nvSpPr>
        <p:spPr>
          <a:xfrm>
            <a:off x="4459224" y="5202936"/>
            <a:ext cx="256032" cy="256032"/>
          </a:xfrm>
          <a:prstGeom prst="ellipse">
            <a:avLst/>
          </a:prstGeom>
          <a:solidFill>
            <a:srgbClr val="C9CED6"/>
          </a:solidFill>
          <a:ln w="12700">
            <a:solidFill>
              <a:srgbClr val="C9CED6"/>
            </a:solidFill>
            <a:prstDash val="solid"/>
          </a:ln>
        </p:spPr>
      </p:sp>
      <p:sp>
        <p:nvSpPr>
          <p:cNvPr id="85" name="Text 82"/>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86" name="Text 83"/>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أُرْسِلُ رِسَالَةً إِلَى صَدِيقِي.</a:t>
            </a:r>
            <a:endParaRPr lang="ar-SA" sz="1700" dirty="0"/>
          </a:p>
        </p:txBody>
      </p:sp>
      <p:sp>
        <p:nvSpPr>
          <p:cNvPr id="87" name="Shape 84"/>
          <p:cNvSpPr/>
          <p:nvPr/>
        </p:nvSpPr>
        <p:spPr>
          <a:xfrm>
            <a:off x="4367784" y="5538216"/>
            <a:ext cx="3453384" cy="347472"/>
          </a:xfrm>
          <a:prstGeom prst="roundRect">
            <a:avLst>
              <a:gd name="adj" fmla="val 15789"/>
            </a:avLst>
          </a:prstGeom>
          <a:solidFill>
            <a:srgbClr val="E6F4EC"/>
          </a:solidFill>
          <a:ln w="9525">
            <a:solidFill>
              <a:srgbClr val="2E8B57"/>
            </a:solidFill>
            <a:prstDash val="solid"/>
          </a:ln>
        </p:spPr>
      </p:sp>
      <p:sp>
        <p:nvSpPr>
          <p:cNvPr id="88" name="Shape 85"/>
          <p:cNvSpPr/>
          <p:nvPr/>
        </p:nvSpPr>
        <p:spPr>
          <a:xfrm>
            <a:off x="4459224" y="5574792"/>
            <a:ext cx="256032" cy="256032"/>
          </a:xfrm>
          <a:prstGeom prst="ellipse">
            <a:avLst/>
          </a:prstGeom>
          <a:solidFill>
            <a:srgbClr val="2E8B57"/>
          </a:solidFill>
          <a:ln w="12700">
            <a:solidFill>
              <a:srgbClr val="2E8B57"/>
            </a:solidFill>
            <a:prstDash val="solid"/>
          </a:ln>
        </p:spPr>
      </p:sp>
      <p:sp>
        <p:nvSpPr>
          <p:cNvPr id="89" name="Text 86"/>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90" name="Text 87"/>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سَأُرْسِلُ رِسَالَةً إِلَى صَدِيقِي.</a:t>
            </a:r>
            <a:endParaRPr lang="ar-SA" sz="1700" dirty="0"/>
          </a:p>
        </p:txBody>
      </p:sp>
      <p:sp>
        <p:nvSpPr>
          <p:cNvPr id="91" name="Text 88"/>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TC-L06 / L11: </a:t>
            </a:r>
            <a:pPr algn="l" indent="0" marL="0">
              <a:buNone/>
            </a:pPr>
            <a:r>
              <a:rPr lang="ar-SA" altLang="en-US" sz="1350" dirty="0">
                <a:solidFill>
                  <a:srgbClr val="8A6D1E"/>
                </a:solidFill>
                <a:latin typeface="Amiri" pitchFamily="34" charset="0"/>
                <a:ea typeface="Amiri" pitchFamily="34" charset="-122"/>
                <a:cs typeface="Amiri" pitchFamily="34" charset="-120"/>
              </a:rPr>
              <a:t>سَـ</a:t>
            </a:r>
            <a:pPr algn="l" indent="0" marL="0">
              <a:buNone/>
            </a:pPr>
            <a:r>
              <a:rPr lang="en-US" sz="1050" i="1" dirty="0">
                <a:solidFill>
                  <a:srgbClr val="8A6D1E"/>
                </a:solidFill>
                <a:latin typeface="Calibri" pitchFamily="34" charset="0"/>
                <a:ea typeface="Calibri" pitchFamily="34" charset="-122"/>
                <a:cs typeface="Calibri" pitchFamily="34" charset="-120"/>
              </a:rPr>
              <a:t> = will.</a:t>
            </a:r>
            <a:endParaRPr lang="en-US" sz="1050" dirty="0"/>
          </a:p>
        </p:txBody>
      </p:sp>
      <p:sp>
        <p:nvSpPr>
          <p:cNvPr id="92" name="Shape 89"/>
          <p:cNvSpPr/>
          <p:nvPr/>
        </p:nvSpPr>
        <p:spPr>
          <a:xfrm>
            <a:off x="8095488" y="4151376"/>
            <a:ext cx="3636264" cy="2157984"/>
          </a:xfrm>
          <a:prstGeom prst="roundRect">
            <a:avLst>
              <a:gd name="adj" fmla="val 3390"/>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93" name="Text 90"/>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ea typeface="Calibri" pitchFamily="34" charset="-122"/>
                <a:cs typeface="Calibri" pitchFamily="34" charset="-120"/>
              </a:rPr>
              <a:t>HOW TO ANSWER</a:t>
            </a:r>
            <a:endParaRPr lang="en-US" sz="1000" dirty="0"/>
          </a:p>
        </p:txBody>
      </p:sp>
      <p:sp>
        <p:nvSpPr>
          <p:cNvPr id="94" name="Text 91"/>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ea typeface="Calibri" pitchFamily="34" charset="-122"/>
                <a:cs typeface="Calibri" pitchFamily="34" charset="-120"/>
              </a:rPr>
              <a:t>Work on your own in silence.</a:t>
            </a:r>
            <a:endParaRPr lang="en-US" sz="1250" dirty="0"/>
          </a:p>
          <a:p>
            <a:pPr algn="l" indent="0" marL="0">
              <a:buNone/>
            </a:pPr>
            <a:r>
              <a:rPr lang="en-US" sz="1250" dirty="0">
                <a:solidFill>
                  <a:srgbClr val="1F2A37"/>
                </a:solidFill>
                <a:latin typeface="Calibri" pitchFamily="34" charset="0"/>
                <a:ea typeface="Calibri" pitchFamily="34" charset="-122"/>
                <a:cs typeface="Calibri" pitchFamily="34" charset="-120"/>
              </a:rPr>
              <a:t>Private chat to the teacher:</a:t>
            </a:r>
            <a:endParaRPr lang="en-US" sz="1250" dirty="0"/>
          </a:p>
          <a:p>
            <a:pPr algn="l" indent="0" marL="0">
              <a:buNone/>
            </a:pPr>
            <a:r>
              <a:rPr lang="en-US" sz="1250" dirty="0">
                <a:solidFill>
                  <a:srgbClr val="1F2A37"/>
                </a:solidFill>
                <a:latin typeface="Calibri" pitchFamily="34" charset="0"/>
                <a:ea typeface="Calibri" pitchFamily="34" charset="-122"/>
                <a:cs typeface="Calibri" pitchFamily="34" charset="-120"/>
              </a:rPr>
              <a:t>A: 1_ 2_ 3_ 4_ 5_</a:t>
            </a:r>
            <a:endParaRPr lang="en-US" sz="1250" dirty="0"/>
          </a:p>
        </p:txBody>
      </p:sp>
      <p:sp>
        <p:nvSpPr>
          <p:cNvPr id="95" name="Text 9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11 / 33</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TC-L12 · Topic C Assessment</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I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6B4C9A"/>
                </a:solidFill>
                <a:latin typeface="Calibri" pitchFamily="34" charset="0"/>
                <a:ea typeface="Calibri" pitchFamily="34" charset="-122"/>
                <a:cs typeface="Calibri" pitchFamily="34" charset="-120"/>
              </a:rPr>
              <a:t>SECTION A · PART 2 · DEVELOP / STRETCH · WEBSITE GRAMMAR · 5 MARKS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50" b="1" dirty="0">
                <a:solidFill>
                  <a:srgbClr val="1B3B6F"/>
                </a:solidFill>
                <a:latin typeface="Cambria" pitchFamily="34" charset="0"/>
                <a:ea typeface="Cambria" pitchFamily="34" charset="-122"/>
                <a:cs typeface="Cambria" pitchFamily="34" charset="-120"/>
              </a:rPr>
              <a:t>Section A: website grammar questions</a:t>
            </a:r>
            <a:endParaRPr lang="en-US" sz="24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القِسْمُ أ · ٢</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4 · Lesson 3 of 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the accurate weather agreement.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تَهُبَّ الرِّيَاحَ وَتَسْقُطَ الثُّلُوجَ.</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تَهُبُّ الرِّيَاحُ وَتَسْقُطُ الثُّلُوجُ.</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يَهُبُّ الرِّيَاحُ وَيَسْقُطُ الثُّلُوجُ.</a:t>
            </a:r>
            <a:endParaRPr lang="ar-SA" sz="20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7</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the true environmental passive.</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يُلَوَّثُ الهَوَاءُ بِعَوَادِمِ السَّيَّارَاتِ.</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يَلَوِّثُ الهَوَاءُ عَوَادِمَ السَّيَّارَاتِ.</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يَنْبَعِثُ الهَوَاءُ السَّيَّارَاتِ.</a:t>
            </a:r>
            <a:endParaRPr lang="ar-SA" sz="20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8</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connector must be followed by </a:t>
            </a:r>
            <a:pPr algn="l" indent="0" marL="0">
              <a:buNone/>
            </a:pPr>
            <a:r>
              <a:rPr lang="ar-SA" altLang="en-US" sz="1650" b="1" dirty="0">
                <a:solidFill>
                  <a:srgbClr val="1B3B6F"/>
                </a:solidFill>
                <a:latin typeface="Amiri" pitchFamily="34" charset="0"/>
                <a:ea typeface="Amiri" pitchFamily="34" charset="-122"/>
                <a:cs typeface="Amiri" pitchFamily="34" charset="-120"/>
              </a:rPr>
              <a:t>إِلَى</a:t>
            </a:r>
            <a:pPr algn="l" indent="0" marL="0">
              <a:buNone/>
            </a:pPr>
            <a:r>
              <a:rPr lang="en-US" sz="1250" b="1" dirty="0">
                <a:solidFill>
                  <a:srgbClr val="1B3B6F"/>
                </a:solidFill>
                <a:latin typeface="Calibri" pitchFamily="34" charset="0"/>
                <a:ea typeface="Calibri" pitchFamily="34" charset="-122"/>
                <a:cs typeface="Calibri" pitchFamily="34" charset="-120"/>
              </a:rPr>
              <a:t>?</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بِسَبَبِ</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مِمَّا</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يُؤَدِّي</a:t>
            </a:r>
            <a:endParaRPr lang="ar-SA" sz="2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9</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the accurate subjunctive after </a:t>
            </a:r>
            <a:pPr algn="l" indent="0" marL="0">
              <a:buNone/>
            </a:pPr>
            <a:r>
              <a:rPr lang="ar-SA" altLang="en-US" sz="1650" b="1" dirty="0">
                <a:solidFill>
                  <a:srgbClr val="1B3B6F"/>
                </a:solidFill>
                <a:latin typeface="Amiri" pitchFamily="34" charset="0"/>
                <a:ea typeface="Amiri" pitchFamily="34" charset="-122"/>
                <a:cs typeface="Amiri" pitchFamily="34" charset="-120"/>
              </a:rPr>
              <a:t>أَنْ</a:t>
            </a:r>
            <a:pPr algn="l" indent="0" marL="0">
              <a:buNone/>
            </a:pPr>
            <a:r>
              <a:rPr lang="en-US" sz="1250" b="1" dirty="0">
                <a:solidFill>
                  <a:srgbClr val="1B3B6F"/>
                </a:solidFill>
                <a:latin typeface="Calibri" pitchFamily="34" charset="0"/>
                <a:ea typeface="Calibri" pitchFamily="34" charset="-122"/>
                <a:cs typeface="Calibri" pitchFamily="34" charset="-120"/>
              </a:rPr>
              <a:t>.</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يَنْبَغِي أَنْ نُقَلِّلْ النُّفَايَاتِ.</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يَنْبَغِي أَنْ نُقَلِّلُ النُّفَايَاتِ.</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يَنْبَغِي أَنْ نُقَلِّلَ النُّفَايَاتِ.</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10</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conclusion is balanced and conditional?</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1200" dirty="0">
                <a:solidFill>
                  <a:srgbClr val="1F2A37"/>
                </a:solidFill>
                <a:latin typeface="Amiri" pitchFamily="34" charset="0"/>
                <a:ea typeface="Amiri" pitchFamily="34" charset="-122"/>
                <a:cs typeface="Amiri" pitchFamily="34" charset="-120"/>
              </a:rPr>
              <a:t>التِّقْنِيَّةُ مُفِيدَةٌ إِلَى حَدٍّ مَا، شَرِيطَةَ أَنْ تُطَبَّقَ بِمَسْؤُولِيَّةٍ.</a:t>
            </a:r>
            <a:endParaRPr lang="ar-SA" sz="120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1200" dirty="0">
                <a:solidFill>
                  <a:srgbClr val="1F2A37"/>
                </a:solidFill>
                <a:latin typeface="Amiri" pitchFamily="34" charset="0"/>
                <a:ea typeface="Amiri" pitchFamily="34" charset="-122"/>
                <a:cs typeface="Amiri" pitchFamily="34" charset="-120"/>
              </a:rPr>
              <a:t>التِّقْنِيَّةُ مُفِيدَةٌ دَائِمًا دُونَ شُرُوطٍ.</a:t>
            </a:r>
            <a:endParaRPr lang="ar-SA" sz="120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1200" dirty="0">
                <a:solidFill>
                  <a:srgbClr val="1F2A37"/>
                </a:solidFill>
                <a:latin typeface="Amiri" pitchFamily="34" charset="0"/>
                <a:ea typeface="Amiri" pitchFamily="34" charset="-122"/>
                <a:cs typeface="Amiri" pitchFamily="34" charset="-120"/>
              </a:rPr>
              <a:t>التِّقْنِيَّةُ غَيْرُ مُفِيدَةٍ لِأَنَّهَا تِقْنِيَّةٌ.</a:t>
            </a:r>
            <a:endParaRPr lang="ar-SA" sz="1200" dirty="0"/>
          </a:p>
        </p:txBody>
      </p:sp>
      <p:sp>
        <p:nvSpPr>
          <p:cNvPr id="80" name="Shape 7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82" name="Text 7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CORE</a:t>
            </a:r>
            <a:endParaRPr lang="en-US" sz="850" dirty="0"/>
          </a:p>
        </p:txBody>
      </p:sp>
      <p:sp>
        <p:nvSpPr>
          <p:cNvPr id="83" name="Text 80"/>
          <p:cNvSpPr txBox="1"/>
          <p:nvPr/>
        </p:nvSpPr>
        <p:spPr>
          <a:xfrm>
            <a:off x="8296656" y="4791456"/>
            <a:ext cx="3270504" cy="1380744"/>
          </a:xfrm>
          <a:prstGeom prst="rect">
            <a:avLst/>
          </a:prstGeom>
          <a:noFill/>
          <a:ln/>
        </p:spPr>
        <p:txBody>
          <a:bodyPr wrap="square" lIns="0" tIns="0" rIns="0" bIns="0" rtlCol="0" anchor="t"/>
          <a:lstStyle/>
          <a:p>
            <a:pPr algn="l" indent="0" marL="0">
              <a:lnSpc>
                <a:spcPct val="115000"/>
              </a:lnSpc>
              <a:buNone/>
            </a:pPr>
            <a:r>
              <a:rPr lang="en-US" sz="1250" dirty="0">
                <a:solidFill>
                  <a:srgbClr val="1E6B52"/>
                </a:solidFill>
                <a:latin typeface="Calibri" pitchFamily="34" charset="0"/>
                <a:ea typeface="Calibri" pitchFamily="34" charset="-122"/>
                <a:cs typeface="Calibri" pitchFamily="34" charset="-120"/>
              </a:rPr>
              <a:t>Try question 8 first: which word always comes before </a:t>
            </a:r>
            <a:pPr algn="l" indent="0" marL="0">
              <a:lnSpc>
                <a:spcPct val="115000"/>
              </a:lnSpc>
              <a:buNone/>
            </a:pPr>
            <a:r>
              <a:rPr lang="ar-SA" altLang="en-US" sz="1650" dirty="0">
                <a:solidFill>
                  <a:srgbClr val="1E6B52"/>
                </a:solidFill>
                <a:latin typeface="Amiri" pitchFamily="34" charset="0"/>
                <a:ea typeface="Amiri" pitchFamily="34" charset="-122"/>
                <a:cs typeface="Amiri" pitchFamily="34" charset="-120"/>
              </a:rPr>
              <a:t>إِلَى</a:t>
            </a:r>
            <a:pPr algn="l" indent="0" marL="0">
              <a:lnSpc>
                <a:spcPct val="115000"/>
              </a:lnSpc>
              <a:buNone/>
            </a:pPr>
            <a:r>
              <a:rPr lang="en-US" sz="1250" dirty="0">
                <a:solidFill>
                  <a:srgbClr val="1E6B52"/>
                </a:solidFill>
                <a:latin typeface="Calibri" pitchFamily="34" charset="0"/>
                <a:ea typeface="Calibri" pitchFamily="34" charset="-122"/>
                <a:cs typeface="Calibri" pitchFamily="34" charset="-120"/>
              </a:rPr>
              <a:t>?</a:t>
            </a:r>
            <a:endParaRPr lang="en-US" sz="1250" dirty="0"/>
          </a:p>
          <a:p>
            <a:pPr algn="l" indent="0" marL="0">
              <a:lnSpc>
                <a:spcPct val="115000"/>
              </a:lnSpc>
              <a:buNone/>
            </a:pPr>
            <a:r>
              <a:rPr lang="en-US" sz="1250" dirty="0">
                <a:solidFill>
                  <a:srgbClr val="1E6B52"/>
                </a:solidFill>
                <a:latin typeface="Calibri" pitchFamily="34" charset="0"/>
                <a:ea typeface="Calibri" pitchFamily="34" charset="-122"/>
                <a:cs typeface="Calibri" pitchFamily="34" charset="-120"/>
              </a:rPr>
              <a:t>Then try the others — no penalty for trying.</a:t>
            </a:r>
            <a:endParaRPr lang="en-US" sz="125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12 / 33</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TC-L12 · Topic C Assessment</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I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ea typeface="Calibri" pitchFamily="34" charset="-122"/>
                <a:cs typeface="Calibri" pitchFamily="34" charset="-120"/>
              </a:rPr>
              <a:t>SECTION A · PART 2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Section A part 2: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4 · Lesson 3 of 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the accurate weather agreement.</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تَهُبَّ الرِّيَاحَ وَتَسْقُطَ الثُّلُوجَ.</a:t>
            </a:r>
            <a:endParaRPr lang="ar-SA" sz="170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تَهُبُّ الرِّيَاحُ وَتَسْقُطُ الثُّلُوجُ.</a:t>
            </a:r>
            <a:endParaRPr lang="ar-SA" sz="170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يَهُبُّ الرِّيَاحُ وَيَسْقُطُ الثُّلُوجُ.</a:t>
            </a:r>
            <a:endParaRPr lang="ar-SA" sz="170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Both subjects take feminine agreement.</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7</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the true environmental passive.</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يُلَوَّثُ الهَوَاءُ بِعَوَادِمِ السَّيَّارَاتِ.</a:t>
            </a:r>
            <a:endParaRPr lang="ar-SA" sz="170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يَلَوِّثُ الهَوَاءُ عَوَادِمَ السَّيَّارَاتِ.</a:t>
            </a:r>
            <a:endParaRPr lang="ar-SA" sz="170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يَنْبَعِثُ الهَوَاءُ السَّيَّارَاتِ.</a:t>
            </a:r>
            <a:endParaRPr lang="ar-SA" sz="170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The air is the affected grammatical subject.</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8</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connector must be followed by </a:t>
            </a:r>
            <a:pPr algn="l" indent="0" marL="0">
              <a:buNone/>
            </a:pPr>
            <a:r>
              <a:rPr lang="ar-SA" altLang="en-US" sz="1650" b="1" dirty="0">
                <a:solidFill>
                  <a:srgbClr val="1B3B6F"/>
                </a:solidFill>
                <a:latin typeface="Amiri" pitchFamily="34" charset="0"/>
                <a:ea typeface="Amiri" pitchFamily="34" charset="-122"/>
                <a:cs typeface="Amiri" pitchFamily="34" charset="-120"/>
              </a:rPr>
              <a:t>إِلَى</a:t>
            </a:r>
            <a:pPr algn="l" indent="0" marL="0">
              <a:buNone/>
            </a:pPr>
            <a:r>
              <a:rPr lang="en-US" sz="1250" b="1" dirty="0">
                <a:solidFill>
                  <a:srgbClr val="1B3B6F"/>
                </a:solidFill>
                <a:latin typeface="Calibri" pitchFamily="34" charset="0"/>
                <a:ea typeface="Calibri" pitchFamily="34" charset="-122"/>
                <a:cs typeface="Calibri" pitchFamily="34" charset="-120"/>
              </a:rPr>
              <a:t>?</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بِسَبَبِ</a:t>
            </a:r>
            <a:endParaRPr lang="ar-SA" sz="170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مِمَّا</a:t>
            </a:r>
            <a:endParaRPr lang="ar-SA" sz="170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يُؤَدِّي</a:t>
            </a:r>
            <a:endParaRPr lang="ar-SA" sz="17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The fixed result pattern is </a:t>
            </a:r>
            <a:pPr algn="l" indent="0" marL="0">
              <a:buNone/>
            </a:pPr>
            <a:r>
              <a:rPr lang="ar-SA" altLang="en-US" sz="1350" dirty="0">
                <a:solidFill>
                  <a:srgbClr val="8A6D1E"/>
                </a:solidFill>
                <a:latin typeface="Amiri" pitchFamily="34" charset="0"/>
                <a:ea typeface="Amiri" pitchFamily="34" charset="-122"/>
                <a:cs typeface="Amiri" pitchFamily="34" charset="-120"/>
              </a:rPr>
              <a:t>يؤدي إلى</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9</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the accurate subjunctive after </a:t>
            </a:r>
            <a:pPr algn="l" indent="0" marL="0">
              <a:buNone/>
            </a:pPr>
            <a:r>
              <a:rPr lang="ar-SA" altLang="en-US" sz="1650" b="1" dirty="0">
                <a:solidFill>
                  <a:srgbClr val="1B3B6F"/>
                </a:solidFill>
                <a:latin typeface="Amiri" pitchFamily="34" charset="0"/>
                <a:ea typeface="Amiri" pitchFamily="34" charset="-122"/>
                <a:cs typeface="Amiri" pitchFamily="34" charset="-120"/>
              </a:rPr>
              <a:t>أَنْ</a:t>
            </a:r>
            <a:pPr algn="l" indent="0" marL="0">
              <a:buNone/>
            </a:pPr>
            <a:r>
              <a:rPr lang="en-US" sz="1250" b="1" dirty="0">
                <a:solidFill>
                  <a:srgbClr val="1B3B6F"/>
                </a:solidFill>
                <a:latin typeface="Calibri" pitchFamily="34" charset="0"/>
                <a:ea typeface="Calibri" pitchFamily="34" charset="-122"/>
                <a:cs typeface="Calibri" pitchFamily="34" charset="-120"/>
              </a:rPr>
              <a:t>.</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يَنْبَغِي أَنْ نُقَلِّلْ النُّفَايَاتِ.</a:t>
            </a:r>
            <a:endParaRPr lang="ar-SA" sz="170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يَنْبَغِي أَنْ نُقَلِّلُ النُّفَايَاتِ.</a:t>
            </a:r>
            <a:endParaRPr lang="ar-SA" sz="170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يَنْبَغِي أَنْ نُقَلِّلَ النُّفَايَاتِ.</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نقلل</a:t>
            </a:r>
            <a:pPr algn="l" indent="0" marL="0">
              <a:buNone/>
            </a:pPr>
            <a:r>
              <a:rPr lang="en-US" sz="1050" i="1" dirty="0">
                <a:solidFill>
                  <a:srgbClr val="8A6D1E"/>
                </a:solidFill>
                <a:latin typeface="Calibri" pitchFamily="34" charset="0"/>
                <a:ea typeface="Calibri" pitchFamily="34" charset="-122"/>
                <a:cs typeface="Calibri" pitchFamily="34" charset="-120"/>
              </a:rPr>
              <a:t> is a sound-ending present verb and takes final fatḥa; it is not one of the five verbs.</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10</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conclusion is balanced and conditional?</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200" b="1" dirty="0">
                <a:solidFill>
                  <a:srgbClr val="1F2A37"/>
                </a:solidFill>
                <a:latin typeface="Amiri" pitchFamily="34" charset="0"/>
                <a:ea typeface="Amiri" pitchFamily="34" charset="-122"/>
                <a:cs typeface="Amiri" pitchFamily="34" charset="-120"/>
              </a:rPr>
              <a:t>التِّقْنِيَّةُ مُفِيدَةٌ إِلَى حَدٍّ مَا، شَرِيطَةَ أَنْ تُطَبَّقَ بِمَسْؤُولِيَّةٍ.</a:t>
            </a:r>
            <a:endParaRPr lang="ar-SA" sz="120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200" dirty="0">
                <a:solidFill>
                  <a:srgbClr val="9AA1AB"/>
                </a:solidFill>
                <a:latin typeface="Amiri" pitchFamily="34" charset="0"/>
                <a:ea typeface="Amiri" pitchFamily="34" charset="-122"/>
                <a:cs typeface="Amiri" pitchFamily="34" charset="-120"/>
              </a:rPr>
              <a:t>التِّقْنِيَّةُ مُفِيدَةٌ دَائِمًا دُونَ شُرُوطٍ.</a:t>
            </a:r>
            <a:endParaRPr lang="ar-SA" sz="120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200" dirty="0">
                <a:solidFill>
                  <a:srgbClr val="9AA1AB"/>
                </a:solidFill>
                <a:latin typeface="Amiri" pitchFamily="34" charset="0"/>
                <a:ea typeface="Amiri" pitchFamily="34" charset="-122"/>
                <a:cs typeface="Amiri" pitchFamily="34" charset="-120"/>
              </a:rPr>
              <a:t>التِّقْنِيَّةُ غَيْرُ مُفِيدَةٍ لِأَنَّهَا تِقْنِيَّةٌ.</a:t>
            </a:r>
            <a:endParaRPr lang="ar-SA" sz="12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The first qualifies the judgement and states a condition.</a:t>
            </a:r>
            <a:endParaRPr lang="en-US" sz="1050" dirty="0"/>
          </a:p>
        </p:txBody>
      </p:sp>
      <p:sp>
        <p:nvSpPr>
          <p:cNvPr id="90" name="Shape 8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92" name="Text 8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CORE</a:t>
            </a:r>
            <a:endParaRPr lang="en-US" sz="850" dirty="0"/>
          </a:p>
        </p:txBody>
      </p:sp>
      <p:sp>
        <p:nvSpPr>
          <p:cNvPr id="93" name="Text 90"/>
          <p:cNvSpPr txBox="1"/>
          <p:nvPr/>
        </p:nvSpPr>
        <p:spPr>
          <a:xfrm>
            <a:off x="8296656" y="4791456"/>
            <a:ext cx="3270504" cy="1380744"/>
          </a:xfrm>
          <a:prstGeom prst="rect">
            <a:avLst/>
          </a:prstGeom>
          <a:noFill/>
          <a:ln/>
        </p:spPr>
        <p:txBody>
          <a:bodyPr wrap="square" lIns="0" tIns="0" rIns="0" bIns="0" rtlCol="0" anchor="t"/>
          <a:lstStyle/>
          <a:p>
            <a:pPr algn="l" indent="0" marL="0">
              <a:lnSpc>
                <a:spcPct val="115000"/>
              </a:lnSpc>
              <a:buNone/>
            </a:pPr>
            <a:r>
              <a:rPr lang="en-US" sz="1250" dirty="0">
                <a:solidFill>
                  <a:srgbClr val="1E6B52"/>
                </a:solidFill>
                <a:latin typeface="Calibri" pitchFamily="34" charset="0"/>
                <a:ea typeface="Calibri" pitchFamily="34" charset="-122"/>
                <a:cs typeface="Calibri" pitchFamily="34" charset="-120"/>
              </a:rPr>
              <a:t>Try question 8 first: which word always comes before </a:t>
            </a:r>
            <a:pPr algn="l" indent="0" marL="0">
              <a:lnSpc>
                <a:spcPct val="115000"/>
              </a:lnSpc>
              <a:buNone/>
            </a:pPr>
            <a:r>
              <a:rPr lang="ar-SA" altLang="en-US" sz="1650" dirty="0">
                <a:solidFill>
                  <a:srgbClr val="1E6B52"/>
                </a:solidFill>
                <a:latin typeface="Amiri" pitchFamily="34" charset="0"/>
                <a:ea typeface="Amiri" pitchFamily="34" charset="-122"/>
                <a:cs typeface="Amiri" pitchFamily="34" charset="-120"/>
              </a:rPr>
              <a:t>إِلَى</a:t>
            </a:r>
            <a:pPr algn="l" indent="0" marL="0">
              <a:lnSpc>
                <a:spcPct val="115000"/>
              </a:lnSpc>
              <a:buNone/>
            </a:pPr>
            <a:r>
              <a:rPr lang="en-US" sz="1250" dirty="0">
                <a:solidFill>
                  <a:srgbClr val="1E6B52"/>
                </a:solidFill>
                <a:latin typeface="Calibri" pitchFamily="34" charset="0"/>
                <a:ea typeface="Calibri" pitchFamily="34" charset="-122"/>
                <a:cs typeface="Calibri" pitchFamily="34" charset="-120"/>
              </a:rPr>
              <a:t>?</a:t>
            </a:r>
            <a:endParaRPr lang="en-US" sz="1250" dirty="0"/>
          </a:p>
          <a:p>
            <a:pPr algn="l" indent="0" marL="0">
              <a:lnSpc>
                <a:spcPct val="115000"/>
              </a:lnSpc>
              <a:buNone/>
            </a:pPr>
            <a:r>
              <a:rPr lang="en-US" sz="1250" dirty="0">
                <a:solidFill>
                  <a:srgbClr val="1E6B52"/>
                </a:solidFill>
                <a:latin typeface="Calibri" pitchFamily="34" charset="0"/>
                <a:ea typeface="Calibri" pitchFamily="34" charset="-122"/>
                <a:cs typeface="Calibri" pitchFamily="34" charset="-120"/>
              </a:rPr>
              <a:t>Then try the others — no penalty for trying.</a:t>
            </a:r>
            <a:endParaRPr lang="en-US" sz="12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13 / 33</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TC-L12 · Topic C Assessment</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SECTION B · PART 1 · CORE · LISTENING · 5 MARKS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Section B: Layla’s voice message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القِسْمُ ب ·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4 · Lesson 3 of 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Where does Layla live?</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In the north of Morocco</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In the south of Morocco</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In Oman</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will the weather be like tomorrow?</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Hot</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Sunny</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Rainy</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is next to the mosque?</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 hospital</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 café</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 big library</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How does she go to school?</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By bus</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By car</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On foot</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is true about her new phone?</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It is more expensive than her sister’s.</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It is cheaper than her sister’s.</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It cost 10 dinars.</a:t>
            </a:r>
            <a:endParaRPr lang="en-US" sz="1250" dirty="0"/>
          </a:p>
        </p:txBody>
      </p:sp>
      <p:sp>
        <p:nvSpPr>
          <p:cNvPr id="80" name="Shape 77"/>
          <p:cNvSpPr/>
          <p:nvPr/>
        </p:nvSpPr>
        <p:spPr>
          <a:xfrm>
            <a:off x="8095488" y="4151376"/>
            <a:ext cx="3636264" cy="2157984"/>
          </a:xfrm>
          <a:prstGeom prst="roundRect">
            <a:avLst>
              <a:gd name="adj" fmla="val 3390"/>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ea typeface="Calibri" pitchFamily="34" charset="-122"/>
                <a:cs typeface="Calibri" pitchFamily="34" charset="-120"/>
              </a:rPr>
              <a:t>LISTEN TWICE</a:t>
            </a:r>
            <a:endParaRPr lang="en-US" sz="1000" dirty="0"/>
          </a:p>
        </p:txBody>
      </p:sp>
      <p:sp>
        <p:nvSpPr>
          <p:cNvPr id="82" name="Text 79"/>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ea typeface="Calibri" pitchFamily="34" charset="-122"/>
                <a:cs typeface="Calibri" pitchFamily="34" charset="-120"/>
              </a:rPr>
              <a:t>1. Read the questions (30 s).</a:t>
            </a:r>
            <a:endParaRPr lang="en-US" sz="1250" dirty="0"/>
          </a:p>
          <a:p>
            <a:pPr algn="l" indent="0" marL="0">
              <a:buNone/>
            </a:pPr>
            <a:r>
              <a:rPr lang="en-US" sz="1250" dirty="0">
                <a:solidFill>
                  <a:srgbClr val="1F2A37"/>
                </a:solidFill>
                <a:latin typeface="Calibri" pitchFamily="34" charset="0"/>
                <a:ea typeface="Calibri" pitchFamily="34" charset="-122"/>
                <a:cs typeface="Calibri" pitchFamily="34" charset="-120"/>
              </a:rPr>
              <a:t>2. Listen once — just listen.</a:t>
            </a:r>
            <a:endParaRPr lang="en-US" sz="1250" dirty="0"/>
          </a:p>
          <a:p>
            <a:pPr algn="l" indent="0" marL="0">
              <a:buNone/>
            </a:pPr>
            <a:r>
              <a:rPr lang="en-US" sz="1250" dirty="0">
                <a:solidFill>
                  <a:srgbClr val="1F2A37"/>
                </a:solidFill>
                <a:latin typeface="Calibri" pitchFamily="34" charset="0"/>
                <a:ea typeface="Calibri" pitchFamily="34" charset="-122"/>
                <a:cs typeface="Calibri" pitchFamily="34" charset="-120"/>
              </a:rPr>
              <a:t>3. Listen again — choose.</a:t>
            </a:r>
            <a:endParaRPr lang="en-US" sz="1250" dirty="0"/>
          </a:p>
          <a:p>
            <a:pPr algn="l" indent="0" marL="0">
              <a:buNone/>
            </a:pPr>
            <a:r>
              <a:rPr lang="en-US" sz="1250" dirty="0">
                <a:solidFill>
                  <a:srgbClr val="1F2A37"/>
                </a:solidFill>
                <a:latin typeface="Calibri" pitchFamily="34" charset="0"/>
                <a:ea typeface="Calibri" pitchFamily="34" charset="-122"/>
                <a:cs typeface="Calibri" pitchFamily="34" charset="-120"/>
              </a:rPr>
              <a:t>Chat: B: 1_ 2_ 3_ 4_ 5_</a:t>
            </a:r>
            <a:endParaRPr lang="en-US" sz="1250" dirty="0"/>
          </a:p>
        </p:txBody>
      </p:sp>
      <p:sp>
        <p:nvSpPr>
          <p:cNvPr id="83" name="Text 8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14 / 33</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TC-L12 · Topic C Assessment</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SECTION B · AFTER MARKING · READ ALONG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00" b="1" dirty="0">
                <a:solidFill>
                  <a:srgbClr val="1B3B6F"/>
                </a:solidFill>
                <a:latin typeface="Cambria" pitchFamily="34" charset="0"/>
                <a:ea typeface="Cambria" pitchFamily="34" charset="-122"/>
                <a:cs typeface="Cambria" pitchFamily="34" charset="-120"/>
              </a:rPr>
              <a:t>Layla’s message — read along with English</a:t>
            </a:r>
            <a:endParaRPr lang="en-US" sz="23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نَصُّ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4 · Lesson 3 of 3</a:t>
            </a:r>
            <a:endParaRPr lang="en-US" sz="850" dirty="0"/>
          </a:p>
        </p:txBody>
      </p:sp>
      <p:sp>
        <p:nvSpPr>
          <p:cNvPr id="15" name="Shape 12"/>
          <p:cNvSpPr/>
          <p:nvPr/>
        </p:nvSpPr>
        <p:spPr>
          <a:xfrm>
            <a:off x="457200" y="1810512"/>
            <a:ext cx="11274552" cy="841248"/>
          </a:xfrm>
          <a:prstGeom prst="roundRect">
            <a:avLst>
              <a:gd name="adj" fmla="val 5435"/>
            </a:avLst>
          </a:prstGeom>
          <a:solidFill>
            <a:srgbClr val="FFFFFF"/>
          </a:solidFill>
          <a:ln w="9525">
            <a:solidFill>
              <a:srgbClr val="D8D0BF"/>
            </a:solidFill>
            <a:prstDash val="solid"/>
          </a:ln>
        </p:spPr>
      </p:sp>
      <p:sp>
        <p:nvSpPr>
          <p:cNvPr id="16" name="Text 13"/>
          <p:cNvSpPr txBox="1"/>
          <p:nvPr/>
        </p:nvSpPr>
        <p:spPr>
          <a:xfrm>
            <a:off x="4937760" y="18288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مَرْحَبًا! أَنَا لَيْلَى، وَأَسْكُنُ فِي مَدِينَةٍ فِي شَمَالِ المَغْرِبِ.</a:t>
            </a:r>
            <a:endParaRPr lang="ar-SA" sz="2000" dirty="0"/>
          </a:p>
        </p:txBody>
      </p:sp>
      <p:sp>
        <p:nvSpPr>
          <p:cNvPr id="17" name="Text 14"/>
          <p:cNvSpPr txBox="1"/>
          <p:nvPr/>
        </p:nvSpPr>
        <p:spPr>
          <a:xfrm>
            <a:off x="640080" y="18288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Hello! I am Layla, and I live in a city in the north of Morocco.</a:t>
            </a:r>
            <a:endParaRPr lang="en-US" sz="1250" dirty="0"/>
          </a:p>
        </p:txBody>
      </p:sp>
      <p:sp>
        <p:nvSpPr>
          <p:cNvPr id="18" name="Shape 15"/>
          <p:cNvSpPr/>
          <p:nvPr/>
        </p:nvSpPr>
        <p:spPr>
          <a:xfrm>
            <a:off x="457200" y="2724912"/>
            <a:ext cx="11274552" cy="841248"/>
          </a:xfrm>
          <a:prstGeom prst="roundRect">
            <a:avLst>
              <a:gd name="adj" fmla="val 5435"/>
            </a:avLst>
          </a:prstGeom>
          <a:solidFill>
            <a:srgbClr val="F4F1EA"/>
          </a:solidFill>
          <a:ln w="9525">
            <a:solidFill>
              <a:srgbClr val="D8D0BF"/>
            </a:solidFill>
            <a:prstDash val="solid"/>
          </a:ln>
        </p:spPr>
      </p:sp>
      <p:sp>
        <p:nvSpPr>
          <p:cNvPr id="19" name="Text 16"/>
          <p:cNvSpPr txBox="1"/>
          <p:nvPr/>
        </p:nvSpPr>
        <p:spPr>
          <a:xfrm>
            <a:off x="4937760" y="27432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أَمْسِ كَانَ الطَّقْسُ حَارًّا، وَلٰكِنْ غَدًا سَيَكُونُ مُمْطِرًا.</a:t>
            </a:r>
            <a:endParaRPr lang="ar-SA" sz="2000" dirty="0"/>
          </a:p>
        </p:txBody>
      </p:sp>
      <p:sp>
        <p:nvSpPr>
          <p:cNvPr id="20" name="Text 17"/>
          <p:cNvSpPr txBox="1"/>
          <p:nvPr/>
        </p:nvSpPr>
        <p:spPr>
          <a:xfrm>
            <a:off x="640080" y="27432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Yesterday the weather was hot, but tomorrow it will be rainy.</a:t>
            </a:r>
            <a:endParaRPr lang="en-US" sz="1250" dirty="0"/>
          </a:p>
        </p:txBody>
      </p:sp>
      <p:sp>
        <p:nvSpPr>
          <p:cNvPr id="21" name="Shape 18"/>
          <p:cNvSpPr/>
          <p:nvPr/>
        </p:nvSpPr>
        <p:spPr>
          <a:xfrm>
            <a:off x="457200" y="3639312"/>
            <a:ext cx="11274552" cy="841248"/>
          </a:xfrm>
          <a:prstGeom prst="roundRect">
            <a:avLst>
              <a:gd name="adj" fmla="val 5435"/>
            </a:avLst>
          </a:prstGeom>
          <a:solidFill>
            <a:srgbClr val="FFFFFF"/>
          </a:solidFill>
          <a:ln w="9525">
            <a:solidFill>
              <a:srgbClr val="D8D0BF"/>
            </a:solidFill>
            <a:prstDash val="solid"/>
          </a:ln>
        </p:spPr>
      </p:sp>
      <p:sp>
        <p:nvSpPr>
          <p:cNvPr id="22" name="Text 19"/>
          <p:cNvSpPr txBox="1"/>
          <p:nvPr/>
        </p:nvSpPr>
        <p:spPr>
          <a:xfrm>
            <a:off x="4937760" y="36576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فِي مَدِينَتِي تُوجَدُ مَكْتَبَةٌ كَبِيرَةٌ بِجَانِبِ المَسْجِدِ.</a:t>
            </a:r>
            <a:endParaRPr lang="ar-SA" sz="2000" dirty="0"/>
          </a:p>
        </p:txBody>
      </p:sp>
      <p:sp>
        <p:nvSpPr>
          <p:cNvPr id="23" name="Text 20"/>
          <p:cNvSpPr txBox="1"/>
          <p:nvPr/>
        </p:nvSpPr>
        <p:spPr>
          <a:xfrm>
            <a:off x="640080" y="36576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In my city there is a big library next to the mosque.</a:t>
            </a:r>
            <a:endParaRPr lang="en-US" sz="1250" dirty="0"/>
          </a:p>
        </p:txBody>
      </p:sp>
      <p:sp>
        <p:nvSpPr>
          <p:cNvPr id="24" name="Shape 21"/>
          <p:cNvSpPr/>
          <p:nvPr/>
        </p:nvSpPr>
        <p:spPr>
          <a:xfrm>
            <a:off x="457200" y="4553712"/>
            <a:ext cx="11274552" cy="841248"/>
          </a:xfrm>
          <a:prstGeom prst="roundRect">
            <a:avLst>
              <a:gd name="adj" fmla="val 5435"/>
            </a:avLst>
          </a:prstGeom>
          <a:solidFill>
            <a:srgbClr val="F4F1EA"/>
          </a:solidFill>
          <a:ln w="9525">
            <a:solidFill>
              <a:srgbClr val="D8D0BF"/>
            </a:solidFill>
            <a:prstDash val="solid"/>
          </a:ln>
        </p:spPr>
      </p:sp>
      <p:sp>
        <p:nvSpPr>
          <p:cNvPr id="25" name="Text 22"/>
          <p:cNvSpPr txBox="1"/>
          <p:nvPr/>
        </p:nvSpPr>
        <p:spPr>
          <a:xfrm>
            <a:off x="4937760" y="45720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المُشْكِلَةُ هِيَ التَّلَوُّثُ بِسَبَبِ السَّيَّارَاتِ، لِذٰلِكَ أَذْهَبُ إِلَى المَدْرَسَةِ بِالحَافِلَةِ.</a:t>
            </a:r>
            <a:endParaRPr lang="ar-SA" sz="2000" dirty="0"/>
          </a:p>
        </p:txBody>
      </p:sp>
      <p:sp>
        <p:nvSpPr>
          <p:cNvPr id="26" name="Text 23"/>
          <p:cNvSpPr txBox="1"/>
          <p:nvPr/>
        </p:nvSpPr>
        <p:spPr>
          <a:xfrm>
            <a:off x="640080" y="45720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The problem is pollution because of cars, so I go to school by bus.</a:t>
            </a:r>
            <a:endParaRPr lang="en-US" sz="1250" dirty="0"/>
          </a:p>
        </p:txBody>
      </p:sp>
      <p:sp>
        <p:nvSpPr>
          <p:cNvPr id="27" name="Shape 24"/>
          <p:cNvSpPr/>
          <p:nvPr/>
        </p:nvSpPr>
        <p:spPr>
          <a:xfrm>
            <a:off x="457200" y="5468112"/>
            <a:ext cx="11274552" cy="841248"/>
          </a:xfrm>
          <a:prstGeom prst="roundRect">
            <a:avLst>
              <a:gd name="adj" fmla="val 5435"/>
            </a:avLst>
          </a:prstGeom>
          <a:solidFill>
            <a:srgbClr val="FFFFFF"/>
          </a:solidFill>
          <a:ln w="9525">
            <a:solidFill>
              <a:srgbClr val="D8D0BF"/>
            </a:solidFill>
            <a:prstDash val="solid"/>
          </a:ln>
        </p:spPr>
      </p:sp>
      <p:sp>
        <p:nvSpPr>
          <p:cNvPr id="28" name="Text 25"/>
          <p:cNvSpPr txBox="1"/>
          <p:nvPr/>
        </p:nvSpPr>
        <p:spPr>
          <a:xfrm>
            <a:off x="4937760" y="54864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اِشْتَرَيْتُ هَاتِفًا جَدِيدًا بِمِئَةِ دِينَارٍ، وَهُوَ أَرْخَصُ مِنْ هَاتِفِ أُخْتِي.</a:t>
            </a:r>
            <a:endParaRPr lang="ar-SA" sz="2000" dirty="0"/>
          </a:p>
        </p:txBody>
      </p:sp>
      <p:sp>
        <p:nvSpPr>
          <p:cNvPr id="29" name="Text 26"/>
          <p:cNvSpPr txBox="1"/>
          <p:nvPr/>
        </p:nvSpPr>
        <p:spPr>
          <a:xfrm>
            <a:off x="640080" y="54864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I bought a new phone for 100 dinars, and it is cheaper than my sister’s phone.</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15 / 33</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TC-L12 · Topic C Assessment</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SECTION B · PART 1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Section B part 1: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4 · Lesson 3 of 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Where does Layla live?</a:t>
            </a:r>
            <a:endParaRPr lang="en-US" sz="1250" dirty="0"/>
          </a:p>
        </p:txBody>
      </p:sp>
      <p:sp>
        <p:nvSpPr>
          <p:cNvPr id="19" name="Shape 16"/>
          <p:cNvSpPr/>
          <p:nvPr/>
        </p:nvSpPr>
        <p:spPr>
          <a:xfrm>
            <a:off x="548640" y="2453640"/>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In the north of Morocco</a:t>
            </a:r>
            <a:endParaRPr lang="en-US" sz="12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In the south of Morocco</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In Oman</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فِي شَمَالِ المَغْرِبِ.</a:t>
            </a:r>
            <a:endParaRPr lang="ar-SA" sz="13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will the weather be like tomorrow?</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Hot</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Sunny</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Rainy</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غَدًا سَيَكُونُ مُمْطِرًا.</a:t>
            </a:r>
            <a:endParaRPr lang="ar-SA" sz="13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is next to the mosque?</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A hospital</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A café</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A big library</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تُوجَدُ مَكْتَبَةٌ كَبِيرَةٌ بِجَانِبِ المَسْجِدِ.</a:t>
            </a:r>
            <a:endParaRPr lang="ar-SA" sz="13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How does she go to school?</a:t>
            </a:r>
            <a:endParaRPr lang="en-US" sz="1250" dirty="0"/>
          </a:p>
        </p:txBody>
      </p:sp>
      <p:sp>
        <p:nvSpPr>
          <p:cNvPr id="64" name="Shape 61"/>
          <p:cNvSpPr/>
          <p:nvPr/>
        </p:nvSpPr>
        <p:spPr>
          <a:xfrm>
            <a:off x="548640" y="4794504"/>
            <a:ext cx="3453384"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40080"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By bus</a:t>
            </a:r>
            <a:endParaRPr lang="en-US" sz="1250" dirty="0"/>
          </a:p>
        </p:txBody>
      </p:sp>
      <p:sp>
        <p:nvSpPr>
          <p:cNvPr id="68" name="Shape 65"/>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By car</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On foot</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أَذْهَبُ إِلَى المَدْرَسَةِ بِالحَافِلَةِ.</a:t>
            </a:r>
            <a:endParaRPr lang="ar-SA" sz="13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is true about her new phone?</a:t>
            </a:r>
            <a:endParaRPr lang="en-US" sz="1250" dirty="0"/>
          </a:p>
        </p:txBody>
      </p:sp>
      <p:sp>
        <p:nvSpPr>
          <p:cNvPr id="79" name="Shape 76"/>
          <p:cNvSpPr/>
          <p:nvPr/>
        </p:nvSpPr>
        <p:spPr>
          <a:xfrm>
            <a:off x="4459224"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81" name="Text 78"/>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It is more expensive than her sister’s.</a:t>
            </a:r>
            <a:endParaRPr lang="en-US" sz="1250" dirty="0"/>
          </a:p>
        </p:txBody>
      </p:sp>
      <p:sp>
        <p:nvSpPr>
          <p:cNvPr id="82" name="Shape 79"/>
          <p:cNvSpPr/>
          <p:nvPr/>
        </p:nvSpPr>
        <p:spPr>
          <a:xfrm>
            <a:off x="4367784" y="5166360"/>
            <a:ext cx="3453384" cy="347472"/>
          </a:xfrm>
          <a:prstGeom prst="roundRect">
            <a:avLst>
              <a:gd name="adj" fmla="val 15789"/>
            </a:avLst>
          </a:prstGeom>
          <a:solidFill>
            <a:srgbClr val="E6F4EC"/>
          </a:solidFill>
          <a:ln w="9525">
            <a:solidFill>
              <a:srgbClr val="2E8B57"/>
            </a:solidFill>
            <a:prstDash val="solid"/>
          </a:ln>
        </p:spPr>
      </p:sp>
      <p:sp>
        <p:nvSpPr>
          <p:cNvPr id="83" name="Shape 80"/>
          <p:cNvSpPr/>
          <p:nvPr/>
        </p:nvSpPr>
        <p:spPr>
          <a:xfrm>
            <a:off x="4459224" y="5202936"/>
            <a:ext cx="256032" cy="256032"/>
          </a:xfrm>
          <a:prstGeom prst="ellipse">
            <a:avLst/>
          </a:prstGeom>
          <a:solidFill>
            <a:srgbClr val="2E8B57"/>
          </a:solidFill>
          <a:ln w="12700">
            <a:solidFill>
              <a:srgbClr val="2E8B57"/>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It is cheaper than her sister’s.</a:t>
            </a:r>
            <a:endParaRPr lang="en-US" sz="12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It cost 10 dinars.</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وَهُوَ أَرْخَصُ مِنْ هَاتِفِ أُخْتِي.</a:t>
            </a:r>
            <a:endParaRPr lang="ar-SA" sz="1350" dirty="0"/>
          </a:p>
        </p:txBody>
      </p:sp>
      <p:sp>
        <p:nvSpPr>
          <p:cNvPr id="90" name="Shape 87"/>
          <p:cNvSpPr/>
          <p:nvPr/>
        </p:nvSpPr>
        <p:spPr>
          <a:xfrm>
            <a:off x="8095488" y="4151376"/>
            <a:ext cx="3636264" cy="2157984"/>
          </a:xfrm>
          <a:prstGeom prst="roundRect">
            <a:avLst>
              <a:gd name="adj" fmla="val 3390"/>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ea typeface="Calibri" pitchFamily="34" charset="-122"/>
                <a:cs typeface="Calibri" pitchFamily="34" charset="-120"/>
              </a:rPr>
              <a:t>LISTEN TWICE</a:t>
            </a:r>
            <a:endParaRPr lang="en-US" sz="1000" dirty="0"/>
          </a:p>
        </p:txBody>
      </p:sp>
      <p:sp>
        <p:nvSpPr>
          <p:cNvPr id="92" name="Text 89"/>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ea typeface="Calibri" pitchFamily="34" charset="-122"/>
                <a:cs typeface="Calibri" pitchFamily="34" charset="-120"/>
              </a:rPr>
              <a:t>1. Read the questions (30 s).</a:t>
            </a:r>
            <a:endParaRPr lang="en-US" sz="1250" dirty="0"/>
          </a:p>
          <a:p>
            <a:pPr algn="l" indent="0" marL="0">
              <a:buNone/>
            </a:pPr>
            <a:r>
              <a:rPr lang="en-US" sz="1250" dirty="0">
                <a:solidFill>
                  <a:srgbClr val="1F2A37"/>
                </a:solidFill>
                <a:latin typeface="Calibri" pitchFamily="34" charset="0"/>
                <a:ea typeface="Calibri" pitchFamily="34" charset="-122"/>
                <a:cs typeface="Calibri" pitchFamily="34" charset="-120"/>
              </a:rPr>
              <a:t>2. Listen once — just listen.</a:t>
            </a:r>
            <a:endParaRPr lang="en-US" sz="1250" dirty="0"/>
          </a:p>
          <a:p>
            <a:pPr algn="l" indent="0" marL="0">
              <a:buNone/>
            </a:pPr>
            <a:r>
              <a:rPr lang="en-US" sz="1250" dirty="0">
                <a:solidFill>
                  <a:srgbClr val="1F2A37"/>
                </a:solidFill>
                <a:latin typeface="Calibri" pitchFamily="34" charset="0"/>
                <a:ea typeface="Calibri" pitchFamily="34" charset="-122"/>
                <a:cs typeface="Calibri" pitchFamily="34" charset="-120"/>
              </a:rPr>
              <a:t>3. Listen again — choose.</a:t>
            </a:r>
            <a:endParaRPr lang="en-US" sz="1250" dirty="0"/>
          </a:p>
          <a:p>
            <a:pPr algn="l" indent="0" marL="0">
              <a:buNone/>
            </a:pPr>
            <a:r>
              <a:rPr lang="en-US" sz="1250" dirty="0">
                <a:solidFill>
                  <a:srgbClr val="1F2A37"/>
                </a:solidFill>
                <a:latin typeface="Calibri" pitchFamily="34" charset="0"/>
                <a:ea typeface="Calibri" pitchFamily="34" charset="-122"/>
                <a:cs typeface="Calibri" pitchFamily="34" charset="-120"/>
              </a:rPr>
              <a:t>Chat: B: 1_ 2_ 3_ 4_ 5_</a:t>
            </a:r>
            <a:endParaRPr lang="en-US" sz="1250" dirty="0"/>
          </a:p>
        </p:txBody>
      </p:sp>
      <p:sp>
        <p:nvSpPr>
          <p:cNvPr id="93" name="Text 9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16 / 33</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TC-L12 · Topic C Assessment</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ea typeface="Calibri" pitchFamily="34" charset="-122"/>
                <a:cs typeface="Calibri" pitchFamily="34" charset="-120"/>
              </a:rPr>
              <a:t>SECTION B · PART 2 · DEVELOP / STRETCH · WEBSITE LISTENING · 5 MARKS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50" b="1" dirty="0">
                <a:solidFill>
                  <a:srgbClr val="1B3B6F"/>
                </a:solidFill>
                <a:latin typeface="Cambria" pitchFamily="34" charset="0"/>
                <a:ea typeface="Cambria" pitchFamily="34" charset="-122"/>
                <a:cs typeface="Cambria" pitchFamily="34" charset="-120"/>
              </a:rPr>
              <a:t>Section B: two views and a city report</a:t>
            </a:r>
            <a:endParaRPr lang="en-US" sz="24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القِسْمُ ب · ٢</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4 · Lesson 3 of 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Text 2: What does Salma support?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Only fossil fuels</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Removing public transport</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Solar energy and smart grids</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7</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Text 2: What is Omar’s main reservation?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There is no technology</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The weather is cold</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High cost and privacy risk</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8</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Text 2: What do both speakers support?</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Reducing waste</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Increasing consumption</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Sharing passwords</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9</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Text 3: What percentage of electricity is renewable?</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53%</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35%</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15%</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10</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Text 3: What changed from the original plan?</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The completion year moved from 2030 to 2032</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The city changed country</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The percentage became zero</a:t>
            </a:r>
            <a:endParaRPr lang="en-US" sz="1250" dirty="0"/>
          </a:p>
        </p:txBody>
      </p:sp>
      <p:sp>
        <p:nvSpPr>
          <p:cNvPr id="80" name="Shape 7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82" name="Text 7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CORE</a:t>
            </a:r>
            <a:endParaRPr lang="en-US" sz="850" dirty="0"/>
          </a:p>
        </p:txBody>
      </p:sp>
      <p:sp>
        <p:nvSpPr>
          <p:cNvPr id="83" name="Text 8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ea typeface="Calibri" pitchFamily="34" charset="-122"/>
                <a:cs typeface="Calibri" pitchFamily="34" charset="-120"/>
              </a:rPr>
              <a:t>Question 9: listen for the number (a percentage).</a:t>
            </a:r>
            <a:endParaRPr lang="en-US" sz="1250" dirty="0"/>
          </a:p>
          <a:p>
            <a:pPr algn="l" indent="0" marL="0">
              <a:buNone/>
            </a:pPr>
            <a:r>
              <a:rPr lang="en-US" sz="1250" dirty="0">
                <a:solidFill>
                  <a:srgbClr val="1E6B52"/>
                </a:solidFill>
                <a:latin typeface="Calibri" pitchFamily="34" charset="0"/>
                <a:ea typeface="Calibri" pitchFamily="34" charset="-122"/>
                <a:cs typeface="Calibri" pitchFamily="34" charset="-120"/>
              </a:rPr>
              <a:t>Question 8: what do BOTH people want?</a:t>
            </a:r>
            <a:endParaRPr lang="en-US" sz="125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17 / 33</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TC-L12 · Topic C Assessment</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SECTION B · PART 2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Section B part 2: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4 · Lesson 3 of 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Text 2: What does Salma support?</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Only fossil fuels</a:t>
            </a:r>
            <a:endParaRPr lang="en-US" sz="125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4" name="Text 21"/>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Removing public transport</a:t>
            </a:r>
            <a:endParaRPr lang="en-US" sz="1250" dirty="0"/>
          </a:p>
        </p:txBody>
      </p:sp>
      <p:sp>
        <p:nvSpPr>
          <p:cNvPr id="25" name="Shape 22"/>
          <p:cNvSpPr/>
          <p:nvPr/>
        </p:nvSpPr>
        <p:spPr>
          <a:xfrm>
            <a:off x="548640" y="3197352"/>
            <a:ext cx="3453384"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Solar energy and smart grids</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Salma supports solar power and smart grids.</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7</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Text 2: What is Omar’s main reservation?</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There is no technology</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The weather is cold</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High cost and privacy risk</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Omar raises cost and personal-data concerns.</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8</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Text 2: What do both speakers support?</a:t>
            </a:r>
            <a:endParaRPr lang="en-US" sz="1250" dirty="0"/>
          </a:p>
        </p:txBody>
      </p:sp>
      <p:sp>
        <p:nvSpPr>
          <p:cNvPr id="49" name="Shape 46"/>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490216"/>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52" name="Text 49"/>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Reducing waste</a:t>
            </a:r>
            <a:endParaRPr lang="en-US" sz="1250" dirty="0"/>
          </a:p>
        </p:txBody>
      </p:sp>
      <p:sp>
        <p:nvSpPr>
          <p:cNvPr id="53" name="Shape 50"/>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5" name="Text 52"/>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Increasing consumption</a:t>
            </a:r>
            <a:endParaRPr lang="en-US" sz="1250" dirty="0"/>
          </a:p>
        </p:txBody>
      </p:sp>
      <p:sp>
        <p:nvSpPr>
          <p:cNvPr id="56" name="Shape 53"/>
          <p:cNvSpPr/>
          <p:nvPr/>
        </p:nvSpPr>
        <p:spPr>
          <a:xfrm>
            <a:off x="8278368" y="323392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Sharing passwords</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Both agree on reducing waste.</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9</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Text 3: What percentage of electricity is renewable?</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53%</a:t>
            </a:r>
            <a:endParaRPr lang="en-US" sz="1250" dirty="0"/>
          </a:p>
        </p:txBody>
      </p:sp>
      <p:sp>
        <p:nvSpPr>
          <p:cNvPr id="67" name="Shape 64"/>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68" name="Shape 65"/>
          <p:cNvSpPr/>
          <p:nvPr/>
        </p:nvSpPr>
        <p:spPr>
          <a:xfrm>
            <a:off x="640080" y="5202936"/>
            <a:ext cx="256032" cy="256032"/>
          </a:xfrm>
          <a:prstGeom prst="ellipse">
            <a:avLst/>
          </a:prstGeom>
          <a:solidFill>
            <a:srgbClr val="2E8B57"/>
          </a:solidFill>
          <a:ln w="12700">
            <a:solidFill>
              <a:srgbClr val="2E8B57"/>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35%</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15%</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The expert states 35%.</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10</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Text 3: What changed from the original plan?</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ea typeface="Calibri" pitchFamily="34" charset="-122"/>
                <a:cs typeface="Calibri" pitchFamily="34" charset="-120"/>
              </a:rPr>
              <a:t>The completion year moved from 2030 to 2032</a:t>
            </a:r>
            <a:endParaRPr lang="en-US" sz="115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The city changed country</a:t>
            </a:r>
            <a:endParaRPr lang="en-US" sz="12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The percentage became zero</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The corrected completion year is 2032.</a:t>
            </a:r>
            <a:endParaRPr lang="en-US" sz="1050" dirty="0"/>
          </a:p>
        </p:txBody>
      </p:sp>
      <p:sp>
        <p:nvSpPr>
          <p:cNvPr id="90" name="Shape 8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92" name="Text 8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CORE</a:t>
            </a:r>
            <a:endParaRPr lang="en-US" sz="850" dirty="0"/>
          </a:p>
        </p:txBody>
      </p:sp>
      <p:sp>
        <p:nvSpPr>
          <p:cNvPr id="93" name="Text 9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ea typeface="Calibri" pitchFamily="34" charset="-122"/>
                <a:cs typeface="Calibri" pitchFamily="34" charset="-120"/>
              </a:rPr>
              <a:t>Question 9: listen for the number (a percentage).</a:t>
            </a:r>
            <a:endParaRPr lang="en-US" sz="1250" dirty="0"/>
          </a:p>
          <a:p>
            <a:pPr algn="l" indent="0" marL="0">
              <a:buNone/>
            </a:pPr>
            <a:r>
              <a:rPr lang="en-US" sz="1250" dirty="0">
                <a:solidFill>
                  <a:srgbClr val="1E6B52"/>
                </a:solidFill>
                <a:latin typeface="Calibri" pitchFamily="34" charset="0"/>
                <a:ea typeface="Calibri" pitchFamily="34" charset="-122"/>
                <a:cs typeface="Calibri" pitchFamily="34" charset="-120"/>
              </a:rPr>
              <a:t>Question 8: what do BOTH people want?</a:t>
            </a:r>
            <a:endParaRPr lang="en-US" sz="12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18 / 33</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TC-L12 · Topic C Assessment</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SECTION C · PART 1 · CORE · READING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Section C: Yusuf’s email</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القِسْمُ ج · 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4 · Lesson 3 of 3</a:t>
            </a:r>
            <a:endParaRPr lang="en-US" sz="850" dirty="0"/>
          </a:p>
        </p:txBody>
      </p:sp>
      <p:sp>
        <p:nvSpPr>
          <p:cNvPr id="15" name="Shape 12"/>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56816"/>
            <a:ext cx="7616952" cy="564315"/>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34" charset="0"/>
                <a:ea typeface="Amiri" pitchFamily="34" charset="-122"/>
                <a:cs typeface="Amiri" pitchFamily="34" charset="-120"/>
              </a:rPr>
              <a:t>مِنْ: يُوسُفَ   إِلَى: صَدِيقِي آدَمَ</a:t>
            </a:r>
            <a:endParaRPr lang="ar-SA" sz="2200" dirty="0"/>
          </a:p>
        </p:txBody>
      </p:sp>
      <p:sp>
        <p:nvSpPr>
          <p:cNvPr id="17" name="Shape 14"/>
          <p:cNvSpPr/>
          <p:nvPr/>
        </p:nvSpPr>
        <p:spPr>
          <a:xfrm>
            <a:off x="685800" y="2539419"/>
            <a:ext cx="7616952" cy="0"/>
          </a:xfrm>
          <a:prstGeom prst="line">
            <a:avLst/>
          </a:prstGeom>
          <a:noFill/>
          <a:ln w="9525">
            <a:solidFill>
              <a:srgbClr val="E4DCCB"/>
            </a:solidFill>
            <a:prstDash val="dash"/>
          </a:ln>
        </p:spPr>
      </p:sp>
      <p:sp>
        <p:nvSpPr>
          <p:cNvPr id="18" name="Text 15"/>
          <p:cNvSpPr txBox="1"/>
          <p:nvPr/>
        </p:nvSpPr>
        <p:spPr>
          <a:xfrm>
            <a:off x="685800" y="2557707"/>
            <a:ext cx="7616952" cy="564315"/>
          </a:xfrm>
          <a:prstGeom prst="rect">
            <a:avLst/>
          </a:prstGeom>
          <a:noFill/>
          <a:ln/>
        </p:spPr>
        <p:txBody>
          <a:bodyPr wrap="square" lIns="0" tIns="0" rIns="0" bIns="0" rtlCol="0" anchor="ctr"/>
          <a:lstStyle/>
          <a:p>
            <a:pPr rtl="1" algn="r" indent="0" marL="0">
              <a:buNone/>
            </a:pPr>
            <a:r>
              <a:rPr lang="ar-SA" altLang="en-US" sz="2000" dirty="0">
                <a:solidFill>
                  <a:srgbClr val="1F2A37"/>
                </a:solidFill>
                <a:latin typeface="Amiri" pitchFamily="34" charset="0"/>
                <a:ea typeface="Amiri" pitchFamily="34" charset="-122"/>
                <a:cs typeface="Amiri" pitchFamily="34" charset="-120"/>
              </a:rPr>
              <a:t>السَّلَامُ عَلَيْكُمْ يَا آدَمُ،</a:t>
            </a:r>
            <a:endParaRPr lang="ar-SA" sz="2000" dirty="0"/>
          </a:p>
        </p:txBody>
      </p:sp>
      <p:sp>
        <p:nvSpPr>
          <p:cNvPr id="19" name="Shape 16"/>
          <p:cNvSpPr/>
          <p:nvPr/>
        </p:nvSpPr>
        <p:spPr>
          <a:xfrm>
            <a:off x="685800" y="3140311"/>
            <a:ext cx="7616952" cy="0"/>
          </a:xfrm>
          <a:prstGeom prst="line">
            <a:avLst/>
          </a:prstGeom>
          <a:noFill/>
          <a:ln w="9525">
            <a:solidFill>
              <a:srgbClr val="E4DCCB"/>
            </a:solidFill>
            <a:prstDash val="dash"/>
          </a:ln>
        </p:spPr>
      </p:sp>
      <p:sp>
        <p:nvSpPr>
          <p:cNvPr id="20" name="Text 17"/>
          <p:cNvSpPr txBox="1"/>
          <p:nvPr/>
        </p:nvSpPr>
        <p:spPr>
          <a:xfrm>
            <a:off x="685800" y="3158599"/>
            <a:ext cx="7616952" cy="564315"/>
          </a:xfrm>
          <a:prstGeom prst="rect">
            <a:avLst/>
          </a:prstGeom>
          <a:noFill/>
          <a:ln/>
        </p:spPr>
        <p:txBody>
          <a:bodyPr wrap="square" lIns="0" tIns="0" rIns="0" bIns="0" rtlCol="0" anchor="ctr"/>
          <a:lstStyle/>
          <a:p>
            <a:pPr rtl="1" algn="r" indent="0" marL="0">
              <a:buNone/>
            </a:pPr>
            <a:r>
              <a:rPr lang="ar-SA" altLang="en-US" sz="2000" dirty="0">
                <a:solidFill>
                  <a:srgbClr val="1F2A37"/>
                </a:solidFill>
                <a:latin typeface="Amiri" pitchFamily="34" charset="0"/>
                <a:ea typeface="Amiri" pitchFamily="34" charset="-122"/>
                <a:cs typeface="Amiri" pitchFamily="34" charset="-120"/>
              </a:rPr>
              <a:t>أَنَا الآنَ فِي عُمَانَ مَعَ عَائِلَتِي. نُقِيمُ فِي فُنْدُقٍ قُرْبَ البَحْرِ.</a:t>
            </a:r>
            <a:endParaRPr lang="ar-SA" sz="2000" dirty="0"/>
          </a:p>
        </p:txBody>
      </p:sp>
      <p:sp>
        <p:nvSpPr>
          <p:cNvPr id="21" name="Shape 18"/>
          <p:cNvSpPr/>
          <p:nvPr/>
        </p:nvSpPr>
        <p:spPr>
          <a:xfrm>
            <a:off x="685800" y="3741202"/>
            <a:ext cx="7616952" cy="0"/>
          </a:xfrm>
          <a:prstGeom prst="line">
            <a:avLst/>
          </a:prstGeom>
          <a:noFill/>
          <a:ln w="9525">
            <a:solidFill>
              <a:srgbClr val="E4DCCB"/>
            </a:solidFill>
            <a:prstDash val="dash"/>
          </a:ln>
        </p:spPr>
      </p:sp>
      <p:sp>
        <p:nvSpPr>
          <p:cNvPr id="22" name="Text 19"/>
          <p:cNvSpPr txBox="1"/>
          <p:nvPr/>
        </p:nvSpPr>
        <p:spPr>
          <a:xfrm>
            <a:off x="685800" y="3759490"/>
            <a:ext cx="7616952" cy="564315"/>
          </a:xfrm>
          <a:prstGeom prst="rect">
            <a:avLst/>
          </a:prstGeom>
          <a:noFill/>
          <a:ln/>
        </p:spPr>
        <p:txBody>
          <a:bodyPr wrap="square" lIns="0" tIns="0" rIns="0" bIns="0" rtlCol="0" anchor="ctr"/>
          <a:lstStyle/>
          <a:p>
            <a:pPr rtl="1" algn="r" indent="0" marL="0">
              <a:buNone/>
            </a:pPr>
            <a:r>
              <a:rPr lang="ar-SA" altLang="en-US" sz="2000" dirty="0">
                <a:solidFill>
                  <a:srgbClr val="1F2A37"/>
                </a:solidFill>
                <a:latin typeface="Amiri" pitchFamily="34" charset="0"/>
                <a:ea typeface="Amiri" pitchFamily="34" charset="-122"/>
                <a:cs typeface="Amiri" pitchFamily="34" charset="-120"/>
              </a:rPr>
              <a:t>الجَوُّ هُنَا حَارٌّ وَمُشْمِسٌ، وَدَرَجَةُ الحَرَارَةِ خَمْسٌ وَثَلَاثُونَ.</a:t>
            </a:r>
            <a:endParaRPr lang="ar-SA" sz="2000" dirty="0"/>
          </a:p>
        </p:txBody>
      </p:sp>
      <p:sp>
        <p:nvSpPr>
          <p:cNvPr id="23" name="Shape 20"/>
          <p:cNvSpPr/>
          <p:nvPr/>
        </p:nvSpPr>
        <p:spPr>
          <a:xfrm>
            <a:off x="685800" y="4342094"/>
            <a:ext cx="7616952" cy="0"/>
          </a:xfrm>
          <a:prstGeom prst="line">
            <a:avLst/>
          </a:prstGeom>
          <a:noFill/>
          <a:ln w="9525">
            <a:solidFill>
              <a:srgbClr val="E4DCCB"/>
            </a:solidFill>
            <a:prstDash val="dash"/>
          </a:ln>
        </p:spPr>
      </p:sp>
      <p:sp>
        <p:nvSpPr>
          <p:cNvPr id="24" name="Text 21"/>
          <p:cNvSpPr txBox="1"/>
          <p:nvPr/>
        </p:nvSpPr>
        <p:spPr>
          <a:xfrm>
            <a:off x="685800" y="4360382"/>
            <a:ext cx="7616952" cy="564315"/>
          </a:xfrm>
          <a:prstGeom prst="rect">
            <a:avLst/>
          </a:prstGeom>
          <a:noFill/>
          <a:ln/>
        </p:spPr>
        <p:txBody>
          <a:bodyPr wrap="square" lIns="0" tIns="0" rIns="0" bIns="0" rtlCol="0" anchor="ctr"/>
          <a:lstStyle/>
          <a:p>
            <a:pPr rtl="1" algn="r" indent="0" marL="0">
              <a:buNone/>
            </a:pPr>
            <a:r>
              <a:rPr lang="ar-SA" altLang="en-US" sz="2000" dirty="0">
                <a:solidFill>
                  <a:srgbClr val="1F2A37"/>
                </a:solidFill>
                <a:latin typeface="Amiri" pitchFamily="34" charset="0"/>
                <a:ea typeface="Amiri" pitchFamily="34" charset="-122"/>
                <a:cs typeface="Amiri" pitchFamily="34" charset="-120"/>
              </a:rPr>
              <a:t>أَمْسِ زُرْنَا قَلْعَةً قَدِيمَةً مَبْنِيَّةً مِنَ الحَجَرِ.</a:t>
            </a:r>
            <a:endParaRPr lang="ar-SA" sz="2000" dirty="0"/>
          </a:p>
        </p:txBody>
      </p:sp>
      <p:sp>
        <p:nvSpPr>
          <p:cNvPr id="25" name="Shape 22"/>
          <p:cNvSpPr/>
          <p:nvPr/>
        </p:nvSpPr>
        <p:spPr>
          <a:xfrm>
            <a:off x="685800" y="4942985"/>
            <a:ext cx="7616952" cy="0"/>
          </a:xfrm>
          <a:prstGeom prst="line">
            <a:avLst/>
          </a:prstGeom>
          <a:noFill/>
          <a:ln w="9525">
            <a:solidFill>
              <a:srgbClr val="E4DCCB"/>
            </a:solidFill>
            <a:prstDash val="dash"/>
          </a:ln>
        </p:spPr>
      </p:sp>
      <p:sp>
        <p:nvSpPr>
          <p:cNvPr id="26" name="Text 23"/>
          <p:cNvSpPr txBox="1"/>
          <p:nvPr/>
        </p:nvSpPr>
        <p:spPr>
          <a:xfrm>
            <a:off x="685800" y="4961273"/>
            <a:ext cx="7616952" cy="564315"/>
          </a:xfrm>
          <a:prstGeom prst="rect">
            <a:avLst/>
          </a:prstGeom>
          <a:noFill/>
          <a:ln/>
        </p:spPr>
        <p:txBody>
          <a:bodyPr wrap="square" lIns="0" tIns="0" rIns="0" bIns="0" rtlCol="0" anchor="ctr"/>
          <a:lstStyle/>
          <a:p>
            <a:pPr rtl="1" algn="r" indent="0" marL="0">
              <a:buNone/>
            </a:pPr>
            <a:r>
              <a:rPr lang="ar-SA" altLang="en-US" sz="2000" dirty="0">
                <a:solidFill>
                  <a:srgbClr val="1F2A37"/>
                </a:solidFill>
                <a:latin typeface="Amiri" pitchFamily="34" charset="0"/>
                <a:ea typeface="Amiri" pitchFamily="34" charset="-122"/>
                <a:cs typeface="Amiri" pitchFamily="34" charset="-120"/>
              </a:rPr>
              <a:t>فِي السُّوقِ اِشْتَرَيْتُ هَدِيَّةً لَكَ، ثَمَنُهَا عَشَرَةُ رِيَالَاتٍ.</a:t>
            </a:r>
            <a:endParaRPr lang="ar-SA" sz="2000" dirty="0"/>
          </a:p>
        </p:txBody>
      </p:sp>
      <p:sp>
        <p:nvSpPr>
          <p:cNvPr id="27" name="Shape 24"/>
          <p:cNvSpPr/>
          <p:nvPr/>
        </p:nvSpPr>
        <p:spPr>
          <a:xfrm>
            <a:off x="685800" y="5543877"/>
            <a:ext cx="7616952" cy="0"/>
          </a:xfrm>
          <a:prstGeom prst="line">
            <a:avLst/>
          </a:prstGeom>
          <a:noFill/>
          <a:ln w="9525">
            <a:solidFill>
              <a:srgbClr val="E4DCCB"/>
            </a:solidFill>
            <a:prstDash val="dash"/>
          </a:ln>
        </p:spPr>
      </p:sp>
      <p:sp>
        <p:nvSpPr>
          <p:cNvPr id="28" name="Text 25"/>
          <p:cNvSpPr txBox="1"/>
          <p:nvPr/>
        </p:nvSpPr>
        <p:spPr>
          <a:xfrm>
            <a:off x="685800" y="5562165"/>
            <a:ext cx="7616952" cy="564315"/>
          </a:xfrm>
          <a:prstGeom prst="rect">
            <a:avLst/>
          </a:prstGeom>
          <a:noFill/>
          <a:ln/>
        </p:spPr>
        <p:txBody>
          <a:bodyPr wrap="square" lIns="0" tIns="0" rIns="0" bIns="0" rtlCol="0" anchor="ctr"/>
          <a:lstStyle/>
          <a:p>
            <a:pPr rtl="1" algn="r" indent="0" marL="0">
              <a:buNone/>
            </a:pPr>
            <a:r>
              <a:rPr lang="ar-SA" altLang="en-US" sz="2000" dirty="0">
                <a:solidFill>
                  <a:srgbClr val="1F2A37"/>
                </a:solidFill>
                <a:latin typeface="Amiri" pitchFamily="34" charset="0"/>
                <a:ea typeface="Amiri" pitchFamily="34" charset="-122"/>
                <a:cs typeface="Amiri" pitchFamily="34" charset="-120"/>
              </a:rPr>
              <a:t>نَصِيحَتِي: لَا تَنْسَ أَنْ تُعِيدَ تَدْوِيرَ البِلَاسْتِيكِ! إِلَى اللِّقَاءِ.</a:t>
            </a:r>
            <a:endParaRPr lang="ar-SA" sz="2000" dirty="0"/>
          </a:p>
        </p:txBody>
      </p:sp>
      <p:sp>
        <p:nvSpPr>
          <p:cNvPr id="29" name="Shape 26"/>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ea typeface="Calibri" pitchFamily="34" charset="-122"/>
                <a:cs typeface="Calibri" pitchFamily="34" charset="-120"/>
              </a:rPr>
              <a:t>KEY WORDS</a:t>
            </a:r>
            <a:endParaRPr lang="en-US" sz="1000" dirty="0"/>
          </a:p>
        </p:txBody>
      </p:sp>
      <p:sp>
        <p:nvSpPr>
          <p:cNvPr id="31" name="Text 28"/>
          <p:cNvSpPr txBox="1"/>
          <p:nvPr/>
        </p:nvSpPr>
        <p:spPr>
          <a:xfrm>
            <a:off x="10102291" y="221284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عُمَانُ</a:t>
            </a:r>
            <a:endParaRPr lang="ar-SA" sz="1600" dirty="0"/>
          </a:p>
        </p:txBody>
      </p:sp>
      <p:sp>
        <p:nvSpPr>
          <p:cNvPr id="32" name="Text 29"/>
          <p:cNvSpPr txBox="1"/>
          <p:nvPr/>
        </p:nvSpPr>
        <p:spPr>
          <a:xfrm>
            <a:off x="8851392" y="221284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Oman</a:t>
            </a:r>
            <a:endParaRPr lang="en-US" sz="1050" dirty="0"/>
          </a:p>
        </p:txBody>
      </p:sp>
      <p:sp>
        <p:nvSpPr>
          <p:cNvPr id="33" name="Text 30"/>
          <p:cNvSpPr txBox="1"/>
          <p:nvPr/>
        </p:nvSpPr>
        <p:spPr>
          <a:xfrm>
            <a:off x="10102291" y="261518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عَائِلَتِي</a:t>
            </a:r>
            <a:endParaRPr lang="ar-SA" sz="1600" dirty="0"/>
          </a:p>
        </p:txBody>
      </p:sp>
      <p:sp>
        <p:nvSpPr>
          <p:cNvPr id="34" name="Text 31"/>
          <p:cNvSpPr txBox="1"/>
          <p:nvPr/>
        </p:nvSpPr>
        <p:spPr>
          <a:xfrm>
            <a:off x="8851392" y="261518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my family</a:t>
            </a:r>
            <a:endParaRPr lang="en-US" sz="1050" dirty="0"/>
          </a:p>
        </p:txBody>
      </p:sp>
      <p:sp>
        <p:nvSpPr>
          <p:cNvPr id="35" name="Text 32"/>
          <p:cNvSpPr txBox="1"/>
          <p:nvPr/>
        </p:nvSpPr>
        <p:spPr>
          <a:xfrm>
            <a:off x="10102291" y="301752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نُقِيمُ فِي</a:t>
            </a:r>
            <a:endParaRPr lang="ar-SA" sz="1600" dirty="0"/>
          </a:p>
        </p:txBody>
      </p:sp>
      <p:sp>
        <p:nvSpPr>
          <p:cNvPr id="36" name="Text 33"/>
          <p:cNvSpPr txBox="1"/>
          <p:nvPr/>
        </p:nvSpPr>
        <p:spPr>
          <a:xfrm>
            <a:off x="8851392" y="301752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we are staying at</a:t>
            </a:r>
            <a:endParaRPr lang="en-US" sz="1050" dirty="0"/>
          </a:p>
        </p:txBody>
      </p:sp>
      <p:sp>
        <p:nvSpPr>
          <p:cNvPr id="37" name="Text 34"/>
          <p:cNvSpPr txBox="1"/>
          <p:nvPr/>
        </p:nvSpPr>
        <p:spPr>
          <a:xfrm>
            <a:off x="10102291" y="341985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قُرْبَ</a:t>
            </a:r>
            <a:endParaRPr lang="ar-SA" sz="1600" dirty="0"/>
          </a:p>
        </p:txBody>
      </p:sp>
      <p:sp>
        <p:nvSpPr>
          <p:cNvPr id="38" name="Text 35"/>
          <p:cNvSpPr txBox="1"/>
          <p:nvPr/>
        </p:nvSpPr>
        <p:spPr>
          <a:xfrm>
            <a:off x="8851392" y="341985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near</a:t>
            </a:r>
            <a:endParaRPr lang="en-US" sz="1050" dirty="0"/>
          </a:p>
        </p:txBody>
      </p:sp>
      <p:sp>
        <p:nvSpPr>
          <p:cNvPr id="39" name="Text 36"/>
          <p:cNvSpPr txBox="1"/>
          <p:nvPr/>
        </p:nvSpPr>
        <p:spPr>
          <a:xfrm>
            <a:off x="10102291" y="382219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دَرَجَةُ الحَرَارَةِ</a:t>
            </a:r>
            <a:endParaRPr lang="ar-SA" sz="1600" dirty="0"/>
          </a:p>
        </p:txBody>
      </p:sp>
      <p:sp>
        <p:nvSpPr>
          <p:cNvPr id="40" name="Text 37"/>
          <p:cNvSpPr txBox="1"/>
          <p:nvPr/>
        </p:nvSpPr>
        <p:spPr>
          <a:xfrm>
            <a:off x="8851392" y="382219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temperature</a:t>
            </a:r>
            <a:endParaRPr lang="en-US" sz="1050" dirty="0"/>
          </a:p>
        </p:txBody>
      </p:sp>
      <p:sp>
        <p:nvSpPr>
          <p:cNvPr id="41" name="Text 38"/>
          <p:cNvSpPr txBox="1"/>
          <p:nvPr/>
        </p:nvSpPr>
        <p:spPr>
          <a:xfrm>
            <a:off x="10102291" y="422452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زُرْنَا</a:t>
            </a:r>
            <a:endParaRPr lang="ar-SA" sz="1600" dirty="0"/>
          </a:p>
        </p:txBody>
      </p:sp>
      <p:sp>
        <p:nvSpPr>
          <p:cNvPr id="42" name="Text 39"/>
          <p:cNvSpPr txBox="1"/>
          <p:nvPr/>
        </p:nvSpPr>
        <p:spPr>
          <a:xfrm>
            <a:off x="8851392" y="422452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we visited</a:t>
            </a:r>
            <a:endParaRPr lang="en-US" sz="1050" dirty="0"/>
          </a:p>
        </p:txBody>
      </p:sp>
      <p:sp>
        <p:nvSpPr>
          <p:cNvPr id="43" name="Text 40"/>
          <p:cNvSpPr txBox="1"/>
          <p:nvPr/>
        </p:nvSpPr>
        <p:spPr>
          <a:xfrm>
            <a:off x="10102291" y="462686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قَلْعَةٌ</a:t>
            </a:r>
            <a:endParaRPr lang="ar-SA" sz="1600" dirty="0"/>
          </a:p>
        </p:txBody>
      </p:sp>
      <p:sp>
        <p:nvSpPr>
          <p:cNvPr id="44" name="Text 41"/>
          <p:cNvSpPr txBox="1"/>
          <p:nvPr/>
        </p:nvSpPr>
        <p:spPr>
          <a:xfrm>
            <a:off x="8851392" y="462686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castle</a:t>
            </a:r>
            <a:endParaRPr lang="en-US" sz="1050" dirty="0"/>
          </a:p>
        </p:txBody>
      </p:sp>
      <p:sp>
        <p:nvSpPr>
          <p:cNvPr id="45" name="Text 42"/>
          <p:cNvSpPr txBox="1"/>
          <p:nvPr/>
        </p:nvSpPr>
        <p:spPr>
          <a:xfrm>
            <a:off x="10102291" y="502920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رِيَالَاتٌ</a:t>
            </a:r>
            <a:endParaRPr lang="ar-SA" sz="1600" dirty="0"/>
          </a:p>
        </p:txBody>
      </p:sp>
      <p:sp>
        <p:nvSpPr>
          <p:cNvPr id="46" name="Text 43"/>
          <p:cNvSpPr txBox="1"/>
          <p:nvPr/>
        </p:nvSpPr>
        <p:spPr>
          <a:xfrm>
            <a:off x="8851392" y="502920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riyals</a:t>
            </a:r>
            <a:endParaRPr lang="en-US" sz="1050" dirty="0"/>
          </a:p>
        </p:txBody>
      </p:sp>
      <p:sp>
        <p:nvSpPr>
          <p:cNvPr id="47" name="Text 44"/>
          <p:cNvSpPr txBox="1"/>
          <p:nvPr/>
        </p:nvSpPr>
        <p:spPr>
          <a:xfrm>
            <a:off x="10102291" y="543153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نَصِيحَتِي</a:t>
            </a:r>
            <a:endParaRPr lang="ar-SA" sz="1600" dirty="0"/>
          </a:p>
        </p:txBody>
      </p:sp>
      <p:sp>
        <p:nvSpPr>
          <p:cNvPr id="48" name="Text 45"/>
          <p:cNvSpPr txBox="1"/>
          <p:nvPr/>
        </p:nvSpPr>
        <p:spPr>
          <a:xfrm>
            <a:off x="8851392" y="543153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my advice</a:t>
            </a:r>
            <a:endParaRPr lang="en-US" sz="1050" dirty="0"/>
          </a:p>
        </p:txBody>
      </p:sp>
      <p:sp>
        <p:nvSpPr>
          <p:cNvPr id="49" name="Text 46"/>
          <p:cNvSpPr txBox="1"/>
          <p:nvPr/>
        </p:nvSpPr>
        <p:spPr>
          <a:xfrm>
            <a:off x="10102291" y="583387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لَا تَنْسَ</a:t>
            </a:r>
            <a:endParaRPr lang="ar-SA" sz="1600" dirty="0"/>
          </a:p>
        </p:txBody>
      </p:sp>
      <p:sp>
        <p:nvSpPr>
          <p:cNvPr id="50" name="Text 47"/>
          <p:cNvSpPr txBox="1"/>
          <p:nvPr/>
        </p:nvSpPr>
        <p:spPr>
          <a:xfrm>
            <a:off x="8851392" y="583387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don’t forget</a:t>
            </a:r>
            <a:endParaRPr lang="en-US" sz="1050" dirty="0"/>
          </a:p>
        </p:txBody>
      </p:sp>
      <p:sp>
        <p:nvSpPr>
          <p:cNvPr id="51" name="Text 4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19 / 33</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TC-L12 · Topic C Assessment</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SECTION C · PART 1 · CORE · READING QUESTIONS · 5 MARKS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Section C: email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أَسْئِلَةُ 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4 · Lesson 3 of 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Where is Yusuf staying?</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In a flat in the city</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With his grandparents</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In a hotel near the sea</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is the weather like?</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Hot and sunny</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Cold and rainy</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Windy</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is the castle built of?</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Wood</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Stone</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Glass</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How much did the present cost?</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10 riyals</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35 riyals</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100 riyals</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is Yusuf’s advice?</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Visit the castle</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Book a hotel early</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Recycle plastic</a:t>
            </a:r>
            <a:endParaRPr lang="en-US" sz="1250" dirty="0"/>
          </a:p>
        </p:txBody>
      </p:sp>
      <p:sp>
        <p:nvSpPr>
          <p:cNvPr id="80" name="Shape 77"/>
          <p:cNvSpPr/>
          <p:nvPr/>
        </p:nvSpPr>
        <p:spPr>
          <a:xfrm>
            <a:off x="8095488" y="4151376"/>
            <a:ext cx="3636264" cy="2157984"/>
          </a:xfrm>
          <a:prstGeom prst="roundRect">
            <a:avLst>
              <a:gd name="adj" fmla="val 3390"/>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ea typeface="Calibri" pitchFamily="34" charset="-122"/>
                <a:cs typeface="Calibri" pitchFamily="34" charset="-120"/>
              </a:rPr>
              <a:t>READ LIKE A DETECTIVE</a:t>
            </a:r>
            <a:endParaRPr lang="en-US" sz="1000" dirty="0"/>
          </a:p>
        </p:txBody>
      </p:sp>
      <p:sp>
        <p:nvSpPr>
          <p:cNvPr id="82" name="Text 79"/>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ea typeface="Calibri" pitchFamily="34" charset="-122"/>
                <a:cs typeface="Calibri" pitchFamily="34" charset="-120"/>
              </a:rPr>
              <a:t>1. Read the question first.</a:t>
            </a:r>
            <a:endParaRPr lang="en-US" sz="1250" dirty="0"/>
          </a:p>
          <a:p>
            <a:pPr algn="l" indent="0" marL="0">
              <a:buNone/>
            </a:pPr>
            <a:r>
              <a:rPr lang="en-US" sz="1250" dirty="0">
                <a:solidFill>
                  <a:srgbClr val="1F2A37"/>
                </a:solidFill>
                <a:latin typeface="Calibri" pitchFamily="34" charset="0"/>
                <a:ea typeface="Calibri" pitchFamily="34" charset="-122"/>
                <a:cs typeface="Calibri" pitchFamily="34" charset="-120"/>
              </a:rPr>
              <a:t>2. Find ONE key word in the email.</a:t>
            </a:r>
            <a:endParaRPr lang="en-US" sz="1250" dirty="0"/>
          </a:p>
          <a:p>
            <a:pPr algn="l" indent="0" marL="0">
              <a:buNone/>
            </a:pPr>
            <a:r>
              <a:rPr lang="en-US" sz="1250" dirty="0">
                <a:solidFill>
                  <a:srgbClr val="1F2A37"/>
                </a:solidFill>
                <a:latin typeface="Calibri" pitchFamily="34" charset="0"/>
                <a:ea typeface="Calibri" pitchFamily="34" charset="-122"/>
                <a:cs typeface="Calibri" pitchFamily="34" charset="-120"/>
              </a:rPr>
              <a:t>3. Read that line again, then choose.</a:t>
            </a:r>
            <a:endParaRPr lang="en-US" sz="1250" dirty="0"/>
          </a:p>
          <a:p>
            <a:pPr algn="l" indent="0" marL="0">
              <a:buNone/>
            </a:pPr>
            <a:r>
              <a:rPr lang="en-US" sz="1250" dirty="0">
                <a:solidFill>
                  <a:srgbClr val="1F2A37"/>
                </a:solidFill>
                <a:latin typeface="Calibri" pitchFamily="34" charset="0"/>
                <a:ea typeface="Calibri" pitchFamily="34" charset="-122"/>
                <a:cs typeface="Calibri" pitchFamily="34" charset="-120"/>
              </a:rPr>
              <a:t>Chat: C: 1_ 2_ 3_ 4_ 5_</a:t>
            </a:r>
            <a:endParaRPr lang="en-US" sz="1250" dirty="0"/>
          </a:p>
        </p:txBody>
      </p:sp>
      <p:sp>
        <p:nvSpPr>
          <p:cNvPr id="83" name="Text 8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20 / 33</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TC-L12 · Topic C Assessment</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SECTION C · PART 1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Section C part 1: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4 · Lesson 3 of 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Where is Yusuf staying?</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In a flat in the city</a:t>
            </a:r>
            <a:endParaRPr lang="en-US" sz="125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4" name="Text 21"/>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With his grandparents</a:t>
            </a:r>
            <a:endParaRPr lang="en-US" sz="1250" dirty="0"/>
          </a:p>
        </p:txBody>
      </p:sp>
      <p:sp>
        <p:nvSpPr>
          <p:cNvPr id="25" name="Shape 22"/>
          <p:cNvSpPr/>
          <p:nvPr/>
        </p:nvSpPr>
        <p:spPr>
          <a:xfrm>
            <a:off x="548640" y="3197352"/>
            <a:ext cx="3453384"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In a hotel near the sea</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نُقِيمُ فِي فُنْدُقٍ قُرْبَ البَحْرِ.</a:t>
            </a:r>
            <a:endParaRPr lang="ar-SA" sz="13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is the weather like?</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Hot and sunny</a:t>
            </a:r>
            <a:endParaRPr lang="en-US" sz="125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Cold and rainy</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Windy</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الجَوُّ هُنَا حَارٌّ وَمُشْمِسٌ.</a:t>
            </a:r>
            <a:endParaRPr lang="ar-SA" sz="13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is the castle built of?</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Wood</a:t>
            </a:r>
            <a:endParaRPr lang="en-US" sz="1250" dirty="0"/>
          </a:p>
        </p:txBody>
      </p:sp>
      <p:sp>
        <p:nvSpPr>
          <p:cNvPr id="52" name="Shape 49"/>
          <p:cNvSpPr/>
          <p:nvPr/>
        </p:nvSpPr>
        <p:spPr>
          <a:xfrm>
            <a:off x="8186928" y="2825496"/>
            <a:ext cx="3453384"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8278368" y="2862072"/>
            <a:ext cx="256032" cy="256032"/>
          </a:xfrm>
          <a:prstGeom prst="ellipse">
            <a:avLst/>
          </a:prstGeom>
          <a:solidFill>
            <a:srgbClr val="2E8B57"/>
          </a:solidFill>
          <a:ln w="12700">
            <a:solidFill>
              <a:srgbClr val="2E8B57"/>
            </a:solidFill>
            <a:prstDash val="solid"/>
          </a:ln>
        </p:spPr>
      </p:sp>
      <p:sp>
        <p:nvSpPr>
          <p:cNvPr id="54" name="Text 51"/>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55" name="Text 52"/>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Stone</a:t>
            </a:r>
            <a:endParaRPr lang="en-US" sz="1250" dirty="0"/>
          </a:p>
        </p:txBody>
      </p:sp>
      <p:sp>
        <p:nvSpPr>
          <p:cNvPr id="56" name="Shape 53"/>
          <p:cNvSpPr/>
          <p:nvPr/>
        </p:nvSpPr>
        <p:spPr>
          <a:xfrm>
            <a:off x="8278368" y="323392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Glass</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قَلْعَةً قَدِيمَةً مَبْنِيَّةً مِنَ الحَجَرِ.</a:t>
            </a:r>
            <a:endParaRPr lang="ar-SA" sz="13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How much did the present cost?</a:t>
            </a:r>
            <a:endParaRPr lang="en-US" sz="1250" dirty="0"/>
          </a:p>
        </p:txBody>
      </p:sp>
      <p:sp>
        <p:nvSpPr>
          <p:cNvPr id="64" name="Shape 61"/>
          <p:cNvSpPr/>
          <p:nvPr/>
        </p:nvSpPr>
        <p:spPr>
          <a:xfrm>
            <a:off x="548640" y="4794504"/>
            <a:ext cx="3453384"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40080"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10 riyals</a:t>
            </a:r>
            <a:endParaRPr lang="en-US" sz="1250" dirty="0"/>
          </a:p>
        </p:txBody>
      </p:sp>
      <p:sp>
        <p:nvSpPr>
          <p:cNvPr id="68" name="Shape 65"/>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35 riyals</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100 riyals</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ثَمَنُهَا عَشَرَةُ رِيَالَاتٍ.</a:t>
            </a:r>
            <a:endParaRPr lang="ar-SA" sz="13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is Yusuf’s advice?</a:t>
            </a:r>
            <a:endParaRPr lang="en-US" sz="1250" dirty="0"/>
          </a:p>
        </p:txBody>
      </p:sp>
      <p:sp>
        <p:nvSpPr>
          <p:cNvPr id="79" name="Shape 76"/>
          <p:cNvSpPr/>
          <p:nvPr/>
        </p:nvSpPr>
        <p:spPr>
          <a:xfrm>
            <a:off x="4459224"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81" name="Text 78"/>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Visit the castle</a:t>
            </a:r>
            <a:endParaRPr lang="en-US" sz="1250" dirty="0"/>
          </a:p>
        </p:txBody>
      </p:sp>
      <p:sp>
        <p:nvSpPr>
          <p:cNvPr id="82" name="Shape 79"/>
          <p:cNvSpPr/>
          <p:nvPr/>
        </p:nvSpPr>
        <p:spPr>
          <a:xfrm>
            <a:off x="4459224" y="5202936"/>
            <a:ext cx="256032" cy="256032"/>
          </a:xfrm>
          <a:prstGeom prst="ellipse">
            <a:avLst/>
          </a:prstGeom>
          <a:solidFill>
            <a:srgbClr val="C9CED6"/>
          </a:solidFill>
          <a:ln w="12700">
            <a:solidFill>
              <a:srgbClr val="C9CED6"/>
            </a:solidFill>
            <a:prstDash val="solid"/>
          </a:ln>
        </p:spPr>
      </p:sp>
      <p:sp>
        <p:nvSpPr>
          <p:cNvPr id="83" name="Text 80"/>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84" name="Text 81"/>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Book a hotel early</a:t>
            </a:r>
            <a:endParaRPr lang="en-US" sz="1250" dirty="0"/>
          </a:p>
        </p:txBody>
      </p:sp>
      <p:sp>
        <p:nvSpPr>
          <p:cNvPr id="85" name="Shape 82"/>
          <p:cNvSpPr/>
          <p:nvPr/>
        </p:nvSpPr>
        <p:spPr>
          <a:xfrm>
            <a:off x="4367784" y="5538216"/>
            <a:ext cx="3453384" cy="347472"/>
          </a:xfrm>
          <a:prstGeom prst="roundRect">
            <a:avLst>
              <a:gd name="adj" fmla="val 15789"/>
            </a:avLst>
          </a:prstGeom>
          <a:solidFill>
            <a:srgbClr val="E6F4EC"/>
          </a:solidFill>
          <a:ln w="9525">
            <a:solidFill>
              <a:srgbClr val="2E8B57"/>
            </a:solidFill>
            <a:prstDash val="solid"/>
          </a:ln>
        </p:spPr>
      </p:sp>
      <p:sp>
        <p:nvSpPr>
          <p:cNvPr id="86" name="Shape 83"/>
          <p:cNvSpPr/>
          <p:nvPr/>
        </p:nvSpPr>
        <p:spPr>
          <a:xfrm>
            <a:off x="4459224" y="5574792"/>
            <a:ext cx="256032" cy="256032"/>
          </a:xfrm>
          <a:prstGeom prst="ellipse">
            <a:avLst/>
          </a:prstGeom>
          <a:solidFill>
            <a:srgbClr val="2E8B57"/>
          </a:solidFill>
          <a:ln w="12700">
            <a:solidFill>
              <a:srgbClr val="2E8B57"/>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Recycle plastic</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لَا تَنْسَ أَنْ تُعِيدَ تَدْوِيرَ البِلَاسْتِيكِ!</a:t>
            </a:r>
            <a:endParaRPr lang="ar-SA" sz="1350" dirty="0"/>
          </a:p>
        </p:txBody>
      </p:sp>
      <p:sp>
        <p:nvSpPr>
          <p:cNvPr id="90" name="Shape 87"/>
          <p:cNvSpPr/>
          <p:nvPr/>
        </p:nvSpPr>
        <p:spPr>
          <a:xfrm>
            <a:off x="8095488" y="4151376"/>
            <a:ext cx="3636264" cy="2157984"/>
          </a:xfrm>
          <a:prstGeom prst="roundRect">
            <a:avLst>
              <a:gd name="adj" fmla="val 3390"/>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ea typeface="Calibri" pitchFamily="34" charset="-122"/>
                <a:cs typeface="Calibri" pitchFamily="34" charset="-120"/>
              </a:rPr>
              <a:t>READ LIKE A DETECTIVE</a:t>
            </a:r>
            <a:endParaRPr lang="en-US" sz="1000" dirty="0"/>
          </a:p>
        </p:txBody>
      </p:sp>
      <p:sp>
        <p:nvSpPr>
          <p:cNvPr id="92" name="Text 89"/>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ea typeface="Calibri" pitchFamily="34" charset="-122"/>
                <a:cs typeface="Calibri" pitchFamily="34" charset="-120"/>
              </a:rPr>
              <a:t>1. Read the question first.</a:t>
            </a:r>
            <a:endParaRPr lang="en-US" sz="1250" dirty="0"/>
          </a:p>
          <a:p>
            <a:pPr algn="l" indent="0" marL="0">
              <a:buNone/>
            </a:pPr>
            <a:r>
              <a:rPr lang="en-US" sz="1250" dirty="0">
                <a:solidFill>
                  <a:srgbClr val="1F2A37"/>
                </a:solidFill>
                <a:latin typeface="Calibri" pitchFamily="34" charset="0"/>
                <a:ea typeface="Calibri" pitchFamily="34" charset="-122"/>
                <a:cs typeface="Calibri" pitchFamily="34" charset="-120"/>
              </a:rPr>
              <a:t>2. Find ONE key word in the email.</a:t>
            </a:r>
            <a:endParaRPr lang="en-US" sz="1250" dirty="0"/>
          </a:p>
          <a:p>
            <a:pPr algn="l" indent="0" marL="0">
              <a:buNone/>
            </a:pPr>
            <a:r>
              <a:rPr lang="en-US" sz="1250" dirty="0">
                <a:solidFill>
                  <a:srgbClr val="1F2A37"/>
                </a:solidFill>
                <a:latin typeface="Calibri" pitchFamily="34" charset="0"/>
                <a:ea typeface="Calibri" pitchFamily="34" charset="-122"/>
                <a:cs typeface="Calibri" pitchFamily="34" charset="-120"/>
              </a:rPr>
              <a:t>3. Read that line again, then choose.</a:t>
            </a:r>
            <a:endParaRPr lang="en-US" sz="1250" dirty="0"/>
          </a:p>
          <a:p>
            <a:pPr algn="l" indent="0" marL="0">
              <a:buNone/>
            </a:pPr>
            <a:r>
              <a:rPr lang="en-US" sz="1250" dirty="0">
                <a:solidFill>
                  <a:srgbClr val="1F2A37"/>
                </a:solidFill>
                <a:latin typeface="Calibri" pitchFamily="34" charset="0"/>
                <a:ea typeface="Calibri" pitchFamily="34" charset="-122"/>
                <a:cs typeface="Calibri" pitchFamily="34" charset="-120"/>
              </a:rPr>
              <a:t>Chat: C: 1_ 2_ 3_ 4_ 5_</a:t>
            </a:r>
            <a:endParaRPr lang="en-US" sz="1250" dirty="0"/>
          </a:p>
        </p:txBody>
      </p:sp>
      <p:sp>
        <p:nvSpPr>
          <p:cNvPr id="93" name="Text 9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21 / 33</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TC-L12 · Topic C Assessment</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SECTION C · PART 2 · DEVELOP / STRETCH · WEBSITE ARTICLE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ea typeface="Cambria" pitchFamily="34" charset="-122"/>
                <a:cs typeface="Cambria" pitchFamily="34" charset="-120"/>
              </a:rPr>
              <a:t>Section C: water, cities and technology</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القِسْمُ ج · ٢</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4 · Lesson 3 of 3</a:t>
            </a:r>
            <a:endParaRPr lang="en-US" sz="850" dirty="0"/>
          </a:p>
        </p:txBody>
      </p:sp>
      <p:sp>
        <p:nvSpPr>
          <p:cNvPr id="15" name="Shape 12"/>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65960"/>
            <a:ext cx="7616952" cy="4206240"/>
          </a:xfrm>
          <a:prstGeom prst="rect">
            <a:avLst/>
          </a:prstGeom>
          <a:noFill/>
          <a:ln/>
        </p:spPr>
        <p:txBody>
          <a:bodyPr wrap="square" lIns="0" tIns="0" rIns="0" bIns="0" rtlCol="0" anchor="t"/>
          <a:lstStyle/>
          <a:p>
            <a:pPr rtl="1" algn="r" indent="0" marL="0">
              <a:lnSpc>
                <a:spcPct val="120000"/>
              </a:lnSpc>
              <a:buNone/>
            </a:pPr>
            <a:r>
              <a:rPr lang="ar-SA" altLang="en-US" sz="2300" dirty="0">
                <a:solidFill>
                  <a:srgbClr val="1F2A37"/>
                </a:solidFill>
                <a:latin typeface="Amiri" pitchFamily="34" charset="0"/>
                <a:ea typeface="Amiri" pitchFamily="34" charset="-122"/>
                <a:cs typeface="Amiri" pitchFamily="34" charset="-120"/>
              </a:rPr>
              <a:t>يُشَارُ إِلَى أَنَّ تَغَيُّرَ المَنَاخِ يَزِيدُ شُحَّ المِيَاهِ فِي مَنَاطِقَ عَرَبِيَّةٍ عِدَّةٍ. فَبِسَبَبِ طُولِ فَتَرَاتِ الجَفَافِ، يَنْخَفِضُ المَخْزُونُ الجَوْفِيُّ وَتَتَضَرَّرُ الزِّرَاعَةُ. وَفِي المُدُنِ، يُلَوَّثُ الهَوَاءُ بِعَوَادِمِ السَّيَّارَاتِ. لِذٰلِكَ تَسْتَثْمِرُ بَعْضُ البَلَدِيَّاتِ فِي النَّقْلِ الكَهْرَبَائِيِّ وَالأَنْظِمَةِ الذَّكِيَّةِ. وَفْقًا لِبَيَانَاتِ إِحْدَى البَلَدِيَّاتِ، انْخَفَضَ اسْتِهْلَاكُ الكَهْرَبَاءِ فِي المَبَانِي العَامَّةِ بِنِسْبَةِ ١٨٪ بَعْدَ تَرْكِيبِ أَنْظِمَةٍ تُطْفِئُ الإِضَاءَةَ فِي الغُرَفِ الفَارِغَةِ. مَعَ ذٰلِكَ، هٰذِهِ الحُلُولُ مُكَلِّفَةٌ وَقَدْ تَجْمَعُ بَيَانَاتٍ شَخْصِيَّةً. فِي رَأْيِي، التِّقْنِيَّةُ جُزْءٌ مُهِمٌّ مِنَ الحَلِّ، شَرِيطَةَ أَنْ تُحْمَى الخُصُوصِيَّةُ وَأَنْ تَصْحَبَهَا سِيَاسَاتٌ وَسُلُوكٌ مَسْؤُولٌ.</a:t>
            </a:r>
            <a:endParaRPr lang="ar-SA" sz="2300" dirty="0"/>
          </a:p>
        </p:txBody>
      </p:sp>
      <p:sp>
        <p:nvSpPr>
          <p:cNvPr id="17" name="Shape 14"/>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ea typeface="Calibri" pitchFamily="34" charset="-122"/>
                <a:cs typeface="Calibri" pitchFamily="34" charset="-120"/>
              </a:rPr>
              <a:t>KEY WORDS</a:t>
            </a:r>
            <a:endParaRPr lang="en-US" sz="1000" dirty="0"/>
          </a:p>
        </p:txBody>
      </p:sp>
      <p:sp>
        <p:nvSpPr>
          <p:cNvPr id="19" name="Text 16"/>
          <p:cNvSpPr txBox="1"/>
          <p:nvPr/>
        </p:nvSpPr>
        <p:spPr>
          <a:xfrm>
            <a:off x="10102291" y="221284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يُشَارُ إِلَى أَنَّ</a:t>
            </a:r>
            <a:endParaRPr lang="ar-SA" sz="1600" dirty="0"/>
          </a:p>
        </p:txBody>
      </p:sp>
      <p:sp>
        <p:nvSpPr>
          <p:cNvPr id="20" name="Text 17"/>
          <p:cNvSpPr txBox="1"/>
          <p:nvPr/>
        </p:nvSpPr>
        <p:spPr>
          <a:xfrm>
            <a:off x="8851392" y="221284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it is reported that</a:t>
            </a:r>
            <a:endParaRPr lang="en-US" sz="1050" dirty="0"/>
          </a:p>
        </p:txBody>
      </p:sp>
      <p:sp>
        <p:nvSpPr>
          <p:cNvPr id="21" name="Text 18"/>
          <p:cNvSpPr txBox="1"/>
          <p:nvPr/>
        </p:nvSpPr>
        <p:spPr>
          <a:xfrm>
            <a:off x="10102291" y="261518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شُحُّ المِيَاهِ</a:t>
            </a:r>
            <a:endParaRPr lang="ar-SA" sz="1600" dirty="0"/>
          </a:p>
        </p:txBody>
      </p:sp>
      <p:sp>
        <p:nvSpPr>
          <p:cNvPr id="22" name="Text 19"/>
          <p:cNvSpPr txBox="1"/>
          <p:nvPr/>
        </p:nvSpPr>
        <p:spPr>
          <a:xfrm>
            <a:off x="8851392" y="261518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water scarcity</a:t>
            </a:r>
            <a:endParaRPr lang="en-US" sz="1050" dirty="0"/>
          </a:p>
        </p:txBody>
      </p:sp>
      <p:sp>
        <p:nvSpPr>
          <p:cNvPr id="23" name="Text 20"/>
          <p:cNvSpPr txBox="1"/>
          <p:nvPr/>
        </p:nvSpPr>
        <p:spPr>
          <a:xfrm>
            <a:off x="10102291" y="301752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الجَفَافُ</a:t>
            </a:r>
            <a:endParaRPr lang="ar-SA" sz="1600" dirty="0"/>
          </a:p>
        </p:txBody>
      </p:sp>
      <p:sp>
        <p:nvSpPr>
          <p:cNvPr id="24" name="Text 21"/>
          <p:cNvSpPr txBox="1"/>
          <p:nvPr/>
        </p:nvSpPr>
        <p:spPr>
          <a:xfrm>
            <a:off x="8851392" y="301752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drought</a:t>
            </a:r>
            <a:endParaRPr lang="en-US" sz="1050" dirty="0"/>
          </a:p>
        </p:txBody>
      </p:sp>
      <p:sp>
        <p:nvSpPr>
          <p:cNvPr id="25" name="Text 22"/>
          <p:cNvSpPr txBox="1"/>
          <p:nvPr/>
        </p:nvSpPr>
        <p:spPr>
          <a:xfrm>
            <a:off x="10102291" y="341985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المَخْزُونُ الجَوْفِيُّ</a:t>
            </a:r>
            <a:endParaRPr lang="ar-SA" sz="1600" dirty="0"/>
          </a:p>
        </p:txBody>
      </p:sp>
      <p:sp>
        <p:nvSpPr>
          <p:cNvPr id="26" name="Text 23"/>
          <p:cNvSpPr txBox="1"/>
          <p:nvPr/>
        </p:nvSpPr>
        <p:spPr>
          <a:xfrm>
            <a:off x="8851392" y="341985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groundwater stock</a:t>
            </a:r>
            <a:endParaRPr lang="en-US" sz="1050" dirty="0"/>
          </a:p>
        </p:txBody>
      </p:sp>
      <p:sp>
        <p:nvSpPr>
          <p:cNvPr id="27" name="Text 24"/>
          <p:cNvSpPr txBox="1"/>
          <p:nvPr/>
        </p:nvSpPr>
        <p:spPr>
          <a:xfrm>
            <a:off x="10102291" y="382219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عَوَادِمُ</a:t>
            </a:r>
            <a:endParaRPr lang="ar-SA" sz="1600" dirty="0"/>
          </a:p>
        </p:txBody>
      </p:sp>
      <p:sp>
        <p:nvSpPr>
          <p:cNvPr id="28" name="Text 25"/>
          <p:cNvSpPr txBox="1"/>
          <p:nvPr/>
        </p:nvSpPr>
        <p:spPr>
          <a:xfrm>
            <a:off x="8851392" y="382219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exhaust fumes</a:t>
            </a:r>
            <a:endParaRPr lang="en-US" sz="1050" dirty="0"/>
          </a:p>
        </p:txBody>
      </p:sp>
      <p:sp>
        <p:nvSpPr>
          <p:cNvPr id="29" name="Text 26"/>
          <p:cNvSpPr txBox="1"/>
          <p:nvPr/>
        </p:nvSpPr>
        <p:spPr>
          <a:xfrm>
            <a:off x="10102291" y="422452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البَلَدِيَّاتُ</a:t>
            </a:r>
            <a:endParaRPr lang="ar-SA" sz="1600" dirty="0"/>
          </a:p>
        </p:txBody>
      </p:sp>
      <p:sp>
        <p:nvSpPr>
          <p:cNvPr id="30" name="Text 27"/>
          <p:cNvSpPr txBox="1"/>
          <p:nvPr/>
        </p:nvSpPr>
        <p:spPr>
          <a:xfrm>
            <a:off x="8851392" y="422452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town councils</a:t>
            </a:r>
            <a:endParaRPr lang="en-US" sz="1050" dirty="0"/>
          </a:p>
        </p:txBody>
      </p:sp>
      <p:sp>
        <p:nvSpPr>
          <p:cNvPr id="31" name="Text 28"/>
          <p:cNvSpPr txBox="1"/>
          <p:nvPr/>
        </p:nvSpPr>
        <p:spPr>
          <a:xfrm>
            <a:off x="10102291" y="462686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وَفْقًا لِـ</a:t>
            </a:r>
            <a:endParaRPr lang="ar-SA" sz="1600" dirty="0"/>
          </a:p>
        </p:txBody>
      </p:sp>
      <p:sp>
        <p:nvSpPr>
          <p:cNvPr id="32" name="Text 29"/>
          <p:cNvSpPr txBox="1"/>
          <p:nvPr/>
        </p:nvSpPr>
        <p:spPr>
          <a:xfrm>
            <a:off x="8851392" y="462686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according to</a:t>
            </a:r>
            <a:endParaRPr lang="en-US" sz="1050" dirty="0"/>
          </a:p>
        </p:txBody>
      </p:sp>
      <p:sp>
        <p:nvSpPr>
          <p:cNvPr id="33" name="Text 30"/>
          <p:cNvSpPr txBox="1"/>
          <p:nvPr/>
        </p:nvSpPr>
        <p:spPr>
          <a:xfrm>
            <a:off x="10102291" y="502920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بِنِسْبَةِ</a:t>
            </a:r>
            <a:endParaRPr lang="ar-SA" sz="1600" dirty="0"/>
          </a:p>
        </p:txBody>
      </p:sp>
      <p:sp>
        <p:nvSpPr>
          <p:cNvPr id="34" name="Text 31"/>
          <p:cNvSpPr txBox="1"/>
          <p:nvPr/>
        </p:nvSpPr>
        <p:spPr>
          <a:xfrm>
            <a:off x="8851392" y="502920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by (a percentage)</a:t>
            </a:r>
            <a:endParaRPr lang="en-US" sz="1050" dirty="0"/>
          </a:p>
        </p:txBody>
      </p:sp>
      <p:sp>
        <p:nvSpPr>
          <p:cNvPr id="35" name="Text 32"/>
          <p:cNvSpPr txBox="1"/>
          <p:nvPr/>
        </p:nvSpPr>
        <p:spPr>
          <a:xfrm>
            <a:off x="10102291" y="543153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مَعَ ذٰلِكَ</a:t>
            </a:r>
            <a:endParaRPr lang="ar-SA" sz="1600" dirty="0"/>
          </a:p>
        </p:txBody>
      </p:sp>
      <p:sp>
        <p:nvSpPr>
          <p:cNvPr id="36" name="Text 33"/>
          <p:cNvSpPr txBox="1"/>
          <p:nvPr/>
        </p:nvSpPr>
        <p:spPr>
          <a:xfrm>
            <a:off x="8851392" y="543153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however</a:t>
            </a:r>
            <a:endParaRPr lang="en-US" sz="1050" dirty="0"/>
          </a:p>
        </p:txBody>
      </p:sp>
      <p:sp>
        <p:nvSpPr>
          <p:cNvPr id="37" name="Text 34"/>
          <p:cNvSpPr txBox="1"/>
          <p:nvPr/>
        </p:nvSpPr>
        <p:spPr>
          <a:xfrm>
            <a:off x="10102291" y="583387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الخُصُوصِيَّةُ</a:t>
            </a:r>
            <a:endParaRPr lang="ar-SA" sz="1600" dirty="0"/>
          </a:p>
        </p:txBody>
      </p:sp>
      <p:sp>
        <p:nvSpPr>
          <p:cNvPr id="38" name="Text 35"/>
          <p:cNvSpPr txBox="1"/>
          <p:nvPr/>
        </p:nvSpPr>
        <p:spPr>
          <a:xfrm>
            <a:off x="8851392" y="583387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privacy</a:t>
            </a:r>
            <a:endParaRPr lang="en-US" sz="105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22 / 33</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TC-L12 · Topic C Assessment</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ea typeface="Calibri" pitchFamily="34" charset="-122"/>
                <a:cs typeface="Calibri" pitchFamily="34" charset="-120"/>
              </a:rPr>
              <a:t>SECTION C · PART 2 · DEVELOP / STRETCH · WEBSITE QUESTIONS · 5 MARKS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Section C: article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أَسْئِلَةُ المَقَالَةِ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4 · Lesson 3 of 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problem is linked to longer drought?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Water scarcity</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Clothing prices</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Cyberbullying</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7</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datum is used as evidence?</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The writer likes green buildings.</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Electricity use fell by 18% in public buildings.</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The city has a long name.</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8</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limitation of smart systems is acknowledged?</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Cost and privacy concerns</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They cannot measure anything</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They always increase waste</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9</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connector introduces the counterargument?</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نَتِيجَةً لِذٰلِكَ</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عَلَاوَةً عَلَى ذٰلِكَ</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مَعَ ذٰلِكَ</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10</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is the article’s central argument?</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Technology has no environmental use.</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Technology can support environmental action but cannot replace policy and behaviour.</a:t>
            </a:r>
            <a:endParaRPr lang="en-US" sz="10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Weather vocabulary is the only important issue.</a:t>
            </a:r>
            <a:endParaRPr lang="en-US" sz="1250" dirty="0"/>
          </a:p>
        </p:txBody>
      </p:sp>
      <p:sp>
        <p:nvSpPr>
          <p:cNvPr id="80" name="Shape 7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82" name="Text 7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CORE</a:t>
            </a:r>
            <a:endParaRPr lang="en-US" sz="850" dirty="0"/>
          </a:p>
        </p:txBody>
      </p:sp>
      <p:sp>
        <p:nvSpPr>
          <p:cNvPr id="83" name="Text 80"/>
          <p:cNvSpPr txBox="1"/>
          <p:nvPr/>
        </p:nvSpPr>
        <p:spPr>
          <a:xfrm>
            <a:off x="8296656" y="4791456"/>
            <a:ext cx="3270504" cy="1380744"/>
          </a:xfrm>
          <a:prstGeom prst="rect">
            <a:avLst/>
          </a:prstGeom>
          <a:noFill/>
          <a:ln/>
        </p:spPr>
        <p:txBody>
          <a:bodyPr wrap="square" lIns="0" tIns="0" rIns="0" bIns="0" rtlCol="0" anchor="t"/>
          <a:lstStyle/>
          <a:p>
            <a:pPr algn="l" indent="0" marL="0">
              <a:lnSpc>
                <a:spcPct val="115000"/>
              </a:lnSpc>
              <a:buNone/>
            </a:pPr>
            <a:r>
              <a:rPr lang="en-US" sz="1250" dirty="0">
                <a:solidFill>
                  <a:srgbClr val="1E6B52"/>
                </a:solidFill>
                <a:latin typeface="Calibri" pitchFamily="34" charset="0"/>
                <a:ea typeface="Calibri" pitchFamily="34" charset="-122"/>
                <a:cs typeface="Calibri" pitchFamily="34" charset="-120"/>
              </a:rPr>
              <a:t>Question 6: find </a:t>
            </a:r>
            <a:pPr algn="l" indent="0" marL="0">
              <a:lnSpc>
                <a:spcPct val="115000"/>
              </a:lnSpc>
              <a:buNone/>
            </a:pPr>
            <a:r>
              <a:rPr lang="ar-SA" altLang="en-US" sz="1650" dirty="0">
                <a:solidFill>
                  <a:srgbClr val="1E6B52"/>
                </a:solidFill>
                <a:latin typeface="Amiri" pitchFamily="34" charset="0"/>
                <a:ea typeface="Amiri" pitchFamily="34" charset="-122"/>
                <a:cs typeface="Amiri" pitchFamily="34" charset="-120"/>
              </a:rPr>
              <a:t>الجَفَافِ</a:t>
            </a:r>
            <a:pPr algn="l" indent="0" marL="0">
              <a:lnSpc>
                <a:spcPct val="115000"/>
              </a:lnSpc>
              <a:buNone/>
            </a:pPr>
            <a:r>
              <a:rPr lang="en-US" sz="1250" dirty="0">
                <a:solidFill>
                  <a:srgbClr val="1E6B52"/>
                </a:solidFill>
                <a:latin typeface="Calibri" pitchFamily="34" charset="0"/>
                <a:ea typeface="Calibri" pitchFamily="34" charset="-122"/>
                <a:cs typeface="Calibri" pitchFamily="34" charset="-120"/>
              </a:rPr>
              <a:t> in the text.</a:t>
            </a:r>
            <a:endParaRPr lang="en-US" sz="1250" dirty="0"/>
          </a:p>
          <a:p>
            <a:pPr algn="l" indent="0" marL="0">
              <a:lnSpc>
                <a:spcPct val="115000"/>
              </a:lnSpc>
              <a:buNone/>
            </a:pPr>
            <a:r>
              <a:rPr lang="en-US" sz="1250" dirty="0">
                <a:solidFill>
                  <a:srgbClr val="1E6B52"/>
                </a:solidFill>
                <a:latin typeface="Calibri" pitchFamily="34" charset="0"/>
                <a:ea typeface="Calibri" pitchFamily="34" charset="-122"/>
                <a:cs typeface="Calibri" pitchFamily="34" charset="-120"/>
              </a:rPr>
              <a:t>Question 7: find the number (</a:t>
            </a:r>
            <a:pPr algn="l" indent="0" marL="0">
              <a:lnSpc>
                <a:spcPct val="115000"/>
              </a:lnSpc>
              <a:buNone/>
            </a:pPr>
            <a:r>
              <a:rPr lang="ar-SA" altLang="en-US" sz="1650" dirty="0">
                <a:solidFill>
                  <a:srgbClr val="1E6B52"/>
                </a:solidFill>
                <a:latin typeface="Amiri" pitchFamily="34" charset="0"/>
                <a:ea typeface="Amiri" pitchFamily="34" charset="-122"/>
                <a:cs typeface="Amiri" pitchFamily="34" charset="-120"/>
              </a:rPr>
              <a:t>١٨٪</a:t>
            </a:r>
            <a:pPr algn="l" indent="0" marL="0">
              <a:lnSpc>
                <a:spcPct val="115000"/>
              </a:lnSpc>
              <a:buNone/>
            </a:pPr>
            <a:r>
              <a:rPr lang="en-US" sz="1250" dirty="0">
                <a:solidFill>
                  <a:srgbClr val="1E6B52"/>
                </a:solidFill>
                <a:latin typeface="Calibri" pitchFamily="34" charset="0"/>
                <a:ea typeface="Calibri" pitchFamily="34" charset="-122"/>
                <a:cs typeface="Calibri" pitchFamily="34" charset="-120"/>
              </a:rPr>
              <a:t>).</a:t>
            </a:r>
            <a:endParaRPr lang="en-US" sz="125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23 / 33</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TC-L12 · Topic C Assessment</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SECTION C · PART 2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Section C part 2: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4 · Lesson 3 of 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problem is linked to longer drought?</a:t>
            </a:r>
            <a:endParaRPr lang="en-US" sz="1250" dirty="0"/>
          </a:p>
        </p:txBody>
      </p:sp>
      <p:sp>
        <p:nvSpPr>
          <p:cNvPr id="19" name="Shape 16"/>
          <p:cNvSpPr/>
          <p:nvPr/>
        </p:nvSpPr>
        <p:spPr>
          <a:xfrm>
            <a:off x="548640" y="2453640"/>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Water scarcity</a:t>
            </a:r>
            <a:endParaRPr lang="en-US" sz="12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Clothing prices</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Cyberbullying</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Longer drought is linked to water scarcity.</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7</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datum is used as evidence?</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The writer likes green buildings.</a:t>
            </a:r>
            <a:endParaRPr lang="en-US" sz="1250" dirty="0"/>
          </a:p>
        </p:txBody>
      </p:sp>
      <p:sp>
        <p:nvSpPr>
          <p:cNvPr id="37" name="Shape 34"/>
          <p:cNvSpPr/>
          <p:nvPr/>
        </p:nvSpPr>
        <p:spPr>
          <a:xfrm>
            <a:off x="4367784" y="2825496"/>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862072"/>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ea typeface="Calibri" pitchFamily="34" charset="-122"/>
                <a:cs typeface="Calibri" pitchFamily="34" charset="-120"/>
              </a:rPr>
              <a:t>Electricity use fell by 18% in public buildings.</a:t>
            </a:r>
            <a:endParaRPr lang="en-US" sz="11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The city has a long name.</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The article gives an 18% measured reduction.</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8</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limitation of smart systems is acknowledged?</a:t>
            </a:r>
            <a:endParaRPr lang="en-US" sz="1250" dirty="0"/>
          </a:p>
        </p:txBody>
      </p:sp>
      <p:sp>
        <p:nvSpPr>
          <p:cNvPr id="49" name="Shape 46"/>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490216"/>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52" name="Text 49"/>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Cost and privacy concerns</a:t>
            </a:r>
            <a:endParaRPr lang="en-US" sz="1250" dirty="0"/>
          </a:p>
        </p:txBody>
      </p:sp>
      <p:sp>
        <p:nvSpPr>
          <p:cNvPr id="53" name="Shape 50"/>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5" name="Text 52"/>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They cannot measure anything</a:t>
            </a:r>
            <a:endParaRPr lang="en-US" sz="1250" dirty="0"/>
          </a:p>
        </p:txBody>
      </p:sp>
      <p:sp>
        <p:nvSpPr>
          <p:cNvPr id="56" name="Shape 53"/>
          <p:cNvSpPr/>
          <p:nvPr/>
        </p:nvSpPr>
        <p:spPr>
          <a:xfrm>
            <a:off x="8278368" y="323392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They always increase waste</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Both cost and data privacy are named.</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9</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connector introduces the counterargument?</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نَتِيجَةً لِذٰلِكَ</a:t>
            </a:r>
            <a:endParaRPr lang="ar-SA" sz="170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عَلَاوَةً عَلَى ذٰلِكَ</a:t>
            </a:r>
            <a:endParaRPr lang="ar-SA" sz="170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مَعَ ذٰلِكَ</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مع ذلك</a:t>
            </a:r>
            <a:pPr algn="l" indent="0" marL="0">
              <a:buNone/>
            </a:pPr>
            <a:r>
              <a:rPr lang="en-US" sz="1050" i="1" dirty="0">
                <a:solidFill>
                  <a:srgbClr val="8A6D1E"/>
                </a:solidFill>
                <a:latin typeface="Calibri" pitchFamily="34" charset="0"/>
                <a:ea typeface="Calibri" pitchFamily="34" charset="-122"/>
                <a:cs typeface="Calibri" pitchFamily="34" charset="-120"/>
              </a:rPr>
              <a:t> introduces the reservation.</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10</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is the article’s central argument?</a:t>
            </a:r>
            <a:endParaRPr lang="en-US" sz="1250" dirty="0"/>
          </a:p>
        </p:txBody>
      </p:sp>
      <p:sp>
        <p:nvSpPr>
          <p:cNvPr id="79" name="Shape 76"/>
          <p:cNvSpPr/>
          <p:nvPr/>
        </p:nvSpPr>
        <p:spPr>
          <a:xfrm>
            <a:off x="4459224"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81" name="Text 78"/>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Technology has no environmental use.</a:t>
            </a:r>
            <a:endParaRPr lang="en-US" sz="1250" dirty="0"/>
          </a:p>
        </p:txBody>
      </p:sp>
      <p:sp>
        <p:nvSpPr>
          <p:cNvPr id="82" name="Shape 79"/>
          <p:cNvSpPr/>
          <p:nvPr/>
        </p:nvSpPr>
        <p:spPr>
          <a:xfrm>
            <a:off x="4367784" y="5166360"/>
            <a:ext cx="3453384" cy="347472"/>
          </a:xfrm>
          <a:prstGeom prst="roundRect">
            <a:avLst>
              <a:gd name="adj" fmla="val 15789"/>
            </a:avLst>
          </a:prstGeom>
          <a:solidFill>
            <a:srgbClr val="E6F4EC"/>
          </a:solidFill>
          <a:ln w="9525">
            <a:solidFill>
              <a:srgbClr val="2E8B57"/>
            </a:solidFill>
            <a:prstDash val="solid"/>
          </a:ln>
        </p:spPr>
      </p:sp>
      <p:sp>
        <p:nvSpPr>
          <p:cNvPr id="83" name="Shape 80"/>
          <p:cNvSpPr/>
          <p:nvPr/>
        </p:nvSpPr>
        <p:spPr>
          <a:xfrm>
            <a:off x="4459224" y="5202936"/>
            <a:ext cx="256032" cy="256032"/>
          </a:xfrm>
          <a:prstGeom prst="ellipse">
            <a:avLst/>
          </a:prstGeom>
          <a:solidFill>
            <a:srgbClr val="2E8B57"/>
          </a:solidFill>
          <a:ln w="12700">
            <a:solidFill>
              <a:srgbClr val="2E8B57"/>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050" b="1" dirty="0">
                <a:solidFill>
                  <a:srgbClr val="1F2A37"/>
                </a:solidFill>
                <a:latin typeface="Calibri" pitchFamily="34" charset="0"/>
                <a:ea typeface="Calibri" pitchFamily="34" charset="-122"/>
                <a:cs typeface="Calibri" pitchFamily="34" charset="-120"/>
              </a:rPr>
              <a:t>Technology can support environmental action but cannot replace policy and behaviour.</a:t>
            </a:r>
            <a:endParaRPr lang="en-US" sz="10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150" dirty="0">
                <a:solidFill>
                  <a:srgbClr val="9AA1AB"/>
                </a:solidFill>
                <a:latin typeface="Calibri" pitchFamily="34" charset="0"/>
                <a:ea typeface="Calibri" pitchFamily="34" charset="-122"/>
                <a:cs typeface="Calibri" pitchFamily="34" charset="-120"/>
              </a:rPr>
              <a:t>Weather vocabulary is the only important issue.</a:t>
            </a:r>
            <a:endParaRPr lang="en-US" sz="11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The final judgement combines technology, policy and behaviour.</a:t>
            </a:r>
            <a:endParaRPr lang="en-US" sz="1050" dirty="0"/>
          </a:p>
        </p:txBody>
      </p:sp>
      <p:sp>
        <p:nvSpPr>
          <p:cNvPr id="90" name="Shape 8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92" name="Text 8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CORE</a:t>
            </a:r>
            <a:endParaRPr lang="en-US" sz="850" dirty="0"/>
          </a:p>
        </p:txBody>
      </p:sp>
      <p:sp>
        <p:nvSpPr>
          <p:cNvPr id="93" name="Text 90"/>
          <p:cNvSpPr txBox="1"/>
          <p:nvPr/>
        </p:nvSpPr>
        <p:spPr>
          <a:xfrm>
            <a:off x="8296656" y="4791456"/>
            <a:ext cx="3270504" cy="1380744"/>
          </a:xfrm>
          <a:prstGeom prst="rect">
            <a:avLst/>
          </a:prstGeom>
          <a:noFill/>
          <a:ln/>
        </p:spPr>
        <p:txBody>
          <a:bodyPr wrap="square" lIns="0" tIns="0" rIns="0" bIns="0" rtlCol="0" anchor="t"/>
          <a:lstStyle/>
          <a:p>
            <a:pPr algn="l" indent="0" marL="0">
              <a:lnSpc>
                <a:spcPct val="115000"/>
              </a:lnSpc>
              <a:buNone/>
            </a:pPr>
            <a:r>
              <a:rPr lang="en-US" sz="1250" dirty="0">
                <a:solidFill>
                  <a:srgbClr val="1E6B52"/>
                </a:solidFill>
                <a:latin typeface="Calibri" pitchFamily="34" charset="0"/>
                <a:ea typeface="Calibri" pitchFamily="34" charset="-122"/>
                <a:cs typeface="Calibri" pitchFamily="34" charset="-120"/>
              </a:rPr>
              <a:t>Question 6: find </a:t>
            </a:r>
            <a:pPr algn="l" indent="0" marL="0">
              <a:lnSpc>
                <a:spcPct val="115000"/>
              </a:lnSpc>
              <a:buNone/>
            </a:pPr>
            <a:r>
              <a:rPr lang="ar-SA" altLang="en-US" sz="1650" dirty="0">
                <a:solidFill>
                  <a:srgbClr val="1E6B52"/>
                </a:solidFill>
                <a:latin typeface="Amiri" pitchFamily="34" charset="0"/>
                <a:ea typeface="Amiri" pitchFamily="34" charset="-122"/>
                <a:cs typeface="Amiri" pitchFamily="34" charset="-120"/>
              </a:rPr>
              <a:t>الجَفَافِ</a:t>
            </a:r>
            <a:pPr algn="l" indent="0" marL="0">
              <a:lnSpc>
                <a:spcPct val="115000"/>
              </a:lnSpc>
              <a:buNone/>
            </a:pPr>
            <a:r>
              <a:rPr lang="en-US" sz="1250" dirty="0">
                <a:solidFill>
                  <a:srgbClr val="1E6B52"/>
                </a:solidFill>
                <a:latin typeface="Calibri" pitchFamily="34" charset="0"/>
                <a:ea typeface="Calibri" pitchFamily="34" charset="-122"/>
                <a:cs typeface="Calibri" pitchFamily="34" charset="-120"/>
              </a:rPr>
              <a:t> in the text.</a:t>
            </a:r>
            <a:endParaRPr lang="en-US" sz="1250" dirty="0"/>
          </a:p>
          <a:p>
            <a:pPr algn="l" indent="0" marL="0">
              <a:lnSpc>
                <a:spcPct val="115000"/>
              </a:lnSpc>
              <a:buNone/>
            </a:pPr>
            <a:r>
              <a:rPr lang="en-US" sz="1250" dirty="0">
                <a:solidFill>
                  <a:srgbClr val="1E6B52"/>
                </a:solidFill>
                <a:latin typeface="Calibri" pitchFamily="34" charset="0"/>
                <a:ea typeface="Calibri" pitchFamily="34" charset="-122"/>
                <a:cs typeface="Calibri" pitchFamily="34" charset="-120"/>
              </a:rPr>
              <a:t>Question 7: find the number (</a:t>
            </a:r>
            <a:pPr algn="l" indent="0" marL="0">
              <a:lnSpc>
                <a:spcPct val="115000"/>
              </a:lnSpc>
              <a:buNone/>
            </a:pPr>
            <a:r>
              <a:rPr lang="ar-SA" altLang="en-US" sz="1650" dirty="0">
                <a:solidFill>
                  <a:srgbClr val="1E6B52"/>
                </a:solidFill>
                <a:latin typeface="Amiri" pitchFamily="34" charset="0"/>
                <a:ea typeface="Amiri" pitchFamily="34" charset="-122"/>
                <a:cs typeface="Amiri" pitchFamily="34" charset="-120"/>
              </a:rPr>
              <a:t>١٨٪</a:t>
            </a:r>
            <a:pPr algn="l" indent="0" marL="0">
              <a:lnSpc>
                <a:spcPct val="115000"/>
              </a:lnSpc>
              <a:buNone/>
            </a:pPr>
            <a:r>
              <a:rPr lang="en-US" sz="1250" dirty="0">
                <a:solidFill>
                  <a:srgbClr val="1E6B52"/>
                </a:solidFill>
                <a:latin typeface="Calibri" pitchFamily="34" charset="0"/>
                <a:ea typeface="Calibri" pitchFamily="34" charset="-122"/>
                <a:cs typeface="Calibri" pitchFamily="34" charset="-120"/>
              </a:rPr>
              <a:t>).</a:t>
            </a:r>
            <a:endParaRPr lang="en-US" sz="12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24 / 33</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TC-L12 · Topic C Assessment</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ea typeface="Calibri" pitchFamily="34" charset="-122"/>
                <a:cs typeface="Calibri" pitchFamily="34" charset="-120"/>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4 · Lesson 3 of 3</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34" charset="0"/>
                <a:ea typeface="Amiri" pitchFamily="34" charset="-122"/>
                <a:cs typeface="Amiri" pitchFamily="34" charset="-120"/>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ea typeface="Cambria" pitchFamily="34" charset="-122"/>
                <a:cs typeface="Cambria" pitchFamily="34" charset="-120"/>
              </a:rPr>
              <a:t>5 sentences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ea typeface="Calibri" pitchFamily="34" charset="-122"/>
                <a:cs typeface="Calibri" pitchFamily="34" charset="-120"/>
              </a:rPr>
              <a:t>Write 5 sentences about your town or a trip, with help from the word bank.</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ea typeface="Calibri" pitchFamily="34" charset="-122"/>
                <a:cs typeface="Calibri" pitchFamily="34" charset="-120"/>
              </a:rPr>
              <a:t>HOW</a:t>
            </a:r>
            <a:endParaRPr lang="en-US" sz="900" dirty="0"/>
          </a:p>
          <a:p>
            <a:pPr indent="0" marL="0">
              <a:buNone/>
            </a:pPr>
            <a:r>
              <a:rPr lang="en-US" sz="1150" dirty="0">
                <a:solidFill>
                  <a:srgbClr val="1F2A37"/>
                </a:solidFill>
                <a:latin typeface="Calibri" pitchFamily="34" charset="0"/>
                <a:ea typeface="Calibri" pitchFamily="34" charset="-122"/>
                <a:cs typeface="Calibri" pitchFamily="34" charset="-120"/>
              </a:rPr>
              <a:t>Write about your town or a trip: where, weather, what there is, one problem, your opinion. Word bank on the next slide allowed.</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34" charset="0"/>
                <a:ea typeface="Amiri" pitchFamily="34" charset="-122"/>
                <a:cs typeface="Amiri" pitchFamily="34" charset="-120"/>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ea typeface="Cambria" pitchFamily="34" charset="-122"/>
                <a:cs typeface="Cambria" pitchFamily="34" charset="-120"/>
              </a:rPr>
              <a:t>80–100 words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ea typeface="Calibri" pitchFamily="34" charset="-122"/>
                <a:cs typeface="Calibri" pitchFamily="34" charset="-120"/>
              </a:rPr>
              <a:t>Write 80–100 words: your town, its environment and technology in three tenses.</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ea typeface="Calibri" pitchFamily="34" charset="-122"/>
                <a:cs typeface="Calibri" pitchFamily="34" charset="-120"/>
              </a:rPr>
              <a:t>HOW</a:t>
            </a:r>
            <a:endParaRPr lang="en-US" sz="900" dirty="0"/>
          </a:p>
          <a:p>
            <a:pPr indent="0" marL="0">
              <a:buNone/>
            </a:pPr>
            <a:r>
              <a:rPr lang="en-US" sz="1150" dirty="0">
                <a:solidFill>
                  <a:srgbClr val="1F2A37"/>
                </a:solidFill>
                <a:latin typeface="Calibri" pitchFamily="34" charset="0"/>
                <a:ea typeface="Calibri" pitchFamily="34" charset="-122"/>
                <a:cs typeface="Calibri" pitchFamily="34" charset="-120"/>
              </a:rPr>
              <a:t>Your town, its environment and technology: one sentence in the past, one now and one in the future, with linking words and an opinion.</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34" charset="0"/>
                <a:ea typeface="Amiri" pitchFamily="34" charset="-122"/>
                <a:cs typeface="Amiri" pitchFamily="34" charset="-120"/>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ea typeface="Cambria" pitchFamily="34" charset="-122"/>
                <a:cs typeface="Cambria" pitchFamily="34" charset="-120"/>
              </a:rPr>
              <a:t>130–140 words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ea typeface="Calibri" pitchFamily="34" charset="-122"/>
                <a:cs typeface="Calibri" pitchFamily="34" charset="-120"/>
              </a:rPr>
              <a:t>Website task: a 130–140-word environment and technology article.</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ea typeface="Calibri" pitchFamily="34" charset="-122"/>
                <a:cs typeface="Calibri" pitchFamily="34" charset="-120"/>
              </a:rPr>
              <a:t>HOW</a:t>
            </a:r>
            <a:endParaRPr lang="en-US" sz="900" dirty="0"/>
          </a:p>
          <a:p>
            <a:pPr indent="0" marL="0">
              <a:buNone/>
            </a:pPr>
            <a:r>
              <a:rPr lang="en-US" sz="1150" dirty="0">
                <a:solidFill>
                  <a:srgbClr val="1F2A37"/>
                </a:solidFill>
                <a:latin typeface="Calibri" pitchFamily="34" charset="0"/>
                <a:ea typeface="Calibri" pitchFamily="34" charset="-122"/>
                <a:cs typeface="Calibri" pitchFamily="34" charset="-120"/>
              </a:rPr>
              <a:t>The website article: issue, causes and effects, a solution, evidence and one limitation. Mark scheme on the next slide but one.</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25 / 33</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TC-L12 · Topic C Assessment</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ea typeface="Calibri" pitchFamily="34" charset="-122"/>
                <a:cs typeface="Calibri" pitchFamily="34" charset="-120"/>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4 · Lesson 3 of 3</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فِي المَاضِي كَانَ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In the past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يَجِبُ أَنْ ______ لِكَيْ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We must … so that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مِنْ نَاحِيَةٍ ______ ، وَمِنْ نَاحِيَةٍ أُخْرَى ______ .</a:t>
            </a:r>
            <a:endParaRPr lang="ar-SA" sz="16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On the one hand … on the other …</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______ أَرْخَصُ / أَكْبَرُ مِنْ ______ .</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 is cheaper / bigger than …</a:t>
            </a:r>
            <a:endParaRPr lang="en-US" sz="1050" dirty="0"/>
          </a:p>
        </p:txBody>
      </p:sp>
      <p:sp>
        <p:nvSpPr>
          <p:cNvPr id="26" name="Text 23"/>
          <p:cNvSpPr txBox="1"/>
          <p:nvPr/>
        </p:nvSpPr>
        <p:spPr>
          <a:xfrm>
            <a:off x="2468880"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______ مَبْنِيٌّ مِنَ ______ .</a:t>
            </a:r>
            <a:endParaRPr lang="ar-SA" sz="1800" dirty="0"/>
          </a:p>
        </p:txBody>
      </p:sp>
      <p:sp>
        <p:nvSpPr>
          <p:cNvPr id="27" name="Text 24"/>
          <p:cNvSpPr txBox="1"/>
          <p:nvPr/>
        </p:nvSpPr>
        <p:spPr>
          <a:xfrm>
            <a:off x="594360"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 is built of …</a:t>
            </a:r>
            <a:endParaRPr lang="en-US" sz="1050" dirty="0"/>
          </a:p>
        </p:txBody>
      </p:sp>
      <p:sp>
        <p:nvSpPr>
          <p:cNvPr id="28" name="Shape 25"/>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CORE</a:t>
            </a:r>
            <a:endParaRPr lang="en-US" sz="850" dirty="0"/>
          </a:p>
        </p:txBody>
      </p:sp>
      <p:sp>
        <p:nvSpPr>
          <p:cNvPr id="31" name="Text 28"/>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أَسْكُنُ فِي ______ فِي ______ .</a:t>
            </a:r>
            <a:endParaRPr lang="ar-SA" sz="1800" dirty="0"/>
          </a:p>
        </p:txBody>
      </p:sp>
      <p:sp>
        <p:nvSpPr>
          <p:cNvPr id="32" name="Text 29"/>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I live in … in the north / south of …</a:t>
            </a:r>
            <a:endParaRPr lang="en-US" sz="1050" dirty="0"/>
          </a:p>
        </p:txBody>
      </p:sp>
      <p:sp>
        <p:nvSpPr>
          <p:cNvPr id="33" name="Text 30"/>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الطَّقْسُ ______ / سَيَكُونُ ______ .</a:t>
            </a:r>
            <a:endParaRPr lang="ar-SA" sz="1800" dirty="0"/>
          </a:p>
        </p:txBody>
      </p:sp>
      <p:sp>
        <p:nvSpPr>
          <p:cNvPr id="34" name="Text 31"/>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The weather is … / will be …</a:t>
            </a:r>
            <a:endParaRPr lang="en-US" sz="1050" dirty="0"/>
          </a:p>
        </p:txBody>
      </p:sp>
      <p:sp>
        <p:nvSpPr>
          <p:cNvPr id="35" name="Text 32"/>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فِي مَدِينَتِي يُوجَدُ / تُوجَدُ ______ .</a:t>
            </a:r>
            <a:endParaRPr lang="ar-SA" sz="1800" dirty="0"/>
          </a:p>
        </p:txBody>
      </p:sp>
      <p:sp>
        <p:nvSpPr>
          <p:cNvPr id="36" name="Text 33"/>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In my town there is …</a:t>
            </a:r>
            <a:endParaRPr lang="en-US" sz="1050" dirty="0"/>
          </a:p>
        </p:txBody>
      </p:sp>
      <p:sp>
        <p:nvSpPr>
          <p:cNvPr id="37" name="Text 34"/>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المُشْكِلَةُ هِيَ ______ بِسَبَبِ ______ .</a:t>
            </a:r>
            <a:endParaRPr lang="ar-SA" sz="1800" dirty="0"/>
          </a:p>
        </p:txBody>
      </p:sp>
      <p:sp>
        <p:nvSpPr>
          <p:cNvPr id="38" name="Text 35"/>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The problem is … because of …</a:t>
            </a:r>
            <a:endParaRPr lang="en-US" sz="1050" dirty="0"/>
          </a:p>
        </p:txBody>
      </p:sp>
      <p:sp>
        <p:nvSpPr>
          <p:cNvPr id="39" name="Text 36"/>
          <p:cNvSpPr txBox="1"/>
          <p:nvPr/>
        </p:nvSpPr>
        <p:spPr>
          <a:xfrm>
            <a:off x="8202168"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فِي رَأْيِي ______ لِأَنَّ ______ .</a:t>
            </a:r>
            <a:endParaRPr lang="ar-SA" sz="1800" dirty="0"/>
          </a:p>
        </p:txBody>
      </p:sp>
      <p:sp>
        <p:nvSpPr>
          <p:cNvPr id="40" name="Text 37"/>
          <p:cNvSpPr txBox="1"/>
          <p:nvPr/>
        </p:nvSpPr>
        <p:spPr>
          <a:xfrm>
            <a:off x="6327648"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In my opinion, … because …</a:t>
            </a:r>
            <a:endParaRPr lang="en-US" sz="1050" dirty="0"/>
          </a:p>
        </p:txBody>
      </p:sp>
      <p:sp>
        <p:nvSpPr>
          <p:cNvPr id="41" name="Shape 38"/>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Text 39"/>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ea typeface="Calibri" pitchFamily="34" charset="-122"/>
                <a:cs typeface="Calibri" pitchFamily="34" charset="-120"/>
              </a:rPr>
              <a:t>WORD BANK</a:t>
            </a:r>
            <a:endParaRPr lang="en-US" sz="950" dirty="0"/>
          </a:p>
        </p:txBody>
      </p:sp>
      <p:sp>
        <p:nvSpPr>
          <p:cNvPr id="43" name="Text 40"/>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الطَّقْسُ  ·  حَارٌّ  ·  مُمْطِرٌ  ·  مَكْتَبَةٌ  ·  مُسْتَشْفًى  ·  التَّلَوُّثُ  ·  السَّيَّارَاتِ  ·  إِعَادَةُ التَّدْوِيرِ  ·  الحَافِلَةِ  ·  هَاتِفِي  ·  مُفِيدٌ  ·  الشَّمَالِ</a:t>
            </a:r>
            <a:endParaRPr lang="ar-SA" sz="16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26 / 33</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TC-L12 · Topic C Assessment</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YOU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ea typeface="Calibri" pitchFamily="34" charset="-122"/>
                <a:cs typeface="Calibri" pitchFamily="34" charset="-120"/>
              </a:rPr>
              <a:t>SECTION D · WRITING MARK SCHEME · 10 MARKS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How your writing is marked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مِعْيَارُ التَّصْحِيحِ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4 · Lesson 3 of 3</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793224" y="1810512"/>
            <a:ext cx="18653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Criterion</a:t>
            </a:r>
            <a:endParaRPr lang="en-US" sz="1100" dirty="0"/>
          </a:p>
        </p:txBody>
      </p:sp>
      <p:sp>
        <p:nvSpPr>
          <p:cNvPr id="17" name="Text 14"/>
          <p:cNvSpPr txBox="1"/>
          <p:nvPr/>
        </p:nvSpPr>
        <p:spPr>
          <a:xfrm>
            <a:off x="8695944" y="1810512"/>
            <a:ext cx="9509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Marks</a:t>
            </a:r>
            <a:endParaRPr lang="en-US" sz="1100" dirty="0"/>
          </a:p>
        </p:txBody>
      </p:sp>
      <p:sp>
        <p:nvSpPr>
          <p:cNvPr id="18" name="Text 15"/>
          <p:cNvSpPr txBox="1"/>
          <p:nvPr/>
        </p:nvSpPr>
        <p:spPr>
          <a:xfrm>
            <a:off x="5952744"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Core (5 sentences)</a:t>
            </a:r>
            <a:endParaRPr lang="en-US" sz="1100" dirty="0"/>
          </a:p>
        </p:txBody>
      </p:sp>
      <p:sp>
        <p:nvSpPr>
          <p:cNvPr id="19" name="Text 16"/>
          <p:cNvSpPr txBox="1"/>
          <p:nvPr/>
        </p:nvSpPr>
        <p:spPr>
          <a:xfrm>
            <a:off x="3209544"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Develop (80–100 words)</a:t>
            </a:r>
            <a:endParaRPr lang="en-US" sz="1100" dirty="0"/>
          </a:p>
        </p:txBody>
      </p:sp>
      <p:sp>
        <p:nvSpPr>
          <p:cNvPr id="20" name="Text 17"/>
          <p:cNvSpPr txBox="1"/>
          <p:nvPr/>
        </p:nvSpPr>
        <p:spPr>
          <a:xfrm>
            <a:off x="530352" y="1810512"/>
            <a:ext cx="25328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Stretch (website article)</a:t>
            </a:r>
            <a:endParaRPr lang="en-US" sz="1100" dirty="0"/>
          </a:p>
        </p:txBody>
      </p:sp>
      <p:sp>
        <p:nvSpPr>
          <p:cNvPr id="21" name="Shape 18"/>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2" name="Text 19"/>
          <p:cNvSpPr txBox="1"/>
          <p:nvPr/>
        </p:nvSpPr>
        <p:spPr>
          <a:xfrm>
            <a:off x="9829800" y="2267712"/>
            <a:ext cx="18288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Task</a:t>
            </a:r>
            <a:endParaRPr lang="en-US" sz="1100" dirty="0"/>
          </a:p>
        </p:txBody>
      </p:sp>
      <p:sp>
        <p:nvSpPr>
          <p:cNvPr id="23" name="Text 20"/>
          <p:cNvSpPr txBox="1"/>
          <p:nvPr/>
        </p:nvSpPr>
        <p:spPr>
          <a:xfrm>
            <a:off x="8732520" y="2267712"/>
            <a:ext cx="9144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/4</a:t>
            </a:r>
            <a:endParaRPr lang="en-US" sz="1100" dirty="0"/>
          </a:p>
        </p:txBody>
      </p:sp>
      <p:sp>
        <p:nvSpPr>
          <p:cNvPr id="24" name="Text 21"/>
          <p:cNvSpPr txBox="1"/>
          <p:nvPr/>
        </p:nvSpPr>
        <p:spPr>
          <a:xfrm>
            <a:off x="5989320" y="2267712"/>
            <a:ext cx="256032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5 sentences on the topic</a:t>
            </a:r>
            <a:endParaRPr lang="en-US" sz="1100" dirty="0"/>
          </a:p>
        </p:txBody>
      </p:sp>
      <p:sp>
        <p:nvSpPr>
          <p:cNvPr id="25" name="Text 22"/>
          <p:cNvSpPr txBox="1"/>
          <p:nvPr/>
        </p:nvSpPr>
        <p:spPr>
          <a:xfrm>
            <a:off x="3246120" y="2267712"/>
            <a:ext cx="256032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town + environment + technology</a:t>
            </a:r>
            <a:endParaRPr lang="en-US" sz="1100" dirty="0"/>
          </a:p>
        </p:txBody>
      </p:sp>
      <p:sp>
        <p:nvSpPr>
          <p:cNvPr id="26" name="Text 23"/>
          <p:cNvSpPr txBox="1"/>
          <p:nvPr/>
        </p:nvSpPr>
        <p:spPr>
          <a:xfrm>
            <a:off x="566928" y="2267712"/>
            <a:ext cx="249631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issue, causes, solution, evidence, limitation</a:t>
            </a:r>
            <a:endParaRPr lang="en-US" sz="1100" dirty="0"/>
          </a:p>
        </p:txBody>
      </p:sp>
      <p:sp>
        <p:nvSpPr>
          <p:cNvPr id="27" name="Shape 24"/>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29" name="Shape 26"/>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30" name="Text 27"/>
          <p:cNvSpPr txBox="1"/>
          <p:nvPr/>
        </p:nvSpPr>
        <p:spPr>
          <a:xfrm>
            <a:off x="9829800" y="3054096"/>
            <a:ext cx="18288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Range</a:t>
            </a:r>
            <a:endParaRPr lang="en-US" sz="1100" dirty="0"/>
          </a:p>
        </p:txBody>
      </p:sp>
      <p:sp>
        <p:nvSpPr>
          <p:cNvPr id="31" name="Text 28"/>
          <p:cNvSpPr txBox="1"/>
          <p:nvPr/>
        </p:nvSpPr>
        <p:spPr>
          <a:xfrm>
            <a:off x="8732520" y="3054096"/>
            <a:ext cx="9144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/3</a:t>
            </a:r>
            <a:endParaRPr lang="en-US" sz="1100" dirty="0"/>
          </a:p>
        </p:txBody>
      </p:sp>
      <p:sp>
        <p:nvSpPr>
          <p:cNvPr id="32" name="Text 29"/>
          <p:cNvSpPr txBox="1"/>
          <p:nvPr/>
        </p:nvSpPr>
        <p:spPr>
          <a:xfrm>
            <a:off x="5989320" y="3054096"/>
            <a:ext cx="256032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Topic C words; one linking word</a:t>
            </a:r>
            <a:endParaRPr lang="en-US" sz="1100" dirty="0"/>
          </a:p>
        </p:txBody>
      </p:sp>
      <p:sp>
        <p:nvSpPr>
          <p:cNvPr id="33" name="Text 30"/>
          <p:cNvSpPr txBox="1"/>
          <p:nvPr/>
        </p:nvSpPr>
        <p:spPr>
          <a:xfrm>
            <a:off x="3246120" y="3054096"/>
            <a:ext cx="256032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3 tenses; 3 linking words; an opinion</a:t>
            </a:r>
            <a:endParaRPr lang="en-US" sz="1100" dirty="0"/>
          </a:p>
        </p:txBody>
      </p:sp>
      <p:sp>
        <p:nvSpPr>
          <p:cNvPr id="34" name="Text 31"/>
          <p:cNvSpPr txBox="1"/>
          <p:nvPr/>
        </p:nvSpPr>
        <p:spPr>
          <a:xfrm>
            <a:off x="566928" y="3054096"/>
            <a:ext cx="249631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passive, cause–effect, purpose, concession</a:t>
            </a:r>
            <a:endParaRPr lang="en-US" sz="1100" dirty="0"/>
          </a:p>
        </p:txBody>
      </p:sp>
      <p:sp>
        <p:nvSpPr>
          <p:cNvPr id="35" name="Shape 32"/>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37" name="Shape 34"/>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8" name="Text 35"/>
          <p:cNvSpPr txBox="1"/>
          <p:nvPr/>
        </p:nvSpPr>
        <p:spPr>
          <a:xfrm>
            <a:off x="9829800" y="3840480"/>
            <a:ext cx="18288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Accuracy</a:t>
            </a:r>
            <a:endParaRPr lang="en-US" sz="1100" dirty="0"/>
          </a:p>
        </p:txBody>
      </p:sp>
      <p:sp>
        <p:nvSpPr>
          <p:cNvPr id="39" name="Text 36"/>
          <p:cNvSpPr txBox="1"/>
          <p:nvPr/>
        </p:nvSpPr>
        <p:spPr>
          <a:xfrm>
            <a:off x="8732520" y="3840480"/>
            <a:ext cx="9144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/3</a:t>
            </a:r>
            <a:endParaRPr lang="en-US" sz="1100" dirty="0"/>
          </a:p>
        </p:txBody>
      </p:sp>
      <p:sp>
        <p:nvSpPr>
          <p:cNvPr id="40" name="Text 37"/>
          <p:cNvSpPr txBox="1"/>
          <p:nvPr/>
        </p:nvSpPr>
        <p:spPr>
          <a:xfrm>
            <a:off x="5989320" y="3840480"/>
            <a:ext cx="256032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there is (m./f.); “the”; spelling</a:t>
            </a:r>
            <a:endParaRPr lang="en-US" sz="1100" dirty="0"/>
          </a:p>
        </p:txBody>
      </p:sp>
      <p:sp>
        <p:nvSpPr>
          <p:cNvPr id="41" name="Text 38"/>
          <p:cNvSpPr txBox="1"/>
          <p:nvPr/>
        </p:nvSpPr>
        <p:spPr>
          <a:xfrm>
            <a:off x="3246120" y="3840480"/>
            <a:ext cx="256032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agreement (m./f.), partner words</a:t>
            </a:r>
            <a:endParaRPr lang="en-US" sz="1100" dirty="0"/>
          </a:p>
        </p:txBody>
      </p:sp>
      <p:sp>
        <p:nvSpPr>
          <p:cNvPr id="42" name="Text 39"/>
          <p:cNvSpPr txBox="1"/>
          <p:nvPr/>
        </p:nvSpPr>
        <p:spPr>
          <a:xfrm>
            <a:off x="566928" y="3840480"/>
            <a:ext cx="249631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subjunctive after “an” and “likay”; case endings</a:t>
            </a:r>
            <a:endParaRPr lang="en-US" sz="1100" dirty="0"/>
          </a:p>
        </p:txBody>
      </p:sp>
      <p:sp>
        <p:nvSpPr>
          <p:cNvPr id="43" name="Shape 40"/>
          <p:cNvSpPr/>
          <p:nvPr/>
        </p:nvSpPr>
        <p:spPr>
          <a:xfrm>
            <a:off x="11091672" y="3886200"/>
            <a:ext cx="548640" cy="182880"/>
          </a:xfrm>
          <a:prstGeom prst="roundRect">
            <a:avLst>
              <a:gd name="adj" fmla="val 50000"/>
            </a:avLst>
          </a:prstGeom>
          <a:solidFill>
            <a:srgbClr val="2E8B57"/>
          </a:solidFill>
          <a:ln w="12700">
            <a:solidFill>
              <a:srgbClr val="2E8B57"/>
            </a:solidFill>
            <a:prstDash val="solid"/>
          </a:ln>
        </p:spPr>
      </p:sp>
      <p:sp>
        <p:nvSpPr>
          <p:cNvPr id="44" name="Text 41"/>
          <p:cNvSpPr txBox="1"/>
          <p:nvPr/>
        </p:nvSpPr>
        <p:spPr>
          <a:xfrm>
            <a:off x="11091672" y="388620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45" name="Text 4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27 / 33</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TC-L12 · Topic C Assessment</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ea typeface="Calibri" pitchFamily="34" charset="-122"/>
                <a:cs typeface="Calibri" pitchFamily="34" charset="-120"/>
              </a:rPr>
              <a:t>YOU DO · STRETCH · THE WEBSITE WRITING TASK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Stretch: the full writing task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مُهِمَّةُ التَّحَدِّي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4 · Lesson 3 of 3</a:t>
            </a:r>
            <a:endParaRPr lang="en-US" sz="850" dirty="0"/>
          </a:p>
        </p:txBody>
      </p:sp>
      <p:sp>
        <p:nvSpPr>
          <p:cNvPr id="15" name="Shape 12"/>
          <p:cNvSpPr/>
          <p:nvPr/>
        </p:nvSpPr>
        <p:spPr>
          <a:xfrm>
            <a:off x="457200" y="1810512"/>
            <a:ext cx="5577840" cy="4498848"/>
          </a:xfrm>
          <a:prstGeom prst="roundRect">
            <a:avLst>
              <a:gd name="adj" fmla="val 1626"/>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292608"/>
          </a:xfrm>
          <a:prstGeom prst="roundRect">
            <a:avLst>
              <a:gd name="adj" fmla="val 50000"/>
            </a:avLst>
          </a:prstGeom>
          <a:solidFill>
            <a:srgbClr val="B83227"/>
          </a:solidFill>
          <a:ln w="12700">
            <a:solidFill>
              <a:srgbClr val="B83227"/>
            </a:solidFill>
            <a:prstDash val="solid"/>
          </a:ln>
        </p:spPr>
      </p:sp>
      <p:sp>
        <p:nvSpPr>
          <p:cNvPr id="17" name="Text 14"/>
          <p:cNvSpPr txBox="1"/>
          <p:nvPr/>
        </p:nvSpPr>
        <p:spPr>
          <a:xfrm>
            <a:off x="640080" y="1938528"/>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STRETCH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ea typeface="Calibri" pitchFamily="34" charset="-122"/>
                <a:cs typeface="Calibri" pitchFamily="34" charset="-120"/>
              </a:rPr>
              <a:t>Write 130–140 Arabic words. Explain an environmental issue, causes and effects, a practical or technological solution, evidence and one limitation.</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  Task /5 — all points developed.</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  Range /5 — varied grammar and vocabulary.</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  Accuracy /5 — agreement, patterns and spelling.</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  Proofread before you finish.</a:t>
            </a:r>
            <a:endParaRPr lang="en-US" sz="1200" dirty="0"/>
          </a:p>
        </p:txBody>
      </p:sp>
      <p:sp>
        <p:nvSpPr>
          <p:cNvPr id="23" name="Shape 20"/>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ea typeface="Calibri" pitchFamily="34" charset="-122"/>
                <a:cs typeface="Calibri" pitchFamily="34" charset="-120"/>
              </a:rPr>
              <a:t>PHRASE BANK — FROM THE WEBSITE TEXTS</a:t>
            </a:r>
            <a:endParaRPr lang="en-US" sz="950" dirty="0"/>
          </a:p>
        </p:txBody>
      </p:sp>
      <p:sp>
        <p:nvSpPr>
          <p:cNvPr id="25" name="Text 22"/>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يُشَارُ إِلَى أَنَّ …</a:t>
            </a:r>
            <a:endParaRPr lang="ar-SA" sz="1800" dirty="0"/>
          </a:p>
        </p:txBody>
      </p:sp>
      <p:sp>
        <p:nvSpPr>
          <p:cNvPr id="26" name="Text 23"/>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ea typeface="Calibri" pitchFamily="34" charset="-122"/>
                <a:cs typeface="Calibri" pitchFamily="34" charset="-120"/>
              </a:rPr>
              <a:t>it is reported that …</a:t>
            </a:r>
            <a:endParaRPr lang="en-US" sz="1050" dirty="0"/>
          </a:p>
        </p:txBody>
      </p:sp>
      <p:sp>
        <p:nvSpPr>
          <p:cNvPr id="27" name="Text 24"/>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بِسَبَبِ … ، مِمَّا يُؤَدِّي إِلَى …</a:t>
            </a:r>
            <a:endParaRPr lang="ar-SA" sz="1800" dirty="0"/>
          </a:p>
        </p:txBody>
      </p:sp>
      <p:sp>
        <p:nvSpPr>
          <p:cNvPr id="28" name="Text 25"/>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ea typeface="Calibri" pitchFamily="34" charset="-122"/>
                <a:cs typeface="Calibri" pitchFamily="34" charset="-120"/>
              </a:rPr>
              <a:t>because of …, which leads to …</a:t>
            </a:r>
            <a:endParaRPr lang="en-US" sz="1050" dirty="0"/>
          </a:p>
        </p:txBody>
      </p:sp>
      <p:sp>
        <p:nvSpPr>
          <p:cNvPr id="29" name="Text 26"/>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يَجِبُ عَلَى … أَنْ … لِكَيْ …</a:t>
            </a:r>
            <a:endParaRPr lang="ar-SA" sz="1800" dirty="0"/>
          </a:p>
        </p:txBody>
      </p:sp>
      <p:sp>
        <p:nvSpPr>
          <p:cNvPr id="30" name="Text 27"/>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ea typeface="Calibri" pitchFamily="34" charset="-122"/>
                <a:cs typeface="Calibri" pitchFamily="34" charset="-120"/>
              </a:rPr>
              <a:t>… must … so that …</a:t>
            </a:r>
            <a:endParaRPr lang="en-US" sz="1050" dirty="0"/>
          </a:p>
        </p:txBody>
      </p:sp>
      <p:sp>
        <p:nvSpPr>
          <p:cNvPr id="31" name="Text 28"/>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وَفْقًا لِـ … ، انْخَفَضَ … بِنِسْبَةِ …</a:t>
            </a:r>
            <a:endParaRPr lang="ar-SA" sz="1800" dirty="0"/>
          </a:p>
        </p:txBody>
      </p:sp>
      <p:sp>
        <p:nvSpPr>
          <p:cNvPr id="32" name="Text 29"/>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ea typeface="Calibri" pitchFamily="34" charset="-122"/>
                <a:cs typeface="Calibri" pitchFamily="34" charset="-120"/>
              </a:rPr>
              <a:t>according to …, … fell by …</a:t>
            </a:r>
            <a:endParaRPr lang="en-US" sz="1050" dirty="0"/>
          </a:p>
        </p:txBody>
      </p:sp>
      <p:sp>
        <p:nvSpPr>
          <p:cNvPr id="33" name="Text 30"/>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مَعَ ذٰلِكَ، …</a:t>
            </a:r>
            <a:endParaRPr lang="ar-SA" sz="1800" dirty="0"/>
          </a:p>
        </p:txBody>
      </p:sp>
      <p:sp>
        <p:nvSpPr>
          <p:cNvPr id="34" name="Text 31"/>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ea typeface="Calibri" pitchFamily="34" charset="-122"/>
                <a:cs typeface="Calibri" pitchFamily="34" charset="-120"/>
              </a:rPr>
              <a:t>however, …</a:t>
            </a:r>
            <a:endParaRPr lang="en-US" sz="1050" dirty="0"/>
          </a:p>
        </p:txBody>
      </p:sp>
      <p:sp>
        <p:nvSpPr>
          <p:cNvPr id="35" name="Text 32"/>
          <p:cNvSpPr txBox="1"/>
          <p:nvPr/>
        </p:nvSpPr>
        <p:spPr>
          <a:xfrm>
            <a:off x="8412480" y="552297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عَلَى الرَّغْمِ مِنْ أَنَّ … فَإِنَّ … شَرِيطَةَ أَنْ …</a:t>
            </a:r>
            <a:endParaRPr lang="ar-SA" sz="1800" dirty="0"/>
          </a:p>
        </p:txBody>
      </p:sp>
      <p:sp>
        <p:nvSpPr>
          <p:cNvPr id="36" name="Text 33"/>
          <p:cNvSpPr txBox="1"/>
          <p:nvPr/>
        </p:nvSpPr>
        <p:spPr>
          <a:xfrm>
            <a:off x="6400800" y="585216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ea typeface="Calibri" pitchFamily="34" charset="-122"/>
                <a:cs typeface="Calibri" pitchFamily="34" charset="-120"/>
              </a:rPr>
              <a:t>although …, … provided that …</a:t>
            </a:r>
            <a:endParaRPr lang="en-US" sz="105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28 / 33</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TC-L12 · Topic C Assessment</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ea typeface="Calibri" pitchFamily="34" charset="-122"/>
                <a:cs typeface="Calibri" pitchFamily="34" charset="-120"/>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150" b="1" dirty="0">
                <a:solidFill>
                  <a:srgbClr val="1B3B6F"/>
                </a:solidFill>
                <a:latin typeface="Cambria" pitchFamily="34" charset="0"/>
                <a:ea typeface="Cambria" pitchFamily="34" charset="-122"/>
                <a:cs typeface="Cambria" pitchFamily="34" charset="-120"/>
              </a:rPr>
              <a:t>Section E · Speaking: a Topic C conversation</a:t>
            </a:r>
            <a:endParaRPr lang="en-US" sz="21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4 · Lesson 3 of 3</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ea typeface="Arial" pitchFamily="34" charset="-122"/>
                <a:cs typeface="Arial" pitchFamily="34" charset="-120"/>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ea typeface="Calibri" pitchFamily="34" charset="-122"/>
                <a:cs typeface="Calibri" pitchFamily="34" charset="-120"/>
              </a:rPr>
              <a:t>Think</a:t>
            </a:r>
            <a:endParaRPr lang="en-US" sz="1050" dirty="0"/>
          </a:p>
          <a:p>
            <a:pPr indent="0" marL="0">
              <a:buNone/>
            </a:pPr>
            <a:r>
              <a:rPr lang="en-US" sz="950" dirty="0">
                <a:solidFill>
                  <a:srgbClr val="5A6472"/>
                </a:solidFill>
                <a:latin typeface="Calibri" pitchFamily="34" charset="0"/>
                <a:ea typeface="Calibri" pitchFamily="34" charset="-122"/>
                <a:cs typeface="Calibri" pitchFamily="34" charset="-120"/>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ea typeface="Arial" pitchFamily="34" charset="-122"/>
                <a:cs typeface="Arial" pitchFamily="34" charset="-120"/>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ea typeface="Calibri" pitchFamily="34" charset="-122"/>
                <a:cs typeface="Calibri" pitchFamily="34" charset="-120"/>
              </a:rPr>
              <a:t>Rehearse</a:t>
            </a:r>
            <a:endParaRPr lang="en-US" sz="1050" dirty="0"/>
          </a:p>
          <a:p>
            <a:pPr indent="0" marL="0">
              <a:buNone/>
            </a:pPr>
            <a:r>
              <a:rPr lang="en-US" sz="950" dirty="0">
                <a:solidFill>
                  <a:srgbClr val="5A6472"/>
                </a:solidFill>
                <a:latin typeface="Calibri" pitchFamily="34" charset="0"/>
                <a:ea typeface="Calibri" pitchFamily="34" charset="-122"/>
                <a:cs typeface="Calibri" pitchFamily="34" charset="-120"/>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ea typeface="Arial" pitchFamily="34" charset="-122"/>
                <a:cs typeface="Arial" pitchFamily="34" charset="-120"/>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ea typeface="Calibri" pitchFamily="34" charset="-122"/>
                <a:cs typeface="Calibri" pitchFamily="34" charset="-120"/>
              </a:rPr>
              <a:t>Pairs share</a:t>
            </a:r>
            <a:endParaRPr lang="en-US" sz="1050" dirty="0"/>
          </a:p>
          <a:p>
            <a:pPr indent="0" marL="0">
              <a:buNone/>
            </a:pPr>
            <a:r>
              <a:rPr lang="en-US" sz="950" dirty="0">
                <a:solidFill>
                  <a:srgbClr val="5A6472"/>
                </a:solidFill>
                <a:latin typeface="Calibri" pitchFamily="34" charset="0"/>
                <a:ea typeface="Calibri" pitchFamily="34" charset="-122"/>
                <a:cs typeface="Calibri" pitchFamily="34" charset="-120"/>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ea typeface="Arial" pitchFamily="34" charset="-122"/>
                <a:cs typeface="Arial" pitchFamily="34" charset="-120"/>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ea typeface="Calibri" pitchFamily="34" charset="-122"/>
                <a:cs typeface="Calibri" pitchFamily="34" charset="-120"/>
              </a:rPr>
              <a:t>Build / ask</a:t>
            </a:r>
            <a:endParaRPr lang="en-US" sz="1050" dirty="0"/>
          </a:p>
          <a:p>
            <a:pPr indent="0" marL="0">
              <a:buNone/>
            </a:pPr>
            <a:r>
              <a:rPr lang="en-US" sz="950" dirty="0">
                <a:solidFill>
                  <a:srgbClr val="5A6472"/>
                </a:solidFill>
                <a:latin typeface="Calibri" pitchFamily="34" charset="0"/>
                <a:ea typeface="Calibri" pitchFamily="34" charset="-122"/>
                <a:cs typeface="Calibri" pitchFamily="34" charset="-120"/>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ea typeface="Arial" pitchFamily="34" charset="-122"/>
                <a:cs typeface="Arial" pitchFamily="34" charset="-120"/>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ea typeface="Calibri" pitchFamily="34" charset="-122"/>
                <a:cs typeface="Calibri" pitchFamily="34" charset="-120"/>
              </a:rPr>
              <a:t>Summarise</a:t>
            </a:r>
            <a:endParaRPr lang="en-US" sz="1050" dirty="0"/>
          </a:p>
          <a:p>
            <a:pPr indent="0" marL="0">
              <a:buNone/>
            </a:pPr>
            <a:r>
              <a:rPr lang="en-US" sz="950" dirty="0">
                <a:solidFill>
                  <a:srgbClr val="5A6472"/>
                </a:solidFill>
                <a:latin typeface="Calibri" pitchFamily="34" charset="0"/>
                <a:ea typeface="Calibri" pitchFamily="34" charset="-122"/>
                <a:cs typeface="Calibri" pitchFamily="34" charset="-120"/>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أَيْنَ تَسْكُنُ؟ وَمَاذَا يُوجَدُ فِي مَدِينَتِكَ؟</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كَيْفَ الطَّقْسُ اليَوْمَ؟ وَكَيْفَ سَيَكُونُ غَدًا؟</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C9780A"/>
          </a:solidFill>
          <a:ln w="12700">
            <a:solidFill>
              <a:srgbClr val="C9780A"/>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DEVELOP</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مَا أَهَمُّ مُشْكِلَةٍ بِيئِيَّةٍ فِي مَدِينَتِكَ؟ وَمَا الحَلُّ؟</a:t>
            </a:r>
            <a:endParaRPr lang="ar-SA" sz="1800" dirty="0"/>
          </a:p>
        </p:txBody>
      </p:sp>
      <p:sp>
        <p:nvSpPr>
          <p:cNvPr id="42" name="Shape 39"/>
          <p:cNvSpPr/>
          <p:nvPr/>
        </p:nvSpPr>
        <p:spPr>
          <a:xfrm>
            <a:off x="4754880" y="4352544"/>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4846320" y="4507992"/>
            <a:ext cx="960120" cy="256032"/>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4846320" y="4507992"/>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STRETCH</a:t>
            </a:r>
            <a:endParaRPr lang="en-US" sz="800" dirty="0"/>
          </a:p>
        </p:txBody>
      </p:sp>
      <p:sp>
        <p:nvSpPr>
          <p:cNvPr id="45" name="Text 42"/>
          <p:cNvSpPr txBox="1"/>
          <p:nvPr/>
        </p:nvSpPr>
        <p:spPr>
          <a:xfrm>
            <a:off x="5897880" y="4352544"/>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هَلِ التِّقْنِيَّةُ جُزْءٌ مِنَ الحَلِّ؟ لِمَاذَا؟</a:t>
            </a:r>
            <a:endParaRPr lang="ar-SA" sz="1800" dirty="0"/>
          </a:p>
        </p:txBody>
      </p:sp>
      <p:sp>
        <p:nvSpPr>
          <p:cNvPr id="46" name="Shape 43"/>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7" name="Text 44"/>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ea typeface="Calibri" pitchFamily="34" charset="-122"/>
                <a:cs typeface="Calibri" pitchFamily="34" charset="-120"/>
              </a:rPr>
              <a:t>SENTENCE STEMS</a:t>
            </a:r>
            <a:endParaRPr lang="en-US" sz="1000" dirty="0"/>
          </a:p>
        </p:txBody>
      </p:sp>
      <p:sp>
        <p:nvSpPr>
          <p:cNvPr id="48" name="Shape 45"/>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9" name="Text 46"/>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50" name="Text 47"/>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34" charset="0"/>
                <a:ea typeface="Amiri" pitchFamily="34" charset="-122"/>
                <a:cs typeface="Amiri" pitchFamily="34" charset="-120"/>
              </a:rPr>
              <a:t>أَسْكُنُ فِي ___ ، وَيُوجَدُ فِيهَا ___ .</a:t>
            </a:r>
            <a:endParaRPr lang="ar-SA" sz="1600" dirty="0"/>
          </a:p>
        </p:txBody>
      </p:sp>
      <p:sp>
        <p:nvSpPr>
          <p:cNvPr id="51" name="Shape 48"/>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52" name="Text 49"/>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DEVELOP</a:t>
            </a:r>
            <a:endParaRPr lang="en-US" sz="800" dirty="0"/>
          </a:p>
        </p:txBody>
      </p:sp>
      <p:sp>
        <p:nvSpPr>
          <p:cNvPr id="53" name="Text 50"/>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34" charset="0"/>
                <a:ea typeface="Amiri" pitchFamily="34" charset="-122"/>
                <a:cs typeface="Amiri" pitchFamily="34" charset="-120"/>
              </a:rPr>
              <a:t>المُشْكِلَةُ ___ ، لِذٰلِكَ يَجِبُ أَنْ ___ .</a:t>
            </a:r>
            <a:endParaRPr lang="ar-SA" sz="1600" dirty="0"/>
          </a:p>
        </p:txBody>
      </p:sp>
      <p:sp>
        <p:nvSpPr>
          <p:cNvPr id="54" name="Shape 51"/>
          <p:cNvSpPr/>
          <p:nvPr/>
        </p:nvSpPr>
        <p:spPr>
          <a:xfrm>
            <a:off x="640080" y="4123944"/>
            <a:ext cx="1051560" cy="256032"/>
          </a:xfrm>
          <a:prstGeom prst="roundRect">
            <a:avLst>
              <a:gd name="adj" fmla="val 50000"/>
            </a:avLst>
          </a:prstGeom>
          <a:solidFill>
            <a:srgbClr val="B83227"/>
          </a:solidFill>
          <a:ln w="12700">
            <a:solidFill>
              <a:srgbClr val="B83227"/>
            </a:solidFill>
            <a:prstDash val="solid"/>
          </a:ln>
        </p:spPr>
      </p:sp>
      <p:sp>
        <p:nvSpPr>
          <p:cNvPr id="55" name="Text 52"/>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STRETCH</a:t>
            </a:r>
            <a:endParaRPr lang="en-US" sz="800" dirty="0"/>
          </a:p>
        </p:txBody>
      </p:sp>
      <p:sp>
        <p:nvSpPr>
          <p:cNvPr id="56" name="Text 53"/>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34" charset="0"/>
                <a:ea typeface="Amiri" pitchFamily="34" charset="-122"/>
                <a:cs typeface="Amiri" pitchFamily="34" charset="-120"/>
              </a:rPr>
              <a:t>عَلَى الرَّغْمِ مِنْ أَنَّ ___ ، فَإِنَّ ___ .</a:t>
            </a:r>
            <a:endParaRPr lang="ar-SA" sz="1600" dirty="0"/>
          </a:p>
        </p:txBody>
      </p:sp>
      <p:sp>
        <p:nvSpPr>
          <p:cNvPr id="57" name="Shape 54"/>
          <p:cNvSpPr/>
          <p:nvPr/>
        </p:nvSpPr>
        <p:spPr>
          <a:xfrm>
            <a:off x="640080" y="4681728"/>
            <a:ext cx="1051560" cy="256032"/>
          </a:xfrm>
          <a:prstGeom prst="roundRect">
            <a:avLst>
              <a:gd name="adj" fmla="val 50000"/>
            </a:avLst>
          </a:prstGeom>
          <a:solidFill>
            <a:srgbClr val="1B3B6F"/>
          </a:solidFill>
          <a:ln w="12700">
            <a:solidFill>
              <a:srgbClr val="1B3B6F"/>
            </a:solidFill>
            <a:prstDash val="solid"/>
          </a:ln>
        </p:spPr>
      </p:sp>
      <p:sp>
        <p:nvSpPr>
          <p:cNvPr id="58" name="Text 55"/>
          <p:cNvSpPr txBox="1"/>
          <p:nvPr/>
        </p:nvSpPr>
        <p:spPr>
          <a:xfrm>
            <a:off x="640080" y="4681728"/>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 SUM UP</a:t>
            </a:r>
            <a:endParaRPr lang="en-US" sz="800" dirty="0"/>
          </a:p>
        </p:txBody>
      </p:sp>
      <p:sp>
        <p:nvSpPr>
          <p:cNvPr id="59" name="Text 56"/>
          <p:cNvSpPr txBox="1"/>
          <p:nvPr/>
        </p:nvSpPr>
        <p:spPr>
          <a:xfrm>
            <a:off x="1783080" y="4526280"/>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34" charset="0"/>
                <a:ea typeface="Amiri" pitchFamily="34" charset="-122"/>
                <a:cs typeface="Amiri" pitchFamily="34" charset="-120"/>
              </a:rPr>
              <a:t>يَسْكُنُ / تَسْكُنُ فِي ___ .</a:t>
            </a:r>
            <a:endParaRPr lang="ar-SA" sz="1600" dirty="0"/>
          </a:p>
        </p:txBody>
      </p:sp>
      <p:sp>
        <p:nvSpPr>
          <p:cNvPr id="60" name="Shape 57"/>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ea typeface="Calibri" pitchFamily="34" charset="-122"/>
                <a:cs typeface="Calibri" pitchFamily="34" charset="-120"/>
              </a:rPr>
              <a:t>MODEL (WEBSITE)</a:t>
            </a:r>
            <a:endParaRPr lang="en-US" sz="950" dirty="0"/>
          </a:p>
        </p:txBody>
      </p:sp>
      <p:sp>
        <p:nvSpPr>
          <p:cNvPr id="62" name="Shape 59"/>
          <p:cNvSpPr/>
          <p:nvPr/>
        </p:nvSpPr>
        <p:spPr>
          <a:xfrm>
            <a:off x="11274552" y="5559552"/>
            <a:ext cx="292608" cy="292608"/>
          </a:xfrm>
          <a:prstGeom prst="ellipse">
            <a:avLst/>
          </a:prstGeom>
          <a:solidFill>
            <a:srgbClr val="1E6B52"/>
          </a:solidFill>
          <a:ln w="12700">
            <a:solidFill>
              <a:srgbClr val="1E6B52"/>
            </a:solidFill>
            <a:prstDash val="solid"/>
          </a:ln>
        </p:spPr>
      </p:sp>
      <p:sp>
        <p:nvSpPr>
          <p:cNvPr id="63" name="Text 60"/>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a:t>
            </a:r>
            <a:endParaRPr lang="en-US" sz="1000" dirty="0"/>
          </a:p>
        </p:txBody>
      </p:sp>
      <p:sp>
        <p:nvSpPr>
          <p:cNvPr id="64" name="Text 61"/>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34" charset="0"/>
                <a:ea typeface="Amiri" pitchFamily="34" charset="-122"/>
                <a:cs typeface="Amiri" pitchFamily="34" charset="-120"/>
              </a:rPr>
              <a:t>صِفْ مَدِينَتَكَ.</a:t>
            </a:r>
            <a:endParaRPr lang="ar-SA" sz="1550" dirty="0"/>
          </a:p>
        </p:txBody>
      </p:sp>
      <p:sp>
        <p:nvSpPr>
          <p:cNvPr id="65" name="Text 62"/>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ea typeface="Calibri" pitchFamily="34" charset="-122"/>
                <a:cs typeface="Calibri" pitchFamily="34" charset="-120"/>
              </a:rPr>
              <a:t>Describe your town.</a:t>
            </a:r>
            <a:endParaRPr lang="en-US" sz="950" dirty="0"/>
          </a:p>
        </p:txBody>
      </p:sp>
      <p:sp>
        <p:nvSpPr>
          <p:cNvPr id="66" name="Shape 63"/>
          <p:cNvSpPr/>
          <p:nvPr/>
        </p:nvSpPr>
        <p:spPr>
          <a:xfrm>
            <a:off x="11274552" y="5925312"/>
            <a:ext cx="292608" cy="292608"/>
          </a:xfrm>
          <a:prstGeom prst="ellipse">
            <a:avLst/>
          </a:prstGeom>
          <a:solidFill>
            <a:srgbClr val="1E6B52"/>
          </a:solidFill>
          <a:ln w="12700">
            <a:solidFill>
              <a:srgbClr val="1E6B52"/>
            </a:solidFill>
            <a:prstDash val="solid"/>
          </a:ln>
        </p:spPr>
      </p:sp>
      <p:sp>
        <p:nvSpPr>
          <p:cNvPr id="67" name="Text 64"/>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a:t>
            </a:r>
            <a:endParaRPr lang="en-US" sz="1000" dirty="0"/>
          </a:p>
        </p:txBody>
      </p:sp>
      <p:sp>
        <p:nvSpPr>
          <p:cNvPr id="68" name="Text 65"/>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34" charset="0"/>
                <a:ea typeface="Amiri" pitchFamily="34" charset="-122"/>
                <a:cs typeface="Amiri" pitchFamily="34" charset="-120"/>
              </a:rPr>
              <a:t>أَسْكُنُ فِي مَدِينَةٍ كَبِيرَةٍ فِي شَمَالِ إِنْجِلْتِرَا. تُوجَدُ فِيهَا مَكْتَبَةٌ وَمُسْتَشْفًى، لٰكِنَّ المُشْكِلَةَ هِيَ الاِزْدِحَامُ.</a:t>
            </a:r>
            <a:endParaRPr lang="ar-SA" sz="1550" dirty="0"/>
          </a:p>
        </p:txBody>
      </p:sp>
      <p:sp>
        <p:nvSpPr>
          <p:cNvPr id="69" name="Text 66"/>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750" i="1" dirty="0">
                <a:solidFill>
                  <a:srgbClr val="5A6472"/>
                </a:solidFill>
                <a:latin typeface="Calibri" pitchFamily="34" charset="0"/>
                <a:ea typeface="Calibri" pitchFamily="34" charset="-122"/>
                <a:cs typeface="Calibri" pitchFamily="34" charset="-120"/>
              </a:rPr>
              <a:t>I live in a big city in the north of England. It has a library and a hospital, but the problem is congestion.</a:t>
            </a:r>
            <a:endParaRPr lang="en-US" sz="7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29 / 33</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TC-L12 · Topic C Assessment</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FEEDBACK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ea typeface="Calibri" pitchFamily="34" charset="-122"/>
                <a:cs typeface="Calibri" pitchFamily="34" charset="-120"/>
              </a:rPr>
              <a:t>FEEDBACK · SCORE PROFILE · EVIDENCE AND TARGET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My Topic C score profile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نَتَائِجِي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4 · Lesson 3 of 3</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427464"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Section</a:t>
            </a:r>
            <a:endParaRPr lang="en-US" sz="1100" dirty="0"/>
          </a:p>
        </p:txBody>
      </p:sp>
      <p:sp>
        <p:nvSpPr>
          <p:cNvPr id="17" name="Text 14"/>
          <p:cNvSpPr txBox="1"/>
          <p:nvPr/>
        </p:nvSpPr>
        <p:spPr>
          <a:xfrm>
            <a:off x="7690104" y="1810512"/>
            <a:ext cx="1591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Core part</a:t>
            </a:r>
            <a:endParaRPr lang="en-US" sz="1100" dirty="0"/>
          </a:p>
        </p:txBody>
      </p:sp>
      <p:sp>
        <p:nvSpPr>
          <p:cNvPr id="18" name="Text 15"/>
          <p:cNvSpPr txBox="1"/>
          <p:nvPr/>
        </p:nvSpPr>
        <p:spPr>
          <a:xfrm>
            <a:off x="5495544" y="1810512"/>
            <a:ext cx="20482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Develop / Stretch part</a:t>
            </a:r>
            <a:endParaRPr lang="en-US" sz="1100" dirty="0"/>
          </a:p>
        </p:txBody>
      </p:sp>
      <p:sp>
        <p:nvSpPr>
          <p:cNvPr id="19" name="Text 16"/>
          <p:cNvSpPr txBox="1"/>
          <p:nvPr/>
        </p:nvSpPr>
        <p:spPr>
          <a:xfrm>
            <a:off x="4123944" y="1810512"/>
            <a:ext cx="12252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Total</a:t>
            </a:r>
            <a:endParaRPr lang="en-US" sz="1100" dirty="0"/>
          </a:p>
        </p:txBody>
      </p:sp>
      <p:sp>
        <p:nvSpPr>
          <p:cNvPr id="20" name="Text 17"/>
          <p:cNvSpPr txBox="1"/>
          <p:nvPr/>
        </p:nvSpPr>
        <p:spPr>
          <a:xfrm>
            <a:off x="530352" y="1810512"/>
            <a:ext cx="3447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My next step</a:t>
            </a:r>
            <a:endParaRPr lang="en-US" sz="1100" dirty="0"/>
          </a:p>
        </p:txBody>
      </p:sp>
      <p:sp>
        <p:nvSpPr>
          <p:cNvPr id="21" name="Shape 18"/>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2" name="Text 19"/>
          <p:cNvSpPr txBox="1"/>
          <p:nvPr/>
        </p:nvSpPr>
        <p:spPr>
          <a:xfrm>
            <a:off x="9464040" y="2267712"/>
            <a:ext cx="21945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A · words and grammar</a:t>
            </a:r>
            <a:endParaRPr lang="en-US" sz="1100" dirty="0"/>
          </a:p>
        </p:txBody>
      </p:sp>
      <p:sp>
        <p:nvSpPr>
          <p:cNvPr id="23" name="Text 20"/>
          <p:cNvSpPr txBox="1"/>
          <p:nvPr/>
        </p:nvSpPr>
        <p:spPr>
          <a:xfrm>
            <a:off x="7726680" y="2267712"/>
            <a:ext cx="15544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/5</a:t>
            </a:r>
            <a:endParaRPr lang="en-US" sz="1100" dirty="0"/>
          </a:p>
        </p:txBody>
      </p:sp>
      <p:sp>
        <p:nvSpPr>
          <p:cNvPr id="24" name="Text 21"/>
          <p:cNvSpPr txBox="1"/>
          <p:nvPr/>
        </p:nvSpPr>
        <p:spPr>
          <a:xfrm>
            <a:off x="5532120" y="2267712"/>
            <a:ext cx="20116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/5</a:t>
            </a:r>
            <a:endParaRPr lang="en-US" sz="1100" dirty="0"/>
          </a:p>
        </p:txBody>
      </p:sp>
      <p:sp>
        <p:nvSpPr>
          <p:cNvPr id="25" name="Text 22"/>
          <p:cNvSpPr txBox="1"/>
          <p:nvPr/>
        </p:nvSpPr>
        <p:spPr>
          <a:xfrm>
            <a:off x="4160520" y="2267712"/>
            <a:ext cx="118872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/10</a:t>
            </a:r>
            <a:endParaRPr lang="en-US" sz="1100" dirty="0"/>
          </a:p>
        </p:txBody>
      </p:sp>
      <p:sp>
        <p:nvSpPr>
          <p:cNvPr id="26" name="Text 23"/>
          <p:cNvSpPr txBox="1"/>
          <p:nvPr/>
        </p:nvSpPr>
        <p:spPr>
          <a:xfrm>
            <a:off x="566928" y="2267712"/>
            <a:ext cx="341071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Revise the Topic C map rows I got wrong</a:t>
            </a:r>
            <a:endParaRPr lang="en-US" sz="1100" dirty="0"/>
          </a:p>
        </p:txBody>
      </p:sp>
      <p:sp>
        <p:nvSpPr>
          <p:cNvPr id="27" name="Shape 24"/>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29" name="Shape 26"/>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30" name="Text 27"/>
          <p:cNvSpPr txBox="1"/>
          <p:nvPr/>
        </p:nvSpPr>
        <p:spPr>
          <a:xfrm>
            <a:off x="9464040" y="3054096"/>
            <a:ext cx="21945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B · listening</a:t>
            </a:r>
            <a:endParaRPr lang="en-US" sz="1100" dirty="0"/>
          </a:p>
        </p:txBody>
      </p:sp>
      <p:sp>
        <p:nvSpPr>
          <p:cNvPr id="31" name="Text 28"/>
          <p:cNvSpPr txBox="1"/>
          <p:nvPr/>
        </p:nvSpPr>
        <p:spPr>
          <a:xfrm>
            <a:off x="7726680" y="3054096"/>
            <a:ext cx="15544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/5</a:t>
            </a:r>
            <a:endParaRPr lang="en-US" sz="1100" dirty="0"/>
          </a:p>
        </p:txBody>
      </p:sp>
      <p:sp>
        <p:nvSpPr>
          <p:cNvPr id="32" name="Text 29"/>
          <p:cNvSpPr txBox="1"/>
          <p:nvPr/>
        </p:nvSpPr>
        <p:spPr>
          <a:xfrm>
            <a:off x="5532120" y="3054096"/>
            <a:ext cx="20116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/5</a:t>
            </a:r>
            <a:endParaRPr lang="en-US" sz="1100" dirty="0"/>
          </a:p>
        </p:txBody>
      </p:sp>
      <p:sp>
        <p:nvSpPr>
          <p:cNvPr id="33" name="Text 30"/>
          <p:cNvSpPr txBox="1"/>
          <p:nvPr/>
        </p:nvSpPr>
        <p:spPr>
          <a:xfrm>
            <a:off x="4160520" y="3054096"/>
            <a:ext cx="118872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/10</a:t>
            </a:r>
            <a:endParaRPr lang="en-US" sz="1100" dirty="0"/>
          </a:p>
        </p:txBody>
      </p:sp>
      <p:sp>
        <p:nvSpPr>
          <p:cNvPr id="34" name="Text 31"/>
          <p:cNvSpPr txBox="1"/>
          <p:nvPr/>
        </p:nvSpPr>
        <p:spPr>
          <a:xfrm>
            <a:off x="566928" y="3054096"/>
            <a:ext cx="341071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Listen for key words and numbers</a:t>
            </a:r>
            <a:endParaRPr lang="en-US" sz="1100" dirty="0"/>
          </a:p>
        </p:txBody>
      </p:sp>
      <p:sp>
        <p:nvSpPr>
          <p:cNvPr id="35" name="Shape 32"/>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37" name="Shape 34"/>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8" name="Text 35"/>
          <p:cNvSpPr txBox="1"/>
          <p:nvPr/>
        </p:nvSpPr>
        <p:spPr>
          <a:xfrm>
            <a:off x="9464040" y="3840480"/>
            <a:ext cx="21945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C · reading</a:t>
            </a:r>
            <a:endParaRPr lang="en-US" sz="1100" dirty="0"/>
          </a:p>
        </p:txBody>
      </p:sp>
      <p:sp>
        <p:nvSpPr>
          <p:cNvPr id="39" name="Text 36"/>
          <p:cNvSpPr txBox="1"/>
          <p:nvPr/>
        </p:nvSpPr>
        <p:spPr>
          <a:xfrm>
            <a:off x="7726680" y="3840480"/>
            <a:ext cx="15544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/5</a:t>
            </a:r>
            <a:endParaRPr lang="en-US" sz="1100" dirty="0"/>
          </a:p>
        </p:txBody>
      </p:sp>
      <p:sp>
        <p:nvSpPr>
          <p:cNvPr id="40" name="Text 37"/>
          <p:cNvSpPr txBox="1"/>
          <p:nvPr/>
        </p:nvSpPr>
        <p:spPr>
          <a:xfrm>
            <a:off x="5532120" y="3840480"/>
            <a:ext cx="20116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/5</a:t>
            </a:r>
            <a:endParaRPr lang="en-US" sz="1100" dirty="0"/>
          </a:p>
        </p:txBody>
      </p:sp>
      <p:sp>
        <p:nvSpPr>
          <p:cNvPr id="41" name="Text 38"/>
          <p:cNvSpPr txBox="1"/>
          <p:nvPr/>
        </p:nvSpPr>
        <p:spPr>
          <a:xfrm>
            <a:off x="4160520" y="3840480"/>
            <a:ext cx="118872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/10</a:t>
            </a:r>
            <a:endParaRPr lang="en-US" sz="1100" dirty="0"/>
          </a:p>
        </p:txBody>
      </p:sp>
      <p:sp>
        <p:nvSpPr>
          <p:cNvPr id="42" name="Text 39"/>
          <p:cNvSpPr txBox="1"/>
          <p:nvPr/>
        </p:nvSpPr>
        <p:spPr>
          <a:xfrm>
            <a:off x="566928" y="3840480"/>
            <a:ext cx="341071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Read the question first, then find ONE key word</a:t>
            </a:r>
            <a:endParaRPr lang="en-US" sz="1100" dirty="0"/>
          </a:p>
        </p:txBody>
      </p:sp>
      <p:sp>
        <p:nvSpPr>
          <p:cNvPr id="43" name="Shape 40"/>
          <p:cNvSpPr/>
          <p:nvPr/>
        </p:nvSpPr>
        <p:spPr>
          <a:xfrm>
            <a:off x="11091672" y="3886200"/>
            <a:ext cx="548640" cy="182880"/>
          </a:xfrm>
          <a:prstGeom prst="roundRect">
            <a:avLst>
              <a:gd name="adj" fmla="val 50000"/>
            </a:avLst>
          </a:prstGeom>
          <a:solidFill>
            <a:srgbClr val="2E8B57"/>
          </a:solidFill>
          <a:ln w="12700">
            <a:solidFill>
              <a:srgbClr val="2E8B57"/>
            </a:solidFill>
            <a:prstDash val="solid"/>
          </a:ln>
        </p:spPr>
      </p:sp>
      <p:sp>
        <p:nvSpPr>
          <p:cNvPr id="44" name="Text 41"/>
          <p:cNvSpPr txBox="1"/>
          <p:nvPr/>
        </p:nvSpPr>
        <p:spPr>
          <a:xfrm>
            <a:off x="11091672" y="388620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45" name="Shape 42"/>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46" name="Text 43"/>
          <p:cNvSpPr txBox="1"/>
          <p:nvPr/>
        </p:nvSpPr>
        <p:spPr>
          <a:xfrm>
            <a:off x="9464040" y="4626864"/>
            <a:ext cx="21945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D · writing</a:t>
            </a:r>
            <a:endParaRPr lang="en-US" sz="1100" dirty="0"/>
          </a:p>
        </p:txBody>
      </p:sp>
      <p:sp>
        <p:nvSpPr>
          <p:cNvPr id="47" name="Text 44"/>
          <p:cNvSpPr txBox="1"/>
          <p:nvPr/>
        </p:nvSpPr>
        <p:spPr>
          <a:xfrm>
            <a:off x="7726680" y="4626864"/>
            <a:ext cx="15544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a:t>
            </a:r>
            <a:endParaRPr lang="en-US" sz="1100" dirty="0"/>
          </a:p>
        </p:txBody>
      </p:sp>
      <p:sp>
        <p:nvSpPr>
          <p:cNvPr id="48" name="Text 45"/>
          <p:cNvSpPr txBox="1"/>
          <p:nvPr/>
        </p:nvSpPr>
        <p:spPr>
          <a:xfrm>
            <a:off x="5532120" y="4626864"/>
            <a:ext cx="20116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a:t>
            </a:r>
            <a:endParaRPr lang="en-US" sz="1100" dirty="0"/>
          </a:p>
        </p:txBody>
      </p:sp>
      <p:sp>
        <p:nvSpPr>
          <p:cNvPr id="49" name="Text 46"/>
          <p:cNvSpPr txBox="1"/>
          <p:nvPr/>
        </p:nvSpPr>
        <p:spPr>
          <a:xfrm>
            <a:off x="4160520" y="4626864"/>
            <a:ext cx="118872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/10</a:t>
            </a:r>
            <a:endParaRPr lang="en-US" sz="1100" dirty="0"/>
          </a:p>
        </p:txBody>
      </p:sp>
      <p:sp>
        <p:nvSpPr>
          <p:cNvPr id="50" name="Text 47"/>
          <p:cNvSpPr txBox="1"/>
          <p:nvPr/>
        </p:nvSpPr>
        <p:spPr>
          <a:xfrm>
            <a:off x="566928" y="4626864"/>
            <a:ext cx="341071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Add one linking word and one reason</a:t>
            </a:r>
            <a:endParaRPr lang="en-US" sz="1100" dirty="0"/>
          </a:p>
        </p:txBody>
      </p:sp>
      <p:sp>
        <p:nvSpPr>
          <p:cNvPr id="51" name="Shape 48"/>
          <p:cNvSpPr/>
          <p:nvPr/>
        </p:nvSpPr>
        <p:spPr>
          <a:xfrm>
            <a:off x="11091672" y="4672584"/>
            <a:ext cx="548640" cy="182880"/>
          </a:xfrm>
          <a:prstGeom prst="roundRect">
            <a:avLst>
              <a:gd name="adj" fmla="val 50000"/>
            </a:avLst>
          </a:prstGeom>
          <a:solidFill>
            <a:srgbClr val="2E8B57"/>
          </a:solidFill>
          <a:ln w="12700">
            <a:solidFill>
              <a:srgbClr val="2E8B57"/>
            </a:solidFill>
            <a:prstDash val="solid"/>
          </a:ln>
        </p:spPr>
      </p:sp>
      <p:sp>
        <p:nvSpPr>
          <p:cNvPr id="52" name="Text 49"/>
          <p:cNvSpPr txBox="1"/>
          <p:nvPr/>
        </p:nvSpPr>
        <p:spPr>
          <a:xfrm>
            <a:off x="11091672" y="467258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53" name="Shape 50"/>
          <p:cNvSpPr/>
          <p:nvPr/>
        </p:nvSpPr>
        <p:spPr>
          <a:xfrm>
            <a:off x="457200" y="5413248"/>
            <a:ext cx="11274552" cy="731520"/>
          </a:xfrm>
          <a:prstGeom prst="roundRect">
            <a:avLst>
              <a:gd name="adj" fmla="val 6250"/>
            </a:avLst>
          </a:prstGeom>
          <a:solidFill>
            <a:srgbClr val="FFFFFF"/>
          </a:solidFill>
          <a:ln w="9525">
            <a:solidFill>
              <a:srgbClr val="D8D0BF"/>
            </a:solidFill>
            <a:prstDash val="solid"/>
          </a:ln>
        </p:spPr>
      </p:sp>
      <p:sp>
        <p:nvSpPr>
          <p:cNvPr id="54" name="Text 51"/>
          <p:cNvSpPr txBox="1"/>
          <p:nvPr/>
        </p:nvSpPr>
        <p:spPr>
          <a:xfrm>
            <a:off x="9464040" y="5413248"/>
            <a:ext cx="21945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E · speaking</a:t>
            </a:r>
            <a:endParaRPr lang="en-US" sz="1100" dirty="0"/>
          </a:p>
        </p:txBody>
      </p:sp>
      <p:sp>
        <p:nvSpPr>
          <p:cNvPr id="55" name="Text 52"/>
          <p:cNvSpPr txBox="1"/>
          <p:nvPr/>
        </p:nvSpPr>
        <p:spPr>
          <a:xfrm>
            <a:off x="7726680" y="5413248"/>
            <a:ext cx="15544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a:t>
            </a:r>
            <a:endParaRPr lang="en-US" sz="1100" dirty="0"/>
          </a:p>
        </p:txBody>
      </p:sp>
      <p:sp>
        <p:nvSpPr>
          <p:cNvPr id="56" name="Text 53"/>
          <p:cNvSpPr txBox="1"/>
          <p:nvPr/>
        </p:nvSpPr>
        <p:spPr>
          <a:xfrm>
            <a:off x="5532120" y="5413248"/>
            <a:ext cx="20116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a:t>
            </a:r>
            <a:endParaRPr lang="en-US" sz="1100" dirty="0"/>
          </a:p>
        </p:txBody>
      </p:sp>
      <p:sp>
        <p:nvSpPr>
          <p:cNvPr id="57" name="Text 54"/>
          <p:cNvSpPr txBox="1"/>
          <p:nvPr/>
        </p:nvSpPr>
        <p:spPr>
          <a:xfrm>
            <a:off x="4160520" y="5413248"/>
            <a:ext cx="118872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/10</a:t>
            </a:r>
            <a:endParaRPr lang="en-US" sz="1100" dirty="0"/>
          </a:p>
        </p:txBody>
      </p:sp>
      <p:sp>
        <p:nvSpPr>
          <p:cNvPr id="58" name="Text 55"/>
          <p:cNvSpPr txBox="1"/>
          <p:nvPr/>
        </p:nvSpPr>
        <p:spPr>
          <a:xfrm>
            <a:off x="566928" y="5413248"/>
            <a:ext cx="341071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Use a speaking phrase (</a:t>
            </a:r>
            <a:pPr algn="l" indent="0" marL="0">
              <a:buNone/>
            </a:pPr>
            <a:r>
              <a:rPr lang="ar-SA" altLang="en-US" sz="1450" dirty="0">
                <a:solidFill>
                  <a:srgbClr val="5A6472"/>
                </a:solidFill>
                <a:latin typeface="Amiri" pitchFamily="34" charset="0"/>
                <a:ea typeface="Amiri" pitchFamily="34" charset="-122"/>
                <a:cs typeface="Amiri" pitchFamily="34" charset="-120"/>
              </a:rPr>
              <a:t>مِنْ وَجْهَةِ نَظَرِي</a:t>
            </a:r>
            <a:pPr algn="l" indent="0" marL="0">
              <a:buNone/>
            </a:pPr>
            <a:r>
              <a:rPr lang="en-US" sz="1100" dirty="0">
                <a:solidFill>
                  <a:srgbClr val="5A6472"/>
                </a:solidFill>
                <a:latin typeface="Calibri" pitchFamily="34" charset="0"/>
                <a:ea typeface="Calibri" pitchFamily="34" charset="-122"/>
                <a:cs typeface="Calibri" pitchFamily="34" charset="-120"/>
              </a:rPr>
              <a:t>)</a:t>
            </a:r>
            <a:endParaRPr lang="en-US" sz="1100" dirty="0"/>
          </a:p>
        </p:txBody>
      </p:sp>
      <p:sp>
        <p:nvSpPr>
          <p:cNvPr id="59" name="Shape 56"/>
          <p:cNvSpPr/>
          <p:nvPr/>
        </p:nvSpPr>
        <p:spPr>
          <a:xfrm>
            <a:off x="11091672" y="5458968"/>
            <a:ext cx="548640" cy="182880"/>
          </a:xfrm>
          <a:prstGeom prst="roundRect">
            <a:avLst>
              <a:gd name="adj" fmla="val 50000"/>
            </a:avLst>
          </a:prstGeom>
          <a:solidFill>
            <a:srgbClr val="2E8B57"/>
          </a:solidFill>
          <a:ln w="12700">
            <a:solidFill>
              <a:srgbClr val="2E8B57"/>
            </a:solidFill>
            <a:prstDash val="solid"/>
          </a:ln>
        </p:spPr>
      </p:sp>
      <p:sp>
        <p:nvSpPr>
          <p:cNvPr id="60" name="Text 57"/>
          <p:cNvSpPr txBox="1"/>
          <p:nvPr/>
        </p:nvSpPr>
        <p:spPr>
          <a:xfrm>
            <a:off x="11091672" y="545896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61" name="Text 5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30 / 33</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TC-L12 · Topic C Assessment</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ea typeface="Calibri" pitchFamily="34" charset="-122"/>
                <a:cs typeface="Calibri" pitchFamily="34" charset="-120"/>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4 · Lesson 3 of 3</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I answered the Core questions in every section.</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I wrote 5 correct sentences about my town or a trip.</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I used three tenses and linking words in my writing.</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I answered some of the website questions.</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I wrote the 130–140-word article with a concession.</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ea typeface="Calibri" pitchFamily="34" charset="-122"/>
                <a:cs typeface="Calibri" pitchFamily="34" charset="-120"/>
              </a:rPr>
              <a:t>WWW</a:t>
            </a:r>
            <a:endParaRPr lang="en-US" sz="1800" dirty="0"/>
          </a:p>
          <a:p>
            <a:pPr indent="0" marL="0">
              <a:buNone/>
            </a:pPr>
            <a:r>
              <a:rPr lang="en-US" sz="1200" dirty="0">
                <a:solidFill>
                  <a:srgbClr val="1F2A37"/>
                </a:solidFill>
                <a:latin typeface="Calibri" pitchFamily="34" charset="0"/>
                <a:ea typeface="Calibri" pitchFamily="34" charset="-122"/>
                <a:cs typeface="Calibri" pitchFamily="34" charset="-120"/>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ea typeface="Calibri" pitchFamily="34" charset="-122"/>
                <a:cs typeface="Calibri" pitchFamily="34" charset="-120"/>
              </a:rPr>
              <a:t>EBI</a:t>
            </a:r>
            <a:endParaRPr lang="en-US" sz="1800" dirty="0"/>
          </a:p>
          <a:p>
            <a:pPr indent="0" marL="0">
              <a:buNone/>
            </a:pPr>
            <a:r>
              <a:rPr lang="en-US" sz="1200" dirty="0">
                <a:solidFill>
                  <a:srgbClr val="1F2A37"/>
                </a:solidFill>
                <a:latin typeface="Calibri" pitchFamily="34" charset="0"/>
                <a:ea typeface="Calibri" pitchFamily="34" charset="-122"/>
                <a:cs typeface="Calibri" pitchFamily="34" charset="-120"/>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31 / 33</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TC-L12 · Topic C Assessment</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ea typeface="Calibri" pitchFamily="34" charset="-122"/>
                <a:cs typeface="Calibri" pitchFamily="34" charset="-120"/>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ea typeface="Cambria" pitchFamily="34" charset="-122"/>
                <a:cs typeface="Cambria" pitchFamily="34" charset="-120"/>
              </a:rPr>
              <a:t>Before Topic D: get ready at home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4 · Lesson 3 of 3</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ea typeface="Calibri" pitchFamily="34" charset="-122"/>
                <a:cs typeface="Calibri" pitchFamily="34" charset="-120"/>
              </a:rPr>
              <a:t>LEARN THESE 5 WORDS</a:t>
            </a:r>
            <a:endParaRPr lang="en-US" sz="1100" dirty="0"/>
          </a:p>
          <a:p>
            <a:pPr indent="0" marL="0">
              <a:buNone/>
            </a:pPr>
            <a:r>
              <a:rPr lang="en-US" sz="1000" dirty="0">
                <a:solidFill>
                  <a:srgbClr val="5A6472"/>
                </a:solidFill>
                <a:latin typeface="Calibri" pitchFamily="34" charset="0"/>
                <a:ea typeface="Calibri" pitchFamily="34" charset="-122"/>
                <a:cs typeface="Calibri" pitchFamily="34" charset="-120"/>
              </a:rPr>
              <a:t>for Topic D · The World of Work</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مَدْرَسَةٌ ابْتِدَائِيَّةٌ</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ea typeface="Calibri" pitchFamily="34" charset="-122"/>
                <a:cs typeface="Calibri" pitchFamily="34" charset="-120"/>
              </a:rPr>
              <a:t>primary school</a:t>
            </a:r>
            <a:pPr indent="0" marL="0">
              <a:buNone/>
            </a:pP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مَدْرَسَةٌ ثَانَوِيَّةٌ</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ea typeface="Calibri" pitchFamily="34" charset="-122"/>
                <a:cs typeface="Calibri" pitchFamily="34" charset="-120"/>
              </a:rPr>
              <a:t>secondary school</a:t>
            </a:r>
            <a:pPr indent="0" marL="0">
              <a:buNone/>
            </a:pP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جَامِعَةٌ</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ea typeface="Calibri" pitchFamily="34" charset="-122"/>
                <a:cs typeface="Calibri" pitchFamily="34" charset="-120"/>
              </a:rPr>
              <a:t>university</a:t>
            </a:r>
            <a:pPr indent="0" marL="0">
              <a:buNone/>
            </a:pPr>
            <a:r>
              <a:rPr lang="en-US" sz="1000" i="1" dirty="0">
                <a:solidFill>
                  <a:srgbClr val="5A6472"/>
                </a:solidFill>
                <a:latin typeface="Calibri" pitchFamily="34" charset="0"/>
                <a:ea typeface="Calibri" pitchFamily="34" charset="-122"/>
                <a:cs typeface="Calibri" pitchFamily="34" charset="-120"/>
              </a:rPr>
              <a:t>  pl. جَامِعَاتٌ</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أُسْتَاذٌ</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ea typeface="Calibri" pitchFamily="34" charset="-122"/>
                <a:cs typeface="Calibri" pitchFamily="34" charset="-120"/>
              </a:rPr>
              <a:t>teacher</a:t>
            </a:r>
            <a:pPr indent="0" marL="0">
              <a:buNone/>
            </a:pPr>
            <a:r>
              <a:rPr lang="en-US" sz="1000" i="1" dirty="0">
                <a:solidFill>
                  <a:srgbClr val="5A6472"/>
                </a:solidFill>
                <a:latin typeface="Calibri" pitchFamily="34" charset="0"/>
                <a:ea typeface="Calibri" pitchFamily="34" charset="-122"/>
                <a:cs typeface="Calibri" pitchFamily="34" charset="-120"/>
              </a:rPr>
              <a:t>  pl. أَسَاتِذَةٌ</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تِلْمِيذٌ</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ea typeface="Calibri" pitchFamily="34" charset="-122"/>
                <a:cs typeface="Calibri" pitchFamily="34" charset="-120"/>
              </a:rPr>
              <a:t>pupil</a:t>
            </a:r>
            <a:pPr indent="0" marL="0">
              <a:buNone/>
            </a:pPr>
            <a:r>
              <a:rPr lang="en-US" sz="1000" i="1" dirty="0">
                <a:solidFill>
                  <a:srgbClr val="5A6472"/>
                </a:solidFill>
                <a:latin typeface="Calibri" pitchFamily="34" charset="0"/>
                <a:ea typeface="Calibri" pitchFamily="34" charset="-122"/>
                <a:cs typeface="Calibri" pitchFamily="34" charset="-120"/>
              </a:rPr>
              <a:t>  pl. تَلَامِيذُ</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ea typeface="Calibri" pitchFamily="34" charset="-122"/>
                <a:cs typeface="Calibri" pitchFamily="34" charset="-120"/>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ea typeface="Calibri" pitchFamily="34" charset="-122"/>
                <a:cs typeface="Calibri" pitchFamily="34" charset="-120"/>
              </a:rPr>
              <a:t>Write one Arabic sentence: what kind of school do you go to?</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34" charset="0"/>
                <a:ea typeface="Amiri" pitchFamily="34" charset="-122"/>
                <a:cs typeface="Amiri" pitchFamily="34" charset="-120"/>
              </a:rPr>
              <a:t>فِي أَيِّ مَدْرَسَةٍ تَدْرُسُ؟</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ea typeface="Calibri" pitchFamily="34" charset="-122"/>
                <a:cs typeface="Calibri" pitchFamily="34" charset="-120"/>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Correct your Section A–C mistakes in your book (write the right answer and why).</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Rewrite your Section D paragraph, adding one linking word and one reason.</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Website · TC-L12 · complete the website’s full grammar laboratory (12 questions) and listening text 1.</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32 / 33</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ea typeface="Calibri" pitchFamily="34" charset="-122"/>
                <a:cs typeface="Calibri" pitchFamily="34" charset="-120"/>
              </a:rPr>
              <a:t>TC-L12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34" charset="0"/>
                <a:ea typeface="Amiri" pitchFamily="34" charset="-122"/>
                <a:cs typeface="Amiri" pitchFamily="34" charset="-120"/>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ea typeface="Calibri" pitchFamily="34" charset="-122"/>
                <a:cs typeface="Calibri" pitchFamily="34" charset="-120"/>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ea typeface="Calibri" pitchFamily="34" charset="-122"/>
                <a:cs typeface="Calibri" pitchFamily="34" charset="-120"/>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800" b="1" dirty="0">
                <a:solidFill>
                  <a:srgbClr val="FFFFFF"/>
                </a:solidFill>
                <a:latin typeface="Cambria" pitchFamily="34" charset="0"/>
                <a:ea typeface="Cambria" pitchFamily="34" charset="-122"/>
                <a:cs typeface="Cambria" pitchFamily="34" charset="-120"/>
              </a:rPr>
              <a:t>Topic D · The World of Work</a:t>
            </a:r>
            <a:endParaRPr lang="en-US" sz="280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34" charset="0"/>
                <a:ea typeface="Amiri" pitchFamily="34" charset="-122"/>
                <a:cs typeface="Amiri" pitchFamily="34" charset="-120"/>
              </a:rPr>
              <a:t>عَالَمُ العَمَلِ</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ea typeface="Calibri" pitchFamily="34" charset="-122"/>
                <a:cs typeface="Calibri" pitchFamily="34" charset="-120"/>
              </a:rPr>
              <a:t>Topic C complete — well done! 5 words + 1 sentence before Topic D.</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33</Slides>
  <Notes>33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33</vt:i4>
      </vt:variant>
    </vt:vector>
  </HeadingPairs>
  <TitlesOfParts>
    <vt:vector size="3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TC-L12 · Topic C Review and Four-Skills Assessment</dc:title>
  <dc:subject>PptxGenJS Presentation</dc:subject>
  <dc:creator>Al Madina Online School · Arabic Department</dc:creator>
  <cp:lastModifiedBy>Al Madina Online School · Arabic Department</cp:lastModifiedBy>
  <cp:revision>1</cp:revision>
  <dcterms:created xsi:type="dcterms:W3CDTF">2026-09-27T08:40:28Z</dcterms:created>
  <dcterms:modified xsi:type="dcterms:W3CDTF">2026-09-27T08:40:28Z</dcterms:modified>
</cp:coreProperties>
</file>