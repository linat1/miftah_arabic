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3 (TC-L03). The website lesson reuses D4-L02 (Weather Patterns — Describing and Comparing Weather) with the Topic C focus “Understand forecasts and compare climate across regions and seasons” (grammar: weather expressions; comparatives; time frames). The four seasons come from the website Time &amp; Daily Routine vocabulary bank; the weather describing words come from the website lesson game “Weather Forecast”.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D4-L02 is A2–B1 language — a good match for this class. CORE: weather words, seasons and describing words (الطَّقْسُ حَارٌّ) + a verb that agrees with the weather (يَسْقُطُ المَطَرُ / تَسْقُطُ الثُّلُوجُ — the same blue WHO prefix as the morning-routine verbs). DEVELOP: comparisons أَكْثَرُ / أَقَلُّ + noun + مِنْ and temperatures. STRETCH: forecasts with مِنَ المُتَوَقَّعِ أَنْ + subjunctive.
• Transliteration and m./f. or sg./pl. forms on every Core card; a picture-match game with weather icons; a read-along forecast with English.
• Urdu bridge words (حرارت، رطوبت، برق، ہوا، خریف).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TC-L02 and TC-L01.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weather is the subject: the verb’s first letter agrees with it — يَـ for masculine, تَـ for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حرارت (fever/heat), رطوبت (humidity), برق (lightning / electricity), ہوا (air, wind), خریف (the autumn crop season — in Arabic الخَرِيفُ is autumn).
Groups 1, 4, 5, 6 are the website D4-L02 vocabulary; Group 2 comes from the website game “Weather Forecast”; Group 3 from the website Time &amp; Daily Routine bank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Weather phenomena (website D4-L02). Hear → Say → See → Use.
Gestures: fingers falling (rain), shiver (snow), blow (wind), circle overhead (sun), hands like a cloud, spin (storm).
The “tag” shows the gender that the VERB will need later: المَطَرُ (m.) → يَسْقُطُ; الثُّلُوجُ / الرِّيَاحُ / الشَّمْسُ (f.) → تَـ.
PRONUNCIATION: ث in الثُّلُوج is “th” as in “think”; ط in المَطَر is a heavy “ṭ”; ع in العَاصِفَة is the throat “ʿ”.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words (website lesson game “Weather Forecast”: الطَّقْسُ حَارٌّ وَمُشْمِسٌ · سَيَكُونُ الطَّقْسُ مُمْطِرًا وَعَاصِفًا · الطَّقْسُ بَارِدٌ جِدًّا; رَطْبٌ from the Natural World bank).
Core sentence pattern for today: الطَّقْسُ + describing word. الطَّقْسُ is masculine, so use the m. form.
Notice مُشْمِس comes from شَمْس and مُمْطِر from مَطَر — ask students to spot the root letters (Curiosity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seasons (website Time &amp; Daily Routine bank) and climate (website Natural World bank).
The boxes show two ways to say “in summer”: فِي الصَّيْفِ or صَيْفًا (the website model uses صَيْفًا and شِتَاءً). Core: learn فِي + season.
Website example: تَتَفَتَّحُ الأَزْهَارُ فِي الرَّبِيعِ = Flowers bloom in spring.
Difference: الطَّقْسُ (weather today) vs المُنَاخُ (climate — the usual weather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Forecast language (website D4-L02). The blue letter is the WHO prefix — exactly the idea from the morning-routine verbs: the first letter of the verb tells you who (here: which weather word) is doing the action.
Core: the first three rows. Develop: rows 1–6. Stretch: all eight.
Read each phrase as ONE chunk (website teaching point: “Read the whole Arabic message — use the complete phrase and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Comparison and measurement (website D4-L02). Develop / Stretch.
Notice the ـًا ending in حَرَارَةً / رُطُوبَةً — the comparison needs a NOUN, not an adjective (website common mistake: أَكْثَرُ حَارٌّ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 (website D4-L02 “Weather phenomena”). Teach if time allows; otherwise website vocabulary tab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“Natural phenomena are grammatical subjects”: verb + weather subject. The verb agrees with the named phenomenon: المطر masculine; الثلوج and الرياح treated as feminine.
Think aloud: “Arabic starts with the verb. I look at the weather word: الرِّيَاح is feminine, so the verb starts with تَـ — the same blue WHO letter as in أَسْتَيْقِظُ / تَسْتَيْقِظُ.”
Core rule for today: المَطَرُ → يَـ ; everything else today → تَـ.
Misconception (website mistakes): يَسْقُطُ الثُّلُوجُ ✗, يَرْتَفِعُ دَرَجَةُ الحَرَارَةِ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verb matches the weather word (2 min). Sentences from the website grammar quiz, rules and listening script.
Read each row aloud; students repeat the blue letter + verb.
Row 4 shows the future سَـ (time frames — Topic C grammar focus): سَتُشْرِقُ = will shine.
Check: thumbs-up if you can tell me the first letter for الثُّلُوجُ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“Comparing weather”: أَكْثَرُ / أَقَلُّ + verbal noun + مِنْ. Use a comparison noun such as حرارةً، برودةً، رطوبةً.
Examples: website pattern (Cairo/London), quiz (Amman/Dubai), final check (Jeddah/Riyadh) and reading text (interior/coast).
Core: row 1 as a fixed chunk. Develop: all four, then make one about their own city. Stretch: combine with بَيْنَمَا (website speaking model).
Website common mistake: القَاهِرَةُ أَكْثَرُ حَارٌّ مِنْ لَنْدَنَ ✗ → أَكْثَرُ حَرَارَةً.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time frames (Topic C grammar focus) with website rule 4 “Forecasting”: مِنَ المُتَوَقَّعِ أَنْ + subjunctive present (after أن, a sound-ending present verb takes the subjunctive ending).
Examples from the website listening script (سَتُشْرِقُ، سَيَسْقُطُ المَطَرُ صَبَاحًا) and grammar rules.
• CORE: present only. • DEVELOP: add سَـ for tomorrow. • STRETCH: مِنَ المُتَوَقَّعِ أَنْ + fatḥa.
Common errors are the website “common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description into their books.
Step 1 — “I start with الطَّقْسُ and the place: فِي القَاهِرَةِ.”
Step 2 — “Two describing words from the game, and the season: حَارٌّ وَمُشْمِسٌ صَيْفًا.”
Step 3 — “A temperature: دَرَجَة is feminine, so تَرْتَفِعُ — then إِلَى ثَلَاثِينَ دَرَجَةً.”
Step 4 — “Compare: أَكْثَرُ حَرَارَةً مِنْ لَنْدَنَ — a noun ending in ـًا, never أَكْثَرُ حَارٌّ.”
Built from website language: lesson game (حَارٌّ وَمُشْمِسٌ), website rule examples (تَرْتَفِعُ دَرَجَةُ الحَرَارَةِ إِلَى ثَلَاثِينَ دَرَجَةً · القَاهِرَةُ أَكْثَرُ حَرَارَةً مِنْ لَنْدَنَ), website model (صَيْفًا).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grammar quiz and rules. Students copy TWO that are useful for them.
• Core: copy 1 and 2 and change the weather/season. • Develop: copy 3 with two new cities. • Stretch: copy 4 and write another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مَرْحَبًا بِكُمْ فِي النَّشْرَةِ الجَوِّيَّةِ. فِي القَاهِرَةِ سَتُشْرِقُ الشَّمْسُ، وَسَتَرْتَفِعُ دَرَجَةُ الحَرَارَةِ إِلَى ثَلَاثٍ وَثَلَاثِينَ دَرَجَةً. أَمَّا فِي عَمَّانَ فَمِنَ المُتَوَقَّعِ أَنْ تَنْخَفِضَ دَرَجَةُ الحَرَارَةِ لَيْلًا إِلَى اثْنَتَيْ عَشْرَةَ دَرَجَةً. وَفِي الرِّبَاطِ سَيَسْقُطُ المَطَرُ صَبَاحًا، ثُمَّ تَهُبُّ رِيَاحٌ قَوِيَّةٌ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is the weather like today in your city?” — answered with the Core stem, e.g. الطَّقْسُ بَارِدٌ وَمُمْطِرٌ.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100–120 Arabic words comparing weather in two Arabic-speaking cities or regions.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تَرْتَفِعُ دَرَجَةُ الحَرَارَةِ صَيْفًا · أَرْبَعِينَ دَرَجَةً مِئَوِيَّةً · أَكْثَرُ بُرُودَةً · مِنَ المُتَوَقَّعِ أَنْ تَسْقُطَ الثُّلُوجُ.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(TC-L04 · Environmental Problems and Their Causes) will spend class time USING this language, so students prepare it tonight — short, simple, easy to access (school guidance: “Simple, Short, Interesting, Relevant, Easy to access”). The five words come from the website D4-L03 vocabulary (Environmental problems; Cause and effect) and the Natural World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cs typeface="Amiri" pitchFamily="2" charset="-78"/>
              </a:rPr>
              <a:t>Climate, Seasons and Weather</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المُنَاخُ وَالفُصُولُ وَالطَّقْسُ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Understand forecasts and compare climate across regions and seasons: weather words, verbs that agree with the weather (</a:t>
            </a:r>
            <a:pPr algn="l" indent="0" marL="0">
              <a:buNone/>
            </a:pPr>
            <a:r>
              <a:rPr lang="ar-SA" altLang="en-US" sz="1800" dirty="0">
                <a:solidFill>
                  <a:srgbClr val="C6D2E6"/>
                </a:solidFill>
                <a:latin typeface="Amiri" pitchFamily="2" charset="-78"/>
                <a:cs typeface="Amiri" pitchFamily="2" charset="-78"/>
              </a:rPr>
              <a:t>تَسْقُطُ الثُّلُوجُ</a:t>
            </a:r>
            <a:pPr algn="l" indent="0" marL="0">
              <a:buNone/>
            </a:pPr>
            <a:r>
              <a:rPr lang="en-US" sz="1400" dirty="0">
                <a:solidFill>
                  <a:srgbClr val="C6D2E6"/>
                </a:solidFill>
                <a:latin typeface="Calibri" pitchFamily="34" charset="0"/>
                <a:cs typeface="Amiri" pitchFamily="2" charset="-78"/>
              </a:rPr>
              <a:t>), comparisons (</a:t>
            </a:r>
            <a:pPr algn="l" indent="0" marL="0">
              <a:buNone/>
            </a:pPr>
            <a:r>
              <a:rPr lang="ar-SA" altLang="en-US" sz="1800" dirty="0">
                <a:solidFill>
                  <a:srgbClr val="C6D2E6"/>
                </a:solidFill>
                <a:latin typeface="Amiri" pitchFamily="2" charset="-78"/>
                <a:cs typeface="Amiri" pitchFamily="2" charset="-78"/>
              </a:rPr>
              <a:t>أَكْثَرُ حَرَارَةً مِنْ</a:t>
            </a:r>
            <a:pPr algn="l" indent="0" marL="0">
              <a:buNone/>
            </a:pPr>
            <a:r>
              <a:rPr lang="en-US" sz="1400" dirty="0">
                <a:solidFill>
                  <a:srgbClr val="C6D2E6"/>
                </a:solidFill>
                <a:latin typeface="Calibri" pitchFamily="34" charset="0"/>
                <a:cs typeface="Amiri" pitchFamily="2" charset="-78"/>
              </a:rPr>
              <a:t>) and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TC-L03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Weather words and seasons, then verbs and comparisons.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build, sort, fix and listen to a forecast.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“weather”?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مُنَاخٌ</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طَقْسٌ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فَصْلٌ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“cold”?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بَارِدٌ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مَطَرٌ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جَبَلٌ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غَابَةٌ اسْتِوَائِيٌّ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اسْتِوَائِيَّةٌ غَابَةٌ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غَابَةٌ اسْتِوَائِيَّةٌ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تَعِيشُ الأَسْمَاكُ فِي البَحْرِ.</a:t>
            </a:r>
            <a:endParaRPr lang="ar-SA" sz="14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swim in the river.</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Camels live in the desert.</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live in the sea.</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continent is Egypt in?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أَفْرِيقِيَا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آسِيَا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أُورُوبَّا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“weather”?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مُنَاخٌ</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طَقْسٌ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فَصْلٌ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طَقْسٌ</a:t>
            </a:r>
            <a:pPr algn="l" indent="0" marL="0">
              <a:buNone/>
            </a:pPr>
            <a:r>
              <a:rPr lang="en-US" sz="1050" i="1" dirty="0">
                <a:solidFill>
                  <a:srgbClr val="8A6D1E"/>
                </a:solidFill>
                <a:latin typeface="Calibri" pitchFamily="34" charset="0"/>
                <a:cs typeface="Amiri" pitchFamily="2" charset="-78"/>
              </a:rPr>
              <a:t> = weather · </a:t>
            </a:r>
            <a:pPr algn="l" indent="0" marL="0">
              <a:buNone/>
            </a:pPr>
            <a:r>
              <a:rPr lang="ar-SA" altLang="en-US" sz="1350" dirty="0">
                <a:solidFill>
                  <a:srgbClr val="8A6D1E"/>
                </a:solidFill>
                <a:latin typeface="Amiri" pitchFamily="2" charset="-78"/>
                <a:cs typeface="Amiri" pitchFamily="2" charset="-78"/>
              </a:rPr>
              <a:t>مُنَاخٌ</a:t>
            </a:r>
            <a:pPr algn="l" indent="0" marL="0">
              <a:buNone/>
            </a:pPr>
            <a:r>
              <a:rPr lang="en-US" sz="1050" i="1" dirty="0">
                <a:solidFill>
                  <a:srgbClr val="8A6D1E"/>
                </a:solidFill>
                <a:latin typeface="Calibri" pitchFamily="34" charset="0"/>
                <a:cs typeface="Amiri" pitchFamily="2" charset="-78"/>
              </a:rPr>
              <a:t> = climate · </a:t>
            </a:r>
            <a:pPr algn="l" indent="0" marL="0">
              <a:buNone/>
            </a:pPr>
            <a:r>
              <a:rPr lang="ar-SA" altLang="en-US" sz="1350" dirty="0">
                <a:solidFill>
                  <a:srgbClr val="8A6D1E"/>
                </a:solidFill>
                <a:latin typeface="Amiri" pitchFamily="2" charset="-78"/>
                <a:cs typeface="Amiri" pitchFamily="2" charset="-78"/>
              </a:rPr>
              <a:t>فَصْلٌ</a:t>
            </a:r>
            <a:pPr algn="l" indent="0" marL="0">
              <a:buNone/>
            </a:pPr>
            <a:r>
              <a:rPr lang="en-US" sz="1050" i="1" dirty="0">
                <a:solidFill>
                  <a:srgbClr val="8A6D1E"/>
                </a:solidFill>
                <a:latin typeface="Calibri" pitchFamily="34" charset="0"/>
                <a:cs typeface="Amiri" pitchFamily="2" charset="-78"/>
              </a:rPr>
              <a:t> = season.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“cold”?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بَارِدٌ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مَطَرٌ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جَبَلٌ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بَارِدٌ</a:t>
            </a:r>
            <a:pPr algn="l" indent="0" marL="0">
              <a:buNone/>
            </a:pPr>
            <a:r>
              <a:rPr lang="en-US" sz="1050" i="1" dirty="0">
                <a:solidFill>
                  <a:srgbClr val="8A6D1E"/>
                </a:solidFill>
                <a:latin typeface="Calibri" pitchFamily="34" charset="0"/>
                <a:cs typeface="Amiri" pitchFamily="2" charset="-78"/>
              </a:rPr>
              <a:t> = cold (f. </a:t>
            </a:r>
            <a:pPr algn="l" indent="0" marL="0">
              <a:buNone/>
            </a:pPr>
            <a:r>
              <a:rPr lang="ar-SA" altLang="en-US" sz="1350" dirty="0">
                <a:solidFill>
                  <a:srgbClr val="8A6D1E"/>
                </a:solidFill>
                <a:latin typeface="Amiri" pitchFamily="2" charset="-78"/>
                <a:cs typeface="Amiri" pitchFamily="2" charset="-78"/>
              </a:rPr>
              <a:t>بَارِدَةٌ</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مَطَرٌ</a:t>
            </a:r>
            <a:pPr algn="l" indent="0" marL="0">
              <a:buNone/>
            </a:pPr>
            <a:r>
              <a:rPr lang="en-US" sz="1050" i="1" dirty="0">
                <a:solidFill>
                  <a:srgbClr val="8A6D1E"/>
                </a:solidFill>
                <a:latin typeface="Calibri" pitchFamily="34" charset="0"/>
                <a:cs typeface="Amiri" pitchFamily="2" charset="-78"/>
              </a:rPr>
              <a:t> = rain · </a:t>
            </a:r>
            <a:pPr algn="l" indent="0" marL="0">
              <a:buNone/>
            </a:pPr>
            <a:r>
              <a:rPr lang="ar-SA" altLang="en-US" sz="1350" dirty="0">
                <a:solidFill>
                  <a:srgbClr val="8A6D1E"/>
                </a:solidFill>
                <a:latin typeface="Amiri" pitchFamily="2" charset="-78"/>
                <a:cs typeface="Amiri" pitchFamily="2" charset="-78"/>
              </a:rPr>
              <a:t>جَبَلٌ</a:t>
            </a:r>
            <a:pPr algn="l" indent="0" marL="0">
              <a:buNone/>
            </a:pPr>
            <a:r>
              <a:rPr lang="en-US" sz="1050" i="1" dirty="0">
                <a:solidFill>
                  <a:srgbClr val="8A6D1E"/>
                </a:solidFill>
                <a:latin typeface="Calibri" pitchFamily="34" charset="0"/>
                <a:cs typeface="Amiri" pitchFamily="2" charset="-78"/>
              </a:rPr>
              <a:t> = mountain.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غَابَةٌ اسْتِوَائِيٌّ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اسْتِوَائِيَّةٌ غَابَةٌ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غَابَةٌ اسْتِوَائِيَّةٌ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TC-L02: the describing word comes after the noun and agrees (f. → </a:t>
            </a:r>
            <a:pPr algn="l" indent="0" marL="0">
              <a:buNone/>
            </a:pPr>
            <a:r>
              <a:rPr lang="ar-SA" altLang="en-US" sz="1350" dirty="0">
                <a:solidFill>
                  <a:srgbClr val="8A6D1E"/>
                </a:solidFill>
                <a:latin typeface="Amiri" pitchFamily="2" charset="-78"/>
                <a:cs typeface="Amiri" pitchFamily="2" charset="-78"/>
              </a:rPr>
              <a:t>ـِيَّةٌ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تَعِيشُ الأَسْمَاكُ فِي البَحْرِ.</a:t>
            </a:r>
            <a:endParaRPr lang="ar-SA" sz="14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swim in the river.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Camels live in the desert.</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Fish live in the sea.</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TC-L02 website game: </a:t>
            </a:r>
            <a:pPr algn="l" indent="0" marL="0">
              <a:buNone/>
            </a:pPr>
            <a:r>
              <a:rPr lang="ar-SA" altLang="en-US" sz="1350" dirty="0">
                <a:solidFill>
                  <a:srgbClr val="8A6D1E"/>
                </a:solidFill>
                <a:latin typeface="Amiri" pitchFamily="2" charset="-78"/>
                <a:cs typeface="Amiri" pitchFamily="2" charset="-78"/>
              </a:rPr>
              <a:t>تَعِيشُ</a:t>
            </a:r>
            <a:pPr algn="l" indent="0" marL="0">
              <a:buNone/>
            </a:pPr>
            <a:r>
              <a:rPr lang="en-US" sz="1050" i="1" dirty="0">
                <a:solidFill>
                  <a:srgbClr val="8A6D1E"/>
                </a:solidFill>
                <a:latin typeface="Calibri" pitchFamily="34" charset="0"/>
                <a:cs typeface="Amiri" pitchFamily="2" charset="-78"/>
              </a:rPr>
              <a:t> = (they) live.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continent is Egypt in?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أَفْرِيقِيَا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آسِيَا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أُورُوبَّا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TC-L01: </a:t>
            </a:r>
            <a:pPr algn="l" indent="0" marL="0">
              <a:buNone/>
            </a:pPr>
            <a:r>
              <a:rPr lang="ar-SA" altLang="en-US" sz="1350" dirty="0">
                <a:solidFill>
                  <a:srgbClr val="8A6D1E"/>
                </a:solidFill>
                <a:latin typeface="Amiri" pitchFamily="2" charset="-78"/>
                <a:cs typeface="Amiri" pitchFamily="2" charset="-78"/>
              </a:rPr>
              <a:t>مِصْرُ فِي أَفْرِيقِيَا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weather is the subject: the verb’s first letter agrees with it — </a:t>
            </a:r>
            <a:pPr algn="l" indent="0" marL="0">
              <a:buNone/>
            </a:pPr>
            <a:r>
              <a:rPr lang="ar-SA" altLang="en-US" sz="1700" b="1" dirty="0">
                <a:solidFill>
                  <a:srgbClr val="1F2A37"/>
                </a:solidFill>
                <a:latin typeface="Amiri" pitchFamily="2" charset="-78"/>
                <a:cs typeface="Amiri" pitchFamily="2" charset="-78"/>
              </a:rPr>
              <a:t>يَـ</a:t>
            </a:r>
            <a:pPr algn="l" indent="0" marL="0">
              <a:buNone/>
            </a:pPr>
            <a:r>
              <a:rPr lang="en-US" sz="1300" b="1" dirty="0">
                <a:solidFill>
                  <a:srgbClr val="1F2A37"/>
                </a:solidFill>
                <a:latin typeface="Calibri" pitchFamily="34" charset="0"/>
                <a:cs typeface="Amiri" pitchFamily="2" charset="-78"/>
              </a:rPr>
              <a:t> for masculine, </a:t>
            </a:r>
            <a:pPr algn="l" indent="0" marL="0">
              <a:buNone/>
            </a:pPr>
            <a:r>
              <a:rPr lang="ar-SA" altLang="en-US" sz="1700" b="1" dirty="0">
                <a:solidFill>
                  <a:srgbClr val="1F2A37"/>
                </a:solidFill>
                <a:latin typeface="Amiri" pitchFamily="2" charset="-78"/>
                <a:cs typeface="Amiri" pitchFamily="2" charset="-78"/>
              </a:rPr>
              <a:t>تَـ</a:t>
            </a:r>
            <a:pPr algn="l" indent="0" marL="0">
              <a:buNone/>
            </a:pPr>
            <a:r>
              <a:rPr lang="en-US" sz="1300" b="1" dirty="0">
                <a:solidFill>
                  <a:srgbClr val="1F2A37"/>
                </a:solidFill>
                <a:latin typeface="Calibri" pitchFamily="34" charset="0"/>
                <a:cs typeface="Amiri" pitchFamily="2" charset="-78"/>
              </a:rPr>
              <a:t> for feminine.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a:t>
            </a:r>
            <a:pPr rtl="1" algn="ctr" indent="0" marL="0">
              <a:buNone/>
            </a:pPr>
            <a:r>
              <a:rPr lang="ar-SA" altLang="en-US" sz="2400" b="1" dirty="0">
                <a:solidFill>
                  <a:srgbClr val="7B3FA0"/>
                </a:solidFill>
                <a:latin typeface="Amiri" pitchFamily="2" charset="-78"/>
                <a:cs typeface="Amiri" pitchFamily="2" charset="-78"/>
              </a:rPr>
              <a:t>سْقُطُ</a:t>
            </a:r>
            <a:pPr rtl="1" algn="ctr" indent="0" marL="0">
              <a:buNone/>
            </a:pPr>
            <a:r>
              <a:rPr lang="ar-SA" altLang="en-US" sz="2400" b="1" dirty="0">
                <a:solidFill>
                  <a:srgbClr val="1B3B6F"/>
                </a:solidFill>
                <a:latin typeface="Amiri" pitchFamily="2" charset="-78"/>
                <a:cs typeface="Amiri" pitchFamily="2" charset="-78"/>
              </a:rPr>
              <a:t> المَطَرُ  ·  </a:t>
            </a:r>
            <a:pPr rtl="1" algn="ctr" indent="0" marL="0">
              <a:buNone/>
            </a:pPr>
            <a:r>
              <a:rPr lang="ar-SA" altLang="en-US" sz="2400" b="1" dirty="0">
                <a:solidFill>
                  <a:srgbClr val="1D5FBF"/>
                </a:solidFill>
                <a:latin typeface="Amiri" pitchFamily="2" charset="-78"/>
                <a:cs typeface="Amiri" pitchFamily="2" charset="-78"/>
              </a:rPr>
              <a:t>تَ</a:t>
            </a:r>
            <a:pPr rtl="1" algn="ctr" indent="0" marL="0">
              <a:buNone/>
            </a:pPr>
            <a:r>
              <a:rPr lang="ar-SA" altLang="en-US" sz="2400" b="1" dirty="0">
                <a:solidFill>
                  <a:srgbClr val="7B3FA0"/>
                </a:solidFill>
                <a:latin typeface="Amiri" pitchFamily="2" charset="-78"/>
                <a:cs typeface="Amiri" pitchFamily="2" charset="-78"/>
              </a:rPr>
              <a:t>سْقُطُ</a:t>
            </a:r>
            <a:pPr rtl="1" algn="ctr" indent="0" marL="0">
              <a:buNone/>
            </a:pPr>
            <a:r>
              <a:rPr lang="ar-SA" altLang="en-US" sz="2400" b="1" dirty="0">
                <a:solidFill>
                  <a:srgbClr val="1B3B6F"/>
                </a:solidFill>
                <a:latin typeface="Amiri" pitchFamily="2" charset="-78"/>
                <a:cs typeface="Amiri" pitchFamily="2" charset="-78"/>
              </a:rPr>
              <a:t> الثُّلُوجُ</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the weather and the season: </a:t>
            </a:r>
            <a:pPr algn="l" indent="0" marL="0">
              <a:buNone/>
            </a:pPr>
            <a:r>
              <a:rPr lang="ar-SA" altLang="en-US" sz="1700" b="1" dirty="0">
                <a:solidFill>
                  <a:srgbClr val="2E8B57"/>
                </a:solidFill>
                <a:latin typeface="Amiri" pitchFamily="2" charset="-78"/>
                <a:cs typeface="Amiri" pitchFamily="2" charset="-78"/>
              </a:rPr>
              <a:t>الطَّقْسُ حَارٌّ فِي الصَّيْفِ</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the right verb: </a:t>
            </a:r>
            <a:pPr algn="l" indent="0" marL="0">
              <a:buNone/>
            </a:pPr>
            <a:r>
              <a:rPr lang="ar-SA" altLang="en-US" sz="1700" b="1" dirty="0">
                <a:solidFill>
                  <a:srgbClr val="2E8B57"/>
                </a:solidFill>
                <a:latin typeface="Amiri" pitchFamily="2" charset="-78"/>
                <a:cs typeface="Amiri" pitchFamily="2" charset="-78"/>
              </a:rPr>
              <a:t>يَسْقُطُ المَطَرُ / تَسْقُطُ الثُّلُوجُ</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places: </a:t>
            </a:r>
            <a:pPr algn="l" indent="0" marL="0">
              <a:buNone/>
            </a:pPr>
            <a:r>
              <a:rPr lang="ar-SA" altLang="en-US" sz="1700" b="1" dirty="0">
                <a:solidFill>
                  <a:srgbClr val="C9780A"/>
                </a:solidFill>
                <a:latin typeface="Amiri" pitchFamily="2" charset="-78"/>
                <a:cs typeface="Amiri" pitchFamily="2" charset="-78"/>
              </a:rPr>
              <a:t>القَاهِرَةُ أَكْثَرُ حَرَارَةً مِنْ لَنْدَنَ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temperature: </a:t>
            </a:r>
            <a:pPr algn="l" indent="0" marL="0">
              <a:buNone/>
            </a:pPr>
            <a:r>
              <a:rPr lang="ar-SA" altLang="en-US" sz="1700" b="1" dirty="0">
                <a:solidFill>
                  <a:srgbClr val="C9780A"/>
                </a:solidFill>
                <a:latin typeface="Amiri" pitchFamily="2" charset="-78"/>
                <a:cs typeface="Amiri" pitchFamily="2" charset="-78"/>
              </a:rPr>
              <a:t>تَرْتَفِعُ دَرَجَةُ الحَرَارَةِ إِلَى</a:t>
            </a:r>
            <a:pPr algn="l" indent="0" marL="0">
              <a:buNone/>
            </a:pPr>
            <a:r>
              <a:rPr lang="en-US" sz="1300" b="1" dirty="0">
                <a:solidFill>
                  <a:srgbClr val="C9780A"/>
                </a:solidFill>
                <a:latin typeface="Calibri" pitchFamily="34" charset="0"/>
                <a:cs typeface="Amiri" pitchFamily="2" charset="-78"/>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forecast: </a:t>
            </a:r>
            <a:pPr algn="l" indent="0" marL="0">
              <a:buNone/>
            </a:pPr>
            <a:r>
              <a:rPr lang="ar-SA" altLang="en-US" sz="1700" b="1" dirty="0">
                <a:solidFill>
                  <a:srgbClr val="B83227"/>
                </a:solidFill>
                <a:latin typeface="Amiri" pitchFamily="2" charset="-78"/>
                <a:cs typeface="Amiri" pitchFamily="2" charset="-78"/>
              </a:rPr>
              <a:t>مِنَ المُتَوَقَّعِ أَنْ تَنْخَفِضَ دَرَجَةُ الحَرَارَةِ</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100–120 words comparing two cities.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6 groups. Learn the CORE words first. Hear it → say it → see it → use it.</a:t>
            </a:r>
            <a:endParaRPr lang="en-US" sz="1600" dirty="0"/>
          </a:p>
        </p:txBody>
      </p:sp>
      <p:sp>
        <p:nvSpPr>
          <p:cNvPr id="8" name="Shape 6"/>
          <p:cNvSpPr/>
          <p:nvPr/>
        </p:nvSpPr>
        <p:spPr>
          <a:xfrm>
            <a:off x="457200" y="4572000"/>
            <a:ext cx="1196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Weather · 6</a:t>
            </a:r>
            <a:endParaRPr lang="en-US" sz="900" dirty="0"/>
          </a:p>
        </p:txBody>
      </p:sp>
      <p:sp>
        <p:nvSpPr>
          <p:cNvPr id="10" name="Shape 8"/>
          <p:cNvSpPr/>
          <p:nvPr/>
        </p:nvSpPr>
        <p:spPr>
          <a:xfrm>
            <a:off x="1790700" y="4572000"/>
            <a:ext cx="1196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1927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Describing · 6</a:t>
            </a:r>
            <a:endParaRPr lang="en-US" sz="900" dirty="0"/>
          </a:p>
        </p:txBody>
      </p:sp>
      <p:sp>
        <p:nvSpPr>
          <p:cNvPr id="12" name="Shape 10"/>
          <p:cNvSpPr/>
          <p:nvPr/>
        </p:nvSpPr>
        <p:spPr>
          <a:xfrm>
            <a:off x="3124200" y="4572000"/>
            <a:ext cx="11963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261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Seasons · 6</a:t>
            </a:r>
            <a:endParaRPr lang="en-US" sz="900" dirty="0"/>
          </a:p>
        </p:txBody>
      </p:sp>
      <p:sp>
        <p:nvSpPr>
          <p:cNvPr id="14" name="Shape 12"/>
          <p:cNvSpPr/>
          <p:nvPr/>
        </p:nvSpPr>
        <p:spPr>
          <a:xfrm>
            <a:off x="4457700" y="4572000"/>
            <a:ext cx="11963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4594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Forecast · 8</a:t>
            </a:r>
            <a:endParaRPr lang="en-US" sz="900" dirty="0"/>
          </a:p>
        </p:txBody>
      </p:sp>
      <p:sp>
        <p:nvSpPr>
          <p:cNvPr id="16" name="Shape 14"/>
          <p:cNvSpPr/>
          <p:nvPr/>
        </p:nvSpPr>
        <p:spPr>
          <a:xfrm>
            <a:off x="5791200" y="4572000"/>
            <a:ext cx="11963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5928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a:t>
            </a:r>
            <a:endParaRPr lang="en-US" sz="900" dirty="0"/>
          </a:p>
          <a:p>
            <a:pPr indent="0" marL="0">
              <a:buNone/>
            </a:pPr>
            <a:r>
              <a:rPr lang="en-US" sz="1200" b="1" dirty="0">
                <a:solidFill>
                  <a:srgbClr val="FFFFFF"/>
                </a:solidFill>
                <a:latin typeface="Calibri" pitchFamily="34" charset="0"/>
                <a:cs typeface="Amiri" pitchFamily="2" charset="-78"/>
              </a:rPr>
              <a:t>Comparing · 6</a:t>
            </a:r>
            <a:endParaRPr lang="en-US" sz="900" dirty="0"/>
          </a:p>
        </p:txBody>
      </p:sp>
      <p:sp>
        <p:nvSpPr>
          <p:cNvPr id="18" name="Shape 16"/>
          <p:cNvSpPr/>
          <p:nvPr/>
        </p:nvSpPr>
        <p:spPr>
          <a:xfrm>
            <a:off x="7124700" y="4572000"/>
            <a:ext cx="1196340" cy="960120"/>
          </a:xfrm>
          <a:prstGeom prst="roundRect">
            <a:avLst>
              <a:gd name="adj" fmla="val 7619"/>
            </a:avLst>
          </a:prstGeom>
          <a:solidFill>
            <a:srgbClr val="0D1F3C"/>
          </a:solidFill>
          <a:ln w="12700">
            <a:solidFill>
              <a:srgbClr val="7E92B4"/>
            </a:solidFill>
            <a:prstDash val="dash"/>
          </a:ln>
        </p:spPr>
      </p:sp>
      <p:sp>
        <p:nvSpPr>
          <p:cNvPr id="19" name="Text 17"/>
          <p:cNvSpPr txBox="1"/>
          <p:nvPr/>
        </p:nvSpPr>
        <p:spPr>
          <a:xfrm>
            <a:off x="7261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6 · FLEX</a:t>
            </a:r>
            <a:endParaRPr lang="en-US" sz="900" dirty="0"/>
          </a:p>
          <a:p>
            <a:pPr indent="0" marL="0">
              <a:buNone/>
            </a:pPr>
            <a:r>
              <a:rPr lang="en-US" sz="1200" b="1" dirty="0">
                <a:solidFill>
                  <a:srgbClr val="FFFFFF"/>
                </a:solidFill>
                <a:latin typeface="Calibri" pitchFamily="34" charset="0"/>
                <a:cs typeface="Amiri" pitchFamily="2" charset="-78"/>
              </a:rPr>
              <a:t>More · 4</a:t>
            </a:r>
            <a:endParaRPr lang="en-US" sz="900" dirty="0"/>
          </a:p>
        </p:txBody>
      </p:sp>
      <p:sp>
        <p:nvSpPr>
          <p:cNvPr id="20" name="Shape 1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21" name="Text 1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2" name="Text 2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حَرَارَةٌ</a:t>
            </a:r>
            <a:endParaRPr lang="ar-SA" sz="1900" dirty="0"/>
          </a:p>
        </p:txBody>
      </p:sp>
      <p:sp>
        <p:nvSpPr>
          <p:cNvPr id="23" name="Text 2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‎حرارت‎ </a:t>
            </a:r>
            <a:pPr indent="0" marL="0">
              <a:buNone/>
            </a:pPr>
            <a:r>
              <a:rPr lang="en-US" sz="950" b="1" dirty="0">
                <a:solidFill>
                  <a:srgbClr val="2E8B57"/>
                </a:solidFill>
                <a:latin typeface="Calibri" pitchFamily="34" charset="0"/>
                <a:cs typeface="Amiri" pitchFamily="2" charset="-78"/>
              </a:rPr>
              <a:t> ḥarārat · heat</a:t>
            </a:r>
            <a:endParaRPr lang="en-US" sz="1400" dirty="0"/>
          </a:p>
        </p:txBody>
      </p:sp>
      <p:sp>
        <p:nvSpPr>
          <p:cNvPr id="24" name="Text 2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رُطُوبَةٌ</a:t>
            </a:r>
            <a:endParaRPr lang="ar-SA" sz="1900" dirty="0"/>
          </a:p>
        </p:txBody>
      </p:sp>
      <p:sp>
        <p:nvSpPr>
          <p:cNvPr id="25" name="Text 2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‎رطوبت‎ </a:t>
            </a:r>
            <a:pPr indent="0" marL="0">
              <a:buNone/>
            </a:pPr>
            <a:r>
              <a:rPr lang="en-US" sz="950" b="1" dirty="0">
                <a:solidFill>
                  <a:srgbClr val="2E8B57"/>
                </a:solidFill>
                <a:latin typeface="Calibri" pitchFamily="34" charset="0"/>
                <a:cs typeface="Amiri" pitchFamily="2" charset="-78"/>
              </a:rPr>
              <a:t> ruṭūbat · humidity</a:t>
            </a:r>
            <a:endParaRPr lang="en-US" sz="1400" dirty="0"/>
          </a:p>
        </p:txBody>
      </p:sp>
      <p:sp>
        <p:nvSpPr>
          <p:cNvPr id="26" name="Text 2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بَرْقٌ</a:t>
            </a:r>
            <a:endParaRPr lang="ar-SA" sz="1900" dirty="0"/>
          </a:p>
        </p:txBody>
      </p:sp>
      <p:sp>
        <p:nvSpPr>
          <p:cNvPr id="27" name="Text 2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‎برق‎ </a:t>
            </a:r>
            <a:pPr indent="0" marL="0">
              <a:buNone/>
            </a:pPr>
            <a:r>
              <a:rPr lang="en-US" sz="950" b="1" dirty="0">
                <a:solidFill>
                  <a:srgbClr val="2E8B57"/>
                </a:solidFill>
                <a:latin typeface="Calibri" pitchFamily="34" charset="0"/>
                <a:cs typeface="Amiri" pitchFamily="2" charset="-78"/>
              </a:rPr>
              <a:t> barq · lightning</a:t>
            </a:r>
            <a:endParaRPr lang="en-US" sz="1400" dirty="0"/>
          </a:p>
        </p:txBody>
      </p:sp>
      <p:sp>
        <p:nvSpPr>
          <p:cNvPr id="28" name="Text 2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هَوَاءٌ</a:t>
            </a:r>
            <a:endParaRPr lang="ar-SA" sz="1900" dirty="0"/>
          </a:p>
        </p:txBody>
      </p:sp>
      <p:sp>
        <p:nvSpPr>
          <p:cNvPr id="29" name="Text 2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‎ہوا‎ </a:t>
            </a:r>
            <a:pPr indent="0" marL="0">
              <a:buNone/>
            </a:pPr>
            <a:r>
              <a:rPr lang="en-US" sz="950" b="1" dirty="0">
                <a:solidFill>
                  <a:srgbClr val="2E8B57"/>
                </a:solidFill>
                <a:latin typeface="Calibri" pitchFamily="34" charset="0"/>
                <a:cs typeface="Amiri" pitchFamily="2" charset="-78"/>
              </a:rPr>
              <a:t> hawā · air, wind</a:t>
            </a:r>
            <a:endParaRPr lang="en-US" sz="1400" dirty="0"/>
          </a:p>
        </p:txBody>
      </p:sp>
      <p:sp>
        <p:nvSpPr>
          <p:cNvPr id="30" name="Text 2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خَرِيفٌ</a:t>
            </a:r>
            <a:endParaRPr lang="ar-SA" sz="1900" dirty="0"/>
          </a:p>
        </p:txBody>
      </p:sp>
      <p:sp>
        <p:nvSpPr>
          <p:cNvPr id="31" name="Text 2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‎خریف‎ </a:t>
            </a:r>
            <a:pPr indent="0" marL="0">
              <a:buNone/>
            </a:pPr>
            <a:r>
              <a:rPr lang="en-US" sz="950" b="1" dirty="0">
                <a:solidFill>
                  <a:srgbClr val="2E8B57"/>
                </a:solidFill>
                <a:latin typeface="Calibri" pitchFamily="34" charset="0"/>
                <a:cs typeface="Amiri" pitchFamily="2" charset="-78"/>
              </a:rPr>
              <a:t> kharīf · autumn</a:t>
            </a:r>
            <a:endParaRPr lang="en-US" sz="1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المَطَرُ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rain</a:t>
            </a:r>
            <a:endParaRPr lang="en-US" sz="1350" dirty="0"/>
          </a:p>
          <a:p>
            <a:pPr indent="0" marL="0">
              <a:buNone/>
            </a:pPr>
            <a:r>
              <a:rPr lang="en-US" sz="1100" i="1" dirty="0">
                <a:solidFill>
                  <a:srgbClr val="5A6472"/>
                </a:solidFill>
                <a:latin typeface="Calibri" pitchFamily="34" charset="0"/>
                <a:cs typeface="Amiri" pitchFamily="2" charset="-78"/>
              </a:rPr>
              <a:t>al-ma-ṭar · pl. am-ṭār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أَمْطَارٌ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الثُّلُوجُ</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snow</a:t>
            </a:r>
            <a:endParaRPr lang="en-US" sz="1350" dirty="0"/>
          </a:p>
          <a:p>
            <a:pPr indent="0" marL="0">
              <a:buNone/>
            </a:pPr>
            <a:r>
              <a:rPr lang="en-US" sz="1100" i="1" dirty="0">
                <a:solidFill>
                  <a:srgbClr val="5A6472"/>
                </a:solidFill>
                <a:latin typeface="Calibri" pitchFamily="34" charset="0"/>
                <a:cs typeface="Amiri" pitchFamily="2" charset="-78"/>
              </a:rPr>
              <a:t>ath-thu-lūj · sg. thalj</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ثَلْجٌ</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ثُلُوجٌ</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الرِّيَاحُ</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winds</a:t>
            </a:r>
            <a:endParaRPr lang="en-US" sz="1350" dirty="0"/>
          </a:p>
          <a:p>
            <a:pPr indent="0" marL="0">
              <a:buNone/>
            </a:pPr>
            <a:r>
              <a:rPr lang="en-US" sz="1100" i="1" dirty="0">
                <a:solidFill>
                  <a:srgbClr val="5A6472"/>
                </a:solidFill>
                <a:latin typeface="Calibri" pitchFamily="34" charset="0"/>
                <a:cs typeface="Amiri" pitchFamily="2" charset="-78"/>
              </a:rPr>
              <a:t>ar-ri-yāḥ · sg. rīḥ</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رِيحٌ</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رِيَاحٌ</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الشَّمْسُ</a:t>
            </a:r>
            <a:endParaRPr lang="ar-SA" sz="3000" dirty="0"/>
          </a:p>
        </p:txBody>
      </p:sp>
      <p:sp>
        <p:nvSpPr>
          <p:cNvPr id="68" name="Text 6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a:t>
            </a:r>
            <a:endParaRPr lang="en-US" sz="1350" dirty="0"/>
          </a:p>
          <a:p>
            <a:pPr indent="0" marL="0">
              <a:buNone/>
            </a:pPr>
            <a:r>
              <a:rPr lang="en-US" sz="1100" i="1" dirty="0">
                <a:solidFill>
                  <a:srgbClr val="5A6472"/>
                </a:solidFill>
                <a:latin typeface="Calibri" pitchFamily="34" charset="0"/>
                <a:cs typeface="Amiri" pitchFamily="2" charset="-78"/>
              </a:rPr>
              <a:t>ash-shams</a:t>
            </a:r>
            <a:endParaRPr lang="en-US" sz="1350" dirty="0"/>
          </a:p>
        </p:txBody>
      </p:sp>
      <p:sp>
        <p:nvSpPr>
          <p:cNvPr id="69" name="Text 6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Feminine: </a:t>
            </a:r>
            <a:pPr algn="l" indent="0" marL="0">
              <a:buNone/>
            </a:pPr>
            <a:r>
              <a:rPr lang="ar-SA" altLang="en-US" sz="1300" dirty="0">
                <a:solidFill>
                  <a:srgbClr val="8A6D1E"/>
                </a:solidFill>
                <a:latin typeface="Amiri" pitchFamily="2" charset="-78"/>
                <a:cs typeface="Amiri" pitchFamily="2" charset="-78"/>
              </a:rPr>
              <a:t>تُشْرِقُ الشَّمْسُ</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3" name="Shape 70"/>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pl.</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السُّحُبُ / الغُيُومُ</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clouds</a:t>
            </a:r>
            <a:endParaRPr lang="en-US" sz="1350" dirty="0"/>
          </a:p>
          <a:p>
            <a:pPr indent="0" marL="0">
              <a:buNone/>
            </a:pPr>
            <a:r>
              <a:rPr lang="en-US" sz="1100" i="1" dirty="0">
                <a:solidFill>
                  <a:srgbClr val="5A6472"/>
                </a:solidFill>
                <a:latin typeface="Calibri" pitchFamily="34" charset="0"/>
                <a:cs typeface="Amiri" pitchFamily="2" charset="-78"/>
              </a:rPr>
              <a:t>as-su-ḥub / al-ghu-yūm</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سَحَابَةٌ / غَيْمَةٌ</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4" name="Text 8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سُحُبٌ / غُيُومٌ</a:t>
            </a:r>
            <a:endParaRPr lang="ar-SA" sz="15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8" name="Shape 85"/>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العَاصِفَةُ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storm</a:t>
            </a:r>
            <a:endParaRPr lang="en-US" sz="1350" dirty="0"/>
          </a:p>
          <a:p>
            <a:pPr indent="0" marL="0">
              <a:buNone/>
            </a:pPr>
            <a:r>
              <a:rPr lang="en-US" sz="1100" i="1" dirty="0">
                <a:solidFill>
                  <a:srgbClr val="5A6472"/>
                </a:solidFill>
                <a:latin typeface="Calibri" pitchFamily="34" charset="0"/>
                <a:cs typeface="Amiri" pitchFamily="2" charset="-78"/>
              </a:rPr>
              <a:t>al-ʿā-ṣi-fa · pl. ʿa-wā-ṣif</a:t>
            </a:r>
            <a:endParaRPr lang="en-US" sz="1350" dirty="0"/>
          </a:p>
        </p:txBody>
      </p:sp>
      <p:sp>
        <p:nvSpPr>
          <p:cNvPr id="92" name="Shape 89"/>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94" name="Text 91"/>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عَاصِفَةٌ</a:t>
            </a:r>
            <a:endParaRPr lang="ar-SA" sz="1500" dirty="0"/>
          </a:p>
        </p:txBody>
      </p:sp>
      <p:sp>
        <p:nvSpPr>
          <p:cNvPr id="95" name="Shape 92"/>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7" name="Text 94"/>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عَوَاصِفُ</a:t>
            </a:r>
            <a:endParaRPr lang="ar-SA" sz="150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FROM THE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وَصْفُ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hot</a:t>
            </a:r>
            <a:endParaRPr lang="en-US" sz="1350" dirty="0"/>
          </a:p>
          <a:p>
            <a:pPr indent="0" marL="0">
              <a:buNone/>
            </a:pPr>
            <a:r>
              <a:rPr lang="en-US" sz="1100" i="1" dirty="0">
                <a:solidFill>
                  <a:srgbClr val="5A6472"/>
                </a:solidFill>
                <a:latin typeface="Calibri" pitchFamily="34" charset="0"/>
                <a:cs typeface="Amiri" pitchFamily="2" charset="-78"/>
              </a:rPr>
              <a:t>ḥārr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حَارٌّ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حَارَّةٌ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بَارِدٌ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cold</a:t>
            </a:r>
            <a:endParaRPr lang="en-US" sz="1350" dirty="0"/>
          </a:p>
          <a:p>
            <a:pPr indent="0" marL="0">
              <a:buNone/>
            </a:pPr>
            <a:r>
              <a:rPr lang="en-US" sz="1100" i="1" dirty="0">
                <a:solidFill>
                  <a:srgbClr val="5A6472"/>
                </a:solidFill>
                <a:latin typeface="Calibri" pitchFamily="34" charset="0"/>
                <a:cs typeface="Amiri" pitchFamily="2" charset="-78"/>
              </a:rPr>
              <a:t>bā-rid</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بَارِدٌ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بَارِدَةٌ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مُشْمِسٌ</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sunny</a:t>
            </a:r>
            <a:endParaRPr lang="en-US" sz="1350" dirty="0"/>
          </a:p>
          <a:p>
            <a:pPr indent="0" marL="0">
              <a:buNone/>
            </a:pPr>
            <a:r>
              <a:rPr lang="en-US" sz="1100" i="1" dirty="0">
                <a:solidFill>
                  <a:srgbClr val="5A6472"/>
                </a:solidFill>
                <a:latin typeface="Calibri" pitchFamily="34" charset="0"/>
                <a:cs typeface="Amiri" pitchFamily="2" charset="-78"/>
              </a:rPr>
              <a:t>mush-mis</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مُشْمِسٌ</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مُشْمِسَةٌ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مُمْطِرٌ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rainy</a:t>
            </a:r>
            <a:endParaRPr lang="en-US" sz="1350" dirty="0"/>
          </a:p>
          <a:p>
            <a:pPr indent="0" marL="0">
              <a:buNone/>
            </a:pPr>
            <a:r>
              <a:rPr lang="en-US" sz="1100" i="1" dirty="0">
                <a:solidFill>
                  <a:srgbClr val="5A6472"/>
                </a:solidFill>
                <a:latin typeface="Calibri" pitchFamily="34" charset="0"/>
                <a:cs typeface="Amiri" pitchFamily="2" charset="-78"/>
              </a:rPr>
              <a:t>mum-ṭir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مُمْطِرٌ</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مُمْطِرَةٌ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عَاصِفٌ</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windy, stormy</a:t>
            </a:r>
            <a:endParaRPr lang="en-US" sz="1350" dirty="0"/>
          </a:p>
          <a:p>
            <a:pPr indent="0" marL="0">
              <a:buNone/>
            </a:pPr>
            <a:r>
              <a:rPr lang="en-US" sz="1100" i="1" dirty="0">
                <a:solidFill>
                  <a:srgbClr val="5A6472"/>
                </a:solidFill>
                <a:latin typeface="Calibri" pitchFamily="34" charset="0"/>
                <a:cs typeface="Amiri" pitchFamily="2" charset="-78"/>
              </a:rPr>
              <a:t>ʿā-ṣif</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عَاصِفٌ</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عَاصِفَةٌ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رَطْبٌ</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humid, damp</a:t>
            </a:r>
            <a:endParaRPr lang="en-US" sz="1350" dirty="0"/>
          </a:p>
          <a:p>
            <a:pPr indent="0" marL="0">
              <a:buNone/>
            </a:pPr>
            <a:r>
              <a:rPr lang="en-US" sz="1100" i="1" dirty="0">
                <a:solidFill>
                  <a:srgbClr val="5A6472"/>
                </a:solidFill>
                <a:latin typeface="Calibri" pitchFamily="34" charset="0"/>
                <a:cs typeface="Amiri" pitchFamily="2" charset="-78"/>
              </a:rPr>
              <a:t>raṭb</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رَطْبٌ</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رَطْبَةٌ</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SEASONS AND CLIMATE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seasons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الفُصُولُ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season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الرَّبِيعُ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spring</a:t>
            </a:r>
            <a:endParaRPr lang="en-US" sz="1350" dirty="0"/>
          </a:p>
          <a:p>
            <a:pPr indent="0" marL="0">
              <a:buNone/>
            </a:pPr>
            <a:r>
              <a:rPr lang="en-US" sz="1100" i="1" dirty="0">
                <a:solidFill>
                  <a:srgbClr val="5A6472"/>
                </a:solidFill>
                <a:latin typeface="Calibri" pitchFamily="34" charset="0"/>
                <a:cs typeface="Amiri" pitchFamily="2" charset="-78"/>
              </a:rPr>
              <a:t>ar-ra-bīʿ</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in</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فِي الرَّبِيعِ</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رَبِيعًا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season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الصَّيْفُ</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summer</a:t>
            </a:r>
            <a:endParaRPr lang="en-US" sz="1350" dirty="0"/>
          </a:p>
          <a:p>
            <a:pPr indent="0" marL="0">
              <a:buNone/>
            </a:pPr>
            <a:r>
              <a:rPr lang="en-US" sz="1100" i="1" dirty="0">
                <a:solidFill>
                  <a:srgbClr val="5A6472"/>
                </a:solidFill>
                <a:latin typeface="Calibri" pitchFamily="34" charset="0"/>
                <a:cs typeface="Amiri" pitchFamily="2" charset="-78"/>
              </a:rPr>
              <a:t>aṣ-ṣayf</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in</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فِي الصَّيْفِ</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صَيْفًا</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season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الخَرِيفُ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autumn</a:t>
            </a:r>
            <a:endParaRPr lang="en-US" sz="1350" dirty="0"/>
          </a:p>
          <a:p>
            <a:pPr indent="0" marL="0">
              <a:buNone/>
            </a:pPr>
            <a:r>
              <a:rPr lang="en-US" sz="1100" i="1" dirty="0">
                <a:solidFill>
                  <a:srgbClr val="5A6472"/>
                </a:solidFill>
                <a:latin typeface="Calibri" pitchFamily="34" charset="0"/>
                <a:cs typeface="Amiri" pitchFamily="2" charset="-78"/>
              </a:rPr>
              <a:t>al-kha-rīf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in</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فِي الخَرِيفِ</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خَرِيفًا</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season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الشِّتَاءُ</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winter</a:t>
            </a:r>
            <a:endParaRPr lang="en-US" sz="1350" dirty="0"/>
          </a:p>
          <a:p>
            <a:pPr indent="0" marL="0">
              <a:buNone/>
            </a:pPr>
            <a:r>
              <a:rPr lang="en-US" sz="1100" i="1" dirty="0">
                <a:solidFill>
                  <a:srgbClr val="5A6472"/>
                </a:solidFill>
                <a:latin typeface="Calibri" pitchFamily="34" charset="0"/>
                <a:cs typeface="Amiri" pitchFamily="2" charset="-78"/>
              </a:rPr>
              <a:t>ash-shi-tāʾ</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in</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فِي الشِّتَاءِ</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شِتَاءً</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فَصْلٌ</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season</a:t>
            </a:r>
            <a:endParaRPr lang="en-US" sz="1350" dirty="0"/>
          </a:p>
          <a:p>
            <a:pPr indent="0" marL="0">
              <a:buNone/>
            </a:pPr>
            <a:r>
              <a:rPr lang="en-US" sz="1100" i="1" dirty="0">
                <a:solidFill>
                  <a:srgbClr val="5A6472"/>
                </a:solidFill>
                <a:latin typeface="Calibri" pitchFamily="34" charset="0"/>
                <a:cs typeface="Amiri" pitchFamily="2" charset="-78"/>
              </a:rPr>
              <a:t>faṣl · pl. fu-ṣūl</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فَصْلٌ</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فُصُولٌ</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93" name="Text 9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مُنَاخٌ</a:t>
            </a:r>
            <a:endParaRPr lang="ar-SA" sz="3000" dirty="0"/>
          </a:p>
        </p:txBody>
      </p:sp>
      <p:sp>
        <p:nvSpPr>
          <p:cNvPr id="94" name="Text 9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climate</a:t>
            </a:r>
            <a:endParaRPr lang="en-US" sz="1350" dirty="0"/>
          </a:p>
          <a:p>
            <a:pPr indent="0" marL="0">
              <a:buNone/>
            </a:pPr>
            <a:r>
              <a:rPr lang="en-US" sz="1100" i="1" dirty="0">
                <a:solidFill>
                  <a:srgbClr val="5A6472"/>
                </a:solidFill>
                <a:latin typeface="Calibri" pitchFamily="34" charset="0"/>
                <a:cs typeface="Amiri" pitchFamily="2" charset="-78"/>
              </a:rPr>
              <a:t>mu-nākh</a:t>
            </a:r>
            <a:endParaRPr lang="en-US" sz="1350" dirty="0"/>
          </a:p>
        </p:txBody>
      </p:sp>
      <p:sp>
        <p:nvSpPr>
          <p:cNvPr id="95" name="Text 92"/>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Climate = the usual weather of a region.</a:t>
            </a:r>
            <a:endParaRPr lang="en-US" sz="10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FORECAST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Forecast language: verb + weather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النَّشْرَةِ الجَوِّيَّةِ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Forecast phrase (website)</a:t>
            </a:r>
            <a:endParaRPr lang="en-US" sz="1100" dirty="0"/>
          </a:p>
        </p:txBody>
      </p:sp>
      <p:sp>
        <p:nvSpPr>
          <p:cNvPr id="17" name="Text 14"/>
          <p:cNvSpPr txBox="1"/>
          <p:nvPr/>
        </p:nvSpPr>
        <p:spPr>
          <a:xfrm>
            <a:off x="43068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 this verb?</a:t>
            </a:r>
            <a:endParaRPr lang="en-US" sz="1100" dirty="0"/>
          </a:p>
        </p:txBody>
      </p:sp>
      <p:sp>
        <p:nvSpPr>
          <p:cNvPr id="19" name="Shape 16"/>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0" name="Text 17"/>
          <p:cNvSpPr txBox="1"/>
          <p:nvPr/>
        </p:nvSpPr>
        <p:spPr>
          <a:xfrm>
            <a:off x="7616952" y="228600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2" charset="-78"/>
                <a:cs typeface="Amiri" pitchFamily="2" charset="-78"/>
              </a:rPr>
              <a:t>يَ</a:t>
            </a:r>
            <a:pPr rtl="1" algn="ctr" indent="0" marL="0">
              <a:buNone/>
            </a:pPr>
            <a:r>
              <a:rPr lang="ar-SA" altLang="en-US" sz="1300" b="1" dirty="0">
                <a:solidFill>
                  <a:srgbClr val="7B3FA0"/>
                </a:solidFill>
                <a:latin typeface="Amiri" pitchFamily="2" charset="-78"/>
                <a:cs typeface="Amiri" pitchFamily="2" charset="-78"/>
              </a:rPr>
              <a:t>سْقُطُ</a:t>
            </a:r>
            <a:pPr rtl="1" algn="ctr" indent="0" marL="0">
              <a:buNone/>
            </a:pPr>
            <a:r>
              <a:rPr lang="ar-SA" altLang="en-US" sz="1300" b="1" dirty="0">
                <a:solidFill>
                  <a:srgbClr val="1B3B6F"/>
                </a:solidFill>
                <a:latin typeface="Amiri" pitchFamily="2" charset="-78"/>
                <a:cs typeface="Amiri" pitchFamily="2" charset="-78"/>
              </a:rPr>
              <a:t> المَطَرُ</a:t>
            </a:r>
            <a:endParaRPr lang="ar-SA" sz="1300" dirty="0"/>
          </a:p>
        </p:txBody>
      </p:sp>
      <p:sp>
        <p:nvSpPr>
          <p:cNvPr id="21" name="Text 18"/>
          <p:cNvSpPr txBox="1"/>
          <p:nvPr/>
        </p:nvSpPr>
        <p:spPr>
          <a:xfrm>
            <a:off x="7571232" y="254203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yas-quṭ al-ma-ṭar</a:t>
            </a:r>
            <a:endParaRPr lang="en-US" sz="950" dirty="0"/>
          </a:p>
        </p:txBody>
      </p:sp>
      <p:sp>
        <p:nvSpPr>
          <p:cNvPr id="22" name="Text 19"/>
          <p:cNvSpPr txBox="1"/>
          <p:nvPr/>
        </p:nvSpPr>
        <p:spPr>
          <a:xfrm>
            <a:off x="4343400" y="226771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rain falls / it rains</a:t>
            </a:r>
            <a:endParaRPr lang="en-US" sz="1100" dirty="0"/>
          </a:p>
        </p:txBody>
      </p:sp>
      <p:sp>
        <p:nvSpPr>
          <p:cNvPr id="23" name="Text 20"/>
          <p:cNvSpPr txBox="1"/>
          <p:nvPr/>
        </p:nvSpPr>
        <p:spPr>
          <a:xfrm>
            <a:off x="566928" y="2267712"/>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المَطَر</a:t>
            </a:r>
            <a:pPr algn="l" indent="0" marL="0">
              <a:buNone/>
            </a:pPr>
            <a:r>
              <a:rPr lang="en-US" sz="1100" i="1" dirty="0">
                <a:solidFill>
                  <a:srgbClr val="5A6472"/>
                </a:solidFill>
                <a:latin typeface="Calibri" pitchFamily="34" charset="0"/>
                <a:cs typeface="Amiri" pitchFamily="2" charset="-78"/>
              </a:rPr>
              <a:t> is masculine → </a:t>
            </a:r>
            <a:pPr algn="l" indent="0" marL="0">
              <a:buNone/>
            </a:pPr>
            <a:r>
              <a:rPr lang="ar-SA" altLang="en-US" sz="1450" dirty="0">
                <a:solidFill>
                  <a:srgbClr val="5A6472"/>
                </a:solidFill>
                <a:latin typeface="Amiri" pitchFamily="2" charset="-78"/>
                <a:cs typeface="Amiri" pitchFamily="2" charset="-78"/>
              </a:rPr>
              <a:t>يَـ</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7" name="Text 24"/>
          <p:cNvSpPr txBox="1"/>
          <p:nvPr/>
        </p:nvSpPr>
        <p:spPr>
          <a:xfrm>
            <a:off x="7616952" y="279806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2" charset="-78"/>
                <a:cs typeface="Amiri" pitchFamily="2" charset="-78"/>
              </a:rPr>
              <a:t>تَ</a:t>
            </a:r>
            <a:pPr rtl="1" algn="ctr" indent="0" marL="0">
              <a:buNone/>
            </a:pPr>
            <a:r>
              <a:rPr lang="ar-SA" altLang="en-US" sz="1300" b="1" dirty="0">
                <a:solidFill>
                  <a:srgbClr val="7B3FA0"/>
                </a:solidFill>
                <a:latin typeface="Amiri" pitchFamily="2" charset="-78"/>
                <a:cs typeface="Amiri" pitchFamily="2" charset="-78"/>
              </a:rPr>
              <a:t>سْقُطُ</a:t>
            </a:r>
            <a:pPr rtl="1" algn="ctr" indent="0" marL="0">
              <a:buNone/>
            </a:pPr>
            <a:r>
              <a:rPr lang="ar-SA" altLang="en-US" sz="1300" b="1" dirty="0">
                <a:solidFill>
                  <a:srgbClr val="1B3B6F"/>
                </a:solidFill>
                <a:latin typeface="Amiri" pitchFamily="2" charset="-78"/>
                <a:cs typeface="Amiri" pitchFamily="2" charset="-78"/>
              </a:rPr>
              <a:t> الثُّلُوجُ</a:t>
            </a:r>
            <a:endParaRPr lang="ar-SA" sz="1300" dirty="0"/>
          </a:p>
        </p:txBody>
      </p:sp>
      <p:sp>
        <p:nvSpPr>
          <p:cNvPr id="28" name="Text 25"/>
          <p:cNvSpPr txBox="1"/>
          <p:nvPr/>
        </p:nvSpPr>
        <p:spPr>
          <a:xfrm>
            <a:off x="7571232" y="305409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tas-quṭ ath-thu-lūj</a:t>
            </a:r>
            <a:endParaRPr lang="en-US" sz="950" dirty="0"/>
          </a:p>
        </p:txBody>
      </p:sp>
      <p:sp>
        <p:nvSpPr>
          <p:cNvPr id="29" name="Text 26"/>
          <p:cNvSpPr txBox="1"/>
          <p:nvPr/>
        </p:nvSpPr>
        <p:spPr>
          <a:xfrm>
            <a:off x="4343400" y="277977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snow falls / it snows</a:t>
            </a:r>
            <a:endParaRPr lang="en-US" sz="1100" dirty="0"/>
          </a:p>
        </p:txBody>
      </p:sp>
      <p:sp>
        <p:nvSpPr>
          <p:cNvPr id="30" name="Text 27"/>
          <p:cNvSpPr txBox="1"/>
          <p:nvPr/>
        </p:nvSpPr>
        <p:spPr>
          <a:xfrm>
            <a:off x="566928" y="2779776"/>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الثُّلُوج</a:t>
            </a:r>
            <a:pPr algn="l" indent="0" marL="0">
              <a:buNone/>
            </a:pPr>
            <a:r>
              <a:rPr lang="en-US" sz="1100" i="1" dirty="0">
                <a:solidFill>
                  <a:srgbClr val="5A6472"/>
                </a:solidFill>
                <a:latin typeface="Calibri" pitchFamily="34" charset="0"/>
                <a:cs typeface="Amiri" pitchFamily="2" charset="-78"/>
              </a:rPr>
              <a:t> is treated as feminine → </a:t>
            </a:r>
            <a:pPr algn="l" indent="0" marL="0">
              <a:buNone/>
            </a:pPr>
            <a:r>
              <a:rPr lang="ar-SA" altLang="en-US" sz="1450" dirty="0">
                <a:solidFill>
                  <a:srgbClr val="5A6472"/>
                </a:solidFill>
                <a:latin typeface="Amiri" pitchFamily="2" charset="-78"/>
                <a:cs typeface="Amiri" pitchFamily="2" charset="-78"/>
              </a:rPr>
              <a:t>تَـ</a:t>
            </a:r>
            <a:endParaRPr lang="en-US" sz="1100" dirty="0"/>
          </a:p>
        </p:txBody>
      </p:sp>
      <p:sp>
        <p:nvSpPr>
          <p:cNvPr id="31" name="Shape 28"/>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4" name="Text 31"/>
          <p:cNvSpPr txBox="1"/>
          <p:nvPr/>
        </p:nvSpPr>
        <p:spPr>
          <a:xfrm>
            <a:off x="7616952" y="331012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2" charset="-78"/>
                <a:cs typeface="Amiri" pitchFamily="2" charset="-78"/>
              </a:rPr>
              <a:t>تَ</a:t>
            </a:r>
            <a:pPr rtl="1" algn="ctr" indent="0" marL="0">
              <a:buNone/>
            </a:pPr>
            <a:r>
              <a:rPr lang="ar-SA" altLang="en-US" sz="1300" b="1" dirty="0">
                <a:solidFill>
                  <a:srgbClr val="7B3FA0"/>
                </a:solidFill>
                <a:latin typeface="Amiri" pitchFamily="2" charset="-78"/>
                <a:cs typeface="Amiri" pitchFamily="2" charset="-78"/>
              </a:rPr>
              <a:t>هُبُّ</a:t>
            </a:r>
            <a:pPr rtl="1" algn="ctr" indent="0" marL="0">
              <a:buNone/>
            </a:pPr>
            <a:r>
              <a:rPr lang="ar-SA" altLang="en-US" sz="1300" b="1" dirty="0">
                <a:solidFill>
                  <a:srgbClr val="1B3B6F"/>
                </a:solidFill>
                <a:latin typeface="Amiri" pitchFamily="2" charset="-78"/>
                <a:cs typeface="Amiri" pitchFamily="2" charset="-78"/>
              </a:rPr>
              <a:t> الرِّيَاحُ</a:t>
            </a:r>
            <a:endParaRPr lang="ar-SA" sz="1300" dirty="0"/>
          </a:p>
        </p:txBody>
      </p:sp>
      <p:sp>
        <p:nvSpPr>
          <p:cNvPr id="35" name="Text 32"/>
          <p:cNvSpPr txBox="1"/>
          <p:nvPr/>
        </p:nvSpPr>
        <p:spPr>
          <a:xfrm>
            <a:off x="7571232" y="356616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ta-hubb ar-ri-yāḥ</a:t>
            </a:r>
            <a:endParaRPr lang="en-US" sz="950" dirty="0"/>
          </a:p>
        </p:txBody>
      </p:sp>
      <p:sp>
        <p:nvSpPr>
          <p:cNvPr id="36" name="Text 33"/>
          <p:cNvSpPr txBox="1"/>
          <p:nvPr/>
        </p:nvSpPr>
        <p:spPr>
          <a:xfrm>
            <a:off x="4343400" y="329184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winds blow</a:t>
            </a:r>
            <a:endParaRPr lang="en-US" sz="1100" dirty="0"/>
          </a:p>
        </p:txBody>
      </p:sp>
      <p:sp>
        <p:nvSpPr>
          <p:cNvPr id="37" name="Text 34"/>
          <p:cNvSpPr txBox="1"/>
          <p:nvPr/>
        </p:nvSpPr>
        <p:spPr>
          <a:xfrm>
            <a:off x="566928" y="329184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الرِّيَاح</a:t>
            </a:r>
            <a:pPr algn="l" indent="0" marL="0">
              <a:buNone/>
            </a:pPr>
            <a:r>
              <a:rPr lang="en-US" sz="1100" i="1" dirty="0">
                <a:solidFill>
                  <a:srgbClr val="5A6472"/>
                </a:solidFill>
                <a:latin typeface="Calibri" pitchFamily="34" charset="0"/>
                <a:cs typeface="Amiri" pitchFamily="2" charset="-78"/>
              </a:rPr>
              <a:t> is feminine → </a:t>
            </a:r>
            <a:pPr algn="l" indent="0" marL="0">
              <a:buNone/>
            </a:pPr>
            <a:r>
              <a:rPr lang="ar-SA" altLang="en-US" sz="1450" dirty="0">
                <a:solidFill>
                  <a:srgbClr val="5A6472"/>
                </a:solidFill>
                <a:latin typeface="Amiri" pitchFamily="2" charset="-78"/>
                <a:cs typeface="Amiri" pitchFamily="2" charset="-78"/>
              </a:rPr>
              <a:t>تَـ</a:t>
            </a:r>
            <a:endParaRPr lang="en-US" sz="1100" dirty="0"/>
          </a:p>
        </p:txBody>
      </p:sp>
      <p:sp>
        <p:nvSpPr>
          <p:cNvPr id="38" name="Shape 35"/>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1" name="Text 38"/>
          <p:cNvSpPr txBox="1"/>
          <p:nvPr/>
        </p:nvSpPr>
        <p:spPr>
          <a:xfrm>
            <a:off x="7616952" y="3822192"/>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2" charset="-78"/>
                <a:cs typeface="Amiri" pitchFamily="2" charset="-78"/>
              </a:rPr>
              <a:t>تُ</a:t>
            </a:r>
            <a:pPr rtl="1" algn="ctr" indent="0" marL="0">
              <a:buNone/>
            </a:pPr>
            <a:r>
              <a:rPr lang="ar-SA" altLang="en-US" sz="1300" b="1" dirty="0">
                <a:solidFill>
                  <a:srgbClr val="7B3FA0"/>
                </a:solidFill>
                <a:latin typeface="Amiri" pitchFamily="2" charset="-78"/>
                <a:cs typeface="Amiri" pitchFamily="2" charset="-78"/>
              </a:rPr>
              <a:t>شْرِقُ</a:t>
            </a:r>
            <a:pPr rtl="1" algn="ctr" indent="0" marL="0">
              <a:buNone/>
            </a:pPr>
            <a:r>
              <a:rPr lang="ar-SA" altLang="en-US" sz="1300" b="1" dirty="0">
                <a:solidFill>
                  <a:srgbClr val="1B3B6F"/>
                </a:solidFill>
                <a:latin typeface="Amiri" pitchFamily="2" charset="-78"/>
                <a:cs typeface="Amiri" pitchFamily="2" charset="-78"/>
              </a:rPr>
              <a:t> الشَّمْسُ</a:t>
            </a:r>
            <a:endParaRPr lang="ar-SA" sz="1300" dirty="0"/>
          </a:p>
        </p:txBody>
      </p:sp>
      <p:sp>
        <p:nvSpPr>
          <p:cNvPr id="42" name="Text 39"/>
          <p:cNvSpPr txBox="1"/>
          <p:nvPr/>
        </p:nvSpPr>
        <p:spPr>
          <a:xfrm>
            <a:off x="7571232" y="4078224"/>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tush-riq ash-shams</a:t>
            </a:r>
            <a:endParaRPr lang="en-US" sz="950" dirty="0"/>
          </a:p>
        </p:txBody>
      </p:sp>
      <p:sp>
        <p:nvSpPr>
          <p:cNvPr id="43" name="Text 40"/>
          <p:cNvSpPr txBox="1"/>
          <p:nvPr/>
        </p:nvSpPr>
        <p:spPr>
          <a:xfrm>
            <a:off x="4343400" y="3803904"/>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sun shines</a:t>
            </a:r>
            <a:endParaRPr lang="en-US" sz="1100" dirty="0"/>
          </a:p>
        </p:txBody>
      </p:sp>
      <p:sp>
        <p:nvSpPr>
          <p:cNvPr id="44" name="Text 41"/>
          <p:cNvSpPr txBox="1"/>
          <p:nvPr/>
        </p:nvSpPr>
        <p:spPr>
          <a:xfrm>
            <a:off x="566928" y="3803904"/>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الشَّمْس</a:t>
            </a:r>
            <a:pPr algn="l" indent="0" marL="0">
              <a:buNone/>
            </a:pPr>
            <a:r>
              <a:rPr lang="en-US" sz="1100" i="1" dirty="0">
                <a:solidFill>
                  <a:srgbClr val="5A6472"/>
                </a:solidFill>
                <a:latin typeface="Calibri" pitchFamily="34" charset="0"/>
                <a:cs typeface="Amiri" pitchFamily="2" charset="-78"/>
              </a:rPr>
              <a:t> is feminine → </a:t>
            </a:r>
            <a:pPr algn="l" indent="0" marL="0">
              <a:buNone/>
            </a:pPr>
            <a:r>
              <a:rPr lang="ar-SA" altLang="en-US" sz="1450" dirty="0">
                <a:solidFill>
                  <a:srgbClr val="5A6472"/>
                </a:solidFill>
                <a:latin typeface="Amiri" pitchFamily="2" charset="-78"/>
                <a:cs typeface="Amiri" pitchFamily="2" charset="-78"/>
              </a:rPr>
              <a:t>تُـ</a:t>
            </a:r>
            <a:endParaRPr lang="en-US" sz="1100" dirty="0"/>
          </a:p>
        </p:txBody>
      </p:sp>
      <p:sp>
        <p:nvSpPr>
          <p:cNvPr id="45" name="Shape 42"/>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6" name="Text 43"/>
          <p:cNvSpPr txBox="1"/>
          <p:nvPr/>
        </p:nvSpPr>
        <p:spPr>
          <a:xfrm>
            <a:off x="7616952" y="4334256"/>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2" charset="-78"/>
                <a:cs typeface="Amiri" pitchFamily="2" charset="-78"/>
              </a:rPr>
              <a:t>تَ</a:t>
            </a:r>
            <a:pPr rtl="1" algn="ctr" indent="0" marL="0">
              <a:buNone/>
            </a:pPr>
            <a:r>
              <a:rPr lang="ar-SA" altLang="en-US" sz="1300" b="1" dirty="0">
                <a:solidFill>
                  <a:srgbClr val="7B3FA0"/>
                </a:solidFill>
                <a:latin typeface="Amiri" pitchFamily="2" charset="-78"/>
                <a:cs typeface="Amiri" pitchFamily="2" charset="-78"/>
              </a:rPr>
              <a:t>رْتَفِعُ</a:t>
            </a:r>
            <a:pPr rtl="1" algn="ctr" indent="0" marL="0">
              <a:buNone/>
            </a:pPr>
            <a:r>
              <a:rPr lang="ar-SA" altLang="en-US" sz="1300" b="1" dirty="0">
                <a:solidFill>
                  <a:srgbClr val="1B3B6F"/>
                </a:solidFill>
                <a:latin typeface="Amiri" pitchFamily="2" charset="-78"/>
                <a:cs typeface="Amiri" pitchFamily="2" charset="-78"/>
              </a:rPr>
              <a:t> دَرَجَةُ الحَرَارَةِ</a:t>
            </a:r>
            <a:endParaRPr lang="ar-SA" sz="1300" dirty="0"/>
          </a:p>
        </p:txBody>
      </p:sp>
      <p:sp>
        <p:nvSpPr>
          <p:cNvPr id="47" name="Text 44"/>
          <p:cNvSpPr txBox="1"/>
          <p:nvPr/>
        </p:nvSpPr>
        <p:spPr>
          <a:xfrm>
            <a:off x="7571232" y="4590288"/>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tar-ta-fiʿ da-ra-jat al-ḥa-rā-ra</a:t>
            </a:r>
            <a:endParaRPr lang="en-US" sz="950" dirty="0"/>
          </a:p>
        </p:txBody>
      </p:sp>
      <p:sp>
        <p:nvSpPr>
          <p:cNvPr id="48" name="Text 45"/>
          <p:cNvSpPr txBox="1"/>
          <p:nvPr/>
        </p:nvSpPr>
        <p:spPr>
          <a:xfrm>
            <a:off x="4343400" y="4315968"/>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temperature rises</a:t>
            </a:r>
            <a:endParaRPr lang="en-US" sz="1100" dirty="0"/>
          </a:p>
        </p:txBody>
      </p:sp>
      <p:sp>
        <p:nvSpPr>
          <p:cNvPr id="49" name="Text 46"/>
          <p:cNvSpPr txBox="1"/>
          <p:nvPr/>
        </p:nvSpPr>
        <p:spPr>
          <a:xfrm>
            <a:off x="566928" y="4315968"/>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دَرَجَة</a:t>
            </a:r>
            <a:pPr algn="l" indent="0" marL="0">
              <a:buNone/>
            </a:pPr>
            <a:r>
              <a:rPr lang="en-US" sz="1100" i="1" dirty="0">
                <a:solidFill>
                  <a:srgbClr val="5A6472"/>
                </a:solidFill>
                <a:latin typeface="Calibri" pitchFamily="34" charset="0"/>
                <a:cs typeface="Amiri" pitchFamily="2" charset="-78"/>
              </a:rPr>
              <a:t> is feminine → </a:t>
            </a:r>
            <a:pPr algn="l" indent="0" marL="0">
              <a:buNone/>
            </a:pPr>
            <a:r>
              <a:rPr lang="ar-SA" altLang="en-US" sz="1450" dirty="0">
                <a:solidFill>
                  <a:srgbClr val="5A6472"/>
                </a:solidFill>
                <a:latin typeface="Amiri" pitchFamily="2" charset="-78"/>
                <a:cs typeface="Amiri" pitchFamily="2" charset="-78"/>
              </a:rPr>
              <a:t>تَـ</a:t>
            </a:r>
            <a:endParaRPr lang="en-US" sz="1100" dirty="0"/>
          </a:p>
        </p:txBody>
      </p:sp>
      <p:sp>
        <p:nvSpPr>
          <p:cNvPr id="50" name="Shape 47"/>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1" name="Text 48"/>
          <p:cNvSpPr txBox="1"/>
          <p:nvPr/>
        </p:nvSpPr>
        <p:spPr>
          <a:xfrm>
            <a:off x="7616952" y="484632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2" charset="-78"/>
                <a:cs typeface="Amiri" pitchFamily="2" charset="-78"/>
              </a:rPr>
              <a:t>تَ</a:t>
            </a:r>
            <a:pPr rtl="1" algn="ctr" indent="0" marL="0">
              <a:buNone/>
            </a:pPr>
            <a:r>
              <a:rPr lang="ar-SA" altLang="en-US" sz="1300" b="1" dirty="0">
                <a:solidFill>
                  <a:srgbClr val="7B3FA0"/>
                </a:solidFill>
                <a:latin typeface="Amiri" pitchFamily="2" charset="-78"/>
                <a:cs typeface="Amiri" pitchFamily="2" charset="-78"/>
              </a:rPr>
              <a:t>نْخَفِضُ</a:t>
            </a:r>
            <a:pPr rtl="1" algn="ctr" indent="0" marL="0">
              <a:buNone/>
            </a:pPr>
            <a:r>
              <a:rPr lang="ar-SA" altLang="en-US" sz="1300" b="1" dirty="0">
                <a:solidFill>
                  <a:srgbClr val="1B3B6F"/>
                </a:solidFill>
                <a:latin typeface="Amiri" pitchFamily="2" charset="-78"/>
                <a:cs typeface="Amiri" pitchFamily="2" charset="-78"/>
              </a:rPr>
              <a:t> دَرَجَةُ الحَرَارَةِ</a:t>
            </a:r>
            <a:endParaRPr lang="ar-SA" sz="1300" dirty="0"/>
          </a:p>
        </p:txBody>
      </p:sp>
      <p:sp>
        <p:nvSpPr>
          <p:cNvPr id="52" name="Text 49"/>
          <p:cNvSpPr txBox="1"/>
          <p:nvPr/>
        </p:nvSpPr>
        <p:spPr>
          <a:xfrm>
            <a:off x="7571232" y="510235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tan-kha-fiḍ da-ra-jat al-ḥa-rā-ra</a:t>
            </a:r>
            <a:endParaRPr lang="en-US" sz="950" dirty="0"/>
          </a:p>
        </p:txBody>
      </p:sp>
      <p:sp>
        <p:nvSpPr>
          <p:cNvPr id="53" name="Text 50"/>
          <p:cNvSpPr txBox="1"/>
          <p:nvPr/>
        </p:nvSpPr>
        <p:spPr>
          <a:xfrm>
            <a:off x="4343400" y="482803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temperature falls</a:t>
            </a:r>
            <a:endParaRPr lang="en-US" sz="1100" dirty="0"/>
          </a:p>
        </p:txBody>
      </p:sp>
      <p:sp>
        <p:nvSpPr>
          <p:cNvPr id="54" name="Text 51"/>
          <p:cNvSpPr txBox="1"/>
          <p:nvPr/>
        </p:nvSpPr>
        <p:spPr>
          <a:xfrm>
            <a:off x="566928" y="4828032"/>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opposite of </a:t>
            </a:r>
            <a:pPr algn="l" indent="0" marL="0">
              <a:buNone/>
            </a:pPr>
            <a:r>
              <a:rPr lang="ar-SA" altLang="en-US" sz="1450" dirty="0">
                <a:solidFill>
                  <a:srgbClr val="5A6472"/>
                </a:solidFill>
                <a:latin typeface="Amiri" pitchFamily="2" charset="-78"/>
                <a:cs typeface="Amiri" pitchFamily="2" charset="-78"/>
              </a:rPr>
              <a:t>تَرْتَفِعُ</a:t>
            </a:r>
            <a:endParaRPr lang="en-US" sz="1100" dirty="0"/>
          </a:p>
        </p:txBody>
      </p:sp>
      <p:sp>
        <p:nvSpPr>
          <p:cNvPr id="55" name="Shape 52"/>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6" name="Text 53"/>
          <p:cNvSpPr txBox="1"/>
          <p:nvPr/>
        </p:nvSpPr>
        <p:spPr>
          <a:xfrm>
            <a:off x="7616952" y="535838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مِنَ المُتَوَقَّعِ أَنْ</a:t>
            </a:r>
            <a:endParaRPr lang="ar-SA" sz="1300" dirty="0"/>
          </a:p>
        </p:txBody>
      </p:sp>
      <p:sp>
        <p:nvSpPr>
          <p:cNvPr id="57" name="Text 54"/>
          <p:cNvSpPr txBox="1"/>
          <p:nvPr/>
        </p:nvSpPr>
        <p:spPr>
          <a:xfrm>
            <a:off x="7571232" y="561441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mi-na l-mu-ta-waq-qaʿ an</a:t>
            </a:r>
            <a:endParaRPr lang="en-US" sz="950" dirty="0"/>
          </a:p>
        </p:txBody>
      </p:sp>
      <p:sp>
        <p:nvSpPr>
          <p:cNvPr id="58" name="Text 55"/>
          <p:cNvSpPr txBox="1"/>
          <p:nvPr/>
        </p:nvSpPr>
        <p:spPr>
          <a:xfrm>
            <a:off x="4343400" y="534009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expected that</a:t>
            </a:r>
            <a:endParaRPr lang="en-US" sz="1100" dirty="0"/>
          </a:p>
        </p:txBody>
      </p:sp>
      <p:sp>
        <p:nvSpPr>
          <p:cNvPr id="59" name="Text 56"/>
          <p:cNvSpPr txBox="1"/>
          <p:nvPr/>
        </p:nvSpPr>
        <p:spPr>
          <a:xfrm>
            <a:off x="566928" y="5340096"/>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Stretch: + subjunctive verb</a:t>
            </a:r>
            <a:endParaRPr lang="en-US" sz="1100" dirty="0"/>
          </a:p>
        </p:txBody>
      </p:sp>
      <p:sp>
        <p:nvSpPr>
          <p:cNvPr id="60" name="Shape 5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1" name="Text 58"/>
          <p:cNvSpPr txBox="1"/>
          <p:nvPr/>
        </p:nvSpPr>
        <p:spPr>
          <a:xfrm>
            <a:off x="7616952" y="587044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النَّشْرَةُ الجَوِّيَّةُ</a:t>
            </a:r>
            <a:endParaRPr lang="ar-SA" sz="1300" dirty="0"/>
          </a:p>
        </p:txBody>
      </p:sp>
      <p:sp>
        <p:nvSpPr>
          <p:cNvPr id="62" name="Text 59"/>
          <p:cNvSpPr txBox="1"/>
          <p:nvPr/>
        </p:nvSpPr>
        <p:spPr>
          <a:xfrm>
            <a:off x="7571232" y="612648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an-nash-ra l-jaw-wiy-ya</a:t>
            </a:r>
            <a:endParaRPr lang="en-US" sz="950" dirty="0"/>
          </a:p>
        </p:txBody>
      </p:sp>
      <p:sp>
        <p:nvSpPr>
          <p:cNvPr id="63" name="Text 60"/>
          <p:cNvSpPr txBox="1"/>
          <p:nvPr/>
        </p:nvSpPr>
        <p:spPr>
          <a:xfrm>
            <a:off x="4343400" y="585216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forecast</a:t>
            </a:r>
            <a:endParaRPr lang="en-US" sz="1100" dirty="0"/>
          </a:p>
        </p:txBody>
      </p:sp>
      <p:sp>
        <p:nvSpPr>
          <p:cNvPr id="64" name="Text 61"/>
          <p:cNvSpPr txBox="1"/>
          <p:nvPr/>
        </p:nvSpPr>
        <p:spPr>
          <a:xfrm>
            <a:off x="566928" y="585216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جَوِّيَّة</a:t>
            </a:r>
            <a:pPr algn="l" indent="0" marL="0">
              <a:buNone/>
            </a:pPr>
            <a:r>
              <a:rPr lang="en-US" sz="1100" i="1" dirty="0">
                <a:solidFill>
                  <a:srgbClr val="5A6472"/>
                </a:solidFill>
                <a:latin typeface="Calibri" pitchFamily="34" charset="0"/>
                <a:cs typeface="Amiri" pitchFamily="2" charset="-78"/>
              </a:rPr>
              <a:t> — a nisba again!</a:t>
            </a:r>
            <a:endParaRPr lang="en-US" sz="11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5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Comparing and measuring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المُقَارَنَةُ وَالقِيَاسُ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comparison</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 حَرَارَةً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hotter than</a:t>
            </a:r>
            <a:endParaRPr lang="en-US" sz="1350" dirty="0"/>
          </a:p>
          <a:p>
            <a:pPr indent="0" marL="0">
              <a:buNone/>
            </a:pPr>
            <a:r>
              <a:rPr lang="en-US" sz="1100" i="1" dirty="0">
                <a:solidFill>
                  <a:srgbClr val="5A6472"/>
                </a:solidFill>
                <a:latin typeface="Calibri" pitchFamily="34" charset="0"/>
                <a:cs typeface="Amiri" pitchFamily="2" charset="-78"/>
              </a:rPr>
              <a:t>ak-tha-ru ḥa-rā-ra-tan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comparison</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أَقَلُّ رُطُوبَةً 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humid than</a:t>
            </a:r>
            <a:endParaRPr lang="en-US" sz="1350" dirty="0"/>
          </a:p>
          <a:p>
            <a:pPr indent="0" marL="0">
              <a:buNone/>
            </a:pPr>
            <a:r>
              <a:rPr lang="en-US" sz="1100" i="1" dirty="0">
                <a:solidFill>
                  <a:srgbClr val="5A6472"/>
                </a:solidFill>
                <a:latin typeface="Calibri" pitchFamily="34" charset="0"/>
                <a:cs typeface="Amiri" pitchFamily="2" charset="-78"/>
              </a:rPr>
              <a:t>a-qal-lu ru-ṭū-ba-tan min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measurement</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دَرَجَةٌ مِئَوِيَّةٌ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degree Celsius</a:t>
            </a:r>
            <a:endParaRPr lang="en-US" sz="1350" dirty="0"/>
          </a:p>
          <a:p>
            <a:pPr indent="0" marL="0">
              <a:buNone/>
            </a:pPr>
            <a:r>
              <a:rPr lang="en-US" sz="1100" i="1" dirty="0">
                <a:solidFill>
                  <a:srgbClr val="5A6472"/>
                </a:solidFill>
                <a:latin typeface="Calibri" pitchFamily="34" charset="0"/>
                <a:cs typeface="Amiri" pitchFamily="2" charset="-78"/>
              </a:rPr>
              <a:t>da-ra-ja mi-ʾa-wiy-ya</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8" name="Text 3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دَرَجَةٌ</a:t>
            </a:r>
            <a:endParaRPr lang="ar-SA" sz="150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دَرَجَاتٌ</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measurement</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الحَدُّ الأَقْصَى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maximum</a:t>
            </a:r>
            <a:endParaRPr lang="en-US" sz="1350" dirty="0"/>
          </a:p>
          <a:p>
            <a:pPr indent="0" marL="0">
              <a:buNone/>
            </a:pPr>
            <a:r>
              <a:rPr lang="en-US" sz="1100" i="1" dirty="0">
                <a:solidFill>
                  <a:srgbClr val="5A6472"/>
                </a:solidFill>
                <a:latin typeface="Calibri" pitchFamily="34" charset="0"/>
                <a:cs typeface="Amiri" pitchFamily="2" charset="-78"/>
              </a:rPr>
              <a:t>al-ḥadd al-aq-ṣā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measurement</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الحَدُّ الأَدْنَى</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minimum</a:t>
            </a:r>
            <a:endParaRPr lang="en-US" sz="1350" dirty="0"/>
          </a:p>
          <a:p>
            <a:pPr indent="0" marL="0">
              <a:buNone/>
            </a:pPr>
            <a:r>
              <a:rPr lang="en-US" sz="1100" i="1" dirty="0">
                <a:solidFill>
                  <a:srgbClr val="5A6472"/>
                </a:solidFill>
                <a:latin typeface="Calibri" pitchFamily="34" charset="0"/>
                <a:cs typeface="Amiri" pitchFamily="2" charset="-78"/>
              </a:rPr>
              <a:t>al-ḥadd al-ad-nā</a:t>
            </a:r>
            <a:endParaRPr lang="en-US" sz="1350" dirty="0"/>
          </a:p>
        </p:txBody>
      </p:sp>
      <p:sp>
        <p:nvSpPr>
          <p:cNvPr id="56" name="Shape 5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66928"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9" name="Shape 5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تَتَرَاوَحُ بَيْنَ … وَ …</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ranges between … and …</a:t>
            </a:r>
            <a:endParaRPr lang="en-US" sz="1350" dirty="0"/>
          </a:p>
          <a:p>
            <a:pPr indent="0" marL="0">
              <a:buNone/>
            </a:pPr>
            <a:r>
              <a:rPr lang="en-US" sz="1100" i="1" dirty="0">
                <a:solidFill>
                  <a:srgbClr val="5A6472"/>
                </a:solidFill>
                <a:latin typeface="Calibri" pitchFamily="34" charset="0"/>
                <a:cs typeface="Amiri" pitchFamily="2" charset="-78"/>
              </a:rPr>
              <a:t>ta-ta-rā-wa-ḥu bay-na … wa …</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6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weather words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الضَّبَابُ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fog</a:t>
            </a:r>
            <a:endParaRPr lang="en-US" sz="1350" dirty="0"/>
          </a:p>
          <a:p>
            <a:pPr indent="0" marL="0">
              <a:buNone/>
            </a:pPr>
            <a:r>
              <a:rPr lang="en-US" sz="1100" i="1" dirty="0">
                <a:solidFill>
                  <a:srgbClr val="5A6472"/>
                </a:solidFill>
                <a:latin typeface="Calibri" pitchFamily="34" charset="0"/>
                <a:cs typeface="Amiri" pitchFamily="2" charset="-78"/>
              </a:rPr>
              <a:t>aḍ-ḍa-bāb</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الرَّعْدُ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thunder</a:t>
            </a:r>
            <a:endParaRPr lang="en-US" sz="1350" dirty="0"/>
          </a:p>
          <a:p>
            <a:pPr indent="0" marL="0">
              <a:buNone/>
            </a:pPr>
            <a:r>
              <a:rPr lang="en-US" sz="1100" i="1" dirty="0">
                <a:solidFill>
                  <a:srgbClr val="5A6472"/>
                </a:solidFill>
                <a:latin typeface="Calibri" pitchFamily="34" charset="0"/>
                <a:cs typeface="Amiri" pitchFamily="2" charset="-78"/>
              </a:rPr>
              <a:t>ar-raʿd</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البَرْقُ</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lightning</a:t>
            </a:r>
            <a:endParaRPr lang="en-US" sz="1350" dirty="0"/>
          </a:p>
          <a:p>
            <a:pPr indent="0" marL="0">
              <a:buNone/>
            </a:pPr>
            <a:r>
              <a:rPr lang="en-US" sz="1100" i="1" dirty="0">
                <a:solidFill>
                  <a:srgbClr val="5A6472"/>
                </a:solidFill>
                <a:latin typeface="Calibri" pitchFamily="34" charset="0"/>
                <a:cs typeface="Amiri" pitchFamily="2" charset="-78"/>
              </a:rPr>
              <a:t>al-barq</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Urdu: </a:t>
            </a:r>
            <a:pPr algn="l" indent="0" marL="0">
              <a:buNone/>
            </a:pPr>
            <a:r>
              <a:rPr lang="ar-SA" altLang="en-US" sz="1300" dirty="0">
                <a:solidFill>
                  <a:srgbClr val="8A6D1E"/>
                </a:solidFill>
                <a:latin typeface="Amiri" pitchFamily="2" charset="-78"/>
                <a:cs typeface="Amiri" pitchFamily="2" charset="-78"/>
              </a:rPr>
              <a:t>برق</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الرُّطُوبَةُ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humidity</a:t>
            </a:r>
            <a:endParaRPr lang="en-US" sz="1350" dirty="0"/>
          </a:p>
          <a:p>
            <a:pPr indent="0" marL="0">
              <a:buNone/>
            </a:pPr>
            <a:r>
              <a:rPr lang="en-US" sz="1100" i="1" dirty="0">
                <a:solidFill>
                  <a:srgbClr val="5A6472"/>
                </a:solidFill>
                <a:latin typeface="Calibri" pitchFamily="34" charset="0"/>
                <a:cs typeface="Amiri" pitchFamily="2" charset="-78"/>
              </a:rPr>
              <a:t>ar-ru-ṭū-ba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Urdu: </a:t>
            </a:r>
            <a:pPr algn="l" indent="0" marL="0">
              <a:buNone/>
            </a:pPr>
            <a:r>
              <a:rPr lang="ar-SA" altLang="en-US" sz="1300" dirty="0">
                <a:solidFill>
                  <a:srgbClr val="8A6D1E"/>
                </a:solidFill>
                <a:latin typeface="Amiri" pitchFamily="2" charset="-78"/>
                <a:cs typeface="Amiri" pitchFamily="2" charset="-78"/>
              </a:rPr>
              <a:t>رطوبت</a:t>
            </a:r>
            <a:endParaRPr lang="en-US" sz="10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WEATHER IS THE SUBJECT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weather verb like a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فِعْلُ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2" charset="-78"/>
                <a:cs typeface="Amiri" pitchFamily="2" charset="-78"/>
              </a:rPr>
              <a:t>تَ</a:t>
            </a:r>
            <a:pPr rtl="1" algn="ctr" indent="0" marL="0">
              <a:buNone/>
            </a:pPr>
            <a:r>
              <a:rPr lang="ar-SA" altLang="en-US" sz="7200" b="1" dirty="0">
                <a:solidFill>
                  <a:srgbClr val="7B3FA0"/>
                </a:solidFill>
                <a:latin typeface="Amiri" pitchFamily="2" charset="-78"/>
                <a:cs typeface="Amiri" pitchFamily="2" charset="-78"/>
              </a:rPr>
              <a:t>هُبُّ</a:t>
            </a:r>
            <a:pPr rtl="1" algn="ctr" indent="0" marL="0">
              <a:buNone/>
            </a:pPr>
            <a:r>
              <a:rPr lang="ar-SA" altLang="en-US" sz="7200" b="1" dirty="0">
                <a:solidFill>
                  <a:srgbClr val="1B3B6F"/>
                </a:solidFill>
                <a:latin typeface="Amiri" pitchFamily="2" charset="-78"/>
                <a:cs typeface="Amiri" pitchFamily="2" charset="-78"/>
              </a:rPr>
              <a:t> الرِّيَاحُ</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ta-hubb ar-ri-yāḥ · the winds blow</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2" charset="-78"/>
                <a:cs typeface="Amiri" pitchFamily="2" charset="-78"/>
              </a:rPr>
              <a:t>الرِّيَاحُ</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cs typeface="Amiri" pitchFamily="2" charset="-78"/>
              </a:rPr>
              <a:t>WEATHER = the subject</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Name the weather. </a:t>
            </a:r>
            <a:pPr algn="l" indent="0" marL="0">
              <a:buNone/>
            </a:pPr>
            <a:r>
              <a:rPr lang="ar-SA" altLang="en-US" sz="1500" dirty="0">
                <a:solidFill>
                  <a:srgbClr val="5A6472"/>
                </a:solidFill>
                <a:latin typeface="Amiri" pitchFamily="2" charset="-78"/>
                <a:cs typeface="Amiri" pitchFamily="2" charset="-78"/>
              </a:rPr>
              <a:t>الرِّيَاح</a:t>
            </a:r>
            <a:pPr algn="l" indent="0" marL="0">
              <a:buNone/>
            </a:pPr>
            <a:r>
              <a:rPr lang="en-US" sz="1150" dirty="0">
                <a:solidFill>
                  <a:srgbClr val="5A6472"/>
                </a:solidFill>
                <a:latin typeface="Calibri" pitchFamily="34" charset="0"/>
                <a:cs typeface="Amiri" pitchFamily="2" charset="-78"/>
              </a:rPr>
              <a:t> (winds) is treated as feminine.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cs typeface="Amiri" pitchFamily="2" charset="-78"/>
              </a:rPr>
              <a:t>هُبُّ</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rest of the verb carries the meaning: blow.</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2" charset="-78"/>
                <a:cs typeface="Amiri" pitchFamily="2" charset="-78"/>
              </a:rPr>
              <a:t>تَـ / يَـ</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cs typeface="Amiri" pitchFamily="2" charset="-78"/>
              </a:rPr>
              <a:t>WHO? the first letter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Feminine weather → </a:t>
            </a:r>
            <a:pPr algn="l" indent="0" marL="0">
              <a:buNone/>
            </a:pPr>
            <a:r>
              <a:rPr lang="ar-SA" altLang="en-US" sz="1500" dirty="0">
                <a:solidFill>
                  <a:srgbClr val="5A6472"/>
                </a:solidFill>
                <a:latin typeface="Amiri" pitchFamily="2" charset="-78"/>
                <a:cs typeface="Amiri" pitchFamily="2" charset="-78"/>
              </a:rPr>
              <a:t>تَـ</a:t>
            </a:r>
            <a:pPr algn="l" indent="0" marL="0">
              <a:buNone/>
            </a:pPr>
            <a:r>
              <a:rPr lang="en-US" sz="1150" dirty="0">
                <a:solidFill>
                  <a:srgbClr val="5A6472"/>
                </a:solidFill>
                <a:latin typeface="Calibri" pitchFamily="34" charset="0"/>
                <a:cs typeface="Amiri" pitchFamily="2" charset="-78"/>
              </a:rPr>
              <a:t>. Masculine </a:t>
            </a:r>
            <a:pPr algn="l" indent="0" marL="0">
              <a:buNone/>
            </a:pPr>
            <a:r>
              <a:rPr lang="ar-SA" altLang="en-US" sz="1500" dirty="0">
                <a:solidFill>
                  <a:srgbClr val="5A6472"/>
                </a:solidFill>
                <a:latin typeface="Amiri" pitchFamily="2" charset="-78"/>
                <a:cs typeface="Amiri" pitchFamily="2" charset="-78"/>
              </a:rPr>
              <a:t>المَطَرُ</a:t>
            </a:r>
            <a:pPr algn="l" indent="0" marL="0">
              <a:buNone/>
            </a:pPr>
            <a:r>
              <a:rPr lang="en-US" sz="1150" dirty="0">
                <a:solidFill>
                  <a:srgbClr val="5A6472"/>
                </a:solidFill>
                <a:latin typeface="Calibri" pitchFamily="34" charset="0"/>
                <a:cs typeface="Amiri" pitchFamily="2" charset="-78"/>
              </a:rPr>
              <a:t> → </a:t>
            </a:r>
            <a:pPr algn="l" indent="0" marL="0">
              <a:buNone/>
            </a:pPr>
            <a:r>
              <a:rPr lang="ar-SA" altLang="en-US" sz="1500" dirty="0">
                <a:solidFill>
                  <a:srgbClr val="5A6472"/>
                </a:solidFill>
                <a:latin typeface="Amiri" pitchFamily="2" charset="-78"/>
                <a:cs typeface="Amiri" pitchFamily="2" charset="-78"/>
              </a:rPr>
              <a:t>يَـ</a:t>
            </a:r>
            <a:pPr algn="l" indent="0" marL="0">
              <a:buNone/>
            </a:pPr>
            <a:r>
              <a:rPr lang="en-US" sz="1150" dirty="0">
                <a:solidFill>
                  <a:srgbClr val="5A6472"/>
                </a:solidFill>
                <a:latin typeface="Calibri" pitchFamily="34" charset="0"/>
                <a:cs typeface="Amiri" pitchFamily="2" charset="-78"/>
              </a:rPr>
              <a:t>: </a:t>
            </a:r>
            <a:pPr algn="l" indent="0" marL="0">
              <a:buNone/>
            </a:pPr>
            <a:r>
              <a:rPr lang="ar-SA" altLang="en-US" sz="1500" dirty="0">
                <a:solidFill>
                  <a:srgbClr val="5A6472"/>
                </a:solidFill>
                <a:latin typeface="Amiri" pitchFamily="2" charset="-78"/>
                <a:cs typeface="Amiri" pitchFamily="2" charset="-78"/>
              </a:rPr>
              <a:t>يَسْقُطُ المَطَرُ</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MATCH THE VERB TO THE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One verb start, five weather words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الفِعْلُ يُطَابِقُ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Weather word</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Verb</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المَطَرُ</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rain (m.)</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2" charset="-78"/>
                <a:cs typeface="Amiri" pitchFamily="2" charset="-78"/>
              </a:rPr>
              <a:t>يَ</a:t>
            </a:r>
            <a:pPr rtl="1" algn="ctr" indent="0" marL="0">
              <a:buNone/>
            </a:pPr>
            <a:r>
              <a:rPr lang="ar-SA" altLang="en-US" sz="3000" b="1" dirty="0">
                <a:solidFill>
                  <a:srgbClr val="7B3FA0"/>
                </a:solidFill>
                <a:latin typeface="Amiri" pitchFamily="2" charset="-78"/>
                <a:cs typeface="Amiri" pitchFamily="2" charset="-78"/>
              </a:rPr>
              <a:t>سْقُطُ</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cs typeface="Amiri" pitchFamily="2" charset="-78"/>
              </a:rPr>
              <a:t>يَ</a:t>
            </a:r>
            <a:pPr rtl="1" algn="r" indent="0" marL="0">
              <a:buNone/>
            </a:pPr>
            <a:r>
              <a:rPr lang="ar-SA" altLang="en-US" sz="2000" dirty="0">
                <a:solidFill>
                  <a:srgbClr val="1F2A37"/>
                </a:solidFill>
                <a:latin typeface="Amiri" pitchFamily="2" charset="-78"/>
                <a:cs typeface="Amiri" pitchFamily="2" charset="-78"/>
              </a:rPr>
              <a:t>سْقُطُ المَطَرُ غَزِيرًا.</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It rains heavily.</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الثُّلُوجُ</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snow (f.)</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2" charset="-78"/>
                <a:cs typeface="Amiri" pitchFamily="2" charset="-78"/>
              </a:rPr>
              <a:t>تَ</a:t>
            </a:r>
            <a:pPr rtl="1" algn="ctr" indent="0" marL="0">
              <a:buNone/>
            </a:pPr>
            <a:r>
              <a:rPr lang="ar-SA" altLang="en-US" sz="3000" b="1" dirty="0">
                <a:solidFill>
                  <a:srgbClr val="7B3FA0"/>
                </a:solidFill>
                <a:latin typeface="Amiri" pitchFamily="2" charset="-78"/>
                <a:cs typeface="Amiri" pitchFamily="2" charset="-78"/>
              </a:rPr>
              <a:t>سْقُطُ</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cs typeface="Amiri" pitchFamily="2" charset="-78"/>
              </a:rPr>
              <a:t>تَ</a:t>
            </a:r>
            <a:pPr rtl="1" algn="r" indent="0" marL="0">
              <a:buNone/>
            </a:pPr>
            <a:r>
              <a:rPr lang="ar-SA" altLang="en-US" sz="2000" dirty="0">
                <a:solidFill>
                  <a:srgbClr val="1F2A37"/>
                </a:solidFill>
                <a:latin typeface="Amiri" pitchFamily="2" charset="-78"/>
                <a:cs typeface="Amiri" pitchFamily="2" charset="-78"/>
              </a:rPr>
              <a:t>سْقُطُ الثُّلُوجُ فِي الشِّتَاءِ.</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Snow falls in winter.</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الرِّيَاحُ</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winds (f.)</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2" charset="-78"/>
                <a:cs typeface="Amiri" pitchFamily="2" charset="-78"/>
              </a:rPr>
              <a:t>تَ</a:t>
            </a:r>
            <a:pPr rtl="1" algn="ctr" indent="0" marL="0">
              <a:buNone/>
            </a:pPr>
            <a:r>
              <a:rPr lang="ar-SA" altLang="en-US" sz="3000" b="1" dirty="0">
                <a:solidFill>
                  <a:srgbClr val="7B3FA0"/>
                </a:solidFill>
                <a:latin typeface="Amiri" pitchFamily="2" charset="-78"/>
                <a:cs typeface="Amiri" pitchFamily="2" charset="-78"/>
              </a:rPr>
              <a:t>هُبُّ</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cs typeface="Amiri" pitchFamily="2" charset="-78"/>
              </a:rPr>
              <a:t>تَ</a:t>
            </a:r>
            <a:pPr rtl="1" algn="r" indent="0" marL="0">
              <a:buNone/>
            </a:pPr>
            <a:r>
              <a:rPr lang="ar-SA" altLang="en-US" sz="2000" dirty="0">
                <a:solidFill>
                  <a:srgbClr val="1F2A37"/>
                </a:solidFill>
                <a:latin typeface="Amiri" pitchFamily="2" charset="-78"/>
                <a:cs typeface="Amiri" pitchFamily="2" charset="-78"/>
              </a:rPr>
              <a:t>هُبُّ الرِّيَاحُ بِقُوَّةٍ.</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winds blow strongly.</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الشَّمْسُ</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sun (f.)</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2" charset="-78"/>
                <a:cs typeface="Amiri" pitchFamily="2" charset="-78"/>
              </a:rPr>
              <a:t>تُ</a:t>
            </a:r>
            <a:pPr rtl="1" algn="ctr" indent="0" marL="0">
              <a:buNone/>
            </a:pPr>
            <a:r>
              <a:rPr lang="ar-SA" altLang="en-US" sz="3000" b="1" dirty="0">
                <a:solidFill>
                  <a:srgbClr val="7B3FA0"/>
                </a:solidFill>
                <a:latin typeface="Amiri" pitchFamily="2" charset="-78"/>
                <a:cs typeface="Amiri" pitchFamily="2" charset="-78"/>
              </a:rPr>
              <a:t>شْرِقُ</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فِي القَاهِرَةِ سَ</a:t>
            </a:r>
            <a:pPr rtl="1" algn="r" indent="0" marL="0">
              <a:buNone/>
            </a:pPr>
            <a:r>
              <a:rPr lang="ar-SA" altLang="en-US" sz="2000" dirty="0">
                <a:solidFill>
                  <a:srgbClr val="1D5FBF"/>
                </a:solidFill>
                <a:latin typeface="Amiri" pitchFamily="2" charset="-78"/>
                <a:cs typeface="Amiri" pitchFamily="2" charset="-78"/>
              </a:rPr>
              <a:t>تُ</a:t>
            </a:r>
            <a:pPr rtl="1" algn="r" indent="0" marL="0">
              <a:buNone/>
            </a:pPr>
            <a:r>
              <a:rPr lang="ar-SA" altLang="en-US" sz="2000" dirty="0">
                <a:solidFill>
                  <a:srgbClr val="1F2A37"/>
                </a:solidFill>
                <a:latin typeface="Amiri" pitchFamily="2" charset="-78"/>
                <a:cs typeface="Amiri" pitchFamily="2" charset="-78"/>
              </a:rPr>
              <a:t>شْرِقُ الشَّمْسُ.</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Cairo the sun will shine.</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دَرَجَةُ الحَرَارَةِ</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temperature (f.)</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2" charset="-78"/>
                <a:cs typeface="Amiri" pitchFamily="2" charset="-78"/>
              </a:rPr>
              <a:t>تَ</a:t>
            </a:r>
            <a:pPr rtl="1" algn="ctr" indent="0" marL="0">
              <a:buNone/>
            </a:pPr>
            <a:r>
              <a:rPr lang="ar-SA" altLang="en-US" sz="3000" b="1" dirty="0">
                <a:solidFill>
                  <a:srgbClr val="7B3FA0"/>
                </a:solidFill>
                <a:latin typeface="Amiri" pitchFamily="2" charset="-78"/>
                <a:cs typeface="Amiri" pitchFamily="2" charset="-78"/>
              </a:rPr>
              <a:t>رْتَفِعُ</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cs typeface="Amiri" pitchFamily="2" charset="-78"/>
              </a:rPr>
              <a:t>تَ</a:t>
            </a:r>
            <a:pPr rtl="1" algn="r" indent="0" marL="0">
              <a:buNone/>
            </a:pPr>
            <a:r>
              <a:rPr lang="ar-SA" altLang="en-US" sz="2000" dirty="0">
                <a:solidFill>
                  <a:srgbClr val="1F2A37"/>
                </a:solidFill>
                <a:latin typeface="Amiri" pitchFamily="2" charset="-78"/>
                <a:cs typeface="Amiri" pitchFamily="2" charset="-78"/>
              </a:rPr>
              <a:t>رْتَفِعُ دَرَجَةُ الحَرَارَةِ إِلَى ثَلَاثِينَ دَرَجَةً.</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temperature rises to thirty degrees.</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WEBSITE RULE “COMPARING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Compare two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المَكَانُ</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place</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أَكْثَرُ / أَقَلُّ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more / less + noun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مِنْ</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than + place</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Cairo is hotter than London.</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القَاهِرَةُ</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أَكْثَرُ</a:t>
            </a:r>
            <a:pPr rtl="1" algn="ctr" indent="0" marL="0">
              <a:buNone/>
            </a:pPr>
            <a:r>
              <a:rPr lang="ar-SA" altLang="en-US" sz="2400" b="1" dirty="0">
                <a:solidFill>
                  <a:srgbClr val="1B3B6F"/>
                </a:solidFill>
                <a:latin typeface="Amiri" pitchFamily="2" charset="-78"/>
                <a:cs typeface="Amiri" pitchFamily="2" charset="-78"/>
              </a:rPr>
              <a:t> حَرَارَةً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 لَنْدَنَ.</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Amman is colder than Dubai.</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عَمَّانُ</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أَكْثَرُ</a:t>
            </a:r>
            <a:pPr rtl="1" algn="ctr" indent="0" marL="0">
              <a:buNone/>
            </a:pPr>
            <a:r>
              <a:rPr lang="ar-SA" altLang="en-US" sz="2400" b="1" dirty="0">
                <a:solidFill>
                  <a:srgbClr val="1B3B6F"/>
                </a:solidFill>
                <a:latin typeface="Amiri" pitchFamily="2" charset="-78"/>
                <a:cs typeface="Amiri" pitchFamily="2" charset="-78"/>
              </a:rPr>
              <a:t> بُرُودَةً</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 دُبَيَّ.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Jeddah is more humid than Riyadh.</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أَكْثَرُ</a:t>
            </a:r>
            <a:pPr rtl="1" algn="ctr" indent="0" marL="0">
              <a:buNone/>
            </a:pPr>
            <a:r>
              <a:rPr lang="ar-SA" altLang="en-US" sz="2400" b="1" dirty="0">
                <a:solidFill>
                  <a:srgbClr val="1B3B6F"/>
                </a:solidFill>
                <a:latin typeface="Amiri" pitchFamily="2" charset="-78"/>
                <a:cs typeface="Amiri" pitchFamily="2" charset="-78"/>
              </a:rPr>
              <a:t> رُطُوبَةً</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 الرِّيَاضِ.</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interior is less humid than the coast.</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الدَّاخِلُ</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أَقَلُّ</a:t>
            </a:r>
            <a:pPr rtl="1" algn="ctr" indent="0" marL="0">
              <a:buNone/>
            </a:pPr>
            <a:r>
              <a:rPr lang="ar-SA" altLang="en-US" sz="2400" b="1" dirty="0">
                <a:solidFill>
                  <a:srgbClr val="1B3B6F"/>
                </a:solidFill>
                <a:latin typeface="Amiri" pitchFamily="2" charset="-78"/>
                <a:cs typeface="Amiri" pitchFamily="2" charset="-78"/>
              </a:rPr>
              <a:t> رُطُوبَةً</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 السَّاحِلِ.</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Not </a:t>
            </a:r>
            <a:pPr algn="l" indent="0" marL="0">
              <a:buNone/>
            </a:pPr>
            <a:r>
              <a:rPr lang="ar-SA" altLang="en-US" sz="1550" b="1" dirty="0">
                <a:solidFill>
                  <a:srgbClr val="8A6D1E"/>
                </a:solidFill>
                <a:latin typeface="Amiri" pitchFamily="2" charset="-78"/>
                <a:cs typeface="Amiri" pitchFamily="2" charset="-78"/>
              </a:rPr>
              <a:t>أَكْثَرُ حَارٌّ</a:t>
            </a:r>
            <a:pPr algn="l" indent="0" marL="0">
              <a:buNone/>
            </a:pPr>
            <a:r>
              <a:rPr lang="en-US" sz="1200" b="1" dirty="0">
                <a:solidFill>
                  <a:srgbClr val="8A6D1E"/>
                </a:solidFill>
                <a:latin typeface="Calibri" pitchFamily="34" charset="0"/>
                <a:cs typeface="Amiri" pitchFamily="2" charset="-78"/>
              </a:rPr>
              <a:t> ✗. Use </a:t>
            </a:r>
            <a:pPr algn="l" indent="0" marL="0">
              <a:buNone/>
            </a:pPr>
            <a:r>
              <a:rPr lang="ar-SA" altLang="en-US" sz="1550" b="1" dirty="0">
                <a:solidFill>
                  <a:srgbClr val="8A6D1E"/>
                </a:solidFill>
                <a:latin typeface="Amiri" pitchFamily="2" charset="-78"/>
                <a:cs typeface="Amiri" pitchFamily="2" charset="-78"/>
              </a:rPr>
              <a:t>أَكْثَرُ / أَقَلُّ</a:t>
            </a:r>
            <a:pPr algn="l" indent="0" marL="0">
              <a:buNone/>
            </a:pPr>
            <a:r>
              <a:rPr lang="en-US" sz="1200" b="1" dirty="0">
                <a:solidFill>
                  <a:srgbClr val="8A6D1E"/>
                </a:solidFill>
                <a:latin typeface="Calibri" pitchFamily="34" charset="0"/>
                <a:cs typeface="Amiri" pitchFamily="2" charset="-78"/>
              </a:rPr>
              <a:t> + a noun ending in </a:t>
            </a:r>
            <a:pPr algn="l" indent="0" marL="0">
              <a:buNone/>
            </a:pPr>
            <a:r>
              <a:rPr lang="ar-SA" altLang="en-US" sz="1550" b="1" dirty="0">
                <a:solidFill>
                  <a:srgbClr val="8A6D1E"/>
                </a:solidFill>
                <a:latin typeface="Amiri" pitchFamily="2" charset="-78"/>
                <a:cs typeface="Amiri" pitchFamily="2" charset="-78"/>
              </a:rPr>
              <a:t>ـًا</a:t>
            </a:r>
            <a:pPr algn="l" indent="0" marL="0">
              <a:buNone/>
            </a:pPr>
            <a:r>
              <a:rPr lang="en-US" sz="1200" b="1" dirty="0">
                <a:solidFill>
                  <a:srgbClr val="8A6D1E"/>
                </a:solidFill>
                <a:latin typeface="Calibri" pitchFamily="34" charset="0"/>
                <a:cs typeface="Amiri" pitchFamily="2" charset="-78"/>
              </a:rPr>
              <a:t>: </a:t>
            </a:r>
            <a:pPr algn="l" indent="0" marL="0">
              <a:buNone/>
            </a:pPr>
            <a:r>
              <a:rPr lang="ar-SA" altLang="en-US" sz="1550" b="1" dirty="0">
                <a:solidFill>
                  <a:srgbClr val="8A6D1E"/>
                </a:solidFill>
                <a:latin typeface="Amiri" pitchFamily="2" charset="-78"/>
                <a:cs typeface="Amiri" pitchFamily="2" charset="-78"/>
              </a:rPr>
              <a:t>حَرَارَةً</a:t>
            </a:r>
            <a:pPr algn="l" indent="0" marL="0">
              <a:buNone/>
            </a:pPr>
            <a:r>
              <a:rPr lang="en-US" sz="1200" b="1" dirty="0">
                <a:solidFill>
                  <a:srgbClr val="8A6D1E"/>
                </a:solidFill>
                <a:latin typeface="Calibri" pitchFamily="34" charset="0"/>
                <a:cs typeface="Amiri" pitchFamily="2" charset="-78"/>
              </a:rPr>
              <a:t> · </a:t>
            </a:r>
            <a:pPr algn="l" indent="0" marL="0">
              <a:buNone/>
            </a:pPr>
            <a:r>
              <a:rPr lang="ar-SA" altLang="en-US" sz="1550" b="1" dirty="0">
                <a:solidFill>
                  <a:srgbClr val="8A6D1E"/>
                </a:solidFill>
                <a:latin typeface="Amiri" pitchFamily="2" charset="-78"/>
                <a:cs typeface="Amiri" pitchFamily="2" charset="-78"/>
              </a:rPr>
              <a:t>بُرُودَةً</a:t>
            </a:r>
            <a:pPr algn="l" indent="0" marL="0">
              <a:buNone/>
            </a:pPr>
            <a:r>
              <a:rPr lang="en-US" sz="1200" b="1" dirty="0">
                <a:solidFill>
                  <a:srgbClr val="8A6D1E"/>
                </a:solidFill>
                <a:latin typeface="Calibri" pitchFamily="34" charset="0"/>
                <a:cs typeface="Amiri" pitchFamily="2" charset="-78"/>
              </a:rPr>
              <a:t> · </a:t>
            </a:r>
            <a:pPr algn="l" indent="0" marL="0">
              <a:buNone/>
            </a:pPr>
            <a:r>
              <a:rPr lang="ar-SA" altLang="en-US" sz="1550" b="1" dirty="0">
                <a:solidFill>
                  <a:srgbClr val="8A6D1E"/>
                </a:solidFill>
                <a:latin typeface="Amiri" pitchFamily="2" charset="-78"/>
                <a:cs typeface="Amiri" pitchFamily="2" charset="-78"/>
              </a:rPr>
              <a:t>رُطُوبَةً</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TIME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Now, tomorrow, expected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الأَزْمِنَةُ فِي النَّشْرَةِ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NOW · PRESENT</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يَسْقُطُ</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يَسْقُطُ المَطَرُ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raining / it rains.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present for today and for general facts: </a:t>
            </a:r>
            <a:pPr algn="l" indent="0" marL="0">
              <a:buNone/>
            </a:pPr>
            <a:r>
              <a:rPr lang="ar-SA" altLang="en-US" sz="1450" dirty="0">
                <a:solidFill>
                  <a:srgbClr val="1F2A37"/>
                </a:solidFill>
                <a:latin typeface="Amiri" pitchFamily="2" charset="-78"/>
                <a:cs typeface="Amiri" pitchFamily="2" charset="-78"/>
              </a:rPr>
              <a:t>تَسْقُطُ الثُّلُوجُ فِي الشِّتَاءِ</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 سَـ</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سَيَسْقُطُ</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سَيَسْقُطُ المَطَرُ صَبَاحًا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will rain in the morning.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Add </a:t>
            </a:r>
            <a:pPr algn="l" indent="0" marL="0">
              <a:buNone/>
            </a:pPr>
            <a:r>
              <a:rPr lang="ar-SA" altLang="en-US" sz="1450" dirty="0">
                <a:solidFill>
                  <a:srgbClr val="1F2A37"/>
                </a:solidFill>
                <a:latin typeface="Amiri" pitchFamily="2" charset="-78"/>
                <a:cs typeface="Amiri" pitchFamily="2" charset="-78"/>
              </a:rPr>
              <a:t>سَـ</a:t>
            </a:r>
            <a:pPr algn="l" indent="0" marL="0">
              <a:buNone/>
            </a:pPr>
            <a:r>
              <a:rPr lang="en-US" sz="1100" dirty="0">
                <a:solidFill>
                  <a:srgbClr val="1F2A37"/>
                </a:solidFill>
                <a:latin typeface="Calibri" pitchFamily="34" charset="0"/>
                <a:cs typeface="Amiri" pitchFamily="2" charset="-78"/>
              </a:rPr>
              <a:t> to the present verb: </a:t>
            </a:r>
            <a:pPr algn="l" indent="0" marL="0">
              <a:buNone/>
            </a:pPr>
            <a:r>
              <a:rPr lang="ar-SA" altLang="en-US" sz="1450" dirty="0">
                <a:solidFill>
                  <a:srgbClr val="1F2A37"/>
                </a:solidFill>
                <a:latin typeface="Amiri" pitchFamily="2" charset="-78"/>
                <a:cs typeface="Amiri" pitchFamily="2" charset="-78"/>
              </a:rPr>
              <a:t>سَتُشْرِقُ الشَّمْسُ</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FORECAST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 المُتَوَقَّعِ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مِنَ المُتَوَقَّعِ أَنْ تَنْخَفِضَ دَرَجَةُ الحَرَارَةِ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temperature is expected to fall.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a:t>
            </a:r>
            <a:pPr algn="l" indent="0" marL="0">
              <a:buNone/>
            </a:pPr>
            <a:r>
              <a:rPr lang="ar-SA" altLang="en-US" sz="1450" dirty="0">
                <a:solidFill>
                  <a:srgbClr val="1F2A37"/>
                </a:solidFill>
                <a:latin typeface="Amiri" pitchFamily="2" charset="-78"/>
                <a:cs typeface="Amiri" pitchFamily="2" charset="-78"/>
              </a:rPr>
              <a:t>أَنْ</a:t>
            </a:r>
            <a:pPr algn="l" indent="0" marL="0">
              <a:buNone/>
            </a:pPr>
            <a:r>
              <a:rPr lang="en-US" sz="1100" dirty="0">
                <a:solidFill>
                  <a:srgbClr val="1F2A37"/>
                </a:solidFill>
                <a:latin typeface="Calibri" pitchFamily="34" charset="0"/>
                <a:cs typeface="Amiri" pitchFamily="2" charset="-78"/>
              </a:rPr>
              <a:t> the verb ends in a fatḥa: </a:t>
            </a:r>
            <a:pPr algn="l" indent="0" marL="0">
              <a:buNone/>
            </a:pPr>
            <a:r>
              <a:rPr lang="ar-SA" altLang="en-US" sz="1450" dirty="0">
                <a:solidFill>
                  <a:srgbClr val="1F2A37"/>
                </a:solidFill>
                <a:latin typeface="Amiri" pitchFamily="2" charset="-78"/>
                <a:cs typeface="Amiri" pitchFamily="2" charset="-78"/>
              </a:rPr>
              <a:t>تَنْخَفِضَ</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Using </a:t>
            </a:r>
            <a:pPr algn="l" indent="0" marL="0">
              <a:buNone/>
            </a:pPr>
            <a:r>
              <a:rPr lang="ar-SA" altLang="en-US" sz="1500" dirty="0">
                <a:solidFill>
                  <a:srgbClr val="1F2A37"/>
                </a:solidFill>
                <a:latin typeface="Amiri" pitchFamily="2" charset="-78"/>
                <a:cs typeface="Amiri" pitchFamily="2" charset="-78"/>
              </a:rPr>
              <a:t>يَـ</a:t>
            </a:r>
            <a:pPr algn="l" indent="0" marL="0">
              <a:buNone/>
            </a:pPr>
            <a:r>
              <a:rPr lang="en-US" sz="1150" dirty="0">
                <a:solidFill>
                  <a:srgbClr val="1F2A37"/>
                </a:solidFill>
                <a:latin typeface="Calibri" pitchFamily="34" charset="0"/>
                <a:cs typeface="Amiri" pitchFamily="2" charset="-78"/>
              </a:rPr>
              <a:t> with a feminine weather word, or </a:t>
            </a:r>
            <a:pPr algn="l" indent="0" marL="0">
              <a:buNone/>
            </a:pPr>
            <a:r>
              <a:rPr lang="ar-SA" altLang="en-US" sz="1500" dirty="0">
                <a:solidFill>
                  <a:srgbClr val="1F2A37"/>
                </a:solidFill>
                <a:latin typeface="Amiri" pitchFamily="2" charset="-78"/>
                <a:cs typeface="Amiri" pitchFamily="2" charset="-78"/>
              </a:rPr>
              <a:t>أَكْثَرُ</a:t>
            </a:r>
            <a:pPr algn="l" indent="0" marL="0">
              <a:buNone/>
            </a:pPr>
            <a:r>
              <a:rPr lang="en-US" sz="1150" dirty="0">
                <a:solidFill>
                  <a:srgbClr val="1F2A37"/>
                </a:solidFill>
                <a:latin typeface="Calibri" pitchFamily="34" charset="0"/>
                <a:cs typeface="Amiri" pitchFamily="2" charset="-78"/>
              </a:rPr>
              <a:t> + an adjective.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تَسْقُطُ الثُّلُوجُ</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يَسْقُطُ الثُّلُوجُ</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أَكْثَرُ حَرَارَةً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أَكْثَرُ حَارٌّ</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Natural phenomena are grammatical subjects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verb + weather subject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يَسْقُطُ المَطَرُ.   ·   تَسْقُطُ الثُّلُوجُ.   ·   تَهُبُّ الرِّيَاحُ.</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Temperature changes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تَرْتَفِعُ / تَنْخَفِضُ دَرَجَةُ الحَرَارَةِ إِلَى</a:t>
            </a:r>
            <a:pPr algn="l" indent="0" marL="0">
              <a:buNone/>
            </a:pPr>
            <a:r>
              <a:rPr lang="en-US" sz="1050" dirty="0">
                <a:solidFill>
                  <a:srgbClr val="5A6472"/>
                </a:solidFill>
                <a:latin typeface="Calibri" pitchFamily="34" charset="0"/>
                <a:cs typeface="Amiri" pitchFamily="2" charset="-78"/>
              </a:rPr>
              <a:t> + number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تَرْتَفِعُ دَرَجَةُ الحَرَارَةِ إِلَى ثَلَاثِينَ دَرَجَةً.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Comparing weather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أَكْثَرُ / أَقَلُّ</a:t>
            </a:r>
            <a:pPr algn="l" indent="0" marL="0">
              <a:buNone/>
            </a:pPr>
            <a:r>
              <a:rPr lang="en-US" sz="1050" dirty="0">
                <a:solidFill>
                  <a:srgbClr val="5A6472"/>
                </a:solidFill>
                <a:latin typeface="Calibri" pitchFamily="34" charset="0"/>
                <a:cs typeface="Amiri" pitchFamily="2" charset="-78"/>
              </a:rPr>
              <a:t> + verbal noun + </a:t>
            </a:r>
            <a:pPr algn="l" indent="0" marL="0">
              <a:buNone/>
            </a:pPr>
            <a:r>
              <a:rPr lang="ar-SA" altLang="en-US" sz="1350" dirty="0">
                <a:solidFill>
                  <a:srgbClr val="5A6472"/>
                </a:solidFill>
                <a:latin typeface="Amiri" pitchFamily="2" charset="-78"/>
                <a:cs typeface="Amiri" pitchFamily="2" charset="-78"/>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القَاهِرَةُ أَكْثَرُ حَرَارَةً مِنْ لَنْدَنَ.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Forecasting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مِنَ المُتَوَقَّعِ أَنْ</a:t>
            </a:r>
            <a:pPr algn="l" indent="0" marL="0">
              <a:buNone/>
            </a:pPr>
            <a:r>
              <a:rPr lang="en-US" sz="1050" dirty="0">
                <a:solidFill>
                  <a:srgbClr val="5A6472"/>
                </a:solidFill>
                <a:latin typeface="Calibri" pitchFamily="34" charset="0"/>
                <a:cs typeface="Amiri" pitchFamily="2" charset="-78"/>
              </a:rPr>
              <a:t> + subjunctive present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مِنَ المُتَوَقَّعِ أَنْ تَنْخَفِضَ دَرَجَةُ الحَرَارَةِ لَيْلًا.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المَطَرُ غَزِيرًا.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يَسْقُطَ المَطَرَ غَزِيرًا.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يَسْقُطُ المَطَرُ غَزِيرًا.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snow.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الثُّلُوجُ فِي الشِّتَاءِ.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الثُّلُوجَ فِي الشِّتَاءِ.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يَسْقُطُ الثُّلُوجُ فِي الشِّتَاءِ.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الرِّيَاحُ بِقُوَّةٍ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تَهُبُّ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تَهُبَّ</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“Amman is colder than Dubai”?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عَمَّانُ أَكْثَرُ بُرُودَةً مِنْ دُبَيَّ.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عَمَّانُ أَقَلُّ بُرُودَةً إِلَى دُبَيَّ.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عَمَّانُ أَكْثَرُ بَارِدٌ مِنْ دُبَيَّ.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تَسْقُطُ المَطَرُ غَزِيرًا.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يَسْقُطَ المَطَرَ غَزِيرًا.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يَسْقُطُ المَطَرُ غَزِيرًا.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المطر</a:t>
            </a:r>
            <a:pPr algn="l" indent="0" marL="0">
              <a:buNone/>
            </a:pPr>
            <a:r>
              <a:rPr lang="en-US" sz="1050" i="1" dirty="0">
                <a:solidFill>
                  <a:srgbClr val="8A6D1E"/>
                </a:solidFill>
                <a:latin typeface="Calibri" pitchFamily="34" charset="0"/>
                <a:cs typeface="Amiri" pitchFamily="2" charset="-78"/>
              </a:rPr>
              <a:t> is masculine, so use </a:t>
            </a:r>
            <a:pPr algn="l" indent="0" marL="0">
              <a:buNone/>
            </a:pPr>
            <a:r>
              <a:rPr lang="ar-SA" altLang="en-US" sz="1350" dirty="0">
                <a:solidFill>
                  <a:srgbClr val="8A6D1E"/>
                </a:solidFill>
                <a:latin typeface="Amiri" pitchFamily="2" charset="-78"/>
                <a:cs typeface="Amiri" pitchFamily="2" charset="-78"/>
              </a:rPr>
              <a:t>يسقط</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snow.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تَسْقُطُ الثُّلُوجُ فِي الشِّتَاءِ.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تَسْقُطَ الثُّلُوجَ فِي الشِّتَاءِ.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يَسْقُطُ الثُّلُوجُ فِي الشِّتَاءِ.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الثلوج</a:t>
            </a:r>
            <a:pPr algn="l" indent="0" marL="0">
              <a:buNone/>
            </a:pPr>
            <a:r>
              <a:rPr lang="en-US" sz="1050" i="1" dirty="0">
                <a:solidFill>
                  <a:srgbClr val="8A6D1E"/>
                </a:solidFill>
                <a:latin typeface="Calibri" pitchFamily="34" charset="0"/>
                <a:cs typeface="Amiri" pitchFamily="2" charset="-78"/>
              </a:rPr>
              <a:t> is treated as feminine, so use </a:t>
            </a:r>
            <a:pPr algn="l" indent="0" marL="0">
              <a:buNone/>
            </a:pPr>
            <a:r>
              <a:rPr lang="ar-SA" altLang="en-US" sz="1350" dirty="0">
                <a:solidFill>
                  <a:srgbClr val="8A6D1E"/>
                </a:solidFill>
                <a:latin typeface="Amiri" pitchFamily="2" charset="-78"/>
                <a:cs typeface="Amiri" pitchFamily="2" charset="-78"/>
              </a:rPr>
              <a:t>تسقط</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الرِّيَاحُ بِقُوَّةٍ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تَهُبُّ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تَهُبَّ</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الرياح</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تهب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“Amman is colder than Dubai”?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عَمَّانُ أَكْثَرُ بُرُودَةً مِنْ دُبَيَّ.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عَمَّانُ أَقَلُّ بُرُودَةً إِلَى دُبَيَّ.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عَمَّانُ أَكْثَرُ بَارِدٌ مِنْ دُبَيَّ.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أكثر برودةً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Choose a place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الطَّقْسُ فِي القَاهِرَةِ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الطَّقْسُ</a:t>
            </a:r>
            <a:pPr algn="l" indent="0" marL="0">
              <a:buNone/>
            </a:pPr>
            <a:r>
              <a:rPr lang="en-US" sz="1150" dirty="0">
                <a:solidFill>
                  <a:srgbClr val="1F2A37"/>
                </a:solidFill>
                <a:latin typeface="Calibri" pitchFamily="34" charset="0"/>
                <a:cs typeface="Amiri" pitchFamily="2" charset="-78"/>
              </a:rPr>
              <a:t> (m.) + </a:t>
            </a:r>
            <a:pPr algn="l" indent="0" marL="0">
              <a:buNone/>
            </a:pPr>
            <a:r>
              <a:rPr lang="ar-SA" altLang="en-US" sz="1500" dirty="0">
                <a:solidFill>
                  <a:srgbClr val="1F2A37"/>
                </a:solidFill>
                <a:latin typeface="Amiri" pitchFamily="2" charset="-78"/>
                <a:cs typeface="Amiri" pitchFamily="2" charset="-78"/>
              </a:rPr>
              <a:t>فِي</a:t>
            </a:r>
            <a:pPr algn="l" indent="0" marL="0">
              <a:buNone/>
            </a:pPr>
            <a:r>
              <a:rPr lang="en-US" sz="1150" dirty="0">
                <a:solidFill>
                  <a:srgbClr val="1F2A37"/>
                </a:solidFill>
                <a:latin typeface="Calibri" pitchFamily="34" charset="0"/>
                <a:cs typeface="Amiri" pitchFamily="2" charset="-78"/>
              </a:rPr>
              <a:t> + city.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Weather + season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حَارٌّ</a:t>
            </a:r>
            <a:pPr rtl="1" algn="ctr" indent="0" marL="0">
              <a:buNone/>
            </a:pPr>
            <a:r>
              <a:rPr lang="ar-SA" altLang="en-US" sz="2800" b="1" dirty="0">
                <a:solidFill>
                  <a:srgbClr val="1B3B6F"/>
                </a:solidFill>
                <a:latin typeface="Amiri" pitchFamily="2" charset="-78"/>
                <a:cs typeface="Amiri" pitchFamily="2" charset="-78"/>
              </a:rPr>
              <a:t> وَ</a:t>
            </a:r>
            <a:pPr rtl="1" algn="ctr" indent="0" marL="0">
              <a:buNone/>
            </a:pPr>
            <a:r>
              <a:rPr lang="ar-SA" altLang="en-US" sz="2800" b="1" dirty="0">
                <a:solidFill>
                  <a:srgbClr val="0E7C86"/>
                </a:solidFill>
                <a:latin typeface="Amiri" pitchFamily="2" charset="-78"/>
                <a:cs typeface="Amiri" pitchFamily="2" charset="-78"/>
              </a:rPr>
              <a:t>مُشْمِسٌ</a:t>
            </a:r>
            <a:pPr rtl="1" algn="ctr" indent="0" marL="0">
              <a:buNone/>
            </a:pPr>
            <a:r>
              <a:rPr lang="ar-SA" altLang="en-US" sz="2800" b="1" dirty="0">
                <a:solidFill>
                  <a:srgbClr val="1B3B6F"/>
                </a:solidFill>
                <a:latin typeface="Amiri" pitchFamily="2" charset="-78"/>
                <a:cs typeface="Amiri" pitchFamily="2" charset="-78"/>
              </a:rPr>
              <a:t> صَيْفًا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Describing words from the game. </a:t>
            </a:r>
            <a:pPr algn="l" indent="0" marL="0">
              <a:buNone/>
            </a:pPr>
            <a:r>
              <a:rPr lang="ar-SA" altLang="en-US" sz="1500" dirty="0">
                <a:solidFill>
                  <a:srgbClr val="1F2A37"/>
                </a:solidFill>
                <a:latin typeface="Amiri" pitchFamily="2" charset="-78"/>
                <a:cs typeface="Amiri" pitchFamily="2" charset="-78"/>
              </a:rPr>
              <a:t>صَيْفًا</a:t>
            </a:r>
            <a:pPr algn="l" indent="0" marL="0">
              <a:buNone/>
            </a:pPr>
            <a:r>
              <a:rPr lang="en-US" sz="1150" dirty="0">
                <a:solidFill>
                  <a:srgbClr val="1F2A37"/>
                </a:solidFill>
                <a:latin typeface="Calibri" pitchFamily="34" charset="0"/>
                <a:cs typeface="Amiri" pitchFamily="2" charset="-78"/>
              </a:rPr>
              <a:t> = in summer.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a temperature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cs typeface="Amiri" pitchFamily="2" charset="-78"/>
              </a:rPr>
              <a:t>تَ</a:t>
            </a:r>
            <a:pPr rtl="1" algn="ctr" indent="0" marL="0">
              <a:buNone/>
            </a:pPr>
            <a:r>
              <a:rPr lang="ar-SA" altLang="en-US" sz="2700" b="1" dirty="0">
                <a:solidFill>
                  <a:srgbClr val="7B3FA0"/>
                </a:solidFill>
                <a:latin typeface="Amiri" pitchFamily="2" charset="-78"/>
                <a:cs typeface="Amiri" pitchFamily="2" charset="-78"/>
              </a:rPr>
              <a:t>رْتَفِعُ</a:t>
            </a:r>
            <a:pPr rtl="1" algn="ctr" indent="0" marL="0">
              <a:buNone/>
            </a:pPr>
            <a:r>
              <a:rPr lang="ar-SA" altLang="en-US" sz="2700" b="1" dirty="0">
                <a:solidFill>
                  <a:srgbClr val="1B3B6F"/>
                </a:solidFill>
                <a:latin typeface="Amiri" pitchFamily="2" charset="-78"/>
                <a:cs typeface="Amiri" pitchFamily="2" charset="-78"/>
              </a:rPr>
              <a:t> دَرَجَةُ الحَرَارَةِ</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دَرَجَة</a:t>
            </a:r>
            <a:pPr algn="l" indent="0" marL="0">
              <a:buNone/>
            </a:pPr>
            <a:r>
              <a:rPr lang="en-US" sz="1150" dirty="0">
                <a:solidFill>
                  <a:srgbClr val="1F2A37"/>
                </a:solidFill>
                <a:latin typeface="Calibri" pitchFamily="34" charset="0"/>
                <a:cs typeface="Amiri" pitchFamily="2" charset="-78"/>
              </a:rPr>
              <a:t> is feminine → </a:t>
            </a:r>
            <a:pPr algn="l" indent="0" marL="0">
              <a:buNone/>
            </a:pPr>
            <a:r>
              <a:rPr lang="ar-SA" altLang="en-US" sz="1500" dirty="0">
                <a:solidFill>
                  <a:srgbClr val="1F2A37"/>
                </a:solidFill>
                <a:latin typeface="Amiri" pitchFamily="2" charset="-78"/>
                <a:cs typeface="Amiri" pitchFamily="2" charset="-78"/>
              </a:rPr>
              <a:t>تَـ</a:t>
            </a:r>
            <a:pPr algn="l" indent="0" marL="0">
              <a:buNone/>
            </a:pPr>
            <a:r>
              <a:rPr lang="en-US" sz="1150" dirty="0">
                <a:solidFill>
                  <a:srgbClr val="1F2A37"/>
                </a:solidFill>
                <a:latin typeface="Calibri" pitchFamily="34" charset="0"/>
                <a:cs typeface="Amiri" pitchFamily="2" charset="-78"/>
              </a:rPr>
              <a:t>. Then </a:t>
            </a:r>
            <a:pPr algn="l" indent="0" marL="0">
              <a:buNone/>
            </a:pPr>
            <a:r>
              <a:rPr lang="ar-SA" altLang="en-US" sz="1500" dirty="0">
                <a:solidFill>
                  <a:srgbClr val="1F2A37"/>
                </a:solidFill>
                <a:latin typeface="Amiri" pitchFamily="2" charset="-78"/>
                <a:cs typeface="Amiri" pitchFamily="2" charset="-78"/>
              </a:rPr>
              <a:t>إِلَى</a:t>
            </a:r>
            <a:pPr algn="l" indent="0" marL="0">
              <a:buNone/>
            </a:pPr>
            <a:r>
              <a:rPr lang="en-US" sz="1150" dirty="0">
                <a:solidFill>
                  <a:srgbClr val="1F2A37"/>
                </a:solidFill>
                <a:latin typeface="Calibri" pitchFamily="34" charset="0"/>
                <a:cs typeface="Amiri" pitchFamily="2" charset="-78"/>
              </a:rPr>
              <a:t> + number.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2" charset="-78"/>
                <a:cs typeface="Amiri" pitchFamily="2" charset="-78"/>
              </a:rPr>
              <a:t>أَكْثَرُ حَرَارَةً</a:t>
            </a:r>
            <a:pPr rtl="1" algn="ctr" indent="0" marL="0">
              <a:buNone/>
            </a:pPr>
            <a:r>
              <a:rPr lang="ar-SA" altLang="en-US" sz="2700" b="1" dirty="0">
                <a:solidFill>
                  <a:srgbClr val="1B3B6F"/>
                </a:solidFill>
                <a:latin typeface="Amiri" pitchFamily="2" charset="-78"/>
                <a:cs typeface="Amiri" pitchFamily="2" charset="-78"/>
              </a:rPr>
              <a:t> مِنْ لَنْدَنَ</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أَكْثَرُ</a:t>
            </a:r>
            <a:pPr algn="l" indent="0" marL="0">
              <a:buNone/>
            </a:pPr>
            <a:r>
              <a:rPr lang="en-US" sz="1150" dirty="0">
                <a:solidFill>
                  <a:srgbClr val="1F2A37"/>
                </a:solidFill>
                <a:latin typeface="Calibri" pitchFamily="34" charset="0"/>
                <a:cs typeface="Amiri" pitchFamily="2" charset="-78"/>
              </a:rPr>
              <a:t> + noun (</a:t>
            </a:r>
            <a:pPr algn="l" indent="0" marL="0">
              <a:buNone/>
            </a:pPr>
            <a:r>
              <a:rPr lang="ar-SA" altLang="en-US" sz="1500" dirty="0">
                <a:solidFill>
                  <a:srgbClr val="1F2A37"/>
                </a:solidFill>
                <a:latin typeface="Amiri" pitchFamily="2" charset="-78"/>
                <a:cs typeface="Amiri" pitchFamily="2" charset="-78"/>
              </a:rPr>
              <a:t>ـًا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a:t>
            </a:r>
            <a:endParaRPr lang="en-US" sz="800" dirty="0"/>
          </a:p>
        </p:txBody>
      </p:sp>
      <p:sp>
        <p:nvSpPr>
          <p:cNvPr id="47" name="Shape 43"/>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MEANING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WEATHER WORD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الطَّقْسُ فِي القَاهِرَةِ </a:t>
            </a:r>
            <a:pPr rtl="1" algn="r" indent="0" marL="0">
              <a:buNone/>
            </a:pPr>
            <a:r>
              <a:rPr lang="ar-SA" altLang="en-US" sz="2200" b="1" dirty="0">
                <a:solidFill>
                  <a:srgbClr val="0E7C86"/>
                </a:solidFill>
                <a:latin typeface="Amiri" pitchFamily="2" charset="-78"/>
                <a:cs typeface="Amiri" pitchFamily="2" charset="-78"/>
              </a:rPr>
              <a:t>حَارٌّ</a:t>
            </a:r>
            <a:pPr rtl="1" algn="r" indent="0" marL="0">
              <a:buNone/>
            </a:pPr>
            <a:r>
              <a:rPr lang="ar-SA" altLang="en-US" sz="2200" b="1" dirty="0">
                <a:solidFill>
                  <a:srgbClr val="1B3B6F"/>
                </a:solidFill>
                <a:latin typeface="Amiri" pitchFamily="2" charset="-78"/>
                <a:cs typeface="Amiri" pitchFamily="2" charset="-78"/>
              </a:rPr>
              <a:t> وَ</a:t>
            </a:r>
            <a:pPr rtl="1" algn="r" indent="0" marL="0">
              <a:buNone/>
            </a:pPr>
            <a:r>
              <a:rPr lang="ar-SA" altLang="en-US" sz="2200" b="1" dirty="0">
                <a:solidFill>
                  <a:srgbClr val="0E7C86"/>
                </a:solidFill>
                <a:latin typeface="Amiri" pitchFamily="2" charset="-78"/>
                <a:cs typeface="Amiri" pitchFamily="2" charset="-78"/>
              </a:rPr>
              <a:t>مُشْمِسٌ</a:t>
            </a:r>
            <a:pPr rtl="1" algn="r" indent="0" marL="0">
              <a:buNone/>
            </a:pPr>
            <a:r>
              <a:rPr lang="ar-SA" altLang="en-US" sz="2200" b="1" dirty="0">
                <a:solidFill>
                  <a:srgbClr val="1B3B6F"/>
                </a:solidFill>
                <a:latin typeface="Amiri" pitchFamily="2" charset="-78"/>
                <a:cs typeface="Amiri" pitchFamily="2" charset="-78"/>
              </a:rPr>
              <a:t> صَيْفًا، وَ</a:t>
            </a:r>
            <a:pPr rtl="1" algn="r" indent="0" marL="0">
              <a:buNone/>
            </a:pPr>
            <a:r>
              <a:rPr lang="ar-SA" altLang="en-US" sz="2200" b="1" dirty="0">
                <a:solidFill>
                  <a:srgbClr val="1D5FBF"/>
                </a:solidFill>
                <a:latin typeface="Amiri" pitchFamily="2" charset="-78"/>
                <a:cs typeface="Amiri" pitchFamily="2" charset="-78"/>
              </a:rPr>
              <a:t>تَ</a:t>
            </a:r>
            <a:pPr rtl="1" algn="r" indent="0" marL="0">
              <a:buNone/>
            </a:pPr>
            <a:r>
              <a:rPr lang="ar-SA" altLang="en-US" sz="2200" b="1" dirty="0">
                <a:solidFill>
                  <a:srgbClr val="7B3FA0"/>
                </a:solidFill>
                <a:latin typeface="Amiri" pitchFamily="2" charset="-78"/>
                <a:cs typeface="Amiri" pitchFamily="2" charset="-78"/>
              </a:rPr>
              <a:t>رْتَفِعُ</a:t>
            </a:r>
            <a:pPr rtl="1" algn="r" indent="0" marL="0">
              <a:buNone/>
            </a:pPr>
            <a:r>
              <a:rPr lang="ar-SA" altLang="en-US" sz="2200" b="1" dirty="0">
                <a:solidFill>
                  <a:srgbClr val="1B3B6F"/>
                </a:solidFill>
                <a:latin typeface="Amiri" pitchFamily="2" charset="-78"/>
                <a:cs typeface="Amiri" pitchFamily="2" charset="-78"/>
              </a:rPr>
              <a:t> دَرَجَةُ الحَرَارَةِ إِلَى ثَلَاثِينَ دَرَجَةً. القَاهِرَةُ </a:t>
            </a:r>
            <a:pPr rtl="1" algn="r" indent="0" marL="0">
              <a:buNone/>
            </a:pPr>
            <a:r>
              <a:rPr lang="ar-SA" altLang="en-US" sz="2200" b="1" dirty="0">
                <a:solidFill>
                  <a:srgbClr val="0E7C86"/>
                </a:solidFill>
                <a:latin typeface="Amiri" pitchFamily="2" charset="-78"/>
                <a:cs typeface="Amiri" pitchFamily="2" charset="-78"/>
              </a:rPr>
              <a:t>أَكْثَرُ حَرَارَةً</a:t>
            </a:r>
            <a:pPr rtl="1" algn="r" indent="0" marL="0">
              <a:buNone/>
            </a:pPr>
            <a:r>
              <a:rPr lang="ar-SA" altLang="en-US" sz="2200" b="1" dirty="0">
                <a:solidFill>
                  <a:srgbClr val="1B3B6F"/>
                </a:solidFill>
                <a:latin typeface="Amiri" pitchFamily="2" charset="-78"/>
                <a:cs typeface="Amiri" pitchFamily="2" charset="-78"/>
              </a:rPr>
              <a:t> مِنْ لَنْدَنَ.</a:t>
            </a:r>
            <a:endParaRPr lang="ar-SA" sz="22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weather in Cairo is hot and sunny in summer, and the temperature rises to thirty degrees. Cairo is hotter than London.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الطَّقْسُ حَارٌّ وَمُشْمِسٌ.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weather is hot and sunny.</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تَسْقُطُ الثُّلُوجُ فِي الشِّتَاءِ.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Snow falls in winter.</a:t>
            </a:r>
            <a:endParaRPr lang="en-US" sz="1250" dirty="0"/>
          </a:p>
          <a:p>
            <a:pPr indent="0" marL="0">
              <a:buNone/>
            </a:pPr>
            <a:r>
              <a:rPr lang="en-US" sz="1050" i="1" dirty="0">
                <a:solidFill>
                  <a:srgbClr val="8A6D1E"/>
                </a:solidFill>
                <a:latin typeface="Calibri" pitchFamily="34" charset="0"/>
                <a:cs typeface="Amiri" pitchFamily="2" charset="-78"/>
              </a:rPr>
              <a:t>Feminine weather word → تَـ.</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القَاهِرَةُ أَكْثَرُ حَرَارَةً مِنْ لَنْدَنَ.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Cairo is hotter than London.</a:t>
            </a:r>
            <a:endParaRPr lang="en-US" sz="1250" dirty="0"/>
          </a:p>
          <a:p>
            <a:pPr indent="0" marL="0">
              <a:buNone/>
            </a:pPr>
            <a:r>
              <a:rPr lang="en-US" sz="1050" i="1" dirty="0">
                <a:solidFill>
                  <a:srgbClr val="8A6D1E"/>
                </a:solidFill>
                <a:latin typeface="Calibri" pitchFamily="34" charset="0"/>
                <a:cs typeface="Amiri" pitchFamily="2" charset="-78"/>
              </a:rPr>
              <a:t>أَكْثَرُ + noun (ـًا) + مِنْ.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مِنَ المُتَوَقَّعِ أَنْ تَنْخَفِضَ دَرَجَةُ الحَرَارَةِ لَيْلًا.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temperature is expected to fall at night.</a:t>
            </a:r>
            <a:endParaRPr lang="en-US" sz="1250" dirty="0"/>
          </a:p>
          <a:p>
            <a:pPr indent="0" marL="0">
              <a:buNone/>
            </a:pPr>
            <a:r>
              <a:rPr lang="en-US" sz="1050" i="1" dirty="0">
                <a:solidFill>
                  <a:srgbClr val="8A6D1E"/>
                </a:solidFill>
                <a:latin typeface="Calibri" pitchFamily="34" charset="0"/>
                <a:cs typeface="Amiri" pitchFamily="2" charset="-78"/>
              </a:rPr>
              <a:t>Stretch: أَنْ + subjunctive fatḥa.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“WEATHER FORECAST”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32°C</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rain + wind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−2°C</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اَلطَّقْسُ بَارِدٌ جِدًّا وَدَرَجَةُ الْحَرَارَةِ تَحْتَ الصِّفْرِ.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اَلطَّقْسُ حَارٌّ وَمُشْمِسٌ وَدَرَجَةُ الْحَرَارَةِ اثْنَتَانِ وَثَلَاثُونَ.</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سَيَكُونُ الطَّقْسُ مُمْطِرًا وَعَاصِفًا.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32°C</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اَلطَّقْسُ حَارٌّ وَمُشْمِسٌ وَدَرَجَةُ الْحَرَارَةِ اثْنَتَانِ وَثَلَاثُونَ.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weather is hot and sunny, and the temperature is thirty-two degrees.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rain + wind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سَيَكُونُ الطَّقْسُ مُمْطِرًا وَعَاصِفًا.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weather will be rainy and windy.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−2°C</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اَلطَّقْسُ بَارِدٌ جِدًّا وَدَرَجَةُ الْحَرَارَةِ تَحْتَ الصِّفْرِ.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weather is very cold and the temperature is below zero.</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forecast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It rains in the morning.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تَسْقُطُ</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يَسْقُطُ</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المَطَرُ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الشَّمْسُ</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مَسَاءً.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صَبَاحًا.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Strong winds blow in the evening.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تَهُبُّ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يَهُبُّ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رِيَاحٌ قَوِيَّةٌ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رِيَاحٌ قَوِيٌّ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صَبَاحًا.</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مَسَاءً.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interior is hotter than the coast.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الدَّاخِلُ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السَّاحِلُ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أَكْثَرُ حَارٌّ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أَكْثَرُ حَرَارَةً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مِنَ السَّاحِلِ.</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إِلَى السَّاحِلِ.</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It rains in the morning.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المَطَرُ</a:t>
            </a:r>
            <a:pPr algn="l" indent="0" marL="0">
              <a:buNone/>
            </a:pPr>
            <a:r>
              <a:rPr lang="en-US" sz="1050" i="1" dirty="0">
                <a:solidFill>
                  <a:srgbClr val="5A6472"/>
                </a:solidFill>
                <a:latin typeface="Calibri" pitchFamily="34" charset="0"/>
                <a:cs typeface="Amiri" pitchFamily="2" charset="-78"/>
              </a:rPr>
              <a:t> is masculine → </a:t>
            </a:r>
            <a:pPr algn="l" indent="0" marL="0">
              <a:buNone/>
            </a:pPr>
            <a:r>
              <a:rPr lang="ar-SA" altLang="en-US" sz="1350" dirty="0">
                <a:solidFill>
                  <a:srgbClr val="5A6472"/>
                </a:solidFill>
                <a:latin typeface="Amiri" pitchFamily="2" charset="-78"/>
                <a:cs typeface="Amiri" pitchFamily="2" charset="-78"/>
              </a:rPr>
              <a:t>يَسْقُطُ</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يَسْقُطُ المَطَرُ صَبَاحًا.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Strong winds blow in the evening.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رِيَاح</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cs typeface="Amiri" pitchFamily="2" charset="-78"/>
              </a:rPr>
              <a:t>تَهُبُّ … قَوِيَّةٌ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تَهُبُّ رِيَاحٌ قَوِيَّةٌ مَسَاءً.</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interior is hotter than the coast.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أَكْثَرُ</a:t>
            </a:r>
            <a:pPr algn="l" indent="0" marL="0">
              <a:buNone/>
            </a:pPr>
            <a:r>
              <a:rPr lang="en-US" sz="1050" i="1" dirty="0">
                <a:solidFill>
                  <a:srgbClr val="5A6472"/>
                </a:solidFill>
                <a:latin typeface="Calibri" pitchFamily="34" charset="0"/>
                <a:cs typeface="Amiri" pitchFamily="2" charset="-78"/>
              </a:rPr>
              <a:t> + noun (</a:t>
            </a:r>
            <a:pPr algn="l" indent="0" marL="0">
              <a:buNone/>
            </a:pPr>
            <a:r>
              <a:rPr lang="ar-SA" altLang="en-US" sz="1350" dirty="0">
                <a:solidFill>
                  <a:srgbClr val="5A6472"/>
                </a:solidFill>
                <a:latin typeface="Amiri" pitchFamily="2" charset="-78"/>
                <a:cs typeface="Amiri" pitchFamily="2" charset="-78"/>
              </a:rPr>
              <a:t>ـًا</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الدَّاخِلُ أَكْثَرُ حَرَارَةً مِنَ السَّاحِلِ.</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Weather word, forecast or comparison?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تَهُبُّ الرِّيَاحُ</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المَطَرُ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الحَدُّ الأَقْصَى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الثُّلُوجُ</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يَسْقُطُ المَطَرُ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دَرَجَةٌ مِئَوِيَّةٌ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الرِّيَاحُ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الحَدُّ الأَدْنَى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تَسْقُطُ الثُّلُوجُ</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Weather phenomena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Forecast language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Comparison and measurement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Weather phenomena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المَطَرُ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الثُّلُوجُ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الرِّيَاحُ</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Forecast language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تَهُبُّ الرِّيَاحُ</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يَسْقُطُ المَطَرُ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تَسْقُطُ الثُّلُوجُ</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Comparison and measurement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الحَدُّ الأَقْصَى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دَرَجَةٌ مِئَوِيَّةٌ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الحَدُّ الأَدْنَى</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temperature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يَرْتَفِعُ دَرَجَةُ الحَرَارَةِ فِي ٣٢ دَرَجَةً.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تَرْتَفِعَ دَرَجَةَ الحَرَارَةِ مِنْ ٣٢.</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تَرْتَفِعُ دَرَجَةُ الحَرَارَةِ إِلَى ٣٢ دَرَجَةً.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forecast accurately:</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مِنَ المُتَوَقَّعِ أَنْ ___ دَرَجَةُ الحَرَارَةِ.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تَنْخَفِضُ</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تَنْخَفِضَ</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يَنْخَفِضَ</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تَتَرَاوَحُ دَرَجَةُ الحَرَارَةِ مِنْ ١٨ إِلَى بَيْنَ ٢٥.</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تَتَرَاوَحُ دَرَجَةُ الحَرَارَةِ بَيْنَ ١٨ وَ٢٥ دَرَجَةً.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يَتَرَاوَحُ دَرَجَةُ الحَرَارَةِ بَيْنَ ١٨ وَ٢٥.</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“less humid than”?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أَقَلُّ رُطُوبَةٍ إِلَى</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أَصْغَرُ رَطْبٌ مِنْ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أَقَلُّ رُطُوبَةً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temperature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يَرْتَفِعُ دَرَجَةُ الحَرَارَةِ فِي ٣٢ دَرَجَةً.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تَرْتَفِعَ دَرَجَةَ الحَرَارَةِ مِنْ ٣٢.</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تَرْتَفِعُ دَرَجَةُ الحَرَارَةِ إِلَى ٣٢ دَرَجَةً.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درجة الحرارة</a:t>
            </a:r>
            <a:pPr algn="l" indent="0" marL="0">
              <a:buNone/>
            </a:pPr>
            <a:r>
              <a:rPr lang="en-US" sz="1050" i="1" dirty="0">
                <a:solidFill>
                  <a:srgbClr val="8A6D1E"/>
                </a:solidFill>
                <a:latin typeface="Calibri" pitchFamily="34" charset="0"/>
                <a:cs typeface="Amiri" pitchFamily="2" charset="-78"/>
              </a:rPr>
              <a:t> is feminine and the endpoint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forecast accurately:</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مِنَ المُتَوَقَّعِ أَنْ ___ دَرَجَةُ الحَرَارَةِ.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تَنْخَفِضُ</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تَنْخَفِضَ</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يَنْخَفِضَ</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use subjunctive </a:t>
            </a:r>
            <a:pPr algn="l" indent="0" marL="0">
              <a:buNone/>
            </a:pPr>
            <a:r>
              <a:rPr lang="ar-SA" altLang="en-US" sz="1350" dirty="0">
                <a:solidFill>
                  <a:srgbClr val="8A6D1E"/>
                </a:solidFill>
                <a:latin typeface="Amiri" pitchFamily="2" charset="-78"/>
                <a:cs typeface="Amiri" pitchFamily="2" charset="-78"/>
              </a:rPr>
              <a:t>تنخفضَ</a:t>
            </a:r>
            <a:pPr algn="l" indent="0" marL="0">
              <a:buNone/>
            </a:pPr>
            <a:r>
              <a:rPr lang="en-US" sz="1050" i="1" dirty="0">
                <a:solidFill>
                  <a:srgbClr val="8A6D1E"/>
                </a:solidFill>
                <a:latin typeface="Calibri" pitchFamily="34" charset="0"/>
                <a:cs typeface="Amiri" pitchFamily="2" charset="-78"/>
              </a:rPr>
              <a:t>; the subject is feminine.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تَتَرَاوَحُ دَرَجَةُ الحَرَارَةِ مِنْ ١٨ إِلَى بَيْنَ ٢٥.</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تَتَرَاوَحُ دَرَجَةُ الحَرَارَةِ بَيْنَ ١٨ وَ٢٥ دَرَجَةً.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يَتَرَاوَحُ دَرَجَةُ الحَرَارَةِ بَيْنَ ١٨ وَ٢٥.</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تتراوح بين</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 with the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“less humid than”?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أَقَلُّ رُطُوبَةٍ إِلَى</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أَصْغَرُ رَطْبٌ مِنْ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أَقَلُّ رُطُوبَةً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comparative pattern is </a:t>
            </a:r>
            <a:pPr algn="l" indent="0" marL="0">
              <a:buNone/>
            </a:pPr>
            <a:r>
              <a:rPr lang="ar-SA" altLang="en-US" sz="1350" dirty="0">
                <a:solidFill>
                  <a:srgbClr val="8A6D1E"/>
                </a:solidFill>
                <a:latin typeface="Amiri" pitchFamily="2" charset="-78"/>
                <a:cs typeface="Amiri" pitchFamily="2" charset="-78"/>
              </a:rPr>
              <a:t>أقل</a:t>
            </a:r>
            <a:pPr algn="l" indent="0" marL="0">
              <a:buNone/>
            </a:pPr>
            <a:r>
              <a:rPr lang="en-US" sz="1050" i="1" dirty="0">
                <a:solidFill>
                  <a:srgbClr val="8A6D1E"/>
                </a:solidFill>
                <a:latin typeface="Calibri" pitchFamily="34" charset="0"/>
                <a:cs typeface="Amiri" pitchFamily="2" charset="-78"/>
              </a:rPr>
              <a:t> + verbal noun accusative +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يَسْقُطُ الثُّلُوجُ.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t>
            </a:r>
            <a:pPr algn="l" indent="0" marL="0">
              <a:buNone/>
            </a:pPr>
            <a:r>
              <a:rPr lang="ar-SA" altLang="en-US" sz="1700" dirty="0">
                <a:solidFill>
                  <a:srgbClr val="5A6472"/>
                </a:solidFill>
                <a:latin typeface="Amiri" pitchFamily="2" charset="-78"/>
                <a:cs typeface="Amiri" pitchFamily="2" charset="-78"/>
              </a:rPr>
              <a:t>الثُّلُوجُ</a:t>
            </a:r>
            <a:pPr algn="l" indent="0" marL="0">
              <a:buNone/>
            </a:pPr>
            <a:r>
              <a:rPr lang="en-US" sz="1300" i="1" dirty="0">
                <a:solidFill>
                  <a:srgbClr val="5A6472"/>
                </a:solidFill>
                <a:latin typeface="Calibri" pitchFamily="34" charset="0"/>
                <a:cs typeface="Amiri" pitchFamily="2" charset="-78"/>
              </a:rPr>
              <a:t> treated as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يَرْتَفِعُ دَرَجَةُ الحَرَارَةِ.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t>
            </a:r>
            <a:pPr algn="l" indent="0" marL="0">
              <a:buNone/>
            </a:pPr>
            <a:r>
              <a:rPr lang="ar-SA" altLang="en-US" sz="1700" dirty="0">
                <a:solidFill>
                  <a:srgbClr val="5A6472"/>
                </a:solidFill>
                <a:latin typeface="Amiri" pitchFamily="2" charset="-78"/>
                <a:cs typeface="Amiri" pitchFamily="2" charset="-78"/>
              </a:rPr>
              <a:t>دَرَجَة</a:t>
            </a:r>
            <a:pPr algn="l" indent="0" marL="0">
              <a:buNone/>
            </a:pPr>
            <a:r>
              <a:rPr lang="en-US" sz="1300" i="1" dirty="0">
                <a:solidFill>
                  <a:srgbClr val="5A6472"/>
                </a:solidFill>
                <a:latin typeface="Calibri" pitchFamily="34" charset="0"/>
                <a:cs typeface="Amiri" pitchFamily="2" charset="-78"/>
              </a:rPr>
              <a:t>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القَاهِرَةُ أَكْثَرُ حَارٌّ مِنْ لَنْدَنَ.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After </a:t>
            </a:r>
            <a:pPr algn="l" indent="0" marL="0">
              <a:buNone/>
            </a:pPr>
            <a:r>
              <a:rPr lang="ar-SA" altLang="en-US" sz="1700" dirty="0">
                <a:solidFill>
                  <a:srgbClr val="5A6472"/>
                </a:solidFill>
                <a:latin typeface="Amiri" pitchFamily="2" charset="-78"/>
                <a:cs typeface="Amiri" pitchFamily="2" charset="-78"/>
              </a:rPr>
              <a:t>أَكْثَرُ</a:t>
            </a:r>
            <a:pPr algn="l" indent="0" marL="0">
              <a:buNone/>
            </a:pPr>
            <a:r>
              <a:rPr lang="en-US" sz="1300" i="1" dirty="0">
                <a:solidFill>
                  <a:srgbClr val="5A6472"/>
                </a:solidFill>
                <a:latin typeface="Calibri" pitchFamily="34" charset="0"/>
                <a:cs typeface="Amiri" pitchFamily="2" charset="-78"/>
              </a:rPr>
              <a:t>, do we need an adjective or a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يَسْقُطُ الثُّلُوجُ.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تَسْقُطُ الثُّلُوجُ.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الثلوج</a:t>
            </a:r>
            <a:pPr algn="l" indent="0" marL="0">
              <a:buNone/>
            </a:pPr>
            <a:r>
              <a:rPr lang="en-US" sz="1150" b="1" dirty="0">
                <a:solidFill>
                  <a:srgbClr val="1B3B6F"/>
                </a:solidFill>
                <a:latin typeface="Calibri" pitchFamily="34" charset="0"/>
                <a:cs typeface="Amiri" pitchFamily="2" charset="-78"/>
              </a:rPr>
              <a:t> is treated as feminine, so the verb begins with </a:t>
            </a:r>
            <a:pPr algn="l" indent="0" marL="0">
              <a:buNone/>
            </a:pPr>
            <a:r>
              <a:rPr lang="ar-SA" altLang="en-US" sz="1500" b="1" dirty="0">
                <a:solidFill>
                  <a:srgbClr val="1B3B6F"/>
                </a:solidFill>
                <a:latin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يَرْتَفِعُ دَرَجَةُ الحَرَارَةِ.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تَرْتَفِعُ دَرَجَةُ الحَرَارَةِ.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درجة</a:t>
            </a:r>
            <a:pPr algn="l" indent="0" marL="0">
              <a:buNone/>
            </a:pPr>
            <a:r>
              <a:rPr lang="en-US" sz="1150" b="1" dirty="0">
                <a:solidFill>
                  <a:srgbClr val="1B3B6F"/>
                </a:solidFill>
                <a:latin typeface="Calibri" pitchFamily="34" charset="0"/>
                <a:cs typeface="Amiri" pitchFamily="2" charset="-78"/>
              </a:rPr>
              <a:t>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القَاهِرَةُ أَكْثَرُ حَارٌّ مِنْ لَنْدَنَ.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القَاهِرَةُ أَكْثَرُ حَرَارَةً مِنْ لَنْدَنَ.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cs typeface="Amiri" pitchFamily="2" charset="-78"/>
              </a:rPr>
              <a:t>أكثر</a:t>
            </a:r>
            <a:pPr algn="l" indent="0" marL="0">
              <a:buNone/>
            </a:pPr>
            <a:r>
              <a:rPr lang="en-US" sz="1150" b="1" dirty="0">
                <a:solidFill>
                  <a:srgbClr val="1B3B6F"/>
                </a:solidFill>
                <a:latin typeface="Calibri" pitchFamily="34" charset="0"/>
                <a:cs typeface="Amiri" pitchFamily="2" charset="-78"/>
              </a:rPr>
              <a:t> + verbal noun in the accusative: </a:t>
            </a:r>
            <a:pPr algn="l" indent="0" marL="0">
              <a:buNone/>
            </a:pPr>
            <a:r>
              <a:rPr lang="ar-SA" altLang="en-US" sz="1500" b="1" dirty="0">
                <a:solidFill>
                  <a:srgbClr val="1B3B6F"/>
                </a:solidFill>
                <a:latin typeface="Amiri" pitchFamily="2" charset="-78"/>
                <a:cs typeface="Amiri" pitchFamily="2" charset="-78"/>
              </a:rPr>
              <a:t>حرارةً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an Arab-world weather forecast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in Cairo?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Sunny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Foggy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Cairo’s maximum temperature?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23°C</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13°C</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33°C</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Amman at night?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 will reach 40°C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Heavy snow will begin</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 will fall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Amman’s night temperature?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12°C</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20°C</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2°C</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rain fall in Rabat?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week</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morning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noon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Rabat in the evening?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Strong winds will blow</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sun will rise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 will reach 33°C</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 — listen for the cities </a:t>
            </a:r>
            <a:pPr algn="l" indent="0" marL="0">
              <a:buNone/>
            </a:pPr>
            <a:r>
              <a:rPr lang="ar-SA" altLang="en-US" sz="1650" dirty="0">
                <a:solidFill>
                  <a:srgbClr val="1E6B52"/>
                </a:solidFill>
                <a:latin typeface="Amiri" pitchFamily="2" charset="-78"/>
                <a:cs typeface="Amiri" pitchFamily="2" charset="-78"/>
              </a:rPr>
              <a:t>القَاهِرَة، عَمَّان، الرِّبَاط</a:t>
            </a:r>
            <a:pPr algn="l" indent="0" marL="0">
              <a:buNone/>
            </a:pPr>
            <a:r>
              <a:rPr lang="en-US" sz="1250" dirty="0">
                <a:solidFill>
                  <a:srgbClr val="1E6B52"/>
                </a:solidFill>
                <a:latin typeface="Calibri" pitchFamily="34" charset="0"/>
                <a:cs typeface="Amiri" pitchFamily="2" charset="-78"/>
              </a:rPr>
              <a:t> and the words </a:t>
            </a:r>
            <a:pPr algn="l" indent="0" marL="0">
              <a:buNone/>
            </a:pPr>
            <a:r>
              <a:rPr lang="ar-SA" altLang="en-US" sz="1650" dirty="0">
                <a:solidFill>
                  <a:srgbClr val="1E6B52"/>
                </a:solidFill>
                <a:latin typeface="Amiri" pitchFamily="2" charset="-78"/>
                <a:cs typeface="Amiri" pitchFamily="2" charset="-78"/>
              </a:rPr>
              <a:t>الشَّمْس، المَطَر، صَبَاحًا</a:t>
            </a:r>
            <a:pPr algn="l" indent="0" marL="0">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مَرْحَبًا بِكُمْ فِي النَّشْرَةِ الجَوِّيَّةِ.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Welcome to the weather forecast.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فِي القَاهِرَةِ سَتُشْرِقُ الشَّمْسُ، وَسَتَرْتَفِعُ دَرَجَةُ الحَرَارَةِ إِلَى ثَلَاثٍ وَثَلَاثِينَ دَرَجَةً.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Cairo the sun will shine, and the temperature will rise to thirty-three degrees.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أَمَّا فِي عَمَّانَ فَمِنَ المُتَوَقَّعِ أَنْ تَنْخَفِضَ دَرَجَةُ الحَرَارَةِ لَيْلًا إِلَى اثْنَتَيْ عَشْرَةَ دَرَجَةً.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Amman, the temperature is expected to fall at night to twelve degrees.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الرِّبَاطِ سَيَسْقُطُ المَطَرُ صَبَاحًا، ثُمَّ تَهُبُّ رِيَاحٌ قَوِيَّةٌ مَسَاءً.</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in Rabat it will rain in the morning, then strong winds will blow in the evening.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in Cairo?</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Sunny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Foggy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ستشرق الشمس</a:t>
            </a:r>
            <a:pPr algn="l" indent="0" marL="0">
              <a:buNone/>
            </a:pPr>
            <a:r>
              <a:rPr lang="en-US" sz="1050" i="1" dirty="0">
                <a:solidFill>
                  <a:srgbClr val="8A6D1E"/>
                </a:solidFill>
                <a:latin typeface="Calibri" pitchFamily="34" charset="0"/>
                <a:cs typeface="Amiri" pitchFamily="2" charset="-78"/>
              </a:rPr>
              <a:t> means it will be sunny.</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Cairo’s maximum temperature?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23°C</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13°C</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33°C</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script says </a:t>
            </a:r>
            <a:pPr algn="l" indent="0" marL="0">
              <a:buNone/>
            </a:pPr>
            <a:r>
              <a:rPr lang="ar-SA" altLang="en-US" sz="1350" dirty="0">
                <a:solidFill>
                  <a:srgbClr val="8A6D1E"/>
                </a:solidFill>
                <a:latin typeface="Amiri" pitchFamily="2" charset="-78"/>
                <a:cs typeface="Amiri" pitchFamily="2" charset="-78"/>
              </a:rPr>
              <a:t>ثلاث وثلاثين درجة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Amman at night?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temperature will reach 40°C</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Heavy snow will begin</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temperature will fall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تنخفض درجة الحرارة ليلاً.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Amman’s night temperature?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12°C</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20°C</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2°C</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script gives </a:t>
            </a:r>
            <a:pPr algn="l" indent="0" marL="0">
              <a:buNone/>
            </a:pPr>
            <a:r>
              <a:rPr lang="ar-SA" altLang="en-US" sz="1350" dirty="0">
                <a:solidFill>
                  <a:srgbClr val="8A6D1E"/>
                </a:solidFill>
                <a:latin typeface="Amiri" pitchFamily="2" charset="-78"/>
                <a:cs typeface="Amiri" pitchFamily="2" charset="-78"/>
              </a:rPr>
              <a:t>اثنتي عشرة درجة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rain fall in Rabat?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week</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morning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noon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سيسقط المطر صباحًا.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Rabat in the evening?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Strong winds will blow</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sun will rise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temperature will reach 33°C</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تهب رياح قوية مساءً.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 — listen for the cities </a:t>
            </a:r>
            <a:pPr algn="l" indent="0" marL="0">
              <a:buNone/>
            </a:pPr>
            <a:r>
              <a:rPr lang="ar-SA" altLang="en-US" sz="1650" dirty="0">
                <a:solidFill>
                  <a:srgbClr val="1E6B52"/>
                </a:solidFill>
                <a:latin typeface="Amiri" pitchFamily="2" charset="-78"/>
                <a:cs typeface="Amiri" pitchFamily="2" charset="-78"/>
              </a:rPr>
              <a:t>القَاهِرَة، عَمَّان، الرِّبَاط</a:t>
            </a:r>
            <a:pPr algn="l" indent="0" marL="0">
              <a:buNone/>
            </a:pPr>
            <a:r>
              <a:rPr lang="en-US" sz="1250" dirty="0">
                <a:solidFill>
                  <a:srgbClr val="1E6B52"/>
                </a:solidFill>
                <a:latin typeface="Calibri" pitchFamily="34" charset="0"/>
                <a:cs typeface="Amiri" pitchFamily="2" charset="-78"/>
              </a:rPr>
              <a:t> and the words </a:t>
            </a:r>
            <a:pPr algn="l" indent="0" marL="0">
              <a:buNone/>
            </a:pPr>
            <a:r>
              <a:rPr lang="ar-SA" altLang="en-US" sz="1650" dirty="0">
                <a:solidFill>
                  <a:srgbClr val="1E6B52"/>
                </a:solidFill>
                <a:latin typeface="Amiri" pitchFamily="2" charset="-78"/>
                <a:cs typeface="Amiri" pitchFamily="2" charset="-78"/>
              </a:rPr>
              <a:t>الشَّمْس، المَطَر، صَبَاحًا</a:t>
            </a:r>
            <a:pPr algn="l" indent="0" marL="0">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compare weather patterns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الطَّقْسُ اليَوْمَ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الطَّقْسِ فِي مَدِينَتَيْنِ.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الطَّقْسُ المُتَوَقَّعُ غَدًا؟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فَصْلٍ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الطَّقْسُ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أَكْثَرُ ___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مِنَ المُتَوَقَّعِ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قَالَ / قَالَتْ إِنَّ الطَّقْسَ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يَخْتَلِفُ الطَّقْسُ بَيْنَ مَدِينَتَيْنِ؟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does the weather differ between two cities?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دُبَيُّ أَكْثَرُ حَرَارَةً مِنْ عَمَّانَ، بَيْنَمَا عَمَّانُ أَقَلُّ رُطُوبَةً فِي فَصْلِ الشِّتَاءِ.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Developed comparison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Frames + word bank (next slide): الطَّقْسُ + describing word, a season, and يَسْقُطُ / تَسْقُطُ.</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Link with وَ، لٰكِنْ، أَمَّا … فَـ. Include a temperature and one comparison with أَكْثَرُ … مِنْ.</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compare the weather in two Arabic-speaking cities.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أَكْثَرُ حَرَارَةً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hotter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أَكْثَرُ بُرُودَةً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colder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تَتَرَاوَحُ دَرَجَةُ الحَرَارَةِ بَيْنَ ______ وَ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ranges between … and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سَتَرْتَفِعُ دَرَجَةُ الحَرَارَةِ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temperature will rise to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المُتَوَقَّعِ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expected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الطَّقْسُ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weather is hot and sunny.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الصَّيْفِ الطَّقْسُ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summer the weather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يَسْقُطُ المَطَرُ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rains in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تَسْقُطُ الثُّلُوجُ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Snow falls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دَرَجَةُ الحَرَارَةِ ______ دَرَجَةً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temperature is … degrees.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حَارٌّ  ·  بَارِدٌ  ·  مُشْمِسٌ  ·  مُمْطِرٌ  ·  رَطْبٌ  ·  الصَّيْفُ  ·  الشِّتَاءُ  ·  الرَّبِيعُ  ·  الخَرِيفُ  ·  يَسْقُطُ المَطَرُ  ·  تَهُبُّ الرِّيَاحُ  ·  القَاهِرَةُ  ·  عَمَّانُ  ·  دُبَيُّ  ·  لَنْدَنُ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comparing weather in two Arabic-speaking cities or regions.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three weather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 temperature or range.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two accurate comparisons.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forecast and practical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تَخْتَلِفُ أَحْوَالُ الطَّقْسِ مِنْ مَنْطِقَةٍ إِلَى أُخْرَى</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weather conditions differ from one region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وَقَدْ تَتَجَاوَزُ أَرْبَعِينَ دَرَجَةً مِئَوِيَّةً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may exceed forty degrees Celsius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فِي … فَالجَوُّ أَكْثَرُ بُرُودَةً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 the weather is colder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كَمَا تَهُبُّ الرِّيَاحُ عَلَى السَّاحِلِ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winds also blow on the coast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تُشِيرُ النَّشْرَةُ الجَوِّيَّةُ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forecast points to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لِذٰلِكَ، يَجِبُ عَلَى المُسَافِرِ أَنْ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the traveller should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تَخْتَلِفُ أَحْوَالُ الطَّقْسِ فِي العَالَمِ العَرَبِيِّ مِنْ مَنْطِقَةٍ إِلَى أُخْرَى. فِي دُبَيَّ تَرْتَفِعُ دَرَجَةُ الحَرَارَةِ صَيْفًا، وَقَدْ تَتَجَاوَزُ أَرْبَعِينَ دَرَجَةً مِئَوِيَّةً. أَمَّا فِي عَمَّانَ فَالجَوُّ أَكْثَرُ بُرُودَةً شِتَاءً، وَمِنَ المُتَوَقَّعِ أَنْ تَسْقُطَ الثُّلُوجُ فِي بَعْضِ الأَيَّامِ. وَفِي الرِّبَاطِ يَسْقُطُ المَطَرُ أَكْثَرَ مِنْ دُبَيَّ، كَمَا تَهُبُّ الرِّيَاحُ عَلَى السَّاحِلِ. لِذٰلِكَ، يَجِبُ عَلَى المُسَافِرِ أَنْ يَقْرَأَ النَّشْرَةَ الجَوِّيَّةَ قَبْلَ الرِّحْلَةِ.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Weather conditions in the Arab world differ from one region to another. In Dubai the temperature rises in summer, and it may exceed forty degrees Celsius. As for Amman, the weather is colder in winter, and snow is expected to fall on some days. In Rabat it rains more than in Dubai, and winds also blow on the coast. So travellers should read the weather forecast before the trip.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weather verb that agrees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temperature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 with مِنْ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forecast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the weather and the season: </a:t>
            </a:r>
            <a:pPr algn="l" indent="0" marL="0">
              <a:buNone/>
            </a:pPr>
            <a:r>
              <a:rPr lang="ar-SA" altLang="en-US" sz="1700" dirty="0">
                <a:solidFill>
                  <a:srgbClr val="1F2A37"/>
                </a:solidFill>
                <a:latin typeface="Amiri" pitchFamily="2" charset="-78"/>
                <a:cs typeface="Amiri" pitchFamily="2" charset="-78"/>
              </a:rPr>
              <a:t>الطَّقْسُ حَارٌّ فِي الصَّيْفِ</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understand the key Arabic without translating every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 </a:t>
            </a:r>
            <a:pPr algn="l" indent="0" marL="0">
              <a:buNone/>
            </a:pPr>
            <a:r>
              <a:rPr lang="ar-SA" altLang="en-US" sz="1700" dirty="0">
                <a:solidFill>
                  <a:srgbClr val="1F2A37"/>
                </a:solidFill>
                <a:latin typeface="Amiri" pitchFamily="2" charset="-78"/>
                <a:cs typeface="Amiri" pitchFamily="2" charset="-78"/>
              </a:rPr>
              <a:t>تَـ</a:t>
            </a:r>
            <a:pPr algn="l" indent="0" marL="0">
              <a:buNone/>
            </a:pPr>
            <a:r>
              <a:rPr lang="en-US" sz="1300" dirty="0">
                <a:solidFill>
                  <a:srgbClr val="1F2A37"/>
                </a:solidFill>
                <a:latin typeface="Calibri" pitchFamily="34" charset="0"/>
                <a:cs typeface="Amiri" pitchFamily="2" charset="-78"/>
              </a:rPr>
              <a:t> with feminine weather words: </a:t>
            </a:r>
            <a:pPr algn="l" indent="0" marL="0">
              <a:buNone/>
            </a:pPr>
            <a:r>
              <a:rPr lang="ar-SA" altLang="en-US" sz="1700" dirty="0">
                <a:solidFill>
                  <a:srgbClr val="1F2A37"/>
                </a:solidFill>
                <a:latin typeface="Amiri" pitchFamily="2" charset="-78"/>
                <a:cs typeface="Amiri" pitchFamily="2" charset="-78"/>
              </a:rPr>
              <a:t>تَسْقُطُ الثُّلُوجُ، تَهُبُّ الرِّيَاحُ</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 with </a:t>
            </a:r>
            <a:pPr algn="l" indent="0" marL="0">
              <a:buNone/>
            </a:pPr>
            <a:r>
              <a:rPr lang="ar-SA" altLang="en-US" sz="1700" dirty="0">
                <a:solidFill>
                  <a:srgbClr val="1F2A37"/>
                </a:solidFill>
                <a:latin typeface="Amiri" pitchFamily="2" charset="-78"/>
                <a:cs typeface="Amiri" pitchFamily="2" charset="-78"/>
              </a:rPr>
              <a:t>أَكْثَرُ</a:t>
            </a:r>
            <a:pPr algn="l" indent="0" marL="0">
              <a:buNone/>
            </a:pPr>
            <a:r>
              <a:rPr lang="en-US" sz="1300" dirty="0">
                <a:solidFill>
                  <a:srgbClr val="1F2A37"/>
                </a:solidFill>
                <a:latin typeface="Calibri" pitchFamily="34" charset="0"/>
                <a:cs typeface="Amiri" pitchFamily="2" charset="-78"/>
              </a:rPr>
              <a:t> + noun + </a:t>
            </a:r>
            <a:pPr algn="l" indent="0" marL="0">
              <a:buNone/>
            </a:pPr>
            <a:r>
              <a:rPr lang="ar-SA" altLang="en-US" sz="1700" dirty="0">
                <a:solidFill>
                  <a:srgbClr val="1F2A37"/>
                </a:solidFill>
                <a:latin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 and forecast with </a:t>
            </a:r>
            <a:pPr algn="l" indent="0" marL="0">
              <a:buNone/>
            </a:pPr>
            <a:r>
              <a:rPr lang="ar-SA" altLang="en-US" sz="1700" dirty="0">
                <a:solidFill>
                  <a:srgbClr val="1F2A37"/>
                </a:solidFill>
                <a:latin typeface="Amiri" pitchFamily="2" charset="-78"/>
                <a:cs typeface="Amiri" pitchFamily="2" charset="-78"/>
              </a:rPr>
              <a:t>مِنَ المُتَوَقَّعِ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الثُّلُوجُ فِي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يَسْقُطُ الثُّلُوجُ فِي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الثُّلُوجَ فِي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comparison is accurate?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جُدَّةُ أَكْثَرُ رَطْبَةٌ إِلَى الرِّيَاضِ.</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جُدَّةُ أَكْثَرُ رُطُوبَةً مِنَ الرِّيَاضِ.</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جُدَّةُ رُطُوبَةٌ مِنْ أَكْثَرِ الرِّيَاضِ.</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temperature falls”?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تَنْخَفِضُ دَرَجَةُ الحَرَارَةِ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تَرْتَفِعُ دَرَجَةُ الحَرَارَةِ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تَهُبُّ دَرَجَةُ الحَرَارَةِ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weather agreement?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تَسْقُطُ الثُّلُوجُ فِي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يَسْقُطُ الثُّلُوجُ فِي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تَسْقُطَ الثُّلُوجَ فِي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الثلوج</a:t>
            </a:r>
            <a:pPr algn="l" indent="0" marL="0">
              <a:buNone/>
            </a:pPr>
            <a:r>
              <a:rPr lang="en-US" sz="1050" i="1" dirty="0">
                <a:solidFill>
                  <a:srgbClr val="8A6D1E"/>
                </a:solidFill>
                <a:latin typeface="Calibri" pitchFamily="34" charset="0"/>
                <a:cs typeface="Amiri" pitchFamily="2" charset="-78"/>
              </a:rPr>
              <a:t> is treated as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comparison is accurate?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جُدَّةُ أَكْثَرُ رَطْبَةٌ إِلَى الرِّيَاضِ.</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جُدَّةُ أَكْثَرُ رُطُوبَةً مِنَ الرِّيَاضِ.</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جُدَّةُ رُطُوبَةٌ مِنْ أَكْثَرِ الرِّيَاضِ.</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أكثر رطوبةً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temperature falls”?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تَنْخَفِضُ دَرَجَةُ الحَرَارَةِ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تَرْتَفِعُ دَرَجَةُ الحَرَارَةِ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تَهُبُّ دَرَجَةُ الحَرَارَةِ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تنخفض</a:t>
            </a:r>
            <a:pPr algn="l" indent="0" marL="0">
              <a:buNone/>
            </a:pPr>
            <a:r>
              <a:rPr lang="en-US" sz="1050" i="1" dirty="0">
                <a:solidFill>
                  <a:srgbClr val="8A6D1E"/>
                </a:solidFill>
                <a:latin typeface="Calibri" pitchFamily="34" charset="0"/>
                <a:cs typeface="Amiri" pitchFamily="2" charset="-78"/>
              </a:rPr>
              <a:t> means falls.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regional weather differences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تُشِيرُ النَّشْرَةُ الجَوِّيَّةُ إِلَى اخْتِلَافٍ كَبِيرٍ بَيْنَ مَنَاطِقِ البِلَادِ. فِي السَّاحِلِ تَتَرَاوَحُ دَرَجَةُ الحَرَارَةِ بَيْنَ ثَمَانِيَ عَشْرَةَ وَخَمْسٍ وَعِشْرِينَ دَرَجَةً، وَتَكُونُ الرُّطُوبَةُ مُرْتَفِعَةً. أَمَّا فِي الدَّاخِلِ فَالجَوُّ أَكْثَرُ حَرَارَةً وَأَقَلُّ رُطُوبَةً. وَمِنَ المُتَوَقَّعِ أَنْ تَهُبَّ رِيَاحٌ قَوِيَّةٌ فِي بَعْضِ المَنَاطِقِ الجَنُوبِيَّةِ.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تُشِيرُ إِلَى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points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اخْتِلَافٌ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difference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مَنَاطِقُ البِلَادِ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country’s regions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السَّاحِلُ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coast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تَتَرَاوَحُ بَيْنَ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ranges between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الرُّطُوبَةُ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humidity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مُرْتَفِعَةٌ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high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الدَّاخِلُ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interior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الجَوُّ</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weather, the air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الجَنُوبِيَّةُ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southern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forecast highlight?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Identical weather everywhere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regional differences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winter snow</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temperature range is given for the coast?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25–35°C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8–15°C</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18–25°C</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high on the coast?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Humidity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Snowfall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Altitude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interior compared with the coast?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Colder and wetter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Hotter and less humid</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the same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expected in some southern regions?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Strong winds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heat-free 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Heavy snow</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the forecast?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الرَّغْمِ مِنْ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المُتَوَقَّعِ أَنْ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forecast highlight?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Identical weather everywhere</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Large regional differences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winter snow</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sentence mentions </a:t>
            </a:r>
            <a:pPr algn="l" indent="0" marL="0">
              <a:buNone/>
            </a:pPr>
            <a:r>
              <a:rPr lang="ar-SA" altLang="en-US" sz="1350" dirty="0">
                <a:solidFill>
                  <a:srgbClr val="8A6D1E"/>
                </a:solidFill>
                <a:latin typeface="Amiri" pitchFamily="2" charset="-78"/>
                <a:cs typeface="Amiri" pitchFamily="2" charset="-78"/>
              </a:rPr>
              <a:t>اختلاف كبير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temperature range is given for the coast?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25–35°C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8–15°C</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18–25°C</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coastal range is 18 to 25.</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high on the coast?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Humidity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Snowfall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Altitude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الرطوبة مرتفعة.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interior compared with the coast?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Colder and wetter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Hotter and less humid</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the same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أكثر حرارةً وأقل رطوبةً.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expected in some southern regions?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Strong winds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heat-free 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Heavy snow</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تهب رياح قوية.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the forecast?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الرَّغْمِ مِنْ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بِسَبَبِ</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المُتَوَقَّعِ أَنْ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 المتوقع أن</a:t>
            </a:r>
            <a:pPr algn="l" indent="0" marL="0">
              <a:buNone/>
            </a:pPr>
            <a:r>
              <a:rPr lang="en-US" sz="1050" i="1" dirty="0">
                <a:solidFill>
                  <a:srgbClr val="8A6D1E"/>
                </a:solidFill>
                <a:latin typeface="Calibri" pitchFamily="34" charset="0"/>
                <a:cs typeface="Amiri" pitchFamily="2" charset="-78"/>
              </a:rPr>
              <a:t> signals a forecast.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TC-L04 · Environmental Problems and Their Causes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تَلَوُّثٌ</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pollution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نُفَايَاتٌ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waste, rubbish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air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شَجَرَةٌ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tree</a:t>
            </a:r>
            <a:pPr indent="0" marL="0">
              <a:buNone/>
            </a:pPr>
            <a:r>
              <a:rPr lang="en-US" sz="1000" i="1" dirty="0">
                <a:solidFill>
                  <a:srgbClr val="5A6472"/>
                </a:solidFill>
                <a:latin typeface="Calibri" pitchFamily="34" charset="0"/>
                <a:cs typeface="Amiri" pitchFamily="2" charset="-78"/>
              </a:rPr>
              <a:t>  pl. أَشْجَارٌ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بِسَبَبِ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because of</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what is one problem for the environment where you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مُشْكِلَةٌ بِيئِيَّةٌ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TC-L03 · play “Weather Forecast”,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5 sentences comparing the weather in two cities with </a:t>
            </a:r>
            <a:pPr algn="l" indent="0" marL="0">
              <a:buNone/>
            </a:pPr>
            <a:r>
              <a:rPr lang="ar-SA" altLang="en-US" sz="1550" dirty="0">
                <a:solidFill>
                  <a:srgbClr val="1F2A37"/>
                </a:solidFill>
                <a:latin typeface="Amiri" pitchFamily="2" charset="-78"/>
                <a:cs typeface="Amiri" pitchFamily="2" charset="-78"/>
              </a:rPr>
              <a:t>أَكْثَرُ … مِنْ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TC-L03 · the application mission and the reading “Regional weather differences”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TC-L04 · Environmental Problems and Their Causes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المُشْكِلَاتُ البِيئِيَّةُ وَأَسْبَابُهَا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TC-L03 · Climate, Seasons and Weather</dc:title>
  <dc:subject>PptxGenJS Presentation</dc:subject>
  <dc:creator>Al Madina Online School · Arabic Department</dc:creator>
  <cp:lastModifiedBy>Al Madina Online School · Arabic Department</cp:lastModifiedBy>
  <cp:revision>1</cp:revision>
  <dcterms:created xsi:type="dcterms:W3CDTF">2026-10-11T06:43:57Z</dcterms:created>
  <dcterms:modified xsi:type="dcterms:W3CDTF">2026-10-11T06:43:57Z</dcterms:modified>
</cp:coreProperties>
</file>