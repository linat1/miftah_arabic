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5 (TC-L05). The website lesson reuses D4-L04 (Environmental Solutions — What Can Be Done?) with the Topic C focus “Propose, justify and evaluate practical environmental action” (grammar: advice; subjunctive after أن/لكي; conditionals). The picture match is the website lesson game “Choose the Solution”; the “solution council” ranking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D4-L04 is B1 language. CORE: solution words + ONE pattern: يَنْبَغِي أَنْ / يَجِبُ أَنْ + a “we” verb whose last vowel changes to fatḥa (نُقَلِّلُ → نُقَلِّلَ). The three website game sentences are the Core models. DEVELOP: responsibility (يَجِبُ عَلَى الحُكُومَةِ أَنْ …) and purpose (لِكَيْ). STRETCH: the “five verbs” (أَنْ يُعِيدُوا) and a conditional (إِذَا … سَـ).
• A “before and after أَنْ” verb table with transliteration; picture match with icons; read-along listening with English.
• Urdu bridge words (ضروری، طاقت، حل، حکومت، ممکن).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TC-L04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After أَنْ (and لِكَيْ) the verb’s last vowel changes to a fatḥa: نُقَلِّلُ → أَنْ نُقَلِّلَ.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ضروری (necessary — مِنَ الضَّرُورِيِّ أَنْ), طاقت (power — الطَّاقَةُ الشَّمْسِيَّةُ), حل (solution — الحُلُولُ), حکومت (government), ممکن (possible — يُمْكِنُ أَنْ).
Groups 1–4 are the website D4-L04 vocabulary; Group 2 also adds الدَّرَّاجَةُ and نُطْفِئُ الأَضْوَاءَ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Environmental solutions (website D4-L04). Hear → Say → See → Use.
The small boxes break each phrase into two words with English. Links: الشَّمْسِيَّةُ = nisba of شَمْس (TC-L01 ending); الرِّيَاح (TC-L03); شَجَرَة (TC-L04 prep word) → التَّشْجِيرُ (planting trees).
Gesture: circular arrows for recycling; sun; blow; plant a seed; turn off a tap; bus steering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solutions (website D4-L04 + website lesson game). Core: الدَّرَّاجَةُ and نُطْفِئُ الأَضْوَاءَ (both in the picture match). Develop / Stretch: all six.
Link: البِيئِيَّةُ = nisba of بِيئَة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Action verbs (website D4-L04), all in the “we” form (نَـ / نُـ = we — the WHO letter from the verb code).
The third column shows the same verb after أَنْ or لِكَيْ: the last vowel changes from ḍamma to fatḥa (website rule: “A sound-ending present verb changes its final ḍamma to fatḥa after أَنْ: نُقَلِّلُ → نُقَلِّلَ. It does not ‘lose a nūn’.”).
Core: the four CORE rows — say both forms aloud: nu-qal-li-LU → an nu-qal-li-LA.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Advice, obligation and purpose (website D4-L04; مِنَ الأَفْضَلِ أَنْ from the website game; also on the website: عَلَى المَدَى الطَّوِيلِ = in the long term).
Every card ends in أَنْ or لِكَيْ — so the NEXT verb always takes a fatḥa. Core: cards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“Advice with يَنْبَغِي أَنْ”: يَنْبَغِي أَنْ + subjunctive present. A sound-ending present verb changes its final ḍamma to fatḥa after أَنْ.
Think aloud: “Three steps: the advice word, then WHO (نُـ = we), then the ending changes to a fatḥa because of أَنْ.”
Pink here marks the part of the verb whose ENDING changes — say the last syllable louder: nu-qal-li-LA.
Core rule for today: after أَنْ → end the verb with “-a”.
Misconception (website mistake): يَنْبَغِي أَنْ نُقَلِّلُ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same ending after five advice words (2 min). Sentences: website grammar quiz, pattern, website game (rows 2 and 5, shortened in row 5).
Read each row; students repeat only the advice word + the pink verb, stressing the final “-a”.
Develop: in row 4 notice that نَسْتَخْدِمُ (before لِكَيْ) keeps its ḍamma — only the verb AFTER أَنْ / لِكَيْ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“Obligation for a person or group”: يَجِبُ عَلَى + noun + أَنْ + subjunctive. Name the responsible person or group after عَلَى.
Sentences: website pattern (government), listening script (schools, families) and reading text (students).
The verb agrees with WHO: الحُكُومَة / المَدَارِس / الأُسَر → تَـ; الطُّلَّاب (people, plural) → يَفْصِلُوا (a “five verb”: the ن disappears — Stretch).
Topic C application “Solution council”: responsibility is the key to ranking solutions (individuals vs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“The five verbs after أَنْ” (only the five verbs lose their final nūn: يُعِيدُونَ → أَنْ يُعِيدُوا; ordinary forms such as نُقَلِّلُ do not contain that nūn) + the Topic C “conditionals” focus (card 3 is teacher-made, recycling the TC-L02 Type 1 rule).
Website common error: “Do not say that every subjunctive verb “loses nūn”. Only the five verbs lose their nūn. A form such as نُقَلِّلَ is marked by final fatḥa.”
FLEX — Stretch focus. Develop may try card 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proposal into their books.
Step 1 — “The problem: تَزْدَادُ النُّفَايَاتُ. لِذٰلِكَ = so.”
Step 2 — “Advice: يَنْبَغِي أَنْ + نُعِيدُ → نُعِيدَ.”
Step 3 — “Who? يَجِبُ عَلَى المَدْرَسَةِ أَنْ تَضَعَ حَاوِيَاتٍ — the school is ‘she’, so تَضَعَ.”
Step 4 — “Why? لِكَيْ نُقَلِّلَ النُّفَايَاتِ.”
Built from website language: mission (تَزْدَادُ النُّفَايَاتُ، لِذٰلِكَ يَجِبُ أَنْ نُعِيدَ التَّدْوِيرَ), speaking model (يَجِبُ عَلَى المَدْرَسَةِ أَنْ تَضَعَ حَاوِيَاتٍ … لِكَيْ تُقَلِّلَ النُّفَايَاتِ).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solution. • Develop: copy 3 with a different group (المَدَارِسُ، الأُسَرُ). • Stretch: copy 4 and add a limitation (لٰكِنَّ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هُنَاكَ حُلُولٌ عَمَلِيَّةٌ لِحِمَايَةِ البِيئَةِ. يَنْبَغِي أَنْ نُقَلِّلَ اسْتِخْدَامَ البِلَاسْتِيكِ، وَيَجِبُ عَلَى المَدَارِسِ أَنْ تُعِيدَ تَدْوِيرَ الوَرَقِ. كَمَا يَجِبُ عَلَى الحُكُومَاتِ أَنْ تَسْتَثْمِرَ فِي الطَّاقَةِ الشَّمْسِيَّةِ وَطَاقَةِ الرِّيَاحِ. وَيُمْكِنُ لِلأُسَرِ أَنْ تُرَشِّدَ المَاءَ لِكَيْ تَحْمِيَ المَوَارِدَ الطَّبِيعِيَّةَ.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can you do to protect the environment?” — answered with the Core stem, e.g. يَنْبَغِي أَنْ نُوَفِّرَ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proposing solutions to one environmental problem.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يَنْبَغِي أَنْ نُقَلِّلَ · يَجِبُ عَلَى الطُّلَّابِ أَنْ يُعِيدُوا (a five verb!) · لِكَيْ نُقَلِّلَ · فِي رَأْيِي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(TC-L06 · The Digital World and Communication) will spend class time USING this language, so students prepare it tonight — short, simple, easy to access (school guidance: “Simple, Short, Interesting, Relevant, Easy to access”). The five words come from the website D4-L05 vocabulary and the website lesson game “Digital Life”.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2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Environmental Solutions and Responsibility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الحُلُولُ البِيئِيَّةُ وَالمَسْؤُولِيَّةُ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Propose, justify and evaluate practical environmental action: give advice (</a:t>
            </a:r>
            <a:pPr algn="l" indent="0" marL="0">
              <a:buNone/>
            </a:pPr>
            <a:r>
              <a:rPr lang="ar-SA" altLang="en-US" sz="1800" dirty="0">
                <a:solidFill>
                  <a:srgbClr val="C6D2E6"/>
                </a:solidFill>
                <a:latin typeface="Amiri" pitchFamily="34" charset="0"/>
                <a:ea typeface="Amiri" pitchFamily="34" charset="-122"/>
                <a:cs typeface="Amiri" pitchFamily="34" charset="-120"/>
              </a:rPr>
              <a:t>يَنْبَغِي أَنْ نُقَلِّلَ</a:t>
            </a:r>
            <a:pPr algn="l" indent="0" marL="0">
              <a:buNone/>
            </a:pPr>
            <a:r>
              <a:rPr lang="en-US" sz="1400" dirty="0">
                <a:solidFill>
                  <a:srgbClr val="C6D2E6"/>
                </a:solidFill>
                <a:latin typeface="Calibri" pitchFamily="34" charset="0"/>
                <a:ea typeface="Calibri" pitchFamily="34" charset="-122"/>
                <a:cs typeface="Calibri" pitchFamily="34" charset="-120"/>
              </a:rPr>
              <a:t>), say who is responsible (</a:t>
            </a:r>
            <a:pPr algn="l" indent="0" marL="0">
              <a:buNone/>
            </a:pPr>
            <a:r>
              <a:rPr lang="ar-SA" altLang="en-US" sz="1800" dirty="0">
                <a:solidFill>
                  <a:srgbClr val="C6D2E6"/>
                </a:solidFill>
                <a:latin typeface="Amiri" pitchFamily="34" charset="0"/>
                <a:ea typeface="Amiri" pitchFamily="34" charset="-122"/>
                <a:cs typeface="Amiri" pitchFamily="34" charset="-120"/>
              </a:rPr>
              <a:t>يَجِبُ عَلَى الحُكُومَةِ أَنْ</a:t>
            </a:r>
            <a:pPr algn="l" indent="0" marL="0">
              <a:buNone/>
            </a:pPr>
            <a:r>
              <a:rPr lang="en-US" sz="1400" dirty="0">
                <a:solidFill>
                  <a:srgbClr val="C6D2E6"/>
                </a:solidFill>
                <a:latin typeface="Calibri" pitchFamily="34" charset="0"/>
                <a:ea typeface="Calibri" pitchFamily="34" charset="-122"/>
                <a:cs typeface="Calibri" pitchFamily="34" charset="-120"/>
              </a:rPr>
              <a:t> …) and explain the purpose (</a:t>
            </a:r>
            <a:pPr algn="l" indent="0" marL="0">
              <a:buNone/>
            </a:pPr>
            <a:r>
              <a:rPr lang="ar-SA" altLang="en-US" sz="1800" dirty="0">
                <a:solidFill>
                  <a:srgbClr val="C6D2E6"/>
                </a:solidFill>
                <a:latin typeface="Amiri" pitchFamily="34" charset="0"/>
                <a:ea typeface="Amiri" pitchFamily="34" charset="-122"/>
                <a:cs typeface="Amiri" pitchFamily="34" charset="-120"/>
              </a:rPr>
              <a:t>لِكَيْ</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TC-L05 · Week 2,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Solution words, then advice, “must” and purpose.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rank solutions,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“recycling”?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النَّقْلُ العَامُّ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إِعَادَةُ التَّدْوِيرِ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الهَوَاءِ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نَزْرَعُ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plant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save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throw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فِي أَمْرَاضٍ.</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بِأَمْرَاضٍ.</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إِلَى أَمْرَاضٍ.</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 النُّفَايَاتِ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leads to waste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without waste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because of the waste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الثُّلُوجُ يَسْقُطَ فِي الشِّتَاءِ.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“recycling”?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النَّقْلُ العَامُّ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إِعَادَةُ التَّدْوِيرِ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تَلَوُّثُ الهَوَاءِ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إِعَادَةُ التَّدْوِيرِ</a:t>
            </a:r>
            <a:pPr algn="l" indent="0" marL="0">
              <a:buNone/>
            </a:pPr>
            <a:r>
              <a:rPr lang="en-US" sz="1050" i="1" dirty="0">
                <a:solidFill>
                  <a:srgbClr val="8A6D1E"/>
                </a:solidFill>
                <a:latin typeface="Calibri" pitchFamily="34" charset="0"/>
                <a:ea typeface="Calibri" pitchFamily="34" charset="-122"/>
                <a:cs typeface="Calibri" pitchFamily="34" charset="-120"/>
              </a:rPr>
              <a:t> = recycling · </a:t>
            </a:r>
            <a:pPr algn="l" indent="0" marL="0">
              <a:buNone/>
            </a:pPr>
            <a:r>
              <a:rPr lang="ar-SA" altLang="en-US" sz="1350" dirty="0">
                <a:solidFill>
                  <a:srgbClr val="8A6D1E"/>
                </a:solidFill>
                <a:latin typeface="Amiri" pitchFamily="34" charset="0"/>
                <a:ea typeface="Amiri" pitchFamily="34" charset="-122"/>
                <a:cs typeface="Amiri" pitchFamily="34" charset="-120"/>
              </a:rPr>
              <a:t>النَّقْلُ العَامُّ</a:t>
            </a:r>
            <a:pPr algn="l" indent="0" marL="0">
              <a:buNone/>
            </a:pPr>
            <a:r>
              <a:rPr lang="en-US" sz="1050" i="1" dirty="0">
                <a:solidFill>
                  <a:srgbClr val="8A6D1E"/>
                </a:solidFill>
                <a:latin typeface="Calibri" pitchFamily="34" charset="0"/>
                <a:ea typeface="Calibri" pitchFamily="34" charset="-122"/>
                <a:cs typeface="Calibri" pitchFamily="34" charset="-120"/>
              </a:rPr>
              <a:t> = public transport.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نَزْرَعُ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we plant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save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throw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نَزْرَعُ</a:t>
            </a:r>
            <a:pPr algn="l" indent="0" marL="0">
              <a:buNone/>
            </a:pPr>
            <a:r>
              <a:rPr lang="en-US" sz="1050" i="1" dirty="0">
                <a:solidFill>
                  <a:srgbClr val="8A6D1E"/>
                </a:solidFill>
                <a:latin typeface="Calibri" pitchFamily="34" charset="0"/>
                <a:ea typeface="Calibri" pitchFamily="34" charset="-122"/>
                <a:cs typeface="Calibri" pitchFamily="34" charset="-120"/>
              </a:rPr>
              <a:t> = we plant · </a:t>
            </a:r>
            <a:pPr algn="l" indent="0" marL="0">
              <a:buNone/>
            </a:pPr>
            <a:r>
              <a:rPr lang="ar-SA" altLang="en-US" sz="1350" dirty="0">
                <a:solidFill>
                  <a:srgbClr val="8A6D1E"/>
                </a:solidFill>
                <a:latin typeface="Amiri" pitchFamily="34" charset="0"/>
                <a:ea typeface="Amiri" pitchFamily="34" charset="-122"/>
                <a:cs typeface="Amiri" pitchFamily="34" charset="-120"/>
              </a:rPr>
              <a:t>نُوَفِّرُ</a:t>
            </a:r>
            <a:pPr algn="l" indent="0" marL="0">
              <a:buNone/>
            </a:pPr>
            <a:r>
              <a:rPr lang="en-US" sz="1050" i="1" dirty="0">
                <a:solidFill>
                  <a:srgbClr val="8A6D1E"/>
                </a:solidFill>
                <a:latin typeface="Calibri" pitchFamily="34" charset="0"/>
                <a:ea typeface="Calibri" pitchFamily="34" charset="-122"/>
                <a:cs typeface="Calibri" pitchFamily="34" charset="-120"/>
              </a:rPr>
              <a:t> = we save.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فِي أَمْرَاضٍ.</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بِأَمْرَاضٍ.</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التَّلَوُّثُ إِلَى أَمْرَاضٍ.</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always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 النُّفَايَاتِ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leads to waste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without waste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because of the waste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t>
            </a:r>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 noun = because of …</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الثُّلُوجُ يَسْقُطَ فِي الشِّتَاءِ.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feminine weather word → </a:t>
            </a:r>
            <a:pPr algn="l" indent="0" marL="0">
              <a:buNone/>
            </a:pPr>
            <a:r>
              <a:rPr lang="ar-SA" altLang="en-US" sz="1350" dirty="0">
                <a:solidFill>
                  <a:srgbClr val="8A6D1E"/>
                </a:solidFill>
                <a:latin typeface="Amiri" pitchFamily="34" charset="0"/>
                <a:ea typeface="Amiri" pitchFamily="34" charset="-122"/>
                <a:cs typeface="Amiri" pitchFamily="34" charset="-120"/>
              </a:rPr>
              <a:t>تَـ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After </a:t>
            </a:r>
            <a:pPr algn="l" indent="0" marL="0">
              <a:buNone/>
            </a:pPr>
            <a:r>
              <a:rPr lang="ar-SA" altLang="en-US" sz="1700" b="1" dirty="0">
                <a:solidFill>
                  <a:srgbClr val="1F2A37"/>
                </a:solidFill>
                <a:latin typeface="Amiri" pitchFamily="34" charset="0"/>
                <a:ea typeface="Amiri" pitchFamily="34" charset="-122"/>
                <a:cs typeface="Amiri" pitchFamily="34" charset="-120"/>
              </a:rPr>
              <a:t>أَنْ</a:t>
            </a:r>
            <a:pPr algn="l" indent="0" marL="0">
              <a:buNone/>
            </a:pPr>
            <a:r>
              <a:rPr lang="en-US" sz="1300" b="1" dirty="0">
                <a:solidFill>
                  <a:srgbClr val="1F2A37"/>
                </a:solidFill>
                <a:latin typeface="Calibri" pitchFamily="34" charset="0"/>
                <a:ea typeface="Calibri" pitchFamily="34" charset="-122"/>
                <a:cs typeface="Calibri" pitchFamily="34" charset="-120"/>
              </a:rPr>
              <a:t> (and </a:t>
            </a:r>
            <a:pPr algn="l" indent="0" marL="0">
              <a:buNone/>
            </a:pPr>
            <a:r>
              <a:rPr lang="ar-SA" altLang="en-US" sz="1700" b="1" dirty="0">
                <a:solidFill>
                  <a:srgbClr val="1F2A37"/>
                </a:solidFill>
                <a:latin typeface="Amiri" pitchFamily="34" charset="0"/>
                <a:ea typeface="Amiri" pitchFamily="34" charset="-122"/>
                <a:cs typeface="Amiri" pitchFamily="34" charset="-120"/>
              </a:rPr>
              <a:t>لِكَيْ</a:t>
            </a:r>
            <a:pPr algn="l" indent="0" marL="0">
              <a:buNone/>
            </a:pPr>
            <a:r>
              <a:rPr lang="en-US" sz="1300" b="1" dirty="0">
                <a:solidFill>
                  <a:srgbClr val="1F2A37"/>
                </a:solidFill>
                <a:latin typeface="Calibri" pitchFamily="34" charset="0"/>
                <a:ea typeface="Calibri" pitchFamily="34" charset="-122"/>
                <a:cs typeface="Calibri" pitchFamily="34" charset="-120"/>
              </a:rPr>
              <a:t>) the verb’s last vowel changes to a fatḥa: </a:t>
            </a:r>
            <a:pPr algn="l" indent="0" marL="0">
              <a:buNone/>
            </a:pPr>
            <a:r>
              <a:rPr lang="ar-SA" altLang="en-US" sz="1700" b="1" dirty="0">
                <a:solidFill>
                  <a:srgbClr val="1F2A37"/>
                </a:solidFill>
                <a:latin typeface="Amiri" pitchFamily="34" charset="0"/>
                <a:ea typeface="Amiri" pitchFamily="34" charset="-122"/>
                <a:cs typeface="Amiri" pitchFamily="34" charset="-120"/>
              </a:rPr>
              <a:t>نُقَلِّلُ</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أَنْ نُقَلِّلَ</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نُقَلِّلُ  ←  يَنْبَغِي 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نُقَلِّلَ</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environmental solutions.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advice: </a:t>
            </a:r>
            <a:pPr algn="l" indent="0" marL="0">
              <a:buNone/>
            </a:pPr>
            <a:r>
              <a:rPr lang="ar-SA" altLang="en-US" sz="1700" b="1" dirty="0">
                <a:solidFill>
                  <a:srgbClr val="2E8B57"/>
                </a:solidFill>
                <a:latin typeface="Amiri" pitchFamily="34" charset="0"/>
                <a:ea typeface="Amiri" pitchFamily="34" charset="-122"/>
                <a:cs typeface="Amiri" pitchFamily="34" charset="-120"/>
              </a:rPr>
              <a:t>يَنْبَغِي أَنْ نُقَلِّلَ</a:t>
            </a:r>
            <a:pPr algn="l" indent="0" marL="0">
              <a:buNone/>
            </a:pPr>
            <a:r>
              <a:rPr lang="en-US" sz="1300" b="1" dirty="0">
                <a:solidFill>
                  <a:srgbClr val="2E8B57"/>
                </a:solidFill>
                <a:latin typeface="Calibri" pitchFamily="34" charset="0"/>
                <a:ea typeface="Calibri" pitchFamily="34" charset="-122"/>
                <a:cs typeface="Calibri" pitchFamily="34" charset="-120"/>
              </a:rPr>
              <a:t> … (fatḥa after </a:t>
            </a:r>
            <a:pPr algn="l" indent="0" marL="0">
              <a:buNone/>
            </a:pPr>
            <a:r>
              <a:rPr lang="ar-SA" altLang="en-US" sz="1700" b="1" dirty="0">
                <a:solidFill>
                  <a:srgbClr val="2E8B57"/>
                </a:solidFill>
                <a:latin typeface="Amiri" pitchFamily="34" charset="0"/>
                <a:ea typeface="Amiri" pitchFamily="34" charset="-122"/>
                <a:cs typeface="Amiri" pitchFamily="34" charset="-120"/>
              </a:rPr>
              <a:t>أَنْ</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who is responsible: </a:t>
            </a:r>
            <a:pPr algn="l" indent="0" marL="0">
              <a:buNone/>
            </a:pPr>
            <a:r>
              <a:rPr lang="ar-SA" altLang="en-US" sz="1700" b="1" dirty="0">
                <a:solidFill>
                  <a:srgbClr val="C9780A"/>
                </a:solidFill>
                <a:latin typeface="Amiri" pitchFamily="34" charset="0"/>
                <a:ea typeface="Amiri" pitchFamily="34" charset="-122"/>
                <a:cs typeface="Amiri" pitchFamily="34" charset="-120"/>
              </a:rPr>
              <a:t>يَجِبُ عَلَى الحُكُومَةِ أَنْ</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purpose with </a:t>
            </a:r>
            <a:pPr algn="l" indent="0" marL="0">
              <a:buNone/>
            </a:pPr>
            <a:r>
              <a:rPr lang="ar-SA" altLang="en-US" sz="1700" b="1" dirty="0">
                <a:solidFill>
                  <a:srgbClr val="C9780A"/>
                </a:solidFill>
                <a:latin typeface="Amiri" pitchFamily="34" charset="0"/>
                <a:ea typeface="Amiri" pitchFamily="34" charset="-122"/>
                <a:cs typeface="Amiri" pitchFamily="34" charset="-120"/>
              </a:rPr>
              <a:t>لِكَيْ</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five verbs after </a:t>
            </a:r>
            <a:pPr algn="l" indent="0" marL="0">
              <a:buNone/>
            </a:pPr>
            <a:r>
              <a:rPr lang="ar-SA" altLang="en-US" sz="1700" b="1" dirty="0">
                <a:solidFill>
                  <a:srgbClr val="B83227"/>
                </a:solidFill>
                <a:latin typeface="Amiri" pitchFamily="34" charset="0"/>
                <a:ea typeface="Amiri" pitchFamily="34" charset="-122"/>
                <a:cs typeface="Amiri" pitchFamily="34" charset="-120"/>
              </a:rPr>
              <a:t>أَنْ</a:t>
            </a:r>
            <a:pPr algn="l" indent="0" marL="0">
              <a:buNone/>
            </a:pPr>
            <a:r>
              <a:rPr lang="en-US" sz="1300" b="1" dirty="0">
                <a:solidFill>
                  <a:srgbClr val="B83227"/>
                </a:solidFill>
                <a:latin typeface="Calibri" pitchFamily="34" charset="0"/>
                <a:ea typeface="Calibri" pitchFamily="34" charset="-122"/>
                <a:cs typeface="Calibri" pitchFamily="34" charset="-120"/>
              </a:rPr>
              <a:t>: </a:t>
            </a:r>
            <a:pPr algn="l" indent="0" marL="0">
              <a:buNone/>
            </a:pPr>
            <a:r>
              <a:rPr lang="ar-SA" altLang="en-US" sz="1700" b="1" dirty="0">
                <a:solidFill>
                  <a:srgbClr val="B83227"/>
                </a:solidFill>
                <a:latin typeface="Amiri" pitchFamily="34" charset="0"/>
                <a:ea typeface="Amiri" pitchFamily="34" charset="-122"/>
                <a:cs typeface="Amiri" pitchFamily="34" charset="-120"/>
              </a:rPr>
              <a:t>أَنْ يُعِيدُوا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rank solutions and evaluate one limitation.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Solutions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solutions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“We” verbs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Advice and purpose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ضَرُورِيٌّ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‎ضروری‎ </a:t>
            </a:r>
            <a:pPr indent="0" marL="0">
              <a:buNone/>
            </a:pPr>
            <a:r>
              <a:rPr lang="en-US" sz="950" b="1" dirty="0">
                <a:solidFill>
                  <a:srgbClr val="2E8B57"/>
                </a:solidFill>
                <a:latin typeface="Calibri" pitchFamily="34" charset="0"/>
                <a:ea typeface="Calibri" pitchFamily="34" charset="-122"/>
                <a:cs typeface="Calibri" pitchFamily="34" charset="-120"/>
              </a:rPr>
              <a:t> zarūrī · necessary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طَاقَةٌ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‎طاقت‎ </a:t>
            </a:r>
            <a:pPr indent="0" marL="0">
              <a:buNone/>
            </a:pPr>
            <a:r>
              <a:rPr lang="en-US" sz="950" b="1" dirty="0">
                <a:solidFill>
                  <a:srgbClr val="2E8B57"/>
                </a:solidFill>
                <a:latin typeface="Calibri" pitchFamily="34" charset="0"/>
                <a:ea typeface="Calibri" pitchFamily="34" charset="-122"/>
                <a:cs typeface="Calibri" pitchFamily="34" charset="-120"/>
              </a:rPr>
              <a:t> tāqat · energy, power</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‎حل‎ </a:t>
            </a:r>
            <a:pPr indent="0" marL="0">
              <a:buNone/>
            </a:pPr>
            <a:r>
              <a:rPr lang="en-US" sz="950" b="1" dirty="0">
                <a:solidFill>
                  <a:srgbClr val="2E8B57"/>
                </a:solidFill>
                <a:latin typeface="Calibri" pitchFamily="34" charset="0"/>
                <a:ea typeface="Calibri" pitchFamily="34" charset="-122"/>
                <a:cs typeface="Calibri" pitchFamily="34" charset="-120"/>
              </a:rPr>
              <a:t> ḥal · solution</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حُكُومَةٌ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‎حکومت‎ </a:t>
            </a:r>
            <a:pPr indent="0" marL="0">
              <a:buNone/>
            </a:pPr>
            <a:r>
              <a:rPr lang="en-US" sz="950" b="1" dirty="0">
                <a:solidFill>
                  <a:srgbClr val="2E8B57"/>
                </a:solidFill>
                <a:latin typeface="Calibri" pitchFamily="34" charset="0"/>
                <a:ea typeface="Calibri" pitchFamily="34" charset="-122"/>
                <a:cs typeface="Calibri" pitchFamily="34" charset="-120"/>
              </a:rPr>
              <a:t> ḥukūmat · government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يُمْكِنُ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‎ممکن‎ </a:t>
            </a:r>
            <a:pPr indent="0" marL="0">
              <a:buNone/>
            </a:pPr>
            <a:r>
              <a:rPr lang="en-US" sz="950" b="1" dirty="0">
                <a:solidFill>
                  <a:srgbClr val="2E8B57"/>
                </a:solidFill>
                <a:latin typeface="Calibri" pitchFamily="34" charset="0"/>
                <a:ea typeface="Calibri" pitchFamily="34" charset="-122"/>
                <a:cs typeface="Calibri" pitchFamily="34" charset="-120"/>
              </a:rPr>
              <a:t> mumkin · possible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solutions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إِعَادَةُ التَّدْوِيرِ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recycling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i-ʿā-dat at-tad-wīr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again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إِعَادَةٌ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turning</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التَّدْوِيرُ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الطَّاقَةُ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الشَّمْسِ</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solar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aṭ-ṭā-qa sh-sham-siy-ya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energy</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طَاقَةٌ</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sun</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شَمْسٌ</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طَاقَةُ 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ṭā-qat ar-ri-yāḥ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energy</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طَاقَةٌ</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winds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الرِّيَاحُ</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التَّشْجِيرُ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tree planting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at-tash-jīr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tree</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شَجَرَةٌ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planting trees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التَّشْجِيرُ</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تَرْشِيدُ المِيَاهِ</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saving water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tar-shīd al-mi-yāh</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wise use</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تَرْشِيدٌ</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water</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المِيَاهُ</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النَّقْلُ </a:t>
            </a:r>
            <a:pPr rtl="1" algn="r" indent="0" marL="0">
              <a:buNone/>
            </a:pPr>
            <a:r>
              <a:rPr lang="ar-SA" altLang="en-US" sz="3000" b="1" dirty="0">
                <a:solidFill>
                  <a:srgbClr val="7B3FA0"/>
                </a:solidFill>
                <a:latin typeface="Amiri" pitchFamily="34" charset="0"/>
                <a:ea typeface="Amiri" pitchFamily="34" charset="-122"/>
                <a:cs typeface="Amiri" pitchFamily="34" charset="-120"/>
              </a:rPr>
              <a:t>العَامُّ</a:t>
            </a:r>
            <a:endParaRPr lang="ar-SA" sz="3000" dirty="0"/>
          </a:p>
        </p:txBody>
      </p:sp>
      <p:sp>
        <p:nvSpPr>
          <p:cNvPr id="98" name="Text 9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public transport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an-naql al-ʿāmm</a:t>
            </a:r>
            <a:endParaRPr lang="en-US"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solutions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الدَّرَّاجَةُ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bicycle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ad-dar-rā-ja · pl. dar-rā-jāt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دَرَّاجَةٌ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دَرَّاجَاتٌ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نُطْفِئُ الأَضْوَاءَ</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 switch off the lights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nuṭ-fiʾ al-aḍ-wāʾ</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light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ضَوْءٌ</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lights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أَضْوَاءٌ</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الطَّاقَةُ المُتَجَدِّدَةُ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renewable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aṭ-ṭā-qa l-mu-ta-jad-di-da</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تَقْلِيلُ الاسْتِهْلَاكِ</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reducing consumption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taq-līl al-is-tih-lāk</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2" name="Shape 59"/>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التَّوْعِيَةُ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البِيئِ</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environmental awareness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at-taw-ʿi-ya l-bī-ʾiy-ya</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69" name="Shape 66"/>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التَّنْمِيَةُ المُسْتَدَامَةُ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sustainable development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at-tan-mi-ya l-mus-ta-dā-ma</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“WE” VERBS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“We” verbs — before and after </a:t>
            </a:r>
            <a:pPr algn="l" indent="0" marL="0">
              <a:buNone/>
            </a:pPr>
            <a:r>
              <a:rPr lang="ar-SA" altLang="en-US" sz="3600" b="1" dirty="0">
                <a:solidFill>
                  <a:srgbClr val="1B3B6F"/>
                </a:solidFill>
                <a:latin typeface="Amiri" pitchFamily="34" charset="0"/>
                <a:ea typeface="Amiri" pitchFamily="34" charset="-122"/>
                <a:cs typeface="Amiri" pitchFamily="34" charset="-120"/>
              </a:rPr>
              <a:t>أَنْ</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لِـ «نَحْنُ»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 verb (website)</a:t>
            </a:r>
            <a:endParaRPr lang="en-US" sz="1100" dirty="0"/>
          </a:p>
        </p:txBody>
      </p:sp>
      <p:sp>
        <p:nvSpPr>
          <p:cNvPr id="17" name="Text 14"/>
          <p:cNvSpPr txBox="1"/>
          <p:nvPr/>
        </p:nvSpPr>
        <p:spPr>
          <a:xfrm>
            <a:off x="64099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After </a:t>
            </a:r>
            <a:pPr algn="ctr" indent="0" marL="0">
              <a:buNone/>
            </a:pPr>
            <a:r>
              <a:rPr lang="ar-SA" altLang="en-US" sz="1450" b="1" dirty="0">
                <a:solidFill>
                  <a:srgbClr val="FFFFFF"/>
                </a:solidFill>
                <a:latin typeface="Amiri" pitchFamily="34" charset="0"/>
                <a:ea typeface="Amiri" pitchFamily="34" charset="-122"/>
                <a:cs typeface="Amiri" pitchFamily="34" charset="-120"/>
              </a:rPr>
              <a:t>أَنْ / لِكَيْ</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8805672" y="228600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نُقَلِّلُ مِنْ</a:t>
            </a:r>
            <a:endParaRPr lang="ar-SA" sz="1300" dirty="0"/>
          </a:p>
        </p:txBody>
      </p:sp>
      <p:sp>
        <p:nvSpPr>
          <p:cNvPr id="22" name="Text 19"/>
          <p:cNvSpPr txBox="1"/>
          <p:nvPr/>
        </p:nvSpPr>
        <p:spPr>
          <a:xfrm>
            <a:off x="8759952" y="254203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nu-qal-li-lu min</a:t>
            </a:r>
            <a:endParaRPr lang="en-US" sz="950" dirty="0"/>
          </a:p>
        </p:txBody>
      </p:sp>
      <p:sp>
        <p:nvSpPr>
          <p:cNvPr id="23" name="Text 20"/>
          <p:cNvSpPr txBox="1"/>
          <p:nvPr/>
        </p:nvSpPr>
        <p:spPr>
          <a:xfrm>
            <a:off x="6446520" y="226771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reduce</a:t>
            </a:r>
            <a:endParaRPr lang="en-US" sz="1100" dirty="0"/>
          </a:p>
        </p:txBody>
      </p:sp>
      <p:sp>
        <p:nvSpPr>
          <p:cNvPr id="24" name="Text 21"/>
          <p:cNvSpPr txBox="1"/>
          <p:nvPr/>
        </p:nvSpPr>
        <p:spPr>
          <a:xfrm>
            <a:off x="3502152" y="226771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نُقَلِّلَ</a:t>
            </a:r>
            <a:endParaRPr lang="ar-SA" sz="2100" dirty="0"/>
          </a:p>
        </p:txBody>
      </p:sp>
      <p:sp>
        <p:nvSpPr>
          <p:cNvPr id="25" name="Text 22"/>
          <p:cNvSpPr txBox="1"/>
          <p:nvPr/>
        </p:nvSpPr>
        <p:spPr>
          <a:xfrm>
            <a:off x="566928" y="226771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05672" y="279806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نُوَفِّرُ</a:t>
            </a:r>
            <a:endParaRPr lang="ar-SA" sz="1300" dirty="0"/>
          </a:p>
        </p:txBody>
      </p:sp>
      <p:sp>
        <p:nvSpPr>
          <p:cNvPr id="30" name="Text 27"/>
          <p:cNvSpPr txBox="1"/>
          <p:nvPr/>
        </p:nvSpPr>
        <p:spPr>
          <a:xfrm>
            <a:off x="8759952" y="305409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nu-waf-fi-ru</a:t>
            </a:r>
            <a:endParaRPr lang="en-US" sz="950" dirty="0"/>
          </a:p>
        </p:txBody>
      </p:sp>
      <p:sp>
        <p:nvSpPr>
          <p:cNvPr id="31" name="Text 28"/>
          <p:cNvSpPr txBox="1"/>
          <p:nvPr/>
        </p:nvSpPr>
        <p:spPr>
          <a:xfrm>
            <a:off x="6446520" y="277977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save, conserve</a:t>
            </a:r>
            <a:endParaRPr lang="en-US" sz="1100" dirty="0"/>
          </a:p>
        </p:txBody>
      </p:sp>
      <p:sp>
        <p:nvSpPr>
          <p:cNvPr id="32" name="Text 29"/>
          <p:cNvSpPr txBox="1"/>
          <p:nvPr/>
        </p:nvSpPr>
        <p:spPr>
          <a:xfrm>
            <a:off x="3502152" y="277977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نُوَفِّرَ</a:t>
            </a:r>
            <a:endParaRPr lang="ar-SA" sz="2100" dirty="0"/>
          </a:p>
        </p:txBody>
      </p:sp>
      <p:sp>
        <p:nvSpPr>
          <p:cNvPr id="33" name="Text 30"/>
          <p:cNvSpPr txBox="1"/>
          <p:nvPr/>
        </p:nvSpPr>
        <p:spPr>
          <a:xfrm>
            <a:off x="566928" y="277977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34" name="Shape 31"/>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7" name="Text 34"/>
          <p:cNvSpPr txBox="1"/>
          <p:nvPr/>
        </p:nvSpPr>
        <p:spPr>
          <a:xfrm>
            <a:off x="8805672" y="331012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نَزْرَعُ</a:t>
            </a:r>
            <a:endParaRPr lang="ar-SA" sz="1300" dirty="0"/>
          </a:p>
        </p:txBody>
      </p:sp>
      <p:sp>
        <p:nvSpPr>
          <p:cNvPr id="38" name="Text 35"/>
          <p:cNvSpPr txBox="1"/>
          <p:nvPr/>
        </p:nvSpPr>
        <p:spPr>
          <a:xfrm>
            <a:off x="8759952" y="356616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naz-ra-ʿu</a:t>
            </a:r>
            <a:endParaRPr lang="en-US" sz="950" dirty="0"/>
          </a:p>
        </p:txBody>
      </p:sp>
      <p:sp>
        <p:nvSpPr>
          <p:cNvPr id="39" name="Text 36"/>
          <p:cNvSpPr txBox="1"/>
          <p:nvPr/>
        </p:nvSpPr>
        <p:spPr>
          <a:xfrm>
            <a:off x="6446520" y="329184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plant</a:t>
            </a:r>
            <a:endParaRPr lang="en-US" sz="1100" dirty="0"/>
          </a:p>
        </p:txBody>
      </p:sp>
      <p:sp>
        <p:nvSpPr>
          <p:cNvPr id="40" name="Text 37"/>
          <p:cNvSpPr txBox="1"/>
          <p:nvPr/>
        </p:nvSpPr>
        <p:spPr>
          <a:xfrm>
            <a:off x="3502152" y="329184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نَزْرَعَ</a:t>
            </a:r>
            <a:endParaRPr lang="ar-SA" sz="2100" dirty="0"/>
          </a:p>
        </p:txBody>
      </p:sp>
      <p:sp>
        <p:nvSpPr>
          <p:cNvPr id="41" name="Text 38"/>
          <p:cNvSpPr txBox="1"/>
          <p:nvPr/>
        </p:nvSpPr>
        <p:spPr>
          <a:xfrm>
            <a:off x="566928" y="329184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42" name="Shape 39"/>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5" name="Text 42"/>
          <p:cNvSpPr txBox="1"/>
          <p:nvPr/>
        </p:nvSpPr>
        <p:spPr>
          <a:xfrm>
            <a:off x="8805672" y="3822192"/>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نُعِيدُ التَّدْوِيرَ</a:t>
            </a:r>
            <a:endParaRPr lang="ar-SA" sz="1300" dirty="0"/>
          </a:p>
        </p:txBody>
      </p:sp>
      <p:sp>
        <p:nvSpPr>
          <p:cNvPr id="46" name="Text 43"/>
          <p:cNvSpPr txBox="1"/>
          <p:nvPr/>
        </p:nvSpPr>
        <p:spPr>
          <a:xfrm>
            <a:off x="8759952" y="4078224"/>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nu-ʿī-du t-tad-wīr</a:t>
            </a:r>
            <a:endParaRPr lang="en-US" sz="950" dirty="0"/>
          </a:p>
        </p:txBody>
      </p:sp>
      <p:sp>
        <p:nvSpPr>
          <p:cNvPr id="47" name="Text 44"/>
          <p:cNvSpPr txBox="1"/>
          <p:nvPr/>
        </p:nvSpPr>
        <p:spPr>
          <a:xfrm>
            <a:off x="6446520" y="3803904"/>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recycle</a:t>
            </a:r>
            <a:endParaRPr lang="en-US" sz="1100" dirty="0"/>
          </a:p>
        </p:txBody>
      </p:sp>
      <p:sp>
        <p:nvSpPr>
          <p:cNvPr id="48" name="Text 45"/>
          <p:cNvSpPr txBox="1"/>
          <p:nvPr/>
        </p:nvSpPr>
        <p:spPr>
          <a:xfrm>
            <a:off x="3502152" y="3803904"/>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نُعِيدَ</a:t>
            </a:r>
            <a:endParaRPr lang="ar-SA" sz="2100" dirty="0"/>
          </a:p>
        </p:txBody>
      </p:sp>
      <p:sp>
        <p:nvSpPr>
          <p:cNvPr id="49" name="Text 46"/>
          <p:cNvSpPr txBox="1"/>
          <p:nvPr/>
        </p:nvSpPr>
        <p:spPr>
          <a:xfrm>
            <a:off x="566928" y="3803904"/>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50" name="Shape 47"/>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2" name="Shape 49"/>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3" name="Text 50"/>
          <p:cNvSpPr txBox="1"/>
          <p:nvPr/>
        </p:nvSpPr>
        <p:spPr>
          <a:xfrm>
            <a:off x="8805672" y="4334256"/>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نَسْتَخْدِمُ</a:t>
            </a:r>
            <a:endParaRPr lang="ar-SA" sz="1300" dirty="0"/>
          </a:p>
        </p:txBody>
      </p:sp>
      <p:sp>
        <p:nvSpPr>
          <p:cNvPr id="54" name="Text 51"/>
          <p:cNvSpPr txBox="1"/>
          <p:nvPr/>
        </p:nvSpPr>
        <p:spPr>
          <a:xfrm>
            <a:off x="8759952" y="4590288"/>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nas-takh-di-mu</a:t>
            </a:r>
            <a:endParaRPr lang="en-US" sz="950" dirty="0"/>
          </a:p>
        </p:txBody>
      </p:sp>
      <p:sp>
        <p:nvSpPr>
          <p:cNvPr id="55" name="Text 52"/>
          <p:cNvSpPr txBox="1"/>
          <p:nvPr/>
        </p:nvSpPr>
        <p:spPr>
          <a:xfrm>
            <a:off x="6446520" y="4315968"/>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use</a:t>
            </a:r>
            <a:endParaRPr lang="en-US" sz="1100" dirty="0"/>
          </a:p>
        </p:txBody>
      </p:sp>
      <p:sp>
        <p:nvSpPr>
          <p:cNvPr id="56" name="Text 53"/>
          <p:cNvSpPr txBox="1"/>
          <p:nvPr/>
        </p:nvSpPr>
        <p:spPr>
          <a:xfrm>
            <a:off x="3502152" y="4315968"/>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نَسْتَخْدِمَ</a:t>
            </a:r>
            <a:endParaRPr lang="ar-SA" sz="2100" dirty="0"/>
          </a:p>
        </p:txBody>
      </p:sp>
      <p:sp>
        <p:nvSpPr>
          <p:cNvPr id="57" name="Text 54"/>
          <p:cNvSpPr txBox="1"/>
          <p:nvPr/>
        </p:nvSpPr>
        <p:spPr>
          <a:xfrm>
            <a:off x="566928" y="4315968"/>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58" name="Shape 55"/>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9" name="Text 56"/>
          <p:cNvSpPr txBox="1"/>
          <p:nvPr/>
        </p:nvSpPr>
        <p:spPr>
          <a:xfrm>
            <a:off x="8805672" y="484632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نَسْتَثْمِرُ فِي</a:t>
            </a:r>
            <a:endParaRPr lang="ar-SA" sz="1300" dirty="0"/>
          </a:p>
        </p:txBody>
      </p:sp>
      <p:sp>
        <p:nvSpPr>
          <p:cNvPr id="60" name="Text 57"/>
          <p:cNvSpPr txBox="1"/>
          <p:nvPr/>
        </p:nvSpPr>
        <p:spPr>
          <a:xfrm>
            <a:off x="8759952" y="510235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nas-tath-mi-ru fī</a:t>
            </a:r>
            <a:endParaRPr lang="en-US" sz="950" dirty="0"/>
          </a:p>
        </p:txBody>
      </p:sp>
      <p:sp>
        <p:nvSpPr>
          <p:cNvPr id="61" name="Text 58"/>
          <p:cNvSpPr txBox="1"/>
          <p:nvPr/>
        </p:nvSpPr>
        <p:spPr>
          <a:xfrm>
            <a:off x="6446520" y="482803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invest in</a:t>
            </a:r>
            <a:endParaRPr lang="en-US" sz="1100" dirty="0"/>
          </a:p>
        </p:txBody>
      </p:sp>
      <p:sp>
        <p:nvSpPr>
          <p:cNvPr id="62" name="Text 59"/>
          <p:cNvSpPr txBox="1"/>
          <p:nvPr/>
        </p:nvSpPr>
        <p:spPr>
          <a:xfrm>
            <a:off x="3502152" y="482803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نَسْتَثْمِرَ</a:t>
            </a:r>
            <a:endParaRPr lang="ar-SA" sz="2100" dirty="0"/>
          </a:p>
        </p:txBody>
      </p:sp>
      <p:sp>
        <p:nvSpPr>
          <p:cNvPr id="63" name="Text 60"/>
          <p:cNvSpPr txBox="1"/>
          <p:nvPr/>
        </p:nvSpPr>
        <p:spPr>
          <a:xfrm>
            <a:off x="566928" y="482803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keep </a:t>
            </a:r>
            <a:pPr algn="l" indent="0" marL="0">
              <a:buNone/>
            </a:pPr>
            <a:r>
              <a:rPr lang="ar-SA" altLang="en-US" sz="1450" dirty="0">
                <a:solidFill>
                  <a:srgbClr val="5A6472"/>
                </a:solidFill>
                <a:latin typeface="Amiri" pitchFamily="34" charset="0"/>
                <a:ea typeface="Amiri" pitchFamily="34" charset="-122"/>
                <a:cs typeface="Amiri" pitchFamily="34" charset="-120"/>
              </a:rPr>
              <a:t>فِي</a:t>
            </a:r>
            <a:pPr algn="l" indent="0" marL="0">
              <a:buNone/>
            </a:pPr>
            <a:r>
              <a:rPr lang="en-US" sz="1100" i="1" dirty="0">
                <a:solidFill>
                  <a:srgbClr val="5A6472"/>
                </a:solidFill>
                <a:latin typeface="Calibri" pitchFamily="34" charset="0"/>
                <a:ea typeface="Calibri" pitchFamily="34" charset="-122"/>
                <a:cs typeface="Calibri" pitchFamily="34" charset="-120"/>
              </a:rPr>
              <a:t> after it</a:t>
            </a:r>
            <a:endParaRPr lang="en-US" sz="1100" dirty="0"/>
          </a:p>
        </p:txBody>
      </p:sp>
      <p:sp>
        <p:nvSpPr>
          <p:cNvPr id="64" name="Shape 61"/>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5" name="Text 62"/>
          <p:cNvSpPr txBox="1"/>
          <p:nvPr/>
        </p:nvSpPr>
        <p:spPr>
          <a:xfrm>
            <a:off x="8805672" y="535838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نَتَخَلَّصُ مِنْ</a:t>
            </a:r>
            <a:endParaRPr lang="ar-SA" sz="1300" dirty="0"/>
          </a:p>
        </p:txBody>
      </p:sp>
      <p:sp>
        <p:nvSpPr>
          <p:cNvPr id="66" name="Text 63"/>
          <p:cNvSpPr txBox="1"/>
          <p:nvPr/>
        </p:nvSpPr>
        <p:spPr>
          <a:xfrm>
            <a:off x="8759952" y="561441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na-ta-khal-la-ṣu min</a:t>
            </a:r>
            <a:endParaRPr lang="en-US" sz="950" dirty="0"/>
          </a:p>
        </p:txBody>
      </p:sp>
      <p:sp>
        <p:nvSpPr>
          <p:cNvPr id="67" name="Text 64"/>
          <p:cNvSpPr txBox="1"/>
          <p:nvPr/>
        </p:nvSpPr>
        <p:spPr>
          <a:xfrm>
            <a:off x="6446520" y="534009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get rid of</a:t>
            </a:r>
            <a:endParaRPr lang="en-US" sz="1100" dirty="0"/>
          </a:p>
        </p:txBody>
      </p:sp>
      <p:sp>
        <p:nvSpPr>
          <p:cNvPr id="68" name="Text 65"/>
          <p:cNvSpPr txBox="1"/>
          <p:nvPr/>
        </p:nvSpPr>
        <p:spPr>
          <a:xfrm>
            <a:off x="3502152" y="534009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نَتَخَلَّصَ</a:t>
            </a:r>
            <a:endParaRPr lang="ar-SA" sz="2100" dirty="0"/>
          </a:p>
        </p:txBody>
      </p:sp>
      <p:sp>
        <p:nvSpPr>
          <p:cNvPr id="69" name="Text 66"/>
          <p:cNvSpPr txBox="1"/>
          <p:nvPr/>
        </p:nvSpPr>
        <p:spPr>
          <a:xfrm>
            <a:off x="566928" y="534009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keep </a:t>
            </a:r>
            <a:pPr algn="l" indent="0" marL="0">
              <a:buNone/>
            </a:pPr>
            <a:r>
              <a:rPr lang="ar-SA" altLang="en-US" sz="1450" dirty="0">
                <a:solidFill>
                  <a:srgbClr val="5A6472"/>
                </a:solidFill>
                <a:latin typeface="Amiri" pitchFamily="34" charset="0"/>
                <a:ea typeface="Amiri" pitchFamily="34" charset="-122"/>
                <a:cs typeface="Amiri" pitchFamily="34" charset="-120"/>
              </a:rPr>
              <a:t>مِنْ</a:t>
            </a:r>
            <a:pPr algn="l" indent="0" marL="0">
              <a:buNone/>
            </a:pPr>
            <a:r>
              <a:rPr lang="en-US" sz="1100" i="1" dirty="0">
                <a:solidFill>
                  <a:srgbClr val="5A6472"/>
                </a:solidFill>
                <a:latin typeface="Calibri" pitchFamily="34" charset="0"/>
                <a:ea typeface="Calibri" pitchFamily="34" charset="-122"/>
                <a:cs typeface="Calibri" pitchFamily="34" charset="-120"/>
              </a:rPr>
              <a:t> after it</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05672" y="587044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نَتَبَنَّى</a:t>
            </a:r>
            <a:endParaRPr lang="ar-SA" sz="1300" dirty="0"/>
          </a:p>
        </p:txBody>
      </p:sp>
      <p:sp>
        <p:nvSpPr>
          <p:cNvPr id="72" name="Text 69"/>
          <p:cNvSpPr txBox="1"/>
          <p:nvPr/>
        </p:nvSpPr>
        <p:spPr>
          <a:xfrm>
            <a:off x="8759952" y="612648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na-ta-ban-nā</a:t>
            </a:r>
            <a:endParaRPr lang="en-US" sz="950" dirty="0"/>
          </a:p>
        </p:txBody>
      </p:sp>
      <p:sp>
        <p:nvSpPr>
          <p:cNvPr id="73" name="Text 70"/>
          <p:cNvSpPr txBox="1"/>
          <p:nvPr/>
        </p:nvSpPr>
        <p:spPr>
          <a:xfrm>
            <a:off x="6446520" y="585216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adopt</a:t>
            </a:r>
            <a:endParaRPr lang="en-US" sz="1100" dirty="0"/>
          </a:p>
        </p:txBody>
      </p:sp>
      <p:sp>
        <p:nvSpPr>
          <p:cNvPr id="74" name="Text 71"/>
          <p:cNvSpPr txBox="1"/>
          <p:nvPr/>
        </p:nvSpPr>
        <p:spPr>
          <a:xfrm>
            <a:off x="3502152" y="585216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نَتَبَنَّى</a:t>
            </a:r>
            <a:endParaRPr lang="ar-SA" sz="2100" dirty="0"/>
          </a:p>
        </p:txBody>
      </p:sp>
      <p:sp>
        <p:nvSpPr>
          <p:cNvPr id="75" name="Text 72"/>
          <p:cNvSpPr txBox="1"/>
          <p:nvPr/>
        </p:nvSpPr>
        <p:spPr>
          <a:xfrm>
            <a:off x="566928" y="585216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ends in </a:t>
            </a:r>
            <a:pPr algn="l" indent="0" marL="0">
              <a:buNone/>
            </a:pPr>
            <a:r>
              <a:rPr lang="ar-SA" altLang="en-US" sz="1450" dirty="0">
                <a:solidFill>
                  <a:srgbClr val="5A6472"/>
                </a:solidFill>
                <a:latin typeface="Amiri" pitchFamily="34" charset="0"/>
                <a:ea typeface="Amiri" pitchFamily="34" charset="-122"/>
                <a:cs typeface="Amiri" pitchFamily="34" charset="-120"/>
              </a:rPr>
              <a:t>ى</a:t>
            </a:r>
            <a:pPr algn="l" indent="0" marL="0">
              <a:buNone/>
            </a:pPr>
            <a:r>
              <a:rPr lang="en-US" sz="1100" i="1" dirty="0">
                <a:solidFill>
                  <a:srgbClr val="5A6472"/>
                </a:solidFill>
                <a:latin typeface="Calibri" pitchFamily="34" charset="0"/>
                <a:ea typeface="Calibri" pitchFamily="34" charset="-122"/>
                <a:cs typeface="Calibri" pitchFamily="34" charset="-120"/>
              </a:rPr>
              <a:t> — no visible change</a:t>
            </a:r>
            <a:endParaRPr lang="en-US" sz="11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ADVICE, OBLIGATION AND PURPOSE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Advice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النَّصِيحَةُ وَالوَاجِبُ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يَنْبَغِي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should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yan-ba-ghī 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يَجِبُ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must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ya-ji-bu an</a:t>
            </a:r>
            <a:endParaRPr lang="en-US" sz="1350" dirty="0"/>
          </a:p>
        </p:txBody>
      </p:sp>
      <p:sp>
        <p:nvSpPr>
          <p:cNvPr id="33" name="Text 30"/>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Name who: </a:t>
            </a:r>
            <a:pPr algn="l" indent="0" marL="0">
              <a:buNone/>
            </a:pPr>
            <a:r>
              <a:rPr lang="ar-SA" altLang="en-US" sz="1300" dirty="0">
                <a:solidFill>
                  <a:srgbClr val="8A6D1E"/>
                </a:solidFill>
                <a:latin typeface="Amiri" pitchFamily="34" charset="0"/>
                <a:ea typeface="Amiri" pitchFamily="34" charset="-122"/>
                <a:cs typeface="Amiri" pitchFamily="34" charset="-120"/>
              </a:rPr>
              <a:t>يَجِبُ عَلَى … أَنْ</a:t>
            </a:r>
            <a:endParaRPr lang="en-US" sz="10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7" name="Shape 34"/>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يُمْكِنُ أَنْ</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possible to, (we) can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yum-ki-nu an</a:t>
            </a:r>
            <a:endParaRPr lang="en-US" sz="1350" dirty="0"/>
          </a:p>
        </p:txBody>
      </p:sp>
      <p:sp>
        <p:nvSpPr>
          <p:cNvPr id="43" name="Text 4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ممکن</a:t>
            </a:r>
            <a:endParaRPr lang="en-US" sz="10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7" name="Shape 44"/>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لِكَيْ</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order to, so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a:t>
            </a:r>
            <a:endParaRPr lang="en-US" sz="1350" dirty="0"/>
          </a:p>
        </p:txBody>
      </p:sp>
      <p:sp>
        <p:nvSpPr>
          <p:cNvPr id="51" name="Text 4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Purpose — TC-L02.</a:t>
            </a:r>
            <a:endParaRPr lang="en-US" sz="10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5" name="Shape 52"/>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مِنَ الضَّرُورِيِّ أَنْ</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necessary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 ḍ-ḍa-rū-riy-yi an</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ضروری</a:t>
            </a:r>
            <a:endParaRPr lang="en-US" sz="10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3" name="Shape 60"/>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مِنَ الأَفْضَلِ أَنْ</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better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 l-af-ḍa-li an</a:t>
            </a:r>
            <a:endParaRPr lang="en-US" sz="1350" dirty="0"/>
          </a:p>
        </p:txBody>
      </p:sp>
      <p:sp>
        <p:nvSpPr>
          <p:cNvPr id="67" name="Text 64"/>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game.</a:t>
            </a:r>
            <a:endParaRPr lang="en-US" sz="10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ADVICE + A “WE” VERB</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Give advice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اُنْصَحْ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0E7C86"/>
                </a:solidFill>
                <a:latin typeface="Amiri" pitchFamily="34" charset="0"/>
                <a:ea typeface="Amiri" pitchFamily="34" charset="-122"/>
                <a:cs typeface="Amiri" pitchFamily="34" charset="-120"/>
              </a:rPr>
              <a:t>يَنْبَغِي أَنْ</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1D5FBF"/>
                </a:solidFill>
                <a:latin typeface="Amiri" pitchFamily="34" charset="0"/>
                <a:ea typeface="Amiri" pitchFamily="34" charset="-122"/>
                <a:cs typeface="Amiri" pitchFamily="34" charset="-120"/>
              </a:rPr>
              <a:t>نُ</a:t>
            </a:r>
            <a:pPr rtl="1" algn="ctr" indent="0" marL="0">
              <a:buNone/>
            </a:pPr>
            <a:r>
              <a:rPr lang="ar-SA" altLang="en-US" sz="7200" b="1" dirty="0">
                <a:solidFill>
                  <a:srgbClr val="D6336C"/>
                </a:solidFill>
                <a:latin typeface="Amiri" pitchFamily="34" charset="0"/>
                <a:ea typeface="Amiri" pitchFamily="34" charset="-122"/>
                <a:cs typeface="Amiri" pitchFamily="34" charset="-120"/>
              </a:rPr>
              <a:t>قَلِّلَ</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yan-ba-ghī an nu-qal-li-la · we should reduce</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يَنْبَغِي أَنْ</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ADVICE word</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34" charset="0"/>
                <a:ea typeface="Amiri" pitchFamily="34" charset="-122"/>
                <a:cs typeface="Amiri" pitchFamily="34" charset="-120"/>
              </a:rPr>
              <a:t>يَنْبَغِي أَنْ</a:t>
            </a:r>
            <a:pPr algn="l" indent="0" marL="0">
              <a:buNone/>
            </a:pPr>
            <a:r>
              <a:rPr lang="en-US" sz="1150" dirty="0">
                <a:solidFill>
                  <a:srgbClr val="5A6472"/>
                </a:solidFill>
                <a:latin typeface="Calibri" pitchFamily="34" charset="0"/>
                <a:ea typeface="Calibri" pitchFamily="34" charset="-122"/>
                <a:cs typeface="Calibri" pitchFamily="34" charset="-120"/>
              </a:rPr>
              <a:t> = should · </a:t>
            </a:r>
            <a:pPr algn="l" indent="0" marL="0">
              <a:buNone/>
            </a:pPr>
            <a:r>
              <a:rPr lang="ar-SA" altLang="en-US" sz="1500" dirty="0">
                <a:solidFill>
                  <a:srgbClr val="5A6472"/>
                </a:solidFill>
                <a:latin typeface="Amiri" pitchFamily="34" charset="0"/>
                <a:ea typeface="Amiri" pitchFamily="34" charset="-122"/>
                <a:cs typeface="Amiri" pitchFamily="34" charset="-120"/>
              </a:rPr>
              <a:t>يَجِبُ أَنْ</a:t>
            </a:r>
            <a:pPr algn="l" indent="0" marL="0">
              <a:buNone/>
            </a:pPr>
            <a:r>
              <a:rPr lang="en-US" sz="1150" dirty="0">
                <a:solidFill>
                  <a:srgbClr val="5A6472"/>
                </a:solidFill>
                <a:latin typeface="Calibri" pitchFamily="34" charset="0"/>
                <a:ea typeface="Calibri" pitchFamily="34" charset="-122"/>
                <a:cs typeface="Calibri" pitchFamily="34" charset="-120"/>
              </a:rPr>
              <a:t> = must · </a:t>
            </a:r>
            <a:pPr algn="l" indent="0" marL="0">
              <a:buNone/>
            </a:pPr>
            <a:r>
              <a:rPr lang="ar-SA" altLang="en-US" sz="1500" dirty="0">
                <a:solidFill>
                  <a:srgbClr val="5A6472"/>
                </a:solidFill>
                <a:latin typeface="Amiri" pitchFamily="34" charset="0"/>
                <a:ea typeface="Amiri" pitchFamily="34" charset="-122"/>
                <a:cs typeface="Amiri" pitchFamily="34" charset="-120"/>
              </a:rPr>
              <a:t>يُمْكِنُ أَنْ</a:t>
            </a:r>
            <a:pPr algn="l" indent="0" marL="0">
              <a:buNone/>
            </a:pPr>
            <a:r>
              <a:rPr lang="en-US" sz="1150" dirty="0">
                <a:solidFill>
                  <a:srgbClr val="5A6472"/>
                </a:solidFill>
                <a:latin typeface="Calibri" pitchFamily="34" charset="0"/>
                <a:ea typeface="Calibri" pitchFamily="34" charset="-122"/>
                <a:cs typeface="Calibri" pitchFamily="34" charset="-120"/>
              </a:rPr>
              <a:t> = can.</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نُـ</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a:t>
            </a:r>
            <a:pPr algn="l" indent="0" marL="0">
              <a:buNone/>
            </a:pPr>
            <a:r>
              <a:rPr lang="ar-SA" altLang="en-US" sz="2100" b="1" dirty="0">
                <a:solidFill>
                  <a:srgbClr val="1D5FBF"/>
                </a:solidFill>
                <a:latin typeface="Amiri" pitchFamily="34" charset="0"/>
                <a:ea typeface="Amiri" pitchFamily="34" charset="-122"/>
                <a:cs typeface="Amiri" pitchFamily="34" charset="-120"/>
              </a:rPr>
              <a:t>نُـ / نَـ</a:t>
            </a:r>
            <a:pPr algn="l" indent="0" marL="0">
              <a:buNone/>
            </a:pPr>
            <a:r>
              <a:rPr lang="en-US" sz="1600" b="1" dirty="0">
                <a:solidFill>
                  <a:srgbClr val="1D5FBF"/>
                </a:solidFill>
                <a:latin typeface="Calibri" pitchFamily="34" charset="0"/>
                <a:ea typeface="Calibri" pitchFamily="34" charset="-122"/>
                <a:cs typeface="Calibri" pitchFamily="34" charset="-120"/>
              </a:rPr>
              <a:t> = we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verb starts with </a:t>
            </a:r>
            <a:pPr algn="l" indent="0" marL="0">
              <a:buNone/>
            </a:pPr>
            <a:r>
              <a:rPr lang="ar-SA" altLang="en-US" sz="1500" dirty="0">
                <a:solidFill>
                  <a:srgbClr val="5A6472"/>
                </a:solidFill>
                <a:latin typeface="Amiri" pitchFamily="34" charset="0"/>
                <a:ea typeface="Amiri" pitchFamily="34" charset="-122"/>
                <a:cs typeface="Amiri" pitchFamily="34" charset="-120"/>
              </a:rPr>
              <a:t>نُـ</a:t>
            </a:r>
            <a:pPr algn="l" indent="0" marL="0">
              <a:buNone/>
            </a:pPr>
            <a:r>
              <a:rPr lang="en-US" sz="1150" dirty="0">
                <a:solidFill>
                  <a:srgbClr val="5A6472"/>
                </a:solidFill>
                <a:latin typeface="Calibri" pitchFamily="34" charset="0"/>
                <a:ea typeface="Calibri" pitchFamily="34" charset="-122"/>
                <a:cs typeface="Calibri" pitchFamily="34" charset="-120"/>
              </a:rPr>
              <a:t> or </a:t>
            </a:r>
            <a:pPr algn="l" indent="0" marL="0">
              <a:buNone/>
            </a:pPr>
            <a:r>
              <a:rPr lang="ar-SA" altLang="en-US" sz="1500" dirty="0">
                <a:solidFill>
                  <a:srgbClr val="5A6472"/>
                </a:solidFill>
                <a:latin typeface="Amiri" pitchFamily="34" charset="0"/>
                <a:ea typeface="Amiri" pitchFamily="34" charset="-122"/>
                <a:cs typeface="Amiri" pitchFamily="34" charset="-120"/>
              </a:rPr>
              <a:t>نَـ</a:t>
            </a:r>
            <a:pPr algn="l" indent="0" marL="0">
              <a:buNone/>
            </a:pPr>
            <a:r>
              <a:rPr lang="en-US" sz="1150" dirty="0">
                <a:solidFill>
                  <a:srgbClr val="5A6472"/>
                </a:solidFill>
                <a:latin typeface="Calibri" pitchFamily="34" charset="0"/>
                <a:ea typeface="Calibri" pitchFamily="34" charset="-122"/>
                <a:cs typeface="Calibri" pitchFamily="34" charset="-120"/>
              </a:rPr>
              <a:t>: we (TC verb code).</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-u → -a</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After </a:t>
            </a:r>
            <a:pPr algn="l" indent="0" marL="0">
              <a:buNone/>
            </a:pPr>
            <a:r>
              <a:rPr lang="ar-SA" altLang="en-US" sz="1500" dirty="0">
                <a:solidFill>
                  <a:srgbClr val="5A6472"/>
                </a:solidFill>
                <a:latin typeface="Amiri" pitchFamily="34" charset="0"/>
                <a:ea typeface="Amiri" pitchFamily="34" charset="-122"/>
                <a:cs typeface="Amiri" pitchFamily="34" charset="-120"/>
              </a:rPr>
              <a:t>أَنْ</a:t>
            </a:r>
            <a:pPr algn="l" indent="0" marL="0">
              <a:buNone/>
            </a:pPr>
            <a:r>
              <a:rPr lang="en-US" sz="1150" dirty="0">
                <a:solidFill>
                  <a:srgbClr val="5A6472"/>
                </a:solidFill>
                <a:latin typeface="Calibri" pitchFamily="34" charset="0"/>
                <a:ea typeface="Calibri" pitchFamily="34" charset="-122"/>
                <a:cs typeface="Calibri" pitchFamily="34" charset="-120"/>
              </a:rPr>
              <a:t> the last vowel becomes a fatḥa: </a:t>
            </a:r>
            <a:pPr algn="l" indent="0" marL="0">
              <a:buNone/>
            </a:pPr>
            <a:r>
              <a:rPr lang="ar-SA" altLang="en-US" sz="1500" dirty="0">
                <a:solidFill>
                  <a:srgbClr val="5A6472"/>
                </a:solidFill>
                <a:latin typeface="Amiri" pitchFamily="34" charset="0"/>
                <a:ea typeface="Amiri" pitchFamily="34" charset="-122"/>
                <a:cs typeface="Amiri" pitchFamily="34" charset="-120"/>
              </a:rPr>
              <a:t>نُقَلِّلُ</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نُقَلِّلَ</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ONE ENDING AFTER FIVE ADVICE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Advice words + a verb ending in fatḥa</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بَعْدَ أَنْ وَلِكَيْ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Advice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 after it</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يَنْبَغِي أَنْ</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should</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نُقَلِّلَ</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يَنْبَغِي أَنْ </a:t>
            </a:r>
            <a:pPr rtl="1" algn="r" indent="0" marL="0">
              <a:buNone/>
            </a:pPr>
            <a:r>
              <a:rPr lang="ar-SA" altLang="en-US" sz="2000" dirty="0">
                <a:solidFill>
                  <a:srgbClr val="D6336C"/>
                </a:solidFill>
                <a:latin typeface="Amiri" pitchFamily="34" charset="0"/>
                <a:ea typeface="Amiri" pitchFamily="34" charset="-122"/>
                <a:cs typeface="Amiri" pitchFamily="34" charset="-120"/>
              </a:rPr>
              <a:t>نُقَلِّلَ</a:t>
            </a:r>
            <a:pPr rtl="1" algn="r" indent="0" marL="0">
              <a:buNone/>
            </a:pPr>
            <a:r>
              <a:rPr lang="ar-SA" altLang="en-US" sz="2000" dirty="0">
                <a:solidFill>
                  <a:srgbClr val="1F2A37"/>
                </a:solidFill>
                <a:latin typeface="Amiri" pitchFamily="34" charset="0"/>
                <a:ea typeface="Amiri" pitchFamily="34" charset="-122"/>
                <a:cs typeface="Amiri" pitchFamily="34" charset="-120"/>
              </a:rPr>
              <a:t> اسْتِخْدَامَ البِلَاسْتِيكِ.</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should reduce plastic use.</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يَجِبُ أَنْ</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must</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نُعِيدَ</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يَجِبُ أَنْ </a:t>
            </a:r>
            <a:pPr rtl="1" algn="r" indent="0" marL="0">
              <a:buNone/>
            </a:pPr>
            <a:r>
              <a:rPr lang="ar-SA" altLang="en-US" sz="2000" dirty="0">
                <a:solidFill>
                  <a:srgbClr val="D6336C"/>
                </a:solidFill>
                <a:latin typeface="Amiri" pitchFamily="34" charset="0"/>
                <a:ea typeface="Amiri" pitchFamily="34" charset="-122"/>
                <a:cs typeface="Amiri" pitchFamily="34" charset="-120"/>
              </a:rPr>
              <a:t>نُعِيدَ</a:t>
            </a:r>
            <a:pPr rtl="1" algn="r" indent="0" marL="0">
              <a:buNone/>
            </a:pPr>
            <a:r>
              <a:rPr lang="ar-SA" altLang="en-US" sz="2000" dirty="0">
                <a:solidFill>
                  <a:srgbClr val="1F2A37"/>
                </a:solidFill>
                <a:latin typeface="Amiri" pitchFamily="34" charset="0"/>
                <a:ea typeface="Amiri" pitchFamily="34" charset="-122"/>
                <a:cs typeface="Amiri" pitchFamily="34" charset="-120"/>
              </a:rPr>
              <a:t> تَدْوِيرَ النُّفَايَاتِ.</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must recycle waste. (website game)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يُمْكِنُ أَنْ</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can</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نَسْتَخْدِمَ</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يُمْكِنُ أَنْ </a:t>
            </a:r>
            <a:pPr rtl="1" algn="r" indent="0" marL="0">
              <a:buNone/>
            </a:pPr>
            <a:r>
              <a:rPr lang="ar-SA" altLang="en-US" sz="2000" dirty="0">
                <a:solidFill>
                  <a:srgbClr val="D6336C"/>
                </a:solidFill>
                <a:latin typeface="Amiri" pitchFamily="34" charset="0"/>
                <a:ea typeface="Amiri" pitchFamily="34" charset="-122"/>
                <a:cs typeface="Amiri" pitchFamily="34" charset="-120"/>
              </a:rPr>
              <a:t>نَسْتَخْدِمَ</a:t>
            </a:r>
            <a:pPr rtl="1" algn="r" indent="0" marL="0">
              <a:buNone/>
            </a:pPr>
            <a:r>
              <a:rPr lang="ar-SA" altLang="en-US" sz="2000" dirty="0">
                <a:solidFill>
                  <a:srgbClr val="1F2A37"/>
                </a:solidFill>
                <a:latin typeface="Amiri" pitchFamily="34" charset="0"/>
                <a:ea typeface="Amiri" pitchFamily="34" charset="-122"/>
                <a:cs typeface="Amiri" pitchFamily="34" charset="-120"/>
              </a:rPr>
              <a:t> الطَّاقَةَ الشَّمْسِيَّةَ.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can use solar energy.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لِكَيْ</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so that</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نُقَلِّلَ</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نَسْتَخْدِمُ النَّقْلَ العَامَّ لِكَيْ </a:t>
            </a:r>
            <a:pPr rtl="1" algn="r" indent="0" marL="0">
              <a:buNone/>
            </a:pPr>
            <a:r>
              <a:rPr lang="ar-SA" altLang="en-US" sz="2000" dirty="0">
                <a:solidFill>
                  <a:srgbClr val="D6336C"/>
                </a:solidFill>
                <a:latin typeface="Amiri" pitchFamily="34" charset="0"/>
                <a:ea typeface="Amiri" pitchFamily="34" charset="-122"/>
                <a:cs typeface="Amiri" pitchFamily="34" charset="-120"/>
              </a:rPr>
              <a:t>نُقَلِّلَ</a:t>
            </a:r>
            <a:pPr rtl="1" algn="r" indent="0" marL="0">
              <a:buNone/>
            </a:pPr>
            <a:r>
              <a:rPr lang="ar-SA" altLang="en-US" sz="2000" dirty="0">
                <a:solidFill>
                  <a:srgbClr val="1F2A37"/>
                </a:solidFill>
                <a:latin typeface="Amiri" pitchFamily="34" charset="0"/>
                <a:ea typeface="Amiri" pitchFamily="34" charset="-122"/>
                <a:cs typeface="Amiri" pitchFamily="34" charset="-120"/>
              </a:rPr>
              <a:t> الانْبِعَاثَاتِ.</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use public transport to reduce emissions.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مِنَ الأَفْضَلِ أَنْ</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it is better to</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نَسْتَعْمِلَ</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مِنَ الأَفْضَلِ أَنْ </a:t>
            </a:r>
            <a:pPr rtl="1" algn="r" indent="0" marL="0">
              <a:buNone/>
            </a:pPr>
            <a:r>
              <a:rPr lang="ar-SA" altLang="en-US" sz="2000" dirty="0">
                <a:solidFill>
                  <a:srgbClr val="D6336C"/>
                </a:solidFill>
                <a:latin typeface="Amiri" pitchFamily="34" charset="0"/>
                <a:ea typeface="Amiri" pitchFamily="34" charset="-122"/>
                <a:cs typeface="Amiri" pitchFamily="34" charset="-120"/>
              </a:rPr>
              <a:t>نَسْتَعْمِلَ</a:t>
            </a:r>
            <a:pPr rtl="1" algn="r" indent="0" marL="0">
              <a:buNone/>
            </a:pPr>
            <a:r>
              <a:rPr lang="ar-SA" altLang="en-US" sz="2000" dirty="0">
                <a:solidFill>
                  <a:srgbClr val="1F2A37"/>
                </a:solidFill>
                <a:latin typeface="Amiri" pitchFamily="34" charset="0"/>
                <a:ea typeface="Amiri" pitchFamily="34" charset="-122"/>
                <a:cs typeface="Amiri" pitchFamily="34" charset="-120"/>
              </a:rPr>
              <a:t> الدَّرَّاجَةَ.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It is better to use a bicycle.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GRAMMAR FOCUS · PART 3 · WEBSITE RULE “OBLIGATION FOR A PERSON OR GROUP”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must act? Responsibility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المَسْؤُولُ؟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يَجِبُ عَلَى</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must / can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D5FBF"/>
          </a:solidFill>
          <a:ln w="12700">
            <a:solidFill>
              <a:srgbClr val="1D5FB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مَنْ؟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who is responsible</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أَنْ + فِعْلٌ</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an + action (ends in -a)</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government must invest in energy.</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الحُكُومَةِ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AEA"/>
          </a:solidFill>
          <a:ln w="9525">
            <a:solidFill>
              <a:srgbClr val="FBEAEA"/>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تَسْتَثْمِرَ</a:t>
            </a:r>
            <a:pPr rtl="1" algn="ctr" indent="0" marL="0">
              <a:buNone/>
            </a:pPr>
            <a:r>
              <a:rPr lang="ar-SA" altLang="en-US" sz="2400" b="1" dirty="0">
                <a:solidFill>
                  <a:srgbClr val="1B3B6F"/>
                </a:solidFill>
                <a:latin typeface="Amiri" pitchFamily="34" charset="0"/>
                <a:ea typeface="Amiri" pitchFamily="34" charset="-122"/>
                <a:cs typeface="Amiri" pitchFamily="34" charset="-120"/>
              </a:rPr>
              <a:t> فِي الطَّاقَةِ.</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Schools must recycle paper.</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المَدَارِسِ</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AEA"/>
          </a:solidFill>
          <a:ln w="9525">
            <a:solidFill>
              <a:srgbClr val="FBEAEA"/>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تُعِيدَ</a:t>
            </a:r>
            <a:pPr rtl="1" algn="ctr" indent="0" marL="0">
              <a:buNone/>
            </a:pPr>
            <a:r>
              <a:rPr lang="ar-SA" altLang="en-US" sz="2400" b="1" dirty="0">
                <a:solidFill>
                  <a:srgbClr val="1B3B6F"/>
                </a:solidFill>
                <a:latin typeface="Amiri" pitchFamily="34" charset="0"/>
                <a:ea typeface="Amiri" pitchFamily="34" charset="-122"/>
                <a:cs typeface="Amiri" pitchFamily="34" charset="-120"/>
              </a:rPr>
              <a:t> تَدْوِيرَ الوَرَقِ.</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Students must separate paper from plastic.</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الطُّلَّابِ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AEA"/>
          </a:solidFill>
          <a:ln w="9525">
            <a:solidFill>
              <a:srgbClr val="FBEAEA"/>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أَنْ </a:t>
            </a:r>
            <a:pPr rtl="1" algn="ctr" indent="0" marL="0">
              <a:lnSpc>
                <a:spcPct val="120000"/>
              </a:lnSpc>
              <a:buNone/>
            </a:pPr>
            <a:r>
              <a:rPr lang="ar-SA" altLang="en-US" sz="1700" b="1" dirty="0">
                <a:solidFill>
                  <a:srgbClr val="D6336C"/>
                </a:solidFill>
                <a:latin typeface="Amiri" pitchFamily="34" charset="0"/>
                <a:ea typeface="Amiri" pitchFamily="34" charset="-122"/>
                <a:cs typeface="Amiri" pitchFamily="34" charset="-120"/>
              </a:rPr>
              <a:t>يَفْصِلُوا</a:t>
            </a:r>
            <a:pPr rtl="1" algn="ct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 الوَرَقَ عَنِ البِلَاسْتِيكِ.</a:t>
            </a:r>
            <a:endParaRPr lang="ar-SA" sz="17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Families can save water.</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يُمْكِنُ</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لِلأُسَرِ</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AEA"/>
          </a:solidFill>
          <a:ln w="9525">
            <a:solidFill>
              <a:srgbClr val="FBEAEA"/>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تُرَشِّدَ</a:t>
            </a:r>
            <a:pPr rtl="1" algn="ctr" indent="0" marL="0">
              <a:buNone/>
            </a:pPr>
            <a:r>
              <a:rPr lang="ar-SA" altLang="en-US" sz="2400" b="1" dirty="0">
                <a:solidFill>
                  <a:srgbClr val="1B3B6F"/>
                </a:solidFill>
                <a:latin typeface="Amiri" pitchFamily="34" charset="0"/>
                <a:ea typeface="Amiri" pitchFamily="34" charset="-122"/>
                <a:cs typeface="Amiri" pitchFamily="34" charset="-120"/>
              </a:rPr>
              <a:t> المَاءَ.</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Name who is responsible after </a:t>
            </a:r>
            <a:pPr algn="l" indent="0" marL="0">
              <a:buNone/>
            </a:pPr>
            <a:r>
              <a:rPr lang="ar-SA" altLang="en-US" sz="1550" b="1" dirty="0">
                <a:solidFill>
                  <a:srgbClr val="8A6D1E"/>
                </a:solidFill>
                <a:latin typeface="Amiri" pitchFamily="34" charset="0"/>
                <a:ea typeface="Amiri" pitchFamily="34" charset="-122"/>
                <a:cs typeface="Amiri" pitchFamily="34" charset="-120"/>
              </a:rPr>
              <a:t>عَلَى</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يَجِبُ عَلَى</a:t>
            </a:r>
            <a:pPr algn="l" indent="0" marL="0">
              <a:buNone/>
            </a:pPr>
            <a:r>
              <a:rPr lang="en-US" sz="1200" b="1" dirty="0">
                <a:solidFill>
                  <a:srgbClr val="8A6D1E"/>
                </a:solidFill>
                <a:latin typeface="Calibri" pitchFamily="34" charset="0"/>
                <a:ea typeface="Calibri" pitchFamily="34" charset="-122"/>
                <a:cs typeface="Calibri" pitchFamily="34" charset="-120"/>
              </a:rPr>
              <a:t> + person / group + </a:t>
            </a:r>
            <a:pPr algn="l" indent="0" marL="0">
              <a:buNone/>
            </a:pPr>
            <a:r>
              <a:rPr lang="ar-SA" altLang="en-US" sz="1550" b="1" dirty="0">
                <a:solidFill>
                  <a:srgbClr val="8A6D1E"/>
                </a:solidFill>
                <a:latin typeface="Amiri" pitchFamily="34" charset="0"/>
                <a:ea typeface="Amiri" pitchFamily="34" charset="-122"/>
                <a:cs typeface="Amiri" pitchFamily="34" charset="-120"/>
              </a:rPr>
              <a:t>أَنْ</a:t>
            </a:r>
            <a:pPr algn="l" indent="0" marL="0">
              <a:buNone/>
            </a:pPr>
            <a:r>
              <a:rPr lang="en-US" sz="1200" b="1" dirty="0">
                <a:solidFill>
                  <a:srgbClr val="8A6D1E"/>
                </a:solidFill>
                <a:latin typeface="Calibri" pitchFamily="34" charset="0"/>
                <a:ea typeface="Calibri" pitchFamily="34" charset="-122"/>
                <a:cs typeface="Calibri" pitchFamily="34" charset="-120"/>
              </a:rPr>
              <a:t> + verb (</a:t>
            </a:r>
            <a:pPr algn="l" indent="0" marL="0">
              <a:buNone/>
            </a:pPr>
            <a:r>
              <a:rPr lang="ar-SA" altLang="en-US" sz="1550" b="1" dirty="0">
                <a:solidFill>
                  <a:srgbClr val="8A6D1E"/>
                </a:solidFill>
                <a:latin typeface="Amiri" pitchFamily="34" charset="0"/>
                <a:ea typeface="Amiri" pitchFamily="34" charset="-122"/>
                <a:cs typeface="Amiri" pitchFamily="34" charset="-120"/>
              </a:rPr>
              <a:t>ـَ</a:t>
            </a:r>
            <a:pPr algn="l" indent="0" marL="0">
              <a:buNone/>
            </a:pPr>
            <a:r>
              <a:rPr lang="en-US" sz="1200" b="1" dirty="0">
                <a:solidFill>
                  <a:srgbClr val="8A6D1E"/>
                </a:solidFill>
                <a:latin typeface="Calibri" pitchFamily="34" charset="0"/>
                <a:ea typeface="Calibri" pitchFamily="34" charset="-122"/>
                <a:cs typeface="Calibri" pitchFamily="34" charset="-120"/>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Fatḥa or no </a:t>
            </a:r>
            <a:pPr algn="l" indent="0" marL="0">
              <a:buNone/>
            </a:pPr>
            <a:r>
              <a:rPr lang="ar-SA" altLang="en-US" sz="3650" b="1" dirty="0">
                <a:solidFill>
                  <a:srgbClr val="1B3B6F"/>
                </a:solidFill>
                <a:latin typeface="Amiri" pitchFamily="34" charset="0"/>
                <a:ea typeface="Amiri" pitchFamily="34" charset="-122"/>
                <a:cs typeface="Amiri" pitchFamily="34" charset="-120"/>
              </a:rPr>
              <a:t>ن</a:t>
            </a:r>
            <a:pPr algn="l" indent="0" marL="0">
              <a:buNone/>
            </a:pPr>
            <a:r>
              <a:rPr lang="en-US" sz="2800" b="1" dirty="0">
                <a:solidFill>
                  <a:srgbClr val="1B3B6F"/>
                </a:solidFill>
                <a:latin typeface="Cambria" pitchFamily="34" charset="0"/>
                <a:ea typeface="Cambria" pitchFamily="34" charset="-122"/>
                <a:cs typeface="Cambria" pitchFamily="34" charset="-120"/>
              </a:rPr>
              <a:t>? And “if”</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المَنْصُوبُ وَالشَّرْطُ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MOST VERBS · fatḥa</a:t>
            </a:r>
            <a:endParaRPr lang="en-US" sz="850" dirty="0"/>
          </a:p>
        </p:txBody>
      </p:sp>
      <p:sp>
        <p:nvSpPr>
          <p:cNvPr id="20" name="Text 17"/>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نُقَلِّلَ</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يَنْبَغِي أَنْ نُقَلِّلَ النُّفَايَاتِ</a:t>
            </a:r>
            <a:endParaRPr lang="ar-SA" sz="30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should reduce waste.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Most verbs: final </a:t>
            </a:r>
            <a:pPr algn="l" indent="0" marL="0">
              <a:buNone/>
            </a:pPr>
            <a:r>
              <a:rPr lang="ar-SA" altLang="en-US" sz="1450" dirty="0">
                <a:solidFill>
                  <a:srgbClr val="1F2A37"/>
                </a:solidFill>
                <a:latin typeface="Amiri" pitchFamily="34" charset="0"/>
                <a:ea typeface="Amiri" pitchFamily="34" charset="-122"/>
                <a:cs typeface="Amiri" pitchFamily="34" charset="-120"/>
              </a:rPr>
              <a:t>ـُ</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ـَ</a:t>
            </a:r>
            <a:pPr algn="l" indent="0" marL="0">
              <a:buNone/>
            </a:pPr>
            <a:r>
              <a:rPr lang="en-US" sz="1100" dirty="0">
                <a:solidFill>
                  <a:srgbClr val="1F2A37"/>
                </a:solidFill>
                <a:latin typeface="Calibri" pitchFamily="34" charset="0"/>
                <a:ea typeface="Calibri" pitchFamily="34" charset="-122"/>
                <a:cs typeface="Calibri" pitchFamily="34" charset="-120"/>
              </a:rPr>
              <a:t>. They do NOT lose a </a:t>
            </a:r>
            <a:pPr algn="l" indent="0" marL="0">
              <a:buNone/>
            </a:pPr>
            <a:r>
              <a:rPr lang="ar-SA" altLang="en-US" sz="1450" dirty="0">
                <a:solidFill>
                  <a:srgbClr val="1F2A37"/>
                </a:solidFill>
                <a:latin typeface="Amiri" pitchFamily="34" charset="0"/>
                <a:ea typeface="Amiri" pitchFamily="34" charset="-122"/>
                <a:cs typeface="Amiri" pitchFamily="34" charset="-120"/>
              </a:rPr>
              <a:t>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FIVE VERBS · drop ن</a:t>
            </a:r>
            <a:endParaRPr lang="en-US" sz="850" dirty="0"/>
          </a:p>
        </p:txBody>
      </p:sp>
      <p:sp>
        <p:nvSpPr>
          <p:cNvPr id="28" name="Text 25"/>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يُعِيدُوا</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يَجِبُ عَلَى النَّاسِ أَنْ يُعِيدُوا التَّدْوِيرَ</a:t>
            </a:r>
            <a:endParaRPr lang="ar-SA" sz="21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People must recycle.</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Only the five verbs lose their </a:t>
            </a:r>
            <a:pPr algn="l" indent="0" marL="0">
              <a:buNone/>
            </a:pPr>
            <a:r>
              <a:rPr lang="ar-SA" altLang="en-US" sz="1450" dirty="0">
                <a:solidFill>
                  <a:srgbClr val="1F2A37"/>
                </a:solidFill>
                <a:latin typeface="Amiri" pitchFamily="34" charset="0"/>
                <a:ea typeface="Amiri" pitchFamily="34" charset="-122"/>
                <a:cs typeface="Amiri" pitchFamily="34" charset="-120"/>
              </a:rPr>
              <a:t>ن</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يُعِيدُونَ</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أَنْ يُعِيدُوا</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IF · TYPE 1 (TC-L02)</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إِذَا … سَـ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إِذَا أَعَدْنَا التَّدْوِيرَ، سَنُقَلِّلُ النُّفَايَاتِ</a:t>
            </a:r>
            <a:endParaRPr lang="ar-SA" sz="21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If we recycle, we will reduce waste.</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Topic C focus: a real result with </a:t>
            </a:r>
            <a:pPr algn="l" indent="0" marL="0">
              <a:buNone/>
            </a:pPr>
            <a:r>
              <a:rPr lang="ar-SA" altLang="en-US" sz="1450" dirty="0">
                <a:solidFill>
                  <a:srgbClr val="1F2A37"/>
                </a:solidFill>
                <a:latin typeface="Amiri" pitchFamily="34" charset="0"/>
                <a:ea typeface="Amiri" pitchFamily="34" charset="-122"/>
                <a:cs typeface="Amiri" pitchFamily="34" charset="-120"/>
              </a:rPr>
              <a:t>إِذَا</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Do not say that every subjunctive verb “loses nūn”.</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أَنْ نُقَلِّلَ</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أَنْ نُقَلِّلُ</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أَنْ يُعِيدُوا</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أَنْ يُعِيدُونَ</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Advice with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يَنْبَغِي أَنْ</a:t>
            </a:r>
            <a:pPr algn="l" indent="0" marL="0">
              <a:buNone/>
            </a:pPr>
            <a:r>
              <a:rPr lang="en-US" sz="1050" dirty="0">
                <a:solidFill>
                  <a:srgbClr val="5A6472"/>
                </a:solidFill>
                <a:latin typeface="Calibri" pitchFamily="34" charset="0"/>
                <a:ea typeface="Calibri" pitchFamily="34" charset="-122"/>
                <a:cs typeface="Calibri" pitchFamily="34" charset="-120"/>
              </a:rPr>
              <a:t> + subjunctive present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يَنْبَغِي أَنْ نُقَلِّلَ اسْتِخْدَامَ البِلَاسْتِيكِ.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Obligation for a person or group</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يَجِبُ عَلَى</a:t>
            </a:r>
            <a:pPr algn="l" indent="0" marL="0">
              <a:buNone/>
            </a:pPr>
            <a:r>
              <a:rPr lang="en-US" sz="1050" dirty="0">
                <a:solidFill>
                  <a:srgbClr val="5A6472"/>
                </a:solidFill>
                <a:latin typeface="Calibri" pitchFamily="34" charset="0"/>
                <a:ea typeface="Calibri" pitchFamily="34" charset="-122"/>
                <a:cs typeface="Calibri" pitchFamily="34" charset="-120"/>
              </a:rPr>
              <a:t> + noun +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dirty="0">
                <a:solidFill>
                  <a:srgbClr val="5A6472"/>
                </a:solidFill>
                <a:latin typeface="Calibri" pitchFamily="34" charset="0"/>
                <a:ea typeface="Calibri" pitchFamily="34" charset="-122"/>
                <a:cs typeface="Calibri" pitchFamily="34" charset="-120"/>
              </a:rPr>
              <a:t> + subjunctive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الحُكُومَةِ أَنْ تَسْتَثْمِرَ فِي الطَّاقَةِ المُتَجَدِّدَةِ.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Purpose with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action + </a:t>
            </a:r>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نَسْتَخْدِمُ النَّقْلَ العَامَّ لِكَيْ نُقَلِّلَ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The five verbs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dirty="0">
                <a:solidFill>
                  <a:srgbClr val="5A6472"/>
                </a:solidFill>
                <a:latin typeface="Calibri" pitchFamily="34" charset="0"/>
                <a:ea typeface="Calibri" pitchFamily="34" charset="-122"/>
                <a:cs typeface="Calibri" pitchFamily="34" charset="-120"/>
              </a:rPr>
              <a:t> + one of the five verbs → nūn is omitted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النَّاسِ أَنْ يُعِيدُوا التَّدْوِيرَ.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اسْتِخْدَامَ البِلَاسْتِيكِ.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نُقَلِّلَ اسْتِخْدَامَ البِلَاسْتِيكِ.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اسْتِخْدَامَ البِلَاسْتِيكِ.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أَنْ تَحْمِيَ الغَابَاتِ.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الحُكُومَةُ تَحْمِي الغَابَاتِ.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تَحْمِيُ الغَابَاتِ.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purpose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نُحَسِّنُ جَوْدَةَ الهَوَاءِ.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نُحَسِّنَ جَوْدَةَ الهَوَاءِ.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تَحْسِينُ الهَوَاءِ.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نَسْتَخْدِمَ الطَّاقَةَ الشَّمْسِيَّةَ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يُمْكِنُ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اسْتِخْدَامَ البِلَاسْتِيكِ.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نُقَلِّلَ اسْتِخْدَامَ البِلَاسْتِيكِ.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اسْتِخْدَامَ البِلَاسْتِيكِ.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becomes </a:t>
            </a:r>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with final fatḥa.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الحُكُومَةِ أَنْ تَحْمِيَ الغَابَاتِ.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الحُكُومَةُ تَحْمِي الغَابَاتِ.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عَلَى الحُكُومَةِ تَحْمِيُ الغَابَاتِ.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 noun +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 subjunctive.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purpose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نَزْرَعُ الأَشْجَارَ لِكَيْ نُحَسِّنُ جَوْدَةَ الهَوَاءِ.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نَزْرَعُ الأَشْجَارَ لِكَيْ نُحَسِّنَ جَوْدَةَ الهَوَاءِ.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نَزْرَعُ الأَشْجَارَ لِكَيْ تَحْسِينُ الهَوَاءِ.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sound-ending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نحسنَ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نَسْتَخْدِمَ الطَّاقَةَ الشَّمْسِيَّةَ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يُمْكِنُ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يَتَّسِمُ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يمكن أن</a:t>
            </a:r>
            <a:pPr algn="l" indent="0" marL="0">
              <a:buNone/>
            </a:pPr>
            <a:r>
              <a:rPr lang="en-US" sz="1050" i="1" dirty="0">
                <a:solidFill>
                  <a:srgbClr val="8A6D1E"/>
                </a:solidFill>
                <a:latin typeface="Calibri" pitchFamily="34" charset="0"/>
                <a:ea typeface="Calibri" pitchFamily="34" charset="-122"/>
                <a:cs typeface="Calibri" pitchFamily="34" charset="-120"/>
              </a:rPr>
              <a:t> means it is possible to.</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propose a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تَزْدَادُ النُّفَايَاتُ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problem first (TC-L04). </a:t>
            </a:r>
            <a:pPr algn="l" indent="0" marL="0">
              <a:buNone/>
            </a:pPr>
            <a:r>
              <a:rPr lang="ar-SA" altLang="en-US" sz="1500" dirty="0">
                <a:solidFill>
                  <a:srgbClr val="1F2A37"/>
                </a:solidFill>
                <a:latin typeface="Amiri" pitchFamily="34" charset="0"/>
                <a:ea typeface="Amiri" pitchFamily="34" charset="-122"/>
                <a:cs typeface="Amiri" pitchFamily="34" charset="-120"/>
              </a:rPr>
              <a:t>تَزْدَادُ</a:t>
            </a:r>
            <a:pPr algn="l" indent="0" marL="0">
              <a:buNone/>
            </a:pPr>
            <a:r>
              <a:rPr lang="en-US" sz="1150" dirty="0">
                <a:solidFill>
                  <a:srgbClr val="1F2A37"/>
                </a:solidFill>
                <a:latin typeface="Calibri" pitchFamily="34" charset="0"/>
                <a:ea typeface="Calibri" pitchFamily="34" charset="-122"/>
                <a:cs typeface="Calibri" pitchFamily="34" charset="-120"/>
              </a:rPr>
              <a:t> = is increasing.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advice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0E7C86"/>
                </a:solidFill>
                <a:latin typeface="Amiri" pitchFamily="34" charset="0"/>
                <a:ea typeface="Amiri" pitchFamily="34" charset="-122"/>
                <a:cs typeface="Amiri" pitchFamily="34" charset="-120"/>
              </a:rPr>
              <a:t>يَنْبَغِي أَنْ</a:t>
            </a:r>
            <a:pPr rtl="1" algn="ctr" indent="0" marL="0">
              <a:buNone/>
            </a:pPr>
            <a:r>
              <a:rPr lang="ar-SA" altLang="en-US" sz="2300" b="1" dirty="0">
                <a:solidFill>
                  <a:srgbClr val="1B3B6F"/>
                </a:solidFill>
                <a:latin typeface="Amiri" pitchFamily="34" charset="0"/>
                <a:ea typeface="Amiri" pitchFamily="34" charset="-122"/>
                <a:cs typeface="Amiri" pitchFamily="34" charset="-120"/>
              </a:rPr>
              <a:t> </a:t>
            </a:r>
            <a:pPr rtl="1" algn="ctr" indent="0" marL="0">
              <a:buNone/>
            </a:pPr>
            <a:r>
              <a:rPr lang="ar-SA" altLang="en-US" sz="2300" b="1" dirty="0">
                <a:solidFill>
                  <a:srgbClr val="D6336C"/>
                </a:solidFill>
                <a:latin typeface="Amiri" pitchFamily="34" charset="0"/>
                <a:ea typeface="Amiri" pitchFamily="34" charset="-122"/>
                <a:cs typeface="Amiri" pitchFamily="34" charset="-120"/>
              </a:rPr>
              <a:t>نُعِيدَ</a:t>
            </a:r>
            <a:pPr rtl="1" algn="ctr" indent="0" marL="0">
              <a:buNone/>
            </a:pPr>
            <a:r>
              <a:rPr lang="ar-SA" altLang="en-US" sz="2300" b="1" dirty="0">
                <a:solidFill>
                  <a:srgbClr val="1B3B6F"/>
                </a:solidFill>
                <a:latin typeface="Amiri" pitchFamily="34" charset="0"/>
                <a:ea typeface="Amiri" pitchFamily="34" charset="-122"/>
                <a:cs typeface="Amiri" pitchFamily="34" charset="-120"/>
              </a:rPr>
              <a:t> التَّدْوِيرَ</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Advice word + we-verb with fatḥa: </a:t>
            </a:r>
            <a:pPr algn="l" indent="0" marL="0">
              <a:buNone/>
            </a:pPr>
            <a:r>
              <a:rPr lang="ar-SA" altLang="en-US" sz="1500" dirty="0">
                <a:solidFill>
                  <a:srgbClr val="1F2A37"/>
                </a:solidFill>
                <a:latin typeface="Amiri" pitchFamily="34" charset="0"/>
                <a:ea typeface="Amiri" pitchFamily="34" charset="-122"/>
                <a:cs typeface="Amiri" pitchFamily="34" charset="-120"/>
              </a:rPr>
              <a:t>نُعِيدُ</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نُعِيدَ</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Who is responsible?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يَجِبُ عَلَى</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المَدْرَسَةِ أَنْ </a:t>
            </a:r>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تَضَعَ</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حَاوِيَاتٍ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عَلَى</a:t>
            </a:r>
            <a:pPr algn="l" indent="0" marL="0">
              <a:buNone/>
            </a:pPr>
            <a:r>
              <a:rPr lang="en-US" sz="1150" dirty="0">
                <a:solidFill>
                  <a:srgbClr val="1F2A37"/>
                </a:solidFill>
                <a:latin typeface="Calibri" pitchFamily="34" charset="0"/>
                <a:ea typeface="Calibri" pitchFamily="34" charset="-122"/>
                <a:cs typeface="Calibri" pitchFamily="34" charset="-120"/>
              </a:rPr>
              <a:t> + who. </a:t>
            </a:r>
            <a:pPr algn="l" indent="0" marL="0">
              <a:buNone/>
            </a:pPr>
            <a:r>
              <a:rPr lang="ar-SA" altLang="en-US" sz="1500" dirty="0">
                <a:solidFill>
                  <a:srgbClr val="1F2A37"/>
                </a:solidFill>
                <a:latin typeface="Amiri" pitchFamily="34" charset="0"/>
                <a:ea typeface="Amiri" pitchFamily="34" charset="-122"/>
                <a:cs typeface="Amiri" pitchFamily="34" charset="-120"/>
              </a:rPr>
              <a:t>تَضَعَ</a:t>
            </a:r>
            <a:pPr algn="l" indent="0" marL="0">
              <a:buNone/>
            </a:pPr>
            <a:r>
              <a:rPr lang="en-US" sz="1150" dirty="0">
                <a:solidFill>
                  <a:srgbClr val="1F2A37"/>
                </a:solidFill>
                <a:latin typeface="Calibri" pitchFamily="34" charset="0"/>
                <a:ea typeface="Calibri" pitchFamily="34" charset="-122"/>
                <a:cs typeface="Calibri" pitchFamily="34" charset="-120"/>
              </a:rPr>
              <a:t>: she-verb for </a:t>
            </a:r>
            <a:pPr algn="l" indent="0" marL="0">
              <a:buNone/>
            </a:pPr>
            <a:r>
              <a:rPr lang="ar-SA" altLang="en-US" sz="1500" dirty="0">
                <a:solidFill>
                  <a:srgbClr val="1F2A37"/>
                </a:solidFill>
                <a:latin typeface="Amiri" pitchFamily="34" charset="0"/>
                <a:ea typeface="Amiri" pitchFamily="34" charset="-122"/>
                <a:cs typeface="Amiri" pitchFamily="34" charset="-120"/>
              </a:rPr>
              <a:t>المَدْرَسَة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Why? The 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لِكَيْ</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D6336C"/>
                </a:solidFill>
                <a:latin typeface="Amiri" pitchFamily="34" charset="0"/>
                <a:ea typeface="Amiri" pitchFamily="34" charset="-122"/>
                <a:cs typeface="Amiri" pitchFamily="34" charset="-120"/>
              </a:rPr>
              <a:t>نُقَلِّلَ</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النُّفَايَاتِ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لِكَيْ</a:t>
            </a:r>
            <a:pPr algn="l" indent="0" marL="0">
              <a:buNone/>
            </a:pPr>
            <a:r>
              <a:rPr lang="en-US" sz="1150" dirty="0">
                <a:solidFill>
                  <a:srgbClr val="1F2A37"/>
                </a:solidFill>
                <a:latin typeface="Calibri" pitchFamily="34" charset="0"/>
                <a:ea typeface="Calibri" pitchFamily="34" charset="-122"/>
                <a:cs typeface="Calibri" pitchFamily="34" charset="-120"/>
              </a:rPr>
              <a:t> + fatḥa again.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ADVICE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VERB ENDS -a</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34" charset="0"/>
                <a:ea typeface="Amiri" pitchFamily="34" charset="-122"/>
                <a:cs typeface="Amiri" pitchFamily="34" charset="-120"/>
              </a:rPr>
              <a:t>تَزْدَادُ النُّفَايَاتُ، لِذٰلِكَ </a:t>
            </a:r>
            <a:pPr rtl="1" algn="r" indent="0" marL="0">
              <a:buNone/>
            </a:pPr>
            <a:r>
              <a:rPr lang="ar-SA" altLang="en-US" sz="2300" b="1" dirty="0">
                <a:solidFill>
                  <a:srgbClr val="0E7C86"/>
                </a:solidFill>
                <a:latin typeface="Amiri" pitchFamily="34" charset="0"/>
                <a:ea typeface="Amiri" pitchFamily="34" charset="-122"/>
                <a:cs typeface="Amiri" pitchFamily="34" charset="-120"/>
              </a:rPr>
              <a:t>يَنْبَغِي أَنْ</a:t>
            </a:r>
            <a:pPr rtl="1" algn="r" indent="0" marL="0">
              <a:buNone/>
            </a:pPr>
            <a:r>
              <a:rPr lang="ar-SA" altLang="en-US" sz="2300" b="1" dirty="0">
                <a:solidFill>
                  <a:srgbClr val="1B3B6F"/>
                </a:solidFill>
                <a:latin typeface="Amiri" pitchFamily="34" charset="0"/>
                <a:ea typeface="Amiri" pitchFamily="34" charset="-122"/>
                <a:cs typeface="Amiri" pitchFamily="34" charset="-120"/>
              </a:rPr>
              <a:t> </a:t>
            </a:r>
            <a:pPr rtl="1" algn="r" indent="0" marL="0">
              <a:buNone/>
            </a:pPr>
            <a:r>
              <a:rPr lang="ar-SA" altLang="en-US" sz="2300" b="1" dirty="0">
                <a:solidFill>
                  <a:srgbClr val="D6336C"/>
                </a:solidFill>
                <a:latin typeface="Amiri" pitchFamily="34" charset="0"/>
                <a:ea typeface="Amiri" pitchFamily="34" charset="-122"/>
                <a:cs typeface="Amiri" pitchFamily="34" charset="-120"/>
              </a:rPr>
              <a:t>نُعِيدَ</a:t>
            </a:r>
            <a:pPr rtl="1" algn="r" indent="0" marL="0">
              <a:buNone/>
            </a:pPr>
            <a:r>
              <a:rPr lang="ar-SA" altLang="en-US" sz="2300" b="1" dirty="0">
                <a:solidFill>
                  <a:srgbClr val="1B3B6F"/>
                </a:solidFill>
                <a:latin typeface="Amiri" pitchFamily="34" charset="0"/>
                <a:ea typeface="Amiri" pitchFamily="34" charset="-122"/>
                <a:cs typeface="Amiri" pitchFamily="34" charset="-120"/>
              </a:rPr>
              <a:t> التَّدْوِيرَ. </a:t>
            </a:r>
            <a:pPr rtl="1" algn="r" indent="0" marL="0">
              <a:buNone/>
            </a:pPr>
            <a:r>
              <a:rPr lang="ar-SA" altLang="en-US" sz="2300" b="1" dirty="0">
                <a:solidFill>
                  <a:srgbClr val="0E7C86"/>
                </a:solidFill>
                <a:latin typeface="Amiri" pitchFamily="34" charset="0"/>
                <a:ea typeface="Amiri" pitchFamily="34" charset="-122"/>
                <a:cs typeface="Amiri" pitchFamily="34" charset="-120"/>
              </a:rPr>
              <a:t>يَجِبُ عَلَى</a:t>
            </a:r>
            <a:pPr rtl="1" algn="r" indent="0" marL="0">
              <a:buNone/>
            </a:pPr>
            <a:r>
              <a:rPr lang="ar-SA" altLang="en-US" sz="2300" b="1" dirty="0">
                <a:solidFill>
                  <a:srgbClr val="1B3B6F"/>
                </a:solidFill>
                <a:latin typeface="Amiri" pitchFamily="34" charset="0"/>
                <a:ea typeface="Amiri" pitchFamily="34" charset="-122"/>
                <a:cs typeface="Amiri" pitchFamily="34" charset="-120"/>
              </a:rPr>
              <a:t> المَدْرَسَةِ أَنْ </a:t>
            </a:r>
            <a:pPr rtl="1" algn="r" indent="0" marL="0">
              <a:buNone/>
            </a:pPr>
            <a:r>
              <a:rPr lang="ar-SA" altLang="en-US" sz="2300" b="1" dirty="0">
                <a:solidFill>
                  <a:srgbClr val="D6336C"/>
                </a:solidFill>
                <a:latin typeface="Amiri" pitchFamily="34" charset="0"/>
                <a:ea typeface="Amiri" pitchFamily="34" charset="-122"/>
                <a:cs typeface="Amiri" pitchFamily="34" charset="-120"/>
              </a:rPr>
              <a:t>تَضَعَ</a:t>
            </a:r>
            <a:pPr rtl="1" algn="r" indent="0" marL="0">
              <a:buNone/>
            </a:pPr>
            <a:r>
              <a:rPr lang="ar-SA" altLang="en-US" sz="2300" b="1" dirty="0">
                <a:solidFill>
                  <a:srgbClr val="1B3B6F"/>
                </a:solidFill>
                <a:latin typeface="Amiri" pitchFamily="34" charset="0"/>
                <a:ea typeface="Amiri" pitchFamily="34" charset="-122"/>
                <a:cs typeface="Amiri" pitchFamily="34" charset="-120"/>
              </a:rPr>
              <a:t> حَاوِيَاتٍ </a:t>
            </a:r>
            <a:pPr rtl="1" algn="r" indent="0" marL="0">
              <a:buNone/>
            </a:pPr>
            <a:r>
              <a:rPr lang="ar-SA" altLang="en-US" sz="2300" b="1" dirty="0">
                <a:solidFill>
                  <a:srgbClr val="0E7C86"/>
                </a:solidFill>
                <a:latin typeface="Amiri" pitchFamily="34" charset="0"/>
                <a:ea typeface="Amiri" pitchFamily="34" charset="-122"/>
                <a:cs typeface="Amiri" pitchFamily="34" charset="-120"/>
              </a:rPr>
              <a:t>لِكَيْ</a:t>
            </a:r>
            <a:pPr rtl="1" algn="r" indent="0" marL="0">
              <a:buNone/>
            </a:pPr>
            <a:r>
              <a:rPr lang="ar-SA" altLang="en-US" sz="2300" b="1" dirty="0">
                <a:solidFill>
                  <a:srgbClr val="1B3B6F"/>
                </a:solidFill>
                <a:latin typeface="Amiri" pitchFamily="34" charset="0"/>
                <a:ea typeface="Amiri" pitchFamily="34" charset="-122"/>
                <a:cs typeface="Amiri" pitchFamily="34" charset="-120"/>
              </a:rPr>
              <a:t> </a:t>
            </a:r>
            <a:pPr rtl="1" algn="r" indent="0" marL="0">
              <a:buNone/>
            </a:pPr>
            <a:r>
              <a:rPr lang="ar-SA" altLang="en-US" sz="2300" b="1" dirty="0">
                <a:solidFill>
                  <a:srgbClr val="D6336C"/>
                </a:solidFill>
                <a:latin typeface="Amiri" pitchFamily="34" charset="0"/>
                <a:ea typeface="Amiri" pitchFamily="34" charset="-122"/>
                <a:cs typeface="Amiri" pitchFamily="34" charset="-120"/>
              </a:rPr>
              <a:t>نُقَلِّلَ</a:t>
            </a:r>
            <a:pPr rtl="1" algn="r" indent="0" marL="0">
              <a:buNone/>
            </a:pPr>
            <a:r>
              <a:rPr lang="ar-SA" altLang="en-US" sz="2300" b="1" dirty="0">
                <a:solidFill>
                  <a:srgbClr val="1B3B6F"/>
                </a:solidFill>
                <a:latin typeface="Amiri" pitchFamily="34" charset="0"/>
                <a:ea typeface="Amiri" pitchFamily="34" charset="-122"/>
                <a:cs typeface="Amiri" pitchFamily="34" charset="-120"/>
              </a:rPr>
              <a:t> النُّفَايَاتِ.</a:t>
            </a:r>
            <a:endParaRPr lang="ar-SA" sz="23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Waste is increasing, so we should recycle. The school must put out bins so that we reduce waste.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أَنْ نُعِيدَ تَدْوِيرَ النُّفَايَاتِ.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must recycle waste.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يَنْبَغِي أَنْ نُقَلِّلَ اسْتِخْدَامَ البِلَاسْتِيكِ.</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should reduce plastic use.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After أَنْ: نُقَلِّلَ (fatḥa).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عَلَى الحُكُومَةِ أَنْ تَسْتَثْمِرَ فِي الطَّاقَةِ المُتَجَدِّدَةِ.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government must invest in renewable energy.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Name who is responsible after عَلَى.</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نَسْتَخْدِمُ النَّقْلَ العَامَّ لِكَيْ نُقَلِّلَ الانْبِعَاثَاتِ.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use public transport to reduce emissions.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explains the purpose.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“CHOOSE THE SOLUTION”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Match the picture to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recycling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bicycle, not car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lights OFF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الأَفْضَلِ أَنْ نَسْتَعْمِلَ الدَّرَّاجَةَ بَدَلًا مِنَ السَّيَّارَةِ لِلرِّحْلَاتِ الْقَصِيرَةِ.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يَنْبَغِي أَنْ نُطْفِئَ الأَضْوَاءَ عِنْدَمَا لَا نَحْتَاجُ إِلَيْهَا.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نُعِيدَ تَدْوِيرَ النُّفَايَاتِ.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recycling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يَجِبُ أَنْ نُعِيدَ تَدْوِيرَ النُّفَايَاتِ.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must recycle waste.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bicycle, not car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34" charset="0"/>
                <a:ea typeface="Amiri" pitchFamily="34" charset="-122"/>
                <a:cs typeface="Amiri" pitchFamily="34" charset="-120"/>
              </a:rPr>
              <a:t>مِنَ الأَفْضَلِ أَنْ نَسْتَعْمِلَ الدَّرَّاجَةَ بَدَلًا مِنَ السَّيَّارَةِ لِلرِّحْلَاتِ الْقَصِيرَةِ.</a:t>
            </a:r>
            <a:endParaRPr lang="ar-SA" sz="205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better to use a bicycle instead of the car for short journeys.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lights OFF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يَنْبَغِي أَنْ نُطْفِئَ الأَضْوَاءَ عِنْدَمَا لَا نَحْتَاجُ إِلَيْهَا.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should switch off the lights when we do not need them.</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should reduce plastic use.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يَنْبَغِي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 إِلَى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نُقَلِّلُ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نُقَلِّلَ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اسْتِخْدَامَ البِلَاسْتِيكِ.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 البِلَاسْتِيكِ.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government must invest in solar energy.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الحُكُومَةُ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عَلَى الحُكُومَةِ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أَنْ تَسْتَثْمِرَ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تَسْتَثْمِرُ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الطَّاقَةِ الشَّمْسِيَّةِ.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الطَّاقَةِ الشَّمْسِيَّةِ.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plant trees to improve the air.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نَزْرَعُ الأَشْجَارَ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تُقْطَعُ الأَشْجَارُ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لِكَيْ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جَوْدَةَ الهَوَاءِ.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جَوْدَةَ الهَوَاءِ.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should reduce plastic use.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After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نُقَلِّلَ</a:t>
            </a:r>
            <a:pPr algn="l" indent="0" marL="0">
              <a:buNone/>
            </a:pPr>
            <a:r>
              <a:rPr lang="en-US" sz="1050" i="1" dirty="0">
                <a:solidFill>
                  <a:srgbClr val="5A6472"/>
                </a:solidFill>
                <a:latin typeface="Calibri" pitchFamily="34" charset="0"/>
                <a:ea typeface="Calibri" pitchFamily="34" charset="-122"/>
                <a:cs typeface="Calibri" pitchFamily="34" charset="-120"/>
              </a:rPr>
              <a:t> (fatḥa).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يَنْبَغِي أَنْ نُقَلِّلَ اسْتِخْدَامَ البِلَاسْتِيكِ.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government must invest in solar energy.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يَجِبُ عَلَى</a:t>
            </a:r>
            <a:pPr algn="l" indent="0" marL="0">
              <a:buNone/>
            </a:pPr>
            <a:r>
              <a:rPr lang="en-US" sz="1050" i="1" dirty="0">
                <a:solidFill>
                  <a:srgbClr val="5A6472"/>
                </a:solidFill>
                <a:latin typeface="Calibri" pitchFamily="34" charset="0"/>
                <a:ea typeface="Calibri" pitchFamily="34" charset="-122"/>
                <a:cs typeface="Calibri" pitchFamily="34" charset="-120"/>
              </a:rPr>
              <a:t> + who +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 verb; </a:t>
            </a:r>
            <a:pPr algn="l" indent="0" marL="0">
              <a:buNone/>
            </a:pPr>
            <a:r>
              <a:rPr lang="ar-SA" altLang="en-US" sz="1350" dirty="0">
                <a:solidFill>
                  <a:srgbClr val="5A6472"/>
                </a:solidFill>
                <a:latin typeface="Amiri" pitchFamily="34" charset="0"/>
                <a:ea typeface="Amiri" pitchFamily="34" charset="-122"/>
                <a:cs typeface="Amiri" pitchFamily="34" charset="-120"/>
              </a:rPr>
              <a:t>تَسْتَثْمِرُ فِي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يَجِبُ عَلَى الحُكُومَةِ أَنْ تَسْتَثْمِرَ فِي الطَّاقَةِ الشَّمْسِيَّةِ.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plant trees to improve the air.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Purpose: </a:t>
            </a:r>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i="1" dirty="0">
                <a:solidFill>
                  <a:srgbClr val="5A6472"/>
                </a:solidFill>
                <a:latin typeface="Calibri" pitchFamily="34" charset="0"/>
                <a:ea typeface="Calibri" pitchFamily="34" charset="-122"/>
                <a:cs typeface="Calibri" pitchFamily="34" charset="-120"/>
              </a:rPr>
              <a:t> + fatḥa (</a:t>
            </a:r>
            <a:pPr algn="l" indent="0" marL="0">
              <a:buNone/>
            </a:pPr>
            <a:r>
              <a:rPr lang="ar-SA" altLang="en-US" sz="1350" dirty="0">
                <a:solidFill>
                  <a:srgbClr val="5A6472"/>
                </a:solidFill>
                <a:latin typeface="Amiri" pitchFamily="34" charset="0"/>
                <a:ea typeface="Amiri" pitchFamily="34" charset="-122"/>
                <a:cs typeface="Amiri" pitchFamily="34" charset="-120"/>
              </a:rPr>
              <a:t>نُحَسِّنَ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نَزْرَعُ الأَشْجَارَ لِكَيْ نُحَسِّنَ جَوْدَةَ الهَوَاءِ.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Solution, action or advice?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نَزْرَعُ</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يَنْبَغِي أَنْ</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نُوَفِّرُ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الشَّمْسِيَّةُ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يُمْكِنُ أَنْ</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نُقَلِّلُ مِنْ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عَلَى ... أَنْ</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المُتَجَدِّدَةُ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solutions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Action verbs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Advice, obligation and purpose</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solutions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الشَّمْسِيَّةُ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المُتَجَدِّدَةُ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Action verbs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نَزْرَعُ</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نُوَفِّرُ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نُقَلِّلُ مِنْ</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Advice, obligation and purpose</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يَنْبَغِي أَنْ</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يُمْكِنُ أَنْ</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عَلَى ... أَنْ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2, 5,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explanation of </a:t>
            </a:r>
            <a:pPr algn="l" indent="0" marL="0">
              <a:buNone/>
            </a:pPr>
            <a:r>
              <a:rPr lang="ar-SA" altLang="en-US" sz="1650" b="1" dirty="0">
                <a:solidFill>
                  <a:srgbClr val="1B3B6F"/>
                </a:solidFill>
                <a:latin typeface="Amiri" pitchFamily="34" charset="0"/>
                <a:ea typeface="Amiri" pitchFamily="34" charset="-122"/>
                <a:cs typeface="Amiri" pitchFamily="34" charset="-120"/>
              </a:rPr>
              <a:t>نُقَلِّلَ</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past-tense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one of the five verbs and loses a final nūn.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sound-ending present verb marked with fatḥa after </a:t>
            </a:r>
            <a:pPr algn="l" indent="0" marL="0">
              <a:buNone/>
            </a:pPr>
            <a:r>
              <a:rPr lang="ar-SA" altLang="en-US" sz="1650" dirty="0">
                <a:solidFill>
                  <a:srgbClr val="1F2A37"/>
                </a:solidFill>
                <a:latin typeface="Amiri" pitchFamily="34" charset="0"/>
                <a:ea typeface="Amiri" pitchFamily="34" charset="-122"/>
                <a:cs typeface="Amiri" pitchFamily="34" charset="-120"/>
              </a:rPr>
              <a:t>أَنْ</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five-verb form is correct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يُعِيدُوْنَ التَّدْوِيرَ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يُعِيدُوا التَّدْوِيرَ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يُعِيدُونَ التَّدْوِيرَ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 plural addressee.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أَنْ تُقَلِّلُونَ النُّفَايَاتِ.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أَنْ تُقَلِّلُوا النُّفَايَاتِ.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تُقَلِّلُوا النُّفَايَاتِ.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clearly states purpose rather than cause?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الجَفَافُ إِلَى نُقْصَانِ المَاءِ.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نُرَشِّدُ المَاءَ بِسَبَبِ الجَفَافِ.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نُرَشِّدُ المَاءَ لِكَيْ نَحْمِيَ المَوَارِدَ.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explanation of </a:t>
            </a:r>
            <a:pPr algn="l" indent="0" marL="0">
              <a:buNone/>
            </a:pPr>
            <a:r>
              <a:rPr lang="ar-SA" altLang="en-US" sz="1650" b="1" dirty="0">
                <a:solidFill>
                  <a:srgbClr val="1B3B6F"/>
                </a:solidFill>
                <a:latin typeface="Amiri" pitchFamily="34" charset="0"/>
                <a:ea typeface="Amiri" pitchFamily="34" charset="-122"/>
                <a:cs typeface="Amiri" pitchFamily="34" charset="-120"/>
              </a:rPr>
              <a:t>نُقَلِّلَ</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 past-tense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one of the five verbs and loses a final nūn.</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a sound-ending present verb marked with fatḥa after </a:t>
            </a:r>
            <a:pPr algn="l" indent="0" marL="0">
              <a:buNone/>
            </a:pPr>
            <a:r>
              <a:rPr lang="ar-SA" altLang="en-US" sz="1650" b="1" dirty="0">
                <a:solidFill>
                  <a:srgbClr val="1F2A37"/>
                </a:solidFill>
                <a:latin typeface="Amiri" pitchFamily="34" charset="0"/>
                <a:ea typeface="Amiri" pitchFamily="34" charset="-122"/>
                <a:cs typeface="Amiri" pitchFamily="34" charset="-120"/>
              </a:rPr>
              <a:t>أَنْ</a:t>
            </a:r>
            <a:pPr algn="l" indent="0" marL="0">
              <a:buNone/>
            </a:pPr>
            <a:r>
              <a:rPr lang="en-US" sz="1250" b="1" dirty="0">
                <a:solidFill>
                  <a:srgbClr val="1F2A37"/>
                </a:solidFill>
                <a:latin typeface="Calibri" pitchFamily="34" charset="0"/>
                <a:ea typeface="Calibri" pitchFamily="34" charset="-122"/>
                <a:cs typeface="Calibri" pitchFamily="34" charset="-120"/>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is not one of the five verbs; it simply takes the visible subjunctive fatḥa.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five-verb form is correct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 يُعِيدُوْنَ التَّدْوِيرَ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 يُعِيدُوا التَّدْوِيرَ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 يُعِيدُونَ التَّدْوِيرَ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nūn is omitted from </a:t>
            </a:r>
            <a:pPr algn="l" indent="0" marL="0">
              <a:buNone/>
            </a:pPr>
            <a:r>
              <a:rPr lang="ar-SA" altLang="en-US" sz="1350" dirty="0">
                <a:solidFill>
                  <a:srgbClr val="8A6D1E"/>
                </a:solidFill>
                <a:latin typeface="Amiri" pitchFamily="34" charset="0"/>
                <a:ea typeface="Amiri" pitchFamily="34" charset="-122"/>
                <a:cs typeface="Amiri" pitchFamily="34" charset="-120"/>
              </a:rPr>
              <a:t>يعيدون</a:t>
            </a:r>
            <a:pPr algn="l" indent="0" marL="0">
              <a:buNone/>
            </a:pPr>
            <a:r>
              <a:rPr lang="en-US" sz="105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 plural addressee.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عَلَيْكُمْ أَنْ تُقَلِّلُونَ النُّفَايَاتِ.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عَلَيْكُمْ أَنْ تُقَلِّلُوا النُّفَايَاتِ.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عَلَيْكُمْ تُقَلِّلُوا النُّفَايَاتِ.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تقللون</a:t>
            </a:r>
            <a:pPr algn="l" indent="0" marL="0">
              <a:buNone/>
            </a:pPr>
            <a:r>
              <a:rPr lang="en-US" sz="1050" i="1" dirty="0">
                <a:solidFill>
                  <a:srgbClr val="8A6D1E"/>
                </a:solidFill>
                <a:latin typeface="Calibri" pitchFamily="34" charset="0"/>
                <a:ea typeface="Calibri" pitchFamily="34" charset="-122"/>
                <a:cs typeface="Calibri" pitchFamily="34" charset="-120"/>
              </a:rPr>
              <a:t> is one of the five verbs;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it becomes </a:t>
            </a:r>
            <a:pPr algn="l" indent="0" marL="0">
              <a:buNone/>
            </a:pPr>
            <a:r>
              <a:rPr lang="ar-SA" altLang="en-US" sz="1350" dirty="0">
                <a:solidFill>
                  <a:srgbClr val="8A6D1E"/>
                </a:solidFill>
                <a:latin typeface="Amiri" pitchFamily="34" charset="0"/>
                <a:ea typeface="Amiri" pitchFamily="34" charset="-122"/>
                <a:cs typeface="Amiri" pitchFamily="34" charset="-120"/>
              </a:rPr>
              <a:t>تقللوا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clearly states purpose rather than cause?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الجَفَافُ إِلَى نُقْصَانِ المَاءِ.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نُرَشِّدُ المَاءَ بِسَبَبِ الجَفَافِ.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نُرَشِّدُ المَاءَ لِكَيْ نَحْمِيَ المَوَارِدَ.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introduces the intended purpose.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يَنْبَغِي أَنْ نُقَلِّلُ النُّفَايَاتِ.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يَجِبُ عَلَى النَّاسِ أَنْ يُعِيدُونَ التَّدْوِيرَ.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t>
            </a:r>
            <a:pPr algn="l" indent="0" marL="0">
              <a:buNone/>
            </a:pPr>
            <a:r>
              <a:rPr lang="ar-SA" altLang="en-US" sz="1700" dirty="0">
                <a:solidFill>
                  <a:srgbClr val="5A6472"/>
                </a:solidFill>
                <a:latin typeface="Amiri" pitchFamily="34" charset="0"/>
                <a:ea typeface="Amiri" pitchFamily="34" charset="-122"/>
                <a:cs typeface="Amiri" pitchFamily="34" charset="-120"/>
              </a:rPr>
              <a:t>يُعِيدُونَ</a:t>
            </a:r>
            <a:pPr algn="l" indent="0" marL="0">
              <a:buNone/>
            </a:pPr>
            <a:r>
              <a:rPr lang="en-US" sz="1300" i="1" dirty="0">
                <a:solidFill>
                  <a:srgbClr val="5A6472"/>
                </a:solidFill>
                <a:latin typeface="Calibri" pitchFamily="34" charset="0"/>
                <a:ea typeface="Calibri" pitchFamily="34" charset="-122"/>
                <a:cs typeface="Calibri" pitchFamily="34" charset="-120"/>
              </a:rPr>
              <a:t> is one of the five verbs — what happens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نَسْتَخْدِمُ الطَّاقَةَ الشَّمْسِيَّةَ لِكَيْ نُقَلِّلُ الانْبِعَاثَاتِ.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يَنْبَغِي أَنْ نُقَلِّلُ النُّفَايَاتِ.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يَنْبَغِي أَنْ نُقَلِّلَ النُّفَايَاتِ.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نُقَلِّلُ</a:t>
            </a:r>
            <a:pPr algn="l" indent="0" marL="0">
              <a:buNone/>
            </a:pPr>
            <a:r>
              <a:rPr lang="en-US" sz="1150" b="1" dirty="0">
                <a:solidFill>
                  <a:srgbClr val="1B3B6F"/>
                </a:solidFill>
                <a:latin typeface="Calibri" pitchFamily="34" charset="0"/>
                <a:ea typeface="Calibri" pitchFamily="34" charset="-122"/>
                <a:cs typeface="Calibri" pitchFamily="34" charset="-120"/>
              </a:rPr>
              <a:t> is a sound-ending verb;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it takes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يَجِبُ عَلَى النَّاسِ أَنْ يُعِيدُونَ التَّدْوِيرَ.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يَجِبُ عَلَى النَّاسِ أَنْ يُعِيدُوا التَّدْوِيرَ.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يعيدون</a:t>
            </a:r>
            <a:pPr algn="l" indent="0" marL="0">
              <a:buNone/>
            </a:pPr>
            <a:r>
              <a:rPr lang="en-US" sz="1150" b="1" dirty="0">
                <a:solidFill>
                  <a:srgbClr val="1B3B6F"/>
                </a:solidFill>
                <a:latin typeface="Calibri" pitchFamily="34" charset="0"/>
                <a:ea typeface="Calibri" pitchFamily="34" charset="-122"/>
                <a:cs typeface="Calibri" pitchFamily="34" charset="-120"/>
              </a:rPr>
              <a:t> is one of the five verbs, so its nūn is omitted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نَسْتَخْدِمُ الطَّاقَةَ الشَّمْسِيَّةَ لِكَيْ نُقَلِّلُ الانْبِعَاثَاتِ.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نَسْتَخْدِمُ الطَّاقَةَ الشَّمْسِيَّةَ لِكَيْ نُقَلِّلَ الانْبِعَاثَاتِ.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is followed by the subjunctive.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practical environmental solutions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people reduce?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Tree planting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transport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schools recycle?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Fuel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Paper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governments invest 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plastic packaging</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Fossil-fuel cars only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Solar and wind energy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can conserve water?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Families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factories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Tourists only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should families conserve water?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pollute rivers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protect natural resources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increase waste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structure assigns obligation to a named group?</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 أَنْ</a:t>
            </a:r>
            <a:endParaRPr lang="ar-SA" sz="20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 بِـ</a:t>
            </a:r>
            <a:endParaRPr lang="ar-SA" sz="20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إِلَى</a:t>
            </a:r>
            <a:endParaRPr lang="ar-SA" sz="2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البِلَاسْتِيك</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الوَرَق</a:t>
            </a:r>
            <a:pPr algn="l" indent="0" marL="0">
              <a:buNone/>
            </a:pPr>
            <a:r>
              <a:rPr lang="en-US" sz="1250" dirty="0">
                <a:solidFill>
                  <a:srgbClr val="1E6B52"/>
                </a:solidFill>
                <a:latin typeface="Calibri" pitchFamily="34" charset="0"/>
                <a:ea typeface="Calibri" pitchFamily="34" charset="-122"/>
                <a:cs typeface="Calibri" pitchFamily="34" charset="-120"/>
              </a:rPr>
              <a:t> (paper) and </a:t>
            </a:r>
            <a:pPr algn="l" indent="0" marL="0">
              <a:buNone/>
            </a:pPr>
            <a:r>
              <a:rPr lang="ar-SA" altLang="en-US" sz="1650" dirty="0">
                <a:solidFill>
                  <a:srgbClr val="1E6B52"/>
                </a:solidFill>
                <a:latin typeface="Amiri" pitchFamily="34" charset="0"/>
                <a:ea typeface="Amiri" pitchFamily="34" charset="-122"/>
                <a:cs typeface="Amiri" pitchFamily="34" charset="-120"/>
              </a:rPr>
              <a:t>الأُسَر</a:t>
            </a:r>
            <a:pPr algn="l" indent="0" marL="0">
              <a:buNone/>
            </a:pPr>
            <a:r>
              <a:rPr lang="en-US" sz="1250" dirty="0">
                <a:solidFill>
                  <a:srgbClr val="1E6B52"/>
                </a:solidFill>
                <a:latin typeface="Calibri" pitchFamily="34" charset="0"/>
                <a:ea typeface="Calibri" pitchFamily="34" charset="-122"/>
                <a:cs typeface="Calibri" pitchFamily="34" charset="-120"/>
              </a:rPr>
              <a:t> (families).</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هُنَاكَ حُلُولٌ عَمَلِيَّةٌ لِحِمَايَةِ البِيئَةِ.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are practical solutions to protect the environment.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يَنْبَغِي أَنْ نُقَلِّلَ اسْتِخْدَامَ البِلَاسْتِيكِ، وَيَجِبُ عَلَى المَدَارِسِ أَنْ تُعِيدَ تَدْوِيرَ الوَرَقِ.</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should reduce plastic use, and schools must recycle paper.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كَمَا يَجِبُ عَلَى الحُكُومَاتِ أَنْ تَسْتَثْمِرَ فِي الطَّاقَةِ الشَّمْسِيَّةِ وَطَاقَةِ الرِّيَاحِ.</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Governments must also invest in solar and wind energy.</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وَيُمْكِنُ لِلأُسَرِ أَنْ تُرَشِّدَ المَاءَ لِكَيْ تَحْمِيَ المَوَارِدَ الطَّبِيعِيَّةَ.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families can save water in order to protect natural resources.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people reduce?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Plastic 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Tree planting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transport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تقليل استخدام البلاستيك.</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schools recycle?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Food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Fuel</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Paper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تعيد تدوير الورق.</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governments invest 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plastic packaging</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Fossil-fuel cars only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Solar and wind energy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الطاقة الشمسية وطاقة الرياح.</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can conserve water?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Families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factories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Tourists only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يمكن للأسر.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should families conserve water?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pollute rivers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To protect natural resources</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increase waste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تحمي الموارد الطبيعية.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structure assigns obligation to a named group?</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 أَنْ</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يَتَّسِمُ بِـ</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إِلَى</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identifies who is responsible.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البِلَاسْتِيك</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الوَرَق</a:t>
            </a:r>
            <a:pPr algn="l" indent="0" marL="0">
              <a:buNone/>
            </a:pPr>
            <a:r>
              <a:rPr lang="en-US" sz="1250" dirty="0">
                <a:solidFill>
                  <a:srgbClr val="1E6B52"/>
                </a:solidFill>
                <a:latin typeface="Calibri" pitchFamily="34" charset="0"/>
                <a:ea typeface="Calibri" pitchFamily="34" charset="-122"/>
                <a:cs typeface="Calibri" pitchFamily="34" charset="-120"/>
              </a:rPr>
              <a:t> (paper) and </a:t>
            </a:r>
            <a:pPr algn="l" indent="0" marL="0">
              <a:buNone/>
            </a:pPr>
            <a:r>
              <a:rPr lang="ar-SA" altLang="en-US" sz="1650" dirty="0">
                <a:solidFill>
                  <a:srgbClr val="1E6B52"/>
                </a:solidFill>
                <a:latin typeface="Amiri" pitchFamily="34" charset="0"/>
                <a:ea typeface="Amiri" pitchFamily="34" charset="-122"/>
                <a:cs typeface="Amiri" pitchFamily="34" charset="-120"/>
              </a:rPr>
              <a:t>الأُسَر</a:t>
            </a:r>
            <a:pPr algn="l" indent="0" marL="0">
              <a:buNone/>
            </a:pPr>
            <a:r>
              <a:rPr lang="en-US" sz="1250" dirty="0">
                <a:solidFill>
                  <a:srgbClr val="1E6B52"/>
                </a:solidFill>
                <a:latin typeface="Calibri" pitchFamily="34" charset="0"/>
                <a:ea typeface="Calibri" pitchFamily="34" charset="-122"/>
                <a:cs typeface="Calibri" pitchFamily="34" charset="-120"/>
              </a:rPr>
              <a:t> (families).</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Speaking: recommend and justify solutions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تَسْتَطِيعُ أَنْ تَفْعَلَ لِحِمَايَةِ البِيئَةِ؟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يَنْبَغِي أَنْ نَفْعَلَ؟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يَجِبُ عَلَى الحُكُومَةِ أَنْ تَفْعَلَ؟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حَلٍّ أَكْثَرُ فَعَالِيَّةً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يَنْبَغِي 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يَجِبُ عَلَى ___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لِكَيْ ___ ، لٰكِنَّ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اقْتَرَحَ / اقْتَرَحَتْ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مَاذَا يَجِبُ عَلَى المَدْرَسَةِ أَنْ تَفْعَلَ؟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must the school do?</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يَجِبُ عَلَى المَدْرَسَةِ أَنْ تَضَعَ حَاوِيَاتٍ لِإِعَادَةِ التَّدْوِيرِ، وَأَنْ تُنَظِّمَ حَمْلَةً لِكَيْ تُقَلِّلَ النُّفَايَاتِ.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يَنْبَغِي أَنْ / يَجِبُ أَنْ + a “we” verb from the table, ending in ـَ.</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Name who is responsible (يَجِبُ عَلَى …) and give one purpose with لِكَيْ.</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propose solutions to one problem; include individuals AND government, and one limitation.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الحُكُومَةِ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government must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الطُّلَّابِ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Students must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لِكَيْ نُـ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so that we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الضَّرُورِيِّ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necessary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نُعِيدَ تَدْوِيرَ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must recycle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يَنْبَغِي أَنْ نُوَفِّرَ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should save water.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يُمْكِنُ أَنْ نَسْتَخْدِمَ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can use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الأَفْضَلِ أَنْ نَسْتَعْمِلَ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better to use a bicycle.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نَزْرَعُ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plant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إِعَادَةُ التَّدْوِيرِ  ·  الطَّاقَةُ الشَّمْسِيَّةُ  ·  طَاقَةُ الرِّيَاحِ  ·  النَّقْلُ العَامُّ  ·  الدَّرَّاجَةَ  ·  المَاءَ  ·  الأَشْجَارَ  ·  البِلَاسْتِيكَ  ·  نُقَلِّلَ  ·  نُوَفِّرَ  ·  نَزْرَعَ  ·  نُعِيدَ  ·  نَسْتَخْدِمَ</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proposing solutions to one environmental problem.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Describe the problem briefly.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ينبغي أن</a:t>
            </a:r>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يجب على</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أن</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responsibility for individuals and government.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Evaluate one limitation and conclude.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تُعَانِي مَدْرَسَتُنَا مِنْ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our school suffers from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لِحَلِّ هٰذِهِ المُشْكِلَةِ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to solve this problem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الَّتِي تُسْتَعْمَلُ مَرَّةً وَاحِدَةً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which are used only once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عَلَاوَةً عَلَى ذٰلِكَ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addition to that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الضَّرُورِيِّ أَنْ نَنْشُرَ الوَعْيَ البِيئِيَّ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is necessary to spread environmental awareness</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الخُطُوَاتُ عَمَلِيَّةٌ وَقَابِلَةٌ لِلتَّطْبِيقِ</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these steps are practical and achievable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34" charset="0"/>
                <a:ea typeface="Amiri" pitchFamily="34" charset="-122"/>
                <a:cs typeface="Amiri" pitchFamily="34" charset="-120"/>
              </a:rPr>
              <a:t>تُعَانِي مَدْرَسَتُنَا مِنْ زِيَادَةِ النُّفَايَاتِ البِلَاسْتِيكِيَّةِ. لِحَلِّ هٰذِهِ المُشْكِلَةِ، يَنْبَغِي أَنْ نُقَلِّلَ اسْتِخْدَامَ الأَكْوَابِ وَالأَكْيَاسِ الَّتِي تُسْتَعْمَلُ مَرَّةً وَاحِدَةً. وَيَجِبُ عَلَى الطُّلَّابِ أَنْ يُعِيدُوا التَّدْوِيرَ، كَمَا يَجِبُ عَلَى الإِدَارَةِ أَنْ تُوَفِّرَ حَاوِيَاتٍ مُنَاسِبَةً. وَيُمْكِنُ أَنْ نَسْتَخْدِمَ زُجَاجَاتٍ قَابِلَةً لِإِعَادَةِ الاسْتِخْدَامِ لِكَيْ نُقَلِّلَ كَمِّيَّةَ البِلَاسْتِيكِ. عَلَاوَةً عَلَى ذٰلِكَ، مِنَ الضَّرُورِيِّ أَنْ نَنْشُرَ الوَعْيَ البِيئِيَّ. فِي رَأْيِي، هٰذِهِ الخُطُوَاتُ عَمَلِيَّةٌ وَقَابِلَةٌ لِلتَّطْبِيقِ.</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Our school suffers from an increase in plastic waste. To solve this problem, we should reduce the use of cups and bags that are used only once. Students must recycle, and the administration must provide suitable bins. We can use reusable bottles so that we reduce the amount of plastic. In addition, it is necessary to spread environmental awareness. In my opinion, these steps are practical and achievable.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يَنْبَغِي أَنْ + verb (ـَ)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يَجِبُ عَلَى …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 purpose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environmental solutions (</a:t>
            </a:r>
            <a:pPr algn="l" indent="0" marL="0">
              <a:buNone/>
            </a:pPr>
            <a:r>
              <a:rPr lang="ar-SA" altLang="en-US" sz="1700" dirty="0">
                <a:solidFill>
                  <a:srgbClr val="1F2A37"/>
                </a:solidFill>
                <a:latin typeface="Amiri" pitchFamily="34" charset="0"/>
                <a:ea typeface="Amiri" pitchFamily="34" charset="-122"/>
                <a:cs typeface="Amiri" pitchFamily="34" charset="-120"/>
              </a:rPr>
              <a:t>إِعَادَةُ التَّدْوِيرِ، الطَّاقَةُ الشَّمْسِيَّةُ</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give advice with a fatḥa after </a:t>
            </a:r>
            <a:pPr algn="l" indent="0" marL="0">
              <a:buNone/>
            </a:pPr>
            <a:r>
              <a:rPr lang="ar-SA" altLang="en-US" sz="1700" dirty="0">
                <a:solidFill>
                  <a:srgbClr val="1F2A37"/>
                </a:solidFill>
                <a:latin typeface="Amiri" pitchFamily="34" charset="0"/>
                <a:ea typeface="Amiri" pitchFamily="34" charset="-122"/>
                <a:cs typeface="Amiri" pitchFamily="34" charset="-120"/>
              </a:rPr>
              <a:t>أَنْ</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يَنْبَغِي أَنْ نُقَلِّلَ</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who is responsible: </a:t>
            </a:r>
            <a:pPr algn="l" indent="0" marL="0">
              <a:buNone/>
            </a:pPr>
            <a:r>
              <a:rPr lang="ar-SA" altLang="en-US" sz="1700" dirty="0">
                <a:solidFill>
                  <a:srgbClr val="1F2A37"/>
                </a:solidFill>
                <a:latin typeface="Amiri" pitchFamily="34" charset="0"/>
                <a:ea typeface="Amiri" pitchFamily="34" charset="-122"/>
                <a:cs typeface="Amiri" pitchFamily="34" charset="-120"/>
              </a:rPr>
              <a:t>يَجِبُ عَلَى الحُكُومَةِ أَنْ</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only the five verbs lose </a:t>
            </a:r>
            <a:pPr algn="l" indent="0" marL="0">
              <a:buNone/>
            </a:pPr>
            <a:r>
              <a:rPr lang="ar-SA" altLang="en-US" sz="1700" dirty="0">
                <a:solidFill>
                  <a:srgbClr val="1F2A37"/>
                </a:solidFill>
                <a:latin typeface="Amiri" pitchFamily="34" charset="0"/>
                <a:ea typeface="Amiri" pitchFamily="34" charset="-122"/>
                <a:cs typeface="Amiri" pitchFamily="34" charset="-120"/>
              </a:rPr>
              <a:t>ن</a:t>
            </a:r>
            <a:pPr algn="l" indent="0" marL="0">
              <a:buNone/>
            </a:pPr>
            <a:r>
              <a:rPr lang="en-US" sz="1300" dirty="0">
                <a:solidFill>
                  <a:srgbClr val="1F2A37"/>
                </a:solidFill>
                <a:latin typeface="Calibri" pitchFamily="34" charset="0"/>
                <a:ea typeface="Calibri" pitchFamily="34" charset="-122"/>
                <a:cs typeface="Calibri" pitchFamily="34" charset="-120"/>
              </a:rPr>
              <a:t> after </a:t>
            </a:r>
            <a:pPr algn="l" indent="0" marL="0">
              <a:buNone/>
            </a:pPr>
            <a:r>
              <a:rPr lang="ar-SA" altLang="en-US" sz="1700" dirty="0">
                <a:solidFill>
                  <a:srgbClr val="1F2A37"/>
                </a:solidFill>
                <a:latin typeface="Amiri" pitchFamily="34" charset="0"/>
                <a:ea typeface="Amiri" pitchFamily="34" charset="-122"/>
                <a:cs typeface="Amiri" pitchFamily="34" charset="-120"/>
              </a:rPr>
              <a:t>أَنْ</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أَنْ يُعِيدُوا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form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expresses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بِسَبَبِ الهَوَاءِ.</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لِكَيْ نُحَسِّنَ الهَوَاءَ.</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نَتِيجَةً لِلهَوَاءِ.</a:t>
            </a:r>
            <a:endParaRPr lang="ar-SA" sz="20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names a responsible group?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المُتَوَقَّعِ 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 بِـ</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form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نُقَلِّلَ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نُقَلِّلُ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نُقَلِّلْ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sound-ending verb takes fatḥa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expresses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34" charset="0"/>
                <a:ea typeface="Amiri" pitchFamily="34" charset="-122"/>
                <a:cs typeface="Amiri" pitchFamily="34" charset="-120"/>
              </a:rPr>
              <a:t>نَزْرَعُ الأَشْجَارَ بِسَبَبِ الهَوَاءِ.</a:t>
            </a:r>
            <a:endParaRPr lang="ar-SA" sz="20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نَزْرَعُ الأَشْجَارَ لِكَيْ نُحَسِّنَ الهَوَاءَ.</a:t>
            </a:r>
            <a:endParaRPr lang="ar-SA" sz="20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34" charset="0"/>
                <a:ea typeface="Amiri" pitchFamily="34" charset="-122"/>
                <a:cs typeface="Amiri" pitchFamily="34" charset="-120"/>
              </a:rPr>
              <a:t>نَزْرَعُ الأَشْجَارَ نَتِيجَةً لِلهَوَاءِ.</a:t>
            </a:r>
            <a:endParaRPr lang="ar-SA" sz="20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introduces purpose.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names a responsible group?</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يَجِبُ عَلَى الحُكُومَةِ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مِنَ المُتَوَقَّعِ 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يَتَّسِمُ بِـ</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names who has the obligation.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school recycling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لِحَلِّ مُشْكِلَةِ النُّفَايَاتِ فِي المَدْرَسَةِ، يَنْبَغِي أَنْ نُقَلِّلَ الأَغْلِفَةَ البِلَاسْتِيكِيَّةَ، وَأَنْ نَضَعَ حَاوِيَاتٍ لِإِعَادَةِ التَّدْوِيرِ. وَيَجِبُ عَلَى الطُّلَّابِ أَنْ يَفْصِلُوا الوَرَقَ عَنِ البِلَاسْتِيكِ، كَمَا يَجِبُ عَلَى الإِدَارَةِ أَنْ تُنَظِّمَ حَمْلَةَ تَوْعِيَةٍ. وَيُمْكِنُ أَنْ نَسْتَخْدِمَ زُجَاجَاتٍ قَابِلَةً لِإِعَادَةِ الاسْتِخْدَامِ لِكَيْ نُقَلِّلَ كَمِّيَّةَ النُّفَايَاتِ.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لِحَلِّ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 solve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الأَغْلِفَةُ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packaging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حَاوِيَاتٌ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bins, containers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يَفْصِلُوا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(they) separate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الإِدَارَةُ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(school) administration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تُنَظِّمَ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organise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حَمْلَةُ تَوْعِيَةٍ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an awareness campaign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زُجَاجَاتٌ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bottles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34" charset="0"/>
                <a:ea typeface="Amiri" pitchFamily="34" charset="-122"/>
                <a:cs typeface="Amiri" pitchFamily="34" charset="-120"/>
              </a:rPr>
              <a:t>قَابِلَةٌ لِإِعَادَةِ الاسْتِخْدَامِ</a:t>
            </a:r>
            <a:endParaRPr lang="ar-SA" sz="135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reusable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كَمِّيَّةٌ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amount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is the plan designed to solve?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 exam results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 waste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classrooms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be reduced?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Awareness campaigns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Paper recycling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packaging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students do?</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Separate paper from plastic</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Throw everything together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Buy more packaging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the administration organise?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sports match</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awareness campaign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weather forecast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reusable item is suggested?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Bottles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Disposable cups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bags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purpose of reusable bottles?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increase water use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make recycling impossible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reduce the amount of waste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is the plan designed to solve?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Low exam results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School waste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classrooms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opening names </a:t>
            </a:r>
            <a:pPr algn="l" indent="0" marL="0">
              <a:buNone/>
            </a:pPr>
            <a:r>
              <a:rPr lang="ar-SA" altLang="en-US" sz="1350" dirty="0">
                <a:solidFill>
                  <a:srgbClr val="8A6D1E"/>
                </a:solidFill>
                <a:latin typeface="Amiri" pitchFamily="34" charset="0"/>
                <a:ea typeface="Amiri" pitchFamily="34" charset="-122"/>
                <a:cs typeface="Amiri" pitchFamily="34" charset="-120"/>
              </a:rPr>
              <a:t>مشكلة النفايات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be reduced?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Awareness campaigns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Paper recycling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Plastic packaging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الأغلفة البلاستيكية.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students do?</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Separate paper from plastic</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Throw everything together</a:t>
            </a:r>
            <a:endParaRPr lang="en-US" sz="120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Buy more packaging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أن يفصلوا الورق عن البلاستيك.</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the administration organise?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sports match</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awareness campaign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weather forecast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حملة توعية.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reusable item is suggested?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Bottles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Disposable cups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 bags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زجاجات قابلة لإعادة الاستخدام.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purpose of reusable bottles?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increase water use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To make recycling impossible</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To reduce the amount of waste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نقلل كمية النفايات.</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TC-L06 · The Digital World and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هَاتِفٌ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phone</a:t>
            </a:r>
            <a:pPr indent="0" marL="0">
              <a:buNone/>
            </a:pPr>
            <a:r>
              <a:rPr lang="en-US" sz="1000" i="1" dirty="0">
                <a:solidFill>
                  <a:srgbClr val="5A6472"/>
                </a:solidFill>
                <a:latin typeface="Calibri" pitchFamily="34" charset="0"/>
                <a:ea typeface="Calibri" pitchFamily="34" charset="-122"/>
                <a:cs typeface="Calibri" pitchFamily="34" charset="-120"/>
              </a:rPr>
              <a:t>  pl. هَوَاتِفُ</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تَطْبِيقٌ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app</a:t>
            </a:r>
            <a:pPr indent="0" marL="0">
              <a:buNone/>
            </a:pPr>
            <a:r>
              <a:rPr lang="en-US" sz="1000" i="1" dirty="0">
                <a:solidFill>
                  <a:srgbClr val="5A6472"/>
                </a:solidFill>
                <a:latin typeface="Calibri" pitchFamily="34" charset="0"/>
                <a:ea typeface="Calibri" pitchFamily="34" charset="-122"/>
                <a:cs typeface="Calibri" pitchFamily="34" charset="-120"/>
              </a:rPr>
              <a:t>  pl. تَطْبِيقَاتٌ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مَوْقِعٌ إِلِكْتُرُونِيٌّ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website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يُرْسِلُ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sends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كَلِمَةُ المُرُورِ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password</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app do you use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أَيَّ تَطْبِيقٍ تَسْتَعْمِلُ كَثِيرًا؟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TC-L05 · play “Choose the Solution”,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pieces of advice for your school with </a:t>
            </a:r>
            <a:pPr algn="l" indent="0" marL="0">
              <a:buNone/>
            </a:pPr>
            <a:r>
              <a:rPr lang="ar-SA" altLang="en-US" sz="1550" dirty="0">
                <a:solidFill>
                  <a:srgbClr val="1F2A37"/>
                </a:solidFill>
                <a:latin typeface="Amiri" pitchFamily="34" charset="0"/>
                <a:ea typeface="Amiri" pitchFamily="34" charset="-122"/>
                <a:cs typeface="Amiri" pitchFamily="34" charset="-120"/>
              </a:rPr>
              <a:t>يَنْبَغِي أَنْ / يَجِبُ عَلَى … أَنْ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TC-L05 · the application mission and the reading “A school recycling plan”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ea typeface="Cambria" pitchFamily="34" charset="-122"/>
                <a:cs typeface="Cambria" pitchFamily="34" charset="-120"/>
              </a:rPr>
              <a:t>TC-L06 · The Digital World and Communication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العَالَمُ الرَّقْمِيُّ وَالتَّوَاصُلُ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TC-L05 · Environmental Solutions and Responsibility</dc:title>
  <dc:subject>PptxGenJS Presentation</dc:subject>
  <dc:creator>Al Madina Online School · Arabic Department</dc:creator>
  <cp:lastModifiedBy>Al Madina Online School · Arabic Department</cp:lastModifiedBy>
  <cp:revision>1</cp:revision>
  <dcterms:created xsi:type="dcterms:W3CDTF">2026-09-27T09:04:16Z</dcterms:created>
  <dcterms:modified xsi:type="dcterms:W3CDTF">2026-09-27T09:04:16Z</dcterms:modified>
</cp:coreProperties>
</file>