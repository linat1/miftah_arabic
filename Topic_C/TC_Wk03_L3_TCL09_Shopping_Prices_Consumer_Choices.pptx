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9 (TC-L09). The website lesson reuses F6-L06 (Shopping in Town: Prices and Comparisons) with the Topic C focus “Understand adverts and transactions, compare products and resolve problems” (grammar: numbers; demonstratives; attached pronouns). The advert, listening, quizzes, builder, sorter and mistakes are the website’s; the picture match is the website lesson game “Best Buy”. The price table and the complaint email (resolve problems) are teacher-made from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F6-L06 is accessible (A2–B1), so this lesson can push every student a little further. CORE: shop words + هٰذَا / هٰذِهِ + كَمْ ثَمَنُهُ / ثَمَنُهَا + prices in tens. DEVELOP: أَرْخَصُ / أَغْلَى مِنْ, discounts and polite payment requests. STRETCH: percentages, “better value” and a complaint (resolve a problem).
• Colour: pink = the “it” ending (ـهُ / ـهَا) that must match the item; price table with the counted-noun rule; an advert and a complaint to read; read-along listening with English.
• Urdu bridge words (قیمت، دکان، نقد، حساب، ہدیہ).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words prepared at home (Flipped Learning follow-up). Questions 3–5 retrieve TC-L08 — and question 5 leads straight into today’s أَرْخَصُ مِنْ.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“it” ending must match the thing: a book (m.) → ـهُ, a bag (f.) →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(adverts and transactions, comparing products; numbers, demonstratives, attached pronouns). Stretch covers “resolve problems”. The website objectives on the left are the F6-L06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قیمت (Urdu “price”; Arabic قِيمَةٌ = value — the website game: أَفْضَلُ قِيمَةً = better value), دکان (shop — Arabic has دُكَّانٌ and مَحَلٌّ), نقد (cash — نَقْدًا), حساب (the bill), ہدیہ (a gift — هَدِيَّةٌ).
All five groups are website F6-L06 vocabulary; Group 4 (prices) adds the numbers needed to read the website advert and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shopping places and people (website F6-L06). Hear → Say → See → Use.
Masculine / feminine / plural: بَائِعٌ / بَائِعَةٌ (the listening has a male seller — البَائِعُ — and a female customer — الزَّبُونَةُ).
Website reading headline: عُرُوضُ اليَوْمِ = today’s offers (plural of 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goods (website F6-L06). Each card shows the price question the item needs — this is today’s key grammar.
Core trick: look for ـة at the end. ـة → feminine → ثَمَنُهَا. No ـة → usually masculine → ثَمَنُهُ.
Stretch: مَلَابِسُ (clothes) is a plural — the website says ask with the noun: كَمْ ثَمَنُ المَلَابِسِ؟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price and comparison (website F6-L06). Gesture: rub fingers (price), thumbs down (cheap), thumbs up high (expensive), a scissor cut (discount), a card tap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demonstratives and attached pronouns (Topic C grammar focus), built on the website table “Item · Price suffix · Question”.
Teal = the demonstrative: هٰذَا (this, m.) / هٰذِهِ (this, f. and plural things). Row 4 (Develop): ذٰلِكَ / تِلْكَ = that.
Pink = the attached pronoun “it”: ـهُ for a masculine item, ـهَا for a feminine item. The demonstrative and the ending ALWAYS match: هٰذَا … ـهُ · هٰذِهِ … ـهَا.
Website teaching point: “A price question is also a pronoun task: the suffix must refer accurately to the item.”
Website common error: “Do not use ثَمَنُهُ for a feminine item. For حَقِيبَةٌ, ask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numbers for prices (Topic C grammar focus). Teacher-made table using the prices in the website listening, advert and games.
Pink = the ENDING of the currency word, which depends on the number:
• 3–10 → plural, genitive: عَشَرَةُ دَنَانِيرَ (website listening: خَصْمٌ عَشَرَةُ دَنَانِيرَ).
• 11–99 → singular with -an: عِشْرُونَ دِينَارًا · خَمْسُونَ دِينَارًا.
Core: rows 1–4 — the tens. Just say the number + دِينَارًا. Develop: row 5 (after بِـ the tens change -ūn → -īn). Stretch: row 6 — Arabic says units before tens: “four and twenty”.
Currency: دِينَارٌ (pl. دَنَانِيرُ), جُنَيْهٌ (pound), بِنْسٌ (penny), رِيَالٌ, دِرْهَمٌ.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comparing products (website rule “Compare two prices”: “These irregular comparative forms do not change for masculine and feminine nouns”). Card 3 is the website game sentence.
Website teaching point: “Comparatives are most useful when they support a decision, not when they appear as isolated forms.” → always finish a comparison with a decision: لِذٰلِكَ سَأَشْتَرِي … (so I will buy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transaction. Cards 1–2 are the website rule “Make a polite purchase” and the website pattern. Card 3 is teacher-made for the Topic C focus “resolve problems” — used in the Stretch complaint email later in the lesson. Notice ـهُ again: أُبَدِّلَهُ = exchange IT (the phone, masculine).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use for revision or homework). Website overview: “The price question changes its possessive ending according to the item: ثَمَنُهُ for a masculine item and ثَمَنُهَا for a feminine item. Compare prices with أَرْخَصُ مِنْ and أَغْلَى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(play the customer; a confident student can read the seller). Students COPY the dialogue into their books.
Step 1 — “Ask if they have it: هَلْ عِنْدَكُمْ …؟”
Step 2 — “حَقِيبَةٌ ends in ـة, so: هٰذِهِ … and ثَمَنُهَا. They match!”
Step 3 — “Compare: أَرْخَصُ مِنَ … — the same for masculine and feminine. Then DECIDE: لِذٰلِكَ سَأَشْتَرِي …”
Step 4 — “Pay: هَلْ يُمْكِنُ أَنْ أَدْفَعَ بِالبِطَاقَةِ؟”
Built from the website listening (the blue and black bags) and website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the website patterns. Students copy TWO that are useful for them.
• Core: copy 1 and 2 and change the item (هٰذَا تَذْكَارٌ … / هٰذِهِ هَدِيَّةٌ …). • Develop: copy 3 with two new items. • Stretch: copy 4 and add a discount question (هَلْ هُنَاكَ خَصْمٌ؟).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(“Best Buy”)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أَرْخَصُ مِنْ (cheaper than), أَفْضَلُ قِيمَةً (better value), خَصْمٌ (discount). Stretch: prove the big pack is better value (£3 a kilo vs £4 a kilo) — in Arabic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(“Best Buy”)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أَرْخَصُ مِنْ (cheaper than), أَفْضَلُ قِيمَةً (better value), خَصْمٌ (discount). Stretch: prove the big pack is better value (£3 a kilo vs £4 a kilo) — in Arabic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 ADVERT (2 min) — the website reading “Special offers in the shopping centre”, set out line by line like a real advert (Topic C focus “Understand adverts and transactions”).
Read it aloud once while students follow. SEND: cover the text and uncover one line at a time; Core students use the glossary.
Point out: أَرْخَصُ مِنْهَا = cheaper than IT (ـهَا = the big bag); اِحْتَفِظْ = an instruction, like TC-L07’s أَحْضِرْ.
Website note: the website text writes بِعِشْرَةِ دَنَانِيرَ; the number ten is عَشَرَة (with fatḥa on the shīn) — corrected here to بِعَشَرَةِ.
Translation for the teacher: Today’s offers at Al-Noor shopping centre: Books with a 20% discount. The large travel bag is 60 dinars, and the small bag is 10 dinars cheaper. The new phone is expensive, but it comes with free headphones. You can pay in cash or by card. Keep the receipt for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 QUESTIONS — the website reading questions 1–5 (question 6 is in the teacher notes: How long should the receipt be kept? → 30 days, لِمُدَّةِ ثَلَاثِينَ يَوْمًا). Students type five letters in the chat. Core: questions 1, 2 and 5 with the key-word clues. Stretch: how much is the small bag? (60 − 10 = 50 dinars).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advert (by invitation). Ask: which offer is the best?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with the options reordered so the answers are not always A.
Students choose ONE box per column (start from Column 1 on the right) and type the letters, e.g. “1: B B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with the options reordered so the answers are not always A.
Students choose ONE box per column (start from Column 1 on the right) and type the letters, e.g. “1: B B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“Masculine or feminine price reference?” (2 min, all students). Clue for Core: look at the LAST letter. ـة → feminine → ثَمَنُهَا.
Stretch trap: تَذْكَارٌ (souvenir) and تَذْكِرَةٌ (ticket) look alike — only one ends in ـة.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“Masculine or feminine price reference?” (2 min, all students). Clue for Core: look at the LAST letter. ـة → feminine → ثَمَنُهَا.
Stretch trap: تَذْكَارٌ (souvenir) and تَذْكِرَةٌ (ticket) look alike — only one ends in ـة.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الزَّبُونَةُ: السَّلَامُ عَلَيْكُمْ. هَلْ عِنْدَكُمْ حَقَائِبُ صَغِيرَةٌ؟ البَائِعُ: نَعَمْ، هٰذِهِ حَقِيبَةٌ زَرْقَاءُ وَثَمَنُهَا خَمْسُونَ دِينَارًا. وَهٰذِهِ حَقِيبَةٌ سَوْدَاءُ بِأَرْبَعِينَ. الزَّبُونَةُ: السَّوْدَاءُ أَرْخَصُ، وَلٰكِنَّ الزَّرْقَاءَ أَجْمَلُ. هَلْ هُنَاكَ خَصْمٌ؟ البَائِعُ: نَعَمْ، خَصْمٌ عَشَرَةُ دَنَانِيرَ. الزَّبُونَةُ: جَيِّدٌ. أُرِيدُ الزَّرْقَاءَ. هَلْ يُمْكِنُ أَنْ أَدْفَعَ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هُنَاكَ خَصْمٌ؟ (Is there a discount?)
B: نَعَمْ، وَيُمْكِنُكَ الدَّفْعُ نَقْدًا أَوْ بِالبِطَاقَةِ. (Yes, and you can pay cash or by card.)
ROLE PLAY (website “Market bargaining and payment role play”): A = customer, B = seller; swap after 45 s. Stretch pairs add a problem: the item does not work → exchange or refund (Part 4, card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Ask the price of four items and complete a supported purchase. · Develop — Compare three items and justify a purchase decision. · Stretch — Handle availability, discount, payment and receipt questions in a spontaneous role play.
Website writing task (Stretch): Write a six- to eight-line shopping dialogue and compare two possible purchases.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هٰذَا / هٰذِهِ and the two price questions; Stretch explain what مِنْهُ refers to (the book).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(FLEX — Stretch, fast finishers or homework) — Topic C focus “resolve problems”. A teacher-made complaint email linked to the website advert (the new phone with free headphones).
Translation for the teacher: To: Customer service — Al-Noor shopping centre. I bought this phone on Saturday for 200 dinars. But the phone does not work, and the headphones are not in the box. I have the receipt, and this is a photo of it. I want to exchange the phone for a new phone, or for you to give me my money back. Thank you — Sara.
Notice the attached pronouns: صُورَتُهَا (a photo of IT — the receipt, فَاتُورَةٌ,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questions (teacher-made). Then write Sara’s reply from customer service: نَعْتَذِرُ … يُمْكِنُكِ أَنْ تُبَدِّلِي الهَاتِفَ … (We apologise … you can exchange the phone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discuss question 4: the attached pronoun always points back to a noun — find it and check the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(TC-L10 · Measurements, Shapes and Materials) will spend class time USING this language, so students prepare it tonight — short, simple, easy to access (school guidance: “Simple, Short, Interesting, Relevant, Easy to access”). The five words come from the website lesson (F6-L07 “The Built Environment”) and the Topic C “Measurements”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3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Shopping, Prices and Consumer Choices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التَّسَوُّقُ وَالأَسْعَارُ وَخِيَارَاتُ المُسْتَهْلِكِ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Ask the price of this and that (</a:t>
            </a:r>
            <a:pPr algn="l" indent="0" marL="0">
              <a:buNone/>
            </a:pPr>
            <a:r>
              <a:rPr lang="ar-SA" altLang="en-US" sz="1800" dirty="0">
                <a:solidFill>
                  <a:srgbClr val="C6D2E6"/>
                </a:solidFill>
                <a:latin typeface="Amiri" pitchFamily="34" charset="0"/>
                <a:ea typeface="Amiri" pitchFamily="34" charset="-122"/>
                <a:cs typeface="Amiri" pitchFamily="34" charset="-120"/>
              </a:rPr>
              <a:t>هٰذَا</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هٰذِهِ</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ثَمَنُهُ</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ثَمَنُهَا</a:t>
            </a:r>
            <a:pPr algn="l" indent="0" marL="0">
              <a:buNone/>
            </a:pPr>
            <a:r>
              <a:rPr lang="en-US" sz="1400" dirty="0">
                <a:solidFill>
                  <a:srgbClr val="C6D2E6"/>
                </a:solidFill>
                <a:latin typeface="Calibri" pitchFamily="34" charset="0"/>
                <a:ea typeface="Calibri" pitchFamily="34" charset="-122"/>
                <a:cs typeface="Calibri" pitchFamily="34" charset="-120"/>
              </a:rPr>
              <a:t>), read prices and adverts, compare products (</a:t>
            </a:r>
            <a:pPr algn="l" indent="0" marL="0">
              <a:buNone/>
            </a:pPr>
            <a:r>
              <a:rPr lang="ar-SA" altLang="en-US" sz="1800" dirty="0">
                <a:solidFill>
                  <a:srgbClr val="C6D2E6"/>
                </a:solidFill>
                <a:latin typeface="Amiri" pitchFamily="34" charset="0"/>
                <a:ea typeface="Amiri" pitchFamily="34" charset="-122"/>
                <a:cs typeface="Amiri" pitchFamily="34" charset="-120"/>
              </a:rPr>
              <a:t>أَرْخَصُ</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أَغْلَى</a:t>
            </a:r>
            <a:pPr algn="l" indent="0" marL="0">
              <a:buNone/>
            </a:pPr>
            <a:r>
              <a:rPr lang="en-US" sz="1400" dirty="0">
                <a:solidFill>
                  <a:srgbClr val="C6D2E6"/>
                </a:solidFill>
                <a:latin typeface="Calibri" pitchFamily="34" charset="0"/>
                <a:ea typeface="Calibri" pitchFamily="34" charset="-122"/>
                <a:cs typeface="Calibri" pitchFamily="34" charset="-120"/>
              </a:rPr>
              <a:t>) and sort out a problem in a shop.</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TC-L09 · Week 3,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Shop words, “this”, “how much is it?”, prices.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Best buy, read an advert,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سُوقٌ</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price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market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discount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“cheap”?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رَخِيصٌ</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غَالٍ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خَصْمٌ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حَيِّي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المَقْهَى بِجَانِبِ البَنْكِ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café is opposite the bank.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café is behind the bank.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café is next to the bank.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“bigger than”?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مِنْ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كَبِيرٌ مِنْ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عَنْ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سُوقٌ</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price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market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discount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سُوقٌ</a:t>
            </a:r>
            <a:pPr algn="l" indent="0" marL="0">
              <a:buNone/>
            </a:pPr>
            <a:r>
              <a:rPr lang="en-US" sz="1050" i="1" dirty="0">
                <a:solidFill>
                  <a:srgbClr val="8A6D1E"/>
                </a:solidFill>
                <a:latin typeface="Calibri" pitchFamily="34" charset="0"/>
                <a:ea typeface="Calibri" pitchFamily="34" charset="-122"/>
                <a:cs typeface="Calibri" pitchFamily="34" charset="-120"/>
              </a:rPr>
              <a:t> = market (pl. </a:t>
            </a:r>
            <a:pPr algn="l" indent="0" marL="0">
              <a:buNone/>
            </a:pPr>
            <a:r>
              <a:rPr lang="ar-SA" altLang="en-US" sz="1350" dirty="0">
                <a:solidFill>
                  <a:srgbClr val="8A6D1E"/>
                </a:solidFill>
                <a:latin typeface="Amiri" pitchFamily="34" charset="0"/>
                <a:ea typeface="Amiri" pitchFamily="34" charset="-122"/>
                <a:cs typeface="Amiri" pitchFamily="34" charset="-120"/>
              </a:rPr>
              <a:t>أَسْوَاقٌ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“cheap”?</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رَخِيصٌ</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غَالٍ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خَصْمٌ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رَخِيصٌ</a:t>
            </a:r>
            <a:pPr algn="l" indent="0" marL="0">
              <a:buNone/>
            </a:pPr>
            <a:r>
              <a:rPr lang="en-US" sz="1050" i="1" dirty="0">
                <a:solidFill>
                  <a:srgbClr val="8A6D1E"/>
                </a:solidFill>
                <a:latin typeface="Calibri" pitchFamily="34" charset="0"/>
                <a:ea typeface="Calibri" pitchFamily="34" charset="-122"/>
                <a:cs typeface="Calibri" pitchFamily="34" charset="-120"/>
              </a:rPr>
              <a:t> = cheap · </a:t>
            </a:r>
            <a:pPr algn="l" indent="0" marL="0">
              <a:buNone/>
            </a:pPr>
            <a:r>
              <a:rPr lang="ar-SA" altLang="en-US" sz="1350" dirty="0">
                <a:solidFill>
                  <a:srgbClr val="8A6D1E"/>
                </a:solidFill>
                <a:latin typeface="Amiri" pitchFamily="34" charset="0"/>
                <a:ea typeface="Amiri" pitchFamily="34" charset="-122"/>
                <a:cs typeface="Amiri" pitchFamily="34" charset="-120"/>
              </a:rPr>
              <a:t>غَالٍ</a:t>
            </a:r>
            <a:pPr algn="l" indent="0" marL="0">
              <a:buNone/>
            </a:pPr>
            <a:r>
              <a:rPr lang="en-US" sz="1050" i="1" dirty="0">
                <a:solidFill>
                  <a:srgbClr val="8A6D1E"/>
                </a:solidFill>
                <a:latin typeface="Calibri" pitchFamily="34" charset="0"/>
                <a:ea typeface="Calibri" pitchFamily="34" charset="-122"/>
                <a:cs typeface="Calibri" pitchFamily="34" charset="-120"/>
              </a:rPr>
              <a:t> = expensive · </a:t>
            </a:r>
            <a:pPr algn="l" indent="0" marL="0">
              <a:buNone/>
            </a:pPr>
            <a:r>
              <a:rPr lang="ar-SA" altLang="en-US" sz="1350" dirty="0">
                <a:solidFill>
                  <a:srgbClr val="8A6D1E"/>
                </a:solidFill>
                <a:latin typeface="Amiri" pitchFamily="34" charset="0"/>
                <a:ea typeface="Amiri" pitchFamily="34" charset="-122"/>
                <a:cs typeface="Amiri" pitchFamily="34" charset="-120"/>
              </a:rPr>
              <a:t>خَصْمٌ</a:t>
            </a:r>
            <a:pPr algn="l" indent="0" marL="0">
              <a:buNone/>
            </a:pPr>
            <a:r>
              <a:rPr lang="en-US" sz="1050" i="1" dirty="0">
                <a:solidFill>
                  <a:srgbClr val="8A6D1E"/>
                </a:solidFill>
                <a:latin typeface="Calibri" pitchFamily="34" charset="0"/>
                <a:ea typeface="Calibri" pitchFamily="34" charset="-122"/>
                <a:cs typeface="Calibri" pitchFamily="34" charset="-120"/>
              </a:rPr>
              <a:t> = discount.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حَيِّي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a:t>
            </a:r>
            <a:pPr algn="l" indent="0" marL="0">
              <a:buNone/>
            </a:pPr>
            <a:r>
              <a:rPr lang="ar-SA" altLang="en-US" sz="1350" dirty="0">
                <a:solidFill>
                  <a:srgbClr val="8A6D1E"/>
                </a:solidFill>
                <a:latin typeface="Amiri" pitchFamily="34" charset="0"/>
                <a:ea typeface="Amiri" pitchFamily="34" charset="-122"/>
                <a:cs typeface="Amiri" pitchFamily="34" charset="-120"/>
              </a:rPr>
              <a:t>مَكْتَبَةٌ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المَقْهَى بِجَانِبِ البَنْكِ</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café is opposite the bank.</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café is behind the bank.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café is next to the bank.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a:t>
            </a:r>
            <a:pPr algn="l" indent="0" marL="0">
              <a:buNone/>
            </a:pPr>
            <a:r>
              <a:rPr lang="ar-SA" altLang="en-US" sz="1350" dirty="0">
                <a:solidFill>
                  <a:srgbClr val="8A6D1E"/>
                </a:solidFill>
                <a:latin typeface="Amiri" pitchFamily="34" charset="0"/>
                <a:ea typeface="Amiri" pitchFamily="34" charset="-122"/>
                <a:cs typeface="Amiri" pitchFamily="34" charset="-120"/>
              </a:rPr>
              <a:t>بِجَانِبِ</a:t>
            </a:r>
            <a:pPr algn="l" indent="0" marL="0">
              <a:buNone/>
            </a:pPr>
            <a:r>
              <a:rPr lang="en-US" sz="1050" i="1" dirty="0">
                <a:solidFill>
                  <a:srgbClr val="8A6D1E"/>
                </a:solidFill>
                <a:latin typeface="Calibri" pitchFamily="34" charset="0"/>
                <a:ea typeface="Calibri" pitchFamily="34" charset="-122"/>
                <a:cs typeface="Calibri" pitchFamily="34" charset="-120"/>
              </a:rPr>
              <a:t> = next to.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“bigger than”?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أَكْبَرُ مِنْ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كَبِيرٌ مِنْ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أَكْبَرُ عَنْ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the </a:t>
            </a:r>
            <a:pPr algn="l" indent="0" marL="0">
              <a:buNone/>
            </a:pPr>
            <a:r>
              <a:rPr lang="ar-SA" altLang="en-US" sz="1350" dirty="0">
                <a:solidFill>
                  <a:srgbClr val="8A6D1E"/>
                </a:solidFill>
                <a:latin typeface="Amiri" pitchFamily="34" charset="0"/>
                <a:ea typeface="Amiri" pitchFamily="34" charset="-122"/>
                <a:cs typeface="Amiri" pitchFamily="34" charset="-120"/>
              </a:rPr>
              <a:t>أَفْعَلُ</a:t>
            </a:r>
            <a:pPr algn="l" indent="0" marL="0">
              <a:buNone/>
            </a:pPr>
            <a:r>
              <a:rPr lang="en-US" sz="1050" i="1" dirty="0">
                <a:solidFill>
                  <a:srgbClr val="8A6D1E"/>
                </a:solidFill>
                <a:latin typeface="Calibri" pitchFamily="34" charset="0"/>
                <a:ea typeface="Calibri" pitchFamily="34" charset="-122"/>
                <a:cs typeface="Calibri" pitchFamily="34" charset="-120"/>
              </a:rPr>
              <a:t> pattern + </a:t>
            </a:r>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“it” ending must match the thing: a book (m.) → </a:t>
            </a:r>
            <a:pPr algn="l" indent="0" marL="0">
              <a:buNone/>
            </a:pPr>
            <a:r>
              <a:rPr lang="ar-SA" altLang="en-US" sz="1700" b="1" dirty="0">
                <a:solidFill>
                  <a:srgbClr val="1F2A37"/>
                </a:solidFill>
                <a:latin typeface="Amiri" pitchFamily="34" charset="0"/>
                <a:ea typeface="Amiri" pitchFamily="34" charset="-122"/>
                <a:cs typeface="Amiri" pitchFamily="34" charset="-120"/>
              </a:rPr>
              <a:t>ـهُ</a:t>
            </a:r>
            <a:pPr algn="l" indent="0" marL="0">
              <a:buNone/>
            </a:pPr>
            <a:r>
              <a:rPr lang="en-US" sz="1300" b="1" dirty="0">
                <a:solidFill>
                  <a:srgbClr val="1F2A37"/>
                </a:solidFill>
                <a:latin typeface="Calibri" pitchFamily="34" charset="0"/>
                <a:ea typeface="Calibri" pitchFamily="34" charset="-122"/>
                <a:cs typeface="Calibri" pitchFamily="34" charset="-120"/>
              </a:rPr>
              <a:t>, a bag (f.) → </a:t>
            </a:r>
            <a:pPr algn="l" indent="0" marL="0">
              <a:buNone/>
            </a:pPr>
            <a:r>
              <a:rPr lang="ar-SA" altLang="en-US" sz="1700" b="1" dirty="0">
                <a:solidFill>
                  <a:srgbClr val="1F2A37"/>
                </a:solidFill>
                <a:latin typeface="Amiri" pitchFamily="34" charset="0"/>
                <a:ea typeface="Amiri" pitchFamily="34" charset="-122"/>
                <a:cs typeface="Amiri" pitchFamily="34" charset="-120"/>
              </a:rPr>
              <a:t>ـهَا</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كِتَابٌ: كَمْ ثَمَنُ</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هُ</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  ·  حَقِيبَةٌ: كَمْ ثَمَنُ</a:t>
            </a:r>
            <a:pPr rtl="1" algn="ctr" indent="0" marL="0">
              <a:lnSpc>
                <a:spcPct val="120000"/>
              </a:lnSpc>
              <a:buNone/>
            </a:pPr>
            <a:r>
              <a:rPr lang="ar-SA" altLang="en-US" sz="1950" b="1" dirty="0">
                <a:solidFill>
                  <a:srgbClr val="D6336C"/>
                </a:solidFill>
                <a:latin typeface="Amiri" pitchFamily="34" charset="0"/>
                <a:ea typeface="Amiri" pitchFamily="34" charset="-122"/>
                <a:cs typeface="Amiri" pitchFamily="34" charset="-120"/>
              </a:rPr>
              <a:t>هَا</a:t>
            </a:r>
            <a:pPr rtl="1" algn="ctr" indent="0" marL="0">
              <a:lnSpc>
                <a:spcPct val="120000"/>
              </a:lnSpc>
              <a:buNone/>
            </a:pPr>
            <a:r>
              <a:rPr lang="ar-SA" altLang="en-US" sz="1950" b="1" dirty="0">
                <a:solidFill>
                  <a:srgbClr val="1B3B6F"/>
                </a:solidFill>
                <a:latin typeface="Amiri" pitchFamily="34" charset="0"/>
                <a:ea typeface="Amiri" pitchFamily="34" charset="-122"/>
                <a:cs typeface="Amiri" pitchFamily="34" charset="-120"/>
              </a:rPr>
              <a:t>؟</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shopping, payment and price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Ask prices for masculine and feminine items.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Compare two prices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Complete a polite shop role play.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12 shop words and say </a:t>
            </a:r>
            <a:pPr algn="l" indent="0" marL="0">
              <a:buNone/>
            </a:pPr>
            <a:r>
              <a:rPr lang="ar-SA" altLang="en-US" sz="1700" b="1" dirty="0">
                <a:solidFill>
                  <a:srgbClr val="2E8B57"/>
                </a:solidFill>
                <a:latin typeface="Amiri" pitchFamily="34" charset="0"/>
                <a:ea typeface="Amiri" pitchFamily="34" charset="-122"/>
                <a:cs typeface="Amiri" pitchFamily="34" charset="-120"/>
              </a:rPr>
              <a:t>هٰذَا / هٰذِهِ</a:t>
            </a:r>
            <a:pPr algn="l" indent="0" marL="0">
              <a:buNone/>
            </a:pPr>
            <a:r>
              <a:rPr lang="en-US" sz="1300" b="1" dirty="0">
                <a:solidFill>
                  <a:srgbClr val="2E8B57"/>
                </a:solidFill>
                <a:latin typeface="Calibri" pitchFamily="34" charset="0"/>
                <a:ea typeface="Calibri" pitchFamily="34" charset="-122"/>
                <a:cs typeface="Calibri" pitchFamily="34" charset="-120"/>
              </a:rPr>
              <a:t> correctly.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ask </a:t>
            </a:r>
            <a:pPr algn="l" indent="0" marL="0">
              <a:buNone/>
            </a:pPr>
            <a:r>
              <a:rPr lang="ar-SA" altLang="en-US" sz="1700" b="1" dirty="0">
                <a:solidFill>
                  <a:srgbClr val="2E8B57"/>
                </a:solidFill>
                <a:latin typeface="Amiri" pitchFamily="34" charset="0"/>
                <a:ea typeface="Amiri" pitchFamily="34" charset="-122"/>
                <a:cs typeface="Amiri" pitchFamily="34" charset="-120"/>
              </a:rPr>
              <a:t>كَمْ ثَمَنُهُ؟ / كَمْ ثَمَنُهَا؟</a:t>
            </a:r>
            <a:pPr algn="l" indent="0" marL="0">
              <a:buNone/>
            </a:pPr>
            <a:r>
              <a:rPr lang="en-US" sz="1300" b="1" dirty="0">
                <a:solidFill>
                  <a:srgbClr val="2E8B57"/>
                </a:solidFill>
                <a:latin typeface="Calibri" pitchFamily="34" charset="0"/>
                <a:ea typeface="Calibri" pitchFamily="34" charset="-122"/>
                <a:cs typeface="Calibri" pitchFamily="34" charset="-120"/>
              </a:rPr>
              <a:t> and understand a price.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compare two products with </a:t>
            </a:r>
            <a:pPr algn="l" indent="0" marL="0">
              <a:buNone/>
            </a:pPr>
            <a:r>
              <a:rPr lang="ar-SA" altLang="en-US" sz="1700" b="1" dirty="0">
                <a:solidFill>
                  <a:srgbClr val="C9780A"/>
                </a:solidFill>
                <a:latin typeface="Amiri" pitchFamily="34" charset="0"/>
                <a:ea typeface="Amiri" pitchFamily="34" charset="-122"/>
                <a:cs typeface="Amiri" pitchFamily="34" charset="-120"/>
              </a:rPr>
              <a:t>أَرْخَصُ مِنْ / أَغْلَى مِنْ</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read an advert and ask to pay politely.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explain a problem and ask for an exchange or refund.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6–8-line shop dialogue comparing two items.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32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In the shop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Things to buy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Price and paying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Prices · 7</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Polite phrases · 7</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قِيمَةٌ</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‎قیمت‎ </a:t>
            </a:r>
            <a:pPr indent="0" marL="0">
              <a:buNone/>
            </a:pPr>
            <a:r>
              <a:rPr lang="en-US" sz="950" b="1" dirty="0">
                <a:solidFill>
                  <a:srgbClr val="2E8B57"/>
                </a:solidFill>
                <a:latin typeface="Calibri" pitchFamily="34" charset="0"/>
                <a:ea typeface="Calibri" pitchFamily="34" charset="-122"/>
                <a:cs typeface="Calibri" pitchFamily="34" charset="-120"/>
              </a:rPr>
              <a:t> qīmat · value (Urdu: price)</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دُكَّانٌ</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‎دکان‎ </a:t>
            </a:r>
            <a:pPr indent="0" marL="0">
              <a:buNone/>
            </a:pPr>
            <a:r>
              <a:rPr lang="en-US" sz="950" b="1" dirty="0">
                <a:solidFill>
                  <a:srgbClr val="2E8B57"/>
                </a:solidFill>
                <a:latin typeface="Calibri" pitchFamily="34" charset="0"/>
                <a:ea typeface="Calibri" pitchFamily="34" charset="-122"/>
                <a:cs typeface="Calibri" pitchFamily="34" charset="-120"/>
              </a:rPr>
              <a:t> dukān · shop</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نَقْدًا</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‎نقد‎ </a:t>
            </a:r>
            <a:pPr indent="0" marL="0">
              <a:buNone/>
            </a:pPr>
            <a:r>
              <a:rPr lang="en-US" sz="950" b="1" dirty="0">
                <a:solidFill>
                  <a:srgbClr val="2E8B57"/>
                </a:solidFill>
                <a:latin typeface="Calibri" pitchFamily="34" charset="0"/>
                <a:ea typeface="Calibri" pitchFamily="34" charset="-122"/>
                <a:cs typeface="Calibri" pitchFamily="34" charset="-120"/>
              </a:rPr>
              <a:t> naqd · in cash</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حِسَابٌ</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‎حساب‎ </a:t>
            </a:r>
            <a:pPr indent="0" marL="0">
              <a:buNone/>
            </a:pPr>
            <a:r>
              <a:rPr lang="en-US" sz="950" b="1" dirty="0">
                <a:solidFill>
                  <a:srgbClr val="2E8B57"/>
                </a:solidFill>
                <a:latin typeface="Calibri" pitchFamily="34" charset="0"/>
                <a:ea typeface="Calibri" pitchFamily="34" charset="-122"/>
                <a:cs typeface="Calibri" pitchFamily="34" charset="-120"/>
              </a:rPr>
              <a:t> ḥisāb · the bill, account</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هَدِيَّةٌ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‎ہدیہ‎ </a:t>
            </a:r>
            <a:pPr indent="0" marL="0">
              <a:buNone/>
            </a:pPr>
            <a:r>
              <a:rPr lang="en-US" sz="950" b="1" dirty="0">
                <a:solidFill>
                  <a:srgbClr val="2E8B57"/>
                </a:solidFill>
                <a:latin typeface="Calibri" pitchFamily="34" charset="0"/>
                <a:ea typeface="Calibri" pitchFamily="34" charset="-122"/>
                <a:cs typeface="Calibri" pitchFamily="34" charset="-120"/>
              </a:rPr>
              <a:t> hadiya · gift</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 the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فِي المَحَلِّ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مَحَلٌّ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ma-ḥall · pl. ma-ḥal-lāt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مَحَلَّاتٌ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سُوقٌ</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market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sūq · pl. as-wāq</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سُوقٌ</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أَسْوَاقٌ</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مَرْكَزٌ </a:t>
            </a:r>
            <a:pPr rtl="1" algn="r" indent="0" marL="0">
              <a:buNone/>
            </a:pPr>
            <a:r>
              <a:rPr lang="ar-SA" altLang="en-US" sz="3000" b="1" dirty="0">
                <a:solidFill>
                  <a:srgbClr val="7B3FA0"/>
                </a:solidFill>
                <a:latin typeface="Amiri" pitchFamily="34" charset="0"/>
                <a:ea typeface="Amiri" pitchFamily="34" charset="-122"/>
                <a:cs typeface="Amiri" pitchFamily="34" charset="-120"/>
              </a:rPr>
              <a:t>تِجَارِ</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shopping centre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mar-ka-zun ti-jā-riyy</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person</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بَائِعٌ</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seller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bā-ʾiʿ / bā-ʾi-ʿa</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بَائِعٌ</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68" name="Text 6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بَائِعَةٌ</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person</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زَبُونٌ</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customer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za-būn / za-bū-na · pl. za-bā-ʾin</a:t>
            </a:r>
            <a:endParaRPr lang="en-US" sz="1350" dirty="0"/>
          </a:p>
        </p:txBody>
      </p:sp>
      <p:sp>
        <p:nvSpPr>
          <p:cNvPr id="78" name="Shape 7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0" name="Text 7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زَبُونٌ</a:t>
            </a:r>
            <a:endParaRPr lang="ar-SA" sz="1500" dirty="0"/>
          </a:p>
        </p:txBody>
      </p:sp>
      <p:sp>
        <p:nvSpPr>
          <p:cNvPr id="81" name="Shape 7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3" name="Text 8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زَبُونَةٌ</a:t>
            </a:r>
            <a:endParaRPr lang="ar-SA" sz="1500" dirty="0"/>
          </a:p>
        </p:txBody>
      </p:sp>
      <p:sp>
        <p:nvSpPr>
          <p:cNvPr id="84" name="Shape 8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6" name="Text 8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زَبَائِنُ</a:t>
            </a:r>
            <a:endParaRPr lang="ar-SA" sz="1500" dirty="0"/>
          </a:p>
        </p:txBody>
      </p:sp>
      <p:sp>
        <p:nvSpPr>
          <p:cNvPr id="87" name="Shape 8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566928"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0" name="Shape 8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92" name="Text 8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عَرْضٌ خَاصٌّ</a:t>
            </a:r>
            <a:endParaRPr lang="ar-SA" sz="3000" dirty="0"/>
          </a:p>
        </p:txBody>
      </p:sp>
      <p:sp>
        <p:nvSpPr>
          <p:cNvPr id="93" name="Text 9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special offer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ʿar-ḍun khāṣṣ</a:t>
            </a:r>
            <a:endParaRPr lang="en-US" sz="1350" dirty="0"/>
          </a:p>
        </p:txBody>
      </p:sp>
      <p:sp>
        <p:nvSpPr>
          <p:cNvPr id="94" name="Shape 91"/>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96" name="Text 93"/>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عَرْضٌ</a:t>
            </a:r>
            <a:endParaRPr lang="ar-SA" sz="1500" dirty="0"/>
          </a:p>
        </p:txBody>
      </p:sp>
      <p:sp>
        <p:nvSpPr>
          <p:cNvPr id="97" name="Shape 94"/>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9" name="Text 96"/>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عُرُوضٌ</a:t>
            </a:r>
            <a:endParaRPr lang="ar-SA" sz="1500" dirty="0"/>
          </a:p>
        </p:txBody>
      </p:sp>
      <p:sp>
        <p:nvSpPr>
          <p:cNvPr id="100" name="Text 9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THE GENDER DECIDES THE QUESTION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Things to buy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السِّلَعُ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book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كُتُبٌ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حَقِيبَةٌ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ḥa-qī-ba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(f.)</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ثَمَنُهَا؟</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حَقَائِبُ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هَاتِفٌ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phone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hā-tif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هَوَاتِفُ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هَدِيَّةٌ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gift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ha-diy-ya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(f.)</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ثَمَنُهَا؟</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هَدَايَا</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حِذَاءٌ</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shoe(s)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ḥi-dhāʾ</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أَحْذِيَةٌ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تَذْكَارٌ</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souvenir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tadh-kār</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ask (m.)</a:t>
            </a:r>
            <a:endParaRPr lang="en-US" sz="700" dirty="0"/>
          </a:p>
        </p:txBody>
      </p:sp>
      <p:sp>
        <p:nvSpPr>
          <p:cNvPr id="97" name="Text 94"/>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كَمْ ثَمَنُهُ؟</a:t>
            </a:r>
            <a:endParaRPr lang="ar-SA" sz="135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تَذْكَارَاتٌ</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Price and paying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الثَّمَنُ وَالدَّفْعُ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ثَمَنٌ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tha-man · also سِعْرٌ</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سِعْرٌ</a:t>
            </a:r>
            <a:pPr algn="l" indent="0" marL="0">
              <a:buNone/>
            </a:pPr>
            <a:r>
              <a:rPr lang="en-US" sz="1000" i="1" dirty="0">
                <a:solidFill>
                  <a:srgbClr val="8A6D1E"/>
                </a:solidFill>
                <a:latin typeface="Calibri" pitchFamily="34" charset="0"/>
                <a:ea typeface="Calibri" pitchFamily="34" charset="-122"/>
                <a:cs typeface="Calibri" pitchFamily="34" charset="-120"/>
              </a:rPr>
              <a:t> = price / rate (pl. </a:t>
            </a:r>
            <a:pPr algn="l" indent="0" marL="0">
              <a:buNone/>
            </a:pPr>
            <a:r>
              <a:rPr lang="ar-SA" altLang="en-US" sz="1300" dirty="0">
                <a:solidFill>
                  <a:srgbClr val="8A6D1E"/>
                </a:solidFill>
                <a:latin typeface="Amiri" pitchFamily="34" charset="0"/>
                <a:ea typeface="Amiri" pitchFamily="34" charset="-122"/>
                <a:cs typeface="Amiri" pitchFamily="34" charset="-120"/>
              </a:rPr>
              <a:t>أَسْعَارٌ</a:t>
            </a:r>
            <a:pPr algn="l" indent="0" marL="0">
              <a:buNone/>
            </a:pPr>
            <a:r>
              <a:rPr lang="en-US" sz="1000" i="1" dirty="0">
                <a:solidFill>
                  <a:srgbClr val="8A6D1E"/>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رَخِيصٌ</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cheap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ra-khīṣ / ra-khī-ṣa</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رَخِيصٌ</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رَخِيصَةٌ</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3" name="Shape 40"/>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adjective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غَالٍ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expensive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ghā-lin / ghā-li-ya</a:t>
            </a:r>
            <a:endParaRPr lang="en-US" sz="1350" dirty="0"/>
          </a:p>
        </p:txBody>
      </p:sp>
      <p:sp>
        <p:nvSpPr>
          <p:cNvPr id="49" name="Shape 4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1" name="Text 48"/>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غَالٍ</a:t>
            </a:r>
            <a:endParaRPr lang="ar-SA" sz="1500" dirty="0"/>
          </a:p>
        </p:txBody>
      </p:sp>
      <p:sp>
        <p:nvSpPr>
          <p:cNvPr id="52" name="Shape 4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4" name="Text 5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غَالِيَةٌ</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8" name="Shape 5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خَصْمٌ</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discount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khaṣm</a:t>
            </a:r>
            <a:endParaRPr lang="en-US" sz="135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7" name="Shape 6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فَاتُورَةٌ</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receipt, bill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fā-tū-ra · pl. fa-wā-tīr</a:t>
            </a:r>
            <a:endParaRPr lang="en-US" sz="1350" dirty="0"/>
          </a:p>
        </p:txBody>
      </p:sp>
      <p:sp>
        <p:nvSpPr>
          <p:cNvPr id="71" name="Shape 68"/>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73" name="Text 70"/>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فَاتُورَةٌ</a:t>
            </a:r>
            <a:endParaRPr lang="ar-SA" sz="1500" dirty="0"/>
          </a:p>
        </p:txBody>
      </p:sp>
      <p:sp>
        <p:nvSpPr>
          <p:cNvPr id="74" name="Shape 71"/>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6" name="Text 73"/>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فَوَاتِيرُ</a:t>
            </a:r>
            <a:endParaRPr lang="ar-SA" sz="15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0" name="Shape 77"/>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how you pay</a:t>
            </a:r>
            <a:endParaRPr lang="en-US" sz="800" dirty="0"/>
          </a:p>
        </p:txBody>
      </p:sp>
      <p:sp>
        <p:nvSpPr>
          <p:cNvPr id="82" name="Shape 7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نَقْدًا · بِالبِطَاقَةِ</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in cash · by card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naq-dan · bil-bi-ṭā-qa</a:t>
            </a:r>
            <a:endParaRPr lang="en-US" sz="13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ea typeface="Calibri" pitchFamily="34" charset="-122"/>
                <a:cs typeface="Calibri" pitchFamily="34" charset="-120"/>
              </a:rPr>
              <a:t>GRAMMAR FOCUS · PART 1 · DEMONSTRATIVES + ATTACHED PRONOUNS · WEBSITE TABLE</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This … How much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كَمْ ثَمَنُهُ؟ كَمْ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item</a:t>
            </a:r>
            <a:endParaRPr lang="en-US" sz="1100" dirty="0"/>
          </a:p>
        </p:txBody>
      </p:sp>
      <p:sp>
        <p:nvSpPr>
          <p:cNvPr id="17" name="Text 14"/>
          <p:cNvSpPr txBox="1"/>
          <p:nvPr/>
        </p:nvSpPr>
        <p:spPr>
          <a:xfrm>
            <a:off x="70500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This is … (near)</a:t>
            </a:r>
            <a:endParaRPr lang="en-US" sz="1100" dirty="0"/>
          </a:p>
        </p:txBody>
      </p:sp>
      <p:sp>
        <p:nvSpPr>
          <p:cNvPr id="18" name="Text 15"/>
          <p:cNvSpPr txBox="1"/>
          <p:nvPr/>
        </p:nvSpPr>
        <p:spPr>
          <a:xfrm>
            <a:off x="43068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much is it?</a:t>
            </a:r>
            <a:endParaRPr lang="en-US" sz="1100" dirty="0"/>
          </a:p>
        </p:txBody>
      </p:sp>
      <p:sp>
        <p:nvSpPr>
          <p:cNvPr id="19" name="Text 16"/>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answer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masculine</a:t>
            </a:r>
            <a:endParaRPr lang="en-US" sz="1100" dirty="0"/>
          </a:p>
        </p:txBody>
      </p:sp>
      <p:sp>
        <p:nvSpPr>
          <p:cNvPr id="22" name="Text 19"/>
          <p:cNvSpPr txBox="1"/>
          <p:nvPr/>
        </p:nvSpPr>
        <p:spPr>
          <a:xfrm>
            <a:off x="706831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هٰذَا</a:t>
            </a:r>
            <a:pPr rtl="1" algn="ctr" indent="0" marL="0">
              <a:buNone/>
            </a:pPr>
            <a:r>
              <a:rPr lang="ar-SA" altLang="en-US" sz="2100" b="1" dirty="0">
                <a:solidFill>
                  <a:srgbClr val="1B3B6F"/>
                </a:solidFill>
                <a:latin typeface="Amiri" pitchFamily="34" charset="0"/>
                <a:ea typeface="Amiri" pitchFamily="34" charset="-122"/>
                <a:cs typeface="Amiri" pitchFamily="34" charset="-120"/>
              </a:rPr>
              <a:t> كِتَابٌ.</a:t>
            </a:r>
            <a:endParaRPr lang="ar-SA" sz="2100" dirty="0"/>
          </a:p>
        </p:txBody>
      </p:sp>
      <p:sp>
        <p:nvSpPr>
          <p:cNvPr id="23" name="Text 20"/>
          <p:cNvSpPr txBox="1"/>
          <p:nvPr/>
        </p:nvSpPr>
        <p:spPr>
          <a:xfrm>
            <a:off x="702259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hā-dhā ki-tāb · this is a book</a:t>
            </a:r>
            <a:endParaRPr lang="en-US" sz="950" dirty="0"/>
          </a:p>
        </p:txBody>
      </p:sp>
      <p:sp>
        <p:nvSpPr>
          <p:cNvPr id="24" name="Text 21"/>
          <p:cNvSpPr txBox="1"/>
          <p:nvPr/>
        </p:nvSpPr>
        <p:spPr>
          <a:xfrm>
            <a:off x="432511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كَمْ ثَمَنُ</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25" name="Text 22"/>
          <p:cNvSpPr txBox="1"/>
          <p:nvPr/>
        </p:nvSpPr>
        <p:spPr>
          <a:xfrm>
            <a:off x="427939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kam tha-ma-nu-hu</a:t>
            </a:r>
            <a:endParaRPr lang="en-US" sz="950" dirty="0"/>
          </a:p>
        </p:txBody>
      </p:sp>
      <p:sp>
        <p:nvSpPr>
          <p:cNvPr id="26" name="Text 23"/>
          <p:cNvSpPr txBox="1"/>
          <p:nvPr/>
        </p:nvSpPr>
        <p:spPr>
          <a:xfrm>
            <a:off x="548640" y="2286000"/>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ثَمَنُ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هُ</a:t>
            </a:r>
            <a:pPr rtl="1" algn="ctr" indent="0" marL="0">
              <a:buNone/>
            </a:pPr>
            <a:r>
              <a:rPr lang="ar-SA" altLang="en-US" sz="2000" b="1" dirty="0">
                <a:solidFill>
                  <a:srgbClr val="1B3B6F"/>
                </a:solidFill>
                <a:latin typeface="Amiri" pitchFamily="34" charset="0"/>
                <a:ea typeface="Amiri" pitchFamily="34" charset="-122"/>
                <a:cs typeface="Amiri" pitchFamily="34" charset="-120"/>
              </a:rPr>
              <a:t> عِشْرُونَ دِينَارًا.</a:t>
            </a:r>
            <a:endParaRPr lang="ar-SA" sz="2000" dirty="0"/>
          </a:p>
        </p:txBody>
      </p:sp>
      <p:sp>
        <p:nvSpPr>
          <p:cNvPr id="27" name="Text 24"/>
          <p:cNvSpPr txBox="1"/>
          <p:nvPr/>
        </p:nvSpPr>
        <p:spPr>
          <a:xfrm>
            <a:off x="502920" y="2706624"/>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costs twenty dinars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feminine (</a:t>
            </a:r>
            <a:pPr algn="l" indent="0" marL="0">
              <a:buNone/>
            </a:pPr>
            <a:r>
              <a:rPr lang="ar-SA" altLang="en-US" sz="1450" dirty="0">
                <a:solidFill>
                  <a:srgbClr val="5A6472"/>
                </a:solidFill>
                <a:latin typeface="Amiri" pitchFamily="34" charset="0"/>
                <a:ea typeface="Amiri" pitchFamily="34" charset="-122"/>
                <a:cs typeface="Amiri" pitchFamily="34" charset="-120"/>
              </a:rPr>
              <a:t>ـة</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32" name="Text 29"/>
          <p:cNvSpPr txBox="1"/>
          <p:nvPr/>
        </p:nvSpPr>
        <p:spPr>
          <a:xfrm>
            <a:off x="706831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هٰذِهِ</a:t>
            </a:r>
            <a:pPr rtl="1" algn="ctr" indent="0" marL="0">
              <a:buNone/>
            </a:pPr>
            <a:r>
              <a:rPr lang="ar-SA" altLang="en-US" sz="2100" b="1" dirty="0">
                <a:solidFill>
                  <a:srgbClr val="1B3B6F"/>
                </a:solidFill>
                <a:latin typeface="Amiri" pitchFamily="34" charset="0"/>
                <a:ea typeface="Amiri" pitchFamily="34" charset="-122"/>
                <a:cs typeface="Amiri" pitchFamily="34" charset="-120"/>
              </a:rPr>
              <a:t> حَقِيبَةٌ.</a:t>
            </a:r>
            <a:endParaRPr lang="ar-SA" sz="2100" dirty="0"/>
          </a:p>
        </p:txBody>
      </p:sp>
      <p:sp>
        <p:nvSpPr>
          <p:cNvPr id="33" name="Text 30"/>
          <p:cNvSpPr txBox="1"/>
          <p:nvPr/>
        </p:nvSpPr>
        <p:spPr>
          <a:xfrm>
            <a:off x="702259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hā-dhi-hi ḥa-qī-ba · this is a bag</a:t>
            </a:r>
            <a:endParaRPr lang="en-US" sz="950" dirty="0"/>
          </a:p>
        </p:txBody>
      </p:sp>
      <p:sp>
        <p:nvSpPr>
          <p:cNvPr id="34" name="Text 31"/>
          <p:cNvSpPr txBox="1"/>
          <p:nvPr/>
        </p:nvSpPr>
        <p:spPr>
          <a:xfrm>
            <a:off x="432511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كَمْ ثَمَنُ</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35" name="Text 32"/>
          <p:cNvSpPr txBox="1"/>
          <p:nvPr/>
        </p:nvSpPr>
        <p:spPr>
          <a:xfrm>
            <a:off x="427939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kam tha-ma-nu-hā</a:t>
            </a:r>
            <a:endParaRPr lang="en-US" sz="950" dirty="0"/>
          </a:p>
        </p:txBody>
      </p:sp>
      <p:sp>
        <p:nvSpPr>
          <p:cNvPr id="36" name="Text 33"/>
          <p:cNvSpPr txBox="1"/>
          <p:nvPr/>
        </p:nvSpPr>
        <p:spPr>
          <a:xfrm>
            <a:off x="548640" y="3072384"/>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ثَمَنُ</a:t>
            </a:r>
            <a:pPr rtl="1" algn="ctr" indent="0" marL="0">
              <a:buNone/>
            </a:pPr>
            <a:r>
              <a:rPr lang="ar-SA" altLang="en-US" sz="2000" b="1" dirty="0">
                <a:solidFill>
                  <a:srgbClr val="D6336C"/>
                </a:solidFill>
                <a:latin typeface="Amiri" pitchFamily="34" charset="0"/>
                <a:ea typeface="Amiri" pitchFamily="34" charset="-122"/>
                <a:cs typeface="Amiri" pitchFamily="34" charset="-120"/>
              </a:rPr>
              <a:t>هَا</a:t>
            </a:r>
            <a:pPr rtl="1" algn="ctr" indent="0" marL="0">
              <a:buNone/>
            </a:pPr>
            <a:r>
              <a:rPr lang="ar-SA" altLang="en-US" sz="2000" b="1" dirty="0">
                <a:solidFill>
                  <a:srgbClr val="1B3B6F"/>
                </a:solidFill>
                <a:latin typeface="Amiri" pitchFamily="34" charset="0"/>
                <a:ea typeface="Amiri" pitchFamily="34" charset="-122"/>
                <a:cs typeface="Amiri" pitchFamily="34" charset="-120"/>
              </a:rPr>
              <a:t> خَمْسُونَ دِينَارًا.</a:t>
            </a:r>
            <a:endParaRPr lang="ar-SA" sz="2000" dirty="0"/>
          </a:p>
        </p:txBody>
      </p:sp>
      <p:sp>
        <p:nvSpPr>
          <p:cNvPr id="37" name="Text 34"/>
          <p:cNvSpPr txBox="1"/>
          <p:nvPr/>
        </p:nvSpPr>
        <p:spPr>
          <a:xfrm>
            <a:off x="502920" y="3493008"/>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it costs fifty dinars</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plural goods</a:t>
            </a:r>
            <a:endParaRPr lang="en-US" sz="1100" dirty="0"/>
          </a:p>
        </p:txBody>
      </p:sp>
      <p:sp>
        <p:nvSpPr>
          <p:cNvPr id="42" name="Text 39"/>
          <p:cNvSpPr txBox="1"/>
          <p:nvPr/>
        </p:nvSpPr>
        <p:spPr>
          <a:xfrm>
            <a:off x="706831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هٰذِهِ</a:t>
            </a:r>
            <a:pPr rtl="1" algn="ctr" indent="0" marL="0">
              <a:buNone/>
            </a:pPr>
            <a:r>
              <a:rPr lang="ar-SA" altLang="en-US" sz="2100" b="1" dirty="0">
                <a:solidFill>
                  <a:srgbClr val="1B3B6F"/>
                </a:solidFill>
                <a:latin typeface="Amiri" pitchFamily="34" charset="0"/>
                <a:ea typeface="Amiri" pitchFamily="34" charset="-122"/>
                <a:cs typeface="Amiri" pitchFamily="34" charset="-120"/>
              </a:rPr>
              <a:t> مَلَابِسُ.</a:t>
            </a:r>
            <a:endParaRPr lang="ar-SA" sz="2100" dirty="0"/>
          </a:p>
        </p:txBody>
      </p:sp>
      <p:sp>
        <p:nvSpPr>
          <p:cNvPr id="43" name="Text 40"/>
          <p:cNvSpPr txBox="1"/>
          <p:nvPr/>
        </p:nvSpPr>
        <p:spPr>
          <a:xfrm>
            <a:off x="702259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these are clothes</a:t>
            </a:r>
            <a:endParaRPr lang="en-US" sz="950" dirty="0"/>
          </a:p>
        </p:txBody>
      </p:sp>
      <p:sp>
        <p:nvSpPr>
          <p:cNvPr id="44" name="Text 41"/>
          <p:cNvSpPr txBox="1"/>
          <p:nvPr/>
        </p:nvSpPr>
        <p:spPr>
          <a:xfrm>
            <a:off x="432511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كَمْ ثَمَنُ المَلَابِسِ؟</a:t>
            </a:r>
            <a:endParaRPr lang="ar-SA" sz="2100" dirty="0"/>
          </a:p>
        </p:txBody>
      </p:sp>
      <p:sp>
        <p:nvSpPr>
          <p:cNvPr id="45" name="Text 42"/>
          <p:cNvSpPr txBox="1"/>
          <p:nvPr/>
        </p:nvSpPr>
        <p:spPr>
          <a:xfrm>
            <a:off x="427939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use the noun (website)</a:t>
            </a:r>
            <a:endParaRPr lang="en-US" sz="950" dirty="0"/>
          </a:p>
        </p:txBody>
      </p:sp>
      <p:sp>
        <p:nvSpPr>
          <p:cNvPr id="46" name="Text 43"/>
          <p:cNvSpPr txBox="1"/>
          <p:nvPr/>
        </p:nvSpPr>
        <p:spPr>
          <a:xfrm>
            <a:off x="548640" y="3858768"/>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بِأَرْبَعِينَ دِينَارًا.</a:t>
            </a:r>
            <a:endParaRPr lang="ar-SA" sz="2000" dirty="0"/>
          </a:p>
        </p:txBody>
      </p:sp>
      <p:sp>
        <p:nvSpPr>
          <p:cNvPr id="47" name="Text 44"/>
          <p:cNvSpPr txBox="1"/>
          <p:nvPr/>
        </p:nvSpPr>
        <p:spPr>
          <a:xfrm>
            <a:off x="502920" y="4279392"/>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for forty dinars</a:t>
            </a:r>
            <a:endParaRPr lang="en-US" sz="9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far: that</a:t>
            </a:r>
            <a:endParaRPr lang="en-US" sz="1100" dirty="0"/>
          </a:p>
        </p:txBody>
      </p:sp>
      <p:sp>
        <p:nvSpPr>
          <p:cNvPr id="50" name="Text 47"/>
          <p:cNvSpPr txBox="1"/>
          <p:nvPr/>
        </p:nvSpPr>
        <p:spPr>
          <a:xfrm>
            <a:off x="706831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ذٰلِكَ</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الهَاتِفُ · </a:t>
            </a:r>
            <a:pPr rtl="1" algn="ctr" indent="0" marL="0">
              <a:buNone/>
            </a:pPr>
            <a:r>
              <a:rPr lang="ar-SA" altLang="en-US" sz="2100" b="1" dirty="0">
                <a:solidFill>
                  <a:srgbClr val="0E7C86"/>
                </a:solidFill>
                <a:latin typeface="Amiri" pitchFamily="34" charset="0"/>
                <a:ea typeface="Amiri" pitchFamily="34" charset="-122"/>
                <a:cs typeface="Amiri" pitchFamily="34" charset="-120"/>
              </a:rPr>
              <a:t>تِلْكَ</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الحَقِيبَةُ</a:t>
            </a:r>
            <a:endParaRPr lang="ar-SA" sz="2100" dirty="0"/>
          </a:p>
        </p:txBody>
      </p:sp>
      <p:sp>
        <p:nvSpPr>
          <p:cNvPr id="51" name="Text 48"/>
          <p:cNvSpPr txBox="1"/>
          <p:nvPr/>
        </p:nvSpPr>
        <p:spPr>
          <a:xfrm>
            <a:off x="702259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that phone · that bag</a:t>
            </a:r>
            <a:endParaRPr lang="en-US" sz="950" dirty="0"/>
          </a:p>
        </p:txBody>
      </p:sp>
      <p:sp>
        <p:nvSpPr>
          <p:cNvPr id="52" name="Text 49"/>
          <p:cNvSpPr txBox="1"/>
          <p:nvPr/>
        </p:nvSpPr>
        <p:spPr>
          <a:xfrm>
            <a:off x="432511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وَكَمْ ثَمَنُ</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pPr rtl="1" algn="ctr" indent="0" marL="0">
              <a:buNone/>
            </a:pPr>
            <a:r>
              <a:rPr lang="ar-SA" altLang="en-US" sz="2100" b="1" dirty="0">
                <a:solidFill>
                  <a:srgbClr val="1B3B6F"/>
                </a:solidFill>
                <a:latin typeface="Amiri" pitchFamily="34" charset="0"/>
                <a:ea typeface="Amiri" pitchFamily="34" charset="-122"/>
                <a:cs typeface="Amiri" pitchFamily="34" charset="-120"/>
              </a:rPr>
              <a:t>؟</a:t>
            </a:r>
            <a:endParaRPr lang="ar-SA" sz="2100" dirty="0"/>
          </a:p>
        </p:txBody>
      </p:sp>
      <p:sp>
        <p:nvSpPr>
          <p:cNvPr id="53" name="Text 50"/>
          <p:cNvSpPr txBox="1"/>
          <p:nvPr/>
        </p:nvSpPr>
        <p:spPr>
          <a:xfrm>
            <a:off x="427939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and how much is that one?</a:t>
            </a:r>
            <a:endParaRPr lang="en-US" sz="950" dirty="0"/>
          </a:p>
        </p:txBody>
      </p:sp>
      <p:sp>
        <p:nvSpPr>
          <p:cNvPr id="54" name="Text 51"/>
          <p:cNvSpPr txBox="1"/>
          <p:nvPr/>
        </p:nvSpPr>
        <p:spPr>
          <a:xfrm>
            <a:off x="548640" y="4645152"/>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تِلْكَ أَرْخَصُ.</a:t>
            </a:r>
            <a:endParaRPr lang="ar-SA" sz="2000" dirty="0"/>
          </a:p>
        </p:txBody>
      </p:sp>
      <p:sp>
        <p:nvSpPr>
          <p:cNvPr id="55" name="Text 52"/>
          <p:cNvSpPr txBox="1"/>
          <p:nvPr/>
        </p:nvSpPr>
        <p:spPr>
          <a:xfrm>
            <a:off x="502920" y="5065776"/>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that one is cheaper</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GRAMMAR PART 2 · NUMBERS AND PRICES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price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الأَسْعَارُ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p>
        </p:txBody>
      </p:sp>
      <p:sp>
        <p:nvSpPr>
          <p:cNvPr id="17" name="Text 14"/>
          <p:cNvSpPr txBox="1"/>
          <p:nvPr/>
        </p:nvSpPr>
        <p:spPr>
          <a:xfrm>
            <a:off x="74157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number</a:t>
            </a:r>
            <a:endParaRPr lang="en-US" sz="1100" dirty="0"/>
          </a:p>
        </p:txBody>
      </p:sp>
      <p:sp>
        <p:nvSpPr>
          <p:cNvPr id="18" name="Text 15"/>
          <p:cNvSpPr txBox="1"/>
          <p:nvPr/>
        </p:nvSpPr>
        <p:spPr>
          <a:xfrm>
            <a:off x="384962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 the price</a:t>
            </a:r>
            <a:endParaRPr lang="en-US" sz="1100" dirty="0"/>
          </a:p>
        </p:txBody>
      </p:sp>
      <p:sp>
        <p:nvSpPr>
          <p:cNvPr id="19" name="Text 16"/>
          <p:cNvSpPr txBox="1"/>
          <p:nvPr/>
        </p:nvSpPr>
        <p:spPr>
          <a:xfrm>
            <a:off x="53035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Rule</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10378440" y="2267712"/>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10 dinars</a:t>
            </a:r>
            <a:endParaRPr lang="en-US" sz="1100" dirty="0"/>
          </a:p>
        </p:txBody>
      </p:sp>
      <p:sp>
        <p:nvSpPr>
          <p:cNvPr id="22" name="Text 19"/>
          <p:cNvSpPr txBox="1"/>
          <p:nvPr/>
        </p:nvSpPr>
        <p:spPr>
          <a:xfrm>
            <a:off x="7434072" y="2286000"/>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عَشَرَةٌ</a:t>
            </a:r>
            <a:endParaRPr lang="ar-SA" sz="1800" dirty="0"/>
          </a:p>
        </p:txBody>
      </p:sp>
      <p:sp>
        <p:nvSpPr>
          <p:cNvPr id="23" name="Text 20"/>
          <p:cNvSpPr txBox="1"/>
          <p:nvPr/>
        </p:nvSpPr>
        <p:spPr>
          <a:xfrm>
            <a:off x="7388352" y="2644445"/>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ʿa-sha-ra</a:t>
            </a:r>
            <a:endParaRPr lang="en-US" sz="950" dirty="0"/>
          </a:p>
        </p:txBody>
      </p:sp>
      <p:sp>
        <p:nvSpPr>
          <p:cNvPr id="24" name="Text 21"/>
          <p:cNvSpPr txBox="1"/>
          <p:nvPr/>
        </p:nvSpPr>
        <p:spPr>
          <a:xfrm>
            <a:off x="3867912" y="2286000"/>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عَشَرَةُ </a:t>
            </a:r>
            <a:pPr rtl="1" algn="ctr" indent="0" marL="0">
              <a:buNone/>
            </a:pPr>
            <a:r>
              <a:rPr lang="ar-SA" altLang="en-US" sz="1800" b="1" dirty="0">
                <a:solidFill>
                  <a:srgbClr val="D6336C"/>
                </a:solidFill>
                <a:latin typeface="Amiri" pitchFamily="34" charset="0"/>
                <a:ea typeface="Amiri" pitchFamily="34" charset="-122"/>
                <a:cs typeface="Amiri" pitchFamily="34" charset="-120"/>
              </a:rPr>
              <a:t>دَنَانِيرَ</a:t>
            </a:r>
            <a:endParaRPr lang="ar-SA" sz="1800" dirty="0"/>
          </a:p>
        </p:txBody>
      </p:sp>
      <p:sp>
        <p:nvSpPr>
          <p:cNvPr id="25" name="Text 22"/>
          <p:cNvSpPr txBox="1"/>
          <p:nvPr/>
        </p:nvSpPr>
        <p:spPr>
          <a:xfrm>
            <a:off x="3822192" y="2644445"/>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ʿa-sha-ra-tu da-nā-nīr</a:t>
            </a:r>
            <a:endParaRPr lang="en-US" sz="950" dirty="0"/>
          </a:p>
        </p:txBody>
      </p:sp>
      <p:sp>
        <p:nvSpPr>
          <p:cNvPr id="26" name="Text 23"/>
          <p:cNvSpPr txBox="1"/>
          <p:nvPr/>
        </p:nvSpPr>
        <p:spPr>
          <a:xfrm>
            <a:off x="566928" y="2267712"/>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3–10 → plural: </a:t>
            </a:r>
            <a:pPr algn="l" indent="0" marL="0">
              <a:buNone/>
            </a:pPr>
            <a:r>
              <a:rPr lang="ar-SA" altLang="en-US" sz="1450" dirty="0">
                <a:solidFill>
                  <a:srgbClr val="5A6472"/>
                </a:solidFill>
                <a:latin typeface="Amiri" pitchFamily="34" charset="0"/>
                <a:ea typeface="Amiri" pitchFamily="34" charset="-122"/>
                <a:cs typeface="Amiri" pitchFamily="34" charset="-120"/>
              </a:rPr>
              <a:t>دَنَانِيرَ</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10378440" y="2950464"/>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20 dinars</a:t>
            </a:r>
            <a:endParaRPr lang="en-US" sz="1100" dirty="0"/>
          </a:p>
        </p:txBody>
      </p:sp>
      <p:sp>
        <p:nvSpPr>
          <p:cNvPr id="31" name="Text 28"/>
          <p:cNvSpPr txBox="1"/>
          <p:nvPr/>
        </p:nvSpPr>
        <p:spPr>
          <a:xfrm>
            <a:off x="7434072" y="2968752"/>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عِشْرُونَ</a:t>
            </a:r>
            <a:endParaRPr lang="ar-SA" sz="1800" dirty="0"/>
          </a:p>
        </p:txBody>
      </p:sp>
      <p:sp>
        <p:nvSpPr>
          <p:cNvPr id="32" name="Text 29"/>
          <p:cNvSpPr txBox="1"/>
          <p:nvPr/>
        </p:nvSpPr>
        <p:spPr>
          <a:xfrm>
            <a:off x="7388352" y="3327197"/>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ʿish-rūn</a:t>
            </a:r>
            <a:endParaRPr lang="en-US" sz="950" dirty="0"/>
          </a:p>
        </p:txBody>
      </p:sp>
      <p:sp>
        <p:nvSpPr>
          <p:cNvPr id="33" name="Text 30"/>
          <p:cNvSpPr txBox="1"/>
          <p:nvPr/>
        </p:nvSpPr>
        <p:spPr>
          <a:xfrm>
            <a:off x="3867912" y="2968752"/>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عِشْرُونَ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34" name="Text 31"/>
          <p:cNvSpPr txBox="1"/>
          <p:nvPr/>
        </p:nvSpPr>
        <p:spPr>
          <a:xfrm>
            <a:off x="3822192" y="3327197"/>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ʿish-rū-na dī-nā-ran</a:t>
            </a:r>
            <a:endParaRPr lang="en-US" sz="950" dirty="0"/>
          </a:p>
        </p:txBody>
      </p:sp>
      <p:sp>
        <p:nvSpPr>
          <p:cNvPr id="35" name="Text 32"/>
          <p:cNvSpPr txBox="1"/>
          <p:nvPr/>
        </p:nvSpPr>
        <p:spPr>
          <a:xfrm>
            <a:off x="566928" y="2950464"/>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11–99 → singular + -an: </a:t>
            </a:r>
            <a:pPr algn="l" indent="0" marL="0">
              <a:buNone/>
            </a:pPr>
            <a:r>
              <a:rPr lang="ar-SA" altLang="en-US" sz="1450" dirty="0">
                <a:solidFill>
                  <a:srgbClr val="5A6472"/>
                </a:solidFill>
                <a:latin typeface="Amiri" pitchFamily="34" charset="0"/>
                <a:ea typeface="Amiri" pitchFamily="34" charset="-122"/>
                <a:cs typeface="Amiri" pitchFamily="34" charset="-120"/>
              </a:rPr>
              <a:t>دِينَارًا</a:t>
            </a:r>
            <a:endParaRPr lang="en-US" sz="1100" dirty="0"/>
          </a:p>
        </p:txBody>
      </p:sp>
      <p:sp>
        <p:nvSpPr>
          <p:cNvPr id="36" name="Shape 3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10378440" y="3633216"/>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40 dinars</a:t>
            </a:r>
            <a:endParaRPr lang="en-US" sz="1100" dirty="0"/>
          </a:p>
        </p:txBody>
      </p:sp>
      <p:sp>
        <p:nvSpPr>
          <p:cNvPr id="40" name="Text 37"/>
          <p:cNvSpPr txBox="1"/>
          <p:nvPr/>
        </p:nvSpPr>
        <p:spPr>
          <a:xfrm>
            <a:off x="7434072" y="3651504"/>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أَرْبَعُونَ</a:t>
            </a:r>
            <a:endParaRPr lang="ar-SA" sz="1800" dirty="0"/>
          </a:p>
        </p:txBody>
      </p:sp>
      <p:sp>
        <p:nvSpPr>
          <p:cNvPr id="41" name="Text 38"/>
          <p:cNvSpPr txBox="1"/>
          <p:nvPr/>
        </p:nvSpPr>
        <p:spPr>
          <a:xfrm>
            <a:off x="7388352" y="4009949"/>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ar-ba-ʿūn</a:t>
            </a:r>
            <a:endParaRPr lang="en-US" sz="950" dirty="0"/>
          </a:p>
        </p:txBody>
      </p:sp>
      <p:sp>
        <p:nvSpPr>
          <p:cNvPr id="42" name="Text 39"/>
          <p:cNvSpPr txBox="1"/>
          <p:nvPr/>
        </p:nvSpPr>
        <p:spPr>
          <a:xfrm>
            <a:off x="3867912" y="3651504"/>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أَرْبَعُونَ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43" name="Text 40"/>
          <p:cNvSpPr txBox="1"/>
          <p:nvPr/>
        </p:nvSpPr>
        <p:spPr>
          <a:xfrm>
            <a:off x="3822192" y="4009949"/>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ar-ba-ʿū-na dī-nā-ran</a:t>
            </a:r>
            <a:endParaRPr lang="en-US" sz="950" dirty="0"/>
          </a:p>
        </p:txBody>
      </p:sp>
      <p:sp>
        <p:nvSpPr>
          <p:cNvPr id="44" name="Text 41"/>
          <p:cNvSpPr txBox="1"/>
          <p:nvPr/>
        </p:nvSpPr>
        <p:spPr>
          <a:xfrm>
            <a:off x="566928" y="3633216"/>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listening: </a:t>
            </a:r>
            <a:pPr algn="l" indent="0" marL="0">
              <a:buNone/>
            </a:pPr>
            <a:r>
              <a:rPr lang="ar-SA" altLang="en-US" sz="1450" dirty="0">
                <a:solidFill>
                  <a:srgbClr val="5A6472"/>
                </a:solidFill>
                <a:latin typeface="Amiri" pitchFamily="34" charset="0"/>
                <a:ea typeface="Amiri" pitchFamily="34" charset="-122"/>
                <a:cs typeface="Amiri" pitchFamily="34" charset="-120"/>
              </a:rPr>
              <a:t>بِأَرْبَعِينَ</a:t>
            </a:r>
            <a:pPr algn="l" indent="0" marL="0">
              <a:buNone/>
            </a:pPr>
            <a:r>
              <a:rPr lang="en-US" sz="1100" dirty="0">
                <a:solidFill>
                  <a:srgbClr val="5A6472"/>
                </a:solidFill>
                <a:latin typeface="Calibri" pitchFamily="34" charset="0"/>
                <a:ea typeface="Calibri" pitchFamily="34" charset="-122"/>
                <a:cs typeface="Calibri" pitchFamily="34" charset="-120"/>
              </a:rPr>
              <a:t> = for forty</a:t>
            </a:r>
            <a:endParaRPr lang="en-US" sz="1100" dirty="0"/>
          </a:p>
        </p:txBody>
      </p:sp>
      <p:sp>
        <p:nvSpPr>
          <p:cNvPr id="45" name="Shape 4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Shape 4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10378440" y="4315968"/>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50 dinars</a:t>
            </a:r>
            <a:endParaRPr lang="en-US" sz="1100" dirty="0"/>
          </a:p>
        </p:txBody>
      </p:sp>
      <p:sp>
        <p:nvSpPr>
          <p:cNvPr id="49" name="Text 46"/>
          <p:cNvSpPr txBox="1"/>
          <p:nvPr/>
        </p:nvSpPr>
        <p:spPr>
          <a:xfrm>
            <a:off x="7434072" y="4334256"/>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خَمْسُونَ</a:t>
            </a:r>
            <a:endParaRPr lang="ar-SA" sz="1800" dirty="0"/>
          </a:p>
        </p:txBody>
      </p:sp>
      <p:sp>
        <p:nvSpPr>
          <p:cNvPr id="50" name="Text 47"/>
          <p:cNvSpPr txBox="1"/>
          <p:nvPr/>
        </p:nvSpPr>
        <p:spPr>
          <a:xfrm>
            <a:off x="7388352" y="4692701"/>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kham-sūn</a:t>
            </a:r>
            <a:endParaRPr lang="en-US" sz="950" dirty="0"/>
          </a:p>
        </p:txBody>
      </p:sp>
      <p:sp>
        <p:nvSpPr>
          <p:cNvPr id="51" name="Text 48"/>
          <p:cNvSpPr txBox="1"/>
          <p:nvPr/>
        </p:nvSpPr>
        <p:spPr>
          <a:xfrm>
            <a:off x="3867912" y="4334256"/>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خَمْسُونَ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52" name="Text 49"/>
          <p:cNvSpPr txBox="1"/>
          <p:nvPr/>
        </p:nvSpPr>
        <p:spPr>
          <a:xfrm>
            <a:off x="3822192" y="4692701"/>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kham-sū-na dī-nā-ran</a:t>
            </a:r>
            <a:endParaRPr lang="en-US" sz="950" dirty="0"/>
          </a:p>
        </p:txBody>
      </p:sp>
      <p:sp>
        <p:nvSpPr>
          <p:cNvPr id="53" name="Text 50"/>
          <p:cNvSpPr txBox="1"/>
          <p:nvPr/>
        </p:nvSpPr>
        <p:spPr>
          <a:xfrm>
            <a:off x="566928" y="4315968"/>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listening: </a:t>
            </a:r>
            <a:pPr algn="l" indent="0" marL="0">
              <a:buNone/>
            </a:pPr>
            <a:r>
              <a:rPr lang="ar-SA" altLang="en-US" sz="1450" dirty="0">
                <a:solidFill>
                  <a:srgbClr val="5A6472"/>
                </a:solidFill>
                <a:latin typeface="Amiri" pitchFamily="34" charset="0"/>
                <a:ea typeface="Amiri" pitchFamily="34" charset="-122"/>
                <a:cs typeface="Amiri" pitchFamily="34" charset="-120"/>
              </a:rPr>
              <a:t>ثَمَنُهَا خَمْسُونَ</a:t>
            </a:r>
            <a:endParaRPr lang="en-US" sz="1100" dirty="0"/>
          </a:p>
        </p:txBody>
      </p:sp>
      <p:sp>
        <p:nvSpPr>
          <p:cNvPr id="54" name="Shape 51"/>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6" name="Shape 5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7" name="Text 54"/>
          <p:cNvSpPr txBox="1"/>
          <p:nvPr/>
        </p:nvSpPr>
        <p:spPr>
          <a:xfrm>
            <a:off x="10378440" y="4998720"/>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60 dinars</a:t>
            </a:r>
            <a:endParaRPr lang="en-US" sz="1100" dirty="0"/>
          </a:p>
        </p:txBody>
      </p:sp>
      <p:sp>
        <p:nvSpPr>
          <p:cNvPr id="58" name="Text 55"/>
          <p:cNvSpPr txBox="1"/>
          <p:nvPr/>
        </p:nvSpPr>
        <p:spPr>
          <a:xfrm>
            <a:off x="7434072" y="5017008"/>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سِتُّونَ</a:t>
            </a:r>
            <a:endParaRPr lang="ar-SA" sz="1800" dirty="0"/>
          </a:p>
        </p:txBody>
      </p:sp>
      <p:sp>
        <p:nvSpPr>
          <p:cNvPr id="59" name="Text 56"/>
          <p:cNvSpPr txBox="1"/>
          <p:nvPr/>
        </p:nvSpPr>
        <p:spPr>
          <a:xfrm>
            <a:off x="7388352" y="5375453"/>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sit-tūn</a:t>
            </a:r>
            <a:endParaRPr lang="en-US" sz="950" dirty="0"/>
          </a:p>
        </p:txBody>
      </p:sp>
      <p:sp>
        <p:nvSpPr>
          <p:cNvPr id="60" name="Text 57"/>
          <p:cNvSpPr txBox="1"/>
          <p:nvPr/>
        </p:nvSpPr>
        <p:spPr>
          <a:xfrm>
            <a:off x="3867912" y="5017008"/>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بِسِتِّينَ </a:t>
            </a:r>
            <a:pPr rtl="1" algn="ctr" indent="0" marL="0">
              <a:buNone/>
            </a:pPr>
            <a:r>
              <a:rPr lang="ar-SA" altLang="en-US" sz="1800" b="1" dirty="0">
                <a:solidFill>
                  <a:srgbClr val="D6336C"/>
                </a:solidFill>
                <a:latin typeface="Amiri" pitchFamily="34" charset="0"/>
                <a:ea typeface="Amiri" pitchFamily="34" charset="-122"/>
                <a:cs typeface="Amiri" pitchFamily="34" charset="-120"/>
              </a:rPr>
              <a:t>دِينَارًا</a:t>
            </a:r>
            <a:endParaRPr lang="ar-SA" sz="1800" dirty="0"/>
          </a:p>
        </p:txBody>
      </p:sp>
      <p:sp>
        <p:nvSpPr>
          <p:cNvPr id="61" name="Text 58"/>
          <p:cNvSpPr txBox="1"/>
          <p:nvPr/>
        </p:nvSpPr>
        <p:spPr>
          <a:xfrm>
            <a:off x="3822192" y="5375453"/>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bi-sit-tī-na dī-nā-ran</a:t>
            </a:r>
            <a:endParaRPr lang="en-US" sz="950" dirty="0"/>
          </a:p>
        </p:txBody>
      </p:sp>
      <p:sp>
        <p:nvSpPr>
          <p:cNvPr id="62" name="Text 59"/>
          <p:cNvSpPr txBox="1"/>
          <p:nvPr/>
        </p:nvSpPr>
        <p:spPr>
          <a:xfrm>
            <a:off x="566928" y="4998720"/>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after </a:t>
            </a:r>
            <a:pPr algn="l" indent="0" marL="0">
              <a:buNone/>
            </a:pPr>
            <a:r>
              <a:rPr lang="ar-SA" altLang="en-US" sz="1450" dirty="0">
                <a:solidFill>
                  <a:srgbClr val="5A6472"/>
                </a:solidFill>
                <a:latin typeface="Amiri" pitchFamily="34" charset="0"/>
                <a:ea typeface="Amiri" pitchFamily="34" charset="-122"/>
                <a:cs typeface="Amiri" pitchFamily="34" charset="-120"/>
              </a:rPr>
              <a:t>بِـ</a:t>
            </a:r>
            <a:pPr algn="l" indent="0" marL="0">
              <a:buNone/>
            </a:pPr>
            <a:r>
              <a:rPr lang="en-US" sz="1100" dirty="0">
                <a:solidFill>
                  <a:srgbClr val="5A6472"/>
                </a:solidFill>
                <a:latin typeface="Calibri" pitchFamily="34" charset="0"/>
                <a:ea typeface="Calibri" pitchFamily="34" charset="-122"/>
                <a:cs typeface="Calibri" pitchFamily="34" charset="-120"/>
              </a:rPr>
              <a:t>: -ūn → -īn (advert)</a:t>
            </a:r>
            <a:endParaRPr lang="en-US" sz="1100" dirty="0"/>
          </a:p>
        </p:txBody>
      </p:sp>
      <p:sp>
        <p:nvSpPr>
          <p:cNvPr id="63" name="Shape 6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64" name="Text 61"/>
          <p:cNvSpPr txBox="1"/>
          <p:nvPr/>
        </p:nvSpPr>
        <p:spPr>
          <a:xfrm>
            <a:off x="10378440" y="5681472"/>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£24.50</a:t>
            </a:r>
            <a:endParaRPr lang="en-US" sz="1100" dirty="0"/>
          </a:p>
        </p:txBody>
      </p:sp>
      <p:sp>
        <p:nvSpPr>
          <p:cNvPr id="65" name="Text 62"/>
          <p:cNvSpPr txBox="1"/>
          <p:nvPr/>
        </p:nvSpPr>
        <p:spPr>
          <a:xfrm>
            <a:off x="7434072" y="5699760"/>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أَرْبَعَةٌ وَعِشْرُونَ</a:t>
            </a:r>
            <a:endParaRPr lang="ar-SA" sz="1800" dirty="0"/>
          </a:p>
        </p:txBody>
      </p:sp>
      <p:sp>
        <p:nvSpPr>
          <p:cNvPr id="66" name="Text 63"/>
          <p:cNvSpPr txBox="1"/>
          <p:nvPr/>
        </p:nvSpPr>
        <p:spPr>
          <a:xfrm>
            <a:off x="7388352" y="6058205"/>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four and twenty</a:t>
            </a:r>
            <a:endParaRPr lang="en-US" sz="950" dirty="0"/>
          </a:p>
        </p:txBody>
      </p:sp>
      <p:sp>
        <p:nvSpPr>
          <p:cNvPr id="67" name="Text 64"/>
          <p:cNvSpPr txBox="1"/>
          <p:nvPr/>
        </p:nvSpPr>
        <p:spPr>
          <a:xfrm>
            <a:off x="3867912" y="5699760"/>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جُنَيْهًا وَخَمْسُونَ بِنْسًا</a:t>
            </a:r>
            <a:endParaRPr lang="ar-SA" sz="1800" dirty="0"/>
          </a:p>
        </p:txBody>
      </p:sp>
      <p:sp>
        <p:nvSpPr>
          <p:cNvPr id="68" name="Text 65"/>
          <p:cNvSpPr txBox="1"/>
          <p:nvPr/>
        </p:nvSpPr>
        <p:spPr>
          <a:xfrm>
            <a:off x="3822192" y="6058205"/>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ju-nay-han wa kham-sū-na bin-san</a:t>
            </a:r>
            <a:endParaRPr lang="en-US" sz="950" dirty="0"/>
          </a:p>
        </p:txBody>
      </p:sp>
      <p:sp>
        <p:nvSpPr>
          <p:cNvPr id="69" name="Text 66"/>
          <p:cNvSpPr txBox="1"/>
          <p:nvPr/>
        </p:nvSpPr>
        <p:spPr>
          <a:xfrm>
            <a:off x="566928" y="5681472"/>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units first: “four and twenty” (TC-L07 game)</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COMPARE AND DECIDE ·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Cheaper, dearer, better value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CHEAPER · مِنْ</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أَرْخَصُ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34" charset="0"/>
                <a:ea typeface="Amiri" pitchFamily="34" charset="-122"/>
                <a:cs typeface="Amiri" pitchFamily="34" charset="-120"/>
              </a:rPr>
              <a:t>الحَافِلَةُ أَرْخَصُ مِنَ التَّاكْسِي</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bus is cheaper than the taxi.</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أَرْخَصُ</a:t>
            </a:r>
            <a:pPr algn="l" indent="0" marL="0">
              <a:buNone/>
            </a:pPr>
            <a:r>
              <a:rPr lang="en-US" sz="1100" dirty="0">
                <a:solidFill>
                  <a:srgbClr val="1F2A37"/>
                </a:solidFill>
                <a:latin typeface="Calibri" pitchFamily="34" charset="0"/>
                <a:ea typeface="Calibri" pitchFamily="34" charset="-122"/>
                <a:cs typeface="Calibri" pitchFamily="34" charset="-120"/>
              </a:rPr>
              <a:t> never changes: no </a:t>
            </a:r>
            <a:pPr algn="l" indent="0" marL="0">
              <a:buNone/>
            </a:pPr>
            <a:r>
              <a:rPr lang="ar-SA" altLang="en-US" sz="1450" dirty="0">
                <a:solidFill>
                  <a:srgbClr val="1F2A37"/>
                </a:solidFill>
                <a:latin typeface="Amiri" pitchFamily="34" charset="0"/>
                <a:ea typeface="Amiri" pitchFamily="34" charset="-122"/>
                <a:cs typeface="Amiri" pitchFamily="34" charset="-120"/>
              </a:rPr>
              <a:t>ـة</a:t>
            </a:r>
            <a:pPr algn="l" indent="0" marL="0">
              <a:buNone/>
            </a:pPr>
            <a:r>
              <a:rPr lang="en-US" sz="1100" dirty="0">
                <a:solidFill>
                  <a:srgbClr val="1F2A37"/>
                </a:solidFill>
                <a:latin typeface="Calibri" pitchFamily="34" charset="0"/>
                <a:ea typeface="Calibri" pitchFamily="34" charset="-122"/>
                <a:cs typeface="Calibri" pitchFamily="34" charset="-120"/>
              </a:rPr>
              <a:t> for a feminine noun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DEARER · مِنْ</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أَغْلَى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34" charset="0"/>
                <a:ea typeface="Amiri" pitchFamily="34" charset="-122"/>
                <a:cs typeface="Amiri" pitchFamily="34" charset="-120"/>
              </a:rPr>
              <a:t>الهَاتِفُ أَغْلَى مِنَ الكِتَابِ</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phone is more expensive than the book.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غَالٍ</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أَغْلَى</a:t>
            </a:r>
            <a:pPr algn="l" indent="0" marL="0">
              <a:buNone/>
            </a:pPr>
            <a:r>
              <a:rPr lang="en-US" sz="1100" dirty="0">
                <a:solidFill>
                  <a:srgbClr val="1F2A37"/>
                </a:solidFill>
                <a:latin typeface="Calibri" pitchFamily="34" charset="0"/>
                <a:ea typeface="Calibri" pitchFamily="34" charset="-122"/>
                <a:cs typeface="Calibri" pitchFamily="34" charset="-120"/>
              </a:rPr>
              <a:t> (irregular, like TC-L08’s </a:t>
            </a:r>
            <a:pPr algn="l" indent="0" marL="0">
              <a:buNone/>
            </a:pPr>
            <a:r>
              <a:rPr lang="ar-SA" altLang="en-US" sz="1450" dirty="0">
                <a:solidFill>
                  <a:srgbClr val="1F2A37"/>
                </a:solidFill>
                <a:latin typeface="Amiri" pitchFamily="34" charset="0"/>
                <a:ea typeface="Amiri" pitchFamily="34" charset="-122"/>
                <a:cs typeface="Amiri" pitchFamily="34" charset="-120"/>
              </a:rPr>
              <a:t>أَفْضَلُ</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BETTER VALUE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أَفْضَلُ قِيمَةً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34" charset="0"/>
                <a:ea typeface="Amiri" pitchFamily="34" charset="-122"/>
                <a:cs typeface="Amiri" pitchFamily="34" charset="-120"/>
              </a:rPr>
              <a:t>العُبْوَةُ الكَبِيرَةُ أَفْضَلُ قِيمَةً</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big pack is better value.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Website game “Best Buy”: compare price AND amount.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a feminine ending on the comparative, and the wrong “it”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الحَافِلَةُ أَرْخَصُ</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34" charset="0"/>
                <a:ea typeface="Amiri" pitchFamily="34" charset="-122"/>
                <a:cs typeface="Amiri" pitchFamily="34" charset="-120"/>
              </a:rPr>
              <a:t>الحَافِلَةُ أَرْخَصَةٌ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34" charset="0"/>
                <a:ea typeface="Amiri" pitchFamily="34" charset="-122"/>
                <a:cs typeface="Amiri" pitchFamily="34" charset="-120"/>
              </a:rPr>
              <a:t>حَقِيبَةٌ … ثَمَنُهَا</a:t>
            </a:r>
            <a:endParaRPr lang="ar-SA" sz="25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حَقِيبَةٌ … ثَمَنُهُ</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POLITE TRANSACTION AND PROBLEMS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Buying, paying and fixing a problem</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الشِّرَاءُ وَحَلُّ المَشَاكِلِ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I WANT TO BUY</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أُرِيدُ أَنْ أَشْتَرِيَ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أُرِيدُ أَنْ أَشْتَرِيَ هَدِيَّةً، مِنْ فَضْلِكَ</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want to buy a gift, please.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أَنْ</a:t>
            </a:r>
            <a:pPr algn="l" indent="0" marL="0">
              <a:buNone/>
            </a:pPr>
            <a:r>
              <a:rPr lang="en-US" sz="1100" dirty="0">
                <a:solidFill>
                  <a:srgbClr val="1F2A37"/>
                </a:solidFill>
                <a:latin typeface="Calibri" pitchFamily="34" charset="0"/>
                <a:ea typeface="Calibri" pitchFamily="34" charset="-122"/>
                <a:cs typeface="Calibri" pitchFamily="34" charset="-120"/>
              </a:rPr>
              <a:t> + an I-verb ending in -a: </a:t>
            </a:r>
            <a:pPr algn="l" indent="0" marL="0">
              <a:buNone/>
            </a:pPr>
            <a:r>
              <a:rPr lang="ar-SA" altLang="en-US" sz="1450" dirty="0">
                <a:solidFill>
                  <a:srgbClr val="1F2A37"/>
                </a:solidFill>
                <a:latin typeface="Amiri" pitchFamily="34" charset="0"/>
                <a:ea typeface="Amiri" pitchFamily="34" charset="-122"/>
                <a:cs typeface="Amiri" pitchFamily="34" charset="-120"/>
              </a:rPr>
              <a:t>أَشْتَرِيَ</a:t>
            </a:r>
            <a:pPr algn="l" indent="0" marL="0">
              <a:buNone/>
            </a:pPr>
            <a:r>
              <a:rPr lang="en-US" sz="1100" dirty="0">
                <a:solidFill>
                  <a:srgbClr val="1F2A37"/>
                </a:solidFill>
                <a:latin typeface="Calibri" pitchFamily="34" charset="0"/>
                <a:ea typeface="Calibri" pitchFamily="34" charset="-122"/>
                <a:cs typeface="Calibri" pitchFamily="34" charset="-120"/>
              </a:rPr>
              <a:t> (website rule).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CAN I …?</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هَلْ يُمْكِنُ أَنْ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34" charset="0"/>
                <a:ea typeface="Amiri" pitchFamily="34" charset="-122"/>
                <a:cs typeface="Amiri" pitchFamily="34" charset="-120"/>
              </a:rPr>
              <a:t>هَلْ يُمْكِنُ أَنْ أَدْفَعَ بِالبِطَاقَةِ؟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Can I pay by card?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Also: </a:t>
            </a:r>
            <a:pPr algn="l" indent="0" marL="0">
              <a:buNone/>
            </a:pPr>
            <a:r>
              <a:rPr lang="ar-SA" altLang="en-US" sz="1450" dirty="0">
                <a:solidFill>
                  <a:srgbClr val="1F2A37"/>
                </a:solidFill>
                <a:latin typeface="Amiri" pitchFamily="34" charset="0"/>
                <a:ea typeface="Amiri" pitchFamily="34" charset="-122"/>
                <a:cs typeface="Amiri" pitchFamily="34" charset="-120"/>
              </a:rPr>
              <a:t>هَلْ عِنْدَكُمْ …؟</a:t>
            </a:r>
            <a:pPr algn="l" indent="0" marL="0">
              <a:buNone/>
            </a:pPr>
            <a:r>
              <a:rPr lang="en-US" sz="1100" dirty="0">
                <a:solidFill>
                  <a:srgbClr val="1F2A37"/>
                </a:solidFill>
                <a:latin typeface="Calibri" pitchFamily="34" charset="0"/>
                <a:ea typeface="Calibri" pitchFamily="34" charset="-122"/>
                <a:cs typeface="Calibri" pitchFamily="34" charset="-120"/>
              </a:rPr>
              <a:t> (Do you have …?) · </a:t>
            </a:r>
            <a:pPr algn="l" indent="0" marL="0">
              <a:buNone/>
            </a:pPr>
            <a:r>
              <a:rPr lang="ar-SA" altLang="en-US" sz="1450" dirty="0">
                <a:solidFill>
                  <a:srgbClr val="1F2A37"/>
                </a:solidFill>
                <a:latin typeface="Amiri" pitchFamily="34" charset="0"/>
                <a:ea typeface="Amiri" pitchFamily="34" charset="-122"/>
                <a:cs typeface="Amiri" pitchFamily="34" charset="-120"/>
              </a:rPr>
              <a:t>هَلْ هُنَاكَ خَصْمٌ؟</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A PROBLEM</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أُرِيدُ أَنْ أُبَدِّلَ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34" charset="0"/>
                <a:ea typeface="Amiri" pitchFamily="34" charset="-122"/>
                <a:cs typeface="Amiri" pitchFamily="34" charset="-120"/>
              </a:rPr>
              <a:t>الهَاتِفُ لَا يَعْمَلُ، أُرِيدُ أَنْ أُبَدِّلَهُ</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phone doesn’t work; I want to exchange it.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Say the problem, then what you want: exchange (</a:t>
            </a:r>
            <a:pPr algn="l" indent="0" marL="0">
              <a:buNone/>
            </a:pPr>
            <a:r>
              <a:rPr lang="ar-SA" altLang="en-US" sz="1450" dirty="0">
                <a:solidFill>
                  <a:srgbClr val="1F2A37"/>
                </a:solidFill>
                <a:latin typeface="Amiri" pitchFamily="34" charset="0"/>
                <a:ea typeface="Amiri" pitchFamily="34" charset="-122"/>
                <a:cs typeface="Amiri" pitchFamily="34" charset="-120"/>
              </a:rPr>
              <a:t>أُبَدِّلَ</a:t>
            </a:r>
            <a:pPr algn="l" indent="0" marL="0">
              <a:buNone/>
            </a:pPr>
            <a:r>
              <a:rPr lang="en-US" sz="1100" dirty="0">
                <a:solidFill>
                  <a:srgbClr val="1F2A37"/>
                </a:solidFill>
                <a:latin typeface="Calibri" pitchFamily="34" charset="0"/>
                <a:ea typeface="Calibri" pitchFamily="34" charset="-122"/>
                <a:cs typeface="Calibri" pitchFamily="34" charset="-120"/>
              </a:rPr>
              <a:t>) or a refund (</a:t>
            </a:r>
            <a:pPr algn="l" indent="0" marL="0">
              <a:buNone/>
            </a:pPr>
            <a:r>
              <a:rPr lang="ar-SA" altLang="en-US" sz="1450" dirty="0">
                <a:solidFill>
                  <a:srgbClr val="1F2A37"/>
                </a:solidFill>
                <a:latin typeface="Amiri" pitchFamily="34" charset="0"/>
                <a:ea typeface="Amiri" pitchFamily="34" charset="-122"/>
                <a:cs typeface="Amiri" pitchFamily="34" charset="-120"/>
              </a:rPr>
              <a:t>أَنْ تُرْجِعُوا المَالَ</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Ask the price of a masculine item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كَمْ ثَمَنُهُ؟</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هٰذَا كِتَابٌ. كَمْ ثَمَنُهُ؟   ·   كَمْ ثَمَنُ الهَاتِفِ؟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Ask the price of a feminine item</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كَمْ ثَمَنُهَا؟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هٰذِهِ حَقِيبَةٌ. كَمْ ثَمَنُهَا؟   ·   كَمْ ثَمَنُ التَّذْكِرَةِ؟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Compare two prices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أَرْخَصُ مِنْ / أَغْلَى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الحَافِلَةُ أَرْخَصُ مِنْ سَيَّارَةِ الأُجْرَةِ.   ·   الهَاتِفُ أَغْلَى مِنَ الكِتَابِ.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Make a polite purchase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أُرِيدُ أَنْ أَشْتَرِيَ + شَيْئًا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أُرِيدُ أَنْ أَشْتَرِيَ هَدِيَّةً، مِنْ فَضْلِكَ.   ·   هَلْ يُمْكِنُ أَنْ أَدْفَعَ بِالبِطَاقَةِ؟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ثَمَنُهُ؟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bag.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مَتَى ثَمَنُهَا؟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قَرِيبٌ مِنْ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accurate?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الحَافِلَةُ أَرْخَصُ مِنَ التَّاكْسِي.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الحَافِلَةُ رَخِيصَةُ مِنَ التَّاكْسِي.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الحَافِلَةُ أَرْخَصَةٌ مِنَ التَّاكْسِي.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ثَمَنُهَا؟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أَيْنَ ثَمَنُهُ؟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ثَمَنُهُ؟</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كِتَابٌ</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the price of a bag.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كَمْ ثَمَنُهَا؟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ثَمَنُهُ؟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مَتَى ثَمَنُهَا؟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حَقِيبَةٌ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أَغْلَى مِنْ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أَرْخَصُ مِنْ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قَرِيبٌ مِنْ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أَرْخَصُ مِنْ</a:t>
            </a:r>
            <a:pPr algn="l" indent="0" marL="0">
              <a:buNone/>
            </a:pPr>
            <a:r>
              <a:rPr lang="en-US" sz="1050" i="1" dirty="0">
                <a:solidFill>
                  <a:srgbClr val="8A6D1E"/>
                </a:solidFill>
                <a:latin typeface="Calibri" pitchFamily="34" charset="0"/>
                <a:ea typeface="Calibri" pitchFamily="34" charset="-122"/>
                <a:cs typeface="Calibri" pitchFamily="34" charset="-120"/>
              </a:rPr>
              <a:t> means cheaper than.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is accurate?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الحَافِلَةُ أَرْخَصُ مِنَ التَّاكْسِي.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الحَافِلَةُ رَخِيصَةُ مِنَ التَّاكْسِي.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الحَافِلَةُ أَرْخَصَةٌ مِنَ التَّاكْسِي.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comparative form stays </a:t>
            </a:r>
            <a:pPr algn="l" indent="0" marL="0">
              <a:buNone/>
            </a:pPr>
            <a:r>
              <a:rPr lang="ar-SA" altLang="en-US" sz="1350" dirty="0">
                <a:solidFill>
                  <a:srgbClr val="8A6D1E"/>
                </a:solidFill>
                <a:latin typeface="Amiri" pitchFamily="34" charset="0"/>
                <a:ea typeface="Amiri" pitchFamily="34" charset="-122"/>
                <a:cs typeface="Amiri" pitchFamily="34" charset="-120"/>
              </a:rPr>
              <a:t>أَرْخَصُ</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buy a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Is it available?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34" charset="0"/>
                <a:ea typeface="Amiri" pitchFamily="34" charset="-122"/>
                <a:cs typeface="Amiri" pitchFamily="34" charset="-120"/>
              </a:rPr>
              <a:t>هَلْ عِنْدَكُمْ حَقَائِبُ صَغِيرَةٌ؟</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Website listening: “Do you have …?”</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This … how much?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هٰذِهِ</a:t>
            </a:r>
            <a:pPr rtl="1" algn="ctr" indent="0" marL="0">
              <a:buNone/>
            </a:pPr>
            <a:r>
              <a:rPr lang="ar-SA" altLang="en-US" sz="2400" b="1" dirty="0">
                <a:solidFill>
                  <a:srgbClr val="1B3B6F"/>
                </a:solidFill>
                <a:latin typeface="Amiri" pitchFamily="34" charset="0"/>
                <a:ea typeface="Amiri" pitchFamily="34" charset="-122"/>
                <a:cs typeface="Amiri" pitchFamily="34" charset="-120"/>
              </a:rPr>
              <a:t> حَقِيبَةٌ. كَمْ ثَمَنُ</a:t>
            </a:r>
            <a:pPr rtl="1" algn="ctr" indent="0" marL="0">
              <a:buNone/>
            </a:pPr>
            <a:r>
              <a:rPr lang="ar-SA" altLang="en-US" sz="2400" b="1" dirty="0">
                <a:solidFill>
                  <a:srgbClr val="D6336C"/>
                </a:solidFill>
                <a:latin typeface="Amiri" pitchFamily="34" charset="0"/>
                <a:ea typeface="Amiri" pitchFamily="34" charset="-122"/>
                <a:cs typeface="Amiri" pitchFamily="34" charset="-120"/>
              </a:rPr>
              <a:t>هَا</a:t>
            </a:r>
            <a:pPr rtl="1" algn="ctr" indent="0" marL="0">
              <a:buNone/>
            </a:pPr>
            <a:r>
              <a:rPr lang="ar-SA" altLang="en-US" sz="2400" b="1" dirty="0">
                <a:solidFill>
                  <a:srgbClr val="1B3B6F"/>
                </a:solidFill>
                <a:latin typeface="Amiri" pitchFamily="34" charset="0"/>
                <a:ea typeface="Amiri" pitchFamily="34" charset="-122"/>
                <a:cs typeface="Amiri" pitchFamily="34" charset="-120"/>
              </a:rPr>
              <a:t>؟</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حَقِيبَةٌ</a:t>
            </a:r>
            <a:pPr algn="l" indent="0" marL="0">
              <a:buNone/>
            </a:pPr>
            <a:r>
              <a:rPr lang="en-US" sz="1150" dirty="0">
                <a:solidFill>
                  <a:srgbClr val="1F2A37"/>
                </a:solidFill>
                <a:latin typeface="Calibri" pitchFamily="34" charset="0"/>
                <a:ea typeface="Calibri" pitchFamily="34" charset="-122"/>
                <a:cs typeface="Calibri" pitchFamily="34" charset="-120"/>
              </a:rPr>
              <a:t> has </a:t>
            </a:r>
            <a:pPr algn="l" indent="0" marL="0">
              <a:buNone/>
            </a:pPr>
            <a:r>
              <a:rPr lang="ar-SA" altLang="en-US" sz="1500" dirty="0">
                <a:solidFill>
                  <a:srgbClr val="1F2A37"/>
                </a:solidFill>
                <a:latin typeface="Amiri" pitchFamily="34" charset="0"/>
                <a:ea typeface="Amiri" pitchFamily="34" charset="-122"/>
                <a:cs typeface="Amiri" pitchFamily="34" charset="-120"/>
              </a:rPr>
              <a:t>ـة</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هٰذِهِ … ـهَا</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السَّوْدَاءُ </a:t>
            </a:r>
            <a:pPr rtl="1" algn="ctr" indent="0" marL="0">
              <a:buNone/>
            </a:pPr>
            <a:r>
              <a:rPr lang="ar-SA" altLang="en-US" sz="2100" b="1" dirty="0">
                <a:solidFill>
                  <a:srgbClr val="C77700"/>
                </a:solidFill>
                <a:latin typeface="Amiri" pitchFamily="34" charset="0"/>
                <a:ea typeface="Amiri" pitchFamily="34" charset="-122"/>
                <a:cs typeface="Amiri" pitchFamily="34" charset="-120"/>
              </a:rPr>
              <a:t>أَ</a:t>
            </a:r>
            <a:pPr rtl="1" algn="ctr" indent="0" marL="0">
              <a:buNone/>
            </a:pPr>
            <a:r>
              <a:rPr lang="ar-SA" altLang="en-US" sz="2100" b="1" dirty="0">
                <a:solidFill>
                  <a:srgbClr val="1B3B6F"/>
                </a:solidFill>
                <a:latin typeface="Amiri" pitchFamily="34" charset="0"/>
                <a:ea typeface="Amiri" pitchFamily="34" charset="-122"/>
                <a:cs typeface="Amiri" pitchFamily="34" charset="-120"/>
              </a:rPr>
              <a:t>رْخَصُ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الزَّرْقَاءِ</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أَرْخَصُ مِنْ</a:t>
            </a:r>
            <a:pPr algn="l" indent="0" marL="0">
              <a:buNone/>
            </a:pPr>
            <a:r>
              <a:rPr lang="en-US" sz="1150" dirty="0">
                <a:solidFill>
                  <a:srgbClr val="1F2A37"/>
                </a:solidFill>
                <a:latin typeface="Calibri" pitchFamily="34" charset="0"/>
                <a:ea typeface="Calibri" pitchFamily="34" charset="-122"/>
                <a:cs typeface="Calibri" pitchFamily="34" charset="-120"/>
              </a:rPr>
              <a:t> — no </a:t>
            </a:r>
            <a:pPr algn="l" indent="0" marL="0">
              <a:buNone/>
            </a:pPr>
            <a:r>
              <a:rPr lang="ar-SA" altLang="en-US" sz="1500" dirty="0">
                <a:solidFill>
                  <a:srgbClr val="1F2A37"/>
                </a:solidFill>
                <a:latin typeface="Amiri" pitchFamily="34" charset="0"/>
                <a:ea typeface="Amiri" pitchFamily="34" charset="-122"/>
                <a:cs typeface="Amiri" pitchFamily="34" charset="-120"/>
              </a:rPr>
              <a:t>ـة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Pay politely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هَلْ يُمْكِنُ أَنْ أَدْفَعَ بِالبِطَاقَةِ؟</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full, polite request.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PATTERN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هَلْ عِنْدَكُمْ حَقَائِبُ صَغِيرَةٌ؟ </a:t>
            </a:r>
            <a:pPr rtl="1" algn="r" indent="0" marL="0">
              <a:buNone/>
            </a:pPr>
            <a:r>
              <a:rPr lang="ar-SA" altLang="en-US" sz="1750" b="1" dirty="0">
                <a:solidFill>
                  <a:srgbClr val="0E7C86"/>
                </a:solidFill>
                <a:latin typeface="Amiri" pitchFamily="34" charset="0"/>
                <a:ea typeface="Amiri" pitchFamily="34" charset="-122"/>
                <a:cs typeface="Amiri" pitchFamily="34" charset="-120"/>
              </a:rPr>
              <a:t>هٰذِهِ</a:t>
            </a:r>
            <a:pPr rtl="1" algn="r" indent="0" marL="0">
              <a:buNone/>
            </a:pPr>
            <a:r>
              <a:rPr lang="ar-SA" altLang="en-US" sz="1750" b="1" dirty="0">
                <a:solidFill>
                  <a:srgbClr val="1B3B6F"/>
                </a:solidFill>
                <a:latin typeface="Amiri" pitchFamily="34" charset="0"/>
                <a:ea typeface="Amiri" pitchFamily="34" charset="-122"/>
                <a:cs typeface="Amiri" pitchFamily="34" charset="-120"/>
              </a:rPr>
              <a:t> حَقِيبَةٌ جَمِيلَةٌ. كَمْ ثَمَنُ</a:t>
            </a:r>
            <a:pPr rtl="1" algn="r" indent="0" marL="0">
              <a:buNone/>
            </a:pPr>
            <a:r>
              <a:rPr lang="ar-SA" altLang="en-US" sz="1750" b="1" dirty="0">
                <a:solidFill>
                  <a:srgbClr val="D6336C"/>
                </a:solidFill>
                <a:latin typeface="Amiri" pitchFamily="34" charset="0"/>
                <a:ea typeface="Amiri" pitchFamily="34" charset="-122"/>
                <a:cs typeface="Amiri" pitchFamily="34" charset="-120"/>
              </a:rPr>
              <a:t>هَا</a:t>
            </a:r>
            <a:pPr rtl="1" algn="r" indent="0" marL="0">
              <a:buNone/>
            </a:pPr>
            <a:r>
              <a:rPr lang="ar-SA" altLang="en-US" sz="1750" b="1" dirty="0">
                <a:solidFill>
                  <a:srgbClr val="1B3B6F"/>
                </a:solidFill>
                <a:latin typeface="Amiri" pitchFamily="34" charset="0"/>
                <a:ea typeface="Amiri" pitchFamily="34" charset="-122"/>
                <a:cs typeface="Amiri" pitchFamily="34" charset="-120"/>
              </a:rPr>
              <a:t>؟ … السَّوْدَاءُ </a:t>
            </a:r>
            <a:pPr rtl="1" algn="r" indent="0" marL="0">
              <a:buNone/>
            </a:pPr>
            <a:r>
              <a:rPr lang="ar-SA" altLang="en-US" sz="1750" b="1" dirty="0">
                <a:solidFill>
                  <a:srgbClr val="C77700"/>
                </a:solidFill>
                <a:latin typeface="Amiri" pitchFamily="34" charset="0"/>
                <a:ea typeface="Amiri" pitchFamily="34" charset="-122"/>
                <a:cs typeface="Amiri" pitchFamily="34" charset="-120"/>
              </a:rPr>
              <a:t>أَ</a:t>
            </a:r>
            <a:pPr rtl="1" algn="r" indent="0" marL="0">
              <a:buNone/>
            </a:pPr>
            <a:r>
              <a:rPr lang="ar-SA" altLang="en-US" sz="1750" b="1" dirty="0">
                <a:solidFill>
                  <a:srgbClr val="1B3B6F"/>
                </a:solidFill>
                <a:latin typeface="Amiri" pitchFamily="34" charset="0"/>
                <a:ea typeface="Amiri" pitchFamily="34" charset="-122"/>
                <a:cs typeface="Amiri" pitchFamily="34" charset="-120"/>
              </a:rPr>
              <a:t>رْخَصُ </a:t>
            </a:r>
            <a:pPr rtl="1" algn="r" indent="0" marL="0">
              <a:buNone/>
            </a:pPr>
            <a:r>
              <a:rPr lang="ar-SA" altLang="en-US" sz="1750" b="1" dirty="0">
                <a:solidFill>
                  <a:srgbClr val="0E7C86"/>
                </a:solidFill>
                <a:latin typeface="Amiri" pitchFamily="34" charset="0"/>
                <a:ea typeface="Amiri" pitchFamily="34" charset="-122"/>
                <a:cs typeface="Amiri" pitchFamily="34" charset="-120"/>
              </a:rPr>
              <a:t>مِنَ</a:t>
            </a:r>
            <a:pPr rtl="1" algn="r" indent="0" marL="0">
              <a:buNone/>
            </a:pPr>
            <a:r>
              <a:rPr lang="ar-SA" altLang="en-US" sz="1750" b="1" dirty="0">
                <a:solidFill>
                  <a:srgbClr val="1B3B6F"/>
                </a:solidFill>
                <a:latin typeface="Amiri" pitchFamily="34" charset="0"/>
                <a:ea typeface="Amiri" pitchFamily="34" charset="-122"/>
                <a:cs typeface="Amiri" pitchFamily="34" charset="-120"/>
              </a:rPr>
              <a:t> الزَّرْقَاءِ، لِذٰلِكَ سَأَشْتَرِي السَّوْدَاءَ. هَلْ يُمْكِنُ أَنْ أَدْفَعَ بِالبِطَاقَةِ؟</a:t>
            </a:r>
            <a:endParaRPr lang="ar-SA" sz="17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ea typeface="Calibri" pitchFamily="34" charset="-122"/>
                <a:cs typeface="Calibri" pitchFamily="34" charset="-120"/>
              </a:rPr>
              <a:t>Do you have small bags? This is a nice bag. How much is it? … The black one is cheaper than the blue one, so I will buy the black one. Can I pay by card?</a:t>
            </a:r>
            <a:endParaRPr lang="en-US" sz="12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هٰذَا هَاتِفٌ. كَمْ ثَمَنُهُ؟</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This is a phone. How much is it?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Masculine item → ـهُ.</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هٰذِهِ حَقِيبَةٌ. كَمْ ثَمَنُهَا؟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This is a bag. How much is it?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item → ـهَا.</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الحَافِلَةُ أَرْخَصُ مِنَ التَّاكْسِي.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bus is cheaper than the taxi.</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The comparative does not change.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هَلْ يُمْكِنُ أَنْ أَدْفَعَ بِالبِطَاقَةِ؟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Can I pay by card?</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Use a complete polite request.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“BEST BUY”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أَفْضَلُ شِرَاءٍ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£20 vs £15</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kg £6 vs 1 kg £4</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−25%</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اَلْعُبْوَةُ الْكَبِيرَةُ أَفْضَلُ قِيمَةً.</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هُنَاكَ خَصْمٌ قَدْرُهُ خَمْسَةٌ وَعِشْرُونَ فِي الْمِئَةِ.</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اَلْقَمِيصُ الثَّانِي أَرْخَصُ مِنَ الْقَمِيصِ الأَوَّلِ.</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أَفْضَلُ شِرَاءٍ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£20 vs £15</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اَلْقَمِيصُ الثَّانِي أَرْخَصُ مِنَ الْقَمِيصِ الأَوَّلِ.</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second shirt is cheaper than the first shirt.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kg £6 vs 1 kg £4</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اَلْعُبْوَةُ الْكَبِيرَةُ أَفْضَلُ قِيمَةً.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large pack is better value.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−25%</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هُنَاكَ خَصْمٌ قَدْرُهُ خَمْسَةٌ وَعِشْرُونَ فِي الْمِئَةِ.</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There is a discount of twenty-five per cent.</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AN ADVERT ·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Today’s offers at the shopping centre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عُرُوضُ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عُرُوضُ اليَوْمِ فِي مَرْكَزِ النُّورِ التِّجَارِيِّ</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الكُتُبُ بِخَصْمِ عِشْرِينَ فِي المِئَةِ.</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حَقِيبَةُ السَّفَرِ الكَبِيرَةُ بِسِتِّينَ دِينَارًا،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وَالحَقِيبَةُ الصَّغِيرَةُ أَرْخَصُ مِنْهَا بِعَشَرَةِ دَنَانِيرَ.</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الهَاتِفُ الجَدِيدُ غَالٍ وَلٰكِنْ مَعَهُ سَمَّاعَاتٌ مَجَّانِيَّةٌ.</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يُمْكِنُ الدَّفْعُ نَقْدًا أَوْ بِالبِطَاقَةِ.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اِحْتَفِظْ بِالفَاتُورَةِ لِمُدَّةِ ثَلَاثِينَ يَوْمًا.</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عُرُوضُ اليَوْمِ</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today’s offers</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بِخَصْمِ</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with a discount of</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فِي المِئَةِ</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per cent</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حَقِيبَةُ السَّفَرِ</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travel bag</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أَرْخَصُ مِنْهَا</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cheaper than it</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غَالٍ</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expensive</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سَمَّاعَاتٌ</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headphones</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مَجَّانِيَّةٌ</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free</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يُمْكِنُ الدَّفْعُ</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you can pay</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اِحْتَفِظْ بِـ</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keep!</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ADVERT QUESTIONS ·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facts in the advert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travel bags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large travel bag?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60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70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cheaper is the small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dinars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dinars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30 dinars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comes free with the new phone?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book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headphones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payment methods are accepted?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cash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cash or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card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discount?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خَصْم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حَقِيبَة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free?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مَجَّانِيَّة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الدَّفْع</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ADVERT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Advert: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a 20% discount?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books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travel bags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الكُتُبُ بِخَصْمِ عِشْرِينَ فِي المِئَةِ.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large travel bag?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50 dinars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60 dinars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70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بِسِتِّينَ دِينَارًا.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cheaper is the small bag?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10 dinars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 dinars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30 dinars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أَرْخَصُ ... بِعِشْرَةِ دَنَانِيرَ.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comes free with the new phone?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bag</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book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headphones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سَمَّاعَاتٌ مَجَّانِيَّةٌ.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payment methods are accepted?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cash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cash or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card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نَقْدًا أَوْ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discount?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خَصْم</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حَقِيبَة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free?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مَجَّانِيَّة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pay?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الدَّفْع</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This is a bag. How much is it?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هٰذَا كِتَابٌ.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هٰذِهِ حَقِيبَةٌ.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أَيْنَ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ثَمَنُهَا؟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ثَمَنُهُ؟</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bus is cheaper than the taxi.</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الحَافِلَةُ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سَيَّارَةُ الأُجْرَةِ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أَغْلَى مِنْ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أَرْخَصُ مِنْ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سَيَّارَةِ الأُجْرَةِ.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الحَافِلَةِ.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want to buy a gift, please.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أُرِيدُ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أَشْتَرِيَ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يَشْتَرِي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ثَمَنُهَا؟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هَدِيَّةً، مِنْ فَضْلِكَ.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This is a bag. How much is it?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حَقِيبَةٌ</a:t>
            </a:r>
            <a:pPr algn="l" indent="0" marL="0">
              <a:buNone/>
            </a:pPr>
            <a:r>
              <a:rPr lang="en-US" sz="105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350" dirty="0">
                <a:solidFill>
                  <a:srgbClr val="5A6472"/>
                </a:solidFill>
                <a:latin typeface="Amiri" pitchFamily="34" charset="0"/>
                <a:ea typeface="Amiri" pitchFamily="34" charset="-122"/>
                <a:cs typeface="Amiri" pitchFamily="34" charset="-120"/>
              </a:rPr>
              <a:t>هٰذِهِ … ثَمَنُهَا</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هٰذِهِ حَقِيبَةٌ. كَمْ ثَمَنُهَا؟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bus is cheaper than the taxi.</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أَرْخَصُ مِنْ</a:t>
            </a:r>
            <a:pPr algn="l" indent="0" marL="0">
              <a:buNone/>
            </a:pPr>
            <a:r>
              <a:rPr lang="en-US" sz="1050" i="1" dirty="0">
                <a:solidFill>
                  <a:srgbClr val="5A6472"/>
                </a:solidFill>
                <a:latin typeface="Calibri" pitchFamily="34" charset="0"/>
                <a:ea typeface="Calibri" pitchFamily="34" charset="-122"/>
                <a:cs typeface="Calibri" pitchFamily="34" charset="-120"/>
              </a:rPr>
              <a:t> = cheaper than.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الحَافِلَةُ أَرْخَصُ مِنْ سَيَّارَةِ الأُجْرَةِ.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want to buy a gift, please.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أُرِيدُ أَنْ</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أَشْتَرِيَ</a:t>
            </a:r>
            <a:pPr algn="l" indent="0" marL="0">
              <a:buNone/>
            </a:pPr>
            <a:r>
              <a:rPr lang="en-US" sz="1050" i="1" dirty="0">
                <a:solidFill>
                  <a:srgbClr val="5A6472"/>
                </a:solidFill>
                <a:latin typeface="Calibri" pitchFamily="34" charset="0"/>
                <a:ea typeface="Calibri" pitchFamily="34" charset="-122"/>
                <a:cs typeface="Calibri" pitchFamily="34" charset="-120"/>
              </a:rPr>
              <a:t> (I-verb).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أُرِيدُ أَنْ أَشْتَرِيَ هَدِيَّةً،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Masculine or feminine price question?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ثَمَنُهُ أَمْ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حَقِيبَةٌ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كِتَابٌ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هَدِيَّةٌ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هَاتِفٌ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تَذْكَارٌ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فَاتُورَةٌ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حِذَاءٌ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تَذْكِرَةٌ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Masculine: ask “thamanuhu”</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Feminine: ask “thamanuhā”</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Masculine: ask “thamanuhu”</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هَاتِفٌ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تَذْكَارٌ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حِذَاءٌ</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Feminine: ask “thamanuhā”</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حَقِيبَةٌ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هَدِيَّةٌ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فَاتُورَةٌ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تَذْكِرَةٌ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want to buy a souvenir.”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يَشْتَرِي تَذْكَارٌ.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أَشْتَرِي أَنْ تَذْكَارًا.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أُرِيدُ أَنْ أَشْتَرِيَ تَذْكَارًا.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asks to pay by card?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عِنْدَكُمْ بِطَاقَةٌ؟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يُمْكِنُ أَنْ أَدْفَعَ بِالبِطَاقَةِ؟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 البِطَاقَةِ؟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discount?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فَاتُورَةٌ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خَصْمٌ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best comparison.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غَالِيَةٌ مِنَ الكِتَابِ.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أَغْلَيَةٌ مِنَ الكِتَابِ.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أَغْلَى مِنَ الكِتَابِ.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“I want to buy a souvenir.”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أُرِيدُ يَشْتَرِي تَذْكَارٌ.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أَشْتَرِي أَنْ تَذْكَارًا.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أُرِيدُ أَنْ أَشْتَرِيَ تَذْكَارًا.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أُرِيدُ أَنْ</a:t>
            </a:r>
            <a:pPr algn="l" indent="0" marL="0">
              <a:buNone/>
            </a:pPr>
            <a:r>
              <a:rPr lang="en-US" sz="1050" i="1" dirty="0">
                <a:solidFill>
                  <a:srgbClr val="8A6D1E"/>
                </a:solidFill>
                <a:latin typeface="Calibri" pitchFamily="34" charset="0"/>
                <a:ea typeface="Calibri" pitchFamily="34" charset="-122"/>
                <a:cs typeface="Calibri" pitchFamily="34" charset="-120"/>
              </a:rPr>
              <a:t> + first-person verb.</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asks to pay by card?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هَلْ عِنْدَكُمْ بِطَاقَةٌ؟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هَلْ يُمْكِنُ أَنْ أَدْفَعَ بِالبِطَاقَةِ؟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ثَمَنُ البِطَاقَةِ؟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is a complete payment request.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discount?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فَاتُورَةٌ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خَصْمٌ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خَصْمٌ</a:t>
            </a:r>
            <a:pPr algn="l" indent="0" marL="0">
              <a:buNone/>
            </a:pPr>
            <a:r>
              <a:rPr lang="en-US" sz="1050" i="1" dirty="0">
                <a:solidFill>
                  <a:srgbClr val="8A6D1E"/>
                </a:solidFill>
                <a:latin typeface="Calibri" pitchFamily="34" charset="0"/>
                <a:ea typeface="Calibri" pitchFamily="34" charset="-122"/>
                <a:cs typeface="Calibri" pitchFamily="34" charset="-120"/>
              </a:rPr>
              <a:t> means discount.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best comparison.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الحَقِيبَةُ غَالِيَةٌ مِنَ الكِتَابِ.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الحَقِيبَةُ أَغْلَيَةٌ مِنَ الكِتَابِ.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الحَقِيبَةُ أَغْلَى مِنَ الكِتَابِ.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a:t>
            </a:r>
            <a:pPr algn="l" indent="0" marL="0">
              <a:buNone/>
            </a:pPr>
            <a:r>
              <a:rPr lang="ar-SA" altLang="en-US" sz="1350" dirty="0">
                <a:solidFill>
                  <a:srgbClr val="8A6D1E"/>
                </a:solidFill>
                <a:latin typeface="Amiri" pitchFamily="34" charset="0"/>
                <a:ea typeface="Amiri" pitchFamily="34" charset="-122"/>
                <a:cs typeface="Amiri" pitchFamily="34" charset="-120"/>
              </a:rPr>
              <a:t>أَغْلَى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هٰذِهِ حَقِيبَةٌ. كَمْ ثَمَنُهُ؟</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حَقِيبَةٌ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الحَافِلَةُ أَرْخَصَةٌ مِنَ التَّاكْسِي.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Does </a:t>
            </a:r>
            <a:pPr algn="l" indent="0" marL="0">
              <a:buNone/>
            </a:pPr>
            <a:r>
              <a:rPr lang="ar-SA" altLang="en-US" sz="1700" dirty="0">
                <a:solidFill>
                  <a:srgbClr val="5A6472"/>
                </a:solidFill>
                <a:latin typeface="Amiri" pitchFamily="34" charset="0"/>
                <a:ea typeface="Amiri" pitchFamily="34" charset="-122"/>
                <a:cs typeface="Amiri" pitchFamily="34" charset="-120"/>
              </a:rPr>
              <a:t>أَرْخَصُ</a:t>
            </a:r>
            <a:pPr algn="l" indent="0" marL="0">
              <a:buNone/>
            </a:pPr>
            <a:r>
              <a:rPr lang="en-US" sz="1300" i="1" dirty="0">
                <a:solidFill>
                  <a:srgbClr val="5A6472"/>
                </a:solidFill>
                <a:latin typeface="Calibri" pitchFamily="34" charset="0"/>
                <a:ea typeface="Calibri" pitchFamily="34" charset="-122"/>
                <a:cs typeface="Calibri" pitchFamily="34" charset="-120"/>
              </a:rPr>
              <a:t> change for a feminine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أُرِيدُ يَشْتَرِي هَدِيَّةً.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comes after </a:t>
            </a:r>
            <a:pPr algn="l" indent="0" marL="0">
              <a:buNone/>
            </a:pPr>
            <a:r>
              <a:rPr lang="ar-SA" altLang="en-US" sz="1700" dirty="0">
                <a:solidFill>
                  <a:srgbClr val="5A6472"/>
                </a:solidFill>
                <a:latin typeface="Amiri" pitchFamily="34" charset="0"/>
                <a:ea typeface="Amiri" pitchFamily="34" charset="-122"/>
                <a:cs typeface="Amiri" pitchFamily="34" charset="-120"/>
              </a:rPr>
              <a:t>أُرِيدُ</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هٰذِهِ حَقِيبَةٌ. كَمْ ثَمَنُهُ؟</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هٰذِهِ حَقِيبَةٌ. كَمْ ثَمَنُهَا؟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the feminine suffix for the bag.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الحَافِلَةُ أَرْخَصَةٌ مِنَ التَّاكْسِي.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الحَافِلَةُ أَرْخَصُ مِنَ التَّاكْسِي.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comparative form does not take a feminine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أُرِيدُ يَشْتَرِي هَدِيَّةً.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أُرِيدُ أَنْ أَشْتَرِيَ هَدِيَّةً.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Use </a:t>
            </a:r>
            <a:pPr algn="l" indent="0" marL="0">
              <a:buNone/>
            </a:pPr>
            <a:r>
              <a:rPr lang="ar-SA" altLang="en-US" sz="1500" b="1" dirty="0">
                <a:solidFill>
                  <a:srgbClr val="1B3B6F"/>
                </a:solidFill>
                <a:latin typeface="Amiri" pitchFamily="34" charset="0"/>
                <a:ea typeface="Amiri" pitchFamily="34" charset="-122"/>
                <a:cs typeface="Amiri" pitchFamily="34" charset="-120"/>
              </a:rPr>
              <a:t>أَنْ</a:t>
            </a:r>
            <a:pPr algn="l" indent="0" marL="0">
              <a:buNone/>
            </a:pPr>
            <a:r>
              <a:rPr lang="en-US" sz="1150" b="1" dirty="0">
                <a:solidFill>
                  <a:srgbClr val="1B3B6F"/>
                </a:solidFill>
                <a:latin typeface="Calibri" pitchFamily="34" charset="0"/>
                <a:ea typeface="Calibri" pitchFamily="34" charset="-122"/>
                <a:cs typeface="Calibri" pitchFamily="34" charset="-120"/>
              </a:rPr>
              <a:t> and the first-person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At the city market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customer want to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small bags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shoes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blue bag before discount?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40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bag is cheaper?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blue bag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cost the same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black bag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 dinars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dinars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 dinars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want to pay?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cash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by phone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حَقَائِبُ</a:t>
            </a:r>
            <a:pPr algn="l" indent="0" marL="0">
              <a:buNone/>
            </a:pPr>
            <a:r>
              <a:rPr lang="en-US" sz="1250" dirty="0">
                <a:solidFill>
                  <a:srgbClr val="1E6B52"/>
                </a:solidFill>
                <a:latin typeface="Calibri" pitchFamily="34" charset="0"/>
                <a:ea typeface="Calibri" pitchFamily="34" charset="-122"/>
                <a:cs typeface="Calibri" pitchFamily="34" charset="-120"/>
              </a:rPr>
              <a:t> (bags), </a:t>
            </a:r>
            <a:pPr algn="l" indent="0" marL="0">
              <a:buNone/>
            </a:pPr>
            <a:r>
              <a:rPr lang="ar-SA" altLang="en-US" sz="1650" dirty="0">
                <a:solidFill>
                  <a:srgbClr val="1E6B52"/>
                </a:solidFill>
                <a:latin typeface="Amiri" pitchFamily="34" charset="0"/>
                <a:ea typeface="Amiri" pitchFamily="34" charset="-122"/>
                <a:cs typeface="Amiri" pitchFamily="34" charset="-120"/>
              </a:rPr>
              <a:t>خَمْسُونَ</a:t>
            </a:r>
            <a:pPr algn="l" indent="0" marL="0">
              <a:buNone/>
            </a:pPr>
            <a:r>
              <a:rPr lang="en-US" sz="1250" dirty="0">
                <a:solidFill>
                  <a:srgbClr val="1E6B52"/>
                </a:solidFill>
                <a:latin typeface="Calibri" pitchFamily="34" charset="0"/>
                <a:ea typeface="Calibri" pitchFamily="34" charset="-122"/>
                <a:cs typeface="Calibri" pitchFamily="34" charset="-120"/>
              </a:rPr>
              <a:t> (fifty) and </a:t>
            </a:r>
            <a:pPr algn="l" indent="0" marL="0">
              <a:buNone/>
            </a:pPr>
            <a:r>
              <a:rPr lang="ar-SA" altLang="en-US" sz="1650" dirty="0">
                <a:solidFill>
                  <a:srgbClr val="1E6B52"/>
                </a:solidFill>
                <a:latin typeface="Amiri" pitchFamily="34" charset="0"/>
                <a:ea typeface="Amiri" pitchFamily="34" charset="-122"/>
                <a:cs typeface="Amiri" pitchFamily="34" charset="-120"/>
              </a:rPr>
              <a:t>أَرْخَصُ</a:t>
            </a:r>
            <a:pPr algn="l" indent="0" marL="0">
              <a:buNone/>
            </a:pPr>
            <a:r>
              <a:rPr lang="en-US" sz="1250" dirty="0">
                <a:solidFill>
                  <a:srgbClr val="1E6B52"/>
                </a:solidFill>
                <a:latin typeface="Calibri" pitchFamily="34" charset="0"/>
                <a:ea typeface="Calibri" pitchFamily="34" charset="-122"/>
                <a:cs typeface="Calibri" pitchFamily="34" charset="-120"/>
              </a:rPr>
              <a:t> (cheaper).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الزَّبُونَةُ: السَّلَامُ عَلَيْكُمْ. هَلْ عِنْدَكُمْ حَقَائِبُ صَغِيرَةٌ؟</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Hello. Do you have small bags?</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البَائِعُ: نَعَمْ، هٰذِهِ حَقِيبَةٌ زَرْقَاءُ وَثَمَنُهَا خَمْسُونَ دِينَارًا.</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Seller: Yes, this is a blue bag and it costs fifty dinars.</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وَهٰذِهِ حَقِيبَةٌ سَوْدَاءُ بِأَرْبَعِينَ.</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And this is a black bag for forty.</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الزَّبُونَةُ: السَّوْدَاءُ أَرْخَصُ، وَلٰكِنَّ الزَّرْقَاءَ أَجْمَلُ. هَلْ هُنَاكَ خَصْمٌ؟</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The black one is cheaper, but the blue one is nicer. Is there a discount?</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البَائِعُ: نَعَمْ، خَصْمٌ عَشَرَةُ دَنَانِيرَ.</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Seller: Yes, a discount of ten dinars.</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الزَّبُونَةُ: جَيِّدٌ. أُرِيدُ الزَّرْقَاءَ. هَلْ يُمْكِنُ أَنْ أَدْفَعَ بِالبِطَاقَةِ؟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Customer: Good. I want the blue one. Can I pay by card?</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customer want to see?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small bags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shoes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asks </a:t>
            </a:r>
            <a:pPr algn="l" indent="0" marL="0">
              <a:buNone/>
            </a:pPr>
            <a:r>
              <a:rPr lang="ar-SA" altLang="en-US" sz="1350" dirty="0">
                <a:solidFill>
                  <a:srgbClr val="8A6D1E"/>
                </a:solidFill>
                <a:latin typeface="Amiri" pitchFamily="34" charset="0"/>
                <a:ea typeface="Amiri" pitchFamily="34" charset="-122"/>
                <a:cs typeface="Amiri" pitchFamily="34" charset="-120"/>
              </a:rPr>
              <a:t>حَقَائِبُ صَغِيرَةٌ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blue bag before discount?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40 dinars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 dinars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50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ثَمَنُهَا خَمْسُونَ.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bag is cheaper?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blue bag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they cost the same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black bag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السَّوْدَاءُ أَرْخَصُ.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is the discount?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10 dinars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 dinars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 dinars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خَصْمٌ عَشَرَةُ دَنَانِيرَ.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does she want to pay?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cash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by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by phone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أَدْفَعَ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حَقَائِبُ</a:t>
            </a:r>
            <a:pPr algn="l" indent="0" marL="0">
              <a:buNone/>
            </a:pPr>
            <a:r>
              <a:rPr lang="en-US" sz="1250" dirty="0">
                <a:solidFill>
                  <a:srgbClr val="1E6B52"/>
                </a:solidFill>
                <a:latin typeface="Calibri" pitchFamily="34" charset="0"/>
                <a:ea typeface="Calibri" pitchFamily="34" charset="-122"/>
                <a:cs typeface="Calibri" pitchFamily="34" charset="-120"/>
              </a:rPr>
              <a:t> (bags), </a:t>
            </a:r>
            <a:pPr algn="l" indent="0" marL="0">
              <a:buNone/>
            </a:pPr>
            <a:r>
              <a:rPr lang="ar-SA" altLang="en-US" sz="1650" dirty="0">
                <a:solidFill>
                  <a:srgbClr val="1E6B52"/>
                </a:solidFill>
                <a:latin typeface="Amiri" pitchFamily="34" charset="0"/>
                <a:ea typeface="Amiri" pitchFamily="34" charset="-122"/>
                <a:cs typeface="Amiri" pitchFamily="34" charset="-120"/>
              </a:rPr>
              <a:t>خَمْسُونَ</a:t>
            </a:r>
            <a:pPr algn="l" indent="0" marL="0">
              <a:buNone/>
            </a:pPr>
            <a:r>
              <a:rPr lang="en-US" sz="1250" dirty="0">
                <a:solidFill>
                  <a:srgbClr val="1E6B52"/>
                </a:solidFill>
                <a:latin typeface="Calibri" pitchFamily="34" charset="0"/>
                <a:ea typeface="Calibri" pitchFamily="34" charset="-122"/>
                <a:cs typeface="Calibri" pitchFamily="34" charset="-120"/>
              </a:rPr>
              <a:t> (fifty) and </a:t>
            </a:r>
            <a:pPr algn="l" indent="0" marL="0">
              <a:buNone/>
            </a:pPr>
            <a:r>
              <a:rPr lang="ar-SA" altLang="en-US" sz="1650" dirty="0">
                <a:solidFill>
                  <a:srgbClr val="1E6B52"/>
                </a:solidFill>
                <a:latin typeface="Amiri" pitchFamily="34" charset="0"/>
                <a:ea typeface="Amiri" pitchFamily="34" charset="-122"/>
                <a:cs typeface="Amiri" pitchFamily="34" charset="-120"/>
              </a:rPr>
              <a:t>أَرْخَصُ</a:t>
            </a:r>
            <a:pPr algn="l" indent="0" marL="0">
              <a:buNone/>
            </a:pPr>
            <a:r>
              <a:rPr lang="en-US" sz="1250" dirty="0">
                <a:solidFill>
                  <a:srgbClr val="1E6B52"/>
                </a:solidFill>
                <a:latin typeface="Calibri" pitchFamily="34" charset="0"/>
                <a:ea typeface="Calibri" pitchFamily="34" charset="-122"/>
                <a:cs typeface="Calibri" pitchFamily="34" charset="-120"/>
              </a:rPr>
              <a:t> (cheaper).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Market bargaining and payment role play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ثَمَنُهُ / ثَمَنُهَا؟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هُنَاكَ خَصْمٌ؟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يُمْكِنُ أَنْ أَدْفَعَ بِالبِطَاقَةِ؟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 هٰذِهِ ___ . كَمْ ثَمَنُهُ / ثَمَنُهَا؟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أَرْخَصُ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لٰكِنَّ ___ لَا يَعْمَلُ، أُرِيدُ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اِشْتَرَى / اِشْتَرَتْ ___ بِـ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هَلْ عِنْدَكُمْ تَذْكَارٌ صَغِيرٌ؟</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Do you have a small souvenir?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نَعَمْ، هٰذَا تَذْكَارٌ جَمِيلٌ وَثَمَنُهُ خَمْسَةَ عَشَرَ دِينَارًا.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Yes, this is a nice souvenir and it costs fifteen dinars.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Ask the price of four items and complete a supported purchase.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“this is …”, the price question and the price.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Compare three items and justify a purchase decision.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comparison (cheaper / dearer than), a discount question and your decision (“so I will buy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6–8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Handle availability, discount, payment and receipt questions in a spontaneous role play.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a shop dialogue comparing two purchases, plus a problem to fix; checklist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أَرْخَصُ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cheaper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أَغْلَى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more expensive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هُنَاكَ خَصْمٌ؟</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Is there a discount?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سَأَشْتَرِي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So I will buy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يُمْكِنُ أَنْ أَدْفَعَ بِالبِطَاقَةِ؟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Can I pay by card?</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عِنْدَكُمْ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Do you have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______ . كَمْ ثَمَنُهُ؟</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(m.) is … How much is it?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______ . كَمْ ثَمَنُهَا؟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(f.) is … How much is it?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ثَمَنُهُ / ثَمَنُهَا ______ دِينَارًا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costs … dinars.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أُرِيدُ أَنْ أَشْتَرِيَ ______ ، مِنْ فَضْلِكَ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want to buy …, please.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كِتَابٌ  ·  حَقِيبَةٌ  ·  هَاتِفٌ  ·  هَدِيَّةٌ  ·  تَذْكَارٌ  ·  حِذَاءٌ  ·  عَشَرَةُ دَنَانِيرَ  ·  عِشْرُونَ  ·  خَمْسُونَ  ·  خَصْمٌ  ·  نَقْدًا  ·  بِالبِطَاقَةِ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a six- to eight-line shopping dialogue and compare two possible purchases.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Ask whether an item is available.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the correct price suffix twice.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Compare the two items with </a:t>
            </a:r>
            <a:pPr algn="l" indent="0" marL="0">
              <a:buNone/>
            </a:pPr>
            <a:r>
              <a:rPr lang="ar-SA" altLang="en-US" sz="1550" dirty="0">
                <a:solidFill>
                  <a:srgbClr val="1F2A37"/>
                </a:solidFill>
                <a:latin typeface="Amiri" pitchFamily="34" charset="0"/>
                <a:ea typeface="Amiri" pitchFamily="34" charset="-122"/>
                <a:cs typeface="Amiri" pitchFamily="34" charset="-120"/>
              </a:rPr>
              <a:t>أَرْخَصُ / أَغْلَى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Request a discount or payment method politely.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عِنْدَكُمْ … مَحَلِّيَّةٌ؟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do you have local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كَمْ ثَمَنُهُ؟ وَكَمْ ثَمَنُهَا؟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how much is it (m.)? and (f.)?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 أَغْلَى مِنْهُ بِخَمْسَةِ دَنَانِيرَ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five dinars dearer than it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 أَرْخَصُ وَأَنْسَبُ</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cheaper and more suitable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هُنَاكَ خَصْمٌ؟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is there a discount?</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لٰكِنَّهُ لَا يَعْمَلُ، أُرِيدُ أَنْ أُبَدِّلَهُ</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but it doesn’t work; I want to exchange it</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الزَّبُونُ: هَلْ عِنْدَكُمْ هَدَايَا مَحَلِّيَّةٌ؟</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البَائِعَةُ: نَعَمْ، هٰذَا كِتَابٌ عَنِ المَدِينَةِ، وَهٰذِهِ حَقِيبَةٌ صَغِيرَةٌ.</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الزَّبُونُ: كَمْ ثَمَنُهُ؟ وَكَمْ ثَمَنُهَا؟</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البَائِعَةُ: ثَمَنُ الكِتَابِ عِشْرُونَ دِينَارًا، وَالحَقِيبَةُ أَغْلَى مِنْهُ بِخَمْسَةِ دَنَانِيرَ.</a:t>
            </a:r>
            <a:endParaRPr lang="ar-SA" sz="2300" dirty="0"/>
          </a:p>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الزَّبُونُ: الكِتَابُ أَرْخَصُ وَأَنْسَبُ. هَلْ هُنَاكَ خَصْمٌ؟ وَهَلْ يُمْكِنُ أَنْ أَدْفَعَ بِالبِطَاقَةِ؟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Customer: Do you have local gifts? · Seller: Yes, this is a book about the city, and this is a small bag. · Customer: How much is it (the book)? And how much is it (the bag)? · Seller: The book costs twenty dinars, and the bag is five dinars more expensive than it. · Customer: The book is cheaper and more suitable. Is there a discount? And can I pay by card?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هٰذَا · هٰذِهِ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ثَمَنُهُ · ثَمَنُهَا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أَغْلَى مِنْهُ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أَرْخَصُ</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choose </a:t>
            </a:r>
            <a:pPr algn="l" indent="0" marL="0">
              <a:buNone/>
            </a:pPr>
            <a:r>
              <a:rPr lang="ar-SA" altLang="en-US" sz="1700" dirty="0">
                <a:solidFill>
                  <a:srgbClr val="1F2A37"/>
                </a:solidFill>
                <a:latin typeface="Amiri" pitchFamily="34" charset="0"/>
                <a:ea typeface="Amiri" pitchFamily="34" charset="-122"/>
                <a:cs typeface="Amiri" pitchFamily="34" charset="-120"/>
              </a:rPr>
              <a:t>هٰذَا</a:t>
            </a:r>
            <a:pPr algn="l" indent="0" marL="0">
              <a:buNone/>
            </a:pPr>
            <a:r>
              <a:rPr lang="en-US" sz="1300" dirty="0">
                <a:solidFill>
                  <a:srgbClr val="1F2A37"/>
                </a:solidFill>
                <a:latin typeface="Calibri" pitchFamily="34" charset="0"/>
                <a:ea typeface="Calibri" pitchFamily="34" charset="-122"/>
                <a:cs typeface="Calibri" pitchFamily="34" charset="-120"/>
              </a:rPr>
              <a:t> or </a:t>
            </a:r>
            <a:pPr algn="l" indent="0" marL="0">
              <a:buNone/>
            </a:pPr>
            <a:r>
              <a:rPr lang="ar-SA" altLang="en-US" sz="1700" dirty="0">
                <a:solidFill>
                  <a:srgbClr val="1F2A37"/>
                </a:solidFill>
                <a:latin typeface="Amiri" pitchFamily="34" charset="0"/>
                <a:ea typeface="Amiri" pitchFamily="34" charset="-122"/>
                <a:cs typeface="Amiri" pitchFamily="34" charset="-120"/>
              </a:rPr>
              <a:t>هٰذِهِ</a:t>
            </a:r>
            <a:pPr algn="l" indent="0" marL="0">
              <a:buNone/>
            </a:pPr>
            <a:r>
              <a:rPr lang="en-US" sz="1300" dirty="0">
                <a:solidFill>
                  <a:srgbClr val="1F2A37"/>
                </a:solidFill>
                <a:latin typeface="Calibri" pitchFamily="34" charset="0"/>
                <a:ea typeface="Calibri" pitchFamily="34" charset="-122"/>
                <a:cs typeface="Calibri" pitchFamily="34" charset="-120"/>
              </a:rPr>
              <a:t> for an item.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ask </a:t>
            </a:r>
            <a:pPr algn="l" indent="0" marL="0">
              <a:buNone/>
            </a:pPr>
            <a:r>
              <a:rPr lang="ar-SA" altLang="en-US" sz="1700" dirty="0">
                <a:solidFill>
                  <a:srgbClr val="1F2A37"/>
                </a:solidFill>
                <a:latin typeface="Amiri" pitchFamily="34" charset="0"/>
                <a:ea typeface="Amiri" pitchFamily="34" charset="-122"/>
                <a:cs typeface="Amiri" pitchFamily="34" charset="-120"/>
              </a:rPr>
              <a:t>كَمْ ثَمَنُهُ / ثَمَنُهَا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compare two items. (</a:t>
            </a:r>
            <a:pPr algn="l" indent="0" marL="0">
              <a:buNone/>
            </a:pPr>
            <a:r>
              <a:rPr lang="ar-SA" altLang="en-US" sz="1700" dirty="0">
                <a:solidFill>
                  <a:srgbClr val="1F2A37"/>
                </a:solidFill>
                <a:latin typeface="Amiri" pitchFamily="34" charset="0"/>
                <a:ea typeface="Amiri" pitchFamily="34" charset="-122"/>
                <a:cs typeface="Amiri" pitchFamily="34" charset="-120"/>
              </a:rPr>
              <a:t>أَرْخَصُ / أَغْلَى مِنْ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request an item and payment method politely.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a problem and ask for an exchange or a refund.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price question for </a:t>
            </a:r>
            <a:pPr algn="l" indent="0" marL="0">
              <a:buNone/>
            </a:pPr>
            <a:r>
              <a:rPr lang="ar-SA" altLang="en-US" sz="1650" b="1" dirty="0">
                <a:solidFill>
                  <a:srgbClr val="1B3B6F"/>
                </a:solidFill>
                <a:latin typeface="Amiri" pitchFamily="34" charset="0"/>
                <a:ea typeface="Amiri" pitchFamily="34" charset="-122"/>
                <a:cs typeface="Amiri" pitchFamily="34" charset="-120"/>
              </a:rPr>
              <a:t>هَاتِفٌ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ثَمَنُكَ؟</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أَقْرَبُ 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comparison.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أَغْلَى مِنَ الكِتَابِ.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غَالِيَةٌ مِنَ الكِتَابِ.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الحَقِيبَةُ أَغْلَيَةٌ.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price question for </a:t>
            </a:r>
            <a:pPr algn="l" indent="0" marL="0">
              <a:buNone/>
            </a:pPr>
            <a:r>
              <a:rPr lang="ar-SA" altLang="en-US" sz="1650" b="1" dirty="0">
                <a:solidFill>
                  <a:srgbClr val="1B3B6F"/>
                </a:solidFill>
                <a:latin typeface="Amiri" pitchFamily="34" charset="0"/>
                <a:ea typeface="Amiri" pitchFamily="34" charset="-122"/>
                <a:cs typeface="Amiri" pitchFamily="34" charset="-120"/>
              </a:rPr>
              <a:t>هَاتِفٌ</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كَمْ ثَمَنُهُ؟</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كَمْ ثَمَنُهَا؟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كَمْ ثَمَنُكَ؟</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هَاتِفٌ</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أَغْلَى مِنْ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أَرْخَصُ 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أَقْرَبُ 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أَرْخَصُ مِنْ</a:t>
            </a:r>
            <a:pPr algn="l" indent="0" marL="0">
              <a:buNone/>
            </a:pPr>
            <a:r>
              <a:rPr lang="en-US" sz="1050" i="1" dirty="0">
                <a:solidFill>
                  <a:srgbClr val="8A6D1E"/>
                </a:solidFill>
                <a:latin typeface="Calibri" pitchFamily="34" charset="0"/>
                <a:ea typeface="Calibri" pitchFamily="34" charset="-122"/>
                <a:cs typeface="Calibri" pitchFamily="34" charset="-120"/>
              </a:rPr>
              <a:t> means cheaper than.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comparison.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الحَقِيبَةُ أَغْلَى مِنَ الكِتَابِ.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الحَقِيبَةُ غَالِيَةٌ مِنَ الكِتَابِ.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الحَقِيبَةُ أَغْلَيَةٌ.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Use the fixed comparative </a:t>
            </a:r>
            <a:pPr algn="l" indent="0" marL="0">
              <a:buNone/>
            </a:pPr>
            <a:r>
              <a:rPr lang="ar-SA" altLang="en-US" sz="1350" dirty="0">
                <a:solidFill>
                  <a:srgbClr val="8A6D1E"/>
                </a:solidFill>
                <a:latin typeface="Amiri" pitchFamily="34" charset="0"/>
                <a:ea typeface="Amiri" pitchFamily="34" charset="-122"/>
                <a:cs typeface="Amiri" pitchFamily="34" charset="-120"/>
              </a:rPr>
              <a:t>أَغْلَى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 RESOLVE A PROBLEM</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 complaint to customer service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شَكْوَى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56816"/>
            <a:ext cx="7616952" cy="664464"/>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إِلَى: خِدْمَةِ الزَّبَائِنِ — مَرْكَزُ النُّورِ التِّجَارِيُّ</a:t>
            </a:r>
            <a:endParaRPr lang="ar-SA" sz="2200" dirty="0"/>
          </a:p>
        </p:txBody>
      </p:sp>
      <p:sp>
        <p:nvSpPr>
          <p:cNvPr id="19" name="Shape 16"/>
          <p:cNvSpPr/>
          <p:nvPr/>
        </p:nvSpPr>
        <p:spPr>
          <a:xfrm>
            <a:off x="685800" y="2639568"/>
            <a:ext cx="7616952" cy="0"/>
          </a:xfrm>
          <a:prstGeom prst="line">
            <a:avLst/>
          </a:prstGeom>
          <a:noFill/>
          <a:ln w="9525">
            <a:solidFill>
              <a:srgbClr val="E4DCCB"/>
            </a:solidFill>
            <a:prstDash val="dash"/>
          </a:ln>
        </p:spPr>
      </p:sp>
      <p:sp>
        <p:nvSpPr>
          <p:cNvPr id="20" name="Text 17"/>
          <p:cNvSpPr txBox="1"/>
          <p:nvPr/>
        </p:nvSpPr>
        <p:spPr>
          <a:xfrm>
            <a:off x="685800" y="265785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اِشْتَرَيْتُ هٰذَا الهَاتِفَ يَوْمَ السَّبْتِ بِمِئَتَيْ دِينَارٍ.</a:t>
            </a:r>
            <a:endParaRPr lang="ar-SA" sz="2000" dirty="0"/>
          </a:p>
        </p:txBody>
      </p:sp>
      <p:sp>
        <p:nvSpPr>
          <p:cNvPr id="21" name="Shape 18"/>
          <p:cNvSpPr/>
          <p:nvPr/>
        </p:nvSpPr>
        <p:spPr>
          <a:xfrm>
            <a:off x="685800" y="3340608"/>
            <a:ext cx="7616952" cy="0"/>
          </a:xfrm>
          <a:prstGeom prst="line">
            <a:avLst/>
          </a:prstGeom>
          <a:noFill/>
          <a:ln w="9525">
            <a:solidFill>
              <a:srgbClr val="E4DCCB"/>
            </a:solidFill>
            <a:prstDash val="dash"/>
          </a:ln>
        </p:spPr>
      </p:sp>
      <p:sp>
        <p:nvSpPr>
          <p:cNvPr id="22" name="Text 19"/>
          <p:cNvSpPr txBox="1"/>
          <p:nvPr/>
        </p:nvSpPr>
        <p:spPr>
          <a:xfrm>
            <a:off x="685800" y="335889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لٰكِنَّ الهَاتِفَ لَا يَعْمَلُ، وَالسَّمَّاعَاتُ لَيْسَتْ فِي العُلْبَةِ.</a:t>
            </a:r>
            <a:endParaRPr lang="ar-SA" sz="2000" dirty="0"/>
          </a:p>
        </p:txBody>
      </p:sp>
      <p:sp>
        <p:nvSpPr>
          <p:cNvPr id="23" name="Shape 20"/>
          <p:cNvSpPr/>
          <p:nvPr/>
        </p:nvSpPr>
        <p:spPr>
          <a:xfrm>
            <a:off x="685800" y="4041648"/>
            <a:ext cx="7616952" cy="0"/>
          </a:xfrm>
          <a:prstGeom prst="line">
            <a:avLst/>
          </a:prstGeom>
          <a:noFill/>
          <a:ln w="9525">
            <a:solidFill>
              <a:srgbClr val="E4DCCB"/>
            </a:solidFill>
            <a:prstDash val="dash"/>
          </a:ln>
        </p:spPr>
      </p:sp>
      <p:sp>
        <p:nvSpPr>
          <p:cNvPr id="24" name="Text 21"/>
          <p:cNvSpPr txBox="1"/>
          <p:nvPr/>
        </p:nvSpPr>
        <p:spPr>
          <a:xfrm>
            <a:off x="685800" y="405993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عِنْدِي الفَاتُورَةُ، وَهٰذِهِ صُورَتُهَا.</a:t>
            </a:r>
            <a:endParaRPr lang="ar-SA" sz="2000" dirty="0"/>
          </a:p>
        </p:txBody>
      </p:sp>
      <p:sp>
        <p:nvSpPr>
          <p:cNvPr id="25" name="Shape 22"/>
          <p:cNvSpPr/>
          <p:nvPr/>
        </p:nvSpPr>
        <p:spPr>
          <a:xfrm>
            <a:off x="685800" y="4742688"/>
            <a:ext cx="7616952" cy="0"/>
          </a:xfrm>
          <a:prstGeom prst="line">
            <a:avLst/>
          </a:prstGeom>
          <a:noFill/>
          <a:ln w="9525">
            <a:solidFill>
              <a:srgbClr val="E4DCCB"/>
            </a:solidFill>
            <a:prstDash val="dash"/>
          </a:ln>
        </p:spPr>
      </p:sp>
      <p:sp>
        <p:nvSpPr>
          <p:cNvPr id="26" name="Text 23"/>
          <p:cNvSpPr txBox="1"/>
          <p:nvPr/>
        </p:nvSpPr>
        <p:spPr>
          <a:xfrm>
            <a:off x="685800" y="476097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أُرِيدُ أَنْ أُبَدِّلَ الهَاتِفَ بِهَاتِفٍ جَدِيدٍ، أَوْ أَنْ تُرْجِعُوا لِي المَالَ.</a:t>
            </a:r>
            <a:endParaRPr lang="ar-SA" sz="2000" dirty="0"/>
          </a:p>
        </p:txBody>
      </p:sp>
      <p:sp>
        <p:nvSpPr>
          <p:cNvPr id="27" name="Shape 24"/>
          <p:cNvSpPr/>
          <p:nvPr/>
        </p:nvSpPr>
        <p:spPr>
          <a:xfrm>
            <a:off x="685800" y="5443728"/>
            <a:ext cx="7616952" cy="0"/>
          </a:xfrm>
          <a:prstGeom prst="line">
            <a:avLst/>
          </a:prstGeom>
          <a:noFill/>
          <a:ln w="9525">
            <a:solidFill>
              <a:srgbClr val="E4DCCB"/>
            </a:solidFill>
            <a:prstDash val="dash"/>
          </a:ln>
        </p:spPr>
      </p:sp>
      <p:sp>
        <p:nvSpPr>
          <p:cNvPr id="28" name="Text 25"/>
          <p:cNvSpPr txBox="1"/>
          <p:nvPr/>
        </p:nvSpPr>
        <p:spPr>
          <a:xfrm>
            <a:off x="685800" y="546201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شُكْرًا لَكُمْ — سَارَةُ</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خِدْمَةُ الزَّبَائِنِ</a:t>
            </a:r>
            <a:endParaRPr lang="ar-SA" sz="1600" dirty="0"/>
          </a:p>
        </p:txBody>
      </p:sp>
      <p:sp>
        <p:nvSpPr>
          <p:cNvPr id="32" name="Text 29"/>
          <p:cNvSpPr txBox="1"/>
          <p:nvPr/>
        </p:nvSpPr>
        <p:spPr>
          <a:xfrm>
            <a:off x="8851392" y="221284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customer service</a:t>
            </a:r>
            <a:endParaRPr lang="en-US" sz="1050" dirty="0"/>
          </a:p>
        </p:txBody>
      </p:sp>
      <p:sp>
        <p:nvSpPr>
          <p:cNvPr id="33" name="Text 30"/>
          <p:cNvSpPr txBox="1"/>
          <p:nvPr/>
        </p:nvSpPr>
        <p:spPr>
          <a:xfrm>
            <a:off x="10102291" y="265988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اِشْتَرَيْتُ</a:t>
            </a:r>
            <a:endParaRPr lang="ar-SA" sz="1600" dirty="0"/>
          </a:p>
        </p:txBody>
      </p:sp>
      <p:sp>
        <p:nvSpPr>
          <p:cNvPr id="34" name="Text 31"/>
          <p:cNvSpPr txBox="1"/>
          <p:nvPr/>
        </p:nvSpPr>
        <p:spPr>
          <a:xfrm>
            <a:off x="8851392" y="265988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bought</a:t>
            </a:r>
            <a:endParaRPr lang="en-US" sz="1050" dirty="0"/>
          </a:p>
        </p:txBody>
      </p:sp>
      <p:sp>
        <p:nvSpPr>
          <p:cNvPr id="35" name="Text 32"/>
          <p:cNvSpPr txBox="1"/>
          <p:nvPr/>
        </p:nvSpPr>
        <p:spPr>
          <a:xfrm>
            <a:off x="10102291" y="310692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بِمِئَتَيْ دِينَارٍ</a:t>
            </a:r>
            <a:endParaRPr lang="ar-SA" sz="1600" dirty="0"/>
          </a:p>
        </p:txBody>
      </p:sp>
      <p:sp>
        <p:nvSpPr>
          <p:cNvPr id="36" name="Text 33"/>
          <p:cNvSpPr txBox="1"/>
          <p:nvPr/>
        </p:nvSpPr>
        <p:spPr>
          <a:xfrm>
            <a:off x="8851392" y="310692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for 200 dinars</a:t>
            </a:r>
            <a:endParaRPr lang="en-US" sz="1050" dirty="0"/>
          </a:p>
        </p:txBody>
      </p:sp>
      <p:sp>
        <p:nvSpPr>
          <p:cNvPr id="37" name="Text 34"/>
          <p:cNvSpPr txBox="1"/>
          <p:nvPr/>
        </p:nvSpPr>
        <p:spPr>
          <a:xfrm>
            <a:off x="10102291" y="355396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يَعْمَلُ</a:t>
            </a:r>
            <a:endParaRPr lang="ar-SA" sz="1600" dirty="0"/>
          </a:p>
        </p:txBody>
      </p:sp>
      <p:sp>
        <p:nvSpPr>
          <p:cNvPr id="38" name="Text 35"/>
          <p:cNvSpPr txBox="1"/>
          <p:nvPr/>
        </p:nvSpPr>
        <p:spPr>
          <a:xfrm>
            <a:off x="8851392" y="355396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does not work</a:t>
            </a:r>
            <a:endParaRPr lang="en-US" sz="1050" dirty="0"/>
          </a:p>
        </p:txBody>
      </p:sp>
      <p:sp>
        <p:nvSpPr>
          <p:cNvPr id="39" name="Text 36"/>
          <p:cNvSpPr txBox="1"/>
          <p:nvPr/>
        </p:nvSpPr>
        <p:spPr>
          <a:xfrm>
            <a:off x="10102291" y="400100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لَيْسَتْ</a:t>
            </a:r>
            <a:endParaRPr lang="ar-SA" sz="1600" dirty="0"/>
          </a:p>
        </p:txBody>
      </p:sp>
      <p:sp>
        <p:nvSpPr>
          <p:cNvPr id="40" name="Text 37"/>
          <p:cNvSpPr txBox="1"/>
          <p:nvPr/>
        </p:nvSpPr>
        <p:spPr>
          <a:xfrm>
            <a:off x="8851392" y="400100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are not</a:t>
            </a:r>
            <a:endParaRPr lang="en-US" sz="1050" dirty="0"/>
          </a:p>
        </p:txBody>
      </p:sp>
      <p:sp>
        <p:nvSpPr>
          <p:cNvPr id="41" name="Text 38"/>
          <p:cNvSpPr txBox="1"/>
          <p:nvPr/>
        </p:nvSpPr>
        <p:spPr>
          <a:xfrm>
            <a:off x="10102291" y="444804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العُلْبَةِ</a:t>
            </a:r>
            <a:endParaRPr lang="ar-SA" sz="1600" dirty="0"/>
          </a:p>
        </p:txBody>
      </p:sp>
      <p:sp>
        <p:nvSpPr>
          <p:cNvPr id="42" name="Text 39"/>
          <p:cNvSpPr txBox="1"/>
          <p:nvPr/>
        </p:nvSpPr>
        <p:spPr>
          <a:xfrm>
            <a:off x="8851392" y="444804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box</a:t>
            </a:r>
            <a:endParaRPr lang="en-US" sz="1050" dirty="0"/>
          </a:p>
        </p:txBody>
      </p:sp>
      <p:sp>
        <p:nvSpPr>
          <p:cNvPr id="43" name="Text 40"/>
          <p:cNvSpPr txBox="1"/>
          <p:nvPr/>
        </p:nvSpPr>
        <p:spPr>
          <a:xfrm>
            <a:off x="10102291" y="489508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صُورَتُهَا</a:t>
            </a:r>
            <a:endParaRPr lang="ar-SA" sz="1600" dirty="0"/>
          </a:p>
        </p:txBody>
      </p:sp>
      <p:sp>
        <p:nvSpPr>
          <p:cNvPr id="44" name="Text 41"/>
          <p:cNvSpPr txBox="1"/>
          <p:nvPr/>
        </p:nvSpPr>
        <p:spPr>
          <a:xfrm>
            <a:off x="8851392" y="489508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photo of it</a:t>
            </a:r>
            <a:endParaRPr lang="en-US" sz="1050" dirty="0"/>
          </a:p>
        </p:txBody>
      </p:sp>
      <p:sp>
        <p:nvSpPr>
          <p:cNvPr id="45" name="Text 42"/>
          <p:cNvSpPr txBox="1"/>
          <p:nvPr/>
        </p:nvSpPr>
        <p:spPr>
          <a:xfrm>
            <a:off x="10102291" y="534212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أُبَدِّلَ</a:t>
            </a:r>
            <a:endParaRPr lang="ar-SA" sz="1600" dirty="0"/>
          </a:p>
        </p:txBody>
      </p:sp>
      <p:sp>
        <p:nvSpPr>
          <p:cNvPr id="46" name="Text 43"/>
          <p:cNvSpPr txBox="1"/>
          <p:nvPr/>
        </p:nvSpPr>
        <p:spPr>
          <a:xfrm>
            <a:off x="8851392" y="534212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exchange</a:t>
            </a:r>
            <a:endParaRPr lang="en-US" sz="1050" dirty="0"/>
          </a:p>
        </p:txBody>
      </p:sp>
      <p:sp>
        <p:nvSpPr>
          <p:cNvPr id="47" name="Text 44"/>
          <p:cNvSpPr txBox="1"/>
          <p:nvPr/>
        </p:nvSpPr>
        <p:spPr>
          <a:xfrm>
            <a:off x="10102291" y="578916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تُرْجِعُوا لِي المَالَ</a:t>
            </a:r>
            <a:endParaRPr lang="ar-SA" sz="1600" dirty="0"/>
          </a:p>
        </p:txBody>
      </p:sp>
      <p:sp>
        <p:nvSpPr>
          <p:cNvPr id="48" name="Text 45"/>
          <p:cNvSpPr txBox="1"/>
          <p:nvPr/>
        </p:nvSpPr>
        <p:spPr>
          <a:xfrm>
            <a:off x="8851392" y="578916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give me a refund</a:t>
            </a:r>
            <a:endParaRPr lang="en-US" sz="10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COMPLAINT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the problem?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 المُشْكِلَةُ؟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Sara buy the phone?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Sunday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Saturday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Yesterday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it cost?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200 dinars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dinars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100 dinars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TWO problems?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is too expensive and too big.</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receipt is lost and the box is broken.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does not work and the headphones are missing.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صُورَتُهَا</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phone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receipt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box</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Sara want?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discount on a new phone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exchange or a refund</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Free headphones only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COMPLAINT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Complaint: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did Sara buy the phone?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Sunday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 Saturday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Yesterday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اِشْتَرَيْتُ هٰذَا الهَاتِفَ يَوْمَ السَّبْتِ.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did it cost?</a:t>
            </a:r>
            <a:endParaRPr lang="en-US" sz="125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200 dinars</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 dinars</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100 dinars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بِمِئَتَيْ دِينَارٍ (مِئَتَانِ = 200).</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TWO problems?</a:t>
            </a:r>
            <a:endParaRPr lang="en-US" sz="125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is too expensive and too big.</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ea typeface="Calibri" pitchFamily="34" charset="-122"/>
                <a:cs typeface="Calibri" pitchFamily="34" charset="-120"/>
              </a:rPr>
              <a:t>The receipt is lost and the box is broken.</a:t>
            </a:r>
            <a:endParaRPr lang="en-US" sz="120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does not work and the headphones are missing.</a:t>
            </a:r>
            <a:endParaRPr lang="en-US" sz="11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يَعْمَلُ … وَالسَّمَّاعَاتُ لَيْسَتْ فِي العُلْبَةِ.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صُورَتُهَا</a:t>
            </a:r>
            <a:pPr algn="l" indent="0" marL="0">
              <a:buNone/>
            </a:pPr>
            <a:r>
              <a:rPr lang="en-US" sz="1250" b="1" dirty="0">
                <a:solidFill>
                  <a:srgbClr val="1B3B6F"/>
                </a:solidFill>
                <a:latin typeface="Calibri" pitchFamily="34" charset="0"/>
                <a:ea typeface="Calibri" pitchFamily="34" charset="-122"/>
                <a:cs typeface="Calibri" pitchFamily="34" charset="-120"/>
              </a:rPr>
              <a:t> refer to?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phone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receipt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box</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ـهَا</a:t>
            </a:r>
            <a:pPr algn="l" indent="0" marL="0">
              <a:buNone/>
            </a:pPr>
            <a:r>
              <a:rPr lang="en-US" sz="1050" i="1" dirty="0">
                <a:solidFill>
                  <a:srgbClr val="8A6D1E"/>
                </a:solidFill>
                <a:latin typeface="Calibri" pitchFamily="34" charset="0"/>
                <a:ea typeface="Calibri" pitchFamily="34" charset="-122"/>
                <a:cs typeface="Calibri" pitchFamily="34" charset="-120"/>
              </a:rPr>
              <a:t> = feminine: </a:t>
            </a:r>
            <a:pPr algn="l" indent="0" marL="0">
              <a:buNone/>
            </a:pPr>
            <a:r>
              <a:rPr lang="ar-SA" altLang="en-US" sz="1350" dirty="0">
                <a:solidFill>
                  <a:srgbClr val="8A6D1E"/>
                </a:solidFill>
                <a:latin typeface="Amiri" pitchFamily="34" charset="0"/>
                <a:ea typeface="Amiri" pitchFamily="34" charset="-122"/>
                <a:cs typeface="Amiri" pitchFamily="34" charset="-120"/>
              </a:rPr>
              <a:t>الفَاتُورَةُ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Sara want?</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discount on a new phone</a:t>
            </a:r>
            <a:endParaRPr lang="en-US" sz="125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exchange or a refund</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Free headphones only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أُرِيدُ أَنْ أُبَدِّلَ … أَوْ أَنْ تُرْجِعُوا لِي المَالَ.</a:t>
            </a:r>
            <a:endParaRPr lang="ar-SA" sz="1350" dirty="0"/>
          </a:p>
        </p:txBody>
      </p:sp>
      <p:sp>
        <p:nvSpPr>
          <p:cNvPr id="92"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TC-L09 · Shopping &amp;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TC-L10 · Measurements, Shapes and Materials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طُوبٌ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brick</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خَرَسَانَةٌ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concrete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مَعْدِنٌ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metal</a:t>
            </a:r>
            <a:pPr indent="0" marL="0">
              <a:buNone/>
            </a:pPr>
            <a:r>
              <a:rPr lang="en-US" sz="1000" i="1" dirty="0">
                <a:solidFill>
                  <a:srgbClr val="5A6472"/>
                </a:solidFill>
                <a:latin typeface="Calibri" pitchFamily="34" charset="0"/>
                <a:ea typeface="Calibri" pitchFamily="34" charset="-122"/>
                <a:cs typeface="Calibri" pitchFamily="34" charset="-120"/>
              </a:rPr>
              <a:t>  pl. مَعَادِنُ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مِتْرٌ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metre</a:t>
            </a:r>
            <a:pPr indent="0" marL="0">
              <a:buNone/>
            </a:pPr>
            <a:r>
              <a:rPr lang="en-US" sz="1000" i="1" dirty="0">
                <a:solidFill>
                  <a:srgbClr val="5A6472"/>
                </a:solidFill>
                <a:latin typeface="Calibri" pitchFamily="34" charset="0"/>
                <a:ea typeface="Calibri" pitchFamily="34" charset="-122"/>
                <a:cs typeface="Calibri" pitchFamily="34" charset="-120"/>
              </a:rPr>
              <a:t>  pl. أَمْتَارٌ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طُولٌ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length</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what is your house or school built of?</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مِنْ أَيِّ مَادَّةٍ بَيْتُكَ مَبْنِيٌّ؟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TC-L09 · play “Best Buy”,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Find a real advert (English is fine) and write 5 Arabic lines about it: this is …, it costs …, it is cheaper than …</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customer service’s reply to Sara’s complaint (5–6 lines).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ea typeface="Cambria" pitchFamily="34" charset="-122"/>
                <a:cs typeface="Cambria" pitchFamily="34" charset="-120"/>
              </a:rPr>
              <a:t>TC-L10 · Measurements, Shapes and Materials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القِيَاسَاتُ وَالأَشْكَالُ وَالمَوَادُّ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TC-L09 · Shopping, Prices and Consumer Choices</dc:title>
  <dc:subject>PptxGenJS Presentation</dc:subject>
  <dc:creator>Al Madina Online School · Arabic Department</dc:creator>
  <cp:lastModifiedBy>Al Madina Online School · Arabic Department</cp:lastModifiedBy>
  <cp:revision>1</cp:revision>
  <dcterms:created xsi:type="dcterms:W3CDTF">2026-09-27T09:04:18Z</dcterms:created>
  <dcterms:modified xsi:type="dcterms:W3CDTF">2026-09-27T09:04:18Z</dcterms:modified>
</cp:coreProperties>
</file>