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Advanced Topics › Topic C › Lesson 2 (TC-L02). The website lesson reuses P4-L01 (The Natural World — Landscapes, Ecosystems and Biodiversity) and adds the Topic C focus “Describe natural settings and explain relationships within them” (grammar: adjective agreement; relative clauses; iḍāfa). Landscape and animal words come from the Topic C “Natural World, Environment &amp; Weather” vocabulary bank; the picture match is the website lesson game “Nature Scene”; the sorter is the website’s “Landscape classification” application challenge.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P4-L01 is B1–B2 language, so the lesson is layered. CORE: landscapes and animals (with plurals) + noun and describing word that agree — most describing words here use the nisba ending from TC-L01 (بِيئِيٌّ، طَبِيعِيٌّ، مَرْجَانِيَّةٌ). DEVELOP: the website composition verbs يَضُمُّ / يُشَكِّلُ / يَتَفَاعَلُ مَعَ / يَعْتَمِدُ عَلَى. STRETCH: the website conditionals (إِذَا … سَـ / لَوْ … لَـ) and لِكَيْ + subjunctive.
• Transliteration on every Core word, sg./pl. forms, English on every model sentence, a picture-match game with icons, a read-along listening script with English.
• Urdu bridge words (صحرا، جزیرہ، حیوان، بحر، طبیعت) value home language as a resource.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(Flipped Learning follow-up). Questions 3–5 retrieve TC-L01 (nisba, place sentence, compass points).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same ending ـِيٌّ / ـِيَّةٌ makes describing words: بِيئَة (environment) → بِيئِيٌّ.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Core statements carry the Topic C focus for this lesson (natural settings; adjective agreement) using the Natural World vocabulary bank. The website objectives on the left are the P4-L01 objectives (Develop/Stretch).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ask “Which of these do you already know from home?” (● 10s → ◎). بحرِ ہند (the Indian Ocean) uses بَحْر; طبیعت in Urdu means one’s nature or health — in Arabic طَبِيعَة means nature, and طَبِيعِيٌّ “natural”.
Groups 1–2 are from the Topic C Natural World bank (Core). Groups 3–5 are the website P4-L01 vocabulary (Develop /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Landscapes (website: Topic C Natural World bank, “Landscapes &amp; natural features”). Hear → Say → See → Use.
Gesture for each: hands in a peak (mountain), wavy hand (river / sea), wipe brow (desert), fingers up (trees), circle (island).
Link to TC-L01: جُزُرٌ is the plural of جَزِيرَة — as in جُزُرُ القَمَرِ (the Comoros).
PRONUNCIATION: ح in بَحْر / صَحْرَاء is a breathy “ḥ” from the throat, not “h”; ص is a heavy “ṣ”.
Quick check: “Type the NUMBER of the word that means desert / island /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more landscapes (website Natural World bank). Develop / Stretch; Core students listen and repeat.
Notice: بُحَيْرَة (lake) is a “little sea” — it comes from بَحْر. Stretch: find the root ب ح ر in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Animals (website Natural World bank, “Animals &amp; wildlife”). Hear → Say → See → Use.
Also in the website game: الْمَاعِزُ (goats). Urdu bridge: حَيَوَان ↔ حیوان; فِيل ↔ فیل (fīl, elephant — as in Surat al-Fīl).
Quick check: “Which animal lives in the desert?” → جَمَلٌ.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Ecosystems (website P4-L01 vocabulary “Ecosystems and biodiversity”).
The big idea: almost every describing word here is a NISBA — the same ending as the nationalities in TC-L01. Blue = the noun (WHO it describes), purple = meaning, pink = ending.
Core students learn the three CORE phrases. Develop: all seven. Stretch: explain the third column (why شِعَاب takes a feminine adjective: a plural of things behaves like a feminine singular).
Also on the website: أَنْوَاعٌ مُهَدَّدَةٌ بِالانْقِرَاضِ (endangered species) and الانْقِرَاضُ (extinction) — Group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Composition and impact verbs (website P4-L01). Develop focus; Core students learn يَضُمُّ only (“includes”).
Website notes on each card. Teach them in pairs: the verbs with NO preposition (يَضُمُّ، يُشَكِّلُ، يُهَدِّدُ) and the verbs that ALWAYS take one (مَعَ، عَلَى، إِلَى).
Also on the website: يَتَكَوَّنُ مِنْ (is composed of) and حِمَايَةُ التَّنَوُّعِ (protecting biodiversity).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Protection and the purpose subjunctive (website P4-L01; FLEX — Stretch or homework). Website notes shown on cards.
Also on the website: لِكَيْ تَسْتَمِرَّ (so that it continues), لِكَيْ تُحَافِظَ (so that it preserves), الفِعْلُ المَنْصُوبُ (the subjunctive verb), فَتْحَةُ النَّصْبِ (the subjunctive fatḥa).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adjective agreement (2 min). Topic C grammar focus for this lesson: “Adjective agreement; relative clauses; iḍāfa”.
Think aloud: “Arabic puts the noun FIRST and the describing word AFTER it — the opposite of English. The describing word copies the noun: feminine → ـِيَّةٌ, masculine → ـِيٌّ. If the noun has ال, the describing word has ال too.”
Core rule for today: noun first, then the describing word with the SAME ending type.
Misconception: English order (اسْتِوَائِيَّةٌ غَابَةٌ) or a masculine ending on a feminine noun (غَابَةٌ اسْتِوَائِيٌّ).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agreement in real website sentences (2 min). Sentences from the website reading, sorter, builder and lesson game.
Read each row: students say only the blue noun + the pink ending.
Develop / Stretch: plurals of THINGS (سَلَاسِل، شِعَاب، مَنَاطِق) take a FEMININE SINGULAR describing word — that is why they all end in ـِيَّة. Row 5: جَبَل (mountain) → جَبَلِيَّة (mountainous).
The endings change with the grammar (ـٌّ / ـٍّ / ـً): Core students only need to notice “ـِيّ” = he-type, “ـِيَّة” = she-type.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the three structures named in the Topic C focus for this lesson (2 min; Develop focus, Core listen for the adjective card).
Examples use website vocabulary: التَّوَازُنُ البِيئِيُّ، حِمَايَةُ التَّنَوُّعِ، إِجْرَاءَاتُ الحِمَايَةِ (website word bank); the relative clause is built from the website quiz sentence تَضُمُّ الغَابَةُ آلَافَ الأَنْوَاعِ (teacher-made).
Common errors (teacher-made): masculine ending on غَابَة; ال on the first noun of an iḍāfa.
Stretch challenge: turn نِظَامٌ بِيئِيٌّ into a relative clause: النِّظَامُ الَّذِي يَضُمُّ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“Composition”: يَضُمُّ / يُشَكِّلُ + object. Both take a direct object; يَتَفَاعَلُ takes مَعَ.
Arabic often starts with the VERB. Read each row in three beats: verb → subject → object. Note تَضُمُّ (feminine) because الغَابَةُ is feminine; يُشَكِّلُ because المَرْجَانُ is masculine.
Sentences: website grammar examples, quiz and reading text.
Website teaching point: “Both take a direct object. يَتَفَاعَلُ مَعَ links the parts of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5 — website rules “Real threat (Type 1)”, “Counterfactual (Type 2)” and “Purpose subjunctive” (FLEX — Stretch focus; Develop may try Type 1 only).
Website teaching point: “After لِكَي the verb ends in a fatḥa, not a ḍamma … The final fatḥa is the subjunctive marker, and P4 accuracy depends on it.”
Website common error: Leaving the verb after لِكَي in the indicative (تَحْمِي) instead of the subjunctive (تَحْمِيَ). The final fatḥa is the mark that earns the accuracy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ecosystem verbs with their complements, both conditional types applied to threats, and the لِكَي purpose clause with its subjunctive verb.”
Core: row 1 only. Develop: rows 1–2. Stretch: all four, and explain the difference between rows 2 and 3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one teacher-made agreement question, Ecosystem Mission round 9 and website grammar quiz questions 1–2.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teacher models with a think-aloud; students watch, then COPY the finished description into their books.
Think-aloud script:
Step 1 — “I choose البَحْرُ الأَحْمَرُ. The colour word comes after the noun and copies ال.”
Step 2 — “Where? Between Asia and Africa: بَيْنَ آسِيَا وَأَفْرِيقِيَا. No word for ‘is’.”
Step 3 — “What does it include? يَضُمُّ + object — no بِـ. شِعَاب is a plural of things, so مَرْجَانِيَّة is feminine.”
Step 4 — “Which animals? تَعِيشُ فِيهِ أَسْمَاكٌ كَثِيرَةٌ.”
Built from website language: the listening/model text (يَقَعُ البَحْرُ الأَحْمَرُ بَيْنَ شِبْهِ الجَزِيرَةِ العَرَبِيَّةِ وَشَمَالِ أَفْرِيقِيَا … يَضُمُّ … شِعَابًا مَرْجَانِيَّةً) simplified for Core, and the lesson game (تَعِيشُ الأَسْمَاكُ فِي البَحْرِ).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lesson game and website patterns. Read each aloud; students copy TWO that are useful for them.
• Core: copy 1 and 2 and change the animal or place (تَعِيشُ الجِمَالُ فِي الصَّحْرَاءِ).
• Develop: copy 3 and change the place.
• Stretch: copy 4 and write a second sentence with لِكَيْ + subjunctive.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(“Nature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الجَبَلِيَّةِ (mountain), البَحْرِ (sea), الصَّحْرَاءِ (desert). Stretch: explain تَتَحَمَّلُ الجَفَافَ (tolerate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(“Nature Scene”)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Key words to spot: الجَبَلِيَّةِ (mountain), البَحْرِ (sea), الصَّحْرَاءِ (desert). Stretch: explain تَتَحَمَّلُ الجَفَافَ (tolerate drought).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“Advanced application” for this lesson: “Landscape classification — sort natural-world vocabulary into landscape, animal, plant or ecosystem groups, then describe one scene with location and comparison language.” (2 min)
On Teams: drag the tiles into the columns live, or annotate on the shared screen. Core: sort and say the English. Develop: say a sentence for one tile (تَعِيشُ الجِمَالُ فِي الصَّحْرَاءِ). Stretch: describe one scene with a location and a comparison.
The website P4-L01 grammar sorter (composition / conditional / purpose) is on the website for Stretch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“Advanced application” for this lesson: “Landscape classification — sort natural-world vocabulary into landscape, animal, plant or ecosystem groups, then describe one scene with location and comparison language.” (2 min)
On Teams: drag the tiles into the columns live, or annotate on the shared screen. Core: sort and say the English. Develop: say a sentence for one tile (تَعِيشُ الجِمَالُ فِي الصَّحْرَاءِ). Stretch: describe one scene with a location and a comparison.
The website P4-L01 grammar sorter (composition / conditional / purpose) is on the website for Stretch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examples, quiz and builder tasks).
Students choose ONE box from each column (start from Column 1 on the right) and type the letters in chat, e.g. “1: B A B”.
↔ Rehearse 30s: whisper the full Arabic sentence before typing.
Core: sentence 1 (agreement). Develop: sentences 2–3 (verb + object / fixed preposition). Separate the class if needed: Develop/Stretch continue to the FLEX practice while you work with Core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sentence builder (3 min). Teacher-made from website sentences (grammar examples, quiz and builder tasks).
Students choose ONE box from each column (start from Column 1 on the right) and type the letters in chat, e.g. “1: B A B”.
↔ Rehearse 30s: whisper the full Arabic sentence before typing.
Core: sentence 1 (agreement). Develop: sentences 2–3 (verb + object / fixed preposition). Separate the class if needed: Develop/Stretch continue to the FLEX practice while you work with Core on sentence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8, 3, 4 (Stretch)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1–2. Develop: 1–3. Stretch: all 5.
Listen 1: just listen. Listen 2: note answers. Then chat the letters.
Support: after the second listening, show the read-along slide (Arabic + English, line by line) for Core students.
SCRIPT (read aloud):
يَقَعُ البَحْرُ الأَحْمَرُ بَيْنَ شِبْهِ الجَزِيرَةِ العَرَبِيَّةِ وَشَمَالِ أَفْرِيقِيَا. يَضُمُّ هٰذَا البَحْرُ شِعَابًا مَرْجَانِيَّةً مِنْ أَغْنَى النُّظُمِ البِيئِيَّةِ البَحْرِيَّةِ فِي العَالَمِ. يُشَكِّلُ المَرْجَانُ بِيئَةً لَا غِنَى عَنْهَا لِآلَافِ الأَسْمَاكِ. غَيْرَ أَنَّ الاحْتِرَارَ يُهَدِّدُ هٰذَا التَّوَازُنَ. إِذَا اسْتَمَرَّ ارْتِفَاعُ حَرَارَةِ المُحِيطَاتِ، سَتَتَبَيَّضُ الشِّعَابُ وَتَمُوتُ. وَلَوْ كَانَتْ إِجْرَاءَاتُ الحِمَايَةِ أَصْرَمَ فِي العُقُودِ المَاضِيَةِ، لَكَانَتِ الشِّعَابُ أَفْضَلَ حَالًا اليَوْمَ. لِذٰلِكَ تَحْتَاجُ دُوَلُ المِنْطَقَةِ إِلَى تَعَاوُنٍ إِقْلِيمِيٍّ لِكَيْ تَحْمِيَ هٰذَا الإِرْثَ الطَّبِيعِيَّ الاسْتِثْنَائِيَّ.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نَحْتَاجُ إِلَى حِمَايَتِهِ؟ (Purpose)
B: نَحْتَاجُ إِلَى تَعَاوُنٍ لِكَيْ نَحْمِيَ هٰذَا الإِرْثَ، وَلَوْ تَأَخَّرْنَا أَكْثَرَ لَخَسِرْنَاهُ. (لِكَيْ + subjunctive plus a Type 2)
Core prompt (teacher-made): “Describe a natural place: where is it? Which animals live there?” — answered with the Core stem, e.g. الصَّحْرَاءُ فِي أَفْرِيقِيَا، وَتَعِيشُ فِيهَا الجِمَالُ. (Note فِيهَا for a feminine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ecosystem sentences with يَضُمُّ, يُشَكِّلُ and their complements. · Develop — Add a Type 1 threat and a Type 2 counterfactual. · Stretch — Close with a لِكَي purpose clause using the subjunctive fatḥa.
Website writing task (Stretch): Write one hundred to one hundred and ten words describing a natural ecosystem. Use يَضُمُّ and يُشَكِّلُ, a Type 1 threat and a Type 2 counterfactual, and a purpose clause with لِكَي + a subjunctive verb.
Routes adapted for this class: the website Core task (يَضُمُّ / يُشَكِّلُ sentences) becomes the Develop task; Core writes about landscapes and animals with agreeing describing words (Topic C focus); Stretch does the full website writing task.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Core students find the noun + describing word pairs (شِعَابًا مَرْجَانِيَّةً، النُّظُمِ البِيئِيَّةِ، الإِرْثَ الطَّبِيعِيَّ) and the animals/places; Stretch find the conditionals and تَحْمِيَ.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(TC-L03 · Climate, Seasons and Weather) will spend class time USING this language, so students prepare it tonight — short, simple, easy to access (school guidance: “Simple, Short, Interesting, Relevant, Easy to access”). The five words come from the website Natural World vocabulary bank (Weather and Climate).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slideLayout" Target="../slideLayouts/slideLayout1.xml"/><Relationship Id="rId8"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ADVANCED TOPIC C  ·  WEEK 1  ·  LESSON 2 OF 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TC-L02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450" b="1" dirty="0">
                <a:solidFill>
                  <a:srgbClr val="FFFFFF"/>
                </a:solidFill>
                <a:latin typeface="Cambria" pitchFamily="34" charset="0"/>
                <a:ea typeface="Cambria" pitchFamily="34" charset="-122"/>
                <a:cs typeface="Cambria" pitchFamily="34" charset="-120"/>
              </a:rPr>
              <a:t>Landscapes, Nature and Animals</a:t>
            </a:r>
            <a:endParaRPr lang="en-US" sz="34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التَّضَارِيسُ وَالطَّبِيعَةُ وَالحَيَوَانَاتُ</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natural settings and explain relationships within them: landscapes, animals and ecosystems, with describing words that agree (</a:t>
            </a:r>
            <a:pPr algn="l" indent="0" marL="0">
              <a:buNone/>
            </a:pPr>
            <a:r>
              <a:rPr lang="ar-SA" altLang="en-US" sz="1800" dirty="0">
                <a:solidFill>
                  <a:srgbClr val="C6D2E6"/>
                </a:solidFill>
                <a:latin typeface="Amiri" pitchFamily="34" charset="0"/>
                <a:ea typeface="Amiri" pitchFamily="34" charset="-122"/>
                <a:cs typeface="Amiri" pitchFamily="34" charset="-120"/>
              </a:rPr>
              <a:t>نِظَامٌ بِيئِيٌّ</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غَابَةٌ اسْتِوَائِيَّةٌ</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TC-L02 · Week 1, lesson 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C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C › Lesson 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Key words for nature, then describing words that agree.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sort, build,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TC-L03.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“mountain”?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نَهْرٌ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جَبَلٌ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بَحْرٌ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“desert”?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صَحْرَاءُ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حَيَوَانٌ</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nationality.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مِصْرِيُّونَ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مِصْرِيَّةٌ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المَغْرِبُ فِي شَمَالِ أَفْرِيقِيَا.</a:t>
            </a:r>
            <a:endParaRPr lang="ar-SA" sz="13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 is west of Africa.</a:t>
            </a:r>
            <a:endParaRPr lang="en-US" sz="12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 is in Asia.</a:t>
            </a:r>
            <a:endParaRPr lang="en-US" sz="12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Morocco is in the north of Africa.</a:t>
            </a:r>
            <a:endParaRPr lang="en-US" sz="12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“south”?</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جَنُوبٌ</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شَمَالٌ</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غَرْبٌ</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“mountain”?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نَهْرٌ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جَبَلٌ</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بَحْرٌ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جَبَلٌ</a:t>
            </a:r>
            <a:pPr algn="l" indent="0" marL="0">
              <a:buNone/>
            </a:pPr>
            <a:r>
              <a:rPr lang="en-US" sz="1050" i="1" dirty="0">
                <a:solidFill>
                  <a:srgbClr val="8A6D1E"/>
                </a:solidFill>
                <a:latin typeface="Calibri" pitchFamily="34" charset="0"/>
                <a:ea typeface="Calibri" pitchFamily="34" charset="-122"/>
                <a:cs typeface="Calibri" pitchFamily="34" charset="-120"/>
              </a:rPr>
              <a:t> = mountain · </a:t>
            </a:r>
            <a:pPr algn="l" indent="0" marL="0">
              <a:buNone/>
            </a:pPr>
            <a:r>
              <a:rPr lang="ar-SA" altLang="en-US" sz="1350" dirty="0">
                <a:solidFill>
                  <a:srgbClr val="8A6D1E"/>
                </a:solidFill>
                <a:latin typeface="Amiri" pitchFamily="34" charset="0"/>
                <a:ea typeface="Amiri" pitchFamily="34" charset="-122"/>
                <a:cs typeface="Amiri" pitchFamily="34" charset="-120"/>
              </a:rPr>
              <a:t>نَهْرٌ</a:t>
            </a:r>
            <a:pPr algn="l" indent="0" marL="0">
              <a:buNone/>
            </a:pPr>
            <a:r>
              <a:rPr lang="en-US" sz="1050" i="1" dirty="0">
                <a:solidFill>
                  <a:srgbClr val="8A6D1E"/>
                </a:solidFill>
                <a:latin typeface="Calibri" pitchFamily="34" charset="0"/>
                <a:ea typeface="Calibri" pitchFamily="34" charset="-122"/>
                <a:cs typeface="Calibri" pitchFamily="34" charset="-120"/>
              </a:rPr>
              <a:t> = river · </a:t>
            </a:r>
            <a:pPr algn="l" indent="0" marL="0">
              <a:buNone/>
            </a:pPr>
            <a:r>
              <a:rPr lang="ar-SA" altLang="en-US" sz="1350" dirty="0">
                <a:solidFill>
                  <a:srgbClr val="8A6D1E"/>
                </a:solidFill>
                <a:latin typeface="Amiri" pitchFamily="34" charset="0"/>
                <a:ea typeface="Amiri" pitchFamily="34" charset="-122"/>
                <a:cs typeface="Amiri" pitchFamily="34" charset="-120"/>
              </a:rPr>
              <a:t>بَحْرٌ</a:t>
            </a:r>
            <a:pPr algn="l" indent="0" marL="0">
              <a:buNone/>
            </a:pPr>
            <a:r>
              <a:rPr lang="en-US" sz="1050" i="1" dirty="0">
                <a:solidFill>
                  <a:srgbClr val="8A6D1E"/>
                </a:solidFill>
                <a:latin typeface="Calibri" pitchFamily="34" charset="0"/>
                <a:ea typeface="Calibri" pitchFamily="34" charset="-122"/>
                <a:cs typeface="Calibri" pitchFamily="34" charset="-120"/>
              </a:rPr>
              <a:t> = sea.</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“desert”?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صَحْرَاءُ</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غَابَةٌ</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حَيَوَانٌ</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صَحْرَاءُ</a:t>
            </a:r>
            <a:pPr algn="l" indent="0" marL="0">
              <a:buNone/>
            </a:pPr>
            <a:r>
              <a:rPr lang="en-US" sz="1050" i="1" dirty="0">
                <a:solidFill>
                  <a:srgbClr val="8A6D1E"/>
                </a:solidFill>
                <a:latin typeface="Calibri" pitchFamily="34" charset="0"/>
                <a:ea typeface="Calibri" pitchFamily="34" charset="-122"/>
                <a:cs typeface="Calibri" pitchFamily="34" charset="-120"/>
              </a:rPr>
              <a:t> = desert · </a:t>
            </a:r>
            <a:pPr algn="l" indent="0" marL="0">
              <a:buNone/>
            </a:pPr>
            <a:r>
              <a:rPr lang="ar-SA" altLang="en-US" sz="1350" dirty="0">
                <a:solidFill>
                  <a:srgbClr val="8A6D1E"/>
                </a:solidFill>
                <a:latin typeface="Amiri" pitchFamily="34" charset="0"/>
                <a:ea typeface="Amiri" pitchFamily="34" charset="-122"/>
                <a:cs typeface="Amiri" pitchFamily="34" charset="-120"/>
              </a:rPr>
              <a:t>غَابَةٌ</a:t>
            </a:r>
            <a:pPr algn="l" indent="0" marL="0">
              <a:buNone/>
            </a:pPr>
            <a:r>
              <a:rPr lang="en-US" sz="1050" i="1" dirty="0">
                <a:solidFill>
                  <a:srgbClr val="8A6D1E"/>
                </a:solidFill>
                <a:latin typeface="Calibri" pitchFamily="34" charset="0"/>
                <a:ea typeface="Calibri" pitchFamily="34" charset="-122"/>
                <a:cs typeface="Calibri" pitchFamily="34" charset="-120"/>
              </a:rPr>
              <a:t> = forest · </a:t>
            </a:r>
            <a:pPr algn="l" indent="0" marL="0">
              <a:buNone/>
            </a:pPr>
            <a:r>
              <a:rPr lang="ar-SA" altLang="en-US" sz="1350" dirty="0">
                <a:solidFill>
                  <a:srgbClr val="8A6D1E"/>
                </a:solidFill>
                <a:latin typeface="Amiri" pitchFamily="34" charset="0"/>
                <a:ea typeface="Amiri" pitchFamily="34" charset="-122"/>
                <a:cs typeface="Amiri" pitchFamily="34" charset="-120"/>
              </a:rPr>
              <a:t>حَيَوَانٌ</a:t>
            </a:r>
            <a:pPr algn="l" indent="0" marL="0">
              <a:buNone/>
            </a:pPr>
            <a:r>
              <a:rPr lang="en-US" sz="1050" i="1" dirty="0">
                <a:solidFill>
                  <a:srgbClr val="8A6D1E"/>
                </a:solidFill>
                <a:latin typeface="Calibri" pitchFamily="34" charset="0"/>
                <a:ea typeface="Calibri" pitchFamily="34" charset="-122"/>
                <a:cs typeface="Calibri" pitchFamily="34" charset="-120"/>
              </a:rPr>
              <a:t> = animal.</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nationality.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مِصْرِيُّونَ</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مِصْرِيَّةٌ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TC-L01: </a:t>
            </a:r>
            <a:pPr algn="l" indent="0" marL="0">
              <a:buNone/>
            </a:pPr>
            <a:r>
              <a:rPr lang="ar-SA" altLang="en-US" sz="1350" dirty="0">
                <a:solidFill>
                  <a:srgbClr val="8A6D1E"/>
                </a:solidFill>
                <a:latin typeface="Amiri" pitchFamily="34" charset="0"/>
                <a:ea typeface="Amiri" pitchFamily="34" charset="-122"/>
                <a:cs typeface="Amiri" pitchFamily="34" charset="-120"/>
              </a:rPr>
              <a:t>ـِيَّةٌ</a:t>
            </a:r>
            <a:pPr algn="l" indent="0" marL="0">
              <a:buNone/>
            </a:pPr>
            <a:r>
              <a:rPr lang="en-US" sz="1050" i="1" dirty="0">
                <a:solidFill>
                  <a:srgbClr val="8A6D1E"/>
                </a:solidFill>
                <a:latin typeface="Calibri" pitchFamily="34" charset="0"/>
                <a:ea typeface="Calibri" pitchFamily="34" charset="-122"/>
                <a:cs typeface="Calibri" pitchFamily="34" charset="-120"/>
              </a:rPr>
              <a:t> = she ·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 he · </a:t>
            </a:r>
            <a:pPr algn="l" indent="0" marL="0">
              <a:buNone/>
            </a:pPr>
            <a:r>
              <a:rPr lang="ar-SA" altLang="en-US" sz="1350" dirty="0">
                <a:solidFill>
                  <a:srgbClr val="8A6D1E"/>
                </a:solidFill>
                <a:latin typeface="Amiri" pitchFamily="34" charset="0"/>
                <a:ea typeface="Amiri" pitchFamily="34" charset="-122"/>
                <a:cs typeface="Amiri" pitchFamily="34" charset="-120"/>
              </a:rPr>
              <a:t>ـِيُّونَ</a:t>
            </a:r>
            <a:pPr algn="l" indent="0" marL="0">
              <a:buNone/>
            </a:pPr>
            <a:r>
              <a:rPr lang="en-US" sz="1050" i="1" dirty="0">
                <a:solidFill>
                  <a:srgbClr val="8A6D1E"/>
                </a:solidFill>
                <a:latin typeface="Calibri" pitchFamily="34" charset="0"/>
                <a:ea typeface="Calibri" pitchFamily="34" charset="-122"/>
                <a:cs typeface="Calibri" pitchFamily="34" charset="-120"/>
              </a:rPr>
              <a:t> = they.</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does this mean?</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المَغْرِبُ فِي شَمَالِ أَفْرِيقِيَا.</a:t>
            </a:r>
            <a:endParaRPr lang="ar-SA" sz="13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Morocco is west of Africa.</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Morocco is in Asia.</a:t>
            </a:r>
            <a:endParaRPr lang="en-US" sz="125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Morocco is in the north of Africa.</a:t>
            </a:r>
            <a:endParaRPr lang="en-US" sz="125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 word for “is”: country +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 place.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word means “south”?</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جَنُوبٌ</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شَمَالٌ</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غَرْبٌ</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Urdu bridge: </a:t>
            </a:r>
            <a:pPr algn="l" indent="0" marL="0">
              <a:buNone/>
            </a:pPr>
            <a:r>
              <a:rPr lang="ar-SA" altLang="en-US" sz="1350" dirty="0">
                <a:solidFill>
                  <a:srgbClr val="8A6D1E"/>
                </a:solidFill>
                <a:latin typeface="Amiri" pitchFamily="34" charset="0"/>
                <a:ea typeface="Amiri" pitchFamily="34" charset="-122"/>
                <a:cs typeface="Amiri" pitchFamily="34" charset="-120"/>
              </a:rPr>
              <a:t>جنوب</a:t>
            </a:r>
            <a:pPr algn="l" indent="0" marL="0">
              <a:buNone/>
            </a:pPr>
            <a:r>
              <a:rPr lang="en-US" sz="1050" i="1" dirty="0">
                <a:solidFill>
                  <a:srgbClr val="8A6D1E"/>
                </a:solidFill>
                <a:latin typeface="Calibri" pitchFamily="34" charset="0"/>
                <a:ea typeface="Calibri" pitchFamily="34" charset="-122"/>
                <a:cs typeface="Calibri" pitchFamily="34" charset="-120"/>
              </a:rPr>
              <a:t> junūb = south.</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same ending </a:t>
            </a:r>
            <a:pPr algn="l" indent="0" marL="0">
              <a:buNone/>
            </a:pPr>
            <a:r>
              <a:rPr lang="ar-SA" altLang="en-US" sz="1700" b="1" dirty="0">
                <a:solidFill>
                  <a:srgbClr val="1F2A37"/>
                </a:solidFill>
                <a:latin typeface="Amiri" pitchFamily="34" charset="0"/>
                <a:ea typeface="Amiri" pitchFamily="34" charset="-122"/>
                <a:cs typeface="Amiri" pitchFamily="34" charset="-120"/>
              </a:rPr>
              <a:t>ـِيٌّ / ـِيَّةٌ</a:t>
            </a:r>
            <a:pPr algn="l" indent="0" marL="0">
              <a:buNone/>
            </a:pPr>
            <a:r>
              <a:rPr lang="en-US" sz="1300" b="1" dirty="0">
                <a:solidFill>
                  <a:srgbClr val="1F2A37"/>
                </a:solidFill>
                <a:latin typeface="Calibri" pitchFamily="34" charset="0"/>
                <a:ea typeface="Calibri" pitchFamily="34" charset="-122"/>
                <a:cs typeface="Calibri" pitchFamily="34" charset="-120"/>
              </a:rPr>
              <a:t> makes describing words: </a:t>
            </a:r>
            <a:pPr algn="l" indent="0" marL="0">
              <a:buNone/>
            </a:pPr>
            <a:r>
              <a:rPr lang="ar-SA" altLang="en-US" sz="1700" b="1" dirty="0">
                <a:solidFill>
                  <a:srgbClr val="1F2A37"/>
                </a:solidFill>
                <a:latin typeface="Amiri" pitchFamily="34" charset="0"/>
                <a:ea typeface="Amiri" pitchFamily="34" charset="-122"/>
                <a:cs typeface="Amiri" pitchFamily="34" charset="-120"/>
              </a:rPr>
              <a:t>بِيئَة</a:t>
            </a:r>
            <a:pPr algn="l" indent="0" marL="0">
              <a:buNone/>
            </a:pPr>
            <a:r>
              <a:rPr lang="en-US" sz="1300" b="1" dirty="0">
                <a:solidFill>
                  <a:srgbClr val="1F2A37"/>
                </a:solidFill>
                <a:latin typeface="Calibri" pitchFamily="34" charset="0"/>
                <a:ea typeface="Calibri" pitchFamily="34" charset="-122"/>
                <a:cs typeface="Calibri" pitchFamily="34" charset="-120"/>
              </a:rPr>
              <a:t> (environment) → </a:t>
            </a:r>
            <a:pPr algn="l" indent="0" marL="0">
              <a:buNone/>
            </a:pPr>
            <a:r>
              <a:rPr lang="ar-SA" altLang="en-US" sz="1700" b="1" dirty="0">
                <a:solidFill>
                  <a:srgbClr val="1F2A37"/>
                </a:solidFill>
                <a:latin typeface="Amiri" pitchFamily="34" charset="0"/>
                <a:ea typeface="Amiri" pitchFamily="34" charset="-122"/>
                <a:cs typeface="Amiri" pitchFamily="34" charset="-120"/>
              </a:rPr>
              <a:t>بِيئِيٌّ</a:t>
            </a:r>
            <a:pPr algn="l" indent="0" marL="0">
              <a:buNone/>
            </a:pPr>
            <a:r>
              <a:rPr lang="en-US" sz="1300" b="1" dirty="0">
                <a:solidFill>
                  <a:srgbClr val="1F2A37"/>
                </a:solidFill>
                <a:latin typeface="Calibri" pitchFamily="34" charset="0"/>
                <a:ea typeface="Calibri" pitchFamily="34" charset="-122"/>
                <a:cs typeface="Calibri" pitchFamily="34" charset="-120"/>
              </a:rPr>
              <a:t>.</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بِيئَةٌ</a:t>
            </a:r>
            <a:pPr rtl="1" algn="ctr" indent="0" marL="0">
              <a:buNone/>
            </a:pPr>
            <a:r>
              <a:rPr lang="ar-SA" altLang="en-US" sz="2400" b="1" dirty="0">
                <a:solidFill>
                  <a:srgbClr val="1B3B6F"/>
                </a:solidFill>
                <a:latin typeface="Amiri" pitchFamily="34" charset="0"/>
                <a:ea typeface="Amiri" pitchFamily="34" charset="-122"/>
                <a:cs typeface="Amiri" pitchFamily="34" charset="-120"/>
              </a:rPr>
              <a:t>  ←  نِظَامٌ </a:t>
            </a:r>
            <a:pPr rtl="1" algn="ctr" indent="0" marL="0">
              <a:buNone/>
            </a:pPr>
            <a:r>
              <a:rPr lang="ar-SA" altLang="en-US" sz="2400" b="1" dirty="0">
                <a:solidFill>
                  <a:srgbClr val="7B3FA0"/>
                </a:solidFill>
                <a:latin typeface="Amiri" pitchFamily="34" charset="0"/>
                <a:ea typeface="Amiri" pitchFamily="34" charset="-122"/>
                <a:cs typeface="Amiri" pitchFamily="34" charset="-120"/>
              </a:rPr>
              <a:t>بِيئِ</a:t>
            </a:r>
            <a:pPr rtl="1" algn="ctr" indent="0" marL="0">
              <a:buNone/>
            </a:pPr>
            <a:r>
              <a:rPr lang="ar-SA" altLang="en-US" sz="2400" b="1" dirty="0">
                <a:solidFill>
                  <a:srgbClr val="D6336C"/>
                </a:solidFill>
                <a:latin typeface="Amiri" pitchFamily="34" charset="0"/>
                <a:ea typeface="Amiri" pitchFamily="34" charset="-122"/>
                <a:cs typeface="Amiri" pitchFamily="34" charset="-120"/>
              </a:rPr>
              <a:t>يٌّ</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2 OF 3 THIS WEEK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ecosystem and biodiversity vocabulary in scientific register.</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composition with </a:t>
            </a:r>
            <a:pPr algn="l" indent="0" marL="0">
              <a:buNone/>
            </a:pPr>
            <a:r>
              <a:rPr lang="ar-SA" altLang="en-US" sz="1700" dirty="0">
                <a:solidFill>
                  <a:srgbClr val="1F2A37"/>
                </a:solidFill>
                <a:latin typeface="Amiri" pitchFamily="34" charset="0"/>
                <a:ea typeface="Amiri" pitchFamily="34" charset="-122"/>
                <a:cs typeface="Amiri" pitchFamily="34" charset="-120"/>
              </a:rPr>
              <a:t>يَضُمُّ، يُشَكِّلُ، يَتَفَاعَلُ مَعَ</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Weigh a real threat (</a:t>
            </a:r>
            <a:pPr algn="l" indent="0" marL="0">
              <a:buNone/>
            </a:pPr>
            <a:r>
              <a:rPr lang="ar-SA" altLang="en-US" sz="1700" dirty="0">
                <a:solidFill>
                  <a:srgbClr val="1F2A37"/>
                </a:solidFill>
                <a:latin typeface="Amiri" pitchFamily="34" charset="0"/>
                <a:ea typeface="Amiri" pitchFamily="34" charset="-122"/>
                <a:cs typeface="Amiri" pitchFamily="34" charset="-120"/>
              </a:rPr>
              <a:t>إِذَا</a:t>
            </a:r>
            <a:pPr algn="l" indent="0" marL="0">
              <a:buNone/>
            </a:pPr>
            <a:r>
              <a:rPr lang="en-US" sz="1300" dirty="0">
                <a:solidFill>
                  <a:srgbClr val="1F2A37"/>
                </a:solidFill>
                <a:latin typeface="Calibri" pitchFamily="34" charset="0"/>
                <a:ea typeface="Calibri" pitchFamily="34" charset="-122"/>
                <a:cs typeface="Calibri" pitchFamily="34" charset="-120"/>
              </a:rPr>
              <a:t>) against a counterfactual (</a:t>
            </a:r>
            <a:pPr algn="l" indent="0" marL="0">
              <a:buNone/>
            </a:pPr>
            <a:r>
              <a:rPr lang="ar-SA" altLang="en-US" sz="1700" dirty="0">
                <a:solidFill>
                  <a:srgbClr val="1F2A37"/>
                </a:solidFill>
                <a:latin typeface="Amiri" pitchFamily="34" charset="0"/>
                <a:ea typeface="Amiri" pitchFamily="34" charset="-122"/>
                <a:cs typeface="Amiri" pitchFamily="34" charset="-120"/>
              </a:rPr>
              <a:t>لَوْ</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a purpose clause with </a:t>
            </a:r>
            <a:pPr algn="l" indent="0" marL="0">
              <a:buNone/>
            </a:pPr>
            <a:r>
              <a:rPr lang="ar-SA" altLang="en-US" sz="1700" dirty="0">
                <a:solidFill>
                  <a:srgbClr val="1F2A37"/>
                </a:solidFill>
                <a:latin typeface="Amiri" pitchFamily="34" charset="0"/>
                <a:ea typeface="Amiri" pitchFamily="34" charset="-122"/>
                <a:cs typeface="Amiri" pitchFamily="34" charset="-120"/>
              </a:rPr>
              <a:t>لِكَي</a:t>
            </a:r>
            <a:pPr algn="l" indent="0" marL="0">
              <a:buNone/>
            </a:pPr>
            <a:r>
              <a:rPr lang="en-US" sz="1300" dirty="0">
                <a:solidFill>
                  <a:srgbClr val="1F2A37"/>
                </a:solidFill>
                <a:latin typeface="Calibri" pitchFamily="34" charset="0"/>
                <a:ea typeface="Calibri" pitchFamily="34" charset="-122"/>
                <a:cs typeface="Calibri" pitchFamily="34" charset="-120"/>
              </a:rPr>
              <a:t> + a subjunctive verb (final fatḥa).</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6 landscapes and 6 animals, with their plurals.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make a describing word agree: </a:t>
            </a:r>
            <a:pPr algn="l" indent="0" marL="0">
              <a:buNone/>
            </a:pPr>
            <a:r>
              <a:rPr lang="ar-SA" altLang="en-US" sz="1700" b="1" dirty="0">
                <a:solidFill>
                  <a:srgbClr val="2E8B57"/>
                </a:solidFill>
                <a:latin typeface="Amiri" pitchFamily="34" charset="0"/>
                <a:ea typeface="Amiri" pitchFamily="34" charset="-122"/>
                <a:cs typeface="Amiri" pitchFamily="34" charset="-120"/>
              </a:rPr>
              <a:t>نِظَامٌ بِيئِيٌّ / غَابَةٌ اسْتِوَائِيَّةٌ</a:t>
            </a:r>
            <a:pPr algn="l" indent="0" marL="0">
              <a:buNone/>
            </a:pPr>
            <a:r>
              <a:rPr lang="en-US" sz="1300" b="1" dirty="0">
                <a:solidFill>
                  <a:srgbClr val="2E8B57"/>
                </a:solidFill>
                <a:latin typeface="Calibri" pitchFamily="34" charset="0"/>
                <a:ea typeface="Calibri" pitchFamily="34" charset="-122"/>
                <a:cs typeface="Calibri" pitchFamily="34" charset="-120"/>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describe an ecosystem with </a:t>
            </a:r>
            <a:pPr algn="l" indent="0" marL="0">
              <a:buNone/>
            </a:pPr>
            <a:r>
              <a:rPr lang="ar-SA" altLang="en-US" sz="1700" b="1" dirty="0">
                <a:solidFill>
                  <a:srgbClr val="C9780A"/>
                </a:solidFill>
                <a:latin typeface="Amiri" pitchFamily="34" charset="0"/>
                <a:ea typeface="Amiri" pitchFamily="34" charset="-122"/>
                <a:cs typeface="Amiri" pitchFamily="34" charset="-120"/>
              </a:rPr>
              <a:t>يَضُمُّ</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يُشَكِّلُ</a:t>
            </a:r>
            <a:pPr algn="l" indent="0" marL="0">
              <a:buNone/>
            </a:pPr>
            <a:r>
              <a:rPr lang="en-US" sz="1300" b="1" dirty="0">
                <a:solidFill>
                  <a:srgbClr val="C9780A"/>
                </a:solidFill>
                <a:latin typeface="Calibri" pitchFamily="34" charset="0"/>
                <a:ea typeface="Calibri" pitchFamily="34" charset="-122"/>
                <a:cs typeface="Calibri" pitchFamily="34" charset="-120"/>
              </a:rPr>
              <a:t> + an object.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link the parts with </a:t>
            </a:r>
            <a:pPr algn="l" indent="0" marL="0">
              <a:buNone/>
            </a:pPr>
            <a:r>
              <a:rPr lang="ar-SA" altLang="en-US" sz="1700" b="1" dirty="0">
                <a:solidFill>
                  <a:srgbClr val="C9780A"/>
                </a:solidFill>
                <a:latin typeface="Amiri" pitchFamily="34" charset="0"/>
                <a:ea typeface="Amiri" pitchFamily="34" charset="-122"/>
                <a:cs typeface="Amiri" pitchFamily="34" charset="-120"/>
              </a:rPr>
              <a:t>يَتَفَاعَلُ مَعَ</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يَعْتَمِدُ عَلَى</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t>
            </a:r>
            <a:pPr algn="l" indent="0" marL="0">
              <a:buNone/>
            </a:pPr>
            <a:r>
              <a:rPr lang="ar-SA" altLang="en-US" sz="1700" b="1" dirty="0">
                <a:solidFill>
                  <a:srgbClr val="B83227"/>
                </a:solidFill>
                <a:latin typeface="Amiri" pitchFamily="34" charset="0"/>
                <a:ea typeface="Amiri" pitchFamily="34" charset="-122"/>
                <a:cs typeface="Amiri" pitchFamily="34" charset="-120"/>
              </a:rPr>
              <a:t>إِذَا … سَـ</a:t>
            </a:r>
            <a:pPr algn="l" indent="0" marL="0">
              <a:buNone/>
            </a:pPr>
            <a:r>
              <a:rPr lang="en-US" sz="1300" b="1" dirty="0">
                <a:solidFill>
                  <a:srgbClr val="B83227"/>
                </a:solidFill>
                <a:latin typeface="Calibri" pitchFamily="34" charset="0"/>
                <a:ea typeface="Calibri" pitchFamily="34" charset="-122"/>
                <a:cs typeface="Calibri" pitchFamily="34" charset="-120"/>
              </a:rPr>
              <a:t> for a real threat and </a:t>
            </a:r>
            <a:pPr algn="l" indent="0" marL="0">
              <a:buNone/>
            </a:pPr>
            <a:r>
              <a:rPr lang="ar-SA" altLang="en-US" sz="1700" b="1" dirty="0">
                <a:solidFill>
                  <a:srgbClr val="B83227"/>
                </a:solidFill>
                <a:latin typeface="Amiri" pitchFamily="34" charset="0"/>
                <a:ea typeface="Amiri" pitchFamily="34" charset="-122"/>
                <a:cs typeface="Amiri" pitchFamily="34" charset="-120"/>
              </a:rPr>
              <a:t>لَوْ … لَـ</a:t>
            </a:r>
            <a:pPr algn="l" indent="0" marL="0">
              <a:buNone/>
            </a:pPr>
            <a:r>
              <a:rPr lang="en-US" sz="1300" b="1" dirty="0">
                <a:solidFill>
                  <a:srgbClr val="B83227"/>
                </a:solidFill>
                <a:latin typeface="Calibri" pitchFamily="34" charset="0"/>
                <a:ea typeface="Calibri" pitchFamily="34" charset="-122"/>
                <a:cs typeface="Calibri" pitchFamily="34" charset="-120"/>
              </a:rPr>
              <a:t> for a “what if”.</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t>
            </a:r>
            <a:pPr algn="l" indent="0" marL="0">
              <a:buNone/>
            </a:pPr>
            <a:r>
              <a:rPr lang="ar-SA" altLang="en-US" sz="1700" b="1" dirty="0">
                <a:solidFill>
                  <a:srgbClr val="B83227"/>
                </a:solidFill>
                <a:latin typeface="Amiri" pitchFamily="34" charset="0"/>
                <a:ea typeface="Amiri" pitchFamily="34" charset="-122"/>
                <a:cs typeface="Amiri" pitchFamily="34" charset="-120"/>
              </a:rPr>
              <a:t>لِكَيْ</a:t>
            </a:r>
            <a:pPr algn="l" indent="0" marL="0">
              <a:buNone/>
            </a:pPr>
            <a:r>
              <a:rPr lang="en-US" sz="1300" b="1" dirty="0">
                <a:solidFill>
                  <a:srgbClr val="B83227"/>
                </a:solidFill>
                <a:latin typeface="Calibri" pitchFamily="34" charset="0"/>
                <a:ea typeface="Calibri" pitchFamily="34" charset="-122"/>
                <a:cs typeface="Calibri" pitchFamily="34" charset="-120"/>
              </a:rPr>
              <a:t> + subjunctive: </a:t>
            </a:r>
            <a:pPr algn="l" indent="0" marL="0">
              <a:buNone/>
            </a:pPr>
            <a:r>
              <a:rPr lang="ar-SA" altLang="en-US" sz="1700" b="1" dirty="0">
                <a:solidFill>
                  <a:srgbClr val="B83227"/>
                </a:solidFill>
                <a:latin typeface="Amiri" pitchFamily="34" charset="0"/>
                <a:ea typeface="Amiri" pitchFamily="34" charset="-122"/>
                <a:cs typeface="Amiri" pitchFamily="34" charset="-120"/>
              </a:rPr>
              <a:t>لِكَيْ نَحْمِيَ</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37 words from the website in 5 groups. Learn the CORE words first. Hear it → say it → see it → use it.</a:t>
            </a:r>
            <a:endParaRPr lang="en-US" sz="1600" dirty="0"/>
          </a:p>
        </p:txBody>
      </p:sp>
      <p:sp>
        <p:nvSpPr>
          <p:cNvPr id="8" name="Shape 6"/>
          <p:cNvSpPr/>
          <p:nvPr/>
        </p:nvSpPr>
        <p:spPr>
          <a:xfrm>
            <a:off x="457200" y="4572000"/>
            <a:ext cx="14630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Landscapes · 12</a:t>
            </a:r>
            <a:endParaRPr lang="en-US" sz="900" dirty="0"/>
          </a:p>
        </p:txBody>
      </p:sp>
      <p:sp>
        <p:nvSpPr>
          <p:cNvPr id="10" name="Shape 8"/>
          <p:cNvSpPr/>
          <p:nvPr/>
        </p:nvSpPr>
        <p:spPr>
          <a:xfrm>
            <a:off x="2057400" y="4572000"/>
            <a:ext cx="14630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1945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Animals · 6</a:t>
            </a:r>
            <a:endParaRPr lang="en-US" sz="900" dirty="0"/>
          </a:p>
        </p:txBody>
      </p:sp>
      <p:sp>
        <p:nvSpPr>
          <p:cNvPr id="12" name="Shape 10"/>
          <p:cNvSpPr/>
          <p:nvPr/>
        </p:nvSpPr>
        <p:spPr>
          <a:xfrm>
            <a:off x="3657600" y="4572000"/>
            <a:ext cx="14630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37947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Ecosystems · 7</a:t>
            </a:r>
            <a:endParaRPr lang="en-US" sz="900" dirty="0"/>
          </a:p>
        </p:txBody>
      </p:sp>
      <p:sp>
        <p:nvSpPr>
          <p:cNvPr id="14" name="Shape 12"/>
          <p:cNvSpPr/>
          <p:nvPr/>
        </p:nvSpPr>
        <p:spPr>
          <a:xfrm>
            <a:off x="5257800" y="4572000"/>
            <a:ext cx="146304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53949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Describing verbs · 6</a:t>
            </a:r>
            <a:endParaRPr lang="en-US" sz="900" dirty="0"/>
          </a:p>
        </p:txBody>
      </p:sp>
      <p:sp>
        <p:nvSpPr>
          <p:cNvPr id="16" name="Shape 14"/>
          <p:cNvSpPr/>
          <p:nvPr/>
        </p:nvSpPr>
        <p:spPr>
          <a:xfrm>
            <a:off x="6858000" y="4572000"/>
            <a:ext cx="1463040" cy="960120"/>
          </a:xfrm>
          <a:prstGeom prst="roundRect">
            <a:avLst>
              <a:gd name="adj" fmla="val 7619"/>
            </a:avLst>
          </a:prstGeom>
          <a:solidFill>
            <a:srgbClr val="0D1F3C"/>
          </a:solidFill>
          <a:ln w="12700">
            <a:solidFill>
              <a:srgbClr val="7E92B4"/>
            </a:solidFill>
            <a:prstDash val="dash"/>
          </a:ln>
        </p:spPr>
      </p:sp>
      <p:sp>
        <p:nvSpPr>
          <p:cNvPr id="17" name="Text 15"/>
          <p:cNvSpPr txBox="1"/>
          <p:nvPr/>
        </p:nvSpPr>
        <p:spPr>
          <a:xfrm>
            <a:off x="6995160" y="4617720"/>
            <a:ext cx="11887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5 · FLEX</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Protection · 6</a:t>
            </a:r>
            <a:endParaRPr lang="en-US" sz="900" dirty="0"/>
          </a:p>
        </p:txBody>
      </p:sp>
      <p:sp>
        <p:nvSpPr>
          <p:cNvPr id="18" name="Shape 16"/>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9" name="Text 17"/>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20" name="Text 18"/>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صَحْرَاءُ</a:t>
            </a:r>
            <a:endParaRPr lang="ar-SA" sz="1900" dirty="0"/>
          </a:p>
        </p:txBody>
      </p:sp>
      <p:sp>
        <p:nvSpPr>
          <p:cNvPr id="21" name="Text 19"/>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‎صحرا‎ </a:t>
            </a:r>
            <a:pPr indent="0" marL="0">
              <a:buNone/>
            </a:pPr>
            <a:r>
              <a:rPr lang="en-US" sz="950" b="1" dirty="0">
                <a:solidFill>
                  <a:srgbClr val="2E8B57"/>
                </a:solidFill>
                <a:latin typeface="Calibri" pitchFamily="34" charset="0"/>
                <a:ea typeface="Calibri" pitchFamily="34" charset="-122"/>
                <a:cs typeface="Calibri" pitchFamily="34" charset="-120"/>
              </a:rPr>
              <a:t> ṣaḥrā · desert</a:t>
            </a:r>
            <a:endParaRPr lang="en-US" sz="1400" dirty="0"/>
          </a:p>
        </p:txBody>
      </p:sp>
      <p:sp>
        <p:nvSpPr>
          <p:cNvPr id="22" name="Text 20"/>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جَزِيرَةٌ</a:t>
            </a:r>
            <a:endParaRPr lang="ar-SA" sz="1900" dirty="0"/>
          </a:p>
        </p:txBody>
      </p:sp>
      <p:sp>
        <p:nvSpPr>
          <p:cNvPr id="23" name="Text 21"/>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‎جزیرہ‎ </a:t>
            </a:r>
            <a:pPr indent="0" marL="0">
              <a:buNone/>
            </a:pPr>
            <a:r>
              <a:rPr lang="en-US" sz="950" b="1" dirty="0">
                <a:solidFill>
                  <a:srgbClr val="2E8B57"/>
                </a:solidFill>
                <a:latin typeface="Calibri" pitchFamily="34" charset="0"/>
                <a:ea typeface="Calibri" pitchFamily="34" charset="-122"/>
                <a:cs typeface="Calibri" pitchFamily="34" charset="-120"/>
              </a:rPr>
              <a:t> jazīra · island</a:t>
            </a:r>
            <a:endParaRPr lang="en-US" sz="1400" dirty="0"/>
          </a:p>
        </p:txBody>
      </p:sp>
      <p:sp>
        <p:nvSpPr>
          <p:cNvPr id="24" name="Text 22"/>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حَيَوَانٌ</a:t>
            </a:r>
            <a:endParaRPr lang="ar-SA" sz="1900" dirty="0"/>
          </a:p>
        </p:txBody>
      </p:sp>
      <p:sp>
        <p:nvSpPr>
          <p:cNvPr id="25" name="Text 23"/>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‎حیوان‎ </a:t>
            </a:r>
            <a:pPr indent="0" marL="0">
              <a:buNone/>
            </a:pPr>
            <a:r>
              <a:rPr lang="en-US" sz="950" b="1" dirty="0">
                <a:solidFill>
                  <a:srgbClr val="2E8B57"/>
                </a:solidFill>
                <a:latin typeface="Calibri" pitchFamily="34" charset="0"/>
                <a:ea typeface="Calibri" pitchFamily="34" charset="-122"/>
                <a:cs typeface="Calibri" pitchFamily="34" charset="-120"/>
              </a:rPr>
              <a:t> ḥaiwān · animal</a:t>
            </a:r>
            <a:endParaRPr lang="en-US" sz="1400" dirty="0"/>
          </a:p>
        </p:txBody>
      </p:sp>
      <p:sp>
        <p:nvSpPr>
          <p:cNvPr id="26" name="Text 24"/>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بَحْرٌ</a:t>
            </a:r>
            <a:endParaRPr lang="ar-SA" sz="1900" dirty="0"/>
          </a:p>
        </p:txBody>
      </p:sp>
      <p:sp>
        <p:nvSpPr>
          <p:cNvPr id="27" name="Text 25"/>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‎بحر‎ </a:t>
            </a:r>
            <a:pPr indent="0" marL="0">
              <a:buNone/>
            </a:pPr>
            <a:r>
              <a:rPr lang="en-US" sz="950" b="1" dirty="0">
                <a:solidFill>
                  <a:srgbClr val="2E8B57"/>
                </a:solidFill>
                <a:latin typeface="Calibri" pitchFamily="34" charset="0"/>
                <a:ea typeface="Calibri" pitchFamily="34" charset="-122"/>
                <a:cs typeface="Calibri" pitchFamily="34" charset="-120"/>
              </a:rPr>
              <a:t> baḥr · sea</a:t>
            </a:r>
            <a:endParaRPr lang="en-US" sz="1400" dirty="0"/>
          </a:p>
        </p:txBody>
      </p:sp>
      <p:sp>
        <p:nvSpPr>
          <p:cNvPr id="28" name="Text 26"/>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طَبِيعَةٌ</a:t>
            </a:r>
            <a:endParaRPr lang="ar-SA" sz="1900" dirty="0"/>
          </a:p>
        </p:txBody>
      </p:sp>
      <p:sp>
        <p:nvSpPr>
          <p:cNvPr id="29" name="Text 27"/>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‎طبیعت‎ </a:t>
            </a:r>
            <a:pPr indent="0" marL="0">
              <a:buNone/>
            </a:pPr>
            <a:r>
              <a:rPr lang="en-US" sz="950" b="1" dirty="0">
                <a:solidFill>
                  <a:srgbClr val="2E8B57"/>
                </a:solidFill>
                <a:latin typeface="Calibri" pitchFamily="34" charset="0"/>
                <a:ea typeface="Calibri" pitchFamily="34" charset="-122"/>
                <a:cs typeface="Calibri" pitchFamily="34" charset="-120"/>
              </a:rPr>
              <a:t> ṭabīʿat · nature</a:t>
            </a:r>
            <a:endParaRPr lang="en-US" sz="1400" dirty="0"/>
          </a:p>
        </p:txBody>
      </p:sp>
      <p:sp>
        <p:nvSpPr>
          <p:cNvPr id="31" name="Text 2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Landscapes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المَنَاظِرُ الطَّبِيعِيَّةُ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جَبَلٌ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mountain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ja-bal · pl. ji-bāl</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جَبَلٌ</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جِبَالٌ</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نَهْرٌ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river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nahr · pl. an-hār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نَهْرٌ</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أَنْهَارٌ</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بَحْرٌ</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sea</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baḥr · pl. bi-ḥār</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بَحْرٌ</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بِحَارٌ</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صَحْرَاءُ</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desert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ṣaḥ-rāʾ · pl. ṣa-ḥā-rā</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صَحْرَاءُ</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صَحَارَى</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غَابَةٌ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forest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ghā-ba · pl. ghā-bāt</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غَابَةٌ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غَابَاتٌ</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جَزِيرَةٌ</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island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ja-zī-ra · pl. ju-zur</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جَزِيرَةٌ</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4" name="Text 101"/>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جُزُرٌ</a:t>
            </a:r>
            <a:endParaRPr lang="ar-SA" sz="150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Landscapes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المَنَاظِرُ الطَّبِيعِيَّةُ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بُحَيْرَةٌ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lake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bu-ḥay-ra · pl. bu-ḥay-rāt</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بُحَيْرَةٌ</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7" name="Text 24"/>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بُحَيْرَاتٌ</a:t>
            </a:r>
            <a:endParaRPr lang="ar-SA" sz="150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1" name="Shape 28"/>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شَاطِئٌ</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beach, shore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shā-ṭiʾ · pl. sha-wā-ṭiʾ</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شَاطِئٌ</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0" name="Text 37"/>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شَوَاطِئُ</a:t>
            </a:r>
            <a:endParaRPr lang="ar-SA" sz="150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4" name="Shape 41"/>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سَاحِلٌ</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coast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sā-ḥil · pl. sa-wā-ḥil</a:t>
            </a:r>
            <a:endParaRPr lang="en-US" sz="1350" dirty="0"/>
          </a:p>
        </p:txBody>
      </p:sp>
      <p:sp>
        <p:nvSpPr>
          <p:cNvPr id="48" name="Shape 45"/>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0" name="Text 47"/>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سَاحِلٌ</a:t>
            </a:r>
            <a:endParaRPr lang="ar-SA" sz="1500" dirty="0"/>
          </a:p>
        </p:txBody>
      </p:sp>
      <p:sp>
        <p:nvSpPr>
          <p:cNvPr id="51" name="Shape 48"/>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3" name="Text 50"/>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سَوَاحِلُ</a:t>
            </a:r>
            <a:endParaRPr lang="ar-SA" sz="150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7" name="Shape 54"/>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59" name="Text 5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شَلَّالٌ</a:t>
            </a:r>
            <a:endParaRPr lang="ar-SA" sz="3000" dirty="0"/>
          </a:p>
        </p:txBody>
      </p:sp>
      <p:sp>
        <p:nvSpPr>
          <p:cNvPr id="60" name="Text 5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waterfall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shal-lāl · pl. shal-lā-lāt</a:t>
            </a:r>
            <a:endParaRPr lang="en-US" sz="1350" dirty="0"/>
          </a:p>
        </p:txBody>
      </p:sp>
      <p:sp>
        <p:nvSpPr>
          <p:cNvPr id="61" name="Shape 5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63" name="Text 6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شَلَّالٌ</a:t>
            </a:r>
            <a:endParaRPr lang="ar-SA" sz="1500" dirty="0"/>
          </a:p>
        </p:txBody>
      </p:sp>
      <p:sp>
        <p:nvSpPr>
          <p:cNvPr id="64" name="Shape 6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شَلَّالَاتٌ</a:t>
            </a:r>
            <a:endParaRPr lang="ar-SA" sz="1500" dirty="0"/>
          </a:p>
        </p:txBody>
      </p:sp>
      <p:sp>
        <p:nvSpPr>
          <p:cNvPr id="67" name="Shape 6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389120" y="4261104"/>
            <a:ext cx="310896" cy="310896"/>
          </a:xfrm>
          <a:prstGeom prst="ellipse">
            <a:avLst/>
          </a:prstGeom>
          <a:solidFill>
            <a:srgbClr val="F4F1EA"/>
          </a:solidFill>
          <a:ln w="12700">
            <a:solidFill>
              <a:srgbClr val="F4F1EA"/>
            </a:solidFill>
            <a:prstDash val="solid"/>
          </a:ln>
        </p:spPr>
      </p:sp>
      <p:sp>
        <p:nvSpPr>
          <p:cNvPr id="69" name="Text 6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0" name="Shape 67"/>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1" name="Text 68"/>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72" name="Text 6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بُرْكَانٌ</a:t>
            </a:r>
            <a:endParaRPr lang="ar-SA" sz="3000" dirty="0"/>
          </a:p>
        </p:txBody>
      </p:sp>
      <p:sp>
        <p:nvSpPr>
          <p:cNvPr id="73" name="Text 7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volcano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bur-kān · pl. ba-rā-kīn</a:t>
            </a:r>
            <a:endParaRPr lang="en-US" sz="1350" dirty="0"/>
          </a:p>
        </p:txBody>
      </p:sp>
      <p:sp>
        <p:nvSpPr>
          <p:cNvPr id="74" name="Shape 7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6" name="Text 7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بُرْكَانٌ</a:t>
            </a:r>
            <a:endParaRPr lang="ar-SA" sz="1500" dirty="0"/>
          </a:p>
        </p:txBody>
      </p:sp>
      <p:sp>
        <p:nvSpPr>
          <p:cNvPr id="77" name="Shape 7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8" name="Text 7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9" name="Text 7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بَرَاكِينُ</a:t>
            </a:r>
            <a:endParaRPr lang="ar-SA" sz="1500" dirty="0"/>
          </a:p>
        </p:txBody>
      </p:sp>
      <p:sp>
        <p:nvSpPr>
          <p:cNvPr id="80" name="Shape 7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566928" y="4261104"/>
            <a:ext cx="310896" cy="310896"/>
          </a:xfrm>
          <a:prstGeom prst="ellipse">
            <a:avLst/>
          </a:prstGeom>
          <a:solidFill>
            <a:srgbClr val="F4F1EA"/>
          </a:solidFill>
          <a:ln w="12700">
            <a:solidFill>
              <a:srgbClr val="F4F1EA"/>
            </a:solidFill>
            <a:prstDash val="solid"/>
          </a:ln>
        </p:spPr>
      </p:sp>
      <p:sp>
        <p:nvSpPr>
          <p:cNvPr id="82" name="Text 7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3" name="Shape 80"/>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84" name="Text 81"/>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f.</a:t>
            </a:r>
            <a:endParaRPr lang="en-US" sz="800" dirty="0"/>
          </a:p>
        </p:txBody>
      </p:sp>
      <p:sp>
        <p:nvSpPr>
          <p:cNvPr id="85" name="Text 8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هَضْبَةٌ</a:t>
            </a:r>
            <a:endParaRPr lang="ar-SA" sz="3000" dirty="0"/>
          </a:p>
        </p:txBody>
      </p:sp>
      <p:sp>
        <p:nvSpPr>
          <p:cNvPr id="86" name="Text 8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plateau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haḍ-ba · pl. hi-ḍāb</a:t>
            </a:r>
            <a:endParaRPr lang="en-US" sz="1350" dirty="0"/>
          </a:p>
        </p:txBody>
      </p:sp>
      <p:sp>
        <p:nvSpPr>
          <p:cNvPr id="87" name="Shape 8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9" name="Text 8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هَضْبَةٌ</a:t>
            </a:r>
            <a:endParaRPr lang="ar-SA" sz="1500" dirty="0"/>
          </a:p>
        </p:txBody>
      </p:sp>
      <p:sp>
        <p:nvSpPr>
          <p:cNvPr id="90" name="Shape 8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1" name="Text 8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2" name="Text 8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هِضَابٌ</a:t>
            </a:r>
            <a:endParaRPr lang="ar-SA" sz="150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Animals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الحَيَوَانَاتُ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حَيَوَانٌ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animal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ḥa-ya-wān · pl. ḥa-ya-wā-nāt</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حَيَوَانٌ</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حَيَوَانَاتٌ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833933"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سَمَكٌ</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sa-mak · pl. as-māk</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سَمَكٌ</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أَسْمَاكٌ</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جَمَلٌ</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camel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ja-mal · pl. ji-māl</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جَمَلٌ</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جِمَالٌ</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833933"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أَسَدٌ</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a-sad · pl. u-sūd</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أَسَدٌ</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أُسُودٌ</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فِيلٌ</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elephant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fīl · pl. fi-ya-la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فِيلٌ</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فِيَلَةٌ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1" name="Shape 88"/>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m.</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قِرْدٌ</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monkey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qird · pl. qu-rūd</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sg.</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قِرْدٌ</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قُرُودٌ</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WEBSITE P4-L01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Ecosystems: a noun + a describing word</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الأَنْظِمَةُ البِيئِيَّةُ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Phrase (website)</a:t>
            </a:r>
            <a:endParaRPr lang="en-US" sz="1100" dirty="0"/>
          </a:p>
        </p:txBody>
      </p:sp>
      <p:sp>
        <p:nvSpPr>
          <p:cNvPr id="17" name="Text 14"/>
          <p:cNvSpPr txBox="1"/>
          <p:nvPr/>
        </p:nvSpPr>
        <p:spPr>
          <a:xfrm>
            <a:off x="503834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English</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 describing word comes from…</a:t>
            </a:r>
            <a:endParaRPr lang="en-US" sz="1100" dirty="0"/>
          </a:p>
        </p:txBody>
      </p:sp>
      <p:sp>
        <p:nvSpPr>
          <p:cNvPr id="19" name="Shape 16"/>
          <p:cNvSpPr/>
          <p:nvPr/>
        </p:nvSpPr>
        <p:spPr>
          <a:xfrm>
            <a:off x="457200" y="2267712"/>
            <a:ext cx="11274552" cy="530352"/>
          </a:xfrm>
          <a:prstGeom prst="roundRect">
            <a:avLst>
              <a:gd name="adj" fmla="val 8621"/>
            </a:avLst>
          </a:prstGeom>
          <a:solidFill>
            <a:srgbClr val="FFFFFF"/>
          </a:solidFill>
          <a:ln w="9525">
            <a:solidFill>
              <a:srgbClr val="D8D0BF"/>
            </a:solidFill>
            <a:prstDash val="solid"/>
          </a:ln>
        </p:spPr>
      </p:sp>
      <p:sp>
        <p:nvSpPr>
          <p:cNvPr id="20" name="Text 17"/>
          <p:cNvSpPr txBox="1"/>
          <p:nvPr/>
        </p:nvSpPr>
        <p:spPr>
          <a:xfrm>
            <a:off x="7982712" y="2286000"/>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نِظَامٌ</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بِيئِ</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21" name="Text 18"/>
          <p:cNvSpPr txBox="1"/>
          <p:nvPr/>
        </p:nvSpPr>
        <p:spPr>
          <a:xfrm>
            <a:off x="7936992" y="2585923"/>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ni-ẓām bī-ʾiyy</a:t>
            </a:r>
            <a:endParaRPr lang="en-US" sz="950" dirty="0"/>
          </a:p>
        </p:txBody>
      </p:sp>
      <p:sp>
        <p:nvSpPr>
          <p:cNvPr id="22" name="Text 19"/>
          <p:cNvSpPr txBox="1"/>
          <p:nvPr/>
        </p:nvSpPr>
        <p:spPr>
          <a:xfrm>
            <a:off x="5074920" y="226771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an ecosystem</a:t>
            </a:r>
            <a:endParaRPr lang="en-US" sz="1100" dirty="0"/>
          </a:p>
        </p:txBody>
      </p:sp>
      <p:sp>
        <p:nvSpPr>
          <p:cNvPr id="23" name="Text 20"/>
          <p:cNvSpPr txBox="1"/>
          <p:nvPr/>
        </p:nvSpPr>
        <p:spPr>
          <a:xfrm>
            <a:off x="566928" y="2267712"/>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بِيئَة</a:t>
            </a:r>
            <a:pPr algn="l" indent="0" marL="0">
              <a:buNone/>
            </a:pPr>
            <a:r>
              <a:rPr lang="en-US" sz="1100" i="1" dirty="0">
                <a:solidFill>
                  <a:srgbClr val="5A6472"/>
                </a:solidFill>
                <a:latin typeface="Calibri" pitchFamily="34" charset="0"/>
                <a:ea typeface="Calibri" pitchFamily="34" charset="-122"/>
                <a:cs typeface="Calibri" pitchFamily="34" charset="-120"/>
              </a:rPr>
              <a:t> (environment) → </a:t>
            </a:r>
            <a:pPr algn="l" indent="0" marL="0">
              <a:buNone/>
            </a:pPr>
            <a:r>
              <a:rPr lang="ar-SA" altLang="en-US" sz="1450" dirty="0">
                <a:solidFill>
                  <a:srgbClr val="5A6472"/>
                </a:solidFill>
                <a:latin typeface="Amiri" pitchFamily="34" charset="0"/>
                <a:ea typeface="Amiri" pitchFamily="34" charset="-122"/>
                <a:cs typeface="Amiri" pitchFamily="34" charset="-120"/>
              </a:rPr>
              <a:t>بِيئِيٌّ</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2852928"/>
            <a:ext cx="11274552" cy="530352"/>
          </a:xfrm>
          <a:prstGeom prst="roundRect">
            <a:avLst>
              <a:gd name="adj" fmla="val 8621"/>
            </a:avLst>
          </a:prstGeom>
          <a:solidFill>
            <a:srgbClr val="F4F1EA"/>
          </a:solidFill>
          <a:ln w="9525">
            <a:solidFill>
              <a:srgbClr val="D8D0BF"/>
            </a:solidFill>
            <a:prstDash val="solid"/>
          </a:ln>
        </p:spPr>
      </p:sp>
      <p:sp>
        <p:nvSpPr>
          <p:cNvPr id="27" name="Text 24"/>
          <p:cNvSpPr txBox="1"/>
          <p:nvPr/>
        </p:nvSpPr>
        <p:spPr>
          <a:xfrm>
            <a:off x="7982712" y="2871216"/>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تَنَوُّعٌ</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حَيَوِ</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28" name="Text 25"/>
          <p:cNvSpPr txBox="1"/>
          <p:nvPr/>
        </p:nvSpPr>
        <p:spPr>
          <a:xfrm>
            <a:off x="7936992" y="3171139"/>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ta-na-wwuʿ ḥa-ya-wiyy</a:t>
            </a:r>
            <a:endParaRPr lang="en-US" sz="950" dirty="0"/>
          </a:p>
        </p:txBody>
      </p:sp>
      <p:sp>
        <p:nvSpPr>
          <p:cNvPr id="29" name="Text 26"/>
          <p:cNvSpPr txBox="1"/>
          <p:nvPr/>
        </p:nvSpPr>
        <p:spPr>
          <a:xfrm>
            <a:off x="5074920" y="285292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biodiversity</a:t>
            </a:r>
            <a:endParaRPr lang="en-US" sz="1100" dirty="0"/>
          </a:p>
        </p:txBody>
      </p:sp>
      <p:sp>
        <p:nvSpPr>
          <p:cNvPr id="30" name="Text 27"/>
          <p:cNvSpPr txBox="1"/>
          <p:nvPr/>
        </p:nvSpPr>
        <p:spPr>
          <a:xfrm>
            <a:off x="566928" y="2852928"/>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حَيَاة</a:t>
            </a:r>
            <a:pPr algn="l" indent="0" marL="0">
              <a:buNone/>
            </a:pPr>
            <a:r>
              <a:rPr lang="en-US" sz="1100" i="1" dirty="0">
                <a:solidFill>
                  <a:srgbClr val="5A6472"/>
                </a:solidFill>
                <a:latin typeface="Calibri" pitchFamily="34" charset="0"/>
                <a:ea typeface="Calibri" pitchFamily="34" charset="-122"/>
                <a:cs typeface="Calibri" pitchFamily="34" charset="-120"/>
              </a:rPr>
              <a:t> (life) → </a:t>
            </a:r>
            <a:pPr algn="l" indent="0" marL="0">
              <a:buNone/>
            </a:pPr>
            <a:r>
              <a:rPr lang="ar-SA" altLang="en-US" sz="1450" dirty="0">
                <a:solidFill>
                  <a:srgbClr val="5A6472"/>
                </a:solidFill>
                <a:latin typeface="Amiri" pitchFamily="34" charset="0"/>
                <a:ea typeface="Amiri" pitchFamily="34" charset="-122"/>
                <a:cs typeface="Amiri" pitchFamily="34" charset="-120"/>
              </a:rPr>
              <a:t>حَيَوِيٌّ</a:t>
            </a:r>
            <a:endParaRPr lang="en-US" sz="1100" dirty="0"/>
          </a:p>
        </p:txBody>
      </p:sp>
      <p:sp>
        <p:nvSpPr>
          <p:cNvPr id="31" name="Shape 28"/>
          <p:cNvSpPr/>
          <p:nvPr/>
        </p:nvSpPr>
        <p:spPr>
          <a:xfrm>
            <a:off x="457200" y="3438144"/>
            <a:ext cx="11274552" cy="530352"/>
          </a:xfrm>
          <a:prstGeom prst="roundRect">
            <a:avLst>
              <a:gd name="adj" fmla="val 8621"/>
            </a:avLst>
          </a:prstGeom>
          <a:solidFill>
            <a:srgbClr val="FFFFFF"/>
          </a:solidFill>
          <a:ln w="9525">
            <a:solidFill>
              <a:srgbClr val="D8D0BF"/>
            </a:solidFill>
            <a:prstDash val="solid"/>
          </a:ln>
        </p:spPr>
      </p:sp>
      <p:sp>
        <p:nvSpPr>
          <p:cNvPr id="32" name="Text 29"/>
          <p:cNvSpPr txBox="1"/>
          <p:nvPr/>
        </p:nvSpPr>
        <p:spPr>
          <a:xfrm>
            <a:off x="7982712" y="3456432"/>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سِلْسِلَةٌ</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غِذَائِ</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33" name="Text 30"/>
          <p:cNvSpPr txBox="1"/>
          <p:nvPr/>
        </p:nvSpPr>
        <p:spPr>
          <a:xfrm>
            <a:off x="7936992" y="3756355"/>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sil-si-la ghi-dhā-ʾiy-ya</a:t>
            </a:r>
            <a:endParaRPr lang="en-US" sz="950" dirty="0"/>
          </a:p>
        </p:txBody>
      </p:sp>
      <p:sp>
        <p:nvSpPr>
          <p:cNvPr id="34" name="Text 31"/>
          <p:cNvSpPr txBox="1"/>
          <p:nvPr/>
        </p:nvSpPr>
        <p:spPr>
          <a:xfrm>
            <a:off x="5074920" y="3438144"/>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food chain</a:t>
            </a:r>
            <a:endParaRPr lang="en-US" sz="1100" dirty="0"/>
          </a:p>
        </p:txBody>
      </p:sp>
      <p:sp>
        <p:nvSpPr>
          <p:cNvPr id="35" name="Text 32"/>
          <p:cNvSpPr txBox="1"/>
          <p:nvPr/>
        </p:nvSpPr>
        <p:spPr>
          <a:xfrm>
            <a:off x="566928" y="3438144"/>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غِذَاء</a:t>
            </a:r>
            <a:pPr algn="l" indent="0" marL="0">
              <a:buNone/>
            </a:pPr>
            <a:r>
              <a:rPr lang="en-US" sz="1100" i="1" dirty="0">
                <a:solidFill>
                  <a:srgbClr val="5A6472"/>
                </a:solidFill>
                <a:latin typeface="Calibri" pitchFamily="34" charset="0"/>
                <a:ea typeface="Calibri" pitchFamily="34" charset="-122"/>
                <a:cs typeface="Calibri" pitchFamily="34" charset="-120"/>
              </a:rPr>
              <a:t> (food) → </a:t>
            </a:r>
            <a:pPr algn="l" indent="0" marL="0">
              <a:buNone/>
            </a:pPr>
            <a:r>
              <a:rPr lang="ar-SA" altLang="en-US" sz="1450" dirty="0">
                <a:solidFill>
                  <a:srgbClr val="5A6472"/>
                </a:solidFill>
                <a:latin typeface="Amiri" pitchFamily="34" charset="0"/>
                <a:ea typeface="Amiri" pitchFamily="34" charset="-122"/>
                <a:cs typeface="Amiri" pitchFamily="34" charset="-120"/>
              </a:rPr>
              <a:t>غِذَائِيَّةٌ</a:t>
            </a:r>
            <a:pPr algn="l" indent="0" marL="0">
              <a:buNone/>
            </a:pPr>
            <a:r>
              <a:rPr lang="en-US" sz="1100" i="1" dirty="0">
                <a:solidFill>
                  <a:srgbClr val="5A6472"/>
                </a:solidFill>
                <a:latin typeface="Calibri" pitchFamily="34" charset="0"/>
                <a:ea typeface="Calibri" pitchFamily="34" charset="-122"/>
                <a:cs typeface="Calibri" pitchFamily="34" charset="-120"/>
              </a:rPr>
              <a:t> — f. noun</a:t>
            </a:r>
            <a:endParaRPr lang="en-US" sz="1100" dirty="0"/>
          </a:p>
        </p:txBody>
      </p:sp>
      <p:sp>
        <p:nvSpPr>
          <p:cNvPr id="36" name="Shape 33"/>
          <p:cNvSpPr/>
          <p:nvPr/>
        </p:nvSpPr>
        <p:spPr>
          <a:xfrm>
            <a:off x="457200" y="4023360"/>
            <a:ext cx="11274552" cy="530352"/>
          </a:xfrm>
          <a:prstGeom prst="roundRect">
            <a:avLst>
              <a:gd name="adj" fmla="val 8621"/>
            </a:avLst>
          </a:prstGeom>
          <a:solidFill>
            <a:srgbClr val="F4F1EA"/>
          </a:solidFill>
          <a:ln w="9525">
            <a:solidFill>
              <a:srgbClr val="D8D0BF"/>
            </a:solidFill>
            <a:prstDash val="solid"/>
          </a:ln>
        </p:spPr>
      </p:sp>
      <p:sp>
        <p:nvSpPr>
          <p:cNvPr id="37" name="Text 34"/>
          <p:cNvSpPr txBox="1"/>
          <p:nvPr/>
        </p:nvSpPr>
        <p:spPr>
          <a:xfrm>
            <a:off x="7982712" y="4041648"/>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مَوْطِنٌ</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طَبِيعِ</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38" name="Text 35"/>
          <p:cNvSpPr txBox="1"/>
          <p:nvPr/>
        </p:nvSpPr>
        <p:spPr>
          <a:xfrm>
            <a:off x="7936992" y="4341571"/>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maw-ṭin ṭa-bī-ʿiyy</a:t>
            </a:r>
            <a:endParaRPr lang="en-US" sz="950" dirty="0"/>
          </a:p>
        </p:txBody>
      </p:sp>
      <p:sp>
        <p:nvSpPr>
          <p:cNvPr id="39" name="Text 36"/>
          <p:cNvSpPr txBox="1"/>
          <p:nvPr/>
        </p:nvSpPr>
        <p:spPr>
          <a:xfrm>
            <a:off x="5074920" y="4023360"/>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natural habitat</a:t>
            </a:r>
            <a:endParaRPr lang="en-US" sz="1100" dirty="0"/>
          </a:p>
        </p:txBody>
      </p:sp>
      <p:sp>
        <p:nvSpPr>
          <p:cNvPr id="40" name="Text 37"/>
          <p:cNvSpPr txBox="1"/>
          <p:nvPr/>
        </p:nvSpPr>
        <p:spPr>
          <a:xfrm>
            <a:off x="566928" y="4023360"/>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طَبِيعَة</a:t>
            </a:r>
            <a:pPr algn="l" indent="0" marL="0">
              <a:buNone/>
            </a:pPr>
            <a:r>
              <a:rPr lang="en-US" sz="1100" i="1" dirty="0">
                <a:solidFill>
                  <a:srgbClr val="5A6472"/>
                </a:solidFill>
                <a:latin typeface="Calibri" pitchFamily="34" charset="0"/>
                <a:ea typeface="Calibri" pitchFamily="34" charset="-122"/>
                <a:cs typeface="Calibri" pitchFamily="34" charset="-120"/>
              </a:rPr>
              <a:t> (nature) → </a:t>
            </a:r>
            <a:pPr algn="l" indent="0" marL="0">
              <a:buNone/>
            </a:pPr>
            <a:r>
              <a:rPr lang="ar-SA" altLang="en-US" sz="1450" dirty="0">
                <a:solidFill>
                  <a:srgbClr val="5A6472"/>
                </a:solidFill>
                <a:latin typeface="Amiri" pitchFamily="34" charset="0"/>
                <a:ea typeface="Amiri" pitchFamily="34" charset="-122"/>
                <a:cs typeface="Amiri" pitchFamily="34" charset="-120"/>
              </a:rPr>
              <a:t>طَبِيعِيٌّ</a:t>
            </a:r>
            <a:endParaRPr lang="en-US" sz="1100" dirty="0"/>
          </a:p>
        </p:txBody>
      </p:sp>
      <p:sp>
        <p:nvSpPr>
          <p:cNvPr id="41" name="Shape 38"/>
          <p:cNvSpPr/>
          <p:nvPr/>
        </p:nvSpPr>
        <p:spPr>
          <a:xfrm>
            <a:off x="11091672" y="4069080"/>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06908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608576"/>
            <a:ext cx="11274552" cy="530352"/>
          </a:xfrm>
          <a:prstGeom prst="roundRect">
            <a:avLst>
              <a:gd name="adj" fmla="val 8621"/>
            </a:avLst>
          </a:prstGeom>
          <a:solidFill>
            <a:srgbClr val="FFFFFF"/>
          </a:solidFill>
          <a:ln w="9525">
            <a:solidFill>
              <a:srgbClr val="D8D0BF"/>
            </a:solidFill>
            <a:prstDash val="solid"/>
          </a:ln>
        </p:spPr>
      </p:sp>
      <p:sp>
        <p:nvSpPr>
          <p:cNvPr id="44" name="Text 41"/>
          <p:cNvSpPr txBox="1"/>
          <p:nvPr/>
        </p:nvSpPr>
        <p:spPr>
          <a:xfrm>
            <a:off x="7982712" y="4626864"/>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غَابَةٌ</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اسْتِوَائِ</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45" name="Text 42"/>
          <p:cNvSpPr txBox="1"/>
          <p:nvPr/>
        </p:nvSpPr>
        <p:spPr>
          <a:xfrm>
            <a:off x="7936992" y="4926787"/>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ghā-ba is-ti-wā-ʾiy-ya</a:t>
            </a:r>
            <a:endParaRPr lang="en-US" sz="950" dirty="0"/>
          </a:p>
        </p:txBody>
      </p:sp>
      <p:sp>
        <p:nvSpPr>
          <p:cNvPr id="46" name="Text 43"/>
          <p:cNvSpPr txBox="1"/>
          <p:nvPr/>
        </p:nvSpPr>
        <p:spPr>
          <a:xfrm>
            <a:off x="5074920" y="4608576"/>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tropical rainforest</a:t>
            </a:r>
            <a:endParaRPr lang="en-US" sz="1100" dirty="0"/>
          </a:p>
        </p:txBody>
      </p:sp>
      <p:sp>
        <p:nvSpPr>
          <p:cNvPr id="47" name="Text 44"/>
          <p:cNvSpPr txBox="1"/>
          <p:nvPr/>
        </p:nvSpPr>
        <p:spPr>
          <a:xfrm>
            <a:off x="566928" y="4608576"/>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اسْتِوَاء</a:t>
            </a:r>
            <a:pPr algn="l" indent="0" marL="0">
              <a:buNone/>
            </a:pPr>
            <a:r>
              <a:rPr lang="en-US" sz="1100" i="1" dirty="0">
                <a:solidFill>
                  <a:srgbClr val="5A6472"/>
                </a:solidFill>
                <a:latin typeface="Calibri" pitchFamily="34" charset="0"/>
                <a:ea typeface="Calibri" pitchFamily="34" charset="-122"/>
                <a:cs typeface="Calibri" pitchFamily="34" charset="-120"/>
              </a:rPr>
              <a:t> (equator) → </a:t>
            </a:r>
            <a:pPr algn="l" indent="0" marL="0">
              <a:buNone/>
            </a:pPr>
            <a:r>
              <a:rPr lang="ar-SA" altLang="en-US" sz="1450" dirty="0">
                <a:solidFill>
                  <a:srgbClr val="5A6472"/>
                </a:solidFill>
                <a:latin typeface="Amiri" pitchFamily="34" charset="0"/>
                <a:ea typeface="Amiri" pitchFamily="34" charset="-122"/>
                <a:cs typeface="Amiri" pitchFamily="34" charset="-120"/>
              </a:rPr>
              <a:t>اسْتِوَائِيَّةٌ</a:t>
            </a:r>
            <a:pPr algn="l" indent="0" marL="0">
              <a:buNone/>
            </a:pPr>
            <a:r>
              <a:rPr lang="en-US" sz="1100" i="1" dirty="0">
                <a:solidFill>
                  <a:srgbClr val="5A6472"/>
                </a:solidFill>
                <a:latin typeface="Calibri" pitchFamily="34" charset="0"/>
                <a:ea typeface="Calibri" pitchFamily="34" charset="-122"/>
                <a:cs typeface="Calibri" pitchFamily="34" charset="-120"/>
              </a:rPr>
              <a:t> — f. noun</a:t>
            </a:r>
            <a:endParaRPr lang="en-US" sz="1100" dirty="0"/>
          </a:p>
        </p:txBody>
      </p:sp>
      <p:sp>
        <p:nvSpPr>
          <p:cNvPr id="48" name="Shape 45"/>
          <p:cNvSpPr/>
          <p:nvPr/>
        </p:nvSpPr>
        <p:spPr>
          <a:xfrm>
            <a:off x="11091672" y="4654296"/>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46542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0" name="Shape 47"/>
          <p:cNvSpPr/>
          <p:nvPr/>
        </p:nvSpPr>
        <p:spPr>
          <a:xfrm>
            <a:off x="457200" y="5193792"/>
            <a:ext cx="11274552" cy="530352"/>
          </a:xfrm>
          <a:prstGeom prst="roundRect">
            <a:avLst>
              <a:gd name="adj" fmla="val 8621"/>
            </a:avLst>
          </a:prstGeom>
          <a:solidFill>
            <a:srgbClr val="F4F1EA"/>
          </a:solidFill>
          <a:ln w="9525">
            <a:solidFill>
              <a:srgbClr val="D8D0BF"/>
            </a:solidFill>
            <a:prstDash val="solid"/>
          </a:ln>
        </p:spPr>
      </p:sp>
      <p:sp>
        <p:nvSpPr>
          <p:cNvPr id="51" name="Text 48"/>
          <p:cNvSpPr txBox="1"/>
          <p:nvPr/>
        </p:nvSpPr>
        <p:spPr>
          <a:xfrm>
            <a:off x="7982712" y="5212080"/>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شِعَابٌ</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مَرْجَانِ</a:t>
            </a:r>
            <a:pPr rtl="1" algn="ctr" indent="0" marL="0">
              <a:buNone/>
            </a:pPr>
            <a:r>
              <a:rPr lang="ar-SA" altLang="en-US" sz="1500" b="1" dirty="0">
                <a:solidFill>
                  <a:srgbClr val="D6336C"/>
                </a:solidFill>
                <a:latin typeface="Amiri" pitchFamily="34" charset="0"/>
                <a:ea typeface="Amiri" pitchFamily="34" charset="-122"/>
                <a:cs typeface="Amiri" pitchFamily="34" charset="-120"/>
              </a:rPr>
              <a:t>يَّةٌ</a:t>
            </a:r>
            <a:endParaRPr lang="ar-SA" sz="1500" dirty="0"/>
          </a:p>
        </p:txBody>
      </p:sp>
      <p:sp>
        <p:nvSpPr>
          <p:cNvPr id="52" name="Text 49"/>
          <p:cNvSpPr txBox="1"/>
          <p:nvPr/>
        </p:nvSpPr>
        <p:spPr>
          <a:xfrm>
            <a:off x="7936992" y="5512003"/>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shi-ʿāb mar-jā-niy-ya</a:t>
            </a:r>
            <a:endParaRPr lang="en-US" sz="950" dirty="0"/>
          </a:p>
        </p:txBody>
      </p:sp>
      <p:sp>
        <p:nvSpPr>
          <p:cNvPr id="53" name="Text 50"/>
          <p:cNvSpPr txBox="1"/>
          <p:nvPr/>
        </p:nvSpPr>
        <p:spPr>
          <a:xfrm>
            <a:off x="5074920" y="5193792"/>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coral reefs</a:t>
            </a:r>
            <a:endParaRPr lang="en-US" sz="1100" dirty="0"/>
          </a:p>
        </p:txBody>
      </p:sp>
      <p:sp>
        <p:nvSpPr>
          <p:cNvPr id="54" name="Text 51"/>
          <p:cNvSpPr txBox="1"/>
          <p:nvPr/>
        </p:nvSpPr>
        <p:spPr>
          <a:xfrm>
            <a:off x="566928" y="5193792"/>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مَرْجَان</a:t>
            </a:r>
            <a:pPr algn="l" indent="0" marL="0">
              <a:buNone/>
            </a:pPr>
            <a:r>
              <a:rPr lang="en-US" sz="1100" i="1" dirty="0">
                <a:solidFill>
                  <a:srgbClr val="5A6472"/>
                </a:solidFill>
                <a:latin typeface="Calibri" pitchFamily="34" charset="0"/>
                <a:ea typeface="Calibri" pitchFamily="34" charset="-122"/>
                <a:cs typeface="Calibri" pitchFamily="34" charset="-120"/>
              </a:rPr>
              <a:t> (coral) → plural of things takes f.</a:t>
            </a:r>
            <a:endParaRPr lang="en-US" sz="1100" dirty="0"/>
          </a:p>
        </p:txBody>
      </p:sp>
      <p:sp>
        <p:nvSpPr>
          <p:cNvPr id="55" name="Shape 52"/>
          <p:cNvSpPr/>
          <p:nvPr/>
        </p:nvSpPr>
        <p:spPr>
          <a:xfrm>
            <a:off x="457200" y="5779008"/>
            <a:ext cx="11274552" cy="530352"/>
          </a:xfrm>
          <a:prstGeom prst="roundRect">
            <a:avLst>
              <a:gd name="adj" fmla="val 8621"/>
            </a:avLst>
          </a:prstGeom>
          <a:solidFill>
            <a:srgbClr val="FFFFFF"/>
          </a:solidFill>
          <a:ln w="9525">
            <a:solidFill>
              <a:srgbClr val="D8D0BF"/>
            </a:solidFill>
            <a:prstDash val="solid"/>
          </a:ln>
        </p:spPr>
      </p:sp>
      <p:sp>
        <p:nvSpPr>
          <p:cNvPr id="56" name="Text 53"/>
          <p:cNvSpPr txBox="1"/>
          <p:nvPr/>
        </p:nvSpPr>
        <p:spPr>
          <a:xfrm>
            <a:off x="7982712" y="5797296"/>
            <a:ext cx="3657600" cy="328818"/>
          </a:xfrm>
          <a:prstGeom prst="rect">
            <a:avLst/>
          </a:prstGeom>
          <a:noFill/>
          <a:ln/>
        </p:spPr>
        <p:txBody>
          <a:bodyPr wrap="square" lIns="0" tIns="0" rIns="0" bIns="0" rtlCol="0" anchor="ctr"/>
          <a:lstStyle/>
          <a:p>
            <a:pPr rtl="1" algn="ctr" indent="0" marL="0">
              <a:buNone/>
            </a:pPr>
            <a:r>
              <a:rPr lang="ar-SA" altLang="en-US" sz="1500" b="1" dirty="0">
                <a:solidFill>
                  <a:srgbClr val="1D5FBF"/>
                </a:solidFill>
                <a:latin typeface="Amiri" pitchFamily="34" charset="0"/>
                <a:ea typeface="Amiri" pitchFamily="34" charset="-122"/>
                <a:cs typeface="Amiri" pitchFamily="34" charset="-120"/>
              </a:rPr>
              <a:t>التَّوَازُنُ</a:t>
            </a:r>
            <a:pPr rtl="1" algn="ctr" indent="0" marL="0">
              <a:buNone/>
            </a:pPr>
            <a:r>
              <a:rPr lang="ar-SA" altLang="en-US" sz="1500" b="1" dirty="0">
                <a:solidFill>
                  <a:srgbClr val="1B3B6F"/>
                </a:solidFill>
                <a:latin typeface="Amiri" pitchFamily="34" charset="0"/>
                <a:ea typeface="Amiri" pitchFamily="34" charset="-122"/>
                <a:cs typeface="Amiri" pitchFamily="34" charset="-120"/>
              </a:rPr>
              <a:t> </a:t>
            </a:r>
            <a:pPr rtl="1" algn="ctr" indent="0" marL="0">
              <a:buNone/>
            </a:pPr>
            <a:r>
              <a:rPr lang="ar-SA" altLang="en-US" sz="1500" b="1" dirty="0">
                <a:solidFill>
                  <a:srgbClr val="7B3FA0"/>
                </a:solidFill>
                <a:latin typeface="Amiri" pitchFamily="34" charset="0"/>
                <a:ea typeface="Amiri" pitchFamily="34" charset="-122"/>
                <a:cs typeface="Amiri" pitchFamily="34" charset="-120"/>
              </a:rPr>
              <a:t>البِيئِ</a:t>
            </a:r>
            <a:pPr rtl="1" algn="ctr" indent="0" marL="0">
              <a:buNone/>
            </a:pPr>
            <a:r>
              <a:rPr lang="ar-SA" altLang="en-US" sz="1500" b="1" dirty="0">
                <a:solidFill>
                  <a:srgbClr val="D6336C"/>
                </a:solidFill>
                <a:latin typeface="Amiri" pitchFamily="34" charset="0"/>
                <a:ea typeface="Amiri" pitchFamily="34" charset="-122"/>
                <a:cs typeface="Amiri" pitchFamily="34" charset="-120"/>
              </a:rPr>
              <a:t>يُّ</a:t>
            </a:r>
            <a:endParaRPr lang="ar-SA" sz="1500" dirty="0"/>
          </a:p>
        </p:txBody>
      </p:sp>
      <p:sp>
        <p:nvSpPr>
          <p:cNvPr id="57" name="Text 54"/>
          <p:cNvSpPr txBox="1"/>
          <p:nvPr/>
        </p:nvSpPr>
        <p:spPr>
          <a:xfrm>
            <a:off x="7936992" y="6097219"/>
            <a:ext cx="3749040" cy="20153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at-ta-wā-zun al-bī-ʾiyy</a:t>
            </a:r>
            <a:endParaRPr lang="en-US" sz="950" dirty="0"/>
          </a:p>
        </p:txBody>
      </p:sp>
      <p:sp>
        <p:nvSpPr>
          <p:cNvPr id="58" name="Text 55"/>
          <p:cNvSpPr txBox="1"/>
          <p:nvPr/>
        </p:nvSpPr>
        <p:spPr>
          <a:xfrm>
            <a:off x="5074920" y="5779008"/>
            <a:ext cx="2743200" cy="53035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ecological balance</a:t>
            </a:r>
            <a:endParaRPr lang="en-US" sz="1100" dirty="0"/>
          </a:p>
        </p:txBody>
      </p:sp>
      <p:sp>
        <p:nvSpPr>
          <p:cNvPr id="59" name="Text 56"/>
          <p:cNvSpPr txBox="1"/>
          <p:nvPr/>
        </p:nvSpPr>
        <p:spPr>
          <a:xfrm>
            <a:off x="566928" y="5779008"/>
            <a:ext cx="4325112" cy="530352"/>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a:t>
            </a:r>
            <a:pPr algn="l" indent="0" marL="0">
              <a:buNone/>
            </a:pPr>
            <a:r>
              <a:rPr lang="en-US" sz="1100" i="1" dirty="0">
                <a:solidFill>
                  <a:srgbClr val="5A6472"/>
                </a:solidFill>
                <a:latin typeface="Calibri" pitchFamily="34" charset="0"/>
                <a:ea typeface="Calibri" pitchFamily="34" charset="-122"/>
                <a:cs typeface="Calibri" pitchFamily="34" charset="-120"/>
              </a:rPr>
              <a:t> on BOTH words</a:t>
            </a:r>
            <a:endParaRPr lang="en-US" sz="110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Describing verbs (website)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الوَصْفِ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1082650"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object</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يَضُمُّ</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includes, encompasses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ya-ḍum-mu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 doubled; direct object.</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4782312" y="1938528"/>
            <a:ext cx="1082650"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object</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يُشَكِّلُ</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forms, constitutes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yu-shak-ki-lu</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direct object.</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958291"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مَعَ</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يَتَفَاعَلُ</a:t>
            </a:r>
            <a:pPr rtl="1" algn="r" indent="0" marL="0">
              <a:buNone/>
            </a:pPr>
            <a:r>
              <a:rPr lang="ar-SA" altLang="en-US" sz="3000" b="1" dirty="0">
                <a:solidFill>
                  <a:srgbClr val="1B3B6F"/>
                </a:solidFill>
                <a:latin typeface="Amiri" pitchFamily="34" charset="0"/>
                <a:ea typeface="Amiri" pitchFamily="34" charset="-122"/>
                <a:cs typeface="Amiri" pitchFamily="34" charset="-120"/>
              </a:rPr>
              <a:t> مَعَ</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interacts with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ya-ta-fā-ʿa-lu ma-ʿa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VI, fixed with </a:t>
            </a:r>
            <a:pPr algn="l" indent="0" marL="0">
              <a:buNone/>
            </a:pPr>
            <a:r>
              <a:rPr lang="ar-SA" altLang="en-US" sz="1300" dirty="0">
                <a:solidFill>
                  <a:srgbClr val="8A6D1E"/>
                </a:solidFill>
                <a:latin typeface="Amiri" pitchFamily="34" charset="0"/>
                <a:ea typeface="Amiri" pitchFamily="34" charset="-122"/>
                <a:cs typeface="Amiri" pitchFamily="34" charset="-120"/>
              </a:rPr>
              <a:t>مَعَ</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عَلَى</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يَعْتَمِدُ</a:t>
            </a:r>
            <a:pPr rtl="1" algn="r" indent="0" marL="0">
              <a:buNone/>
            </a:pPr>
            <a:r>
              <a:rPr lang="ar-SA" altLang="en-US" sz="3000" b="1" dirty="0">
                <a:solidFill>
                  <a:srgbClr val="1B3B6F"/>
                </a:solidFill>
                <a:latin typeface="Amiri" pitchFamily="34" charset="0"/>
                <a:ea typeface="Amiri" pitchFamily="34" charset="-122"/>
                <a:cs typeface="Amiri" pitchFamily="34" charset="-120"/>
              </a:rPr>
              <a:t> عَلَى</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depends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yaʿ-ta-mi-du ʿa-lā</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Fixed with </a:t>
            </a:r>
            <a:pPr algn="l" indent="0" marL="0">
              <a:buNone/>
            </a:pPr>
            <a:r>
              <a:rPr lang="ar-SA" altLang="en-US" sz="1300" dirty="0">
                <a:solidFill>
                  <a:srgbClr val="8A6D1E"/>
                </a:solidFill>
                <a:latin typeface="Amiri" pitchFamily="34" charset="0"/>
                <a:ea typeface="Amiri" pitchFamily="34" charset="-122"/>
                <a:cs typeface="Amiri" pitchFamily="34" charset="-120"/>
              </a:rPr>
              <a:t>عَلَى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4782312" y="4279392"/>
            <a:ext cx="108265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108265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object</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يُهَدِّدُ</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threatens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yu-had-di-du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Form II; direct object.</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960120" y="4279392"/>
            <a:ext cx="1020470"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960120"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verb + إِلَى</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0E7C86"/>
                </a:solidFill>
                <a:latin typeface="Amiri" pitchFamily="34" charset="0"/>
                <a:ea typeface="Amiri" pitchFamily="34" charset="-122"/>
                <a:cs typeface="Amiri" pitchFamily="34" charset="-120"/>
              </a:rPr>
              <a:t>يُؤَدِّي</a:t>
            </a:r>
            <a:pPr rtl="1" algn="r" indent="0" marL="0">
              <a:buNone/>
            </a:pPr>
            <a:r>
              <a:rPr lang="ar-SA" altLang="en-US" sz="3000" b="1" dirty="0">
                <a:solidFill>
                  <a:srgbClr val="1B3B6F"/>
                </a:solidFill>
                <a:latin typeface="Amiri" pitchFamily="34" charset="0"/>
                <a:ea typeface="Amiri" pitchFamily="34" charset="-122"/>
                <a:cs typeface="Amiri" pitchFamily="34" charset="-120"/>
              </a:rPr>
              <a:t> إِلَى</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leads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yu-ʾad-dī i-lā</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Fixed with </a:t>
            </a:r>
            <a:pPr algn="l" indent="0" marL="0">
              <a:buNone/>
            </a:pPr>
            <a:r>
              <a:rPr lang="ar-SA" altLang="en-US" sz="1300" dirty="0">
                <a:solidFill>
                  <a:srgbClr val="8A6D1E"/>
                </a:solidFill>
                <a:latin typeface="Amiri" pitchFamily="34" charset="0"/>
                <a:ea typeface="Amiri" pitchFamily="34" charset="-122"/>
                <a:cs typeface="Amiri" pitchFamily="34" charset="-120"/>
              </a:rPr>
              <a:t>إِلَى</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5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Protecting nature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حِمَايَةُ الطَّبِيعَةِ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phrase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أَنْوَاعٌ مُهَدَّدَةٌ بِالانْقِرَاضِ</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endangered species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an-wāʿ mu-had-da-da bil-in-qi-rāḍ</a:t>
            </a:r>
            <a:endParaRPr lang="en-US" sz="1350" dirty="0"/>
          </a:p>
        </p:txBody>
      </p:sp>
      <p:sp>
        <p:nvSpPr>
          <p:cNvPr id="24" name="Shape 21"/>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4389120" y="1920240"/>
            <a:ext cx="310896" cy="310896"/>
          </a:xfrm>
          <a:prstGeom prst="ellipse">
            <a:avLst/>
          </a:prstGeom>
          <a:solidFill>
            <a:srgbClr val="F4F1EA"/>
          </a:solidFill>
          <a:ln w="12700">
            <a:solidFill>
              <a:srgbClr val="F4F1EA"/>
            </a:solidFill>
            <a:prstDash val="solid"/>
          </a:ln>
        </p:spPr>
      </p:sp>
      <p:sp>
        <p:nvSpPr>
          <p:cNvPr id="26" name="Text 23"/>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7" name="Shape 24"/>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8" name="Text 25"/>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a:t>
            </a:r>
            <a:endParaRPr lang="en-US" sz="800" dirty="0"/>
          </a:p>
        </p:txBody>
      </p:sp>
      <p:sp>
        <p:nvSpPr>
          <p:cNvPr id="29" name="Text 26"/>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الانْقِرَاضُ</a:t>
            </a:r>
            <a:endParaRPr lang="ar-SA" sz="3000" dirty="0"/>
          </a:p>
        </p:txBody>
      </p:sp>
      <p:sp>
        <p:nvSpPr>
          <p:cNvPr id="30" name="Text 27"/>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extinction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al-in-qi-rāḍ</a:t>
            </a:r>
            <a:endParaRPr lang="en-US" sz="135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960120" y="1938528"/>
            <a:ext cx="77175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960120" y="1938528"/>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particle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 in order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Triggers the subjunctive.</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8604504" y="4279392"/>
            <a:ext cx="958291"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958291"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subjunctive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لِكَيْ تَحْمِيَ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 that it protects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li-kay taḥ-mi-ya</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Subjunctive </a:t>
            </a:r>
            <a:pPr algn="l" indent="0" marL="0">
              <a:buNone/>
            </a:pPr>
            <a:r>
              <a:rPr lang="ar-SA" altLang="en-US" sz="1300" dirty="0">
                <a:solidFill>
                  <a:srgbClr val="8A6D1E"/>
                </a:solidFill>
                <a:latin typeface="Amiri" pitchFamily="34" charset="0"/>
                <a:ea typeface="Amiri" pitchFamily="34" charset="-122"/>
                <a:cs typeface="Amiri" pitchFamily="34" charset="-120"/>
              </a:rPr>
              <a:t>تَحْمِيَ</a:t>
            </a:r>
            <a:pPr algn="l" indent="0" marL="0">
              <a:buNone/>
            </a:pPr>
            <a:r>
              <a:rPr lang="en-US" sz="1000" i="1" dirty="0">
                <a:solidFill>
                  <a:srgbClr val="8A6D1E"/>
                </a:solidFill>
                <a:latin typeface="Calibri" pitchFamily="34" charset="0"/>
                <a:ea typeface="Calibri" pitchFamily="34" charset="-122"/>
                <a:cs typeface="Calibri" pitchFamily="34" charset="-120"/>
              </a:rPr>
              <a:t>.</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iḍāfa</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إِجْرَاءَاتُ الحِمَايَةِ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protection measures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ij-rā-ʾāt al-ḥi-mā-ya</a:t>
            </a:r>
            <a:endParaRPr lang="en-US" sz="1350" dirty="0"/>
          </a:p>
        </p:txBody>
      </p:sp>
      <p:sp>
        <p:nvSpPr>
          <p:cNvPr id="54" name="Shape 5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66928"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7" name="Shape 54"/>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noun + adjective</a:t>
            </a:r>
            <a:endParaRPr lang="en-US" sz="800" dirty="0"/>
          </a:p>
        </p:txBody>
      </p:sp>
      <p:sp>
        <p:nvSpPr>
          <p:cNvPr id="59" name="Text 56"/>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تَعَاوُنٌ </a:t>
            </a:r>
            <a:pPr rtl="1" algn="r" indent="0" marL="0">
              <a:buNone/>
            </a:pPr>
            <a:r>
              <a:rPr lang="ar-SA" altLang="en-US" sz="3000" b="1" dirty="0">
                <a:solidFill>
                  <a:srgbClr val="7B3FA0"/>
                </a:solidFill>
                <a:latin typeface="Amiri" pitchFamily="34" charset="0"/>
                <a:ea typeface="Amiri" pitchFamily="34" charset="-122"/>
                <a:cs typeface="Amiri" pitchFamily="34" charset="-120"/>
              </a:rPr>
              <a:t>إِقْلِيمِ</a:t>
            </a:r>
            <a:pPr rtl="1" algn="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60" name="Text 57"/>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regional cooperation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ta-ʿā-wun iq-lī-miyy</a:t>
            </a:r>
            <a:endParaRPr lang="en-US" sz="1350" dirty="0"/>
          </a:p>
        </p:txBody>
      </p:sp>
      <p:sp>
        <p:nvSpPr>
          <p:cNvPr id="61" name="Text 5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ADJECTIVE AGREEMENT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The describing word agrees with its noun</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الصِّفَةُ تَتْبَعُ المَوْصُوفَ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1D5FBF"/>
                </a:solidFill>
                <a:latin typeface="Amiri" pitchFamily="34" charset="0"/>
                <a:ea typeface="Amiri" pitchFamily="34" charset="-122"/>
                <a:cs typeface="Amiri" pitchFamily="34" charset="-120"/>
              </a:rPr>
              <a:t>غَابَةٌ</a:t>
            </a:r>
            <a:pPr rtl="1" algn="ctr" indent="0" marL="0">
              <a:buNone/>
            </a:pPr>
            <a:r>
              <a:rPr lang="ar-SA" altLang="en-US" sz="7200" b="1" dirty="0">
                <a:solidFill>
                  <a:srgbClr val="1B3B6F"/>
                </a:solidFill>
                <a:latin typeface="Amiri" pitchFamily="34" charset="0"/>
                <a:ea typeface="Amiri" pitchFamily="34" charset="-122"/>
                <a:cs typeface="Amiri" pitchFamily="34" charset="-120"/>
              </a:rPr>
              <a:t> </a:t>
            </a:r>
            <a:pPr rtl="1" algn="ctr" indent="0" marL="0">
              <a:buNone/>
            </a:pPr>
            <a:r>
              <a:rPr lang="ar-SA" altLang="en-US" sz="7200" b="1" dirty="0">
                <a:solidFill>
                  <a:srgbClr val="7B3FA0"/>
                </a:solidFill>
                <a:latin typeface="Amiri" pitchFamily="34" charset="0"/>
                <a:ea typeface="Amiri" pitchFamily="34" charset="-122"/>
                <a:cs typeface="Amiri" pitchFamily="34" charset="-120"/>
              </a:rPr>
              <a:t>اسْتِوَائِ</a:t>
            </a:r>
            <a:pPr rtl="1" algn="ctr" indent="0" marL="0">
              <a:buNone/>
            </a:pPr>
            <a:r>
              <a:rPr lang="ar-SA" altLang="en-US" sz="7200" b="1" dirty="0">
                <a:solidFill>
                  <a:srgbClr val="D6336C"/>
                </a:solidFill>
                <a:latin typeface="Amiri" pitchFamily="34" charset="0"/>
                <a:ea typeface="Amiri" pitchFamily="34" charset="-122"/>
                <a:cs typeface="Amiri" pitchFamily="34" charset="-120"/>
              </a:rPr>
              <a:t>يَّةٌ</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ghā-ba is-ti-wā-ʾiy-ya · a tropical rainforest</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غَابَةٌ</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NOUN first (WHO it describes)</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noun comes first. </a:t>
            </a:r>
            <a:pPr algn="l" indent="0" marL="0">
              <a:buNone/>
            </a:pPr>
            <a:r>
              <a:rPr lang="ar-SA" altLang="en-US" sz="1500" dirty="0">
                <a:solidFill>
                  <a:srgbClr val="5A6472"/>
                </a:solidFill>
                <a:latin typeface="Amiri" pitchFamily="34" charset="0"/>
                <a:ea typeface="Amiri" pitchFamily="34" charset="-122"/>
                <a:cs typeface="Amiri" pitchFamily="34" charset="-120"/>
              </a:rPr>
              <a:t>غَابَة</a:t>
            </a:r>
            <a:pPr algn="l" indent="0" marL="0">
              <a:buNone/>
            </a:pPr>
            <a:r>
              <a:rPr lang="en-US" sz="1150" dirty="0">
                <a:solidFill>
                  <a:srgbClr val="5A6472"/>
                </a:solidFill>
                <a:latin typeface="Calibri" pitchFamily="34" charset="0"/>
                <a:ea typeface="Calibri" pitchFamily="34" charset="-122"/>
                <a:cs typeface="Calibri" pitchFamily="34" charset="-120"/>
              </a:rPr>
              <a:t> ends in </a:t>
            </a:r>
            <a:pPr algn="l" indent="0" marL="0">
              <a:buNone/>
            </a:pPr>
            <a:r>
              <a:rPr lang="ar-SA" altLang="en-US" sz="1500" dirty="0">
                <a:solidFill>
                  <a:srgbClr val="5A6472"/>
                </a:solidFill>
                <a:latin typeface="Amiri" pitchFamily="34" charset="0"/>
                <a:ea typeface="Amiri" pitchFamily="34" charset="-122"/>
                <a:cs typeface="Amiri" pitchFamily="34" charset="-120"/>
              </a:rPr>
              <a:t>ـة</a:t>
            </a:r>
            <a:pPr algn="l" indent="0" marL="0">
              <a:buNone/>
            </a:pPr>
            <a:r>
              <a:rPr lang="en-US" sz="1150" dirty="0">
                <a:solidFill>
                  <a:srgbClr val="5A6472"/>
                </a:solidFill>
                <a:latin typeface="Calibri" pitchFamily="34" charset="0"/>
                <a:ea typeface="Calibri" pitchFamily="34" charset="-122"/>
                <a:cs typeface="Calibri" pitchFamily="34" charset="-120"/>
              </a:rPr>
              <a:t>, so it is feminine.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اسْتِوَاء</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describing word is made from a noun: </a:t>
            </a:r>
            <a:pPr algn="l" indent="0" marL="0">
              <a:buNone/>
            </a:pPr>
            <a:r>
              <a:rPr lang="ar-SA" altLang="en-US" sz="1500" dirty="0">
                <a:solidFill>
                  <a:srgbClr val="5A6472"/>
                </a:solidFill>
                <a:latin typeface="Amiri" pitchFamily="34" charset="0"/>
                <a:ea typeface="Amiri" pitchFamily="34" charset="-122"/>
                <a:cs typeface="Amiri" pitchFamily="34" charset="-120"/>
              </a:rPr>
              <a:t>اسْتِوَاء</a:t>
            </a:r>
            <a:pPr algn="l" indent="0" marL="0">
              <a:buNone/>
            </a:pPr>
            <a:r>
              <a:rPr lang="en-US" sz="1150" dirty="0">
                <a:solidFill>
                  <a:srgbClr val="5A6472"/>
                </a:solidFill>
                <a:latin typeface="Calibri" pitchFamily="34" charset="0"/>
                <a:ea typeface="Calibri" pitchFamily="34" charset="-122"/>
                <a:cs typeface="Calibri" pitchFamily="34" charset="-120"/>
              </a:rPr>
              <a:t> (equator) → tropical.</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ـِيَّةٌ</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ENDING agrees</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Feminine noun → </a:t>
            </a:r>
            <a:pPr algn="l" indent="0" marL="0">
              <a:buNone/>
            </a:pPr>
            <a:r>
              <a:rPr lang="ar-SA" altLang="en-US" sz="1500" dirty="0">
                <a:solidFill>
                  <a:srgbClr val="5A6472"/>
                </a:solidFill>
                <a:latin typeface="Amiri" pitchFamily="34" charset="0"/>
                <a:ea typeface="Amiri" pitchFamily="34" charset="-122"/>
                <a:cs typeface="Amiri" pitchFamily="34" charset="-120"/>
              </a:rPr>
              <a:t>ـِيَّةٌ</a:t>
            </a:r>
            <a:pPr algn="l" indent="0" marL="0">
              <a:buNone/>
            </a:pPr>
            <a:r>
              <a:rPr lang="en-US" sz="1150" dirty="0">
                <a:solidFill>
                  <a:srgbClr val="5A6472"/>
                </a:solidFill>
                <a:latin typeface="Calibri" pitchFamily="34" charset="0"/>
                <a:ea typeface="Calibri" pitchFamily="34" charset="-122"/>
                <a:cs typeface="Calibri" pitchFamily="34" charset="-120"/>
              </a:rPr>
              <a:t>. Masculine noun → </a:t>
            </a:r>
            <a:pPr algn="l" indent="0" marL="0">
              <a:buNone/>
            </a:pPr>
            <a:r>
              <a:rPr lang="ar-SA" altLang="en-US" sz="1500" dirty="0">
                <a:solidFill>
                  <a:srgbClr val="5A6472"/>
                </a:solidFill>
                <a:latin typeface="Amiri" pitchFamily="34" charset="0"/>
                <a:ea typeface="Amiri" pitchFamily="34" charset="-122"/>
                <a:cs typeface="Amiri" pitchFamily="34" charset="-120"/>
              </a:rPr>
              <a:t>ـِيٌّ</a:t>
            </a:r>
            <a:pPr algn="l" indent="0" marL="0">
              <a:buNone/>
            </a:pPr>
            <a:r>
              <a:rPr lang="en-US" sz="1150" dirty="0">
                <a:solidFill>
                  <a:srgbClr val="5A6472"/>
                </a:solidFill>
                <a:latin typeface="Calibri" pitchFamily="34" charset="0"/>
                <a:ea typeface="Calibri" pitchFamily="34" charset="-122"/>
                <a:cs typeface="Calibri" pitchFamily="34" charset="-120"/>
              </a:rPr>
              <a:t>: </a:t>
            </a:r>
            <a:pPr algn="l" indent="0" marL="0">
              <a:buNone/>
            </a:pPr>
            <a:r>
              <a:rPr lang="ar-SA" altLang="en-US" sz="1500" dirty="0">
                <a:solidFill>
                  <a:srgbClr val="5A6472"/>
                </a:solidFill>
                <a:latin typeface="Amiri" pitchFamily="34" charset="0"/>
                <a:ea typeface="Amiri" pitchFamily="34" charset="-122"/>
                <a:cs typeface="Amiri" pitchFamily="34" charset="-120"/>
              </a:rPr>
              <a:t>نِظَامٌ بِيئِيٌّ</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ONE ENDING, MANY NATURE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ea typeface="Cambria" pitchFamily="34" charset="-122"/>
                <a:cs typeface="Cambria" pitchFamily="34" charset="-120"/>
              </a:rPr>
              <a:t>Nouns and describing words in website sentences</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صِفَاتٌ مِنَ الطَّبِيعَةِ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420624"/>
          </a:xfrm>
          <a:prstGeom prst="rect">
            <a:avLst/>
          </a:prstGeom>
          <a:solidFill>
            <a:srgbClr val="1B3B6F"/>
          </a:solidFill>
          <a:ln w="12700">
            <a:solidFill>
              <a:srgbClr val="1B3B6F"/>
            </a:solidFill>
            <a:prstDash val="solid"/>
          </a:ln>
        </p:spPr>
      </p:sp>
      <p:sp>
        <p:nvSpPr>
          <p:cNvPr id="16" name="Text 13"/>
          <p:cNvSpPr txBox="1"/>
          <p:nvPr/>
        </p:nvSpPr>
        <p:spPr>
          <a:xfrm>
            <a:off x="9674352" y="1810512"/>
            <a:ext cx="19202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Noun</a:t>
            </a:r>
            <a:endParaRPr lang="en-US" sz="1200" dirty="0"/>
          </a:p>
        </p:txBody>
      </p:sp>
      <p:sp>
        <p:nvSpPr>
          <p:cNvPr id="17" name="Text 14"/>
          <p:cNvSpPr txBox="1"/>
          <p:nvPr/>
        </p:nvSpPr>
        <p:spPr>
          <a:xfrm>
            <a:off x="6565392" y="1810512"/>
            <a:ext cx="283464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Describing word</a:t>
            </a:r>
            <a:endParaRPr lang="en-US" sz="1200" dirty="0"/>
          </a:p>
        </p:txBody>
      </p:sp>
      <p:sp>
        <p:nvSpPr>
          <p:cNvPr id="18" name="Text 15"/>
          <p:cNvSpPr txBox="1"/>
          <p:nvPr/>
        </p:nvSpPr>
        <p:spPr>
          <a:xfrm>
            <a:off x="594360" y="1810512"/>
            <a:ext cx="5696712"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Website sentence</a:t>
            </a:r>
            <a:endParaRPr lang="en-US" sz="1200" dirty="0"/>
          </a:p>
        </p:txBody>
      </p:sp>
      <p:sp>
        <p:nvSpPr>
          <p:cNvPr id="19" name="Shape 16"/>
          <p:cNvSpPr/>
          <p:nvPr/>
        </p:nvSpPr>
        <p:spPr>
          <a:xfrm>
            <a:off x="457200" y="2322576"/>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085832" y="232257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نِظَامٌ</a:t>
            </a:r>
            <a:endParaRPr lang="ar-SA" sz="2400" dirty="0"/>
          </a:p>
        </p:txBody>
      </p:sp>
      <p:sp>
        <p:nvSpPr>
          <p:cNvPr id="21" name="Text 18"/>
          <p:cNvSpPr txBox="1"/>
          <p:nvPr/>
        </p:nvSpPr>
        <p:spPr>
          <a:xfrm>
            <a:off x="9509760" y="232257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system (m.)</a:t>
            </a:r>
            <a:endParaRPr lang="en-US" sz="1150" dirty="0"/>
          </a:p>
        </p:txBody>
      </p:sp>
      <p:sp>
        <p:nvSpPr>
          <p:cNvPr id="22" name="Text 19"/>
          <p:cNvSpPr txBox="1"/>
          <p:nvPr/>
        </p:nvSpPr>
        <p:spPr>
          <a:xfrm>
            <a:off x="6565392" y="232257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بِيئِ</a:t>
            </a:r>
            <a:pPr rtl="1" algn="ctr" indent="0" marL="0">
              <a:buNone/>
            </a:pPr>
            <a:r>
              <a:rPr lang="ar-SA" altLang="en-US" sz="3000" b="1" dirty="0">
                <a:solidFill>
                  <a:srgbClr val="D6336C"/>
                </a:solidFill>
                <a:latin typeface="Amiri" pitchFamily="34" charset="0"/>
                <a:ea typeface="Amiri" pitchFamily="34" charset="-122"/>
                <a:cs typeface="Amiri" pitchFamily="34" charset="-120"/>
              </a:rPr>
              <a:t>يٌّ</a:t>
            </a:r>
            <a:endParaRPr lang="ar-SA" sz="3000" dirty="0"/>
          </a:p>
        </p:txBody>
      </p:sp>
      <p:sp>
        <p:nvSpPr>
          <p:cNvPr id="23" name="Text 20"/>
          <p:cNvSpPr txBox="1"/>
          <p:nvPr/>
        </p:nvSpPr>
        <p:spPr>
          <a:xfrm>
            <a:off x="594360" y="234086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كُلُّ </a:t>
            </a:r>
            <a:pPr rtl="1" algn="r" indent="0" marL="0">
              <a:buNone/>
            </a:pPr>
            <a:r>
              <a:rPr lang="ar-SA" altLang="en-US" sz="2000" dirty="0">
                <a:solidFill>
                  <a:srgbClr val="1D5FBF"/>
                </a:solidFill>
                <a:latin typeface="Amiri" pitchFamily="34" charset="0"/>
                <a:ea typeface="Amiri" pitchFamily="34" charset="-122"/>
                <a:cs typeface="Amiri" pitchFamily="34" charset="-120"/>
              </a:rPr>
              <a:t>نِظَامٍ</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بِيئِ</a:t>
            </a:r>
            <a:pPr rtl="1" algn="r" indent="0" marL="0">
              <a:buNone/>
            </a:pPr>
            <a:r>
              <a:rPr lang="ar-SA" altLang="en-US" sz="2000" dirty="0">
                <a:solidFill>
                  <a:srgbClr val="D6336C"/>
                </a:solidFill>
                <a:latin typeface="Amiri" pitchFamily="34" charset="0"/>
                <a:ea typeface="Amiri" pitchFamily="34" charset="-122"/>
                <a:cs typeface="Amiri" pitchFamily="34" charset="-120"/>
              </a:rPr>
              <a:t>يٍّ</a:t>
            </a:r>
            <a:pPr rtl="1" algn="r" indent="0" marL="0">
              <a:buNone/>
            </a:pPr>
            <a:r>
              <a:rPr lang="ar-SA" altLang="en-US" sz="2000" dirty="0">
                <a:solidFill>
                  <a:srgbClr val="1F2A37"/>
                </a:solidFill>
                <a:latin typeface="Amiri" pitchFamily="34" charset="0"/>
                <a:ea typeface="Amiri" pitchFamily="34" charset="-122"/>
                <a:cs typeface="Amiri" pitchFamily="34" charset="-120"/>
              </a:rPr>
              <a:t> يَضُمُّ أَنْوَاعًا.</a:t>
            </a:r>
            <a:endParaRPr lang="ar-SA" sz="2000" dirty="0"/>
          </a:p>
        </p:txBody>
      </p:sp>
      <p:sp>
        <p:nvSpPr>
          <p:cNvPr id="24" name="Text 21"/>
          <p:cNvSpPr txBox="1"/>
          <p:nvPr/>
        </p:nvSpPr>
        <p:spPr>
          <a:xfrm>
            <a:off x="594360" y="274685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Every ecosystem includes (many) species.</a:t>
            </a:r>
            <a:endParaRPr lang="en-US" sz="1100" dirty="0"/>
          </a:p>
        </p:txBody>
      </p:sp>
      <p:sp>
        <p:nvSpPr>
          <p:cNvPr id="25" name="Shape 22"/>
          <p:cNvSpPr/>
          <p:nvPr/>
        </p:nvSpPr>
        <p:spPr>
          <a:xfrm>
            <a:off x="457200" y="314553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085832" y="314553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غَابَةٌ</a:t>
            </a:r>
            <a:endParaRPr lang="ar-SA" sz="2400" dirty="0"/>
          </a:p>
        </p:txBody>
      </p:sp>
      <p:sp>
        <p:nvSpPr>
          <p:cNvPr id="27" name="Text 24"/>
          <p:cNvSpPr txBox="1"/>
          <p:nvPr/>
        </p:nvSpPr>
        <p:spPr>
          <a:xfrm>
            <a:off x="9509760" y="314553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forest (f.)</a:t>
            </a:r>
            <a:endParaRPr lang="en-US" sz="1150" dirty="0"/>
          </a:p>
        </p:txBody>
      </p:sp>
      <p:sp>
        <p:nvSpPr>
          <p:cNvPr id="28" name="Text 25"/>
          <p:cNvSpPr txBox="1"/>
          <p:nvPr/>
        </p:nvSpPr>
        <p:spPr>
          <a:xfrm>
            <a:off x="6565392" y="314553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اسْتِوَائِ</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29" name="Text 26"/>
          <p:cNvSpPr txBox="1"/>
          <p:nvPr/>
        </p:nvSpPr>
        <p:spPr>
          <a:xfrm>
            <a:off x="594360" y="316382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تَضُمُّ </a:t>
            </a:r>
            <a:pPr rtl="1" algn="r" indent="0" marL="0">
              <a:buNone/>
            </a:pPr>
            <a:r>
              <a:rPr lang="ar-SA" altLang="en-US" sz="2000" dirty="0">
                <a:solidFill>
                  <a:srgbClr val="1D5FBF"/>
                </a:solidFill>
                <a:latin typeface="Amiri" pitchFamily="34" charset="0"/>
                <a:ea typeface="Amiri" pitchFamily="34" charset="-122"/>
                <a:cs typeface="Amiri" pitchFamily="34" charset="-120"/>
              </a:rPr>
              <a:t>الغَابَةُ</a:t>
            </a:r>
            <a:pPr rtl="1" algn="r" indent="0" marL="0">
              <a:buNone/>
            </a:pPr>
            <a:r>
              <a:rPr lang="ar-SA" altLang="en-US" sz="2000" dirty="0">
                <a:solidFill>
                  <a:srgbClr val="1F2A37"/>
                </a:solidFill>
                <a:latin typeface="Amiri" pitchFamily="34" charset="0"/>
                <a:ea typeface="Amiri" pitchFamily="34" charset="-122"/>
                <a:cs typeface="Amiri" pitchFamily="34" charset="-120"/>
              </a:rPr>
              <a:t> آلَافَ الأَنْوَاعِ.</a:t>
            </a:r>
            <a:endParaRPr lang="ar-SA" sz="2000" dirty="0"/>
          </a:p>
        </p:txBody>
      </p:sp>
      <p:sp>
        <p:nvSpPr>
          <p:cNvPr id="30" name="Text 27"/>
          <p:cNvSpPr txBox="1"/>
          <p:nvPr/>
        </p:nvSpPr>
        <p:spPr>
          <a:xfrm>
            <a:off x="594360" y="356981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forest includes thousands of species.</a:t>
            </a:r>
            <a:endParaRPr lang="en-US" sz="1100" dirty="0"/>
          </a:p>
        </p:txBody>
      </p:sp>
      <p:sp>
        <p:nvSpPr>
          <p:cNvPr id="31" name="Shape 28"/>
          <p:cNvSpPr/>
          <p:nvPr/>
        </p:nvSpPr>
        <p:spPr>
          <a:xfrm>
            <a:off x="457200" y="3968496"/>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085832" y="396849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سَلَاسِلُ</a:t>
            </a:r>
            <a:endParaRPr lang="ar-SA" sz="2400" dirty="0"/>
          </a:p>
        </p:txBody>
      </p:sp>
      <p:sp>
        <p:nvSpPr>
          <p:cNvPr id="33" name="Text 30"/>
          <p:cNvSpPr txBox="1"/>
          <p:nvPr/>
        </p:nvSpPr>
        <p:spPr>
          <a:xfrm>
            <a:off x="9509760" y="396849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chains (pl. things)</a:t>
            </a:r>
            <a:endParaRPr lang="en-US" sz="1150" dirty="0"/>
          </a:p>
        </p:txBody>
      </p:sp>
      <p:sp>
        <p:nvSpPr>
          <p:cNvPr id="34" name="Text 31"/>
          <p:cNvSpPr txBox="1"/>
          <p:nvPr/>
        </p:nvSpPr>
        <p:spPr>
          <a:xfrm>
            <a:off x="6565392" y="396849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غِذَائِ</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35" name="Text 32"/>
          <p:cNvSpPr txBox="1"/>
          <p:nvPr/>
        </p:nvSpPr>
        <p:spPr>
          <a:xfrm>
            <a:off x="594360" y="398678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تَتَفَاعَلُ الأَنْوَاعُ فِي </a:t>
            </a:r>
            <a:pPr rtl="1" algn="r" indent="0" marL="0">
              <a:buNone/>
            </a:pPr>
            <a:r>
              <a:rPr lang="ar-SA" altLang="en-US" sz="2000" dirty="0">
                <a:solidFill>
                  <a:srgbClr val="1D5FBF"/>
                </a:solidFill>
                <a:latin typeface="Amiri" pitchFamily="34" charset="0"/>
                <a:ea typeface="Amiri" pitchFamily="34" charset="-122"/>
                <a:cs typeface="Amiri" pitchFamily="34" charset="-120"/>
              </a:rPr>
              <a:t>سَلَاسِلَ</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غِذَائِ</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36" name="Text 33"/>
          <p:cNvSpPr txBox="1"/>
          <p:nvPr/>
        </p:nvSpPr>
        <p:spPr>
          <a:xfrm>
            <a:off x="594360" y="439277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Species interact in food chains.</a:t>
            </a:r>
            <a:endParaRPr lang="en-US" sz="1100" dirty="0"/>
          </a:p>
        </p:txBody>
      </p:sp>
      <p:sp>
        <p:nvSpPr>
          <p:cNvPr id="37" name="Shape 34"/>
          <p:cNvSpPr/>
          <p:nvPr/>
        </p:nvSpPr>
        <p:spPr>
          <a:xfrm>
            <a:off x="457200" y="4791456"/>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085832" y="479145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شِعَابٌ</a:t>
            </a:r>
            <a:endParaRPr lang="ar-SA" sz="2400" dirty="0"/>
          </a:p>
        </p:txBody>
      </p:sp>
      <p:sp>
        <p:nvSpPr>
          <p:cNvPr id="39" name="Text 36"/>
          <p:cNvSpPr txBox="1"/>
          <p:nvPr/>
        </p:nvSpPr>
        <p:spPr>
          <a:xfrm>
            <a:off x="9509760" y="479145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reefs (pl. things)</a:t>
            </a:r>
            <a:endParaRPr lang="en-US" sz="1150" dirty="0"/>
          </a:p>
        </p:txBody>
      </p:sp>
      <p:sp>
        <p:nvSpPr>
          <p:cNvPr id="40" name="Text 37"/>
          <p:cNvSpPr txBox="1"/>
          <p:nvPr/>
        </p:nvSpPr>
        <p:spPr>
          <a:xfrm>
            <a:off x="6565392" y="479145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مَرْجَانِ</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41" name="Text 38"/>
          <p:cNvSpPr txBox="1"/>
          <p:nvPr/>
        </p:nvSpPr>
        <p:spPr>
          <a:xfrm>
            <a:off x="594360" y="480974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يَضُمُّ البَحْرُ </a:t>
            </a:r>
            <a:pPr rtl="1" algn="r" indent="0" marL="0">
              <a:buNone/>
            </a:pPr>
            <a:r>
              <a:rPr lang="ar-SA" altLang="en-US" sz="2000" dirty="0">
                <a:solidFill>
                  <a:srgbClr val="1D5FBF"/>
                </a:solidFill>
                <a:latin typeface="Amiri" pitchFamily="34" charset="0"/>
                <a:ea typeface="Amiri" pitchFamily="34" charset="-122"/>
                <a:cs typeface="Amiri" pitchFamily="34" charset="-120"/>
              </a:rPr>
              <a:t>شِعَابًا</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مَرْجَانِ</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42" name="Text 39"/>
          <p:cNvSpPr txBox="1"/>
          <p:nvPr/>
        </p:nvSpPr>
        <p:spPr>
          <a:xfrm>
            <a:off x="594360" y="521573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sea includes coral reefs.</a:t>
            </a:r>
            <a:endParaRPr lang="en-US" sz="1100" dirty="0"/>
          </a:p>
        </p:txBody>
      </p:sp>
      <p:sp>
        <p:nvSpPr>
          <p:cNvPr id="43" name="Shape 40"/>
          <p:cNvSpPr/>
          <p:nvPr/>
        </p:nvSpPr>
        <p:spPr>
          <a:xfrm>
            <a:off x="457200" y="5614416"/>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10085832" y="5614416"/>
            <a:ext cx="1508760" cy="731520"/>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المَنَاطِقُ</a:t>
            </a:r>
            <a:endParaRPr lang="ar-SA" sz="2400" dirty="0"/>
          </a:p>
        </p:txBody>
      </p:sp>
      <p:sp>
        <p:nvSpPr>
          <p:cNvPr id="45" name="Text 42"/>
          <p:cNvSpPr txBox="1"/>
          <p:nvPr/>
        </p:nvSpPr>
        <p:spPr>
          <a:xfrm>
            <a:off x="9509760" y="5614416"/>
            <a:ext cx="731520" cy="73152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areas (pl. things)</a:t>
            </a:r>
            <a:endParaRPr lang="en-US" sz="1150" dirty="0"/>
          </a:p>
        </p:txBody>
      </p:sp>
      <p:sp>
        <p:nvSpPr>
          <p:cNvPr id="46" name="Text 43"/>
          <p:cNvSpPr txBox="1"/>
          <p:nvPr/>
        </p:nvSpPr>
        <p:spPr>
          <a:xfrm>
            <a:off x="6565392" y="5614416"/>
            <a:ext cx="2834640" cy="731520"/>
          </a:xfrm>
          <a:prstGeom prst="rect">
            <a:avLst/>
          </a:prstGeom>
          <a:noFill/>
          <a:ln/>
        </p:spPr>
        <p:txBody>
          <a:bodyPr wrap="square" lIns="0" tIns="0" rIns="0" bIns="0" rtlCol="0" anchor="ctr"/>
          <a:lstStyle/>
          <a:p>
            <a:pPr rtl="1" algn="ctr" indent="0" marL="0">
              <a:buNone/>
            </a:pPr>
            <a:r>
              <a:rPr lang="ar-SA" altLang="en-US" sz="3000" b="1" dirty="0">
                <a:solidFill>
                  <a:srgbClr val="7B3FA0"/>
                </a:solidFill>
                <a:latin typeface="Amiri" pitchFamily="34" charset="0"/>
                <a:ea typeface="Amiri" pitchFamily="34" charset="-122"/>
                <a:cs typeface="Amiri" pitchFamily="34" charset="-120"/>
              </a:rPr>
              <a:t>الجَبَلِ</a:t>
            </a:r>
            <a:pPr rtl="1" algn="ctr" indent="0" marL="0">
              <a:buNone/>
            </a:pPr>
            <a:r>
              <a:rPr lang="ar-SA" altLang="en-US" sz="3000" b="1" dirty="0">
                <a:solidFill>
                  <a:srgbClr val="D6336C"/>
                </a:solidFill>
                <a:latin typeface="Amiri" pitchFamily="34" charset="0"/>
                <a:ea typeface="Amiri" pitchFamily="34" charset="-122"/>
                <a:cs typeface="Amiri" pitchFamily="34" charset="-120"/>
              </a:rPr>
              <a:t>يَّةُ</a:t>
            </a:r>
            <a:endParaRPr lang="ar-SA" sz="3000" dirty="0"/>
          </a:p>
        </p:txBody>
      </p:sp>
      <p:sp>
        <p:nvSpPr>
          <p:cNvPr id="47" name="Text 44"/>
          <p:cNvSpPr txBox="1"/>
          <p:nvPr/>
        </p:nvSpPr>
        <p:spPr>
          <a:xfrm>
            <a:off x="594360" y="5632704"/>
            <a:ext cx="5696712" cy="438912"/>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34" charset="0"/>
                <a:ea typeface="Amiri" pitchFamily="34" charset="-122"/>
                <a:cs typeface="Amiri" pitchFamily="34" charset="-120"/>
              </a:rPr>
              <a:t>تَعِيشُ المَاعِزُ فِي </a:t>
            </a:r>
            <a:pPr rtl="1" algn="r" indent="0" marL="0">
              <a:buNone/>
            </a:pPr>
            <a:r>
              <a:rPr lang="ar-SA" altLang="en-US" sz="2000" dirty="0">
                <a:solidFill>
                  <a:srgbClr val="1D5FBF"/>
                </a:solidFill>
                <a:latin typeface="Amiri" pitchFamily="34" charset="0"/>
                <a:ea typeface="Amiri" pitchFamily="34" charset="-122"/>
                <a:cs typeface="Amiri" pitchFamily="34" charset="-120"/>
              </a:rPr>
              <a:t>المَنَاطِقِ</a:t>
            </a:r>
            <a:pPr rtl="1" algn="r" indent="0" marL="0">
              <a:buNone/>
            </a:pPr>
            <a:r>
              <a:rPr lang="ar-SA" altLang="en-US" sz="2000" dirty="0">
                <a:solidFill>
                  <a:srgbClr val="1F2A37"/>
                </a:solidFill>
                <a:latin typeface="Amiri" pitchFamily="34" charset="0"/>
                <a:ea typeface="Amiri" pitchFamily="34" charset="-122"/>
                <a:cs typeface="Amiri" pitchFamily="34" charset="-120"/>
              </a:rPr>
              <a:t> </a:t>
            </a:r>
            <a:pPr rtl="1" algn="r" indent="0" marL="0">
              <a:buNone/>
            </a:pPr>
            <a:r>
              <a:rPr lang="ar-SA" altLang="en-US" sz="2000" dirty="0">
                <a:solidFill>
                  <a:srgbClr val="7B3FA0"/>
                </a:solidFill>
                <a:latin typeface="Amiri" pitchFamily="34" charset="0"/>
                <a:ea typeface="Amiri" pitchFamily="34" charset="-122"/>
                <a:cs typeface="Amiri" pitchFamily="34" charset="-120"/>
              </a:rPr>
              <a:t>الجَبَلِ</a:t>
            </a:r>
            <a:pPr rtl="1" algn="r" indent="0" marL="0">
              <a:buNone/>
            </a:pPr>
            <a:r>
              <a:rPr lang="ar-SA" altLang="en-US" sz="2000" dirty="0">
                <a:solidFill>
                  <a:srgbClr val="D6336C"/>
                </a:solidFill>
                <a:latin typeface="Amiri" pitchFamily="34" charset="0"/>
                <a:ea typeface="Amiri" pitchFamily="34" charset="-122"/>
                <a:cs typeface="Amiri" pitchFamily="34" charset="-120"/>
              </a:rPr>
              <a:t>يَّةِ</a:t>
            </a:r>
            <a:pPr rtl="1" algn="r" indent="0" marL="0">
              <a:buNone/>
            </a:pPr>
            <a:r>
              <a:rPr lang="ar-SA" altLang="en-US" sz="2000" dirty="0">
                <a:solidFill>
                  <a:srgbClr val="1F2A37"/>
                </a:solidFill>
                <a:latin typeface="Amiri" pitchFamily="34" charset="0"/>
                <a:ea typeface="Amiri" pitchFamily="34" charset="-122"/>
                <a:cs typeface="Amiri" pitchFamily="34" charset="-120"/>
              </a:rPr>
              <a:t>.</a:t>
            </a:r>
            <a:endParaRPr lang="ar-SA" sz="2000" dirty="0"/>
          </a:p>
        </p:txBody>
      </p:sp>
      <p:sp>
        <p:nvSpPr>
          <p:cNvPr id="48" name="Text 45"/>
          <p:cNvSpPr txBox="1"/>
          <p:nvPr/>
        </p:nvSpPr>
        <p:spPr>
          <a:xfrm>
            <a:off x="594360" y="6038698"/>
            <a:ext cx="5696712" cy="277978"/>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Goats live in mountainous areas. (website game)</a:t>
            </a:r>
            <a:endParaRPr lang="en-US" sz="110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3 · THREE WAYS TO JOIN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Adjective, iḍāfa, relative clause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الصِّفَةُ وَالإِضَافَةُ وَالمَوْصُولُ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891540" cy="274320"/>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8232648"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ADJECTIVE</a:t>
            </a:r>
            <a:endParaRPr lang="en-US" sz="850" dirty="0"/>
          </a:p>
        </p:txBody>
      </p:sp>
      <p:sp>
        <p:nvSpPr>
          <p:cNvPr id="18" name="Text 15"/>
          <p:cNvSpPr txBox="1"/>
          <p:nvPr/>
        </p:nvSpPr>
        <p:spPr>
          <a:xfrm>
            <a:off x="9169908"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نِظَامٌ بِيئِيٌّ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التَّوَازُنُ البِيئِيُّ</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ecological balance — noun + describing word</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ال</a:t>
            </a:r>
            <a:pPr algn="l" indent="0" marL="0">
              <a:buNone/>
            </a:pPr>
            <a:r>
              <a:rPr lang="en-US" sz="1100" dirty="0">
                <a:solidFill>
                  <a:srgbClr val="1F2A37"/>
                </a:solidFill>
                <a:latin typeface="Calibri" pitchFamily="34" charset="0"/>
                <a:ea typeface="Calibri" pitchFamily="34" charset="-122"/>
                <a:cs typeface="Calibri" pitchFamily="34" charset="-120"/>
              </a:rPr>
              <a:t> on BOTH words or on NEITHER: </a:t>
            </a:r>
            <a:pPr algn="l" indent="0" marL="0">
              <a:buNone/>
            </a:pPr>
            <a:r>
              <a:rPr lang="ar-SA" altLang="en-US" sz="1450" dirty="0">
                <a:solidFill>
                  <a:srgbClr val="1F2A37"/>
                </a:solidFill>
                <a:latin typeface="Amiri" pitchFamily="34" charset="0"/>
                <a:ea typeface="Amiri" pitchFamily="34" charset="-122"/>
                <a:cs typeface="Amiri" pitchFamily="34" charset="-120"/>
              </a:rPr>
              <a:t>نِظَامٌ بِيئِيٌّ / النِّظَامُ البِيئِيُّ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645920" cy="274320"/>
          </a:xfrm>
          <a:prstGeom prst="roundRect">
            <a:avLst>
              <a:gd name="adj" fmla="val 50000"/>
            </a:avLst>
          </a:prstGeom>
          <a:solidFill>
            <a:srgbClr val="7B3FA0"/>
          </a:solidFill>
          <a:ln w="12700">
            <a:solidFill>
              <a:srgbClr val="7B3FA0"/>
            </a:solidFill>
            <a:prstDash val="solid"/>
          </a:ln>
        </p:spPr>
      </p:sp>
      <p:sp>
        <p:nvSpPr>
          <p:cNvPr id="25" name="Text 22"/>
          <p:cNvSpPr txBox="1"/>
          <p:nvPr/>
        </p:nvSpPr>
        <p:spPr>
          <a:xfrm>
            <a:off x="4413504"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IḌĀFA · “the … of …”</a:t>
            </a:r>
            <a:endParaRPr lang="en-US" sz="850" dirty="0"/>
          </a:p>
        </p:txBody>
      </p:sp>
      <p:sp>
        <p:nvSpPr>
          <p:cNvPr id="26" name="Text 23"/>
          <p:cNvSpPr txBox="1"/>
          <p:nvPr/>
        </p:nvSpPr>
        <p:spPr>
          <a:xfrm>
            <a:off x="6105144"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حِمَايَةُ التَّنَوُّعِ</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إِجْرَاءَاتُ الحِمَايَةِ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measures of protection — protection measures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1st noun: no </a:t>
            </a:r>
            <a:pPr algn="l" indent="0" marL="0">
              <a:buNone/>
            </a:pPr>
            <a:r>
              <a:rPr lang="ar-SA" altLang="en-US" sz="1450" dirty="0">
                <a:solidFill>
                  <a:srgbClr val="1F2A37"/>
                </a:solidFill>
                <a:latin typeface="Amiri" pitchFamily="34" charset="0"/>
                <a:ea typeface="Amiri" pitchFamily="34" charset="-122"/>
                <a:cs typeface="Amiri" pitchFamily="34" charset="-120"/>
              </a:rPr>
              <a:t>ال</a:t>
            </a:r>
            <a:pPr algn="l" indent="0" marL="0">
              <a:buNone/>
            </a:pPr>
            <a:r>
              <a:rPr lang="en-US" sz="1100" dirty="0">
                <a:solidFill>
                  <a:srgbClr val="1F2A37"/>
                </a:solidFill>
                <a:latin typeface="Calibri" pitchFamily="34" charset="0"/>
                <a:ea typeface="Calibri" pitchFamily="34" charset="-122"/>
                <a:cs typeface="Calibri" pitchFamily="34" charset="-120"/>
              </a:rPr>
              <a:t>, no tanwīn. 2nd noun: often </a:t>
            </a:r>
            <a:pPr algn="l" indent="0" marL="0">
              <a:buNone/>
            </a:pPr>
            <a:r>
              <a:rPr lang="ar-SA" altLang="en-US" sz="1450" dirty="0">
                <a:solidFill>
                  <a:srgbClr val="1F2A37"/>
                </a:solidFill>
                <a:latin typeface="Amiri" pitchFamily="34" charset="0"/>
                <a:ea typeface="Amiri" pitchFamily="34" charset="-122"/>
                <a:cs typeface="Amiri" pitchFamily="34" charset="-120"/>
              </a:rPr>
              <a:t>ال</a:t>
            </a:r>
            <a:pPr algn="l" indent="0" marL="0">
              <a:buNone/>
            </a:pPr>
            <a:r>
              <a:rPr lang="en-US" sz="1100" dirty="0">
                <a:solidFill>
                  <a:srgbClr val="1F2A37"/>
                </a:solidFill>
                <a:latin typeface="Calibri" pitchFamily="34" charset="0"/>
                <a:ea typeface="Calibri" pitchFamily="34" charset="-122"/>
                <a:cs typeface="Calibri" pitchFamily="34" charset="-120"/>
              </a:rPr>
              <a:t> + kasra: </a:t>
            </a:r>
            <a:pPr algn="l" indent="0" marL="0">
              <a:buNone/>
            </a:pPr>
            <a:r>
              <a:rPr lang="ar-SA" altLang="en-US" sz="1450" dirty="0">
                <a:solidFill>
                  <a:srgbClr val="1F2A37"/>
                </a:solidFill>
                <a:latin typeface="Amiri" pitchFamily="34" charset="0"/>
                <a:ea typeface="Amiri" pitchFamily="34" charset="-122"/>
                <a:cs typeface="Amiri" pitchFamily="34" charset="-120"/>
              </a:rPr>
              <a:t>حِمَايَةُ التَّنَوُّعِ</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851660" cy="274320"/>
          </a:xfrm>
          <a:prstGeom prst="roundRect">
            <a:avLst>
              <a:gd name="adj" fmla="val 50000"/>
            </a:avLst>
          </a:prstGeom>
          <a:solidFill>
            <a:srgbClr val="0E7C86"/>
          </a:solidFill>
          <a:ln w="12700">
            <a:solidFill>
              <a:srgbClr val="0E7C86"/>
            </a:solidFill>
            <a:prstDash val="solid"/>
          </a:ln>
        </p:spPr>
      </p:sp>
      <p:sp>
        <p:nvSpPr>
          <p:cNvPr id="33" name="Text 30"/>
          <p:cNvSpPr txBox="1"/>
          <p:nvPr/>
        </p:nvSpPr>
        <p:spPr>
          <a:xfrm>
            <a:off x="594360"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RELATIVE · which / that</a:t>
            </a:r>
            <a:endParaRPr lang="en-US" sz="850" dirty="0"/>
          </a:p>
        </p:txBody>
      </p:sp>
      <p:sp>
        <p:nvSpPr>
          <p:cNvPr id="34" name="Text 31"/>
          <p:cNvSpPr txBox="1"/>
          <p:nvPr/>
        </p:nvSpPr>
        <p:spPr>
          <a:xfrm>
            <a:off x="2491740"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الَّتِي / الَّذِي</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الغَابَةُ الَّتِي تَضُمُّ آلَافَ الأَنْوَاعِ</a:t>
            </a:r>
            <a:endParaRPr lang="ar-SA" sz="23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 forest which includes thousands of species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34" charset="0"/>
                <a:ea typeface="Amiri" pitchFamily="34" charset="-122"/>
                <a:cs typeface="Amiri" pitchFamily="34" charset="-120"/>
              </a:rPr>
              <a:t>الَّذِي</a:t>
            </a:r>
            <a:pPr algn="l" indent="0" marL="0">
              <a:buNone/>
            </a:pPr>
            <a:r>
              <a:rPr lang="en-US" sz="1100" dirty="0">
                <a:solidFill>
                  <a:srgbClr val="1F2A37"/>
                </a:solidFill>
                <a:latin typeface="Calibri" pitchFamily="34" charset="0"/>
                <a:ea typeface="Calibri" pitchFamily="34" charset="-122"/>
                <a:cs typeface="Calibri" pitchFamily="34" charset="-120"/>
              </a:rPr>
              <a:t> after a masculine noun; </a:t>
            </a:r>
            <a:pPr algn="l" indent="0" marL="0">
              <a:buNone/>
            </a:pPr>
            <a:r>
              <a:rPr lang="ar-SA" altLang="en-US" sz="1450" dirty="0">
                <a:solidFill>
                  <a:srgbClr val="1F2A37"/>
                </a:solidFill>
                <a:latin typeface="Amiri" pitchFamily="34" charset="0"/>
                <a:ea typeface="Amiri" pitchFamily="34" charset="-122"/>
                <a:cs typeface="Amiri" pitchFamily="34" charset="-120"/>
              </a:rPr>
              <a:t>الَّتِي</a:t>
            </a:r>
            <a:pPr algn="l" indent="0" marL="0">
              <a:buNone/>
            </a:pPr>
            <a:r>
              <a:rPr lang="en-US" sz="1100" dirty="0">
                <a:solidFill>
                  <a:srgbClr val="1F2A37"/>
                </a:solidFill>
                <a:latin typeface="Calibri" pitchFamily="34" charset="0"/>
                <a:ea typeface="Calibri" pitchFamily="34" charset="-122"/>
                <a:cs typeface="Calibri" pitchFamily="34" charset="-120"/>
              </a:rPr>
              <a:t> after a feminine noun or a plural of things.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Using English word order, or a masculine ending on a feminine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1B3B6F"/>
                </a:solidFill>
                <a:latin typeface="Amiri" pitchFamily="34" charset="0"/>
                <a:ea typeface="Amiri" pitchFamily="34" charset="-122"/>
                <a:cs typeface="Amiri" pitchFamily="34" charset="-120"/>
              </a:rPr>
              <a:t>غَابَةٌ اسْتِوَائِيَّةٌ</a:t>
            </a:r>
            <a:endParaRPr lang="ar-SA" sz="25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غَابَةٌ اسْتِوَائِيٌّ</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حِمَايَةُ التَّنَوُّعِ</a:t>
            </a:r>
            <a:endParaRPr lang="ar-SA" sz="2600" dirty="0"/>
          </a:p>
        </p:txBody>
      </p:sp>
      <p:sp>
        <p:nvSpPr>
          <p:cNvPr id="47" name="Text 44"/>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8" name="Text 45"/>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34" charset="0"/>
                <a:ea typeface="Amiri" pitchFamily="34" charset="-122"/>
                <a:cs typeface="Amiri" pitchFamily="34" charset="-120"/>
              </a:rPr>
              <a:t>الحِمَايَةُ التَّنَوُّعِ</a:t>
            </a:r>
            <a:endParaRPr lang="ar-SA" sz="2300" dirty="0"/>
          </a:p>
        </p:txBody>
      </p:sp>
      <p:sp>
        <p:nvSpPr>
          <p:cNvPr id="49" name="Shape 46"/>
          <p:cNvSpPr/>
          <p:nvPr/>
        </p:nvSpPr>
        <p:spPr>
          <a:xfrm>
            <a:off x="4434840" y="5669280"/>
            <a:ext cx="1371600" cy="0"/>
          </a:xfrm>
          <a:prstGeom prst="line">
            <a:avLst/>
          </a:prstGeom>
          <a:noFill/>
          <a:ln w="25400">
            <a:solidFill>
              <a:srgbClr val="B83227"/>
            </a:solidFill>
            <a:prstDash val="solid"/>
          </a:ln>
        </p:spPr>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4 · DEVELOP · WEBSITE RULE “COMPOSITION”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Describe an ecosystem: verb + subject + object</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أَفْعَالُ التَّكْوِينِ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Text 12"/>
          <p:cNvSpPr txBox="1"/>
          <p:nvPr/>
        </p:nvSpPr>
        <p:spPr>
          <a:xfrm>
            <a:off x="457200" y="1828800"/>
            <a:ext cx="3017520" cy="566928"/>
          </a:xfrm>
          <a:prstGeom prst="rect">
            <a:avLst/>
          </a:prstGeom>
          <a:noFill/>
          <a:ln/>
        </p:spPr>
        <p:txBody>
          <a:bodyPr wrap="square" lIns="0" tIns="0" rIns="0" bIns="0" rtlCol="0" anchor="ctr"/>
          <a:lstStyle/>
          <a:p>
            <a:pPr algn="l" indent="0" marL="0">
              <a:buNone/>
            </a:pPr>
            <a:r>
              <a:rPr lang="en-US" sz="1100" b="1" dirty="0">
                <a:solidFill>
                  <a:srgbClr val="5A6472"/>
                </a:solidFill>
                <a:latin typeface="Calibri" pitchFamily="34" charset="0"/>
                <a:ea typeface="Calibri" pitchFamily="34" charset="-122"/>
                <a:cs typeface="Calibri" pitchFamily="34" charset="-120"/>
              </a:rPr>
              <a:t>English meaning</a:t>
            </a:r>
            <a:endParaRPr lang="en-US" sz="1100" dirty="0"/>
          </a:p>
        </p:txBody>
      </p:sp>
      <p:sp>
        <p:nvSpPr>
          <p:cNvPr id="16" name="Shape 13"/>
          <p:cNvSpPr/>
          <p:nvPr/>
        </p:nvSpPr>
        <p:spPr>
          <a:xfrm>
            <a:off x="9089136" y="1810512"/>
            <a:ext cx="264261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9089136"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الفِعْلُ</a:t>
            </a:r>
            <a:endParaRPr lang="ar-SA" sz="1850" dirty="0"/>
          </a:p>
        </p:txBody>
      </p:sp>
      <p:sp>
        <p:nvSpPr>
          <p:cNvPr id="18" name="Text 15"/>
          <p:cNvSpPr txBox="1"/>
          <p:nvPr/>
        </p:nvSpPr>
        <p:spPr>
          <a:xfrm>
            <a:off x="9089136"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verb (key word)</a:t>
            </a:r>
            <a:endParaRPr lang="en-US" sz="900" dirty="0"/>
          </a:p>
        </p:txBody>
      </p:sp>
      <p:sp>
        <p:nvSpPr>
          <p:cNvPr id="19" name="Shape 16"/>
          <p:cNvSpPr/>
          <p:nvPr/>
        </p:nvSpPr>
        <p:spPr>
          <a:xfrm>
            <a:off x="6336792" y="1810512"/>
            <a:ext cx="2642616" cy="566928"/>
          </a:xfrm>
          <a:prstGeom prst="roundRect">
            <a:avLst>
              <a:gd name="adj" fmla="val 9677"/>
            </a:avLst>
          </a:prstGeom>
          <a:solidFill>
            <a:srgbClr val="1B3B6F"/>
          </a:solidFill>
          <a:ln w="12700">
            <a:solidFill>
              <a:srgbClr val="1B3B6F"/>
            </a:solidFill>
            <a:prstDash val="solid"/>
          </a:ln>
        </p:spPr>
      </p:sp>
      <p:sp>
        <p:nvSpPr>
          <p:cNvPr id="20" name="Text 17"/>
          <p:cNvSpPr txBox="1"/>
          <p:nvPr/>
        </p:nvSpPr>
        <p:spPr>
          <a:xfrm>
            <a:off x="6336792"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الفَاعِلُ</a:t>
            </a:r>
            <a:endParaRPr lang="ar-SA" sz="1850" dirty="0"/>
          </a:p>
        </p:txBody>
      </p:sp>
      <p:sp>
        <p:nvSpPr>
          <p:cNvPr id="21" name="Text 18"/>
          <p:cNvSpPr txBox="1"/>
          <p:nvPr/>
        </p:nvSpPr>
        <p:spPr>
          <a:xfrm>
            <a:off x="6336792"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subject</a:t>
            </a:r>
            <a:endParaRPr lang="en-US" sz="900" dirty="0"/>
          </a:p>
        </p:txBody>
      </p:sp>
      <p:sp>
        <p:nvSpPr>
          <p:cNvPr id="22" name="Shape 19"/>
          <p:cNvSpPr/>
          <p:nvPr/>
        </p:nvSpPr>
        <p:spPr>
          <a:xfrm>
            <a:off x="3584448" y="1810512"/>
            <a:ext cx="2642616" cy="566928"/>
          </a:xfrm>
          <a:prstGeom prst="roundRect">
            <a:avLst>
              <a:gd name="adj" fmla="val 9677"/>
            </a:avLst>
          </a:prstGeom>
          <a:solidFill>
            <a:srgbClr val="8A6D1E"/>
          </a:solidFill>
          <a:ln w="12700">
            <a:solidFill>
              <a:srgbClr val="8A6D1E"/>
            </a:solidFill>
            <a:prstDash val="solid"/>
          </a:ln>
        </p:spPr>
      </p:sp>
      <p:sp>
        <p:nvSpPr>
          <p:cNvPr id="23" name="Text 20"/>
          <p:cNvSpPr txBox="1"/>
          <p:nvPr/>
        </p:nvSpPr>
        <p:spPr>
          <a:xfrm>
            <a:off x="3584448" y="1792224"/>
            <a:ext cx="2642616" cy="402336"/>
          </a:xfrm>
          <a:prstGeom prst="rect">
            <a:avLst/>
          </a:prstGeom>
          <a:noFill/>
          <a:ln/>
        </p:spPr>
        <p:txBody>
          <a:bodyPr wrap="square" lIns="0" tIns="0" rIns="0" bIns="0" rtlCol="0" anchor="ctr"/>
          <a:lstStyle/>
          <a:p>
            <a:pPr rtl="1" algn="ctr" indent="0" marL="0">
              <a:buNone/>
            </a:pPr>
            <a:r>
              <a:rPr lang="ar-SA" altLang="en-US" sz="1850" b="1" dirty="0">
                <a:solidFill>
                  <a:srgbClr val="FFFFFF"/>
                </a:solidFill>
                <a:latin typeface="Amiri" pitchFamily="34" charset="0"/>
                <a:ea typeface="Amiri" pitchFamily="34" charset="-122"/>
                <a:cs typeface="Amiri" pitchFamily="34" charset="-120"/>
              </a:rPr>
              <a:t>التَّكْمِلَةُ</a:t>
            </a:r>
            <a:endParaRPr lang="ar-SA" sz="1850" dirty="0"/>
          </a:p>
        </p:txBody>
      </p:sp>
      <p:sp>
        <p:nvSpPr>
          <p:cNvPr id="24" name="Text 21"/>
          <p:cNvSpPr txBox="1"/>
          <p:nvPr/>
        </p:nvSpPr>
        <p:spPr>
          <a:xfrm>
            <a:off x="3584448" y="2157984"/>
            <a:ext cx="2642616" cy="201168"/>
          </a:xfrm>
          <a:prstGeom prst="rect">
            <a:avLst/>
          </a:prstGeom>
          <a:noFill/>
          <a:ln/>
        </p:spPr>
        <p:txBody>
          <a:bodyPr wrap="square" lIns="0" tIns="0" rIns="0" bIns="0" rtlCol="0" anchor="ctr"/>
          <a:lstStyle/>
          <a:p>
            <a:pPr algn="ctr" indent="0" marL="0">
              <a:buNone/>
            </a:pPr>
            <a:r>
              <a:rPr lang="en-US" sz="900" i="1" dirty="0">
                <a:solidFill>
                  <a:srgbClr val="EEF1F6"/>
                </a:solidFill>
                <a:latin typeface="Calibri" pitchFamily="34" charset="0"/>
                <a:ea typeface="Calibri" pitchFamily="34" charset="-122"/>
                <a:cs typeface="Calibri" pitchFamily="34" charset="-120"/>
              </a:rPr>
              <a:t>object / complement</a:t>
            </a:r>
            <a:endParaRPr lang="en-US" sz="900" dirty="0"/>
          </a:p>
        </p:txBody>
      </p:sp>
      <p:sp>
        <p:nvSpPr>
          <p:cNvPr id="25" name="Text 22"/>
          <p:cNvSpPr txBox="1"/>
          <p:nvPr/>
        </p:nvSpPr>
        <p:spPr>
          <a:xfrm>
            <a:off x="457200" y="2487168"/>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forest includes thousands of species.</a:t>
            </a:r>
            <a:endParaRPr lang="en-US" sz="1200" dirty="0"/>
          </a:p>
        </p:txBody>
      </p:sp>
      <p:sp>
        <p:nvSpPr>
          <p:cNvPr id="26" name="Shape 23"/>
          <p:cNvSpPr/>
          <p:nvPr/>
        </p:nvSpPr>
        <p:spPr>
          <a:xfrm>
            <a:off x="9089136" y="2487168"/>
            <a:ext cx="2642616" cy="768096"/>
          </a:xfrm>
          <a:prstGeom prst="roundRect">
            <a:avLst>
              <a:gd name="adj" fmla="val 7143"/>
            </a:avLst>
          </a:prstGeom>
          <a:solidFill>
            <a:srgbClr val="E3F2F3"/>
          </a:solidFill>
          <a:ln w="9525">
            <a:solidFill>
              <a:srgbClr val="E3F2F3"/>
            </a:solidFill>
            <a:prstDash val="solid"/>
          </a:ln>
        </p:spPr>
      </p:sp>
      <p:sp>
        <p:nvSpPr>
          <p:cNvPr id="27" name="Text 24"/>
          <p:cNvSpPr txBox="1"/>
          <p:nvPr/>
        </p:nvSpPr>
        <p:spPr>
          <a:xfrm>
            <a:off x="9162288"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تَضُمُّ</a:t>
            </a:r>
            <a:endParaRPr lang="ar-SA" sz="2400" dirty="0"/>
          </a:p>
        </p:txBody>
      </p:sp>
      <p:sp>
        <p:nvSpPr>
          <p:cNvPr id="28" name="Shape 25"/>
          <p:cNvSpPr/>
          <p:nvPr/>
        </p:nvSpPr>
        <p:spPr>
          <a:xfrm>
            <a:off x="6336792" y="2487168"/>
            <a:ext cx="2642616" cy="768096"/>
          </a:xfrm>
          <a:prstGeom prst="roundRect">
            <a:avLst>
              <a:gd name="adj" fmla="val 7143"/>
            </a:avLst>
          </a:prstGeom>
          <a:solidFill>
            <a:srgbClr val="EEF3FA"/>
          </a:solidFill>
          <a:ln w="9525">
            <a:solidFill>
              <a:srgbClr val="EEF3FA"/>
            </a:solidFill>
            <a:prstDash val="solid"/>
          </a:ln>
        </p:spPr>
      </p:sp>
      <p:sp>
        <p:nvSpPr>
          <p:cNvPr id="29" name="Text 26"/>
          <p:cNvSpPr txBox="1"/>
          <p:nvPr/>
        </p:nvSpPr>
        <p:spPr>
          <a:xfrm>
            <a:off x="6409944"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الغَابَةُ</a:t>
            </a:r>
            <a:endParaRPr lang="ar-SA" sz="2400" dirty="0"/>
          </a:p>
        </p:txBody>
      </p:sp>
      <p:sp>
        <p:nvSpPr>
          <p:cNvPr id="30" name="Shape 27"/>
          <p:cNvSpPr/>
          <p:nvPr/>
        </p:nvSpPr>
        <p:spPr>
          <a:xfrm>
            <a:off x="3584448" y="2487168"/>
            <a:ext cx="2642616" cy="768096"/>
          </a:xfrm>
          <a:prstGeom prst="roundRect">
            <a:avLst>
              <a:gd name="adj" fmla="val 7143"/>
            </a:avLst>
          </a:prstGeom>
          <a:solidFill>
            <a:srgbClr val="F8F0DC"/>
          </a:solidFill>
          <a:ln w="9525">
            <a:solidFill>
              <a:srgbClr val="F8F0DC"/>
            </a:solidFill>
            <a:prstDash val="solid"/>
          </a:ln>
        </p:spPr>
      </p:sp>
      <p:sp>
        <p:nvSpPr>
          <p:cNvPr id="31" name="Text 28"/>
          <p:cNvSpPr txBox="1"/>
          <p:nvPr/>
        </p:nvSpPr>
        <p:spPr>
          <a:xfrm>
            <a:off x="3657600" y="2487168"/>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آلَافَ الأَنْوَاعِ.</a:t>
            </a:r>
            <a:endParaRPr lang="ar-SA" sz="2400" dirty="0"/>
          </a:p>
        </p:txBody>
      </p:sp>
      <p:sp>
        <p:nvSpPr>
          <p:cNvPr id="32" name="Text 29"/>
          <p:cNvSpPr txBox="1"/>
          <p:nvPr/>
        </p:nvSpPr>
        <p:spPr>
          <a:xfrm>
            <a:off x="457200" y="3364992"/>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Coral forms a vital environment.</a:t>
            </a:r>
            <a:endParaRPr lang="en-US" sz="1200" dirty="0"/>
          </a:p>
        </p:txBody>
      </p:sp>
      <p:sp>
        <p:nvSpPr>
          <p:cNvPr id="33" name="Shape 30"/>
          <p:cNvSpPr/>
          <p:nvPr/>
        </p:nvSpPr>
        <p:spPr>
          <a:xfrm>
            <a:off x="9089136" y="3364992"/>
            <a:ext cx="2642616" cy="768096"/>
          </a:xfrm>
          <a:prstGeom prst="roundRect">
            <a:avLst>
              <a:gd name="adj" fmla="val 7143"/>
            </a:avLst>
          </a:prstGeom>
          <a:solidFill>
            <a:srgbClr val="E3F2F3"/>
          </a:solidFill>
          <a:ln w="9525">
            <a:solidFill>
              <a:srgbClr val="E3F2F3"/>
            </a:solidFill>
            <a:prstDash val="solid"/>
          </a:ln>
        </p:spPr>
      </p:sp>
      <p:sp>
        <p:nvSpPr>
          <p:cNvPr id="34" name="Text 31"/>
          <p:cNvSpPr txBox="1"/>
          <p:nvPr/>
        </p:nvSpPr>
        <p:spPr>
          <a:xfrm>
            <a:off x="9162288"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يُشَكِّلُ</a:t>
            </a:r>
            <a:endParaRPr lang="ar-SA" sz="2400" dirty="0"/>
          </a:p>
        </p:txBody>
      </p:sp>
      <p:sp>
        <p:nvSpPr>
          <p:cNvPr id="35" name="Shape 32"/>
          <p:cNvSpPr/>
          <p:nvPr/>
        </p:nvSpPr>
        <p:spPr>
          <a:xfrm>
            <a:off x="6336792" y="3364992"/>
            <a:ext cx="2642616" cy="768096"/>
          </a:xfrm>
          <a:prstGeom prst="roundRect">
            <a:avLst>
              <a:gd name="adj" fmla="val 7143"/>
            </a:avLst>
          </a:prstGeom>
          <a:solidFill>
            <a:srgbClr val="EEF3FA"/>
          </a:solidFill>
          <a:ln w="9525">
            <a:solidFill>
              <a:srgbClr val="EEF3FA"/>
            </a:solidFill>
            <a:prstDash val="solid"/>
          </a:ln>
        </p:spPr>
      </p:sp>
      <p:sp>
        <p:nvSpPr>
          <p:cNvPr id="36" name="Text 33"/>
          <p:cNvSpPr txBox="1"/>
          <p:nvPr/>
        </p:nvSpPr>
        <p:spPr>
          <a:xfrm>
            <a:off x="6409944"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المَرْجَانُ</a:t>
            </a:r>
            <a:endParaRPr lang="ar-SA" sz="2400" dirty="0"/>
          </a:p>
        </p:txBody>
      </p:sp>
      <p:sp>
        <p:nvSpPr>
          <p:cNvPr id="37" name="Shape 34"/>
          <p:cNvSpPr/>
          <p:nvPr/>
        </p:nvSpPr>
        <p:spPr>
          <a:xfrm>
            <a:off x="3584448" y="3364992"/>
            <a:ext cx="2642616" cy="768096"/>
          </a:xfrm>
          <a:prstGeom prst="roundRect">
            <a:avLst>
              <a:gd name="adj" fmla="val 7143"/>
            </a:avLst>
          </a:prstGeom>
          <a:solidFill>
            <a:srgbClr val="F8F0DC"/>
          </a:solidFill>
          <a:ln w="9525">
            <a:solidFill>
              <a:srgbClr val="F8F0DC"/>
            </a:solidFill>
            <a:prstDash val="solid"/>
          </a:ln>
        </p:spPr>
      </p:sp>
      <p:sp>
        <p:nvSpPr>
          <p:cNvPr id="38" name="Text 35"/>
          <p:cNvSpPr txBox="1"/>
          <p:nvPr/>
        </p:nvSpPr>
        <p:spPr>
          <a:xfrm>
            <a:off x="3657600" y="3364992"/>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بِيئَةً حَيَوِيَّةً.</a:t>
            </a:r>
            <a:endParaRPr lang="ar-SA" sz="2400" dirty="0"/>
          </a:p>
        </p:txBody>
      </p:sp>
      <p:sp>
        <p:nvSpPr>
          <p:cNvPr id="39" name="Text 36"/>
          <p:cNvSpPr txBox="1"/>
          <p:nvPr/>
        </p:nvSpPr>
        <p:spPr>
          <a:xfrm>
            <a:off x="457200" y="4242816"/>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Each element interacts with the others.</a:t>
            </a:r>
            <a:endParaRPr lang="en-US" sz="1200" dirty="0"/>
          </a:p>
        </p:txBody>
      </p:sp>
      <p:sp>
        <p:nvSpPr>
          <p:cNvPr id="40" name="Shape 37"/>
          <p:cNvSpPr/>
          <p:nvPr/>
        </p:nvSpPr>
        <p:spPr>
          <a:xfrm>
            <a:off x="9089136" y="4242816"/>
            <a:ext cx="2642616" cy="768096"/>
          </a:xfrm>
          <a:prstGeom prst="roundRect">
            <a:avLst>
              <a:gd name="adj" fmla="val 7143"/>
            </a:avLst>
          </a:prstGeom>
          <a:solidFill>
            <a:srgbClr val="E3F2F3"/>
          </a:solidFill>
          <a:ln w="9525">
            <a:solidFill>
              <a:srgbClr val="E3F2F3"/>
            </a:solidFill>
            <a:prstDash val="solid"/>
          </a:ln>
        </p:spPr>
      </p:sp>
      <p:sp>
        <p:nvSpPr>
          <p:cNvPr id="41" name="Text 38"/>
          <p:cNvSpPr txBox="1"/>
          <p:nvPr/>
        </p:nvSpPr>
        <p:spPr>
          <a:xfrm>
            <a:off x="9162288"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يَتَفَاعَلُ</a:t>
            </a:r>
            <a:endParaRPr lang="ar-SA" sz="2400" dirty="0"/>
          </a:p>
        </p:txBody>
      </p:sp>
      <p:sp>
        <p:nvSpPr>
          <p:cNvPr id="42" name="Shape 39"/>
          <p:cNvSpPr/>
          <p:nvPr/>
        </p:nvSpPr>
        <p:spPr>
          <a:xfrm>
            <a:off x="6336792" y="4242816"/>
            <a:ext cx="2642616" cy="768096"/>
          </a:xfrm>
          <a:prstGeom prst="roundRect">
            <a:avLst>
              <a:gd name="adj" fmla="val 7143"/>
            </a:avLst>
          </a:prstGeom>
          <a:solidFill>
            <a:srgbClr val="EEF3FA"/>
          </a:solidFill>
          <a:ln w="9525">
            <a:solidFill>
              <a:srgbClr val="EEF3FA"/>
            </a:solidFill>
            <a:prstDash val="solid"/>
          </a:ln>
        </p:spPr>
      </p:sp>
      <p:sp>
        <p:nvSpPr>
          <p:cNvPr id="43" name="Text 40"/>
          <p:cNvSpPr txBox="1"/>
          <p:nvPr/>
        </p:nvSpPr>
        <p:spPr>
          <a:xfrm>
            <a:off x="6409944"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كُلُّ عُنْصُرٍ</a:t>
            </a:r>
            <a:endParaRPr lang="ar-SA" sz="2400" dirty="0"/>
          </a:p>
        </p:txBody>
      </p:sp>
      <p:sp>
        <p:nvSpPr>
          <p:cNvPr id="44" name="Shape 41"/>
          <p:cNvSpPr/>
          <p:nvPr/>
        </p:nvSpPr>
        <p:spPr>
          <a:xfrm>
            <a:off x="3584448" y="4242816"/>
            <a:ext cx="2642616" cy="768096"/>
          </a:xfrm>
          <a:prstGeom prst="roundRect">
            <a:avLst>
              <a:gd name="adj" fmla="val 7143"/>
            </a:avLst>
          </a:prstGeom>
          <a:solidFill>
            <a:srgbClr val="F8F0DC"/>
          </a:solidFill>
          <a:ln w="9525">
            <a:solidFill>
              <a:srgbClr val="F8F0DC"/>
            </a:solidFill>
            <a:prstDash val="solid"/>
          </a:ln>
        </p:spPr>
      </p:sp>
      <p:sp>
        <p:nvSpPr>
          <p:cNvPr id="45" name="Text 42"/>
          <p:cNvSpPr txBox="1"/>
          <p:nvPr/>
        </p:nvSpPr>
        <p:spPr>
          <a:xfrm>
            <a:off x="3657600" y="4242816"/>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مَعَ العَنَاصِرِ الأُخْرَى.</a:t>
            </a:r>
            <a:endParaRPr lang="ar-SA" sz="2400" dirty="0"/>
          </a:p>
        </p:txBody>
      </p:sp>
      <p:sp>
        <p:nvSpPr>
          <p:cNvPr id="46" name="Text 43"/>
          <p:cNvSpPr txBox="1"/>
          <p:nvPr/>
        </p:nvSpPr>
        <p:spPr>
          <a:xfrm>
            <a:off x="457200" y="5120640"/>
            <a:ext cx="2926080" cy="768096"/>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The balance depends on every element surviving.</a:t>
            </a:r>
            <a:endParaRPr lang="en-US" sz="1200" dirty="0"/>
          </a:p>
        </p:txBody>
      </p:sp>
      <p:sp>
        <p:nvSpPr>
          <p:cNvPr id="47" name="Shape 44"/>
          <p:cNvSpPr/>
          <p:nvPr/>
        </p:nvSpPr>
        <p:spPr>
          <a:xfrm>
            <a:off x="9089136" y="5120640"/>
            <a:ext cx="2642616" cy="768096"/>
          </a:xfrm>
          <a:prstGeom prst="roundRect">
            <a:avLst>
              <a:gd name="adj" fmla="val 7143"/>
            </a:avLst>
          </a:prstGeom>
          <a:solidFill>
            <a:srgbClr val="E3F2F3"/>
          </a:solidFill>
          <a:ln w="9525">
            <a:solidFill>
              <a:srgbClr val="E3F2F3"/>
            </a:solidFill>
            <a:prstDash val="solid"/>
          </a:ln>
        </p:spPr>
      </p:sp>
      <p:sp>
        <p:nvSpPr>
          <p:cNvPr id="48" name="Text 45"/>
          <p:cNvSpPr txBox="1"/>
          <p:nvPr/>
        </p:nvSpPr>
        <p:spPr>
          <a:xfrm>
            <a:off x="9162288"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يَعْتَمِدُ</a:t>
            </a:r>
            <a:endParaRPr lang="ar-SA" sz="2400" dirty="0"/>
          </a:p>
        </p:txBody>
      </p:sp>
      <p:sp>
        <p:nvSpPr>
          <p:cNvPr id="49" name="Shape 46"/>
          <p:cNvSpPr/>
          <p:nvPr/>
        </p:nvSpPr>
        <p:spPr>
          <a:xfrm>
            <a:off x="6336792" y="5120640"/>
            <a:ext cx="2642616" cy="768096"/>
          </a:xfrm>
          <a:prstGeom prst="roundRect">
            <a:avLst>
              <a:gd name="adj" fmla="val 7143"/>
            </a:avLst>
          </a:prstGeom>
          <a:solidFill>
            <a:srgbClr val="EEF3FA"/>
          </a:solidFill>
          <a:ln w="9525">
            <a:solidFill>
              <a:srgbClr val="EEF3FA"/>
            </a:solidFill>
            <a:prstDash val="solid"/>
          </a:ln>
        </p:spPr>
      </p:sp>
      <p:sp>
        <p:nvSpPr>
          <p:cNvPr id="50" name="Text 47"/>
          <p:cNvSpPr txBox="1"/>
          <p:nvPr/>
        </p:nvSpPr>
        <p:spPr>
          <a:xfrm>
            <a:off x="6409944"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التَّوَازُنُ</a:t>
            </a:r>
            <a:endParaRPr lang="ar-SA" sz="2400" dirty="0"/>
          </a:p>
        </p:txBody>
      </p:sp>
      <p:sp>
        <p:nvSpPr>
          <p:cNvPr id="51" name="Shape 48"/>
          <p:cNvSpPr/>
          <p:nvPr/>
        </p:nvSpPr>
        <p:spPr>
          <a:xfrm>
            <a:off x="3584448" y="5120640"/>
            <a:ext cx="2642616" cy="768096"/>
          </a:xfrm>
          <a:prstGeom prst="roundRect">
            <a:avLst>
              <a:gd name="adj" fmla="val 7143"/>
            </a:avLst>
          </a:prstGeom>
          <a:solidFill>
            <a:srgbClr val="F8F0DC"/>
          </a:solidFill>
          <a:ln w="9525">
            <a:solidFill>
              <a:srgbClr val="F8F0DC"/>
            </a:solidFill>
            <a:prstDash val="solid"/>
          </a:ln>
        </p:spPr>
      </p:sp>
      <p:sp>
        <p:nvSpPr>
          <p:cNvPr id="52" name="Text 49"/>
          <p:cNvSpPr txBox="1"/>
          <p:nvPr/>
        </p:nvSpPr>
        <p:spPr>
          <a:xfrm>
            <a:off x="3657600" y="5120640"/>
            <a:ext cx="2496312" cy="768096"/>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عَلَى بَقَاءِ كُلِّ عُنْصُرٍ.</a:t>
            </a:r>
            <a:endParaRPr lang="ar-SA" sz="2400" dirty="0"/>
          </a:p>
        </p:txBody>
      </p:sp>
      <p:sp>
        <p:nvSpPr>
          <p:cNvPr id="53" name="Text 50"/>
          <p:cNvSpPr txBox="1"/>
          <p:nvPr/>
        </p:nvSpPr>
        <p:spPr>
          <a:xfrm>
            <a:off x="457200" y="5989320"/>
            <a:ext cx="11274552" cy="320040"/>
          </a:xfrm>
          <a:prstGeom prst="rect">
            <a:avLst/>
          </a:prstGeom>
          <a:noFill/>
          <a:ln/>
        </p:spPr>
        <p:txBody>
          <a:bodyPr wrap="square" lIns="0" tIns="0" rIns="0" bIns="0" rtlCol="0" anchor="ctr"/>
          <a:lstStyle/>
          <a:p>
            <a:pPr algn="l" indent="0" marL="0">
              <a:buNone/>
            </a:pPr>
            <a:r>
              <a:rPr lang="en-US" sz="1200" b="1" dirty="0">
                <a:solidFill>
                  <a:srgbClr val="8A6D1E"/>
                </a:solidFill>
                <a:latin typeface="Calibri" pitchFamily="34" charset="0"/>
                <a:ea typeface="Calibri" pitchFamily="34" charset="-122"/>
                <a:cs typeface="Calibri" pitchFamily="34" charset="-120"/>
              </a:rPr>
              <a:t>No preposition after </a:t>
            </a:r>
            <a:pPr algn="l" indent="0" marL="0">
              <a:buNone/>
            </a:pPr>
            <a:r>
              <a:rPr lang="ar-SA" altLang="en-US" sz="1550" b="1" dirty="0">
                <a:solidFill>
                  <a:srgbClr val="8A6D1E"/>
                </a:solidFill>
                <a:latin typeface="Amiri" pitchFamily="34" charset="0"/>
                <a:ea typeface="Amiri" pitchFamily="34" charset="-122"/>
                <a:cs typeface="Amiri" pitchFamily="34" charset="-120"/>
              </a:rPr>
              <a:t>يَضُمُّ / يُشَكِّلُ</a:t>
            </a:r>
            <a:pPr algn="l" indent="0" marL="0">
              <a:buNone/>
            </a:pPr>
            <a:r>
              <a:rPr lang="en-US" sz="1200" b="1" dirty="0">
                <a:solidFill>
                  <a:srgbClr val="8A6D1E"/>
                </a:solidFill>
                <a:latin typeface="Calibri" pitchFamily="34" charset="0"/>
                <a:ea typeface="Calibri" pitchFamily="34" charset="-122"/>
                <a:cs typeface="Calibri" pitchFamily="34" charset="-120"/>
              </a:rPr>
              <a:t>. Fixed partners: </a:t>
            </a:r>
            <a:pPr algn="l" indent="0" marL="0">
              <a:buNone/>
            </a:pPr>
            <a:r>
              <a:rPr lang="ar-SA" altLang="en-US" sz="1550" b="1" dirty="0">
                <a:solidFill>
                  <a:srgbClr val="8A6D1E"/>
                </a:solidFill>
                <a:latin typeface="Amiri" pitchFamily="34" charset="0"/>
                <a:ea typeface="Amiri" pitchFamily="34" charset="-122"/>
                <a:cs typeface="Amiri" pitchFamily="34" charset="-120"/>
              </a:rPr>
              <a:t>يَتَفَاعَلُ مَعَ</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يَعْتَمِدُ عَلَى</a:t>
            </a:r>
            <a:pPr algn="l" indent="0" marL="0">
              <a:buNone/>
            </a:pPr>
            <a:r>
              <a:rPr lang="en-US" sz="1200" b="1" dirty="0">
                <a:solidFill>
                  <a:srgbClr val="8A6D1E"/>
                </a:solidFill>
                <a:latin typeface="Calibri" pitchFamily="34" charset="0"/>
                <a:ea typeface="Calibri" pitchFamily="34" charset="-122"/>
                <a:cs typeface="Calibri" pitchFamily="34" charset="-120"/>
              </a:rPr>
              <a:t> · </a:t>
            </a:r>
            <a:pPr algn="l" indent="0" marL="0">
              <a:buNone/>
            </a:pPr>
            <a:r>
              <a:rPr lang="ar-SA" altLang="en-US" sz="1550" b="1" dirty="0">
                <a:solidFill>
                  <a:srgbClr val="8A6D1E"/>
                </a:solidFill>
                <a:latin typeface="Amiri" pitchFamily="34" charset="0"/>
                <a:ea typeface="Amiri" pitchFamily="34" charset="-122"/>
                <a:cs typeface="Amiri" pitchFamily="34" charset="-120"/>
              </a:rPr>
              <a:t>يُؤَدِّي إِلَى</a:t>
            </a:r>
            <a:endParaRPr lang="en-US" sz="12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5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Threats and purpose: </a:t>
            </a:r>
            <a:pPr algn="l" indent="0" marL="0">
              <a:buNone/>
            </a:pPr>
            <a:r>
              <a:rPr lang="ar-SA" altLang="en-US" sz="3200" b="1" dirty="0">
                <a:solidFill>
                  <a:srgbClr val="1B3B6F"/>
                </a:solidFill>
                <a:latin typeface="Amiri" pitchFamily="34" charset="0"/>
                <a:ea typeface="Amiri" pitchFamily="34" charset="-122"/>
                <a:cs typeface="Amiri" pitchFamily="34" charset="-120"/>
              </a:rPr>
              <a:t>إِذَا</a:t>
            </a:r>
            <a:pPr algn="l" indent="0" marL="0">
              <a:buNone/>
            </a:pPr>
            <a:r>
              <a:rPr lang="en-US" sz="2450" b="1" dirty="0">
                <a:solidFill>
                  <a:srgbClr val="1B3B6F"/>
                </a:solidFill>
                <a:latin typeface="Cambria" pitchFamily="34" charset="0"/>
                <a:ea typeface="Cambria" pitchFamily="34" charset="-122"/>
                <a:cs typeface="Cambria" pitchFamily="34" charset="-120"/>
              </a:rPr>
              <a:t> · </a:t>
            </a:r>
            <a:pPr algn="l" indent="0" marL="0">
              <a:buNone/>
            </a:pPr>
            <a:r>
              <a:rPr lang="ar-SA" altLang="en-US" sz="3200" b="1" dirty="0">
                <a:solidFill>
                  <a:srgbClr val="1B3B6F"/>
                </a:solidFill>
                <a:latin typeface="Amiri" pitchFamily="34" charset="0"/>
                <a:ea typeface="Amiri" pitchFamily="34" charset="-122"/>
                <a:cs typeface="Amiri" pitchFamily="34" charset="-120"/>
              </a:rPr>
              <a:t>لَوْ</a:t>
            </a:r>
            <a:pPr algn="l" indent="0" marL="0">
              <a:buNone/>
            </a:pPr>
            <a:r>
              <a:rPr lang="en-US" sz="2450" b="1" dirty="0">
                <a:solidFill>
                  <a:srgbClr val="1B3B6F"/>
                </a:solidFill>
                <a:latin typeface="Cambria" pitchFamily="34" charset="0"/>
                <a:ea typeface="Cambria" pitchFamily="34" charset="-122"/>
                <a:cs typeface="Cambria" pitchFamily="34" charset="-120"/>
              </a:rPr>
              <a:t> · </a:t>
            </a:r>
            <a:pPr algn="l" indent="0" marL="0">
              <a:buNone/>
            </a:pPr>
            <a:r>
              <a:rPr lang="ar-SA" altLang="en-US" sz="3200" b="1" dirty="0">
                <a:solidFill>
                  <a:srgbClr val="1B3B6F"/>
                </a:solidFill>
                <a:latin typeface="Amiri" pitchFamily="34" charset="0"/>
                <a:ea typeface="Amiri" pitchFamily="34" charset="-122"/>
                <a:cs typeface="Amiri" pitchFamily="34" charset="-120"/>
              </a:rPr>
              <a:t>لِكَيْ</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الشَّرْطُ وَالمَنْصُوبُ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32648" y="1920240"/>
            <a:ext cx="1645920" cy="274320"/>
          </a:xfrm>
          <a:prstGeom prst="roundRect">
            <a:avLst>
              <a:gd name="adj" fmla="val 50000"/>
            </a:avLst>
          </a:prstGeom>
          <a:solidFill>
            <a:srgbClr val="1B3B6F"/>
          </a:solidFill>
          <a:ln w="12700">
            <a:solidFill>
              <a:srgbClr val="1B3B6F"/>
            </a:solidFill>
            <a:prstDash val="solid"/>
          </a:ln>
        </p:spPr>
      </p:sp>
      <p:sp>
        <p:nvSpPr>
          <p:cNvPr id="19" name="Text 16"/>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REAL THREAT · TYPE 1</a:t>
            </a:r>
            <a:endParaRPr lang="en-US" sz="850" dirty="0"/>
          </a:p>
        </p:txBody>
      </p:sp>
      <p:sp>
        <p:nvSpPr>
          <p:cNvPr id="20" name="Text 17"/>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إِذَا … سَـ</a:t>
            </a:r>
            <a:endParaRPr lang="ar-SA" sz="1600" dirty="0"/>
          </a:p>
        </p:txBody>
      </p:sp>
      <p:sp>
        <p:nvSpPr>
          <p:cNvPr id="21" name="Text 18"/>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إِذَا اسْتَمَرَّ الاحْتِرَارُ، سَتَمُوتُ الشِّعَابُ</a:t>
            </a:r>
            <a:endParaRPr lang="ar-SA" sz="2100" dirty="0"/>
          </a:p>
        </p:txBody>
      </p:sp>
      <p:sp>
        <p:nvSpPr>
          <p:cNvPr id="22" name="Text 19"/>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If warming continues, the reefs will die.</a:t>
            </a:r>
            <a:endParaRPr lang="en-US" sz="1200" dirty="0"/>
          </a:p>
        </p:txBody>
      </p:sp>
      <p:sp>
        <p:nvSpPr>
          <p:cNvPr id="23" name="Shape 20"/>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4" name="Text 21"/>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 likely consequence of a current trend: </a:t>
            </a:r>
            <a:pPr algn="l" indent="0" marL="0">
              <a:buNone/>
            </a:pPr>
            <a:r>
              <a:rPr lang="ar-SA" altLang="en-US" sz="1450" dirty="0">
                <a:solidFill>
                  <a:srgbClr val="1F2A37"/>
                </a:solidFill>
                <a:latin typeface="Amiri" pitchFamily="34" charset="0"/>
                <a:ea typeface="Amiri" pitchFamily="34" charset="-122"/>
                <a:cs typeface="Amiri" pitchFamily="34" charset="-120"/>
              </a:rPr>
              <a:t>إِذَا</a:t>
            </a:r>
            <a:pPr algn="l" indent="0" marL="0">
              <a:buNone/>
            </a:pPr>
            <a:r>
              <a:rPr lang="en-US" sz="1100" dirty="0">
                <a:solidFill>
                  <a:srgbClr val="1F2A37"/>
                </a:solidFill>
                <a:latin typeface="Calibri" pitchFamily="34" charset="0"/>
                <a:ea typeface="Calibri" pitchFamily="34" charset="-122"/>
                <a:cs typeface="Calibri" pitchFamily="34" charset="-120"/>
              </a:rPr>
              <a:t> + past → </a:t>
            </a:r>
            <a:pPr algn="l" indent="0" marL="0">
              <a:buNone/>
            </a:pPr>
            <a:r>
              <a:rPr lang="ar-SA" altLang="en-US" sz="1450" dirty="0">
                <a:solidFill>
                  <a:srgbClr val="1F2A37"/>
                </a:solidFill>
                <a:latin typeface="Amiri" pitchFamily="34" charset="0"/>
                <a:ea typeface="Amiri" pitchFamily="34" charset="-122"/>
                <a:cs typeface="Amiri" pitchFamily="34" charset="-120"/>
              </a:rPr>
              <a:t>سَـ</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25" name="Shape 22"/>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13504" y="1920240"/>
            <a:ext cx="150876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4413504"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“WHAT IF” · TYPE 2</a:t>
            </a:r>
            <a:endParaRPr lang="en-US" sz="850" dirty="0"/>
          </a:p>
        </p:txBody>
      </p:sp>
      <p:sp>
        <p:nvSpPr>
          <p:cNvPr id="28" name="Text 25"/>
          <p:cNvSpPr txBox="1"/>
          <p:nvPr/>
        </p:nvSpPr>
        <p:spPr>
          <a:xfrm>
            <a:off x="5967984"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لَوْ … لَـ</a:t>
            </a:r>
            <a:endParaRPr lang="ar-SA" sz="1600" dirty="0"/>
          </a:p>
        </p:txBody>
      </p:sp>
      <p:sp>
        <p:nvSpPr>
          <p:cNvPr id="29" name="Text 26"/>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450" b="1" dirty="0">
                <a:solidFill>
                  <a:srgbClr val="1B3B6F"/>
                </a:solidFill>
                <a:latin typeface="Amiri" pitchFamily="34" charset="0"/>
                <a:ea typeface="Amiri" pitchFamily="34" charset="-122"/>
                <a:cs typeface="Amiri" pitchFamily="34" charset="-120"/>
              </a:rPr>
              <a:t>لَوْ حُمِيَتْ مُبَكِّرًا، لَبَقِيَتِ الشِّعَابُ</a:t>
            </a:r>
            <a:endParaRPr lang="ar-SA" sz="2450" dirty="0"/>
          </a:p>
        </p:txBody>
      </p:sp>
      <p:sp>
        <p:nvSpPr>
          <p:cNvPr id="30" name="Text 27"/>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Had they been protected early, the reefs would have survived.</a:t>
            </a:r>
            <a:endParaRPr lang="en-US" sz="1200" dirty="0"/>
          </a:p>
        </p:txBody>
      </p:sp>
      <p:sp>
        <p:nvSpPr>
          <p:cNvPr id="31" name="Shape 28"/>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2" name="Text 29"/>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What would have been better: </a:t>
            </a:r>
            <a:pPr algn="l" indent="0" marL="0">
              <a:buNone/>
            </a:pPr>
            <a:r>
              <a:rPr lang="ar-SA" altLang="en-US" sz="1450" dirty="0">
                <a:solidFill>
                  <a:srgbClr val="1F2A37"/>
                </a:solidFill>
                <a:latin typeface="Amiri" pitchFamily="34" charset="0"/>
                <a:ea typeface="Amiri" pitchFamily="34" charset="-122"/>
                <a:cs typeface="Amiri" pitchFamily="34" charset="-120"/>
              </a:rPr>
              <a:t>لَوْ</a:t>
            </a:r>
            <a:pPr algn="l" indent="0" marL="0">
              <a:buNone/>
            </a:pPr>
            <a:r>
              <a:rPr lang="en-US" sz="1100" dirty="0">
                <a:solidFill>
                  <a:srgbClr val="1F2A37"/>
                </a:solidFill>
                <a:latin typeface="Calibri" pitchFamily="34" charset="0"/>
                <a:ea typeface="Calibri" pitchFamily="34" charset="-122"/>
                <a:cs typeface="Calibri" pitchFamily="34" charset="-120"/>
              </a:rPr>
              <a:t> + past → </a:t>
            </a:r>
            <a:pPr algn="l" indent="0" marL="0">
              <a:buNone/>
            </a:pPr>
            <a:r>
              <a:rPr lang="ar-SA" altLang="en-US" sz="1450" dirty="0">
                <a:solidFill>
                  <a:srgbClr val="1F2A37"/>
                </a:solidFill>
                <a:latin typeface="Amiri" pitchFamily="34" charset="0"/>
                <a:ea typeface="Amiri" pitchFamily="34" charset="-122"/>
                <a:cs typeface="Amiri" pitchFamily="34" charset="-120"/>
              </a:rPr>
              <a:t>لَـ</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33" name="Shape 30"/>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94360" y="1920240"/>
            <a:ext cx="754380" cy="274320"/>
          </a:xfrm>
          <a:prstGeom prst="roundRect">
            <a:avLst>
              <a:gd name="adj" fmla="val 50000"/>
            </a:avLst>
          </a:prstGeom>
          <a:solidFill>
            <a:srgbClr val="B83227"/>
          </a:solidFill>
          <a:ln w="12700">
            <a:solidFill>
              <a:srgbClr val="B83227"/>
            </a:solidFill>
            <a:prstDash val="solid"/>
          </a:ln>
        </p:spPr>
      </p:sp>
      <p:sp>
        <p:nvSpPr>
          <p:cNvPr id="35" name="Text 32"/>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PURPOSE</a:t>
            </a:r>
            <a:endParaRPr lang="en-US" sz="850" dirty="0"/>
          </a:p>
        </p:txBody>
      </p:sp>
      <p:sp>
        <p:nvSpPr>
          <p:cNvPr id="36" name="Text 33"/>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لِكَيْ + ـَ</a:t>
            </a:r>
            <a:endParaRPr lang="ar-SA" sz="1600" dirty="0"/>
          </a:p>
        </p:txBody>
      </p:sp>
      <p:sp>
        <p:nvSpPr>
          <p:cNvPr id="37" name="Text 34"/>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لِكَيْ نَحْمِيَ الغَابَاتِ</a:t>
            </a:r>
            <a:endParaRPr lang="ar-SA" sz="3200" dirty="0"/>
          </a:p>
        </p:txBody>
      </p:sp>
      <p:sp>
        <p:nvSpPr>
          <p:cNvPr id="38" name="Text 35"/>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so that we protect the forests</a:t>
            </a:r>
            <a:endParaRPr lang="en-US" sz="1200" dirty="0"/>
          </a:p>
        </p:txBody>
      </p:sp>
      <p:sp>
        <p:nvSpPr>
          <p:cNvPr id="39" name="Shape 36"/>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40" name="Text 37"/>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After </a:t>
            </a:r>
            <a:pPr algn="l" indent="0" marL="0">
              <a:buNone/>
            </a:pPr>
            <a:r>
              <a:rPr lang="ar-SA" altLang="en-US" sz="1450" dirty="0">
                <a:solidFill>
                  <a:srgbClr val="1F2A37"/>
                </a:solidFill>
                <a:latin typeface="Amiri" pitchFamily="34" charset="0"/>
                <a:ea typeface="Amiri" pitchFamily="34" charset="-122"/>
                <a:cs typeface="Amiri" pitchFamily="34" charset="-120"/>
              </a:rPr>
              <a:t>لِكَيْ</a:t>
            </a:r>
            <a:pPr algn="l" indent="0" marL="0">
              <a:buNone/>
            </a:pPr>
            <a:r>
              <a:rPr lang="en-US" sz="1100" dirty="0">
                <a:solidFill>
                  <a:srgbClr val="1F2A37"/>
                </a:solidFill>
                <a:latin typeface="Calibri" pitchFamily="34" charset="0"/>
                <a:ea typeface="Calibri" pitchFamily="34" charset="-122"/>
                <a:cs typeface="Calibri" pitchFamily="34" charset="-120"/>
              </a:rPr>
              <a:t> the verb ends in a fatḥa: </a:t>
            </a:r>
            <a:pPr algn="l" indent="0" marL="0">
              <a:buNone/>
            </a:pPr>
            <a:r>
              <a:rPr lang="ar-SA" altLang="en-US" sz="1450" dirty="0">
                <a:solidFill>
                  <a:srgbClr val="1F2A37"/>
                </a:solidFill>
                <a:latin typeface="Amiri" pitchFamily="34" charset="0"/>
                <a:ea typeface="Amiri" pitchFamily="34" charset="-122"/>
                <a:cs typeface="Amiri" pitchFamily="34" charset="-120"/>
              </a:rPr>
              <a:t>نَحْمِيَ</a:t>
            </a:r>
            <a:pPr algn="l" indent="0" marL="0">
              <a:buNone/>
            </a:pPr>
            <a:r>
              <a:rPr lang="en-US" sz="1100" dirty="0">
                <a:solidFill>
                  <a:srgbClr val="1F2A37"/>
                </a:solidFill>
                <a:latin typeface="Calibri" pitchFamily="34" charset="0"/>
                <a:ea typeface="Calibri" pitchFamily="34" charset="-122"/>
                <a:cs typeface="Calibri" pitchFamily="34" charset="-120"/>
              </a:rPr>
              <a:t>, not </a:t>
            </a:r>
            <a:pPr algn="l" indent="0" marL="0">
              <a:buNone/>
            </a:pPr>
            <a:r>
              <a:rPr lang="ar-SA" altLang="en-US" sz="1450" dirty="0">
                <a:solidFill>
                  <a:srgbClr val="1F2A37"/>
                </a:solidFill>
                <a:latin typeface="Amiri" pitchFamily="34" charset="0"/>
                <a:ea typeface="Amiri" pitchFamily="34" charset="-122"/>
                <a:cs typeface="Amiri" pitchFamily="34" charset="-120"/>
              </a:rPr>
              <a:t>نَحْمِي</a:t>
            </a:r>
            <a:pPr algn="l" indent="0" marL="0">
              <a:buNone/>
            </a:pPr>
            <a:r>
              <a:rPr lang="en-US" sz="1100" dirty="0">
                <a:solidFill>
                  <a:srgbClr val="1F2A37"/>
                </a:solidFill>
                <a:latin typeface="Calibri" pitchFamily="34" charset="0"/>
                <a:ea typeface="Calibri" pitchFamily="34" charset="-122"/>
                <a:cs typeface="Calibri" pitchFamily="34" charset="-120"/>
              </a:rPr>
              <a:t>.</a:t>
            </a:r>
            <a:endParaRPr lang="en-US" sz="1100" dirty="0"/>
          </a:p>
        </p:txBody>
      </p:sp>
      <p:sp>
        <p:nvSpPr>
          <p:cNvPr id="41" name="Shape 3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3" name="Text 4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Leaving the verb after </a:t>
            </a:r>
            <a:pPr algn="l" indent="0" marL="0">
              <a:buNone/>
            </a:pPr>
            <a:r>
              <a:rPr lang="ar-SA" altLang="en-US" sz="1500" dirty="0">
                <a:solidFill>
                  <a:srgbClr val="1F2A37"/>
                </a:solidFill>
                <a:latin typeface="Amiri" pitchFamily="34" charset="0"/>
                <a:ea typeface="Amiri" pitchFamily="34" charset="-122"/>
                <a:cs typeface="Amiri" pitchFamily="34" charset="-120"/>
              </a:rPr>
              <a:t>لِكَي</a:t>
            </a:r>
            <a:pPr algn="l" indent="0" marL="0">
              <a:buNone/>
            </a:pPr>
            <a:r>
              <a:rPr lang="en-US" sz="1150" dirty="0">
                <a:solidFill>
                  <a:srgbClr val="1F2A37"/>
                </a:solidFill>
                <a:latin typeface="Calibri" pitchFamily="34" charset="0"/>
                <a:ea typeface="Calibri" pitchFamily="34" charset="-122"/>
                <a:cs typeface="Calibri" pitchFamily="34" charset="-120"/>
              </a:rPr>
              <a:t> in the indicative (</a:t>
            </a:r>
            <a:pPr algn="l" indent="0" marL="0">
              <a:buNone/>
            </a:pPr>
            <a:r>
              <a:rPr lang="ar-SA" altLang="en-US" sz="1500" dirty="0">
                <a:solidFill>
                  <a:srgbClr val="1F2A37"/>
                </a:solidFill>
                <a:latin typeface="Amiri" pitchFamily="34" charset="0"/>
                <a:ea typeface="Amiri" pitchFamily="34" charset="-122"/>
                <a:cs typeface="Amiri" pitchFamily="34" charset="-120"/>
              </a:rPr>
              <a:t>تَحْمِي</a:t>
            </a:r>
            <a:pPr algn="l" indent="0" marL="0">
              <a:buNone/>
            </a:pPr>
            <a:r>
              <a:rPr lang="en-US" sz="1150" dirty="0">
                <a:solidFill>
                  <a:srgbClr val="1F2A37"/>
                </a:solidFill>
                <a:latin typeface="Calibri" pitchFamily="34" charset="0"/>
                <a:ea typeface="Calibri" pitchFamily="34" charset="-122"/>
                <a:cs typeface="Calibri" pitchFamily="34" charset="-120"/>
              </a:rPr>
              <a:t>) instead of the subjunctive (</a:t>
            </a:r>
            <a:pPr algn="l" indent="0" marL="0">
              <a:buNone/>
            </a:pPr>
            <a:r>
              <a:rPr lang="ar-SA" altLang="en-US" sz="1500" dirty="0">
                <a:solidFill>
                  <a:srgbClr val="1F2A37"/>
                </a:solidFill>
                <a:latin typeface="Amiri" pitchFamily="34" charset="0"/>
                <a:ea typeface="Amiri" pitchFamily="34" charset="-122"/>
                <a:cs typeface="Amiri" pitchFamily="34" charset="-120"/>
              </a:rPr>
              <a:t>تَحْمِيَ</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44" name="Text 4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لِكَيْ نَحْمِيَ</a:t>
            </a:r>
            <a:endParaRPr lang="ar-SA" sz="2600" dirty="0"/>
          </a:p>
        </p:txBody>
      </p:sp>
      <p:sp>
        <p:nvSpPr>
          <p:cNvPr id="45" name="Text 4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6" name="Text 4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لِكَيْ نَحْمِي</a:t>
            </a:r>
            <a:endParaRPr lang="ar-SA" sz="2600" dirty="0"/>
          </a:p>
        </p:txBody>
      </p:sp>
      <p:sp>
        <p:nvSpPr>
          <p:cNvPr id="47" name="Shape 44"/>
          <p:cNvSpPr/>
          <p:nvPr/>
        </p:nvSpPr>
        <p:spPr>
          <a:xfrm>
            <a:off x="8138160" y="5669280"/>
            <a:ext cx="1371600" cy="0"/>
          </a:xfrm>
          <a:prstGeom prst="line">
            <a:avLst/>
          </a:prstGeom>
          <a:noFill/>
          <a:ln w="25400">
            <a:solidFill>
              <a:srgbClr val="B83227"/>
            </a:solidFill>
            <a:prstDash val="solid"/>
          </a:ln>
        </p:spPr>
      </p:sp>
      <p:sp>
        <p:nvSpPr>
          <p:cNvPr id="48" name="Text 45"/>
          <p:cNvSpPr txBox="1"/>
          <p:nvPr/>
        </p:nvSpPr>
        <p:spPr>
          <a:xfrm>
            <a:off x="626364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لَوْ … لَمَاتَتْ</a:t>
            </a:r>
            <a:endParaRPr lang="ar-SA" sz="2600" dirty="0"/>
          </a:p>
        </p:txBody>
      </p:sp>
      <p:sp>
        <p:nvSpPr>
          <p:cNvPr id="49" name="Text 46"/>
          <p:cNvSpPr txBox="1"/>
          <p:nvPr/>
        </p:nvSpPr>
        <p:spPr>
          <a:xfrm>
            <a:off x="589788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50" name="Text 47"/>
          <p:cNvSpPr txBox="1"/>
          <p:nvPr/>
        </p:nvSpPr>
        <p:spPr>
          <a:xfrm>
            <a:off x="429768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لَوْ … سَتَمُوتُ</a:t>
            </a:r>
            <a:endParaRPr lang="ar-SA" sz="2600" dirty="0"/>
          </a:p>
        </p:txBody>
      </p:sp>
      <p:sp>
        <p:nvSpPr>
          <p:cNvPr id="51" name="Shape 48"/>
          <p:cNvSpPr/>
          <p:nvPr/>
        </p:nvSpPr>
        <p:spPr>
          <a:xfrm>
            <a:off x="4434840" y="5669280"/>
            <a:ext cx="1371600" cy="0"/>
          </a:xfrm>
          <a:prstGeom prst="line">
            <a:avLst/>
          </a:prstGeom>
          <a:noFill/>
          <a:ln w="25400">
            <a:solidFill>
              <a:srgbClr val="B83227"/>
            </a:solidFill>
            <a:prstDash val="solid"/>
          </a:ln>
        </p:spPr>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6 · WEBSITE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The four website rules with examples</a:t>
            </a:r>
            <a:endParaRPr lang="en-US" sz="25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أَمْثِلَةُ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Composition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يَضُمُّ / يُشَكِّلُ</a:t>
            </a:r>
            <a:pPr algn="l" indent="0" marL="0">
              <a:buNone/>
            </a:pPr>
            <a:r>
              <a:rPr lang="en-US" sz="1050" dirty="0">
                <a:solidFill>
                  <a:srgbClr val="5A6472"/>
                </a:solidFill>
                <a:latin typeface="Calibri" pitchFamily="34" charset="0"/>
                <a:ea typeface="Calibri" pitchFamily="34" charset="-122"/>
                <a:cs typeface="Calibri" pitchFamily="34" charset="-120"/>
              </a:rPr>
              <a:t> + object</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تَضُمُّ الغَابَةُ آلَافَ الأَنْوَاعِ   ·   يُشَكِّلُ المَرْجَانُ بِيئَةً حَيَوِيَّةً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Real threat (Type 1)</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إِذَا</a:t>
            </a:r>
            <a:pPr algn="l" indent="0" marL="0">
              <a:buNone/>
            </a:pPr>
            <a:r>
              <a:rPr lang="en-US" sz="1050" dirty="0">
                <a:solidFill>
                  <a:srgbClr val="5A6472"/>
                </a:solidFill>
                <a:latin typeface="Calibri" pitchFamily="34" charset="0"/>
                <a:ea typeface="Calibri" pitchFamily="34" charset="-122"/>
                <a:cs typeface="Calibri" pitchFamily="34" charset="-120"/>
              </a:rPr>
              <a:t> + past → </a:t>
            </a:r>
            <a:pPr algn="l" indent="0" marL="0">
              <a:buNone/>
            </a:pPr>
            <a:r>
              <a:rPr lang="ar-SA" altLang="en-US" sz="1350" dirty="0">
                <a:solidFill>
                  <a:srgbClr val="5A6472"/>
                </a:solidFill>
                <a:latin typeface="Amiri" pitchFamily="34" charset="0"/>
                <a:ea typeface="Amiri" pitchFamily="34" charset="-122"/>
                <a:cs typeface="Amiri" pitchFamily="34" charset="-120"/>
              </a:rPr>
              <a:t>سَـ</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إِذَا اسْتَمَرَّ الاحْتِرَارُ، سَتَتَبَيَّضُ الشِّعَابُ وَتَمُوتُ</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Counterfactual (Type 2)</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لَوْ</a:t>
            </a:r>
            <a:pPr algn="l" indent="0" marL="0">
              <a:buNone/>
            </a:pPr>
            <a:r>
              <a:rPr lang="en-US" sz="1050" dirty="0">
                <a:solidFill>
                  <a:srgbClr val="5A6472"/>
                </a:solidFill>
                <a:latin typeface="Calibri" pitchFamily="34" charset="0"/>
                <a:ea typeface="Calibri" pitchFamily="34" charset="-122"/>
                <a:cs typeface="Calibri" pitchFamily="34" charset="-120"/>
              </a:rPr>
              <a:t> + past → </a:t>
            </a:r>
            <a:pPr algn="l" indent="0" marL="0">
              <a:buNone/>
            </a:pPr>
            <a:r>
              <a:rPr lang="ar-SA" altLang="en-US" sz="1350" dirty="0">
                <a:solidFill>
                  <a:srgbClr val="5A6472"/>
                </a:solidFill>
                <a:latin typeface="Amiri" pitchFamily="34" charset="0"/>
                <a:ea typeface="Amiri" pitchFamily="34" charset="-122"/>
                <a:cs typeface="Amiri" pitchFamily="34" charset="-120"/>
              </a:rPr>
              <a:t>لَـ</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لَوْ كَانَتِ الحِمَايَةُ أَصْرَمَ سَابِقًا، لَكَانَتِ الشِّعَابُ أَفْضَلَ حَالًا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Purpose subjunctive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لِكَيْ</a:t>
            </a:r>
            <a:pPr algn="l" indent="0" marL="0">
              <a:buNone/>
            </a:pPr>
            <a:r>
              <a:rPr lang="en-US" sz="1050" dirty="0">
                <a:solidFill>
                  <a:srgbClr val="5A6472"/>
                </a:solidFill>
                <a:latin typeface="Calibri" pitchFamily="34" charset="0"/>
                <a:ea typeface="Calibri" pitchFamily="34" charset="-122"/>
                <a:cs typeface="Calibri" pitchFamily="34" charset="-120"/>
              </a:rPr>
              <a:t> + verb (final fatḥa)</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تَحْتَاجُ المِنْطَقَةُ إِلَى تَعَاوُنٍ لِكَيْ تَحْمِيَ إِرْثَهَا الطَّبِيعِيَّ</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اسْتِوَائِيَّةٌ غَابَةٌ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غَابَةٌ اسْتِوَائِيَّةٌ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“biodiversity”?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تَنَوُّعٌ حَيَوِيٌّ</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تَوَازُنٌ بِيئِيٌّ</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انْقِرَاضٌ</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بِآلَافِ الأَنْوَاعِ.</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آلَافَ الأَنْوَاعِ.</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لِآلَافِ الأَنْوَاعِ.</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يَتَفَاعَلُ كُلُّ عُنْصُرٍ ___ العَنَاصِرِ الأُخْرَى.</a:t>
            </a:r>
            <a:endParaRPr lang="ar-SA" sz="14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phrase.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غَابَةٌ اسْتِوَائِيٌّ</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اسْتِوَائِيَّةٌ غَابَةٌ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غَابَةٌ اسْتِوَائِيَّةٌ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غَابَة</a:t>
            </a:r>
            <a:pPr algn="l" indent="0" marL="0">
              <a:buNone/>
            </a:pPr>
            <a:r>
              <a:rPr lang="en-US" sz="1050" i="1" dirty="0">
                <a:solidFill>
                  <a:srgbClr val="8A6D1E"/>
                </a:solidFill>
                <a:latin typeface="Calibri" pitchFamily="34" charset="0"/>
                <a:ea typeface="Calibri" pitchFamily="34" charset="-122"/>
                <a:cs typeface="Calibri" pitchFamily="34" charset="-120"/>
              </a:rPr>
              <a:t> is feminine → </a:t>
            </a:r>
            <a:pPr algn="l" indent="0" marL="0">
              <a:buNone/>
            </a:pPr>
            <a:r>
              <a:rPr lang="ar-SA" altLang="en-US" sz="1350" dirty="0">
                <a:solidFill>
                  <a:srgbClr val="8A6D1E"/>
                </a:solidFill>
                <a:latin typeface="Amiri" pitchFamily="34" charset="0"/>
                <a:ea typeface="Amiri" pitchFamily="34" charset="-122"/>
                <a:cs typeface="Amiri" pitchFamily="34" charset="-120"/>
              </a:rPr>
              <a:t>ـِيَّةٌ</a:t>
            </a:r>
            <a:pPr algn="l" indent="0" marL="0">
              <a:buNone/>
            </a:pPr>
            <a:r>
              <a:rPr lang="en-US" sz="1050" i="1" dirty="0">
                <a:solidFill>
                  <a:srgbClr val="8A6D1E"/>
                </a:solidFill>
                <a:latin typeface="Calibri" pitchFamily="34" charset="0"/>
                <a:ea typeface="Calibri" pitchFamily="34" charset="-122"/>
                <a:cs typeface="Calibri" pitchFamily="34" charset="-120"/>
              </a:rPr>
              <a:t>, and the describing word comes AFTER the noun.</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“biodiversity”?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تَنَوُّعٌ حَيَوِيٌّ</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تَوَازُنٌ بِيئِيٌّ</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انْقِرَاضٌ</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تَنَوُّعٌ حَيَوِيٌّ</a:t>
            </a:r>
            <a:pPr algn="l" indent="0" marL="0">
              <a:buNone/>
            </a:pPr>
            <a:r>
              <a:rPr lang="en-US" sz="1050" i="1" dirty="0">
                <a:solidFill>
                  <a:srgbClr val="8A6D1E"/>
                </a:solidFill>
                <a:latin typeface="Calibri" pitchFamily="34" charset="0"/>
                <a:ea typeface="Calibri" pitchFamily="34" charset="-122"/>
                <a:cs typeface="Calibri" pitchFamily="34" charset="-120"/>
              </a:rPr>
              <a:t> = biodiversity (</a:t>
            </a:r>
            <a:pPr algn="l" indent="0" marL="0">
              <a:buNone/>
            </a:pPr>
            <a:r>
              <a:rPr lang="ar-SA" altLang="en-US" sz="1350" dirty="0">
                <a:solidFill>
                  <a:srgbClr val="8A6D1E"/>
                </a:solidFill>
                <a:latin typeface="Amiri" pitchFamily="34" charset="0"/>
                <a:ea typeface="Amiri" pitchFamily="34" charset="-122"/>
                <a:cs typeface="Amiri" pitchFamily="34" charset="-120"/>
              </a:rPr>
              <a:t>حَيَاة</a:t>
            </a:r>
            <a:pPr algn="l" indent="0" marL="0">
              <a:buNone/>
            </a:pPr>
            <a:r>
              <a:rPr lang="en-US" sz="1050" i="1" dirty="0">
                <a:solidFill>
                  <a:srgbClr val="8A6D1E"/>
                </a:solidFill>
                <a:latin typeface="Calibri" pitchFamily="34" charset="0"/>
                <a:ea typeface="Calibri" pitchFamily="34" charset="-122"/>
                <a:cs typeface="Calibri" pitchFamily="34" charset="-120"/>
              </a:rPr>
              <a:t> = life).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تَضُمُّ الغَابَةُ بِآلَافِ الأَنْوَاعِ.</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تَضُمُّ الغَابَةُ آلَافَ الأَنْوَاعِ.</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تَضُمُّ الغَابَةُ لِآلَافِ الأَنْوَاعِ.</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يَضُمُّ</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يَتَفَاعَلُ كُلُّ عُنْصُرٍ ___ العَنَاصِرِ الأُخْرَى.</a:t>
            </a:r>
            <a:endParaRPr lang="ar-SA" sz="14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يَتَفَاعَلُ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مَعَ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Watch me describe a natural place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Choose a place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البَحْرُ</a:t>
            </a:r>
            <a:pPr rtl="1" algn="ctr" indent="0" marL="0">
              <a:buNone/>
            </a:pPr>
            <a:r>
              <a:rPr lang="ar-SA" altLang="en-US" sz="2800" b="1" dirty="0">
                <a:solidFill>
                  <a:srgbClr val="1B3B6F"/>
                </a:solidFill>
                <a:latin typeface="Amiri" pitchFamily="34" charset="0"/>
                <a:ea typeface="Amiri" pitchFamily="34" charset="-122"/>
                <a:cs typeface="Amiri" pitchFamily="34" charset="-120"/>
              </a:rPr>
              <a:t> الأَحْمَرُ</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بَحْر</a:t>
            </a:r>
            <a:pPr algn="l" indent="0" marL="0">
              <a:buNone/>
            </a:pPr>
            <a:r>
              <a:rPr lang="en-US" sz="1150" dirty="0">
                <a:solidFill>
                  <a:srgbClr val="1F2A37"/>
                </a:solidFill>
                <a:latin typeface="Calibri" pitchFamily="34" charset="0"/>
                <a:ea typeface="Calibri" pitchFamily="34" charset="-122"/>
                <a:cs typeface="Calibri" pitchFamily="34" charset="-120"/>
              </a:rPr>
              <a:t> = sea. </a:t>
            </a:r>
            <a:pPr algn="l" indent="0" marL="0">
              <a:buNone/>
            </a:pPr>
            <a:r>
              <a:rPr lang="ar-SA" altLang="en-US" sz="1500" dirty="0">
                <a:solidFill>
                  <a:srgbClr val="1F2A37"/>
                </a:solidFill>
                <a:latin typeface="Amiri" pitchFamily="34" charset="0"/>
                <a:ea typeface="Amiri" pitchFamily="34" charset="-122"/>
                <a:cs typeface="Amiri" pitchFamily="34" charset="-120"/>
              </a:rPr>
              <a:t>الأَحْمَرُ</a:t>
            </a:r>
            <a:pPr algn="l" indent="0" marL="0">
              <a:buNone/>
            </a:pPr>
            <a:r>
              <a:rPr lang="en-US" sz="1150" dirty="0">
                <a:solidFill>
                  <a:srgbClr val="1F2A37"/>
                </a:solidFill>
                <a:latin typeface="Calibri" pitchFamily="34" charset="0"/>
                <a:ea typeface="Calibri" pitchFamily="34" charset="-122"/>
                <a:cs typeface="Calibri" pitchFamily="34" charset="-120"/>
              </a:rPr>
              <a:t> (red) agrees: </a:t>
            </a:r>
            <a:pPr algn="l" indent="0" marL="0">
              <a:buNone/>
            </a:pPr>
            <a:r>
              <a:rPr lang="ar-SA" altLang="en-US" sz="1500" dirty="0">
                <a:solidFill>
                  <a:srgbClr val="1F2A37"/>
                </a:solidFill>
                <a:latin typeface="Amiri" pitchFamily="34" charset="0"/>
                <a:ea typeface="Amiri" pitchFamily="34" charset="-122"/>
                <a:cs typeface="Amiri" pitchFamily="34" charset="-120"/>
              </a:rPr>
              <a:t>ال</a:t>
            </a:r>
            <a:pPr algn="l" indent="0" marL="0">
              <a:buNone/>
            </a:pPr>
            <a:r>
              <a:rPr lang="en-US" sz="1150" dirty="0">
                <a:solidFill>
                  <a:srgbClr val="1F2A37"/>
                </a:solidFill>
                <a:latin typeface="Calibri" pitchFamily="34" charset="0"/>
                <a:ea typeface="Calibri" pitchFamily="34" charset="-122"/>
                <a:cs typeface="Calibri" pitchFamily="34" charset="-120"/>
              </a:rPr>
              <a:t> + masculine.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Say where it is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بَيْنَ آسِيَا وَأَفْرِيقِيَا</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بَيْنَ</a:t>
            </a:r>
            <a:pPr algn="l" indent="0" marL="0">
              <a:buNone/>
            </a:pPr>
            <a:r>
              <a:rPr lang="en-US" sz="1150" dirty="0">
                <a:solidFill>
                  <a:srgbClr val="1F2A37"/>
                </a:solidFill>
                <a:latin typeface="Calibri" pitchFamily="34" charset="0"/>
                <a:ea typeface="Calibri" pitchFamily="34" charset="-122"/>
                <a:cs typeface="Calibri" pitchFamily="34" charset="-120"/>
              </a:rPr>
              <a:t> = between. Recycle the continents from TC-L01.</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What does it include?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يَضُمُّ</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pPr rtl="1" algn="ctr" indent="0" marL="0">
              <a:buNone/>
            </a:pPr>
            <a:r>
              <a:rPr lang="ar-SA" altLang="en-US" sz="2800" b="1" dirty="0">
                <a:solidFill>
                  <a:srgbClr val="1D5FBF"/>
                </a:solidFill>
                <a:latin typeface="Amiri" pitchFamily="34" charset="0"/>
                <a:ea typeface="Amiri" pitchFamily="34" charset="-122"/>
                <a:cs typeface="Amiri" pitchFamily="34" charset="-120"/>
              </a:rPr>
              <a:t>شِعَابًا</a:t>
            </a:r>
            <a:pPr rtl="1" algn="ctr" indent="0" marL="0">
              <a:buNone/>
            </a:pPr>
            <a:r>
              <a:rPr lang="ar-SA" altLang="en-US" sz="2800" b="1" dirty="0">
                <a:solidFill>
                  <a:srgbClr val="1B3B6F"/>
                </a:solidFill>
                <a:latin typeface="Amiri" pitchFamily="34" charset="0"/>
                <a:ea typeface="Amiri" pitchFamily="34" charset="-122"/>
                <a:cs typeface="Amiri" pitchFamily="34" charset="-120"/>
              </a:rPr>
              <a:t> </a:t>
            </a:r>
            <a:pPr rtl="1" algn="ctr" indent="0" marL="0">
              <a:buNone/>
            </a:pPr>
            <a:r>
              <a:rPr lang="ar-SA" altLang="en-US" sz="2800" b="1" dirty="0">
                <a:solidFill>
                  <a:srgbClr val="7B3FA0"/>
                </a:solidFill>
                <a:latin typeface="Amiri" pitchFamily="34" charset="0"/>
                <a:ea typeface="Amiri" pitchFamily="34" charset="-122"/>
                <a:cs typeface="Amiri" pitchFamily="34" charset="-120"/>
              </a:rPr>
              <a:t>مَرْجَانِ</a:t>
            </a:r>
            <a:pPr rtl="1" algn="ctr" indent="0" marL="0">
              <a:buNone/>
            </a:pPr>
            <a:r>
              <a:rPr lang="ar-SA" altLang="en-US" sz="2800" b="1" dirty="0">
                <a:solidFill>
                  <a:srgbClr val="D6336C"/>
                </a:solidFill>
                <a:latin typeface="Amiri" pitchFamily="34" charset="0"/>
                <a:ea typeface="Amiri" pitchFamily="34" charset="-122"/>
                <a:cs typeface="Amiri" pitchFamily="34" charset="-120"/>
              </a:rPr>
              <a:t>يَّةً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يَضُمُّ</a:t>
            </a:r>
            <a:pPr algn="l" indent="0" marL="0">
              <a:buNone/>
            </a:pPr>
            <a:r>
              <a:rPr lang="en-US" sz="1150" dirty="0">
                <a:solidFill>
                  <a:srgbClr val="1F2A37"/>
                </a:solidFill>
                <a:latin typeface="Calibri" pitchFamily="34" charset="0"/>
                <a:ea typeface="Calibri" pitchFamily="34" charset="-122"/>
                <a:cs typeface="Calibri" pitchFamily="34" charset="-120"/>
              </a:rPr>
              <a:t> + object (no </a:t>
            </a:r>
            <a:pPr algn="l" indent="0" marL="0">
              <a:buNone/>
            </a:pPr>
            <a:r>
              <a:rPr lang="ar-SA" altLang="en-US" sz="1500" dirty="0">
                <a:solidFill>
                  <a:srgbClr val="1F2A37"/>
                </a:solidFill>
                <a:latin typeface="Amiri" pitchFamily="34" charset="0"/>
                <a:ea typeface="Amiri" pitchFamily="34" charset="-122"/>
                <a:cs typeface="Amiri" pitchFamily="34" charset="-120"/>
              </a:rPr>
              <a:t>بِـ</a:t>
            </a:r>
            <a:pPr algn="l" indent="0" marL="0">
              <a:buNone/>
            </a:pPr>
            <a:r>
              <a:rPr lang="en-US" sz="1150" dirty="0">
                <a:solidFill>
                  <a:srgbClr val="1F2A37"/>
                </a:solidFill>
                <a:latin typeface="Calibri" pitchFamily="34" charset="0"/>
                <a:ea typeface="Calibri" pitchFamily="34" charset="-122"/>
                <a:cs typeface="Calibri" pitchFamily="34" charset="-120"/>
              </a:rPr>
              <a:t>). </a:t>
            </a:r>
            <a:pPr algn="l" indent="0" marL="0">
              <a:buNone/>
            </a:pPr>
            <a:r>
              <a:rPr lang="ar-SA" altLang="en-US" sz="1500" dirty="0">
                <a:solidFill>
                  <a:srgbClr val="1F2A37"/>
                </a:solidFill>
                <a:latin typeface="Amiri" pitchFamily="34" charset="0"/>
                <a:ea typeface="Amiri" pitchFamily="34" charset="-122"/>
                <a:cs typeface="Amiri" pitchFamily="34" charset="-120"/>
              </a:rPr>
              <a:t>شِعَاب</a:t>
            </a:r>
            <a:pPr algn="l" indent="0" marL="0">
              <a:buNone/>
            </a:pPr>
            <a:r>
              <a:rPr lang="en-US" sz="1150" dirty="0">
                <a:solidFill>
                  <a:srgbClr val="1F2A37"/>
                </a:solidFill>
                <a:latin typeface="Calibri" pitchFamily="34" charset="0"/>
                <a:ea typeface="Calibri" pitchFamily="34" charset="-122"/>
                <a:cs typeface="Calibri" pitchFamily="34" charset="-120"/>
              </a:rPr>
              <a:t> = plural of things → </a:t>
            </a:r>
            <a:pPr algn="l" indent="0" marL="0">
              <a:buNone/>
            </a:pPr>
            <a:r>
              <a:rPr lang="ar-SA" altLang="en-US" sz="1500" dirty="0">
                <a:solidFill>
                  <a:srgbClr val="1F2A37"/>
                </a:solidFill>
                <a:latin typeface="Amiri" pitchFamily="34" charset="0"/>
                <a:ea typeface="Amiri" pitchFamily="34" charset="-122"/>
                <a:cs typeface="Amiri" pitchFamily="34" charset="-120"/>
              </a:rPr>
              <a:t>ـِيَّة</a:t>
            </a:r>
            <a:pPr algn="l" indent="0" marL="0">
              <a:buNone/>
            </a:pPr>
            <a:r>
              <a:rPr lang="en-US" sz="1150" dirty="0">
                <a:solidFill>
                  <a:srgbClr val="1F2A37"/>
                </a:solidFill>
                <a:latin typeface="Calibri" pitchFamily="34" charset="0"/>
                <a:ea typeface="Calibri" pitchFamily="34" charset="-122"/>
                <a:cs typeface="Calibri" pitchFamily="34" charset="-120"/>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Which animals live there?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تَعِيشُ فِيهِ أَسْمَاكٌ كَثِيرَةٌ</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ar-SA" altLang="en-US" sz="1500" dirty="0">
                <a:solidFill>
                  <a:srgbClr val="1F2A37"/>
                </a:solidFill>
                <a:latin typeface="Amiri" pitchFamily="34" charset="0"/>
                <a:ea typeface="Amiri" pitchFamily="34" charset="-122"/>
                <a:cs typeface="Amiri" pitchFamily="34" charset="-120"/>
              </a:rPr>
              <a:t>تَعِيشُ</a:t>
            </a:r>
            <a:pPr algn="l" indent="0" marL="0">
              <a:buNone/>
            </a:pPr>
            <a:r>
              <a:rPr lang="en-US" sz="1150" dirty="0">
                <a:solidFill>
                  <a:srgbClr val="1F2A37"/>
                </a:solidFill>
                <a:latin typeface="Calibri" pitchFamily="34" charset="0"/>
                <a:ea typeface="Calibri" pitchFamily="34" charset="-122"/>
                <a:cs typeface="Calibri" pitchFamily="34" charset="-120"/>
              </a:rPr>
              <a:t> = (they) live — from the website game.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NOUN</a:t>
            </a:r>
            <a:endParaRPr lang="en-US" sz="800" dirty="0"/>
          </a:p>
        </p:txBody>
      </p:sp>
      <p:sp>
        <p:nvSpPr>
          <p:cNvPr id="47" name="Shape 43"/>
          <p:cNvSpPr/>
          <p:nvPr/>
        </p:nvSpPr>
        <p:spPr>
          <a:xfrm>
            <a:off x="8540496" y="4736592"/>
            <a:ext cx="914400" cy="237744"/>
          </a:xfrm>
          <a:prstGeom prst="roundRect">
            <a:avLst>
              <a:gd name="adj" fmla="val 50000"/>
            </a:avLst>
          </a:prstGeom>
          <a:solidFill>
            <a:srgbClr val="7B3FA0"/>
          </a:solidFill>
          <a:ln w="12700">
            <a:solidFill>
              <a:srgbClr val="7B3FA0"/>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MEANING</a:t>
            </a:r>
            <a:endParaRPr lang="en-US" sz="800" dirty="0"/>
          </a:p>
        </p:txBody>
      </p:sp>
      <p:sp>
        <p:nvSpPr>
          <p:cNvPr id="49" name="Shape 45"/>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ENDING</a:t>
            </a:r>
            <a:endParaRPr lang="en-US" sz="800" dirty="0"/>
          </a:p>
        </p:txBody>
      </p:sp>
      <p:sp>
        <p:nvSpPr>
          <p:cNvPr id="51" name="Shape 47"/>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KEY VERB</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D5FBF"/>
                </a:solidFill>
                <a:latin typeface="Amiri" pitchFamily="34" charset="0"/>
                <a:ea typeface="Amiri" pitchFamily="34" charset="-122"/>
                <a:cs typeface="Amiri" pitchFamily="34" charset="-120"/>
              </a:rPr>
              <a:t>البَحْرُ</a:t>
            </a:r>
            <a:pPr rtl="1" algn="r" indent="0" marL="0">
              <a:buNone/>
            </a:pPr>
            <a:r>
              <a:rPr lang="ar-SA" altLang="en-US" sz="2600" b="1" dirty="0">
                <a:solidFill>
                  <a:srgbClr val="1B3B6F"/>
                </a:solidFill>
                <a:latin typeface="Amiri" pitchFamily="34" charset="0"/>
                <a:ea typeface="Amiri" pitchFamily="34" charset="-122"/>
                <a:cs typeface="Amiri" pitchFamily="34" charset="-120"/>
              </a:rPr>
              <a:t> الأَحْمَرُ بَيْنَ آسِيَا وَأَفْرِيقِيَا. </a:t>
            </a:r>
            <a:pPr rtl="1" algn="r" indent="0" marL="0">
              <a:buNone/>
            </a:pPr>
            <a:r>
              <a:rPr lang="ar-SA" altLang="en-US" sz="2600" b="1" dirty="0">
                <a:solidFill>
                  <a:srgbClr val="0E7C86"/>
                </a:solidFill>
                <a:latin typeface="Amiri" pitchFamily="34" charset="0"/>
                <a:ea typeface="Amiri" pitchFamily="34" charset="-122"/>
                <a:cs typeface="Amiri" pitchFamily="34" charset="-120"/>
              </a:rPr>
              <a:t>يَضُمُّ</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1D5FBF"/>
                </a:solidFill>
                <a:latin typeface="Amiri" pitchFamily="34" charset="0"/>
                <a:ea typeface="Amiri" pitchFamily="34" charset="-122"/>
                <a:cs typeface="Amiri" pitchFamily="34" charset="-120"/>
              </a:rPr>
              <a:t>شِعَابًا</a:t>
            </a:r>
            <a:pPr rtl="1" algn="r" indent="0" marL="0">
              <a:buNone/>
            </a:pPr>
            <a:r>
              <a:rPr lang="ar-SA" altLang="en-US" sz="2600" b="1" dirty="0">
                <a:solidFill>
                  <a:srgbClr val="1B3B6F"/>
                </a:solidFill>
                <a:latin typeface="Amiri" pitchFamily="34" charset="0"/>
                <a:ea typeface="Amiri" pitchFamily="34" charset="-122"/>
                <a:cs typeface="Amiri" pitchFamily="34" charset="-120"/>
              </a:rPr>
              <a:t> </a:t>
            </a:r>
            <a:pPr rtl="1" algn="r" indent="0" marL="0">
              <a:buNone/>
            </a:pPr>
            <a:r>
              <a:rPr lang="ar-SA" altLang="en-US" sz="2600" b="1" dirty="0">
                <a:solidFill>
                  <a:srgbClr val="7B3FA0"/>
                </a:solidFill>
                <a:latin typeface="Amiri" pitchFamily="34" charset="0"/>
                <a:ea typeface="Amiri" pitchFamily="34" charset="-122"/>
                <a:cs typeface="Amiri" pitchFamily="34" charset="-120"/>
              </a:rPr>
              <a:t>مَرْجَانِ</a:t>
            </a:r>
            <a:pPr rtl="1" algn="r" indent="0" marL="0">
              <a:buNone/>
            </a:pPr>
            <a:r>
              <a:rPr lang="ar-SA" altLang="en-US" sz="2600" b="1" dirty="0">
                <a:solidFill>
                  <a:srgbClr val="D6336C"/>
                </a:solidFill>
                <a:latin typeface="Amiri" pitchFamily="34" charset="0"/>
                <a:ea typeface="Amiri" pitchFamily="34" charset="-122"/>
                <a:cs typeface="Amiri" pitchFamily="34" charset="-120"/>
              </a:rPr>
              <a:t>يَّةً</a:t>
            </a:r>
            <a:pPr rtl="1" algn="r" indent="0" marL="0">
              <a:buNone/>
            </a:pPr>
            <a:r>
              <a:rPr lang="ar-SA" altLang="en-US" sz="2600" b="1" dirty="0">
                <a:solidFill>
                  <a:srgbClr val="1B3B6F"/>
                </a:solidFill>
                <a:latin typeface="Amiri" pitchFamily="34" charset="0"/>
                <a:ea typeface="Amiri" pitchFamily="34" charset="-122"/>
                <a:cs typeface="Amiri" pitchFamily="34" charset="-120"/>
              </a:rPr>
              <a:t>، وَتَعِيشُ فِيهِ أَسْمَاكٌ كَثِيرَةٌ.</a:t>
            </a:r>
            <a:endParaRPr lang="ar-SA" sz="26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The Red Sea is between Asia and Africa. It includes coral reefs, and many fish live in it.</a:t>
            </a:r>
            <a:endParaRPr lang="en-US" sz="13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Four 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تَعِيشُ الأَسْمَاكُ فِي البَحْرِ.</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Fish live in the sea.</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Website game — a Core sentence.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تَعِيشُ المَاعِزُ فِي المَنَاطِقِ </a:t>
            </a:r>
            <a:pPr rtl="1" algn="r" indent="0" marL="0">
              <a:buNone/>
            </a:pPr>
            <a:r>
              <a:rPr lang="ar-SA" altLang="en-US" sz="2600" b="1" dirty="0">
                <a:solidFill>
                  <a:srgbClr val="7B3FA0"/>
                </a:solidFill>
                <a:latin typeface="Amiri" pitchFamily="34" charset="0"/>
                <a:ea typeface="Amiri" pitchFamily="34" charset="-122"/>
                <a:cs typeface="Amiri" pitchFamily="34" charset="-120"/>
              </a:rPr>
              <a:t>الجَبَلِ</a:t>
            </a:r>
            <a:pPr rtl="1" algn="r" indent="0" marL="0">
              <a:buNone/>
            </a:pPr>
            <a:r>
              <a:rPr lang="ar-SA" altLang="en-US" sz="2600" b="1" dirty="0">
                <a:solidFill>
                  <a:srgbClr val="D6336C"/>
                </a:solidFill>
                <a:latin typeface="Amiri" pitchFamily="34" charset="0"/>
                <a:ea typeface="Amiri" pitchFamily="34" charset="-122"/>
                <a:cs typeface="Amiri" pitchFamily="34" charset="-120"/>
              </a:rPr>
              <a:t>يَّةِ</a:t>
            </a:r>
            <a:pPr rtl="1" algn="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Goats live in mountainous areas.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جَبَل → جَبَلِيَّة: the nisba again.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250" b="1" dirty="0">
                <a:solidFill>
                  <a:srgbClr val="1B3B6F"/>
                </a:solidFill>
                <a:latin typeface="Amiri" pitchFamily="34" charset="0"/>
                <a:ea typeface="Amiri" pitchFamily="34" charset="-122"/>
                <a:cs typeface="Amiri" pitchFamily="34" charset="-120"/>
              </a:rPr>
              <a:t>تَضُمُّ الشِّعَابُ المَرْجَانِيَّةُ فِي البَحْرِ الأَحْمَرِ أَلْفَ نَوْعٍ مِنَ الأَسْمَاكِ.</a:t>
            </a:r>
            <a:endParaRPr lang="ar-SA" sz="225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coral reefs in the Red Sea include a thousand species of fish.</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يَضُمُّ takes a direct object.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تَحْتَاجُ الدُّوَلُ إِلَى تَعَاوُنٍ لِكَيْ تَحْمِيَ هٰذَا الإِرْثَ الطَّبِيعِيَّ.</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Countries need cooperation so that they protect this natural heritage.</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لِكَيْ + subjunctive تَحْمِيَ.</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“NATURE SCENE”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الطَّبِيعَةِ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4"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6"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7"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8"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29"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4"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6"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7"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8"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9"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تَعِيشُ الأَسْمَاكُ فِي الْبَحْرِ.</a:t>
            </a:r>
            <a:endParaRPr lang="ar-SA" sz="2000" dirty="0"/>
          </a:p>
        </p:txBody>
      </p:sp>
      <p:sp>
        <p:nvSpPr>
          <p:cNvPr id="40"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1"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42"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3"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الصَّحْرَاءِ نَبَاتَاتٌ تَتَحَمَّلُ الْجَفَافَ.</a:t>
            </a:r>
            <a:endParaRPr lang="ar-SA" sz="2000" dirty="0"/>
          </a:p>
        </p:txBody>
      </p:sp>
      <p:sp>
        <p:nvSpPr>
          <p:cNvPr id="44"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5"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6"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7"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تَعِيشُ الْمَاعِزُ فِي الْمَنَاطِقِ الْجَبَلِيَّةِ.</a:t>
            </a:r>
            <a:endParaRPr lang="ar-SA" sz="2000" dirty="0"/>
          </a:p>
        </p:txBody>
      </p:sp>
      <p:sp>
        <p:nvSpPr>
          <p:cNvPr id="48"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9"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0"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الطَّبِيعَةِ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4"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5" name="Text 20"/>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تَعِيشُ الْمَاعِزُ فِي الْمَنَاطِقِ الْجَبَلِيَّةِ.</a:t>
            </a:r>
            <a:endParaRPr lang="ar-SA" sz="2200" dirty="0"/>
          </a:p>
        </p:txBody>
      </p:sp>
      <p:sp>
        <p:nvSpPr>
          <p:cNvPr id="26"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Goats live in mountainous areas.</a:t>
            </a:r>
            <a:endParaRPr lang="en-US" sz="1200" dirty="0"/>
          </a:p>
        </p:txBody>
      </p:sp>
      <p:sp>
        <p:nvSpPr>
          <p:cNvPr id="27"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0"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2"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4"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7"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تَعِيشُ الأَسْمَاكُ فِي الْبَحْرِ.</a:t>
            </a:r>
            <a:endParaRPr lang="ar-SA" sz="2200" dirty="0"/>
          </a:p>
        </p:txBody>
      </p:sp>
      <p:sp>
        <p:nvSpPr>
          <p:cNvPr id="38"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Fish live in the sea.</a:t>
            </a:r>
            <a:endParaRPr lang="en-US" sz="1200" dirty="0"/>
          </a:p>
        </p:txBody>
      </p:sp>
      <p:sp>
        <p:nvSpPr>
          <p:cNvPr id="39"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3"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4"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5"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6"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7"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8"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9" name="Text 40"/>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فِي الصَّحْرَاءِ نَبَاتَاتٌ تَتَحَمَّلُ الْجَفَافَ.</a:t>
            </a:r>
            <a:endParaRPr lang="ar-SA" sz="2200" dirty="0"/>
          </a:p>
        </p:txBody>
      </p:sp>
      <p:sp>
        <p:nvSpPr>
          <p:cNvPr id="50"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In the desert there are plants that tolerate drought.</a:t>
            </a:r>
            <a:endParaRPr lang="en-US" sz="1200" dirty="0"/>
          </a:p>
        </p:txBody>
      </p:sp>
      <p:sp>
        <p:nvSpPr>
          <p:cNvPr id="51"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CHALLENGE “LANDSCAPE CLASSIFICATION”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Landscape, animal or ecosystem?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جَبَلٌ</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جَمَلٌ</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نِظَامٌ بِيئِيٌّ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صَحْرَاءُ</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شِعَابٌ مَرْجَانِيَّةٌ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نَهْرٌ</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سِلْسِلَةٌ غِذَائِيَّةٌ</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سَمَكٌ</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Landscape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Animal</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Ecosystem</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Landscape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جَبَلٌ</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صَحْرَاءُ</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نَهْرٌ</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Animal</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جَمَلٌ</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أَسَدٌ</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سَمَكٌ</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Ecosystem</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نِظَامٌ بِيئِيٌّ</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شِعَابٌ مَرْجَانِيَّةٌ</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سِلْسِلَةٌ غِذَائِيَّةٌ</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SENTENCE BUILDER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Build the sentence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ea typeface="Calibri" pitchFamily="34" charset="-122"/>
                <a:cs typeface="Calibri" pitchFamily="34" charset="-120"/>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tropical rainforest is a natural habitat.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البَحْرُ</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الغَابَةُ</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الاسْتِوَائِيَّةُ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الاسْتِوَائِيُّ</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مَوْطِنٌ طَبِيعِيَّةٌ.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مَوْطِنٌ طَبِيعِيٌّ.</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The Red Sea includes coral reefs.</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يَضُمُّ</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يَعْتَمِدُ</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البَحْرُ الأَحْمَرُ</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الصَّحْرَاءُ</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بِشِعَابٍ مَرْجَانِيَّةٍ.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شِعَابًا مَرْجَانِيَّةً.</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ea typeface="Calibri" pitchFamily="34" charset="-122"/>
                <a:cs typeface="Calibri" pitchFamily="34" charset="-120"/>
              </a:rPr>
              <a:t>Each element interacts with the other elements.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يُشَكِّلُ</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يَتَفَاعَلُ</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 عُنْصُرٍ</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كُلُّ عُنْصُرًا</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عَلَى العَنَاصِرِ الأُخْرَى.</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ea typeface="Calibri" pitchFamily="34" charset="-122"/>
                <a:cs typeface="Calibri" pitchFamily="34" charset="-120"/>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34" charset="0"/>
                <a:ea typeface="Amiri" pitchFamily="34" charset="-122"/>
                <a:cs typeface="Amiri" pitchFamily="34" charset="-120"/>
              </a:rPr>
              <a:t>مَعَ العَنَاصِرِ الأُخْرَى.</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SENTENCE BUILDER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تَحَقَّقْ مِنْ جُمَلِكَ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tropical rainforest is a natural habitat.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غَابَة</a:t>
            </a:r>
            <a:pPr algn="l" indent="0" marL="0">
              <a:buNone/>
            </a:pPr>
            <a:r>
              <a:rPr lang="en-US" sz="1050" i="1" dirty="0">
                <a:solidFill>
                  <a:srgbClr val="5A6472"/>
                </a:solidFill>
                <a:latin typeface="Calibri" pitchFamily="34" charset="0"/>
                <a:ea typeface="Calibri" pitchFamily="34" charset="-122"/>
                <a:cs typeface="Calibri" pitchFamily="34" charset="-120"/>
              </a:rPr>
              <a:t> is f. → </a:t>
            </a:r>
            <a:pPr algn="l" indent="0" marL="0">
              <a:buNone/>
            </a:pPr>
            <a:r>
              <a:rPr lang="ar-SA" altLang="en-US" sz="1350" dirty="0">
                <a:solidFill>
                  <a:srgbClr val="5A6472"/>
                </a:solidFill>
                <a:latin typeface="Amiri" pitchFamily="34" charset="0"/>
                <a:ea typeface="Amiri" pitchFamily="34" charset="-122"/>
                <a:cs typeface="Amiri" pitchFamily="34" charset="-120"/>
              </a:rPr>
              <a:t>الاسْتِوَائِيَّةُ</a:t>
            </a:r>
            <a:pPr algn="l" indent="0" marL="0">
              <a:buNone/>
            </a:pPr>
            <a:r>
              <a:rPr lang="en-US" sz="1050" i="1" dirty="0">
                <a:solidFill>
                  <a:srgbClr val="5A6472"/>
                </a:solidFill>
                <a:latin typeface="Calibri" pitchFamily="34" charset="0"/>
                <a:ea typeface="Calibri" pitchFamily="34" charset="-122"/>
                <a:cs typeface="Calibri" pitchFamily="34" charset="-120"/>
              </a:rPr>
              <a:t>; </a:t>
            </a:r>
            <a:pPr algn="l" indent="0" marL="0">
              <a:buNone/>
            </a:pPr>
            <a:r>
              <a:rPr lang="ar-SA" altLang="en-US" sz="1350" dirty="0">
                <a:solidFill>
                  <a:srgbClr val="5A6472"/>
                </a:solidFill>
                <a:latin typeface="Amiri" pitchFamily="34" charset="0"/>
                <a:ea typeface="Amiri" pitchFamily="34" charset="-122"/>
                <a:cs typeface="Amiri" pitchFamily="34" charset="-120"/>
              </a:rPr>
              <a:t>مَوْطِن</a:t>
            </a:r>
            <a:pPr algn="l" indent="0" marL="0">
              <a:buNone/>
            </a:pPr>
            <a:r>
              <a:rPr lang="en-US" sz="1050" i="1" dirty="0">
                <a:solidFill>
                  <a:srgbClr val="5A6472"/>
                </a:solidFill>
                <a:latin typeface="Calibri" pitchFamily="34" charset="0"/>
                <a:ea typeface="Calibri" pitchFamily="34" charset="-122"/>
                <a:cs typeface="Calibri" pitchFamily="34" charset="-120"/>
              </a:rPr>
              <a:t> is m. → </a:t>
            </a:r>
            <a:pPr algn="l" indent="0" marL="0">
              <a:buNone/>
            </a:pPr>
            <a:r>
              <a:rPr lang="ar-SA" altLang="en-US" sz="1350" dirty="0">
                <a:solidFill>
                  <a:srgbClr val="5A6472"/>
                </a:solidFill>
                <a:latin typeface="Amiri" pitchFamily="34" charset="0"/>
                <a:ea typeface="Amiri" pitchFamily="34" charset="-122"/>
                <a:cs typeface="Amiri" pitchFamily="34" charset="-120"/>
              </a:rPr>
              <a:t>طَبِيعِيٌّ</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الغَابَةُ الاسْتِوَائِيَّةُ مَوْطِنٌ طَبِيعِيٌّ.</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The Red Sea includes coral reefs.</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A · A · B</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يَضُمُّ</a:t>
            </a:r>
            <a:pPr algn="l" indent="0" marL="0">
              <a:buNone/>
            </a:pPr>
            <a:r>
              <a:rPr lang="en-US" sz="1050" i="1" dirty="0">
                <a:solidFill>
                  <a:srgbClr val="5A6472"/>
                </a:solidFill>
                <a:latin typeface="Calibri" pitchFamily="34" charset="0"/>
                <a:ea typeface="Calibri" pitchFamily="34" charset="-122"/>
                <a:cs typeface="Calibri" pitchFamily="34" charset="-120"/>
              </a:rPr>
              <a:t> takes a direct object — no </a:t>
            </a:r>
            <a:pPr algn="l" indent="0" marL="0">
              <a:buNone/>
            </a:pPr>
            <a:r>
              <a:rPr lang="ar-SA" altLang="en-US" sz="1350" dirty="0">
                <a:solidFill>
                  <a:srgbClr val="5A6472"/>
                </a:solidFill>
                <a:latin typeface="Amiri" pitchFamily="34" charset="0"/>
                <a:ea typeface="Amiri" pitchFamily="34" charset="-122"/>
                <a:cs typeface="Amiri" pitchFamily="34" charset="-120"/>
              </a:rPr>
              <a:t>بِـ</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يَضُمُّ البَحْرُ الأَحْمَرُ شِعَابًا مَرْجَانِيَّةً.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ea typeface="Calibri" pitchFamily="34" charset="-122"/>
                <a:cs typeface="Calibri" pitchFamily="34" charset="-120"/>
              </a:rPr>
              <a:t>Each element interacts with the other elements.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ea typeface="Calibri" pitchFamily="34" charset="-122"/>
                <a:cs typeface="Calibri" pitchFamily="34" charset="-120"/>
              </a:rPr>
              <a:t>Columns = B · A · B</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يَتَفَاعَلُ</a:t>
            </a:r>
            <a:pPr algn="l" indent="0" marL="0">
              <a:buNone/>
            </a:pPr>
            <a:r>
              <a:rPr lang="en-US" sz="1050" i="1" dirty="0">
                <a:solidFill>
                  <a:srgbClr val="5A6472"/>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5A6472"/>
                </a:solidFill>
                <a:latin typeface="Amiri" pitchFamily="34" charset="0"/>
                <a:ea typeface="Amiri" pitchFamily="34" charset="-122"/>
                <a:cs typeface="Amiri" pitchFamily="34" charset="-120"/>
              </a:rPr>
              <a:t>مَعَ</a:t>
            </a:r>
            <a:pPr algn="l" indent="0" marL="0">
              <a:buNone/>
            </a:pPr>
            <a:r>
              <a:rPr lang="en-US" sz="1050" i="1" dirty="0">
                <a:solidFill>
                  <a:srgbClr val="5A6472"/>
                </a:solidFill>
                <a:latin typeface="Calibri" pitchFamily="34" charset="0"/>
                <a:ea typeface="Calibri" pitchFamily="34" charset="-122"/>
                <a:cs typeface="Calibri" pitchFamily="34" charset="-120"/>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34" charset="0"/>
                <a:ea typeface="Amiri" pitchFamily="34" charset="-122"/>
                <a:cs typeface="Amiri" pitchFamily="34" charset="-120"/>
              </a:rPr>
              <a:t>يَتَفَاعَلُ كُلُّ عُنْصُرٍ مَعَ العَنَاصِرِ الأُخْرَى.</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GUIDED PRACTICE · WEBSITE QUIZ QUESTIONS 5, 8, 3, 4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نَحْتَاجُ إِلَى قَوَانِينَ لِكَيْ ___ الغَابَاتِ.</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نَحْمِيهَا</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ḍamma</a:t>
            </a:r>
            <a:endParaRPr lang="en-US" sz="12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sukūn</a:t>
            </a:r>
            <a:endParaRPr lang="en-US" sz="12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threat (Type 1)?</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اسْتَمَرَّ الاحْتِرَارُ، لَتَبَيَّضَتِ الشِّعَابُ.</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اسْتَمَرَّ الاحْتِرَارُ، سَتَتَبَيَّضُ الشِّعَابُ.</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يَسْتَمِرُّ الاحْتِرَارُ.</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إِذَا صَارَتِ الحِمَايَةُ أَصْرَمَ، سَتَتَحَسَّنُ الشِّعَابُ.</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تُحْمَى الشِّعَابُ.</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لَوْ كَانَتِ الحِمَايَةُ أَصْرَمَ، لَكَانَتِ الشِّعَابُ أَفْضَلَ.</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نَحْتَاجُ إِلَى قَوَانِينَ لِكَيْ ___ الغَابَاتِ.</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نَحْمِي</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نَحْمِيهَا</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نَحْمِيَ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نَحْمِيَ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ḍamma</a:t>
            </a:r>
            <a:endParaRPr lang="en-US" sz="125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sukūn</a:t>
            </a:r>
            <a:endParaRPr lang="en-US" sz="125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subjunctive verb ends in a fatḥa.</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real threat (Type 1)?</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لَوِ اسْتَمَرَّ الاحْتِرَارُ، لَتَبَيَّضَتِ الشِّعَابُ.</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إِذَا اسْتَمَرَّ الاحْتِرَارُ، سَتَتَبَيَّضُ الشِّعَابُ.</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يَسْتَمِرُّ الاحْتِرَارُ.</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إِذَا … سَـ</a:t>
            </a:r>
            <a:pPr algn="l" indent="0" marL="0">
              <a:buNone/>
            </a:pPr>
            <a:r>
              <a:rPr lang="en-US" sz="1050" i="1" dirty="0">
                <a:solidFill>
                  <a:srgbClr val="8A6D1E"/>
                </a:solidFill>
                <a:latin typeface="Calibri" pitchFamily="34" charset="0"/>
                <a:ea typeface="Calibri" pitchFamily="34" charset="-122"/>
                <a:cs typeface="Calibri" pitchFamily="34" charset="-120"/>
              </a:rPr>
              <a:t> states a real, likely consequence.</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counterfactual (Type 2)?</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إِذَا صَارَتِ الحِمَايَةُ أَصْرَمَ، سَتَتَحَسَّنُ الشِّعَابُ.</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تُحْمَى الشِّعَابُ.</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لَوْ كَانَتِ الحِمَايَةُ أَصْرَمَ، لَكَانَتِ الشِّعَابُ أَفْضَلَ.</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لَوْ … لَـ</a:t>
            </a:r>
            <a:pPr algn="l" indent="0" marL="0">
              <a:buNone/>
            </a:pPr>
            <a:r>
              <a:rPr lang="en-US" sz="1050" i="1" dirty="0">
                <a:solidFill>
                  <a:srgbClr val="8A6D1E"/>
                </a:solidFill>
                <a:latin typeface="Calibri" pitchFamily="34" charset="0"/>
                <a:ea typeface="Calibri" pitchFamily="34" charset="-122"/>
                <a:cs typeface="Calibri" pitchFamily="34" charset="-120"/>
              </a:rPr>
              <a:t> imagines an unreal past.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نَحْتَاجُ إِلَى قَوَانِينَ لِكَيْ نَحْمِي الغَابَاتِ.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Look at the last vowel of the verb after </a:t>
            </a:r>
            <a:pPr algn="l" indent="0" marL="0">
              <a:buNone/>
            </a:pPr>
            <a:r>
              <a:rPr lang="ar-SA" altLang="en-US" sz="1700" dirty="0">
                <a:solidFill>
                  <a:srgbClr val="5A6472"/>
                </a:solidFill>
                <a:latin typeface="Amiri" pitchFamily="34" charset="0"/>
                <a:ea typeface="Amiri" pitchFamily="34" charset="-122"/>
                <a:cs typeface="Amiri" pitchFamily="34" charset="-120"/>
              </a:rPr>
              <a:t>لِكَيْ</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تَضُمُّ الغَابَةُ بِآلَافِ الأَنْوَاعِ.</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Does </a:t>
            </a:r>
            <a:pPr algn="l" indent="0" marL="0">
              <a:buNone/>
            </a:pPr>
            <a:r>
              <a:rPr lang="ar-SA" altLang="en-US" sz="1700" dirty="0">
                <a:solidFill>
                  <a:srgbClr val="5A6472"/>
                </a:solidFill>
                <a:latin typeface="Amiri" pitchFamily="34" charset="0"/>
                <a:ea typeface="Amiri" pitchFamily="34" charset="-122"/>
                <a:cs typeface="Amiri" pitchFamily="34" charset="-120"/>
              </a:rPr>
              <a:t>يَضُمُّ</a:t>
            </a:r>
            <a:pPr algn="l" indent="0" marL="0">
              <a:buNone/>
            </a:pPr>
            <a:r>
              <a:rPr lang="en-US" sz="1300" i="1" dirty="0">
                <a:solidFill>
                  <a:srgbClr val="5A6472"/>
                </a:solidFill>
                <a:latin typeface="Calibri" pitchFamily="34" charset="0"/>
                <a:ea typeface="Calibri" pitchFamily="34" charset="-122"/>
                <a:cs typeface="Calibri" pitchFamily="34" charset="-120"/>
              </a:rPr>
              <a:t> need </a:t>
            </a:r>
            <a:pPr algn="l" indent="0" marL="0">
              <a:buNone/>
            </a:pPr>
            <a:r>
              <a:rPr lang="ar-SA" altLang="en-US" sz="1700" dirty="0">
                <a:solidFill>
                  <a:srgbClr val="5A6472"/>
                </a:solidFill>
                <a:latin typeface="Amiri" pitchFamily="34" charset="0"/>
                <a:ea typeface="Amiri" pitchFamily="34" charset="-122"/>
                <a:cs typeface="Amiri" pitchFamily="34" charset="-120"/>
              </a:rPr>
              <a:t>بِـ</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لَوِ اسْتَمَرَّ الاحْتِرَارُ، سَتَمُوتُ الشِّعَابُ.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wrong? After </a:t>
            </a:r>
            <a:pPr algn="l" indent="0" marL="0">
              <a:buNone/>
            </a:pPr>
            <a:r>
              <a:rPr lang="ar-SA" altLang="en-US" sz="1700" dirty="0">
                <a:solidFill>
                  <a:srgbClr val="5A6472"/>
                </a:solidFill>
                <a:latin typeface="Amiri" pitchFamily="34" charset="0"/>
                <a:ea typeface="Amiri" pitchFamily="34" charset="-122"/>
                <a:cs typeface="Amiri" pitchFamily="34" charset="-120"/>
              </a:rPr>
              <a:t>لَوْ</a:t>
            </a:r>
            <a:pPr algn="l" indent="0" marL="0">
              <a:buNone/>
            </a:pPr>
            <a:r>
              <a:rPr lang="en-US" sz="1300" i="1" dirty="0">
                <a:solidFill>
                  <a:srgbClr val="5A6472"/>
                </a:solidFill>
                <a:latin typeface="Calibri" pitchFamily="34" charset="0"/>
                <a:ea typeface="Calibri" pitchFamily="34" charset="-122"/>
                <a:cs typeface="Calibri" pitchFamily="34" charset="-120"/>
              </a:rPr>
              <a:t>, which result word: </a:t>
            </a:r>
            <a:pPr algn="l" indent="0" marL="0">
              <a:buNone/>
            </a:pPr>
            <a:r>
              <a:rPr lang="ar-SA" altLang="en-US" sz="1700" dirty="0">
                <a:solidFill>
                  <a:srgbClr val="5A6472"/>
                </a:solidFill>
                <a:latin typeface="Amiri" pitchFamily="34" charset="0"/>
                <a:ea typeface="Amiri" pitchFamily="34" charset="-122"/>
                <a:cs typeface="Amiri" pitchFamily="34" charset="-120"/>
              </a:rPr>
              <a:t>سَـ</a:t>
            </a:r>
            <a:pPr algn="l" indent="0" marL="0">
              <a:buNone/>
            </a:pPr>
            <a:r>
              <a:rPr lang="en-US" sz="1300" i="1" dirty="0">
                <a:solidFill>
                  <a:srgbClr val="5A6472"/>
                </a:solidFill>
                <a:latin typeface="Calibri" pitchFamily="34" charset="0"/>
                <a:ea typeface="Calibri" pitchFamily="34" charset="-122"/>
                <a:cs typeface="Calibri" pitchFamily="34" charset="-120"/>
              </a:rPr>
              <a:t> or </a:t>
            </a:r>
            <a:pPr algn="l" indent="0" marL="0">
              <a:buNone/>
            </a:pPr>
            <a:r>
              <a:rPr lang="ar-SA" altLang="en-US" sz="1700" dirty="0">
                <a:solidFill>
                  <a:srgbClr val="5A6472"/>
                </a:solidFill>
                <a:latin typeface="Amiri" pitchFamily="34" charset="0"/>
                <a:ea typeface="Amiri" pitchFamily="34" charset="-122"/>
                <a:cs typeface="Amiri" pitchFamily="34" charset="-120"/>
              </a:rPr>
              <a:t>لَـ</a:t>
            </a:r>
            <a:pPr algn="l" indent="0" marL="0">
              <a:buNone/>
            </a:pPr>
            <a:r>
              <a:rPr lang="en-US" sz="1300" i="1" dirty="0">
                <a:solidFill>
                  <a:srgbClr val="5A6472"/>
                </a:solidFill>
                <a:latin typeface="Calibri" pitchFamily="34" charset="0"/>
                <a:ea typeface="Calibri" pitchFamily="34" charset="-122"/>
                <a:cs typeface="Calibri" pitchFamily="34" charset="-120"/>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34" charset="0"/>
                <a:ea typeface="Amiri" pitchFamily="34" charset="-122"/>
                <a:cs typeface="Amiri" pitchFamily="34" charset="-120"/>
              </a:rPr>
              <a:t>نَحْتَاجُ إِلَى قَوَانِينَ لِكَيْ نَحْمِي الغَابَاتِ.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نَحْتَاجُ إِلَى قَوَانِينَ لِكَيْ نَحْمِيَ الغَابَاتِ.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After </a:t>
            </a:r>
            <a:pPr algn="l" indent="0" marL="0">
              <a:buNone/>
            </a:pPr>
            <a:r>
              <a:rPr lang="ar-SA" altLang="en-US" sz="1500" b="1" dirty="0">
                <a:solidFill>
                  <a:srgbClr val="1B3B6F"/>
                </a:solidFill>
                <a:latin typeface="Amiri" pitchFamily="34" charset="0"/>
                <a:ea typeface="Amiri" pitchFamily="34" charset="-122"/>
                <a:cs typeface="Amiri" pitchFamily="34" charset="-120"/>
              </a:rPr>
              <a:t>لِكَي</a:t>
            </a:r>
            <a:pPr algn="l" indent="0" marL="0">
              <a:buNone/>
            </a:pPr>
            <a:r>
              <a:rPr lang="en-US" sz="1150" b="1" dirty="0">
                <a:solidFill>
                  <a:srgbClr val="1B3B6F"/>
                </a:solidFill>
                <a:latin typeface="Calibri" pitchFamily="34" charset="0"/>
                <a:ea typeface="Calibri" pitchFamily="34" charset="-122"/>
                <a:cs typeface="Calibri" pitchFamily="34" charset="-120"/>
              </a:rPr>
              <a:t> the verb is subjunctive: </a:t>
            </a:r>
            <a:pPr algn="l" indent="0" marL="0">
              <a:buNone/>
            </a:pPr>
            <a:r>
              <a:rPr lang="ar-SA" altLang="en-US" sz="1500" b="1" dirty="0">
                <a:solidFill>
                  <a:srgbClr val="1B3B6F"/>
                </a:solidFill>
                <a:latin typeface="Amiri" pitchFamily="34" charset="0"/>
                <a:ea typeface="Amiri" pitchFamily="34" charset="-122"/>
                <a:cs typeface="Amiri" pitchFamily="34" charset="-120"/>
              </a:rPr>
              <a:t>نَحْمِيَ</a:t>
            </a:r>
            <a:pPr algn="l" indent="0" marL="0">
              <a:buNone/>
            </a:pPr>
            <a:r>
              <a:rPr lang="en-US" sz="1150" b="1" dirty="0">
                <a:solidFill>
                  <a:srgbClr val="1B3B6F"/>
                </a:solidFill>
                <a:latin typeface="Calibri" pitchFamily="34" charset="0"/>
                <a:ea typeface="Calibri" pitchFamily="34" charset="-122"/>
                <a:cs typeface="Calibri" pitchFamily="34" charset="-120"/>
              </a:rPr>
              <a:t>, with a final fatḥa.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تَضُمُّ الغَابَةُ بِآلَافِ الأَنْوَاعِ.</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تَضُمُّ الغَابَةُ آلَافَ الأَنْوَاعِ.</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يَضُمُّ</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 with no preposition.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لَوِ اسْتَمَرَّ الاحْتِرَارُ، سَتَمُوتُ الشِّعَابُ.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لَوِ اسْتَمَرَّ الاحْتِرَارُ، لَمَاتَتِ الشِّعَابُ.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Type 2 result takes </a:t>
            </a:r>
            <a:pPr algn="l" indent="0" marL="0">
              <a:buNone/>
            </a:pPr>
            <a:r>
              <a:rPr lang="ar-SA" altLang="en-US" sz="1500" b="1" dirty="0">
                <a:solidFill>
                  <a:srgbClr val="1B3B6F"/>
                </a:solidFill>
                <a:latin typeface="Amiri" pitchFamily="34" charset="0"/>
                <a:ea typeface="Amiri" pitchFamily="34" charset="-122"/>
                <a:cs typeface="Amiri" pitchFamily="34" charset="-120"/>
              </a:rPr>
              <a:t>لَـ</a:t>
            </a:r>
            <a:pPr algn="l" indent="0" marL="0">
              <a:buNone/>
            </a:pPr>
            <a:r>
              <a:rPr lang="en-US" sz="1150" b="1" dirty="0">
                <a:solidFill>
                  <a:srgbClr val="1B3B6F"/>
                </a:solidFill>
                <a:latin typeface="Calibri" pitchFamily="34" charset="0"/>
                <a:ea typeface="Calibri" pitchFamily="34" charset="-122"/>
                <a:cs typeface="Calibri" pitchFamily="34" charset="-120"/>
              </a:rPr>
              <a:t>, not </a:t>
            </a:r>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Listening: the Red Sea's coral reefs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Red Sea encompass?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Some of the world's richest marine coral reefs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sand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life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coral form?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barrier to fish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indispensable environment for thousands of fish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Reefs are indestructible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Warming has stopped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ocean warming continues, reefs will bleach and die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protection been stricter, the reefs would be better today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Protection makes no difference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reefs cannot recover</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the region's states need cooperation?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exploit the reefs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they protect this natural heritage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tourism only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1st time: just listen. 2nd time: choose A, B or C.</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Core: questions 1–2 — 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يَضُمُّ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(includes),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يُشَكِّلُ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(forms),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شِعَاب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(reefs) and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أَسْمَاك</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(fish).</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579991"/>
          </a:xfrm>
          <a:prstGeom prst="roundRect">
            <a:avLst>
              <a:gd name="adj" fmla="val 7883"/>
            </a:avLst>
          </a:prstGeom>
          <a:solidFill>
            <a:srgbClr val="FFFFFF"/>
          </a:solidFill>
          <a:ln w="9525">
            <a:solidFill>
              <a:srgbClr val="D8D0BF"/>
            </a:solidFill>
            <a:prstDash val="solid"/>
          </a:ln>
        </p:spPr>
      </p:sp>
      <p:sp>
        <p:nvSpPr>
          <p:cNvPr id="16" name="Text 13"/>
          <p:cNvSpPr txBox="1"/>
          <p:nvPr/>
        </p:nvSpPr>
        <p:spPr>
          <a:xfrm>
            <a:off x="4937760" y="1828800"/>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يَقَعُ البَحْرُ الأَحْمَرُ بَيْنَ شِبْهِ الجَزِيرَةِ العَرَبِيَّةِ وَشَمَالِ أَفْرِيقِيَا.</a:t>
            </a:r>
            <a:endParaRPr lang="ar-SA" sz="2000" dirty="0"/>
          </a:p>
        </p:txBody>
      </p:sp>
      <p:sp>
        <p:nvSpPr>
          <p:cNvPr id="17" name="Text 14"/>
          <p:cNvSpPr txBox="1"/>
          <p:nvPr/>
        </p:nvSpPr>
        <p:spPr>
          <a:xfrm>
            <a:off x="640080" y="1828800"/>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Red Sea lies between the Arabian Peninsula and North Africa.</a:t>
            </a:r>
            <a:endParaRPr lang="en-US" sz="1250" dirty="0"/>
          </a:p>
        </p:txBody>
      </p:sp>
      <p:sp>
        <p:nvSpPr>
          <p:cNvPr id="18" name="Shape 15"/>
          <p:cNvSpPr/>
          <p:nvPr/>
        </p:nvSpPr>
        <p:spPr>
          <a:xfrm>
            <a:off x="457200" y="2463655"/>
            <a:ext cx="11274552" cy="579991"/>
          </a:xfrm>
          <a:prstGeom prst="roundRect">
            <a:avLst>
              <a:gd name="adj" fmla="val 7883"/>
            </a:avLst>
          </a:prstGeom>
          <a:solidFill>
            <a:srgbClr val="F4F1EA"/>
          </a:solidFill>
          <a:ln w="9525">
            <a:solidFill>
              <a:srgbClr val="D8D0BF"/>
            </a:solidFill>
            <a:prstDash val="solid"/>
          </a:ln>
        </p:spPr>
      </p:sp>
      <p:sp>
        <p:nvSpPr>
          <p:cNvPr id="19" name="Text 16"/>
          <p:cNvSpPr txBox="1"/>
          <p:nvPr/>
        </p:nvSpPr>
        <p:spPr>
          <a:xfrm>
            <a:off x="4937760" y="2481943"/>
            <a:ext cx="6675120" cy="543415"/>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يَضُمُّ هٰذَا البَحْرُ شِعَابًا مَرْجَانِيَّةً مِنْ أَغْنَى النُّظُمِ البِيئِيَّةِ البَحْرِيَّةِ فِي العَالَمِ.</a:t>
            </a:r>
            <a:endParaRPr lang="ar-SA" sz="1900" dirty="0"/>
          </a:p>
        </p:txBody>
      </p:sp>
      <p:sp>
        <p:nvSpPr>
          <p:cNvPr id="20" name="Text 17"/>
          <p:cNvSpPr txBox="1"/>
          <p:nvPr/>
        </p:nvSpPr>
        <p:spPr>
          <a:xfrm>
            <a:off x="640080" y="2481943"/>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This sea includes coral reefs that are among the richest marine ecosystems in the world.</a:t>
            </a:r>
            <a:endParaRPr lang="en-US" sz="1250" dirty="0"/>
          </a:p>
        </p:txBody>
      </p:sp>
      <p:sp>
        <p:nvSpPr>
          <p:cNvPr id="21" name="Shape 18"/>
          <p:cNvSpPr/>
          <p:nvPr/>
        </p:nvSpPr>
        <p:spPr>
          <a:xfrm>
            <a:off x="457200" y="3116798"/>
            <a:ext cx="11274552" cy="579991"/>
          </a:xfrm>
          <a:prstGeom prst="roundRect">
            <a:avLst>
              <a:gd name="adj" fmla="val 7883"/>
            </a:avLst>
          </a:prstGeom>
          <a:solidFill>
            <a:srgbClr val="FFFFFF"/>
          </a:solidFill>
          <a:ln w="9525">
            <a:solidFill>
              <a:srgbClr val="D8D0BF"/>
            </a:solidFill>
            <a:prstDash val="solid"/>
          </a:ln>
        </p:spPr>
      </p:sp>
      <p:sp>
        <p:nvSpPr>
          <p:cNvPr id="22" name="Text 19"/>
          <p:cNvSpPr txBox="1"/>
          <p:nvPr/>
        </p:nvSpPr>
        <p:spPr>
          <a:xfrm>
            <a:off x="4937760" y="3135086"/>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يُشَكِّلُ المَرْجَانُ بِيئَةً لَا غِنَى عَنْهَا لِآلَافِ الأَسْمَاكِ.</a:t>
            </a:r>
            <a:endParaRPr lang="ar-SA" sz="2000" dirty="0"/>
          </a:p>
        </p:txBody>
      </p:sp>
      <p:sp>
        <p:nvSpPr>
          <p:cNvPr id="23" name="Text 20"/>
          <p:cNvSpPr txBox="1"/>
          <p:nvPr/>
        </p:nvSpPr>
        <p:spPr>
          <a:xfrm>
            <a:off x="640080" y="3135086"/>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Coral forms an environment that thousands of fish cannot do without.</a:t>
            </a:r>
            <a:endParaRPr lang="en-US" sz="1250" dirty="0"/>
          </a:p>
        </p:txBody>
      </p:sp>
      <p:sp>
        <p:nvSpPr>
          <p:cNvPr id="24" name="Shape 21"/>
          <p:cNvSpPr/>
          <p:nvPr/>
        </p:nvSpPr>
        <p:spPr>
          <a:xfrm>
            <a:off x="457200" y="3769941"/>
            <a:ext cx="11274552" cy="579991"/>
          </a:xfrm>
          <a:prstGeom prst="roundRect">
            <a:avLst>
              <a:gd name="adj" fmla="val 7883"/>
            </a:avLst>
          </a:prstGeom>
          <a:solidFill>
            <a:srgbClr val="F4F1EA"/>
          </a:solidFill>
          <a:ln w="9525">
            <a:solidFill>
              <a:srgbClr val="D8D0BF"/>
            </a:solidFill>
            <a:prstDash val="solid"/>
          </a:ln>
        </p:spPr>
      </p:sp>
      <p:sp>
        <p:nvSpPr>
          <p:cNvPr id="25" name="Text 22"/>
          <p:cNvSpPr txBox="1"/>
          <p:nvPr/>
        </p:nvSpPr>
        <p:spPr>
          <a:xfrm>
            <a:off x="4937760" y="3788229"/>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غَيْرَ أَنَّ الاحْتِرَارَ يُهَدِّدُ هٰذَا التَّوَازُنَ.</a:t>
            </a:r>
            <a:endParaRPr lang="ar-SA" sz="2000" dirty="0"/>
          </a:p>
        </p:txBody>
      </p:sp>
      <p:sp>
        <p:nvSpPr>
          <p:cNvPr id="26" name="Text 23"/>
          <p:cNvSpPr txBox="1"/>
          <p:nvPr/>
        </p:nvSpPr>
        <p:spPr>
          <a:xfrm>
            <a:off x="640080" y="3788229"/>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However, (global) warming threatens this balance.</a:t>
            </a:r>
            <a:endParaRPr lang="en-US" sz="1250" dirty="0"/>
          </a:p>
        </p:txBody>
      </p:sp>
      <p:sp>
        <p:nvSpPr>
          <p:cNvPr id="27" name="Shape 24"/>
          <p:cNvSpPr/>
          <p:nvPr/>
        </p:nvSpPr>
        <p:spPr>
          <a:xfrm>
            <a:off x="457200" y="4423083"/>
            <a:ext cx="11274552" cy="579991"/>
          </a:xfrm>
          <a:prstGeom prst="roundRect">
            <a:avLst>
              <a:gd name="adj" fmla="val 7883"/>
            </a:avLst>
          </a:prstGeom>
          <a:solidFill>
            <a:srgbClr val="FFFFFF"/>
          </a:solidFill>
          <a:ln w="9525">
            <a:solidFill>
              <a:srgbClr val="D8D0BF"/>
            </a:solidFill>
            <a:prstDash val="solid"/>
          </a:ln>
        </p:spPr>
      </p:sp>
      <p:sp>
        <p:nvSpPr>
          <p:cNvPr id="28" name="Text 25"/>
          <p:cNvSpPr txBox="1"/>
          <p:nvPr/>
        </p:nvSpPr>
        <p:spPr>
          <a:xfrm>
            <a:off x="4937760" y="4441371"/>
            <a:ext cx="6675120" cy="543415"/>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إِذَا اسْتَمَرَّ ارْتِفَاعُ حَرَارَةِ المُحِيطَاتِ، سَتَتَبَيَّضُ الشِّعَابُ وَتَمُوتُ.</a:t>
            </a:r>
            <a:endParaRPr lang="ar-SA" sz="2000" dirty="0"/>
          </a:p>
        </p:txBody>
      </p:sp>
      <p:sp>
        <p:nvSpPr>
          <p:cNvPr id="29" name="Text 26"/>
          <p:cNvSpPr txBox="1"/>
          <p:nvPr/>
        </p:nvSpPr>
        <p:spPr>
          <a:xfrm>
            <a:off x="640080" y="4441371"/>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ocean temperatures keep rising, the reefs will bleach and die.</a:t>
            </a:r>
            <a:endParaRPr lang="en-US" sz="1250" dirty="0"/>
          </a:p>
        </p:txBody>
      </p:sp>
      <p:sp>
        <p:nvSpPr>
          <p:cNvPr id="30" name="Shape 27"/>
          <p:cNvSpPr/>
          <p:nvPr/>
        </p:nvSpPr>
        <p:spPr>
          <a:xfrm>
            <a:off x="457200" y="5076226"/>
            <a:ext cx="11274552" cy="579991"/>
          </a:xfrm>
          <a:prstGeom prst="roundRect">
            <a:avLst>
              <a:gd name="adj" fmla="val 7883"/>
            </a:avLst>
          </a:prstGeom>
          <a:solidFill>
            <a:srgbClr val="F4F1EA"/>
          </a:solidFill>
          <a:ln w="9525">
            <a:solidFill>
              <a:srgbClr val="D8D0BF"/>
            </a:solidFill>
            <a:prstDash val="solid"/>
          </a:ln>
        </p:spPr>
      </p:sp>
      <p:sp>
        <p:nvSpPr>
          <p:cNvPr id="31" name="Text 28"/>
          <p:cNvSpPr txBox="1"/>
          <p:nvPr/>
        </p:nvSpPr>
        <p:spPr>
          <a:xfrm>
            <a:off x="4937760" y="5094514"/>
            <a:ext cx="6675120" cy="543415"/>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وَلَوْ كَانَتْ إِجْرَاءَاتُ الحِمَايَةِ أَصْرَمَ فِي العُقُودِ المَاضِيَةِ، لَكَانَتِ الشِّعَابُ أَفْضَلَ حَالًا اليَوْمَ.</a:t>
            </a:r>
            <a:endParaRPr lang="ar-SA" sz="1650" dirty="0"/>
          </a:p>
        </p:txBody>
      </p:sp>
      <p:sp>
        <p:nvSpPr>
          <p:cNvPr id="32" name="Text 29"/>
          <p:cNvSpPr txBox="1"/>
          <p:nvPr/>
        </p:nvSpPr>
        <p:spPr>
          <a:xfrm>
            <a:off x="640080" y="5094514"/>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Had protection been stricter in past decades, the reefs would be in a better state today.</a:t>
            </a:r>
            <a:endParaRPr lang="en-US" sz="1250" dirty="0"/>
          </a:p>
        </p:txBody>
      </p:sp>
      <p:sp>
        <p:nvSpPr>
          <p:cNvPr id="33" name="Shape 30"/>
          <p:cNvSpPr/>
          <p:nvPr/>
        </p:nvSpPr>
        <p:spPr>
          <a:xfrm>
            <a:off x="457200" y="5729369"/>
            <a:ext cx="11274552" cy="579991"/>
          </a:xfrm>
          <a:prstGeom prst="roundRect">
            <a:avLst>
              <a:gd name="adj" fmla="val 7883"/>
            </a:avLst>
          </a:prstGeom>
          <a:solidFill>
            <a:srgbClr val="FFFFFF"/>
          </a:solidFill>
          <a:ln w="9525">
            <a:solidFill>
              <a:srgbClr val="D8D0BF"/>
            </a:solidFill>
            <a:prstDash val="solid"/>
          </a:ln>
        </p:spPr>
      </p:sp>
      <p:sp>
        <p:nvSpPr>
          <p:cNvPr id="34" name="Text 31"/>
          <p:cNvSpPr txBox="1"/>
          <p:nvPr/>
        </p:nvSpPr>
        <p:spPr>
          <a:xfrm>
            <a:off x="4937760" y="5747657"/>
            <a:ext cx="6675120" cy="543415"/>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لِذٰلِكَ تَحْتَاجُ دُوَلُ المِنْطَقَةِ إِلَى تَعَاوُنٍ إِقْلِيمِيٍّ لِكَيْ تَحْمِيَ هٰذَا الإِرْثَ الطَّبِيعِيَّ الاسْتِثْنَائِيَّ.</a:t>
            </a:r>
            <a:endParaRPr lang="ar-SA" sz="1650" dirty="0"/>
          </a:p>
        </p:txBody>
      </p:sp>
      <p:sp>
        <p:nvSpPr>
          <p:cNvPr id="35" name="Text 32"/>
          <p:cNvSpPr txBox="1"/>
          <p:nvPr/>
        </p:nvSpPr>
        <p:spPr>
          <a:xfrm>
            <a:off x="640080" y="5747657"/>
            <a:ext cx="4160520" cy="543415"/>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the region’s countries need regional cooperation to protect this exceptional natural heritage.</a:t>
            </a:r>
            <a:endParaRPr lang="en-US" sz="12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Red Sea encompass?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Some of the world's richest marine coral reefs</a:t>
            </a:r>
            <a:endParaRPr lang="en-US" sz="11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sand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life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يَضُمُّ … شِعَابًا مَرْجَانِيَّةً مِنْ أَغْنَى النُّظُمِ البِيئِيَّةِ.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coral form?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barrier to fish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An indispensable environment for thousands of fish</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يُشَكِّلُ المَرْجَانُ بِيئَةً لَا غِنَى عَنْهَا لِآلَافِ الأَسْمَاكِ.</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Reefs are indestructible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Warming has stopped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ocean warming continues, reefs will bleach and die</a:t>
            </a:r>
            <a:endParaRPr lang="en-US" sz="11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إِذَا اسْتَمَرَّ ارْتِفَاعُ حَرَارَةِ المُحِيطَاتِ، سَتَتَبَيَّضُ الشِّعَابُ وَتَمُوتُ.</a:t>
            </a:r>
            <a:endParaRPr lang="ar-SA" sz="12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Had protection been stricter, the reefs would be better today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Protection makes no difference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reefs cannot recover</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لَوْ كَانَتْ إِجْرَاءَاتُ الحِمَايَةِ أَصْرَمَ … لَكَانَتِ الشِّعَابُ أَفْضَلَ.</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 the region's states need cooperation?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exploit the reefs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 that they protect this natural heritage</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tourism only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لِكَيْ تَحْمِيَ هٰذَا الإِرْثَ الطَّبِيعِيَّ.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1st time: just listen. 2nd time: choose A, B or C.</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Core: questions 1–2 — 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يَضُمُّ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(includes),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يُشَكِّلُ</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(forms),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شِعَاب</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(reefs) and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أَسْمَاك</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(fish).</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Speaking: describe and defend an ecosystem</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مَكَانًا طَبِيعِيًّا: أَيْنَ هُوَ؟ وَأَيُّ حَيَوَانَاتٍ تَعِيشُ فِيهِ؟</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نِظَامًا بِيئِيًّا مُسْتَعْمِلًا يَضُمُّ وَيُشَكِّلُ.</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الخَطَرُ الحَقِيقِيُّ عَلَيْهِ؟ عَبِّرْ عَنْهُ بِشَرْطٍ مِنَ النَّوْعِ الأَوَّلِ.</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نَحْتَاجُ إِلَى حِمَايَتِهِ؟ اِسْتَعْمِلْ لِكَيْ + مَنْصُوبًا.</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___ فِي ___ ، وَتَعِيشُ فِيهِ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يَضُمُّ ___ ___ ، وَيُشَكِّلُ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إِذَا اسْتَمَرَّ ___ ، سَـ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قَالَ / قَالَتْ إِنَّ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نِظَامًا بِيئِيًّا.</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an ecosystem.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يَضُمُّ البَحْرُ الأَحْمَرُ شِعَابًا مَرْجَانِيَّةً غَنِيَّةً، وَيُشَكِّلُ المَرْجَانُ بِيئَةً لِآلَافِ الأَسْمَاكِ.</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ar-SA" altLang="en-US" sz="1250" dirty="0">
                <a:solidFill>
                  <a:srgbClr val="5A6472"/>
                </a:solidFill>
                <a:latin typeface="Amiri" pitchFamily="34" charset="0"/>
                <a:ea typeface="Amiri" pitchFamily="34" charset="-122"/>
                <a:cs typeface="Amiri" pitchFamily="34" charset="-120"/>
              </a:rPr>
              <a:t>يَضُمُّ</a:t>
            </a:r>
            <a:pPr algn="l" indent="0" marL="0">
              <a:buNone/>
            </a:pPr>
            <a:r>
              <a:rPr lang="en-US" sz="950" i="1" dirty="0">
                <a:solidFill>
                  <a:srgbClr val="5A6472"/>
                </a:solidFill>
                <a:latin typeface="Calibri" pitchFamily="34" charset="0"/>
                <a:ea typeface="Calibri" pitchFamily="34" charset="-122"/>
                <a:cs typeface="Calibri" pitchFamily="34" charset="-120"/>
              </a:rPr>
              <a:t> + </a:t>
            </a:r>
            <a:pPr algn="l" indent="0" marL="0">
              <a:buNone/>
            </a:pPr>
            <a:r>
              <a:rPr lang="ar-SA" altLang="en-US" sz="1250" dirty="0">
                <a:solidFill>
                  <a:srgbClr val="5A6472"/>
                </a:solidFill>
                <a:latin typeface="Amiri" pitchFamily="34" charset="0"/>
                <a:ea typeface="Amiri" pitchFamily="34" charset="-122"/>
                <a:cs typeface="Amiri" pitchFamily="34" charset="-120"/>
              </a:rPr>
              <a:t>يُشَكِّلُ</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about a natural place and its animals. Try one sentence with </a:t>
            </a:r>
            <a:pPr algn="l" indent="0" marL="0">
              <a:buNone/>
            </a:pPr>
            <a:r>
              <a:rPr lang="ar-SA" altLang="en-US" sz="1800" b="1" dirty="0">
                <a:solidFill>
                  <a:srgbClr val="1F2A37"/>
                </a:solidFill>
                <a:latin typeface="Amiri" pitchFamily="34" charset="0"/>
                <a:ea typeface="Amiri" pitchFamily="34" charset="-122"/>
                <a:cs typeface="Amiri" pitchFamily="34" charset="-120"/>
              </a:rPr>
              <a:t>يَضُمُّ</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frames and word bank (next slide). Noun first, then the describing word with the same ending (ـِيٌّ / ـِيَّةٌ).</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5 + 1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ecosystem sentences with </a:t>
            </a:r>
            <a:pPr algn="l" indent="0" marL="0">
              <a:buNone/>
            </a:pPr>
            <a:r>
              <a:rPr lang="ar-SA" altLang="en-US" sz="1800" b="1" dirty="0">
                <a:solidFill>
                  <a:srgbClr val="1F2A37"/>
                </a:solidFill>
                <a:latin typeface="Amiri" pitchFamily="34" charset="0"/>
                <a:ea typeface="Amiri" pitchFamily="34" charset="-122"/>
                <a:cs typeface="Amiri" pitchFamily="34" charset="-120"/>
              </a:rPr>
              <a:t>يَضُمُّ</a:t>
            </a:r>
            <a:pPr algn="l" indent="0" marL="0">
              <a:buNone/>
            </a:pPr>
            <a:r>
              <a:rPr lang="en-US" sz="1400" b="1" dirty="0">
                <a:solidFill>
                  <a:srgbClr val="1F2A37"/>
                </a:solidFill>
                <a:latin typeface="Calibri" pitchFamily="34" charset="0"/>
                <a:ea typeface="Calibri" pitchFamily="34" charset="-122"/>
                <a:cs typeface="Calibri" pitchFamily="34" charset="-120"/>
              </a:rPr>
              <a:t>, </a:t>
            </a:r>
            <a:pPr algn="l" indent="0" marL="0">
              <a:buNone/>
            </a:pPr>
            <a:r>
              <a:rPr lang="ar-SA" altLang="en-US" sz="1800" b="1" dirty="0">
                <a:solidFill>
                  <a:srgbClr val="1F2A37"/>
                </a:solidFill>
                <a:latin typeface="Amiri" pitchFamily="34" charset="0"/>
                <a:ea typeface="Amiri" pitchFamily="34" charset="-122"/>
                <a:cs typeface="Amiri" pitchFamily="34" charset="-120"/>
              </a:rPr>
              <a:t>يُشَكِّلُ</a:t>
            </a:r>
            <a:pPr algn="l" indent="0" marL="0">
              <a:buNone/>
            </a:pPr>
            <a:r>
              <a:rPr lang="en-US" sz="1400" b="1" dirty="0">
                <a:solidFill>
                  <a:srgbClr val="1F2A37"/>
                </a:solidFill>
                <a:latin typeface="Calibri" pitchFamily="34" charset="0"/>
                <a:ea typeface="Calibri" pitchFamily="34" charset="-122"/>
                <a:cs typeface="Calibri" pitchFamily="34" charset="-120"/>
              </a:rPr>
              <a:t> and their complements. Add one real threat with </a:t>
            </a:r>
            <a:pPr algn="l" indent="0" marL="0">
              <a:buNone/>
            </a:pPr>
            <a:r>
              <a:rPr lang="ar-SA" altLang="en-US" sz="1800" b="1" dirty="0">
                <a:solidFill>
                  <a:srgbClr val="1F2A37"/>
                </a:solidFill>
                <a:latin typeface="Amiri" pitchFamily="34" charset="0"/>
                <a:ea typeface="Amiri" pitchFamily="34" charset="-122"/>
                <a:cs typeface="Amiri" pitchFamily="34" charset="-120"/>
              </a:rPr>
              <a:t>إِذَا … سَـ</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Develop frames on the next slide: يَضُمُّ / يُشَكِّلُ + object, يَتَفَاعَلُ مَعَ, يَعْتَمِدُ عَلَى.</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100–110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writing task: describe a natural ecosystem with composition verbs, a Type 1 threat, a Type 2 “what if” and </a:t>
            </a:r>
            <a:pPr algn="l" indent="0" marL="0">
              <a:buNone/>
            </a:pPr>
            <a:r>
              <a:rPr lang="ar-SA" altLang="en-US" sz="1800" b="1" dirty="0">
                <a:solidFill>
                  <a:srgbClr val="1F2A37"/>
                </a:solidFill>
                <a:latin typeface="Amiri" pitchFamily="34" charset="0"/>
                <a:ea typeface="Amiri" pitchFamily="34" charset="-122"/>
                <a:cs typeface="Amiri" pitchFamily="34" charset="-120"/>
              </a:rPr>
              <a:t>لِكَيْ</a:t>
            </a:r>
            <a:pPr algn="l" indent="0" marL="0">
              <a:buNone/>
            </a:pPr>
            <a:r>
              <a:rPr lang="en-US" sz="1400" b="1" dirty="0">
                <a:solidFill>
                  <a:srgbClr val="1F2A37"/>
                </a:solidFill>
                <a:latin typeface="Calibri" pitchFamily="34" charset="0"/>
                <a:ea typeface="Calibri" pitchFamily="34" charset="-122"/>
                <a:cs typeface="Calibri" pitchFamily="34" charset="-120"/>
              </a:rPr>
              <a:t> + subjunctive.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Checklist and phrase bank on the Stretch slide. Close with a لِكَي purpose clause using the subjunctive fatḥa.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يَضُمُّ ______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includes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يُشَكِّلُ ______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forms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يَتَفَاعَلُ ______ مَعَ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interacts with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يَعْتَمِدُ ______ عَلَى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depends on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إِذَا اسْتَمَرَّ ______ ، سَـ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 continues, … will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البَحْرُ الأَحْمَرُ بَيْنَ ______ وَ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Red Sea is between … and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الصَّحْرَاءُ فِي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desert is in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تَعِيشُ ______ فِي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Fish live in the sea.</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هِيَ غَابَةٌ ______ ـِيَّةٌ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a tropical forest.</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هُوَ نِظَامٌ ______ ـِيٌّ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is an ecosystem.</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جَبَلٌ  ·  نَهْرٌ  ·  بَحْرٌ  ·  صَحْرَاءُ  ·  غَابَةٌ  ·  جَزِيرَةٌ  ·  أَسْمَاكٌ  ·  جِمَالٌ  ·  أُسُودٌ  ·  بِيئِيٌّ  ·  طَبِيعِيٌّ  ·  اسْتِوَائِيَّةٌ  ·  مَرْجَانِيَّةٌ  ·  آلَافَ الأَنْوَاعِ</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one hundred to one hundred and ten words describing a natural ecosystem. Use </a:t>
            </a:r>
            <a:pPr algn="l" indent="0" marL="0">
              <a:buNone/>
            </a:pPr>
            <a:r>
              <a:rPr lang="ar-SA" altLang="en-US" sz="1750" b="1" dirty="0">
                <a:solidFill>
                  <a:srgbClr val="1F2A37"/>
                </a:solidFill>
                <a:latin typeface="Amiri" pitchFamily="34" charset="0"/>
                <a:ea typeface="Amiri" pitchFamily="34" charset="-122"/>
                <a:cs typeface="Amiri" pitchFamily="34" charset="-120"/>
              </a:rPr>
              <a:t>يَضُمُّ</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يُشَكِّلُ</a:t>
            </a:r>
            <a:pPr algn="l" indent="0" marL="0">
              <a:buNone/>
            </a:pPr>
            <a:r>
              <a:rPr lang="en-US" sz="1350" b="1" dirty="0">
                <a:solidFill>
                  <a:srgbClr val="1F2A37"/>
                </a:solidFill>
                <a:latin typeface="Calibri" pitchFamily="34" charset="0"/>
                <a:ea typeface="Calibri" pitchFamily="34" charset="-122"/>
                <a:cs typeface="Calibri" pitchFamily="34" charset="-120"/>
              </a:rPr>
              <a:t>, a Type 1 threat and a Type 2 counterfactual, and a purpose clause with </a:t>
            </a:r>
            <a:pPr algn="l" indent="0" marL="0">
              <a:buNone/>
            </a:pPr>
            <a:r>
              <a:rPr lang="ar-SA" altLang="en-US" sz="1750" b="1" dirty="0">
                <a:solidFill>
                  <a:srgbClr val="1F2A37"/>
                </a:solidFill>
                <a:latin typeface="Amiri" pitchFamily="34" charset="0"/>
                <a:ea typeface="Amiri" pitchFamily="34" charset="-122"/>
                <a:cs typeface="Amiri" pitchFamily="34" charset="-120"/>
              </a:rPr>
              <a:t>لِكَي</a:t>
            </a:r>
            <a:pPr algn="l" indent="0" marL="0">
              <a:buNone/>
            </a:pPr>
            <a:r>
              <a:rPr lang="en-US" sz="1350" b="1" dirty="0">
                <a:solidFill>
                  <a:srgbClr val="1F2A37"/>
                </a:solidFill>
                <a:latin typeface="Calibri" pitchFamily="34" charset="0"/>
                <a:ea typeface="Calibri" pitchFamily="34" charset="-122"/>
                <a:cs typeface="Calibri" pitchFamily="34" charset="-120"/>
              </a:rPr>
              <a:t> + a subjunctive verb.</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Composition with </a:t>
            </a:r>
            <a:pPr algn="l" indent="0" marL="0">
              <a:buNone/>
            </a:pPr>
            <a:r>
              <a:rPr lang="ar-SA" altLang="en-US" sz="1550" dirty="0">
                <a:solidFill>
                  <a:srgbClr val="1F2A37"/>
                </a:solidFill>
                <a:latin typeface="Amiri" pitchFamily="34" charset="0"/>
                <a:ea typeface="Amiri" pitchFamily="34" charset="-122"/>
                <a:cs typeface="Amiri" pitchFamily="34" charset="-120"/>
              </a:rPr>
              <a:t>يَضُمُّ</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يُشَكِّلُ</a:t>
            </a:r>
            <a:pPr algn="l" indent="0" marL="0">
              <a:buNone/>
            </a:pPr>
            <a:r>
              <a:rPr lang="en-US" sz="1200" dirty="0">
                <a:solidFill>
                  <a:srgbClr val="1F2A37"/>
                </a:solidFill>
                <a:latin typeface="Calibri" pitchFamily="34" charset="0"/>
                <a:ea typeface="Calibri" pitchFamily="34" charset="-122"/>
                <a:cs typeface="Calibri" pitchFamily="34" charset="-120"/>
              </a:rPr>
              <a:t> (direct objects).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Type 1 threat and a Type 2 counterfactual.</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a:t>
            </a:r>
            <a:pPr algn="l" indent="0" marL="0">
              <a:buNone/>
            </a:pPr>
            <a:r>
              <a:rPr lang="ar-SA" altLang="en-US" sz="1550" dirty="0">
                <a:solidFill>
                  <a:srgbClr val="1F2A37"/>
                </a:solidFill>
                <a:latin typeface="Amiri" pitchFamily="34" charset="0"/>
                <a:ea typeface="Amiri" pitchFamily="34" charset="-122"/>
                <a:cs typeface="Amiri" pitchFamily="34" charset="-120"/>
              </a:rPr>
              <a:t>لِكَي</a:t>
            </a:r>
            <a:pPr algn="l" indent="0" marL="0">
              <a:buNone/>
            </a:pPr>
            <a:r>
              <a:rPr lang="en-US" sz="1200" dirty="0">
                <a:solidFill>
                  <a:srgbClr val="1F2A37"/>
                </a:solidFill>
                <a:latin typeface="Calibri" pitchFamily="34" charset="0"/>
                <a:ea typeface="Calibri" pitchFamily="34" charset="-122"/>
                <a:cs typeface="Calibri" pitchFamily="34" charset="-120"/>
              </a:rPr>
              <a:t> purpose clause with the subjunctive fatḥa.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cause-effect link with </a:t>
            </a:r>
            <a:pPr algn="l" indent="0" marL="0">
              <a:buNone/>
            </a:pPr>
            <a:r>
              <a:rPr lang="ar-SA" altLang="en-US" sz="1550" dirty="0">
                <a:solidFill>
                  <a:srgbClr val="1F2A37"/>
                </a:solidFill>
                <a:latin typeface="Amiri" pitchFamily="34" charset="0"/>
                <a:ea typeface="Amiri" pitchFamily="34" charset="-122"/>
                <a:cs typeface="Amiri" pitchFamily="34" charset="-120"/>
              </a:rPr>
              <a:t>يُؤَدِّي إِلَى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يَقَعُ … بَيْنَ … وَ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lies between … and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أَغْنَى النُّظُمِ البِيئِيَّةِ فِي العَالَمِ</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among the richest ecosystems in the world</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بِيئَةً لَا غِنَى عَنْهَا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 indispensable environment</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غَيْرَ أَنَّ … يُهَدِّدُ هٰذَا التَّوَازُنَ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however, … threatens this balance</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لِذٰلِكَ تَحْتَاجُ … إِلَى …</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that is why … needs …</a:t>
            </a:r>
            <a:endParaRPr lang="en-US" sz="1050" dirty="0"/>
          </a:p>
        </p:txBody>
      </p:sp>
      <p:sp>
        <p:nvSpPr>
          <p:cNvPr id="35" name="Text 32"/>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لِلْأَجْيَالِ القَادِمَةِ</a:t>
            </a:r>
            <a:endParaRPr lang="ar-SA" sz="1800" dirty="0"/>
          </a:p>
        </p:txBody>
      </p:sp>
      <p:sp>
        <p:nvSpPr>
          <p:cNvPr id="36" name="Text 33"/>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for future generations</a:t>
            </a:r>
            <a:endParaRPr lang="en-US" sz="10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يَقَعُ البَحْرُ الأَحْمَرُ بَيْنَ شِبْهِ الجَزِيرَةِ العَرَبِيَّةِ وَشَمَالِ أَفْرِيقِيَا، وَيَضُمُّ شِعَابًا مَرْجَانِيَّةً مِنْ أَغْنَى النُّظُمِ البِيئِيَّةِ فِي العَالَمِ. يُشَكِّلُ المَرْجَانُ بِيئَةً لَا غِنَى عَنْهَا لِآلَافِ الأَسْمَاكِ، وَتَتَفَاعَلُ الأَنْوَاعُ مَعَ بَعْضِهَا فِي سَلَاسِلَ غِذَائِيَّةٍ مُعَقَّدَةٍ. غَيْرَ أَنَّ الاحْتِرَارَ يُهَدِّدُ هٰذَا التَّوَازُنَ وَيُؤَدِّي إِلَى تَبْيِيضِ المَرْجَانِ. إِذَا اسْتَمَرَّ ارْتِفَاعُ حَرَارَةِ المُحِيطَاتِ، سَتَمُوتُ الشِّعَابُ خِلَالَ عُقُودٍ. وَلَوْ كَانَتْ إِجْرَاءَاتُ الحِمَايَةِ أَصْرَمَ فِي المَاضِي، لَكَانَتِ الشِّعَابُ أَفْضَلَ حَالًا اليَوْمَ. لِذٰلِكَ تَحْتَاجُ دُوَلُ المِنْطَقَةِ إِلَى تَعَاوُنٍ إِقْلِيمِيٍّ لِكَيْ تَحْمِيَ هٰذَا الإِرْثَ الطَّبِيعِيَّ الاسْتِثْنَائِيَّ لِلْأَجْيَالِ القَادِمَةِ.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Red Sea lies between the Arabian Peninsula and North Africa, and it includes coral reefs that are among the richest ecosystems in the world. Coral forms an indispensable environment for thousands of fish, and species interact with one another in complex food chains. However, warming threatens this balance and leads to coral bleaching. If ocean temperatures keep rising, the reefs will die within decades. Had protection measures been stricter in the past, the reefs would be in a better state today. That is why the region’s countries need regional cooperation, so that they protect this exceptional natural heritage for future generations.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noun + describing word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يَضُمُّ / يُشَكِّلُ + object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إِذَا … سَـ / لَوْ … لَـ</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لِكَيْ + subjunctive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name landscapes and animals and use a describing word that agrees (</a:t>
            </a:r>
            <a:pPr algn="l" indent="0" marL="0">
              <a:buNone/>
            </a:pPr>
            <a:r>
              <a:rPr lang="ar-SA" altLang="en-US" sz="1700" dirty="0">
                <a:solidFill>
                  <a:srgbClr val="1F2A37"/>
                </a:solidFill>
                <a:latin typeface="Amiri" pitchFamily="34" charset="0"/>
                <a:ea typeface="Amiri" pitchFamily="34" charset="-122"/>
                <a:cs typeface="Amiri" pitchFamily="34" charset="-120"/>
              </a:rPr>
              <a:t>غَابَةٌ اسْتِوَائِيَّةٌ</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C9780A"/>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a:t>
            </a:r>
            <a:pPr algn="l" indent="0" marL="0">
              <a:buNone/>
            </a:pPr>
            <a:r>
              <a:rPr lang="ar-SA" altLang="en-US" sz="1700" dirty="0">
                <a:solidFill>
                  <a:srgbClr val="1F2A37"/>
                </a:solidFill>
                <a:latin typeface="Amiri" pitchFamily="34" charset="0"/>
                <a:ea typeface="Amiri" pitchFamily="34" charset="-122"/>
                <a:cs typeface="Amiri" pitchFamily="34" charset="-120"/>
              </a:rPr>
              <a:t>يَضُمُّ</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يُشَكِّلُ</a:t>
            </a:r>
            <a:pPr algn="l" indent="0" marL="0">
              <a:buNone/>
            </a:pPr>
            <a:r>
              <a:rPr lang="en-US" sz="1300" dirty="0">
                <a:solidFill>
                  <a:srgbClr val="1F2A37"/>
                </a:solidFill>
                <a:latin typeface="Calibri" pitchFamily="34" charset="0"/>
                <a:ea typeface="Calibri" pitchFamily="34" charset="-122"/>
                <a:cs typeface="Calibri" pitchFamily="34" charset="-120"/>
              </a:rPr>
              <a:t> with direct objects.</a:t>
            </a:r>
            <a:endParaRPr lang="en-US" sz="1300" dirty="0"/>
          </a:p>
        </p:txBody>
      </p:sp>
      <p:sp>
        <p:nvSpPr>
          <p:cNvPr id="23" name="Shape 20"/>
          <p:cNvSpPr/>
          <p:nvPr/>
        </p:nvSpPr>
        <p:spPr>
          <a:xfrm>
            <a:off x="6583680" y="2968142"/>
            <a:ext cx="1097280" cy="256032"/>
          </a:xfrm>
          <a:prstGeom prst="roundRect">
            <a:avLst>
              <a:gd name="adj" fmla="val 50000"/>
            </a:avLst>
          </a:prstGeom>
          <a:solidFill>
            <a:srgbClr val="C9780A"/>
          </a:solidFill>
          <a:ln w="12700">
            <a:solidFill>
              <a:srgbClr val="C9780A"/>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describe an ecosystem before arguing about its protection.</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B83227"/>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a:t>
            </a:r>
            <a:pPr algn="l" indent="0" marL="0">
              <a:buNone/>
            </a:pPr>
            <a:r>
              <a:rPr lang="ar-SA" altLang="en-US" sz="1700" dirty="0">
                <a:solidFill>
                  <a:srgbClr val="1F2A37"/>
                </a:solidFill>
                <a:latin typeface="Amiri" pitchFamily="34" charset="0"/>
                <a:ea typeface="Amiri" pitchFamily="34" charset="-122"/>
                <a:cs typeface="Amiri" pitchFamily="34" charset="-120"/>
              </a:rPr>
              <a:t>إِذَا … سَـ</a:t>
            </a:r>
            <a:pPr algn="l" indent="0" marL="0">
              <a:buNone/>
            </a:pPr>
            <a:r>
              <a:rPr lang="en-US" sz="1300" dirty="0">
                <a:solidFill>
                  <a:srgbClr val="1F2A37"/>
                </a:solidFill>
                <a:latin typeface="Calibri" pitchFamily="34" charset="0"/>
                <a:ea typeface="Calibri" pitchFamily="34" charset="-122"/>
                <a:cs typeface="Calibri" pitchFamily="34" charset="-120"/>
              </a:rPr>
              <a:t> for a real risk and </a:t>
            </a:r>
            <a:pPr algn="l" indent="0" marL="0">
              <a:buNone/>
            </a:pPr>
            <a:r>
              <a:rPr lang="ar-SA" altLang="en-US" sz="1700" dirty="0">
                <a:solidFill>
                  <a:srgbClr val="1F2A37"/>
                </a:solidFill>
                <a:latin typeface="Amiri" pitchFamily="34" charset="0"/>
                <a:ea typeface="Amiri" pitchFamily="34" charset="-122"/>
                <a:cs typeface="Amiri" pitchFamily="34" charset="-120"/>
              </a:rPr>
              <a:t>لَوْ … لَـ</a:t>
            </a:r>
            <a:pPr algn="l" indent="0" marL="0">
              <a:buNone/>
            </a:pPr>
            <a:r>
              <a:rPr lang="en-US" sz="1300" dirty="0">
                <a:solidFill>
                  <a:srgbClr val="1F2A37"/>
                </a:solidFill>
                <a:latin typeface="Calibri" pitchFamily="34" charset="0"/>
                <a:ea typeface="Calibri" pitchFamily="34" charset="-122"/>
                <a:cs typeface="Calibri" pitchFamily="34" charset="-120"/>
              </a:rPr>
              <a:t> for a counterfactual.</a:t>
            </a:r>
            <a:endParaRPr lang="en-US" sz="1300" dirty="0"/>
          </a:p>
        </p:txBody>
      </p:sp>
      <p:sp>
        <p:nvSpPr>
          <p:cNvPr id="33" name="Shape 30"/>
          <p:cNvSpPr/>
          <p:nvPr/>
        </p:nvSpPr>
        <p:spPr>
          <a:xfrm>
            <a:off x="6583680" y="4767682"/>
            <a:ext cx="1097280" cy="256032"/>
          </a:xfrm>
          <a:prstGeom prst="roundRect">
            <a:avLst>
              <a:gd name="adj" fmla="val 50000"/>
            </a:avLst>
          </a:prstGeom>
          <a:solidFill>
            <a:srgbClr val="B83227"/>
          </a:solidFill>
          <a:ln w="12700">
            <a:solidFill>
              <a:srgbClr val="B83227"/>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put a fatḥa on the verb after </a:t>
            </a:r>
            <a:pPr algn="l" indent="0" marL="0">
              <a:buNone/>
            </a:pPr>
            <a:r>
              <a:rPr lang="ar-SA" altLang="en-US" sz="1700" dirty="0">
                <a:solidFill>
                  <a:srgbClr val="1F2A37"/>
                </a:solidFill>
                <a:latin typeface="Amiri" pitchFamily="34" charset="0"/>
                <a:ea typeface="Amiri" pitchFamily="34" charset="-122"/>
                <a:cs typeface="Amiri" pitchFamily="34" charset="-120"/>
              </a:rPr>
              <a:t>لِكَي</a:t>
            </a:r>
            <a:pPr algn="l" indent="0" marL="0">
              <a:buNone/>
            </a:pPr>
            <a:r>
              <a:rPr lang="en-US" sz="1300" dirty="0">
                <a:solidFill>
                  <a:srgbClr val="1F2A37"/>
                </a:solidFill>
                <a:latin typeface="Calibri" pitchFamily="34" charset="0"/>
                <a:ea typeface="Calibri" pitchFamily="34" charset="-122"/>
                <a:cs typeface="Calibri" pitchFamily="34" charset="-120"/>
              </a:rPr>
              <a:t> (</a:t>
            </a:r>
            <a:pPr algn="l" indent="0" marL="0">
              <a:buNone/>
            </a:pPr>
            <a:r>
              <a:rPr lang="ar-SA" altLang="en-US" sz="1700" dirty="0">
                <a:solidFill>
                  <a:srgbClr val="1F2A37"/>
                </a:solidFill>
                <a:latin typeface="Amiri" pitchFamily="34" charset="0"/>
                <a:ea typeface="Amiri" pitchFamily="34" charset="-122"/>
                <a:cs typeface="Amiri" pitchFamily="34" charset="-120"/>
              </a:rPr>
              <a:t>تَحْمِيَ</a:t>
            </a:r>
            <a:pPr algn="l" indent="0" marL="0">
              <a:buNone/>
            </a:pPr>
            <a:r>
              <a:rPr lang="en-US" sz="1300" dirty="0">
                <a:solidFill>
                  <a:srgbClr val="1F2A37"/>
                </a:solidFill>
                <a:latin typeface="Calibri" pitchFamily="34" charset="0"/>
                <a:ea typeface="Calibri" pitchFamily="34" charset="-122"/>
                <a:cs typeface="Calibri" pitchFamily="34" charset="-120"/>
              </a:rPr>
              <a:t>, not </a:t>
            </a:r>
            <a:pPr algn="l" indent="0" marL="0">
              <a:buNone/>
            </a:pPr>
            <a:r>
              <a:rPr lang="ar-SA" altLang="en-US" sz="1700" dirty="0">
                <a:solidFill>
                  <a:srgbClr val="1F2A37"/>
                </a:solidFill>
                <a:latin typeface="Amiri" pitchFamily="34" charset="0"/>
                <a:ea typeface="Amiri" pitchFamily="34" charset="-122"/>
                <a:cs typeface="Amiri" pitchFamily="34" charset="-120"/>
              </a:rPr>
              <a:t>تَحْمِي</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آلَافَ الأَنْوَاعِ.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بِآلَافِ الأَنْوَاعِ.</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تَضُمُّ الغَابَةُ لِآلَافِ الأَنْوَاعِ.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نَحْتَاجُ إِلَى قَوَانِينَ لِكَيْ ___ الغَابَاتِ.</a:t>
            </a:r>
            <a:endParaRPr lang="ar-SA" sz="10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نَحْمِيَ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سَنَحْمِي</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ḍamma</a:t>
            </a:r>
            <a:endParaRPr lang="en-US" sz="12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final sukūn</a:t>
            </a:r>
            <a:endParaRPr lang="en-US" sz="1250" dirty="0"/>
          </a:p>
        </p:txBody>
      </p:sp>
      <p:sp>
        <p:nvSpPr>
          <p:cNvPr id="55" name="Shape 52"/>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7" name="Text 54"/>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يَضُمُّ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تَضُمُّ الغَابَةُ آلَافَ الأَنْوَاعِ.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تَضُمُّ الغَابَةُ بِآلَافِ الأَنْوَاعِ.</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تَضُمُّ الغَابَةُ لِآلَافِ الأَنْوَاعِ.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يَضُمُّ</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purpose clause: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نَحْتَاجُ إِلَى قَوَانِينَ لِكَيْ ___ الغَابَاتِ.</a:t>
            </a:r>
            <a:endParaRPr lang="ar-SA" sz="10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نَحْمِي</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نَحْمِيَ</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سَنَحْمِي</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لِكَي</a:t>
            </a:r>
            <a:pPr algn="l" indent="0" marL="0">
              <a:buNone/>
            </a:pPr>
            <a:r>
              <a:rPr lang="en-US" sz="1050" i="1" dirty="0">
                <a:solidFill>
                  <a:srgbClr val="8A6D1E"/>
                </a:solidFill>
                <a:latin typeface="Calibri" pitchFamily="34" charset="0"/>
                <a:ea typeface="Calibri" pitchFamily="34" charset="-122"/>
                <a:cs typeface="Calibri" pitchFamily="34" charset="-120"/>
              </a:rPr>
              <a:t> the verb takes a fatḥa: </a:t>
            </a:r>
            <a:pPr algn="l" indent="0" marL="0">
              <a:buNone/>
            </a:pPr>
            <a:r>
              <a:rPr lang="ar-SA" altLang="en-US" sz="1350" dirty="0">
                <a:solidFill>
                  <a:srgbClr val="8A6D1E"/>
                </a:solidFill>
                <a:latin typeface="Amiri" pitchFamily="34" charset="0"/>
                <a:ea typeface="Amiri" pitchFamily="34" charset="-122"/>
                <a:cs typeface="Amiri" pitchFamily="34" charset="-120"/>
              </a:rPr>
              <a:t>نَحْمِيَ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subjunctive marker after </a:t>
            </a:r>
            <a:pPr algn="l" indent="0" marL="0">
              <a:buNone/>
            </a:pPr>
            <a:r>
              <a:rPr lang="ar-SA" altLang="en-US" sz="1650" b="1" dirty="0">
                <a:solidFill>
                  <a:srgbClr val="1B3B6F"/>
                </a:solidFill>
                <a:latin typeface="Amiri" pitchFamily="34" charset="0"/>
                <a:ea typeface="Amiri" pitchFamily="34" charset="-122"/>
                <a:cs typeface="Amiri" pitchFamily="34" charset="-120"/>
              </a:rPr>
              <a:t>لِكَي</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7"/>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532888"/>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final fatḥa</a:t>
            </a:r>
            <a:endParaRPr lang="en-US" sz="1250" dirty="0"/>
          </a:p>
        </p:txBody>
      </p:sp>
      <p:sp>
        <p:nvSpPr>
          <p:cNvPr id="54" name="Shape 51"/>
          <p:cNvSpPr/>
          <p:nvPr/>
        </p:nvSpPr>
        <p:spPr>
          <a:xfrm>
            <a:off x="8278368" y="2990088"/>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ḍamma</a:t>
            </a:r>
            <a:endParaRPr lang="en-US" sz="1250" dirty="0"/>
          </a:p>
        </p:txBody>
      </p:sp>
      <p:sp>
        <p:nvSpPr>
          <p:cNvPr id="57" name="Shape 54"/>
          <p:cNvSpPr/>
          <p:nvPr/>
        </p:nvSpPr>
        <p:spPr>
          <a:xfrm>
            <a:off x="8278368" y="344728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final sukūn</a:t>
            </a:r>
            <a:endParaRPr lang="en-US" sz="1250" dirty="0"/>
          </a:p>
        </p:txBody>
      </p:sp>
      <p:sp>
        <p:nvSpPr>
          <p:cNvPr id="60" name="Text 57"/>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subjunctive verb ends in a fatḥa.</a:t>
            </a:r>
            <a:endParaRPr lang="en-US" sz="1050" dirty="0"/>
          </a:p>
        </p:txBody>
      </p:sp>
      <p:sp>
        <p:nvSpPr>
          <p:cNvPr id="61" name="Shape 58"/>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2" name="Text 59"/>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3" name="Text 60"/>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threatened balance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450" dirty="0">
                <a:solidFill>
                  <a:srgbClr val="1F2A37"/>
                </a:solidFill>
                <a:latin typeface="Amiri" pitchFamily="34" charset="0"/>
                <a:ea typeface="Amiri" pitchFamily="34" charset="-122"/>
                <a:cs typeface="Amiri" pitchFamily="34" charset="-120"/>
              </a:rPr>
              <a:t>يُعَدُّ التَّنَوُّعُ الحَيَوِيُّ أَسَاسَ الحَيَاةِ عَلَى الأَرْضِ. فَكُلُّ نِظَامٍ بِيئِيٍّ يَضُمُّ أَنْوَاعًا تَتَفَاعَلُ مَعَ بَعْضِهَا فِي سَلَاسِلَ غِذَائِيَّةٍ مُعَقَّدَةٍ، وَيَعْتَمِدُ تَوَازُنُهُ عَلَى بَقَاءِ كُلِّ عُنْصُرٍ. غَيْرَ أَنَّ النَّشَاطَ البَشَرِيَّ يُهَدِّدُ هٰذَا التَّوَازُنَ وَيُؤَدِّي إِلَى انْقِرَاضِ أَنْوَاعٍ كَثِيرَةٍ. إِذَا فَقَدْنَا نَوْعًا وَاحِدًا، سَتَتَأَثَّرُ السِّلْسِلَةُ كُلُّهَا. وَلَوْ عَامَلْنَا الطَّبِيعَةَ بِاحْتِرَامٍ أَكْبَرَ فِي المَاضِي، لَمَا وَصَلَ كَثِيرٌ مِنَ الأَنْوَاعِ إِلَى حَافَّةِ الانْقِرَاضِ. لِذٰلِكَ يَجِبُ أَنْ نَتَعَاوَنَ لِكَيْ نَحْمِيَ التَّنَوُّعَ الحَيَوِيَّ لِلْأَجْيَالِ القَادِمَةِ.</a:t>
            </a:r>
            <a:endParaRPr lang="ar-SA" sz="24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يُعَدُّ</a:t>
            </a:r>
            <a:endParaRPr lang="ar-SA" sz="1600" dirty="0"/>
          </a:p>
        </p:txBody>
      </p:sp>
      <p:sp>
        <p:nvSpPr>
          <p:cNvPr id="22" name="Text 19"/>
          <p:cNvSpPr txBox="1"/>
          <p:nvPr/>
        </p:nvSpPr>
        <p:spPr>
          <a:xfrm>
            <a:off x="8851392" y="22128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considered</a:t>
            </a:r>
            <a:endParaRPr lang="en-US" sz="1050" dirty="0"/>
          </a:p>
        </p:txBody>
      </p:sp>
      <p:sp>
        <p:nvSpPr>
          <p:cNvPr id="23" name="Text 20"/>
          <p:cNvSpPr txBox="1"/>
          <p:nvPr/>
        </p:nvSpPr>
        <p:spPr>
          <a:xfrm>
            <a:off x="10102291" y="25786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أَسَاسٌ</a:t>
            </a:r>
            <a:endParaRPr lang="ar-SA" sz="1600" dirty="0"/>
          </a:p>
        </p:txBody>
      </p:sp>
      <p:sp>
        <p:nvSpPr>
          <p:cNvPr id="24" name="Text 21"/>
          <p:cNvSpPr txBox="1"/>
          <p:nvPr/>
        </p:nvSpPr>
        <p:spPr>
          <a:xfrm>
            <a:off x="8851392" y="25786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basis</a:t>
            </a:r>
            <a:endParaRPr lang="en-US" sz="1050" dirty="0"/>
          </a:p>
        </p:txBody>
      </p:sp>
      <p:sp>
        <p:nvSpPr>
          <p:cNvPr id="25" name="Text 22"/>
          <p:cNvSpPr txBox="1"/>
          <p:nvPr/>
        </p:nvSpPr>
        <p:spPr>
          <a:xfrm>
            <a:off x="10102291" y="29443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الأَرْضُ</a:t>
            </a:r>
            <a:endParaRPr lang="ar-SA" sz="1600" dirty="0"/>
          </a:p>
        </p:txBody>
      </p:sp>
      <p:sp>
        <p:nvSpPr>
          <p:cNvPr id="26" name="Text 23"/>
          <p:cNvSpPr txBox="1"/>
          <p:nvPr/>
        </p:nvSpPr>
        <p:spPr>
          <a:xfrm>
            <a:off x="8851392" y="29443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Earth</a:t>
            </a:r>
            <a:endParaRPr lang="en-US" sz="1050" dirty="0"/>
          </a:p>
        </p:txBody>
      </p:sp>
      <p:sp>
        <p:nvSpPr>
          <p:cNvPr id="27" name="Text 24"/>
          <p:cNvSpPr txBox="1"/>
          <p:nvPr/>
        </p:nvSpPr>
        <p:spPr>
          <a:xfrm>
            <a:off x="10102291" y="33101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مُعَقَّدَةٌ</a:t>
            </a:r>
            <a:endParaRPr lang="ar-SA" sz="1600" dirty="0"/>
          </a:p>
        </p:txBody>
      </p:sp>
      <p:sp>
        <p:nvSpPr>
          <p:cNvPr id="28" name="Text 25"/>
          <p:cNvSpPr txBox="1"/>
          <p:nvPr/>
        </p:nvSpPr>
        <p:spPr>
          <a:xfrm>
            <a:off x="8851392" y="33101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complex</a:t>
            </a:r>
            <a:endParaRPr lang="en-US" sz="1050" dirty="0"/>
          </a:p>
        </p:txBody>
      </p:sp>
      <p:sp>
        <p:nvSpPr>
          <p:cNvPr id="29" name="Text 26"/>
          <p:cNvSpPr txBox="1"/>
          <p:nvPr/>
        </p:nvSpPr>
        <p:spPr>
          <a:xfrm>
            <a:off x="10102291" y="36758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بَقَاءٌ</a:t>
            </a:r>
            <a:endParaRPr lang="ar-SA" sz="1600" dirty="0"/>
          </a:p>
        </p:txBody>
      </p:sp>
      <p:sp>
        <p:nvSpPr>
          <p:cNvPr id="30" name="Text 27"/>
          <p:cNvSpPr txBox="1"/>
          <p:nvPr/>
        </p:nvSpPr>
        <p:spPr>
          <a:xfrm>
            <a:off x="8851392" y="36758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survival</a:t>
            </a:r>
            <a:endParaRPr lang="en-US" sz="1050" dirty="0"/>
          </a:p>
        </p:txBody>
      </p:sp>
      <p:sp>
        <p:nvSpPr>
          <p:cNvPr id="31" name="Text 28"/>
          <p:cNvSpPr txBox="1"/>
          <p:nvPr/>
        </p:nvSpPr>
        <p:spPr>
          <a:xfrm>
            <a:off x="10102291" y="40416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عُنْصُرٌ</a:t>
            </a:r>
            <a:endParaRPr lang="ar-SA" sz="1600" dirty="0"/>
          </a:p>
        </p:txBody>
      </p:sp>
      <p:sp>
        <p:nvSpPr>
          <p:cNvPr id="32" name="Text 29"/>
          <p:cNvSpPr txBox="1"/>
          <p:nvPr/>
        </p:nvSpPr>
        <p:spPr>
          <a:xfrm>
            <a:off x="8851392" y="40416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element</a:t>
            </a:r>
            <a:endParaRPr lang="en-US" sz="1050" dirty="0"/>
          </a:p>
        </p:txBody>
      </p:sp>
      <p:sp>
        <p:nvSpPr>
          <p:cNvPr id="33" name="Text 30"/>
          <p:cNvSpPr txBox="1"/>
          <p:nvPr/>
        </p:nvSpPr>
        <p:spPr>
          <a:xfrm>
            <a:off x="10102291" y="440740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النَّشَاطُ البَشَرِيُّ</a:t>
            </a:r>
            <a:endParaRPr lang="ar-SA" sz="1600" dirty="0"/>
          </a:p>
        </p:txBody>
      </p:sp>
      <p:sp>
        <p:nvSpPr>
          <p:cNvPr id="34" name="Text 31"/>
          <p:cNvSpPr txBox="1"/>
          <p:nvPr/>
        </p:nvSpPr>
        <p:spPr>
          <a:xfrm>
            <a:off x="8851392" y="440740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human activity</a:t>
            </a:r>
            <a:endParaRPr lang="en-US" sz="1050" dirty="0"/>
          </a:p>
        </p:txBody>
      </p:sp>
      <p:sp>
        <p:nvSpPr>
          <p:cNvPr id="35" name="Text 32"/>
          <p:cNvSpPr txBox="1"/>
          <p:nvPr/>
        </p:nvSpPr>
        <p:spPr>
          <a:xfrm>
            <a:off x="10102291" y="477316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فَقَدْنَا</a:t>
            </a:r>
            <a:endParaRPr lang="ar-SA" sz="1600" dirty="0"/>
          </a:p>
        </p:txBody>
      </p:sp>
      <p:sp>
        <p:nvSpPr>
          <p:cNvPr id="36" name="Text 33"/>
          <p:cNvSpPr txBox="1"/>
          <p:nvPr/>
        </p:nvSpPr>
        <p:spPr>
          <a:xfrm>
            <a:off x="8851392" y="477316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lost</a:t>
            </a:r>
            <a:endParaRPr lang="en-US" sz="1050" dirty="0"/>
          </a:p>
        </p:txBody>
      </p:sp>
      <p:sp>
        <p:nvSpPr>
          <p:cNvPr id="37" name="Text 34"/>
          <p:cNvSpPr txBox="1"/>
          <p:nvPr/>
        </p:nvSpPr>
        <p:spPr>
          <a:xfrm>
            <a:off x="10102291" y="513892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بِاحْتِرَامٍ</a:t>
            </a:r>
            <a:endParaRPr lang="ar-SA" sz="1600" dirty="0"/>
          </a:p>
        </p:txBody>
      </p:sp>
      <p:sp>
        <p:nvSpPr>
          <p:cNvPr id="38" name="Text 35"/>
          <p:cNvSpPr txBox="1"/>
          <p:nvPr/>
        </p:nvSpPr>
        <p:spPr>
          <a:xfrm>
            <a:off x="8851392" y="513892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with respect</a:t>
            </a:r>
            <a:endParaRPr lang="en-US" sz="1050" dirty="0"/>
          </a:p>
        </p:txBody>
      </p:sp>
      <p:sp>
        <p:nvSpPr>
          <p:cNvPr id="39" name="Text 36"/>
          <p:cNvSpPr txBox="1"/>
          <p:nvPr/>
        </p:nvSpPr>
        <p:spPr>
          <a:xfrm>
            <a:off x="10102291" y="550468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حَافَّةُ الانْقِرَاضِ</a:t>
            </a:r>
            <a:endParaRPr lang="ar-SA" sz="1600" dirty="0"/>
          </a:p>
        </p:txBody>
      </p:sp>
      <p:sp>
        <p:nvSpPr>
          <p:cNvPr id="40" name="Text 37"/>
          <p:cNvSpPr txBox="1"/>
          <p:nvPr/>
        </p:nvSpPr>
        <p:spPr>
          <a:xfrm>
            <a:off x="8851392" y="550468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edge of extinction</a:t>
            </a:r>
            <a:endParaRPr lang="en-US" sz="1050" dirty="0"/>
          </a:p>
        </p:txBody>
      </p:sp>
      <p:sp>
        <p:nvSpPr>
          <p:cNvPr id="41" name="Text 38"/>
          <p:cNvSpPr txBox="1"/>
          <p:nvPr/>
        </p:nvSpPr>
        <p:spPr>
          <a:xfrm>
            <a:off x="10102291" y="5870448"/>
            <a:ext cx="1508760" cy="36576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الأَجْيَالُ القَادِمَةُ</a:t>
            </a:r>
            <a:endParaRPr lang="ar-SA" sz="1600" dirty="0"/>
          </a:p>
        </p:txBody>
      </p:sp>
      <p:sp>
        <p:nvSpPr>
          <p:cNvPr id="42" name="Text 39"/>
          <p:cNvSpPr txBox="1"/>
          <p:nvPr/>
        </p:nvSpPr>
        <p:spPr>
          <a:xfrm>
            <a:off x="8851392" y="5870448"/>
            <a:ext cx="1388059" cy="36576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future generations</a:t>
            </a:r>
            <a:endParaRPr lang="en-US" sz="10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biodiversity called?</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luxury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basis of life on Earth</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obstacle</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each ecosystem's balance depend on?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species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Human activity</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survival of every element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If we lose one species, the whole chain is affected</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Losing a species has no effect</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Chains cannot be affected</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Respect makes no difference</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Had we treated nature with more respect, many species would not have neared extinction</a:t>
            </a:r>
            <a:endParaRPr lang="en-US" sz="1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Extinction is unavoidable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we cooperate, per the text?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 that we protect biodiversity for future generations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exploit nature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For no reason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49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biodiversity called?</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luxury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basis of life on Earth</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obstacle</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يُعَدُّ التَّنَوُّعُ الحَيَوِيُّ أَسَاسَ الحَيَاةِ عَلَى الأَرْضِ.</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each ecosystem's balance depend on?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species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Human activity</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survival of every element</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يَعْتَمِدُ تَوَازُنُهُ عَلَى بَقَاءِ كُلِّ عُنْصُرٍ.</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real threat (Type 1)?</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If we lose one species, the whole chain is affected</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Losing a species has no effect</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Chains cannot be affected</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فَقَدْنَا نَوْعًا وَاحِدًا، سَتَتَأَثَّرُ السِّلْسِلَةُ كُلُّهَا.</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counterfactual (Type 2)?</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Respect makes no difference</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050" b="1" dirty="0">
                <a:solidFill>
                  <a:srgbClr val="1F2A37"/>
                </a:solidFill>
                <a:latin typeface="Calibri" pitchFamily="34" charset="0"/>
                <a:ea typeface="Calibri" pitchFamily="34" charset="-122"/>
                <a:cs typeface="Calibri" pitchFamily="34" charset="-120"/>
              </a:rPr>
              <a:t>Had we treated nature with more respect, many species would not have neared extinction</a:t>
            </a:r>
            <a:endParaRPr lang="en-US" sz="10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Extinction is unavoidable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lnSpc>
                <a:spcPct val="120000"/>
              </a:lnSpc>
              <a:buNone/>
            </a:pPr>
            <a:r>
              <a:rPr lang="ar-SA" altLang="en-US" sz="900" dirty="0">
                <a:solidFill>
                  <a:srgbClr val="8A6D1E"/>
                </a:solidFill>
                <a:latin typeface="Amiri" pitchFamily="34" charset="0"/>
                <a:ea typeface="Amiri" pitchFamily="34" charset="-122"/>
                <a:cs typeface="Amiri" pitchFamily="34" charset="-120"/>
              </a:rPr>
              <a:t>لَوْ عَامَلْنَا الطَّبِيعَةَ بِاحْتِرَامٍ أَكْبَرَ … لَمَا وَصَلَ كَثِيرٌ مِنَ الأَنْوَاعِ إِلَى حَافَّةِ الانْقِرَاضِ.</a:t>
            </a:r>
            <a:endParaRPr lang="ar-SA" sz="90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must we cooperate, per the text?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So that we protect biodiversity for future generations</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exploit nature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For no reason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34" charset="0"/>
                <a:ea typeface="Amiri" pitchFamily="34" charset="-122"/>
                <a:cs typeface="Amiri" pitchFamily="34" charset="-120"/>
              </a:rPr>
              <a:t>يَجِبُ أَنْ نَتَعَاوَنَ لِكَيْ نَحْمِيَ التَّنَوُّعَ الحَيَوِيَّ لِلْأَجْيَالِ القَادِمَةِ.</a:t>
            </a:r>
            <a:endParaRPr lang="ar-SA" sz="12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49</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TC-L02 · Landscapes, Nature &amp; Animals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TC-L03: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C · The World Around Us · Week 1 · Lesson 2 of 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TC-L03 · Climate, Seasons and Weather</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طَقْسٌ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weather</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مُنَاخٌ</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climate</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مَطَرٌ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rain</a:t>
            </a:r>
            <a:pPr indent="0" marL="0">
              <a:buNone/>
            </a:pPr>
            <a:r>
              <a:rPr lang="en-US" sz="1000" i="1" dirty="0">
                <a:solidFill>
                  <a:srgbClr val="5A6472"/>
                </a:solidFill>
                <a:latin typeface="Calibri" pitchFamily="34" charset="0"/>
                <a:ea typeface="Calibri" pitchFamily="34" charset="-122"/>
                <a:cs typeface="Calibri" pitchFamily="34" charset="-120"/>
              </a:rPr>
              <a:t>  pl. أَمْطَارٌ</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بَارِدٌ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cold</a:t>
            </a:r>
            <a:pPr indent="0" marL="0">
              <a:buNone/>
            </a:pPr>
            <a:r>
              <a:rPr lang="en-US" sz="1000" i="1" dirty="0">
                <a:solidFill>
                  <a:srgbClr val="5A6472"/>
                </a:solidFill>
                <a:latin typeface="Calibri" pitchFamily="34" charset="0"/>
                <a:ea typeface="Calibri" pitchFamily="34" charset="-122"/>
                <a:cs typeface="Calibri" pitchFamily="34" charset="-120"/>
              </a:rPr>
              <a:t>  f. بَارِدَةٌ</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فَصْلٌ</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season</a:t>
            </a:r>
            <a:pPr indent="0" marL="0">
              <a:buNone/>
            </a:pPr>
            <a:r>
              <a:rPr lang="en-US" sz="1000" i="1" dirty="0">
                <a:solidFill>
                  <a:srgbClr val="5A6472"/>
                </a:solidFill>
                <a:latin typeface="Calibri" pitchFamily="34" charset="0"/>
                <a:ea typeface="Calibri" pitchFamily="34" charset="-122"/>
                <a:cs typeface="Calibri" pitchFamily="34" charset="-120"/>
              </a:rPr>
              <a:t>  pl. فُصُولٌ</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one Arabic sentence: what is the weather like today where you live?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كَيْفَ الطَّقْسُ اليَوْمَ فِي مَدِينَتِكَ؟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TC-L02 · play “Nature Scene”, then the vocabulary mission.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5 sentences with </a:t>
            </a:r>
            <a:pPr algn="l" indent="0" marL="0">
              <a:buNone/>
            </a:pPr>
            <a:r>
              <a:rPr lang="ar-SA" altLang="en-US" sz="1550" dirty="0">
                <a:solidFill>
                  <a:srgbClr val="1F2A37"/>
                </a:solidFill>
                <a:latin typeface="Amiri" pitchFamily="34" charset="0"/>
                <a:ea typeface="Amiri" pitchFamily="34" charset="-122"/>
                <a:cs typeface="Amiri" pitchFamily="34" charset="-120"/>
              </a:rPr>
              <a:t>يَضُمُّ / يُشَكِّلُ</a:t>
            </a:r>
            <a:pPr algn="l" indent="0" marL="0">
              <a:buNone/>
            </a:pPr>
            <a:r>
              <a:rPr lang="en-US" sz="1200" dirty="0">
                <a:solidFill>
                  <a:srgbClr val="1F2A37"/>
                </a:solidFill>
                <a:latin typeface="Calibri" pitchFamily="34" charset="0"/>
                <a:ea typeface="Calibri" pitchFamily="34" charset="-122"/>
                <a:cs typeface="Calibri" pitchFamily="34" charset="-120"/>
              </a:rPr>
              <a:t> about a sea, a desert or a forest.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TC-L02 · “Ecosystem Mission” (14 rounds) and the reading “A threatened balance”.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49</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TC-L02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ea typeface="Cambria" pitchFamily="34" charset="-122"/>
                <a:cs typeface="Cambria" pitchFamily="34" charset="-120"/>
              </a:rPr>
              <a:t>TC-L03 · Climate, Seasons and Weather</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المُنَاخُ وَالفُصُولُ وَالطَّقْسُ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words + 1 sentence before next lesson.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TC-L02 · Landscapes, Nature and Animals</dc:title>
  <dc:subject>PptxGenJS Presentation</dc:subject>
  <dc:creator>Al Madina Online School · Arabic Department</dc:creator>
  <cp:lastModifiedBy>Al Madina Online School · Arabic Department</cp:lastModifiedBy>
  <cp:revision>1</cp:revision>
  <dcterms:created xsi:type="dcterms:W3CDTF">2026-09-27T08:24:08Z</dcterms:created>
  <dcterms:modified xsi:type="dcterms:W3CDTF">2026-09-27T08:24:08Z</dcterms:modified>
</cp:coreProperties>
</file>