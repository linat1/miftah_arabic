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11 (TC-L11). The website lesson reuses D4-L11 (Consolidation — Range Mastery and Speaking Preparation) with the Topic C focus “Connect environmental, technological and urban issues across all four skills” (grammar: mixed tenses; cohesion; balanced opinion). The picture match is the website lesson game “Information Relay”; the relay task is the website application “Topic C information relay”. The newsletter and the Topic C grammar map are teacher-made from Topic C lessons 1–10.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A workshop lesson: less new language, more USING what we have learnt in Topic C. CORE: understand and pass on key facts (weather, place, price, advice) and give an opinion with فِي رَأْيِي … لِأَنَّ. DEVELOP: link ideas (أَوَّلًا، ثُمَّ، لِذٰلِكَ، مِنْ نَاحِيَةٍ …) and use three tenses. STRETCH: the website’s qualified judgement (عَلَى الرَّغْمِ مِنْ أَنَّ … فَإِنَّ … شَرِيطَةَ أَنْ).
• Topic C grammar map on one slide, a newsletter to read, an information relay in pairs and self-correction phrases for speaking.
• Every task can be done at Core level — use it to spot what needs revising before the TC-L12 assessment.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the phrases prepared at home (Flipped Learning follow-up). Questions 3–5 retrieve TC-L10, TC-L09 and TC-L03.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Today we join Topic C together: say WHEN (tense), LINK your ideas and give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Core statements carry the Topic C focus (connect environmental, technological and urban issues across four skills; mixed tenses, cohesion, balanced opinion). The website objectives on the left are the D4-L11 objectives.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رائے (opinion — فِي رَأْيِي), نظر (view — وَجْهَةُ نَظَرٍ = point of view), مثال (example — سَأُعْطِي مِثَالًا), دلیل (evidence — الدَّلِيلُ عَلَى ذٰلِكَ), نتیجہ (result — TC-L04 نَتِيجَةً لِذٰلِكَ).
Group 1 is the website D4-L11 “Speaking and self-correction” vocabulary; Groups 2–3 revise Topic C linking and opinion language (TC-L03, L05, L06) plus the website’s qualified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C MAP (3 min) — the one structure from each lesson that every student should own before TC-L12. Teacher-made summary of Topic C lessons 1–10 (all examples are from those lessons).
● 20s: students read the Core column silently. ↔ Then pairs test each other: A says the English, B says the Arabic.
Traffic-light it: students put ✓ next to the rows they are confident with and ? next to the ones to revise — this becomes their TC-L12 revision list.
Colour reminder: blue = WHO, teal = key word, pink =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website D4-L11 “Speaking and self-correction”. These make a short answer sound developed.
Teach لِأُصَحِّحْ ذٰلِكَ with enthusiasm: correcting yourself is a SKILL, not a failure (website mission: المَشْرُوعُ يَبْدَأُ فِي يُونْيُو — لِأُصَحِّحْ ذٰلِكَ — فِي سِبْتَمْبَرَ).
SEND / EAL: a student may point to the phrase on screen instead of saying it at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cohesion (Topic C grammar focus). All linking words come from Topic C lessons: لِأَنَّ / لٰكِنَّ (TC-L03), بِسَبَبِ / يُؤَدِّي إِلَى (TC-L04), لِذٰلِكَ (website models), مِنْ نَاحِيَةٍ … (TC-L06), بَيْنَمَا (TC-L10), عَلَى الرَّغْمِ مِنْ أَنَّ (website D4-L11).
Remember: after لِأَنَّ and لٰكِنَّ the noun ends in -a (لِأَنَّ الطَّقْسَ …) — Stretch detail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mixed tenses (Topic C grammar focus). One simple rule for every topic:
• past: كَانَ (+ adjective ending -an: بَارِدًا) or the past verb with ـتُ = I.
• present: no extra word — just the sentence.
• future: سَـ in front of the present verb (سَيَكُونُ · سَأُرْسِلُ).
Core: say one column (e.g. Weather) across all three times. Develop: mix two columns in one answer. Stretch: column 3 row 3 is a future passive (سَتُبْنَى — TC-L08).
Website game: فِي الشَّمَالِ سَيَكُونُ الطَّقْسُ مُمْطِرًا.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balanced opinion (Topic C grammar focus). Card 1 teacher-made from TC-L04/L05 language; card 2 is the TC-L06 structure; card 3 is the website D4-L11 answer (final quiz) — Stretch.
Website teaching point: “Agreement, prepositions and verb endings change what a sentence communicates.”
Website common error: “Do not select a sentence merely because its words are familiar. Check meaning, agreement, governing prepositions and verb endings.”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Stretch or homework): climate and weather, problem + cause + passive, solution + purpose, qualified judgement — one model sentence for each. Website overview: “Study each structure in context, compare accurate and inaccurate forms, then apply it in meaningful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questions 1–2 teacher-made (Topic C grammar focus); questions 3–4 are website grammar quiz questions 1 and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application “Topic C information relay”: combine a forecast, an environmental plan and a digital message, then pass them on. Teacher models with a think-aloud; students COPY.
Step 1 — “Start with أَوَّلًا. The forecast is about tomorrow → سَيَكُونُ.”
Step 2 — “Next fact: ثُمَّ …”
Step 3 — “Add a third: كَمَا (also) …”
Step 4 — “Finish with MY view and a reason: فِي رَأْيِي … لِأَنَّهَا تُسَاعِدُنَا.”
All three facts are the website game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game and D4-L11 patterns. Students copy TWO that are useful for them.
• Core: copy 1 and change the place / weather (فِي الجَنُوبِ سَيَكُونُ الطَّقْسُ مُشْمِسًا). • Develop: copy 2 or 3. • Stretch: copy 4 and write your own about the internet or cars.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(“Information Relay”)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الشَّمَالِ + مُمْطِرًا (TC-L01, L03), إِعَادَةِ التَّدْوِيرِ (TC-L05), كَلِمَةِ مُرُورٍ (TC-L06). Point out: one sentence from each part of Topic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(“Information Relay”)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الشَّمَالِ + مُمْطِرًا (TC-L01, L03), إِعَادَةِ التَّدْوِيرِ (TC-L05), كَلِمَةِ مُرُورٍ (TC-L06). Point out: one sentence from each part of Topic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NEWSLETTER (2 min) — Topic C focus “Connect environmental, technological and urban issues”. Teacher-made: every line uses one Topic C lesson — weather and compass points (L01, L03), environment (L05, website game), town (L08), shopping (L09), digital safety (L06, website game), opinion (L11).
Read it aloud once while students follow. SEND: cover the text and uncover one line at a time; Core students use the glossary.
Ask: which LESSON does each line come from? (A great Core revision question.)
Translation for the teacher: Our town newsletter — next week. Weather: it will be rainy in the north and sunny in the south. Environment: the council is planning to increase recycling centres. Transport: there are new buses next to the train station. Shopping: in the market there is a 20% discount on books. Digital safety: protect your account with a strong password, and do not share it with anyone. Editor’s opinion: our town is improving, but it needs more green spaces.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NEWSLETTER questions (teacher-made). Students type five letters in the chat. Core: questions 1, 3 and 4. Stretch: does the editor give a balanced opinion? Improve it with مِنْ نَاحِيَةٍ … وَمِنْ نَاحِيَةٍ أُخْرَى.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Then the RELAY (next speaking slide) uses the same newsletter: A reads one line silently, then tells B in their own Arabic; B writes the fact 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 sentence builders (3 min), cut to two options per column, set to one target sentence each.
Students choose ONE box per column (start from Column 1 on the right) and type the letters. ↔ Rehearse 30s first.
Core: sentence 2 (they know يَجِبُ أَنْ and لِكَيْ from TC-L05, TC-L08). Develop: 1 and 2. Stretch: all three, then build a second, different chain from the website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 sentence builders (3 min), cut to two options per column, set to one target sentence each.
Students choose ONE box per column (start from Column 1 on the right) and type the letters. ↔ Rehearse 30s first.
Core: sentence 2 (they know يَجِبُ أَنْ and لِكَيْ from TC-L05, TC-L08). Develop: 1 and 2. Stretch: all three, then build a second, different chain from the website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Topic C sorter (teacher-made, 2 min, all students). Every word is from Topic C lessons 4–9. Stretch: make ONE sentence that joins two columns (e.g. يُؤَدِّي التَّلَوُّثُ إِلَى زِيَارَاتٍ أَكْثَرَ لِلْمُسْتَشْفَى).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Topic C sorter (teacher-made, 2 min, all students). Every word is from Topic C lessons 4–9. Stretch: make ONE sentence that joins two columns (e.g. يُؤَدِّي التَّلَوُّثُ إِلَى زِيَارَاتٍ أَكْثَرَ لِلْمُسْتَشْفَى).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2, 3, 6, 7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4. Develop / Stretch: all 6.
Listen 1: just listen. Listen 2: note answers. Then chat the letters.
Support: after the second listening, show the read-along slide (Arabic + English, line by line) for Core students.
SCRIPT (read aloud):
فِي المُحَادَثَةِ الأُولَى، وَصَفَتْ مَرْيَمُ مَشْرُوعًا لِتَوْسِيعِ النَّقْلِ العَامِّ. قَالَتْ إِنَّهُ سَيُقَلِّلُ الانْبِعَاثَاتِ، لٰكِنَّهَا أَضَافَتْ أَنَّ التَّكْلِفَةَ الأُولَى مُرْتَفِعَةٌ. وَفِي المُحَادَثَةِ الثَّانِيَةِ، تَحَدَّثَ خَالِدٌ عَنْ شُحِّ المِيَاهِ. أَوَّلًا قَالَ إِنَّ الاسْتِهْلَاكَ انْخَفَضَ، ثُمَّ صَحَّحَ نَفْسَهُ وَقَالَ إِنَّهُ ارْتَفَعَ بِنِسْبَةِ ٩٪. وَأَكَّدَ أَنَّ الحَلَّ يَحْتَاجُ إِلَى التِّقْنِيَّةِ وَتَغْيِيرِ السُّلُوكِ مَعًا.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INFORMATION RELAY (website application “Topic C information relay”): A reads ONE line of the newsletter silently, then passes it on to B in Arabic without showing it; B writes the fact in English. Swap. 3 rounds.
Then the discussion prompts. Core prompt 1 is teacher-made for the relay. Encourage لِأُصَحِّحْ ذٰلِكَ when students notice a mistake — praise every self-correction.
Pastoral: Resilience point for a student who self-corrects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vocabulary banks and sentence frames to produce four accurate connected sentences. · Develop — Use several target structures in a linked paragraph or sustained spoken answer. · Stretch — Evaluate, compare or qualify ideas using precise evidence and formal linking language.
Website writing task (Stretch): Write 130–140 Arabic words integrating climate, an environmental problem, a solution and a qualified technology judgement.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Core students find the linking words (لِذٰلِكَ، وَعَلَاوَةً عَلَى ذٰلِكَ، فِي رَأْيِي); Stretch find the passive (يُسْتَخْدَمَ) and explain the qualified judgement.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(TC-L12 · Topic C Review and Four-Skills Assessment) will spend class time USING this language, so students prepare it tonight — short, simple, easy to access (school guidance: “Simple, Short, Interesting, Relevant, Easy to access”). Next lesson is the Topic C review and assessment — these five words each open a different Topic C lesson. Revise the lesson around each one.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TC-L11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Topic C Integrated Communication Workshop</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وَرْشَةُ التَّوَاصُلِ المُتَكَامِلِ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Bring Topic C together: weather, the environment, technology and the town. Pass on information accurately, use past, present and future, link your ideas and give a balanced opinion.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TC-L11 · Advanced Topic C</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Topic C map, tenses, linking and opinions.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Relay game, newsletter, build,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TC-L12.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مِنْ وَجْهَةِ نَظَرِي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other words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from my point of view</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some extent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“in other words”?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بِعِبَارَةٍ أُخْرَى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سَأُعْطِي مِثَالًا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أَقْصِدُ أَنَّ</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الطَّاوِلَةُ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مِنَ الخَشَبِ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مَصْنُوعٌ</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مَصْنُوعُونَ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مَصْنُوعَةٌ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“cheaper than”?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أَغْلَى مِنْ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أَكْبَرُ مِنْ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أَرْخَصُ مِنْ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about the FUTURE?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سَيَكُونُ الطَّقْسُ مُمْطِرًا.</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 الطَّقْسُ مُمْطِرًا.</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الطَّقْسُ مُمْطِرٌ.</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مِنْ وَجْهَةِ نَظَرِي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other words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from my point of view</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some extent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
            </a:r>
            <a:pPr algn="l" indent="0" marL="0">
              <a:buNone/>
            </a:pPr>
            <a:r>
              <a:rPr lang="ar-SA" altLang="en-US" sz="1350" dirty="0">
                <a:solidFill>
                  <a:srgbClr val="8A6D1E"/>
                </a:solidFill>
                <a:latin typeface="Amiri" pitchFamily="2" charset="-78"/>
                <a:cs typeface="Amiri" pitchFamily="2" charset="-78"/>
              </a:rPr>
              <a:t>مِنْ وَجْهَةِ نَظَرِي</a:t>
            </a:r>
            <a:pPr algn="l" indent="0" marL="0">
              <a:buNone/>
            </a:pPr>
            <a:r>
              <a:rPr lang="en-US" sz="1050" i="1" dirty="0">
                <a:solidFill>
                  <a:srgbClr val="8A6D1E"/>
                </a:solidFill>
                <a:latin typeface="Calibri" pitchFamily="34" charset="0"/>
                <a:cs typeface="Amiri" pitchFamily="2" charset="-78"/>
              </a:rPr>
              <a:t> = from my point of view.</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“in other words”?</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بِعِبَارَةٍ أُخْرَى</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سَأُعْطِي مِثَالًا</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أَقْصِدُ أَنَّ</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
            </a:r>
            <a:pPr algn="l" indent="0" marL="0">
              <a:buNone/>
            </a:pPr>
            <a:r>
              <a:rPr lang="ar-SA" altLang="en-US" sz="1350" dirty="0">
                <a:solidFill>
                  <a:srgbClr val="8A6D1E"/>
                </a:solidFill>
                <a:latin typeface="Amiri" pitchFamily="2" charset="-78"/>
                <a:cs typeface="Amiri" pitchFamily="2" charset="-78"/>
              </a:rPr>
              <a:t>بِعِبَارَةٍ أُخْرَى</a:t>
            </a:r>
            <a:pPr algn="l" indent="0" marL="0">
              <a:buNone/>
            </a:pPr>
            <a:r>
              <a:rPr lang="en-US" sz="1050" i="1" dirty="0">
                <a:solidFill>
                  <a:srgbClr val="8A6D1E"/>
                </a:solidFill>
                <a:latin typeface="Calibri" pitchFamily="34" charset="0"/>
                <a:cs typeface="Amiri" pitchFamily="2" charset="-78"/>
              </a:rPr>
              <a:t> = in other words.</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الطَّاوِلَةُ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مِنَ الخَشَبِ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مَصْنُوعٌ</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مَصْنُوعُونَ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مَصْنُوعَةٌ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TC-L10: feminine → </a:t>
            </a:r>
            <a:pPr algn="l" indent="0" marL="0">
              <a:buNone/>
            </a:pPr>
            <a:r>
              <a:rPr lang="ar-SA" altLang="en-US" sz="1350" dirty="0">
                <a:solidFill>
                  <a:srgbClr val="8A6D1E"/>
                </a:solidFill>
                <a:latin typeface="Amiri" pitchFamily="2" charset="-78"/>
                <a:cs typeface="Amiri" pitchFamily="2" charset="-78"/>
              </a:rPr>
              <a:t>مَصْنُوعَةٌ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“cheaper than”?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أَغْلَى مِنْ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أَكْبَرُ مِنْ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أَرْخَصُ مِنْ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TC-L09.</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about the FUTURE?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سَيَكُونُ الطَّقْسُ مُمْطِرًا.</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كَانَ الطَّقْسُ مُمْطِرًا.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الطَّقْسُ مُمْطِرٌ.</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TC-L03: </a:t>
            </a:r>
            <a:pPr algn="l" indent="0" marL="0">
              <a:buNone/>
            </a:pPr>
            <a:r>
              <a:rPr lang="ar-SA" altLang="en-US" sz="1350" dirty="0">
                <a:solidFill>
                  <a:srgbClr val="8A6D1E"/>
                </a:solidFill>
                <a:latin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 will.</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Today we join Topic C together: say WHEN (tense), LINK your ideas and give a REASON.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أَوَّلًا … ثُمَّ … لِذٰلِكَ … فِي رَأْيِي … لِأَنَّ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and use the full lesson vocabulary in connected Arabic.</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and apply the target grammar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Extract exact information from listening and reading texts.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Produce a developed intermediate spoken and written response.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find and pass on key facts about weather, places, prices and advice.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give my opinion with a reason: </a:t>
            </a:r>
            <a:pPr algn="l" indent="0" marL="0">
              <a:buNone/>
            </a:pPr>
            <a:r>
              <a:rPr lang="ar-SA" altLang="en-US" sz="1700" b="1" dirty="0">
                <a:solidFill>
                  <a:srgbClr val="2E8B57"/>
                </a:solidFill>
                <a:latin typeface="Amiri" pitchFamily="2" charset="-78"/>
                <a:cs typeface="Amiri" pitchFamily="2" charset="-78"/>
              </a:rPr>
              <a:t>فِي رَأْيِي … لِأَنَّ</a:t>
            </a:r>
            <a:pPr algn="l" indent="0" marL="0">
              <a:buNone/>
            </a:pPr>
            <a:r>
              <a:rPr lang="en-US" sz="1300" b="1" dirty="0">
                <a:solidFill>
                  <a:srgbClr val="2E8B57"/>
                </a:solidFill>
                <a:latin typeface="Calibri" pitchFamily="34" charset="0"/>
                <a:cs typeface="Amiri" pitchFamily="2" charset="-78"/>
              </a:rPr>
              <a:t> …</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the past, present and future in one answer.</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link my ideas: </a:t>
            </a:r>
            <a:pPr algn="l" indent="0" marL="0">
              <a:buNone/>
            </a:pPr>
            <a:r>
              <a:rPr lang="ar-SA" altLang="en-US" sz="1700" b="1" dirty="0">
                <a:solidFill>
                  <a:srgbClr val="C9780A"/>
                </a:solidFill>
                <a:latin typeface="Amiri" pitchFamily="2" charset="-78"/>
                <a:cs typeface="Amiri" pitchFamily="2" charset="-78"/>
              </a:rPr>
              <a:t>أَوَّلًا، ثُمَّ، لِذٰلِكَ، مِنْ نَاحِيَةٍ</a:t>
            </a:r>
            <a:pPr algn="l" indent="0" marL="0">
              <a:buNone/>
            </a:pPr>
            <a:r>
              <a:rPr lang="en-US" sz="1300" b="1" dirty="0">
                <a:solidFill>
                  <a:srgbClr val="C9780A"/>
                </a:solidFill>
                <a:latin typeface="Calibri" pitchFamily="34" charset="0"/>
                <a:cs typeface="Amiri" pitchFamily="2" charset="-78"/>
              </a:rPr>
              <a:t> …</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give a qualified judgement (</a:t>
            </a:r>
            <a:pPr algn="l" indent="0" marL="0">
              <a:buNone/>
            </a:pPr>
            <a:r>
              <a:rPr lang="ar-SA" altLang="en-US" sz="1700" b="1" dirty="0">
                <a:solidFill>
                  <a:srgbClr val="B83227"/>
                </a:solidFill>
                <a:latin typeface="Amiri" pitchFamily="2" charset="-78"/>
                <a:cs typeface="Amiri" pitchFamily="2" charset="-78"/>
              </a:rPr>
              <a:t>عَلَى الرَّغْمِ مِنْ أَنَّ … شَرِيطَةَ أَنْ</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correct myself while speaking.</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A workshop day: we reuse Topic C and add 18 speaking and linking phrases in 3 groups. Learn the CORE phrases first.</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MAP</a:t>
            </a:r>
            <a:endParaRPr lang="en-US" sz="900" dirty="0"/>
          </a:p>
          <a:p>
            <a:pPr indent="0" marL="0">
              <a:buNone/>
            </a:pPr>
            <a:r>
              <a:rPr lang="en-US" sz="1200" b="1" dirty="0">
                <a:solidFill>
                  <a:srgbClr val="FFFFFF"/>
                </a:solidFill>
                <a:latin typeface="Calibri" pitchFamily="34" charset="0"/>
                <a:cs typeface="Amiri" pitchFamily="2" charset="-78"/>
              </a:rPr>
              <a:t>Topic C in one table</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Speaking phrases · 6</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Linking words · 6</a:t>
            </a:r>
            <a:endParaRPr lang="en-US" sz="900" dirty="0"/>
          </a:p>
        </p:txBody>
      </p:sp>
      <p:sp>
        <p:nvSpPr>
          <p:cNvPr id="14" name="Shape 12"/>
          <p:cNvSpPr/>
          <p:nvPr/>
        </p:nvSpPr>
        <p:spPr>
          <a:xfrm>
            <a:off x="6457950" y="4572000"/>
            <a:ext cx="186309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Opinions · 6</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رَأْيٌ</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‎رائے‎ </a:t>
            </a:r>
            <a:pPr indent="0" marL="0">
              <a:buNone/>
            </a:pPr>
            <a:r>
              <a:rPr lang="en-US" sz="950" b="1" dirty="0">
                <a:solidFill>
                  <a:srgbClr val="2E8B57"/>
                </a:solidFill>
                <a:latin typeface="Calibri" pitchFamily="34" charset="0"/>
                <a:cs typeface="Amiri" pitchFamily="2" charset="-78"/>
              </a:rPr>
              <a:t> rāʾe · opinion</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نَظَرٌ</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‎نظر‎ </a:t>
            </a:r>
            <a:pPr indent="0" marL="0">
              <a:buNone/>
            </a:pPr>
            <a:r>
              <a:rPr lang="en-US" sz="950" b="1" dirty="0">
                <a:solidFill>
                  <a:srgbClr val="2E8B57"/>
                </a:solidFill>
                <a:latin typeface="Calibri" pitchFamily="34" charset="0"/>
                <a:cs typeface="Amiri" pitchFamily="2" charset="-78"/>
              </a:rPr>
              <a:t> naẓar · view, sight</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مِثَالٌ</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‎مثال‎ </a:t>
            </a:r>
            <a:pPr indent="0" marL="0">
              <a:buNone/>
            </a:pPr>
            <a:r>
              <a:rPr lang="en-US" sz="950" b="1" dirty="0">
                <a:solidFill>
                  <a:srgbClr val="2E8B57"/>
                </a:solidFill>
                <a:latin typeface="Calibri" pitchFamily="34" charset="0"/>
                <a:cs typeface="Amiri" pitchFamily="2" charset="-78"/>
              </a:rPr>
              <a:t> misāl · example</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دَلِيلٌ</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‎دلیل‎ </a:t>
            </a:r>
            <a:pPr indent="0" marL="0">
              <a:buNone/>
            </a:pPr>
            <a:r>
              <a:rPr lang="en-US" sz="950" b="1" dirty="0">
                <a:solidFill>
                  <a:srgbClr val="2E8B57"/>
                </a:solidFill>
                <a:latin typeface="Calibri" pitchFamily="34" charset="0"/>
                <a:cs typeface="Amiri" pitchFamily="2" charset="-78"/>
              </a:rPr>
              <a:t> dalīl · evidence, proof</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نَتِيجَةٌ</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‎نتیجہ‎ </a:t>
            </a:r>
            <a:pPr indent="0" marL="0">
              <a:buNone/>
            </a:pPr>
            <a:r>
              <a:rPr lang="en-US" sz="950" b="1" dirty="0">
                <a:solidFill>
                  <a:srgbClr val="2E8B57"/>
                </a:solidFill>
                <a:latin typeface="Calibri" pitchFamily="34" charset="0"/>
                <a:cs typeface="Amiri" pitchFamily="2" charset="-78"/>
              </a:rPr>
              <a:t> natīja · result</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TOPIC C MAP · THE KEY STRUCTURE OF EACH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Topic C in one table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خُلَاصَةُ الوَحْدَةِ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01784"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Lessons</a:t>
            </a:r>
            <a:endParaRPr lang="en-US" sz="1100" dirty="0"/>
          </a:p>
        </p:txBody>
      </p:sp>
      <p:sp>
        <p:nvSpPr>
          <p:cNvPr id="17" name="Text 14"/>
          <p:cNvSpPr txBox="1"/>
          <p:nvPr/>
        </p:nvSpPr>
        <p:spPr>
          <a:xfrm>
            <a:off x="732434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Key structure</a:t>
            </a:r>
            <a:endParaRPr lang="en-US" sz="1100" dirty="0"/>
          </a:p>
        </p:txBody>
      </p:sp>
      <p:sp>
        <p:nvSpPr>
          <p:cNvPr id="18" name="Text 15"/>
          <p:cNvSpPr txBox="1"/>
          <p:nvPr/>
        </p:nvSpPr>
        <p:spPr>
          <a:xfrm>
            <a:off x="3941064" y="1810512"/>
            <a:ext cx="3236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Core example</a:t>
            </a:r>
            <a:endParaRPr lang="en-US" sz="1100" dirty="0"/>
          </a:p>
        </p:txBody>
      </p:sp>
      <p:sp>
        <p:nvSpPr>
          <p:cNvPr id="19" name="Text 16"/>
          <p:cNvSpPr txBox="1"/>
          <p:nvPr/>
        </p:nvSpPr>
        <p:spPr>
          <a:xfrm>
            <a:off x="53035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Stretch example</a:t>
            </a:r>
            <a:endParaRPr lang="en-US" sz="1100" dirty="0"/>
          </a:p>
        </p:txBody>
      </p:sp>
      <p:sp>
        <p:nvSpPr>
          <p:cNvPr id="20" name="Shape 17"/>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1" name="Text 18"/>
          <p:cNvSpPr txBox="1"/>
          <p:nvPr/>
        </p:nvSpPr>
        <p:spPr>
          <a:xfrm>
            <a:off x="9738360" y="2267712"/>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L01–L02 people, places, nature</a:t>
            </a:r>
            <a:endParaRPr lang="en-US" sz="1100" dirty="0"/>
          </a:p>
        </p:txBody>
      </p:sp>
      <p:sp>
        <p:nvSpPr>
          <p:cNvPr id="22" name="Text 19"/>
          <p:cNvSpPr txBox="1"/>
          <p:nvPr/>
        </p:nvSpPr>
        <p:spPr>
          <a:xfrm>
            <a:off x="7360920" y="2267712"/>
            <a:ext cx="21945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place + compass point</a:t>
            </a:r>
            <a:endParaRPr lang="en-US" sz="1100" dirty="0"/>
          </a:p>
        </p:txBody>
      </p:sp>
      <p:sp>
        <p:nvSpPr>
          <p:cNvPr id="23" name="Text 20"/>
          <p:cNvSpPr txBox="1"/>
          <p:nvPr/>
        </p:nvSpPr>
        <p:spPr>
          <a:xfrm>
            <a:off x="3959352" y="2286000"/>
            <a:ext cx="320040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مِصْرُ </a:t>
            </a:r>
            <a:pPr rtl="1" algn="ctr" indent="0" marL="0">
              <a:buNone/>
            </a:pPr>
            <a:r>
              <a:rPr lang="ar-SA" altLang="en-US" sz="1800" b="1" dirty="0">
                <a:solidFill>
                  <a:srgbClr val="0E7C86"/>
                </a:solidFill>
                <a:latin typeface="Amiri" pitchFamily="2" charset="-78"/>
                <a:cs typeface="Amiri" pitchFamily="2" charset="-78"/>
              </a:rPr>
              <a:t>فِي</a:t>
            </a:r>
            <a:pPr rtl="1" algn="ctr" indent="0" marL="0">
              <a:buNone/>
            </a:pPr>
            <a:r>
              <a:rPr lang="ar-SA" altLang="en-US" sz="1800" b="1" dirty="0">
                <a:solidFill>
                  <a:srgbClr val="1B3B6F"/>
                </a:solidFill>
                <a:latin typeface="Amiri" pitchFamily="2" charset="-78"/>
                <a:cs typeface="Amiri" pitchFamily="2" charset="-78"/>
              </a:rPr>
              <a:t> شَمَالِ أَفْرِيقِيَا</a:t>
            </a:r>
            <a:endParaRPr lang="ar-SA" sz="1800" dirty="0"/>
          </a:p>
        </p:txBody>
      </p:sp>
      <p:sp>
        <p:nvSpPr>
          <p:cNvPr id="24" name="Text 21"/>
          <p:cNvSpPr txBox="1"/>
          <p:nvPr/>
        </p:nvSpPr>
        <p:spPr>
          <a:xfrm>
            <a:off x="3913632" y="2644445"/>
            <a:ext cx="32918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Egypt is in North Africa</a:t>
            </a:r>
            <a:endParaRPr lang="en-US" sz="950" dirty="0"/>
          </a:p>
        </p:txBody>
      </p:sp>
      <p:sp>
        <p:nvSpPr>
          <p:cNvPr id="25" name="Text 22"/>
          <p:cNvSpPr txBox="1"/>
          <p:nvPr/>
        </p:nvSpPr>
        <p:spPr>
          <a:xfrm>
            <a:off x="548640" y="2286000"/>
            <a:ext cx="3227832"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تَتَمَيَّزُ المِنْطَقَةُ بِـ …</a:t>
            </a:r>
            <a:endParaRPr lang="ar-SA" sz="1800" dirty="0"/>
          </a:p>
        </p:txBody>
      </p:sp>
      <p:sp>
        <p:nvSpPr>
          <p:cNvPr id="26" name="Text 23"/>
          <p:cNvSpPr txBox="1"/>
          <p:nvPr/>
        </p:nvSpPr>
        <p:spPr>
          <a:xfrm>
            <a:off x="502920" y="2644445"/>
            <a:ext cx="3319272"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area is known for …</a:t>
            </a:r>
            <a:endParaRPr lang="en-US" sz="95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30" name="Text 27"/>
          <p:cNvSpPr txBox="1"/>
          <p:nvPr/>
        </p:nvSpPr>
        <p:spPr>
          <a:xfrm>
            <a:off x="9738360" y="2950464"/>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L03 weather</a:t>
            </a:r>
            <a:endParaRPr lang="en-US" sz="1100" dirty="0"/>
          </a:p>
        </p:txBody>
      </p:sp>
      <p:sp>
        <p:nvSpPr>
          <p:cNvPr id="31" name="Text 28"/>
          <p:cNvSpPr txBox="1"/>
          <p:nvPr/>
        </p:nvSpPr>
        <p:spPr>
          <a:xfrm>
            <a:off x="7360920" y="2950464"/>
            <a:ext cx="21945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weather + tense</a:t>
            </a:r>
            <a:endParaRPr lang="en-US" sz="1100" dirty="0"/>
          </a:p>
        </p:txBody>
      </p:sp>
      <p:sp>
        <p:nvSpPr>
          <p:cNvPr id="32" name="Text 29"/>
          <p:cNvSpPr txBox="1"/>
          <p:nvPr/>
        </p:nvSpPr>
        <p:spPr>
          <a:xfrm>
            <a:off x="3959352" y="2968752"/>
            <a:ext cx="3200400" cy="389291"/>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cs typeface="Amiri" pitchFamily="2" charset="-78"/>
              </a:rPr>
              <a:t>سَ</a:t>
            </a:r>
            <a:pPr rtl="1" algn="ctr" indent="0" marL="0">
              <a:buNone/>
            </a:pPr>
            <a:r>
              <a:rPr lang="ar-SA" altLang="en-US" sz="1800" b="1" dirty="0">
                <a:solidFill>
                  <a:srgbClr val="1B3B6F"/>
                </a:solidFill>
                <a:latin typeface="Amiri" pitchFamily="2" charset="-78"/>
                <a:cs typeface="Amiri" pitchFamily="2" charset="-78"/>
              </a:rPr>
              <a:t>يَكُونُ الطَّقْسُ مُمْطِرًا</a:t>
            </a:r>
            <a:endParaRPr lang="ar-SA" sz="1800" dirty="0"/>
          </a:p>
        </p:txBody>
      </p:sp>
      <p:sp>
        <p:nvSpPr>
          <p:cNvPr id="33" name="Text 30"/>
          <p:cNvSpPr txBox="1"/>
          <p:nvPr/>
        </p:nvSpPr>
        <p:spPr>
          <a:xfrm>
            <a:off x="3913632" y="3327197"/>
            <a:ext cx="32918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weather will be rainy</a:t>
            </a:r>
            <a:endParaRPr lang="en-US" sz="950" dirty="0"/>
          </a:p>
        </p:txBody>
      </p:sp>
      <p:sp>
        <p:nvSpPr>
          <p:cNvPr id="34" name="Text 31"/>
          <p:cNvSpPr txBox="1"/>
          <p:nvPr/>
        </p:nvSpPr>
        <p:spPr>
          <a:xfrm>
            <a:off x="548640" y="2968752"/>
            <a:ext cx="3227832"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تَهُبُّ الرِّيَاحُ وَتَسْقُطُ الأَمْطَارُ</a:t>
            </a:r>
            <a:endParaRPr lang="ar-SA" sz="1800" dirty="0"/>
          </a:p>
        </p:txBody>
      </p:sp>
      <p:sp>
        <p:nvSpPr>
          <p:cNvPr id="35" name="Text 32"/>
          <p:cNvSpPr txBox="1"/>
          <p:nvPr/>
        </p:nvSpPr>
        <p:spPr>
          <a:xfrm>
            <a:off x="502920" y="3327197"/>
            <a:ext cx="3319272"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feminine agreement (website)</a:t>
            </a:r>
            <a:endParaRPr lang="en-US" sz="950" dirty="0"/>
          </a:p>
        </p:txBody>
      </p:sp>
      <p:sp>
        <p:nvSpPr>
          <p:cNvPr id="36" name="Shape 33"/>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39" name="Text 36"/>
          <p:cNvSpPr txBox="1"/>
          <p:nvPr/>
        </p:nvSpPr>
        <p:spPr>
          <a:xfrm>
            <a:off x="9738360" y="3633216"/>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L04–L05 environment</a:t>
            </a:r>
            <a:endParaRPr lang="en-US" sz="1100" dirty="0"/>
          </a:p>
        </p:txBody>
      </p:sp>
      <p:sp>
        <p:nvSpPr>
          <p:cNvPr id="40" name="Text 37"/>
          <p:cNvSpPr txBox="1"/>
          <p:nvPr/>
        </p:nvSpPr>
        <p:spPr>
          <a:xfrm>
            <a:off x="7360920" y="3633216"/>
            <a:ext cx="21945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problem → solution</a:t>
            </a:r>
            <a:endParaRPr lang="en-US" sz="1100" dirty="0"/>
          </a:p>
        </p:txBody>
      </p:sp>
      <p:sp>
        <p:nvSpPr>
          <p:cNvPr id="41" name="Text 38"/>
          <p:cNvSpPr txBox="1"/>
          <p:nvPr/>
        </p:nvSpPr>
        <p:spPr>
          <a:xfrm>
            <a:off x="3959352" y="3651504"/>
            <a:ext cx="320040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التَّلَوُّثُ </a:t>
            </a:r>
            <a:pPr rtl="1" algn="ctr" indent="0" marL="0">
              <a:buNone/>
            </a:pPr>
            <a:r>
              <a:rPr lang="ar-SA" altLang="en-US" sz="1800" b="1" dirty="0">
                <a:solidFill>
                  <a:srgbClr val="0E7C86"/>
                </a:solidFill>
                <a:latin typeface="Amiri" pitchFamily="2" charset="-78"/>
                <a:cs typeface="Amiri" pitchFamily="2" charset="-78"/>
              </a:rPr>
              <a:t>يُؤَدِّي إِلَى</a:t>
            </a:r>
            <a:pPr rtl="1" algn="ctr" indent="0" marL="0">
              <a:buNone/>
            </a:pPr>
            <a:r>
              <a:rPr lang="ar-SA" altLang="en-US" sz="1800" b="1" dirty="0">
                <a:solidFill>
                  <a:srgbClr val="1B3B6F"/>
                </a:solidFill>
                <a:latin typeface="Amiri" pitchFamily="2" charset="-78"/>
                <a:cs typeface="Amiri" pitchFamily="2" charset="-78"/>
              </a:rPr>
              <a:t> الأَمْرَاضِ</a:t>
            </a:r>
            <a:endParaRPr lang="ar-SA" sz="1800" dirty="0"/>
          </a:p>
        </p:txBody>
      </p:sp>
      <p:sp>
        <p:nvSpPr>
          <p:cNvPr id="42" name="Text 39"/>
          <p:cNvSpPr txBox="1"/>
          <p:nvPr/>
        </p:nvSpPr>
        <p:spPr>
          <a:xfrm>
            <a:off x="3913632" y="4009949"/>
            <a:ext cx="32918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pollution leads to illness</a:t>
            </a:r>
            <a:endParaRPr lang="en-US" sz="950" dirty="0"/>
          </a:p>
        </p:txBody>
      </p:sp>
      <p:sp>
        <p:nvSpPr>
          <p:cNvPr id="43" name="Text 40"/>
          <p:cNvSpPr txBox="1"/>
          <p:nvPr/>
        </p:nvSpPr>
        <p:spPr>
          <a:xfrm>
            <a:off x="548640" y="3651504"/>
            <a:ext cx="3227832"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يَجِبُ عَلَيْنَا أَنْ … لِكَيْ …</a:t>
            </a:r>
            <a:endParaRPr lang="ar-SA" sz="1800" dirty="0"/>
          </a:p>
        </p:txBody>
      </p:sp>
      <p:sp>
        <p:nvSpPr>
          <p:cNvPr id="44" name="Text 41"/>
          <p:cNvSpPr txBox="1"/>
          <p:nvPr/>
        </p:nvSpPr>
        <p:spPr>
          <a:xfrm>
            <a:off x="502920" y="4009949"/>
            <a:ext cx="3319272"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must … so that …</a:t>
            </a:r>
            <a:endParaRPr lang="en-US" sz="950" dirty="0"/>
          </a:p>
        </p:txBody>
      </p:sp>
      <p:sp>
        <p:nvSpPr>
          <p:cNvPr id="45" name="Shape 42"/>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7" name="Shape 44"/>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48" name="Text 45"/>
          <p:cNvSpPr txBox="1"/>
          <p:nvPr/>
        </p:nvSpPr>
        <p:spPr>
          <a:xfrm>
            <a:off x="9738360" y="4315968"/>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L06–L07 digital, documents</a:t>
            </a:r>
            <a:endParaRPr lang="en-US" sz="1100" dirty="0"/>
          </a:p>
        </p:txBody>
      </p:sp>
      <p:sp>
        <p:nvSpPr>
          <p:cNvPr id="49" name="Text 46"/>
          <p:cNvSpPr txBox="1"/>
          <p:nvPr/>
        </p:nvSpPr>
        <p:spPr>
          <a:xfrm>
            <a:off x="7360920" y="4315968"/>
            <a:ext cx="21945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 + partner word</a:t>
            </a:r>
            <a:endParaRPr lang="en-US" sz="1100" dirty="0"/>
          </a:p>
        </p:txBody>
      </p:sp>
      <p:sp>
        <p:nvSpPr>
          <p:cNvPr id="50" name="Text 47"/>
          <p:cNvSpPr txBox="1"/>
          <p:nvPr/>
        </p:nvSpPr>
        <p:spPr>
          <a:xfrm>
            <a:off x="3959352" y="4334256"/>
            <a:ext cx="3200400" cy="389291"/>
          </a:xfrm>
          <a:prstGeom prst="rect">
            <a:avLst/>
          </a:prstGeom>
          <a:noFill/>
          <a:ln/>
        </p:spPr>
        <p:txBody>
          <a:bodyPr wrap="square" lIns="0" tIns="0" rIns="0" bIns="0" rtlCol="0" anchor="ctr"/>
          <a:lstStyle/>
          <a:p>
            <a:pPr rtl="1" algn="ctr" indent="0" marL="0">
              <a:buNone/>
            </a:pPr>
            <a:r>
              <a:rPr lang="ar-SA" altLang="en-US" sz="1800" b="1" dirty="0">
                <a:solidFill>
                  <a:srgbClr val="1D5FBF"/>
                </a:solidFill>
                <a:latin typeface="Amiri" pitchFamily="2" charset="-78"/>
                <a:cs typeface="Amiri" pitchFamily="2" charset="-78"/>
              </a:rPr>
              <a:t>أُ</a:t>
            </a:r>
            <a:pPr rtl="1" algn="ctr" indent="0" marL="0">
              <a:buNone/>
            </a:pPr>
            <a:r>
              <a:rPr lang="ar-SA" altLang="en-US" sz="1800" b="1" dirty="0">
                <a:solidFill>
                  <a:srgbClr val="1B3B6F"/>
                </a:solidFill>
                <a:latin typeface="Amiri" pitchFamily="2" charset="-78"/>
                <a:cs typeface="Amiri" pitchFamily="2" charset="-78"/>
              </a:rPr>
              <a:t>رْسِلُ رِسَالَةً </a:t>
            </a:r>
            <a:pPr rtl="1" algn="ctr" indent="0" marL="0">
              <a:buNone/>
            </a:pPr>
            <a:r>
              <a:rPr lang="ar-SA" altLang="en-US" sz="1800" b="1" dirty="0">
                <a:solidFill>
                  <a:srgbClr val="0E7C86"/>
                </a:solidFill>
                <a:latin typeface="Amiri" pitchFamily="2" charset="-78"/>
                <a:cs typeface="Amiri" pitchFamily="2" charset="-78"/>
              </a:rPr>
              <a:t>إِلَى</a:t>
            </a:r>
            <a:pPr rtl="1" algn="ctr" indent="0" marL="0">
              <a:buNone/>
            </a:pPr>
            <a:r>
              <a:rPr lang="ar-SA" altLang="en-US" sz="1800" b="1" dirty="0">
                <a:solidFill>
                  <a:srgbClr val="1B3B6F"/>
                </a:solidFill>
                <a:latin typeface="Amiri" pitchFamily="2" charset="-78"/>
                <a:cs typeface="Amiri" pitchFamily="2" charset="-78"/>
              </a:rPr>
              <a:t> صَدِيقِي</a:t>
            </a:r>
            <a:endParaRPr lang="ar-SA" sz="1800" dirty="0"/>
          </a:p>
        </p:txBody>
      </p:sp>
      <p:sp>
        <p:nvSpPr>
          <p:cNvPr id="51" name="Text 48"/>
          <p:cNvSpPr txBox="1"/>
          <p:nvPr/>
        </p:nvSpPr>
        <p:spPr>
          <a:xfrm>
            <a:off x="3913632" y="4692701"/>
            <a:ext cx="32918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send a message to my friend</a:t>
            </a:r>
            <a:endParaRPr lang="en-US" sz="950" dirty="0"/>
          </a:p>
        </p:txBody>
      </p:sp>
      <p:sp>
        <p:nvSpPr>
          <p:cNvPr id="52" name="Text 49"/>
          <p:cNvSpPr txBox="1"/>
          <p:nvPr/>
        </p:nvSpPr>
        <p:spPr>
          <a:xfrm>
            <a:off x="548640" y="4334256"/>
            <a:ext cx="3227832"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تَمَّ حَجْزُ رِحْلَتِكَ</a:t>
            </a:r>
            <a:endParaRPr lang="ar-SA" sz="1800" dirty="0"/>
          </a:p>
        </p:txBody>
      </p:sp>
      <p:sp>
        <p:nvSpPr>
          <p:cNvPr id="53" name="Text 50"/>
          <p:cNvSpPr txBox="1"/>
          <p:nvPr/>
        </p:nvSpPr>
        <p:spPr>
          <a:xfrm>
            <a:off x="502920" y="4692701"/>
            <a:ext cx="3319272"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your trip has been booked</a:t>
            </a:r>
            <a:endParaRPr lang="en-US" sz="950" dirty="0"/>
          </a:p>
        </p:txBody>
      </p:sp>
      <p:sp>
        <p:nvSpPr>
          <p:cNvPr id="54" name="Shape 51"/>
          <p:cNvSpPr/>
          <p:nvPr/>
        </p:nvSpPr>
        <p:spPr>
          <a:xfrm>
            <a:off x="11091672" y="4361688"/>
            <a:ext cx="548640" cy="182880"/>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1091672" y="436168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6" name="Shape 53"/>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57" name="Text 54"/>
          <p:cNvSpPr txBox="1"/>
          <p:nvPr/>
        </p:nvSpPr>
        <p:spPr>
          <a:xfrm>
            <a:off x="9738360" y="4998720"/>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L08–L09 town, shopping</a:t>
            </a:r>
            <a:endParaRPr lang="en-US" sz="1100" dirty="0"/>
          </a:p>
        </p:txBody>
      </p:sp>
      <p:sp>
        <p:nvSpPr>
          <p:cNvPr id="58" name="Text 55"/>
          <p:cNvSpPr txBox="1"/>
          <p:nvPr/>
        </p:nvSpPr>
        <p:spPr>
          <a:xfrm>
            <a:off x="7360920" y="4998720"/>
            <a:ext cx="21945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there is · “it” ending</a:t>
            </a:r>
            <a:endParaRPr lang="en-US" sz="1100" dirty="0"/>
          </a:p>
        </p:txBody>
      </p:sp>
      <p:sp>
        <p:nvSpPr>
          <p:cNvPr id="59" name="Text 56"/>
          <p:cNvSpPr txBox="1"/>
          <p:nvPr/>
        </p:nvSpPr>
        <p:spPr>
          <a:xfrm>
            <a:off x="3959352" y="5017008"/>
            <a:ext cx="3200400" cy="389291"/>
          </a:xfrm>
          <a:prstGeom prst="rect">
            <a:avLst/>
          </a:prstGeom>
          <a:noFill/>
          <a:ln/>
        </p:spPr>
        <p:txBody>
          <a:bodyPr wrap="square" lIns="0" tIns="0" rIns="0" bIns="0" rtlCol="0" anchor="ctr"/>
          <a:lstStyle/>
          <a:p>
            <a:pPr rtl="1" algn="ctr" indent="0" marL="0">
              <a:buNone/>
            </a:pPr>
            <a:r>
              <a:rPr lang="ar-SA" altLang="en-US" sz="1800" b="1" dirty="0">
                <a:solidFill>
                  <a:srgbClr val="1D5FBF"/>
                </a:solidFill>
                <a:latin typeface="Amiri" pitchFamily="2" charset="-78"/>
                <a:cs typeface="Amiri" pitchFamily="2" charset="-78"/>
              </a:rPr>
              <a:t>تُ</a:t>
            </a:r>
            <a:pPr rtl="1" algn="ctr" indent="0" marL="0">
              <a:buNone/>
            </a:pPr>
            <a:r>
              <a:rPr lang="ar-SA" altLang="en-US" sz="1800" b="1" dirty="0">
                <a:solidFill>
                  <a:srgbClr val="1B3B6F"/>
                </a:solidFill>
                <a:latin typeface="Amiri" pitchFamily="2" charset="-78"/>
                <a:cs typeface="Amiri" pitchFamily="2" charset="-78"/>
              </a:rPr>
              <a:t>وجَدُ مَكْتَبَةٌ · كَمْ ثَمَنُ</a:t>
            </a:r>
            <a:pPr rtl="1" algn="ctr" indent="0" marL="0">
              <a:buNone/>
            </a:pPr>
            <a:r>
              <a:rPr lang="ar-SA" altLang="en-US" sz="1800" b="1" dirty="0">
                <a:solidFill>
                  <a:srgbClr val="D6336C"/>
                </a:solidFill>
                <a:latin typeface="Amiri" pitchFamily="2" charset="-78"/>
                <a:cs typeface="Amiri" pitchFamily="2" charset="-78"/>
              </a:rPr>
              <a:t>هَا</a:t>
            </a:r>
            <a:pPr rtl="1" algn="ctr" indent="0" marL="0">
              <a:buNone/>
            </a:pPr>
            <a:r>
              <a:rPr lang="ar-SA" altLang="en-US" sz="1800" b="1" dirty="0">
                <a:solidFill>
                  <a:srgbClr val="1B3B6F"/>
                </a:solidFill>
                <a:latin typeface="Amiri" pitchFamily="2" charset="-78"/>
                <a:cs typeface="Amiri" pitchFamily="2" charset="-78"/>
              </a:rPr>
              <a:t>؟</a:t>
            </a:r>
            <a:endParaRPr lang="ar-SA" sz="1800" dirty="0"/>
          </a:p>
        </p:txBody>
      </p:sp>
      <p:sp>
        <p:nvSpPr>
          <p:cNvPr id="60" name="Text 57"/>
          <p:cNvSpPr txBox="1"/>
          <p:nvPr/>
        </p:nvSpPr>
        <p:spPr>
          <a:xfrm>
            <a:off x="3913632" y="5375453"/>
            <a:ext cx="32918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is a library · how much is it?</a:t>
            </a:r>
            <a:endParaRPr lang="en-US" sz="950" dirty="0"/>
          </a:p>
        </p:txBody>
      </p:sp>
      <p:sp>
        <p:nvSpPr>
          <p:cNvPr id="61" name="Text 58"/>
          <p:cNvSpPr txBox="1"/>
          <p:nvPr/>
        </p:nvSpPr>
        <p:spPr>
          <a:xfrm>
            <a:off x="548640" y="5017008"/>
            <a:ext cx="3227832"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أَرْخَصُ مِنْ · أَفْضَلُ قِيمَةً</a:t>
            </a:r>
            <a:endParaRPr lang="ar-SA" sz="1800" dirty="0"/>
          </a:p>
        </p:txBody>
      </p:sp>
      <p:sp>
        <p:nvSpPr>
          <p:cNvPr id="62" name="Text 59"/>
          <p:cNvSpPr txBox="1"/>
          <p:nvPr/>
        </p:nvSpPr>
        <p:spPr>
          <a:xfrm>
            <a:off x="502920" y="5375453"/>
            <a:ext cx="3319272"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cheaper than · better value</a:t>
            </a:r>
            <a:endParaRPr lang="en-US" sz="950" dirty="0"/>
          </a:p>
        </p:txBody>
      </p:sp>
      <p:sp>
        <p:nvSpPr>
          <p:cNvPr id="63" name="Shape 60"/>
          <p:cNvSpPr/>
          <p:nvPr/>
        </p:nvSpPr>
        <p:spPr>
          <a:xfrm>
            <a:off x="11091672" y="5044440"/>
            <a:ext cx="548640" cy="182880"/>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11091672" y="504444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5" name="Shape 62"/>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66" name="Text 63"/>
          <p:cNvSpPr txBox="1"/>
          <p:nvPr/>
        </p:nvSpPr>
        <p:spPr>
          <a:xfrm>
            <a:off x="9738360" y="5681472"/>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L10 materials</a:t>
            </a:r>
            <a:endParaRPr lang="en-US" sz="1100" dirty="0"/>
          </a:p>
        </p:txBody>
      </p:sp>
      <p:sp>
        <p:nvSpPr>
          <p:cNvPr id="67" name="Text 64"/>
          <p:cNvSpPr txBox="1"/>
          <p:nvPr/>
        </p:nvSpPr>
        <p:spPr>
          <a:xfrm>
            <a:off x="7360920" y="5681472"/>
            <a:ext cx="21945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made of + agreement</a:t>
            </a:r>
            <a:endParaRPr lang="en-US" sz="1100" dirty="0"/>
          </a:p>
        </p:txBody>
      </p:sp>
      <p:sp>
        <p:nvSpPr>
          <p:cNvPr id="68" name="Text 65"/>
          <p:cNvSpPr txBox="1"/>
          <p:nvPr/>
        </p:nvSpPr>
        <p:spPr>
          <a:xfrm>
            <a:off x="3959352" y="5699760"/>
            <a:ext cx="320040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الطَّاوِلَةُ مَصْنُوعَ</a:t>
            </a:r>
            <a:pPr rtl="1" algn="ctr" indent="0" marL="0">
              <a:buNone/>
            </a:pPr>
            <a:r>
              <a:rPr lang="ar-SA" altLang="en-US" sz="1800" b="1" dirty="0">
                <a:solidFill>
                  <a:srgbClr val="D6336C"/>
                </a:solidFill>
                <a:latin typeface="Amiri" pitchFamily="2" charset="-78"/>
                <a:cs typeface="Amiri" pitchFamily="2" charset="-78"/>
              </a:rPr>
              <a:t>ةٌ</a:t>
            </a:r>
            <a:pPr rtl="1" algn="ctr" indent="0" marL="0">
              <a:buNone/>
            </a:pPr>
            <a:r>
              <a:rPr lang="ar-SA" altLang="en-US" sz="1800" b="1" dirty="0">
                <a:solidFill>
                  <a:srgbClr val="1B3B6F"/>
                </a:solidFill>
                <a:latin typeface="Amiri" pitchFamily="2" charset="-78"/>
                <a:cs typeface="Amiri" pitchFamily="2" charset="-78"/>
              </a:rPr>
              <a:t> </a:t>
            </a:r>
            <a:pPr rtl="1" algn="ctr" indent="0" marL="0">
              <a:buNone/>
            </a:pPr>
            <a:r>
              <a:rPr lang="ar-SA" altLang="en-US" sz="1800" b="1" dirty="0">
                <a:solidFill>
                  <a:srgbClr val="0E7C86"/>
                </a:solidFill>
                <a:latin typeface="Amiri" pitchFamily="2" charset="-78"/>
                <a:cs typeface="Amiri" pitchFamily="2" charset="-78"/>
              </a:rPr>
              <a:t>مِنَ</a:t>
            </a:r>
            <a:pPr rtl="1" algn="ctr" indent="0" marL="0">
              <a:buNone/>
            </a:pPr>
            <a:r>
              <a:rPr lang="ar-SA" altLang="en-US" sz="1800" b="1" dirty="0">
                <a:solidFill>
                  <a:srgbClr val="1B3B6F"/>
                </a:solidFill>
                <a:latin typeface="Amiri" pitchFamily="2" charset="-78"/>
                <a:cs typeface="Amiri" pitchFamily="2" charset="-78"/>
              </a:rPr>
              <a:t> الخَشَبِ</a:t>
            </a:r>
            <a:endParaRPr lang="ar-SA" sz="1800" dirty="0"/>
          </a:p>
        </p:txBody>
      </p:sp>
      <p:sp>
        <p:nvSpPr>
          <p:cNvPr id="69" name="Text 66"/>
          <p:cNvSpPr txBox="1"/>
          <p:nvPr/>
        </p:nvSpPr>
        <p:spPr>
          <a:xfrm>
            <a:off x="3913632" y="6058205"/>
            <a:ext cx="32918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table is made of wood</a:t>
            </a:r>
            <a:endParaRPr lang="en-US" sz="950" dirty="0"/>
          </a:p>
        </p:txBody>
      </p:sp>
      <p:sp>
        <p:nvSpPr>
          <p:cNvPr id="70" name="Text 67"/>
          <p:cNvSpPr txBox="1"/>
          <p:nvPr/>
        </p:nvSpPr>
        <p:spPr>
          <a:xfrm>
            <a:off x="548640" y="5699760"/>
            <a:ext cx="3227832"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 بَيْنَمَا …</a:t>
            </a:r>
            <a:endParaRPr lang="ar-SA" sz="1800" dirty="0"/>
          </a:p>
        </p:txBody>
      </p:sp>
      <p:sp>
        <p:nvSpPr>
          <p:cNvPr id="71" name="Text 68"/>
          <p:cNvSpPr txBox="1"/>
          <p:nvPr/>
        </p:nvSpPr>
        <p:spPr>
          <a:xfrm>
            <a:off x="502920" y="6058205"/>
            <a:ext cx="3319272"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 whereas …</a:t>
            </a:r>
            <a:endParaRPr lang="en-US" sz="950" dirty="0"/>
          </a:p>
        </p:txBody>
      </p:sp>
      <p:sp>
        <p:nvSpPr>
          <p:cNvPr id="72" name="Shape 69"/>
          <p:cNvSpPr/>
          <p:nvPr/>
        </p:nvSpPr>
        <p:spPr>
          <a:xfrm>
            <a:off x="11091672" y="5727192"/>
            <a:ext cx="548640" cy="182880"/>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11091672" y="57271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1 · WEBSITE D4-L11 · SPEAKING AND SELF-CORRECTION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Phrases for speaking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عِبَارَاتُ 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opinion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وَجْهَةِ نَظَرِي</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from my point of view</a:t>
            </a:r>
            <a:endParaRPr lang="en-US" sz="1350" dirty="0"/>
          </a:p>
          <a:p>
            <a:pPr indent="0" marL="0">
              <a:buNone/>
            </a:pPr>
            <a:r>
              <a:rPr lang="en-US" sz="1100" i="1" dirty="0">
                <a:solidFill>
                  <a:srgbClr val="5A6472"/>
                </a:solidFill>
                <a:latin typeface="Calibri" pitchFamily="34" charset="0"/>
                <a:cs typeface="Amiri" pitchFamily="2" charset="-78"/>
              </a:rPr>
              <a:t>min waj-hati na-ẓa-rī</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develop</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سَأُعْطِي مِثَالًا</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give an example</a:t>
            </a:r>
            <a:endParaRPr lang="en-US" sz="1350" dirty="0"/>
          </a:p>
          <a:p>
            <a:pPr indent="0" marL="0">
              <a:buNone/>
            </a:pPr>
            <a:r>
              <a:rPr lang="en-US" sz="1100" i="1" dirty="0">
                <a:solidFill>
                  <a:srgbClr val="5A6472"/>
                </a:solidFill>
                <a:latin typeface="Calibri" pitchFamily="34" charset="0"/>
                <a:cs typeface="Amiri" pitchFamily="2" charset="-78"/>
              </a:rPr>
              <a:t>sa-ʾuʿ-ṭī mi-thā-lan</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rephrase</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بِعِبَارَةٍ أُخْرَى</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other words</a:t>
            </a:r>
            <a:endParaRPr lang="en-US" sz="1350" dirty="0"/>
          </a:p>
          <a:p>
            <a:pPr indent="0" marL="0">
              <a:buNone/>
            </a:pPr>
            <a:r>
              <a:rPr lang="en-US" sz="1100" i="1" dirty="0">
                <a:solidFill>
                  <a:srgbClr val="5A6472"/>
                </a:solidFill>
                <a:latin typeface="Calibri" pitchFamily="34" charset="0"/>
                <a:cs typeface="Amiri" pitchFamily="2" charset="-78"/>
              </a:rPr>
              <a:t>bi-ʿi-bā-ra-tin ukh-rā</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5" name="Shape 42"/>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rephrase</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أَقْصِدُ أَنَّ</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I mean is</a:t>
            </a:r>
            <a:endParaRPr lang="en-US" sz="1350" dirty="0"/>
          </a:p>
          <a:p>
            <a:pPr indent="0" marL="0">
              <a:buNone/>
            </a:pPr>
            <a:r>
              <a:rPr lang="en-US" sz="1100" i="1" dirty="0">
                <a:solidFill>
                  <a:srgbClr val="5A6472"/>
                </a:solidFill>
                <a:latin typeface="Calibri" pitchFamily="34" charset="0"/>
                <a:cs typeface="Amiri" pitchFamily="2" charset="-78"/>
              </a:rPr>
              <a:t>aq-ṣi-du an-na</a:t>
            </a:r>
            <a:endParaRPr lang="en-US" sz="135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2" name="Shape 49"/>
          <p:cNvSpPr/>
          <p:nvPr/>
        </p:nvSpPr>
        <p:spPr>
          <a:xfrm>
            <a:off x="4782312" y="4279392"/>
            <a:ext cx="1207008"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4782312" y="4279392"/>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self-correction</a:t>
            </a:r>
            <a:endParaRPr lang="en-US" sz="800" dirty="0"/>
          </a:p>
        </p:txBody>
      </p:sp>
      <p:sp>
        <p:nvSpPr>
          <p:cNvPr id="54" name="Shape 5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لِأُصَحِّحْ ذٰلِكَ</a:t>
            </a:r>
            <a:endParaRPr lang="ar-SA" sz="3000" dirty="0"/>
          </a:p>
        </p:txBody>
      </p:sp>
      <p:sp>
        <p:nvSpPr>
          <p:cNvPr id="57" name="Text 5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let me correct that</a:t>
            </a:r>
            <a:endParaRPr lang="en-US" sz="1350" dirty="0"/>
          </a:p>
          <a:p>
            <a:pPr indent="0" marL="0">
              <a:buNone/>
            </a:pPr>
            <a:r>
              <a:rPr lang="en-US" sz="1100" i="1" dirty="0">
                <a:solidFill>
                  <a:srgbClr val="5A6472"/>
                </a:solidFill>
                <a:latin typeface="Calibri" pitchFamily="34" charset="0"/>
                <a:cs typeface="Amiri" pitchFamily="2" charset="-78"/>
              </a:rPr>
              <a:t>li-ʾu-ṣaḥ-ḥiḥ dhā-lik</a:t>
            </a:r>
            <a:endParaRPr lang="en-US" sz="1350" dirty="0"/>
          </a:p>
        </p:txBody>
      </p:sp>
      <p:sp>
        <p:nvSpPr>
          <p:cNvPr id="58" name="Text 55"/>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Use it when you notice a mistake!</a:t>
            </a:r>
            <a:endParaRPr lang="en-US" sz="1000" dirty="0"/>
          </a:p>
        </p:txBody>
      </p:sp>
      <p:sp>
        <p:nvSpPr>
          <p:cNvPr id="59" name="Shape 5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566928"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2" name="Shape 59"/>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63" name="Text 60"/>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balance</a:t>
            </a:r>
            <a:endParaRPr lang="en-US" sz="800" dirty="0"/>
          </a:p>
        </p:txBody>
      </p:sp>
      <p:sp>
        <p:nvSpPr>
          <p:cNvPr id="64" name="Text 6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إِلَى حَدٍّ مَا</a:t>
            </a:r>
            <a:endParaRPr lang="ar-SA" sz="3000" dirty="0"/>
          </a:p>
        </p:txBody>
      </p:sp>
      <p:sp>
        <p:nvSpPr>
          <p:cNvPr id="65" name="Text 6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 some extent</a:t>
            </a:r>
            <a:endParaRPr lang="en-US" sz="1350" dirty="0"/>
          </a:p>
          <a:p>
            <a:pPr indent="0" marL="0">
              <a:buNone/>
            </a:pPr>
            <a:r>
              <a:rPr lang="en-US" sz="1100" i="1" dirty="0">
                <a:solidFill>
                  <a:srgbClr val="5A6472"/>
                </a:solidFill>
                <a:latin typeface="Calibri" pitchFamily="34" charset="0"/>
                <a:cs typeface="Amiri" pitchFamily="2" charset="-78"/>
              </a:rPr>
              <a:t>i-lā ḥad-din mā</a:t>
            </a:r>
            <a:endParaRPr lang="en-US" sz="13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COHESION · LINKING WORDS (TOPIC 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Link your ideas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أَدَوَاتُ الرَّبْطِ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cs typeface="Amiri" pitchFamily="2" charset="-78"/>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cs typeface="Amiri" pitchFamily="2" charset="-78"/>
              </a:rPr>
              <a:t>التَّرْتِيبُ</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order</a:t>
            </a:r>
            <a:endParaRPr lang="en-US" sz="900" dirty="0"/>
          </a:p>
        </p:txBody>
      </p:sp>
      <p:sp>
        <p:nvSpPr>
          <p:cNvPr id="19" name="Shape 16"/>
          <p:cNvSpPr/>
          <p:nvPr/>
        </p:nvSpPr>
        <p:spPr>
          <a:xfrm>
            <a:off x="6336792" y="1810512"/>
            <a:ext cx="2642616" cy="566928"/>
          </a:xfrm>
          <a:prstGeom prst="roundRect">
            <a:avLst>
              <a:gd name="adj" fmla="val 9677"/>
            </a:avLst>
          </a:prstGeom>
          <a:solidFill>
            <a:srgbClr val="0E7C86"/>
          </a:solidFill>
          <a:ln w="12700">
            <a:solidFill>
              <a:srgbClr val="0E7C86"/>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cs typeface="Amiri" pitchFamily="2" charset="-78"/>
              </a:rPr>
              <a:t>السَّبَبُ وَالنَّتِيجَةُ</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reason and result</a:t>
            </a:r>
            <a:endParaRPr lang="en-US" sz="900" dirty="0"/>
          </a:p>
        </p:txBody>
      </p:sp>
      <p:sp>
        <p:nvSpPr>
          <p:cNvPr id="22" name="Shape 19"/>
          <p:cNvSpPr/>
          <p:nvPr/>
        </p:nvSpPr>
        <p:spPr>
          <a:xfrm>
            <a:off x="3584448" y="1810512"/>
            <a:ext cx="2642616" cy="566928"/>
          </a:xfrm>
          <a:prstGeom prst="roundRect">
            <a:avLst>
              <a:gd name="adj" fmla="val 9677"/>
            </a:avLst>
          </a:prstGeom>
          <a:solidFill>
            <a:srgbClr val="8A6D1E"/>
          </a:solidFill>
          <a:ln w="12700">
            <a:solidFill>
              <a:srgbClr val="8A6D1E"/>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cs typeface="Amiri" pitchFamily="2" charset="-78"/>
              </a:rPr>
              <a:t>المُقَارَنَةُ</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contrast and balance</a:t>
            </a:r>
            <a:endParaRPr lang="en-US" sz="900" dirty="0"/>
          </a:p>
        </p:txBody>
      </p:sp>
      <p:sp>
        <p:nvSpPr>
          <p:cNvPr id="25" name="Text 22"/>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first · because · but</a:t>
            </a:r>
            <a:endParaRPr lang="en-US" sz="1200" dirty="0"/>
          </a:p>
        </p:txBody>
      </p:sp>
      <p:sp>
        <p:nvSpPr>
          <p:cNvPr id="26" name="Shape 23"/>
          <p:cNvSpPr/>
          <p:nvPr/>
        </p:nvSpPr>
        <p:spPr>
          <a:xfrm>
            <a:off x="9089136" y="2487168"/>
            <a:ext cx="2642616" cy="768096"/>
          </a:xfrm>
          <a:prstGeom prst="roundRect">
            <a:avLst>
              <a:gd name="adj" fmla="val 7143"/>
            </a:avLst>
          </a:prstGeom>
          <a:solidFill>
            <a:srgbClr val="EEF3FA"/>
          </a:solidFill>
          <a:ln w="9525">
            <a:solidFill>
              <a:srgbClr val="EEF3FA"/>
            </a:solidFill>
            <a:prstDash val="solid"/>
          </a:ln>
        </p:spPr>
      </p:sp>
      <p:sp>
        <p:nvSpPr>
          <p:cNvPr id="27" name="Text 24"/>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أَوَّلًا</a:t>
            </a:r>
            <a:endParaRPr lang="ar-SA" sz="2400" dirty="0"/>
          </a:p>
        </p:txBody>
      </p:sp>
      <p:sp>
        <p:nvSpPr>
          <p:cNvPr id="28" name="Shape 25"/>
          <p:cNvSpPr/>
          <p:nvPr/>
        </p:nvSpPr>
        <p:spPr>
          <a:xfrm>
            <a:off x="6336792" y="2487168"/>
            <a:ext cx="2642616" cy="768096"/>
          </a:xfrm>
          <a:prstGeom prst="roundRect">
            <a:avLst>
              <a:gd name="adj" fmla="val 7143"/>
            </a:avLst>
          </a:prstGeom>
          <a:solidFill>
            <a:srgbClr val="E3F2F3"/>
          </a:solidFill>
          <a:ln w="9525">
            <a:solidFill>
              <a:srgbClr val="E3F2F3"/>
            </a:solidFill>
            <a:prstDash val="solid"/>
          </a:ln>
        </p:spPr>
      </p:sp>
      <p:sp>
        <p:nvSpPr>
          <p:cNvPr id="29" name="Text 26"/>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لِأَنَّ</a:t>
            </a:r>
            <a:endParaRPr lang="ar-SA" sz="2400" dirty="0"/>
          </a:p>
        </p:txBody>
      </p:sp>
      <p:sp>
        <p:nvSpPr>
          <p:cNvPr id="30" name="Shape 27"/>
          <p:cNvSpPr/>
          <p:nvPr/>
        </p:nvSpPr>
        <p:spPr>
          <a:xfrm>
            <a:off x="3584448" y="2487168"/>
            <a:ext cx="2642616" cy="768096"/>
          </a:xfrm>
          <a:prstGeom prst="roundRect">
            <a:avLst>
              <a:gd name="adj" fmla="val 7143"/>
            </a:avLst>
          </a:prstGeom>
          <a:solidFill>
            <a:srgbClr val="F8F0DC"/>
          </a:solidFill>
          <a:ln w="9525">
            <a:solidFill>
              <a:srgbClr val="F8F0DC"/>
            </a:solidFill>
            <a:prstDash val="solid"/>
          </a:ln>
        </p:spPr>
      </p:sp>
      <p:sp>
        <p:nvSpPr>
          <p:cNvPr id="31" name="Text 28"/>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لٰكِنَّ</a:t>
            </a:r>
            <a:endParaRPr lang="ar-SA" sz="2400" dirty="0"/>
          </a:p>
        </p:txBody>
      </p:sp>
      <p:sp>
        <p:nvSpPr>
          <p:cNvPr id="32" name="Text 29"/>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then · so, therefore · whereas</a:t>
            </a:r>
            <a:endParaRPr lang="en-US" sz="1200" dirty="0"/>
          </a:p>
        </p:txBody>
      </p:sp>
      <p:sp>
        <p:nvSpPr>
          <p:cNvPr id="33" name="Shape 30"/>
          <p:cNvSpPr/>
          <p:nvPr/>
        </p:nvSpPr>
        <p:spPr>
          <a:xfrm>
            <a:off x="9089136" y="3364992"/>
            <a:ext cx="2642616" cy="768096"/>
          </a:xfrm>
          <a:prstGeom prst="roundRect">
            <a:avLst>
              <a:gd name="adj" fmla="val 7143"/>
            </a:avLst>
          </a:prstGeom>
          <a:solidFill>
            <a:srgbClr val="EEF3FA"/>
          </a:solidFill>
          <a:ln w="9525">
            <a:solidFill>
              <a:srgbClr val="EEF3FA"/>
            </a:solidFill>
            <a:prstDash val="solid"/>
          </a:ln>
        </p:spPr>
      </p:sp>
      <p:sp>
        <p:nvSpPr>
          <p:cNvPr id="34" name="Text 31"/>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ثُمَّ</a:t>
            </a:r>
            <a:endParaRPr lang="ar-SA" sz="2400" dirty="0"/>
          </a:p>
        </p:txBody>
      </p:sp>
      <p:sp>
        <p:nvSpPr>
          <p:cNvPr id="35" name="Shape 32"/>
          <p:cNvSpPr/>
          <p:nvPr/>
        </p:nvSpPr>
        <p:spPr>
          <a:xfrm>
            <a:off x="6336792" y="3364992"/>
            <a:ext cx="2642616" cy="768096"/>
          </a:xfrm>
          <a:prstGeom prst="roundRect">
            <a:avLst>
              <a:gd name="adj" fmla="val 7143"/>
            </a:avLst>
          </a:prstGeom>
          <a:solidFill>
            <a:srgbClr val="E3F2F3"/>
          </a:solidFill>
          <a:ln w="9525">
            <a:solidFill>
              <a:srgbClr val="E3F2F3"/>
            </a:solidFill>
            <a:prstDash val="solid"/>
          </a:ln>
        </p:spPr>
      </p:sp>
      <p:sp>
        <p:nvSpPr>
          <p:cNvPr id="36" name="Text 33"/>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لِذٰلِكَ</a:t>
            </a:r>
            <a:endParaRPr lang="ar-SA" sz="2400" dirty="0"/>
          </a:p>
        </p:txBody>
      </p:sp>
      <p:sp>
        <p:nvSpPr>
          <p:cNvPr id="37" name="Shape 34"/>
          <p:cNvSpPr/>
          <p:nvPr/>
        </p:nvSpPr>
        <p:spPr>
          <a:xfrm>
            <a:off x="3584448" y="3364992"/>
            <a:ext cx="2642616" cy="768096"/>
          </a:xfrm>
          <a:prstGeom prst="roundRect">
            <a:avLst>
              <a:gd name="adj" fmla="val 7143"/>
            </a:avLst>
          </a:prstGeom>
          <a:solidFill>
            <a:srgbClr val="F8F0DC"/>
          </a:solidFill>
          <a:ln w="9525">
            <a:solidFill>
              <a:srgbClr val="F8F0DC"/>
            </a:solidFill>
            <a:prstDash val="solid"/>
          </a:ln>
        </p:spPr>
      </p:sp>
      <p:sp>
        <p:nvSpPr>
          <p:cNvPr id="38" name="Text 35"/>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بَيْنَمَا</a:t>
            </a:r>
            <a:endParaRPr lang="ar-SA" sz="2400" dirty="0"/>
          </a:p>
        </p:txBody>
      </p:sp>
      <p:sp>
        <p:nvSpPr>
          <p:cNvPr id="39" name="Text 36"/>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also · because of · on the one hand … on the other</a:t>
            </a:r>
            <a:endParaRPr lang="en-US" sz="1200" dirty="0"/>
          </a:p>
        </p:txBody>
      </p:sp>
      <p:sp>
        <p:nvSpPr>
          <p:cNvPr id="40" name="Shape 37"/>
          <p:cNvSpPr/>
          <p:nvPr/>
        </p:nvSpPr>
        <p:spPr>
          <a:xfrm>
            <a:off x="9089136" y="4242816"/>
            <a:ext cx="2642616" cy="768096"/>
          </a:xfrm>
          <a:prstGeom prst="roundRect">
            <a:avLst>
              <a:gd name="adj" fmla="val 7143"/>
            </a:avLst>
          </a:prstGeom>
          <a:solidFill>
            <a:srgbClr val="EEF3FA"/>
          </a:solidFill>
          <a:ln w="9525">
            <a:solidFill>
              <a:srgbClr val="EEF3FA"/>
            </a:solidFill>
            <a:prstDash val="solid"/>
          </a:ln>
        </p:spPr>
      </p:sp>
      <p:sp>
        <p:nvSpPr>
          <p:cNvPr id="41" name="Text 38"/>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كَمَا</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0E7C86"/>
                </a:solidFill>
                <a:latin typeface="Amiri" pitchFamily="2" charset="-78"/>
                <a:cs typeface="Amiri" pitchFamily="2" charset="-78"/>
              </a:rPr>
              <a:t>أَيْضًا</a:t>
            </a:r>
            <a:endParaRPr lang="ar-SA" sz="2400" dirty="0"/>
          </a:p>
        </p:txBody>
      </p:sp>
      <p:sp>
        <p:nvSpPr>
          <p:cNvPr id="42" name="Shape 39"/>
          <p:cNvSpPr/>
          <p:nvPr/>
        </p:nvSpPr>
        <p:spPr>
          <a:xfrm>
            <a:off x="6336792" y="4242816"/>
            <a:ext cx="2642616" cy="768096"/>
          </a:xfrm>
          <a:prstGeom prst="roundRect">
            <a:avLst>
              <a:gd name="adj" fmla="val 7143"/>
            </a:avLst>
          </a:prstGeom>
          <a:solidFill>
            <a:srgbClr val="E3F2F3"/>
          </a:solidFill>
          <a:ln w="9525">
            <a:solidFill>
              <a:srgbClr val="E3F2F3"/>
            </a:solidFill>
            <a:prstDash val="solid"/>
          </a:ln>
        </p:spPr>
      </p:sp>
      <p:sp>
        <p:nvSpPr>
          <p:cNvPr id="43" name="Text 40"/>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بِسَبَبِ</a:t>
            </a:r>
            <a:endParaRPr lang="ar-SA" sz="2400" dirty="0"/>
          </a:p>
        </p:txBody>
      </p:sp>
      <p:sp>
        <p:nvSpPr>
          <p:cNvPr id="44" name="Shape 41"/>
          <p:cNvSpPr/>
          <p:nvPr/>
        </p:nvSpPr>
        <p:spPr>
          <a:xfrm>
            <a:off x="3584448" y="4242816"/>
            <a:ext cx="2642616" cy="768096"/>
          </a:xfrm>
          <a:prstGeom prst="roundRect">
            <a:avLst>
              <a:gd name="adj" fmla="val 7143"/>
            </a:avLst>
          </a:prstGeom>
          <a:solidFill>
            <a:srgbClr val="F8F0DC"/>
          </a:solidFill>
          <a:ln w="9525">
            <a:solidFill>
              <a:srgbClr val="F8F0DC"/>
            </a:solidFill>
            <a:prstDash val="solid"/>
          </a:ln>
        </p:spPr>
      </p:sp>
      <p:sp>
        <p:nvSpPr>
          <p:cNvPr id="45" name="Text 42"/>
          <p:cNvSpPr txBox="1"/>
          <p:nvPr/>
        </p:nvSpPr>
        <p:spPr>
          <a:xfrm>
            <a:off x="3657600" y="4242816"/>
            <a:ext cx="2496312" cy="768096"/>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cs typeface="Amiri" pitchFamily="2" charset="-78"/>
              </a:rPr>
              <a:t>مِنْ نَاحِيَةٍ</a:t>
            </a:r>
            <a:pPr rtl="1" algn="ctr" indent="0" marL="0">
              <a:buNone/>
            </a:pPr>
            <a:r>
              <a:rPr lang="ar-SA" altLang="en-US" sz="1950" b="1" dirty="0">
                <a:solidFill>
                  <a:srgbClr val="1B3B6F"/>
                </a:solidFill>
                <a:latin typeface="Amiri" pitchFamily="2" charset="-78"/>
                <a:cs typeface="Amiri" pitchFamily="2" charset="-78"/>
              </a:rPr>
              <a:t> … </a:t>
            </a:r>
            <a:pPr rtl="1" algn="ctr" indent="0" marL="0">
              <a:buNone/>
            </a:pPr>
            <a:r>
              <a:rPr lang="ar-SA" altLang="en-US" sz="1950" b="1" dirty="0">
                <a:solidFill>
                  <a:srgbClr val="0E7C86"/>
                </a:solidFill>
                <a:latin typeface="Amiri" pitchFamily="2" charset="-78"/>
                <a:cs typeface="Amiri" pitchFamily="2" charset="-78"/>
              </a:rPr>
              <a:t>وَمِنْ نَاحِيَةٍ أُخْرَى</a:t>
            </a:r>
            <a:endParaRPr lang="ar-SA" sz="1950" dirty="0"/>
          </a:p>
        </p:txBody>
      </p:sp>
      <p:sp>
        <p:nvSpPr>
          <p:cNvPr id="46" name="Text 43"/>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finally · leads to · although</a:t>
            </a:r>
            <a:endParaRPr lang="en-US" sz="1200" dirty="0"/>
          </a:p>
        </p:txBody>
      </p:sp>
      <p:sp>
        <p:nvSpPr>
          <p:cNvPr id="47" name="Shape 44"/>
          <p:cNvSpPr/>
          <p:nvPr/>
        </p:nvSpPr>
        <p:spPr>
          <a:xfrm>
            <a:off x="9089136" y="5120640"/>
            <a:ext cx="2642616" cy="768096"/>
          </a:xfrm>
          <a:prstGeom prst="roundRect">
            <a:avLst>
              <a:gd name="adj" fmla="val 7143"/>
            </a:avLst>
          </a:prstGeom>
          <a:solidFill>
            <a:srgbClr val="EEF3FA"/>
          </a:solidFill>
          <a:ln w="9525">
            <a:solidFill>
              <a:srgbClr val="EEF3FA"/>
            </a:solidFill>
            <a:prstDash val="solid"/>
          </a:ln>
        </p:spPr>
      </p:sp>
      <p:sp>
        <p:nvSpPr>
          <p:cNvPr id="48" name="Text 45"/>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أَخِيرًا</a:t>
            </a:r>
            <a:endParaRPr lang="ar-SA" sz="2400" dirty="0"/>
          </a:p>
        </p:txBody>
      </p:sp>
      <p:sp>
        <p:nvSpPr>
          <p:cNvPr id="49" name="Shape 46"/>
          <p:cNvSpPr/>
          <p:nvPr/>
        </p:nvSpPr>
        <p:spPr>
          <a:xfrm>
            <a:off x="6336792" y="5120640"/>
            <a:ext cx="2642616" cy="768096"/>
          </a:xfrm>
          <a:prstGeom prst="roundRect">
            <a:avLst>
              <a:gd name="adj" fmla="val 7143"/>
            </a:avLst>
          </a:prstGeom>
          <a:solidFill>
            <a:srgbClr val="E3F2F3"/>
          </a:solidFill>
          <a:ln w="9525">
            <a:solidFill>
              <a:srgbClr val="E3F2F3"/>
            </a:solidFill>
            <a:prstDash val="solid"/>
          </a:ln>
        </p:spPr>
      </p:sp>
      <p:sp>
        <p:nvSpPr>
          <p:cNvPr id="50" name="Text 47"/>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يُؤَدِّي إِلَى</a:t>
            </a:r>
            <a:endParaRPr lang="ar-SA" sz="2400" dirty="0"/>
          </a:p>
        </p:txBody>
      </p:sp>
      <p:sp>
        <p:nvSpPr>
          <p:cNvPr id="51" name="Shape 48"/>
          <p:cNvSpPr/>
          <p:nvPr/>
        </p:nvSpPr>
        <p:spPr>
          <a:xfrm>
            <a:off x="3584448" y="5120640"/>
            <a:ext cx="2642616" cy="768096"/>
          </a:xfrm>
          <a:prstGeom prst="roundRect">
            <a:avLst>
              <a:gd name="adj" fmla="val 7143"/>
            </a:avLst>
          </a:prstGeom>
          <a:solidFill>
            <a:srgbClr val="F8F0DC"/>
          </a:solidFill>
          <a:ln w="9525">
            <a:solidFill>
              <a:srgbClr val="F8F0DC"/>
            </a:solidFill>
            <a:prstDash val="solid"/>
          </a:ln>
        </p:spPr>
      </p:sp>
      <p:sp>
        <p:nvSpPr>
          <p:cNvPr id="52" name="Text 49"/>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عَلَى الرَّغْمِ مِنْ أَنَّ</a:t>
            </a:r>
            <a:endParaRPr lang="ar-SA" sz="2400" dirty="0"/>
          </a:p>
        </p:txBody>
      </p:sp>
      <p:sp>
        <p:nvSpPr>
          <p:cNvPr id="53" name="Text 50"/>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cs typeface="Amiri" pitchFamily="2" charset="-78"/>
              </a:rPr>
              <a:t>Core: one word from each column. Develop: two. Stretch: the bottom row.</a:t>
            </a:r>
            <a:endParaRPr lang="en-US" sz="12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MIXED TENSES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Yesterday, today, tomorrow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الأَزْمِنَةُ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884664"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Time</a:t>
            </a:r>
            <a:endParaRPr lang="en-US" sz="1100" dirty="0"/>
          </a:p>
        </p:txBody>
      </p:sp>
      <p:sp>
        <p:nvSpPr>
          <p:cNvPr id="17" name="Text 14"/>
          <p:cNvSpPr txBox="1"/>
          <p:nvPr/>
        </p:nvSpPr>
        <p:spPr>
          <a:xfrm>
            <a:off x="787298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Time word</a:t>
            </a:r>
            <a:endParaRPr lang="en-US" sz="1100" dirty="0"/>
          </a:p>
        </p:txBody>
      </p:sp>
      <p:sp>
        <p:nvSpPr>
          <p:cNvPr id="18" name="Text 15"/>
          <p:cNvSpPr txBox="1"/>
          <p:nvPr/>
        </p:nvSpPr>
        <p:spPr>
          <a:xfrm>
            <a:off x="5404104" y="1810512"/>
            <a:ext cx="2322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Weather (L03)</a:t>
            </a:r>
            <a:endParaRPr lang="en-US" sz="1100" dirty="0"/>
          </a:p>
        </p:txBody>
      </p:sp>
      <p:sp>
        <p:nvSpPr>
          <p:cNvPr id="19" name="Text 16"/>
          <p:cNvSpPr txBox="1"/>
          <p:nvPr/>
        </p:nvSpPr>
        <p:spPr>
          <a:xfrm>
            <a:off x="2935224" y="1810512"/>
            <a:ext cx="2322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Town (L08)</a:t>
            </a:r>
            <a:endParaRPr lang="en-US" sz="1100" dirty="0"/>
          </a:p>
        </p:txBody>
      </p:sp>
      <p:sp>
        <p:nvSpPr>
          <p:cNvPr id="20" name="Text 17"/>
          <p:cNvSpPr txBox="1"/>
          <p:nvPr/>
        </p:nvSpPr>
        <p:spPr>
          <a:xfrm>
            <a:off x="530352" y="1810512"/>
            <a:ext cx="2258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 (L06–L07)</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921240" y="2267712"/>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before (past)</a:t>
            </a:r>
            <a:endParaRPr lang="en-US" sz="1100" dirty="0"/>
          </a:p>
        </p:txBody>
      </p:sp>
      <p:sp>
        <p:nvSpPr>
          <p:cNvPr id="23" name="Text 20"/>
          <p:cNvSpPr txBox="1"/>
          <p:nvPr/>
        </p:nvSpPr>
        <p:spPr>
          <a:xfrm>
            <a:off x="7891272" y="2286000"/>
            <a:ext cx="1828800" cy="4535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أَمْسِ</a:t>
            </a:r>
            <a:endParaRPr lang="ar-SA" sz="2000" dirty="0"/>
          </a:p>
        </p:txBody>
      </p:sp>
      <p:sp>
        <p:nvSpPr>
          <p:cNvPr id="24" name="Text 21"/>
          <p:cNvSpPr txBox="1"/>
          <p:nvPr/>
        </p:nvSpPr>
        <p:spPr>
          <a:xfrm>
            <a:off x="7845552" y="2706624"/>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yesterday</a:t>
            </a:r>
            <a:endParaRPr lang="en-US" sz="950" dirty="0"/>
          </a:p>
        </p:txBody>
      </p:sp>
      <p:sp>
        <p:nvSpPr>
          <p:cNvPr id="25" name="Text 22"/>
          <p:cNvSpPr txBox="1"/>
          <p:nvPr/>
        </p:nvSpPr>
        <p:spPr>
          <a:xfrm>
            <a:off x="5422392" y="2286000"/>
            <a:ext cx="2286000" cy="4535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كَانَ</a:t>
            </a:r>
            <a:pPr rtl="1" algn="ctr" indent="0" marL="0">
              <a:buNone/>
            </a:pPr>
            <a:r>
              <a:rPr lang="ar-SA" altLang="en-US" sz="2000" b="1" dirty="0">
                <a:solidFill>
                  <a:srgbClr val="1B3B6F"/>
                </a:solidFill>
                <a:latin typeface="Amiri" pitchFamily="2" charset="-78"/>
                <a:cs typeface="Amiri" pitchFamily="2" charset="-78"/>
              </a:rPr>
              <a:t> الجَوُّ بَارِدًا</a:t>
            </a:r>
            <a:endParaRPr lang="ar-SA" sz="2000" dirty="0"/>
          </a:p>
        </p:txBody>
      </p:sp>
      <p:sp>
        <p:nvSpPr>
          <p:cNvPr id="26" name="Text 23"/>
          <p:cNvSpPr txBox="1"/>
          <p:nvPr/>
        </p:nvSpPr>
        <p:spPr>
          <a:xfrm>
            <a:off x="5376672" y="2706624"/>
            <a:ext cx="2377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was cold</a:t>
            </a:r>
            <a:endParaRPr lang="en-US" sz="950" dirty="0"/>
          </a:p>
        </p:txBody>
      </p:sp>
      <p:sp>
        <p:nvSpPr>
          <p:cNvPr id="27" name="Text 24"/>
          <p:cNvSpPr txBox="1"/>
          <p:nvPr/>
        </p:nvSpPr>
        <p:spPr>
          <a:xfrm>
            <a:off x="2953512" y="2286000"/>
            <a:ext cx="2286000" cy="4535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كَانَ</a:t>
            </a:r>
            <a:pPr rtl="1" algn="ctr" indent="0" marL="0">
              <a:buNone/>
            </a:pPr>
            <a:r>
              <a:rPr lang="ar-SA" altLang="en-US" sz="2000" b="1" dirty="0">
                <a:solidFill>
                  <a:srgbClr val="1B3B6F"/>
                </a:solidFill>
                <a:latin typeface="Amiri" pitchFamily="2" charset="-78"/>
                <a:cs typeface="Amiri" pitchFamily="2" charset="-78"/>
              </a:rPr>
              <a:t> الحَيُّ هَادِئًا</a:t>
            </a:r>
            <a:endParaRPr lang="ar-SA" sz="2000" dirty="0"/>
          </a:p>
        </p:txBody>
      </p:sp>
      <p:sp>
        <p:nvSpPr>
          <p:cNvPr id="28" name="Text 25"/>
          <p:cNvSpPr txBox="1"/>
          <p:nvPr/>
        </p:nvSpPr>
        <p:spPr>
          <a:xfrm>
            <a:off x="2907792" y="2706624"/>
            <a:ext cx="2377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area was quiet</a:t>
            </a:r>
            <a:endParaRPr lang="en-US" sz="950" dirty="0"/>
          </a:p>
        </p:txBody>
      </p:sp>
      <p:sp>
        <p:nvSpPr>
          <p:cNvPr id="29" name="Text 26"/>
          <p:cNvSpPr txBox="1"/>
          <p:nvPr/>
        </p:nvSpPr>
        <p:spPr>
          <a:xfrm>
            <a:off x="548640" y="2286000"/>
            <a:ext cx="222199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أَرْسَلْ</a:t>
            </a:r>
            <a:pPr rtl="1" algn="ctr" indent="0" marL="0">
              <a:buNone/>
            </a:pPr>
            <a:r>
              <a:rPr lang="ar-SA" altLang="en-US" sz="2000" b="1" dirty="0">
                <a:solidFill>
                  <a:srgbClr val="1D5FBF"/>
                </a:solidFill>
                <a:latin typeface="Amiri" pitchFamily="2" charset="-78"/>
                <a:cs typeface="Amiri" pitchFamily="2" charset="-78"/>
              </a:rPr>
              <a:t>تُ</a:t>
            </a:r>
            <a:pPr rtl="1" algn="ctr" indent="0" marL="0">
              <a:buNone/>
            </a:pPr>
            <a:r>
              <a:rPr lang="ar-SA" altLang="en-US" sz="2000" b="1" dirty="0">
                <a:solidFill>
                  <a:srgbClr val="1B3B6F"/>
                </a:solidFill>
                <a:latin typeface="Amiri" pitchFamily="2" charset="-78"/>
                <a:cs typeface="Amiri" pitchFamily="2" charset="-78"/>
              </a:rPr>
              <a:t> رِسَالَةً</a:t>
            </a:r>
            <a:endParaRPr lang="ar-SA" sz="2000" dirty="0"/>
          </a:p>
        </p:txBody>
      </p:sp>
      <p:sp>
        <p:nvSpPr>
          <p:cNvPr id="30" name="Text 27"/>
          <p:cNvSpPr txBox="1"/>
          <p:nvPr/>
        </p:nvSpPr>
        <p:spPr>
          <a:xfrm>
            <a:off x="502920" y="2706624"/>
            <a:ext cx="23134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sent a message</a:t>
            </a:r>
            <a:endParaRPr lang="en-US" sz="950" dirty="0"/>
          </a:p>
        </p:txBody>
      </p:sp>
      <p:sp>
        <p:nvSpPr>
          <p:cNvPr id="31" name="Shape 2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9921240" y="3054096"/>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now (present)</a:t>
            </a:r>
            <a:endParaRPr lang="en-US" sz="1100" dirty="0"/>
          </a:p>
        </p:txBody>
      </p:sp>
      <p:sp>
        <p:nvSpPr>
          <p:cNvPr id="35" name="Text 32"/>
          <p:cNvSpPr txBox="1"/>
          <p:nvPr/>
        </p:nvSpPr>
        <p:spPr>
          <a:xfrm>
            <a:off x="7891272" y="3072384"/>
            <a:ext cx="1828800" cy="4535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اليَوْمَ</a:t>
            </a:r>
            <a:endParaRPr lang="ar-SA" sz="2000" dirty="0"/>
          </a:p>
        </p:txBody>
      </p:sp>
      <p:sp>
        <p:nvSpPr>
          <p:cNvPr id="36" name="Text 33"/>
          <p:cNvSpPr txBox="1"/>
          <p:nvPr/>
        </p:nvSpPr>
        <p:spPr>
          <a:xfrm>
            <a:off x="7845552" y="3493008"/>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today</a:t>
            </a:r>
            <a:endParaRPr lang="en-US" sz="950" dirty="0"/>
          </a:p>
        </p:txBody>
      </p:sp>
      <p:sp>
        <p:nvSpPr>
          <p:cNvPr id="37" name="Text 34"/>
          <p:cNvSpPr txBox="1"/>
          <p:nvPr/>
        </p:nvSpPr>
        <p:spPr>
          <a:xfrm>
            <a:off x="5422392" y="3072384"/>
            <a:ext cx="2286000"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الجَوُّ مُشْمِسٌ</a:t>
            </a:r>
            <a:endParaRPr lang="ar-SA" sz="2000" dirty="0"/>
          </a:p>
        </p:txBody>
      </p:sp>
      <p:sp>
        <p:nvSpPr>
          <p:cNvPr id="38" name="Text 35"/>
          <p:cNvSpPr txBox="1"/>
          <p:nvPr/>
        </p:nvSpPr>
        <p:spPr>
          <a:xfrm>
            <a:off x="5376672" y="3493008"/>
            <a:ext cx="2377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is sunny</a:t>
            </a:r>
            <a:endParaRPr lang="en-US" sz="950" dirty="0"/>
          </a:p>
        </p:txBody>
      </p:sp>
      <p:sp>
        <p:nvSpPr>
          <p:cNvPr id="39" name="Text 36"/>
          <p:cNvSpPr txBox="1"/>
          <p:nvPr/>
        </p:nvSpPr>
        <p:spPr>
          <a:xfrm>
            <a:off x="2953512" y="3072384"/>
            <a:ext cx="2286000"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تُوجَدُ حَافِلَاتٌ جَدِيدَةٌ</a:t>
            </a:r>
            <a:endParaRPr lang="ar-SA" sz="2000" dirty="0"/>
          </a:p>
        </p:txBody>
      </p:sp>
      <p:sp>
        <p:nvSpPr>
          <p:cNvPr id="40" name="Text 37"/>
          <p:cNvSpPr txBox="1"/>
          <p:nvPr/>
        </p:nvSpPr>
        <p:spPr>
          <a:xfrm>
            <a:off x="2907792" y="3493008"/>
            <a:ext cx="2377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are new buses</a:t>
            </a:r>
            <a:endParaRPr lang="en-US" sz="950" dirty="0"/>
          </a:p>
        </p:txBody>
      </p:sp>
      <p:sp>
        <p:nvSpPr>
          <p:cNvPr id="41" name="Text 38"/>
          <p:cNvSpPr txBox="1"/>
          <p:nvPr/>
        </p:nvSpPr>
        <p:spPr>
          <a:xfrm>
            <a:off x="548640" y="3072384"/>
            <a:ext cx="2221992" cy="4535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أُ</a:t>
            </a:r>
            <a:pPr rtl="1" algn="ctr" indent="0" marL="0">
              <a:buNone/>
            </a:pPr>
            <a:r>
              <a:rPr lang="ar-SA" altLang="en-US" sz="2000" b="1" dirty="0">
                <a:solidFill>
                  <a:srgbClr val="1B3B6F"/>
                </a:solidFill>
                <a:latin typeface="Amiri" pitchFamily="2" charset="-78"/>
                <a:cs typeface="Amiri" pitchFamily="2" charset="-78"/>
              </a:rPr>
              <a:t>رْسِلُ رِسَالَةً</a:t>
            </a:r>
            <a:endParaRPr lang="ar-SA" sz="2000" dirty="0"/>
          </a:p>
        </p:txBody>
      </p:sp>
      <p:sp>
        <p:nvSpPr>
          <p:cNvPr id="42" name="Text 39"/>
          <p:cNvSpPr txBox="1"/>
          <p:nvPr/>
        </p:nvSpPr>
        <p:spPr>
          <a:xfrm>
            <a:off x="502920" y="3493008"/>
            <a:ext cx="23134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send a message</a:t>
            </a:r>
            <a:endParaRPr lang="en-US" sz="950" dirty="0"/>
          </a:p>
        </p:txBody>
      </p:sp>
      <p:sp>
        <p:nvSpPr>
          <p:cNvPr id="43" name="Shape 40"/>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6" name="Text 43"/>
          <p:cNvSpPr txBox="1"/>
          <p:nvPr/>
        </p:nvSpPr>
        <p:spPr>
          <a:xfrm>
            <a:off x="9921240" y="3840480"/>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later (future)</a:t>
            </a:r>
            <a:endParaRPr lang="en-US" sz="1100" dirty="0"/>
          </a:p>
        </p:txBody>
      </p:sp>
      <p:sp>
        <p:nvSpPr>
          <p:cNvPr id="47" name="Text 44"/>
          <p:cNvSpPr txBox="1"/>
          <p:nvPr/>
        </p:nvSpPr>
        <p:spPr>
          <a:xfrm>
            <a:off x="7891272" y="3858768"/>
            <a:ext cx="1828800" cy="4535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غَدًا</a:t>
            </a:r>
            <a:endParaRPr lang="ar-SA" sz="2000" dirty="0"/>
          </a:p>
        </p:txBody>
      </p:sp>
      <p:sp>
        <p:nvSpPr>
          <p:cNvPr id="48" name="Text 45"/>
          <p:cNvSpPr txBox="1"/>
          <p:nvPr/>
        </p:nvSpPr>
        <p:spPr>
          <a:xfrm>
            <a:off x="7845552" y="4279392"/>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tomorrow</a:t>
            </a:r>
            <a:endParaRPr lang="en-US" sz="950" dirty="0"/>
          </a:p>
        </p:txBody>
      </p:sp>
      <p:sp>
        <p:nvSpPr>
          <p:cNvPr id="49" name="Text 46"/>
          <p:cNvSpPr txBox="1"/>
          <p:nvPr/>
        </p:nvSpPr>
        <p:spPr>
          <a:xfrm>
            <a:off x="5422392" y="3858768"/>
            <a:ext cx="2286000" cy="4535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سَ</a:t>
            </a:r>
            <a:pPr rtl="1" algn="ctr" indent="0" marL="0">
              <a:buNone/>
            </a:pPr>
            <a:r>
              <a:rPr lang="ar-SA" altLang="en-US" sz="2000" b="1" dirty="0">
                <a:solidFill>
                  <a:srgbClr val="1B3B6F"/>
                </a:solidFill>
                <a:latin typeface="Amiri" pitchFamily="2" charset="-78"/>
                <a:cs typeface="Amiri" pitchFamily="2" charset="-78"/>
              </a:rPr>
              <a:t>يَكُونُ الجَوُّ مُمْطِرًا</a:t>
            </a:r>
            <a:endParaRPr lang="ar-SA" sz="2000" dirty="0"/>
          </a:p>
        </p:txBody>
      </p:sp>
      <p:sp>
        <p:nvSpPr>
          <p:cNvPr id="50" name="Text 47"/>
          <p:cNvSpPr txBox="1"/>
          <p:nvPr/>
        </p:nvSpPr>
        <p:spPr>
          <a:xfrm>
            <a:off x="5376672" y="4279392"/>
            <a:ext cx="2377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will be rainy</a:t>
            </a:r>
            <a:endParaRPr lang="en-US" sz="950" dirty="0"/>
          </a:p>
        </p:txBody>
      </p:sp>
      <p:sp>
        <p:nvSpPr>
          <p:cNvPr id="51" name="Text 48"/>
          <p:cNvSpPr txBox="1"/>
          <p:nvPr/>
        </p:nvSpPr>
        <p:spPr>
          <a:xfrm>
            <a:off x="2953512" y="3858768"/>
            <a:ext cx="2286000" cy="4535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سَ</a:t>
            </a:r>
            <a:pPr rtl="1" algn="ctr" indent="0" marL="0">
              <a:buNone/>
            </a:pPr>
            <a:r>
              <a:rPr lang="ar-SA" altLang="en-US" sz="2000" b="1" dirty="0">
                <a:solidFill>
                  <a:srgbClr val="1B3B6F"/>
                </a:solidFill>
                <a:latin typeface="Amiri" pitchFamily="2" charset="-78"/>
                <a:cs typeface="Amiri" pitchFamily="2" charset="-78"/>
              </a:rPr>
              <a:t>تُبْنَى مَكْتَبَةٌ</a:t>
            </a:r>
            <a:endParaRPr lang="ar-SA" sz="2000" dirty="0"/>
          </a:p>
        </p:txBody>
      </p:sp>
      <p:sp>
        <p:nvSpPr>
          <p:cNvPr id="52" name="Text 49"/>
          <p:cNvSpPr txBox="1"/>
          <p:nvPr/>
        </p:nvSpPr>
        <p:spPr>
          <a:xfrm>
            <a:off x="2907792" y="4279392"/>
            <a:ext cx="2377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library will be built</a:t>
            </a:r>
            <a:endParaRPr lang="en-US" sz="950" dirty="0"/>
          </a:p>
        </p:txBody>
      </p:sp>
      <p:sp>
        <p:nvSpPr>
          <p:cNvPr id="53" name="Text 50"/>
          <p:cNvSpPr txBox="1"/>
          <p:nvPr/>
        </p:nvSpPr>
        <p:spPr>
          <a:xfrm>
            <a:off x="548640" y="3858768"/>
            <a:ext cx="2221992" cy="4535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سَ</a:t>
            </a:r>
            <a:pPr rtl="1" algn="ctr" indent="0" marL="0">
              <a:buNone/>
            </a:pPr>
            <a:r>
              <a:rPr lang="ar-SA" altLang="en-US" sz="2000" b="1" dirty="0">
                <a:solidFill>
                  <a:srgbClr val="1B3B6F"/>
                </a:solidFill>
                <a:latin typeface="Amiri" pitchFamily="2" charset="-78"/>
                <a:cs typeface="Amiri" pitchFamily="2" charset="-78"/>
              </a:rPr>
              <a:t>أُرْسِلُ رِسَالَةً</a:t>
            </a:r>
            <a:endParaRPr lang="ar-SA" sz="2000" dirty="0"/>
          </a:p>
        </p:txBody>
      </p:sp>
      <p:sp>
        <p:nvSpPr>
          <p:cNvPr id="54" name="Text 51"/>
          <p:cNvSpPr txBox="1"/>
          <p:nvPr/>
        </p:nvSpPr>
        <p:spPr>
          <a:xfrm>
            <a:off x="502920" y="4279392"/>
            <a:ext cx="23134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will send a message</a:t>
            </a:r>
            <a:endParaRPr lang="en-US" sz="950" dirty="0"/>
          </a:p>
        </p:txBody>
      </p:sp>
      <p:sp>
        <p:nvSpPr>
          <p:cNvPr id="55" name="Shape 5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3 · BALANCED OPINION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Give an opinion that is fair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رَأْيٌ مُتَوَازِنٌ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851660" cy="274320"/>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8232648"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 · OPINION + REASON</a:t>
            </a:r>
            <a:endParaRPr lang="en-US" sz="850" dirty="0"/>
          </a:p>
        </p:txBody>
      </p:sp>
      <p:sp>
        <p:nvSpPr>
          <p:cNvPr id="18" name="Text 15"/>
          <p:cNvSpPr txBox="1"/>
          <p:nvPr/>
        </p:nvSpPr>
        <p:spPr>
          <a:xfrm>
            <a:off x="10130028" y="1874520"/>
            <a:ext cx="14645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فِي رَأْيِي … لِأَنَّ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فِي رَأْيِي، النَّقْلُ العَامُّ مُفِيدٌ لِأَنَّهُ يُقَلِّلُ التَّلَوُّثَ</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In my opinion, public transport is useful because it reduces pollution.</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Opinion + </a:t>
            </a:r>
            <a:pPr algn="l" indent="0" marL="0">
              <a:buNone/>
            </a:pPr>
            <a:r>
              <a:rPr lang="ar-SA" altLang="en-US" sz="1450" dirty="0">
                <a:solidFill>
                  <a:srgbClr val="1F2A37"/>
                </a:solidFill>
                <a:latin typeface="Amiri" pitchFamily="2" charset="-78"/>
                <a:cs typeface="Amiri" pitchFamily="2" charset="-78"/>
              </a:rPr>
              <a:t>لِأَنَّ</a:t>
            </a:r>
            <a:pPr algn="l" indent="0" marL="0">
              <a:buNone/>
            </a:pPr>
            <a:r>
              <a:rPr lang="en-US" sz="1100" dirty="0">
                <a:solidFill>
                  <a:srgbClr val="1F2A37"/>
                </a:solidFill>
                <a:latin typeface="Calibri" pitchFamily="34" charset="0"/>
                <a:cs typeface="Amiri" pitchFamily="2" charset="-78"/>
              </a:rPr>
              <a:t> + one reason.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77340" cy="274320"/>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 · TWO SIDES</a:t>
            </a:r>
            <a:endParaRPr lang="en-US" sz="850" dirty="0"/>
          </a:p>
        </p:txBody>
      </p:sp>
      <p:sp>
        <p:nvSpPr>
          <p:cNvPr id="26" name="Text 23"/>
          <p:cNvSpPr txBox="1"/>
          <p:nvPr/>
        </p:nvSpPr>
        <p:spPr>
          <a:xfrm>
            <a:off x="6036564" y="1874520"/>
            <a:ext cx="1738884" cy="365760"/>
          </a:xfrm>
          <a:prstGeom prst="rect">
            <a:avLst/>
          </a:prstGeom>
          <a:noFill/>
          <a:ln/>
        </p:spPr>
        <p:txBody>
          <a:bodyPr wrap="square" lIns="0" tIns="0" rIns="0" bIns="0" rtlCol="0" anchor="ctr"/>
          <a:lstStyle/>
          <a:p>
            <a:pPr rtl="1" algn="r" indent="0" marL="0">
              <a:buNone/>
            </a:pPr>
            <a:r>
              <a:rPr lang="ar-SA" altLang="en-US" sz="1350" b="1" dirty="0">
                <a:solidFill>
                  <a:srgbClr val="8A6D1E"/>
                </a:solidFill>
                <a:latin typeface="Amiri" pitchFamily="2" charset="-78"/>
                <a:cs typeface="Amiri" pitchFamily="2" charset="-78"/>
              </a:rPr>
              <a:t>مِنْ نَاحِيَةٍ … وَمِنْ نَاحِيَةٍ أُخْرَى</a:t>
            </a:r>
            <a:endParaRPr lang="ar-SA" sz="135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مِنْ نَاحِيَةٍ هُوَ سَرِيعٌ، وَمِنْ نَاحِيَةٍ أُخْرَى هُوَ غَالٍ</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On the one hand it is fast; on the other hand it is expensive.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TC-L06: a benefit AND a risk.</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 · QUALIFIED</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450" b="1" dirty="0">
                <a:solidFill>
                  <a:srgbClr val="8A6D1E"/>
                </a:solidFill>
                <a:latin typeface="Amiri" pitchFamily="2" charset="-78"/>
                <a:cs typeface="Amiri" pitchFamily="2" charset="-78"/>
              </a:rPr>
              <a:t>عَلَى الرَّغْمِ مِنْ أَنَّ … فَإِنَّ …</a:t>
            </a:r>
            <a:endParaRPr lang="ar-SA" sz="145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التِّقْنِيَّةُ مُفِيدَةٌ إِلَى حَدٍّ مَا، شَرِيطَةَ أَنْ تُطَبَّقَ بِمَسْؤُولِيَّةٍ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Technology is useful to some extent, provided it is used responsibly.</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Website: say how far and on what condition.</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a concession must be followed by a REAL contrast — not the same idea again.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 مُكَلِّفٌ، فَإِنَّهُ يُقَلِّلُ الهَدْرَ</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000" b="1" dirty="0">
                <a:solidFill>
                  <a:srgbClr val="B83227"/>
                </a:solidFill>
                <a:latin typeface="Amiri" pitchFamily="2" charset="-78"/>
                <a:cs typeface="Amiri" pitchFamily="2" charset="-78"/>
              </a:rPr>
              <a:t>… مُكَلِّفٌ، فَهُوَ مُكَلِّفٌ</a:t>
            </a:r>
            <a:endParaRPr lang="ar-SA" sz="20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4 · WEBSITE EXAMPLES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Climate and weather accuracy</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formal climate phrase + correct weather agreement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يَسُودُ مَنَاخٌ جَافٌّ فِي الدَّاخِلِ، وَتَهُبُّ الرِّيَاحُ بِقُوَّةٍ فِي الرَّبِيعِ.</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Problem, cause and passive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passive problem + cause connector + result</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يُلَوَّثُ الهَوَاءُ بِسَبَبِ عَوَادِمِ السَّيَّارَاتِ، مِمَّا يُؤَدِّي إِلَى أَمْرَاضٍ تَنَفُّسِيَّةٍ.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Solution and purpose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responsible group + obligation + purpose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يَجِبُ عَلَى الحُكُومَةِ أَنْ تُوَسِّعَ النَّقْلَ العَامَّ لِكَيْ تُقَلِّلَ الانْبِعَاثَاتِ.</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Qualified academic judgement</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concession + judgement + condition</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عَلَى الرَّغْمِ مِنْ أَنَّ التِّقْنِيَّةَ مُكَلِّفَةٌ، فَإِنَّهَا مُفِيدَةٌ شَرِيطَةَ أَنْ تُطَبَّقَ بِمَسْؤُولِيَّةٍ.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in the PAST?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سَيَكُونُ الجَوُّ بَارِدًا غَدًا.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الجَوُّ بَارِدٌ اليَوْمَ.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 الجَوُّ بَارِدًا أَمْسِ.</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“so, therefore”?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لِذٰلِكَ</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لٰكِنَّ</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أَوَّلًا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weather agreement.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يَهُبُّ الرِّيَاحُ وَيَسْقُطُ الثُّلُوجُ.</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تَهُبُّ الرِّيَاحُ وَتَسْقُطُ الثُّلُوجُ.</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تَهُبَّ الرِّيَاحَ وَتَسْقُطَ الثُّلُوجَ.</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obligation and purpose.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يَجِبُ عَلَى المَدِينَةِ أَنْ تُوَسِّعَ النَّقْلَ العَامَّ لِكَيْ تُقَلِّلَ التَّلَوُّثَ.</a:t>
            </a:r>
            <a:endParaRPr lang="ar-SA" sz="18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يَجِبُ المَدِينَةُ تُوَسِّعُ النَّقْلَ لِكَيْ تُقَلِّلُ التَّلَوُّثَ.</a:t>
            </a:r>
            <a:endParaRPr lang="ar-SA" sz="18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يَجِبُ عَلَى المَدِينَةِ أَنْ تُوَسِّعُ النَّقْلَ لِكَيْ تُقَلِّلُ التَّلَوُّثَ.</a:t>
            </a:r>
            <a:endParaRPr lang="ar-SA" sz="18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in the PAST?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سَيَكُونُ الجَوُّ بَارِدًا غَدًا.</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الجَوُّ بَارِدٌ اليَوْمَ.</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كَانَ الجَوُّ بَارِدًا أَمْسِ.</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كَانَ</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cs typeface="Amiri" pitchFamily="2" charset="-78"/>
              </a:rPr>
              <a:t>أَمْسِ</a:t>
            </a:r>
            <a:pPr algn="l" indent="0" marL="0">
              <a:buNone/>
            </a:pPr>
            <a:r>
              <a:rPr lang="en-US" sz="1050" i="1" dirty="0">
                <a:solidFill>
                  <a:srgbClr val="8A6D1E"/>
                </a:solidFill>
                <a:latin typeface="Calibri" pitchFamily="34" charset="0"/>
                <a:cs typeface="Amiri" pitchFamily="2" charset="-78"/>
              </a:rPr>
              <a:t> = past.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“so, therefore”?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لِذٰلِكَ</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لٰكِنَّ</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أَوَّلًا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لِذٰلِكَ</a:t>
            </a:r>
            <a:pPr algn="l" indent="0" marL="0">
              <a:buNone/>
            </a:pPr>
            <a:r>
              <a:rPr lang="en-US" sz="1050" i="1" dirty="0">
                <a:solidFill>
                  <a:srgbClr val="8A6D1E"/>
                </a:solidFill>
                <a:latin typeface="Calibri" pitchFamily="34" charset="0"/>
                <a:cs typeface="Amiri" pitchFamily="2" charset="-78"/>
              </a:rPr>
              <a:t> introduces a result.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weather agreement.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يَهُبُّ الرِّيَاحُ وَيَسْقُطُ الثُّلُوجُ.</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تَهُبُّ الرِّيَاحُ وَتَسْقُطُ الثُّلُوجُ.</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تَهُبَّ الرِّيَاحَ وَتَسْقُطَ الثُّلُوجَ.</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الرياح</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cs typeface="Amiri" pitchFamily="2" charset="-78"/>
              </a:rPr>
              <a:t>الثلوج</a:t>
            </a:r>
            <a:pPr algn="l" indent="0" marL="0">
              <a:buNone/>
            </a:pPr>
            <a:r>
              <a:rPr lang="en-US" sz="1050" i="1" dirty="0">
                <a:solidFill>
                  <a:srgbClr val="8A6D1E"/>
                </a:solidFill>
                <a:latin typeface="Calibri" pitchFamily="34" charset="0"/>
                <a:cs typeface="Amiri" pitchFamily="2" charset="-78"/>
              </a:rPr>
              <a:t> take feminine agreement.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obligation and purpose.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يَجِبُ عَلَى المَدِينَةِ أَنْ تُوَسِّعَ النَّقْلَ العَامَّ لِكَيْ تُقَلِّلَ التَّلَوُّثَ.</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يَجِبُ المَدِينَةُ تُوَسِّعُ النَّقْلَ لِكَيْ تُقَلِّلُ التَّلَوُّثَ.</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يَجِبُ عَلَى المَدِينَةِ أَنْ تُوَسِّعُ النَّقْلَ لِكَيْ تُقَلِّلُ التَّلَوُّثَ.</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uses both subjunctive forms accurately.</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 · INFORMATION RELAY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pass on the news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Weather (future)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cs typeface="Amiri" pitchFamily="2" charset="-78"/>
              </a:rPr>
              <a:t>أَوَّلًا</a:t>
            </a:r>
            <a:pPr rtl="1" algn="ctr" indent="0" marL="0">
              <a:lnSpc>
                <a:spcPct val="120000"/>
              </a:lnSpc>
              <a:buNone/>
            </a:pPr>
            <a:r>
              <a:rPr lang="ar-SA" altLang="en-US" sz="1750" b="1" dirty="0">
                <a:solidFill>
                  <a:srgbClr val="1B3B6F"/>
                </a:solidFill>
                <a:latin typeface="Amiri" pitchFamily="2" charset="-78"/>
                <a:cs typeface="Amiri" pitchFamily="2" charset="-78"/>
              </a:rPr>
              <a:t>، </a:t>
            </a:r>
            <a:pPr rtl="1" algn="ctr" indent="0" marL="0">
              <a:lnSpc>
                <a:spcPct val="120000"/>
              </a:lnSpc>
              <a:buNone/>
            </a:pPr>
            <a:r>
              <a:rPr lang="ar-SA" altLang="en-US" sz="1750" b="1" dirty="0">
                <a:solidFill>
                  <a:srgbClr val="0E7C86"/>
                </a:solidFill>
                <a:latin typeface="Amiri" pitchFamily="2" charset="-78"/>
                <a:cs typeface="Amiri" pitchFamily="2" charset="-78"/>
              </a:rPr>
              <a:t>سَ</a:t>
            </a:r>
            <a:pPr rtl="1" algn="ctr" indent="0" marL="0">
              <a:lnSpc>
                <a:spcPct val="120000"/>
              </a:lnSpc>
              <a:buNone/>
            </a:pPr>
            <a:r>
              <a:rPr lang="ar-SA" altLang="en-US" sz="1750" b="1" dirty="0">
                <a:solidFill>
                  <a:srgbClr val="1B3B6F"/>
                </a:solidFill>
                <a:latin typeface="Amiri" pitchFamily="2" charset="-78"/>
                <a:cs typeface="Amiri" pitchFamily="2" charset="-78"/>
              </a:rPr>
              <a:t>يَكُونُ الطَّقْسُ مُمْطِرًا فِي الشَّمَالِ</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Website game. </a:t>
            </a:r>
            <a:pPr algn="l" indent="0" marL="0">
              <a:buNone/>
            </a:pPr>
            <a:r>
              <a:rPr lang="ar-SA" altLang="en-US" sz="1500" dirty="0">
                <a:solidFill>
                  <a:srgbClr val="1F2A37"/>
                </a:solidFill>
                <a:latin typeface="Amiri" pitchFamily="2" charset="-78"/>
                <a:cs typeface="Amiri" pitchFamily="2" charset="-78"/>
              </a:rPr>
              <a:t>سَـ</a:t>
            </a:r>
            <a:pPr algn="l" indent="0" marL="0">
              <a:buNone/>
            </a:pPr>
            <a:r>
              <a:rPr lang="en-US" sz="1150" dirty="0">
                <a:solidFill>
                  <a:srgbClr val="1F2A37"/>
                </a:solidFill>
                <a:latin typeface="Calibri" pitchFamily="34" charset="0"/>
                <a:cs typeface="Amiri" pitchFamily="2" charset="-78"/>
              </a:rPr>
              <a:t> = will.</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Environment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cs typeface="Amiri" pitchFamily="2" charset="-78"/>
              </a:rPr>
              <a:t>ثُمَّ</a:t>
            </a:r>
            <a:pPr rtl="1" algn="ctr" indent="0" marL="0">
              <a:lnSpc>
                <a:spcPct val="120000"/>
              </a:lnSpc>
              <a:buNone/>
            </a:pPr>
            <a:r>
              <a:rPr lang="ar-SA" altLang="en-US" sz="1750" b="1" dirty="0">
                <a:solidFill>
                  <a:srgbClr val="1B3B6F"/>
                </a:solidFill>
                <a:latin typeface="Amiri" pitchFamily="2" charset="-78"/>
                <a:cs typeface="Amiri" pitchFamily="2" charset="-78"/>
              </a:rPr>
              <a:t> تُخَطِّطُ المَدِينَةُ لِزِيَادَةِ مَرَاكِزِ التَّدْوِيرِ</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Website game — the city plan.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Technology advice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cs typeface="Amiri" pitchFamily="2" charset="-78"/>
              </a:rPr>
              <a:t>كَمَا</a:t>
            </a:r>
            <a:pPr rtl="1" algn="ctr" indent="0" marL="0">
              <a:lnSpc>
                <a:spcPct val="120000"/>
              </a:lnSpc>
              <a:buNone/>
            </a:pPr>
            <a:r>
              <a:rPr lang="ar-SA" altLang="en-US" sz="1750" b="1" dirty="0">
                <a:solidFill>
                  <a:srgbClr val="1B3B6F"/>
                </a:solidFill>
                <a:latin typeface="Amiri" pitchFamily="2" charset="-78"/>
                <a:cs typeface="Amiri" pitchFamily="2" charset="-78"/>
              </a:rPr>
              <a:t> تَنْصَحُ الرِّسَالَةُ بِكَلِمَةِ مُرُورٍ قَوِيَّةٍ</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Website game — stay safe online.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My opinion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cs typeface="Amiri" pitchFamily="2" charset="-78"/>
              </a:rPr>
              <a:t>فِي رَأْيِي</a:t>
            </a:r>
            <a:pPr rtl="1" algn="ctr" indent="0" marL="0">
              <a:lnSpc>
                <a:spcPct val="120000"/>
              </a:lnSpc>
              <a:buNone/>
            </a:pPr>
            <a:r>
              <a:rPr lang="ar-SA" altLang="en-US" sz="1750" b="1" dirty="0">
                <a:solidFill>
                  <a:srgbClr val="1B3B6F"/>
                </a:solidFill>
                <a:latin typeface="Amiri" pitchFamily="2" charset="-78"/>
                <a:cs typeface="Amiri" pitchFamily="2" charset="-78"/>
              </a:rPr>
              <a:t> هٰذِهِ أَخْبَارٌ مُفِيدَةٌ </a:t>
            </a:r>
            <a:pPr rtl="1" algn="ctr" indent="0" marL="0">
              <a:lnSpc>
                <a:spcPct val="120000"/>
              </a:lnSpc>
              <a:buNone/>
            </a:pPr>
            <a:r>
              <a:rPr lang="ar-SA" altLang="en-US" sz="1750" b="1" dirty="0">
                <a:solidFill>
                  <a:srgbClr val="0E7C86"/>
                </a:solidFill>
                <a:latin typeface="Amiri" pitchFamily="2" charset="-78"/>
                <a:cs typeface="Amiri" pitchFamily="2" charset="-78"/>
              </a:rPr>
              <a:t>لِأَنَّ</a:t>
            </a:r>
            <a:pPr rtl="1" algn="ctr" indent="0" marL="0">
              <a:lnSpc>
                <a:spcPct val="120000"/>
              </a:lnSpc>
              <a:buNone/>
            </a:pPr>
            <a:r>
              <a:rPr lang="ar-SA" altLang="en-US" sz="1750" b="1" dirty="0">
                <a:solidFill>
                  <a:srgbClr val="1B3B6F"/>
                </a:solidFill>
                <a:latin typeface="Amiri" pitchFamily="2" charset="-78"/>
                <a:cs typeface="Amiri" pitchFamily="2" charset="-78"/>
              </a:rPr>
              <a:t> …</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Opinion + reason.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LINKING / KEY WORD</a:t>
            </a:r>
            <a:endParaRPr lang="en-US" sz="800" dirty="0"/>
          </a:p>
        </p:txBody>
      </p:sp>
      <p:sp>
        <p:nvSpPr>
          <p:cNvPr id="47" name="Text 43"/>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0E7C86"/>
                </a:solidFill>
                <a:latin typeface="Amiri" pitchFamily="2" charset="-78"/>
                <a:cs typeface="Amiri" pitchFamily="2" charset="-78"/>
              </a:rPr>
              <a:t>أَوَّلًا</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0E7C86"/>
                </a:solidFill>
                <a:latin typeface="Amiri" pitchFamily="2" charset="-78"/>
                <a:cs typeface="Amiri" pitchFamily="2" charset="-78"/>
              </a:rPr>
              <a:t>سَ</a:t>
            </a:r>
            <a:pPr rtl="1" algn="r" indent="0" marL="0">
              <a:lnSpc>
                <a:spcPct val="120000"/>
              </a:lnSpc>
              <a:buNone/>
            </a:pPr>
            <a:r>
              <a:rPr lang="ar-SA" altLang="en-US" sz="1400" b="1" dirty="0">
                <a:solidFill>
                  <a:srgbClr val="1B3B6F"/>
                </a:solidFill>
                <a:latin typeface="Amiri" pitchFamily="2" charset="-78"/>
                <a:cs typeface="Amiri" pitchFamily="2" charset="-78"/>
              </a:rPr>
              <a:t>يَكُونُ الطَّقْسُ مُمْطِرًا فِي الشَّمَالِ. </a:t>
            </a:r>
            <a:pPr rtl="1" algn="r" indent="0" marL="0">
              <a:lnSpc>
                <a:spcPct val="120000"/>
              </a:lnSpc>
              <a:buNone/>
            </a:pPr>
            <a:r>
              <a:rPr lang="ar-SA" altLang="en-US" sz="1400" b="1" dirty="0">
                <a:solidFill>
                  <a:srgbClr val="0E7C86"/>
                </a:solidFill>
                <a:latin typeface="Amiri" pitchFamily="2" charset="-78"/>
                <a:cs typeface="Amiri" pitchFamily="2" charset="-78"/>
              </a:rPr>
              <a:t>ثُمَّ</a:t>
            </a:r>
            <a:pPr rtl="1" algn="r" indent="0" marL="0">
              <a:lnSpc>
                <a:spcPct val="120000"/>
              </a:lnSpc>
              <a:buNone/>
            </a:pPr>
            <a:r>
              <a:rPr lang="ar-SA" altLang="en-US" sz="1400" b="1" dirty="0">
                <a:solidFill>
                  <a:srgbClr val="1B3B6F"/>
                </a:solidFill>
                <a:latin typeface="Amiri" pitchFamily="2" charset="-78"/>
                <a:cs typeface="Amiri" pitchFamily="2" charset="-78"/>
              </a:rPr>
              <a:t> تُخَطِّطُ المَدِينَةُ لِزِيَادَةِ مَرَاكِزِ إِعَادَةِ التَّدْوِيرِ. </a:t>
            </a:r>
            <a:pPr rtl="1" algn="r" indent="0" marL="0">
              <a:lnSpc>
                <a:spcPct val="120000"/>
              </a:lnSpc>
              <a:buNone/>
            </a:pPr>
            <a:r>
              <a:rPr lang="ar-SA" altLang="en-US" sz="1400" b="1" dirty="0">
                <a:solidFill>
                  <a:srgbClr val="0E7C86"/>
                </a:solidFill>
                <a:latin typeface="Amiri" pitchFamily="2" charset="-78"/>
                <a:cs typeface="Amiri" pitchFamily="2" charset="-78"/>
              </a:rPr>
              <a:t>كَمَا</a:t>
            </a:r>
            <a:pPr rtl="1" algn="r" indent="0" marL="0">
              <a:lnSpc>
                <a:spcPct val="120000"/>
              </a:lnSpc>
              <a:buNone/>
            </a:pPr>
            <a:r>
              <a:rPr lang="ar-SA" altLang="en-US" sz="1400" b="1" dirty="0">
                <a:solidFill>
                  <a:srgbClr val="1B3B6F"/>
                </a:solidFill>
                <a:latin typeface="Amiri" pitchFamily="2" charset="-78"/>
                <a:cs typeface="Amiri" pitchFamily="2" charset="-78"/>
              </a:rPr>
              <a:t> تَنْصَحُ الرِّسَالَةُ بِحِمَايَةِ الحِسَابِ بِكَلِمَةِ مُرُورٍ قَوِيَّةٍ. </a:t>
            </a:r>
            <a:pPr rtl="1" algn="r" indent="0" marL="0">
              <a:lnSpc>
                <a:spcPct val="120000"/>
              </a:lnSpc>
              <a:buNone/>
            </a:pPr>
            <a:r>
              <a:rPr lang="ar-SA" altLang="en-US" sz="1400" b="1" dirty="0">
                <a:solidFill>
                  <a:srgbClr val="0E7C86"/>
                </a:solidFill>
                <a:latin typeface="Amiri" pitchFamily="2" charset="-78"/>
                <a:cs typeface="Amiri" pitchFamily="2" charset="-78"/>
              </a:rPr>
              <a:t>فِي رَأْيِي</a:t>
            </a:r>
            <a:pPr rtl="1" algn="r" indent="0" marL="0">
              <a:lnSpc>
                <a:spcPct val="120000"/>
              </a:lnSpc>
              <a:buNone/>
            </a:pPr>
            <a:r>
              <a:rPr lang="ar-SA" altLang="en-US" sz="1400" b="1" dirty="0">
                <a:solidFill>
                  <a:srgbClr val="1B3B6F"/>
                </a:solidFill>
                <a:latin typeface="Amiri" pitchFamily="2" charset="-78"/>
                <a:cs typeface="Amiri" pitchFamily="2" charset="-78"/>
              </a:rPr>
              <a:t> هٰذِهِ أَخْبَارٌ مُفِيدَةٌ </a:t>
            </a:r>
            <a:pPr rtl="1" algn="r" indent="0" marL="0">
              <a:lnSpc>
                <a:spcPct val="120000"/>
              </a:lnSpc>
              <a:buNone/>
            </a:pPr>
            <a:r>
              <a:rPr lang="ar-SA" altLang="en-US" sz="1400" b="1" dirty="0">
                <a:solidFill>
                  <a:srgbClr val="0E7C86"/>
                </a:solidFill>
                <a:latin typeface="Amiri" pitchFamily="2" charset="-78"/>
                <a:cs typeface="Amiri" pitchFamily="2" charset="-78"/>
              </a:rPr>
              <a:t>لِأَنَّهَا</a:t>
            </a:r>
            <a:pPr rtl="1" algn="r" indent="0" marL="0">
              <a:lnSpc>
                <a:spcPct val="120000"/>
              </a:lnSpc>
              <a:buNone/>
            </a:pPr>
            <a:r>
              <a:rPr lang="ar-SA" altLang="en-US" sz="1400" b="1" dirty="0">
                <a:solidFill>
                  <a:srgbClr val="1B3B6F"/>
                </a:solidFill>
                <a:latin typeface="Amiri" pitchFamily="2" charset="-78"/>
                <a:cs typeface="Amiri" pitchFamily="2" charset="-78"/>
              </a:rPr>
              <a:t> تُسَاعِدُنَا.</a:t>
            </a:r>
            <a:endParaRPr lang="ar-SA" sz="1400" dirty="0"/>
          </a:p>
        </p:txBody>
      </p:sp>
      <p:sp>
        <p:nvSpPr>
          <p:cNvPr id="48" name="Text 44"/>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First, the weather will be rainy in the north. Then the city is planning to increase recycling centres. Also, the message advises protecting your account with a strong password. In my opinion this is useful news because it helps us.</a:t>
            </a:r>
            <a:endParaRPr lang="en-US" sz="1100" dirty="0"/>
          </a:p>
        </p:txBody>
      </p:sp>
      <p:sp>
        <p:nvSpPr>
          <p:cNvPr id="49"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فِي الشَّمَالِ سَيَكُونُ الطَّقْسُ مُمْطِرًا.</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In the north the weather will be rainy.</a:t>
            </a:r>
            <a:endParaRPr lang="en-US" sz="1250" dirty="0"/>
          </a:p>
          <a:p>
            <a:pPr indent="0" marL="0">
              <a:buNone/>
            </a:pPr>
            <a:r>
              <a:rPr lang="en-US" sz="1050" i="1" dirty="0">
                <a:solidFill>
                  <a:srgbClr val="8A6D1E"/>
                </a:solidFill>
                <a:latin typeface="Calibri" pitchFamily="34" charset="0"/>
                <a:cs typeface="Amiri" pitchFamily="2" charset="-78"/>
              </a:rPr>
              <a:t>Website game — future weather (Core).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lnSpc>
                <a:spcPct val="120000"/>
              </a:lnSpc>
              <a:buNone/>
            </a:pPr>
            <a:r>
              <a:rPr lang="ar-SA" altLang="en-US" sz="2150" b="1" dirty="0">
                <a:solidFill>
                  <a:srgbClr val="1B3B6F"/>
                </a:solidFill>
                <a:latin typeface="Amiri" pitchFamily="2" charset="-78"/>
                <a:cs typeface="Amiri" pitchFamily="2" charset="-78"/>
              </a:rPr>
              <a:t>يُلَوَّثُ الهَوَاءُ بِسَبَبِ عَوَادِمِ السَّيَّارَاتِ، مِمَّا يُؤَدِّي إِلَى أَمْرَاضٍ تَنَفُّسِيَّةٍ.</a:t>
            </a:r>
            <a:endParaRPr lang="ar-SA" sz="215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air is polluted because of car exhaust, which leads to breathing illnesses.</a:t>
            </a:r>
            <a:endParaRPr lang="en-US" sz="1250" dirty="0"/>
          </a:p>
          <a:p>
            <a:pPr indent="0" marL="0">
              <a:buNone/>
            </a:pPr>
            <a:r>
              <a:rPr lang="en-US" sz="1050" i="1" dirty="0">
                <a:solidFill>
                  <a:srgbClr val="8A6D1E"/>
                </a:solidFill>
                <a:latin typeface="Calibri" pitchFamily="34" charset="0"/>
                <a:cs typeface="Amiri" pitchFamily="2" charset="-78"/>
              </a:rPr>
              <a:t>Use a true passive where the affected thing is foregrounded.</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250" b="1" dirty="0">
                <a:solidFill>
                  <a:srgbClr val="1B3B6F"/>
                </a:solidFill>
                <a:latin typeface="Amiri" pitchFamily="2" charset="-78"/>
                <a:cs typeface="Amiri" pitchFamily="2" charset="-78"/>
              </a:rPr>
              <a:t>يَجِبُ عَلَى الحُكُومَةِ أَنْ تُوَسِّعَ النَّقْلَ العَامَّ لِكَيْ تُقَلِّلَ الانْبِعَاثَاتِ.</a:t>
            </a:r>
            <a:endParaRPr lang="ar-SA" sz="225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government must expand public transport so that it reduces emissions.</a:t>
            </a:r>
            <a:endParaRPr lang="en-US" sz="1250" dirty="0"/>
          </a:p>
          <a:p>
            <a:pPr indent="0" marL="0">
              <a:buNone/>
            </a:pPr>
            <a:r>
              <a:rPr lang="en-US" sz="1050" i="1" dirty="0">
                <a:solidFill>
                  <a:srgbClr val="8A6D1E"/>
                </a:solidFill>
                <a:latin typeface="Calibri" pitchFamily="34" charset="0"/>
                <a:cs typeface="Amiri" pitchFamily="2" charset="-78"/>
              </a:rPr>
              <a:t>State who must act and why.</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lnSpc>
                <a:spcPct val="120000"/>
              </a:lnSpc>
              <a:buNone/>
            </a:pPr>
            <a:r>
              <a:rPr lang="ar-SA" altLang="en-US" sz="1900" b="1" dirty="0">
                <a:solidFill>
                  <a:srgbClr val="1B3B6F"/>
                </a:solidFill>
                <a:latin typeface="Amiri" pitchFamily="2" charset="-78"/>
                <a:cs typeface="Amiri" pitchFamily="2" charset="-78"/>
              </a:rPr>
              <a:t>عَلَى الرَّغْمِ مِنْ أَنَّ التِّقْنِيَّةَ مُكَلِّفَةٌ، فَإِنَّهَا مُفِيدَةٌ شَرِيطَةَ أَنْ تُطَبَّقَ بِمَسْؤُولِيَّةٍ.</a:t>
            </a:r>
            <a:endParaRPr lang="ar-SA" sz="19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Although the technology is expensive, it is useful provided it is applied responsibly.</a:t>
            </a:r>
            <a:endParaRPr lang="en-US" sz="1250" dirty="0"/>
          </a:p>
          <a:p>
            <a:pPr indent="0" marL="0">
              <a:buNone/>
            </a:pPr>
            <a:r>
              <a:rPr lang="en-US" sz="1050" i="1" dirty="0">
                <a:solidFill>
                  <a:srgbClr val="8A6D1E"/>
                </a:solidFill>
                <a:latin typeface="Calibri" pitchFamily="34" charset="0"/>
                <a:cs typeface="Amiri" pitchFamily="2" charset="-78"/>
              </a:rPr>
              <a:t>Website rule 4 — a qualified judgement (Stretch).</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 WEBSITE GAME “INFORMATION RELAY”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سِبَاقُ الْمَعْلُومَاتِ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weather + map</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city + recycling</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phone + lock</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اَلرِّسَالَةُ تَنْصَحُ بِحِمَايَةِ الْحِسَابِ بِكَلِمَةِ مُرُورٍ قَوِيَّةٍ.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الشَّمَالِ سَيَكُونُ الطَّقْسُ مُمْطِرًا.</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تُخَطِّطُ الْمَدِينَةُ لِزِيَادَةِ مَرَاكِزِ إِعَادَةِ التَّدْوِيرِ.</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سِبَاقُ الْمَعْلُومَاتِ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weather + map</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الشَّمَالِ سَيَكُونُ الطَّقْسُ مُمْطِرًا.</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In the north the weather will be rainy.</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city + recycling</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تُخَطِّطُ الْمَدِينَةُ لِزِيَادَةِ مَرَاكِزِ إِعَادَةِ التَّدْوِيرِ.</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city is planning to increase recycling centres.</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phone + lock</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اَلرِّسَالَةُ تَنْصَحُ بِحِمَايَةِ الْحِسَابِ بِكَلِمَةِ مُرُورٍ قَوِيَّةٍ.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message advises protecting the account with a strong password.</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 THE NEWSLETTER · ALL OF TOPIC 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town newsletter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نَشْرَةُ مَدِينَتِنَا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56816"/>
            <a:ext cx="7616952" cy="564315"/>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نَشْرَةُ مَدِينَتِنَا — الأُسْبُوعُ القَادِمُ</a:t>
            </a:r>
            <a:endParaRPr lang="ar-SA" sz="2200" dirty="0"/>
          </a:p>
        </p:txBody>
      </p:sp>
      <p:sp>
        <p:nvSpPr>
          <p:cNvPr id="17" name="Shape 14"/>
          <p:cNvSpPr/>
          <p:nvPr/>
        </p:nvSpPr>
        <p:spPr>
          <a:xfrm>
            <a:off x="685800" y="2539419"/>
            <a:ext cx="7616952" cy="0"/>
          </a:xfrm>
          <a:prstGeom prst="line">
            <a:avLst/>
          </a:prstGeom>
          <a:noFill/>
          <a:ln w="9525">
            <a:solidFill>
              <a:srgbClr val="E4DCCB"/>
            </a:solidFill>
            <a:prstDash val="dash"/>
          </a:ln>
        </p:spPr>
      </p:sp>
      <p:sp>
        <p:nvSpPr>
          <p:cNvPr id="18" name="Text 15"/>
          <p:cNvSpPr txBox="1"/>
          <p:nvPr/>
        </p:nvSpPr>
        <p:spPr>
          <a:xfrm>
            <a:off x="685800" y="2557707"/>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الطَّقْسُ: سَيَكُونُ الجَوُّ مُمْطِرًا فِي الشَّمَالِ، وَمُشْمِسًا فِي الجَنُوبِ.</a:t>
            </a:r>
            <a:endParaRPr lang="ar-SA" sz="2000" dirty="0"/>
          </a:p>
        </p:txBody>
      </p:sp>
      <p:sp>
        <p:nvSpPr>
          <p:cNvPr id="19" name="Shape 16"/>
          <p:cNvSpPr/>
          <p:nvPr/>
        </p:nvSpPr>
        <p:spPr>
          <a:xfrm>
            <a:off x="685800" y="3140311"/>
            <a:ext cx="7616952" cy="0"/>
          </a:xfrm>
          <a:prstGeom prst="line">
            <a:avLst/>
          </a:prstGeom>
          <a:noFill/>
          <a:ln w="9525">
            <a:solidFill>
              <a:srgbClr val="E4DCCB"/>
            </a:solidFill>
            <a:prstDash val="dash"/>
          </a:ln>
        </p:spPr>
      </p:sp>
      <p:sp>
        <p:nvSpPr>
          <p:cNvPr id="20" name="Text 17"/>
          <p:cNvSpPr txBox="1"/>
          <p:nvPr/>
        </p:nvSpPr>
        <p:spPr>
          <a:xfrm>
            <a:off x="685800" y="3158599"/>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البِيئَةُ: تُخَطِّطُ البَلَدِيَّةُ لِزِيَادَةِ مَرَاكِزِ إِعَادَةِ التَّدْوِيرِ.</a:t>
            </a:r>
            <a:endParaRPr lang="ar-SA" sz="2000" dirty="0"/>
          </a:p>
        </p:txBody>
      </p:sp>
      <p:sp>
        <p:nvSpPr>
          <p:cNvPr id="21" name="Shape 18"/>
          <p:cNvSpPr/>
          <p:nvPr/>
        </p:nvSpPr>
        <p:spPr>
          <a:xfrm>
            <a:off x="685800" y="3741202"/>
            <a:ext cx="7616952" cy="0"/>
          </a:xfrm>
          <a:prstGeom prst="line">
            <a:avLst/>
          </a:prstGeom>
          <a:noFill/>
          <a:ln w="9525">
            <a:solidFill>
              <a:srgbClr val="E4DCCB"/>
            </a:solidFill>
            <a:prstDash val="dash"/>
          </a:ln>
        </p:spPr>
      </p:sp>
      <p:sp>
        <p:nvSpPr>
          <p:cNvPr id="22" name="Text 19"/>
          <p:cNvSpPr txBox="1"/>
          <p:nvPr/>
        </p:nvSpPr>
        <p:spPr>
          <a:xfrm>
            <a:off x="685800" y="3759490"/>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المُوَاصَلَاتُ: تُوجَدُ حَافِلَاتٌ جَدِيدَةٌ بِجَانِبِ مَحَطَّةِ القِطَارِ.</a:t>
            </a:r>
            <a:endParaRPr lang="ar-SA" sz="2000" dirty="0"/>
          </a:p>
        </p:txBody>
      </p:sp>
      <p:sp>
        <p:nvSpPr>
          <p:cNvPr id="23" name="Shape 20"/>
          <p:cNvSpPr/>
          <p:nvPr/>
        </p:nvSpPr>
        <p:spPr>
          <a:xfrm>
            <a:off x="685800" y="4342094"/>
            <a:ext cx="7616952" cy="0"/>
          </a:xfrm>
          <a:prstGeom prst="line">
            <a:avLst/>
          </a:prstGeom>
          <a:noFill/>
          <a:ln w="9525">
            <a:solidFill>
              <a:srgbClr val="E4DCCB"/>
            </a:solidFill>
            <a:prstDash val="dash"/>
          </a:ln>
        </p:spPr>
      </p:sp>
      <p:sp>
        <p:nvSpPr>
          <p:cNvPr id="24" name="Text 21"/>
          <p:cNvSpPr txBox="1"/>
          <p:nvPr/>
        </p:nvSpPr>
        <p:spPr>
          <a:xfrm>
            <a:off x="685800" y="4360382"/>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التَّسَوُّقُ: فِي السُّوقِ خَصْمٌ عِشْرُونَ فِي المِئَةِ عَلَى الكُتُبِ.</a:t>
            </a:r>
            <a:endParaRPr lang="ar-SA" sz="2000" dirty="0"/>
          </a:p>
        </p:txBody>
      </p:sp>
      <p:sp>
        <p:nvSpPr>
          <p:cNvPr id="25" name="Shape 22"/>
          <p:cNvSpPr/>
          <p:nvPr/>
        </p:nvSpPr>
        <p:spPr>
          <a:xfrm>
            <a:off x="685800" y="4942985"/>
            <a:ext cx="7616952" cy="0"/>
          </a:xfrm>
          <a:prstGeom prst="line">
            <a:avLst/>
          </a:prstGeom>
          <a:noFill/>
          <a:ln w="9525">
            <a:solidFill>
              <a:srgbClr val="E4DCCB"/>
            </a:solidFill>
            <a:prstDash val="dash"/>
          </a:ln>
        </p:spPr>
      </p:sp>
      <p:sp>
        <p:nvSpPr>
          <p:cNvPr id="26" name="Text 23"/>
          <p:cNvSpPr txBox="1"/>
          <p:nvPr/>
        </p:nvSpPr>
        <p:spPr>
          <a:xfrm>
            <a:off x="685800" y="4961273"/>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الأَمَانُ الرَّقْمِيُّ: اِحْمِ حِسَابَكَ بِكَلِمَةِ مُرُورٍ قَوِيَّةٍ، وَلَا تُشَارِكْهَا مَعَ أَحَدٍ.</a:t>
            </a:r>
            <a:endParaRPr lang="ar-SA" sz="2000" dirty="0"/>
          </a:p>
        </p:txBody>
      </p:sp>
      <p:sp>
        <p:nvSpPr>
          <p:cNvPr id="27" name="Shape 24"/>
          <p:cNvSpPr/>
          <p:nvPr/>
        </p:nvSpPr>
        <p:spPr>
          <a:xfrm>
            <a:off x="685800" y="5543877"/>
            <a:ext cx="7616952" cy="0"/>
          </a:xfrm>
          <a:prstGeom prst="line">
            <a:avLst/>
          </a:prstGeom>
          <a:noFill/>
          <a:ln w="9525">
            <a:solidFill>
              <a:srgbClr val="E4DCCB"/>
            </a:solidFill>
            <a:prstDash val="dash"/>
          </a:ln>
        </p:spPr>
      </p:sp>
      <p:sp>
        <p:nvSpPr>
          <p:cNvPr id="28" name="Text 25"/>
          <p:cNvSpPr txBox="1"/>
          <p:nvPr/>
        </p:nvSpPr>
        <p:spPr>
          <a:xfrm>
            <a:off x="685800" y="5562165"/>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رَأْيُ المُحَرِّرِ: مَدِينَتُنَا تَتَحَسَّنُ، لٰكِنَّهَا تَحْتَاجُ إِلَى مَسَاحَاتٍ خَضْرَاءَ أَكْثَرَ.</a:t>
            </a:r>
            <a:endParaRPr lang="ar-SA" sz="2000" dirty="0"/>
          </a:p>
        </p:txBody>
      </p:sp>
      <p:sp>
        <p:nvSpPr>
          <p:cNvPr id="29" name="Shape 2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31" name="Text 2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نَشْرَةٌ</a:t>
            </a:r>
            <a:endParaRPr lang="ar-SA" sz="1600" dirty="0"/>
          </a:p>
        </p:txBody>
      </p:sp>
      <p:sp>
        <p:nvSpPr>
          <p:cNvPr id="32" name="Text 2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newsletter</a:t>
            </a:r>
            <a:endParaRPr lang="en-US" sz="1050" dirty="0"/>
          </a:p>
        </p:txBody>
      </p:sp>
      <p:sp>
        <p:nvSpPr>
          <p:cNvPr id="33" name="Text 3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الأُسْبُوعُ القَادِمُ</a:t>
            </a:r>
            <a:endParaRPr lang="ar-SA" sz="1600" dirty="0"/>
          </a:p>
        </p:txBody>
      </p:sp>
      <p:sp>
        <p:nvSpPr>
          <p:cNvPr id="34" name="Text 3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next week</a:t>
            </a:r>
            <a:endParaRPr lang="en-US" sz="1050" dirty="0"/>
          </a:p>
        </p:txBody>
      </p:sp>
      <p:sp>
        <p:nvSpPr>
          <p:cNvPr id="35" name="Text 3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الجَنُوبُ</a:t>
            </a:r>
            <a:endParaRPr lang="ar-SA" sz="1600" dirty="0"/>
          </a:p>
        </p:txBody>
      </p:sp>
      <p:sp>
        <p:nvSpPr>
          <p:cNvPr id="36" name="Text 3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south</a:t>
            </a:r>
            <a:endParaRPr lang="en-US" sz="1050" dirty="0"/>
          </a:p>
        </p:txBody>
      </p:sp>
      <p:sp>
        <p:nvSpPr>
          <p:cNvPr id="37" name="Text 3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البَلَدِيَّةُ</a:t>
            </a:r>
            <a:endParaRPr lang="ar-SA" sz="1600" dirty="0"/>
          </a:p>
        </p:txBody>
      </p:sp>
      <p:sp>
        <p:nvSpPr>
          <p:cNvPr id="38" name="Text 3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town council</a:t>
            </a:r>
            <a:endParaRPr lang="en-US" sz="1050" dirty="0"/>
          </a:p>
        </p:txBody>
      </p:sp>
      <p:sp>
        <p:nvSpPr>
          <p:cNvPr id="39" name="Text 3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إِعَادَةُ التَّدْوِيرِ</a:t>
            </a:r>
            <a:endParaRPr lang="ar-SA" sz="1600" dirty="0"/>
          </a:p>
        </p:txBody>
      </p:sp>
      <p:sp>
        <p:nvSpPr>
          <p:cNvPr id="40" name="Text 3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recycling</a:t>
            </a:r>
            <a:endParaRPr lang="en-US" sz="1050" dirty="0"/>
          </a:p>
        </p:txBody>
      </p:sp>
      <p:sp>
        <p:nvSpPr>
          <p:cNvPr id="41" name="Text 3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حَافِلَاتٌ</a:t>
            </a:r>
            <a:endParaRPr lang="ar-SA" sz="1600" dirty="0"/>
          </a:p>
        </p:txBody>
      </p:sp>
      <p:sp>
        <p:nvSpPr>
          <p:cNvPr id="42" name="Text 3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buses</a:t>
            </a:r>
            <a:endParaRPr lang="en-US" sz="1050" dirty="0"/>
          </a:p>
        </p:txBody>
      </p:sp>
      <p:sp>
        <p:nvSpPr>
          <p:cNvPr id="43" name="Text 4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اِحْمِ</a:t>
            </a:r>
            <a:endParaRPr lang="ar-SA" sz="1600" dirty="0"/>
          </a:p>
        </p:txBody>
      </p:sp>
      <p:sp>
        <p:nvSpPr>
          <p:cNvPr id="44" name="Text 4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protect!</a:t>
            </a:r>
            <a:endParaRPr lang="en-US" sz="1050" dirty="0"/>
          </a:p>
        </p:txBody>
      </p:sp>
      <p:sp>
        <p:nvSpPr>
          <p:cNvPr id="45" name="Text 4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لَا تُشَارِكْهَا</a:t>
            </a:r>
            <a:endParaRPr lang="ar-SA" sz="1600" dirty="0"/>
          </a:p>
        </p:txBody>
      </p:sp>
      <p:sp>
        <p:nvSpPr>
          <p:cNvPr id="46" name="Text 4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don’t share it</a:t>
            </a:r>
            <a:endParaRPr lang="en-US" sz="1050" dirty="0"/>
          </a:p>
        </p:txBody>
      </p:sp>
      <p:sp>
        <p:nvSpPr>
          <p:cNvPr id="47" name="Text 4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المُحَرِّرُ</a:t>
            </a:r>
            <a:endParaRPr lang="ar-SA" sz="1600" dirty="0"/>
          </a:p>
        </p:txBody>
      </p:sp>
      <p:sp>
        <p:nvSpPr>
          <p:cNvPr id="48" name="Text 4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editor</a:t>
            </a:r>
            <a:endParaRPr lang="en-US" sz="1050" dirty="0"/>
          </a:p>
        </p:txBody>
      </p:sp>
      <p:sp>
        <p:nvSpPr>
          <p:cNvPr id="49" name="Text 4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تَتَحَسَّنُ</a:t>
            </a:r>
            <a:endParaRPr lang="ar-SA" sz="1600" dirty="0"/>
          </a:p>
        </p:txBody>
      </p:sp>
      <p:sp>
        <p:nvSpPr>
          <p:cNvPr id="50" name="Text 4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improving</a:t>
            </a:r>
            <a:endParaRPr lang="en-US" sz="10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NEWSLETTER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Pass on the facts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اِسْتَخْرِجِ المَعْلُومَاتِ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the weather be like in the south?</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Rainy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Windy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Sunny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council planning?</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new market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recycling centres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car parks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are the new buses?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Opposite the market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Next to the train station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north</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has a 20% discount?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Buses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Phones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Books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digital advice?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Use a strong password and don’t share it.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Buy a new phone.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Send fewer messages.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Find the KEY WORD first.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south? </a:t>
            </a:r>
            <a:pPr algn="l" indent="0" marL="0">
              <a:lnSpc>
                <a:spcPct val="115000"/>
              </a:lnSpc>
              <a:buNone/>
            </a:pPr>
            <a:r>
              <a:rPr lang="ar-SA" altLang="en-US" sz="1650" dirty="0">
                <a:solidFill>
                  <a:srgbClr val="1E6B52"/>
                </a:solidFill>
                <a:latin typeface="Amiri" pitchFamily="2" charset="-78"/>
                <a:cs typeface="Amiri" pitchFamily="2" charset="-78"/>
              </a:rPr>
              <a:t>الجَنُوب</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council? </a:t>
            </a:r>
            <a:pPr algn="l" indent="0" marL="0">
              <a:lnSpc>
                <a:spcPct val="115000"/>
              </a:lnSpc>
              <a:buNone/>
            </a:pPr>
            <a:r>
              <a:rPr lang="ar-SA" altLang="en-US" sz="1650" dirty="0">
                <a:solidFill>
                  <a:srgbClr val="1E6B52"/>
                </a:solidFill>
                <a:latin typeface="Amiri" pitchFamily="2" charset="-78"/>
                <a:cs typeface="Amiri" pitchFamily="2" charset="-78"/>
              </a:rPr>
              <a:t>البَلَدِيَّة</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buses? </a:t>
            </a:r>
            <a:pPr algn="l" indent="0" marL="0">
              <a:lnSpc>
                <a:spcPct val="115000"/>
              </a:lnSpc>
              <a:buNone/>
            </a:pPr>
            <a:r>
              <a:rPr lang="ar-SA" altLang="en-US" sz="1650" dirty="0">
                <a:solidFill>
                  <a:srgbClr val="1E6B52"/>
                </a:solidFill>
                <a:latin typeface="Amiri" pitchFamily="2" charset="-78"/>
                <a:cs typeface="Amiri" pitchFamily="2" charset="-78"/>
              </a:rPr>
              <a:t>حَافِلَات</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password? </a:t>
            </a:r>
            <a:pPr algn="l" indent="0" marL="0">
              <a:lnSpc>
                <a:spcPct val="115000"/>
              </a:lnSpc>
              <a:buNone/>
            </a:pPr>
            <a:r>
              <a:rPr lang="ar-SA" altLang="en-US" sz="1650" dirty="0">
                <a:solidFill>
                  <a:srgbClr val="1E6B52"/>
                </a:solidFill>
                <a:latin typeface="Amiri" pitchFamily="2" charset="-78"/>
                <a:cs typeface="Amiri" pitchFamily="2" charset="-78"/>
              </a:rPr>
              <a:t>كَلِمَة مُرُور</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NEWSLETTER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Newsletter: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the weather be like in the south?</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Rainy</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Windy</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Sunny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وَمُشْمِسًا فِي الجَنُوبِ.</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council planning?</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new market</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More recycling centres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More car parks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تُخَطِّطُ البَلَدِيَّةُ لِزِيَادَةِ مَرَاكِزِ إِعَادَةِ التَّدْوِيرِ.</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are the new buses?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Opposite the market</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Next to the train station</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north</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بِجَانِبِ مَحَطَّةِ القِطَارِ.</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has a 20% discount?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Buses</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Phones</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Books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خَصْمٌ عِشْرُونَ فِي المِئَةِ عَلَى الكُتُبِ.</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digital advice?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Use a strong password and don’t share it.</a:t>
            </a:r>
            <a:endParaRPr lang="en-US" sz="11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Buy a new phone.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Send fewer messages.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اِحْمِ حِسَابَكَ بِكَلِمَةِ مُرُورٍ قَوِيَّةٍ، وَلَا تُشَارِكْهَا.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Find the KEY WORD first.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south? </a:t>
            </a:r>
            <a:pPr algn="l" indent="0" marL="0">
              <a:lnSpc>
                <a:spcPct val="115000"/>
              </a:lnSpc>
              <a:buNone/>
            </a:pPr>
            <a:r>
              <a:rPr lang="ar-SA" altLang="en-US" sz="1650" dirty="0">
                <a:solidFill>
                  <a:srgbClr val="1E6B52"/>
                </a:solidFill>
                <a:latin typeface="Amiri" pitchFamily="2" charset="-78"/>
                <a:cs typeface="Amiri" pitchFamily="2" charset="-78"/>
              </a:rPr>
              <a:t>الجَنُوب</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council? </a:t>
            </a:r>
            <a:pPr algn="l" indent="0" marL="0">
              <a:lnSpc>
                <a:spcPct val="115000"/>
              </a:lnSpc>
              <a:buNone/>
            </a:pPr>
            <a:r>
              <a:rPr lang="ar-SA" altLang="en-US" sz="1650" dirty="0">
                <a:solidFill>
                  <a:srgbClr val="1E6B52"/>
                </a:solidFill>
                <a:latin typeface="Amiri" pitchFamily="2" charset="-78"/>
                <a:cs typeface="Amiri" pitchFamily="2" charset="-78"/>
              </a:rPr>
              <a:t>البَلَدِيَّة</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buses? </a:t>
            </a:r>
            <a:pPr algn="l" indent="0" marL="0">
              <a:lnSpc>
                <a:spcPct val="115000"/>
              </a:lnSpc>
              <a:buNone/>
            </a:pPr>
            <a:r>
              <a:rPr lang="ar-SA" altLang="en-US" sz="1650" dirty="0">
                <a:solidFill>
                  <a:srgbClr val="1E6B52"/>
                </a:solidFill>
                <a:latin typeface="Amiri" pitchFamily="2" charset="-78"/>
                <a:cs typeface="Amiri" pitchFamily="2" charset="-78"/>
              </a:rPr>
              <a:t>حَافِلَات</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password? </a:t>
            </a:r>
            <a:pPr algn="l" indent="0" marL="0">
              <a:lnSpc>
                <a:spcPct val="115000"/>
              </a:lnSpc>
              <a:buNone/>
            </a:pPr>
            <a:r>
              <a:rPr lang="ar-SA" altLang="en-US" sz="1650" dirty="0">
                <a:solidFill>
                  <a:srgbClr val="1E6B52"/>
                </a:solidFill>
                <a:latin typeface="Amiri" pitchFamily="2" charset="-78"/>
                <a:cs typeface="Amiri" pitchFamily="2" charset="-78"/>
              </a:rPr>
              <a:t>كَلِمَة مُرُور</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chain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اِبْنِ السِّلْسِلَةَ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air is polluted because of weak monitoring, which threatens people’s health.</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تُلَوَّثُ المِيَاهُ</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يُلَوَّثُ الهَوَاءُ</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بِسَبَبِ ضَعْفِ الرَّقَابَةِ،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cs typeface="Amiri" pitchFamily="2" charset="-78"/>
              </a:rPr>
              <a:t>بِسَبَبِ التَّوَسُّعِ غَيْرِ المُخَطَّطِ،</a:t>
            </a:r>
            <a:endParaRPr lang="ar-SA" sz="17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cs typeface="Amiri" pitchFamily="2" charset="-78"/>
              </a:rPr>
              <a:t>مِمَّا يُضْعِفُ التَّنَوُّعَ الحَيَوِيَّ.</a:t>
            </a:r>
            <a:endParaRPr lang="ar-SA" sz="17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مِمَّا يُهَدِّدُ صِحَّةَ السُّكَّانِ.</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must manage waste better so that we reduce environmental harm.</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يَجِبُ عَلَيْنَا أَنْ</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مِنَ الضَّرُورِيِّ أَنْ</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نُرَشِّدَ اسْتِهْلَاكَ المِيَاهِ</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نُحَسِّنَ إِدَارَةَ النُّفَايَاتِ</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لِكَيْ نُقَلِّلَ الأَضْرَارَ البِيئِيَّةَ.</a:t>
            </a:r>
            <a:endParaRPr lang="ar-SA" sz="155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لِكَيْ نَحْمِيَ المَوَارِدَ.</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Although change needs time, it remains necessary, with regular review of the results.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cs typeface="Amiri" pitchFamily="2" charset="-78"/>
              </a:rPr>
              <a:t>عَلَى الرَّغْمِ مِنْ أَنَّ التِّقْنِيَّةَ مُكَلِّفَةٌ،</a:t>
            </a:r>
            <a:endParaRPr lang="ar-SA" sz="13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lnSpc>
                <a:spcPct val="120000"/>
              </a:lnSpc>
              <a:buNone/>
            </a:pPr>
            <a:r>
              <a:rPr lang="ar-SA" altLang="en-US" sz="1000" dirty="0">
                <a:solidFill>
                  <a:srgbClr val="1F2A37"/>
                </a:solidFill>
                <a:latin typeface="Amiri" pitchFamily="2" charset="-78"/>
                <a:cs typeface="Amiri" pitchFamily="2" charset="-78"/>
              </a:rPr>
              <a:t>عَلَى الرَّغْمِ مِنْ أَنَّ التَّغْيِيرَ يَحْتَاجُ إِلَى وَقْتٍ،</a:t>
            </a:r>
            <a:endParaRPr lang="ar-SA" sz="10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cs typeface="Amiri" pitchFamily="2" charset="-78"/>
              </a:rPr>
              <a:t>فَإِنَّ التَّغْيِيرَ يَظَلُّ ضَرُورِيًّا،</a:t>
            </a:r>
            <a:endParaRPr lang="ar-SA" sz="17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cs typeface="Amiri" pitchFamily="2" charset="-78"/>
              </a:rPr>
              <a:t>فَإِنَّ التِّقْنِيَّةَ قَدْ تُقَدِّمُ حُلُولًا مُهِمَّةً،</a:t>
            </a:r>
            <a:endParaRPr lang="ar-SA" sz="125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cs typeface="Amiri" pitchFamily="2" charset="-78"/>
              </a:rPr>
              <a:t>مَعَ مُرَاجَعَةِ النَّتَائِجِ بِانْتِظَامٍ.</a:t>
            </a:r>
            <a:endParaRPr lang="ar-SA" sz="15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cs typeface="Amiri" pitchFamily="2" charset="-78"/>
              </a:rPr>
              <a:t>شَرِيطَةَ أَنْ تُوضَعَ ضَوَابِطُ وَاضِحَةٌ.</a:t>
            </a:r>
            <a:endParaRPr lang="ar-SA" sz="15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chains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The air is polluted because of weak monitoring, which threatens people’s health.</a:t>
            </a:r>
            <a:endParaRPr lang="en-US" sz="12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B · A · B</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Problem (passive) + cause + result — website builder 1.</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700" b="1" dirty="0">
                <a:solidFill>
                  <a:srgbClr val="1B3B6F"/>
                </a:solidFill>
                <a:latin typeface="Amiri" pitchFamily="2" charset="-78"/>
                <a:cs typeface="Amiri" pitchFamily="2" charset="-78"/>
              </a:rPr>
              <a:t>يُلَوَّثُ الهَوَاءُ بِسَبَبِ ضَعْفِ الرَّقَابَةِ، مِمَّا يُهَدِّدُ صِحَّةَ السُّكَّانِ.</a:t>
            </a:r>
            <a:endParaRPr lang="ar-SA" sz="27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must manage waste better so that we reduce environmental harm.</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B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Obligation + action + purpose — website builder 2.</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lnSpc>
                <a:spcPct val="120000"/>
              </a:lnSpc>
              <a:buNone/>
            </a:pPr>
            <a:r>
              <a:rPr lang="ar-SA" altLang="en-US" sz="2350" b="1" dirty="0">
                <a:solidFill>
                  <a:srgbClr val="1B3B6F"/>
                </a:solidFill>
                <a:latin typeface="Amiri" pitchFamily="2" charset="-78"/>
                <a:cs typeface="Amiri" pitchFamily="2" charset="-78"/>
              </a:rPr>
              <a:t>يَجِبُ عَلَيْنَا أَنْ نُحَسِّنَ إِدَارَةَ النُّفَايَاتِ لِكَيْ نُقَلِّلَ الأَضْرَارَ البِيئِيَّةَ.</a:t>
            </a:r>
            <a:endParaRPr lang="ar-SA" sz="235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Although change needs time, it remains necessary, with regular review of the results.</a:t>
            </a:r>
            <a:endParaRPr lang="en-US" sz="115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B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Concession + judgement + condition — website builder 3 (Stretch).</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lnSpc>
                <a:spcPct val="120000"/>
              </a:lnSpc>
              <a:buNone/>
            </a:pPr>
            <a:r>
              <a:rPr lang="ar-SA" altLang="en-US" sz="2250" b="1" dirty="0">
                <a:solidFill>
                  <a:srgbClr val="1B3B6F"/>
                </a:solidFill>
                <a:latin typeface="Amiri" pitchFamily="2" charset="-78"/>
                <a:cs typeface="Amiri" pitchFamily="2" charset="-78"/>
              </a:rPr>
              <a:t>عَلَى الرَّغْمِ مِنْ أَنَّ التَّغْيِيرَ يَحْتَاجُ إِلَى وَقْتٍ، فَإِنَّ التَّغْيِيرَ يَظَلُّ ضَرُورِيًّا، مَعَ مُرَاجَعَةِ النَّتَائِجِ بِانْتِظَامٍ.</a:t>
            </a:r>
            <a:endParaRPr lang="ar-SA" sz="22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43</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TOPIC C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part of Topic 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كَلِمَةُ مُرُورٍ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التَّلَوُّثُ</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مُسْتَشْفًى</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إِعَادَةُ التَّدْوِيرِ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خَصْمٌ</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أُرْسِلُ رِسَالَةً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الاِحْتِبَاسُ الحَرَارِيُّ</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مَحَطَّةُ القِطَارِ</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أُحَمِّلُ صُورَةً</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Environment</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Technology</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Town and shopping</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43</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Environment</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التَّلَوُّثُ</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إِعَادَةُ التَّدْوِيرِ</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الاِحْتِبَاسُ الحَرَارِيُّ</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Technology</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كَلِمَةُ مُرُورٍ</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أُرْسِلُ رِسَالَةً</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أُحَمِّلُ صُورَةً</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Town and shopping</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مُسْتَشْفًى</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خَصْمٌ</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مَحَطَّةُ القِطَارِ</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43</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2, 3, 6, 7</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true environmental passive.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يَنْبَعِثُ الهَوَاءُ السَّيَّارَاتِ.</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يَلَوِّثُ الهَوَاءُ عَوَادِمَ السَّيَّارَاتِ.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يُلَوَّثُ الهَوَاءُ بِعَوَادِمِ السَّيَّارَاتِ.</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coherent cause–effect chain.</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بِسَبَبِ قَطْعِ الأَشْجَارِ، تَزْدَادُ الغَابَاتُ.</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بِسَبَبِ قَطْعِ الأَشْجَارِ، تَفْقِدُ الحَيَوَانَاتُ مَوَائِلَهَا.</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بِسَبَبِ قَطْعِ الأَشْجَارِ، تَنْخَفِضُ الحَاجَةُ إِلَى الحِمَايَةِ.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formal reporting frame.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يُشَارِكُ إِلَى المَنَاخِ أَنَّ يَتَغَيَّرُ.</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يُشَارُ إِلَى أَنَّ المَنَاخَ يَتَغَيَّرُ.</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يُشِيرُ أَنَّ إِلَى المَنَاخِ.</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is genuinely qualified?</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أُؤَيِّدُ المَشْرُوعَ دَائِمًا لِأَنَّهُ مَشْرُوعٌ.</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أُؤَيِّدُ الخُصُوصِيَّةَ مِنَ المَشْرُوعِ.</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أُؤَيِّدُ المَشْرُوعَ إِلَى حَدٍّ مَا، شَرِيطَةَ أَنْ تُحْمَى الخُصُوصِيَّةُ.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43</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true environmental passive.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يَنْبَعِثُ الهَوَاءُ السَّيَّارَاتِ.</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يَلَوِّثُ الهَوَاءُ عَوَادِمَ السَّيَّارَاتِ.</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يُلَوَّثُ الهَوَاءُ بِعَوَادِمِ السَّيَّارَاتِ.</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air is the affected subject in </a:t>
            </a:r>
            <a:pPr algn="l" indent="0" marL="0">
              <a:buNone/>
            </a:pPr>
            <a:r>
              <a:rPr lang="ar-SA" altLang="en-US" sz="1350" dirty="0">
                <a:solidFill>
                  <a:srgbClr val="8A6D1E"/>
                </a:solidFill>
                <a:latin typeface="Amiri" pitchFamily="2" charset="-78"/>
                <a:cs typeface="Amiri" pitchFamily="2" charset="-78"/>
              </a:rPr>
              <a:t>يُلوَّث الهواء</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coherent cause–effect chain.</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بِسَبَبِ قَطْعِ الأَشْجَارِ، تَزْدَادُ الغَابَاتُ.</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بِسَبَبِ قَطْعِ الأَشْجَارِ، تَفْقِدُ الحَيَوَانَاتُ مَوَائِلَهَا.</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بِسَبَبِ قَطْعِ الأَشْجَارِ، تَنْخَفِضُ الحَاجَةُ إِلَى الحِمَايَةِ.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Deforestation causes habitat loss.</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formal reporting frame.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يُشَارِكُ إِلَى المَنَاخِ أَنَّ يَتَغَيَّرُ.</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يُشَارُ إِلَى أَنَّ المَنَاخَ يَتَغَيَّرُ.</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يُشِيرُ أَنَّ إِلَى المَنَاخِ.</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يشار إلى أنَّ</a:t>
            </a:r>
            <a:pPr algn="l" indent="0" marL="0">
              <a:buNone/>
            </a:pPr>
            <a:r>
              <a:rPr lang="en-US" sz="1050" i="1" dirty="0">
                <a:solidFill>
                  <a:srgbClr val="8A6D1E"/>
                </a:solidFill>
                <a:latin typeface="Calibri" pitchFamily="34" charset="0"/>
                <a:cs typeface="Amiri" pitchFamily="2" charset="-78"/>
              </a:rPr>
              <a:t> is the frame.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is genuinely qualified?</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أُؤَيِّدُ المَشْرُوعَ دَائِمًا لِأَنَّهُ مَشْرُوعٌ.</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أُؤَيِّدُ الخُصُوصِيَّةَ مِنَ المَشْرُوعِ.</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أُؤَيِّدُ المَشْرُوعَ إِلَى حَدٍّ مَا، شَرِيطَةَ أَنْ تُحْمَى الخُصُوصِيَّةُ.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states degree and condition.</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43</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2750" b="1" dirty="0">
                <a:solidFill>
                  <a:srgbClr val="B83227"/>
                </a:solidFill>
                <a:latin typeface="Amiri" pitchFamily="2" charset="-78"/>
                <a:cs typeface="Amiri" pitchFamily="2" charset="-78"/>
              </a:rPr>
              <a:t>يَجِبُ عَلَى الحُكُومَةِ أَنْ تُوَسِّعُ النَّقْلَ لِكَيْ تُقَلِّلُ الانْبِعَاثَاتِ.</a:t>
            </a:r>
            <a:endParaRPr lang="ar-SA" sz="275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After </a:t>
            </a:r>
            <a:pPr algn="l" indent="0" marL="0">
              <a:buNone/>
            </a:pPr>
            <a:r>
              <a:rPr lang="ar-SA" altLang="en-US" sz="1700" dirty="0">
                <a:solidFill>
                  <a:srgbClr val="5A6472"/>
                </a:solidFill>
                <a:latin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and </a:t>
            </a:r>
            <a:pPr algn="l" indent="0" marL="0">
              <a:buNone/>
            </a:pPr>
            <a:r>
              <a:rPr lang="ar-SA" altLang="en-US" sz="1700" dirty="0">
                <a:solidFill>
                  <a:srgbClr val="5A6472"/>
                </a:solidFill>
                <a:latin typeface="Amiri" pitchFamily="2" charset="-78"/>
                <a:cs typeface="Amiri" pitchFamily="2" charset="-78"/>
              </a:rPr>
              <a:t>لِكَيْ</a:t>
            </a:r>
            <a:pPr algn="l" indent="0" marL="0">
              <a:buNone/>
            </a:pPr>
            <a:r>
              <a:rPr lang="en-US" sz="1300" i="1" dirty="0">
                <a:solidFill>
                  <a:srgbClr val="5A6472"/>
                </a:solidFill>
                <a:latin typeface="Calibri" pitchFamily="34" charset="0"/>
                <a:cs typeface="Amiri" pitchFamily="2" charset="-78"/>
              </a:rPr>
              <a:t>, what is the last vowel on the verb?</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يُشَارُ إِلَى أَنْ المَنَاخُ يَتَغَيَّرُ.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a:t>
            </a:r>
            <a:pPr algn="l" indent="0" marL="0">
              <a:buNone/>
            </a:pPr>
            <a:r>
              <a:rPr lang="ar-SA" altLang="en-US" sz="1700" dirty="0">
                <a:solidFill>
                  <a:srgbClr val="5A6472"/>
                </a:solidFill>
                <a:latin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or </a:t>
            </a:r>
            <a:pPr algn="l" indent="0" marL="0">
              <a:buNone/>
            </a:pPr>
            <a:r>
              <a:rPr lang="ar-SA" altLang="en-US" sz="1700" dirty="0">
                <a:solidFill>
                  <a:srgbClr val="5A6472"/>
                </a:solidFill>
                <a:latin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before a sentence that reports a fact?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عَلَى الرَّغْمِ مِنْ أَنَّ المَشْرُوعَ مُكَلِّفٌ، فَهُوَ مُكَلِّفٌ.</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Does the second half really contrast with the first?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43</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يَجِبُ عَلَى الحُكُومَةِ أَنْ تُوَسِّعُ النَّقْلَ لِكَيْ تُقَلِّلُ الانْبِعَاثَاتِ.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cs typeface="Amiri" pitchFamily="2" charset="-78"/>
              </a:rPr>
              <a:t>يَجِبُ عَلَى الحُكُومَةِ أَنْ تُوَسِّعَ النَّقْلَ لِكَيْ تُقَلِّلَ الانْبِعَاثَاتِ.</a:t>
            </a:r>
            <a:endParaRPr lang="ar-SA" sz="21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Both </a:t>
            </a:r>
            <a:pPr algn="l" indent="0" marL="0">
              <a:buNone/>
            </a:pPr>
            <a:r>
              <a:rPr lang="ar-SA" altLang="en-US" sz="1500" b="1" dirty="0">
                <a:solidFill>
                  <a:srgbClr val="1B3B6F"/>
                </a:solidFill>
                <a:latin typeface="Amiri" pitchFamily="2" charset="-78"/>
                <a:cs typeface="Amiri" pitchFamily="2" charset="-78"/>
              </a:rPr>
              <a:t>توسّعَ</a:t>
            </a:r>
            <a:pPr algn="l" indent="0" marL="0">
              <a:buNone/>
            </a:pPr>
            <a:r>
              <a:rPr lang="en-US" sz="1150" b="1" dirty="0">
                <a:solidFill>
                  <a:srgbClr val="1B3B6F"/>
                </a:solidFill>
                <a:latin typeface="Calibri" pitchFamily="34" charset="0"/>
                <a:cs typeface="Amiri" pitchFamily="2" charset="-78"/>
              </a:rPr>
              <a:t> and </a:t>
            </a:r>
            <a:pPr algn="l" indent="0" marL="0">
              <a:buNone/>
            </a:pPr>
            <a:r>
              <a:rPr lang="ar-SA" altLang="en-US" sz="1500" b="1" dirty="0">
                <a:solidFill>
                  <a:srgbClr val="1B3B6F"/>
                </a:solidFill>
                <a:latin typeface="Amiri" pitchFamily="2" charset="-78"/>
                <a:cs typeface="Amiri" pitchFamily="2" charset="-78"/>
              </a:rPr>
              <a:t>تقلّلَ</a:t>
            </a:r>
            <a:pPr algn="l" indent="0" marL="0">
              <a:buNone/>
            </a:pPr>
            <a:r>
              <a:rPr lang="en-US" sz="1150" b="1" dirty="0">
                <a:solidFill>
                  <a:srgbClr val="1B3B6F"/>
                </a:solidFill>
                <a:latin typeface="Calibri" pitchFamily="34" charset="0"/>
                <a:cs typeface="Amiri" pitchFamily="2" charset="-78"/>
              </a:rPr>
              <a:t> are subjunctive after </a:t>
            </a:r>
            <a:pPr algn="l" indent="0" marL="0">
              <a:buNone/>
            </a:pPr>
            <a:r>
              <a:rPr lang="ar-SA" altLang="en-US" sz="1500" b="1" dirty="0">
                <a:solidFill>
                  <a:srgbClr val="1B3B6F"/>
                </a:solidFill>
                <a:latin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and </a:t>
            </a:r>
            <a:pPr algn="l" indent="0" marL="0">
              <a:buNone/>
            </a:pPr>
            <a:r>
              <a:rPr lang="ar-SA" altLang="en-US" sz="1500" b="1" dirty="0">
                <a:solidFill>
                  <a:srgbClr val="1B3B6F"/>
                </a:solidFill>
                <a:latin typeface="Amiri" pitchFamily="2" charset="-78"/>
                <a:cs typeface="Amiri" pitchFamily="2" charset="-78"/>
              </a:rPr>
              <a:t>لكي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يُشَارُ إِلَى أَنْ المَنَاخُ يَتَغَيَّرُ.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يُشَارُ إِلَى أَنَّ المَنَاخَ يَتَغَيَّرُ.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Impersonal reporting uses </a:t>
            </a:r>
            <a:pPr algn="l" indent="0" marL="0">
              <a:buNone/>
            </a:pPr>
            <a:r>
              <a:rPr lang="ar-SA" altLang="en-US" sz="1500" b="1" dirty="0">
                <a:solidFill>
                  <a:srgbClr val="1B3B6F"/>
                </a:solidFill>
                <a:latin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عَلَى الرَّغْمِ مِنْ أَنَّ المَشْرُوعَ مُكَلِّفٌ، فَهُوَ مُكَلِّفٌ.</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cs typeface="Amiri" pitchFamily="2" charset="-78"/>
              </a:rPr>
              <a:t>عَلَى الرَّغْمِ مِنْ أَنَّ المَشْرُوعَ مُكَلِّفٌ، فَإِنَّهُ يُقَلِّلُ الهَدْرَ عَلَى المَدَى البَعِيدِ.</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concession must be followed by a genuine contrast.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43</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Listening consolidation: changed details and evaluation</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project does Maryam describe?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Expanding public transport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Building a shopping centre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Closing all schools</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benefit does she mention?</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Using more fossil fuel</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Increasing waste</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Reducing emissions</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reservation does she add?</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environmental benefit</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buses</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High initial cost</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topic does Khalid discuss?</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 scarcity</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Fashion</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Daily routine</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corrected change in consumption?</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stayed unchanged</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rose by 9%</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fell by 9%</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two things must the solution combine?</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Technology and behaviour change</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waste and less evidence</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technology</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 — listen for </a:t>
            </a:r>
            <a:pPr algn="l" indent="0" marL="0">
              <a:buNone/>
            </a:pPr>
            <a:r>
              <a:rPr lang="ar-SA" altLang="en-US" sz="1650" dirty="0">
                <a:solidFill>
                  <a:srgbClr val="1E6B52"/>
                </a:solidFill>
                <a:latin typeface="Amiri" pitchFamily="2" charset="-78"/>
                <a:cs typeface="Amiri" pitchFamily="2" charset="-78"/>
              </a:rPr>
              <a:t>النَّقْلِ العَامِّ</a:t>
            </a:r>
            <a:pPr algn="l" indent="0" marL="0">
              <a:buNone/>
            </a:pPr>
            <a:r>
              <a:rPr lang="en-US" sz="1250" dirty="0">
                <a:solidFill>
                  <a:srgbClr val="1E6B52"/>
                </a:solidFill>
                <a:latin typeface="Calibri" pitchFamily="34" charset="0"/>
                <a:cs typeface="Amiri" pitchFamily="2" charset="-78"/>
              </a:rPr>
              <a:t> (public transport), </a:t>
            </a:r>
            <a:pPr algn="l" indent="0" marL="0">
              <a:buNone/>
            </a:pPr>
            <a:r>
              <a:rPr lang="ar-SA" altLang="en-US" sz="1650" dirty="0">
                <a:solidFill>
                  <a:srgbClr val="1E6B52"/>
                </a:solidFill>
                <a:latin typeface="Amiri" pitchFamily="2" charset="-78"/>
                <a:cs typeface="Amiri" pitchFamily="2" charset="-78"/>
              </a:rPr>
              <a:t>الانْبِعَاثَاتِ</a:t>
            </a:r>
            <a:pPr algn="l" indent="0" marL="0">
              <a:buNone/>
            </a:pPr>
            <a:r>
              <a:rPr lang="en-US" sz="1250" dirty="0">
                <a:solidFill>
                  <a:srgbClr val="1E6B52"/>
                </a:solidFill>
                <a:latin typeface="Calibri" pitchFamily="34" charset="0"/>
                <a:cs typeface="Amiri" pitchFamily="2" charset="-78"/>
              </a:rPr>
              <a:t> (emissions) and </a:t>
            </a:r>
            <a:pPr algn="l" indent="0" marL="0">
              <a:buNone/>
            </a:pPr>
            <a:r>
              <a:rPr lang="ar-SA" altLang="en-US" sz="1650" dirty="0">
                <a:solidFill>
                  <a:srgbClr val="1E6B52"/>
                </a:solidFill>
                <a:latin typeface="Amiri" pitchFamily="2" charset="-78"/>
                <a:cs typeface="Amiri" pitchFamily="2" charset="-78"/>
              </a:rPr>
              <a:t>شُحِّ المِيَاهِ</a:t>
            </a:r>
            <a:pPr algn="l" indent="0" marL="0">
              <a:buNone/>
            </a:pPr>
            <a:r>
              <a:rPr lang="en-US" sz="1250" dirty="0">
                <a:solidFill>
                  <a:srgbClr val="1E6B52"/>
                </a:solidFill>
                <a:latin typeface="Calibri" pitchFamily="34" charset="0"/>
                <a:cs typeface="Amiri" pitchFamily="2" charset="-78"/>
              </a:rPr>
              <a:t> (water scarcity).</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43</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المُحَادَثَةِ الأُولَى، وَصَفَتْ مَرْيَمُ مَشْرُوعًا لِتَوْسِيعِ النَّقْلِ العَامِّ.</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first conversation, Maryam described a project to expand public transport.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قَالَتْ إِنَّهُ سَيُقَلِّلُ الانْبِعَاثَاتِ، لٰكِنَّهَا أَضَافَتْ أَنَّ التَّكْلِفَةَ الأُولَى مُرْتَفِعَةٌ.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said it will reduce emissions, but she added that the initial cost is high.</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وَفِي المُحَادَثَةِ الثَّانِيَةِ، تَحَدَّثَ خَالِدٌ عَنْ شُحِّ المِيَاهِ.</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second conversation, Khalid talked about water scarcity.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أَوَّلًا قَالَ إِنَّ الاسْتِهْلَاكَ انْخَفَضَ، ثُمَّ صَحَّحَ نَفْسَهُ وَقَالَ إِنَّهُ ارْتَفَعَ بِنِسْبَةِ 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First he said consumption fell, then he corrected himself and said it rose by 9%.</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وَأَكَّدَ أَنَّ الحَلَّ يَحْتَاجُ إِلَى التِّقْنِيَّةِ وَتَغْيِيرِ السُّلُوكِ مَعًا.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stressed that the solution needs technology and behaviour change together.</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43</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project does Maryam describe?</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Expanding public transport</a:t>
            </a:r>
            <a:endParaRPr lang="en-US" sz="12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Building a shopping centre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Closing all schools</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توسيع النقل العام.</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benefit does she mention?</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Using more fossil fuel</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Increasing waste</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Reducing emissions</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سيقلل الانبعاثات.</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reservation does she add?</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environmental benefit</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buses</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High initial cost</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التكلفة الأولى مرتفعة.</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topic does Khalid discuss?</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Water scarcity</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Fashion</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Daily routine</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شح المياه.</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corrected change in consumption?</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stayed unchanged</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rose by 9%</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fell by 9%</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corrects himself: </a:t>
            </a:r>
            <a:pPr algn="l" indent="0" marL="0">
              <a:buNone/>
            </a:pPr>
            <a:r>
              <a:rPr lang="ar-SA" altLang="en-US" sz="1350" dirty="0">
                <a:solidFill>
                  <a:srgbClr val="8A6D1E"/>
                </a:solidFill>
                <a:latin typeface="Amiri" pitchFamily="2" charset="-78"/>
                <a:cs typeface="Amiri" pitchFamily="2" charset="-78"/>
              </a:rPr>
              <a:t>ارتفع بنسبة</a:t>
            </a:r>
            <a:pPr algn="l" indent="0" marL="0">
              <a:buNone/>
            </a:pPr>
            <a:r>
              <a:rPr lang="en-US" sz="1050" i="1" dirty="0">
                <a:solidFill>
                  <a:srgbClr val="8A6D1E"/>
                </a:solidFill>
                <a:latin typeface="Calibri" pitchFamily="34" charset="0"/>
                <a:cs typeface="Amiri" pitchFamily="2" charset="-78"/>
              </a:rPr>
              <a:t> 9</a:t>
            </a:r>
            <a:pPr algn="l" indent="0" marL="0">
              <a:buNone/>
            </a:pPr>
            <a:r>
              <a:rPr lang="ar-SA" altLang="en-US" sz="1350" dirty="0">
                <a:solidFill>
                  <a:srgbClr val="8A6D1E"/>
                </a:solidFill>
                <a:latin typeface="Amiri" pitchFamily="2" charset="-78"/>
                <a:cs typeface="Amiri" pitchFamily="2" charset="-78"/>
              </a:rPr>
              <a:t>٪</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two things must the solution combine?</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Technology and behaviour change</a:t>
            </a:r>
            <a:endParaRPr lang="en-US" sz="11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More waste and less evidence</a:t>
            </a:r>
            <a:endParaRPr lang="en-US" sz="11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technology</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التقنية وتغيير السلوك معًا.</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 — listen for </a:t>
            </a:r>
            <a:pPr algn="l" indent="0" marL="0">
              <a:buNone/>
            </a:pPr>
            <a:r>
              <a:rPr lang="ar-SA" altLang="en-US" sz="1650" dirty="0">
                <a:solidFill>
                  <a:srgbClr val="1E6B52"/>
                </a:solidFill>
                <a:latin typeface="Amiri" pitchFamily="2" charset="-78"/>
                <a:cs typeface="Amiri" pitchFamily="2" charset="-78"/>
              </a:rPr>
              <a:t>النَّقْلِ العَامِّ</a:t>
            </a:r>
            <a:pPr algn="l" indent="0" marL="0">
              <a:buNone/>
            </a:pPr>
            <a:r>
              <a:rPr lang="en-US" sz="1250" dirty="0">
                <a:solidFill>
                  <a:srgbClr val="1E6B52"/>
                </a:solidFill>
                <a:latin typeface="Calibri" pitchFamily="34" charset="0"/>
                <a:cs typeface="Amiri" pitchFamily="2" charset="-78"/>
              </a:rPr>
              <a:t> (public transport), </a:t>
            </a:r>
            <a:pPr algn="l" indent="0" marL="0">
              <a:buNone/>
            </a:pPr>
            <a:r>
              <a:rPr lang="ar-SA" altLang="en-US" sz="1650" dirty="0">
                <a:solidFill>
                  <a:srgbClr val="1E6B52"/>
                </a:solidFill>
                <a:latin typeface="Amiri" pitchFamily="2" charset="-78"/>
                <a:cs typeface="Amiri" pitchFamily="2" charset="-78"/>
              </a:rPr>
              <a:t>الانْبِعَاثَاتِ</a:t>
            </a:r>
            <a:pPr algn="l" indent="0" marL="0">
              <a:buNone/>
            </a:pPr>
            <a:r>
              <a:rPr lang="en-US" sz="1250" dirty="0">
                <a:solidFill>
                  <a:srgbClr val="1E6B52"/>
                </a:solidFill>
                <a:latin typeface="Calibri" pitchFamily="34" charset="0"/>
                <a:cs typeface="Amiri" pitchFamily="2" charset="-78"/>
              </a:rPr>
              <a:t> (emissions) and </a:t>
            </a:r>
            <a:pPr algn="l" indent="0" marL="0">
              <a:buNone/>
            </a:pPr>
            <a:r>
              <a:rPr lang="ar-SA" altLang="en-US" sz="1650" dirty="0">
                <a:solidFill>
                  <a:srgbClr val="1E6B52"/>
                </a:solidFill>
                <a:latin typeface="Amiri" pitchFamily="2" charset="-78"/>
                <a:cs typeface="Amiri" pitchFamily="2" charset="-78"/>
              </a:rPr>
              <a:t>شُحِّ المِيَاهِ</a:t>
            </a:r>
            <a:pPr algn="l" indent="0" marL="0">
              <a:buNone/>
            </a:pPr>
            <a:r>
              <a:rPr lang="en-US" sz="1250" dirty="0">
                <a:solidFill>
                  <a:srgbClr val="1E6B52"/>
                </a:solidFill>
                <a:latin typeface="Calibri" pitchFamily="34" charset="0"/>
                <a:cs typeface="Amiri" pitchFamily="2" charset="-78"/>
              </a:rPr>
              <a:t> (water scarcity).</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43</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Speaking: diagnose strengths and improve answers</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اِقْرَأْ سَطْرًا مِنَ النَّشْرَةِ، ثُمَّ قُلْهُ لِزَمِيلِكَ.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أَهَمُّ مُشْكِلَةٍ بِيئِيَّةٍ؟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التِّقْنِيَّةُ جُزْءٌ مِنَ الحَلِّ؟</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نُقْطَةُ قُوَّتِكَ وَمَجَالُ تَحْسِينِكَ؟</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فِي رَأْيِي، ___ لِأَنَّ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مِنْ نَاحِيَةٍ ___ ، وَمِنْ نَاحِيَةٍ أُخْرَى ___ .</a:t>
            </a:r>
            <a:endParaRPr lang="ar-SA" sz="15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عَلَى الرَّغْمِ مِنْ أَنَّ ___ ، فَإِنَّ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قَالَ / قَالَتْ إِنَّ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 أَقْوَى جَانِبٍ فِي لُغَتِكَ فِي هٰذِهِ الوَحْدَةِ، وَمَا الَّذِي تَحْتَاجُ إِلَى تَحْسِينِهِ؟</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850" i="1" dirty="0">
                <a:solidFill>
                  <a:srgbClr val="5A6472"/>
                </a:solidFill>
                <a:latin typeface="Calibri" pitchFamily="34" charset="0"/>
                <a:cs typeface="Amiri" pitchFamily="2" charset="-78"/>
              </a:rPr>
              <a:t>What is the strongest part of your Arabic, and what do you need to improve?</a:t>
            </a:r>
            <a:endParaRPr lang="en-US" sz="8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150" dirty="0">
                <a:solidFill>
                  <a:srgbClr val="1F2A37"/>
                </a:solidFill>
                <a:latin typeface="Amiri" pitchFamily="2" charset="-78"/>
                <a:cs typeface="Amiri" pitchFamily="2" charset="-78"/>
              </a:rPr>
              <a:t>نُقْطَةُ قُوَّتِي هِيَ رَبْطُ السَّبَبِ بِالنَّتِيجَةِ، لِأَنَّنِي أَسْتَخْدِمُ بِسَبَبِ وَيُؤَدِّي إِلَى بِدِقَّةٍ. أَمَّا مَجَالُ التَّحْسِينِ فَهُوَ المَبْنِيُّ لِلْمَجْهُولِ، وَسَأُرَاجِعُ اتِّفَاقَ الفِعْلِ مَعَ الفَاعِلِ النَّحْوِيِّ.</a:t>
            </a:r>
            <a:endParaRPr lang="ar-SA" sz="11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Question</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43</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the vocabulary banks and sentence frames to produce four accurate connected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Pass on three facts from the newsletter (first …, then …, also …) and add your opinion with a reason.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several target structures in a linked paragraph or sustained spoken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Write about your town: one sentence in the past, one now and one in the future, with three linking words and a two-sided opinion.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130–140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Evaluate, compare or qualify ideas using precise evidence and formal linking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writing task: climate, a problem, a solution and a qualified technology judgement; checklist and phrase bank on the Stretch slide.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43</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المَاضِي كَانَتْ مَدِينَتِي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past, my town was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الآنَ تُوجَدُ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Now there is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المُسْتَقْبَلِ سَـ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future, … will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مِنْ نَاحِيَةٍ ______ ، وَمِنْ نَاحِيَةٍ أُخْرَى ______ .</a:t>
            </a:r>
            <a:endParaRPr lang="ar-SA" sz="16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the one hand … on the other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لِذٰلِكَ يَجِبُ أَنْ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 we must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أَوَّلًا،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First,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ثُمَّ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كَمَا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Also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رَأْيِي، ______ لِأَنَّ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 because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غَدًا سَيَكُونُ الطَّقْسُ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Tomorrow it will be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مُمْطِرًا  ·  مُشْمِسًا  ·  التَّلَوُّثُ  ·  إِعَادَةُ التَّدْوِيرِ  ·  حَافِلَاتٌ  ·  مَكْتَبَةٌ  ·  كَلِمَةُ مُرُورٍ  ·  مُفِيدٌ  ·  غَالٍ  ·  مَسَاحَاتٌ خَضْرَاءُ  ·  نُقَلِّلَ  ·  نَحْمِيَ</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43</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130–140 Arabic words integrating climate, an environmental problem, a solution and a qualified technology judgement.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at least seven relevant Topic C range features.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Keep every feature meaningful and accurate.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one passive, one cause–effect chain and one purpose structure.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Proofread before marking the task complete.</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يَسُودُ مَنَاخٌ جَافٌّ فِي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dry climate prevails in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تَشِحُّ المِيَاهُ نَتِيجَةً لِـ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water becomes scarce as a result of …</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يَجِبُ عَلَى الحُكُومَاتِ أَنْ … لِكَيْ …</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governments must … so that …</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وَعَلَاوَةً عَلَى ذٰلِكَ،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furthermore,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عَلَى الرَّغْمِ مِنْ أَنَّ …، فَإِنَّهَا قَدْ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although …, it may …</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رَأْيِي، الحَلُّ النَّاجِحُ يَجْمَعُ بَيْنَ …</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view, a successful solution combines …</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43</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cs typeface="Amiri" pitchFamily="2" charset="-78"/>
              </a:rPr>
              <a:t>تَنَاوَلَتْ هٰذِهِ الوَحْدَةُ قَضَايَا مُهِمَّةً مِثْلَ تَغَيُّرِ المَنَاخِ وَشُحِّ المِيَاهِ وَالذَّكَاءِ الاصْطِنَاعِيِّ. يَسُودُ مَنَاخٌ جَافٌّ فِي مَنَاطِقَ كَثِيرَةٍ، وَتَشِحُّ المِيَاهُ نَتِيجَةً لِقِلَّةِ الأَمْطَارِ وَزِيَادَةِ الاسْتِهْلَاكِ. لِذٰلِكَ يَجِبُ عَلَى الحُكُومَاتِ أَنْ تَسْتَثْمِرَ فِي إِعَادَةِ اسْتِخْدَامِ المِيَاهِ لِكَيْ تَحْمِيَ المَوَارِدَ. وَعَلَاوَةً عَلَى ذٰلِكَ، يُمْكِنُ أَنْ يُسْتَخْدَمَ الذَّكَاءُ الاصْطِنَاعِيُّ لِرَصْدِ الهَدْرِ. عَلَى الرَّغْمِ مِنْ أَنَّ هٰذِهِ التِّقْنِيَّةَ مُكَلِّفَةٌ، فَإِنَّهَا قَدْ تُوَفِّرُ المَالَ عَلَى المَدَى البَعِيدِ. فِي رَأْيِي، الحَلُّ النَّاجِحُ يَجْمَعُ بَيْنَ التِّقْنِيَّةِ وَالسِّيَاسَةِ وَالسُّلُوكِ المَسْؤُولِ.</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This unit dealt with important issues such as climate change, water scarcity and artificial intelligence. A dry climate prevails in many regions, and water is becoming scarce as a result of low rainfall and rising consumption. So governments must invest in reusing water so that they protect resources. Furthermore, artificial intelligence can be used to monitor waste. Although this technology is expensive, it may save money in the long term. In my opinion, a successful solution combines technology, policy and responsible behaviour.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يَسُودُ</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نَتِيجَةً لِـ</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يَجِبُ عَلَى … أَنْ … لِكَيْ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عَلَى الرَّغْمِ مِنْ أَنَّ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43</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find and pass on key facts (weather, place, price, advice).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give my opinion with a reason: </a:t>
            </a:r>
            <a:pPr algn="l" indent="0" marL="0">
              <a:buNone/>
            </a:pPr>
            <a:r>
              <a:rPr lang="ar-SA" altLang="en-US" sz="1700" dirty="0">
                <a:solidFill>
                  <a:srgbClr val="1F2A37"/>
                </a:solidFill>
                <a:latin typeface="Amiri" pitchFamily="2" charset="-78"/>
                <a:cs typeface="Amiri" pitchFamily="2" charset="-78"/>
              </a:rPr>
              <a:t>فِي رَأْيِي … لِأَنَّ</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use the past, present and future in one answer.</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produce an organised response with relevant detail.</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explain why a target structure is accurate.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43</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“so, therefore”?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لِذٰلِكَ</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بَيْنَمَا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integrated solution.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cs typeface="Amiri" pitchFamily="2" charset="-78"/>
              </a:rPr>
              <a:t>يَجِبُ عَلَى الانْبِعَاثَاتِ أَنْ تُقَلِّلَ الحُكُومَةَ.</a:t>
            </a:r>
            <a:endParaRPr lang="ar-SA" sz="1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cs typeface="Amiri" pitchFamily="2" charset="-78"/>
              </a:rPr>
              <a:t>يَجِبُ عَلَى الحُكُومَةِ أَنْ تَسْتَثْمِرَ فِي النَّقْلِ العَامِّ لِكَيْ تُقَلِّلَ الانْبِعَاثَاتِ.</a:t>
            </a:r>
            <a:endParaRPr lang="ar-SA" sz="1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cs typeface="Amiri" pitchFamily="2" charset="-78"/>
              </a:rPr>
              <a:t>يَجِبُ الحُكُومَةُ تَسْتَثْمِرُ لِكَيْ الانْبِعَاثَاتُ.</a:t>
            </a:r>
            <a:endParaRPr lang="ar-SA" sz="1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judgement is balanced and conditional?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2" charset="-78"/>
                <a:cs typeface="Amiri" pitchFamily="2" charset="-78"/>
              </a:rPr>
              <a:t>التِّقْنِيَّةُ مُفِيدَةٌ إِلَى حَدٍّ مَا، شَرِيطَةَ أَنْ تُطَبَّقَ بِمَسْؤُولِيَّةٍ.</a:t>
            </a:r>
            <a:endParaRPr lang="ar-SA" sz="12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2" charset="-78"/>
                <a:cs typeface="Amiri" pitchFamily="2" charset="-78"/>
              </a:rPr>
              <a:t>التِّقْنِيَّةُ مُفِيدَةٌ دَائِمًا دُونَ شُرُوطٍ.</a:t>
            </a:r>
            <a:endParaRPr lang="ar-SA" sz="12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2" charset="-78"/>
                <a:cs typeface="Amiri" pitchFamily="2" charset="-78"/>
              </a:rPr>
              <a:t>التِّقْنِيَّةُ غَيْرُ مُفِيدَةٍ لِأَنَّهَا تِقْنِيَّةٌ.</a:t>
            </a:r>
            <a:endParaRPr lang="ar-SA" sz="120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43</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“so, therefore”?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لِذٰلِكَ</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لِأَنَّ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بَيْنَمَا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لِذٰلِكَ</a:t>
            </a:r>
            <a:pPr algn="l" indent="0" marL="0">
              <a:buNone/>
            </a:pPr>
            <a:r>
              <a:rPr lang="en-US" sz="1050" i="1" dirty="0">
                <a:solidFill>
                  <a:srgbClr val="8A6D1E"/>
                </a:solidFill>
                <a:latin typeface="Calibri" pitchFamily="34" charset="0"/>
                <a:cs typeface="Amiri" pitchFamily="2" charset="-78"/>
              </a:rPr>
              <a:t> introduces a result.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integrated solution.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cs typeface="Amiri" pitchFamily="2" charset="-78"/>
              </a:rPr>
              <a:t>يَجِبُ عَلَى الانْبِعَاثَاتِ أَنْ تُقَلِّلَ الحُكُومَةَ.</a:t>
            </a:r>
            <a:endParaRPr lang="ar-SA" sz="1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050" b="1" dirty="0">
                <a:solidFill>
                  <a:srgbClr val="1F2A37"/>
                </a:solidFill>
                <a:latin typeface="Amiri" pitchFamily="2" charset="-78"/>
                <a:cs typeface="Amiri" pitchFamily="2" charset="-78"/>
              </a:rPr>
              <a:t>يَجِبُ عَلَى الحُكُومَةِ أَنْ تَسْتَثْمِرَ فِي النَّقْلِ العَامِّ لِكَيْ تُقَلِّلَ الانْبِعَاثَاتِ.</a:t>
            </a:r>
            <a:endParaRPr lang="ar-SA" sz="1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cs typeface="Amiri" pitchFamily="2" charset="-78"/>
              </a:rPr>
              <a:t>يَجِبُ الحُكُومَةُ تَسْتَثْمِرُ لِكَيْ الانْبِعَاثَاتُ.</a:t>
            </a:r>
            <a:endParaRPr lang="ar-SA" sz="1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assigns responsibility and purpose accurately.</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judgement is balanced and conditional?</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cs typeface="Amiri" pitchFamily="2" charset="-78"/>
              </a:rPr>
              <a:t>التِّقْنِيَّةُ مُفِيدَةٌ إِلَى حَدٍّ مَا، شَرِيطَةَ أَنْ تُطَبَّقَ بِمَسْؤُولِيَّةٍ.</a:t>
            </a:r>
            <a:endParaRPr lang="ar-SA" sz="120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200" dirty="0">
                <a:solidFill>
                  <a:srgbClr val="9AA1AB"/>
                </a:solidFill>
                <a:latin typeface="Amiri" pitchFamily="2" charset="-78"/>
                <a:cs typeface="Amiri" pitchFamily="2" charset="-78"/>
              </a:rPr>
              <a:t>التِّقْنِيَّةُ مُفِيدَةٌ دَائِمًا دُونَ شُرُوطٍ.</a:t>
            </a:r>
            <a:endParaRPr lang="ar-SA" sz="120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200" dirty="0">
                <a:solidFill>
                  <a:srgbClr val="9AA1AB"/>
                </a:solidFill>
                <a:latin typeface="Amiri" pitchFamily="2" charset="-78"/>
                <a:cs typeface="Amiri" pitchFamily="2" charset="-78"/>
              </a:rPr>
              <a:t>التِّقْنِيَّةُ غَيْرُ مُفِيدَةٍ لِأَنَّهَا تِقْنِيَّةٌ.</a:t>
            </a:r>
            <a:endParaRPr lang="ar-SA" sz="120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gives degree and condition.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43</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Topic C Workshop</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TC-L12: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TC-L12 · Topic C Review and Four-Skills Assessment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الشَّمَالُ</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north</a:t>
            </a:r>
            <a:pPr indent="0" marL="0">
              <a:buNone/>
            </a:pPr>
            <a:r>
              <a:rPr lang="en-US" sz="1000" i="1" dirty="0">
                <a:solidFill>
                  <a:srgbClr val="5A6472"/>
                </a:solidFill>
                <a:latin typeface="Calibri" pitchFamily="34" charset="0"/>
                <a:cs typeface="Amiri" pitchFamily="2" charset="-78"/>
              </a:rPr>
              <a:t>  TC-L01</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الطَّقْسُ</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weather</a:t>
            </a:r>
            <a:pPr indent="0" marL="0">
              <a:buNone/>
            </a:pPr>
            <a:r>
              <a:rPr lang="en-US" sz="1000" i="1" dirty="0">
                <a:solidFill>
                  <a:srgbClr val="5A6472"/>
                </a:solidFill>
                <a:latin typeface="Calibri" pitchFamily="34" charset="0"/>
                <a:cs typeface="Amiri" pitchFamily="2" charset="-78"/>
              </a:rPr>
              <a:t>  TC-L03</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التَّلَوُّثُ</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pollution</a:t>
            </a:r>
            <a:pPr indent="0" marL="0">
              <a:buNone/>
            </a:pPr>
            <a:r>
              <a:rPr lang="en-US" sz="1000" i="1" dirty="0">
                <a:solidFill>
                  <a:srgbClr val="5A6472"/>
                </a:solidFill>
                <a:latin typeface="Calibri" pitchFamily="34" charset="0"/>
                <a:cs typeface="Amiri" pitchFamily="2" charset="-78"/>
              </a:rPr>
              <a:t>  TC-L04</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كَلِمَةُ مُرُورٍ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password</a:t>
            </a:r>
            <a:pPr indent="0" marL="0">
              <a:buNone/>
            </a:pPr>
            <a:r>
              <a:rPr lang="en-US" sz="1000" i="1" dirty="0">
                <a:solidFill>
                  <a:srgbClr val="5A6472"/>
                </a:solidFill>
                <a:latin typeface="Calibri" pitchFamily="34" charset="0"/>
                <a:cs typeface="Amiri" pitchFamily="2" charset="-78"/>
              </a:rPr>
              <a:t>  TC-L06</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مُسْتَشْفًى</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hospital</a:t>
            </a:r>
            <a:pPr indent="0" marL="0">
              <a:buNone/>
            </a:pPr>
            <a:r>
              <a:rPr lang="en-US" sz="1000" i="1" dirty="0">
                <a:solidFill>
                  <a:srgbClr val="5A6472"/>
                </a:solidFill>
                <a:latin typeface="Calibri" pitchFamily="34" charset="0"/>
                <a:cs typeface="Amiri" pitchFamily="2" charset="-78"/>
              </a:rPr>
              <a:t>  TC-L08</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Revise your ? rows from the Topic C map and write one sentence for each.</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رَاجِعْ خُلَاصَةَ الوَحْدَةِ.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TC-L11 · play “Information Relay”, then revise the Topic C map (your ? rows).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6–8 sentences about your town in three tenses with three linking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TC-L11 · the application mission, then the 130–140-word writing task.</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43</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TC-L12 · Topic C Review and Four-Skills Assessment</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مُرَاجَعَةُ الوَحْدَةِ وَتَقْيِيمُ المَهَارَاتِ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TC-L11 · Topic C Integrated Communication Workshop</dc:title>
  <dc:subject>PptxGenJS Presentation</dc:subject>
  <dc:creator>Al Madina Online School · Arabic Department</dc:creator>
  <cp:lastModifiedBy>Al Madina Online School · Arabic Department</cp:lastModifiedBy>
  <cp:revision>1</cp:revision>
  <dcterms:created xsi:type="dcterms:W3CDTF">2026-10-11T06:44:03Z</dcterms:created>
  <dcterms:modified xsi:type="dcterms:W3CDTF">2026-10-11T06:44:03Z</dcterms:modified>
</cp:coreProperties>
</file>