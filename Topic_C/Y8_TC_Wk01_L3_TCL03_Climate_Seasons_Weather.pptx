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C › Lesson 3 (TC-L03). The website lesson reuses D4-L02 (Weather Patterns — Describing and Comparing Weather) with the Topic C focus “Understand forecasts and compare climate across regions and seasons” (grammar: weather expressions; comparatives; time frames). The four seasons come from the website Time &amp; Daily Routine vocabulary bank; the weather describing words come from the website lesson game “Weather Forecast”.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D4-L02 is A2–B1 language — a good match for this class. CORE: weather words, seasons and describing words (الطَّقْسُ حَارٌّ) + a verb that agrees with the weather (يَسْقُطُ المَطَرُ / تَسْقُطُ الثُّلُوجُ — the same blue WHO prefix as the morning-routine verbs). DEVELOP: comparisons أَكْثَرُ / أَقَلُّ + noun + مِنْ and temperatures. STRETCH: forecasts with مِنَ المُتَوَقَّعِ أَنْ + subjunctive.
• Transliteration and m./f. or sg./pl. forms on every Core card; a picture-match game with weather icons; a read-along forecast with English.
• Urdu bridge words (حرارت، رطوبت، برق، ہوا، خریف).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(Flipped Learning follow-up). Questions 3–5 retrieve TC-L02 and TC-L01.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weather is the subject: the verb’s first letter agrees with it — يَـ for masculine, تَـ for feminine.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general website objectives into this lesson’s concrete targets (website grammar rules 1–4).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حرارت (fever/heat), رطوبت (humidity), برق (lightning / electricity), ہوا (air, wind), خریف (the autumn crop season — in Arabic الخَرِيفُ is autumn).
Groups 1, 4, 5, 6 are the website D4-L02 vocabulary; Group 2 comes from the website game “Weather Forecast”; Group 3 from the website Time &amp; Daily Routine bank (seasons).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Weather phenomena (website D4-L02). Hear → Say → See → Use.
Gestures: fingers falling (rain), shiver (snow), blow (wind), circle overhead (sun), hands like a cloud, spin (storm).
The “tag” shows the gender that the VERB will need later: المَطَرُ (m.) → يَسْقُطُ; الثُّلُوجُ / الرِّيَاحُ / الشَّمْسُ (f.) → تَـ.
PRONUNCIATION: ث in الثُّلُوج is “th” as in “think”; ط in المَطَر is a heavy “ṭ”; ع in العَاصِفَة is the throat “ʿ”.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describing words (website lesson game “Weather Forecast”: الطَّقْسُ حَارٌّ وَمُشْمِسٌ · سَيَكُونُ الطَّقْسُ مُمْطِرًا وَعَاصِفًا · الطَّقْسُ بَارِدٌ جِدًّا; رَطْبٌ from the Natural World bank).
Core sentence pattern for today: الطَّقْسُ + describing word. الطَّقْسُ is masculine, so use the m. form.
Notice مُشْمِس comes from شَمْس and مُمْطِر from مَطَر — ask students to spot the root letters (Curiosity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seasons (website Time &amp; Daily Routine bank) and climate (website Natural World bank).
The boxes show two ways to say “in summer”: فِي الصَّيْفِ or صَيْفًا (the website model uses صَيْفًا and شِتَاءً). Core: learn فِي + season.
Website example: تَتَفَتَّحُ الأَزْهَارُ فِي الرَّبِيعِ = Flowers bloom in spring.
Difference: الطَّقْسُ (weather today) vs المُنَاخُ (climate — the usual weather of a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Forecast language (website D4-L02). The blue letter is the WHO prefix — exactly the idea from the morning-routine verbs: the first letter of the verb tells you who (here: which weather word) is doing the action.
Core: the first three rows. Develop: rows 1–6. Stretch: all eight.
Read each phrase as ONE chunk (website teaching point: “Read the whole Arabic message — use the complete phrase and its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Comparison and measurement (website D4-L02). Develop / Stretch.
Notice the ـًا ending in حَرَارَةً / رُطُوبَةً — the comparison needs a NOUN, not an adjective (website common mistake: أَكْثَرُ حَارٌّ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FLEX (website D4-L02 “Weather phenomena”). Teach if time allows; otherwise website vocabulary tab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 “Natural phenomena are grammatical subjects”: verb + weather subject. The verb agrees with the named phenomenon: المطر masculine; الثلوج and الرياح treated as feminine.
Think aloud: “Arabic starts with the verb. I look at the weather word: الرِّيَاح is feminine, so the verb starts with تَـ — the same blue WHO letter as in أَسْتَيْقِظُ / تَسْتَيْقِظُ.”
Core rule for today: المَطَرُ → يَـ ; everything else today → تَـ.
Misconception (website mistakes): يَسْقُطُ الثُّلُوجُ ✗, يَرْتَفِعُ دَرَجَةُ الحَرَارَةِ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the verb matches the weather word (2 min). Sentences from the website grammar quiz, rules and listening script.
Read each row aloud; students repeat the blue letter + verb.
Row 4 shows the future سَـ (time frames — Topic C grammar focus): سَتُشْرِقُ = will shine.
Check: thumbs-up if you can tell me the first letter for الثُّلُوجُ (تَـ).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website rule “Comparing weather”: أَكْثَرُ / أَقَلُّ + verbal noun + مِنْ. Use a comparison noun such as حرارةً، برودةً، رطوبةً.
Examples: website pattern (Cairo/London), quiz (Amman/Dubai), final check (Jeddah/Riyadh) and reading text (interior/coast).
Core: row 1 as a fixed chunk. Develop: all four, then make one about their own city. Stretch: combine with بَيْنَمَا (website speaking model).
Website common mistake: القَاهِرَةُ أَكْثَرُ حَارٌّ مِنْ لَنْدَنَ ✗ → أَكْثَرُ حَرَارَةً.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time frames (Topic C grammar focus) with website rule 4 “Forecasting”: مِنَ المُتَوَقَّعِ أَنْ + subjunctive present (after أن, a sound-ending present verb takes the subjunctive ending).
Examples from the website listening script (سَتُشْرِقُ، سَيَسْقُطُ المَطَرُ صَبَاحًا) and grammar rules.
• CORE: present only. • DEVELOP: add سَـ for tomorrow. • STRETCH: مِنَ المُتَوَقَّعِ أَنْ + fatḥa.
Common errors are the website “common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“Study each structure in context, compare accurate and inaccurate forms, then apply it in meaningful Arabic.”
Website common error: “Do not select a sentence merely because its words are familiar. Check meaning, agreement, governing prepositions and verb endings.”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and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teacher models with a think-aloud; students watch, then COPY the finished description into their books.
Step 1 — “I start with الطَّقْسُ and the place: فِي القَاهِرَةِ.”
Step 2 — “Two describing words from the game, and the season: حَارٌّ وَمُشْمِسٌ صَيْفًا.”
Step 3 — “A temperature: دَرَجَة is feminine, so تَرْتَفِعُ — then إِلَى ثَلَاثِينَ دَرَجَةً.”
Step 4 — “Compare: أَكْثَرُ حَرَارَةً مِنْ لَنْدَنَ — a noun ending in ـًا, never أَكْثَرُ حَارٌّ.”
Built from website language: lesson game (حَارٌّ وَمُشْمِسٌ), website rule examples (تَرْتَفِعُ دَرَجَةُ الحَرَارَةِ إِلَى ثَلَاثِينَ دَرَجَةً · القَاهِرَةُ أَكْثَرُ حَرَارَةً مِنْ لَنْدَنَ), website model (صَيْفًا).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lesson game, grammar quiz and rules. Students copy TWO that are useful for them.
• Core: copy 1 and 2 and change the weather/season. • Develop: copy 3 with two new cities. • Stretch: copy 4 and write another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(“Weather Forecast”)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حَارٌّ / مُشْمِسٌ (hot / sunny), مُمْطِرًا / عَاصِفًا (rainy / windy), بَارِدٌ / تَحْتَ الصِّفْرِ (cold / below zero). Sentence 2 uses the future سَيَكُونُ (will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(“Weather Forecast”)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حَارٌّ / مُشْمِسٌ (hot / sunny), مُمْطِرًا / عَاصِفًا (rainy / windy), بَارِدٌ / تَحْتَ الصِّفْرِ (cold / below zero). Sentence 2 uses the future سَيَكُونُ (will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sentences (listening script: تَهُبُّ رِيَاحٌ قَوِيَّةٌ مَسَاءً · سَيَسْقُطُ المَطَرُ صَبَاحًا; reading: الدَّاخِلُ أَكْثَرُ حَرَارَةً).
Students choose ONE box per column (start from Column 1 on the right) and type the letters, e.g. “1: B A B”. ↔ Rehearse 30s: whisper the full sentence first.
Core: sentences 1–2 (verb agreement). Develop/Stretch: sentence 3 and explain the wrong options.
Website builders (for fast finishers on the website): forecasts, temperature patterns and comparisons.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sentences (listening script: تَهُبُّ رِيَاحٌ قَوِيَّةٌ مَسَاءً · سَيَسْقُطُ المَطَرُ صَبَاحًا; reading: الدَّاخِلُ أَكْثَرُ حَرَارَةً).
Students choose ONE box per column (start from Column 1 on the right) and type the letters, e.g. “1: B A B”. ↔ Rehearse 30s: whisper the full sentence first.
Core: sentences 1–2 (verb agreement). Develop/Stretch: sentence 3 and explain the wrong options.
Website builders (for fast finishers on the website): forecasts, temperature patterns and comparisons.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Clue for Core: a tile with a VERB (يَـ / تَـ at the start) is forecast language.
On Teams: drag the tiles live or annotate. Develop: say the English for each forecast tile. Stretch: turn one tile into a forecast with سَـ.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Clue for Core: a tile with a VERB (يَـ / تَـ at the start) is forecast language.
On Teams: drag the tiles live or annotate. Develop: say the English for each forecast tile. Stretch: turn one tile into a forecast with سَـ.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5. Develop / Stretch: all 6.
Listen 1: just listen. Listen 2: note answers. Then chat the letters.
Support: after the second listening, show the read-along slide (Arabic + English, line by line) for Core students.
SCRIPT (read aloud):
مَرْحَبًا بِكُمْ فِي النَّشْرَةِ الجَوِّيَّةِ. فِي القَاهِرَةِ سَتُشْرِقُ الشَّمْسُ، وَسَتَرْتَفِعُ دَرَجَةُ الحَرَارَةِ إِلَى ثَلَاثٍ وَثَلَاثِينَ دَرَجَةً. أَمَّا فِي عَمَّانَ فَمِنَ المُتَوَقَّعِ أَنْ تَنْخَفِضَ دَرَجَةُ الحَرَارَةِ لَيْلًا إِلَى اثْنَتَيْ عَشْرَةَ دَرَجَةً. وَفِي الرِّبَاطِ سَيَسْقُطُ المَطَرُ صَبَاحًا، ثُمَّ تَهُبُّ رِيَاحٌ قَوِيَّةٌ مَسَاءً.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Core prompt (teacher-made; it is the preparation question): “What is the weather like today in your city?” — answered with the Core stem, e.g. الطَّقْسُ بَارِدٌ وَمُمْطِرٌ.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Use the vocabulary banks and sentence frames to produce four accurate connected sentences. · Develop — Use several target structures in a linked paragraph or sustained spoken answer. · Stretch — Evaluate, compare or qualify ideas using precise evidence and formal linking language.
Website writing task (Stretch): Write 100–120 Arabic words comparing weather in two Arabic-speaking cities or regions.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Evidence: تَرْتَفِعُ دَرَجَةُ الحَرَارَةِ صَيْفًا · أَرْبَعِينَ دَرَجَةً مِئَوِيَّةً · أَكْثَرُ بُرُودَةً · مِنَ المُتَوَقَّعِ أَنْ تَسْقُطَ الثُّلُوجُ.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(TC-L04 · Environmental Problems and Their Causes) will spend class time USING this language, so students prepare it tonight — short, simple, easy to access (school guidance: “Simple, Short, Interesting, Relevant, Easy to access”). The five words come from the website D4-L03 vocabulary (Environmental problems; Cause and effect) and the Natural World bank.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8  ·  ADVANCED TOPIC C  ·  WEEK 1  ·  LESSON 3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TC-L03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650" b="1" dirty="0">
                <a:solidFill>
                  <a:srgbClr val="FFFFFF"/>
                </a:solidFill>
                <a:latin typeface="Cambria" pitchFamily="34" charset="0"/>
                <a:ea typeface="Cambria" pitchFamily="34" charset="-122"/>
                <a:cs typeface="Cambria" pitchFamily="34" charset="-120"/>
              </a:rPr>
              <a:t>Climate, Seasons and Weather</a:t>
            </a:r>
            <a:endParaRPr lang="en-US" sz="3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المُنَاخُ وَالفُصُولُ وَالطَّقْسُ</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Understand forecasts and compare climate across regions and seasons: weather words, verbs that agree with the weather (</a:t>
            </a:r>
            <a:pPr algn="l" indent="0" marL="0">
              <a:buNone/>
            </a:pPr>
            <a:r>
              <a:rPr lang="ar-SA" altLang="en-US" sz="1800" dirty="0">
                <a:solidFill>
                  <a:srgbClr val="C6D2E6"/>
                </a:solidFill>
                <a:latin typeface="Amiri" pitchFamily="34" charset="0"/>
                <a:ea typeface="Amiri" pitchFamily="34" charset="-122"/>
                <a:cs typeface="Amiri" pitchFamily="34" charset="-120"/>
              </a:rPr>
              <a:t>تَسْقُطُ الثُّلُوجُ</a:t>
            </a:r>
            <a:pPr algn="l" indent="0" marL="0">
              <a:buNone/>
            </a:pPr>
            <a:r>
              <a:rPr lang="en-US" sz="1400" dirty="0">
                <a:solidFill>
                  <a:srgbClr val="C6D2E6"/>
                </a:solidFill>
                <a:latin typeface="Calibri" pitchFamily="34" charset="0"/>
                <a:ea typeface="Calibri" pitchFamily="34" charset="-122"/>
                <a:cs typeface="Calibri" pitchFamily="34" charset="-120"/>
              </a:rPr>
              <a:t>), comparisons (</a:t>
            </a:r>
            <a:pPr algn="l" indent="0" marL="0">
              <a:buNone/>
            </a:pPr>
            <a:r>
              <a:rPr lang="ar-SA" altLang="en-US" sz="1800" dirty="0">
                <a:solidFill>
                  <a:srgbClr val="C6D2E6"/>
                </a:solidFill>
                <a:latin typeface="Amiri" pitchFamily="34" charset="0"/>
                <a:ea typeface="Amiri" pitchFamily="34" charset="-122"/>
                <a:cs typeface="Amiri" pitchFamily="34" charset="-120"/>
              </a:rPr>
              <a:t>أَكْثَرُ حَرَارَةً مِنْ</a:t>
            </a:r>
            <a:pPr algn="l" indent="0" marL="0">
              <a:buNone/>
            </a:pPr>
            <a:r>
              <a:rPr lang="en-US" sz="1400" dirty="0">
                <a:solidFill>
                  <a:srgbClr val="C6D2E6"/>
                </a:solidFill>
                <a:latin typeface="Calibri" pitchFamily="34" charset="0"/>
                <a:ea typeface="Calibri" pitchFamily="34" charset="-122"/>
                <a:cs typeface="Calibri" pitchFamily="34" charset="-120"/>
              </a:rPr>
              <a:t>) and the future.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TC-L03 · Week 1, lesson 3</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Advanced Topics › C › Lesson 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48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Weather words and seasons, then verbs and comparisons.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Picture match, build, sort, fix and listen to a forecast.</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TC-L04.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48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“weather”?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مُنَاخٌ</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طَقْسٌ</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فَصْلٌ</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“cold”?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بَارِدٌ</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مَطَرٌ</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جَبَلٌ</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phrase.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غَابَةٌ اسْتِوَائِيٌّ</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اسْتِوَائِيَّةٌ غَابَةٌ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غَابَةٌ اسْتِوَائِيَّةٌ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does this mean?</a:t>
            </a:r>
            <a:endParaRPr lang="en-US" sz="1200" dirty="0"/>
          </a:p>
        </p:txBody>
      </p:sp>
      <p:sp>
        <p:nvSpPr>
          <p:cNvPr id="58" name="Text 55"/>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34" charset="0"/>
                <a:ea typeface="Amiri" pitchFamily="34" charset="-122"/>
                <a:cs typeface="Amiri" pitchFamily="34" charset="-120"/>
              </a:rPr>
              <a:t>تَعِيشُ الأَسْمَاكُ فِي البَحْرِ.</a:t>
            </a:r>
            <a:endParaRPr lang="ar-SA" sz="140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Fish swim in the river.</a:t>
            </a:r>
            <a:endParaRPr lang="en-US" sz="12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Camels live in the desert.</a:t>
            </a:r>
            <a:endParaRPr lang="en-US" sz="12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Fish live in the sea.</a:t>
            </a:r>
            <a:endParaRPr lang="en-US" sz="12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continent is Egypt in?</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أَفْرِيقِيَا</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آسِيَا</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أُورُوبَّا</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48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“weather”?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مُنَاخٌ</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طَقْسٌ</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فَصْلٌ</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طَقْسٌ</a:t>
            </a:r>
            <a:pPr algn="l" indent="0" marL="0">
              <a:buNone/>
            </a:pPr>
            <a:r>
              <a:rPr lang="en-US" sz="1050" i="1" dirty="0">
                <a:solidFill>
                  <a:srgbClr val="8A6D1E"/>
                </a:solidFill>
                <a:latin typeface="Calibri" pitchFamily="34" charset="0"/>
                <a:ea typeface="Calibri" pitchFamily="34" charset="-122"/>
                <a:cs typeface="Calibri" pitchFamily="34" charset="-120"/>
              </a:rPr>
              <a:t> = weather · </a:t>
            </a:r>
            <a:pPr algn="l" indent="0" marL="0">
              <a:buNone/>
            </a:pPr>
            <a:r>
              <a:rPr lang="ar-SA" altLang="en-US" sz="1350" dirty="0">
                <a:solidFill>
                  <a:srgbClr val="8A6D1E"/>
                </a:solidFill>
                <a:latin typeface="Amiri" pitchFamily="34" charset="0"/>
                <a:ea typeface="Amiri" pitchFamily="34" charset="-122"/>
                <a:cs typeface="Amiri" pitchFamily="34" charset="-120"/>
              </a:rPr>
              <a:t>مُنَاخٌ</a:t>
            </a:r>
            <a:pPr algn="l" indent="0" marL="0">
              <a:buNone/>
            </a:pPr>
            <a:r>
              <a:rPr lang="en-US" sz="1050" i="1" dirty="0">
                <a:solidFill>
                  <a:srgbClr val="8A6D1E"/>
                </a:solidFill>
                <a:latin typeface="Calibri" pitchFamily="34" charset="0"/>
                <a:ea typeface="Calibri" pitchFamily="34" charset="-122"/>
                <a:cs typeface="Calibri" pitchFamily="34" charset="-120"/>
              </a:rPr>
              <a:t> = climate · </a:t>
            </a:r>
            <a:pPr algn="l" indent="0" marL="0">
              <a:buNone/>
            </a:pPr>
            <a:r>
              <a:rPr lang="ar-SA" altLang="en-US" sz="1350" dirty="0">
                <a:solidFill>
                  <a:srgbClr val="8A6D1E"/>
                </a:solidFill>
                <a:latin typeface="Amiri" pitchFamily="34" charset="0"/>
                <a:ea typeface="Amiri" pitchFamily="34" charset="-122"/>
                <a:cs typeface="Amiri" pitchFamily="34" charset="-120"/>
              </a:rPr>
              <a:t>فَصْلٌ</a:t>
            </a:r>
            <a:pPr algn="l" indent="0" marL="0">
              <a:buNone/>
            </a:pPr>
            <a:r>
              <a:rPr lang="en-US" sz="1050" i="1" dirty="0">
                <a:solidFill>
                  <a:srgbClr val="8A6D1E"/>
                </a:solidFill>
                <a:latin typeface="Calibri" pitchFamily="34" charset="0"/>
                <a:ea typeface="Calibri" pitchFamily="34" charset="-122"/>
                <a:cs typeface="Calibri" pitchFamily="34" charset="-120"/>
              </a:rPr>
              <a:t> = season.</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“cold”?</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بَارِدٌ</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مَطَرٌ</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جَبَلٌ</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بَارِدٌ</a:t>
            </a:r>
            <a:pPr algn="l" indent="0" marL="0">
              <a:buNone/>
            </a:pPr>
            <a:r>
              <a:rPr lang="en-US" sz="1050" i="1" dirty="0">
                <a:solidFill>
                  <a:srgbClr val="8A6D1E"/>
                </a:solidFill>
                <a:latin typeface="Calibri" pitchFamily="34" charset="0"/>
                <a:ea typeface="Calibri" pitchFamily="34" charset="-122"/>
                <a:cs typeface="Calibri" pitchFamily="34" charset="-120"/>
              </a:rPr>
              <a:t> = cold (f. </a:t>
            </a:r>
            <a:pPr algn="l" indent="0" marL="0">
              <a:buNone/>
            </a:pPr>
            <a:r>
              <a:rPr lang="ar-SA" altLang="en-US" sz="1350" dirty="0">
                <a:solidFill>
                  <a:srgbClr val="8A6D1E"/>
                </a:solidFill>
                <a:latin typeface="Amiri" pitchFamily="34" charset="0"/>
                <a:ea typeface="Amiri" pitchFamily="34" charset="-122"/>
                <a:cs typeface="Amiri" pitchFamily="34" charset="-120"/>
              </a:rPr>
              <a:t>بَارِدَةٌ</a:t>
            </a:r>
            <a:pPr algn="l" indent="0" marL="0">
              <a:buNone/>
            </a:pPr>
            <a:r>
              <a:rPr lang="en-US" sz="1050" i="1" dirty="0">
                <a:solidFill>
                  <a:srgbClr val="8A6D1E"/>
                </a:solidFill>
                <a:latin typeface="Calibri" pitchFamily="34" charset="0"/>
                <a:ea typeface="Calibri" pitchFamily="34" charset="-122"/>
                <a:cs typeface="Calibri" pitchFamily="34" charset="-120"/>
              </a:rPr>
              <a:t>) · </a:t>
            </a:r>
            <a:pPr algn="l" indent="0" marL="0">
              <a:buNone/>
            </a:pPr>
            <a:r>
              <a:rPr lang="ar-SA" altLang="en-US" sz="1350" dirty="0">
                <a:solidFill>
                  <a:srgbClr val="8A6D1E"/>
                </a:solidFill>
                <a:latin typeface="Amiri" pitchFamily="34" charset="0"/>
                <a:ea typeface="Amiri" pitchFamily="34" charset="-122"/>
                <a:cs typeface="Amiri" pitchFamily="34" charset="-120"/>
              </a:rPr>
              <a:t>مَطَرٌ</a:t>
            </a:r>
            <a:pPr algn="l" indent="0" marL="0">
              <a:buNone/>
            </a:pPr>
            <a:r>
              <a:rPr lang="en-US" sz="1050" i="1" dirty="0">
                <a:solidFill>
                  <a:srgbClr val="8A6D1E"/>
                </a:solidFill>
                <a:latin typeface="Calibri" pitchFamily="34" charset="0"/>
                <a:ea typeface="Calibri" pitchFamily="34" charset="-122"/>
                <a:cs typeface="Calibri" pitchFamily="34" charset="-120"/>
              </a:rPr>
              <a:t> = rain · </a:t>
            </a:r>
            <a:pPr algn="l" indent="0" marL="0">
              <a:buNone/>
            </a:pPr>
            <a:r>
              <a:rPr lang="ar-SA" altLang="en-US" sz="1350" dirty="0">
                <a:solidFill>
                  <a:srgbClr val="8A6D1E"/>
                </a:solidFill>
                <a:latin typeface="Amiri" pitchFamily="34" charset="0"/>
                <a:ea typeface="Amiri" pitchFamily="34" charset="-122"/>
                <a:cs typeface="Amiri" pitchFamily="34" charset="-120"/>
              </a:rPr>
              <a:t>جَبَلٌ</a:t>
            </a:r>
            <a:pPr algn="l" indent="0" marL="0">
              <a:buNone/>
            </a:pPr>
            <a:r>
              <a:rPr lang="en-US" sz="1050" i="1" dirty="0">
                <a:solidFill>
                  <a:srgbClr val="8A6D1E"/>
                </a:solidFill>
                <a:latin typeface="Calibri" pitchFamily="34" charset="0"/>
                <a:ea typeface="Calibri" pitchFamily="34" charset="-122"/>
                <a:cs typeface="Calibri" pitchFamily="34" charset="-120"/>
              </a:rPr>
              <a:t> = mountain.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phrase.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غَابَةٌ اسْتِوَائِيٌّ</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اسْتِوَائِيَّةٌ غَابَةٌ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غَابَةٌ اسْتِوَائِيَّةٌ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TC-L02: the describing word comes after the noun and agrees (f. → </a:t>
            </a:r>
            <a:pPr algn="l" indent="0" marL="0">
              <a:buNone/>
            </a:pPr>
            <a:r>
              <a:rPr lang="ar-SA" altLang="en-US" sz="1350" dirty="0">
                <a:solidFill>
                  <a:srgbClr val="8A6D1E"/>
                </a:solidFill>
                <a:latin typeface="Amiri" pitchFamily="34" charset="0"/>
                <a:ea typeface="Amiri" pitchFamily="34" charset="-122"/>
                <a:cs typeface="Amiri" pitchFamily="34" charset="-120"/>
              </a:rPr>
              <a:t>ـِيَّةٌ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does this mean?</a:t>
            </a:r>
            <a:endParaRPr lang="en-US" sz="1200" dirty="0"/>
          </a:p>
        </p:txBody>
      </p:sp>
      <p:sp>
        <p:nvSpPr>
          <p:cNvPr id="64" name="Text 61"/>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34" charset="0"/>
                <a:ea typeface="Amiri" pitchFamily="34" charset="-122"/>
                <a:cs typeface="Amiri" pitchFamily="34" charset="-120"/>
              </a:rPr>
              <a:t>تَعِيشُ الأَسْمَاكُ فِي البَحْرِ.</a:t>
            </a:r>
            <a:endParaRPr lang="ar-SA" sz="140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Fish swim in the river.</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Camels live in the desert.</a:t>
            </a:r>
            <a:endParaRPr lang="en-US" sz="125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Fish live in the sea.</a:t>
            </a:r>
            <a:endParaRPr lang="en-US" sz="125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TC-L02 website game: </a:t>
            </a:r>
            <a:pPr algn="l" indent="0" marL="0">
              <a:buNone/>
            </a:pPr>
            <a:r>
              <a:rPr lang="ar-SA" altLang="en-US" sz="1350" dirty="0">
                <a:solidFill>
                  <a:srgbClr val="8A6D1E"/>
                </a:solidFill>
                <a:latin typeface="Amiri" pitchFamily="34" charset="0"/>
                <a:ea typeface="Amiri" pitchFamily="34" charset="-122"/>
                <a:cs typeface="Amiri" pitchFamily="34" charset="-120"/>
              </a:rPr>
              <a:t>تَعِيشُ</a:t>
            </a:r>
            <a:pPr algn="l" indent="0" marL="0">
              <a:buNone/>
            </a:pPr>
            <a:r>
              <a:rPr lang="en-US" sz="1050" i="1" dirty="0">
                <a:solidFill>
                  <a:srgbClr val="8A6D1E"/>
                </a:solidFill>
                <a:latin typeface="Calibri" pitchFamily="34" charset="0"/>
                <a:ea typeface="Calibri" pitchFamily="34" charset="-122"/>
                <a:cs typeface="Calibri" pitchFamily="34" charset="-120"/>
              </a:rPr>
              <a:t> = (they) live.</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continent is Egypt in?</a:t>
            </a:r>
            <a:endParaRPr lang="en-US"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أَفْرِيقِيَا</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آسِيَا</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أُورُوبَّا</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TC-L01: </a:t>
            </a:r>
            <a:pPr algn="l" indent="0" marL="0">
              <a:buNone/>
            </a:pPr>
            <a:r>
              <a:rPr lang="ar-SA" altLang="en-US" sz="1350" dirty="0">
                <a:solidFill>
                  <a:srgbClr val="8A6D1E"/>
                </a:solidFill>
                <a:latin typeface="Amiri" pitchFamily="34" charset="0"/>
                <a:ea typeface="Amiri" pitchFamily="34" charset="-122"/>
                <a:cs typeface="Amiri" pitchFamily="34" charset="-120"/>
              </a:rPr>
              <a:t>مِصْرُ فِي أَفْرِيقِيَا</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The weather is the subject: the verb’s first letter agrees with it — </a:t>
            </a:r>
            <a:pPr algn="l" indent="0" marL="0">
              <a:buNone/>
            </a:pPr>
            <a:r>
              <a:rPr lang="ar-SA" altLang="en-US" sz="1700" b="1" dirty="0">
                <a:solidFill>
                  <a:srgbClr val="1F2A37"/>
                </a:solidFill>
                <a:latin typeface="Amiri" pitchFamily="34" charset="0"/>
                <a:ea typeface="Amiri" pitchFamily="34" charset="-122"/>
                <a:cs typeface="Amiri" pitchFamily="34" charset="-120"/>
              </a:rPr>
              <a:t>يَـ</a:t>
            </a:r>
            <a:pPr algn="l" indent="0" marL="0">
              <a:buNone/>
            </a:pPr>
            <a:r>
              <a:rPr lang="en-US" sz="1300" b="1" dirty="0">
                <a:solidFill>
                  <a:srgbClr val="1F2A37"/>
                </a:solidFill>
                <a:latin typeface="Calibri" pitchFamily="34" charset="0"/>
                <a:ea typeface="Calibri" pitchFamily="34" charset="-122"/>
                <a:cs typeface="Calibri" pitchFamily="34" charset="-120"/>
              </a:rPr>
              <a:t> for masculine, </a:t>
            </a:r>
            <a:pPr algn="l" indent="0" marL="0">
              <a:buNone/>
            </a:pPr>
            <a:r>
              <a:rPr lang="ar-SA" altLang="en-US" sz="1700" b="1" dirty="0">
                <a:solidFill>
                  <a:srgbClr val="1F2A37"/>
                </a:solidFill>
                <a:latin typeface="Amiri" pitchFamily="34" charset="0"/>
                <a:ea typeface="Amiri" pitchFamily="34" charset="-122"/>
                <a:cs typeface="Amiri" pitchFamily="34" charset="-120"/>
              </a:rPr>
              <a:t>تَـ</a:t>
            </a:r>
            <a:pPr algn="l" indent="0" marL="0">
              <a:buNone/>
            </a:pPr>
            <a:r>
              <a:rPr lang="en-US" sz="1300" b="1" dirty="0">
                <a:solidFill>
                  <a:srgbClr val="1F2A37"/>
                </a:solidFill>
                <a:latin typeface="Calibri" pitchFamily="34" charset="0"/>
                <a:ea typeface="Calibri" pitchFamily="34" charset="-122"/>
                <a:cs typeface="Calibri" pitchFamily="34" charset="-120"/>
              </a:rPr>
              <a:t> for feminine.</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يَ</a:t>
            </a:r>
            <a:pPr rtl="1" algn="ctr" indent="0" marL="0">
              <a:buNone/>
            </a:pPr>
            <a:r>
              <a:rPr lang="ar-SA" altLang="en-US" sz="2400" b="1" dirty="0">
                <a:solidFill>
                  <a:srgbClr val="1B3B6F"/>
                </a:solidFill>
                <a:latin typeface="Amiri" pitchFamily="34" charset="0"/>
                <a:ea typeface="Amiri" pitchFamily="34" charset="-122"/>
                <a:cs typeface="Amiri" pitchFamily="34" charset="-120"/>
              </a:rPr>
              <a:t>سْقُطُ المَطَرُ  ·  </a:t>
            </a:r>
            <a:pPr rtl="1" algn="ctr" indent="0" marL="0">
              <a:buNone/>
            </a:pPr>
            <a:r>
              <a:rPr lang="ar-SA" altLang="en-US" sz="2400" b="1" dirty="0">
                <a:solidFill>
                  <a:srgbClr val="1D5FBF"/>
                </a:solidFill>
                <a:latin typeface="Amiri" pitchFamily="34" charset="0"/>
                <a:ea typeface="Amiri" pitchFamily="34" charset="-122"/>
                <a:cs typeface="Amiri" pitchFamily="34" charset="-120"/>
              </a:rPr>
              <a:t>تَ</a:t>
            </a:r>
            <a:pPr rtl="1" algn="ctr" indent="0" marL="0">
              <a:buNone/>
            </a:pPr>
            <a:r>
              <a:rPr lang="ar-SA" altLang="en-US" sz="2400" b="1" dirty="0">
                <a:solidFill>
                  <a:srgbClr val="1B3B6F"/>
                </a:solidFill>
                <a:latin typeface="Amiri" pitchFamily="34" charset="0"/>
                <a:ea typeface="Amiri" pitchFamily="34" charset="-122"/>
                <a:cs typeface="Amiri" pitchFamily="34" charset="-120"/>
              </a:rPr>
              <a:t>سْقُطُ الثُّلُوجُ</a:t>
            </a:r>
            <a:endParaRPr lang="ar-SA" sz="24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48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3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Understand and use the full lesson vocabulary in connected Arabic.</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Explain and apply the target grammar accurately.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Extract exact information from listening and reading texts.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Produce a developed intermediate spoken and written response.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say the weather and the season: </a:t>
            </a:r>
            <a:pPr algn="l" indent="0" marL="0">
              <a:buNone/>
            </a:pPr>
            <a:r>
              <a:rPr lang="ar-SA" altLang="en-US" sz="1700" b="1" dirty="0">
                <a:solidFill>
                  <a:srgbClr val="2E8B57"/>
                </a:solidFill>
                <a:latin typeface="Amiri" pitchFamily="34" charset="0"/>
                <a:ea typeface="Amiri" pitchFamily="34" charset="-122"/>
                <a:cs typeface="Amiri" pitchFamily="34" charset="-120"/>
              </a:rPr>
              <a:t>الطَّقْسُ حَارٌّ فِي الصَّيْفِ</a:t>
            </a:r>
            <a:pPr algn="l" indent="0" marL="0">
              <a:buNone/>
            </a:pPr>
            <a:r>
              <a:rPr lang="en-US" sz="1300" b="1" dirty="0">
                <a:solidFill>
                  <a:srgbClr val="2E8B57"/>
                </a:solidFill>
                <a:latin typeface="Calibri" pitchFamily="34" charset="0"/>
                <a:ea typeface="Calibri" pitchFamily="34" charset="-122"/>
                <a:cs typeface="Calibri" pitchFamily="34" charset="-120"/>
              </a:rPr>
              <a: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use the right verb: </a:t>
            </a:r>
            <a:pPr algn="l" indent="0" marL="0">
              <a:buNone/>
            </a:pPr>
            <a:r>
              <a:rPr lang="ar-SA" altLang="en-US" sz="1700" b="1" dirty="0">
                <a:solidFill>
                  <a:srgbClr val="2E8B57"/>
                </a:solidFill>
                <a:latin typeface="Amiri" pitchFamily="34" charset="0"/>
                <a:ea typeface="Amiri" pitchFamily="34" charset="-122"/>
                <a:cs typeface="Amiri" pitchFamily="34" charset="-120"/>
              </a:rPr>
              <a:t>يَسْقُطُ المَطَرُ / تَسْقُطُ الثُّلُوجُ</a:t>
            </a:r>
            <a:pPr algn="l" indent="0" marL="0">
              <a:buNone/>
            </a:pPr>
            <a:r>
              <a:rPr lang="en-US" sz="1300" b="1" dirty="0">
                <a:solidFill>
                  <a:srgbClr val="2E8B57"/>
                </a:solidFill>
                <a:latin typeface="Calibri" pitchFamily="34" charset="0"/>
                <a:ea typeface="Calibri" pitchFamily="34" charset="-122"/>
                <a:cs typeface="Calibri" pitchFamily="34" charset="-120"/>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compare two places: </a:t>
            </a:r>
            <a:pPr algn="l" indent="0" marL="0">
              <a:buNone/>
            </a:pPr>
            <a:r>
              <a:rPr lang="ar-SA" altLang="en-US" sz="1700" b="1" dirty="0">
                <a:solidFill>
                  <a:srgbClr val="C9780A"/>
                </a:solidFill>
                <a:latin typeface="Amiri" pitchFamily="34" charset="0"/>
                <a:ea typeface="Amiri" pitchFamily="34" charset="-122"/>
                <a:cs typeface="Amiri" pitchFamily="34" charset="-120"/>
              </a:rPr>
              <a:t>القَاهِرَةُ أَكْثَرُ حَرَارَةً مِنْ لَنْدَنَ</a:t>
            </a:r>
            <a:pPr algn="l" indent="0" marL="0">
              <a:buNone/>
            </a:pPr>
            <a:r>
              <a:rPr lang="en-US" sz="1300" b="1" dirty="0">
                <a:solidFill>
                  <a:srgbClr val="C9780A"/>
                </a:solidFill>
                <a:latin typeface="Calibri" pitchFamily="34" charset="0"/>
                <a:ea typeface="Calibri" pitchFamily="34" charset="-122"/>
                <a:cs typeface="Calibri" pitchFamily="34" charset="-120"/>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give a temperature: </a:t>
            </a:r>
            <a:pPr algn="l" indent="0" marL="0">
              <a:buNone/>
            </a:pPr>
            <a:r>
              <a:rPr lang="ar-SA" altLang="en-US" sz="1700" b="1" dirty="0">
                <a:solidFill>
                  <a:srgbClr val="C9780A"/>
                </a:solidFill>
                <a:latin typeface="Amiri" pitchFamily="34" charset="0"/>
                <a:ea typeface="Amiri" pitchFamily="34" charset="-122"/>
                <a:cs typeface="Amiri" pitchFamily="34" charset="-120"/>
              </a:rPr>
              <a:t>تَرْتَفِعُ دَرَجَةُ الحَرَارَةِ إِلَى</a:t>
            </a:r>
            <a:pPr algn="l" indent="0" marL="0">
              <a:buNone/>
            </a:pPr>
            <a:r>
              <a:rPr lang="en-US" sz="1300" b="1" dirty="0">
                <a:solidFill>
                  <a:srgbClr val="C9780A"/>
                </a:solidFill>
                <a:latin typeface="Calibri" pitchFamily="34" charset="0"/>
                <a:ea typeface="Calibri" pitchFamily="34" charset="-122"/>
                <a:cs typeface="Calibri" pitchFamily="34" charset="-120"/>
              </a:rPr>
              <a:t> …</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forecast: </a:t>
            </a:r>
            <a:pPr algn="l" indent="0" marL="0">
              <a:buNone/>
            </a:pPr>
            <a:r>
              <a:rPr lang="ar-SA" altLang="en-US" sz="1700" b="1" dirty="0">
                <a:solidFill>
                  <a:srgbClr val="B83227"/>
                </a:solidFill>
                <a:latin typeface="Amiri" pitchFamily="34" charset="0"/>
                <a:ea typeface="Amiri" pitchFamily="34" charset="-122"/>
                <a:cs typeface="Amiri" pitchFamily="34" charset="-120"/>
              </a:rPr>
              <a:t>مِنَ المُتَوَقَّعِ أَنْ تَنْخَفِضَ دَرَجَةُ الحَرَارَةِ</a:t>
            </a:r>
            <a:pPr algn="l" indent="0" marL="0">
              <a:buNone/>
            </a:pPr>
            <a:r>
              <a:rPr lang="en-US" sz="1300" b="1" dirty="0">
                <a:solidFill>
                  <a:srgbClr val="B83227"/>
                </a:solidFill>
                <a:latin typeface="Calibri" pitchFamily="34" charset="0"/>
                <a:ea typeface="Calibri" pitchFamily="34" charset="-122"/>
                <a:cs typeface="Calibri" pitchFamily="34" charset="-120"/>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write 100–120 words comparing two cities.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48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36 words from the website in 6 groups. Learn the CORE words first. Hear it → say it → see it → use it.</a:t>
            </a:r>
            <a:endParaRPr lang="en-US" sz="1600" dirty="0"/>
          </a:p>
        </p:txBody>
      </p:sp>
      <p:sp>
        <p:nvSpPr>
          <p:cNvPr id="8" name="Shape 6"/>
          <p:cNvSpPr/>
          <p:nvPr/>
        </p:nvSpPr>
        <p:spPr>
          <a:xfrm>
            <a:off x="457200" y="4572000"/>
            <a:ext cx="11963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922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Weather · 6</a:t>
            </a:r>
            <a:endParaRPr lang="en-US" sz="900" dirty="0"/>
          </a:p>
        </p:txBody>
      </p:sp>
      <p:sp>
        <p:nvSpPr>
          <p:cNvPr id="10" name="Shape 8"/>
          <p:cNvSpPr/>
          <p:nvPr/>
        </p:nvSpPr>
        <p:spPr>
          <a:xfrm>
            <a:off x="1790700" y="4572000"/>
            <a:ext cx="11963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1927860" y="4617720"/>
            <a:ext cx="922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Describing · 6</a:t>
            </a:r>
            <a:endParaRPr lang="en-US" sz="900" dirty="0"/>
          </a:p>
        </p:txBody>
      </p:sp>
      <p:sp>
        <p:nvSpPr>
          <p:cNvPr id="12" name="Shape 10"/>
          <p:cNvSpPr/>
          <p:nvPr/>
        </p:nvSpPr>
        <p:spPr>
          <a:xfrm>
            <a:off x="3124200" y="4572000"/>
            <a:ext cx="11963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3261360" y="4617720"/>
            <a:ext cx="922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Seasons · 6</a:t>
            </a:r>
            <a:endParaRPr lang="en-US" sz="900" dirty="0"/>
          </a:p>
        </p:txBody>
      </p:sp>
      <p:sp>
        <p:nvSpPr>
          <p:cNvPr id="14" name="Shape 12"/>
          <p:cNvSpPr/>
          <p:nvPr/>
        </p:nvSpPr>
        <p:spPr>
          <a:xfrm>
            <a:off x="4457700" y="4572000"/>
            <a:ext cx="119634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4594860" y="4617720"/>
            <a:ext cx="922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4</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Forecast · 8</a:t>
            </a:r>
            <a:endParaRPr lang="en-US" sz="900" dirty="0"/>
          </a:p>
        </p:txBody>
      </p:sp>
      <p:sp>
        <p:nvSpPr>
          <p:cNvPr id="16" name="Shape 14"/>
          <p:cNvSpPr/>
          <p:nvPr/>
        </p:nvSpPr>
        <p:spPr>
          <a:xfrm>
            <a:off x="5791200" y="4572000"/>
            <a:ext cx="1196340" cy="960120"/>
          </a:xfrm>
          <a:prstGeom prst="roundRect">
            <a:avLst>
              <a:gd name="adj" fmla="val 7619"/>
            </a:avLst>
          </a:prstGeom>
          <a:solidFill>
            <a:srgbClr val="16335F"/>
          </a:solidFill>
          <a:ln w="12700">
            <a:solidFill>
              <a:srgbClr val="2A4B7C"/>
            </a:solidFill>
            <a:prstDash val="solid"/>
          </a:ln>
        </p:spPr>
      </p:sp>
      <p:sp>
        <p:nvSpPr>
          <p:cNvPr id="17" name="Text 15"/>
          <p:cNvSpPr txBox="1"/>
          <p:nvPr/>
        </p:nvSpPr>
        <p:spPr>
          <a:xfrm>
            <a:off x="5928360" y="4617720"/>
            <a:ext cx="922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5</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Comparing · 6</a:t>
            </a:r>
            <a:endParaRPr lang="en-US" sz="900" dirty="0"/>
          </a:p>
        </p:txBody>
      </p:sp>
      <p:sp>
        <p:nvSpPr>
          <p:cNvPr id="18" name="Shape 16"/>
          <p:cNvSpPr/>
          <p:nvPr/>
        </p:nvSpPr>
        <p:spPr>
          <a:xfrm>
            <a:off x="7124700" y="4572000"/>
            <a:ext cx="1196340" cy="960120"/>
          </a:xfrm>
          <a:prstGeom prst="roundRect">
            <a:avLst>
              <a:gd name="adj" fmla="val 7619"/>
            </a:avLst>
          </a:prstGeom>
          <a:solidFill>
            <a:srgbClr val="0D1F3C"/>
          </a:solidFill>
          <a:ln w="12700">
            <a:solidFill>
              <a:srgbClr val="7E92B4"/>
            </a:solidFill>
            <a:prstDash val="dash"/>
          </a:ln>
        </p:spPr>
      </p:sp>
      <p:sp>
        <p:nvSpPr>
          <p:cNvPr id="19" name="Text 17"/>
          <p:cNvSpPr txBox="1"/>
          <p:nvPr/>
        </p:nvSpPr>
        <p:spPr>
          <a:xfrm>
            <a:off x="7261860" y="4617720"/>
            <a:ext cx="922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6 · FLEX</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More · 4</a:t>
            </a:r>
            <a:endParaRPr lang="en-US" sz="900" dirty="0"/>
          </a:p>
        </p:txBody>
      </p:sp>
      <p:sp>
        <p:nvSpPr>
          <p:cNvPr id="20" name="Shape 18"/>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21" name="Text 19"/>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22" name="Text 20"/>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حَرَارَةٌ</a:t>
            </a:r>
            <a:endParaRPr lang="ar-SA" sz="1900" dirty="0"/>
          </a:p>
        </p:txBody>
      </p:sp>
      <p:sp>
        <p:nvSpPr>
          <p:cNvPr id="23" name="Text 21"/>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‎حرارت‎ </a:t>
            </a:r>
            <a:pPr indent="0" marL="0">
              <a:buNone/>
            </a:pPr>
            <a:r>
              <a:rPr lang="en-US" sz="950" b="1" dirty="0">
                <a:solidFill>
                  <a:srgbClr val="2E8B57"/>
                </a:solidFill>
                <a:latin typeface="Calibri" pitchFamily="34" charset="0"/>
                <a:ea typeface="Calibri" pitchFamily="34" charset="-122"/>
                <a:cs typeface="Calibri" pitchFamily="34" charset="-120"/>
              </a:rPr>
              <a:t> ḥarārat · heat</a:t>
            </a:r>
            <a:endParaRPr lang="en-US" sz="1400" dirty="0"/>
          </a:p>
        </p:txBody>
      </p:sp>
      <p:sp>
        <p:nvSpPr>
          <p:cNvPr id="24" name="Text 22"/>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رُطُوبَةٌ</a:t>
            </a:r>
            <a:endParaRPr lang="ar-SA" sz="1900" dirty="0"/>
          </a:p>
        </p:txBody>
      </p:sp>
      <p:sp>
        <p:nvSpPr>
          <p:cNvPr id="25" name="Text 23"/>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‎رطوبت‎ </a:t>
            </a:r>
            <a:pPr indent="0" marL="0">
              <a:buNone/>
            </a:pPr>
            <a:r>
              <a:rPr lang="en-US" sz="950" b="1" dirty="0">
                <a:solidFill>
                  <a:srgbClr val="2E8B57"/>
                </a:solidFill>
                <a:latin typeface="Calibri" pitchFamily="34" charset="0"/>
                <a:ea typeface="Calibri" pitchFamily="34" charset="-122"/>
                <a:cs typeface="Calibri" pitchFamily="34" charset="-120"/>
              </a:rPr>
              <a:t> ruṭūbat · humidity</a:t>
            </a:r>
            <a:endParaRPr lang="en-US" sz="1400" dirty="0"/>
          </a:p>
        </p:txBody>
      </p:sp>
      <p:sp>
        <p:nvSpPr>
          <p:cNvPr id="26" name="Text 24"/>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بَرْقٌ</a:t>
            </a:r>
            <a:endParaRPr lang="ar-SA" sz="1900" dirty="0"/>
          </a:p>
        </p:txBody>
      </p:sp>
      <p:sp>
        <p:nvSpPr>
          <p:cNvPr id="27" name="Text 25"/>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‎برق‎ </a:t>
            </a:r>
            <a:pPr indent="0" marL="0">
              <a:buNone/>
            </a:pPr>
            <a:r>
              <a:rPr lang="en-US" sz="950" b="1" dirty="0">
                <a:solidFill>
                  <a:srgbClr val="2E8B57"/>
                </a:solidFill>
                <a:latin typeface="Calibri" pitchFamily="34" charset="0"/>
                <a:ea typeface="Calibri" pitchFamily="34" charset="-122"/>
                <a:cs typeface="Calibri" pitchFamily="34" charset="-120"/>
              </a:rPr>
              <a:t> barq · lightning</a:t>
            </a:r>
            <a:endParaRPr lang="en-US" sz="1400" dirty="0"/>
          </a:p>
        </p:txBody>
      </p:sp>
      <p:sp>
        <p:nvSpPr>
          <p:cNvPr id="28" name="Text 26"/>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هَوَاءٌ</a:t>
            </a:r>
            <a:endParaRPr lang="ar-SA" sz="1900" dirty="0"/>
          </a:p>
        </p:txBody>
      </p:sp>
      <p:sp>
        <p:nvSpPr>
          <p:cNvPr id="29" name="Text 27"/>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‎ہوا‎ </a:t>
            </a:r>
            <a:pPr indent="0" marL="0">
              <a:buNone/>
            </a:pPr>
            <a:r>
              <a:rPr lang="en-US" sz="950" b="1" dirty="0">
                <a:solidFill>
                  <a:srgbClr val="2E8B57"/>
                </a:solidFill>
                <a:latin typeface="Calibri" pitchFamily="34" charset="0"/>
                <a:ea typeface="Calibri" pitchFamily="34" charset="-122"/>
                <a:cs typeface="Calibri" pitchFamily="34" charset="-120"/>
              </a:rPr>
              <a:t> hawā · air, wind</a:t>
            </a:r>
            <a:endParaRPr lang="en-US" sz="1400" dirty="0"/>
          </a:p>
        </p:txBody>
      </p:sp>
      <p:sp>
        <p:nvSpPr>
          <p:cNvPr id="30" name="Text 28"/>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خَرِيفٌ</a:t>
            </a:r>
            <a:endParaRPr lang="ar-SA" sz="1900" dirty="0"/>
          </a:p>
        </p:txBody>
      </p:sp>
      <p:sp>
        <p:nvSpPr>
          <p:cNvPr id="31" name="Text 29"/>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‎خریف‎ </a:t>
            </a:r>
            <a:pPr indent="0" marL="0">
              <a:buNone/>
            </a:pPr>
            <a:r>
              <a:rPr lang="en-US" sz="950" b="1" dirty="0">
                <a:solidFill>
                  <a:srgbClr val="2E8B57"/>
                </a:solidFill>
                <a:latin typeface="Calibri" pitchFamily="34" charset="0"/>
                <a:ea typeface="Calibri" pitchFamily="34" charset="-122"/>
                <a:cs typeface="Calibri" pitchFamily="34" charset="-120"/>
              </a:rPr>
              <a:t> kharīf · autumn</a:t>
            </a:r>
            <a:endParaRPr lang="en-US" sz="14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48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Weather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الطَّقْسُ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المَطَرُ</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rain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al-ma-ṭar · pl. am-ṭār</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56432"/>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مَطَرٌ</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56432"/>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أَمْطَارٌ</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3" name="Shape 30"/>
          <p:cNvSpPr/>
          <p:nvPr/>
        </p:nvSpPr>
        <p:spPr>
          <a:xfrm>
            <a:off x="4782312" y="1938528"/>
            <a:ext cx="120700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 (pl.)</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الثُّلُوجُ</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snow</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ath-thu-lūj · sg. thalj</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56432"/>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ثَلْجٌ</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56432"/>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ثُلُوجٌ</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8" name="Shape 45"/>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الرِّيَاحُ</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winds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ar-ri-yāḥ · sg. rīḥ</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56432"/>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رِيحٌ</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56432"/>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رِيَاحٌ</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63" name="Shape 60"/>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7" name="Text 6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الشَّمْسُ</a:t>
            </a:r>
            <a:endParaRPr lang="ar-SA" sz="3000" dirty="0"/>
          </a:p>
        </p:txBody>
      </p:sp>
      <p:sp>
        <p:nvSpPr>
          <p:cNvPr id="68" name="Text 6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sun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ash-shams</a:t>
            </a:r>
            <a:endParaRPr lang="en-US" sz="1350" dirty="0"/>
          </a:p>
        </p:txBody>
      </p:sp>
      <p:sp>
        <p:nvSpPr>
          <p:cNvPr id="69" name="Text 66"/>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Feminine: </a:t>
            </a:r>
            <a:pPr algn="l" indent="0" marL="0">
              <a:buNone/>
            </a:pPr>
            <a:r>
              <a:rPr lang="ar-SA" altLang="en-US" sz="1300" dirty="0">
                <a:solidFill>
                  <a:srgbClr val="8A6D1E"/>
                </a:solidFill>
                <a:latin typeface="Amiri" pitchFamily="34" charset="0"/>
                <a:ea typeface="Amiri" pitchFamily="34" charset="-122"/>
                <a:cs typeface="Amiri" pitchFamily="34" charset="-120"/>
              </a:rPr>
              <a:t>تُشْرِقُ الشَّمْسُ</a:t>
            </a:r>
            <a:pPr algn="l" indent="0" marL="0">
              <a:buNone/>
            </a:pPr>
            <a:r>
              <a:rPr lang="en-US" sz="1000" i="1" dirty="0">
                <a:solidFill>
                  <a:srgbClr val="8A6D1E"/>
                </a:solidFill>
                <a:latin typeface="Calibri" pitchFamily="34" charset="0"/>
                <a:ea typeface="Calibri" pitchFamily="34" charset="-122"/>
                <a:cs typeface="Calibri" pitchFamily="34" charset="-120"/>
              </a:rPr>
              <a:t>.</a:t>
            </a:r>
            <a:endParaRPr lang="en-US" sz="1000" dirty="0"/>
          </a:p>
        </p:txBody>
      </p:sp>
      <p:sp>
        <p:nvSpPr>
          <p:cNvPr id="70" name="Shape 6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389120" y="4261104"/>
            <a:ext cx="310896" cy="310896"/>
          </a:xfrm>
          <a:prstGeom prst="ellipse">
            <a:avLst/>
          </a:prstGeom>
          <a:solidFill>
            <a:srgbClr val="F4F1EA"/>
          </a:solidFill>
          <a:ln w="12700">
            <a:solidFill>
              <a:srgbClr val="F4F1EA"/>
            </a:solidFill>
            <a:prstDash val="solid"/>
          </a:ln>
        </p:spPr>
      </p:sp>
      <p:sp>
        <p:nvSpPr>
          <p:cNvPr id="72" name="Text 6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3" name="Shape 70"/>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74" name="Text 71"/>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pl.</a:t>
            </a:r>
            <a:endParaRPr lang="en-US" sz="800" dirty="0"/>
          </a:p>
        </p:txBody>
      </p:sp>
      <p:sp>
        <p:nvSpPr>
          <p:cNvPr id="75" name="Shape 72"/>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6" name="Text 73"/>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77" name="Text 74"/>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السُّحُبُ / الغُيُومُ</a:t>
            </a:r>
            <a:endParaRPr lang="ar-SA" sz="3000" dirty="0"/>
          </a:p>
        </p:txBody>
      </p:sp>
      <p:sp>
        <p:nvSpPr>
          <p:cNvPr id="78" name="Text 75"/>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clouds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as-su-ḥub / al-ghu-yūm</a:t>
            </a:r>
            <a:endParaRPr lang="en-US" sz="1350" dirty="0"/>
          </a:p>
        </p:txBody>
      </p:sp>
      <p:sp>
        <p:nvSpPr>
          <p:cNvPr id="79" name="Shape 76"/>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0" name="Text 77"/>
          <p:cNvSpPr txBox="1"/>
          <p:nvPr/>
        </p:nvSpPr>
        <p:spPr>
          <a:xfrm>
            <a:off x="6199632" y="5797296"/>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81" name="Text 78"/>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سَحَابَةٌ / غَيْمَةٌ</a:t>
            </a:r>
            <a:endParaRPr lang="ar-SA" sz="1500" dirty="0"/>
          </a:p>
        </p:txBody>
      </p:sp>
      <p:sp>
        <p:nvSpPr>
          <p:cNvPr id="82" name="Shape 79"/>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4471416" y="5797296"/>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84" name="Text 81"/>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سُحُبٌ / غُيُومٌ</a:t>
            </a:r>
            <a:endParaRPr lang="ar-SA" sz="1500" dirty="0"/>
          </a:p>
        </p:txBody>
      </p:sp>
      <p:sp>
        <p:nvSpPr>
          <p:cNvPr id="85" name="Shape 8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566928" y="4261104"/>
            <a:ext cx="310896" cy="310896"/>
          </a:xfrm>
          <a:prstGeom prst="ellipse">
            <a:avLst/>
          </a:prstGeom>
          <a:solidFill>
            <a:srgbClr val="F4F1EA"/>
          </a:solidFill>
          <a:ln w="12700">
            <a:solidFill>
              <a:srgbClr val="F4F1EA"/>
            </a:solidFill>
            <a:prstDash val="solid"/>
          </a:ln>
        </p:spPr>
      </p:sp>
      <p:sp>
        <p:nvSpPr>
          <p:cNvPr id="87" name="Text 8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88" name="Shape 85"/>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89" name="Text 86"/>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90" name="Text 87"/>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العَاصِفَةُ</a:t>
            </a:r>
            <a:endParaRPr lang="ar-SA" sz="3000" dirty="0"/>
          </a:p>
        </p:txBody>
      </p:sp>
      <p:sp>
        <p:nvSpPr>
          <p:cNvPr id="91" name="Text 88"/>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storm</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al-ʿā-ṣi-fa · pl. ʿa-wā-ṣif</a:t>
            </a:r>
            <a:endParaRPr lang="en-US" sz="1350" dirty="0"/>
          </a:p>
        </p:txBody>
      </p:sp>
      <p:sp>
        <p:nvSpPr>
          <p:cNvPr id="92" name="Shape 89"/>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3" name="Text 90"/>
          <p:cNvSpPr txBox="1"/>
          <p:nvPr/>
        </p:nvSpPr>
        <p:spPr>
          <a:xfrm>
            <a:off x="2377440" y="5797296"/>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94" name="Text 91"/>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عَاصِفَةٌ</a:t>
            </a:r>
            <a:endParaRPr lang="ar-SA" sz="1500" dirty="0"/>
          </a:p>
        </p:txBody>
      </p:sp>
      <p:sp>
        <p:nvSpPr>
          <p:cNvPr id="95" name="Shape 92"/>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6" name="Text 93"/>
          <p:cNvSpPr txBox="1"/>
          <p:nvPr/>
        </p:nvSpPr>
        <p:spPr>
          <a:xfrm>
            <a:off x="649224" y="5797296"/>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97" name="Text 94"/>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عَوَاصِفُ</a:t>
            </a:r>
            <a:endParaRPr lang="ar-SA" sz="150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48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 · FROM THE WEBSITE GAME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Describing the weather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وَصْفُ الطَّقْسِ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adjective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حَارٌّ</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hot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ḥārr</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56432"/>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حَارٌّ</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56432"/>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حَارَّةٌ</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3" name="Shape 30"/>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adjective</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بَارِدٌ</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cold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bā-rid</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56432"/>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بَارِدٌ</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56432"/>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بَارِدَةٌ</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8" name="Shape 45"/>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adjective</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مُشْمِسٌ</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sunny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mush-mis</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56432"/>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مُشْمِسٌ</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56432"/>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مُشْمِسَةٌ</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63" name="Shape 60"/>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adjective</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مُمْطِرٌ</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rainy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mum-ṭir</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97296"/>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مُمْطِرٌ</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97296"/>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مُمْطِرَةٌ</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8" name="Shape 75"/>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adjective</a:t>
            </a:r>
            <a:endParaRPr lang="en-US" sz="800" dirty="0"/>
          </a:p>
        </p:txBody>
      </p:sp>
      <p:sp>
        <p:nvSpPr>
          <p:cNvPr id="80" name="Text 7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عَاصِفٌ</a:t>
            </a:r>
            <a:endParaRPr lang="ar-SA" sz="3000" dirty="0"/>
          </a:p>
        </p:txBody>
      </p:sp>
      <p:sp>
        <p:nvSpPr>
          <p:cNvPr id="81" name="Text 7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windy, stormy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ʿā-ṣif</a:t>
            </a:r>
            <a:endParaRPr lang="en-US" sz="1350" dirty="0"/>
          </a:p>
        </p:txBody>
      </p:sp>
      <p:sp>
        <p:nvSpPr>
          <p:cNvPr id="82" name="Shape 79"/>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6199632" y="5797296"/>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84" name="Text 81"/>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عَاصِفٌ</a:t>
            </a:r>
            <a:endParaRPr lang="ar-SA" sz="1500" dirty="0"/>
          </a:p>
        </p:txBody>
      </p:sp>
      <p:sp>
        <p:nvSpPr>
          <p:cNvPr id="85" name="Shape 82"/>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6" name="Text 83"/>
          <p:cNvSpPr txBox="1"/>
          <p:nvPr/>
        </p:nvSpPr>
        <p:spPr>
          <a:xfrm>
            <a:off x="4471416" y="5797296"/>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87" name="Text 84"/>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عَاصِفَةٌ</a:t>
            </a:r>
            <a:endParaRPr lang="ar-SA" sz="1500" dirty="0"/>
          </a:p>
        </p:txBody>
      </p:sp>
      <p:sp>
        <p:nvSpPr>
          <p:cNvPr id="88" name="Shape 8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9" name="Shape 86"/>
          <p:cNvSpPr/>
          <p:nvPr/>
        </p:nvSpPr>
        <p:spPr>
          <a:xfrm>
            <a:off x="566928" y="4261104"/>
            <a:ext cx="310896" cy="310896"/>
          </a:xfrm>
          <a:prstGeom prst="ellipse">
            <a:avLst/>
          </a:prstGeom>
          <a:solidFill>
            <a:srgbClr val="F4F1EA"/>
          </a:solidFill>
          <a:ln w="12700">
            <a:solidFill>
              <a:srgbClr val="F4F1EA"/>
            </a:solidFill>
            <a:prstDash val="solid"/>
          </a:ln>
        </p:spPr>
      </p:sp>
      <p:sp>
        <p:nvSpPr>
          <p:cNvPr id="90" name="Text 8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91" name="Shape 88"/>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92" name="Text 89"/>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adjective</a:t>
            </a:r>
            <a:endParaRPr lang="en-US" sz="800" dirty="0"/>
          </a:p>
        </p:txBody>
      </p:sp>
      <p:sp>
        <p:nvSpPr>
          <p:cNvPr id="93" name="Text 90"/>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رَطْبٌ</a:t>
            </a:r>
            <a:endParaRPr lang="ar-SA" sz="3000" dirty="0"/>
          </a:p>
        </p:txBody>
      </p:sp>
      <p:sp>
        <p:nvSpPr>
          <p:cNvPr id="94" name="Text 91"/>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humid, damp</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raṭb</a:t>
            </a:r>
            <a:endParaRPr lang="en-US" sz="1350" dirty="0"/>
          </a:p>
        </p:txBody>
      </p:sp>
      <p:sp>
        <p:nvSpPr>
          <p:cNvPr id="95" name="Shape 92"/>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6" name="Text 93"/>
          <p:cNvSpPr txBox="1"/>
          <p:nvPr/>
        </p:nvSpPr>
        <p:spPr>
          <a:xfrm>
            <a:off x="2377440" y="5797296"/>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97" name="Text 94"/>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رَطْبٌ</a:t>
            </a:r>
            <a:endParaRPr lang="ar-SA" sz="1500" dirty="0"/>
          </a:p>
        </p:txBody>
      </p:sp>
      <p:sp>
        <p:nvSpPr>
          <p:cNvPr id="98" name="Shape 95"/>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9" name="Text 96"/>
          <p:cNvSpPr txBox="1"/>
          <p:nvPr/>
        </p:nvSpPr>
        <p:spPr>
          <a:xfrm>
            <a:off x="649224" y="5797296"/>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100" name="Text 97"/>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رَطْبَةٌ</a:t>
            </a:r>
            <a:endParaRPr lang="ar-SA" sz="1500" dirty="0"/>
          </a:p>
        </p:txBody>
      </p:sp>
      <p:sp>
        <p:nvSpPr>
          <p:cNvPr id="101" name="Text 9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48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 · SEASONS AND CLIMATE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The seasons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الفُصُولُ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958291"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season ·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الرَّبِيعُ</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spring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ar-ra-bīʿ</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56432"/>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in</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فِي الرَّبِيعِ</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56432"/>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رَبِيعًا</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3" name="Shape 30"/>
          <p:cNvSpPr/>
          <p:nvPr/>
        </p:nvSpPr>
        <p:spPr>
          <a:xfrm>
            <a:off x="4782312" y="1938528"/>
            <a:ext cx="958291"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season · m.</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الصَّيْفُ</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summer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aṣ-ṣayf</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56432"/>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in</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فِي الصَّيْفِ</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56432"/>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صَيْفًا</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8" name="Shape 45"/>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season · m.</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الخَرِيفُ</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autumn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al-kha-rīf</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56432"/>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in</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فِي الخَرِيفِ</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56432"/>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خَرِيفًا</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63" name="Shape 60"/>
          <p:cNvSpPr/>
          <p:nvPr/>
        </p:nvSpPr>
        <p:spPr>
          <a:xfrm>
            <a:off x="8604504" y="4279392"/>
            <a:ext cx="958291"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season · m.</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الشِّتَاءُ</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winter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ash-shi-tāʾ</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97296"/>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in</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فِي الشِّتَاءِ</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97296"/>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شِتَاءً</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8" name="Shape 75"/>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80" name="Text 7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فَصْلٌ</a:t>
            </a:r>
            <a:endParaRPr lang="ar-SA" sz="3000" dirty="0"/>
          </a:p>
        </p:txBody>
      </p:sp>
      <p:sp>
        <p:nvSpPr>
          <p:cNvPr id="81" name="Text 7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season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faṣl · pl. fu-ṣūl</a:t>
            </a:r>
            <a:endParaRPr lang="en-US" sz="1350" dirty="0"/>
          </a:p>
        </p:txBody>
      </p:sp>
      <p:sp>
        <p:nvSpPr>
          <p:cNvPr id="82" name="Shape 79"/>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6199632" y="5797296"/>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84" name="Text 81"/>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فَصْلٌ</a:t>
            </a:r>
            <a:endParaRPr lang="ar-SA" sz="1500" dirty="0"/>
          </a:p>
        </p:txBody>
      </p:sp>
      <p:sp>
        <p:nvSpPr>
          <p:cNvPr id="85" name="Shape 82"/>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6" name="Text 83"/>
          <p:cNvSpPr txBox="1"/>
          <p:nvPr/>
        </p:nvSpPr>
        <p:spPr>
          <a:xfrm>
            <a:off x="4471416" y="5797296"/>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87" name="Text 84"/>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فُصُولٌ</a:t>
            </a:r>
            <a:endParaRPr lang="ar-SA" sz="1500" dirty="0"/>
          </a:p>
        </p:txBody>
      </p:sp>
      <p:sp>
        <p:nvSpPr>
          <p:cNvPr id="88" name="Shape 8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9" name="Shape 86"/>
          <p:cNvSpPr/>
          <p:nvPr/>
        </p:nvSpPr>
        <p:spPr>
          <a:xfrm>
            <a:off x="566928" y="4261104"/>
            <a:ext cx="310896" cy="310896"/>
          </a:xfrm>
          <a:prstGeom prst="ellipse">
            <a:avLst/>
          </a:prstGeom>
          <a:solidFill>
            <a:srgbClr val="F4F1EA"/>
          </a:solidFill>
          <a:ln w="12700">
            <a:solidFill>
              <a:srgbClr val="F4F1EA"/>
            </a:solidFill>
            <a:prstDash val="solid"/>
          </a:ln>
        </p:spPr>
      </p:sp>
      <p:sp>
        <p:nvSpPr>
          <p:cNvPr id="90" name="Text 8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91" name="Shape 88"/>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92" name="Text 89"/>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93" name="Text 9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مُنَاخٌ</a:t>
            </a:r>
            <a:endParaRPr lang="ar-SA" sz="3000" dirty="0"/>
          </a:p>
        </p:txBody>
      </p:sp>
      <p:sp>
        <p:nvSpPr>
          <p:cNvPr id="94" name="Text 9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climate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mu-nākh</a:t>
            </a:r>
            <a:endParaRPr lang="en-US" sz="1350" dirty="0"/>
          </a:p>
        </p:txBody>
      </p:sp>
      <p:sp>
        <p:nvSpPr>
          <p:cNvPr id="95" name="Text 92"/>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Climate = the usual weather of a region.</a:t>
            </a:r>
            <a:endParaRPr lang="en-US" sz="100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48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4 · FORECAST LANGUAGE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Forecast language: verb + weather</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لُغَةُ النَّشْرَةِ الجَوِّيَّةِ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98664"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Forecast phrase (website)</a:t>
            </a:r>
            <a:endParaRPr lang="en-US" sz="1100" dirty="0"/>
          </a:p>
        </p:txBody>
      </p:sp>
      <p:sp>
        <p:nvSpPr>
          <p:cNvPr id="17" name="Text 14"/>
          <p:cNvSpPr txBox="1"/>
          <p:nvPr/>
        </p:nvSpPr>
        <p:spPr>
          <a:xfrm>
            <a:off x="4306824"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English</a:t>
            </a:r>
            <a:endParaRPr lang="en-US" sz="1100" dirty="0"/>
          </a:p>
        </p:txBody>
      </p:sp>
      <p:sp>
        <p:nvSpPr>
          <p:cNvPr id="18" name="Text 15"/>
          <p:cNvSpPr txBox="1"/>
          <p:nvPr/>
        </p:nvSpPr>
        <p:spPr>
          <a:xfrm>
            <a:off x="53035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Why this verb?</a:t>
            </a:r>
            <a:endParaRPr lang="en-US" sz="1100" dirty="0"/>
          </a:p>
        </p:txBody>
      </p:sp>
      <p:sp>
        <p:nvSpPr>
          <p:cNvPr id="19" name="Shape 16"/>
          <p:cNvSpPr/>
          <p:nvPr/>
        </p:nvSpPr>
        <p:spPr>
          <a:xfrm>
            <a:off x="457200" y="2267712"/>
            <a:ext cx="11274552" cy="457200"/>
          </a:xfrm>
          <a:prstGeom prst="roundRect">
            <a:avLst>
              <a:gd name="adj" fmla="val 10000"/>
            </a:avLst>
          </a:prstGeom>
          <a:solidFill>
            <a:srgbClr val="FFFFFF"/>
          </a:solidFill>
          <a:ln w="9525">
            <a:solidFill>
              <a:srgbClr val="D8D0BF"/>
            </a:solidFill>
            <a:prstDash val="solid"/>
          </a:ln>
        </p:spPr>
      </p:sp>
      <p:sp>
        <p:nvSpPr>
          <p:cNvPr id="20" name="Text 17"/>
          <p:cNvSpPr txBox="1"/>
          <p:nvPr/>
        </p:nvSpPr>
        <p:spPr>
          <a:xfrm>
            <a:off x="7616952" y="2286000"/>
            <a:ext cx="4023360" cy="283464"/>
          </a:xfrm>
          <a:prstGeom prst="rect">
            <a:avLst/>
          </a:prstGeom>
          <a:noFill/>
          <a:ln/>
        </p:spPr>
        <p:txBody>
          <a:bodyPr wrap="square" lIns="0" tIns="0" rIns="0" bIns="0" rtlCol="0" anchor="ctr"/>
          <a:lstStyle/>
          <a:p>
            <a:pPr rtl="1" algn="ctr" indent="0" marL="0">
              <a:buNone/>
            </a:pPr>
            <a:r>
              <a:rPr lang="ar-SA" altLang="en-US" sz="1300" b="1" dirty="0">
                <a:solidFill>
                  <a:srgbClr val="1D5FBF"/>
                </a:solidFill>
                <a:latin typeface="Amiri" pitchFamily="34" charset="0"/>
                <a:ea typeface="Amiri" pitchFamily="34" charset="-122"/>
                <a:cs typeface="Amiri" pitchFamily="34" charset="-120"/>
              </a:rPr>
              <a:t>يَ</a:t>
            </a:r>
            <a:pPr rtl="1" algn="ctr" indent="0" marL="0">
              <a:buNone/>
            </a:pPr>
            <a:r>
              <a:rPr lang="ar-SA" altLang="en-US" sz="1300" b="1" dirty="0">
                <a:solidFill>
                  <a:srgbClr val="1B3B6F"/>
                </a:solidFill>
                <a:latin typeface="Amiri" pitchFamily="34" charset="0"/>
                <a:ea typeface="Amiri" pitchFamily="34" charset="-122"/>
                <a:cs typeface="Amiri" pitchFamily="34" charset="-120"/>
              </a:rPr>
              <a:t>سْقُطُ المَطَرُ</a:t>
            </a:r>
            <a:endParaRPr lang="ar-SA" sz="1300" dirty="0"/>
          </a:p>
        </p:txBody>
      </p:sp>
      <p:sp>
        <p:nvSpPr>
          <p:cNvPr id="21" name="Text 18"/>
          <p:cNvSpPr txBox="1"/>
          <p:nvPr/>
        </p:nvSpPr>
        <p:spPr>
          <a:xfrm>
            <a:off x="7571232" y="2542032"/>
            <a:ext cx="411480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yas-quṭ al-ma-ṭar</a:t>
            </a:r>
            <a:endParaRPr lang="en-US" sz="950" dirty="0"/>
          </a:p>
        </p:txBody>
      </p:sp>
      <p:sp>
        <p:nvSpPr>
          <p:cNvPr id="22" name="Text 19"/>
          <p:cNvSpPr txBox="1"/>
          <p:nvPr/>
        </p:nvSpPr>
        <p:spPr>
          <a:xfrm>
            <a:off x="4343400" y="2267712"/>
            <a:ext cx="31089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rain falls / it rains</a:t>
            </a:r>
            <a:endParaRPr lang="en-US" sz="1100" dirty="0"/>
          </a:p>
        </p:txBody>
      </p:sp>
      <p:sp>
        <p:nvSpPr>
          <p:cNvPr id="23" name="Text 20"/>
          <p:cNvSpPr txBox="1"/>
          <p:nvPr/>
        </p:nvSpPr>
        <p:spPr>
          <a:xfrm>
            <a:off x="566928" y="2267712"/>
            <a:ext cx="3593592" cy="45720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المَطَر</a:t>
            </a:r>
            <a:pPr algn="l" indent="0" marL="0">
              <a:buNone/>
            </a:pPr>
            <a:r>
              <a:rPr lang="en-US" sz="1100" i="1" dirty="0">
                <a:solidFill>
                  <a:srgbClr val="5A6472"/>
                </a:solidFill>
                <a:latin typeface="Calibri" pitchFamily="34" charset="0"/>
                <a:ea typeface="Calibri" pitchFamily="34" charset="-122"/>
                <a:cs typeface="Calibri" pitchFamily="34" charset="-120"/>
              </a:rPr>
              <a:t> is masculine → </a:t>
            </a:r>
            <a:pPr algn="l" indent="0" marL="0">
              <a:buNone/>
            </a:pPr>
            <a:r>
              <a:rPr lang="ar-SA" altLang="en-US" sz="1450" dirty="0">
                <a:solidFill>
                  <a:srgbClr val="5A6472"/>
                </a:solidFill>
                <a:latin typeface="Amiri" pitchFamily="34" charset="0"/>
                <a:ea typeface="Amiri" pitchFamily="34" charset="-122"/>
                <a:cs typeface="Amiri" pitchFamily="34" charset="-120"/>
              </a:rPr>
              <a:t>يَـ</a:t>
            </a:r>
            <a:endParaRPr lang="en-US" sz="11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6" name="Shape 23"/>
          <p:cNvSpPr/>
          <p:nvPr/>
        </p:nvSpPr>
        <p:spPr>
          <a:xfrm>
            <a:off x="457200" y="2779776"/>
            <a:ext cx="11274552" cy="457200"/>
          </a:xfrm>
          <a:prstGeom prst="roundRect">
            <a:avLst>
              <a:gd name="adj" fmla="val 10000"/>
            </a:avLst>
          </a:prstGeom>
          <a:solidFill>
            <a:srgbClr val="F4F1EA"/>
          </a:solidFill>
          <a:ln w="9525">
            <a:solidFill>
              <a:srgbClr val="D8D0BF"/>
            </a:solidFill>
            <a:prstDash val="solid"/>
          </a:ln>
        </p:spPr>
      </p:sp>
      <p:sp>
        <p:nvSpPr>
          <p:cNvPr id="27" name="Text 24"/>
          <p:cNvSpPr txBox="1"/>
          <p:nvPr/>
        </p:nvSpPr>
        <p:spPr>
          <a:xfrm>
            <a:off x="7616952" y="2798064"/>
            <a:ext cx="4023360" cy="283464"/>
          </a:xfrm>
          <a:prstGeom prst="rect">
            <a:avLst/>
          </a:prstGeom>
          <a:noFill/>
          <a:ln/>
        </p:spPr>
        <p:txBody>
          <a:bodyPr wrap="square" lIns="0" tIns="0" rIns="0" bIns="0" rtlCol="0" anchor="ctr"/>
          <a:lstStyle/>
          <a:p>
            <a:pPr rtl="1" algn="ctr" indent="0" marL="0">
              <a:buNone/>
            </a:pPr>
            <a:r>
              <a:rPr lang="ar-SA" altLang="en-US" sz="1300" b="1" dirty="0">
                <a:solidFill>
                  <a:srgbClr val="1D5FBF"/>
                </a:solidFill>
                <a:latin typeface="Amiri" pitchFamily="34" charset="0"/>
                <a:ea typeface="Amiri" pitchFamily="34" charset="-122"/>
                <a:cs typeface="Amiri" pitchFamily="34" charset="-120"/>
              </a:rPr>
              <a:t>تَ</a:t>
            </a:r>
            <a:pPr rtl="1" algn="ctr" indent="0" marL="0">
              <a:buNone/>
            </a:pPr>
            <a:r>
              <a:rPr lang="ar-SA" altLang="en-US" sz="1300" b="1" dirty="0">
                <a:solidFill>
                  <a:srgbClr val="1B3B6F"/>
                </a:solidFill>
                <a:latin typeface="Amiri" pitchFamily="34" charset="0"/>
                <a:ea typeface="Amiri" pitchFamily="34" charset="-122"/>
                <a:cs typeface="Amiri" pitchFamily="34" charset="-120"/>
              </a:rPr>
              <a:t>سْقُطُ الثُّلُوجُ</a:t>
            </a:r>
            <a:endParaRPr lang="ar-SA" sz="1300" dirty="0"/>
          </a:p>
        </p:txBody>
      </p:sp>
      <p:sp>
        <p:nvSpPr>
          <p:cNvPr id="28" name="Text 25"/>
          <p:cNvSpPr txBox="1"/>
          <p:nvPr/>
        </p:nvSpPr>
        <p:spPr>
          <a:xfrm>
            <a:off x="7571232" y="3054096"/>
            <a:ext cx="411480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tas-quṭ ath-thu-lūj</a:t>
            </a:r>
            <a:endParaRPr lang="en-US" sz="950" dirty="0"/>
          </a:p>
        </p:txBody>
      </p:sp>
      <p:sp>
        <p:nvSpPr>
          <p:cNvPr id="29" name="Text 26"/>
          <p:cNvSpPr txBox="1"/>
          <p:nvPr/>
        </p:nvSpPr>
        <p:spPr>
          <a:xfrm>
            <a:off x="4343400" y="2779776"/>
            <a:ext cx="31089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snow falls / it snows</a:t>
            </a:r>
            <a:endParaRPr lang="en-US" sz="1100" dirty="0"/>
          </a:p>
        </p:txBody>
      </p:sp>
      <p:sp>
        <p:nvSpPr>
          <p:cNvPr id="30" name="Text 27"/>
          <p:cNvSpPr txBox="1"/>
          <p:nvPr/>
        </p:nvSpPr>
        <p:spPr>
          <a:xfrm>
            <a:off x="566928" y="2779776"/>
            <a:ext cx="3593592" cy="45720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الثُّلُوج</a:t>
            </a:r>
            <a:pPr algn="l" indent="0" marL="0">
              <a:buNone/>
            </a:pPr>
            <a:r>
              <a:rPr lang="en-US" sz="1100" i="1" dirty="0">
                <a:solidFill>
                  <a:srgbClr val="5A6472"/>
                </a:solidFill>
                <a:latin typeface="Calibri" pitchFamily="34" charset="0"/>
                <a:ea typeface="Calibri" pitchFamily="34" charset="-122"/>
                <a:cs typeface="Calibri" pitchFamily="34" charset="-120"/>
              </a:rPr>
              <a:t> is treated as feminine → </a:t>
            </a:r>
            <a:pPr algn="l" indent="0" marL="0">
              <a:buNone/>
            </a:pPr>
            <a:r>
              <a:rPr lang="ar-SA" altLang="en-US" sz="1450" dirty="0">
                <a:solidFill>
                  <a:srgbClr val="5A6472"/>
                </a:solidFill>
                <a:latin typeface="Amiri" pitchFamily="34" charset="0"/>
                <a:ea typeface="Amiri" pitchFamily="34" charset="-122"/>
                <a:cs typeface="Amiri" pitchFamily="34" charset="-120"/>
              </a:rPr>
              <a:t>تَـ</a:t>
            </a:r>
            <a:endParaRPr lang="en-US" sz="1100" dirty="0"/>
          </a:p>
        </p:txBody>
      </p:sp>
      <p:sp>
        <p:nvSpPr>
          <p:cNvPr id="31" name="Shape 28"/>
          <p:cNvSpPr/>
          <p:nvPr/>
        </p:nvSpPr>
        <p:spPr>
          <a:xfrm>
            <a:off x="11091672" y="2825496"/>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282549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3" name="Shape 30"/>
          <p:cNvSpPr/>
          <p:nvPr/>
        </p:nvSpPr>
        <p:spPr>
          <a:xfrm>
            <a:off x="457200" y="3291840"/>
            <a:ext cx="11274552" cy="457200"/>
          </a:xfrm>
          <a:prstGeom prst="roundRect">
            <a:avLst>
              <a:gd name="adj" fmla="val 10000"/>
            </a:avLst>
          </a:prstGeom>
          <a:solidFill>
            <a:srgbClr val="FFFFFF"/>
          </a:solidFill>
          <a:ln w="9525">
            <a:solidFill>
              <a:srgbClr val="D8D0BF"/>
            </a:solidFill>
            <a:prstDash val="solid"/>
          </a:ln>
        </p:spPr>
      </p:sp>
      <p:sp>
        <p:nvSpPr>
          <p:cNvPr id="34" name="Text 31"/>
          <p:cNvSpPr txBox="1"/>
          <p:nvPr/>
        </p:nvSpPr>
        <p:spPr>
          <a:xfrm>
            <a:off x="7616952" y="3310128"/>
            <a:ext cx="4023360" cy="283464"/>
          </a:xfrm>
          <a:prstGeom prst="rect">
            <a:avLst/>
          </a:prstGeom>
          <a:noFill/>
          <a:ln/>
        </p:spPr>
        <p:txBody>
          <a:bodyPr wrap="square" lIns="0" tIns="0" rIns="0" bIns="0" rtlCol="0" anchor="ctr"/>
          <a:lstStyle/>
          <a:p>
            <a:pPr rtl="1" algn="ctr" indent="0" marL="0">
              <a:buNone/>
            </a:pPr>
            <a:r>
              <a:rPr lang="ar-SA" altLang="en-US" sz="1300" b="1" dirty="0">
                <a:solidFill>
                  <a:srgbClr val="1D5FBF"/>
                </a:solidFill>
                <a:latin typeface="Amiri" pitchFamily="34" charset="0"/>
                <a:ea typeface="Amiri" pitchFamily="34" charset="-122"/>
                <a:cs typeface="Amiri" pitchFamily="34" charset="-120"/>
              </a:rPr>
              <a:t>تَ</a:t>
            </a:r>
            <a:pPr rtl="1" algn="ctr" indent="0" marL="0">
              <a:buNone/>
            </a:pPr>
            <a:r>
              <a:rPr lang="ar-SA" altLang="en-US" sz="1300" b="1" dirty="0">
                <a:solidFill>
                  <a:srgbClr val="1B3B6F"/>
                </a:solidFill>
                <a:latin typeface="Amiri" pitchFamily="34" charset="0"/>
                <a:ea typeface="Amiri" pitchFamily="34" charset="-122"/>
                <a:cs typeface="Amiri" pitchFamily="34" charset="-120"/>
              </a:rPr>
              <a:t>هُبُّ الرِّيَاحُ</a:t>
            </a:r>
            <a:endParaRPr lang="ar-SA" sz="1300" dirty="0"/>
          </a:p>
        </p:txBody>
      </p:sp>
      <p:sp>
        <p:nvSpPr>
          <p:cNvPr id="35" name="Text 32"/>
          <p:cNvSpPr txBox="1"/>
          <p:nvPr/>
        </p:nvSpPr>
        <p:spPr>
          <a:xfrm>
            <a:off x="7571232" y="3566160"/>
            <a:ext cx="411480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ta-hubb ar-ri-yāḥ</a:t>
            </a:r>
            <a:endParaRPr lang="en-US" sz="950" dirty="0"/>
          </a:p>
        </p:txBody>
      </p:sp>
      <p:sp>
        <p:nvSpPr>
          <p:cNvPr id="36" name="Text 33"/>
          <p:cNvSpPr txBox="1"/>
          <p:nvPr/>
        </p:nvSpPr>
        <p:spPr>
          <a:xfrm>
            <a:off x="4343400" y="3291840"/>
            <a:ext cx="31089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 winds blow</a:t>
            </a:r>
            <a:endParaRPr lang="en-US" sz="1100" dirty="0"/>
          </a:p>
        </p:txBody>
      </p:sp>
      <p:sp>
        <p:nvSpPr>
          <p:cNvPr id="37" name="Text 34"/>
          <p:cNvSpPr txBox="1"/>
          <p:nvPr/>
        </p:nvSpPr>
        <p:spPr>
          <a:xfrm>
            <a:off x="566928" y="3291840"/>
            <a:ext cx="3593592" cy="45720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الرِّيَاح</a:t>
            </a:r>
            <a:pPr algn="l" indent="0" marL="0">
              <a:buNone/>
            </a:pPr>
            <a:r>
              <a:rPr lang="en-US" sz="1100" i="1" dirty="0">
                <a:solidFill>
                  <a:srgbClr val="5A6472"/>
                </a:solidFill>
                <a:latin typeface="Calibri" pitchFamily="34" charset="0"/>
                <a:ea typeface="Calibri" pitchFamily="34" charset="-122"/>
                <a:cs typeface="Calibri" pitchFamily="34" charset="-120"/>
              </a:rPr>
              <a:t> is feminine → </a:t>
            </a:r>
            <a:pPr algn="l" indent="0" marL="0">
              <a:buNone/>
            </a:pPr>
            <a:r>
              <a:rPr lang="ar-SA" altLang="en-US" sz="1450" dirty="0">
                <a:solidFill>
                  <a:srgbClr val="5A6472"/>
                </a:solidFill>
                <a:latin typeface="Amiri" pitchFamily="34" charset="0"/>
                <a:ea typeface="Amiri" pitchFamily="34" charset="-122"/>
                <a:cs typeface="Amiri" pitchFamily="34" charset="-120"/>
              </a:rPr>
              <a:t>تَـ</a:t>
            </a:r>
            <a:endParaRPr lang="en-US" sz="1100" dirty="0"/>
          </a:p>
        </p:txBody>
      </p:sp>
      <p:sp>
        <p:nvSpPr>
          <p:cNvPr id="38" name="Shape 35"/>
          <p:cNvSpPr/>
          <p:nvPr/>
        </p:nvSpPr>
        <p:spPr>
          <a:xfrm>
            <a:off x="11091672" y="3337560"/>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33756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0" name="Shape 37"/>
          <p:cNvSpPr/>
          <p:nvPr/>
        </p:nvSpPr>
        <p:spPr>
          <a:xfrm>
            <a:off x="457200" y="3803904"/>
            <a:ext cx="11274552" cy="457200"/>
          </a:xfrm>
          <a:prstGeom prst="roundRect">
            <a:avLst>
              <a:gd name="adj" fmla="val 10000"/>
            </a:avLst>
          </a:prstGeom>
          <a:solidFill>
            <a:srgbClr val="F4F1EA"/>
          </a:solidFill>
          <a:ln w="9525">
            <a:solidFill>
              <a:srgbClr val="D8D0BF"/>
            </a:solidFill>
            <a:prstDash val="solid"/>
          </a:ln>
        </p:spPr>
      </p:sp>
      <p:sp>
        <p:nvSpPr>
          <p:cNvPr id="41" name="Text 38"/>
          <p:cNvSpPr txBox="1"/>
          <p:nvPr/>
        </p:nvSpPr>
        <p:spPr>
          <a:xfrm>
            <a:off x="7616952" y="3822192"/>
            <a:ext cx="4023360" cy="283464"/>
          </a:xfrm>
          <a:prstGeom prst="rect">
            <a:avLst/>
          </a:prstGeom>
          <a:noFill/>
          <a:ln/>
        </p:spPr>
        <p:txBody>
          <a:bodyPr wrap="square" lIns="0" tIns="0" rIns="0" bIns="0" rtlCol="0" anchor="ctr"/>
          <a:lstStyle/>
          <a:p>
            <a:pPr rtl="1" algn="ctr" indent="0" marL="0">
              <a:buNone/>
            </a:pPr>
            <a:r>
              <a:rPr lang="ar-SA" altLang="en-US" sz="1300" b="1" dirty="0">
                <a:solidFill>
                  <a:srgbClr val="1D5FBF"/>
                </a:solidFill>
                <a:latin typeface="Amiri" pitchFamily="34" charset="0"/>
                <a:ea typeface="Amiri" pitchFamily="34" charset="-122"/>
                <a:cs typeface="Amiri" pitchFamily="34" charset="-120"/>
              </a:rPr>
              <a:t>تُ</a:t>
            </a:r>
            <a:pPr rtl="1" algn="ctr" indent="0" marL="0">
              <a:buNone/>
            </a:pPr>
            <a:r>
              <a:rPr lang="ar-SA" altLang="en-US" sz="1300" b="1" dirty="0">
                <a:solidFill>
                  <a:srgbClr val="1B3B6F"/>
                </a:solidFill>
                <a:latin typeface="Amiri" pitchFamily="34" charset="0"/>
                <a:ea typeface="Amiri" pitchFamily="34" charset="-122"/>
                <a:cs typeface="Amiri" pitchFamily="34" charset="-120"/>
              </a:rPr>
              <a:t>شْرِقُ الشَّمْسُ</a:t>
            </a:r>
            <a:endParaRPr lang="ar-SA" sz="1300" dirty="0"/>
          </a:p>
        </p:txBody>
      </p:sp>
      <p:sp>
        <p:nvSpPr>
          <p:cNvPr id="42" name="Text 39"/>
          <p:cNvSpPr txBox="1"/>
          <p:nvPr/>
        </p:nvSpPr>
        <p:spPr>
          <a:xfrm>
            <a:off x="7571232" y="4078224"/>
            <a:ext cx="411480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tush-riq ash-shams</a:t>
            </a:r>
            <a:endParaRPr lang="en-US" sz="950" dirty="0"/>
          </a:p>
        </p:txBody>
      </p:sp>
      <p:sp>
        <p:nvSpPr>
          <p:cNvPr id="43" name="Text 40"/>
          <p:cNvSpPr txBox="1"/>
          <p:nvPr/>
        </p:nvSpPr>
        <p:spPr>
          <a:xfrm>
            <a:off x="4343400" y="3803904"/>
            <a:ext cx="31089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 sun shines</a:t>
            </a:r>
            <a:endParaRPr lang="en-US" sz="1100" dirty="0"/>
          </a:p>
        </p:txBody>
      </p:sp>
      <p:sp>
        <p:nvSpPr>
          <p:cNvPr id="44" name="Text 41"/>
          <p:cNvSpPr txBox="1"/>
          <p:nvPr/>
        </p:nvSpPr>
        <p:spPr>
          <a:xfrm>
            <a:off x="566928" y="3803904"/>
            <a:ext cx="3593592" cy="45720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الشَّمْس</a:t>
            </a:r>
            <a:pPr algn="l" indent="0" marL="0">
              <a:buNone/>
            </a:pPr>
            <a:r>
              <a:rPr lang="en-US" sz="1100" i="1" dirty="0">
                <a:solidFill>
                  <a:srgbClr val="5A6472"/>
                </a:solidFill>
                <a:latin typeface="Calibri" pitchFamily="34" charset="0"/>
                <a:ea typeface="Calibri" pitchFamily="34" charset="-122"/>
                <a:cs typeface="Calibri" pitchFamily="34" charset="-120"/>
              </a:rPr>
              <a:t> is feminine → </a:t>
            </a:r>
            <a:pPr algn="l" indent="0" marL="0">
              <a:buNone/>
            </a:pPr>
            <a:r>
              <a:rPr lang="ar-SA" altLang="en-US" sz="1450" dirty="0">
                <a:solidFill>
                  <a:srgbClr val="5A6472"/>
                </a:solidFill>
                <a:latin typeface="Amiri" pitchFamily="34" charset="0"/>
                <a:ea typeface="Amiri" pitchFamily="34" charset="-122"/>
                <a:cs typeface="Amiri" pitchFamily="34" charset="-120"/>
              </a:rPr>
              <a:t>تُـ</a:t>
            </a:r>
            <a:endParaRPr lang="en-US" sz="1100" dirty="0"/>
          </a:p>
        </p:txBody>
      </p:sp>
      <p:sp>
        <p:nvSpPr>
          <p:cNvPr id="45" name="Shape 42"/>
          <p:cNvSpPr/>
          <p:nvPr/>
        </p:nvSpPr>
        <p:spPr>
          <a:xfrm>
            <a:off x="457200" y="4315968"/>
            <a:ext cx="11274552" cy="457200"/>
          </a:xfrm>
          <a:prstGeom prst="roundRect">
            <a:avLst>
              <a:gd name="adj" fmla="val 10000"/>
            </a:avLst>
          </a:prstGeom>
          <a:solidFill>
            <a:srgbClr val="FFFFFF"/>
          </a:solidFill>
          <a:ln w="9525">
            <a:solidFill>
              <a:srgbClr val="D8D0BF"/>
            </a:solidFill>
            <a:prstDash val="solid"/>
          </a:ln>
        </p:spPr>
      </p:sp>
      <p:sp>
        <p:nvSpPr>
          <p:cNvPr id="46" name="Text 43"/>
          <p:cNvSpPr txBox="1"/>
          <p:nvPr/>
        </p:nvSpPr>
        <p:spPr>
          <a:xfrm>
            <a:off x="7616952" y="4334256"/>
            <a:ext cx="4023360" cy="283464"/>
          </a:xfrm>
          <a:prstGeom prst="rect">
            <a:avLst/>
          </a:prstGeom>
          <a:noFill/>
          <a:ln/>
        </p:spPr>
        <p:txBody>
          <a:bodyPr wrap="square" lIns="0" tIns="0" rIns="0" bIns="0" rtlCol="0" anchor="ctr"/>
          <a:lstStyle/>
          <a:p>
            <a:pPr rtl="1" algn="ctr" indent="0" marL="0">
              <a:buNone/>
            </a:pPr>
            <a:r>
              <a:rPr lang="ar-SA" altLang="en-US" sz="1300" b="1" dirty="0">
                <a:solidFill>
                  <a:srgbClr val="1D5FBF"/>
                </a:solidFill>
                <a:latin typeface="Amiri" pitchFamily="34" charset="0"/>
                <a:ea typeface="Amiri" pitchFamily="34" charset="-122"/>
                <a:cs typeface="Amiri" pitchFamily="34" charset="-120"/>
              </a:rPr>
              <a:t>تَ</a:t>
            </a:r>
            <a:pPr rtl="1" algn="ctr" indent="0" marL="0">
              <a:buNone/>
            </a:pPr>
            <a:r>
              <a:rPr lang="ar-SA" altLang="en-US" sz="1300" b="1" dirty="0">
                <a:solidFill>
                  <a:srgbClr val="1B3B6F"/>
                </a:solidFill>
                <a:latin typeface="Amiri" pitchFamily="34" charset="0"/>
                <a:ea typeface="Amiri" pitchFamily="34" charset="-122"/>
                <a:cs typeface="Amiri" pitchFamily="34" charset="-120"/>
              </a:rPr>
              <a:t>رْتَفِعُ دَرَجَةُ الحَرَارَةِ</a:t>
            </a:r>
            <a:endParaRPr lang="ar-SA" sz="1300" dirty="0"/>
          </a:p>
        </p:txBody>
      </p:sp>
      <p:sp>
        <p:nvSpPr>
          <p:cNvPr id="47" name="Text 44"/>
          <p:cNvSpPr txBox="1"/>
          <p:nvPr/>
        </p:nvSpPr>
        <p:spPr>
          <a:xfrm>
            <a:off x="7571232" y="4590288"/>
            <a:ext cx="411480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tar-ta-fiʿ da-ra-jat al-ḥa-rā-ra</a:t>
            </a:r>
            <a:endParaRPr lang="en-US" sz="950" dirty="0"/>
          </a:p>
        </p:txBody>
      </p:sp>
      <p:sp>
        <p:nvSpPr>
          <p:cNvPr id="48" name="Text 45"/>
          <p:cNvSpPr txBox="1"/>
          <p:nvPr/>
        </p:nvSpPr>
        <p:spPr>
          <a:xfrm>
            <a:off x="4343400" y="4315968"/>
            <a:ext cx="31089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 temperature rises</a:t>
            </a:r>
            <a:endParaRPr lang="en-US" sz="1100" dirty="0"/>
          </a:p>
        </p:txBody>
      </p:sp>
      <p:sp>
        <p:nvSpPr>
          <p:cNvPr id="49" name="Text 46"/>
          <p:cNvSpPr txBox="1"/>
          <p:nvPr/>
        </p:nvSpPr>
        <p:spPr>
          <a:xfrm>
            <a:off x="566928" y="4315968"/>
            <a:ext cx="3593592" cy="45720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دَرَجَة</a:t>
            </a:r>
            <a:pPr algn="l" indent="0" marL="0">
              <a:buNone/>
            </a:pPr>
            <a:r>
              <a:rPr lang="en-US" sz="1100" i="1" dirty="0">
                <a:solidFill>
                  <a:srgbClr val="5A6472"/>
                </a:solidFill>
                <a:latin typeface="Calibri" pitchFamily="34" charset="0"/>
                <a:ea typeface="Calibri" pitchFamily="34" charset="-122"/>
                <a:cs typeface="Calibri" pitchFamily="34" charset="-120"/>
              </a:rPr>
              <a:t> is feminine → </a:t>
            </a:r>
            <a:pPr algn="l" indent="0" marL="0">
              <a:buNone/>
            </a:pPr>
            <a:r>
              <a:rPr lang="ar-SA" altLang="en-US" sz="1450" dirty="0">
                <a:solidFill>
                  <a:srgbClr val="5A6472"/>
                </a:solidFill>
                <a:latin typeface="Amiri" pitchFamily="34" charset="0"/>
                <a:ea typeface="Amiri" pitchFamily="34" charset="-122"/>
                <a:cs typeface="Amiri" pitchFamily="34" charset="-120"/>
              </a:rPr>
              <a:t>تَـ</a:t>
            </a:r>
            <a:endParaRPr lang="en-US" sz="1100" dirty="0"/>
          </a:p>
        </p:txBody>
      </p:sp>
      <p:sp>
        <p:nvSpPr>
          <p:cNvPr id="50" name="Shape 47"/>
          <p:cNvSpPr/>
          <p:nvPr/>
        </p:nvSpPr>
        <p:spPr>
          <a:xfrm>
            <a:off x="457200" y="4828032"/>
            <a:ext cx="11274552" cy="457200"/>
          </a:xfrm>
          <a:prstGeom prst="roundRect">
            <a:avLst>
              <a:gd name="adj" fmla="val 10000"/>
            </a:avLst>
          </a:prstGeom>
          <a:solidFill>
            <a:srgbClr val="F4F1EA"/>
          </a:solidFill>
          <a:ln w="9525">
            <a:solidFill>
              <a:srgbClr val="D8D0BF"/>
            </a:solidFill>
            <a:prstDash val="solid"/>
          </a:ln>
        </p:spPr>
      </p:sp>
      <p:sp>
        <p:nvSpPr>
          <p:cNvPr id="51" name="Text 48"/>
          <p:cNvSpPr txBox="1"/>
          <p:nvPr/>
        </p:nvSpPr>
        <p:spPr>
          <a:xfrm>
            <a:off x="7616952" y="4846320"/>
            <a:ext cx="4023360" cy="283464"/>
          </a:xfrm>
          <a:prstGeom prst="rect">
            <a:avLst/>
          </a:prstGeom>
          <a:noFill/>
          <a:ln/>
        </p:spPr>
        <p:txBody>
          <a:bodyPr wrap="square" lIns="0" tIns="0" rIns="0" bIns="0" rtlCol="0" anchor="ctr"/>
          <a:lstStyle/>
          <a:p>
            <a:pPr rtl="1" algn="ctr" indent="0" marL="0">
              <a:buNone/>
            </a:pPr>
            <a:r>
              <a:rPr lang="ar-SA" altLang="en-US" sz="1300" b="1" dirty="0">
                <a:solidFill>
                  <a:srgbClr val="1D5FBF"/>
                </a:solidFill>
                <a:latin typeface="Amiri" pitchFamily="34" charset="0"/>
                <a:ea typeface="Amiri" pitchFamily="34" charset="-122"/>
                <a:cs typeface="Amiri" pitchFamily="34" charset="-120"/>
              </a:rPr>
              <a:t>تَ</a:t>
            </a:r>
            <a:pPr rtl="1" algn="ctr" indent="0" marL="0">
              <a:buNone/>
            </a:pPr>
            <a:r>
              <a:rPr lang="ar-SA" altLang="en-US" sz="1300" b="1" dirty="0">
                <a:solidFill>
                  <a:srgbClr val="1B3B6F"/>
                </a:solidFill>
                <a:latin typeface="Amiri" pitchFamily="34" charset="0"/>
                <a:ea typeface="Amiri" pitchFamily="34" charset="-122"/>
                <a:cs typeface="Amiri" pitchFamily="34" charset="-120"/>
              </a:rPr>
              <a:t>نْخَفِضُ دَرَجَةُ الحَرَارَةِ</a:t>
            </a:r>
            <a:endParaRPr lang="ar-SA" sz="1300" dirty="0"/>
          </a:p>
        </p:txBody>
      </p:sp>
      <p:sp>
        <p:nvSpPr>
          <p:cNvPr id="52" name="Text 49"/>
          <p:cNvSpPr txBox="1"/>
          <p:nvPr/>
        </p:nvSpPr>
        <p:spPr>
          <a:xfrm>
            <a:off x="7571232" y="5102352"/>
            <a:ext cx="411480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tan-kha-fiḍ da-ra-jat al-ḥa-rā-ra</a:t>
            </a:r>
            <a:endParaRPr lang="en-US" sz="950" dirty="0"/>
          </a:p>
        </p:txBody>
      </p:sp>
      <p:sp>
        <p:nvSpPr>
          <p:cNvPr id="53" name="Text 50"/>
          <p:cNvSpPr txBox="1"/>
          <p:nvPr/>
        </p:nvSpPr>
        <p:spPr>
          <a:xfrm>
            <a:off x="4343400" y="4828032"/>
            <a:ext cx="31089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 temperature falls</a:t>
            </a:r>
            <a:endParaRPr lang="en-US" sz="1100" dirty="0"/>
          </a:p>
        </p:txBody>
      </p:sp>
      <p:sp>
        <p:nvSpPr>
          <p:cNvPr id="54" name="Text 51"/>
          <p:cNvSpPr txBox="1"/>
          <p:nvPr/>
        </p:nvSpPr>
        <p:spPr>
          <a:xfrm>
            <a:off x="566928" y="4828032"/>
            <a:ext cx="359359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opposite of </a:t>
            </a:r>
            <a:pPr algn="l" indent="0" marL="0">
              <a:buNone/>
            </a:pPr>
            <a:r>
              <a:rPr lang="ar-SA" altLang="en-US" sz="1450" dirty="0">
                <a:solidFill>
                  <a:srgbClr val="5A6472"/>
                </a:solidFill>
                <a:latin typeface="Amiri" pitchFamily="34" charset="0"/>
                <a:ea typeface="Amiri" pitchFamily="34" charset="-122"/>
                <a:cs typeface="Amiri" pitchFamily="34" charset="-120"/>
              </a:rPr>
              <a:t>تَرْتَفِعُ</a:t>
            </a:r>
            <a:endParaRPr lang="en-US" sz="1100" dirty="0"/>
          </a:p>
        </p:txBody>
      </p:sp>
      <p:sp>
        <p:nvSpPr>
          <p:cNvPr id="55" name="Shape 52"/>
          <p:cNvSpPr/>
          <p:nvPr/>
        </p:nvSpPr>
        <p:spPr>
          <a:xfrm>
            <a:off x="457200" y="5340096"/>
            <a:ext cx="11274552" cy="457200"/>
          </a:xfrm>
          <a:prstGeom prst="roundRect">
            <a:avLst>
              <a:gd name="adj" fmla="val 10000"/>
            </a:avLst>
          </a:prstGeom>
          <a:solidFill>
            <a:srgbClr val="FFFFFF"/>
          </a:solidFill>
          <a:ln w="9525">
            <a:solidFill>
              <a:srgbClr val="D8D0BF"/>
            </a:solidFill>
            <a:prstDash val="solid"/>
          </a:ln>
        </p:spPr>
      </p:sp>
      <p:sp>
        <p:nvSpPr>
          <p:cNvPr id="56" name="Text 53"/>
          <p:cNvSpPr txBox="1"/>
          <p:nvPr/>
        </p:nvSpPr>
        <p:spPr>
          <a:xfrm>
            <a:off x="7616952" y="5358384"/>
            <a:ext cx="402336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مِنَ المُتَوَقَّعِ أَنْ</a:t>
            </a:r>
            <a:endParaRPr lang="ar-SA" sz="1300" dirty="0"/>
          </a:p>
        </p:txBody>
      </p:sp>
      <p:sp>
        <p:nvSpPr>
          <p:cNvPr id="57" name="Text 54"/>
          <p:cNvSpPr txBox="1"/>
          <p:nvPr/>
        </p:nvSpPr>
        <p:spPr>
          <a:xfrm>
            <a:off x="7571232" y="5614416"/>
            <a:ext cx="411480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mi-na l-mu-ta-waq-qaʿ an</a:t>
            </a:r>
            <a:endParaRPr lang="en-US" sz="950" dirty="0"/>
          </a:p>
        </p:txBody>
      </p:sp>
      <p:sp>
        <p:nvSpPr>
          <p:cNvPr id="58" name="Text 55"/>
          <p:cNvSpPr txBox="1"/>
          <p:nvPr/>
        </p:nvSpPr>
        <p:spPr>
          <a:xfrm>
            <a:off x="4343400" y="5340096"/>
            <a:ext cx="31089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it is expected that</a:t>
            </a:r>
            <a:endParaRPr lang="en-US" sz="1100" dirty="0"/>
          </a:p>
        </p:txBody>
      </p:sp>
      <p:sp>
        <p:nvSpPr>
          <p:cNvPr id="59" name="Text 56"/>
          <p:cNvSpPr txBox="1"/>
          <p:nvPr/>
        </p:nvSpPr>
        <p:spPr>
          <a:xfrm>
            <a:off x="566928" y="5340096"/>
            <a:ext cx="359359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Stretch: + subjunctive verb</a:t>
            </a:r>
            <a:endParaRPr lang="en-US" sz="1100" dirty="0"/>
          </a:p>
        </p:txBody>
      </p:sp>
      <p:sp>
        <p:nvSpPr>
          <p:cNvPr id="60" name="Shape 57"/>
          <p:cNvSpPr/>
          <p:nvPr/>
        </p:nvSpPr>
        <p:spPr>
          <a:xfrm>
            <a:off x="457200" y="5852160"/>
            <a:ext cx="11274552" cy="457200"/>
          </a:xfrm>
          <a:prstGeom prst="roundRect">
            <a:avLst>
              <a:gd name="adj" fmla="val 10000"/>
            </a:avLst>
          </a:prstGeom>
          <a:solidFill>
            <a:srgbClr val="F4F1EA"/>
          </a:solidFill>
          <a:ln w="9525">
            <a:solidFill>
              <a:srgbClr val="D8D0BF"/>
            </a:solidFill>
            <a:prstDash val="solid"/>
          </a:ln>
        </p:spPr>
      </p:sp>
      <p:sp>
        <p:nvSpPr>
          <p:cNvPr id="61" name="Text 58"/>
          <p:cNvSpPr txBox="1"/>
          <p:nvPr/>
        </p:nvSpPr>
        <p:spPr>
          <a:xfrm>
            <a:off x="7616952" y="5870448"/>
            <a:ext cx="402336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النَّشْرَةُ الجَوِّيَّةُ</a:t>
            </a:r>
            <a:endParaRPr lang="ar-SA" sz="1300" dirty="0"/>
          </a:p>
        </p:txBody>
      </p:sp>
      <p:sp>
        <p:nvSpPr>
          <p:cNvPr id="62" name="Text 59"/>
          <p:cNvSpPr txBox="1"/>
          <p:nvPr/>
        </p:nvSpPr>
        <p:spPr>
          <a:xfrm>
            <a:off x="7571232" y="6126480"/>
            <a:ext cx="411480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an-nash-ra l-jaw-wiy-ya</a:t>
            </a:r>
            <a:endParaRPr lang="en-US" sz="950" dirty="0"/>
          </a:p>
        </p:txBody>
      </p:sp>
      <p:sp>
        <p:nvSpPr>
          <p:cNvPr id="63" name="Text 60"/>
          <p:cNvSpPr txBox="1"/>
          <p:nvPr/>
        </p:nvSpPr>
        <p:spPr>
          <a:xfrm>
            <a:off x="4343400" y="5852160"/>
            <a:ext cx="31089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 weather forecast</a:t>
            </a:r>
            <a:endParaRPr lang="en-US" sz="1100" dirty="0"/>
          </a:p>
        </p:txBody>
      </p:sp>
      <p:sp>
        <p:nvSpPr>
          <p:cNvPr id="64" name="Text 61"/>
          <p:cNvSpPr txBox="1"/>
          <p:nvPr/>
        </p:nvSpPr>
        <p:spPr>
          <a:xfrm>
            <a:off x="566928" y="5852160"/>
            <a:ext cx="3593592" cy="45720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جَوِّيَّة</a:t>
            </a:r>
            <a:pPr algn="l" indent="0" marL="0">
              <a:buNone/>
            </a:pPr>
            <a:r>
              <a:rPr lang="en-US" sz="1100" i="1" dirty="0">
                <a:solidFill>
                  <a:srgbClr val="5A6472"/>
                </a:solidFill>
                <a:latin typeface="Calibri" pitchFamily="34" charset="0"/>
                <a:ea typeface="Calibri" pitchFamily="34" charset="-122"/>
                <a:cs typeface="Calibri" pitchFamily="34" charset="-120"/>
              </a:rPr>
              <a:t> — a nisba again!</a:t>
            </a:r>
            <a:endParaRPr lang="en-US" sz="110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48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5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Comparing and measuring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المُقَارَنَةُ وَالقِيَاسُ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comparison</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أَكْثَرُ حَرَارَةً مِنْ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hotter than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ak-tha-ru ḥa-rā-ra-tan min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25" name="Shape 22"/>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comparison</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أَقَلُّ رُطُوبَةً مِنْ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less humid than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a-qal-lu ru-ṭū-ba-tan min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32" name="Shape 29"/>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measurement</a:t>
            </a:r>
            <a:endParaRPr lang="en-US" sz="800" dirty="0"/>
          </a:p>
        </p:txBody>
      </p:sp>
      <p:sp>
        <p:nvSpPr>
          <p:cNvPr id="34" name="Text 3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دَرَجَةٌ مِئَوِيَّةٌ</a:t>
            </a:r>
            <a:endParaRPr lang="ar-SA" sz="3000" dirty="0"/>
          </a:p>
        </p:txBody>
      </p:sp>
      <p:sp>
        <p:nvSpPr>
          <p:cNvPr id="35" name="Text 3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degree Celsius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da-ra-ja mi-ʾa-wiy-ya</a:t>
            </a:r>
            <a:endParaRPr lang="en-US" sz="1350" dirty="0"/>
          </a:p>
        </p:txBody>
      </p:sp>
      <p:sp>
        <p:nvSpPr>
          <p:cNvPr id="36" name="Shape 33"/>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2377440" y="3456432"/>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38" name="Text 35"/>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دَرَجَةٌ</a:t>
            </a:r>
            <a:endParaRPr lang="ar-SA" sz="1500" dirty="0"/>
          </a:p>
        </p:txBody>
      </p:sp>
      <p:sp>
        <p:nvSpPr>
          <p:cNvPr id="39" name="Shape 36"/>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49224" y="3456432"/>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1" name="Text 38"/>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دَرَجَاتٌ</a:t>
            </a:r>
            <a:endParaRPr lang="ar-SA" sz="150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45" name="Shape 42"/>
          <p:cNvSpPr/>
          <p:nvPr/>
        </p:nvSpPr>
        <p:spPr>
          <a:xfrm>
            <a:off x="8604504" y="4279392"/>
            <a:ext cx="958291"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measurement</a:t>
            </a:r>
            <a:endParaRPr lang="en-US" sz="8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الحَدُّ الأَقْصَى</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maximum</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al-ḥadd al-aq-ṣā</a:t>
            </a:r>
            <a:endParaRPr lang="en-US" sz="1350" dirty="0"/>
          </a:p>
        </p:txBody>
      </p:sp>
      <p:sp>
        <p:nvSpPr>
          <p:cNvPr id="49" name="Shape 4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4389120"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52" name="Shape 49"/>
          <p:cNvSpPr/>
          <p:nvPr/>
        </p:nvSpPr>
        <p:spPr>
          <a:xfrm>
            <a:off x="4782312" y="4279392"/>
            <a:ext cx="958291"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4782312"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measurement</a:t>
            </a:r>
            <a:endParaRPr lang="en-US" sz="800" dirty="0"/>
          </a:p>
        </p:txBody>
      </p:sp>
      <p:sp>
        <p:nvSpPr>
          <p:cNvPr id="54" name="Text 5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الحَدُّ الأَدْنَى</a:t>
            </a:r>
            <a:endParaRPr lang="ar-SA" sz="3000" dirty="0"/>
          </a:p>
        </p:txBody>
      </p:sp>
      <p:sp>
        <p:nvSpPr>
          <p:cNvPr id="55" name="Text 5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minimum</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al-ḥadd al-ad-nā</a:t>
            </a:r>
            <a:endParaRPr lang="en-US" sz="1350" dirty="0"/>
          </a:p>
        </p:txBody>
      </p:sp>
      <p:sp>
        <p:nvSpPr>
          <p:cNvPr id="56" name="Shape 5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66928"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59" name="Shape 56"/>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60" name="Text 57"/>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verb</a:t>
            </a:r>
            <a:endParaRPr lang="en-US" sz="800" dirty="0"/>
          </a:p>
        </p:txBody>
      </p:sp>
      <p:sp>
        <p:nvSpPr>
          <p:cNvPr id="61" name="Text 5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تَتَرَاوَحُ بَيْنَ … وَ …</a:t>
            </a:r>
            <a:endParaRPr lang="ar-SA" sz="3000" dirty="0"/>
          </a:p>
        </p:txBody>
      </p:sp>
      <p:sp>
        <p:nvSpPr>
          <p:cNvPr id="62" name="Text 5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ranges between … and …</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ta-ta-rā-wa-ḥu bay-na … wa …</a:t>
            </a:r>
            <a:endParaRPr lang="en-US" sz="13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48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6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More weather words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إِضَافِيَّةٌ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20" name="Shape 17"/>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الضَّبَابُ</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fog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aḍ-ḍa-bāb</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27" name="Shape 24"/>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الرَّعْدُ</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thunder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ar-raʿd</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34" name="Shape 31"/>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البَرْقُ</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lightning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al-barq</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Urdu: </a:t>
            </a:r>
            <a:pPr algn="l" indent="0" marL="0">
              <a:buNone/>
            </a:pPr>
            <a:r>
              <a:rPr lang="ar-SA" altLang="en-US" sz="1300" dirty="0">
                <a:solidFill>
                  <a:srgbClr val="8A6D1E"/>
                </a:solidFill>
                <a:latin typeface="Amiri" pitchFamily="34" charset="0"/>
                <a:ea typeface="Amiri" pitchFamily="34" charset="-122"/>
                <a:cs typeface="Amiri" pitchFamily="34" charset="-120"/>
              </a:rPr>
              <a:t>برق</a:t>
            </a:r>
            <a:endParaRPr lang="en-US" sz="10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42" name="Shape 39"/>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الرُّطُوبَةُ</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humidity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ar-ru-ṭū-ba</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Urdu: </a:t>
            </a:r>
            <a:pPr algn="l" indent="0" marL="0">
              <a:buNone/>
            </a:pPr>
            <a:r>
              <a:rPr lang="ar-SA" altLang="en-US" sz="1300" dirty="0">
                <a:solidFill>
                  <a:srgbClr val="8A6D1E"/>
                </a:solidFill>
                <a:latin typeface="Amiri" pitchFamily="34" charset="0"/>
                <a:ea typeface="Amiri" pitchFamily="34" charset="-122"/>
                <a:cs typeface="Amiri" pitchFamily="34" charset="-120"/>
              </a:rPr>
              <a:t>رطوبت</a:t>
            </a:r>
            <a:endParaRPr lang="en-US" sz="100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48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1 · THE WEATHER IS THE SUBJECT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 the weather verb like a code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فِعْلُ الطَّقْسِ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28800"/>
            <a:ext cx="11274552" cy="2331720"/>
          </a:xfrm>
          <a:prstGeom prst="roundRect">
            <a:avLst>
              <a:gd name="adj" fmla="val 313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1371600" y="1828800"/>
            <a:ext cx="9445752" cy="1572768"/>
          </a:xfrm>
          <a:prstGeom prst="rect">
            <a:avLst/>
          </a:prstGeom>
          <a:noFill/>
          <a:ln/>
        </p:spPr>
        <p:txBody>
          <a:bodyPr wrap="square" lIns="0" tIns="0" rIns="0" bIns="0" rtlCol="0" anchor="ctr"/>
          <a:lstStyle/>
          <a:p>
            <a:pPr rtl="1" algn="ctr" indent="0" marL="0">
              <a:buNone/>
            </a:pPr>
            <a:r>
              <a:rPr lang="ar-SA" altLang="en-US" sz="7200" b="1" dirty="0">
                <a:solidFill>
                  <a:srgbClr val="1D5FBF"/>
                </a:solidFill>
                <a:latin typeface="Amiri" pitchFamily="34" charset="0"/>
                <a:ea typeface="Amiri" pitchFamily="34" charset="-122"/>
                <a:cs typeface="Amiri" pitchFamily="34" charset="-120"/>
              </a:rPr>
              <a:t>تَ</a:t>
            </a:r>
            <a:pPr rtl="1" algn="ctr" indent="0" marL="0">
              <a:buNone/>
            </a:pPr>
            <a:r>
              <a:rPr lang="ar-SA" altLang="en-US" sz="7200" b="1" dirty="0">
                <a:solidFill>
                  <a:srgbClr val="7B3FA0"/>
                </a:solidFill>
                <a:latin typeface="Amiri" pitchFamily="34" charset="0"/>
                <a:ea typeface="Amiri" pitchFamily="34" charset="-122"/>
                <a:cs typeface="Amiri" pitchFamily="34" charset="-120"/>
              </a:rPr>
              <a:t>هُبُّ</a:t>
            </a:r>
            <a:pPr rtl="1" algn="ctr" indent="0" marL="0">
              <a:buNone/>
            </a:pPr>
            <a:r>
              <a:rPr lang="ar-SA" altLang="en-US" sz="7200" b="1" dirty="0">
                <a:solidFill>
                  <a:srgbClr val="1B3B6F"/>
                </a:solidFill>
                <a:latin typeface="Amiri" pitchFamily="34" charset="0"/>
                <a:ea typeface="Amiri" pitchFamily="34" charset="-122"/>
                <a:cs typeface="Amiri" pitchFamily="34" charset="-120"/>
              </a:rPr>
              <a:t> الرِّيَاحُ</a:t>
            </a:r>
            <a:endParaRPr lang="ar-SA" sz="7200" dirty="0"/>
          </a:p>
        </p:txBody>
      </p:sp>
      <p:sp>
        <p:nvSpPr>
          <p:cNvPr id="17" name="Text 14"/>
          <p:cNvSpPr txBox="1"/>
          <p:nvPr/>
        </p:nvSpPr>
        <p:spPr>
          <a:xfrm>
            <a:off x="457200" y="3675888"/>
            <a:ext cx="11274552" cy="365760"/>
          </a:xfrm>
          <a:prstGeom prst="rect">
            <a:avLst/>
          </a:prstGeom>
          <a:noFill/>
          <a:ln/>
        </p:spPr>
        <p:txBody>
          <a:bodyPr wrap="square" lIns="0" tIns="0" rIns="0" bIns="0" rtlCol="0" anchor="ctr"/>
          <a:lstStyle/>
          <a:p>
            <a:pPr algn="ctr" indent="0" marL="0">
              <a:buNone/>
            </a:pPr>
            <a:r>
              <a:rPr lang="en-US" sz="1500" i="1" dirty="0">
                <a:solidFill>
                  <a:srgbClr val="5A6472"/>
                </a:solidFill>
                <a:latin typeface="Calibri" pitchFamily="34" charset="0"/>
                <a:ea typeface="Calibri" pitchFamily="34" charset="-122"/>
                <a:cs typeface="Calibri" pitchFamily="34" charset="-120"/>
              </a:rPr>
              <a:t>ta-hubb ar-ri-yāḥ · the winds blow</a:t>
            </a:r>
            <a:endParaRPr lang="en-US" sz="1500" dirty="0"/>
          </a:p>
        </p:txBody>
      </p:sp>
      <p:sp>
        <p:nvSpPr>
          <p:cNvPr id="18" name="Shape 15"/>
          <p:cNvSpPr/>
          <p:nvPr/>
        </p:nvSpPr>
        <p:spPr>
          <a:xfrm>
            <a:off x="8095488" y="4370832"/>
            <a:ext cx="3636264" cy="1783080"/>
          </a:xfrm>
          <a:prstGeom prst="roundRect">
            <a:avLst>
              <a:gd name="adj" fmla="val 4103"/>
            </a:avLst>
          </a:prstGeom>
          <a:solidFill>
            <a:srgbClr val="FFFFFF"/>
          </a:solidFill>
          <a:ln w="19050">
            <a:solidFill>
              <a:srgbClr val="0E7C86"/>
            </a:solidFill>
            <a:prstDash val="solid"/>
          </a:ln>
          <a:effectLst>
            <a:outerShdw sx="100000" sy="100000" kx="0" ky="0" algn="bl" rotWithShape="0" blurRad="50800" dist="19050" dir="5400000">
              <a:srgbClr val="000000">
                <a:alpha val="10000"/>
              </a:srgbClr>
            </a:outerShdw>
          </a:effectLst>
        </p:spPr>
      </p:sp>
      <p:sp>
        <p:nvSpPr>
          <p:cNvPr id="19" name="Text 16"/>
          <p:cNvSpPr txBox="1"/>
          <p:nvPr/>
        </p:nvSpPr>
        <p:spPr>
          <a:xfrm>
            <a:off x="8278368"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1</a:t>
            </a:r>
            <a:endParaRPr lang="en-US" sz="3000" dirty="0"/>
          </a:p>
        </p:txBody>
      </p:sp>
      <p:sp>
        <p:nvSpPr>
          <p:cNvPr id="20" name="Text 17"/>
          <p:cNvSpPr txBox="1"/>
          <p:nvPr/>
        </p:nvSpPr>
        <p:spPr>
          <a:xfrm>
            <a:off x="8827008"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0E7C86"/>
                </a:solidFill>
                <a:latin typeface="Amiri" pitchFamily="34" charset="0"/>
                <a:ea typeface="Amiri" pitchFamily="34" charset="-122"/>
                <a:cs typeface="Amiri" pitchFamily="34" charset="-120"/>
              </a:rPr>
              <a:t>الرِّيَاحُ</a:t>
            </a:r>
            <a:endParaRPr lang="ar-SA" sz="3400" dirty="0"/>
          </a:p>
        </p:txBody>
      </p:sp>
      <p:sp>
        <p:nvSpPr>
          <p:cNvPr id="21" name="Text 18"/>
          <p:cNvSpPr txBox="1"/>
          <p:nvPr/>
        </p:nvSpPr>
        <p:spPr>
          <a:xfrm>
            <a:off x="8278368" y="5120640"/>
            <a:ext cx="3270504" cy="310896"/>
          </a:xfrm>
          <a:prstGeom prst="rect">
            <a:avLst/>
          </a:prstGeom>
          <a:noFill/>
          <a:ln/>
        </p:spPr>
        <p:txBody>
          <a:bodyPr wrap="square" lIns="0" tIns="0" rIns="0" bIns="0" rtlCol="0" anchor="ctr"/>
          <a:lstStyle/>
          <a:p>
            <a:pPr algn="l" indent="0" marL="0">
              <a:buNone/>
            </a:pPr>
            <a:r>
              <a:rPr lang="en-US" sz="1600" b="1" dirty="0">
                <a:solidFill>
                  <a:srgbClr val="0E7C86"/>
                </a:solidFill>
                <a:latin typeface="Calibri" pitchFamily="34" charset="0"/>
                <a:ea typeface="Calibri" pitchFamily="34" charset="-122"/>
                <a:cs typeface="Calibri" pitchFamily="34" charset="-120"/>
              </a:rPr>
              <a:t>WEATHER = the subject</a:t>
            </a:r>
            <a:endParaRPr lang="en-US" sz="1600" dirty="0"/>
          </a:p>
        </p:txBody>
      </p:sp>
      <p:sp>
        <p:nvSpPr>
          <p:cNvPr id="22" name="Text 19"/>
          <p:cNvSpPr txBox="1"/>
          <p:nvPr/>
        </p:nvSpPr>
        <p:spPr>
          <a:xfrm>
            <a:off x="8278368"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Name the weather. </a:t>
            </a:r>
            <a:pPr algn="l" indent="0" marL="0">
              <a:buNone/>
            </a:pPr>
            <a:r>
              <a:rPr lang="ar-SA" altLang="en-US" sz="1500" dirty="0">
                <a:solidFill>
                  <a:srgbClr val="5A6472"/>
                </a:solidFill>
                <a:latin typeface="Amiri" pitchFamily="34" charset="0"/>
                <a:ea typeface="Amiri" pitchFamily="34" charset="-122"/>
                <a:cs typeface="Amiri" pitchFamily="34" charset="-120"/>
              </a:rPr>
              <a:t>الرِّيَاح</a:t>
            </a:r>
            <a:pPr algn="l" indent="0" marL="0">
              <a:buNone/>
            </a:pPr>
            <a:r>
              <a:rPr lang="en-US" sz="1150" dirty="0">
                <a:solidFill>
                  <a:srgbClr val="5A6472"/>
                </a:solidFill>
                <a:latin typeface="Calibri" pitchFamily="34" charset="0"/>
                <a:ea typeface="Calibri" pitchFamily="34" charset="-122"/>
                <a:cs typeface="Calibri" pitchFamily="34" charset="-120"/>
              </a:rPr>
              <a:t> (winds) is treated as feminine.</a:t>
            </a:r>
            <a:endParaRPr lang="en-US" sz="1150" dirty="0"/>
          </a:p>
        </p:txBody>
      </p:sp>
      <p:sp>
        <p:nvSpPr>
          <p:cNvPr id="23" name="Shape 20"/>
          <p:cNvSpPr/>
          <p:nvPr/>
        </p:nvSpPr>
        <p:spPr>
          <a:xfrm>
            <a:off x="4276344" y="4370832"/>
            <a:ext cx="3636264" cy="1783080"/>
          </a:xfrm>
          <a:prstGeom prst="roundRect">
            <a:avLst>
              <a:gd name="adj" fmla="val 4103"/>
            </a:avLst>
          </a:prstGeom>
          <a:solidFill>
            <a:srgbClr val="FFFFFF"/>
          </a:solidFill>
          <a:ln w="19050">
            <a:solidFill>
              <a:srgbClr val="7B3FA0"/>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4459224"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2</a:t>
            </a:r>
            <a:endParaRPr lang="en-US" sz="3000" dirty="0"/>
          </a:p>
        </p:txBody>
      </p:sp>
      <p:sp>
        <p:nvSpPr>
          <p:cNvPr id="25" name="Text 22"/>
          <p:cNvSpPr txBox="1"/>
          <p:nvPr/>
        </p:nvSpPr>
        <p:spPr>
          <a:xfrm>
            <a:off x="5007864"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7B3FA0"/>
                </a:solidFill>
                <a:latin typeface="Amiri" pitchFamily="34" charset="0"/>
                <a:ea typeface="Amiri" pitchFamily="34" charset="-122"/>
                <a:cs typeface="Amiri" pitchFamily="34" charset="-120"/>
              </a:rPr>
              <a:t>هُبُّ</a:t>
            </a:r>
            <a:endParaRPr lang="ar-SA" sz="3400" dirty="0"/>
          </a:p>
        </p:txBody>
      </p:sp>
      <p:sp>
        <p:nvSpPr>
          <p:cNvPr id="26" name="Text 23"/>
          <p:cNvSpPr txBox="1"/>
          <p:nvPr/>
        </p:nvSpPr>
        <p:spPr>
          <a:xfrm>
            <a:off x="4459224" y="5120640"/>
            <a:ext cx="3270504" cy="310896"/>
          </a:xfrm>
          <a:prstGeom prst="rect">
            <a:avLst/>
          </a:prstGeom>
          <a:noFill/>
          <a:ln/>
        </p:spPr>
        <p:txBody>
          <a:bodyPr wrap="square" lIns="0" tIns="0" rIns="0" bIns="0" rtlCol="0" anchor="ctr"/>
          <a:lstStyle/>
          <a:p>
            <a:pPr algn="l" indent="0" marL="0">
              <a:buNone/>
            </a:pPr>
            <a:r>
              <a:rPr lang="en-US" sz="1600" b="1" dirty="0">
                <a:solidFill>
                  <a:srgbClr val="7B3FA0"/>
                </a:solidFill>
                <a:latin typeface="Calibri" pitchFamily="34" charset="0"/>
                <a:ea typeface="Calibri" pitchFamily="34" charset="-122"/>
                <a:cs typeface="Calibri" pitchFamily="34" charset="-120"/>
              </a:rPr>
              <a:t>MEANING</a:t>
            </a:r>
            <a:endParaRPr lang="en-US" sz="1600" dirty="0"/>
          </a:p>
        </p:txBody>
      </p:sp>
      <p:sp>
        <p:nvSpPr>
          <p:cNvPr id="27" name="Text 24"/>
          <p:cNvSpPr txBox="1"/>
          <p:nvPr/>
        </p:nvSpPr>
        <p:spPr>
          <a:xfrm>
            <a:off x="4459224"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The rest of the verb carries the meaning: blow.</a:t>
            </a:r>
            <a:endParaRPr lang="en-US" sz="1150" dirty="0"/>
          </a:p>
        </p:txBody>
      </p:sp>
      <p:sp>
        <p:nvSpPr>
          <p:cNvPr id="28" name="Shape 25"/>
          <p:cNvSpPr/>
          <p:nvPr/>
        </p:nvSpPr>
        <p:spPr>
          <a:xfrm>
            <a:off x="457200" y="4370832"/>
            <a:ext cx="3636264" cy="1783080"/>
          </a:xfrm>
          <a:prstGeom prst="roundRect">
            <a:avLst>
              <a:gd name="adj" fmla="val 4103"/>
            </a:avLst>
          </a:prstGeom>
          <a:solidFill>
            <a:srgbClr val="FFFFFF"/>
          </a:solidFill>
          <a:ln w="19050">
            <a:solidFill>
              <a:srgbClr val="1D5FBF"/>
            </a:solidFill>
            <a:prstDash val="solid"/>
          </a:ln>
          <a:effectLst>
            <a:outerShdw sx="100000" sy="100000" kx="0" ky="0" algn="bl" rotWithShape="0" blurRad="50800" dist="19050" dir="5400000">
              <a:srgbClr val="000000">
                <a:alpha val="10000"/>
              </a:srgbClr>
            </a:outerShdw>
          </a:effectLst>
        </p:spPr>
      </p:sp>
      <p:sp>
        <p:nvSpPr>
          <p:cNvPr id="29" name="Text 26"/>
          <p:cNvSpPr txBox="1"/>
          <p:nvPr/>
        </p:nvSpPr>
        <p:spPr>
          <a:xfrm>
            <a:off x="640080"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3</a:t>
            </a:r>
            <a:endParaRPr lang="en-US" sz="3000" dirty="0"/>
          </a:p>
        </p:txBody>
      </p:sp>
      <p:sp>
        <p:nvSpPr>
          <p:cNvPr id="30" name="Text 27"/>
          <p:cNvSpPr txBox="1"/>
          <p:nvPr/>
        </p:nvSpPr>
        <p:spPr>
          <a:xfrm>
            <a:off x="1188720"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1D5FBF"/>
                </a:solidFill>
                <a:latin typeface="Amiri" pitchFamily="34" charset="0"/>
                <a:ea typeface="Amiri" pitchFamily="34" charset="-122"/>
                <a:cs typeface="Amiri" pitchFamily="34" charset="-120"/>
              </a:rPr>
              <a:t>تَـ / يَـ</a:t>
            </a:r>
            <a:endParaRPr lang="ar-SA" sz="3400" dirty="0"/>
          </a:p>
        </p:txBody>
      </p:sp>
      <p:sp>
        <p:nvSpPr>
          <p:cNvPr id="31" name="Text 28"/>
          <p:cNvSpPr txBox="1"/>
          <p:nvPr/>
        </p:nvSpPr>
        <p:spPr>
          <a:xfrm>
            <a:off x="640080" y="5120640"/>
            <a:ext cx="3270504" cy="310896"/>
          </a:xfrm>
          <a:prstGeom prst="rect">
            <a:avLst/>
          </a:prstGeom>
          <a:noFill/>
          <a:ln/>
        </p:spPr>
        <p:txBody>
          <a:bodyPr wrap="square" lIns="0" tIns="0" rIns="0" bIns="0" rtlCol="0" anchor="ctr"/>
          <a:lstStyle/>
          <a:p>
            <a:pPr algn="l" indent="0" marL="0">
              <a:buNone/>
            </a:pPr>
            <a:r>
              <a:rPr lang="en-US" sz="1600" b="1" dirty="0">
                <a:solidFill>
                  <a:srgbClr val="1D5FBF"/>
                </a:solidFill>
                <a:latin typeface="Calibri" pitchFamily="34" charset="0"/>
                <a:ea typeface="Calibri" pitchFamily="34" charset="-122"/>
                <a:cs typeface="Calibri" pitchFamily="34" charset="-120"/>
              </a:rPr>
              <a:t>WHO? the first letter</a:t>
            </a:r>
            <a:endParaRPr lang="en-US" sz="1600" dirty="0"/>
          </a:p>
        </p:txBody>
      </p:sp>
      <p:sp>
        <p:nvSpPr>
          <p:cNvPr id="32" name="Text 29"/>
          <p:cNvSpPr txBox="1"/>
          <p:nvPr/>
        </p:nvSpPr>
        <p:spPr>
          <a:xfrm>
            <a:off x="640080"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Feminine weather → </a:t>
            </a:r>
            <a:pPr algn="l" indent="0" marL="0">
              <a:buNone/>
            </a:pPr>
            <a:r>
              <a:rPr lang="ar-SA" altLang="en-US" sz="1500" dirty="0">
                <a:solidFill>
                  <a:srgbClr val="5A6472"/>
                </a:solidFill>
                <a:latin typeface="Amiri" pitchFamily="34" charset="0"/>
                <a:ea typeface="Amiri" pitchFamily="34" charset="-122"/>
                <a:cs typeface="Amiri" pitchFamily="34" charset="-120"/>
              </a:rPr>
              <a:t>تَـ</a:t>
            </a:r>
            <a:pPr algn="l" indent="0" marL="0">
              <a:buNone/>
            </a:pPr>
            <a:r>
              <a:rPr lang="en-US" sz="1150" dirty="0">
                <a:solidFill>
                  <a:srgbClr val="5A6472"/>
                </a:solidFill>
                <a:latin typeface="Calibri" pitchFamily="34" charset="0"/>
                <a:ea typeface="Calibri" pitchFamily="34" charset="-122"/>
                <a:cs typeface="Calibri" pitchFamily="34" charset="-120"/>
              </a:rPr>
              <a:t>. Masculine </a:t>
            </a:r>
            <a:pPr algn="l" indent="0" marL="0">
              <a:buNone/>
            </a:pPr>
            <a:r>
              <a:rPr lang="ar-SA" altLang="en-US" sz="1500" dirty="0">
                <a:solidFill>
                  <a:srgbClr val="5A6472"/>
                </a:solidFill>
                <a:latin typeface="Amiri" pitchFamily="34" charset="0"/>
                <a:ea typeface="Amiri" pitchFamily="34" charset="-122"/>
                <a:cs typeface="Amiri" pitchFamily="34" charset="-120"/>
              </a:rPr>
              <a:t>المَطَرُ</a:t>
            </a:r>
            <a:pPr algn="l" indent="0" marL="0">
              <a:buNone/>
            </a:pPr>
            <a:r>
              <a:rPr lang="en-US" sz="1150" dirty="0">
                <a:solidFill>
                  <a:srgbClr val="5A6472"/>
                </a:solidFill>
                <a:latin typeface="Calibri" pitchFamily="34" charset="0"/>
                <a:ea typeface="Calibri" pitchFamily="34" charset="-122"/>
                <a:cs typeface="Calibri" pitchFamily="34" charset="-120"/>
              </a:rPr>
              <a:t> → </a:t>
            </a:r>
            <a:pPr algn="l" indent="0" marL="0">
              <a:buNone/>
            </a:pPr>
            <a:r>
              <a:rPr lang="ar-SA" altLang="en-US" sz="1500" dirty="0">
                <a:solidFill>
                  <a:srgbClr val="5A6472"/>
                </a:solidFill>
                <a:latin typeface="Amiri" pitchFamily="34" charset="0"/>
                <a:ea typeface="Amiri" pitchFamily="34" charset="-122"/>
                <a:cs typeface="Amiri" pitchFamily="34" charset="-120"/>
              </a:rPr>
              <a:t>يَـ</a:t>
            </a:r>
            <a:pPr algn="l" indent="0" marL="0">
              <a:buNone/>
            </a:pPr>
            <a:r>
              <a:rPr lang="en-US" sz="1150" dirty="0">
                <a:solidFill>
                  <a:srgbClr val="5A6472"/>
                </a:solidFill>
                <a:latin typeface="Calibri" pitchFamily="34" charset="0"/>
                <a:ea typeface="Calibri" pitchFamily="34" charset="-122"/>
                <a:cs typeface="Calibri" pitchFamily="34" charset="-120"/>
              </a:rPr>
              <a:t>: </a:t>
            </a:r>
            <a:pPr algn="l" indent="0" marL="0">
              <a:buNone/>
            </a:pPr>
            <a:r>
              <a:rPr lang="ar-SA" altLang="en-US" sz="1500" dirty="0">
                <a:solidFill>
                  <a:srgbClr val="5A6472"/>
                </a:solidFill>
                <a:latin typeface="Amiri" pitchFamily="34" charset="0"/>
                <a:ea typeface="Amiri" pitchFamily="34" charset="-122"/>
                <a:cs typeface="Amiri" pitchFamily="34" charset="-120"/>
              </a:rPr>
              <a:t>يَسْقُطُ المَطَرُ</a:t>
            </a:r>
            <a:pPr algn="l" indent="0" marL="0">
              <a:buNone/>
            </a:pPr>
            <a:r>
              <a:rPr lang="en-US" sz="1150" dirty="0">
                <a:solidFill>
                  <a:srgbClr val="5A6472"/>
                </a:solidFill>
                <a:latin typeface="Calibri" pitchFamily="34" charset="0"/>
                <a:ea typeface="Calibri" pitchFamily="34" charset="-122"/>
                <a:cs typeface="Calibri" pitchFamily="34" charset="-120"/>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48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2 · MATCH THE VERB TO THE WEATHER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ea typeface="Cambria" pitchFamily="34" charset="-122"/>
                <a:cs typeface="Cambria" pitchFamily="34" charset="-120"/>
              </a:rPr>
              <a:t>One verb start, five weather words</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الفِعْلُ يُطَابِقُ الطَّقْسَ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11274552" cy="420624"/>
          </a:xfrm>
          <a:prstGeom prst="rect">
            <a:avLst/>
          </a:prstGeom>
          <a:solidFill>
            <a:srgbClr val="1B3B6F"/>
          </a:solidFill>
          <a:ln w="12700">
            <a:solidFill>
              <a:srgbClr val="1B3B6F"/>
            </a:solidFill>
            <a:prstDash val="solid"/>
          </a:ln>
        </p:spPr>
      </p:sp>
      <p:sp>
        <p:nvSpPr>
          <p:cNvPr id="16" name="Text 13"/>
          <p:cNvSpPr txBox="1"/>
          <p:nvPr/>
        </p:nvSpPr>
        <p:spPr>
          <a:xfrm>
            <a:off x="9674352" y="1810512"/>
            <a:ext cx="19202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Weather word</a:t>
            </a:r>
            <a:endParaRPr lang="en-US" sz="1200" dirty="0"/>
          </a:p>
        </p:txBody>
      </p:sp>
      <p:sp>
        <p:nvSpPr>
          <p:cNvPr id="17" name="Text 14"/>
          <p:cNvSpPr txBox="1"/>
          <p:nvPr/>
        </p:nvSpPr>
        <p:spPr>
          <a:xfrm>
            <a:off x="6565392" y="1810512"/>
            <a:ext cx="28346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Verb</a:t>
            </a:r>
            <a:endParaRPr lang="en-US" sz="1200" dirty="0"/>
          </a:p>
        </p:txBody>
      </p:sp>
      <p:sp>
        <p:nvSpPr>
          <p:cNvPr id="18" name="Text 15"/>
          <p:cNvSpPr txBox="1"/>
          <p:nvPr/>
        </p:nvSpPr>
        <p:spPr>
          <a:xfrm>
            <a:off x="594360" y="1810512"/>
            <a:ext cx="5696712"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Website sentence</a:t>
            </a:r>
            <a:endParaRPr lang="en-US" sz="1200" dirty="0"/>
          </a:p>
        </p:txBody>
      </p:sp>
      <p:sp>
        <p:nvSpPr>
          <p:cNvPr id="19" name="Shape 16"/>
          <p:cNvSpPr/>
          <p:nvPr/>
        </p:nvSpPr>
        <p:spPr>
          <a:xfrm>
            <a:off x="457200" y="2322576"/>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10085832" y="232257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المَطَرُ</a:t>
            </a:r>
            <a:endParaRPr lang="ar-SA" sz="2400" dirty="0"/>
          </a:p>
        </p:txBody>
      </p:sp>
      <p:sp>
        <p:nvSpPr>
          <p:cNvPr id="21" name="Text 18"/>
          <p:cNvSpPr txBox="1"/>
          <p:nvPr/>
        </p:nvSpPr>
        <p:spPr>
          <a:xfrm>
            <a:off x="9509760" y="232257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rain (m.)</a:t>
            </a:r>
            <a:endParaRPr lang="en-US" sz="1150" dirty="0"/>
          </a:p>
        </p:txBody>
      </p:sp>
      <p:sp>
        <p:nvSpPr>
          <p:cNvPr id="22" name="Text 19"/>
          <p:cNvSpPr txBox="1"/>
          <p:nvPr/>
        </p:nvSpPr>
        <p:spPr>
          <a:xfrm>
            <a:off x="6565392" y="232257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1D5FBF"/>
                </a:solidFill>
                <a:latin typeface="Amiri" pitchFamily="34" charset="0"/>
                <a:ea typeface="Amiri" pitchFamily="34" charset="-122"/>
                <a:cs typeface="Amiri" pitchFamily="34" charset="-120"/>
              </a:rPr>
              <a:t>يَ</a:t>
            </a:r>
            <a:pPr rtl="1" algn="ctr" indent="0" marL="0">
              <a:buNone/>
            </a:pPr>
            <a:r>
              <a:rPr lang="ar-SA" altLang="en-US" sz="3000" b="1" dirty="0">
                <a:solidFill>
                  <a:srgbClr val="7B3FA0"/>
                </a:solidFill>
                <a:latin typeface="Amiri" pitchFamily="34" charset="0"/>
                <a:ea typeface="Amiri" pitchFamily="34" charset="-122"/>
                <a:cs typeface="Amiri" pitchFamily="34" charset="-120"/>
              </a:rPr>
              <a:t>سْقُطُ</a:t>
            </a:r>
            <a:endParaRPr lang="ar-SA" sz="3000" dirty="0"/>
          </a:p>
        </p:txBody>
      </p:sp>
      <p:sp>
        <p:nvSpPr>
          <p:cNvPr id="23" name="Text 20"/>
          <p:cNvSpPr txBox="1"/>
          <p:nvPr/>
        </p:nvSpPr>
        <p:spPr>
          <a:xfrm>
            <a:off x="594360" y="2340864"/>
            <a:ext cx="5696712" cy="438912"/>
          </a:xfrm>
          <a:prstGeom prst="rect">
            <a:avLst/>
          </a:prstGeom>
          <a:noFill/>
          <a:ln/>
        </p:spPr>
        <p:txBody>
          <a:bodyPr wrap="square" lIns="0" tIns="0" rIns="0" bIns="0" rtlCol="0" anchor="ctr"/>
          <a:lstStyle/>
          <a:p>
            <a:pPr rtl="1" algn="r" indent="0" marL="0">
              <a:buNone/>
            </a:pPr>
            <a:r>
              <a:rPr lang="ar-SA" altLang="en-US" sz="2000" dirty="0">
                <a:solidFill>
                  <a:srgbClr val="1D5FBF"/>
                </a:solidFill>
                <a:latin typeface="Amiri" pitchFamily="34" charset="0"/>
                <a:ea typeface="Amiri" pitchFamily="34" charset="-122"/>
                <a:cs typeface="Amiri" pitchFamily="34" charset="-120"/>
              </a:rPr>
              <a:t>يَ</a:t>
            </a:r>
            <a:pPr rtl="1" algn="r" indent="0" marL="0">
              <a:buNone/>
            </a:pPr>
            <a:r>
              <a:rPr lang="ar-SA" altLang="en-US" sz="2000" dirty="0">
                <a:solidFill>
                  <a:srgbClr val="1F2A37"/>
                </a:solidFill>
                <a:latin typeface="Amiri" pitchFamily="34" charset="0"/>
                <a:ea typeface="Amiri" pitchFamily="34" charset="-122"/>
                <a:cs typeface="Amiri" pitchFamily="34" charset="-120"/>
              </a:rPr>
              <a:t>سْقُطُ المَطَرُ غَزِيرًا.</a:t>
            </a:r>
            <a:endParaRPr lang="ar-SA" sz="2000" dirty="0"/>
          </a:p>
        </p:txBody>
      </p:sp>
      <p:sp>
        <p:nvSpPr>
          <p:cNvPr id="24" name="Text 21"/>
          <p:cNvSpPr txBox="1"/>
          <p:nvPr/>
        </p:nvSpPr>
        <p:spPr>
          <a:xfrm>
            <a:off x="594360" y="274685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It rains heavily.</a:t>
            </a:r>
            <a:endParaRPr lang="en-US" sz="1100" dirty="0"/>
          </a:p>
        </p:txBody>
      </p:sp>
      <p:sp>
        <p:nvSpPr>
          <p:cNvPr id="25" name="Shape 22"/>
          <p:cNvSpPr/>
          <p:nvPr/>
        </p:nvSpPr>
        <p:spPr>
          <a:xfrm>
            <a:off x="457200" y="314553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10085832" y="314553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الثُّلُوجُ</a:t>
            </a:r>
            <a:endParaRPr lang="ar-SA" sz="2400" dirty="0"/>
          </a:p>
        </p:txBody>
      </p:sp>
      <p:sp>
        <p:nvSpPr>
          <p:cNvPr id="27" name="Text 24"/>
          <p:cNvSpPr txBox="1"/>
          <p:nvPr/>
        </p:nvSpPr>
        <p:spPr>
          <a:xfrm>
            <a:off x="9509760" y="314553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snow (f.)</a:t>
            </a:r>
            <a:endParaRPr lang="en-US" sz="1150" dirty="0"/>
          </a:p>
        </p:txBody>
      </p:sp>
      <p:sp>
        <p:nvSpPr>
          <p:cNvPr id="28" name="Text 25"/>
          <p:cNvSpPr txBox="1"/>
          <p:nvPr/>
        </p:nvSpPr>
        <p:spPr>
          <a:xfrm>
            <a:off x="6565392" y="314553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1D5FBF"/>
                </a:solidFill>
                <a:latin typeface="Amiri" pitchFamily="34" charset="0"/>
                <a:ea typeface="Amiri" pitchFamily="34" charset="-122"/>
                <a:cs typeface="Amiri" pitchFamily="34" charset="-120"/>
              </a:rPr>
              <a:t>تَ</a:t>
            </a:r>
            <a:pPr rtl="1" algn="ctr" indent="0" marL="0">
              <a:buNone/>
            </a:pPr>
            <a:r>
              <a:rPr lang="ar-SA" altLang="en-US" sz="3000" b="1" dirty="0">
                <a:solidFill>
                  <a:srgbClr val="7B3FA0"/>
                </a:solidFill>
                <a:latin typeface="Amiri" pitchFamily="34" charset="0"/>
                <a:ea typeface="Amiri" pitchFamily="34" charset="-122"/>
                <a:cs typeface="Amiri" pitchFamily="34" charset="-120"/>
              </a:rPr>
              <a:t>سْقُطُ</a:t>
            </a:r>
            <a:endParaRPr lang="ar-SA" sz="3000" dirty="0"/>
          </a:p>
        </p:txBody>
      </p:sp>
      <p:sp>
        <p:nvSpPr>
          <p:cNvPr id="29" name="Text 26"/>
          <p:cNvSpPr txBox="1"/>
          <p:nvPr/>
        </p:nvSpPr>
        <p:spPr>
          <a:xfrm>
            <a:off x="594360" y="3163824"/>
            <a:ext cx="5696712" cy="438912"/>
          </a:xfrm>
          <a:prstGeom prst="rect">
            <a:avLst/>
          </a:prstGeom>
          <a:noFill/>
          <a:ln/>
        </p:spPr>
        <p:txBody>
          <a:bodyPr wrap="square" lIns="0" tIns="0" rIns="0" bIns="0" rtlCol="0" anchor="ctr"/>
          <a:lstStyle/>
          <a:p>
            <a:pPr rtl="1" algn="r" indent="0" marL="0">
              <a:buNone/>
            </a:pPr>
            <a:r>
              <a:rPr lang="ar-SA" altLang="en-US" sz="2000" dirty="0">
                <a:solidFill>
                  <a:srgbClr val="1D5FBF"/>
                </a:solidFill>
                <a:latin typeface="Amiri" pitchFamily="34" charset="0"/>
                <a:ea typeface="Amiri" pitchFamily="34" charset="-122"/>
                <a:cs typeface="Amiri" pitchFamily="34" charset="-120"/>
              </a:rPr>
              <a:t>تَ</a:t>
            </a:r>
            <a:pPr rtl="1" algn="r" indent="0" marL="0">
              <a:buNone/>
            </a:pPr>
            <a:r>
              <a:rPr lang="ar-SA" altLang="en-US" sz="2000" dirty="0">
                <a:solidFill>
                  <a:srgbClr val="1F2A37"/>
                </a:solidFill>
                <a:latin typeface="Amiri" pitchFamily="34" charset="0"/>
                <a:ea typeface="Amiri" pitchFamily="34" charset="-122"/>
                <a:cs typeface="Amiri" pitchFamily="34" charset="-120"/>
              </a:rPr>
              <a:t>سْقُطُ الثُّلُوجُ فِي الشِّتَاءِ.</a:t>
            </a:r>
            <a:endParaRPr lang="ar-SA" sz="2000" dirty="0"/>
          </a:p>
        </p:txBody>
      </p:sp>
      <p:sp>
        <p:nvSpPr>
          <p:cNvPr id="30" name="Text 27"/>
          <p:cNvSpPr txBox="1"/>
          <p:nvPr/>
        </p:nvSpPr>
        <p:spPr>
          <a:xfrm>
            <a:off x="594360" y="356981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Snow falls in winter.</a:t>
            </a:r>
            <a:endParaRPr lang="en-US" sz="1100" dirty="0"/>
          </a:p>
        </p:txBody>
      </p:sp>
      <p:sp>
        <p:nvSpPr>
          <p:cNvPr id="31" name="Shape 28"/>
          <p:cNvSpPr/>
          <p:nvPr/>
        </p:nvSpPr>
        <p:spPr>
          <a:xfrm>
            <a:off x="457200" y="3968496"/>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10085832" y="396849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الرِّيَاحُ</a:t>
            </a:r>
            <a:endParaRPr lang="ar-SA" sz="2400" dirty="0"/>
          </a:p>
        </p:txBody>
      </p:sp>
      <p:sp>
        <p:nvSpPr>
          <p:cNvPr id="33" name="Text 30"/>
          <p:cNvSpPr txBox="1"/>
          <p:nvPr/>
        </p:nvSpPr>
        <p:spPr>
          <a:xfrm>
            <a:off x="9509760" y="396849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winds (f.)</a:t>
            </a:r>
            <a:endParaRPr lang="en-US" sz="1150" dirty="0"/>
          </a:p>
        </p:txBody>
      </p:sp>
      <p:sp>
        <p:nvSpPr>
          <p:cNvPr id="34" name="Text 31"/>
          <p:cNvSpPr txBox="1"/>
          <p:nvPr/>
        </p:nvSpPr>
        <p:spPr>
          <a:xfrm>
            <a:off x="6565392" y="396849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1D5FBF"/>
                </a:solidFill>
                <a:latin typeface="Amiri" pitchFamily="34" charset="0"/>
                <a:ea typeface="Amiri" pitchFamily="34" charset="-122"/>
                <a:cs typeface="Amiri" pitchFamily="34" charset="-120"/>
              </a:rPr>
              <a:t>تَ</a:t>
            </a:r>
            <a:pPr rtl="1" algn="ctr" indent="0" marL="0">
              <a:buNone/>
            </a:pPr>
            <a:r>
              <a:rPr lang="ar-SA" altLang="en-US" sz="3000" b="1" dirty="0">
                <a:solidFill>
                  <a:srgbClr val="7B3FA0"/>
                </a:solidFill>
                <a:latin typeface="Amiri" pitchFamily="34" charset="0"/>
                <a:ea typeface="Amiri" pitchFamily="34" charset="-122"/>
                <a:cs typeface="Amiri" pitchFamily="34" charset="-120"/>
              </a:rPr>
              <a:t>هُبُّ</a:t>
            </a:r>
            <a:endParaRPr lang="ar-SA" sz="3000" dirty="0"/>
          </a:p>
        </p:txBody>
      </p:sp>
      <p:sp>
        <p:nvSpPr>
          <p:cNvPr id="35" name="Text 32"/>
          <p:cNvSpPr txBox="1"/>
          <p:nvPr/>
        </p:nvSpPr>
        <p:spPr>
          <a:xfrm>
            <a:off x="594360" y="3986784"/>
            <a:ext cx="5696712" cy="438912"/>
          </a:xfrm>
          <a:prstGeom prst="rect">
            <a:avLst/>
          </a:prstGeom>
          <a:noFill/>
          <a:ln/>
        </p:spPr>
        <p:txBody>
          <a:bodyPr wrap="square" lIns="0" tIns="0" rIns="0" bIns="0" rtlCol="0" anchor="ctr"/>
          <a:lstStyle/>
          <a:p>
            <a:pPr rtl="1" algn="r" indent="0" marL="0">
              <a:buNone/>
            </a:pPr>
            <a:r>
              <a:rPr lang="ar-SA" altLang="en-US" sz="2000" dirty="0">
                <a:solidFill>
                  <a:srgbClr val="1D5FBF"/>
                </a:solidFill>
                <a:latin typeface="Amiri" pitchFamily="34" charset="0"/>
                <a:ea typeface="Amiri" pitchFamily="34" charset="-122"/>
                <a:cs typeface="Amiri" pitchFamily="34" charset="-120"/>
              </a:rPr>
              <a:t>تَ</a:t>
            </a:r>
            <a:pPr rtl="1" algn="r" indent="0" marL="0">
              <a:buNone/>
            </a:pPr>
            <a:r>
              <a:rPr lang="ar-SA" altLang="en-US" sz="2000" dirty="0">
                <a:solidFill>
                  <a:srgbClr val="1F2A37"/>
                </a:solidFill>
                <a:latin typeface="Amiri" pitchFamily="34" charset="0"/>
                <a:ea typeface="Amiri" pitchFamily="34" charset="-122"/>
                <a:cs typeface="Amiri" pitchFamily="34" charset="-120"/>
              </a:rPr>
              <a:t>هُبُّ الرِّيَاحُ بِقُوَّةٍ.</a:t>
            </a:r>
            <a:endParaRPr lang="ar-SA" sz="2000" dirty="0"/>
          </a:p>
        </p:txBody>
      </p:sp>
      <p:sp>
        <p:nvSpPr>
          <p:cNvPr id="36" name="Text 33"/>
          <p:cNvSpPr txBox="1"/>
          <p:nvPr/>
        </p:nvSpPr>
        <p:spPr>
          <a:xfrm>
            <a:off x="594360" y="439277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The winds blow strongly.</a:t>
            </a:r>
            <a:endParaRPr lang="en-US" sz="1100" dirty="0"/>
          </a:p>
        </p:txBody>
      </p:sp>
      <p:sp>
        <p:nvSpPr>
          <p:cNvPr id="37" name="Shape 34"/>
          <p:cNvSpPr/>
          <p:nvPr/>
        </p:nvSpPr>
        <p:spPr>
          <a:xfrm>
            <a:off x="457200" y="4791456"/>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10085832" y="479145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الشَّمْسُ</a:t>
            </a:r>
            <a:endParaRPr lang="ar-SA" sz="2400" dirty="0"/>
          </a:p>
        </p:txBody>
      </p:sp>
      <p:sp>
        <p:nvSpPr>
          <p:cNvPr id="39" name="Text 36"/>
          <p:cNvSpPr txBox="1"/>
          <p:nvPr/>
        </p:nvSpPr>
        <p:spPr>
          <a:xfrm>
            <a:off x="9509760" y="479145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sun (f.)</a:t>
            </a:r>
            <a:endParaRPr lang="en-US" sz="1150" dirty="0"/>
          </a:p>
        </p:txBody>
      </p:sp>
      <p:sp>
        <p:nvSpPr>
          <p:cNvPr id="40" name="Text 37"/>
          <p:cNvSpPr txBox="1"/>
          <p:nvPr/>
        </p:nvSpPr>
        <p:spPr>
          <a:xfrm>
            <a:off x="6565392" y="479145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1D5FBF"/>
                </a:solidFill>
                <a:latin typeface="Amiri" pitchFamily="34" charset="0"/>
                <a:ea typeface="Amiri" pitchFamily="34" charset="-122"/>
                <a:cs typeface="Amiri" pitchFamily="34" charset="-120"/>
              </a:rPr>
              <a:t>تُ</a:t>
            </a:r>
            <a:pPr rtl="1" algn="ctr" indent="0" marL="0">
              <a:buNone/>
            </a:pPr>
            <a:r>
              <a:rPr lang="ar-SA" altLang="en-US" sz="3000" b="1" dirty="0">
                <a:solidFill>
                  <a:srgbClr val="7B3FA0"/>
                </a:solidFill>
                <a:latin typeface="Amiri" pitchFamily="34" charset="0"/>
                <a:ea typeface="Amiri" pitchFamily="34" charset="-122"/>
                <a:cs typeface="Amiri" pitchFamily="34" charset="-120"/>
              </a:rPr>
              <a:t>شْرِقُ</a:t>
            </a:r>
            <a:endParaRPr lang="ar-SA" sz="3000" dirty="0"/>
          </a:p>
        </p:txBody>
      </p:sp>
      <p:sp>
        <p:nvSpPr>
          <p:cNvPr id="41" name="Text 38"/>
          <p:cNvSpPr txBox="1"/>
          <p:nvPr/>
        </p:nvSpPr>
        <p:spPr>
          <a:xfrm>
            <a:off x="594360" y="480974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فِي القَاهِرَةِ سَ</a:t>
            </a:r>
            <a:pPr rtl="1" algn="r" indent="0" marL="0">
              <a:buNone/>
            </a:pPr>
            <a:r>
              <a:rPr lang="ar-SA" altLang="en-US" sz="2000" dirty="0">
                <a:solidFill>
                  <a:srgbClr val="1D5FBF"/>
                </a:solidFill>
                <a:latin typeface="Amiri" pitchFamily="34" charset="0"/>
                <a:ea typeface="Amiri" pitchFamily="34" charset="-122"/>
                <a:cs typeface="Amiri" pitchFamily="34" charset="-120"/>
              </a:rPr>
              <a:t>تُ</a:t>
            </a:r>
            <a:pPr rtl="1" algn="r" indent="0" marL="0">
              <a:buNone/>
            </a:pPr>
            <a:r>
              <a:rPr lang="ar-SA" altLang="en-US" sz="2000" dirty="0">
                <a:solidFill>
                  <a:srgbClr val="1F2A37"/>
                </a:solidFill>
                <a:latin typeface="Amiri" pitchFamily="34" charset="0"/>
                <a:ea typeface="Amiri" pitchFamily="34" charset="-122"/>
                <a:cs typeface="Amiri" pitchFamily="34" charset="-120"/>
              </a:rPr>
              <a:t>شْرِقُ الشَّمْسُ.</a:t>
            </a:r>
            <a:endParaRPr lang="ar-SA" sz="2000" dirty="0"/>
          </a:p>
        </p:txBody>
      </p:sp>
      <p:sp>
        <p:nvSpPr>
          <p:cNvPr id="42" name="Text 39"/>
          <p:cNvSpPr txBox="1"/>
          <p:nvPr/>
        </p:nvSpPr>
        <p:spPr>
          <a:xfrm>
            <a:off x="594360" y="521573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In Cairo the sun will shine.</a:t>
            </a:r>
            <a:endParaRPr lang="en-US" sz="1100" dirty="0"/>
          </a:p>
        </p:txBody>
      </p:sp>
      <p:sp>
        <p:nvSpPr>
          <p:cNvPr id="43" name="Shape 40"/>
          <p:cNvSpPr/>
          <p:nvPr/>
        </p:nvSpPr>
        <p:spPr>
          <a:xfrm>
            <a:off x="457200" y="5614416"/>
            <a:ext cx="11274552" cy="731520"/>
          </a:xfrm>
          <a:prstGeom prst="roundRect">
            <a:avLst>
              <a:gd name="adj" fmla="val 6250"/>
            </a:avLst>
          </a:prstGeom>
          <a:solidFill>
            <a:srgbClr val="FFFFFF"/>
          </a:solidFill>
          <a:ln w="9525">
            <a:solidFill>
              <a:srgbClr val="D8D0BF"/>
            </a:solidFill>
            <a:prstDash val="solid"/>
          </a:ln>
        </p:spPr>
      </p:sp>
      <p:sp>
        <p:nvSpPr>
          <p:cNvPr id="44" name="Text 41"/>
          <p:cNvSpPr txBox="1"/>
          <p:nvPr/>
        </p:nvSpPr>
        <p:spPr>
          <a:xfrm>
            <a:off x="10085832" y="561441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دَرَجَةُ الحَرَارَةِ</a:t>
            </a:r>
            <a:endParaRPr lang="ar-SA" sz="2400" dirty="0"/>
          </a:p>
        </p:txBody>
      </p:sp>
      <p:sp>
        <p:nvSpPr>
          <p:cNvPr id="45" name="Text 42"/>
          <p:cNvSpPr txBox="1"/>
          <p:nvPr/>
        </p:nvSpPr>
        <p:spPr>
          <a:xfrm>
            <a:off x="9509760" y="561441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temperature (f.)</a:t>
            </a:r>
            <a:endParaRPr lang="en-US" sz="1150" dirty="0"/>
          </a:p>
        </p:txBody>
      </p:sp>
      <p:sp>
        <p:nvSpPr>
          <p:cNvPr id="46" name="Text 43"/>
          <p:cNvSpPr txBox="1"/>
          <p:nvPr/>
        </p:nvSpPr>
        <p:spPr>
          <a:xfrm>
            <a:off x="6565392" y="561441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1D5FBF"/>
                </a:solidFill>
                <a:latin typeface="Amiri" pitchFamily="34" charset="0"/>
                <a:ea typeface="Amiri" pitchFamily="34" charset="-122"/>
                <a:cs typeface="Amiri" pitchFamily="34" charset="-120"/>
              </a:rPr>
              <a:t>تَ</a:t>
            </a:r>
            <a:pPr rtl="1" algn="ctr" indent="0" marL="0">
              <a:buNone/>
            </a:pPr>
            <a:r>
              <a:rPr lang="ar-SA" altLang="en-US" sz="3000" b="1" dirty="0">
                <a:solidFill>
                  <a:srgbClr val="7B3FA0"/>
                </a:solidFill>
                <a:latin typeface="Amiri" pitchFamily="34" charset="0"/>
                <a:ea typeface="Amiri" pitchFamily="34" charset="-122"/>
                <a:cs typeface="Amiri" pitchFamily="34" charset="-120"/>
              </a:rPr>
              <a:t>رْتَفِعُ</a:t>
            </a:r>
            <a:endParaRPr lang="ar-SA" sz="3000" dirty="0"/>
          </a:p>
        </p:txBody>
      </p:sp>
      <p:sp>
        <p:nvSpPr>
          <p:cNvPr id="47" name="Text 44"/>
          <p:cNvSpPr txBox="1"/>
          <p:nvPr/>
        </p:nvSpPr>
        <p:spPr>
          <a:xfrm>
            <a:off x="594360" y="5632704"/>
            <a:ext cx="5696712" cy="438912"/>
          </a:xfrm>
          <a:prstGeom prst="rect">
            <a:avLst/>
          </a:prstGeom>
          <a:noFill/>
          <a:ln/>
        </p:spPr>
        <p:txBody>
          <a:bodyPr wrap="square" lIns="0" tIns="0" rIns="0" bIns="0" rtlCol="0" anchor="ctr"/>
          <a:lstStyle/>
          <a:p>
            <a:pPr rtl="1" algn="r" indent="0" marL="0">
              <a:buNone/>
            </a:pPr>
            <a:r>
              <a:rPr lang="ar-SA" altLang="en-US" sz="2000" dirty="0">
                <a:solidFill>
                  <a:srgbClr val="1D5FBF"/>
                </a:solidFill>
                <a:latin typeface="Amiri" pitchFamily="34" charset="0"/>
                <a:ea typeface="Amiri" pitchFamily="34" charset="-122"/>
                <a:cs typeface="Amiri" pitchFamily="34" charset="-120"/>
              </a:rPr>
              <a:t>تَ</a:t>
            </a:r>
            <a:pPr rtl="1" algn="r" indent="0" marL="0">
              <a:buNone/>
            </a:pPr>
            <a:r>
              <a:rPr lang="ar-SA" altLang="en-US" sz="2000" dirty="0">
                <a:solidFill>
                  <a:srgbClr val="1F2A37"/>
                </a:solidFill>
                <a:latin typeface="Amiri" pitchFamily="34" charset="0"/>
                <a:ea typeface="Amiri" pitchFamily="34" charset="-122"/>
                <a:cs typeface="Amiri" pitchFamily="34" charset="-120"/>
              </a:rPr>
              <a:t>رْتَفِعُ دَرَجَةُ الحَرَارَةِ إِلَى ثَلَاثِينَ دَرَجَةً.</a:t>
            </a:r>
            <a:endParaRPr lang="ar-SA" sz="2000" dirty="0"/>
          </a:p>
        </p:txBody>
      </p:sp>
      <p:sp>
        <p:nvSpPr>
          <p:cNvPr id="48" name="Text 45"/>
          <p:cNvSpPr txBox="1"/>
          <p:nvPr/>
        </p:nvSpPr>
        <p:spPr>
          <a:xfrm>
            <a:off x="594360" y="603869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The temperature rises to thirty degrees.</a:t>
            </a:r>
            <a:endParaRPr lang="en-US" sz="11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48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3 · WEBSITE RULE “COMPARING WEATHER”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Compare two places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المُقَارَنَةُ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Text 12"/>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ea typeface="Calibri" pitchFamily="34" charset="-122"/>
                <a:cs typeface="Calibri" pitchFamily="34" charset="-120"/>
              </a:rPr>
              <a:t>English meaning</a:t>
            </a:r>
            <a:endParaRPr lang="en-US" sz="1100" dirty="0"/>
          </a:p>
        </p:txBody>
      </p:sp>
      <p:sp>
        <p:nvSpPr>
          <p:cNvPr id="16" name="Shape 13"/>
          <p:cNvSpPr/>
          <p:nvPr/>
        </p:nvSpPr>
        <p:spPr>
          <a:xfrm>
            <a:off x="9089136" y="1810512"/>
            <a:ext cx="2642616"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المَكَانُ</a:t>
            </a:r>
            <a:endParaRPr lang="ar-SA" sz="1850" dirty="0"/>
          </a:p>
        </p:txBody>
      </p:sp>
      <p:sp>
        <p:nvSpPr>
          <p:cNvPr id="18" name="Text 15"/>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place</a:t>
            </a:r>
            <a:endParaRPr lang="en-US" sz="900" dirty="0"/>
          </a:p>
        </p:txBody>
      </p:sp>
      <p:sp>
        <p:nvSpPr>
          <p:cNvPr id="19" name="Shape 16"/>
          <p:cNvSpPr/>
          <p:nvPr/>
        </p:nvSpPr>
        <p:spPr>
          <a:xfrm>
            <a:off x="6336792" y="1810512"/>
            <a:ext cx="2642616" cy="566928"/>
          </a:xfrm>
          <a:prstGeom prst="roundRect">
            <a:avLst>
              <a:gd name="adj" fmla="val 9677"/>
            </a:avLst>
          </a:prstGeom>
          <a:solidFill>
            <a:srgbClr val="0E7C86"/>
          </a:solidFill>
          <a:ln w="12700">
            <a:solidFill>
              <a:srgbClr val="0E7C86"/>
            </a:solidFill>
            <a:prstDash val="solid"/>
          </a:ln>
        </p:spPr>
      </p:sp>
      <p:sp>
        <p:nvSpPr>
          <p:cNvPr id="20" name="Text 17"/>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أَكْثَرُ / أَقَلُّ</a:t>
            </a:r>
            <a:endParaRPr lang="ar-SA" sz="1850" dirty="0"/>
          </a:p>
        </p:txBody>
      </p:sp>
      <p:sp>
        <p:nvSpPr>
          <p:cNvPr id="21" name="Text 18"/>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more / less + noun (key word)</a:t>
            </a:r>
            <a:endParaRPr lang="en-US" sz="900" dirty="0"/>
          </a:p>
        </p:txBody>
      </p:sp>
      <p:sp>
        <p:nvSpPr>
          <p:cNvPr id="22" name="Shape 19"/>
          <p:cNvSpPr/>
          <p:nvPr/>
        </p:nvSpPr>
        <p:spPr>
          <a:xfrm>
            <a:off x="3584448" y="1810512"/>
            <a:ext cx="2642616" cy="566928"/>
          </a:xfrm>
          <a:prstGeom prst="roundRect">
            <a:avLst>
              <a:gd name="adj" fmla="val 9677"/>
            </a:avLst>
          </a:prstGeom>
          <a:solidFill>
            <a:srgbClr val="8A6D1E"/>
          </a:solidFill>
          <a:ln w="12700">
            <a:solidFill>
              <a:srgbClr val="8A6D1E"/>
            </a:solidFill>
            <a:prstDash val="solid"/>
          </a:ln>
        </p:spPr>
      </p:sp>
      <p:sp>
        <p:nvSpPr>
          <p:cNvPr id="23" name="Text 20"/>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مِنْ</a:t>
            </a:r>
            <a:endParaRPr lang="ar-SA" sz="1850" dirty="0"/>
          </a:p>
        </p:txBody>
      </p:sp>
      <p:sp>
        <p:nvSpPr>
          <p:cNvPr id="24" name="Text 21"/>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than + place</a:t>
            </a:r>
            <a:endParaRPr lang="en-US" sz="900" dirty="0"/>
          </a:p>
        </p:txBody>
      </p:sp>
      <p:sp>
        <p:nvSpPr>
          <p:cNvPr id="25" name="Text 22"/>
          <p:cNvSpPr txBox="1"/>
          <p:nvPr/>
        </p:nvSpPr>
        <p:spPr>
          <a:xfrm>
            <a:off x="457200" y="2487168"/>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Cairo is hotter than London.</a:t>
            </a:r>
            <a:endParaRPr lang="en-US" sz="1200" dirty="0"/>
          </a:p>
        </p:txBody>
      </p:sp>
      <p:sp>
        <p:nvSpPr>
          <p:cNvPr id="26" name="Shape 23"/>
          <p:cNvSpPr/>
          <p:nvPr/>
        </p:nvSpPr>
        <p:spPr>
          <a:xfrm>
            <a:off x="9089136" y="2487168"/>
            <a:ext cx="2642616" cy="768096"/>
          </a:xfrm>
          <a:prstGeom prst="roundRect">
            <a:avLst>
              <a:gd name="adj" fmla="val 7143"/>
            </a:avLst>
          </a:prstGeom>
          <a:solidFill>
            <a:srgbClr val="EEF3FA"/>
          </a:solidFill>
          <a:ln w="9525">
            <a:solidFill>
              <a:srgbClr val="EEF3FA"/>
            </a:solidFill>
            <a:prstDash val="solid"/>
          </a:ln>
        </p:spPr>
      </p:sp>
      <p:sp>
        <p:nvSpPr>
          <p:cNvPr id="27" name="Text 24"/>
          <p:cNvSpPr txBox="1"/>
          <p:nvPr/>
        </p:nvSpPr>
        <p:spPr>
          <a:xfrm>
            <a:off x="9162288"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القَاهِرَةُ</a:t>
            </a:r>
            <a:endParaRPr lang="ar-SA" sz="2400" dirty="0"/>
          </a:p>
        </p:txBody>
      </p:sp>
      <p:sp>
        <p:nvSpPr>
          <p:cNvPr id="28" name="Shape 25"/>
          <p:cNvSpPr/>
          <p:nvPr/>
        </p:nvSpPr>
        <p:spPr>
          <a:xfrm>
            <a:off x="6336792" y="2487168"/>
            <a:ext cx="2642616" cy="768096"/>
          </a:xfrm>
          <a:prstGeom prst="roundRect">
            <a:avLst>
              <a:gd name="adj" fmla="val 7143"/>
            </a:avLst>
          </a:prstGeom>
          <a:solidFill>
            <a:srgbClr val="E3F2F3"/>
          </a:solidFill>
          <a:ln w="9525">
            <a:solidFill>
              <a:srgbClr val="E3F2F3"/>
            </a:solidFill>
            <a:prstDash val="solid"/>
          </a:ln>
        </p:spPr>
      </p:sp>
      <p:sp>
        <p:nvSpPr>
          <p:cNvPr id="29" name="Text 26"/>
          <p:cNvSpPr txBox="1"/>
          <p:nvPr/>
        </p:nvSpPr>
        <p:spPr>
          <a:xfrm>
            <a:off x="6409944"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أَكْثَرُ</a:t>
            </a:r>
            <a:pPr rtl="1" algn="ctr" indent="0" marL="0">
              <a:buNone/>
            </a:pPr>
            <a:r>
              <a:rPr lang="ar-SA" altLang="en-US" sz="2400" b="1" dirty="0">
                <a:solidFill>
                  <a:srgbClr val="1B3B6F"/>
                </a:solidFill>
                <a:latin typeface="Amiri" pitchFamily="34" charset="0"/>
                <a:ea typeface="Amiri" pitchFamily="34" charset="-122"/>
                <a:cs typeface="Amiri" pitchFamily="34" charset="-120"/>
              </a:rPr>
              <a:t> حَرَارَةً</a:t>
            </a:r>
            <a:endParaRPr lang="ar-SA" sz="2400" dirty="0"/>
          </a:p>
        </p:txBody>
      </p:sp>
      <p:sp>
        <p:nvSpPr>
          <p:cNvPr id="30" name="Shape 27"/>
          <p:cNvSpPr/>
          <p:nvPr/>
        </p:nvSpPr>
        <p:spPr>
          <a:xfrm>
            <a:off x="3584448" y="2487168"/>
            <a:ext cx="2642616" cy="768096"/>
          </a:xfrm>
          <a:prstGeom prst="roundRect">
            <a:avLst>
              <a:gd name="adj" fmla="val 7143"/>
            </a:avLst>
          </a:prstGeom>
          <a:solidFill>
            <a:srgbClr val="F8F0DC"/>
          </a:solidFill>
          <a:ln w="9525">
            <a:solidFill>
              <a:srgbClr val="F8F0DC"/>
            </a:solidFill>
            <a:prstDash val="solid"/>
          </a:ln>
        </p:spPr>
      </p:sp>
      <p:sp>
        <p:nvSpPr>
          <p:cNvPr id="31" name="Text 28"/>
          <p:cNvSpPr txBox="1"/>
          <p:nvPr/>
        </p:nvSpPr>
        <p:spPr>
          <a:xfrm>
            <a:off x="3657600"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مِنْ لَنْدَنَ.</a:t>
            </a:r>
            <a:endParaRPr lang="ar-SA" sz="2400" dirty="0"/>
          </a:p>
        </p:txBody>
      </p:sp>
      <p:sp>
        <p:nvSpPr>
          <p:cNvPr id="32" name="Text 29"/>
          <p:cNvSpPr txBox="1"/>
          <p:nvPr/>
        </p:nvSpPr>
        <p:spPr>
          <a:xfrm>
            <a:off x="457200" y="3364992"/>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Amman is colder than Dubai.</a:t>
            </a:r>
            <a:endParaRPr lang="en-US" sz="1200" dirty="0"/>
          </a:p>
        </p:txBody>
      </p:sp>
      <p:sp>
        <p:nvSpPr>
          <p:cNvPr id="33" name="Shape 30"/>
          <p:cNvSpPr/>
          <p:nvPr/>
        </p:nvSpPr>
        <p:spPr>
          <a:xfrm>
            <a:off x="9089136" y="3364992"/>
            <a:ext cx="2642616" cy="768096"/>
          </a:xfrm>
          <a:prstGeom prst="roundRect">
            <a:avLst>
              <a:gd name="adj" fmla="val 7143"/>
            </a:avLst>
          </a:prstGeom>
          <a:solidFill>
            <a:srgbClr val="EEF3FA"/>
          </a:solidFill>
          <a:ln w="9525">
            <a:solidFill>
              <a:srgbClr val="EEF3FA"/>
            </a:solidFill>
            <a:prstDash val="solid"/>
          </a:ln>
        </p:spPr>
      </p:sp>
      <p:sp>
        <p:nvSpPr>
          <p:cNvPr id="34" name="Text 31"/>
          <p:cNvSpPr txBox="1"/>
          <p:nvPr/>
        </p:nvSpPr>
        <p:spPr>
          <a:xfrm>
            <a:off x="9162288"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عَمَّانُ</a:t>
            </a:r>
            <a:endParaRPr lang="ar-SA" sz="2400" dirty="0"/>
          </a:p>
        </p:txBody>
      </p:sp>
      <p:sp>
        <p:nvSpPr>
          <p:cNvPr id="35" name="Shape 32"/>
          <p:cNvSpPr/>
          <p:nvPr/>
        </p:nvSpPr>
        <p:spPr>
          <a:xfrm>
            <a:off x="6336792" y="3364992"/>
            <a:ext cx="2642616" cy="768096"/>
          </a:xfrm>
          <a:prstGeom prst="roundRect">
            <a:avLst>
              <a:gd name="adj" fmla="val 7143"/>
            </a:avLst>
          </a:prstGeom>
          <a:solidFill>
            <a:srgbClr val="E3F2F3"/>
          </a:solidFill>
          <a:ln w="9525">
            <a:solidFill>
              <a:srgbClr val="E3F2F3"/>
            </a:solidFill>
            <a:prstDash val="solid"/>
          </a:ln>
        </p:spPr>
      </p:sp>
      <p:sp>
        <p:nvSpPr>
          <p:cNvPr id="36" name="Text 33"/>
          <p:cNvSpPr txBox="1"/>
          <p:nvPr/>
        </p:nvSpPr>
        <p:spPr>
          <a:xfrm>
            <a:off x="6409944"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أَكْثَرُ</a:t>
            </a:r>
            <a:pPr rtl="1" algn="ctr" indent="0" marL="0">
              <a:buNone/>
            </a:pPr>
            <a:r>
              <a:rPr lang="ar-SA" altLang="en-US" sz="2400" b="1" dirty="0">
                <a:solidFill>
                  <a:srgbClr val="1B3B6F"/>
                </a:solidFill>
                <a:latin typeface="Amiri" pitchFamily="34" charset="0"/>
                <a:ea typeface="Amiri" pitchFamily="34" charset="-122"/>
                <a:cs typeface="Amiri" pitchFamily="34" charset="-120"/>
              </a:rPr>
              <a:t> بُرُودَةً</a:t>
            </a:r>
            <a:endParaRPr lang="ar-SA" sz="2400" dirty="0"/>
          </a:p>
        </p:txBody>
      </p:sp>
      <p:sp>
        <p:nvSpPr>
          <p:cNvPr id="37" name="Shape 34"/>
          <p:cNvSpPr/>
          <p:nvPr/>
        </p:nvSpPr>
        <p:spPr>
          <a:xfrm>
            <a:off x="3584448" y="3364992"/>
            <a:ext cx="2642616" cy="768096"/>
          </a:xfrm>
          <a:prstGeom prst="roundRect">
            <a:avLst>
              <a:gd name="adj" fmla="val 7143"/>
            </a:avLst>
          </a:prstGeom>
          <a:solidFill>
            <a:srgbClr val="F8F0DC"/>
          </a:solidFill>
          <a:ln w="9525">
            <a:solidFill>
              <a:srgbClr val="F8F0DC"/>
            </a:solidFill>
            <a:prstDash val="solid"/>
          </a:ln>
        </p:spPr>
      </p:sp>
      <p:sp>
        <p:nvSpPr>
          <p:cNvPr id="38" name="Text 35"/>
          <p:cNvSpPr txBox="1"/>
          <p:nvPr/>
        </p:nvSpPr>
        <p:spPr>
          <a:xfrm>
            <a:off x="3657600"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مِنْ دُبَيَّ.</a:t>
            </a:r>
            <a:endParaRPr lang="ar-SA" sz="2400" dirty="0"/>
          </a:p>
        </p:txBody>
      </p:sp>
      <p:sp>
        <p:nvSpPr>
          <p:cNvPr id="39" name="Text 36"/>
          <p:cNvSpPr txBox="1"/>
          <p:nvPr/>
        </p:nvSpPr>
        <p:spPr>
          <a:xfrm>
            <a:off x="457200" y="4242816"/>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Jeddah is more humid than Riyadh.</a:t>
            </a:r>
            <a:endParaRPr lang="en-US" sz="1200" dirty="0"/>
          </a:p>
        </p:txBody>
      </p:sp>
      <p:sp>
        <p:nvSpPr>
          <p:cNvPr id="40" name="Shape 37"/>
          <p:cNvSpPr/>
          <p:nvPr/>
        </p:nvSpPr>
        <p:spPr>
          <a:xfrm>
            <a:off x="9089136" y="4242816"/>
            <a:ext cx="2642616" cy="768096"/>
          </a:xfrm>
          <a:prstGeom prst="roundRect">
            <a:avLst>
              <a:gd name="adj" fmla="val 7143"/>
            </a:avLst>
          </a:prstGeom>
          <a:solidFill>
            <a:srgbClr val="EEF3FA"/>
          </a:solidFill>
          <a:ln w="9525">
            <a:solidFill>
              <a:srgbClr val="EEF3FA"/>
            </a:solidFill>
            <a:prstDash val="solid"/>
          </a:ln>
        </p:spPr>
      </p:sp>
      <p:sp>
        <p:nvSpPr>
          <p:cNvPr id="41" name="Text 38"/>
          <p:cNvSpPr txBox="1"/>
          <p:nvPr/>
        </p:nvSpPr>
        <p:spPr>
          <a:xfrm>
            <a:off x="9162288"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جُدَّةُ</a:t>
            </a:r>
            <a:endParaRPr lang="ar-SA" sz="2400" dirty="0"/>
          </a:p>
        </p:txBody>
      </p:sp>
      <p:sp>
        <p:nvSpPr>
          <p:cNvPr id="42" name="Shape 39"/>
          <p:cNvSpPr/>
          <p:nvPr/>
        </p:nvSpPr>
        <p:spPr>
          <a:xfrm>
            <a:off x="6336792" y="4242816"/>
            <a:ext cx="2642616" cy="768096"/>
          </a:xfrm>
          <a:prstGeom prst="roundRect">
            <a:avLst>
              <a:gd name="adj" fmla="val 7143"/>
            </a:avLst>
          </a:prstGeom>
          <a:solidFill>
            <a:srgbClr val="E3F2F3"/>
          </a:solidFill>
          <a:ln w="9525">
            <a:solidFill>
              <a:srgbClr val="E3F2F3"/>
            </a:solidFill>
            <a:prstDash val="solid"/>
          </a:ln>
        </p:spPr>
      </p:sp>
      <p:sp>
        <p:nvSpPr>
          <p:cNvPr id="43" name="Text 40"/>
          <p:cNvSpPr txBox="1"/>
          <p:nvPr/>
        </p:nvSpPr>
        <p:spPr>
          <a:xfrm>
            <a:off x="6409944"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أَكْثَرُ</a:t>
            </a:r>
            <a:pPr rtl="1" algn="ctr" indent="0" marL="0">
              <a:buNone/>
            </a:pPr>
            <a:r>
              <a:rPr lang="ar-SA" altLang="en-US" sz="2400" b="1" dirty="0">
                <a:solidFill>
                  <a:srgbClr val="1B3B6F"/>
                </a:solidFill>
                <a:latin typeface="Amiri" pitchFamily="34" charset="0"/>
                <a:ea typeface="Amiri" pitchFamily="34" charset="-122"/>
                <a:cs typeface="Amiri" pitchFamily="34" charset="-120"/>
              </a:rPr>
              <a:t> رُطُوبَةً</a:t>
            </a:r>
            <a:endParaRPr lang="ar-SA" sz="2400" dirty="0"/>
          </a:p>
        </p:txBody>
      </p:sp>
      <p:sp>
        <p:nvSpPr>
          <p:cNvPr id="44" name="Shape 41"/>
          <p:cNvSpPr/>
          <p:nvPr/>
        </p:nvSpPr>
        <p:spPr>
          <a:xfrm>
            <a:off x="3584448" y="4242816"/>
            <a:ext cx="2642616" cy="768096"/>
          </a:xfrm>
          <a:prstGeom prst="roundRect">
            <a:avLst>
              <a:gd name="adj" fmla="val 7143"/>
            </a:avLst>
          </a:prstGeom>
          <a:solidFill>
            <a:srgbClr val="F8F0DC"/>
          </a:solidFill>
          <a:ln w="9525">
            <a:solidFill>
              <a:srgbClr val="F8F0DC"/>
            </a:solidFill>
            <a:prstDash val="solid"/>
          </a:ln>
        </p:spPr>
      </p:sp>
      <p:sp>
        <p:nvSpPr>
          <p:cNvPr id="45" name="Text 42"/>
          <p:cNvSpPr txBox="1"/>
          <p:nvPr/>
        </p:nvSpPr>
        <p:spPr>
          <a:xfrm>
            <a:off x="3657600"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مِنَ الرِّيَاضِ.</a:t>
            </a:r>
            <a:endParaRPr lang="ar-SA" sz="2400" dirty="0"/>
          </a:p>
        </p:txBody>
      </p:sp>
      <p:sp>
        <p:nvSpPr>
          <p:cNvPr id="46" name="Text 43"/>
          <p:cNvSpPr txBox="1"/>
          <p:nvPr/>
        </p:nvSpPr>
        <p:spPr>
          <a:xfrm>
            <a:off x="457200" y="5120640"/>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The interior is less humid than the coast.</a:t>
            </a:r>
            <a:endParaRPr lang="en-US" sz="1200" dirty="0"/>
          </a:p>
        </p:txBody>
      </p:sp>
      <p:sp>
        <p:nvSpPr>
          <p:cNvPr id="47" name="Shape 44"/>
          <p:cNvSpPr/>
          <p:nvPr/>
        </p:nvSpPr>
        <p:spPr>
          <a:xfrm>
            <a:off x="9089136" y="5120640"/>
            <a:ext cx="2642616" cy="768096"/>
          </a:xfrm>
          <a:prstGeom prst="roundRect">
            <a:avLst>
              <a:gd name="adj" fmla="val 7143"/>
            </a:avLst>
          </a:prstGeom>
          <a:solidFill>
            <a:srgbClr val="EEF3FA"/>
          </a:solidFill>
          <a:ln w="9525">
            <a:solidFill>
              <a:srgbClr val="EEF3FA"/>
            </a:solidFill>
            <a:prstDash val="solid"/>
          </a:ln>
        </p:spPr>
      </p:sp>
      <p:sp>
        <p:nvSpPr>
          <p:cNvPr id="48" name="Text 45"/>
          <p:cNvSpPr txBox="1"/>
          <p:nvPr/>
        </p:nvSpPr>
        <p:spPr>
          <a:xfrm>
            <a:off x="9162288"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الدَّاخِلُ</a:t>
            </a:r>
            <a:endParaRPr lang="ar-SA" sz="2400" dirty="0"/>
          </a:p>
        </p:txBody>
      </p:sp>
      <p:sp>
        <p:nvSpPr>
          <p:cNvPr id="49" name="Shape 46"/>
          <p:cNvSpPr/>
          <p:nvPr/>
        </p:nvSpPr>
        <p:spPr>
          <a:xfrm>
            <a:off x="6336792" y="5120640"/>
            <a:ext cx="2642616" cy="768096"/>
          </a:xfrm>
          <a:prstGeom prst="roundRect">
            <a:avLst>
              <a:gd name="adj" fmla="val 7143"/>
            </a:avLst>
          </a:prstGeom>
          <a:solidFill>
            <a:srgbClr val="E3F2F3"/>
          </a:solidFill>
          <a:ln w="9525">
            <a:solidFill>
              <a:srgbClr val="E3F2F3"/>
            </a:solidFill>
            <a:prstDash val="solid"/>
          </a:ln>
        </p:spPr>
      </p:sp>
      <p:sp>
        <p:nvSpPr>
          <p:cNvPr id="50" name="Text 47"/>
          <p:cNvSpPr txBox="1"/>
          <p:nvPr/>
        </p:nvSpPr>
        <p:spPr>
          <a:xfrm>
            <a:off x="6409944"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أَقَلُّ</a:t>
            </a:r>
            <a:pPr rtl="1" algn="ctr" indent="0" marL="0">
              <a:buNone/>
            </a:pPr>
            <a:r>
              <a:rPr lang="ar-SA" altLang="en-US" sz="2400" b="1" dirty="0">
                <a:solidFill>
                  <a:srgbClr val="1B3B6F"/>
                </a:solidFill>
                <a:latin typeface="Amiri" pitchFamily="34" charset="0"/>
                <a:ea typeface="Amiri" pitchFamily="34" charset="-122"/>
                <a:cs typeface="Amiri" pitchFamily="34" charset="-120"/>
              </a:rPr>
              <a:t> رُطُوبَةً</a:t>
            </a:r>
            <a:endParaRPr lang="ar-SA" sz="2400" dirty="0"/>
          </a:p>
        </p:txBody>
      </p:sp>
      <p:sp>
        <p:nvSpPr>
          <p:cNvPr id="51" name="Shape 48"/>
          <p:cNvSpPr/>
          <p:nvPr/>
        </p:nvSpPr>
        <p:spPr>
          <a:xfrm>
            <a:off x="3584448" y="5120640"/>
            <a:ext cx="2642616" cy="768096"/>
          </a:xfrm>
          <a:prstGeom prst="roundRect">
            <a:avLst>
              <a:gd name="adj" fmla="val 7143"/>
            </a:avLst>
          </a:prstGeom>
          <a:solidFill>
            <a:srgbClr val="F8F0DC"/>
          </a:solidFill>
          <a:ln w="9525">
            <a:solidFill>
              <a:srgbClr val="F8F0DC"/>
            </a:solidFill>
            <a:prstDash val="solid"/>
          </a:ln>
        </p:spPr>
      </p:sp>
      <p:sp>
        <p:nvSpPr>
          <p:cNvPr id="52" name="Text 49"/>
          <p:cNvSpPr txBox="1"/>
          <p:nvPr/>
        </p:nvSpPr>
        <p:spPr>
          <a:xfrm>
            <a:off x="3657600"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مِنَ السَّاحِلِ.</a:t>
            </a:r>
            <a:endParaRPr lang="ar-SA" sz="2400" dirty="0"/>
          </a:p>
        </p:txBody>
      </p:sp>
      <p:sp>
        <p:nvSpPr>
          <p:cNvPr id="53" name="Text 50"/>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ea typeface="Calibri" pitchFamily="34" charset="-122"/>
                <a:cs typeface="Calibri" pitchFamily="34" charset="-120"/>
              </a:rPr>
              <a:t>Not </a:t>
            </a:r>
            <a:pPr algn="l" indent="0" marL="0">
              <a:buNone/>
            </a:pPr>
            <a:r>
              <a:rPr lang="ar-SA" altLang="en-US" sz="1550" b="1" dirty="0">
                <a:solidFill>
                  <a:srgbClr val="8A6D1E"/>
                </a:solidFill>
                <a:latin typeface="Amiri" pitchFamily="34" charset="0"/>
                <a:ea typeface="Amiri" pitchFamily="34" charset="-122"/>
                <a:cs typeface="Amiri" pitchFamily="34" charset="-120"/>
              </a:rPr>
              <a:t>أَكْثَرُ حَارٌّ</a:t>
            </a:r>
            <a:pPr algn="l" indent="0" marL="0">
              <a:buNone/>
            </a:pPr>
            <a:r>
              <a:rPr lang="en-US" sz="1200" b="1" dirty="0">
                <a:solidFill>
                  <a:srgbClr val="8A6D1E"/>
                </a:solidFill>
                <a:latin typeface="Calibri" pitchFamily="34" charset="0"/>
                <a:ea typeface="Calibri" pitchFamily="34" charset="-122"/>
                <a:cs typeface="Calibri" pitchFamily="34" charset="-120"/>
              </a:rPr>
              <a:t> ✗. Use </a:t>
            </a:r>
            <a:pPr algn="l" indent="0" marL="0">
              <a:buNone/>
            </a:pPr>
            <a:r>
              <a:rPr lang="ar-SA" altLang="en-US" sz="1550" b="1" dirty="0">
                <a:solidFill>
                  <a:srgbClr val="8A6D1E"/>
                </a:solidFill>
                <a:latin typeface="Amiri" pitchFamily="34" charset="0"/>
                <a:ea typeface="Amiri" pitchFamily="34" charset="-122"/>
                <a:cs typeface="Amiri" pitchFamily="34" charset="-120"/>
              </a:rPr>
              <a:t>أَكْثَرُ / أَقَلُّ</a:t>
            </a:r>
            <a:pPr algn="l" indent="0" marL="0">
              <a:buNone/>
            </a:pPr>
            <a:r>
              <a:rPr lang="en-US" sz="1200" b="1" dirty="0">
                <a:solidFill>
                  <a:srgbClr val="8A6D1E"/>
                </a:solidFill>
                <a:latin typeface="Calibri" pitchFamily="34" charset="0"/>
                <a:ea typeface="Calibri" pitchFamily="34" charset="-122"/>
                <a:cs typeface="Calibri" pitchFamily="34" charset="-120"/>
              </a:rPr>
              <a:t> + a noun ending in </a:t>
            </a:r>
            <a:pPr algn="l" indent="0" marL="0">
              <a:buNone/>
            </a:pPr>
            <a:r>
              <a:rPr lang="ar-SA" altLang="en-US" sz="1550" b="1" dirty="0">
                <a:solidFill>
                  <a:srgbClr val="8A6D1E"/>
                </a:solidFill>
                <a:latin typeface="Amiri" pitchFamily="34" charset="0"/>
                <a:ea typeface="Amiri" pitchFamily="34" charset="-122"/>
                <a:cs typeface="Amiri" pitchFamily="34" charset="-120"/>
              </a:rPr>
              <a:t>ـًا</a:t>
            </a:r>
            <a:pPr algn="l" indent="0" marL="0">
              <a:buNone/>
            </a:pPr>
            <a:r>
              <a:rPr lang="en-US" sz="1200" b="1" dirty="0">
                <a:solidFill>
                  <a:srgbClr val="8A6D1E"/>
                </a:solidFill>
                <a:latin typeface="Calibri" pitchFamily="34" charset="0"/>
                <a:ea typeface="Calibri" pitchFamily="34" charset="-122"/>
                <a:cs typeface="Calibri" pitchFamily="34" charset="-120"/>
              </a:rPr>
              <a:t>: </a:t>
            </a:r>
            <a:pPr algn="l" indent="0" marL="0">
              <a:buNone/>
            </a:pPr>
            <a:r>
              <a:rPr lang="ar-SA" altLang="en-US" sz="1550" b="1" dirty="0">
                <a:solidFill>
                  <a:srgbClr val="8A6D1E"/>
                </a:solidFill>
                <a:latin typeface="Amiri" pitchFamily="34" charset="0"/>
                <a:ea typeface="Amiri" pitchFamily="34" charset="-122"/>
                <a:cs typeface="Amiri" pitchFamily="34" charset="-120"/>
              </a:rPr>
              <a:t>حَرَارَةً</a:t>
            </a:r>
            <a:pPr algn="l" indent="0" marL="0">
              <a:buNone/>
            </a:pPr>
            <a:r>
              <a:rPr lang="en-US" sz="1200" b="1" dirty="0">
                <a:solidFill>
                  <a:srgbClr val="8A6D1E"/>
                </a:solidFill>
                <a:latin typeface="Calibri" pitchFamily="34" charset="0"/>
                <a:ea typeface="Calibri" pitchFamily="34" charset="-122"/>
                <a:cs typeface="Calibri" pitchFamily="34" charset="-120"/>
              </a:rPr>
              <a:t> · </a:t>
            </a:r>
            <a:pPr algn="l" indent="0" marL="0">
              <a:buNone/>
            </a:pPr>
            <a:r>
              <a:rPr lang="ar-SA" altLang="en-US" sz="1550" b="1" dirty="0">
                <a:solidFill>
                  <a:srgbClr val="8A6D1E"/>
                </a:solidFill>
                <a:latin typeface="Amiri" pitchFamily="34" charset="0"/>
                <a:ea typeface="Amiri" pitchFamily="34" charset="-122"/>
                <a:cs typeface="Amiri" pitchFamily="34" charset="-120"/>
              </a:rPr>
              <a:t>بُرُودَةً</a:t>
            </a:r>
            <a:pPr algn="l" indent="0" marL="0">
              <a:buNone/>
            </a:pPr>
            <a:r>
              <a:rPr lang="en-US" sz="1200" b="1" dirty="0">
                <a:solidFill>
                  <a:srgbClr val="8A6D1E"/>
                </a:solidFill>
                <a:latin typeface="Calibri" pitchFamily="34" charset="0"/>
                <a:ea typeface="Calibri" pitchFamily="34" charset="-122"/>
                <a:cs typeface="Calibri" pitchFamily="34" charset="-120"/>
              </a:rPr>
              <a:t> · </a:t>
            </a:r>
            <a:pPr algn="l" indent="0" marL="0">
              <a:buNone/>
            </a:pPr>
            <a:r>
              <a:rPr lang="ar-SA" altLang="en-US" sz="1550" b="1" dirty="0">
                <a:solidFill>
                  <a:srgbClr val="8A6D1E"/>
                </a:solidFill>
                <a:latin typeface="Amiri" pitchFamily="34" charset="0"/>
                <a:ea typeface="Amiri" pitchFamily="34" charset="-122"/>
                <a:cs typeface="Amiri" pitchFamily="34" charset="-120"/>
              </a:rPr>
              <a:t>رُطُوبَةً</a:t>
            </a:r>
            <a:endParaRPr lang="en-US" sz="120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48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4 · TIME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Now, tomorrow, expected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الأَزْمِنَةُ فِي النَّشْرَةِ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16586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NOW · PRESENT</a:t>
            </a:r>
            <a:endParaRPr lang="en-US" sz="850" dirty="0"/>
          </a:p>
        </p:txBody>
      </p:sp>
      <p:sp>
        <p:nvSpPr>
          <p:cNvPr id="18" name="Text 15"/>
          <p:cNvSpPr txBox="1"/>
          <p:nvPr/>
        </p:nvSpPr>
        <p:spPr>
          <a:xfrm>
            <a:off x="9444228"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يَسْقُطُ</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يَسْقُطُ المَطَرُ</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It is raining / it rains.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The present for today and for general facts: </a:t>
            </a:r>
            <a:pPr algn="l" indent="0" marL="0">
              <a:buNone/>
            </a:pPr>
            <a:r>
              <a:rPr lang="ar-SA" altLang="en-US" sz="1450" dirty="0">
                <a:solidFill>
                  <a:srgbClr val="1F2A37"/>
                </a:solidFill>
                <a:latin typeface="Amiri" pitchFamily="34" charset="0"/>
                <a:ea typeface="Amiri" pitchFamily="34" charset="-122"/>
                <a:cs typeface="Amiri" pitchFamily="34" charset="-120"/>
              </a:rPr>
              <a:t>تَسْقُطُ الثُّلُوجُ فِي الشِّتَاءِ</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09728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4413504"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FUTURE · سَـ</a:t>
            </a:r>
            <a:endParaRPr lang="en-US" sz="850" dirty="0"/>
          </a:p>
        </p:txBody>
      </p:sp>
      <p:sp>
        <p:nvSpPr>
          <p:cNvPr id="26" name="Text 23"/>
          <p:cNvSpPr txBox="1"/>
          <p:nvPr/>
        </p:nvSpPr>
        <p:spPr>
          <a:xfrm>
            <a:off x="5556504"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سَيَسْقُطُ</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سَيَسْقُطُ المَطَرُ صَبَاحًا</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It will rain in the morning.</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Add </a:t>
            </a:r>
            <a:pPr algn="l" indent="0" marL="0">
              <a:buNone/>
            </a:pPr>
            <a:r>
              <a:rPr lang="ar-SA" altLang="en-US" sz="1450" dirty="0">
                <a:solidFill>
                  <a:srgbClr val="1F2A37"/>
                </a:solidFill>
                <a:latin typeface="Amiri" pitchFamily="34" charset="0"/>
                <a:ea typeface="Amiri" pitchFamily="34" charset="-122"/>
                <a:cs typeface="Amiri" pitchFamily="34" charset="-120"/>
              </a:rPr>
              <a:t>سَـ</a:t>
            </a:r>
            <a:pPr algn="l" indent="0" marL="0">
              <a:buNone/>
            </a:pPr>
            <a:r>
              <a:rPr lang="en-US" sz="1100" dirty="0">
                <a:solidFill>
                  <a:srgbClr val="1F2A37"/>
                </a:solidFill>
                <a:latin typeface="Calibri" pitchFamily="34" charset="0"/>
                <a:ea typeface="Calibri" pitchFamily="34" charset="-122"/>
                <a:cs typeface="Calibri" pitchFamily="34" charset="-120"/>
              </a:rPr>
              <a:t> to the present verb: </a:t>
            </a:r>
            <a:pPr algn="l" indent="0" marL="0">
              <a:buNone/>
            </a:pPr>
            <a:r>
              <a:rPr lang="ar-SA" altLang="en-US" sz="1450" dirty="0">
                <a:solidFill>
                  <a:srgbClr val="1F2A37"/>
                </a:solidFill>
                <a:latin typeface="Amiri" pitchFamily="34" charset="0"/>
                <a:ea typeface="Amiri" pitchFamily="34" charset="-122"/>
                <a:cs typeface="Amiri" pitchFamily="34" charset="-120"/>
              </a:rPr>
              <a:t>سَتُشْرِقُ الشَّمْسُ</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FORECAST · STRETCH</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مِنَ المُتَوَقَّعِ أَنْ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34" charset="0"/>
                <a:ea typeface="Amiri" pitchFamily="34" charset="-122"/>
                <a:cs typeface="Amiri" pitchFamily="34" charset="-120"/>
              </a:rPr>
              <a:t>مِنَ المُتَوَقَّعِ أَنْ تَنْخَفِضَ دَرَجَةُ الحَرَارَةِ</a:t>
            </a:r>
            <a:endParaRPr lang="ar-SA" sz="25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 temperature is expected to fall.</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After </a:t>
            </a:r>
            <a:pPr algn="l" indent="0" marL="0">
              <a:buNone/>
            </a:pPr>
            <a:r>
              <a:rPr lang="ar-SA" altLang="en-US" sz="1450" dirty="0">
                <a:solidFill>
                  <a:srgbClr val="1F2A37"/>
                </a:solidFill>
                <a:latin typeface="Amiri" pitchFamily="34" charset="0"/>
                <a:ea typeface="Amiri" pitchFamily="34" charset="-122"/>
                <a:cs typeface="Amiri" pitchFamily="34" charset="-120"/>
              </a:rPr>
              <a:t>أَنْ</a:t>
            </a:r>
            <a:pPr algn="l" indent="0" marL="0">
              <a:buNone/>
            </a:pPr>
            <a:r>
              <a:rPr lang="en-US" sz="1100" dirty="0">
                <a:solidFill>
                  <a:srgbClr val="1F2A37"/>
                </a:solidFill>
                <a:latin typeface="Calibri" pitchFamily="34" charset="0"/>
                <a:ea typeface="Calibri" pitchFamily="34" charset="-122"/>
                <a:cs typeface="Calibri" pitchFamily="34" charset="-120"/>
              </a:rPr>
              <a:t> the verb ends in a fatḥa: </a:t>
            </a:r>
            <a:pPr algn="l" indent="0" marL="0">
              <a:buNone/>
            </a:pPr>
            <a:r>
              <a:rPr lang="ar-SA" altLang="en-US" sz="1450" dirty="0">
                <a:solidFill>
                  <a:srgbClr val="1F2A37"/>
                </a:solidFill>
                <a:latin typeface="Amiri" pitchFamily="34" charset="0"/>
                <a:ea typeface="Amiri" pitchFamily="34" charset="-122"/>
                <a:cs typeface="Amiri" pitchFamily="34" charset="-120"/>
              </a:rPr>
              <a:t>تَنْخَفِضَ</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Using </a:t>
            </a:r>
            <a:pPr algn="l" indent="0" marL="0">
              <a:buNone/>
            </a:pPr>
            <a:r>
              <a:rPr lang="ar-SA" altLang="en-US" sz="1500" dirty="0">
                <a:solidFill>
                  <a:srgbClr val="1F2A37"/>
                </a:solidFill>
                <a:latin typeface="Amiri" pitchFamily="34" charset="0"/>
                <a:ea typeface="Amiri" pitchFamily="34" charset="-122"/>
                <a:cs typeface="Amiri" pitchFamily="34" charset="-120"/>
              </a:rPr>
              <a:t>يَـ</a:t>
            </a:r>
            <a:pPr algn="l" indent="0" marL="0">
              <a:buNone/>
            </a:pPr>
            <a:r>
              <a:rPr lang="en-US" sz="1150" dirty="0">
                <a:solidFill>
                  <a:srgbClr val="1F2A37"/>
                </a:solidFill>
                <a:latin typeface="Calibri" pitchFamily="34" charset="0"/>
                <a:ea typeface="Calibri" pitchFamily="34" charset="-122"/>
                <a:cs typeface="Calibri" pitchFamily="34" charset="-120"/>
              </a:rPr>
              <a:t> with a feminine weather word, or </a:t>
            </a:r>
            <a:pPr algn="l" indent="0" marL="0">
              <a:buNone/>
            </a:pPr>
            <a:r>
              <a:rPr lang="ar-SA" altLang="en-US" sz="1500" dirty="0">
                <a:solidFill>
                  <a:srgbClr val="1F2A37"/>
                </a:solidFill>
                <a:latin typeface="Amiri" pitchFamily="34" charset="0"/>
                <a:ea typeface="Amiri" pitchFamily="34" charset="-122"/>
                <a:cs typeface="Amiri" pitchFamily="34" charset="-120"/>
              </a:rPr>
              <a:t>أَكْثَرُ</a:t>
            </a:r>
            <a:pPr algn="l" indent="0" marL="0">
              <a:buNone/>
            </a:pPr>
            <a:r>
              <a:rPr lang="en-US" sz="1150" dirty="0">
                <a:solidFill>
                  <a:srgbClr val="1F2A37"/>
                </a:solidFill>
                <a:latin typeface="Calibri" pitchFamily="34" charset="0"/>
                <a:ea typeface="Calibri" pitchFamily="34" charset="-122"/>
                <a:cs typeface="Calibri" pitchFamily="34" charset="-120"/>
              </a:rPr>
              <a:t> + an adjective.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تَسْقُطُ الثُّلُوجُ</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يَسْقُطُ الثُّلُوجُ</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626364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أَكْثَرُ حَرَارَةً</a:t>
            </a:r>
            <a:endParaRPr lang="ar-SA" sz="2600" dirty="0"/>
          </a:p>
        </p:txBody>
      </p:sp>
      <p:sp>
        <p:nvSpPr>
          <p:cNvPr id="47" name="Text 44"/>
          <p:cNvSpPr txBox="1"/>
          <p:nvPr/>
        </p:nvSpPr>
        <p:spPr>
          <a:xfrm>
            <a:off x="589788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8" name="Text 45"/>
          <p:cNvSpPr txBox="1"/>
          <p:nvPr/>
        </p:nvSpPr>
        <p:spPr>
          <a:xfrm>
            <a:off x="429768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أَكْثَرُ حَارٌّ</a:t>
            </a:r>
            <a:endParaRPr lang="ar-SA" sz="2600" dirty="0"/>
          </a:p>
        </p:txBody>
      </p:sp>
      <p:sp>
        <p:nvSpPr>
          <p:cNvPr id="49" name="Shape 46"/>
          <p:cNvSpPr/>
          <p:nvPr/>
        </p:nvSpPr>
        <p:spPr>
          <a:xfrm>
            <a:off x="4434840" y="5669280"/>
            <a:ext cx="1371600" cy="0"/>
          </a:xfrm>
          <a:prstGeom prst="line">
            <a:avLst/>
          </a:prstGeom>
          <a:noFill/>
          <a:ln w="25400">
            <a:solidFill>
              <a:srgbClr val="B83227"/>
            </a:solidFill>
            <a:prstDash val="solid"/>
          </a:ln>
        </p:spPr>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48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5 · WEBSITE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ea typeface="Cambria" pitchFamily="34" charset="-122"/>
                <a:cs typeface="Cambria" pitchFamily="34" charset="-120"/>
              </a:rPr>
              <a:t>The four website rules with examples</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أَمْثِلَةُ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1. Natural phenomena are grammatical subjects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verb + weather subject</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يَسْقُطُ المَطَرُ.   ·   تَسْقُطُ الثُّلُوجُ.   ·   تَهُبُّ الرِّيَاحُ.</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2. Temperature changes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تَرْتَفِعُ / تَنْخَفِضُ دَرَجَةُ الحَرَارَةِ إِلَى</a:t>
            </a:r>
            <a:pPr algn="l" indent="0" marL="0">
              <a:buNone/>
            </a:pPr>
            <a:r>
              <a:rPr lang="en-US" sz="1050" dirty="0">
                <a:solidFill>
                  <a:srgbClr val="5A6472"/>
                </a:solidFill>
                <a:latin typeface="Calibri" pitchFamily="34" charset="0"/>
                <a:ea typeface="Calibri" pitchFamily="34" charset="-122"/>
                <a:cs typeface="Calibri" pitchFamily="34" charset="-120"/>
              </a:rPr>
              <a:t> + number</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تَرْتَفِعُ دَرَجَةُ الحَرَارَةِ إِلَى ثَلَاثِينَ دَرَجَةً.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3. Comparing weather</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أَكْثَرُ / أَقَلُّ</a:t>
            </a:r>
            <a:pPr algn="l" indent="0" marL="0">
              <a:buNone/>
            </a:pPr>
            <a:r>
              <a:rPr lang="en-US" sz="1050" dirty="0">
                <a:solidFill>
                  <a:srgbClr val="5A6472"/>
                </a:solidFill>
                <a:latin typeface="Calibri" pitchFamily="34" charset="0"/>
                <a:ea typeface="Calibri" pitchFamily="34" charset="-122"/>
                <a:cs typeface="Calibri" pitchFamily="34" charset="-120"/>
              </a:rPr>
              <a:t> + verbal noun + </a:t>
            </a:r>
            <a:pPr algn="l" indent="0" marL="0">
              <a:buNone/>
            </a:pPr>
            <a:r>
              <a:rPr lang="ar-SA" altLang="en-US" sz="1350" dirty="0">
                <a:solidFill>
                  <a:srgbClr val="5A6472"/>
                </a:solidFill>
                <a:latin typeface="Amiri" pitchFamily="34" charset="0"/>
                <a:ea typeface="Amiri" pitchFamily="34" charset="-122"/>
                <a:cs typeface="Amiri" pitchFamily="34" charset="-120"/>
              </a:rPr>
              <a:t>مِنْ</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القَاهِرَةُ أَكْثَرُ حَرَارَةً مِنْ لَنْدَنَ.</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4. Forecasting</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مِنَ المُتَوَقَّعِ أَنْ</a:t>
            </a:r>
            <a:pPr algn="l" indent="0" marL="0">
              <a:buNone/>
            </a:pPr>
            <a:r>
              <a:rPr lang="en-US" sz="1050" dirty="0">
                <a:solidFill>
                  <a:srgbClr val="5A6472"/>
                </a:solidFill>
                <a:latin typeface="Calibri" pitchFamily="34" charset="0"/>
                <a:ea typeface="Calibri" pitchFamily="34" charset="-122"/>
                <a:cs typeface="Calibri" pitchFamily="34" charset="-120"/>
              </a:rPr>
              <a:t> + subjunctive present</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مِنَ المُتَوَقَّعِ أَنْ تَنْخَفِضَ دَرَجَةُ الحَرَارَةِ لَيْلًا.</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48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تَسْقُطُ المَطَرُ غَزِيرًا.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يَسْقُطَ المَطَرَ غَزِيرًا.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يَسْقُطُ المَطَرُ غَزِيرًا.</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 about snow.</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تَسْقُطُ الثُّلُوجُ فِي الشِّتَاءِ.</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تَسْقُطَ الثُّلُوجَ فِي الشِّتَاءِ.</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يَسْقُطُ الثُّلُوجُ فِي الشِّتَاءِ.</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___ </a:t>
            </a:r>
            <a:pPr algn="l" indent="0" marL="0">
              <a:buNone/>
            </a:pPr>
            <a:r>
              <a:rPr lang="ar-SA" altLang="en-US" sz="1650" b="1" dirty="0">
                <a:solidFill>
                  <a:srgbClr val="1B3B6F"/>
                </a:solidFill>
                <a:latin typeface="Amiri" pitchFamily="34" charset="0"/>
                <a:ea typeface="Amiri" pitchFamily="34" charset="-122"/>
                <a:cs typeface="Amiri" pitchFamily="34" charset="-120"/>
              </a:rPr>
              <a:t>الرِّيَاحُ بِقُوَّةٍ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يَهُبُّ</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تَهُبُّ</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تَهُبَّ</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means “Amman is colder than Dubai”?</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عَمَّانُ أَكْثَرُ بُرُودَةً مِنْ دُبَيَّ.</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عَمَّانُ أَقَلُّ بُرُودَةً إِلَى دُبَيَّ.</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عَمَّانُ أَكْثَرُ بَارِدٌ مِنْ دُبَيَّ.</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48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تَسْقُطُ المَطَرُ غَزِيرًا.</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يَسْقُطَ المَطَرَ غَزِيرًا.</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يَسْقُطُ المَطَرُ غَزِيرًا.</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المطر</a:t>
            </a:r>
            <a:pPr algn="l" indent="0" marL="0">
              <a:buNone/>
            </a:pPr>
            <a:r>
              <a:rPr lang="en-US" sz="1050" i="1" dirty="0">
                <a:solidFill>
                  <a:srgbClr val="8A6D1E"/>
                </a:solidFill>
                <a:latin typeface="Calibri" pitchFamily="34" charset="0"/>
                <a:ea typeface="Calibri" pitchFamily="34" charset="-122"/>
                <a:cs typeface="Calibri" pitchFamily="34" charset="-120"/>
              </a:rPr>
              <a:t> is masculine, so use </a:t>
            </a:r>
            <a:pPr algn="l" indent="0" marL="0">
              <a:buNone/>
            </a:pPr>
            <a:r>
              <a:rPr lang="ar-SA" altLang="en-US" sz="1350" dirty="0">
                <a:solidFill>
                  <a:srgbClr val="8A6D1E"/>
                </a:solidFill>
                <a:latin typeface="Amiri" pitchFamily="34" charset="0"/>
                <a:ea typeface="Amiri" pitchFamily="34" charset="-122"/>
                <a:cs typeface="Amiri" pitchFamily="34" charset="-120"/>
              </a:rPr>
              <a:t>يسقط</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 about snow.</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تَسْقُطُ الثُّلُوجُ فِي الشِّتَاءِ.</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تَسْقُطَ الثُّلُوجَ فِي الشِّتَاءِ.</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يَسْقُطُ الثُّلُوجُ فِي الشِّتَاءِ.</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الثلوج</a:t>
            </a:r>
            <a:pPr algn="l" indent="0" marL="0">
              <a:buNone/>
            </a:pPr>
            <a:r>
              <a:rPr lang="en-US" sz="1050" i="1" dirty="0">
                <a:solidFill>
                  <a:srgbClr val="8A6D1E"/>
                </a:solidFill>
                <a:latin typeface="Calibri" pitchFamily="34" charset="0"/>
                <a:ea typeface="Calibri" pitchFamily="34" charset="-122"/>
                <a:cs typeface="Calibri" pitchFamily="34" charset="-120"/>
              </a:rPr>
              <a:t> is treated as feminine, so use </a:t>
            </a:r>
            <a:pPr algn="l" indent="0" marL="0">
              <a:buNone/>
            </a:pPr>
            <a:r>
              <a:rPr lang="ar-SA" altLang="en-US" sz="1350" dirty="0">
                <a:solidFill>
                  <a:srgbClr val="8A6D1E"/>
                </a:solidFill>
                <a:latin typeface="Amiri" pitchFamily="34" charset="0"/>
                <a:ea typeface="Amiri" pitchFamily="34" charset="-122"/>
                <a:cs typeface="Amiri" pitchFamily="34" charset="-120"/>
              </a:rPr>
              <a:t>تسقط</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___ </a:t>
            </a:r>
            <a:pPr algn="l" indent="0" marL="0">
              <a:buNone/>
            </a:pPr>
            <a:r>
              <a:rPr lang="ar-SA" altLang="en-US" sz="1650" b="1" dirty="0">
                <a:solidFill>
                  <a:srgbClr val="1B3B6F"/>
                </a:solidFill>
                <a:latin typeface="Amiri" pitchFamily="34" charset="0"/>
                <a:ea typeface="Amiri" pitchFamily="34" charset="-122"/>
                <a:cs typeface="Amiri" pitchFamily="34" charset="-120"/>
              </a:rPr>
              <a:t>الرِّيَاحُ بِقُوَّةٍ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يَهُبُّ</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تَهُبُّ</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تَهُبَّ</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الرياح</a:t>
            </a:r>
            <a:pPr algn="l" indent="0" marL="0">
              <a:buNone/>
            </a:pPr>
            <a:r>
              <a:rPr lang="en-US" sz="1050" i="1" dirty="0">
                <a:solidFill>
                  <a:srgbClr val="8A6D1E"/>
                </a:solidFill>
                <a:latin typeface="Calibri" pitchFamily="34" charset="0"/>
                <a:ea typeface="Calibri" pitchFamily="34" charset="-122"/>
                <a:cs typeface="Calibri" pitchFamily="34" charset="-120"/>
              </a:rPr>
              <a:t> is feminine, so use </a:t>
            </a:r>
            <a:pPr algn="l" indent="0" marL="0">
              <a:buNone/>
            </a:pPr>
            <a:r>
              <a:rPr lang="ar-SA" altLang="en-US" sz="1350" dirty="0">
                <a:solidFill>
                  <a:srgbClr val="8A6D1E"/>
                </a:solidFill>
                <a:latin typeface="Amiri" pitchFamily="34" charset="0"/>
                <a:ea typeface="Amiri" pitchFamily="34" charset="-122"/>
                <a:cs typeface="Amiri" pitchFamily="34" charset="-120"/>
              </a:rPr>
              <a:t>تهب</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means “Amman is colder than Dubai”?</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عَمَّانُ أَكْثَرُ بُرُودَةً مِنْ دُبَيَّ.</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عَمَّانُ أَقَلُّ بُرُودَةً إِلَى دُبَيَّ.</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عَمَّانُ أَكْثَرُ بَارِدٌ مِنْ دُبَيَّ.</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Use </a:t>
            </a:r>
            <a:pPr algn="l" indent="0" marL="0">
              <a:buNone/>
            </a:pPr>
            <a:r>
              <a:rPr lang="ar-SA" altLang="en-US" sz="1350" dirty="0">
                <a:solidFill>
                  <a:srgbClr val="8A6D1E"/>
                </a:solidFill>
                <a:latin typeface="Amiri" pitchFamily="34" charset="0"/>
                <a:ea typeface="Amiri" pitchFamily="34" charset="-122"/>
                <a:cs typeface="Amiri" pitchFamily="34" charset="-120"/>
              </a:rPr>
              <a:t>أكثر برودةً من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48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Watch me describe the weather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Choose a place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الطَّقْسُ فِي القَاهِرَةِ</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الطَّقْسُ</a:t>
            </a:r>
            <a:pPr algn="l" indent="0" marL="0">
              <a:buNone/>
            </a:pPr>
            <a:r>
              <a:rPr lang="en-US" sz="1150" dirty="0">
                <a:solidFill>
                  <a:srgbClr val="1F2A37"/>
                </a:solidFill>
                <a:latin typeface="Calibri" pitchFamily="34" charset="0"/>
                <a:ea typeface="Calibri" pitchFamily="34" charset="-122"/>
                <a:cs typeface="Calibri" pitchFamily="34" charset="-120"/>
              </a:rPr>
              <a:t> (m.) + </a:t>
            </a:r>
            <a:pPr algn="l" indent="0" marL="0">
              <a:buNone/>
            </a:pPr>
            <a:r>
              <a:rPr lang="ar-SA" altLang="en-US" sz="1500" dirty="0">
                <a:solidFill>
                  <a:srgbClr val="1F2A37"/>
                </a:solidFill>
                <a:latin typeface="Amiri" pitchFamily="34" charset="0"/>
                <a:ea typeface="Amiri" pitchFamily="34" charset="-122"/>
                <a:cs typeface="Amiri" pitchFamily="34" charset="-120"/>
              </a:rPr>
              <a:t>فِي</a:t>
            </a:r>
            <a:pPr algn="l" indent="0" marL="0">
              <a:buNone/>
            </a:pPr>
            <a:r>
              <a:rPr lang="en-US" sz="1150" dirty="0">
                <a:solidFill>
                  <a:srgbClr val="1F2A37"/>
                </a:solidFill>
                <a:latin typeface="Calibri" pitchFamily="34" charset="0"/>
                <a:ea typeface="Calibri" pitchFamily="34" charset="-122"/>
                <a:cs typeface="Calibri" pitchFamily="34" charset="-120"/>
              </a:rPr>
              <a:t> + city.</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Weather + season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34" charset="0"/>
                <a:ea typeface="Amiri" pitchFamily="34" charset="-122"/>
                <a:cs typeface="Amiri" pitchFamily="34" charset="-120"/>
              </a:rPr>
              <a:t>حَارٌّ</a:t>
            </a:r>
            <a:pPr rtl="1" algn="ctr" indent="0" marL="0">
              <a:buNone/>
            </a:pPr>
            <a:r>
              <a:rPr lang="ar-SA" altLang="en-US" sz="2800" b="1" dirty="0">
                <a:solidFill>
                  <a:srgbClr val="1B3B6F"/>
                </a:solidFill>
                <a:latin typeface="Amiri" pitchFamily="34" charset="0"/>
                <a:ea typeface="Amiri" pitchFamily="34" charset="-122"/>
                <a:cs typeface="Amiri" pitchFamily="34" charset="-120"/>
              </a:rPr>
              <a:t> وَ</a:t>
            </a:r>
            <a:pPr rtl="1" algn="ctr" indent="0" marL="0">
              <a:buNone/>
            </a:pPr>
            <a:r>
              <a:rPr lang="ar-SA" altLang="en-US" sz="2800" b="1" dirty="0">
                <a:solidFill>
                  <a:srgbClr val="0E7C86"/>
                </a:solidFill>
                <a:latin typeface="Amiri" pitchFamily="34" charset="0"/>
                <a:ea typeface="Amiri" pitchFamily="34" charset="-122"/>
                <a:cs typeface="Amiri" pitchFamily="34" charset="-120"/>
              </a:rPr>
              <a:t>مُشْمِسٌ</a:t>
            </a:r>
            <a:pPr rtl="1" algn="ctr" indent="0" marL="0">
              <a:buNone/>
            </a:pPr>
            <a:r>
              <a:rPr lang="ar-SA" altLang="en-US" sz="2800" b="1" dirty="0">
                <a:solidFill>
                  <a:srgbClr val="1B3B6F"/>
                </a:solidFill>
                <a:latin typeface="Amiri" pitchFamily="34" charset="0"/>
                <a:ea typeface="Amiri" pitchFamily="34" charset="-122"/>
                <a:cs typeface="Amiri" pitchFamily="34" charset="-120"/>
              </a:rPr>
              <a:t> صَيْفًا</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Describing words from the game. </a:t>
            </a:r>
            <a:pPr algn="l" indent="0" marL="0">
              <a:buNone/>
            </a:pPr>
            <a:r>
              <a:rPr lang="ar-SA" altLang="en-US" sz="1500" dirty="0">
                <a:solidFill>
                  <a:srgbClr val="1F2A37"/>
                </a:solidFill>
                <a:latin typeface="Amiri" pitchFamily="34" charset="0"/>
                <a:ea typeface="Amiri" pitchFamily="34" charset="-122"/>
                <a:cs typeface="Amiri" pitchFamily="34" charset="-120"/>
              </a:rPr>
              <a:t>صَيْفًا</a:t>
            </a:r>
            <a:pPr algn="l" indent="0" marL="0">
              <a:buNone/>
            </a:pPr>
            <a:r>
              <a:rPr lang="en-US" sz="1150" dirty="0">
                <a:solidFill>
                  <a:srgbClr val="1F2A37"/>
                </a:solidFill>
                <a:latin typeface="Calibri" pitchFamily="34" charset="0"/>
                <a:ea typeface="Calibri" pitchFamily="34" charset="-122"/>
                <a:cs typeface="Calibri" pitchFamily="34" charset="-120"/>
              </a:rPr>
              <a:t> = in summer.</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Add a temperature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1D5FBF"/>
                </a:solidFill>
                <a:latin typeface="Amiri" pitchFamily="34" charset="0"/>
                <a:ea typeface="Amiri" pitchFamily="34" charset="-122"/>
                <a:cs typeface="Amiri" pitchFamily="34" charset="-120"/>
              </a:rPr>
              <a:t>تَ</a:t>
            </a:r>
            <a:pPr rtl="1" algn="ctr" indent="0" marL="0">
              <a:buNone/>
            </a:pPr>
            <a:r>
              <a:rPr lang="ar-SA" altLang="en-US" sz="2700" b="1" dirty="0">
                <a:solidFill>
                  <a:srgbClr val="7B3FA0"/>
                </a:solidFill>
                <a:latin typeface="Amiri" pitchFamily="34" charset="0"/>
                <a:ea typeface="Amiri" pitchFamily="34" charset="-122"/>
                <a:cs typeface="Amiri" pitchFamily="34" charset="-120"/>
              </a:rPr>
              <a:t>رْتَفِعُ</a:t>
            </a:r>
            <a:pPr rtl="1" algn="ctr" indent="0" marL="0">
              <a:buNone/>
            </a:pPr>
            <a:r>
              <a:rPr lang="ar-SA" altLang="en-US" sz="2700" b="1" dirty="0">
                <a:solidFill>
                  <a:srgbClr val="1B3B6F"/>
                </a:solidFill>
                <a:latin typeface="Amiri" pitchFamily="34" charset="0"/>
                <a:ea typeface="Amiri" pitchFamily="34" charset="-122"/>
                <a:cs typeface="Amiri" pitchFamily="34" charset="-120"/>
              </a:rPr>
              <a:t> دَرَجَةُ الحَرَارَةِ</a:t>
            </a:r>
            <a:endParaRPr lang="ar-SA" sz="27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دَرَجَة</a:t>
            </a:r>
            <a:pPr algn="l" indent="0" marL="0">
              <a:buNone/>
            </a:pPr>
            <a:r>
              <a:rPr lang="en-US" sz="1150" dirty="0">
                <a:solidFill>
                  <a:srgbClr val="1F2A37"/>
                </a:solidFill>
                <a:latin typeface="Calibri" pitchFamily="34" charset="0"/>
                <a:ea typeface="Calibri" pitchFamily="34" charset="-122"/>
                <a:cs typeface="Calibri" pitchFamily="34" charset="-120"/>
              </a:rPr>
              <a:t> is feminine → </a:t>
            </a:r>
            <a:pPr algn="l" indent="0" marL="0">
              <a:buNone/>
            </a:pPr>
            <a:r>
              <a:rPr lang="ar-SA" altLang="en-US" sz="1500" dirty="0">
                <a:solidFill>
                  <a:srgbClr val="1F2A37"/>
                </a:solidFill>
                <a:latin typeface="Amiri" pitchFamily="34" charset="0"/>
                <a:ea typeface="Amiri" pitchFamily="34" charset="-122"/>
                <a:cs typeface="Amiri" pitchFamily="34" charset="-120"/>
              </a:rPr>
              <a:t>تَـ</a:t>
            </a:r>
            <a:pPr algn="l" indent="0" marL="0">
              <a:buNone/>
            </a:pPr>
            <a:r>
              <a:rPr lang="en-US" sz="1150" dirty="0">
                <a:solidFill>
                  <a:srgbClr val="1F2A37"/>
                </a:solidFill>
                <a:latin typeface="Calibri" pitchFamily="34" charset="0"/>
                <a:ea typeface="Calibri" pitchFamily="34" charset="-122"/>
                <a:cs typeface="Calibri" pitchFamily="34" charset="-120"/>
              </a:rPr>
              <a:t>. Then </a:t>
            </a:r>
            <a:pPr algn="l" indent="0" marL="0">
              <a:buNone/>
            </a:pPr>
            <a:r>
              <a:rPr lang="ar-SA" altLang="en-US" sz="1500" dirty="0">
                <a:solidFill>
                  <a:srgbClr val="1F2A37"/>
                </a:solidFill>
                <a:latin typeface="Amiri" pitchFamily="34" charset="0"/>
                <a:ea typeface="Amiri" pitchFamily="34" charset="-122"/>
                <a:cs typeface="Amiri" pitchFamily="34" charset="-120"/>
              </a:rPr>
              <a:t>إِلَى</a:t>
            </a:r>
            <a:pPr algn="l" indent="0" marL="0">
              <a:buNone/>
            </a:pPr>
            <a:r>
              <a:rPr lang="en-US" sz="1150" dirty="0">
                <a:solidFill>
                  <a:srgbClr val="1F2A37"/>
                </a:solidFill>
                <a:latin typeface="Calibri" pitchFamily="34" charset="0"/>
                <a:ea typeface="Calibri" pitchFamily="34" charset="-122"/>
                <a:cs typeface="Calibri" pitchFamily="34" charset="-120"/>
              </a:rPr>
              <a:t> + number.</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Compare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0E7C86"/>
                </a:solidFill>
                <a:latin typeface="Amiri" pitchFamily="34" charset="0"/>
                <a:ea typeface="Amiri" pitchFamily="34" charset="-122"/>
                <a:cs typeface="Amiri" pitchFamily="34" charset="-120"/>
              </a:rPr>
              <a:t>أَكْثَرُ حَرَارَةً</a:t>
            </a:r>
            <a:pPr rtl="1" algn="ctr" indent="0" marL="0">
              <a:buNone/>
            </a:pPr>
            <a:r>
              <a:rPr lang="ar-SA" altLang="en-US" sz="2700" b="1" dirty="0">
                <a:solidFill>
                  <a:srgbClr val="1B3B6F"/>
                </a:solidFill>
                <a:latin typeface="Amiri" pitchFamily="34" charset="0"/>
                <a:ea typeface="Amiri" pitchFamily="34" charset="-122"/>
                <a:cs typeface="Amiri" pitchFamily="34" charset="-120"/>
              </a:rPr>
              <a:t> مِنْ لَنْدَنَ</a:t>
            </a:r>
            <a:endParaRPr lang="ar-SA" sz="27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أَكْثَرُ</a:t>
            </a:r>
            <a:pPr algn="l" indent="0" marL="0">
              <a:buNone/>
            </a:pPr>
            <a:r>
              <a:rPr lang="en-US" sz="1150" dirty="0">
                <a:solidFill>
                  <a:srgbClr val="1F2A37"/>
                </a:solidFill>
                <a:latin typeface="Calibri" pitchFamily="34" charset="0"/>
                <a:ea typeface="Calibri" pitchFamily="34" charset="-122"/>
                <a:cs typeface="Calibri" pitchFamily="34" charset="-120"/>
              </a:rPr>
              <a:t> + noun (</a:t>
            </a:r>
            <a:pPr algn="l" indent="0" marL="0">
              <a:buNone/>
            </a:pPr>
            <a:r>
              <a:rPr lang="ar-SA" altLang="en-US" sz="1500" dirty="0">
                <a:solidFill>
                  <a:srgbClr val="1F2A37"/>
                </a:solidFill>
                <a:latin typeface="Amiri" pitchFamily="34" charset="0"/>
                <a:ea typeface="Amiri" pitchFamily="34" charset="-122"/>
                <a:cs typeface="Amiri" pitchFamily="34" charset="-120"/>
              </a:rPr>
              <a:t>ـًا</a:t>
            </a:r>
            <a:pPr algn="l" indent="0" marL="0">
              <a:buNone/>
            </a:pPr>
            <a:r>
              <a:rPr lang="en-US" sz="1150" dirty="0">
                <a:solidFill>
                  <a:srgbClr val="1F2A37"/>
                </a:solidFill>
                <a:latin typeface="Calibri" pitchFamily="34" charset="0"/>
                <a:ea typeface="Calibri" pitchFamily="34" charset="-122"/>
                <a:cs typeface="Calibri" pitchFamily="34" charset="-120"/>
              </a:rPr>
              <a:t>) + </a:t>
            </a:r>
            <a:pPr algn="l" indent="0" marL="0">
              <a:buNone/>
            </a:pPr>
            <a:r>
              <a:rPr lang="ar-SA" altLang="en-US" sz="1500" dirty="0">
                <a:solidFill>
                  <a:srgbClr val="1F2A37"/>
                </a:solidFill>
                <a:latin typeface="Amiri" pitchFamily="34" charset="0"/>
                <a:ea typeface="Amiri" pitchFamily="34" charset="-122"/>
                <a:cs typeface="Amiri" pitchFamily="34" charset="-120"/>
              </a:rPr>
              <a:t>مِنْ</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WHO</a:t>
            </a:r>
            <a:endParaRPr lang="en-US" sz="800" dirty="0"/>
          </a:p>
        </p:txBody>
      </p:sp>
      <p:sp>
        <p:nvSpPr>
          <p:cNvPr id="47" name="Shape 43"/>
          <p:cNvSpPr/>
          <p:nvPr/>
        </p:nvSpPr>
        <p:spPr>
          <a:xfrm>
            <a:off x="9528048" y="4736592"/>
            <a:ext cx="914400" cy="237744"/>
          </a:xfrm>
          <a:prstGeom prst="roundRect">
            <a:avLst>
              <a:gd name="adj" fmla="val 50000"/>
            </a:avLst>
          </a:prstGeom>
          <a:solidFill>
            <a:srgbClr val="7B3FA0"/>
          </a:solidFill>
          <a:ln w="12700">
            <a:solidFill>
              <a:srgbClr val="7B3FA0"/>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MEANING</a:t>
            </a:r>
            <a:endParaRPr lang="en-US" sz="800" dirty="0"/>
          </a:p>
        </p:txBody>
      </p:sp>
      <p:sp>
        <p:nvSpPr>
          <p:cNvPr id="49" name="Shape 45"/>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WEATHER WORD</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الطَّقْسُ فِي القَاهِرَةِ </a:t>
            </a:r>
            <a:pPr rtl="1" algn="r" indent="0" marL="0">
              <a:buNone/>
            </a:pPr>
            <a:r>
              <a:rPr lang="ar-SA" altLang="en-US" sz="2200" b="1" dirty="0">
                <a:solidFill>
                  <a:srgbClr val="0E7C86"/>
                </a:solidFill>
                <a:latin typeface="Amiri" pitchFamily="34" charset="0"/>
                <a:ea typeface="Amiri" pitchFamily="34" charset="-122"/>
                <a:cs typeface="Amiri" pitchFamily="34" charset="-120"/>
              </a:rPr>
              <a:t>حَارٌّ</a:t>
            </a:r>
            <a:pPr rtl="1" algn="r" indent="0" marL="0">
              <a:buNone/>
            </a:pPr>
            <a:r>
              <a:rPr lang="ar-SA" altLang="en-US" sz="2200" b="1" dirty="0">
                <a:solidFill>
                  <a:srgbClr val="1B3B6F"/>
                </a:solidFill>
                <a:latin typeface="Amiri" pitchFamily="34" charset="0"/>
                <a:ea typeface="Amiri" pitchFamily="34" charset="-122"/>
                <a:cs typeface="Amiri" pitchFamily="34" charset="-120"/>
              </a:rPr>
              <a:t> وَ</a:t>
            </a:r>
            <a:pPr rtl="1" algn="r" indent="0" marL="0">
              <a:buNone/>
            </a:pPr>
            <a:r>
              <a:rPr lang="ar-SA" altLang="en-US" sz="2200" b="1" dirty="0">
                <a:solidFill>
                  <a:srgbClr val="0E7C86"/>
                </a:solidFill>
                <a:latin typeface="Amiri" pitchFamily="34" charset="0"/>
                <a:ea typeface="Amiri" pitchFamily="34" charset="-122"/>
                <a:cs typeface="Amiri" pitchFamily="34" charset="-120"/>
              </a:rPr>
              <a:t>مُشْمِسٌ</a:t>
            </a:r>
            <a:pPr rtl="1" algn="r" indent="0" marL="0">
              <a:buNone/>
            </a:pPr>
            <a:r>
              <a:rPr lang="ar-SA" altLang="en-US" sz="2200" b="1" dirty="0">
                <a:solidFill>
                  <a:srgbClr val="1B3B6F"/>
                </a:solidFill>
                <a:latin typeface="Amiri" pitchFamily="34" charset="0"/>
                <a:ea typeface="Amiri" pitchFamily="34" charset="-122"/>
                <a:cs typeface="Amiri" pitchFamily="34" charset="-120"/>
              </a:rPr>
              <a:t> صَيْفًا، وَ</a:t>
            </a:r>
            <a:pPr rtl="1" algn="r" indent="0" marL="0">
              <a:buNone/>
            </a:pPr>
            <a:r>
              <a:rPr lang="ar-SA" altLang="en-US" sz="2200" b="1" dirty="0">
                <a:solidFill>
                  <a:srgbClr val="1D5FBF"/>
                </a:solidFill>
                <a:latin typeface="Amiri" pitchFamily="34" charset="0"/>
                <a:ea typeface="Amiri" pitchFamily="34" charset="-122"/>
                <a:cs typeface="Amiri" pitchFamily="34" charset="-120"/>
              </a:rPr>
              <a:t>تَ</a:t>
            </a:r>
            <a:pPr rtl="1" algn="r" indent="0" marL="0">
              <a:buNone/>
            </a:pPr>
            <a:r>
              <a:rPr lang="ar-SA" altLang="en-US" sz="2200" b="1" dirty="0">
                <a:solidFill>
                  <a:srgbClr val="7B3FA0"/>
                </a:solidFill>
                <a:latin typeface="Amiri" pitchFamily="34" charset="0"/>
                <a:ea typeface="Amiri" pitchFamily="34" charset="-122"/>
                <a:cs typeface="Amiri" pitchFamily="34" charset="-120"/>
              </a:rPr>
              <a:t>رْتَفِعُ</a:t>
            </a:r>
            <a:pPr rtl="1" algn="r" indent="0" marL="0">
              <a:buNone/>
            </a:pPr>
            <a:r>
              <a:rPr lang="ar-SA" altLang="en-US" sz="2200" b="1" dirty="0">
                <a:solidFill>
                  <a:srgbClr val="1B3B6F"/>
                </a:solidFill>
                <a:latin typeface="Amiri" pitchFamily="34" charset="0"/>
                <a:ea typeface="Amiri" pitchFamily="34" charset="-122"/>
                <a:cs typeface="Amiri" pitchFamily="34" charset="-120"/>
              </a:rPr>
              <a:t> دَرَجَةُ الحَرَارَةِ إِلَى ثَلَاثِينَ دَرَجَةً. القَاهِرَةُ </a:t>
            </a:r>
            <a:pPr rtl="1" algn="r" indent="0" marL="0">
              <a:buNone/>
            </a:pPr>
            <a:r>
              <a:rPr lang="ar-SA" altLang="en-US" sz="2200" b="1" dirty="0">
                <a:solidFill>
                  <a:srgbClr val="0E7C86"/>
                </a:solidFill>
                <a:latin typeface="Amiri" pitchFamily="34" charset="0"/>
                <a:ea typeface="Amiri" pitchFamily="34" charset="-122"/>
                <a:cs typeface="Amiri" pitchFamily="34" charset="-120"/>
              </a:rPr>
              <a:t>أَكْثَرُ حَرَارَةً</a:t>
            </a:r>
            <a:pPr rtl="1" algn="r" indent="0" marL="0">
              <a:buNone/>
            </a:pPr>
            <a:r>
              <a:rPr lang="ar-SA" altLang="en-US" sz="2200" b="1" dirty="0">
                <a:solidFill>
                  <a:srgbClr val="1B3B6F"/>
                </a:solidFill>
                <a:latin typeface="Amiri" pitchFamily="34" charset="0"/>
                <a:ea typeface="Amiri" pitchFamily="34" charset="-122"/>
                <a:cs typeface="Amiri" pitchFamily="34" charset="-120"/>
              </a:rPr>
              <a:t> مِنْ لَنْدَنَ.</a:t>
            </a:r>
            <a:endParaRPr lang="ar-SA" sz="22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ea typeface="Calibri" pitchFamily="34" charset="-122"/>
                <a:cs typeface="Calibri" pitchFamily="34" charset="-120"/>
              </a:rPr>
              <a:t>The weather in Cairo is hot and sunny in summer, and the temperature rises to thirty degrees. Cairo is hotter than London.</a:t>
            </a:r>
            <a:endParaRPr lang="en-US" sz="13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48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Four 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الطَّقْسُ حَارٌّ وَمُشْمِسٌ.</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 weather is hot and sunny.</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Website game — a Core sentence.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تَسْقُطُ الثُّلُوجُ فِي الشِّتَاءِ.</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Snow falls in winter.</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Feminine weather word → تَـ.</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القَاهِرَةُ أَكْثَرُ حَرَارَةً مِنْ لَنْدَنَ.</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Cairo is hotter than London.</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أَكْثَرُ + noun (ـًا) + مِنْ.</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مِنَ المُتَوَقَّعِ أَنْ تَنْخَفِضَ دَرَجَةُ الحَرَارَةِ لَيْلًا.</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 temperature is expected to fall at night.</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Stretch: أَنْ + subjunctive fatḥa.</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48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 WEBSITE GAME “WEATHER FORECAST”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Match the picture to the sentence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نَشْرَةُ الطَّقْسِ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32°C</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rain + wind</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−2°C</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اَلطَّقْسُ بَارِدٌ جِدًّا وَدَرَجَةُ الْحَرَارَةِ تَحْتَ الصِّفْرِ.</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اَلطَّقْسُ حَارٌّ وَمُشْمِسٌ وَدَرَجَةُ الْحَرَارَةِ اثْنَتَانِ وَثَلَاثُونَ.</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سَيَكُونُ الطَّقْسُ مُمْطِرًا وَعَاصِفًا.</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48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نَشْرَةُ الطَّقْسِ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32°C</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اَلطَّقْسُ حَارٌّ وَمُشْمِسٌ وَدَرَجَةُ الْحَرَارَةِ اثْنَتَانِ وَثَلَاثُونَ.</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The weather is hot and sunny, and the temperature is thirty-two degrees.</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rain + wind</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سَيَكُونُ الطَّقْسُ مُمْطِرًا وَعَاصِفًا.</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The weather will be rainy and windy.</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−2°C</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اَلطَّقْسُ بَارِدٌ جِدًّا وَدَرَجَةُ الْحَرَارَةِ تَحْتَ الصِّفْرِ.</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The weather is very cold and the temperature is below zero.</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48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SENTENCE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Build the forecast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It rains in the morning.</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تَسْقُطُ</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يَسْقُطُ</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المَطَرُ</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الشَّمْسُ</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مَسَاءً.</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صَبَاحًا.</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Strong winds blow in the evening.</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تَهُبُّ</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يَهُبُّ</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رِيَاحٌ قَوِيَّةٌ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رِيَاحٌ قَوِيٌّ</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صَبَاحًا.</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مَسَاءً.</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The interior is hotter than the coast.</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الدَّاخِلُ</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السَّاحِلُ</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أَكْثَرُ حَارٌّ</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أَكْثَرُ حَرَارَةً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مِنَ السَّاحِلِ.</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إِلَى السَّاحِلِ.</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48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SENTENCE BUILDER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تَحَقَّقْ مِنْ جُمَلِكَ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It rains in the morning.</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B · A · B</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المَطَرُ</a:t>
            </a:r>
            <a:pPr algn="l" indent="0" marL="0">
              <a:buNone/>
            </a:pPr>
            <a:r>
              <a:rPr lang="en-US" sz="1050" i="1" dirty="0">
                <a:solidFill>
                  <a:srgbClr val="5A6472"/>
                </a:solidFill>
                <a:latin typeface="Calibri" pitchFamily="34" charset="0"/>
                <a:ea typeface="Calibri" pitchFamily="34" charset="-122"/>
                <a:cs typeface="Calibri" pitchFamily="34" charset="-120"/>
              </a:rPr>
              <a:t> is masculine → </a:t>
            </a:r>
            <a:pPr algn="l" indent="0" marL="0">
              <a:buNone/>
            </a:pPr>
            <a:r>
              <a:rPr lang="ar-SA" altLang="en-US" sz="1350" dirty="0">
                <a:solidFill>
                  <a:srgbClr val="5A6472"/>
                </a:solidFill>
                <a:latin typeface="Amiri" pitchFamily="34" charset="0"/>
                <a:ea typeface="Amiri" pitchFamily="34" charset="-122"/>
                <a:cs typeface="Amiri" pitchFamily="34" charset="-120"/>
              </a:rPr>
              <a:t>يَسْقُطُ</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يَسْقُطُ المَطَرُ صَبَاحًا.</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Strong winds blow in the evening.</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A · B</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رِيَاح</a:t>
            </a:r>
            <a:pPr algn="l" indent="0" marL="0">
              <a:buNone/>
            </a:pPr>
            <a:r>
              <a:rPr lang="en-US" sz="1050" i="1" dirty="0">
                <a:solidFill>
                  <a:srgbClr val="5A6472"/>
                </a:solidFill>
                <a:latin typeface="Calibri" pitchFamily="34" charset="0"/>
                <a:ea typeface="Calibri" pitchFamily="34" charset="-122"/>
                <a:cs typeface="Calibri" pitchFamily="34" charset="-120"/>
              </a:rPr>
              <a:t> is feminine → </a:t>
            </a:r>
            <a:pPr algn="l" indent="0" marL="0">
              <a:buNone/>
            </a:pPr>
            <a:r>
              <a:rPr lang="ar-SA" altLang="en-US" sz="1350" dirty="0">
                <a:solidFill>
                  <a:srgbClr val="5A6472"/>
                </a:solidFill>
                <a:latin typeface="Amiri" pitchFamily="34" charset="0"/>
                <a:ea typeface="Amiri" pitchFamily="34" charset="-122"/>
                <a:cs typeface="Amiri" pitchFamily="34" charset="-120"/>
              </a:rPr>
              <a:t>تَهُبُّ … قَوِيَّةٌ</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تَهُبُّ رِيَاحٌ قَوِيَّةٌ مَسَاءً.</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The interior is hotter than the coast.</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B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أَكْثَرُ</a:t>
            </a:r>
            <a:pPr algn="l" indent="0" marL="0">
              <a:buNone/>
            </a:pPr>
            <a:r>
              <a:rPr lang="en-US" sz="1050" i="1" dirty="0">
                <a:solidFill>
                  <a:srgbClr val="5A6472"/>
                </a:solidFill>
                <a:latin typeface="Calibri" pitchFamily="34" charset="0"/>
                <a:ea typeface="Calibri" pitchFamily="34" charset="-122"/>
                <a:cs typeface="Calibri" pitchFamily="34" charset="-120"/>
              </a:rPr>
              <a:t> + noun (</a:t>
            </a:r>
            <a:pPr algn="l" indent="0" marL="0">
              <a:buNone/>
            </a:pPr>
            <a:r>
              <a:rPr lang="ar-SA" altLang="en-US" sz="1350" dirty="0">
                <a:solidFill>
                  <a:srgbClr val="5A6472"/>
                </a:solidFill>
                <a:latin typeface="Amiri" pitchFamily="34" charset="0"/>
                <a:ea typeface="Amiri" pitchFamily="34" charset="-122"/>
                <a:cs typeface="Amiri" pitchFamily="34" charset="-120"/>
              </a:rPr>
              <a:t>ـًا</a:t>
            </a:r>
            <a:pPr algn="l" indent="0" marL="0">
              <a:buNone/>
            </a:pPr>
            <a:r>
              <a:rPr lang="en-US" sz="1050" i="1" dirty="0">
                <a:solidFill>
                  <a:srgbClr val="5A6472"/>
                </a:solidFill>
                <a:latin typeface="Calibri" pitchFamily="34" charset="0"/>
                <a:ea typeface="Calibri" pitchFamily="34" charset="-122"/>
                <a:cs typeface="Calibri" pitchFamily="34" charset="-120"/>
              </a:rPr>
              <a:t>) + </a:t>
            </a:r>
            <a:pPr algn="l" indent="0" marL="0">
              <a:buNone/>
            </a:pPr>
            <a:r>
              <a:rPr lang="ar-SA" altLang="en-US" sz="1350" dirty="0">
                <a:solidFill>
                  <a:srgbClr val="5A6472"/>
                </a:solidFill>
                <a:latin typeface="Amiri" pitchFamily="34" charset="0"/>
                <a:ea typeface="Amiri" pitchFamily="34" charset="-122"/>
                <a:cs typeface="Amiri" pitchFamily="34" charset="-120"/>
              </a:rPr>
              <a:t>مِنْ</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الدَّاخِلُ أَكْثَرُ حَرَارَةً مِنَ السَّاحِلِ.</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48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ea typeface="Cambria" pitchFamily="34" charset="-122"/>
                <a:cs typeface="Cambria" pitchFamily="34" charset="-120"/>
              </a:rPr>
              <a:t>Weather word, forecast or comparison?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تَهُبُّ الرِّيَاحُ</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المَطَرُ</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الحَدُّ الأَقْصَى</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الثُّلُوجُ</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يَسْقُطُ المَطَرُ</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دَرَجَةٌ مِئَوِيَّةٌ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الرِّيَاحُ</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الحَدُّ الأَدْنَى</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تَسْقُطُ الثُّلُوجُ</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Weather phenomena</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Forecast language</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Comparison and measurement</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48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Weather phenomena</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المَطَرُ</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الثُّلُوجُ</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الرِّيَاحُ</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Forecast language</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تَهُبُّ الرِّيَاحُ</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يَسْقُطُ المَطَرُ</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تَسْقُطُ الثُّلُوجُ</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Comparison and measurement</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الحَدُّ الأَقْصَى</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دَرَجَةٌ مِئَوِيَّةٌ</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الحَدُّ الأَدْنَى</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48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WEBSITE QUIZ QUESTIONS 4,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temperature sentence.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يَرْتَفِعُ دَرَجَةُ الحَرَارَةِ فِي ٣٢ دَرَجَةً.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تَرْتَفِعَ دَرَجَةَ الحَرَارَةِ مِنْ ٣٢.</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تَرْتَفِعُ دَرَجَةُ الحَرَارَةِ إِلَى ٣٢ دَرَجَةً.</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 the forecast accurately:</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مِنَ المُتَوَقَّعِ أَنْ ___ دَرَجَةُ الحَرَارَةِ.</a:t>
            </a:r>
            <a:endParaRPr lang="ar-SA" sz="150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تَنْخَفِضُ</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تَنْخَفِضَ</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يَنْخَفِضَ</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range.</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تَتَرَاوَحُ دَرَجَةُ الحَرَارَةِ مِنْ ١٨ إِلَى بَيْنَ ٢٥.</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تَتَرَاوَحُ دَرَجَةُ الحَرَارَةِ بَيْنَ ١٨ وَ٢٥ دَرَجَةً.</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يَتَرَاوَحُ دَرَجَةُ الحَرَارَةِ بَيْنَ ١٨ وَ٢٥.</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“less humid than”?</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أَقَلُّ رُطُوبَةٍ إِلَى</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أَصْغَرُ رَطْبٌ مِنْ</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أَقَلُّ رُطُوبَةً مِنْ</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48</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temperature sentence.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يَرْتَفِعُ دَرَجَةُ الحَرَارَةِ فِي ٣٢ دَرَجَةً.</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تَرْتَفِعَ دَرَجَةَ الحَرَارَةِ مِنْ ٣٢.</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تَرْتَفِعُ دَرَجَةُ الحَرَارَةِ إِلَى ٣٢ دَرَجَةً.</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درجة الحرارة</a:t>
            </a:r>
            <a:pPr algn="l" indent="0" marL="0">
              <a:buNone/>
            </a:pPr>
            <a:r>
              <a:rPr lang="en-US" sz="1050" i="1" dirty="0">
                <a:solidFill>
                  <a:srgbClr val="8A6D1E"/>
                </a:solidFill>
                <a:latin typeface="Calibri" pitchFamily="34" charset="0"/>
                <a:ea typeface="Calibri" pitchFamily="34" charset="-122"/>
                <a:cs typeface="Calibri" pitchFamily="34" charset="-120"/>
              </a:rPr>
              <a:t> is feminine and the endpoint takes </a:t>
            </a:r>
            <a:pPr algn="l" indent="0" marL="0">
              <a:buNone/>
            </a:pPr>
            <a:r>
              <a:rPr lang="ar-SA" altLang="en-US" sz="1350" dirty="0">
                <a:solidFill>
                  <a:srgbClr val="8A6D1E"/>
                </a:solidFill>
                <a:latin typeface="Amiri" pitchFamily="34" charset="0"/>
                <a:ea typeface="Amiri" pitchFamily="34" charset="-122"/>
                <a:cs typeface="Amiri" pitchFamily="34" charset="-120"/>
              </a:rPr>
              <a:t>إلى</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 the forecast accurately:</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مِنَ المُتَوَقَّعِ أَنْ ___ دَرَجَةُ الحَرَارَةِ.</a:t>
            </a:r>
            <a:endParaRPr lang="ar-SA" sz="150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تَنْخَفِضُ</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تَنْخَفِضَ</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يَنْخَفِضَ</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After </a:t>
            </a:r>
            <a:pPr algn="l" indent="0" marL="0">
              <a:buNone/>
            </a:pPr>
            <a:r>
              <a:rPr lang="ar-SA" altLang="en-US" sz="1350" dirty="0">
                <a:solidFill>
                  <a:srgbClr val="8A6D1E"/>
                </a:solidFill>
                <a:latin typeface="Amiri" pitchFamily="34" charset="0"/>
                <a:ea typeface="Amiri" pitchFamily="34" charset="-122"/>
                <a:cs typeface="Amiri" pitchFamily="34" charset="-120"/>
              </a:rPr>
              <a:t>أن</a:t>
            </a:r>
            <a:pPr algn="l" indent="0" marL="0">
              <a:buNone/>
            </a:pPr>
            <a:r>
              <a:rPr lang="en-US" sz="1050" i="1" dirty="0">
                <a:solidFill>
                  <a:srgbClr val="8A6D1E"/>
                </a:solidFill>
                <a:latin typeface="Calibri" pitchFamily="34" charset="0"/>
                <a:ea typeface="Calibri" pitchFamily="34" charset="-122"/>
                <a:cs typeface="Calibri" pitchFamily="34" charset="-120"/>
              </a:rPr>
              <a:t> use subjunctive </a:t>
            </a:r>
            <a:pPr algn="l" indent="0" marL="0">
              <a:buNone/>
            </a:pPr>
            <a:r>
              <a:rPr lang="ar-SA" altLang="en-US" sz="1350" dirty="0">
                <a:solidFill>
                  <a:srgbClr val="8A6D1E"/>
                </a:solidFill>
                <a:latin typeface="Amiri" pitchFamily="34" charset="0"/>
                <a:ea typeface="Amiri" pitchFamily="34" charset="-122"/>
                <a:cs typeface="Amiri" pitchFamily="34" charset="-120"/>
              </a:rPr>
              <a:t>تنخفضَ</a:t>
            </a:r>
            <a:pPr algn="l" indent="0" marL="0">
              <a:buNone/>
            </a:pPr>
            <a:r>
              <a:rPr lang="en-US" sz="1050" i="1" dirty="0">
                <a:solidFill>
                  <a:srgbClr val="8A6D1E"/>
                </a:solidFill>
                <a:latin typeface="Calibri" pitchFamily="34" charset="0"/>
                <a:ea typeface="Calibri" pitchFamily="34" charset="-122"/>
                <a:cs typeface="Calibri" pitchFamily="34" charset="-120"/>
              </a:rPr>
              <a:t>; the subject is feminine.</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range.</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تَتَرَاوَحُ دَرَجَةُ الحَرَارَةِ مِنْ ١٨ إِلَى بَيْنَ ٢٥.</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تَتَرَاوَحُ دَرَجَةُ الحَرَارَةِ بَيْنَ ١٨ وَ٢٥ دَرَجَةً.</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يَتَرَاوَحُ دَرَجَةُ الحَرَارَةِ بَيْنَ ١٨ وَ٢٥.</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Use </a:t>
            </a:r>
            <a:pPr algn="l" indent="0" marL="0">
              <a:buNone/>
            </a:pPr>
            <a:r>
              <a:rPr lang="ar-SA" altLang="en-US" sz="1350" dirty="0">
                <a:solidFill>
                  <a:srgbClr val="8A6D1E"/>
                </a:solidFill>
                <a:latin typeface="Amiri" pitchFamily="34" charset="0"/>
                <a:ea typeface="Amiri" pitchFamily="34" charset="-122"/>
                <a:cs typeface="Amiri" pitchFamily="34" charset="-120"/>
              </a:rPr>
              <a:t>تتراوح بين</a:t>
            </a:r>
            <a:pPr algn="l" indent="0" marL="0">
              <a:buNone/>
            </a:pPr>
            <a:r>
              <a:rPr lang="en-US" sz="1050" i="1" dirty="0">
                <a:solidFill>
                  <a:srgbClr val="8A6D1E"/>
                </a:solidFill>
                <a:latin typeface="Calibri" pitchFamily="34" charset="0"/>
                <a:ea typeface="Calibri" pitchFamily="34" charset="-122"/>
                <a:cs typeface="Calibri" pitchFamily="34" charset="-120"/>
              </a:rPr>
              <a:t> ... </a:t>
            </a:r>
            <a:pPr algn="l" indent="0" marL="0">
              <a:buNone/>
            </a:pPr>
            <a:r>
              <a:rPr lang="ar-SA" altLang="en-US" sz="1350" dirty="0">
                <a:solidFill>
                  <a:srgbClr val="8A6D1E"/>
                </a:solidFill>
                <a:latin typeface="Amiri" pitchFamily="34" charset="0"/>
                <a:ea typeface="Amiri" pitchFamily="34" charset="-122"/>
                <a:cs typeface="Amiri" pitchFamily="34" charset="-120"/>
              </a:rPr>
              <a:t>و</a:t>
            </a:r>
            <a:pPr algn="l" indent="0" marL="0">
              <a:buNone/>
            </a:pPr>
            <a:r>
              <a:rPr lang="en-US" sz="1050" i="1" dirty="0">
                <a:solidFill>
                  <a:srgbClr val="8A6D1E"/>
                </a:solidFill>
                <a:latin typeface="Calibri" pitchFamily="34" charset="0"/>
                <a:ea typeface="Calibri" pitchFamily="34" charset="-122"/>
                <a:cs typeface="Calibri" pitchFamily="34" charset="-120"/>
              </a:rPr>
              <a:t>... with the feminine subject.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“less humid than”?</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أَقَلُّ رُطُوبَةٍ إِلَى</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أَصْغَرُ رَطْبٌ مِنْ</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أَقَلُّ رُطُوبَةً مِنْ</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comparative pattern is </a:t>
            </a:r>
            <a:pPr algn="l" indent="0" marL="0">
              <a:buNone/>
            </a:pPr>
            <a:r>
              <a:rPr lang="ar-SA" altLang="en-US" sz="1350" dirty="0">
                <a:solidFill>
                  <a:srgbClr val="8A6D1E"/>
                </a:solidFill>
                <a:latin typeface="Amiri" pitchFamily="34" charset="0"/>
                <a:ea typeface="Amiri" pitchFamily="34" charset="-122"/>
                <a:cs typeface="Amiri" pitchFamily="34" charset="-120"/>
              </a:rPr>
              <a:t>أقل</a:t>
            </a:r>
            <a:pPr algn="l" indent="0" marL="0">
              <a:buNone/>
            </a:pPr>
            <a:r>
              <a:rPr lang="en-US" sz="1050" i="1" dirty="0">
                <a:solidFill>
                  <a:srgbClr val="8A6D1E"/>
                </a:solidFill>
                <a:latin typeface="Calibri" pitchFamily="34" charset="0"/>
                <a:ea typeface="Calibri" pitchFamily="34" charset="-122"/>
                <a:cs typeface="Calibri" pitchFamily="34" charset="-120"/>
              </a:rPr>
              <a:t> + verbal noun accusative + </a:t>
            </a:r>
            <a:pPr algn="l" indent="0" marL="0">
              <a:buNone/>
            </a:pPr>
            <a:r>
              <a:rPr lang="ar-SA" altLang="en-US" sz="1350" dirty="0">
                <a:solidFill>
                  <a:srgbClr val="8A6D1E"/>
                </a:solidFill>
                <a:latin typeface="Amiri" pitchFamily="34" charset="0"/>
                <a:ea typeface="Amiri" pitchFamily="34" charset="-122"/>
                <a:cs typeface="Amiri" pitchFamily="34" charset="-120"/>
              </a:rPr>
              <a:t>من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48</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يَسْقُطُ الثُّلُوجُ.</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Is </a:t>
            </a:r>
            <a:pPr algn="l" indent="0" marL="0">
              <a:buNone/>
            </a:pPr>
            <a:r>
              <a:rPr lang="ar-SA" altLang="en-US" sz="1700" dirty="0">
                <a:solidFill>
                  <a:srgbClr val="5A6472"/>
                </a:solidFill>
                <a:latin typeface="Amiri" pitchFamily="34" charset="0"/>
                <a:ea typeface="Amiri" pitchFamily="34" charset="-122"/>
                <a:cs typeface="Amiri" pitchFamily="34" charset="-120"/>
              </a:rPr>
              <a:t>الثُّلُوجُ</a:t>
            </a:r>
            <a:pPr algn="l" indent="0" marL="0">
              <a:buNone/>
            </a:pPr>
            <a:r>
              <a:rPr lang="en-US" sz="1300" i="1" dirty="0">
                <a:solidFill>
                  <a:srgbClr val="5A6472"/>
                </a:solidFill>
                <a:latin typeface="Calibri" pitchFamily="34" charset="0"/>
                <a:ea typeface="Calibri" pitchFamily="34" charset="-122"/>
                <a:cs typeface="Calibri" pitchFamily="34" charset="-120"/>
              </a:rPr>
              <a:t> treated as masculine or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يَرْتَفِعُ دَرَجَةُ الحَرَارَةِ.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Is </a:t>
            </a:r>
            <a:pPr algn="l" indent="0" marL="0">
              <a:buNone/>
            </a:pPr>
            <a:r>
              <a:rPr lang="ar-SA" altLang="en-US" sz="1700" dirty="0">
                <a:solidFill>
                  <a:srgbClr val="5A6472"/>
                </a:solidFill>
                <a:latin typeface="Amiri" pitchFamily="34" charset="0"/>
                <a:ea typeface="Amiri" pitchFamily="34" charset="-122"/>
                <a:cs typeface="Amiri" pitchFamily="34" charset="-120"/>
              </a:rPr>
              <a:t>دَرَجَة</a:t>
            </a:r>
            <a:pPr algn="l" indent="0" marL="0">
              <a:buNone/>
            </a:pPr>
            <a:r>
              <a:rPr lang="en-US" sz="1300" i="1" dirty="0">
                <a:solidFill>
                  <a:srgbClr val="5A6472"/>
                </a:solidFill>
                <a:latin typeface="Calibri" pitchFamily="34" charset="0"/>
                <a:ea typeface="Calibri" pitchFamily="34" charset="-122"/>
                <a:cs typeface="Calibri" pitchFamily="34" charset="-120"/>
              </a:rPr>
              <a:t> masculine or feminine?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القَاهِرَةُ أَكْثَرُ حَارٌّ مِنْ لَنْدَنَ.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After </a:t>
            </a:r>
            <a:pPr algn="l" indent="0" marL="0">
              <a:buNone/>
            </a:pPr>
            <a:r>
              <a:rPr lang="ar-SA" altLang="en-US" sz="1700" dirty="0">
                <a:solidFill>
                  <a:srgbClr val="5A6472"/>
                </a:solidFill>
                <a:latin typeface="Amiri" pitchFamily="34" charset="0"/>
                <a:ea typeface="Amiri" pitchFamily="34" charset="-122"/>
                <a:cs typeface="Amiri" pitchFamily="34" charset="-120"/>
              </a:rPr>
              <a:t>أَكْثَرُ</a:t>
            </a:r>
            <a:pPr algn="l" indent="0" marL="0">
              <a:buNone/>
            </a:pPr>
            <a:r>
              <a:rPr lang="en-US" sz="1300" i="1" dirty="0">
                <a:solidFill>
                  <a:srgbClr val="5A6472"/>
                </a:solidFill>
                <a:latin typeface="Calibri" pitchFamily="34" charset="0"/>
                <a:ea typeface="Calibri" pitchFamily="34" charset="-122"/>
                <a:cs typeface="Calibri" pitchFamily="34" charset="-120"/>
              </a:rPr>
              <a:t>, do we need an adjective or a noun?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48</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يَسْقُطُ الثُّلُوجُ.</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تَسْقُطُ الثُّلُوجُ.</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الثلوج</a:t>
            </a:r>
            <a:pPr algn="l" indent="0" marL="0">
              <a:buNone/>
            </a:pPr>
            <a:r>
              <a:rPr lang="en-US" sz="1150" b="1" dirty="0">
                <a:solidFill>
                  <a:srgbClr val="1B3B6F"/>
                </a:solidFill>
                <a:latin typeface="Calibri" pitchFamily="34" charset="0"/>
                <a:ea typeface="Calibri" pitchFamily="34" charset="-122"/>
                <a:cs typeface="Calibri" pitchFamily="34" charset="-120"/>
              </a:rPr>
              <a:t> is treated as feminine, so the verb begins with </a:t>
            </a:r>
            <a:pPr algn="l" indent="0" marL="0">
              <a:buNone/>
            </a:pPr>
            <a:r>
              <a:rPr lang="ar-SA" altLang="en-US" sz="1500" b="1" dirty="0">
                <a:solidFill>
                  <a:srgbClr val="1B3B6F"/>
                </a:solidFill>
                <a:latin typeface="Amiri" pitchFamily="34" charset="0"/>
                <a:ea typeface="Amiri" pitchFamily="34" charset="-122"/>
                <a:cs typeface="Amiri" pitchFamily="34" charset="-120"/>
              </a:rPr>
              <a:t>تـ</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يَرْتَفِعُ دَرَجَةُ الحَرَارَةِ.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تَرْتَفِعُ دَرَجَةُ الحَرَارَةِ.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درجة</a:t>
            </a:r>
            <a:pPr algn="l" indent="0" marL="0">
              <a:buNone/>
            </a:pPr>
            <a:r>
              <a:rPr lang="en-US" sz="1150" b="1" dirty="0">
                <a:solidFill>
                  <a:srgbClr val="1B3B6F"/>
                </a:solidFill>
                <a:latin typeface="Calibri" pitchFamily="34" charset="0"/>
                <a:ea typeface="Calibri" pitchFamily="34" charset="-122"/>
                <a:cs typeface="Calibri" pitchFamily="34" charset="-120"/>
              </a:rPr>
              <a:t> is feminine.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القَاهِرَةُ أَكْثَرُ حَارٌّ مِنْ لَنْدَنَ.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القَاهِرَةُ أَكْثَرُ حَرَارَةً مِنْ لَنْدَنَ.</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Use </a:t>
            </a:r>
            <a:pPr algn="l" indent="0" marL="0">
              <a:buNone/>
            </a:pPr>
            <a:r>
              <a:rPr lang="ar-SA" altLang="en-US" sz="1500" b="1" dirty="0">
                <a:solidFill>
                  <a:srgbClr val="1B3B6F"/>
                </a:solidFill>
                <a:latin typeface="Amiri" pitchFamily="34" charset="0"/>
                <a:ea typeface="Amiri" pitchFamily="34" charset="-122"/>
                <a:cs typeface="Amiri" pitchFamily="34" charset="-120"/>
              </a:rPr>
              <a:t>أكثر</a:t>
            </a:r>
            <a:pPr algn="l" indent="0" marL="0">
              <a:buNone/>
            </a:pPr>
            <a:r>
              <a:rPr lang="en-US" sz="1150" b="1" dirty="0">
                <a:solidFill>
                  <a:srgbClr val="1B3B6F"/>
                </a:solidFill>
                <a:latin typeface="Calibri" pitchFamily="34" charset="0"/>
                <a:ea typeface="Calibri" pitchFamily="34" charset="-122"/>
                <a:cs typeface="Calibri" pitchFamily="34" charset="-120"/>
              </a:rPr>
              <a:t> + verbal noun in the accusative: </a:t>
            </a:r>
            <a:pPr algn="l" indent="0" marL="0">
              <a:buNone/>
            </a:pPr>
            <a:r>
              <a:rPr lang="ar-SA" altLang="en-US" sz="1500" b="1" dirty="0">
                <a:solidFill>
                  <a:srgbClr val="1B3B6F"/>
                </a:solidFill>
                <a:latin typeface="Amiri" pitchFamily="34" charset="0"/>
                <a:ea typeface="Amiri" pitchFamily="34" charset="-122"/>
                <a:cs typeface="Amiri" pitchFamily="34" charset="-120"/>
              </a:rPr>
              <a:t>حرارةً</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48</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ea typeface="Cambria" pitchFamily="34" charset="-122"/>
                <a:cs typeface="Cambria" pitchFamily="34" charset="-120"/>
              </a:rPr>
              <a:t>Listening: an Arab-world weather forecast</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will the weather be like in Cairo?</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Sunny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Snowy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Foggy</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Cairo’s maximum temperature?</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23°C</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13°C</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33°C</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will happen in Amman at night?</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temperature will reach 40°C</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Heavy snow will begin</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temperature will fall</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Amman’s night temperature?</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12°C</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20°C</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2°C</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When will rain fall in Rabat?</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Next week</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the morning</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At noon only</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will happen in Rabat in the evening?</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Strong winds will blow</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sun will rise</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temperature will reach 33°C</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 2 and 5 — listen for the cities </a:t>
            </a:r>
            <a:pPr algn="l" indent="0" marL="0">
              <a:buNone/>
            </a:pPr>
            <a:r>
              <a:rPr lang="ar-SA" altLang="en-US" sz="1650" dirty="0">
                <a:solidFill>
                  <a:srgbClr val="1E6B52"/>
                </a:solidFill>
                <a:latin typeface="Amiri" pitchFamily="34" charset="0"/>
                <a:ea typeface="Amiri" pitchFamily="34" charset="-122"/>
                <a:cs typeface="Amiri" pitchFamily="34" charset="-120"/>
              </a:rPr>
              <a:t>القَاهِرَة، عَمَّان، الرِّبَاط</a:t>
            </a:r>
            <a:pPr algn="l" indent="0" marL="0">
              <a:buNone/>
            </a:pPr>
            <a:r>
              <a:rPr lang="en-US" sz="1250" dirty="0">
                <a:solidFill>
                  <a:srgbClr val="1E6B52"/>
                </a:solidFill>
                <a:latin typeface="Calibri" pitchFamily="34" charset="0"/>
                <a:ea typeface="Calibri" pitchFamily="34" charset="-122"/>
                <a:cs typeface="Calibri" pitchFamily="34" charset="-120"/>
              </a:rPr>
              <a:t> and the words </a:t>
            </a:r>
            <a:pPr algn="l" indent="0" marL="0">
              <a:buNone/>
            </a:pPr>
            <a:r>
              <a:rPr lang="ar-SA" altLang="en-US" sz="1650" dirty="0">
                <a:solidFill>
                  <a:srgbClr val="1E6B52"/>
                </a:solidFill>
                <a:latin typeface="Amiri" pitchFamily="34" charset="0"/>
                <a:ea typeface="Amiri" pitchFamily="34" charset="-122"/>
                <a:cs typeface="Amiri" pitchFamily="34" charset="-120"/>
              </a:rPr>
              <a:t>الشَّمْس، المَطَر، صَبَاحًا</a:t>
            </a:r>
            <a:pPr algn="l" indent="0" marL="0">
              <a:buNone/>
            </a:pPr>
            <a:r>
              <a:rPr lang="en-US" sz="1250" dirty="0">
                <a:solidFill>
                  <a:srgbClr val="1E6B52"/>
                </a:solidFill>
                <a:latin typeface="Calibri" pitchFamily="34" charset="0"/>
                <a:ea typeface="Calibri" pitchFamily="34" charset="-122"/>
                <a:cs typeface="Calibri" pitchFamily="34" charset="-120"/>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48</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مَرْحَبًا بِكُمْ فِي النَّشْرَةِ الجَوِّيَّةِ.</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Welcome to the weather forecast.</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فِي القَاهِرَةِ سَتُشْرِقُ الشَّمْسُ، وَسَتَرْتَفِعُ دَرَجَةُ الحَرَارَةِ إِلَى ثَلَاثٍ وَثَلَاثِينَ دَرَجَةً.</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Cairo the sun will shine, and the temperature will rise to thirty-three degrees.</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أَمَّا فِي عَمَّانَ فَمِنَ المُتَوَقَّعِ أَنْ تَنْخَفِضَ دَرَجَةُ الحَرَارَةِ لَيْلًا إِلَى اثْنَتَيْ عَشْرَةَ دَرَجَةً.</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As for Amman, the temperature is expected to fall at night to twelve degrees.</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وَفِي الرِّبَاطِ سَيَسْقُطُ المَطَرُ صَبَاحًا، ثُمَّ تَهُبُّ رِيَاحٌ قَوِيَّةٌ مَسَاءً.</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And in Rabat it will rain in the morning, then strong winds will blow in the evening.</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48</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will the weather be like in Cairo?</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Sunny</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Snowy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Foggy</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ستشرق الشمس</a:t>
            </a:r>
            <a:pPr algn="l" indent="0" marL="0">
              <a:buNone/>
            </a:pPr>
            <a:r>
              <a:rPr lang="en-US" sz="1050" i="1" dirty="0">
                <a:solidFill>
                  <a:srgbClr val="8A6D1E"/>
                </a:solidFill>
                <a:latin typeface="Calibri" pitchFamily="34" charset="0"/>
                <a:ea typeface="Calibri" pitchFamily="34" charset="-122"/>
                <a:cs typeface="Calibri" pitchFamily="34" charset="-120"/>
              </a:rPr>
              <a:t> means it will be sunny.</a:t>
            </a:r>
            <a:endParaRPr lang="en-US" sz="10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Cairo’s maximum temperature?</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23°C</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13°C</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33°C</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script says </a:t>
            </a:r>
            <a:pPr algn="l" indent="0" marL="0">
              <a:buNone/>
            </a:pPr>
            <a:r>
              <a:rPr lang="ar-SA" altLang="en-US" sz="1350" dirty="0">
                <a:solidFill>
                  <a:srgbClr val="8A6D1E"/>
                </a:solidFill>
                <a:latin typeface="Amiri" pitchFamily="34" charset="0"/>
                <a:ea typeface="Amiri" pitchFamily="34" charset="-122"/>
                <a:cs typeface="Amiri" pitchFamily="34" charset="-120"/>
              </a:rPr>
              <a:t>ثلاث وثلاثين درجة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will happen in Amman at night?</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ea typeface="Calibri" pitchFamily="34" charset="-122"/>
                <a:cs typeface="Calibri" pitchFamily="34" charset="-120"/>
              </a:rPr>
              <a:t>The temperature will reach 40°C</a:t>
            </a:r>
            <a:endParaRPr lang="en-US" sz="11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Heavy snow will begin</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The temperature will fall</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تنخفض درجة الحرارة ليلاً.</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Amman’s night temperature?</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12°C</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20°C</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2°C</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script gives </a:t>
            </a:r>
            <a:pPr algn="l" indent="0" marL="0">
              <a:buNone/>
            </a:pPr>
            <a:r>
              <a:rPr lang="ar-SA" altLang="en-US" sz="1350" dirty="0">
                <a:solidFill>
                  <a:srgbClr val="8A6D1E"/>
                </a:solidFill>
                <a:latin typeface="Amiri" pitchFamily="34" charset="0"/>
                <a:ea typeface="Amiri" pitchFamily="34" charset="-122"/>
                <a:cs typeface="Amiri" pitchFamily="34" charset="-120"/>
              </a:rPr>
              <a:t>اثنتي عشرة درجة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When will rain fall in Rabat?</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Next week</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In the morning</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At noon only</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سيسقط المطر صباحًا.</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will happen in Rabat in the evening?</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Strong winds will blow</a:t>
            </a:r>
            <a:endParaRPr lang="en-US" sz="12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sun will rise</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ea typeface="Calibri" pitchFamily="34" charset="-122"/>
                <a:cs typeface="Calibri" pitchFamily="34" charset="-120"/>
              </a:rPr>
              <a:t>The temperature will reach 33°C</a:t>
            </a:r>
            <a:endParaRPr lang="en-US" sz="11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تهب رياح قوية مساءً.</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 2 and 5 — listen for the cities </a:t>
            </a:r>
            <a:pPr algn="l" indent="0" marL="0">
              <a:buNone/>
            </a:pPr>
            <a:r>
              <a:rPr lang="ar-SA" altLang="en-US" sz="1650" dirty="0">
                <a:solidFill>
                  <a:srgbClr val="1E6B52"/>
                </a:solidFill>
                <a:latin typeface="Amiri" pitchFamily="34" charset="0"/>
                <a:ea typeface="Amiri" pitchFamily="34" charset="-122"/>
                <a:cs typeface="Amiri" pitchFamily="34" charset="-120"/>
              </a:rPr>
              <a:t>القَاهِرَة، عَمَّان، الرِّبَاط</a:t>
            </a:r>
            <a:pPr algn="l" indent="0" marL="0">
              <a:buNone/>
            </a:pPr>
            <a:r>
              <a:rPr lang="en-US" sz="1250" dirty="0">
                <a:solidFill>
                  <a:srgbClr val="1E6B52"/>
                </a:solidFill>
                <a:latin typeface="Calibri" pitchFamily="34" charset="0"/>
                <a:ea typeface="Calibri" pitchFamily="34" charset="-122"/>
                <a:cs typeface="Calibri" pitchFamily="34" charset="-120"/>
              </a:rPr>
              <a:t> and the words </a:t>
            </a:r>
            <a:pPr algn="l" indent="0" marL="0">
              <a:buNone/>
            </a:pPr>
            <a:r>
              <a:rPr lang="ar-SA" altLang="en-US" sz="1650" dirty="0">
                <a:solidFill>
                  <a:srgbClr val="1E6B52"/>
                </a:solidFill>
                <a:latin typeface="Amiri" pitchFamily="34" charset="0"/>
                <a:ea typeface="Amiri" pitchFamily="34" charset="-122"/>
                <a:cs typeface="Amiri" pitchFamily="34" charset="-120"/>
              </a:rPr>
              <a:t>الشَّمْس، المَطَر، صَبَاحًا</a:t>
            </a:r>
            <a:pPr algn="l" indent="0" marL="0">
              <a:buNone/>
            </a:pPr>
            <a:r>
              <a:rPr lang="en-US" sz="1250" dirty="0">
                <a:solidFill>
                  <a:srgbClr val="1E6B52"/>
                </a:solidFill>
                <a:latin typeface="Calibri" pitchFamily="34" charset="0"/>
                <a:ea typeface="Calibri" pitchFamily="34" charset="-122"/>
                <a:cs typeface="Calibri" pitchFamily="34" charset="-120"/>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48</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ea typeface="Cambria" pitchFamily="34" charset="-122"/>
                <a:cs typeface="Cambria" pitchFamily="34" charset="-120"/>
              </a:rPr>
              <a:t>Speaking: compare weather patterns</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كَيْفَ الطَّقْسُ اليَوْمَ فِي مَدِينَتِكَ؟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قَارِنْ بَيْنَ الطَّقْسِ فِي مَدِينَتَيْنِ.</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الطَّقْسُ المُتَوَقَّعُ غَدًا؟</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أَيُّ فَصْلٍ تُفَضِّلُ وَلِمَاذَا؟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الطَّقْسُ ___ وَ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___ أَكْثَرُ ___ مِنْ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مِنَ المُتَوَقَّعِ أَنْ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قَالَ / قَالَتْ إِنَّ الطَّقْسَ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كَيْفَ يَخْتَلِفُ الطَّقْسُ بَيْنَ مَدِينَتَيْنِ؟</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How does the weather differ between two cities?</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دُبَيُّ أَكْثَرُ حَرَارَةً مِنْ عَمَّانَ، بَيْنَمَا عَمَّانُ أَقَلُّ رُطُوبَةً فِي فَصْلِ الشِّتَاءِ.</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Developed comparison</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36 / 48</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Use the vocabulary banks and sentence frames to produce four accurate connected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Frames + word bank (next slide): الطَّقْسُ + describing word, a season, and يَسْقُطُ / تَسْقُطُ.</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Use several target structures in a linked paragraph or sustained spoken answer.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Link with وَ، لٰكِنْ، أَمَّا … فَـ. Include a temperature and one comparison with أَكْثَرُ … مِنْ.</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Evaluate, compare or qualify ideas using precise evidence and formal linking language.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Website writing task: compare the weather in two Arabic-speaking cities. Checklist and phrase bank on the Stretch slide.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37 / 48</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أَكْثَرُ حَرَارَةً مِنْ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is hotter than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أَكْثَرُ بُرُودَةً مِنْ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is colder than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تَتَرَاوَحُ دَرَجَةُ الحَرَارَةِ بَيْنَ ______ وَ ______ .</a:t>
            </a:r>
            <a:endParaRPr lang="ar-SA" sz="16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It ranges between … and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سَتَرْتَفِعُ دَرَجَةُ الحَرَارَةِ إِلَى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temperature will rise to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مِنَ المُتَوَقَّعِ أَنْ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It is expected that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الطَّقْسُ ______ وَ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weather is hot and sunny.</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فِي الصَّيْفِ الطَّقْسُ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 summer the weather is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يَسْقُطُ المَطَرُ فِي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It rains in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تَسْقُطُ الثُّلُوجُ فِي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Snow falls in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دَرَجَةُ الحَرَارَةِ ______ دَرَجَةً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temperature is … degrees.</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حَارٌّ  ·  بَارِدٌ  ·  مُشْمِسٌ  ·  مُمْطِرٌ  ·  رَطْبٌ  ·  الصَّيْفُ  ·  الشِّتَاءُ  ·  الرَّبِيعُ  ·  الخَرِيفُ  ·  يَسْقُطُ المَطَرُ  ·  تَهُبُّ الرِّيَاحُ  ·  القَاهِرَةُ  ·  عَمَّانُ  ·  دُبَيُّ  ·  لَنْدَنُ</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38 / 48</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ea typeface="Calibri" pitchFamily="34" charset="-122"/>
                <a:cs typeface="Calibri" pitchFamily="34" charset="-120"/>
              </a:rPr>
              <a:t>Write 100–120 Arabic words comparing weather in two Arabic-speaking cities or regions.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Use at least three weather verbs.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Include a temperature or range.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Use two accurate comparisons.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Add a forecast and practical conclusion.</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ea typeface="Calibri" pitchFamily="34" charset="-122"/>
                <a:cs typeface="Calibri" pitchFamily="34" charset="-120"/>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34" charset="0"/>
                <a:ea typeface="Amiri" pitchFamily="34" charset="-122"/>
                <a:cs typeface="Amiri" pitchFamily="34" charset="-120"/>
              </a:rPr>
              <a:t>تَخْتَلِفُ أَحْوَالُ الطَّقْسِ مِنْ مَنْطِقَةٍ إِلَى أُخْرَى</a:t>
            </a:r>
            <a:endParaRPr lang="ar-SA" sz="175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weather conditions differ from one region to another</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وَقَدْ تَتَجَاوَزُ أَرْبَعِينَ دَرَجَةً مِئَوِيَّةً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and it may exceed forty degrees Celsius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أَمَّا فِي … فَالجَوُّ أَكْثَرُ بُرُودَةً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as for …, the weather is colder</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كَمَا تَهُبُّ الرِّيَاحُ عَلَى السَّاحِلِ</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winds also blow on the coast</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تُشِيرُ النَّشْرَةُ الجَوِّيَّةُ إِلَى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the forecast points to …</a:t>
            </a:r>
            <a:endParaRPr lang="en-US" sz="1050" dirty="0"/>
          </a:p>
        </p:txBody>
      </p:sp>
      <p:sp>
        <p:nvSpPr>
          <p:cNvPr id="35" name="Text 32"/>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لِذٰلِكَ، يَجِبُ عَلَى المُسَافِرِ أَنْ …</a:t>
            </a:r>
            <a:endParaRPr lang="ar-SA" sz="1800" dirty="0"/>
          </a:p>
        </p:txBody>
      </p:sp>
      <p:sp>
        <p:nvSpPr>
          <p:cNvPr id="36" name="Text 33"/>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so the traveller should …</a:t>
            </a:r>
            <a:endParaRPr lang="en-US" sz="10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39 / 48</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buNone/>
            </a:pPr>
            <a:r>
              <a:rPr lang="ar-SA" altLang="en-US" sz="2600" dirty="0">
                <a:solidFill>
                  <a:srgbClr val="1F2A37"/>
                </a:solidFill>
                <a:latin typeface="Amiri" pitchFamily="34" charset="0"/>
                <a:ea typeface="Amiri" pitchFamily="34" charset="-122"/>
                <a:cs typeface="Amiri" pitchFamily="34" charset="-120"/>
              </a:rPr>
              <a:t>تَخْتَلِفُ أَحْوَالُ الطَّقْسِ فِي العَالَمِ العَرَبِيِّ مِنْ مَنْطِقَةٍ إِلَى أُخْرَى. فِي دُبَيَّ تَرْتَفِعُ دَرَجَةُ الحَرَارَةِ صَيْفًا، وَقَدْ تَتَجَاوَزُ أَرْبَعِينَ دَرَجَةً مِئَوِيَّةً. أَمَّا فِي عَمَّانَ فَالجَوُّ أَكْثَرُ بُرُودَةً شِتَاءً، وَمِنَ المُتَوَقَّعِ أَنْ تَسْقُطَ الثُّلُوجُ فِي بَعْضِ الأَيَّامِ. وَفِي الرِّبَاطِ يَسْقُطُ المَطَرُ أَكْثَرَ مِنْ دُبَيَّ، كَمَا تَهُبُّ الرِّيَاحُ عَلَى السَّاحِلِ. لِذٰلِكَ، يَجِبُ عَلَى المُسَافِرِ أَنْ يَقْرَأَ النَّشْرَةَ الجَوِّيَّةَ قَبْلَ الرِّحْلَةِ.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Weather conditions in the Arab world differ from one region to another. In Dubai the temperature rises in summer, and it may exceed forty degrees Celsius. As for Amman, the weather is colder in winter, and snow is expected to fall on some days. In Rabat it rains more than in Dubai, and winds also blow on the coast. So travellers should read the weather forecast before the trip.</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weather verb that agrees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temperature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comparison with مِنْ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forecast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40 / 48</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describe the weather and the season: </a:t>
            </a:r>
            <a:pPr algn="l" indent="0" marL="0">
              <a:buNone/>
            </a:pPr>
            <a:r>
              <a:rPr lang="ar-SA" altLang="en-US" sz="1700" dirty="0">
                <a:solidFill>
                  <a:srgbClr val="1F2A37"/>
                </a:solidFill>
                <a:latin typeface="Amiri" pitchFamily="34" charset="0"/>
                <a:ea typeface="Amiri" pitchFamily="34" charset="-122"/>
                <a:cs typeface="Amiri" pitchFamily="34" charset="-120"/>
              </a:rPr>
              <a:t>الطَّقْسُ حَارٌّ فِي الصَّيْفِ</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understand the key Arabic without translating every word.</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 </a:t>
            </a:r>
            <a:pPr algn="l" indent="0" marL="0">
              <a:buNone/>
            </a:pPr>
            <a:r>
              <a:rPr lang="ar-SA" altLang="en-US" sz="1700" dirty="0">
                <a:solidFill>
                  <a:srgbClr val="1F2A37"/>
                </a:solidFill>
                <a:latin typeface="Amiri" pitchFamily="34" charset="0"/>
                <a:ea typeface="Amiri" pitchFamily="34" charset="-122"/>
                <a:cs typeface="Amiri" pitchFamily="34" charset="-120"/>
              </a:rPr>
              <a:t>تَـ</a:t>
            </a:r>
            <a:pPr algn="l" indent="0" marL="0">
              <a:buNone/>
            </a:pPr>
            <a:r>
              <a:rPr lang="en-US" sz="1300" dirty="0">
                <a:solidFill>
                  <a:srgbClr val="1F2A37"/>
                </a:solidFill>
                <a:latin typeface="Calibri" pitchFamily="34" charset="0"/>
                <a:ea typeface="Calibri" pitchFamily="34" charset="-122"/>
                <a:cs typeface="Calibri" pitchFamily="34" charset="-120"/>
              </a:rPr>
              <a:t> with feminine weather words: </a:t>
            </a:r>
            <a:pPr algn="l" indent="0" marL="0">
              <a:buNone/>
            </a:pPr>
            <a:r>
              <a:rPr lang="ar-SA" altLang="en-US" sz="1700" dirty="0">
                <a:solidFill>
                  <a:srgbClr val="1F2A37"/>
                </a:solidFill>
                <a:latin typeface="Amiri" pitchFamily="34" charset="0"/>
                <a:ea typeface="Amiri" pitchFamily="34" charset="-122"/>
                <a:cs typeface="Amiri" pitchFamily="34" charset="-120"/>
              </a:rPr>
              <a:t>تَسْقُطُ الثُّلُوجُ، تَهُبُّ الرِّيَاحُ</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support an answer with exact Arabic evidence.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compare with </a:t>
            </a:r>
            <a:pPr algn="l" indent="0" marL="0">
              <a:buNone/>
            </a:pPr>
            <a:r>
              <a:rPr lang="ar-SA" altLang="en-US" sz="1700" dirty="0">
                <a:solidFill>
                  <a:srgbClr val="1F2A37"/>
                </a:solidFill>
                <a:latin typeface="Amiri" pitchFamily="34" charset="0"/>
                <a:ea typeface="Amiri" pitchFamily="34" charset="-122"/>
                <a:cs typeface="Amiri" pitchFamily="34" charset="-120"/>
              </a:rPr>
              <a:t>أَكْثَرُ</a:t>
            </a:r>
            <a:pPr algn="l" indent="0" marL="0">
              <a:buNone/>
            </a:pPr>
            <a:r>
              <a:rPr lang="en-US" sz="1300" dirty="0">
                <a:solidFill>
                  <a:srgbClr val="1F2A37"/>
                </a:solidFill>
                <a:latin typeface="Calibri" pitchFamily="34" charset="0"/>
                <a:ea typeface="Calibri" pitchFamily="34" charset="-122"/>
                <a:cs typeface="Calibri" pitchFamily="34" charset="-120"/>
              </a:rPr>
              <a:t> + noun + </a:t>
            </a:r>
            <a:pPr algn="l" indent="0" marL="0">
              <a:buNone/>
            </a:pPr>
            <a:r>
              <a:rPr lang="ar-SA" altLang="en-US" sz="1700" dirty="0">
                <a:solidFill>
                  <a:srgbClr val="1F2A37"/>
                </a:solidFill>
                <a:latin typeface="Amiri" pitchFamily="34" charset="0"/>
                <a:ea typeface="Amiri" pitchFamily="34" charset="-122"/>
                <a:cs typeface="Amiri" pitchFamily="34" charset="-120"/>
              </a:rPr>
              <a:t>مِنْ</a:t>
            </a:r>
            <a:pPr algn="l" indent="0" marL="0">
              <a:buNone/>
            </a:pPr>
            <a:r>
              <a:rPr lang="en-US" sz="1300" dirty="0">
                <a:solidFill>
                  <a:srgbClr val="1F2A37"/>
                </a:solidFill>
                <a:latin typeface="Calibri" pitchFamily="34" charset="0"/>
                <a:ea typeface="Calibri" pitchFamily="34" charset="-122"/>
                <a:cs typeface="Calibri" pitchFamily="34" charset="-120"/>
              </a:rPr>
              <a:t> and forecast with </a:t>
            </a:r>
            <a:pPr algn="l" indent="0" marL="0">
              <a:buNone/>
            </a:pPr>
            <a:r>
              <a:rPr lang="ar-SA" altLang="en-US" sz="1700" dirty="0">
                <a:solidFill>
                  <a:srgbClr val="1F2A37"/>
                </a:solidFill>
                <a:latin typeface="Amiri" pitchFamily="34" charset="0"/>
                <a:ea typeface="Amiri" pitchFamily="34" charset="-122"/>
                <a:cs typeface="Amiri" pitchFamily="34" charset="-120"/>
              </a:rPr>
              <a:t>مِنَ المُتَوَقَّعِ أَنْ</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41 / 48</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has correct weather agreement?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تَسْقُطُ الثُّلُوجُ فِي الجِبَالِ.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يَسْقُطُ الثُّلُوجُ فِي الجِبَالِ.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تَسْقُطَ الثُّلُوجَ فِي الجِبَالِ.</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comparison is accurate?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جُدَّةُ أَكْثَرُ رَطْبَةٌ إِلَى الرِّيَاضِ.</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جُدَّةُ أَكْثَرُ رُطُوبَةً مِنَ الرِّيَاضِ.</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جُدَّةُ رُطُوبَةٌ مِنْ أَكْثَرِ الرِّيَاضِ.</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“the temperature falls”?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تَنْخَفِضُ دَرَجَةُ الحَرَارَةِ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تَرْتَفِعُ دَرَجَةُ الحَرَارَةِ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تَهُبُّ دَرَجَةُ الحَرَارَةِ</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42 / 48</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has correct weather agreement?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تَسْقُطُ الثُّلُوجُ فِي الجِبَالِ.</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يَسْقُطُ الثُّلُوجُ فِي الجِبَالِ.</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تَسْقُطَ الثُّلُوجَ فِي الجِبَالِ.</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الثلوج</a:t>
            </a:r>
            <a:pPr algn="l" indent="0" marL="0">
              <a:buNone/>
            </a:pPr>
            <a:r>
              <a:rPr lang="en-US" sz="1050" i="1" dirty="0">
                <a:solidFill>
                  <a:srgbClr val="8A6D1E"/>
                </a:solidFill>
                <a:latin typeface="Calibri" pitchFamily="34" charset="0"/>
                <a:ea typeface="Calibri" pitchFamily="34" charset="-122"/>
                <a:cs typeface="Calibri" pitchFamily="34" charset="-120"/>
              </a:rPr>
              <a:t> is treated as feminine.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comparison is accurate?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جُدَّةُ أَكْثَرُ رَطْبَةٌ إِلَى الرِّيَاضِ.</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جُدَّةُ أَكْثَرُ رُطُوبَةً مِنَ الرِّيَاضِ.</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جُدَّةُ رُطُوبَةٌ مِنْ أَكْثَرِ الرِّيَاضِ.</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Use </a:t>
            </a:r>
            <a:pPr algn="l" indent="0" marL="0">
              <a:buNone/>
            </a:pPr>
            <a:r>
              <a:rPr lang="ar-SA" altLang="en-US" sz="1350" dirty="0">
                <a:solidFill>
                  <a:srgbClr val="8A6D1E"/>
                </a:solidFill>
                <a:latin typeface="Amiri" pitchFamily="34" charset="0"/>
                <a:ea typeface="Amiri" pitchFamily="34" charset="-122"/>
                <a:cs typeface="Amiri" pitchFamily="34" charset="-120"/>
              </a:rPr>
              <a:t>أكثر رطوبةً من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“the temperature falls”?</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تَنْخَفِضُ دَرَجَةُ الحَرَارَةِ</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تَرْتَفِعُ دَرَجَةُ الحَرَارَةِ</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تَهُبُّ دَرَجَةُ الحَرَارَةِ</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تنخفض</a:t>
            </a:r>
            <a:pPr algn="l" indent="0" marL="0">
              <a:buNone/>
            </a:pPr>
            <a:r>
              <a:rPr lang="en-US" sz="1050" i="1" dirty="0">
                <a:solidFill>
                  <a:srgbClr val="8A6D1E"/>
                </a:solidFill>
                <a:latin typeface="Calibri" pitchFamily="34" charset="0"/>
                <a:ea typeface="Calibri" pitchFamily="34" charset="-122"/>
                <a:cs typeface="Calibri" pitchFamily="34" charset="-120"/>
              </a:rPr>
              <a:t> means falls.</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43 / 48</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ea typeface="Cambria" pitchFamily="34" charset="-122"/>
                <a:cs typeface="Cambria" pitchFamily="34" charset="-120"/>
              </a:rPr>
              <a:t>Reading: regional weather differences</a:t>
            </a:r>
            <a:endParaRPr lang="en-US" sz="24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buNone/>
            </a:pPr>
            <a:r>
              <a:rPr lang="ar-SA" altLang="en-US" sz="2600" dirty="0">
                <a:solidFill>
                  <a:srgbClr val="1F2A37"/>
                </a:solidFill>
                <a:latin typeface="Amiri" pitchFamily="34" charset="0"/>
                <a:ea typeface="Amiri" pitchFamily="34" charset="-122"/>
                <a:cs typeface="Amiri" pitchFamily="34" charset="-120"/>
              </a:rPr>
              <a:t>تُشِيرُ النَّشْرَةُ الجَوِّيَّةُ إِلَى اخْتِلَافٍ كَبِيرٍ بَيْنَ مَنَاطِقِ البِلَادِ. فِي السَّاحِلِ تَتَرَاوَحُ دَرَجَةُ الحَرَارَةِ بَيْنَ ثَمَانِيَ عَشْرَةَ وَخَمْسٍ وَعِشْرِينَ دَرَجَةً، وَتَكُونُ الرُّطُوبَةُ مُرْتَفِعَةً. أَمَّا فِي الدَّاخِلِ فَالجَوُّ أَكْثَرُ حَرَارَةً وَأَقَلُّ رُطُوبَةً. وَمِنَ المُتَوَقَّعِ أَنْ تَهُبَّ رِيَاحٌ قَوِيَّةٌ فِي بَعْضِ المَنَاطِقِ الجَنُوبِيَّةِ.</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تُشِيرُ إِلَى</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points to</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اخْتِلَافٌ</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 difference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مَنَاطِقُ البِلَادِ</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country’s regions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السَّاحِلُ</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coast</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تَتَرَاوَحُ بَيْنَ</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ranges between</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الرُّطُوبَةُ</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humidity</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مُرْتَفِعَةٌ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high</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الدَّاخِلُ</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interior</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الجَوُّ</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weather, the air</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الجَنُوبِيَّةُ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southern</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44 / 48</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forecast highlight?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Identical weather everywhere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Large regional differences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winter snow</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temperature range is given for the coast?</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25–35°C</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8–15°C</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18–25°C</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high on the coast?</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Humidity</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Snowfall</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Altitude</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is the interior compared with the coast?</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Colder and wetter</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Hotter and less humid</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Exactly the same</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expected in some southern regions?</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Strong winds</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heat-free day</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Heavy snow</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introduces the forecast?</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عَلَى الرَّغْمِ مِنْ</a:t>
            </a:r>
            <a:endParaRPr lang="ar-SA" sz="20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بِسَبَبِ</a:t>
            </a:r>
            <a:endParaRPr lang="ar-SA" sz="20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 المُتَوَقَّعِ أَنْ</a:t>
            </a:r>
            <a:endParaRPr lang="ar-SA" sz="20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45 / 48</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forecast highlight?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ea typeface="Calibri" pitchFamily="34" charset="-122"/>
                <a:cs typeface="Calibri" pitchFamily="34" charset="-120"/>
              </a:rPr>
              <a:t>Identical weather everywhere</a:t>
            </a:r>
            <a:endParaRPr lang="en-US" sz="11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ea typeface="Calibri" pitchFamily="34" charset="-122"/>
                <a:cs typeface="Calibri" pitchFamily="34" charset="-120"/>
              </a:rPr>
              <a:t>Large regional differences</a:t>
            </a:r>
            <a:endParaRPr lang="en-US" sz="120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winter snow</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first sentence mentions </a:t>
            </a:r>
            <a:pPr algn="l" indent="0" marL="0">
              <a:buNone/>
            </a:pPr>
            <a:r>
              <a:rPr lang="ar-SA" altLang="en-US" sz="1350" dirty="0">
                <a:solidFill>
                  <a:srgbClr val="8A6D1E"/>
                </a:solidFill>
                <a:latin typeface="Amiri" pitchFamily="34" charset="0"/>
                <a:ea typeface="Amiri" pitchFamily="34" charset="-122"/>
                <a:cs typeface="Amiri" pitchFamily="34" charset="-120"/>
              </a:rPr>
              <a:t>اختلاف كبير</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temperature range is given for the coast?</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25–35°C</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8–15°C</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18–25°C</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coastal range is 18 to 25.</a:t>
            </a:r>
            <a:endParaRPr lang="en-US" sz="10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high on the coast?</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Humidity</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Snowfall</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Altitude</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الرطوبة مرتفعة.</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is the interior compared with the coast?</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Colder and wetter</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Hotter and less humid</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Exactly the same</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أكثر حرارةً وأقل رطوبةً.</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expected in some southern regions?</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Strong winds</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heat-free day</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Heavy snow</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تهب رياح قوية.</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introduces the forecast?</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عَلَى الرَّغْمِ مِنْ</a:t>
            </a:r>
            <a:endParaRPr lang="ar-SA" sz="170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بِسَبَبِ</a:t>
            </a:r>
            <a:endParaRPr lang="ar-SA" sz="170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مِنَ المُتَوَقَّعِ أَنْ</a:t>
            </a:r>
            <a:endParaRPr lang="ar-SA" sz="170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من المتوقع أن</a:t>
            </a:r>
            <a:pPr algn="l" indent="0" marL="0">
              <a:buNone/>
            </a:pPr>
            <a:r>
              <a:rPr lang="en-US" sz="1050" i="1" dirty="0">
                <a:solidFill>
                  <a:srgbClr val="8A6D1E"/>
                </a:solidFill>
                <a:latin typeface="Calibri" pitchFamily="34" charset="0"/>
                <a:ea typeface="Calibri" pitchFamily="34" charset="-122"/>
                <a:cs typeface="Calibri" pitchFamily="34" charset="-120"/>
              </a:rPr>
              <a:t> signals a forecast.</a:t>
            </a:r>
            <a:endParaRPr lang="en-US" sz="10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46 / 48</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TC-L04: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TC-L04 · Environmental Problems and Their Causes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تَلَوُّثٌ</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pollution</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نُفَايَاتٌ</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waste, rubbish</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هَوَاءٌ</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air</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شَجَرَةٌ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tree</a:t>
            </a:r>
            <a:pPr indent="0" marL="0">
              <a:buNone/>
            </a:pPr>
            <a:r>
              <a:rPr lang="en-US" sz="1000" i="1" dirty="0">
                <a:solidFill>
                  <a:srgbClr val="5A6472"/>
                </a:solidFill>
                <a:latin typeface="Calibri" pitchFamily="34" charset="0"/>
                <a:ea typeface="Calibri" pitchFamily="34" charset="-122"/>
                <a:cs typeface="Calibri" pitchFamily="34" charset="-120"/>
              </a:rPr>
              <a:t>  pl. أَشْجَارٌ</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بِسَبَبِ</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because of</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Write one Arabic sentence: what is one problem for the environment where you live?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مَا مُشْكِلَةٌ بِيئِيَّةٌ فِي مَدِينَتِكَ؟</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TC-L03 · play “Weather Forecast”, then the vocabulary mission.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Write 5 sentences comparing the weather in two cities with </a:t>
            </a:r>
            <a:pPr algn="l" indent="0" marL="0">
              <a:buNone/>
            </a:pPr>
            <a:r>
              <a:rPr lang="ar-SA" altLang="en-US" sz="1550" dirty="0">
                <a:solidFill>
                  <a:srgbClr val="1F2A37"/>
                </a:solidFill>
                <a:latin typeface="Amiri" pitchFamily="34" charset="0"/>
                <a:ea typeface="Amiri" pitchFamily="34" charset="-122"/>
                <a:cs typeface="Amiri" pitchFamily="34" charset="-120"/>
              </a:rPr>
              <a:t>أَكْثَرُ … مِنْ</a:t>
            </a:r>
            <a:pPr algn="l"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TC-L03 · the application mission and the reading “Regional weather differences” (6 questions).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47 / 48</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TC-L03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TC-L04 · Environmental Problems and Their Causes</a:t>
            </a:r>
            <a:endParaRPr lang="en-US" sz="19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المُشْكِلَاتُ البِيئِيَّةُ وَأَسْبَابُهَا</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5 words + 1 sentence before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TC-L03 · Climate, Seasons and Weather</dc:title>
  <dc:subject>PptxGenJS Presentation</dc:subject>
  <dc:creator>Al Madina Online School · Arabic Department</dc:creator>
  <cp:lastModifiedBy>Al Madina Online School · Arabic Department</cp:lastModifiedBy>
  <cp:revision>1</cp:revision>
  <dcterms:created xsi:type="dcterms:W3CDTF">2026-09-27T07:58:43Z</dcterms:created>
  <dcterms:modified xsi:type="dcterms:W3CDTF">2026-09-27T07:58:43Z</dcterms:modified>
</cp:coreProperties>
</file>