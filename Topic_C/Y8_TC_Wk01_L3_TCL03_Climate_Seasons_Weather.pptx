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34" charset="0"/>
                <a:ea typeface="Amiri" pitchFamily="34" charset="-122"/>
                <a:cs typeface="Amiri" pitchFamily="34" charset="-120"/>
              </a:rPr>
              <a:t>تَسْقُطُ الثُّلُوجُ</a:t>
            </a:r>
            <a:pPr algn="l" indent="0" marL="0">
              <a:buNone/>
            </a:pPr>
            <a:r>
              <a:rPr lang="en-US" sz="1400" dirty="0">
                <a:solidFill>
                  <a:srgbClr val="C6D2E6"/>
                </a:solidFill>
                <a:latin typeface="Calibri" pitchFamily="34" charset="0"/>
                <a:ea typeface="Calibri" pitchFamily="34" charset="-122"/>
                <a:cs typeface="Calibri" pitchFamily="34" charset="-120"/>
              </a:rPr>
              <a:t>), comparisons (</a:t>
            </a:r>
            <a:pPr algn="l" indent="0" marL="0">
              <a:buNone/>
            </a:pPr>
            <a:r>
              <a:rPr lang="ar-SA" altLang="en-US" sz="1800" dirty="0">
                <a:solidFill>
                  <a:srgbClr val="C6D2E6"/>
                </a:solidFill>
                <a:latin typeface="Amiri" pitchFamily="34" charset="0"/>
                <a:ea typeface="Amiri" pitchFamily="34" charset="-122"/>
                <a:cs typeface="Amiri" pitchFamily="34" charset="-120"/>
              </a:rPr>
              <a:t>أَكْثَرُ حَرَارَةً مِنْ</a:t>
            </a:r>
            <a:pPr algn="l" indent="0" marL="0">
              <a:buNone/>
            </a:pPr>
            <a:r>
              <a:rPr lang="en-US" sz="1400" dirty="0">
                <a:solidFill>
                  <a:srgbClr val="C6D2E6"/>
                </a:solidFill>
                <a:latin typeface="Calibri" pitchFamily="34" charset="0"/>
                <a:ea typeface="Calibri" pitchFamily="34" charset="-122"/>
                <a:cs typeface="Calibri" pitchFamily="34" charset="-120"/>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طَقْسٌ</a:t>
            </a:r>
            <a:pPr algn="l" indent="0" marL="0">
              <a:buNone/>
            </a:pPr>
            <a:r>
              <a:rPr lang="en-US" sz="1050" i="1" dirty="0">
                <a:solidFill>
                  <a:srgbClr val="8A6D1E"/>
                </a:solidFill>
                <a:latin typeface="Calibri" pitchFamily="34" charset="0"/>
                <a:ea typeface="Calibri" pitchFamily="34" charset="-122"/>
                <a:cs typeface="Calibri" pitchFamily="34" charset="-120"/>
              </a:rPr>
              <a:t> = weather · </a:t>
            </a:r>
            <a:pPr algn="l" indent="0" marL="0">
              <a:buNone/>
            </a:pPr>
            <a:r>
              <a:rPr lang="ar-SA" altLang="en-US" sz="1350" dirty="0">
                <a:solidFill>
                  <a:srgbClr val="8A6D1E"/>
                </a:solidFill>
                <a:latin typeface="Amiri" pitchFamily="34" charset="0"/>
                <a:ea typeface="Amiri" pitchFamily="34" charset="-122"/>
                <a:cs typeface="Amiri" pitchFamily="34" charset="-120"/>
              </a:rPr>
              <a:t>مُنَاخٌ</a:t>
            </a:r>
            <a:pPr algn="l" indent="0" marL="0">
              <a:buNone/>
            </a:pPr>
            <a:r>
              <a:rPr lang="en-US" sz="1050" i="1" dirty="0">
                <a:solidFill>
                  <a:srgbClr val="8A6D1E"/>
                </a:solidFill>
                <a:latin typeface="Calibri" pitchFamily="34" charset="0"/>
                <a:ea typeface="Calibri" pitchFamily="34" charset="-122"/>
                <a:cs typeface="Calibri" pitchFamily="34" charset="-120"/>
              </a:rPr>
              <a:t> = climate ·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بَارِدٌ</a:t>
            </a:r>
            <a:pPr algn="l" indent="0" marL="0">
              <a:buNone/>
            </a:pPr>
            <a:r>
              <a:rPr lang="en-US" sz="1050" i="1" dirty="0">
                <a:solidFill>
                  <a:srgbClr val="8A6D1E"/>
                </a:solidFill>
                <a:latin typeface="Calibri" pitchFamily="34" charset="0"/>
                <a:ea typeface="Calibri" pitchFamily="34" charset="-122"/>
                <a:cs typeface="Calibri" pitchFamily="34" charset="-120"/>
              </a:rPr>
              <a:t> = cold (f. </a:t>
            </a:r>
            <a:pPr algn="l" indent="0" marL="0">
              <a:buNone/>
            </a:pPr>
            <a:r>
              <a:rPr lang="ar-SA" altLang="en-US" sz="1350" dirty="0">
                <a:solidFill>
                  <a:srgbClr val="8A6D1E"/>
                </a:solidFill>
                <a:latin typeface="Amiri" pitchFamily="34" charset="0"/>
                <a:ea typeface="Amiri" pitchFamily="34" charset="-122"/>
                <a:cs typeface="Amiri" pitchFamily="34" charset="-120"/>
              </a:rPr>
              <a:t>بَارِدَةٌ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مَطَرٌ</a:t>
            </a:r>
            <a:pPr algn="l" indent="0" marL="0">
              <a:buNone/>
            </a:pPr>
            <a:r>
              <a:rPr lang="en-US" sz="1050" i="1" dirty="0">
                <a:solidFill>
                  <a:srgbClr val="8A6D1E"/>
                </a:solidFill>
                <a:latin typeface="Calibri" pitchFamily="34" charset="0"/>
                <a:ea typeface="Calibri" pitchFamily="34" charset="-122"/>
                <a:cs typeface="Calibri" pitchFamily="34" charset="-120"/>
              </a:rPr>
              <a:t> = rain ·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the describing word comes after the noun and agrees (f.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website game: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مِصْرُ فِي أَفْرِيقِيَا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the verb’s first letter agrees with it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for masculine,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المَطَرُ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weather and the season: </a:t>
            </a:r>
            <a:pPr algn="l" indent="0" marL="0">
              <a:buNone/>
            </a:pPr>
            <a:r>
              <a:rPr lang="ar-SA" altLang="en-US" sz="1700" b="1" dirty="0">
                <a:solidFill>
                  <a:srgbClr val="2E8B57"/>
                </a:solidFill>
                <a:latin typeface="Amiri" pitchFamily="34" charset="0"/>
                <a:ea typeface="Amiri" pitchFamily="34" charset="-122"/>
                <a:cs typeface="Amiri" pitchFamily="34" charset="-120"/>
              </a:rPr>
              <a:t>الطَّقْسُ حَارٌّ فِي الصَّيْفِ</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right verb: </a:t>
            </a:r>
            <a:pPr algn="l" indent="0" marL="0">
              <a:buNone/>
            </a:pPr>
            <a:r>
              <a:rPr lang="ar-SA" altLang="en-US" sz="1700" b="1" dirty="0">
                <a:solidFill>
                  <a:srgbClr val="2E8B57"/>
                </a:solidFill>
                <a:latin typeface="Amiri" pitchFamily="34" charset="0"/>
                <a:ea typeface="Amiri" pitchFamily="34" charset="-122"/>
                <a:cs typeface="Amiri" pitchFamily="34" charset="-120"/>
              </a:rPr>
              <a:t>يَسْقُطُ المَطَرُ / تَسْقُطُ الثُّلُوجُ</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places: </a:t>
            </a:r>
            <a:pPr algn="l" indent="0" marL="0">
              <a:buNone/>
            </a:pPr>
            <a:r>
              <a:rPr lang="ar-SA" altLang="en-US" sz="1700" b="1" dirty="0">
                <a:solidFill>
                  <a:srgbClr val="C9780A"/>
                </a:solidFill>
                <a:latin typeface="Amiri" pitchFamily="34" charset="0"/>
                <a:ea typeface="Amiri" pitchFamily="34" charset="-122"/>
                <a:cs typeface="Amiri" pitchFamily="34" charset="-120"/>
              </a:rPr>
              <a:t>القَاهِرَةُ أَكْثَرُ حَرَارَةً مِنْ لَنْدَنَ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a:t>
            </a:r>
            <a:pPr algn="l" indent="0" marL="0">
              <a:buNone/>
            </a:pPr>
            <a:r>
              <a:rPr lang="ar-SA" altLang="en-US" sz="1700" b="1" dirty="0">
                <a:solidFill>
                  <a:srgbClr val="C9780A"/>
                </a:solidFill>
                <a:latin typeface="Amiri" pitchFamily="34" charset="0"/>
                <a:ea typeface="Amiri" pitchFamily="34" charset="-122"/>
                <a:cs typeface="Amiri" pitchFamily="34" charset="-120"/>
              </a:rPr>
              <a:t>تَرْتَفِعُ دَرَجَةُ الحَرَارَةِ إِلَى</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forecast: </a:t>
            </a:r>
            <a:pPr algn="l" indent="0" marL="0">
              <a:buNone/>
            </a:pPr>
            <a:r>
              <a:rPr lang="ar-SA" altLang="en-US" sz="1700" b="1" dirty="0">
                <a:solidFill>
                  <a:srgbClr val="B83227"/>
                </a:solidFill>
                <a:latin typeface="Amiri" pitchFamily="34" charset="0"/>
                <a:ea typeface="Amiri" pitchFamily="34" charset="-122"/>
                <a:cs typeface="Amiri" pitchFamily="34" charset="-120"/>
              </a:rPr>
              <a:t>مِنَ المُتَوَقَّعِ أَنْ تَنْخَفِضَ دَرَجَةُ الحَرَارَةِ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‎خریف‎ </a:t>
            </a:r>
            <a:pPr indent="0" marL="0">
              <a:buNone/>
            </a:pPr>
            <a:r>
              <a:rPr lang="en-US" sz="950" b="1" dirty="0">
                <a:solidFill>
                  <a:srgbClr val="2E8B57"/>
                </a:solidFill>
                <a:latin typeface="Calibri" pitchFamily="34" charset="0"/>
                <a:ea typeface="Calibri" pitchFamily="34" charset="-122"/>
                <a:cs typeface="Calibri" pitchFamily="34" charset="-120"/>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a:t>
            </a:r>
            <a:pPr algn="l" indent="0" marL="0">
              <a:buNone/>
            </a:pPr>
            <a:r>
              <a:rPr lang="ar-SA" altLang="en-US" sz="1300" dirty="0">
                <a:solidFill>
                  <a:srgbClr val="8A6D1E"/>
                </a:solidFill>
                <a:latin typeface="Amiri" pitchFamily="34" charset="0"/>
                <a:ea typeface="Amiri" pitchFamily="34" charset="-122"/>
                <a:cs typeface="Amiri" pitchFamily="34" charset="-120"/>
              </a:rPr>
              <a:t>تُشْرِقُ الشَّمْسُ</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windy, stormy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 damp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autumn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يَ</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المَطَر</a:t>
            </a:r>
            <a:pPr algn="l" indent="0" marL="0">
              <a:buNone/>
            </a:pPr>
            <a:r>
              <a:rPr lang="en-US" sz="110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450" dirty="0">
                <a:solidFill>
                  <a:srgbClr val="5A6472"/>
                </a:solidFill>
                <a:latin typeface="Amiri" pitchFamily="34" charset="0"/>
                <a:ea typeface="Amiri" pitchFamily="34" charset="-122"/>
                <a:cs typeface="Amiri" pitchFamily="34" charset="-120"/>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الثُّلُوج</a:t>
            </a:r>
            <a:pPr algn="l" indent="0" marL="0">
              <a:buNone/>
            </a:pPr>
            <a:r>
              <a:rPr lang="en-US" sz="1100" i="1" dirty="0">
                <a:solidFill>
                  <a:srgbClr val="5A6472"/>
                </a:solidFill>
                <a:latin typeface="Calibri" pitchFamily="34" charset="0"/>
                <a:ea typeface="Calibri" pitchFamily="34" charset="-122"/>
                <a:cs typeface="Calibri" pitchFamily="34" charset="-120"/>
              </a:rPr>
              <a:t> is treated as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هُبُّ</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الرِّيَاح</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الشَّمْس</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دَرَجَة</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نْخَفِضُ</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opposite of </a:t>
            </a:r>
            <a:pPr algn="l" indent="0" marL="0">
              <a:buNone/>
            </a:pPr>
            <a:r>
              <a:rPr lang="ar-SA" altLang="en-US" sz="1450" dirty="0">
                <a:solidFill>
                  <a:srgbClr val="5A6472"/>
                </a:solidFill>
                <a:latin typeface="Amiri" pitchFamily="34" charset="0"/>
                <a:ea typeface="Amiri" pitchFamily="34" charset="-122"/>
                <a:cs typeface="Amiri" pitchFamily="34" charset="-120"/>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جَوِّيَّة</a:t>
            </a:r>
            <a:pPr algn="l" indent="0" marL="0">
              <a:buNone/>
            </a:pPr>
            <a:r>
              <a:rPr lang="en-US" sz="1100" i="1" dirty="0">
                <a:solidFill>
                  <a:srgbClr val="5A6472"/>
                </a:solidFill>
                <a:latin typeface="Calibri" pitchFamily="34" charset="0"/>
                <a:ea typeface="Calibri" pitchFamily="34" charset="-122"/>
                <a:cs typeface="Calibri" pitchFamily="34" charset="-120"/>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تَ</a:t>
            </a:r>
            <a:pPr rtl="1" algn="ctr" indent="0" marL="0">
              <a:buNone/>
            </a:pPr>
            <a:r>
              <a:rPr lang="ar-SA" altLang="en-US" sz="7200" b="1" dirty="0">
                <a:solidFill>
                  <a:srgbClr val="7B3FA0"/>
                </a:solidFill>
                <a:latin typeface="Amiri" pitchFamily="34" charset="0"/>
                <a:ea typeface="Amiri" pitchFamily="34" charset="-122"/>
                <a:cs typeface="Amiri" pitchFamily="34" charset="-120"/>
              </a:rPr>
              <a:t>هُبُّ</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Name the weather. </a:t>
            </a:r>
            <a:pPr algn="l" indent="0" marL="0">
              <a:buNone/>
            </a:pPr>
            <a:r>
              <a:rPr lang="ar-SA" altLang="en-US" sz="1500" dirty="0">
                <a:solidFill>
                  <a:srgbClr val="5A6472"/>
                </a:solidFill>
                <a:latin typeface="Amiri" pitchFamily="34" charset="0"/>
                <a:ea typeface="Amiri" pitchFamily="34" charset="-122"/>
                <a:cs typeface="Amiri" pitchFamily="34" charset="-120"/>
              </a:rPr>
              <a:t>الرِّيَاح</a:t>
            </a:r>
            <a:pPr algn="l" indent="0" marL="0">
              <a:buNone/>
            </a:pPr>
            <a:r>
              <a:rPr lang="en-US" sz="1150" dirty="0">
                <a:solidFill>
                  <a:srgbClr val="5A6472"/>
                </a:solidFill>
                <a:latin typeface="Calibri" pitchFamily="34" charset="0"/>
                <a:ea typeface="Calibri" pitchFamily="34" charset="-122"/>
                <a:cs typeface="Calibri" pitchFamily="34" charset="-120"/>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weather → </a:t>
            </a:r>
            <a:pPr algn="l" indent="0" marL="0">
              <a:buNone/>
            </a:pPr>
            <a:r>
              <a:rPr lang="ar-SA" altLang="en-US" sz="1500" dirty="0">
                <a:solidFill>
                  <a:srgbClr val="5A6472"/>
                </a:solidFill>
                <a:latin typeface="Amiri" pitchFamily="34" charset="0"/>
                <a:ea typeface="Amiri" pitchFamily="34" charset="-122"/>
                <a:cs typeface="Amiri" pitchFamily="34" charset="-120"/>
              </a:rPr>
              <a:t>تَـ</a:t>
            </a:r>
            <a:pPr algn="l" indent="0" marL="0">
              <a:buNone/>
            </a:pPr>
            <a:r>
              <a:rPr lang="en-US" sz="1150" dirty="0">
                <a:solidFill>
                  <a:srgbClr val="5A6472"/>
                </a:solidFill>
                <a:latin typeface="Calibri" pitchFamily="34" charset="0"/>
                <a:ea typeface="Calibri" pitchFamily="34" charset="-122"/>
                <a:cs typeface="Calibri" pitchFamily="34" charset="-120"/>
              </a:rPr>
              <a:t>. Masculine </a:t>
            </a:r>
            <a:pPr algn="l" indent="0" marL="0">
              <a:buNone/>
            </a:pPr>
            <a:r>
              <a:rPr lang="ar-SA" altLang="en-US" sz="1500" dirty="0">
                <a:solidFill>
                  <a:srgbClr val="5A6472"/>
                </a:solidFill>
                <a:latin typeface="Amiri" pitchFamily="34" charset="0"/>
                <a:ea typeface="Amiri" pitchFamily="34" charset="-122"/>
                <a:cs typeface="Amiri" pitchFamily="34" charset="-120"/>
              </a:rPr>
              <a:t>المَطَرُ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يَـ</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يَسْقُطُ المَطَرُ</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يَ</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القَاهِرَةِ سَ</a:t>
            </a:r>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أَقَلُّ</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Not </a:t>
            </a:r>
            <a:pPr algn="l" indent="0" marL="0">
              <a:buNone/>
            </a:pPr>
            <a:r>
              <a:rPr lang="ar-SA" altLang="en-US" sz="1550" b="1" dirty="0">
                <a:solidFill>
                  <a:srgbClr val="8A6D1E"/>
                </a:solidFill>
                <a:latin typeface="Amiri" pitchFamily="34" charset="0"/>
                <a:ea typeface="Amiri" pitchFamily="34" charset="-122"/>
                <a:cs typeface="Amiri" pitchFamily="34" charset="-120"/>
              </a:rPr>
              <a:t>أَكْثَرُ حَارٌّ</a:t>
            </a:r>
            <a:pPr algn="l" indent="0" marL="0">
              <a:buNone/>
            </a:pPr>
            <a:r>
              <a:rPr lang="en-US" sz="1200" b="1" dirty="0">
                <a:solidFill>
                  <a:srgbClr val="8A6D1E"/>
                </a:solidFill>
                <a:latin typeface="Calibri" pitchFamily="34" charset="0"/>
                <a:ea typeface="Calibri" pitchFamily="34" charset="-122"/>
                <a:cs typeface="Calibri" pitchFamily="34" charset="-120"/>
              </a:rPr>
              <a:t> ✗. Use </a:t>
            </a:r>
            <a:pPr algn="l" indent="0" marL="0">
              <a:buNone/>
            </a:pPr>
            <a:r>
              <a:rPr lang="ar-SA" altLang="en-US" sz="1550" b="1" dirty="0">
                <a:solidFill>
                  <a:srgbClr val="8A6D1E"/>
                </a:solidFill>
                <a:latin typeface="Amiri" pitchFamily="34" charset="0"/>
                <a:ea typeface="Amiri" pitchFamily="34" charset="-122"/>
                <a:cs typeface="Amiri" pitchFamily="34" charset="-120"/>
              </a:rPr>
              <a:t>أَكْثَرُ / أَقَلُّ</a:t>
            </a:r>
            <a:pPr algn="l" indent="0" marL="0">
              <a:buNone/>
            </a:pPr>
            <a:r>
              <a:rPr lang="en-US" sz="1200" b="1" dirty="0">
                <a:solidFill>
                  <a:srgbClr val="8A6D1E"/>
                </a:solidFill>
                <a:latin typeface="Calibri" pitchFamily="34" charset="0"/>
                <a:ea typeface="Calibri" pitchFamily="34" charset="-122"/>
                <a:cs typeface="Calibri" pitchFamily="34" charset="-120"/>
              </a:rPr>
              <a:t> + a noun ending in </a:t>
            </a:r>
            <a:pPr algn="l" indent="0" marL="0">
              <a:buNone/>
            </a:pPr>
            <a:r>
              <a:rPr lang="ar-SA" altLang="en-US" sz="1550" b="1" dirty="0">
                <a:solidFill>
                  <a:srgbClr val="8A6D1E"/>
                </a:solidFill>
                <a:latin typeface="Amiri" pitchFamily="34" charset="0"/>
                <a:ea typeface="Amiri" pitchFamily="34" charset="-122"/>
                <a:cs typeface="Amiri" pitchFamily="34" charset="-120"/>
              </a:rPr>
              <a:t>ـًا</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حَرَارَةً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بُرُودَةً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present for today and for general facts: </a:t>
            </a:r>
            <a:pPr algn="l" indent="0" marL="0">
              <a:buNone/>
            </a:pPr>
            <a:r>
              <a:rPr lang="ar-SA" altLang="en-US" sz="1450" dirty="0">
                <a:solidFill>
                  <a:srgbClr val="1F2A37"/>
                </a:solidFill>
                <a:latin typeface="Amiri" pitchFamily="34" charset="0"/>
                <a:ea typeface="Amiri" pitchFamily="34" charset="-122"/>
                <a:cs typeface="Amiri" pitchFamily="34" charset="-120"/>
              </a:rPr>
              <a:t>تَسْقُطُ الثُّلُوجُ فِي الشِّتَاءِ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 to the present verb: </a:t>
            </a:r>
            <a:pPr algn="l" indent="0" marL="0">
              <a:buNone/>
            </a:pPr>
            <a:r>
              <a:rPr lang="ar-SA" altLang="en-US" sz="1450" dirty="0">
                <a:solidFill>
                  <a:srgbClr val="1F2A37"/>
                </a:solidFill>
                <a:latin typeface="Amiri" pitchFamily="34" charset="0"/>
                <a:ea typeface="Amiri" pitchFamily="34" charset="-122"/>
                <a:cs typeface="Amiri" pitchFamily="34" charset="-120"/>
              </a:rPr>
              <a:t>سَتُشْرِقُ الشَّمْسُ</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مِنَ المُتَوَقَّعِ أَنْ تَنْخَفِضَ دَرَجَةُ الحَرَارَةِ</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تَنْخَفِضَ</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 with a feminine weather word, or </a:t>
            </a:r>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برودةً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الطَّقْسُ</a:t>
            </a:r>
            <a:pPr algn="l" indent="0" marL="0">
              <a:buNone/>
            </a:pPr>
            <a:r>
              <a:rPr lang="en-US" sz="1150" dirty="0">
                <a:solidFill>
                  <a:srgbClr val="1F2A37"/>
                </a:solidFill>
                <a:latin typeface="Calibri" pitchFamily="34" charset="0"/>
                <a:ea typeface="Calibri" pitchFamily="34" charset="-122"/>
                <a:cs typeface="Calibri" pitchFamily="34" charset="-120"/>
              </a:rPr>
              <a:t> (m.)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0E7C86"/>
                </a:solidFill>
                <a:latin typeface="Amiri" pitchFamily="34" charset="0"/>
                <a:ea typeface="Amiri" pitchFamily="34" charset="-122"/>
                <a:cs typeface="Amiri" pitchFamily="34" charset="-120"/>
              </a:rPr>
              <a:t>مُشْمِسٌ</a:t>
            </a:r>
            <a:pPr rtl="1" algn="ctr" indent="0" marL="0">
              <a:buNone/>
            </a:pPr>
            <a:r>
              <a:rPr lang="ar-SA" altLang="en-US" sz="2800" b="1" dirty="0">
                <a:solidFill>
                  <a:srgbClr val="1B3B6F"/>
                </a:solidFill>
                <a:latin typeface="Amiri" pitchFamily="34" charset="0"/>
                <a:ea typeface="Amiri" pitchFamily="34" charset="-122"/>
                <a:cs typeface="Amiri" pitchFamily="34" charset="-120"/>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Describing words from the game. </a:t>
            </a:r>
            <a:pPr algn="l" indent="0" marL="0">
              <a:buNone/>
            </a:pPr>
            <a:r>
              <a:rPr lang="ar-SA" altLang="en-US" sz="1500" dirty="0">
                <a:solidFill>
                  <a:srgbClr val="1F2A37"/>
                </a:solidFill>
                <a:latin typeface="Amiri" pitchFamily="34" charset="0"/>
                <a:ea typeface="Amiri" pitchFamily="34" charset="-122"/>
                <a:cs typeface="Amiri" pitchFamily="34" charset="-120"/>
              </a:rPr>
              <a:t>صَيْفًا</a:t>
            </a:r>
            <a:pPr algn="l" indent="0" marL="0">
              <a:buNone/>
            </a:pPr>
            <a:r>
              <a:rPr lang="en-US" sz="1150" dirty="0">
                <a:solidFill>
                  <a:srgbClr val="1F2A37"/>
                </a:solidFill>
                <a:latin typeface="Calibri" pitchFamily="34" charset="0"/>
                <a:ea typeface="Calibri" pitchFamily="34" charset="-122"/>
                <a:cs typeface="Calibri" pitchFamily="34" charset="-120"/>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a:t>
            </a:r>
            <a:pPr rtl="1" algn="ctr" indent="0" marL="0">
              <a:buNone/>
            </a:pPr>
            <a:r>
              <a:rPr lang="ar-SA" altLang="en-US" sz="27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2700" b="1" dirty="0">
                <a:solidFill>
                  <a:srgbClr val="1B3B6F"/>
                </a:solidFill>
                <a:latin typeface="Amiri" pitchFamily="34" charset="0"/>
                <a:ea typeface="Amiri" pitchFamily="34" charset="-122"/>
                <a:cs typeface="Amiri" pitchFamily="34" charset="-120"/>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دَرَجَة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 Then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أَكْثَرُ حَرَارَةً</a:t>
            </a:r>
            <a:pPr rtl="1" algn="ctr" indent="0" marL="0">
              <a:buNone/>
            </a:pPr>
            <a:r>
              <a:rPr lang="ar-SA" altLang="en-US" sz="2700" b="1" dirty="0">
                <a:solidFill>
                  <a:srgbClr val="1B3B6F"/>
                </a:solidFill>
                <a:latin typeface="Amiri" pitchFamily="34" charset="0"/>
                <a:ea typeface="Amiri" pitchFamily="34" charset="-122"/>
                <a:cs typeface="Amiri" pitchFamily="34" charset="-120"/>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noun (</a:t>
            </a:r>
            <a:pPr algn="l" indent="0" marL="0">
              <a:buNone/>
            </a:pPr>
            <a:r>
              <a:rPr lang="ar-SA" altLang="en-US" sz="1500" dirty="0">
                <a:solidFill>
                  <a:srgbClr val="1F2A37"/>
                </a:solidFill>
                <a:latin typeface="Amiri" pitchFamily="34" charset="0"/>
                <a:ea typeface="Amiri" pitchFamily="34" charset="-122"/>
                <a:cs typeface="Amiri" pitchFamily="34" charset="-120"/>
              </a:rPr>
              <a:t>ـًا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الطَّقْسُ فِي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حَارٌّ</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0E7C86"/>
                </a:solidFill>
                <a:latin typeface="Amiri" pitchFamily="34" charset="0"/>
                <a:ea typeface="Amiri" pitchFamily="34" charset="-122"/>
                <a:cs typeface="Amiri" pitchFamily="34" charset="-120"/>
              </a:rPr>
              <a:t>مُشْمِسٌ</a:t>
            </a:r>
            <a:pPr rtl="1" algn="r" indent="0" marL="0">
              <a:buNone/>
            </a:pPr>
            <a:r>
              <a:rPr lang="ar-SA" altLang="en-US" sz="2200" b="1" dirty="0">
                <a:solidFill>
                  <a:srgbClr val="1B3B6F"/>
                </a:solidFill>
                <a:latin typeface="Amiri" pitchFamily="34" charset="0"/>
                <a:ea typeface="Amiri" pitchFamily="34" charset="-122"/>
                <a:cs typeface="Amiri" pitchFamily="34" charset="-120"/>
              </a:rPr>
              <a:t> صَيْفًا، وَ</a:t>
            </a:r>
            <a:pPr rtl="1" algn="r" indent="0" marL="0">
              <a:buNone/>
            </a:pPr>
            <a:r>
              <a:rPr lang="ar-SA" altLang="en-US" sz="2200" b="1" dirty="0">
                <a:solidFill>
                  <a:srgbClr val="1D5FBF"/>
                </a:solidFill>
                <a:latin typeface="Amiri" pitchFamily="34" charset="0"/>
                <a:ea typeface="Amiri" pitchFamily="34" charset="-122"/>
                <a:cs typeface="Amiri" pitchFamily="34" charset="-120"/>
              </a:rPr>
              <a:t>تَ</a:t>
            </a:r>
            <a:pPr rtl="1" algn="r" indent="0" marL="0">
              <a:buNone/>
            </a:pPr>
            <a:r>
              <a:rPr lang="ar-SA" altLang="en-US" sz="2200" b="1" dirty="0">
                <a:solidFill>
                  <a:srgbClr val="7B3FA0"/>
                </a:solidFill>
                <a:latin typeface="Amiri" pitchFamily="34" charset="0"/>
                <a:ea typeface="Amiri" pitchFamily="34" charset="-122"/>
                <a:cs typeface="Amiri" pitchFamily="34" charset="-120"/>
              </a:rPr>
              <a:t>رْتَفِعُ</a:t>
            </a:r>
            <a:pPr rtl="1" algn="r" indent="0" marL="0">
              <a:buNone/>
            </a:pPr>
            <a:r>
              <a:rPr lang="ar-SA" altLang="en-US" sz="2200" b="1" dirty="0">
                <a:solidFill>
                  <a:srgbClr val="1B3B6F"/>
                </a:solidFill>
                <a:latin typeface="Amiri" pitchFamily="34" charset="0"/>
                <a:ea typeface="Amiri" pitchFamily="34" charset="-122"/>
                <a:cs typeface="Amiri" pitchFamily="34" charset="-120"/>
              </a:rPr>
              <a:t> دَرَجَةُ الحَرَارَةِ إِلَى ثَلَاثِينَ دَرَجَةً.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أَكْثَرُ حَرَارَةً</a:t>
            </a:r>
            <a:pPr rtl="1" algn="r" indent="0" marL="0">
              <a:buNone/>
            </a:pPr>
            <a:r>
              <a:rPr lang="ar-SA" altLang="en-US" sz="2200" b="1" dirty="0">
                <a:solidFill>
                  <a:srgbClr val="1B3B6F"/>
                </a:solidFill>
                <a:latin typeface="Amiri" pitchFamily="34" charset="0"/>
                <a:ea typeface="Amiri" pitchFamily="34" charset="-122"/>
                <a:cs typeface="Amiri" pitchFamily="34" charset="-120"/>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hot and sunny.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Snow falls in winter.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is expected to fall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المَطَرُ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يَسْقُطُ</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رِيَاح</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تَهُبُّ … قَوِيَّةٌ</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noun (</a:t>
            </a:r>
            <a:pPr algn="l" indent="0" marL="0">
              <a:buNone/>
            </a:pPr>
            <a:r>
              <a:rPr lang="ar-SA" altLang="en-US" sz="1350" dirty="0">
                <a:solidFill>
                  <a:srgbClr val="5A6472"/>
                </a:solidFill>
                <a:latin typeface="Amiri" pitchFamily="34" charset="0"/>
                <a:ea typeface="Amiri" pitchFamily="34" charset="-122"/>
                <a:cs typeface="Amiri" pitchFamily="34" charset="-120"/>
              </a:rPr>
              <a:t>ـًا</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الحرارة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endpoint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أقل</a:t>
            </a:r>
            <a:pPr algn="l" indent="0" marL="0">
              <a:buNone/>
            </a:pPr>
            <a:r>
              <a:rPr lang="en-US" sz="1050" i="1" dirty="0">
                <a:solidFill>
                  <a:srgbClr val="8A6D1E"/>
                </a:solidFill>
                <a:latin typeface="Calibri" pitchFamily="34" charset="0"/>
                <a:ea typeface="Calibri" pitchFamily="34" charset="-122"/>
                <a:cs typeface="Calibri" pitchFamily="34" charset="-120"/>
              </a:rPr>
              <a:t> + verbal noun accusative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الثُّلُوجُ</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دَرَجَة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أَكْثَرُ</a:t>
            </a:r>
            <a:pPr algn="l" indent="0" marL="0">
              <a:buNone/>
            </a:pPr>
            <a:r>
              <a:rPr lang="en-US" sz="1300" i="1" dirty="0">
                <a:solidFill>
                  <a:srgbClr val="5A6472"/>
                </a:solidFill>
                <a:latin typeface="Calibri" pitchFamily="34" charset="0"/>
                <a:ea typeface="Calibri" pitchFamily="34" charset="-122"/>
                <a:cs typeface="Calibri" pitchFamily="34" charset="-120"/>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weather and the season: </a:t>
            </a:r>
            <a:pPr algn="l" indent="0" marL="0">
              <a:buNone/>
            </a:pPr>
            <a:r>
              <a:rPr lang="ar-SA" altLang="en-US" sz="1700" dirty="0">
                <a:solidFill>
                  <a:srgbClr val="1F2A37"/>
                </a:solidFill>
                <a:latin typeface="Amiri" pitchFamily="34" charset="0"/>
                <a:ea typeface="Amiri" pitchFamily="34" charset="-122"/>
                <a:cs typeface="Amiri" pitchFamily="34" charset="-120"/>
              </a:rPr>
              <a:t>الطَّقْسُ حَارٌّ فِي الصَّيْفِ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with feminine weather words: </a:t>
            </a:r>
            <a:pPr algn="l" indent="0" marL="0">
              <a:buNone/>
            </a:pPr>
            <a:r>
              <a:rPr lang="ar-SA" altLang="en-US" sz="1700" dirty="0">
                <a:solidFill>
                  <a:srgbClr val="1F2A37"/>
                </a:solidFill>
                <a:latin typeface="Amiri" pitchFamily="34" charset="0"/>
                <a:ea typeface="Amiri" pitchFamily="34" charset="-122"/>
                <a:cs typeface="Amiri" pitchFamily="34" charset="-120"/>
              </a:rPr>
              <a:t>تَسْقُطُ الثُّلُوجُ، 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a:t>
            </a:r>
            <a:pPr indent="0" marL="0">
              <a:buNone/>
            </a:pPr>
            <a:r>
              <a:rPr lang="en-US" sz="1000" i="1" dirty="0">
                <a:solidFill>
                  <a:srgbClr val="5A6472"/>
                </a:solidFill>
                <a:latin typeface="Calibri" pitchFamily="34" charset="0"/>
                <a:ea typeface="Calibri" pitchFamily="34" charset="-122"/>
                <a:cs typeface="Calibri" pitchFamily="34" charset="-120"/>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comparing the weather in two cities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 …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2026-09-27T08:10:59Z</dcterms:created>
  <dcterms:modified xsi:type="dcterms:W3CDTF">2026-09-27T08:10:59Z</dcterms:modified>
</cp:coreProperties>
</file>