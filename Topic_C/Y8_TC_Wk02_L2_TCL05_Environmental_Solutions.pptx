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Lst>
  <p:notesMasterIdLst>
    <p:notesMasterId r:id="rId4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notesMaster" Target="notesMasters/notesMaster1.xml"/><Relationship Id="rId49" Type="http://schemas.openxmlformats.org/officeDocument/2006/relationships/presProps" Target="presProps.xml"/><Relationship Id="rId50" Type="http://schemas.openxmlformats.org/officeDocument/2006/relationships/viewProps" Target="viewProps.xml"/><Relationship Id="rId51" Type="http://schemas.openxmlformats.org/officeDocument/2006/relationships/theme" Target="theme/theme1.xml"/><Relationship Id="rId5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AT A GLANCE — planned for 56 minutes, leaving about 4 minutes for Teams delays.
0–1 Welcome · 1–2 Lesson map · 2–9 Do Now + answers · 9–10 Objectives · 10–17 Key words · 17–23 Grammar · 23–25 Quick check · 25–28 I Do · 28–37 We Do · 37–49 You Do (speaking 3 + writing 9, with live feedback) · 49–54 Feedback (model, self-check, exit ticket) · 54–56 Preparation for next lesson.
FLEX slides are optional. Use them if the class is moving quickly; otherwise the same activities are on the website for homework.
Content source: Miftah Arabic website, Advanced Topics › Topic C › Lesson 5 (TC-L05). The website lesson reuses D4-L04 (Environmental Solutions — What Can Be Done?) with the Topic C focus “Propose, justify and evaluate practical environmental action” (grammar: advice; subjunctive after أن/لكي; conditionals). The picture match is the website lesson game “Choose the Solution”; the “solution council” ranking task is the website’s advanced application challenge.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D4-L04 is B1 language. CORE: solution words + ONE pattern: يَنْبَغِي أَنْ / يَجِبُ أَنْ + a “we” verb whose last vowel changes to fatḥa (نُقَلِّلُ → نُقَلِّلَ). The three website game sentences are the Core models. DEVELOP: responsibility (يَجِبُ عَلَى الحُكُومَةِ أَنْ …) and purpose (لِكَيْ). STRETCH: the “five verbs” (أَنْ يُعِيدُوا) and a conditional (إِذَا … سَـ).
• A “before and after أَنْ” verb table with transliteration; picture match with icons; read-along listening with English.
• Urdu bridge words (ضروری، طاقت، حل، حکومت، ممکن).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Questions 1–2 test two of the five words prepared at home (Flipped Learning follow-up). Questions 3–5 retrieve TC-L04 and TC-L03.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After أَنْ (and لِكَيْ) the verb’s last vowel changes to a fatḥa: نُقَلِّلُ → أَنْ نُقَلِّلَ.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The route statements turn the general website objectives into this lesson’s concrete targets (website grammar rules 1–4 and the Topic C focus).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ضروری (necessary — مِنَ الضَّرُورِيِّ أَنْ), طاقت (power — الطَّاقَةُ الشَّمْسِيَّةُ), حل (solution — الحُلُولُ), حکومت (government), ممکن (possible — يُمْكِنُ أَنْ).
Groups 1–4 are the website D4-L04 vocabulary; Group 2 also adds الدَّرَّاجَةُ and نُطْفِئُ الأَضْوَاءَ from the website lesson game.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Environmental solutions (website D4-L04). Hear → Say → See → Use.
The small boxes break each phrase into two words with English. Links: الشَّمْسِيَّةُ = nisba of شَمْس (TC-L01 ending); الرِّيَاح (TC-L03); شَجَرَة (TC-L04 prep word) → التَّشْجِيرُ (planting trees).
Gesture: circular arrows for recycling; sun; blow; plant a seed; turn off a tap; bus steering wheel.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more solutions (website D4-L04 + website lesson game). Core: الدَّرَّاجَةُ and نُطْفِئُ الأَضْوَاءَ (both in the picture match). Develop / Stretch: all six.
Link: البِيئِيَّةُ = nisba of بِيئَة (TC-L02).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Action verbs (website D4-L04), all in the “we” form (نَـ / نُـ = we — the WHO letter from the verb code).
The third column shows the same verb after أَنْ or لِكَيْ: the last vowel changes from ḍamma to fatḥa (website rule: “A sound-ending present verb changes its final ḍamma to fatḥa after أَنْ: نُقَلِّلُ → نُقَلِّلَ. It does not ‘lose a nūn’.”).
Core: the four CORE rows — say both forms aloud: nu-qal-li-LU → an nu-qal-li-LA.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Advice, obligation and purpose (website D4-L04; مِنَ الأَفْضَلِ أَنْ from the website game; also on the website: عَلَى المَدَى الطَّوِيلِ = in the long term).
Every card ends in أَنْ or لِكَيْ — so the NEXT verb always takes a fatḥa. Core: cards 1–3.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1 — website rule “Advice with يَنْبَغِي أَنْ”: يَنْبَغِي أَنْ + subjunctive present. A sound-ending present verb changes its final ḍamma to fatḥa after أَنْ.
Think aloud: “Three steps: the advice word, then WHO (نُـ = we), then the ending changes to a fatḥa because of أَنْ.”
Pink here marks the part of the verb whose ENDING changes — say the last syllable louder: nu-qal-li-LA.
Core rule for today: after أَنْ → end the verb with “-a”.
Misconception (website mistake): يَنْبَغِي أَنْ نُقَلِّلُ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2 — the same ending after five advice words (2 min). Sentences: website grammar quiz, pattern, website game (rows 2 and 5, shortened in row 5).
Read each row; students repeat only the advice word + the pink verb, stressing the final “-a”.
Develop: in row 4 notice that نَسْتَخْدِمُ (before لِكَيْ) keeps its ḍamma — only the verb AFTER أَنْ / لِكَيْ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3 — website rule “Obligation for a person or group”: يَجِبُ عَلَى + noun + أَنْ + subjunctive. Name the responsible person or group after عَلَى.
Sentences: website pattern (government), listening script (schools, families) and reading text (students).
The verb agrees with WHO: الحُكُومَة / المَدَارِس / الأُسَر → تَـ; الطُّلَّاب (people, plural) → يَفْصِلُوا (a “five verb”: the ن disappears — Stretch).
Topic C application “Solution council”: responsibility is the key to ranking solutions (individuals vs government).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4 — website rule “The five verbs after أَنْ” (only the five verbs lose their final nūn: يُعِيدُونَ → أَنْ يُعِيدُوا; ordinary forms such as نُقَلِّلُ do not contain that nūn) + the Topic C “conditionals” focus (card 3 is teacher-made, recycling the TC-L02 Type 1 rule).
Website common error: “Do not say that every subjunctive verb “loses nūn”. Only the five verbs lose their nūn. A form such as نُقَلِّلَ is marked by final fatḥa.”
FLEX — Stretch focus. Develop may try card 3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GRAMMAR RULES AND EXAMPLES (FLEX — revision or homework). Website overview: “Study each structure in context, compare accurate and inaccurate forms, then apply it in meaningful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grammar quiz questions 1, 3, 4 and 6.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teacher models with a think-aloud; students watch, then COPY the proposal into their books.
Step 1 — “The problem: تَزْدَادُ النُّفَايَاتُ. لِذٰلِكَ = so.”
Step 2 — “Advice: يَنْبَغِي أَنْ + نُعِيدُ → نُعِيدَ.”
Step 3 — “Who? يَجِبُ عَلَى المَدْرَسَةِ أَنْ تَضَعَ حَاوِيَاتٍ — the school is ‘she’, so تَضَعَ.”
Step 4 — “Why? لِكَيْ نُقَلِّلَ النُّفَايَاتِ.”
Built from website language: mission (تَزْدَادُ النُّفَايَاتُ، لِذٰلِكَ يَجِبُ أَنْ نُعِيدَ التَّدْوِيرَ), speaking model (يَجِبُ عَلَى المَدْرَسَةِ أَنْ تَضَعَ حَاوِيَاتٍ … لِكَيْ تُقَلِّلَ النُّفَايَاتِ).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 website lesson game and patterns. Students copy TWO that are useful for them.
• Core: copy 1 and 2 and change the solution. • Develop: copy 3 with a different group (المَدَارِسُ، الأُسَرُ). • Stretch: copy 4 and add a limitation (لٰكِنَّ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the website’s interactive lesson game (“Choose the Solution”)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Key words to spot: نُعِيدَ تَدْوِيرَ (recycle), الدَّرَّاجَةَ … السَّيَّارَةِ (bicycle … car), الأَضْوَاءَ (lights). All three use أَنْ + a verb with fatḥa: find them (Develop).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the website’s interactive lesson game (“Choose the Solution”)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Key words to spot: نُعِيدَ تَدْوِيرَ (recycle), الدَّرَّاجَةَ … السَّيَّارَةِ (bicycle … car), الأَضْوَاءَ (lights). All three use أَنْ + a verb with fatḥa: find them (Develop).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sentence builder (3 min). Teacher-made from website sentences (pattern, quiz, final check).
Students choose ONE box per column (start from Column 1 on the right) and type the letters, e.g. “1: A B A”. ↔ Rehearse 30s first.
Core: sentence 1. Develop: sentences 2–3. Stretch: explain every wrong option.
Website “Advanced application — Solution council”: after the builder, groups rank three solutions to one problem in the chat and defend the top choice with a reason (يَجِبُ عَلَى … لِأَنَّ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sentence builder (3 min). Teacher-made from website sentences (pattern, quiz, final check).
Students choose ONE box per column (start from Column 1 on the right) and type the letters, e.g. “1: A B A”. ↔ Rehearse 30s first.
Core: sentence 1. Develop: sentences 2–3. Stretch: explain every wrong option.
Website “Advanced application — Solution council”: after the builder, groups rank three solutions to one problem in the chat and defend the top choice with a reason (يَجِبُ عَلَى … لِأَنَّ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(FLEX, 2 min). Clue for Core: a tile starting with نَـ / نُـ is a “we” action verb; a tile ending in أَنْ is advice.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(FLEX, 2 min). Clue for Core: a tile starting with نَـ / نُـ is a “we” action verb; a tile ending in أَنْ is advice.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quiz questions 2, 5, 7, 8 (Stretch)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LISTENING (4 min) — website script. Read it aloud yourself, twice, at natural speed with pauses.
Before listening: students read the questions (● 30s). Core: questions 1, 2 and 4. Develop / Stretch: all 6.
Listen 1: just listen. Listen 2: note answers. Then chat the letters.
Support: after the second listening, show the read-along slide (Arabic + English, line by line) for Core students.
SCRIPT (read aloud):
هُنَاكَ حُلُولٌ عَمَلِيَّةٌ لِحِمَايَةِ البِيئَةِ. يَنْبَغِي أَنْ نُقَلِّلَ اسْتِخْدَامَ البِلَاسْتِيكِ، وَيَجِبُ عَلَى المَدَارِسِ أَنْ تُعِيدَ تَدْوِيرَ الوَرَقِ. كَمَا يَجِبُ عَلَى الحُكُومَاتِ أَنْ تَسْتَثْمِرَ فِي الطَّاقَةِ الشَّمْسِيَّةِ وَطَاقَةِ الرِّيَاحِ. وَيُمْكِنُ لِلأُسَرِ أَنْ تُرَشِّدَ المَاءَ لِكَيْ تَحْمِيَ المَوَارِدَ الطَّبِيعِيَّةَ.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REHEARSAL (3 min) — website speaking prompts (the Core prompt is teacher-made).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Core prompt (teacher-made; it is the preparation question): “What can you do to protect the environment?” — answered with the Core stem, e.g. يَنْبَغِي أَنْ نُوَفِّرَ المَاءَ.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differentiation tasks: Core — Use the vocabulary banks and sentence frames to produce four accurate connected sentences. · Develop — Use several target structures in a linked paragraph or sustained spoken answer. · Stretch — Evaluate, compare or qualify ideas using precise evidence and formal linking language.
Website writing task (Stretch): Write 120–140 Arabic words proposing solutions to one environmental problem.
LIVE FEEDBACK: students post their first two sentences in the chat (or OneNote) after 3 minutes. Scan and correct misconceptions immediately — use private chat for individual corrections (Behaviour: quiet, individual).
Work with the less able: stay with Core students for the first 3 minutes; Develop/Stretch continue independently. SEND: chunk the Core task — “two sentences, then show me”.
Extension (fast finishers): the reading on the Extension slides. Pastoral: Self-Management point for students who work without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from the website model, reading text and listening script. Live feedback for Stretch: check the target structures appear and are accurate.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FEEDBACK (1 min) — website model answer, with an English translation for Core students.
Students find in the model (● 20s → ◎) the four items on the chips. Evidence: يَنْبَغِي أَنْ نُقَلِّلَ · يَجِبُ عَلَى الطُّلَّابِ أَنْ يُعِيدُوا (a five verb!) · لِكَيْ نُقَلِّلَ · فِي رَأْيِي …
Then each student chooses ONE thing from the model to add to their own writing (specific, actionable feedback on the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4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EXTENSION — website reading text. For fast finishers during You Do, or Stretch homework. “You don’t need every word; find the words the question asks about.”
The green key-words panel is a teacher-made glossary so Develop students can also attempt it.
SEND reading strategy (Toolkit 1): cover the text with a piece of paper and uncover one sentence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from the website. The detective steps follow the SEND “modular reading” strategy: read one part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from the website, with the evidence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(TC-L06 · The Digital World and Communication) will spend class time USING this language, so students prepare it tonight — short, simple, easy to access (school guidance: “Simple, Short, Interesting, Relevant, Easy to access”). The five words come from the website D4-L05 vocabulary and the website lesson game “Digital Life”.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image" Target="../media/image-21-6.png"/><Relationship Id="rId7" Type="http://schemas.openxmlformats.org/officeDocument/2006/relationships/slideLayout" Target="../slideLayouts/slideLayout1.xml"/><Relationship Id="rId8"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image" Target="../media/image-22-6.png"/><Relationship Id="rId7" Type="http://schemas.openxmlformats.org/officeDocument/2006/relationships/slideLayout" Target="../slideLayouts/slideLayout1.xml"/><Relationship Id="rId8"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1.xml"/><Relationship Id="rId3" Type="http://schemas.openxmlformats.org/officeDocument/2006/relationships/notesSlide" Target="../notesSlides/notesSlide4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34" charset="0"/>
                <a:ea typeface="Amiri" pitchFamily="34" charset="-122"/>
                <a:cs typeface="Amiri" pitchFamily="34" charset="-120"/>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Al Madina Online School</a:t>
            </a:r>
            <a:endParaRPr lang="en-US" sz="1400" dirty="0"/>
          </a:p>
          <a:p>
            <a:pPr indent="0" marL="0">
              <a:buNone/>
            </a:pPr>
            <a:r>
              <a:rPr lang="en-US" sz="800" b="1" spc="200" kern="0" dirty="0">
                <a:solidFill>
                  <a:srgbClr val="D4AF37"/>
                </a:solidFill>
                <a:latin typeface="Calibri" pitchFamily="34" charset="0"/>
                <a:ea typeface="Calibri" pitchFamily="34" charset="-122"/>
                <a:cs typeface="Calibri" pitchFamily="34" charset="-120"/>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ea typeface="Calibri" pitchFamily="34" charset="-122"/>
                <a:cs typeface="Calibri" pitchFamily="34" charset="-120"/>
              </a:rPr>
              <a:t>CAMBRIDGE IGCSE ARABIC 0544  ·  YEAR 8  ·  ADVANCED TOPIC C  ·  WEEK 2  ·  LESSON 2 OF 3</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ea typeface="Cambria" pitchFamily="34" charset="-122"/>
                <a:cs typeface="Cambria" pitchFamily="34" charset="-120"/>
              </a:rPr>
              <a:t>TC-L05</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ea typeface="Cambria" pitchFamily="34" charset="-122"/>
                <a:cs typeface="Cambria" pitchFamily="34" charset="-120"/>
              </a:rPr>
              <a:t>Environmental Solutions and Responsibility</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34" charset="0"/>
                <a:ea typeface="Amiri" pitchFamily="34" charset="-122"/>
                <a:cs typeface="Amiri" pitchFamily="34" charset="-120"/>
              </a:rPr>
              <a:t>الحُلُولُ البِيئِيَّةُ وَالمَسْؤُولِيَّةُ</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ea typeface="Calibri" pitchFamily="34" charset="-122"/>
                <a:cs typeface="Calibri" pitchFamily="34" charset="-120"/>
              </a:rPr>
              <a:t>Propose, justify and evaluate practical environmental action: give advice (</a:t>
            </a:r>
            <a:pPr algn="l" indent="0" marL="0">
              <a:buNone/>
            </a:pPr>
            <a:r>
              <a:rPr lang="ar-SA" altLang="en-US" sz="1800" dirty="0">
                <a:solidFill>
                  <a:srgbClr val="C6D2E6"/>
                </a:solidFill>
                <a:latin typeface="Amiri" pitchFamily="34" charset="0"/>
                <a:ea typeface="Amiri" pitchFamily="34" charset="-122"/>
                <a:cs typeface="Amiri" pitchFamily="34" charset="-120"/>
              </a:rPr>
              <a:t>يَنْبَغِي أَنْ نُقَلِّلَ</a:t>
            </a:r>
            <a:pPr algn="l" indent="0" marL="0">
              <a:buNone/>
            </a:pPr>
            <a:r>
              <a:rPr lang="en-US" sz="1400" dirty="0">
                <a:solidFill>
                  <a:srgbClr val="C6D2E6"/>
                </a:solidFill>
                <a:latin typeface="Calibri" pitchFamily="34" charset="0"/>
                <a:ea typeface="Calibri" pitchFamily="34" charset="-122"/>
                <a:cs typeface="Calibri" pitchFamily="34" charset="-120"/>
              </a:rPr>
              <a:t>), say who is responsible (</a:t>
            </a:r>
            <a:pPr algn="l" indent="0" marL="0">
              <a:buNone/>
            </a:pPr>
            <a:r>
              <a:rPr lang="ar-SA" altLang="en-US" sz="1800" dirty="0">
                <a:solidFill>
                  <a:srgbClr val="C6D2E6"/>
                </a:solidFill>
                <a:latin typeface="Amiri" pitchFamily="34" charset="0"/>
                <a:ea typeface="Amiri" pitchFamily="34" charset="-122"/>
                <a:cs typeface="Amiri" pitchFamily="34" charset="-120"/>
              </a:rPr>
              <a:t>يَجِبُ عَلَى الحُكُومَةِ أَنْ</a:t>
            </a:r>
            <a:pPr algn="l" indent="0" marL="0">
              <a:buNone/>
            </a:pPr>
            <a:r>
              <a:rPr lang="en-US" sz="1400" dirty="0">
                <a:solidFill>
                  <a:srgbClr val="C6D2E6"/>
                </a:solidFill>
                <a:latin typeface="Calibri" pitchFamily="34" charset="0"/>
                <a:ea typeface="Calibri" pitchFamily="34" charset="-122"/>
                <a:cs typeface="Calibri" pitchFamily="34" charset="-120"/>
              </a:rPr>
              <a:t> …) and explain the purpose (</a:t>
            </a:r>
            <a:pPr algn="l" indent="0" marL="0">
              <a:buNone/>
            </a:pPr>
            <a:r>
              <a:rPr lang="ar-SA" altLang="en-US" sz="1800" dirty="0">
                <a:solidFill>
                  <a:srgbClr val="C6D2E6"/>
                </a:solidFill>
                <a:latin typeface="Amiri" pitchFamily="34" charset="0"/>
                <a:ea typeface="Amiri" pitchFamily="34" charset="-122"/>
                <a:cs typeface="Amiri" pitchFamily="34" charset="-120"/>
              </a:rPr>
              <a:t>لِكَيْ</a:t>
            </a:r>
            <a:pPr algn="l" indent="0" marL="0">
              <a:buNone/>
            </a:pPr>
            <a:r>
              <a:rPr lang="en-US" sz="1400" dirty="0">
                <a:solidFill>
                  <a:srgbClr val="C6D2E6"/>
                </a:solidFill>
                <a:latin typeface="Calibri" pitchFamily="34" charset="0"/>
                <a:ea typeface="Calibri" pitchFamily="34" charset="-122"/>
                <a:cs typeface="Calibri" pitchFamily="34" charset="-120"/>
              </a:rPr>
              <a:t>).</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ea typeface="Calibri" pitchFamily="34" charset="-122"/>
                <a:cs typeface="Calibri" pitchFamily="34" charset="-120"/>
              </a:rPr>
              <a:t>LESSON</a:t>
            </a:r>
            <a:endParaRPr lang="en-US" sz="850" dirty="0"/>
          </a:p>
          <a:p>
            <a:pPr indent="0" marL="0">
              <a:buNone/>
            </a:pPr>
            <a:r>
              <a:rPr lang="en-US" sz="1200" b="1" dirty="0">
                <a:solidFill>
                  <a:srgbClr val="FFFFFF"/>
                </a:solidFill>
                <a:latin typeface="Calibri" pitchFamily="34" charset="0"/>
                <a:ea typeface="Calibri" pitchFamily="34" charset="-122"/>
                <a:cs typeface="Calibri" pitchFamily="34" charset="-120"/>
              </a:rPr>
              <a:t>TC-L05 · Week 2, lesson 2</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ea typeface="Calibri" pitchFamily="34" charset="-122"/>
                <a:cs typeface="Calibri" pitchFamily="34" charset="-120"/>
              </a:rPr>
              <a:t>DURATION</a:t>
            </a:r>
            <a:endParaRPr lang="en-US" sz="850" dirty="0"/>
          </a:p>
          <a:p>
            <a:pPr indent="0" marL="0">
              <a:buNone/>
            </a:pPr>
            <a:r>
              <a:rPr lang="en-US" sz="1200" b="1" dirty="0">
                <a:solidFill>
                  <a:srgbClr val="FFFFFF"/>
                </a:solidFill>
                <a:latin typeface="Calibri" pitchFamily="34" charset="0"/>
                <a:ea typeface="Calibri" pitchFamily="34" charset="-122"/>
                <a:cs typeface="Calibri" pitchFamily="34" charset="-120"/>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ea typeface="Calibri" pitchFamily="34" charset="-122"/>
                <a:cs typeface="Calibri" pitchFamily="34" charset="-120"/>
              </a:rPr>
              <a:t>LEVEL</a:t>
            </a:r>
            <a:endParaRPr lang="en-US" sz="850" dirty="0"/>
          </a:p>
          <a:p>
            <a:pPr indent="0" marL="0">
              <a:buNone/>
            </a:pPr>
            <a:r>
              <a:rPr lang="en-US" sz="1200" b="1" dirty="0">
                <a:solidFill>
                  <a:srgbClr val="FFFFFF"/>
                </a:solidFill>
                <a:latin typeface="Calibri" pitchFamily="34" charset="0"/>
                <a:ea typeface="Calibri" pitchFamily="34" charset="-122"/>
                <a:cs typeface="Calibri" pitchFamily="34" charset="-120"/>
              </a:rPr>
              <a:t>Topic C · A1+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ea typeface="Calibri" pitchFamily="34" charset="-122"/>
                <a:cs typeface="Calibri" pitchFamily="34" charset="-120"/>
              </a:rPr>
              <a:t>ON THE WEBSITE</a:t>
            </a:r>
            <a:endParaRPr lang="en-US" sz="850" dirty="0"/>
          </a:p>
          <a:p>
            <a:pPr indent="0" marL="0">
              <a:buNone/>
            </a:pPr>
            <a:r>
              <a:rPr lang="en-US" sz="1200" b="1" dirty="0">
                <a:solidFill>
                  <a:srgbClr val="FFFFFF"/>
                </a:solidFill>
                <a:latin typeface="Calibri" pitchFamily="34" charset="0"/>
                <a:ea typeface="Calibri" pitchFamily="34" charset="-122"/>
                <a:cs typeface="Calibri" pitchFamily="34" charset="-120"/>
              </a:rPr>
              <a:t>Advanced Topics › C › Lesson 5</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TC-L05 · Environmental Solutions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ea typeface="Calibri" pitchFamily="34" charset="-122"/>
                <a:cs typeface="Calibri" pitchFamily="34" charset="-120"/>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2 · Lesson 2 of 3</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ea typeface="Calibri" pitchFamily="34" charset="-122"/>
                <a:cs typeface="Calibri" pitchFamily="34" charset="-120"/>
              </a:rPr>
              <a:t>Camera on</a:t>
            </a:r>
            <a:endParaRPr lang="en-US" sz="1500" dirty="0"/>
          </a:p>
          <a:p>
            <a:pPr indent="0" marL="0">
              <a:buNone/>
            </a:pPr>
            <a:r>
              <a:rPr lang="en-US" sz="1150" dirty="0">
                <a:solidFill>
                  <a:srgbClr val="5A6472"/>
                </a:solidFill>
                <a:latin typeface="Calibri" pitchFamily="34" charset="0"/>
                <a:ea typeface="Calibri" pitchFamily="34" charset="-122"/>
                <a:cs typeface="Calibri" pitchFamily="34" charset="-120"/>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ea typeface="Calibri" pitchFamily="34" charset="-122"/>
                <a:cs typeface="Calibri" pitchFamily="34" charset="-120"/>
              </a:rPr>
              <a:t>Mic muted</a:t>
            </a:r>
            <a:endParaRPr lang="en-US" sz="1500" dirty="0"/>
          </a:p>
          <a:p>
            <a:pPr indent="0" marL="0">
              <a:buNone/>
            </a:pPr>
            <a:r>
              <a:rPr lang="en-US" sz="1150" dirty="0">
                <a:solidFill>
                  <a:srgbClr val="5A6472"/>
                </a:solidFill>
                <a:latin typeface="Calibri" pitchFamily="34" charset="0"/>
                <a:ea typeface="Calibri" pitchFamily="34" charset="-122"/>
                <a:cs typeface="Calibri" pitchFamily="34" charset="-120"/>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ea typeface="Calibri" pitchFamily="34" charset="-122"/>
                <a:cs typeface="Calibri" pitchFamily="34" charset="-120"/>
              </a:rPr>
              <a:t>Chat for learning</a:t>
            </a:r>
            <a:endParaRPr lang="en-US" sz="1500" dirty="0"/>
          </a:p>
          <a:p>
            <a:pPr indent="0" marL="0">
              <a:buNone/>
            </a:pPr>
            <a:r>
              <a:rPr lang="en-US" sz="1150" dirty="0">
                <a:solidFill>
                  <a:srgbClr val="5A6472"/>
                </a:solidFill>
                <a:latin typeface="Calibri" pitchFamily="34" charset="0"/>
                <a:ea typeface="Calibri" pitchFamily="34" charset="-122"/>
                <a:cs typeface="Calibri" pitchFamily="34" charset="-120"/>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ea typeface="Calibri" pitchFamily="34" charset="-122"/>
                <a:cs typeface="Calibri" pitchFamily="34" charset="-120"/>
              </a:rPr>
              <a:t>Raise your hand</a:t>
            </a:r>
            <a:endParaRPr lang="en-US" sz="1500" dirty="0"/>
          </a:p>
          <a:p>
            <a:pPr indent="0" marL="0">
              <a:buNone/>
            </a:pPr>
            <a:r>
              <a:rPr lang="en-US" sz="1150" dirty="0">
                <a:solidFill>
                  <a:srgbClr val="5A6472"/>
                </a:solidFill>
                <a:latin typeface="Calibri" pitchFamily="34" charset="0"/>
                <a:ea typeface="Calibri" pitchFamily="34" charset="-122"/>
                <a:cs typeface="Calibri" pitchFamily="34" charset="-120"/>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ea typeface="Calibri" pitchFamily="34" charset="-122"/>
                <a:cs typeface="Calibri" pitchFamily="34" charset="-120"/>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Think</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Rehearse</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Build</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Challenge</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Share</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Summarise</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ea typeface="Calibri" pitchFamily="34" charset="-122"/>
                <a:cs typeface="Calibri" pitchFamily="34" charset="-120"/>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 / 46</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TC-L05 · Environmental Solutions</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ea typeface="Calibri" pitchFamily="34" charset="-122"/>
                <a:cs typeface="Calibri" pitchFamily="34" charset="-120"/>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2 · Lesson 2 of 3</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34" charset="0"/>
                <a:ea typeface="Amiri" pitchFamily="34" charset="-122"/>
                <a:cs typeface="Amiri" pitchFamily="34" charset="-120"/>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Solution words, then advice, “must” and purpose.</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34" charset="0"/>
                <a:ea typeface="Amiri" pitchFamily="34" charset="-122"/>
                <a:cs typeface="Amiri" pitchFamily="34" charset="-120"/>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Picture match, build, rank solutions, fix and listen.</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34" charset="0"/>
                <a:ea typeface="Amiri" pitchFamily="34" charset="-122"/>
                <a:cs typeface="Amiri" pitchFamily="34" charset="-120"/>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34" charset="0"/>
                <a:ea typeface="Amiri" pitchFamily="34" charset="-122"/>
                <a:cs typeface="Amiri" pitchFamily="34" charset="-120"/>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34" charset="0"/>
                <a:ea typeface="Amiri" pitchFamily="34" charset="-122"/>
                <a:cs typeface="Amiri" pitchFamily="34" charset="-120"/>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Get ready at home for TC-L06.</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34" charset="0"/>
                <a:ea typeface="Amiri" pitchFamily="34" charset="-122"/>
                <a:cs typeface="Amiri" pitchFamily="34" charset="-120"/>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ea typeface="Calibri" pitchFamily="34" charset="-122"/>
                <a:cs typeface="Calibri" pitchFamily="34" charset="-120"/>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ea typeface="Calibri" pitchFamily="34" charset="-122"/>
                <a:cs typeface="Calibri" pitchFamily="34" charset="-120"/>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 / 46</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TC-L05 · Environmental Solutions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ea typeface="Calibri" pitchFamily="34" charset="-122"/>
                <a:cs typeface="Calibri" pitchFamily="34" charset="-120"/>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ea typeface="Cambria" pitchFamily="34" charset="-122"/>
                <a:cs typeface="Cambria" pitchFamily="34" charset="-120"/>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2 · Lesson 2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phrase means “recycling”?</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النَّقْلُ العَامُّ</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إِعَادَةُ التَّدْوِيرِ</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تَلَوُّثُ الهَوَاءِ</a:t>
            </a:r>
            <a:endParaRPr lang="ar-SA" sz="20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a:t>
            </a:r>
            <a:pPr algn="l" indent="0" marL="0">
              <a:buNone/>
            </a:pPr>
            <a:r>
              <a:rPr lang="ar-SA" altLang="en-US" sz="1650" b="1" dirty="0">
                <a:solidFill>
                  <a:srgbClr val="1B3B6F"/>
                </a:solidFill>
                <a:latin typeface="Amiri" pitchFamily="34" charset="0"/>
                <a:ea typeface="Amiri" pitchFamily="34" charset="-122"/>
                <a:cs typeface="Amiri" pitchFamily="34" charset="-120"/>
              </a:rPr>
              <a:t>نَزْرَعُ</a:t>
            </a:r>
            <a:pPr algn="l" indent="0" marL="0">
              <a:buNone/>
            </a:pPr>
            <a:r>
              <a:rPr lang="en-US" sz="1250" b="1" dirty="0">
                <a:solidFill>
                  <a:srgbClr val="1B3B6F"/>
                </a:solidFill>
                <a:latin typeface="Calibri" pitchFamily="34" charset="0"/>
                <a:ea typeface="Calibri" pitchFamily="34" charset="-122"/>
                <a:cs typeface="Calibri" pitchFamily="34" charset="-120"/>
              </a:rPr>
              <a:t> mean?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we plant</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we save</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we throw</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accurate sentence.</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يُؤَدِّي التَّلَوُّثُ فِي أَمْرَاضٍ.</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يُؤَدِّي التَّلَوُّثُ بِأَمْرَاضٍ.</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يُؤَدِّي التَّلَوُّثُ إِلَى أَمْرَاضٍ.</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a:t>
            </a:r>
            <a:pPr algn="l" indent="0" marL="0">
              <a:buNone/>
            </a:pPr>
            <a:r>
              <a:rPr lang="ar-SA" altLang="en-US" sz="1650" b="1" dirty="0">
                <a:solidFill>
                  <a:srgbClr val="1B3B6F"/>
                </a:solidFill>
                <a:latin typeface="Amiri" pitchFamily="34" charset="0"/>
                <a:ea typeface="Amiri" pitchFamily="34" charset="-122"/>
                <a:cs typeface="Amiri" pitchFamily="34" charset="-120"/>
              </a:rPr>
              <a:t>بِسَبَبِ النُّفَايَاتِ</a:t>
            </a:r>
            <a:pPr algn="l" indent="0" marL="0">
              <a:buNone/>
            </a:pPr>
            <a:r>
              <a:rPr lang="en-US" sz="1250" b="1" dirty="0">
                <a:solidFill>
                  <a:srgbClr val="1B3B6F"/>
                </a:solidFill>
                <a:latin typeface="Calibri" pitchFamily="34" charset="0"/>
                <a:ea typeface="Calibri" pitchFamily="34" charset="-122"/>
                <a:cs typeface="Calibri" pitchFamily="34" charset="-120"/>
              </a:rPr>
              <a:t> mean?</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leads to waste</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without waste</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because of the waste</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accurate sentence.</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تَسْقُطُ الثُّلُوجُ فِي الشِّتَاءِ.</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يَسْقُطُ الثُّلُوجُ فِي الشِّتَاءِ.</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الثُّلُوجُ يَسْقُطَ فِي الشِّتَاءِ.</a:t>
            </a:r>
            <a:endParaRPr lang="ar-SA" sz="20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ea typeface="Calibri" pitchFamily="34" charset="-122"/>
                <a:cs typeface="Calibri" pitchFamily="34" charset="-120"/>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ea typeface="Calibri" pitchFamily="34" charset="-122"/>
                <a:cs typeface="Calibri" pitchFamily="34" charset="-120"/>
              </a:rPr>
              <a:t>Work on your own in silence.</a:t>
            </a:r>
            <a:endParaRPr lang="en-US" sz="1350" dirty="0"/>
          </a:p>
          <a:p>
            <a:pPr algn="l" indent="0" marL="0">
              <a:buNone/>
            </a:pPr>
            <a:r>
              <a:rPr lang="en-US" sz="1350" dirty="0">
                <a:solidFill>
                  <a:srgbClr val="1F2A37"/>
                </a:solidFill>
                <a:latin typeface="Calibri" pitchFamily="34" charset="0"/>
                <a:ea typeface="Calibri" pitchFamily="34" charset="-122"/>
                <a:cs typeface="Calibri" pitchFamily="34" charset="-120"/>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ea typeface="Consolas" pitchFamily="34" charset="-122"/>
                <a:cs typeface="Consolas" pitchFamily="34" charset="-120"/>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ea typeface="Calibri" pitchFamily="34" charset="-122"/>
                <a:cs typeface="Calibri" pitchFamily="34" charset="-120"/>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 / 46</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TC-L05 · Environmental Solutions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ea typeface="Calibri" pitchFamily="34" charset="-122"/>
                <a:cs typeface="Calibri" pitchFamily="34" charset="-120"/>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2 · Lesson 2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phrase means “recycling”?</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النَّقْلُ العَامُّ</a:t>
            </a:r>
            <a:endParaRPr lang="ar-SA" sz="170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إِعَادَةُ التَّدْوِيرِ</a:t>
            </a:r>
            <a:endParaRPr lang="ar-SA" sz="170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تَلَوُّثُ الهَوَاءِ</a:t>
            </a:r>
            <a:endParaRPr lang="ar-SA" sz="170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Prepared at home: </a:t>
            </a:r>
            <a:pPr algn="l" indent="0" marL="0">
              <a:buNone/>
            </a:pPr>
            <a:r>
              <a:rPr lang="ar-SA" altLang="en-US" sz="1350" dirty="0">
                <a:solidFill>
                  <a:srgbClr val="8A6D1E"/>
                </a:solidFill>
                <a:latin typeface="Amiri" pitchFamily="34" charset="0"/>
                <a:ea typeface="Amiri" pitchFamily="34" charset="-122"/>
                <a:cs typeface="Amiri" pitchFamily="34" charset="-120"/>
              </a:rPr>
              <a:t>إِعَادَةُ التَّدْوِيرِ</a:t>
            </a:r>
            <a:pPr algn="l" indent="0" marL="0">
              <a:buNone/>
            </a:pPr>
            <a:r>
              <a:rPr lang="en-US" sz="1050" i="1" dirty="0">
                <a:solidFill>
                  <a:srgbClr val="8A6D1E"/>
                </a:solidFill>
                <a:latin typeface="Calibri" pitchFamily="34" charset="0"/>
                <a:ea typeface="Calibri" pitchFamily="34" charset="-122"/>
                <a:cs typeface="Calibri" pitchFamily="34" charset="-120"/>
              </a:rPr>
              <a:t> = recycling · </a:t>
            </a:r>
            <a:pPr algn="l" indent="0" marL="0">
              <a:buNone/>
            </a:pPr>
            <a:r>
              <a:rPr lang="ar-SA" altLang="en-US" sz="1350" dirty="0">
                <a:solidFill>
                  <a:srgbClr val="8A6D1E"/>
                </a:solidFill>
                <a:latin typeface="Amiri" pitchFamily="34" charset="0"/>
                <a:ea typeface="Amiri" pitchFamily="34" charset="-122"/>
                <a:cs typeface="Amiri" pitchFamily="34" charset="-120"/>
              </a:rPr>
              <a:t>النَّقْلُ العَامُّ</a:t>
            </a:r>
            <a:pPr algn="l" indent="0" marL="0">
              <a:buNone/>
            </a:pPr>
            <a:r>
              <a:rPr lang="en-US" sz="1050" i="1" dirty="0">
                <a:solidFill>
                  <a:srgbClr val="8A6D1E"/>
                </a:solidFill>
                <a:latin typeface="Calibri" pitchFamily="34" charset="0"/>
                <a:ea typeface="Calibri" pitchFamily="34" charset="-122"/>
                <a:cs typeface="Calibri" pitchFamily="34" charset="-120"/>
              </a:rPr>
              <a:t> = public transport.</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a:t>
            </a:r>
            <a:pPr algn="l" indent="0" marL="0">
              <a:buNone/>
            </a:pPr>
            <a:r>
              <a:rPr lang="ar-SA" altLang="en-US" sz="1650" b="1" dirty="0">
                <a:solidFill>
                  <a:srgbClr val="1B3B6F"/>
                </a:solidFill>
                <a:latin typeface="Amiri" pitchFamily="34" charset="0"/>
                <a:ea typeface="Amiri" pitchFamily="34" charset="-122"/>
                <a:cs typeface="Amiri" pitchFamily="34" charset="-120"/>
              </a:rPr>
              <a:t>نَزْرَعُ</a:t>
            </a:r>
            <a:pPr algn="l" indent="0" marL="0">
              <a:buNone/>
            </a:pPr>
            <a:r>
              <a:rPr lang="en-US" sz="1250" b="1" dirty="0">
                <a:solidFill>
                  <a:srgbClr val="1B3B6F"/>
                </a:solidFill>
                <a:latin typeface="Calibri" pitchFamily="34" charset="0"/>
                <a:ea typeface="Calibri" pitchFamily="34" charset="-122"/>
                <a:cs typeface="Calibri" pitchFamily="34" charset="-120"/>
              </a:rPr>
              <a:t> mean?</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we plant</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we save</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we throw</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Prepared at home: </a:t>
            </a:r>
            <a:pPr algn="l" indent="0" marL="0">
              <a:buNone/>
            </a:pPr>
            <a:r>
              <a:rPr lang="ar-SA" altLang="en-US" sz="1350" dirty="0">
                <a:solidFill>
                  <a:srgbClr val="8A6D1E"/>
                </a:solidFill>
                <a:latin typeface="Amiri" pitchFamily="34" charset="0"/>
                <a:ea typeface="Amiri" pitchFamily="34" charset="-122"/>
                <a:cs typeface="Amiri" pitchFamily="34" charset="-120"/>
              </a:rPr>
              <a:t>نَزْرَعُ</a:t>
            </a:r>
            <a:pPr algn="l" indent="0" marL="0">
              <a:buNone/>
            </a:pPr>
            <a:r>
              <a:rPr lang="en-US" sz="1050" i="1" dirty="0">
                <a:solidFill>
                  <a:srgbClr val="8A6D1E"/>
                </a:solidFill>
                <a:latin typeface="Calibri" pitchFamily="34" charset="0"/>
                <a:ea typeface="Calibri" pitchFamily="34" charset="-122"/>
                <a:cs typeface="Calibri" pitchFamily="34" charset="-120"/>
              </a:rPr>
              <a:t> = we plant · </a:t>
            </a:r>
            <a:pPr algn="l" indent="0" marL="0">
              <a:buNone/>
            </a:pPr>
            <a:r>
              <a:rPr lang="ar-SA" altLang="en-US" sz="1350" dirty="0">
                <a:solidFill>
                  <a:srgbClr val="8A6D1E"/>
                </a:solidFill>
                <a:latin typeface="Amiri" pitchFamily="34" charset="0"/>
                <a:ea typeface="Amiri" pitchFamily="34" charset="-122"/>
                <a:cs typeface="Amiri" pitchFamily="34" charset="-120"/>
              </a:rPr>
              <a:t>نُوَفِّرُ</a:t>
            </a:r>
            <a:pPr algn="l" indent="0" marL="0">
              <a:buNone/>
            </a:pPr>
            <a:r>
              <a:rPr lang="en-US" sz="1050" i="1" dirty="0">
                <a:solidFill>
                  <a:srgbClr val="8A6D1E"/>
                </a:solidFill>
                <a:latin typeface="Calibri" pitchFamily="34" charset="0"/>
                <a:ea typeface="Calibri" pitchFamily="34" charset="-122"/>
                <a:cs typeface="Calibri" pitchFamily="34" charset="-120"/>
              </a:rPr>
              <a:t> = we save.</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accurate sentence.</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يُؤَدِّي التَّلَوُّثُ فِي أَمْرَاضٍ.</a:t>
            </a:r>
            <a:endParaRPr lang="ar-SA" sz="170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يُؤَدِّي التَّلَوُّثُ بِأَمْرَاضٍ.</a:t>
            </a:r>
            <a:endParaRPr lang="ar-SA" sz="170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يُؤَدِّي التَّلَوُّثُ إِلَى أَمْرَاضٍ.</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TC-L04: always </a:t>
            </a:r>
            <a:pPr algn="l" indent="0" marL="0">
              <a:buNone/>
            </a:pPr>
            <a:r>
              <a:rPr lang="ar-SA" altLang="en-US" sz="1350" dirty="0">
                <a:solidFill>
                  <a:srgbClr val="8A6D1E"/>
                </a:solidFill>
                <a:latin typeface="Amiri" pitchFamily="34" charset="0"/>
                <a:ea typeface="Amiri" pitchFamily="34" charset="-122"/>
                <a:cs typeface="Amiri" pitchFamily="34" charset="-120"/>
              </a:rPr>
              <a:t>إِلَى</a:t>
            </a:r>
            <a:pPr algn="l" indent="0" marL="0">
              <a:buNone/>
            </a:pPr>
            <a:r>
              <a:rPr lang="en-US" sz="1050" i="1" dirty="0">
                <a:solidFill>
                  <a:srgbClr val="8A6D1E"/>
                </a:solidFill>
                <a:latin typeface="Calibri" pitchFamily="34" charset="0"/>
                <a:ea typeface="Calibri" pitchFamily="34" charset="-122"/>
                <a:cs typeface="Calibri" pitchFamily="34" charset="-120"/>
              </a:rPr>
              <a:t> after </a:t>
            </a:r>
            <a:pPr algn="l" indent="0" marL="0">
              <a:buNone/>
            </a:pPr>
            <a:r>
              <a:rPr lang="ar-SA" altLang="en-US" sz="1350" dirty="0">
                <a:solidFill>
                  <a:srgbClr val="8A6D1E"/>
                </a:solidFill>
                <a:latin typeface="Amiri" pitchFamily="34" charset="0"/>
                <a:ea typeface="Amiri" pitchFamily="34" charset="-122"/>
                <a:cs typeface="Amiri" pitchFamily="34" charset="-120"/>
              </a:rPr>
              <a:t>يُؤَدِّي</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a:t>
            </a:r>
            <a:pPr algn="l" indent="0" marL="0">
              <a:buNone/>
            </a:pPr>
            <a:r>
              <a:rPr lang="ar-SA" altLang="en-US" sz="1650" b="1" dirty="0">
                <a:solidFill>
                  <a:srgbClr val="1B3B6F"/>
                </a:solidFill>
                <a:latin typeface="Amiri" pitchFamily="34" charset="0"/>
                <a:ea typeface="Amiri" pitchFamily="34" charset="-122"/>
                <a:cs typeface="Amiri" pitchFamily="34" charset="-120"/>
              </a:rPr>
              <a:t>بِسَبَبِ النُّفَايَاتِ</a:t>
            </a:r>
            <a:pPr algn="l" indent="0" marL="0">
              <a:buNone/>
            </a:pPr>
            <a:r>
              <a:rPr lang="en-US" sz="1250" b="1" dirty="0">
                <a:solidFill>
                  <a:srgbClr val="1B3B6F"/>
                </a:solidFill>
                <a:latin typeface="Calibri" pitchFamily="34" charset="0"/>
                <a:ea typeface="Calibri" pitchFamily="34" charset="-122"/>
                <a:cs typeface="Calibri" pitchFamily="34" charset="-120"/>
              </a:rPr>
              <a:t> mean?</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leads to waste</a:t>
            </a:r>
            <a:endParaRPr lang="en-US" sz="125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without waste</a:t>
            </a:r>
            <a:endParaRPr lang="en-US" sz="125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because of the waste</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TC-L04: </a:t>
            </a:r>
            <a:pPr algn="l" indent="0" marL="0">
              <a:buNone/>
            </a:pPr>
            <a:r>
              <a:rPr lang="ar-SA" altLang="en-US" sz="1350" dirty="0">
                <a:solidFill>
                  <a:srgbClr val="8A6D1E"/>
                </a:solidFill>
                <a:latin typeface="Amiri" pitchFamily="34" charset="0"/>
                <a:ea typeface="Amiri" pitchFamily="34" charset="-122"/>
                <a:cs typeface="Amiri" pitchFamily="34" charset="-120"/>
              </a:rPr>
              <a:t>بِسَبَبِ</a:t>
            </a:r>
            <a:pPr algn="l" indent="0" marL="0">
              <a:buNone/>
            </a:pPr>
            <a:r>
              <a:rPr lang="en-US" sz="1050" i="1" dirty="0">
                <a:solidFill>
                  <a:srgbClr val="8A6D1E"/>
                </a:solidFill>
                <a:latin typeface="Calibri" pitchFamily="34" charset="0"/>
                <a:ea typeface="Calibri" pitchFamily="34" charset="-122"/>
                <a:cs typeface="Calibri" pitchFamily="34" charset="-120"/>
              </a:rPr>
              <a:t> + noun = because of …</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accurate sentence.</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تَسْقُطُ الثُّلُوجُ فِي الشِّتَاءِ.</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يَسْقُطُ الثُّلُوجُ فِي الشِّتَاءِ.</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الثُّلُوجُ يَسْقُطَ فِي الشِّتَاءِ.</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TC-L03: feminine weather word → </a:t>
            </a:r>
            <a:pPr algn="l" indent="0" marL="0">
              <a:buNone/>
            </a:pPr>
            <a:r>
              <a:rPr lang="ar-SA" altLang="en-US" sz="1350" dirty="0">
                <a:solidFill>
                  <a:srgbClr val="8A6D1E"/>
                </a:solidFill>
                <a:latin typeface="Amiri" pitchFamily="34" charset="0"/>
                <a:ea typeface="Amiri" pitchFamily="34" charset="-122"/>
                <a:cs typeface="Amiri" pitchFamily="34" charset="-120"/>
              </a:rPr>
              <a:t>تَـ</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ea typeface="Calibri" pitchFamily="34" charset="-122"/>
                <a:cs typeface="Calibri" pitchFamily="34" charset="-120"/>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ea typeface="Calibri" pitchFamily="34" charset="-122"/>
                <a:cs typeface="Calibri" pitchFamily="34" charset="-120"/>
              </a:rPr>
              <a:t>After </a:t>
            </a:r>
            <a:pPr algn="l" indent="0" marL="0">
              <a:buNone/>
            </a:pPr>
            <a:r>
              <a:rPr lang="ar-SA" altLang="en-US" sz="1700" b="1" dirty="0">
                <a:solidFill>
                  <a:srgbClr val="1F2A37"/>
                </a:solidFill>
                <a:latin typeface="Amiri" pitchFamily="34" charset="0"/>
                <a:ea typeface="Amiri" pitchFamily="34" charset="-122"/>
                <a:cs typeface="Amiri" pitchFamily="34" charset="-120"/>
              </a:rPr>
              <a:t>أَنْ</a:t>
            </a:r>
            <a:pPr algn="l" indent="0" marL="0">
              <a:buNone/>
            </a:pPr>
            <a:r>
              <a:rPr lang="en-US" sz="1300" b="1" dirty="0">
                <a:solidFill>
                  <a:srgbClr val="1F2A37"/>
                </a:solidFill>
                <a:latin typeface="Calibri" pitchFamily="34" charset="0"/>
                <a:ea typeface="Calibri" pitchFamily="34" charset="-122"/>
                <a:cs typeface="Calibri" pitchFamily="34" charset="-120"/>
              </a:rPr>
              <a:t> (and </a:t>
            </a:r>
            <a:pPr algn="l" indent="0" marL="0">
              <a:buNone/>
            </a:pPr>
            <a:r>
              <a:rPr lang="ar-SA" altLang="en-US" sz="1700" b="1" dirty="0">
                <a:solidFill>
                  <a:srgbClr val="1F2A37"/>
                </a:solidFill>
                <a:latin typeface="Amiri" pitchFamily="34" charset="0"/>
                <a:ea typeface="Amiri" pitchFamily="34" charset="-122"/>
                <a:cs typeface="Amiri" pitchFamily="34" charset="-120"/>
              </a:rPr>
              <a:t>لِكَيْ</a:t>
            </a:r>
            <a:pPr algn="l" indent="0" marL="0">
              <a:buNone/>
            </a:pPr>
            <a:r>
              <a:rPr lang="en-US" sz="1300" b="1" dirty="0">
                <a:solidFill>
                  <a:srgbClr val="1F2A37"/>
                </a:solidFill>
                <a:latin typeface="Calibri" pitchFamily="34" charset="0"/>
                <a:ea typeface="Calibri" pitchFamily="34" charset="-122"/>
                <a:cs typeface="Calibri" pitchFamily="34" charset="-120"/>
              </a:rPr>
              <a:t>) the verb’s last vowel changes to a fatḥa: </a:t>
            </a:r>
            <a:pPr algn="l" indent="0" marL="0">
              <a:buNone/>
            </a:pPr>
            <a:r>
              <a:rPr lang="ar-SA" altLang="en-US" sz="1700" b="1" dirty="0">
                <a:solidFill>
                  <a:srgbClr val="1F2A37"/>
                </a:solidFill>
                <a:latin typeface="Amiri" pitchFamily="34" charset="0"/>
                <a:ea typeface="Amiri" pitchFamily="34" charset="-122"/>
                <a:cs typeface="Amiri" pitchFamily="34" charset="-120"/>
              </a:rPr>
              <a:t>نُقَلِّلُ</a:t>
            </a:r>
            <a:pPr algn="l" indent="0" marL="0">
              <a:buNone/>
            </a:pPr>
            <a:r>
              <a:rPr lang="en-US" sz="1300" b="1" dirty="0">
                <a:solidFill>
                  <a:srgbClr val="1F2A37"/>
                </a:solidFill>
                <a:latin typeface="Calibri" pitchFamily="34" charset="0"/>
                <a:ea typeface="Calibri" pitchFamily="34" charset="-122"/>
                <a:cs typeface="Calibri" pitchFamily="34" charset="-120"/>
              </a:rPr>
              <a:t> → </a:t>
            </a:r>
            <a:pPr algn="l" indent="0" marL="0">
              <a:buNone/>
            </a:pPr>
            <a:r>
              <a:rPr lang="ar-SA" altLang="en-US" sz="1700" b="1" dirty="0">
                <a:solidFill>
                  <a:srgbClr val="1F2A37"/>
                </a:solidFill>
                <a:latin typeface="Amiri" pitchFamily="34" charset="0"/>
                <a:ea typeface="Amiri" pitchFamily="34" charset="-122"/>
                <a:cs typeface="Amiri" pitchFamily="34" charset="-120"/>
              </a:rPr>
              <a:t>أَنْ نُقَلِّلَ</a:t>
            </a:r>
            <a:pPr algn="l" indent="0" marL="0">
              <a:buNone/>
            </a:pPr>
            <a:r>
              <a:rPr lang="en-US" sz="1300" b="1" dirty="0">
                <a:solidFill>
                  <a:srgbClr val="1F2A37"/>
                </a:solidFill>
                <a:latin typeface="Calibri" pitchFamily="34" charset="0"/>
                <a:ea typeface="Calibri" pitchFamily="34" charset="-122"/>
                <a:cs typeface="Calibri" pitchFamily="34" charset="-120"/>
              </a:rPr>
              <a:t>.</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34" charset="0"/>
                <a:ea typeface="Amiri" pitchFamily="34" charset="-122"/>
                <a:cs typeface="Amiri" pitchFamily="34" charset="-120"/>
              </a:rPr>
              <a:t>نُقَلِّلُ  ←  يَنْبَغِي أَنْ </a:t>
            </a:r>
            <a:pPr rtl="1" algn="ctr" indent="0" marL="0">
              <a:buNone/>
            </a:pPr>
            <a:r>
              <a:rPr lang="ar-SA" altLang="en-US" sz="2400" b="1" dirty="0">
                <a:solidFill>
                  <a:srgbClr val="D6336C"/>
                </a:solidFill>
                <a:latin typeface="Amiri" pitchFamily="34" charset="0"/>
                <a:ea typeface="Amiri" pitchFamily="34" charset="-122"/>
                <a:cs typeface="Amiri" pitchFamily="34" charset="-120"/>
              </a:rPr>
              <a:t>نُقَلِّلَ</a:t>
            </a:r>
            <a:endParaRPr lang="ar-SA" sz="240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5 / 46</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TC-L05 · Environmental Solutions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ea typeface="Calibri" pitchFamily="34" charset="-122"/>
                <a:cs typeface="Calibri" pitchFamily="34" charset="-120"/>
              </a:rPr>
              <a:t>LESSON 2 OF 3 THIS WEEK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2 · Lesson 2 of 3</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ea typeface="Calibri" pitchFamily="34" charset="-122"/>
                <a:cs typeface="Calibri" pitchFamily="34" charset="-120"/>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34" charset="0"/>
                <a:ea typeface="Amiri" pitchFamily="34" charset="-122"/>
                <a:cs typeface="Amiri" pitchFamily="34" charset="-120"/>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Understand and use the full lesson vocabulary in connected Arabic.</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Explain and apply the target grammar accurately.</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Extract exact information from listening and reading texts.</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Produce a developed intermediate spoken and written response.</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ea typeface="Calibri" pitchFamily="34" charset="-122"/>
                <a:cs typeface="Calibri" pitchFamily="34" charset="-120"/>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ea typeface="Calibri" pitchFamily="34" charset="-122"/>
                <a:cs typeface="Calibri" pitchFamily="34" charset="-120"/>
              </a:rPr>
              <a:t>☐  I can name 6 environmental solutions.</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ea typeface="Calibri" pitchFamily="34" charset="-122"/>
                <a:cs typeface="Calibri" pitchFamily="34" charset="-120"/>
              </a:rPr>
              <a:t>☐  I can give advice: </a:t>
            </a:r>
            <a:pPr algn="l" indent="0" marL="0">
              <a:buNone/>
            </a:pPr>
            <a:r>
              <a:rPr lang="ar-SA" altLang="en-US" sz="1700" b="1" dirty="0">
                <a:solidFill>
                  <a:srgbClr val="2E8B57"/>
                </a:solidFill>
                <a:latin typeface="Amiri" pitchFamily="34" charset="0"/>
                <a:ea typeface="Amiri" pitchFamily="34" charset="-122"/>
                <a:cs typeface="Amiri" pitchFamily="34" charset="-120"/>
              </a:rPr>
              <a:t>يَنْبَغِي أَنْ نُقَلِّلَ</a:t>
            </a:r>
            <a:pPr algn="l" indent="0" marL="0">
              <a:buNone/>
            </a:pPr>
            <a:r>
              <a:rPr lang="en-US" sz="1300" b="1" dirty="0">
                <a:solidFill>
                  <a:srgbClr val="2E8B57"/>
                </a:solidFill>
                <a:latin typeface="Calibri" pitchFamily="34" charset="0"/>
                <a:ea typeface="Calibri" pitchFamily="34" charset="-122"/>
                <a:cs typeface="Calibri" pitchFamily="34" charset="-120"/>
              </a:rPr>
              <a:t> … (fatḥa after </a:t>
            </a:r>
            <a:pPr algn="l" indent="0" marL="0">
              <a:buNone/>
            </a:pPr>
            <a:r>
              <a:rPr lang="ar-SA" altLang="en-US" sz="1700" b="1" dirty="0">
                <a:solidFill>
                  <a:srgbClr val="2E8B57"/>
                </a:solidFill>
                <a:latin typeface="Amiri" pitchFamily="34" charset="0"/>
                <a:ea typeface="Amiri" pitchFamily="34" charset="-122"/>
                <a:cs typeface="Amiri" pitchFamily="34" charset="-120"/>
              </a:rPr>
              <a:t>أَنْ</a:t>
            </a:r>
            <a:pPr algn="l" indent="0" marL="0">
              <a:buNone/>
            </a:pPr>
            <a:r>
              <a:rPr lang="en-US" sz="1300" b="1" dirty="0">
                <a:solidFill>
                  <a:srgbClr val="2E8B57"/>
                </a:solidFill>
                <a:latin typeface="Calibri" pitchFamily="34" charset="0"/>
                <a:ea typeface="Calibri" pitchFamily="34" charset="-122"/>
                <a:cs typeface="Calibri" pitchFamily="34" charset="-120"/>
              </a:rPr>
              <a:t>).</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ea typeface="Calibri" pitchFamily="34" charset="-122"/>
                <a:cs typeface="Calibri" pitchFamily="34" charset="-120"/>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ea typeface="Calibri" pitchFamily="34" charset="-122"/>
                <a:cs typeface="Calibri" pitchFamily="34" charset="-120"/>
              </a:rPr>
              <a:t>☐  I can say who is responsible: </a:t>
            </a:r>
            <a:pPr algn="l" indent="0" marL="0">
              <a:buNone/>
            </a:pPr>
            <a:r>
              <a:rPr lang="ar-SA" altLang="en-US" sz="1700" b="1" dirty="0">
                <a:solidFill>
                  <a:srgbClr val="C9780A"/>
                </a:solidFill>
                <a:latin typeface="Amiri" pitchFamily="34" charset="0"/>
                <a:ea typeface="Amiri" pitchFamily="34" charset="-122"/>
                <a:cs typeface="Amiri" pitchFamily="34" charset="-120"/>
              </a:rPr>
              <a:t>يَجِبُ عَلَى الحُكُومَةِ أَنْ</a:t>
            </a:r>
            <a:pPr algn="l" indent="0" marL="0">
              <a:buNone/>
            </a:pPr>
            <a:r>
              <a:rPr lang="en-US" sz="1300" b="1" dirty="0">
                <a:solidFill>
                  <a:srgbClr val="C9780A"/>
                </a:solidFill>
                <a:latin typeface="Calibri" pitchFamily="34" charset="0"/>
                <a:ea typeface="Calibri" pitchFamily="34" charset="-122"/>
                <a:cs typeface="Calibri" pitchFamily="34" charset="-120"/>
              </a:rPr>
              <a:t> …</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ea typeface="Calibri" pitchFamily="34" charset="-122"/>
                <a:cs typeface="Calibri" pitchFamily="34" charset="-120"/>
              </a:rPr>
              <a:t>☐  I can give a purpose with </a:t>
            </a:r>
            <a:pPr algn="l" indent="0" marL="0">
              <a:buNone/>
            </a:pPr>
            <a:r>
              <a:rPr lang="ar-SA" altLang="en-US" sz="1700" b="1" dirty="0">
                <a:solidFill>
                  <a:srgbClr val="C9780A"/>
                </a:solidFill>
                <a:latin typeface="Amiri" pitchFamily="34" charset="0"/>
                <a:ea typeface="Amiri" pitchFamily="34" charset="-122"/>
                <a:cs typeface="Amiri" pitchFamily="34" charset="-120"/>
              </a:rPr>
              <a:t>لِكَيْ</a:t>
            </a:r>
            <a:pPr algn="l" indent="0" marL="0">
              <a:buNone/>
            </a:pPr>
            <a:r>
              <a:rPr lang="en-US" sz="1300" b="1" dirty="0">
                <a:solidFill>
                  <a:srgbClr val="C9780A"/>
                </a:solidFill>
                <a:latin typeface="Calibri" pitchFamily="34" charset="0"/>
                <a:ea typeface="Calibri" pitchFamily="34" charset="-122"/>
                <a:cs typeface="Calibri" pitchFamily="34" charset="-120"/>
              </a:rPr>
              <a:t>.</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ea typeface="Calibri" pitchFamily="34" charset="-122"/>
                <a:cs typeface="Calibri" pitchFamily="34" charset="-120"/>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ea typeface="Calibri" pitchFamily="34" charset="-122"/>
                <a:cs typeface="Calibri" pitchFamily="34" charset="-120"/>
              </a:rPr>
              <a:t>☐  I can use the five verbs after </a:t>
            </a:r>
            <a:pPr algn="l" indent="0" marL="0">
              <a:buNone/>
            </a:pPr>
            <a:r>
              <a:rPr lang="ar-SA" altLang="en-US" sz="1700" b="1" dirty="0">
                <a:solidFill>
                  <a:srgbClr val="B83227"/>
                </a:solidFill>
                <a:latin typeface="Amiri" pitchFamily="34" charset="0"/>
                <a:ea typeface="Amiri" pitchFamily="34" charset="-122"/>
                <a:cs typeface="Amiri" pitchFamily="34" charset="-120"/>
              </a:rPr>
              <a:t>أَنْ</a:t>
            </a:r>
            <a:pPr algn="l" indent="0" marL="0">
              <a:buNone/>
            </a:pPr>
            <a:r>
              <a:rPr lang="en-US" sz="1300" b="1" dirty="0">
                <a:solidFill>
                  <a:srgbClr val="B83227"/>
                </a:solidFill>
                <a:latin typeface="Calibri" pitchFamily="34" charset="0"/>
                <a:ea typeface="Calibri" pitchFamily="34" charset="-122"/>
                <a:cs typeface="Calibri" pitchFamily="34" charset="-120"/>
              </a:rPr>
              <a:t>: </a:t>
            </a:r>
            <a:pPr algn="l" indent="0" marL="0">
              <a:buNone/>
            </a:pPr>
            <a:r>
              <a:rPr lang="ar-SA" altLang="en-US" sz="1700" b="1" dirty="0">
                <a:solidFill>
                  <a:srgbClr val="B83227"/>
                </a:solidFill>
                <a:latin typeface="Amiri" pitchFamily="34" charset="0"/>
                <a:ea typeface="Amiri" pitchFamily="34" charset="-122"/>
                <a:cs typeface="Amiri" pitchFamily="34" charset="-120"/>
              </a:rPr>
              <a:t>أَنْ يُعِيدُوا</a:t>
            </a:r>
            <a:pPr algn="l" indent="0" marL="0">
              <a:buNone/>
            </a:pPr>
            <a:r>
              <a:rPr lang="en-US" sz="1300" b="1" dirty="0">
                <a:solidFill>
                  <a:srgbClr val="B83227"/>
                </a:solidFill>
                <a:latin typeface="Calibri" pitchFamily="34" charset="0"/>
                <a:ea typeface="Calibri" pitchFamily="34" charset="-122"/>
                <a:cs typeface="Calibri" pitchFamily="34" charset="-120"/>
              </a:rPr>
              <a:t>.</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ea typeface="Calibri" pitchFamily="34" charset="-122"/>
                <a:cs typeface="Calibri" pitchFamily="34" charset="-120"/>
              </a:rPr>
              <a:t>☐  I can rank solutions and evaluate one limitation.</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6 / 46</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ea typeface="Calibri" pitchFamily="34" charset="-122"/>
                <a:cs typeface="Calibri" pitchFamily="34" charset="-120"/>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ea typeface="Cambria" pitchFamily="34" charset="-122"/>
                <a:cs typeface="Cambria" pitchFamily="34" charset="-120"/>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34" charset="0"/>
                <a:ea typeface="Amiri" pitchFamily="34" charset="-122"/>
                <a:cs typeface="Amiri" pitchFamily="34" charset="-120"/>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ea typeface="Calibri" pitchFamily="34" charset="-122"/>
                <a:cs typeface="Calibri" pitchFamily="34" charset="-120"/>
              </a:rPr>
              <a:t>26 words from the website in 4 groups. Learn the CORE words first. Hear it → say it → see it → use it.</a:t>
            </a:r>
            <a:endParaRPr lang="en-US" sz="1600" dirty="0"/>
          </a:p>
        </p:txBody>
      </p:sp>
      <p:sp>
        <p:nvSpPr>
          <p:cNvPr id="8" name="Shape 6"/>
          <p:cNvSpPr/>
          <p:nvPr/>
        </p:nvSpPr>
        <p:spPr>
          <a:xfrm>
            <a:off x="457200" y="4572000"/>
            <a:ext cx="186309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158877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ea typeface="Calibri" pitchFamily="34" charset="-122"/>
                <a:cs typeface="Calibri" pitchFamily="34" charset="-120"/>
              </a:rPr>
              <a:t>GROUP 1</a:t>
            </a:r>
            <a:endParaRPr lang="en-US" sz="900" dirty="0"/>
          </a:p>
          <a:p>
            <a:pPr indent="0" marL="0">
              <a:buNone/>
            </a:pPr>
            <a:r>
              <a:rPr lang="en-US" sz="1200" b="1" dirty="0">
                <a:solidFill>
                  <a:srgbClr val="FFFFFF"/>
                </a:solidFill>
                <a:latin typeface="Calibri" pitchFamily="34" charset="0"/>
                <a:ea typeface="Calibri" pitchFamily="34" charset="-122"/>
                <a:cs typeface="Calibri" pitchFamily="34" charset="-120"/>
              </a:rPr>
              <a:t>Solutions · 6</a:t>
            </a:r>
            <a:endParaRPr lang="en-US" sz="900" dirty="0"/>
          </a:p>
        </p:txBody>
      </p:sp>
      <p:sp>
        <p:nvSpPr>
          <p:cNvPr id="10" name="Shape 8"/>
          <p:cNvSpPr/>
          <p:nvPr/>
        </p:nvSpPr>
        <p:spPr>
          <a:xfrm>
            <a:off x="2457450" y="4572000"/>
            <a:ext cx="186309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2594610" y="4617720"/>
            <a:ext cx="158877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ea typeface="Calibri" pitchFamily="34" charset="-122"/>
                <a:cs typeface="Calibri" pitchFamily="34" charset="-120"/>
              </a:rPr>
              <a:t>GROUP 2</a:t>
            </a:r>
            <a:endParaRPr lang="en-US" sz="900" dirty="0"/>
          </a:p>
          <a:p>
            <a:pPr indent="0" marL="0">
              <a:buNone/>
            </a:pPr>
            <a:r>
              <a:rPr lang="en-US" sz="1200" b="1" dirty="0">
                <a:solidFill>
                  <a:srgbClr val="FFFFFF"/>
                </a:solidFill>
                <a:latin typeface="Calibri" pitchFamily="34" charset="0"/>
                <a:ea typeface="Calibri" pitchFamily="34" charset="-122"/>
                <a:cs typeface="Calibri" pitchFamily="34" charset="-120"/>
              </a:rPr>
              <a:t>More solutions · 6</a:t>
            </a:r>
            <a:endParaRPr lang="en-US" sz="900" dirty="0"/>
          </a:p>
        </p:txBody>
      </p:sp>
      <p:sp>
        <p:nvSpPr>
          <p:cNvPr id="12" name="Shape 10"/>
          <p:cNvSpPr/>
          <p:nvPr/>
        </p:nvSpPr>
        <p:spPr>
          <a:xfrm>
            <a:off x="4457700" y="4572000"/>
            <a:ext cx="186309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4594860" y="4617720"/>
            <a:ext cx="158877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ea typeface="Calibri" pitchFamily="34" charset="-122"/>
                <a:cs typeface="Calibri" pitchFamily="34" charset="-120"/>
              </a:rPr>
              <a:t>GROUP 3</a:t>
            </a:r>
            <a:endParaRPr lang="en-US" sz="900" dirty="0"/>
          </a:p>
          <a:p>
            <a:pPr indent="0" marL="0">
              <a:buNone/>
            </a:pPr>
            <a:r>
              <a:rPr lang="en-US" sz="1200" b="1" dirty="0">
                <a:solidFill>
                  <a:srgbClr val="FFFFFF"/>
                </a:solidFill>
                <a:latin typeface="Calibri" pitchFamily="34" charset="0"/>
                <a:ea typeface="Calibri" pitchFamily="34" charset="-122"/>
                <a:cs typeface="Calibri" pitchFamily="34" charset="-120"/>
              </a:rPr>
              <a:t>“We” verbs · 8</a:t>
            </a:r>
            <a:endParaRPr lang="en-US" sz="900" dirty="0"/>
          </a:p>
        </p:txBody>
      </p:sp>
      <p:sp>
        <p:nvSpPr>
          <p:cNvPr id="14" name="Shape 12"/>
          <p:cNvSpPr/>
          <p:nvPr/>
        </p:nvSpPr>
        <p:spPr>
          <a:xfrm>
            <a:off x="6457950" y="4572000"/>
            <a:ext cx="1863090" cy="960120"/>
          </a:xfrm>
          <a:prstGeom prst="roundRect">
            <a:avLst>
              <a:gd name="adj" fmla="val 7619"/>
            </a:avLst>
          </a:prstGeom>
          <a:solidFill>
            <a:srgbClr val="16335F"/>
          </a:solidFill>
          <a:ln w="12700">
            <a:solidFill>
              <a:srgbClr val="2A4B7C"/>
            </a:solidFill>
            <a:prstDash val="solid"/>
          </a:ln>
        </p:spPr>
      </p:sp>
      <p:sp>
        <p:nvSpPr>
          <p:cNvPr id="15" name="Text 13"/>
          <p:cNvSpPr txBox="1"/>
          <p:nvPr/>
        </p:nvSpPr>
        <p:spPr>
          <a:xfrm>
            <a:off x="6595110" y="4617720"/>
            <a:ext cx="158877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ea typeface="Calibri" pitchFamily="34" charset="-122"/>
                <a:cs typeface="Calibri" pitchFamily="34" charset="-120"/>
              </a:rPr>
              <a:t>GROUP 4</a:t>
            </a:r>
            <a:endParaRPr lang="en-US" sz="900" dirty="0"/>
          </a:p>
          <a:p>
            <a:pPr indent="0" marL="0">
              <a:buNone/>
            </a:pPr>
            <a:r>
              <a:rPr lang="en-US" sz="1200" b="1" dirty="0">
                <a:solidFill>
                  <a:srgbClr val="FFFFFF"/>
                </a:solidFill>
                <a:latin typeface="Calibri" pitchFamily="34" charset="0"/>
                <a:ea typeface="Calibri" pitchFamily="34" charset="-122"/>
                <a:cs typeface="Calibri" pitchFamily="34" charset="-120"/>
              </a:rPr>
              <a:t>Advice and purpose · 6</a:t>
            </a:r>
            <a:endParaRPr lang="en-US" sz="900" dirty="0"/>
          </a:p>
        </p:txBody>
      </p:sp>
      <p:sp>
        <p:nvSpPr>
          <p:cNvPr id="16" name="Shape 14"/>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7" name="Text 15"/>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ea typeface="Calibri" pitchFamily="34" charset="-122"/>
                <a:cs typeface="Calibri" pitchFamily="34" charset="-120"/>
              </a:rPr>
              <a:t>BRIDGE FROM URDU</a:t>
            </a:r>
            <a:endParaRPr lang="en-US" sz="1000" dirty="0"/>
          </a:p>
        </p:txBody>
      </p:sp>
      <p:sp>
        <p:nvSpPr>
          <p:cNvPr id="18" name="Text 16"/>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ضَرُورِيٌّ</a:t>
            </a:r>
            <a:endParaRPr lang="ar-SA" sz="1900" dirty="0"/>
          </a:p>
        </p:txBody>
      </p:sp>
      <p:sp>
        <p:nvSpPr>
          <p:cNvPr id="19" name="Text 17"/>
          <p:cNvSpPr txBox="1"/>
          <p:nvPr/>
        </p:nvSpPr>
        <p:spPr>
          <a:xfrm>
            <a:off x="8842248" y="1810512"/>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34" charset="0"/>
                <a:ea typeface="Amiri" pitchFamily="34" charset="-122"/>
                <a:cs typeface="Amiri" pitchFamily="34" charset="-120"/>
              </a:rPr>
              <a:t>‎ضروری‎ </a:t>
            </a:r>
            <a:pPr indent="0" marL="0">
              <a:buNone/>
            </a:pPr>
            <a:r>
              <a:rPr lang="en-US" sz="950" b="1" dirty="0">
                <a:solidFill>
                  <a:srgbClr val="2E8B57"/>
                </a:solidFill>
                <a:latin typeface="Calibri" pitchFamily="34" charset="0"/>
                <a:ea typeface="Calibri" pitchFamily="34" charset="-122"/>
                <a:cs typeface="Calibri" pitchFamily="34" charset="-120"/>
              </a:rPr>
              <a:t> zarūrī · necessary</a:t>
            </a:r>
            <a:endParaRPr lang="en-US" sz="1400" dirty="0"/>
          </a:p>
        </p:txBody>
      </p:sp>
      <p:sp>
        <p:nvSpPr>
          <p:cNvPr id="20" name="Text 18"/>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طَاقَةٌ</a:t>
            </a:r>
            <a:endParaRPr lang="ar-SA" sz="1900" dirty="0"/>
          </a:p>
        </p:txBody>
      </p:sp>
      <p:sp>
        <p:nvSpPr>
          <p:cNvPr id="21" name="Text 19"/>
          <p:cNvSpPr txBox="1"/>
          <p:nvPr/>
        </p:nvSpPr>
        <p:spPr>
          <a:xfrm>
            <a:off x="8842248" y="2377440"/>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34" charset="0"/>
                <a:ea typeface="Amiri" pitchFamily="34" charset="-122"/>
                <a:cs typeface="Amiri" pitchFamily="34" charset="-120"/>
              </a:rPr>
              <a:t>‎طاقت‎ </a:t>
            </a:r>
            <a:pPr indent="0" marL="0">
              <a:buNone/>
            </a:pPr>
            <a:r>
              <a:rPr lang="en-US" sz="950" b="1" dirty="0">
                <a:solidFill>
                  <a:srgbClr val="2E8B57"/>
                </a:solidFill>
                <a:latin typeface="Calibri" pitchFamily="34" charset="0"/>
                <a:ea typeface="Calibri" pitchFamily="34" charset="-122"/>
                <a:cs typeface="Calibri" pitchFamily="34" charset="-120"/>
              </a:rPr>
              <a:t> tāqat · energy, power</a:t>
            </a:r>
            <a:endParaRPr lang="en-US" sz="1400" dirty="0"/>
          </a:p>
        </p:txBody>
      </p:sp>
      <p:sp>
        <p:nvSpPr>
          <p:cNvPr id="22" name="Text 20"/>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حَلٌّ</a:t>
            </a:r>
            <a:endParaRPr lang="ar-SA" sz="1900" dirty="0"/>
          </a:p>
        </p:txBody>
      </p:sp>
      <p:sp>
        <p:nvSpPr>
          <p:cNvPr id="23" name="Text 21"/>
          <p:cNvSpPr txBox="1"/>
          <p:nvPr/>
        </p:nvSpPr>
        <p:spPr>
          <a:xfrm>
            <a:off x="8842248" y="2944368"/>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34" charset="0"/>
                <a:ea typeface="Amiri" pitchFamily="34" charset="-122"/>
                <a:cs typeface="Amiri" pitchFamily="34" charset="-120"/>
              </a:rPr>
              <a:t>‎حل‎ </a:t>
            </a:r>
            <a:pPr indent="0" marL="0">
              <a:buNone/>
            </a:pPr>
            <a:r>
              <a:rPr lang="en-US" sz="950" b="1" dirty="0">
                <a:solidFill>
                  <a:srgbClr val="2E8B57"/>
                </a:solidFill>
                <a:latin typeface="Calibri" pitchFamily="34" charset="0"/>
                <a:ea typeface="Calibri" pitchFamily="34" charset="-122"/>
                <a:cs typeface="Calibri" pitchFamily="34" charset="-120"/>
              </a:rPr>
              <a:t> ḥal · solution</a:t>
            </a:r>
            <a:endParaRPr lang="en-US" sz="1400" dirty="0"/>
          </a:p>
        </p:txBody>
      </p:sp>
      <p:sp>
        <p:nvSpPr>
          <p:cNvPr id="24" name="Text 22"/>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حُكُومَةٌ</a:t>
            </a:r>
            <a:endParaRPr lang="ar-SA" sz="1900" dirty="0"/>
          </a:p>
        </p:txBody>
      </p:sp>
      <p:sp>
        <p:nvSpPr>
          <p:cNvPr id="25" name="Text 23"/>
          <p:cNvSpPr txBox="1"/>
          <p:nvPr/>
        </p:nvSpPr>
        <p:spPr>
          <a:xfrm>
            <a:off x="8842248" y="3511296"/>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34" charset="0"/>
                <a:ea typeface="Amiri" pitchFamily="34" charset="-122"/>
                <a:cs typeface="Amiri" pitchFamily="34" charset="-120"/>
              </a:rPr>
              <a:t>‎حکومت‎ </a:t>
            </a:r>
            <a:pPr indent="0" marL="0">
              <a:buNone/>
            </a:pPr>
            <a:r>
              <a:rPr lang="en-US" sz="950" b="1" dirty="0">
                <a:solidFill>
                  <a:srgbClr val="2E8B57"/>
                </a:solidFill>
                <a:latin typeface="Calibri" pitchFamily="34" charset="0"/>
                <a:ea typeface="Calibri" pitchFamily="34" charset="-122"/>
                <a:cs typeface="Calibri" pitchFamily="34" charset="-120"/>
              </a:rPr>
              <a:t> ḥukūmat · government</a:t>
            </a:r>
            <a:endParaRPr lang="en-US" sz="1400" dirty="0"/>
          </a:p>
        </p:txBody>
      </p:sp>
      <p:sp>
        <p:nvSpPr>
          <p:cNvPr id="26" name="Text 24"/>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يُمْكِنُ</a:t>
            </a:r>
            <a:endParaRPr lang="ar-SA" sz="1900" dirty="0"/>
          </a:p>
        </p:txBody>
      </p:sp>
      <p:sp>
        <p:nvSpPr>
          <p:cNvPr id="27" name="Text 25"/>
          <p:cNvSpPr txBox="1"/>
          <p:nvPr/>
        </p:nvSpPr>
        <p:spPr>
          <a:xfrm>
            <a:off x="8842248" y="4078224"/>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34" charset="0"/>
                <a:ea typeface="Amiri" pitchFamily="34" charset="-122"/>
                <a:cs typeface="Amiri" pitchFamily="34" charset="-120"/>
              </a:rPr>
              <a:t>‎ممکن‎ </a:t>
            </a:r>
            <a:pPr indent="0" marL="0">
              <a:buNone/>
            </a:pPr>
            <a:r>
              <a:rPr lang="en-US" sz="950" b="1" dirty="0">
                <a:solidFill>
                  <a:srgbClr val="2E8B57"/>
                </a:solidFill>
                <a:latin typeface="Calibri" pitchFamily="34" charset="0"/>
                <a:ea typeface="Calibri" pitchFamily="34" charset="-122"/>
                <a:cs typeface="Calibri" pitchFamily="34" charset="-120"/>
              </a:rPr>
              <a:t> mumkin · possible</a:t>
            </a:r>
            <a:endParaRPr lang="en-US" sz="1400" dirty="0"/>
          </a:p>
        </p:txBody>
      </p:sp>
      <p:sp>
        <p:nvSpPr>
          <p:cNvPr id="29" name="Text 2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7 / 46</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TC-L05 · Environmental Solutions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Environmental solutions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الحُلُولُ البِيئِيَّةُ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2 · Lesson 2 of 3</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1</a:t>
            </a:r>
            <a:endParaRPr lang="en-US" sz="1000" dirty="0"/>
          </a:p>
        </p:txBody>
      </p:sp>
      <p:sp>
        <p:nvSpPr>
          <p:cNvPr id="18" name="Shape 15"/>
          <p:cNvSpPr/>
          <p:nvPr/>
        </p:nvSpPr>
        <p:spPr>
          <a:xfrm>
            <a:off x="8604504" y="1938528"/>
            <a:ext cx="704088"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iḍāfa</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إِعَادَةُ التَّدْوِيرِ</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recycling</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i-ʿā-dat at-tad-wīr</a:t>
            </a:r>
            <a:endParaRPr lang="en-US" sz="1350" dirty="0"/>
          </a:p>
        </p:txBody>
      </p:sp>
      <p:sp>
        <p:nvSpPr>
          <p:cNvPr id="24" name="Shape 21"/>
          <p:cNvSpPr/>
          <p:nvPr/>
        </p:nvSpPr>
        <p:spPr>
          <a:xfrm>
            <a:off x="9966960" y="3438144"/>
            <a:ext cx="1636776"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021824"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ea typeface="Calibri" pitchFamily="34" charset="-122"/>
                <a:cs typeface="Calibri" pitchFamily="34" charset="-120"/>
              </a:rPr>
              <a:t>again</a:t>
            </a:r>
            <a:endParaRPr lang="en-US" sz="700" dirty="0"/>
          </a:p>
        </p:txBody>
      </p:sp>
      <p:sp>
        <p:nvSpPr>
          <p:cNvPr id="26" name="Text 23"/>
          <p:cNvSpPr txBox="1"/>
          <p:nvPr/>
        </p:nvSpPr>
        <p:spPr>
          <a:xfrm>
            <a:off x="10012680"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34" charset="0"/>
                <a:ea typeface="Amiri" pitchFamily="34" charset="-122"/>
                <a:cs typeface="Amiri" pitchFamily="34" charset="-120"/>
              </a:rPr>
              <a:t>إِعَادَةٌ</a:t>
            </a:r>
            <a:endParaRPr lang="ar-SA" sz="1350" dirty="0"/>
          </a:p>
        </p:txBody>
      </p:sp>
      <p:sp>
        <p:nvSpPr>
          <p:cNvPr id="27" name="Shape 24"/>
          <p:cNvSpPr/>
          <p:nvPr/>
        </p:nvSpPr>
        <p:spPr>
          <a:xfrm>
            <a:off x="8238744" y="3438144"/>
            <a:ext cx="1636776"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8293608"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ea typeface="Calibri" pitchFamily="34" charset="-122"/>
                <a:cs typeface="Calibri" pitchFamily="34" charset="-120"/>
              </a:rPr>
              <a:t>turning</a:t>
            </a:r>
            <a:endParaRPr lang="en-US" sz="700" dirty="0"/>
          </a:p>
        </p:txBody>
      </p:sp>
      <p:sp>
        <p:nvSpPr>
          <p:cNvPr id="29" name="Text 26"/>
          <p:cNvSpPr txBox="1"/>
          <p:nvPr/>
        </p:nvSpPr>
        <p:spPr>
          <a:xfrm>
            <a:off x="8284464"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34" charset="0"/>
                <a:ea typeface="Amiri" pitchFamily="34" charset="-122"/>
                <a:cs typeface="Amiri" pitchFamily="34" charset="-120"/>
              </a:rPr>
              <a:t>التَّدْوِيرُ</a:t>
            </a:r>
            <a:endParaRPr lang="ar-SA" sz="1350" dirty="0"/>
          </a:p>
        </p:txBody>
      </p:sp>
      <p:sp>
        <p:nvSpPr>
          <p:cNvPr id="30" name="Shape 2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389120" y="1920240"/>
            <a:ext cx="310896" cy="310896"/>
          </a:xfrm>
          <a:prstGeom prst="ellipse">
            <a:avLst/>
          </a:prstGeom>
          <a:solidFill>
            <a:srgbClr val="F4F1EA"/>
          </a:solidFill>
          <a:ln w="12700">
            <a:solidFill>
              <a:srgbClr val="F4F1EA"/>
            </a:solidFill>
            <a:prstDash val="solid"/>
          </a:ln>
        </p:spPr>
      </p:sp>
      <p:sp>
        <p:nvSpPr>
          <p:cNvPr id="32" name="Text 2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2</a:t>
            </a:r>
            <a:endParaRPr lang="en-US" sz="1000" dirty="0"/>
          </a:p>
        </p:txBody>
      </p:sp>
      <p:sp>
        <p:nvSpPr>
          <p:cNvPr id="33" name="Shape 30"/>
          <p:cNvSpPr/>
          <p:nvPr/>
        </p:nvSpPr>
        <p:spPr>
          <a:xfrm>
            <a:off x="4782312" y="1938528"/>
            <a:ext cx="1020470" cy="256032"/>
          </a:xfrm>
          <a:prstGeom prst="roundRect">
            <a:avLst>
              <a:gd name="adj" fmla="val 50000"/>
            </a:avLst>
          </a:prstGeom>
          <a:solidFill>
            <a:srgbClr val="EFE7D2"/>
          </a:solidFill>
          <a:ln w="12700">
            <a:solidFill>
              <a:srgbClr val="EFE7D2"/>
            </a:solidFill>
            <a:prstDash val="solid"/>
          </a:ln>
        </p:spPr>
      </p:sp>
      <p:sp>
        <p:nvSpPr>
          <p:cNvPr id="34" name="Text 31"/>
          <p:cNvSpPr txBox="1"/>
          <p:nvPr/>
        </p:nvSpPr>
        <p:spPr>
          <a:xfrm>
            <a:off x="4782312" y="1938528"/>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noun + nisba</a:t>
            </a:r>
            <a:endParaRPr lang="en-US" sz="800" dirty="0"/>
          </a:p>
        </p:txBody>
      </p:sp>
      <p:sp>
        <p:nvSpPr>
          <p:cNvPr id="35" name="Shape 3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37" name="Text 34"/>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الطَّاقَةُ </a:t>
            </a:r>
            <a:pPr rtl="1" algn="r" indent="0" marL="0">
              <a:buNone/>
            </a:pPr>
            <a:r>
              <a:rPr lang="ar-SA" altLang="en-US" sz="3000" b="1" dirty="0">
                <a:solidFill>
                  <a:srgbClr val="7B3FA0"/>
                </a:solidFill>
                <a:latin typeface="Amiri" pitchFamily="34" charset="0"/>
                <a:ea typeface="Amiri" pitchFamily="34" charset="-122"/>
                <a:cs typeface="Amiri" pitchFamily="34" charset="-120"/>
              </a:rPr>
              <a:t>الشَّمْسِ</a:t>
            </a:r>
            <a:pPr rtl="1" algn="r" indent="0" marL="0">
              <a:buNone/>
            </a:pPr>
            <a:r>
              <a:rPr lang="ar-SA" altLang="en-US" sz="3000" b="1" dirty="0">
                <a:solidFill>
                  <a:srgbClr val="D6336C"/>
                </a:solidFill>
                <a:latin typeface="Amiri" pitchFamily="34" charset="0"/>
                <a:ea typeface="Amiri" pitchFamily="34" charset="-122"/>
                <a:cs typeface="Amiri" pitchFamily="34" charset="-120"/>
              </a:rPr>
              <a:t>يَّةُ</a:t>
            </a:r>
            <a:endParaRPr lang="ar-SA" sz="3000" dirty="0"/>
          </a:p>
        </p:txBody>
      </p:sp>
      <p:sp>
        <p:nvSpPr>
          <p:cNvPr id="38" name="Text 35"/>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solar energy</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aṭ-ṭā-qa sh-sham-siy-ya</a:t>
            </a:r>
            <a:endParaRPr lang="en-US" sz="1350" dirty="0"/>
          </a:p>
        </p:txBody>
      </p:sp>
      <p:sp>
        <p:nvSpPr>
          <p:cNvPr id="39" name="Shape 36"/>
          <p:cNvSpPr/>
          <p:nvPr/>
        </p:nvSpPr>
        <p:spPr>
          <a:xfrm>
            <a:off x="6144768" y="3438144"/>
            <a:ext cx="1636776" cy="438912"/>
          </a:xfrm>
          <a:prstGeom prst="roundRect">
            <a:avLst>
              <a:gd name="adj" fmla="val 10417"/>
            </a:avLst>
          </a:prstGeom>
          <a:solidFill>
            <a:srgbClr val="F4F1EA"/>
          </a:solidFill>
          <a:ln w="9525">
            <a:solidFill>
              <a:srgbClr val="F4F1EA"/>
            </a:solidFill>
            <a:prstDash val="solid"/>
          </a:ln>
        </p:spPr>
      </p:sp>
      <p:sp>
        <p:nvSpPr>
          <p:cNvPr id="40" name="Text 37"/>
          <p:cNvSpPr txBox="1"/>
          <p:nvPr/>
        </p:nvSpPr>
        <p:spPr>
          <a:xfrm>
            <a:off x="6199632"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ea typeface="Calibri" pitchFamily="34" charset="-122"/>
                <a:cs typeface="Calibri" pitchFamily="34" charset="-120"/>
              </a:rPr>
              <a:t>energy</a:t>
            </a:r>
            <a:endParaRPr lang="en-US" sz="700" dirty="0"/>
          </a:p>
        </p:txBody>
      </p:sp>
      <p:sp>
        <p:nvSpPr>
          <p:cNvPr id="41" name="Text 38"/>
          <p:cNvSpPr txBox="1"/>
          <p:nvPr/>
        </p:nvSpPr>
        <p:spPr>
          <a:xfrm>
            <a:off x="6190488"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34" charset="0"/>
                <a:ea typeface="Amiri" pitchFamily="34" charset="-122"/>
                <a:cs typeface="Amiri" pitchFamily="34" charset="-120"/>
              </a:rPr>
              <a:t>طَاقَةٌ</a:t>
            </a:r>
            <a:endParaRPr lang="ar-SA" sz="1350" dirty="0"/>
          </a:p>
        </p:txBody>
      </p:sp>
      <p:sp>
        <p:nvSpPr>
          <p:cNvPr id="42" name="Shape 39"/>
          <p:cNvSpPr/>
          <p:nvPr/>
        </p:nvSpPr>
        <p:spPr>
          <a:xfrm>
            <a:off x="4416552" y="3438144"/>
            <a:ext cx="1636776"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4471416"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sun</a:t>
            </a:r>
            <a:endParaRPr lang="en-US" sz="750" dirty="0"/>
          </a:p>
        </p:txBody>
      </p:sp>
      <p:sp>
        <p:nvSpPr>
          <p:cNvPr id="44" name="Text 41"/>
          <p:cNvSpPr txBox="1"/>
          <p:nvPr/>
        </p:nvSpPr>
        <p:spPr>
          <a:xfrm>
            <a:off x="4462272"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شَمْسٌ</a:t>
            </a:r>
            <a:endParaRPr lang="ar-SA" sz="1500" dirty="0"/>
          </a:p>
        </p:txBody>
      </p:sp>
      <p:sp>
        <p:nvSpPr>
          <p:cNvPr id="45" name="Shape 42"/>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66928" y="1920240"/>
            <a:ext cx="310896" cy="310896"/>
          </a:xfrm>
          <a:prstGeom prst="ellipse">
            <a:avLst/>
          </a:prstGeom>
          <a:solidFill>
            <a:srgbClr val="F4F1EA"/>
          </a:solidFill>
          <a:ln w="12700">
            <a:solidFill>
              <a:srgbClr val="F4F1EA"/>
            </a:solidFill>
            <a:prstDash val="solid"/>
          </a:ln>
        </p:spPr>
      </p:sp>
      <p:sp>
        <p:nvSpPr>
          <p:cNvPr id="47" name="Text 44"/>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3</a:t>
            </a:r>
            <a:endParaRPr lang="en-US" sz="1000" dirty="0"/>
          </a:p>
        </p:txBody>
      </p:sp>
      <p:sp>
        <p:nvSpPr>
          <p:cNvPr id="48" name="Shape 45"/>
          <p:cNvSpPr/>
          <p:nvPr/>
        </p:nvSpPr>
        <p:spPr>
          <a:xfrm>
            <a:off x="960120" y="1938528"/>
            <a:ext cx="704088" cy="256032"/>
          </a:xfrm>
          <a:prstGeom prst="roundRect">
            <a:avLst>
              <a:gd name="adj" fmla="val 50000"/>
            </a:avLst>
          </a:prstGeom>
          <a:solidFill>
            <a:srgbClr val="EFE7D2"/>
          </a:solidFill>
          <a:ln w="12700">
            <a:solidFill>
              <a:srgbClr val="EFE7D2"/>
            </a:solidFill>
            <a:prstDash val="solid"/>
          </a:ln>
        </p:spPr>
      </p:sp>
      <p:sp>
        <p:nvSpPr>
          <p:cNvPr id="49" name="Text 46"/>
          <p:cNvSpPr txBox="1"/>
          <p:nvPr/>
        </p:nvSpPr>
        <p:spPr>
          <a:xfrm>
            <a:off x="960120"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iḍāfa</a:t>
            </a:r>
            <a:endParaRPr lang="en-US" sz="800" dirty="0"/>
          </a:p>
        </p:txBody>
      </p:sp>
      <p:sp>
        <p:nvSpPr>
          <p:cNvPr id="50" name="Shape 47"/>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52" name="Text 49"/>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طَاقَةُ الرِّيَاحِ</a:t>
            </a:r>
            <a:endParaRPr lang="ar-SA" sz="3000" dirty="0"/>
          </a:p>
        </p:txBody>
      </p:sp>
      <p:sp>
        <p:nvSpPr>
          <p:cNvPr id="53" name="Text 50"/>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wind energy</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ṭā-qat ar-ri-yāḥ</a:t>
            </a:r>
            <a:endParaRPr lang="en-US" sz="1350" dirty="0"/>
          </a:p>
        </p:txBody>
      </p:sp>
      <p:sp>
        <p:nvSpPr>
          <p:cNvPr id="54" name="Shape 51"/>
          <p:cNvSpPr/>
          <p:nvPr/>
        </p:nvSpPr>
        <p:spPr>
          <a:xfrm>
            <a:off x="2322576" y="3438144"/>
            <a:ext cx="1636776" cy="438912"/>
          </a:xfrm>
          <a:prstGeom prst="roundRect">
            <a:avLst>
              <a:gd name="adj" fmla="val 10417"/>
            </a:avLst>
          </a:prstGeom>
          <a:solidFill>
            <a:srgbClr val="F4F1EA"/>
          </a:solidFill>
          <a:ln w="9525">
            <a:solidFill>
              <a:srgbClr val="F4F1EA"/>
            </a:solidFill>
            <a:prstDash val="solid"/>
          </a:ln>
        </p:spPr>
      </p:sp>
      <p:sp>
        <p:nvSpPr>
          <p:cNvPr id="55" name="Text 52"/>
          <p:cNvSpPr txBox="1"/>
          <p:nvPr/>
        </p:nvSpPr>
        <p:spPr>
          <a:xfrm>
            <a:off x="2377440"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ea typeface="Calibri" pitchFamily="34" charset="-122"/>
                <a:cs typeface="Calibri" pitchFamily="34" charset="-120"/>
              </a:rPr>
              <a:t>energy</a:t>
            </a:r>
            <a:endParaRPr lang="en-US" sz="700" dirty="0"/>
          </a:p>
        </p:txBody>
      </p:sp>
      <p:sp>
        <p:nvSpPr>
          <p:cNvPr id="56" name="Text 53"/>
          <p:cNvSpPr txBox="1"/>
          <p:nvPr/>
        </p:nvSpPr>
        <p:spPr>
          <a:xfrm>
            <a:off x="2368296"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34" charset="0"/>
                <a:ea typeface="Amiri" pitchFamily="34" charset="-122"/>
                <a:cs typeface="Amiri" pitchFamily="34" charset="-120"/>
              </a:rPr>
              <a:t>طَاقَةٌ</a:t>
            </a:r>
            <a:endParaRPr lang="ar-SA" sz="1350" dirty="0"/>
          </a:p>
        </p:txBody>
      </p:sp>
      <p:sp>
        <p:nvSpPr>
          <p:cNvPr id="57" name="Shape 54"/>
          <p:cNvSpPr/>
          <p:nvPr/>
        </p:nvSpPr>
        <p:spPr>
          <a:xfrm>
            <a:off x="594360" y="3438144"/>
            <a:ext cx="1636776" cy="438912"/>
          </a:xfrm>
          <a:prstGeom prst="roundRect">
            <a:avLst>
              <a:gd name="adj" fmla="val 10417"/>
            </a:avLst>
          </a:prstGeom>
          <a:solidFill>
            <a:srgbClr val="F4F1EA"/>
          </a:solidFill>
          <a:ln w="9525">
            <a:solidFill>
              <a:srgbClr val="F4F1EA"/>
            </a:solidFill>
            <a:prstDash val="solid"/>
          </a:ln>
        </p:spPr>
      </p:sp>
      <p:sp>
        <p:nvSpPr>
          <p:cNvPr id="58" name="Text 55"/>
          <p:cNvSpPr txBox="1"/>
          <p:nvPr/>
        </p:nvSpPr>
        <p:spPr>
          <a:xfrm>
            <a:off x="649224"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ea typeface="Calibri" pitchFamily="34" charset="-122"/>
                <a:cs typeface="Calibri" pitchFamily="34" charset="-120"/>
              </a:rPr>
              <a:t>winds</a:t>
            </a:r>
            <a:endParaRPr lang="en-US" sz="700" dirty="0"/>
          </a:p>
        </p:txBody>
      </p:sp>
      <p:sp>
        <p:nvSpPr>
          <p:cNvPr id="59" name="Text 56"/>
          <p:cNvSpPr txBox="1"/>
          <p:nvPr/>
        </p:nvSpPr>
        <p:spPr>
          <a:xfrm>
            <a:off x="640080"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34" charset="0"/>
                <a:ea typeface="Amiri" pitchFamily="34" charset="-122"/>
                <a:cs typeface="Amiri" pitchFamily="34" charset="-120"/>
              </a:rPr>
              <a:t>الرِّيَاحُ</a:t>
            </a:r>
            <a:endParaRPr lang="ar-SA" sz="1350" dirty="0"/>
          </a:p>
        </p:txBody>
      </p:sp>
      <p:sp>
        <p:nvSpPr>
          <p:cNvPr id="60" name="Shape 57"/>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8211312" y="4261104"/>
            <a:ext cx="310896" cy="310896"/>
          </a:xfrm>
          <a:prstGeom prst="ellipse">
            <a:avLst/>
          </a:prstGeom>
          <a:solidFill>
            <a:srgbClr val="F4F1EA"/>
          </a:solidFill>
          <a:ln w="12700">
            <a:solidFill>
              <a:srgbClr val="F4F1EA"/>
            </a:solidFill>
            <a:prstDash val="solid"/>
          </a:ln>
        </p:spPr>
      </p:sp>
      <p:sp>
        <p:nvSpPr>
          <p:cNvPr id="62" name="Text 59"/>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4</a:t>
            </a:r>
            <a:endParaRPr lang="en-US" sz="1000" dirty="0"/>
          </a:p>
        </p:txBody>
      </p:sp>
      <p:sp>
        <p:nvSpPr>
          <p:cNvPr id="63" name="Shape 60"/>
          <p:cNvSpPr/>
          <p:nvPr/>
        </p:nvSpPr>
        <p:spPr>
          <a:xfrm>
            <a:off x="8604504" y="4279392"/>
            <a:ext cx="704088" cy="256032"/>
          </a:xfrm>
          <a:prstGeom prst="roundRect">
            <a:avLst>
              <a:gd name="adj" fmla="val 50000"/>
            </a:avLst>
          </a:prstGeom>
          <a:solidFill>
            <a:srgbClr val="EFE7D2"/>
          </a:solidFill>
          <a:ln w="12700">
            <a:solidFill>
              <a:srgbClr val="EFE7D2"/>
            </a:solidFill>
            <a:prstDash val="solid"/>
          </a:ln>
        </p:spPr>
      </p:sp>
      <p:sp>
        <p:nvSpPr>
          <p:cNvPr id="64" name="Text 61"/>
          <p:cNvSpPr txBox="1"/>
          <p:nvPr/>
        </p:nvSpPr>
        <p:spPr>
          <a:xfrm>
            <a:off x="8604504"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noun</a:t>
            </a:r>
            <a:endParaRPr lang="en-US" sz="800" dirty="0"/>
          </a:p>
        </p:txBody>
      </p:sp>
      <p:sp>
        <p:nvSpPr>
          <p:cNvPr id="65" name="Shape 62"/>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66" name="Text 63"/>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67" name="Text 64"/>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التَّشْجِيرُ</a:t>
            </a:r>
            <a:endParaRPr lang="ar-SA" sz="3000" dirty="0"/>
          </a:p>
        </p:txBody>
      </p:sp>
      <p:sp>
        <p:nvSpPr>
          <p:cNvPr id="68" name="Text 65"/>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tree planting</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at-tash-jīr</a:t>
            </a:r>
            <a:endParaRPr lang="en-US" sz="1350" dirty="0"/>
          </a:p>
        </p:txBody>
      </p:sp>
      <p:sp>
        <p:nvSpPr>
          <p:cNvPr id="69" name="Shape 66"/>
          <p:cNvSpPr/>
          <p:nvPr/>
        </p:nvSpPr>
        <p:spPr>
          <a:xfrm>
            <a:off x="9966960" y="5779008"/>
            <a:ext cx="1636776" cy="438912"/>
          </a:xfrm>
          <a:prstGeom prst="roundRect">
            <a:avLst>
              <a:gd name="adj" fmla="val 10417"/>
            </a:avLst>
          </a:prstGeom>
          <a:solidFill>
            <a:srgbClr val="F4F1EA"/>
          </a:solidFill>
          <a:ln w="9525">
            <a:solidFill>
              <a:srgbClr val="F4F1EA"/>
            </a:solidFill>
            <a:prstDash val="solid"/>
          </a:ln>
        </p:spPr>
      </p:sp>
      <p:sp>
        <p:nvSpPr>
          <p:cNvPr id="70" name="Text 67"/>
          <p:cNvSpPr txBox="1"/>
          <p:nvPr/>
        </p:nvSpPr>
        <p:spPr>
          <a:xfrm>
            <a:off x="10021824" y="5788152"/>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ea typeface="Calibri" pitchFamily="34" charset="-122"/>
                <a:cs typeface="Calibri" pitchFamily="34" charset="-120"/>
              </a:rPr>
              <a:t>tree</a:t>
            </a:r>
            <a:endParaRPr lang="en-US" sz="700" dirty="0"/>
          </a:p>
        </p:txBody>
      </p:sp>
      <p:sp>
        <p:nvSpPr>
          <p:cNvPr id="71" name="Text 68"/>
          <p:cNvSpPr txBox="1"/>
          <p:nvPr/>
        </p:nvSpPr>
        <p:spPr>
          <a:xfrm>
            <a:off x="10012680" y="5916168"/>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34" charset="0"/>
                <a:ea typeface="Amiri" pitchFamily="34" charset="-122"/>
                <a:cs typeface="Amiri" pitchFamily="34" charset="-120"/>
              </a:rPr>
              <a:t>شَجَرَةٌ</a:t>
            </a:r>
            <a:endParaRPr lang="ar-SA" sz="1350" dirty="0"/>
          </a:p>
        </p:txBody>
      </p:sp>
      <p:sp>
        <p:nvSpPr>
          <p:cNvPr id="72" name="Shape 69"/>
          <p:cNvSpPr/>
          <p:nvPr/>
        </p:nvSpPr>
        <p:spPr>
          <a:xfrm>
            <a:off x="8238744" y="5779008"/>
            <a:ext cx="1636776" cy="438912"/>
          </a:xfrm>
          <a:prstGeom prst="roundRect">
            <a:avLst>
              <a:gd name="adj" fmla="val 10417"/>
            </a:avLst>
          </a:prstGeom>
          <a:solidFill>
            <a:srgbClr val="F4F1EA"/>
          </a:solidFill>
          <a:ln w="9525">
            <a:solidFill>
              <a:srgbClr val="F4F1EA"/>
            </a:solidFill>
            <a:prstDash val="solid"/>
          </a:ln>
        </p:spPr>
      </p:sp>
      <p:sp>
        <p:nvSpPr>
          <p:cNvPr id="73" name="Text 70"/>
          <p:cNvSpPr txBox="1"/>
          <p:nvPr/>
        </p:nvSpPr>
        <p:spPr>
          <a:xfrm>
            <a:off x="8293608" y="5788152"/>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ea typeface="Calibri" pitchFamily="34" charset="-122"/>
                <a:cs typeface="Calibri" pitchFamily="34" charset="-120"/>
              </a:rPr>
              <a:t>planting trees</a:t>
            </a:r>
            <a:endParaRPr lang="en-US" sz="700" dirty="0"/>
          </a:p>
        </p:txBody>
      </p:sp>
      <p:sp>
        <p:nvSpPr>
          <p:cNvPr id="74" name="Text 71"/>
          <p:cNvSpPr txBox="1"/>
          <p:nvPr/>
        </p:nvSpPr>
        <p:spPr>
          <a:xfrm>
            <a:off x="8284464" y="5916168"/>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34" charset="0"/>
                <a:ea typeface="Amiri" pitchFamily="34" charset="-122"/>
                <a:cs typeface="Amiri" pitchFamily="34" charset="-120"/>
              </a:rPr>
              <a:t>التَّشْجِيرُ</a:t>
            </a:r>
            <a:endParaRPr lang="ar-SA" sz="1350" dirty="0"/>
          </a:p>
        </p:txBody>
      </p:sp>
      <p:sp>
        <p:nvSpPr>
          <p:cNvPr id="75" name="Shape 72"/>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389120" y="4261104"/>
            <a:ext cx="310896" cy="310896"/>
          </a:xfrm>
          <a:prstGeom prst="ellipse">
            <a:avLst/>
          </a:prstGeom>
          <a:solidFill>
            <a:srgbClr val="F4F1EA"/>
          </a:solidFill>
          <a:ln w="12700">
            <a:solidFill>
              <a:srgbClr val="F4F1EA"/>
            </a:solidFill>
            <a:prstDash val="solid"/>
          </a:ln>
        </p:spPr>
      </p:sp>
      <p:sp>
        <p:nvSpPr>
          <p:cNvPr id="77" name="Text 74"/>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5</a:t>
            </a:r>
            <a:endParaRPr lang="en-US" sz="1000" dirty="0"/>
          </a:p>
        </p:txBody>
      </p:sp>
      <p:sp>
        <p:nvSpPr>
          <p:cNvPr id="78" name="Shape 75"/>
          <p:cNvSpPr/>
          <p:nvPr/>
        </p:nvSpPr>
        <p:spPr>
          <a:xfrm>
            <a:off x="4782312" y="4279392"/>
            <a:ext cx="704088" cy="256032"/>
          </a:xfrm>
          <a:prstGeom prst="roundRect">
            <a:avLst>
              <a:gd name="adj" fmla="val 50000"/>
            </a:avLst>
          </a:prstGeom>
          <a:solidFill>
            <a:srgbClr val="EFE7D2"/>
          </a:solidFill>
          <a:ln w="12700">
            <a:solidFill>
              <a:srgbClr val="EFE7D2"/>
            </a:solidFill>
            <a:prstDash val="solid"/>
          </a:ln>
        </p:spPr>
      </p:sp>
      <p:sp>
        <p:nvSpPr>
          <p:cNvPr id="79" name="Text 76"/>
          <p:cNvSpPr txBox="1"/>
          <p:nvPr/>
        </p:nvSpPr>
        <p:spPr>
          <a:xfrm>
            <a:off x="4782312"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iḍāfa</a:t>
            </a:r>
            <a:endParaRPr lang="en-US" sz="800" dirty="0"/>
          </a:p>
        </p:txBody>
      </p:sp>
      <p:sp>
        <p:nvSpPr>
          <p:cNvPr id="80" name="Shape 77"/>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81" name="Text 78"/>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82" name="Text 79"/>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تَرْشِيدُ المِيَاهِ</a:t>
            </a:r>
            <a:endParaRPr lang="ar-SA" sz="3000" dirty="0"/>
          </a:p>
        </p:txBody>
      </p:sp>
      <p:sp>
        <p:nvSpPr>
          <p:cNvPr id="83" name="Text 80"/>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saving water</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tar-shīd al-mi-yāh</a:t>
            </a:r>
            <a:endParaRPr lang="en-US" sz="1350" dirty="0"/>
          </a:p>
        </p:txBody>
      </p:sp>
      <p:sp>
        <p:nvSpPr>
          <p:cNvPr id="84" name="Shape 81"/>
          <p:cNvSpPr/>
          <p:nvPr/>
        </p:nvSpPr>
        <p:spPr>
          <a:xfrm>
            <a:off x="6144768" y="5779008"/>
            <a:ext cx="1636776" cy="438912"/>
          </a:xfrm>
          <a:prstGeom prst="roundRect">
            <a:avLst>
              <a:gd name="adj" fmla="val 10417"/>
            </a:avLst>
          </a:prstGeom>
          <a:solidFill>
            <a:srgbClr val="F4F1EA"/>
          </a:solidFill>
          <a:ln w="9525">
            <a:solidFill>
              <a:srgbClr val="F4F1EA"/>
            </a:solidFill>
            <a:prstDash val="solid"/>
          </a:ln>
        </p:spPr>
      </p:sp>
      <p:sp>
        <p:nvSpPr>
          <p:cNvPr id="85" name="Text 82"/>
          <p:cNvSpPr txBox="1"/>
          <p:nvPr/>
        </p:nvSpPr>
        <p:spPr>
          <a:xfrm>
            <a:off x="6199632" y="5788152"/>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ea typeface="Calibri" pitchFamily="34" charset="-122"/>
                <a:cs typeface="Calibri" pitchFamily="34" charset="-120"/>
              </a:rPr>
              <a:t>wise use</a:t>
            </a:r>
            <a:endParaRPr lang="en-US" sz="700" dirty="0"/>
          </a:p>
        </p:txBody>
      </p:sp>
      <p:sp>
        <p:nvSpPr>
          <p:cNvPr id="86" name="Text 83"/>
          <p:cNvSpPr txBox="1"/>
          <p:nvPr/>
        </p:nvSpPr>
        <p:spPr>
          <a:xfrm>
            <a:off x="6190488" y="5916168"/>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34" charset="0"/>
                <a:ea typeface="Amiri" pitchFamily="34" charset="-122"/>
                <a:cs typeface="Amiri" pitchFamily="34" charset="-120"/>
              </a:rPr>
              <a:t>تَرْشِيدٌ</a:t>
            </a:r>
            <a:endParaRPr lang="ar-SA" sz="1350" dirty="0"/>
          </a:p>
        </p:txBody>
      </p:sp>
      <p:sp>
        <p:nvSpPr>
          <p:cNvPr id="87" name="Shape 84"/>
          <p:cNvSpPr/>
          <p:nvPr/>
        </p:nvSpPr>
        <p:spPr>
          <a:xfrm>
            <a:off x="4416552" y="5779008"/>
            <a:ext cx="1636776" cy="438912"/>
          </a:xfrm>
          <a:prstGeom prst="roundRect">
            <a:avLst>
              <a:gd name="adj" fmla="val 10417"/>
            </a:avLst>
          </a:prstGeom>
          <a:solidFill>
            <a:srgbClr val="F4F1EA"/>
          </a:solidFill>
          <a:ln w="9525">
            <a:solidFill>
              <a:srgbClr val="F4F1EA"/>
            </a:solidFill>
            <a:prstDash val="solid"/>
          </a:ln>
        </p:spPr>
      </p:sp>
      <p:sp>
        <p:nvSpPr>
          <p:cNvPr id="88" name="Text 85"/>
          <p:cNvSpPr txBox="1"/>
          <p:nvPr/>
        </p:nvSpPr>
        <p:spPr>
          <a:xfrm>
            <a:off x="4471416" y="5788152"/>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ea typeface="Calibri" pitchFamily="34" charset="-122"/>
                <a:cs typeface="Calibri" pitchFamily="34" charset="-120"/>
              </a:rPr>
              <a:t>the water</a:t>
            </a:r>
            <a:endParaRPr lang="en-US" sz="700" dirty="0"/>
          </a:p>
        </p:txBody>
      </p:sp>
      <p:sp>
        <p:nvSpPr>
          <p:cNvPr id="89" name="Text 86"/>
          <p:cNvSpPr txBox="1"/>
          <p:nvPr/>
        </p:nvSpPr>
        <p:spPr>
          <a:xfrm>
            <a:off x="4462272" y="5916168"/>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34" charset="0"/>
                <a:ea typeface="Amiri" pitchFamily="34" charset="-122"/>
                <a:cs typeface="Amiri" pitchFamily="34" charset="-120"/>
              </a:rPr>
              <a:t>المِيَاهُ</a:t>
            </a:r>
            <a:endParaRPr lang="ar-SA" sz="1350" dirty="0"/>
          </a:p>
        </p:txBody>
      </p:sp>
      <p:sp>
        <p:nvSpPr>
          <p:cNvPr id="90" name="Shape 87"/>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566928" y="4261104"/>
            <a:ext cx="310896" cy="310896"/>
          </a:xfrm>
          <a:prstGeom prst="ellipse">
            <a:avLst/>
          </a:prstGeom>
          <a:solidFill>
            <a:srgbClr val="F4F1EA"/>
          </a:solidFill>
          <a:ln w="12700">
            <a:solidFill>
              <a:srgbClr val="F4F1EA"/>
            </a:solidFill>
            <a:prstDash val="solid"/>
          </a:ln>
        </p:spPr>
      </p:sp>
      <p:sp>
        <p:nvSpPr>
          <p:cNvPr id="92" name="Text 89"/>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6</a:t>
            </a:r>
            <a:endParaRPr lang="en-US" sz="1000" dirty="0"/>
          </a:p>
        </p:txBody>
      </p:sp>
      <p:sp>
        <p:nvSpPr>
          <p:cNvPr id="93" name="Shape 90"/>
          <p:cNvSpPr/>
          <p:nvPr/>
        </p:nvSpPr>
        <p:spPr>
          <a:xfrm>
            <a:off x="960120" y="4279392"/>
            <a:ext cx="1269187" cy="256032"/>
          </a:xfrm>
          <a:prstGeom prst="roundRect">
            <a:avLst>
              <a:gd name="adj" fmla="val 50000"/>
            </a:avLst>
          </a:prstGeom>
          <a:solidFill>
            <a:srgbClr val="EFE7D2"/>
          </a:solidFill>
          <a:ln w="12700">
            <a:solidFill>
              <a:srgbClr val="EFE7D2"/>
            </a:solidFill>
            <a:prstDash val="solid"/>
          </a:ln>
        </p:spPr>
      </p:sp>
      <p:sp>
        <p:nvSpPr>
          <p:cNvPr id="94" name="Text 91"/>
          <p:cNvSpPr txBox="1"/>
          <p:nvPr/>
        </p:nvSpPr>
        <p:spPr>
          <a:xfrm>
            <a:off x="960120" y="4279392"/>
            <a:ext cx="1269187"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noun + adjective</a:t>
            </a:r>
            <a:endParaRPr lang="en-US" sz="800" dirty="0"/>
          </a:p>
        </p:txBody>
      </p:sp>
      <p:sp>
        <p:nvSpPr>
          <p:cNvPr id="95" name="Shape 92"/>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96" name="Text 93"/>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97" name="Text 94"/>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النَّقْلُ </a:t>
            </a:r>
            <a:pPr rtl="1" algn="r" indent="0" marL="0">
              <a:buNone/>
            </a:pPr>
            <a:r>
              <a:rPr lang="ar-SA" altLang="en-US" sz="3000" b="1" dirty="0">
                <a:solidFill>
                  <a:srgbClr val="7B3FA0"/>
                </a:solidFill>
                <a:latin typeface="Amiri" pitchFamily="34" charset="0"/>
                <a:ea typeface="Amiri" pitchFamily="34" charset="-122"/>
                <a:cs typeface="Amiri" pitchFamily="34" charset="-120"/>
              </a:rPr>
              <a:t>العَامُّ</a:t>
            </a:r>
            <a:endParaRPr lang="ar-SA" sz="3000" dirty="0"/>
          </a:p>
        </p:txBody>
      </p:sp>
      <p:sp>
        <p:nvSpPr>
          <p:cNvPr id="98" name="Text 95"/>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public transport</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an-naql al-ʿāmm</a:t>
            </a:r>
            <a:endParaRPr lang="en-US" sz="1350" dirty="0"/>
          </a:p>
        </p:txBody>
      </p:sp>
      <p:sp>
        <p:nvSpPr>
          <p:cNvPr id="99" name="Text 9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8 / 46</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TC-L05 · Environmental Solutions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KEY WORDS · GROUP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Environmental solutions (2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الحُلُولُ البِيئِيَّةُ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2 · Lesson 2 of 3</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7</a:t>
            </a:r>
            <a:endParaRPr lang="en-US" sz="1000" dirty="0"/>
          </a:p>
        </p:txBody>
      </p:sp>
      <p:sp>
        <p:nvSpPr>
          <p:cNvPr id="18" name="Shape 15"/>
          <p:cNvSpPr/>
          <p:nvPr/>
        </p:nvSpPr>
        <p:spPr>
          <a:xfrm>
            <a:off x="8604504" y="1938528"/>
            <a:ext cx="1269187"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1269187"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noun · f. (game)</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الدَّرَّاجَةُ</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bicycle</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ad-dar-rā-ja · pl. dar-rā-jāt</a:t>
            </a:r>
            <a:endParaRPr lang="en-US" sz="1350" dirty="0"/>
          </a:p>
        </p:txBody>
      </p:sp>
      <p:sp>
        <p:nvSpPr>
          <p:cNvPr id="24" name="Shape 21"/>
          <p:cNvSpPr/>
          <p:nvPr/>
        </p:nvSpPr>
        <p:spPr>
          <a:xfrm>
            <a:off x="9966960" y="3438144"/>
            <a:ext cx="1636776"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0218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sg.</a:t>
            </a:r>
            <a:endParaRPr lang="en-US" sz="750" dirty="0"/>
          </a:p>
        </p:txBody>
      </p:sp>
      <p:sp>
        <p:nvSpPr>
          <p:cNvPr id="26" name="Text 23"/>
          <p:cNvSpPr txBox="1"/>
          <p:nvPr/>
        </p:nvSpPr>
        <p:spPr>
          <a:xfrm>
            <a:off x="100126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دَرَّاجَةٌ</a:t>
            </a:r>
            <a:endParaRPr lang="ar-SA" sz="1500" dirty="0"/>
          </a:p>
        </p:txBody>
      </p:sp>
      <p:sp>
        <p:nvSpPr>
          <p:cNvPr id="27" name="Shape 24"/>
          <p:cNvSpPr/>
          <p:nvPr/>
        </p:nvSpPr>
        <p:spPr>
          <a:xfrm>
            <a:off x="8238744" y="3438144"/>
            <a:ext cx="1636776"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8293608"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pl.</a:t>
            </a:r>
            <a:endParaRPr lang="en-US" sz="750" dirty="0"/>
          </a:p>
        </p:txBody>
      </p:sp>
      <p:sp>
        <p:nvSpPr>
          <p:cNvPr id="29" name="Text 26"/>
          <p:cNvSpPr txBox="1"/>
          <p:nvPr/>
        </p:nvSpPr>
        <p:spPr>
          <a:xfrm>
            <a:off x="8284464"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دَرَّاجَاتٌ</a:t>
            </a:r>
            <a:endParaRPr lang="ar-SA" sz="1500" dirty="0"/>
          </a:p>
        </p:txBody>
      </p:sp>
      <p:sp>
        <p:nvSpPr>
          <p:cNvPr id="30" name="Shape 2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389120" y="1920240"/>
            <a:ext cx="310896" cy="310896"/>
          </a:xfrm>
          <a:prstGeom prst="ellipse">
            <a:avLst/>
          </a:prstGeom>
          <a:solidFill>
            <a:srgbClr val="F4F1EA"/>
          </a:solidFill>
          <a:ln w="12700">
            <a:solidFill>
              <a:srgbClr val="F4F1EA"/>
            </a:solidFill>
            <a:prstDash val="solid"/>
          </a:ln>
        </p:spPr>
      </p:sp>
      <p:sp>
        <p:nvSpPr>
          <p:cNvPr id="32" name="Text 2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8</a:t>
            </a:r>
            <a:endParaRPr lang="en-US" sz="1000" dirty="0"/>
          </a:p>
        </p:txBody>
      </p:sp>
      <p:sp>
        <p:nvSpPr>
          <p:cNvPr id="33" name="Shape 30"/>
          <p:cNvSpPr/>
          <p:nvPr/>
        </p:nvSpPr>
        <p:spPr>
          <a:xfrm>
            <a:off x="4782312" y="1938528"/>
            <a:ext cx="1082650" cy="256032"/>
          </a:xfrm>
          <a:prstGeom prst="roundRect">
            <a:avLst>
              <a:gd name="adj" fmla="val 50000"/>
            </a:avLst>
          </a:prstGeom>
          <a:solidFill>
            <a:srgbClr val="EFE7D2"/>
          </a:solidFill>
          <a:ln w="12700">
            <a:solidFill>
              <a:srgbClr val="EFE7D2"/>
            </a:solidFill>
            <a:prstDash val="solid"/>
          </a:ln>
        </p:spPr>
      </p:sp>
      <p:sp>
        <p:nvSpPr>
          <p:cNvPr id="34" name="Text 31"/>
          <p:cNvSpPr txBox="1"/>
          <p:nvPr/>
        </p:nvSpPr>
        <p:spPr>
          <a:xfrm>
            <a:off x="4782312" y="1938528"/>
            <a:ext cx="108265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phrase (game)</a:t>
            </a:r>
            <a:endParaRPr lang="en-US" sz="800" dirty="0"/>
          </a:p>
        </p:txBody>
      </p:sp>
      <p:sp>
        <p:nvSpPr>
          <p:cNvPr id="35" name="Shape 3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37" name="Text 34"/>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نُطْفِئُ الأَضْوَاءَ</a:t>
            </a:r>
            <a:endParaRPr lang="ar-SA" sz="3000" dirty="0"/>
          </a:p>
        </p:txBody>
      </p:sp>
      <p:sp>
        <p:nvSpPr>
          <p:cNvPr id="38" name="Text 35"/>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we switch off the lights</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nuṭ-fiʾ al-aḍ-wāʾ</a:t>
            </a:r>
            <a:endParaRPr lang="en-US" sz="1350" dirty="0"/>
          </a:p>
        </p:txBody>
      </p:sp>
      <p:sp>
        <p:nvSpPr>
          <p:cNvPr id="39" name="Shape 36"/>
          <p:cNvSpPr/>
          <p:nvPr/>
        </p:nvSpPr>
        <p:spPr>
          <a:xfrm>
            <a:off x="6144768" y="3438144"/>
            <a:ext cx="1636776" cy="438912"/>
          </a:xfrm>
          <a:prstGeom prst="roundRect">
            <a:avLst>
              <a:gd name="adj" fmla="val 10417"/>
            </a:avLst>
          </a:prstGeom>
          <a:solidFill>
            <a:srgbClr val="F4F1EA"/>
          </a:solidFill>
          <a:ln w="9525">
            <a:solidFill>
              <a:srgbClr val="F4F1EA"/>
            </a:solidFill>
            <a:prstDash val="solid"/>
          </a:ln>
        </p:spPr>
      </p:sp>
      <p:sp>
        <p:nvSpPr>
          <p:cNvPr id="40" name="Text 37"/>
          <p:cNvSpPr txBox="1"/>
          <p:nvPr/>
        </p:nvSpPr>
        <p:spPr>
          <a:xfrm>
            <a:off x="6199632"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ea typeface="Calibri" pitchFamily="34" charset="-122"/>
                <a:cs typeface="Calibri" pitchFamily="34" charset="-120"/>
              </a:rPr>
              <a:t>light</a:t>
            </a:r>
            <a:endParaRPr lang="en-US" sz="700" dirty="0"/>
          </a:p>
        </p:txBody>
      </p:sp>
      <p:sp>
        <p:nvSpPr>
          <p:cNvPr id="41" name="Text 38"/>
          <p:cNvSpPr txBox="1"/>
          <p:nvPr/>
        </p:nvSpPr>
        <p:spPr>
          <a:xfrm>
            <a:off x="6190488"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34" charset="0"/>
                <a:ea typeface="Amiri" pitchFamily="34" charset="-122"/>
                <a:cs typeface="Amiri" pitchFamily="34" charset="-120"/>
              </a:rPr>
              <a:t>ضَوْءٌ</a:t>
            </a:r>
            <a:endParaRPr lang="ar-SA" sz="1350" dirty="0"/>
          </a:p>
        </p:txBody>
      </p:sp>
      <p:sp>
        <p:nvSpPr>
          <p:cNvPr id="42" name="Shape 39"/>
          <p:cNvSpPr/>
          <p:nvPr/>
        </p:nvSpPr>
        <p:spPr>
          <a:xfrm>
            <a:off x="4416552" y="3438144"/>
            <a:ext cx="1636776"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4471416"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ea typeface="Calibri" pitchFamily="34" charset="-122"/>
                <a:cs typeface="Calibri" pitchFamily="34" charset="-120"/>
              </a:rPr>
              <a:t>lights</a:t>
            </a:r>
            <a:endParaRPr lang="en-US" sz="700" dirty="0"/>
          </a:p>
        </p:txBody>
      </p:sp>
      <p:sp>
        <p:nvSpPr>
          <p:cNvPr id="44" name="Text 41"/>
          <p:cNvSpPr txBox="1"/>
          <p:nvPr/>
        </p:nvSpPr>
        <p:spPr>
          <a:xfrm>
            <a:off x="4462272"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34" charset="0"/>
                <a:ea typeface="Amiri" pitchFamily="34" charset="-122"/>
                <a:cs typeface="Amiri" pitchFamily="34" charset="-120"/>
              </a:rPr>
              <a:t>أَضْوَاءٌ</a:t>
            </a:r>
            <a:endParaRPr lang="ar-SA" sz="1350" dirty="0"/>
          </a:p>
        </p:txBody>
      </p:sp>
      <p:sp>
        <p:nvSpPr>
          <p:cNvPr id="45" name="Shape 42"/>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66928" y="1920240"/>
            <a:ext cx="310896" cy="310896"/>
          </a:xfrm>
          <a:prstGeom prst="ellipse">
            <a:avLst/>
          </a:prstGeom>
          <a:solidFill>
            <a:srgbClr val="F4F1EA"/>
          </a:solidFill>
          <a:ln w="12700">
            <a:solidFill>
              <a:srgbClr val="F4F1EA"/>
            </a:solidFill>
            <a:prstDash val="solid"/>
          </a:ln>
        </p:spPr>
      </p:sp>
      <p:sp>
        <p:nvSpPr>
          <p:cNvPr id="47" name="Text 44"/>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9</a:t>
            </a:r>
            <a:endParaRPr lang="en-US" sz="1000" dirty="0"/>
          </a:p>
        </p:txBody>
      </p:sp>
      <p:sp>
        <p:nvSpPr>
          <p:cNvPr id="48" name="Shape 45"/>
          <p:cNvSpPr/>
          <p:nvPr/>
        </p:nvSpPr>
        <p:spPr>
          <a:xfrm>
            <a:off x="960120" y="1938528"/>
            <a:ext cx="1269187" cy="256032"/>
          </a:xfrm>
          <a:prstGeom prst="roundRect">
            <a:avLst>
              <a:gd name="adj" fmla="val 50000"/>
            </a:avLst>
          </a:prstGeom>
          <a:solidFill>
            <a:srgbClr val="EFE7D2"/>
          </a:solidFill>
          <a:ln w="12700">
            <a:solidFill>
              <a:srgbClr val="EFE7D2"/>
            </a:solidFill>
            <a:prstDash val="solid"/>
          </a:ln>
        </p:spPr>
      </p:sp>
      <p:sp>
        <p:nvSpPr>
          <p:cNvPr id="49" name="Text 46"/>
          <p:cNvSpPr txBox="1"/>
          <p:nvPr/>
        </p:nvSpPr>
        <p:spPr>
          <a:xfrm>
            <a:off x="960120" y="1938528"/>
            <a:ext cx="1269187"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noun + adjective</a:t>
            </a:r>
            <a:endParaRPr lang="en-US" sz="800" dirty="0"/>
          </a:p>
        </p:txBody>
      </p:sp>
      <p:sp>
        <p:nvSpPr>
          <p:cNvPr id="50" name="Text 4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الطَّاقَةُ المُتَجَدِّدَةُ</a:t>
            </a:r>
            <a:endParaRPr lang="ar-SA" sz="3000" dirty="0"/>
          </a:p>
        </p:txBody>
      </p:sp>
      <p:sp>
        <p:nvSpPr>
          <p:cNvPr id="51" name="Text 4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renewable energy</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aṭ-ṭā-qa l-mu-ta-jad-di-da</a:t>
            </a:r>
            <a:endParaRPr lang="en-US" sz="1350" dirty="0"/>
          </a:p>
        </p:txBody>
      </p:sp>
      <p:sp>
        <p:nvSpPr>
          <p:cNvPr id="52" name="Shape 4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3" name="Shape 50"/>
          <p:cNvSpPr/>
          <p:nvPr/>
        </p:nvSpPr>
        <p:spPr>
          <a:xfrm>
            <a:off x="8211312" y="4261104"/>
            <a:ext cx="310896" cy="310896"/>
          </a:xfrm>
          <a:prstGeom prst="ellipse">
            <a:avLst/>
          </a:prstGeom>
          <a:solidFill>
            <a:srgbClr val="F4F1EA"/>
          </a:solidFill>
          <a:ln w="12700">
            <a:solidFill>
              <a:srgbClr val="F4F1EA"/>
            </a:solidFill>
            <a:prstDash val="solid"/>
          </a:ln>
        </p:spPr>
      </p:sp>
      <p:sp>
        <p:nvSpPr>
          <p:cNvPr id="54" name="Text 5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10</a:t>
            </a:r>
            <a:endParaRPr lang="en-US" sz="1000" dirty="0"/>
          </a:p>
        </p:txBody>
      </p:sp>
      <p:sp>
        <p:nvSpPr>
          <p:cNvPr id="55" name="Shape 52"/>
          <p:cNvSpPr/>
          <p:nvPr/>
        </p:nvSpPr>
        <p:spPr>
          <a:xfrm>
            <a:off x="8604504" y="4279392"/>
            <a:ext cx="704088" cy="256032"/>
          </a:xfrm>
          <a:prstGeom prst="roundRect">
            <a:avLst>
              <a:gd name="adj" fmla="val 50000"/>
            </a:avLst>
          </a:prstGeom>
          <a:solidFill>
            <a:srgbClr val="EFE7D2"/>
          </a:solidFill>
          <a:ln w="12700">
            <a:solidFill>
              <a:srgbClr val="EFE7D2"/>
            </a:solidFill>
            <a:prstDash val="solid"/>
          </a:ln>
        </p:spPr>
      </p:sp>
      <p:sp>
        <p:nvSpPr>
          <p:cNvPr id="56" name="Text 53"/>
          <p:cNvSpPr txBox="1"/>
          <p:nvPr/>
        </p:nvSpPr>
        <p:spPr>
          <a:xfrm>
            <a:off x="8604504"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iḍāfa</a:t>
            </a:r>
            <a:endParaRPr lang="en-US" sz="800" dirty="0"/>
          </a:p>
        </p:txBody>
      </p:sp>
      <p:sp>
        <p:nvSpPr>
          <p:cNvPr id="57" name="Text 54"/>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تَقْلِيلُ الاسْتِهْلَاكِ</a:t>
            </a:r>
            <a:endParaRPr lang="ar-SA" sz="3000" dirty="0"/>
          </a:p>
        </p:txBody>
      </p:sp>
      <p:sp>
        <p:nvSpPr>
          <p:cNvPr id="58" name="Text 55"/>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reducing consumption</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taq-līl al-is-tih-lāk</a:t>
            </a:r>
            <a:endParaRPr lang="en-US" sz="1350" dirty="0"/>
          </a:p>
        </p:txBody>
      </p:sp>
      <p:sp>
        <p:nvSpPr>
          <p:cNvPr id="59" name="Shape 56"/>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0" name="Shape 57"/>
          <p:cNvSpPr/>
          <p:nvPr/>
        </p:nvSpPr>
        <p:spPr>
          <a:xfrm>
            <a:off x="4389120" y="4261104"/>
            <a:ext cx="310896" cy="310896"/>
          </a:xfrm>
          <a:prstGeom prst="ellipse">
            <a:avLst/>
          </a:prstGeom>
          <a:solidFill>
            <a:srgbClr val="F4F1EA"/>
          </a:solidFill>
          <a:ln w="12700">
            <a:solidFill>
              <a:srgbClr val="F4F1EA"/>
            </a:solidFill>
            <a:prstDash val="solid"/>
          </a:ln>
        </p:spPr>
      </p:sp>
      <p:sp>
        <p:nvSpPr>
          <p:cNvPr id="61" name="Text 58"/>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11</a:t>
            </a:r>
            <a:endParaRPr lang="en-US" sz="1000" dirty="0"/>
          </a:p>
        </p:txBody>
      </p:sp>
      <p:sp>
        <p:nvSpPr>
          <p:cNvPr id="62" name="Shape 59"/>
          <p:cNvSpPr/>
          <p:nvPr/>
        </p:nvSpPr>
        <p:spPr>
          <a:xfrm>
            <a:off x="4782312" y="4279392"/>
            <a:ext cx="1020470" cy="256032"/>
          </a:xfrm>
          <a:prstGeom prst="roundRect">
            <a:avLst>
              <a:gd name="adj" fmla="val 50000"/>
            </a:avLst>
          </a:prstGeom>
          <a:solidFill>
            <a:srgbClr val="EFE7D2"/>
          </a:solidFill>
          <a:ln w="12700">
            <a:solidFill>
              <a:srgbClr val="EFE7D2"/>
            </a:solidFill>
            <a:prstDash val="solid"/>
          </a:ln>
        </p:spPr>
      </p:sp>
      <p:sp>
        <p:nvSpPr>
          <p:cNvPr id="63" name="Text 60"/>
          <p:cNvSpPr txBox="1"/>
          <p:nvPr/>
        </p:nvSpPr>
        <p:spPr>
          <a:xfrm>
            <a:off x="4782312" y="4279392"/>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noun + nisba</a:t>
            </a:r>
            <a:endParaRPr lang="en-US" sz="800" dirty="0"/>
          </a:p>
        </p:txBody>
      </p:sp>
      <p:sp>
        <p:nvSpPr>
          <p:cNvPr id="64" name="Text 61"/>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التَّوْعِيَةُ </a:t>
            </a:r>
            <a:pPr rtl="1" algn="r" indent="0" marL="0">
              <a:buNone/>
            </a:pPr>
            <a:r>
              <a:rPr lang="ar-SA" altLang="en-US" sz="3000" b="1" dirty="0">
                <a:solidFill>
                  <a:srgbClr val="7B3FA0"/>
                </a:solidFill>
                <a:latin typeface="Amiri" pitchFamily="34" charset="0"/>
                <a:ea typeface="Amiri" pitchFamily="34" charset="-122"/>
                <a:cs typeface="Amiri" pitchFamily="34" charset="-120"/>
              </a:rPr>
              <a:t>البِيئِ</a:t>
            </a:r>
            <a:pPr rtl="1" algn="r" indent="0" marL="0">
              <a:buNone/>
            </a:pPr>
            <a:r>
              <a:rPr lang="ar-SA" altLang="en-US" sz="3000" b="1" dirty="0">
                <a:solidFill>
                  <a:srgbClr val="D6336C"/>
                </a:solidFill>
                <a:latin typeface="Amiri" pitchFamily="34" charset="0"/>
                <a:ea typeface="Amiri" pitchFamily="34" charset="-122"/>
                <a:cs typeface="Amiri" pitchFamily="34" charset="-120"/>
              </a:rPr>
              <a:t>يَّةُ</a:t>
            </a:r>
            <a:endParaRPr lang="ar-SA" sz="3000" dirty="0"/>
          </a:p>
        </p:txBody>
      </p:sp>
      <p:sp>
        <p:nvSpPr>
          <p:cNvPr id="65" name="Text 62"/>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environmental awareness</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at-taw-ʿi-ya l-bī-ʾiy-ya</a:t>
            </a:r>
            <a:endParaRPr lang="en-US" sz="1350" dirty="0"/>
          </a:p>
        </p:txBody>
      </p:sp>
      <p:sp>
        <p:nvSpPr>
          <p:cNvPr id="66" name="Shape 63"/>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7" name="Shape 64"/>
          <p:cNvSpPr/>
          <p:nvPr/>
        </p:nvSpPr>
        <p:spPr>
          <a:xfrm>
            <a:off x="566928" y="4261104"/>
            <a:ext cx="310896" cy="310896"/>
          </a:xfrm>
          <a:prstGeom prst="ellipse">
            <a:avLst/>
          </a:prstGeom>
          <a:solidFill>
            <a:srgbClr val="F4F1EA"/>
          </a:solidFill>
          <a:ln w="12700">
            <a:solidFill>
              <a:srgbClr val="F4F1EA"/>
            </a:solidFill>
            <a:prstDash val="solid"/>
          </a:ln>
        </p:spPr>
      </p:sp>
      <p:sp>
        <p:nvSpPr>
          <p:cNvPr id="68" name="Text 65"/>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12</a:t>
            </a:r>
            <a:endParaRPr lang="en-US" sz="1000" dirty="0"/>
          </a:p>
        </p:txBody>
      </p:sp>
      <p:sp>
        <p:nvSpPr>
          <p:cNvPr id="69" name="Shape 66"/>
          <p:cNvSpPr/>
          <p:nvPr/>
        </p:nvSpPr>
        <p:spPr>
          <a:xfrm>
            <a:off x="960120" y="4279392"/>
            <a:ext cx="1269187" cy="256032"/>
          </a:xfrm>
          <a:prstGeom prst="roundRect">
            <a:avLst>
              <a:gd name="adj" fmla="val 50000"/>
            </a:avLst>
          </a:prstGeom>
          <a:solidFill>
            <a:srgbClr val="EFE7D2"/>
          </a:solidFill>
          <a:ln w="12700">
            <a:solidFill>
              <a:srgbClr val="EFE7D2"/>
            </a:solidFill>
            <a:prstDash val="solid"/>
          </a:ln>
        </p:spPr>
      </p:sp>
      <p:sp>
        <p:nvSpPr>
          <p:cNvPr id="70" name="Text 67"/>
          <p:cNvSpPr txBox="1"/>
          <p:nvPr/>
        </p:nvSpPr>
        <p:spPr>
          <a:xfrm>
            <a:off x="960120" y="4279392"/>
            <a:ext cx="1269187"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noun + adjective</a:t>
            </a:r>
            <a:endParaRPr lang="en-US" sz="800" dirty="0"/>
          </a:p>
        </p:txBody>
      </p:sp>
      <p:sp>
        <p:nvSpPr>
          <p:cNvPr id="71" name="Text 68"/>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التَّنْمِيَةُ المُسْتَدَامَةُ</a:t>
            </a:r>
            <a:endParaRPr lang="ar-SA" sz="3000" dirty="0"/>
          </a:p>
        </p:txBody>
      </p:sp>
      <p:sp>
        <p:nvSpPr>
          <p:cNvPr id="72" name="Text 69"/>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sustainable development</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at-tan-mi-ya l-mus-ta-dā-ma</a:t>
            </a:r>
            <a:endParaRPr lang="en-US" sz="1350" dirty="0"/>
          </a:p>
        </p:txBody>
      </p:sp>
      <p:sp>
        <p:nvSpPr>
          <p:cNvPr id="73" name="Text 7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9 / 46</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TC-L05 · Environmental Solutions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KEY WORDS · GROUP 3 · “WE” VERBS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ea typeface="Cambria" pitchFamily="34" charset="-122"/>
                <a:cs typeface="Cambria" pitchFamily="34" charset="-120"/>
              </a:rPr>
              <a:t>“We” verbs — before and after </a:t>
            </a:r>
            <a:pPr algn="l" indent="0" marL="0">
              <a:buNone/>
            </a:pPr>
            <a:r>
              <a:rPr lang="ar-SA" altLang="en-US" sz="3600" b="1" dirty="0">
                <a:solidFill>
                  <a:srgbClr val="1B3B6F"/>
                </a:solidFill>
                <a:latin typeface="Amiri" pitchFamily="34" charset="0"/>
                <a:ea typeface="Amiri" pitchFamily="34" charset="-122"/>
                <a:cs typeface="Amiri" pitchFamily="34" charset="-120"/>
              </a:rPr>
              <a:t>أَنْ</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أَفْعَالٌ لِـ «نَحْنُ»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2 · Lesson 2 of 3</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87384" y="1810512"/>
            <a:ext cx="28712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“We” verb (website)</a:t>
            </a:r>
            <a:endParaRPr lang="en-US" sz="1100" dirty="0"/>
          </a:p>
        </p:txBody>
      </p:sp>
      <p:sp>
        <p:nvSpPr>
          <p:cNvPr id="17" name="Text 14"/>
          <p:cNvSpPr txBox="1"/>
          <p:nvPr/>
        </p:nvSpPr>
        <p:spPr>
          <a:xfrm>
            <a:off x="6409944"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English</a:t>
            </a:r>
            <a:endParaRPr lang="en-US" sz="1100" dirty="0"/>
          </a:p>
        </p:txBody>
      </p:sp>
      <p:sp>
        <p:nvSpPr>
          <p:cNvPr id="18" name="Text 15"/>
          <p:cNvSpPr txBox="1"/>
          <p:nvPr/>
        </p:nvSpPr>
        <p:spPr>
          <a:xfrm>
            <a:off x="3483864" y="1810512"/>
            <a:ext cx="27797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After </a:t>
            </a:r>
            <a:pPr algn="ctr" indent="0" marL="0">
              <a:buNone/>
            </a:pPr>
            <a:r>
              <a:rPr lang="ar-SA" altLang="en-US" sz="1450" b="1" dirty="0">
                <a:solidFill>
                  <a:srgbClr val="FFFFFF"/>
                </a:solidFill>
                <a:latin typeface="Amiri" pitchFamily="34" charset="0"/>
                <a:ea typeface="Amiri" pitchFamily="34" charset="-122"/>
                <a:cs typeface="Amiri" pitchFamily="34" charset="-120"/>
              </a:rPr>
              <a:t>أَنْ / لِكَيْ</a:t>
            </a:r>
            <a:endParaRPr lang="en-US" sz="1100" dirty="0"/>
          </a:p>
        </p:txBody>
      </p:sp>
      <p:sp>
        <p:nvSpPr>
          <p:cNvPr id="19" name="Text 16"/>
          <p:cNvSpPr txBox="1"/>
          <p:nvPr/>
        </p:nvSpPr>
        <p:spPr>
          <a:xfrm>
            <a:off x="530352" y="1810512"/>
            <a:ext cx="28072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Note</a:t>
            </a:r>
            <a:endParaRPr lang="en-US" sz="1100" dirty="0"/>
          </a:p>
        </p:txBody>
      </p:sp>
      <p:sp>
        <p:nvSpPr>
          <p:cNvPr id="20" name="Shape 17"/>
          <p:cNvSpPr/>
          <p:nvPr/>
        </p:nvSpPr>
        <p:spPr>
          <a:xfrm>
            <a:off x="457200" y="2267712"/>
            <a:ext cx="11274552" cy="457200"/>
          </a:xfrm>
          <a:prstGeom prst="roundRect">
            <a:avLst>
              <a:gd name="adj" fmla="val 10000"/>
            </a:avLst>
          </a:prstGeom>
          <a:solidFill>
            <a:srgbClr val="FFFFFF"/>
          </a:solidFill>
          <a:ln w="9525">
            <a:solidFill>
              <a:srgbClr val="D8D0BF"/>
            </a:solidFill>
            <a:prstDash val="solid"/>
          </a:ln>
        </p:spPr>
      </p:sp>
      <p:sp>
        <p:nvSpPr>
          <p:cNvPr id="21" name="Text 18"/>
          <p:cNvSpPr txBox="1"/>
          <p:nvPr/>
        </p:nvSpPr>
        <p:spPr>
          <a:xfrm>
            <a:off x="8805672" y="2286000"/>
            <a:ext cx="2834640" cy="283464"/>
          </a:xfrm>
          <a:prstGeom prst="rect">
            <a:avLst/>
          </a:prstGeom>
          <a:noFill/>
          <a:ln/>
        </p:spPr>
        <p:txBody>
          <a:bodyPr wrap="square" lIns="0" tIns="0" rIns="0" bIns="0" rtlCol="0" anchor="ctr"/>
          <a:lstStyle/>
          <a:p>
            <a:pPr rtl="1" algn="ctr" indent="0" marL="0">
              <a:buNone/>
            </a:pPr>
            <a:r>
              <a:rPr lang="ar-SA" altLang="en-US" sz="1300" b="1" dirty="0">
                <a:solidFill>
                  <a:srgbClr val="1B3B6F"/>
                </a:solidFill>
                <a:latin typeface="Amiri" pitchFamily="34" charset="0"/>
                <a:ea typeface="Amiri" pitchFamily="34" charset="-122"/>
                <a:cs typeface="Amiri" pitchFamily="34" charset="-120"/>
              </a:rPr>
              <a:t>نُقَلِّلُ مِنْ</a:t>
            </a:r>
            <a:endParaRPr lang="ar-SA" sz="1300" dirty="0"/>
          </a:p>
        </p:txBody>
      </p:sp>
      <p:sp>
        <p:nvSpPr>
          <p:cNvPr id="22" name="Text 19"/>
          <p:cNvSpPr txBox="1"/>
          <p:nvPr/>
        </p:nvSpPr>
        <p:spPr>
          <a:xfrm>
            <a:off x="8759952" y="2542032"/>
            <a:ext cx="2926080" cy="173736"/>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nu-qal-li-lu min</a:t>
            </a:r>
            <a:endParaRPr lang="en-US" sz="950" dirty="0"/>
          </a:p>
        </p:txBody>
      </p:sp>
      <p:sp>
        <p:nvSpPr>
          <p:cNvPr id="23" name="Text 20"/>
          <p:cNvSpPr txBox="1"/>
          <p:nvPr/>
        </p:nvSpPr>
        <p:spPr>
          <a:xfrm>
            <a:off x="6446520" y="2267712"/>
            <a:ext cx="2194560" cy="45720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we reduce</a:t>
            </a:r>
            <a:endParaRPr lang="en-US" sz="1100" dirty="0"/>
          </a:p>
        </p:txBody>
      </p:sp>
      <p:sp>
        <p:nvSpPr>
          <p:cNvPr id="24" name="Text 21"/>
          <p:cNvSpPr txBox="1"/>
          <p:nvPr/>
        </p:nvSpPr>
        <p:spPr>
          <a:xfrm>
            <a:off x="3502152" y="2267712"/>
            <a:ext cx="2743200" cy="457200"/>
          </a:xfrm>
          <a:prstGeom prst="rect">
            <a:avLst/>
          </a:prstGeom>
          <a:noFill/>
          <a:ln/>
        </p:spPr>
        <p:txBody>
          <a:bodyPr wrap="square" lIns="0" tIns="0" rIns="0" bIns="0" rtlCol="0" anchor="ctr"/>
          <a:lstStyle/>
          <a:p>
            <a:pPr rtl="1" algn="ctr" indent="0" marL="0">
              <a:buNone/>
            </a:pPr>
            <a:r>
              <a:rPr lang="ar-SA" altLang="en-US" sz="2100" b="1" dirty="0">
                <a:solidFill>
                  <a:srgbClr val="0E7C86"/>
                </a:solidFill>
                <a:latin typeface="Amiri" pitchFamily="34" charset="0"/>
                <a:ea typeface="Amiri" pitchFamily="34" charset="-122"/>
                <a:cs typeface="Amiri" pitchFamily="34" charset="-120"/>
              </a:rPr>
              <a:t>أَنْ</a:t>
            </a:r>
            <a:pPr rtl="1" algn="ctr" indent="0" marL="0">
              <a:buNone/>
            </a:pPr>
            <a:r>
              <a:rPr lang="ar-SA" altLang="en-US" sz="2100" b="1" dirty="0">
                <a:solidFill>
                  <a:srgbClr val="1B3B6F"/>
                </a:solidFill>
                <a:latin typeface="Amiri" pitchFamily="34" charset="0"/>
                <a:ea typeface="Amiri" pitchFamily="34" charset="-122"/>
                <a:cs typeface="Amiri" pitchFamily="34" charset="-120"/>
              </a:rPr>
              <a:t> </a:t>
            </a:r>
            <a:pPr rtl="1" algn="ctr" indent="0" marL="0">
              <a:buNone/>
            </a:pPr>
            <a:r>
              <a:rPr lang="ar-SA" altLang="en-US" sz="2100" b="1" dirty="0">
                <a:solidFill>
                  <a:srgbClr val="D6336C"/>
                </a:solidFill>
                <a:latin typeface="Amiri" pitchFamily="34" charset="0"/>
                <a:ea typeface="Amiri" pitchFamily="34" charset="-122"/>
                <a:cs typeface="Amiri" pitchFamily="34" charset="-120"/>
              </a:rPr>
              <a:t>نُقَلِّلَ</a:t>
            </a:r>
            <a:endParaRPr lang="ar-SA" sz="2100" dirty="0"/>
          </a:p>
        </p:txBody>
      </p:sp>
      <p:sp>
        <p:nvSpPr>
          <p:cNvPr id="25" name="Text 22"/>
          <p:cNvSpPr txBox="1"/>
          <p:nvPr/>
        </p:nvSpPr>
        <p:spPr>
          <a:xfrm>
            <a:off x="566928" y="2267712"/>
            <a:ext cx="2770632" cy="457200"/>
          </a:xfrm>
          <a:prstGeom prst="rect">
            <a:avLst/>
          </a:prstGeom>
          <a:noFill/>
          <a:ln/>
        </p:spPr>
        <p:txBody>
          <a:bodyPr wrap="square" lIns="0" tIns="0" rIns="0" bIns="0" rtlCol="0" anchor="ctr"/>
          <a:lstStyle/>
          <a:p>
            <a:pPr algn="l" indent="0" marL="0">
              <a:buNone/>
            </a:pPr>
            <a:r>
              <a:rPr lang="en-US" sz="1100" i="1" dirty="0">
                <a:solidFill>
                  <a:srgbClr val="5A6472"/>
                </a:solidFill>
                <a:latin typeface="Calibri" pitchFamily="34" charset="0"/>
                <a:ea typeface="Calibri" pitchFamily="34" charset="-122"/>
                <a:cs typeface="Calibri" pitchFamily="34" charset="-120"/>
              </a:rPr>
              <a:t>-u → -a (ḍamma → fatḥa)</a:t>
            </a:r>
            <a:endParaRPr lang="en-US" sz="1100" dirty="0"/>
          </a:p>
        </p:txBody>
      </p:sp>
      <p:sp>
        <p:nvSpPr>
          <p:cNvPr id="26" name="Shape 23"/>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7" name="Text 24"/>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28" name="Shape 25"/>
          <p:cNvSpPr/>
          <p:nvPr/>
        </p:nvSpPr>
        <p:spPr>
          <a:xfrm>
            <a:off x="457200" y="2779776"/>
            <a:ext cx="11274552" cy="457200"/>
          </a:xfrm>
          <a:prstGeom prst="roundRect">
            <a:avLst>
              <a:gd name="adj" fmla="val 10000"/>
            </a:avLst>
          </a:prstGeom>
          <a:solidFill>
            <a:srgbClr val="F4F1EA"/>
          </a:solidFill>
          <a:ln w="9525">
            <a:solidFill>
              <a:srgbClr val="D8D0BF"/>
            </a:solidFill>
            <a:prstDash val="solid"/>
          </a:ln>
        </p:spPr>
      </p:sp>
      <p:sp>
        <p:nvSpPr>
          <p:cNvPr id="29" name="Text 26"/>
          <p:cNvSpPr txBox="1"/>
          <p:nvPr/>
        </p:nvSpPr>
        <p:spPr>
          <a:xfrm>
            <a:off x="8805672" y="2798064"/>
            <a:ext cx="2834640" cy="283464"/>
          </a:xfrm>
          <a:prstGeom prst="rect">
            <a:avLst/>
          </a:prstGeom>
          <a:noFill/>
          <a:ln/>
        </p:spPr>
        <p:txBody>
          <a:bodyPr wrap="square" lIns="0" tIns="0" rIns="0" bIns="0" rtlCol="0" anchor="ctr"/>
          <a:lstStyle/>
          <a:p>
            <a:pPr rtl="1" algn="ctr" indent="0" marL="0">
              <a:buNone/>
            </a:pPr>
            <a:r>
              <a:rPr lang="ar-SA" altLang="en-US" sz="1300" b="1" dirty="0">
                <a:solidFill>
                  <a:srgbClr val="1B3B6F"/>
                </a:solidFill>
                <a:latin typeface="Amiri" pitchFamily="34" charset="0"/>
                <a:ea typeface="Amiri" pitchFamily="34" charset="-122"/>
                <a:cs typeface="Amiri" pitchFamily="34" charset="-120"/>
              </a:rPr>
              <a:t>نُوَفِّرُ</a:t>
            </a:r>
            <a:endParaRPr lang="ar-SA" sz="1300" dirty="0"/>
          </a:p>
        </p:txBody>
      </p:sp>
      <p:sp>
        <p:nvSpPr>
          <p:cNvPr id="30" name="Text 27"/>
          <p:cNvSpPr txBox="1"/>
          <p:nvPr/>
        </p:nvSpPr>
        <p:spPr>
          <a:xfrm>
            <a:off x="8759952" y="3054096"/>
            <a:ext cx="2926080" cy="173736"/>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nu-waf-fi-ru</a:t>
            </a:r>
            <a:endParaRPr lang="en-US" sz="950" dirty="0"/>
          </a:p>
        </p:txBody>
      </p:sp>
      <p:sp>
        <p:nvSpPr>
          <p:cNvPr id="31" name="Text 28"/>
          <p:cNvSpPr txBox="1"/>
          <p:nvPr/>
        </p:nvSpPr>
        <p:spPr>
          <a:xfrm>
            <a:off x="6446520" y="2779776"/>
            <a:ext cx="2194560" cy="45720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we save, conserve</a:t>
            </a:r>
            <a:endParaRPr lang="en-US" sz="1100" dirty="0"/>
          </a:p>
        </p:txBody>
      </p:sp>
      <p:sp>
        <p:nvSpPr>
          <p:cNvPr id="32" name="Text 29"/>
          <p:cNvSpPr txBox="1"/>
          <p:nvPr/>
        </p:nvSpPr>
        <p:spPr>
          <a:xfrm>
            <a:off x="3502152" y="2779776"/>
            <a:ext cx="2743200" cy="457200"/>
          </a:xfrm>
          <a:prstGeom prst="rect">
            <a:avLst/>
          </a:prstGeom>
          <a:noFill/>
          <a:ln/>
        </p:spPr>
        <p:txBody>
          <a:bodyPr wrap="square" lIns="0" tIns="0" rIns="0" bIns="0" rtlCol="0" anchor="ctr"/>
          <a:lstStyle/>
          <a:p>
            <a:pPr rtl="1" algn="ctr" indent="0" marL="0">
              <a:buNone/>
            </a:pPr>
            <a:r>
              <a:rPr lang="ar-SA" altLang="en-US" sz="2100" b="1" dirty="0">
                <a:solidFill>
                  <a:srgbClr val="0E7C86"/>
                </a:solidFill>
                <a:latin typeface="Amiri" pitchFamily="34" charset="0"/>
                <a:ea typeface="Amiri" pitchFamily="34" charset="-122"/>
                <a:cs typeface="Amiri" pitchFamily="34" charset="-120"/>
              </a:rPr>
              <a:t>أَنْ</a:t>
            </a:r>
            <a:pPr rtl="1" algn="ctr" indent="0" marL="0">
              <a:buNone/>
            </a:pPr>
            <a:r>
              <a:rPr lang="ar-SA" altLang="en-US" sz="2100" b="1" dirty="0">
                <a:solidFill>
                  <a:srgbClr val="1B3B6F"/>
                </a:solidFill>
                <a:latin typeface="Amiri" pitchFamily="34" charset="0"/>
                <a:ea typeface="Amiri" pitchFamily="34" charset="-122"/>
                <a:cs typeface="Amiri" pitchFamily="34" charset="-120"/>
              </a:rPr>
              <a:t> </a:t>
            </a:r>
            <a:pPr rtl="1" algn="ctr" indent="0" marL="0">
              <a:buNone/>
            </a:pPr>
            <a:r>
              <a:rPr lang="ar-SA" altLang="en-US" sz="2100" b="1" dirty="0">
                <a:solidFill>
                  <a:srgbClr val="D6336C"/>
                </a:solidFill>
                <a:latin typeface="Amiri" pitchFamily="34" charset="0"/>
                <a:ea typeface="Amiri" pitchFamily="34" charset="-122"/>
                <a:cs typeface="Amiri" pitchFamily="34" charset="-120"/>
              </a:rPr>
              <a:t>نُوَفِّرَ</a:t>
            </a:r>
            <a:endParaRPr lang="ar-SA" sz="2100" dirty="0"/>
          </a:p>
        </p:txBody>
      </p:sp>
      <p:sp>
        <p:nvSpPr>
          <p:cNvPr id="33" name="Text 30"/>
          <p:cNvSpPr txBox="1"/>
          <p:nvPr/>
        </p:nvSpPr>
        <p:spPr>
          <a:xfrm>
            <a:off x="566928" y="2779776"/>
            <a:ext cx="2770632" cy="457200"/>
          </a:xfrm>
          <a:prstGeom prst="rect">
            <a:avLst/>
          </a:prstGeom>
          <a:noFill/>
          <a:ln/>
        </p:spPr>
        <p:txBody>
          <a:bodyPr wrap="square" lIns="0" tIns="0" rIns="0" bIns="0" rtlCol="0" anchor="ctr"/>
          <a:lstStyle/>
          <a:p>
            <a:pPr algn="l" indent="0" marL="0">
              <a:buNone/>
            </a:pPr>
            <a:r>
              <a:rPr lang="en-US" sz="1100" i="1" dirty="0">
                <a:solidFill>
                  <a:srgbClr val="5A6472"/>
                </a:solidFill>
                <a:latin typeface="Calibri" pitchFamily="34" charset="0"/>
                <a:ea typeface="Calibri" pitchFamily="34" charset="-122"/>
                <a:cs typeface="Calibri" pitchFamily="34" charset="-120"/>
              </a:rPr>
              <a:t>-u → -a (ḍamma → fatḥa)</a:t>
            </a:r>
            <a:endParaRPr lang="en-US" sz="1100" dirty="0"/>
          </a:p>
        </p:txBody>
      </p:sp>
      <p:sp>
        <p:nvSpPr>
          <p:cNvPr id="34" name="Shape 31"/>
          <p:cNvSpPr/>
          <p:nvPr/>
        </p:nvSpPr>
        <p:spPr>
          <a:xfrm>
            <a:off x="11091672" y="2825496"/>
            <a:ext cx="548640" cy="182880"/>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11091672" y="282549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36" name="Shape 33"/>
          <p:cNvSpPr/>
          <p:nvPr/>
        </p:nvSpPr>
        <p:spPr>
          <a:xfrm>
            <a:off x="457200" y="3291840"/>
            <a:ext cx="11274552" cy="457200"/>
          </a:xfrm>
          <a:prstGeom prst="roundRect">
            <a:avLst>
              <a:gd name="adj" fmla="val 10000"/>
            </a:avLst>
          </a:prstGeom>
          <a:solidFill>
            <a:srgbClr val="FFFFFF"/>
          </a:solidFill>
          <a:ln w="9525">
            <a:solidFill>
              <a:srgbClr val="D8D0BF"/>
            </a:solidFill>
            <a:prstDash val="solid"/>
          </a:ln>
        </p:spPr>
      </p:sp>
      <p:sp>
        <p:nvSpPr>
          <p:cNvPr id="37" name="Text 34"/>
          <p:cNvSpPr txBox="1"/>
          <p:nvPr/>
        </p:nvSpPr>
        <p:spPr>
          <a:xfrm>
            <a:off x="8805672" y="3310128"/>
            <a:ext cx="2834640" cy="283464"/>
          </a:xfrm>
          <a:prstGeom prst="rect">
            <a:avLst/>
          </a:prstGeom>
          <a:noFill/>
          <a:ln/>
        </p:spPr>
        <p:txBody>
          <a:bodyPr wrap="square" lIns="0" tIns="0" rIns="0" bIns="0" rtlCol="0" anchor="ctr"/>
          <a:lstStyle/>
          <a:p>
            <a:pPr rtl="1" algn="ctr" indent="0" marL="0">
              <a:buNone/>
            </a:pPr>
            <a:r>
              <a:rPr lang="ar-SA" altLang="en-US" sz="1300" b="1" dirty="0">
                <a:solidFill>
                  <a:srgbClr val="1B3B6F"/>
                </a:solidFill>
                <a:latin typeface="Amiri" pitchFamily="34" charset="0"/>
                <a:ea typeface="Amiri" pitchFamily="34" charset="-122"/>
                <a:cs typeface="Amiri" pitchFamily="34" charset="-120"/>
              </a:rPr>
              <a:t>نَزْرَعُ</a:t>
            </a:r>
            <a:endParaRPr lang="ar-SA" sz="1300" dirty="0"/>
          </a:p>
        </p:txBody>
      </p:sp>
      <p:sp>
        <p:nvSpPr>
          <p:cNvPr id="38" name="Text 35"/>
          <p:cNvSpPr txBox="1"/>
          <p:nvPr/>
        </p:nvSpPr>
        <p:spPr>
          <a:xfrm>
            <a:off x="8759952" y="3566160"/>
            <a:ext cx="2926080" cy="173736"/>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naz-ra-ʿu</a:t>
            </a:r>
            <a:endParaRPr lang="en-US" sz="950" dirty="0"/>
          </a:p>
        </p:txBody>
      </p:sp>
      <p:sp>
        <p:nvSpPr>
          <p:cNvPr id="39" name="Text 36"/>
          <p:cNvSpPr txBox="1"/>
          <p:nvPr/>
        </p:nvSpPr>
        <p:spPr>
          <a:xfrm>
            <a:off x="6446520" y="3291840"/>
            <a:ext cx="2194560" cy="45720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we plant</a:t>
            </a:r>
            <a:endParaRPr lang="en-US" sz="1100" dirty="0"/>
          </a:p>
        </p:txBody>
      </p:sp>
      <p:sp>
        <p:nvSpPr>
          <p:cNvPr id="40" name="Text 37"/>
          <p:cNvSpPr txBox="1"/>
          <p:nvPr/>
        </p:nvSpPr>
        <p:spPr>
          <a:xfrm>
            <a:off x="3502152" y="3291840"/>
            <a:ext cx="2743200" cy="457200"/>
          </a:xfrm>
          <a:prstGeom prst="rect">
            <a:avLst/>
          </a:prstGeom>
          <a:noFill/>
          <a:ln/>
        </p:spPr>
        <p:txBody>
          <a:bodyPr wrap="square" lIns="0" tIns="0" rIns="0" bIns="0" rtlCol="0" anchor="ctr"/>
          <a:lstStyle/>
          <a:p>
            <a:pPr rtl="1" algn="ctr" indent="0" marL="0">
              <a:buNone/>
            </a:pPr>
            <a:r>
              <a:rPr lang="ar-SA" altLang="en-US" sz="2100" b="1" dirty="0">
                <a:solidFill>
                  <a:srgbClr val="0E7C86"/>
                </a:solidFill>
                <a:latin typeface="Amiri" pitchFamily="34" charset="0"/>
                <a:ea typeface="Amiri" pitchFamily="34" charset="-122"/>
                <a:cs typeface="Amiri" pitchFamily="34" charset="-120"/>
              </a:rPr>
              <a:t>أَنْ</a:t>
            </a:r>
            <a:pPr rtl="1" algn="ctr" indent="0" marL="0">
              <a:buNone/>
            </a:pPr>
            <a:r>
              <a:rPr lang="ar-SA" altLang="en-US" sz="2100" b="1" dirty="0">
                <a:solidFill>
                  <a:srgbClr val="1B3B6F"/>
                </a:solidFill>
                <a:latin typeface="Amiri" pitchFamily="34" charset="0"/>
                <a:ea typeface="Amiri" pitchFamily="34" charset="-122"/>
                <a:cs typeface="Amiri" pitchFamily="34" charset="-120"/>
              </a:rPr>
              <a:t> </a:t>
            </a:r>
            <a:pPr rtl="1" algn="ctr" indent="0" marL="0">
              <a:buNone/>
            </a:pPr>
            <a:r>
              <a:rPr lang="ar-SA" altLang="en-US" sz="2100" b="1" dirty="0">
                <a:solidFill>
                  <a:srgbClr val="D6336C"/>
                </a:solidFill>
                <a:latin typeface="Amiri" pitchFamily="34" charset="0"/>
                <a:ea typeface="Amiri" pitchFamily="34" charset="-122"/>
                <a:cs typeface="Amiri" pitchFamily="34" charset="-120"/>
              </a:rPr>
              <a:t>نَزْرَعَ</a:t>
            </a:r>
            <a:endParaRPr lang="ar-SA" sz="2100" dirty="0"/>
          </a:p>
        </p:txBody>
      </p:sp>
      <p:sp>
        <p:nvSpPr>
          <p:cNvPr id="41" name="Text 38"/>
          <p:cNvSpPr txBox="1"/>
          <p:nvPr/>
        </p:nvSpPr>
        <p:spPr>
          <a:xfrm>
            <a:off x="566928" y="3291840"/>
            <a:ext cx="2770632" cy="457200"/>
          </a:xfrm>
          <a:prstGeom prst="rect">
            <a:avLst/>
          </a:prstGeom>
          <a:noFill/>
          <a:ln/>
        </p:spPr>
        <p:txBody>
          <a:bodyPr wrap="square" lIns="0" tIns="0" rIns="0" bIns="0" rtlCol="0" anchor="ctr"/>
          <a:lstStyle/>
          <a:p>
            <a:pPr algn="l" indent="0" marL="0">
              <a:buNone/>
            </a:pPr>
            <a:r>
              <a:rPr lang="en-US" sz="1100" i="1" dirty="0">
                <a:solidFill>
                  <a:srgbClr val="5A6472"/>
                </a:solidFill>
                <a:latin typeface="Calibri" pitchFamily="34" charset="0"/>
                <a:ea typeface="Calibri" pitchFamily="34" charset="-122"/>
                <a:cs typeface="Calibri" pitchFamily="34" charset="-120"/>
              </a:rPr>
              <a:t>-u → -a (ḍamma → fatḥa)</a:t>
            </a:r>
            <a:endParaRPr lang="en-US" sz="1100" dirty="0"/>
          </a:p>
        </p:txBody>
      </p:sp>
      <p:sp>
        <p:nvSpPr>
          <p:cNvPr id="42" name="Shape 39"/>
          <p:cNvSpPr/>
          <p:nvPr/>
        </p:nvSpPr>
        <p:spPr>
          <a:xfrm>
            <a:off x="11091672" y="3337560"/>
            <a:ext cx="548640" cy="182880"/>
          </a:xfrm>
          <a:prstGeom prst="roundRect">
            <a:avLst>
              <a:gd name="adj" fmla="val 50000"/>
            </a:avLst>
          </a:prstGeom>
          <a:solidFill>
            <a:srgbClr val="2E8B57"/>
          </a:solidFill>
          <a:ln w="12700">
            <a:solidFill>
              <a:srgbClr val="2E8B57"/>
            </a:solidFill>
            <a:prstDash val="solid"/>
          </a:ln>
        </p:spPr>
      </p:sp>
      <p:sp>
        <p:nvSpPr>
          <p:cNvPr id="43" name="Text 40"/>
          <p:cNvSpPr txBox="1"/>
          <p:nvPr/>
        </p:nvSpPr>
        <p:spPr>
          <a:xfrm>
            <a:off x="11091672" y="333756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44" name="Shape 41"/>
          <p:cNvSpPr/>
          <p:nvPr/>
        </p:nvSpPr>
        <p:spPr>
          <a:xfrm>
            <a:off x="457200" y="3803904"/>
            <a:ext cx="11274552" cy="457200"/>
          </a:xfrm>
          <a:prstGeom prst="roundRect">
            <a:avLst>
              <a:gd name="adj" fmla="val 10000"/>
            </a:avLst>
          </a:prstGeom>
          <a:solidFill>
            <a:srgbClr val="F4F1EA"/>
          </a:solidFill>
          <a:ln w="9525">
            <a:solidFill>
              <a:srgbClr val="D8D0BF"/>
            </a:solidFill>
            <a:prstDash val="solid"/>
          </a:ln>
        </p:spPr>
      </p:sp>
      <p:sp>
        <p:nvSpPr>
          <p:cNvPr id="45" name="Text 42"/>
          <p:cNvSpPr txBox="1"/>
          <p:nvPr/>
        </p:nvSpPr>
        <p:spPr>
          <a:xfrm>
            <a:off x="8805672" y="3822192"/>
            <a:ext cx="2834640" cy="283464"/>
          </a:xfrm>
          <a:prstGeom prst="rect">
            <a:avLst/>
          </a:prstGeom>
          <a:noFill/>
          <a:ln/>
        </p:spPr>
        <p:txBody>
          <a:bodyPr wrap="square" lIns="0" tIns="0" rIns="0" bIns="0" rtlCol="0" anchor="ctr"/>
          <a:lstStyle/>
          <a:p>
            <a:pPr rtl="1" algn="ctr" indent="0" marL="0">
              <a:buNone/>
            </a:pPr>
            <a:r>
              <a:rPr lang="ar-SA" altLang="en-US" sz="1300" b="1" dirty="0">
                <a:solidFill>
                  <a:srgbClr val="1B3B6F"/>
                </a:solidFill>
                <a:latin typeface="Amiri" pitchFamily="34" charset="0"/>
                <a:ea typeface="Amiri" pitchFamily="34" charset="-122"/>
                <a:cs typeface="Amiri" pitchFamily="34" charset="-120"/>
              </a:rPr>
              <a:t>نُعِيدُ التَّدْوِيرَ</a:t>
            </a:r>
            <a:endParaRPr lang="ar-SA" sz="1300" dirty="0"/>
          </a:p>
        </p:txBody>
      </p:sp>
      <p:sp>
        <p:nvSpPr>
          <p:cNvPr id="46" name="Text 43"/>
          <p:cNvSpPr txBox="1"/>
          <p:nvPr/>
        </p:nvSpPr>
        <p:spPr>
          <a:xfrm>
            <a:off x="8759952" y="4078224"/>
            <a:ext cx="2926080" cy="173736"/>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nu-ʿī-du t-tad-wīr</a:t>
            </a:r>
            <a:endParaRPr lang="en-US" sz="950" dirty="0"/>
          </a:p>
        </p:txBody>
      </p:sp>
      <p:sp>
        <p:nvSpPr>
          <p:cNvPr id="47" name="Text 44"/>
          <p:cNvSpPr txBox="1"/>
          <p:nvPr/>
        </p:nvSpPr>
        <p:spPr>
          <a:xfrm>
            <a:off x="6446520" y="3803904"/>
            <a:ext cx="2194560" cy="45720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we recycle</a:t>
            </a:r>
            <a:endParaRPr lang="en-US" sz="1100" dirty="0"/>
          </a:p>
        </p:txBody>
      </p:sp>
      <p:sp>
        <p:nvSpPr>
          <p:cNvPr id="48" name="Text 45"/>
          <p:cNvSpPr txBox="1"/>
          <p:nvPr/>
        </p:nvSpPr>
        <p:spPr>
          <a:xfrm>
            <a:off x="3502152" y="3803904"/>
            <a:ext cx="2743200" cy="457200"/>
          </a:xfrm>
          <a:prstGeom prst="rect">
            <a:avLst/>
          </a:prstGeom>
          <a:noFill/>
          <a:ln/>
        </p:spPr>
        <p:txBody>
          <a:bodyPr wrap="square" lIns="0" tIns="0" rIns="0" bIns="0" rtlCol="0" anchor="ctr"/>
          <a:lstStyle/>
          <a:p>
            <a:pPr rtl="1" algn="ctr" indent="0" marL="0">
              <a:buNone/>
            </a:pPr>
            <a:r>
              <a:rPr lang="ar-SA" altLang="en-US" sz="2100" b="1" dirty="0">
                <a:solidFill>
                  <a:srgbClr val="0E7C86"/>
                </a:solidFill>
                <a:latin typeface="Amiri" pitchFamily="34" charset="0"/>
                <a:ea typeface="Amiri" pitchFamily="34" charset="-122"/>
                <a:cs typeface="Amiri" pitchFamily="34" charset="-120"/>
              </a:rPr>
              <a:t>أَنْ</a:t>
            </a:r>
            <a:pPr rtl="1" algn="ctr" indent="0" marL="0">
              <a:buNone/>
            </a:pPr>
            <a:r>
              <a:rPr lang="ar-SA" altLang="en-US" sz="2100" b="1" dirty="0">
                <a:solidFill>
                  <a:srgbClr val="1B3B6F"/>
                </a:solidFill>
                <a:latin typeface="Amiri" pitchFamily="34" charset="0"/>
                <a:ea typeface="Amiri" pitchFamily="34" charset="-122"/>
                <a:cs typeface="Amiri" pitchFamily="34" charset="-120"/>
              </a:rPr>
              <a:t> </a:t>
            </a:r>
            <a:pPr rtl="1" algn="ctr" indent="0" marL="0">
              <a:buNone/>
            </a:pPr>
            <a:r>
              <a:rPr lang="ar-SA" altLang="en-US" sz="2100" b="1" dirty="0">
                <a:solidFill>
                  <a:srgbClr val="D6336C"/>
                </a:solidFill>
                <a:latin typeface="Amiri" pitchFamily="34" charset="0"/>
                <a:ea typeface="Amiri" pitchFamily="34" charset="-122"/>
                <a:cs typeface="Amiri" pitchFamily="34" charset="-120"/>
              </a:rPr>
              <a:t>نُعِيدَ</a:t>
            </a:r>
            <a:endParaRPr lang="ar-SA" sz="2100" dirty="0"/>
          </a:p>
        </p:txBody>
      </p:sp>
      <p:sp>
        <p:nvSpPr>
          <p:cNvPr id="49" name="Text 46"/>
          <p:cNvSpPr txBox="1"/>
          <p:nvPr/>
        </p:nvSpPr>
        <p:spPr>
          <a:xfrm>
            <a:off x="566928" y="3803904"/>
            <a:ext cx="2770632" cy="457200"/>
          </a:xfrm>
          <a:prstGeom prst="rect">
            <a:avLst/>
          </a:prstGeom>
          <a:noFill/>
          <a:ln/>
        </p:spPr>
        <p:txBody>
          <a:bodyPr wrap="square" lIns="0" tIns="0" rIns="0" bIns="0" rtlCol="0" anchor="ctr"/>
          <a:lstStyle/>
          <a:p>
            <a:pPr algn="l" indent="0" marL="0">
              <a:buNone/>
            </a:pPr>
            <a:r>
              <a:rPr lang="en-US" sz="1100" i="1" dirty="0">
                <a:solidFill>
                  <a:srgbClr val="5A6472"/>
                </a:solidFill>
                <a:latin typeface="Calibri" pitchFamily="34" charset="0"/>
                <a:ea typeface="Calibri" pitchFamily="34" charset="-122"/>
                <a:cs typeface="Calibri" pitchFamily="34" charset="-120"/>
              </a:rPr>
              <a:t>-u → -a (ḍamma → fatḥa)</a:t>
            </a:r>
            <a:endParaRPr lang="en-US" sz="1100" dirty="0"/>
          </a:p>
        </p:txBody>
      </p:sp>
      <p:sp>
        <p:nvSpPr>
          <p:cNvPr id="50" name="Shape 47"/>
          <p:cNvSpPr/>
          <p:nvPr/>
        </p:nvSpPr>
        <p:spPr>
          <a:xfrm>
            <a:off x="11091672" y="3849624"/>
            <a:ext cx="548640" cy="182880"/>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11091672" y="384962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52" name="Shape 49"/>
          <p:cNvSpPr/>
          <p:nvPr/>
        </p:nvSpPr>
        <p:spPr>
          <a:xfrm>
            <a:off x="457200" y="4315968"/>
            <a:ext cx="11274552" cy="457200"/>
          </a:xfrm>
          <a:prstGeom prst="roundRect">
            <a:avLst>
              <a:gd name="adj" fmla="val 10000"/>
            </a:avLst>
          </a:prstGeom>
          <a:solidFill>
            <a:srgbClr val="FFFFFF"/>
          </a:solidFill>
          <a:ln w="9525">
            <a:solidFill>
              <a:srgbClr val="D8D0BF"/>
            </a:solidFill>
            <a:prstDash val="solid"/>
          </a:ln>
        </p:spPr>
      </p:sp>
      <p:sp>
        <p:nvSpPr>
          <p:cNvPr id="53" name="Text 50"/>
          <p:cNvSpPr txBox="1"/>
          <p:nvPr/>
        </p:nvSpPr>
        <p:spPr>
          <a:xfrm>
            <a:off x="8805672" y="4334256"/>
            <a:ext cx="2834640" cy="283464"/>
          </a:xfrm>
          <a:prstGeom prst="rect">
            <a:avLst/>
          </a:prstGeom>
          <a:noFill/>
          <a:ln/>
        </p:spPr>
        <p:txBody>
          <a:bodyPr wrap="square" lIns="0" tIns="0" rIns="0" bIns="0" rtlCol="0" anchor="ctr"/>
          <a:lstStyle/>
          <a:p>
            <a:pPr rtl="1" algn="ctr" indent="0" marL="0">
              <a:buNone/>
            </a:pPr>
            <a:r>
              <a:rPr lang="ar-SA" altLang="en-US" sz="1300" b="1" dirty="0">
                <a:solidFill>
                  <a:srgbClr val="1B3B6F"/>
                </a:solidFill>
                <a:latin typeface="Amiri" pitchFamily="34" charset="0"/>
                <a:ea typeface="Amiri" pitchFamily="34" charset="-122"/>
                <a:cs typeface="Amiri" pitchFamily="34" charset="-120"/>
              </a:rPr>
              <a:t>نَسْتَخْدِمُ</a:t>
            </a:r>
            <a:endParaRPr lang="ar-SA" sz="1300" dirty="0"/>
          </a:p>
        </p:txBody>
      </p:sp>
      <p:sp>
        <p:nvSpPr>
          <p:cNvPr id="54" name="Text 51"/>
          <p:cNvSpPr txBox="1"/>
          <p:nvPr/>
        </p:nvSpPr>
        <p:spPr>
          <a:xfrm>
            <a:off x="8759952" y="4590288"/>
            <a:ext cx="2926080" cy="173736"/>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nas-takh-di-mu</a:t>
            </a:r>
            <a:endParaRPr lang="en-US" sz="950" dirty="0"/>
          </a:p>
        </p:txBody>
      </p:sp>
      <p:sp>
        <p:nvSpPr>
          <p:cNvPr id="55" name="Text 52"/>
          <p:cNvSpPr txBox="1"/>
          <p:nvPr/>
        </p:nvSpPr>
        <p:spPr>
          <a:xfrm>
            <a:off x="6446520" y="4315968"/>
            <a:ext cx="2194560" cy="45720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we use</a:t>
            </a:r>
            <a:endParaRPr lang="en-US" sz="1100" dirty="0"/>
          </a:p>
        </p:txBody>
      </p:sp>
      <p:sp>
        <p:nvSpPr>
          <p:cNvPr id="56" name="Text 53"/>
          <p:cNvSpPr txBox="1"/>
          <p:nvPr/>
        </p:nvSpPr>
        <p:spPr>
          <a:xfrm>
            <a:off x="3502152" y="4315968"/>
            <a:ext cx="2743200" cy="457200"/>
          </a:xfrm>
          <a:prstGeom prst="rect">
            <a:avLst/>
          </a:prstGeom>
          <a:noFill/>
          <a:ln/>
        </p:spPr>
        <p:txBody>
          <a:bodyPr wrap="square" lIns="0" tIns="0" rIns="0" bIns="0" rtlCol="0" anchor="ctr"/>
          <a:lstStyle/>
          <a:p>
            <a:pPr rtl="1" algn="ctr" indent="0" marL="0">
              <a:buNone/>
            </a:pPr>
            <a:r>
              <a:rPr lang="ar-SA" altLang="en-US" sz="2100" b="1" dirty="0">
                <a:solidFill>
                  <a:srgbClr val="0E7C86"/>
                </a:solidFill>
                <a:latin typeface="Amiri" pitchFamily="34" charset="0"/>
                <a:ea typeface="Amiri" pitchFamily="34" charset="-122"/>
                <a:cs typeface="Amiri" pitchFamily="34" charset="-120"/>
              </a:rPr>
              <a:t>أَنْ</a:t>
            </a:r>
            <a:pPr rtl="1" algn="ctr" indent="0" marL="0">
              <a:buNone/>
            </a:pPr>
            <a:r>
              <a:rPr lang="ar-SA" altLang="en-US" sz="2100" b="1" dirty="0">
                <a:solidFill>
                  <a:srgbClr val="1B3B6F"/>
                </a:solidFill>
                <a:latin typeface="Amiri" pitchFamily="34" charset="0"/>
                <a:ea typeface="Amiri" pitchFamily="34" charset="-122"/>
                <a:cs typeface="Amiri" pitchFamily="34" charset="-120"/>
              </a:rPr>
              <a:t> </a:t>
            </a:r>
            <a:pPr rtl="1" algn="ctr" indent="0" marL="0">
              <a:buNone/>
            </a:pPr>
            <a:r>
              <a:rPr lang="ar-SA" altLang="en-US" sz="2100" b="1" dirty="0">
                <a:solidFill>
                  <a:srgbClr val="D6336C"/>
                </a:solidFill>
                <a:latin typeface="Amiri" pitchFamily="34" charset="0"/>
                <a:ea typeface="Amiri" pitchFamily="34" charset="-122"/>
                <a:cs typeface="Amiri" pitchFamily="34" charset="-120"/>
              </a:rPr>
              <a:t>نَسْتَخْدِمَ</a:t>
            </a:r>
            <a:endParaRPr lang="ar-SA" sz="2100" dirty="0"/>
          </a:p>
        </p:txBody>
      </p:sp>
      <p:sp>
        <p:nvSpPr>
          <p:cNvPr id="57" name="Text 54"/>
          <p:cNvSpPr txBox="1"/>
          <p:nvPr/>
        </p:nvSpPr>
        <p:spPr>
          <a:xfrm>
            <a:off x="566928" y="4315968"/>
            <a:ext cx="2770632" cy="457200"/>
          </a:xfrm>
          <a:prstGeom prst="rect">
            <a:avLst/>
          </a:prstGeom>
          <a:noFill/>
          <a:ln/>
        </p:spPr>
        <p:txBody>
          <a:bodyPr wrap="square" lIns="0" tIns="0" rIns="0" bIns="0" rtlCol="0" anchor="ctr"/>
          <a:lstStyle/>
          <a:p>
            <a:pPr algn="l" indent="0" marL="0">
              <a:buNone/>
            </a:pPr>
            <a:r>
              <a:rPr lang="en-US" sz="1100" i="1" dirty="0">
                <a:solidFill>
                  <a:srgbClr val="5A6472"/>
                </a:solidFill>
                <a:latin typeface="Calibri" pitchFamily="34" charset="0"/>
                <a:ea typeface="Calibri" pitchFamily="34" charset="-122"/>
                <a:cs typeface="Calibri" pitchFamily="34" charset="-120"/>
              </a:rPr>
              <a:t>-u → -a (ḍamma → fatḥa)</a:t>
            </a:r>
            <a:endParaRPr lang="en-US" sz="1100" dirty="0"/>
          </a:p>
        </p:txBody>
      </p:sp>
      <p:sp>
        <p:nvSpPr>
          <p:cNvPr id="58" name="Shape 55"/>
          <p:cNvSpPr/>
          <p:nvPr/>
        </p:nvSpPr>
        <p:spPr>
          <a:xfrm>
            <a:off x="457200" y="4828032"/>
            <a:ext cx="11274552" cy="457200"/>
          </a:xfrm>
          <a:prstGeom prst="roundRect">
            <a:avLst>
              <a:gd name="adj" fmla="val 10000"/>
            </a:avLst>
          </a:prstGeom>
          <a:solidFill>
            <a:srgbClr val="F4F1EA"/>
          </a:solidFill>
          <a:ln w="9525">
            <a:solidFill>
              <a:srgbClr val="D8D0BF"/>
            </a:solidFill>
            <a:prstDash val="solid"/>
          </a:ln>
        </p:spPr>
      </p:sp>
      <p:sp>
        <p:nvSpPr>
          <p:cNvPr id="59" name="Text 56"/>
          <p:cNvSpPr txBox="1"/>
          <p:nvPr/>
        </p:nvSpPr>
        <p:spPr>
          <a:xfrm>
            <a:off x="8805672" y="4846320"/>
            <a:ext cx="2834640" cy="283464"/>
          </a:xfrm>
          <a:prstGeom prst="rect">
            <a:avLst/>
          </a:prstGeom>
          <a:noFill/>
          <a:ln/>
        </p:spPr>
        <p:txBody>
          <a:bodyPr wrap="square" lIns="0" tIns="0" rIns="0" bIns="0" rtlCol="0" anchor="ctr"/>
          <a:lstStyle/>
          <a:p>
            <a:pPr rtl="1" algn="ctr" indent="0" marL="0">
              <a:buNone/>
            </a:pPr>
            <a:r>
              <a:rPr lang="ar-SA" altLang="en-US" sz="1300" b="1" dirty="0">
                <a:solidFill>
                  <a:srgbClr val="1B3B6F"/>
                </a:solidFill>
                <a:latin typeface="Amiri" pitchFamily="34" charset="0"/>
                <a:ea typeface="Amiri" pitchFamily="34" charset="-122"/>
                <a:cs typeface="Amiri" pitchFamily="34" charset="-120"/>
              </a:rPr>
              <a:t>نَسْتَثْمِرُ فِي</a:t>
            </a:r>
            <a:endParaRPr lang="ar-SA" sz="1300" dirty="0"/>
          </a:p>
        </p:txBody>
      </p:sp>
      <p:sp>
        <p:nvSpPr>
          <p:cNvPr id="60" name="Text 57"/>
          <p:cNvSpPr txBox="1"/>
          <p:nvPr/>
        </p:nvSpPr>
        <p:spPr>
          <a:xfrm>
            <a:off x="8759952" y="5102352"/>
            <a:ext cx="2926080" cy="173736"/>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nas-tath-mi-ru fī</a:t>
            </a:r>
            <a:endParaRPr lang="en-US" sz="950" dirty="0"/>
          </a:p>
        </p:txBody>
      </p:sp>
      <p:sp>
        <p:nvSpPr>
          <p:cNvPr id="61" name="Text 58"/>
          <p:cNvSpPr txBox="1"/>
          <p:nvPr/>
        </p:nvSpPr>
        <p:spPr>
          <a:xfrm>
            <a:off x="6446520" y="4828032"/>
            <a:ext cx="2194560" cy="45720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we invest in</a:t>
            </a:r>
            <a:endParaRPr lang="en-US" sz="1100" dirty="0"/>
          </a:p>
        </p:txBody>
      </p:sp>
      <p:sp>
        <p:nvSpPr>
          <p:cNvPr id="62" name="Text 59"/>
          <p:cNvSpPr txBox="1"/>
          <p:nvPr/>
        </p:nvSpPr>
        <p:spPr>
          <a:xfrm>
            <a:off x="3502152" y="4828032"/>
            <a:ext cx="2743200" cy="457200"/>
          </a:xfrm>
          <a:prstGeom prst="rect">
            <a:avLst/>
          </a:prstGeom>
          <a:noFill/>
          <a:ln/>
        </p:spPr>
        <p:txBody>
          <a:bodyPr wrap="square" lIns="0" tIns="0" rIns="0" bIns="0" rtlCol="0" anchor="ctr"/>
          <a:lstStyle/>
          <a:p>
            <a:pPr rtl="1" algn="ctr" indent="0" marL="0">
              <a:buNone/>
            </a:pPr>
            <a:r>
              <a:rPr lang="ar-SA" altLang="en-US" sz="2100" b="1" dirty="0">
                <a:solidFill>
                  <a:srgbClr val="0E7C86"/>
                </a:solidFill>
                <a:latin typeface="Amiri" pitchFamily="34" charset="0"/>
                <a:ea typeface="Amiri" pitchFamily="34" charset="-122"/>
                <a:cs typeface="Amiri" pitchFamily="34" charset="-120"/>
              </a:rPr>
              <a:t>أَنْ</a:t>
            </a:r>
            <a:pPr rtl="1" algn="ctr" indent="0" marL="0">
              <a:buNone/>
            </a:pPr>
            <a:r>
              <a:rPr lang="ar-SA" altLang="en-US" sz="2100" b="1" dirty="0">
                <a:solidFill>
                  <a:srgbClr val="1B3B6F"/>
                </a:solidFill>
                <a:latin typeface="Amiri" pitchFamily="34" charset="0"/>
                <a:ea typeface="Amiri" pitchFamily="34" charset="-122"/>
                <a:cs typeface="Amiri" pitchFamily="34" charset="-120"/>
              </a:rPr>
              <a:t> </a:t>
            </a:r>
            <a:pPr rtl="1" algn="ctr" indent="0" marL="0">
              <a:buNone/>
            </a:pPr>
            <a:r>
              <a:rPr lang="ar-SA" altLang="en-US" sz="2100" b="1" dirty="0">
                <a:solidFill>
                  <a:srgbClr val="D6336C"/>
                </a:solidFill>
                <a:latin typeface="Amiri" pitchFamily="34" charset="0"/>
                <a:ea typeface="Amiri" pitchFamily="34" charset="-122"/>
                <a:cs typeface="Amiri" pitchFamily="34" charset="-120"/>
              </a:rPr>
              <a:t>نَسْتَثْمِرَ</a:t>
            </a:r>
            <a:endParaRPr lang="ar-SA" sz="2100" dirty="0"/>
          </a:p>
        </p:txBody>
      </p:sp>
      <p:sp>
        <p:nvSpPr>
          <p:cNvPr id="63" name="Text 60"/>
          <p:cNvSpPr txBox="1"/>
          <p:nvPr/>
        </p:nvSpPr>
        <p:spPr>
          <a:xfrm>
            <a:off x="566928" y="4828032"/>
            <a:ext cx="2770632" cy="457200"/>
          </a:xfrm>
          <a:prstGeom prst="rect">
            <a:avLst/>
          </a:prstGeom>
          <a:noFill/>
          <a:ln/>
        </p:spPr>
        <p:txBody>
          <a:bodyPr wrap="square" lIns="0" tIns="0" rIns="0" bIns="0" rtlCol="0" anchor="ctr"/>
          <a:lstStyle/>
          <a:p>
            <a:pPr algn="l" indent="0" marL="0">
              <a:buNone/>
            </a:pPr>
            <a:r>
              <a:rPr lang="en-US" sz="1100" i="1" dirty="0">
                <a:solidFill>
                  <a:srgbClr val="5A6472"/>
                </a:solidFill>
                <a:latin typeface="Calibri" pitchFamily="34" charset="0"/>
                <a:ea typeface="Calibri" pitchFamily="34" charset="-122"/>
                <a:cs typeface="Calibri" pitchFamily="34" charset="-120"/>
              </a:rPr>
              <a:t>keep </a:t>
            </a:r>
            <a:pPr algn="l" indent="0" marL="0">
              <a:buNone/>
            </a:pPr>
            <a:r>
              <a:rPr lang="ar-SA" altLang="en-US" sz="1450" dirty="0">
                <a:solidFill>
                  <a:srgbClr val="5A6472"/>
                </a:solidFill>
                <a:latin typeface="Amiri" pitchFamily="34" charset="0"/>
                <a:ea typeface="Amiri" pitchFamily="34" charset="-122"/>
                <a:cs typeface="Amiri" pitchFamily="34" charset="-120"/>
              </a:rPr>
              <a:t>فِي</a:t>
            </a:r>
            <a:pPr algn="l" indent="0" marL="0">
              <a:buNone/>
            </a:pPr>
            <a:r>
              <a:rPr lang="en-US" sz="1100" i="1" dirty="0">
                <a:solidFill>
                  <a:srgbClr val="5A6472"/>
                </a:solidFill>
                <a:latin typeface="Calibri" pitchFamily="34" charset="0"/>
                <a:ea typeface="Calibri" pitchFamily="34" charset="-122"/>
                <a:cs typeface="Calibri" pitchFamily="34" charset="-120"/>
              </a:rPr>
              <a:t> after it</a:t>
            </a:r>
            <a:endParaRPr lang="en-US" sz="1100" dirty="0"/>
          </a:p>
        </p:txBody>
      </p:sp>
      <p:sp>
        <p:nvSpPr>
          <p:cNvPr id="64" name="Shape 61"/>
          <p:cNvSpPr/>
          <p:nvPr/>
        </p:nvSpPr>
        <p:spPr>
          <a:xfrm>
            <a:off x="457200" y="5340096"/>
            <a:ext cx="11274552" cy="457200"/>
          </a:xfrm>
          <a:prstGeom prst="roundRect">
            <a:avLst>
              <a:gd name="adj" fmla="val 10000"/>
            </a:avLst>
          </a:prstGeom>
          <a:solidFill>
            <a:srgbClr val="FFFFFF"/>
          </a:solidFill>
          <a:ln w="9525">
            <a:solidFill>
              <a:srgbClr val="D8D0BF"/>
            </a:solidFill>
            <a:prstDash val="solid"/>
          </a:ln>
        </p:spPr>
      </p:sp>
      <p:sp>
        <p:nvSpPr>
          <p:cNvPr id="65" name="Text 62"/>
          <p:cNvSpPr txBox="1"/>
          <p:nvPr/>
        </p:nvSpPr>
        <p:spPr>
          <a:xfrm>
            <a:off x="8805672" y="5358384"/>
            <a:ext cx="2834640" cy="283464"/>
          </a:xfrm>
          <a:prstGeom prst="rect">
            <a:avLst/>
          </a:prstGeom>
          <a:noFill/>
          <a:ln/>
        </p:spPr>
        <p:txBody>
          <a:bodyPr wrap="square" lIns="0" tIns="0" rIns="0" bIns="0" rtlCol="0" anchor="ctr"/>
          <a:lstStyle/>
          <a:p>
            <a:pPr rtl="1" algn="ctr" indent="0" marL="0">
              <a:buNone/>
            </a:pPr>
            <a:r>
              <a:rPr lang="ar-SA" altLang="en-US" sz="1300" b="1" dirty="0">
                <a:solidFill>
                  <a:srgbClr val="1B3B6F"/>
                </a:solidFill>
                <a:latin typeface="Amiri" pitchFamily="34" charset="0"/>
                <a:ea typeface="Amiri" pitchFamily="34" charset="-122"/>
                <a:cs typeface="Amiri" pitchFamily="34" charset="-120"/>
              </a:rPr>
              <a:t>نَتَخَلَّصُ مِنْ</a:t>
            </a:r>
            <a:endParaRPr lang="ar-SA" sz="1300" dirty="0"/>
          </a:p>
        </p:txBody>
      </p:sp>
      <p:sp>
        <p:nvSpPr>
          <p:cNvPr id="66" name="Text 63"/>
          <p:cNvSpPr txBox="1"/>
          <p:nvPr/>
        </p:nvSpPr>
        <p:spPr>
          <a:xfrm>
            <a:off x="8759952" y="5614416"/>
            <a:ext cx="2926080" cy="173736"/>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na-ta-khal-la-ṣu min</a:t>
            </a:r>
            <a:endParaRPr lang="en-US" sz="950" dirty="0"/>
          </a:p>
        </p:txBody>
      </p:sp>
      <p:sp>
        <p:nvSpPr>
          <p:cNvPr id="67" name="Text 64"/>
          <p:cNvSpPr txBox="1"/>
          <p:nvPr/>
        </p:nvSpPr>
        <p:spPr>
          <a:xfrm>
            <a:off x="6446520" y="5340096"/>
            <a:ext cx="2194560" cy="45720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we get rid of</a:t>
            </a:r>
            <a:endParaRPr lang="en-US" sz="1100" dirty="0"/>
          </a:p>
        </p:txBody>
      </p:sp>
      <p:sp>
        <p:nvSpPr>
          <p:cNvPr id="68" name="Text 65"/>
          <p:cNvSpPr txBox="1"/>
          <p:nvPr/>
        </p:nvSpPr>
        <p:spPr>
          <a:xfrm>
            <a:off x="3502152" y="5340096"/>
            <a:ext cx="2743200" cy="457200"/>
          </a:xfrm>
          <a:prstGeom prst="rect">
            <a:avLst/>
          </a:prstGeom>
          <a:noFill/>
          <a:ln/>
        </p:spPr>
        <p:txBody>
          <a:bodyPr wrap="square" lIns="0" tIns="0" rIns="0" bIns="0" rtlCol="0" anchor="ctr"/>
          <a:lstStyle/>
          <a:p>
            <a:pPr rtl="1" algn="ctr" indent="0" marL="0">
              <a:buNone/>
            </a:pPr>
            <a:r>
              <a:rPr lang="ar-SA" altLang="en-US" sz="2100" b="1" dirty="0">
                <a:solidFill>
                  <a:srgbClr val="0E7C86"/>
                </a:solidFill>
                <a:latin typeface="Amiri" pitchFamily="34" charset="0"/>
                <a:ea typeface="Amiri" pitchFamily="34" charset="-122"/>
                <a:cs typeface="Amiri" pitchFamily="34" charset="-120"/>
              </a:rPr>
              <a:t>أَنْ</a:t>
            </a:r>
            <a:pPr rtl="1" algn="ctr" indent="0" marL="0">
              <a:buNone/>
            </a:pPr>
            <a:r>
              <a:rPr lang="ar-SA" altLang="en-US" sz="2100" b="1" dirty="0">
                <a:solidFill>
                  <a:srgbClr val="1B3B6F"/>
                </a:solidFill>
                <a:latin typeface="Amiri" pitchFamily="34" charset="0"/>
                <a:ea typeface="Amiri" pitchFamily="34" charset="-122"/>
                <a:cs typeface="Amiri" pitchFamily="34" charset="-120"/>
              </a:rPr>
              <a:t> </a:t>
            </a:r>
            <a:pPr rtl="1" algn="ctr" indent="0" marL="0">
              <a:buNone/>
            </a:pPr>
            <a:r>
              <a:rPr lang="ar-SA" altLang="en-US" sz="2100" b="1" dirty="0">
                <a:solidFill>
                  <a:srgbClr val="D6336C"/>
                </a:solidFill>
                <a:latin typeface="Amiri" pitchFamily="34" charset="0"/>
                <a:ea typeface="Amiri" pitchFamily="34" charset="-122"/>
                <a:cs typeface="Amiri" pitchFamily="34" charset="-120"/>
              </a:rPr>
              <a:t>نَتَخَلَّصَ</a:t>
            </a:r>
            <a:endParaRPr lang="ar-SA" sz="2100" dirty="0"/>
          </a:p>
        </p:txBody>
      </p:sp>
      <p:sp>
        <p:nvSpPr>
          <p:cNvPr id="69" name="Text 66"/>
          <p:cNvSpPr txBox="1"/>
          <p:nvPr/>
        </p:nvSpPr>
        <p:spPr>
          <a:xfrm>
            <a:off x="566928" y="5340096"/>
            <a:ext cx="2770632" cy="457200"/>
          </a:xfrm>
          <a:prstGeom prst="rect">
            <a:avLst/>
          </a:prstGeom>
          <a:noFill/>
          <a:ln/>
        </p:spPr>
        <p:txBody>
          <a:bodyPr wrap="square" lIns="0" tIns="0" rIns="0" bIns="0" rtlCol="0" anchor="ctr"/>
          <a:lstStyle/>
          <a:p>
            <a:pPr algn="l" indent="0" marL="0">
              <a:buNone/>
            </a:pPr>
            <a:r>
              <a:rPr lang="en-US" sz="1100" i="1" dirty="0">
                <a:solidFill>
                  <a:srgbClr val="5A6472"/>
                </a:solidFill>
                <a:latin typeface="Calibri" pitchFamily="34" charset="0"/>
                <a:ea typeface="Calibri" pitchFamily="34" charset="-122"/>
                <a:cs typeface="Calibri" pitchFamily="34" charset="-120"/>
              </a:rPr>
              <a:t>keep </a:t>
            </a:r>
            <a:pPr algn="l" indent="0" marL="0">
              <a:buNone/>
            </a:pPr>
            <a:r>
              <a:rPr lang="ar-SA" altLang="en-US" sz="1450" dirty="0">
                <a:solidFill>
                  <a:srgbClr val="5A6472"/>
                </a:solidFill>
                <a:latin typeface="Amiri" pitchFamily="34" charset="0"/>
                <a:ea typeface="Amiri" pitchFamily="34" charset="-122"/>
                <a:cs typeface="Amiri" pitchFamily="34" charset="-120"/>
              </a:rPr>
              <a:t>مِنْ</a:t>
            </a:r>
            <a:pPr algn="l" indent="0" marL="0">
              <a:buNone/>
            </a:pPr>
            <a:r>
              <a:rPr lang="en-US" sz="1100" i="1" dirty="0">
                <a:solidFill>
                  <a:srgbClr val="5A6472"/>
                </a:solidFill>
                <a:latin typeface="Calibri" pitchFamily="34" charset="0"/>
                <a:ea typeface="Calibri" pitchFamily="34" charset="-122"/>
                <a:cs typeface="Calibri" pitchFamily="34" charset="-120"/>
              </a:rPr>
              <a:t> after it</a:t>
            </a:r>
            <a:endParaRPr lang="en-US" sz="1100" dirty="0"/>
          </a:p>
        </p:txBody>
      </p:sp>
      <p:sp>
        <p:nvSpPr>
          <p:cNvPr id="70" name="Shape 67"/>
          <p:cNvSpPr/>
          <p:nvPr/>
        </p:nvSpPr>
        <p:spPr>
          <a:xfrm>
            <a:off x="457200" y="5852160"/>
            <a:ext cx="11274552" cy="457200"/>
          </a:xfrm>
          <a:prstGeom prst="roundRect">
            <a:avLst>
              <a:gd name="adj" fmla="val 10000"/>
            </a:avLst>
          </a:prstGeom>
          <a:solidFill>
            <a:srgbClr val="F4F1EA"/>
          </a:solidFill>
          <a:ln w="9525">
            <a:solidFill>
              <a:srgbClr val="D8D0BF"/>
            </a:solidFill>
            <a:prstDash val="solid"/>
          </a:ln>
        </p:spPr>
      </p:sp>
      <p:sp>
        <p:nvSpPr>
          <p:cNvPr id="71" name="Text 68"/>
          <p:cNvSpPr txBox="1"/>
          <p:nvPr/>
        </p:nvSpPr>
        <p:spPr>
          <a:xfrm>
            <a:off x="8805672" y="5870448"/>
            <a:ext cx="2834640" cy="283464"/>
          </a:xfrm>
          <a:prstGeom prst="rect">
            <a:avLst/>
          </a:prstGeom>
          <a:noFill/>
          <a:ln/>
        </p:spPr>
        <p:txBody>
          <a:bodyPr wrap="square" lIns="0" tIns="0" rIns="0" bIns="0" rtlCol="0" anchor="ctr"/>
          <a:lstStyle/>
          <a:p>
            <a:pPr rtl="1" algn="ctr" indent="0" marL="0">
              <a:buNone/>
            </a:pPr>
            <a:r>
              <a:rPr lang="ar-SA" altLang="en-US" sz="1300" b="1" dirty="0">
                <a:solidFill>
                  <a:srgbClr val="1B3B6F"/>
                </a:solidFill>
                <a:latin typeface="Amiri" pitchFamily="34" charset="0"/>
                <a:ea typeface="Amiri" pitchFamily="34" charset="-122"/>
                <a:cs typeface="Amiri" pitchFamily="34" charset="-120"/>
              </a:rPr>
              <a:t>نَتَبَنَّى</a:t>
            </a:r>
            <a:endParaRPr lang="ar-SA" sz="1300" dirty="0"/>
          </a:p>
        </p:txBody>
      </p:sp>
      <p:sp>
        <p:nvSpPr>
          <p:cNvPr id="72" name="Text 69"/>
          <p:cNvSpPr txBox="1"/>
          <p:nvPr/>
        </p:nvSpPr>
        <p:spPr>
          <a:xfrm>
            <a:off x="8759952" y="6126480"/>
            <a:ext cx="2926080" cy="173736"/>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na-ta-ban-nā</a:t>
            </a:r>
            <a:endParaRPr lang="en-US" sz="950" dirty="0"/>
          </a:p>
        </p:txBody>
      </p:sp>
      <p:sp>
        <p:nvSpPr>
          <p:cNvPr id="73" name="Text 70"/>
          <p:cNvSpPr txBox="1"/>
          <p:nvPr/>
        </p:nvSpPr>
        <p:spPr>
          <a:xfrm>
            <a:off x="6446520" y="5852160"/>
            <a:ext cx="2194560" cy="45720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we adopt</a:t>
            </a:r>
            <a:endParaRPr lang="en-US" sz="1100" dirty="0"/>
          </a:p>
        </p:txBody>
      </p:sp>
      <p:sp>
        <p:nvSpPr>
          <p:cNvPr id="74" name="Text 71"/>
          <p:cNvSpPr txBox="1"/>
          <p:nvPr/>
        </p:nvSpPr>
        <p:spPr>
          <a:xfrm>
            <a:off x="3502152" y="5852160"/>
            <a:ext cx="2743200" cy="457200"/>
          </a:xfrm>
          <a:prstGeom prst="rect">
            <a:avLst/>
          </a:prstGeom>
          <a:noFill/>
          <a:ln/>
        </p:spPr>
        <p:txBody>
          <a:bodyPr wrap="square" lIns="0" tIns="0" rIns="0" bIns="0" rtlCol="0" anchor="ctr"/>
          <a:lstStyle/>
          <a:p>
            <a:pPr rtl="1" algn="ctr" indent="0" marL="0">
              <a:buNone/>
            </a:pPr>
            <a:r>
              <a:rPr lang="ar-SA" altLang="en-US" sz="2100" b="1" dirty="0">
                <a:solidFill>
                  <a:srgbClr val="0E7C86"/>
                </a:solidFill>
                <a:latin typeface="Amiri" pitchFamily="34" charset="0"/>
                <a:ea typeface="Amiri" pitchFamily="34" charset="-122"/>
                <a:cs typeface="Amiri" pitchFamily="34" charset="-120"/>
              </a:rPr>
              <a:t>أَنْ</a:t>
            </a:r>
            <a:pPr rtl="1" algn="ctr" indent="0" marL="0">
              <a:buNone/>
            </a:pPr>
            <a:r>
              <a:rPr lang="ar-SA" altLang="en-US" sz="2100" b="1" dirty="0">
                <a:solidFill>
                  <a:srgbClr val="1B3B6F"/>
                </a:solidFill>
                <a:latin typeface="Amiri" pitchFamily="34" charset="0"/>
                <a:ea typeface="Amiri" pitchFamily="34" charset="-122"/>
                <a:cs typeface="Amiri" pitchFamily="34" charset="-120"/>
              </a:rPr>
              <a:t> </a:t>
            </a:r>
            <a:pPr rtl="1" algn="ctr" indent="0" marL="0">
              <a:buNone/>
            </a:pPr>
            <a:r>
              <a:rPr lang="ar-SA" altLang="en-US" sz="2100" b="1" dirty="0">
                <a:solidFill>
                  <a:srgbClr val="D6336C"/>
                </a:solidFill>
                <a:latin typeface="Amiri" pitchFamily="34" charset="0"/>
                <a:ea typeface="Amiri" pitchFamily="34" charset="-122"/>
                <a:cs typeface="Amiri" pitchFamily="34" charset="-120"/>
              </a:rPr>
              <a:t>نَتَبَنَّى</a:t>
            </a:r>
            <a:endParaRPr lang="ar-SA" sz="2100" dirty="0"/>
          </a:p>
        </p:txBody>
      </p:sp>
      <p:sp>
        <p:nvSpPr>
          <p:cNvPr id="75" name="Text 72"/>
          <p:cNvSpPr txBox="1"/>
          <p:nvPr/>
        </p:nvSpPr>
        <p:spPr>
          <a:xfrm>
            <a:off x="566928" y="5852160"/>
            <a:ext cx="2770632" cy="457200"/>
          </a:xfrm>
          <a:prstGeom prst="rect">
            <a:avLst/>
          </a:prstGeom>
          <a:noFill/>
          <a:ln/>
        </p:spPr>
        <p:txBody>
          <a:bodyPr wrap="square" lIns="0" tIns="0" rIns="0" bIns="0" rtlCol="0" anchor="ctr"/>
          <a:lstStyle/>
          <a:p>
            <a:pPr algn="l" indent="0" marL="0">
              <a:buNone/>
            </a:pPr>
            <a:r>
              <a:rPr lang="en-US" sz="1100" i="1" dirty="0">
                <a:solidFill>
                  <a:srgbClr val="5A6472"/>
                </a:solidFill>
                <a:latin typeface="Calibri" pitchFamily="34" charset="0"/>
                <a:ea typeface="Calibri" pitchFamily="34" charset="-122"/>
                <a:cs typeface="Calibri" pitchFamily="34" charset="-120"/>
              </a:rPr>
              <a:t>ends in </a:t>
            </a:r>
            <a:pPr algn="l" indent="0" marL="0">
              <a:buNone/>
            </a:pPr>
            <a:r>
              <a:rPr lang="ar-SA" altLang="en-US" sz="1450" dirty="0">
                <a:solidFill>
                  <a:srgbClr val="5A6472"/>
                </a:solidFill>
                <a:latin typeface="Amiri" pitchFamily="34" charset="0"/>
                <a:ea typeface="Amiri" pitchFamily="34" charset="-122"/>
                <a:cs typeface="Amiri" pitchFamily="34" charset="-120"/>
              </a:rPr>
              <a:t>ى</a:t>
            </a:r>
            <a:pPr algn="l" indent="0" marL="0">
              <a:buNone/>
            </a:pPr>
            <a:r>
              <a:rPr lang="en-US" sz="1100" i="1" dirty="0">
                <a:solidFill>
                  <a:srgbClr val="5A6472"/>
                </a:solidFill>
                <a:latin typeface="Calibri" pitchFamily="34" charset="0"/>
                <a:ea typeface="Calibri" pitchFamily="34" charset="-122"/>
                <a:cs typeface="Calibri" pitchFamily="34" charset="-120"/>
              </a:rPr>
              <a:t> — no visible change</a:t>
            </a:r>
            <a:endParaRPr lang="en-US" sz="1100" dirty="0"/>
          </a:p>
        </p:txBody>
      </p:sp>
      <p:sp>
        <p:nvSpPr>
          <p:cNvPr id="76" name="Text 7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10 / 46</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TC-L05 · Environmental Solutions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KEY WORDS · GROUP 4 · ADVICE, OBLIGATION AND PURPOSE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Advice words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النَّصِيحَةُ وَالوَاجِبُ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2 · Lesson 2 of 3</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1</a:t>
            </a:r>
            <a:endParaRPr lang="en-US" sz="1000" dirty="0"/>
          </a:p>
        </p:txBody>
      </p:sp>
      <p:sp>
        <p:nvSpPr>
          <p:cNvPr id="18" name="Shape 15"/>
          <p:cNvSpPr/>
          <p:nvPr/>
        </p:nvSpPr>
        <p:spPr>
          <a:xfrm>
            <a:off x="8604504" y="1938528"/>
            <a:ext cx="958291"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958291"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 verb (ـَ)</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22" name="Text 19"/>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0E7C86"/>
                </a:solidFill>
                <a:latin typeface="Amiri" pitchFamily="34" charset="0"/>
                <a:ea typeface="Amiri" pitchFamily="34" charset="-122"/>
                <a:cs typeface="Amiri" pitchFamily="34" charset="-120"/>
              </a:rPr>
              <a:t>يَنْبَغِي أَنْ</a:t>
            </a:r>
            <a:endParaRPr lang="ar-SA" sz="3000" dirty="0"/>
          </a:p>
        </p:txBody>
      </p:sp>
      <p:sp>
        <p:nvSpPr>
          <p:cNvPr id="23" name="Text 20"/>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should</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yan-ba-ghī an</a:t>
            </a:r>
            <a:endParaRPr lang="en-US" sz="1350" dirty="0"/>
          </a:p>
        </p:txBody>
      </p:sp>
      <p:sp>
        <p:nvSpPr>
          <p:cNvPr id="24" name="Shape 21"/>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Shape 22"/>
          <p:cNvSpPr/>
          <p:nvPr/>
        </p:nvSpPr>
        <p:spPr>
          <a:xfrm>
            <a:off x="4389120" y="1920240"/>
            <a:ext cx="310896" cy="310896"/>
          </a:xfrm>
          <a:prstGeom prst="ellipse">
            <a:avLst/>
          </a:prstGeom>
          <a:solidFill>
            <a:srgbClr val="F4F1EA"/>
          </a:solidFill>
          <a:ln w="12700">
            <a:solidFill>
              <a:srgbClr val="F4F1EA"/>
            </a:solidFill>
            <a:prstDash val="solid"/>
          </a:ln>
        </p:spPr>
      </p:sp>
      <p:sp>
        <p:nvSpPr>
          <p:cNvPr id="26" name="Text 23"/>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2</a:t>
            </a:r>
            <a:endParaRPr lang="en-US" sz="1000" dirty="0"/>
          </a:p>
        </p:txBody>
      </p:sp>
      <p:sp>
        <p:nvSpPr>
          <p:cNvPr id="27" name="Shape 24"/>
          <p:cNvSpPr/>
          <p:nvPr/>
        </p:nvSpPr>
        <p:spPr>
          <a:xfrm>
            <a:off x="4782312" y="1938528"/>
            <a:ext cx="958291" cy="256032"/>
          </a:xfrm>
          <a:prstGeom prst="roundRect">
            <a:avLst>
              <a:gd name="adj" fmla="val 50000"/>
            </a:avLst>
          </a:prstGeom>
          <a:solidFill>
            <a:srgbClr val="EFE7D2"/>
          </a:solidFill>
          <a:ln w="12700">
            <a:solidFill>
              <a:srgbClr val="EFE7D2"/>
            </a:solidFill>
            <a:prstDash val="solid"/>
          </a:ln>
        </p:spPr>
      </p:sp>
      <p:sp>
        <p:nvSpPr>
          <p:cNvPr id="28" name="Text 25"/>
          <p:cNvSpPr txBox="1"/>
          <p:nvPr/>
        </p:nvSpPr>
        <p:spPr>
          <a:xfrm>
            <a:off x="4782312" y="1938528"/>
            <a:ext cx="958291"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 verb (ـَ)</a:t>
            </a:r>
            <a:endParaRPr lang="en-US" sz="800" dirty="0"/>
          </a:p>
        </p:txBody>
      </p:sp>
      <p:sp>
        <p:nvSpPr>
          <p:cNvPr id="29" name="Shape 26"/>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31" name="Text 28"/>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0E7C86"/>
                </a:solidFill>
                <a:latin typeface="Amiri" pitchFamily="34" charset="0"/>
                <a:ea typeface="Amiri" pitchFamily="34" charset="-122"/>
                <a:cs typeface="Amiri" pitchFamily="34" charset="-120"/>
              </a:rPr>
              <a:t>يَجِبُ أَنْ</a:t>
            </a:r>
            <a:endParaRPr lang="ar-SA" sz="3000" dirty="0"/>
          </a:p>
        </p:txBody>
      </p:sp>
      <p:sp>
        <p:nvSpPr>
          <p:cNvPr id="32" name="Text 29"/>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must</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ya-ji-bu an</a:t>
            </a:r>
            <a:endParaRPr lang="en-US" sz="1350" dirty="0"/>
          </a:p>
        </p:txBody>
      </p:sp>
      <p:sp>
        <p:nvSpPr>
          <p:cNvPr id="33" name="Text 30"/>
          <p:cNvSpPr txBox="1"/>
          <p:nvPr/>
        </p:nvSpPr>
        <p:spPr>
          <a:xfrm>
            <a:off x="4416552"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ea typeface="Calibri" pitchFamily="34" charset="-122"/>
                <a:cs typeface="Calibri" pitchFamily="34" charset="-120"/>
              </a:rPr>
              <a:t>Name who: </a:t>
            </a:r>
            <a:pPr algn="l" indent="0" marL="0">
              <a:buNone/>
            </a:pPr>
            <a:r>
              <a:rPr lang="ar-SA" altLang="en-US" sz="1300" dirty="0">
                <a:solidFill>
                  <a:srgbClr val="8A6D1E"/>
                </a:solidFill>
                <a:latin typeface="Amiri" pitchFamily="34" charset="0"/>
                <a:ea typeface="Amiri" pitchFamily="34" charset="-122"/>
                <a:cs typeface="Amiri" pitchFamily="34" charset="-120"/>
              </a:rPr>
              <a:t>يَجِبُ عَلَى … أَنْ</a:t>
            </a:r>
            <a:endParaRPr lang="en-US" sz="1000" dirty="0"/>
          </a:p>
        </p:txBody>
      </p:sp>
      <p:sp>
        <p:nvSpPr>
          <p:cNvPr id="34" name="Shape 31"/>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566928" y="1920240"/>
            <a:ext cx="310896" cy="310896"/>
          </a:xfrm>
          <a:prstGeom prst="ellipse">
            <a:avLst/>
          </a:prstGeom>
          <a:solidFill>
            <a:srgbClr val="F4F1EA"/>
          </a:solidFill>
          <a:ln w="12700">
            <a:solidFill>
              <a:srgbClr val="F4F1EA"/>
            </a:solidFill>
            <a:prstDash val="solid"/>
          </a:ln>
        </p:spPr>
      </p:sp>
      <p:sp>
        <p:nvSpPr>
          <p:cNvPr id="36" name="Text 33"/>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3</a:t>
            </a:r>
            <a:endParaRPr lang="en-US" sz="1000" dirty="0"/>
          </a:p>
        </p:txBody>
      </p:sp>
      <p:sp>
        <p:nvSpPr>
          <p:cNvPr id="37" name="Shape 34"/>
          <p:cNvSpPr/>
          <p:nvPr/>
        </p:nvSpPr>
        <p:spPr>
          <a:xfrm>
            <a:off x="960120" y="1938528"/>
            <a:ext cx="958291" cy="256032"/>
          </a:xfrm>
          <a:prstGeom prst="roundRect">
            <a:avLst>
              <a:gd name="adj" fmla="val 50000"/>
            </a:avLst>
          </a:prstGeom>
          <a:solidFill>
            <a:srgbClr val="EFE7D2"/>
          </a:solidFill>
          <a:ln w="12700">
            <a:solidFill>
              <a:srgbClr val="EFE7D2"/>
            </a:solidFill>
            <a:prstDash val="solid"/>
          </a:ln>
        </p:spPr>
      </p:sp>
      <p:sp>
        <p:nvSpPr>
          <p:cNvPr id="38" name="Text 35"/>
          <p:cNvSpPr txBox="1"/>
          <p:nvPr/>
        </p:nvSpPr>
        <p:spPr>
          <a:xfrm>
            <a:off x="960120" y="1938528"/>
            <a:ext cx="958291"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 verb (ـَ)</a:t>
            </a:r>
            <a:endParaRPr lang="en-US" sz="800" dirty="0"/>
          </a:p>
        </p:txBody>
      </p:sp>
      <p:sp>
        <p:nvSpPr>
          <p:cNvPr id="39" name="Shape 36"/>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41" name="Text 38"/>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0E7C86"/>
                </a:solidFill>
                <a:latin typeface="Amiri" pitchFamily="34" charset="0"/>
                <a:ea typeface="Amiri" pitchFamily="34" charset="-122"/>
                <a:cs typeface="Amiri" pitchFamily="34" charset="-120"/>
              </a:rPr>
              <a:t>يُمْكِنُ أَنْ</a:t>
            </a:r>
            <a:endParaRPr lang="ar-SA" sz="3000" dirty="0"/>
          </a:p>
        </p:txBody>
      </p:sp>
      <p:sp>
        <p:nvSpPr>
          <p:cNvPr id="42" name="Text 39"/>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it is possible to, (we) can</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yum-ki-nu an</a:t>
            </a:r>
            <a:endParaRPr lang="en-US" sz="1350" dirty="0"/>
          </a:p>
        </p:txBody>
      </p:sp>
      <p:sp>
        <p:nvSpPr>
          <p:cNvPr id="43" name="Text 40"/>
          <p:cNvSpPr txBox="1"/>
          <p:nvPr/>
        </p:nvSpPr>
        <p:spPr>
          <a:xfrm>
            <a:off x="594360"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ea typeface="Calibri" pitchFamily="34" charset="-122"/>
                <a:cs typeface="Calibri" pitchFamily="34" charset="-120"/>
              </a:rPr>
              <a:t>Urdu: </a:t>
            </a:r>
            <a:pPr algn="l" indent="0" marL="0">
              <a:buNone/>
            </a:pPr>
            <a:r>
              <a:rPr lang="ar-SA" altLang="en-US" sz="1300" dirty="0">
                <a:solidFill>
                  <a:srgbClr val="8A6D1E"/>
                </a:solidFill>
                <a:latin typeface="Amiri" pitchFamily="34" charset="0"/>
                <a:ea typeface="Amiri" pitchFamily="34" charset="-122"/>
                <a:cs typeface="Amiri" pitchFamily="34" charset="-120"/>
              </a:rPr>
              <a:t>ممکن</a:t>
            </a:r>
            <a:endParaRPr lang="en-US" sz="1000" dirty="0"/>
          </a:p>
        </p:txBody>
      </p:sp>
      <p:sp>
        <p:nvSpPr>
          <p:cNvPr id="44" name="Shape 41"/>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5" name="Shape 42"/>
          <p:cNvSpPr/>
          <p:nvPr/>
        </p:nvSpPr>
        <p:spPr>
          <a:xfrm>
            <a:off x="8211312" y="4261104"/>
            <a:ext cx="310896" cy="310896"/>
          </a:xfrm>
          <a:prstGeom prst="ellipse">
            <a:avLst/>
          </a:prstGeom>
          <a:solidFill>
            <a:srgbClr val="F4F1EA"/>
          </a:solidFill>
          <a:ln w="12700">
            <a:solidFill>
              <a:srgbClr val="F4F1EA"/>
            </a:solidFill>
            <a:prstDash val="solid"/>
          </a:ln>
        </p:spPr>
      </p:sp>
      <p:sp>
        <p:nvSpPr>
          <p:cNvPr id="46" name="Text 43"/>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4</a:t>
            </a:r>
            <a:endParaRPr lang="en-US" sz="1000" dirty="0"/>
          </a:p>
        </p:txBody>
      </p:sp>
      <p:sp>
        <p:nvSpPr>
          <p:cNvPr id="47" name="Shape 44"/>
          <p:cNvSpPr/>
          <p:nvPr/>
        </p:nvSpPr>
        <p:spPr>
          <a:xfrm>
            <a:off x="8604504" y="4279392"/>
            <a:ext cx="958291" cy="256032"/>
          </a:xfrm>
          <a:prstGeom prst="roundRect">
            <a:avLst>
              <a:gd name="adj" fmla="val 50000"/>
            </a:avLst>
          </a:prstGeom>
          <a:solidFill>
            <a:srgbClr val="EFE7D2"/>
          </a:solidFill>
          <a:ln w="12700">
            <a:solidFill>
              <a:srgbClr val="EFE7D2"/>
            </a:solidFill>
            <a:prstDash val="solid"/>
          </a:ln>
        </p:spPr>
      </p:sp>
      <p:sp>
        <p:nvSpPr>
          <p:cNvPr id="48" name="Text 45"/>
          <p:cNvSpPr txBox="1"/>
          <p:nvPr/>
        </p:nvSpPr>
        <p:spPr>
          <a:xfrm>
            <a:off x="8604504" y="4279392"/>
            <a:ext cx="958291"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 verb (ـَ)</a:t>
            </a:r>
            <a:endParaRPr lang="en-US" sz="800" dirty="0"/>
          </a:p>
        </p:txBody>
      </p:sp>
      <p:sp>
        <p:nvSpPr>
          <p:cNvPr id="49" name="Text 46"/>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0E7C86"/>
                </a:solidFill>
                <a:latin typeface="Amiri" pitchFamily="34" charset="0"/>
                <a:ea typeface="Amiri" pitchFamily="34" charset="-122"/>
                <a:cs typeface="Amiri" pitchFamily="34" charset="-120"/>
              </a:rPr>
              <a:t>لِكَيْ</a:t>
            </a:r>
            <a:endParaRPr lang="ar-SA" sz="3000" dirty="0"/>
          </a:p>
        </p:txBody>
      </p:sp>
      <p:sp>
        <p:nvSpPr>
          <p:cNvPr id="50" name="Text 47"/>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in order to, so that</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li-kay</a:t>
            </a:r>
            <a:endParaRPr lang="en-US" sz="1350" dirty="0"/>
          </a:p>
        </p:txBody>
      </p:sp>
      <p:sp>
        <p:nvSpPr>
          <p:cNvPr id="51" name="Text 48"/>
          <p:cNvSpPr txBox="1"/>
          <p:nvPr/>
        </p:nvSpPr>
        <p:spPr>
          <a:xfrm>
            <a:off x="8238744" y="5961888"/>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ea typeface="Calibri" pitchFamily="34" charset="-122"/>
                <a:cs typeface="Calibri" pitchFamily="34" charset="-120"/>
              </a:rPr>
              <a:t>Purpose — TC-L02.</a:t>
            </a:r>
            <a:endParaRPr lang="en-US" sz="1000" dirty="0"/>
          </a:p>
        </p:txBody>
      </p:sp>
      <p:sp>
        <p:nvSpPr>
          <p:cNvPr id="52" name="Shape 49"/>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3" name="Shape 50"/>
          <p:cNvSpPr/>
          <p:nvPr/>
        </p:nvSpPr>
        <p:spPr>
          <a:xfrm>
            <a:off x="4389120" y="4261104"/>
            <a:ext cx="310896" cy="310896"/>
          </a:xfrm>
          <a:prstGeom prst="ellipse">
            <a:avLst/>
          </a:prstGeom>
          <a:solidFill>
            <a:srgbClr val="F4F1EA"/>
          </a:solidFill>
          <a:ln w="12700">
            <a:solidFill>
              <a:srgbClr val="F4F1EA"/>
            </a:solidFill>
            <a:prstDash val="solid"/>
          </a:ln>
        </p:spPr>
      </p:sp>
      <p:sp>
        <p:nvSpPr>
          <p:cNvPr id="54" name="Text 51"/>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5</a:t>
            </a:r>
            <a:endParaRPr lang="en-US" sz="1000" dirty="0"/>
          </a:p>
        </p:txBody>
      </p:sp>
      <p:sp>
        <p:nvSpPr>
          <p:cNvPr id="55" name="Shape 52"/>
          <p:cNvSpPr/>
          <p:nvPr/>
        </p:nvSpPr>
        <p:spPr>
          <a:xfrm>
            <a:off x="4782312" y="4279392"/>
            <a:ext cx="958291" cy="256032"/>
          </a:xfrm>
          <a:prstGeom prst="roundRect">
            <a:avLst>
              <a:gd name="adj" fmla="val 50000"/>
            </a:avLst>
          </a:prstGeom>
          <a:solidFill>
            <a:srgbClr val="EFE7D2"/>
          </a:solidFill>
          <a:ln w="12700">
            <a:solidFill>
              <a:srgbClr val="EFE7D2"/>
            </a:solidFill>
            <a:prstDash val="solid"/>
          </a:ln>
        </p:spPr>
      </p:sp>
      <p:sp>
        <p:nvSpPr>
          <p:cNvPr id="56" name="Text 53"/>
          <p:cNvSpPr txBox="1"/>
          <p:nvPr/>
        </p:nvSpPr>
        <p:spPr>
          <a:xfrm>
            <a:off x="4782312" y="4279392"/>
            <a:ext cx="958291"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 verb (ـَ)</a:t>
            </a:r>
            <a:endParaRPr lang="en-US" sz="800" dirty="0"/>
          </a:p>
        </p:txBody>
      </p:sp>
      <p:sp>
        <p:nvSpPr>
          <p:cNvPr id="57" name="Text 54"/>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0E7C86"/>
                </a:solidFill>
                <a:latin typeface="Amiri" pitchFamily="34" charset="0"/>
                <a:ea typeface="Amiri" pitchFamily="34" charset="-122"/>
                <a:cs typeface="Amiri" pitchFamily="34" charset="-120"/>
              </a:rPr>
              <a:t>مِنَ الضَّرُورِيِّ أَنْ</a:t>
            </a:r>
            <a:endParaRPr lang="ar-SA" sz="3000" dirty="0"/>
          </a:p>
        </p:txBody>
      </p:sp>
      <p:sp>
        <p:nvSpPr>
          <p:cNvPr id="58" name="Text 55"/>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it is necessary to</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mi-na ḍ-ḍa-rū-riy-yi an</a:t>
            </a:r>
            <a:endParaRPr lang="en-US" sz="1350" dirty="0"/>
          </a:p>
        </p:txBody>
      </p:sp>
      <p:sp>
        <p:nvSpPr>
          <p:cNvPr id="59" name="Text 56"/>
          <p:cNvSpPr txBox="1"/>
          <p:nvPr/>
        </p:nvSpPr>
        <p:spPr>
          <a:xfrm>
            <a:off x="4416552" y="5961888"/>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ea typeface="Calibri" pitchFamily="34" charset="-122"/>
                <a:cs typeface="Calibri" pitchFamily="34" charset="-120"/>
              </a:rPr>
              <a:t>Urdu: </a:t>
            </a:r>
            <a:pPr algn="l" indent="0" marL="0">
              <a:buNone/>
            </a:pPr>
            <a:r>
              <a:rPr lang="ar-SA" altLang="en-US" sz="1300" dirty="0">
                <a:solidFill>
                  <a:srgbClr val="8A6D1E"/>
                </a:solidFill>
                <a:latin typeface="Amiri" pitchFamily="34" charset="0"/>
                <a:ea typeface="Amiri" pitchFamily="34" charset="-122"/>
                <a:cs typeface="Amiri" pitchFamily="34" charset="-120"/>
              </a:rPr>
              <a:t>ضروری</a:t>
            </a:r>
            <a:endParaRPr lang="en-US" sz="1000" dirty="0"/>
          </a:p>
        </p:txBody>
      </p:sp>
      <p:sp>
        <p:nvSpPr>
          <p:cNvPr id="60" name="Shape 57"/>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66928" y="4261104"/>
            <a:ext cx="310896" cy="310896"/>
          </a:xfrm>
          <a:prstGeom prst="ellipse">
            <a:avLst/>
          </a:prstGeom>
          <a:solidFill>
            <a:srgbClr val="F4F1EA"/>
          </a:solidFill>
          <a:ln w="12700">
            <a:solidFill>
              <a:srgbClr val="F4F1EA"/>
            </a:solidFill>
            <a:prstDash val="solid"/>
          </a:ln>
        </p:spPr>
      </p:sp>
      <p:sp>
        <p:nvSpPr>
          <p:cNvPr id="62" name="Text 59"/>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6</a:t>
            </a:r>
            <a:endParaRPr lang="en-US" sz="1000" dirty="0"/>
          </a:p>
        </p:txBody>
      </p:sp>
      <p:sp>
        <p:nvSpPr>
          <p:cNvPr id="63" name="Shape 60"/>
          <p:cNvSpPr/>
          <p:nvPr/>
        </p:nvSpPr>
        <p:spPr>
          <a:xfrm>
            <a:off x="960120" y="4279392"/>
            <a:ext cx="958291" cy="256032"/>
          </a:xfrm>
          <a:prstGeom prst="roundRect">
            <a:avLst>
              <a:gd name="adj" fmla="val 50000"/>
            </a:avLst>
          </a:prstGeom>
          <a:solidFill>
            <a:srgbClr val="EFE7D2"/>
          </a:solidFill>
          <a:ln w="12700">
            <a:solidFill>
              <a:srgbClr val="EFE7D2"/>
            </a:solidFill>
            <a:prstDash val="solid"/>
          </a:ln>
        </p:spPr>
      </p:sp>
      <p:sp>
        <p:nvSpPr>
          <p:cNvPr id="64" name="Text 61"/>
          <p:cNvSpPr txBox="1"/>
          <p:nvPr/>
        </p:nvSpPr>
        <p:spPr>
          <a:xfrm>
            <a:off x="960120" y="4279392"/>
            <a:ext cx="958291"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 verb (ـَ)</a:t>
            </a:r>
            <a:endParaRPr lang="en-US" sz="800" dirty="0"/>
          </a:p>
        </p:txBody>
      </p:sp>
      <p:sp>
        <p:nvSpPr>
          <p:cNvPr id="65" name="Text 62"/>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0E7C86"/>
                </a:solidFill>
                <a:latin typeface="Amiri" pitchFamily="34" charset="0"/>
                <a:ea typeface="Amiri" pitchFamily="34" charset="-122"/>
                <a:cs typeface="Amiri" pitchFamily="34" charset="-120"/>
              </a:rPr>
              <a:t>مِنَ الأَفْضَلِ أَنْ</a:t>
            </a:r>
            <a:endParaRPr lang="ar-SA" sz="3000" dirty="0"/>
          </a:p>
        </p:txBody>
      </p:sp>
      <p:sp>
        <p:nvSpPr>
          <p:cNvPr id="66" name="Text 63"/>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it is better to</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mi-na l-af-ḍa-li an</a:t>
            </a:r>
            <a:endParaRPr lang="en-US" sz="1350" dirty="0"/>
          </a:p>
        </p:txBody>
      </p:sp>
      <p:sp>
        <p:nvSpPr>
          <p:cNvPr id="67" name="Text 64"/>
          <p:cNvSpPr txBox="1"/>
          <p:nvPr/>
        </p:nvSpPr>
        <p:spPr>
          <a:xfrm>
            <a:off x="594360" y="5961888"/>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ea typeface="Calibri" pitchFamily="34" charset="-122"/>
                <a:cs typeface="Calibri" pitchFamily="34" charset="-120"/>
              </a:rPr>
              <a:t>Website game.</a:t>
            </a:r>
            <a:endParaRPr lang="en-US" sz="1000" dirty="0"/>
          </a:p>
        </p:txBody>
      </p:sp>
      <p:sp>
        <p:nvSpPr>
          <p:cNvPr id="68" name="Text 6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11 / 46</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TC-L05 · Environmental Solutions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GRAMMAR FOCUS · PART 1 · ADVICE + A “WE” VERB</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Give advice in three steps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اُنْصَحْ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2 · Lesson 2 of 3</a:t>
            </a:r>
            <a:endParaRPr lang="en-US" sz="850" dirty="0"/>
          </a:p>
        </p:txBody>
      </p:sp>
      <p:sp>
        <p:nvSpPr>
          <p:cNvPr id="15" name="Shape 12"/>
          <p:cNvSpPr/>
          <p:nvPr/>
        </p:nvSpPr>
        <p:spPr>
          <a:xfrm>
            <a:off x="457200" y="1828800"/>
            <a:ext cx="11274552" cy="2331720"/>
          </a:xfrm>
          <a:prstGeom prst="roundRect">
            <a:avLst>
              <a:gd name="adj" fmla="val 313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1371600" y="1828800"/>
            <a:ext cx="9445752" cy="1572768"/>
          </a:xfrm>
          <a:prstGeom prst="rect">
            <a:avLst/>
          </a:prstGeom>
          <a:noFill/>
          <a:ln/>
        </p:spPr>
        <p:txBody>
          <a:bodyPr wrap="square" lIns="0" tIns="0" rIns="0" bIns="0" rtlCol="0" anchor="ctr"/>
          <a:lstStyle/>
          <a:p>
            <a:pPr rtl="1" algn="ctr" indent="0" marL="0">
              <a:buNone/>
            </a:pPr>
            <a:r>
              <a:rPr lang="ar-SA" altLang="en-US" sz="7200" b="1" dirty="0">
                <a:solidFill>
                  <a:srgbClr val="0E7C86"/>
                </a:solidFill>
                <a:latin typeface="Amiri" pitchFamily="34" charset="0"/>
                <a:ea typeface="Amiri" pitchFamily="34" charset="-122"/>
                <a:cs typeface="Amiri" pitchFamily="34" charset="-120"/>
              </a:rPr>
              <a:t>يَنْبَغِي أَنْ</a:t>
            </a:r>
            <a:pPr rtl="1" algn="ctr" indent="0" marL="0">
              <a:buNone/>
            </a:pPr>
            <a:r>
              <a:rPr lang="ar-SA" altLang="en-US" sz="7200" b="1" dirty="0">
                <a:solidFill>
                  <a:srgbClr val="1B3B6F"/>
                </a:solidFill>
                <a:latin typeface="Amiri" pitchFamily="34" charset="0"/>
                <a:ea typeface="Amiri" pitchFamily="34" charset="-122"/>
                <a:cs typeface="Amiri" pitchFamily="34" charset="-120"/>
              </a:rPr>
              <a:t> </a:t>
            </a:r>
            <a:pPr rtl="1" algn="ctr" indent="0" marL="0">
              <a:buNone/>
            </a:pPr>
            <a:r>
              <a:rPr lang="ar-SA" altLang="en-US" sz="7200" b="1" dirty="0">
                <a:solidFill>
                  <a:srgbClr val="1D5FBF"/>
                </a:solidFill>
                <a:latin typeface="Amiri" pitchFamily="34" charset="0"/>
                <a:ea typeface="Amiri" pitchFamily="34" charset="-122"/>
                <a:cs typeface="Amiri" pitchFamily="34" charset="-120"/>
              </a:rPr>
              <a:t>نُ</a:t>
            </a:r>
            <a:pPr rtl="1" algn="ctr" indent="0" marL="0">
              <a:buNone/>
            </a:pPr>
            <a:r>
              <a:rPr lang="ar-SA" altLang="en-US" sz="7200" b="1" dirty="0">
                <a:solidFill>
                  <a:srgbClr val="D6336C"/>
                </a:solidFill>
                <a:latin typeface="Amiri" pitchFamily="34" charset="0"/>
                <a:ea typeface="Amiri" pitchFamily="34" charset="-122"/>
                <a:cs typeface="Amiri" pitchFamily="34" charset="-120"/>
              </a:rPr>
              <a:t>قَلِّلَ</a:t>
            </a:r>
            <a:endParaRPr lang="ar-SA" sz="7200" dirty="0"/>
          </a:p>
        </p:txBody>
      </p:sp>
      <p:sp>
        <p:nvSpPr>
          <p:cNvPr id="17" name="Text 14"/>
          <p:cNvSpPr txBox="1"/>
          <p:nvPr/>
        </p:nvSpPr>
        <p:spPr>
          <a:xfrm>
            <a:off x="457200" y="3675888"/>
            <a:ext cx="11274552" cy="365760"/>
          </a:xfrm>
          <a:prstGeom prst="rect">
            <a:avLst/>
          </a:prstGeom>
          <a:noFill/>
          <a:ln/>
        </p:spPr>
        <p:txBody>
          <a:bodyPr wrap="square" lIns="0" tIns="0" rIns="0" bIns="0" rtlCol="0" anchor="ctr"/>
          <a:lstStyle/>
          <a:p>
            <a:pPr algn="ctr" indent="0" marL="0">
              <a:buNone/>
            </a:pPr>
            <a:r>
              <a:rPr lang="en-US" sz="1500" i="1" dirty="0">
                <a:solidFill>
                  <a:srgbClr val="5A6472"/>
                </a:solidFill>
                <a:latin typeface="Calibri" pitchFamily="34" charset="0"/>
                <a:ea typeface="Calibri" pitchFamily="34" charset="-122"/>
                <a:cs typeface="Calibri" pitchFamily="34" charset="-120"/>
              </a:rPr>
              <a:t>yan-ba-ghī an nu-qal-li-la · we should reduce</a:t>
            </a:r>
            <a:endParaRPr lang="en-US" sz="1500" dirty="0"/>
          </a:p>
        </p:txBody>
      </p:sp>
      <p:sp>
        <p:nvSpPr>
          <p:cNvPr id="18" name="Shape 15"/>
          <p:cNvSpPr/>
          <p:nvPr/>
        </p:nvSpPr>
        <p:spPr>
          <a:xfrm>
            <a:off x="8095488" y="4370832"/>
            <a:ext cx="3636264" cy="1783080"/>
          </a:xfrm>
          <a:prstGeom prst="roundRect">
            <a:avLst>
              <a:gd name="adj" fmla="val 4103"/>
            </a:avLst>
          </a:prstGeom>
          <a:solidFill>
            <a:srgbClr val="FFFFFF"/>
          </a:solidFill>
          <a:ln w="19050">
            <a:solidFill>
              <a:srgbClr val="0E7C86"/>
            </a:solidFill>
            <a:prstDash val="solid"/>
          </a:ln>
          <a:effectLst>
            <a:outerShdw sx="100000" sy="100000" kx="0" ky="0" algn="bl" rotWithShape="0" blurRad="50800" dist="19050" dir="5400000">
              <a:srgbClr val="000000">
                <a:alpha val="10000"/>
              </a:srgbClr>
            </a:outerShdw>
          </a:effectLst>
        </p:spPr>
      </p:sp>
      <p:sp>
        <p:nvSpPr>
          <p:cNvPr id="19" name="Text 16"/>
          <p:cNvSpPr txBox="1"/>
          <p:nvPr/>
        </p:nvSpPr>
        <p:spPr>
          <a:xfrm>
            <a:off x="8278368" y="4480560"/>
            <a:ext cx="548640" cy="548640"/>
          </a:xfrm>
          <a:prstGeom prst="rect">
            <a:avLst/>
          </a:prstGeom>
          <a:noFill/>
          <a:ln/>
        </p:spPr>
        <p:txBody>
          <a:bodyPr wrap="square" lIns="0" tIns="0" rIns="0" bIns="0" rtlCol="0" anchor="ctr"/>
          <a:lstStyle/>
          <a:p>
            <a:pPr algn="l" indent="0" marL="0">
              <a:buNone/>
            </a:pPr>
            <a:r>
              <a:rPr lang="en-US" sz="3000" b="1" dirty="0">
                <a:solidFill>
                  <a:srgbClr val="E1E4EA"/>
                </a:solidFill>
                <a:latin typeface="Cambria" pitchFamily="34" charset="0"/>
                <a:ea typeface="Cambria" pitchFamily="34" charset="-122"/>
                <a:cs typeface="Cambria" pitchFamily="34" charset="-120"/>
              </a:rPr>
              <a:t>1</a:t>
            </a:r>
            <a:endParaRPr lang="en-US" sz="3000" dirty="0"/>
          </a:p>
        </p:txBody>
      </p:sp>
      <p:sp>
        <p:nvSpPr>
          <p:cNvPr id="20" name="Text 17"/>
          <p:cNvSpPr txBox="1"/>
          <p:nvPr/>
        </p:nvSpPr>
        <p:spPr>
          <a:xfrm>
            <a:off x="8827008" y="4462272"/>
            <a:ext cx="2767584" cy="731520"/>
          </a:xfrm>
          <a:prstGeom prst="rect">
            <a:avLst/>
          </a:prstGeom>
          <a:noFill/>
          <a:ln/>
        </p:spPr>
        <p:txBody>
          <a:bodyPr wrap="square" lIns="0" tIns="0" rIns="0" bIns="0" rtlCol="0" anchor="ctr"/>
          <a:lstStyle/>
          <a:p>
            <a:pPr rtl="1" algn="r" indent="0" marL="0">
              <a:buNone/>
            </a:pPr>
            <a:r>
              <a:rPr lang="ar-SA" altLang="en-US" sz="3400" b="1" dirty="0">
                <a:solidFill>
                  <a:srgbClr val="0E7C86"/>
                </a:solidFill>
                <a:latin typeface="Amiri" pitchFamily="34" charset="0"/>
                <a:ea typeface="Amiri" pitchFamily="34" charset="-122"/>
                <a:cs typeface="Amiri" pitchFamily="34" charset="-120"/>
              </a:rPr>
              <a:t>يَنْبَغِي أَنْ</a:t>
            </a:r>
            <a:endParaRPr lang="ar-SA" sz="3400" dirty="0"/>
          </a:p>
        </p:txBody>
      </p:sp>
      <p:sp>
        <p:nvSpPr>
          <p:cNvPr id="21" name="Text 18"/>
          <p:cNvSpPr txBox="1"/>
          <p:nvPr/>
        </p:nvSpPr>
        <p:spPr>
          <a:xfrm>
            <a:off x="8278368" y="5120640"/>
            <a:ext cx="3270504" cy="310896"/>
          </a:xfrm>
          <a:prstGeom prst="rect">
            <a:avLst/>
          </a:prstGeom>
          <a:noFill/>
          <a:ln/>
        </p:spPr>
        <p:txBody>
          <a:bodyPr wrap="square" lIns="0" tIns="0" rIns="0" bIns="0" rtlCol="0" anchor="ctr"/>
          <a:lstStyle/>
          <a:p>
            <a:pPr algn="l" indent="0" marL="0">
              <a:buNone/>
            </a:pPr>
            <a:r>
              <a:rPr lang="en-US" sz="1600" b="1" dirty="0">
                <a:solidFill>
                  <a:srgbClr val="0E7C86"/>
                </a:solidFill>
                <a:latin typeface="Calibri" pitchFamily="34" charset="0"/>
                <a:ea typeface="Calibri" pitchFamily="34" charset="-122"/>
                <a:cs typeface="Calibri" pitchFamily="34" charset="-120"/>
              </a:rPr>
              <a:t>ADVICE word</a:t>
            </a:r>
            <a:endParaRPr lang="en-US" sz="1600" dirty="0"/>
          </a:p>
        </p:txBody>
      </p:sp>
      <p:sp>
        <p:nvSpPr>
          <p:cNvPr id="22" name="Text 19"/>
          <p:cNvSpPr txBox="1"/>
          <p:nvPr/>
        </p:nvSpPr>
        <p:spPr>
          <a:xfrm>
            <a:off x="8278368" y="5440680"/>
            <a:ext cx="3270504" cy="658368"/>
          </a:xfrm>
          <a:prstGeom prst="rect">
            <a:avLst/>
          </a:prstGeom>
          <a:noFill/>
          <a:ln/>
        </p:spPr>
        <p:txBody>
          <a:bodyPr wrap="square" lIns="0" tIns="0" rIns="0" bIns="0" rtlCol="0" anchor="t"/>
          <a:lstStyle/>
          <a:p>
            <a:pPr algn="l" indent="0" marL="0">
              <a:buNone/>
            </a:pPr>
            <a:r>
              <a:rPr lang="ar-SA" altLang="en-US" sz="1500" dirty="0">
                <a:solidFill>
                  <a:srgbClr val="5A6472"/>
                </a:solidFill>
                <a:latin typeface="Amiri" pitchFamily="34" charset="0"/>
                <a:ea typeface="Amiri" pitchFamily="34" charset="-122"/>
                <a:cs typeface="Amiri" pitchFamily="34" charset="-120"/>
              </a:rPr>
              <a:t>يَنْبَغِي أَنْ</a:t>
            </a:r>
            <a:pPr algn="l" indent="0" marL="0">
              <a:buNone/>
            </a:pPr>
            <a:r>
              <a:rPr lang="en-US" sz="1150" dirty="0">
                <a:solidFill>
                  <a:srgbClr val="5A6472"/>
                </a:solidFill>
                <a:latin typeface="Calibri" pitchFamily="34" charset="0"/>
                <a:ea typeface="Calibri" pitchFamily="34" charset="-122"/>
                <a:cs typeface="Calibri" pitchFamily="34" charset="-120"/>
              </a:rPr>
              <a:t> = should · </a:t>
            </a:r>
            <a:pPr algn="l" indent="0" marL="0">
              <a:buNone/>
            </a:pPr>
            <a:r>
              <a:rPr lang="ar-SA" altLang="en-US" sz="1500" dirty="0">
                <a:solidFill>
                  <a:srgbClr val="5A6472"/>
                </a:solidFill>
                <a:latin typeface="Amiri" pitchFamily="34" charset="0"/>
                <a:ea typeface="Amiri" pitchFamily="34" charset="-122"/>
                <a:cs typeface="Amiri" pitchFamily="34" charset="-120"/>
              </a:rPr>
              <a:t>يَجِبُ أَنْ</a:t>
            </a:r>
            <a:pPr algn="l" indent="0" marL="0">
              <a:buNone/>
            </a:pPr>
            <a:r>
              <a:rPr lang="en-US" sz="1150" dirty="0">
                <a:solidFill>
                  <a:srgbClr val="5A6472"/>
                </a:solidFill>
                <a:latin typeface="Calibri" pitchFamily="34" charset="0"/>
                <a:ea typeface="Calibri" pitchFamily="34" charset="-122"/>
                <a:cs typeface="Calibri" pitchFamily="34" charset="-120"/>
              </a:rPr>
              <a:t> = must · </a:t>
            </a:r>
            <a:pPr algn="l" indent="0" marL="0">
              <a:buNone/>
            </a:pPr>
            <a:r>
              <a:rPr lang="ar-SA" altLang="en-US" sz="1500" dirty="0">
                <a:solidFill>
                  <a:srgbClr val="5A6472"/>
                </a:solidFill>
                <a:latin typeface="Amiri" pitchFamily="34" charset="0"/>
                <a:ea typeface="Amiri" pitchFamily="34" charset="-122"/>
                <a:cs typeface="Amiri" pitchFamily="34" charset="-120"/>
              </a:rPr>
              <a:t>يُمْكِنُ أَنْ</a:t>
            </a:r>
            <a:pPr algn="l" indent="0" marL="0">
              <a:buNone/>
            </a:pPr>
            <a:r>
              <a:rPr lang="en-US" sz="1150" dirty="0">
                <a:solidFill>
                  <a:srgbClr val="5A6472"/>
                </a:solidFill>
                <a:latin typeface="Calibri" pitchFamily="34" charset="0"/>
                <a:ea typeface="Calibri" pitchFamily="34" charset="-122"/>
                <a:cs typeface="Calibri" pitchFamily="34" charset="-120"/>
              </a:rPr>
              <a:t> = can.</a:t>
            </a:r>
            <a:endParaRPr lang="en-US" sz="1150" dirty="0"/>
          </a:p>
        </p:txBody>
      </p:sp>
      <p:sp>
        <p:nvSpPr>
          <p:cNvPr id="23" name="Shape 20"/>
          <p:cNvSpPr/>
          <p:nvPr/>
        </p:nvSpPr>
        <p:spPr>
          <a:xfrm>
            <a:off x="4276344" y="4370832"/>
            <a:ext cx="3636264" cy="1783080"/>
          </a:xfrm>
          <a:prstGeom prst="roundRect">
            <a:avLst>
              <a:gd name="adj" fmla="val 4103"/>
            </a:avLst>
          </a:prstGeom>
          <a:solidFill>
            <a:srgbClr val="FFFFFF"/>
          </a:solidFill>
          <a:ln w="19050">
            <a:solidFill>
              <a:srgbClr val="1D5FBF"/>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4459224" y="4480560"/>
            <a:ext cx="548640" cy="548640"/>
          </a:xfrm>
          <a:prstGeom prst="rect">
            <a:avLst/>
          </a:prstGeom>
          <a:noFill/>
          <a:ln/>
        </p:spPr>
        <p:txBody>
          <a:bodyPr wrap="square" lIns="0" tIns="0" rIns="0" bIns="0" rtlCol="0" anchor="ctr"/>
          <a:lstStyle/>
          <a:p>
            <a:pPr algn="l" indent="0" marL="0">
              <a:buNone/>
            </a:pPr>
            <a:r>
              <a:rPr lang="en-US" sz="3000" b="1" dirty="0">
                <a:solidFill>
                  <a:srgbClr val="E1E4EA"/>
                </a:solidFill>
                <a:latin typeface="Cambria" pitchFamily="34" charset="0"/>
                <a:ea typeface="Cambria" pitchFamily="34" charset="-122"/>
                <a:cs typeface="Cambria" pitchFamily="34" charset="-120"/>
              </a:rPr>
              <a:t>2</a:t>
            </a:r>
            <a:endParaRPr lang="en-US" sz="3000" dirty="0"/>
          </a:p>
        </p:txBody>
      </p:sp>
      <p:sp>
        <p:nvSpPr>
          <p:cNvPr id="25" name="Text 22"/>
          <p:cNvSpPr txBox="1"/>
          <p:nvPr/>
        </p:nvSpPr>
        <p:spPr>
          <a:xfrm>
            <a:off x="5007864" y="4462272"/>
            <a:ext cx="2767584" cy="731520"/>
          </a:xfrm>
          <a:prstGeom prst="rect">
            <a:avLst/>
          </a:prstGeom>
          <a:noFill/>
          <a:ln/>
        </p:spPr>
        <p:txBody>
          <a:bodyPr wrap="square" lIns="0" tIns="0" rIns="0" bIns="0" rtlCol="0" anchor="ctr"/>
          <a:lstStyle/>
          <a:p>
            <a:pPr rtl="1" algn="r" indent="0" marL="0">
              <a:buNone/>
            </a:pPr>
            <a:r>
              <a:rPr lang="ar-SA" altLang="en-US" sz="3400" b="1" dirty="0">
                <a:solidFill>
                  <a:srgbClr val="1D5FBF"/>
                </a:solidFill>
                <a:latin typeface="Amiri" pitchFamily="34" charset="0"/>
                <a:ea typeface="Amiri" pitchFamily="34" charset="-122"/>
                <a:cs typeface="Amiri" pitchFamily="34" charset="-120"/>
              </a:rPr>
              <a:t>نُـ</a:t>
            </a:r>
            <a:endParaRPr lang="ar-SA" sz="3400" dirty="0"/>
          </a:p>
        </p:txBody>
      </p:sp>
      <p:sp>
        <p:nvSpPr>
          <p:cNvPr id="26" name="Text 23"/>
          <p:cNvSpPr txBox="1"/>
          <p:nvPr/>
        </p:nvSpPr>
        <p:spPr>
          <a:xfrm>
            <a:off x="4459224" y="5120640"/>
            <a:ext cx="3270504" cy="310896"/>
          </a:xfrm>
          <a:prstGeom prst="rect">
            <a:avLst/>
          </a:prstGeom>
          <a:noFill/>
          <a:ln/>
        </p:spPr>
        <p:txBody>
          <a:bodyPr wrap="square" lIns="0" tIns="0" rIns="0" bIns="0" rtlCol="0" anchor="ctr"/>
          <a:lstStyle/>
          <a:p>
            <a:pPr algn="l" indent="0" marL="0">
              <a:buNone/>
            </a:pPr>
            <a:r>
              <a:rPr lang="en-US" sz="1600" b="1" dirty="0">
                <a:solidFill>
                  <a:srgbClr val="1D5FBF"/>
                </a:solidFill>
                <a:latin typeface="Calibri" pitchFamily="34" charset="0"/>
                <a:ea typeface="Calibri" pitchFamily="34" charset="-122"/>
                <a:cs typeface="Calibri" pitchFamily="34" charset="-120"/>
              </a:rPr>
              <a:t>WHO? </a:t>
            </a:r>
            <a:pPr algn="l" indent="0" marL="0">
              <a:buNone/>
            </a:pPr>
            <a:r>
              <a:rPr lang="ar-SA" altLang="en-US" sz="2100" b="1" dirty="0">
                <a:solidFill>
                  <a:srgbClr val="1D5FBF"/>
                </a:solidFill>
                <a:latin typeface="Amiri" pitchFamily="34" charset="0"/>
                <a:ea typeface="Amiri" pitchFamily="34" charset="-122"/>
                <a:cs typeface="Amiri" pitchFamily="34" charset="-120"/>
              </a:rPr>
              <a:t>نُـ / نَـ</a:t>
            </a:r>
            <a:pPr algn="l" indent="0" marL="0">
              <a:buNone/>
            </a:pPr>
            <a:r>
              <a:rPr lang="en-US" sz="1600" b="1" dirty="0">
                <a:solidFill>
                  <a:srgbClr val="1D5FBF"/>
                </a:solidFill>
                <a:latin typeface="Calibri" pitchFamily="34" charset="0"/>
                <a:ea typeface="Calibri" pitchFamily="34" charset="-122"/>
                <a:cs typeface="Calibri" pitchFamily="34" charset="-120"/>
              </a:rPr>
              <a:t> = we</a:t>
            </a:r>
            <a:endParaRPr lang="en-US" sz="1600" dirty="0"/>
          </a:p>
        </p:txBody>
      </p:sp>
      <p:sp>
        <p:nvSpPr>
          <p:cNvPr id="27" name="Text 24"/>
          <p:cNvSpPr txBox="1"/>
          <p:nvPr/>
        </p:nvSpPr>
        <p:spPr>
          <a:xfrm>
            <a:off x="4459224" y="5440680"/>
            <a:ext cx="3270504" cy="658368"/>
          </a:xfrm>
          <a:prstGeom prst="rect">
            <a:avLst/>
          </a:prstGeom>
          <a:noFill/>
          <a:ln/>
        </p:spPr>
        <p:txBody>
          <a:bodyPr wrap="square" lIns="0" tIns="0" rIns="0" bIns="0" rtlCol="0" anchor="t"/>
          <a:lstStyle/>
          <a:p>
            <a:pPr algn="l" indent="0" marL="0">
              <a:buNone/>
            </a:pPr>
            <a:r>
              <a:rPr lang="en-US" sz="1150" dirty="0">
                <a:solidFill>
                  <a:srgbClr val="5A6472"/>
                </a:solidFill>
                <a:latin typeface="Calibri" pitchFamily="34" charset="0"/>
                <a:ea typeface="Calibri" pitchFamily="34" charset="-122"/>
                <a:cs typeface="Calibri" pitchFamily="34" charset="-120"/>
              </a:rPr>
              <a:t>The verb starts with </a:t>
            </a:r>
            <a:pPr algn="l" indent="0" marL="0">
              <a:buNone/>
            </a:pPr>
            <a:r>
              <a:rPr lang="ar-SA" altLang="en-US" sz="1500" dirty="0">
                <a:solidFill>
                  <a:srgbClr val="5A6472"/>
                </a:solidFill>
                <a:latin typeface="Amiri" pitchFamily="34" charset="0"/>
                <a:ea typeface="Amiri" pitchFamily="34" charset="-122"/>
                <a:cs typeface="Amiri" pitchFamily="34" charset="-120"/>
              </a:rPr>
              <a:t>نُـ</a:t>
            </a:r>
            <a:pPr algn="l" indent="0" marL="0">
              <a:buNone/>
            </a:pPr>
            <a:r>
              <a:rPr lang="en-US" sz="1150" dirty="0">
                <a:solidFill>
                  <a:srgbClr val="5A6472"/>
                </a:solidFill>
                <a:latin typeface="Calibri" pitchFamily="34" charset="0"/>
                <a:ea typeface="Calibri" pitchFamily="34" charset="-122"/>
                <a:cs typeface="Calibri" pitchFamily="34" charset="-120"/>
              </a:rPr>
              <a:t> or </a:t>
            </a:r>
            <a:pPr algn="l" indent="0" marL="0">
              <a:buNone/>
            </a:pPr>
            <a:r>
              <a:rPr lang="ar-SA" altLang="en-US" sz="1500" dirty="0">
                <a:solidFill>
                  <a:srgbClr val="5A6472"/>
                </a:solidFill>
                <a:latin typeface="Amiri" pitchFamily="34" charset="0"/>
                <a:ea typeface="Amiri" pitchFamily="34" charset="-122"/>
                <a:cs typeface="Amiri" pitchFamily="34" charset="-120"/>
              </a:rPr>
              <a:t>نَـ</a:t>
            </a:r>
            <a:pPr algn="l" indent="0" marL="0">
              <a:buNone/>
            </a:pPr>
            <a:r>
              <a:rPr lang="en-US" sz="1150" dirty="0">
                <a:solidFill>
                  <a:srgbClr val="5A6472"/>
                </a:solidFill>
                <a:latin typeface="Calibri" pitchFamily="34" charset="0"/>
                <a:ea typeface="Calibri" pitchFamily="34" charset="-122"/>
                <a:cs typeface="Calibri" pitchFamily="34" charset="-120"/>
              </a:rPr>
              <a:t>: we (TC verb code).</a:t>
            </a:r>
            <a:endParaRPr lang="en-US" sz="1150" dirty="0"/>
          </a:p>
        </p:txBody>
      </p:sp>
      <p:sp>
        <p:nvSpPr>
          <p:cNvPr id="28" name="Shape 25"/>
          <p:cNvSpPr/>
          <p:nvPr/>
        </p:nvSpPr>
        <p:spPr>
          <a:xfrm>
            <a:off x="457200" y="4370832"/>
            <a:ext cx="3636264" cy="1783080"/>
          </a:xfrm>
          <a:prstGeom prst="roundRect">
            <a:avLst>
              <a:gd name="adj" fmla="val 4103"/>
            </a:avLst>
          </a:prstGeom>
          <a:solidFill>
            <a:srgbClr val="FFFFFF"/>
          </a:solidFill>
          <a:ln w="19050">
            <a:solidFill>
              <a:srgbClr val="D6336C"/>
            </a:solidFill>
            <a:prstDash val="solid"/>
          </a:ln>
          <a:effectLst>
            <a:outerShdw sx="100000" sy="100000" kx="0" ky="0" algn="bl" rotWithShape="0" blurRad="50800" dist="19050" dir="5400000">
              <a:srgbClr val="000000">
                <a:alpha val="10000"/>
              </a:srgbClr>
            </a:outerShdw>
          </a:effectLst>
        </p:spPr>
      </p:sp>
      <p:sp>
        <p:nvSpPr>
          <p:cNvPr id="29" name="Text 26"/>
          <p:cNvSpPr txBox="1"/>
          <p:nvPr/>
        </p:nvSpPr>
        <p:spPr>
          <a:xfrm>
            <a:off x="640080" y="4480560"/>
            <a:ext cx="548640" cy="548640"/>
          </a:xfrm>
          <a:prstGeom prst="rect">
            <a:avLst/>
          </a:prstGeom>
          <a:noFill/>
          <a:ln/>
        </p:spPr>
        <p:txBody>
          <a:bodyPr wrap="square" lIns="0" tIns="0" rIns="0" bIns="0" rtlCol="0" anchor="ctr"/>
          <a:lstStyle/>
          <a:p>
            <a:pPr algn="l" indent="0" marL="0">
              <a:buNone/>
            </a:pPr>
            <a:r>
              <a:rPr lang="en-US" sz="3000" b="1" dirty="0">
                <a:solidFill>
                  <a:srgbClr val="E1E4EA"/>
                </a:solidFill>
                <a:latin typeface="Cambria" pitchFamily="34" charset="0"/>
                <a:ea typeface="Cambria" pitchFamily="34" charset="-122"/>
                <a:cs typeface="Cambria" pitchFamily="34" charset="-120"/>
              </a:rPr>
              <a:t>3</a:t>
            </a:r>
            <a:endParaRPr lang="en-US" sz="3000" dirty="0"/>
          </a:p>
        </p:txBody>
      </p:sp>
      <p:sp>
        <p:nvSpPr>
          <p:cNvPr id="30" name="Text 27"/>
          <p:cNvSpPr txBox="1"/>
          <p:nvPr/>
        </p:nvSpPr>
        <p:spPr>
          <a:xfrm>
            <a:off x="1188720" y="4462272"/>
            <a:ext cx="2767584" cy="731520"/>
          </a:xfrm>
          <a:prstGeom prst="rect">
            <a:avLst/>
          </a:prstGeom>
          <a:noFill/>
          <a:ln/>
        </p:spPr>
        <p:txBody>
          <a:bodyPr wrap="square" lIns="0" tIns="0" rIns="0" bIns="0" rtlCol="0" anchor="ctr"/>
          <a:lstStyle/>
          <a:p>
            <a:pPr rtl="1" algn="r" indent="0" marL="0">
              <a:buNone/>
            </a:pPr>
            <a:r>
              <a:rPr lang="ar-SA" altLang="en-US" sz="3400" b="1" dirty="0">
                <a:solidFill>
                  <a:srgbClr val="D6336C"/>
                </a:solidFill>
                <a:latin typeface="Amiri" pitchFamily="34" charset="0"/>
                <a:ea typeface="Amiri" pitchFamily="34" charset="-122"/>
                <a:cs typeface="Amiri" pitchFamily="34" charset="-120"/>
              </a:rPr>
              <a:t>ـَ</a:t>
            </a:r>
            <a:endParaRPr lang="ar-SA" sz="3400" dirty="0"/>
          </a:p>
        </p:txBody>
      </p:sp>
      <p:sp>
        <p:nvSpPr>
          <p:cNvPr id="31" name="Text 28"/>
          <p:cNvSpPr txBox="1"/>
          <p:nvPr/>
        </p:nvSpPr>
        <p:spPr>
          <a:xfrm>
            <a:off x="640080" y="5120640"/>
            <a:ext cx="3270504" cy="310896"/>
          </a:xfrm>
          <a:prstGeom prst="rect">
            <a:avLst/>
          </a:prstGeom>
          <a:noFill/>
          <a:ln/>
        </p:spPr>
        <p:txBody>
          <a:bodyPr wrap="square" lIns="0" tIns="0" rIns="0" bIns="0" rtlCol="0" anchor="ctr"/>
          <a:lstStyle/>
          <a:p>
            <a:pPr algn="l" indent="0" marL="0">
              <a:buNone/>
            </a:pPr>
            <a:r>
              <a:rPr lang="en-US" sz="1600" b="1" dirty="0">
                <a:solidFill>
                  <a:srgbClr val="D6336C"/>
                </a:solidFill>
                <a:latin typeface="Calibri" pitchFamily="34" charset="0"/>
                <a:ea typeface="Calibri" pitchFamily="34" charset="-122"/>
                <a:cs typeface="Calibri" pitchFamily="34" charset="-120"/>
              </a:rPr>
              <a:t>ENDING: -u → -a</a:t>
            </a:r>
            <a:endParaRPr lang="en-US" sz="1600" dirty="0"/>
          </a:p>
        </p:txBody>
      </p:sp>
      <p:sp>
        <p:nvSpPr>
          <p:cNvPr id="32" name="Text 29"/>
          <p:cNvSpPr txBox="1"/>
          <p:nvPr/>
        </p:nvSpPr>
        <p:spPr>
          <a:xfrm>
            <a:off x="640080" y="5440680"/>
            <a:ext cx="3270504" cy="658368"/>
          </a:xfrm>
          <a:prstGeom prst="rect">
            <a:avLst/>
          </a:prstGeom>
          <a:noFill/>
          <a:ln/>
        </p:spPr>
        <p:txBody>
          <a:bodyPr wrap="square" lIns="0" tIns="0" rIns="0" bIns="0" rtlCol="0" anchor="t"/>
          <a:lstStyle/>
          <a:p>
            <a:pPr algn="l" indent="0" marL="0">
              <a:buNone/>
            </a:pPr>
            <a:r>
              <a:rPr lang="en-US" sz="1150" dirty="0">
                <a:solidFill>
                  <a:srgbClr val="5A6472"/>
                </a:solidFill>
                <a:latin typeface="Calibri" pitchFamily="34" charset="0"/>
                <a:ea typeface="Calibri" pitchFamily="34" charset="-122"/>
                <a:cs typeface="Calibri" pitchFamily="34" charset="-120"/>
              </a:rPr>
              <a:t>After </a:t>
            </a:r>
            <a:pPr algn="l" indent="0" marL="0">
              <a:buNone/>
            </a:pPr>
            <a:r>
              <a:rPr lang="ar-SA" altLang="en-US" sz="1500" dirty="0">
                <a:solidFill>
                  <a:srgbClr val="5A6472"/>
                </a:solidFill>
                <a:latin typeface="Amiri" pitchFamily="34" charset="0"/>
                <a:ea typeface="Amiri" pitchFamily="34" charset="-122"/>
                <a:cs typeface="Amiri" pitchFamily="34" charset="-120"/>
              </a:rPr>
              <a:t>أَنْ</a:t>
            </a:r>
            <a:pPr algn="l" indent="0" marL="0">
              <a:buNone/>
            </a:pPr>
            <a:r>
              <a:rPr lang="en-US" sz="1150" dirty="0">
                <a:solidFill>
                  <a:srgbClr val="5A6472"/>
                </a:solidFill>
                <a:latin typeface="Calibri" pitchFamily="34" charset="0"/>
                <a:ea typeface="Calibri" pitchFamily="34" charset="-122"/>
                <a:cs typeface="Calibri" pitchFamily="34" charset="-120"/>
              </a:rPr>
              <a:t> the last vowel becomes a fatḥa: </a:t>
            </a:r>
            <a:pPr algn="l" indent="0" marL="0">
              <a:buNone/>
            </a:pPr>
            <a:r>
              <a:rPr lang="ar-SA" altLang="en-US" sz="1500" dirty="0">
                <a:solidFill>
                  <a:srgbClr val="5A6472"/>
                </a:solidFill>
                <a:latin typeface="Amiri" pitchFamily="34" charset="0"/>
                <a:ea typeface="Amiri" pitchFamily="34" charset="-122"/>
                <a:cs typeface="Amiri" pitchFamily="34" charset="-120"/>
              </a:rPr>
              <a:t>نُقَلِّلُ</a:t>
            </a:r>
            <a:pPr algn="l" indent="0" marL="0">
              <a:buNone/>
            </a:pPr>
            <a:r>
              <a:rPr lang="en-US" sz="1150" dirty="0">
                <a:solidFill>
                  <a:srgbClr val="5A6472"/>
                </a:solidFill>
                <a:latin typeface="Calibri" pitchFamily="34" charset="0"/>
                <a:ea typeface="Calibri" pitchFamily="34" charset="-122"/>
                <a:cs typeface="Calibri" pitchFamily="34" charset="-120"/>
              </a:rPr>
              <a:t> → </a:t>
            </a:r>
            <a:pPr algn="l" indent="0" marL="0">
              <a:buNone/>
            </a:pPr>
            <a:r>
              <a:rPr lang="ar-SA" altLang="en-US" sz="1500" dirty="0">
                <a:solidFill>
                  <a:srgbClr val="5A6472"/>
                </a:solidFill>
                <a:latin typeface="Amiri" pitchFamily="34" charset="0"/>
                <a:ea typeface="Amiri" pitchFamily="34" charset="-122"/>
                <a:cs typeface="Amiri" pitchFamily="34" charset="-120"/>
              </a:rPr>
              <a:t>نُقَلِّلَ</a:t>
            </a:r>
            <a:pPr algn="l" indent="0" marL="0">
              <a:buNone/>
            </a:pPr>
            <a:r>
              <a:rPr lang="en-US" sz="1150" dirty="0">
                <a:solidFill>
                  <a:srgbClr val="5A6472"/>
                </a:solidFill>
                <a:latin typeface="Calibri" pitchFamily="34" charset="0"/>
                <a:ea typeface="Calibri" pitchFamily="34" charset="-122"/>
                <a:cs typeface="Calibri" pitchFamily="34" charset="-120"/>
              </a:rPr>
              <a:t>.</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12 / 46</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TC-L05 · Environmental Solutions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GRAMMAR FOCUS · PART 2 · ONE ENDING AFTER FIVE ADVICE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50" b="1" dirty="0">
                <a:solidFill>
                  <a:srgbClr val="1B3B6F"/>
                </a:solidFill>
                <a:latin typeface="Cambria" pitchFamily="34" charset="0"/>
                <a:ea typeface="Cambria" pitchFamily="34" charset="-122"/>
                <a:cs typeface="Cambria" pitchFamily="34" charset="-120"/>
              </a:rPr>
              <a:t>Advice words + a verb ending in fatḥa</a:t>
            </a:r>
            <a:endParaRPr lang="en-US" sz="25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بَعْدَ أَنْ وَلِكَيْ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2 · Lesson 2 of 3</a:t>
            </a:r>
            <a:endParaRPr lang="en-US" sz="850" dirty="0"/>
          </a:p>
        </p:txBody>
      </p:sp>
      <p:sp>
        <p:nvSpPr>
          <p:cNvPr id="15" name="Shape 12"/>
          <p:cNvSpPr/>
          <p:nvPr/>
        </p:nvSpPr>
        <p:spPr>
          <a:xfrm>
            <a:off x="457200" y="1810512"/>
            <a:ext cx="11274552" cy="420624"/>
          </a:xfrm>
          <a:prstGeom prst="rect">
            <a:avLst/>
          </a:prstGeom>
          <a:solidFill>
            <a:srgbClr val="1B3B6F"/>
          </a:solidFill>
          <a:ln w="12700">
            <a:solidFill>
              <a:srgbClr val="1B3B6F"/>
            </a:solidFill>
            <a:prstDash val="solid"/>
          </a:ln>
        </p:spPr>
      </p:sp>
      <p:sp>
        <p:nvSpPr>
          <p:cNvPr id="16" name="Text 13"/>
          <p:cNvSpPr txBox="1"/>
          <p:nvPr/>
        </p:nvSpPr>
        <p:spPr>
          <a:xfrm>
            <a:off x="9674352" y="1810512"/>
            <a:ext cx="1920240"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Advice word</a:t>
            </a:r>
            <a:endParaRPr lang="en-US" sz="1200" dirty="0"/>
          </a:p>
        </p:txBody>
      </p:sp>
      <p:sp>
        <p:nvSpPr>
          <p:cNvPr id="17" name="Text 14"/>
          <p:cNvSpPr txBox="1"/>
          <p:nvPr/>
        </p:nvSpPr>
        <p:spPr>
          <a:xfrm>
            <a:off x="6565392" y="1810512"/>
            <a:ext cx="2834640"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Verb after it</a:t>
            </a:r>
            <a:endParaRPr lang="en-US" sz="1200" dirty="0"/>
          </a:p>
        </p:txBody>
      </p:sp>
      <p:sp>
        <p:nvSpPr>
          <p:cNvPr id="18" name="Text 15"/>
          <p:cNvSpPr txBox="1"/>
          <p:nvPr/>
        </p:nvSpPr>
        <p:spPr>
          <a:xfrm>
            <a:off x="594360" y="1810512"/>
            <a:ext cx="5696712"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Website sentence</a:t>
            </a:r>
            <a:endParaRPr lang="en-US" sz="1200" dirty="0"/>
          </a:p>
        </p:txBody>
      </p:sp>
      <p:sp>
        <p:nvSpPr>
          <p:cNvPr id="19" name="Shape 16"/>
          <p:cNvSpPr/>
          <p:nvPr/>
        </p:nvSpPr>
        <p:spPr>
          <a:xfrm>
            <a:off x="457200" y="2322576"/>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10085832" y="2322576"/>
            <a:ext cx="1508760" cy="731520"/>
          </a:xfrm>
          <a:prstGeom prst="rect">
            <a:avLst/>
          </a:prstGeom>
          <a:noFill/>
          <a:ln/>
        </p:spPr>
        <p:txBody>
          <a:bodyPr wrap="square" lIns="0" tIns="0" rIns="0" bIns="0" rtlCol="0" anchor="ctr"/>
          <a:lstStyle/>
          <a:p>
            <a:pPr rtl="1" algn="ctr" indent="0" marL="0">
              <a:buNone/>
            </a:pPr>
            <a:r>
              <a:rPr lang="ar-SA" altLang="en-US" sz="2400" b="1" dirty="0">
                <a:solidFill>
                  <a:srgbClr val="1D5FBF"/>
                </a:solidFill>
                <a:latin typeface="Amiri" pitchFamily="34" charset="0"/>
                <a:ea typeface="Amiri" pitchFamily="34" charset="-122"/>
                <a:cs typeface="Amiri" pitchFamily="34" charset="-120"/>
              </a:rPr>
              <a:t>يَنْبَغِي أَنْ</a:t>
            </a:r>
            <a:endParaRPr lang="ar-SA" sz="2400" dirty="0"/>
          </a:p>
        </p:txBody>
      </p:sp>
      <p:sp>
        <p:nvSpPr>
          <p:cNvPr id="21" name="Text 18"/>
          <p:cNvSpPr txBox="1"/>
          <p:nvPr/>
        </p:nvSpPr>
        <p:spPr>
          <a:xfrm>
            <a:off x="9509760" y="2322576"/>
            <a:ext cx="731520" cy="73152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ea typeface="Calibri" pitchFamily="34" charset="-122"/>
                <a:cs typeface="Calibri" pitchFamily="34" charset="-120"/>
              </a:rPr>
              <a:t>should</a:t>
            </a:r>
            <a:endParaRPr lang="en-US" sz="1150" dirty="0"/>
          </a:p>
        </p:txBody>
      </p:sp>
      <p:sp>
        <p:nvSpPr>
          <p:cNvPr id="22" name="Text 19"/>
          <p:cNvSpPr txBox="1"/>
          <p:nvPr/>
        </p:nvSpPr>
        <p:spPr>
          <a:xfrm>
            <a:off x="6565392" y="2322576"/>
            <a:ext cx="2834640" cy="731520"/>
          </a:xfrm>
          <a:prstGeom prst="rect">
            <a:avLst/>
          </a:prstGeom>
          <a:noFill/>
          <a:ln/>
        </p:spPr>
        <p:txBody>
          <a:bodyPr wrap="square" lIns="0" tIns="0" rIns="0" bIns="0" rtlCol="0" anchor="ctr"/>
          <a:lstStyle/>
          <a:p>
            <a:pPr rtl="1" algn="ctr" indent="0" marL="0">
              <a:buNone/>
            </a:pPr>
            <a:r>
              <a:rPr lang="ar-SA" altLang="en-US" sz="3000" b="1" dirty="0">
                <a:solidFill>
                  <a:srgbClr val="D6336C"/>
                </a:solidFill>
                <a:latin typeface="Amiri" pitchFamily="34" charset="0"/>
                <a:ea typeface="Amiri" pitchFamily="34" charset="-122"/>
                <a:cs typeface="Amiri" pitchFamily="34" charset="-120"/>
              </a:rPr>
              <a:t>نُقَلِّلَ</a:t>
            </a:r>
            <a:endParaRPr lang="ar-SA" sz="3000" dirty="0"/>
          </a:p>
        </p:txBody>
      </p:sp>
      <p:sp>
        <p:nvSpPr>
          <p:cNvPr id="23" name="Text 20"/>
          <p:cNvSpPr txBox="1"/>
          <p:nvPr/>
        </p:nvSpPr>
        <p:spPr>
          <a:xfrm>
            <a:off x="594360" y="2340864"/>
            <a:ext cx="5696712" cy="438912"/>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34" charset="0"/>
                <a:ea typeface="Amiri" pitchFamily="34" charset="-122"/>
                <a:cs typeface="Amiri" pitchFamily="34" charset="-120"/>
              </a:rPr>
              <a:t>يَنْبَغِي أَنْ </a:t>
            </a:r>
            <a:pPr rtl="1" algn="r" indent="0" marL="0">
              <a:buNone/>
            </a:pPr>
            <a:r>
              <a:rPr lang="ar-SA" altLang="en-US" sz="2000" dirty="0">
                <a:solidFill>
                  <a:srgbClr val="D6336C"/>
                </a:solidFill>
                <a:latin typeface="Amiri" pitchFamily="34" charset="0"/>
                <a:ea typeface="Amiri" pitchFamily="34" charset="-122"/>
                <a:cs typeface="Amiri" pitchFamily="34" charset="-120"/>
              </a:rPr>
              <a:t>نُقَلِّلَ</a:t>
            </a:r>
            <a:pPr rtl="1" algn="r" indent="0" marL="0">
              <a:buNone/>
            </a:pPr>
            <a:r>
              <a:rPr lang="ar-SA" altLang="en-US" sz="2000" dirty="0">
                <a:solidFill>
                  <a:srgbClr val="1F2A37"/>
                </a:solidFill>
                <a:latin typeface="Amiri" pitchFamily="34" charset="0"/>
                <a:ea typeface="Amiri" pitchFamily="34" charset="-122"/>
                <a:cs typeface="Amiri" pitchFamily="34" charset="-120"/>
              </a:rPr>
              <a:t> اسْتِخْدَامَ البِلَاسْتِيكِ.</a:t>
            </a:r>
            <a:endParaRPr lang="ar-SA" sz="2000" dirty="0"/>
          </a:p>
        </p:txBody>
      </p:sp>
      <p:sp>
        <p:nvSpPr>
          <p:cNvPr id="24" name="Text 21"/>
          <p:cNvSpPr txBox="1"/>
          <p:nvPr/>
        </p:nvSpPr>
        <p:spPr>
          <a:xfrm>
            <a:off x="594360" y="2746858"/>
            <a:ext cx="5696712" cy="277978"/>
          </a:xfrm>
          <a:prstGeom prst="rect">
            <a:avLst/>
          </a:prstGeom>
          <a:noFill/>
          <a:ln/>
        </p:spPr>
        <p:txBody>
          <a:bodyPr wrap="square" lIns="0" tIns="0" rIns="0" bIns="0" rtlCol="0" anchor="ctr"/>
          <a:lstStyle/>
          <a:p>
            <a:pPr algn="r" indent="0" marL="0">
              <a:buNone/>
            </a:pPr>
            <a:r>
              <a:rPr lang="en-US" sz="1100" i="1" dirty="0">
                <a:solidFill>
                  <a:srgbClr val="5A6472"/>
                </a:solidFill>
                <a:latin typeface="Calibri" pitchFamily="34" charset="0"/>
                <a:ea typeface="Calibri" pitchFamily="34" charset="-122"/>
                <a:cs typeface="Calibri" pitchFamily="34" charset="-120"/>
              </a:rPr>
              <a:t>We should reduce plastic use.</a:t>
            </a:r>
            <a:endParaRPr lang="en-US" sz="1100" dirty="0"/>
          </a:p>
        </p:txBody>
      </p:sp>
      <p:sp>
        <p:nvSpPr>
          <p:cNvPr id="25" name="Shape 22"/>
          <p:cNvSpPr/>
          <p:nvPr/>
        </p:nvSpPr>
        <p:spPr>
          <a:xfrm>
            <a:off x="457200" y="3145536"/>
            <a:ext cx="11274552" cy="731520"/>
          </a:xfrm>
          <a:prstGeom prst="roundRect">
            <a:avLst>
              <a:gd name="adj" fmla="val 6250"/>
            </a:avLst>
          </a:prstGeom>
          <a:solidFill>
            <a:srgbClr val="F4F1EA"/>
          </a:solidFill>
          <a:ln w="9525">
            <a:solidFill>
              <a:srgbClr val="D8D0BF"/>
            </a:solidFill>
            <a:prstDash val="solid"/>
          </a:ln>
        </p:spPr>
      </p:sp>
      <p:sp>
        <p:nvSpPr>
          <p:cNvPr id="26" name="Text 23"/>
          <p:cNvSpPr txBox="1"/>
          <p:nvPr/>
        </p:nvSpPr>
        <p:spPr>
          <a:xfrm>
            <a:off x="10085832" y="3145536"/>
            <a:ext cx="1508760" cy="731520"/>
          </a:xfrm>
          <a:prstGeom prst="rect">
            <a:avLst/>
          </a:prstGeom>
          <a:noFill/>
          <a:ln/>
        </p:spPr>
        <p:txBody>
          <a:bodyPr wrap="square" lIns="0" tIns="0" rIns="0" bIns="0" rtlCol="0" anchor="ctr"/>
          <a:lstStyle/>
          <a:p>
            <a:pPr rtl="1" algn="ctr" indent="0" marL="0">
              <a:buNone/>
            </a:pPr>
            <a:r>
              <a:rPr lang="ar-SA" altLang="en-US" sz="2400" b="1" dirty="0">
                <a:solidFill>
                  <a:srgbClr val="1D5FBF"/>
                </a:solidFill>
                <a:latin typeface="Amiri" pitchFamily="34" charset="0"/>
                <a:ea typeface="Amiri" pitchFamily="34" charset="-122"/>
                <a:cs typeface="Amiri" pitchFamily="34" charset="-120"/>
              </a:rPr>
              <a:t>يَجِبُ أَنْ</a:t>
            </a:r>
            <a:endParaRPr lang="ar-SA" sz="2400" dirty="0"/>
          </a:p>
        </p:txBody>
      </p:sp>
      <p:sp>
        <p:nvSpPr>
          <p:cNvPr id="27" name="Text 24"/>
          <p:cNvSpPr txBox="1"/>
          <p:nvPr/>
        </p:nvSpPr>
        <p:spPr>
          <a:xfrm>
            <a:off x="9509760" y="3145536"/>
            <a:ext cx="731520" cy="73152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ea typeface="Calibri" pitchFamily="34" charset="-122"/>
                <a:cs typeface="Calibri" pitchFamily="34" charset="-120"/>
              </a:rPr>
              <a:t>must</a:t>
            </a:r>
            <a:endParaRPr lang="en-US" sz="1150" dirty="0"/>
          </a:p>
        </p:txBody>
      </p:sp>
      <p:sp>
        <p:nvSpPr>
          <p:cNvPr id="28" name="Text 25"/>
          <p:cNvSpPr txBox="1"/>
          <p:nvPr/>
        </p:nvSpPr>
        <p:spPr>
          <a:xfrm>
            <a:off x="6565392" y="3145536"/>
            <a:ext cx="2834640" cy="731520"/>
          </a:xfrm>
          <a:prstGeom prst="rect">
            <a:avLst/>
          </a:prstGeom>
          <a:noFill/>
          <a:ln/>
        </p:spPr>
        <p:txBody>
          <a:bodyPr wrap="square" lIns="0" tIns="0" rIns="0" bIns="0" rtlCol="0" anchor="ctr"/>
          <a:lstStyle/>
          <a:p>
            <a:pPr rtl="1" algn="ctr" indent="0" marL="0">
              <a:buNone/>
            </a:pPr>
            <a:r>
              <a:rPr lang="ar-SA" altLang="en-US" sz="3000" b="1" dirty="0">
                <a:solidFill>
                  <a:srgbClr val="D6336C"/>
                </a:solidFill>
                <a:latin typeface="Amiri" pitchFamily="34" charset="0"/>
                <a:ea typeface="Amiri" pitchFamily="34" charset="-122"/>
                <a:cs typeface="Amiri" pitchFamily="34" charset="-120"/>
              </a:rPr>
              <a:t>نُعِيدَ</a:t>
            </a:r>
            <a:endParaRPr lang="ar-SA" sz="3000" dirty="0"/>
          </a:p>
        </p:txBody>
      </p:sp>
      <p:sp>
        <p:nvSpPr>
          <p:cNvPr id="29" name="Text 26"/>
          <p:cNvSpPr txBox="1"/>
          <p:nvPr/>
        </p:nvSpPr>
        <p:spPr>
          <a:xfrm>
            <a:off x="594360" y="3163824"/>
            <a:ext cx="5696712" cy="438912"/>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34" charset="0"/>
                <a:ea typeface="Amiri" pitchFamily="34" charset="-122"/>
                <a:cs typeface="Amiri" pitchFamily="34" charset="-120"/>
              </a:rPr>
              <a:t>يَجِبُ أَنْ </a:t>
            </a:r>
            <a:pPr rtl="1" algn="r" indent="0" marL="0">
              <a:buNone/>
            </a:pPr>
            <a:r>
              <a:rPr lang="ar-SA" altLang="en-US" sz="2000" dirty="0">
                <a:solidFill>
                  <a:srgbClr val="D6336C"/>
                </a:solidFill>
                <a:latin typeface="Amiri" pitchFamily="34" charset="0"/>
                <a:ea typeface="Amiri" pitchFamily="34" charset="-122"/>
                <a:cs typeface="Amiri" pitchFamily="34" charset="-120"/>
              </a:rPr>
              <a:t>نُعِيدَ</a:t>
            </a:r>
            <a:pPr rtl="1" algn="r" indent="0" marL="0">
              <a:buNone/>
            </a:pPr>
            <a:r>
              <a:rPr lang="ar-SA" altLang="en-US" sz="2000" dirty="0">
                <a:solidFill>
                  <a:srgbClr val="1F2A37"/>
                </a:solidFill>
                <a:latin typeface="Amiri" pitchFamily="34" charset="0"/>
                <a:ea typeface="Amiri" pitchFamily="34" charset="-122"/>
                <a:cs typeface="Amiri" pitchFamily="34" charset="-120"/>
              </a:rPr>
              <a:t> تَدْوِيرَ النُّفَايَاتِ.</a:t>
            </a:r>
            <a:endParaRPr lang="ar-SA" sz="2000" dirty="0"/>
          </a:p>
        </p:txBody>
      </p:sp>
      <p:sp>
        <p:nvSpPr>
          <p:cNvPr id="30" name="Text 27"/>
          <p:cNvSpPr txBox="1"/>
          <p:nvPr/>
        </p:nvSpPr>
        <p:spPr>
          <a:xfrm>
            <a:off x="594360" y="3569818"/>
            <a:ext cx="5696712" cy="277978"/>
          </a:xfrm>
          <a:prstGeom prst="rect">
            <a:avLst/>
          </a:prstGeom>
          <a:noFill/>
          <a:ln/>
        </p:spPr>
        <p:txBody>
          <a:bodyPr wrap="square" lIns="0" tIns="0" rIns="0" bIns="0" rtlCol="0" anchor="ctr"/>
          <a:lstStyle/>
          <a:p>
            <a:pPr algn="r" indent="0" marL="0">
              <a:buNone/>
            </a:pPr>
            <a:r>
              <a:rPr lang="en-US" sz="1100" i="1" dirty="0">
                <a:solidFill>
                  <a:srgbClr val="5A6472"/>
                </a:solidFill>
                <a:latin typeface="Calibri" pitchFamily="34" charset="0"/>
                <a:ea typeface="Calibri" pitchFamily="34" charset="-122"/>
                <a:cs typeface="Calibri" pitchFamily="34" charset="-120"/>
              </a:rPr>
              <a:t>We must recycle waste. (website game)</a:t>
            </a:r>
            <a:endParaRPr lang="en-US" sz="1100" dirty="0"/>
          </a:p>
        </p:txBody>
      </p:sp>
      <p:sp>
        <p:nvSpPr>
          <p:cNvPr id="31" name="Shape 28"/>
          <p:cNvSpPr/>
          <p:nvPr/>
        </p:nvSpPr>
        <p:spPr>
          <a:xfrm>
            <a:off x="457200" y="3968496"/>
            <a:ext cx="11274552" cy="731520"/>
          </a:xfrm>
          <a:prstGeom prst="roundRect">
            <a:avLst>
              <a:gd name="adj" fmla="val 6250"/>
            </a:avLst>
          </a:prstGeom>
          <a:solidFill>
            <a:srgbClr val="FFFFFF"/>
          </a:solidFill>
          <a:ln w="9525">
            <a:solidFill>
              <a:srgbClr val="D8D0BF"/>
            </a:solidFill>
            <a:prstDash val="solid"/>
          </a:ln>
        </p:spPr>
      </p:sp>
      <p:sp>
        <p:nvSpPr>
          <p:cNvPr id="32" name="Text 29"/>
          <p:cNvSpPr txBox="1"/>
          <p:nvPr/>
        </p:nvSpPr>
        <p:spPr>
          <a:xfrm>
            <a:off x="10085832" y="3968496"/>
            <a:ext cx="1508760" cy="731520"/>
          </a:xfrm>
          <a:prstGeom prst="rect">
            <a:avLst/>
          </a:prstGeom>
          <a:noFill/>
          <a:ln/>
        </p:spPr>
        <p:txBody>
          <a:bodyPr wrap="square" lIns="0" tIns="0" rIns="0" bIns="0" rtlCol="0" anchor="ctr"/>
          <a:lstStyle/>
          <a:p>
            <a:pPr rtl="1" algn="ctr" indent="0" marL="0">
              <a:buNone/>
            </a:pPr>
            <a:r>
              <a:rPr lang="ar-SA" altLang="en-US" sz="2400" b="1" dirty="0">
                <a:solidFill>
                  <a:srgbClr val="1D5FBF"/>
                </a:solidFill>
                <a:latin typeface="Amiri" pitchFamily="34" charset="0"/>
                <a:ea typeface="Amiri" pitchFamily="34" charset="-122"/>
                <a:cs typeface="Amiri" pitchFamily="34" charset="-120"/>
              </a:rPr>
              <a:t>يُمْكِنُ أَنْ</a:t>
            </a:r>
            <a:endParaRPr lang="ar-SA" sz="2400" dirty="0"/>
          </a:p>
        </p:txBody>
      </p:sp>
      <p:sp>
        <p:nvSpPr>
          <p:cNvPr id="33" name="Text 30"/>
          <p:cNvSpPr txBox="1"/>
          <p:nvPr/>
        </p:nvSpPr>
        <p:spPr>
          <a:xfrm>
            <a:off x="9509760" y="3968496"/>
            <a:ext cx="731520" cy="73152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ea typeface="Calibri" pitchFamily="34" charset="-122"/>
                <a:cs typeface="Calibri" pitchFamily="34" charset="-120"/>
              </a:rPr>
              <a:t>can</a:t>
            </a:r>
            <a:endParaRPr lang="en-US" sz="1150" dirty="0"/>
          </a:p>
        </p:txBody>
      </p:sp>
      <p:sp>
        <p:nvSpPr>
          <p:cNvPr id="34" name="Text 31"/>
          <p:cNvSpPr txBox="1"/>
          <p:nvPr/>
        </p:nvSpPr>
        <p:spPr>
          <a:xfrm>
            <a:off x="6565392" y="3968496"/>
            <a:ext cx="2834640" cy="731520"/>
          </a:xfrm>
          <a:prstGeom prst="rect">
            <a:avLst/>
          </a:prstGeom>
          <a:noFill/>
          <a:ln/>
        </p:spPr>
        <p:txBody>
          <a:bodyPr wrap="square" lIns="0" tIns="0" rIns="0" bIns="0" rtlCol="0" anchor="ctr"/>
          <a:lstStyle/>
          <a:p>
            <a:pPr rtl="1" algn="ctr" indent="0" marL="0">
              <a:buNone/>
            </a:pPr>
            <a:r>
              <a:rPr lang="ar-SA" altLang="en-US" sz="3000" b="1" dirty="0">
                <a:solidFill>
                  <a:srgbClr val="D6336C"/>
                </a:solidFill>
                <a:latin typeface="Amiri" pitchFamily="34" charset="0"/>
                <a:ea typeface="Amiri" pitchFamily="34" charset="-122"/>
                <a:cs typeface="Amiri" pitchFamily="34" charset="-120"/>
              </a:rPr>
              <a:t>نَسْتَخْدِمَ</a:t>
            </a:r>
            <a:endParaRPr lang="ar-SA" sz="3000" dirty="0"/>
          </a:p>
        </p:txBody>
      </p:sp>
      <p:sp>
        <p:nvSpPr>
          <p:cNvPr id="35" name="Text 32"/>
          <p:cNvSpPr txBox="1"/>
          <p:nvPr/>
        </p:nvSpPr>
        <p:spPr>
          <a:xfrm>
            <a:off x="594360" y="3986784"/>
            <a:ext cx="5696712" cy="438912"/>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34" charset="0"/>
                <a:ea typeface="Amiri" pitchFamily="34" charset="-122"/>
                <a:cs typeface="Amiri" pitchFamily="34" charset="-120"/>
              </a:rPr>
              <a:t>يُمْكِنُ أَنْ </a:t>
            </a:r>
            <a:pPr rtl="1" algn="r" indent="0" marL="0">
              <a:buNone/>
            </a:pPr>
            <a:r>
              <a:rPr lang="ar-SA" altLang="en-US" sz="2000" dirty="0">
                <a:solidFill>
                  <a:srgbClr val="D6336C"/>
                </a:solidFill>
                <a:latin typeface="Amiri" pitchFamily="34" charset="0"/>
                <a:ea typeface="Amiri" pitchFamily="34" charset="-122"/>
                <a:cs typeface="Amiri" pitchFamily="34" charset="-120"/>
              </a:rPr>
              <a:t>نَسْتَخْدِمَ</a:t>
            </a:r>
            <a:pPr rtl="1" algn="r" indent="0" marL="0">
              <a:buNone/>
            </a:pPr>
            <a:r>
              <a:rPr lang="ar-SA" altLang="en-US" sz="2000" dirty="0">
                <a:solidFill>
                  <a:srgbClr val="1F2A37"/>
                </a:solidFill>
                <a:latin typeface="Amiri" pitchFamily="34" charset="0"/>
                <a:ea typeface="Amiri" pitchFamily="34" charset="-122"/>
                <a:cs typeface="Amiri" pitchFamily="34" charset="-120"/>
              </a:rPr>
              <a:t> الطَّاقَةَ الشَّمْسِيَّةَ.</a:t>
            </a:r>
            <a:endParaRPr lang="ar-SA" sz="2000" dirty="0"/>
          </a:p>
        </p:txBody>
      </p:sp>
      <p:sp>
        <p:nvSpPr>
          <p:cNvPr id="36" name="Text 33"/>
          <p:cNvSpPr txBox="1"/>
          <p:nvPr/>
        </p:nvSpPr>
        <p:spPr>
          <a:xfrm>
            <a:off x="594360" y="4392778"/>
            <a:ext cx="5696712" cy="277978"/>
          </a:xfrm>
          <a:prstGeom prst="rect">
            <a:avLst/>
          </a:prstGeom>
          <a:noFill/>
          <a:ln/>
        </p:spPr>
        <p:txBody>
          <a:bodyPr wrap="square" lIns="0" tIns="0" rIns="0" bIns="0" rtlCol="0" anchor="ctr"/>
          <a:lstStyle/>
          <a:p>
            <a:pPr algn="r" indent="0" marL="0">
              <a:buNone/>
            </a:pPr>
            <a:r>
              <a:rPr lang="en-US" sz="1100" i="1" dirty="0">
                <a:solidFill>
                  <a:srgbClr val="5A6472"/>
                </a:solidFill>
                <a:latin typeface="Calibri" pitchFamily="34" charset="0"/>
                <a:ea typeface="Calibri" pitchFamily="34" charset="-122"/>
                <a:cs typeface="Calibri" pitchFamily="34" charset="-120"/>
              </a:rPr>
              <a:t>We can use solar energy.</a:t>
            </a:r>
            <a:endParaRPr lang="en-US" sz="1100" dirty="0"/>
          </a:p>
        </p:txBody>
      </p:sp>
      <p:sp>
        <p:nvSpPr>
          <p:cNvPr id="37" name="Shape 34"/>
          <p:cNvSpPr/>
          <p:nvPr/>
        </p:nvSpPr>
        <p:spPr>
          <a:xfrm>
            <a:off x="457200" y="4791456"/>
            <a:ext cx="11274552" cy="731520"/>
          </a:xfrm>
          <a:prstGeom prst="roundRect">
            <a:avLst>
              <a:gd name="adj" fmla="val 6250"/>
            </a:avLst>
          </a:prstGeom>
          <a:solidFill>
            <a:srgbClr val="F4F1EA"/>
          </a:solidFill>
          <a:ln w="9525">
            <a:solidFill>
              <a:srgbClr val="D8D0BF"/>
            </a:solidFill>
            <a:prstDash val="solid"/>
          </a:ln>
        </p:spPr>
      </p:sp>
      <p:sp>
        <p:nvSpPr>
          <p:cNvPr id="38" name="Text 35"/>
          <p:cNvSpPr txBox="1"/>
          <p:nvPr/>
        </p:nvSpPr>
        <p:spPr>
          <a:xfrm>
            <a:off x="10085832" y="4791456"/>
            <a:ext cx="1508760" cy="731520"/>
          </a:xfrm>
          <a:prstGeom prst="rect">
            <a:avLst/>
          </a:prstGeom>
          <a:noFill/>
          <a:ln/>
        </p:spPr>
        <p:txBody>
          <a:bodyPr wrap="square" lIns="0" tIns="0" rIns="0" bIns="0" rtlCol="0" anchor="ctr"/>
          <a:lstStyle/>
          <a:p>
            <a:pPr rtl="1" algn="ctr" indent="0" marL="0">
              <a:buNone/>
            </a:pPr>
            <a:r>
              <a:rPr lang="ar-SA" altLang="en-US" sz="2400" b="1" dirty="0">
                <a:solidFill>
                  <a:srgbClr val="1D5FBF"/>
                </a:solidFill>
                <a:latin typeface="Amiri" pitchFamily="34" charset="0"/>
                <a:ea typeface="Amiri" pitchFamily="34" charset="-122"/>
                <a:cs typeface="Amiri" pitchFamily="34" charset="-120"/>
              </a:rPr>
              <a:t>لِكَيْ</a:t>
            </a:r>
            <a:endParaRPr lang="ar-SA" sz="2400" dirty="0"/>
          </a:p>
        </p:txBody>
      </p:sp>
      <p:sp>
        <p:nvSpPr>
          <p:cNvPr id="39" name="Text 36"/>
          <p:cNvSpPr txBox="1"/>
          <p:nvPr/>
        </p:nvSpPr>
        <p:spPr>
          <a:xfrm>
            <a:off x="9509760" y="4791456"/>
            <a:ext cx="731520" cy="73152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ea typeface="Calibri" pitchFamily="34" charset="-122"/>
                <a:cs typeface="Calibri" pitchFamily="34" charset="-120"/>
              </a:rPr>
              <a:t>so that</a:t>
            </a:r>
            <a:endParaRPr lang="en-US" sz="1150" dirty="0"/>
          </a:p>
        </p:txBody>
      </p:sp>
      <p:sp>
        <p:nvSpPr>
          <p:cNvPr id="40" name="Text 37"/>
          <p:cNvSpPr txBox="1"/>
          <p:nvPr/>
        </p:nvSpPr>
        <p:spPr>
          <a:xfrm>
            <a:off x="6565392" y="4791456"/>
            <a:ext cx="2834640" cy="731520"/>
          </a:xfrm>
          <a:prstGeom prst="rect">
            <a:avLst/>
          </a:prstGeom>
          <a:noFill/>
          <a:ln/>
        </p:spPr>
        <p:txBody>
          <a:bodyPr wrap="square" lIns="0" tIns="0" rIns="0" bIns="0" rtlCol="0" anchor="ctr"/>
          <a:lstStyle/>
          <a:p>
            <a:pPr rtl="1" algn="ctr" indent="0" marL="0">
              <a:buNone/>
            </a:pPr>
            <a:r>
              <a:rPr lang="ar-SA" altLang="en-US" sz="3000" b="1" dirty="0">
                <a:solidFill>
                  <a:srgbClr val="D6336C"/>
                </a:solidFill>
                <a:latin typeface="Amiri" pitchFamily="34" charset="0"/>
                <a:ea typeface="Amiri" pitchFamily="34" charset="-122"/>
                <a:cs typeface="Amiri" pitchFamily="34" charset="-120"/>
              </a:rPr>
              <a:t>نُقَلِّلَ</a:t>
            </a:r>
            <a:endParaRPr lang="ar-SA" sz="3000" dirty="0"/>
          </a:p>
        </p:txBody>
      </p:sp>
      <p:sp>
        <p:nvSpPr>
          <p:cNvPr id="41" name="Text 38"/>
          <p:cNvSpPr txBox="1"/>
          <p:nvPr/>
        </p:nvSpPr>
        <p:spPr>
          <a:xfrm>
            <a:off x="594360" y="4809744"/>
            <a:ext cx="5696712" cy="438912"/>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34" charset="0"/>
                <a:ea typeface="Amiri" pitchFamily="34" charset="-122"/>
                <a:cs typeface="Amiri" pitchFamily="34" charset="-120"/>
              </a:rPr>
              <a:t>نَسْتَخْدِمُ النَّقْلَ العَامَّ لِكَيْ </a:t>
            </a:r>
            <a:pPr rtl="1" algn="r" indent="0" marL="0">
              <a:buNone/>
            </a:pPr>
            <a:r>
              <a:rPr lang="ar-SA" altLang="en-US" sz="2000" dirty="0">
                <a:solidFill>
                  <a:srgbClr val="D6336C"/>
                </a:solidFill>
                <a:latin typeface="Amiri" pitchFamily="34" charset="0"/>
                <a:ea typeface="Amiri" pitchFamily="34" charset="-122"/>
                <a:cs typeface="Amiri" pitchFamily="34" charset="-120"/>
              </a:rPr>
              <a:t>نُقَلِّلَ</a:t>
            </a:r>
            <a:pPr rtl="1" algn="r" indent="0" marL="0">
              <a:buNone/>
            </a:pPr>
            <a:r>
              <a:rPr lang="ar-SA" altLang="en-US" sz="2000" dirty="0">
                <a:solidFill>
                  <a:srgbClr val="1F2A37"/>
                </a:solidFill>
                <a:latin typeface="Amiri" pitchFamily="34" charset="0"/>
                <a:ea typeface="Amiri" pitchFamily="34" charset="-122"/>
                <a:cs typeface="Amiri" pitchFamily="34" charset="-120"/>
              </a:rPr>
              <a:t> الانْبِعَاثَاتِ.</a:t>
            </a:r>
            <a:endParaRPr lang="ar-SA" sz="2000" dirty="0"/>
          </a:p>
        </p:txBody>
      </p:sp>
      <p:sp>
        <p:nvSpPr>
          <p:cNvPr id="42" name="Text 39"/>
          <p:cNvSpPr txBox="1"/>
          <p:nvPr/>
        </p:nvSpPr>
        <p:spPr>
          <a:xfrm>
            <a:off x="594360" y="5215738"/>
            <a:ext cx="5696712" cy="277978"/>
          </a:xfrm>
          <a:prstGeom prst="rect">
            <a:avLst/>
          </a:prstGeom>
          <a:noFill/>
          <a:ln/>
        </p:spPr>
        <p:txBody>
          <a:bodyPr wrap="square" lIns="0" tIns="0" rIns="0" bIns="0" rtlCol="0" anchor="ctr"/>
          <a:lstStyle/>
          <a:p>
            <a:pPr algn="r" indent="0" marL="0">
              <a:buNone/>
            </a:pPr>
            <a:r>
              <a:rPr lang="en-US" sz="1100" i="1" dirty="0">
                <a:solidFill>
                  <a:srgbClr val="5A6472"/>
                </a:solidFill>
                <a:latin typeface="Calibri" pitchFamily="34" charset="0"/>
                <a:ea typeface="Calibri" pitchFamily="34" charset="-122"/>
                <a:cs typeface="Calibri" pitchFamily="34" charset="-120"/>
              </a:rPr>
              <a:t>We use public transport to reduce emissions.</a:t>
            </a:r>
            <a:endParaRPr lang="en-US" sz="1100" dirty="0"/>
          </a:p>
        </p:txBody>
      </p:sp>
      <p:sp>
        <p:nvSpPr>
          <p:cNvPr id="43" name="Shape 40"/>
          <p:cNvSpPr/>
          <p:nvPr/>
        </p:nvSpPr>
        <p:spPr>
          <a:xfrm>
            <a:off x="457200" y="5614416"/>
            <a:ext cx="11274552" cy="731520"/>
          </a:xfrm>
          <a:prstGeom prst="roundRect">
            <a:avLst>
              <a:gd name="adj" fmla="val 6250"/>
            </a:avLst>
          </a:prstGeom>
          <a:solidFill>
            <a:srgbClr val="FFFFFF"/>
          </a:solidFill>
          <a:ln w="9525">
            <a:solidFill>
              <a:srgbClr val="D8D0BF"/>
            </a:solidFill>
            <a:prstDash val="solid"/>
          </a:ln>
        </p:spPr>
      </p:sp>
      <p:sp>
        <p:nvSpPr>
          <p:cNvPr id="44" name="Text 41"/>
          <p:cNvSpPr txBox="1"/>
          <p:nvPr/>
        </p:nvSpPr>
        <p:spPr>
          <a:xfrm>
            <a:off x="10085832" y="5614416"/>
            <a:ext cx="1508760" cy="731520"/>
          </a:xfrm>
          <a:prstGeom prst="rect">
            <a:avLst/>
          </a:prstGeom>
          <a:noFill/>
          <a:ln/>
        </p:spPr>
        <p:txBody>
          <a:bodyPr wrap="square" lIns="0" tIns="0" rIns="0" bIns="0" rtlCol="0" anchor="ctr"/>
          <a:lstStyle/>
          <a:p>
            <a:pPr rtl="1" algn="ctr" indent="0" marL="0">
              <a:buNone/>
            </a:pPr>
            <a:r>
              <a:rPr lang="ar-SA" altLang="en-US" sz="2400" b="1" dirty="0">
                <a:solidFill>
                  <a:srgbClr val="1D5FBF"/>
                </a:solidFill>
                <a:latin typeface="Amiri" pitchFamily="34" charset="0"/>
                <a:ea typeface="Amiri" pitchFamily="34" charset="-122"/>
                <a:cs typeface="Amiri" pitchFamily="34" charset="-120"/>
              </a:rPr>
              <a:t>مِنَ الأَفْضَلِ أَنْ</a:t>
            </a:r>
            <a:endParaRPr lang="ar-SA" sz="2400" dirty="0"/>
          </a:p>
        </p:txBody>
      </p:sp>
      <p:sp>
        <p:nvSpPr>
          <p:cNvPr id="45" name="Text 42"/>
          <p:cNvSpPr txBox="1"/>
          <p:nvPr/>
        </p:nvSpPr>
        <p:spPr>
          <a:xfrm>
            <a:off x="9509760" y="5614416"/>
            <a:ext cx="731520" cy="73152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ea typeface="Calibri" pitchFamily="34" charset="-122"/>
                <a:cs typeface="Calibri" pitchFamily="34" charset="-120"/>
              </a:rPr>
              <a:t>it is better to</a:t>
            </a:r>
            <a:endParaRPr lang="en-US" sz="1150" dirty="0"/>
          </a:p>
        </p:txBody>
      </p:sp>
      <p:sp>
        <p:nvSpPr>
          <p:cNvPr id="46" name="Text 43"/>
          <p:cNvSpPr txBox="1"/>
          <p:nvPr/>
        </p:nvSpPr>
        <p:spPr>
          <a:xfrm>
            <a:off x="6565392" y="5614416"/>
            <a:ext cx="2834640" cy="731520"/>
          </a:xfrm>
          <a:prstGeom prst="rect">
            <a:avLst/>
          </a:prstGeom>
          <a:noFill/>
          <a:ln/>
        </p:spPr>
        <p:txBody>
          <a:bodyPr wrap="square" lIns="0" tIns="0" rIns="0" bIns="0" rtlCol="0" anchor="ctr"/>
          <a:lstStyle/>
          <a:p>
            <a:pPr rtl="1" algn="ctr" indent="0" marL="0">
              <a:buNone/>
            </a:pPr>
            <a:r>
              <a:rPr lang="ar-SA" altLang="en-US" sz="3000" b="1" dirty="0">
                <a:solidFill>
                  <a:srgbClr val="D6336C"/>
                </a:solidFill>
                <a:latin typeface="Amiri" pitchFamily="34" charset="0"/>
                <a:ea typeface="Amiri" pitchFamily="34" charset="-122"/>
                <a:cs typeface="Amiri" pitchFamily="34" charset="-120"/>
              </a:rPr>
              <a:t>نَسْتَعْمِلَ</a:t>
            </a:r>
            <a:endParaRPr lang="ar-SA" sz="3000" dirty="0"/>
          </a:p>
        </p:txBody>
      </p:sp>
      <p:sp>
        <p:nvSpPr>
          <p:cNvPr id="47" name="Text 44"/>
          <p:cNvSpPr txBox="1"/>
          <p:nvPr/>
        </p:nvSpPr>
        <p:spPr>
          <a:xfrm>
            <a:off x="594360" y="5632704"/>
            <a:ext cx="5696712" cy="438912"/>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34" charset="0"/>
                <a:ea typeface="Amiri" pitchFamily="34" charset="-122"/>
                <a:cs typeface="Amiri" pitchFamily="34" charset="-120"/>
              </a:rPr>
              <a:t>مِنَ الأَفْضَلِ أَنْ </a:t>
            </a:r>
            <a:pPr rtl="1" algn="r" indent="0" marL="0">
              <a:buNone/>
            </a:pPr>
            <a:r>
              <a:rPr lang="ar-SA" altLang="en-US" sz="2000" dirty="0">
                <a:solidFill>
                  <a:srgbClr val="D6336C"/>
                </a:solidFill>
                <a:latin typeface="Amiri" pitchFamily="34" charset="0"/>
                <a:ea typeface="Amiri" pitchFamily="34" charset="-122"/>
                <a:cs typeface="Amiri" pitchFamily="34" charset="-120"/>
              </a:rPr>
              <a:t>نَسْتَعْمِلَ</a:t>
            </a:r>
            <a:pPr rtl="1" algn="r" indent="0" marL="0">
              <a:buNone/>
            </a:pPr>
            <a:r>
              <a:rPr lang="ar-SA" altLang="en-US" sz="2000" dirty="0">
                <a:solidFill>
                  <a:srgbClr val="1F2A37"/>
                </a:solidFill>
                <a:latin typeface="Amiri" pitchFamily="34" charset="0"/>
                <a:ea typeface="Amiri" pitchFamily="34" charset="-122"/>
                <a:cs typeface="Amiri" pitchFamily="34" charset="-120"/>
              </a:rPr>
              <a:t> الدَّرَّاجَةَ.</a:t>
            </a:r>
            <a:endParaRPr lang="ar-SA" sz="2000" dirty="0"/>
          </a:p>
        </p:txBody>
      </p:sp>
      <p:sp>
        <p:nvSpPr>
          <p:cNvPr id="48" name="Text 45"/>
          <p:cNvSpPr txBox="1"/>
          <p:nvPr/>
        </p:nvSpPr>
        <p:spPr>
          <a:xfrm>
            <a:off x="594360" y="6038698"/>
            <a:ext cx="5696712" cy="277978"/>
          </a:xfrm>
          <a:prstGeom prst="rect">
            <a:avLst/>
          </a:prstGeom>
          <a:noFill/>
          <a:ln/>
        </p:spPr>
        <p:txBody>
          <a:bodyPr wrap="square" lIns="0" tIns="0" rIns="0" bIns="0" rtlCol="0" anchor="ctr"/>
          <a:lstStyle/>
          <a:p>
            <a:pPr algn="r" indent="0" marL="0">
              <a:buNone/>
            </a:pPr>
            <a:r>
              <a:rPr lang="en-US" sz="1100" i="1" dirty="0">
                <a:solidFill>
                  <a:srgbClr val="5A6472"/>
                </a:solidFill>
                <a:latin typeface="Calibri" pitchFamily="34" charset="0"/>
                <a:ea typeface="Calibri" pitchFamily="34" charset="-122"/>
                <a:cs typeface="Calibri" pitchFamily="34" charset="-120"/>
              </a:rPr>
              <a:t>It is better to use a bicycle. (website game)</a:t>
            </a:r>
            <a:endParaRPr lang="en-US" sz="1100" dirty="0"/>
          </a:p>
        </p:txBody>
      </p:sp>
      <p:sp>
        <p:nvSpPr>
          <p:cNvPr id="49" name="Text 4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13 / 46</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TC-L05 · Environmental Solutions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83" b="1" spc="150" kern="0" dirty="0">
                <a:solidFill>
                  <a:srgbClr val="1B3B6F"/>
                </a:solidFill>
                <a:latin typeface="Calibri" pitchFamily="34" charset="0"/>
                <a:ea typeface="Calibri" pitchFamily="34" charset="-122"/>
                <a:cs typeface="Calibri" pitchFamily="34" charset="-120"/>
              </a:rPr>
              <a:t>GRAMMAR FOCUS · PART 3 · WEBSITE RULE “OBLIGATION FOR A PERSON OR GROUP”</a:t>
            </a:r>
            <a:endParaRPr lang="en-US" sz="983"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Who must act? Responsibility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مَنِ المَسْؤُولُ؟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2 · Lesson 2 of 3</a:t>
            </a:r>
            <a:endParaRPr lang="en-US" sz="850" dirty="0"/>
          </a:p>
        </p:txBody>
      </p:sp>
      <p:sp>
        <p:nvSpPr>
          <p:cNvPr id="15" name="Text 12"/>
          <p:cNvSpPr txBox="1"/>
          <p:nvPr/>
        </p:nvSpPr>
        <p:spPr>
          <a:xfrm>
            <a:off x="457200" y="1828800"/>
            <a:ext cx="3017520" cy="566928"/>
          </a:xfrm>
          <a:prstGeom prst="rect">
            <a:avLst/>
          </a:prstGeom>
          <a:noFill/>
          <a:ln/>
        </p:spPr>
        <p:txBody>
          <a:bodyPr wrap="square" lIns="0" tIns="0" rIns="0" bIns="0" rtlCol="0" anchor="ctr"/>
          <a:lstStyle/>
          <a:p>
            <a:pPr algn="l" indent="0" marL="0">
              <a:buNone/>
            </a:pPr>
            <a:r>
              <a:rPr lang="en-US" sz="1100" b="1" dirty="0">
                <a:solidFill>
                  <a:srgbClr val="5A6472"/>
                </a:solidFill>
                <a:latin typeface="Calibri" pitchFamily="34" charset="0"/>
                <a:ea typeface="Calibri" pitchFamily="34" charset="-122"/>
                <a:cs typeface="Calibri" pitchFamily="34" charset="-120"/>
              </a:rPr>
              <a:t>English meaning</a:t>
            </a:r>
            <a:endParaRPr lang="en-US" sz="1100" dirty="0"/>
          </a:p>
        </p:txBody>
      </p:sp>
      <p:sp>
        <p:nvSpPr>
          <p:cNvPr id="16" name="Shape 13"/>
          <p:cNvSpPr/>
          <p:nvPr/>
        </p:nvSpPr>
        <p:spPr>
          <a:xfrm>
            <a:off x="9089136" y="1810512"/>
            <a:ext cx="264261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9089136" y="1792224"/>
            <a:ext cx="2642616" cy="402336"/>
          </a:xfrm>
          <a:prstGeom prst="rect">
            <a:avLst/>
          </a:prstGeom>
          <a:noFill/>
          <a:ln/>
        </p:spPr>
        <p:txBody>
          <a:bodyPr wrap="square" lIns="0" tIns="0" rIns="0" bIns="0" rtlCol="0" anchor="ctr"/>
          <a:lstStyle/>
          <a:p>
            <a:pPr rtl="1" algn="ctr" indent="0" marL="0">
              <a:buNone/>
            </a:pPr>
            <a:r>
              <a:rPr lang="ar-SA" altLang="en-US" sz="1850" b="1" dirty="0">
                <a:solidFill>
                  <a:srgbClr val="FFFFFF"/>
                </a:solidFill>
                <a:latin typeface="Amiri" pitchFamily="34" charset="0"/>
                <a:ea typeface="Amiri" pitchFamily="34" charset="-122"/>
                <a:cs typeface="Amiri" pitchFamily="34" charset="-120"/>
              </a:rPr>
              <a:t>يَجِبُ عَلَى</a:t>
            </a:r>
            <a:endParaRPr lang="ar-SA" sz="1850" dirty="0"/>
          </a:p>
        </p:txBody>
      </p:sp>
      <p:sp>
        <p:nvSpPr>
          <p:cNvPr id="18" name="Text 15"/>
          <p:cNvSpPr txBox="1"/>
          <p:nvPr/>
        </p:nvSpPr>
        <p:spPr>
          <a:xfrm>
            <a:off x="9089136" y="2157984"/>
            <a:ext cx="2642616" cy="201168"/>
          </a:xfrm>
          <a:prstGeom prst="rect">
            <a:avLst/>
          </a:prstGeom>
          <a:noFill/>
          <a:ln/>
        </p:spPr>
        <p:txBody>
          <a:bodyPr wrap="square" lIns="0" tIns="0" rIns="0" bIns="0" rtlCol="0" anchor="ctr"/>
          <a:lstStyle/>
          <a:p>
            <a:pPr algn="ctr" indent="0" marL="0">
              <a:buNone/>
            </a:pPr>
            <a:r>
              <a:rPr lang="en-US" sz="900" i="1" dirty="0">
                <a:solidFill>
                  <a:srgbClr val="EEF1F6"/>
                </a:solidFill>
                <a:latin typeface="Calibri" pitchFamily="34" charset="0"/>
                <a:ea typeface="Calibri" pitchFamily="34" charset="-122"/>
                <a:cs typeface="Calibri" pitchFamily="34" charset="-120"/>
              </a:rPr>
              <a:t>must / can (key word)</a:t>
            </a:r>
            <a:endParaRPr lang="en-US" sz="900" dirty="0"/>
          </a:p>
        </p:txBody>
      </p:sp>
      <p:sp>
        <p:nvSpPr>
          <p:cNvPr id="19" name="Shape 16"/>
          <p:cNvSpPr/>
          <p:nvPr/>
        </p:nvSpPr>
        <p:spPr>
          <a:xfrm>
            <a:off x="6336792" y="1810512"/>
            <a:ext cx="2642616" cy="566928"/>
          </a:xfrm>
          <a:prstGeom prst="roundRect">
            <a:avLst>
              <a:gd name="adj" fmla="val 9677"/>
            </a:avLst>
          </a:prstGeom>
          <a:solidFill>
            <a:srgbClr val="1D5FBF"/>
          </a:solidFill>
          <a:ln w="12700">
            <a:solidFill>
              <a:srgbClr val="1D5FBF"/>
            </a:solidFill>
            <a:prstDash val="solid"/>
          </a:ln>
        </p:spPr>
      </p:sp>
      <p:sp>
        <p:nvSpPr>
          <p:cNvPr id="20" name="Text 17"/>
          <p:cNvSpPr txBox="1"/>
          <p:nvPr/>
        </p:nvSpPr>
        <p:spPr>
          <a:xfrm>
            <a:off x="6336792" y="1792224"/>
            <a:ext cx="2642616" cy="402336"/>
          </a:xfrm>
          <a:prstGeom prst="rect">
            <a:avLst/>
          </a:prstGeom>
          <a:noFill/>
          <a:ln/>
        </p:spPr>
        <p:txBody>
          <a:bodyPr wrap="square" lIns="0" tIns="0" rIns="0" bIns="0" rtlCol="0" anchor="ctr"/>
          <a:lstStyle/>
          <a:p>
            <a:pPr rtl="1" algn="ctr" indent="0" marL="0">
              <a:buNone/>
            </a:pPr>
            <a:r>
              <a:rPr lang="ar-SA" altLang="en-US" sz="1850" b="1" dirty="0">
                <a:solidFill>
                  <a:srgbClr val="FFFFFF"/>
                </a:solidFill>
                <a:latin typeface="Amiri" pitchFamily="34" charset="0"/>
                <a:ea typeface="Amiri" pitchFamily="34" charset="-122"/>
                <a:cs typeface="Amiri" pitchFamily="34" charset="-120"/>
              </a:rPr>
              <a:t>مَنْ؟</a:t>
            </a:r>
            <a:endParaRPr lang="ar-SA" sz="1850" dirty="0"/>
          </a:p>
        </p:txBody>
      </p:sp>
      <p:sp>
        <p:nvSpPr>
          <p:cNvPr id="21" name="Text 18"/>
          <p:cNvSpPr txBox="1"/>
          <p:nvPr/>
        </p:nvSpPr>
        <p:spPr>
          <a:xfrm>
            <a:off x="6336792" y="2157984"/>
            <a:ext cx="2642616" cy="201168"/>
          </a:xfrm>
          <a:prstGeom prst="rect">
            <a:avLst/>
          </a:prstGeom>
          <a:noFill/>
          <a:ln/>
        </p:spPr>
        <p:txBody>
          <a:bodyPr wrap="square" lIns="0" tIns="0" rIns="0" bIns="0" rtlCol="0" anchor="ctr"/>
          <a:lstStyle/>
          <a:p>
            <a:pPr algn="ctr" indent="0" marL="0">
              <a:buNone/>
            </a:pPr>
            <a:r>
              <a:rPr lang="en-US" sz="900" i="1" dirty="0">
                <a:solidFill>
                  <a:srgbClr val="EEF1F6"/>
                </a:solidFill>
                <a:latin typeface="Calibri" pitchFamily="34" charset="0"/>
                <a:ea typeface="Calibri" pitchFamily="34" charset="-122"/>
                <a:cs typeface="Calibri" pitchFamily="34" charset="-120"/>
              </a:rPr>
              <a:t>who is responsible</a:t>
            </a:r>
            <a:endParaRPr lang="en-US" sz="900" dirty="0"/>
          </a:p>
        </p:txBody>
      </p:sp>
      <p:sp>
        <p:nvSpPr>
          <p:cNvPr id="22" name="Shape 19"/>
          <p:cNvSpPr/>
          <p:nvPr/>
        </p:nvSpPr>
        <p:spPr>
          <a:xfrm>
            <a:off x="3584448" y="1810512"/>
            <a:ext cx="2642616" cy="566928"/>
          </a:xfrm>
          <a:prstGeom prst="roundRect">
            <a:avLst>
              <a:gd name="adj" fmla="val 9677"/>
            </a:avLst>
          </a:prstGeom>
          <a:solidFill>
            <a:srgbClr val="D6336C"/>
          </a:solidFill>
          <a:ln w="12700">
            <a:solidFill>
              <a:srgbClr val="D6336C"/>
            </a:solidFill>
            <a:prstDash val="solid"/>
          </a:ln>
        </p:spPr>
      </p:sp>
      <p:sp>
        <p:nvSpPr>
          <p:cNvPr id="23" name="Text 20"/>
          <p:cNvSpPr txBox="1"/>
          <p:nvPr/>
        </p:nvSpPr>
        <p:spPr>
          <a:xfrm>
            <a:off x="3584448" y="1792224"/>
            <a:ext cx="2642616" cy="402336"/>
          </a:xfrm>
          <a:prstGeom prst="rect">
            <a:avLst/>
          </a:prstGeom>
          <a:noFill/>
          <a:ln/>
        </p:spPr>
        <p:txBody>
          <a:bodyPr wrap="square" lIns="0" tIns="0" rIns="0" bIns="0" rtlCol="0" anchor="ctr"/>
          <a:lstStyle/>
          <a:p>
            <a:pPr rtl="1" algn="ctr" indent="0" marL="0">
              <a:buNone/>
            </a:pPr>
            <a:r>
              <a:rPr lang="ar-SA" altLang="en-US" sz="1850" b="1" dirty="0">
                <a:solidFill>
                  <a:srgbClr val="FFFFFF"/>
                </a:solidFill>
                <a:latin typeface="Amiri" pitchFamily="34" charset="0"/>
                <a:ea typeface="Amiri" pitchFamily="34" charset="-122"/>
                <a:cs typeface="Amiri" pitchFamily="34" charset="-120"/>
              </a:rPr>
              <a:t>أَنْ + فِعْلٌ</a:t>
            </a:r>
            <a:endParaRPr lang="ar-SA" sz="1850" dirty="0"/>
          </a:p>
        </p:txBody>
      </p:sp>
      <p:sp>
        <p:nvSpPr>
          <p:cNvPr id="24" name="Text 21"/>
          <p:cNvSpPr txBox="1"/>
          <p:nvPr/>
        </p:nvSpPr>
        <p:spPr>
          <a:xfrm>
            <a:off x="3584448" y="2157984"/>
            <a:ext cx="2642616" cy="201168"/>
          </a:xfrm>
          <a:prstGeom prst="rect">
            <a:avLst/>
          </a:prstGeom>
          <a:noFill/>
          <a:ln/>
        </p:spPr>
        <p:txBody>
          <a:bodyPr wrap="square" lIns="0" tIns="0" rIns="0" bIns="0" rtlCol="0" anchor="ctr"/>
          <a:lstStyle/>
          <a:p>
            <a:pPr algn="ctr" indent="0" marL="0">
              <a:buNone/>
            </a:pPr>
            <a:r>
              <a:rPr lang="en-US" sz="900" i="1" dirty="0">
                <a:solidFill>
                  <a:srgbClr val="EEF1F6"/>
                </a:solidFill>
                <a:latin typeface="Calibri" pitchFamily="34" charset="0"/>
                <a:ea typeface="Calibri" pitchFamily="34" charset="-122"/>
                <a:cs typeface="Calibri" pitchFamily="34" charset="-120"/>
              </a:rPr>
              <a:t>an + action (ends in -a)</a:t>
            </a:r>
            <a:endParaRPr lang="en-US" sz="900" dirty="0"/>
          </a:p>
        </p:txBody>
      </p:sp>
      <p:sp>
        <p:nvSpPr>
          <p:cNvPr id="25" name="Text 22"/>
          <p:cNvSpPr txBox="1"/>
          <p:nvPr/>
        </p:nvSpPr>
        <p:spPr>
          <a:xfrm>
            <a:off x="457200" y="2487168"/>
            <a:ext cx="2926080" cy="768096"/>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The government must invest in energy.</a:t>
            </a:r>
            <a:endParaRPr lang="en-US" sz="1200" dirty="0"/>
          </a:p>
        </p:txBody>
      </p:sp>
      <p:sp>
        <p:nvSpPr>
          <p:cNvPr id="26" name="Shape 23"/>
          <p:cNvSpPr/>
          <p:nvPr/>
        </p:nvSpPr>
        <p:spPr>
          <a:xfrm>
            <a:off x="9089136" y="2487168"/>
            <a:ext cx="2642616" cy="768096"/>
          </a:xfrm>
          <a:prstGeom prst="roundRect">
            <a:avLst>
              <a:gd name="adj" fmla="val 7143"/>
            </a:avLst>
          </a:prstGeom>
          <a:solidFill>
            <a:srgbClr val="E3F2F3"/>
          </a:solidFill>
          <a:ln w="9525">
            <a:solidFill>
              <a:srgbClr val="E3F2F3"/>
            </a:solidFill>
            <a:prstDash val="solid"/>
          </a:ln>
        </p:spPr>
      </p:sp>
      <p:sp>
        <p:nvSpPr>
          <p:cNvPr id="27" name="Text 24"/>
          <p:cNvSpPr txBox="1"/>
          <p:nvPr/>
        </p:nvSpPr>
        <p:spPr>
          <a:xfrm>
            <a:off x="9162288" y="2487168"/>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0E7C86"/>
                </a:solidFill>
                <a:latin typeface="Amiri" pitchFamily="34" charset="0"/>
                <a:ea typeface="Amiri" pitchFamily="34" charset="-122"/>
                <a:cs typeface="Amiri" pitchFamily="34" charset="-120"/>
              </a:rPr>
              <a:t>يَجِبُ عَلَى</a:t>
            </a:r>
            <a:endParaRPr lang="ar-SA" sz="2400" dirty="0"/>
          </a:p>
        </p:txBody>
      </p:sp>
      <p:sp>
        <p:nvSpPr>
          <p:cNvPr id="28" name="Shape 25"/>
          <p:cNvSpPr/>
          <p:nvPr/>
        </p:nvSpPr>
        <p:spPr>
          <a:xfrm>
            <a:off x="6336792" y="2487168"/>
            <a:ext cx="2642616" cy="768096"/>
          </a:xfrm>
          <a:prstGeom prst="roundRect">
            <a:avLst>
              <a:gd name="adj" fmla="val 7143"/>
            </a:avLst>
          </a:prstGeom>
          <a:solidFill>
            <a:srgbClr val="EEF3FA"/>
          </a:solidFill>
          <a:ln w="9525">
            <a:solidFill>
              <a:srgbClr val="EEF3FA"/>
            </a:solidFill>
            <a:prstDash val="solid"/>
          </a:ln>
        </p:spPr>
      </p:sp>
      <p:sp>
        <p:nvSpPr>
          <p:cNvPr id="29" name="Text 26"/>
          <p:cNvSpPr txBox="1"/>
          <p:nvPr/>
        </p:nvSpPr>
        <p:spPr>
          <a:xfrm>
            <a:off x="6409944" y="2487168"/>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34" charset="0"/>
                <a:ea typeface="Amiri" pitchFamily="34" charset="-122"/>
                <a:cs typeface="Amiri" pitchFamily="34" charset="-120"/>
              </a:rPr>
              <a:t>الحُكُومَةِ</a:t>
            </a:r>
            <a:endParaRPr lang="ar-SA" sz="2400" dirty="0"/>
          </a:p>
        </p:txBody>
      </p:sp>
      <p:sp>
        <p:nvSpPr>
          <p:cNvPr id="30" name="Shape 27"/>
          <p:cNvSpPr/>
          <p:nvPr/>
        </p:nvSpPr>
        <p:spPr>
          <a:xfrm>
            <a:off x="3584448" y="2487168"/>
            <a:ext cx="2642616" cy="768096"/>
          </a:xfrm>
          <a:prstGeom prst="roundRect">
            <a:avLst>
              <a:gd name="adj" fmla="val 7143"/>
            </a:avLst>
          </a:prstGeom>
          <a:solidFill>
            <a:srgbClr val="FBEAEA"/>
          </a:solidFill>
          <a:ln w="9525">
            <a:solidFill>
              <a:srgbClr val="FBEAEA"/>
            </a:solidFill>
            <a:prstDash val="solid"/>
          </a:ln>
        </p:spPr>
      </p:sp>
      <p:sp>
        <p:nvSpPr>
          <p:cNvPr id="31" name="Text 28"/>
          <p:cNvSpPr txBox="1"/>
          <p:nvPr/>
        </p:nvSpPr>
        <p:spPr>
          <a:xfrm>
            <a:off x="3657600" y="2487168"/>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34" charset="0"/>
                <a:ea typeface="Amiri" pitchFamily="34" charset="-122"/>
                <a:cs typeface="Amiri" pitchFamily="34" charset="-120"/>
              </a:rPr>
              <a:t>أَنْ </a:t>
            </a:r>
            <a:pPr rtl="1" algn="ctr" indent="0" marL="0">
              <a:buNone/>
            </a:pPr>
            <a:r>
              <a:rPr lang="ar-SA" altLang="en-US" sz="2400" b="1" dirty="0">
                <a:solidFill>
                  <a:srgbClr val="D6336C"/>
                </a:solidFill>
                <a:latin typeface="Amiri" pitchFamily="34" charset="0"/>
                <a:ea typeface="Amiri" pitchFamily="34" charset="-122"/>
                <a:cs typeface="Amiri" pitchFamily="34" charset="-120"/>
              </a:rPr>
              <a:t>تَسْتَثْمِرَ</a:t>
            </a:r>
            <a:pPr rtl="1" algn="ctr" indent="0" marL="0">
              <a:buNone/>
            </a:pPr>
            <a:r>
              <a:rPr lang="ar-SA" altLang="en-US" sz="2400" b="1" dirty="0">
                <a:solidFill>
                  <a:srgbClr val="1B3B6F"/>
                </a:solidFill>
                <a:latin typeface="Amiri" pitchFamily="34" charset="0"/>
                <a:ea typeface="Amiri" pitchFamily="34" charset="-122"/>
                <a:cs typeface="Amiri" pitchFamily="34" charset="-120"/>
              </a:rPr>
              <a:t> فِي الطَّاقَةِ.</a:t>
            </a:r>
            <a:endParaRPr lang="ar-SA" sz="2400" dirty="0"/>
          </a:p>
        </p:txBody>
      </p:sp>
      <p:sp>
        <p:nvSpPr>
          <p:cNvPr id="32" name="Text 29"/>
          <p:cNvSpPr txBox="1"/>
          <p:nvPr/>
        </p:nvSpPr>
        <p:spPr>
          <a:xfrm>
            <a:off x="457200" y="3364992"/>
            <a:ext cx="2926080" cy="768096"/>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Schools must recycle paper.</a:t>
            </a:r>
            <a:endParaRPr lang="en-US" sz="1200" dirty="0"/>
          </a:p>
        </p:txBody>
      </p:sp>
      <p:sp>
        <p:nvSpPr>
          <p:cNvPr id="33" name="Shape 30"/>
          <p:cNvSpPr/>
          <p:nvPr/>
        </p:nvSpPr>
        <p:spPr>
          <a:xfrm>
            <a:off x="9089136" y="3364992"/>
            <a:ext cx="2642616" cy="768096"/>
          </a:xfrm>
          <a:prstGeom prst="roundRect">
            <a:avLst>
              <a:gd name="adj" fmla="val 7143"/>
            </a:avLst>
          </a:prstGeom>
          <a:solidFill>
            <a:srgbClr val="E3F2F3"/>
          </a:solidFill>
          <a:ln w="9525">
            <a:solidFill>
              <a:srgbClr val="E3F2F3"/>
            </a:solidFill>
            <a:prstDash val="solid"/>
          </a:ln>
        </p:spPr>
      </p:sp>
      <p:sp>
        <p:nvSpPr>
          <p:cNvPr id="34" name="Text 31"/>
          <p:cNvSpPr txBox="1"/>
          <p:nvPr/>
        </p:nvSpPr>
        <p:spPr>
          <a:xfrm>
            <a:off x="9162288" y="3364992"/>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0E7C86"/>
                </a:solidFill>
                <a:latin typeface="Amiri" pitchFamily="34" charset="0"/>
                <a:ea typeface="Amiri" pitchFamily="34" charset="-122"/>
                <a:cs typeface="Amiri" pitchFamily="34" charset="-120"/>
              </a:rPr>
              <a:t>يَجِبُ عَلَى</a:t>
            </a:r>
            <a:endParaRPr lang="ar-SA" sz="2400" dirty="0"/>
          </a:p>
        </p:txBody>
      </p:sp>
      <p:sp>
        <p:nvSpPr>
          <p:cNvPr id="35" name="Shape 32"/>
          <p:cNvSpPr/>
          <p:nvPr/>
        </p:nvSpPr>
        <p:spPr>
          <a:xfrm>
            <a:off x="6336792" y="3364992"/>
            <a:ext cx="2642616" cy="768096"/>
          </a:xfrm>
          <a:prstGeom prst="roundRect">
            <a:avLst>
              <a:gd name="adj" fmla="val 7143"/>
            </a:avLst>
          </a:prstGeom>
          <a:solidFill>
            <a:srgbClr val="EEF3FA"/>
          </a:solidFill>
          <a:ln w="9525">
            <a:solidFill>
              <a:srgbClr val="EEF3FA"/>
            </a:solidFill>
            <a:prstDash val="solid"/>
          </a:ln>
        </p:spPr>
      </p:sp>
      <p:sp>
        <p:nvSpPr>
          <p:cNvPr id="36" name="Text 33"/>
          <p:cNvSpPr txBox="1"/>
          <p:nvPr/>
        </p:nvSpPr>
        <p:spPr>
          <a:xfrm>
            <a:off x="6409944" y="3364992"/>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34" charset="0"/>
                <a:ea typeface="Amiri" pitchFamily="34" charset="-122"/>
                <a:cs typeface="Amiri" pitchFamily="34" charset="-120"/>
              </a:rPr>
              <a:t>المَدَارِسِ</a:t>
            </a:r>
            <a:endParaRPr lang="ar-SA" sz="2400" dirty="0"/>
          </a:p>
        </p:txBody>
      </p:sp>
      <p:sp>
        <p:nvSpPr>
          <p:cNvPr id="37" name="Shape 34"/>
          <p:cNvSpPr/>
          <p:nvPr/>
        </p:nvSpPr>
        <p:spPr>
          <a:xfrm>
            <a:off x="3584448" y="3364992"/>
            <a:ext cx="2642616" cy="768096"/>
          </a:xfrm>
          <a:prstGeom prst="roundRect">
            <a:avLst>
              <a:gd name="adj" fmla="val 7143"/>
            </a:avLst>
          </a:prstGeom>
          <a:solidFill>
            <a:srgbClr val="FBEAEA"/>
          </a:solidFill>
          <a:ln w="9525">
            <a:solidFill>
              <a:srgbClr val="FBEAEA"/>
            </a:solidFill>
            <a:prstDash val="solid"/>
          </a:ln>
        </p:spPr>
      </p:sp>
      <p:sp>
        <p:nvSpPr>
          <p:cNvPr id="38" name="Text 35"/>
          <p:cNvSpPr txBox="1"/>
          <p:nvPr/>
        </p:nvSpPr>
        <p:spPr>
          <a:xfrm>
            <a:off x="3657600" y="3364992"/>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34" charset="0"/>
                <a:ea typeface="Amiri" pitchFamily="34" charset="-122"/>
                <a:cs typeface="Amiri" pitchFamily="34" charset="-120"/>
              </a:rPr>
              <a:t>أَنْ </a:t>
            </a:r>
            <a:pPr rtl="1" algn="ctr" indent="0" marL="0">
              <a:buNone/>
            </a:pPr>
            <a:r>
              <a:rPr lang="ar-SA" altLang="en-US" sz="2400" b="1" dirty="0">
                <a:solidFill>
                  <a:srgbClr val="D6336C"/>
                </a:solidFill>
                <a:latin typeface="Amiri" pitchFamily="34" charset="0"/>
                <a:ea typeface="Amiri" pitchFamily="34" charset="-122"/>
                <a:cs typeface="Amiri" pitchFamily="34" charset="-120"/>
              </a:rPr>
              <a:t>تُعِيدَ</a:t>
            </a:r>
            <a:pPr rtl="1" algn="ctr" indent="0" marL="0">
              <a:buNone/>
            </a:pPr>
            <a:r>
              <a:rPr lang="ar-SA" altLang="en-US" sz="2400" b="1" dirty="0">
                <a:solidFill>
                  <a:srgbClr val="1B3B6F"/>
                </a:solidFill>
                <a:latin typeface="Amiri" pitchFamily="34" charset="0"/>
                <a:ea typeface="Amiri" pitchFamily="34" charset="-122"/>
                <a:cs typeface="Amiri" pitchFamily="34" charset="-120"/>
              </a:rPr>
              <a:t> تَدْوِيرَ الوَرَقِ.</a:t>
            </a:r>
            <a:endParaRPr lang="ar-SA" sz="2400" dirty="0"/>
          </a:p>
        </p:txBody>
      </p:sp>
      <p:sp>
        <p:nvSpPr>
          <p:cNvPr id="39" name="Text 36"/>
          <p:cNvSpPr txBox="1"/>
          <p:nvPr/>
        </p:nvSpPr>
        <p:spPr>
          <a:xfrm>
            <a:off x="457200" y="4242816"/>
            <a:ext cx="2926080" cy="768096"/>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Students must separate paper from plastic.</a:t>
            </a:r>
            <a:endParaRPr lang="en-US" sz="1200" dirty="0"/>
          </a:p>
        </p:txBody>
      </p:sp>
      <p:sp>
        <p:nvSpPr>
          <p:cNvPr id="40" name="Shape 37"/>
          <p:cNvSpPr/>
          <p:nvPr/>
        </p:nvSpPr>
        <p:spPr>
          <a:xfrm>
            <a:off x="9089136" y="4242816"/>
            <a:ext cx="2642616" cy="768096"/>
          </a:xfrm>
          <a:prstGeom prst="roundRect">
            <a:avLst>
              <a:gd name="adj" fmla="val 7143"/>
            </a:avLst>
          </a:prstGeom>
          <a:solidFill>
            <a:srgbClr val="E3F2F3"/>
          </a:solidFill>
          <a:ln w="9525">
            <a:solidFill>
              <a:srgbClr val="E3F2F3"/>
            </a:solidFill>
            <a:prstDash val="solid"/>
          </a:ln>
        </p:spPr>
      </p:sp>
      <p:sp>
        <p:nvSpPr>
          <p:cNvPr id="41" name="Text 38"/>
          <p:cNvSpPr txBox="1"/>
          <p:nvPr/>
        </p:nvSpPr>
        <p:spPr>
          <a:xfrm>
            <a:off x="9162288" y="4242816"/>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0E7C86"/>
                </a:solidFill>
                <a:latin typeface="Amiri" pitchFamily="34" charset="0"/>
                <a:ea typeface="Amiri" pitchFamily="34" charset="-122"/>
                <a:cs typeface="Amiri" pitchFamily="34" charset="-120"/>
              </a:rPr>
              <a:t>يَجِبُ عَلَى</a:t>
            </a:r>
            <a:endParaRPr lang="ar-SA" sz="2400" dirty="0"/>
          </a:p>
        </p:txBody>
      </p:sp>
      <p:sp>
        <p:nvSpPr>
          <p:cNvPr id="42" name="Shape 39"/>
          <p:cNvSpPr/>
          <p:nvPr/>
        </p:nvSpPr>
        <p:spPr>
          <a:xfrm>
            <a:off x="6336792" y="4242816"/>
            <a:ext cx="2642616" cy="768096"/>
          </a:xfrm>
          <a:prstGeom prst="roundRect">
            <a:avLst>
              <a:gd name="adj" fmla="val 7143"/>
            </a:avLst>
          </a:prstGeom>
          <a:solidFill>
            <a:srgbClr val="EEF3FA"/>
          </a:solidFill>
          <a:ln w="9525">
            <a:solidFill>
              <a:srgbClr val="EEF3FA"/>
            </a:solidFill>
            <a:prstDash val="solid"/>
          </a:ln>
        </p:spPr>
      </p:sp>
      <p:sp>
        <p:nvSpPr>
          <p:cNvPr id="43" name="Text 40"/>
          <p:cNvSpPr txBox="1"/>
          <p:nvPr/>
        </p:nvSpPr>
        <p:spPr>
          <a:xfrm>
            <a:off x="6409944" y="4242816"/>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34" charset="0"/>
                <a:ea typeface="Amiri" pitchFamily="34" charset="-122"/>
                <a:cs typeface="Amiri" pitchFamily="34" charset="-120"/>
              </a:rPr>
              <a:t>الطُّلَّابِ</a:t>
            </a:r>
            <a:endParaRPr lang="ar-SA" sz="2400" dirty="0"/>
          </a:p>
        </p:txBody>
      </p:sp>
      <p:sp>
        <p:nvSpPr>
          <p:cNvPr id="44" name="Shape 41"/>
          <p:cNvSpPr/>
          <p:nvPr/>
        </p:nvSpPr>
        <p:spPr>
          <a:xfrm>
            <a:off x="3584448" y="4242816"/>
            <a:ext cx="2642616" cy="768096"/>
          </a:xfrm>
          <a:prstGeom prst="roundRect">
            <a:avLst>
              <a:gd name="adj" fmla="val 7143"/>
            </a:avLst>
          </a:prstGeom>
          <a:solidFill>
            <a:srgbClr val="FBEAEA"/>
          </a:solidFill>
          <a:ln w="9525">
            <a:solidFill>
              <a:srgbClr val="FBEAEA"/>
            </a:solidFill>
            <a:prstDash val="solid"/>
          </a:ln>
        </p:spPr>
      </p:sp>
      <p:sp>
        <p:nvSpPr>
          <p:cNvPr id="45" name="Text 42"/>
          <p:cNvSpPr txBox="1"/>
          <p:nvPr/>
        </p:nvSpPr>
        <p:spPr>
          <a:xfrm>
            <a:off x="3657600" y="4242816"/>
            <a:ext cx="2496312" cy="768096"/>
          </a:xfrm>
          <a:prstGeom prst="rect">
            <a:avLst/>
          </a:prstGeom>
          <a:noFill/>
          <a:ln/>
        </p:spPr>
        <p:txBody>
          <a:bodyPr wrap="square" lIns="0" tIns="0" rIns="0" bIns="0" rtlCol="0" anchor="ctr"/>
          <a:lstStyle/>
          <a:p>
            <a:pPr rtl="1" algn="ctr" indent="0" marL="0">
              <a:lnSpc>
                <a:spcPct val="120000"/>
              </a:lnSpc>
              <a:buNone/>
            </a:pPr>
            <a:r>
              <a:rPr lang="ar-SA" altLang="en-US" sz="1700" b="1" dirty="0">
                <a:solidFill>
                  <a:srgbClr val="1B3B6F"/>
                </a:solidFill>
                <a:latin typeface="Amiri" pitchFamily="34" charset="0"/>
                <a:ea typeface="Amiri" pitchFamily="34" charset="-122"/>
                <a:cs typeface="Amiri" pitchFamily="34" charset="-120"/>
              </a:rPr>
              <a:t>أَنْ </a:t>
            </a:r>
            <a:pPr rtl="1" algn="ctr" indent="0" marL="0">
              <a:lnSpc>
                <a:spcPct val="120000"/>
              </a:lnSpc>
              <a:buNone/>
            </a:pPr>
            <a:r>
              <a:rPr lang="ar-SA" altLang="en-US" sz="1700" b="1" dirty="0">
                <a:solidFill>
                  <a:srgbClr val="D6336C"/>
                </a:solidFill>
                <a:latin typeface="Amiri" pitchFamily="34" charset="0"/>
                <a:ea typeface="Amiri" pitchFamily="34" charset="-122"/>
                <a:cs typeface="Amiri" pitchFamily="34" charset="-120"/>
              </a:rPr>
              <a:t>يَفْصِلُوا</a:t>
            </a:r>
            <a:pPr rtl="1" algn="ctr" indent="0" marL="0">
              <a:lnSpc>
                <a:spcPct val="120000"/>
              </a:lnSpc>
              <a:buNone/>
            </a:pPr>
            <a:r>
              <a:rPr lang="ar-SA" altLang="en-US" sz="1700" b="1" dirty="0">
                <a:solidFill>
                  <a:srgbClr val="1B3B6F"/>
                </a:solidFill>
                <a:latin typeface="Amiri" pitchFamily="34" charset="0"/>
                <a:ea typeface="Amiri" pitchFamily="34" charset="-122"/>
                <a:cs typeface="Amiri" pitchFamily="34" charset="-120"/>
              </a:rPr>
              <a:t> الوَرَقَ عَنِ البِلَاسْتِيكِ.</a:t>
            </a:r>
            <a:endParaRPr lang="ar-SA" sz="1700" dirty="0"/>
          </a:p>
        </p:txBody>
      </p:sp>
      <p:sp>
        <p:nvSpPr>
          <p:cNvPr id="46" name="Text 43"/>
          <p:cNvSpPr txBox="1"/>
          <p:nvPr/>
        </p:nvSpPr>
        <p:spPr>
          <a:xfrm>
            <a:off x="457200" y="5120640"/>
            <a:ext cx="2926080" cy="768096"/>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Families can save water.</a:t>
            </a:r>
            <a:endParaRPr lang="en-US" sz="1200" dirty="0"/>
          </a:p>
        </p:txBody>
      </p:sp>
      <p:sp>
        <p:nvSpPr>
          <p:cNvPr id="47" name="Shape 44"/>
          <p:cNvSpPr/>
          <p:nvPr/>
        </p:nvSpPr>
        <p:spPr>
          <a:xfrm>
            <a:off x="9089136" y="5120640"/>
            <a:ext cx="2642616" cy="768096"/>
          </a:xfrm>
          <a:prstGeom prst="roundRect">
            <a:avLst>
              <a:gd name="adj" fmla="val 7143"/>
            </a:avLst>
          </a:prstGeom>
          <a:solidFill>
            <a:srgbClr val="E3F2F3"/>
          </a:solidFill>
          <a:ln w="9525">
            <a:solidFill>
              <a:srgbClr val="E3F2F3"/>
            </a:solidFill>
            <a:prstDash val="solid"/>
          </a:ln>
        </p:spPr>
      </p:sp>
      <p:sp>
        <p:nvSpPr>
          <p:cNvPr id="48" name="Text 45"/>
          <p:cNvSpPr txBox="1"/>
          <p:nvPr/>
        </p:nvSpPr>
        <p:spPr>
          <a:xfrm>
            <a:off x="9162288" y="5120640"/>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0E7C86"/>
                </a:solidFill>
                <a:latin typeface="Amiri" pitchFamily="34" charset="0"/>
                <a:ea typeface="Amiri" pitchFamily="34" charset="-122"/>
                <a:cs typeface="Amiri" pitchFamily="34" charset="-120"/>
              </a:rPr>
              <a:t>يُمْكِنُ</a:t>
            </a:r>
            <a:endParaRPr lang="ar-SA" sz="2400" dirty="0"/>
          </a:p>
        </p:txBody>
      </p:sp>
      <p:sp>
        <p:nvSpPr>
          <p:cNvPr id="49" name="Shape 46"/>
          <p:cNvSpPr/>
          <p:nvPr/>
        </p:nvSpPr>
        <p:spPr>
          <a:xfrm>
            <a:off x="6336792" y="5120640"/>
            <a:ext cx="2642616" cy="768096"/>
          </a:xfrm>
          <a:prstGeom prst="roundRect">
            <a:avLst>
              <a:gd name="adj" fmla="val 7143"/>
            </a:avLst>
          </a:prstGeom>
          <a:solidFill>
            <a:srgbClr val="EEF3FA"/>
          </a:solidFill>
          <a:ln w="9525">
            <a:solidFill>
              <a:srgbClr val="EEF3FA"/>
            </a:solidFill>
            <a:prstDash val="solid"/>
          </a:ln>
        </p:spPr>
      </p:sp>
      <p:sp>
        <p:nvSpPr>
          <p:cNvPr id="50" name="Text 47"/>
          <p:cNvSpPr txBox="1"/>
          <p:nvPr/>
        </p:nvSpPr>
        <p:spPr>
          <a:xfrm>
            <a:off x="6409944" y="5120640"/>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34" charset="0"/>
                <a:ea typeface="Amiri" pitchFamily="34" charset="-122"/>
                <a:cs typeface="Amiri" pitchFamily="34" charset="-120"/>
              </a:rPr>
              <a:t>لِلأُسَرِ</a:t>
            </a:r>
            <a:endParaRPr lang="ar-SA" sz="2400" dirty="0"/>
          </a:p>
        </p:txBody>
      </p:sp>
      <p:sp>
        <p:nvSpPr>
          <p:cNvPr id="51" name="Shape 48"/>
          <p:cNvSpPr/>
          <p:nvPr/>
        </p:nvSpPr>
        <p:spPr>
          <a:xfrm>
            <a:off x="3584448" y="5120640"/>
            <a:ext cx="2642616" cy="768096"/>
          </a:xfrm>
          <a:prstGeom prst="roundRect">
            <a:avLst>
              <a:gd name="adj" fmla="val 7143"/>
            </a:avLst>
          </a:prstGeom>
          <a:solidFill>
            <a:srgbClr val="FBEAEA"/>
          </a:solidFill>
          <a:ln w="9525">
            <a:solidFill>
              <a:srgbClr val="FBEAEA"/>
            </a:solidFill>
            <a:prstDash val="solid"/>
          </a:ln>
        </p:spPr>
      </p:sp>
      <p:sp>
        <p:nvSpPr>
          <p:cNvPr id="52" name="Text 49"/>
          <p:cNvSpPr txBox="1"/>
          <p:nvPr/>
        </p:nvSpPr>
        <p:spPr>
          <a:xfrm>
            <a:off x="3657600" y="5120640"/>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34" charset="0"/>
                <a:ea typeface="Amiri" pitchFamily="34" charset="-122"/>
                <a:cs typeface="Amiri" pitchFamily="34" charset="-120"/>
              </a:rPr>
              <a:t>أَنْ </a:t>
            </a:r>
            <a:pPr rtl="1" algn="ctr" indent="0" marL="0">
              <a:buNone/>
            </a:pPr>
            <a:r>
              <a:rPr lang="ar-SA" altLang="en-US" sz="2400" b="1" dirty="0">
                <a:solidFill>
                  <a:srgbClr val="D6336C"/>
                </a:solidFill>
                <a:latin typeface="Amiri" pitchFamily="34" charset="0"/>
                <a:ea typeface="Amiri" pitchFamily="34" charset="-122"/>
                <a:cs typeface="Amiri" pitchFamily="34" charset="-120"/>
              </a:rPr>
              <a:t>تُرَشِّدَ</a:t>
            </a:r>
            <a:pPr rtl="1" algn="ctr" indent="0" marL="0">
              <a:buNone/>
            </a:pPr>
            <a:r>
              <a:rPr lang="ar-SA" altLang="en-US" sz="2400" b="1" dirty="0">
                <a:solidFill>
                  <a:srgbClr val="1B3B6F"/>
                </a:solidFill>
                <a:latin typeface="Amiri" pitchFamily="34" charset="0"/>
                <a:ea typeface="Amiri" pitchFamily="34" charset="-122"/>
                <a:cs typeface="Amiri" pitchFamily="34" charset="-120"/>
              </a:rPr>
              <a:t> المَاءَ.</a:t>
            </a:r>
            <a:endParaRPr lang="ar-SA" sz="2400" dirty="0"/>
          </a:p>
        </p:txBody>
      </p:sp>
      <p:sp>
        <p:nvSpPr>
          <p:cNvPr id="53" name="Text 50"/>
          <p:cNvSpPr txBox="1"/>
          <p:nvPr/>
        </p:nvSpPr>
        <p:spPr>
          <a:xfrm>
            <a:off x="457200" y="5989320"/>
            <a:ext cx="11274552" cy="320040"/>
          </a:xfrm>
          <a:prstGeom prst="rect">
            <a:avLst/>
          </a:prstGeom>
          <a:noFill/>
          <a:ln/>
        </p:spPr>
        <p:txBody>
          <a:bodyPr wrap="square" lIns="0" tIns="0" rIns="0" bIns="0" rtlCol="0" anchor="ctr"/>
          <a:lstStyle/>
          <a:p>
            <a:pPr algn="l" indent="0" marL="0">
              <a:buNone/>
            </a:pPr>
            <a:r>
              <a:rPr lang="en-US" sz="1200" b="1" dirty="0">
                <a:solidFill>
                  <a:srgbClr val="8A6D1E"/>
                </a:solidFill>
                <a:latin typeface="Calibri" pitchFamily="34" charset="0"/>
                <a:ea typeface="Calibri" pitchFamily="34" charset="-122"/>
                <a:cs typeface="Calibri" pitchFamily="34" charset="-120"/>
              </a:rPr>
              <a:t>Name who is responsible after </a:t>
            </a:r>
            <a:pPr algn="l" indent="0" marL="0">
              <a:buNone/>
            </a:pPr>
            <a:r>
              <a:rPr lang="ar-SA" altLang="en-US" sz="1550" b="1" dirty="0">
                <a:solidFill>
                  <a:srgbClr val="8A6D1E"/>
                </a:solidFill>
                <a:latin typeface="Amiri" pitchFamily="34" charset="0"/>
                <a:ea typeface="Amiri" pitchFamily="34" charset="-122"/>
                <a:cs typeface="Amiri" pitchFamily="34" charset="-120"/>
              </a:rPr>
              <a:t>عَلَى</a:t>
            </a:r>
            <a:pPr algn="l" indent="0" marL="0">
              <a:buNone/>
            </a:pPr>
            <a:r>
              <a:rPr lang="en-US" sz="1200" b="1" dirty="0">
                <a:solidFill>
                  <a:srgbClr val="8A6D1E"/>
                </a:solidFill>
                <a:latin typeface="Calibri" pitchFamily="34" charset="0"/>
                <a:ea typeface="Calibri" pitchFamily="34" charset="-122"/>
                <a:cs typeface="Calibri" pitchFamily="34" charset="-120"/>
              </a:rPr>
              <a:t>: </a:t>
            </a:r>
            <a:pPr algn="l" indent="0" marL="0">
              <a:buNone/>
            </a:pPr>
            <a:r>
              <a:rPr lang="ar-SA" altLang="en-US" sz="1550" b="1" dirty="0">
                <a:solidFill>
                  <a:srgbClr val="8A6D1E"/>
                </a:solidFill>
                <a:latin typeface="Amiri" pitchFamily="34" charset="0"/>
                <a:ea typeface="Amiri" pitchFamily="34" charset="-122"/>
                <a:cs typeface="Amiri" pitchFamily="34" charset="-120"/>
              </a:rPr>
              <a:t>يَجِبُ عَلَى</a:t>
            </a:r>
            <a:pPr algn="l" indent="0" marL="0">
              <a:buNone/>
            </a:pPr>
            <a:r>
              <a:rPr lang="en-US" sz="1200" b="1" dirty="0">
                <a:solidFill>
                  <a:srgbClr val="8A6D1E"/>
                </a:solidFill>
                <a:latin typeface="Calibri" pitchFamily="34" charset="0"/>
                <a:ea typeface="Calibri" pitchFamily="34" charset="-122"/>
                <a:cs typeface="Calibri" pitchFamily="34" charset="-120"/>
              </a:rPr>
              <a:t> + person / group + </a:t>
            </a:r>
            <a:pPr algn="l" indent="0" marL="0">
              <a:buNone/>
            </a:pPr>
            <a:r>
              <a:rPr lang="ar-SA" altLang="en-US" sz="1550" b="1" dirty="0">
                <a:solidFill>
                  <a:srgbClr val="8A6D1E"/>
                </a:solidFill>
                <a:latin typeface="Amiri" pitchFamily="34" charset="0"/>
                <a:ea typeface="Amiri" pitchFamily="34" charset="-122"/>
                <a:cs typeface="Amiri" pitchFamily="34" charset="-120"/>
              </a:rPr>
              <a:t>أَنْ</a:t>
            </a:r>
            <a:pPr algn="l" indent="0" marL="0">
              <a:buNone/>
            </a:pPr>
            <a:r>
              <a:rPr lang="en-US" sz="1200" b="1" dirty="0">
                <a:solidFill>
                  <a:srgbClr val="8A6D1E"/>
                </a:solidFill>
                <a:latin typeface="Calibri" pitchFamily="34" charset="0"/>
                <a:ea typeface="Calibri" pitchFamily="34" charset="-122"/>
                <a:cs typeface="Calibri" pitchFamily="34" charset="-120"/>
              </a:rPr>
              <a:t> + verb (</a:t>
            </a:r>
            <a:pPr algn="l" indent="0" marL="0">
              <a:buNone/>
            </a:pPr>
            <a:r>
              <a:rPr lang="ar-SA" altLang="en-US" sz="1550" b="1" dirty="0">
                <a:solidFill>
                  <a:srgbClr val="8A6D1E"/>
                </a:solidFill>
                <a:latin typeface="Amiri" pitchFamily="34" charset="0"/>
                <a:ea typeface="Amiri" pitchFamily="34" charset="-122"/>
                <a:cs typeface="Amiri" pitchFamily="34" charset="-120"/>
              </a:rPr>
              <a:t>ـَ</a:t>
            </a:r>
            <a:pPr algn="l" indent="0" marL="0">
              <a:buNone/>
            </a:pPr>
            <a:r>
              <a:rPr lang="en-US" sz="1200" b="1" dirty="0">
                <a:solidFill>
                  <a:srgbClr val="8A6D1E"/>
                </a:solidFill>
                <a:latin typeface="Calibri" pitchFamily="34" charset="0"/>
                <a:ea typeface="Calibri" pitchFamily="34" charset="-122"/>
                <a:cs typeface="Calibri" pitchFamily="34" charset="-120"/>
              </a:rPr>
              <a:t>)</a:t>
            </a:r>
            <a:endParaRPr lang="en-US" sz="1200" dirty="0"/>
          </a:p>
        </p:txBody>
      </p:sp>
      <p:sp>
        <p:nvSpPr>
          <p:cNvPr id="54" name="Text 5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14 / 46</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TC-L05 · Environmental Solutions</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GRAMMAR FOCUS · PART 4 · FLEX · STRETCH</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Fatḥa or no </a:t>
            </a:r>
            <a:pPr algn="l" indent="0" marL="0">
              <a:buNone/>
            </a:pPr>
            <a:r>
              <a:rPr lang="ar-SA" altLang="en-US" sz="3650" b="1" dirty="0">
                <a:solidFill>
                  <a:srgbClr val="1B3B6F"/>
                </a:solidFill>
                <a:latin typeface="Amiri" pitchFamily="34" charset="0"/>
                <a:ea typeface="Amiri" pitchFamily="34" charset="-122"/>
                <a:cs typeface="Amiri" pitchFamily="34" charset="-120"/>
              </a:rPr>
              <a:t>ن</a:t>
            </a:r>
            <a:pPr algn="l" indent="0" marL="0">
              <a:buNone/>
            </a:pPr>
            <a:r>
              <a:rPr lang="en-US" sz="2800" b="1" dirty="0">
                <a:solidFill>
                  <a:srgbClr val="1B3B6F"/>
                </a:solidFill>
                <a:latin typeface="Cambria" pitchFamily="34" charset="0"/>
                <a:ea typeface="Cambria" pitchFamily="34" charset="-122"/>
                <a:cs typeface="Cambria" pitchFamily="34" charset="-120"/>
              </a:rPr>
              <a:t>? And “if”</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المَنْصُوبُ وَالشَّرْطُ</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2 · Lesson 2 of 3</a:t>
            </a:r>
            <a:endParaRPr lang="en-US" sz="850" dirty="0"/>
          </a:p>
        </p:txBody>
      </p:sp>
      <p:sp>
        <p:nvSpPr>
          <p:cNvPr id="17" name="Shape 14"/>
          <p:cNvSpPr/>
          <p:nvPr/>
        </p:nvSpPr>
        <p:spPr>
          <a:xfrm>
            <a:off x="8095488"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32648" y="1920240"/>
            <a:ext cx="1508760" cy="274320"/>
          </a:xfrm>
          <a:prstGeom prst="roundRect">
            <a:avLst>
              <a:gd name="adj" fmla="val 50000"/>
            </a:avLst>
          </a:prstGeom>
          <a:solidFill>
            <a:srgbClr val="1B3B6F"/>
          </a:solidFill>
          <a:ln w="12700">
            <a:solidFill>
              <a:srgbClr val="1B3B6F"/>
            </a:solidFill>
            <a:prstDash val="solid"/>
          </a:ln>
        </p:spPr>
      </p:sp>
      <p:sp>
        <p:nvSpPr>
          <p:cNvPr id="19" name="Text 16"/>
          <p:cNvSpPr txBox="1"/>
          <p:nvPr/>
        </p:nvSpPr>
        <p:spPr>
          <a:xfrm>
            <a:off x="8232648" y="1920240"/>
            <a:ext cx="15087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MOST VERBS · fatḥa</a:t>
            </a:r>
            <a:endParaRPr lang="en-US" sz="850" dirty="0"/>
          </a:p>
        </p:txBody>
      </p:sp>
      <p:sp>
        <p:nvSpPr>
          <p:cNvPr id="20" name="Text 17"/>
          <p:cNvSpPr txBox="1"/>
          <p:nvPr/>
        </p:nvSpPr>
        <p:spPr>
          <a:xfrm>
            <a:off x="9787128" y="1874520"/>
            <a:ext cx="180746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34" charset="0"/>
                <a:ea typeface="Amiri" pitchFamily="34" charset="-122"/>
                <a:cs typeface="Amiri" pitchFamily="34" charset="-120"/>
              </a:rPr>
              <a:t>أَنْ نُقَلِّلَ</a:t>
            </a:r>
            <a:endParaRPr lang="ar-SA" sz="1600" dirty="0"/>
          </a:p>
        </p:txBody>
      </p:sp>
      <p:sp>
        <p:nvSpPr>
          <p:cNvPr id="21" name="Text 18"/>
          <p:cNvSpPr txBox="1"/>
          <p:nvPr/>
        </p:nvSpPr>
        <p:spPr>
          <a:xfrm>
            <a:off x="8232648" y="2286000"/>
            <a:ext cx="3361944" cy="1097280"/>
          </a:xfrm>
          <a:prstGeom prst="rect">
            <a:avLst/>
          </a:prstGeom>
          <a:noFill/>
          <a:ln/>
        </p:spPr>
        <p:txBody>
          <a:bodyPr wrap="square" lIns="0" tIns="0" rIns="0" bIns="0" rtlCol="0" anchor="ctr"/>
          <a:lstStyle/>
          <a:p>
            <a:pPr rtl="1" algn="ctr" indent="0" marL="0">
              <a:buNone/>
            </a:pPr>
            <a:r>
              <a:rPr lang="ar-SA" altLang="en-US" sz="3000" b="1" dirty="0">
                <a:solidFill>
                  <a:srgbClr val="1B3B6F"/>
                </a:solidFill>
                <a:latin typeface="Amiri" pitchFamily="34" charset="0"/>
                <a:ea typeface="Amiri" pitchFamily="34" charset="-122"/>
                <a:cs typeface="Amiri" pitchFamily="34" charset="-120"/>
              </a:rPr>
              <a:t>يَنْبَغِي أَنْ نُقَلِّلَ النُّفَايَاتِ</a:t>
            </a:r>
            <a:endParaRPr lang="ar-SA" sz="3000" dirty="0"/>
          </a:p>
        </p:txBody>
      </p:sp>
      <p:sp>
        <p:nvSpPr>
          <p:cNvPr id="22" name="Text 19"/>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ea typeface="Calibri" pitchFamily="34" charset="-122"/>
                <a:cs typeface="Calibri" pitchFamily="34" charset="-120"/>
              </a:rPr>
              <a:t>We should reduce waste.</a:t>
            </a:r>
            <a:endParaRPr lang="en-US" sz="1200" dirty="0"/>
          </a:p>
        </p:txBody>
      </p:sp>
      <p:sp>
        <p:nvSpPr>
          <p:cNvPr id="23" name="Shape 20"/>
          <p:cNvSpPr/>
          <p:nvPr/>
        </p:nvSpPr>
        <p:spPr>
          <a:xfrm>
            <a:off x="8205216" y="3913632"/>
            <a:ext cx="3416808" cy="804672"/>
          </a:xfrm>
          <a:prstGeom prst="roundRect">
            <a:avLst>
              <a:gd name="adj" fmla="val 5682"/>
            </a:avLst>
          </a:prstGeom>
          <a:solidFill>
            <a:srgbClr val="FFF4E0"/>
          </a:solidFill>
          <a:ln w="9525">
            <a:solidFill>
              <a:srgbClr val="FFF4E0"/>
            </a:solidFill>
            <a:prstDash val="solid"/>
          </a:ln>
        </p:spPr>
      </p:sp>
      <p:sp>
        <p:nvSpPr>
          <p:cNvPr id="24" name="Text 21"/>
          <p:cNvSpPr txBox="1"/>
          <p:nvPr/>
        </p:nvSpPr>
        <p:spPr>
          <a:xfrm>
            <a:off x="8296656"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ea typeface="Calibri" pitchFamily="34" charset="-122"/>
                <a:cs typeface="Calibri" pitchFamily="34" charset="-120"/>
              </a:rPr>
              <a:t>Most verbs: final </a:t>
            </a:r>
            <a:pPr algn="l" indent="0" marL="0">
              <a:buNone/>
            </a:pPr>
            <a:r>
              <a:rPr lang="ar-SA" altLang="en-US" sz="1450" dirty="0">
                <a:solidFill>
                  <a:srgbClr val="1F2A37"/>
                </a:solidFill>
                <a:latin typeface="Amiri" pitchFamily="34" charset="0"/>
                <a:ea typeface="Amiri" pitchFamily="34" charset="-122"/>
                <a:cs typeface="Amiri" pitchFamily="34" charset="-120"/>
              </a:rPr>
              <a:t>ـُ</a:t>
            </a:r>
            <a:pPr algn="l" indent="0" marL="0">
              <a:buNone/>
            </a:pPr>
            <a:r>
              <a:rPr lang="en-US" sz="1100" dirty="0">
                <a:solidFill>
                  <a:srgbClr val="1F2A37"/>
                </a:solidFill>
                <a:latin typeface="Calibri" pitchFamily="34" charset="0"/>
                <a:ea typeface="Calibri" pitchFamily="34" charset="-122"/>
                <a:cs typeface="Calibri" pitchFamily="34" charset="-120"/>
              </a:rPr>
              <a:t> → </a:t>
            </a:r>
            <a:pPr algn="l" indent="0" marL="0">
              <a:buNone/>
            </a:pPr>
            <a:r>
              <a:rPr lang="ar-SA" altLang="en-US" sz="1450" dirty="0">
                <a:solidFill>
                  <a:srgbClr val="1F2A37"/>
                </a:solidFill>
                <a:latin typeface="Amiri" pitchFamily="34" charset="0"/>
                <a:ea typeface="Amiri" pitchFamily="34" charset="-122"/>
                <a:cs typeface="Amiri" pitchFamily="34" charset="-120"/>
              </a:rPr>
              <a:t>ـَ</a:t>
            </a:r>
            <a:pPr algn="l" indent="0" marL="0">
              <a:buNone/>
            </a:pPr>
            <a:r>
              <a:rPr lang="en-US" sz="1100" dirty="0">
                <a:solidFill>
                  <a:srgbClr val="1F2A37"/>
                </a:solidFill>
                <a:latin typeface="Calibri" pitchFamily="34" charset="0"/>
                <a:ea typeface="Calibri" pitchFamily="34" charset="-122"/>
                <a:cs typeface="Calibri" pitchFamily="34" charset="-120"/>
              </a:rPr>
              <a:t>. They do NOT lose a </a:t>
            </a:r>
            <a:pPr algn="l" indent="0" marL="0">
              <a:buNone/>
            </a:pPr>
            <a:r>
              <a:rPr lang="ar-SA" altLang="en-US" sz="1450" dirty="0">
                <a:solidFill>
                  <a:srgbClr val="1F2A37"/>
                </a:solidFill>
                <a:latin typeface="Amiri" pitchFamily="34" charset="0"/>
                <a:ea typeface="Amiri" pitchFamily="34" charset="-122"/>
                <a:cs typeface="Amiri" pitchFamily="34" charset="-120"/>
              </a:rPr>
              <a:t>ن</a:t>
            </a:r>
            <a:pPr algn="l" indent="0" marL="0">
              <a:buNone/>
            </a:pPr>
            <a:r>
              <a:rPr lang="en-US" sz="1100" dirty="0">
                <a:solidFill>
                  <a:srgbClr val="1F2A37"/>
                </a:solidFill>
                <a:latin typeface="Calibri" pitchFamily="34" charset="0"/>
                <a:ea typeface="Calibri" pitchFamily="34" charset="-122"/>
                <a:cs typeface="Calibri" pitchFamily="34" charset="-120"/>
              </a:rPr>
              <a:t>.</a:t>
            </a:r>
            <a:endParaRPr lang="en-US" sz="1100" dirty="0"/>
          </a:p>
        </p:txBody>
      </p:sp>
      <p:sp>
        <p:nvSpPr>
          <p:cNvPr id="25" name="Shape 22"/>
          <p:cNvSpPr/>
          <p:nvPr/>
        </p:nvSpPr>
        <p:spPr>
          <a:xfrm>
            <a:off x="4276344"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4413504" y="1920240"/>
            <a:ext cx="15773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4413504" y="1920240"/>
            <a:ext cx="157734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FIVE VERBS · drop ن</a:t>
            </a:r>
            <a:endParaRPr lang="en-US" sz="850" dirty="0"/>
          </a:p>
        </p:txBody>
      </p:sp>
      <p:sp>
        <p:nvSpPr>
          <p:cNvPr id="28" name="Text 25"/>
          <p:cNvSpPr txBox="1"/>
          <p:nvPr/>
        </p:nvSpPr>
        <p:spPr>
          <a:xfrm>
            <a:off x="6036564" y="1874520"/>
            <a:ext cx="173888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34" charset="0"/>
                <a:ea typeface="Amiri" pitchFamily="34" charset="-122"/>
                <a:cs typeface="Amiri" pitchFamily="34" charset="-120"/>
              </a:rPr>
              <a:t>أَنْ يُعِيدُوا</a:t>
            </a:r>
            <a:endParaRPr lang="ar-SA" sz="1600" dirty="0"/>
          </a:p>
        </p:txBody>
      </p:sp>
      <p:sp>
        <p:nvSpPr>
          <p:cNvPr id="29" name="Text 26"/>
          <p:cNvSpPr txBox="1"/>
          <p:nvPr/>
        </p:nvSpPr>
        <p:spPr>
          <a:xfrm>
            <a:off x="4413504"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34" charset="0"/>
                <a:ea typeface="Amiri" pitchFamily="34" charset="-122"/>
                <a:cs typeface="Amiri" pitchFamily="34" charset="-120"/>
              </a:rPr>
              <a:t>يَجِبُ عَلَى النَّاسِ أَنْ يُعِيدُوا التَّدْوِيرَ</a:t>
            </a:r>
            <a:endParaRPr lang="ar-SA" sz="2100" dirty="0"/>
          </a:p>
        </p:txBody>
      </p:sp>
      <p:sp>
        <p:nvSpPr>
          <p:cNvPr id="30" name="Text 27"/>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ea typeface="Calibri" pitchFamily="34" charset="-122"/>
                <a:cs typeface="Calibri" pitchFamily="34" charset="-120"/>
              </a:rPr>
              <a:t>People must recycle.</a:t>
            </a:r>
            <a:endParaRPr lang="en-US" sz="1200" dirty="0"/>
          </a:p>
        </p:txBody>
      </p:sp>
      <p:sp>
        <p:nvSpPr>
          <p:cNvPr id="31" name="Shape 28"/>
          <p:cNvSpPr/>
          <p:nvPr/>
        </p:nvSpPr>
        <p:spPr>
          <a:xfrm>
            <a:off x="4386072" y="3913632"/>
            <a:ext cx="3416808" cy="804672"/>
          </a:xfrm>
          <a:prstGeom prst="roundRect">
            <a:avLst>
              <a:gd name="adj" fmla="val 5682"/>
            </a:avLst>
          </a:prstGeom>
          <a:solidFill>
            <a:srgbClr val="FFF4E0"/>
          </a:solidFill>
          <a:ln w="9525">
            <a:solidFill>
              <a:srgbClr val="FFF4E0"/>
            </a:solidFill>
            <a:prstDash val="solid"/>
          </a:ln>
        </p:spPr>
      </p:sp>
      <p:sp>
        <p:nvSpPr>
          <p:cNvPr id="32" name="Text 29"/>
          <p:cNvSpPr txBox="1"/>
          <p:nvPr/>
        </p:nvSpPr>
        <p:spPr>
          <a:xfrm>
            <a:off x="4477512"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ea typeface="Calibri" pitchFamily="34" charset="-122"/>
                <a:cs typeface="Calibri" pitchFamily="34" charset="-120"/>
              </a:rPr>
              <a:t>Only the five verbs lose their </a:t>
            </a:r>
            <a:pPr algn="l" indent="0" marL="0">
              <a:buNone/>
            </a:pPr>
            <a:r>
              <a:rPr lang="ar-SA" altLang="en-US" sz="1450" dirty="0">
                <a:solidFill>
                  <a:srgbClr val="1F2A37"/>
                </a:solidFill>
                <a:latin typeface="Amiri" pitchFamily="34" charset="0"/>
                <a:ea typeface="Amiri" pitchFamily="34" charset="-122"/>
                <a:cs typeface="Amiri" pitchFamily="34" charset="-120"/>
              </a:rPr>
              <a:t>ن</a:t>
            </a:r>
            <a:pPr algn="l" indent="0" marL="0">
              <a:buNone/>
            </a:pPr>
            <a:r>
              <a:rPr lang="en-US" sz="1100" dirty="0">
                <a:solidFill>
                  <a:srgbClr val="1F2A37"/>
                </a:solidFill>
                <a:latin typeface="Calibri" pitchFamily="34" charset="0"/>
                <a:ea typeface="Calibri" pitchFamily="34" charset="-122"/>
                <a:cs typeface="Calibri" pitchFamily="34" charset="-120"/>
              </a:rPr>
              <a:t>: </a:t>
            </a:r>
            <a:pPr algn="l" indent="0" marL="0">
              <a:buNone/>
            </a:pPr>
            <a:r>
              <a:rPr lang="ar-SA" altLang="en-US" sz="1450" dirty="0">
                <a:solidFill>
                  <a:srgbClr val="1F2A37"/>
                </a:solidFill>
                <a:latin typeface="Amiri" pitchFamily="34" charset="0"/>
                <a:ea typeface="Amiri" pitchFamily="34" charset="-122"/>
                <a:cs typeface="Amiri" pitchFamily="34" charset="-120"/>
              </a:rPr>
              <a:t>يُعِيدُونَ</a:t>
            </a:r>
            <a:pPr algn="l" indent="0" marL="0">
              <a:buNone/>
            </a:pPr>
            <a:r>
              <a:rPr lang="en-US" sz="1100" dirty="0">
                <a:solidFill>
                  <a:srgbClr val="1F2A37"/>
                </a:solidFill>
                <a:latin typeface="Calibri" pitchFamily="34" charset="0"/>
                <a:ea typeface="Calibri" pitchFamily="34" charset="-122"/>
                <a:cs typeface="Calibri" pitchFamily="34" charset="-120"/>
              </a:rPr>
              <a:t> → </a:t>
            </a:r>
            <a:pPr algn="l" indent="0" marL="0">
              <a:buNone/>
            </a:pPr>
            <a:r>
              <a:rPr lang="ar-SA" altLang="en-US" sz="1450" dirty="0">
                <a:solidFill>
                  <a:srgbClr val="1F2A37"/>
                </a:solidFill>
                <a:latin typeface="Amiri" pitchFamily="34" charset="0"/>
                <a:ea typeface="Amiri" pitchFamily="34" charset="-122"/>
                <a:cs typeface="Amiri" pitchFamily="34" charset="-120"/>
              </a:rPr>
              <a:t>أَنْ يُعِيدُوا</a:t>
            </a:r>
            <a:pPr algn="l" indent="0" marL="0">
              <a:buNone/>
            </a:pPr>
            <a:r>
              <a:rPr lang="en-US" sz="1100" dirty="0">
                <a:solidFill>
                  <a:srgbClr val="1F2A37"/>
                </a:solidFill>
                <a:latin typeface="Calibri" pitchFamily="34" charset="0"/>
                <a:ea typeface="Calibri" pitchFamily="34" charset="-122"/>
                <a:cs typeface="Calibri" pitchFamily="34" charset="-120"/>
              </a:rPr>
              <a:t>.</a:t>
            </a:r>
            <a:endParaRPr lang="en-US" sz="1100" dirty="0"/>
          </a:p>
        </p:txBody>
      </p:sp>
      <p:sp>
        <p:nvSpPr>
          <p:cNvPr id="33" name="Shape 30"/>
          <p:cNvSpPr/>
          <p:nvPr/>
        </p:nvSpPr>
        <p:spPr>
          <a:xfrm>
            <a:off x="457200"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594360" y="1920240"/>
            <a:ext cx="1645920" cy="274320"/>
          </a:xfrm>
          <a:prstGeom prst="roundRect">
            <a:avLst>
              <a:gd name="adj" fmla="val 50000"/>
            </a:avLst>
          </a:prstGeom>
          <a:solidFill>
            <a:srgbClr val="B83227"/>
          </a:solidFill>
          <a:ln w="12700">
            <a:solidFill>
              <a:srgbClr val="B83227"/>
            </a:solidFill>
            <a:prstDash val="solid"/>
          </a:ln>
        </p:spPr>
      </p:sp>
      <p:sp>
        <p:nvSpPr>
          <p:cNvPr id="35" name="Text 32"/>
          <p:cNvSpPr txBox="1"/>
          <p:nvPr/>
        </p:nvSpPr>
        <p:spPr>
          <a:xfrm>
            <a:off x="594360" y="1920240"/>
            <a:ext cx="164592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IF · TYPE 1 (TC-L02)</a:t>
            </a:r>
            <a:endParaRPr lang="en-US" sz="850" dirty="0"/>
          </a:p>
        </p:txBody>
      </p:sp>
      <p:sp>
        <p:nvSpPr>
          <p:cNvPr id="36" name="Text 33"/>
          <p:cNvSpPr txBox="1"/>
          <p:nvPr/>
        </p:nvSpPr>
        <p:spPr>
          <a:xfrm>
            <a:off x="2286000" y="1874520"/>
            <a:ext cx="167030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34" charset="0"/>
                <a:ea typeface="Amiri" pitchFamily="34" charset="-122"/>
                <a:cs typeface="Amiri" pitchFamily="34" charset="-120"/>
              </a:rPr>
              <a:t>إِذَا … سَـ</a:t>
            </a:r>
            <a:endParaRPr lang="ar-SA" sz="1600" dirty="0"/>
          </a:p>
        </p:txBody>
      </p:sp>
      <p:sp>
        <p:nvSpPr>
          <p:cNvPr id="37" name="Text 34"/>
          <p:cNvSpPr txBox="1"/>
          <p:nvPr/>
        </p:nvSpPr>
        <p:spPr>
          <a:xfrm>
            <a:off x="594360"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34" charset="0"/>
                <a:ea typeface="Amiri" pitchFamily="34" charset="-122"/>
                <a:cs typeface="Amiri" pitchFamily="34" charset="-120"/>
              </a:rPr>
              <a:t>إِذَا أَعَدْنَا التَّدْوِيرَ، سَنُقَلِّلُ النُّفَايَاتِ</a:t>
            </a:r>
            <a:endParaRPr lang="ar-SA" sz="2100" dirty="0"/>
          </a:p>
        </p:txBody>
      </p:sp>
      <p:sp>
        <p:nvSpPr>
          <p:cNvPr id="38" name="Text 35"/>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ea typeface="Calibri" pitchFamily="34" charset="-122"/>
                <a:cs typeface="Calibri" pitchFamily="34" charset="-120"/>
              </a:rPr>
              <a:t>If we recycle, we will reduce waste.</a:t>
            </a:r>
            <a:endParaRPr lang="en-US" sz="1200" dirty="0"/>
          </a:p>
        </p:txBody>
      </p:sp>
      <p:sp>
        <p:nvSpPr>
          <p:cNvPr id="39" name="Shape 36"/>
          <p:cNvSpPr/>
          <p:nvPr/>
        </p:nvSpPr>
        <p:spPr>
          <a:xfrm>
            <a:off x="566928" y="3913632"/>
            <a:ext cx="3416808" cy="804672"/>
          </a:xfrm>
          <a:prstGeom prst="roundRect">
            <a:avLst>
              <a:gd name="adj" fmla="val 5682"/>
            </a:avLst>
          </a:prstGeom>
          <a:solidFill>
            <a:srgbClr val="FFF4E0"/>
          </a:solidFill>
          <a:ln w="9525">
            <a:solidFill>
              <a:srgbClr val="FFF4E0"/>
            </a:solidFill>
            <a:prstDash val="solid"/>
          </a:ln>
        </p:spPr>
      </p:sp>
      <p:sp>
        <p:nvSpPr>
          <p:cNvPr id="40" name="Text 37"/>
          <p:cNvSpPr txBox="1"/>
          <p:nvPr/>
        </p:nvSpPr>
        <p:spPr>
          <a:xfrm>
            <a:off x="658368"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ea typeface="Calibri" pitchFamily="34" charset="-122"/>
                <a:cs typeface="Calibri" pitchFamily="34" charset="-120"/>
              </a:rPr>
              <a:t>Topic C focus: a real result with </a:t>
            </a:r>
            <a:pPr algn="l" indent="0" marL="0">
              <a:buNone/>
            </a:pPr>
            <a:r>
              <a:rPr lang="ar-SA" altLang="en-US" sz="1450" dirty="0">
                <a:solidFill>
                  <a:srgbClr val="1F2A37"/>
                </a:solidFill>
                <a:latin typeface="Amiri" pitchFamily="34" charset="0"/>
                <a:ea typeface="Amiri" pitchFamily="34" charset="-122"/>
                <a:cs typeface="Amiri" pitchFamily="34" charset="-120"/>
              </a:rPr>
              <a:t>إِذَا</a:t>
            </a:r>
            <a:pPr algn="l" indent="0" marL="0">
              <a:buNone/>
            </a:pPr>
            <a:r>
              <a:rPr lang="en-US" sz="1100" dirty="0">
                <a:solidFill>
                  <a:srgbClr val="1F2A37"/>
                </a:solidFill>
                <a:latin typeface="Calibri" pitchFamily="34" charset="0"/>
                <a:ea typeface="Calibri" pitchFamily="34" charset="-122"/>
                <a:cs typeface="Calibri" pitchFamily="34" charset="-120"/>
              </a:rPr>
              <a:t> + past → </a:t>
            </a:r>
            <a:pPr algn="l" indent="0" marL="0">
              <a:buNone/>
            </a:pPr>
            <a:r>
              <a:rPr lang="ar-SA" altLang="en-US" sz="1450" dirty="0">
                <a:solidFill>
                  <a:srgbClr val="1F2A37"/>
                </a:solidFill>
                <a:latin typeface="Amiri" pitchFamily="34" charset="0"/>
                <a:ea typeface="Amiri" pitchFamily="34" charset="-122"/>
                <a:cs typeface="Amiri" pitchFamily="34" charset="-120"/>
              </a:rPr>
              <a:t>سَـ</a:t>
            </a:r>
            <a:pPr algn="l" indent="0" marL="0">
              <a:buNone/>
            </a:pPr>
            <a:r>
              <a:rPr lang="en-US" sz="1100" dirty="0">
                <a:solidFill>
                  <a:srgbClr val="1F2A37"/>
                </a:solidFill>
                <a:latin typeface="Calibri" pitchFamily="34" charset="0"/>
                <a:ea typeface="Calibri" pitchFamily="34" charset="-122"/>
                <a:cs typeface="Calibri" pitchFamily="34" charset="-120"/>
              </a:rPr>
              <a:t>.</a:t>
            </a:r>
            <a:endParaRPr lang="en-US" sz="1100" dirty="0"/>
          </a:p>
        </p:txBody>
      </p:sp>
      <p:sp>
        <p:nvSpPr>
          <p:cNvPr id="41" name="Shape 38"/>
          <p:cNvSpPr/>
          <p:nvPr/>
        </p:nvSpPr>
        <p:spPr>
          <a:xfrm>
            <a:off x="457200" y="50109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2" name="Text 39"/>
          <p:cNvSpPr txBox="1"/>
          <p:nvPr/>
        </p:nvSpPr>
        <p:spPr>
          <a:xfrm>
            <a:off x="685800" y="5102352"/>
            <a:ext cx="2743200" cy="274320"/>
          </a:xfrm>
          <a:prstGeom prst="rect">
            <a:avLst/>
          </a:prstGeom>
          <a:noFill/>
          <a:ln/>
        </p:spPr>
        <p:txBody>
          <a:bodyPr wrap="square" lIns="0" tIns="0" rIns="0" bIns="0" rtlCol="0" anchor="ctr"/>
          <a:lstStyle/>
          <a:p>
            <a:pPr algn="l" indent="0" marL="0">
              <a:buNone/>
            </a:pPr>
            <a:r>
              <a:rPr lang="en-US" sz="1000" b="1" spc="200" kern="0" dirty="0">
                <a:solidFill>
                  <a:srgbClr val="B83227"/>
                </a:solidFill>
                <a:latin typeface="Calibri" pitchFamily="34" charset="0"/>
                <a:ea typeface="Calibri" pitchFamily="34" charset="-122"/>
                <a:cs typeface="Calibri" pitchFamily="34" charset="-120"/>
              </a:rPr>
              <a:t>COMMON ERROR</a:t>
            </a:r>
            <a:endParaRPr lang="en-US" sz="1000" dirty="0"/>
          </a:p>
        </p:txBody>
      </p:sp>
      <p:sp>
        <p:nvSpPr>
          <p:cNvPr id="43" name="Text 40"/>
          <p:cNvSpPr txBox="1"/>
          <p:nvPr/>
        </p:nvSpPr>
        <p:spPr>
          <a:xfrm>
            <a:off x="685800" y="5394960"/>
            <a:ext cx="3291840" cy="822960"/>
          </a:xfrm>
          <a:prstGeom prst="rect">
            <a:avLst/>
          </a:prstGeom>
          <a:noFill/>
          <a:ln/>
        </p:spPr>
        <p:txBody>
          <a:bodyPr wrap="square" lIns="0" tIns="0" rIns="0" bIns="0" rtlCol="0" anchor="t"/>
          <a:lstStyle/>
          <a:p>
            <a:pPr algn="l" indent="0" marL="0">
              <a:buNone/>
            </a:pPr>
            <a:r>
              <a:rPr lang="en-US" sz="1150" dirty="0">
                <a:solidFill>
                  <a:srgbClr val="1F2A37"/>
                </a:solidFill>
                <a:latin typeface="Calibri" pitchFamily="34" charset="0"/>
                <a:ea typeface="Calibri" pitchFamily="34" charset="-122"/>
                <a:cs typeface="Calibri" pitchFamily="34" charset="-120"/>
              </a:rPr>
              <a:t>Do not say that every subjunctive verb “loses nūn”.</a:t>
            </a:r>
            <a:endParaRPr lang="en-US" sz="1150" dirty="0"/>
          </a:p>
        </p:txBody>
      </p:sp>
      <p:sp>
        <p:nvSpPr>
          <p:cNvPr id="44" name="Text 41"/>
          <p:cNvSpPr txBox="1"/>
          <p:nvPr/>
        </p:nvSpPr>
        <p:spPr>
          <a:xfrm>
            <a:off x="9966960" y="5230368"/>
            <a:ext cx="1645920" cy="86868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34" charset="0"/>
                <a:ea typeface="Amiri" pitchFamily="34" charset="-122"/>
                <a:cs typeface="Amiri" pitchFamily="34" charset="-120"/>
              </a:rPr>
              <a:t>أَنْ نُقَلِّلَ</a:t>
            </a:r>
            <a:endParaRPr lang="ar-SA" sz="2600" dirty="0"/>
          </a:p>
        </p:txBody>
      </p:sp>
      <p:sp>
        <p:nvSpPr>
          <p:cNvPr id="45" name="Text 42"/>
          <p:cNvSpPr txBox="1"/>
          <p:nvPr/>
        </p:nvSpPr>
        <p:spPr>
          <a:xfrm>
            <a:off x="960120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ea typeface="Calibri" pitchFamily="34" charset="-122"/>
                <a:cs typeface="Calibri" pitchFamily="34" charset="-120"/>
              </a:rPr>
              <a:t>→</a:t>
            </a:r>
            <a:endParaRPr lang="en-US" sz="2000" dirty="0"/>
          </a:p>
        </p:txBody>
      </p:sp>
      <p:sp>
        <p:nvSpPr>
          <p:cNvPr id="46" name="Text 43"/>
          <p:cNvSpPr txBox="1"/>
          <p:nvPr/>
        </p:nvSpPr>
        <p:spPr>
          <a:xfrm>
            <a:off x="8001000" y="5230368"/>
            <a:ext cx="1645920" cy="868680"/>
          </a:xfrm>
          <a:prstGeom prst="rect">
            <a:avLst/>
          </a:prstGeom>
          <a:noFill/>
          <a:ln/>
        </p:spPr>
        <p:txBody>
          <a:bodyPr wrap="square" lIns="0" tIns="0" rIns="0" bIns="0" rtlCol="0" anchor="ctr"/>
          <a:lstStyle/>
          <a:p>
            <a:pPr rtl="1" algn="ctr" indent="0" marL="0">
              <a:buNone/>
            </a:pPr>
            <a:r>
              <a:rPr lang="ar-SA" altLang="en-US" sz="2600" b="1" dirty="0">
                <a:solidFill>
                  <a:srgbClr val="B83227"/>
                </a:solidFill>
                <a:latin typeface="Amiri" pitchFamily="34" charset="0"/>
                <a:ea typeface="Amiri" pitchFamily="34" charset="-122"/>
                <a:cs typeface="Amiri" pitchFamily="34" charset="-120"/>
              </a:rPr>
              <a:t>أَنْ نُقَلِّلُ</a:t>
            </a:r>
            <a:endParaRPr lang="ar-SA" sz="2600" dirty="0"/>
          </a:p>
        </p:txBody>
      </p:sp>
      <p:sp>
        <p:nvSpPr>
          <p:cNvPr id="47" name="Shape 44"/>
          <p:cNvSpPr/>
          <p:nvPr/>
        </p:nvSpPr>
        <p:spPr>
          <a:xfrm>
            <a:off x="8138160" y="5669280"/>
            <a:ext cx="1371600" cy="0"/>
          </a:xfrm>
          <a:prstGeom prst="line">
            <a:avLst/>
          </a:prstGeom>
          <a:noFill/>
          <a:ln w="25400">
            <a:solidFill>
              <a:srgbClr val="B83227"/>
            </a:solidFill>
            <a:prstDash val="solid"/>
          </a:ln>
        </p:spPr>
      </p:sp>
      <p:sp>
        <p:nvSpPr>
          <p:cNvPr id="48" name="Text 45"/>
          <p:cNvSpPr txBox="1"/>
          <p:nvPr/>
        </p:nvSpPr>
        <p:spPr>
          <a:xfrm>
            <a:off x="6263640" y="5230368"/>
            <a:ext cx="1645920" cy="86868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34" charset="0"/>
                <a:ea typeface="Amiri" pitchFamily="34" charset="-122"/>
                <a:cs typeface="Amiri" pitchFamily="34" charset="-120"/>
              </a:rPr>
              <a:t>أَنْ يُعِيدُوا</a:t>
            </a:r>
            <a:endParaRPr lang="ar-SA" sz="2600" dirty="0"/>
          </a:p>
        </p:txBody>
      </p:sp>
      <p:sp>
        <p:nvSpPr>
          <p:cNvPr id="49" name="Text 46"/>
          <p:cNvSpPr txBox="1"/>
          <p:nvPr/>
        </p:nvSpPr>
        <p:spPr>
          <a:xfrm>
            <a:off x="589788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ea typeface="Calibri" pitchFamily="34" charset="-122"/>
                <a:cs typeface="Calibri" pitchFamily="34" charset="-120"/>
              </a:rPr>
              <a:t>→</a:t>
            </a:r>
            <a:endParaRPr lang="en-US" sz="2000" dirty="0"/>
          </a:p>
        </p:txBody>
      </p:sp>
      <p:sp>
        <p:nvSpPr>
          <p:cNvPr id="50" name="Text 47"/>
          <p:cNvSpPr txBox="1"/>
          <p:nvPr/>
        </p:nvSpPr>
        <p:spPr>
          <a:xfrm>
            <a:off x="4297680" y="5230368"/>
            <a:ext cx="1645920" cy="868680"/>
          </a:xfrm>
          <a:prstGeom prst="rect">
            <a:avLst/>
          </a:prstGeom>
          <a:noFill/>
          <a:ln/>
        </p:spPr>
        <p:txBody>
          <a:bodyPr wrap="square" lIns="0" tIns="0" rIns="0" bIns="0" rtlCol="0" anchor="ctr"/>
          <a:lstStyle/>
          <a:p>
            <a:pPr rtl="1" algn="ctr" indent="0" marL="0">
              <a:buNone/>
            </a:pPr>
            <a:r>
              <a:rPr lang="ar-SA" altLang="en-US" sz="2600" b="1" dirty="0">
                <a:solidFill>
                  <a:srgbClr val="B83227"/>
                </a:solidFill>
                <a:latin typeface="Amiri" pitchFamily="34" charset="0"/>
                <a:ea typeface="Amiri" pitchFamily="34" charset="-122"/>
                <a:cs typeface="Amiri" pitchFamily="34" charset="-120"/>
              </a:rPr>
              <a:t>أَنْ يُعِيدُونَ</a:t>
            </a:r>
            <a:endParaRPr lang="ar-SA" sz="2600" dirty="0"/>
          </a:p>
        </p:txBody>
      </p:sp>
      <p:sp>
        <p:nvSpPr>
          <p:cNvPr id="51" name="Shape 48"/>
          <p:cNvSpPr/>
          <p:nvPr/>
        </p:nvSpPr>
        <p:spPr>
          <a:xfrm>
            <a:off x="4434840" y="5669280"/>
            <a:ext cx="1371600" cy="0"/>
          </a:xfrm>
          <a:prstGeom prst="line">
            <a:avLst/>
          </a:prstGeom>
          <a:noFill/>
          <a:ln w="25400">
            <a:solidFill>
              <a:srgbClr val="B83227"/>
            </a:solidFill>
            <a:prstDash val="solid"/>
          </a:ln>
        </p:spPr>
      </p:sp>
      <p:sp>
        <p:nvSpPr>
          <p:cNvPr id="52" name="Text 4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15 / 46</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TC-L05 · Environmental Solutions</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GRAMMAR FOCUS · PART 5 · WEBSITE EXAMPLES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ea typeface="Cambria" pitchFamily="34" charset="-122"/>
                <a:cs typeface="Cambria" pitchFamily="34" charset="-120"/>
              </a:rPr>
              <a:t>The four website rules with examples</a:t>
            </a:r>
            <a:endParaRPr lang="en-US" sz="25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أَمْثِلَةُ القَوَاعِدِ</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2 · Lesson 2 of 3</a:t>
            </a:r>
            <a:endParaRPr lang="en-US" sz="850" dirty="0"/>
          </a:p>
        </p:txBody>
      </p:sp>
      <p:sp>
        <p:nvSpPr>
          <p:cNvPr id="17" name="Shape 14"/>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40080" y="1883664"/>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1. Advice with </a:t>
            </a:r>
            <a:pPr algn="l" indent="0" marL="0">
              <a:buNone/>
            </a:pPr>
            <a:r>
              <a:rPr lang="ar-SA" altLang="en-US" sz="1650" b="1" dirty="0">
                <a:solidFill>
                  <a:srgbClr val="1B3B6F"/>
                </a:solidFill>
                <a:latin typeface="Amiri" pitchFamily="34" charset="0"/>
                <a:ea typeface="Amiri" pitchFamily="34" charset="-122"/>
                <a:cs typeface="Amiri" pitchFamily="34" charset="-120"/>
              </a:rPr>
              <a:t>يَنْبَغِي أَنْ</a:t>
            </a:r>
            <a:endParaRPr lang="en-US" sz="1250" dirty="0"/>
          </a:p>
        </p:txBody>
      </p:sp>
      <p:sp>
        <p:nvSpPr>
          <p:cNvPr id="19" name="Text 16"/>
          <p:cNvSpPr txBox="1"/>
          <p:nvPr/>
        </p:nvSpPr>
        <p:spPr>
          <a:xfrm>
            <a:off x="640080" y="2345436"/>
            <a:ext cx="3566160" cy="432054"/>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34" charset="0"/>
                <a:ea typeface="Amiri" pitchFamily="34" charset="-122"/>
                <a:cs typeface="Amiri" pitchFamily="34" charset="-120"/>
              </a:rPr>
              <a:t>يَنْبَغِي أَنْ</a:t>
            </a:r>
            <a:pPr algn="l" indent="0" marL="0">
              <a:buNone/>
            </a:pPr>
            <a:r>
              <a:rPr lang="en-US" sz="1050" dirty="0">
                <a:solidFill>
                  <a:srgbClr val="5A6472"/>
                </a:solidFill>
                <a:latin typeface="Calibri" pitchFamily="34" charset="0"/>
                <a:ea typeface="Calibri" pitchFamily="34" charset="-122"/>
                <a:cs typeface="Calibri" pitchFamily="34" charset="-120"/>
              </a:rPr>
              <a:t> + subjunctive present</a:t>
            </a:r>
            <a:endParaRPr lang="en-US" sz="1050" dirty="0"/>
          </a:p>
        </p:txBody>
      </p:sp>
      <p:sp>
        <p:nvSpPr>
          <p:cNvPr id="20" name="Text 17"/>
          <p:cNvSpPr txBox="1"/>
          <p:nvPr/>
        </p:nvSpPr>
        <p:spPr>
          <a:xfrm>
            <a:off x="4297680" y="1847088"/>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34" charset="0"/>
                <a:ea typeface="Amiri" pitchFamily="34" charset="-122"/>
                <a:cs typeface="Amiri" pitchFamily="34" charset="-120"/>
              </a:rPr>
              <a:t>يَنْبَغِي أَنْ نُقَلِّلَ اسْتِخْدَامَ البِلَاسْتِيكِ.</a:t>
            </a:r>
            <a:endParaRPr lang="ar-SA" sz="2000" dirty="0"/>
          </a:p>
        </p:txBody>
      </p:sp>
      <p:sp>
        <p:nvSpPr>
          <p:cNvPr id="21" name="Shape 18"/>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640080" y="3040380"/>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2. Obligation for a person or group</a:t>
            </a:r>
            <a:endParaRPr lang="en-US" sz="1250" dirty="0"/>
          </a:p>
        </p:txBody>
      </p:sp>
      <p:sp>
        <p:nvSpPr>
          <p:cNvPr id="23" name="Text 20"/>
          <p:cNvSpPr txBox="1"/>
          <p:nvPr/>
        </p:nvSpPr>
        <p:spPr>
          <a:xfrm>
            <a:off x="640080" y="3502152"/>
            <a:ext cx="3566160" cy="432054"/>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34" charset="0"/>
                <a:ea typeface="Amiri" pitchFamily="34" charset="-122"/>
                <a:cs typeface="Amiri" pitchFamily="34" charset="-120"/>
              </a:rPr>
              <a:t>يَجِبُ عَلَى</a:t>
            </a:r>
            <a:pPr algn="l" indent="0" marL="0">
              <a:buNone/>
            </a:pPr>
            <a:r>
              <a:rPr lang="en-US" sz="1050" dirty="0">
                <a:solidFill>
                  <a:srgbClr val="5A6472"/>
                </a:solidFill>
                <a:latin typeface="Calibri" pitchFamily="34" charset="0"/>
                <a:ea typeface="Calibri" pitchFamily="34" charset="-122"/>
                <a:cs typeface="Calibri" pitchFamily="34" charset="-120"/>
              </a:rPr>
              <a:t> + noun + </a:t>
            </a:r>
            <a:pPr algn="l" indent="0" marL="0">
              <a:buNone/>
            </a:pPr>
            <a:r>
              <a:rPr lang="ar-SA" altLang="en-US" sz="1350" dirty="0">
                <a:solidFill>
                  <a:srgbClr val="5A6472"/>
                </a:solidFill>
                <a:latin typeface="Amiri" pitchFamily="34" charset="0"/>
                <a:ea typeface="Amiri" pitchFamily="34" charset="-122"/>
                <a:cs typeface="Amiri" pitchFamily="34" charset="-120"/>
              </a:rPr>
              <a:t>أَنْ</a:t>
            </a:r>
            <a:pPr algn="l" indent="0" marL="0">
              <a:buNone/>
            </a:pPr>
            <a:r>
              <a:rPr lang="en-US" sz="1050" dirty="0">
                <a:solidFill>
                  <a:srgbClr val="5A6472"/>
                </a:solidFill>
                <a:latin typeface="Calibri" pitchFamily="34" charset="0"/>
                <a:ea typeface="Calibri" pitchFamily="34" charset="-122"/>
                <a:cs typeface="Calibri" pitchFamily="34" charset="-120"/>
              </a:rPr>
              <a:t> + subjunctive</a:t>
            </a:r>
            <a:endParaRPr lang="en-US" sz="1050" dirty="0"/>
          </a:p>
        </p:txBody>
      </p:sp>
      <p:sp>
        <p:nvSpPr>
          <p:cNvPr id="24" name="Text 21"/>
          <p:cNvSpPr txBox="1"/>
          <p:nvPr/>
        </p:nvSpPr>
        <p:spPr>
          <a:xfrm>
            <a:off x="4297680" y="3003804"/>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34" charset="0"/>
                <a:ea typeface="Amiri" pitchFamily="34" charset="-122"/>
                <a:cs typeface="Amiri" pitchFamily="34" charset="-120"/>
              </a:rPr>
              <a:t>يَجِبُ عَلَى الحُكُومَةِ أَنْ تَسْتَثْمِرَ فِي الطَّاقَةِ المُتَجَدِّدَةِ.</a:t>
            </a:r>
            <a:endParaRPr lang="ar-SA" sz="200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40080" y="4197096"/>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3. Purpose with </a:t>
            </a:r>
            <a:pPr algn="l" indent="0" marL="0">
              <a:buNone/>
            </a:pPr>
            <a:r>
              <a:rPr lang="ar-SA" altLang="en-US" sz="1650" b="1" dirty="0">
                <a:solidFill>
                  <a:srgbClr val="1B3B6F"/>
                </a:solidFill>
                <a:latin typeface="Amiri" pitchFamily="34" charset="0"/>
                <a:ea typeface="Amiri" pitchFamily="34" charset="-122"/>
                <a:cs typeface="Amiri" pitchFamily="34" charset="-120"/>
              </a:rPr>
              <a:t>لِكَيْ</a:t>
            </a:r>
            <a:endParaRPr lang="en-US" sz="1250" dirty="0"/>
          </a:p>
        </p:txBody>
      </p:sp>
      <p:sp>
        <p:nvSpPr>
          <p:cNvPr id="27" name="Text 24"/>
          <p:cNvSpPr txBox="1"/>
          <p:nvPr/>
        </p:nvSpPr>
        <p:spPr>
          <a:xfrm>
            <a:off x="640080" y="4658868"/>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ea typeface="Calibri" pitchFamily="34" charset="-122"/>
                <a:cs typeface="Calibri" pitchFamily="34" charset="-120"/>
              </a:rPr>
              <a:t>action + </a:t>
            </a:r>
            <a:pPr algn="l" indent="0" marL="0">
              <a:buNone/>
            </a:pPr>
            <a:r>
              <a:rPr lang="ar-SA" altLang="en-US" sz="1350" dirty="0">
                <a:solidFill>
                  <a:srgbClr val="5A6472"/>
                </a:solidFill>
                <a:latin typeface="Amiri" pitchFamily="34" charset="0"/>
                <a:ea typeface="Amiri" pitchFamily="34" charset="-122"/>
                <a:cs typeface="Amiri" pitchFamily="34" charset="-120"/>
              </a:rPr>
              <a:t>لِكَيْ</a:t>
            </a:r>
            <a:pPr algn="l" indent="0" marL="0">
              <a:buNone/>
            </a:pPr>
            <a:r>
              <a:rPr lang="en-US" sz="1050" dirty="0">
                <a:solidFill>
                  <a:srgbClr val="5A6472"/>
                </a:solidFill>
                <a:latin typeface="Calibri" pitchFamily="34" charset="0"/>
                <a:ea typeface="Calibri" pitchFamily="34" charset="-122"/>
                <a:cs typeface="Calibri" pitchFamily="34" charset="-120"/>
              </a:rPr>
              <a:t> + subjunctive</a:t>
            </a:r>
            <a:endParaRPr lang="en-US" sz="1050" dirty="0"/>
          </a:p>
        </p:txBody>
      </p:sp>
      <p:sp>
        <p:nvSpPr>
          <p:cNvPr id="28" name="Text 25"/>
          <p:cNvSpPr txBox="1"/>
          <p:nvPr/>
        </p:nvSpPr>
        <p:spPr>
          <a:xfrm>
            <a:off x="4297680" y="4160520"/>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34" charset="0"/>
                <a:ea typeface="Amiri" pitchFamily="34" charset="-122"/>
                <a:cs typeface="Amiri" pitchFamily="34" charset="-120"/>
              </a:rPr>
              <a:t>نَسْتَخْدِمُ النَّقْلَ العَامَّ لِكَيْ نُقَلِّلَ الانْبِعَاثَاتِ.</a:t>
            </a:r>
            <a:endParaRPr lang="ar-SA" sz="2000" dirty="0"/>
          </a:p>
        </p:txBody>
      </p:sp>
      <p:sp>
        <p:nvSpPr>
          <p:cNvPr id="29" name="Shape 26"/>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40080" y="5353812"/>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4. The five verbs after </a:t>
            </a:r>
            <a:pPr algn="l" indent="0" marL="0">
              <a:buNone/>
            </a:pPr>
            <a:r>
              <a:rPr lang="ar-SA" altLang="en-US" sz="1650" b="1" dirty="0">
                <a:solidFill>
                  <a:srgbClr val="1B3B6F"/>
                </a:solidFill>
                <a:latin typeface="Amiri" pitchFamily="34" charset="0"/>
                <a:ea typeface="Amiri" pitchFamily="34" charset="-122"/>
                <a:cs typeface="Amiri" pitchFamily="34" charset="-120"/>
              </a:rPr>
              <a:t>أَنْ</a:t>
            </a:r>
            <a:endParaRPr lang="en-US" sz="1250" dirty="0"/>
          </a:p>
        </p:txBody>
      </p:sp>
      <p:sp>
        <p:nvSpPr>
          <p:cNvPr id="31" name="Text 28"/>
          <p:cNvSpPr txBox="1"/>
          <p:nvPr/>
        </p:nvSpPr>
        <p:spPr>
          <a:xfrm>
            <a:off x="640080" y="5815584"/>
            <a:ext cx="3566160" cy="432054"/>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34" charset="0"/>
                <a:ea typeface="Amiri" pitchFamily="34" charset="-122"/>
                <a:cs typeface="Amiri" pitchFamily="34" charset="-120"/>
              </a:rPr>
              <a:t>أَنْ</a:t>
            </a:r>
            <a:pPr algn="l" indent="0" marL="0">
              <a:buNone/>
            </a:pPr>
            <a:r>
              <a:rPr lang="en-US" sz="1050" dirty="0">
                <a:solidFill>
                  <a:srgbClr val="5A6472"/>
                </a:solidFill>
                <a:latin typeface="Calibri" pitchFamily="34" charset="0"/>
                <a:ea typeface="Calibri" pitchFamily="34" charset="-122"/>
                <a:cs typeface="Calibri" pitchFamily="34" charset="-120"/>
              </a:rPr>
              <a:t> + one of the five verbs → nūn is omitted</a:t>
            </a:r>
            <a:endParaRPr lang="en-US" sz="1050" dirty="0"/>
          </a:p>
        </p:txBody>
      </p:sp>
      <p:sp>
        <p:nvSpPr>
          <p:cNvPr id="32" name="Text 29"/>
          <p:cNvSpPr txBox="1"/>
          <p:nvPr/>
        </p:nvSpPr>
        <p:spPr>
          <a:xfrm>
            <a:off x="4297680" y="5317236"/>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34" charset="0"/>
                <a:ea typeface="Amiri" pitchFamily="34" charset="-122"/>
                <a:cs typeface="Amiri" pitchFamily="34" charset="-120"/>
              </a:rPr>
              <a:t>يَجِبُ عَلَى النَّاسِ أَنْ يُعِيدُوا التَّدْوِيرَ.</a:t>
            </a:r>
            <a:endParaRPr lang="ar-SA" sz="200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16 / 46</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TC-L05 · Environmental Solutions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2 · Lesson 2 of 3</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accurate advice sentence.</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يَنْبَغِي أَنْ نُقَلِّلُ اسْتِخْدَامَ البِلَاسْتِيكِ.</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يَنْبَغِي نُقَلِّلَ اسْتِخْدَامَ البِلَاسْتِيكِ.</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يَنْبَغِي أَنْ نُقَلِّلَ اسْتِخْدَامَ البِلَاسْتِيكِ.</a:t>
            </a:r>
            <a:endParaRPr lang="ar-SA" sz="20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accurate obligation.</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يَجِبُ عَلَى الحُكُومَةِ أَنْ تَحْمِيَ الغَابَاتِ.</a:t>
            </a:r>
            <a:endParaRPr lang="ar-SA" sz="20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يَجِبُ الحُكُومَةُ تَحْمِي الغَابَاتِ.</a:t>
            </a:r>
            <a:endParaRPr lang="ar-SA" sz="20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يَجِبُ عَلَى الحُكُومَةِ تَحْمِيُ الغَابَاتِ.</a:t>
            </a:r>
            <a:endParaRPr lang="ar-SA" sz="20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4" name="Text 41"/>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accurate purpose sentence.</a:t>
            </a:r>
            <a:endParaRPr lang="en-US" sz="1250" dirty="0"/>
          </a:p>
        </p:txBody>
      </p:sp>
      <p:sp>
        <p:nvSpPr>
          <p:cNvPr id="45" name="Shape 42"/>
          <p:cNvSpPr/>
          <p:nvPr/>
        </p:nvSpPr>
        <p:spPr>
          <a:xfrm>
            <a:off x="640080" y="48737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7" name="Text 44"/>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نَزْرَعُ الأَشْجَارَ لِكَيْ نُحَسِّنُ جَوْدَةَ الهَوَاءِ.</a:t>
            </a:r>
            <a:endParaRPr lang="ar-SA" sz="2050" dirty="0"/>
          </a:p>
        </p:txBody>
      </p:sp>
      <p:sp>
        <p:nvSpPr>
          <p:cNvPr id="48" name="Shape 45"/>
          <p:cNvSpPr/>
          <p:nvPr/>
        </p:nvSpPr>
        <p:spPr>
          <a:xfrm>
            <a:off x="640080" y="53309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0" name="Text 47"/>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نَزْرَعُ الأَشْجَارَ لِكَيْ نُحَسِّنَ جَوْدَةَ الهَوَاءِ.</a:t>
            </a:r>
            <a:endParaRPr lang="ar-SA" sz="2050" dirty="0"/>
          </a:p>
        </p:txBody>
      </p:sp>
      <p:sp>
        <p:nvSpPr>
          <p:cNvPr id="51" name="Shape 48"/>
          <p:cNvSpPr/>
          <p:nvPr/>
        </p:nvSpPr>
        <p:spPr>
          <a:xfrm>
            <a:off x="640080" y="57881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3" name="Text 50"/>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نَزْرَعُ الأَشْجَارَ لِكَيْ تَحْسِينُ الهَوَاءِ.</a:t>
            </a:r>
            <a:endParaRPr lang="ar-SA" sz="2050" dirty="0"/>
          </a:p>
        </p:txBody>
      </p:sp>
      <p:sp>
        <p:nvSpPr>
          <p:cNvPr id="54" name="Shape 5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313932"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7" name="Text 54"/>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Complete: ___ </a:t>
            </a:r>
            <a:pPr algn="l" indent="0" marL="0">
              <a:buNone/>
            </a:pPr>
            <a:r>
              <a:rPr lang="ar-SA" altLang="en-US" sz="1650" b="1" dirty="0">
                <a:solidFill>
                  <a:srgbClr val="1B3B6F"/>
                </a:solidFill>
                <a:latin typeface="Amiri" pitchFamily="34" charset="0"/>
                <a:ea typeface="Amiri" pitchFamily="34" charset="-122"/>
                <a:cs typeface="Amiri" pitchFamily="34" charset="-120"/>
              </a:rPr>
              <a:t>أَنْ نَسْتَخْدِمَ الطَّاقَةَ الشَّمْسِيَّةَ</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58" name="Shape 55"/>
          <p:cNvSpPr/>
          <p:nvPr/>
        </p:nvSpPr>
        <p:spPr>
          <a:xfrm>
            <a:off x="6368796"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0" name="Text 57"/>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يُمْكِنُ</a:t>
            </a:r>
            <a:endParaRPr lang="ar-SA" sz="2050" dirty="0"/>
          </a:p>
        </p:txBody>
      </p:sp>
      <p:sp>
        <p:nvSpPr>
          <p:cNvPr id="61" name="Shape 58"/>
          <p:cNvSpPr/>
          <p:nvPr/>
        </p:nvSpPr>
        <p:spPr>
          <a:xfrm>
            <a:off x="6368796"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3" name="Text 60"/>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يُؤَدِّي</a:t>
            </a:r>
            <a:endParaRPr lang="ar-SA" sz="2050" dirty="0"/>
          </a:p>
        </p:txBody>
      </p:sp>
      <p:sp>
        <p:nvSpPr>
          <p:cNvPr id="64" name="Shape 61"/>
          <p:cNvSpPr/>
          <p:nvPr/>
        </p:nvSpPr>
        <p:spPr>
          <a:xfrm>
            <a:off x="6368796"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6" name="Text 63"/>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يَتَّسِمُ</a:t>
            </a:r>
            <a:endParaRPr lang="ar-SA" sz="2050" dirty="0"/>
          </a:p>
        </p:txBody>
      </p:sp>
      <p:sp>
        <p:nvSpPr>
          <p:cNvPr id="67" name="Text 6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17 / 46</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TC-L05 · Environmental Solutions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2 · Lesson 2 of 3</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accurate advice sentence.</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يَنْبَغِي أَنْ نُقَلِّلُ اسْتِخْدَامَ البِلَاسْتِيكِ.</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يَنْبَغِي نُقَلِّلَ اسْتِخْدَامَ البِلَاسْتِيكِ.</a:t>
            </a:r>
            <a:endParaRPr lang="ar-SA" sz="170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يَنْبَغِي أَنْ نُقَلِّلَ اسْتِخْدَامَ البِلَاسْتِيكِ.</a:t>
            </a:r>
            <a:endParaRPr lang="ar-SA" sz="170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After </a:t>
            </a:r>
            <a:pPr algn="l" indent="0" marL="0">
              <a:buNone/>
            </a:pPr>
            <a:r>
              <a:rPr lang="ar-SA" altLang="en-US" sz="1350" dirty="0">
                <a:solidFill>
                  <a:srgbClr val="8A6D1E"/>
                </a:solidFill>
                <a:latin typeface="Amiri" pitchFamily="34" charset="0"/>
                <a:ea typeface="Amiri" pitchFamily="34" charset="-122"/>
                <a:cs typeface="Amiri" pitchFamily="34" charset="-120"/>
              </a:rPr>
              <a:t>أن</a:t>
            </a:r>
            <a:pPr algn="l" indent="0" marL="0">
              <a:buNone/>
            </a:pPr>
            <a:r>
              <a:rPr lang="en-US" sz="1050" i="1" dirty="0">
                <a:solidFill>
                  <a:srgbClr val="8A6D1E"/>
                </a:solidFill>
                <a:latin typeface="Calibri" pitchFamily="34" charset="0"/>
                <a:ea typeface="Calibri" pitchFamily="34" charset="-122"/>
                <a:cs typeface="Calibri" pitchFamily="34" charset="-120"/>
              </a:rPr>
              <a:t>, </a:t>
            </a:r>
            <a:pPr algn="l" indent="0" marL="0">
              <a:buNone/>
            </a:pPr>
            <a:r>
              <a:rPr lang="ar-SA" altLang="en-US" sz="1350" dirty="0">
                <a:solidFill>
                  <a:srgbClr val="8A6D1E"/>
                </a:solidFill>
                <a:latin typeface="Amiri" pitchFamily="34" charset="0"/>
                <a:ea typeface="Amiri" pitchFamily="34" charset="-122"/>
                <a:cs typeface="Amiri" pitchFamily="34" charset="-120"/>
              </a:rPr>
              <a:t>نُقَلِّلُ</a:t>
            </a:r>
            <a:pPr algn="l" indent="0" marL="0">
              <a:buNone/>
            </a:pPr>
            <a:r>
              <a:rPr lang="en-US" sz="1050" i="1" dirty="0">
                <a:solidFill>
                  <a:srgbClr val="8A6D1E"/>
                </a:solidFill>
                <a:latin typeface="Calibri" pitchFamily="34" charset="0"/>
                <a:ea typeface="Calibri" pitchFamily="34" charset="-122"/>
                <a:cs typeface="Calibri" pitchFamily="34" charset="-120"/>
              </a:rPr>
              <a:t> becomes </a:t>
            </a:r>
            <a:pPr algn="l" indent="0" marL="0">
              <a:buNone/>
            </a:pPr>
            <a:r>
              <a:rPr lang="ar-SA" altLang="en-US" sz="1350" dirty="0">
                <a:solidFill>
                  <a:srgbClr val="8A6D1E"/>
                </a:solidFill>
                <a:latin typeface="Amiri" pitchFamily="34" charset="0"/>
                <a:ea typeface="Amiri" pitchFamily="34" charset="-122"/>
                <a:cs typeface="Amiri" pitchFamily="34" charset="-120"/>
              </a:rPr>
              <a:t>نُقَلِّلَ</a:t>
            </a:r>
            <a:pPr algn="l" indent="0" marL="0">
              <a:buNone/>
            </a:pPr>
            <a:r>
              <a:rPr lang="en-US" sz="1050" i="1" dirty="0">
                <a:solidFill>
                  <a:srgbClr val="8A6D1E"/>
                </a:solidFill>
                <a:latin typeface="Calibri" pitchFamily="34" charset="0"/>
                <a:ea typeface="Calibri" pitchFamily="34" charset="-122"/>
                <a:cs typeface="Calibri" pitchFamily="34" charset="-120"/>
              </a:rPr>
              <a:t> with final fatḥa.</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accurate obligation.</a:t>
            </a:r>
            <a:endParaRPr lang="en-US"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يَجِبُ عَلَى الحُكُومَةِ أَنْ تَحْمِيَ الغَابَاتِ.</a:t>
            </a:r>
            <a:endParaRPr lang="ar-SA" sz="170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يَجِبُ الحُكُومَةُ تَحْمِي الغَابَاتِ.</a:t>
            </a:r>
            <a:endParaRPr lang="ar-SA" sz="170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يَجِبُ عَلَى الحُكُومَةِ تَحْمِيُ الغَابَاتِ.</a:t>
            </a:r>
            <a:endParaRPr lang="ar-SA" sz="170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The pattern is </a:t>
            </a:r>
            <a:pPr algn="l" indent="0" marL="0">
              <a:buNone/>
            </a:pPr>
            <a:r>
              <a:rPr lang="ar-SA" altLang="en-US" sz="1350" dirty="0">
                <a:solidFill>
                  <a:srgbClr val="8A6D1E"/>
                </a:solidFill>
                <a:latin typeface="Amiri" pitchFamily="34" charset="0"/>
                <a:ea typeface="Amiri" pitchFamily="34" charset="-122"/>
                <a:cs typeface="Amiri" pitchFamily="34" charset="-120"/>
              </a:rPr>
              <a:t>يجب على</a:t>
            </a:r>
            <a:pPr algn="l" indent="0" marL="0">
              <a:buNone/>
            </a:pPr>
            <a:r>
              <a:rPr lang="en-US" sz="1050" i="1" dirty="0">
                <a:solidFill>
                  <a:srgbClr val="8A6D1E"/>
                </a:solidFill>
                <a:latin typeface="Calibri" pitchFamily="34" charset="0"/>
                <a:ea typeface="Calibri" pitchFamily="34" charset="-122"/>
                <a:cs typeface="Calibri" pitchFamily="34" charset="-120"/>
              </a:rPr>
              <a:t> + noun + </a:t>
            </a:r>
            <a:pPr algn="l" indent="0" marL="0">
              <a:buNone/>
            </a:pPr>
            <a:r>
              <a:rPr lang="ar-SA" altLang="en-US" sz="1350" dirty="0">
                <a:solidFill>
                  <a:srgbClr val="8A6D1E"/>
                </a:solidFill>
                <a:latin typeface="Amiri" pitchFamily="34" charset="0"/>
                <a:ea typeface="Amiri" pitchFamily="34" charset="-122"/>
                <a:cs typeface="Amiri" pitchFamily="34" charset="-120"/>
              </a:rPr>
              <a:t>أن</a:t>
            </a:r>
            <a:pPr algn="l" indent="0" marL="0">
              <a:buNone/>
            </a:pPr>
            <a:r>
              <a:rPr lang="en-US" sz="1050" i="1" dirty="0">
                <a:solidFill>
                  <a:srgbClr val="8A6D1E"/>
                </a:solidFill>
                <a:latin typeface="Calibri" pitchFamily="34" charset="0"/>
                <a:ea typeface="Calibri" pitchFamily="34" charset="-122"/>
                <a:cs typeface="Calibri" pitchFamily="34" charset="-120"/>
              </a:rPr>
              <a:t> + subjunctive.</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accurate purpose sentence.</a:t>
            </a:r>
            <a:endParaRPr lang="en-US" sz="1250" dirty="0"/>
          </a:p>
        </p:txBody>
      </p:sp>
      <p:sp>
        <p:nvSpPr>
          <p:cNvPr id="49" name="Shape 46"/>
          <p:cNvSpPr/>
          <p:nvPr/>
        </p:nvSpPr>
        <p:spPr>
          <a:xfrm>
            <a:off x="640080" y="4831080"/>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1" name="Text 48"/>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نَزْرَعُ الأَشْجَارَ لِكَيْ نُحَسِّنُ جَوْدَةَ الهَوَاءِ.</a:t>
            </a:r>
            <a:endParaRPr lang="ar-SA" sz="1700" dirty="0"/>
          </a:p>
        </p:txBody>
      </p:sp>
      <p:sp>
        <p:nvSpPr>
          <p:cNvPr id="52" name="Shape 49"/>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640080" y="5202936"/>
            <a:ext cx="256032" cy="256032"/>
          </a:xfrm>
          <a:prstGeom prst="ellipse">
            <a:avLst/>
          </a:prstGeom>
          <a:solidFill>
            <a:srgbClr val="2E8B57"/>
          </a:solidFill>
          <a:ln w="12700">
            <a:solidFill>
              <a:srgbClr val="2E8B57"/>
            </a:solidFill>
            <a:prstDash val="solid"/>
          </a:ln>
        </p:spPr>
      </p:sp>
      <p:sp>
        <p:nvSpPr>
          <p:cNvPr id="54" name="Text 5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55" name="Text 52"/>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نَزْرَعُ الأَشْجَارَ لِكَيْ نُحَسِّنَ جَوْدَةَ الهَوَاءِ.</a:t>
            </a:r>
            <a:endParaRPr lang="ar-SA" sz="1700" dirty="0"/>
          </a:p>
        </p:txBody>
      </p:sp>
      <p:sp>
        <p:nvSpPr>
          <p:cNvPr id="56" name="Shape 53"/>
          <p:cNvSpPr/>
          <p:nvPr/>
        </p:nvSpPr>
        <p:spPr>
          <a:xfrm>
            <a:off x="640080" y="5574792"/>
            <a:ext cx="256032" cy="256032"/>
          </a:xfrm>
          <a:prstGeom prst="ellipse">
            <a:avLst/>
          </a:prstGeom>
          <a:solidFill>
            <a:srgbClr val="C9CED6"/>
          </a:solidFill>
          <a:ln w="12700">
            <a:solidFill>
              <a:srgbClr val="C9CED6"/>
            </a:solidFill>
            <a:prstDash val="solid"/>
          </a:ln>
        </p:spPr>
      </p:sp>
      <p:sp>
        <p:nvSpPr>
          <p:cNvPr id="57" name="Text 5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8" name="Text 55"/>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نَزْرَعُ الأَشْجَارَ لِكَيْ تَحْسِينُ الهَوَاءِ.</a:t>
            </a:r>
            <a:endParaRPr lang="ar-SA" sz="1700" dirty="0"/>
          </a:p>
        </p:txBody>
      </p:sp>
      <p:sp>
        <p:nvSpPr>
          <p:cNvPr id="59" name="Text 56"/>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After </a:t>
            </a:r>
            <a:pPr algn="l" indent="0" marL="0">
              <a:buNone/>
            </a:pPr>
            <a:r>
              <a:rPr lang="ar-SA" altLang="en-US" sz="1350" dirty="0">
                <a:solidFill>
                  <a:srgbClr val="8A6D1E"/>
                </a:solidFill>
                <a:latin typeface="Amiri" pitchFamily="34" charset="0"/>
                <a:ea typeface="Amiri" pitchFamily="34" charset="-122"/>
                <a:cs typeface="Amiri" pitchFamily="34" charset="-120"/>
              </a:rPr>
              <a:t>لكي</a:t>
            </a:r>
            <a:pPr algn="l" indent="0" marL="0">
              <a:buNone/>
            </a:pPr>
            <a:r>
              <a:rPr lang="en-US" sz="1050" i="1" dirty="0">
                <a:solidFill>
                  <a:srgbClr val="8A6D1E"/>
                </a:solidFill>
                <a:latin typeface="Calibri" pitchFamily="34" charset="0"/>
                <a:ea typeface="Calibri" pitchFamily="34" charset="-122"/>
                <a:cs typeface="Calibri" pitchFamily="34" charset="-120"/>
              </a:rPr>
              <a:t>, the sound-ending verb is subjunctive: </a:t>
            </a:r>
            <a:pPr algn="l" indent="0" marL="0">
              <a:buNone/>
            </a:pPr>
            <a:r>
              <a:rPr lang="ar-SA" altLang="en-US" sz="1350" dirty="0">
                <a:solidFill>
                  <a:srgbClr val="8A6D1E"/>
                </a:solidFill>
                <a:latin typeface="Amiri" pitchFamily="34" charset="0"/>
                <a:ea typeface="Amiri" pitchFamily="34" charset="-122"/>
                <a:cs typeface="Amiri" pitchFamily="34" charset="-120"/>
              </a:rPr>
              <a:t>نحسنَ</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60" name="Shape 57"/>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6313932"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3" name="Text 60"/>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Complete: ___ </a:t>
            </a:r>
            <a:pPr algn="l" indent="0" marL="0">
              <a:buNone/>
            </a:pPr>
            <a:r>
              <a:rPr lang="ar-SA" altLang="en-US" sz="1650" b="1" dirty="0">
                <a:solidFill>
                  <a:srgbClr val="1B3B6F"/>
                </a:solidFill>
                <a:latin typeface="Amiri" pitchFamily="34" charset="0"/>
                <a:ea typeface="Amiri" pitchFamily="34" charset="-122"/>
                <a:cs typeface="Amiri" pitchFamily="34" charset="-120"/>
              </a:rPr>
              <a:t>أَنْ نَسْتَخْدِمَ الطَّاقَةَ الشَّمْسِيَّةَ</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64" name="Shape 61"/>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368796"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67" name="Text 64"/>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يُمْكِنُ</a:t>
            </a:r>
            <a:endParaRPr lang="ar-SA" sz="1700" dirty="0"/>
          </a:p>
        </p:txBody>
      </p:sp>
      <p:sp>
        <p:nvSpPr>
          <p:cNvPr id="68" name="Shape 65"/>
          <p:cNvSpPr/>
          <p:nvPr/>
        </p:nvSpPr>
        <p:spPr>
          <a:xfrm>
            <a:off x="6368796"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0" name="Text 67"/>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يُؤَدِّي</a:t>
            </a:r>
            <a:endParaRPr lang="ar-SA" sz="1700" dirty="0"/>
          </a:p>
        </p:txBody>
      </p:sp>
      <p:sp>
        <p:nvSpPr>
          <p:cNvPr id="71" name="Shape 68"/>
          <p:cNvSpPr/>
          <p:nvPr/>
        </p:nvSpPr>
        <p:spPr>
          <a:xfrm>
            <a:off x="6368796"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3" name="Text 70"/>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يَتَّسِمُ</a:t>
            </a:r>
            <a:endParaRPr lang="ar-SA" sz="1700" dirty="0"/>
          </a:p>
        </p:txBody>
      </p:sp>
      <p:sp>
        <p:nvSpPr>
          <p:cNvPr id="74" name="Text 71"/>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يمكن أن</a:t>
            </a:r>
            <a:pPr algn="l" indent="0" marL="0">
              <a:buNone/>
            </a:pPr>
            <a:r>
              <a:rPr lang="en-US" sz="1050" i="1" dirty="0">
                <a:solidFill>
                  <a:srgbClr val="8A6D1E"/>
                </a:solidFill>
                <a:latin typeface="Calibri" pitchFamily="34" charset="0"/>
                <a:ea typeface="Calibri" pitchFamily="34" charset="-122"/>
                <a:cs typeface="Calibri" pitchFamily="34" charset="-120"/>
              </a:rPr>
              <a:t> means it is possible to.</a:t>
            </a:r>
            <a:endParaRPr lang="en-US" sz="1050" dirty="0"/>
          </a:p>
        </p:txBody>
      </p:sp>
      <p:sp>
        <p:nvSpPr>
          <p:cNvPr id="75" name="Text 7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18 / 46</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TC-L05 · Environmental Solutions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ea typeface="Calibri" pitchFamily="34" charset="-122"/>
                <a:cs typeface="Calibri" pitchFamily="34" charset="-120"/>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Watch me propose a solution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2 · Lesson 2 of 3</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ea typeface="Calibri" pitchFamily="34" charset="-122"/>
                <a:cs typeface="Calibri" pitchFamily="34" charset="-120"/>
              </a:rPr>
              <a:t>Name the problem</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34" charset="0"/>
                <a:ea typeface="Amiri" pitchFamily="34" charset="-122"/>
                <a:cs typeface="Amiri" pitchFamily="34" charset="-120"/>
              </a:rPr>
              <a:t>تَزْدَادُ النُّفَايَاتُ</a:t>
            </a:r>
            <a:endParaRPr lang="ar-SA" sz="28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ea typeface="Calibri" pitchFamily="34" charset="-122"/>
                <a:cs typeface="Calibri" pitchFamily="34" charset="-120"/>
              </a:rPr>
              <a:t>The problem first (TC-L04). </a:t>
            </a:r>
            <a:pPr algn="l" indent="0" marL="0">
              <a:buNone/>
            </a:pPr>
            <a:r>
              <a:rPr lang="ar-SA" altLang="en-US" sz="1500" dirty="0">
                <a:solidFill>
                  <a:srgbClr val="1F2A37"/>
                </a:solidFill>
                <a:latin typeface="Amiri" pitchFamily="34" charset="0"/>
                <a:ea typeface="Amiri" pitchFamily="34" charset="-122"/>
                <a:cs typeface="Amiri" pitchFamily="34" charset="-120"/>
              </a:rPr>
              <a:t>تَزْدَادُ</a:t>
            </a:r>
            <a:pPr algn="l" indent="0" marL="0">
              <a:buNone/>
            </a:pPr>
            <a:r>
              <a:rPr lang="en-US" sz="1150" dirty="0">
                <a:solidFill>
                  <a:srgbClr val="1F2A37"/>
                </a:solidFill>
                <a:latin typeface="Calibri" pitchFamily="34" charset="0"/>
                <a:ea typeface="Calibri" pitchFamily="34" charset="-122"/>
                <a:cs typeface="Calibri" pitchFamily="34" charset="-120"/>
              </a:rPr>
              <a:t> = is increasing.</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ea typeface="Calibri" pitchFamily="34" charset="-122"/>
                <a:cs typeface="Calibri" pitchFamily="34" charset="-120"/>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ea typeface="Calibri" pitchFamily="34" charset="-122"/>
                <a:cs typeface="Calibri" pitchFamily="34" charset="-120"/>
              </a:rPr>
              <a:t>Give advice</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buNone/>
            </a:pPr>
            <a:r>
              <a:rPr lang="ar-SA" altLang="en-US" sz="2300" b="1" dirty="0">
                <a:solidFill>
                  <a:srgbClr val="0E7C86"/>
                </a:solidFill>
                <a:latin typeface="Amiri" pitchFamily="34" charset="0"/>
                <a:ea typeface="Amiri" pitchFamily="34" charset="-122"/>
                <a:cs typeface="Amiri" pitchFamily="34" charset="-120"/>
              </a:rPr>
              <a:t>يَنْبَغِي أَنْ</a:t>
            </a:r>
            <a:pPr rtl="1" algn="ctr" indent="0" marL="0">
              <a:buNone/>
            </a:pPr>
            <a:r>
              <a:rPr lang="ar-SA" altLang="en-US" sz="2300" b="1" dirty="0">
                <a:solidFill>
                  <a:srgbClr val="1B3B6F"/>
                </a:solidFill>
                <a:latin typeface="Amiri" pitchFamily="34" charset="0"/>
                <a:ea typeface="Amiri" pitchFamily="34" charset="-122"/>
                <a:cs typeface="Amiri" pitchFamily="34" charset="-120"/>
              </a:rPr>
              <a:t> </a:t>
            </a:r>
            <a:pPr rtl="1" algn="ctr" indent="0" marL="0">
              <a:buNone/>
            </a:pPr>
            <a:r>
              <a:rPr lang="ar-SA" altLang="en-US" sz="2300" b="1" dirty="0">
                <a:solidFill>
                  <a:srgbClr val="D6336C"/>
                </a:solidFill>
                <a:latin typeface="Amiri" pitchFamily="34" charset="0"/>
                <a:ea typeface="Amiri" pitchFamily="34" charset="-122"/>
                <a:cs typeface="Amiri" pitchFamily="34" charset="-120"/>
              </a:rPr>
              <a:t>نُعِيدَ</a:t>
            </a:r>
            <a:pPr rtl="1" algn="ctr" indent="0" marL="0">
              <a:buNone/>
            </a:pPr>
            <a:r>
              <a:rPr lang="ar-SA" altLang="en-US" sz="2300" b="1" dirty="0">
                <a:solidFill>
                  <a:srgbClr val="1B3B6F"/>
                </a:solidFill>
                <a:latin typeface="Amiri" pitchFamily="34" charset="0"/>
                <a:ea typeface="Amiri" pitchFamily="34" charset="-122"/>
                <a:cs typeface="Amiri" pitchFamily="34" charset="-120"/>
              </a:rPr>
              <a:t> التَّدْوِيرَ</a:t>
            </a:r>
            <a:endParaRPr lang="ar-SA" sz="230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ea typeface="Calibri" pitchFamily="34" charset="-122"/>
                <a:cs typeface="Calibri" pitchFamily="34" charset="-120"/>
              </a:rPr>
              <a:t>Advice word + we-verb with fatḥa: </a:t>
            </a:r>
            <a:pPr algn="l" indent="0" marL="0">
              <a:buNone/>
            </a:pPr>
            <a:r>
              <a:rPr lang="ar-SA" altLang="en-US" sz="1500" dirty="0">
                <a:solidFill>
                  <a:srgbClr val="1F2A37"/>
                </a:solidFill>
                <a:latin typeface="Amiri" pitchFamily="34" charset="0"/>
                <a:ea typeface="Amiri" pitchFamily="34" charset="-122"/>
                <a:cs typeface="Amiri" pitchFamily="34" charset="-120"/>
              </a:rPr>
              <a:t>نُعِيدُ</a:t>
            </a:r>
            <a:pPr algn="l" indent="0" marL="0">
              <a:buNone/>
            </a:pPr>
            <a:r>
              <a:rPr lang="en-US" sz="1150" dirty="0">
                <a:solidFill>
                  <a:srgbClr val="1F2A37"/>
                </a:solidFill>
                <a:latin typeface="Calibri" pitchFamily="34" charset="0"/>
                <a:ea typeface="Calibri" pitchFamily="34" charset="-122"/>
                <a:cs typeface="Calibri" pitchFamily="34" charset="-120"/>
              </a:rPr>
              <a:t> → </a:t>
            </a:r>
            <a:pPr algn="l" indent="0" marL="0">
              <a:buNone/>
            </a:pPr>
            <a:r>
              <a:rPr lang="ar-SA" altLang="en-US" sz="1500" dirty="0">
                <a:solidFill>
                  <a:srgbClr val="1F2A37"/>
                </a:solidFill>
                <a:latin typeface="Amiri" pitchFamily="34" charset="0"/>
                <a:ea typeface="Amiri" pitchFamily="34" charset="-122"/>
                <a:cs typeface="Amiri" pitchFamily="34" charset="-120"/>
              </a:rPr>
              <a:t>نُعِيدَ</a:t>
            </a:r>
            <a:pPr algn="l" indent="0" marL="0">
              <a:buNone/>
            </a:pPr>
            <a:r>
              <a:rPr lang="en-US" sz="1150" dirty="0">
                <a:solidFill>
                  <a:srgbClr val="1F2A37"/>
                </a:solidFill>
                <a:latin typeface="Calibri" pitchFamily="34" charset="0"/>
                <a:ea typeface="Calibri" pitchFamily="34" charset="-122"/>
                <a:cs typeface="Calibri" pitchFamily="34" charset="-120"/>
              </a:rPr>
              <a:t>.</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ea typeface="Calibri" pitchFamily="34" charset="-122"/>
                <a:cs typeface="Calibri" pitchFamily="34" charset="-120"/>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ea typeface="Calibri" pitchFamily="34" charset="-122"/>
                <a:cs typeface="Calibri" pitchFamily="34" charset="-120"/>
              </a:rPr>
              <a:t>Who is responsible?</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0E7C86"/>
                </a:solidFill>
                <a:latin typeface="Amiri" pitchFamily="34" charset="0"/>
                <a:ea typeface="Amiri" pitchFamily="34" charset="-122"/>
                <a:cs typeface="Amiri" pitchFamily="34" charset="-120"/>
              </a:rPr>
              <a:t>يَجِبُ عَلَى</a:t>
            </a:r>
            <a:pPr rtl="1" algn="ctr" indent="0" marL="0">
              <a:lnSpc>
                <a:spcPct val="120000"/>
              </a:lnSpc>
              <a:buNone/>
            </a:pPr>
            <a:r>
              <a:rPr lang="ar-SA" altLang="en-US" sz="1750" b="1" dirty="0">
                <a:solidFill>
                  <a:srgbClr val="1B3B6F"/>
                </a:solidFill>
                <a:latin typeface="Amiri" pitchFamily="34" charset="0"/>
                <a:ea typeface="Amiri" pitchFamily="34" charset="-122"/>
                <a:cs typeface="Amiri" pitchFamily="34" charset="-120"/>
              </a:rPr>
              <a:t> المَدْرَسَةِ أَنْ </a:t>
            </a:r>
            <a:pPr rtl="1" algn="ctr" indent="0" marL="0">
              <a:lnSpc>
                <a:spcPct val="120000"/>
              </a:lnSpc>
              <a:buNone/>
            </a:pPr>
            <a:r>
              <a:rPr lang="ar-SA" altLang="en-US" sz="1750" b="1" dirty="0">
                <a:solidFill>
                  <a:srgbClr val="D6336C"/>
                </a:solidFill>
                <a:latin typeface="Amiri" pitchFamily="34" charset="0"/>
                <a:ea typeface="Amiri" pitchFamily="34" charset="-122"/>
                <a:cs typeface="Amiri" pitchFamily="34" charset="-120"/>
              </a:rPr>
              <a:t>تَضَعَ</a:t>
            </a:r>
            <a:pPr rtl="1" algn="ctr" indent="0" marL="0">
              <a:lnSpc>
                <a:spcPct val="120000"/>
              </a:lnSpc>
              <a:buNone/>
            </a:pPr>
            <a:r>
              <a:rPr lang="ar-SA" altLang="en-US" sz="1750" b="1" dirty="0">
                <a:solidFill>
                  <a:srgbClr val="1B3B6F"/>
                </a:solidFill>
                <a:latin typeface="Amiri" pitchFamily="34" charset="0"/>
                <a:ea typeface="Amiri" pitchFamily="34" charset="-122"/>
                <a:cs typeface="Amiri" pitchFamily="34" charset="-120"/>
              </a:rPr>
              <a:t> حَاوِيَاتٍ</a:t>
            </a:r>
            <a:endParaRPr lang="ar-SA" sz="175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ar-SA" altLang="en-US" sz="1500" dirty="0">
                <a:solidFill>
                  <a:srgbClr val="1F2A37"/>
                </a:solidFill>
                <a:latin typeface="Amiri" pitchFamily="34" charset="0"/>
                <a:ea typeface="Amiri" pitchFamily="34" charset="-122"/>
                <a:cs typeface="Amiri" pitchFamily="34" charset="-120"/>
              </a:rPr>
              <a:t>عَلَى</a:t>
            </a:r>
            <a:pPr algn="l" indent="0" marL="0">
              <a:buNone/>
            </a:pPr>
            <a:r>
              <a:rPr lang="en-US" sz="1150" dirty="0">
                <a:solidFill>
                  <a:srgbClr val="1F2A37"/>
                </a:solidFill>
                <a:latin typeface="Calibri" pitchFamily="34" charset="0"/>
                <a:ea typeface="Calibri" pitchFamily="34" charset="-122"/>
                <a:cs typeface="Calibri" pitchFamily="34" charset="-120"/>
              </a:rPr>
              <a:t> + who. </a:t>
            </a:r>
            <a:pPr algn="l" indent="0" marL="0">
              <a:buNone/>
            </a:pPr>
            <a:r>
              <a:rPr lang="ar-SA" altLang="en-US" sz="1500" dirty="0">
                <a:solidFill>
                  <a:srgbClr val="1F2A37"/>
                </a:solidFill>
                <a:latin typeface="Amiri" pitchFamily="34" charset="0"/>
                <a:ea typeface="Amiri" pitchFamily="34" charset="-122"/>
                <a:cs typeface="Amiri" pitchFamily="34" charset="-120"/>
              </a:rPr>
              <a:t>تَضَعَ</a:t>
            </a:r>
            <a:pPr algn="l" indent="0" marL="0">
              <a:buNone/>
            </a:pPr>
            <a:r>
              <a:rPr lang="en-US" sz="1150" dirty="0">
                <a:solidFill>
                  <a:srgbClr val="1F2A37"/>
                </a:solidFill>
                <a:latin typeface="Calibri" pitchFamily="34" charset="0"/>
                <a:ea typeface="Calibri" pitchFamily="34" charset="-122"/>
                <a:cs typeface="Calibri" pitchFamily="34" charset="-120"/>
              </a:rPr>
              <a:t>: she-verb for </a:t>
            </a:r>
            <a:pPr algn="l" indent="0" marL="0">
              <a:buNone/>
            </a:pPr>
            <a:r>
              <a:rPr lang="ar-SA" altLang="en-US" sz="1500" dirty="0">
                <a:solidFill>
                  <a:srgbClr val="1F2A37"/>
                </a:solidFill>
                <a:latin typeface="Amiri" pitchFamily="34" charset="0"/>
                <a:ea typeface="Amiri" pitchFamily="34" charset="-122"/>
                <a:cs typeface="Amiri" pitchFamily="34" charset="-120"/>
              </a:rPr>
              <a:t>المَدْرَسَة</a:t>
            </a:r>
            <a:pPr algn="l" indent="0" marL="0">
              <a:buNone/>
            </a:pPr>
            <a:r>
              <a:rPr lang="en-US" sz="1150" dirty="0">
                <a:solidFill>
                  <a:srgbClr val="1F2A37"/>
                </a:solidFill>
                <a:latin typeface="Calibri" pitchFamily="34" charset="0"/>
                <a:ea typeface="Calibri" pitchFamily="34" charset="-122"/>
                <a:cs typeface="Calibri" pitchFamily="34" charset="-120"/>
              </a:rPr>
              <a:t>.</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ea typeface="Calibri" pitchFamily="34" charset="-122"/>
                <a:cs typeface="Calibri" pitchFamily="34" charset="-120"/>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ea typeface="Calibri" pitchFamily="34" charset="-122"/>
                <a:cs typeface="Calibri" pitchFamily="34" charset="-120"/>
              </a:rPr>
              <a:t>Why? The purpose</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0E7C86"/>
                </a:solidFill>
                <a:latin typeface="Amiri" pitchFamily="34" charset="0"/>
                <a:ea typeface="Amiri" pitchFamily="34" charset="-122"/>
                <a:cs typeface="Amiri" pitchFamily="34" charset="-120"/>
              </a:rPr>
              <a:t>لِكَيْ</a:t>
            </a:r>
            <a:pPr rtl="1" algn="ctr" indent="0" marL="0">
              <a:buNone/>
            </a:pPr>
            <a:r>
              <a:rPr lang="ar-SA" altLang="en-US" sz="2800" b="1" dirty="0">
                <a:solidFill>
                  <a:srgbClr val="1B3B6F"/>
                </a:solidFill>
                <a:latin typeface="Amiri" pitchFamily="34" charset="0"/>
                <a:ea typeface="Amiri" pitchFamily="34" charset="-122"/>
                <a:cs typeface="Amiri" pitchFamily="34" charset="-120"/>
              </a:rPr>
              <a:t> </a:t>
            </a:r>
            <a:pPr rtl="1" algn="ctr" indent="0" marL="0">
              <a:buNone/>
            </a:pPr>
            <a:r>
              <a:rPr lang="ar-SA" altLang="en-US" sz="2800" b="1" dirty="0">
                <a:solidFill>
                  <a:srgbClr val="D6336C"/>
                </a:solidFill>
                <a:latin typeface="Amiri" pitchFamily="34" charset="0"/>
                <a:ea typeface="Amiri" pitchFamily="34" charset="-122"/>
                <a:cs typeface="Amiri" pitchFamily="34" charset="-120"/>
              </a:rPr>
              <a:t>نُقَلِّلَ</a:t>
            </a:r>
            <a:pPr rtl="1" algn="ctr" indent="0" marL="0">
              <a:buNone/>
            </a:pPr>
            <a:r>
              <a:rPr lang="ar-SA" altLang="en-US" sz="2800" b="1" dirty="0">
                <a:solidFill>
                  <a:srgbClr val="1B3B6F"/>
                </a:solidFill>
                <a:latin typeface="Amiri" pitchFamily="34" charset="0"/>
                <a:ea typeface="Amiri" pitchFamily="34" charset="-122"/>
                <a:cs typeface="Amiri" pitchFamily="34" charset="-120"/>
              </a:rPr>
              <a:t> النُّفَايَاتِ</a:t>
            </a:r>
            <a:endParaRPr lang="ar-SA" sz="280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ar-SA" altLang="en-US" sz="1500" dirty="0">
                <a:solidFill>
                  <a:srgbClr val="1F2A37"/>
                </a:solidFill>
                <a:latin typeface="Amiri" pitchFamily="34" charset="0"/>
                <a:ea typeface="Amiri" pitchFamily="34" charset="-122"/>
                <a:cs typeface="Amiri" pitchFamily="34" charset="-120"/>
              </a:rPr>
              <a:t>لِكَيْ</a:t>
            </a:r>
            <a:pPr algn="l" indent="0" marL="0">
              <a:buNone/>
            </a:pPr>
            <a:r>
              <a:rPr lang="en-US" sz="1150" dirty="0">
                <a:solidFill>
                  <a:srgbClr val="1F2A37"/>
                </a:solidFill>
                <a:latin typeface="Calibri" pitchFamily="34" charset="0"/>
                <a:ea typeface="Calibri" pitchFamily="34" charset="-122"/>
                <a:cs typeface="Calibri" pitchFamily="34" charset="-120"/>
              </a:rPr>
              <a:t> + fatḥa again.</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ea typeface="Calibri" pitchFamily="34" charset="-122"/>
                <a:cs typeface="Calibri" pitchFamily="34" charset="-120"/>
              </a:rPr>
              <a:t>COPY THIS INTO YOUR BOOK</a:t>
            </a:r>
            <a:endParaRPr lang="en-US" sz="1200" dirty="0"/>
          </a:p>
        </p:txBody>
      </p:sp>
      <p:sp>
        <p:nvSpPr>
          <p:cNvPr id="45" name="Shape 41"/>
          <p:cNvSpPr/>
          <p:nvPr/>
        </p:nvSpPr>
        <p:spPr>
          <a:xfrm>
            <a:off x="9528048" y="4736592"/>
            <a:ext cx="914400" cy="237744"/>
          </a:xfrm>
          <a:prstGeom prst="roundRect">
            <a:avLst>
              <a:gd name="adj" fmla="val 50000"/>
            </a:avLst>
          </a:prstGeom>
          <a:solidFill>
            <a:srgbClr val="0E7C86"/>
          </a:solidFill>
          <a:ln w="12700">
            <a:solidFill>
              <a:srgbClr val="0E7C86"/>
            </a:solidFill>
            <a:prstDash val="solid"/>
          </a:ln>
        </p:spPr>
      </p:sp>
      <p:sp>
        <p:nvSpPr>
          <p:cNvPr id="46" name="Text 42"/>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ADVICE WORD</a:t>
            </a:r>
            <a:endParaRPr lang="en-US" sz="800" dirty="0"/>
          </a:p>
        </p:txBody>
      </p:sp>
      <p:sp>
        <p:nvSpPr>
          <p:cNvPr id="47" name="Shape 43"/>
          <p:cNvSpPr/>
          <p:nvPr/>
        </p:nvSpPr>
        <p:spPr>
          <a:xfrm>
            <a:off x="10515600" y="4736592"/>
            <a:ext cx="914400" cy="237744"/>
          </a:xfrm>
          <a:prstGeom prst="roundRect">
            <a:avLst>
              <a:gd name="adj" fmla="val 50000"/>
            </a:avLst>
          </a:prstGeom>
          <a:solidFill>
            <a:srgbClr val="D6336C"/>
          </a:solidFill>
          <a:ln w="12700">
            <a:solidFill>
              <a:srgbClr val="D6336C"/>
            </a:solidFill>
            <a:prstDash val="solid"/>
          </a:ln>
        </p:spPr>
      </p:sp>
      <p:sp>
        <p:nvSpPr>
          <p:cNvPr id="48" name="Text 44"/>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VERB ENDS -a</a:t>
            </a:r>
            <a:endParaRPr lang="en-US" sz="800" dirty="0"/>
          </a:p>
        </p:txBody>
      </p:sp>
      <p:sp>
        <p:nvSpPr>
          <p:cNvPr id="49" name="Text 45"/>
          <p:cNvSpPr txBox="1"/>
          <p:nvPr/>
        </p:nvSpPr>
        <p:spPr>
          <a:xfrm>
            <a:off x="685800" y="5029200"/>
            <a:ext cx="10817352" cy="731520"/>
          </a:xfrm>
          <a:prstGeom prst="rect">
            <a:avLst/>
          </a:prstGeom>
          <a:noFill/>
          <a:ln/>
        </p:spPr>
        <p:txBody>
          <a:bodyPr wrap="square" lIns="0" tIns="0" rIns="0" bIns="0" rtlCol="0" anchor="ctr"/>
          <a:lstStyle/>
          <a:p>
            <a:pPr rtl="1" algn="r" indent="0" marL="0">
              <a:buNone/>
            </a:pPr>
            <a:r>
              <a:rPr lang="ar-SA" altLang="en-US" sz="2300" b="1" dirty="0">
                <a:solidFill>
                  <a:srgbClr val="1B3B6F"/>
                </a:solidFill>
                <a:latin typeface="Amiri" pitchFamily="34" charset="0"/>
                <a:ea typeface="Amiri" pitchFamily="34" charset="-122"/>
                <a:cs typeface="Amiri" pitchFamily="34" charset="-120"/>
              </a:rPr>
              <a:t>تَزْدَادُ النُّفَايَاتُ، لِذٰلِكَ </a:t>
            </a:r>
            <a:pPr rtl="1" algn="r" indent="0" marL="0">
              <a:buNone/>
            </a:pPr>
            <a:r>
              <a:rPr lang="ar-SA" altLang="en-US" sz="2300" b="1" dirty="0">
                <a:solidFill>
                  <a:srgbClr val="0E7C86"/>
                </a:solidFill>
                <a:latin typeface="Amiri" pitchFamily="34" charset="0"/>
                <a:ea typeface="Amiri" pitchFamily="34" charset="-122"/>
                <a:cs typeface="Amiri" pitchFamily="34" charset="-120"/>
              </a:rPr>
              <a:t>يَنْبَغِي أَنْ</a:t>
            </a:r>
            <a:pPr rtl="1" algn="r" indent="0" marL="0">
              <a:buNone/>
            </a:pPr>
            <a:r>
              <a:rPr lang="ar-SA" altLang="en-US" sz="2300" b="1" dirty="0">
                <a:solidFill>
                  <a:srgbClr val="1B3B6F"/>
                </a:solidFill>
                <a:latin typeface="Amiri" pitchFamily="34" charset="0"/>
                <a:ea typeface="Amiri" pitchFamily="34" charset="-122"/>
                <a:cs typeface="Amiri" pitchFamily="34" charset="-120"/>
              </a:rPr>
              <a:t> </a:t>
            </a:r>
            <a:pPr rtl="1" algn="r" indent="0" marL="0">
              <a:buNone/>
            </a:pPr>
            <a:r>
              <a:rPr lang="ar-SA" altLang="en-US" sz="2300" b="1" dirty="0">
                <a:solidFill>
                  <a:srgbClr val="D6336C"/>
                </a:solidFill>
                <a:latin typeface="Amiri" pitchFamily="34" charset="0"/>
                <a:ea typeface="Amiri" pitchFamily="34" charset="-122"/>
                <a:cs typeface="Amiri" pitchFamily="34" charset="-120"/>
              </a:rPr>
              <a:t>نُعِيدَ</a:t>
            </a:r>
            <a:pPr rtl="1" algn="r" indent="0" marL="0">
              <a:buNone/>
            </a:pPr>
            <a:r>
              <a:rPr lang="ar-SA" altLang="en-US" sz="2300" b="1" dirty="0">
                <a:solidFill>
                  <a:srgbClr val="1B3B6F"/>
                </a:solidFill>
                <a:latin typeface="Amiri" pitchFamily="34" charset="0"/>
                <a:ea typeface="Amiri" pitchFamily="34" charset="-122"/>
                <a:cs typeface="Amiri" pitchFamily="34" charset="-120"/>
              </a:rPr>
              <a:t> التَّدْوِيرَ. </a:t>
            </a:r>
            <a:pPr rtl="1" algn="r" indent="0" marL="0">
              <a:buNone/>
            </a:pPr>
            <a:r>
              <a:rPr lang="ar-SA" altLang="en-US" sz="2300" b="1" dirty="0">
                <a:solidFill>
                  <a:srgbClr val="0E7C86"/>
                </a:solidFill>
                <a:latin typeface="Amiri" pitchFamily="34" charset="0"/>
                <a:ea typeface="Amiri" pitchFamily="34" charset="-122"/>
                <a:cs typeface="Amiri" pitchFamily="34" charset="-120"/>
              </a:rPr>
              <a:t>يَجِبُ عَلَى</a:t>
            </a:r>
            <a:pPr rtl="1" algn="r" indent="0" marL="0">
              <a:buNone/>
            </a:pPr>
            <a:r>
              <a:rPr lang="ar-SA" altLang="en-US" sz="2300" b="1" dirty="0">
                <a:solidFill>
                  <a:srgbClr val="1B3B6F"/>
                </a:solidFill>
                <a:latin typeface="Amiri" pitchFamily="34" charset="0"/>
                <a:ea typeface="Amiri" pitchFamily="34" charset="-122"/>
                <a:cs typeface="Amiri" pitchFamily="34" charset="-120"/>
              </a:rPr>
              <a:t> المَدْرَسَةِ أَنْ </a:t>
            </a:r>
            <a:pPr rtl="1" algn="r" indent="0" marL="0">
              <a:buNone/>
            </a:pPr>
            <a:r>
              <a:rPr lang="ar-SA" altLang="en-US" sz="2300" b="1" dirty="0">
                <a:solidFill>
                  <a:srgbClr val="D6336C"/>
                </a:solidFill>
                <a:latin typeface="Amiri" pitchFamily="34" charset="0"/>
                <a:ea typeface="Amiri" pitchFamily="34" charset="-122"/>
                <a:cs typeface="Amiri" pitchFamily="34" charset="-120"/>
              </a:rPr>
              <a:t>تَضَعَ</a:t>
            </a:r>
            <a:pPr rtl="1" algn="r" indent="0" marL="0">
              <a:buNone/>
            </a:pPr>
            <a:r>
              <a:rPr lang="ar-SA" altLang="en-US" sz="2300" b="1" dirty="0">
                <a:solidFill>
                  <a:srgbClr val="1B3B6F"/>
                </a:solidFill>
                <a:latin typeface="Amiri" pitchFamily="34" charset="0"/>
                <a:ea typeface="Amiri" pitchFamily="34" charset="-122"/>
                <a:cs typeface="Amiri" pitchFamily="34" charset="-120"/>
              </a:rPr>
              <a:t> حَاوِيَاتٍ </a:t>
            </a:r>
            <a:pPr rtl="1" algn="r" indent="0" marL="0">
              <a:buNone/>
            </a:pPr>
            <a:r>
              <a:rPr lang="ar-SA" altLang="en-US" sz="2300" b="1" dirty="0">
                <a:solidFill>
                  <a:srgbClr val="0E7C86"/>
                </a:solidFill>
                <a:latin typeface="Amiri" pitchFamily="34" charset="0"/>
                <a:ea typeface="Amiri" pitchFamily="34" charset="-122"/>
                <a:cs typeface="Amiri" pitchFamily="34" charset="-120"/>
              </a:rPr>
              <a:t>لِكَيْ</a:t>
            </a:r>
            <a:pPr rtl="1" algn="r" indent="0" marL="0">
              <a:buNone/>
            </a:pPr>
            <a:r>
              <a:rPr lang="ar-SA" altLang="en-US" sz="2300" b="1" dirty="0">
                <a:solidFill>
                  <a:srgbClr val="1B3B6F"/>
                </a:solidFill>
                <a:latin typeface="Amiri" pitchFamily="34" charset="0"/>
                <a:ea typeface="Amiri" pitchFamily="34" charset="-122"/>
                <a:cs typeface="Amiri" pitchFamily="34" charset="-120"/>
              </a:rPr>
              <a:t> </a:t>
            </a:r>
            <a:pPr rtl="1" algn="r" indent="0" marL="0">
              <a:buNone/>
            </a:pPr>
            <a:r>
              <a:rPr lang="ar-SA" altLang="en-US" sz="2300" b="1" dirty="0">
                <a:solidFill>
                  <a:srgbClr val="D6336C"/>
                </a:solidFill>
                <a:latin typeface="Amiri" pitchFamily="34" charset="0"/>
                <a:ea typeface="Amiri" pitchFamily="34" charset="-122"/>
                <a:cs typeface="Amiri" pitchFamily="34" charset="-120"/>
              </a:rPr>
              <a:t>نُقَلِّلَ</a:t>
            </a:r>
            <a:pPr rtl="1" algn="r" indent="0" marL="0">
              <a:buNone/>
            </a:pPr>
            <a:r>
              <a:rPr lang="ar-SA" altLang="en-US" sz="2300" b="1" dirty="0">
                <a:solidFill>
                  <a:srgbClr val="1B3B6F"/>
                </a:solidFill>
                <a:latin typeface="Amiri" pitchFamily="34" charset="0"/>
                <a:ea typeface="Amiri" pitchFamily="34" charset="-122"/>
                <a:cs typeface="Amiri" pitchFamily="34" charset="-120"/>
              </a:rPr>
              <a:t> النُّفَايَاتِ.</a:t>
            </a:r>
            <a:endParaRPr lang="ar-SA" sz="2300" dirty="0"/>
          </a:p>
        </p:txBody>
      </p:sp>
      <p:sp>
        <p:nvSpPr>
          <p:cNvPr id="50" name="Text 46"/>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300" i="1" dirty="0">
                <a:solidFill>
                  <a:srgbClr val="5A6472"/>
                </a:solidFill>
                <a:latin typeface="Calibri" pitchFamily="34" charset="0"/>
                <a:ea typeface="Calibri" pitchFamily="34" charset="-122"/>
                <a:cs typeface="Calibri" pitchFamily="34" charset="-120"/>
              </a:rPr>
              <a:t>Waste is increasing, so we should recycle. The school must put out bins so that we reduce waste.</a:t>
            </a:r>
            <a:endParaRPr lang="en-US" sz="1300" dirty="0"/>
          </a:p>
        </p:txBody>
      </p:sp>
      <p:sp>
        <p:nvSpPr>
          <p:cNvPr id="51"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19 / 46</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TC-L05 · Environmental Solutions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ea typeface="Calibri" pitchFamily="34" charset="-122"/>
                <a:cs typeface="Calibri" pitchFamily="34" charset="-120"/>
              </a:rPr>
              <a:t>I DO · MODEL SENTENCES FROM THE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Four 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2 · Lesson 2 of 3</a:t>
            </a:r>
            <a:endParaRPr lang="en-US" sz="850" dirty="0"/>
          </a:p>
        </p:txBody>
      </p:sp>
      <p:sp>
        <p:nvSpPr>
          <p:cNvPr id="15" name="Shape 12"/>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123694"/>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12369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8" name="Text 15"/>
          <p:cNvSpPr txBox="1"/>
          <p:nvPr/>
        </p:nvSpPr>
        <p:spPr>
          <a:xfrm>
            <a:off x="4572000" y="1847088"/>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34" charset="0"/>
                <a:ea typeface="Amiri" pitchFamily="34" charset="-122"/>
                <a:cs typeface="Amiri" pitchFamily="34" charset="-120"/>
              </a:rPr>
              <a:t>يَجِبُ أَنْ نُعِيدَ تَدْوِيرَ النُّفَايَاتِ.</a:t>
            </a:r>
            <a:endParaRPr lang="ar-SA" sz="2600" dirty="0"/>
          </a:p>
        </p:txBody>
      </p:sp>
      <p:sp>
        <p:nvSpPr>
          <p:cNvPr id="19" name="Text 16"/>
          <p:cNvSpPr txBox="1"/>
          <p:nvPr/>
        </p:nvSpPr>
        <p:spPr>
          <a:xfrm>
            <a:off x="685800" y="1856232"/>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ea typeface="Calibri" pitchFamily="34" charset="-122"/>
                <a:cs typeface="Calibri" pitchFamily="34" charset="-120"/>
              </a:rPr>
              <a:t>We must recycle waste.</a:t>
            </a:r>
            <a:endParaRPr lang="en-US" sz="1250" dirty="0"/>
          </a:p>
          <a:p>
            <a:pPr indent="0" marL="0">
              <a:buNone/>
            </a:pPr>
            <a:r>
              <a:rPr lang="en-US" sz="1050" i="1" dirty="0">
                <a:solidFill>
                  <a:srgbClr val="8A6D1E"/>
                </a:solidFill>
                <a:latin typeface="Calibri" pitchFamily="34" charset="0"/>
                <a:ea typeface="Calibri" pitchFamily="34" charset="-122"/>
                <a:cs typeface="Calibri" pitchFamily="34" charset="-120"/>
              </a:rPr>
              <a:t>Website game — a Core sentence.</a:t>
            </a:r>
            <a:endParaRPr lang="en-US" sz="1250" dirty="0"/>
          </a:p>
        </p:txBody>
      </p:sp>
      <p:sp>
        <p:nvSpPr>
          <p:cNvPr id="20" name="Shape 17"/>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280410"/>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28041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23" name="Text 20"/>
          <p:cNvSpPr txBox="1"/>
          <p:nvPr/>
        </p:nvSpPr>
        <p:spPr>
          <a:xfrm>
            <a:off x="4572000" y="3003804"/>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34" charset="0"/>
                <a:ea typeface="Amiri" pitchFamily="34" charset="-122"/>
                <a:cs typeface="Amiri" pitchFamily="34" charset="-120"/>
              </a:rPr>
              <a:t>يَنْبَغِي أَنْ نُقَلِّلَ اسْتِخْدَامَ البِلَاسْتِيكِ.</a:t>
            </a:r>
            <a:endParaRPr lang="ar-SA" sz="2600" dirty="0"/>
          </a:p>
        </p:txBody>
      </p:sp>
      <p:sp>
        <p:nvSpPr>
          <p:cNvPr id="24" name="Text 21"/>
          <p:cNvSpPr txBox="1"/>
          <p:nvPr/>
        </p:nvSpPr>
        <p:spPr>
          <a:xfrm>
            <a:off x="685800" y="3012948"/>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ea typeface="Calibri" pitchFamily="34" charset="-122"/>
                <a:cs typeface="Calibri" pitchFamily="34" charset="-120"/>
              </a:rPr>
              <a:t>We should reduce plastic use.</a:t>
            </a:r>
            <a:endParaRPr lang="en-US" sz="1250" dirty="0"/>
          </a:p>
          <a:p>
            <a:pPr indent="0" marL="0">
              <a:buNone/>
            </a:pPr>
            <a:r>
              <a:rPr lang="en-US" sz="1050" i="1" dirty="0">
                <a:solidFill>
                  <a:srgbClr val="8A6D1E"/>
                </a:solidFill>
                <a:latin typeface="Calibri" pitchFamily="34" charset="0"/>
                <a:ea typeface="Calibri" pitchFamily="34" charset="-122"/>
                <a:cs typeface="Calibri" pitchFamily="34" charset="-120"/>
              </a:rPr>
              <a:t>After أَنْ: نُقَلِّلَ (fatḥa).</a:t>
            </a:r>
            <a:endParaRPr lang="en-US" sz="125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443712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443712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8" name="Text 25"/>
          <p:cNvSpPr txBox="1"/>
          <p:nvPr/>
        </p:nvSpPr>
        <p:spPr>
          <a:xfrm>
            <a:off x="4572000" y="4160520"/>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34" charset="0"/>
                <a:ea typeface="Amiri" pitchFamily="34" charset="-122"/>
                <a:cs typeface="Amiri" pitchFamily="34" charset="-120"/>
              </a:rPr>
              <a:t>يَجِبُ عَلَى الحُكُومَةِ أَنْ تَسْتَثْمِرَ فِي الطَّاقَةِ المُتَجَدِّدَةِ.</a:t>
            </a:r>
            <a:endParaRPr lang="ar-SA" sz="2600" dirty="0"/>
          </a:p>
        </p:txBody>
      </p:sp>
      <p:sp>
        <p:nvSpPr>
          <p:cNvPr id="29" name="Text 26"/>
          <p:cNvSpPr txBox="1"/>
          <p:nvPr/>
        </p:nvSpPr>
        <p:spPr>
          <a:xfrm>
            <a:off x="685800" y="4169664"/>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ea typeface="Calibri" pitchFamily="34" charset="-122"/>
                <a:cs typeface="Calibri" pitchFamily="34" charset="-120"/>
              </a:rPr>
              <a:t>The government must invest in renewable energy.</a:t>
            </a:r>
            <a:endParaRPr lang="en-US" sz="1250" dirty="0"/>
          </a:p>
          <a:p>
            <a:pPr indent="0" marL="0">
              <a:buNone/>
            </a:pPr>
            <a:r>
              <a:rPr lang="en-US" sz="1050" i="1" dirty="0">
                <a:solidFill>
                  <a:srgbClr val="8A6D1E"/>
                </a:solidFill>
                <a:latin typeface="Calibri" pitchFamily="34" charset="0"/>
                <a:ea typeface="Calibri" pitchFamily="34" charset="-122"/>
                <a:cs typeface="Calibri" pitchFamily="34" charset="-120"/>
              </a:rPr>
              <a:t>Name who is responsible after عَلَى.</a:t>
            </a:r>
            <a:endParaRPr lang="en-US" sz="1250" dirty="0"/>
          </a:p>
        </p:txBody>
      </p:sp>
      <p:sp>
        <p:nvSpPr>
          <p:cNvPr id="30" name="Shape 27"/>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11201400" y="5593842"/>
            <a:ext cx="402336" cy="402336"/>
          </a:xfrm>
          <a:prstGeom prst="ellipse">
            <a:avLst/>
          </a:prstGeom>
          <a:solidFill>
            <a:srgbClr val="1B3B6F"/>
          </a:solidFill>
          <a:ln w="12700">
            <a:solidFill>
              <a:srgbClr val="1B3B6F"/>
            </a:solidFill>
            <a:prstDash val="solid"/>
          </a:ln>
        </p:spPr>
      </p:sp>
      <p:sp>
        <p:nvSpPr>
          <p:cNvPr id="32" name="Text 29"/>
          <p:cNvSpPr txBox="1"/>
          <p:nvPr/>
        </p:nvSpPr>
        <p:spPr>
          <a:xfrm>
            <a:off x="11201400" y="559384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33" name="Text 30"/>
          <p:cNvSpPr txBox="1"/>
          <p:nvPr/>
        </p:nvSpPr>
        <p:spPr>
          <a:xfrm>
            <a:off x="4572000" y="5317236"/>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34" charset="0"/>
                <a:ea typeface="Amiri" pitchFamily="34" charset="-122"/>
                <a:cs typeface="Amiri" pitchFamily="34" charset="-120"/>
              </a:rPr>
              <a:t>نَسْتَخْدِمُ النَّقْلَ العَامَّ لِكَيْ نُقَلِّلَ الانْبِعَاثَاتِ.</a:t>
            </a:r>
            <a:endParaRPr lang="ar-SA" sz="2600" dirty="0"/>
          </a:p>
        </p:txBody>
      </p:sp>
      <p:sp>
        <p:nvSpPr>
          <p:cNvPr id="34" name="Text 31"/>
          <p:cNvSpPr txBox="1"/>
          <p:nvPr/>
        </p:nvSpPr>
        <p:spPr>
          <a:xfrm>
            <a:off x="685800" y="5326380"/>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ea typeface="Calibri" pitchFamily="34" charset="-122"/>
                <a:cs typeface="Calibri" pitchFamily="34" charset="-120"/>
              </a:rPr>
              <a:t>We use public transport to reduce emissions.</a:t>
            </a:r>
            <a:endParaRPr lang="en-US" sz="1250" dirty="0"/>
          </a:p>
          <a:p>
            <a:pPr indent="0" marL="0">
              <a:buNone/>
            </a:pPr>
            <a:r>
              <a:rPr lang="en-US" sz="1050" i="1" dirty="0">
                <a:solidFill>
                  <a:srgbClr val="8A6D1E"/>
                </a:solidFill>
                <a:latin typeface="Calibri" pitchFamily="34" charset="0"/>
                <a:ea typeface="Calibri" pitchFamily="34" charset="-122"/>
                <a:cs typeface="Calibri" pitchFamily="34" charset="-120"/>
              </a:rPr>
              <a:t>لِكَيْ explains the purpose.</a:t>
            </a:r>
            <a:endParaRPr lang="en-US" sz="12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20 / 46</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TC-L05 · Environmental Solutions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PICTURE MATCH · WEBSITE GAME “CHOOSE THE SOLUTION”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Match the picture to the solution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اِخْتَرِ الْحَلَّ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2 · Lesson 2 of 3</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ea typeface="Calibri" pitchFamily="34" charset="-122"/>
                <a:cs typeface="Calibri" pitchFamily="34" charset="-120"/>
              </a:rPr>
              <a:t>recycling</a:t>
            </a:r>
            <a:endParaRPr lang="en-US" sz="1100" dirty="0"/>
          </a:p>
        </p:txBody>
      </p:sp>
      <p:sp>
        <p:nvSpPr>
          <p:cNvPr id="23" name="Shape 18"/>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4404360" y="1938528"/>
            <a:ext cx="365760" cy="365760"/>
          </a:xfrm>
          <a:prstGeom prst="ellipse">
            <a:avLst/>
          </a:prstGeom>
          <a:solidFill>
            <a:srgbClr val="1B3B6F"/>
          </a:solidFill>
          <a:ln w="12700">
            <a:solidFill>
              <a:srgbClr val="1B3B6F"/>
            </a:solidFill>
            <a:prstDash val="solid"/>
          </a:ln>
        </p:spPr>
      </p:sp>
      <p:sp>
        <p:nvSpPr>
          <p:cNvPr id="25" name="Text 20"/>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26" name="Shape 21"/>
          <p:cNvSpPr/>
          <p:nvPr/>
        </p:nvSpPr>
        <p:spPr>
          <a:xfrm>
            <a:off x="4992624" y="2066544"/>
            <a:ext cx="1014984" cy="1014984"/>
          </a:xfrm>
          <a:prstGeom prst="ellipse">
            <a:avLst/>
          </a:prstGeom>
          <a:solidFill>
            <a:srgbClr val="F4F1EA"/>
          </a:solidFill>
          <a:ln w="12700">
            <a:solidFill>
              <a:srgbClr val="F4F1EA"/>
            </a:solidFill>
            <a:prstDash val="solid"/>
          </a:ln>
        </p:spPr>
      </p:sp>
      <p:pic>
        <p:nvPicPr>
          <p:cNvPr id="27"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28" name="Shape 22"/>
          <p:cNvSpPr/>
          <p:nvPr/>
        </p:nvSpPr>
        <p:spPr>
          <a:xfrm>
            <a:off x="6181344" y="2066544"/>
            <a:ext cx="1014984" cy="1014984"/>
          </a:xfrm>
          <a:prstGeom prst="ellipse">
            <a:avLst/>
          </a:prstGeom>
          <a:solidFill>
            <a:srgbClr val="F4F1EA"/>
          </a:solidFill>
          <a:ln w="12700">
            <a:solidFill>
              <a:srgbClr val="F4F1EA"/>
            </a:solidFill>
            <a:prstDash val="solid"/>
          </a:ln>
        </p:spPr>
      </p:sp>
      <p:pic>
        <p:nvPicPr>
          <p:cNvPr id="29"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0" name="Text 23"/>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ea typeface="Calibri" pitchFamily="34" charset="-122"/>
                <a:cs typeface="Calibri" pitchFamily="34" charset="-120"/>
              </a:rPr>
              <a:t>bicycle, not car</a:t>
            </a:r>
            <a:endParaRPr lang="en-US" sz="1100" dirty="0"/>
          </a:p>
        </p:txBody>
      </p:sp>
      <p:sp>
        <p:nvSpPr>
          <p:cNvPr id="31" name="Shape 24"/>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5"/>
          <p:cNvSpPr/>
          <p:nvPr/>
        </p:nvSpPr>
        <p:spPr>
          <a:xfrm>
            <a:off x="585216" y="1938528"/>
            <a:ext cx="365760" cy="365760"/>
          </a:xfrm>
          <a:prstGeom prst="ellipse">
            <a:avLst/>
          </a:prstGeom>
          <a:solidFill>
            <a:srgbClr val="1B3B6F"/>
          </a:solidFill>
          <a:ln w="12700">
            <a:solidFill>
              <a:srgbClr val="1B3B6F"/>
            </a:solidFill>
            <a:prstDash val="solid"/>
          </a:ln>
        </p:spPr>
      </p:sp>
      <p:sp>
        <p:nvSpPr>
          <p:cNvPr id="33" name="Text 26"/>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34" name="Shape 27"/>
          <p:cNvSpPr/>
          <p:nvPr/>
        </p:nvSpPr>
        <p:spPr>
          <a:xfrm>
            <a:off x="1173480" y="2066544"/>
            <a:ext cx="1014984" cy="1014984"/>
          </a:xfrm>
          <a:prstGeom prst="ellipse">
            <a:avLst/>
          </a:prstGeom>
          <a:solidFill>
            <a:srgbClr val="F4F1EA"/>
          </a:solidFill>
          <a:ln w="12700">
            <a:solidFill>
              <a:srgbClr val="F4F1EA"/>
            </a:solidFill>
            <a:prstDash val="solid"/>
          </a:ln>
        </p:spPr>
      </p:sp>
      <p:pic>
        <p:nvPicPr>
          <p:cNvPr id="35"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36" name="Shape 28"/>
          <p:cNvSpPr/>
          <p:nvPr/>
        </p:nvSpPr>
        <p:spPr>
          <a:xfrm>
            <a:off x="2362200" y="2066544"/>
            <a:ext cx="1014984" cy="1014984"/>
          </a:xfrm>
          <a:prstGeom prst="ellipse">
            <a:avLst/>
          </a:prstGeom>
          <a:solidFill>
            <a:srgbClr val="F4F1EA"/>
          </a:solidFill>
          <a:ln w="12700">
            <a:solidFill>
              <a:srgbClr val="F4F1EA"/>
            </a:solidFill>
            <a:prstDash val="solid"/>
          </a:ln>
        </p:spPr>
      </p:sp>
      <p:pic>
        <p:nvPicPr>
          <p:cNvPr id="37"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38" name="Text 29"/>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ea typeface="Calibri" pitchFamily="34" charset="-122"/>
                <a:cs typeface="Calibri" pitchFamily="34" charset="-120"/>
              </a:rPr>
              <a:t>lights OFF</a:t>
            </a:r>
            <a:endParaRPr lang="en-US" sz="1100" dirty="0"/>
          </a:p>
        </p:txBody>
      </p:sp>
      <p:sp>
        <p:nvSpPr>
          <p:cNvPr id="39" name="Shape 30"/>
          <p:cNvSpPr/>
          <p:nvPr/>
        </p:nvSpPr>
        <p:spPr>
          <a:xfrm>
            <a:off x="457200" y="3730752"/>
            <a:ext cx="11274552" cy="493776"/>
          </a:xfrm>
          <a:prstGeom prst="roundRect">
            <a:avLst>
              <a:gd name="adj" fmla="val 11111"/>
            </a:avLst>
          </a:prstGeom>
          <a:solidFill>
            <a:srgbClr val="EEF3FA"/>
          </a:solidFill>
          <a:ln w="9525">
            <a:solidFill>
              <a:srgbClr val="C9D6EA"/>
            </a:solidFill>
            <a:prstDash val="solid"/>
          </a:ln>
        </p:spPr>
      </p:sp>
      <p:sp>
        <p:nvSpPr>
          <p:cNvPr id="40" name="Shape 31"/>
          <p:cNvSpPr/>
          <p:nvPr/>
        </p:nvSpPr>
        <p:spPr>
          <a:xfrm>
            <a:off x="11247120" y="3831336"/>
            <a:ext cx="292608" cy="292608"/>
          </a:xfrm>
          <a:prstGeom prst="ellipse">
            <a:avLst/>
          </a:prstGeom>
          <a:solidFill>
            <a:srgbClr val="2F6FB0"/>
          </a:solidFill>
          <a:ln w="12700">
            <a:solidFill>
              <a:srgbClr val="2F6FB0"/>
            </a:solidFill>
            <a:prstDash val="solid"/>
          </a:ln>
        </p:spPr>
      </p:sp>
      <p:sp>
        <p:nvSpPr>
          <p:cNvPr id="41" name="Text 32"/>
          <p:cNvSpPr txBox="1"/>
          <p:nvPr/>
        </p:nvSpPr>
        <p:spPr>
          <a:xfrm>
            <a:off x="11247120" y="383133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a:t>
            </a:r>
            <a:endParaRPr lang="en-US" sz="1000" dirty="0"/>
          </a:p>
        </p:txBody>
      </p:sp>
      <p:sp>
        <p:nvSpPr>
          <p:cNvPr id="42" name="Text 33"/>
          <p:cNvSpPr txBox="1"/>
          <p:nvPr/>
        </p:nvSpPr>
        <p:spPr>
          <a:xfrm>
            <a:off x="731520" y="3730752"/>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مِنَ الأَفْضَلِ أَنْ نَسْتَعْمِلَ الدَّرَّاجَةَ بَدَلًا مِنَ السَّيَّارَةِ لِلرِّحْلَاتِ الْقَصِيرَةِ.</a:t>
            </a:r>
            <a:endParaRPr lang="ar-SA" sz="2000" dirty="0"/>
          </a:p>
        </p:txBody>
      </p:sp>
      <p:sp>
        <p:nvSpPr>
          <p:cNvPr id="43" name="Shape 34"/>
          <p:cNvSpPr/>
          <p:nvPr/>
        </p:nvSpPr>
        <p:spPr>
          <a:xfrm>
            <a:off x="457200" y="4297680"/>
            <a:ext cx="11274552" cy="493776"/>
          </a:xfrm>
          <a:prstGeom prst="roundRect">
            <a:avLst>
              <a:gd name="adj" fmla="val 11111"/>
            </a:avLst>
          </a:prstGeom>
          <a:solidFill>
            <a:srgbClr val="EEF3FA"/>
          </a:solidFill>
          <a:ln w="9525">
            <a:solidFill>
              <a:srgbClr val="C9D6EA"/>
            </a:solidFill>
            <a:prstDash val="solid"/>
          </a:ln>
        </p:spPr>
      </p:sp>
      <p:sp>
        <p:nvSpPr>
          <p:cNvPr id="44" name="Shape 35"/>
          <p:cNvSpPr/>
          <p:nvPr/>
        </p:nvSpPr>
        <p:spPr>
          <a:xfrm>
            <a:off x="11247120" y="4398264"/>
            <a:ext cx="292608" cy="292608"/>
          </a:xfrm>
          <a:prstGeom prst="ellipse">
            <a:avLst/>
          </a:prstGeom>
          <a:solidFill>
            <a:srgbClr val="2F6FB0"/>
          </a:solidFill>
          <a:ln w="12700">
            <a:solidFill>
              <a:srgbClr val="2F6FB0"/>
            </a:solidFill>
            <a:prstDash val="solid"/>
          </a:ln>
        </p:spPr>
      </p:sp>
      <p:sp>
        <p:nvSpPr>
          <p:cNvPr id="45" name="Text 36"/>
          <p:cNvSpPr txBox="1"/>
          <p:nvPr/>
        </p:nvSpPr>
        <p:spPr>
          <a:xfrm>
            <a:off x="11247120" y="4398264"/>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a:t>
            </a:r>
            <a:endParaRPr lang="en-US" sz="1000" dirty="0"/>
          </a:p>
        </p:txBody>
      </p:sp>
      <p:sp>
        <p:nvSpPr>
          <p:cNvPr id="46" name="Text 37"/>
          <p:cNvSpPr txBox="1"/>
          <p:nvPr/>
        </p:nvSpPr>
        <p:spPr>
          <a:xfrm>
            <a:off x="731520" y="4297680"/>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يَنْبَغِي أَنْ نُطْفِئَ الأَضْوَاءَ عِنْدَمَا لَا نَحْتَاجُ إِلَيْهَا.</a:t>
            </a:r>
            <a:endParaRPr lang="ar-SA" sz="2000" dirty="0"/>
          </a:p>
        </p:txBody>
      </p:sp>
      <p:sp>
        <p:nvSpPr>
          <p:cNvPr id="47" name="Shape 38"/>
          <p:cNvSpPr/>
          <p:nvPr/>
        </p:nvSpPr>
        <p:spPr>
          <a:xfrm>
            <a:off x="457200" y="4864608"/>
            <a:ext cx="11274552" cy="493776"/>
          </a:xfrm>
          <a:prstGeom prst="roundRect">
            <a:avLst>
              <a:gd name="adj" fmla="val 11111"/>
            </a:avLst>
          </a:prstGeom>
          <a:solidFill>
            <a:srgbClr val="EEF3FA"/>
          </a:solidFill>
          <a:ln w="9525">
            <a:solidFill>
              <a:srgbClr val="C9D6EA"/>
            </a:solidFill>
            <a:prstDash val="solid"/>
          </a:ln>
        </p:spPr>
      </p:sp>
      <p:sp>
        <p:nvSpPr>
          <p:cNvPr id="48" name="Shape 39"/>
          <p:cNvSpPr/>
          <p:nvPr/>
        </p:nvSpPr>
        <p:spPr>
          <a:xfrm>
            <a:off x="11247120" y="4965192"/>
            <a:ext cx="292608" cy="292608"/>
          </a:xfrm>
          <a:prstGeom prst="ellipse">
            <a:avLst/>
          </a:prstGeom>
          <a:solidFill>
            <a:srgbClr val="2F6FB0"/>
          </a:solidFill>
          <a:ln w="12700">
            <a:solidFill>
              <a:srgbClr val="2F6FB0"/>
            </a:solidFill>
            <a:prstDash val="solid"/>
          </a:ln>
        </p:spPr>
      </p:sp>
      <p:sp>
        <p:nvSpPr>
          <p:cNvPr id="49" name="Text 40"/>
          <p:cNvSpPr txBox="1"/>
          <p:nvPr/>
        </p:nvSpPr>
        <p:spPr>
          <a:xfrm>
            <a:off x="11247120" y="496519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a:t>
            </a:r>
            <a:endParaRPr lang="en-US" sz="1000" dirty="0"/>
          </a:p>
        </p:txBody>
      </p:sp>
      <p:sp>
        <p:nvSpPr>
          <p:cNvPr id="50" name="Text 41"/>
          <p:cNvSpPr txBox="1"/>
          <p:nvPr/>
        </p:nvSpPr>
        <p:spPr>
          <a:xfrm>
            <a:off x="731520" y="4864608"/>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يَجِبُ أَنْ نُعِيدَ تَدْوِيرَ النُّفَايَاتِ.</a:t>
            </a:r>
            <a:endParaRPr lang="ar-SA" sz="2000" dirty="0"/>
          </a:p>
        </p:txBody>
      </p:sp>
      <p:sp>
        <p:nvSpPr>
          <p:cNvPr id="51" name="Text 42"/>
          <p:cNvSpPr txBox="1"/>
          <p:nvPr/>
        </p:nvSpPr>
        <p:spPr>
          <a:xfrm>
            <a:off x="457200" y="5468112"/>
            <a:ext cx="11274552" cy="365760"/>
          </a:xfrm>
          <a:prstGeom prst="rect">
            <a:avLst/>
          </a:prstGeom>
          <a:noFill/>
          <a:ln/>
        </p:spPr>
        <p:txBody>
          <a:bodyPr wrap="square" lIns="0" tIns="0" rIns="0" bIns="0" rtlCol="0" anchor="ctr"/>
          <a:lstStyle/>
          <a:p>
            <a:pPr algn="l" indent="0" marL="0">
              <a:buNone/>
            </a:pPr>
            <a:r>
              <a:rPr lang="en-US" sz="1250" b="1" dirty="0">
                <a:solidFill>
                  <a:srgbClr val="2F6FB0"/>
                </a:solidFill>
                <a:latin typeface="Calibri" pitchFamily="34" charset="0"/>
                <a:ea typeface="Calibri" pitchFamily="34" charset="-122"/>
                <a:cs typeface="Calibri" pitchFamily="34" charset="-120"/>
              </a:rPr>
              <a:t>Match each picture to a sentence. Type in the chat: 1_  2_  3_</a:t>
            </a:r>
            <a:endParaRPr lang="en-US" sz="1250" dirty="0"/>
          </a:p>
        </p:txBody>
      </p:sp>
      <p:sp>
        <p:nvSpPr>
          <p:cNvPr id="52" name="Text 43"/>
          <p:cNvSpPr txBox="1"/>
          <p:nvPr/>
        </p:nvSpPr>
        <p:spPr>
          <a:xfrm>
            <a:off x="457200" y="5852160"/>
            <a:ext cx="11274552" cy="36576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ea typeface="Calibri" pitchFamily="34" charset="-122"/>
                <a:cs typeface="Calibri" pitchFamily="34" charset="-120"/>
              </a:rPr>
              <a:t>Core: find ONE key word you know in each sentence first.</a:t>
            </a:r>
            <a:endParaRPr lang="en-US" sz="1150" dirty="0"/>
          </a:p>
        </p:txBody>
      </p:sp>
      <p:sp>
        <p:nvSpPr>
          <p:cNvPr id="53" name="Text 4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21 / 46</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TC-L05 · Environmental Solutions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PICTURE MATCH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Picture match: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اِخْتَرِ الْحَلَّ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2 · Lesson 2 of 3</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ea typeface="Calibri" pitchFamily="34" charset="-122"/>
                <a:cs typeface="Calibri" pitchFamily="34" charset="-120"/>
              </a:rPr>
              <a:t>recycling</a:t>
            </a:r>
            <a:endParaRPr lang="en-US" sz="1100" dirty="0"/>
          </a:p>
        </p:txBody>
      </p:sp>
      <p:sp>
        <p:nvSpPr>
          <p:cNvPr id="23" name="Shape 18"/>
          <p:cNvSpPr/>
          <p:nvPr/>
        </p:nvSpPr>
        <p:spPr>
          <a:xfrm>
            <a:off x="8095488"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11256264" y="3785616"/>
            <a:ext cx="329184" cy="329184"/>
          </a:xfrm>
          <a:prstGeom prst="ellipse">
            <a:avLst/>
          </a:prstGeom>
          <a:solidFill>
            <a:srgbClr val="2E8B57"/>
          </a:solidFill>
          <a:ln w="12700">
            <a:solidFill>
              <a:srgbClr val="2E8B57"/>
            </a:solidFill>
            <a:prstDash val="solid"/>
          </a:ln>
        </p:spPr>
      </p:sp>
      <p:sp>
        <p:nvSpPr>
          <p:cNvPr id="25" name="Text 20"/>
          <p:cNvSpPr txBox="1"/>
          <p:nvPr/>
        </p:nvSpPr>
        <p:spPr>
          <a:xfrm>
            <a:off x="11256264"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a:t>
            </a:r>
            <a:endParaRPr lang="en-US" sz="1100" dirty="0"/>
          </a:p>
        </p:txBody>
      </p:sp>
      <p:sp>
        <p:nvSpPr>
          <p:cNvPr id="26" name="Text 21"/>
          <p:cNvSpPr txBox="1"/>
          <p:nvPr/>
        </p:nvSpPr>
        <p:spPr>
          <a:xfrm>
            <a:off x="8232648"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34" charset="0"/>
                <a:ea typeface="Amiri" pitchFamily="34" charset="-122"/>
                <a:cs typeface="Amiri" pitchFamily="34" charset="-120"/>
              </a:rPr>
              <a:t>يَجِبُ أَنْ نُعِيدَ تَدْوِيرَ النُّفَايَاتِ.</a:t>
            </a:r>
            <a:endParaRPr lang="ar-SA" sz="2200" dirty="0"/>
          </a:p>
        </p:txBody>
      </p:sp>
      <p:sp>
        <p:nvSpPr>
          <p:cNvPr id="27" name="Text 22"/>
          <p:cNvSpPr txBox="1"/>
          <p:nvPr/>
        </p:nvSpPr>
        <p:spPr>
          <a:xfrm>
            <a:off x="8232648"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ea typeface="Calibri" pitchFamily="34" charset="-122"/>
                <a:cs typeface="Calibri" pitchFamily="34" charset="-120"/>
              </a:rPr>
              <a:t>We must recycle waste.</a:t>
            </a:r>
            <a:endParaRPr lang="en-US" sz="1200" dirty="0"/>
          </a:p>
        </p:txBody>
      </p:sp>
      <p:sp>
        <p:nvSpPr>
          <p:cNvPr id="28" name="Shape 23"/>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4"/>
          <p:cNvSpPr/>
          <p:nvPr/>
        </p:nvSpPr>
        <p:spPr>
          <a:xfrm>
            <a:off x="4404360" y="1938528"/>
            <a:ext cx="365760" cy="365760"/>
          </a:xfrm>
          <a:prstGeom prst="ellipse">
            <a:avLst/>
          </a:prstGeom>
          <a:solidFill>
            <a:srgbClr val="1B3B6F"/>
          </a:solidFill>
          <a:ln w="12700">
            <a:solidFill>
              <a:srgbClr val="1B3B6F"/>
            </a:solidFill>
            <a:prstDash val="solid"/>
          </a:ln>
        </p:spPr>
      </p:sp>
      <p:sp>
        <p:nvSpPr>
          <p:cNvPr id="30" name="Text 25"/>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31" name="Shape 26"/>
          <p:cNvSpPr/>
          <p:nvPr/>
        </p:nvSpPr>
        <p:spPr>
          <a:xfrm>
            <a:off x="4992624" y="2066544"/>
            <a:ext cx="1014984" cy="1014984"/>
          </a:xfrm>
          <a:prstGeom prst="ellipse">
            <a:avLst/>
          </a:prstGeom>
          <a:solidFill>
            <a:srgbClr val="F4F1EA"/>
          </a:solidFill>
          <a:ln w="12700">
            <a:solidFill>
              <a:srgbClr val="F4F1EA"/>
            </a:solidFill>
            <a:prstDash val="solid"/>
          </a:ln>
        </p:spPr>
      </p:sp>
      <p:pic>
        <p:nvPicPr>
          <p:cNvPr id="32"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33" name="Shape 27"/>
          <p:cNvSpPr/>
          <p:nvPr/>
        </p:nvSpPr>
        <p:spPr>
          <a:xfrm>
            <a:off x="6181344" y="2066544"/>
            <a:ext cx="1014984" cy="1014984"/>
          </a:xfrm>
          <a:prstGeom prst="ellipse">
            <a:avLst/>
          </a:prstGeom>
          <a:solidFill>
            <a:srgbClr val="F4F1EA"/>
          </a:solidFill>
          <a:ln w="12700">
            <a:solidFill>
              <a:srgbClr val="F4F1EA"/>
            </a:solidFill>
            <a:prstDash val="solid"/>
          </a:ln>
        </p:spPr>
      </p:sp>
      <p:pic>
        <p:nvPicPr>
          <p:cNvPr id="34"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5" name="Text 28"/>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ea typeface="Calibri" pitchFamily="34" charset="-122"/>
                <a:cs typeface="Calibri" pitchFamily="34" charset="-120"/>
              </a:rPr>
              <a:t>bicycle, not car</a:t>
            </a:r>
            <a:endParaRPr lang="en-US" sz="1100" dirty="0"/>
          </a:p>
        </p:txBody>
      </p:sp>
      <p:sp>
        <p:nvSpPr>
          <p:cNvPr id="36" name="Shape 29"/>
          <p:cNvSpPr/>
          <p:nvPr/>
        </p:nvSpPr>
        <p:spPr>
          <a:xfrm>
            <a:off x="4276344"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7" name="Shape 30"/>
          <p:cNvSpPr/>
          <p:nvPr/>
        </p:nvSpPr>
        <p:spPr>
          <a:xfrm>
            <a:off x="7437120" y="3785616"/>
            <a:ext cx="329184" cy="329184"/>
          </a:xfrm>
          <a:prstGeom prst="ellipse">
            <a:avLst/>
          </a:prstGeom>
          <a:solidFill>
            <a:srgbClr val="2E8B57"/>
          </a:solidFill>
          <a:ln w="12700">
            <a:solidFill>
              <a:srgbClr val="2E8B57"/>
            </a:solidFill>
            <a:prstDash val="solid"/>
          </a:ln>
        </p:spPr>
      </p:sp>
      <p:sp>
        <p:nvSpPr>
          <p:cNvPr id="38" name="Text 31"/>
          <p:cNvSpPr txBox="1"/>
          <p:nvPr/>
        </p:nvSpPr>
        <p:spPr>
          <a:xfrm>
            <a:off x="7437120"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sp>
        <p:nvSpPr>
          <p:cNvPr id="39" name="Text 32"/>
          <p:cNvSpPr txBox="1"/>
          <p:nvPr/>
        </p:nvSpPr>
        <p:spPr>
          <a:xfrm>
            <a:off x="4413504" y="4160520"/>
            <a:ext cx="3361944" cy="1143000"/>
          </a:xfrm>
          <a:prstGeom prst="rect">
            <a:avLst/>
          </a:prstGeom>
          <a:noFill/>
          <a:ln/>
        </p:spPr>
        <p:txBody>
          <a:bodyPr wrap="square" lIns="0" tIns="0" rIns="0" bIns="0" rtlCol="0" anchor="ctr"/>
          <a:lstStyle/>
          <a:p>
            <a:pPr rtl="1" algn="ctr" indent="0" marL="0">
              <a:lnSpc>
                <a:spcPct val="120000"/>
              </a:lnSpc>
              <a:buNone/>
            </a:pPr>
            <a:r>
              <a:rPr lang="ar-SA" altLang="en-US" sz="2050" b="1" dirty="0">
                <a:solidFill>
                  <a:srgbClr val="1B3B6F"/>
                </a:solidFill>
                <a:latin typeface="Amiri" pitchFamily="34" charset="0"/>
                <a:ea typeface="Amiri" pitchFamily="34" charset="-122"/>
                <a:cs typeface="Amiri" pitchFamily="34" charset="-120"/>
              </a:rPr>
              <a:t>مِنَ الأَفْضَلِ أَنْ نَسْتَعْمِلَ الدَّرَّاجَةَ بَدَلًا مِنَ السَّيَّارَةِ لِلرِّحْلَاتِ الْقَصِيرَةِ.</a:t>
            </a:r>
            <a:endParaRPr lang="ar-SA" sz="2050" dirty="0"/>
          </a:p>
        </p:txBody>
      </p:sp>
      <p:sp>
        <p:nvSpPr>
          <p:cNvPr id="40" name="Text 33"/>
          <p:cNvSpPr txBox="1"/>
          <p:nvPr/>
        </p:nvSpPr>
        <p:spPr>
          <a:xfrm>
            <a:off x="4413504"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ea typeface="Calibri" pitchFamily="34" charset="-122"/>
                <a:cs typeface="Calibri" pitchFamily="34" charset="-120"/>
              </a:rPr>
              <a:t>It is better to use a bicycle instead of the car for short journeys.</a:t>
            </a:r>
            <a:endParaRPr lang="en-US" sz="1200" dirty="0"/>
          </a:p>
        </p:txBody>
      </p:sp>
      <p:sp>
        <p:nvSpPr>
          <p:cNvPr id="41" name="Shape 34"/>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5"/>
          <p:cNvSpPr/>
          <p:nvPr/>
        </p:nvSpPr>
        <p:spPr>
          <a:xfrm>
            <a:off x="585216" y="1938528"/>
            <a:ext cx="365760" cy="365760"/>
          </a:xfrm>
          <a:prstGeom prst="ellipse">
            <a:avLst/>
          </a:prstGeom>
          <a:solidFill>
            <a:srgbClr val="1B3B6F"/>
          </a:solidFill>
          <a:ln w="12700">
            <a:solidFill>
              <a:srgbClr val="1B3B6F"/>
            </a:solidFill>
            <a:prstDash val="solid"/>
          </a:ln>
        </p:spPr>
      </p:sp>
      <p:sp>
        <p:nvSpPr>
          <p:cNvPr id="43" name="Text 36"/>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44" name="Shape 37"/>
          <p:cNvSpPr/>
          <p:nvPr/>
        </p:nvSpPr>
        <p:spPr>
          <a:xfrm>
            <a:off x="1173480" y="2066544"/>
            <a:ext cx="1014984" cy="1014984"/>
          </a:xfrm>
          <a:prstGeom prst="ellipse">
            <a:avLst/>
          </a:prstGeom>
          <a:solidFill>
            <a:srgbClr val="F4F1EA"/>
          </a:solidFill>
          <a:ln w="12700">
            <a:solidFill>
              <a:srgbClr val="F4F1EA"/>
            </a:solidFill>
            <a:prstDash val="solid"/>
          </a:ln>
        </p:spPr>
      </p:sp>
      <p:pic>
        <p:nvPicPr>
          <p:cNvPr id="45"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46" name="Shape 38"/>
          <p:cNvSpPr/>
          <p:nvPr/>
        </p:nvSpPr>
        <p:spPr>
          <a:xfrm>
            <a:off x="2362200" y="2066544"/>
            <a:ext cx="1014984" cy="1014984"/>
          </a:xfrm>
          <a:prstGeom prst="ellipse">
            <a:avLst/>
          </a:prstGeom>
          <a:solidFill>
            <a:srgbClr val="F4F1EA"/>
          </a:solidFill>
          <a:ln w="12700">
            <a:solidFill>
              <a:srgbClr val="F4F1EA"/>
            </a:solidFill>
            <a:prstDash val="solid"/>
          </a:ln>
        </p:spPr>
      </p:sp>
      <p:pic>
        <p:nvPicPr>
          <p:cNvPr id="47"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48" name="Text 39"/>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ea typeface="Calibri" pitchFamily="34" charset="-122"/>
                <a:cs typeface="Calibri" pitchFamily="34" charset="-120"/>
              </a:rPr>
              <a:t>lights OFF</a:t>
            </a:r>
            <a:endParaRPr lang="en-US" sz="1100" dirty="0"/>
          </a:p>
        </p:txBody>
      </p:sp>
      <p:sp>
        <p:nvSpPr>
          <p:cNvPr id="49" name="Shape 40"/>
          <p:cNvSpPr/>
          <p:nvPr/>
        </p:nvSpPr>
        <p:spPr>
          <a:xfrm>
            <a:off x="457200"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0" name="Shape 41"/>
          <p:cNvSpPr/>
          <p:nvPr/>
        </p:nvSpPr>
        <p:spPr>
          <a:xfrm>
            <a:off x="3617976" y="3785616"/>
            <a:ext cx="329184" cy="329184"/>
          </a:xfrm>
          <a:prstGeom prst="ellipse">
            <a:avLst/>
          </a:prstGeom>
          <a:solidFill>
            <a:srgbClr val="2E8B57"/>
          </a:solidFill>
          <a:ln w="12700">
            <a:solidFill>
              <a:srgbClr val="2E8B57"/>
            </a:solidFill>
            <a:prstDash val="solid"/>
          </a:ln>
        </p:spPr>
      </p:sp>
      <p:sp>
        <p:nvSpPr>
          <p:cNvPr id="51" name="Text 42"/>
          <p:cNvSpPr txBox="1"/>
          <p:nvPr/>
        </p:nvSpPr>
        <p:spPr>
          <a:xfrm>
            <a:off x="3617976"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sp>
        <p:nvSpPr>
          <p:cNvPr id="52" name="Text 43"/>
          <p:cNvSpPr txBox="1"/>
          <p:nvPr/>
        </p:nvSpPr>
        <p:spPr>
          <a:xfrm>
            <a:off x="594360" y="4160520"/>
            <a:ext cx="3361944" cy="1143000"/>
          </a:xfrm>
          <a:prstGeom prst="rect">
            <a:avLst/>
          </a:prstGeom>
          <a:noFill/>
          <a:ln/>
        </p:spPr>
        <p:txBody>
          <a:bodyPr wrap="square" lIns="0" tIns="0" rIns="0" bIns="0" rtlCol="0" anchor="ctr"/>
          <a:lstStyle/>
          <a:p>
            <a:pPr rtl="1" algn="ctr" indent="0" marL="0">
              <a:lnSpc>
                <a:spcPct val="120000"/>
              </a:lnSpc>
              <a:buNone/>
            </a:pPr>
            <a:r>
              <a:rPr lang="ar-SA" altLang="en-US" sz="2200" b="1" dirty="0">
                <a:solidFill>
                  <a:srgbClr val="1B3B6F"/>
                </a:solidFill>
                <a:latin typeface="Amiri" pitchFamily="34" charset="0"/>
                <a:ea typeface="Amiri" pitchFamily="34" charset="-122"/>
                <a:cs typeface="Amiri" pitchFamily="34" charset="-120"/>
              </a:rPr>
              <a:t>يَنْبَغِي أَنْ نُطْفِئَ الأَضْوَاءَ عِنْدَمَا لَا نَحْتَاجُ إِلَيْهَا.</a:t>
            </a:r>
            <a:endParaRPr lang="ar-SA" sz="2200" dirty="0"/>
          </a:p>
        </p:txBody>
      </p:sp>
      <p:sp>
        <p:nvSpPr>
          <p:cNvPr id="53" name="Text 44"/>
          <p:cNvSpPr txBox="1"/>
          <p:nvPr/>
        </p:nvSpPr>
        <p:spPr>
          <a:xfrm>
            <a:off x="594360"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ea typeface="Calibri" pitchFamily="34" charset="-122"/>
                <a:cs typeface="Calibri" pitchFamily="34" charset="-120"/>
              </a:rPr>
              <a:t>We should switch off the lights when we do not need them.</a:t>
            </a:r>
            <a:endParaRPr lang="en-US" sz="1200" dirty="0"/>
          </a:p>
        </p:txBody>
      </p:sp>
      <p:sp>
        <p:nvSpPr>
          <p:cNvPr id="54"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22 / 46</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TC-L05 · Environmental Solutions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GUIDED PRACTICE · SENTENCE BUILDER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Build the solution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2 · Lesson 2 of 3</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ea typeface="Calibri" pitchFamily="34" charset="-122"/>
                <a:cs typeface="Calibri" pitchFamily="34" charset="-120"/>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ea typeface="Calibri" pitchFamily="34" charset="-122"/>
                <a:cs typeface="Calibri" pitchFamily="34" charset="-120"/>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ea typeface="Calibri" pitchFamily="34" charset="-122"/>
                <a:cs typeface="Calibri" pitchFamily="34" charset="-120"/>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ea typeface="Calibri" pitchFamily="34" charset="-122"/>
                <a:cs typeface="Calibri" pitchFamily="34" charset="-120"/>
              </a:rPr>
              <a:t>We should reduce plastic use.</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يَنْبَغِي أَنْ</a:t>
            </a:r>
            <a:endParaRPr lang="ar-SA" sz="180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يُؤَدِّي إِلَى</a:t>
            </a:r>
            <a:endParaRPr lang="ar-SA" sz="180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نُقَلِّلُ</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نُقَلِّلَ</a:t>
            </a:r>
            <a:endParaRPr lang="ar-SA" sz="18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اسْتِخْدَامَ البِلَاسْتِيكِ.</a:t>
            </a:r>
            <a:endParaRPr lang="ar-SA" sz="18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بِسَبَبِ البِلَاسْتِيكِ.</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ea typeface="Calibri" pitchFamily="34" charset="-122"/>
                <a:cs typeface="Calibri" pitchFamily="34" charset="-120"/>
              </a:rPr>
              <a:t>The government must invest in solar energy.</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يَجِبُ الحُكُومَةُ</a:t>
            </a:r>
            <a:endParaRPr lang="ar-SA" sz="180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يَجِبُ عَلَى الحُكُومَةِ</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أَنْ تَسْتَثْمِرَ</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تَسْتَثْمِرُ</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فِي الطَّاقَةِ الشَّمْسِيَّةِ.</a:t>
            </a:r>
            <a:endParaRPr lang="ar-SA" sz="180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إِلَى الطَّاقَةِ الشَّمْسِيَّةِ.</a:t>
            </a:r>
            <a:endParaRPr lang="ar-SA" sz="180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ea typeface="Calibri" pitchFamily="34" charset="-122"/>
                <a:cs typeface="Calibri" pitchFamily="34" charset="-120"/>
              </a:rPr>
              <a:t>We plant trees to improve the air.</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نَزْرَعُ الأَشْجَارَ</a:t>
            </a:r>
            <a:endParaRPr lang="ar-SA" sz="18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تُقْطَعُ الأَشْجَارُ</a:t>
            </a:r>
            <a:endParaRPr lang="ar-SA" sz="18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بِسَبَبِ</a:t>
            </a:r>
            <a:endParaRPr lang="ar-SA" sz="18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لِكَيْ</a:t>
            </a:r>
            <a:endParaRPr lang="ar-SA" sz="180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نُحَسِّنُ جَوْدَةَ الهَوَاءِ.</a:t>
            </a:r>
            <a:endParaRPr lang="ar-SA" sz="18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نُحَسِّنَ جَوْدَةَ الهَوَاءِ.</a:t>
            </a:r>
            <a:endParaRPr lang="ar-SA" sz="18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23 / 46</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TC-L05 · Environmental Solutions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SENTENCE BUILDER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Check your sentences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تَحَقَّقْ مِنْ جُمَلِكَ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2 · Lesson 2 of 3</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ea typeface="Calibri" pitchFamily="34" charset="-122"/>
                <a:cs typeface="Calibri" pitchFamily="34" charset="-120"/>
              </a:rPr>
              <a:t>We should reduce plastic use.</a:t>
            </a:r>
            <a:endParaRPr lang="en-US" sz="13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ea typeface="Calibri" pitchFamily="34" charset="-122"/>
                <a:cs typeface="Calibri" pitchFamily="34" charset="-120"/>
              </a:rPr>
              <a:t>Columns = A · B · A</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After </a:t>
            </a:r>
            <a:pPr algn="l" indent="0" marL="0">
              <a:buNone/>
            </a:pPr>
            <a:r>
              <a:rPr lang="ar-SA" altLang="en-US" sz="1350" dirty="0">
                <a:solidFill>
                  <a:srgbClr val="5A6472"/>
                </a:solidFill>
                <a:latin typeface="Amiri" pitchFamily="34" charset="0"/>
                <a:ea typeface="Amiri" pitchFamily="34" charset="-122"/>
                <a:cs typeface="Amiri" pitchFamily="34" charset="-120"/>
              </a:rPr>
              <a:t>أَنْ</a:t>
            </a:r>
            <a:pPr algn="l" indent="0" marL="0">
              <a:buNone/>
            </a:pPr>
            <a:r>
              <a:rPr lang="en-US" sz="1050" i="1" dirty="0">
                <a:solidFill>
                  <a:srgbClr val="5A6472"/>
                </a:solidFill>
                <a:latin typeface="Calibri" pitchFamily="34" charset="0"/>
                <a:ea typeface="Calibri" pitchFamily="34" charset="-122"/>
                <a:cs typeface="Calibri" pitchFamily="34" charset="-120"/>
              </a:rPr>
              <a:t>: </a:t>
            </a:r>
            <a:pPr algn="l" indent="0" marL="0">
              <a:buNone/>
            </a:pPr>
            <a:r>
              <a:rPr lang="ar-SA" altLang="en-US" sz="1350" dirty="0">
                <a:solidFill>
                  <a:srgbClr val="5A6472"/>
                </a:solidFill>
                <a:latin typeface="Amiri" pitchFamily="34" charset="0"/>
                <a:ea typeface="Amiri" pitchFamily="34" charset="-122"/>
                <a:cs typeface="Amiri" pitchFamily="34" charset="-120"/>
              </a:rPr>
              <a:t>نُقَلِّلَ</a:t>
            </a:r>
            <a:pPr algn="l" indent="0" marL="0">
              <a:buNone/>
            </a:pPr>
            <a:r>
              <a:rPr lang="en-US" sz="1050" i="1" dirty="0">
                <a:solidFill>
                  <a:srgbClr val="5A6472"/>
                </a:solidFill>
                <a:latin typeface="Calibri" pitchFamily="34" charset="0"/>
                <a:ea typeface="Calibri" pitchFamily="34" charset="-122"/>
                <a:cs typeface="Calibri" pitchFamily="34" charset="-120"/>
              </a:rPr>
              <a:t> (fatḥa).</a:t>
            </a:r>
            <a:endParaRPr lang="en-US" sz="10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34" charset="0"/>
                <a:ea typeface="Amiri" pitchFamily="34" charset="-122"/>
                <a:cs typeface="Amiri" pitchFamily="34" charset="-120"/>
              </a:rPr>
              <a:t>يَنْبَغِي أَنْ نُقَلِّلَ اسْتِخْدَامَ البِلَاسْتِيكِ.</a:t>
            </a:r>
            <a:endParaRPr lang="ar-SA" sz="28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ea typeface="Calibri" pitchFamily="34" charset="-122"/>
                <a:cs typeface="Calibri" pitchFamily="34" charset="-120"/>
              </a:rPr>
              <a:t>The government must invest in solar energy.</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ea typeface="Calibri" pitchFamily="34" charset="-122"/>
                <a:cs typeface="Calibri" pitchFamily="34" charset="-120"/>
              </a:rPr>
              <a:t>Columns = B · A · A</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34" charset="0"/>
                <a:ea typeface="Amiri" pitchFamily="34" charset="-122"/>
                <a:cs typeface="Amiri" pitchFamily="34" charset="-120"/>
              </a:rPr>
              <a:t>يَجِبُ عَلَى</a:t>
            </a:r>
            <a:pPr algn="l" indent="0" marL="0">
              <a:buNone/>
            </a:pPr>
            <a:r>
              <a:rPr lang="en-US" sz="1050" i="1" dirty="0">
                <a:solidFill>
                  <a:srgbClr val="5A6472"/>
                </a:solidFill>
                <a:latin typeface="Calibri" pitchFamily="34" charset="0"/>
                <a:ea typeface="Calibri" pitchFamily="34" charset="-122"/>
                <a:cs typeface="Calibri" pitchFamily="34" charset="-120"/>
              </a:rPr>
              <a:t> + who + </a:t>
            </a:r>
            <a:pPr algn="l" indent="0" marL="0">
              <a:buNone/>
            </a:pPr>
            <a:r>
              <a:rPr lang="ar-SA" altLang="en-US" sz="1350" dirty="0">
                <a:solidFill>
                  <a:srgbClr val="5A6472"/>
                </a:solidFill>
                <a:latin typeface="Amiri" pitchFamily="34" charset="0"/>
                <a:ea typeface="Amiri" pitchFamily="34" charset="-122"/>
                <a:cs typeface="Amiri" pitchFamily="34" charset="-120"/>
              </a:rPr>
              <a:t>أَنْ</a:t>
            </a:r>
            <a:pPr algn="l" indent="0" marL="0">
              <a:buNone/>
            </a:pPr>
            <a:r>
              <a:rPr lang="en-US" sz="1050" i="1" dirty="0">
                <a:solidFill>
                  <a:srgbClr val="5A6472"/>
                </a:solidFill>
                <a:latin typeface="Calibri" pitchFamily="34" charset="0"/>
                <a:ea typeface="Calibri" pitchFamily="34" charset="-122"/>
                <a:cs typeface="Calibri" pitchFamily="34" charset="-120"/>
              </a:rPr>
              <a:t> + verb; </a:t>
            </a:r>
            <a:pPr algn="l" indent="0" marL="0">
              <a:buNone/>
            </a:pPr>
            <a:r>
              <a:rPr lang="ar-SA" altLang="en-US" sz="1350" dirty="0">
                <a:solidFill>
                  <a:srgbClr val="5A6472"/>
                </a:solidFill>
                <a:latin typeface="Amiri" pitchFamily="34" charset="0"/>
                <a:ea typeface="Amiri" pitchFamily="34" charset="-122"/>
                <a:cs typeface="Amiri" pitchFamily="34" charset="-120"/>
              </a:rPr>
              <a:t>تَسْتَثْمِرُ فِي</a:t>
            </a:r>
            <a:pPr algn="l" indent="0" marL="0">
              <a:buNone/>
            </a:pPr>
            <a:r>
              <a:rPr lang="en-US" sz="1050" i="1" dirty="0">
                <a:solidFill>
                  <a:srgbClr val="5A6472"/>
                </a:solidFill>
                <a:latin typeface="Calibri" pitchFamily="34" charset="0"/>
                <a:ea typeface="Calibri" pitchFamily="34" charset="-122"/>
                <a:cs typeface="Calibri" pitchFamily="34" charset="-120"/>
              </a:rPr>
              <a:t>.</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34" charset="0"/>
                <a:ea typeface="Amiri" pitchFamily="34" charset="-122"/>
                <a:cs typeface="Amiri" pitchFamily="34" charset="-120"/>
              </a:rPr>
              <a:t>يَجِبُ عَلَى الحُكُومَةِ أَنْ تَسْتَثْمِرَ فِي الطَّاقَةِ الشَّمْسِيَّةِ.</a:t>
            </a:r>
            <a:endParaRPr lang="ar-SA" sz="280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ea typeface="Calibri" pitchFamily="34" charset="-122"/>
                <a:cs typeface="Calibri" pitchFamily="34" charset="-120"/>
              </a:rPr>
              <a:t>We plant trees to improve the air.</a:t>
            </a:r>
            <a:endParaRPr lang="en-US" sz="130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ea typeface="Calibri" pitchFamily="34" charset="-122"/>
                <a:cs typeface="Calibri" pitchFamily="34" charset="-120"/>
              </a:rPr>
              <a:t>Columns = A · B · B</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Purpose: </a:t>
            </a:r>
            <a:pPr algn="l" indent="0" marL="0">
              <a:buNone/>
            </a:pPr>
            <a:r>
              <a:rPr lang="ar-SA" altLang="en-US" sz="1350" dirty="0">
                <a:solidFill>
                  <a:srgbClr val="5A6472"/>
                </a:solidFill>
                <a:latin typeface="Amiri" pitchFamily="34" charset="0"/>
                <a:ea typeface="Amiri" pitchFamily="34" charset="-122"/>
                <a:cs typeface="Amiri" pitchFamily="34" charset="-120"/>
              </a:rPr>
              <a:t>لِكَيْ</a:t>
            </a:r>
            <a:pPr algn="l" indent="0" marL="0">
              <a:buNone/>
            </a:pPr>
            <a:r>
              <a:rPr lang="en-US" sz="1050" i="1" dirty="0">
                <a:solidFill>
                  <a:srgbClr val="5A6472"/>
                </a:solidFill>
                <a:latin typeface="Calibri" pitchFamily="34" charset="0"/>
                <a:ea typeface="Calibri" pitchFamily="34" charset="-122"/>
                <a:cs typeface="Calibri" pitchFamily="34" charset="-120"/>
              </a:rPr>
              <a:t> + fatḥa (</a:t>
            </a:r>
            <a:pPr algn="l" indent="0" marL="0">
              <a:buNone/>
            </a:pPr>
            <a:r>
              <a:rPr lang="ar-SA" altLang="en-US" sz="1350" dirty="0">
                <a:solidFill>
                  <a:srgbClr val="5A6472"/>
                </a:solidFill>
                <a:latin typeface="Amiri" pitchFamily="34" charset="0"/>
                <a:ea typeface="Amiri" pitchFamily="34" charset="-122"/>
                <a:cs typeface="Amiri" pitchFamily="34" charset="-120"/>
              </a:rPr>
              <a:t>نُحَسِّنَ</a:t>
            </a:r>
            <a:pPr algn="l" indent="0" marL="0">
              <a:buNone/>
            </a:pPr>
            <a:r>
              <a:rPr lang="en-US" sz="1050" i="1" dirty="0">
                <a:solidFill>
                  <a:srgbClr val="5A6472"/>
                </a:solidFill>
                <a:latin typeface="Calibri" pitchFamily="34" charset="0"/>
                <a:ea typeface="Calibri" pitchFamily="34" charset="-122"/>
                <a:cs typeface="Calibri" pitchFamily="34" charset="-120"/>
              </a:rPr>
              <a:t>).</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34" charset="0"/>
                <a:ea typeface="Amiri" pitchFamily="34" charset="-122"/>
                <a:cs typeface="Amiri" pitchFamily="34" charset="-120"/>
              </a:rPr>
              <a:t>نَزْرَعُ الأَشْجَارَ لِكَيْ نُحَسِّنَ جَوْدَةَ الهَوَاءِ.</a:t>
            </a:r>
            <a:endParaRPr lang="ar-SA" sz="2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24 / 46</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TC-L05 · Environmental Solutions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WEBSITE SORTER</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Solution, action or advice?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صَنِّفْ</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2 · Lesson 2 of 3</a:t>
            </a:r>
            <a:endParaRPr lang="en-US" sz="850" dirty="0"/>
          </a:p>
        </p:txBody>
      </p:sp>
      <p:sp>
        <p:nvSpPr>
          <p:cNvPr id="17" name="Shape 14"/>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نَزْرَعُ</a:t>
            </a:r>
            <a:endParaRPr lang="ar-SA" sz="1800" dirty="0"/>
          </a:p>
        </p:txBody>
      </p:sp>
      <p:sp>
        <p:nvSpPr>
          <p:cNvPr id="19" name="Shape 16"/>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إِعَادَةُ التَّدْوِيرِ</a:t>
            </a:r>
            <a:endParaRPr lang="ar-SA" sz="1800" dirty="0"/>
          </a:p>
        </p:txBody>
      </p:sp>
      <p:sp>
        <p:nvSpPr>
          <p:cNvPr id="21" name="Shape 18"/>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يَنْبَغِي أَنْ</a:t>
            </a:r>
            <a:endParaRPr lang="ar-SA" sz="1800" dirty="0"/>
          </a:p>
        </p:txBody>
      </p:sp>
      <p:sp>
        <p:nvSpPr>
          <p:cNvPr id="23" name="Shape 20"/>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نُوَفِّرُ</a:t>
            </a:r>
            <a:endParaRPr lang="ar-SA" sz="1800" dirty="0"/>
          </a:p>
        </p:txBody>
      </p:sp>
      <p:sp>
        <p:nvSpPr>
          <p:cNvPr id="25" name="Shape 22"/>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الطَّاقَةُ الشَّمْسِيَّةُ</a:t>
            </a:r>
            <a:endParaRPr lang="ar-SA" sz="1800" dirty="0"/>
          </a:p>
        </p:txBody>
      </p:sp>
      <p:sp>
        <p:nvSpPr>
          <p:cNvPr id="27" name="Shape 24"/>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يُمْكِنُ أَنْ</a:t>
            </a:r>
            <a:endParaRPr lang="ar-SA" sz="1800" dirty="0"/>
          </a:p>
        </p:txBody>
      </p:sp>
      <p:sp>
        <p:nvSpPr>
          <p:cNvPr id="29" name="Shape 26"/>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نُقَلِّلُ مِنْ</a:t>
            </a:r>
            <a:endParaRPr lang="ar-SA" sz="1800" dirty="0"/>
          </a:p>
        </p:txBody>
      </p:sp>
      <p:sp>
        <p:nvSpPr>
          <p:cNvPr id="31" name="Shape 28"/>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2" name="Text 29"/>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يَجِبُ عَلَى ... أَنْ</a:t>
            </a:r>
            <a:endParaRPr lang="ar-SA" sz="1800" dirty="0"/>
          </a:p>
        </p:txBody>
      </p:sp>
      <p:sp>
        <p:nvSpPr>
          <p:cNvPr id="33" name="Shape 30"/>
          <p:cNvSpPr/>
          <p:nvPr/>
        </p:nvSpPr>
        <p:spPr>
          <a:xfrm>
            <a:off x="9015984" y="2834640"/>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4" name="Text 31"/>
          <p:cNvSpPr txBox="1"/>
          <p:nvPr/>
        </p:nvSpPr>
        <p:spPr>
          <a:xfrm>
            <a:off x="9107424" y="2834640"/>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الطَّاقَةُ المُتَجَدِّدَةُ</a:t>
            </a:r>
            <a:endParaRPr lang="ar-SA" sz="1800" dirty="0"/>
          </a:p>
        </p:txBody>
      </p:sp>
      <p:sp>
        <p:nvSpPr>
          <p:cNvPr id="35" name="Shape 32"/>
          <p:cNvSpPr/>
          <p:nvPr/>
        </p:nvSpPr>
        <p:spPr>
          <a:xfrm>
            <a:off x="8095488" y="3529584"/>
            <a:ext cx="3636264" cy="2779776"/>
          </a:xfrm>
          <a:prstGeom prst="roundRect">
            <a:avLst>
              <a:gd name="adj" fmla="val 2632"/>
            </a:avLst>
          </a:prstGeom>
          <a:solidFill>
            <a:srgbClr val="EEF3FA"/>
          </a:solidFill>
          <a:ln w="9525">
            <a:solidFill>
              <a:srgbClr val="C9D6EA"/>
            </a:solidFill>
            <a:prstDash val="solid"/>
          </a:ln>
        </p:spPr>
      </p:sp>
      <p:sp>
        <p:nvSpPr>
          <p:cNvPr id="36" name="Shape 33"/>
          <p:cNvSpPr/>
          <p:nvPr/>
        </p:nvSpPr>
        <p:spPr>
          <a:xfrm>
            <a:off x="8232648" y="3639312"/>
            <a:ext cx="3361944" cy="310896"/>
          </a:xfrm>
          <a:prstGeom prst="roundRect">
            <a:avLst>
              <a:gd name="adj" fmla="val 50000"/>
            </a:avLst>
          </a:prstGeom>
          <a:solidFill>
            <a:srgbClr val="2F6FB0"/>
          </a:solidFill>
          <a:ln w="12700">
            <a:solidFill>
              <a:srgbClr val="2F6FB0"/>
            </a:solidFill>
            <a:prstDash val="solid"/>
          </a:ln>
        </p:spPr>
      </p:sp>
      <p:sp>
        <p:nvSpPr>
          <p:cNvPr id="37" name="Text 34"/>
          <p:cNvSpPr txBox="1"/>
          <p:nvPr/>
        </p:nvSpPr>
        <p:spPr>
          <a:xfrm>
            <a:off x="8232648"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1 · Environmental solutions</a:t>
            </a:r>
            <a:endParaRPr lang="en-US" sz="950" dirty="0"/>
          </a:p>
        </p:txBody>
      </p:sp>
      <p:sp>
        <p:nvSpPr>
          <p:cNvPr id="38" name="Shape 35"/>
          <p:cNvSpPr/>
          <p:nvPr/>
        </p:nvSpPr>
        <p:spPr>
          <a:xfrm>
            <a:off x="4276344" y="3529584"/>
            <a:ext cx="3636264" cy="2779776"/>
          </a:xfrm>
          <a:prstGeom prst="roundRect">
            <a:avLst>
              <a:gd name="adj" fmla="val 2632"/>
            </a:avLst>
          </a:prstGeom>
          <a:solidFill>
            <a:srgbClr val="EEF3FA"/>
          </a:solidFill>
          <a:ln w="9525">
            <a:solidFill>
              <a:srgbClr val="C9D6EA"/>
            </a:solidFill>
            <a:prstDash val="solid"/>
          </a:ln>
        </p:spPr>
      </p:sp>
      <p:sp>
        <p:nvSpPr>
          <p:cNvPr id="39" name="Shape 36"/>
          <p:cNvSpPr/>
          <p:nvPr/>
        </p:nvSpPr>
        <p:spPr>
          <a:xfrm>
            <a:off x="4413504" y="3639312"/>
            <a:ext cx="3361944" cy="310896"/>
          </a:xfrm>
          <a:prstGeom prst="roundRect">
            <a:avLst>
              <a:gd name="adj" fmla="val 50000"/>
            </a:avLst>
          </a:prstGeom>
          <a:solidFill>
            <a:srgbClr val="2F6FB0"/>
          </a:solidFill>
          <a:ln w="12700">
            <a:solidFill>
              <a:srgbClr val="2F6FB0"/>
            </a:solidFill>
            <a:prstDash val="solid"/>
          </a:ln>
        </p:spPr>
      </p:sp>
      <p:sp>
        <p:nvSpPr>
          <p:cNvPr id="40" name="Text 37"/>
          <p:cNvSpPr txBox="1"/>
          <p:nvPr/>
        </p:nvSpPr>
        <p:spPr>
          <a:xfrm>
            <a:off x="4413504"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2 · Action verbs</a:t>
            </a:r>
            <a:endParaRPr lang="en-US" sz="950" dirty="0"/>
          </a:p>
        </p:txBody>
      </p:sp>
      <p:sp>
        <p:nvSpPr>
          <p:cNvPr id="41" name="Shape 38"/>
          <p:cNvSpPr/>
          <p:nvPr/>
        </p:nvSpPr>
        <p:spPr>
          <a:xfrm>
            <a:off x="457200" y="3529584"/>
            <a:ext cx="3636264" cy="2779776"/>
          </a:xfrm>
          <a:prstGeom prst="roundRect">
            <a:avLst>
              <a:gd name="adj" fmla="val 2632"/>
            </a:avLst>
          </a:prstGeom>
          <a:solidFill>
            <a:srgbClr val="EEF3FA"/>
          </a:solidFill>
          <a:ln w="9525">
            <a:solidFill>
              <a:srgbClr val="C9D6EA"/>
            </a:solidFill>
            <a:prstDash val="solid"/>
          </a:ln>
        </p:spPr>
      </p:sp>
      <p:sp>
        <p:nvSpPr>
          <p:cNvPr id="42" name="Shape 39"/>
          <p:cNvSpPr/>
          <p:nvPr/>
        </p:nvSpPr>
        <p:spPr>
          <a:xfrm>
            <a:off x="594360" y="3639312"/>
            <a:ext cx="3361944" cy="310896"/>
          </a:xfrm>
          <a:prstGeom prst="roundRect">
            <a:avLst>
              <a:gd name="adj" fmla="val 50000"/>
            </a:avLst>
          </a:prstGeom>
          <a:solidFill>
            <a:srgbClr val="2F6FB0"/>
          </a:solidFill>
          <a:ln w="12700">
            <a:solidFill>
              <a:srgbClr val="2F6FB0"/>
            </a:solidFill>
            <a:prstDash val="solid"/>
          </a:ln>
        </p:spPr>
      </p:sp>
      <p:sp>
        <p:nvSpPr>
          <p:cNvPr id="43" name="Text 40"/>
          <p:cNvSpPr txBox="1"/>
          <p:nvPr/>
        </p:nvSpPr>
        <p:spPr>
          <a:xfrm>
            <a:off x="594360"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3 · Advice, obligation and purpose</a:t>
            </a:r>
            <a:endParaRPr lang="en-US" sz="9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25 / 46</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TC-L05 · Environmental Solutions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SORTER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Sorted</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2 · Lesson 2 of 3</a:t>
            </a:r>
            <a:endParaRPr lang="en-US" sz="850" dirty="0"/>
          </a:p>
        </p:txBody>
      </p:sp>
      <p:sp>
        <p:nvSpPr>
          <p:cNvPr id="17" name="Shape 14"/>
          <p:cNvSpPr/>
          <p:nvPr/>
        </p:nvSpPr>
        <p:spPr>
          <a:xfrm>
            <a:off x="8095488" y="1810512"/>
            <a:ext cx="3636264" cy="4498848"/>
          </a:xfrm>
          <a:prstGeom prst="roundRect">
            <a:avLst>
              <a:gd name="adj" fmla="val 2012"/>
            </a:avLst>
          </a:prstGeom>
          <a:solidFill>
            <a:srgbClr val="EEF3FA"/>
          </a:solidFill>
          <a:ln w="9525">
            <a:solidFill>
              <a:srgbClr val="C9D6EA"/>
            </a:solidFill>
            <a:prstDash val="solid"/>
          </a:ln>
        </p:spPr>
      </p:sp>
      <p:sp>
        <p:nvSpPr>
          <p:cNvPr id="18" name="Shape 15"/>
          <p:cNvSpPr/>
          <p:nvPr/>
        </p:nvSpPr>
        <p:spPr>
          <a:xfrm>
            <a:off x="8232648" y="1920240"/>
            <a:ext cx="3361944" cy="310896"/>
          </a:xfrm>
          <a:prstGeom prst="roundRect">
            <a:avLst>
              <a:gd name="adj" fmla="val 50000"/>
            </a:avLst>
          </a:prstGeom>
          <a:solidFill>
            <a:srgbClr val="2F6FB0"/>
          </a:solidFill>
          <a:ln w="12700">
            <a:solidFill>
              <a:srgbClr val="2F6FB0"/>
            </a:solidFill>
            <a:prstDash val="solid"/>
          </a:ln>
        </p:spPr>
      </p:sp>
      <p:sp>
        <p:nvSpPr>
          <p:cNvPr id="19" name="Text 16"/>
          <p:cNvSpPr txBox="1"/>
          <p:nvPr/>
        </p:nvSpPr>
        <p:spPr>
          <a:xfrm>
            <a:off x="8232648"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1 · Environmental solutions</a:t>
            </a:r>
            <a:endParaRPr lang="en-US" sz="950" dirty="0"/>
          </a:p>
        </p:txBody>
      </p:sp>
      <p:sp>
        <p:nvSpPr>
          <p:cNvPr id="20" name="Shape 17"/>
          <p:cNvSpPr/>
          <p:nvPr/>
        </p:nvSpPr>
        <p:spPr>
          <a:xfrm>
            <a:off x="8232648" y="2377440"/>
            <a:ext cx="3361944"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8324088"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إِعَادَةُ التَّدْوِيرِ</a:t>
            </a:r>
            <a:endParaRPr lang="ar-SA" sz="1800" dirty="0"/>
          </a:p>
        </p:txBody>
      </p:sp>
      <p:sp>
        <p:nvSpPr>
          <p:cNvPr id="22" name="Shape 19"/>
          <p:cNvSpPr/>
          <p:nvPr/>
        </p:nvSpPr>
        <p:spPr>
          <a:xfrm>
            <a:off x="8232648" y="2889504"/>
            <a:ext cx="3361944"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8324088"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الطَّاقَةُ الشَّمْسِيَّةُ</a:t>
            </a:r>
            <a:endParaRPr lang="ar-SA" sz="1800" dirty="0"/>
          </a:p>
        </p:txBody>
      </p:sp>
      <p:sp>
        <p:nvSpPr>
          <p:cNvPr id="24" name="Shape 21"/>
          <p:cNvSpPr/>
          <p:nvPr/>
        </p:nvSpPr>
        <p:spPr>
          <a:xfrm>
            <a:off x="8232648" y="3401568"/>
            <a:ext cx="3361944" cy="438912"/>
          </a:xfrm>
          <a:prstGeom prst="roundRect">
            <a:avLst>
              <a:gd name="adj" fmla="val 12500"/>
            </a:avLst>
          </a:prstGeom>
          <a:solidFill>
            <a:srgbClr val="FFF4DC"/>
          </a:solidFill>
          <a:ln w="9525">
            <a:solidFill>
              <a:srgbClr val="E6C98A"/>
            </a:solidFill>
            <a:prstDash val="solid"/>
          </a:ln>
        </p:spPr>
      </p:sp>
      <p:sp>
        <p:nvSpPr>
          <p:cNvPr id="25" name="Text 22"/>
          <p:cNvSpPr txBox="1"/>
          <p:nvPr/>
        </p:nvSpPr>
        <p:spPr>
          <a:xfrm>
            <a:off x="8324088"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الطَّاقَةُ المُتَجَدِّدَةُ</a:t>
            </a:r>
            <a:endParaRPr lang="ar-SA" sz="1800" dirty="0"/>
          </a:p>
        </p:txBody>
      </p:sp>
      <p:sp>
        <p:nvSpPr>
          <p:cNvPr id="26" name="Shape 23"/>
          <p:cNvSpPr/>
          <p:nvPr/>
        </p:nvSpPr>
        <p:spPr>
          <a:xfrm>
            <a:off x="4276344" y="1810512"/>
            <a:ext cx="3636264" cy="4498848"/>
          </a:xfrm>
          <a:prstGeom prst="roundRect">
            <a:avLst>
              <a:gd name="adj" fmla="val 2012"/>
            </a:avLst>
          </a:prstGeom>
          <a:solidFill>
            <a:srgbClr val="EEF3FA"/>
          </a:solidFill>
          <a:ln w="9525">
            <a:solidFill>
              <a:srgbClr val="C9D6EA"/>
            </a:solidFill>
            <a:prstDash val="solid"/>
          </a:ln>
        </p:spPr>
      </p:sp>
      <p:sp>
        <p:nvSpPr>
          <p:cNvPr id="27" name="Shape 24"/>
          <p:cNvSpPr/>
          <p:nvPr/>
        </p:nvSpPr>
        <p:spPr>
          <a:xfrm>
            <a:off x="4413504" y="1920240"/>
            <a:ext cx="3361944" cy="310896"/>
          </a:xfrm>
          <a:prstGeom prst="roundRect">
            <a:avLst>
              <a:gd name="adj" fmla="val 50000"/>
            </a:avLst>
          </a:prstGeom>
          <a:solidFill>
            <a:srgbClr val="2F6FB0"/>
          </a:solidFill>
          <a:ln w="12700">
            <a:solidFill>
              <a:srgbClr val="2F6FB0"/>
            </a:solidFill>
            <a:prstDash val="solid"/>
          </a:ln>
        </p:spPr>
      </p:sp>
      <p:sp>
        <p:nvSpPr>
          <p:cNvPr id="28" name="Text 25"/>
          <p:cNvSpPr txBox="1"/>
          <p:nvPr/>
        </p:nvSpPr>
        <p:spPr>
          <a:xfrm>
            <a:off x="4413504"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2 · Action verbs</a:t>
            </a:r>
            <a:endParaRPr lang="en-US" sz="950" dirty="0"/>
          </a:p>
        </p:txBody>
      </p:sp>
      <p:sp>
        <p:nvSpPr>
          <p:cNvPr id="29" name="Shape 26"/>
          <p:cNvSpPr/>
          <p:nvPr/>
        </p:nvSpPr>
        <p:spPr>
          <a:xfrm>
            <a:off x="4413504" y="2377440"/>
            <a:ext cx="3361944"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4504944"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نَزْرَعُ</a:t>
            </a:r>
            <a:endParaRPr lang="ar-SA" sz="1800" dirty="0"/>
          </a:p>
        </p:txBody>
      </p:sp>
      <p:sp>
        <p:nvSpPr>
          <p:cNvPr id="31" name="Shape 28"/>
          <p:cNvSpPr/>
          <p:nvPr/>
        </p:nvSpPr>
        <p:spPr>
          <a:xfrm>
            <a:off x="4413504" y="2889504"/>
            <a:ext cx="3361944"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4504944"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نُوَفِّرُ</a:t>
            </a:r>
            <a:endParaRPr lang="ar-SA" sz="1800" dirty="0"/>
          </a:p>
        </p:txBody>
      </p:sp>
      <p:sp>
        <p:nvSpPr>
          <p:cNvPr id="33" name="Shape 30"/>
          <p:cNvSpPr/>
          <p:nvPr/>
        </p:nvSpPr>
        <p:spPr>
          <a:xfrm>
            <a:off x="4413504" y="3401568"/>
            <a:ext cx="3361944" cy="438912"/>
          </a:xfrm>
          <a:prstGeom prst="roundRect">
            <a:avLst>
              <a:gd name="adj" fmla="val 12500"/>
            </a:avLst>
          </a:prstGeom>
          <a:solidFill>
            <a:srgbClr val="FFF4DC"/>
          </a:solidFill>
          <a:ln w="9525">
            <a:solidFill>
              <a:srgbClr val="E6C98A"/>
            </a:solidFill>
            <a:prstDash val="solid"/>
          </a:ln>
        </p:spPr>
      </p:sp>
      <p:sp>
        <p:nvSpPr>
          <p:cNvPr id="34" name="Text 31"/>
          <p:cNvSpPr txBox="1"/>
          <p:nvPr/>
        </p:nvSpPr>
        <p:spPr>
          <a:xfrm>
            <a:off x="4504944"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نُقَلِّلُ مِنْ</a:t>
            </a:r>
            <a:endParaRPr lang="ar-SA" sz="1800" dirty="0"/>
          </a:p>
        </p:txBody>
      </p:sp>
      <p:sp>
        <p:nvSpPr>
          <p:cNvPr id="35" name="Shape 32"/>
          <p:cNvSpPr/>
          <p:nvPr/>
        </p:nvSpPr>
        <p:spPr>
          <a:xfrm>
            <a:off x="457200" y="1810512"/>
            <a:ext cx="3636264" cy="4498848"/>
          </a:xfrm>
          <a:prstGeom prst="roundRect">
            <a:avLst>
              <a:gd name="adj" fmla="val 2012"/>
            </a:avLst>
          </a:prstGeom>
          <a:solidFill>
            <a:srgbClr val="EEF3FA"/>
          </a:solidFill>
          <a:ln w="9525">
            <a:solidFill>
              <a:srgbClr val="C9D6EA"/>
            </a:solidFill>
            <a:prstDash val="solid"/>
          </a:ln>
        </p:spPr>
      </p:sp>
      <p:sp>
        <p:nvSpPr>
          <p:cNvPr id="36" name="Shape 33"/>
          <p:cNvSpPr/>
          <p:nvPr/>
        </p:nvSpPr>
        <p:spPr>
          <a:xfrm>
            <a:off x="594360" y="1920240"/>
            <a:ext cx="3361944" cy="310896"/>
          </a:xfrm>
          <a:prstGeom prst="roundRect">
            <a:avLst>
              <a:gd name="adj" fmla="val 50000"/>
            </a:avLst>
          </a:prstGeom>
          <a:solidFill>
            <a:srgbClr val="2F6FB0"/>
          </a:solidFill>
          <a:ln w="12700">
            <a:solidFill>
              <a:srgbClr val="2F6FB0"/>
            </a:solidFill>
            <a:prstDash val="solid"/>
          </a:ln>
        </p:spPr>
      </p:sp>
      <p:sp>
        <p:nvSpPr>
          <p:cNvPr id="37" name="Text 34"/>
          <p:cNvSpPr txBox="1"/>
          <p:nvPr/>
        </p:nvSpPr>
        <p:spPr>
          <a:xfrm>
            <a:off x="594360"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3 · Advice, obligation and purpose</a:t>
            </a:r>
            <a:endParaRPr lang="en-US" sz="950" dirty="0"/>
          </a:p>
        </p:txBody>
      </p:sp>
      <p:sp>
        <p:nvSpPr>
          <p:cNvPr id="38" name="Shape 35"/>
          <p:cNvSpPr/>
          <p:nvPr/>
        </p:nvSpPr>
        <p:spPr>
          <a:xfrm>
            <a:off x="594360" y="2377440"/>
            <a:ext cx="3361944" cy="438912"/>
          </a:xfrm>
          <a:prstGeom prst="roundRect">
            <a:avLst>
              <a:gd name="adj" fmla="val 12500"/>
            </a:avLst>
          </a:prstGeom>
          <a:solidFill>
            <a:srgbClr val="FFF4DC"/>
          </a:solidFill>
          <a:ln w="9525">
            <a:solidFill>
              <a:srgbClr val="E6C98A"/>
            </a:solidFill>
            <a:prstDash val="solid"/>
          </a:ln>
        </p:spPr>
      </p:sp>
      <p:sp>
        <p:nvSpPr>
          <p:cNvPr id="39" name="Text 36"/>
          <p:cNvSpPr txBox="1"/>
          <p:nvPr/>
        </p:nvSpPr>
        <p:spPr>
          <a:xfrm>
            <a:off x="685800"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يَنْبَغِي أَنْ</a:t>
            </a:r>
            <a:endParaRPr lang="ar-SA" sz="1800" dirty="0"/>
          </a:p>
        </p:txBody>
      </p:sp>
      <p:sp>
        <p:nvSpPr>
          <p:cNvPr id="40" name="Shape 37"/>
          <p:cNvSpPr/>
          <p:nvPr/>
        </p:nvSpPr>
        <p:spPr>
          <a:xfrm>
            <a:off x="594360" y="2889504"/>
            <a:ext cx="3361944" cy="438912"/>
          </a:xfrm>
          <a:prstGeom prst="roundRect">
            <a:avLst>
              <a:gd name="adj" fmla="val 12500"/>
            </a:avLst>
          </a:prstGeom>
          <a:solidFill>
            <a:srgbClr val="FFF4DC"/>
          </a:solidFill>
          <a:ln w="9525">
            <a:solidFill>
              <a:srgbClr val="E6C98A"/>
            </a:solidFill>
            <a:prstDash val="solid"/>
          </a:ln>
        </p:spPr>
      </p:sp>
      <p:sp>
        <p:nvSpPr>
          <p:cNvPr id="41" name="Text 38"/>
          <p:cNvSpPr txBox="1"/>
          <p:nvPr/>
        </p:nvSpPr>
        <p:spPr>
          <a:xfrm>
            <a:off x="685800"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يُمْكِنُ أَنْ</a:t>
            </a:r>
            <a:endParaRPr lang="ar-SA" sz="1800" dirty="0"/>
          </a:p>
        </p:txBody>
      </p:sp>
      <p:sp>
        <p:nvSpPr>
          <p:cNvPr id="42" name="Shape 39"/>
          <p:cNvSpPr/>
          <p:nvPr/>
        </p:nvSpPr>
        <p:spPr>
          <a:xfrm>
            <a:off x="594360" y="3401568"/>
            <a:ext cx="3361944" cy="438912"/>
          </a:xfrm>
          <a:prstGeom prst="roundRect">
            <a:avLst>
              <a:gd name="adj" fmla="val 12500"/>
            </a:avLst>
          </a:prstGeom>
          <a:solidFill>
            <a:srgbClr val="FFF4DC"/>
          </a:solidFill>
          <a:ln w="9525">
            <a:solidFill>
              <a:srgbClr val="E6C98A"/>
            </a:solidFill>
            <a:prstDash val="solid"/>
          </a:ln>
        </p:spPr>
      </p:sp>
      <p:sp>
        <p:nvSpPr>
          <p:cNvPr id="43" name="Text 40"/>
          <p:cNvSpPr txBox="1"/>
          <p:nvPr/>
        </p:nvSpPr>
        <p:spPr>
          <a:xfrm>
            <a:off x="685800"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يَجِبُ عَلَى ... أَنْ</a:t>
            </a:r>
            <a:endParaRPr lang="ar-SA"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26 / 46</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TC-L05 · Environmental Solutions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ea typeface="Calibri" pitchFamily="34" charset="-122"/>
                <a:cs typeface="Calibri" pitchFamily="34" charset="-120"/>
              </a:rPr>
              <a:t>WE DO · GUIDED PRACTICE · WEBSITE QUIZ QUESTIONS 2, 5, 7, 8 (STRETCH)</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2 · Lesson 2 of 3</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explanation of </a:t>
            </a:r>
            <a:pPr algn="l" indent="0" marL="0">
              <a:buNone/>
            </a:pPr>
            <a:r>
              <a:rPr lang="ar-SA" altLang="en-US" sz="1650" b="1" dirty="0">
                <a:solidFill>
                  <a:srgbClr val="1B3B6F"/>
                </a:solidFill>
                <a:latin typeface="Amiri" pitchFamily="34" charset="0"/>
                <a:ea typeface="Amiri" pitchFamily="34" charset="-122"/>
                <a:cs typeface="Amiri" pitchFamily="34" charset="-120"/>
              </a:rPr>
              <a:t>نُقَلِّلَ</a:t>
            </a:r>
            <a:pPr algn="l" indent="0" marL="0">
              <a:buNone/>
            </a:pPr>
            <a:r>
              <a:rPr lang="en-US" sz="1250" b="1" dirty="0">
                <a:solidFill>
                  <a:srgbClr val="1B3B6F"/>
                </a:solidFill>
                <a:latin typeface="Calibri" pitchFamily="34" charset="0"/>
                <a:ea typeface="Calibri" pitchFamily="34" charset="-122"/>
                <a:cs typeface="Calibri" pitchFamily="34" charset="-120"/>
              </a:rPr>
              <a:t> is accurate?</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3" name="Text 20"/>
          <p:cNvSpPr txBox="1"/>
          <p:nvPr/>
        </p:nvSpPr>
        <p:spPr>
          <a:xfrm>
            <a:off x="969264" y="24323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It is a past-tense verb.</a:t>
            </a:r>
            <a:endParaRPr lang="en-US" sz="12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6" name="Text 23"/>
          <p:cNvSpPr txBox="1"/>
          <p:nvPr/>
        </p:nvSpPr>
        <p:spPr>
          <a:xfrm>
            <a:off x="969264" y="28895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It is one of the five verbs and loses a final nūn.</a:t>
            </a:r>
            <a:endParaRPr lang="en-US" sz="12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9" name="Text 26"/>
          <p:cNvSpPr txBox="1"/>
          <p:nvPr/>
        </p:nvSpPr>
        <p:spPr>
          <a:xfrm>
            <a:off x="969264" y="33467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It is a sound-ending present verb marked with fatḥa after </a:t>
            </a:r>
            <a:pPr algn="l" indent="0" marL="0">
              <a:buNone/>
            </a:pPr>
            <a:r>
              <a:rPr lang="ar-SA" altLang="en-US" sz="1650" dirty="0">
                <a:solidFill>
                  <a:srgbClr val="1F2A37"/>
                </a:solidFill>
                <a:latin typeface="Amiri" pitchFamily="34" charset="0"/>
                <a:ea typeface="Amiri" pitchFamily="34" charset="-122"/>
                <a:cs typeface="Amiri" pitchFamily="34" charset="-120"/>
              </a:rPr>
              <a:t>أَنْ</a:t>
            </a:r>
            <a:pPr algn="l" indent="0" marL="0">
              <a:buNone/>
            </a:pPr>
            <a:r>
              <a:rPr lang="en-US" sz="1250" dirty="0">
                <a:solidFill>
                  <a:srgbClr val="1F2A37"/>
                </a:solidFill>
                <a:latin typeface="Calibri" pitchFamily="34" charset="0"/>
                <a:ea typeface="Calibri" pitchFamily="34" charset="-122"/>
                <a:cs typeface="Calibri" pitchFamily="34" charset="-120"/>
              </a:rPr>
              <a:t>.</a:t>
            </a:r>
            <a:endParaRPr lang="en-US" sz="12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five-verb form is correct after </a:t>
            </a:r>
            <a:pPr algn="l" indent="0" marL="0">
              <a:buNone/>
            </a:pPr>
            <a:r>
              <a:rPr lang="ar-SA" altLang="en-US" sz="1650" b="1" dirty="0">
                <a:solidFill>
                  <a:srgbClr val="1B3B6F"/>
                </a:solidFill>
                <a:latin typeface="Amiri" pitchFamily="34" charset="0"/>
                <a:ea typeface="Amiri" pitchFamily="34" charset="-122"/>
                <a:cs typeface="Amiri" pitchFamily="34" charset="-120"/>
              </a:rPr>
              <a:t>أَنْ</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34" name="Shape 31"/>
          <p:cNvSpPr/>
          <p:nvPr/>
        </p:nvSpPr>
        <p:spPr>
          <a:xfrm>
            <a:off x="6368796"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6" name="Text 33"/>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أَنْ يُعِيدُوْنَ التَّدْوِيرَ</a:t>
            </a:r>
            <a:endParaRPr lang="ar-SA" sz="2050" dirty="0"/>
          </a:p>
        </p:txBody>
      </p:sp>
      <p:sp>
        <p:nvSpPr>
          <p:cNvPr id="37" name="Shape 34"/>
          <p:cNvSpPr/>
          <p:nvPr/>
        </p:nvSpPr>
        <p:spPr>
          <a:xfrm>
            <a:off x="6368796"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9" name="Text 36"/>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أَنْ يُعِيدُوا التَّدْوِيرَ</a:t>
            </a:r>
            <a:endParaRPr lang="ar-SA" sz="2050" dirty="0"/>
          </a:p>
        </p:txBody>
      </p:sp>
      <p:sp>
        <p:nvSpPr>
          <p:cNvPr id="40" name="Shape 37"/>
          <p:cNvSpPr/>
          <p:nvPr/>
        </p:nvSpPr>
        <p:spPr>
          <a:xfrm>
            <a:off x="6368796"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2" name="Text 39"/>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أَنْ يُعِيدُونَ التَّدْوِيرَ</a:t>
            </a:r>
            <a:endParaRPr lang="ar-SA" sz="2050" dirty="0"/>
          </a:p>
        </p:txBody>
      </p:sp>
      <p:sp>
        <p:nvSpPr>
          <p:cNvPr id="43" name="Shape 40"/>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85216" y="4288536"/>
            <a:ext cx="310896" cy="310896"/>
          </a:xfrm>
          <a:prstGeom prst="ellipse">
            <a:avLst/>
          </a:prstGeom>
          <a:solidFill>
            <a:srgbClr val="1B3B6F"/>
          </a:solidFill>
          <a:ln w="12700">
            <a:solidFill>
              <a:srgbClr val="1B3B6F"/>
            </a:solidFill>
            <a:prstDash val="solid"/>
          </a:ln>
        </p:spPr>
      </p:sp>
      <p:sp>
        <p:nvSpPr>
          <p:cNvPr id="45" name="Text 4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sp>
        <p:nvSpPr>
          <p:cNvPr id="46" name="Text 43"/>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accurate sentence with a plural addressee.</a:t>
            </a:r>
            <a:endParaRPr lang="en-US" sz="1250" dirty="0"/>
          </a:p>
        </p:txBody>
      </p:sp>
      <p:sp>
        <p:nvSpPr>
          <p:cNvPr id="47" name="Shape 44"/>
          <p:cNvSpPr/>
          <p:nvPr/>
        </p:nvSpPr>
        <p:spPr>
          <a:xfrm>
            <a:off x="640080" y="4873752"/>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9" name="Text 46"/>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يَجِبُ عَلَيْكُمْ أَنْ تُقَلِّلُونَ النُّفَايَاتِ.</a:t>
            </a:r>
            <a:endParaRPr lang="ar-SA" sz="2050" dirty="0"/>
          </a:p>
        </p:txBody>
      </p:sp>
      <p:sp>
        <p:nvSpPr>
          <p:cNvPr id="50" name="Shape 47"/>
          <p:cNvSpPr/>
          <p:nvPr/>
        </p:nvSpPr>
        <p:spPr>
          <a:xfrm>
            <a:off x="640080" y="5330952"/>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2" name="Text 49"/>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يَجِبُ عَلَيْكُمْ أَنْ تُقَلِّلُوا النُّفَايَاتِ.</a:t>
            </a:r>
            <a:endParaRPr lang="ar-SA" sz="2050" dirty="0"/>
          </a:p>
        </p:txBody>
      </p:sp>
      <p:sp>
        <p:nvSpPr>
          <p:cNvPr id="53" name="Shape 50"/>
          <p:cNvSpPr/>
          <p:nvPr/>
        </p:nvSpPr>
        <p:spPr>
          <a:xfrm>
            <a:off x="640080" y="5788152"/>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5" name="Text 52"/>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يَجِبُ عَلَيْكُمْ تُقَلِّلُوا النُّفَايَاتِ.</a:t>
            </a:r>
            <a:endParaRPr lang="ar-SA" sz="2050" dirty="0"/>
          </a:p>
        </p:txBody>
      </p:sp>
      <p:sp>
        <p:nvSpPr>
          <p:cNvPr id="56" name="Shape 53"/>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6313932"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8</a:t>
            </a:r>
            <a:endParaRPr lang="en-US" sz="1100" dirty="0"/>
          </a:p>
        </p:txBody>
      </p:sp>
      <p:sp>
        <p:nvSpPr>
          <p:cNvPr id="59" name="Text 56"/>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sentence clearly states purpose rather than cause?</a:t>
            </a:r>
            <a:endParaRPr lang="en-US" sz="1250" dirty="0"/>
          </a:p>
        </p:txBody>
      </p:sp>
      <p:sp>
        <p:nvSpPr>
          <p:cNvPr id="60" name="Shape 57"/>
          <p:cNvSpPr/>
          <p:nvPr/>
        </p:nvSpPr>
        <p:spPr>
          <a:xfrm>
            <a:off x="6368796"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2" name="Text 59"/>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يُؤَدِّي الجَفَافُ إِلَى نُقْصَانِ المَاءِ.</a:t>
            </a:r>
            <a:endParaRPr lang="ar-SA" sz="2050" dirty="0"/>
          </a:p>
        </p:txBody>
      </p:sp>
      <p:sp>
        <p:nvSpPr>
          <p:cNvPr id="63" name="Shape 60"/>
          <p:cNvSpPr/>
          <p:nvPr/>
        </p:nvSpPr>
        <p:spPr>
          <a:xfrm>
            <a:off x="6368796"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5" name="Text 62"/>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نُرَشِّدُ المَاءَ بِسَبَبِ الجَفَافِ.</a:t>
            </a:r>
            <a:endParaRPr lang="ar-SA" sz="2050" dirty="0"/>
          </a:p>
        </p:txBody>
      </p:sp>
      <p:sp>
        <p:nvSpPr>
          <p:cNvPr id="66" name="Shape 63"/>
          <p:cNvSpPr/>
          <p:nvPr/>
        </p:nvSpPr>
        <p:spPr>
          <a:xfrm>
            <a:off x="6368796"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8" name="Text 65"/>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نُرَشِّدُ المَاءَ لِكَيْ نَحْمِيَ المَوَارِدَ.</a:t>
            </a:r>
            <a:endParaRPr lang="ar-SA" sz="2050" dirty="0"/>
          </a:p>
        </p:txBody>
      </p:sp>
      <p:sp>
        <p:nvSpPr>
          <p:cNvPr id="69" name="Text 6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27 / 46</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TC-L05 · Environmental Solutions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2 · Lesson 2 of 3</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explanation of </a:t>
            </a:r>
            <a:pPr algn="l" indent="0" marL="0">
              <a:buNone/>
            </a:pPr>
            <a:r>
              <a:rPr lang="ar-SA" altLang="en-US" sz="1650" b="1" dirty="0">
                <a:solidFill>
                  <a:srgbClr val="1B3B6F"/>
                </a:solidFill>
                <a:latin typeface="Amiri" pitchFamily="34" charset="0"/>
                <a:ea typeface="Amiri" pitchFamily="34" charset="-122"/>
                <a:cs typeface="Amiri" pitchFamily="34" charset="-120"/>
              </a:rPr>
              <a:t>نُقَلِّلَ</a:t>
            </a:r>
            <a:pPr algn="l" indent="0" marL="0">
              <a:buNone/>
            </a:pPr>
            <a:r>
              <a:rPr lang="en-US" sz="1250" b="1" dirty="0">
                <a:solidFill>
                  <a:srgbClr val="1B3B6F"/>
                </a:solidFill>
                <a:latin typeface="Calibri" pitchFamily="34" charset="0"/>
                <a:ea typeface="Calibri" pitchFamily="34" charset="-122"/>
                <a:cs typeface="Calibri" pitchFamily="34" charset="-120"/>
              </a:rPr>
              <a:t> is accurate?</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3" name="Text 20"/>
          <p:cNvSpPr txBox="1"/>
          <p:nvPr/>
        </p:nvSpPr>
        <p:spPr>
          <a:xfrm>
            <a:off x="969264" y="2432304"/>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It is a past-tense verb.</a:t>
            </a:r>
            <a:endParaRPr lang="en-US" sz="1250" dirty="0"/>
          </a:p>
        </p:txBody>
      </p:sp>
      <p:sp>
        <p:nvSpPr>
          <p:cNvPr id="24" name="Shape 21"/>
          <p:cNvSpPr/>
          <p:nvPr/>
        </p:nvSpPr>
        <p:spPr>
          <a:xfrm>
            <a:off x="640080" y="2862072"/>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6" name="Text 23"/>
          <p:cNvSpPr txBox="1"/>
          <p:nvPr/>
        </p:nvSpPr>
        <p:spPr>
          <a:xfrm>
            <a:off x="969264" y="280416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It is one of the five verbs and loses a final nūn.</a:t>
            </a:r>
            <a:endParaRPr lang="en-US" sz="1250" dirty="0"/>
          </a:p>
        </p:txBody>
      </p:sp>
      <p:sp>
        <p:nvSpPr>
          <p:cNvPr id="27" name="Shape 24"/>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8" name="Shape 25"/>
          <p:cNvSpPr/>
          <p:nvPr/>
        </p:nvSpPr>
        <p:spPr>
          <a:xfrm>
            <a:off x="640080" y="3233928"/>
            <a:ext cx="256032" cy="256032"/>
          </a:xfrm>
          <a:prstGeom prst="ellipse">
            <a:avLst/>
          </a:prstGeom>
          <a:solidFill>
            <a:srgbClr val="2E8B57"/>
          </a:solidFill>
          <a:ln w="12700">
            <a:solidFill>
              <a:srgbClr val="2E8B57"/>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30" name="Text 27"/>
          <p:cNvSpPr txBox="1"/>
          <p:nvPr/>
        </p:nvSpPr>
        <p:spPr>
          <a:xfrm>
            <a:off x="969264" y="3176016"/>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It is a sound-ending present verb marked with fatḥa after </a:t>
            </a:r>
            <a:pPr algn="l" indent="0" marL="0">
              <a:buNone/>
            </a:pPr>
            <a:r>
              <a:rPr lang="ar-SA" altLang="en-US" sz="1650" b="1" dirty="0">
                <a:solidFill>
                  <a:srgbClr val="1F2A37"/>
                </a:solidFill>
                <a:latin typeface="Amiri" pitchFamily="34" charset="0"/>
                <a:ea typeface="Amiri" pitchFamily="34" charset="-122"/>
                <a:cs typeface="Amiri" pitchFamily="34" charset="-120"/>
              </a:rPr>
              <a:t>أَنْ</a:t>
            </a:r>
            <a:pPr algn="l" indent="0" marL="0">
              <a:buNone/>
            </a:pPr>
            <a:r>
              <a:rPr lang="en-US" sz="1250" b="1" dirty="0">
                <a:solidFill>
                  <a:srgbClr val="1F2A37"/>
                </a:solidFill>
                <a:latin typeface="Calibri" pitchFamily="34" charset="0"/>
                <a:ea typeface="Calibri" pitchFamily="34" charset="-122"/>
                <a:cs typeface="Calibri" pitchFamily="34" charset="-120"/>
              </a:rPr>
              <a:t>.</a:t>
            </a:r>
            <a:endParaRPr lang="en-US" sz="1250" dirty="0"/>
          </a:p>
        </p:txBody>
      </p:sp>
      <p:sp>
        <p:nvSpPr>
          <p:cNvPr id="31" name="Text 28"/>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نقلل</a:t>
            </a:r>
            <a:pPr algn="l" indent="0" marL="0">
              <a:buNone/>
            </a:pPr>
            <a:r>
              <a:rPr lang="en-US" sz="1050" i="1" dirty="0">
                <a:solidFill>
                  <a:srgbClr val="8A6D1E"/>
                </a:solidFill>
                <a:latin typeface="Calibri" pitchFamily="34" charset="0"/>
                <a:ea typeface="Calibri" pitchFamily="34" charset="-122"/>
                <a:cs typeface="Calibri" pitchFamily="34" charset="-120"/>
              </a:rPr>
              <a:t> is not one of the five verbs; it simply takes the visible subjunctive fatḥa.</a:t>
            </a:r>
            <a:endParaRPr lang="en-US" sz="1050" dirty="0"/>
          </a:p>
        </p:txBody>
      </p:sp>
      <p:sp>
        <p:nvSpPr>
          <p:cNvPr id="32" name="Shape 29"/>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6313932"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35" name="Text 32"/>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five-verb form is correct after </a:t>
            </a:r>
            <a:pPr algn="l" indent="0" marL="0">
              <a:buNone/>
            </a:pPr>
            <a:r>
              <a:rPr lang="ar-SA" altLang="en-US" sz="1650" b="1" dirty="0">
                <a:solidFill>
                  <a:srgbClr val="1B3B6F"/>
                </a:solidFill>
                <a:latin typeface="Amiri" pitchFamily="34" charset="0"/>
                <a:ea typeface="Amiri" pitchFamily="34" charset="-122"/>
                <a:cs typeface="Amiri" pitchFamily="34" charset="-120"/>
              </a:rPr>
              <a:t>أَنْ</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36" name="Shape 33"/>
          <p:cNvSpPr/>
          <p:nvPr/>
        </p:nvSpPr>
        <p:spPr>
          <a:xfrm>
            <a:off x="6368796"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8" name="Text 35"/>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أَنْ يُعِيدُوْنَ التَّدْوِيرَ</a:t>
            </a:r>
            <a:endParaRPr lang="ar-SA" sz="1700" dirty="0"/>
          </a:p>
        </p:txBody>
      </p:sp>
      <p:sp>
        <p:nvSpPr>
          <p:cNvPr id="39" name="Shape 36"/>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0" name="Shape 37"/>
          <p:cNvSpPr/>
          <p:nvPr/>
        </p:nvSpPr>
        <p:spPr>
          <a:xfrm>
            <a:off x="6368796" y="2862072"/>
            <a:ext cx="256032" cy="256032"/>
          </a:xfrm>
          <a:prstGeom prst="ellipse">
            <a:avLst/>
          </a:prstGeom>
          <a:solidFill>
            <a:srgbClr val="2E8B57"/>
          </a:solidFill>
          <a:ln w="12700">
            <a:solidFill>
              <a:srgbClr val="2E8B57"/>
            </a:solidFill>
            <a:prstDash val="solid"/>
          </a:ln>
        </p:spPr>
      </p:sp>
      <p:sp>
        <p:nvSpPr>
          <p:cNvPr id="41" name="Text 38"/>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42" name="Text 39"/>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أَنْ يُعِيدُوا التَّدْوِيرَ</a:t>
            </a:r>
            <a:endParaRPr lang="ar-SA" sz="1700" dirty="0"/>
          </a:p>
        </p:txBody>
      </p:sp>
      <p:sp>
        <p:nvSpPr>
          <p:cNvPr id="43" name="Shape 40"/>
          <p:cNvSpPr/>
          <p:nvPr/>
        </p:nvSpPr>
        <p:spPr>
          <a:xfrm>
            <a:off x="6368796" y="323392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5" name="Text 42"/>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أَنْ يُعِيدُونَ التَّدْوِيرَ</a:t>
            </a:r>
            <a:endParaRPr lang="ar-SA" sz="1700" dirty="0"/>
          </a:p>
        </p:txBody>
      </p:sp>
      <p:sp>
        <p:nvSpPr>
          <p:cNvPr id="46" name="Text 43"/>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The nūn is omitted from </a:t>
            </a:r>
            <a:pPr algn="l" indent="0" marL="0">
              <a:buNone/>
            </a:pPr>
            <a:r>
              <a:rPr lang="ar-SA" altLang="en-US" sz="1350" dirty="0">
                <a:solidFill>
                  <a:srgbClr val="8A6D1E"/>
                </a:solidFill>
                <a:latin typeface="Amiri" pitchFamily="34" charset="0"/>
                <a:ea typeface="Amiri" pitchFamily="34" charset="-122"/>
                <a:cs typeface="Amiri" pitchFamily="34" charset="-120"/>
              </a:rPr>
              <a:t>يعيدون</a:t>
            </a:r>
            <a:pPr algn="l" indent="0" marL="0">
              <a:buNone/>
            </a:pPr>
            <a:r>
              <a:rPr lang="en-US" sz="1050" i="1" dirty="0">
                <a:solidFill>
                  <a:srgbClr val="8A6D1E"/>
                </a:solidFill>
                <a:latin typeface="Calibri" pitchFamily="34" charset="0"/>
                <a:ea typeface="Calibri" pitchFamily="34" charset="-122"/>
                <a:cs typeface="Calibri" pitchFamily="34" charset="-120"/>
              </a:rPr>
              <a:t> after </a:t>
            </a:r>
            <a:pPr algn="l" indent="0" marL="0">
              <a:buNone/>
            </a:pPr>
            <a:r>
              <a:rPr lang="ar-SA" altLang="en-US" sz="1350" dirty="0">
                <a:solidFill>
                  <a:srgbClr val="8A6D1E"/>
                </a:solidFill>
                <a:latin typeface="Amiri" pitchFamily="34" charset="0"/>
                <a:ea typeface="Amiri" pitchFamily="34" charset="-122"/>
                <a:cs typeface="Amiri" pitchFamily="34" charset="-120"/>
              </a:rPr>
              <a:t>أن</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47" name="Shape 44"/>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585216" y="4288536"/>
            <a:ext cx="310896" cy="310896"/>
          </a:xfrm>
          <a:prstGeom prst="ellipse">
            <a:avLst/>
          </a:prstGeom>
          <a:solidFill>
            <a:srgbClr val="1B3B6F"/>
          </a:solidFill>
          <a:ln w="12700">
            <a:solidFill>
              <a:srgbClr val="1B3B6F"/>
            </a:solidFill>
            <a:prstDash val="solid"/>
          </a:ln>
        </p:spPr>
      </p:sp>
      <p:sp>
        <p:nvSpPr>
          <p:cNvPr id="49" name="Text 4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sp>
        <p:nvSpPr>
          <p:cNvPr id="50" name="Text 47"/>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accurate sentence with a plural addressee.</a:t>
            </a:r>
            <a:endParaRPr lang="en-US" sz="1250" dirty="0"/>
          </a:p>
        </p:txBody>
      </p:sp>
      <p:sp>
        <p:nvSpPr>
          <p:cNvPr id="51" name="Shape 48"/>
          <p:cNvSpPr/>
          <p:nvPr/>
        </p:nvSpPr>
        <p:spPr>
          <a:xfrm>
            <a:off x="640080" y="4831080"/>
            <a:ext cx="256032" cy="256032"/>
          </a:xfrm>
          <a:prstGeom prst="ellipse">
            <a:avLst/>
          </a:prstGeom>
          <a:solidFill>
            <a:srgbClr val="C9CED6"/>
          </a:solidFill>
          <a:ln w="12700">
            <a:solidFill>
              <a:srgbClr val="C9CED6"/>
            </a:solidFill>
            <a:prstDash val="solid"/>
          </a:ln>
        </p:spPr>
      </p:sp>
      <p:sp>
        <p:nvSpPr>
          <p:cNvPr id="52" name="Text 49"/>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3" name="Text 50"/>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يَجِبُ عَلَيْكُمْ أَنْ تُقَلِّلُونَ النُّفَايَاتِ.</a:t>
            </a:r>
            <a:endParaRPr lang="ar-SA" sz="1700" dirty="0"/>
          </a:p>
        </p:txBody>
      </p:sp>
      <p:sp>
        <p:nvSpPr>
          <p:cNvPr id="54" name="Shape 51"/>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5" name="Shape 52"/>
          <p:cNvSpPr/>
          <p:nvPr/>
        </p:nvSpPr>
        <p:spPr>
          <a:xfrm>
            <a:off x="640080" y="5202936"/>
            <a:ext cx="256032" cy="256032"/>
          </a:xfrm>
          <a:prstGeom prst="ellipse">
            <a:avLst/>
          </a:prstGeom>
          <a:solidFill>
            <a:srgbClr val="2E8B57"/>
          </a:solidFill>
          <a:ln w="12700">
            <a:solidFill>
              <a:srgbClr val="2E8B57"/>
            </a:solidFill>
            <a:prstDash val="solid"/>
          </a:ln>
        </p:spPr>
      </p:sp>
      <p:sp>
        <p:nvSpPr>
          <p:cNvPr id="56" name="Text 5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57" name="Text 54"/>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يَجِبُ عَلَيْكُمْ أَنْ تُقَلِّلُوا النُّفَايَاتِ.</a:t>
            </a:r>
            <a:endParaRPr lang="ar-SA" sz="1700" dirty="0"/>
          </a:p>
        </p:txBody>
      </p:sp>
      <p:sp>
        <p:nvSpPr>
          <p:cNvPr id="58" name="Shape 55"/>
          <p:cNvSpPr/>
          <p:nvPr/>
        </p:nvSpPr>
        <p:spPr>
          <a:xfrm>
            <a:off x="640080" y="5574792"/>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0" name="Text 57"/>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يَجِبُ عَلَيْكُمْ تُقَلِّلُوا النُّفَايَاتِ.</a:t>
            </a:r>
            <a:endParaRPr lang="ar-SA" sz="1700" dirty="0"/>
          </a:p>
        </p:txBody>
      </p:sp>
      <p:sp>
        <p:nvSpPr>
          <p:cNvPr id="61" name="Text 58"/>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تقللون</a:t>
            </a:r>
            <a:pPr algn="l" indent="0" marL="0">
              <a:buNone/>
            </a:pPr>
            <a:r>
              <a:rPr lang="en-US" sz="1050" i="1" dirty="0">
                <a:solidFill>
                  <a:srgbClr val="8A6D1E"/>
                </a:solidFill>
                <a:latin typeface="Calibri" pitchFamily="34" charset="0"/>
                <a:ea typeface="Calibri" pitchFamily="34" charset="-122"/>
                <a:cs typeface="Calibri" pitchFamily="34" charset="-120"/>
              </a:rPr>
              <a:t> is one of the five verbs; after </a:t>
            </a:r>
            <a:pPr algn="l" indent="0" marL="0">
              <a:buNone/>
            </a:pPr>
            <a:r>
              <a:rPr lang="ar-SA" altLang="en-US" sz="1350" dirty="0">
                <a:solidFill>
                  <a:srgbClr val="8A6D1E"/>
                </a:solidFill>
                <a:latin typeface="Amiri" pitchFamily="34" charset="0"/>
                <a:ea typeface="Amiri" pitchFamily="34" charset="-122"/>
                <a:cs typeface="Amiri" pitchFamily="34" charset="-120"/>
              </a:rPr>
              <a:t>أن</a:t>
            </a:r>
            <a:pPr algn="l" indent="0" marL="0">
              <a:buNone/>
            </a:pPr>
            <a:r>
              <a:rPr lang="en-US" sz="1050" i="1" dirty="0">
                <a:solidFill>
                  <a:srgbClr val="8A6D1E"/>
                </a:solidFill>
                <a:latin typeface="Calibri" pitchFamily="34" charset="0"/>
                <a:ea typeface="Calibri" pitchFamily="34" charset="-122"/>
                <a:cs typeface="Calibri" pitchFamily="34" charset="-120"/>
              </a:rPr>
              <a:t> it becomes </a:t>
            </a:r>
            <a:pPr algn="l" indent="0" marL="0">
              <a:buNone/>
            </a:pPr>
            <a:r>
              <a:rPr lang="ar-SA" altLang="en-US" sz="1350" dirty="0">
                <a:solidFill>
                  <a:srgbClr val="8A6D1E"/>
                </a:solidFill>
                <a:latin typeface="Amiri" pitchFamily="34" charset="0"/>
                <a:ea typeface="Amiri" pitchFamily="34" charset="-122"/>
                <a:cs typeface="Amiri" pitchFamily="34" charset="-120"/>
              </a:rPr>
              <a:t>تقللوا</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62" name="Shape 59"/>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6313932"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8</a:t>
            </a:r>
            <a:endParaRPr lang="en-US" sz="1100" dirty="0"/>
          </a:p>
        </p:txBody>
      </p:sp>
      <p:sp>
        <p:nvSpPr>
          <p:cNvPr id="65" name="Text 62"/>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sentence clearly states purpose rather than cause?</a:t>
            </a:r>
            <a:endParaRPr lang="en-US" sz="1250" dirty="0"/>
          </a:p>
        </p:txBody>
      </p:sp>
      <p:sp>
        <p:nvSpPr>
          <p:cNvPr id="66" name="Shape 63"/>
          <p:cNvSpPr/>
          <p:nvPr/>
        </p:nvSpPr>
        <p:spPr>
          <a:xfrm>
            <a:off x="6368796"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8" name="Text 65"/>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يُؤَدِّي الجَفَافُ إِلَى نُقْصَانِ المَاءِ.</a:t>
            </a:r>
            <a:endParaRPr lang="ar-SA" sz="1700" dirty="0"/>
          </a:p>
        </p:txBody>
      </p:sp>
      <p:sp>
        <p:nvSpPr>
          <p:cNvPr id="69" name="Shape 66"/>
          <p:cNvSpPr/>
          <p:nvPr/>
        </p:nvSpPr>
        <p:spPr>
          <a:xfrm>
            <a:off x="6368796" y="5202936"/>
            <a:ext cx="256032" cy="256032"/>
          </a:xfrm>
          <a:prstGeom prst="ellipse">
            <a:avLst/>
          </a:prstGeom>
          <a:solidFill>
            <a:srgbClr val="C9CED6"/>
          </a:solidFill>
          <a:ln w="12700">
            <a:solidFill>
              <a:srgbClr val="C9CED6"/>
            </a:solidFill>
            <a:prstDash val="solid"/>
          </a:ln>
        </p:spPr>
      </p:sp>
      <p:sp>
        <p:nvSpPr>
          <p:cNvPr id="70" name="Text 67"/>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1" name="Text 68"/>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نُرَشِّدُ المَاءَ بِسَبَبِ الجَفَافِ.</a:t>
            </a:r>
            <a:endParaRPr lang="ar-SA" sz="1700" dirty="0"/>
          </a:p>
        </p:txBody>
      </p:sp>
      <p:sp>
        <p:nvSpPr>
          <p:cNvPr id="72" name="Shape 69"/>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3" name="Shape 70"/>
          <p:cNvSpPr/>
          <p:nvPr/>
        </p:nvSpPr>
        <p:spPr>
          <a:xfrm>
            <a:off x="6368796" y="5574792"/>
            <a:ext cx="256032" cy="256032"/>
          </a:xfrm>
          <a:prstGeom prst="ellipse">
            <a:avLst/>
          </a:prstGeom>
          <a:solidFill>
            <a:srgbClr val="2E8B57"/>
          </a:solidFill>
          <a:ln w="12700">
            <a:solidFill>
              <a:srgbClr val="2E8B57"/>
            </a:solidFill>
            <a:prstDash val="solid"/>
          </a:ln>
        </p:spPr>
      </p:sp>
      <p:sp>
        <p:nvSpPr>
          <p:cNvPr id="74" name="Text 71"/>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75" name="Text 72"/>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نُرَشِّدُ المَاءَ لِكَيْ نَحْمِيَ المَوَارِدَ.</a:t>
            </a:r>
            <a:endParaRPr lang="ar-SA" sz="1700" dirty="0"/>
          </a:p>
        </p:txBody>
      </p:sp>
      <p:sp>
        <p:nvSpPr>
          <p:cNvPr id="76" name="Text 73"/>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لكي</a:t>
            </a:r>
            <a:pPr algn="l" indent="0" marL="0">
              <a:buNone/>
            </a:pPr>
            <a:r>
              <a:rPr lang="en-US" sz="1050" i="1" dirty="0">
                <a:solidFill>
                  <a:srgbClr val="8A6D1E"/>
                </a:solidFill>
                <a:latin typeface="Calibri" pitchFamily="34" charset="0"/>
                <a:ea typeface="Calibri" pitchFamily="34" charset="-122"/>
                <a:cs typeface="Calibri" pitchFamily="34" charset="-120"/>
              </a:rPr>
              <a:t> introduces the intended purpose.</a:t>
            </a:r>
            <a:endParaRPr lang="en-US" sz="1050" dirty="0"/>
          </a:p>
        </p:txBody>
      </p:sp>
      <p:sp>
        <p:nvSpPr>
          <p:cNvPr id="77" name="Text 7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28 / 46</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TC-L05 · Environmental Solutions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2 · Lesson 2 of 3</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34" charset="0"/>
                <a:ea typeface="Amiri" pitchFamily="34" charset="-122"/>
                <a:cs typeface="Amiri" pitchFamily="34" charset="-120"/>
              </a:rPr>
              <a:t>يَنْبَغِي أَنْ نُقَلِّلُ النُّفَايَاتِ.</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ea typeface="Calibri" pitchFamily="34" charset="-122"/>
                <a:cs typeface="Calibri" pitchFamily="34" charset="-120"/>
              </a:rPr>
              <a:t>What is wrong? Look at the last vowel of the verb after </a:t>
            </a:r>
            <a:pPr algn="l" indent="0" marL="0">
              <a:buNone/>
            </a:pPr>
            <a:r>
              <a:rPr lang="ar-SA" altLang="en-US" sz="1700" dirty="0">
                <a:solidFill>
                  <a:srgbClr val="5A6472"/>
                </a:solidFill>
                <a:latin typeface="Amiri" pitchFamily="34" charset="0"/>
                <a:ea typeface="Amiri" pitchFamily="34" charset="-122"/>
                <a:cs typeface="Amiri" pitchFamily="34" charset="-120"/>
              </a:rPr>
              <a:t>أَنْ</a:t>
            </a:r>
            <a:pPr algn="l" indent="0" marL="0">
              <a:buNone/>
            </a:pPr>
            <a:r>
              <a:rPr lang="en-US" sz="1300" i="1" dirty="0">
                <a:solidFill>
                  <a:srgbClr val="5A6472"/>
                </a:solidFill>
                <a:latin typeface="Calibri" pitchFamily="34" charset="0"/>
                <a:ea typeface="Calibri" pitchFamily="34" charset="-122"/>
                <a:cs typeface="Calibri" pitchFamily="34" charset="-120"/>
              </a:rPr>
              <a:t>.</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34" charset="0"/>
                <a:ea typeface="Amiri" pitchFamily="34" charset="-122"/>
                <a:cs typeface="Amiri" pitchFamily="34" charset="-120"/>
              </a:rPr>
              <a:t>يَجِبُ عَلَى النَّاسِ أَنْ يُعِيدُونَ التَّدْوِيرَ.</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ea typeface="Calibri" pitchFamily="34" charset="-122"/>
                <a:cs typeface="Calibri" pitchFamily="34" charset="-120"/>
              </a:rPr>
              <a:t>What is wrong? </a:t>
            </a:r>
            <a:pPr algn="l" indent="0" marL="0">
              <a:buNone/>
            </a:pPr>
            <a:r>
              <a:rPr lang="ar-SA" altLang="en-US" sz="1700" dirty="0">
                <a:solidFill>
                  <a:srgbClr val="5A6472"/>
                </a:solidFill>
                <a:latin typeface="Amiri" pitchFamily="34" charset="0"/>
                <a:ea typeface="Amiri" pitchFamily="34" charset="-122"/>
                <a:cs typeface="Amiri" pitchFamily="34" charset="-120"/>
              </a:rPr>
              <a:t>يُعِيدُونَ</a:t>
            </a:r>
            <a:pPr algn="l" indent="0" marL="0">
              <a:buNone/>
            </a:pPr>
            <a:r>
              <a:rPr lang="en-US" sz="1300" i="1" dirty="0">
                <a:solidFill>
                  <a:srgbClr val="5A6472"/>
                </a:solidFill>
                <a:latin typeface="Calibri" pitchFamily="34" charset="0"/>
                <a:ea typeface="Calibri" pitchFamily="34" charset="-122"/>
                <a:cs typeface="Calibri" pitchFamily="34" charset="-120"/>
              </a:rPr>
              <a:t> is one of the five verbs — what happens after </a:t>
            </a:r>
            <a:pPr algn="l" indent="0" marL="0">
              <a:buNone/>
            </a:pPr>
            <a:r>
              <a:rPr lang="ar-SA" altLang="en-US" sz="1700" dirty="0">
                <a:solidFill>
                  <a:srgbClr val="5A6472"/>
                </a:solidFill>
                <a:latin typeface="Amiri" pitchFamily="34" charset="0"/>
                <a:ea typeface="Amiri" pitchFamily="34" charset="-122"/>
                <a:cs typeface="Amiri" pitchFamily="34" charset="-120"/>
              </a:rPr>
              <a:t>أَنْ</a:t>
            </a:r>
            <a:pPr algn="l" indent="0" marL="0">
              <a:buNone/>
            </a:pPr>
            <a:r>
              <a:rPr lang="en-US" sz="1300" i="1" dirty="0">
                <a:solidFill>
                  <a:srgbClr val="5A6472"/>
                </a:solidFill>
                <a:latin typeface="Calibri" pitchFamily="34" charset="0"/>
                <a:ea typeface="Calibri" pitchFamily="34" charset="-122"/>
                <a:cs typeface="Calibri" pitchFamily="34" charset="-120"/>
              </a:rPr>
              <a:t>?</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34" charset="0"/>
                <a:ea typeface="Amiri" pitchFamily="34" charset="-122"/>
                <a:cs typeface="Amiri" pitchFamily="34" charset="-120"/>
              </a:rPr>
              <a:t>نَسْتَخْدِمُ الطَّاقَةَ الشَّمْسِيَّةَ لِكَيْ نُقَلِّلُ الانْبِعَاثَاتِ.</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ea typeface="Calibri" pitchFamily="34" charset="-122"/>
                <a:cs typeface="Calibri" pitchFamily="34" charset="-120"/>
              </a:rPr>
              <a:t>What is wrong? Look at the last vowel of the verb after </a:t>
            </a:r>
            <a:pPr algn="l" indent="0" marL="0">
              <a:buNone/>
            </a:pPr>
            <a:r>
              <a:rPr lang="ar-SA" altLang="en-US" sz="1700" dirty="0">
                <a:solidFill>
                  <a:srgbClr val="5A6472"/>
                </a:solidFill>
                <a:latin typeface="Amiri" pitchFamily="34" charset="0"/>
                <a:ea typeface="Amiri" pitchFamily="34" charset="-122"/>
                <a:cs typeface="Amiri" pitchFamily="34" charset="-120"/>
              </a:rPr>
              <a:t>لِكَيْ</a:t>
            </a:r>
            <a:pPr algn="l" indent="0" marL="0">
              <a:buNone/>
            </a:pPr>
            <a:r>
              <a:rPr lang="en-US" sz="1300" i="1" dirty="0">
                <a:solidFill>
                  <a:srgbClr val="5A6472"/>
                </a:solidFill>
                <a:latin typeface="Calibri" pitchFamily="34" charset="0"/>
                <a:ea typeface="Calibri" pitchFamily="34" charset="-122"/>
                <a:cs typeface="Calibri" pitchFamily="34" charset="-120"/>
              </a:rPr>
              <a:t>.</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29 / 46</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TC-L05 · Environmental Solutions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2 · Lesson 2 of 3</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34" charset="0"/>
                <a:ea typeface="Amiri" pitchFamily="34" charset="-122"/>
                <a:cs typeface="Amiri" pitchFamily="34" charset="-120"/>
              </a:rPr>
              <a:t>يَنْبَغِي أَنْ نُقَلِّلُ النُّفَايَاتِ.</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ea typeface="Calibri" pitchFamily="34" charset="-122"/>
                <a:cs typeface="Calibri" pitchFamily="34" charset="-120"/>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34" charset="0"/>
                <a:ea typeface="Amiri" pitchFamily="34" charset="-122"/>
                <a:cs typeface="Amiri" pitchFamily="34" charset="-120"/>
              </a:rPr>
              <a:t>يَنْبَغِي أَنْ نُقَلِّلَ النُّفَايَاتِ.</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34" charset="0"/>
                <a:ea typeface="Amiri" pitchFamily="34" charset="-122"/>
                <a:cs typeface="Amiri" pitchFamily="34" charset="-120"/>
              </a:rPr>
              <a:t>نُقَلِّلُ</a:t>
            </a:r>
            <a:pPr algn="l" indent="0" marL="0">
              <a:buNone/>
            </a:pPr>
            <a:r>
              <a:rPr lang="en-US" sz="1150" b="1" dirty="0">
                <a:solidFill>
                  <a:srgbClr val="1B3B6F"/>
                </a:solidFill>
                <a:latin typeface="Calibri" pitchFamily="34" charset="0"/>
                <a:ea typeface="Calibri" pitchFamily="34" charset="-122"/>
                <a:cs typeface="Calibri" pitchFamily="34" charset="-120"/>
              </a:rPr>
              <a:t> is a sound-ending verb; after </a:t>
            </a:r>
            <a:pPr algn="l" indent="0" marL="0">
              <a:buNone/>
            </a:pPr>
            <a:r>
              <a:rPr lang="ar-SA" altLang="en-US" sz="1500" b="1" dirty="0">
                <a:solidFill>
                  <a:srgbClr val="1B3B6F"/>
                </a:solidFill>
                <a:latin typeface="Amiri" pitchFamily="34" charset="0"/>
                <a:ea typeface="Amiri" pitchFamily="34" charset="-122"/>
                <a:cs typeface="Amiri" pitchFamily="34" charset="-120"/>
              </a:rPr>
              <a:t>أن</a:t>
            </a:r>
            <a:pPr algn="l" indent="0" marL="0">
              <a:buNone/>
            </a:pPr>
            <a:r>
              <a:rPr lang="en-US" sz="1150" b="1" dirty="0">
                <a:solidFill>
                  <a:srgbClr val="1B3B6F"/>
                </a:solidFill>
                <a:latin typeface="Calibri" pitchFamily="34" charset="0"/>
                <a:ea typeface="Calibri" pitchFamily="34" charset="-122"/>
                <a:cs typeface="Calibri" pitchFamily="34" charset="-120"/>
              </a:rPr>
              <a:t> it takes fatḥa.</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34" charset="0"/>
                <a:ea typeface="Amiri" pitchFamily="34" charset="-122"/>
                <a:cs typeface="Amiri" pitchFamily="34" charset="-120"/>
              </a:rPr>
              <a:t>يَجِبُ عَلَى النَّاسِ أَنْ يُعِيدُونَ التَّدْوِيرَ.</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ea typeface="Calibri" pitchFamily="34" charset="-122"/>
                <a:cs typeface="Calibri" pitchFamily="34" charset="-120"/>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34" charset="0"/>
                <a:ea typeface="Amiri" pitchFamily="34" charset="-122"/>
                <a:cs typeface="Amiri" pitchFamily="34" charset="-120"/>
              </a:rPr>
              <a:t>يَجِبُ عَلَى النَّاسِ أَنْ يُعِيدُوا التَّدْوِيرَ.</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34" charset="0"/>
                <a:ea typeface="Amiri" pitchFamily="34" charset="-122"/>
                <a:cs typeface="Amiri" pitchFamily="34" charset="-120"/>
              </a:rPr>
              <a:t>يعيدون</a:t>
            </a:r>
            <a:pPr algn="l" indent="0" marL="0">
              <a:buNone/>
            </a:pPr>
            <a:r>
              <a:rPr lang="en-US" sz="1150" b="1" dirty="0">
                <a:solidFill>
                  <a:srgbClr val="1B3B6F"/>
                </a:solidFill>
                <a:latin typeface="Calibri" pitchFamily="34" charset="0"/>
                <a:ea typeface="Calibri" pitchFamily="34" charset="-122"/>
                <a:cs typeface="Calibri" pitchFamily="34" charset="-120"/>
              </a:rPr>
              <a:t> is one of the five verbs, so its nūn is omitted after </a:t>
            </a:r>
            <a:pPr algn="l" indent="0" marL="0">
              <a:buNone/>
            </a:pPr>
            <a:r>
              <a:rPr lang="ar-SA" altLang="en-US" sz="1500" b="1" dirty="0">
                <a:solidFill>
                  <a:srgbClr val="1B3B6F"/>
                </a:solidFill>
                <a:latin typeface="Amiri" pitchFamily="34" charset="0"/>
                <a:ea typeface="Amiri" pitchFamily="34" charset="-122"/>
                <a:cs typeface="Amiri" pitchFamily="34" charset="-120"/>
              </a:rPr>
              <a:t>أن</a:t>
            </a:r>
            <a:pPr algn="l" indent="0" marL="0">
              <a:buNone/>
            </a:pPr>
            <a:r>
              <a:rPr lang="en-US" sz="1150" b="1" dirty="0">
                <a:solidFill>
                  <a:srgbClr val="1B3B6F"/>
                </a:solidFill>
                <a:latin typeface="Calibri" pitchFamily="34" charset="0"/>
                <a:ea typeface="Calibri" pitchFamily="34" charset="-122"/>
                <a:cs typeface="Calibri" pitchFamily="34" charset="-120"/>
              </a:rPr>
              <a:t>.</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lnSpc>
                <a:spcPct val="120000"/>
              </a:lnSpc>
              <a:buNone/>
            </a:pPr>
            <a:r>
              <a:rPr lang="ar-SA" altLang="en-US" sz="1800" b="1" dirty="0">
                <a:solidFill>
                  <a:srgbClr val="B83227"/>
                </a:solidFill>
                <a:latin typeface="Amiri" pitchFamily="34" charset="0"/>
                <a:ea typeface="Amiri" pitchFamily="34" charset="-122"/>
                <a:cs typeface="Amiri" pitchFamily="34" charset="-120"/>
              </a:rPr>
              <a:t>نَسْتَخْدِمُ الطَّاقَةَ الشَّمْسِيَّةَ لِكَيْ نُقَلِّلُ الانْبِعَاثَاتِ.</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ea typeface="Calibri" pitchFamily="34" charset="-122"/>
                <a:cs typeface="Calibri" pitchFamily="34" charset="-120"/>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lnSpc>
                <a:spcPct val="120000"/>
              </a:lnSpc>
              <a:buNone/>
            </a:pPr>
            <a:r>
              <a:rPr lang="ar-SA" altLang="en-US" sz="2100" b="1" dirty="0">
                <a:solidFill>
                  <a:srgbClr val="1E6B52"/>
                </a:solidFill>
                <a:latin typeface="Amiri" pitchFamily="34" charset="0"/>
                <a:ea typeface="Amiri" pitchFamily="34" charset="-122"/>
                <a:cs typeface="Amiri" pitchFamily="34" charset="-120"/>
              </a:rPr>
              <a:t>نَسْتَخْدِمُ الطَّاقَةَ الشَّمْسِيَّةَ لِكَيْ نُقَلِّلَ الانْبِعَاثَاتِ.</a:t>
            </a:r>
            <a:endParaRPr lang="ar-SA" sz="21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34" charset="0"/>
                <a:ea typeface="Amiri" pitchFamily="34" charset="-122"/>
                <a:cs typeface="Amiri" pitchFamily="34" charset="-120"/>
              </a:rPr>
              <a:t>لكي</a:t>
            </a:r>
            <a:pPr algn="l" indent="0" marL="0">
              <a:buNone/>
            </a:pPr>
            <a:r>
              <a:rPr lang="en-US" sz="1150" b="1" dirty="0">
                <a:solidFill>
                  <a:srgbClr val="1B3B6F"/>
                </a:solidFill>
                <a:latin typeface="Calibri" pitchFamily="34" charset="0"/>
                <a:ea typeface="Calibri" pitchFamily="34" charset="-122"/>
                <a:cs typeface="Calibri" pitchFamily="34" charset="-120"/>
              </a:rPr>
              <a:t> is followed by the subjunctive.</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30 / 46</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TC-L05 · Environmental Solutions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LISTENING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150" b="1" dirty="0">
                <a:solidFill>
                  <a:srgbClr val="1B3B6F"/>
                </a:solidFill>
                <a:latin typeface="Cambria" pitchFamily="34" charset="0"/>
                <a:ea typeface="Cambria" pitchFamily="34" charset="-122"/>
                <a:cs typeface="Cambria" pitchFamily="34" charset="-120"/>
              </a:rPr>
              <a:t>Listening: practical environmental solutions</a:t>
            </a:r>
            <a:endParaRPr lang="en-US" sz="21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2 · Lesson 2 of 3</a:t>
            </a:r>
            <a:endParaRPr lang="en-US" sz="850" dirty="0"/>
          </a:p>
        </p:txBody>
      </p:sp>
      <p:sp>
        <p:nvSpPr>
          <p:cNvPr id="15" name="Shape 12"/>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should people reduce?</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Plastic use</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Tree planting</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7" name="Text 24"/>
          <p:cNvSpPr txBox="1"/>
          <p:nvPr/>
        </p:nvSpPr>
        <p:spPr>
          <a:xfrm>
            <a:off x="969264"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Public transport</a:t>
            </a:r>
            <a:endParaRPr lang="en-US" sz="1250" dirty="0"/>
          </a:p>
        </p:txBody>
      </p:sp>
      <p:sp>
        <p:nvSpPr>
          <p:cNvPr id="28" name="Shape 25"/>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3449574"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1" name="Text 28"/>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must schools recycle?</a:t>
            </a:r>
            <a:endParaRPr lang="en-US" sz="1250" dirty="0"/>
          </a:p>
        </p:txBody>
      </p:sp>
      <p:sp>
        <p:nvSpPr>
          <p:cNvPr id="32" name="Shape 29"/>
          <p:cNvSpPr/>
          <p:nvPr/>
        </p:nvSpPr>
        <p:spPr>
          <a:xfrm>
            <a:off x="3504438"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350443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4" name="Text 31"/>
          <p:cNvSpPr txBox="1"/>
          <p:nvPr/>
        </p:nvSpPr>
        <p:spPr>
          <a:xfrm>
            <a:off x="3833622"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Food</a:t>
            </a:r>
            <a:endParaRPr lang="en-US" sz="1250" dirty="0"/>
          </a:p>
        </p:txBody>
      </p:sp>
      <p:sp>
        <p:nvSpPr>
          <p:cNvPr id="35" name="Shape 32"/>
          <p:cNvSpPr/>
          <p:nvPr/>
        </p:nvSpPr>
        <p:spPr>
          <a:xfrm>
            <a:off x="3504438"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350443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7" name="Text 34"/>
          <p:cNvSpPr txBox="1"/>
          <p:nvPr/>
        </p:nvSpPr>
        <p:spPr>
          <a:xfrm>
            <a:off x="3833622"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Fuel</a:t>
            </a:r>
            <a:endParaRPr lang="en-US" sz="1250" dirty="0"/>
          </a:p>
        </p:txBody>
      </p:sp>
      <p:sp>
        <p:nvSpPr>
          <p:cNvPr id="38" name="Shape 35"/>
          <p:cNvSpPr/>
          <p:nvPr/>
        </p:nvSpPr>
        <p:spPr>
          <a:xfrm>
            <a:off x="3504438"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350443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0" name="Text 37"/>
          <p:cNvSpPr txBox="1"/>
          <p:nvPr/>
        </p:nvSpPr>
        <p:spPr>
          <a:xfrm>
            <a:off x="3833622"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Paper</a:t>
            </a:r>
            <a:endParaRPr lang="en-US" sz="1250" dirty="0"/>
          </a:p>
        </p:txBody>
      </p:sp>
      <p:sp>
        <p:nvSpPr>
          <p:cNvPr id="41" name="Shape 38"/>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313932"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4" name="Text 41"/>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must governments invest in?</a:t>
            </a:r>
            <a:endParaRPr lang="en-US" sz="1250" dirty="0"/>
          </a:p>
        </p:txBody>
      </p:sp>
      <p:sp>
        <p:nvSpPr>
          <p:cNvPr id="45" name="Shape 42"/>
          <p:cNvSpPr/>
          <p:nvPr/>
        </p:nvSpPr>
        <p:spPr>
          <a:xfrm>
            <a:off x="6368796"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7" name="Text 44"/>
          <p:cNvSpPr txBox="1"/>
          <p:nvPr/>
        </p:nvSpPr>
        <p:spPr>
          <a:xfrm>
            <a:off x="6697980"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More plastic packaging</a:t>
            </a:r>
            <a:endParaRPr lang="en-US" sz="1250" dirty="0"/>
          </a:p>
        </p:txBody>
      </p:sp>
      <p:sp>
        <p:nvSpPr>
          <p:cNvPr id="48" name="Shape 45"/>
          <p:cNvSpPr/>
          <p:nvPr/>
        </p:nvSpPr>
        <p:spPr>
          <a:xfrm>
            <a:off x="6368796"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0" name="Text 47"/>
          <p:cNvSpPr txBox="1"/>
          <p:nvPr/>
        </p:nvSpPr>
        <p:spPr>
          <a:xfrm>
            <a:off x="6697980"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Fossil-fuel cars only</a:t>
            </a:r>
            <a:endParaRPr lang="en-US" sz="1250" dirty="0"/>
          </a:p>
        </p:txBody>
      </p:sp>
      <p:sp>
        <p:nvSpPr>
          <p:cNvPr id="51" name="Shape 48"/>
          <p:cNvSpPr/>
          <p:nvPr/>
        </p:nvSpPr>
        <p:spPr>
          <a:xfrm>
            <a:off x="6368796"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3" name="Text 50"/>
          <p:cNvSpPr txBox="1"/>
          <p:nvPr/>
        </p:nvSpPr>
        <p:spPr>
          <a:xfrm>
            <a:off x="6697980"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Solar and wind energy</a:t>
            </a:r>
            <a:endParaRPr lang="en-US" sz="1250" dirty="0"/>
          </a:p>
        </p:txBody>
      </p:sp>
      <p:sp>
        <p:nvSpPr>
          <p:cNvPr id="54" name="Shape 51"/>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9178290" y="1947672"/>
            <a:ext cx="310896" cy="310896"/>
          </a:xfrm>
          <a:prstGeom prst="ellipse">
            <a:avLst/>
          </a:prstGeom>
          <a:solidFill>
            <a:srgbClr val="1B3B6F"/>
          </a:solidFill>
          <a:ln w="12700">
            <a:solidFill>
              <a:srgbClr val="1B3B6F"/>
            </a:solidFill>
            <a:prstDash val="solid"/>
          </a:ln>
        </p:spPr>
      </p:sp>
      <p:sp>
        <p:nvSpPr>
          <p:cNvPr id="56" name="Text 53"/>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7" name="Text 54"/>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Who can conserve water?</a:t>
            </a:r>
            <a:endParaRPr lang="en-US" sz="1250" dirty="0"/>
          </a:p>
        </p:txBody>
      </p:sp>
      <p:sp>
        <p:nvSpPr>
          <p:cNvPr id="58" name="Shape 55"/>
          <p:cNvSpPr/>
          <p:nvPr/>
        </p:nvSpPr>
        <p:spPr>
          <a:xfrm>
            <a:off x="9233154" y="2532888"/>
            <a:ext cx="256032" cy="256032"/>
          </a:xfrm>
          <a:prstGeom prst="ellipse">
            <a:avLst/>
          </a:prstGeom>
          <a:solidFill>
            <a:srgbClr val="F4F1EA"/>
          </a:solidFill>
          <a:ln w="12700">
            <a:solidFill>
              <a:srgbClr val="F4F1EA"/>
            </a:solidFill>
            <a:prstDash val="solid"/>
          </a:ln>
        </p:spPr>
      </p:sp>
      <p:sp>
        <p:nvSpPr>
          <p:cNvPr id="59" name="Text 56"/>
          <p:cNvSpPr txBox="1"/>
          <p:nvPr/>
        </p:nvSpPr>
        <p:spPr>
          <a:xfrm>
            <a:off x="923315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0" name="Text 57"/>
          <p:cNvSpPr txBox="1"/>
          <p:nvPr/>
        </p:nvSpPr>
        <p:spPr>
          <a:xfrm>
            <a:off x="9562338"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Families</a:t>
            </a:r>
            <a:endParaRPr lang="en-US" sz="1250" dirty="0"/>
          </a:p>
        </p:txBody>
      </p:sp>
      <p:sp>
        <p:nvSpPr>
          <p:cNvPr id="61" name="Shape 58"/>
          <p:cNvSpPr/>
          <p:nvPr/>
        </p:nvSpPr>
        <p:spPr>
          <a:xfrm>
            <a:off x="9233154" y="2990088"/>
            <a:ext cx="256032" cy="256032"/>
          </a:xfrm>
          <a:prstGeom prst="ellipse">
            <a:avLst/>
          </a:prstGeom>
          <a:solidFill>
            <a:srgbClr val="F4F1EA"/>
          </a:solidFill>
          <a:ln w="12700">
            <a:solidFill>
              <a:srgbClr val="F4F1EA"/>
            </a:solidFill>
            <a:prstDash val="solid"/>
          </a:ln>
        </p:spPr>
      </p:sp>
      <p:sp>
        <p:nvSpPr>
          <p:cNvPr id="62" name="Text 59"/>
          <p:cNvSpPr txBox="1"/>
          <p:nvPr/>
        </p:nvSpPr>
        <p:spPr>
          <a:xfrm>
            <a:off x="923315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3" name="Text 60"/>
          <p:cNvSpPr txBox="1"/>
          <p:nvPr/>
        </p:nvSpPr>
        <p:spPr>
          <a:xfrm>
            <a:off x="9562338"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Only factories</a:t>
            </a:r>
            <a:endParaRPr lang="en-US" sz="1250" dirty="0"/>
          </a:p>
        </p:txBody>
      </p:sp>
      <p:sp>
        <p:nvSpPr>
          <p:cNvPr id="64" name="Shape 61"/>
          <p:cNvSpPr/>
          <p:nvPr/>
        </p:nvSpPr>
        <p:spPr>
          <a:xfrm>
            <a:off x="9233154" y="3447288"/>
            <a:ext cx="256032" cy="256032"/>
          </a:xfrm>
          <a:prstGeom prst="ellipse">
            <a:avLst/>
          </a:prstGeom>
          <a:solidFill>
            <a:srgbClr val="F4F1EA"/>
          </a:solidFill>
          <a:ln w="12700">
            <a:solidFill>
              <a:srgbClr val="F4F1EA"/>
            </a:solidFill>
            <a:prstDash val="solid"/>
          </a:ln>
        </p:spPr>
      </p:sp>
      <p:sp>
        <p:nvSpPr>
          <p:cNvPr id="65" name="Text 62"/>
          <p:cNvSpPr txBox="1"/>
          <p:nvPr/>
        </p:nvSpPr>
        <p:spPr>
          <a:xfrm>
            <a:off x="923315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6" name="Text 63"/>
          <p:cNvSpPr txBox="1"/>
          <p:nvPr/>
        </p:nvSpPr>
        <p:spPr>
          <a:xfrm>
            <a:off x="9562338"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Tourists only</a:t>
            </a:r>
            <a:endParaRPr lang="en-US" sz="1250" dirty="0"/>
          </a:p>
        </p:txBody>
      </p:sp>
      <p:sp>
        <p:nvSpPr>
          <p:cNvPr id="67" name="Shape 64"/>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585216"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0" name="Text 67"/>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Why should families conserve water?</a:t>
            </a:r>
            <a:endParaRPr lang="en-US" sz="1250" dirty="0"/>
          </a:p>
        </p:txBody>
      </p:sp>
      <p:sp>
        <p:nvSpPr>
          <p:cNvPr id="71" name="Shape 68"/>
          <p:cNvSpPr/>
          <p:nvPr/>
        </p:nvSpPr>
        <p:spPr>
          <a:xfrm>
            <a:off x="640080"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73" name="Text 70"/>
          <p:cNvSpPr txBox="1"/>
          <p:nvPr/>
        </p:nvSpPr>
        <p:spPr>
          <a:xfrm>
            <a:off x="969264"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To pollute rivers</a:t>
            </a:r>
            <a:endParaRPr lang="en-US" sz="1250" dirty="0"/>
          </a:p>
        </p:txBody>
      </p:sp>
      <p:sp>
        <p:nvSpPr>
          <p:cNvPr id="74" name="Shape 71"/>
          <p:cNvSpPr/>
          <p:nvPr/>
        </p:nvSpPr>
        <p:spPr>
          <a:xfrm>
            <a:off x="640080"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6" name="Text 73"/>
          <p:cNvSpPr txBox="1"/>
          <p:nvPr/>
        </p:nvSpPr>
        <p:spPr>
          <a:xfrm>
            <a:off x="969264"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To protect natural resources</a:t>
            </a:r>
            <a:endParaRPr lang="en-US" sz="1250" dirty="0"/>
          </a:p>
        </p:txBody>
      </p:sp>
      <p:sp>
        <p:nvSpPr>
          <p:cNvPr id="77" name="Shape 74"/>
          <p:cNvSpPr/>
          <p:nvPr/>
        </p:nvSpPr>
        <p:spPr>
          <a:xfrm>
            <a:off x="640080"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9" name="Text 76"/>
          <p:cNvSpPr txBox="1"/>
          <p:nvPr/>
        </p:nvSpPr>
        <p:spPr>
          <a:xfrm>
            <a:off x="969264"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To increase waste</a:t>
            </a:r>
            <a:endParaRPr lang="en-US" sz="1250" dirty="0"/>
          </a:p>
        </p:txBody>
      </p:sp>
      <p:sp>
        <p:nvSpPr>
          <p:cNvPr id="80" name="Shape 77"/>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3449574" y="4288536"/>
            <a:ext cx="310896" cy="310896"/>
          </a:xfrm>
          <a:prstGeom prst="ellipse">
            <a:avLst/>
          </a:prstGeom>
          <a:solidFill>
            <a:srgbClr val="1B3B6F"/>
          </a:solidFill>
          <a:ln w="12700">
            <a:solidFill>
              <a:srgbClr val="1B3B6F"/>
            </a:solidFill>
            <a:prstDash val="solid"/>
          </a:ln>
        </p:spPr>
      </p:sp>
      <p:sp>
        <p:nvSpPr>
          <p:cNvPr id="82" name="Text 79"/>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83" name="Text 80"/>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Which structure assigns obligation to a named group?</a:t>
            </a:r>
            <a:endParaRPr lang="en-US" sz="1200" dirty="0"/>
          </a:p>
        </p:txBody>
      </p:sp>
      <p:sp>
        <p:nvSpPr>
          <p:cNvPr id="84" name="Shape 81"/>
          <p:cNvSpPr/>
          <p:nvPr/>
        </p:nvSpPr>
        <p:spPr>
          <a:xfrm>
            <a:off x="3504438" y="4873752"/>
            <a:ext cx="256032" cy="256032"/>
          </a:xfrm>
          <a:prstGeom prst="ellipse">
            <a:avLst/>
          </a:prstGeom>
          <a:solidFill>
            <a:srgbClr val="F4F1EA"/>
          </a:solidFill>
          <a:ln w="12700">
            <a:solidFill>
              <a:srgbClr val="F4F1EA"/>
            </a:solidFill>
            <a:prstDash val="solid"/>
          </a:ln>
        </p:spPr>
      </p:sp>
      <p:sp>
        <p:nvSpPr>
          <p:cNvPr id="85" name="Text 82"/>
          <p:cNvSpPr txBox="1"/>
          <p:nvPr/>
        </p:nvSpPr>
        <p:spPr>
          <a:xfrm>
            <a:off x="350443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86" name="Text 83"/>
          <p:cNvSpPr txBox="1"/>
          <p:nvPr/>
        </p:nvSpPr>
        <p:spPr>
          <a:xfrm>
            <a:off x="3833622" y="4773168"/>
            <a:ext cx="2023110"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يَجِبُ عَلَى ... أَنْ</a:t>
            </a:r>
            <a:endParaRPr lang="ar-SA" sz="2050" dirty="0"/>
          </a:p>
        </p:txBody>
      </p:sp>
      <p:sp>
        <p:nvSpPr>
          <p:cNvPr id="87" name="Shape 84"/>
          <p:cNvSpPr/>
          <p:nvPr/>
        </p:nvSpPr>
        <p:spPr>
          <a:xfrm>
            <a:off x="3504438" y="5330952"/>
            <a:ext cx="256032" cy="256032"/>
          </a:xfrm>
          <a:prstGeom prst="ellipse">
            <a:avLst/>
          </a:prstGeom>
          <a:solidFill>
            <a:srgbClr val="F4F1EA"/>
          </a:solidFill>
          <a:ln w="12700">
            <a:solidFill>
              <a:srgbClr val="F4F1EA"/>
            </a:solidFill>
            <a:prstDash val="solid"/>
          </a:ln>
        </p:spPr>
      </p:sp>
      <p:sp>
        <p:nvSpPr>
          <p:cNvPr id="88" name="Text 85"/>
          <p:cNvSpPr txBox="1"/>
          <p:nvPr/>
        </p:nvSpPr>
        <p:spPr>
          <a:xfrm>
            <a:off x="350443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89" name="Text 86"/>
          <p:cNvSpPr txBox="1"/>
          <p:nvPr/>
        </p:nvSpPr>
        <p:spPr>
          <a:xfrm>
            <a:off x="3833622" y="5230368"/>
            <a:ext cx="2023110"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يَتَّسِمُ بِـ</a:t>
            </a:r>
            <a:endParaRPr lang="ar-SA" sz="2050" dirty="0"/>
          </a:p>
        </p:txBody>
      </p:sp>
      <p:sp>
        <p:nvSpPr>
          <p:cNvPr id="90" name="Shape 87"/>
          <p:cNvSpPr/>
          <p:nvPr/>
        </p:nvSpPr>
        <p:spPr>
          <a:xfrm>
            <a:off x="3504438" y="5788152"/>
            <a:ext cx="256032" cy="256032"/>
          </a:xfrm>
          <a:prstGeom prst="ellipse">
            <a:avLst/>
          </a:prstGeom>
          <a:solidFill>
            <a:srgbClr val="F4F1EA"/>
          </a:solidFill>
          <a:ln w="12700">
            <a:solidFill>
              <a:srgbClr val="F4F1EA"/>
            </a:solidFill>
            <a:prstDash val="solid"/>
          </a:ln>
        </p:spPr>
      </p:sp>
      <p:sp>
        <p:nvSpPr>
          <p:cNvPr id="91" name="Text 88"/>
          <p:cNvSpPr txBox="1"/>
          <p:nvPr/>
        </p:nvSpPr>
        <p:spPr>
          <a:xfrm>
            <a:off x="350443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92" name="Text 89"/>
          <p:cNvSpPr txBox="1"/>
          <p:nvPr/>
        </p:nvSpPr>
        <p:spPr>
          <a:xfrm>
            <a:off x="3833622" y="5687568"/>
            <a:ext cx="2023110"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يُؤَدِّي إِلَى</a:t>
            </a:r>
            <a:endParaRPr lang="ar-SA" sz="2050" dirty="0"/>
          </a:p>
        </p:txBody>
      </p:sp>
      <p:sp>
        <p:nvSpPr>
          <p:cNvPr id="93" name="Shape 90"/>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4" name="Shape 91"/>
          <p:cNvSpPr/>
          <p:nvPr/>
        </p:nvSpPr>
        <p:spPr>
          <a:xfrm>
            <a:off x="6807708" y="4361688"/>
            <a:ext cx="914400" cy="274320"/>
          </a:xfrm>
          <a:prstGeom prst="roundRect">
            <a:avLst>
              <a:gd name="adj" fmla="val 50000"/>
            </a:avLst>
          </a:prstGeom>
          <a:solidFill>
            <a:srgbClr val="2E8B57"/>
          </a:solidFill>
          <a:ln w="12700">
            <a:solidFill>
              <a:srgbClr val="2E8B57"/>
            </a:solidFill>
            <a:prstDash val="solid"/>
          </a:ln>
        </p:spPr>
      </p:sp>
      <p:sp>
        <p:nvSpPr>
          <p:cNvPr id="95" name="Text 92"/>
          <p:cNvSpPr txBox="1"/>
          <p:nvPr/>
        </p:nvSpPr>
        <p:spPr>
          <a:xfrm>
            <a:off x="6807708"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96" name="Text 93"/>
          <p:cNvSpPr txBox="1"/>
          <p:nvPr/>
        </p:nvSpPr>
        <p:spPr>
          <a:xfrm>
            <a:off x="6387084" y="4791456"/>
            <a:ext cx="2315718"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ea typeface="Calibri" pitchFamily="34" charset="-122"/>
                <a:cs typeface="Calibri" pitchFamily="34" charset="-120"/>
              </a:rPr>
              <a:t>Listen twice. Core: questions 1, 2 and 4 — listen for </a:t>
            </a:r>
            <a:pPr algn="l" indent="0" marL="0">
              <a:buNone/>
            </a:pPr>
            <a:r>
              <a:rPr lang="ar-SA" altLang="en-US" sz="1650" dirty="0">
                <a:solidFill>
                  <a:srgbClr val="1E6B52"/>
                </a:solidFill>
                <a:latin typeface="Amiri" pitchFamily="34" charset="0"/>
                <a:ea typeface="Amiri" pitchFamily="34" charset="-122"/>
                <a:cs typeface="Amiri" pitchFamily="34" charset="-120"/>
              </a:rPr>
              <a:t>البِلَاسْتِيك</a:t>
            </a:r>
            <a:pPr algn="l" indent="0" marL="0">
              <a:buNone/>
            </a:pPr>
            <a:r>
              <a:rPr lang="en-US" sz="1250" dirty="0">
                <a:solidFill>
                  <a:srgbClr val="1E6B52"/>
                </a:solidFill>
                <a:latin typeface="Calibri" pitchFamily="34" charset="0"/>
                <a:ea typeface="Calibri" pitchFamily="34" charset="-122"/>
                <a:cs typeface="Calibri" pitchFamily="34" charset="-120"/>
              </a:rPr>
              <a:t>, </a:t>
            </a:r>
            <a:pPr algn="l" indent="0" marL="0">
              <a:buNone/>
            </a:pPr>
            <a:r>
              <a:rPr lang="ar-SA" altLang="en-US" sz="1650" dirty="0">
                <a:solidFill>
                  <a:srgbClr val="1E6B52"/>
                </a:solidFill>
                <a:latin typeface="Amiri" pitchFamily="34" charset="0"/>
                <a:ea typeface="Amiri" pitchFamily="34" charset="-122"/>
                <a:cs typeface="Amiri" pitchFamily="34" charset="-120"/>
              </a:rPr>
              <a:t>الوَرَق</a:t>
            </a:r>
            <a:pPr algn="l" indent="0" marL="0">
              <a:buNone/>
            </a:pPr>
            <a:r>
              <a:rPr lang="en-US" sz="1250" dirty="0">
                <a:solidFill>
                  <a:srgbClr val="1E6B52"/>
                </a:solidFill>
                <a:latin typeface="Calibri" pitchFamily="34" charset="0"/>
                <a:ea typeface="Calibri" pitchFamily="34" charset="-122"/>
                <a:cs typeface="Calibri" pitchFamily="34" charset="-120"/>
              </a:rPr>
              <a:t> (paper) and </a:t>
            </a:r>
            <a:pPr algn="l" indent="0" marL="0">
              <a:buNone/>
            </a:pPr>
            <a:r>
              <a:rPr lang="ar-SA" altLang="en-US" sz="1650" dirty="0">
                <a:solidFill>
                  <a:srgbClr val="1E6B52"/>
                </a:solidFill>
                <a:latin typeface="Amiri" pitchFamily="34" charset="0"/>
                <a:ea typeface="Amiri" pitchFamily="34" charset="-122"/>
                <a:cs typeface="Amiri" pitchFamily="34" charset="-120"/>
              </a:rPr>
              <a:t>الأُسَر</a:t>
            </a:r>
            <a:pPr algn="l" indent="0" marL="0">
              <a:buNone/>
            </a:pPr>
            <a:r>
              <a:rPr lang="en-US" sz="1250" dirty="0">
                <a:solidFill>
                  <a:srgbClr val="1E6B52"/>
                </a:solidFill>
                <a:latin typeface="Calibri" pitchFamily="34" charset="0"/>
                <a:ea typeface="Calibri" pitchFamily="34" charset="-122"/>
                <a:cs typeface="Calibri" pitchFamily="34" charset="-120"/>
              </a:rPr>
              <a:t> (families).</a:t>
            </a:r>
            <a:endParaRPr lang="en-US" sz="1250" dirty="0"/>
          </a:p>
        </p:txBody>
      </p:sp>
      <p:sp>
        <p:nvSpPr>
          <p:cNvPr id="97" name="Text 9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31 / 46</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TC-L05 · Environmental Solutions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ea typeface="Cambria" pitchFamily="34" charset="-122"/>
                <a:cs typeface="Cambria" pitchFamily="34" charset="-120"/>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2 · Lesson 2 of 3</a:t>
            </a:r>
            <a:endParaRPr lang="en-US" sz="850" dirty="0"/>
          </a:p>
        </p:txBody>
      </p:sp>
      <p:sp>
        <p:nvSpPr>
          <p:cNvPr id="15" name="Shape 12"/>
          <p:cNvSpPr/>
          <p:nvPr/>
        </p:nvSpPr>
        <p:spPr>
          <a:xfrm>
            <a:off x="457200" y="1810512"/>
            <a:ext cx="11274552" cy="1069848"/>
          </a:xfrm>
          <a:prstGeom prst="roundRect">
            <a:avLst>
              <a:gd name="adj" fmla="val 4274"/>
            </a:avLst>
          </a:prstGeom>
          <a:solidFill>
            <a:srgbClr val="FFFFFF"/>
          </a:solidFill>
          <a:ln w="9525">
            <a:solidFill>
              <a:srgbClr val="D8D0BF"/>
            </a:solidFill>
            <a:prstDash val="solid"/>
          </a:ln>
        </p:spPr>
      </p:sp>
      <p:sp>
        <p:nvSpPr>
          <p:cNvPr id="16" name="Text 13"/>
          <p:cNvSpPr txBox="1"/>
          <p:nvPr/>
        </p:nvSpPr>
        <p:spPr>
          <a:xfrm>
            <a:off x="4937760" y="1828800"/>
            <a:ext cx="6675120" cy="1033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هُنَاكَ حُلُولٌ عَمَلِيَّةٌ لِحِمَايَةِ البِيئَةِ.</a:t>
            </a:r>
            <a:endParaRPr lang="ar-SA" sz="2000" dirty="0"/>
          </a:p>
        </p:txBody>
      </p:sp>
      <p:sp>
        <p:nvSpPr>
          <p:cNvPr id="17" name="Text 14"/>
          <p:cNvSpPr txBox="1"/>
          <p:nvPr/>
        </p:nvSpPr>
        <p:spPr>
          <a:xfrm>
            <a:off x="640080" y="1828800"/>
            <a:ext cx="4160520" cy="1033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There are practical solutions to protect the environment.</a:t>
            </a:r>
            <a:endParaRPr lang="en-US" sz="1250" dirty="0"/>
          </a:p>
        </p:txBody>
      </p:sp>
      <p:sp>
        <p:nvSpPr>
          <p:cNvPr id="18" name="Shape 15"/>
          <p:cNvSpPr/>
          <p:nvPr/>
        </p:nvSpPr>
        <p:spPr>
          <a:xfrm>
            <a:off x="457200" y="2953512"/>
            <a:ext cx="11274552" cy="1069848"/>
          </a:xfrm>
          <a:prstGeom prst="roundRect">
            <a:avLst>
              <a:gd name="adj" fmla="val 4274"/>
            </a:avLst>
          </a:prstGeom>
          <a:solidFill>
            <a:srgbClr val="F4F1EA"/>
          </a:solidFill>
          <a:ln w="9525">
            <a:solidFill>
              <a:srgbClr val="D8D0BF"/>
            </a:solidFill>
            <a:prstDash val="solid"/>
          </a:ln>
        </p:spPr>
      </p:sp>
      <p:sp>
        <p:nvSpPr>
          <p:cNvPr id="19" name="Text 16"/>
          <p:cNvSpPr txBox="1"/>
          <p:nvPr/>
        </p:nvSpPr>
        <p:spPr>
          <a:xfrm>
            <a:off x="4937760" y="2971800"/>
            <a:ext cx="6675120" cy="1033272"/>
          </a:xfrm>
          <a:prstGeom prst="rect">
            <a:avLst/>
          </a:prstGeom>
          <a:noFill/>
          <a:ln/>
        </p:spPr>
        <p:txBody>
          <a:bodyPr wrap="square" lIns="0" tIns="0" rIns="0" bIns="0" rtlCol="0" anchor="ctr"/>
          <a:lstStyle/>
          <a:p>
            <a:pPr rtl="1" algn="r" indent="0" marL="0">
              <a:lnSpc>
                <a:spcPct val="120000"/>
              </a:lnSpc>
              <a:buNone/>
            </a:pPr>
            <a:r>
              <a:rPr lang="ar-SA" altLang="en-US" sz="2000" b="1" dirty="0">
                <a:solidFill>
                  <a:srgbClr val="1B3B6F"/>
                </a:solidFill>
                <a:latin typeface="Amiri" pitchFamily="34" charset="0"/>
                <a:ea typeface="Amiri" pitchFamily="34" charset="-122"/>
                <a:cs typeface="Amiri" pitchFamily="34" charset="-120"/>
              </a:rPr>
              <a:t>يَنْبَغِي أَنْ نُقَلِّلَ اسْتِخْدَامَ البِلَاسْتِيكِ، وَيَجِبُ عَلَى المَدَارِسِ أَنْ تُعِيدَ تَدْوِيرَ الوَرَقِ.</a:t>
            </a:r>
            <a:endParaRPr lang="ar-SA" sz="2000" dirty="0"/>
          </a:p>
        </p:txBody>
      </p:sp>
      <p:sp>
        <p:nvSpPr>
          <p:cNvPr id="20" name="Text 17"/>
          <p:cNvSpPr txBox="1"/>
          <p:nvPr/>
        </p:nvSpPr>
        <p:spPr>
          <a:xfrm>
            <a:off x="640080" y="2971800"/>
            <a:ext cx="4160520" cy="1033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We should reduce plastic use, and schools must recycle paper.</a:t>
            </a:r>
            <a:endParaRPr lang="en-US" sz="1250" dirty="0"/>
          </a:p>
        </p:txBody>
      </p:sp>
      <p:sp>
        <p:nvSpPr>
          <p:cNvPr id="21" name="Shape 18"/>
          <p:cNvSpPr/>
          <p:nvPr/>
        </p:nvSpPr>
        <p:spPr>
          <a:xfrm>
            <a:off x="457200" y="4096512"/>
            <a:ext cx="11274552" cy="1069848"/>
          </a:xfrm>
          <a:prstGeom prst="roundRect">
            <a:avLst>
              <a:gd name="adj" fmla="val 4274"/>
            </a:avLst>
          </a:prstGeom>
          <a:solidFill>
            <a:srgbClr val="FFFFFF"/>
          </a:solidFill>
          <a:ln w="9525">
            <a:solidFill>
              <a:srgbClr val="D8D0BF"/>
            </a:solidFill>
            <a:prstDash val="solid"/>
          </a:ln>
        </p:spPr>
      </p:sp>
      <p:sp>
        <p:nvSpPr>
          <p:cNvPr id="22" name="Text 19"/>
          <p:cNvSpPr txBox="1"/>
          <p:nvPr/>
        </p:nvSpPr>
        <p:spPr>
          <a:xfrm>
            <a:off x="4937760" y="4114800"/>
            <a:ext cx="6675120" cy="1033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كَمَا يَجِبُ عَلَى الحُكُومَاتِ أَنْ تَسْتَثْمِرَ فِي الطَّاقَةِ الشَّمْسِيَّةِ وَطَاقَةِ الرِّيَاحِ.</a:t>
            </a:r>
            <a:endParaRPr lang="ar-SA" sz="2000" dirty="0"/>
          </a:p>
        </p:txBody>
      </p:sp>
      <p:sp>
        <p:nvSpPr>
          <p:cNvPr id="23" name="Text 20"/>
          <p:cNvSpPr txBox="1"/>
          <p:nvPr/>
        </p:nvSpPr>
        <p:spPr>
          <a:xfrm>
            <a:off x="640080" y="4114800"/>
            <a:ext cx="4160520" cy="1033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Governments must also invest in solar and wind energy.</a:t>
            </a:r>
            <a:endParaRPr lang="en-US" sz="1250" dirty="0"/>
          </a:p>
        </p:txBody>
      </p:sp>
      <p:sp>
        <p:nvSpPr>
          <p:cNvPr id="24" name="Shape 21"/>
          <p:cNvSpPr/>
          <p:nvPr/>
        </p:nvSpPr>
        <p:spPr>
          <a:xfrm>
            <a:off x="457200" y="5239512"/>
            <a:ext cx="11274552" cy="1069848"/>
          </a:xfrm>
          <a:prstGeom prst="roundRect">
            <a:avLst>
              <a:gd name="adj" fmla="val 4274"/>
            </a:avLst>
          </a:prstGeom>
          <a:solidFill>
            <a:srgbClr val="F4F1EA"/>
          </a:solidFill>
          <a:ln w="9525">
            <a:solidFill>
              <a:srgbClr val="D8D0BF"/>
            </a:solidFill>
            <a:prstDash val="solid"/>
          </a:ln>
        </p:spPr>
      </p:sp>
      <p:sp>
        <p:nvSpPr>
          <p:cNvPr id="25" name="Text 22"/>
          <p:cNvSpPr txBox="1"/>
          <p:nvPr/>
        </p:nvSpPr>
        <p:spPr>
          <a:xfrm>
            <a:off x="4937760" y="5257800"/>
            <a:ext cx="6675120" cy="1033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وَيُمْكِنُ لِلأُسَرِ أَنْ تُرَشِّدَ المَاءَ لِكَيْ تَحْمِيَ المَوَارِدَ الطَّبِيعِيَّةَ.</a:t>
            </a:r>
            <a:endParaRPr lang="ar-SA" sz="2000" dirty="0"/>
          </a:p>
        </p:txBody>
      </p:sp>
      <p:sp>
        <p:nvSpPr>
          <p:cNvPr id="26" name="Text 23"/>
          <p:cNvSpPr txBox="1"/>
          <p:nvPr/>
        </p:nvSpPr>
        <p:spPr>
          <a:xfrm>
            <a:off x="640080" y="5257800"/>
            <a:ext cx="4160520" cy="1033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And families can save water in order to protect natural resources.</a:t>
            </a:r>
            <a:endParaRPr lang="en-US" sz="125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32 / 46</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TC-L05 · Environmental Solutions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Listening: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2 · Lesson 2 of 3</a:t>
            </a:r>
            <a:endParaRPr lang="en-US" sz="850" dirty="0"/>
          </a:p>
        </p:txBody>
      </p:sp>
      <p:sp>
        <p:nvSpPr>
          <p:cNvPr id="15" name="Shape 12"/>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should people reduce?</a:t>
            </a:r>
            <a:endParaRPr lang="en-US" sz="1250" dirty="0"/>
          </a:p>
        </p:txBody>
      </p:sp>
      <p:sp>
        <p:nvSpPr>
          <p:cNvPr id="19" name="Shape 16"/>
          <p:cNvSpPr/>
          <p:nvPr/>
        </p:nvSpPr>
        <p:spPr>
          <a:xfrm>
            <a:off x="548640" y="2453640"/>
            <a:ext cx="2498598"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22" name="Text 19"/>
          <p:cNvSpPr txBox="1"/>
          <p:nvPr/>
        </p:nvSpPr>
        <p:spPr>
          <a:xfrm>
            <a:off x="969264" y="2432304"/>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Plastic use</a:t>
            </a:r>
            <a:endParaRPr lang="en-US" sz="12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5" name="Text 22"/>
          <p:cNvSpPr txBox="1"/>
          <p:nvPr/>
        </p:nvSpPr>
        <p:spPr>
          <a:xfrm>
            <a:off x="969264"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Tree planting</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Public transport</a:t>
            </a:r>
            <a:endParaRPr lang="en-US" sz="1250" dirty="0"/>
          </a:p>
        </p:txBody>
      </p:sp>
      <p:sp>
        <p:nvSpPr>
          <p:cNvPr id="29" name="Text 26"/>
          <p:cNvSpPr txBox="1"/>
          <p:nvPr/>
        </p:nvSpPr>
        <p:spPr>
          <a:xfrm>
            <a:off x="585216"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تقليل استخدام البلاستيك.</a:t>
            </a:r>
            <a:endParaRPr lang="ar-SA" sz="1350" dirty="0"/>
          </a:p>
        </p:txBody>
      </p:sp>
      <p:sp>
        <p:nvSpPr>
          <p:cNvPr id="30" name="Shape 27"/>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3449574"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0"/>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must schools recycle?</a:t>
            </a:r>
            <a:endParaRPr lang="en-US" sz="1250" dirty="0"/>
          </a:p>
        </p:txBody>
      </p:sp>
      <p:sp>
        <p:nvSpPr>
          <p:cNvPr id="34" name="Shape 31"/>
          <p:cNvSpPr/>
          <p:nvPr/>
        </p:nvSpPr>
        <p:spPr>
          <a:xfrm>
            <a:off x="3504438"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350443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6" name="Text 33"/>
          <p:cNvSpPr txBox="1"/>
          <p:nvPr/>
        </p:nvSpPr>
        <p:spPr>
          <a:xfrm>
            <a:off x="3833622"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Food</a:t>
            </a:r>
            <a:endParaRPr lang="en-US" sz="1250" dirty="0"/>
          </a:p>
        </p:txBody>
      </p:sp>
      <p:sp>
        <p:nvSpPr>
          <p:cNvPr id="37" name="Shape 34"/>
          <p:cNvSpPr/>
          <p:nvPr/>
        </p:nvSpPr>
        <p:spPr>
          <a:xfrm>
            <a:off x="3504438"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350443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9" name="Text 36"/>
          <p:cNvSpPr txBox="1"/>
          <p:nvPr/>
        </p:nvSpPr>
        <p:spPr>
          <a:xfrm>
            <a:off x="3833622"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Fuel</a:t>
            </a:r>
            <a:endParaRPr lang="en-US" sz="1250" dirty="0"/>
          </a:p>
        </p:txBody>
      </p:sp>
      <p:sp>
        <p:nvSpPr>
          <p:cNvPr id="40" name="Shape 37"/>
          <p:cNvSpPr/>
          <p:nvPr/>
        </p:nvSpPr>
        <p:spPr>
          <a:xfrm>
            <a:off x="3412998" y="3197352"/>
            <a:ext cx="2498598"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3504438"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350443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43" name="Text 40"/>
          <p:cNvSpPr txBox="1"/>
          <p:nvPr/>
        </p:nvSpPr>
        <p:spPr>
          <a:xfrm>
            <a:off x="3833622" y="3176016"/>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Paper</a:t>
            </a:r>
            <a:endParaRPr lang="en-US" sz="1250" dirty="0"/>
          </a:p>
        </p:txBody>
      </p:sp>
      <p:sp>
        <p:nvSpPr>
          <p:cNvPr id="44" name="Text 41"/>
          <p:cNvSpPr txBox="1"/>
          <p:nvPr/>
        </p:nvSpPr>
        <p:spPr>
          <a:xfrm>
            <a:off x="3449574"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تعيد تدوير الورق.</a:t>
            </a:r>
            <a:endParaRPr lang="ar-SA" sz="1350" dirty="0"/>
          </a:p>
        </p:txBody>
      </p:sp>
      <p:sp>
        <p:nvSpPr>
          <p:cNvPr id="45" name="Shape 42"/>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6313932"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8" name="Text 45"/>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must governments invest in?</a:t>
            </a:r>
            <a:endParaRPr lang="en-US" sz="1250" dirty="0"/>
          </a:p>
        </p:txBody>
      </p:sp>
      <p:sp>
        <p:nvSpPr>
          <p:cNvPr id="49" name="Shape 46"/>
          <p:cNvSpPr/>
          <p:nvPr/>
        </p:nvSpPr>
        <p:spPr>
          <a:xfrm>
            <a:off x="6368796"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1" name="Text 48"/>
          <p:cNvSpPr txBox="1"/>
          <p:nvPr/>
        </p:nvSpPr>
        <p:spPr>
          <a:xfrm>
            <a:off x="6697980"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More plastic packaging</a:t>
            </a:r>
            <a:endParaRPr lang="en-US" sz="1250" dirty="0"/>
          </a:p>
        </p:txBody>
      </p:sp>
      <p:sp>
        <p:nvSpPr>
          <p:cNvPr id="52" name="Shape 49"/>
          <p:cNvSpPr/>
          <p:nvPr/>
        </p:nvSpPr>
        <p:spPr>
          <a:xfrm>
            <a:off x="6368796"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4" name="Text 51"/>
          <p:cNvSpPr txBox="1"/>
          <p:nvPr/>
        </p:nvSpPr>
        <p:spPr>
          <a:xfrm>
            <a:off x="6697980"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Fossil-fuel cars only</a:t>
            </a:r>
            <a:endParaRPr lang="en-US" sz="1250" dirty="0"/>
          </a:p>
        </p:txBody>
      </p:sp>
      <p:sp>
        <p:nvSpPr>
          <p:cNvPr id="55" name="Shape 52"/>
          <p:cNvSpPr/>
          <p:nvPr/>
        </p:nvSpPr>
        <p:spPr>
          <a:xfrm>
            <a:off x="6277356" y="3197352"/>
            <a:ext cx="2498598"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6368796"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58" name="Text 55"/>
          <p:cNvSpPr txBox="1"/>
          <p:nvPr/>
        </p:nvSpPr>
        <p:spPr>
          <a:xfrm>
            <a:off x="6697980" y="3176016"/>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Solar and wind energy</a:t>
            </a:r>
            <a:endParaRPr lang="en-US" sz="1250" dirty="0"/>
          </a:p>
        </p:txBody>
      </p:sp>
      <p:sp>
        <p:nvSpPr>
          <p:cNvPr id="59" name="Text 56"/>
          <p:cNvSpPr txBox="1"/>
          <p:nvPr/>
        </p:nvSpPr>
        <p:spPr>
          <a:xfrm>
            <a:off x="6313932"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الطاقة الشمسية وطاقة الرياح.</a:t>
            </a:r>
            <a:endParaRPr lang="ar-SA" sz="1350" dirty="0"/>
          </a:p>
        </p:txBody>
      </p:sp>
      <p:sp>
        <p:nvSpPr>
          <p:cNvPr id="60" name="Shape 57"/>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9178290" y="1947672"/>
            <a:ext cx="310896" cy="310896"/>
          </a:xfrm>
          <a:prstGeom prst="ellipse">
            <a:avLst/>
          </a:prstGeom>
          <a:solidFill>
            <a:srgbClr val="1B3B6F"/>
          </a:solidFill>
          <a:ln w="12700">
            <a:solidFill>
              <a:srgbClr val="1B3B6F"/>
            </a:solidFill>
            <a:prstDash val="solid"/>
          </a:ln>
        </p:spPr>
      </p:sp>
      <p:sp>
        <p:nvSpPr>
          <p:cNvPr id="62" name="Text 59"/>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3" name="Text 60"/>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Who can conserve water?</a:t>
            </a:r>
            <a:endParaRPr lang="en-US" sz="1250" dirty="0"/>
          </a:p>
        </p:txBody>
      </p:sp>
      <p:sp>
        <p:nvSpPr>
          <p:cNvPr id="64" name="Shape 61"/>
          <p:cNvSpPr/>
          <p:nvPr/>
        </p:nvSpPr>
        <p:spPr>
          <a:xfrm>
            <a:off x="9141714" y="2453640"/>
            <a:ext cx="2498598"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9233154" y="2490216"/>
            <a:ext cx="256032" cy="256032"/>
          </a:xfrm>
          <a:prstGeom prst="ellipse">
            <a:avLst/>
          </a:prstGeom>
          <a:solidFill>
            <a:srgbClr val="2E8B57"/>
          </a:solidFill>
          <a:ln w="12700">
            <a:solidFill>
              <a:srgbClr val="2E8B57"/>
            </a:solidFill>
            <a:prstDash val="solid"/>
          </a:ln>
        </p:spPr>
      </p:sp>
      <p:sp>
        <p:nvSpPr>
          <p:cNvPr id="66" name="Text 63"/>
          <p:cNvSpPr txBox="1"/>
          <p:nvPr/>
        </p:nvSpPr>
        <p:spPr>
          <a:xfrm>
            <a:off x="923315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67" name="Text 64"/>
          <p:cNvSpPr txBox="1"/>
          <p:nvPr/>
        </p:nvSpPr>
        <p:spPr>
          <a:xfrm>
            <a:off x="9562338" y="2432304"/>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Families</a:t>
            </a:r>
            <a:endParaRPr lang="en-US" sz="1250" dirty="0"/>
          </a:p>
        </p:txBody>
      </p:sp>
      <p:sp>
        <p:nvSpPr>
          <p:cNvPr id="68" name="Shape 65"/>
          <p:cNvSpPr/>
          <p:nvPr/>
        </p:nvSpPr>
        <p:spPr>
          <a:xfrm>
            <a:off x="9233154" y="2862072"/>
            <a:ext cx="256032" cy="256032"/>
          </a:xfrm>
          <a:prstGeom prst="ellipse">
            <a:avLst/>
          </a:prstGeom>
          <a:solidFill>
            <a:srgbClr val="C9CED6"/>
          </a:solidFill>
          <a:ln w="12700">
            <a:solidFill>
              <a:srgbClr val="C9CED6"/>
            </a:solidFill>
            <a:prstDash val="solid"/>
          </a:ln>
        </p:spPr>
      </p:sp>
      <p:sp>
        <p:nvSpPr>
          <p:cNvPr id="69" name="Text 66"/>
          <p:cNvSpPr txBox="1"/>
          <p:nvPr/>
        </p:nvSpPr>
        <p:spPr>
          <a:xfrm>
            <a:off x="923315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0" name="Text 67"/>
          <p:cNvSpPr txBox="1"/>
          <p:nvPr/>
        </p:nvSpPr>
        <p:spPr>
          <a:xfrm>
            <a:off x="9562338"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Only factories</a:t>
            </a:r>
            <a:endParaRPr lang="en-US" sz="1250" dirty="0"/>
          </a:p>
        </p:txBody>
      </p:sp>
      <p:sp>
        <p:nvSpPr>
          <p:cNvPr id="71" name="Shape 68"/>
          <p:cNvSpPr/>
          <p:nvPr/>
        </p:nvSpPr>
        <p:spPr>
          <a:xfrm>
            <a:off x="9233154" y="3233928"/>
            <a:ext cx="256032" cy="256032"/>
          </a:xfrm>
          <a:prstGeom prst="ellipse">
            <a:avLst/>
          </a:prstGeom>
          <a:solidFill>
            <a:srgbClr val="C9CED6"/>
          </a:solidFill>
          <a:ln w="12700">
            <a:solidFill>
              <a:srgbClr val="C9CED6"/>
            </a:solidFill>
            <a:prstDash val="solid"/>
          </a:ln>
        </p:spPr>
      </p:sp>
      <p:sp>
        <p:nvSpPr>
          <p:cNvPr id="72" name="Text 69"/>
          <p:cNvSpPr txBox="1"/>
          <p:nvPr/>
        </p:nvSpPr>
        <p:spPr>
          <a:xfrm>
            <a:off x="923315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3" name="Text 70"/>
          <p:cNvSpPr txBox="1"/>
          <p:nvPr/>
        </p:nvSpPr>
        <p:spPr>
          <a:xfrm>
            <a:off x="9562338"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Tourists only</a:t>
            </a:r>
            <a:endParaRPr lang="en-US" sz="1250" dirty="0"/>
          </a:p>
        </p:txBody>
      </p:sp>
      <p:sp>
        <p:nvSpPr>
          <p:cNvPr id="74" name="Text 71"/>
          <p:cNvSpPr txBox="1"/>
          <p:nvPr/>
        </p:nvSpPr>
        <p:spPr>
          <a:xfrm>
            <a:off x="9178290"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يمكن للأسر.</a:t>
            </a:r>
            <a:endParaRPr lang="ar-SA" sz="1350" dirty="0"/>
          </a:p>
        </p:txBody>
      </p:sp>
      <p:sp>
        <p:nvSpPr>
          <p:cNvPr id="75" name="Shape 72"/>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585216"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8" name="Text 75"/>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Why should families conserve water?</a:t>
            </a:r>
            <a:endParaRPr lang="en-US" sz="1250" dirty="0"/>
          </a:p>
        </p:txBody>
      </p:sp>
      <p:sp>
        <p:nvSpPr>
          <p:cNvPr id="79" name="Shape 76"/>
          <p:cNvSpPr/>
          <p:nvPr/>
        </p:nvSpPr>
        <p:spPr>
          <a:xfrm>
            <a:off x="640080"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81" name="Text 78"/>
          <p:cNvSpPr txBox="1"/>
          <p:nvPr/>
        </p:nvSpPr>
        <p:spPr>
          <a:xfrm>
            <a:off x="969264" y="4773168"/>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To pollute rivers</a:t>
            </a:r>
            <a:endParaRPr lang="en-US" sz="1250" dirty="0"/>
          </a:p>
        </p:txBody>
      </p:sp>
      <p:sp>
        <p:nvSpPr>
          <p:cNvPr id="82" name="Shape 79"/>
          <p:cNvSpPr/>
          <p:nvPr/>
        </p:nvSpPr>
        <p:spPr>
          <a:xfrm>
            <a:off x="548640" y="5166360"/>
            <a:ext cx="2498598"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640080"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85" name="Text 82"/>
          <p:cNvSpPr txBox="1"/>
          <p:nvPr/>
        </p:nvSpPr>
        <p:spPr>
          <a:xfrm>
            <a:off x="969264" y="5145024"/>
            <a:ext cx="2023110"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ea typeface="Calibri" pitchFamily="34" charset="-122"/>
                <a:cs typeface="Calibri" pitchFamily="34" charset="-120"/>
              </a:rPr>
              <a:t>To protect natural resources</a:t>
            </a:r>
            <a:endParaRPr lang="en-US" sz="1150" dirty="0"/>
          </a:p>
        </p:txBody>
      </p:sp>
      <p:sp>
        <p:nvSpPr>
          <p:cNvPr id="86" name="Shape 83"/>
          <p:cNvSpPr/>
          <p:nvPr/>
        </p:nvSpPr>
        <p:spPr>
          <a:xfrm>
            <a:off x="640080"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88" name="Text 85"/>
          <p:cNvSpPr txBox="1"/>
          <p:nvPr/>
        </p:nvSpPr>
        <p:spPr>
          <a:xfrm>
            <a:off x="969264" y="551688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To increase waste</a:t>
            </a:r>
            <a:endParaRPr lang="en-US" sz="1250" dirty="0"/>
          </a:p>
        </p:txBody>
      </p:sp>
      <p:sp>
        <p:nvSpPr>
          <p:cNvPr id="89" name="Text 86"/>
          <p:cNvSpPr txBox="1"/>
          <p:nvPr/>
        </p:nvSpPr>
        <p:spPr>
          <a:xfrm>
            <a:off x="585216" y="5907024"/>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لكي تحمي الموارد الطبيعية.</a:t>
            </a:r>
            <a:endParaRPr lang="ar-SA" sz="1350" dirty="0"/>
          </a:p>
        </p:txBody>
      </p:sp>
      <p:sp>
        <p:nvSpPr>
          <p:cNvPr id="90" name="Shape 87"/>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3449574" y="4288536"/>
            <a:ext cx="310896" cy="310896"/>
          </a:xfrm>
          <a:prstGeom prst="ellipse">
            <a:avLst/>
          </a:prstGeom>
          <a:solidFill>
            <a:srgbClr val="1B3B6F"/>
          </a:solidFill>
          <a:ln w="12700">
            <a:solidFill>
              <a:srgbClr val="1B3B6F"/>
            </a:solidFill>
            <a:prstDash val="solid"/>
          </a:ln>
        </p:spPr>
      </p:sp>
      <p:sp>
        <p:nvSpPr>
          <p:cNvPr id="92" name="Text 89"/>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93" name="Text 90"/>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Which structure assigns obligation to a named group?</a:t>
            </a:r>
            <a:endParaRPr lang="en-US" sz="1200" dirty="0"/>
          </a:p>
        </p:txBody>
      </p:sp>
      <p:sp>
        <p:nvSpPr>
          <p:cNvPr id="94" name="Shape 91"/>
          <p:cNvSpPr/>
          <p:nvPr/>
        </p:nvSpPr>
        <p:spPr>
          <a:xfrm>
            <a:off x="3412998" y="4794504"/>
            <a:ext cx="2498598" cy="347472"/>
          </a:xfrm>
          <a:prstGeom prst="roundRect">
            <a:avLst>
              <a:gd name="adj" fmla="val 15789"/>
            </a:avLst>
          </a:prstGeom>
          <a:solidFill>
            <a:srgbClr val="E6F4EC"/>
          </a:solidFill>
          <a:ln w="9525">
            <a:solidFill>
              <a:srgbClr val="2E8B57"/>
            </a:solidFill>
            <a:prstDash val="solid"/>
          </a:ln>
        </p:spPr>
      </p:sp>
      <p:sp>
        <p:nvSpPr>
          <p:cNvPr id="95" name="Shape 92"/>
          <p:cNvSpPr/>
          <p:nvPr/>
        </p:nvSpPr>
        <p:spPr>
          <a:xfrm>
            <a:off x="3504438" y="4831080"/>
            <a:ext cx="256032" cy="256032"/>
          </a:xfrm>
          <a:prstGeom prst="ellipse">
            <a:avLst/>
          </a:prstGeom>
          <a:solidFill>
            <a:srgbClr val="2E8B57"/>
          </a:solidFill>
          <a:ln w="12700">
            <a:solidFill>
              <a:srgbClr val="2E8B57"/>
            </a:solidFill>
            <a:prstDash val="solid"/>
          </a:ln>
        </p:spPr>
      </p:sp>
      <p:sp>
        <p:nvSpPr>
          <p:cNvPr id="96" name="Text 93"/>
          <p:cNvSpPr txBox="1"/>
          <p:nvPr/>
        </p:nvSpPr>
        <p:spPr>
          <a:xfrm>
            <a:off x="3504438"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97" name="Text 94"/>
          <p:cNvSpPr txBox="1"/>
          <p:nvPr/>
        </p:nvSpPr>
        <p:spPr>
          <a:xfrm>
            <a:off x="3833622" y="4773168"/>
            <a:ext cx="2023110"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يَجِبُ عَلَى ... أَنْ</a:t>
            </a:r>
            <a:endParaRPr lang="ar-SA" sz="1700" dirty="0"/>
          </a:p>
        </p:txBody>
      </p:sp>
      <p:sp>
        <p:nvSpPr>
          <p:cNvPr id="98" name="Shape 95"/>
          <p:cNvSpPr/>
          <p:nvPr/>
        </p:nvSpPr>
        <p:spPr>
          <a:xfrm>
            <a:off x="3504438" y="5202936"/>
            <a:ext cx="256032" cy="256032"/>
          </a:xfrm>
          <a:prstGeom prst="ellipse">
            <a:avLst/>
          </a:prstGeom>
          <a:solidFill>
            <a:srgbClr val="C9CED6"/>
          </a:solidFill>
          <a:ln w="12700">
            <a:solidFill>
              <a:srgbClr val="C9CED6"/>
            </a:solidFill>
            <a:prstDash val="solid"/>
          </a:ln>
        </p:spPr>
      </p:sp>
      <p:sp>
        <p:nvSpPr>
          <p:cNvPr id="99" name="Text 96"/>
          <p:cNvSpPr txBox="1"/>
          <p:nvPr/>
        </p:nvSpPr>
        <p:spPr>
          <a:xfrm>
            <a:off x="3504438"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100" name="Text 97"/>
          <p:cNvSpPr txBox="1"/>
          <p:nvPr/>
        </p:nvSpPr>
        <p:spPr>
          <a:xfrm>
            <a:off x="3833622" y="5145024"/>
            <a:ext cx="2023110"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يَتَّسِمُ بِـ</a:t>
            </a:r>
            <a:endParaRPr lang="ar-SA" sz="1700" dirty="0"/>
          </a:p>
        </p:txBody>
      </p:sp>
      <p:sp>
        <p:nvSpPr>
          <p:cNvPr id="101" name="Shape 98"/>
          <p:cNvSpPr/>
          <p:nvPr/>
        </p:nvSpPr>
        <p:spPr>
          <a:xfrm>
            <a:off x="3504438" y="5574792"/>
            <a:ext cx="256032" cy="256032"/>
          </a:xfrm>
          <a:prstGeom prst="ellipse">
            <a:avLst/>
          </a:prstGeom>
          <a:solidFill>
            <a:srgbClr val="C9CED6"/>
          </a:solidFill>
          <a:ln w="12700">
            <a:solidFill>
              <a:srgbClr val="C9CED6"/>
            </a:solidFill>
            <a:prstDash val="solid"/>
          </a:ln>
        </p:spPr>
      </p:sp>
      <p:sp>
        <p:nvSpPr>
          <p:cNvPr id="102" name="Text 99"/>
          <p:cNvSpPr txBox="1"/>
          <p:nvPr/>
        </p:nvSpPr>
        <p:spPr>
          <a:xfrm>
            <a:off x="3504438"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103" name="Text 100"/>
          <p:cNvSpPr txBox="1"/>
          <p:nvPr/>
        </p:nvSpPr>
        <p:spPr>
          <a:xfrm>
            <a:off x="3833622" y="5516880"/>
            <a:ext cx="2023110"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يُؤَدِّي إِلَى</a:t>
            </a:r>
            <a:endParaRPr lang="ar-SA" sz="1700" dirty="0"/>
          </a:p>
        </p:txBody>
      </p:sp>
      <p:sp>
        <p:nvSpPr>
          <p:cNvPr id="104" name="Text 101"/>
          <p:cNvSpPr txBox="1"/>
          <p:nvPr/>
        </p:nvSpPr>
        <p:spPr>
          <a:xfrm>
            <a:off x="3449574" y="5907024"/>
            <a:ext cx="2425446"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يجب على</a:t>
            </a:r>
            <a:pPr algn="l" indent="0" marL="0">
              <a:buNone/>
            </a:pPr>
            <a:r>
              <a:rPr lang="en-US" sz="1050" i="1" dirty="0">
                <a:solidFill>
                  <a:srgbClr val="8A6D1E"/>
                </a:solidFill>
                <a:latin typeface="Calibri" pitchFamily="34" charset="0"/>
                <a:ea typeface="Calibri" pitchFamily="34" charset="-122"/>
                <a:cs typeface="Calibri" pitchFamily="34" charset="-120"/>
              </a:rPr>
              <a:t> identifies who is responsible.</a:t>
            </a:r>
            <a:endParaRPr lang="en-US" sz="1050" dirty="0"/>
          </a:p>
        </p:txBody>
      </p:sp>
      <p:sp>
        <p:nvSpPr>
          <p:cNvPr id="105" name="Shape 102"/>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06" name="Shape 103"/>
          <p:cNvSpPr/>
          <p:nvPr/>
        </p:nvSpPr>
        <p:spPr>
          <a:xfrm>
            <a:off x="6807708" y="4361688"/>
            <a:ext cx="914400" cy="274320"/>
          </a:xfrm>
          <a:prstGeom prst="roundRect">
            <a:avLst>
              <a:gd name="adj" fmla="val 50000"/>
            </a:avLst>
          </a:prstGeom>
          <a:solidFill>
            <a:srgbClr val="2E8B57"/>
          </a:solidFill>
          <a:ln w="12700">
            <a:solidFill>
              <a:srgbClr val="2E8B57"/>
            </a:solidFill>
            <a:prstDash val="solid"/>
          </a:ln>
        </p:spPr>
      </p:sp>
      <p:sp>
        <p:nvSpPr>
          <p:cNvPr id="107" name="Text 104"/>
          <p:cNvSpPr txBox="1"/>
          <p:nvPr/>
        </p:nvSpPr>
        <p:spPr>
          <a:xfrm>
            <a:off x="6807708"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108" name="Text 105"/>
          <p:cNvSpPr txBox="1"/>
          <p:nvPr/>
        </p:nvSpPr>
        <p:spPr>
          <a:xfrm>
            <a:off x="6387084" y="4791456"/>
            <a:ext cx="2315718"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ea typeface="Calibri" pitchFamily="34" charset="-122"/>
                <a:cs typeface="Calibri" pitchFamily="34" charset="-120"/>
              </a:rPr>
              <a:t>Listen twice. Core: questions 1, 2 and 4 — listen for </a:t>
            </a:r>
            <a:pPr algn="l" indent="0" marL="0">
              <a:buNone/>
            </a:pPr>
            <a:r>
              <a:rPr lang="ar-SA" altLang="en-US" sz="1650" dirty="0">
                <a:solidFill>
                  <a:srgbClr val="1E6B52"/>
                </a:solidFill>
                <a:latin typeface="Amiri" pitchFamily="34" charset="0"/>
                <a:ea typeface="Amiri" pitchFamily="34" charset="-122"/>
                <a:cs typeface="Amiri" pitchFamily="34" charset="-120"/>
              </a:rPr>
              <a:t>البِلَاسْتِيك</a:t>
            </a:r>
            <a:pPr algn="l" indent="0" marL="0">
              <a:buNone/>
            </a:pPr>
            <a:r>
              <a:rPr lang="en-US" sz="1250" dirty="0">
                <a:solidFill>
                  <a:srgbClr val="1E6B52"/>
                </a:solidFill>
                <a:latin typeface="Calibri" pitchFamily="34" charset="0"/>
                <a:ea typeface="Calibri" pitchFamily="34" charset="-122"/>
                <a:cs typeface="Calibri" pitchFamily="34" charset="-120"/>
              </a:rPr>
              <a:t>, </a:t>
            </a:r>
            <a:pPr algn="l" indent="0" marL="0">
              <a:buNone/>
            </a:pPr>
            <a:r>
              <a:rPr lang="ar-SA" altLang="en-US" sz="1650" dirty="0">
                <a:solidFill>
                  <a:srgbClr val="1E6B52"/>
                </a:solidFill>
                <a:latin typeface="Amiri" pitchFamily="34" charset="0"/>
                <a:ea typeface="Amiri" pitchFamily="34" charset="-122"/>
                <a:cs typeface="Amiri" pitchFamily="34" charset="-120"/>
              </a:rPr>
              <a:t>الوَرَق</a:t>
            </a:r>
            <a:pPr algn="l" indent="0" marL="0">
              <a:buNone/>
            </a:pPr>
            <a:r>
              <a:rPr lang="en-US" sz="1250" dirty="0">
                <a:solidFill>
                  <a:srgbClr val="1E6B52"/>
                </a:solidFill>
                <a:latin typeface="Calibri" pitchFamily="34" charset="0"/>
                <a:ea typeface="Calibri" pitchFamily="34" charset="-122"/>
                <a:cs typeface="Calibri" pitchFamily="34" charset="-120"/>
              </a:rPr>
              <a:t> (paper) and </a:t>
            </a:r>
            <a:pPr algn="l" indent="0" marL="0">
              <a:buNone/>
            </a:pPr>
            <a:r>
              <a:rPr lang="ar-SA" altLang="en-US" sz="1650" dirty="0">
                <a:solidFill>
                  <a:srgbClr val="1E6B52"/>
                </a:solidFill>
                <a:latin typeface="Amiri" pitchFamily="34" charset="0"/>
                <a:ea typeface="Amiri" pitchFamily="34" charset="-122"/>
                <a:cs typeface="Amiri" pitchFamily="34" charset="-120"/>
              </a:rPr>
              <a:t>الأُسَر</a:t>
            </a:r>
            <a:pPr algn="l" indent="0" marL="0">
              <a:buNone/>
            </a:pPr>
            <a:r>
              <a:rPr lang="en-US" sz="1250" dirty="0">
                <a:solidFill>
                  <a:srgbClr val="1E6B52"/>
                </a:solidFill>
                <a:latin typeface="Calibri" pitchFamily="34" charset="0"/>
                <a:ea typeface="Calibri" pitchFamily="34" charset="-122"/>
                <a:cs typeface="Calibri" pitchFamily="34" charset="-120"/>
              </a:rPr>
              <a:t> (families).</a:t>
            </a:r>
            <a:endParaRPr lang="en-US" sz="1250" dirty="0"/>
          </a:p>
        </p:txBody>
      </p:sp>
      <p:sp>
        <p:nvSpPr>
          <p:cNvPr id="109" name="Text 10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33 / 46</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TC-L05 · Environmental Solutions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00" b="1" dirty="0">
                <a:solidFill>
                  <a:srgbClr val="1B3B6F"/>
                </a:solidFill>
                <a:latin typeface="Cambria" pitchFamily="34" charset="0"/>
                <a:ea typeface="Cambria" pitchFamily="34" charset="-122"/>
                <a:cs typeface="Cambria" pitchFamily="34" charset="-120"/>
              </a:rPr>
              <a:t>Speaking: recommend and justify solutions</a:t>
            </a:r>
            <a:endParaRPr lang="en-US" sz="22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2 · Lesson 2 of 3</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Think</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Rehearse</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Pairs share</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Build / ask</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Summarise</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مَاذَا تَسْتَطِيعُ أَنْ تَفْعَلَ لِحِمَايَةِ البِيئَةِ؟</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مَاذَا يَنْبَغِي أَنْ نَفْعَلَ؟</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C9780A"/>
          </a:solidFill>
          <a:ln w="12700">
            <a:solidFill>
              <a:srgbClr val="C9780A"/>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DEVELOP</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مَاذَا يَجِبُ عَلَى الحُكُومَةِ أَنْ تَفْعَلَ؟</a:t>
            </a:r>
            <a:endParaRPr lang="ar-SA" sz="1800" dirty="0"/>
          </a:p>
        </p:txBody>
      </p:sp>
      <p:sp>
        <p:nvSpPr>
          <p:cNvPr id="42" name="Shape 39"/>
          <p:cNvSpPr/>
          <p:nvPr/>
        </p:nvSpPr>
        <p:spPr>
          <a:xfrm>
            <a:off x="4754880" y="4352544"/>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4846320" y="4507992"/>
            <a:ext cx="960120" cy="256032"/>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4846320" y="4507992"/>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STRETCH</a:t>
            </a:r>
            <a:endParaRPr lang="en-US" sz="800" dirty="0"/>
          </a:p>
        </p:txBody>
      </p:sp>
      <p:sp>
        <p:nvSpPr>
          <p:cNvPr id="45" name="Text 42"/>
          <p:cNvSpPr txBox="1"/>
          <p:nvPr/>
        </p:nvSpPr>
        <p:spPr>
          <a:xfrm>
            <a:off x="5897880" y="4352544"/>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أَيُّ حَلٍّ أَكْثَرُ فَعَالِيَّةً وَلِمَاذَا؟</a:t>
            </a:r>
            <a:endParaRPr lang="ar-SA" sz="1800" dirty="0"/>
          </a:p>
        </p:txBody>
      </p:sp>
      <p:sp>
        <p:nvSpPr>
          <p:cNvPr id="46" name="Shape 43"/>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7" name="Text 44"/>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ea typeface="Calibri" pitchFamily="34" charset="-122"/>
                <a:cs typeface="Calibri" pitchFamily="34" charset="-120"/>
              </a:rPr>
              <a:t>SENTENCE STEMS</a:t>
            </a:r>
            <a:endParaRPr lang="en-US" sz="1000" dirty="0"/>
          </a:p>
        </p:txBody>
      </p:sp>
      <p:sp>
        <p:nvSpPr>
          <p:cNvPr id="48" name="Shape 45"/>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9" name="Text 46"/>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50" name="Text 47"/>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34" charset="0"/>
                <a:ea typeface="Amiri" pitchFamily="34" charset="-122"/>
                <a:cs typeface="Amiri" pitchFamily="34" charset="-120"/>
              </a:rPr>
              <a:t>يَنْبَغِي أَنْ ___ .</a:t>
            </a:r>
            <a:endParaRPr lang="ar-SA" sz="1600" dirty="0"/>
          </a:p>
        </p:txBody>
      </p:sp>
      <p:sp>
        <p:nvSpPr>
          <p:cNvPr id="51" name="Shape 48"/>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52" name="Text 49"/>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DEVELOP</a:t>
            </a:r>
            <a:endParaRPr lang="en-US" sz="800" dirty="0"/>
          </a:p>
        </p:txBody>
      </p:sp>
      <p:sp>
        <p:nvSpPr>
          <p:cNvPr id="53" name="Text 50"/>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34" charset="0"/>
                <a:ea typeface="Amiri" pitchFamily="34" charset="-122"/>
                <a:cs typeface="Amiri" pitchFamily="34" charset="-120"/>
              </a:rPr>
              <a:t>يَجِبُ عَلَى ___ أَنْ ___ .</a:t>
            </a:r>
            <a:endParaRPr lang="ar-SA" sz="1600" dirty="0"/>
          </a:p>
        </p:txBody>
      </p:sp>
      <p:sp>
        <p:nvSpPr>
          <p:cNvPr id="54" name="Shape 51"/>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5" name="Text 52"/>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STRETCH</a:t>
            </a:r>
            <a:endParaRPr lang="en-US" sz="800" dirty="0"/>
          </a:p>
        </p:txBody>
      </p:sp>
      <p:sp>
        <p:nvSpPr>
          <p:cNvPr id="56" name="Text 53"/>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34" charset="0"/>
                <a:ea typeface="Amiri" pitchFamily="34" charset="-122"/>
                <a:cs typeface="Amiri" pitchFamily="34" charset="-120"/>
              </a:rPr>
              <a:t>___ لِكَيْ ___ ، لٰكِنَّ ___ .</a:t>
            </a:r>
            <a:endParaRPr lang="ar-SA" sz="1600" dirty="0"/>
          </a:p>
        </p:txBody>
      </p:sp>
      <p:sp>
        <p:nvSpPr>
          <p:cNvPr id="57" name="Shape 54"/>
          <p:cNvSpPr/>
          <p:nvPr/>
        </p:nvSpPr>
        <p:spPr>
          <a:xfrm>
            <a:off x="640080" y="4681728"/>
            <a:ext cx="1051560" cy="256032"/>
          </a:xfrm>
          <a:prstGeom prst="roundRect">
            <a:avLst>
              <a:gd name="adj" fmla="val 50000"/>
            </a:avLst>
          </a:prstGeom>
          <a:solidFill>
            <a:srgbClr val="1B3B6F"/>
          </a:solidFill>
          <a:ln w="12700">
            <a:solidFill>
              <a:srgbClr val="1B3B6F"/>
            </a:solidFill>
            <a:prstDash val="solid"/>
          </a:ln>
        </p:spPr>
      </p:sp>
      <p:sp>
        <p:nvSpPr>
          <p:cNvPr id="58" name="Text 55"/>
          <p:cNvSpPr txBox="1"/>
          <p:nvPr/>
        </p:nvSpPr>
        <p:spPr>
          <a:xfrm>
            <a:off x="640080" y="4681728"/>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 SUM UP</a:t>
            </a:r>
            <a:endParaRPr lang="en-US" sz="800" dirty="0"/>
          </a:p>
        </p:txBody>
      </p:sp>
      <p:sp>
        <p:nvSpPr>
          <p:cNvPr id="59" name="Text 56"/>
          <p:cNvSpPr txBox="1"/>
          <p:nvPr/>
        </p:nvSpPr>
        <p:spPr>
          <a:xfrm>
            <a:off x="1783080" y="4526280"/>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34" charset="0"/>
                <a:ea typeface="Amiri" pitchFamily="34" charset="-122"/>
                <a:cs typeface="Amiri" pitchFamily="34" charset="-120"/>
              </a:rPr>
              <a:t>اقْتَرَحَ / اقْتَرَحَتْ أَنْ ___ .</a:t>
            </a:r>
            <a:endParaRPr lang="ar-SA" sz="1600" dirty="0"/>
          </a:p>
        </p:txBody>
      </p:sp>
      <p:sp>
        <p:nvSpPr>
          <p:cNvPr id="60" name="Shape 57"/>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ea typeface="Calibri" pitchFamily="34" charset="-122"/>
                <a:cs typeface="Calibri" pitchFamily="34" charset="-120"/>
              </a:rPr>
              <a:t>MODEL (WEBSITE)</a:t>
            </a:r>
            <a:endParaRPr lang="en-US" sz="950" dirty="0"/>
          </a:p>
        </p:txBody>
      </p:sp>
      <p:sp>
        <p:nvSpPr>
          <p:cNvPr id="62" name="Shape 59"/>
          <p:cNvSpPr/>
          <p:nvPr/>
        </p:nvSpPr>
        <p:spPr>
          <a:xfrm>
            <a:off x="11274552" y="5559552"/>
            <a:ext cx="292608" cy="292608"/>
          </a:xfrm>
          <a:prstGeom prst="ellipse">
            <a:avLst/>
          </a:prstGeom>
          <a:solidFill>
            <a:srgbClr val="1E6B52"/>
          </a:solidFill>
          <a:ln w="12700">
            <a:solidFill>
              <a:srgbClr val="1E6B52"/>
            </a:solidFill>
            <a:prstDash val="solid"/>
          </a:ln>
        </p:spPr>
      </p:sp>
      <p:sp>
        <p:nvSpPr>
          <p:cNvPr id="63" name="Text 60"/>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a:t>
            </a:r>
            <a:endParaRPr lang="en-US" sz="1000" dirty="0"/>
          </a:p>
        </p:txBody>
      </p:sp>
      <p:sp>
        <p:nvSpPr>
          <p:cNvPr id="64" name="Text 61"/>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34" charset="0"/>
                <a:ea typeface="Amiri" pitchFamily="34" charset="-122"/>
                <a:cs typeface="Amiri" pitchFamily="34" charset="-120"/>
              </a:rPr>
              <a:t>مَاذَا يَجِبُ عَلَى المَدْرَسَةِ أَنْ تَفْعَلَ؟</a:t>
            </a:r>
            <a:endParaRPr lang="ar-SA" sz="1550" dirty="0"/>
          </a:p>
        </p:txBody>
      </p:sp>
      <p:sp>
        <p:nvSpPr>
          <p:cNvPr id="65" name="Text 62"/>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ea typeface="Calibri" pitchFamily="34" charset="-122"/>
                <a:cs typeface="Calibri" pitchFamily="34" charset="-120"/>
              </a:rPr>
              <a:t>What must the school do?</a:t>
            </a:r>
            <a:endParaRPr lang="en-US" sz="950" dirty="0"/>
          </a:p>
        </p:txBody>
      </p:sp>
      <p:sp>
        <p:nvSpPr>
          <p:cNvPr id="66" name="Shape 63"/>
          <p:cNvSpPr/>
          <p:nvPr/>
        </p:nvSpPr>
        <p:spPr>
          <a:xfrm>
            <a:off x="11274552" y="5925312"/>
            <a:ext cx="292608" cy="292608"/>
          </a:xfrm>
          <a:prstGeom prst="ellipse">
            <a:avLst/>
          </a:prstGeom>
          <a:solidFill>
            <a:srgbClr val="1E6B52"/>
          </a:solidFill>
          <a:ln w="12700">
            <a:solidFill>
              <a:srgbClr val="1E6B52"/>
            </a:solidFill>
            <a:prstDash val="solid"/>
          </a:ln>
        </p:spPr>
      </p:sp>
      <p:sp>
        <p:nvSpPr>
          <p:cNvPr id="67" name="Text 64"/>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a:t>
            </a:r>
            <a:endParaRPr lang="en-US" sz="1000" dirty="0"/>
          </a:p>
        </p:txBody>
      </p:sp>
      <p:sp>
        <p:nvSpPr>
          <p:cNvPr id="68" name="Text 65"/>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34" charset="0"/>
                <a:ea typeface="Amiri" pitchFamily="34" charset="-122"/>
                <a:cs typeface="Amiri" pitchFamily="34" charset="-120"/>
              </a:rPr>
              <a:t>يَجِبُ عَلَى المَدْرَسَةِ أَنْ تَضَعَ حَاوِيَاتٍ لِإِعَادَةِ التَّدْوِيرِ، وَأَنْ تُنَظِّمَ حَمْلَةً لِكَيْ تُقَلِّلَ النُّفَايَاتِ.</a:t>
            </a:r>
            <a:endParaRPr lang="ar-SA" sz="1550" dirty="0"/>
          </a:p>
        </p:txBody>
      </p:sp>
      <p:sp>
        <p:nvSpPr>
          <p:cNvPr id="69" name="Text 66"/>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ea typeface="Calibri" pitchFamily="34" charset="-122"/>
                <a:cs typeface="Calibri" pitchFamily="34" charset="-120"/>
              </a:rPr>
              <a:t>Developed answer</a:t>
            </a:r>
            <a:endParaRPr lang="en-US" sz="9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34 / 46</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TC-L05 · Environmental Solutions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2 · Lesson 2 of 3</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34" charset="0"/>
                <a:ea typeface="Amiri" pitchFamily="34" charset="-122"/>
                <a:cs typeface="Amiri" pitchFamily="34" charset="-120"/>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ea typeface="Cambria" pitchFamily="34" charset="-122"/>
                <a:cs typeface="Cambria" pitchFamily="34" charset="-120"/>
              </a:rPr>
              <a:t>4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ea typeface="Calibri" pitchFamily="34" charset="-122"/>
                <a:cs typeface="Calibri" pitchFamily="34" charset="-120"/>
              </a:rPr>
              <a:t>Use the vocabulary banks and sentence frames to produce four accurate connected sentences.</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ea typeface="Calibri" pitchFamily="34" charset="-122"/>
                <a:cs typeface="Calibri" pitchFamily="34" charset="-120"/>
              </a:rPr>
              <a:t>HOW</a:t>
            </a:r>
            <a:endParaRPr lang="en-US" sz="900" dirty="0"/>
          </a:p>
          <a:p>
            <a:pPr indent="0" marL="0">
              <a:buNone/>
            </a:pPr>
            <a:r>
              <a:rPr lang="en-US" sz="1150" dirty="0">
                <a:solidFill>
                  <a:srgbClr val="1F2A37"/>
                </a:solidFill>
                <a:latin typeface="Calibri" pitchFamily="34" charset="0"/>
                <a:ea typeface="Calibri" pitchFamily="34" charset="-122"/>
                <a:cs typeface="Calibri" pitchFamily="34" charset="-120"/>
              </a:rPr>
              <a:t>Frames + word bank (next slide): يَنْبَغِي أَنْ / يَجِبُ أَنْ + a “we” verb from the table, ending in ـَ.</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34" charset="0"/>
                <a:ea typeface="Amiri" pitchFamily="34" charset="-122"/>
                <a:cs typeface="Amiri" pitchFamily="34" charset="-120"/>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ea typeface="Cambria" pitchFamily="34" charset="-122"/>
                <a:cs typeface="Cambria" pitchFamily="34" charset="-120"/>
              </a:rPr>
              <a:t>6–8 sentences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ea typeface="Calibri" pitchFamily="34" charset="-122"/>
                <a:cs typeface="Calibri" pitchFamily="34" charset="-120"/>
              </a:rPr>
              <a:t>Use several target structures in a linked paragraph or sustained spoken answer.</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ea typeface="Calibri" pitchFamily="34" charset="-122"/>
                <a:cs typeface="Calibri" pitchFamily="34" charset="-120"/>
              </a:rPr>
              <a:t>HOW</a:t>
            </a:r>
            <a:endParaRPr lang="en-US" sz="900" dirty="0"/>
          </a:p>
          <a:p>
            <a:pPr indent="0" marL="0">
              <a:buNone/>
            </a:pPr>
            <a:r>
              <a:rPr lang="en-US" sz="1150" dirty="0">
                <a:solidFill>
                  <a:srgbClr val="1F2A37"/>
                </a:solidFill>
                <a:latin typeface="Calibri" pitchFamily="34" charset="0"/>
                <a:ea typeface="Calibri" pitchFamily="34" charset="-122"/>
                <a:cs typeface="Calibri" pitchFamily="34" charset="-120"/>
              </a:rPr>
              <a:t>Name who is responsible (يَجِبُ عَلَى …) and give one purpose with لِكَيْ.</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34" charset="0"/>
                <a:ea typeface="Amiri" pitchFamily="34" charset="-122"/>
                <a:cs typeface="Amiri" pitchFamily="34" charset="-120"/>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ea typeface="Cambria" pitchFamily="34" charset="-122"/>
                <a:cs typeface="Cambria" pitchFamily="34" charset="-120"/>
              </a:rPr>
              <a:t>120–140 words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ea typeface="Calibri" pitchFamily="34" charset="-122"/>
                <a:cs typeface="Calibri" pitchFamily="34" charset="-120"/>
              </a:rPr>
              <a:t>Evaluate, compare or qualify ideas using precise evidence and formal linking language.</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ea typeface="Calibri" pitchFamily="34" charset="-122"/>
                <a:cs typeface="Calibri" pitchFamily="34" charset="-120"/>
              </a:rPr>
              <a:t>HOW</a:t>
            </a:r>
            <a:endParaRPr lang="en-US" sz="900" dirty="0"/>
          </a:p>
          <a:p>
            <a:pPr indent="0" marL="0">
              <a:buNone/>
            </a:pPr>
            <a:r>
              <a:rPr lang="en-US" sz="1150" dirty="0">
                <a:solidFill>
                  <a:srgbClr val="1F2A37"/>
                </a:solidFill>
                <a:latin typeface="Calibri" pitchFamily="34" charset="0"/>
                <a:ea typeface="Calibri" pitchFamily="34" charset="-122"/>
                <a:cs typeface="Calibri" pitchFamily="34" charset="-120"/>
              </a:rPr>
              <a:t>Website writing task: propose solutions to one problem; include individuals AND government, and one limitation.</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35 / 46</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TC-L05 · Environmental Solutions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2 · Lesson 2 of 3</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يَجِبُ عَلَى الحُكُومَةِ أَنْ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The government must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يَجِبُ عَلَى الطُّلَّابِ أَنْ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Students must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______ لِكَيْ نُـ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 so that we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مِنَ الضَّرُورِيِّ أَنْ ______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It is necessary to …</a:t>
            </a:r>
            <a:endParaRPr lang="en-US" sz="1050" dirty="0"/>
          </a:p>
        </p:txBody>
      </p:sp>
      <p:sp>
        <p:nvSpPr>
          <p:cNvPr id="26" name="Text 23"/>
          <p:cNvSpPr txBox="1"/>
          <p:nvPr/>
        </p:nvSpPr>
        <p:spPr>
          <a:xfrm>
            <a:off x="2468880"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عَلَى المَدَى الطَّوِيلِ، ______ .</a:t>
            </a:r>
            <a:endParaRPr lang="ar-SA" sz="1800" dirty="0"/>
          </a:p>
        </p:txBody>
      </p:sp>
      <p:sp>
        <p:nvSpPr>
          <p:cNvPr id="27" name="Text 24"/>
          <p:cNvSpPr txBox="1"/>
          <p:nvPr/>
        </p:nvSpPr>
        <p:spPr>
          <a:xfrm>
            <a:off x="594360"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In the long term, …</a:t>
            </a:r>
            <a:endParaRPr lang="en-US" sz="1050" dirty="0"/>
          </a:p>
        </p:txBody>
      </p:sp>
      <p:sp>
        <p:nvSpPr>
          <p:cNvPr id="28" name="Shape 25"/>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31" name="Text 28"/>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يَجِبُ أَنْ نُعِيدَ تَدْوِيرَ ______ .</a:t>
            </a:r>
            <a:endParaRPr lang="ar-SA" sz="1800" dirty="0"/>
          </a:p>
        </p:txBody>
      </p:sp>
      <p:sp>
        <p:nvSpPr>
          <p:cNvPr id="32" name="Text 29"/>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We must recycle …</a:t>
            </a:r>
            <a:endParaRPr lang="en-US" sz="1050" dirty="0"/>
          </a:p>
        </p:txBody>
      </p:sp>
      <p:sp>
        <p:nvSpPr>
          <p:cNvPr id="33" name="Text 30"/>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يَنْبَغِي أَنْ نُوَفِّرَ ______ .</a:t>
            </a:r>
            <a:endParaRPr lang="ar-SA" sz="1800" dirty="0"/>
          </a:p>
        </p:txBody>
      </p:sp>
      <p:sp>
        <p:nvSpPr>
          <p:cNvPr id="34" name="Text 31"/>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We should save water.</a:t>
            </a:r>
            <a:endParaRPr lang="en-US" sz="1050" dirty="0"/>
          </a:p>
        </p:txBody>
      </p:sp>
      <p:sp>
        <p:nvSpPr>
          <p:cNvPr id="35" name="Text 32"/>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يُمْكِنُ أَنْ نَسْتَخْدِمَ ______ .</a:t>
            </a:r>
            <a:endParaRPr lang="ar-SA" sz="1800" dirty="0"/>
          </a:p>
        </p:txBody>
      </p:sp>
      <p:sp>
        <p:nvSpPr>
          <p:cNvPr id="36" name="Text 33"/>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We can use …</a:t>
            </a:r>
            <a:endParaRPr lang="en-US" sz="1050" dirty="0"/>
          </a:p>
        </p:txBody>
      </p:sp>
      <p:sp>
        <p:nvSpPr>
          <p:cNvPr id="37" name="Text 34"/>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مِنَ الأَفْضَلِ أَنْ نَسْتَعْمِلَ ______ .</a:t>
            </a:r>
            <a:endParaRPr lang="ar-SA" sz="1800" dirty="0"/>
          </a:p>
        </p:txBody>
      </p:sp>
      <p:sp>
        <p:nvSpPr>
          <p:cNvPr id="38" name="Text 35"/>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It is better to use a bicycle.</a:t>
            </a:r>
            <a:endParaRPr lang="en-US" sz="1050" dirty="0"/>
          </a:p>
        </p:txBody>
      </p:sp>
      <p:sp>
        <p:nvSpPr>
          <p:cNvPr id="39" name="Text 36"/>
          <p:cNvSpPr txBox="1"/>
          <p:nvPr/>
        </p:nvSpPr>
        <p:spPr>
          <a:xfrm>
            <a:off x="8202168"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نَزْرَعُ ______ .</a:t>
            </a:r>
            <a:endParaRPr lang="ar-SA" sz="1800" dirty="0"/>
          </a:p>
        </p:txBody>
      </p:sp>
      <p:sp>
        <p:nvSpPr>
          <p:cNvPr id="40" name="Text 37"/>
          <p:cNvSpPr txBox="1"/>
          <p:nvPr/>
        </p:nvSpPr>
        <p:spPr>
          <a:xfrm>
            <a:off x="6327648"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We plant …</a:t>
            </a:r>
            <a:endParaRPr lang="en-US" sz="1050" dirty="0"/>
          </a:p>
        </p:txBody>
      </p:sp>
      <p:sp>
        <p:nvSpPr>
          <p:cNvPr id="41" name="Shape 38"/>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Text 39"/>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ea typeface="Calibri" pitchFamily="34" charset="-122"/>
                <a:cs typeface="Calibri" pitchFamily="34" charset="-120"/>
              </a:rPr>
              <a:t>WORD BANK</a:t>
            </a:r>
            <a:endParaRPr lang="en-US" sz="950" dirty="0"/>
          </a:p>
        </p:txBody>
      </p:sp>
      <p:sp>
        <p:nvSpPr>
          <p:cNvPr id="43" name="Text 40"/>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550" b="1" dirty="0">
                <a:solidFill>
                  <a:srgbClr val="1B3B6F"/>
                </a:solidFill>
                <a:latin typeface="Amiri" pitchFamily="34" charset="0"/>
                <a:ea typeface="Amiri" pitchFamily="34" charset="-122"/>
                <a:cs typeface="Amiri" pitchFamily="34" charset="-120"/>
              </a:rPr>
              <a:t>إِعَادَةُ التَّدْوِيرِ  ·  الطَّاقَةُ الشَّمْسِيَّةُ  ·  طَاقَةُ الرِّيَاحِ  ·  النَّقْلُ العَامُّ  ·  الدَّرَّاجَةَ  ·  المَاءَ  ·  الأَشْجَارَ  ·  البِلَاسْتِيكَ  ·  نُقَلِّلَ  ·  نُوَفِّرَ  ·  نَزْرَعَ  ·  نُعِيدَ  ·  نَسْتَخْدِمَ</a:t>
            </a:r>
            <a:endParaRPr lang="ar-SA" sz="15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36 / 46</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TC-L05 · Environmental Solutions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2 · Lesson 2 of 3</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ea typeface="Calibri" pitchFamily="34" charset="-122"/>
                <a:cs typeface="Calibri" pitchFamily="34" charset="-120"/>
              </a:rPr>
              <a:t>Write 120–140 Arabic words proposing solutions to one environmental problem.</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  Describe the problem briefly.</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  Use </a:t>
            </a:r>
            <a:pPr algn="l" indent="0" marL="0">
              <a:buNone/>
            </a:pPr>
            <a:r>
              <a:rPr lang="ar-SA" altLang="en-US" sz="1550" dirty="0">
                <a:solidFill>
                  <a:srgbClr val="1F2A37"/>
                </a:solidFill>
                <a:latin typeface="Amiri" pitchFamily="34" charset="0"/>
                <a:ea typeface="Amiri" pitchFamily="34" charset="-122"/>
                <a:cs typeface="Amiri" pitchFamily="34" charset="-120"/>
              </a:rPr>
              <a:t>ينبغي أن</a:t>
            </a:r>
            <a:pPr algn="l" indent="0" marL="0">
              <a:buNone/>
            </a:pPr>
            <a:r>
              <a:rPr lang="en-US" sz="1200" dirty="0">
                <a:solidFill>
                  <a:srgbClr val="1F2A37"/>
                </a:solidFill>
                <a:latin typeface="Calibri" pitchFamily="34" charset="0"/>
                <a:ea typeface="Calibri" pitchFamily="34" charset="-122"/>
                <a:cs typeface="Calibri" pitchFamily="34" charset="-120"/>
              </a:rPr>
              <a:t>, </a:t>
            </a:r>
            <a:pPr algn="l" indent="0" marL="0">
              <a:buNone/>
            </a:pPr>
            <a:r>
              <a:rPr lang="ar-SA" altLang="en-US" sz="1550" dirty="0">
                <a:solidFill>
                  <a:srgbClr val="1F2A37"/>
                </a:solidFill>
                <a:latin typeface="Amiri" pitchFamily="34" charset="0"/>
                <a:ea typeface="Amiri" pitchFamily="34" charset="-122"/>
                <a:cs typeface="Amiri" pitchFamily="34" charset="-120"/>
              </a:rPr>
              <a:t>يجب على</a:t>
            </a:r>
            <a:pPr algn="l" indent="0" marL="0">
              <a:buNone/>
            </a:pPr>
            <a:r>
              <a:rPr lang="en-US" sz="1200" dirty="0">
                <a:solidFill>
                  <a:srgbClr val="1F2A37"/>
                </a:solidFill>
                <a:latin typeface="Calibri" pitchFamily="34" charset="0"/>
                <a:ea typeface="Calibri" pitchFamily="34" charset="-122"/>
                <a:cs typeface="Calibri" pitchFamily="34" charset="-120"/>
              </a:rPr>
              <a:t> ... </a:t>
            </a:r>
            <a:pPr algn="l" indent="0" marL="0">
              <a:buNone/>
            </a:pPr>
            <a:r>
              <a:rPr lang="ar-SA" altLang="en-US" sz="1550" dirty="0">
                <a:solidFill>
                  <a:srgbClr val="1F2A37"/>
                </a:solidFill>
                <a:latin typeface="Amiri" pitchFamily="34" charset="0"/>
                <a:ea typeface="Amiri" pitchFamily="34" charset="-122"/>
                <a:cs typeface="Amiri" pitchFamily="34" charset="-120"/>
              </a:rPr>
              <a:t>أن</a:t>
            </a:r>
            <a:pPr algn="l" indent="0" marL="0">
              <a:buNone/>
            </a:pPr>
            <a:r>
              <a:rPr lang="en-US" sz="1200" dirty="0">
                <a:solidFill>
                  <a:srgbClr val="1F2A37"/>
                </a:solidFill>
                <a:latin typeface="Calibri" pitchFamily="34" charset="0"/>
                <a:ea typeface="Calibri" pitchFamily="34" charset="-122"/>
                <a:cs typeface="Calibri" pitchFamily="34" charset="-120"/>
              </a:rPr>
              <a:t> and </a:t>
            </a:r>
            <a:pPr algn="l" indent="0" marL="0">
              <a:buNone/>
            </a:pPr>
            <a:r>
              <a:rPr lang="ar-SA" altLang="en-US" sz="1550" dirty="0">
                <a:solidFill>
                  <a:srgbClr val="1F2A37"/>
                </a:solidFill>
                <a:latin typeface="Amiri" pitchFamily="34" charset="0"/>
                <a:ea typeface="Amiri" pitchFamily="34" charset="-122"/>
                <a:cs typeface="Amiri" pitchFamily="34" charset="-120"/>
              </a:rPr>
              <a:t>لكي</a:t>
            </a:r>
            <a:pPr algn="l" indent="0" marL="0">
              <a:buNone/>
            </a:pPr>
            <a:r>
              <a:rPr lang="en-US" sz="1200" dirty="0">
                <a:solidFill>
                  <a:srgbClr val="1F2A37"/>
                </a:solidFill>
                <a:latin typeface="Calibri" pitchFamily="34" charset="0"/>
                <a:ea typeface="Calibri" pitchFamily="34" charset="-122"/>
                <a:cs typeface="Calibri" pitchFamily="34" charset="-120"/>
              </a:rPr>
              <a:t> accurately.</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  Include responsibility for individuals and government.</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  Evaluate one limitation and conclude.</a:t>
            </a:r>
            <a:endParaRPr lang="en-US" sz="1200" dirty="0"/>
          </a:p>
        </p:txBody>
      </p:sp>
      <p:sp>
        <p:nvSpPr>
          <p:cNvPr id="23" name="Shape 20"/>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ea typeface="Calibri" pitchFamily="34" charset="-122"/>
                <a:cs typeface="Calibri" pitchFamily="34" charset="-120"/>
              </a:rPr>
              <a:t>PHRASE BANK — FROM THE WEBSITE TEXTS</a:t>
            </a:r>
            <a:endParaRPr lang="en-US" sz="950" dirty="0"/>
          </a:p>
        </p:txBody>
      </p:sp>
      <p:sp>
        <p:nvSpPr>
          <p:cNvPr id="25" name="Text 22"/>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تُعَانِي مَدْرَسَتُنَا مِنْ …</a:t>
            </a:r>
            <a:endParaRPr lang="ar-SA" sz="1800" dirty="0"/>
          </a:p>
        </p:txBody>
      </p:sp>
      <p:sp>
        <p:nvSpPr>
          <p:cNvPr id="26" name="Text 23"/>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ea typeface="Calibri" pitchFamily="34" charset="-122"/>
                <a:cs typeface="Calibri" pitchFamily="34" charset="-120"/>
              </a:rPr>
              <a:t>our school suffers from …</a:t>
            </a:r>
            <a:endParaRPr lang="en-US" sz="1050" dirty="0"/>
          </a:p>
        </p:txBody>
      </p:sp>
      <p:sp>
        <p:nvSpPr>
          <p:cNvPr id="27" name="Text 24"/>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لِحَلِّ هٰذِهِ المُشْكِلَةِ</a:t>
            </a:r>
            <a:endParaRPr lang="ar-SA" sz="1800" dirty="0"/>
          </a:p>
        </p:txBody>
      </p:sp>
      <p:sp>
        <p:nvSpPr>
          <p:cNvPr id="28" name="Text 25"/>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ea typeface="Calibri" pitchFamily="34" charset="-122"/>
                <a:cs typeface="Calibri" pitchFamily="34" charset="-120"/>
              </a:rPr>
              <a:t>to solve this problem</a:t>
            </a:r>
            <a:endParaRPr lang="en-US" sz="1050" dirty="0"/>
          </a:p>
        </p:txBody>
      </p:sp>
      <p:sp>
        <p:nvSpPr>
          <p:cNvPr id="29" name="Text 26"/>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الَّتِي تُسْتَعْمَلُ مَرَّةً وَاحِدَةً</a:t>
            </a:r>
            <a:endParaRPr lang="ar-SA" sz="1800" dirty="0"/>
          </a:p>
        </p:txBody>
      </p:sp>
      <p:sp>
        <p:nvSpPr>
          <p:cNvPr id="30" name="Text 27"/>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ea typeface="Calibri" pitchFamily="34" charset="-122"/>
                <a:cs typeface="Calibri" pitchFamily="34" charset="-120"/>
              </a:rPr>
              <a:t>which are used only once</a:t>
            </a:r>
            <a:endParaRPr lang="en-US" sz="1050" dirty="0"/>
          </a:p>
        </p:txBody>
      </p:sp>
      <p:sp>
        <p:nvSpPr>
          <p:cNvPr id="31" name="Text 28"/>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عَلَاوَةً عَلَى ذٰلِكَ</a:t>
            </a:r>
            <a:endParaRPr lang="ar-SA" sz="1800" dirty="0"/>
          </a:p>
        </p:txBody>
      </p:sp>
      <p:sp>
        <p:nvSpPr>
          <p:cNvPr id="32" name="Text 29"/>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ea typeface="Calibri" pitchFamily="34" charset="-122"/>
                <a:cs typeface="Calibri" pitchFamily="34" charset="-120"/>
              </a:rPr>
              <a:t>in addition to that</a:t>
            </a:r>
            <a:endParaRPr lang="en-US" sz="1050" dirty="0"/>
          </a:p>
        </p:txBody>
      </p:sp>
      <p:sp>
        <p:nvSpPr>
          <p:cNvPr id="33" name="Text 30"/>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مِنَ الضَّرُورِيِّ أَنْ نَنْشُرَ الوَعْيَ البِيئِيَّ</a:t>
            </a:r>
            <a:endParaRPr lang="ar-SA" sz="1800" dirty="0"/>
          </a:p>
        </p:txBody>
      </p:sp>
      <p:sp>
        <p:nvSpPr>
          <p:cNvPr id="34" name="Text 31"/>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ea typeface="Calibri" pitchFamily="34" charset="-122"/>
                <a:cs typeface="Calibri" pitchFamily="34" charset="-120"/>
              </a:rPr>
              <a:t>it is necessary to spread environmental awareness</a:t>
            </a:r>
            <a:endParaRPr lang="en-US" sz="1050" dirty="0"/>
          </a:p>
        </p:txBody>
      </p:sp>
      <p:sp>
        <p:nvSpPr>
          <p:cNvPr id="35" name="Text 32"/>
          <p:cNvSpPr txBox="1"/>
          <p:nvPr/>
        </p:nvSpPr>
        <p:spPr>
          <a:xfrm>
            <a:off x="8412480" y="552297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هٰذِهِ الخُطُوَاتُ عَمَلِيَّةٌ وَقَابِلَةٌ لِلتَّطْبِيقِ</a:t>
            </a:r>
            <a:endParaRPr lang="ar-SA" sz="1800" dirty="0"/>
          </a:p>
        </p:txBody>
      </p:sp>
      <p:sp>
        <p:nvSpPr>
          <p:cNvPr id="36" name="Text 33"/>
          <p:cNvSpPr txBox="1"/>
          <p:nvPr/>
        </p:nvSpPr>
        <p:spPr>
          <a:xfrm>
            <a:off x="6400800" y="585216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ea typeface="Calibri" pitchFamily="34" charset="-122"/>
                <a:cs typeface="Calibri" pitchFamily="34" charset="-120"/>
              </a:rPr>
              <a:t>these steps are practical and achievable</a:t>
            </a:r>
            <a:endParaRPr lang="en-US" sz="105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37 / 46</a:t>
            </a:r>
            <a:endParaRPr lang="en-US" sz="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TC-L05 · Environmental Solutions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ea typeface="Calibri" pitchFamily="34" charset="-122"/>
                <a:cs typeface="Calibri" pitchFamily="34" charset="-120"/>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2 · Lesson 2 of 3</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550" dirty="0">
                <a:solidFill>
                  <a:srgbClr val="1F2A37"/>
                </a:solidFill>
                <a:latin typeface="Amiri" pitchFamily="34" charset="0"/>
                <a:ea typeface="Amiri" pitchFamily="34" charset="-122"/>
                <a:cs typeface="Amiri" pitchFamily="34" charset="-120"/>
              </a:rPr>
              <a:t>تُعَانِي مَدْرَسَتُنَا مِنْ زِيَادَةِ النُّفَايَاتِ البِلَاسْتِيكِيَّةِ. لِحَلِّ هٰذِهِ المُشْكِلَةِ، يَنْبَغِي أَنْ نُقَلِّلَ اسْتِخْدَامَ الأَكْوَابِ وَالأَكْيَاسِ الَّتِي تُسْتَعْمَلُ مَرَّةً وَاحِدَةً. وَيَجِبُ عَلَى الطُّلَّابِ أَنْ يُعِيدُوا التَّدْوِيرَ، كَمَا يَجِبُ عَلَى الإِدَارَةِ أَنْ تُوَفِّرَ حَاوِيَاتٍ مُنَاسِبَةً. وَيُمْكِنُ أَنْ نَسْتَخْدِمَ زُجَاجَاتٍ قَابِلَةً لِإِعَادَةِ الاسْتِخْدَامِ لِكَيْ نُقَلِّلَ كَمِّيَّةَ البِلَاسْتِيكِ. عَلَاوَةً عَلَى ذٰلِكَ، مِنَ الضَّرُورِيِّ أَنْ نَنْشُرَ الوَعْيَ البِيئِيَّ. فِي رَأْيِي، هٰذِهِ الخُطُوَاتُ عَمَلِيَّةٌ وَقَابِلَةٌ لِلتَّطْبِيقِ.</a:t>
            </a:r>
            <a:endParaRPr lang="ar-SA" sz="255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ea typeface="Calibri" pitchFamily="34" charset="-122"/>
                <a:cs typeface="Calibri" pitchFamily="34" charset="-120"/>
              </a:rPr>
              <a:t>Our school suffers from an increase in plastic waste. To solve this problem, we should reduce the use of cups and bags that are used only once. Students must recycle, and the administration must provide suitable bins. We can use reusable bottles so that we reduce the amount of plastic. In addition, it is necessary to spread environmental awareness. In my opinion, these steps are practical and achievable.</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ea typeface="Calibri" pitchFamily="34" charset="-122"/>
                <a:cs typeface="Calibri" pitchFamily="34" charset="-120"/>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يَنْبَغِي أَنْ + verb (ـَ)</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يَجِبُ عَلَى … أَنْ</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لِكَيْ + purpose</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an opinion</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38 / 46</a:t>
            </a:r>
            <a:endParaRPr lang="en-US" sz="8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TC-L05 · Environmental Solutions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ea typeface="Calibri" pitchFamily="34" charset="-122"/>
                <a:cs typeface="Calibri" pitchFamily="34" charset="-120"/>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2 · Lesson 2 of 3</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I can name environmental solutions (</a:t>
            </a:r>
            <a:pPr algn="l" indent="0" marL="0">
              <a:buNone/>
            </a:pPr>
            <a:r>
              <a:rPr lang="ar-SA" altLang="en-US" sz="1700" dirty="0">
                <a:solidFill>
                  <a:srgbClr val="1F2A37"/>
                </a:solidFill>
                <a:latin typeface="Amiri" pitchFamily="34" charset="0"/>
                <a:ea typeface="Amiri" pitchFamily="34" charset="-122"/>
                <a:cs typeface="Amiri" pitchFamily="34" charset="-120"/>
              </a:rPr>
              <a:t>إِعَادَةُ التَّدْوِيرِ، الطَّاقَةُ الشَّمْسِيَّةُ</a:t>
            </a:r>
            <a:pPr algn="l" indent="0" marL="0">
              <a:buNone/>
            </a:pPr>
            <a:r>
              <a:rPr lang="en-US" sz="1300" dirty="0">
                <a:solidFill>
                  <a:srgbClr val="1F2A37"/>
                </a:solidFill>
                <a:latin typeface="Calibri" pitchFamily="34" charset="0"/>
                <a:ea typeface="Calibri" pitchFamily="34" charset="-122"/>
                <a:cs typeface="Calibri" pitchFamily="34" charset="-120"/>
              </a:rPr>
              <a:t> …).</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I can give advice with a fatḥa after </a:t>
            </a:r>
            <a:pPr algn="l" indent="0" marL="0">
              <a:buNone/>
            </a:pPr>
            <a:r>
              <a:rPr lang="ar-SA" altLang="en-US" sz="1700" dirty="0">
                <a:solidFill>
                  <a:srgbClr val="1F2A37"/>
                </a:solidFill>
                <a:latin typeface="Amiri" pitchFamily="34" charset="0"/>
                <a:ea typeface="Amiri" pitchFamily="34" charset="-122"/>
                <a:cs typeface="Amiri" pitchFamily="34" charset="-120"/>
              </a:rPr>
              <a:t>أَنْ</a:t>
            </a:r>
            <a:pPr algn="l" indent="0" marL="0">
              <a:buNone/>
            </a:pPr>
            <a:r>
              <a:rPr lang="en-US" sz="1300" dirty="0">
                <a:solidFill>
                  <a:srgbClr val="1F2A37"/>
                </a:solidFill>
                <a:latin typeface="Calibri" pitchFamily="34" charset="0"/>
                <a:ea typeface="Calibri" pitchFamily="34" charset="-122"/>
                <a:cs typeface="Calibri" pitchFamily="34" charset="-120"/>
              </a:rPr>
              <a:t>: </a:t>
            </a:r>
            <a:pPr algn="l" indent="0" marL="0">
              <a:buNone/>
            </a:pPr>
            <a:r>
              <a:rPr lang="ar-SA" altLang="en-US" sz="1700" dirty="0">
                <a:solidFill>
                  <a:srgbClr val="1F2A37"/>
                </a:solidFill>
                <a:latin typeface="Amiri" pitchFamily="34" charset="0"/>
                <a:ea typeface="Amiri" pitchFamily="34" charset="-122"/>
                <a:cs typeface="Amiri" pitchFamily="34" charset="-120"/>
              </a:rPr>
              <a:t>يَنْبَغِي أَنْ نُقَلِّلَ</a:t>
            </a:r>
            <a:pPr algn="l" indent="0" marL="0">
              <a:buNone/>
            </a:pPr>
            <a:r>
              <a:rPr lang="en-US" sz="1300" dirty="0">
                <a:solidFill>
                  <a:srgbClr val="1F2A37"/>
                </a:solidFill>
                <a:latin typeface="Calibri" pitchFamily="34" charset="0"/>
                <a:ea typeface="Calibri" pitchFamily="34" charset="-122"/>
                <a:cs typeface="Calibri" pitchFamily="34" charset="-120"/>
              </a:rPr>
              <a: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I can say who is responsible: </a:t>
            </a:r>
            <a:pPr algn="l" indent="0" marL="0">
              <a:buNone/>
            </a:pPr>
            <a:r>
              <a:rPr lang="ar-SA" altLang="en-US" sz="1700" dirty="0">
                <a:solidFill>
                  <a:srgbClr val="1F2A37"/>
                </a:solidFill>
                <a:latin typeface="Amiri" pitchFamily="34" charset="0"/>
                <a:ea typeface="Amiri" pitchFamily="34" charset="-122"/>
                <a:cs typeface="Amiri" pitchFamily="34" charset="-120"/>
              </a:rPr>
              <a:t>يَجِبُ عَلَى الحُكُومَةِ أَنْ</a:t>
            </a:r>
            <a:pPr algn="l" indent="0" marL="0">
              <a:buNone/>
            </a:pPr>
            <a:r>
              <a:rPr lang="en-US" sz="1300" dirty="0">
                <a:solidFill>
                  <a:srgbClr val="1F2A37"/>
                </a:solidFill>
                <a:latin typeface="Calibri" pitchFamily="34" charset="0"/>
                <a:ea typeface="Calibri" pitchFamily="34" charset="-122"/>
                <a:cs typeface="Calibri" pitchFamily="34" charset="-120"/>
              </a:rPr>
              <a:t> …</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I can support an answer with exact Arabic evidence.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I know only the five verbs lose </a:t>
            </a:r>
            <a:pPr algn="l" indent="0" marL="0">
              <a:buNone/>
            </a:pPr>
            <a:r>
              <a:rPr lang="ar-SA" altLang="en-US" sz="1700" dirty="0">
                <a:solidFill>
                  <a:srgbClr val="1F2A37"/>
                </a:solidFill>
                <a:latin typeface="Amiri" pitchFamily="34" charset="0"/>
                <a:ea typeface="Amiri" pitchFamily="34" charset="-122"/>
                <a:cs typeface="Amiri" pitchFamily="34" charset="-120"/>
              </a:rPr>
              <a:t>ن</a:t>
            </a:r>
            <a:pPr algn="l" indent="0" marL="0">
              <a:buNone/>
            </a:pPr>
            <a:r>
              <a:rPr lang="en-US" sz="1300" dirty="0">
                <a:solidFill>
                  <a:srgbClr val="1F2A37"/>
                </a:solidFill>
                <a:latin typeface="Calibri" pitchFamily="34" charset="0"/>
                <a:ea typeface="Calibri" pitchFamily="34" charset="-122"/>
                <a:cs typeface="Calibri" pitchFamily="34" charset="-120"/>
              </a:rPr>
              <a:t> after </a:t>
            </a:r>
            <a:pPr algn="l" indent="0" marL="0">
              <a:buNone/>
            </a:pPr>
            <a:r>
              <a:rPr lang="ar-SA" altLang="en-US" sz="1700" dirty="0">
                <a:solidFill>
                  <a:srgbClr val="1F2A37"/>
                </a:solidFill>
                <a:latin typeface="Amiri" pitchFamily="34" charset="0"/>
                <a:ea typeface="Amiri" pitchFamily="34" charset="-122"/>
                <a:cs typeface="Amiri" pitchFamily="34" charset="-120"/>
              </a:rPr>
              <a:t>أَنْ</a:t>
            </a:r>
            <a:pPr algn="l" indent="0" marL="0">
              <a:buNone/>
            </a:pPr>
            <a:r>
              <a:rPr lang="en-US" sz="1300" dirty="0">
                <a:solidFill>
                  <a:srgbClr val="1F2A37"/>
                </a:solidFill>
                <a:latin typeface="Calibri" pitchFamily="34" charset="0"/>
                <a:ea typeface="Calibri" pitchFamily="34" charset="-122"/>
                <a:cs typeface="Calibri" pitchFamily="34" charset="-120"/>
              </a:rPr>
              <a:t>: </a:t>
            </a:r>
            <a:pPr algn="l" indent="0" marL="0">
              <a:buNone/>
            </a:pPr>
            <a:r>
              <a:rPr lang="ar-SA" altLang="en-US" sz="1700" dirty="0">
                <a:solidFill>
                  <a:srgbClr val="1F2A37"/>
                </a:solidFill>
                <a:latin typeface="Amiri" pitchFamily="34" charset="0"/>
                <a:ea typeface="Amiri" pitchFamily="34" charset="-122"/>
                <a:cs typeface="Amiri" pitchFamily="34" charset="-120"/>
              </a:rPr>
              <a:t>أَنْ يُعِيدُوا</a:t>
            </a:r>
            <a:pPr algn="l" indent="0" marL="0">
              <a:buNone/>
            </a:pPr>
            <a:r>
              <a:rPr lang="en-US" sz="1300" dirty="0">
                <a:solidFill>
                  <a:srgbClr val="1F2A37"/>
                </a:solidFill>
                <a:latin typeface="Calibri" pitchFamily="34" charset="0"/>
                <a:ea typeface="Calibri" pitchFamily="34" charset="-122"/>
                <a:cs typeface="Calibri" pitchFamily="34" charset="-120"/>
              </a:rPr>
              <a:t>.</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ea typeface="Calibri" pitchFamily="34" charset="-122"/>
                <a:cs typeface="Calibri" pitchFamily="34" charset="-120"/>
              </a:rPr>
              <a:t>WWW</a:t>
            </a:r>
            <a:endParaRPr lang="en-US" sz="1800" dirty="0"/>
          </a:p>
          <a:p>
            <a:pPr indent="0" marL="0">
              <a:buNone/>
            </a:pPr>
            <a:r>
              <a:rPr lang="en-US" sz="1200" dirty="0">
                <a:solidFill>
                  <a:srgbClr val="1F2A37"/>
                </a:solidFill>
                <a:latin typeface="Calibri" pitchFamily="34" charset="0"/>
                <a:ea typeface="Calibri" pitchFamily="34" charset="-122"/>
                <a:cs typeface="Calibri" pitchFamily="34" charset="-120"/>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ea typeface="Calibri" pitchFamily="34" charset="-122"/>
                <a:cs typeface="Calibri" pitchFamily="34" charset="-120"/>
              </a:rPr>
              <a:t>EBI</a:t>
            </a:r>
            <a:endParaRPr lang="en-US" sz="1800" dirty="0"/>
          </a:p>
          <a:p>
            <a:pPr indent="0" marL="0">
              <a:buNone/>
            </a:pPr>
            <a:r>
              <a:rPr lang="en-US" sz="1200" dirty="0">
                <a:solidFill>
                  <a:srgbClr val="1F2A37"/>
                </a:solidFill>
                <a:latin typeface="Calibri" pitchFamily="34" charset="0"/>
                <a:ea typeface="Calibri" pitchFamily="34" charset="-122"/>
                <a:cs typeface="Calibri" pitchFamily="34" charset="-120"/>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39 / 46</a:t>
            </a:r>
            <a:endParaRPr lang="en-US" sz="8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TC-L05 · Environmental Solutions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ea typeface="Calibri" pitchFamily="34" charset="-122"/>
                <a:cs typeface="Calibri" pitchFamily="34" charset="-120"/>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2 · Lesson 2 of 3</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accurate subjunctive form after </a:t>
            </a:r>
            <a:pPr algn="l" indent="0" marL="0">
              <a:buNone/>
            </a:pPr>
            <a:r>
              <a:rPr lang="ar-SA" altLang="en-US" sz="1650" b="1" dirty="0">
                <a:solidFill>
                  <a:srgbClr val="1B3B6F"/>
                </a:solidFill>
                <a:latin typeface="Amiri" pitchFamily="34" charset="0"/>
                <a:ea typeface="Amiri" pitchFamily="34" charset="-122"/>
                <a:cs typeface="Amiri" pitchFamily="34" charset="-120"/>
              </a:rPr>
              <a:t>أَنْ</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نُقَلِّلَ</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نُقَلِّلُ</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نُقَلِّلْ</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sentence expresses purpose?</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34" charset="0"/>
                <a:ea typeface="Amiri" pitchFamily="34" charset="-122"/>
                <a:cs typeface="Amiri" pitchFamily="34" charset="-120"/>
              </a:rPr>
              <a:t>نَزْرَعُ الأَشْجَارَ بِسَبَبِ الهَوَاءِ.</a:t>
            </a:r>
            <a:endParaRPr lang="ar-SA" sz="200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34" charset="0"/>
                <a:ea typeface="Amiri" pitchFamily="34" charset="-122"/>
                <a:cs typeface="Amiri" pitchFamily="34" charset="-120"/>
              </a:rPr>
              <a:t>نَزْرَعُ الأَشْجَارَ لِكَيْ نُحَسِّنَ الهَوَاءَ.</a:t>
            </a:r>
            <a:endParaRPr lang="ar-SA" sz="200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34" charset="0"/>
                <a:ea typeface="Amiri" pitchFamily="34" charset="-122"/>
                <a:cs typeface="Amiri" pitchFamily="34" charset="-120"/>
              </a:rPr>
              <a:t>نَزْرَعُ الأَشْجَارَ نَتِيجَةً لِلهَوَاءِ.</a:t>
            </a:r>
            <a:endParaRPr lang="ar-SA" sz="200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pattern names a responsible group?</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يَجِبُ عَلَى الحُكُومَةِ أَنْ</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مِنَ المُتَوَقَّعِ أَنْ</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يَتَّسِمُ بِـ</a:t>
            </a:r>
            <a:endParaRPr lang="ar-SA" sz="20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ea typeface="Calibri" pitchFamily="34" charset="-122"/>
                <a:cs typeface="Calibri" pitchFamily="34" charset="-120"/>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40 / 46</a:t>
            </a:r>
            <a:endParaRPr lang="en-US" sz="8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TC-L05 · Environmental Solutions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ea typeface="Calibri" pitchFamily="34" charset="-122"/>
                <a:cs typeface="Calibri" pitchFamily="34" charset="-120"/>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2 · Lesson 2 of 3</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accurate subjunctive form after </a:t>
            </a:r>
            <a:pPr algn="l" indent="0" marL="0">
              <a:buNone/>
            </a:pPr>
            <a:r>
              <a:rPr lang="ar-SA" altLang="en-US" sz="1650" b="1" dirty="0">
                <a:solidFill>
                  <a:srgbClr val="1B3B6F"/>
                </a:solidFill>
                <a:latin typeface="Amiri" pitchFamily="34" charset="0"/>
                <a:ea typeface="Amiri" pitchFamily="34" charset="-122"/>
                <a:cs typeface="Amiri" pitchFamily="34" charset="-120"/>
              </a:rPr>
              <a:t>أَنْ</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34" charset="0"/>
                <a:ea typeface="Amiri" pitchFamily="34" charset="-122"/>
                <a:cs typeface="Amiri" pitchFamily="34" charset="-120"/>
              </a:rPr>
              <a:t>نُقَلِّلَ</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34" charset="0"/>
                <a:ea typeface="Amiri" pitchFamily="34" charset="-122"/>
                <a:cs typeface="Amiri" pitchFamily="34" charset="-120"/>
              </a:rPr>
              <a:t>نُقَلِّلُ</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34" charset="0"/>
                <a:ea typeface="Amiri" pitchFamily="34" charset="-122"/>
                <a:cs typeface="Amiri" pitchFamily="34" charset="-120"/>
              </a:rPr>
              <a:t>نُقَلِّلْ</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The sound-ending verb takes fatḥa after </a:t>
            </a:r>
            <a:pPr algn="l" indent="0" marL="0">
              <a:buNone/>
            </a:pPr>
            <a:r>
              <a:rPr lang="ar-SA" altLang="en-US" sz="1350" dirty="0">
                <a:solidFill>
                  <a:srgbClr val="8A6D1E"/>
                </a:solidFill>
                <a:latin typeface="Amiri" pitchFamily="34" charset="0"/>
                <a:ea typeface="Amiri" pitchFamily="34" charset="-122"/>
                <a:cs typeface="Amiri" pitchFamily="34" charset="-120"/>
              </a:rPr>
              <a:t>أن</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sentence expresses purpose?</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00" dirty="0">
                <a:solidFill>
                  <a:srgbClr val="9AA1AB"/>
                </a:solidFill>
                <a:latin typeface="Amiri" pitchFamily="34" charset="0"/>
                <a:ea typeface="Amiri" pitchFamily="34" charset="-122"/>
                <a:cs typeface="Amiri" pitchFamily="34" charset="-120"/>
              </a:rPr>
              <a:t>نَزْرَعُ الأَشْجَارَ بِسَبَبِ الهَوَاءِ.</a:t>
            </a:r>
            <a:endParaRPr lang="ar-SA" sz="200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34" charset="0"/>
                <a:ea typeface="Amiri" pitchFamily="34" charset="-122"/>
                <a:cs typeface="Amiri" pitchFamily="34" charset="-120"/>
              </a:rPr>
              <a:t>نَزْرَعُ الأَشْجَارَ لِكَيْ نُحَسِّنَ الهَوَاءَ.</a:t>
            </a:r>
            <a:endParaRPr lang="ar-SA" sz="200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00" dirty="0">
                <a:solidFill>
                  <a:srgbClr val="9AA1AB"/>
                </a:solidFill>
                <a:latin typeface="Amiri" pitchFamily="34" charset="0"/>
                <a:ea typeface="Amiri" pitchFamily="34" charset="-122"/>
                <a:cs typeface="Amiri" pitchFamily="34" charset="-120"/>
              </a:rPr>
              <a:t>نَزْرَعُ الأَشْجَارَ نَتِيجَةً لِلهَوَاءِ.</a:t>
            </a:r>
            <a:endParaRPr lang="ar-SA" sz="200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لكي</a:t>
            </a:r>
            <a:pPr algn="l" indent="0" marL="0">
              <a:buNone/>
            </a:pPr>
            <a:r>
              <a:rPr lang="en-US" sz="1050" i="1" dirty="0">
                <a:solidFill>
                  <a:srgbClr val="8A6D1E"/>
                </a:solidFill>
                <a:latin typeface="Calibri" pitchFamily="34" charset="0"/>
                <a:ea typeface="Calibri" pitchFamily="34" charset="-122"/>
                <a:cs typeface="Calibri" pitchFamily="34" charset="-120"/>
              </a:rPr>
              <a:t> introduces purpose.</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pattern names a responsible group?</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34" charset="0"/>
                <a:ea typeface="Amiri" pitchFamily="34" charset="-122"/>
                <a:cs typeface="Amiri" pitchFamily="34" charset="-120"/>
              </a:rPr>
              <a:t>يَجِبُ عَلَى الحُكُومَةِ أَنْ</a:t>
            </a:r>
            <a:endParaRPr lang="ar-SA" sz="20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34" charset="0"/>
                <a:ea typeface="Amiri" pitchFamily="34" charset="-122"/>
                <a:cs typeface="Amiri" pitchFamily="34" charset="-120"/>
              </a:rPr>
              <a:t>مِنَ المُتَوَقَّعِ أَنْ</a:t>
            </a:r>
            <a:endParaRPr lang="ar-SA" sz="20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34" charset="0"/>
                <a:ea typeface="Amiri" pitchFamily="34" charset="-122"/>
                <a:cs typeface="Amiri" pitchFamily="34" charset="-120"/>
              </a:rPr>
              <a:t>يَتَّسِمُ بِـ</a:t>
            </a:r>
            <a:endParaRPr lang="ar-SA" sz="20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يجب على</a:t>
            </a:r>
            <a:pPr algn="l" indent="0" marL="0">
              <a:buNone/>
            </a:pPr>
            <a:r>
              <a:rPr lang="en-US" sz="1050" i="1" dirty="0">
                <a:solidFill>
                  <a:srgbClr val="8A6D1E"/>
                </a:solidFill>
                <a:latin typeface="Calibri" pitchFamily="34" charset="0"/>
                <a:ea typeface="Calibri" pitchFamily="34" charset="-122"/>
                <a:cs typeface="Calibri" pitchFamily="34" charset="-120"/>
              </a:rPr>
              <a:t> names who has the obligation.</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ea typeface="Calibri" pitchFamily="34" charset="-122"/>
                <a:cs typeface="Calibri" pitchFamily="34" charset="-120"/>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41 / 46</a:t>
            </a:r>
            <a:endParaRPr lang="en-US" sz="8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TC-L05 · Environmental Solutions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EXTENSION · FAST FINISHERS OR HOMEWORK (STRETCH)</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Reading: a school recycling plan</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2 · Lesson 2 of 3</a:t>
            </a:r>
            <a:endParaRPr lang="en-US" sz="850" dirty="0"/>
          </a:p>
        </p:txBody>
      </p:sp>
      <p:sp>
        <p:nvSpPr>
          <p:cNvPr id="17" name="Shape 14"/>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600" dirty="0">
                <a:solidFill>
                  <a:srgbClr val="1F2A37"/>
                </a:solidFill>
                <a:latin typeface="Amiri" pitchFamily="34" charset="0"/>
                <a:ea typeface="Amiri" pitchFamily="34" charset="-122"/>
                <a:cs typeface="Amiri" pitchFamily="34" charset="-120"/>
              </a:rPr>
              <a:t>لِحَلِّ مُشْكِلَةِ النُّفَايَاتِ فِي المَدْرَسَةِ، يَنْبَغِي أَنْ نُقَلِّلَ الأَغْلِفَةَ البِلَاسْتِيكِيَّةَ، وَأَنْ نَضَعَ حَاوِيَاتٍ لِإِعَادَةِ التَّدْوِيرِ. وَيَجِبُ عَلَى الطُّلَّابِ أَنْ يَفْصِلُوا الوَرَقَ عَنِ البِلَاسْتِيكِ، كَمَا يَجِبُ عَلَى الإِدَارَةِ أَنْ تُنَظِّمَ حَمْلَةَ تَوْعِيَةٍ. وَيُمْكِنُ أَنْ نَسْتَخْدِمَ زُجَاجَاتٍ قَابِلَةً لِإِعَادَةِ الاسْتِخْدَامِ لِكَيْ نُقَلِّلَ كَمِّيَّةَ النُّفَايَاتِ.</a:t>
            </a:r>
            <a:endParaRPr lang="ar-SA" sz="2600" dirty="0"/>
          </a:p>
        </p:txBody>
      </p:sp>
      <p:sp>
        <p:nvSpPr>
          <p:cNvPr id="19" name="Shape 16"/>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ea typeface="Calibri" pitchFamily="34" charset="-122"/>
                <a:cs typeface="Calibri" pitchFamily="34" charset="-120"/>
              </a:rPr>
              <a:t>KEY WORDS</a:t>
            </a:r>
            <a:endParaRPr lang="en-US" sz="1000" dirty="0"/>
          </a:p>
        </p:txBody>
      </p:sp>
      <p:sp>
        <p:nvSpPr>
          <p:cNvPr id="21" name="Text 18"/>
          <p:cNvSpPr txBox="1"/>
          <p:nvPr/>
        </p:nvSpPr>
        <p:spPr>
          <a:xfrm>
            <a:off x="10102291" y="221284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لِحَلِّ</a:t>
            </a:r>
            <a:endParaRPr lang="ar-SA" sz="1600" dirty="0"/>
          </a:p>
        </p:txBody>
      </p:sp>
      <p:sp>
        <p:nvSpPr>
          <p:cNvPr id="22" name="Text 19"/>
          <p:cNvSpPr txBox="1"/>
          <p:nvPr/>
        </p:nvSpPr>
        <p:spPr>
          <a:xfrm>
            <a:off x="8851392" y="221284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to solve</a:t>
            </a:r>
            <a:endParaRPr lang="en-US" sz="1050" dirty="0"/>
          </a:p>
        </p:txBody>
      </p:sp>
      <p:sp>
        <p:nvSpPr>
          <p:cNvPr id="23" name="Text 20"/>
          <p:cNvSpPr txBox="1"/>
          <p:nvPr/>
        </p:nvSpPr>
        <p:spPr>
          <a:xfrm>
            <a:off x="10102291" y="261518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الأَغْلِفَةُ</a:t>
            </a:r>
            <a:endParaRPr lang="ar-SA" sz="1600" dirty="0"/>
          </a:p>
        </p:txBody>
      </p:sp>
      <p:sp>
        <p:nvSpPr>
          <p:cNvPr id="24" name="Text 21"/>
          <p:cNvSpPr txBox="1"/>
          <p:nvPr/>
        </p:nvSpPr>
        <p:spPr>
          <a:xfrm>
            <a:off x="8851392" y="261518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packaging</a:t>
            </a:r>
            <a:endParaRPr lang="en-US" sz="1050" dirty="0"/>
          </a:p>
        </p:txBody>
      </p:sp>
      <p:sp>
        <p:nvSpPr>
          <p:cNvPr id="25" name="Text 22"/>
          <p:cNvSpPr txBox="1"/>
          <p:nvPr/>
        </p:nvSpPr>
        <p:spPr>
          <a:xfrm>
            <a:off x="10102291" y="301752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حَاوِيَاتٌ</a:t>
            </a:r>
            <a:endParaRPr lang="ar-SA" sz="1600" dirty="0"/>
          </a:p>
        </p:txBody>
      </p:sp>
      <p:sp>
        <p:nvSpPr>
          <p:cNvPr id="26" name="Text 23"/>
          <p:cNvSpPr txBox="1"/>
          <p:nvPr/>
        </p:nvSpPr>
        <p:spPr>
          <a:xfrm>
            <a:off x="8851392" y="301752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bins, containers</a:t>
            </a:r>
            <a:endParaRPr lang="en-US" sz="1050" dirty="0"/>
          </a:p>
        </p:txBody>
      </p:sp>
      <p:sp>
        <p:nvSpPr>
          <p:cNvPr id="27" name="Text 24"/>
          <p:cNvSpPr txBox="1"/>
          <p:nvPr/>
        </p:nvSpPr>
        <p:spPr>
          <a:xfrm>
            <a:off x="10102291" y="341985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يَفْصِلُوا</a:t>
            </a:r>
            <a:endParaRPr lang="ar-SA" sz="1600" dirty="0"/>
          </a:p>
        </p:txBody>
      </p:sp>
      <p:sp>
        <p:nvSpPr>
          <p:cNvPr id="28" name="Text 25"/>
          <p:cNvSpPr txBox="1"/>
          <p:nvPr/>
        </p:nvSpPr>
        <p:spPr>
          <a:xfrm>
            <a:off x="8851392" y="341985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(they) separate</a:t>
            </a:r>
            <a:endParaRPr lang="en-US" sz="1050" dirty="0"/>
          </a:p>
        </p:txBody>
      </p:sp>
      <p:sp>
        <p:nvSpPr>
          <p:cNvPr id="29" name="Text 26"/>
          <p:cNvSpPr txBox="1"/>
          <p:nvPr/>
        </p:nvSpPr>
        <p:spPr>
          <a:xfrm>
            <a:off x="10102291" y="382219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الإِدَارَةُ</a:t>
            </a:r>
            <a:endParaRPr lang="ar-SA" sz="1600" dirty="0"/>
          </a:p>
        </p:txBody>
      </p:sp>
      <p:sp>
        <p:nvSpPr>
          <p:cNvPr id="30" name="Text 27"/>
          <p:cNvSpPr txBox="1"/>
          <p:nvPr/>
        </p:nvSpPr>
        <p:spPr>
          <a:xfrm>
            <a:off x="8851392" y="382219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the (school) administration</a:t>
            </a:r>
            <a:endParaRPr lang="en-US" sz="1050" dirty="0"/>
          </a:p>
        </p:txBody>
      </p:sp>
      <p:sp>
        <p:nvSpPr>
          <p:cNvPr id="31" name="Text 28"/>
          <p:cNvSpPr txBox="1"/>
          <p:nvPr/>
        </p:nvSpPr>
        <p:spPr>
          <a:xfrm>
            <a:off x="10102291" y="422452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تُنَظِّمَ</a:t>
            </a:r>
            <a:endParaRPr lang="ar-SA" sz="1600" dirty="0"/>
          </a:p>
        </p:txBody>
      </p:sp>
      <p:sp>
        <p:nvSpPr>
          <p:cNvPr id="32" name="Text 29"/>
          <p:cNvSpPr txBox="1"/>
          <p:nvPr/>
        </p:nvSpPr>
        <p:spPr>
          <a:xfrm>
            <a:off x="8851392" y="422452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organise</a:t>
            </a:r>
            <a:endParaRPr lang="en-US" sz="1050" dirty="0"/>
          </a:p>
        </p:txBody>
      </p:sp>
      <p:sp>
        <p:nvSpPr>
          <p:cNvPr id="33" name="Text 30"/>
          <p:cNvSpPr txBox="1"/>
          <p:nvPr/>
        </p:nvSpPr>
        <p:spPr>
          <a:xfrm>
            <a:off x="10102291" y="462686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حَمْلَةُ تَوْعِيَةٍ</a:t>
            </a:r>
            <a:endParaRPr lang="ar-SA" sz="1600" dirty="0"/>
          </a:p>
        </p:txBody>
      </p:sp>
      <p:sp>
        <p:nvSpPr>
          <p:cNvPr id="34" name="Text 31"/>
          <p:cNvSpPr txBox="1"/>
          <p:nvPr/>
        </p:nvSpPr>
        <p:spPr>
          <a:xfrm>
            <a:off x="8851392" y="462686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an awareness campaign</a:t>
            </a:r>
            <a:endParaRPr lang="en-US" sz="1050" dirty="0"/>
          </a:p>
        </p:txBody>
      </p:sp>
      <p:sp>
        <p:nvSpPr>
          <p:cNvPr id="35" name="Text 32"/>
          <p:cNvSpPr txBox="1"/>
          <p:nvPr/>
        </p:nvSpPr>
        <p:spPr>
          <a:xfrm>
            <a:off x="10102291" y="502920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زُجَاجَاتٌ</a:t>
            </a:r>
            <a:endParaRPr lang="ar-SA" sz="1600" dirty="0"/>
          </a:p>
        </p:txBody>
      </p:sp>
      <p:sp>
        <p:nvSpPr>
          <p:cNvPr id="36" name="Text 33"/>
          <p:cNvSpPr txBox="1"/>
          <p:nvPr/>
        </p:nvSpPr>
        <p:spPr>
          <a:xfrm>
            <a:off x="8851392" y="502920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bottles</a:t>
            </a:r>
            <a:endParaRPr lang="en-US" sz="1050" dirty="0"/>
          </a:p>
        </p:txBody>
      </p:sp>
      <p:sp>
        <p:nvSpPr>
          <p:cNvPr id="37" name="Text 34"/>
          <p:cNvSpPr txBox="1"/>
          <p:nvPr/>
        </p:nvSpPr>
        <p:spPr>
          <a:xfrm>
            <a:off x="10102291" y="5431536"/>
            <a:ext cx="1508760" cy="402336"/>
          </a:xfrm>
          <a:prstGeom prst="rect">
            <a:avLst/>
          </a:prstGeom>
          <a:noFill/>
          <a:ln/>
        </p:spPr>
        <p:txBody>
          <a:bodyPr wrap="square" lIns="0" tIns="0" rIns="0" bIns="0" rtlCol="0" anchor="ctr"/>
          <a:lstStyle/>
          <a:p>
            <a:pPr rtl="1" algn="r" indent="0" marL="0">
              <a:buNone/>
            </a:pPr>
            <a:r>
              <a:rPr lang="ar-SA" altLang="en-US" sz="1350" b="1" dirty="0">
                <a:solidFill>
                  <a:srgbClr val="1B3B6F"/>
                </a:solidFill>
                <a:latin typeface="Amiri" pitchFamily="34" charset="0"/>
                <a:ea typeface="Amiri" pitchFamily="34" charset="-122"/>
                <a:cs typeface="Amiri" pitchFamily="34" charset="-120"/>
              </a:rPr>
              <a:t>قَابِلَةٌ لِإِعَادَةِ الاسْتِخْدَامِ</a:t>
            </a:r>
            <a:endParaRPr lang="ar-SA" sz="1350" dirty="0"/>
          </a:p>
        </p:txBody>
      </p:sp>
      <p:sp>
        <p:nvSpPr>
          <p:cNvPr id="38" name="Text 35"/>
          <p:cNvSpPr txBox="1"/>
          <p:nvPr/>
        </p:nvSpPr>
        <p:spPr>
          <a:xfrm>
            <a:off x="8851392" y="543153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reusable</a:t>
            </a:r>
            <a:endParaRPr lang="en-US" sz="1050" dirty="0"/>
          </a:p>
        </p:txBody>
      </p:sp>
      <p:sp>
        <p:nvSpPr>
          <p:cNvPr id="39" name="Text 36"/>
          <p:cNvSpPr txBox="1"/>
          <p:nvPr/>
        </p:nvSpPr>
        <p:spPr>
          <a:xfrm>
            <a:off x="10102291" y="583387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كَمِّيَّةٌ</a:t>
            </a:r>
            <a:endParaRPr lang="ar-SA" sz="1600" dirty="0"/>
          </a:p>
        </p:txBody>
      </p:sp>
      <p:sp>
        <p:nvSpPr>
          <p:cNvPr id="40" name="Text 37"/>
          <p:cNvSpPr txBox="1"/>
          <p:nvPr/>
        </p:nvSpPr>
        <p:spPr>
          <a:xfrm>
            <a:off x="8851392" y="583387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amount</a:t>
            </a:r>
            <a:endParaRPr lang="en-US" sz="1050" dirty="0"/>
          </a:p>
        </p:txBody>
      </p:sp>
      <p:sp>
        <p:nvSpPr>
          <p:cNvPr id="41" name="Text 3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42 / 46</a:t>
            </a:r>
            <a:endParaRPr lang="en-US" sz="8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TC-L05 · Environmental Solutions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EXTENSION · READING QUESTIONS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Reading: questions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أَسْئِلَةُ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2 · Lesson 2 of 3</a:t>
            </a:r>
            <a:endParaRPr lang="en-US" sz="850" dirty="0"/>
          </a:p>
        </p:txBody>
      </p:sp>
      <p:sp>
        <p:nvSpPr>
          <p:cNvPr id="17" name="Shape 14"/>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20" name="Text 17"/>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problem is the plan designed to solve?</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3" name="Text 20"/>
          <p:cNvSpPr txBox="1"/>
          <p:nvPr/>
        </p:nvSpPr>
        <p:spPr>
          <a:xfrm>
            <a:off x="969264"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Low exam results</a:t>
            </a:r>
            <a:endParaRPr lang="en-US" sz="12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6" name="Text 23"/>
          <p:cNvSpPr txBox="1"/>
          <p:nvPr/>
        </p:nvSpPr>
        <p:spPr>
          <a:xfrm>
            <a:off x="969264"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School waste</a:t>
            </a:r>
            <a:endParaRPr lang="en-US" sz="12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9" name="Text 26"/>
          <p:cNvSpPr txBox="1"/>
          <p:nvPr/>
        </p:nvSpPr>
        <p:spPr>
          <a:xfrm>
            <a:off x="969264"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Cold classrooms</a:t>
            </a:r>
            <a:endParaRPr lang="en-US" sz="1250" dirty="0"/>
          </a:p>
        </p:txBody>
      </p:sp>
      <p:sp>
        <p:nvSpPr>
          <p:cNvPr id="30" name="Shape 27"/>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3449574"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0"/>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should be reduced?</a:t>
            </a:r>
            <a:endParaRPr lang="en-US" sz="1250" dirty="0"/>
          </a:p>
        </p:txBody>
      </p:sp>
      <p:sp>
        <p:nvSpPr>
          <p:cNvPr id="34" name="Shape 31"/>
          <p:cNvSpPr/>
          <p:nvPr/>
        </p:nvSpPr>
        <p:spPr>
          <a:xfrm>
            <a:off x="3504438"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350443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6" name="Text 33"/>
          <p:cNvSpPr txBox="1"/>
          <p:nvPr/>
        </p:nvSpPr>
        <p:spPr>
          <a:xfrm>
            <a:off x="3833622"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Awareness campaigns</a:t>
            </a:r>
            <a:endParaRPr lang="en-US" sz="1250" dirty="0"/>
          </a:p>
        </p:txBody>
      </p:sp>
      <p:sp>
        <p:nvSpPr>
          <p:cNvPr id="37" name="Shape 34"/>
          <p:cNvSpPr/>
          <p:nvPr/>
        </p:nvSpPr>
        <p:spPr>
          <a:xfrm>
            <a:off x="3504438"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350443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9" name="Text 36"/>
          <p:cNvSpPr txBox="1"/>
          <p:nvPr/>
        </p:nvSpPr>
        <p:spPr>
          <a:xfrm>
            <a:off x="3833622"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Paper recycling</a:t>
            </a:r>
            <a:endParaRPr lang="en-US" sz="1250" dirty="0"/>
          </a:p>
        </p:txBody>
      </p:sp>
      <p:sp>
        <p:nvSpPr>
          <p:cNvPr id="40" name="Shape 37"/>
          <p:cNvSpPr/>
          <p:nvPr/>
        </p:nvSpPr>
        <p:spPr>
          <a:xfrm>
            <a:off x="3504438"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350443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2" name="Text 39"/>
          <p:cNvSpPr txBox="1"/>
          <p:nvPr/>
        </p:nvSpPr>
        <p:spPr>
          <a:xfrm>
            <a:off x="3833622"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Plastic packaging</a:t>
            </a:r>
            <a:endParaRPr lang="en-US" sz="1250" dirty="0"/>
          </a:p>
        </p:txBody>
      </p:sp>
      <p:sp>
        <p:nvSpPr>
          <p:cNvPr id="43" name="Shape 40"/>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6313932"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6" name="Text 43"/>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must students do?</a:t>
            </a:r>
            <a:endParaRPr lang="en-US" sz="1250" dirty="0"/>
          </a:p>
        </p:txBody>
      </p:sp>
      <p:sp>
        <p:nvSpPr>
          <p:cNvPr id="47" name="Shape 44"/>
          <p:cNvSpPr/>
          <p:nvPr/>
        </p:nvSpPr>
        <p:spPr>
          <a:xfrm>
            <a:off x="6368796"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9" name="Text 46"/>
          <p:cNvSpPr txBox="1"/>
          <p:nvPr/>
        </p:nvSpPr>
        <p:spPr>
          <a:xfrm>
            <a:off x="6697980"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Separate paper from plastic</a:t>
            </a:r>
            <a:endParaRPr lang="en-US" sz="1250" dirty="0"/>
          </a:p>
        </p:txBody>
      </p:sp>
      <p:sp>
        <p:nvSpPr>
          <p:cNvPr id="50" name="Shape 47"/>
          <p:cNvSpPr/>
          <p:nvPr/>
        </p:nvSpPr>
        <p:spPr>
          <a:xfrm>
            <a:off x="6368796"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2" name="Text 49"/>
          <p:cNvSpPr txBox="1"/>
          <p:nvPr/>
        </p:nvSpPr>
        <p:spPr>
          <a:xfrm>
            <a:off x="6697980"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Throw everything together</a:t>
            </a:r>
            <a:endParaRPr lang="en-US" sz="1250" dirty="0"/>
          </a:p>
        </p:txBody>
      </p:sp>
      <p:sp>
        <p:nvSpPr>
          <p:cNvPr id="53" name="Shape 50"/>
          <p:cNvSpPr/>
          <p:nvPr/>
        </p:nvSpPr>
        <p:spPr>
          <a:xfrm>
            <a:off x="6368796"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5" name="Text 52"/>
          <p:cNvSpPr txBox="1"/>
          <p:nvPr/>
        </p:nvSpPr>
        <p:spPr>
          <a:xfrm>
            <a:off x="6697980"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Buy more packaging</a:t>
            </a:r>
            <a:endParaRPr lang="en-US" sz="1250" dirty="0"/>
          </a:p>
        </p:txBody>
      </p:sp>
      <p:sp>
        <p:nvSpPr>
          <p:cNvPr id="56" name="Shape 53"/>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9178290" y="1947672"/>
            <a:ext cx="310896" cy="310896"/>
          </a:xfrm>
          <a:prstGeom prst="ellipse">
            <a:avLst/>
          </a:prstGeom>
          <a:solidFill>
            <a:srgbClr val="1B3B6F"/>
          </a:solidFill>
          <a:ln w="12700">
            <a:solidFill>
              <a:srgbClr val="1B3B6F"/>
            </a:solidFill>
            <a:prstDash val="solid"/>
          </a:ln>
        </p:spPr>
      </p:sp>
      <p:sp>
        <p:nvSpPr>
          <p:cNvPr id="58" name="Text 55"/>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9" name="Text 56"/>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must the administration organise?</a:t>
            </a:r>
            <a:endParaRPr lang="en-US" sz="1250" dirty="0"/>
          </a:p>
        </p:txBody>
      </p:sp>
      <p:sp>
        <p:nvSpPr>
          <p:cNvPr id="60" name="Shape 57"/>
          <p:cNvSpPr/>
          <p:nvPr/>
        </p:nvSpPr>
        <p:spPr>
          <a:xfrm>
            <a:off x="9233154" y="2532888"/>
            <a:ext cx="256032" cy="256032"/>
          </a:xfrm>
          <a:prstGeom prst="ellipse">
            <a:avLst/>
          </a:prstGeom>
          <a:solidFill>
            <a:srgbClr val="F4F1EA"/>
          </a:solidFill>
          <a:ln w="12700">
            <a:solidFill>
              <a:srgbClr val="F4F1EA"/>
            </a:solidFill>
            <a:prstDash val="solid"/>
          </a:ln>
        </p:spPr>
      </p:sp>
      <p:sp>
        <p:nvSpPr>
          <p:cNvPr id="61" name="Text 58"/>
          <p:cNvSpPr txBox="1"/>
          <p:nvPr/>
        </p:nvSpPr>
        <p:spPr>
          <a:xfrm>
            <a:off x="923315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2" name="Text 59"/>
          <p:cNvSpPr txBox="1"/>
          <p:nvPr/>
        </p:nvSpPr>
        <p:spPr>
          <a:xfrm>
            <a:off x="9562338"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 sports match</a:t>
            </a:r>
            <a:endParaRPr lang="en-US" sz="1250" dirty="0"/>
          </a:p>
        </p:txBody>
      </p:sp>
      <p:sp>
        <p:nvSpPr>
          <p:cNvPr id="63" name="Shape 60"/>
          <p:cNvSpPr/>
          <p:nvPr/>
        </p:nvSpPr>
        <p:spPr>
          <a:xfrm>
            <a:off x="9233154" y="2990088"/>
            <a:ext cx="256032" cy="256032"/>
          </a:xfrm>
          <a:prstGeom prst="ellipse">
            <a:avLst/>
          </a:prstGeom>
          <a:solidFill>
            <a:srgbClr val="F4F1EA"/>
          </a:solidFill>
          <a:ln w="12700">
            <a:solidFill>
              <a:srgbClr val="F4F1EA"/>
            </a:solidFill>
            <a:prstDash val="solid"/>
          </a:ln>
        </p:spPr>
      </p:sp>
      <p:sp>
        <p:nvSpPr>
          <p:cNvPr id="64" name="Text 61"/>
          <p:cNvSpPr txBox="1"/>
          <p:nvPr/>
        </p:nvSpPr>
        <p:spPr>
          <a:xfrm>
            <a:off x="923315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5" name="Text 62"/>
          <p:cNvSpPr txBox="1"/>
          <p:nvPr/>
        </p:nvSpPr>
        <p:spPr>
          <a:xfrm>
            <a:off x="9562338"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An awareness campaign</a:t>
            </a:r>
            <a:endParaRPr lang="en-US" sz="1250" dirty="0"/>
          </a:p>
        </p:txBody>
      </p:sp>
      <p:sp>
        <p:nvSpPr>
          <p:cNvPr id="66" name="Shape 63"/>
          <p:cNvSpPr/>
          <p:nvPr/>
        </p:nvSpPr>
        <p:spPr>
          <a:xfrm>
            <a:off x="9233154" y="3447288"/>
            <a:ext cx="256032" cy="256032"/>
          </a:xfrm>
          <a:prstGeom prst="ellipse">
            <a:avLst/>
          </a:prstGeom>
          <a:solidFill>
            <a:srgbClr val="F4F1EA"/>
          </a:solidFill>
          <a:ln w="12700">
            <a:solidFill>
              <a:srgbClr val="F4F1EA"/>
            </a:solidFill>
            <a:prstDash val="solid"/>
          </a:ln>
        </p:spPr>
      </p:sp>
      <p:sp>
        <p:nvSpPr>
          <p:cNvPr id="67" name="Text 64"/>
          <p:cNvSpPr txBox="1"/>
          <p:nvPr/>
        </p:nvSpPr>
        <p:spPr>
          <a:xfrm>
            <a:off x="923315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8" name="Text 65"/>
          <p:cNvSpPr txBox="1"/>
          <p:nvPr/>
        </p:nvSpPr>
        <p:spPr>
          <a:xfrm>
            <a:off x="9562338"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 weather forecast</a:t>
            </a:r>
            <a:endParaRPr lang="en-US" sz="1250" dirty="0"/>
          </a:p>
        </p:txBody>
      </p:sp>
      <p:sp>
        <p:nvSpPr>
          <p:cNvPr id="69" name="Shape 66"/>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585216"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2" name="Text 69"/>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reusable item is suggested?</a:t>
            </a:r>
            <a:endParaRPr lang="en-US" sz="1250" dirty="0"/>
          </a:p>
        </p:txBody>
      </p:sp>
      <p:sp>
        <p:nvSpPr>
          <p:cNvPr id="73" name="Shape 70"/>
          <p:cNvSpPr/>
          <p:nvPr/>
        </p:nvSpPr>
        <p:spPr>
          <a:xfrm>
            <a:off x="640080"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75" name="Text 72"/>
          <p:cNvSpPr txBox="1"/>
          <p:nvPr/>
        </p:nvSpPr>
        <p:spPr>
          <a:xfrm>
            <a:off x="969264"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Bottles</a:t>
            </a:r>
            <a:endParaRPr lang="en-US" sz="1250" dirty="0"/>
          </a:p>
        </p:txBody>
      </p:sp>
      <p:sp>
        <p:nvSpPr>
          <p:cNvPr id="76" name="Shape 73"/>
          <p:cNvSpPr/>
          <p:nvPr/>
        </p:nvSpPr>
        <p:spPr>
          <a:xfrm>
            <a:off x="640080"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8" name="Text 75"/>
          <p:cNvSpPr txBox="1"/>
          <p:nvPr/>
        </p:nvSpPr>
        <p:spPr>
          <a:xfrm>
            <a:off x="969264"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Disposable cups</a:t>
            </a:r>
            <a:endParaRPr lang="en-US" sz="1250" dirty="0"/>
          </a:p>
        </p:txBody>
      </p:sp>
      <p:sp>
        <p:nvSpPr>
          <p:cNvPr id="79" name="Shape 76"/>
          <p:cNvSpPr/>
          <p:nvPr/>
        </p:nvSpPr>
        <p:spPr>
          <a:xfrm>
            <a:off x="640080"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81" name="Text 78"/>
          <p:cNvSpPr txBox="1"/>
          <p:nvPr/>
        </p:nvSpPr>
        <p:spPr>
          <a:xfrm>
            <a:off x="969264"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Plastic bags</a:t>
            </a:r>
            <a:endParaRPr lang="en-US" sz="1250" dirty="0"/>
          </a:p>
        </p:txBody>
      </p:sp>
      <p:sp>
        <p:nvSpPr>
          <p:cNvPr id="82" name="Shape 79"/>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3" name="Shape 80"/>
          <p:cNvSpPr/>
          <p:nvPr/>
        </p:nvSpPr>
        <p:spPr>
          <a:xfrm>
            <a:off x="3449574" y="4288536"/>
            <a:ext cx="310896" cy="310896"/>
          </a:xfrm>
          <a:prstGeom prst="ellipse">
            <a:avLst/>
          </a:prstGeom>
          <a:solidFill>
            <a:srgbClr val="1B3B6F"/>
          </a:solidFill>
          <a:ln w="12700">
            <a:solidFill>
              <a:srgbClr val="1B3B6F"/>
            </a:solidFill>
            <a:prstDash val="solid"/>
          </a:ln>
        </p:spPr>
      </p:sp>
      <p:sp>
        <p:nvSpPr>
          <p:cNvPr id="84" name="Text 81"/>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85" name="Text 82"/>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is the purpose of reusable bottles?</a:t>
            </a:r>
            <a:endParaRPr lang="en-US" sz="1250" dirty="0"/>
          </a:p>
        </p:txBody>
      </p:sp>
      <p:sp>
        <p:nvSpPr>
          <p:cNvPr id="86" name="Shape 83"/>
          <p:cNvSpPr/>
          <p:nvPr/>
        </p:nvSpPr>
        <p:spPr>
          <a:xfrm>
            <a:off x="3504438" y="4873752"/>
            <a:ext cx="256032" cy="256032"/>
          </a:xfrm>
          <a:prstGeom prst="ellipse">
            <a:avLst/>
          </a:prstGeom>
          <a:solidFill>
            <a:srgbClr val="F4F1EA"/>
          </a:solidFill>
          <a:ln w="12700">
            <a:solidFill>
              <a:srgbClr val="F4F1EA"/>
            </a:solidFill>
            <a:prstDash val="solid"/>
          </a:ln>
        </p:spPr>
      </p:sp>
      <p:sp>
        <p:nvSpPr>
          <p:cNvPr id="87" name="Text 84"/>
          <p:cNvSpPr txBox="1"/>
          <p:nvPr/>
        </p:nvSpPr>
        <p:spPr>
          <a:xfrm>
            <a:off x="350443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88" name="Text 85"/>
          <p:cNvSpPr txBox="1"/>
          <p:nvPr/>
        </p:nvSpPr>
        <p:spPr>
          <a:xfrm>
            <a:off x="3833622"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To increase water use</a:t>
            </a:r>
            <a:endParaRPr lang="en-US" sz="1250" dirty="0"/>
          </a:p>
        </p:txBody>
      </p:sp>
      <p:sp>
        <p:nvSpPr>
          <p:cNvPr id="89" name="Shape 86"/>
          <p:cNvSpPr/>
          <p:nvPr/>
        </p:nvSpPr>
        <p:spPr>
          <a:xfrm>
            <a:off x="3504438" y="5330952"/>
            <a:ext cx="256032" cy="256032"/>
          </a:xfrm>
          <a:prstGeom prst="ellipse">
            <a:avLst/>
          </a:prstGeom>
          <a:solidFill>
            <a:srgbClr val="F4F1EA"/>
          </a:solidFill>
          <a:ln w="12700">
            <a:solidFill>
              <a:srgbClr val="F4F1EA"/>
            </a:solidFill>
            <a:prstDash val="solid"/>
          </a:ln>
        </p:spPr>
      </p:sp>
      <p:sp>
        <p:nvSpPr>
          <p:cNvPr id="90" name="Text 87"/>
          <p:cNvSpPr txBox="1"/>
          <p:nvPr/>
        </p:nvSpPr>
        <p:spPr>
          <a:xfrm>
            <a:off x="350443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91" name="Text 88"/>
          <p:cNvSpPr txBox="1"/>
          <p:nvPr/>
        </p:nvSpPr>
        <p:spPr>
          <a:xfrm>
            <a:off x="3833622"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To make recycling impossible</a:t>
            </a:r>
            <a:endParaRPr lang="en-US" sz="1250" dirty="0"/>
          </a:p>
        </p:txBody>
      </p:sp>
      <p:sp>
        <p:nvSpPr>
          <p:cNvPr id="92" name="Shape 89"/>
          <p:cNvSpPr/>
          <p:nvPr/>
        </p:nvSpPr>
        <p:spPr>
          <a:xfrm>
            <a:off x="3504438" y="5788152"/>
            <a:ext cx="256032" cy="256032"/>
          </a:xfrm>
          <a:prstGeom prst="ellipse">
            <a:avLst/>
          </a:prstGeom>
          <a:solidFill>
            <a:srgbClr val="F4F1EA"/>
          </a:solidFill>
          <a:ln w="12700">
            <a:solidFill>
              <a:srgbClr val="F4F1EA"/>
            </a:solidFill>
            <a:prstDash val="solid"/>
          </a:ln>
        </p:spPr>
      </p:sp>
      <p:sp>
        <p:nvSpPr>
          <p:cNvPr id="93" name="Text 90"/>
          <p:cNvSpPr txBox="1"/>
          <p:nvPr/>
        </p:nvSpPr>
        <p:spPr>
          <a:xfrm>
            <a:off x="350443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94" name="Text 91"/>
          <p:cNvSpPr txBox="1"/>
          <p:nvPr/>
        </p:nvSpPr>
        <p:spPr>
          <a:xfrm>
            <a:off x="3833622"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To reduce the amount of waste</a:t>
            </a:r>
            <a:endParaRPr lang="en-US" sz="1250" dirty="0"/>
          </a:p>
        </p:txBody>
      </p:sp>
      <p:sp>
        <p:nvSpPr>
          <p:cNvPr id="95" name="Shape 92"/>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6" name="Text 93"/>
          <p:cNvSpPr txBox="1"/>
          <p:nvPr/>
        </p:nvSpPr>
        <p:spPr>
          <a:xfrm>
            <a:off x="6368796" y="4279392"/>
            <a:ext cx="2315718"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ea typeface="Calibri" pitchFamily="34" charset="-122"/>
                <a:cs typeface="Calibri" pitchFamily="34" charset="-120"/>
              </a:rPr>
              <a:t>READ LIKE A DETECTIVE</a:t>
            </a:r>
            <a:endParaRPr lang="en-US" sz="1000" dirty="0"/>
          </a:p>
        </p:txBody>
      </p:sp>
      <p:sp>
        <p:nvSpPr>
          <p:cNvPr id="97" name="Text 94"/>
          <p:cNvSpPr txBox="1"/>
          <p:nvPr/>
        </p:nvSpPr>
        <p:spPr>
          <a:xfrm>
            <a:off x="6368796" y="4590288"/>
            <a:ext cx="2315718"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ea typeface="Calibri" pitchFamily="34" charset="-122"/>
                <a:cs typeface="Calibri" pitchFamily="34" charset="-120"/>
              </a:rPr>
              <a:t>1. Read the question first.</a:t>
            </a:r>
            <a:endParaRPr lang="en-US" sz="1250" dirty="0"/>
          </a:p>
          <a:p>
            <a:pPr algn="l" indent="0" marL="0">
              <a:buNone/>
            </a:pPr>
            <a:r>
              <a:rPr lang="en-US" sz="1250" dirty="0">
                <a:solidFill>
                  <a:srgbClr val="1F2A37"/>
                </a:solidFill>
                <a:latin typeface="Calibri" pitchFamily="34" charset="0"/>
                <a:ea typeface="Calibri" pitchFamily="34" charset="-122"/>
                <a:cs typeface="Calibri" pitchFamily="34" charset="-120"/>
              </a:rPr>
              <a:t>2. Find ONE key word from the question in the text.</a:t>
            </a:r>
            <a:endParaRPr lang="en-US" sz="1250" dirty="0"/>
          </a:p>
          <a:p>
            <a:pPr algn="l" indent="0" marL="0">
              <a:buNone/>
            </a:pPr>
            <a:r>
              <a:rPr lang="en-US" sz="1250" dirty="0">
                <a:solidFill>
                  <a:srgbClr val="1F2A37"/>
                </a:solidFill>
                <a:latin typeface="Calibri" pitchFamily="34" charset="0"/>
                <a:ea typeface="Calibri" pitchFamily="34" charset="-122"/>
                <a:cs typeface="Calibri" pitchFamily="34" charset="-120"/>
              </a:rPr>
              <a:t>3. Read only that sentence again, then choose.</a:t>
            </a:r>
            <a:endParaRPr lang="en-US" sz="1250" dirty="0"/>
          </a:p>
        </p:txBody>
      </p:sp>
      <p:sp>
        <p:nvSpPr>
          <p:cNvPr id="98" name="Text 9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43 / 46</a:t>
            </a:r>
            <a:endParaRPr lang="en-US" sz="8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TC-L05 · Environmental Solutions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EXTENSION · READING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Reading: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إِجَابَاتُ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2 · Lesson 2 of 3</a:t>
            </a:r>
            <a:endParaRPr lang="en-US" sz="850" dirty="0"/>
          </a:p>
        </p:txBody>
      </p:sp>
      <p:sp>
        <p:nvSpPr>
          <p:cNvPr id="17" name="Shape 14"/>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20" name="Text 17"/>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problem is the plan designed to solve?</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3" name="Text 20"/>
          <p:cNvSpPr txBox="1"/>
          <p:nvPr/>
        </p:nvSpPr>
        <p:spPr>
          <a:xfrm>
            <a:off x="969264"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Low exam results</a:t>
            </a:r>
            <a:endParaRPr lang="en-US" sz="1250" dirty="0"/>
          </a:p>
        </p:txBody>
      </p:sp>
      <p:sp>
        <p:nvSpPr>
          <p:cNvPr id="24" name="Shape 21"/>
          <p:cNvSpPr/>
          <p:nvPr/>
        </p:nvSpPr>
        <p:spPr>
          <a:xfrm>
            <a:off x="548640" y="2825496"/>
            <a:ext cx="2498598" cy="347472"/>
          </a:xfrm>
          <a:prstGeom prst="roundRect">
            <a:avLst>
              <a:gd name="adj" fmla="val 15789"/>
            </a:avLst>
          </a:prstGeom>
          <a:solidFill>
            <a:srgbClr val="E6F4EC"/>
          </a:solidFill>
          <a:ln w="9525">
            <a:solidFill>
              <a:srgbClr val="2E8B57"/>
            </a:solidFill>
            <a:prstDash val="solid"/>
          </a:ln>
        </p:spPr>
      </p:sp>
      <p:sp>
        <p:nvSpPr>
          <p:cNvPr id="25"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6"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27" name="Text 24"/>
          <p:cNvSpPr txBox="1"/>
          <p:nvPr/>
        </p:nvSpPr>
        <p:spPr>
          <a:xfrm>
            <a:off x="969264" y="2804160"/>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School waste</a:t>
            </a:r>
            <a:endParaRPr lang="en-US" sz="1250" dirty="0"/>
          </a:p>
        </p:txBody>
      </p:sp>
      <p:sp>
        <p:nvSpPr>
          <p:cNvPr id="28"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30" name="Text 27"/>
          <p:cNvSpPr txBox="1"/>
          <p:nvPr/>
        </p:nvSpPr>
        <p:spPr>
          <a:xfrm>
            <a:off x="969264"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Cold classrooms</a:t>
            </a:r>
            <a:endParaRPr lang="en-US" sz="1250" dirty="0"/>
          </a:p>
        </p:txBody>
      </p:sp>
      <p:sp>
        <p:nvSpPr>
          <p:cNvPr id="31" name="Text 28"/>
          <p:cNvSpPr txBox="1"/>
          <p:nvPr/>
        </p:nvSpPr>
        <p:spPr>
          <a:xfrm>
            <a:off x="585216" y="3566160"/>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The opening names </a:t>
            </a:r>
            <a:pPr algn="l" indent="0" marL="0">
              <a:buNone/>
            </a:pPr>
            <a:r>
              <a:rPr lang="ar-SA" altLang="en-US" sz="1350" dirty="0">
                <a:solidFill>
                  <a:srgbClr val="8A6D1E"/>
                </a:solidFill>
                <a:latin typeface="Amiri" pitchFamily="34" charset="0"/>
                <a:ea typeface="Amiri" pitchFamily="34" charset="-122"/>
                <a:cs typeface="Amiri" pitchFamily="34" charset="-120"/>
              </a:rPr>
              <a:t>مشكلة النفايات</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32" name="Shape 29"/>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3449574"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5" name="Text 32"/>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should be reduced?</a:t>
            </a:r>
            <a:endParaRPr lang="en-US" sz="1250" dirty="0"/>
          </a:p>
        </p:txBody>
      </p:sp>
      <p:sp>
        <p:nvSpPr>
          <p:cNvPr id="36" name="Shape 33"/>
          <p:cNvSpPr/>
          <p:nvPr/>
        </p:nvSpPr>
        <p:spPr>
          <a:xfrm>
            <a:off x="3504438"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350443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8" name="Text 35"/>
          <p:cNvSpPr txBox="1"/>
          <p:nvPr/>
        </p:nvSpPr>
        <p:spPr>
          <a:xfrm>
            <a:off x="3833622"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Awareness campaigns</a:t>
            </a:r>
            <a:endParaRPr lang="en-US" sz="1250" dirty="0"/>
          </a:p>
        </p:txBody>
      </p:sp>
      <p:sp>
        <p:nvSpPr>
          <p:cNvPr id="39" name="Shape 36"/>
          <p:cNvSpPr/>
          <p:nvPr/>
        </p:nvSpPr>
        <p:spPr>
          <a:xfrm>
            <a:off x="3504438"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350443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41" name="Text 38"/>
          <p:cNvSpPr txBox="1"/>
          <p:nvPr/>
        </p:nvSpPr>
        <p:spPr>
          <a:xfrm>
            <a:off x="3833622"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Paper recycling</a:t>
            </a:r>
            <a:endParaRPr lang="en-US" sz="1250" dirty="0"/>
          </a:p>
        </p:txBody>
      </p:sp>
      <p:sp>
        <p:nvSpPr>
          <p:cNvPr id="42" name="Shape 39"/>
          <p:cNvSpPr/>
          <p:nvPr/>
        </p:nvSpPr>
        <p:spPr>
          <a:xfrm>
            <a:off x="3412998" y="3197352"/>
            <a:ext cx="2498598" cy="347472"/>
          </a:xfrm>
          <a:prstGeom prst="roundRect">
            <a:avLst>
              <a:gd name="adj" fmla="val 15789"/>
            </a:avLst>
          </a:prstGeom>
          <a:solidFill>
            <a:srgbClr val="E6F4EC"/>
          </a:solidFill>
          <a:ln w="9525">
            <a:solidFill>
              <a:srgbClr val="2E8B57"/>
            </a:solidFill>
            <a:prstDash val="solid"/>
          </a:ln>
        </p:spPr>
      </p:sp>
      <p:sp>
        <p:nvSpPr>
          <p:cNvPr id="43" name="Shape 40"/>
          <p:cNvSpPr/>
          <p:nvPr/>
        </p:nvSpPr>
        <p:spPr>
          <a:xfrm>
            <a:off x="3504438" y="3233928"/>
            <a:ext cx="256032" cy="256032"/>
          </a:xfrm>
          <a:prstGeom prst="ellipse">
            <a:avLst/>
          </a:prstGeom>
          <a:solidFill>
            <a:srgbClr val="2E8B57"/>
          </a:solidFill>
          <a:ln w="12700">
            <a:solidFill>
              <a:srgbClr val="2E8B57"/>
            </a:solidFill>
            <a:prstDash val="solid"/>
          </a:ln>
        </p:spPr>
      </p:sp>
      <p:sp>
        <p:nvSpPr>
          <p:cNvPr id="44" name="Text 41"/>
          <p:cNvSpPr txBox="1"/>
          <p:nvPr/>
        </p:nvSpPr>
        <p:spPr>
          <a:xfrm>
            <a:off x="350443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45" name="Text 42"/>
          <p:cNvSpPr txBox="1"/>
          <p:nvPr/>
        </p:nvSpPr>
        <p:spPr>
          <a:xfrm>
            <a:off x="3833622" y="3176016"/>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Plastic packaging</a:t>
            </a:r>
            <a:endParaRPr lang="en-US" sz="1250" dirty="0"/>
          </a:p>
        </p:txBody>
      </p:sp>
      <p:sp>
        <p:nvSpPr>
          <p:cNvPr id="46" name="Text 43"/>
          <p:cNvSpPr txBox="1"/>
          <p:nvPr/>
        </p:nvSpPr>
        <p:spPr>
          <a:xfrm>
            <a:off x="3449574"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الأغلفة البلاستيكية.</a:t>
            </a:r>
            <a:endParaRPr lang="ar-SA" sz="1350" dirty="0"/>
          </a:p>
        </p:txBody>
      </p:sp>
      <p:sp>
        <p:nvSpPr>
          <p:cNvPr id="47" name="Shape 44"/>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6313932" y="1947672"/>
            <a:ext cx="310896" cy="310896"/>
          </a:xfrm>
          <a:prstGeom prst="ellipse">
            <a:avLst/>
          </a:prstGeom>
          <a:solidFill>
            <a:srgbClr val="1B3B6F"/>
          </a:solidFill>
          <a:ln w="12700">
            <a:solidFill>
              <a:srgbClr val="1B3B6F"/>
            </a:solidFill>
            <a:prstDash val="solid"/>
          </a:ln>
        </p:spPr>
      </p:sp>
      <p:sp>
        <p:nvSpPr>
          <p:cNvPr id="49" name="Text 46"/>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50" name="Text 47"/>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must students do?</a:t>
            </a:r>
            <a:endParaRPr lang="en-US" sz="1250" dirty="0"/>
          </a:p>
        </p:txBody>
      </p:sp>
      <p:sp>
        <p:nvSpPr>
          <p:cNvPr id="51" name="Shape 48"/>
          <p:cNvSpPr/>
          <p:nvPr/>
        </p:nvSpPr>
        <p:spPr>
          <a:xfrm>
            <a:off x="6277356" y="2453640"/>
            <a:ext cx="2498598" cy="347472"/>
          </a:xfrm>
          <a:prstGeom prst="roundRect">
            <a:avLst>
              <a:gd name="adj" fmla="val 15789"/>
            </a:avLst>
          </a:prstGeom>
          <a:solidFill>
            <a:srgbClr val="E6F4EC"/>
          </a:solidFill>
          <a:ln w="9525">
            <a:solidFill>
              <a:srgbClr val="2E8B57"/>
            </a:solidFill>
            <a:prstDash val="solid"/>
          </a:ln>
        </p:spPr>
      </p:sp>
      <p:sp>
        <p:nvSpPr>
          <p:cNvPr id="52" name="Shape 49"/>
          <p:cNvSpPr/>
          <p:nvPr/>
        </p:nvSpPr>
        <p:spPr>
          <a:xfrm>
            <a:off x="6368796" y="2490216"/>
            <a:ext cx="256032" cy="256032"/>
          </a:xfrm>
          <a:prstGeom prst="ellipse">
            <a:avLst/>
          </a:prstGeom>
          <a:solidFill>
            <a:srgbClr val="2E8B57"/>
          </a:solidFill>
          <a:ln w="12700">
            <a:solidFill>
              <a:srgbClr val="2E8B57"/>
            </a:solidFill>
            <a:prstDash val="solid"/>
          </a:ln>
        </p:spPr>
      </p:sp>
      <p:sp>
        <p:nvSpPr>
          <p:cNvPr id="53" name="Text 50"/>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54" name="Text 51"/>
          <p:cNvSpPr txBox="1"/>
          <p:nvPr/>
        </p:nvSpPr>
        <p:spPr>
          <a:xfrm>
            <a:off x="6697980" y="2432304"/>
            <a:ext cx="2023110"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ea typeface="Calibri" pitchFamily="34" charset="-122"/>
                <a:cs typeface="Calibri" pitchFamily="34" charset="-120"/>
              </a:rPr>
              <a:t>Separate paper from plastic</a:t>
            </a:r>
            <a:endParaRPr lang="en-US" sz="1150" dirty="0"/>
          </a:p>
        </p:txBody>
      </p:sp>
      <p:sp>
        <p:nvSpPr>
          <p:cNvPr id="55" name="Shape 52"/>
          <p:cNvSpPr/>
          <p:nvPr/>
        </p:nvSpPr>
        <p:spPr>
          <a:xfrm>
            <a:off x="6368796" y="2862072"/>
            <a:ext cx="256032" cy="256032"/>
          </a:xfrm>
          <a:prstGeom prst="ellipse">
            <a:avLst/>
          </a:prstGeom>
          <a:solidFill>
            <a:srgbClr val="C9CED6"/>
          </a:solidFill>
          <a:ln w="12700">
            <a:solidFill>
              <a:srgbClr val="C9CED6"/>
            </a:solidFill>
            <a:prstDash val="solid"/>
          </a:ln>
        </p:spPr>
      </p:sp>
      <p:sp>
        <p:nvSpPr>
          <p:cNvPr id="56" name="Text 53"/>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7" name="Text 54"/>
          <p:cNvSpPr txBox="1"/>
          <p:nvPr/>
        </p:nvSpPr>
        <p:spPr>
          <a:xfrm>
            <a:off x="6697980" y="2804160"/>
            <a:ext cx="2023110" cy="371856"/>
          </a:xfrm>
          <a:prstGeom prst="rect">
            <a:avLst/>
          </a:prstGeom>
          <a:noFill/>
          <a:ln/>
        </p:spPr>
        <p:txBody>
          <a:bodyPr wrap="square" lIns="0" tIns="0" rIns="0" bIns="0" rtlCol="0" anchor="ctr"/>
          <a:lstStyle/>
          <a:p>
            <a:pPr algn="l" indent="0" marL="0">
              <a:buNone/>
            </a:pPr>
            <a:r>
              <a:rPr lang="en-US" sz="1200" dirty="0">
                <a:solidFill>
                  <a:srgbClr val="9AA1AB"/>
                </a:solidFill>
                <a:latin typeface="Calibri" pitchFamily="34" charset="0"/>
                <a:ea typeface="Calibri" pitchFamily="34" charset="-122"/>
                <a:cs typeface="Calibri" pitchFamily="34" charset="-120"/>
              </a:rPr>
              <a:t>Throw everything together</a:t>
            </a:r>
            <a:endParaRPr lang="en-US" sz="1200" dirty="0"/>
          </a:p>
        </p:txBody>
      </p:sp>
      <p:sp>
        <p:nvSpPr>
          <p:cNvPr id="58" name="Shape 55"/>
          <p:cNvSpPr/>
          <p:nvPr/>
        </p:nvSpPr>
        <p:spPr>
          <a:xfrm>
            <a:off x="6368796" y="3233928"/>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0" name="Text 57"/>
          <p:cNvSpPr txBox="1"/>
          <p:nvPr/>
        </p:nvSpPr>
        <p:spPr>
          <a:xfrm>
            <a:off x="6697980"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Buy more packaging</a:t>
            </a:r>
            <a:endParaRPr lang="en-US" sz="1250" dirty="0"/>
          </a:p>
        </p:txBody>
      </p:sp>
      <p:sp>
        <p:nvSpPr>
          <p:cNvPr id="61" name="Text 58"/>
          <p:cNvSpPr txBox="1"/>
          <p:nvPr/>
        </p:nvSpPr>
        <p:spPr>
          <a:xfrm>
            <a:off x="6313932"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أن يفصلوا الورق عن البلاستيك.</a:t>
            </a:r>
            <a:endParaRPr lang="ar-SA" sz="1350" dirty="0"/>
          </a:p>
        </p:txBody>
      </p:sp>
      <p:sp>
        <p:nvSpPr>
          <p:cNvPr id="62" name="Shape 59"/>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9178290" y="1947672"/>
            <a:ext cx="310896" cy="310896"/>
          </a:xfrm>
          <a:prstGeom prst="ellipse">
            <a:avLst/>
          </a:prstGeom>
          <a:solidFill>
            <a:srgbClr val="1B3B6F"/>
          </a:solidFill>
          <a:ln w="12700">
            <a:solidFill>
              <a:srgbClr val="1B3B6F"/>
            </a:solidFill>
            <a:prstDash val="solid"/>
          </a:ln>
        </p:spPr>
      </p:sp>
      <p:sp>
        <p:nvSpPr>
          <p:cNvPr id="64" name="Text 61"/>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5" name="Text 62"/>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must the administration organise?</a:t>
            </a:r>
            <a:endParaRPr lang="en-US" sz="1250" dirty="0"/>
          </a:p>
        </p:txBody>
      </p:sp>
      <p:sp>
        <p:nvSpPr>
          <p:cNvPr id="66" name="Shape 63"/>
          <p:cNvSpPr/>
          <p:nvPr/>
        </p:nvSpPr>
        <p:spPr>
          <a:xfrm>
            <a:off x="9233154" y="2490216"/>
            <a:ext cx="256032" cy="256032"/>
          </a:xfrm>
          <a:prstGeom prst="ellipse">
            <a:avLst/>
          </a:prstGeom>
          <a:solidFill>
            <a:srgbClr val="C9CED6"/>
          </a:solidFill>
          <a:ln w="12700">
            <a:solidFill>
              <a:srgbClr val="C9CED6"/>
            </a:solidFill>
            <a:prstDash val="solid"/>
          </a:ln>
        </p:spPr>
      </p:sp>
      <p:sp>
        <p:nvSpPr>
          <p:cNvPr id="67" name="Text 64"/>
          <p:cNvSpPr txBox="1"/>
          <p:nvPr/>
        </p:nvSpPr>
        <p:spPr>
          <a:xfrm>
            <a:off x="923315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8" name="Text 65"/>
          <p:cNvSpPr txBox="1"/>
          <p:nvPr/>
        </p:nvSpPr>
        <p:spPr>
          <a:xfrm>
            <a:off x="9562338"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A sports match</a:t>
            </a:r>
            <a:endParaRPr lang="en-US" sz="1250" dirty="0"/>
          </a:p>
        </p:txBody>
      </p:sp>
      <p:sp>
        <p:nvSpPr>
          <p:cNvPr id="69" name="Shape 66"/>
          <p:cNvSpPr/>
          <p:nvPr/>
        </p:nvSpPr>
        <p:spPr>
          <a:xfrm>
            <a:off x="9141714" y="2825496"/>
            <a:ext cx="2498598" cy="347472"/>
          </a:xfrm>
          <a:prstGeom prst="roundRect">
            <a:avLst>
              <a:gd name="adj" fmla="val 15789"/>
            </a:avLst>
          </a:prstGeom>
          <a:solidFill>
            <a:srgbClr val="E6F4EC"/>
          </a:solidFill>
          <a:ln w="9525">
            <a:solidFill>
              <a:srgbClr val="2E8B57"/>
            </a:solidFill>
            <a:prstDash val="solid"/>
          </a:ln>
        </p:spPr>
      </p:sp>
      <p:sp>
        <p:nvSpPr>
          <p:cNvPr id="70" name="Shape 67"/>
          <p:cNvSpPr/>
          <p:nvPr/>
        </p:nvSpPr>
        <p:spPr>
          <a:xfrm>
            <a:off x="9233154" y="2862072"/>
            <a:ext cx="256032" cy="256032"/>
          </a:xfrm>
          <a:prstGeom prst="ellipse">
            <a:avLst/>
          </a:prstGeom>
          <a:solidFill>
            <a:srgbClr val="2E8B57"/>
          </a:solidFill>
          <a:ln w="12700">
            <a:solidFill>
              <a:srgbClr val="2E8B57"/>
            </a:solidFill>
            <a:prstDash val="solid"/>
          </a:ln>
        </p:spPr>
      </p:sp>
      <p:sp>
        <p:nvSpPr>
          <p:cNvPr id="71" name="Text 68"/>
          <p:cNvSpPr txBox="1"/>
          <p:nvPr/>
        </p:nvSpPr>
        <p:spPr>
          <a:xfrm>
            <a:off x="9233154"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72" name="Text 69"/>
          <p:cNvSpPr txBox="1"/>
          <p:nvPr/>
        </p:nvSpPr>
        <p:spPr>
          <a:xfrm>
            <a:off x="9562338" y="2804160"/>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An awareness campaign</a:t>
            </a:r>
            <a:endParaRPr lang="en-US" sz="1250" dirty="0"/>
          </a:p>
        </p:txBody>
      </p:sp>
      <p:sp>
        <p:nvSpPr>
          <p:cNvPr id="73" name="Shape 70"/>
          <p:cNvSpPr/>
          <p:nvPr/>
        </p:nvSpPr>
        <p:spPr>
          <a:xfrm>
            <a:off x="9233154" y="3233928"/>
            <a:ext cx="256032" cy="256032"/>
          </a:xfrm>
          <a:prstGeom prst="ellipse">
            <a:avLst/>
          </a:prstGeom>
          <a:solidFill>
            <a:srgbClr val="C9CED6"/>
          </a:solidFill>
          <a:ln w="12700">
            <a:solidFill>
              <a:srgbClr val="C9CED6"/>
            </a:solidFill>
            <a:prstDash val="solid"/>
          </a:ln>
        </p:spPr>
      </p:sp>
      <p:sp>
        <p:nvSpPr>
          <p:cNvPr id="74" name="Text 71"/>
          <p:cNvSpPr txBox="1"/>
          <p:nvPr/>
        </p:nvSpPr>
        <p:spPr>
          <a:xfrm>
            <a:off x="923315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5" name="Text 72"/>
          <p:cNvSpPr txBox="1"/>
          <p:nvPr/>
        </p:nvSpPr>
        <p:spPr>
          <a:xfrm>
            <a:off x="9562338"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A weather forecast</a:t>
            </a:r>
            <a:endParaRPr lang="en-US" sz="1250" dirty="0"/>
          </a:p>
        </p:txBody>
      </p:sp>
      <p:sp>
        <p:nvSpPr>
          <p:cNvPr id="76" name="Text 73"/>
          <p:cNvSpPr txBox="1"/>
          <p:nvPr/>
        </p:nvSpPr>
        <p:spPr>
          <a:xfrm>
            <a:off x="9178290"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حملة توعية.</a:t>
            </a:r>
            <a:endParaRPr lang="ar-SA" sz="1350" dirty="0"/>
          </a:p>
        </p:txBody>
      </p:sp>
      <p:sp>
        <p:nvSpPr>
          <p:cNvPr id="77" name="Shape 74"/>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5"/>
          <p:cNvSpPr/>
          <p:nvPr/>
        </p:nvSpPr>
        <p:spPr>
          <a:xfrm>
            <a:off x="585216" y="4288536"/>
            <a:ext cx="310896" cy="310896"/>
          </a:xfrm>
          <a:prstGeom prst="ellipse">
            <a:avLst/>
          </a:prstGeom>
          <a:solidFill>
            <a:srgbClr val="1B3B6F"/>
          </a:solidFill>
          <a:ln w="12700">
            <a:solidFill>
              <a:srgbClr val="1B3B6F"/>
            </a:solidFill>
            <a:prstDash val="solid"/>
          </a:ln>
        </p:spPr>
      </p:sp>
      <p:sp>
        <p:nvSpPr>
          <p:cNvPr id="79" name="Text 7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80" name="Text 77"/>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reusable item is suggested?</a:t>
            </a:r>
            <a:endParaRPr lang="en-US" sz="1250" dirty="0"/>
          </a:p>
        </p:txBody>
      </p:sp>
      <p:sp>
        <p:nvSpPr>
          <p:cNvPr id="81" name="Shape 78"/>
          <p:cNvSpPr/>
          <p:nvPr/>
        </p:nvSpPr>
        <p:spPr>
          <a:xfrm>
            <a:off x="548640" y="4794504"/>
            <a:ext cx="2498598" cy="347472"/>
          </a:xfrm>
          <a:prstGeom prst="roundRect">
            <a:avLst>
              <a:gd name="adj" fmla="val 15789"/>
            </a:avLst>
          </a:prstGeom>
          <a:solidFill>
            <a:srgbClr val="E6F4EC"/>
          </a:solidFill>
          <a:ln w="9525">
            <a:solidFill>
              <a:srgbClr val="2E8B57"/>
            </a:solidFill>
            <a:prstDash val="solid"/>
          </a:ln>
        </p:spPr>
      </p:sp>
      <p:sp>
        <p:nvSpPr>
          <p:cNvPr id="82" name="Shape 79"/>
          <p:cNvSpPr/>
          <p:nvPr/>
        </p:nvSpPr>
        <p:spPr>
          <a:xfrm>
            <a:off x="640080" y="4831080"/>
            <a:ext cx="256032" cy="256032"/>
          </a:xfrm>
          <a:prstGeom prst="ellipse">
            <a:avLst/>
          </a:prstGeom>
          <a:solidFill>
            <a:srgbClr val="2E8B57"/>
          </a:solidFill>
          <a:ln w="12700">
            <a:solidFill>
              <a:srgbClr val="2E8B57"/>
            </a:solidFill>
            <a:prstDash val="solid"/>
          </a:ln>
        </p:spPr>
      </p:sp>
      <p:sp>
        <p:nvSpPr>
          <p:cNvPr id="83" name="Text 80"/>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84" name="Text 81"/>
          <p:cNvSpPr txBox="1"/>
          <p:nvPr/>
        </p:nvSpPr>
        <p:spPr>
          <a:xfrm>
            <a:off x="969264" y="4773168"/>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Bottles</a:t>
            </a:r>
            <a:endParaRPr lang="en-US" sz="1250" dirty="0"/>
          </a:p>
        </p:txBody>
      </p:sp>
      <p:sp>
        <p:nvSpPr>
          <p:cNvPr id="85" name="Shape 82"/>
          <p:cNvSpPr/>
          <p:nvPr/>
        </p:nvSpPr>
        <p:spPr>
          <a:xfrm>
            <a:off x="640080" y="5202936"/>
            <a:ext cx="256032" cy="256032"/>
          </a:xfrm>
          <a:prstGeom prst="ellipse">
            <a:avLst/>
          </a:prstGeom>
          <a:solidFill>
            <a:srgbClr val="C9CED6"/>
          </a:solidFill>
          <a:ln w="12700">
            <a:solidFill>
              <a:srgbClr val="C9CED6"/>
            </a:solidFill>
            <a:prstDash val="solid"/>
          </a:ln>
        </p:spPr>
      </p:sp>
      <p:sp>
        <p:nvSpPr>
          <p:cNvPr id="86" name="Text 8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87" name="Text 84"/>
          <p:cNvSpPr txBox="1"/>
          <p:nvPr/>
        </p:nvSpPr>
        <p:spPr>
          <a:xfrm>
            <a:off x="969264" y="514502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Disposable cups</a:t>
            </a:r>
            <a:endParaRPr lang="en-US" sz="1250" dirty="0"/>
          </a:p>
        </p:txBody>
      </p:sp>
      <p:sp>
        <p:nvSpPr>
          <p:cNvPr id="88" name="Shape 85"/>
          <p:cNvSpPr/>
          <p:nvPr/>
        </p:nvSpPr>
        <p:spPr>
          <a:xfrm>
            <a:off x="640080" y="5574792"/>
            <a:ext cx="256032" cy="256032"/>
          </a:xfrm>
          <a:prstGeom prst="ellipse">
            <a:avLst/>
          </a:prstGeom>
          <a:solidFill>
            <a:srgbClr val="C9CED6"/>
          </a:solidFill>
          <a:ln w="12700">
            <a:solidFill>
              <a:srgbClr val="C9CED6"/>
            </a:solidFill>
            <a:prstDash val="solid"/>
          </a:ln>
        </p:spPr>
      </p:sp>
      <p:sp>
        <p:nvSpPr>
          <p:cNvPr id="89" name="Text 8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90" name="Text 87"/>
          <p:cNvSpPr txBox="1"/>
          <p:nvPr/>
        </p:nvSpPr>
        <p:spPr>
          <a:xfrm>
            <a:off x="969264" y="551688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Plastic bags</a:t>
            </a:r>
            <a:endParaRPr lang="en-US" sz="1250" dirty="0"/>
          </a:p>
        </p:txBody>
      </p:sp>
      <p:sp>
        <p:nvSpPr>
          <p:cNvPr id="91" name="Text 88"/>
          <p:cNvSpPr txBox="1"/>
          <p:nvPr/>
        </p:nvSpPr>
        <p:spPr>
          <a:xfrm>
            <a:off x="585216" y="5907024"/>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زجاجات قابلة لإعادة الاستخدام.</a:t>
            </a:r>
            <a:endParaRPr lang="ar-SA" sz="1350" dirty="0"/>
          </a:p>
        </p:txBody>
      </p:sp>
      <p:sp>
        <p:nvSpPr>
          <p:cNvPr id="92" name="Shape 89"/>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3" name="Shape 90"/>
          <p:cNvSpPr/>
          <p:nvPr/>
        </p:nvSpPr>
        <p:spPr>
          <a:xfrm>
            <a:off x="3449574" y="4288536"/>
            <a:ext cx="310896" cy="310896"/>
          </a:xfrm>
          <a:prstGeom prst="ellipse">
            <a:avLst/>
          </a:prstGeom>
          <a:solidFill>
            <a:srgbClr val="1B3B6F"/>
          </a:solidFill>
          <a:ln w="12700">
            <a:solidFill>
              <a:srgbClr val="1B3B6F"/>
            </a:solidFill>
            <a:prstDash val="solid"/>
          </a:ln>
        </p:spPr>
      </p:sp>
      <p:sp>
        <p:nvSpPr>
          <p:cNvPr id="94" name="Text 91"/>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95" name="Text 92"/>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is the purpose of reusable bottles?</a:t>
            </a:r>
            <a:endParaRPr lang="en-US" sz="1250" dirty="0"/>
          </a:p>
        </p:txBody>
      </p:sp>
      <p:sp>
        <p:nvSpPr>
          <p:cNvPr id="96" name="Shape 93"/>
          <p:cNvSpPr/>
          <p:nvPr/>
        </p:nvSpPr>
        <p:spPr>
          <a:xfrm>
            <a:off x="3504438" y="4831080"/>
            <a:ext cx="256032" cy="256032"/>
          </a:xfrm>
          <a:prstGeom prst="ellipse">
            <a:avLst/>
          </a:prstGeom>
          <a:solidFill>
            <a:srgbClr val="C9CED6"/>
          </a:solidFill>
          <a:ln w="12700">
            <a:solidFill>
              <a:srgbClr val="C9CED6"/>
            </a:solidFill>
            <a:prstDash val="solid"/>
          </a:ln>
        </p:spPr>
      </p:sp>
      <p:sp>
        <p:nvSpPr>
          <p:cNvPr id="97" name="Text 94"/>
          <p:cNvSpPr txBox="1"/>
          <p:nvPr/>
        </p:nvSpPr>
        <p:spPr>
          <a:xfrm>
            <a:off x="350443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98" name="Text 95"/>
          <p:cNvSpPr txBox="1"/>
          <p:nvPr/>
        </p:nvSpPr>
        <p:spPr>
          <a:xfrm>
            <a:off x="3833622" y="4773168"/>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To increase water use</a:t>
            </a:r>
            <a:endParaRPr lang="en-US" sz="1250" dirty="0"/>
          </a:p>
        </p:txBody>
      </p:sp>
      <p:sp>
        <p:nvSpPr>
          <p:cNvPr id="99" name="Shape 96"/>
          <p:cNvSpPr/>
          <p:nvPr/>
        </p:nvSpPr>
        <p:spPr>
          <a:xfrm>
            <a:off x="3504438" y="5202936"/>
            <a:ext cx="256032" cy="256032"/>
          </a:xfrm>
          <a:prstGeom prst="ellipse">
            <a:avLst/>
          </a:prstGeom>
          <a:solidFill>
            <a:srgbClr val="C9CED6"/>
          </a:solidFill>
          <a:ln w="12700">
            <a:solidFill>
              <a:srgbClr val="C9CED6"/>
            </a:solidFill>
            <a:prstDash val="solid"/>
          </a:ln>
        </p:spPr>
      </p:sp>
      <p:sp>
        <p:nvSpPr>
          <p:cNvPr id="100" name="Text 97"/>
          <p:cNvSpPr txBox="1"/>
          <p:nvPr/>
        </p:nvSpPr>
        <p:spPr>
          <a:xfrm>
            <a:off x="3504438"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101" name="Text 98"/>
          <p:cNvSpPr txBox="1"/>
          <p:nvPr/>
        </p:nvSpPr>
        <p:spPr>
          <a:xfrm>
            <a:off x="3833622" y="5145024"/>
            <a:ext cx="2023110" cy="371856"/>
          </a:xfrm>
          <a:prstGeom prst="rect">
            <a:avLst/>
          </a:prstGeom>
          <a:noFill/>
          <a:ln/>
        </p:spPr>
        <p:txBody>
          <a:bodyPr wrap="square" lIns="0" tIns="0" rIns="0" bIns="0" rtlCol="0" anchor="ctr"/>
          <a:lstStyle/>
          <a:p>
            <a:pPr algn="l" indent="0" marL="0">
              <a:buNone/>
            </a:pPr>
            <a:r>
              <a:rPr lang="en-US" sz="1150" dirty="0">
                <a:solidFill>
                  <a:srgbClr val="9AA1AB"/>
                </a:solidFill>
                <a:latin typeface="Calibri" pitchFamily="34" charset="0"/>
                <a:ea typeface="Calibri" pitchFamily="34" charset="-122"/>
                <a:cs typeface="Calibri" pitchFamily="34" charset="-120"/>
              </a:rPr>
              <a:t>To make recycling impossible</a:t>
            </a:r>
            <a:endParaRPr lang="en-US" sz="1150" dirty="0"/>
          </a:p>
        </p:txBody>
      </p:sp>
      <p:sp>
        <p:nvSpPr>
          <p:cNvPr id="102" name="Shape 99"/>
          <p:cNvSpPr/>
          <p:nvPr/>
        </p:nvSpPr>
        <p:spPr>
          <a:xfrm>
            <a:off x="3412998" y="5538216"/>
            <a:ext cx="2498598" cy="347472"/>
          </a:xfrm>
          <a:prstGeom prst="roundRect">
            <a:avLst>
              <a:gd name="adj" fmla="val 15789"/>
            </a:avLst>
          </a:prstGeom>
          <a:solidFill>
            <a:srgbClr val="E6F4EC"/>
          </a:solidFill>
          <a:ln w="9525">
            <a:solidFill>
              <a:srgbClr val="2E8B57"/>
            </a:solidFill>
            <a:prstDash val="solid"/>
          </a:ln>
        </p:spPr>
      </p:sp>
      <p:sp>
        <p:nvSpPr>
          <p:cNvPr id="103" name="Shape 100"/>
          <p:cNvSpPr/>
          <p:nvPr/>
        </p:nvSpPr>
        <p:spPr>
          <a:xfrm>
            <a:off x="3504438" y="5574792"/>
            <a:ext cx="256032" cy="256032"/>
          </a:xfrm>
          <a:prstGeom prst="ellipse">
            <a:avLst/>
          </a:prstGeom>
          <a:solidFill>
            <a:srgbClr val="2E8B57"/>
          </a:solidFill>
          <a:ln w="12700">
            <a:solidFill>
              <a:srgbClr val="2E8B57"/>
            </a:solidFill>
            <a:prstDash val="solid"/>
          </a:ln>
        </p:spPr>
      </p:sp>
      <p:sp>
        <p:nvSpPr>
          <p:cNvPr id="104" name="Text 101"/>
          <p:cNvSpPr txBox="1"/>
          <p:nvPr/>
        </p:nvSpPr>
        <p:spPr>
          <a:xfrm>
            <a:off x="3504438"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105" name="Text 102"/>
          <p:cNvSpPr txBox="1"/>
          <p:nvPr/>
        </p:nvSpPr>
        <p:spPr>
          <a:xfrm>
            <a:off x="3833622" y="5516880"/>
            <a:ext cx="2023110"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ea typeface="Calibri" pitchFamily="34" charset="-122"/>
                <a:cs typeface="Calibri" pitchFamily="34" charset="-120"/>
              </a:rPr>
              <a:t>To reduce the amount of waste</a:t>
            </a:r>
            <a:endParaRPr lang="en-US" sz="1150" dirty="0"/>
          </a:p>
        </p:txBody>
      </p:sp>
      <p:sp>
        <p:nvSpPr>
          <p:cNvPr id="106" name="Text 103"/>
          <p:cNvSpPr txBox="1"/>
          <p:nvPr/>
        </p:nvSpPr>
        <p:spPr>
          <a:xfrm>
            <a:off x="3449574" y="5907024"/>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لكي نقلل كمية النفايات.</a:t>
            </a:r>
            <a:endParaRPr lang="ar-SA" sz="1350" dirty="0"/>
          </a:p>
        </p:txBody>
      </p:sp>
      <p:sp>
        <p:nvSpPr>
          <p:cNvPr id="107" name="Shape 104"/>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08" name="Text 105"/>
          <p:cNvSpPr txBox="1"/>
          <p:nvPr/>
        </p:nvSpPr>
        <p:spPr>
          <a:xfrm>
            <a:off x="6368796" y="4279392"/>
            <a:ext cx="2315718"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ea typeface="Calibri" pitchFamily="34" charset="-122"/>
                <a:cs typeface="Calibri" pitchFamily="34" charset="-120"/>
              </a:rPr>
              <a:t>READ LIKE A DETECTIVE</a:t>
            </a:r>
            <a:endParaRPr lang="en-US" sz="1000" dirty="0"/>
          </a:p>
        </p:txBody>
      </p:sp>
      <p:sp>
        <p:nvSpPr>
          <p:cNvPr id="109" name="Text 106"/>
          <p:cNvSpPr txBox="1"/>
          <p:nvPr/>
        </p:nvSpPr>
        <p:spPr>
          <a:xfrm>
            <a:off x="6368796" y="4590288"/>
            <a:ext cx="2315718"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ea typeface="Calibri" pitchFamily="34" charset="-122"/>
                <a:cs typeface="Calibri" pitchFamily="34" charset="-120"/>
              </a:rPr>
              <a:t>1. Read the question first.</a:t>
            </a:r>
            <a:endParaRPr lang="en-US" sz="1250" dirty="0"/>
          </a:p>
          <a:p>
            <a:pPr algn="l" indent="0" marL="0">
              <a:buNone/>
            </a:pPr>
            <a:r>
              <a:rPr lang="en-US" sz="1250" dirty="0">
                <a:solidFill>
                  <a:srgbClr val="1F2A37"/>
                </a:solidFill>
                <a:latin typeface="Calibri" pitchFamily="34" charset="0"/>
                <a:ea typeface="Calibri" pitchFamily="34" charset="-122"/>
                <a:cs typeface="Calibri" pitchFamily="34" charset="-120"/>
              </a:rPr>
              <a:t>2. Find ONE key word from the question in the text.</a:t>
            </a:r>
            <a:endParaRPr lang="en-US" sz="1250" dirty="0"/>
          </a:p>
          <a:p>
            <a:pPr algn="l" indent="0" marL="0">
              <a:buNone/>
            </a:pPr>
            <a:r>
              <a:rPr lang="en-US" sz="1250" dirty="0">
                <a:solidFill>
                  <a:srgbClr val="1F2A37"/>
                </a:solidFill>
                <a:latin typeface="Calibri" pitchFamily="34" charset="0"/>
                <a:ea typeface="Calibri" pitchFamily="34" charset="-122"/>
                <a:cs typeface="Calibri" pitchFamily="34" charset="-120"/>
              </a:rPr>
              <a:t>3. Read only that sentence again, then choose.</a:t>
            </a:r>
            <a:endParaRPr lang="en-US" sz="1250" dirty="0"/>
          </a:p>
        </p:txBody>
      </p:sp>
      <p:sp>
        <p:nvSpPr>
          <p:cNvPr id="110" name="Text 10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44 / 46</a:t>
            </a:r>
            <a:endParaRPr lang="en-US" sz="8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TC-L05 · Environmental Solutions</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ea typeface="Calibri" pitchFamily="34" charset="-122"/>
                <a:cs typeface="Calibri" pitchFamily="34" charset="-120"/>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ea typeface="Cambria" pitchFamily="34" charset="-122"/>
                <a:cs typeface="Cambria" pitchFamily="34" charset="-120"/>
              </a:rPr>
              <a:t>Before TC-L06: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2 · Lesson 2 of 3</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ea typeface="Calibri" pitchFamily="34" charset="-122"/>
                <a:cs typeface="Calibri" pitchFamily="34" charset="-120"/>
              </a:rPr>
              <a:t>LEARN THESE 5 WORDS</a:t>
            </a:r>
            <a:endParaRPr lang="en-US" sz="1100" dirty="0"/>
          </a:p>
          <a:p>
            <a:pPr indent="0" marL="0">
              <a:buNone/>
            </a:pPr>
            <a:r>
              <a:rPr lang="en-US" sz="1000" dirty="0">
                <a:solidFill>
                  <a:srgbClr val="5A6472"/>
                </a:solidFill>
                <a:latin typeface="Calibri" pitchFamily="34" charset="0"/>
                <a:ea typeface="Calibri" pitchFamily="34" charset="-122"/>
                <a:cs typeface="Calibri" pitchFamily="34" charset="-120"/>
              </a:rPr>
              <a:t>for TC-L06 · The Digital World and Communication</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هَاتِفٌ</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phone</a:t>
            </a:r>
            <a:pPr indent="0" marL="0">
              <a:buNone/>
            </a:pPr>
            <a:r>
              <a:rPr lang="en-US" sz="1000" i="1" dirty="0">
                <a:solidFill>
                  <a:srgbClr val="5A6472"/>
                </a:solidFill>
                <a:latin typeface="Calibri" pitchFamily="34" charset="0"/>
                <a:ea typeface="Calibri" pitchFamily="34" charset="-122"/>
                <a:cs typeface="Calibri" pitchFamily="34" charset="-120"/>
              </a:rPr>
              <a:t>  pl. هَوَاتِفُ</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تَطْبِيقٌ</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app</a:t>
            </a:r>
            <a:pPr indent="0" marL="0">
              <a:buNone/>
            </a:pPr>
            <a:r>
              <a:rPr lang="en-US" sz="1000" i="1" dirty="0">
                <a:solidFill>
                  <a:srgbClr val="5A6472"/>
                </a:solidFill>
                <a:latin typeface="Calibri" pitchFamily="34" charset="0"/>
                <a:ea typeface="Calibri" pitchFamily="34" charset="-122"/>
                <a:cs typeface="Calibri" pitchFamily="34" charset="-120"/>
              </a:rPr>
              <a:t>  pl. تَطْبِيقَاتٌ</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مَوْقِعٌ إِلِكْتُرُونِيٌّ</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website</a:t>
            </a:r>
            <a:pPr indent="0" marL="0">
              <a:buNone/>
            </a:pP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يُرْسِلُ</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he sends</a:t>
            </a:r>
            <a:pPr indent="0" marL="0">
              <a:buNone/>
            </a:pP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كَلِمَةُ المُرُورِ</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password</a:t>
            </a:r>
            <a:pPr indent="0" marL="0">
              <a:buNone/>
            </a:pP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ea typeface="Calibri" pitchFamily="34" charset="-122"/>
                <a:cs typeface="Calibri" pitchFamily="34" charset="-120"/>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ea typeface="Calibri" pitchFamily="34" charset="-122"/>
                <a:cs typeface="Calibri" pitchFamily="34" charset="-120"/>
              </a:rPr>
              <a:t>Write one Arabic sentence: which app do you use most, and why?</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34" charset="0"/>
                <a:ea typeface="Amiri" pitchFamily="34" charset="-122"/>
                <a:cs typeface="Amiri" pitchFamily="34" charset="-120"/>
              </a:rPr>
              <a:t>أَيَّ تَطْبِيقٍ تَسْتَعْمِلُ كَثِيرًا؟ وَلِمَاذَا؟</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ea typeface="Calibri" pitchFamily="34" charset="-122"/>
                <a:cs typeface="Calibri" pitchFamily="34" charset="-120"/>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Website · TC-L05 · play “Choose the Solution”, then the vocabulary mission.</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Write 5 pieces of advice for your school with </a:t>
            </a:r>
            <a:pPr algn="l" indent="0" marL="0">
              <a:buNone/>
            </a:pPr>
            <a:r>
              <a:rPr lang="ar-SA" altLang="en-US" sz="1550" dirty="0">
                <a:solidFill>
                  <a:srgbClr val="1F2A37"/>
                </a:solidFill>
                <a:latin typeface="Amiri" pitchFamily="34" charset="0"/>
                <a:ea typeface="Amiri" pitchFamily="34" charset="-122"/>
                <a:cs typeface="Amiri" pitchFamily="34" charset="-120"/>
              </a:rPr>
              <a:t>يَنْبَغِي أَنْ / يَجِبُ عَلَى … أَنْ</a:t>
            </a:r>
            <a:pPr algn="l" indent="0" marL="0">
              <a:buNone/>
            </a:pPr>
            <a:r>
              <a:rPr lang="en-US" sz="1200" dirty="0">
                <a:solidFill>
                  <a:srgbClr val="1F2A37"/>
                </a:solidFill>
                <a:latin typeface="Calibri" pitchFamily="34" charset="0"/>
                <a:ea typeface="Calibri" pitchFamily="34" charset="-122"/>
                <a:cs typeface="Calibri" pitchFamily="34" charset="-120"/>
              </a:rPr>
              <a:t>.</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Website · TC-L05 · the application mission and the reading “A school recycling plan” (6 questions).</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45 / 46</a:t>
            </a:r>
            <a:endParaRPr lang="en-US" sz="8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ea typeface="Calibri" pitchFamily="34" charset="-122"/>
                <a:cs typeface="Calibri" pitchFamily="34" charset="-120"/>
              </a:rPr>
              <a:t>TC-L05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34" charset="0"/>
                <a:ea typeface="Amiri" pitchFamily="34" charset="-122"/>
                <a:cs typeface="Amiri" pitchFamily="34" charset="-120"/>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ea typeface="Calibri" pitchFamily="34" charset="-122"/>
                <a:cs typeface="Calibri" pitchFamily="34" charset="-120"/>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ea typeface="Calibri" pitchFamily="34" charset="-122"/>
                <a:cs typeface="Calibri" pitchFamily="34" charset="-120"/>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150" b="1" dirty="0">
                <a:solidFill>
                  <a:srgbClr val="FFFFFF"/>
                </a:solidFill>
                <a:latin typeface="Cambria" pitchFamily="34" charset="0"/>
                <a:ea typeface="Cambria" pitchFamily="34" charset="-122"/>
                <a:cs typeface="Cambria" pitchFamily="34" charset="-120"/>
              </a:rPr>
              <a:t>TC-L06 · The Digital World and Communication</a:t>
            </a:r>
            <a:endParaRPr lang="en-US" sz="21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34" charset="0"/>
                <a:ea typeface="Amiri" pitchFamily="34" charset="-122"/>
                <a:cs typeface="Amiri" pitchFamily="34" charset="-120"/>
              </a:rPr>
              <a:t>العَالَمُ الرَّقْمِيُّ وَالتَّوَاصُلُ</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ea typeface="Calibri" pitchFamily="34" charset="-122"/>
                <a:cs typeface="Calibri" pitchFamily="34" charset="-120"/>
              </a:rPr>
              <a:t>Remember: 5 words + 1 sentence before next lesson.</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46</Slides>
  <Notes>46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46</vt:i4>
      </vt:variant>
    </vt:vector>
  </HeadingPairs>
  <TitlesOfParts>
    <vt:vector size="4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TC-L05 · Environmental Solutions and Responsibility</dc:title>
  <dc:subject>PptxGenJS Presentation</dc:subject>
  <dc:creator>Al Madina Online School · Arabic Department</dc:creator>
  <cp:lastModifiedBy>Al Madina Online School · Arabic Department</cp:lastModifiedBy>
  <cp:revision>1</cp:revision>
  <dcterms:created xsi:type="dcterms:W3CDTF">2026-09-27T08:18:13Z</dcterms:created>
  <dcterms:modified xsi:type="dcterms:W3CDTF">2026-09-27T08:18:13Z</dcterms:modified>
</cp:coreProperties>
</file>