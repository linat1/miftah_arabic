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9 (TC-L09). The website lesson reuses F6-L06 (Shopping in Town: Prices and Comparisons) with the Topic C focus “Understand adverts and transactions, compare products and resolve problems” (grammar: numbers; demonstratives; attached pronouns). The advert, listening, quizzes, builder, sorter and mistakes are the website’s; the picture match is the website lesson game “Best Buy”. The price table and the complaint email (resolve problems) are teacher-made from website vocabulary.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F6-L06 is accessible (A2–B1), so this lesson can push every student a little further. CORE: shop words + هٰذَا / هٰذِهِ + كَمْ ثَمَنُهُ / ثَمَنُهَا + prices in tens. DEVELOP: أَرْخَصُ / أَغْلَى مِنْ, discounts and polite payment requests. STRETCH: percentages, “better value” and a complaint (resolve a problem).
• Colour: pink = the “it” ending (ـهُ / ـهَا) that must match the item; price table with the counted-noun rule; an advert and a complaint to read; read-along listening with English.
• Urdu bridge words (قیمت، دکان، نقد، حساب، ہدیہ).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1–2 test the words prepared at home (Flipped Learning follow-up). Questions 3–5 retrieve TC-L08 — and question 5 leads straight into today’s أَرْخَصُ مِنْ.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GO THROUGH THE ANSWERS (2 min). Reveal and ask “why?” for each (● 10s think → named student, warned in advance).
Key idea for today (bottom-right card): The “it” ending must match the thing: a book (m.) → ـهُ, a bag (f.) → ـهَا.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Core statements carry the Topic C focus (adverts and transactions, comparing products; numbers, demonstratives, attached pronouns). Stretch covers “resolve problems”. The website objectives on the left are the F6-L06 objectives.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قیمت (Urdu “price”; Arabic قِيمَةٌ = value — the website game: أَفْضَلُ قِيمَةً = better value), دکان (shop — Arabic has دُكَّانٌ and مَحَلٌّ), نقد (cash — نَقْدًا), حساب (the bill), ہدیہ (a gift — هَدِيَّةٌ).
All five groups are website F6-L06 vocabulary; Group 4 (prices) adds the numbers needed to read the website advert and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shopping places and people (website F6-L06). Hear → Say → See → Use.
Masculine / feminine / plural: بَائِعٌ / بَائِعَةٌ (the listening has a male seller — البَائِعُ — and a female customer — الزَّبُونَةُ).
Website reading headline: عُرُوضُ اليَوْمِ = today’s offers (plural of عَرْضٌ).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goods (website F6-L06). Each card shows the price question the item needs — this is today’s key grammar.
Core trick: look for ـة at the end. ـة → feminine → ثَمَنُهَا. No ـة → usually masculine → ثَمَنُهُ.
Stretch: مَلَابِسُ (clothes) is a plural — the website says ask with the noun: كَمْ ثَمَنُ المَلَابِسِ؟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price and comparison (website F6-L06). Gesture: rub fingers (price), thumbs down (cheap), thumbs up high (expensive), a scissor cut (discount), a card tap (بِالبِطَاقَةِ).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demonstratives and attached pronouns (Topic C grammar focus), built on the website table “Item · Price suffix · Question”.
Teal = the demonstrative: هٰذَا (this, m.) / هٰذِهِ (this, f. and plural things). Row 4 (Develop): ذٰلِكَ / تِلْكَ = that.
Pink = the attached pronoun “it”: ـهُ for a masculine item, ـهَا for a feminine item. The demonstrative and the ending ALWAYS match: هٰذَا … ـهُ · هٰذِهِ … ـهَا.
Website teaching point: “A price question is also a pronoun task: the suffix must refer accurately to the item.”
Website common error: “Do not use ثَمَنُهُ for a feminine item. For حَقِيبَةٌ, ask كَمْ ثَمَنُهَا؟.”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numbers for prices (Topic C grammar focus). Teacher-made table using the prices in the website listening, advert and games.
Pink = the ENDING of the currency word, which depends on the number:
• 3–10 → plural, genitive: عَشَرَةُ دَنَانِيرَ (website listening: خَصْمٌ عَشَرَةُ دَنَانِيرَ).
• 11–99 → singular with -an: عِشْرُونَ دِينَارًا · خَمْسُونَ دِينَارًا.
Core: rows 1–4 — the tens. Just say the number + دِينَارًا. Develop: row 5 (after بِـ the tens change -ūn → -īn). Stretch: row 6 — Arabic says units before tens: “four and twenty”.
Currency: دِينَارٌ (pl. دَنَانِيرُ), جُنَيْهٌ (pound), بِنْسٌ (penny), رِيَالٌ, دِرْهَمٌ.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3 — comparing products (website rule “Compare two prices”: “These irregular comparative forms do not change for masculine and feminine nouns”). Card 3 is the website game sentence.
Website teaching point: “Comparatives are most useful when they support a decision, not when they appear as isolated forms.” → always finish a comparison with a decision: لِذٰلِكَ سَأَشْتَرِي … (so I will buy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4 — the transaction. Cards 1–2 are the website rule “Make a polite purchase” and the website pattern. Card 3 is teacher-made for the Topic C focus “resolve problems” — used in the Stretch complaint email later in the lesson. Notice ـهُ again: أُبَدِّلَهُ = exchange IT (the phone, masculine).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use for revision or homework). Website overview: “The price question changes its possessive ending according to the item: ثَمَنُهُ for a masculine item and ثَمَنُهَا for a feminine item. Compare prices with أَرْخَصُ مِنْ and أَغْلَى مِنْ.”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teacher models with a think-aloud (play the customer; a confident student can read the seller). Students COPY the dialogue into their books.
Step 1 — “Ask if they have it: هَلْ عِنْدَكُمْ …؟”
Step 2 — “حَقِيبَةٌ ends in ـة, so: هٰذِهِ … and ثَمَنُهَا. They match!”
Step 3 — “Compare: أَرْخَصُ مِنَ … — the same for masculine and feminine. Then DECIDE: لِذٰلِكَ سَأَشْتَرِي …”
Step 4 — “Pay: هَلْ يُمْكِنُ أَنْ أَدْفَعَ بِالبِطَاقَةِ؟”
Built from the website listening (the blue and black bags) and website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MODEL SENTENCES (1 min) — the website patterns. Students copy TWO that are useful for them.
• Core: copy 1 and 2 and change the item (هٰذَا تَذْكَارٌ … / هٰذِهِ هَدِيَّةٌ …). • Develop: copy 3 with two new items. • Stretch: copy 4 and add a discount question (هَلْ هُنَاكَ خَصْمٌ؟).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(“Best Buy”)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أَرْخَصُ مِنْ (cheaper than), أَفْضَلُ قِيمَةً (better value), خَصْمٌ (discount). Stretch: prove the big pack is better value (£3 a kilo vs £4 a kilo) — in Arabic if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(“Best Buy”)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أَرْخَصُ مِنْ (cheaper than), أَفْضَلُ قِيمَةً (better value), خَصْمٌ (discount). Stretch: prove the big pack is better value (£3 a kilo vs £4 a kilo) — in Arabic if you 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READ AN ADVERT (2 min) — the website reading “Special offers in the shopping centre”, set out line by line like a real advert (Topic C focus “Understand adverts and transactions”).
Read it aloud once while students follow. SEND: cover the text and uncover one line at a time; Core students use the glossary.
Point out: أَرْخَصُ مِنْهَا = cheaper than IT (ـهَا = the big bag); اِحْتَفِظْ = an instruction, like TC-L07’s أَحْضِرْ.
Website note: the website text writes بِعِشْرَةِ دَنَانِيرَ; the number ten is عَشَرَة (with fatḥa on the shīn) — corrected here to بِعَشَرَةِ.
Translation for the teacher: Today’s offers at Al-Noor shopping centre: Books with a 20% discount. The large travel bag is 60 dinars, and the small bag is 10 dinars cheaper. The new phone is expensive, but it comes with free headphones. You can pay in cash or by card. Keep the receipt for 30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ADVERT QUESTIONS — the website reading questions 1–5 (question 6 is in the teacher notes: How long should the receipt be kept? → 30 days, لِمُدَّةِ ثَلَاثِينَ يَوْمًا). Students type five letters in the chat. Core: questions 1, 2 and 5 with the key-word clues. Stretch: how much is the small bag? (60 − 10 = 50 dinars).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For each answer, a student reads the exact line from the advert (by invitation). Ask: which offer is the best?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 sentence builders (3 min), with the options reordered so the answers are not always A.
Students choose ONE box per column (start from Column 1 on the right) and type the letters, e.g. “1: B B A”. ↔ Rehearse 30s first.
Core: sentences 1 and 3. Develop / Stretch: sentence 2 and explain the wrong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 sentence builders (3 min), with the options reordered so the answers are not always A.
Students choose ONE box per column (start from Column 1 on the right) and type the letters, e.g. “1: B B A”. ↔ Rehearse 30s first.
Core: sentences 1 and 3. Develop / Stretch: sentence 2 and explain the wrong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“Masculine or feminine price reference?” (2 min, all students). Clue for Core: look at the LAST letter. ـة → feminine → ثَمَنُهَا.
Stretch trap: تَذْكَارٌ (souvenir) and تَذْكِرَةٌ (ticket) look alike — only one ends in ـة.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“Masculine or feminine price reference?” (2 min, all students). Clue for Core: look at the LAST letter. ـة → feminine → ثَمَنُهَا.
Stretch trap: تَذْكَارٌ (souvenir) and تَذْكِرَةٌ (ticket) look alike — only one ends in ـة.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5–8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1–3. Develop / Stretch: all 5.
Listen 1: just listen. Listen 2: note answers. Then chat the letters.
Support: after the second listening, show the read-along slide (Arabic + English, line by line) for Core students.
SCRIPT (read aloud):
الزَّبُونَةُ: السَّلَامُ عَلَيْكُمْ. هَلْ عِنْدَكُمْ حَقَائِبُ صَغِيرَةٌ؟ البَائِعُ: نَعَمْ، هٰذِهِ حَقِيبَةٌ زَرْقَاءُ وَثَمَنُهَا خَمْسُونَ دِينَارًا. وَهٰذِهِ حَقِيبَةٌ سَوْدَاءُ بِأَرْبَعِينَ. الزَّبُونَةُ: السَّوْدَاءُ أَرْخَصُ، وَلٰكِنَّ الزَّرْقَاءَ أَجْمَلُ. هَلْ هُنَاكَ خَصْمٌ؟ البَائِعُ: نَعَمْ، خَصْمٌ عَشَرَةُ دَنَانِيرَ. الزَّبُونَةُ: جَيِّدٌ. أُرِيدُ الزَّرْقَاءَ. هَلْ يُمْكِنُ أَنْ أَدْفَعَ بِالبِطَاقَةِ؟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هَلْ هُنَاكَ خَصْمٌ؟ (Is there a discount?)
B: نَعَمْ، وَيُمْكِنُكَ الدَّفْعُ نَقْدًا أَوْ بِالبِطَاقَةِ. (Yes, and you can pay cash or by card.)
ROLE PLAY (website “Market bargaining and payment role play”): A = customer, B = seller; swap after 45 s. Stretch pairs add a problem: the item does not work → exchange or refund (Part 4, card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Ask the price of four items and complete a supported purchase. · Develop — Compare three items and justify a purchase decision. · Stretch — Handle availability, discount, payment and receipt questions in a spontaneous role play.
Website writing task (Stretch): Write a six- to eight-line shopping dialogue and compare two possible purchases.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Core students find هٰذَا / هٰذِهِ and the two price questions; Stretch explain what مِنْهُ refers to (the book).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6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EXTENSION (FLEX — Stretch, fast finishers or homework) — Topic C focus “resolve problems”. A teacher-made complaint email linked to the website advert (the new phone with free headphones).
Translation for the teacher: To: Customer service — Al-Noor shopping centre. I bought this phone on Saturday for 200 dinars. But the phone does not work, and the headphones are not in the box. I have the receipt, and this is a photo of it. I want to exchange the phone for a new phone, or for you to give me my money back. Thank you — Sara.
Notice the attached pronouns: صُورَتُهَا (a photo of IT — the receipt, فَاتُورَةٌ,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EXTENSION questions (teacher-made). Then write Sara’s reply from customer service: نَعْتَذِرُ … يُمْكِنُكِ أَنْ تُبَدِّلِي الهَاتِفَ … (We apologise … you can exchange the phone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and discuss question 4: the attached pronoun always points back to a noun — find it and check the gender.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(TC-L10 · Measurements, Shapes and Materials) will spend class time USING this language, so students prepare it tonight — short, simple, easy to access (school guidance: “Simple, Short, Interesting, Relevant, Easy to access”). The five words come from the website lesson (F6-L07 “The Built Environment”) and the Topic C “Measurements” bank.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1.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1.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TC-L09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Shopping, Prices and Consumer Choices</a:t>
            </a:r>
            <a:endParaRPr lang="en-US" sz="2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التَّسَوُّقُ وَالأَسْعَارُ وَخِيَارَاتُ المُسْتَهْلِكِ</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Ask the price of this and that (</a:t>
            </a:r>
            <a:pPr algn="l" indent="0" marL="0">
              <a:buNone/>
            </a:pPr>
            <a:r>
              <a:rPr lang="ar-SA" altLang="en-US" sz="1800" dirty="0">
                <a:solidFill>
                  <a:srgbClr val="C6D2E6"/>
                </a:solidFill>
                <a:latin typeface="Amiri" pitchFamily="2" charset="-78"/>
                <a:ea typeface="Amiri" pitchFamily="2" charset="-78"/>
                <a:cs typeface="Amiri" pitchFamily="2" charset="-78"/>
              </a:rPr>
              <a:t>هٰذَا</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هٰذِهِ</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ثَمَنُهُ</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ثَمَنُهَا</a:t>
            </a:r>
            <a:pPr algn="l" indent="0" marL="0">
              <a:buNone/>
            </a:pPr>
            <a:r>
              <a:rPr lang="en-US" sz="1400" dirty="0">
                <a:solidFill>
                  <a:srgbClr val="C6D2E6"/>
                </a:solidFill>
                <a:latin typeface="Calibri" pitchFamily="34" charset="0"/>
                <a:cs typeface="Amiri" pitchFamily="2" charset="-78"/>
              </a:rPr>
              <a:t>), read prices and adverts, compare products (</a:t>
            </a:r>
            <a:pPr algn="l" indent="0" marL="0">
              <a:buNone/>
            </a:pPr>
            <a:r>
              <a:rPr lang="ar-SA" altLang="en-US" sz="1800" dirty="0">
                <a:solidFill>
                  <a:srgbClr val="C6D2E6"/>
                </a:solidFill>
                <a:latin typeface="Amiri" pitchFamily="2" charset="-78"/>
                <a:ea typeface="Amiri" pitchFamily="2" charset="-78"/>
                <a:cs typeface="Amiri" pitchFamily="2" charset="-78"/>
              </a:rPr>
              <a:t>أَرْخَصُ</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أَغْلَى</a:t>
            </a:r>
            <a:pPr algn="l" indent="0" marL="0">
              <a:buNone/>
            </a:pPr>
            <a:r>
              <a:rPr lang="en-US" sz="1400" dirty="0">
                <a:solidFill>
                  <a:srgbClr val="C6D2E6"/>
                </a:solidFill>
                <a:latin typeface="Calibri" pitchFamily="34" charset="0"/>
                <a:cs typeface="Amiri" pitchFamily="2" charset="-78"/>
              </a:rPr>
              <a:t>) and sort out a problem in a shop.</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TC-L09 · Advanced Topic C</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Shop words, “this”, “how much is it?”, prices.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Best buy, read an advert, build,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TC-L10.</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سُوقٌ</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price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market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discount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“cheap”?</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رَخِيصٌ</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غَالٍ</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خَصْمٌ</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مَكْتَبَةٌ فِي حَيِّي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يُوجَدُ</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يُوجَدُونَ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تُوجَدُ</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المَقْهَى بِجَانِبِ البَنْكِ</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café is opposite the bank.</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café is behind the bank.</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café is next to the bank.</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“bigger than”?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أَكْبَرُ مِنْ</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كَبِيرٌ مِنْ</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أَكْبَرُ عَنْ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سُوقٌ</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price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market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discount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
            </a:r>
            <a:pPr algn="l" indent="0" marL="0">
              <a:buNone/>
            </a:pPr>
            <a:r>
              <a:rPr lang="ar-SA" altLang="en-US" sz="1350" dirty="0">
                <a:solidFill>
                  <a:srgbClr val="8A6D1E"/>
                </a:solidFill>
                <a:latin typeface="Amiri" pitchFamily="2" charset="-78"/>
                <a:ea typeface="Amiri" pitchFamily="2" charset="-78"/>
                <a:cs typeface="Amiri" pitchFamily="2" charset="-78"/>
              </a:rPr>
              <a:t>سُوقٌ</a:t>
            </a:r>
            <a:pPr algn="l" indent="0" marL="0">
              <a:buNone/>
            </a:pPr>
            <a:r>
              <a:rPr lang="en-US" sz="1050" i="1" dirty="0">
                <a:solidFill>
                  <a:srgbClr val="8A6D1E"/>
                </a:solidFill>
                <a:latin typeface="Calibri" pitchFamily="34" charset="0"/>
                <a:cs typeface="Amiri" pitchFamily="2" charset="-78"/>
              </a:rPr>
              <a:t> = market (pl. </a:t>
            </a:r>
            <a:pPr algn="l" indent="0" marL="0">
              <a:buNone/>
            </a:pPr>
            <a:r>
              <a:rPr lang="ar-SA" altLang="en-US" sz="1350" dirty="0">
                <a:solidFill>
                  <a:srgbClr val="8A6D1E"/>
                </a:solidFill>
                <a:latin typeface="Amiri" pitchFamily="2" charset="-78"/>
                <a:ea typeface="Amiri" pitchFamily="2" charset="-78"/>
                <a:cs typeface="Amiri" pitchFamily="2" charset="-78"/>
              </a:rPr>
              <a:t>أَسْوَاقٌ</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“cheap”?</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رَخِيصٌ</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غَالٍ</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خَصْمٌ</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
            </a:r>
            <a:pPr algn="l" indent="0" marL="0">
              <a:buNone/>
            </a:pPr>
            <a:r>
              <a:rPr lang="ar-SA" altLang="en-US" sz="1350" dirty="0">
                <a:solidFill>
                  <a:srgbClr val="8A6D1E"/>
                </a:solidFill>
                <a:latin typeface="Amiri" pitchFamily="2" charset="-78"/>
                <a:ea typeface="Amiri" pitchFamily="2" charset="-78"/>
                <a:cs typeface="Amiri" pitchFamily="2" charset="-78"/>
              </a:rPr>
              <a:t>رَخِيصٌ</a:t>
            </a:r>
            <a:pPr algn="l" indent="0" marL="0">
              <a:buNone/>
            </a:pPr>
            <a:r>
              <a:rPr lang="en-US" sz="1050" i="1" dirty="0">
                <a:solidFill>
                  <a:srgbClr val="8A6D1E"/>
                </a:solidFill>
                <a:latin typeface="Calibri" pitchFamily="34" charset="0"/>
                <a:cs typeface="Amiri" pitchFamily="2" charset="-78"/>
              </a:rPr>
              <a:t> = cheap · </a:t>
            </a:r>
            <a:pPr algn="l" indent="0" marL="0">
              <a:buNone/>
            </a:pPr>
            <a:r>
              <a:rPr lang="ar-SA" altLang="en-US" sz="1350" dirty="0">
                <a:solidFill>
                  <a:srgbClr val="8A6D1E"/>
                </a:solidFill>
                <a:latin typeface="Amiri" pitchFamily="2" charset="-78"/>
                <a:ea typeface="Amiri" pitchFamily="2" charset="-78"/>
                <a:cs typeface="Amiri" pitchFamily="2" charset="-78"/>
              </a:rPr>
              <a:t>غَالٍ</a:t>
            </a:r>
            <a:pPr algn="l" indent="0" marL="0">
              <a:buNone/>
            </a:pPr>
            <a:r>
              <a:rPr lang="en-US" sz="1050" i="1" dirty="0">
                <a:solidFill>
                  <a:srgbClr val="8A6D1E"/>
                </a:solidFill>
                <a:latin typeface="Calibri" pitchFamily="34" charset="0"/>
                <a:cs typeface="Amiri" pitchFamily="2" charset="-78"/>
              </a:rPr>
              <a:t> = expensive · </a:t>
            </a:r>
            <a:pPr algn="l" indent="0" marL="0">
              <a:buNone/>
            </a:pPr>
            <a:r>
              <a:rPr lang="ar-SA" altLang="en-US" sz="1350" dirty="0">
                <a:solidFill>
                  <a:srgbClr val="8A6D1E"/>
                </a:solidFill>
                <a:latin typeface="Amiri" pitchFamily="2" charset="-78"/>
                <a:ea typeface="Amiri" pitchFamily="2" charset="-78"/>
                <a:cs typeface="Amiri" pitchFamily="2" charset="-78"/>
              </a:rPr>
              <a:t>خَصْمٌ</a:t>
            </a:r>
            <a:pPr algn="l" indent="0" marL="0">
              <a:buNone/>
            </a:pPr>
            <a:r>
              <a:rPr lang="en-US" sz="1050" i="1" dirty="0">
                <a:solidFill>
                  <a:srgbClr val="8A6D1E"/>
                </a:solidFill>
                <a:latin typeface="Calibri" pitchFamily="34" charset="0"/>
                <a:cs typeface="Amiri" pitchFamily="2" charset="-78"/>
              </a:rPr>
              <a:t> = discount.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___ </a:t>
            </a:r>
            <a:pPr algn="l" indent="0" marL="0">
              <a:buNone/>
            </a:pPr>
            <a:r>
              <a:rPr lang="ar-SA" altLang="en-US" sz="1650" b="1" dirty="0">
                <a:solidFill>
                  <a:srgbClr val="1B3B6F"/>
                </a:solidFill>
                <a:latin typeface="Amiri" pitchFamily="2" charset="-78"/>
                <a:ea typeface="Amiri" pitchFamily="2" charset="-78"/>
                <a:cs typeface="Amiri" pitchFamily="2" charset="-78"/>
              </a:rPr>
              <a:t>مَكْتَبَةٌ فِي حَيِّي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يُوجَدُ</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يُوجَدُونَ</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تُوجَدُ</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TC-L08: </a:t>
            </a:r>
            <a:pPr algn="l" indent="0" marL="0">
              <a:buNone/>
            </a:pPr>
            <a:r>
              <a:rPr lang="ar-SA" altLang="en-US" sz="1350" dirty="0">
                <a:solidFill>
                  <a:srgbClr val="8A6D1E"/>
                </a:solidFill>
                <a:latin typeface="Amiri" pitchFamily="2" charset="-78"/>
                <a:ea typeface="Amiri" pitchFamily="2" charset="-78"/>
                <a:cs typeface="Amiri" pitchFamily="2" charset="-78"/>
              </a:rPr>
              <a:t>مَكْتَبَةٌ</a:t>
            </a:r>
            <a:pPr algn="l" indent="0" marL="0">
              <a:buNone/>
            </a:pPr>
            <a:r>
              <a:rPr lang="en-US" sz="1050" i="1" dirty="0">
                <a:solidFill>
                  <a:srgbClr val="8A6D1E"/>
                </a:solidFill>
                <a:latin typeface="Calibri" pitchFamily="34" charset="0"/>
                <a:cs typeface="Amiri" pitchFamily="2" charset="-78"/>
              </a:rPr>
              <a:t> is feminine → </a:t>
            </a:r>
            <a:pPr algn="l" indent="0" marL="0">
              <a:buNone/>
            </a:pPr>
            <a:r>
              <a:rPr lang="ar-SA" altLang="en-US" sz="1350" dirty="0">
                <a:solidFill>
                  <a:srgbClr val="8A6D1E"/>
                </a:solidFill>
                <a:latin typeface="Amiri" pitchFamily="2" charset="-78"/>
                <a:ea typeface="Amiri" pitchFamily="2" charset="-78"/>
                <a:cs typeface="Amiri" pitchFamily="2" charset="-78"/>
              </a:rPr>
              <a:t>تُوجَدُ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المَقْهَى بِجَانِبِ البَنْكِ</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café is opposite the bank.</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café is behind the bank.</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café is next to the bank.</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TC-L08: </a:t>
            </a:r>
            <a:pPr algn="l" indent="0" marL="0">
              <a:buNone/>
            </a:pPr>
            <a:r>
              <a:rPr lang="ar-SA" altLang="en-US" sz="1350" dirty="0">
                <a:solidFill>
                  <a:srgbClr val="8A6D1E"/>
                </a:solidFill>
                <a:latin typeface="Amiri" pitchFamily="2" charset="-78"/>
                <a:ea typeface="Amiri" pitchFamily="2" charset="-78"/>
                <a:cs typeface="Amiri" pitchFamily="2" charset="-78"/>
              </a:rPr>
              <a:t>بِجَانِبِ</a:t>
            </a:r>
            <a:pPr algn="l" indent="0" marL="0">
              <a:buNone/>
            </a:pPr>
            <a:r>
              <a:rPr lang="en-US" sz="1050" i="1" dirty="0">
                <a:solidFill>
                  <a:srgbClr val="8A6D1E"/>
                </a:solidFill>
                <a:latin typeface="Calibri" pitchFamily="34" charset="0"/>
                <a:cs typeface="Amiri" pitchFamily="2" charset="-78"/>
              </a:rPr>
              <a:t> = next to.</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“bigger than”?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أَكْبَرُ مِنْ</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كَبِيرٌ مِنْ</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أَكْبَرُ عَنْ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TC-L08: the </a:t>
            </a:r>
            <a:pPr algn="l" indent="0" marL="0">
              <a:buNone/>
            </a:pPr>
            <a:r>
              <a:rPr lang="ar-SA" altLang="en-US" sz="1350" dirty="0">
                <a:solidFill>
                  <a:srgbClr val="8A6D1E"/>
                </a:solidFill>
                <a:latin typeface="Amiri" pitchFamily="2" charset="-78"/>
                <a:ea typeface="Amiri" pitchFamily="2" charset="-78"/>
                <a:cs typeface="Amiri" pitchFamily="2" charset="-78"/>
              </a:rPr>
              <a:t>أَفْعَلُ</a:t>
            </a:r>
            <a:pPr algn="l" indent="0" marL="0">
              <a:buNone/>
            </a:pPr>
            <a:r>
              <a:rPr lang="en-US" sz="1050" i="1" dirty="0">
                <a:solidFill>
                  <a:srgbClr val="8A6D1E"/>
                </a:solidFill>
                <a:latin typeface="Calibri" pitchFamily="34" charset="0"/>
                <a:cs typeface="Amiri" pitchFamily="2" charset="-78"/>
              </a:rPr>
              <a:t> pattern + </a:t>
            </a:r>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The “it” ending must match the thing: a book (m.) → </a:t>
            </a:r>
            <a:pPr algn="l" indent="0" marL="0">
              <a:buNone/>
            </a:pPr>
            <a:r>
              <a:rPr lang="ar-SA" altLang="en-US" sz="1700" b="1" dirty="0">
                <a:solidFill>
                  <a:srgbClr val="1F2A37"/>
                </a:solidFill>
                <a:latin typeface="Amiri" pitchFamily="2" charset="-78"/>
                <a:ea typeface="Amiri" pitchFamily="2" charset="-78"/>
                <a:cs typeface="Amiri" pitchFamily="2" charset="-78"/>
              </a:rPr>
              <a:t>ـهُ</a:t>
            </a:r>
            <a:pPr algn="l" indent="0" marL="0">
              <a:buNone/>
            </a:pPr>
            <a:r>
              <a:rPr lang="en-US" sz="1300" b="1" dirty="0">
                <a:solidFill>
                  <a:srgbClr val="1F2A37"/>
                </a:solidFill>
                <a:latin typeface="Calibri" pitchFamily="34" charset="0"/>
                <a:cs typeface="Amiri" pitchFamily="2" charset="-78"/>
              </a:rPr>
              <a:t>, a bag (f.) → </a:t>
            </a:r>
            <a:pPr algn="l" indent="0" marL="0">
              <a:buNone/>
            </a:pPr>
            <a:r>
              <a:rPr lang="ar-SA" altLang="en-US" sz="1700" b="1" dirty="0">
                <a:solidFill>
                  <a:srgbClr val="1F2A37"/>
                </a:solidFill>
                <a:latin typeface="Amiri" pitchFamily="2" charset="-78"/>
                <a:ea typeface="Amiri" pitchFamily="2" charset="-78"/>
                <a:cs typeface="Amiri" pitchFamily="2" charset="-78"/>
              </a:rPr>
              <a:t>ـهَا</a:t>
            </a:r>
            <a:pPr algn="l" indent="0" marL="0">
              <a:buNone/>
            </a:pPr>
            <a:r>
              <a:rPr lang="en-US" sz="1300" b="1" dirty="0">
                <a:solidFill>
                  <a:srgbClr val="1F2A37"/>
                </a:solidFill>
                <a:latin typeface="Calibri" pitchFamily="34" charset="0"/>
                <a:cs typeface="Amiri" pitchFamily="2" charset="-78"/>
              </a:rPr>
              <a: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كِتَابٌ: كَمْ ثَمَنُ</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هُ</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حَقِيبَةٌ: كَمْ ثَمَنُ</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هَا</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shopping, payment and price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Ask prices for masculine and feminine items.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Compare two prices accurately.</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Complete a polite shop role play.</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12 shop words and say </a:t>
            </a:r>
            <a:pPr algn="l" indent="0" marL="0">
              <a:buNone/>
            </a:pPr>
            <a:r>
              <a:rPr lang="ar-SA" altLang="en-US" sz="1700" b="1" dirty="0">
                <a:solidFill>
                  <a:srgbClr val="2E8B57"/>
                </a:solidFill>
                <a:latin typeface="Amiri" pitchFamily="2" charset="-78"/>
                <a:ea typeface="Amiri" pitchFamily="2" charset="-78"/>
                <a:cs typeface="Amiri" pitchFamily="2" charset="-78"/>
              </a:rPr>
              <a:t>هٰذَا / هٰذِهِ</a:t>
            </a:r>
            <a:pPr algn="l" indent="0" marL="0">
              <a:buNone/>
            </a:pPr>
            <a:r>
              <a:rPr lang="en-US" sz="1300" b="1" dirty="0">
                <a:solidFill>
                  <a:srgbClr val="2E8B57"/>
                </a:solidFill>
                <a:latin typeface="Calibri" pitchFamily="34" charset="0"/>
                <a:cs typeface="Amiri" pitchFamily="2" charset="-78"/>
              </a:rPr>
              <a:t> correctly.</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ask </a:t>
            </a:r>
            <a:pPr algn="l" indent="0" marL="0">
              <a:buNone/>
            </a:pPr>
            <a:r>
              <a:rPr lang="ar-SA" altLang="en-US" sz="1700" b="1" dirty="0">
                <a:solidFill>
                  <a:srgbClr val="2E8B57"/>
                </a:solidFill>
                <a:latin typeface="Amiri" pitchFamily="2" charset="-78"/>
                <a:ea typeface="Amiri" pitchFamily="2" charset="-78"/>
                <a:cs typeface="Amiri" pitchFamily="2" charset="-78"/>
              </a:rPr>
              <a:t>كَمْ ثَمَنُهُ؟ / كَمْ ثَمَنُهَا؟</a:t>
            </a:r>
            <a:pPr algn="l" indent="0" marL="0">
              <a:buNone/>
            </a:pPr>
            <a:r>
              <a:rPr lang="en-US" sz="1300" b="1" dirty="0">
                <a:solidFill>
                  <a:srgbClr val="2E8B57"/>
                </a:solidFill>
                <a:latin typeface="Calibri" pitchFamily="34" charset="0"/>
                <a:cs typeface="Amiri" pitchFamily="2" charset="-78"/>
              </a:rPr>
              <a:t> and understand a price.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compare two products with </a:t>
            </a:r>
            <a:pPr algn="l" indent="0" marL="0">
              <a:buNone/>
            </a:pPr>
            <a:r>
              <a:rPr lang="ar-SA" altLang="en-US" sz="1700" b="1" dirty="0">
                <a:solidFill>
                  <a:srgbClr val="C9780A"/>
                </a:solidFill>
                <a:latin typeface="Amiri" pitchFamily="2" charset="-78"/>
                <a:ea typeface="Amiri" pitchFamily="2" charset="-78"/>
                <a:cs typeface="Amiri" pitchFamily="2" charset="-78"/>
              </a:rPr>
              <a:t>أَرْخَصُ مِنْ / أَغْلَى مِنْ</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read an advert and ask to pay politely.</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explain a problem and ask for an exchange or refund.</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6–8-line shop dialogue comparing two items.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32 words from the website in 5 groups. Learn the CORE words first. Hear it → say it → see it → use it.</a:t>
            </a:r>
            <a:endParaRPr lang="en-US" sz="1600" dirty="0"/>
          </a:p>
        </p:txBody>
      </p:sp>
      <p:sp>
        <p:nvSpPr>
          <p:cNvPr id="8" name="Shape 6"/>
          <p:cNvSpPr/>
          <p:nvPr/>
        </p:nvSpPr>
        <p:spPr>
          <a:xfrm>
            <a:off x="457200" y="4572000"/>
            <a:ext cx="14630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In the shop · 6</a:t>
            </a:r>
            <a:endParaRPr lang="en-US" sz="900" dirty="0"/>
          </a:p>
        </p:txBody>
      </p:sp>
      <p:sp>
        <p:nvSpPr>
          <p:cNvPr id="10" name="Shape 8"/>
          <p:cNvSpPr/>
          <p:nvPr/>
        </p:nvSpPr>
        <p:spPr>
          <a:xfrm>
            <a:off x="2057400" y="4572000"/>
            <a:ext cx="14630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1945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Things to buy · 6</a:t>
            </a:r>
            <a:endParaRPr lang="en-US" sz="900" dirty="0"/>
          </a:p>
        </p:txBody>
      </p:sp>
      <p:sp>
        <p:nvSpPr>
          <p:cNvPr id="12" name="Shape 10"/>
          <p:cNvSpPr/>
          <p:nvPr/>
        </p:nvSpPr>
        <p:spPr>
          <a:xfrm>
            <a:off x="3657600" y="4572000"/>
            <a:ext cx="14630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37947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Price and paying · 6</a:t>
            </a:r>
            <a:endParaRPr lang="en-US" sz="900" dirty="0"/>
          </a:p>
        </p:txBody>
      </p:sp>
      <p:sp>
        <p:nvSpPr>
          <p:cNvPr id="14" name="Shape 12"/>
          <p:cNvSpPr/>
          <p:nvPr/>
        </p:nvSpPr>
        <p:spPr>
          <a:xfrm>
            <a:off x="5257800" y="4572000"/>
            <a:ext cx="146304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53949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4</a:t>
            </a:r>
            <a:endParaRPr lang="en-US" sz="900" dirty="0"/>
          </a:p>
          <a:p>
            <a:pPr indent="0" marL="0">
              <a:buNone/>
            </a:pPr>
            <a:r>
              <a:rPr lang="en-US" sz="1200" b="1" dirty="0">
                <a:solidFill>
                  <a:srgbClr val="FFFFFF"/>
                </a:solidFill>
                <a:latin typeface="Calibri" pitchFamily="34" charset="0"/>
                <a:cs typeface="Amiri" pitchFamily="2" charset="-78"/>
              </a:rPr>
              <a:t>Prices · 7</a:t>
            </a:r>
            <a:endParaRPr lang="en-US" sz="900" dirty="0"/>
          </a:p>
        </p:txBody>
      </p:sp>
      <p:sp>
        <p:nvSpPr>
          <p:cNvPr id="16" name="Shape 14"/>
          <p:cNvSpPr/>
          <p:nvPr/>
        </p:nvSpPr>
        <p:spPr>
          <a:xfrm>
            <a:off x="6858000" y="4572000"/>
            <a:ext cx="1463040" cy="960120"/>
          </a:xfrm>
          <a:prstGeom prst="roundRect">
            <a:avLst>
              <a:gd name="adj" fmla="val 7619"/>
            </a:avLst>
          </a:prstGeom>
          <a:solidFill>
            <a:srgbClr val="16335F"/>
          </a:solidFill>
          <a:ln w="12700">
            <a:solidFill>
              <a:srgbClr val="2A4B7C"/>
            </a:solidFill>
            <a:prstDash val="solid"/>
          </a:ln>
        </p:spPr>
      </p:sp>
      <p:sp>
        <p:nvSpPr>
          <p:cNvPr id="17" name="Text 15"/>
          <p:cNvSpPr txBox="1"/>
          <p:nvPr/>
        </p:nvSpPr>
        <p:spPr>
          <a:xfrm>
            <a:off x="69951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5</a:t>
            </a:r>
            <a:endParaRPr lang="en-US" sz="900" dirty="0"/>
          </a:p>
          <a:p>
            <a:pPr indent="0" marL="0">
              <a:buNone/>
            </a:pPr>
            <a:r>
              <a:rPr lang="en-US" sz="1200" b="1" dirty="0">
                <a:solidFill>
                  <a:srgbClr val="FFFFFF"/>
                </a:solidFill>
                <a:latin typeface="Calibri" pitchFamily="34" charset="0"/>
                <a:cs typeface="Amiri" pitchFamily="2" charset="-78"/>
              </a:rPr>
              <a:t>Polite phrases · 7</a:t>
            </a:r>
            <a:endParaRPr lang="en-US" sz="900" dirty="0"/>
          </a:p>
        </p:txBody>
      </p:sp>
      <p:sp>
        <p:nvSpPr>
          <p:cNvPr id="18" name="Shape 16"/>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9" name="Text 17"/>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20" name="Text 18"/>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قِيمَةٌ</a:t>
            </a:r>
            <a:endParaRPr lang="ar-SA" sz="1900" dirty="0"/>
          </a:p>
        </p:txBody>
      </p:sp>
      <p:sp>
        <p:nvSpPr>
          <p:cNvPr id="21" name="Text 19"/>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‎قیمت‎ </a:t>
            </a:r>
            <a:pPr indent="0" marL="0">
              <a:buNone/>
            </a:pPr>
            <a:r>
              <a:rPr lang="en-US" sz="950" b="1" dirty="0">
                <a:solidFill>
                  <a:srgbClr val="2E8B57"/>
                </a:solidFill>
                <a:latin typeface="Calibri" pitchFamily="34" charset="0"/>
                <a:cs typeface="Amiri" pitchFamily="2" charset="-78"/>
              </a:rPr>
              <a:t> qīmat · value (Urdu: price)</a:t>
            </a:r>
            <a:endParaRPr lang="en-US" sz="1400" dirty="0"/>
          </a:p>
        </p:txBody>
      </p:sp>
      <p:sp>
        <p:nvSpPr>
          <p:cNvPr id="22" name="Text 20"/>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دُكَّانٌ</a:t>
            </a:r>
            <a:endParaRPr lang="ar-SA" sz="1900" dirty="0"/>
          </a:p>
        </p:txBody>
      </p:sp>
      <p:sp>
        <p:nvSpPr>
          <p:cNvPr id="23" name="Text 21"/>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‎دکان‎ </a:t>
            </a:r>
            <a:pPr indent="0" marL="0">
              <a:buNone/>
            </a:pPr>
            <a:r>
              <a:rPr lang="en-US" sz="950" b="1" dirty="0">
                <a:solidFill>
                  <a:srgbClr val="2E8B57"/>
                </a:solidFill>
                <a:latin typeface="Calibri" pitchFamily="34" charset="0"/>
                <a:cs typeface="Amiri" pitchFamily="2" charset="-78"/>
              </a:rPr>
              <a:t> dukān · shop</a:t>
            </a:r>
            <a:endParaRPr lang="en-US" sz="1400" dirty="0"/>
          </a:p>
        </p:txBody>
      </p:sp>
      <p:sp>
        <p:nvSpPr>
          <p:cNvPr id="24" name="Text 22"/>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نَقْدًا</a:t>
            </a:r>
            <a:endParaRPr lang="ar-SA" sz="1900" dirty="0"/>
          </a:p>
        </p:txBody>
      </p:sp>
      <p:sp>
        <p:nvSpPr>
          <p:cNvPr id="25" name="Text 23"/>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‎نقد‎ </a:t>
            </a:r>
            <a:pPr indent="0" marL="0">
              <a:buNone/>
            </a:pPr>
            <a:r>
              <a:rPr lang="en-US" sz="950" b="1" dirty="0">
                <a:solidFill>
                  <a:srgbClr val="2E8B57"/>
                </a:solidFill>
                <a:latin typeface="Calibri" pitchFamily="34" charset="0"/>
                <a:cs typeface="Amiri" pitchFamily="2" charset="-78"/>
              </a:rPr>
              <a:t> naqd · in cash</a:t>
            </a:r>
            <a:endParaRPr lang="en-US" sz="1400" dirty="0"/>
          </a:p>
        </p:txBody>
      </p:sp>
      <p:sp>
        <p:nvSpPr>
          <p:cNvPr id="26" name="Text 24"/>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حِسَابٌ</a:t>
            </a:r>
            <a:endParaRPr lang="ar-SA" sz="1900" dirty="0"/>
          </a:p>
        </p:txBody>
      </p:sp>
      <p:sp>
        <p:nvSpPr>
          <p:cNvPr id="27" name="Text 25"/>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‎حساب‎ </a:t>
            </a:r>
            <a:pPr indent="0" marL="0">
              <a:buNone/>
            </a:pPr>
            <a:r>
              <a:rPr lang="en-US" sz="950" b="1" dirty="0">
                <a:solidFill>
                  <a:srgbClr val="2E8B57"/>
                </a:solidFill>
                <a:latin typeface="Calibri" pitchFamily="34" charset="0"/>
                <a:cs typeface="Amiri" pitchFamily="2" charset="-78"/>
              </a:rPr>
              <a:t> ḥisāb · the bill, account</a:t>
            </a:r>
            <a:endParaRPr lang="en-US" sz="1400" dirty="0"/>
          </a:p>
        </p:txBody>
      </p:sp>
      <p:sp>
        <p:nvSpPr>
          <p:cNvPr id="28" name="Text 26"/>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هَدِيَّةٌ</a:t>
            </a:r>
            <a:endParaRPr lang="ar-SA" sz="1900" dirty="0"/>
          </a:p>
        </p:txBody>
      </p:sp>
      <p:sp>
        <p:nvSpPr>
          <p:cNvPr id="29" name="Text 27"/>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‎ہدیہ‎ </a:t>
            </a:r>
            <a:pPr indent="0" marL="0">
              <a:buNone/>
            </a:pPr>
            <a:r>
              <a:rPr lang="en-US" sz="950" b="1" dirty="0">
                <a:solidFill>
                  <a:srgbClr val="2E8B57"/>
                </a:solidFill>
                <a:latin typeface="Calibri" pitchFamily="34" charset="0"/>
                <a:cs typeface="Amiri" pitchFamily="2" charset="-78"/>
              </a:rPr>
              <a:t> hadiya · gift</a:t>
            </a:r>
            <a:endParaRPr lang="en-US" sz="140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 the shop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المَحَلِّ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مَحَلٌّ</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shop</a:t>
            </a:r>
            <a:endParaRPr lang="en-US" sz="1350" dirty="0"/>
          </a:p>
          <a:p>
            <a:pPr indent="0" marL="0">
              <a:buNone/>
            </a:pPr>
            <a:r>
              <a:rPr lang="en-US" sz="1100" i="1" dirty="0">
                <a:solidFill>
                  <a:srgbClr val="5A6472"/>
                </a:solidFill>
                <a:latin typeface="Calibri" pitchFamily="34" charset="0"/>
                <a:cs typeface="Amiri" pitchFamily="2" charset="-78"/>
              </a:rPr>
              <a:t>ma-ḥall · pl. ma-ḥal-lāt</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مَحَلٌّ</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مَحَلَّاتٌ</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سُوقٌ</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market</a:t>
            </a:r>
            <a:endParaRPr lang="en-US" sz="1350" dirty="0"/>
          </a:p>
          <a:p>
            <a:pPr indent="0" marL="0">
              <a:buNone/>
            </a:pPr>
            <a:r>
              <a:rPr lang="en-US" sz="1100" i="1" dirty="0">
                <a:solidFill>
                  <a:srgbClr val="5A6472"/>
                </a:solidFill>
                <a:latin typeface="Calibri" pitchFamily="34" charset="0"/>
                <a:cs typeface="Amiri" pitchFamily="2" charset="-78"/>
              </a:rPr>
              <a:t>sūq · pl. as-wāq</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سُوقٌ</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أَسْوَاقٌ</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nisba</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مَرْكَزٌ </a:t>
            </a:r>
            <a:pPr rtl="1" algn="r" indent="0" marL="0">
              <a:buNone/>
            </a:pPr>
            <a:r>
              <a:rPr lang="ar-SA" altLang="en-US" sz="3000" b="1" dirty="0">
                <a:solidFill>
                  <a:srgbClr val="7B3FA0"/>
                </a:solidFill>
                <a:latin typeface="Amiri" pitchFamily="2" charset="-78"/>
                <a:ea typeface="Amiri" pitchFamily="2" charset="-78"/>
                <a:cs typeface="Amiri" pitchFamily="2" charset="-78"/>
              </a:rPr>
              <a:t>تِجَارِ</a:t>
            </a:r>
            <a:pPr rtl="1" algn="r" indent="0" marL="0">
              <a:buNone/>
            </a:pPr>
            <a:r>
              <a:rPr lang="ar-SA" altLang="en-US" sz="3000" b="1" dirty="0">
                <a:solidFill>
                  <a:srgbClr val="D6336C"/>
                </a:solidFill>
                <a:latin typeface="Amiri" pitchFamily="2" charset="-78"/>
                <a:ea typeface="Amiri" pitchFamily="2" charset="-78"/>
                <a:cs typeface="Amiri" pitchFamily="2" charset="-78"/>
              </a:rPr>
              <a:t>يٌّ</a:t>
            </a:r>
            <a:endParaRPr lang="ar-SA" sz="3000" dirty="0"/>
          </a:p>
        </p:txBody>
      </p:sp>
      <p:sp>
        <p:nvSpPr>
          <p:cNvPr id="53" name="Text 5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shopping centre</a:t>
            </a:r>
            <a:endParaRPr lang="en-US" sz="1350" dirty="0"/>
          </a:p>
          <a:p>
            <a:pPr indent="0" marL="0">
              <a:buNone/>
            </a:pPr>
            <a:r>
              <a:rPr lang="en-US" sz="1100" i="1" dirty="0">
                <a:solidFill>
                  <a:srgbClr val="5A6472"/>
                </a:solidFill>
                <a:latin typeface="Calibri" pitchFamily="34" charset="0"/>
                <a:cs typeface="Amiri" pitchFamily="2" charset="-78"/>
              </a:rPr>
              <a:t>mar-ka-zun ti-jā-riyy</a:t>
            </a:r>
            <a:endParaRPr lang="en-US" sz="1350" dirty="0"/>
          </a:p>
        </p:txBody>
      </p:sp>
      <p:sp>
        <p:nvSpPr>
          <p:cNvPr id="54" name="Shape 5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8211312" y="4261104"/>
            <a:ext cx="310896" cy="310896"/>
          </a:xfrm>
          <a:prstGeom prst="ellipse">
            <a:avLst/>
          </a:prstGeom>
          <a:solidFill>
            <a:srgbClr val="F4F1EA"/>
          </a:solidFill>
          <a:ln w="12700">
            <a:solidFill>
              <a:srgbClr val="F4F1EA"/>
            </a:solidFill>
            <a:prstDash val="solid"/>
          </a:ln>
        </p:spPr>
      </p:sp>
      <p:sp>
        <p:nvSpPr>
          <p:cNvPr id="56" name="Text 5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7" name="Shape 54"/>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8" name="Text 55"/>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person</a:t>
            </a:r>
            <a:endParaRPr lang="en-US" sz="800" dirty="0"/>
          </a:p>
        </p:txBody>
      </p:sp>
      <p:sp>
        <p:nvSpPr>
          <p:cNvPr id="59" name="Shape 5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0" name="Text 5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1" name="Text 5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بَائِعٌ</a:t>
            </a:r>
            <a:endParaRPr lang="ar-SA" sz="3000" dirty="0"/>
          </a:p>
        </p:txBody>
      </p:sp>
      <p:sp>
        <p:nvSpPr>
          <p:cNvPr id="62" name="Text 5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seller</a:t>
            </a:r>
            <a:endParaRPr lang="en-US" sz="1350" dirty="0"/>
          </a:p>
          <a:p>
            <a:pPr indent="0" marL="0">
              <a:buNone/>
            </a:pPr>
            <a:r>
              <a:rPr lang="en-US" sz="1100" i="1" dirty="0">
                <a:solidFill>
                  <a:srgbClr val="5A6472"/>
                </a:solidFill>
                <a:latin typeface="Calibri" pitchFamily="34" charset="0"/>
                <a:cs typeface="Amiri" pitchFamily="2" charset="-78"/>
              </a:rPr>
              <a:t>bā-ʾiʿ / bā-ʾi-ʿa</a:t>
            </a:r>
            <a:endParaRPr lang="en-US" sz="1350" dirty="0"/>
          </a:p>
        </p:txBody>
      </p:sp>
      <p:sp>
        <p:nvSpPr>
          <p:cNvPr id="63" name="Shape 60"/>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5" name="Text 62"/>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بَائِعٌ</a:t>
            </a:r>
            <a:endParaRPr lang="ar-SA" sz="1500" dirty="0"/>
          </a:p>
        </p:txBody>
      </p:sp>
      <p:sp>
        <p:nvSpPr>
          <p:cNvPr id="66" name="Shape 63"/>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8" name="Text 65"/>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بَائِعَةٌ</a:t>
            </a:r>
            <a:endParaRPr lang="ar-SA" sz="1500" dirty="0"/>
          </a:p>
        </p:txBody>
      </p:sp>
      <p:sp>
        <p:nvSpPr>
          <p:cNvPr id="69" name="Shape 6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389120"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2" name="Shape 69"/>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person</a:t>
            </a:r>
            <a:endParaRPr lang="en-US" sz="800" dirty="0"/>
          </a:p>
        </p:txBody>
      </p:sp>
      <p:sp>
        <p:nvSpPr>
          <p:cNvPr id="74" name="Shape 7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زَبُونٌ</a:t>
            </a:r>
            <a:endParaRPr lang="ar-SA" sz="3000" dirty="0"/>
          </a:p>
        </p:txBody>
      </p:sp>
      <p:sp>
        <p:nvSpPr>
          <p:cNvPr id="77" name="Text 74"/>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customer</a:t>
            </a:r>
            <a:endParaRPr lang="en-US" sz="1350" dirty="0"/>
          </a:p>
          <a:p>
            <a:pPr indent="0" marL="0">
              <a:buNone/>
            </a:pPr>
            <a:r>
              <a:rPr lang="en-US" sz="1100" i="1" dirty="0">
                <a:solidFill>
                  <a:srgbClr val="5A6472"/>
                </a:solidFill>
                <a:latin typeface="Calibri" pitchFamily="34" charset="0"/>
                <a:cs typeface="Amiri" pitchFamily="2" charset="-78"/>
              </a:rPr>
              <a:t>za-būn / za-bū-na · pl. za-bā-ʾin</a:t>
            </a:r>
            <a:endParaRPr lang="en-US" sz="1350" dirty="0"/>
          </a:p>
        </p:txBody>
      </p:sp>
      <p:sp>
        <p:nvSpPr>
          <p:cNvPr id="78" name="Shape 75"/>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0" name="Text 77"/>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زَبُونٌ</a:t>
            </a:r>
            <a:endParaRPr lang="ar-SA" sz="1500" dirty="0"/>
          </a:p>
        </p:txBody>
      </p:sp>
      <p:sp>
        <p:nvSpPr>
          <p:cNvPr id="81" name="Shape 78"/>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3" name="Text 80"/>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زَبُونَةٌ</a:t>
            </a:r>
            <a:endParaRPr lang="ar-SA" sz="1500" dirty="0"/>
          </a:p>
        </p:txBody>
      </p:sp>
      <p:sp>
        <p:nvSpPr>
          <p:cNvPr id="84" name="Shape 81"/>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6" name="Text 83"/>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زَبَائِنُ</a:t>
            </a:r>
            <a:endParaRPr lang="ar-SA" sz="1500" dirty="0"/>
          </a:p>
        </p:txBody>
      </p:sp>
      <p:sp>
        <p:nvSpPr>
          <p:cNvPr id="87" name="Shape 8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566928"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0" name="Shape 87"/>
          <p:cNvSpPr/>
          <p:nvPr/>
        </p:nvSpPr>
        <p:spPr>
          <a:xfrm>
            <a:off x="960120" y="4279392"/>
            <a:ext cx="1269187" cy="256032"/>
          </a:xfrm>
          <a:prstGeom prst="roundRect">
            <a:avLst>
              <a:gd name="adj" fmla="val 50000"/>
            </a:avLst>
          </a:prstGeom>
          <a:solidFill>
            <a:srgbClr val="EFE7D2"/>
          </a:solidFill>
          <a:ln w="12700">
            <a:solidFill>
              <a:srgbClr val="EFE7D2"/>
            </a:solidFill>
            <a:prstDash val="solid"/>
          </a:ln>
        </p:spPr>
      </p:sp>
      <p:sp>
        <p:nvSpPr>
          <p:cNvPr id="91" name="Text 88"/>
          <p:cNvSpPr txBox="1"/>
          <p:nvPr/>
        </p:nvSpPr>
        <p:spPr>
          <a:xfrm>
            <a:off x="960120"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adjective</a:t>
            </a:r>
            <a:endParaRPr lang="en-US" sz="800" dirty="0"/>
          </a:p>
        </p:txBody>
      </p:sp>
      <p:sp>
        <p:nvSpPr>
          <p:cNvPr id="92" name="Text 8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عَرْضٌ خَاصٌّ</a:t>
            </a:r>
            <a:endParaRPr lang="ar-SA" sz="3000" dirty="0"/>
          </a:p>
        </p:txBody>
      </p:sp>
      <p:sp>
        <p:nvSpPr>
          <p:cNvPr id="93" name="Text 9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special offer</a:t>
            </a:r>
            <a:endParaRPr lang="en-US" sz="1350" dirty="0"/>
          </a:p>
          <a:p>
            <a:pPr indent="0" marL="0">
              <a:buNone/>
            </a:pPr>
            <a:r>
              <a:rPr lang="en-US" sz="1100" i="1" dirty="0">
                <a:solidFill>
                  <a:srgbClr val="5A6472"/>
                </a:solidFill>
                <a:latin typeface="Calibri" pitchFamily="34" charset="0"/>
                <a:cs typeface="Amiri" pitchFamily="2" charset="-78"/>
              </a:rPr>
              <a:t>ʿar-ḍun khāṣṣ</a:t>
            </a:r>
            <a:endParaRPr lang="en-US" sz="1350" dirty="0"/>
          </a:p>
        </p:txBody>
      </p:sp>
      <p:sp>
        <p:nvSpPr>
          <p:cNvPr id="94" name="Shape 91"/>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5" name="Text 92"/>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96" name="Text 93"/>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عَرْضٌ</a:t>
            </a:r>
            <a:endParaRPr lang="ar-SA" sz="1500" dirty="0"/>
          </a:p>
        </p:txBody>
      </p:sp>
      <p:sp>
        <p:nvSpPr>
          <p:cNvPr id="97" name="Shape 94"/>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8" name="Text 95"/>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9" name="Text 96"/>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عُرُوضٌ</a:t>
            </a:r>
            <a:endParaRPr lang="ar-SA" sz="1500" dirty="0"/>
          </a:p>
        </p:txBody>
      </p:sp>
      <p:sp>
        <p:nvSpPr>
          <p:cNvPr id="100" name="Text 9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THE GENDER DECIDES THE QUESTION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Things to buy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السِّلَعُ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كِتَابٌ</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book</a:t>
            </a:r>
            <a:endParaRPr lang="en-US" sz="1350" dirty="0"/>
          </a:p>
          <a:p>
            <a:pPr indent="0" marL="0">
              <a:buNone/>
            </a:pPr>
            <a:r>
              <a:rPr lang="en-US" sz="1100" i="1" dirty="0">
                <a:solidFill>
                  <a:srgbClr val="5A6472"/>
                </a:solidFill>
                <a:latin typeface="Calibri" pitchFamily="34" charset="0"/>
                <a:cs typeface="Amiri" pitchFamily="2" charset="-78"/>
              </a:rPr>
              <a:t>ki-tāb</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ask (m.)</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كَمْ ثَمَنُهُ؟</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كُتُبٌ</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حَقِيبَةٌ</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bag</a:t>
            </a:r>
            <a:endParaRPr lang="en-US" sz="1350" dirty="0"/>
          </a:p>
          <a:p>
            <a:pPr indent="0" marL="0">
              <a:buNone/>
            </a:pPr>
            <a:r>
              <a:rPr lang="en-US" sz="1100" i="1" dirty="0">
                <a:solidFill>
                  <a:srgbClr val="5A6472"/>
                </a:solidFill>
                <a:latin typeface="Calibri" pitchFamily="34" charset="0"/>
                <a:cs typeface="Amiri" pitchFamily="2" charset="-78"/>
              </a:rPr>
              <a:t>ḥa-qī-ba</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ask (f.)</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كَمْ ثَمَنُهَا؟</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حَقَائِبُ</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هَاتِفٌ</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phone</a:t>
            </a:r>
            <a:endParaRPr lang="en-US" sz="1350" dirty="0"/>
          </a:p>
          <a:p>
            <a:pPr indent="0" marL="0">
              <a:buNone/>
            </a:pPr>
            <a:r>
              <a:rPr lang="en-US" sz="1100" i="1" dirty="0">
                <a:solidFill>
                  <a:srgbClr val="5A6472"/>
                </a:solidFill>
                <a:latin typeface="Calibri" pitchFamily="34" charset="0"/>
                <a:cs typeface="Amiri" pitchFamily="2" charset="-78"/>
              </a:rPr>
              <a:t>hā-tif</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ask (m.)</a:t>
            </a:r>
            <a:endParaRPr lang="en-US" sz="700" dirty="0"/>
          </a:p>
        </p:txBody>
      </p:sp>
      <p:sp>
        <p:nvSpPr>
          <p:cNvPr id="56" name="Text 53"/>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كَمْ ثَمَنُهُ؟</a:t>
            </a:r>
            <a:endParaRPr lang="ar-SA" sz="135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هَوَاتِفُ</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هَدِيَّةٌ</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gift</a:t>
            </a:r>
            <a:endParaRPr lang="en-US" sz="1350" dirty="0"/>
          </a:p>
          <a:p>
            <a:pPr indent="0" marL="0">
              <a:buNone/>
            </a:pPr>
            <a:r>
              <a:rPr lang="en-US" sz="1100" i="1" dirty="0">
                <a:solidFill>
                  <a:srgbClr val="5A6472"/>
                </a:solidFill>
                <a:latin typeface="Calibri" pitchFamily="34" charset="0"/>
                <a:cs typeface="Amiri" pitchFamily="2" charset="-78"/>
              </a:rPr>
              <a:t>ha-diy-ya</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ask (f.)</a:t>
            </a:r>
            <a:endParaRPr lang="en-US" sz="700" dirty="0"/>
          </a:p>
        </p:txBody>
      </p:sp>
      <p:sp>
        <p:nvSpPr>
          <p:cNvPr id="71" name="Text 6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كَمْ ثَمَنُهَا؟</a:t>
            </a:r>
            <a:endParaRPr lang="ar-SA" sz="135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هَدَايَا</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80" name="Text 7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حِذَاءٌ</a:t>
            </a:r>
            <a:endParaRPr lang="ar-SA" sz="3000" dirty="0"/>
          </a:p>
        </p:txBody>
      </p:sp>
      <p:sp>
        <p:nvSpPr>
          <p:cNvPr id="81" name="Text 7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shoe(s)</a:t>
            </a:r>
            <a:endParaRPr lang="en-US" sz="1350" dirty="0"/>
          </a:p>
          <a:p>
            <a:pPr indent="0" marL="0">
              <a:buNone/>
            </a:pPr>
            <a:r>
              <a:rPr lang="en-US" sz="1100" i="1" dirty="0">
                <a:solidFill>
                  <a:srgbClr val="5A6472"/>
                </a:solidFill>
                <a:latin typeface="Calibri" pitchFamily="34" charset="0"/>
                <a:cs typeface="Amiri" pitchFamily="2" charset="-78"/>
              </a:rPr>
              <a:t>ḥi-dhāʾ</a:t>
            </a:r>
            <a:endParaRPr lang="en-US" sz="1350" dirty="0"/>
          </a:p>
        </p:txBody>
      </p:sp>
      <p:sp>
        <p:nvSpPr>
          <p:cNvPr id="82" name="Shape 7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ask (m.)</a:t>
            </a:r>
            <a:endParaRPr lang="en-US" sz="700" dirty="0"/>
          </a:p>
        </p:txBody>
      </p:sp>
      <p:sp>
        <p:nvSpPr>
          <p:cNvPr id="84" name="Text 81"/>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كَمْ ثَمَنُهُ؟</a:t>
            </a:r>
            <a:endParaRPr lang="ar-SA" sz="1350" dirty="0"/>
          </a:p>
        </p:txBody>
      </p:sp>
      <p:sp>
        <p:nvSpPr>
          <p:cNvPr id="85" name="Shape 8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6" name="Text 8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7" name="Text 84"/>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أَحْذِيَةٌ</a:t>
            </a:r>
            <a:endParaRPr lang="ar-SA" sz="1500" dirty="0"/>
          </a:p>
        </p:txBody>
      </p:sp>
      <p:sp>
        <p:nvSpPr>
          <p:cNvPr id="88" name="Shape 8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9" name="Shape 86"/>
          <p:cNvSpPr/>
          <p:nvPr/>
        </p:nvSpPr>
        <p:spPr>
          <a:xfrm>
            <a:off x="566928" y="4261104"/>
            <a:ext cx="310896" cy="310896"/>
          </a:xfrm>
          <a:prstGeom prst="ellipse">
            <a:avLst/>
          </a:prstGeom>
          <a:solidFill>
            <a:srgbClr val="F4F1EA"/>
          </a:solidFill>
          <a:ln w="12700">
            <a:solidFill>
              <a:srgbClr val="F4F1EA"/>
            </a:solidFill>
            <a:prstDash val="solid"/>
          </a:ln>
        </p:spPr>
      </p:sp>
      <p:sp>
        <p:nvSpPr>
          <p:cNvPr id="90" name="Text 8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1" name="Shape 88"/>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2" name="Text 89"/>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93" name="Text 90"/>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تَذْكَارٌ</a:t>
            </a:r>
            <a:endParaRPr lang="ar-SA" sz="3000" dirty="0"/>
          </a:p>
        </p:txBody>
      </p:sp>
      <p:sp>
        <p:nvSpPr>
          <p:cNvPr id="94" name="Text 91"/>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souvenir</a:t>
            </a:r>
            <a:endParaRPr lang="en-US" sz="1350" dirty="0"/>
          </a:p>
          <a:p>
            <a:pPr indent="0" marL="0">
              <a:buNone/>
            </a:pPr>
            <a:r>
              <a:rPr lang="en-US" sz="1100" i="1" dirty="0">
                <a:solidFill>
                  <a:srgbClr val="5A6472"/>
                </a:solidFill>
                <a:latin typeface="Calibri" pitchFamily="34" charset="0"/>
                <a:cs typeface="Amiri" pitchFamily="2" charset="-78"/>
              </a:rPr>
              <a:t>tadh-kār</a:t>
            </a:r>
            <a:endParaRPr lang="en-US" sz="1350" dirty="0"/>
          </a:p>
        </p:txBody>
      </p:sp>
      <p:sp>
        <p:nvSpPr>
          <p:cNvPr id="95" name="Shape 92"/>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96" name="Text 93"/>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ask (m.)</a:t>
            </a:r>
            <a:endParaRPr lang="en-US" sz="700" dirty="0"/>
          </a:p>
        </p:txBody>
      </p:sp>
      <p:sp>
        <p:nvSpPr>
          <p:cNvPr id="97" name="Text 94"/>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كَمْ ثَمَنُهُ؟</a:t>
            </a:r>
            <a:endParaRPr lang="ar-SA" sz="1350" dirty="0"/>
          </a:p>
        </p:txBody>
      </p:sp>
      <p:sp>
        <p:nvSpPr>
          <p:cNvPr id="98" name="Shape 95"/>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99" name="Text 96"/>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00" name="Text 97"/>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تَذْكَارَاتٌ</a:t>
            </a:r>
            <a:endParaRPr lang="ar-SA" sz="1500" dirty="0"/>
          </a:p>
        </p:txBody>
      </p:sp>
      <p:sp>
        <p:nvSpPr>
          <p:cNvPr id="101" name="Text 9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Price and paying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الثَّمَنُ وَالدَّفْعُ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ثَمَنٌ</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price</a:t>
            </a:r>
            <a:endParaRPr lang="en-US" sz="1350" dirty="0"/>
          </a:p>
          <a:p>
            <a:pPr indent="0" marL="0">
              <a:buNone/>
            </a:pPr>
            <a:r>
              <a:rPr lang="ar-SA" sz="1100" i="1" dirty="0">
                <a:solidFill>
                  <a:srgbClr val="5A6472"/>
                </a:solidFill>
                <a:latin typeface="Calibri" pitchFamily="34" charset="0"/>
                <a:ea typeface="Amiri" pitchFamily="2" charset="-78"/>
                <a:cs typeface="Amiri" pitchFamily="2" charset="-78"/>
              </a:rPr>
              <a:t>tha-man · also سِعْرٌ</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سِعْرٌ</a:t>
            </a:r>
            <a:pPr algn="l" indent="0" marL="0">
              <a:buNone/>
            </a:pPr>
            <a:r>
              <a:rPr lang="en-US" sz="1000" i="1" dirty="0">
                <a:solidFill>
                  <a:srgbClr val="8A6D1E"/>
                </a:solidFill>
                <a:latin typeface="Calibri" pitchFamily="34" charset="0"/>
                <a:cs typeface="Amiri" pitchFamily="2" charset="-78"/>
              </a:rPr>
              <a:t> = price / rate (pl. </a:t>
            </a:r>
            <a:pPr algn="l" indent="0" marL="0">
              <a:buNone/>
            </a:pPr>
            <a:r>
              <a:rPr lang="ar-SA" altLang="en-US" sz="1300" dirty="0">
                <a:solidFill>
                  <a:srgbClr val="8A6D1E"/>
                </a:solidFill>
                <a:latin typeface="Amiri" pitchFamily="2" charset="-78"/>
                <a:ea typeface="Amiri" pitchFamily="2" charset="-78"/>
                <a:cs typeface="Amiri" pitchFamily="2" charset="-78"/>
              </a:rPr>
              <a:t>أَسْعَارٌ</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8" name="Shape 25"/>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adjective</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رَخِيصٌ</a:t>
            </a:r>
            <a:endParaRPr lang="ar-SA" sz="3000" dirty="0"/>
          </a:p>
        </p:txBody>
      </p:sp>
      <p:sp>
        <p:nvSpPr>
          <p:cNvPr id="33" name="Text 30"/>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cheap</a:t>
            </a:r>
            <a:endParaRPr lang="en-US" sz="1350" dirty="0"/>
          </a:p>
          <a:p>
            <a:pPr indent="0" marL="0">
              <a:buNone/>
            </a:pPr>
            <a:r>
              <a:rPr lang="en-US" sz="1100" i="1" dirty="0">
                <a:solidFill>
                  <a:srgbClr val="5A6472"/>
                </a:solidFill>
                <a:latin typeface="Calibri" pitchFamily="34" charset="0"/>
                <a:cs typeface="Amiri" pitchFamily="2" charset="-78"/>
              </a:rPr>
              <a:t>ra-khīṣ / ra-khī-ṣa</a:t>
            </a:r>
            <a:endParaRPr lang="en-US" sz="1350" dirty="0"/>
          </a:p>
        </p:txBody>
      </p:sp>
      <p:sp>
        <p:nvSpPr>
          <p:cNvPr id="34" name="Shape 31"/>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6" name="Text 33"/>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رَخِيصٌ</a:t>
            </a:r>
            <a:endParaRPr lang="ar-SA" sz="1500" dirty="0"/>
          </a:p>
        </p:txBody>
      </p:sp>
      <p:sp>
        <p:nvSpPr>
          <p:cNvPr id="37" name="Shape 34"/>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39" name="Text 36"/>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رَخِيصَةٌ</a:t>
            </a:r>
            <a:endParaRPr lang="ar-SA" sz="1500" dirty="0"/>
          </a:p>
        </p:txBody>
      </p:sp>
      <p:sp>
        <p:nvSpPr>
          <p:cNvPr id="40" name="Shape 3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66928" y="1920240"/>
            <a:ext cx="310896" cy="310896"/>
          </a:xfrm>
          <a:prstGeom prst="ellipse">
            <a:avLst/>
          </a:prstGeom>
          <a:solidFill>
            <a:srgbClr val="F4F1EA"/>
          </a:solidFill>
          <a:ln w="12700">
            <a:solidFill>
              <a:srgbClr val="F4F1EA"/>
            </a:solidFill>
            <a:prstDash val="solid"/>
          </a:ln>
        </p:spPr>
      </p:sp>
      <p:sp>
        <p:nvSpPr>
          <p:cNvPr id="42" name="Text 3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3" name="Shape 40"/>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4" name="Text 41"/>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adjective</a:t>
            </a:r>
            <a:endParaRPr lang="en-US" sz="800" dirty="0"/>
          </a:p>
        </p:txBody>
      </p:sp>
      <p:sp>
        <p:nvSpPr>
          <p:cNvPr id="45" name="Shape 42"/>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7" name="Text 44"/>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غَالٍ</a:t>
            </a:r>
            <a:endParaRPr lang="ar-SA" sz="3000" dirty="0"/>
          </a:p>
        </p:txBody>
      </p:sp>
      <p:sp>
        <p:nvSpPr>
          <p:cNvPr id="48" name="Text 45"/>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expensive</a:t>
            </a:r>
            <a:endParaRPr lang="en-US" sz="1350" dirty="0"/>
          </a:p>
          <a:p>
            <a:pPr indent="0" marL="0">
              <a:buNone/>
            </a:pPr>
            <a:r>
              <a:rPr lang="en-US" sz="1100" i="1" dirty="0">
                <a:solidFill>
                  <a:srgbClr val="5A6472"/>
                </a:solidFill>
                <a:latin typeface="Calibri" pitchFamily="34" charset="0"/>
                <a:cs typeface="Amiri" pitchFamily="2" charset="-78"/>
              </a:rPr>
              <a:t>ghā-lin / ghā-li-ya</a:t>
            </a:r>
            <a:endParaRPr lang="en-US" sz="1350" dirty="0"/>
          </a:p>
        </p:txBody>
      </p:sp>
      <p:sp>
        <p:nvSpPr>
          <p:cNvPr id="49" name="Shape 46"/>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1" name="Text 48"/>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غَالٍ</a:t>
            </a:r>
            <a:endParaRPr lang="ar-SA" sz="1500" dirty="0"/>
          </a:p>
        </p:txBody>
      </p:sp>
      <p:sp>
        <p:nvSpPr>
          <p:cNvPr id="52" name="Shape 49"/>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4" name="Text 51"/>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غَالِيَةٌ</a:t>
            </a:r>
            <a:endParaRPr lang="ar-SA" sz="1500" dirty="0"/>
          </a:p>
        </p:txBody>
      </p:sp>
      <p:sp>
        <p:nvSpPr>
          <p:cNvPr id="55" name="Shape 5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211312"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8" name="Shape 55"/>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60" name="Shape 5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2" name="Text 5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خَصْمٌ</a:t>
            </a:r>
            <a:endParaRPr lang="ar-SA" sz="3000" dirty="0"/>
          </a:p>
        </p:txBody>
      </p:sp>
      <p:sp>
        <p:nvSpPr>
          <p:cNvPr id="63" name="Text 6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discount</a:t>
            </a:r>
            <a:endParaRPr lang="en-US" sz="1350" dirty="0"/>
          </a:p>
          <a:p>
            <a:pPr indent="0" marL="0">
              <a:buNone/>
            </a:pPr>
            <a:r>
              <a:rPr lang="en-US" sz="1100" i="1" dirty="0">
                <a:solidFill>
                  <a:srgbClr val="5A6472"/>
                </a:solidFill>
                <a:latin typeface="Calibri" pitchFamily="34" charset="0"/>
                <a:cs typeface="Amiri" pitchFamily="2" charset="-78"/>
              </a:rPr>
              <a:t>khaṣm</a:t>
            </a:r>
            <a:endParaRPr lang="en-US" sz="1350" dirty="0"/>
          </a:p>
        </p:txBody>
      </p:sp>
      <p:sp>
        <p:nvSpPr>
          <p:cNvPr id="64" name="Shape 61"/>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5" name="Shape 62"/>
          <p:cNvSpPr/>
          <p:nvPr/>
        </p:nvSpPr>
        <p:spPr>
          <a:xfrm>
            <a:off x="4389120" y="4261104"/>
            <a:ext cx="310896" cy="310896"/>
          </a:xfrm>
          <a:prstGeom prst="ellipse">
            <a:avLst/>
          </a:prstGeom>
          <a:solidFill>
            <a:srgbClr val="F4F1EA"/>
          </a:solidFill>
          <a:ln w="12700">
            <a:solidFill>
              <a:srgbClr val="F4F1EA"/>
            </a:solidFill>
            <a:prstDash val="solid"/>
          </a:ln>
        </p:spPr>
      </p:sp>
      <p:sp>
        <p:nvSpPr>
          <p:cNvPr id="66" name="Text 63"/>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7" name="Shape 64"/>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68" name="Text 65"/>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69" name="Text 66"/>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فَاتُورَةٌ</a:t>
            </a:r>
            <a:endParaRPr lang="ar-SA" sz="3000" dirty="0"/>
          </a:p>
        </p:txBody>
      </p:sp>
      <p:sp>
        <p:nvSpPr>
          <p:cNvPr id="70" name="Text 67"/>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receipt, bill</a:t>
            </a:r>
            <a:endParaRPr lang="en-US" sz="1350" dirty="0"/>
          </a:p>
          <a:p>
            <a:pPr indent="0" marL="0">
              <a:buNone/>
            </a:pPr>
            <a:r>
              <a:rPr lang="en-US" sz="1100" i="1" dirty="0">
                <a:solidFill>
                  <a:srgbClr val="5A6472"/>
                </a:solidFill>
                <a:latin typeface="Calibri" pitchFamily="34" charset="0"/>
                <a:cs typeface="Amiri" pitchFamily="2" charset="-78"/>
              </a:rPr>
              <a:t>fā-tū-ra · pl. fa-wā-tīr</a:t>
            </a:r>
            <a:endParaRPr lang="en-US" sz="1350" dirty="0"/>
          </a:p>
        </p:txBody>
      </p:sp>
      <p:sp>
        <p:nvSpPr>
          <p:cNvPr id="71" name="Shape 68"/>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2" name="Text 69"/>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sg.</a:t>
            </a:r>
            <a:endParaRPr lang="en-US" sz="750" dirty="0"/>
          </a:p>
        </p:txBody>
      </p:sp>
      <p:sp>
        <p:nvSpPr>
          <p:cNvPr id="73" name="Text 70"/>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فَاتُورَةٌ</a:t>
            </a:r>
            <a:endParaRPr lang="ar-SA" sz="1500" dirty="0"/>
          </a:p>
        </p:txBody>
      </p:sp>
      <p:sp>
        <p:nvSpPr>
          <p:cNvPr id="74" name="Shape 71"/>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76" name="Text 73"/>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فَوَاتِيرُ</a:t>
            </a:r>
            <a:endParaRPr lang="ar-SA" sz="1500" dirty="0"/>
          </a:p>
        </p:txBody>
      </p:sp>
      <p:sp>
        <p:nvSpPr>
          <p:cNvPr id="77" name="Shape 7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66928" y="4261104"/>
            <a:ext cx="310896" cy="310896"/>
          </a:xfrm>
          <a:prstGeom prst="ellipse">
            <a:avLst/>
          </a:prstGeom>
          <a:solidFill>
            <a:srgbClr val="F4F1EA"/>
          </a:solidFill>
          <a:ln w="12700">
            <a:solidFill>
              <a:srgbClr val="F4F1EA"/>
            </a:solidFill>
            <a:prstDash val="solid"/>
          </a:ln>
        </p:spPr>
      </p:sp>
      <p:sp>
        <p:nvSpPr>
          <p:cNvPr id="79" name="Text 7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0" name="Shape 77"/>
          <p:cNvSpPr/>
          <p:nvPr/>
        </p:nvSpPr>
        <p:spPr>
          <a:xfrm>
            <a:off x="960120" y="4279392"/>
            <a:ext cx="958291" cy="256032"/>
          </a:xfrm>
          <a:prstGeom prst="roundRect">
            <a:avLst>
              <a:gd name="adj" fmla="val 50000"/>
            </a:avLst>
          </a:prstGeom>
          <a:solidFill>
            <a:srgbClr val="EFE7D2"/>
          </a:solidFill>
          <a:ln w="12700">
            <a:solidFill>
              <a:srgbClr val="EFE7D2"/>
            </a:solidFill>
            <a:prstDash val="solid"/>
          </a:ln>
        </p:spPr>
      </p:sp>
      <p:sp>
        <p:nvSpPr>
          <p:cNvPr id="81" name="Text 78"/>
          <p:cNvSpPr txBox="1"/>
          <p:nvPr/>
        </p:nvSpPr>
        <p:spPr>
          <a:xfrm>
            <a:off x="960120"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how you pay</a:t>
            </a:r>
            <a:endParaRPr lang="en-US" sz="800" dirty="0"/>
          </a:p>
        </p:txBody>
      </p:sp>
      <p:sp>
        <p:nvSpPr>
          <p:cNvPr id="82" name="Shape 79"/>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3" name="Text 80"/>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4" name="Text 8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نَقْدًا · بِالبِطَاقَةِ</a:t>
            </a:r>
            <a:endParaRPr lang="ar-SA" sz="3000" dirty="0"/>
          </a:p>
        </p:txBody>
      </p:sp>
      <p:sp>
        <p:nvSpPr>
          <p:cNvPr id="85" name="Text 8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cash · by card</a:t>
            </a:r>
            <a:endParaRPr lang="en-US" sz="1350" dirty="0"/>
          </a:p>
          <a:p>
            <a:pPr indent="0" marL="0">
              <a:buNone/>
            </a:pPr>
            <a:r>
              <a:rPr lang="en-US" sz="1100" i="1" dirty="0">
                <a:solidFill>
                  <a:srgbClr val="5A6472"/>
                </a:solidFill>
                <a:latin typeface="Calibri" pitchFamily="34" charset="0"/>
                <a:cs typeface="Amiri" pitchFamily="2" charset="-78"/>
              </a:rPr>
              <a:t>naq-dan · bil-bi-ṭā-qa</a:t>
            </a:r>
            <a:endParaRPr lang="en-US" sz="135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B3B6F"/>
                </a:solidFill>
                <a:latin typeface="Calibri" pitchFamily="34" charset="0"/>
                <a:cs typeface="Amiri" pitchFamily="2" charset="-78"/>
              </a:rPr>
              <a:t>GRAMMAR FOCUS · PART 1 · DEMONSTRATIVES + ATTACHED PRONOUNS · WEBSITE TABLE</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This … How much is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كَمْ ثَمَنُهُ؟ كَمْ ثَمَنُهَا؟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93224"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item</a:t>
            </a:r>
            <a:endParaRPr lang="en-US" sz="1100" dirty="0"/>
          </a:p>
        </p:txBody>
      </p:sp>
      <p:sp>
        <p:nvSpPr>
          <p:cNvPr id="17" name="Text 14"/>
          <p:cNvSpPr txBox="1"/>
          <p:nvPr/>
        </p:nvSpPr>
        <p:spPr>
          <a:xfrm>
            <a:off x="705002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This is … (near)</a:t>
            </a:r>
            <a:endParaRPr lang="en-US" sz="1100" dirty="0"/>
          </a:p>
        </p:txBody>
      </p:sp>
      <p:sp>
        <p:nvSpPr>
          <p:cNvPr id="18" name="Text 15"/>
          <p:cNvSpPr txBox="1"/>
          <p:nvPr/>
        </p:nvSpPr>
        <p:spPr>
          <a:xfrm>
            <a:off x="430682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How much is it?</a:t>
            </a:r>
            <a:endParaRPr lang="en-US" sz="1100" dirty="0"/>
          </a:p>
        </p:txBody>
      </p:sp>
      <p:sp>
        <p:nvSpPr>
          <p:cNvPr id="19" name="Text 16"/>
          <p:cNvSpPr txBox="1"/>
          <p:nvPr/>
        </p:nvSpPr>
        <p:spPr>
          <a:xfrm>
            <a:off x="53035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answer</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829800" y="2267712"/>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masculine</a:t>
            </a:r>
            <a:endParaRPr lang="en-US" sz="1100" dirty="0"/>
          </a:p>
        </p:txBody>
      </p:sp>
      <p:sp>
        <p:nvSpPr>
          <p:cNvPr id="22" name="Text 19"/>
          <p:cNvSpPr txBox="1"/>
          <p:nvPr/>
        </p:nvSpPr>
        <p:spPr>
          <a:xfrm>
            <a:off x="7068312" y="2286000"/>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هٰذَا</a:t>
            </a:r>
            <a:pPr rtl="1" algn="ctr" indent="0" marL="0">
              <a:buNone/>
            </a:pPr>
            <a:r>
              <a:rPr lang="ar-SA" altLang="en-US" sz="2100" b="1" dirty="0">
                <a:solidFill>
                  <a:srgbClr val="1B3B6F"/>
                </a:solidFill>
                <a:latin typeface="Amiri" pitchFamily="2" charset="-78"/>
                <a:ea typeface="Amiri" pitchFamily="2" charset="-78"/>
                <a:cs typeface="Amiri" pitchFamily="2" charset="-78"/>
              </a:rPr>
              <a:t> كِتَابٌ.</a:t>
            </a:r>
            <a:endParaRPr lang="ar-SA" sz="2100" dirty="0"/>
          </a:p>
        </p:txBody>
      </p:sp>
      <p:sp>
        <p:nvSpPr>
          <p:cNvPr id="23" name="Text 20"/>
          <p:cNvSpPr txBox="1"/>
          <p:nvPr/>
        </p:nvSpPr>
        <p:spPr>
          <a:xfrm>
            <a:off x="7022592" y="2706624"/>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hā-dhā ki-tāb · this is a book</a:t>
            </a:r>
            <a:endParaRPr lang="en-US" sz="950" dirty="0"/>
          </a:p>
        </p:txBody>
      </p:sp>
      <p:sp>
        <p:nvSpPr>
          <p:cNvPr id="24" name="Text 21"/>
          <p:cNvSpPr txBox="1"/>
          <p:nvPr/>
        </p:nvSpPr>
        <p:spPr>
          <a:xfrm>
            <a:off x="4325112" y="2286000"/>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كَمْ ثَمَنُ</a:t>
            </a:r>
            <a:pPr rtl="1" algn="ctr" indent="0" marL="0">
              <a:buNone/>
            </a:pPr>
            <a:r>
              <a:rPr lang="ar-SA" altLang="en-US" sz="2100" b="1" dirty="0">
                <a:solidFill>
                  <a:srgbClr val="D6336C"/>
                </a:solidFill>
                <a:latin typeface="Amiri" pitchFamily="2" charset="-78"/>
                <a:ea typeface="Amiri" pitchFamily="2" charset="-78"/>
                <a:cs typeface="Amiri" pitchFamily="2" charset="-78"/>
              </a:rPr>
              <a:t>هُ</a:t>
            </a:r>
            <a:pPr rtl="1" algn="ctr" indent="0" marL="0">
              <a:buNone/>
            </a:pPr>
            <a:r>
              <a:rPr lang="ar-SA" altLang="en-US" sz="2100" b="1" dirty="0">
                <a:solidFill>
                  <a:srgbClr val="1B3B6F"/>
                </a:solidFill>
                <a:latin typeface="Amiri" pitchFamily="2" charset="-78"/>
                <a:ea typeface="Amiri" pitchFamily="2" charset="-78"/>
                <a:cs typeface="Amiri" pitchFamily="2" charset="-78"/>
              </a:rPr>
              <a:t>؟</a:t>
            </a:r>
            <a:endParaRPr lang="ar-SA" sz="2100" dirty="0"/>
          </a:p>
        </p:txBody>
      </p:sp>
      <p:sp>
        <p:nvSpPr>
          <p:cNvPr id="25" name="Text 22"/>
          <p:cNvSpPr txBox="1"/>
          <p:nvPr/>
        </p:nvSpPr>
        <p:spPr>
          <a:xfrm>
            <a:off x="4279392" y="2706624"/>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kam tha-ma-nu-hu</a:t>
            </a:r>
            <a:endParaRPr lang="en-US" sz="950" dirty="0"/>
          </a:p>
        </p:txBody>
      </p:sp>
      <p:sp>
        <p:nvSpPr>
          <p:cNvPr id="26" name="Text 23"/>
          <p:cNvSpPr txBox="1"/>
          <p:nvPr/>
        </p:nvSpPr>
        <p:spPr>
          <a:xfrm>
            <a:off x="548640" y="2286000"/>
            <a:ext cx="359359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ثَمَنُ</a:t>
            </a:r>
            <a:pPr rtl="1" algn="ctr" indent="0" marL="0">
              <a:buNone/>
            </a:pPr>
            <a:r>
              <a:rPr lang="ar-SA" altLang="en-US" sz="2000" b="1" dirty="0">
                <a:solidFill>
                  <a:srgbClr val="D6336C"/>
                </a:solidFill>
                <a:latin typeface="Amiri" pitchFamily="2" charset="-78"/>
                <a:ea typeface="Amiri" pitchFamily="2" charset="-78"/>
                <a:cs typeface="Amiri" pitchFamily="2" charset="-78"/>
              </a:rPr>
              <a:t>هُ</a:t>
            </a:r>
            <a:pPr rtl="1" algn="ctr" indent="0" marL="0">
              <a:buNone/>
            </a:pPr>
            <a:r>
              <a:rPr lang="ar-SA" altLang="en-US" sz="2000" b="1" dirty="0">
                <a:solidFill>
                  <a:srgbClr val="1B3B6F"/>
                </a:solidFill>
                <a:latin typeface="Amiri" pitchFamily="2" charset="-78"/>
                <a:ea typeface="Amiri" pitchFamily="2" charset="-78"/>
                <a:cs typeface="Amiri" pitchFamily="2" charset="-78"/>
              </a:rPr>
              <a:t> عِشْرُونَ دِينَارًا.</a:t>
            </a:r>
            <a:endParaRPr lang="ar-SA" sz="2000" dirty="0"/>
          </a:p>
        </p:txBody>
      </p:sp>
      <p:sp>
        <p:nvSpPr>
          <p:cNvPr id="27" name="Text 24"/>
          <p:cNvSpPr txBox="1"/>
          <p:nvPr/>
        </p:nvSpPr>
        <p:spPr>
          <a:xfrm>
            <a:off x="502920" y="2706624"/>
            <a:ext cx="36850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costs twenty dinars</a:t>
            </a:r>
            <a:endParaRPr lang="en-US" sz="950" dirty="0"/>
          </a:p>
        </p:txBody>
      </p:sp>
      <p:sp>
        <p:nvSpPr>
          <p:cNvPr id="28" name="Shape 25"/>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0" name="Shape 27"/>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1" name="Text 28"/>
          <p:cNvSpPr txBox="1"/>
          <p:nvPr/>
        </p:nvSpPr>
        <p:spPr>
          <a:xfrm>
            <a:off x="9829800" y="3054096"/>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 (</a:t>
            </a:r>
            <a:pPr algn="l" indent="0" marL="0">
              <a:buNone/>
            </a:pPr>
            <a:r>
              <a:rPr lang="ar-SA" altLang="en-US" sz="1450" dirty="0">
                <a:solidFill>
                  <a:srgbClr val="5A6472"/>
                </a:solidFill>
                <a:latin typeface="Amiri" pitchFamily="2" charset="-78"/>
                <a:ea typeface="Amiri" pitchFamily="2" charset="-78"/>
                <a:cs typeface="Amiri" pitchFamily="2" charset="-78"/>
              </a:rPr>
              <a:t>ـة</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2" name="Text 29"/>
          <p:cNvSpPr txBox="1"/>
          <p:nvPr/>
        </p:nvSpPr>
        <p:spPr>
          <a:xfrm>
            <a:off x="7068312" y="3072384"/>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هٰذِهِ</a:t>
            </a:r>
            <a:pPr rtl="1" algn="ctr" indent="0" marL="0">
              <a:buNone/>
            </a:pPr>
            <a:r>
              <a:rPr lang="ar-SA" altLang="en-US" sz="2100" b="1" dirty="0">
                <a:solidFill>
                  <a:srgbClr val="1B3B6F"/>
                </a:solidFill>
                <a:latin typeface="Amiri" pitchFamily="2" charset="-78"/>
                <a:ea typeface="Amiri" pitchFamily="2" charset="-78"/>
                <a:cs typeface="Amiri" pitchFamily="2" charset="-78"/>
              </a:rPr>
              <a:t> حَقِيبَةٌ.</a:t>
            </a:r>
            <a:endParaRPr lang="ar-SA" sz="2100" dirty="0"/>
          </a:p>
        </p:txBody>
      </p:sp>
      <p:sp>
        <p:nvSpPr>
          <p:cNvPr id="33" name="Text 30"/>
          <p:cNvSpPr txBox="1"/>
          <p:nvPr/>
        </p:nvSpPr>
        <p:spPr>
          <a:xfrm>
            <a:off x="7022592" y="3493008"/>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hā-dhi-hi ḥa-qī-ba · this is a bag</a:t>
            </a:r>
            <a:endParaRPr lang="en-US" sz="950" dirty="0"/>
          </a:p>
        </p:txBody>
      </p:sp>
      <p:sp>
        <p:nvSpPr>
          <p:cNvPr id="34" name="Text 31"/>
          <p:cNvSpPr txBox="1"/>
          <p:nvPr/>
        </p:nvSpPr>
        <p:spPr>
          <a:xfrm>
            <a:off x="4325112" y="3072384"/>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كَمْ ثَمَنُ</a:t>
            </a:r>
            <a:pPr rtl="1" algn="ctr" indent="0" marL="0">
              <a:buNone/>
            </a:pPr>
            <a:r>
              <a:rPr lang="ar-SA" altLang="en-US" sz="2100" b="1" dirty="0">
                <a:solidFill>
                  <a:srgbClr val="D6336C"/>
                </a:solidFill>
                <a:latin typeface="Amiri" pitchFamily="2" charset="-78"/>
                <a:ea typeface="Amiri" pitchFamily="2" charset="-78"/>
                <a:cs typeface="Amiri" pitchFamily="2" charset="-78"/>
              </a:rPr>
              <a:t>هَا</a:t>
            </a:r>
            <a:pPr rtl="1" algn="ctr" indent="0" marL="0">
              <a:buNone/>
            </a:pPr>
            <a:r>
              <a:rPr lang="ar-SA" altLang="en-US" sz="2100" b="1" dirty="0">
                <a:solidFill>
                  <a:srgbClr val="1B3B6F"/>
                </a:solidFill>
                <a:latin typeface="Amiri" pitchFamily="2" charset="-78"/>
                <a:ea typeface="Amiri" pitchFamily="2" charset="-78"/>
                <a:cs typeface="Amiri" pitchFamily="2" charset="-78"/>
              </a:rPr>
              <a:t>؟</a:t>
            </a:r>
            <a:endParaRPr lang="ar-SA" sz="2100" dirty="0"/>
          </a:p>
        </p:txBody>
      </p:sp>
      <p:sp>
        <p:nvSpPr>
          <p:cNvPr id="35" name="Text 32"/>
          <p:cNvSpPr txBox="1"/>
          <p:nvPr/>
        </p:nvSpPr>
        <p:spPr>
          <a:xfrm>
            <a:off x="4279392" y="3493008"/>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kam tha-ma-nu-hā</a:t>
            </a:r>
            <a:endParaRPr lang="en-US" sz="950" dirty="0"/>
          </a:p>
        </p:txBody>
      </p:sp>
      <p:sp>
        <p:nvSpPr>
          <p:cNvPr id="36" name="Text 33"/>
          <p:cNvSpPr txBox="1"/>
          <p:nvPr/>
        </p:nvSpPr>
        <p:spPr>
          <a:xfrm>
            <a:off x="548640" y="3072384"/>
            <a:ext cx="359359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ثَمَنُ</a:t>
            </a:r>
            <a:pPr rtl="1" algn="ctr" indent="0" marL="0">
              <a:buNone/>
            </a:pPr>
            <a:r>
              <a:rPr lang="ar-SA" altLang="en-US" sz="2000" b="1" dirty="0">
                <a:solidFill>
                  <a:srgbClr val="D6336C"/>
                </a:solidFill>
                <a:latin typeface="Amiri" pitchFamily="2" charset="-78"/>
                <a:ea typeface="Amiri" pitchFamily="2" charset="-78"/>
                <a:cs typeface="Amiri" pitchFamily="2" charset="-78"/>
              </a:rPr>
              <a:t>هَا</a:t>
            </a:r>
            <a:pPr rtl="1" algn="ctr" indent="0" marL="0">
              <a:buNone/>
            </a:pPr>
            <a:r>
              <a:rPr lang="ar-SA" altLang="en-US" sz="2000" b="1" dirty="0">
                <a:solidFill>
                  <a:srgbClr val="1B3B6F"/>
                </a:solidFill>
                <a:latin typeface="Amiri" pitchFamily="2" charset="-78"/>
                <a:ea typeface="Amiri" pitchFamily="2" charset="-78"/>
                <a:cs typeface="Amiri" pitchFamily="2" charset="-78"/>
              </a:rPr>
              <a:t> خَمْسُونَ دِينَارًا.</a:t>
            </a:r>
            <a:endParaRPr lang="ar-SA" sz="2000" dirty="0"/>
          </a:p>
        </p:txBody>
      </p:sp>
      <p:sp>
        <p:nvSpPr>
          <p:cNvPr id="37" name="Text 34"/>
          <p:cNvSpPr txBox="1"/>
          <p:nvPr/>
        </p:nvSpPr>
        <p:spPr>
          <a:xfrm>
            <a:off x="502920" y="3493008"/>
            <a:ext cx="36850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costs fifty dinars</a:t>
            </a:r>
            <a:endParaRPr lang="en-US" sz="950" dirty="0"/>
          </a:p>
        </p:txBody>
      </p:sp>
      <p:sp>
        <p:nvSpPr>
          <p:cNvPr id="38" name="Shape 35"/>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0" name="Shape 37"/>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41" name="Text 38"/>
          <p:cNvSpPr txBox="1"/>
          <p:nvPr/>
        </p:nvSpPr>
        <p:spPr>
          <a:xfrm>
            <a:off x="9829800" y="3840480"/>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plural goods</a:t>
            </a:r>
            <a:endParaRPr lang="en-US" sz="1100" dirty="0"/>
          </a:p>
        </p:txBody>
      </p:sp>
      <p:sp>
        <p:nvSpPr>
          <p:cNvPr id="42" name="Text 39"/>
          <p:cNvSpPr txBox="1"/>
          <p:nvPr/>
        </p:nvSpPr>
        <p:spPr>
          <a:xfrm>
            <a:off x="7068312" y="3858768"/>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هٰذِهِ</a:t>
            </a:r>
            <a:pPr rtl="1" algn="ctr" indent="0" marL="0">
              <a:buNone/>
            </a:pPr>
            <a:r>
              <a:rPr lang="ar-SA" altLang="en-US" sz="2100" b="1" dirty="0">
                <a:solidFill>
                  <a:srgbClr val="1B3B6F"/>
                </a:solidFill>
                <a:latin typeface="Amiri" pitchFamily="2" charset="-78"/>
                <a:ea typeface="Amiri" pitchFamily="2" charset="-78"/>
                <a:cs typeface="Amiri" pitchFamily="2" charset="-78"/>
              </a:rPr>
              <a:t> مَلَابِسُ.</a:t>
            </a:r>
            <a:endParaRPr lang="ar-SA" sz="2100" dirty="0"/>
          </a:p>
        </p:txBody>
      </p:sp>
      <p:sp>
        <p:nvSpPr>
          <p:cNvPr id="43" name="Text 40"/>
          <p:cNvSpPr txBox="1"/>
          <p:nvPr/>
        </p:nvSpPr>
        <p:spPr>
          <a:xfrm>
            <a:off x="7022592" y="4279392"/>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these are clothes</a:t>
            </a:r>
            <a:endParaRPr lang="en-US" sz="950" dirty="0"/>
          </a:p>
        </p:txBody>
      </p:sp>
      <p:sp>
        <p:nvSpPr>
          <p:cNvPr id="44" name="Text 41"/>
          <p:cNvSpPr txBox="1"/>
          <p:nvPr/>
        </p:nvSpPr>
        <p:spPr>
          <a:xfrm>
            <a:off x="4325112" y="3858768"/>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كَمْ ثَمَنُ المَلَابِسِ؟</a:t>
            </a:r>
            <a:endParaRPr lang="ar-SA" sz="2100" dirty="0"/>
          </a:p>
        </p:txBody>
      </p:sp>
      <p:sp>
        <p:nvSpPr>
          <p:cNvPr id="45" name="Text 42"/>
          <p:cNvSpPr txBox="1"/>
          <p:nvPr/>
        </p:nvSpPr>
        <p:spPr>
          <a:xfrm>
            <a:off x="4279392" y="4279392"/>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use the noun (website)</a:t>
            </a:r>
            <a:endParaRPr lang="en-US" sz="950" dirty="0"/>
          </a:p>
        </p:txBody>
      </p:sp>
      <p:sp>
        <p:nvSpPr>
          <p:cNvPr id="46" name="Text 43"/>
          <p:cNvSpPr txBox="1"/>
          <p:nvPr/>
        </p:nvSpPr>
        <p:spPr>
          <a:xfrm>
            <a:off x="548640" y="3858768"/>
            <a:ext cx="359359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بِأَرْبَعِينَ دِينَارًا.</a:t>
            </a:r>
            <a:endParaRPr lang="ar-SA" sz="2000" dirty="0"/>
          </a:p>
        </p:txBody>
      </p:sp>
      <p:sp>
        <p:nvSpPr>
          <p:cNvPr id="47" name="Text 44"/>
          <p:cNvSpPr txBox="1"/>
          <p:nvPr/>
        </p:nvSpPr>
        <p:spPr>
          <a:xfrm>
            <a:off x="502920" y="4279392"/>
            <a:ext cx="36850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for forty dinars</a:t>
            </a:r>
            <a:endParaRPr lang="en-US" sz="950" dirty="0"/>
          </a:p>
        </p:txBody>
      </p:sp>
      <p:sp>
        <p:nvSpPr>
          <p:cNvPr id="48" name="Shape 45"/>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9" name="Text 46"/>
          <p:cNvSpPr txBox="1"/>
          <p:nvPr/>
        </p:nvSpPr>
        <p:spPr>
          <a:xfrm>
            <a:off x="9829800" y="4626864"/>
            <a:ext cx="18288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far: that</a:t>
            </a:r>
            <a:endParaRPr lang="en-US" sz="1100" dirty="0"/>
          </a:p>
        </p:txBody>
      </p:sp>
      <p:sp>
        <p:nvSpPr>
          <p:cNvPr id="50" name="Text 47"/>
          <p:cNvSpPr txBox="1"/>
          <p:nvPr/>
        </p:nvSpPr>
        <p:spPr>
          <a:xfrm>
            <a:off x="7068312" y="4645152"/>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ذٰلِكَ</a:t>
            </a:r>
            <a:pPr rtl="1" algn="ctr" indent="0" marL="0">
              <a:buNone/>
            </a:pPr>
            <a:r>
              <a:rPr lang="ar-SA" altLang="en-US" sz="2100" b="1" dirty="0">
                <a:solidFill>
                  <a:srgbClr val="1B3B6F"/>
                </a:solidFill>
                <a:latin typeface="Amiri" pitchFamily="2" charset="-78"/>
                <a:ea typeface="Amiri" pitchFamily="2" charset="-78"/>
                <a:cs typeface="Amiri" pitchFamily="2" charset="-78"/>
              </a:rPr>
              <a:t> الهَاتِفُ · </a:t>
            </a:r>
            <a:pPr rtl="1" algn="ctr" indent="0" marL="0">
              <a:buNone/>
            </a:pPr>
            <a:r>
              <a:rPr lang="ar-SA" altLang="en-US" sz="2100" b="1" dirty="0">
                <a:solidFill>
                  <a:srgbClr val="0E7C86"/>
                </a:solidFill>
                <a:latin typeface="Amiri" pitchFamily="2" charset="-78"/>
                <a:ea typeface="Amiri" pitchFamily="2" charset="-78"/>
                <a:cs typeface="Amiri" pitchFamily="2" charset="-78"/>
              </a:rPr>
              <a:t>تِلْكَ</a:t>
            </a:r>
            <a:pPr rtl="1" algn="ctr" indent="0" marL="0">
              <a:buNone/>
            </a:pPr>
            <a:r>
              <a:rPr lang="ar-SA" altLang="en-US" sz="2100" b="1" dirty="0">
                <a:solidFill>
                  <a:srgbClr val="1B3B6F"/>
                </a:solidFill>
                <a:latin typeface="Amiri" pitchFamily="2" charset="-78"/>
                <a:ea typeface="Amiri" pitchFamily="2" charset="-78"/>
                <a:cs typeface="Amiri" pitchFamily="2" charset="-78"/>
              </a:rPr>
              <a:t> الحَقِيبَةُ</a:t>
            </a:r>
            <a:endParaRPr lang="ar-SA" sz="2100" dirty="0"/>
          </a:p>
        </p:txBody>
      </p:sp>
      <p:sp>
        <p:nvSpPr>
          <p:cNvPr id="51" name="Text 48"/>
          <p:cNvSpPr txBox="1"/>
          <p:nvPr/>
        </p:nvSpPr>
        <p:spPr>
          <a:xfrm>
            <a:off x="7022592" y="5065776"/>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that phone · that bag</a:t>
            </a:r>
            <a:endParaRPr lang="en-US" sz="950" dirty="0"/>
          </a:p>
        </p:txBody>
      </p:sp>
      <p:sp>
        <p:nvSpPr>
          <p:cNvPr id="52" name="Text 49"/>
          <p:cNvSpPr txBox="1"/>
          <p:nvPr/>
        </p:nvSpPr>
        <p:spPr>
          <a:xfrm>
            <a:off x="4325112" y="4645152"/>
            <a:ext cx="25603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وَكَمْ ثَمَنُ</a:t>
            </a:r>
            <a:pPr rtl="1" algn="ctr" indent="0" marL="0">
              <a:buNone/>
            </a:pPr>
            <a:r>
              <a:rPr lang="ar-SA" altLang="en-US" sz="2100" b="1" dirty="0">
                <a:solidFill>
                  <a:srgbClr val="D6336C"/>
                </a:solidFill>
                <a:latin typeface="Amiri" pitchFamily="2" charset="-78"/>
                <a:ea typeface="Amiri" pitchFamily="2" charset="-78"/>
                <a:cs typeface="Amiri" pitchFamily="2" charset="-78"/>
              </a:rPr>
              <a:t>هَا</a:t>
            </a:r>
            <a:pPr rtl="1" algn="ctr" indent="0" marL="0">
              <a:buNone/>
            </a:pPr>
            <a:r>
              <a:rPr lang="ar-SA" altLang="en-US" sz="2100" b="1" dirty="0">
                <a:solidFill>
                  <a:srgbClr val="1B3B6F"/>
                </a:solidFill>
                <a:latin typeface="Amiri" pitchFamily="2" charset="-78"/>
                <a:ea typeface="Amiri" pitchFamily="2" charset="-78"/>
                <a:cs typeface="Amiri" pitchFamily="2" charset="-78"/>
              </a:rPr>
              <a:t>؟</a:t>
            </a:r>
            <a:endParaRPr lang="ar-SA" sz="2100" dirty="0"/>
          </a:p>
        </p:txBody>
      </p:sp>
      <p:sp>
        <p:nvSpPr>
          <p:cNvPr id="53" name="Text 50"/>
          <p:cNvSpPr txBox="1"/>
          <p:nvPr/>
        </p:nvSpPr>
        <p:spPr>
          <a:xfrm>
            <a:off x="4279392" y="5065776"/>
            <a:ext cx="26517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and how much is that one?</a:t>
            </a:r>
            <a:endParaRPr lang="en-US" sz="950" dirty="0"/>
          </a:p>
        </p:txBody>
      </p:sp>
      <p:sp>
        <p:nvSpPr>
          <p:cNvPr id="54" name="Text 51"/>
          <p:cNvSpPr txBox="1"/>
          <p:nvPr/>
        </p:nvSpPr>
        <p:spPr>
          <a:xfrm>
            <a:off x="548640" y="4645152"/>
            <a:ext cx="3593592" cy="4535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تِلْكَ أَرْخَصُ.</a:t>
            </a:r>
            <a:endParaRPr lang="ar-SA" sz="2000" dirty="0"/>
          </a:p>
        </p:txBody>
      </p:sp>
      <p:sp>
        <p:nvSpPr>
          <p:cNvPr id="55" name="Text 52"/>
          <p:cNvSpPr txBox="1"/>
          <p:nvPr/>
        </p:nvSpPr>
        <p:spPr>
          <a:xfrm>
            <a:off x="502920" y="5065776"/>
            <a:ext cx="368503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that one is cheaper</a:t>
            </a:r>
            <a:endParaRPr lang="en-US" sz="9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4 · GRAMMAR PART 2 · NUMBERS AND PRICES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 price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الأَسْعَارُ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10341864" y="1810512"/>
            <a:ext cx="1316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Price</a:t>
            </a:r>
            <a:endParaRPr lang="en-US" sz="1100" dirty="0"/>
          </a:p>
        </p:txBody>
      </p:sp>
      <p:sp>
        <p:nvSpPr>
          <p:cNvPr id="17" name="Text 14"/>
          <p:cNvSpPr txBox="1"/>
          <p:nvPr/>
        </p:nvSpPr>
        <p:spPr>
          <a:xfrm>
            <a:off x="741578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number</a:t>
            </a:r>
            <a:endParaRPr lang="en-US" sz="1100" dirty="0"/>
          </a:p>
        </p:txBody>
      </p:sp>
      <p:sp>
        <p:nvSpPr>
          <p:cNvPr id="18" name="Text 15"/>
          <p:cNvSpPr txBox="1"/>
          <p:nvPr/>
        </p:nvSpPr>
        <p:spPr>
          <a:xfrm>
            <a:off x="3849624"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the price</a:t>
            </a:r>
            <a:endParaRPr lang="en-US" sz="1100" dirty="0"/>
          </a:p>
        </p:txBody>
      </p:sp>
      <p:sp>
        <p:nvSpPr>
          <p:cNvPr id="19" name="Text 16"/>
          <p:cNvSpPr txBox="1"/>
          <p:nvPr/>
        </p:nvSpPr>
        <p:spPr>
          <a:xfrm>
            <a:off x="530352" y="1810512"/>
            <a:ext cx="3172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Rule</a:t>
            </a:r>
            <a:endParaRPr lang="en-US" sz="1100" dirty="0"/>
          </a:p>
        </p:txBody>
      </p:sp>
      <p:sp>
        <p:nvSpPr>
          <p:cNvPr id="20" name="Shape 17"/>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21" name="Text 18"/>
          <p:cNvSpPr txBox="1"/>
          <p:nvPr/>
        </p:nvSpPr>
        <p:spPr>
          <a:xfrm>
            <a:off x="10378440" y="2267712"/>
            <a:ext cx="12801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10 dinars</a:t>
            </a:r>
            <a:endParaRPr lang="en-US" sz="1100" dirty="0"/>
          </a:p>
        </p:txBody>
      </p:sp>
      <p:sp>
        <p:nvSpPr>
          <p:cNvPr id="22" name="Text 19"/>
          <p:cNvSpPr txBox="1"/>
          <p:nvPr/>
        </p:nvSpPr>
        <p:spPr>
          <a:xfrm>
            <a:off x="7434072" y="2286000"/>
            <a:ext cx="274320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عَشَرَةٌ</a:t>
            </a:r>
            <a:endParaRPr lang="ar-SA" sz="1800" dirty="0"/>
          </a:p>
        </p:txBody>
      </p:sp>
      <p:sp>
        <p:nvSpPr>
          <p:cNvPr id="23" name="Text 20"/>
          <p:cNvSpPr txBox="1"/>
          <p:nvPr/>
        </p:nvSpPr>
        <p:spPr>
          <a:xfrm>
            <a:off x="7388352" y="2644445"/>
            <a:ext cx="28346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ʿa-sha-ra</a:t>
            </a:r>
            <a:endParaRPr lang="en-US" sz="950" dirty="0"/>
          </a:p>
        </p:txBody>
      </p:sp>
      <p:sp>
        <p:nvSpPr>
          <p:cNvPr id="24" name="Text 21"/>
          <p:cNvSpPr txBox="1"/>
          <p:nvPr/>
        </p:nvSpPr>
        <p:spPr>
          <a:xfrm>
            <a:off x="3867912" y="2286000"/>
            <a:ext cx="338328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عَشَرَةُ </a:t>
            </a:r>
            <a:pPr rtl="1" algn="ctr" indent="0" marL="0">
              <a:buNone/>
            </a:pPr>
            <a:r>
              <a:rPr lang="ar-SA" altLang="en-US" sz="1800" b="1" dirty="0">
                <a:solidFill>
                  <a:srgbClr val="D6336C"/>
                </a:solidFill>
                <a:latin typeface="Amiri" pitchFamily="2" charset="-78"/>
                <a:ea typeface="Amiri" pitchFamily="2" charset="-78"/>
                <a:cs typeface="Amiri" pitchFamily="2" charset="-78"/>
              </a:rPr>
              <a:t>دَنَانِيرَ</a:t>
            </a:r>
            <a:endParaRPr lang="ar-SA" sz="1800" dirty="0"/>
          </a:p>
        </p:txBody>
      </p:sp>
      <p:sp>
        <p:nvSpPr>
          <p:cNvPr id="25" name="Text 22"/>
          <p:cNvSpPr txBox="1"/>
          <p:nvPr/>
        </p:nvSpPr>
        <p:spPr>
          <a:xfrm>
            <a:off x="3822192" y="2644445"/>
            <a:ext cx="347472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ʿa-sha-ra-tu da-nā-nīr</a:t>
            </a:r>
            <a:endParaRPr lang="en-US" sz="950" dirty="0"/>
          </a:p>
        </p:txBody>
      </p:sp>
      <p:sp>
        <p:nvSpPr>
          <p:cNvPr id="26" name="Text 23"/>
          <p:cNvSpPr txBox="1"/>
          <p:nvPr/>
        </p:nvSpPr>
        <p:spPr>
          <a:xfrm>
            <a:off x="566928" y="2267712"/>
            <a:ext cx="31363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3–10 → plural: </a:t>
            </a:r>
            <a:pPr algn="l" indent="0" marL="0">
              <a:buNone/>
            </a:pPr>
            <a:r>
              <a:rPr lang="ar-SA" altLang="en-US" sz="1450" dirty="0">
                <a:solidFill>
                  <a:srgbClr val="5A6472"/>
                </a:solidFill>
                <a:latin typeface="Amiri" pitchFamily="2" charset="-78"/>
                <a:ea typeface="Amiri" pitchFamily="2" charset="-78"/>
                <a:cs typeface="Amiri" pitchFamily="2" charset="-78"/>
              </a:rPr>
              <a:t>دَنَانِيرَ</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30" name="Text 27"/>
          <p:cNvSpPr txBox="1"/>
          <p:nvPr/>
        </p:nvSpPr>
        <p:spPr>
          <a:xfrm>
            <a:off x="10378440" y="2950464"/>
            <a:ext cx="12801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20 dinars</a:t>
            </a:r>
            <a:endParaRPr lang="en-US" sz="1100" dirty="0"/>
          </a:p>
        </p:txBody>
      </p:sp>
      <p:sp>
        <p:nvSpPr>
          <p:cNvPr id="31" name="Text 28"/>
          <p:cNvSpPr txBox="1"/>
          <p:nvPr/>
        </p:nvSpPr>
        <p:spPr>
          <a:xfrm>
            <a:off x="7434072" y="2968752"/>
            <a:ext cx="274320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عِشْرُونَ</a:t>
            </a:r>
            <a:endParaRPr lang="ar-SA" sz="1800" dirty="0"/>
          </a:p>
        </p:txBody>
      </p:sp>
      <p:sp>
        <p:nvSpPr>
          <p:cNvPr id="32" name="Text 29"/>
          <p:cNvSpPr txBox="1"/>
          <p:nvPr/>
        </p:nvSpPr>
        <p:spPr>
          <a:xfrm>
            <a:off x="7388352" y="3327197"/>
            <a:ext cx="28346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ʿish-rūn</a:t>
            </a:r>
            <a:endParaRPr lang="en-US" sz="950" dirty="0"/>
          </a:p>
        </p:txBody>
      </p:sp>
      <p:sp>
        <p:nvSpPr>
          <p:cNvPr id="33" name="Text 30"/>
          <p:cNvSpPr txBox="1"/>
          <p:nvPr/>
        </p:nvSpPr>
        <p:spPr>
          <a:xfrm>
            <a:off x="3867912" y="2968752"/>
            <a:ext cx="338328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عِشْرُونَ </a:t>
            </a:r>
            <a:pPr rtl="1" algn="ctr" indent="0" marL="0">
              <a:buNone/>
            </a:pPr>
            <a:r>
              <a:rPr lang="ar-SA" altLang="en-US" sz="1800" b="1" dirty="0">
                <a:solidFill>
                  <a:srgbClr val="D6336C"/>
                </a:solidFill>
                <a:latin typeface="Amiri" pitchFamily="2" charset="-78"/>
                <a:ea typeface="Amiri" pitchFamily="2" charset="-78"/>
                <a:cs typeface="Amiri" pitchFamily="2" charset="-78"/>
              </a:rPr>
              <a:t>دِينَارًا</a:t>
            </a:r>
            <a:endParaRPr lang="ar-SA" sz="1800" dirty="0"/>
          </a:p>
        </p:txBody>
      </p:sp>
      <p:sp>
        <p:nvSpPr>
          <p:cNvPr id="34" name="Text 31"/>
          <p:cNvSpPr txBox="1"/>
          <p:nvPr/>
        </p:nvSpPr>
        <p:spPr>
          <a:xfrm>
            <a:off x="3822192" y="3327197"/>
            <a:ext cx="347472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ʿish-rū-na dī-nā-ran</a:t>
            </a:r>
            <a:endParaRPr lang="en-US" sz="950" dirty="0"/>
          </a:p>
        </p:txBody>
      </p:sp>
      <p:sp>
        <p:nvSpPr>
          <p:cNvPr id="35" name="Text 32"/>
          <p:cNvSpPr txBox="1"/>
          <p:nvPr/>
        </p:nvSpPr>
        <p:spPr>
          <a:xfrm>
            <a:off x="566928" y="2950464"/>
            <a:ext cx="31363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11–99 → singular + -an: </a:t>
            </a:r>
            <a:pPr algn="l" indent="0" marL="0">
              <a:buNone/>
            </a:pPr>
            <a:r>
              <a:rPr lang="ar-SA" altLang="en-US" sz="1450" dirty="0">
                <a:solidFill>
                  <a:srgbClr val="5A6472"/>
                </a:solidFill>
                <a:latin typeface="Amiri" pitchFamily="2" charset="-78"/>
                <a:ea typeface="Amiri" pitchFamily="2" charset="-78"/>
                <a:cs typeface="Amiri" pitchFamily="2" charset="-78"/>
              </a:rPr>
              <a:t>دِينَارًا</a:t>
            </a:r>
            <a:endParaRPr lang="en-US" sz="1100" dirty="0"/>
          </a:p>
        </p:txBody>
      </p:sp>
      <p:sp>
        <p:nvSpPr>
          <p:cNvPr id="36" name="Shape 33"/>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39" name="Text 36"/>
          <p:cNvSpPr txBox="1"/>
          <p:nvPr/>
        </p:nvSpPr>
        <p:spPr>
          <a:xfrm>
            <a:off x="10378440" y="3633216"/>
            <a:ext cx="12801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40 dinars</a:t>
            </a:r>
            <a:endParaRPr lang="en-US" sz="1100" dirty="0"/>
          </a:p>
        </p:txBody>
      </p:sp>
      <p:sp>
        <p:nvSpPr>
          <p:cNvPr id="40" name="Text 37"/>
          <p:cNvSpPr txBox="1"/>
          <p:nvPr/>
        </p:nvSpPr>
        <p:spPr>
          <a:xfrm>
            <a:off x="7434072" y="3651504"/>
            <a:ext cx="274320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أَرْبَعُونَ</a:t>
            </a:r>
            <a:endParaRPr lang="ar-SA" sz="1800" dirty="0"/>
          </a:p>
        </p:txBody>
      </p:sp>
      <p:sp>
        <p:nvSpPr>
          <p:cNvPr id="41" name="Text 38"/>
          <p:cNvSpPr txBox="1"/>
          <p:nvPr/>
        </p:nvSpPr>
        <p:spPr>
          <a:xfrm>
            <a:off x="7388352" y="4009949"/>
            <a:ext cx="28346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ar-ba-ʿūn</a:t>
            </a:r>
            <a:endParaRPr lang="en-US" sz="950" dirty="0"/>
          </a:p>
        </p:txBody>
      </p:sp>
      <p:sp>
        <p:nvSpPr>
          <p:cNvPr id="42" name="Text 39"/>
          <p:cNvSpPr txBox="1"/>
          <p:nvPr/>
        </p:nvSpPr>
        <p:spPr>
          <a:xfrm>
            <a:off x="3867912" y="3651504"/>
            <a:ext cx="338328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أَرْبَعُونَ </a:t>
            </a:r>
            <a:pPr rtl="1" algn="ctr" indent="0" marL="0">
              <a:buNone/>
            </a:pPr>
            <a:r>
              <a:rPr lang="ar-SA" altLang="en-US" sz="1800" b="1" dirty="0">
                <a:solidFill>
                  <a:srgbClr val="D6336C"/>
                </a:solidFill>
                <a:latin typeface="Amiri" pitchFamily="2" charset="-78"/>
                <a:ea typeface="Amiri" pitchFamily="2" charset="-78"/>
                <a:cs typeface="Amiri" pitchFamily="2" charset="-78"/>
              </a:rPr>
              <a:t>دِينَارًا</a:t>
            </a:r>
            <a:endParaRPr lang="ar-SA" sz="1800" dirty="0"/>
          </a:p>
        </p:txBody>
      </p:sp>
      <p:sp>
        <p:nvSpPr>
          <p:cNvPr id="43" name="Text 40"/>
          <p:cNvSpPr txBox="1"/>
          <p:nvPr/>
        </p:nvSpPr>
        <p:spPr>
          <a:xfrm>
            <a:off x="3822192" y="4009949"/>
            <a:ext cx="347472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ar-ba-ʿū-na dī-nā-ran</a:t>
            </a:r>
            <a:endParaRPr lang="en-US" sz="950" dirty="0"/>
          </a:p>
        </p:txBody>
      </p:sp>
      <p:sp>
        <p:nvSpPr>
          <p:cNvPr id="44" name="Text 41"/>
          <p:cNvSpPr txBox="1"/>
          <p:nvPr/>
        </p:nvSpPr>
        <p:spPr>
          <a:xfrm>
            <a:off x="566928" y="3633216"/>
            <a:ext cx="31363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listening: </a:t>
            </a:r>
            <a:pPr algn="l" indent="0" marL="0">
              <a:buNone/>
            </a:pPr>
            <a:r>
              <a:rPr lang="ar-SA" altLang="en-US" sz="1450" dirty="0">
                <a:solidFill>
                  <a:srgbClr val="5A6472"/>
                </a:solidFill>
                <a:latin typeface="Amiri" pitchFamily="2" charset="-78"/>
                <a:ea typeface="Amiri" pitchFamily="2" charset="-78"/>
                <a:cs typeface="Amiri" pitchFamily="2" charset="-78"/>
              </a:rPr>
              <a:t>بِأَرْبَعِينَ</a:t>
            </a:r>
            <a:pPr algn="l" indent="0" marL="0">
              <a:buNone/>
            </a:pPr>
            <a:r>
              <a:rPr lang="en-US" sz="1100" dirty="0">
                <a:solidFill>
                  <a:srgbClr val="5A6472"/>
                </a:solidFill>
                <a:latin typeface="Calibri" pitchFamily="34" charset="0"/>
                <a:cs typeface="Amiri" pitchFamily="2" charset="-78"/>
              </a:rPr>
              <a:t> = for forty</a:t>
            </a:r>
            <a:endParaRPr lang="en-US" sz="1100" dirty="0"/>
          </a:p>
        </p:txBody>
      </p:sp>
      <p:sp>
        <p:nvSpPr>
          <p:cNvPr id="45" name="Shape 42"/>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46" name="Text 43"/>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7" name="Shape 44"/>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48" name="Text 45"/>
          <p:cNvSpPr txBox="1"/>
          <p:nvPr/>
        </p:nvSpPr>
        <p:spPr>
          <a:xfrm>
            <a:off x="10378440" y="4315968"/>
            <a:ext cx="12801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50 dinars</a:t>
            </a:r>
            <a:endParaRPr lang="en-US" sz="1100" dirty="0"/>
          </a:p>
        </p:txBody>
      </p:sp>
      <p:sp>
        <p:nvSpPr>
          <p:cNvPr id="49" name="Text 46"/>
          <p:cNvSpPr txBox="1"/>
          <p:nvPr/>
        </p:nvSpPr>
        <p:spPr>
          <a:xfrm>
            <a:off x="7434072" y="4334256"/>
            <a:ext cx="274320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خَمْسُونَ</a:t>
            </a:r>
            <a:endParaRPr lang="ar-SA" sz="1800" dirty="0"/>
          </a:p>
        </p:txBody>
      </p:sp>
      <p:sp>
        <p:nvSpPr>
          <p:cNvPr id="50" name="Text 47"/>
          <p:cNvSpPr txBox="1"/>
          <p:nvPr/>
        </p:nvSpPr>
        <p:spPr>
          <a:xfrm>
            <a:off x="7388352" y="4692701"/>
            <a:ext cx="28346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kham-sūn</a:t>
            </a:r>
            <a:endParaRPr lang="en-US" sz="950" dirty="0"/>
          </a:p>
        </p:txBody>
      </p:sp>
      <p:sp>
        <p:nvSpPr>
          <p:cNvPr id="51" name="Text 48"/>
          <p:cNvSpPr txBox="1"/>
          <p:nvPr/>
        </p:nvSpPr>
        <p:spPr>
          <a:xfrm>
            <a:off x="3867912" y="4334256"/>
            <a:ext cx="338328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خَمْسُونَ </a:t>
            </a:r>
            <a:pPr rtl="1" algn="ctr" indent="0" marL="0">
              <a:buNone/>
            </a:pPr>
            <a:r>
              <a:rPr lang="ar-SA" altLang="en-US" sz="1800" b="1" dirty="0">
                <a:solidFill>
                  <a:srgbClr val="D6336C"/>
                </a:solidFill>
                <a:latin typeface="Amiri" pitchFamily="2" charset="-78"/>
                <a:ea typeface="Amiri" pitchFamily="2" charset="-78"/>
                <a:cs typeface="Amiri" pitchFamily="2" charset="-78"/>
              </a:rPr>
              <a:t>دِينَارًا</a:t>
            </a:r>
            <a:endParaRPr lang="ar-SA" sz="1800" dirty="0"/>
          </a:p>
        </p:txBody>
      </p:sp>
      <p:sp>
        <p:nvSpPr>
          <p:cNvPr id="52" name="Text 49"/>
          <p:cNvSpPr txBox="1"/>
          <p:nvPr/>
        </p:nvSpPr>
        <p:spPr>
          <a:xfrm>
            <a:off x="3822192" y="4692701"/>
            <a:ext cx="347472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kham-sū-na dī-nā-ran</a:t>
            </a:r>
            <a:endParaRPr lang="en-US" sz="950" dirty="0"/>
          </a:p>
        </p:txBody>
      </p:sp>
      <p:sp>
        <p:nvSpPr>
          <p:cNvPr id="53" name="Text 50"/>
          <p:cNvSpPr txBox="1"/>
          <p:nvPr/>
        </p:nvSpPr>
        <p:spPr>
          <a:xfrm>
            <a:off x="566928" y="4315968"/>
            <a:ext cx="31363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listening: </a:t>
            </a:r>
            <a:pPr algn="l" indent="0" marL="0">
              <a:buNone/>
            </a:pPr>
            <a:r>
              <a:rPr lang="ar-SA" altLang="en-US" sz="1450" dirty="0">
                <a:solidFill>
                  <a:srgbClr val="5A6472"/>
                </a:solidFill>
                <a:latin typeface="Amiri" pitchFamily="2" charset="-78"/>
                <a:ea typeface="Amiri" pitchFamily="2" charset="-78"/>
                <a:cs typeface="Amiri" pitchFamily="2" charset="-78"/>
              </a:rPr>
              <a:t>ثَمَنُهَا خَمْسُونَ</a:t>
            </a:r>
            <a:endParaRPr lang="en-US" sz="1100" dirty="0"/>
          </a:p>
        </p:txBody>
      </p:sp>
      <p:sp>
        <p:nvSpPr>
          <p:cNvPr id="54" name="Shape 51"/>
          <p:cNvSpPr/>
          <p:nvPr/>
        </p:nvSpPr>
        <p:spPr>
          <a:xfrm>
            <a:off x="11091672" y="4361688"/>
            <a:ext cx="548640" cy="182880"/>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11091672" y="436168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6" name="Shape 53"/>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57" name="Text 54"/>
          <p:cNvSpPr txBox="1"/>
          <p:nvPr/>
        </p:nvSpPr>
        <p:spPr>
          <a:xfrm>
            <a:off x="10378440" y="4998720"/>
            <a:ext cx="12801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60 dinars</a:t>
            </a:r>
            <a:endParaRPr lang="en-US" sz="1100" dirty="0"/>
          </a:p>
        </p:txBody>
      </p:sp>
      <p:sp>
        <p:nvSpPr>
          <p:cNvPr id="58" name="Text 55"/>
          <p:cNvSpPr txBox="1"/>
          <p:nvPr/>
        </p:nvSpPr>
        <p:spPr>
          <a:xfrm>
            <a:off x="7434072" y="5017008"/>
            <a:ext cx="274320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سِتُّونَ</a:t>
            </a:r>
            <a:endParaRPr lang="ar-SA" sz="1800" dirty="0"/>
          </a:p>
        </p:txBody>
      </p:sp>
      <p:sp>
        <p:nvSpPr>
          <p:cNvPr id="59" name="Text 56"/>
          <p:cNvSpPr txBox="1"/>
          <p:nvPr/>
        </p:nvSpPr>
        <p:spPr>
          <a:xfrm>
            <a:off x="7388352" y="5375453"/>
            <a:ext cx="28346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sit-tūn</a:t>
            </a:r>
            <a:endParaRPr lang="en-US" sz="950" dirty="0"/>
          </a:p>
        </p:txBody>
      </p:sp>
      <p:sp>
        <p:nvSpPr>
          <p:cNvPr id="60" name="Text 57"/>
          <p:cNvSpPr txBox="1"/>
          <p:nvPr/>
        </p:nvSpPr>
        <p:spPr>
          <a:xfrm>
            <a:off x="3867912" y="5017008"/>
            <a:ext cx="338328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بِسِتِّينَ </a:t>
            </a:r>
            <a:pPr rtl="1" algn="ctr" indent="0" marL="0">
              <a:buNone/>
            </a:pPr>
            <a:r>
              <a:rPr lang="ar-SA" altLang="en-US" sz="1800" b="1" dirty="0">
                <a:solidFill>
                  <a:srgbClr val="D6336C"/>
                </a:solidFill>
                <a:latin typeface="Amiri" pitchFamily="2" charset="-78"/>
                <a:ea typeface="Amiri" pitchFamily="2" charset="-78"/>
                <a:cs typeface="Amiri" pitchFamily="2" charset="-78"/>
              </a:rPr>
              <a:t>دِينَارًا</a:t>
            </a:r>
            <a:endParaRPr lang="ar-SA" sz="1800" dirty="0"/>
          </a:p>
        </p:txBody>
      </p:sp>
      <p:sp>
        <p:nvSpPr>
          <p:cNvPr id="61" name="Text 58"/>
          <p:cNvSpPr txBox="1"/>
          <p:nvPr/>
        </p:nvSpPr>
        <p:spPr>
          <a:xfrm>
            <a:off x="3822192" y="5375453"/>
            <a:ext cx="347472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bi-sit-tī-na dī-nā-ran</a:t>
            </a:r>
            <a:endParaRPr lang="en-US" sz="950" dirty="0"/>
          </a:p>
        </p:txBody>
      </p:sp>
      <p:sp>
        <p:nvSpPr>
          <p:cNvPr id="62" name="Text 59"/>
          <p:cNvSpPr txBox="1"/>
          <p:nvPr/>
        </p:nvSpPr>
        <p:spPr>
          <a:xfrm>
            <a:off x="566928" y="4998720"/>
            <a:ext cx="31363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a:t>
            </a:r>
            <a:pPr algn="l" indent="0" marL="0">
              <a:buNone/>
            </a:pPr>
            <a:r>
              <a:rPr lang="ar-SA" altLang="en-US" sz="1450" dirty="0">
                <a:solidFill>
                  <a:srgbClr val="5A6472"/>
                </a:solidFill>
                <a:latin typeface="Amiri" pitchFamily="2" charset="-78"/>
                <a:ea typeface="Amiri" pitchFamily="2" charset="-78"/>
                <a:cs typeface="Amiri" pitchFamily="2" charset="-78"/>
              </a:rPr>
              <a:t>بِـ</a:t>
            </a:r>
            <a:pPr algn="l" indent="0" marL="0">
              <a:buNone/>
            </a:pPr>
            <a:r>
              <a:rPr lang="en-US" sz="1100" dirty="0">
                <a:solidFill>
                  <a:srgbClr val="5A6472"/>
                </a:solidFill>
                <a:latin typeface="Calibri" pitchFamily="34" charset="0"/>
                <a:cs typeface="Amiri" pitchFamily="2" charset="-78"/>
              </a:rPr>
              <a:t>: -ūn → -īn (advert)</a:t>
            </a:r>
            <a:endParaRPr lang="en-US" sz="1100" dirty="0"/>
          </a:p>
        </p:txBody>
      </p:sp>
      <p:sp>
        <p:nvSpPr>
          <p:cNvPr id="63" name="Shape 60"/>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64" name="Text 61"/>
          <p:cNvSpPr txBox="1"/>
          <p:nvPr/>
        </p:nvSpPr>
        <p:spPr>
          <a:xfrm>
            <a:off x="10378440" y="5681472"/>
            <a:ext cx="128016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£24.50</a:t>
            </a:r>
            <a:endParaRPr lang="en-US" sz="1100" dirty="0"/>
          </a:p>
        </p:txBody>
      </p:sp>
      <p:sp>
        <p:nvSpPr>
          <p:cNvPr id="65" name="Text 62"/>
          <p:cNvSpPr txBox="1"/>
          <p:nvPr/>
        </p:nvSpPr>
        <p:spPr>
          <a:xfrm>
            <a:off x="7434072" y="5699760"/>
            <a:ext cx="274320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أَرْبَعَةٌ وَعِشْرُونَ</a:t>
            </a:r>
            <a:endParaRPr lang="ar-SA" sz="1800" dirty="0"/>
          </a:p>
        </p:txBody>
      </p:sp>
      <p:sp>
        <p:nvSpPr>
          <p:cNvPr id="66" name="Text 63"/>
          <p:cNvSpPr txBox="1"/>
          <p:nvPr/>
        </p:nvSpPr>
        <p:spPr>
          <a:xfrm>
            <a:off x="7388352" y="6058205"/>
            <a:ext cx="283464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four and twenty</a:t>
            </a:r>
            <a:endParaRPr lang="en-US" sz="950" dirty="0"/>
          </a:p>
        </p:txBody>
      </p:sp>
      <p:sp>
        <p:nvSpPr>
          <p:cNvPr id="67" name="Text 64"/>
          <p:cNvSpPr txBox="1"/>
          <p:nvPr/>
        </p:nvSpPr>
        <p:spPr>
          <a:xfrm>
            <a:off x="3867912" y="5699760"/>
            <a:ext cx="3383280" cy="389291"/>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جُنَيْهًا وَخَمْسُونَ بِنْسًا</a:t>
            </a:r>
            <a:endParaRPr lang="ar-SA" sz="1800" dirty="0"/>
          </a:p>
        </p:txBody>
      </p:sp>
      <p:sp>
        <p:nvSpPr>
          <p:cNvPr id="68" name="Text 65"/>
          <p:cNvSpPr txBox="1"/>
          <p:nvPr/>
        </p:nvSpPr>
        <p:spPr>
          <a:xfrm>
            <a:off x="3822192" y="6058205"/>
            <a:ext cx="3474720" cy="238597"/>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ju-nay-han wa kham-sū-na bin-san</a:t>
            </a:r>
            <a:endParaRPr lang="en-US" sz="950" dirty="0"/>
          </a:p>
        </p:txBody>
      </p:sp>
      <p:sp>
        <p:nvSpPr>
          <p:cNvPr id="69" name="Text 66"/>
          <p:cNvSpPr txBox="1"/>
          <p:nvPr/>
        </p:nvSpPr>
        <p:spPr>
          <a:xfrm>
            <a:off x="566928" y="5681472"/>
            <a:ext cx="313639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units first: “four and twenty” (TC-L07 game)</a:t>
            </a:r>
            <a:endParaRPr lang="en-US" sz="110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3 · COMPARE AND DECIDE ·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Cheaper, dearer, better value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المُقَارَنَةُ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23444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234440" cy="274320"/>
          </a:xfrm>
          <a:prstGeom prst="rect">
            <a:avLst/>
          </a:prstGeom>
          <a:noFill/>
          <a:ln/>
        </p:spPr>
        <p:txBody>
          <a:bodyPr wrap="square" lIns="0" tIns="0" rIns="0" bIns="0" rtlCol="0" anchor="ctr"/>
          <a:lstStyle/>
          <a:p>
            <a:pPr algn="ctr" indent="0" marL="0">
              <a:buNone/>
            </a:pPr>
            <a:r>
              <a:rPr lang="ar-SA" sz="850" b="1" spc="100" kern="0" dirty="0">
                <a:solidFill>
                  <a:srgbClr val="FFFFFF"/>
                </a:solidFill>
                <a:latin typeface="Calibri" pitchFamily="34" charset="0"/>
                <a:ea typeface="Amiri" pitchFamily="2" charset="-78"/>
                <a:cs typeface="Amiri" pitchFamily="2" charset="-78"/>
              </a:rPr>
              <a:t>CHEAPER · مِنْ</a:t>
            </a:r>
            <a:endParaRPr lang="en-US" sz="850" dirty="0"/>
          </a:p>
        </p:txBody>
      </p:sp>
      <p:sp>
        <p:nvSpPr>
          <p:cNvPr id="18" name="Text 15"/>
          <p:cNvSpPr txBox="1"/>
          <p:nvPr/>
        </p:nvSpPr>
        <p:spPr>
          <a:xfrm>
            <a:off x="9512808"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أَرْخَصُ مِنْ</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2" charset="-78"/>
                <a:ea typeface="Amiri" pitchFamily="2" charset="-78"/>
                <a:cs typeface="Amiri" pitchFamily="2" charset="-78"/>
              </a:rPr>
              <a:t>الحَافِلَةُ أَرْخَصُ مِنَ التَّاكْسِي</a:t>
            </a:r>
            <a:endParaRPr lang="ar-SA" sz="28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bus is cheaper than the taxi.</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2" charset="-78"/>
                <a:ea typeface="Amiri" pitchFamily="2" charset="-78"/>
                <a:cs typeface="Amiri" pitchFamily="2" charset="-78"/>
              </a:rPr>
              <a:t>أَرْخَصُ</a:t>
            </a:r>
            <a:pPr algn="l" indent="0" marL="0">
              <a:buNone/>
            </a:pPr>
            <a:r>
              <a:rPr lang="en-US" sz="1100" dirty="0">
                <a:solidFill>
                  <a:srgbClr val="1F2A37"/>
                </a:solidFill>
                <a:latin typeface="Calibri" pitchFamily="34" charset="0"/>
                <a:cs typeface="Amiri" pitchFamily="2" charset="-78"/>
              </a:rPr>
              <a:t> never changes: no </a:t>
            </a:r>
            <a:pPr algn="l" indent="0" marL="0">
              <a:buNone/>
            </a:pPr>
            <a:r>
              <a:rPr lang="ar-SA" altLang="en-US" sz="1450" dirty="0">
                <a:solidFill>
                  <a:srgbClr val="1F2A37"/>
                </a:solidFill>
                <a:latin typeface="Amiri" pitchFamily="2" charset="-78"/>
                <a:ea typeface="Amiri" pitchFamily="2" charset="-78"/>
                <a:cs typeface="Amiri" pitchFamily="2" charset="-78"/>
              </a:rPr>
              <a:t>ـة</a:t>
            </a:r>
            <a:pPr algn="l" indent="0" marL="0">
              <a:buNone/>
            </a:pPr>
            <a:r>
              <a:rPr lang="en-US" sz="1100" dirty="0">
                <a:solidFill>
                  <a:srgbClr val="1F2A37"/>
                </a:solidFill>
                <a:latin typeface="Calibri" pitchFamily="34" charset="0"/>
                <a:cs typeface="Amiri" pitchFamily="2" charset="-78"/>
              </a:rPr>
              <a:t> for a feminine noun (website rule).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165860" cy="274320"/>
          </a:xfrm>
          <a:prstGeom prst="roundRect">
            <a:avLst>
              <a:gd name="adj" fmla="val 50000"/>
            </a:avLst>
          </a:prstGeom>
          <a:solidFill>
            <a:srgbClr val="B83227"/>
          </a:solidFill>
          <a:ln w="12700">
            <a:solidFill>
              <a:srgbClr val="B83227"/>
            </a:solidFill>
            <a:prstDash val="solid"/>
          </a:ln>
        </p:spPr>
      </p:sp>
      <p:sp>
        <p:nvSpPr>
          <p:cNvPr id="25" name="Text 22"/>
          <p:cNvSpPr txBox="1"/>
          <p:nvPr/>
        </p:nvSpPr>
        <p:spPr>
          <a:xfrm>
            <a:off x="4413504" y="1920240"/>
            <a:ext cx="1165860" cy="274320"/>
          </a:xfrm>
          <a:prstGeom prst="rect">
            <a:avLst/>
          </a:prstGeom>
          <a:noFill/>
          <a:ln/>
        </p:spPr>
        <p:txBody>
          <a:bodyPr wrap="square" lIns="0" tIns="0" rIns="0" bIns="0" rtlCol="0" anchor="ctr"/>
          <a:lstStyle/>
          <a:p>
            <a:pPr algn="ctr" indent="0" marL="0">
              <a:buNone/>
            </a:pPr>
            <a:r>
              <a:rPr lang="ar-SA" sz="850" b="1" spc="100" kern="0" dirty="0">
                <a:solidFill>
                  <a:srgbClr val="FFFFFF"/>
                </a:solidFill>
                <a:latin typeface="Calibri" pitchFamily="34" charset="0"/>
                <a:ea typeface="Amiri" pitchFamily="2" charset="-78"/>
                <a:cs typeface="Amiri" pitchFamily="2" charset="-78"/>
              </a:rPr>
              <a:t>DEARER · مِنْ</a:t>
            </a:r>
            <a:endParaRPr lang="en-US" sz="850" dirty="0"/>
          </a:p>
        </p:txBody>
      </p:sp>
      <p:sp>
        <p:nvSpPr>
          <p:cNvPr id="26" name="Text 23"/>
          <p:cNvSpPr txBox="1"/>
          <p:nvPr/>
        </p:nvSpPr>
        <p:spPr>
          <a:xfrm>
            <a:off x="5625084"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أَغْلَى مِنْ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الهَاتِفُ أَغْلَى مِنَ الكِتَابِ</a:t>
            </a:r>
            <a:endParaRPr lang="ar-SA" sz="31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phone is more expensive than the book.</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2" charset="-78"/>
                <a:ea typeface="Amiri" pitchFamily="2" charset="-78"/>
                <a:cs typeface="Amiri" pitchFamily="2" charset="-78"/>
              </a:rPr>
              <a:t>غَالٍ</a:t>
            </a:r>
            <a:pPr algn="l" indent="0" marL="0">
              <a:buNone/>
            </a:pPr>
            <a:r>
              <a:rPr lang="en-US" sz="1100" dirty="0">
                <a:solidFill>
                  <a:srgbClr val="1F2A37"/>
                </a:solidFill>
                <a:latin typeface="Calibri" pitchFamily="34" charset="0"/>
                <a:cs typeface="Amiri" pitchFamily="2" charset="-78"/>
              </a:rPr>
              <a:t> → </a:t>
            </a:r>
            <a:pPr algn="l" indent="0" marL="0">
              <a:buNone/>
            </a:pPr>
            <a:r>
              <a:rPr lang="ar-SA" altLang="en-US" sz="1450" dirty="0">
                <a:solidFill>
                  <a:srgbClr val="1F2A37"/>
                </a:solidFill>
                <a:latin typeface="Amiri" pitchFamily="2" charset="-78"/>
                <a:ea typeface="Amiri" pitchFamily="2" charset="-78"/>
                <a:cs typeface="Amiri" pitchFamily="2" charset="-78"/>
              </a:rPr>
              <a:t>أَغْلَى</a:t>
            </a:r>
            <a:pPr algn="l" indent="0" marL="0">
              <a:buNone/>
            </a:pPr>
            <a:r>
              <a:rPr lang="en-US" sz="1100" dirty="0">
                <a:solidFill>
                  <a:srgbClr val="1F2A37"/>
                </a:solidFill>
                <a:latin typeface="Calibri" pitchFamily="34" charset="0"/>
                <a:cs typeface="Amiri" pitchFamily="2" charset="-78"/>
              </a:rPr>
              <a:t> (irregular, like TC-L08’s </a:t>
            </a:r>
            <a:pPr algn="l" indent="0" marL="0">
              <a:buNone/>
            </a:pPr>
            <a:r>
              <a:rPr lang="ar-SA" altLang="en-US" sz="1450" dirty="0">
                <a:solidFill>
                  <a:srgbClr val="1F2A37"/>
                </a:solidFill>
                <a:latin typeface="Amiri" pitchFamily="2" charset="-78"/>
                <a:ea typeface="Amiri" pitchFamily="2" charset="-78"/>
                <a:cs typeface="Amiri" pitchFamily="2" charset="-78"/>
              </a:rPr>
              <a:t>أَفْضَلُ</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097280" cy="274320"/>
          </a:xfrm>
          <a:prstGeom prst="roundRect">
            <a:avLst>
              <a:gd name="adj" fmla="val 50000"/>
            </a:avLst>
          </a:prstGeom>
          <a:solidFill>
            <a:srgbClr val="7B3FA0"/>
          </a:solidFill>
          <a:ln w="12700">
            <a:solidFill>
              <a:srgbClr val="7B3FA0"/>
            </a:solidFill>
            <a:prstDash val="solid"/>
          </a:ln>
        </p:spPr>
      </p:sp>
      <p:sp>
        <p:nvSpPr>
          <p:cNvPr id="33" name="Text 30"/>
          <p:cNvSpPr txBox="1"/>
          <p:nvPr/>
        </p:nvSpPr>
        <p:spPr>
          <a:xfrm>
            <a:off x="594360" y="1920240"/>
            <a:ext cx="10972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BETTER VALUE</a:t>
            </a:r>
            <a:endParaRPr lang="en-US" sz="850" dirty="0"/>
          </a:p>
        </p:txBody>
      </p:sp>
      <p:sp>
        <p:nvSpPr>
          <p:cNvPr id="34" name="Text 31"/>
          <p:cNvSpPr txBox="1"/>
          <p:nvPr/>
        </p:nvSpPr>
        <p:spPr>
          <a:xfrm>
            <a:off x="1737360" y="1874520"/>
            <a:ext cx="221894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أَفْضَلُ قِيمَةً</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750" b="1" dirty="0">
                <a:solidFill>
                  <a:srgbClr val="1B3B6F"/>
                </a:solidFill>
                <a:latin typeface="Amiri" pitchFamily="2" charset="-78"/>
                <a:ea typeface="Amiri" pitchFamily="2" charset="-78"/>
                <a:cs typeface="Amiri" pitchFamily="2" charset="-78"/>
              </a:rPr>
              <a:t>العُبْوَةُ الكَبِيرَةُ أَفْضَلُ قِيمَةً</a:t>
            </a:r>
            <a:endParaRPr lang="ar-SA" sz="27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big pack is better value.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Website game “Best Buy”: compare price AND amount.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The website’s common mistakes: a feminine ending on the comparative, and the wrong “it” ending.</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الحَافِلَةُ أَرْخَصُ</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B83227"/>
                </a:solidFill>
                <a:latin typeface="Amiri" pitchFamily="2" charset="-78"/>
                <a:ea typeface="Amiri" pitchFamily="2" charset="-78"/>
                <a:cs typeface="Amiri" pitchFamily="2" charset="-78"/>
              </a:rPr>
              <a:t>الحَافِلَةُ أَرْخَصَةٌ</a:t>
            </a:r>
            <a:endParaRPr lang="ar-SA" sz="25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1B3B6F"/>
                </a:solidFill>
                <a:latin typeface="Amiri" pitchFamily="2" charset="-78"/>
                <a:ea typeface="Amiri" pitchFamily="2" charset="-78"/>
                <a:cs typeface="Amiri" pitchFamily="2" charset="-78"/>
              </a:rPr>
              <a:t>حَقِيبَةٌ … ثَمَنُهَا</a:t>
            </a:r>
            <a:endParaRPr lang="ar-SA" sz="2500" dirty="0"/>
          </a:p>
        </p:txBody>
      </p:sp>
      <p:sp>
        <p:nvSpPr>
          <p:cNvPr id="47" name="Text 44"/>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8" name="Text 45"/>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حَقِيبَةٌ … ثَمَنُهُ</a:t>
            </a:r>
            <a:endParaRPr lang="ar-SA" sz="2600" dirty="0"/>
          </a:p>
        </p:txBody>
      </p:sp>
      <p:sp>
        <p:nvSpPr>
          <p:cNvPr id="49" name="Shape 46"/>
          <p:cNvSpPr/>
          <p:nvPr/>
        </p:nvSpPr>
        <p:spPr>
          <a:xfrm>
            <a:off x="4434840" y="5669280"/>
            <a:ext cx="1371600" cy="0"/>
          </a:xfrm>
          <a:prstGeom prst="line">
            <a:avLst/>
          </a:prstGeom>
          <a:noFill/>
          <a:ln w="25400">
            <a:solidFill>
              <a:srgbClr val="B83227"/>
            </a:solidFill>
            <a:prstDash val="solid"/>
          </a:ln>
        </p:spPr>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4 · POLITE TRANSACTION AND PROBLEMS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Buying, paying and fixing a problem</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الشِّرَاءُ وَحَلُّ المَشَاكِلِ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8095488"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645920" cy="274320"/>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8232648"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 · I WANT TO BUY</a:t>
            </a:r>
            <a:endParaRPr lang="en-US" sz="850" dirty="0"/>
          </a:p>
        </p:txBody>
      </p:sp>
      <p:sp>
        <p:nvSpPr>
          <p:cNvPr id="18" name="Text 15"/>
          <p:cNvSpPr txBox="1"/>
          <p:nvPr/>
        </p:nvSpPr>
        <p:spPr>
          <a:xfrm>
            <a:off x="9924288"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أُرِيدُ أَنْ أَشْتَرِيَ</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2" charset="-78"/>
                <a:ea typeface="Amiri" pitchFamily="2" charset="-78"/>
                <a:cs typeface="Amiri" pitchFamily="2" charset="-78"/>
              </a:rPr>
              <a:t>أُرِيدُ أَنْ أَشْتَرِيَ هَدِيَّةً، مِنْ فَضْلِكَ</a:t>
            </a:r>
            <a:endParaRPr lang="ar-SA" sz="24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want to buy a gift, please.</a:t>
            </a:r>
            <a:endParaRPr lang="en-US" sz="1200" dirty="0"/>
          </a:p>
        </p:txBody>
      </p:sp>
      <p:sp>
        <p:nvSpPr>
          <p:cNvPr id="21" name="Shape 18"/>
          <p:cNvSpPr/>
          <p:nvPr/>
        </p:nvSpPr>
        <p:spPr>
          <a:xfrm>
            <a:off x="8205216" y="5212080"/>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5248656"/>
            <a:ext cx="3233928" cy="731520"/>
          </a:xfrm>
          <a:prstGeom prst="rect">
            <a:avLst/>
          </a:prstGeom>
          <a:noFill/>
          <a:ln/>
        </p:spPr>
        <p:txBody>
          <a:bodyPr wrap="square" lIns="0" tIns="0" rIns="0" bIns="0" rtlCol="0" anchor="ctr"/>
          <a:lstStyle/>
          <a:p>
            <a:pPr algn="l" indent="0" marL="0">
              <a:buNone/>
            </a:pPr>
            <a:r>
              <a:rPr lang="ar-SA" altLang="en-US" sz="1450" dirty="0">
                <a:solidFill>
                  <a:srgbClr val="1F2A37"/>
                </a:solidFill>
                <a:latin typeface="Amiri" pitchFamily="2" charset="-78"/>
                <a:ea typeface="Amiri" pitchFamily="2" charset="-78"/>
                <a:cs typeface="Amiri" pitchFamily="2" charset="-78"/>
              </a:rPr>
              <a:t>أَنْ</a:t>
            </a:r>
            <a:pPr algn="l" indent="0" marL="0">
              <a:buNone/>
            </a:pPr>
            <a:r>
              <a:rPr lang="en-US" sz="1100" dirty="0">
                <a:solidFill>
                  <a:srgbClr val="1F2A37"/>
                </a:solidFill>
                <a:latin typeface="Calibri" pitchFamily="34" charset="0"/>
                <a:cs typeface="Amiri" pitchFamily="2" charset="-78"/>
              </a:rPr>
              <a:t> + an I-verb ending in -a: </a:t>
            </a:r>
            <a:pPr algn="l" indent="0" marL="0">
              <a:buNone/>
            </a:pPr>
            <a:r>
              <a:rPr lang="ar-SA" altLang="en-US" sz="1450" dirty="0">
                <a:solidFill>
                  <a:srgbClr val="1F2A37"/>
                </a:solidFill>
                <a:latin typeface="Amiri" pitchFamily="2" charset="-78"/>
                <a:ea typeface="Amiri" pitchFamily="2" charset="-78"/>
                <a:cs typeface="Amiri" pitchFamily="2" charset="-78"/>
              </a:rPr>
              <a:t>أَشْتَرِيَ</a:t>
            </a:r>
            <a:pPr algn="l" indent="0" marL="0">
              <a:buNone/>
            </a:pPr>
            <a:r>
              <a:rPr lang="en-US" sz="1100" dirty="0">
                <a:solidFill>
                  <a:srgbClr val="1F2A37"/>
                </a:solidFill>
                <a:latin typeface="Calibri" pitchFamily="34" charset="0"/>
                <a:cs typeface="Amiri" pitchFamily="2" charset="-78"/>
              </a:rPr>
              <a:t> (website rule).</a:t>
            </a:r>
            <a:endParaRPr lang="en-US" sz="1100" dirty="0"/>
          </a:p>
        </p:txBody>
      </p:sp>
      <p:sp>
        <p:nvSpPr>
          <p:cNvPr id="23" name="Shape 20"/>
          <p:cNvSpPr/>
          <p:nvPr/>
        </p:nvSpPr>
        <p:spPr>
          <a:xfrm>
            <a:off x="4276344"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08760" cy="274320"/>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13504"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 · CAN I …?</a:t>
            </a:r>
            <a:endParaRPr lang="en-US" sz="850" dirty="0"/>
          </a:p>
        </p:txBody>
      </p:sp>
      <p:sp>
        <p:nvSpPr>
          <p:cNvPr id="26" name="Text 23"/>
          <p:cNvSpPr txBox="1"/>
          <p:nvPr/>
        </p:nvSpPr>
        <p:spPr>
          <a:xfrm>
            <a:off x="5967984"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هَلْ يُمْكِنُ أَنْ …؟</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هَلْ يُمْكِنُ أَنْ أَدْفَعَ بِالبِطَاقَةِ؟</a:t>
            </a:r>
            <a:endParaRPr lang="ar-SA" sz="26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Can I pay by card?</a:t>
            </a:r>
            <a:endParaRPr lang="en-US" sz="1200" dirty="0"/>
          </a:p>
        </p:txBody>
      </p:sp>
      <p:sp>
        <p:nvSpPr>
          <p:cNvPr id="29" name="Shape 26"/>
          <p:cNvSpPr/>
          <p:nvPr/>
        </p:nvSpPr>
        <p:spPr>
          <a:xfrm>
            <a:off x="4386072" y="5212080"/>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Also: </a:t>
            </a:r>
            <a:pPr algn="l" indent="0" marL="0">
              <a:buNone/>
            </a:pPr>
            <a:r>
              <a:rPr lang="ar-SA" altLang="en-US" sz="1450" dirty="0">
                <a:solidFill>
                  <a:srgbClr val="1F2A37"/>
                </a:solidFill>
                <a:latin typeface="Amiri" pitchFamily="2" charset="-78"/>
                <a:ea typeface="Amiri" pitchFamily="2" charset="-78"/>
                <a:cs typeface="Amiri" pitchFamily="2" charset="-78"/>
              </a:rPr>
              <a:t>هَلْ عِنْدَكُمْ …؟</a:t>
            </a:r>
            <a:pPr algn="l" indent="0" marL="0">
              <a:buNone/>
            </a:pPr>
            <a:r>
              <a:rPr lang="en-US" sz="1100" dirty="0">
                <a:solidFill>
                  <a:srgbClr val="1F2A37"/>
                </a:solidFill>
                <a:latin typeface="Calibri" pitchFamily="34" charset="0"/>
                <a:cs typeface="Amiri" pitchFamily="2" charset="-78"/>
              </a:rPr>
              <a:t> (Do you have …?) · </a:t>
            </a:r>
            <a:pPr algn="l" indent="0" marL="0">
              <a:buNone/>
            </a:pPr>
            <a:r>
              <a:rPr lang="ar-SA" altLang="en-US" sz="1450" dirty="0">
                <a:solidFill>
                  <a:srgbClr val="1F2A37"/>
                </a:solidFill>
                <a:latin typeface="Amiri" pitchFamily="2" charset="-78"/>
                <a:ea typeface="Amiri" pitchFamily="2" charset="-78"/>
                <a:cs typeface="Amiri" pitchFamily="2" charset="-78"/>
              </a:rPr>
              <a:t>هَلْ هُنَاكَ خَصْمٌ؟</a:t>
            </a:r>
            <a:endParaRPr lang="en-US" sz="1100" dirty="0"/>
          </a:p>
        </p:txBody>
      </p:sp>
      <p:sp>
        <p:nvSpPr>
          <p:cNvPr id="31" name="Shape 28"/>
          <p:cNvSpPr/>
          <p:nvPr/>
        </p:nvSpPr>
        <p:spPr>
          <a:xfrm>
            <a:off x="457200" y="1810512"/>
            <a:ext cx="3636264" cy="4315968"/>
          </a:xfrm>
          <a:prstGeom prst="roundRect">
            <a:avLst>
              <a:gd name="adj" fmla="val 201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 · A PROBLEM</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أُرِيدُ أَنْ أُبَدِّلَ</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ea typeface="Amiri" pitchFamily="2" charset="-78"/>
                <a:cs typeface="Amiri" pitchFamily="2" charset="-78"/>
              </a:rPr>
              <a:t>الهَاتِفُ لَا يَعْمَلُ، أُرِيدُ أَنْ أُبَدِّلَهُ</a:t>
            </a:r>
            <a:endParaRPr lang="ar-SA" sz="22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phone doesn’t work; I want to exchange it.</a:t>
            </a:r>
            <a:endParaRPr lang="en-US" sz="1200" dirty="0"/>
          </a:p>
        </p:txBody>
      </p:sp>
      <p:sp>
        <p:nvSpPr>
          <p:cNvPr id="37" name="Shape 34"/>
          <p:cNvSpPr/>
          <p:nvPr/>
        </p:nvSpPr>
        <p:spPr>
          <a:xfrm>
            <a:off x="566928" y="5212080"/>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5248656"/>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Say the problem, then what you want: exchange (</a:t>
            </a:r>
            <a:pPr algn="l" indent="0" marL="0">
              <a:buNone/>
            </a:pPr>
            <a:r>
              <a:rPr lang="ar-SA" altLang="en-US" sz="1450" dirty="0">
                <a:solidFill>
                  <a:srgbClr val="1F2A37"/>
                </a:solidFill>
                <a:latin typeface="Amiri" pitchFamily="2" charset="-78"/>
                <a:ea typeface="Amiri" pitchFamily="2" charset="-78"/>
                <a:cs typeface="Amiri" pitchFamily="2" charset="-78"/>
              </a:rPr>
              <a:t>أُبَدِّلَ</a:t>
            </a:r>
            <a:pPr algn="l" indent="0" marL="0">
              <a:buNone/>
            </a:pPr>
            <a:r>
              <a:rPr lang="en-US" sz="1100" dirty="0">
                <a:solidFill>
                  <a:srgbClr val="1F2A37"/>
                </a:solidFill>
                <a:latin typeface="Calibri" pitchFamily="34" charset="0"/>
                <a:cs typeface="Amiri" pitchFamily="2" charset="-78"/>
              </a:rPr>
              <a:t>) or a refund (</a:t>
            </a:r>
            <a:pPr algn="l" indent="0" marL="0">
              <a:buNone/>
            </a:pPr>
            <a:r>
              <a:rPr lang="ar-SA" altLang="en-US" sz="1450" dirty="0">
                <a:solidFill>
                  <a:srgbClr val="1F2A37"/>
                </a:solidFill>
                <a:latin typeface="Amiri" pitchFamily="2" charset="-78"/>
                <a:ea typeface="Amiri" pitchFamily="2" charset="-78"/>
                <a:cs typeface="Amiri" pitchFamily="2" charset="-78"/>
              </a:rPr>
              <a:t>أَنْ تُرْجِعُوا المَالَ</a:t>
            </a:r>
            <a:pPr algn="l" indent="0" marL="0">
              <a:buNone/>
            </a:pPr>
            <a:r>
              <a:rPr lang="en-US" sz="1100" dirty="0">
                <a:solidFill>
                  <a:srgbClr val="1F2A37"/>
                </a:solidFill>
                <a:latin typeface="Calibri" pitchFamily="34" charset="0"/>
                <a:cs typeface="Amiri" pitchFamily="2" charset="-78"/>
              </a:rPr>
              <a:t>).</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5 · WEBSITE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Ask the price of a masculine item</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كَمْ ثَمَنُهُ؟</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هٰذَا كِتَابٌ. كَمْ ثَمَنُهُ؟   ·   كَمْ ثَمَنُ الهَاتِفِ؟</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Ask the price of a feminine item</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كَمْ ثَمَنُهَا؟</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هٰذِهِ حَقِيبَةٌ. كَمْ ثَمَنُهَا؟   ·   كَمْ ثَمَنُ التَّذْكِرَةِ؟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Compare two prices</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أَرْخَصُ مِنْ / أَغْلَى مِنْ</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الحَافِلَةُ أَرْخَصُ مِنْ سَيَّارَةِ الأُجْرَةِ.   ·   الهَاتِفُ أَغْلَى مِنَ الكِتَابِ.</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Make a polite purchase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أُرِيدُ أَنْ أَشْتَرِيَ + شَيْئًا</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أُرِيدُ أَنْ أَشْتَرِيَ هَدِيَّةً، مِنْ فَضْلِكَ.   ·   هَلْ يُمْكِنُ أَنْ أَدْفَعَ بِالبِطَاقَةِ؟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the price of a book.</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ثَمَنُهَا؟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أَيْنَ ثَمَنُهُ؟</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ثَمَنُهُ؟</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the price of a bag.</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ثَمَنُهَا؟</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ثَمَنُهُ؟</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مَتَى ثَمَنُهَا؟</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“cheaper than”?</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أَغْلَى مِنْ</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أَرْخَصُ مِنْ</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قَرِيبٌ مِنْ</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accurate?</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الحَافِلَةُ أَرْخَصُ مِنَ التَّاكْسِي.</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الحَافِلَةُ رَخِيصَةُ مِنَ التَّاكْسِي.</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الحَافِلَةُ أَرْخَصَةٌ مِنَ التَّاكْسِي.</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the price of a book.</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ثَمَنُهَا؟</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أَيْنَ ثَمَنُهُ؟</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كَمْ ثَمَنُهُ؟</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كِتَابٌ</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the price of a bag.</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كَمْ ثَمَنُهَا؟</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ثَمَنُهُ؟</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مَتَى ثَمَنُهَا؟</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حَقِيبَةٌ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“cheaper than”?</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أَغْلَى مِنْ</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أَرْخَصُ مِنْ</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قَرِيبٌ مِنْ</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أَرْخَصُ مِنْ</a:t>
            </a:r>
            <a:pPr algn="l" indent="0" marL="0">
              <a:buNone/>
            </a:pPr>
            <a:r>
              <a:rPr lang="en-US" sz="1050" i="1" dirty="0">
                <a:solidFill>
                  <a:srgbClr val="8A6D1E"/>
                </a:solidFill>
                <a:latin typeface="Calibri" pitchFamily="34" charset="0"/>
                <a:cs typeface="Amiri" pitchFamily="2" charset="-78"/>
              </a:rPr>
              <a:t> means cheaper than.</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is accurate?</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الحَافِلَةُ أَرْخَصُ مِنَ التَّاكْسِي.</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الحَافِلَةُ رَخِيصَةُ مِنَ التَّاكْسِي.</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الحَافِلَةُ أَرْخَصَةٌ مِنَ التَّاكْسِي.</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comparative form stays </a:t>
            </a:r>
            <a:pPr algn="l" indent="0" marL="0">
              <a:buNone/>
            </a:pPr>
            <a:r>
              <a:rPr lang="ar-SA" altLang="en-US" sz="1350" dirty="0">
                <a:solidFill>
                  <a:srgbClr val="8A6D1E"/>
                </a:solidFill>
                <a:latin typeface="Amiri" pitchFamily="2" charset="-78"/>
                <a:ea typeface="Amiri" pitchFamily="2" charset="-78"/>
                <a:cs typeface="Amiri" pitchFamily="2" charset="-78"/>
              </a:rPr>
              <a:t>أَرْخَصُ</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buy a bag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Is it available?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ea typeface="Amiri" pitchFamily="2" charset="-78"/>
                <a:cs typeface="Amiri" pitchFamily="2" charset="-78"/>
              </a:rPr>
              <a:t>هَلْ عِنْدَكُمْ حَقَائِبُ صَغِيرَةٌ؟</a:t>
            </a:r>
            <a:endParaRPr lang="ar-SA" sz="23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Website listening: “Do you have …?”</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This … how much?</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هٰذِهِ</a:t>
            </a:r>
            <a:pPr rtl="1" algn="ctr" indent="0" marL="0">
              <a:buNone/>
            </a:pPr>
            <a:r>
              <a:rPr lang="ar-SA" altLang="en-US" sz="2400" b="1" dirty="0">
                <a:solidFill>
                  <a:srgbClr val="1B3B6F"/>
                </a:solidFill>
                <a:latin typeface="Amiri" pitchFamily="2" charset="-78"/>
                <a:ea typeface="Amiri" pitchFamily="2" charset="-78"/>
                <a:cs typeface="Amiri" pitchFamily="2" charset="-78"/>
              </a:rPr>
              <a:t> حَقِيبَةٌ. كَمْ ثَمَنُ</a:t>
            </a:r>
            <a:pPr rtl="1" algn="ctr" indent="0" marL="0">
              <a:buNone/>
            </a:pPr>
            <a:r>
              <a:rPr lang="ar-SA" altLang="en-US" sz="2400" b="1" dirty="0">
                <a:solidFill>
                  <a:srgbClr val="D6336C"/>
                </a:solidFill>
                <a:latin typeface="Amiri" pitchFamily="2" charset="-78"/>
                <a:ea typeface="Amiri" pitchFamily="2" charset="-78"/>
                <a:cs typeface="Amiri" pitchFamily="2" charset="-78"/>
              </a:rPr>
              <a:t>هَا</a:t>
            </a:r>
            <a:pPr rtl="1" algn="ctr" indent="0" marL="0">
              <a:buNone/>
            </a:pPr>
            <a:r>
              <a:rPr lang="ar-SA" altLang="en-US" sz="2400" b="1" dirty="0">
                <a:solidFill>
                  <a:srgbClr val="1B3B6F"/>
                </a:solidFill>
                <a:latin typeface="Amiri" pitchFamily="2" charset="-78"/>
                <a:ea typeface="Amiri" pitchFamily="2" charset="-78"/>
                <a:cs typeface="Amiri" pitchFamily="2" charset="-78"/>
              </a:rPr>
              <a:t>؟</a:t>
            </a:r>
            <a:endParaRPr lang="ar-SA" sz="24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حَقِيبَةٌ</a:t>
            </a:r>
            <a:pPr algn="l" indent="0" marL="0">
              <a:buNone/>
            </a:pPr>
            <a:r>
              <a:rPr lang="en-US" sz="1150" dirty="0">
                <a:solidFill>
                  <a:srgbClr val="1F2A37"/>
                </a:solidFill>
                <a:latin typeface="Calibri" pitchFamily="34" charset="0"/>
                <a:cs typeface="Amiri" pitchFamily="2" charset="-78"/>
              </a:rPr>
              <a:t> has </a:t>
            </a:r>
            <a:pPr algn="l" indent="0" marL="0">
              <a:buNone/>
            </a:pPr>
            <a:r>
              <a:rPr lang="ar-SA" altLang="en-US" sz="1500" dirty="0">
                <a:solidFill>
                  <a:srgbClr val="1F2A37"/>
                </a:solidFill>
                <a:latin typeface="Amiri" pitchFamily="2" charset="-78"/>
                <a:ea typeface="Amiri" pitchFamily="2" charset="-78"/>
                <a:cs typeface="Amiri" pitchFamily="2" charset="-78"/>
              </a:rPr>
              <a:t>ـة</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هٰذِهِ … ـهَا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Compare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السَّوْدَاءُ </a:t>
            </a:r>
            <a:pPr rtl="1" algn="ctr" indent="0" marL="0">
              <a:buNone/>
            </a:pPr>
            <a:r>
              <a:rPr lang="ar-SA" altLang="en-US" sz="2100" b="1" dirty="0">
                <a:solidFill>
                  <a:srgbClr val="C77700"/>
                </a:solidFill>
                <a:latin typeface="Amiri" pitchFamily="2" charset="-78"/>
                <a:ea typeface="Amiri" pitchFamily="2" charset="-78"/>
                <a:cs typeface="Amiri" pitchFamily="2" charset="-78"/>
              </a:rPr>
              <a:t>أَ</a:t>
            </a:r>
            <a:pPr rtl="1" algn="ctr" indent="0" marL="0">
              <a:buNone/>
            </a:pPr>
            <a:r>
              <a:rPr lang="ar-SA" altLang="en-US" sz="2100" b="1" dirty="0">
                <a:solidFill>
                  <a:srgbClr val="1B3B6F"/>
                </a:solidFill>
                <a:latin typeface="Amiri" pitchFamily="2" charset="-78"/>
                <a:ea typeface="Amiri" pitchFamily="2" charset="-78"/>
                <a:cs typeface="Amiri" pitchFamily="2" charset="-78"/>
              </a:rPr>
              <a:t>رْخَصُ </a:t>
            </a:r>
            <a:pPr rtl="1" algn="ctr" indent="0" marL="0">
              <a:buNone/>
            </a:pPr>
            <a:r>
              <a:rPr lang="ar-SA" altLang="en-US" sz="2100" b="1" dirty="0">
                <a:solidFill>
                  <a:srgbClr val="0E7C86"/>
                </a:solidFill>
                <a:latin typeface="Amiri" pitchFamily="2" charset="-78"/>
                <a:ea typeface="Amiri" pitchFamily="2" charset="-78"/>
                <a:cs typeface="Amiri" pitchFamily="2" charset="-78"/>
              </a:rPr>
              <a:t>مِنَ</a:t>
            </a:r>
            <a:pPr rtl="1" algn="ctr" indent="0" marL="0">
              <a:buNone/>
            </a:pPr>
            <a:r>
              <a:rPr lang="ar-SA" altLang="en-US" sz="2100" b="1" dirty="0">
                <a:solidFill>
                  <a:srgbClr val="1B3B6F"/>
                </a:solidFill>
                <a:latin typeface="Amiri" pitchFamily="2" charset="-78"/>
                <a:ea typeface="Amiri" pitchFamily="2" charset="-78"/>
                <a:cs typeface="Amiri" pitchFamily="2" charset="-78"/>
              </a:rPr>
              <a:t> الزَّرْقَاءِ</a:t>
            </a:r>
            <a:endParaRPr lang="ar-SA" sz="21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أَرْخَصُ مِنْ</a:t>
            </a:r>
            <a:pPr algn="l" indent="0" marL="0">
              <a:buNone/>
            </a:pPr>
            <a:r>
              <a:rPr lang="en-US" sz="1150" dirty="0">
                <a:solidFill>
                  <a:srgbClr val="1F2A37"/>
                </a:solidFill>
                <a:latin typeface="Calibri" pitchFamily="34" charset="0"/>
                <a:cs typeface="Amiri" pitchFamily="2" charset="-78"/>
              </a:rPr>
              <a:t> — no </a:t>
            </a:r>
            <a:pPr algn="l" indent="0" marL="0">
              <a:buNone/>
            </a:pPr>
            <a:r>
              <a:rPr lang="ar-SA" altLang="en-US" sz="1500" dirty="0">
                <a:solidFill>
                  <a:srgbClr val="1F2A37"/>
                </a:solidFill>
                <a:latin typeface="Amiri" pitchFamily="2" charset="-78"/>
                <a:ea typeface="Amiri" pitchFamily="2" charset="-78"/>
                <a:cs typeface="Amiri" pitchFamily="2" charset="-78"/>
              </a:rPr>
              <a:t>ـة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Pay politely</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هَلْ يُمْكِنُ أَنْ أَدْفَعَ بِالبِطَاقَةِ؟</a:t>
            </a:r>
            <a:endParaRPr lang="ar-SA" sz="19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full, polite request.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KEY WORD</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ENDING</a:t>
            </a:r>
            <a:endParaRPr lang="en-US" sz="800" dirty="0"/>
          </a:p>
        </p:txBody>
      </p:sp>
      <p:sp>
        <p:nvSpPr>
          <p:cNvPr id="49" name="Shape 45"/>
          <p:cNvSpPr/>
          <p:nvPr/>
        </p:nvSpPr>
        <p:spPr>
          <a:xfrm>
            <a:off x="10515600" y="4736592"/>
            <a:ext cx="914400" cy="237744"/>
          </a:xfrm>
          <a:prstGeom prst="roundRect">
            <a:avLst>
              <a:gd name="adj" fmla="val 50000"/>
            </a:avLst>
          </a:prstGeom>
          <a:solidFill>
            <a:srgbClr val="C77700"/>
          </a:solidFill>
          <a:ln w="12700">
            <a:solidFill>
              <a:srgbClr val="C77700"/>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PATTERN</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هَلْ عِنْدَكُمْ حَقَائِبُ صَغِيرَةٌ؟ </a:t>
            </a:r>
            <a:pPr rtl="1" algn="r" indent="0" marL="0">
              <a:buNone/>
            </a:pPr>
            <a:r>
              <a:rPr lang="ar-SA" altLang="en-US" sz="1750" b="1" dirty="0">
                <a:solidFill>
                  <a:srgbClr val="0E7C86"/>
                </a:solidFill>
                <a:latin typeface="Amiri" pitchFamily="2" charset="-78"/>
                <a:ea typeface="Amiri" pitchFamily="2" charset="-78"/>
                <a:cs typeface="Amiri" pitchFamily="2" charset="-78"/>
              </a:rPr>
              <a:t>هٰذِهِ</a:t>
            </a:r>
            <a:pPr rtl="1" algn="r" indent="0" marL="0">
              <a:buNone/>
            </a:pPr>
            <a:r>
              <a:rPr lang="ar-SA" altLang="en-US" sz="1750" b="1" dirty="0">
                <a:solidFill>
                  <a:srgbClr val="1B3B6F"/>
                </a:solidFill>
                <a:latin typeface="Amiri" pitchFamily="2" charset="-78"/>
                <a:ea typeface="Amiri" pitchFamily="2" charset="-78"/>
                <a:cs typeface="Amiri" pitchFamily="2" charset="-78"/>
              </a:rPr>
              <a:t> حَقِيبَةٌ جَمِيلَةٌ. كَمْ ثَمَنُ</a:t>
            </a:r>
            <a:pPr rtl="1" algn="r" indent="0" marL="0">
              <a:buNone/>
            </a:pPr>
            <a:r>
              <a:rPr lang="ar-SA" altLang="en-US" sz="1750" b="1" dirty="0">
                <a:solidFill>
                  <a:srgbClr val="D6336C"/>
                </a:solidFill>
                <a:latin typeface="Amiri" pitchFamily="2" charset="-78"/>
                <a:ea typeface="Amiri" pitchFamily="2" charset="-78"/>
                <a:cs typeface="Amiri" pitchFamily="2" charset="-78"/>
              </a:rPr>
              <a:t>هَا</a:t>
            </a:r>
            <a:pPr rtl="1" algn="r" indent="0" marL="0">
              <a:buNone/>
            </a:pPr>
            <a:r>
              <a:rPr lang="ar-SA" altLang="en-US" sz="1750" b="1" dirty="0">
                <a:solidFill>
                  <a:srgbClr val="1B3B6F"/>
                </a:solidFill>
                <a:latin typeface="Amiri" pitchFamily="2" charset="-78"/>
                <a:ea typeface="Amiri" pitchFamily="2" charset="-78"/>
                <a:cs typeface="Amiri" pitchFamily="2" charset="-78"/>
              </a:rPr>
              <a:t>؟ … السَّوْدَاءُ </a:t>
            </a:r>
            <a:pPr rtl="1" algn="r" indent="0" marL="0">
              <a:buNone/>
            </a:pPr>
            <a:r>
              <a:rPr lang="ar-SA" altLang="en-US" sz="1750" b="1" dirty="0">
                <a:solidFill>
                  <a:srgbClr val="C77700"/>
                </a:solidFill>
                <a:latin typeface="Amiri" pitchFamily="2" charset="-78"/>
                <a:ea typeface="Amiri" pitchFamily="2" charset="-78"/>
                <a:cs typeface="Amiri" pitchFamily="2" charset="-78"/>
              </a:rPr>
              <a:t>أَ</a:t>
            </a:r>
            <a:pPr rtl="1" algn="r" indent="0" marL="0">
              <a:buNone/>
            </a:pPr>
            <a:r>
              <a:rPr lang="ar-SA" altLang="en-US" sz="1750" b="1" dirty="0">
                <a:solidFill>
                  <a:srgbClr val="1B3B6F"/>
                </a:solidFill>
                <a:latin typeface="Amiri" pitchFamily="2" charset="-78"/>
                <a:ea typeface="Amiri" pitchFamily="2" charset="-78"/>
                <a:cs typeface="Amiri" pitchFamily="2" charset="-78"/>
              </a:rPr>
              <a:t>رْخَصُ </a:t>
            </a:r>
            <a:pPr rtl="1" algn="r" indent="0" marL="0">
              <a:buNone/>
            </a:pPr>
            <a:r>
              <a:rPr lang="ar-SA" altLang="en-US" sz="1750" b="1" dirty="0">
                <a:solidFill>
                  <a:srgbClr val="0E7C86"/>
                </a:solidFill>
                <a:latin typeface="Amiri" pitchFamily="2" charset="-78"/>
                <a:ea typeface="Amiri" pitchFamily="2" charset="-78"/>
                <a:cs typeface="Amiri" pitchFamily="2" charset="-78"/>
              </a:rPr>
              <a:t>مِنَ</a:t>
            </a:r>
            <a:pPr rtl="1" algn="r" indent="0" marL="0">
              <a:buNone/>
            </a:pPr>
            <a:r>
              <a:rPr lang="ar-SA" altLang="en-US" sz="1750" b="1" dirty="0">
                <a:solidFill>
                  <a:srgbClr val="1B3B6F"/>
                </a:solidFill>
                <a:latin typeface="Amiri" pitchFamily="2" charset="-78"/>
                <a:ea typeface="Amiri" pitchFamily="2" charset="-78"/>
                <a:cs typeface="Amiri" pitchFamily="2" charset="-78"/>
              </a:rPr>
              <a:t> الزَّرْقَاءِ، لِذٰلِكَ سَأَشْتَرِي السَّوْدَاءَ. هَلْ يُمْكِنُ أَنْ أَدْفَعَ بِالبِطَاقَةِ؟</a:t>
            </a:r>
            <a:endParaRPr lang="ar-SA" sz="175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200" i="1" dirty="0">
                <a:solidFill>
                  <a:srgbClr val="5A6472"/>
                </a:solidFill>
                <a:latin typeface="Calibri" pitchFamily="34" charset="0"/>
                <a:cs typeface="Amiri" pitchFamily="2" charset="-78"/>
              </a:rPr>
              <a:t>Do you have small bags? This is a nice bag. How much is it? … The black one is cheaper than the blue one, so I will buy the black one. Can I pay by card?</a:t>
            </a:r>
            <a:endParaRPr lang="en-US" sz="12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هٰذَا هَاتِفٌ. كَمْ ثَمَنُهُ؟</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is a phone. How much is it?</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Masculine item → ـهُ.</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هٰذِهِ حَقِيبَةٌ. كَمْ ثَمَنُهَا؟</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This is a bag. How much is it?</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Feminine item → ـهَا.</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الحَافِلَةُ أَرْخَصُ مِنَ التَّاكْسِي.</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bus is cheaper than the taxi.</a:t>
            </a:r>
            <a:endParaRPr lang="en-US" sz="1250" dirty="0"/>
          </a:p>
          <a:p>
            <a:pPr indent="0" marL="0">
              <a:buNone/>
            </a:pPr>
            <a:r>
              <a:rPr lang="en-US" sz="1050" i="1" dirty="0">
                <a:solidFill>
                  <a:srgbClr val="8A6D1E"/>
                </a:solidFill>
                <a:latin typeface="Calibri" pitchFamily="34" charset="0"/>
                <a:cs typeface="Amiri" pitchFamily="2" charset="-78"/>
              </a:rPr>
              <a:t>The comparative does not change.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هَلْ يُمْكِنُ أَنْ أَدْفَعَ بِالبِطَاقَةِ؟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Can I pay by card?</a:t>
            </a:r>
            <a:endParaRPr lang="en-US" sz="1250" dirty="0"/>
          </a:p>
          <a:p>
            <a:pPr indent="0" marL="0">
              <a:buNone/>
            </a:pPr>
            <a:r>
              <a:rPr lang="en-US" sz="1050" i="1" dirty="0">
                <a:solidFill>
                  <a:srgbClr val="8A6D1E"/>
                </a:solidFill>
                <a:latin typeface="Calibri" pitchFamily="34" charset="0"/>
                <a:cs typeface="Amiri" pitchFamily="2" charset="-78"/>
              </a:rPr>
              <a:t>Use a complete polite request.</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48</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 WEBSITE GAME “BEST BUY”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أَفْضَلُ شِرَاءٍ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£20 vs £15</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2 kg £6 vs 1 kg £4</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76784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950720" y="2249424"/>
            <a:ext cx="649224" cy="649224"/>
          </a:xfrm>
          <a:prstGeom prst="rect">
            <a:avLst/>
          </a:prstGeom>
        </p:spPr>
      </p:pic>
      <p:sp>
        <p:nvSpPr>
          <p:cNvPr id="36" name="Text 2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−25%</a:t>
            </a:r>
            <a:endParaRPr lang="en-US" sz="1100" dirty="0"/>
          </a:p>
        </p:txBody>
      </p:sp>
      <p:sp>
        <p:nvSpPr>
          <p:cNvPr id="37" name="Shape 29"/>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8" name="Shape 30"/>
          <p:cNvSpPr/>
          <p:nvPr/>
        </p:nvSpPr>
        <p:spPr>
          <a:xfrm>
            <a:off x="11247120" y="3831336"/>
            <a:ext cx="292608" cy="292608"/>
          </a:xfrm>
          <a:prstGeom prst="ellipse">
            <a:avLst/>
          </a:prstGeom>
          <a:solidFill>
            <a:srgbClr val="2F6FB0"/>
          </a:solidFill>
          <a:ln w="12700">
            <a:solidFill>
              <a:srgbClr val="2F6FB0"/>
            </a:solidFill>
            <a:prstDash val="solid"/>
          </a:ln>
        </p:spPr>
      </p:sp>
      <p:sp>
        <p:nvSpPr>
          <p:cNvPr id="39" name="Text 31"/>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0" name="Text 32"/>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اَلْعُبْوَةُ الْكَبِيرَةُ أَفْضَلُ قِيمَةً.</a:t>
            </a:r>
            <a:endParaRPr lang="ar-SA" sz="2000" dirty="0"/>
          </a:p>
        </p:txBody>
      </p:sp>
      <p:sp>
        <p:nvSpPr>
          <p:cNvPr id="41" name="Shape 33"/>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2" name="Shape 34"/>
          <p:cNvSpPr/>
          <p:nvPr/>
        </p:nvSpPr>
        <p:spPr>
          <a:xfrm>
            <a:off x="11247120" y="4398264"/>
            <a:ext cx="292608" cy="292608"/>
          </a:xfrm>
          <a:prstGeom prst="ellipse">
            <a:avLst/>
          </a:prstGeom>
          <a:solidFill>
            <a:srgbClr val="2F6FB0"/>
          </a:solidFill>
          <a:ln w="12700">
            <a:solidFill>
              <a:srgbClr val="2F6FB0"/>
            </a:solidFill>
            <a:prstDash val="solid"/>
          </a:ln>
        </p:spPr>
      </p:sp>
      <p:sp>
        <p:nvSpPr>
          <p:cNvPr id="43" name="Text 35"/>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4" name="Text 36"/>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هُنَاكَ خَصْمٌ قَدْرُهُ خَمْسَةٌ وَعِشْرُونَ فِي الْمِئَةِ.</a:t>
            </a:r>
            <a:endParaRPr lang="ar-SA" sz="2000" dirty="0"/>
          </a:p>
        </p:txBody>
      </p:sp>
      <p:sp>
        <p:nvSpPr>
          <p:cNvPr id="45" name="Shape 37"/>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6" name="Shape 38"/>
          <p:cNvSpPr/>
          <p:nvPr/>
        </p:nvSpPr>
        <p:spPr>
          <a:xfrm>
            <a:off x="11247120" y="4965192"/>
            <a:ext cx="292608" cy="292608"/>
          </a:xfrm>
          <a:prstGeom prst="ellipse">
            <a:avLst/>
          </a:prstGeom>
          <a:solidFill>
            <a:srgbClr val="2F6FB0"/>
          </a:solidFill>
          <a:ln w="12700">
            <a:solidFill>
              <a:srgbClr val="2F6FB0"/>
            </a:solidFill>
            <a:prstDash val="solid"/>
          </a:ln>
        </p:spPr>
      </p:sp>
      <p:sp>
        <p:nvSpPr>
          <p:cNvPr id="47" name="Text 39"/>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8" name="Text 40"/>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اَلْقَمِيصُ الثَّانِي أَرْخَصُ مِنَ الْقَمِيصِ الأَوَّلِ.</a:t>
            </a:r>
            <a:endParaRPr lang="ar-SA" sz="2000" dirty="0"/>
          </a:p>
        </p:txBody>
      </p:sp>
      <p:sp>
        <p:nvSpPr>
          <p:cNvPr id="49" name="Text 41"/>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0" name="Text 42"/>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1"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48</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أَفْضَلُ شِرَاءٍ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£20 vs £15</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اَلْقَمِيصُ الثَّانِي أَرْخَصُ مِنَ الْقَمِيصِ الأَوَّلِ.</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second shirt is cheaper than the first shirt.</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2 kg £6 vs 1 kg £4</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اَلْعُبْوَةُ الْكَبِيرَةُ أَفْضَلُ قِيمَةً.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large pack is better value.</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76784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950720" y="2249424"/>
            <a:ext cx="649224" cy="649224"/>
          </a:xfrm>
          <a:prstGeom prst="rect">
            <a:avLst/>
          </a:prstGeom>
        </p:spPr>
      </p:pic>
      <p:sp>
        <p:nvSpPr>
          <p:cNvPr id="46" name="Text 3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−25%</a:t>
            </a:r>
            <a:endParaRPr lang="en-US" sz="1100" dirty="0"/>
          </a:p>
        </p:txBody>
      </p:sp>
      <p:sp>
        <p:nvSpPr>
          <p:cNvPr id="47" name="Shape 39"/>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8" name="Shape 40"/>
          <p:cNvSpPr/>
          <p:nvPr/>
        </p:nvSpPr>
        <p:spPr>
          <a:xfrm>
            <a:off x="3617976" y="3785616"/>
            <a:ext cx="329184" cy="329184"/>
          </a:xfrm>
          <a:prstGeom prst="ellipse">
            <a:avLst/>
          </a:prstGeom>
          <a:solidFill>
            <a:srgbClr val="2E8B57"/>
          </a:solidFill>
          <a:ln w="12700">
            <a:solidFill>
              <a:srgbClr val="2E8B57"/>
            </a:solidFill>
            <a:prstDash val="solid"/>
          </a:ln>
        </p:spPr>
      </p:sp>
      <p:sp>
        <p:nvSpPr>
          <p:cNvPr id="49" name="Text 41"/>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0" name="Text 42"/>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هُنَاكَ خَصْمٌ قَدْرُهُ خَمْسَةٌ وَعِشْرُونَ فِي الْمِئَةِ.</a:t>
            </a:r>
            <a:endParaRPr lang="ar-SA" sz="2200" dirty="0"/>
          </a:p>
        </p:txBody>
      </p:sp>
      <p:sp>
        <p:nvSpPr>
          <p:cNvPr id="51" name="Text 43"/>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There is a discount of twenty-five per cent.</a:t>
            </a:r>
            <a:endParaRPr lang="en-US" sz="1200" dirty="0"/>
          </a:p>
        </p:txBody>
      </p:sp>
      <p:sp>
        <p:nvSpPr>
          <p:cNvPr id="52"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48</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 AN ADVERT · WEBSITE READING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Today’s offers at the shopping centre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عُرُوضُ اليَوْمِ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56816"/>
            <a:ext cx="7616952" cy="564315"/>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عُرُوضُ اليَوْمِ فِي مَرْكَزِ النُّورِ التِّجَارِيِّ</a:t>
            </a:r>
            <a:endParaRPr lang="ar-SA" sz="2200" dirty="0"/>
          </a:p>
        </p:txBody>
      </p:sp>
      <p:sp>
        <p:nvSpPr>
          <p:cNvPr id="17" name="Shape 14"/>
          <p:cNvSpPr/>
          <p:nvPr/>
        </p:nvSpPr>
        <p:spPr>
          <a:xfrm>
            <a:off x="685800" y="2539419"/>
            <a:ext cx="7616952" cy="0"/>
          </a:xfrm>
          <a:prstGeom prst="line">
            <a:avLst/>
          </a:prstGeom>
          <a:noFill/>
          <a:ln w="9525">
            <a:solidFill>
              <a:srgbClr val="E4DCCB"/>
            </a:solidFill>
            <a:prstDash val="dash"/>
          </a:ln>
        </p:spPr>
      </p:sp>
      <p:sp>
        <p:nvSpPr>
          <p:cNvPr id="18" name="Text 15"/>
          <p:cNvSpPr txBox="1"/>
          <p:nvPr/>
        </p:nvSpPr>
        <p:spPr>
          <a:xfrm>
            <a:off x="685800" y="2557707"/>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الكُتُبُ بِخَصْمِ عِشْرِينَ فِي المِئَةِ.</a:t>
            </a:r>
            <a:endParaRPr lang="ar-SA" sz="2000" dirty="0"/>
          </a:p>
        </p:txBody>
      </p:sp>
      <p:sp>
        <p:nvSpPr>
          <p:cNvPr id="19" name="Shape 16"/>
          <p:cNvSpPr/>
          <p:nvPr/>
        </p:nvSpPr>
        <p:spPr>
          <a:xfrm>
            <a:off x="685800" y="3140311"/>
            <a:ext cx="7616952" cy="0"/>
          </a:xfrm>
          <a:prstGeom prst="line">
            <a:avLst/>
          </a:prstGeom>
          <a:noFill/>
          <a:ln w="9525">
            <a:solidFill>
              <a:srgbClr val="E4DCCB"/>
            </a:solidFill>
            <a:prstDash val="dash"/>
          </a:ln>
        </p:spPr>
      </p:sp>
      <p:sp>
        <p:nvSpPr>
          <p:cNvPr id="20" name="Text 17"/>
          <p:cNvSpPr txBox="1"/>
          <p:nvPr/>
        </p:nvSpPr>
        <p:spPr>
          <a:xfrm>
            <a:off x="685800" y="3158599"/>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حَقِيبَةُ السَّفَرِ الكَبِيرَةُ بِسِتِّينَ دِينَارًا،</a:t>
            </a:r>
            <a:endParaRPr lang="ar-SA" sz="2000" dirty="0"/>
          </a:p>
        </p:txBody>
      </p:sp>
      <p:sp>
        <p:nvSpPr>
          <p:cNvPr id="21" name="Shape 18"/>
          <p:cNvSpPr/>
          <p:nvPr/>
        </p:nvSpPr>
        <p:spPr>
          <a:xfrm>
            <a:off x="685800" y="3741202"/>
            <a:ext cx="7616952" cy="0"/>
          </a:xfrm>
          <a:prstGeom prst="line">
            <a:avLst/>
          </a:prstGeom>
          <a:noFill/>
          <a:ln w="9525">
            <a:solidFill>
              <a:srgbClr val="E4DCCB"/>
            </a:solidFill>
            <a:prstDash val="dash"/>
          </a:ln>
        </p:spPr>
      </p:sp>
      <p:sp>
        <p:nvSpPr>
          <p:cNvPr id="22" name="Text 19"/>
          <p:cNvSpPr txBox="1"/>
          <p:nvPr/>
        </p:nvSpPr>
        <p:spPr>
          <a:xfrm>
            <a:off x="685800" y="3759490"/>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وَالحَقِيبَةُ الصَّغِيرَةُ أَرْخَصُ مِنْهَا بِعَشَرَةِ دَنَانِيرَ.</a:t>
            </a:r>
            <a:endParaRPr lang="ar-SA" sz="2000" dirty="0"/>
          </a:p>
        </p:txBody>
      </p:sp>
      <p:sp>
        <p:nvSpPr>
          <p:cNvPr id="23" name="Shape 20"/>
          <p:cNvSpPr/>
          <p:nvPr/>
        </p:nvSpPr>
        <p:spPr>
          <a:xfrm>
            <a:off x="685800" y="4342094"/>
            <a:ext cx="7616952" cy="0"/>
          </a:xfrm>
          <a:prstGeom prst="line">
            <a:avLst/>
          </a:prstGeom>
          <a:noFill/>
          <a:ln w="9525">
            <a:solidFill>
              <a:srgbClr val="E4DCCB"/>
            </a:solidFill>
            <a:prstDash val="dash"/>
          </a:ln>
        </p:spPr>
      </p:sp>
      <p:sp>
        <p:nvSpPr>
          <p:cNvPr id="24" name="Text 21"/>
          <p:cNvSpPr txBox="1"/>
          <p:nvPr/>
        </p:nvSpPr>
        <p:spPr>
          <a:xfrm>
            <a:off x="685800" y="4360382"/>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الهَاتِفُ الجَدِيدُ غَالٍ وَلٰكِنْ مَعَهُ سَمَّاعَاتٌ مَجَّانِيَّةٌ.</a:t>
            </a:r>
            <a:endParaRPr lang="ar-SA" sz="2000" dirty="0"/>
          </a:p>
        </p:txBody>
      </p:sp>
      <p:sp>
        <p:nvSpPr>
          <p:cNvPr id="25" name="Shape 22"/>
          <p:cNvSpPr/>
          <p:nvPr/>
        </p:nvSpPr>
        <p:spPr>
          <a:xfrm>
            <a:off x="685800" y="4942985"/>
            <a:ext cx="7616952" cy="0"/>
          </a:xfrm>
          <a:prstGeom prst="line">
            <a:avLst/>
          </a:prstGeom>
          <a:noFill/>
          <a:ln w="9525">
            <a:solidFill>
              <a:srgbClr val="E4DCCB"/>
            </a:solidFill>
            <a:prstDash val="dash"/>
          </a:ln>
        </p:spPr>
      </p:sp>
      <p:sp>
        <p:nvSpPr>
          <p:cNvPr id="26" name="Text 23"/>
          <p:cNvSpPr txBox="1"/>
          <p:nvPr/>
        </p:nvSpPr>
        <p:spPr>
          <a:xfrm>
            <a:off x="685800" y="4961273"/>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يُمْكِنُ الدَّفْعُ نَقْدًا أَوْ بِالبِطَاقَةِ.</a:t>
            </a:r>
            <a:endParaRPr lang="ar-SA" sz="2000" dirty="0"/>
          </a:p>
        </p:txBody>
      </p:sp>
      <p:sp>
        <p:nvSpPr>
          <p:cNvPr id="27" name="Shape 24"/>
          <p:cNvSpPr/>
          <p:nvPr/>
        </p:nvSpPr>
        <p:spPr>
          <a:xfrm>
            <a:off x="685800" y="5543877"/>
            <a:ext cx="7616952" cy="0"/>
          </a:xfrm>
          <a:prstGeom prst="line">
            <a:avLst/>
          </a:prstGeom>
          <a:noFill/>
          <a:ln w="9525">
            <a:solidFill>
              <a:srgbClr val="E4DCCB"/>
            </a:solidFill>
            <a:prstDash val="dash"/>
          </a:ln>
        </p:spPr>
      </p:sp>
      <p:sp>
        <p:nvSpPr>
          <p:cNvPr id="28" name="Text 25"/>
          <p:cNvSpPr txBox="1"/>
          <p:nvPr/>
        </p:nvSpPr>
        <p:spPr>
          <a:xfrm>
            <a:off x="685800" y="5562165"/>
            <a:ext cx="7616952" cy="564315"/>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اِحْتَفِظْ بِالفَاتُورَةِ لِمُدَّةِ ثَلَاثِينَ يَوْمًا.</a:t>
            </a:r>
            <a:endParaRPr lang="ar-SA" sz="2000" dirty="0"/>
          </a:p>
        </p:txBody>
      </p:sp>
      <p:sp>
        <p:nvSpPr>
          <p:cNvPr id="29" name="Shape 2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31" name="Text 2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عُرُوضُ اليَوْمِ</a:t>
            </a:r>
            <a:endParaRPr lang="ar-SA" sz="1600" dirty="0"/>
          </a:p>
        </p:txBody>
      </p:sp>
      <p:sp>
        <p:nvSpPr>
          <p:cNvPr id="32" name="Text 2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today’s offers</a:t>
            </a:r>
            <a:endParaRPr lang="en-US" sz="1050" dirty="0"/>
          </a:p>
        </p:txBody>
      </p:sp>
      <p:sp>
        <p:nvSpPr>
          <p:cNvPr id="33" name="Text 3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بِخَصْمِ</a:t>
            </a:r>
            <a:endParaRPr lang="ar-SA" sz="1600" dirty="0"/>
          </a:p>
        </p:txBody>
      </p:sp>
      <p:sp>
        <p:nvSpPr>
          <p:cNvPr id="34" name="Text 3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with a discount of</a:t>
            </a:r>
            <a:endParaRPr lang="en-US" sz="1050" dirty="0"/>
          </a:p>
        </p:txBody>
      </p:sp>
      <p:sp>
        <p:nvSpPr>
          <p:cNvPr id="35" name="Text 3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فِي المِئَةِ</a:t>
            </a:r>
            <a:endParaRPr lang="ar-SA" sz="1600" dirty="0"/>
          </a:p>
        </p:txBody>
      </p:sp>
      <p:sp>
        <p:nvSpPr>
          <p:cNvPr id="36" name="Text 3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per cent</a:t>
            </a:r>
            <a:endParaRPr lang="en-US" sz="1050" dirty="0"/>
          </a:p>
        </p:txBody>
      </p:sp>
      <p:sp>
        <p:nvSpPr>
          <p:cNvPr id="37" name="Text 3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حَقِيبَةُ السَّفَرِ</a:t>
            </a:r>
            <a:endParaRPr lang="ar-SA" sz="1600" dirty="0"/>
          </a:p>
        </p:txBody>
      </p:sp>
      <p:sp>
        <p:nvSpPr>
          <p:cNvPr id="38" name="Text 3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travel bag</a:t>
            </a:r>
            <a:endParaRPr lang="en-US" sz="1050" dirty="0"/>
          </a:p>
        </p:txBody>
      </p:sp>
      <p:sp>
        <p:nvSpPr>
          <p:cNvPr id="39" name="Text 3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أَرْخَصُ مِنْهَا</a:t>
            </a:r>
            <a:endParaRPr lang="ar-SA" sz="1600" dirty="0"/>
          </a:p>
        </p:txBody>
      </p:sp>
      <p:sp>
        <p:nvSpPr>
          <p:cNvPr id="40" name="Text 3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cheaper than it</a:t>
            </a:r>
            <a:endParaRPr lang="en-US" sz="1050" dirty="0"/>
          </a:p>
        </p:txBody>
      </p:sp>
      <p:sp>
        <p:nvSpPr>
          <p:cNvPr id="41" name="Text 3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غَالٍ</a:t>
            </a:r>
            <a:endParaRPr lang="ar-SA" sz="1600" dirty="0"/>
          </a:p>
        </p:txBody>
      </p:sp>
      <p:sp>
        <p:nvSpPr>
          <p:cNvPr id="42" name="Text 3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expensive</a:t>
            </a:r>
            <a:endParaRPr lang="en-US" sz="1050" dirty="0"/>
          </a:p>
        </p:txBody>
      </p:sp>
      <p:sp>
        <p:nvSpPr>
          <p:cNvPr id="43" name="Text 4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سَمَّاعَاتٌ</a:t>
            </a:r>
            <a:endParaRPr lang="ar-SA" sz="1600" dirty="0"/>
          </a:p>
        </p:txBody>
      </p:sp>
      <p:sp>
        <p:nvSpPr>
          <p:cNvPr id="44" name="Text 4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headphones</a:t>
            </a:r>
            <a:endParaRPr lang="en-US" sz="1050" dirty="0"/>
          </a:p>
        </p:txBody>
      </p:sp>
      <p:sp>
        <p:nvSpPr>
          <p:cNvPr id="45" name="Text 4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مَجَّانِيَّةٌ</a:t>
            </a:r>
            <a:endParaRPr lang="ar-SA" sz="1600" dirty="0"/>
          </a:p>
        </p:txBody>
      </p:sp>
      <p:sp>
        <p:nvSpPr>
          <p:cNvPr id="46" name="Text 4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free</a:t>
            </a:r>
            <a:endParaRPr lang="en-US" sz="1050" dirty="0"/>
          </a:p>
        </p:txBody>
      </p:sp>
      <p:sp>
        <p:nvSpPr>
          <p:cNvPr id="47" name="Text 4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يُمْكِنُ الدَّفْعُ</a:t>
            </a:r>
            <a:endParaRPr lang="ar-SA" sz="1600" dirty="0"/>
          </a:p>
        </p:txBody>
      </p:sp>
      <p:sp>
        <p:nvSpPr>
          <p:cNvPr id="48" name="Text 4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you can pay</a:t>
            </a:r>
            <a:endParaRPr lang="en-US" sz="1050" dirty="0"/>
          </a:p>
        </p:txBody>
      </p:sp>
      <p:sp>
        <p:nvSpPr>
          <p:cNvPr id="49" name="Text 4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اِحْتَفِظْ بِـ</a:t>
            </a:r>
            <a:endParaRPr lang="ar-SA" sz="1600" dirty="0"/>
          </a:p>
        </p:txBody>
      </p:sp>
      <p:sp>
        <p:nvSpPr>
          <p:cNvPr id="50" name="Text 4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keep!</a:t>
            </a:r>
            <a:endParaRPr lang="en-US" sz="10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48</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ADVERT QUESTIONS ·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facts in the advert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الإِعْلَانِ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has a 20% discount?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books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travel bags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phones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is the large travel bag?</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50 dinars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60 dinars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70 dinars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cheaper is the small bag?</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 dinars</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20 dinars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30 dinars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comes free with the new phone?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bag</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book</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headphones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payment methods are accepted?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cash only</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cash or card</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card only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Find the KEY WORD first.</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discount?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خَصْم</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bag?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حَقِيبَة</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free?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مَجَّانِيَّة</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pay?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الدَّفْع</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48</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ADVERT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Advert: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has a 20% discount?</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books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travel bags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phones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الكُتُبُ بِخَصْمِ عِشْرِينَ فِي المِئَةِ.</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is the large travel bag?</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50 dinars</a:t>
            </a:r>
            <a:endParaRPr lang="en-US" sz="1250" dirty="0"/>
          </a:p>
        </p:txBody>
      </p:sp>
      <p:sp>
        <p:nvSpPr>
          <p:cNvPr id="37" name="Shape 34"/>
          <p:cNvSpPr/>
          <p:nvPr/>
        </p:nvSpPr>
        <p:spPr>
          <a:xfrm>
            <a:off x="4367784" y="2825496"/>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862072"/>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60 dinars</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70 dinars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بِسِتِّينَ دِينَارًا.</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cheaper is the small bag?</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10 dinars</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20 dinars</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30 dinars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أَرْخَصُ ... بِعِشْرَةِ دَنَانِيرَ.</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comes free with the new phone?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bag</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book</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headphones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سَمَّاعَاتٌ مَجَّانِيَّةٌ.</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payment methods are accepted?</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cash only</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cash or card</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card only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نَقْدًا أَوْ بِالبِطَاقَةِ.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Find the KEY WORD first.</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discount?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خَصْم</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bag?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حَقِيبَة</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free?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مَجَّانِيَّة</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pay?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الدَّفْع</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48</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the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This is a bag. How much is it?</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هٰذَا كِتَابٌ.</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هٰذِهِ حَقِيبَةٌ.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أَيْنَ</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كَمْ</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ثَمَنُهَا؟</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ثَمَنُهُ؟</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bus is cheaper than the taxi.</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الحَافِلَةُ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سَيَّارَةُ الأُجْرَةِ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أَغْلَى مِنْ</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أَرْخَصُ مِنْ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سَيَّارَةِ الأُجْرَةِ.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الحَافِلَةِ.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want to buy a gift, please.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هَلْ</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أُرِيدُ أَنْ</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أَشْتَرِيَ</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يَشْتَرِي</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ثَمَنُهَا؟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هَدِيَّةً، مِنْ فَضْلِكَ.</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48</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This is a bag. How much is it?</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B · B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حَقِيبَةٌ</a:t>
            </a:r>
            <a:pPr algn="l" indent="0" marL="0">
              <a:buNone/>
            </a:pPr>
            <a:r>
              <a:rPr lang="en-US" sz="1050" i="1" dirty="0">
                <a:solidFill>
                  <a:srgbClr val="5A6472"/>
                </a:solidFill>
                <a:latin typeface="Calibri" pitchFamily="34" charset="0"/>
                <a:cs typeface="Amiri" pitchFamily="2" charset="-78"/>
              </a:rPr>
              <a:t> is feminine → </a:t>
            </a:r>
            <a:pPr algn="l" indent="0" marL="0">
              <a:buNone/>
            </a:pPr>
            <a:r>
              <a:rPr lang="ar-SA" altLang="en-US" sz="1350" dirty="0">
                <a:solidFill>
                  <a:srgbClr val="5A6472"/>
                </a:solidFill>
                <a:latin typeface="Amiri" pitchFamily="2" charset="-78"/>
                <a:ea typeface="Amiri" pitchFamily="2" charset="-78"/>
                <a:cs typeface="Amiri" pitchFamily="2" charset="-78"/>
              </a:rPr>
              <a:t>هٰذِهِ … ثَمَنُهَا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هٰذِهِ حَقِيبَةٌ. كَمْ ثَمَنُهَا؟</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bus is cheaper than the taxi.</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B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أَرْخَصُ مِنْ</a:t>
            </a:r>
            <a:pPr algn="l" indent="0" marL="0">
              <a:buNone/>
            </a:pPr>
            <a:r>
              <a:rPr lang="en-US" sz="1050" i="1" dirty="0">
                <a:solidFill>
                  <a:srgbClr val="5A6472"/>
                </a:solidFill>
                <a:latin typeface="Calibri" pitchFamily="34" charset="0"/>
                <a:cs typeface="Amiri" pitchFamily="2" charset="-78"/>
              </a:rPr>
              <a:t> = cheaper than.</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الحَافِلَةُ أَرْخَصُ مِنْ سَيَّارَةِ الأُجْرَةِ.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want to buy a gift, please.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B · A · B</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أُرِيدُ أَنْ</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أَشْتَرِيَ</a:t>
            </a:r>
            <a:pPr algn="l" indent="0" marL="0">
              <a:buNone/>
            </a:pPr>
            <a:r>
              <a:rPr lang="en-US" sz="1050" i="1" dirty="0">
                <a:solidFill>
                  <a:srgbClr val="5A6472"/>
                </a:solidFill>
                <a:latin typeface="Calibri" pitchFamily="34" charset="0"/>
                <a:cs typeface="Amiri" pitchFamily="2" charset="-78"/>
              </a:rPr>
              <a:t> (I-verb).</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أُرِيدُ أَنْ أَشْتَرِيَ هَدِيَّةً، مِنْ فَضْلِكَ.</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48</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Masculine or feminine price question?</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ثَمَنُهُ أَمْ ثَمَنُهَا؟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حَقِيبَةٌ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كِتَابٌ</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هَدِيَّةٌ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هَاتِفٌ</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تَذْكَارٌ</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فَاتُورَةٌ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حِذَاءٌ</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تَذْكِرَةٌ</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Masculine: ask “thamanuhu”</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Feminine: ask “thamanuhā”</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48</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Masculine: ask “thamanuhu”</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كِتَابٌ</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هَاتِفٌ</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تَذْكَارٌ</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حِذَاءٌ</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Feminine: ask “thamanuhā”</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حَقِيبَةٌ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هَدِيَّةٌ</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فَاتُورَةٌ</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تَذْكِرَةٌ</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48</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5–8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want to buy a souvenir.”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يَشْتَرِي تَذْكَارٌ.</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أَشْتَرِي أَنْ تَذْكَارًا.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أُرِيدُ أَنْ أَشْتَرِيَ تَذْكَارًا.</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to pay by card?</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عِنْدَكُمْ بِطَاقَةٌ؟</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يُمْكِنُ أَنْ أَدْفَعَ بِالبِطَاقَةِ؟</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ثَمَنُ البِطَاقَةِ؟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discount?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فَاتُورَةٌ</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خَصْمٌ</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ثَمَنٌ</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comparison.</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الحَقِيبَةُ غَالِيَةٌ مِنَ الكِتَابِ.</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الحَقِيبَةُ أَغْلَيَةٌ مِنَ الكِتَابِ.</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الحَقِيبَةُ أَغْلَى مِنَ الكِتَابِ.</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48</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want to buy a souvenir.”</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أُرِيدُ يَشْتَرِي تَذْكَارٌ.</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أَشْتَرِي أَنْ تَذْكَارًا.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أُرِيدُ أَنْ أَشْتَرِيَ تَذْكَارًا.</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أُرِيدُ أَنْ</a:t>
            </a:r>
            <a:pPr algn="l" indent="0" marL="0">
              <a:buNone/>
            </a:pPr>
            <a:r>
              <a:rPr lang="en-US" sz="1050" i="1" dirty="0">
                <a:solidFill>
                  <a:srgbClr val="8A6D1E"/>
                </a:solidFill>
                <a:latin typeface="Calibri" pitchFamily="34" charset="0"/>
                <a:cs typeface="Amiri" pitchFamily="2" charset="-78"/>
              </a:rPr>
              <a:t> + first-person verb.</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asks to pay by card?</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عِنْدَكُمْ بِطَاقَةٌ؟</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هَلْ يُمْكِنُ أَنْ أَدْفَعَ بِالبِطَاقَةِ؟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ثَمَنُ البِطَاقَةِ؟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first is a complete payment request.</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discount?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فَاتُورَةٌ</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خَصْمٌ</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ثَمَنٌ</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خَصْمٌ</a:t>
            </a:r>
            <a:pPr algn="l" indent="0" marL="0">
              <a:buNone/>
            </a:pPr>
            <a:r>
              <a:rPr lang="en-US" sz="1050" i="1" dirty="0">
                <a:solidFill>
                  <a:srgbClr val="8A6D1E"/>
                </a:solidFill>
                <a:latin typeface="Calibri" pitchFamily="34" charset="0"/>
                <a:cs typeface="Amiri" pitchFamily="2" charset="-78"/>
              </a:rPr>
              <a:t> means discount.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best comparison.</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الحَقِيبَةُ غَالِيَةٌ مِنَ الكِتَابِ.</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الحَقِيبَةُ أَغْلَيَةٌ مِنَ الكِتَابِ.</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الحَقِيبَةُ أَغْلَى مِنَ الكِتَابِ.</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أَغْلَى مِنْ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48</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هٰذِهِ حَقِيبَةٌ. كَمْ ثَمَنُهُ؟</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Is </a:t>
            </a:r>
            <a:pPr algn="l" indent="0" marL="0">
              <a:buNone/>
            </a:pPr>
            <a:r>
              <a:rPr lang="ar-SA" altLang="en-US" sz="1700" dirty="0">
                <a:solidFill>
                  <a:srgbClr val="5A6472"/>
                </a:solidFill>
                <a:latin typeface="Amiri" pitchFamily="2" charset="-78"/>
                <a:ea typeface="Amiri" pitchFamily="2" charset="-78"/>
                <a:cs typeface="Amiri" pitchFamily="2" charset="-78"/>
              </a:rPr>
              <a:t>حَقِيبَةٌ</a:t>
            </a:r>
            <a:pPr algn="l" indent="0" marL="0">
              <a:buNone/>
            </a:pPr>
            <a:r>
              <a:rPr lang="en-US" sz="1300" i="1" dirty="0">
                <a:solidFill>
                  <a:srgbClr val="5A6472"/>
                </a:solidFill>
                <a:latin typeface="Calibri" pitchFamily="34" charset="0"/>
                <a:cs typeface="Amiri" pitchFamily="2" charset="-78"/>
              </a:rPr>
              <a:t> masculine or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الحَافِلَةُ أَرْخَصَةٌ مِنَ التَّاكْسِي.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Does </a:t>
            </a:r>
            <a:pPr algn="l" indent="0" marL="0">
              <a:buNone/>
            </a:pPr>
            <a:r>
              <a:rPr lang="ar-SA" altLang="en-US" sz="1700" dirty="0">
                <a:solidFill>
                  <a:srgbClr val="5A6472"/>
                </a:solidFill>
                <a:latin typeface="Amiri" pitchFamily="2" charset="-78"/>
                <a:ea typeface="Amiri" pitchFamily="2" charset="-78"/>
                <a:cs typeface="Amiri" pitchFamily="2" charset="-78"/>
              </a:rPr>
              <a:t>أَرْخَصُ</a:t>
            </a:r>
            <a:pPr algn="l" indent="0" marL="0">
              <a:buNone/>
            </a:pPr>
            <a:r>
              <a:rPr lang="en-US" sz="1300" i="1" dirty="0">
                <a:solidFill>
                  <a:srgbClr val="5A6472"/>
                </a:solidFill>
                <a:latin typeface="Calibri" pitchFamily="34" charset="0"/>
                <a:cs typeface="Amiri" pitchFamily="2" charset="-78"/>
              </a:rPr>
              <a:t> change for a feminine noun?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أُرِيدُ يَشْتَرِي هَدِيَّةً.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What is wrong? Which small word comes after </a:t>
            </a:r>
            <a:pPr algn="l" indent="0" marL="0">
              <a:buNone/>
            </a:pPr>
            <a:r>
              <a:rPr lang="ar-SA" altLang="en-US" sz="1700" dirty="0">
                <a:solidFill>
                  <a:srgbClr val="5A6472"/>
                </a:solidFill>
                <a:latin typeface="Amiri" pitchFamily="2" charset="-78"/>
                <a:ea typeface="Amiri" pitchFamily="2" charset="-78"/>
                <a:cs typeface="Amiri" pitchFamily="2" charset="-78"/>
              </a:rPr>
              <a:t>أُرِيدُ</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48</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هٰذِهِ حَقِيبَةٌ. كَمْ ثَمَنُهُ؟</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حَقِيبَةٌ. كَمْ ثَمَنُهَا؟</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the feminine suffix for the bag.</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الحَافِلَةُ أَرْخَصَةٌ مِنَ التَّاكْسِي.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الحَافِلَةُ أَرْخَصُ مِنَ التَّاكْسِي.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comparative form does not take a feminine ending.</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أُرِيدُ يَشْتَرِي هَدِيَّةً.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أُرِيدُ أَنْ أَشْتَرِيَ هَدِيَّةً.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and the first-person verb.</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48</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At the city market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customer want to see?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small bags</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shoes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phones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is the blue bag before discount?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40 dinars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 dinars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50 dinars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bag is cheaper?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blue bag</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cost the same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black bag</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is the discount?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 dinars</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20 dinars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5 dinars</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want to pay?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cash</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card</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phone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1–3 — listen for </a:t>
            </a:r>
            <a:pPr algn="l" indent="0" marL="0">
              <a:buNone/>
            </a:pPr>
            <a:r>
              <a:rPr lang="ar-SA" altLang="en-US" sz="1650" dirty="0">
                <a:solidFill>
                  <a:srgbClr val="1E6B52"/>
                </a:solidFill>
                <a:latin typeface="Amiri" pitchFamily="2" charset="-78"/>
                <a:ea typeface="Amiri" pitchFamily="2" charset="-78"/>
                <a:cs typeface="Amiri" pitchFamily="2" charset="-78"/>
              </a:rPr>
              <a:t>حَقَائِبُ</a:t>
            </a:r>
            <a:pPr algn="l" indent="0" marL="0">
              <a:buNone/>
            </a:pPr>
            <a:r>
              <a:rPr lang="en-US" sz="1250" dirty="0">
                <a:solidFill>
                  <a:srgbClr val="1E6B52"/>
                </a:solidFill>
                <a:latin typeface="Calibri" pitchFamily="34" charset="0"/>
                <a:cs typeface="Amiri" pitchFamily="2" charset="-78"/>
              </a:rPr>
              <a:t> (bags), </a:t>
            </a:r>
            <a:pPr algn="l" indent="0" marL="0">
              <a:buNone/>
            </a:pPr>
            <a:r>
              <a:rPr lang="ar-SA" altLang="en-US" sz="1650" dirty="0">
                <a:solidFill>
                  <a:srgbClr val="1E6B52"/>
                </a:solidFill>
                <a:latin typeface="Amiri" pitchFamily="2" charset="-78"/>
                <a:ea typeface="Amiri" pitchFamily="2" charset="-78"/>
                <a:cs typeface="Amiri" pitchFamily="2" charset="-78"/>
              </a:rPr>
              <a:t>خَمْسُونَ</a:t>
            </a:r>
            <a:pPr algn="l" indent="0" marL="0">
              <a:buNone/>
            </a:pPr>
            <a:r>
              <a:rPr lang="en-US" sz="1250" dirty="0">
                <a:solidFill>
                  <a:srgbClr val="1E6B52"/>
                </a:solidFill>
                <a:latin typeface="Calibri" pitchFamily="34" charset="0"/>
                <a:cs typeface="Amiri" pitchFamily="2" charset="-78"/>
              </a:rPr>
              <a:t> (fifty) and </a:t>
            </a:r>
            <a:pPr algn="l" indent="0" marL="0">
              <a:buNone/>
            </a:pPr>
            <a:r>
              <a:rPr lang="ar-SA" altLang="en-US" sz="1650" dirty="0">
                <a:solidFill>
                  <a:srgbClr val="1E6B52"/>
                </a:solidFill>
                <a:latin typeface="Amiri" pitchFamily="2" charset="-78"/>
                <a:ea typeface="Amiri" pitchFamily="2" charset="-78"/>
                <a:cs typeface="Amiri" pitchFamily="2" charset="-78"/>
              </a:rPr>
              <a:t>أَرْخَصُ</a:t>
            </a:r>
            <a:pPr algn="l" indent="0" marL="0">
              <a:buNone/>
            </a:pPr>
            <a:r>
              <a:rPr lang="en-US" sz="1250" dirty="0">
                <a:solidFill>
                  <a:srgbClr val="1E6B52"/>
                </a:solidFill>
                <a:latin typeface="Calibri" pitchFamily="34" charset="0"/>
                <a:cs typeface="Amiri" pitchFamily="2" charset="-78"/>
              </a:rPr>
              <a:t> (cheaper).</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48</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457200" y="1810512"/>
            <a:ext cx="11274552" cy="688848"/>
          </a:xfrm>
          <a:prstGeom prst="roundRect">
            <a:avLst>
              <a:gd name="adj" fmla="val 6637"/>
            </a:avLst>
          </a:prstGeom>
          <a:solidFill>
            <a:srgbClr val="FFFFFF"/>
          </a:solidFill>
          <a:ln w="9525">
            <a:solidFill>
              <a:srgbClr val="D8D0BF"/>
            </a:solidFill>
            <a:prstDash val="solid"/>
          </a:ln>
        </p:spPr>
      </p:sp>
      <p:sp>
        <p:nvSpPr>
          <p:cNvPr id="16" name="Text 13"/>
          <p:cNvSpPr txBox="1"/>
          <p:nvPr/>
        </p:nvSpPr>
        <p:spPr>
          <a:xfrm>
            <a:off x="4937760" y="1828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الزَّبُونَةُ: السَّلَامُ عَلَيْكُمْ. هَلْ عِنْدَكُمْ حَقَائِبُ صَغِيرَةٌ؟</a:t>
            </a:r>
            <a:endParaRPr lang="ar-SA" sz="2000" dirty="0"/>
          </a:p>
        </p:txBody>
      </p:sp>
      <p:sp>
        <p:nvSpPr>
          <p:cNvPr id="17" name="Text 14"/>
          <p:cNvSpPr txBox="1"/>
          <p:nvPr/>
        </p:nvSpPr>
        <p:spPr>
          <a:xfrm>
            <a:off x="640080" y="182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Customer: Hello. Do you have small bags?</a:t>
            </a:r>
            <a:endParaRPr lang="en-US" sz="1250" dirty="0"/>
          </a:p>
        </p:txBody>
      </p:sp>
      <p:sp>
        <p:nvSpPr>
          <p:cNvPr id="18" name="Shape 15"/>
          <p:cNvSpPr/>
          <p:nvPr/>
        </p:nvSpPr>
        <p:spPr>
          <a:xfrm>
            <a:off x="457200" y="2572512"/>
            <a:ext cx="11274552" cy="688848"/>
          </a:xfrm>
          <a:prstGeom prst="roundRect">
            <a:avLst>
              <a:gd name="adj" fmla="val 6637"/>
            </a:avLst>
          </a:prstGeom>
          <a:solidFill>
            <a:srgbClr val="F4F1EA"/>
          </a:solidFill>
          <a:ln w="9525">
            <a:solidFill>
              <a:srgbClr val="D8D0BF"/>
            </a:solidFill>
            <a:prstDash val="solid"/>
          </a:ln>
        </p:spPr>
      </p:sp>
      <p:sp>
        <p:nvSpPr>
          <p:cNvPr id="19" name="Text 16"/>
          <p:cNvSpPr txBox="1"/>
          <p:nvPr/>
        </p:nvSpPr>
        <p:spPr>
          <a:xfrm>
            <a:off x="4937760" y="2590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البَائِعُ: نَعَمْ، هٰذِهِ حَقِيبَةٌ زَرْقَاءُ وَثَمَنُهَا خَمْسُونَ دِينَارًا.</a:t>
            </a:r>
            <a:endParaRPr lang="ar-SA" sz="2000" dirty="0"/>
          </a:p>
        </p:txBody>
      </p:sp>
      <p:sp>
        <p:nvSpPr>
          <p:cNvPr id="20" name="Text 17"/>
          <p:cNvSpPr txBox="1"/>
          <p:nvPr/>
        </p:nvSpPr>
        <p:spPr>
          <a:xfrm>
            <a:off x="640080" y="2590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Seller: Yes, this is a blue bag and it costs fifty dinars.</a:t>
            </a:r>
            <a:endParaRPr lang="en-US" sz="1250" dirty="0"/>
          </a:p>
        </p:txBody>
      </p:sp>
      <p:sp>
        <p:nvSpPr>
          <p:cNvPr id="21" name="Shape 18"/>
          <p:cNvSpPr/>
          <p:nvPr/>
        </p:nvSpPr>
        <p:spPr>
          <a:xfrm>
            <a:off x="457200" y="3334512"/>
            <a:ext cx="11274552" cy="688848"/>
          </a:xfrm>
          <a:prstGeom prst="roundRect">
            <a:avLst>
              <a:gd name="adj" fmla="val 6637"/>
            </a:avLst>
          </a:prstGeom>
          <a:solidFill>
            <a:srgbClr val="FFFFFF"/>
          </a:solidFill>
          <a:ln w="9525">
            <a:solidFill>
              <a:srgbClr val="D8D0BF"/>
            </a:solidFill>
            <a:prstDash val="solid"/>
          </a:ln>
        </p:spPr>
      </p:sp>
      <p:sp>
        <p:nvSpPr>
          <p:cNvPr id="22" name="Text 19"/>
          <p:cNvSpPr txBox="1"/>
          <p:nvPr/>
        </p:nvSpPr>
        <p:spPr>
          <a:xfrm>
            <a:off x="4937760" y="3352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وَهٰذِهِ حَقِيبَةٌ سَوْدَاءُ بِأَرْبَعِينَ.</a:t>
            </a:r>
            <a:endParaRPr lang="ar-SA" sz="2000" dirty="0"/>
          </a:p>
        </p:txBody>
      </p:sp>
      <p:sp>
        <p:nvSpPr>
          <p:cNvPr id="23" name="Text 20"/>
          <p:cNvSpPr txBox="1"/>
          <p:nvPr/>
        </p:nvSpPr>
        <p:spPr>
          <a:xfrm>
            <a:off x="640080" y="3352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And this is a black bag for forty.</a:t>
            </a:r>
            <a:endParaRPr lang="en-US" sz="1250" dirty="0"/>
          </a:p>
        </p:txBody>
      </p:sp>
      <p:sp>
        <p:nvSpPr>
          <p:cNvPr id="24" name="Shape 21"/>
          <p:cNvSpPr/>
          <p:nvPr/>
        </p:nvSpPr>
        <p:spPr>
          <a:xfrm>
            <a:off x="457200" y="4096512"/>
            <a:ext cx="11274552" cy="688848"/>
          </a:xfrm>
          <a:prstGeom prst="roundRect">
            <a:avLst>
              <a:gd name="adj" fmla="val 6637"/>
            </a:avLst>
          </a:prstGeom>
          <a:solidFill>
            <a:srgbClr val="F4F1EA"/>
          </a:solidFill>
          <a:ln w="9525">
            <a:solidFill>
              <a:srgbClr val="D8D0BF"/>
            </a:solidFill>
            <a:prstDash val="solid"/>
          </a:ln>
        </p:spPr>
      </p:sp>
      <p:sp>
        <p:nvSpPr>
          <p:cNvPr id="25" name="Text 22"/>
          <p:cNvSpPr txBox="1"/>
          <p:nvPr/>
        </p:nvSpPr>
        <p:spPr>
          <a:xfrm>
            <a:off x="4937760" y="4114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الزَّبُونَةُ: السَّوْدَاءُ أَرْخَصُ، وَلٰكِنَّ الزَّرْقَاءَ أَجْمَلُ. هَلْ هُنَاكَ خَصْمٌ؟</a:t>
            </a:r>
            <a:endParaRPr lang="ar-SA" sz="2000" dirty="0"/>
          </a:p>
        </p:txBody>
      </p:sp>
      <p:sp>
        <p:nvSpPr>
          <p:cNvPr id="26" name="Text 23"/>
          <p:cNvSpPr txBox="1"/>
          <p:nvPr/>
        </p:nvSpPr>
        <p:spPr>
          <a:xfrm>
            <a:off x="640080" y="4114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Customer: The black one is cheaper, but the blue one is nicer. Is there a discount?</a:t>
            </a:r>
            <a:endParaRPr lang="en-US" sz="1250" dirty="0"/>
          </a:p>
        </p:txBody>
      </p:sp>
      <p:sp>
        <p:nvSpPr>
          <p:cNvPr id="27" name="Shape 24"/>
          <p:cNvSpPr/>
          <p:nvPr/>
        </p:nvSpPr>
        <p:spPr>
          <a:xfrm>
            <a:off x="457200" y="4858512"/>
            <a:ext cx="11274552" cy="688848"/>
          </a:xfrm>
          <a:prstGeom prst="roundRect">
            <a:avLst>
              <a:gd name="adj" fmla="val 6637"/>
            </a:avLst>
          </a:prstGeom>
          <a:solidFill>
            <a:srgbClr val="FFFFFF"/>
          </a:solidFill>
          <a:ln w="9525">
            <a:solidFill>
              <a:srgbClr val="D8D0BF"/>
            </a:solidFill>
            <a:prstDash val="solid"/>
          </a:ln>
        </p:spPr>
      </p:sp>
      <p:sp>
        <p:nvSpPr>
          <p:cNvPr id="28" name="Text 25"/>
          <p:cNvSpPr txBox="1"/>
          <p:nvPr/>
        </p:nvSpPr>
        <p:spPr>
          <a:xfrm>
            <a:off x="4937760" y="4876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البَائِعُ: نَعَمْ، خَصْمٌ عَشَرَةُ دَنَانِيرَ.</a:t>
            </a:r>
            <a:endParaRPr lang="ar-SA" sz="2000" dirty="0"/>
          </a:p>
        </p:txBody>
      </p:sp>
      <p:sp>
        <p:nvSpPr>
          <p:cNvPr id="29" name="Text 26"/>
          <p:cNvSpPr txBox="1"/>
          <p:nvPr/>
        </p:nvSpPr>
        <p:spPr>
          <a:xfrm>
            <a:off x="640080" y="4876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Seller: Yes, a discount of ten dinars.</a:t>
            </a:r>
            <a:endParaRPr lang="en-US" sz="1250" dirty="0"/>
          </a:p>
        </p:txBody>
      </p:sp>
      <p:sp>
        <p:nvSpPr>
          <p:cNvPr id="30" name="Shape 27"/>
          <p:cNvSpPr/>
          <p:nvPr/>
        </p:nvSpPr>
        <p:spPr>
          <a:xfrm>
            <a:off x="457200" y="5620512"/>
            <a:ext cx="11274552" cy="688848"/>
          </a:xfrm>
          <a:prstGeom prst="roundRect">
            <a:avLst>
              <a:gd name="adj" fmla="val 6637"/>
            </a:avLst>
          </a:prstGeom>
          <a:solidFill>
            <a:srgbClr val="F4F1EA"/>
          </a:solidFill>
          <a:ln w="9525">
            <a:solidFill>
              <a:srgbClr val="D8D0BF"/>
            </a:solidFill>
            <a:prstDash val="solid"/>
          </a:ln>
        </p:spPr>
      </p:sp>
      <p:sp>
        <p:nvSpPr>
          <p:cNvPr id="31" name="Text 28"/>
          <p:cNvSpPr txBox="1"/>
          <p:nvPr/>
        </p:nvSpPr>
        <p:spPr>
          <a:xfrm>
            <a:off x="4937760" y="5638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الزَّبُونَةُ: جَيِّدٌ. أُرِيدُ الزَّرْقَاءَ. هَلْ يُمْكِنُ أَنْ أَدْفَعَ بِالبِطَاقَةِ؟</a:t>
            </a:r>
            <a:endParaRPr lang="ar-SA" sz="2000" dirty="0"/>
          </a:p>
        </p:txBody>
      </p:sp>
      <p:sp>
        <p:nvSpPr>
          <p:cNvPr id="32" name="Text 29"/>
          <p:cNvSpPr txBox="1"/>
          <p:nvPr/>
        </p:nvSpPr>
        <p:spPr>
          <a:xfrm>
            <a:off x="640080" y="563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Customer: Good. I want the blue one. Can I pay by card?</a:t>
            </a:r>
            <a:endParaRPr lang="en-US" sz="12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48</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customer want to see?</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small bags</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shoes</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phones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asks </a:t>
            </a:r>
            <a:pPr algn="l" indent="0" marL="0">
              <a:buNone/>
            </a:pPr>
            <a:r>
              <a:rPr lang="ar-SA" altLang="en-US" sz="1350" dirty="0">
                <a:solidFill>
                  <a:srgbClr val="8A6D1E"/>
                </a:solidFill>
                <a:latin typeface="Amiri" pitchFamily="2" charset="-78"/>
                <a:ea typeface="Amiri" pitchFamily="2" charset="-78"/>
                <a:cs typeface="Amiri" pitchFamily="2" charset="-78"/>
              </a:rPr>
              <a:t>حَقَائِبُ صَغِيرَةٌ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is the blue bag before discount?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40 dinars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10 dinars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50 dinars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ثَمَنُهَا خَمْسُونَ.</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bag is cheaper?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blue bag</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cost the same</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black bag</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السَّوْدَاءُ أَرْخَصُ.</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is the discount?</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10 dinars</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20 dinars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5 dinars</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خَصْمٌ عَشَرَةُ دَنَانِيرَ.</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she want to pay?</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cash</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by card</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phone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أَدْفَعَ بِالبِطَاقَةِ.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1–3 — listen for </a:t>
            </a:r>
            <a:pPr algn="l" indent="0" marL="0">
              <a:buNone/>
            </a:pPr>
            <a:r>
              <a:rPr lang="ar-SA" altLang="en-US" sz="1650" dirty="0">
                <a:solidFill>
                  <a:srgbClr val="1E6B52"/>
                </a:solidFill>
                <a:latin typeface="Amiri" pitchFamily="2" charset="-78"/>
                <a:ea typeface="Amiri" pitchFamily="2" charset="-78"/>
                <a:cs typeface="Amiri" pitchFamily="2" charset="-78"/>
              </a:rPr>
              <a:t>حَقَائِبُ</a:t>
            </a:r>
            <a:pPr algn="l" indent="0" marL="0">
              <a:buNone/>
            </a:pPr>
            <a:r>
              <a:rPr lang="en-US" sz="1250" dirty="0">
                <a:solidFill>
                  <a:srgbClr val="1E6B52"/>
                </a:solidFill>
                <a:latin typeface="Calibri" pitchFamily="34" charset="0"/>
                <a:cs typeface="Amiri" pitchFamily="2" charset="-78"/>
              </a:rPr>
              <a:t> (bags), </a:t>
            </a:r>
            <a:pPr algn="l" indent="0" marL="0">
              <a:buNone/>
            </a:pPr>
            <a:r>
              <a:rPr lang="ar-SA" altLang="en-US" sz="1650" dirty="0">
                <a:solidFill>
                  <a:srgbClr val="1E6B52"/>
                </a:solidFill>
                <a:latin typeface="Amiri" pitchFamily="2" charset="-78"/>
                <a:ea typeface="Amiri" pitchFamily="2" charset="-78"/>
                <a:cs typeface="Amiri" pitchFamily="2" charset="-78"/>
              </a:rPr>
              <a:t>خَمْسُونَ</a:t>
            </a:r>
            <a:pPr algn="l" indent="0" marL="0">
              <a:buNone/>
            </a:pPr>
            <a:r>
              <a:rPr lang="en-US" sz="1250" dirty="0">
                <a:solidFill>
                  <a:srgbClr val="1E6B52"/>
                </a:solidFill>
                <a:latin typeface="Calibri" pitchFamily="34" charset="0"/>
                <a:cs typeface="Amiri" pitchFamily="2" charset="-78"/>
              </a:rPr>
              <a:t> (fifty) and </a:t>
            </a:r>
            <a:pPr algn="l" indent="0" marL="0">
              <a:buNone/>
            </a:pPr>
            <a:r>
              <a:rPr lang="ar-SA" altLang="en-US" sz="1650" dirty="0">
                <a:solidFill>
                  <a:srgbClr val="1E6B52"/>
                </a:solidFill>
                <a:latin typeface="Amiri" pitchFamily="2" charset="-78"/>
                <a:ea typeface="Amiri" pitchFamily="2" charset="-78"/>
                <a:cs typeface="Amiri" pitchFamily="2" charset="-78"/>
              </a:rPr>
              <a:t>أَرْخَصُ</a:t>
            </a:r>
            <a:pPr algn="l" indent="0" marL="0">
              <a:buNone/>
            </a:pPr>
            <a:r>
              <a:rPr lang="en-US" sz="1250" dirty="0">
                <a:solidFill>
                  <a:srgbClr val="1E6B52"/>
                </a:solidFill>
                <a:latin typeface="Calibri" pitchFamily="34" charset="0"/>
                <a:cs typeface="Amiri" pitchFamily="2" charset="-78"/>
              </a:rPr>
              <a:t> (cheaper).</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48</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Market bargaining and payment role play</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عِنْدَكُمْ...؟</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 ثَمَنُهُ / ثَمَنُهَا؟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هُنَاكَ خَصْمٌ؟</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يُمْكِنُ أَنْ أَدْفَعَ بِالبِطَاقَةِ؟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هٰذَا / هٰذِهِ ___ . كَمْ ثَمَنُهُ / ثَمَنُهَا؟</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___ أَرْخَصُ مِنْ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لٰكِنَّ ___ لَا يَعْمَلُ، أُرِيدُ أَنْ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اِشْتَرَى / اِشْتَرَتْ ___ بِـ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هَلْ عِنْدَكُمْ تَذْكَارٌ صَغِيرٌ؟</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Do you have a small souvenir?</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نَعَمْ، هٰذَا تَذْكَارٌ جَمِيلٌ وَثَمَنُهُ خَمْسَةَ عَشَرَ دِينَارًا.</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Yes, this is a nice souvenir and it costs fifteen dinars.</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48</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lines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Ask the price of four items and complete a supported purchase.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Use the frames and word bank on the next slide: “this is …”, the price question and the price.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 lines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Compare three items and justify a purchase decision.</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Add a comparison (cheaper / dearer than), a discount question and your decision (“so I will buy …”).</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6–8 lines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Handle availability, discount, payment and receipt questions in a spontaneous role play.</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writing task: a shop dialogue comparing two purchases, plus a problem to fix; checklist on the Stretch slide.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48</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أَرْخَصُ مِنْ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cheaper than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أَغْلَى مِنْ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more expensive than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هُنَاكَ خَصْمٌ؟</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Is there a discount?</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لِذٰلِكَ سَأَشْتَرِي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So I will buy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يُمْكِنُ أَنْ أَدْفَعَ بِالبِطَاقَةِ؟</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Can I pay by card?</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عِنْدَكُمْ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Do you have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______ . كَمْ ثَمَنُهُ؟</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(m.) is … How much is it?</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______ . كَمْ ثَمَنُهَا؟</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(f.) is … How much is it?</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ثَمَنُهُ / ثَمَنُهَا ______ دِينَارًا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costs … dinars.</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أَشْتَرِيَ ______ ، مِنْ فَضْلِكَ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want to buy …, please.</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كِتَابٌ  ·  حَقِيبَةٌ  ·  هَاتِفٌ  ·  هَدِيَّةٌ  ·  تَذْكَارٌ  ·  حِذَاءٌ  ·  عَشَرَةُ دَنَانِيرَ  ·  عِشْرُونَ  ·  خَمْسُونَ  ·  خَصْمٌ  ·  نَقْدًا  ·  بِالبِطَاقَةِ</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48</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six- to eight-line shopping dialogue and compare two possible purchases.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Ask whether an item is available.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the correct price suffix twice.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Compare the two items with </a:t>
            </a:r>
            <a:pPr algn="l" indent="0" marL="0">
              <a:buNone/>
            </a:pPr>
            <a:r>
              <a:rPr lang="ar-SA" altLang="en-US" sz="1550" dirty="0">
                <a:solidFill>
                  <a:srgbClr val="1F2A37"/>
                </a:solidFill>
                <a:latin typeface="Amiri" pitchFamily="2" charset="-78"/>
                <a:ea typeface="Amiri" pitchFamily="2" charset="-78"/>
                <a:cs typeface="Amiri" pitchFamily="2" charset="-78"/>
              </a:rPr>
              <a:t>أَرْخَصُ / أَغْلَى</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Request a discount or payment method politely.</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عِنْدَكُمْ … مَحَلِّيَّةٌ؟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do you have local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كَمْ ثَمَنُهُ؟ وَكَمْ ثَمَنُهَا؟</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how much is it (m.)? and (f.)?</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أَغْلَى مِنْهُ بِخَمْسَةِ دَنَانِيرَ</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is five dinars dearer than it</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أَرْخَصُ وَأَنْسَبُ</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is cheaper and more suitable</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هُنَاكَ خَصْمٌ؟</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is there a discount?</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لٰكِنَّهُ لَا يَعْمَلُ، أُرِيدُ أَنْ أُبَدِّلَهُ</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but it doesn’t work; I want to exchange it</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48</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الزَّبُونُ: هَلْ عِنْدَكُمْ هَدَايَا مَحَلِّيَّةٌ؟</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البَائِعَةُ: نَعَمْ، هٰذَا كِتَابٌ عَنِ المَدِينَةِ، وَهٰذِهِ حَقِيبَةٌ صَغِيرَةٌ.</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الزَّبُونُ: كَمْ ثَمَنُهُ؟ وَكَمْ ثَمَنُهَا؟</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البَائِعَةُ: ثَمَنُ الكِتَابِ عِشْرُونَ دِينَارًا، وَالحَقِيبَةُ أَغْلَى مِنْهُ بِخَمْسَةِ دَنَانِيرَ.</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الزَّبُونُ: الكِتَابُ أَرْخَصُ وَأَنْسَبُ. هَلْ هُنَاكَ خَصْمٌ؟ وَهَلْ يُمْكِنُ أَنْ أَدْفَعَ بِالبِطَاقَةِ؟</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Customer: Do you have local gifts? · Seller: Yes, this is a book about the city, and this is a small bag. · Customer: How much is it (the book)? And how much is it (the bag)? · Seller: The book costs twenty dinars, and the bag is five dinars more expensive than it. · Customer: The book is cheaper and more suitable. Is there a discount? And can I pay by card?</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هٰذَا · هٰذِهِ</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ثَمَنُهُ · ثَمَنُهَا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أَغْلَى مِنْهُ</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أَرْخَصُ</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48</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choose </a:t>
            </a:r>
            <a:pPr algn="l" indent="0" marL="0">
              <a:buNone/>
            </a:pPr>
            <a:r>
              <a:rPr lang="ar-SA" altLang="en-US" sz="1700" dirty="0">
                <a:solidFill>
                  <a:srgbClr val="1F2A37"/>
                </a:solidFill>
                <a:latin typeface="Amiri" pitchFamily="2" charset="-78"/>
                <a:ea typeface="Amiri" pitchFamily="2" charset="-78"/>
                <a:cs typeface="Amiri" pitchFamily="2" charset="-78"/>
              </a:rPr>
              <a:t>هٰذَا</a:t>
            </a:r>
            <a:pPr algn="l" indent="0" marL="0">
              <a:buNone/>
            </a:pPr>
            <a:r>
              <a:rPr lang="en-US" sz="1300" dirty="0">
                <a:solidFill>
                  <a:srgbClr val="1F2A37"/>
                </a:solidFill>
                <a:latin typeface="Calibri" pitchFamily="34" charset="0"/>
                <a:cs typeface="Amiri" pitchFamily="2" charset="-78"/>
              </a:rPr>
              <a:t> or </a:t>
            </a:r>
            <a:pPr algn="l" indent="0" marL="0">
              <a:buNone/>
            </a:pPr>
            <a:r>
              <a:rPr lang="ar-SA" altLang="en-US" sz="1700" dirty="0">
                <a:solidFill>
                  <a:srgbClr val="1F2A37"/>
                </a:solidFill>
                <a:latin typeface="Amiri" pitchFamily="2" charset="-78"/>
                <a:ea typeface="Amiri" pitchFamily="2" charset="-78"/>
                <a:cs typeface="Amiri" pitchFamily="2" charset="-78"/>
              </a:rPr>
              <a:t>هٰذِهِ</a:t>
            </a:r>
            <a:pPr algn="l" indent="0" marL="0">
              <a:buNone/>
            </a:pPr>
            <a:r>
              <a:rPr lang="en-US" sz="1300" dirty="0">
                <a:solidFill>
                  <a:srgbClr val="1F2A37"/>
                </a:solidFill>
                <a:latin typeface="Calibri" pitchFamily="34" charset="0"/>
                <a:cs typeface="Amiri" pitchFamily="2" charset="-78"/>
              </a:rPr>
              <a:t> for an item.</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ask </a:t>
            </a:r>
            <a:pPr algn="l" indent="0" marL="0">
              <a:buNone/>
            </a:pPr>
            <a:r>
              <a:rPr lang="ar-SA" altLang="en-US" sz="1700" dirty="0">
                <a:solidFill>
                  <a:srgbClr val="1F2A37"/>
                </a:solidFill>
                <a:latin typeface="Amiri" pitchFamily="2" charset="-78"/>
                <a:ea typeface="Amiri" pitchFamily="2" charset="-78"/>
                <a:cs typeface="Amiri" pitchFamily="2" charset="-78"/>
              </a:rPr>
              <a:t>كَمْ ثَمَنُهُ / ثَمَنُهَا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compare two items. (</a:t>
            </a:r>
            <a:pPr algn="l" indent="0" marL="0">
              <a:buNone/>
            </a:pPr>
            <a:r>
              <a:rPr lang="ar-SA" altLang="en-US" sz="1700" dirty="0">
                <a:solidFill>
                  <a:srgbClr val="1F2A37"/>
                </a:solidFill>
                <a:latin typeface="Amiri" pitchFamily="2" charset="-78"/>
                <a:ea typeface="Amiri" pitchFamily="2" charset="-78"/>
                <a:cs typeface="Amiri" pitchFamily="2" charset="-78"/>
              </a:rPr>
              <a:t>أَرْخَصُ / أَغْلَى مِنْ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request an item and payment method politely.</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can explain a problem and ask for an exchange or a refund.</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48</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price question for </a:t>
            </a:r>
            <a:pPr algn="l" indent="0" marL="0">
              <a:buNone/>
            </a:pPr>
            <a:r>
              <a:rPr lang="ar-SA" altLang="en-US" sz="1650" b="1" dirty="0">
                <a:solidFill>
                  <a:srgbClr val="1B3B6F"/>
                </a:solidFill>
                <a:latin typeface="Amiri" pitchFamily="2" charset="-78"/>
                <a:ea typeface="Amiri" pitchFamily="2" charset="-78"/>
                <a:cs typeface="Amiri" pitchFamily="2" charset="-78"/>
              </a:rPr>
              <a:t>هَاتِفٌ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ثَمَنُهُ؟</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ثَمَنُهَا؟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ثَمَنُكَ؟</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cheaper than?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أَغْلَى مِنْ</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أَرْخَصُ مِنْ</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أَقْرَبُ مِنْ</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comparison.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الحَقِيبَةُ أَغْلَى مِنَ الكِتَابِ.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الحَقِيبَةُ غَالِيَةٌ مِنَ الكِتَابِ.</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الحَقِيبَةُ أَغْلَيَةٌ.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48</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price question for </a:t>
            </a:r>
            <a:pPr algn="l" indent="0" marL="0">
              <a:buNone/>
            </a:pPr>
            <a:r>
              <a:rPr lang="ar-SA" altLang="en-US" sz="1650" b="1" dirty="0">
                <a:solidFill>
                  <a:srgbClr val="1B3B6F"/>
                </a:solidFill>
                <a:latin typeface="Amiri" pitchFamily="2" charset="-78"/>
                <a:ea typeface="Amiri" pitchFamily="2" charset="-78"/>
                <a:cs typeface="Amiri" pitchFamily="2" charset="-78"/>
              </a:rPr>
              <a:t>هَاتِفٌ</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كَمْ ثَمَنُهُ؟</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كَمْ ثَمَنُهَا؟</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كَمْ ثَمَنُكَ؟</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هَاتِفٌ</a:t>
            </a:r>
            <a:pPr algn="l" indent="0" marL="0">
              <a:buNone/>
            </a:pPr>
            <a:r>
              <a:rPr lang="en-US" sz="1050" i="1" dirty="0">
                <a:solidFill>
                  <a:srgbClr val="8A6D1E"/>
                </a:solidFill>
                <a:latin typeface="Calibri" pitchFamily="34" charset="0"/>
                <a:cs typeface="Amiri" pitchFamily="2" charset="-78"/>
              </a:rPr>
              <a:t> is masculine.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means cheaper than?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أَغْلَى مِنْ</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أَرْخَصُ مِنْ</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أَقْرَبُ مِنْ</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أَرْخَصُ مِنْ</a:t>
            </a:r>
            <a:pPr algn="l" indent="0" marL="0">
              <a:buNone/>
            </a:pPr>
            <a:r>
              <a:rPr lang="en-US" sz="1050" i="1" dirty="0">
                <a:solidFill>
                  <a:srgbClr val="8A6D1E"/>
                </a:solidFill>
                <a:latin typeface="Calibri" pitchFamily="34" charset="0"/>
                <a:cs typeface="Amiri" pitchFamily="2" charset="-78"/>
              </a:rPr>
              <a:t> means cheaper than.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comparison.</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الحَقِيبَةُ أَغْلَى مِنَ الكِتَابِ.</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الحَقِيبَةُ غَالِيَةٌ مِنَ الكِتَابِ.</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الحَقِيبَةُ أَغْلَيَةٌ.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the fixed comparative </a:t>
            </a:r>
            <a:pPr algn="l" indent="0" marL="0">
              <a:buNone/>
            </a:pPr>
            <a:r>
              <a:rPr lang="ar-SA" altLang="en-US" sz="1350" dirty="0">
                <a:solidFill>
                  <a:srgbClr val="8A6D1E"/>
                </a:solidFill>
                <a:latin typeface="Amiri" pitchFamily="2" charset="-78"/>
                <a:ea typeface="Amiri" pitchFamily="2" charset="-78"/>
                <a:cs typeface="Amiri" pitchFamily="2" charset="-78"/>
              </a:rPr>
              <a:t>أَغْلَى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48</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 RESOLVE A PROBLEM</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complaint to customer service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شَكْوَى</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56816"/>
            <a:ext cx="7616952" cy="664464"/>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إِلَى: خِدْمَةِ الزَّبَائِنِ — مَرْكَزُ النُّورِ التِّجَارِيُّ</a:t>
            </a:r>
            <a:endParaRPr lang="ar-SA" sz="2200" dirty="0"/>
          </a:p>
        </p:txBody>
      </p:sp>
      <p:sp>
        <p:nvSpPr>
          <p:cNvPr id="19" name="Shape 16"/>
          <p:cNvSpPr/>
          <p:nvPr/>
        </p:nvSpPr>
        <p:spPr>
          <a:xfrm>
            <a:off x="685800" y="2639568"/>
            <a:ext cx="7616952" cy="0"/>
          </a:xfrm>
          <a:prstGeom prst="line">
            <a:avLst/>
          </a:prstGeom>
          <a:noFill/>
          <a:ln w="9525">
            <a:solidFill>
              <a:srgbClr val="E4DCCB"/>
            </a:solidFill>
            <a:prstDash val="dash"/>
          </a:ln>
        </p:spPr>
      </p:sp>
      <p:sp>
        <p:nvSpPr>
          <p:cNvPr id="20" name="Text 17"/>
          <p:cNvSpPr txBox="1"/>
          <p:nvPr/>
        </p:nvSpPr>
        <p:spPr>
          <a:xfrm>
            <a:off x="685800" y="2657856"/>
            <a:ext cx="7616952" cy="664464"/>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اِشْتَرَيْتُ هٰذَا الهَاتِفَ يَوْمَ السَّبْتِ بِمِئَتَيْ دِينَارٍ.</a:t>
            </a:r>
            <a:endParaRPr lang="ar-SA" sz="2000" dirty="0"/>
          </a:p>
        </p:txBody>
      </p:sp>
      <p:sp>
        <p:nvSpPr>
          <p:cNvPr id="21" name="Shape 18"/>
          <p:cNvSpPr/>
          <p:nvPr/>
        </p:nvSpPr>
        <p:spPr>
          <a:xfrm>
            <a:off x="685800" y="3340608"/>
            <a:ext cx="7616952" cy="0"/>
          </a:xfrm>
          <a:prstGeom prst="line">
            <a:avLst/>
          </a:prstGeom>
          <a:noFill/>
          <a:ln w="9525">
            <a:solidFill>
              <a:srgbClr val="E4DCCB"/>
            </a:solidFill>
            <a:prstDash val="dash"/>
          </a:ln>
        </p:spPr>
      </p:sp>
      <p:sp>
        <p:nvSpPr>
          <p:cNvPr id="22" name="Text 19"/>
          <p:cNvSpPr txBox="1"/>
          <p:nvPr/>
        </p:nvSpPr>
        <p:spPr>
          <a:xfrm>
            <a:off x="685800" y="3358896"/>
            <a:ext cx="7616952" cy="664464"/>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لٰكِنَّ الهَاتِفَ لَا يَعْمَلُ، وَالسَّمَّاعَاتُ لَيْسَتْ فِي العُلْبَةِ.</a:t>
            </a:r>
            <a:endParaRPr lang="ar-SA" sz="2000" dirty="0"/>
          </a:p>
        </p:txBody>
      </p:sp>
      <p:sp>
        <p:nvSpPr>
          <p:cNvPr id="23" name="Shape 20"/>
          <p:cNvSpPr/>
          <p:nvPr/>
        </p:nvSpPr>
        <p:spPr>
          <a:xfrm>
            <a:off x="685800" y="4041648"/>
            <a:ext cx="7616952" cy="0"/>
          </a:xfrm>
          <a:prstGeom prst="line">
            <a:avLst/>
          </a:prstGeom>
          <a:noFill/>
          <a:ln w="9525">
            <a:solidFill>
              <a:srgbClr val="E4DCCB"/>
            </a:solidFill>
            <a:prstDash val="dash"/>
          </a:ln>
        </p:spPr>
      </p:sp>
      <p:sp>
        <p:nvSpPr>
          <p:cNvPr id="24" name="Text 21"/>
          <p:cNvSpPr txBox="1"/>
          <p:nvPr/>
        </p:nvSpPr>
        <p:spPr>
          <a:xfrm>
            <a:off x="685800" y="4059936"/>
            <a:ext cx="7616952" cy="664464"/>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عِنْدِي الفَاتُورَةُ، وَهٰذِهِ صُورَتُهَا.</a:t>
            </a:r>
            <a:endParaRPr lang="ar-SA" sz="2000" dirty="0"/>
          </a:p>
        </p:txBody>
      </p:sp>
      <p:sp>
        <p:nvSpPr>
          <p:cNvPr id="25" name="Shape 22"/>
          <p:cNvSpPr/>
          <p:nvPr/>
        </p:nvSpPr>
        <p:spPr>
          <a:xfrm>
            <a:off x="685800" y="4742688"/>
            <a:ext cx="7616952" cy="0"/>
          </a:xfrm>
          <a:prstGeom prst="line">
            <a:avLst/>
          </a:prstGeom>
          <a:noFill/>
          <a:ln w="9525">
            <a:solidFill>
              <a:srgbClr val="E4DCCB"/>
            </a:solidFill>
            <a:prstDash val="dash"/>
          </a:ln>
        </p:spPr>
      </p:sp>
      <p:sp>
        <p:nvSpPr>
          <p:cNvPr id="26" name="Text 23"/>
          <p:cNvSpPr txBox="1"/>
          <p:nvPr/>
        </p:nvSpPr>
        <p:spPr>
          <a:xfrm>
            <a:off x="685800" y="4760976"/>
            <a:ext cx="7616952" cy="664464"/>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أُرِيدُ أَنْ أُبَدِّلَ الهَاتِفَ بِهَاتِفٍ جَدِيدٍ، أَوْ أَنْ تُرْجِعُوا لِي المَالَ.</a:t>
            </a:r>
            <a:endParaRPr lang="ar-SA" sz="2000" dirty="0"/>
          </a:p>
        </p:txBody>
      </p:sp>
      <p:sp>
        <p:nvSpPr>
          <p:cNvPr id="27" name="Shape 24"/>
          <p:cNvSpPr/>
          <p:nvPr/>
        </p:nvSpPr>
        <p:spPr>
          <a:xfrm>
            <a:off x="685800" y="5443728"/>
            <a:ext cx="7616952" cy="0"/>
          </a:xfrm>
          <a:prstGeom prst="line">
            <a:avLst/>
          </a:prstGeom>
          <a:noFill/>
          <a:ln w="9525">
            <a:solidFill>
              <a:srgbClr val="E4DCCB"/>
            </a:solidFill>
            <a:prstDash val="dash"/>
          </a:ln>
        </p:spPr>
      </p:sp>
      <p:sp>
        <p:nvSpPr>
          <p:cNvPr id="28" name="Text 25"/>
          <p:cNvSpPr txBox="1"/>
          <p:nvPr/>
        </p:nvSpPr>
        <p:spPr>
          <a:xfrm>
            <a:off x="685800" y="5462016"/>
            <a:ext cx="7616952" cy="664464"/>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2" charset="-78"/>
                <a:ea typeface="Amiri" pitchFamily="2" charset="-78"/>
                <a:cs typeface="Amiri" pitchFamily="2" charset="-78"/>
              </a:rPr>
              <a:t>شُكْرًا لَكُمْ — سَارَةُ</a:t>
            </a:r>
            <a:endParaRPr lang="ar-SA" sz="2000" dirty="0"/>
          </a:p>
        </p:txBody>
      </p:sp>
      <p:sp>
        <p:nvSpPr>
          <p:cNvPr id="29" name="Shape 2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31" name="Text 28"/>
          <p:cNvSpPr txBox="1"/>
          <p:nvPr/>
        </p:nvSpPr>
        <p:spPr>
          <a:xfrm>
            <a:off x="10102291" y="2212848"/>
            <a:ext cx="1508760" cy="44704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خِدْمَةُ الزَّبَائِنِ</a:t>
            </a:r>
            <a:endParaRPr lang="ar-SA" sz="1600" dirty="0"/>
          </a:p>
        </p:txBody>
      </p:sp>
      <p:sp>
        <p:nvSpPr>
          <p:cNvPr id="32" name="Text 29"/>
          <p:cNvSpPr txBox="1"/>
          <p:nvPr/>
        </p:nvSpPr>
        <p:spPr>
          <a:xfrm>
            <a:off x="8851392" y="2212848"/>
            <a:ext cx="1388059" cy="44704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customer service</a:t>
            </a:r>
            <a:endParaRPr lang="en-US" sz="1050" dirty="0"/>
          </a:p>
        </p:txBody>
      </p:sp>
      <p:sp>
        <p:nvSpPr>
          <p:cNvPr id="33" name="Text 30"/>
          <p:cNvSpPr txBox="1"/>
          <p:nvPr/>
        </p:nvSpPr>
        <p:spPr>
          <a:xfrm>
            <a:off x="10102291" y="2659888"/>
            <a:ext cx="1508760" cy="44704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اِشْتَرَيْتُ</a:t>
            </a:r>
            <a:endParaRPr lang="ar-SA" sz="1600" dirty="0"/>
          </a:p>
        </p:txBody>
      </p:sp>
      <p:sp>
        <p:nvSpPr>
          <p:cNvPr id="34" name="Text 31"/>
          <p:cNvSpPr txBox="1"/>
          <p:nvPr/>
        </p:nvSpPr>
        <p:spPr>
          <a:xfrm>
            <a:off x="8851392" y="2659888"/>
            <a:ext cx="1388059" cy="44704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bought</a:t>
            </a:r>
            <a:endParaRPr lang="en-US" sz="1050" dirty="0"/>
          </a:p>
        </p:txBody>
      </p:sp>
      <p:sp>
        <p:nvSpPr>
          <p:cNvPr id="35" name="Text 32"/>
          <p:cNvSpPr txBox="1"/>
          <p:nvPr/>
        </p:nvSpPr>
        <p:spPr>
          <a:xfrm>
            <a:off x="10102291" y="3106928"/>
            <a:ext cx="1508760" cy="44704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بِمِئَتَيْ دِينَارٍ</a:t>
            </a:r>
            <a:endParaRPr lang="ar-SA" sz="1600" dirty="0"/>
          </a:p>
        </p:txBody>
      </p:sp>
      <p:sp>
        <p:nvSpPr>
          <p:cNvPr id="36" name="Text 33"/>
          <p:cNvSpPr txBox="1"/>
          <p:nvPr/>
        </p:nvSpPr>
        <p:spPr>
          <a:xfrm>
            <a:off x="8851392" y="3106928"/>
            <a:ext cx="1388059" cy="44704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 200 dinars</a:t>
            </a:r>
            <a:endParaRPr lang="en-US" sz="1050" dirty="0"/>
          </a:p>
        </p:txBody>
      </p:sp>
      <p:sp>
        <p:nvSpPr>
          <p:cNvPr id="37" name="Text 34"/>
          <p:cNvSpPr txBox="1"/>
          <p:nvPr/>
        </p:nvSpPr>
        <p:spPr>
          <a:xfrm>
            <a:off x="10102291" y="3553968"/>
            <a:ext cx="1508760" cy="44704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لَا يَعْمَلُ</a:t>
            </a:r>
            <a:endParaRPr lang="ar-SA" sz="1600" dirty="0"/>
          </a:p>
        </p:txBody>
      </p:sp>
      <p:sp>
        <p:nvSpPr>
          <p:cNvPr id="38" name="Text 35"/>
          <p:cNvSpPr txBox="1"/>
          <p:nvPr/>
        </p:nvSpPr>
        <p:spPr>
          <a:xfrm>
            <a:off x="8851392" y="3553968"/>
            <a:ext cx="1388059" cy="44704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does not work</a:t>
            </a:r>
            <a:endParaRPr lang="en-US" sz="1050" dirty="0"/>
          </a:p>
        </p:txBody>
      </p:sp>
      <p:sp>
        <p:nvSpPr>
          <p:cNvPr id="39" name="Text 36"/>
          <p:cNvSpPr txBox="1"/>
          <p:nvPr/>
        </p:nvSpPr>
        <p:spPr>
          <a:xfrm>
            <a:off x="10102291" y="4001008"/>
            <a:ext cx="1508760" cy="44704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لَيْسَتْ</a:t>
            </a:r>
            <a:endParaRPr lang="ar-SA" sz="1600" dirty="0"/>
          </a:p>
        </p:txBody>
      </p:sp>
      <p:sp>
        <p:nvSpPr>
          <p:cNvPr id="40" name="Text 37"/>
          <p:cNvSpPr txBox="1"/>
          <p:nvPr/>
        </p:nvSpPr>
        <p:spPr>
          <a:xfrm>
            <a:off x="8851392" y="4001008"/>
            <a:ext cx="1388059" cy="44704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are not</a:t>
            </a:r>
            <a:endParaRPr lang="en-US" sz="1050" dirty="0"/>
          </a:p>
        </p:txBody>
      </p:sp>
      <p:sp>
        <p:nvSpPr>
          <p:cNvPr id="41" name="Text 38"/>
          <p:cNvSpPr txBox="1"/>
          <p:nvPr/>
        </p:nvSpPr>
        <p:spPr>
          <a:xfrm>
            <a:off x="10102291" y="4448048"/>
            <a:ext cx="1508760" cy="44704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العُلْبَةِ</a:t>
            </a:r>
            <a:endParaRPr lang="ar-SA" sz="1600" dirty="0"/>
          </a:p>
        </p:txBody>
      </p:sp>
      <p:sp>
        <p:nvSpPr>
          <p:cNvPr id="42" name="Text 39"/>
          <p:cNvSpPr txBox="1"/>
          <p:nvPr/>
        </p:nvSpPr>
        <p:spPr>
          <a:xfrm>
            <a:off x="8851392" y="4448048"/>
            <a:ext cx="1388059" cy="44704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box</a:t>
            </a:r>
            <a:endParaRPr lang="en-US" sz="1050" dirty="0"/>
          </a:p>
        </p:txBody>
      </p:sp>
      <p:sp>
        <p:nvSpPr>
          <p:cNvPr id="43" name="Text 40"/>
          <p:cNvSpPr txBox="1"/>
          <p:nvPr/>
        </p:nvSpPr>
        <p:spPr>
          <a:xfrm>
            <a:off x="10102291" y="4895088"/>
            <a:ext cx="1508760" cy="44704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صُورَتُهَا</a:t>
            </a:r>
            <a:endParaRPr lang="ar-SA" sz="1600" dirty="0"/>
          </a:p>
        </p:txBody>
      </p:sp>
      <p:sp>
        <p:nvSpPr>
          <p:cNvPr id="44" name="Text 41"/>
          <p:cNvSpPr txBox="1"/>
          <p:nvPr/>
        </p:nvSpPr>
        <p:spPr>
          <a:xfrm>
            <a:off x="8851392" y="4895088"/>
            <a:ext cx="1388059" cy="44704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photo of it</a:t>
            </a:r>
            <a:endParaRPr lang="en-US" sz="1050" dirty="0"/>
          </a:p>
        </p:txBody>
      </p:sp>
      <p:sp>
        <p:nvSpPr>
          <p:cNvPr id="45" name="Text 42"/>
          <p:cNvSpPr txBox="1"/>
          <p:nvPr/>
        </p:nvSpPr>
        <p:spPr>
          <a:xfrm>
            <a:off x="10102291" y="5342128"/>
            <a:ext cx="1508760" cy="44704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أُبَدِّلَ</a:t>
            </a:r>
            <a:endParaRPr lang="ar-SA" sz="1600" dirty="0"/>
          </a:p>
        </p:txBody>
      </p:sp>
      <p:sp>
        <p:nvSpPr>
          <p:cNvPr id="46" name="Text 43"/>
          <p:cNvSpPr txBox="1"/>
          <p:nvPr/>
        </p:nvSpPr>
        <p:spPr>
          <a:xfrm>
            <a:off x="8851392" y="5342128"/>
            <a:ext cx="1388059" cy="44704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exchange</a:t>
            </a:r>
            <a:endParaRPr lang="en-US" sz="1050" dirty="0"/>
          </a:p>
        </p:txBody>
      </p:sp>
      <p:sp>
        <p:nvSpPr>
          <p:cNvPr id="47" name="Text 44"/>
          <p:cNvSpPr txBox="1"/>
          <p:nvPr/>
        </p:nvSpPr>
        <p:spPr>
          <a:xfrm>
            <a:off x="10102291" y="5789168"/>
            <a:ext cx="1508760" cy="44704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تُرْجِعُوا لِي المَالَ</a:t>
            </a:r>
            <a:endParaRPr lang="ar-SA" sz="1600" dirty="0"/>
          </a:p>
        </p:txBody>
      </p:sp>
      <p:sp>
        <p:nvSpPr>
          <p:cNvPr id="48" name="Text 45"/>
          <p:cNvSpPr txBox="1"/>
          <p:nvPr/>
        </p:nvSpPr>
        <p:spPr>
          <a:xfrm>
            <a:off x="8851392" y="5789168"/>
            <a:ext cx="1388059" cy="44704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give me a refund</a:t>
            </a:r>
            <a:endParaRPr lang="en-US" sz="10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48</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COMPLAINT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is the problem?</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 المُشْكِلَةُ؟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did Sara buy the phone?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Sunday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Saturday</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Yesterday</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did it cost?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200 dinars</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20 dinars</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100 dinars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the TWO problems?</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too expensive and too big.</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receipt is lost and the box is broken.</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does not work and the headphones are missing.</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صُورَتُهَا</a:t>
            </a:r>
            <a:pPr algn="l" indent="0" marL="0">
              <a:buNone/>
            </a:pPr>
            <a:r>
              <a:rPr lang="en-US" sz="1250" b="1" dirty="0">
                <a:solidFill>
                  <a:srgbClr val="1B3B6F"/>
                </a:solidFill>
                <a:latin typeface="Calibri" pitchFamily="34" charset="0"/>
                <a:cs typeface="Amiri" pitchFamily="2" charset="-78"/>
              </a:rPr>
              <a:t> refer to?</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phone</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receipt</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box</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Sara want?</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discount on a new phone</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exchange or a refund</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Free headphones only</a:t>
            </a:r>
            <a:endParaRPr lang="en-US" sz="1250" dirty="0"/>
          </a:p>
        </p:txBody>
      </p:sp>
      <p:sp>
        <p:nvSpPr>
          <p:cNvPr id="82" name="Shape 79"/>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48</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COMPLAINT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Complaint: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did Sara buy the phone?</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Sunday</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On Saturday</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Yesterday</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اِشْتَرَيْتُ هٰذَا الهَاتِفَ يَوْمَ السَّبْتِ.</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much did it cost?</a:t>
            </a:r>
            <a:endParaRPr lang="en-US" sz="1250" dirty="0"/>
          </a:p>
        </p:txBody>
      </p:sp>
      <p:sp>
        <p:nvSpPr>
          <p:cNvPr id="36"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7"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8"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6"/>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200 dinars</a:t>
            </a:r>
            <a:endParaRPr lang="en-US" sz="1250" dirty="0"/>
          </a:p>
        </p:txBody>
      </p:sp>
      <p:sp>
        <p:nvSpPr>
          <p:cNvPr id="40"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1"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39"/>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20 dinars</a:t>
            </a:r>
            <a:endParaRPr lang="en-US" sz="1250" dirty="0"/>
          </a:p>
        </p:txBody>
      </p:sp>
      <p:sp>
        <p:nvSpPr>
          <p:cNvPr id="43"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100 dinars</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بِمِئَتَيْ دِينَارٍ (مِئَتَانِ = 200).</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are the TWO problems?</a:t>
            </a:r>
            <a:endParaRPr lang="en-US" sz="1250" dirty="0"/>
          </a:p>
        </p:txBody>
      </p:sp>
      <p:sp>
        <p:nvSpPr>
          <p:cNvPr id="51"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too expensive and too big.</a:t>
            </a:r>
            <a:endParaRPr lang="en-US" sz="1250" dirty="0"/>
          </a:p>
        </p:txBody>
      </p:sp>
      <p:sp>
        <p:nvSpPr>
          <p:cNvPr id="54"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3"/>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00" dirty="0">
                <a:solidFill>
                  <a:srgbClr val="9AA1AB"/>
                </a:solidFill>
                <a:latin typeface="Calibri" pitchFamily="34" charset="0"/>
                <a:cs typeface="Amiri" pitchFamily="2" charset="-78"/>
              </a:rPr>
              <a:t>The receipt is lost and the box is broken.</a:t>
            </a:r>
            <a:endParaRPr lang="en-US" sz="1200" dirty="0"/>
          </a:p>
        </p:txBody>
      </p:sp>
      <p:sp>
        <p:nvSpPr>
          <p:cNvPr id="57"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8"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It does not work and the headphones are missing.</a:t>
            </a:r>
            <a:endParaRPr lang="en-US" sz="11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لَا يَعْمَلُ … وَالسَّمَّاعَاتُ لَيْسَتْ فِي العُلْبَةِ.</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صُورَتُهَا</a:t>
            </a:r>
            <a:pPr algn="l" indent="0" marL="0">
              <a:buNone/>
            </a:pPr>
            <a:r>
              <a:rPr lang="en-US" sz="1250" b="1" dirty="0">
                <a:solidFill>
                  <a:srgbClr val="1B3B6F"/>
                </a:solidFill>
                <a:latin typeface="Calibri" pitchFamily="34" charset="0"/>
                <a:cs typeface="Amiri" pitchFamily="2" charset="-78"/>
              </a:rPr>
              <a:t> refer to?</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phone</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receipt</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box</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ـهَا</a:t>
            </a:r>
            <a:pPr algn="l" indent="0" marL="0">
              <a:buNone/>
            </a:pPr>
            <a:r>
              <a:rPr lang="en-US" sz="1050" i="1" dirty="0">
                <a:solidFill>
                  <a:srgbClr val="8A6D1E"/>
                </a:solidFill>
                <a:latin typeface="Calibri" pitchFamily="34" charset="0"/>
                <a:cs typeface="Amiri" pitchFamily="2" charset="-78"/>
              </a:rPr>
              <a:t> = feminine: </a:t>
            </a:r>
            <a:pPr algn="l" indent="0" marL="0">
              <a:buNone/>
            </a:pPr>
            <a:r>
              <a:rPr lang="ar-SA" altLang="en-US" sz="1350" dirty="0">
                <a:solidFill>
                  <a:srgbClr val="8A6D1E"/>
                </a:solidFill>
                <a:latin typeface="Amiri" pitchFamily="2" charset="-78"/>
                <a:ea typeface="Amiri" pitchFamily="2" charset="-78"/>
                <a:cs typeface="Amiri" pitchFamily="2" charset="-78"/>
              </a:rPr>
              <a:t>الفَاتُورَةُ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Sara want?</a:t>
            </a:r>
            <a:endParaRPr lang="en-US" sz="1250" dirty="0"/>
          </a:p>
        </p:txBody>
      </p:sp>
      <p:sp>
        <p:nvSpPr>
          <p:cNvPr id="81" name="Shape 78"/>
          <p:cNvSpPr/>
          <p:nvPr/>
        </p:nvSpPr>
        <p:spPr>
          <a:xfrm>
            <a:off x="4459224" y="4831080"/>
            <a:ext cx="256032" cy="256032"/>
          </a:xfrm>
          <a:prstGeom prst="ellipse">
            <a:avLst/>
          </a:prstGeom>
          <a:solidFill>
            <a:srgbClr val="C9CED6"/>
          </a:solidFill>
          <a:ln w="12700">
            <a:solidFill>
              <a:srgbClr val="C9CED6"/>
            </a:solidFill>
            <a:prstDash val="solid"/>
          </a:ln>
        </p:spPr>
      </p:sp>
      <p:sp>
        <p:nvSpPr>
          <p:cNvPr id="82" name="Text 79"/>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3" name="Text 80"/>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discount on a new phone</a:t>
            </a:r>
            <a:endParaRPr lang="en-US" sz="1250" dirty="0"/>
          </a:p>
        </p:txBody>
      </p:sp>
      <p:sp>
        <p:nvSpPr>
          <p:cNvPr id="84" name="Shape 81"/>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5" name="Shape 82"/>
          <p:cNvSpPr/>
          <p:nvPr/>
        </p:nvSpPr>
        <p:spPr>
          <a:xfrm>
            <a:off x="4459224" y="5202936"/>
            <a:ext cx="256032" cy="256032"/>
          </a:xfrm>
          <a:prstGeom prst="ellipse">
            <a:avLst/>
          </a:prstGeom>
          <a:solidFill>
            <a:srgbClr val="2E8B57"/>
          </a:solidFill>
          <a:ln w="12700">
            <a:solidFill>
              <a:srgbClr val="2E8B57"/>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exchange or a refund</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Free headphones only</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أُرِيدُ أَنْ أُبَدِّلَ … أَوْ أَنْ تُرْجِعُوا لِي المَالَ.</a:t>
            </a:r>
            <a:endParaRPr lang="ar-SA" sz="1350" dirty="0"/>
          </a:p>
        </p:txBody>
      </p:sp>
      <p:sp>
        <p:nvSpPr>
          <p:cNvPr id="92" name="Shape 89"/>
          <p:cNvSpPr/>
          <p:nvPr/>
        </p:nvSpPr>
        <p:spPr>
          <a:xfrm>
            <a:off x="8095488" y="4151376"/>
            <a:ext cx="3636264" cy="2157984"/>
          </a:xfrm>
          <a:prstGeom prst="roundRect">
            <a:avLst>
              <a:gd name="adj" fmla="val 3390"/>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48</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TC-L09 · Shopping &amp; Prices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TC-L10: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C · The World Around Us · TC-L09</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TC-L10 · Measurements, Shapes and Materials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طُوبٌ</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brick</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خَرَسَانَةٌ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concrete</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مَعْدِنٌ</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metal</a:t>
            </a:r>
            <a:pPr indent="0" marL="0">
              <a:buNone/>
            </a:pPr>
            <a:r>
              <a:rPr lang="ar-SA" sz="1000" i="1" dirty="0">
                <a:solidFill>
                  <a:srgbClr val="5A6472"/>
                </a:solidFill>
                <a:latin typeface="Calibri" pitchFamily="34" charset="0"/>
                <a:ea typeface="Amiri" pitchFamily="2" charset="-78"/>
                <a:cs typeface="Amiri" pitchFamily="2" charset="-78"/>
              </a:rPr>
              <a:t>  pl. مَعَادِنُ</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مِتْرٌ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metre</a:t>
            </a:r>
            <a:pPr indent="0" marL="0">
              <a:buNone/>
            </a:pPr>
            <a:r>
              <a:rPr lang="ar-SA" sz="1000" i="1" dirty="0">
                <a:solidFill>
                  <a:srgbClr val="5A6472"/>
                </a:solidFill>
                <a:latin typeface="Calibri" pitchFamily="34" charset="0"/>
                <a:ea typeface="Amiri" pitchFamily="2" charset="-78"/>
                <a:cs typeface="Amiri" pitchFamily="2" charset="-78"/>
              </a:rPr>
              <a:t>  pl. أَمْتَارٌ</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طُولٌ</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length</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one Arabic sentence: what is your house or school built of?</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مِنْ أَيِّ مَادَّةٍ بَيْتُكَ مَبْنِيٌّ؟</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 TC-L09 · play “Best Buy”, then the vocabulary mission.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Find a real advert (English is fine) and write 5 Arabic lines about it: this is …, it costs …, it is cheaper than …</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customer service’s reply to Sara’s complaint (5–6 lines).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47 / 48</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00" b="1" dirty="0">
                <a:solidFill>
                  <a:srgbClr val="FFFFFF"/>
                </a:solidFill>
                <a:latin typeface="Cambria" pitchFamily="34" charset="0"/>
                <a:cs typeface="Amiri" pitchFamily="2" charset="-78"/>
              </a:rPr>
              <a:t>TC-L10 · Measurements, Shapes and Materials</a:t>
            </a:r>
            <a:endParaRPr lang="en-US" sz="21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القِيَاسَاتُ وَالأَشْكَالُ وَالمَوَادُّ</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TC-L09 · Shopping, Prices and Consumer Choices</dc:title>
  <dc:subject>PptxGenJS Presentation</dc:subject>
  <dc:creator>Al Madina Online School · Arabic Department</dc:creator>
  <cp:lastModifiedBy>Al Madina Online School · Arabic Department</cp:lastModifiedBy>
  <cp:revision>1</cp:revision>
  <dcterms:created xsi:type="dcterms:W3CDTF">2026-10-11T06:44:02Z</dcterms:created>
  <dcterms:modified xsi:type="dcterms:W3CDTF">2026-10-11T06:44:02Z</dcterms:modified>
</cp:coreProperties>
</file>