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notesMasterIdLst>
    <p:notesMasterId r:id="rId4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Advanced Topics › Topic C › Lesson 4 (TC-L04). The website lesson reuses D4-L03 (Environmental Problems — Causes and Effects) with the Topic C focus “Explain pollution, climate change and habitat loss through cause and effect” (grammar: passive voice; cause/effect connectors). The picture match is the website lesson game “Cause &amp; Effect”; the “cause–effect chain” task is the website’s advanced application challenge.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D4-L03 is B1 language. CORE: the problem words (most are iḍāfa phrases like TC-L02: تَلَوُّثُ الهَوَاءِ = pollution of the air) + two connectors: بِسَبَبِ (because of) and يُؤَدِّي إِلَى (leads to). The three website game sentences are the Core models. DEVELOP: active vs passive (تُلَوِّثُ المَصَانِعُ الهَوَاءَ / يُلَوَّثُ الهَوَاءُ). STRETCH: مِمَّا يُسَبِّبُ, نَتِيجَةً لِـ and the passive/process-verb distinction.
• Each problem card breaks the phrase into its two words with English; read-along listening with English; picture match with icons.
• Urdu bridge words (سبب، نتیجہ، مشکل، خطرہ، مرض).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words prepared at home (Flipped Learning follow-up). Questions 3–5 retrieve TC-L03 and TC-L02.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Today we link a CAUSE to an EFFECT: بِسَبَبِ + cause, or cause + يُؤَدِّي إِلَى + effect.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general website objectives into this lesson’s concrete targets (website grammar rules 1–4 and the Topic C focus).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سبب (cause), نتیجہ (result), مشکل (difficulty), خطرہ (danger — the listening says أَخْطَرِ المُشْكِلَاتِ “the most dangerous problems”), مرض (illness — أَمْرَاضُ التَّنَفُّسِ).
All four groups are the website D4-L03 vocabulary; Group 2 also adds الدُّخَانُ and المَصَانِعُ from the website lesson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Environmental problems (website D4-L03). Hear → Say → See → Use.
The small boxes break each phrase into its two words (English label above). Most are iḍāfa — “the pollution OF the air” — exactly the structure from TC-L02. Two are noun + nisba adjective (pink ending): البِلَاسْتِيكِيَّةُ، الحَرَارِيُّ.
Link to TC-L02: التَّصَحُّرُ comes from صَحْرَاء (desert), and إِزَالَةُ الغَابَاتِ uses غَابَة (forest).
Quick check: “Type the NUMBER of the problem you think is worst in your city” (personal response, English reason allowed).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more problems (website D4-L03 + website lesson game for الدُّخَانُ / المَصَانِعُ). Core: الدُّخَانُ and المَصَانِعُ; Develop / Stretch: all six.
Link to TC-L03: ارْتِفَاع (a rise) is the noun from تَرْتَفِعُ (it rises).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Cause and effect (website D4-L03). Teal = key connector.
Core: learn cards 1–2 today. Develop: 1–5. Stretch: all six.
Gesture: point backwards over your shoulder for بِسَبَبِ (the cause came before), point forwards for يُؤَدِّي إِلَى (the effect comes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Active and passive processes (website D4-L03). Develop / Stretch; Core students learn row 1 only.
Listen to the vowels: ACTIVE يُلَوِّثُ (yu-law-WI-thu) → PASSIVE يُلَوَّثُ (yu-law-WA-thu). The passive sounds “u … a”.
Website common error: “Do not label every English ‘is/are + verb’ translation as an Arabic passive. Distinguish true passive forms such as يُلَوَّثُ from intransitive process verbs such as يَنْبَعِثُ.”</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1 — website rule “Result with يُؤَدِّي إِلَى”: cause + يُؤَدِّي إِلَى + verbal noun / noun. Keep the preposition إِلَى after يُؤَدِّي.
Sentences: website lesson game (row 1), website pattern (row 2), mission (row 3), website common mistake corrected (row 4).
Read each row in three beats; students tap the three beats. Arabic often puts the verb FIRST: “causes — factory smoke — air pollution”.
Core: learn rows 1–2 as chunks.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2 — website rules “Cause phrases” (بِسَبَبِ / نَتِيجَةً لِـ + genitive noun: these expressions are followed by a noun phrase, not a complete finite clause) and “Linking a whole clause to a consequence” (مِمَّا refers back to the whole previous idea).
Examples: website pattern and rule examples.
• CORE: بِسَبَبِ and يُؤَدِّي إِلَى. • DEVELOP: add نَتِيجَةً لِـ. • STRETCH: مِمَّا يُسَبِّبُ.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3 — website rule “Active and passive”: تُلَوِّثُ Xُ Yَ ↔ يُلَوَّثُ Yُ. The active sentence names the agent. The passive focuses on the affected thing; the passive subject is nominative.
Sentences: website grammar examples, quiz and listening script.
Develop focus — Core students listen and notice only: the active sentence tells you WHO (blue).
Stretch: explain why row 5 is not a passive (website: “ينبعث is not a passive form of لوّث; it describes smoke or gas emanating”).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GRAMMAR RULES AND EXAMPLES (FLEX — revision or homework). Website overview: “Study each structure in context, compare accurate and inaccurate forms, then apply it in meaningful Arabic.”
Website common error: “Do not label every English “is/are + verb” translation as an Arabic passive. Distinguish true passive forms such as يُلَوَّثُ from intransitive process verbs such as يَنْبَعِثُ.”</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4, 5, 3 and 1.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teacher models with a think-aloud; students watch, then COPY the chain into their books.
Step 1 — “I name the problem: تَلَوُّثُ الهَوَاءِ. يَزْدَادُ means it is increasing.”
Step 2 — “Why? بِسَبَبِ + nouns: السَّيَّارَاتِ وَالمَصَانِعِ.”
Step 3 — “What happens? وَهٰذَا يُؤَدِّي إِلَى أَمْرَاضٍ — I must keep إِلَى.”
Step 4 — “My judgement: فِي رَأْيِي، هٰذِهِ مُشْكِلَةٌ خَطِيرَةٌ.”
Built from website language: listening script (السَّيَّارَاتُ وَالمَصَانِعُ … تَزْدَادُ أَمْرَاضُ التَّنَفُّسِ), website speaking model (فِي رَأْيِي، تَلَوُّثُ الهَوَاءِ خَطِيرٌ …) and the corrected website mistake (يُؤَدِّي التَّلَوُّثُ إِلَى أَمْرَاضٍ).</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lesson game, patterns and rules. Students copy TWO that are useful for them.
• Core: copy 1 and 2. • Develop: copy 3 and change the cause. • Stretch: copy 4 and write another chain with مِمَّا.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(“Cause &amp; Effect”)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Key words to spot: دُخَانُ المَصَانِعِ (factory smoke), النُّفَايَاتِ فِي البَحْرِ (waste in the sea), قَطْعُ الأَشْجَارِ (cutting trees). Develop: find يُؤَدِّي … إِلَى in sentences 2 and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(“Cause &amp; Effect”)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Key words to spot: دُخَانُ المَصَانِعِ (factory smoke), النُّفَايَاتِ فِي البَحْرِ (waste in the sea), قَطْعُ الأَشْجَارِ (cutting trees). Develop: find يُؤَدِّي … إِلَى in sentences 2 and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sentence builder (3 min). Teacher-made from website sentences (listening script, website pattern, website common mistake).
Students choose ONE box per column (start from Column 1 on the right) and type the letters, e.g. “1: B A B”. ↔ Rehearse 30s first.
Core: sentences 2–3 (connectors). Develop / Stretch: sentence 1 (active + object ending) and explain the wrong options.
Website “Advanced application — Cause–effect chain”: after the builder, pairs build a four-step chain from a cause to a problem and two effects in the chat; a partner must challenge or improve one link (?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sentence builder (3 min). Teacher-made from website sentences (listening script, website pattern, website common mistake).
Students choose ONE box per column (start from Column 1 on the right) and type the letters, e.g. “1: B A B”. ↔ Rehearse 30s first.
Core: sentences 2–3 (connectors). Develop / Stretch: sentence 1 (active + object ending) and explain the wrong options.
Website “Advanced application — Cause–effect chain”: after the builder, pairs build a four-step chain from a cause to a problem and two effects in the chat; a partner must challenge or improve one link (?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(FLEX, 2 min). Clue for Core: a tile with a VERB (يُـ / تُـ at the start) is a process; a tile that starts with تَلَوُّث / النُّفَايَات is a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(FLEX, 2 min). Clue for Core: a tile with a VERB (يُـ / تُـ at the start) is a process; a tile that starts with تَلَوُّث / النُّفَايَات is a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2, 6, 7, 8 (Stretch)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website script. Read it aloud yourself, twice, at natural speed with pauses.
Before listening: students read the questions (● 30s). Core: questions 1, 2 and 5. Develop / Stretch: all 6.
Listen 1: just listen. Listen 2: note answers. Then chat the letters.
Support: after the second listening, show the read-along slide (Arabic + English, line by line) for Core students.
SCRIPT (read aloud):
يُعَدُّ تَلَوُّثُ الهَوَاءِ مِنْ أَخْطَرِ المُشْكِلَاتِ فِي المَدِينَةِ. تُلَوِّثُ السَّيَّارَاتُ وَالمَصَانِعُ الهَوَاءَ، وَيَنْبَعِثُ مِنْهَا دُخَانٌ كَثِيفٌ. نَتِيجَةً لِذٰلِكَ، تَزْدَادُ أَمْرَاضُ التَّنَفُّسِ. كَمَا تُرْمَى نُفَايَاتٌ بِلَاسْتِيكِيَّةٌ فِي النَّهْرِ، مِمَّا يُؤَدِّي إِلَى تَلَوُّثِ المِيَاهِ وَنُفُوقِ بَعْضِ الأَسْمَاكِ.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REHEARSAL (3 min) — website speaking prompts (the Core prompt is teacher-made).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Core prompt (teacher-made; it is the preparation question): “What is an environmental problem in your city?” — answered with the Core stem, e.g. تَلَوُّثُ الهَوَاءِ مُشْكِلَةٌ خَطِيرَةٌ بِسَبَبِ السَّيَّارَاتِ.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Use the vocabulary banks and sentence frames to produce four accurate connected sentences. · Develop — Use several target structures in a linked paragraph or sustained spoken answer. · Stretch — Evaluate, compare or qualify ideas using precise evidence and formal linking language.
Website writing task (Stretch): Write 120–140 Arabic words explaining two environmental problems, their causes and consequences.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Evidence: passives يُلَوَّثُ الهَوَاءُ · تُرْمَى النُّفَايَاتُ · تُقْطَعُ الأَشْجَارُ; connectors فَبِسَبَبِ · مِمَّا يَضُرُّ · فَيُؤَدِّي ذٰلِكَ إِلَى; judgement لَا بُدَّ مِنْ فَهْمِ الأَسْبَابِ.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(TC-L05 · Environmental Solutions and Responsibility) will spend class time USING this language, so students prepare it tonight — short, simple, easy to access (school guidance: “Simple, Short, Interesting, Relevant, Easy to access”). The five words come from the website D4-L04 vocabulary (Environmental solutions; Action verbs; Advice).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slideLayout" Target="../slideLayouts/slideLayout1.xml"/><Relationship Id="rId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slideLayout" Target="../slideLayouts/slideLayout1.xm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34" charset="0"/>
                <a:ea typeface="Amiri" pitchFamily="34" charset="-122"/>
                <a:cs typeface="Amiri" pitchFamily="34" charset="-120"/>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Al Madina Online School</a:t>
            </a:r>
            <a:endParaRPr lang="en-US" sz="1400" dirty="0"/>
          </a:p>
          <a:p>
            <a:pPr indent="0" marL="0">
              <a:buNone/>
            </a:pPr>
            <a:r>
              <a:rPr lang="en-US" sz="800" b="1" spc="200" kern="0" dirty="0">
                <a:solidFill>
                  <a:srgbClr val="D4AF37"/>
                </a:solidFill>
                <a:latin typeface="Calibri" pitchFamily="34" charset="0"/>
                <a:ea typeface="Calibri" pitchFamily="34" charset="-122"/>
                <a:cs typeface="Calibri" pitchFamily="34" charset="-120"/>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ea typeface="Calibri" pitchFamily="34" charset="-122"/>
                <a:cs typeface="Calibri" pitchFamily="34" charset="-120"/>
              </a:rPr>
              <a:t>CAMBRIDGE IGCSE ARABIC 0544  ·  ADVANCED TOPIC C  ·  WEEK 2  ·  LESSON 1 OF 3</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ea typeface="Cambria" pitchFamily="34" charset="-122"/>
                <a:cs typeface="Cambria" pitchFamily="34" charset="-120"/>
              </a:rPr>
              <a:t>TC-L04</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ea typeface="Cambria" pitchFamily="34" charset="-122"/>
                <a:cs typeface="Cambria" pitchFamily="34" charset="-120"/>
              </a:rPr>
              <a:t>Environmental Problems and Their Causes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34" charset="0"/>
                <a:ea typeface="Amiri" pitchFamily="34" charset="-122"/>
                <a:cs typeface="Amiri" pitchFamily="34" charset="-120"/>
              </a:rPr>
              <a:t>المُشْكِلَاتُ البِيئِيَّةُ وَأَسْبَابُهَا</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ea typeface="Calibri" pitchFamily="34" charset="-122"/>
                <a:cs typeface="Calibri" pitchFamily="34" charset="-120"/>
              </a:rPr>
              <a:t>Explain pollution, climate change and habitat loss through cause and effect: </a:t>
            </a:r>
            <a:pPr algn="l" indent="0" marL="0">
              <a:buNone/>
            </a:pPr>
            <a:r>
              <a:rPr lang="ar-SA" altLang="en-US" sz="1800" dirty="0">
                <a:solidFill>
                  <a:srgbClr val="C6D2E6"/>
                </a:solidFill>
                <a:latin typeface="Amiri" pitchFamily="34" charset="0"/>
                <a:ea typeface="Amiri" pitchFamily="34" charset="-122"/>
                <a:cs typeface="Amiri" pitchFamily="34" charset="-120"/>
              </a:rPr>
              <a:t>بِسَبَبِ</a:t>
            </a:r>
            <a:pPr algn="l" indent="0" marL="0">
              <a:buNone/>
            </a:pPr>
            <a:r>
              <a:rPr lang="en-US" sz="1400" dirty="0">
                <a:solidFill>
                  <a:srgbClr val="C6D2E6"/>
                </a:solidFill>
                <a:latin typeface="Calibri" pitchFamily="34" charset="0"/>
                <a:ea typeface="Calibri" pitchFamily="34" charset="-122"/>
                <a:cs typeface="Calibri" pitchFamily="34" charset="-120"/>
              </a:rPr>
              <a:t> · </a:t>
            </a:r>
            <a:pPr algn="l" indent="0" marL="0">
              <a:buNone/>
            </a:pPr>
            <a:r>
              <a:rPr lang="ar-SA" altLang="en-US" sz="1800" dirty="0">
                <a:solidFill>
                  <a:srgbClr val="C6D2E6"/>
                </a:solidFill>
                <a:latin typeface="Amiri" pitchFamily="34" charset="0"/>
                <a:ea typeface="Amiri" pitchFamily="34" charset="-122"/>
                <a:cs typeface="Amiri" pitchFamily="34" charset="-120"/>
              </a:rPr>
              <a:t>يُؤَدِّي إِلَى</a:t>
            </a:r>
            <a:pPr algn="l" indent="0" marL="0">
              <a:buNone/>
            </a:pPr>
            <a:r>
              <a:rPr lang="en-US" sz="1400" dirty="0">
                <a:solidFill>
                  <a:srgbClr val="C6D2E6"/>
                </a:solidFill>
                <a:latin typeface="Calibri" pitchFamily="34" charset="0"/>
                <a:ea typeface="Calibri" pitchFamily="34" charset="-122"/>
                <a:cs typeface="Calibri" pitchFamily="34" charset="-120"/>
              </a:rPr>
              <a:t> · </a:t>
            </a:r>
            <a:pPr algn="l" indent="0" marL="0">
              <a:buNone/>
            </a:pPr>
            <a:r>
              <a:rPr lang="ar-SA" altLang="en-US" sz="1800" dirty="0">
                <a:solidFill>
                  <a:srgbClr val="C6D2E6"/>
                </a:solidFill>
                <a:latin typeface="Amiri" pitchFamily="34" charset="0"/>
                <a:ea typeface="Amiri" pitchFamily="34" charset="-122"/>
                <a:cs typeface="Amiri" pitchFamily="34" charset="-120"/>
              </a:rPr>
              <a:t>مِمَّا يُسَبِّبُ</a:t>
            </a:r>
            <a:pPr algn="l" indent="0" marL="0">
              <a:buNone/>
            </a:pPr>
            <a:r>
              <a:rPr lang="en-US" sz="1400" dirty="0">
                <a:solidFill>
                  <a:srgbClr val="C6D2E6"/>
                </a:solidFill>
                <a:latin typeface="Calibri" pitchFamily="34" charset="0"/>
                <a:ea typeface="Calibri" pitchFamily="34" charset="-122"/>
                <a:cs typeface="Calibri" pitchFamily="34" charset="-120"/>
              </a:rPr>
              <a:t>, and active or passive verbs (</a:t>
            </a:r>
            <a:pPr algn="l" indent="0" marL="0">
              <a:buNone/>
            </a:pPr>
            <a:r>
              <a:rPr lang="ar-SA" altLang="en-US" sz="1800" dirty="0">
                <a:solidFill>
                  <a:srgbClr val="C6D2E6"/>
                </a:solidFill>
                <a:latin typeface="Amiri" pitchFamily="34" charset="0"/>
                <a:ea typeface="Amiri" pitchFamily="34" charset="-122"/>
                <a:cs typeface="Amiri" pitchFamily="34" charset="-120"/>
              </a:rPr>
              <a:t>تُلَوِّثُ / يُلَوَّثُ</a:t>
            </a:r>
            <a:pPr algn="l" indent="0" marL="0">
              <a:buNone/>
            </a:pPr>
            <a:r>
              <a:rPr lang="en-US" sz="1400" dirty="0">
                <a:solidFill>
                  <a:srgbClr val="C6D2E6"/>
                </a:solidFill>
                <a:latin typeface="Calibri" pitchFamily="34" charset="0"/>
                <a:ea typeface="Calibri" pitchFamily="34" charset="-122"/>
                <a:cs typeface="Calibri" pitchFamily="34" charset="-120"/>
              </a:rPr>
              <a:t>).</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LESSON</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TC-L04 · Week 2, lesson 1</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DURATION</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LEVEL</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Topic C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ON THE WEBSITE</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Advanced Topics › C › Lesson 4</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TC-L04 · Environmental Problems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1 of 3</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Camera on</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Mic muted</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Chat for learning</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Raise your hand</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ea typeface="Calibri" pitchFamily="34" charset="-122"/>
                <a:cs typeface="Calibri" pitchFamily="34" charset="-120"/>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Think</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Rehearse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Build</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Challenge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Share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Summarise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ea typeface="Calibri" pitchFamily="34" charset="-122"/>
                <a:cs typeface="Calibri" pitchFamily="34" charset="-120"/>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 / 45</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TC-L04 · Environmental Problems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1 of 3</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34" charset="0"/>
                <a:ea typeface="Amiri" pitchFamily="34" charset="-122"/>
                <a:cs typeface="Amiri" pitchFamily="34" charset="-120"/>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Problem words, then “because of” and “leads to”.</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34" charset="0"/>
                <a:ea typeface="Amiri" pitchFamily="34" charset="-122"/>
                <a:cs typeface="Amiri" pitchFamily="34" charset="-120"/>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Picture match, build a chain, sort, fix and listen.</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34" charset="0"/>
                <a:ea typeface="Amiri" pitchFamily="34" charset="-122"/>
                <a:cs typeface="Amiri" pitchFamily="34" charset="-120"/>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34" charset="0"/>
                <a:ea typeface="Amiri" pitchFamily="34" charset="-122"/>
                <a:cs typeface="Amiri" pitchFamily="34" charset="-120"/>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34" charset="0"/>
                <a:ea typeface="Amiri" pitchFamily="34" charset="-122"/>
                <a:cs typeface="Amiri" pitchFamily="34" charset="-120"/>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Get ready at home for TC-L05.</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34" charset="0"/>
                <a:ea typeface="Amiri" pitchFamily="34" charset="-122"/>
                <a:cs typeface="Amiri" pitchFamily="34" charset="-120"/>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 / 45</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TC-L04 · Environmental Problems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ea typeface="Calibri" pitchFamily="34" charset="-122"/>
                <a:cs typeface="Calibri" pitchFamily="34" charset="-120"/>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1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word means “pollution”?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هَوَاءٌ</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تَلَوُّثٌ</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شَجَرَةٌ</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بِسَبَبِ</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because of</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between</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in order to</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sentence.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يَسْقُطُ الثُّلُوجُ فِي الشِّتَاءِ.</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تَسْقُطُ الثُّلُوجِ فِي الشِّتَاءِ.</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تَسْقُطُ الثُّلُوجُ فِي الشِّتَاءِ.</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is “hotter than”?</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أَكْثَرُ حَارٌّ مِنْ</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حَرَارَةً أَكْثَرُ</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أَكْثَرُ حَرَارَةً مِنْ</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What does this mean?</a:t>
            </a:r>
            <a:endParaRPr lang="en-US" sz="1200" dirty="0"/>
          </a:p>
        </p:txBody>
      </p:sp>
      <p:sp>
        <p:nvSpPr>
          <p:cNvPr id="71" name="Text 68"/>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1250" b="1" dirty="0">
                <a:solidFill>
                  <a:srgbClr val="1F2A37"/>
                </a:solidFill>
                <a:latin typeface="Amiri" pitchFamily="34" charset="0"/>
                <a:ea typeface="Amiri" pitchFamily="34" charset="-122"/>
                <a:cs typeface="Amiri" pitchFamily="34" charset="-120"/>
              </a:rPr>
              <a:t>تَضُمُّ الغَابَةُ آلَافَ الأَنْوَاعِ.</a:t>
            </a:r>
            <a:endParaRPr lang="ar-SA" sz="1250" dirty="0"/>
          </a:p>
        </p:txBody>
      </p:sp>
      <p:sp>
        <p:nvSpPr>
          <p:cNvPr id="72" name="Shape 69"/>
          <p:cNvSpPr/>
          <p:nvPr/>
        </p:nvSpPr>
        <p:spPr>
          <a:xfrm>
            <a:off x="4459224" y="4873752"/>
            <a:ext cx="256032" cy="256032"/>
          </a:xfrm>
          <a:prstGeom prst="ellipse">
            <a:avLst/>
          </a:prstGeom>
          <a:solidFill>
            <a:srgbClr val="F4F1EA"/>
          </a:solidFill>
          <a:ln w="12700">
            <a:solidFill>
              <a:srgbClr val="F4F1EA"/>
            </a:solidFill>
            <a:prstDash val="solid"/>
          </a:ln>
        </p:spPr>
      </p:sp>
      <p:sp>
        <p:nvSpPr>
          <p:cNvPr id="73" name="Text 70"/>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4" name="Text 71"/>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forest includes thousands of species.</a:t>
            </a:r>
            <a:endParaRPr lang="en-US" sz="1250" dirty="0"/>
          </a:p>
        </p:txBody>
      </p:sp>
      <p:sp>
        <p:nvSpPr>
          <p:cNvPr id="75" name="Shape 72"/>
          <p:cNvSpPr/>
          <p:nvPr/>
        </p:nvSpPr>
        <p:spPr>
          <a:xfrm>
            <a:off x="4459224" y="5330952"/>
            <a:ext cx="256032" cy="256032"/>
          </a:xfrm>
          <a:prstGeom prst="ellipse">
            <a:avLst/>
          </a:prstGeom>
          <a:solidFill>
            <a:srgbClr val="F4F1EA"/>
          </a:solidFill>
          <a:ln w="12700">
            <a:solidFill>
              <a:srgbClr val="F4F1EA"/>
            </a:solidFill>
            <a:prstDash val="solid"/>
          </a:ln>
        </p:spPr>
      </p:sp>
      <p:sp>
        <p:nvSpPr>
          <p:cNvPr id="76" name="Text 73"/>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7" name="Text 74"/>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forest is a natural habitat.</a:t>
            </a:r>
            <a:endParaRPr lang="en-US" sz="1250" dirty="0"/>
          </a:p>
        </p:txBody>
      </p:sp>
      <p:sp>
        <p:nvSpPr>
          <p:cNvPr id="78" name="Shape 75"/>
          <p:cNvSpPr/>
          <p:nvPr/>
        </p:nvSpPr>
        <p:spPr>
          <a:xfrm>
            <a:off x="4459224" y="5788152"/>
            <a:ext cx="256032" cy="256032"/>
          </a:xfrm>
          <a:prstGeom prst="ellipse">
            <a:avLst/>
          </a:prstGeom>
          <a:solidFill>
            <a:srgbClr val="F4F1EA"/>
          </a:solidFill>
          <a:ln w="12700">
            <a:solidFill>
              <a:srgbClr val="F4F1EA"/>
            </a:solidFill>
            <a:prstDash val="solid"/>
          </a:ln>
        </p:spPr>
      </p:sp>
      <p:sp>
        <p:nvSpPr>
          <p:cNvPr id="79" name="Text 76"/>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0" name="Text 77"/>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sea includes coral reefs.</a:t>
            </a:r>
            <a:endParaRPr lang="en-US" sz="1250" dirty="0"/>
          </a:p>
        </p:txBody>
      </p:sp>
      <p:sp>
        <p:nvSpPr>
          <p:cNvPr id="81" name="Shape 78"/>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2" name="Text 79"/>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ea typeface="Calibri" pitchFamily="34" charset="-122"/>
                <a:cs typeface="Calibri" pitchFamily="34" charset="-120"/>
              </a:rPr>
              <a:t>HOW TO ANSWER</a:t>
            </a:r>
            <a:endParaRPr lang="en-US" sz="1100" dirty="0"/>
          </a:p>
        </p:txBody>
      </p:sp>
      <p:sp>
        <p:nvSpPr>
          <p:cNvPr id="83" name="Text 80"/>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ea typeface="Calibri" pitchFamily="34" charset="-122"/>
                <a:cs typeface="Calibri" pitchFamily="34" charset="-120"/>
              </a:rPr>
              <a:t>Work on your own in silence.</a:t>
            </a:r>
            <a:endParaRPr lang="en-US" sz="1350" dirty="0"/>
          </a:p>
          <a:p>
            <a:pPr algn="l" indent="0" marL="0">
              <a:buNone/>
            </a:pPr>
            <a:r>
              <a:rPr lang="en-US" sz="1350" dirty="0">
                <a:solidFill>
                  <a:srgbClr val="1F2A37"/>
                </a:solidFill>
                <a:latin typeface="Calibri" pitchFamily="34" charset="0"/>
                <a:ea typeface="Calibri" pitchFamily="34" charset="-122"/>
                <a:cs typeface="Calibri" pitchFamily="34" charset="-120"/>
              </a:rPr>
              <a:t>When the timer ends, type in the chat:</a:t>
            </a:r>
            <a:endParaRPr lang="en-US" sz="1350" dirty="0"/>
          </a:p>
        </p:txBody>
      </p:sp>
      <p:sp>
        <p:nvSpPr>
          <p:cNvPr id="84" name="Text 81"/>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ea typeface="Consolas" pitchFamily="34" charset="-122"/>
                <a:cs typeface="Consolas" pitchFamily="34" charset="-120"/>
              </a:rPr>
              <a:t>1_  2_  3_  4_  5_</a:t>
            </a:r>
            <a:endParaRPr lang="en-US" sz="1400" dirty="0"/>
          </a:p>
        </p:txBody>
      </p:sp>
      <p:sp>
        <p:nvSpPr>
          <p:cNvPr id="85" name="Text 82"/>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ea typeface="Calibri" pitchFamily="34" charset="-122"/>
                <a:cs typeface="Calibri" pitchFamily="34" charset="-120"/>
              </a:rPr>
              <a:t>⏱  5 : 00</a:t>
            </a:r>
            <a:endParaRPr lang="en-US" sz="1800" dirty="0"/>
          </a:p>
        </p:txBody>
      </p:sp>
      <p:sp>
        <p:nvSpPr>
          <p:cNvPr id="86" name="Text 8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 / 45</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TC-L04 · Environmental Problems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ea typeface="Calibri" pitchFamily="34" charset="-122"/>
                <a:cs typeface="Calibri" pitchFamily="34" charset="-120"/>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1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word means “pollution”?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هَوَاءٌ</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تَلَوُّثٌ</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شَجَرَةٌ</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Prepared at home: </a:t>
            </a:r>
            <a:pPr algn="l" indent="0" marL="0">
              <a:buNone/>
            </a:pPr>
            <a:r>
              <a:rPr lang="ar-SA" altLang="en-US" sz="1350" dirty="0">
                <a:solidFill>
                  <a:srgbClr val="8A6D1E"/>
                </a:solidFill>
                <a:latin typeface="Amiri" pitchFamily="34" charset="0"/>
                <a:ea typeface="Amiri" pitchFamily="34" charset="-122"/>
                <a:cs typeface="Amiri" pitchFamily="34" charset="-120"/>
              </a:rPr>
              <a:t>تَلَوُّثٌ</a:t>
            </a:r>
            <a:pPr algn="l" indent="0" marL="0">
              <a:buNone/>
            </a:pPr>
            <a:r>
              <a:rPr lang="en-US" sz="1050" i="1" dirty="0">
                <a:solidFill>
                  <a:srgbClr val="8A6D1E"/>
                </a:solidFill>
                <a:latin typeface="Calibri" pitchFamily="34" charset="0"/>
                <a:ea typeface="Calibri" pitchFamily="34" charset="-122"/>
                <a:cs typeface="Calibri" pitchFamily="34" charset="-120"/>
              </a:rPr>
              <a:t> = pollution · </a:t>
            </a:r>
            <a:pPr algn="l" indent="0" marL="0">
              <a:buNone/>
            </a:pPr>
            <a:r>
              <a:rPr lang="ar-SA" altLang="en-US" sz="1350" dirty="0">
                <a:solidFill>
                  <a:srgbClr val="8A6D1E"/>
                </a:solidFill>
                <a:latin typeface="Amiri" pitchFamily="34" charset="0"/>
                <a:ea typeface="Amiri" pitchFamily="34" charset="-122"/>
                <a:cs typeface="Amiri" pitchFamily="34" charset="-120"/>
              </a:rPr>
              <a:t>هَوَاءٌ</a:t>
            </a:r>
            <a:pPr algn="l" indent="0" marL="0">
              <a:buNone/>
            </a:pPr>
            <a:r>
              <a:rPr lang="en-US" sz="1050" i="1" dirty="0">
                <a:solidFill>
                  <a:srgbClr val="8A6D1E"/>
                </a:solidFill>
                <a:latin typeface="Calibri" pitchFamily="34" charset="0"/>
                <a:ea typeface="Calibri" pitchFamily="34" charset="-122"/>
                <a:cs typeface="Calibri" pitchFamily="34" charset="-120"/>
              </a:rPr>
              <a:t> = air · </a:t>
            </a:r>
            <a:pPr algn="l" indent="0" marL="0">
              <a:buNone/>
            </a:pPr>
            <a:r>
              <a:rPr lang="ar-SA" altLang="en-US" sz="1350" dirty="0">
                <a:solidFill>
                  <a:srgbClr val="8A6D1E"/>
                </a:solidFill>
                <a:latin typeface="Amiri" pitchFamily="34" charset="0"/>
                <a:ea typeface="Amiri" pitchFamily="34" charset="-122"/>
                <a:cs typeface="Amiri" pitchFamily="34" charset="-120"/>
              </a:rPr>
              <a:t>شَجَرَةٌ</a:t>
            </a:r>
            <a:pPr algn="l" indent="0" marL="0">
              <a:buNone/>
            </a:pPr>
            <a:r>
              <a:rPr lang="en-US" sz="1050" i="1" dirty="0">
                <a:solidFill>
                  <a:srgbClr val="8A6D1E"/>
                </a:solidFill>
                <a:latin typeface="Calibri" pitchFamily="34" charset="0"/>
                <a:ea typeface="Calibri" pitchFamily="34" charset="-122"/>
                <a:cs typeface="Calibri" pitchFamily="34" charset="-120"/>
              </a:rPr>
              <a:t> = tree.</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بِسَبَبِ</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because of</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between</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in order to</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Prepared at home: </a:t>
            </a:r>
            <a:pPr algn="l" indent="0" marL="0">
              <a:buNone/>
            </a:pPr>
            <a:r>
              <a:rPr lang="ar-SA" altLang="en-US" sz="1350" dirty="0">
                <a:solidFill>
                  <a:srgbClr val="8A6D1E"/>
                </a:solidFill>
                <a:latin typeface="Amiri" pitchFamily="34" charset="0"/>
                <a:ea typeface="Amiri" pitchFamily="34" charset="-122"/>
                <a:cs typeface="Amiri" pitchFamily="34" charset="-120"/>
              </a:rPr>
              <a:t>بِسَبَبِ</a:t>
            </a:r>
            <a:pPr algn="l" indent="0" marL="0">
              <a:buNone/>
            </a:pPr>
            <a:r>
              <a:rPr lang="en-US" sz="1050" i="1" dirty="0">
                <a:solidFill>
                  <a:srgbClr val="8A6D1E"/>
                </a:solidFill>
                <a:latin typeface="Calibri" pitchFamily="34" charset="0"/>
                <a:ea typeface="Calibri" pitchFamily="34" charset="-122"/>
                <a:cs typeface="Calibri" pitchFamily="34" charset="-120"/>
              </a:rPr>
              <a:t> = because of (Urdu: </a:t>
            </a:r>
            <a:pPr algn="l" indent="0" marL="0">
              <a:buNone/>
            </a:pPr>
            <a:r>
              <a:rPr lang="ar-SA" altLang="en-US" sz="1350" dirty="0">
                <a:solidFill>
                  <a:srgbClr val="8A6D1E"/>
                </a:solidFill>
                <a:latin typeface="Amiri" pitchFamily="34" charset="0"/>
                <a:ea typeface="Amiri" pitchFamily="34" charset="-122"/>
                <a:cs typeface="Amiri" pitchFamily="34" charset="-120"/>
              </a:rPr>
              <a:t>سبب</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sentence.</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يَسْقُطُ الثُّلُوجُ فِي الشِّتَاءِ.</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تَسْقُطُ الثُّلُوجِ فِي الشِّتَاءِ.</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تَسْقُطُ الثُّلُوجُ فِي الشِّتَاءِ.</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TC-L03: </a:t>
            </a:r>
            <a:pPr algn="l" indent="0" marL="0">
              <a:buNone/>
            </a:pPr>
            <a:r>
              <a:rPr lang="ar-SA" altLang="en-US" sz="1350" dirty="0">
                <a:solidFill>
                  <a:srgbClr val="8A6D1E"/>
                </a:solidFill>
                <a:latin typeface="Amiri" pitchFamily="34" charset="0"/>
                <a:ea typeface="Amiri" pitchFamily="34" charset="-122"/>
                <a:cs typeface="Amiri" pitchFamily="34" charset="-120"/>
              </a:rPr>
              <a:t>الثُّلُوجُ</a:t>
            </a:r>
            <a:pPr algn="l" indent="0" marL="0">
              <a:buNone/>
            </a:pPr>
            <a:r>
              <a:rPr lang="en-US" sz="1050" i="1" dirty="0">
                <a:solidFill>
                  <a:srgbClr val="8A6D1E"/>
                </a:solidFill>
                <a:latin typeface="Calibri" pitchFamily="34" charset="0"/>
                <a:ea typeface="Calibri" pitchFamily="34" charset="-122"/>
                <a:cs typeface="Calibri" pitchFamily="34" charset="-120"/>
              </a:rPr>
              <a:t> is treated as feminine → </a:t>
            </a:r>
            <a:pPr algn="l" indent="0" marL="0">
              <a:buNone/>
            </a:pPr>
            <a:r>
              <a:rPr lang="ar-SA" altLang="en-US" sz="1350" dirty="0">
                <a:solidFill>
                  <a:srgbClr val="8A6D1E"/>
                </a:solidFill>
                <a:latin typeface="Amiri" pitchFamily="34" charset="0"/>
                <a:ea typeface="Amiri" pitchFamily="34" charset="-122"/>
                <a:cs typeface="Amiri" pitchFamily="34" charset="-120"/>
              </a:rPr>
              <a:t>تَـ</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is “hotter than”?</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أَكْثَرُ حَارٌّ مِنْ</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حَرَارَةً أَكْثَرُ</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أَكْثَرُ حَرَارَةً مِنْ</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TC-L03: </a:t>
            </a:r>
            <a:pPr algn="l" indent="0" marL="0">
              <a:buNone/>
            </a:pPr>
            <a:r>
              <a:rPr lang="ar-SA" altLang="en-US" sz="1350" dirty="0">
                <a:solidFill>
                  <a:srgbClr val="8A6D1E"/>
                </a:solidFill>
                <a:latin typeface="Amiri" pitchFamily="34" charset="0"/>
                <a:ea typeface="Amiri" pitchFamily="34" charset="-122"/>
                <a:cs typeface="Amiri" pitchFamily="34" charset="-120"/>
              </a:rPr>
              <a:t>أَكْثَرُ</a:t>
            </a:r>
            <a:pPr algn="l" indent="0" marL="0">
              <a:buNone/>
            </a:pPr>
            <a:r>
              <a:rPr lang="en-US" sz="1050" i="1" dirty="0">
                <a:solidFill>
                  <a:srgbClr val="8A6D1E"/>
                </a:solidFill>
                <a:latin typeface="Calibri" pitchFamily="34" charset="0"/>
                <a:ea typeface="Calibri" pitchFamily="34" charset="-122"/>
                <a:cs typeface="Calibri" pitchFamily="34" charset="-120"/>
              </a:rPr>
              <a:t> + noun (</a:t>
            </a:r>
            <a:pPr algn="l" indent="0" marL="0">
              <a:buNone/>
            </a:pPr>
            <a:r>
              <a:rPr lang="ar-SA" altLang="en-US" sz="1350" dirty="0">
                <a:solidFill>
                  <a:srgbClr val="8A6D1E"/>
                </a:solidFill>
                <a:latin typeface="Amiri" pitchFamily="34" charset="0"/>
                <a:ea typeface="Amiri" pitchFamily="34" charset="-122"/>
                <a:cs typeface="Amiri" pitchFamily="34" charset="-120"/>
              </a:rPr>
              <a:t>ـًا</a:t>
            </a:r>
            <a:pPr algn="l" indent="0" marL="0">
              <a:buNone/>
            </a:pPr>
            <a:r>
              <a:rPr lang="en-US" sz="1050" i="1" dirty="0">
                <a:solidFill>
                  <a:srgbClr val="8A6D1E"/>
                </a:solidFill>
                <a:latin typeface="Calibri" pitchFamily="34" charset="0"/>
                <a:ea typeface="Calibri" pitchFamily="34" charset="-122"/>
                <a:cs typeface="Calibri" pitchFamily="34" charset="-120"/>
              </a:rPr>
              <a:t>) + </a:t>
            </a:r>
            <a:pPr algn="l" indent="0" marL="0">
              <a:buNone/>
            </a:pPr>
            <a:r>
              <a:rPr lang="ar-SA" altLang="en-US" sz="1350" dirty="0">
                <a:solidFill>
                  <a:srgbClr val="8A6D1E"/>
                </a:solidFill>
                <a:latin typeface="Amiri" pitchFamily="34" charset="0"/>
                <a:ea typeface="Amiri" pitchFamily="34" charset="-122"/>
                <a:cs typeface="Amiri" pitchFamily="34" charset="-120"/>
              </a:rPr>
              <a:t>مِنْ</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What does this mean?</a:t>
            </a:r>
            <a:endParaRPr lang="en-US" sz="1200" dirty="0"/>
          </a:p>
        </p:txBody>
      </p:sp>
      <p:sp>
        <p:nvSpPr>
          <p:cNvPr id="79" name="Text 76"/>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1250" b="1" dirty="0">
                <a:solidFill>
                  <a:srgbClr val="1F2A37"/>
                </a:solidFill>
                <a:latin typeface="Amiri" pitchFamily="34" charset="0"/>
                <a:ea typeface="Amiri" pitchFamily="34" charset="-122"/>
                <a:cs typeface="Amiri" pitchFamily="34" charset="-120"/>
              </a:rPr>
              <a:t>تَضُمُّ الغَابَةُ آلَافَ الأَنْوَاعِ.</a:t>
            </a:r>
            <a:endParaRPr lang="ar-SA" sz="1250" dirty="0"/>
          </a:p>
        </p:txBody>
      </p:sp>
      <p:sp>
        <p:nvSpPr>
          <p:cNvPr id="80" name="Shape 77"/>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8"/>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79"/>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83" name="Text 80"/>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The forest includes thousands of species.</a:t>
            </a:r>
            <a:endParaRPr lang="en-US" sz="1150" dirty="0"/>
          </a:p>
        </p:txBody>
      </p:sp>
      <p:sp>
        <p:nvSpPr>
          <p:cNvPr id="84" name="Shape 81"/>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2"/>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6" name="Text 83"/>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The forest is a natural habitat.</a:t>
            </a:r>
            <a:endParaRPr lang="en-US" sz="1250" dirty="0"/>
          </a:p>
        </p:txBody>
      </p:sp>
      <p:sp>
        <p:nvSpPr>
          <p:cNvPr id="87" name="Shape 84"/>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5"/>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9" name="Text 86"/>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The sea includes coral reefs.</a:t>
            </a:r>
            <a:endParaRPr lang="en-US" sz="1250" dirty="0"/>
          </a:p>
        </p:txBody>
      </p:sp>
      <p:sp>
        <p:nvSpPr>
          <p:cNvPr id="90" name="Text 87"/>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TC-L02: </a:t>
            </a:r>
            <a:pPr algn="l" indent="0" marL="0">
              <a:buNone/>
            </a:pPr>
            <a:r>
              <a:rPr lang="ar-SA" altLang="en-US" sz="1350" dirty="0">
                <a:solidFill>
                  <a:srgbClr val="8A6D1E"/>
                </a:solidFill>
                <a:latin typeface="Amiri" pitchFamily="34" charset="0"/>
                <a:ea typeface="Amiri" pitchFamily="34" charset="-122"/>
                <a:cs typeface="Amiri" pitchFamily="34" charset="-120"/>
              </a:rPr>
              <a:t>يَضُمُّ</a:t>
            </a:r>
            <a:pPr algn="l" indent="0" marL="0">
              <a:buNone/>
            </a:pPr>
            <a:r>
              <a:rPr lang="en-US" sz="1050" i="1" dirty="0">
                <a:solidFill>
                  <a:srgbClr val="8A6D1E"/>
                </a:solidFill>
                <a:latin typeface="Calibri" pitchFamily="34" charset="0"/>
                <a:ea typeface="Calibri" pitchFamily="34" charset="-122"/>
                <a:cs typeface="Calibri" pitchFamily="34" charset="-120"/>
              </a:rPr>
              <a:t> = includes.</a:t>
            </a:r>
            <a:endParaRPr lang="en-US" sz="1050" dirty="0"/>
          </a:p>
        </p:txBody>
      </p:sp>
      <p:sp>
        <p:nvSpPr>
          <p:cNvPr id="91" name="Shape 88"/>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2" name="Text 89"/>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ea typeface="Calibri" pitchFamily="34" charset="-122"/>
                <a:cs typeface="Calibri" pitchFamily="34" charset="-120"/>
              </a:rPr>
              <a:t>THE KEY IDEA FOR TODAY</a:t>
            </a:r>
            <a:endParaRPr lang="en-US" sz="1000" dirty="0"/>
          </a:p>
        </p:txBody>
      </p:sp>
      <p:sp>
        <p:nvSpPr>
          <p:cNvPr id="93" name="Text 90"/>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ea typeface="Calibri" pitchFamily="34" charset="-122"/>
                <a:cs typeface="Calibri" pitchFamily="34" charset="-120"/>
              </a:rPr>
              <a:t>Today we link a CAUSE to an EFFECT: </a:t>
            </a:r>
            <a:pPr algn="l" indent="0" marL="0">
              <a:buNone/>
            </a:pPr>
            <a:r>
              <a:rPr lang="ar-SA" altLang="en-US" sz="1700" b="1" dirty="0">
                <a:solidFill>
                  <a:srgbClr val="1F2A37"/>
                </a:solidFill>
                <a:latin typeface="Amiri" pitchFamily="34" charset="0"/>
                <a:ea typeface="Amiri" pitchFamily="34" charset="-122"/>
                <a:cs typeface="Amiri" pitchFamily="34" charset="-120"/>
              </a:rPr>
              <a:t>بِسَبَبِ</a:t>
            </a:r>
            <a:pPr algn="l" indent="0" marL="0">
              <a:buNone/>
            </a:pPr>
            <a:r>
              <a:rPr lang="en-US" sz="1300" b="1" dirty="0">
                <a:solidFill>
                  <a:srgbClr val="1F2A37"/>
                </a:solidFill>
                <a:latin typeface="Calibri" pitchFamily="34" charset="0"/>
                <a:ea typeface="Calibri" pitchFamily="34" charset="-122"/>
                <a:cs typeface="Calibri" pitchFamily="34" charset="-120"/>
              </a:rPr>
              <a:t> + cause, or cause + </a:t>
            </a:r>
            <a:pPr algn="l" indent="0" marL="0">
              <a:buNone/>
            </a:pPr>
            <a:r>
              <a:rPr lang="ar-SA" altLang="en-US" sz="1700" b="1" dirty="0">
                <a:solidFill>
                  <a:srgbClr val="1F2A37"/>
                </a:solidFill>
                <a:latin typeface="Amiri" pitchFamily="34" charset="0"/>
                <a:ea typeface="Amiri" pitchFamily="34" charset="-122"/>
                <a:cs typeface="Amiri" pitchFamily="34" charset="-120"/>
              </a:rPr>
              <a:t>يُؤَدِّي إِلَى</a:t>
            </a:r>
            <a:pPr algn="l" indent="0" marL="0">
              <a:buNone/>
            </a:pPr>
            <a:r>
              <a:rPr lang="en-US" sz="1300" b="1" dirty="0">
                <a:solidFill>
                  <a:srgbClr val="1F2A37"/>
                </a:solidFill>
                <a:latin typeface="Calibri" pitchFamily="34" charset="0"/>
                <a:ea typeface="Calibri" pitchFamily="34" charset="-122"/>
                <a:cs typeface="Calibri" pitchFamily="34" charset="-120"/>
              </a:rPr>
              <a:t> + effect.</a:t>
            </a:r>
            <a:endParaRPr lang="en-US" sz="1300" dirty="0"/>
          </a:p>
        </p:txBody>
      </p:sp>
      <p:sp>
        <p:nvSpPr>
          <p:cNvPr id="94" name="Text 91"/>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بِسَبَبِ  ·  يُؤَدِّي إِلَى</a:t>
            </a:r>
            <a:endParaRPr lang="ar-SA" sz="240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5 / 45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TC-L04 · Environmental Problems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LESSON 1 OF 3 THIS WEEK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1 of 3</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ea typeface="Calibri" pitchFamily="34" charset="-122"/>
                <a:cs typeface="Calibri" pitchFamily="34" charset="-120"/>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34" charset="0"/>
                <a:ea typeface="Amiri" pitchFamily="34" charset="-122"/>
                <a:cs typeface="Amiri" pitchFamily="34" charset="-120"/>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Understand and use the full lesson vocabulary in connected Arabic.</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Explain and apply the target grammar accurately.</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Extract exact information from listening and reading texts.</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Produce a developed intermediate spoken and written response.</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ea typeface="Calibri" pitchFamily="34" charset="-122"/>
                <a:cs typeface="Calibri" pitchFamily="34" charset="-120"/>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250" b="1" dirty="0">
                <a:solidFill>
                  <a:srgbClr val="2E8B57"/>
                </a:solidFill>
                <a:latin typeface="Calibri" pitchFamily="34" charset="0"/>
                <a:ea typeface="Calibri" pitchFamily="34" charset="-122"/>
                <a:cs typeface="Calibri" pitchFamily="34" charset="-120"/>
              </a:rPr>
              <a:t>☐  I can name 6 environmental problems (</a:t>
            </a:r>
            <a:pPr algn="l" indent="0" marL="0">
              <a:buNone/>
            </a:pPr>
            <a:r>
              <a:rPr lang="ar-SA" altLang="en-US" sz="1650" b="1" dirty="0">
                <a:solidFill>
                  <a:srgbClr val="2E8B57"/>
                </a:solidFill>
                <a:latin typeface="Amiri" pitchFamily="34" charset="0"/>
                <a:ea typeface="Amiri" pitchFamily="34" charset="-122"/>
                <a:cs typeface="Amiri" pitchFamily="34" charset="-120"/>
              </a:rPr>
              <a:t>تَلَوُّثُ الهَوَاءِ، إِزَالَةُ الغَابَاتِ</a:t>
            </a:r>
            <a:pPr algn="l" indent="0" marL="0">
              <a:buNone/>
            </a:pPr>
            <a:r>
              <a:rPr lang="en-US" sz="1250" b="1" dirty="0">
                <a:solidFill>
                  <a:srgbClr val="2E8B57"/>
                </a:solidFill>
                <a:latin typeface="Calibri" pitchFamily="34" charset="0"/>
                <a:ea typeface="Calibri" pitchFamily="34" charset="-122"/>
                <a:cs typeface="Calibri" pitchFamily="34" charset="-120"/>
              </a:rPr>
              <a:t> …).</a:t>
            </a:r>
            <a:endParaRPr lang="en-US" sz="125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ea typeface="Calibri" pitchFamily="34" charset="-122"/>
                <a:cs typeface="Calibri" pitchFamily="34" charset="-120"/>
              </a:rPr>
              <a:t>☐  I can give a cause with </a:t>
            </a:r>
            <a:pPr algn="l" indent="0" marL="0">
              <a:buNone/>
            </a:pPr>
            <a:r>
              <a:rPr lang="ar-SA" altLang="en-US" sz="1700" b="1" dirty="0">
                <a:solidFill>
                  <a:srgbClr val="2E8B57"/>
                </a:solidFill>
                <a:latin typeface="Amiri" pitchFamily="34" charset="0"/>
                <a:ea typeface="Amiri" pitchFamily="34" charset="-122"/>
                <a:cs typeface="Amiri" pitchFamily="34" charset="-120"/>
              </a:rPr>
              <a:t>بِسَبَبِ</a:t>
            </a:r>
            <a:pPr algn="l" indent="0" marL="0">
              <a:buNone/>
            </a:pPr>
            <a:r>
              <a:rPr lang="en-US" sz="1300" b="1" dirty="0">
                <a:solidFill>
                  <a:srgbClr val="2E8B57"/>
                </a:solidFill>
                <a:latin typeface="Calibri" pitchFamily="34" charset="0"/>
                <a:ea typeface="Calibri" pitchFamily="34" charset="-122"/>
                <a:cs typeface="Calibri" pitchFamily="34" charset="-120"/>
              </a:rPr>
              <a:t> and an effect with </a:t>
            </a:r>
            <a:pPr algn="l" indent="0" marL="0">
              <a:buNone/>
            </a:pPr>
            <a:r>
              <a:rPr lang="ar-SA" altLang="en-US" sz="1700" b="1" dirty="0">
                <a:solidFill>
                  <a:srgbClr val="2E8B57"/>
                </a:solidFill>
                <a:latin typeface="Amiri" pitchFamily="34" charset="0"/>
                <a:ea typeface="Amiri" pitchFamily="34" charset="-122"/>
                <a:cs typeface="Amiri" pitchFamily="34" charset="-120"/>
              </a:rPr>
              <a:t>يُؤَدِّي إِلَى</a:t>
            </a:r>
            <a:pPr algn="l" indent="0" marL="0">
              <a:buNone/>
            </a:pPr>
            <a:r>
              <a:rPr lang="en-US" sz="1300" b="1" dirty="0">
                <a:solidFill>
                  <a:srgbClr val="2E8B57"/>
                </a:solidFill>
                <a:latin typeface="Calibri" pitchFamily="34" charset="0"/>
                <a:ea typeface="Calibri" pitchFamily="34" charset="-122"/>
                <a:cs typeface="Calibri" pitchFamily="34" charset="-120"/>
              </a:rPr>
              <a:t>.</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ea typeface="Calibri" pitchFamily="34" charset="-122"/>
                <a:cs typeface="Calibri" pitchFamily="34" charset="-120"/>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ea typeface="Calibri" pitchFamily="34" charset="-122"/>
                <a:cs typeface="Calibri" pitchFamily="34" charset="-120"/>
              </a:rPr>
              <a:t>☐  I can tell an active sentence from a passive one: </a:t>
            </a:r>
            <a:pPr algn="l" indent="0" marL="0">
              <a:buNone/>
            </a:pPr>
            <a:r>
              <a:rPr lang="ar-SA" altLang="en-US" sz="1700" b="1" dirty="0">
                <a:solidFill>
                  <a:srgbClr val="C9780A"/>
                </a:solidFill>
                <a:latin typeface="Amiri" pitchFamily="34" charset="0"/>
                <a:ea typeface="Amiri" pitchFamily="34" charset="-122"/>
                <a:cs typeface="Amiri" pitchFamily="34" charset="-120"/>
              </a:rPr>
              <a:t>تُلَوِّثُ / يُلَوَّثُ</a:t>
            </a:r>
            <a:pPr algn="l" indent="0" marL="0">
              <a:buNone/>
            </a:pPr>
            <a:r>
              <a:rPr lang="en-US" sz="1300" b="1" dirty="0">
                <a:solidFill>
                  <a:srgbClr val="C9780A"/>
                </a:solidFill>
                <a:latin typeface="Calibri" pitchFamily="34" charset="0"/>
                <a:ea typeface="Calibri" pitchFamily="34" charset="-122"/>
                <a:cs typeface="Calibri" pitchFamily="34" charset="-120"/>
              </a:rPr>
              <a:t>.</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ea typeface="Calibri" pitchFamily="34" charset="-122"/>
                <a:cs typeface="Calibri" pitchFamily="34" charset="-120"/>
              </a:rPr>
              <a:t>☐  I can build a chain of two causes and effects.</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ea typeface="Calibri" pitchFamily="34" charset="-122"/>
                <a:cs typeface="Calibri" pitchFamily="34" charset="-120"/>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  I can link a whole idea to its result with </a:t>
            </a:r>
            <a:pPr algn="l" indent="0" marL="0">
              <a:buNone/>
            </a:pPr>
            <a:r>
              <a:rPr lang="ar-SA" altLang="en-US" sz="1700" b="1" dirty="0">
                <a:solidFill>
                  <a:srgbClr val="B83227"/>
                </a:solidFill>
                <a:latin typeface="Amiri" pitchFamily="34" charset="0"/>
                <a:ea typeface="Amiri" pitchFamily="34" charset="-122"/>
                <a:cs typeface="Amiri" pitchFamily="34" charset="-120"/>
              </a:rPr>
              <a:t>مِمَّا يُسَبِّبُ</a:t>
            </a:r>
            <a:pPr algn="l" indent="0" marL="0">
              <a:buNone/>
            </a:pPr>
            <a:r>
              <a:rPr lang="en-US" sz="1300" b="1" dirty="0">
                <a:solidFill>
                  <a:srgbClr val="B83227"/>
                </a:solidFill>
                <a:latin typeface="Calibri" pitchFamily="34" charset="0"/>
                <a:ea typeface="Calibri" pitchFamily="34" charset="-122"/>
                <a:cs typeface="Calibri" pitchFamily="34" charset="-120"/>
              </a:rPr>
              <a:t>.</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  I can write 120–140 words about two problems.</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6 / 45</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ea typeface="Calibri" pitchFamily="34" charset="-122"/>
                <a:cs typeface="Calibri" pitchFamily="34" charset="-120"/>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34" charset="0"/>
                <a:ea typeface="Amiri" pitchFamily="34" charset="-122"/>
                <a:cs typeface="Amiri" pitchFamily="34" charset="-120"/>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ea typeface="Calibri" pitchFamily="34" charset="-122"/>
                <a:cs typeface="Calibri" pitchFamily="34" charset="-120"/>
              </a:rPr>
              <a:t>26 words from the website in 4 groups. Learn the CORE words first. Hear it → say it → see it → use it.</a:t>
            </a:r>
            <a:endParaRPr lang="en-US" sz="1600" dirty="0"/>
          </a:p>
        </p:txBody>
      </p:sp>
      <p:sp>
        <p:nvSpPr>
          <p:cNvPr id="8" name="Shape 6"/>
          <p:cNvSpPr/>
          <p:nvPr/>
        </p:nvSpPr>
        <p:spPr>
          <a:xfrm>
            <a:off x="457200" y="4572000"/>
            <a:ext cx="186309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158877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1</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Problems · 6</a:t>
            </a:r>
            <a:endParaRPr lang="en-US" sz="900" dirty="0"/>
          </a:p>
        </p:txBody>
      </p:sp>
      <p:sp>
        <p:nvSpPr>
          <p:cNvPr id="10" name="Shape 8"/>
          <p:cNvSpPr/>
          <p:nvPr/>
        </p:nvSpPr>
        <p:spPr>
          <a:xfrm>
            <a:off x="2457450" y="4572000"/>
            <a:ext cx="186309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2594610" y="4617720"/>
            <a:ext cx="158877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2</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More problems · 6</a:t>
            </a:r>
            <a:endParaRPr lang="en-US" sz="900" dirty="0"/>
          </a:p>
        </p:txBody>
      </p:sp>
      <p:sp>
        <p:nvSpPr>
          <p:cNvPr id="12" name="Shape 10"/>
          <p:cNvSpPr/>
          <p:nvPr/>
        </p:nvSpPr>
        <p:spPr>
          <a:xfrm>
            <a:off x="4457700" y="4572000"/>
            <a:ext cx="186309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4594860" y="4617720"/>
            <a:ext cx="158877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3</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Cause and effect · 6</a:t>
            </a:r>
            <a:endParaRPr lang="en-US" sz="900" dirty="0"/>
          </a:p>
        </p:txBody>
      </p:sp>
      <p:sp>
        <p:nvSpPr>
          <p:cNvPr id="14" name="Shape 12"/>
          <p:cNvSpPr/>
          <p:nvPr/>
        </p:nvSpPr>
        <p:spPr>
          <a:xfrm>
            <a:off x="6457950" y="4572000"/>
            <a:ext cx="1863090" cy="960120"/>
          </a:xfrm>
          <a:prstGeom prst="roundRect">
            <a:avLst>
              <a:gd name="adj" fmla="val 7619"/>
            </a:avLst>
          </a:prstGeom>
          <a:solidFill>
            <a:srgbClr val="16335F"/>
          </a:solidFill>
          <a:ln w="12700">
            <a:solidFill>
              <a:srgbClr val="2A4B7C"/>
            </a:solidFill>
            <a:prstDash val="solid"/>
          </a:ln>
        </p:spPr>
      </p:sp>
      <p:sp>
        <p:nvSpPr>
          <p:cNvPr id="15" name="Text 13"/>
          <p:cNvSpPr txBox="1"/>
          <p:nvPr/>
        </p:nvSpPr>
        <p:spPr>
          <a:xfrm>
            <a:off x="6595110" y="4617720"/>
            <a:ext cx="158877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4</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Active or passive? · 8</a:t>
            </a:r>
            <a:endParaRPr lang="en-US" sz="900" dirty="0"/>
          </a:p>
        </p:txBody>
      </p:sp>
      <p:sp>
        <p:nvSpPr>
          <p:cNvPr id="16" name="Shape 14"/>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7" name="Text 15"/>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ea typeface="Calibri" pitchFamily="34" charset="-122"/>
                <a:cs typeface="Calibri" pitchFamily="34" charset="-120"/>
              </a:rPr>
              <a:t>BRIDGE FROM URDU</a:t>
            </a:r>
            <a:endParaRPr lang="en-US" sz="1000" dirty="0"/>
          </a:p>
        </p:txBody>
      </p:sp>
      <p:sp>
        <p:nvSpPr>
          <p:cNvPr id="18" name="Text 16"/>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سَبَبٌ</a:t>
            </a:r>
            <a:endParaRPr lang="ar-SA" sz="1900" dirty="0"/>
          </a:p>
        </p:txBody>
      </p:sp>
      <p:sp>
        <p:nvSpPr>
          <p:cNvPr id="19" name="Text 17"/>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‎سبب‎ </a:t>
            </a:r>
            <a:pPr indent="0" marL="0">
              <a:buNone/>
            </a:pPr>
            <a:r>
              <a:rPr lang="en-US" sz="950" b="1" dirty="0">
                <a:solidFill>
                  <a:srgbClr val="2E8B57"/>
                </a:solidFill>
                <a:latin typeface="Calibri" pitchFamily="34" charset="0"/>
                <a:ea typeface="Calibri" pitchFamily="34" charset="-122"/>
                <a:cs typeface="Calibri" pitchFamily="34" charset="-120"/>
              </a:rPr>
              <a:t> sabab · cause</a:t>
            </a:r>
            <a:endParaRPr lang="en-US" sz="1400" dirty="0"/>
          </a:p>
        </p:txBody>
      </p:sp>
      <p:sp>
        <p:nvSpPr>
          <p:cNvPr id="20" name="Text 18"/>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نَتِيجَةٌ</a:t>
            </a:r>
            <a:endParaRPr lang="ar-SA" sz="1900" dirty="0"/>
          </a:p>
        </p:txBody>
      </p:sp>
      <p:sp>
        <p:nvSpPr>
          <p:cNvPr id="21" name="Text 19"/>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‎نتیجہ‎ </a:t>
            </a:r>
            <a:pPr indent="0" marL="0">
              <a:buNone/>
            </a:pPr>
            <a:r>
              <a:rPr lang="en-US" sz="950" b="1" dirty="0">
                <a:solidFill>
                  <a:srgbClr val="2E8B57"/>
                </a:solidFill>
                <a:latin typeface="Calibri" pitchFamily="34" charset="0"/>
                <a:ea typeface="Calibri" pitchFamily="34" charset="-122"/>
                <a:cs typeface="Calibri" pitchFamily="34" charset="-120"/>
              </a:rPr>
              <a:t> natīja · result</a:t>
            </a:r>
            <a:endParaRPr lang="en-US" sz="1400" dirty="0"/>
          </a:p>
        </p:txBody>
      </p:sp>
      <p:sp>
        <p:nvSpPr>
          <p:cNvPr id="22" name="Text 20"/>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مُشْكِلَةٌ</a:t>
            </a:r>
            <a:endParaRPr lang="ar-SA" sz="1900" dirty="0"/>
          </a:p>
        </p:txBody>
      </p:sp>
      <p:sp>
        <p:nvSpPr>
          <p:cNvPr id="23" name="Text 21"/>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‎مشکل‎ </a:t>
            </a:r>
            <a:pPr indent="0" marL="0">
              <a:buNone/>
            </a:pPr>
            <a:r>
              <a:rPr lang="en-US" sz="950" b="1" dirty="0">
                <a:solidFill>
                  <a:srgbClr val="2E8B57"/>
                </a:solidFill>
                <a:latin typeface="Calibri" pitchFamily="34" charset="0"/>
                <a:ea typeface="Calibri" pitchFamily="34" charset="-122"/>
                <a:cs typeface="Calibri" pitchFamily="34" charset="-120"/>
              </a:rPr>
              <a:t> mushkil · problem</a:t>
            </a:r>
            <a:endParaRPr lang="en-US" sz="1400" dirty="0"/>
          </a:p>
        </p:txBody>
      </p:sp>
      <p:sp>
        <p:nvSpPr>
          <p:cNvPr id="24" name="Text 22"/>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خَطَرٌ</a:t>
            </a:r>
            <a:endParaRPr lang="ar-SA" sz="1900" dirty="0"/>
          </a:p>
        </p:txBody>
      </p:sp>
      <p:sp>
        <p:nvSpPr>
          <p:cNvPr id="25" name="Text 23"/>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‎خطرہ‎ </a:t>
            </a:r>
            <a:pPr indent="0" marL="0">
              <a:buNone/>
            </a:pPr>
            <a:r>
              <a:rPr lang="en-US" sz="950" b="1" dirty="0">
                <a:solidFill>
                  <a:srgbClr val="2E8B57"/>
                </a:solidFill>
                <a:latin typeface="Calibri" pitchFamily="34" charset="0"/>
                <a:ea typeface="Calibri" pitchFamily="34" charset="-122"/>
                <a:cs typeface="Calibri" pitchFamily="34" charset="-120"/>
              </a:rPr>
              <a:t> khatra · danger</a:t>
            </a:r>
            <a:endParaRPr lang="en-US" sz="1400" dirty="0"/>
          </a:p>
        </p:txBody>
      </p:sp>
      <p:sp>
        <p:nvSpPr>
          <p:cNvPr id="26" name="Text 24"/>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مَرَضٌ</a:t>
            </a:r>
            <a:endParaRPr lang="ar-SA" sz="1900" dirty="0"/>
          </a:p>
        </p:txBody>
      </p:sp>
      <p:sp>
        <p:nvSpPr>
          <p:cNvPr id="27" name="Text 25"/>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‎مرض‎ </a:t>
            </a:r>
            <a:pPr indent="0" marL="0">
              <a:buNone/>
            </a:pPr>
            <a:r>
              <a:rPr lang="en-US" sz="950" b="1" dirty="0">
                <a:solidFill>
                  <a:srgbClr val="2E8B57"/>
                </a:solidFill>
                <a:latin typeface="Calibri" pitchFamily="34" charset="0"/>
                <a:ea typeface="Calibri" pitchFamily="34" charset="-122"/>
                <a:cs typeface="Calibri" pitchFamily="34" charset="-120"/>
              </a:rPr>
              <a:t> marz · illness</a:t>
            </a:r>
            <a:endParaRPr lang="en-US" sz="1400" dirty="0"/>
          </a:p>
        </p:txBody>
      </p:sp>
      <p:sp>
        <p:nvSpPr>
          <p:cNvPr id="29" name="Text 2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7 / 45</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TC-L04 · Environmental Problems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Environmental problems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المُشْكِلَاتُ البِيئِيَّةُ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1 of 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iḍāfa</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تَلَوُّثُ الهَوَاءِ</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air pollution</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ta-law-wuth al-ha-wāʾ</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pollution</a:t>
            </a:r>
            <a:endParaRPr lang="en-US" sz="700" dirty="0"/>
          </a:p>
        </p:txBody>
      </p:sp>
      <p:sp>
        <p:nvSpPr>
          <p:cNvPr id="26" name="Text 23"/>
          <p:cNvSpPr txBox="1"/>
          <p:nvPr/>
        </p:nvSpPr>
        <p:spPr>
          <a:xfrm>
            <a:off x="10012680"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تَلَوُّثٌ</a:t>
            </a:r>
            <a:endParaRPr lang="ar-SA" sz="135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the air</a:t>
            </a:r>
            <a:endParaRPr lang="en-US" sz="700" dirty="0"/>
          </a:p>
        </p:txBody>
      </p:sp>
      <p:sp>
        <p:nvSpPr>
          <p:cNvPr id="29" name="Text 26"/>
          <p:cNvSpPr txBox="1"/>
          <p:nvPr/>
        </p:nvSpPr>
        <p:spPr>
          <a:xfrm>
            <a:off x="8284464"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الهَوَاءُ</a:t>
            </a:r>
            <a:endParaRPr lang="ar-SA" sz="135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a:t>
            </a:r>
            <a:endParaRPr lang="en-US" sz="1000" dirty="0"/>
          </a:p>
        </p:txBody>
      </p:sp>
      <p:sp>
        <p:nvSpPr>
          <p:cNvPr id="33" name="Shape 30"/>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iḍāfa</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تَلَوُّثُ المِيَاهِ</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water pollution</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ta-law-wuth al-mi-yāh</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pollution</a:t>
            </a:r>
            <a:endParaRPr lang="en-US" sz="700" dirty="0"/>
          </a:p>
        </p:txBody>
      </p:sp>
      <p:sp>
        <p:nvSpPr>
          <p:cNvPr id="41" name="Text 38"/>
          <p:cNvSpPr txBox="1"/>
          <p:nvPr/>
        </p:nvSpPr>
        <p:spPr>
          <a:xfrm>
            <a:off x="6190488"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تَلَوُّثٌ</a:t>
            </a:r>
            <a:endParaRPr lang="ar-SA" sz="135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the water</a:t>
            </a:r>
            <a:endParaRPr lang="en-US" sz="700" dirty="0"/>
          </a:p>
        </p:txBody>
      </p:sp>
      <p:sp>
        <p:nvSpPr>
          <p:cNvPr id="44" name="Text 41"/>
          <p:cNvSpPr txBox="1"/>
          <p:nvPr/>
        </p:nvSpPr>
        <p:spPr>
          <a:xfrm>
            <a:off x="4462272"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المِيَاهُ</a:t>
            </a:r>
            <a:endParaRPr lang="ar-SA" sz="135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3</a:t>
            </a:r>
            <a:endParaRPr lang="en-US" sz="1000" dirty="0"/>
          </a:p>
        </p:txBody>
      </p:sp>
      <p:sp>
        <p:nvSpPr>
          <p:cNvPr id="48" name="Shape 45"/>
          <p:cNvSpPr/>
          <p:nvPr/>
        </p:nvSpPr>
        <p:spPr>
          <a:xfrm>
            <a:off x="960120" y="1938528"/>
            <a:ext cx="1269187"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1269187"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adjective</a:t>
            </a:r>
            <a:endParaRPr lang="en-US" sz="800" dirty="0"/>
          </a:p>
        </p:txBody>
      </p:sp>
      <p:sp>
        <p:nvSpPr>
          <p:cNvPr id="50" name="Shape 4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52" name="Text 4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النُّفَايَاتُ </a:t>
            </a:r>
            <a:pPr rtl="1" algn="r" indent="0" marL="0">
              <a:buNone/>
            </a:pPr>
            <a:r>
              <a:rPr lang="ar-SA" altLang="en-US" sz="3000" b="1" dirty="0">
                <a:solidFill>
                  <a:srgbClr val="7B3FA0"/>
                </a:solidFill>
                <a:latin typeface="Amiri" pitchFamily="34" charset="0"/>
                <a:ea typeface="Amiri" pitchFamily="34" charset="-122"/>
                <a:cs typeface="Amiri" pitchFamily="34" charset="-120"/>
              </a:rPr>
              <a:t>البِلَاسْتِيكِ</a:t>
            </a:r>
            <a:pPr rtl="1" algn="r" indent="0" marL="0">
              <a:buNone/>
            </a:pPr>
            <a:r>
              <a:rPr lang="ar-SA" altLang="en-US" sz="3000" b="1" dirty="0">
                <a:solidFill>
                  <a:srgbClr val="D6336C"/>
                </a:solidFill>
                <a:latin typeface="Amiri" pitchFamily="34" charset="0"/>
                <a:ea typeface="Amiri" pitchFamily="34" charset="-122"/>
                <a:cs typeface="Amiri" pitchFamily="34" charset="-120"/>
              </a:rPr>
              <a:t>يَّةُ</a:t>
            </a:r>
            <a:endParaRPr lang="ar-SA" sz="3000" dirty="0"/>
          </a:p>
        </p:txBody>
      </p:sp>
      <p:sp>
        <p:nvSpPr>
          <p:cNvPr id="53" name="Text 5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plastic waste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an-nu-fā-yāt al-bi-lās-tī-kiy-ya</a:t>
            </a:r>
            <a:endParaRPr lang="en-US" sz="1350" dirty="0"/>
          </a:p>
        </p:txBody>
      </p:sp>
      <p:sp>
        <p:nvSpPr>
          <p:cNvPr id="54" name="Shape 51"/>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waste</a:t>
            </a:r>
            <a:endParaRPr lang="en-US" sz="700" dirty="0"/>
          </a:p>
        </p:txBody>
      </p:sp>
      <p:sp>
        <p:nvSpPr>
          <p:cNvPr id="56" name="Text 53"/>
          <p:cNvSpPr txBox="1"/>
          <p:nvPr/>
        </p:nvSpPr>
        <p:spPr>
          <a:xfrm>
            <a:off x="2368296"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نُفَايَاتٌ</a:t>
            </a:r>
            <a:endParaRPr lang="ar-SA" sz="1350" dirty="0"/>
          </a:p>
        </p:txBody>
      </p:sp>
      <p:sp>
        <p:nvSpPr>
          <p:cNvPr id="57" name="Shape 54"/>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plastic</a:t>
            </a:r>
            <a:endParaRPr lang="en-US" sz="700" dirty="0"/>
          </a:p>
        </p:txBody>
      </p:sp>
      <p:sp>
        <p:nvSpPr>
          <p:cNvPr id="59" name="Text 56"/>
          <p:cNvSpPr txBox="1"/>
          <p:nvPr/>
        </p:nvSpPr>
        <p:spPr>
          <a:xfrm>
            <a:off x="640080"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بِلَاسْتِيكِيَّةٌ</a:t>
            </a:r>
            <a:endParaRPr lang="ar-SA" sz="1350" dirty="0"/>
          </a:p>
        </p:txBody>
      </p:sp>
      <p:sp>
        <p:nvSpPr>
          <p:cNvPr id="60" name="Shape 5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8211312" y="4261104"/>
            <a:ext cx="310896" cy="310896"/>
          </a:xfrm>
          <a:prstGeom prst="ellipse">
            <a:avLst/>
          </a:prstGeom>
          <a:solidFill>
            <a:srgbClr val="F4F1EA"/>
          </a:solidFill>
          <a:ln w="12700">
            <a:solidFill>
              <a:srgbClr val="F4F1EA"/>
            </a:solidFill>
            <a:prstDash val="solid"/>
          </a:ln>
        </p:spPr>
      </p:sp>
      <p:sp>
        <p:nvSpPr>
          <p:cNvPr id="62" name="Text 5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4</a:t>
            </a:r>
            <a:endParaRPr lang="en-US" sz="1000" dirty="0"/>
          </a:p>
        </p:txBody>
      </p:sp>
      <p:sp>
        <p:nvSpPr>
          <p:cNvPr id="63" name="Shape 60"/>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64" name="Text 61"/>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iḍāfa</a:t>
            </a:r>
            <a:endParaRPr lang="en-US" sz="800" dirty="0"/>
          </a:p>
        </p:txBody>
      </p:sp>
      <p:sp>
        <p:nvSpPr>
          <p:cNvPr id="65" name="Shape 6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6" name="Text 6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67" name="Text 64"/>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إِزَالَةُ الغَابَاتِ</a:t>
            </a:r>
            <a:endParaRPr lang="ar-SA" sz="3000" dirty="0"/>
          </a:p>
        </p:txBody>
      </p:sp>
      <p:sp>
        <p:nvSpPr>
          <p:cNvPr id="68" name="Text 65"/>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deforestation</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i-zā-lat al-ghā-bāt</a:t>
            </a:r>
            <a:endParaRPr lang="en-US" sz="1350" dirty="0"/>
          </a:p>
        </p:txBody>
      </p:sp>
      <p:sp>
        <p:nvSpPr>
          <p:cNvPr id="69" name="Shape 66"/>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70" name="Text 67"/>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removal</a:t>
            </a:r>
            <a:endParaRPr lang="en-US" sz="700" dirty="0"/>
          </a:p>
        </p:txBody>
      </p:sp>
      <p:sp>
        <p:nvSpPr>
          <p:cNvPr id="71" name="Text 68"/>
          <p:cNvSpPr txBox="1"/>
          <p:nvPr/>
        </p:nvSpPr>
        <p:spPr>
          <a:xfrm>
            <a:off x="10012680"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إِزَالَةٌ</a:t>
            </a:r>
            <a:endParaRPr lang="ar-SA" sz="1350" dirty="0"/>
          </a:p>
        </p:txBody>
      </p:sp>
      <p:sp>
        <p:nvSpPr>
          <p:cNvPr id="72" name="Shape 69"/>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the forests</a:t>
            </a:r>
            <a:endParaRPr lang="en-US" sz="700" dirty="0"/>
          </a:p>
        </p:txBody>
      </p:sp>
      <p:sp>
        <p:nvSpPr>
          <p:cNvPr id="74" name="Text 71"/>
          <p:cNvSpPr txBox="1"/>
          <p:nvPr/>
        </p:nvSpPr>
        <p:spPr>
          <a:xfrm>
            <a:off x="8284464"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الغَابَاتُ</a:t>
            </a:r>
            <a:endParaRPr lang="ar-SA" sz="1350" dirty="0"/>
          </a:p>
        </p:txBody>
      </p:sp>
      <p:sp>
        <p:nvSpPr>
          <p:cNvPr id="75" name="Shape 7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389120" y="4261104"/>
            <a:ext cx="310896" cy="310896"/>
          </a:xfrm>
          <a:prstGeom prst="ellipse">
            <a:avLst/>
          </a:prstGeom>
          <a:solidFill>
            <a:srgbClr val="F4F1EA"/>
          </a:solidFill>
          <a:ln w="12700">
            <a:solidFill>
              <a:srgbClr val="F4F1EA"/>
            </a:solidFill>
            <a:prstDash val="solid"/>
          </a:ln>
        </p:spPr>
      </p:sp>
      <p:sp>
        <p:nvSpPr>
          <p:cNvPr id="77" name="Text 7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5</a:t>
            </a:r>
            <a:endParaRPr lang="en-US" sz="1000" dirty="0"/>
          </a:p>
        </p:txBody>
      </p:sp>
      <p:sp>
        <p:nvSpPr>
          <p:cNvPr id="78" name="Shape 75"/>
          <p:cNvSpPr/>
          <p:nvPr/>
        </p:nvSpPr>
        <p:spPr>
          <a:xfrm>
            <a:off x="4782312" y="4279392"/>
            <a:ext cx="1269187" cy="256032"/>
          </a:xfrm>
          <a:prstGeom prst="roundRect">
            <a:avLst>
              <a:gd name="adj" fmla="val 50000"/>
            </a:avLst>
          </a:prstGeom>
          <a:solidFill>
            <a:srgbClr val="EFE7D2"/>
          </a:solidFill>
          <a:ln w="12700">
            <a:solidFill>
              <a:srgbClr val="EFE7D2"/>
            </a:solidFill>
            <a:prstDash val="solid"/>
          </a:ln>
        </p:spPr>
      </p:sp>
      <p:sp>
        <p:nvSpPr>
          <p:cNvPr id="79" name="Text 76"/>
          <p:cNvSpPr txBox="1"/>
          <p:nvPr/>
        </p:nvSpPr>
        <p:spPr>
          <a:xfrm>
            <a:off x="4782312" y="4279392"/>
            <a:ext cx="1269187"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adjective</a:t>
            </a:r>
            <a:endParaRPr lang="en-US" sz="800" dirty="0"/>
          </a:p>
        </p:txBody>
      </p:sp>
      <p:sp>
        <p:nvSpPr>
          <p:cNvPr id="80" name="Shape 7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81" name="Text 7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82" name="Text 79"/>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الاحْتِبَاسُ </a:t>
            </a:r>
            <a:pPr rtl="1" algn="r" indent="0" marL="0">
              <a:buNone/>
            </a:pPr>
            <a:r>
              <a:rPr lang="ar-SA" altLang="en-US" sz="3000" b="1" dirty="0">
                <a:solidFill>
                  <a:srgbClr val="7B3FA0"/>
                </a:solidFill>
                <a:latin typeface="Amiri" pitchFamily="34" charset="0"/>
                <a:ea typeface="Amiri" pitchFamily="34" charset="-122"/>
                <a:cs typeface="Amiri" pitchFamily="34" charset="-120"/>
              </a:rPr>
              <a:t>الحَرَارِ</a:t>
            </a:r>
            <a:pPr rtl="1" algn="r" indent="0" marL="0">
              <a:buNone/>
            </a:pPr>
            <a:r>
              <a:rPr lang="ar-SA" altLang="en-US" sz="3000" b="1" dirty="0">
                <a:solidFill>
                  <a:srgbClr val="D6336C"/>
                </a:solidFill>
                <a:latin typeface="Amiri" pitchFamily="34" charset="0"/>
                <a:ea typeface="Amiri" pitchFamily="34" charset="-122"/>
                <a:cs typeface="Amiri" pitchFamily="34" charset="-120"/>
              </a:rPr>
              <a:t>يُّ</a:t>
            </a:r>
            <a:endParaRPr lang="ar-SA" sz="3000" dirty="0"/>
          </a:p>
        </p:txBody>
      </p:sp>
      <p:sp>
        <p:nvSpPr>
          <p:cNvPr id="83" name="Text 80"/>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global warming</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al-iḥ-ti-bās al-ḥa-rā-riyy</a:t>
            </a:r>
            <a:endParaRPr lang="en-US" sz="1350" dirty="0"/>
          </a:p>
        </p:txBody>
      </p:sp>
      <p:sp>
        <p:nvSpPr>
          <p:cNvPr id="84" name="Shape 81"/>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85" name="Text 82"/>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trapping</a:t>
            </a:r>
            <a:endParaRPr lang="en-US" sz="700" dirty="0"/>
          </a:p>
        </p:txBody>
      </p:sp>
      <p:sp>
        <p:nvSpPr>
          <p:cNvPr id="86" name="Text 83"/>
          <p:cNvSpPr txBox="1"/>
          <p:nvPr/>
        </p:nvSpPr>
        <p:spPr>
          <a:xfrm>
            <a:off x="6190488"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احْتِبَاسٌ</a:t>
            </a:r>
            <a:endParaRPr lang="ar-SA" sz="1350" dirty="0"/>
          </a:p>
        </p:txBody>
      </p:sp>
      <p:sp>
        <p:nvSpPr>
          <p:cNvPr id="87" name="Shape 84"/>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88" name="Text 85"/>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heat (adj.)</a:t>
            </a:r>
            <a:endParaRPr lang="en-US" sz="700" dirty="0"/>
          </a:p>
        </p:txBody>
      </p:sp>
      <p:sp>
        <p:nvSpPr>
          <p:cNvPr id="89" name="Text 86"/>
          <p:cNvSpPr txBox="1"/>
          <p:nvPr/>
        </p:nvSpPr>
        <p:spPr>
          <a:xfrm>
            <a:off x="4462272"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حَرَارِيٌّ</a:t>
            </a:r>
            <a:endParaRPr lang="ar-SA" sz="1350" dirty="0"/>
          </a:p>
        </p:txBody>
      </p:sp>
      <p:sp>
        <p:nvSpPr>
          <p:cNvPr id="90" name="Shape 8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566928" y="4261104"/>
            <a:ext cx="310896" cy="310896"/>
          </a:xfrm>
          <a:prstGeom prst="ellipse">
            <a:avLst/>
          </a:prstGeom>
          <a:solidFill>
            <a:srgbClr val="F4F1EA"/>
          </a:solidFill>
          <a:ln w="12700">
            <a:solidFill>
              <a:srgbClr val="F4F1EA"/>
            </a:solidFill>
            <a:prstDash val="solid"/>
          </a:ln>
        </p:spPr>
      </p:sp>
      <p:sp>
        <p:nvSpPr>
          <p:cNvPr id="92" name="Text 8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6</a:t>
            </a:r>
            <a:endParaRPr lang="en-US" sz="1000" dirty="0"/>
          </a:p>
        </p:txBody>
      </p:sp>
      <p:sp>
        <p:nvSpPr>
          <p:cNvPr id="93" name="Shape 90"/>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94" name="Text 91"/>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a:t>
            </a:r>
            <a:endParaRPr lang="en-US" sz="800" dirty="0"/>
          </a:p>
        </p:txBody>
      </p:sp>
      <p:sp>
        <p:nvSpPr>
          <p:cNvPr id="95" name="Shape 92"/>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96" name="Text 93"/>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97" name="Text 94"/>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التَّصَحُّرُ</a:t>
            </a:r>
            <a:endParaRPr lang="ar-SA" sz="3000" dirty="0"/>
          </a:p>
        </p:txBody>
      </p:sp>
      <p:sp>
        <p:nvSpPr>
          <p:cNvPr id="98" name="Text 95"/>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desertification</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at-ta-ṣaḥ-ḥur</a:t>
            </a:r>
            <a:endParaRPr lang="en-US" sz="1350" dirty="0"/>
          </a:p>
        </p:txBody>
      </p:sp>
      <p:sp>
        <p:nvSpPr>
          <p:cNvPr id="99" name="Shape 96"/>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100" name="Text 97"/>
          <p:cNvSpPr txBox="1"/>
          <p:nvPr/>
        </p:nvSpPr>
        <p:spPr>
          <a:xfrm>
            <a:off x="2377440"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desert</a:t>
            </a:r>
            <a:endParaRPr lang="en-US" sz="700" dirty="0"/>
          </a:p>
        </p:txBody>
      </p:sp>
      <p:sp>
        <p:nvSpPr>
          <p:cNvPr id="101" name="Text 98"/>
          <p:cNvSpPr txBox="1"/>
          <p:nvPr/>
        </p:nvSpPr>
        <p:spPr>
          <a:xfrm>
            <a:off x="2368296"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صَحْرَاءُ</a:t>
            </a:r>
            <a:endParaRPr lang="ar-SA" sz="1350" dirty="0"/>
          </a:p>
        </p:txBody>
      </p:sp>
      <p:sp>
        <p:nvSpPr>
          <p:cNvPr id="102" name="Shape 99"/>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103" name="Text 100"/>
          <p:cNvSpPr txBox="1"/>
          <p:nvPr/>
        </p:nvSpPr>
        <p:spPr>
          <a:xfrm>
            <a:off x="649224"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 becoming desert</a:t>
            </a:r>
            <a:endParaRPr lang="en-US" sz="700" dirty="0"/>
          </a:p>
        </p:txBody>
      </p:sp>
      <p:sp>
        <p:nvSpPr>
          <p:cNvPr id="104" name="Text 101"/>
          <p:cNvSpPr txBox="1"/>
          <p:nvPr/>
        </p:nvSpPr>
        <p:spPr>
          <a:xfrm>
            <a:off x="640080"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التَّصَحُّرُ</a:t>
            </a:r>
            <a:endParaRPr lang="ar-SA" sz="1350" dirty="0"/>
          </a:p>
        </p:txBody>
      </p:sp>
      <p:sp>
        <p:nvSpPr>
          <p:cNvPr id="105" name="Text 10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8 / 45</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TC-L04 · Environmental Problems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Environmental problems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المُشْكِلَاتُ البِيئِيَّةُ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1 of 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7</a:t>
            </a:r>
            <a:endParaRPr lang="en-US" sz="1000" dirty="0"/>
          </a:p>
        </p:txBody>
      </p:sp>
      <p:sp>
        <p:nvSpPr>
          <p:cNvPr id="18" name="Shape 15"/>
          <p:cNvSpPr/>
          <p:nvPr/>
        </p:nvSpPr>
        <p:spPr>
          <a:xfrm>
            <a:off x="8604504" y="1938528"/>
            <a:ext cx="833933"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m.</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الدُّخَانُ</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smoke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ad-du-khān</a:t>
            </a:r>
            <a:endParaRPr lang="en-US" sz="1350" dirty="0"/>
          </a:p>
        </p:txBody>
      </p:sp>
      <p:sp>
        <p:nvSpPr>
          <p:cNvPr id="24" name="Text 21"/>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Website game: </a:t>
            </a:r>
            <a:pPr algn="l" indent="0" marL="0">
              <a:buNone/>
            </a:pPr>
            <a:r>
              <a:rPr lang="ar-SA" altLang="en-US" sz="1300" dirty="0">
                <a:solidFill>
                  <a:srgbClr val="8A6D1E"/>
                </a:solidFill>
                <a:latin typeface="Amiri" pitchFamily="34" charset="0"/>
                <a:ea typeface="Amiri" pitchFamily="34" charset="-122"/>
                <a:cs typeface="Amiri" pitchFamily="34" charset="-120"/>
              </a:rPr>
              <a:t>دُخَانُ المَصَانِعِ</a:t>
            </a:r>
            <a:pPr algn="l" indent="0" marL="0">
              <a:buNone/>
            </a:pPr>
            <a:r>
              <a:rPr lang="en-US" sz="1000" i="1" dirty="0">
                <a:solidFill>
                  <a:srgbClr val="8A6D1E"/>
                </a:solidFill>
                <a:latin typeface="Calibri" pitchFamily="34" charset="0"/>
                <a:ea typeface="Calibri" pitchFamily="34" charset="-122"/>
                <a:cs typeface="Calibri" pitchFamily="34" charset="-120"/>
              </a:rPr>
              <a:t> (factory smoke).</a:t>
            </a:r>
            <a:endParaRPr lang="en-US" sz="1000" dirty="0"/>
          </a:p>
        </p:txBody>
      </p:sp>
      <p:sp>
        <p:nvSpPr>
          <p:cNvPr id="25" name="Shape 22"/>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4389120" y="1920240"/>
            <a:ext cx="310896" cy="310896"/>
          </a:xfrm>
          <a:prstGeom prst="ellipse">
            <a:avLst/>
          </a:prstGeom>
          <a:solidFill>
            <a:srgbClr val="F4F1EA"/>
          </a:solidFill>
          <a:ln w="12700">
            <a:solidFill>
              <a:srgbClr val="F4F1EA"/>
            </a:solidFill>
            <a:prstDash val="solid"/>
          </a:ln>
        </p:spPr>
      </p:sp>
      <p:sp>
        <p:nvSpPr>
          <p:cNvPr id="27" name="Text 24"/>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8</a:t>
            </a:r>
            <a:endParaRPr lang="en-US" sz="1000" dirty="0"/>
          </a:p>
        </p:txBody>
      </p:sp>
      <p:sp>
        <p:nvSpPr>
          <p:cNvPr id="28" name="Shape 25"/>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29" name="Text 26"/>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pl.</a:t>
            </a:r>
            <a:endParaRPr lang="en-US" sz="800" dirty="0"/>
          </a:p>
        </p:txBody>
      </p:sp>
      <p:sp>
        <p:nvSpPr>
          <p:cNvPr id="30" name="Shape 27"/>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2" name="Text 29"/>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المَصَانِعُ</a:t>
            </a:r>
            <a:endParaRPr lang="ar-SA" sz="3000" dirty="0"/>
          </a:p>
        </p:txBody>
      </p:sp>
      <p:sp>
        <p:nvSpPr>
          <p:cNvPr id="33" name="Text 30"/>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factories</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al-ma-ṣā-niʿ · sg. maṣ-naʿ</a:t>
            </a:r>
            <a:endParaRPr lang="en-US" sz="1350" dirty="0"/>
          </a:p>
        </p:txBody>
      </p:sp>
      <p:sp>
        <p:nvSpPr>
          <p:cNvPr id="34" name="Shape 31"/>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35" name="Text 32"/>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36" name="Text 33"/>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مَصْنَعٌ</a:t>
            </a:r>
            <a:endParaRPr lang="ar-SA" sz="1500" dirty="0"/>
          </a:p>
        </p:txBody>
      </p:sp>
      <p:sp>
        <p:nvSpPr>
          <p:cNvPr id="37" name="Shape 34"/>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38" name="Text 35"/>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39" name="Text 36"/>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مَصَانِعُ</a:t>
            </a:r>
            <a:endParaRPr lang="ar-SA" sz="1500" dirty="0"/>
          </a:p>
        </p:txBody>
      </p:sp>
      <p:sp>
        <p:nvSpPr>
          <p:cNvPr id="40" name="Shape 37"/>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66928" y="1920240"/>
            <a:ext cx="310896" cy="310896"/>
          </a:xfrm>
          <a:prstGeom prst="ellipse">
            <a:avLst/>
          </a:prstGeom>
          <a:solidFill>
            <a:srgbClr val="F4F1EA"/>
          </a:solidFill>
          <a:ln w="12700">
            <a:solidFill>
              <a:srgbClr val="F4F1EA"/>
            </a:solidFill>
            <a:prstDash val="solid"/>
          </a:ln>
        </p:spPr>
      </p:sp>
      <p:sp>
        <p:nvSpPr>
          <p:cNvPr id="42" name="Text 39"/>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9</a:t>
            </a:r>
            <a:endParaRPr lang="en-US" sz="1000" dirty="0"/>
          </a:p>
        </p:txBody>
      </p:sp>
      <p:sp>
        <p:nvSpPr>
          <p:cNvPr id="43" name="Shape 40"/>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44" name="Text 41"/>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iḍāfa</a:t>
            </a:r>
            <a:endParaRPr lang="en-US" sz="800" dirty="0"/>
          </a:p>
        </p:txBody>
      </p:sp>
      <p:sp>
        <p:nvSpPr>
          <p:cNvPr id="45" name="Text 42"/>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ذَوَبَانُ الجَلِيدِ</a:t>
            </a:r>
            <a:endParaRPr lang="ar-SA" sz="3000" dirty="0"/>
          </a:p>
        </p:txBody>
      </p:sp>
      <p:sp>
        <p:nvSpPr>
          <p:cNvPr id="46" name="Text 43"/>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melting ice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dha-wa-bān al-ja-līd</a:t>
            </a:r>
            <a:endParaRPr lang="en-US" sz="1350" dirty="0"/>
          </a:p>
        </p:txBody>
      </p:sp>
      <p:sp>
        <p:nvSpPr>
          <p:cNvPr id="47" name="Shape 44"/>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48" name="Text 45"/>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melting</a:t>
            </a:r>
            <a:endParaRPr lang="en-US" sz="700" dirty="0"/>
          </a:p>
        </p:txBody>
      </p:sp>
      <p:sp>
        <p:nvSpPr>
          <p:cNvPr id="49" name="Text 46"/>
          <p:cNvSpPr txBox="1"/>
          <p:nvPr/>
        </p:nvSpPr>
        <p:spPr>
          <a:xfrm>
            <a:off x="2368296"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ذَوَبَانٌ</a:t>
            </a:r>
            <a:endParaRPr lang="ar-SA" sz="1350" dirty="0"/>
          </a:p>
        </p:txBody>
      </p:sp>
      <p:sp>
        <p:nvSpPr>
          <p:cNvPr id="50" name="Shape 47"/>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1" name="Text 48"/>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the ice</a:t>
            </a:r>
            <a:endParaRPr lang="en-US" sz="700" dirty="0"/>
          </a:p>
        </p:txBody>
      </p:sp>
      <p:sp>
        <p:nvSpPr>
          <p:cNvPr id="52" name="Text 49"/>
          <p:cNvSpPr txBox="1"/>
          <p:nvPr/>
        </p:nvSpPr>
        <p:spPr>
          <a:xfrm>
            <a:off x="640080"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الجَلِيدُ</a:t>
            </a:r>
            <a:endParaRPr lang="ar-SA" sz="1350" dirty="0"/>
          </a:p>
        </p:txBody>
      </p:sp>
      <p:sp>
        <p:nvSpPr>
          <p:cNvPr id="53" name="Shape 50"/>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4" name="Shape 51"/>
          <p:cNvSpPr/>
          <p:nvPr/>
        </p:nvSpPr>
        <p:spPr>
          <a:xfrm>
            <a:off x="8211312" y="4261104"/>
            <a:ext cx="310896" cy="310896"/>
          </a:xfrm>
          <a:prstGeom prst="ellipse">
            <a:avLst/>
          </a:prstGeom>
          <a:solidFill>
            <a:srgbClr val="F4F1EA"/>
          </a:solidFill>
          <a:ln w="12700">
            <a:solidFill>
              <a:srgbClr val="F4F1EA"/>
            </a:solidFill>
            <a:prstDash val="solid"/>
          </a:ln>
        </p:spPr>
      </p:sp>
      <p:sp>
        <p:nvSpPr>
          <p:cNvPr id="55" name="Text 52"/>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10</a:t>
            </a:r>
            <a:endParaRPr lang="en-US" sz="1000" dirty="0"/>
          </a:p>
        </p:txBody>
      </p:sp>
      <p:sp>
        <p:nvSpPr>
          <p:cNvPr id="56" name="Shape 53"/>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57" name="Text 54"/>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iḍāfa</a:t>
            </a:r>
            <a:endParaRPr lang="en-US" sz="800" dirty="0"/>
          </a:p>
        </p:txBody>
      </p:sp>
      <p:sp>
        <p:nvSpPr>
          <p:cNvPr id="58" name="Text 55"/>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ارْتِفَاعُ مُسْتَوَى البَحْرِ</a:t>
            </a:r>
            <a:endParaRPr lang="ar-SA" sz="3000" dirty="0"/>
          </a:p>
        </p:txBody>
      </p:sp>
      <p:sp>
        <p:nvSpPr>
          <p:cNvPr id="59" name="Text 56"/>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sea-level rise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ir-ti-fāʿ mus-ta-wā l-baḥr</a:t>
            </a:r>
            <a:endParaRPr lang="en-US" sz="1350" dirty="0"/>
          </a:p>
        </p:txBody>
      </p:sp>
      <p:sp>
        <p:nvSpPr>
          <p:cNvPr id="60" name="Text 57"/>
          <p:cNvSpPr txBox="1"/>
          <p:nvPr/>
        </p:nvSpPr>
        <p:spPr>
          <a:xfrm>
            <a:off x="8238744" y="5961888"/>
            <a:ext cx="3364992" cy="292608"/>
          </a:xfrm>
          <a:prstGeom prst="rect">
            <a:avLst/>
          </a:prstGeom>
          <a:noFill/>
          <a:ln/>
        </p:spPr>
        <p:txBody>
          <a:bodyPr wrap="square" lIns="0" tIns="0" rIns="0" bIns="0" rtlCol="0" anchor="ctr"/>
          <a:lstStyle/>
          <a:p>
            <a:pPr algn="l" indent="0" marL="0">
              <a:buNone/>
            </a:pPr>
            <a:r>
              <a:rPr lang="ar-SA" altLang="en-US" sz="1300" dirty="0">
                <a:solidFill>
                  <a:srgbClr val="8A6D1E"/>
                </a:solidFill>
                <a:latin typeface="Amiri" pitchFamily="34" charset="0"/>
                <a:ea typeface="Amiri" pitchFamily="34" charset="-122"/>
                <a:cs typeface="Amiri" pitchFamily="34" charset="-120"/>
              </a:rPr>
              <a:t>ارْتِفَاع</a:t>
            </a:r>
            <a:pPr algn="l" indent="0" marL="0">
              <a:buNone/>
            </a:pPr>
            <a:r>
              <a:rPr lang="en-US" sz="1000" i="1" dirty="0">
                <a:solidFill>
                  <a:srgbClr val="8A6D1E"/>
                </a:solidFill>
                <a:latin typeface="Calibri" pitchFamily="34" charset="0"/>
                <a:ea typeface="Calibri" pitchFamily="34" charset="-122"/>
                <a:cs typeface="Calibri" pitchFamily="34" charset="-120"/>
              </a:rPr>
              <a:t> = rise (TC-L03: </a:t>
            </a:r>
            <a:pPr algn="l" indent="0" marL="0">
              <a:buNone/>
            </a:pPr>
            <a:r>
              <a:rPr lang="ar-SA" altLang="en-US" sz="1300" dirty="0">
                <a:solidFill>
                  <a:srgbClr val="8A6D1E"/>
                </a:solidFill>
                <a:latin typeface="Amiri" pitchFamily="34" charset="0"/>
                <a:ea typeface="Amiri" pitchFamily="34" charset="-122"/>
                <a:cs typeface="Amiri" pitchFamily="34" charset="-120"/>
              </a:rPr>
              <a:t>تَرْتَفِعُ</a:t>
            </a:r>
            <a:pPr algn="l" indent="0" marL="0">
              <a:buNone/>
            </a:pPr>
            <a:r>
              <a:rPr lang="en-US" sz="1000" i="1" dirty="0">
                <a:solidFill>
                  <a:srgbClr val="8A6D1E"/>
                </a:solidFill>
                <a:latin typeface="Calibri" pitchFamily="34" charset="0"/>
                <a:ea typeface="Calibri" pitchFamily="34" charset="-122"/>
                <a:cs typeface="Calibri" pitchFamily="34" charset="-120"/>
              </a:rPr>
              <a:t>).</a:t>
            </a:r>
            <a:endParaRPr lang="en-US" sz="1000" dirty="0"/>
          </a:p>
        </p:txBody>
      </p:sp>
      <p:sp>
        <p:nvSpPr>
          <p:cNvPr id="61" name="Shape 5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4389120" y="4261104"/>
            <a:ext cx="310896" cy="310896"/>
          </a:xfrm>
          <a:prstGeom prst="ellipse">
            <a:avLst/>
          </a:prstGeom>
          <a:solidFill>
            <a:srgbClr val="F4F1EA"/>
          </a:solidFill>
          <a:ln w="12700">
            <a:solidFill>
              <a:srgbClr val="F4F1EA"/>
            </a:solidFill>
            <a:prstDash val="solid"/>
          </a:ln>
        </p:spPr>
      </p:sp>
      <p:sp>
        <p:nvSpPr>
          <p:cNvPr id="63" name="Text 6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11</a:t>
            </a:r>
            <a:endParaRPr lang="en-US" sz="1000" dirty="0"/>
          </a:p>
        </p:txBody>
      </p:sp>
      <p:sp>
        <p:nvSpPr>
          <p:cNvPr id="64" name="Shape 61"/>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65" name="Text 62"/>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iḍāfa</a:t>
            </a:r>
            <a:endParaRPr lang="en-US" sz="800" dirty="0"/>
          </a:p>
        </p:txBody>
      </p:sp>
      <p:sp>
        <p:nvSpPr>
          <p:cNvPr id="66" name="Text 63"/>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فَقْدُ المَوَائِلِ</a:t>
            </a:r>
            <a:endParaRPr lang="ar-SA" sz="3000" dirty="0"/>
          </a:p>
        </p:txBody>
      </p:sp>
      <p:sp>
        <p:nvSpPr>
          <p:cNvPr id="67" name="Text 64"/>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habitat loss</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faqd al-ma-wā-ʾil</a:t>
            </a:r>
            <a:endParaRPr lang="en-US" sz="1350" dirty="0"/>
          </a:p>
        </p:txBody>
      </p:sp>
      <p:sp>
        <p:nvSpPr>
          <p:cNvPr id="68" name="Shape 65"/>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69" name="Text 66"/>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loss</a:t>
            </a:r>
            <a:endParaRPr lang="en-US" sz="700" dirty="0"/>
          </a:p>
        </p:txBody>
      </p:sp>
      <p:sp>
        <p:nvSpPr>
          <p:cNvPr id="70" name="Text 67"/>
          <p:cNvSpPr txBox="1"/>
          <p:nvPr/>
        </p:nvSpPr>
        <p:spPr>
          <a:xfrm>
            <a:off x="6190488"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فَقْدٌ</a:t>
            </a:r>
            <a:endParaRPr lang="ar-SA" sz="1350" dirty="0"/>
          </a:p>
        </p:txBody>
      </p:sp>
      <p:sp>
        <p:nvSpPr>
          <p:cNvPr id="71" name="Shape 68"/>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72" name="Text 69"/>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habitats</a:t>
            </a:r>
            <a:endParaRPr lang="en-US" sz="700" dirty="0"/>
          </a:p>
        </p:txBody>
      </p:sp>
      <p:sp>
        <p:nvSpPr>
          <p:cNvPr id="73" name="Text 70"/>
          <p:cNvSpPr txBox="1"/>
          <p:nvPr/>
        </p:nvSpPr>
        <p:spPr>
          <a:xfrm>
            <a:off x="4462272"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المَوَائِلُ</a:t>
            </a:r>
            <a:endParaRPr lang="ar-SA" sz="1350" dirty="0"/>
          </a:p>
        </p:txBody>
      </p:sp>
      <p:sp>
        <p:nvSpPr>
          <p:cNvPr id="74" name="Shape 71"/>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5" name="Shape 72"/>
          <p:cNvSpPr/>
          <p:nvPr/>
        </p:nvSpPr>
        <p:spPr>
          <a:xfrm>
            <a:off x="566928" y="4261104"/>
            <a:ext cx="310896" cy="310896"/>
          </a:xfrm>
          <a:prstGeom prst="ellipse">
            <a:avLst/>
          </a:prstGeom>
          <a:solidFill>
            <a:srgbClr val="F4F1EA"/>
          </a:solidFill>
          <a:ln w="12700">
            <a:solidFill>
              <a:srgbClr val="F4F1EA"/>
            </a:solidFill>
            <a:prstDash val="solid"/>
          </a:ln>
        </p:spPr>
      </p:sp>
      <p:sp>
        <p:nvSpPr>
          <p:cNvPr id="76" name="Text 73"/>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12</a:t>
            </a:r>
            <a:endParaRPr lang="en-US" sz="1000" dirty="0"/>
          </a:p>
        </p:txBody>
      </p:sp>
      <p:sp>
        <p:nvSpPr>
          <p:cNvPr id="77" name="Shape 74"/>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78" name="Text 75"/>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iḍāfa</a:t>
            </a:r>
            <a:endParaRPr lang="en-US" sz="800" dirty="0"/>
          </a:p>
        </p:txBody>
      </p:sp>
      <p:sp>
        <p:nvSpPr>
          <p:cNvPr id="79" name="Text 76"/>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انْقِرَاضُ الأَنْوَاعِ</a:t>
            </a:r>
            <a:endParaRPr lang="ar-SA" sz="3000" dirty="0"/>
          </a:p>
        </p:txBody>
      </p:sp>
      <p:sp>
        <p:nvSpPr>
          <p:cNvPr id="80" name="Text 77"/>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species extinction</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in-qi-rāḍ al-an-wāʿ</a:t>
            </a:r>
            <a:endParaRPr lang="en-US" sz="1350" dirty="0"/>
          </a:p>
        </p:txBody>
      </p:sp>
      <p:sp>
        <p:nvSpPr>
          <p:cNvPr id="81" name="Text 78"/>
          <p:cNvSpPr txBox="1"/>
          <p:nvPr/>
        </p:nvSpPr>
        <p:spPr>
          <a:xfrm>
            <a:off x="594360"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TC-L02: </a:t>
            </a:r>
            <a:pPr algn="l" indent="0" marL="0">
              <a:buNone/>
            </a:pPr>
            <a:r>
              <a:rPr lang="ar-SA" altLang="en-US" sz="1300" dirty="0">
                <a:solidFill>
                  <a:srgbClr val="8A6D1E"/>
                </a:solidFill>
                <a:latin typeface="Amiri" pitchFamily="34" charset="0"/>
                <a:ea typeface="Amiri" pitchFamily="34" charset="-122"/>
                <a:cs typeface="Amiri" pitchFamily="34" charset="-120"/>
              </a:rPr>
              <a:t>الانْقِرَاضُ</a:t>
            </a:r>
            <a:pPr algn="l" indent="0" marL="0">
              <a:buNone/>
            </a:pPr>
            <a:r>
              <a:rPr lang="en-US" sz="1000" i="1" dirty="0">
                <a:solidFill>
                  <a:srgbClr val="8A6D1E"/>
                </a:solidFill>
                <a:latin typeface="Calibri" pitchFamily="34" charset="0"/>
                <a:ea typeface="Calibri" pitchFamily="34" charset="-122"/>
                <a:cs typeface="Calibri" pitchFamily="34" charset="-120"/>
              </a:rPr>
              <a:t> = extinction.</a:t>
            </a:r>
            <a:endParaRPr lang="en-US" sz="1000" dirty="0"/>
          </a:p>
        </p:txBody>
      </p:sp>
      <p:sp>
        <p:nvSpPr>
          <p:cNvPr id="82" name="Text 7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9 / 45</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TC-L04 · Environmental Problems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3 · CAUSE AND EFFECT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Cause and effect connectors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السَّبَبُ وَالنَّتِيجَةُ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1 of 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 noun</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0E7C86"/>
                </a:solidFill>
                <a:latin typeface="Amiri" pitchFamily="34" charset="0"/>
                <a:ea typeface="Amiri" pitchFamily="34" charset="-122"/>
                <a:cs typeface="Amiri" pitchFamily="34" charset="-120"/>
              </a:rPr>
              <a:t>بِسَبَبِ</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because of</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bi-sa-ba-bi</a:t>
            </a:r>
            <a:endParaRPr lang="en-US" sz="1350" dirty="0"/>
          </a:p>
        </p:txBody>
      </p:sp>
      <p:sp>
        <p:nvSpPr>
          <p:cNvPr id="24" name="Text 21"/>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Followed by a NOUN, not a whole sentence.</a:t>
            </a:r>
            <a:endParaRPr lang="en-US" sz="1000" dirty="0"/>
          </a:p>
        </p:txBody>
      </p:sp>
      <p:sp>
        <p:nvSpPr>
          <p:cNvPr id="25" name="Shape 22"/>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4389120" y="1920240"/>
            <a:ext cx="310896" cy="310896"/>
          </a:xfrm>
          <a:prstGeom prst="ellipse">
            <a:avLst/>
          </a:prstGeom>
          <a:solidFill>
            <a:srgbClr val="F4F1EA"/>
          </a:solidFill>
          <a:ln w="12700">
            <a:solidFill>
              <a:srgbClr val="F4F1EA"/>
            </a:solidFill>
            <a:prstDash val="solid"/>
          </a:ln>
        </p:spPr>
      </p:sp>
      <p:sp>
        <p:nvSpPr>
          <p:cNvPr id="27" name="Text 24"/>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a:t>
            </a:r>
            <a:endParaRPr lang="en-US" sz="1000" dirty="0"/>
          </a:p>
        </p:txBody>
      </p:sp>
      <p:sp>
        <p:nvSpPr>
          <p:cNvPr id="28" name="Shape 25"/>
          <p:cNvSpPr/>
          <p:nvPr/>
        </p:nvSpPr>
        <p:spPr>
          <a:xfrm>
            <a:off x="4782312" y="1938528"/>
            <a:ext cx="1020470" cy="256032"/>
          </a:xfrm>
          <a:prstGeom prst="roundRect">
            <a:avLst>
              <a:gd name="adj" fmla="val 50000"/>
            </a:avLst>
          </a:prstGeom>
          <a:solidFill>
            <a:srgbClr val="EFE7D2"/>
          </a:solidFill>
          <a:ln w="12700">
            <a:solidFill>
              <a:srgbClr val="EFE7D2"/>
            </a:solidFill>
            <a:prstDash val="solid"/>
          </a:ln>
        </p:spPr>
      </p:sp>
      <p:sp>
        <p:nvSpPr>
          <p:cNvPr id="29" name="Text 26"/>
          <p:cNvSpPr txBox="1"/>
          <p:nvPr/>
        </p:nvSpPr>
        <p:spPr>
          <a:xfrm>
            <a:off x="4782312"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verb + إِلَى</a:t>
            </a:r>
            <a:endParaRPr lang="en-US" sz="800" dirty="0"/>
          </a:p>
        </p:txBody>
      </p:sp>
      <p:sp>
        <p:nvSpPr>
          <p:cNvPr id="30" name="Shape 27"/>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2" name="Text 29"/>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0E7C86"/>
                </a:solidFill>
                <a:latin typeface="Amiri" pitchFamily="34" charset="0"/>
                <a:ea typeface="Amiri" pitchFamily="34" charset="-122"/>
                <a:cs typeface="Amiri" pitchFamily="34" charset="-120"/>
              </a:rPr>
              <a:t>يُؤَدِّي إِلَى</a:t>
            </a:r>
            <a:endParaRPr lang="ar-SA" sz="3000" dirty="0"/>
          </a:p>
        </p:txBody>
      </p:sp>
      <p:sp>
        <p:nvSpPr>
          <p:cNvPr id="33" name="Text 30"/>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leads to</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yu-ʾad-dī i-lā</a:t>
            </a:r>
            <a:endParaRPr lang="en-US" sz="1350" dirty="0"/>
          </a:p>
        </p:txBody>
      </p:sp>
      <p:sp>
        <p:nvSpPr>
          <p:cNvPr id="34" name="Text 31"/>
          <p:cNvSpPr txBox="1"/>
          <p:nvPr/>
        </p:nvSpPr>
        <p:spPr>
          <a:xfrm>
            <a:off x="4416552"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Always </a:t>
            </a:r>
            <a:pPr algn="l" indent="0" marL="0">
              <a:buNone/>
            </a:pPr>
            <a:r>
              <a:rPr lang="ar-SA" altLang="en-US" sz="1300" dirty="0">
                <a:solidFill>
                  <a:srgbClr val="8A6D1E"/>
                </a:solidFill>
                <a:latin typeface="Amiri" pitchFamily="34" charset="0"/>
                <a:ea typeface="Amiri" pitchFamily="34" charset="-122"/>
                <a:cs typeface="Amiri" pitchFamily="34" charset="-120"/>
              </a:rPr>
              <a:t>إِلَى</a:t>
            </a:r>
            <a:pPr algn="l" indent="0" marL="0">
              <a:buNone/>
            </a:pPr>
            <a:r>
              <a:rPr lang="en-US" sz="1000" i="1" dirty="0">
                <a:solidFill>
                  <a:srgbClr val="8A6D1E"/>
                </a:solidFill>
                <a:latin typeface="Calibri" pitchFamily="34" charset="0"/>
                <a:ea typeface="Calibri" pitchFamily="34" charset="-122"/>
                <a:cs typeface="Calibri" pitchFamily="34" charset="-120"/>
              </a:rPr>
              <a:t> after </a:t>
            </a:r>
            <a:pPr algn="l" indent="0" marL="0">
              <a:buNone/>
            </a:pPr>
            <a:r>
              <a:rPr lang="ar-SA" altLang="en-US" sz="1300" dirty="0">
                <a:solidFill>
                  <a:srgbClr val="8A6D1E"/>
                </a:solidFill>
                <a:latin typeface="Amiri" pitchFamily="34" charset="0"/>
                <a:ea typeface="Amiri" pitchFamily="34" charset="-122"/>
                <a:cs typeface="Amiri" pitchFamily="34" charset="-120"/>
              </a:rPr>
              <a:t>يُؤَدِّي</a:t>
            </a:r>
            <a:pPr algn="l" indent="0" marL="0">
              <a:buNone/>
            </a:pPr>
            <a:r>
              <a:rPr lang="en-US" sz="1000" i="1" dirty="0">
                <a:solidFill>
                  <a:srgbClr val="8A6D1E"/>
                </a:solidFill>
                <a:latin typeface="Calibri" pitchFamily="34" charset="0"/>
                <a:ea typeface="Calibri" pitchFamily="34" charset="-122"/>
                <a:cs typeface="Calibri" pitchFamily="34" charset="-120"/>
              </a:rPr>
              <a:t>.</a:t>
            </a:r>
            <a:endParaRPr lang="en-US" sz="1000" dirty="0"/>
          </a:p>
        </p:txBody>
      </p:sp>
      <p:sp>
        <p:nvSpPr>
          <p:cNvPr id="35" name="Shape 3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566928" y="1920240"/>
            <a:ext cx="310896" cy="310896"/>
          </a:xfrm>
          <a:prstGeom prst="ellipse">
            <a:avLst/>
          </a:prstGeom>
          <a:solidFill>
            <a:srgbClr val="F4F1EA"/>
          </a:solidFill>
          <a:ln w="12700">
            <a:solidFill>
              <a:srgbClr val="F4F1EA"/>
            </a:solidFill>
            <a:prstDash val="solid"/>
          </a:ln>
        </p:spPr>
      </p:sp>
      <p:sp>
        <p:nvSpPr>
          <p:cNvPr id="37" name="Text 3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3</a:t>
            </a:r>
            <a:endParaRPr lang="en-US" sz="1000" dirty="0"/>
          </a:p>
        </p:txBody>
      </p:sp>
      <p:sp>
        <p:nvSpPr>
          <p:cNvPr id="38" name="Shape 35"/>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39" name="Text 36"/>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 noun</a:t>
            </a:r>
            <a:endParaRPr lang="en-US" sz="800" dirty="0"/>
          </a:p>
        </p:txBody>
      </p:sp>
      <p:sp>
        <p:nvSpPr>
          <p:cNvPr id="40" name="Text 3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0E7C86"/>
                </a:solidFill>
                <a:latin typeface="Amiri" pitchFamily="34" charset="0"/>
                <a:ea typeface="Amiri" pitchFamily="34" charset="-122"/>
                <a:cs typeface="Amiri" pitchFamily="34" charset="-120"/>
              </a:rPr>
              <a:t>نَتِيجَةً لِـ</a:t>
            </a:r>
            <a:endParaRPr lang="ar-SA" sz="3000" dirty="0"/>
          </a:p>
        </p:txBody>
      </p:sp>
      <p:sp>
        <p:nvSpPr>
          <p:cNvPr id="41" name="Text 3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as a result of</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na-tī-ja-tan li</a:t>
            </a:r>
            <a:endParaRPr lang="en-US" sz="1350" dirty="0"/>
          </a:p>
        </p:txBody>
      </p:sp>
      <p:sp>
        <p:nvSpPr>
          <p:cNvPr id="42" name="Text 39"/>
          <p:cNvSpPr txBox="1"/>
          <p:nvPr/>
        </p:nvSpPr>
        <p:spPr>
          <a:xfrm>
            <a:off x="594360"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Followed by a noun in the genitive.</a:t>
            </a:r>
            <a:endParaRPr lang="en-US" sz="1000" dirty="0"/>
          </a:p>
        </p:txBody>
      </p:sp>
      <p:sp>
        <p:nvSpPr>
          <p:cNvPr id="43" name="Shape 40"/>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11312"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4</a:t>
            </a:r>
            <a:endParaRPr lang="en-US" sz="1000" dirty="0"/>
          </a:p>
        </p:txBody>
      </p:sp>
      <p:sp>
        <p:nvSpPr>
          <p:cNvPr id="46" name="Shape 43"/>
          <p:cNvSpPr/>
          <p:nvPr/>
        </p:nvSpPr>
        <p:spPr>
          <a:xfrm>
            <a:off x="8604504" y="4279392"/>
            <a:ext cx="1082650" cy="256032"/>
          </a:xfrm>
          <a:prstGeom prst="roundRect">
            <a:avLst>
              <a:gd name="adj" fmla="val 50000"/>
            </a:avLst>
          </a:prstGeom>
          <a:solidFill>
            <a:srgbClr val="EFE7D2"/>
          </a:solidFill>
          <a:ln w="12700">
            <a:solidFill>
              <a:srgbClr val="EFE7D2"/>
            </a:solidFill>
            <a:prstDash val="solid"/>
          </a:ln>
        </p:spPr>
      </p:sp>
      <p:sp>
        <p:nvSpPr>
          <p:cNvPr id="47" name="Text 44"/>
          <p:cNvSpPr txBox="1"/>
          <p:nvPr/>
        </p:nvSpPr>
        <p:spPr>
          <a:xfrm>
            <a:off x="8604504" y="4279392"/>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after a comma</a:t>
            </a:r>
            <a:endParaRPr lang="en-US" sz="800" dirty="0"/>
          </a:p>
        </p:txBody>
      </p:sp>
      <p:sp>
        <p:nvSpPr>
          <p:cNvPr id="48" name="Text 45"/>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0E7C86"/>
                </a:solidFill>
                <a:latin typeface="Amiri" pitchFamily="34" charset="0"/>
                <a:ea typeface="Amiri" pitchFamily="34" charset="-122"/>
                <a:cs typeface="Amiri" pitchFamily="34" charset="-120"/>
              </a:rPr>
              <a:t>مِمَّا يُسَبِّبُ</a:t>
            </a:r>
            <a:endParaRPr lang="ar-SA" sz="3000" dirty="0"/>
          </a:p>
        </p:txBody>
      </p:sp>
      <p:sp>
        <p:nvSpPr>
          <p:cNvPr id="49" name="Text 46"/>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which causes</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mim-mā yu-sab-bi-bu</a:t>
            </a:r>
            <a:endParaRPr lang="en-US" sz="1350" dirty="0"/>
          </a:p>
        </p:txBody>
      </p:sp>
      <p:sp>
        <p:nvSpPr>
          <p:cNvPr id="50" name="Text 47"/>
          <p:cNvSpPr txBox="1"/>
          <p:nvPr/>
        </p:nvSpPr>
        <p:spPr>
          <a:xfrm>
            <a:off x="8238744" y="5961888"/>
            <a:ext cx="3364992" cy="292608"/>
          </a:xfrm>
          <a:prstGeom prst="rect">
            <a:avLst/>
          </a:prstGeom>
          <a:noFill/>
          <a:ln/>
        </p:spPr>
        <p:txBody>
          <a:bodyPr wrap="square" lIns="0" tIns="0" rIns="0" bIns="0" rtlCol="0" anchor="ctr"/>
          <a:lstStyle/>
          <a:p>
            <a:pPr algn="l" indent="0" marL="0">
              <a:buNone/>
            </a:pPr>
            <a:r>
              <a:rPr lang="ar-SA" altLang="en-US" sz="1300" dirty="0">
                <a:solidFill>
                  <a:srgbClr val="8A6D1E"/>
                </a:solidFill>
                <a:latin typeface="Amiri" pitchFamily="34" charset="0"/>
                <a:ea typeface="Amiri" pitchFamily="34" charset="-122"/>
                <a:cs typeface="Amiri" pitchFamily="34" charset="-120"/>
              </a:rPr>
              <a:t>مِمَّا</a:t>
            </a:r>
            <a:pPr algn="l" indent="0" marL="0">
              <a:buNone/>
            </a:pPr>
            <a:r>
              <a:rPr lang="en-US" sz="1000" i="1" dirty="0">
                <a:solidFill>
                  <a:srgbClr val="8A6D1E"/>
                </a:solidFill>
                <a:latin typeface="Calibri" pitchFamily="34" charset="0"/>
                <a:ea typeface="Calibri" pitchFamily="34" charset="-122"/>
                <a:cs typeface="Calibri" pitchFamily="34" charset="-120"/>
              </a:rPr>
              <a:t> refers back to the whole idea before it.</a:t>
            </a:r>
            <a:endParaRPr lang="en-US" sz="1000" dirty="0"/>
          </a:p>
        </p:txBody>
      </p:sp>
      <p:sp>
        <p:nvSpPr>
          <p:cNvPr id="51" name="Shape 4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4389120" y="4261104"/>
            <a:ext cx="310896" cy="310896"/>
          </a:xfrm>
          <a:prstGeom prst="ellipse">
            <a:avLst/>
          </a:prstGeom>
          <a:solidFill>
            <a:srgbClr val="F4F1EA"/>
          </a:solidFill>
          <a:ln w="12700">
            <a:solidFill>
              <a:srgbClr val="F4F1EA"/>
            </a:solidFill>
            <a:prstDash val="solid"/>
          </a:ln>
        </p:spPr>
      </p:sp>
      <p:sp>
        <p:nvSpPr>
          <p:cNvPr id="53" name="Text 5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5</a:t>
            </a:r>
            <a:endParaRPr lang="en-US" sz="1000" dirty="0"/>
          </a:p>
        </p:txBody>
      </p:sp>
      <p:sp>
        <p:nvSpPr>
          <p:cNvPr id="54" name="Shape 51"/>
          <p:cNvSpPr/>
          <p:nvPr/>
        </p:nvSpPr>
        <p:spPr>
          <a:xfrm>
            <a:off x="4782312" y="4279392"/>
            <a:ext cx="1331366"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4782312" y="4279392"/>
            <a:ext cx="1331366"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starts a sentence</a:t>
            </a:r>
            <a:endParaRPr lang="en-US" sz="800" dirty="0"/>
          </a:p>
        </p:txBody>
      </p:sp>
      <p:sp>
        <p:nvSpPr>
          <p:cNvPr id="56" name="Text 53"/>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0E7C86"/>
                </a:solidFill>
                <a:latin typeface="Amiri" pitchFamily="34" charset="0"/>
                <a:ea typeface="Amiri" pitchFamily="34" charset="-122"/>
                <a:cs typeface="Amiri" pitchFamily="34" charset="-120"/>
              </a:rPr>
              <a:t>نَتِيجَةً لِذٰلِكَ</a:t>
            </a:r>
            <a:endParaRPr lang="ar-SA" sz="3000" dirty="0"/>
          </a:p>
        </p:txBody>
      </p:sp>
      <p:sp>
        <p:nvSpPr>
          <p:cNvPr id="57" name="Text 54"/>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as a result</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na-tī-ja-tan li-dhā-lik</a:t>
            </a:r>
            <a:endParaRPr lang="en-US" sz="1350" dirty="0"/>
          </a:p>
        </p:txBody>
      </p:sp>
      <p:sp>
        <p:nvSpPr>
          <p:cNvPr id="58" name="Shape 55"/>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566928" y="4261104"/>
            <a:ext cx="310896" cy="310896"/>
          </a:xfrm>
          <a:prstGeom prst="ellipse">
            <a:avLst/>
          </a:prstGeom>
          <a:solidFill>
            <a:srgbClr val="F4F1EA"/>
          </a:solidFill>
          <a:ln w="12700">
            <a:solidFill>
              <a:srgbClr val="F4F1EA"/>
            </a:solidFill>
            <a:prstDash val="solid"/>
          </a:ln>
        </p:spPr>
      </p:sp>
      <p:sp>
        <p:nvSpPr>
          <p:cNvPr id="60" name="Text 57"/>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6</a:t>
            </a:r>
            <a:endParaRPr lang="en-US" sz="1000" dirty="0"/>
          </a:p>
        </p:txBody>
      </p:sp>
      <p:sp>
        <p:nvSpPr>
          <p:cNvPr id="61" name="Shape 58"/>
          <p:cNvSpPr/>
          <p:nvPr/>
        </p:nvSpPr>
        <p:spPr>
          <a:xfrm>
            <a:off x="960120" y="4279392"/>
            <a:ext cx="958291" cy="256032"/>
          </a:xfrm>
          <a:prstGeom prst="roundRect">
            <a:avLst>
              <a:gd name="adj" fmla="val 50000"/>
            </a:avLst>
          </a:prstGeom>
          <a:solidFill>
            <a:srgbClr val="EFE7D2"/>
          </a:solidFill>
          <a:ln w="12700">
            <a:solidFill>
              <a:srgbClr val="EFE7D2"/>
            </a:solidFill>
            <a:prstDash val="solid"/>
          </a:ln>
        </p:spPr>
      </p:sp>
      <p:sp>
        <p:nvSpPr>
          <p:cNvPr id="62" name="Text 59"/>
          <p:cNvSpPr txBox="1"/>
          <p:nvPr/>
        </p:nvSpPr>
        <p:spPr>
          <a:xfrm>
            <a:off x="960120" y="4279392"/>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time phrase</a:t>
            </a:r>
            <a:endParaRPr lang="en-US" sz="800" dirty="0"/>
          </a:p>
        </p:txBody>
      </p:sp>
      <p:sp>
        <p:nvSpPr>
          <p:cNvPr id="63" name="Text 60"/>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عَلَى المَدَى الطَّوِيلِ</a:t>
            </a:r>
            <a:endParaRPr lang="ar-SA" sz="3000" dirty="0"/>
          </a:p>
        </p:txBody>
      </p:sp>
      <p:sp>
        <p:nvSpPr>
          <p:cNvPr id="64" name="Text 61"/>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in the long term</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ʿa-lā l-ma-dā ṭ-ṭa-wīl</a:t>
            </a:r>
            <a:endParaRPr lang="en-US" sz="1350" dirty="0"/>
          </a:p>
        </p:txBody>
      </p:sp>
      <p:sp>
        <p:nvSpPr>
          <p:cNvPr id="65" name="Text 6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10 / 45</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TC-L04 · Environmental Problems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4 · DEVELOP ·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Active or passive? Processes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المَعْلُومُ وَالمَجْهُولُ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1 of 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81544"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Phrase (website)</a:t>
            </a:r>
            <a:endParaRPr lang="en-US" sz="1100" dirty="0"/>
          </a:p>
        </p:txBody>
      </p:sp>
      <p:sp>
        <p:nvSpPr>
          <p:cNvPr id="17" name="Text 14"/>
          <p:cNvSpPr txBox="1"/>
          <p:nvPr/>
        </p:nvSpPr>
        <p:spPr>
          <a:xfrm>
            <a:off x="4672584"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English</a:t>
            </a:r>
            <a:endParaRPr lang="en-US" sz="1100" dirty="0"/>
          </a:p>
        </p:txBody>
      </p:sp>
      <p:sp>
        <p:nvSpPr>
          <p:cNvPr id="18" name="Text 15"/>
          <p:cNvSpPr txBox="1"/>
          <p:nvPr/>
        </p:nvSpPr>
        <p:spPr>
          <a:xfrm>
            <a:off x="530352" y="1810512"/>
            <a:ext cx="39959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Active, passive or process?</a:t>
            </a:r>
            <a:endParaRPr lang="en-US" sz="1100" dirty="0"/>
          </a:p>
        </p:txBody>
      </p:sp>
      <p:sp>
        <p:nvSpPr>
          <p:cNvPr id="19" name="Shape 16"/>
          <p:cNvSpPr/>
          <p:nvPr/>
        </p:nvSpPr>
        <p:spPr>
          <a:xfrm>
            <a:off x="457200" y="2267712"/>
            <a:ext cx="11274552" cy="457200"/>
          </a:xfrm>
          <a:prstGeom prst="roundRect">
            <a:avLst>
              <a:gd name="adj" fmla="val 10000"/>
            </a:avLst>
          </a:prstGeom>
          <a:solidFill>
            <a:srgbClr val="FFFFFF"/>
          </a:solidFill>
          <a:ln w="9525">
            <a:solidFill>
              <a:srgbClr val="D8D0BF"/>
            </a:solidFill>
            <a:prstDash val="solid"/>
          </a:ln>
        </p:spPr>
      </p:sp>
      <p:sp>
        <p:nvSpPr>
          <p:cNvPr id="20" name="Text 17"/>
          <p:cNvSpPr txBox="1"/>
          <p:nvPr/>
        </p:nvSpPr>
        <p:spPr>
          <a:xfrm>
            <a:off x="7799832" y="2286000"/>
            <a:ext cx="3840480" cy="283464"/>
          </a:xfrm>
          <a:prstGeom prst="rect">
            <a:avLst/>
          </a:prstGeom>
          <a:noFill/>
          <a:ln/>
        </p:spPr>
        <p:txBody>
          <a:bodyPr wrap="square" lIns="0" tIns="0" rIns="0" bIns="0" rtlCol="0" anchor="ctr"/>
          <a:lstStyle/>
          <a:p>
            <a:pPr rtl="1" algn="ctr" indent="0" marL="0">
              <a:buNone/>
            </a:pPr>
            <a:r>
              <a:rPr lang="ar-SA" altLang="en-US" sz="1300" b="1" dirty="0">
                <a:solidFill>
                  <a:srgbClr val="1B3B6F"/>
                </a:solidFill>
                <a:latin typeface="Amiri" pitchFamily="34" charset="0"/>
                <a:ea typeface="Amiri" pitchFamily="34" charset="-122"/>
                <a:cs typeface="Amiri" pitchFamily="34" charset="-120"/>
              </a:rPr>
              <a:t>تُلَوِّثُ المَصَانِعُ الهَوَاءَ</a:t>
            </a:r>
            <a:endParaRPr lang="ar-SA" sz="1300" dirty="0"/>
          </a:p>
        </p:txBody>
      </p:sp>
      <p:sp>
        <p:nvSpPr>
          <p:cNvPr id="21" name="Text 18"/>
          <p:cNvSpPr txBox="1"/>
          <p:nvPr/>
        </p:nvSpPr>
        <p:spPr>
          <a:xfrm>
            <a:off x="7754112" y="2542032"/>
            <a:ext cx="3931920" cy="173736"/>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tu-law-wi-thu l-ma-ṣā-niʿ al-ha-wāʾ</a:t>
            </a:r>
            <a:endParaRPr lang="en-US" sz="950" dirty="0"/>
          </a:p>
        </p:txBody>
      </p:sp>
      <p:sp>
        <p:nvSpPr>
          <p:cNvPr id="22" name="Text 19"/>
          <p:cNvSpPr txBox="1"/>
          <p:nvPr/>
        </p:nvSpPr>
        <p:spPr>
          <a:xfrm>
            <a:off x="4709160" y="2267712"/>
            <a:ext cx="2926080" cy="45720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factories pollute the air</a:t>
            </a:r>
            <a:endParaRPr lang="en-US" sz="1100" dirty="0"/>
          </a:p>
        </p:txBody>
      </p:sp>
      <p:sp>
        <p:nvSpPr>
          <p:cNvPr id="23" name="Text 20"/>
          <p:cNvSpPr txBox="1"/>
          <p:nvPr/>
        </p:nvSpPr>
        <p:spPr>
          <a:xfrm>
            <a:off x="566928" y="2267712"/>
            <a:ext cx="3959352" cy="457200"/>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ea typeface="Calibri" pitchFamily="34" charset="-122"/>
                <a:cs typeface="Calibri" pitchFamily="34" charset="-120"/>
              </a:rPr>
              <a:t>ACTIVE — names who does it</a:t>
            </a:r>
            <a:endParaRPr lang="en-US" sz="1100" dirty="0"/>
          </a:p>
        </p:txBody>
      </p:sp>
      <p:sp>
        <p:nvSpPr>
          <p:cNvPr id="24" name="Shape 21"/>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5" name="Text 22"/>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6" name="Shape 23"/>
          <p:cNvSpPr/>
          <p:nvPr/>
        </p:nvSpPr>
        <p:spPr>
          <a:xfrm>
            <a:off x="457200" y="2779776"/>
            <a:ext cx="11274552" cy="457200"/>
          </a:xfrm>
          <a:prstGeom prst="roundRect">
            <a:avLst>
              <a:gd name="adj" fmla="val 10000"/>
            </a:avLst>
          </a:prstGeom>
          <a:solidFill>
            <a:srgbClr val="F4F1EA"/>
          </a:solidFill>
          <a:ln w="9525">
            <a:solidFill>
              <a:srgbClr val="D8D0BF"/>
            </a:solidFill>
            <a:prstDash val="solid"/>
          </a:ln>
        </p:spPr>
      </p:sp>
      <p:sp>
        <p:nvSpPr>
          <p:cNvPr id="27" name="Text 24"/>
          <p:cNvSpPr txBox="1"/>
          <p:nvPr/>
        </p:nvSpPr>
        <p:spPr>
          <a:xfrm>
            <a:off x="7799832" y="2798064"/>
            <a:ext cx="3840480" cy="283464"/>
          </a:xfrm>
          <a:prstGeom prst="rect">
            <a:avLst/>
          </a:prstGeom>
          <a:noFill/>
          <a:ln/>
        </p:spPr>
        <p:txBody>
          <a:bodyPr wrap="square" lIns="0" tIns="0" rIns="0" bIns="0" rtlCol="0" anchor="ctr"/>
          <a:lstStyle/>
          <a:p>
            <a:pPr rtl="1" algn="ctr" indent="0" marL="0">
              <a:buNone/>
            </a:pPr>
            <a:r>
              <a:rPr lang="ar-SA" altLang="en-US" sz="1300" b="1" dirty="0">
                <a:solidFill>
                  <a:srgbClr val="1B3B6F"/>
                </a:solidFill>
                <a:latin typeface="Amiri" pitchFamily="34" charset="0"/>
                <a:ea typeface="Amiri" pitchFamily="34" charset="-122"/>
                <a:cs typeface="Amiri" pitchFamily="34" charset="-120"/>
              </a:rPr>
              <a:t>يُلَوَّثُ الهَوَاءُ</a:t>
            </a:r>
            <a:endParaRPr lang="ar-SA" sz="1300" dirty="0"/>
          </a:p>
        </p:txBody>
      </p:sp>
      <p:sp>
        <p:nvSpPr>
          <p:cNvPr id="28" name="Text 25"/>
          <p:cNvSpPr txBox="1"/>
          <p:nvPr/>
        </p:nvSpPr>
        <p:spPr>
          <a:xfrm>
            <a:off x="7754112" y="3054096"/>
            <a:ext cx="3931920" cy="173736"/>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yu-law-wa-thu l-ha-wāʾ</a:t>
            </a:r>
            <a:endParaRPr lang="en-US" sz="950" dirty="0"/>
          </a:p>
        </p:txBody>
      </p:sp>
      <p:sp>
        <p:nvSpPr>
          <p:cNvPr id="29" name="Text 26"/>
          <p:cNvSpPr txBox="1"/>
          <p:nvPr/>
        </p:nvSpPr>
        <p:spPr>
          <a:xfrm>
            <a:off x="4709160" y="2779776"/>
            <a:ext cx="2926080" cy="45720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the air is polluted</a:t>
            </a:r>
            <a:endParaRPr lang="en-US" sz="1100" dirty="0"/>
          </a:p>
        </p:txBody>
      </p:sp>
      <p:sp>
        <p:nvSpPr>
          <p:cNvPr id="30" name="Text 27"/>
          <p:cNvSpPr txBox="1"/>
          <p:nvPr/>
        </p:nvSpPr>
        <p:spPr>
          <a:xfrm>
            <a:off x="566928" y="2779776"/>
            <a:ext cx="3959352" cy="457200"/>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ea typeface="Calibri" pitchFamily="34" charset="-122"/>
                <a:cs typeface="Calibri" pitchFamily="34" charset="-120"/>
              </a:rPr>
              <a:t>PASSIVE — yu-…-wa-: “is …-ed”</a:t>
            </a:r>
            <a:endParaRPr lang="en-US" sz="1100" dirty="0"/>
          </a:p>
        </p:txBody>
      </p:sp>
      <p:sp>
        <p:nvSpPr>
          <p:cNvPr id="31" name="Shape 28"/>
          <p:cNvSpPr/>
          <p:nvPr/>
        </p:nvSpPr>
        <p:spPr>
          <a:xfrm>
            <a:off x="457200" y="3291840"/>
            <a:ext cx="11274552" cy="457200"/>
          </a:xfrm>
          <a:prstGeom prst="roundRect">
            <a:avLst>
              <a:gd name="adj" fmla="val 10000"/>
            </a:avLst>
          </a:prstGeom>
          <a:solidFill>
            <a:srgbClr val="FFFFFF"/>
          </a:solidFill>
          <a:ln w="9525">
            <a:solidFill>
              <a:srgbClr val="D8D0BF"/>
            </a:solidFill>
            <a:prstDash val="solid"/>
          </a:ln>
        </p:spPr>
      </p:sp>
      <p:sp>
        <p:nvSpPr>
          <p:cNvPr id="32" name="Text 29"/>
          <p:cNvSpPr txBox="1"/>
          <p:nvPr/>
        </p:nvSpPr>
        <p:spPr>
          <a:xfrm>
            <a:off x="7799832" y="3310128"/>
            <a:ext cx="3840480" cy="283464"/>
          </a:xfrm>
          <a:prstGeom prst="rect">
            <a:avLst/>
          </a:prstGeom>
          <a:noFill/>
          <a:ln/>
        </p:spPr>
        <p:txBody>
          <a:bodyPr wrap="square" lIns="0" tIns="0" rIns="0" bIns="0" rtlCol="0" anchor="ctr"/>
          <a:lstStyle/>
          <a:p>
            <a:pPr rtl="1" algn="ctr" indent="0" marL="0">
              <a:buNone/>
            </a:pPr>
            <a:r>
              <a:rPr lang="ar-SA" altLang="en-US" sz="1300" b="1" dirty="0">
                <a:solidFill>
                  <a:srgbClr val="1B3B6F"/>
                </a:solidFill>
                <a:latin typeface="Amiri" pitchFamily="34" charset="0"/>
                <a:ea typeface="Amiri" pitchFamily="34" charset="-122"/>
                <a:cs typeface="Amiri" pitchFamily="34" charset="-120"/>
              </a:rPr>
              <a:t>تُقْطَعُ الأَشْجَارُ</a:t>
            </a:r>
            <a:endParaRPr lang="ar-SA" sz="1300" dirty="0"/>
          </a:p>
        </p:txBody>
      </p:sp>
      <p:sp>
        <p:nvSpPr>
          <p:cNvPr id="33" name="Text 30"/>
          <p:cNvSpPr txBox="1"/>
          <p:nvPr/>
        </p:nvSpPr>
        <p:spPr>
          <a:xfrm>
            <a:off x="7754112" y="3566160"/>
            <a:ext cx="3931920" cy="173736"/>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tuq-ṭa-ʿu l-ash-jār</a:t>
            </a:r>
            <a:endParaRPr lang="en-US" sz="950" dirty="0"/>
          </a:p>
        </p:txBody>
      </p:sp>
      <p:sp>
        <p:nvSpPr>
          <p:cNvPr id="34" name="Text 31"/>
          <p:cNvSpPr txBox="1"/>
          <p:nvPr/>
        </p:nvSpPr>
        <p:spPr>
          <a:xfrm>
            <a:off x="4709160" y="3291840"/>
            <a:ext cx="2926080" cy="45720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trees are cut down</a:t>
            </a:r>
            <a:endParaRPr lang="en-US" sz="1100" dirty="0"/>
          </a:p>
        </p:txBody>
      </p:sp>
      <p:sp>
        <p:nvSpPr>
          <p:cNvPr id="35" name="Text 32"/>
          <p:cNvSpPr txBox="1"/>
          <p:nvPr/>
        </p:nvSpPr>
        <p:spPr>
          <a:xfrm>
            <a:off x="566928" y="3291840"/>
            <a:ext cx="3959352" cy="457200"/>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ea typeface="Calibri" pitchFamily="34" charset="-122"/>
                <a:cs typeface="Calibri" pitchFamily="34" charset="-120"/>
              </a:rPr>
              <a:t>PASSIVE — </a:t>
            </a:r>
            <a:pPr algn="l" indent="0" marL="0">
              <a:buNone/>
            </a:pPr>
            <a:r>
              <a:rPr lang="ar-SA" altLang="en-US" sz="1450" dirty="0">
                <a:solidFill>
                  <a:srgbClr val="5A6472"/>
                </a:solidFill>
                <a:latin typeface="Amiri" pitchFamily="34" charset="0"/>
                <a:ea typeface="Amiri" pitchFamily="34" charset="-122"/>
                <a:cs typeface="Amiri" pitchFamily="34" charset="-120"/>
              </a:rPr>
              <a:t>الأَشْجَار</a:t>
            </a:r>
            <a:pPr algn="l" indent="0" marL="0">
              <a:buNone/>
            </a:pPr>
            <a:r>
              <a:rPr lang="en-US" sz="1100" i="1" dirty="0">
                <a:solidFill>
                  <a:srgbClr val="5A6472"/>
                </a:solidFill>
                <a:latin typeface="Calibri" pitchFamily="34" charset="0"/>
                <a:ea typeface="Calibri" pitchFamily="34" charset="-122"/>
                <a:cs typeface="Calibri" pitchFamily="34" charset="-120"/>
              </a:rPr>
              <a:t> → feminine </a:t>
            </a:r>
            <a:pPr algn="l" indent="0" marL="0">
              <a:buNone/>
            </a:pPr>
            <a:r>
              <a:rPr lang="ar-SA" altLang="en-US" sz="1450" dirty="0">
                <a:solidFill>
                  <a:srgbClr val="5A6472"/>
                </a:solidFill>
                <a:latin typeface="Amiri" pitchFamily="34" charset="0"/>
                <a:ea typeface="Amiri" pitchFamily="34" charset="-122"/>
                <a:cs typeface="Amiri" pitchFamily="34" charset="-120"/>
              </a:rPr>
              <a:t>تُـ</a:t>
            </a:r>
            <a:endParaRPr lang="en-US" sz="1100" dirty="0"/>
          </a:p>
        </p:txBody>
      </p:sp>
      <p:sp>
        <p:nvSpPr>
          <p:cNvPr id="36" name="Shape 33"/>
          <p:cNvSpPr/>
          <p:nvPr/>
        </p:nvSpPr>
        <p:spPr>
          <a:xfrm>
            <a:off x="457200" y="3803904"/>
            <a:ext cx="11274552" cy="457200"/>
          </a:xfrm>
          <a:prstGeom prst="roundRect">
            <a:avLst>
              <a:gd name="adj" fmla="val 10000"/>
            </a:avLst>
          </a:prstGeom>
          <a:solidFill>
            <a:srgbClr val="F4F1EA"/>
          </a:solidFill>
          <a:ln w="9525">
            <a:solidFill>
              <a:srgbClr val="D8D0BF"/>
            </a:solidFill>
            <a:prstDash val="solid"/>
          </a:ln>
        </p:spPr>
      </p:sp>
      <p:sp>
        <p:nvSpPr>
          <p:cNvPr id="37" name="Text 34"/>
          <p:cNvSpPr txBox="1"/>
          <p:nvPr/>
        </p:nvSpPr>
        <p:spPr>
          <a:xfrm>
            <a:off x="7799832" y="3822192"/>
            <a:ext cx="3840480" cy="283464"/>
          </a:xfrm>
          <a:prstGeom prst="rect">
            <a:avLst/>
          </a:prstGeom>
          <a:noFill/>
          <a:ln/>
        </p:spPr>
        <p:txBody>
          <a:bodyPr wrap="square" lIns="0" tIns="0" rIns="0" bIns="0" rtlCol="0" anchor="ctr"/>
          <a:lstStyle/>
          <a:p>
            <a:pPr rtl="1" algn="ctr" indent="0" marL="0">
              <a:buNone/>
            </a:pPr>
            <a:r>
              <a:rPr lang="ar-SA" altLang="en-US" sz="1300" b="1" dirty="0">
                <a:solidFill>
                  <a:srgbClr val="1B3B6F"/>
                </a:solidFill>
                <a:latin typeface="Amiri" pitchFamily="34" charset="0"/>
                <a:ea typeface="Amiri" pitchFamily="34" charset="-122"/>
                <a:cs typeface="Amiri" pitchFamily="34" charset="-120"/>
              </a:rPr>
              <a:t>تُرْمَى النُّفَايَاتُ</a:t>
            </a:r>
            <a:endParaRPr lang="ar-SA" sz="1300" dirty="0"/>
          </a:p>
        </p:txBody>
      </p:sp>
      <p:sp>
        <p:nvSpPr>
          <p:cNvPr id="38" name="Text 35"/>
          <p:cNvSpPr txBox="1"/>
          <p:nvPr/>
        </p:nvSpPr>
        <p:spPr>
          <a:xfrm>
            <a:off x="7754112" y="4078224"/>
            <a:ext cx="3931920" cy="173736"/>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tur-mā n-nu-fā-yāt</a:t>
            </a:r>
            <a:endParaRPr lang="en-US" sz="950" dirty="0"/>
          </a:p>
        </p:txBody>
      </p:sp>
      <p:sp>
        <p:nvSpPr>
          <p:cNvPr id="39" name="Text 36"/>
          <p:cNvSpPr txBox="1"/>
          <p:nvPr/>
        </p:nvSpPr>
        <p:spPr>
          <a:xfrm>
            <a:off x="4709160" y="3803904"/>
            <a:ext cx="2926080" cy="45720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waste is thrown</a:t>
            </a:r>
            <a:endParaRPr lang="en-US" sz="1100" dirty="0"/>
          </a:p>
        </p:txBody>
      </p:sp>
      <p:sp>
        <p:nvSpPr>
          <p:cNvPr id="40" name="Text 37"/>
          <p:cNvSpPr txBox="1"/>
          <p:nvPr/>
        </p:nvSpPr>
        <p:spPr>
          <a:xfrm>
            <a:off x="566928" y="3803904"/>
            <a:ext cx="3959352" cy="457200"/>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ea typeface="Calibri" pitchFamily="34" charset="-122"/>
                <a:cs typeface="Calibri" pitchFamily="34" charset="-120"/>
              </a:rPr>
              <a:t>PASSIVE</a:t>
            </a:r>
            <a:endParaRPr lang="en-US" sz="1100" dirty="0"/>
          </a:p>
        </p:txBody>
      </p:sp>
      <p:sp>
        <p:nvSpPr>
          <p:cNvPr id="41" name="Shape 38"/>
          <p:cNvSpPr/>
          <p:nvPr/>
        </p:nvSpPr>
        <p:spPr>
          <a:xfrm>
            <a:off x="457200" y="4315968"/>
            <a:ext cx="11274552" cy="457200"/>
          </a:xfrm>
          <a:prstGeom prst="roundRect">
            <a:avLst>
              <a:gd name="adj" fmla="val 10000"/>
            </a:avLst>
          </a:prstGeom>
          <a:solidFill>
            <a:srgbClr val="FFFFFF"/>
          </a:solidFill>
          <a:ln w="9525">
            <a:solidFill>
              <a:srgbClr val="D8D0BF"/>
            </a:solidFill>
            <a:prstDash val="solid"/>
          </a:ln>
        </p:spPr>
      </p:sp>
      <p:sp>
        <p:nvSpPr>
          <p:cNvPr id="42" name="Text 39"/>
          <p:cNvSpPr txBox="1"/>
          <p:nvPr/>
        </p:nvSpPr>
        <p:spPr>
          <a:xfrm>
            <a:off x="7799832" y="4334256"/>
            <a:ext cx="3840480" cy="283464"/>
          </a:xfrm>
          <a:prstGeom prst="rect">
            <a:avLst/>
          </a:prstGeom>
          <a:noFill/>
          <a:ln/>
        </p:spPr>
        <p:txBody>
          <a:bodyPr wrap="square" lIns="0" tIns="0" rIns="0" bIns="0" rtlCol="0" anchor="ctr"/>
          <a:lstStyle/>
          <a:p>
            <a:pPr rtl="1" algn="ctr" indent="0" marL="0">
              <a:buNone/>
            </a:pPr>
            <a:r>
              <a:rPr lang="ar-SA" altLang="en-US" sz="1300" b="1" dirty="0">
                <a:solidFill>
                  <a:srgbClr val="1B3B6F"/>
                </a:solidFill>
                <a:latin typeface="Amiri" pitchFamily="34" charset="0"/>
                <a:ea typeface="Amiri" pitchFamily="34" charset="-122"/>
                <a:cs typeface="Amiri" pitchFamily="34" charset="-120"/>
              </a:rPr>
              <a:t>يَنْبَعِثُ الدُّخَانُ</a:t>
            </a:r>
            <a:endParaRPr lang="ar-SA" sz="1300" dirty="0"/>
          </a:p>
        </p:txBody>
      </p:sp>
      <p:sp>
        <p:nvSpPr>
          <p:cNvPr id="43" name="Text 40"/>
          <p:cNvSpPr txBox="1"/>
          <p:nvPr/>
        </p:nvSpPr>
        <p:spPr>
          <a:xfrm>
            <a:off x="7754112" y="4590288"/>
            <a:ext cx="3931920" cy="173736"/>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yan-ba-ʿi-thu d-du-khān</a:t>
            </a:r>
            <a:endParaRPr lang="en-US" sz="950" dirty="0"/>
          </a:p>
        </p:txBody>
      </p:sp>
      <p:sp>
        <p:nvSpPr>
          <p:cNvPr id="44" name="Text 41"/>
          <p:cNvSpPr txBox="1"/>
          <p:nvPr/>
        </p:nvSpPr>
        <p:spPr>
          <a:xfrm>
            <a:off x="4709160" y="4315968"/>
            <a:ext cx="2926080" cy="45720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smoke is emitted</a:t>
            </a:r>
            <a:endParaRPr lang="en-US" sz="1100" dirty="0"/>
          </a:p>
        </p:txBody>
      </p:sp>
      <p:sp>
        <p:nvSpPr>
          <p:cNvPr id="45" name="Text 42"/>
          <p:cNvSpPr txBox="1"/>
          <p:nvPr/>
        </p:nvSpPr>
        <p:spPr>
          <a:xfrm>
            <a:off x="566928" y="4315968"/>
            <a:ext cx="3959352" cy="457200"/>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ea typeface="Calibri" pitchFamily="34" charset="-122"/>
                <a:cs typeface="Calibri" pitchFamily="34" charset="-120"/>
              </a:rPr>
              <a:t>PROCESS verb — not a passive</a:t>
            </a:r>
            <a:endParaRPr lang="en-US" sz="1100" dirty="0"/>
          </a:p>
        </p:txBody>
      </p:sp>
      <p:sp>
        <p:nvSpPr>
          <p:cNvPr id="46" name="Shape 43"/>
          <p:cNvSpPr/>
          <p:nvPr/>
        </p:nvSpPr>
        <p:spPr>
          <a:xfrm>
            <a:off x="457200" y="4828032"/>
            <a:ext cx="11274552" cy="457200"/>
          </a:xfrm>
          <a:prstGeom prst="roundRect">
            <a:avLst>
              <a:gd name="adj" fmla="val 10000"/>
            </a:avLst>
          </a:prstGeom>
          <a:solidFill>
            <a:srgbClr val="F4F1EA"/>
          </a:solidFill>
          <a:ln w="9525">
            <a:solidFill>
              <a:srgbClr val="D8D0BF"/>
            </a:solidFill>
            <a:prstDash val="solid"/>
          </a:ln>
        </p:spPr>
      </p:sp>
      <p:sp>
        <p:nvSpPr>
          <p:cNvPr id="47" name="Text 44"/>
          <p:cNvSpPr txBox="1"/>
          <p:nvPr/>
        </p:nvSpPr>
        <p:spPr>
          <a:xfrm>
            <a:off x="7799832" y="4846320"/>
            <a:ext cx="3840480" cy="283464"/>
          </a:xfrm>
          <a:prstGeom prst="rect">
            <a:avLst/>
          </a:prstGeom>
          <a:noFill/>
          <a:ln/>
        </p:spPr>
        <p:txBody>
          <a:bodyPr wrap="square" lIns="0" tIns="0" rIns="0" bIns="0" rtlCol="0" anchor="ctr"/>
          <a:lstStyle/>
          <a:p>
            <a:pPr rtl="1" algn="ctr" indent="0" marL="0">
              <a:buNone/>
            </a:pPr>
            <a:r>
              <a:rPr lang="ar-SA" altLang="en-US" sz="1300" b="1" dirty="0">
                <a:solidFill>
                  <a:srgbClr val="1B3B6F"/>
                </a:solidFill>
                <a:latin typeface="Amiri" pitchFamily="34" charset="0"/>
                <a:ea typeface="Amiri" pitchFamily="34" charset="-122"/>
                <a:cs typeface="Amiri" pitchFamily="34" charset="-120"/>
              </a:rPr>
              <a:t>يَتَرَاكَمُ البِلَاسْتِيكُ</a:t>
            </a:r>
            <a:endParaRPr lang="ar-SA" sz="1300" dirty="0"/>
          </a:p>
        </p:txBody>
      </p:sp>
      <p:sp>
        <p:nvSpPr>
          <p:cNvPr id="48" name="Text 45"/>
          <p:cNvSpPr txBox="1"/>
          <p:nvPr/>
        </p:nvSpPr>
        <p:spPr>
          <a:xfrm>
            <a:off x="7754112" y="5102352"/>
            <a:ext cx="3931920" cy="173736"/>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ya-ta-rā-ka-mu l-bi-lās-tīk</a:t>
            </a:r>
            <a:endParaRPr lang="en-US" sz="950" dirty="0"/>
          </a:p>
        </p:txBody>
      </p:sp>
      <p:sp>
        <p:nvSpPr>
          <p:cNvPr id="49" name="Text 46"/>
          <p:cNvSpPr txBox="1"/>
          <p:nvPr/>
        </p:nvSpPr>
        <p:spPr>
          <a:xfrm>
            <a:off x="4709160" y="4828032"/>
            <a:ext cx="2926080" cy="45720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plastic accumulates</a:t>
            </a:r>
            <a:endParaRPr lang="en-US" sz="1100" dirty="0"/>
          </a:p>
        </p:txBody>
      </p:sp>
      <p:sp>
        <p:nvSpPr>
          <p:cNvPr id="50" name="Text 47"/>
          <p:cNvSpPr txBox="1"/>
          <p:nvPr/>
        </p:nvSpPr>
        <p:spPr>
          <a:xfrm>
            <a:off x="566928" y="4828032"/>
            <a:ext cx="3959352" cy="457200"/>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ea typeface="Calibri" pitchFamily="34" charset="-122"/>
                <a:cs typeface="Calibri" pitchFamily="34" charset="-120"/>
              </a:rPr>
              <a:t>PROCESS verb</a:t>
            </a:r>
            <a:endParaRPr lang="en-US" sz="1100" dirty="0"/>
          </a:p>
        </p:txBody>
      </p:sp>
      <p:sp>
        <p:nvSpPr>
          <p:cNvPr id="51" name="Shape 48"/>
          <p:cNvSpPr/>
          <p:nvPr/>
        </p:nvSpPr>
        <p:spPr>
          <a:xfrm>
            <a:off x="457200" y="5340096"/>
            <a:ext cx="11274552" cy="457200"/>
          </a:xfrm>
          <a:prstGeom prst="roundRect">
            <a:avLst>
              <a:gd name="adj" fmla="val 10000"/>
            </a:avLst>
          </a:prstGeom>
          <a:solidFill>
            <a:srgbClr val="FFFFFF"/>
          </a:solidFill>
          <a:ln w="9525">
            <a:solidFill>
              <a:srgbClr val="D8D0BF"/>
            </a:solidFill>
            <a:prstDash val="solid"/>
          </a:ln>
        </p:spPr>
      </p:sp>
      <p:sp>
        <p:nvSpPr>
          <p:cNvPr id="52" name="Text 49"/>
          <p:cNvSpPr txBox="1"/>
          <p:nvPr/>
        </p:nvSpPr>
        <p:spPr>
          <a:xfrm>
            <a:off x="7799832" y="5358384"/>
            <a:ext cx="3840480" cy="283464"/>
          </a:xfrm>
          <a:prstGeom prst="rect">
            <a:avLst/>
          </a:prstGeom>
          <a:noFill/>
          <a:ln/>
        </p:spPr>
        <p:txBody>
          <a:bodyPr wrap="square" lIns="0" tIns="0" rIns="0" bIns="0" rtlCol="0" anchor="ctr"/>
          <a:lstStyle/>
          <a:p>
            <a:pPr rtl="1" algn="ctr" indent="0" marL="0">
              <a:buNone/>
            </a:pPr>
            <a:r>
              <a:rPr lang="ar-SA" altLang="en-US" sz="1300" b="1" dirty="0">
                <a:solidFill>
                  <a:srgbClr val="1B3B6F"/>
                </a:solidFill>
                <a:latin typeface="Amiri" pitchFamily="34" charset="0"/>
                <a:ea typeface="Amiri" pitchFamily="34" charset="-122"/>
                <a:cs typeface="Amiri" pitchFamily="34" charset="-120"/>
              </a:rPr>
              <a:t>يُهَدِّدُ</a:t>
            </a:r>
            <a:endParaRPr lang="ar-SA" sz="1300" dirty="0"/>
          </a:p>
        </p:txBody>
      </p:sp>
      <p:sp>
        <p:nvSpPr>
          <p:cNvPr id="53" name="Text 50"/>
          <p:cNvSpPr txBox="1"/>
          <p:nvPr/>
        </p:nvSpPr>
        <p:spPr>
          <a:xfrm>
            <a:off x="7754112" y="5614416"/>
            <a:ext cx="3931920" cy="173736"/>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yu-had-di-du</a:t>
            </a:r>
            <a:endParaRPr lang="en-US" sz="950" dirty="0"/>
          </a:p>
        </p:txBody>
      </p:sp>
      <p:sp>
        <p:nvSpPr>
          <p:cNvPr id="54" name="Text 51"/>
          <p:cNvSpPr txBox="1"/>
          <p:nvPr/>
        </p:nvSpPr>
        <p:spPr>
          <a:xfrm>
            <a:off x="4709160" y="5340096"/>
            <a:ext cx="2926080" cy="45720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threatens</a:t>
            </a:r>
            <a:endParaRPr lang="en-US" sz="1100" dirty="0"/>
          </a:p>
        </p:txBody>
      </p:sp>
      <p:sp>
        <p:nvSpPr>
          <p:cNvPr id="55" name="Text 52"/>
          <p:cNvSpPr txBox="1"/>
          <p:nvPr/>
        </p:nvSpPr>
        <p:spPr>
          <a:xfrm>
            <a:off x="566928" y="5340096"/>
            <a:ext cx="3959352" cy="457200"/>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ea typeface="Calibri" pitchFamily="34" charset="-122"/>
                <a:cs typeface="Calibri" pitchFamily="34" charset="-120"/>
              </a:rPr>
              <a:t>ACTIVE + object (TC-L02)</a:t>
            </a:r>
            <a:endParaRPr lang="en-US" sz="1100" dirty="0"/>
          </a:p>
        </p:txBody>
      </p:sp>
      <p:sp>
        <p:nvSpPr>
          <p:cNvPr id="56" name="Shape 53"/>
          <p:cNvSpPr/>
          <p:nvPr/>
        </p:nvSpPr>
        <p:spPr>
          <a:xfrm>
            <a:off x="457200" y="5852160"/>
            <a:ext cx="11274552" cy="457200"/>
          </a:xfrm>
          <a:prstGeom prst="roundRect">
            <a:avLst>
              <a:gd name="adj" fmla="val 10000"/>
            </a:avLst>
          </a:prstGeom>
          <a:solidFill>
            <a:srgbClr val="F4F1EA"/>
          </a:solidFill>
          <a:ln w="9525">
            <a:solidFill>
              <a:srgbClr val="D8D0BF"/>
            </a:solidFill>
            <a:prstDash val="solid"/>
          </a:ln>
        </p:spPr>
      </p:sp>
      <p:sp>
        <p:nvSpPr>
          <p:cNvPr id="57" name="Text 54"/>
          <p:cNvSpPr txBox="1"/>
          <p:nvPr/>
        </p:nvSpPr>
        <p:spPr>
          <a:xfrm>
            <a:off x="7799832" y="5870448"/>
            <a:ext cx="3840480" cy="283464"/>
          </a:xfrm>
          <a:prstGeom prst="rect">
            <a:avLst/>
          </a:prstGeom>
          <a:noFill/>
          <a:ln/>
        </p:spPr>
        <p:txBody>
          <a:bodyPr wrap="square" lIns="0" tIns="0" rIns="0" bIns="0" rtlCol="0" anchor="ctr"/>
          <a:lstStyle/>
          <a:p>
            <a:pPr rtl="1" algn="ctr" indent="0" marL="0">
              <a:buNone/>
            </a:pPr>
            <a:r>
              <a:rPr lang="ar-SA" altLang="en-US" sz="1300" b="1" dirty="0">
                <a:solidFill>
                  <a:srgbClr val="1B3B6F"/>
                </a:solidFill>
                <a:latin typeface="Amiri" pitchFamily="34" charset="0"/>
                <a:ea typeface="Amiri" pitchFamily="34" charset="-122"/>
                <a:cs typeface="Amiri" pitchFamily="34" charset="-120"/>
              </a:rPr>
              <a:t>يَضُرُّ بِـ</a:t>
            </a:r>
            <a:endParaRPr lang="ar-SA" sz="1300" dirty="0"/>
          </a:p>
        </p:txBody>
      </p:sp>
      <p:sp>
        <p:nvSpPr>
          <p:cNvPr id="58" name="Text 55"/>
          <p:cNvSpPr txBox="1"/>
          <p:nvPr/>
        </p:nvSpPr>
        <p:spPr>
          <a:xfrm>
            <a:off x="7754112" y="6126480"/>
            <a:ext cx="3931920" cy="173736"/>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ya-ḍur-ru bi</a:t>
            </a:r>
            <a:endParaRPr lang="en-US" sz="950" dirty="0"/>
          </a:p>
        </p:txBody>
      </p:sp>
      <p:sp>
        <p:nvSpPr>
          <p:cNvPr id="59" name="Text 56"/>
          <p:cNvSpPr txBox="1"/>
          <p:nvPr/>
        </p:nvSpPr>
        <p:spPr>
          <a:xfrm>
            <a:off x="4709160" y="5852160"/>
            <a:ext cx="2926080" cy="45720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harms</a:t>
            </a:r>
            <a:endParaRPr lang="en-US" sz="1100" dirty="0"/>
          </a:p>
        </p:txBody>
      </p:sp>
      <p:sp>
        <p:nvSpPr>
          <p:cNvPr id="60" name="Text 57"/>
          <p:cNvSpPr txBox="1"/>
          <p:nvPr/>
        </p:nvSpPr>
        <p:spPr>
          <a:xfrm>
            <a:off x="566928" y="5852160"/>
            <a:ext cx="3959352" cy="457200"/>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ea typeface="Calibri" pitchFamily="34" charset="-122"/>
                <a:cs typeface="Calibri" pitchFamily="34" charset="-120"/>
              </a:rPr>
              <a:t>ACTIVE + </a:t>
            </a:r>
            <a:pPr algn="l" indent="0" marL="0">
              <a:buNone/>
            </a:pPr>
            <a:r>
              <a:rPr lang="ar-SA" altLang="en-US" sz="1450" dirty="0">
                <a:solidFill>
                  <a:srgbClr val="5A6472"/>
                </a:solidFill>
                <a:latin typeface="Amiri" pitchFamily="34" charset="0"/>
                <a:ea typeface="Amiri" pitchFamily="34" charset="-122"/>
                <a:cs typeface="Amiri" pitchFamily="34" charset="-120"/>
              </a:rPr>
              <a:t>بِـ</a:t>
            </a:r>
            <a:endParaRPr lang="en-US" sz="110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11 / 45</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TC-L04 · Environmental Problems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GRAMMAR FOCUS · PART 1 · CAUSE → EFFECT (WEBSITE GAME)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Cause and effect in three beats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السَّبَبُ ← النَّتِيجَةُ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1 of 3</a:t>
            </a:r>
            <a:endParaRPr lang="en-US" sz="850" dirty="0"/>
          </a:p>
        </p:txBody>
      </p:sp>
      <p:sp>
        <p:nvSpPr>
          <p:cNvPr id="15" name="Text 12"/>
          <p:cNvSpPr txBox="1"/>
          <p:nvPr/>
        </p:nvSpPr>
        <p:spPr>
          <a:xfrm>
            <a:off x="457200" y="1828800"/>
            <a:ext cx="3017520" cy="566928"/>
          </a:xfrm>
          <a:prstGeom prst="rect">
            <a:avLst/>
          </a:prstGeom>
          <a:noFill/>
          <a:ln/>
        </p:spPr>
        <p:txBody>
          <a:bodyPr wrap="square" lIns="0" tIns="0" rIns="0" bIns="0" rtlCol="0" anchor="ctr"/>
          <a:lstStyle/>
          <a:p>
            <a:pPr algn="l" indent="0" marL="0">
              <a:buNone/>
            </a:pPr>
            <a:r>
              <a:rPr lang="en-US" sz="1100" b="1" dirty="0">
                <a:solidFill>
                  <a:srgbClr val="5A6472"/>
                </a:solidFill>
                <a:latin typeface="Calibri" pitchFamily="34" charset="0"/>
                <a:ea typeface="Calibri" pitchFamily="34" charset="-122"/>
                <a:cs typeface="Calibri" pitchFamily="34" charset="-120"/>
              </a:rPr>
              <a:t>English meaning</a:t>
            </a:r>
            <a:endParaRPr lang="en-US" sz="1100" dirty="0"/>
          </a:p>
        </p:txBody>
      </p:sp>
      <p:sp>
        <p:nvSpPr>
          <p:cNvPr id="16" name="Shape 13"/>
          <p:cNvSpPr/>
          <p:nvPr/>
        </p:nvSpPr>
        <p:spPr>
          <a:xfrm>
            <a:off x="9089136" y="1810512"/>
            <a:ext cx="264261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9089136" y="1792224"/>
            <a:ext cx="2642616" cy="402336"/>
          </a:xfrm>
          <a:prstGeom prst="rect">
            <a:avLst/>
          </a:prstGeom>
          <a:noFill/>
          <a:ln/>
        </p:spPr>
        <p:txBody>
          <a:bodyPr wrap="square" lIns="0" tIns="0" rIns="0" bIns="0" rtlCol="0" anchor="ctr"/>
          <a:lstStyle/>
          <a:p>
            <a:pPr rtl="1" algn="ctr" indent="0" marL="0">
              <a:buNone/>
            </a:pPr>
            <a:r>
              <a:rPr lang="ar-SA" altLang="en-US" sz="1850" b="1" dirty="0">
                <a:solidFill>
                  <a:srgbClr val="FFFFFF"/>
                </a:solidFill>
                <a:latin typeface="Amiri" pitchFamily="34" charset="0"/>
                <a:ea typeface="Amiri" pitchFamily="34" charset="-122"/>
                <a:cs typeface="Amiri" pitchFamily="34" charset="-120"/>
              </a:rPr>
              <a:t>يُسَبِّبُ / يُؤَدِّي</a:t>
            </a:r>
            <a:endParaRPr lang="ar-SA" sz="1850" dirty="0"/>
          </a:p>
        </p:txBody>
      </p:sp>
      <p:sp>
        <p:nvSpPr>
          <p:cNvPr id="18" name="Text 15"/>
          <p:cNvSpPr txBox="1"/>
          <p:nvPr/>
        </p:nvSpPr>
        <p:spPr>
          <a:xfrm>
            <a:off x="9089136" y="2157984"/>
            <a:ext cx="2642616" cy="201168"/>
          </a:xfrm>
          <a:prstGeom prst="rect">
            <a:avLst/>
          </a:prstGeom>
          <a:noFill/>
          <a:ln/>
        </p:spPr>
        <p:txBody>
          <a:bodyPr wrap="square" lIns="0" tIns="0" rIns="0" bIns="0" rtlCol="0" anchor="ctr"/>
          <a:lstStyle/>
          <a:p>
            <a:pPr algn="ctr" indent="0" marL="0">
              <a:buNone/>
            </a:pPr>
            <a:r>
              <a:rPr lang="en-US" sz="900" i="1" dirty="0">
                <a:solidFill>
                  <a:srgbClr val="EEF1F6"/>
                </a:solidFill>
                <a:latin typeface="Calibri" pitchFamily="34" charset="0"/>
                <a:ea typeface="Calibri" pitchFamily="34" charset="-122"/>
                <a:cs typeface="Calibri" pitchFamily="34" charset="-120"/>
              </a:rPr>
              <a:t>connector verb (key word)</a:t>
            </a:r>
            <a:endParaRPr lang="en-US" sz="900" dirty="0"/>
          </a:p>
        </p:txBody>
      </p:sp>
      <p:sp>
        <p:nvSpPr>
          <p:cNvPr id="19" name="Shape 16"/>
          <p:cNvSpPr/>
          <p:nvPr/>
        </p:nvSpPr>
        <p:spPr>
          <a:xfrm>
            <a:off x="6336792" y="1810512"/>
            <a:ext cx="2642616" cy="566928"/>
          </a:xfrm>
          <a:prstGeom prst="roundRect">
            <a:avLst>
              <a:gd name="adj" fmla="val 9677"/>
            </a:avLst>
          </a:prstGeom>
          <a:solidFill>
            <a:srgbClr val="1B3B6F"/>
          </a:solidFill>
          <a:ln w="12700">
            <a:solidFill>
              <a:srgbClr val="1B3B6F"/>
            </a:solidFill>
            <a:prstDash val="solid"/>
          </a:ln>
        </p:spPr>
      </p:sp>
      <p:sp>
        <p:nvSpPr>
          <p:cNvPr id="20" name="Text 17"/>
          <p:cNvSpPr txBox="1"/>
          <p:nvPr/>
        </p:nvSpPr>
        <p:spPr>
          <a:xfrm>
            <a:off x="6336792" y="1792224"/>
            <a:ext cx="2642616" cy="402336"/>
          </a:xfrm>
          <a:prstGeom prst="rect">
            <a:avLst/>
          </a:prstGeom>
          <a:noFill/>
          <a:ln/>
        </p:spPr>
        <p:txBody>
          <a:bodyPr wrap="square" lIns="0" tIns="0" rIns="0" bIns="0" rtlCol="0" anchor="ctr"/>
          <a:lstStyle/>
          <a:p>
            <a:pPr rtl="1" algn="ctr" indent="0" marL="0">
              <a:buNone/>
            </a:pPr>
            <a:r>
              <a:rPr lang="ar-SA" altLang="en-US" sz="1850" b="1" dirty="0">
                <a:solidFill>
                  <a:srgbClr val="FFFFFF"/>
                </a:solidFill>
                <a:latin typeface="Amiri" pitchFamily="34" charset="0"/>
                <a:ea typeface="Amiri" pitchFamily="34" charset="-122"/>
                <a:cs typeface="Amiri" pitchFamily="34" charset="-120"/>
              </a:rPr>
              <a:t>السَّبَبُ</a:t>
            </a:r>
            <a:endParaRPr lang="ar-SA" sz="1850" dirty="0"/>
          </a:p>
        </p:txBody>
      </p:sp>
      <p:sp>
        <p:nvSpPr>
          <p:cNvPr id="21" name="Text 18"/>
          <p:cNvSpPr txBox="1"/>
          <p:nvPr/>
        </p:nvSpPr>
        <p:spPr>
          <a:xfrm>
            <a:off x="6336792" y="2157984"/>
            <a:ext cx="2642616" cy="201168"/>
          </a:xfrm>
          <a:prstGeom prst="rect">
            <a:avLst/>
          </a:prstGeom>
          <a:noFill/>
          <a:ln/>
        </p:spPr>
        <p:txBody>
          <a:bodyPr wrap="square" lIns="0" tIns="0" rIns="0" bIns="0" rtlCol="0" anchor="ctr"/>
          <a:lstStyle/>
          <a:p>
            <a:pPr algn="ctr" indent="0" marL="0">
              <a:buNone/>
            </a:pPr>
            <a:r>
              <a:rPr lang="en-US" sz="900" i="1" dirty="0">
                <a:solidFill>
                  <a:srgbClr val="EEF1F6"/>
                </a:solidFill>
                <a:latin typeface="Calibri" pitchFamily="34" charset="0"/>
                <a:ea typeface="Calibri" pitchFamily="34" charset="-122"/>
                <a:cs typeface="Calibri" pitchFamily="34" charset="-120"/>
              </a:rPr>
              <a:t>cause</a:t>
            </a:r>
            <a:endParaRPr lang="en-US" sz="900" dirty="0"/>
          </a:p>
        </p:txBody>
      </p:sp>
      <p:sp>
        <p:nvSpPr>
          <p:cNvPr id="22" name="Shape 19"/>
          <p:cNvSpPr/>
          <p:nvPr/>
        </p:nvSpPr>
        <p:spPr>
          <a:xfrm>
            <a:off x="3584448" y="1810512"/>
            <a:ext cx="2642616" cy="566928"/>
          </a:xfrm>
          <a:prstGeom prst="roundRect">
            <a:avLst>
              <a:gd name="adj" fmla="val 9677"/>
            </a:avLst>
          </a:prstGeom>
          <a:solidFill>
            <a:srgbClr val="8A6D1E"/>
          </a:solidFill>
          <a:ln w="12700">
            <a:solidFill>
              <a:srgbClr val="8A6D1E"/>
            </a:solidFill>
            <a:prstDash val="solid"/>
          </a:ln>
        </p:spPr>
      </p:sp>
      <p:sp>
        <p:nvSpPr>
          <p:cNvPr id="23" name="Text 20"/>
          <p:cNvSpPr txBox="1"/>
          <p:nvPr/>
        </p:nvSpPr>
        <p:spPr>
          <a:xfrm>
            <a:off x="3584448" y="1792224"/>
            <a:ext cx="2642616" cy="402336"/>
          </a:xfrm>
          <a:prstGeom prst="rect">
            <a:avLst/>
          </a:prstGeom>
          <a:noFill/>
          <a:ln/>
        </p:spPr>
        <p:txBody>
          <a:bodyPr wrap="square" lIns="0" tIns="0" rIns="0" bIns="0" rtlCol="0" anchor="ctr"/>
          <a:lstStyle/>
          <a:p>
            <a:pPr rtl="1" algn="ctr" indent="0" marL="0">
              <a:buNone/>
            </a:pPr>
            <a:r>
              <a:rPr lang="ar-SA" altLang="en-US" sz="1850" b="1" dirty="0">
                <a:solidFill>
                  <a:srgbClr val="FFFFFF"/>
                </a:solidFill>
                <a:latin typeface="Amiri" pitchFamily="34" charset="0"/>
                <a:ea typeface="Amiri" pitchFamily="34" charset="-122"/>
                <a:cs typeface="Amiri" pitchFamily="34" charset="-120"/>
              </a:rPr>
              <a:t>النَّتِيجَةُ</a:t>
            </a:r>
            <a:endParaRPr lang="ar-SA" sz="1850" dirty="0"/>
          </a:p>
        </p:txBody>
      </p:sp>
      <p:sp>
        <p:nvSpPr>
          <p:cNvPr id="24" name="Text 21"/>
          <p:cNvSpPr txBox="1"/>
          <p:nvPr/>
        </p:nvSpPr>
        <p:spPr>
          <a:xfrm>
            <a:off x="3584448" y="2157984"/>
            <a:ext cx="2642616" cy="201168"/>
          </a:xfrm>
          <a:prstGeom prst="rect">
            <a:avLst/>
          </a:prstGeom>
          <a:noFill/>
          <a:ln/>
        </p:spPr>
        <p:txBody>
          <a:bodyPr wrap="square" lIns="0" tIns="0" rIns="0" bIns="0" rtlCol="0" anchor="ctr"/>
          <a:lstStyle/>
          <a:p>
            <a:pPr algn="ctr" indent="0" marL="0">
              <a:buNone/>
            </a:pPr>
            <a:r>
              <a:rPr lang="en-US" sz="900" i="1" dirty="0">
                <a:solidFill>
                  <a:srgbClr val="EEF1F6"/>
                </a:solidFill>
                <a:latin typeface="Calibri" pitchFamily="34" charset="0"/>
                <a:ea typeface="Calibri" pitchFamily="34" charset="-122"/>
                <a:cs typeface="Calibri" pitchFamily="34" charset="-120"/>
              </a:rPr>
              <a:t>effect</a:t>
            </a:r>
            <a:endParaRPr lang="en-US" sz="900" dirty="0"/>
          </a:p>
        </p:txBody>
      </p:sp>
      <p:sp>
        <p:nvSpPr>
          <p:cNvPr id="25" name="Text 22"/>
          <p:cNvSpPr txBox="1"/>
          <p:nvPr/>
        </p:nvSpPr>
        <p:spPr>
          <a:xfrm>
            <a:off x="457200" y="2487168"/>
            <a:ext cx="2926080" cy="768096"/>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Factory smoke causes air pollution.</a:t>
            </a:r>
            <a:endParaRPr lang="en-US" sz="1200" dirty="0"/>
          </a:p>
        </p:txBody>
      </p:sp>
      <p:sp>
        <p:nvSpPr>
          <p:cNvPr id="26" name="Shape 23"/>
          <p:cNvSpPr/>
          <p:nvPr/>
        </p:nvSpPr>
        <p:spPr>
          <a:xfrm>
            <a:off x="9089136" y="2487168"/>
            <a:ext cx="2642616" cy="768096"/>
          </a:xfrm>
          <a:prstGeom prst="roundRect">
            <a:avLst>
              <a:gd name="adj" fmla="val 7143"/>
            </a:avLst>
          </a:prstGeom>
          <a:solidFill>
            <a:srgbClr val="E3F2F3"/>
          </a:solidFill>
          <a:ln w="9525">
            <a:solidFill>
              <a:srgbClr val="E3F2F3"/>
            </a:solidFill>
            <a:prstDash val="solid"/>
          </a:ln>
        </p:spPr>
      </p:sp>
      <p:sp>
        <p:nvSpPr>
          <p:cNvPr id="27" name="Text 24"/>
          <p:cNvSpPr txBox="1"/>
          <p:nvPr/>
        </p:nvSpPr>
        <p:spPr>
          <a:xfrm>
            <a:off x="9162288" y="2487168"/>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34" charset="0"/>
                <a:ea typeface="Amiri" pitchFamily="34" charset="-122"/>
                <a:cs typeface="Amiri" pitchFamily="34" charset="-120"/>
              </a:rPr>
              <a:t>يُسَبِّبُ</a:t>
            </a:r>
            <a:endParaRPr lang="ar-SA" sz="2400" dirty="0"/>
          </a:p>
        </p:txBody>
      </p:sp>
      <p:sp>
        <p:nvSpPr>
          <p:cNvPr id="28" name="Shape 25"/>
          <p:cNvSpPr/>
          <p:nvPr/>
        </p:nvSpPr>
        <p:spPr>
          <a:xfrm>
            <a:off x="6336792" y="2487168"/>
            <a:ext cx="2642616" cy="768096"/>
          </a:xfrm>
          <a:prstGeom prst="roundRect">
            <a:avLst>
              <a:gd name="adj" fmla="val 7143"/>
            </a:avLst>
          </a:prstGeom>
          <a:solidFill>
            <a:srgbClr val="EEF3FA"/>
          </a:solidFill>
          <a:ln w="9525">
            <a:solidFill>
              <a:srgbClr val="EEF3FA"/>
            </a:solidFill>
            <a:prstDash val="solid"/>
          </a:ln>
        </p:spPr>
      </p:sp>
      <p:sp>
        <p:nvSpPr>
          <p:cNvPr id="29" name="Text 26"/>
          <p:cNvSpPr txBox="1"/>
          <p:nvPr/>
        </p:nvSpPr>
        <p:spPr>
          <a:xfrm>
            <a:off x="6409944" y="2487168"/>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دُخَانُ المَصَانِعِ</a:t>
            </a:r>
            <a:endParaRPr lang="ar-SA" sz="2400" dirty="0"/>
          </a:p>
        </p:txBody>
      </p:sp>
      <p:sp>
        <p:nvSpPr>
          <p:cNvPr id="30" name="Shape 27"/>
          <p:cNvSpPr/>
          <p:nvPr/>
        </p:nvSpPr>
        <p:spPr>
          <a:xfrm>
            <a:off x="3584448" y="2487168"/>
            <a:ext cx="2642616" cy="768096"/>
          </a:xfrm>
          <a:prstGeom prst="roundRect">
            <a:avLst>
              <a:gd name="adj" fmla="val 7143"/>
            </a:avLst>
          </a:prstGeom>
          <a:solidFill>
            <a:srgbClr val="F8F0DC"/>
          </a:solidFill>
          <a:ln w="9525">
            <a:solidFill>
              <a:srgbClr val="F8F0DC"/>
            </a:solidFill>
            <a:prstDash val="solid"/>
          </a:ln>
        </p:spPr>
      </p:sp>
      <p:sp>
        <p:nvSpPr>
          <p:cNvPr id="31" name="Text 28"/>
          <p:cNvSpPr txBox="1"/>
          <p:nvPr/>
        </p:nvSpPr>
        <p:spPr>
          <a:xfrm>
            <a:off x="3657600" y="2487168"/>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تَلَوُّثَ الهَوَاءِ.</a:t>
            </a:r>
            <a:endParaRPr lang="ar-SA" sz="2400" dirty="0"/>
          </a:p>
        </p:txBody>
      </p:sp>
      <p:sp>
        <p:nvSpPr>
          <p:cNvPr id="32" name="Text 29"/>
          <p:cNvSpPr txBox="1"/>
          <p:nvPr/>
        </p:nvSpPr>
        <p:spPr>
          <a:xfrm>
            <a:off x="457200" y="3364992"/>
            <a:ext cx="2926080" cy="768096"/>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Cutting down trees leads to habitat loss.</a:t>
            </a:r>
            <a:endParaRPr lang="en-US" sz="1200" dirty="0"/>
          </a:p>
        </p:txBody>
      </p:sp>
      <p:sp>
        <p:nvSpPr>
          <p:cNvPr id="33" name="Shape 30"/>
          <p:cNvSpPr/>
          <p:nvPr/>
        </p:nvSpPr>
        <p:spPr>
          <a:xfrm>
            <a:off x="9089136" y="3364992"/>
            <a:ext cx="2642616" cy="768096"/>
          </a:xfrm>
          <a:prstGeom prst="roundRect">
            <a:avLst>
              <a:gd name="adj" fmla="val 7143"/>
            </a:avLst>
          </a:prstGeom>
          <a:solidFill>
            <a:srgbClr val="E3F2F3"/>
          </a:solidFill>
          <a:ln w="9525">
            <a:solidFill>
              <a:srgbClr val="E3F2F3"/>
            </a:solidFill>
            <a:prstDash val="solid"/>
          </a:ln>
        </p:spPr>
      </p:sp>
      <p:sp>
        <p:nvSpPr>
          <p:cNvPr id="34" name="Text 31"/>
          <p:cNvSpPr txBox="1"/>
          <p:nvPr/>
        </p:nvSpPr>
        <p:spPr>
          <a:xfrm>
            <a:off x="9162288" y="3364992"/>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34" charset="0"/>
                <a:ea typeface="Amiri" pitchFamily="34" charset="-122"/>
                <a:cs typeface="Amiri" pitchFamily="34" charset="-120"/>
              </a:rPr>
              <a:t>يُؤَدِّي</a:t>
            </a:r>
            <a:endParaRPr lang="ar-SA" sz="2400" dirty="0"/>
          </a:p>
        </p:txBody>
      </p:sp>
      <p:sp>
        <p:nvSpPr>
          <p:cNvPr id="35" name="Shape 32"/>
          <p:cNvSpPr/>
          <p:nvPr/>
        </p:nvSpPr>
        <p:spPr>
          <a:xfrm>
            <a:off x="6336792" y="3364992"/>
            <a:ext cx="2642616" cy="768096"/>
          </a:xfrm>
          <a:prstGeom prst="roundRect">
            <a:avLst>
              <a:gd name="adj" fmla="val 7143"/>
            </a:avLst>
          </a:prstGeom>
          <a:solidFill>
            <a:srgbClr val="EEF3FA"/>
          </a:solidFill>
          <a:ln w="9525">
            <a:solidFill>
              <a:srgbClr val="EEF3FA"/>
            </a:solidFill>
            <a:prstDash val="solid"/>
          </a:ln>
        </p:spPr>
      </p:sp>
      <p:sp>
        <p:nvSpPr>
          <p:cNvPr id="36" name="Text 33"/>
          <p:cNvSpPr txBox="1"/>
          <p:nvPr/>
        </p:nvSpPr>
        <p:spPr>
          <a:xfrm>
            <a:off x="6409944" y="3364992"/>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قَطْعُ الأَشْجَارِ</a:t>
            </a:r>
            <a:endParaRPr lang="ar-SA" sz="2400" dirty="0"/>
          </a:p>
        </p:txBody>
      </p:sp>
      <p:sp>
        <p:nvSpPr>
          <p:cNvPr id="37" name="Shape 34"/>
          <p:cNvSpPr/>
          <p:nvPr/>
        </p:nvSpPr>
        <p:spPr>
          <a:xfrm>
            <a:off x="3584448" y="3364992"/>
            <a:ext cx="2642616" cy="768096"/>
          </a:xfrm>
          <a:prstGeom prst="roundRect">
            <a:avLst>
              <a:gd name="adj" fmla="val 7143"/>
            </a:avLst>
          </a:prstGeom>
          <a:solidFill>
            <a:srgbClr val="F8F0DC"/>
          </a:solidFill>
          <a:ln w="9525">
            <a:solidFill>
              <a:srgbClr val="F8F0DC"/>
            </a:solidFill>
            <a:prstDash val="solid"/>
          </a:ln>
        </p:spPr>
      </p:sp>
      <p:sp>
        <p:nvSpPr>
          <p:cNvPr id="38" name="Text 35"/>
          <p:cNvSpPr txBox="1"/>
          <p:nvPr/>
        </p:nvSpPr>
        <p:spPr>
          <a:xfrm>
            <a:off x="3657600" y="3364992"/>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إِلَى فَقْدِ المَوَائِلِ.</a:t>
            </a:r>
            <a:endParaRPr lang="ar-SA" sz="2400" dirty="0"/>
          </a:p>
        </p:txBody>
      </p:sp>
      <p:sp>
        <p:nvSpPr>
          <p:cNvPr id="39" name="Text 36"/>
          <p:cNvSpPr txBox="1"/>
          <p:nvPr/>
        </p:nvSpPr>
        <p:spPr>
          <a:xfrm>
            <a:off x="457200" y="4242816"/>
            <a:ext cx="2926080" cy="768096"/>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Global warming leads to the ice melting.</a:t>
            </a:r>
            <a:endParaRPr lang="en-US" sz="1200" dirty="0"/>
          </a:p>
        </p:txBody>
      </p:sp>
      <p:sp>
        <p:nvSpPr>
          <p:cNvPr id="40" name="Shape 37"/>
          <p:cNvSpPr/>
          <p:nvPr/>
        </p:nvSpPr>
        <p:spPr>
          <a:xfrm>
            <a:off x="9089136" y="4242816"/>
            <a:ext cx="2642616" cy="768096"/>
          </a:xfrm>
          <a:prstGeom prst="roundRect">
            <a:avLst>
              <a:gd name="adj" fmla="val 7143"/>
            </a:avLst>
          </a:prstGeom>
          <a:solidFill>
            <a:srgbClr val="E3F2F3"/>
          </a:solidFill>
          <a:ln w="9525">
            <a:solidFill>
              <a:srgbClr val="E3F2F3"/>
            </a:solidFill>
            <a:prstDash val="solid"/>
          </a:ln>
        </p:spPr>
      </p:sp>
      <p:sp>
        <p:nvSpPr>
          <p:cNvPr id="41" name="Text 38"/>
          <p:cNvSpPr txBox="1"/>
          <p:nvPr/>
        </p:nvSpPr>
        <p:spPr>
          <a:xfrm>
            <a:off x="9162288" y="4242816"/>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34" charset="0"/>
                <a:ea typeface="Amiri" pitchFamily="34" charset="-122"/>
                <a:cs typeface="Amiri" pitchFamily="34" charset="-120"/>
              </a:rPr>
              <a:t>يُؤَدِّي</a:t>
            </a:r>
            <a:endParaRPr lang="ar-SA" sz="2400" dirty="0"/>
          </a:p>
        </p:txBody>
      </p:sp>
      <p:sp>
        <p:nvSpPr>
          <p:cNvPr id="42" name="Shape 39"/>
          <p:cNvSpPr/>
          <p:nvPr/>
        </p:nvSpPr>
        <p:spPr>
          <a:xfrm>
            <a:off x="6336792" y="4242816"/>
            <a:ext cx="2642616" cy="768096"/>
          </a:xfrm>
          <a:prstGeom prst="roundRect">
            <a:avLst>
              <a:gd name="adj" fmla="val 7143"/>
            </a:avLst>
          </a:prstGeom>
          <a:solidFill>
            <a:srgbClr val="EEF3FA"/>
          </a:solidFill>
          <a:ln w="9525">
            <a:solidFill>
              <a:srgbClr val="EEF3FA"/>
            </a:solidFill>
            <a:prstDash val="solid"/>
          </a:ln>
        </p:spPr>
      </p:sp>
      <p:sp>
        <p:nvSpPr>
          <p:cNvPr id="43" name="Text 40"/>
          <p:cNvSpPr txBox="1"/>
          <p:nvPr/>
        </p:nvSpPr>
        <p:spPr>
          <a:xfrm>
            <a:off x="6409944" y="4242816"/>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الاحْتِبَاسُ الحَرَارِيُّ</a:t>
            </a:r>
            <a:endParaRPr lang="ar-SA" sz="2400" dirty="0"/>
          </a:p>
        </p:txBody>
      </p:sp>
      <p:sp>
        <p:nvSpPr>
          <p:cNvPr id="44" name="Shape 41"/>
          <p:cNvSpPr/>
          <p:nvPr/>
        </p:nvSpPr>
        <p:spPr>
          <a:xfrm>
            <a:off x="3584448" y="4242816"/>
            <a:ext cx="2642616" cy="768096"/>
          </a:xfrm>
          <a:prstGeom prst="roundRect">
            <a:avLst>
              <a:gd name="adj" fmla="val 7143"/>
            </a:avLst>
          </a:prstGeom>
          <a:solidFill>
            <a:srgbClr val="F8F0DC"/>
          </a:solidFill>
          <a:ln w="9525">
            <a:solidFill>
              <a:srgbClr val="F8F0DC"/>
            </a:solidFill>
            <a:prstDash val="solid"/>
          </a:ln>
        </p:spPr>
      </p:sp>
      <p:sp>
        <p:nvSpPr>
          <p:cNvPr id="45" name="Text 42"/>
          <p:cNvSpPr txBox="1"/>
          <p:nvPr/>
        </p:nvSpPr>
        <p:spPr>
          <a:xfrm>
            <a:off x="3657600" y="4242816"/>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إِلَى ذَوَبَانِ الجَلِيدِ.</a:t>
            </a:r>
            <a:endParaRPr lang="ar-SA" sz="2400" dirty="0"/>
          </a:p>
        </p:txBody>
      </p:sp>
      <p:sp>
        <p:nvSpPr>
          <p:cNvPr id="46" name="Text 43"/>
          <p:cNvSpPr txBox="1"/>
          <p:nvPr/>
        </p:nvSpPr>
        <p:spPr>
          <a:xfrm>
            <a:off x="457200" y="5120640"/>
            <a:ext cx="2926080" cy="768096"/>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Pollution leads to illnesses.</a:t>
            </a:r>
            <a:endParaRPr lang="en-US" sz="1200" dirty="0"/>
          </a:p>
        </p:txBody>
      </p:sp>
      <p:sp>
        <p:nvSpPr>
          <p:cNvPr id="47" name="Shape 44"/>
          <p:cNvSpPr/>
          <p:nvPr/>
        </p:nvSpPr>
        <p:spPr>
          <a:xfrm>
            <a:off x="9089136" y="5120640"/>
            <a:ext cx="2642616" cy="768096"/>
          </a:xfrm>
          <a:prstGeom prst="roundRect">
            <a:avLst>
              <a:gd name="adj" fmla="val 7143"/>
            </a:avLst>
          </a:prstGeom>
          <a:solidFill>
            <a:srgbClr val="E3F2F3"/>
          </a:solidFill>
          <a:ln w="9525">
            <a:solidFill>
              <a:srgbClr val="E3F2F3"/>
            </a:solidFill>
            <a:prstDash val="solid"/>
          </a:ln>
        </p:spPr>
      </p:sp>
      <p:sp>
        <p:nvSpPr>
          <p:cNvPr id="48" name="Text 45"/>
          <p:cNvSpPr txBox="1"/>
          <p:nvPr/>
        </p:nvSpPr>
        <p:spPr>
          <a:xfrm>
            <a:off x="9162288" y="5120640"/>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34" charset="0"/>
                <a:ea typeface="Amiri" pitchFamily="34" charset="-122"/>
                <a:cs typeface="Amiri" pitchFamily="34" charset="-120"/>
              </a:rPr>
              <a:t>يُؤَدِّي</a:t>
            </a:r>
            <a:endParaRPr lang="ar-SA" sz="2400" dirty="0"/>
          </a:p>
        </p:txBody>
      </p:sp>
      <p:sp>
        <p:nvSpPr>
          <p:cNvPr id="49" name="Shape 46"/>
          <p:cNvSpPr/>
          <p:nvPr/>
        </p:nvSpPr>
        <p:spPr>
          <a:xfrm>
            <a:off x="6336792" y="5120640"/>
            <a:ext cx="2642616" cy="768096"/>
          </a:xfrm>
          <a:prstGeom prst="roundRect">
            <a:avLst>
              <a:gd name="adj" fmla="val 7143"/>
            </a:avLst>
          </a:prstGeom>
          <a:solidFill>
            <a:srgbClr val="EEF3FA"/>
          </a:solidFill>
          <a:ln w="9525">
            <a:solidFill>
              <a:srgbClr val="EEF3FA"/>
            </a:solidFill>
            <a:prstDash val="solid"/>
          </a:ln>
        </p:spPr>
      </p:sp>
      <p:sp>
        <p:nvSpPr>
          <p:cNvPr id="50" name="Text 47"/>
          <p:cNvSpPr txBox="1"/>
          <p:nvPr/>
        </p:nvSpPr>
        <p:spPr>
          <a:xfrm>
            <a:off x="6409944" y="5120640"/>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التَّلَوُّثُ</a:t>
            </a:r>
            <a:endParaRPr lang="ar-SA" sz="2400" dirty="0"/>
          </a:p>
        </p:txBody>
      </p:sp>
      <p:sp>
        <p:nvSpPr>
          <p:cNvPr id="51" name="Shape 48"/>
          <p:cNvSpPr/>
          <p:nvPr/>
        </p:nvSpPr>
        <p:spPr>
          <a:xfrm>
            <a:off x="3584448" y="5120640"/>
            <a:ext cx="2642616" cy="768096"/>
          </a:xfrm>
          <a:prstGeom prst="roundRect">
            <a:avLst>
              <a:gd name="adj" fmla="val 7143"/>
            </a:avLst>
          </a:prstGeom>
          <a:solidFill>
            <a:srgbClr val="F8F0DC"/>
          </a:solidFill>
          <a:ln w="9525">
            <a:solidFill>
              <a:srgbClr val="F8F0DC"/>
            </a:solidFill>
            <a:prstDash val="solid"/>
          </a:ln>
        </p:spPr>
      </p:sp>
      <p:sp>
        <p:nvSpPr>
          <p:cNvPr id="52" name="Text 49"/>
          <p:cNvSpPr txBox="1"/>
          <p:nvPr/>
        </p:nvSpPr>
        <p:spPr>
          <a:xfrm>
            <a:off x="3657600" y="5120640"/>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إِلَى أَمْرَاضٍ.</a:t>
            </a:r>
            <a:endParaRPr lang="ar-SA" sz="2400" dirty="0"/>
          </a:p>
        </p:txBody>
      </p:sp>
      <p:sp>
        <p:nvSpPr>
          <p:cNvPr id="53" name="Text 50"/>
          <p:cNvSpPr txBox="1"/>
          <p:nvPr/>
        </p:nvSpPr>
        <p:spPr>
          <a:xfrm>
            <a:off x="457200" y="5989320"/>
            <a:ext cx="11274552" cy="320040"/>
          </a:xfrm>
          <a:prstGeom prst="rect">
            <a:avLst/>
          </a:prstGeom>
          <a:noFill/>
          <a:ln/>
        </p:spPr>
        <p:txBody>
          <a:bodyPr wrap="square" lIns="0" tIns="0" rIns="0" bIns="0" rtlCol="0" anchor="ctr"/>
          <a:lstStyle/>
          <a:p>
            <a:pPr algn="l" indent="0" marL="0">
              <a:buNone/>
            </a:pPr>
            <a:r>
              <a:rPr lang="en-US" sz="1200" b="1" dirty="0">
                <a:solidFill>
                  <a:srgbClr val="8A6D1E"/>
                </a:solidFill>
                <a:latin typeface="Calibri" pitchFamily="34" charset="0"/>
                <a:ea typeface="Calibri" pitchFamily="34" charset="-122"/>
                <a:cs typeface="Calibri" pitchFamily="34" charset="-120"/>
              </a:rPr>
              <a:t>Pattern: </a:t>
            </a:r>
            <a:pPr algn="l" indent="0" marL="0">
              <a:buNone/>
            </a:pPr>
            <a:r>
              <a:rPr lang="ar-SA" altLang="en-US" sz="1550" b="1" dirty="0">
                <a:solidFill>
                  <a:srgbClr val="8A6D1E"/>
                </a:solidFill>
                <a:latin typeface="Amiri" pitchFamily="34" charset="0"/>
                <a:ea typeface="Amiri" pitchFamily="34" charset="-122"/>
                <a:cs typeface="Amiri" pitchFamily="34" charset="-120"/>
              </a:rPr>
              <a:t>يُسَبِّبُ</a:t>
            </a:r>
            <a:pPr algn="l" indent="0" marL="0">
              <a:buNone/>
            </a:pPr>
            <a:r>
              <a:rPr lang="en-US" sz="1200" b="1" dirty="0">
                <a:solidFill>
                  <a:srgbClr val="8A6D1E"/>
                </a:solidFill>
                <a:latin typeface="Calibri" pitchFamily="34" charset="0"/>
                <a:ea typeface="Calibri" pitchFamily="34" charset="-122"/>
                <a:cs typeface="Calibri" pitchFamily="34" charset="-120"/>
              </a:rPr>
              <a:t> + cause + effect, or </a:t>
            </a:r>
            <a:pPr algn="l" indent="0" marL="0">
              <a:buNone/>
            </a:pPr>
            <a:r>
              <a:rPr lang="ar-SA" altLang="en-US" sz="1550" b="1" dirty="0">
                <a:solidFill>
                  <a:srgbClr val="8A6D1E"/>
                </a:solidFill>
                <a:latin typeface="Amiri" pitchFamily="34" charset="0"/>
                <a:ea typeface="Amiri" pitchFamily="34" charset="-122"/>
                <a:cs typeface="Amiri" pitchFamily="34" charset="-120"/>
              </a:rPr>
              <a:t>يُؤَدِّي</a:t>
            </a:r>
            <a:pPr algn="l" indent="0" marL="0">
              <a:buNone/>
            </a:pPr>
            <a:r>
              <a:rPr lang="en-US" sz="1200" b="1" dirty="0">
                <a:solidFill>
                  <a:srgbClr val="8A6D1E"/>
                </a:solidFill>
                <a:latin typeface="Calibri" pitchFamily="34" charset="0"/>
                <a:ea typeface="Calibri" pitchFamily="34" charset="-122"/>
                <a:cs typeface="Calibri" pitchFamily="34" charset="-120"/>
              </a:rPr>
              <a:t> + cause + </a:t>
            </a:r>
            <a:pPr algn="l" indent="0" marL="0">
              <a:buNone/>
            </a:pPr>
            <a:r>
              <a:rPr lang="ar-SA" altLang="en-US" sz="1550" b="1" dirty="0">
                <a:solidFill>
                  <a:srgbClr val="8A6D1E"/>
                </a:solidFill>
                <a:latin typeface="Amiri" pitchFamily="34" charset="0"/>
                <a:ea typeface="Amiri" pitchFamily="34" charset="-122"/>
                <a:cs typeface="Amiri" pitchFamily="34" charset="-120"/>
              </a:rPr>
              <a:t>إِلَى</a:t>
            </a:r>
            <a:pPr algn="l" indent="0" marL="0">
              <a:buNone/>
            </a:pPr>
            <a:r>
              <a:rPr lang="en-US" sz="1200" b="1" dirty="0">
                <a:solidFill>
                  <a:srgbClr val="8A6D1E"/>
                </a:solidFill>
                <a:latin typeface="Calibri" pitchFamily="34" charset="0"/>
                <a:ea typeface="Calibri" pitchFamily="34" charset="-122"/>
                <a:cs typeface="Calibri" pitchFamily="34" charset="-120"/>
              </a:rPr>
              <a:t> + effect. Never </a:t>
            </a:r>
            <a:pPr algn="l" indent="0" marL="0">
              <a:buNone/>
            </a:pPr>
            <a:r>
              <a:rPr lang="ar-SA" altLang="en-US" sz="1550" b="1" dirty="0">
                <a:solidFill>
                  <a:srgbClr val="8A6D1E"/>
                </a:solidFill>
                <a:latin typeface="Amiri" pitchFamily="34" charset="0"/>
                <a:ea typeface="Amiri" pitchFamily="34" charset="-122"/>
                <a:cs typeface="Amiri" pitchFamily="34" charset="-120"/>
              </a:rPr>
              <a:t>يُؤَدِّي فِي</a:t>
            </a:r>
            <a:pPr algn="l" indent="0" marL="0">
              <a:buNone/>
            </a:pPr>
            <a:r>
              <a:rPr lang="en-US" sz="1200" b="1" dirty="0">
                <a:solidFill>
                  <a:srgbClr val="8A6D1E"/>
                </a:solidFill>
                <a:latin typeface="Calibri" pitchFamily="34" charset="0"/>
                <a:ea typeface="Calibri" pitchFamily="34" charset="-122"/>
                <a:cs typeface="Calibri" pitchFamily="34" charset="-120"/>
              </a:rPr>
              <a:t> ✗</a:t>
            </a:r>
            <a:endParaRPr lang="en-US" sz="1200" dirty="0"/>
          </a:p>
        </p:txBody>
      </p:sp>
      <p:sp>
        <p:nvSpPr>
          <p:cNvPr id="54" name="Text 5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12 / 45</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TC-L04 · Environmental Problems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GRAMMAR FOCUS · PART 2 · THREE CONNECTORS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ea typeface="Cambria" pitchFamily="34" charset="-122"/>
                <a:cs typeface="Cambria" pitchFamily="34" charset="-120"/>
              </a:rPr>
              <a:t>Because of · leads to · which causes</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أَدَوَاتُ الرَّبْطِ</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1 of 3</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440180" cy="274320"/>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8232648" y="1920240"/>
            <a:ext cx="14401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 · because of</a:t>
            </a:r>
            <a:endParaRPr lang="en-US" sz="850" dirty="0"/>
          </a:p>
        </p:txBody>
      </p:sp>
      <p:sp>
        <p:nvSpPr>
          <p:cNvPr id="18" name="Text 15"/>
          <p:cNvSpPr txBox="1"/>
          <p:nvPr/>
        </p:nvSpPr>
        <p:spPr>
          <a:xfrm>
            <a:off x="9718548" y="1874520"/>
            <a:ext cx="1876044" cy="365760"/>
          </a:xfrm>
          <a:prstGeom prst="rect">
            <a:avLst/>
          </a:prstGeom>
          <a:noFill/>
          <a:ln/>
        </p:spPr>
        <p:txBody>
          <a:bodyPr wrap="square" lIns="0" tIns="0" rIns="0" bIns="0" rtlCol="0" anchor="ctr"/>
          <a:lstStyle/>
          <a:p>
            <a:pPr algn="l" indent="0" marL="0">
              <a:buNone/>
            </a:pPr>
            <a:r>
              <a:rPr lang="ar-SA" altLang="en-US" sz="2100" b="1" dirty="0">
                <a:solidFill>
                  <a:srgbClr val="8A6D1E"/>
                </a:solidFill>
                <a:latin typeface="Amiri" pitchFamily="34" charset="0"/>
                <a:ea typeface="Amiri" pitchFamily="34" charset="-122"/>
                <a:cs typeface="Amiri" pitchFamily="34" charset="-120"/>
              </a:rPr>
              <a:t>بِسَبَبِ</a:t>
            </a:r>
            <a:pPr algn="l" indent="0" marL="0">
              <a:buNone/>
            </a:pPr>
            <a:r>
              <a:rPr lang="en-US" sz="1600" b="1" dirty="0">
                <a:solidFill>
                  <a:srgbClr val="8A6D1E"/>
                </a:solidFill>
                <a:latin typeface="Calibri" pitchFamily="34" charset="0"/>
                <a:ea typeface="Calibri" pitchFamily="34" charset="-122"/>
                <a:cs typeface="Calibri" pitchFamily="34" charset="-120"/>
              </a:rPr>
              <a:t> + noun</a:t>
            </a:r>
            <a:endParaRPr lang="en-US"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34" charset="0"/>
                <a:ea typeface="Amiri" pitchFamily="34" charset="-122"/>
                <a:cs typeface="Amiri" pitchFamily="34" charset="-120"/>
              </a:rPr>
              <a:t>يَتَلَوَّثُ البَحْرُ بِسَبَبِ النُّفَايَاتِ</a:t>
            </a:r>
            <a:endParaRPr lang="ar-SA" sz="265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The sea gets polluted because of waste.</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ar-SA" altLang="en-US" sz="1450" dirty="0">
                <a:solidFill>
                  <a:srgbClr val="1F2A37"/>
                </a:solidFill>
                <a:latin typeface="Amiri" pitchFamily="34" charset="0"/>
                <a:ea typeface="Amiri" pitchFamily="34" charset="-122"/>
                <a:cs typeface="Amiri" pitchFamily="34" charset="-120"/>
              </a:rPr>
              <a:t>بِسَبَبِ / نَتِيجَةً لِـ</a:t>
            </a:r>
            <a:pPr algn="l" indent="0" marL="0">
              <a:buNone/>
            </a:pPr>
            <a:r>
              <a:rPr lang="en-US" sz="1100" dirty="0">
                <a:solidFill>
                  <a:srgbClr val="1F2A37"/>
                </a:solidFill>
                <a:latin typeface="Calibri" pitchFamily="34" charset="0"/>
                <a:ea typeface="Calibri" pitchFamily="34" charset="-122"/>
                <a:cs typeface="Calibri" pitchFamily="34" charset="-120"/>
              </a:rPr>
              <a:t> + a NOUN phrase, not a whole sentence.</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303020" cy="274320"/>
          </a:xfrm>
          <a:prstGeom prst="roundRect">
            <a:avLst>
              <a:gd name="adj" fmla="val 50000"/>
            </a:avLst>
          </a:prstGeom>
          <a:solidFill>
            <a:srgbClr val="0E7C86"/>
          </a:solidFill>
          <a:ln w="12700">
            <a:solidFill>
              <a:srgbClr val="0E7C86"/>
            </a:solidFill>
            <a:prstDash val="solid"/>
          </a:ln>
        </p:spPr>
      </p:sp>
      <p:sp>
        <p:nvSpPr>
          <p:cNvPr id="25" name="Text 22"/>
          <p:cNvSpPr txBox="1"/>
          <p:nvPr/>
        </p:nvSpPr>
        <p:spPr>
          <a:xfrm>
            <a:off x="4413504" y="1920240"/>
            <a:ext cx="13030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 · leads to</a:t>
            </a:r>
            <a:endParaRPr lang="en-US" sz="850" dirty="0"/>
          </a:p>
        </p:txBody>
      </p:sp>
      <p:sp>
        <p:nvSpPr>
          <p:cNvPr id="26" name="Text 23"/>
          <p:cNvSpPr txBox="1"/>
          <p:nvPr/>
        </p:nvSpPr>
        <p:spPr>
          <a:xfrm>
            <a:off x="5762244" y="1874520"/>
            <a:ext cx="20132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34" charset="0"/>
                <a:ea typeface="Amiri" pitchFamily="34" charset="-122"/>
                <a:cs typeface="Amiri" pitchFamily="34" charset="-120"/>
              </a:rPr>
              <a:t>يُؤَدِّي إِلَى</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3150" b="1" dirty="0">
                <a:solidFill>
                  <a:srgbClr val="1B3B6F"/>
                </a:solidFill>
                <a:latin typeface="Amiri" pitchFamily="34" charset="0"/>
                <a:ea typeface="Amiri" pitchFamily="34" charset="-122"/>
                <a:cs typeface="Amiri" pitchFamily="34" charset="-120"/>
              </a:rPr>
              <a:t>يُؤَدِّي التَّلَوُّثُ إِلَى أَمْرَاضٍ</a:t>
            </a:r>
            <a:endParaRPr lang="ar-SA" sz="315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Pollution leads to illnesses.</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Always </a:t>
            </a:r>
            <a:pPr algn="l" indent="0" marL="0">
              <a:buNone/>
            </a:pPr>
            <a:r>
              <a:rPr lang="ar-SA" altLang="en-US" sz="1450" dirty="0">
                <a:solidFill>
                  <a:srgbClr val="1F2A37"/>
                </a:solidFill>
                <a:latin typeface="Amiri" pitchFamily="34" charset="0"/>
                <a:ea typeface="Amiri" pitchFamily="34" charset="-122"/>
                <a:cs typeface="Amiri" pitchFamily="34" charset="-120"/>
              </a:rPr>
              <a:t>إِلَى</a:t>
            </a:r>
            <a:pPr algn="l" indent="0" marL="0">
              <a:buNone/>
            </a:pPr>
            <a:r>
              <a:rPr lang="en-US" sz="1100" dirty="0">
                <a:solidFill>
                  <a:srgbClr val="1F2A37"/>
                </a:solidFill>
                <a:latin typeface="Calibri" pitchFamily="34" charset="0"/>
                <a:ea typeface="Calibri" pitchFamily="34" charset="-122"/>
                <a:cs typeface="Calibri" pitchFamily="34" charset="-120"/>
              </a:rPr>
              <a:t> after </a:t>
            </a:r>
            <a:pPr algn="l" indent="0" marL="0">
              <a:buNone/>
            </a:pPr>
            <a:r>
              <a:rPr lang="ar-SA" altLang="en-US" sz="1450" dirty="0">
                <a:solidFill>
                  <a:srgbClr val="1F2A37"/>
                </a:solidFill>
                <a:latin typeface="Amiri" pitchFamily="34" charset="0"/>
                <a:ea typeface="Amiri" pitchFamily="34" charset="-122"/>
                <a:cs typeface="Amiri" pitchFamily="34" charset="-120"/>
              </a:rPr>
              <a:t>يُؤَدِّي</a:t>
            </a:r>
            <a:pPr algn="l" indent="0" marL="0">
              <a:buNone/>
            </a:pPr>
            <a:r>
              <a:rPr lang="en-US" sz="1100" dirty="0">
                <a:solidFill>
                  <a:srgbClr val="1F2A37"/>
                </a:solidFill>
                <a:latin typeface="Calibri" pitchFamily="34" charset="0"/>
                <a:ea typeface="Calibri" pitchFamily="34" charset="-122"/>
                <a:cs typeface="Calibri" pitchFamily="34" charset="-120"/>
              </a:rPr>
              <a:t>.</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783080" cy="274320"/>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594360" y="1920240"/>
            <a:ext cx="17830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STRETCH · which causes</a:t>
            </a:r>
            <a:endParaRPr lang="en-US" sz="850" dirty="0"/>
          </a:p>
        </p:txBody>
      </p:sp>
      <p:sp>
        <p:nvSpPr>
          <p:cNvPr id="34" name="Text 31"/>
          <p:cNvSpPr txBox="1"/>
          <p:nvPr/>
        </p:nvSpPr>
        <p:spPr>
          <a:xfrm>
            <a:off x="2423160" y="1874520"/>
            <a:ext cx="15331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34" charset="0"/>
                <a:ea typeface="Amiri" pitchFamily="34" charset="-122"/>
                <a:cs typeface="Amiri" pitchFamily="34" charset="-120"/>
              </a:rPr>
              <a:t>مِمَّا يُسَبِّبُ</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34" charset="0"/>
                <a:ea typeface="Amiri" pitchFamily="34" charset="-122"/>
                <a:cs typeface="Amiri" pitchFamily="34" charset="-120"/>
              </a:rPr>
              <a:t>تَرْتَفِعُ الحَرَارَةُ، مِمَّا يُسَبِّبُ ذَوَبَانَ الجَلِيدِ</a:t>
            </a:r>
            <a:endParaRPr lang="ar-SA" sz="21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The temperature rises, which causes the ice to melt.</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ar-SA" altLang="en-US" sz="1450" dirty="0">
                <a:solidFill>
                  <a:srgbClr val="1F2A37"/>
                </a:solidFill>
                <a:latin typeface="Amiri" pitchFamily="34" charset="0"/>
                <a:ea typeface="Amiri" pitchFamily="34" charset="-122"/>
                <a:cs typeface="Amiri" pitchFamily="34" charset="-120"/>
              </a:rPr>
              <a:t>مِمَّا</a:t>
            </a:r>
            <a:pPr algn="l" indent="0" marL="0">
              <a:buNone/>
            </a:pPr>
            <a:r>
              <a:rPr lang="en-US" sz="1100" dirty="0">
                <a:solidFill>
                  <a:srgbClr val="1F2A37"/>
                </a:solidFill>
                <a:latin typeface="Calibri" pitchFamily="34" charset="0"/>
                <a:ea typeface="Calibri" pitchFamily="34" charset="-122"/>
                <a:cs typeface="Calibri" pitchFamily="34" charset="-120"/>
              </a:rPr>
              <a:t> refers back to the WHOLE idea before the comma.</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ea typeface="Calibri" pitchFamily="34" charset="-122"/>
                <a:cs typeface="Calibri" pitchFamily="34" charset="-120"/>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ea typeface="Calibri" pitchFamily="34" charset="-122"/>
                <a:cs typeface="Calibri" pitchFamily="34" charset="-120"/>
              </a:rPr>
              <a:t>The website’s common mistakes: the wrong preposition after </a:t>
            </a:r>
            <a:pPr algn="l" indent="0" marL="0">
              <a:buNone/>
            </a:pPr>
            <a:r>
              <a:rPr lang="ar-SA" altLang="en-US" sz="1500" dirty="0">
                <a:solidFill>
                  <a:srgbClr val="1F2A37"/>
                </a:solidFill>
                <a:latin typeface="Amiri" pitchFamily="34" charset="0"/>
                <a:ea typeface="Amiri" pitchFamily="34" charset="-122"/>
                <a:cs typeface="Amiri" pitchFamily="34" charset="-120"/>
              </a:rPr>
              <a:t>يُؤَدِّي</a:t>
            </a:r>
            <a:pPr algn="l" indent="0" marL="0">
              <a:buNone/>
            </a:pPr>
            <a:r>
              <a:rPr lang="en-US" sz="1150" dirty="0">
                <a:solidFill>
                  <a:srgbClr val="1F2A37"/>
                </a:solidFill>
                <a:latin typeface="Calibri" pitchFamily="34" charset="0"/>
                <a:ea typeface="Calibri" pitchFamily="34" charset="-122"/>
                <a:cs typeface="Calibri" pitchFamily="34" charset="-120"/>
              </a:rPr>
              <a:t>, and a masculine verb with </a:t>
            </a:r>
            <a:pPr algn="l" indent="0" marL="0">
              <a:buNone/>
            </a:pPr>
            <a:r>
              <a:rPr lang="ar-SA" altLang="en-US" sz="1500" dirty="0">
                <a:solidFill>
                  <a:srgbClr val="1F2A37"/>
                </a:solidFill>
                <a:latin typeface="Amiri" pitchFamily="34" charset="0"/>
                <a:ea typeface="Amiri" pitchFamily="34" charset="-122"/>
                <a:cs typeface="Amiri" pitchFamily="34" charset="-120"/>
              </a:rPr>
              <a:t>الأَشْجَار</a:t>
            </a:r>
            <a:pPr algn="l" indent="0" marL="0">
              <a:buNone/>
            </a:pPr>
            <a:r>
              <a:rPr lang="en-US" sz="1150" dirty="0">
                <a:solidFill>
                  <a:srgbClr val="1F2A37"/>
                </a:solidFill>
                <a:latin typeface="Calibri" pitchFamily="34" charset="0"/>
                <a:ea typeface="Calibri" pitchFamily="34" charset="-122"/>
                <a:cs typeface="Calibri" pitchFamily="34" charset="-120"/>
              </a:rPr>
              <a:t>.</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34" charset="0"/>
                <a:ea typeface="Amiri" pitchFamily="34" charset="-122"/>
                <a:cs typeface="Amiri" pitchFamily="34" charset="-120"/>
              </a:rPr>
              <a:t>يُؤَدِّي إِلَى</a:t>
            </a:r>
            <a:endParaRPr lang="ar-SA" sz="26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B83227"/>
                </a:solidFill>
                <a:latin typeface="Amiri" pitchFamily="34" charset="0"/>
                <a:ea typeface="Amiri" pitchFamily="34" charset="-122"/>
                <a:cs typeface="Amiri" pitchFamily="34" charset="-120"/>
              </a:rPr>
              <a:t>يُؤَدِّي فِي</a:t>
            </a:r>
            <a:endParaRPr lang="ar-SA" sz="26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626364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34" charset="0"/>
                <a:ea typeface="Amiri" pitchFamily="34" charset="-122"/>
                <a:cs typeface="Amiri" pitchFamily="34" charset="-120"/>
              </a:rPr>
              <a:t>تُقْطَعُ الأَشْجَارُ</a:t>
            </a:r>
            <a:endParaRPr lang="ar-SA" sz="2600" dirty="0"/>
          </a:p>
        </p:txBody>
      </p:sp>
      <p:sp>
        <p:nvSpPr>
          <p:cNvPr id="47" name="Text 44"/>
          <p:cNvSpPr txBox="1"/>
          <p:nvPr/>
        </p:nvSpPr>
        <p:spPr>
          <a:xfrm>
            <a:off x="589788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48" name="Text 45"/>
          <p:cNvSpPr txBox="1"/>
          <p:nvPr/>
        </p:nvSpPr>
        <p:spPr>
          <a:xfrm>
            <a:off x="429768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B83227"/>
                </a:solidFill>
                <a:latin typeface="Amiri" pitchFamily="34" charset="0"/>
                <a:ea typeface="Amiri" pitchFamily="34" charset="-122"/>
                <a:cs typeface="Amiri" pitchFamily="34" charset="-120"/>
              </a:rPr>
              <a:t>يُقْطَعُ الأَشْجَارُ</a:t>
            </a:r>
            <a:endParaRPr lang="ar-SA" sz="2600" dirty="0"/>
          </a:p>
        </p:txBody>
      </p:sp>
      <p:sp>
        <p:nvSpPr>
          <p:cNvPr id="49" name="Shape 46"/>
          <p:cNvSpPr/>
          <p:nvPr/>
        </p:nvSpPr>
        <p:spPr>
          <a:xfrm>
            <a:off x="4434840" y="5669280"/>
            <a:ext cx="1371600" cy="0"/>
          </a:xfrm>
          <a:prstGeom prst="line">
            <a:avLst/>
          </a:prstGeom>
          <a:noFill/>
          <a:ln w="25400">
            <a:solidFill>
              <a:srgbClr val="B83227"/>
            </a:solidFill>
            <a:prstDash val="solid"/>
          </a:ln>
        </p:spPr>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13 / 45</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TC-L04 · Environmental Problems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ea typeface="Calibri" pitchFamily="34" charset="-122"/>
                <a:cs typeface="Calibri" pitchFamily="34" charset="-120"/>
              </a:rPr>
              <a:t>GRAMMAR FOCUS · PART 3 · DEVELOP · WEBSITE RULE “ACTIVE AND PASSIVE”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Who does it? Active or passive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مَنْ يَفْعَلُ؟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1 of 3</a:t>
            </a:r>
            <a:endParaRPr lang="en-US" sz="850" dirty="0"/>
          </a:p>
        </p:txBody>
      </p:sp>
      <p:sp>
        <p:nvSpPr>
          <p:cNvPr id="15" name="Shape 12"/>
          <p:cNvSpPr/>
          <p:nvPr/>
        </p:nvSpPr>
        <p:spPr>
          <a:xfrm>
            <a:off x="457200" y="1810512"/>
            <a:ext cx="11274552" cy="420624"/>
          </a:xfrm>
          <a:prstGeom prst="rect">
            <a:avLst/>
          </a:prstGeom>
          <a:solidFill>
            <a:srgbClr val="1B3B6F"/>
          </a:solidFill>
          <a:ln w="12700">
            <a:solidFill>
              <a:srgbClr val="1B3B6F"/>
            </a:solidFill>
            <a:prstDash val="solid"/>
          </a:ln>
        </p:spPr>
      </p:sp>
      <p:sp>
        <p:nvSpPr>
          <p:cNvPr id="16" name="Text 13"/>
          <p:cNvSpPr txBox="1"/>
          <p:nvPr/>
        </p:nvSpPr>
        <p:spPr>
          <a:xfrm>
            <a:off x="9674352" y="1810512"/>
            <a:ext cx="1920240"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Type</a:t>
            </a:r>
            <a:endParaRPr lang="en-US" sz="1200" dirty="0"/>
          </a:p>
        </p:txBody>
      </p:sp>
      <p:sp>
        <p:nvSpPr>
          <p:cNvPr id="17" name="Text 14"/>
          <p:cNvSpPr txBox="1"/>
          <p:nvPr/>
        </p:nvSpPr>
        <p:spPr>
          <a:xfrm>
            <a:off x="6565392" y="1810512"/>
            <a:ext cx="2834640"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Verb</a:t>
            </a:r>
            <a:endParaRPr lang="en-US" sz="1200" dirty="0"/>
          </a:p>
        </p:txBody>
      </p:sp>
      <p:sp>
        <p:nvSpPr>
          <p:cNvPr id="18" name="Text 15"/>
          <p:cNvSpPr txBox="1"/>
          <p:nvPr/>
        </p:nvSpPr>
        <p:spPr>
          <a:xfrm>
            <a:off x="594360" y="1810512"/>
            <a:ext cx="5696712"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Website sentence</a:t>
            </a:r>
            <a:endParaRPr lang="en-US" sz="1200" dirty="0"/>
          </a:p>
        </p:txBody>
      </p:sp>
      <p:sp>
        <p:nvSpPr>
          <p:cNvPr id="19" name="Shape 16"/>
          <p:cNvSpPr/>
          <p:nvPr/>
        </p:nvSpPr>
        <p:spPr>
          <a:xfrm>
            <a:off x="457200" y="2322576"/>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10085832" y="2322576"/>
            <a:ext cx="1508760" cy="731520"/>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34" charset="0"/>
                <a:ea typeface="Amiri" pitchFamily="34" charset="-122"/>
                <a:cs typeface="Amiri" pitchFamily="34" charset="-120"/>
              </a:rPr>
              <a:t>مَعْلُومٌ</a:t>
            </a:r>
            <a:endParaRPr lang="ar-SA" sz="2400" dirty="0"/>
          </a:p>
        </p:txBody>
      </p:sp>
      <p:sp>
        <p:nvSpPr>
          <p:cNvPr id="21" name="Text 18"/>
          <p:cNvSpPr txBox="1"/>
          <p:nvPr/>
        </p:nvSpPr>
        <p:spPr>
          <a:xfrm>
            <a:off x="9509760" y="2322576"/>
            <a:ext cx="731520" cy="73152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ea typeface="Calibri" pitchFamily="34" charset="-122"/>
                <a:cs typeface="Calibri" pitchFamily="34" charset="-120"/>
              </a:rPr>
              <a:t>active</a:t>
            </a:r>
            <a:endParaRPr lang="en-US" sz="1150" dirty="0"/>
          </a:p>
        </p:txBody>
      </p:sp>
      <p:sp>
        <p:nvSpPr>
          <p:cNvPr id="22" name="Text 19"/>
          <p:cNvSpPr txBox="1"/>
          <p:nvPr/>
        </p:nvSpPr>
        <p:spPr>
          <a:xfrm>
            <a:off x="6565392" y="2322576"/>
            <a:ext cx="2834640" cy="731520"/>
          </a:xfrm>
          <a:prstGeom prst="rect">
            <a:avLst/>
          </a:prstGeom>
          <a:noFill/>
          <a:ln/>
        </p:spPr>
        <p:txBody>
          <a:bodyPr wrap="square" lIns="0" tIns="0" rIns="0" bIns="0" rtlCol="0" anchor="ctr"/>
          <a:lstStyle/>
          <a:p>
            <a:pPr rtl="1" algn="ctr" indent="0" marL="0">
              <a:buNone/>
            </a:pPr>
            <a:r>
              <a:rPr lang="ar-SA" altLang="en-US" sz="3000" b="1" dirty="0">
                <a:solidFill>
                  <a:srgbClr val="1B3B6F"/>
                </a:solidFill>
                <a:latin typeface="Amiri" pitchFamily="34" charset="0"/>
                <a:ea typeface="Amiri" pitchFamily="34" charset="-122"/>
                <a:cs typeface="Amiri" pitchFamily="34" charset="-120"/>
              </a:rPr>
              <a:t>تُلَوِّثُ</a:t>
            </a:r>
            <a:endParaRPr lang="ar-SA" sz="3000" dirty="0"/>
          </a:p>
        </p:txBody>
      </p:sp>
      <p:sp>
        <p:nvSpPr>
          <p:cNvPr id="23" name="Text 20"/>
          <p:cNvSpPr txBox="1"/>
          <p:nvPr/>
        </p:nvSpPr>
        <p:spPr>
          <a:xfrm>
            <a:off x="594360" y="2340864"/>
            <a:ext cx="5696712" cy="438912"/>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تُلَوِّثُ </a:t>
            </a:r>
            <a:pPr rtl="1" algn="r" indent="0" marL="0">
              <a:buNone/>
            </a:pPr>
            <a:r>
              <a:rPr lang="ar-SA" altLang="en-US" sz="2000" dirty="0">
                <a:solidFill>
                  <a:srgbClr val="1D5FBF"/>
                </a:solidFill>
                <a:latin typeface="Amiri" pitchFamily="34" charset="0"/>
                <a:ea typeface="Amiri" pitchFamily="34" charset="-122"/>
                <a:cs typeface="Amiri" pitchFamily="34" charset="-120"/>
              </a:rPr>
              <a:t>المَصَانِعُ</a:t>
            </a:r>
            <a:pPr rtl="1" algn="r" indent="0" marL="0">
              <a:buNone/>
            </a:pPr>
            <a:r>
              <a:rPr lang="ar-SA" altLang="en-US" sz="2000" dirty="0">
                <a:solidFill>
                  <a:srgbClr val="1F2A37"/>
                </a:solidFill>
                <a:latin typeface="Amiri" pitchFamily="34" charset="0"/>
                <a:ea typeface="Amiri" pitchFamily="34" charset="-122"/>
                <a:cs typeface="Amiri" pitchFamily="34" charset="-120"/>
              </a:rPr>
              <a:t> الهَوَاءَ.</a:t>
            </a:r>
            <a:endParaRPr lang="ar-SA" sz="2000" dirty="0"/>
          </a:p>
        </p:txBody>
      </p:sp>
      <p:sp>
        <p:nvSpPr>
          <p:cNvPr id="24" name="Text 21"/>
          <p:cNvSpPr txBox="1"/>
          <p:nvPr/>
        </p:nvSpPr>
        <p:spPr>
          <a:xfrm>
            <a:off x="594360" y="2746858"/>
            <a:ext cx="5696712" cy="277978"/>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ea typeface="Calibri" pitchFamily="34" charset="-122"/>
                <a:cs typeface="Calibri" pitchFamily="34" charset="-120"/>
              </a:rPr>
              <a:t>Factories pollute the air. (who: the factories)</a:t>
            </a:r>
            <a:endParaRPr lang="en-US" sz="1100" dirty="0"/>
          </a:p>
        </p:txBody>
      </p:sp>
      <p:sp>
        <p:nvSpPr>
          <p:cNvPr id="25" name="Shape 22"/>
          <p:cNvSpPr/>
          <p:nvPr/>
        </p:nvSpPr>
        <p:spPr>
          <a:xfrm>
            <a:off x="457200" y="314553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10085832" y="3145536"/>
            <a:ext cx="1508760" cy="731520"/>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34" charset="0"/>
                <a:ea typeface="Amiri" pitchFamily="34" charset="-122"/>
                <a:cs typeface="Amiri" pitchFamily="34" charset="-120"/>
              </a:rPr>
              <a:t>مَجْهُولٌ</a:t>
            </a:r>
            <a:endParaRPr lang="ar-SA" sz="2400" dirty="0"/>
          </a:p>
        </p:txBody>
      </p:sp>
      <p:sp>
        <p:nvSpPr>
          <p:cNvPr id="27" name="Text 24"/>
          <p:cNvSpPr txBox="1"/>
          <p:nvPr/>
        </p:nvSpPr>
        <p:spPr>
          <a:xfrm>
            <a:off x="9509760" y="3145536"/>
            <a:ext cx="731520" cy="73152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ea typeface="Calibri" pitchFamily="34" charset="-122"/>
                <a:cs typeface="Calibri" pitchFamily="34" charset="-120"/>
              </a:rPr>
              <a:t>passive</a:t>
            </a:r>
            <a:endParaRPr lang="en-US" sz="1150" dirty="0"/>
          </a:p>
        </p:txBody>
      </p:sp>
      <p:sp>
        <p:nvSpPr>
          <p:cNvPr id="28" name="Text 25"/>
          <p:cNvSpPr txBox="1"/>
          <p:nvPr/>
        </p:nvSpPr>
        <p:spPr>
          <a:xfrm>
            <a:off x="6565392" y="3145536"/>
            <a:ext cx="2834640" cy="731520"/>
          </a:xfrm>
          <a:prstGeom prst="rect">
            <a:avLst/>
          </a:prstGeom>
          <a:noFill/>
          <a:ln/>
        </p:spPr>
        <p:txBody>
          <a:bodyPr wrap="square" lIns="0" tIns="0" rIns="0" bIns="0" rtlCol="0" anchor="ctr"/>
          <a:lstStyle/>
          <a:p>
            <a:pPr rtl="1" algn="ctr" indent="0" marL="0">
              <a:buNone/>
            </a:pPr>
            <a:r>
              <a:rPr lang="ar-SA" altLang="en-US" sz="3000" b="1" dirty="0">
                <a:solidFill>
                  <a:srgbClr val="1B3B6F"/>
                </a:solidFill>
                <a:latin typeface="Amiri" pitchFamily="34" charset="0"/>
                <a:ea typeface="Amiri" pitchFamily="34" charset="-122"/>
                <a:cs typeface="Amiri" pitchFamily="34" charset="-120"/>
              </a:rPr>
              <a:t>يُلَوَّثُ</a:t>
            </a:r>
            <a:endParaRPr lang="ar-SA" sz="3000" dirty="0"/>
          </a:p>
        </p:txBody>
      </p:sp>
      <p:sp>
        <p:nvSpPr>
          <p:cNvPr id="29" name="Text 26"/>
          <p:cNvSpPr txBox="1"/>
          <p:nvPr/>
        </p:nvSpPr>
        <p:spPr>
          <a:xfrm>
            <a:off x="594360" y="3163824"/>
            <a:ext cx="5696712" cy="438912"/>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يُلَوَّثُ الهَوَاءُ بِدُخَانِ المَصَانِعِ.</a:t>
            </a:r>
            <a:endParaRPr lang="ar-SA" sz="2000" dirty="0"/>
          </a:p>
        </p:txBody>
      </p:sp>
      <p:sp>
        <p:nvSpPr>
          <p:cNvPr id="30" name="Text 27"/>
          <p:cNvSpPr txBox="1"/>
          <p:nvPr/>
        </p:nvSpPr>
        <p:spPr>
          <a:xfrm>
            <a:off x="594360" y="3569818"/>
            <a:ext cx="5696712" cy="277978"/>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ea typeface="Calibri" pitchFamily="34" charset="-122"/>
                <a:cs typeface="Calibri" pitchFamily="34" charset="-120"/>
              </a:rPr>
              <a:t>The air is polluted by factory smoke.</a:t>
            </a:r>
            <a:endParaRPr lang="en-US" sz="1100" dirty="0"/>
          </a:p>
        </p:txBody>
      </p:sp>
      <p:sp>
        <p:nvSpPr>
          <p:cNvPr id="31" name="Shape 28"/>
          <p:cNvSpPr/>
          <p:nvPr/>
        </p:nvSpPr>
        <p:spPr>
          <a:xfrm>
            <a:off x="457200" y="3968496"/>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10085832" y="3968496"/>
            <a:ext cx="1508760" cy="731520"/>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34" charset="0"/>
                <a:ea typeface="Amiri" pitchFamily="34" charset="-122"/>
                <a:cs typeface="Amiri" pitchFamily="34" charset="-120"/>
              </a:rPr>
              <a:t>مَجْهُولٌ</a:t>
            </a:r>
            <a:endParaRPr lang="ar-SA" sz="2400" dirty="0"/>
          </a:p>
        </p:txBody>
      </p:sp>
      <p:sp>
        <p:nvSpPr>
          <p:cNvPr id="33" name="Text 30"/>
          <p:cNvSpPr txBox="1"/>
          <p:nvPr/>
        </p:nvSpPr>
        <p:spPr>
          <a:xfrm>
            <a:off x="9509760" y="3968496"/>
            <a:ext cx="731520" cy="73152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ea typeface="Calibri" pitchFamily="34" charset="-122"/>
                <a:cs typeface="Calibri" pitchFamily="34" charset="-120"/>
              </a:rPr>
              <a:t>passive</a:t>
            </a:r>
            <a:endParaRPr lang="en-US" sz="1150" dirty="0"/>
          </a:p>
        </p:txBody>
      </p:sp>
      <p:sp>
        <p:nvSpPr>
          <p:cNvPr id="34" name="Text 31"/>
          <p:cNvSpPr txBox="1"/>
          <p:nvPr/>
        </p:nvSpPr>
        <p:spPr>
          <a:xfrm>
            <a:off x="6565392" y="3968496"/>
            <a:ext cx="2834640" cy="731520"/>
          </a:xfrm>
          <a:prstGeom prst="rect">
            <a:avLst/>
          </a:prstGeom>
          <a:noFill/>
          <a:ln/>
        </p:spPr>
        <p:txBody>
          <a:bodyPr wrap="square" lIns="0" tIns="0" rIns="0" bIns="0" rtlCol="0" anchor="ctr"/>
          <a:lstStyle/>
          <a:p>
            <a:pPr rtl="1" algn="ctr" indent="0" marL="0">
              <a:buNone/>
            </a:pPr>
            <a:r>
              <a:rPr lang="ar-SA" altLang="en-US" sz="3000" b="1" dirty="0">
                <a:solidFill>
                  <a:srgbClr val="1B3B6F"/>
                </a:solidFill>
                <a:latin typeface="Amiri" pitchFamily="34" charset="0"/>
                <a:ea typeface="Amiri" pitchFamily="34" charset="-122"/>
                <a:cs typeface="Amiri" pitchFamily="34" charset="-120"/>
              </a:rPr>
              <a:t>تُقْطَعُ</a:t>
            </a:r>
            <a:endParaRPr lang="ar-SA" sz="3000" dirty="0"/>
          </a:p>
        </p:txBody>
      </p:sp>
      <p:sp>
        <p:nvSpPr>
          <p:cNvPr id="35" name="Text 32"/>
          <p:cNvSpPr txBox="1"/>
          <p:nvPr/>
        </p:nvSpPr>
        <p:spPr>
          <a:xfrm>
            <a:off x="594360" y="3986784"/>
            <a:ext cx="5696712" cy="438912"/>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تُقْطَعُ الأَشْجَارُ فِي بَعْضِ المَنَاطِقِ.</a:t>
            </a:r>
            <a:endParaRPr lang="ar-SA" sz="2000" dirty="0"/>
          </a:p>
        </p:txBody>
      </p:sp>
      <p:sp>
        <p:nvSpPr>
          <p:cNvPr id="36" name="Text 33"/>
          <p:cNvSpPr txBox="1"/>
          <p:nvPr/>
        </p:nvSpPr>
        <p:spPr>
          <a:xfrm>
            <a:off x="594360" y="4392778"/>
            <a:ext cx="5696712" cy="277978"/>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ea typeface="Calibri" pitchFamily="34" charset="-122"/>
                <a:cs typeface="Calibri" pitchFamily="34" charset="-120"/>
              </a:rPr>
              <a:t>Trees are cut down in some areas.</a:t>
            </a:r>
            <a:endParaRPr lang="en-US" sz="1100" dirty="0"/>
          </a:p>
        </p:txBody>
      </p:sp>
      <p:sp>
        <p:nvSpPr>
          <p:cNvPr id="37" name="Shape 34"/>
          <p:cNvSpPr/>
          <p:nvPr/>
        </p:nvSpPr>
        <p:spPr>
          <a:xfrm>
            <a:off x="457200" y="4791456"/>
            <a:ext cx="11274552" cy="731520"/>
          </a:xfrm>
          <a:prstGeom prst="roundRect">
            <a:avLst>
              <a:gd name="adj" fmla="val 6250"/>
            </a:avLst>
          </a:prstGeom>
          <a:solidFill>
            <a:srgbClr val="F4F1EA"/>
          </a:solidFill>
          <a:ln w="9525">
            <a:solidFill>
              <a:srgbClr val="D8D0BF"/>
            </a:solidFill>
            <a:prstDash val="solid"/>
          </a:ln>
        </p:spPr>
      </p:sp>
      <p:sp>
        <p:nvSpPr>
          <p:cNvPr id="38" name="Text 35"/>
          <p:cNvSpPr txBox="1"/>
          <p:nvPr/>
        </p:nvSpPr>
        <p:spPr>
          <a:xfrm>
            <a:off x="10085832" y="4791456"/>
            <a:ext cx="1508760" cy="731520"/>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34" charset="0"/>
                <a:ea typeface="Amiri" pitchFamily="34" charset="-122"/>
                <a:cs typeface="Amiri" pitchFamily="34" charset="-120"/>
              </a:rPr>
              <a:t>مَجْهُولٌ</a:t>
            </a:r>
            <a:endParaRPr lang="ar-SA" sz="2400" dirty="0"/>
          </a:p>
        </p:txBody>
      </p:sp>
      <p:sp>
        <p:nvSpPr>
          <p:cNvPr id="39" name="Text 36"/>
          <p:cNvSpPr txBox="1"/>
          <p:nvPr/>
        </p:nvSpPr>
        <p:spPr>
          <a:xfrm>
            <a:off x="9509760" y="4791456"/>
            <a:ext cx="731520" cy="73152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ea typeface="Calibri" pitchFamily="34" charset="-122"/>
                <a:cs typeface="Calibri" pitchFamily="34" charset="-120"/>
              </a:rPr>
              <a:t>passive</a:t>
            </a:r>
            <a:endParaRPr lang="en-US" sz="1150" dirty="0"/>
          </a:p>
        </p:txBody>
      </p:sp>
      <p:sp>
        <p:nvSpPr>
          <p:cNvPr id="40" name="Text 37"/>
          <p:cNvSpPr txBox="1"/>
          <p:nvPr/>
        </p:nvSpPr>
        <p:spPr>
          <a:xfrm>
            <a:off x="6565392" y="4791456"/>
            <a:ext cx="2834640" cy="731520"/>
          </a:xfrm>
          <a:prstGeom prst="rect">
            <a:avLst/>
          </a:prstGeom>
          <a:noFill/>
          <a:ln/>
        </p:spPr>
        <p:txBody>
          <a:bodyPr wrap="square" lIns="0" tIns="0" rIns="0" bIns="0" rtlCol="0" anchor="ctr"/>
          <a:lstStyle/>
          <a:p>
            <a:pPr rtl="1" algn="ctr" indent="0" marL="0">
              <a:buNone/>
            </a:pPr>
            <a:r>
              <a:rPr lang="ar-SA" altLang="en-US" sz="3000" b="1" dirty="0">
                <a:solidFill>
                  <a:srgbClr val="1B3B6F"/>
                </a:solidFill>
                <a:latin typeface="Amiri" pitchFamily="34" charset="0"/>
                <a:ea typeface="Amiri" pitchFamily="34" charset="-122"/>
                <a:cs typeface="Amiri" pitchFamily="34" charset="-120"/>
              </a:rPr>
              <a:t>تُرْمَى</a:t>
            </a:r>
            <a:endParaRPr lang="ar-SA" sz="3000" dirty="0"/>
          </a:p>
        </p:txBody>
      </p:sp>
      <p:sp>
        <p:nvSpPr>
          <p:cNvPr id="41" name="Text 38"/>
          <p:cNvSpPr txBox="1"/>
          <p:nvPr/>
        </p:nvSpPr>
        <p:spPr>
          <a:xfrm>
            <a:off x="594360" y="4809744"/>
            <a:ext cx="5696712" cy="438912"/>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تُرْمَى نُفَايَاتٌ بِلَاسْتِيكِيَّةٌ فِي النَّهْرِ.</a:t>
            </a:r>
            <a:endParaRPr lang="ar-SA" sz="2000" dirty="0"/>
          </a:p>
        </p:txBody>
      </p:sp>
      <p:sp>
        <p:nvSpPr>
          <p:cNvPr id="42" name="Text 39"/>
          <p:cNvSpPr txBox="1"/>
          <p:nvPr/>
        </p:nvSpPr>
        <p:spPr>
          <a:xfrm>
            <a:off x="594360" y="5215738"/>
            <a:ext cx="5696712" cy="277978"/>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ea typeface="Calibri" pitchFamily="34" charset="-122"/>
                <a:cs typeface="Calibri" pitchFamily="34" charset="-120"/>
              </a:rPr>
              <a:t>Plastic waste is thrown into the river.</a:t>
            </a:r>
            <a:endParaRPr lang="en-US" sz="1100" dirty="0"/>
          </a:p>
        </p:txBody>
      </p:sp>
      <p:sp>
        <p:nvSpPr>
          <p:cNvPr id="43" name="Shape 40"/>
          <p:cNvSpPr/>
          <p:nvPr/>
        </p:nvSpPr>
        <p:spPr>
          <a:xfrm>
            <a:off x="457200" y="5614416"/>
            <a:ext cx="11274552" cy="731520"/>
          </a:xfrm>
          <a:prstGeom prst="roundRect">
            <a:avLst>
              <a:gd name="adj" fmla="val 6250"/>
            </a:avLst>
          </a:prstGeom>
          <a:solidFill>
            <a:srgbClr val="FFFFFF"/>
          </a:solidFill>
          <a:ln w="9525">
            <a:solidFill>
              <a:srgbClr val="D8D0BF"/>
            </a:solidFill>
            <a:prstDash val="solid"/>
          </a:ln>
        </p:spPr>
      </p:sp>
      <p:sp>
        <p:nvSpPr>
          <p:cNvPr id="44" name="Text 41"/>
          <p:cNvSpPr txBox="1"/>
          <p:nvPr/>
        </p:nvSpPr>
        <p:spPr>
          <a:xfrm>
            <a:off x="10085832" y="5614416"/>
            <a:ext cx="1508760" cy="731520"/>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34" charset="0"/>
                <a:ea typeface="Amiri" pitchFamily="34" charset="-122"/>
                <a:cs typeface="Amiri" pitchFamily="34" charset="-120"/>
              </a:rPr>
              <a:t>لَازِمٌ</a:t>
            </a:r>
            <a:endParaRPr lang="ar-SA" sz="2400" dirty="0"/>
          </a:p>
        </p:txBody>
      </p:sp>
      <p:sp>
        <p:nvSpPr>
          <p:cNvPr id="45" name="Text 42"/>
          <p:cNvSpPr txBox="1"/>
          <p:nvPr/>
        </p:nvSpPr>
        <p:spPr>
          <a:xfrm>
            <a:off x="9509760" y="5614416"/>
            <a:ext cx="731520" cy="73152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ea typeface="Calibri" pitchFamily="34" charset="-122"/>
                <a:cs typeface="Calibri" pitchFamily="34" charset="-120"/>
              </a:rPr>
              <a:t>process</a:t>
            </a:r>
            <a:endParaRPr lang="en-US" sz="1150" dirty="0"/>
          </a:p>
        </p:txBody>
      </p:sp>
      <p:sp>
        <p:nvSpPr>
          <p:cNvPr id="46" name="Text 43"/>
          <p:cNvSpPr txBox="1"/>
          <p:nvPr/>
        </p:nvSpPr>
        <p:spPr>
          <a:xfrm>
            <a:off x="6565392" y="5614416"/>
            <a:ext cx="2834640" cy="731520"/>
          </a:xfrm>
          <a:prstGeom prst="rect">
            <a:avLst/>
          </a:prstGeom>
          <a:noFill/>
          <a:ln/>
        </p:spPr>
        <p:txBody>
          <a:bodyPr wrap="square" lIns="0" tIns="0" rIns="0" bIns="0" rtlCol="0" anchor="ctr"/>
          <a:lstStyle/>
          <a:p>
            <a:pPr rtl="1" algn="ctr" indent="0" marL="0">
              <a:buNone/>
            </a:pPr>
            <a:r>
              <a:rPr lang="ar-SA" altLang="en-US" sz="3000" b="1" dirty="0">
                <a:solidFill>
                  <a:srgbClr val="1B3B6F"/>
                </a:solidFill>
                <a:latin typeface="Amiri" pitchFamily="34" charset="0"/>
                <a:ea typeface="Amiri" pitchFamily="34" charset="-122"/>
                <a:cs typeface="Amiri" pitchFamily="34" charset="-120"/>
              </a:rPr>
              <a:t>يَنْبَعِثُ</a:t>
            </a:r>
            <a:endParaRPr lang="ar-SA" sz="3000" dirty="0"/>
          </a:p>
        </p:txBody>
      </p:sp>
      <p:sp>
        <p:nvSpPr>
          <p:cNvPr id="47" name="Text 44"/>
          <p:cNvSpPr txBox="1"/>
          <p:nvPr/>
        </p:nvSpPr>
        <p:spPr>
          <a:xfrm>
            <a:off x="594360" y="5632704"/>
            <a:ext cx="5696712" cy="438912"/>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يَنْبَعِثُ مِنْهَا دُخَانٌ كَثِيفٌ.</a:t>
            </a:r>
            <a:endParaRPr lang="ar-SA" sz="2000" dirty="0"/>
          </a:p>
        </p:txBody>
      </p:sp>
      <p:sp>
        <p:nvSpPr>
          <p:cNvPr id="48" name="Text 45"/>
          <p:cNvSpPr txBox="1"/>
          <p:nvPr/>
        </p:nvSpPr>
        <p:spPr>
          <a:xfrm>
            <a:off x="594360" y="6038698"/>
            <a:ext cx="5696712" cy="277978"/>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ea typeface="Calibri" pitchFamily="34" charset="-122"/>
                <a:cs typeface="Calibri" pitchFamily="34" charset="-120"/>
              </a:rPr>
              <a:t>Thick smoke comes out of them.</a:t>
            </a:r>
            <a:endParaRPr lang="en-US" sz="110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14 / 45</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TC-L04 · Environmental Problems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GRAMMAR FOCUS · PART 4 · WEBSITE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ea typeface="Cambria" pitchFamily="34" charset="-122"/>
                <a:cs typeface="Cambria" pitchFamily="34" charset="-120"/>
              </a:rPr>
              <a:t>The four website rules with examples</a:t>
            </a:r>
            <a:endParaRPr lang="en-US" sz="25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أَمْثِلَةُ القَوَاعِدِ</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1 of 3</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1. Active and passive</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34" charset="0"/>
                <a:ea typeface="Amiri" pitchFamily="34" charset="-122"/>
                <a:cs typeface="Amiri" pitchFamily="34" charset="-120"/>
              </a:rPr>
              <a:t>تُلَوِّثُ</a:t>
            </a:r>
            <a:pPr algn="l" indent="0" marL="0">
              <a:buNone/>
            </a:pPr>
            <a:r>
              <a:rPr lang="en-US" sz="1050" dirty="0">
                <a:solidFill>
                  <a:srgbClr val="5A6472"/>
                </a:solidFill>
                <a:latin typeface="Calibri" pitchFamily="34" charset="0"/>
                <a:ea typeface="Calibri" pitchFamily="34" charset="-122"/>
                <a:cs typeface="Calibri" pitchFamily="34" charset="-120"/>
              </a:rPr>
              <a:t> X</a:t>
            </a:r>
            <a:pPr algn="l" indent="0" marL="0">
              <a:buNone/>
            </a:pPr>
            <a:r>
              <a:rPr lang="ar-SA" altLang="en-US" sz="1350" dirty="0">
                <a:solidFill>
                  <a:srgbClr val="5A6472"/>
                </a:solidFill>
                <a:latin typeface="Amiri" pitchFamily="34" charset="0"/>
                <a:ea typeface="Amiri" pitchFamily="34" charset="-122"/>
                <a:cs typeface="Amiri" pitchFamily="34" charset="-120"/>
              </a:rPr>
              <a:t>ُ</a:t>
            </a:r>
            <a:pPr algn="l" indent="0" marL="0">
              <a:buNone/>
            </a:pPr>
            <a:r>
              <a:rPr lang="en-US" sz="1050" dirty="0">
                <a:solidFill>
                  <a:srgbClr val="5A6472"/>
                </a:solidFill>
                <a:latin typeface="Calibri" pitchFamily="34" charset="0"/>
                <a:ea typeface="Calibri" pitchFamily="34" charset="-122"/>
                <a:cs typeface="Calibri" pitchFamily="34" charset="-120"/>
              </a:rPr>
              <a:t> Y</a:t>
            </a:r>
            <a:pPr algn="l" indent="0" marL="0">
              <a:buNone/>
            </a:pPr>
            <a:r>
              <a:rPr lang="ar-SA" altLang="en-US" sz="1350" dirty="0">
                <a:solidFill>
                  <a:srgbClr val="5A6472"/>
                </a:solidFill>
                <a:latin typeface="Amiri" pitchFamily="34" charset="0"/>
                <a:ea typeface="Amiri" pitchFamily="34" charset="-122"/>
                <a:cs typeface="Amiri" pitchFamily="34" charset="-120"/>
              </a:rPr>
              <a:t>َ</a:t>
            </a:r>
            <a:pPr algn="l" indent="0" marL="0">
              <a:buNone/>
            </a:pPr>
            <a:r>
              <a:rPr lang="en-US" sz="1050" dirty="0">
                <a:solidFill>
                  <a:srgbClr val="5A6472"/>
                </a:solidFill>
                <a:latin typeface="Calibri" pitchFamily="34" charset="0"/>
                <a:ea typeface="Calibri" pitchFamily="34" charset="-122"/>
                <a:cs typeface="Calibri" pitchFamily="34" charset="-120"/>
              </a:rPr>
              <a:t> ↔ </a:t>
            </a:r>
            <a:pPr algn="l" indent="0" marL="0">
              <a:buNone/>
            </a:pPr>
            <a:r>
              <a:rPr lang="ar-SA" altLang="en-US" sz="1350" dirty="0">
                <a:solidFill>
                  <a:srgbClr val="5A6472"/>
                </a:solidFill>
                <a:latin typeface="Amiri" pitchFamily="34" charset="0"/>
                <a:ea typeface="Amiri" pitchFamily="34" charset="-122"/>
                <a:cs typeface="Amiri" pitchFamily="34" charset="-120"/>
              </a:rPr>
              <a:t>يُلَوَّثُ</a:t>
            </a:r>
            <a:pPr algn="l" indent="0" marL="0">
              <a:buNone/>
            </a:pPr>
            <a:r>
              <a:rPr lang="en-US" sz="1050" dirty="0">
                <a:solidFill>
                  <a:srgbClr val="5A6472"/>
                </a:solidFill>
                <a:latin typeface="Calibri" pitchFamily="34" charset="0"/>
                <a:ea typeface="Calibri" pitchFamily="34" charset="-122"/>
                <a:cs typeface="Calibri" pitchFamily="34" charset="-120"/>
              </a:rPr>
              <a:t> Y</a:t>
            </a:r>
            <a:pPr algn="l" indent="0" marL="0">
              <a:buNone/>
            </a:pPr>
            <a:r>
              <a:rPr lang="ar-SA" altLang="en-US" sz="1350" dirty="0">
                <a:solidFill>
                  <a:srgbClr val="5A6472"/>
                </a:solidFill>
                <a:latin typeface="Amiri" pitchFamily="34" charset="0"/>
                <a:ea typeface="Amiri" pitchFamily="34" charset="-122"/>
                <a:cs typeface="Amiri" pitchFamily="34" charset="-120"/>
              </a:rPr>
              <a:t>ُ</a:t>
            </a:r>
            <a:endParaRPr lang="en-US" sz="10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34" charset="0"/>
                <a:ea typeface="Amiri" pitchFamily="34" charset="-122"/>
                <a:cs typeface="Amiri" pitchFamily="34" charset="-120"/>
              </a:rPr>
              <a:t>تُلَوِّثُ المَصَانِعُ الهَوَاءَ.   ·   يُلَوَّثُ الهَوَاءُ بِدُخَانِ المَصَانِعِ.</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2. Cause phrases</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34" charset="0"/>
                <a:ea typeface="Amiri" pitchFamily="34" charset="-122"/>
                <a:cs typeface="Amiri" pitchFamily="34" charset="-120"/>
              </a:rPr>
              <a:t>بِسَبَبِ / نَتِيجَةً لِـ</a:t>
            </a:r>
            <a:pPr algn="l" indent="0" marL="0">
              <a:buNone/>
            </a:pPr>
            <a:r>
              <a:rPr lang="en-US" sz="1050" dirty="0">
                <a:solidFill>
                  <a:srgbClr val="5A6472"/>
                </a:solidFill>
                <a:latin typeface="Calibri" pitchFamily="34" charset="0"/>
                <a:ea typeface="Calibri" pitchFamily="34" charset="-122"/>
                <a:cs typeface="Calibri" pitchFamily="34" charset="-120"/>
              </a:rPr>
              <a:t> + genitive noun</a:t>
            </a:r>
            <a:endParaRPr lang="en-US" sz="10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34" charset="0"/>
                <a:ea typeface="Amiri" pitchFamily="34" charset="-122"/>
                <a:cs typeface="Amiri" pitchFamily="34" charset="-120"/>
              </a:rPr>
              <a:t>يَتَلَوَّثُ البَحْرُ بِسَبَبِ النُّفَايَاتِ البِلَاسْتِيكِيَّةِ.</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3. Result with </a:t>
            </a:r>
            <a:pPr algn="l" indent="0" marL="0">
              <a:buNone/>
            </a:pPr>
            <a:r>
              <a:rPr lang="ar-SA" altLang="en-US" sz="1650" b="1" dirty="0">
                <a:solidFill>
                  <a:srgbClr val="1B3B6F"/>
                </a:solidFill>
                <a:latin typeface="Amiri" pitchFamily="34" charset="0"/>
                <a:ea typeface="Amiri" pitchFamily="34" charset="-122"/>
                <a:cs typeface="Amiri" pitchFamily="34" charset="-120"/>
              </a:rPr>
              <a:t>يُؤَدِّي إِلَى</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ea typeface="Calibri" pitchFamily="34" charset="-122"/>
                <a:cs typeface="Calibri" pitchFamily="34" charset="-120"/>
              </a:rPr>
              <a:t>cause + </a:t>
            </a:r>
            <a:pPr algn="l" indent="0" marL="0">
              <a:buNone/>
            </a:pPr>
            <a:r>
              <a:rPr lang="ar-SA" altLang="en-US" sz="1350" dirty="0">
                <a:solidFill>
                  <a:srgbClr val="5A6472"/>
                </a:solidFill>
                <a:latin typeface="Amiri" pitchFamily="34" charset="0"/>
                <a:ea typeface="Amiri" pitchFamily="34" charset="-122"/>
                <a:cs typeface="Amiri" pitchFamily="34" charset="-120"/>
              </a:rPr>
              <a:t>يُؤَدِّي إِلَى</a:t>
            </a:r>
            <a:pPr algn="l" indent="0" marL="0">
              <a:buNone/>
            </a:pPr>
            <a:r>
              <a:rPr lang="en-US" sz="1050" dirty="0">
                <a:solidFill>
                  <a:srgbClr val="5A6472"/>
                </a:solidFill>
                <a:latin typeface="Calibri" pitchFamily="34" charset="0"/>
                <a:ea typeface="Calibri" pitchFamily="34" charset="-122"/>
                <a:cs typeface="Calibri" pitchFamily="34" charset="-120"/>
              </a:rPr>
              <a:t> + verbal noun / noun</a:t>
            </a:r>
            <a:endParaRPr lang="en-US" sz="10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34" charset="0"/>
                <a:ea typeface="Amiri" pitchFamily="34" charset="-122"/>
                <a:cs typeface="Amiri" pitchFamily="34" charset="-120"/>
              </a:rPr>
              <a:t>يُؤَدِّي قَطْعُ الأَشْجَارِ إِلَى فَقْدِ المَوَائِلِ.</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4. Linking a whole clause to a consequence</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ea typeface="Calibri" pitchFamily="34" charset="-122"/>
                <a:cs typeface="Calibri" pitchFamily="34" charset="-120"/>
              </a:rPr>
              <a:t>clause</a:t>
            </a:r>
            <a:pPr algn="l" indent="0" marL="0">
              <a:buNone/>
            </a:pPr>
            <a:r>
              <a:rPr lang="ar-SA" altLang="en-US" sz="1350" dirty="0">
                <a:solidFill>
                  <a:srgbClr val="5A6472"/>
                </a:solidFill>
                <a:latin typeface="Amiri" pitchFamily="34" charset="0"/>
                <a:ea typeface="Amiri" pitchFamily="34" charset="-122"/>
                <a:cs typeface="Amiri" pitchFamily="34" charset="-120"/>
              </a:rPr>
              <a:t>، مِمَّا يُسَبِّبُ / مِمَّا يُؤَدِّي إِلَى</a:t>
            </a:r>
            <a:endParaRPr lang="en-US" sz="10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34" charset="0"/>
                <a:ea typeface="Amiri" pitchFamily="34" charset="-122"/>
                <a:cs typeface="Amiri" pitchFamily="34" charset="-120"/>
              </a:rPr>
              <a:t>تَرْتَفِعُ دَرَجَةُ الحَرَارَةِ، مِمَّا يُسَبِّبُ ذَوَبَانَ الجَلِيدِ.</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15 / 45</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TC-L04 · Environmental Problems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1 of 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34" charset="0"/>
                <a:ea typeface="Amiri" pitchFamily="34" charset="-122"/>
                <a:cs typeface="Amiri" pitchFamily="34" charset="-120"/>
              </a:rPr>
              <a:t>يَتَلَوَّثُ البَحْرُ ___ النُّفَايَاتِ.</a:t>
            </a:r>
            <a:endParaRPr lang="ar-SA" sz="15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يُؤَدِّي إِلَى</a:t>
            </a:r>
            <a:endParaRPr lang="ar-SA" sz="20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مِمَّا</a:t>
            </a:r>
            <a:endParaRPr lang="ar-SA" sz="20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بِسَبَبِ</a:t>
            </a:r>
            <a:endParaRPr lang="ar-SA" sz="2050" dirty="0"/>
          </a:p>
        </p:txBody>
      </p:sp>
      <p:sp>
        <p:nvSpPr>
          <p:cNvPr id="29" name="Shape 26"/>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313932"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2" name="Text 29"/>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result structure.</a:t>
            </a:r>
            <a:endParaRPr lang="en-US" sz="1250" dirty="0"/>
          </a:p>
        </p:txBody>
      </p:sp>
      <p:sp>
        <p:nvSpPr>
          <p:cNvPr id="33" name="Shape 30"/>
          <p:cNvSpPr/>
          <p:nvPr/>
        </p:nvSpPr>
        <p:spPr>
          <a:xfrm>
            <a:off x="6368796" y="2532888"/>
            <a:ext cx="256032" cy="256032"/>
          </a:xfrm>
          <a:prstGeom prst="ellipse">
            <a:avLst/>
          </a:prstGeom>
          <a:solidFill>
            <a:srgbClr val="F4F1EA"/>
          </a:solidFill>
          <a:ln w="12700">
            <a:solidFill>
              <a:srgbClr val="F4F1EA"/>
            </a:solidFill>
            <a:prstDash val="solid"/>
          </a:ln>
        </p:spPr>
      </p:sp>
      <p:sp>
        <p:nvSpPr>
          <p:cNvPr id="34" name="Text 31"/>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5" name="Text 32"/>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يُؤَدِّي التَّصَحُّرُ إِلَى فَقْدِ الأَرَاضِي الزِّرَاعِيَّةِ.</a:t>
            </a:r>
            <a:endParaRPr lang="ar-SA" sz="2050" dirty="0"/>
          </a:p>
        </p:txBody>
      </p:sp>
      <p:sp>
        <p:nvSpPr>
          <p:cNvPr id="36" name="Shape 33"/>
          <p:cNvSpPr/>
          <p:nvPr/>
        </p:nvSpPr>
        <p:spPr>
          <a:xfrm>
            <a:off x="6368796" y="29900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8" name="Text 35"/>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يُؤَدِّي التَّصَحُّرُ مِنْ فَقْدِ الأَرَاضِي.</a:t>
            </a:r>
            <a:endParaRPr lang="ar-SA" sz="2050" dirty="0"/>
          </a:p>
        </p:txBody>
      </p:sp>
      <p:sp>
        <p:nvSpPr>
          <p:cNvPr id="39" name="Shape 36"/>
          <p:cNvSpPr/>
          <p:nvPr/>
        </p:nvSpPr>
        <p:spPr>
          <a:xfrm>
            <a:off x="6368796" y="34472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1" name="Text 38"/>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يُؤَدِّي التَّصَحُّرُ فِي فَقْدِ الأَرَاضِي.</a:t>
            </a:r>
            <a:endParaRPr lang="ar-SA" sz="2050" dirty="0"/>
          </a:p>
        </p:txBody>
      </p:sp>
      <p:sp>
        <p:nvSpPr>
          <p:cNvPr id="42" name="Shape 39"/>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85216" y="4288536"/>
            <a:ext cx="310896" cy="310896"/>
          </a:xfrm>
          <a:prstGeom prst="ellipse">
            <a:avLst/>
          </a:prstGeom>
          <a:solidFill>
            <a:srgbClr val="1B3B6F"/>
          </a:solidFill>
          <a:ln w="12700">
            <a:solidFill>
              <a:srgbClr val="1B3B6F"/>
            </a:solidFill>
            <a:prstDash val="solid"/>
          </a:ln>
        </p:spPr>
      </p:sp>
      <p:sp>
        <p:nvSpPr>
          <p:cNvPr id="44" name="Text 4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5" name="Text 42"/>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sentence about trees.</a:t>
            </a:r>
            <a:endParaRPr lang="en-US" sz="1250" dirty="0"/>
          </a:p>
        </p:txBody>
      </p:sp>
      <p:sp>
        <p:nvSpPr>
          <p:cNvPr id="46" name="Shape 43"/>
          <p:cNvSpPr/>
          <p:nvPr/>
        </p:nvSpPr>
        <p:spPr>
          <a:xfrm>
            <a:off x="640080" y="4873752"/>
            <a:ext cx="256032" cy="256032"/>
          </a:xfrm>
          <a:prstGeom prst="ellipse">
            <a:avLst/>
          </a:prstGeom>
          <a:solidFill>
            <a:srgbClr val="F4F1EA"/>
          </a:solidFill>
          <a:ln w="12700">
            <a:solidFill>
              <a:srgbClr val="F4F1EA"/>
            </a:solidFill>
            <a:prstDash val="solid"/>
          </a:ln>
        </p:spPr>
      </p:sp>
      <p:sp>
        <p:nvSpPr>
          <p:cNvPr id="47" name="Text 44"/>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8" name="Text 45"/>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يُقْطَعُ الأَشْجَارُ فِي بَعْضِ المَنَاطِقِ.</a:t>
            </a:r>
            <a:endParaRPr lang="ar-SA" sz="2050" dirty="0"/>
          </a:p>
        </p:txBody>
      </p:sp>
      <p:sp>
        <p:nvSpPr>
          <p:cNvPr id="49" name="Shape 46"/>
          <p:cNvSpPr/>
          <p:nvPr/>
        </p:nvSpPr>
        <p:spPr>
          <a:xfrm>
            <a:off x="640080" y="5330952"/>
            <a:ext cx="256032" cy="256032"/>
          </a:xfrm>
          <a:prstGeom prst="ellipse">
            <a:avLst/>
          </a:prstGeom>
          <a:solidFill>
            <a:srgbClr val="F4F1EA"/>
          </a:solidFill>
          <a:ln w="12700">
            <a:solidFill>
              <a:srgbClr val="F4F1EA"/>
            </a:solidFill>
            <a:prstDash val="solid"/>
          </a:ln>
        </p:spPr>
      </p:sp>
      <p:sp>
        <p:nvSpPr>
          <p:cNvPr id="50" name="Text 47"/>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1" name="Text 48"/>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تُقْطَعُ الأَشْجَارُ فِي بَعْضِ المَنَاطِقِ.</a:t>
            </a:r>
            <a:endParaRPr lang="ar-SA" sz="2050" dirty="0"/>
          </a:p>
        </p:txBody>
      </p:sp>
      <p:sp>
        <p:nvSpPr>
          <p:cNvPr id="52" name="Shape 49"/>
          <p:cNvSpPr/>
          <p:nvPr/>
        </p:nvSpPr>
        <p:spPr>
          <a:xfrm>
            <a:off x="640080" y="5788152"/>
            <a:ext cx="256032" cy="256032"/>
          </a:xfrm>
          <a:prstGeom prst="ellipse">
            <a:avLst/>
          </a:prstGeom>
          <a:solidFill>
            <a:srgbClr val="F4F1EA"/>
          </a:solidFill>
          <a:ln w="12700">
            <a:solidFill>
              <a:srgbClr val="F4F1EA"/>
            </a:solidFill>
            <a:prstDash val="solid"/>
          </a:ln>
        </p:spPr>
      </p:sp>
      <p:sp>
        <p:nvSpPr>
          <p:cNvPr id="53" name="Text 50"/>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4" name="Text 51"/>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تَقْطَعُ الأَشْجَارَ فِي بَعْضِ المَنَاطِقِ.</a:t>
            </a:r>
            <a:endParaRPr lang="ar-SA" sz="2050" dirty="0"/>
          </a:p>
        </p:txBody>
      </p:sp>
      <p:sp>
        <p:nvSpPr>
          <p:cNvPr id="55" name="Shape 52"/>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6313932"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8" name="Text 55"/>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active sentence.</a:t>
            </a:r>
            <a:endParaRPr lang="en-US" sz="1250" dirty="0"/>
          </a:p>
        </p:txBody>
      </p:sp>
      <p:sp>
        <p:nvSpPr>
          <p:cNvPr id="59" name="Shape 56"/>
          <p:cNvSpPr/>
          <p:nvPr/>
        </p:nvSpPr>
        <p:spPr>
          <a:xfrm>
            <a:off x="6368796"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1" name="Text 58"/>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تُلَوِّثُ المَصَانِعُ الهَوَاءَ.</a:t>
            </a:r>
            <a:endParaRPr lang="ar-SA" sz="2050" dirty="0"/>
          </a:p>
        </p:txBody>
      </p:sp>
      <p:sp>
        <p:nvSpPr>
          <p:cNvPr id="62" name="Shape 59"/>
          <p:cNvSpPr/>
          <p:nvPr/>
        </p:nvSpPr>
        <p:spPr>
          <a:xfrm>
            <a:off x="6368796"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4" name="Text 61"/>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يُلَوَّثُ الهَوَاءُ بِالدُّخَانِ.</a:t>
            </a:r>
            <a:endParaRPr lang="ar-SA" sz="2050" dirty="0"/>
          </a:p>
        </p:txBody>
      </p:sp>
      <p:sp>
        <p:nvSpPr>
          <p:cNvPr id="65" name="Shape 62"/>
          <p:cNvSpPr/>
          <p:nvPr/>
        </p:nvSpPr>
        <p:spPr>
          <a:xfrm>
            <a:off x="6368796"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7" name="Text 64"/>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تُقْطَعُ الأَشْجَارُ.</a:t>
            </a:r>
            <a:endParaRPr lang="ar-SA" sz="2050" dirty="0"/>
          </a:p>
        </p:txBody>
      </p:sp>
      <p:sp>
        <p:nvSpPr>
          <p:cNvPr id="68" name="Text 6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16 / 45</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TC-L04 · Environmental Problems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1 of 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34" charset="0"/>
                <a:ea typeface="Amiri" pitchFamily="34" charset="-122"/>
                <a:cs typeface="Amiri" pitchFamily="34" charset="-120"/>
              </a:rPr>
              <a:t>يَتَلَوَّثُ البَحْرُ ___ النُّفَايَاتِ.</a:t>
            </a:r>
            <a:endParaRPr lang="ar-SA" sz="1500" dirty="0"/>
          </a:p>
        </p:txBody>
      </p:sp>
      <p:sp>
        <p:nvSpPr>
          <p:cNvPr id="20" name="Shape 17"/>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يُؤَدِّي إِلَى</a:t>
            </a:r>
            <a:endParaRPr lang="ar-SA" sz="170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مِمَّا</a:t>
            </a:r>
            <a:endParaRPr lang="ar-SA" sz="1700" dirty="0"/>
          </a:p>
        </p:txBody>
      </p:sp>
      <p:sp>
        <p:nvSpPr>
          <p:cNvPr id="26" name="Shape 23"/>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7" name="Shape 24"/>
          <p:cNvSpPr/>
          <p:nvPr/>
        </p:nvSpPr>
        <p:spPr>
          <a:xfrm>
            <a:off x="640080" y="3233928"/>
            <a:ext cx="256032" cy="256032"/>
          </a:xfrm>
          <a:prstGeom prst="ellipse">
            <a:avLst/>
          </a:prstGeom>
          <a:solidFill>
            <a:srgbClr val="2E8B57"/>
          </a:solidFill>
          <a:ln w="12700">
            <a:solidFill>
              <a:srgbClr val="2E8B57"/>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29" name="Text 26"/>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بِسَبَبِ</a:t>
            </a:r>
            <a:endParaRPr lang="ar-SA" sz="1700" dirty="0"/>
          </a:p>
        </p:txBody>
      </p:sp>
      <p:sp>
        <p:nvSpPr>
          <p:cNvPr id="30" name="Text 27"/>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بسبب</a:t>
            </a:r>
            <a:pPr algn="l" indent="0" marL="0">
              <a:buNone/>
            </a:pPr>
            <a:r>
              <a:rPr lang="en-US" sz="1050" i="1" dirty="0">
                <a:solidFill>
                  <a:srgbClr val="8A6D1E"/>
                </a:solidFill>
                <a:latin typeface="Calibri" pitchFamily="34" charset="0"/>
                <a:ea typeface="Calibri" pitchFamily="34" charset="-122"/>
                <a:cs typeface="Calibri" pitchFamily="34" charset="-120"/>
              </a:rPr>
              <a:t> is followed by the cause noun.</a:t>
            </a:r>
            <a:endParaRPr lang="en-US" sz="1050" dirty="0"/>
          </a:p>
        </p:txBody>
      </p:sp>
      <p:sp>
        <p:nvSpPr>
          <p:cNvPr id="31" name="Shape 28"/>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6313932"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4" name="Text 31"/>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result structure.</a:t>
            </a:r>
            <a:endParaRPr lang="en-US" sz="1250" dirty="0"/>
          </a:p>
        </p:txBody>
      </p:sp>
      <p:sp>
        <p:nvSpPr>
          <p:cNvPr id="35" name="Shape 32"/>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6" name="Shape 33"/>
          <p:cNvSpPr/>
          <p:nvPr/>
        </p:nvSpPr>
        <p:spPr>
          <a:xfrm>
            <a:off x="6368796" y="2490216"/>
            <a:ext cx="256032" cy="256032"/>
          </a:xfrm>
          <a:prstGeom prst="ellipse">
            <a:avLst/>
          </a:prstGeom>
          <a:solidFill>
            <a:srgbClr val="2E8B57"/>
          </a:solidFill>
          <a:ln w="12700">
            <a:solidFill>
              <a:srgbClr val="2E8B57"/>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يُؤَدِّي التَّصَحُّرُ إِلَى فَقْدِ الأَرَاضِي الزِّرَاعِيَّةِ.</a:t>
            </a:r>
            <a:endParaRPr lang="ar-SA" sz="1700" dirty="0"/>
          </a:p>
        </p:txBody>
      </p:sp>
      <p:sp>
        <p:nvSpPr>
          <p:cNvPr id="39" name="Shape 36"/>
          <p:cNvSpPr/>
          <p:nvPr/>
        </p:nvSpPr>
        <p:spPr>
          <a:xfrm>
            <a:off x="6368796"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1" name="Text 38"/>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يُؤَدِّي التَّصَحُّرُ مِنْ فَقْدِ الأَرَاضِي.</a:t>
            </a:r>
            <a:endParaRPr lang="ar-SA" sz="1700" dirty="0"/>
          </a:p>
        </p:txBody>
      </p:sp>
      <p:sp>
        <p:nvSpPr>
          <p:cNvPr id="42" name="Shape 39"/>
          <p:cNvSpPr/>
          <p:nvPr/>
        </p:nvSpPr>
        <p:spPr>
          <a:xfrm>
            <a:off x="6368796" y="3233928"/>
            <a:ext cx="256032" cy="256032"/>
          </a:xfrm>
          <a:prstGeom prst="ellipse">
            <a:avLst/>
          </a:prstGeom>
          <a:solidFill>
            <a:srgbClr val="C9CED6"/>
          </a:solidFill>
          <a:ln w="12700">
            <a:solidFill>
              <a:srgbClr val="C9CED6"/>
            </a:solidFill>
            <a:prstDash val="solid"/>
          </a:ln>
        </p:spPr>
      </p:sp>
      <p:sp>
        <p:nvSpPr>
          <p:cNvPr id="43" name="Text 40"/>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4" name="Text 41"/>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يُؤَدِّي التَّصَحُّرُ فِي فَقْدِ الأَرَاضِي.</a:t>
            </a:r>
            <a:endParaRPr lang="ar-SA" sz="1700" dirty="0"/>
          </a:p>
        </p:txBody>
      </p:sp>
      <p:sp>
        <p:nvSpPr>
          <p:cNvPr id="45" name="Text 42"/>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يؤدي</a:t>
            </a:r>
            <a:pPr algn="l" indent="0" marL="0">
              <a:buNone/>
            </a:pPr>
            <a:r>
              <a:rPr lang="en-US" sz="1050" i="1" dirty="0">
                <a:solidFill>
                  <a:srgbClr val="8A6D1E"/>
                </a:solidFill>
                <a:latin typeface="Calibri" pitchFamily="34" charset="0"/>
                <a:ea typeface="Calibri" pitchFamily="34" charset="-122"/>
                <a:cs typeface="Calibri" pitchFamily="34" charset="-120"/>
              </a:rPr>
              <a:t> requires </a:t>
            </a:r>
            <a:pPr algn="l" indent="0" marL="0">
              <a:buNone/>
            </a:pPr>
            <a:r>
              <a:rPr lang="ar-SA" altLang="en-US" sz="1350" dirty="0">
                <a:solidFill>
                  <a:srgbClr val="8A6D1E"/>
                </a:solidFill>
                <a:latin typeface="Amiri" pitchFamily="34" charset="0"/>
                <a:ea typeface="Amiri" pitchFamily="34" charset="-122"/>
                <a:cs typeface="Amiri" pitchFamily="34" charset="-120"/>
              </a:rPr>
              <a:t>إلى</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46" name="Shape 43"/>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585216" y="4288536"/>
            <a:ext cx="310896" cy="310896"/>
          </a:xfrm>
          <a:prstGeom prst="ellipse">
            <a:avLst/>
          </a:prstGeom>
          <a:solidFill>
            <a:srgbClr val="1B3B6F"/>
          </a:solidFill>
          <a:ln w="12700">
            <a:solidFill>
              <a:srgbClr val="1B3B6F"/>
            </a:solidFill>
            <a:prstDash val="solid"/>
          </a:ln>
        </p:spPr>
      </p:sp>
      <p:sp>
        <p:nvSpPr>
          <p:cNvPr id="48" name="Text 4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9" name="Text 46"/>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sentence about trees.</a:t>
            </a:r>
            <a:endParaRPr lang="en-US" sz="1250" dirty="0"/>
          </a:p>
        </p:txBody>
      </p:sp>
      <p:sp>
        <p:nvSpPr>
          <p:cNvPr id="50" name="Shape 47"/>
          <p:cNvSpPr/>
          <p:nvPr/>
        </p:nvSpPr>
        <p:spPr>
          <a:xfrm>
            <a:off x="640080" y="4831080"/>
            <a:ext cx="256032" cy="256032"/>
          </a:xfrm>
          <a:prstGeom prst="ellipse">
            <a:avLst/>
          </a:prstGeom>
          <a:solidFill>
            <a:srgbClr val="C9CED6"/>
          </a:solidFill>
          <a:ln w="12700">
            <a:solidFill>
              <a:srgbClr val="C9CED6"/>
            </a:solidFill>
            <a:prstDash val="solid"/>
          </a:ln>
        </p:spPr>
      </p:sp>
      <p:sp>
        <p:nvSpPr>
          <p:cNvPr id="51" name="Text 48"/>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2" name="Text 49"/>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يُقْطَعُ الأَشْجَارُ فِي بَعْضِ المَنَاطِقِ.</a:t>
            </a:r>
            <a:endParaRPr lang="ar-SA" sz="1700" dirty="0"/>
          </a:p>
        </p:txBody>
      </p:sp>
      <p:sp>
        <p:nvSpPr>
          <p:cNvPr id="53" name="Shape 50"/>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4" name="Shape 51"/>
          <p:cNvSpPr/>
          <p:nvPr/>
        </p:nvSpPr>
        <p:spPr>
          <a:xfrm>
            <a:off x="640080" y="5202936"/>
            <a:ext cx="256032" cy="256032"/>
          </a:xfrm>
          <a:prstGeom prst="ellipse">
            <a:avLst/>
          </a:prstGeom>
          <a:solidFill>
            <a:srgbClr val="2E8B57"/>
          </a:solidFill>
          <a:ln w="12700">
            <a:solidFill>
              <a:srgbClr val="2E8B57"/>
            </a:solidFill>
            <a:prstDash val="solid"/>
          </a:ln>
        </p:spPr>
      </p:sp>
      <p:sp>
        <p:nvSpPr>
          <p:cNvPr id="55" name="Text 52"/>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56" name="Text 53"/>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تُقْطَعُ الأَشْجَارُ فِي بَعْضِ المَنَاطِقِ.</a:t>
            </a:r>
            <a:endParaRPr lang="ar-SA" sz="1700" dirty="0"/>
          </a:p>
        </p:txBody>
      </p:sp>
      <p:sp>
        <p:nvSpPr>
          <p:cNvPr id="57" name="Shape 54"/>
          <p:cNvSpPr/>
          <p:nvPr/>
        </p:nvSpPr>
        <p:spPr>
          <a:xfrm>
            <a:off x="640080" y="5574792"/>
            <a:ext cx="256032" cy="256032"/>
          </a:xfrm>
          <a:prstGeom prst="ellipse">
            <a:avLst/>
          </a:prstGeom>
          <a:solidFill>
            <a:srgbClr val="C9CED6"/>
          </a:solidFill>
          <a:ln w="12700">
            <a:solidFill>
              <a:srgbClr val="C9CED6"/>
            </a:solidFill>
            <a:prstDash val="solid"/>
          </a:ln>
        </p:spPr>
      </p:sp>
      <p:sp>
        <p:nvSpPr>
          <p:cNvPr id="58" name="Text 55"/>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9" name="Text 56"/>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تَقْطَعُ الأَشْجَارَ فِي بَعْضِ المَنَاطِقِ.</a:t>
            </a:r>
            <a:endParaRPr lang="ar-SA" sz="1700" dirty="0"/>
          </a:p>
        </p:txBody>
      </p:sp>
      <p:sp>
        <p:nvSpPr>
          <p:cNvPr id="60" name="Text 57"/>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الأشجار</a:t>
            </a:r>
            <a:pPr algn="l" indent="0" marL="0">
              <a:buNone/>
            </a:pPr>
            <a:r>
              <a:rPr lang="en-US" sz="1050" i="1" dirty="0">
                <a:solidFill>
                  <a:srgbClr val="8A6D1E"/>
                </a:solidFill>
                <a:latin typeface="Calibri" pitchFamily="34" charset="0"/>
                <a:ea typeface="Calibri" pitchFamily="34" charset="-122"/>
                <a:cs typeface="Calibri" pitchFamily="34" charset="-120"/>
              </a:rPr>
              <a:t> is a non-human plural treated as feminine, so use </a:t>
            </a:r>
            <a:pPr algn="l" indent="0" marL="0">
              <a:buNone/>
            </a:pPr>
            <a:r>
              <a:rPr lang="ar-SA" altLang="en-US" sz="1350" dirty="0">
                <a:solidFill>
                  <a:srgbClr val="8A6D1E"/>
                </a:solidFill>
                <a:latin typeface="Amiri" pitchFamily="34" charset="0"/>
                <a:ea typeface="Amiri" pitchFamily="34" charset="-122"/>
                <a:cs typeface="Amiri" pitchFamily="34" charset="-120"/>
              </a:rPr>
              <a:t>تُقْطَعُ</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61" name="Shape 58"/>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6313932"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4" name="Text 61"/>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active sentence.</a:t>
            </a:r>
            <a:endParaRPr lang="en-US" sz="1250" dirty="0"/>
          </a:p>
        </p:txBody>
      </p:sp>
      <p:sp>
        <p:nvSpPr>
          <p:cNvPr id="65" name="Shape 62"/>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6" name="Shape 63"/>
          <p:cNvSpPr/>
          <p:nvPr/>
        </p:nvSpPr>
        <p:spPr>
          <a:xfrm>
            <a:off x="6368796" y="4831080"/>
            <a:ext cx="256032" cy="256032"/>
          </a:xfrm>
          <a:prstGeom prst="ellipse">
            <a:avLst/>
          </a:prstGeom>
          <a:solidFill>
            <a:srgbClr val="2E8B57"/>
          </a:solidFill>
          <a:ln w="12700">
            <a:solidFill>
              <a:srgbClr val="2E8B57"/>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تُلَوِّثُ المَصَانِعُ الهَوَاءَ.</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يُلَوَّثُ الهَوَاءُ بِالدُّخَانِ.</a:t>
            </a:r>
            <a:endParaRPr lang="ar-SA" sz="1700" dirty="0"/>
          </a:p>
        </p:txBody>
      </p:sp>
      <p:sp>
        <p:nvSpPr>
          <p:cNvPr id="72" name="Shape 69"/>
          <p:cNvSpPr/>
          <p:nvPr/>
        </p:nvSpPr>
        <p:spPr>
          <a:xfrm>
            <a:off x="6368796" y="5574792"/>
            <a:ext cx="256032" cy="256032"/>
          </a:xfrm>
          <a:prstGeom prst="ellipse">
            <a:avLst/>
          </a:prstGeom>
          <a:solidFill>
            <a:srgbClr val="C9CED6"/>
          </a:solidFill>
          <a:ln w="12700">
            <a:solidFill>
              <a:srgbClr val="C9CED6"/>
            </a:solidFill>
            <a:prstDash val="solid"/>
          </a:ln>
        </p:spPr>
      </p:sp>
      <p:sp>
        <p:nvSpPr>
          <p:cNvPr id="73" name="Text 70"/>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4" name="Text 71"/>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تُقْطَعُ الأَشْجَارُ.</a:t>
            </a:r>
            <a:endParaRPr lang="ar-SA" sz="1700" dirty="0"/>
          </a:p>
        </p:txBody>
      </p:sp>
      <p:sp>
        <p:nvSpPr>
          <p:cNvPr id="75" name="Text 72"/>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active sentence names factories as the agent.</a:t>
            </a:r>
            <a:endParaRPr lang="en-US" sz="1050" dirty="0"/>
          </a:p>
        </p:txBody>
      </p:sp>
      <p:sp>
        <p:nvSpPr>
          <p:cNvPr id="76" name="Text 7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17 / 45</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TC-L04 · Environmental Problems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ea typeface="Calibri" pitchFamily="34" charset="-122"/>
                <a:cs typeface="Calibri" pitchFamily="34" charset="-120"/>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ea typeface="Cambria" pitchFamily="34" charset="-122"/>
                <a:cs typeface="Cambria" pitchFamily="34" charset="-120"/>
              </a:rPr>
              <a:t>Watch me build a cause–effect chain</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1 of 3</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Name the problem</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34" charset="0"/>
                <a:ea typeface="Amiri" pitchFamily="34" charset="-122"/>
                <a:cs typeface="Amiri" pitchFamily="34" charset="-120"/>
              </a:rPr>
              <a:t>يَزْدَادُ </a:t>
            </a:r>
            <a:pPr rtl="1" algn="ctr" indent="0" marL="0">
              <a:buNone/>
            </a:pPr>
            <a:r>
              <a:rPr lang="ar-SA" altLang="en-US" sz="2800" b="1" dirty="0">
                <a:solidFill>
                  <a:srgbClr val="0E7C86"/>
                </a:solidFill>
                <a:latin typeface="Amiri" pitchFamily="34" charset="0"/>
                <a:ea typeface="Amiri" pitchFamily="34" charset="-122"/>
                <a:cs typeface="Amiri" pitchFamily="34" charset="-120"/>
              </a:rPr>
              <a:t>تَلَوُّثُ الهَوَاءِ</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ar-SA" altLang="en-US" sz="1500" dirty="0">
                <a:solidFill>
                  <a:srgbClr val="1F2A37"/>
                </a:solidFill>
                <a:latin typeface="Amiri" pitchFamily="34" charset="0"/>
                <a:ea typeface="Amiri" pitchFamily="34" charset="-122"/>
                <a:cs typeface="Amiri" pitchFamily="34" charset="-120"/>
              </a:rPr>
              <a:t>يَزْدَادُ</a:t>
            </a:r>
            <a:pPr algn="l" indent="0" marL="0">
              <a:buNone/>
            </a:pPr>
            <a:r>
              <a:rPr lang="en-US" sz="1150" dirty="0">
                <a:solidFill>
                  <a:srgbClr val="1F2A37"/>
                </a:solidFill>
                <a:latin typeface="Calibri" pitchFamily="34" charset="0"/>
                <a:ea typeface="Calibri" pitchFamily="34" charset="-122"/>
                <a:cs typeface="Calibri" pitchFamily="34" charset="-120"/>
              </a:rPr>
              <a:t> = increases. An iḍāfa: pollution of the air.</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ea typeface="Calibri" pitchFamily="34" charset="-122"/>
                <a:cs typeface="Calibri" pitchFamily="34" charset="-120"/>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Give the cause</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200" b="1" dirty="0">
                <a:solidFill>
                  <a:srgbClr val="1D5FBF"/>
                </a:solidFill>
                <a:latin typeface="Amiri" pitchFamily="34" charset="0"/>
                <a:ea typeface="Amiri" pitchFamily="34" charset="-122"/>
                <a:cs typeface="Amiri" pitchFamily="34" charset="-120"/>
              </a:rPr>
              <a:t>بِسَبَبِ</a:t>
            </a:r>
            <a:pPr rtl="1" algn="ctr" indent="0" marL="0">
              <a:buNone/>
            </a:pPr>
            <a:r>
              <a:rPr lang="ar-SA" altLang="en-US" sz="2200" b="1" dirty="0">
                <a:solidFill>
                  <a:srgbClr val="1B3B6F"/>
                </a:solidFill>
                <a:latin typeface="Amiri" pitchFamily="34" charset="0"/>
                <a:ea typeface="Amiri" pitchFamily="34" charset="-122"/>
                <a:cs typeface="Amiri" pitchFamily="34" charset="-120"/>
              </a:rPr>
              <a:t> السَّيَّارَاتِ وَالمَصَانِعِ</a:t>
            </a:r>
            <a:endParaRPr lang="ar-SA" sz="22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ar-SA" altLang="en-US" sz="1500" dirty="0">
                <a:solidFill>
                  <a:srgbClr val="1F2A37"/>
                </a:solidFill>
                <a:latin typeface="Amiri" pitchFamily="34" charset="0"/>
                <a:ea typeface="Amiri" pitchFamily="34" charset="-122"/>
                <a:cs typeface="Amiri" pitchFamily="34" charset="-120"/>
              </a:rPr>
              <a:t>بِسَبَبِ</a:t>
            </a:r>
            <a:pPr algn="l" indent="0" marL="0">
              <a:buNone/>
            </a:pPr>
            <a:r>
              <a:rPr lang="en-US" sz="1150" dirty="0">
                <a:solidFill>
                  <a:srgbClr val="1F2A37"/>
                </a:solidFill>
                <a:latin typeface="Calibri" pitchFamily="34" charset="0"/>
                <a:ea typeface="Calibri" pitchFamily="34" charset="-122"/>
                <a:cs typeface="Calibri" pitchFamily="34" charset="-120"/>
              </a:rPr>
              <a:t> + noun. Two causes joined with </a:t>
            </a:r>
            <a:pPr algn="l" indent="0" marL="0">
              <a:buNone/>
            </a:pPr>
            <a:r>
              <a:rPr lang="ar-SA" altLang="en-US" sz="1500" dirty="0">
                <a:solidFill>
                  <a:srgbClr val="1F2A37"/>
                </a:solidFill>
                <a:latin typeface="Amiri" pitchFamily="34" charset="0"/>
                <a:ea typeface="Amiri" pitchFamily="34" charset="-122"/>
                <a:cs typeface="Amiri" pitchFamily="34" charset="-120"/>
              </a:rPr>
              <a:t>وَ</a:t>
            </a:r>
            <a:pPr algn="l" indent="0" marL="0">
              <a:buNone/>
            </a:pPr>
            <a:r>
              <a:rPr lang="en-US" sz="1150" dirty="0">
                <a:solidFill>
                  <a:srgbClr val="1F2A37"/>
                </a:solidFill>
                <a:latin typeface="Calibri" pitchFamily="34" charset="0"/>
                <a:ea typeface="Calibri" pitchFamily="34" charset="-122"/>
                <a:cs typeface="Calibri" pitchFamily="34" charset="-120"/>
              </a:rPr>
              <a:t>.</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ea typeface="Calibri" pitchFamily="34" charset="-122"/>
                <a:cs typeface="Calibri" pitchFamily="34" charset="-120"/>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Give the effect</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550" b="1" dirty="0">
                <a:solidFill>
                  <a:srgbClr val="1B3B6F"/>
                </a:solidFill>
                <a:latin typeface="Amiri" pitchFamily="34" charset="0"/>
                <a:ea typeface="Amiri" pitchFamily="34" charset="-122"/>
                <a:cs typeface="Amiri" pitchFamily="34" charset="-120"/>
              </a:rPr>
              <a:t>وَهٰذَا </a:t>
            </a:r>
            <a:pPr rtl="1" algn="ctr" indent="0" marL="0">
              <a:buNone/>
            </a:pPr>
            <a:r>
              <a:rPr lang="ar-SA" altLang="en-US" sz="2550" b="1" dirty="0">
                <a:solidFill>
                  <a:srgbClr val="1D5FBF"/>
                </a:solidFill>
                <a:latin typeface="Amiri" pitchFamily="34" charset="0"/>
                <a:ea typeface="Amiri" pitchFamily="34" charset="-122"/>
                <a:cs typeface="Amiri" pitchFamily="34" charset="-120"/>
              </a:rPr>
              <a:t>يُؤَدِّي إِلَى</a:t>
            </a:r>
            <a:pPr rtl="1" algn="ctr" indent="0" marL="0">
              <a:buNone/>
            </a:pPr>
            <a:r>
              <a:rPr lang="ar-SA" altLang="en-US" sz="2550" b="1" dirty="0">
                <a:solidFill>
                  <a:srgbClr val="1B3B6F"/>
                </a:solidFill>
                <a:latin typeface="Amiri" pitchFamily="34" charset="0"/>
                <a:ea typeface="Amiri" pitchFamily="34" charset="-122"/>
                <a:cs typeface="Amiri" pitchFamily="34" charset="-120"/>
              </a:rPr>
              <a:t> أَمْرَاضٍ</a:t>
            </a:r>
            <a:endParaRPr lang="ar-SA" sz="255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ar-SA" altLang="en-US" sz="1500" dirty="0">
                <a:solidFill>
                  <a:srgbClr val="1F2A37"/>
                </a:solidFill>
                <a:latin typeface="Amiri" pitchFamily="34" charset="0"/>
                <a:ea typeface="Amiri" pitchFamily="34" charset="-122"/>
                <a:cs typeface="Amiri" pitchFamily="34" charset="-120"/>
              </a:rPr>
              <a:t>يُؤَدِّي</a:t>
            </a:r>
            <a:pPr algn="l" indent="0" marL="0">
              <a:buNone/>
            </a:pPr>
            <a:r>
              <a:rPr lang="en-US" sz="1150" dirty="0">
                <a:solidFill>
                  <a:srgbClr val="1F2A37"/>
                </a:solidFill>
                <a:latin typeface="Calibri" pitchFamily="34" charset="0"/>
                <a:ea typeface="Calibri" pitchFamily="34" charset="-122"/>
                <a:cs typeface="Calibri" pitchFamily="34" charset="-120"/>
              </a:rPr>
              <a:t> + </a:t>
            </a:r>
            <a:pPr algn="l" indent="0" marL="0">
              <a:buNone/>
            </a:pPr>
            <a:r>
              <a:rPr lang="ar-SA" altLang="en-US" sz="1500" dirty="0">
                <a:solidFill>
                  <a:srgbClr val="1F2A37"/>
                </a:solidFill>
                <a:latin typeface="Amiri" pitchFamily="34" charset="0"/>
                <a:ea typeface="Amiri" pitchFamily="34" charset="-122"/>
                <a:cs typeface="Amiri" pitchFamily="34" charset="-120"/>
              </a:rPr>
              <a:t>إِلَى</a:t>
            </a:r>
            <a:pPr algn="l" indent="0" marL="0">
              <a:buNone/>
            </a:pPr>
            <a:r>
              <a:rPr lang="en-US" sz="1150" dirty="0">
                <a:solidFill>
                  <a:srgbClr val="1F2A37"/>
                </a:solidFill>
                <a:latin typeface="Calibri" pitchFamily="34" charset="0"/>
                <a:ea typeface="Calibri" pitchFamily="34" charset="-122"/>
                <a:cs typeface="Calibri" pitchFamily="34" charset="-120"/>
              </a:rPr>
              <a:t> — never </a:t>
            </a:r>
            <a:pPr algn="l" indent="0" marL="0">
              <a:buNone/>
            </a:pPr>
            <a:r>
              <a:rPr lang="ar-SA" altLang="en-US" sz="1500" dirty="0">
                <a:solidFill>
                  <a:srgbClr val="1F2A37"/>
                </a:solidFill>
                <a:latin typeface="Amiri" pitchFamily="34" charset="0"/>
                <a:ea typeface="Amiri" pitchFamily="34" charset="-122"/>
                <a:cs typeface="Amiri" pitchFamily="34" charset="-120"/>
              </a:rPr>
              <a:t>فِي</a:t>
            </a:r>
            <a:pPr algn="l" indent="0" marL="0">
              <a:buNone/>
            </a:pPr>
            <a:r>
              <a:rPr lang="en-US" sz="1150" dirty="0">
                <a:solidFill>
                  <a:srgbClr val="1F2A37"/>
                </a:solidFill>
                <a:latin typeface="Calibri" pitchFamily="34" charset="0"/>
                <a:ea typeface="Calibri" pitchFamily="34" charset="-122"/>
                <a:cs typeface="Calibri" pitchFamily="34" charset="-120"/>
              </a:rPr>
              <a:t>.</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ea typeface="Calibri" pitchFamily="34" charset="-122"/>
                <a:cs typeface="Calibri" pitchFamily="34" charset="-120"/>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Add your opinion</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2000" b="1" dirty="0">
                <a:solidFill>
                  <a:srgbClr val="1B3B6F"/>
                </a:solidFill>
                <a:latin typeface="Amiri" pitchFamily="34" charset="0"/>
                <a:ea typeface="Amiri" pitchFamily="34" charset="-122"/>
                <a:cs typeface="Amiri" pitchFamily="34" charset="-120"/>
              </a:rPr>
              <a:t>فِي رَأْيِي، هٰذِهِ مُشْكِلَةٌ خَطِيرَةٌ</a:t>
            </a:r>
            <a:endParaRPr lang="ar-SA" sz="20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ar-SA" altLang="en-US" sz="1500" dirty="0">
                <a:solidFill>
                  <a:srgbClr val="1F2A37"/>
                </a:solidFill>
                <a:latin typeface="Amiri" pitchFamily="34" charset="0"/>
                <a:ea typeface="Amiri" pitchFamily="34" charset="-122"/>
                <a:cs typeface="Amiri" pitchFamily="34" charset="-120"/>
              </a:rPr>
              <a:t>فِي رَأْيِي</a:t>
            </a:r>
            <a:pPr algn="l" indent="0" marL="0">
              <a:buNone/>
            </a:pPr>
            <a:r>
              <a:rPr lang="en-US" sz="1150" dirty="0">
                <a:solidFill>
                  <a:srgbClr val="1F2A37"/>
                </a:solidFill>
                <a:latin typeface="Calibri" pitchFamily="34" charset="0"/>
                <a:ea typeface="Calibri" pitchFamily="34" charset="-122"/>
                <a:cs typeface="Calibri" pitchFamily="34" charset="-120"/>
              </a:rPr>
              <a:t> = in my opinion (website model).</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ea typeface="Calibri" pitchFamily="34" charset="-122"/>
                <a:cs typeface="Calibri" pitchFamily="34" charset="-120"/>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PROBLEM</a:t>
            </a:r>
            <a:endParaRPr lang="en-US" sz="800" dirty="0"/>
          </a:p>
        </p:txBody>
      </p:sp>
      <p:sp>
        <p:nvSpPr>
          <p:cNvPr id="47" name="Shape 43"/>
          <p:cNvSpPr/>
          <p:nvPr/>
        </p:nvSpPr>
        <p:spPr>
          <a:xfrm>
            <a:off x="10515600" y="4736592"/>
            <a:ext cx="914400" cy="237744"/>
          </a:xfrm>
          <a:prstGeom prst="roundRect">
            <a:avLst>
              <a:gd name="adj" fmla="val 50000"/>
            </a:avLst>
          </a:prstGeom>
          <a:solidFill>
            <a:srgbClr val="1D5FBF"/>
          </a:solidFill>
          <a:ln w="12700">
            <a:solidFill>
              <a:srgbClr val="1D5FBF"/>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CONNECTOR</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2400" b="1" dirty="0">
                <a:solidFill>
                  <a:srgbClr val="1B3B6F"/>
                </a:solidFill>
                <a:latin typeface="Amiri" pitchFamily="34" charset="0"/>
                <a:ea typeface="Amiri" pitchFamily="34" charset="-122"/>
                <a:cs typeface="Amiri" pitchFamily="34" charset="-120"/>
              </a:rPr>
              <a:t>يَزْدَادُ </a:t>
            </a:r>
            <a:pPr rtl="1" algn="r" indent="0" marL="0">
              <a:buNone/>
            </a:pPr>
            <a:r>
              <a:rPr lang="ar-SA" altLang="en-US" sz="2400" b="1" dirty="0">
                <a:solidFill>
                  <a:srgbClr val="0E7C86"/>
                </a:solidFill>
                <a:latin typeface="Amiri" pitchFamily="34" charset="0"/>
                <a:ea typeface="Amiri" pitchFamily="34" charset="-122"/>
                <a:cs typeface="Amiri" pitchFamily="34" charset="-120"/>
              </a:rPr>
              <a:t>تَلَوُّثُ الهَوَاءِ</a:t>
            </a:r>
            <a:pPr rtl="1" algn="r" indent="0" marL="0">
              <a:buNone/>
            </a:pPr>
            <a:r>
              <a:rPr lang="ar-SA" altLang="en-US" sz="2400" b="1" dirty="0">
                <a:solidFill>
                  <a:srgbClr val="1B3B6F"/>
                </a:solidFill>
                <a:latin typeface="Amiri" pitchFamily="34" charset="0"/>
                <a:ea typeface="Amiri" pitchFamily="34" charset="-122"/>
                <a:cs typeface="Amiri" pitchFamily="34" charset="-120"/>
              </a:rPr>
              <a:t> </a:t>
            </a:r>
            <a:pPr rtl="1" algn="r" indent="0" marL="0">
              <a:buNone/>
            </a:pPr>
            <a:r>
              <a:rPr lang="ar-SA" altLang="en-US" sz="2400" b="1" dirty="0">
                <a:solidFill>
                  <a:srgbClr val="1D5FBF"/>
                </a:solidFill>
                <a:latin typeface="Amiri" pitchFamily="34" charset="0"/>
                <a:ea typeface="Amiri" pitchFamily="34" charset="-122"/>
                <a:cs typeface="Amiri" pitchFamily="34" charset="-120"/>
              </a:rPr>
              <a:t>بِسَبَبِ</a:t>
            </a:r>
            <a:pPr rtl="1" algn="r" indent="0" marL="0">
              <a:buNone/>
            </a:pPr>
            <a:r>
              <a:rPr lang="ar-SA" altLang="en-US" sz="2400" b="1" dirty="0">
                <a:solidFill>
                  <a:srgbClr val="1B3B6F"/>
                </a:solidFill>
                <a:latin typeface="Amiri" pitchFamily="34" charset="0"/>
                <a:ea typeface="Amiri" pitchFamily="34" charset="-122"/>
                <a:cs typeface="Amiri" pitchFamily="34" charset="-120"/>
              </a:rPr>
              <a:t> السَّيَّارَاتِ وَالمَصَانِعِ، وَهٰذَا </a:t>
            </a:r>
            <a:pPr rtl="1" algn="r" indent="0" marL="0">
              <a:buNone/>
            </a:pPr>
            <a:r>
              <a:rPr lang="ar-SA" altLang="en-US" sz="2400" b="1" dirty="0">
                <a:solidFill>
                  <a:srgbClr val="1D5FBF"/>
                </a:solidFill>
                <a:latin typeface="Amiri" pitchFamily="34" charset="0"/>
                <a:ea typeface="Amiri" pitchFamily="34" charset="-122"/>
                <a:cs typeface="Amiri" pitchFamily="34" charset="-120"/>
              </a:rPr>
              <a:t>يُؤَدِّي إِلَى</a:t>
            </a:r>
            <a:pPr rtl="1" algn="r" indent="0" marL="0">
              <a:buNone/>
            </a:pPr>
            <a:r>
              <a:rPr lang="ar-SA" altLang="en-US" sz="2400" b="1" dirty="0">
                <a:solidFill>
                  <a:srgbClr val="1B3B6F"/>
                </a:solidFill>
                <a:latin typeface="Amiri" pitchFamily="34" charset="0"/>
                <a:ea typeface="Amiri" pitchFamily="34" charset="-122"/>
                <a:cs typeface="Amiri" pitchFamily="34" charset="-120"/>
              </a:rPr>
              <a:t> أَمْرَاضٍ. فِي رَأْيِي، هٰذِهِ مُشْكِلَةٌ خَطِيرَةٌ.</a:t>
            </a:r>
            <a:endParaRPr lang="ar-SA" sz="240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300" i="1" dirty="0">
                <a:solidFill>
                  <a:srgbClr val="5A6472"/>
                </a:solidFill>
                <a:latin typeface="Calibri" pitchFamily="34" charset="0"/>
                <a:ea typeface="Calibri" pitchFamily="34" charset="-122"/>
                <a:cs typeface="Calibri" pitchFamily="34" charset="-120"/>
              </a:rPr>
              <a:t>Air pollution is increasing because of cars and factories, and this leads to illnesses. In my opinion, this is a serious problem.</a:t>
            </a:r>
            <a:endParaRPr lang="en-US" sz="130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18 / 45</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TC-L04 · Environmental Problems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ea typeface="Calibri" pitchFamily="34" charset="-122"/>
                <a:cs typeface="Calibri" pitchFamily="34" charset="-120"/>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Four 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1 of 3</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34" charset="0"/>
                <a:ea typeface="Amiri" pitchFamily="34" charset="-122"/>
                <a:cs typeface="Amiri" pitchFamily="34" charset="-120"/>
              </a:rPr>
              <a:t>يُسَبِّبُ دُخَانُ الْمَصَانِعِ تَلَوُّثَ الْهَوَاءِ.</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ea typeface="Calibri" pitchFamily="34" charset="-122"/>
                <a:cs typeface="Calibri" pitchFamily="34" charset="-120"/>
              </a:rPr>
              <a:t>Factory smoke causes air pollution.</a:t>
            </a:r>
            <a:endParaRPr lang="en-US" sz="1250" dirty="0"/>
          </a:p>
          <a:p>
            <a:pPr indent="0" marL="0">
              <a:buNone/>
            </a:pPr>
            <a:r>
              <a:rPr lang="en-US" sz="1050" i="1" dirty="0">
                <a:solidFill>
                  <a:srgbClr val="8A6D1E"/>
                </a:solidFill>
                <a:latin typeface="Calibri" pitchFamily="34" charset="0"/>
                <a:ea typeface="Calibri" pitchFamily="34" charset="-122"/>
                <a:cs typeface="Calibri" pitchFamily="34" charset="-120"/>
              </a:rPr>
              <a:t>Website game — a Core sentence.</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34" charset="0"/>
                <a:ea typeface="Amiri" pitchFamily="34" charset="-122"/>
                <a:cs typeface="Amiri" pitchFamily="34" charset="-120"/>
              </a:rPr>
              <a:t>يَتَلَوَّثُ البَحْرُ بِسَبَبِ النُّفَايَاتِ البِلَاسْتِيكِيَّةِ.</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ea typeface="Calibri" pitchFamily="34" charset="-122"/>
                <a:cs typeface="Calibri" pitchFamily="34" charset="-120"/>
              </a:rPr>
              <a:t>The sea gets polluted because of plastic waste.</a:t>
            </a:r>
            <a:endParaRPr lang="en-US" sz="1250" dirty="0"/>
          </a:p>
          <a:p>
            <a:pPr indent="0" marL="0">
              <a:buNone/>
            </a:pPr>
            <a:r>
              <a:rPr lang="en-US" sz="1050" i="1" dirty="0">
                <a:solidFill>
                  <a:srgbClr val="8A6D1E"/>
                </a:solidFill>
                <a:latin typeface="Calibri" pitchFamily="34" charset="0"/>
                <a:ea typeface="Calibri" pitchFamily="34" charset="-122"/>
                <a:cs typeface="Calibri" pitchFamily="34" charset="-120"/>
              </a:rPr>
              <a:t>بِسَبَبِ + noun.</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34" charset="0"/>
                <a:ea typeface="Amiri" pitchFamily="34" charset="-122"/>
                <a:cs typeface="Amiri" pitchFamily="34" charset="-120"/>
              </a:rPr>
              <a:t>يُؤَدِّي قَطْعُ الأَشْجَارِ إِلَى فَقْدِ المَوَائِلِ.</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ea typeface="Calibri" pitchFamily="34" charset="-122"/>
                <a:cs typeface="Calibri" pitchFamily="34" charset="-120"/>
              </a:rPr>
              <a:t>Cutting down trees leads to habitat loss.</a:t>
            </a:r>
            <a:endParaRPr lang="en-US" sz="1250" dirty="0"/>
          </a:p>
          <a:p>
            <a:pPr indent="0" marL="0">
              <a:buNone/>
            </a:pPr>
            <a:r>
              <a:rPr lang="en-US" sz="1050" i="1" dirty="0">
                <a:solidFill>
                  <a:srgbClr val="8A6D1E"/>
                </a:solidFill>
                <a:latin typeface="Calibri" pitchFamily="34" charset="0"/>
                <a:ea typeface="Calibri" pitchFamily="34" charset="-122"/>
                <a:cs typeface="Calibri" pitchFamily="34" charset="-120"/>
              </a:rPr>
              <a:t>Keep إِلَى after يُؤَدِّي.</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34" charset="0"/>
                <a:ea typeface="Amiri" pitchFamily="34" charset="-122"/>
                <a:cs typeface="Amiri" pitchFamily="34" charset="-120"/>
              </a:rPr>
              <a:t>تَرْتَفِعُ دَرَجَةُ الحَرَارَةِ، مِمَّا يُسَبِّبُ ذَوَبَانَ الجَلِيدِ.</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ea typeface="Calibri" pitchFamily="34" charset="-122"/>
                <a:cs typeface="Calibri" pitchFamily="34" charset="-120"/>
              </a:rPr>
              <a:t>The temperature rises, which causes the ice to melt.</a:t>
            </a:r>
            <a:endParaRPr lang="en-US" sz="1250" dirty="0"/>
          </a:p>
          <a:p>
            <a:pPr indent="0" marL="0">
              <a:buNone/>
            </a:pPr>
            <a:r>
              <a:rPr lang="en-US" sz="1050" i="1" dirty="0">
                <a:solidFill>
                  <a:srgbClr val="8A6D1E"/>
                </a:solidFill>
                <a:latin typeface="Calibri" pitchFamily="34" charset="0"/>
                <a:ea typeface="Calibri" pitchFamily="34" charset="-122"/>
                <a:cs typeface="Calibri" pitchFamily="34" charset="-120"/>
              </a:rPr>
              <a:t>Stretch: مِمَّا refers back to the whole idea.</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19 / 45</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TC-L04 · Environmental Problems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PICTURE MATCH · WEBSITE GAME “CAUSE &amp; EFFECT”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ea typeface="Cambria" pitchFamily="34" charset="-122"/>
                <a:cs typeface="Cambria" pitchFamily="34" charset="-120"/>
              </a:rPr>
              <a:t>Match the picture to the cause and effect</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السَّبَبُ وَالنَّتِيجَةُ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1 of 3</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Text 16"/>
          <p:cNvSpPr txBox="1"/>
          <p:nvPr/>
        </p:nvSpPr>
        <p:spPr>
          <a:xfrm>
            <a:off x="9771888" y="2267712"/>
            <a:ext cx="283464" cy="457200"/>
          </a:xfrm>
          <a:prstGeom prst="rect">
            <a:avLst/>
          </a:prstGeom>
          <a:noFill/>
          <a:ln/>
        </p:spPr>
        <p:txBody>
          <a:bodyPr wrap="square" lIns="0" tIns="0" rIns="0" bIns="0" rtlCol="0" anchor="ctr"/>
          <a:lstStyle/>
          <a:p>
            <a:pPr algn="ctr" indent="0" marL="0">
              <a:buNone/>
            </a:pPr>
            <a:r>
              <a:rPr lang="en-US" sz="1600" b="1" dirty="0">
                <a:solidFill>
                  <a:srgbClr val="5A6472"/>
                </a:solidFill>
                <a:latin typeface="Calibri" pitchFamily="34" charset="0"/>
                <a:ea typeface="Calibri" pitchFamily="34" charset="-122"/>
                <a:cs typeface="Calibri" pitchFamily="34" charset="-120"/>
              </a:rPr>
              <a:t>→</a:t>
            </a:r>
            <a:endParaRPr lang="en-US" sz="1600" dirty="0"/>
          </a:p>
        </p:txBody>
      </p:sp>
      <p:sp>
        <p:nvSpPr>
          <p:cNvPr id="21" name="Shape 17"/>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2"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Text 22"/>
          <p:cNvSpPr txBox="1"/>
          <p:nvPr/>
        </p:nvSpPr>
        <p:spPr>
          <a:xfrm>
            <a:off x="5952744" y="2267712"/>
            <a:ext cx="283464" cy="457200"/>
          </a:xfrm>
          <a:prstGeom prst="rect">
            <a:avLst/>
          </a:prstGeom>
          <a:noFill/>
          <a:ln/>
        </p:spPr>
        <p:txBody>
          <a:bodyPr wrap="square" lIns="0" tIns="0" rIns="0" bIns="0" rtlCol="0" anchor="ctr"/>
          <a:lstStyle/>
          <a:p>
            <a:pPr algn="ctr" indent="0" marL="0">
              <a:buNone/>
            </a:pPr>
            <a:r>
              <a:rPr lang="en-US" sz="1600" b="1" dirty="0">
                <a:solidFill>
                  <a:srgbClr val="5A6472"/>
                </a:solidFill>
                <a:latin typeface="Calibri" pitchFamily="34" charset="0"/>
                <a:ea typeface="Calibri" pitchFamily="34" charset="-122"/>
                <a:cs typeface="Calibri" pitchFamily="34" charset="-120"/>
              </a:rPr>
              <a:t>→</a:t>
            </a:r>
            <a:endParaRPr lang="en-US" sz="1600" dirty="0"/>
          </a:p>
        </p:txBody>
      </p:sp>
      <p:sp>
        <p:nvSpPr>
          <p:cNvPr id="29" name="Shape 23"/>
          <p:cNvSpPr/>
          <p:nvPr/>
        </p:nvSpPr>
        <p:spPr>
          <a:xfrm>
            <a:off x="6181344" y="2066544"/>
            <a:ext cx="1014984" cy="1014984"/>
          </a:xfrm>
          <a:prstGeom prst="ellipse">
            <a:avLst/>
          </a:prstGeom>
          <a:solidFill>
            <a:srgbClr val="F4F1EA"/>
          </a:solidFill>
          <a:ln w="12700">
            <a:solidFill>
              <a:srgbClr val="F4F1EA"/>
            </a:solidFill>
            <a:prstDash val="solid"/>
          </a:ln>
        </p:spPr>
      </p:sp>
      <p:pic>
        <p:nvPicPr>
          <p:cNvPr id="30"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4" name="Shape 27"/>
          <p:cNvSpPr/>
          <p:nvPr/>
        </p:nvSpPr>
        <p:spPr>
          <a:xfrm>
            <a:off x="117348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6" name="Text 28"/>
          <p:cNvSpPr txBox="1"/>
          <p:nvPr/>
        </p:nvSpPr>
        <p:spPr>
          <a:xfrm>
            <a:off x="2133600" y="2267712"/>
            <a:ext cx="283464" cy="457200"/>
          </a:xfrm>
          <a:prstGeom prst="rect">
            <a:avLst/>
          </a:prstGeom>
          <a:noFill/>
          <a:ln/>
        </p:spPr>
        <p:txBody>
          <a:bodyPr wrap="square" lIns="0" tIns="0" rIns="0" bIns="0" rtlCol="0" anchor="ctr"/>
          <a:lstStyle/>
          <a:p>
            <a:pPr algn="ctr" indent="0" marL="0">
              <a:buNone/>
            </a:pPr>
            <a:r>
              <a:rPr lang="en-US" sz="1600" b="1" dirty="0">
                <a:solidFill>
                  <a:srgbClr val="5A6472"/>
                </a:solidFill>
                <a:latin typeface="Calibri" pitchFamily="34" charset="0"/>
                <a:ea typeface="Calibri" pitchFamily="34" charset="-122"/>
                <a:cs typeface="Calibri" pitchFamily="34" charset="-120"/>
              </a:rPr>
              <a:t>→</a:t>
            </a:r>
            <a:endParaRPr lang="en-US" sz="1600" dirty="0"/>
          </a:p>
        </p:txBody>
      </p:sp>
      <p:sp>
        <p:nvSpPr>
          <p:cNvPr id="37" name="Shape 29"/>
          <p:cNvSpPr/>
          <p:nvPr/>
        </p:nvSpPr>
        <p:spPr>
          <a:xfrm>
            <a:off x="2362200" y="2066544"/>
            <a:ext cx="1014984" cy="1014984"/>
          </a:xfrm>
          <a:prstGeom prst="ellipse">
            <a:avLst/>
          </a:prstGeom>
          <a:solidFill>
            <a:srgbClr val="F4F1EA"/>
          </a:solidFill>
          <a:ln w="12700">
            <a:solidFill>
              <a:srgbClr val="F4F1EA"/>
            </a:solidFill>
            <a:prstDash val="solid"/>
          </a:ln>
        </p:spPr>
      </p:sp>
      <p:pic>
        <p:nvPicPr>
          <p:cNvPr id="38"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39" name="Shape 30"/>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0" name="Shape 31"/>
          <p:cNvSpPr/>
          <p:nvPr/>
        </p:nvSpPr>
        <p:spPr>
          <a:xfrm>
            <a:off x="11247120" y="3831336"/>
            <a:ext cx="292608" cy="292608"/>
          </a:xfrm>
          <a:prstGeom prst="ellipse">
            <a:avLst/>
          </a:prstGeom>
          <a:solidFill>
            <a:srgbClr val="2F6FB0"/>
          </a:solidFill>
          <a:ln w="12700">
            <a:solidFill>
              <a:srgbClr val="2F6FB0"/>
            </a:solidFill>
            <a:prstDash val="solid"/>
          </a:ln>
        </p:spPr>
      </p:sp>
      <p:sp>
        <p:nvSpPr>
          <p:cNvPr id="41" name="Text 32"/>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a:t>
            </a:r>
            <a:endParaRPr lang="en-US" sz="1000" dirty="0"/>
          </a:p>
        </p:txBody>
      </p:sp>
      <p:sp>
        <p:nvSpPr>
          <p:cNvPr id="42" name="Text 33"/>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يُؤَدِّي قَطْعُ الأَشْجَارِ إِلَى فَقْدَانِ مَوَائِلِ الْحَيَوَانَاتِ.</a:t>
            </a:r>
            <a:endParaRPr lang="ar-SA" sz="2000" dirty="0"/>
          </a:p>
        </p:txBody>
      </p:sp>
      <p:sp>
        <p:nvSpPr>
          <p:cNvPr id="43" name="Shape 34"/>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4" name="Shape 35"/>
          <p:cNvSpPr/>
          <p:nvPr/>
        </p:nvSpPr>
        <p:spPr>
          <a:xfrm>
            <a:off x="11247120" y="4398264"/>
            <a:ext cx="292608" cy="292608"/>
          </a:xfrm>
          <a:prstGeom prst="ellipse">
            <a:avLst/>
          </a:prstGeom>
          <a:solidFill>
            <a:srgbClr val="2F6FB0"/>
          </a:solidFill>
          <a:ln w="12700">
            <a:solidFill>
              <a:srgbClr val="2F6FB0"/>
            </a:solidFill>
            <a:prstDash val="solid"/>
          </a:ln>
        </p:spPr>
      </p:sp>
      <p:sp>
        <p:nvSpPr>
          <p:cNvPr id="45" name="Text 36"/>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t>
            </a:r>
            <a:endParaRPr lang="en-US" sz="1000" dirty="0"/>
          </a:p>
        </p:txBody>
      </p:sp>
      <p:sp>
        <p:nvSpPr>
          <p:cNvPr id="46" name="Text 37"/>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يُسَبِّبُ دُخَانُ الْمَصَانِعِ تَلَوُّثَ الْهَوَاءِ.</a:t>
            </a:r>
            <a:endParaRPr lang="ar-SA" sz="2000" dirty="0"/>
          </a:p>
        </p:txBody>
      </p:sp>
      <p:sp>
        <p:nvSpPr>
          <p:cNvPr id="47" name="Shape 38"/>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8" name="Shape 39"/>
          <p:cNvSpPr/>
          <p:nvPr/>
        </p:nvSpPr>
        <p:spPr>
          <a:xfrm>
            <a:off x="11247120" y="4965192"/>
            <a:ext cx="292608" cy="292608"/>
          </a:xfrm>
          <a:prstGeom prst="ellipse">
            <a:avLst/>
          </a:prstGeom>
          <a:solidFill>
            <a:srgbClr val="2F6FB0"/>
          </a:solidFill>
          <a:ln w="12700">
            <a:solidFill>
              <a:srgbClr val="2F6FB0"/>
            </a:solidFill>
            <a:prstDash val="solid"/>
          </a:ln>
        </p:spPr>
      </p:sp>
      <p:sp>
        <p:nvSpPr>
          <p:cNvPr id="49" name="Text 40"/>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a:t>
            </a:r>
            <a:endParaRPr lang="en-US" sz="1000" dirty="0"/>
          </a:p>
        </p:txBody>
      </p:sp>
      <p:sp>
        <p:nvSpPr>
          <p:cNvPr id="50" name="Text 41"/>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يُؤَدِّي رَمْيُ النُّفَايَاتِ فِي الْبَحْرِ إِلَى إِضْرَارِ الْحَيَاةِ الْبَحْرِيَّةِ.</a:t>
            </a:r>
            <a:endParaRPr lang="ar-SA" sz="2000" dirty="0"/>
          </a:p>
        </p:txBody>
      </p:sp>
      <p:sp>
        <p:nvSpPr>
          <p:cNvPr id="51" name="Text 42"/>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ea typeface="Calibri" pitchFamily="34" charset="-122"/>
                <a:cs typeface="Calibri" pitchFamily="34" charset="-120"/>
              </a:rPr>
              <a:t>Match each picture to a sentence. Type in the chat: 1_  2_  3_</a:t>
            </a:r>
            <a:endParaRPr lang="en-US" sz="1250" dirty="0"/>
          </a:p>
        </p:txBody>
      </p:sp>
      <p:sp>
        <p:nvSpPr>
          <p:cNvPr id="52" name="Text 43"/>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ea typeface="Calibri" pitchFamily="34" charset="-122"/>
                <a:cs typeface="Calibri" pitchFamily="34" charset="-120"/>
              </a:rPr>
              <a:t>Core: find ONE key word you know in each sentence first.</a:t>
            </a:r>
            <a:endParaRPr lang="en-US" sz="1150" dirty="0"/>
          </a:p>
        </p:txBody>
      </p:sp>
      <p:sp>
        <p:nvSpPr>
          <p:cNvPr id="53"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20 / 45</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TC-L04 · Environmental Problems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السَّبَبُ وَالنَّتِيجَةُ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1 of 3</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Text 16"/>
          <p:cNvSpPr txBox="1"/>
          <p:nvPr/>
        </p:nvSpPr>
        <p:spPr>
          <a:xfrm>
            <a:off x="9771888" y="2267712"/>
            <a:ext cx="283464" cy="457200"/>
          </a:xfrm>
          <a:prstGeom prst="rect">
            <a:avLst/>
          </a:prstGeom>
          <a:noFill/>
          <a:ln/>
        </p:spPr>
        <p:txBody>
          <a:bodyPr wrap="square" lIns="0" tIns="0" rIns="0" bIns="0" rtlCol="0" anchor="ctr"/>
          <a:lstStyle/>
          <a:p>
            <a:pPr algn="ctr" indent="0" marL="0">
              <a:buNone/>
            </a:pPr>
            <a:r>
              <a:rPr lang="en-US" sz="1600" b="1" dirty="0">
                <a:solidFill>
                  <a:srgbClr val="5A6472"/>
                </a:solidFill>
                <a:latin typeface="Calibri" pitchFamily="34" charset="0"/>
                <a:ea typeface="Calibri" pitchFamily="34" charset="-122"/>
                <a:cs typeface="Calibri" pitchFamily="34" charset="-120"/>
              </a:rPr>
              <a:t>→</a:t>
            </a:r>
            <a:endParaRPr lang="en-US" sz="1600" dirty="0"/>
          </a:p>
        </p:txBody>
      </p:sp>
      <p:sp>
        <p:nvSpPr>
          <p:cNvPr id="21" name="Shape 17"/>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2"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يُسَبِّبُ دُخَانُ الْمَصَانِعِ تَلَوُّثَ الْهَوَاءِ.</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Factory smoke causes air pollution.</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Text 27"/>
          <p:cNvSpPr txBox="1"/>
          <p:nvPr/>
        </p:nvSpPr>
        <p:spPr>
          <a:xfrm>
            <a:off x="5952744" y="2267712"/>
            <a:ext cx="283464" cy="457200"/>
          </a:xfrm>
          <a:prstGeom prst="rect">
            <a:avLst/>
          </a:prstGeom>
          <a:noFill/>
          <a:ln/>
        </p:spPr>
        <p:txBody>
          <a:bodyPr wrap="square" lIns="0" tIns="0" rIns="0" bIns="0" rtlCol="0" anchor="ctr"/>
          <a:lstStyle/>
          <a:p>
            <a:pPr algn="ctr" indent="0" marL="0">
              <a:buNone/>
            </a:pPr>
            <a:r>
              <a:rPr lang="en-US" sz="1600" b="1" dirty="0">
                <a:solidFill>
                  <a:srgbClr val="5A6472"/>
                </a:solidFill>
                <a:latin typeface="Calibri" pitchFamily="34" charset="0"/>
                <a:ea typeface="Calibri" pitchFamily="34" charset="-122"/>
                <a:cs typeface="Calibri" pitchFamily="34" charset="-120"/>
              </a:rPr>
              <a:t>→</a:t>
            </a:r>
            <a:endParaRPr lang="en-US" sz="1600" dirty="0"/>
          </a:p>
        </p:txBody>
      </p:sp>
      <p:sp>
        <p:nvSpPr>
          <p:cNvPr id="34" name="Shape 28"/>
          <p:cNvSpPr/>
          <p:nvPr/>
        </p:nvSpPr>
        <p:spPr>
          <a:xfrm>
            <a:off x="6181344" y="2066544"/>
            <a:ext cx="1014984" cy="1014984"/>
          </a:xfrm>
          <a:prstGeom prst="ellipse">
            <a:avLst/>
          </a:prstGeom>
          <a:solidFill>
            <a:srgbClr val="F4F1EA"/>
          </a:solidFill>
          <a:ln w="12700">
            <a:solidFill>
              <a:srgbClr val="F4F1EA"/>
            </a:solidFill>
            <a:prstDash val="solid"/>
          </a:ln>
        </p:spPr>
      </p:sp>
      <p:pic>
        <p:nvPicPr>
          <p:cNvPr id="35"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34" charset="0"/>
                <a:ea typeface="Amiri" pitchFamily="34" charset="-122"/>
                <a:cs typeface="Amiri" pitchFamily="34" charset="-120"/>
              </a:rPr>
              <a:t>يُؤَدِّي رَمْيُ النُّفَايَاتِ فِي الْبَحْرِ إِلَى إِضْرَارِ الْحَيَاةِ الْبَحْرِيَّةِ.</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Throwing waste into the sea harms marine life.</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4" name="Shape 37"/>
          <p:cNvSpPr/>
          <p:nvPr/>
        </p:nvSpPr>
        <p:spPr>
          <a:xfrm>
            <a:off x="117348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6" name="Text 38"/>
          <p:cNvSpPr txBox="1"/>
          <p:nvPr/>
        </p:nvSpPr>
        <p:spPr>
          <a:xfrm>
            <a:off x="2133600" y="2267712"/>
            <a:ext cx="283464" cy="457200"/>
          </a:xfrm>
          <a:prstGeom prst="rect">
            <a:avLst/>
          </a:prstGeom>
          <a:noFill/>
          <a:ln/>
        </p:spPr>
        <p:txBody>
          <a:bodyPr wrap="square" lIns="0" tIns="0" rIns="0" bIns="0" rtlCol="0" anchor="ctr"/>
          <a:lstStyle/>
          <a:p>
            <a:pPr algn="ctr" indent="0" marL="0">
              <a:buNone/>
            </a:pPr>
            <a:r>
              <a:rPr lang="en-US" sz="1600" b="1" dirty="0">
                <a:solidFill>
                  <a:srgbClr val="5A6472"/>
                </a:solidFill>
                <a:latin typeface="Calibri" pitchFamily="34" charset="0"/>
                <a:ea typeface="Calibri" pitchFamily="34" charset="-122"/>
                <a:cs typeface="Calibri" pitchFamily="34" charset="-120"/>
              </a:rPr>
              <a:t>→</a:t>
            </a:r>
            <a:endParaRPr lang="en-US" sz="1600" dirty="0"/>
          </a:p>
        </p:txBody>
      </p:sp>
      <p:sp>
        <p:nvSpPr>
          <p:cNvPr id="47" name="Shape 39"/>
          <p:cNvSpPr/>
          <p:nvPr/>
        </p:nvSpPr>
        <p:spPr>
          <a:xfrm>
            <a:off x="2362200" y="2066544"/>
            <a:ext cx="1014984" cy="1014984"/>
          </a:xfrm>
          <a:prstGeom prst="ellipse">
            <a:avLst/>
          </a:prstGeom>
          <a:solidFill>
            <a:srgbClr val="F4F1EA"/>
          </a:solidFill>
          <a:ln w="12700">
            <a:solidFill>
              <a:srgbClr val="F4F1EA"/>
            </a:solidFill>
            <a:prstDash val="solid"/>
          </a:ln>
        </p:spPr>
      </p:sp>
      <p:pic>
        <p:nvPicPr>
          <p:cNvPr id="48"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9" name="Shape 40"/>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0" name="Shape 41"/>
          <p:cNvSpPr/>
          <p:nvPr/>
        </p:nvSpPr>
        <p:spPr>
          <a:xfrm>
            <a:off x="3617976" y="3785616"/>
            <a:ext cx="329184" cy="329184"/>
          </a:xfrm>
          <a:prstGeom prst="ellipse">
            <a:avLst/>
          </a:prstGeom>
          <a:solidFill>
            <a:srgbClr val="2E8B57"/>
          </a:solidFill>
          <a:ln w="12700">
            <a:solidFill>
              <a:srgbClr val="2E8B57"/>
            </a:solidFill>
            <a:prstDash val="solid"/>
          </a:ln>
        </p:spPr>
      </p:sp>
      <p:sp>
        <p:nvSpPr>
          <p:cNvPr id="51" name="Text 42"/>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52" name="Text 43"/>
          <p:cNvSpPr txBox="1"/>
          <p:nvPr/>
        </p:nvSpPr>
        <p:spPr>
          <a:xfrm>
            <a:off x="594360"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34" charset="0"/>
                <a:ea typeface="Amiri" pitchFamily="34" charset="-122"/>
                <a:cs typeface="Amiri" pitchFamily="34" charset="-120"/>
              </a:rPr>
              <a:t>يُؤَدِّي قَطْعُ الأَشْجَارِ إِلَى فَقْدَانِ مَوَائِلِ الْحَيَوَانَاتِ.</a:t>
            </a:r>
            <a:endParaRPr lang="ar-SA" sz="2200" dirty="0"/>
          </a:p>
        </p:txBody>
      </p:sp>
      <p:sp>
        <p:nvSpPr>
          <p:cNvPr id="53" name="Text 44"/>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Cutting down trees leads to the loss of animal habitats.</a:t>
            </a:r>
            <a:endParaRPr lang="en-US" sz="1200" dirty="0"/>
          </a:p>
        </p:txBody>
      </p:sp>
      <p:sp>
        <p:nvSpPr>
          <p:cNvPr id="54"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21 / 45</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TC-L04 · Environmental Problems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GUIDED PRACTICE · SENTENCE BUILDER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Build the sentence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1 of 3</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ea typeface="Calibri" pitchFamily="34" charset="-122"/>
                <a:cs typeface="Calibri" pitchFamily="34" charset="-120"/>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ea typeface="Calibri" pitchFamily="34" charset="-122"/>
                <a:cs typeface="Calibri" pitchFamily="34" charset="-120"/>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ea typeface="Calibri" pitchFamily="34" charset="-122"/>
                <a:cs typeface="Calibri" pitchFamily="34" charset="-120"/>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ea typeface="Calibri" pitchFamily="34" charset="-122"/>
                <a:cs typeface="Calibri" pitchFamily="34" charset="-120"/>
              </a:rPr>
              <a:t>Cars pollute the air.</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يُلَوَّثُ</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تُلَوِّثُ</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السَّيَّارَاتُ</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الأَشْجَارُ</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الهَوَاءُ.</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الهَوَاءَ.</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ea typeface="Calibri" pitchFamily="34" charset="-122"/>
                <a:cs typeface="Calibri" pitchFamily="34" charset="-120"/>
              </a:rPr>
              <a:t>The sea gets polluted because of plastic waste.</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يَتَلَوَّثُ</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يُؤَدِّي</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الهَوَاءُ</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البَحْرُ</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500" dirty="0">
                <a:solidFill>
                  <a:srgbClr val="1F2A37"/>
                </a:solidFill>
                <a:latin typeface="Amiri" pitchFamily="34" charset="0"/>
                <a:ea typeface="Amiri" pitchFamily="34" charset="-122"/>
                <a:cs typeface="Amiri" pitchFamily="34" charset="-120"/>
              </a:rPr>
              <a:t>بِسَبَبِ النُّفَايَاتِ البِلَاسْتِيكِيَّةِ.</a:t>
            </a:r>
            <a:endParaRPr lang="ar-SA" sz="15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34" charset="0"/>
                <a:ea typeface="Amiri" pitchFamily="34" charset="-122"/>
                <a:cs typeface="Amiri" pitchFamily="34" charset="-120"/>
              </a:rPr>
              <a:t>إِلَى النُّفَايَاتِ البِلَاسْتِيكِيَّةِ.</a:t>
            </a:r>
            <a:endParaRPr lang="ar-SA" sz="155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ea typeface="Calibri" pitchFamily="34" charset="-122"/>
                <a:cs typeface="Calibri" pitchFamily="34" charset="-120"/>
              </a:rPr>
              <a:t>Pollution leads to illnesses.</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يُؤَدِّي</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يَتَرَاكَمُ</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التَّلَوُّثُ</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الجَلِيدُ</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فِي أَمْرَاضٍ.</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إِلَى أَمْرَاضٍ.</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22 / 45</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TC-L04 · Environmental Problems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SENTENCE BUILDER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Check your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تَحَقَّقْ مِنْ جُمَلِكَ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1 of 3</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ea typeface="Calibri" pitchFamily="34" charset="-122"/>
                <a:cs typeface="Calibri" pitchFamily="34" charset="-120"/>
              </a:rPr>
              <a:t>Cars pollute the air.</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ea typeface="Calibri" pitchFamily="34" charset="-122"/>
                <a:cs typeface="Calibri" pitchFamily="34" charset="-120"/>
              </a:rPr>
              <a:t>Columns = B · A · B</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Active: the cars do it; the air is the object → </a:t>
            </a:r>
            <a:pPr algn="l" indent="0" marL="0">
              <a:buNone/>
            </a:pPr>
            <a:r>
              <a:rPr lang="ar-SA" altLang="en-US" sz="1350" dirty="0">
                <a:solidFill>
                  <a:srgbClr val="5A6472"/>
                </a:solidFill>
                <a:latin typeface="Amiri" pitchFamily="34" charset="0"/>
                <a:ea typeface="Amiri" pitchFamily="34" charset="-122"/>
                <a:cs typeface="Amiri" pitchFamily="34" charset="-120"/>
              </a:rPr>
              <a:t>الهَوَاءَ</a:t>
            </a:r>
            <a:pPr algn="l" indent="0" marL="0">
              <a:buNone/>
            </a:pPr>
            <a:r>
              <a:rPr lang="en-US" sz="1050" i="1" dirty="0">
                <a:solidFill>
                  <a:srgbClr val="5A6472"/>
                </a:solidFill>
                <a:latin typeface="Calibri" pitchFamily="34" charset="0"/>
                <a:ea typeface="Calibri" pitchFamily="34" charset="-122"/>
                <a:cs typeface="Calibri" pitchFamily="34" charset="-120"/>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34" charset="0"/>
                <a:ea typeface="Amiri" pitchFamily="34" charset="-122"/>
                <a:cs typeface="Amiri" pitchFamily="34" charset="-120"/>
              </a:rPr>
              <a:t>تُلَوِّثُ السَّيَّارَاتُ الهَوَاءَ.</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ea typeface="Calibri" pitchFamily="34" charset="-122"/>
                <a:cs typeface="Calibri" pitchFamily="34" charset="-120"/>
              </a:rPr>
              <a:t>The sea gets polluted because of plastic waste.</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ea typeface="Calibri" pitchFamily="34" charset="-122"/>
                <a:cs typeface="Calibri" pitchFamily="34" charset="-120"/>
              </a:rPr>
              <a:t>Columns = A · B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34" charset="0"/>
                <a:ea typeface="Amiri" pitchFamily="34" charset="-122"/>
                <a:cs typeface="Amiri" pitchFamily="34" charset="-120"/>
              </a:rPr>
              <a:t>بِسَبَبِ</a:t>
            </a:r>
            <a:pPr algn="l" indent="0" marL="0">
              <a:buNone/>
            </a:pPr>
            <a:r>
              <a:rPr lang="en-US" sz="1050" i="1" dirty="0">
                <a:solidFill>
                  <a:srgbClr val="5A6472"/>
                </a:solidFill>
                <a:latin typeface="Calibri" pitchFamily="34" charset="0"/>
                <a:ea typeface="Calibri" pitchFamily="34" charset="-122"/>
                <a:cs typeface="Calibri" pitchFamily="34" charset="-120"/>
              </a:rPr>
              <a:t> + the cause (a noun).</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34" charset="0"/>
                <a:ea typeface="Amiri" pitchFamily="34" charset="-122"/>
                <a:cs typeface="Amiri" pitchFamily="34" charset="-120"/>
              </a:rPr>
              <a:t>يَتَلَوَّثُ البَحْرُ بِسَبَبِ النُّفَايَاتِ البِلَاسْتِيكِيَّةِ.</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ea typeface="Calibri" pitchFamily="34" charset="-122"/>
                <a:cs typeface="Calibri" pitchFamily="34" charset="-120"/>
              </a:rPr>
              <a:t>Pollution leads to illnesses.</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ea typeface="Calibri" pitchFamily="34" charset="-122"/>
                <a:cs typeface="Calibri" pitchFamily="34" charset="-120"/>
              </a:rPr>
              <a:t>Columns = A · A · B</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Always </a:t>
            </a:r>
            <a:pPr algn="l" indent="0" marL="0">
              <a:buNone/>
            </a:pPr>
            <a:r>
              <a:rPr lang="ar-SA" altLang="en-US" sz="1350" dirty="0">
                <a:solidFill>
                  <a:srgbClr val="5A6472"/>
                </a:solidFill>
                <a:latin typeface="Amiri" pitchFamily="34" charset="0"/>
                <a:ea typeface="Amiri" pitchFamily="34" charset="-122"/>
                <a:cs typeface="Amiri" pitchFamily="34" charset="-120"/>
              </a:rPr>
              <a:t>إِلَى</a:t>
            </a:r>
            <a:pPr algn="l" indent="0" marL="0">
              <a:buNone/>
            </a:pPr>
            <a:r>
              <a:rPr lang="en-US" sz="1050" i="1" dirty="0">
                <a:solidFill>
                  <a:srgbClr val="5A6472"/>
                </a:solidFill>
                <a:latin typeface="Calibri" pitchFamily="34" charset="0"/>
                <a:ea typeface="Calibri" pitchFamily="34" charset="-122"/>
                <a:cs typeface="Calibri" pitchFamily="34" charset="-120"/>
              </a:rPr>
              <a:t> after </a:t>
            </a:r>
            <a:pPr algn="l" indent="0" marL="0">
              <a:buNone/>
            </a:pPr>
            <a:r>
              <a:rPr lang="ar-SA" altLang="en-US" sz="1350" dirty="0">
                <a:solidFill>
                  <a:srgbClr val="5A6472"/>
                </a:solidFill>
                <a:latin typeface="Amiri" pitchFamily="34" charset="0"/>
                <a:ea typeface="Amiri" pitchFamily="34" charset="-122"/>
                <a:cs typeface="Amiri" pitchFamily="34" charset="-120"/>
              </a:rPr>
              <a:t>يُؤَدِّي</a:t>
            </a:r>
            <a:pPr algn="l" indent="0" marL="0">
              <a:buNone/>
            </a:pPr>
            <a:r>
              <a:rPr lang="en-US" sz="1050" i="1" dirty="0">
                <a:solidFill>
                  <a:srgbClr val="5A6472"/>
                </a:solidFill>
                <a:latin typeface="Calibri" pitchFamily="34" charset="0"/>
                <a:ea typeface="Calibri" pitchFamily="34" charset="-122"/>
                <a:cs typeface="Calibri" pitchFamily="34" charset="-120"/>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34" charset="0"/>
                <a:ea typeface="Amiri" pitchFamily="34" charset="-122"/>
                <a:cs typeface="Amiri" pitchFamily="34" charset="-120"/>
              </a:rPr>
              <a:t>يُؤَدِّي التَّلَوُّثُ إِلَى أَمْرَاضٍ.</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23 / 45</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TC-L04 · Environmental Problems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WEBSITE SORTER</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Problem, process or connector?</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صَنِّفْ</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1 of 3</a:t>
            </a:r>
            <a:endParaRPr lang="en-US" sz="850" dirty="0"/>
          </a:p>
        </p:txBody>
      </p:sp>
      <p:sp>
        <p:nvSpPr>
          <p:cNvPr id="17" name="Shape 14"/>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بِسَبَبِ</a:t>
            </a:r>
            <a:endParaRPr lang="ar-SA" sz="1800" dirty="0"/>
          </a:p>
        </p:txBody>
      </p:sp>
      <p:sp>
        <p:nvSpPr>
          <p:cNvPr id="19" name="Shape 16"/>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تَلَوُّثُ الهَوَاءِ</a:t>
            </a:r>
            <a:endParaRPr lang="ar-SA" sz="1800" dirty="0"/>
          </a:p>
        </p:txBody>
      </p:sp>
      <p:sp>
        <p:nvSpPr>
          <p:cNvPr id="21" name="Shape 18"/>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يُلَوَّثُ الهَوَاءُ</a:t>
            </a:r>
            <a:endParaRPr lang="ar-SA" sz="1800" dirty="0"/>
          </a:p>
        </p:txBody>
      </p:sp>
      <p:sp>
        <p:nvSpPr>
          <p:cNvPr id="23" name="Shape 20"/>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يُؤَدِّي إِلَى</a:t>
            </a:r>
            <a:endParaRPr lang="ar-SA" sz="1800" dirty="0"/>
          </a:p>
        </p:txBody>
      </p:sp>
      <p:sp>
        <p:nvSpPr>
          <p:cNvPr id="25" name="Shape 22"/>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النُّفَايَاتُ البِلَاسْتِيكِيَّةُ</a:t>
            </a:r>
            <a:endParaRPr lang="ar-SA" sz="1800" dirty="0"/>
          </a:p>
        </p:txBody>
      </p:sp>
      <p:sp>
        <p:nvSpPr>
          <p:cNvPr id="27" name="Shape 24"/>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تُقْطَعُ الأَشْجَارُ</a:t>
            </a:r>
            <a:endParaRPr lang="ar-SA" sz="1800" dirty="0"/>
          </a:p>
        </p:txBody>
      </p:sp>
      <p:sp>
        <p:nvSpPr>
          <p:cNvPr id="29" name="Shape 26"/>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تَلَوُّثُ المِيَاهِ</a:t>
            </a:r>
            <a:endParaRPr lang="ar-SA" sz="1800" dirty="0"/>
          </a:p>
        </p:txBody>
      </p:sp>
      <p:sp>
        <p:nvSpPr>
          <p:cNvPr id="31" name="Shape 28"/>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نَتِيجَةً لِـ</a:t>
            </a:r>
            <a:endParaRPr lang="ar-SA" sz="1800" dirty="0"/>
          </a:p>
        </p:txBody>
      </p:sp>
      <p:sp>
        <p:nvSpPr>
          <p:cNvPr id="33" name="Shape 30"/>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تُلَوِّثُ المَصَانِعُ الهَوَاءَ</a:t>
            </a:r>
            <a:endParaRPr lang="ar-SA" sz="1800" dirty="0"/>
          </a:p>
        </p:txBody>
      </p:sp>
      <p:sp>
        <p:nvSpPr>
          <p:cNvPr id="35" name="Shape 32"/>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6" name="Shape 33"/>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7" name="Text 34"/>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 · Environmental problems</a:t>
            </a:r>
            <a:endParaRPr lang="en-US" sz="950" dirty="0"/>
          </a:p>
        </p:txBody>
      </p:sp>
      <p:sp>
        <p:nvSpPr>
          <p:cNvPr id="38" name="Shape 35"/>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9" name="Shape 36"/>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40" name="Text 37"/>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 · Active and passive processes</a:t>
            </a:r>
            <a:endParaRPr lang="en-US" sz="950" dirty="0"/>
          </a:p>
        </p:txBody>
      </p:sp>
      <p:sp>
        <p:nvSpPr>
          <p:cNvPr id="41" name="Shape 38"/>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2" name="Shape 39"/>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3" name="Text 40"/>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3 · Cause and effect</a:t>
            </a:r>
            <a:endParaRPr lang="en-US" sz="9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24 / 45</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TC-L04 · Environmental Problems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SORTER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Sorted</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1 of 3</a:t>
            </a:r>
            <a:endParaRPr lang="en-US" sz="850" dirty="0"/>
          </a:p>
        </p:txBody>
      </p:sp>
      <p:sp>
        <p:nvSpPr>
          <p:cNvPr id="17" name="Shape 14"/>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8" name="Shape 15"/>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9" name="Text 16"/>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 · Environmental problems</a:t>
            </a:r>
            <a:endParaRPr lang="en-US" sz="950" dirty="0"/>
          </a:p>
        </p:txBody>
      </p:sp>
      <p:sp>
        <p:nvSpPr>
          <p:cNvPr id="20" name="Shape 17"/>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تَلَوُّثُ الهَوَاءِ</a:t>
            </a:r>
            <a:endParaRPr lang="ar-SA" sz="1800" dirty="0"/>
          </a:p>
        </p:txBody>
      </p:sp>
      <p:sp>
        <p:nvSpPr>
          <p:cNvPr id="22" name="Shape 19"/>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النُّفَايَاتُ البِلَاسْتِيكِيَّةُ</a:t>
            </a:r>
            <a:endParaRPr lang="ar-SA" sz="1800" dirty="0"/>
          </a:p>
        </p:txBody>
      </p:sp>
      <p:sp>
        <p:nvSpPr>
          <p:cNvPr id="24" name="Shape 21"/>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تَلَوُّثُ المِيَاهِ</a:t>
            </a:r>
            <a:endParaRPr lang="ar-SA" sz="1800" dirty="0"/>
          </a:p>
        </p:txBody>
      </p:sp>
      <p:sp>
        <p:nvSpPr>
          <p:cNvPr id="26" name="Shape 23"/>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7" name="Shape 24"/>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 · Active and passive processes</a:t>
            </a:r>
            <a:endParaRPr lang="en-US" sz="950" dirty="0"/>
          </a:p>
        </p:txBody>
      </p:sp>
      <p:sp>
        <p:nvSpPr>
          <p:cNvPr id="29" name="Shape 26"/>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يُلَوَّثُ الهَوَاءُ</a:t>
            </a:r>
            <a:endParaRPr lang="ar-SA" sz="1800" dirty="0"/>
          </a:p>
        </p:txBody>
      </p:sp>
      <p:sp>
        <p:nvSpPr>
          <p:cNvPr id="31" name="Shape 28"/>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تُقْطَعُ الأَشْجَارُ</a:t>
            </a:r>
            <a:endParaRPr lang="ar-SA" sz="1800" dirty="0"/>
          </a:p>
        </p:txBody>
      </p:sp>
      <p:sp>
        <p:nvSpPr>
          <p:cNvPr id="33" name="Shape 30"/>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تُلَوِّثُ المَصَانِعُ الهَوَاءَ</a:t>
            </a:r>
            <a:endParaRPr lang="ar-SA" sz="1800" dirty="0"/>
          </a:p>
        </p:txBody>
      </p:sp>
      <p:sp>
        <p:nvSpPr>
          <p:cNvPr id="35" name="Shape 32"/>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6" name="Shape 33"/>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7" name="Text 34"/>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3 · Cause and effect</a:t>
            </a:r>
            <a:endParaRPr lang="en-US" sz="950" dirty="0"/>
          </a:p>
        </p:txBody>
      </p:sp>
      <p:sp>
        <p:nvSpPr>
          <p:cNvPr id="38" name="Shape 35"/>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بِسَبَبِ</a:t>
            </a:r>
            <a:endParaRPr lang="ar-SA" sz="1800" dirty="0"/>
          </a:p>
        </p:txBody>
      </p:sp>
      <p:sp>
        <p:nvSpPr>
          <p:cNvPr id="40" name="Shape 37"/>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يُؤَدِّي إِلَى</a:t>
            </a:r>
            <a:endParaRPr lang="ar-SA" sz="1800" dirty="0"/>
          </a:p>
        </p:txBody>
      </p:sp>
      <p:sp>
        <p:nvSpPr>
          <p:cNvPr id="42" name="Shape 39"/>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3" name="Text 40"/>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نَتِيجَةً لِـ</a:t>
            </a:r>
            <a:endParaRPr lang="ar-SA"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25 / 45</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TC-L04 · Environmental Problems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ea typeface="Calibri" pitchFamily="34" charset="-122"/>
                <a:cs typeface="Calibri" pitchFamily="34" charset="-120"/>
              </a:rPr>
              <a:t>WE DO · GUIDED PRACTICE · WEBSITE QUIZ QUESTIONS 2, 6, 7, 8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1 of 3</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passive sentence.</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تُلَوَّثُ الهَوَاءُ بِالدُّخَانِ.</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يُلَوِّثُ الهَوَاءَ بِدُخَانِ المَصَانِعِ.</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يُلَوَّثُ الهَوَاءُ بِدُخَانِ المَصَانِعِ.</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sentence links a complete cause to its consequence?</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تَرْتَفِعُ الحَرَارَةُ بِسَبَبِ يُسَبِّبُ الجَلِيدَ.</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تَرْتَفِعُ الحَرَارَةُ، مِمَّا يُسَبِّبُ ذَوَبَانَ الجَلِيدِ.</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تَرْتَفِعُ الحَرَارَةُ إِلَى مِمَّا الجَلِيدِ.</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statement about </a:t>
            </a:r>
            <a:pPr algn="l" indent="0" marL="0">
              <a:buNone/>
            </a:pPr>
            <a:r>
              <a:rPr lang="ar-SA" altLang="en-US" sz="1650" b="1" dirty="0">
                <a:solidFill>
                  <a:srgbClr val="1B3B6F"/>
                </a:solidFill>
                <a:latin typeface="Amiri" pitchFamily="34" charset="0"/>
                <a:ea typeface="Amiri" pitchFamily="34" charset="-122"/>
                <a:cs typeface="Amiri" pitchFamily="34" charset="-120"/>
              </a:rPr>
              <a:t>يَنْبَعِثُ</a:t>
            </a:r>
            <a:pPr algn="l" indent="0" marL="0">
              <a:buNone/>
            </a:pPr>
            <a:r>
              <a:rPr lang="en-US" sz="1250" b="1" dirty="0">
                <a:solidFill>
                  <a:srgbClr val="1B3B6F"/>
                </a:solidFill>
                <a:latin typeface="Calibri" pitchFamily="34" charset="0"/>
                <a:ea typeface="Calibri" pitchFamily="34" charset="-122"/>
                <a:cs typeface="Calibri" pitchFamily="34" charset="-120"/>
              </a:rPr>
              <a:t> is accurate?</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It is the regular passive of </a:t>
            </a:r>
            <a:pPr algn="l" indent="0" marL="0">
              <a:buNone/>
            </a:pPr>
            <a:r>
              <a:rPr lang="ar-SA" altLang="en-US" sz="1650" dirty="0">
                <a:solidFill>
                  <a:srgbClr val="1F2A37"/>
                </a:solidFill>
                <a:latin typeface="Amiri" pitchFamily="34" charset="0"/>
                <a:ea typeface="Amiri" pitchFamily="34" charset="-122"/>
                <a:cs typeface="Amiri" pitchFamily="34" charset="-120"/>
              </a:rPr>
              <a:t>يُلَوِّثُ</a:t>
            </a:r>
            <a:pPr algn="l" indent="0" marL="0">
              <a:buNone/>
            </a:pPr>
            <a:r>
              <a:rPr lang="en-US" sz="1250" dirty="0">
                <a:solidFill>
                  <a:srgbClr val="1F2A37"/>
                </a:solidFill>
                <a:latin typeface="Calibri" pitchFamily="34" charset="0"/>
                <a:ea typeface="Calibri" pitchFamily="34" charset="-122"/>
                <a:cs typeface="Calibri" pitchFamily="34" charset="-120"/>
              </a:rPr>
              <a:t>.</a:t>
            </a:r>
            <a:endParaRPr lang="en-US" sz="12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It is an intransitive process verb meaning “emanates/is emitted”.</a:t>
            </a:r>
            <a:endParaRPr lang="en-US" sz="12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It must always take a direct object.</a:t>
            </a:r>
            <a:endParaRPr lang="en-US" sz="12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correct cause phrase.</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نَتِيجَةُ لِحَرَقَ الوَقُودَ</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نَتِيجَةً إِلَى حَرْقُ الوَقُودِ</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نَتِيجَةً لِحَرْقِ الوَقُودِ الأُحْفُورِيِّ</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26 / 45</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TC-L04 · Environmental Problems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1 of 3</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passive sentence.</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تُلَوَّثُ الهَوَاءُ بِالدُّخَانِ.</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يُلَوِّثُ الهَوَاءَ بِدُخَانِ المَصَانِعِ.</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يُلَوَّثُ الهَوَاءُ بِدُخَانِ المَصَانِعِ.</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الهواء</a:t>
            </a:r>
            <a:pPr algn="l" indent="0" marL="0">
              <a:buNone/>
            </a:pPr>
            <a:r>
              <a:rPr lang="en-US" sz="1050" i="1" dirty="0">
                <a:solidFill>
                  <a:srgbClr val="8A6D1E"/>
                </a:solidFill>
                <a:latin typeface="Calibri" pitchFamily="34" charset="0"/>
                <a:ea typeface="Calibri" pitchFamily="34" charset="-122"/>
                <a:cs typeface="Calibri" pitchFamily="34" charset="-120"/>
              </a:rPr>
              <a:t> is masculine; the passive is </a:t>
            </a:r>
            <a:pPr algn="l" indent="0" marL="0">
              <a:buNone/>
            </a:pPr>
            <a:r>
              <a:rPr lang="ar-SA" altLang="en-US" sz="1350" dirty="0">
                <a:solidFill>
                  <a:srgbClr val="8A6D1E"/>
                </a:solidFill>
                <a:latin typeface="Amiri" pitchFamily="34" charset="0"/>
                <a:ea typeface="Amiri" pitchFamily="34" charset="-122"/>
                <a:cs typeface="Amiri" pitchFamily="34" charset="-120"/>
              </a:rPr>
              <a:t>يُلَوَّثُ</a:t>
            </a:r>
            <a:pPr algn="l" indent="0" marL="0">
              <a:buNone/>
            </a:pPr>
            <a:r>
              <a:rPr lang="en-US" sz="1050" i="1" dirty="0">
                <a:solidFill>
                  <a:srgbClr val="8A6D1E"/>
                </a:solidFill>
                <a:latin typeface="Calibri" pitchFamily="34" charset="0"/>
                <a:ea typeface="Calibri" pitchFamily="34" charset="-122"/>
                <a:cs typeface="Calibri" pitchFamily="34" charset="-120"/>
              </a:rPr>
              <a:t> and the passive subject is nominative.</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sentence links a complete cause to its consequence?</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تَرْتَفِعُ الحَرَارَةُ بِسَبَبِ يُسَبِّبُ الجَلِيدَ.</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تَرْتَفِعُ الحَرَارَةُ، مِمَّا يُسَبِّبُ ذَوَبَانَ الجَلِيدِ.</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تَرْتَفِعُ الحَرَارَةُ إِلَى مِمَّا الجَلِيدِ.</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مما يسبب</a:t>
            </a:r>
            <a:pPr algn="l" indent="0" marL="0">
              <a:buNone/>
            </a:pPr>
            <a:r>
              <a:rPr lang="en-US" sz="1050" i="1" dirty="0">
                <a:solidFill>
                  <a:srgbClr val="8A6D1E"/>
                </a:solidFill>
                <a:latin typeface="Calibri" pitchFamily="34" charset="0"/>
                <a:ea typeface="Calibri" pitchFamily="34" charset="-122"/>
                <a:cs typeface="Calibri" pitchFamily="34" charset="-120"/>
              </a:rPr>
              <a:t> refers to the whole preceding clause.</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statement about </a:t>
            </a:r>
            <a:pPr algn="l" indent="0" marL="0">
              <a:buNone/>
            </a:pPr>
            <a:r>
              <a:rPr lang="ar-SA" altLang="en-US" sz="1650" b="1" dirty="0">
                <a:solidFill>
                  <a:srgbClr val="1B3B6F"/>
                </a:solidFill>
                <a:latin typeface="Amiri" pitchFamily="34" charset="0"/>
                <a:ea typeface="Amiri" pitchFamily="34" charset="-122"/>
                <a:cs typeface="Amiri" pitchFamily="34" charset="-120"/>
              </a:rPr>
              <a:t>يَنْبَعِثُ</a:t>
            </a:r>
            <a:pPr algn="l" indent="0" marL="0">
              <a:buNone/>
            </a:pPr>
            <a:r>
              <a:rPr lang="en-US" sz="1250" b="1" dirty="0">
                <a:solidFill>
                  <a:srgbClr val="1B3B6F"/>
                </a:solidFill>
                <a:latin typeface="Calibri" pitchFamily="34" charset="0"/>
                <a:ea typeface="Calibri" pitchFamily="34" charset="-122"/>
                <a:cs typeface="Calibri" pitchFamily="34" charset="-120"/>
              </a:rPr>
              <a:t> is accurate?</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It is the regular passive of </a:t>
            </a:r>
            <a:pPr algn="l" indent="0" marL="0">
              <a:buNone/>
            </a:pPr>
            <a:r>
              <a:rPr lang="ar-SA" altLang="en-US" sz="1650" dirty="0">
                <a:solidFill>
                  <a:srgbClr val="9AA1AB"/>
                </a:solidFill>
                <a:latin typeface="Amiri" pitchFamily="34" charset="0"/>
                <a:ea typeface="Amiri" pitchFamily="34" charset="-122"/>
                <a:cs typeface="Amiri" pitchFamily="34" charset="-120"/>
              </a:rPr>
              <a:t>يُلَوِّثُ</a:t>
            </a:r>
            <a:pPr algn="l" indent="0" marL="0">
              <a:buNone/>
            </a:pPr>
            <a:r>
              <a:rPr lang="en-US" sz="1250" dirty="0">
                <a:solidFill>
                  <a:srgbClr val="9AA1AB"/>
                </a:solidFill>
                <a:latin typeface="Calibri" pitchFamily="34" charset="0"/>
                <a:ea typeface="Calibri" pitchFamily="34" charset="-122"/>
                <a:cs typeface="Calibri" pitchFamily="34" charset="-120"/>
              </a:rPr>
              <a:t>.</a:t>
            </a:r>
            <a:endParaRPr lang="en-US" sz="125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algn="l" indent="0" marL="0">
              <a:buNone/>
            </a:pPr>
            <a:r>
              <a:rPr lang="en-US" sz="1200" b="1" dirty="0">
                <a:solidFill>
                  <a:srgbClr val="1F2A37"/>
                </a:solidFill>
                <a:latin typeface="Calibri" pitchFamily="34" charset="0"/>
                <a:ea typeface="Calibri" pitchFamily="34" charset="-122"/>
                <a:cs typeface="Calibri" pitchFamily="34" charset="-120"/>
              </a:rPr>
              <a:t>It is an intransitive process verb meaning “emanates/is emitted”.</a:t>
            </a:r>
            <a:endParaRPr lang="en-US" sz="12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It must always take a direct object.</a:t>
            </a:r>
            <a:endParaRPr lang="en-US" sz="125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ينبعث</a:t>
            </a:r>
            <a:pPr algn="l" indent="0" marL="0">
              <a:buNone/>
            </a:pPr>
            <a:r>
              <a:rPr lang="en-US" sz="1050" i="1" dirty="0">
                <a:solidFill>
                  <a:srgbClr val="8A6D1E"/>
                </a:solidFill>
                <a:latin typeface="Calibri" pitchFamily="34" charset="0"/>
                <a:ea typeface="Calibri" pitchFamily="34" charset="-122"/>
                <a:cs typeface="Calibri" pitchFamily="34" charset="-120"/>
              </a:rPr>
              <a:t> is not a passive form of </a:t>
            </a:r>
            <a:pPr algn="l" indent="0" marL="0">
              <a:buNone/>
            </a:pPr>
            <a:r>
              <a:rPr lang="ar-SA" altLang="en-US" sz="1350" dirty="0">
                <a:solidFill>
                  <a:srgbClr val="8A6D1E"/>
                </a:solidFill>
                <a:latin typeface="Amiri" pitchFamily="34" charset="0"/>
                <a:ea typeface="Amiri" pitchFamily="34" charset="-122"/>
                <a:cs typeface="Amiri" pitchFamily="34" charset="-120"/>
              </a:rPr>
              <a:t>لوّث</a:t>
            </a:r>
            <a:pPr algn="l" indent="0" marL="0">
              <a:buNone/>
            </a:pPr>
            <a:r>
              <a:rPr lang="en-US" sz="1050" i="1" dirty="0">
                <a:solidFill>
                  <a:srgbClr val="8A6D1E"/>
                </a:solidFill>
                <a:latin typeface="Calibri" pitchFamily="34" charset="0"/>
                <a:ea typeface="Calibri" pitchFamily="34" charset="-122"/>
                <a:cs typeface="Calibri" pitchFamily="34" charset="-120"/>
              </a:rPr>
              <a:t>; it describes smoke or gas emanating.</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correct cause phrase.</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نَتِيجَةُ لِحَرَقَ الوَقُودَ</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نَتِيجَةً إِلَى حَرْقُ الوَقُودِ</a:t>
            </a:r>
            <a:endParaRPr lang="ar-SA" sz="170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نَتِيجَةً لِحَرْقِ الوَقُودِ الأُحْفُورِيِّ</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نتيجةً لـ</a:t>
            </a:r>
            <a:pPr algn="l" indent="0" marL="0">
              <a:buNone/>
            </a:pPr>
            <a:r>
              <a:rPr lang="en-US" sz="1050" i="1" dirty="0">
                <a:solidFill>
                  <a:srgbClr val="8A6D1E"/>
                </a:solidFill>
                <a:latin typeface="Calibri" pitchFamily="34" charset="0"/>
                <a:ea typeface="Calibri" pitchFamily="34" charset="-122"/>
                <a:cs typeface="Calibri" pitchFamily="34" charset="-120"/>
              </a:rPr>
              <a:t> is followed by a genitive noun phrase.</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27 / 45</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TC-L04 · Environmental Problems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1 of 3</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34" charset="0"/>
                <a:ea typeface="Amiri" pitchFamily="34" charset="-122"/>
                <a:cs typeface="Amiri" pitchFamily="34" charset="-120"/>
              </a:rPr>
              <a:t>يُلَوِّثُ الهَوَاءُ بِالدُّخَانِ.</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ea typeface="Calibri" pitchFamily="34" charset="-122"/>
                <a:cs typeface="Calibri" pitchFamily="34" charset="-120"/>
              </a:rPr>
              <a:t>What is wrong? Is the air doing the polluting, or being polluted?</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34" charset="0"/>
                <a:ea typeface="Amiri" pitchFamily="34" charset="-122"/>
                <a:cs typeface="Amiri" pitchFamily="34" charset="-120"/>
              </a:rPr>
              <a:t>يُؤَدِّي التَّلَوُّثُ فِي أَمْرَاضٍ.</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ea typeface="Calibri" pitchFamily="34" charset="-122"/>
                <a:cs typeface="Calibri" pitchFamily="34" charset="-120"/>
              </a:rPr>
              <a:t>What is wrong? Which preposition always follows </a:t>
            </a:r>
            <a:pPr algn="l" indent="0" marL="0">
              <a:buNone/>
            </a:pPr>
            <a:r>
              <a:rPr lang="ar-SA" altLang="en-US" sz="1700" dirty="0">
                <a:solidFill>
                  <a:srgbClr val="5A6472"/>
                </a:solidFill>
                <a:latin typeface="Amiri" pitchFamily="34" charset="0"/>
                <a:ea typeface="Amiri" pitchFamily="34" charset="-122"/>
                <a:cs typeface="Amiri" pitchFamily="34" charset="-120"/>
              </a:rPr>
              <a:t>يُؤَدِّي</a:t>
            </a:r>
            <a:pPr algn="l" indent="0" marL="0">
              <a:buNone/>
            </a:pPr>
            <a:r>
              <a:rPr lang="en-US" sz="1300" i="1" dirty="0">
                <a:solidFill>
                  <a:srgbClr val="5A6472"/>
                </a:solidFill>
                <a:latin typeface="Calibri" pitchFamily="34" charset="0"/>
                <a:ea typeface="Calibri" pitchFamily="34" charset="-122"/>
                <a:cs typeface="Calibri" pitchFamily="34" charset="-120"/>
              </a:rPr>
              <a:t>?</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34" charset="0"/>
                <a:ea typeface="Amiri" pitchFamily="34" charset="-122"/>
                <a:cs typeface="Amiri" pitchFamily="34" charset="-120"/>
              </a:rPr>
              <a:t>يُقْطَعُ الأَشْجَارُ.</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ea typeface="Calibri" pitchFamily="34" charset="-122"/>
                <a:cs typeface="Calibri" pitchFamily="34" charset="-120"/>
              </a:rPr>
              <a:t>What is wrong? Is </a:t>
            </a:r>
            <a:pPr algn="l" indent="0" marL="0">
              <a:buNone/>
            </a:pPr>
            <a:r>
              <a:rPr lang="ar-SA" altLang="en-US" sz="1700" dirty="0">
                <a:solidFill>
                  <a:srgbClr val="5A6472"/>
                </a:solidFill>
                <a:latin typeface="Amiri" pitchFamily="34" charset="0"/>
                <a:ea typeface="Amiri" pitchFamily="34" charset="-122"/>
                <a:cs typeface="Amiri" pitchFamily="34" charset="-120"/>
              </a:rPr>
              <a:t>الأَشْجَار</a:t>
            </a:r>
            <a:pPr algn="l" indent="0" marL="0">
              <a:buNone/>
            </a:pPr>
            <a:r>
              <a:rPr lang="en-US" sz="1300" i="1" dirty="0">
                <a:solidFill>
                  <a:srgbClr val="5A6472"/>
                </a:solidFill>
                <a:latin typeface="Calibri" pitchFamily="34" charset="0"/>
                <a:ea typeface="Calibri" pitchFamily="34" charset="-122"/>
                <a:cs typeface="Calibri" pitchFamily="34" charset="-120"/>
              </a:rPr>
              <a:t> treated as masculine or feminine?</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28 / 45</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TC-L04 · Environmental Problems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1 of 3</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يُلَوِّثُ الهَوَاءُ بِالدُّخَانِ.</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34" charset="0"/>
                <a:ea typeface="Amiri" pitchFamily="34" charset="-122"/>
                <a:cs typeface="Amiri" pitchFamily="34" charset="-120"/>
              </a:rPr>
              <a:t>يُلَوَّثُ الهَوَاءُ بِالدُّخَانِ.</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The passive present of </a:t>
            </a:r>
            <a:pPr algn="l" indent="0" marL="0">
              <a:buNone/>
            </a:pPr>
            <a:r>
              <a:rPr lang="ar-SA" altLang="en-US" sz="1500" b="1" dirty="0">
                <a:solidFill>
                  <a:srgbClr val="1B3B6F"/>
                </a:solidFill>
                <a:latin typeface="Amiri" pitchFamily="34" charset="0"/>
                <a:ea typeface="Amiri" pitchFamily="34" charset="-122"/>
                <a:cs typeface="Amiri" pitchFamily="34" charset="-120"/>
              </a:rPr>
              <a:t>لوّث</a:t>
            </a:r>
            <a:pPr algn="l" indent="0" marL="0">
              <a:buNone/>
            </a:pPr>
            <a:r>
              <a:rPr lang="en-US" sz="1150" b="1" dirty="0">
                <a:solidFill>
                  <a:srgbClr val="1B3B6F"/>
                </a:solidFill>
                <a:latin typeface="Calibri" pitchFamily="34" charset="0"/>
                <a:ea typeface="Calibri" pitchFamily="34" charset="-122"/>
                <a:cs typeface="Calibri" pitchFamily="34" charset="-120"/>
              </a:rPr>
              <a:t> is </a:t>
            </a:r>
            <a:pPr algn="l" indent="0" marL="0">
              <a:buNone/>
            </a:pPr>
            <a:r>
              <a:rPr lang="ar-SA" altLang="en-US" sz="1500" b="1" dirty="0">
                <a:solidFill>
                  <a:srgbClr val="1B3B6F"/>
                </a:solidFill>
                <a:latin typeface="Amiri" pitchFamily="34" charset="0"/>
                <a:ea typeface="Amiri" pitchFamily="34" charset="-122"/>
                <a:cs typeface="Amiri" pitchFamily="34" charset="-120"/>
              </a:rPr>
              <a:t>يُلَوَّثُ</a:t>
            </a:r>
            <a:pPr algn="l" indent="0" marL="0">
              <a:buNone/>
            </a:pPr>
            <a:r>
              <a:rPr lang="en-US" sz="1150" b="1" dirty="0">
                <a:solidFill>
                  <a:srgbClr val="1B3B6F"/>
                </a:solidFill>
                <a:latin typeface="Calibri" pitchFamily="34" charset="0"/>
                <a:ea typeface="Calibri" pitchFamily="34" charset="-122"/>
                <a:cs typeface="Calibri" pitchFamily="34" charset="-120"/>
              </a:rPr>
              <a:t>; the air is the passive subject.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يُؤَدِّي التَّلَوُّثُ فِي أَمْرَاضٍ.</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34" charset="0"/>
                <a:ea typeface="Amiri" pitchFamily="34" charset="-122"/>
                <a:cs typeface="Amiri" pitchFamily="34" charset="-120"/>
              </a:rPr>
              <a:t>يُؤَدِّي التَّلَوُّثُ إِلَى أَمْرَاضٍ.</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34" charset="0"/>
                <a:ea typeface="Amiri" pitchFamily="34" charset="-122"/>
                <a:cs typeface="Amiri" pitchFamily="34" charset="-120"/>
              </a:rPr>
              <a:t>يؤدي</a:t>
            </a:r>
            <a:pPr algn="l" indent="0" marL="0">
              <a:buNone/>
            </a:pPr>
            <a:r>
              <a:rPr lang="en-US" sz="1150" b="1" dirty="0">
                <a:solidFill>
                  <a:srgbClr val="1B3B6F"/>
                </a:solidFill>
                <a:latin typeface="Calibri" pitchFamily="34" charset="0"/>
                <a:ea typeface="Calibri" pitchFamily="34" charset="-122"/>
                <a:cs typeface="Calibri" pitchFamily="34" charset="-120"/>
              </a:rPr>
              <a:t> takes the preposition </a:t>
            </a:r>
            <a:pPr algn="l" indent="0" marL="0">
              <a:buNone/>
            </a:pPr>
            <a:r>
              <a:rPr lang="ar-SA" altLang="en-US" sz="1500" b="1" dirty="0">
                <a:solidFill>
                  <a:srgbClr val="1B3B6F"/>
                </a:solidFill>
                <a:latin typeface="Amiri" pitchFamily="34" charset="0"/>
                <a:ea typeface="Amiri" pitchFamily="34" charset="-122"/>
                <a:cs typeface="Amiri" pitchFamily="34" charset="-120"/>
              </a:rPr>
              <a:t>إلى</a:t>
            </a:r>
            <a:pPr algn="l" indent="0" marL="0">
              <a:buNone/>
            </a:pPr>
            <a:r>
              <a:rPr lang="en-US" sz="1150" b="1" dirty="0">
                <a:solidFill>
                  <a:srgbClr val="1B3B6F"/>
                </a:solidFill>
                <a:latin typeface="Calibri" pitchFamily="34" charset="0"/>
                <a:ea typeface="Calibri" pitchFamily="34" charset="-122"/>
                <a:cs typeface="Calibri" pitchFamily="34" charset="-120"/>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يُقْطَعُ الأَشْجَارُ.</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34" charset="0"/>
                <a:ea typeface="Amiri" pitchFamily="34" charset="-122"/>
                <a:cs typeface="Amiri" pitchFamily="34" charset="-120"/>
              </a:rPr>
              <a:t>تُقْطَعُ الأَشْجَارُ.</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34" charset="0"/>
                <a:ea typeface="Amiri" pitchFamily="34" charset="-122"/>
                <a:cs typeface="Amiri" pitchFamily="34" charset="-120"/>
              </a:rPr>
              <a:t>الأشجار</a:t>
            </a:r>
            <a:pPr algn="l" indent="0" marL="0">
              <a:buNone/>
            </a:pPr>
            <a:r>
              <a:rPr lang="en-US" sz="1150" b="1" dirty="0">
                <a:solidFill>
                  <a:srgbClr val="1B3B6F"/>
                </a:solidFill>
                <a:latin typeface="Calibri" pitchFamily="34" charset="0"/>
                <a:ea typeface="Calibri" pitchFamily="34" charset="-122"/>
                <a:cs typeface="Calibri" pitchFamily="34" charset="-120"/>
              </a:rPr>
              <a:t> is a non-human plural treated as feminine.</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29 / 45</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TC-L04 · Environmental Problems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ea typeface="Cambria" pitchFamily="34" charset="-122"/>
                <a:cs typeface="Cambria" pitchFamily="34" charset="-120"/>
              </a:rPr>
              <a:t>Listening: pollution and its consequences</a:t>
            </a:r>
            <a:endParaRPr lang="en-US" sz="23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1 of 3</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050" b="1" dirty="0">
                <a:solidFill>
                  <a:srgbClr val="1B3B6F"/>
                </a:solidFill>
                <a:latin typeface="Calibri" pitchFamily="34" charset="0"/>
                <a:ea typeface="Calibri" pitchFamily="34" charset="-122"/>
                <a:cs typeface="Calibri" pitchFamily="34" charset="-120"/>
              </a:rPr>
              <a:t>What is described as one of the city’s most serious problems?</a:t>
            </a:r>
            <a:endParaRPr lang="en-US" sz="10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Air pollution</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Lack of schools</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Cold weather</a:t>
            </a:r>
            <a:endParaRPr lang="en-US" sz="1250" dirty="0"/>
          </a:p>
        </p:txBody>
      </p:sp>
      <p:sp>
        <p:nvSpPr>
          <p:cNvPr id="28" name="Shape 25"/>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3449574"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two sources pollute the air?</a:t>
            </a:r>
            <a:endParaRPr lang="en-US" sz="1250" dirty="0"/>
          </a:p>
        </p:txBody>
      </p:sp>
      <p:sp>
        <p:nvSpPr>
          <p:cNvPr id="32" name="Shape 29"/>
          <p:cNvSpPr/>
          <p:nvPr/>
        </p:nvSpPr>
        <p:spPr>
          <a:xfrm>
            <a:off x="3504438"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Rain and wind</a:t>
            </a:r>
            <a:endParaRPr lang="en-US" sz="1250" dirty="0"/>
          </a:p>
        </p:txBody>
      </p:sp>
      <p:sp>
        <p:nvSpPr>
          <p:cNvPr id="35" name="Shape 32"/>
          <p:cNvSpPr/>
          <p:nvPr/>
        </p:nvSpPr>
        <p:spPr>
          <a:xfrm>
            <a:off x="3504438"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Farms and hospitals</a:t>
            </a:r>
            <a:endParaRPr lang="en-US" sz="1250" dirty="0"/>
          </a:p>
        </p:txBody>
      </p:sp>
      <p:sp>
        <p:nvSpPr>
          <p:cNvPr id="38" name="Shape 35"/>
          <p:cNvSpPr/>
          <p:nvPr/>
        </p:nvSpPr>
        <p:spPr>
          <a:xfrm>
            <a:off x="3504438"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Cars and factories</a:t>
            </a:r>
            <a:endParaRPr lang="en-US" sz="1250" dirty="0"/>
          </a:p>
        </p:txBody>
      </p:sp>
      <p:sp>
        <p:nvSpPr>
          <p:cNvPr id="41" name="Shape 38"/>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313932"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emanates from them?</a:t>
            </a:r>
            <a:endParaRPr lang="en-US" sz="1250" dirty="0"/>
          </a:p>
        </p:txBody>
      </p:sp>
      <p:sp>
        <p:nvSpPr>
          <p:cNvPr id="45" name="Shape 42"/>
          <p:cNvSpPr/>
          <p:nvPr/>
        </p:nvSpPr>
        <p:spPr>
          <a:xfrm>
            <a:off x="6368796"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Fresh water</a:t>
            </a:r>
            <a:endParaRPr lang="en-US" sz="1250" dirty="0"/>
          </a:p>
        </p:txBody>
      </p:sp>
      <p:sp>
        <p:nvSpPr>
          <p:cNvPr id="48" name="Shape 45"/>
          <p:cNvSpPr/>
          <p:nvPr/>
        </p:nvSpPr>
        <p:spPr>
          <a:xfrm>
            <a:off x="6368796"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Snow</a:t>
            </a:r>
            <a:endParaRPr lang="en-US" sz="1250" dirty="0"/>
          </a:p>
        </p:txBody>
      </p:sp>
      <p:sp>
        <p:nvSpPr>
          <p:cNvPr id="51" name="Shape 48"/>
          <p:cNvSpPr/>
          <p:nvPr/>
        </p:nvSpPr>
        <p:spPr>
          <a:xfrm>
            <a:off x="6368796"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Thick smoke</a:t>
            </a:r>
            <a:endParaRPr lang="en-US" sz="1250" dirty="0"/>
          </a:p>
        </p:txBody>
      </p:sp>
      <p:sp>
        <p:nvSpPr>
          <p:cNvPr id="54" name="Shape 51"/>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9178290" y="1947672"/>
            <a:ext cx="310896" cy="310896"/>
          </a:xfrm>
          <a:prstGeom prst="ellipse">
            <a:avLst/>
          </a:prstGeom>
          <a:solidFill>
            <a:srgbClr val="1B3B6F"/>
          </a:solidFill>
          <a:ln w="12700">
            <a:solidFill>
              <a:srgbClr val="1B3B6F"/>
            </a:solidFill>
            <a:prstDash val="solid"/>
          </a:ln>
        </p:spPr>
      </p:sp>
      <p:sp>
        <p:nvSpPr>
          <p:cNvPr id="56" name="Text 53"/>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health effect increases?</a:t>
            </a:r>
            <a:endParaRPr lang="en-US" sz="1250" dirty="0"/>
          </a:p>
        </p:txBody>
      </p:sp>
      <p:sp>
        <p:nvSpPr>
          <p:cNvPr id="58" name="Shape 55"/>
          <p:cNvSpPr/>
          <p:nvPr/>
        </p:nvSpPr>
        <p:spPr>
          <a:xfrm>
            <a:off x="9233154" y="2532888"/>
            <a:ext cx="256032" cy="256032"/>
          </a:xfrm>
          <a:prstGeom prst="ellipse">
            <a:avLst/>
          </a:prstGeom>
          <a:solidFill>
            <a:srgbClr val="F4F1EA"/>
          </a:solidFill>
          <a:ln w="12700">
            <a:solidFill>
              <a:srgbClr val="F4F1EA"/>
            </a:solidFill>
            <a:prstDash val="solid"/>
          </a:ln>
        </p:spPr>
      </p:sp>
      <p:sp>
        <p:nvSpPr>
          <p:cNvPr id="59" name="Text 56"/>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Respiratory illnesses</a:t>
            </a:r>
            <a:endParaRPr lang="en-US" sz="1250" dirty="0"/>
          </a:p>
        </p:txBody>
      </p:sp>
      <p:sp>
        <p:nvSpPr>
          <p:cNvPr id="61" name="Shape 58"/>
          <p:cNvSpPr/>
          <p:nvPr/>
        </p:nvSpPr>
        <p:spPr>
          <a:xfrm>
            <a:off x="9233154" y="2990088"/>
            <a:ext cx="256032" cy="256032"/>
          </a:xfrm>
          <a:prstGeom prst="ellipse">
            <a:avLst/>
          </a:prstGeom>
          <a:solidFill>
            <a:srgbClr val="F4F1EA"/>
          </a:solidFill>
          <a:ln w="12700">
            <a:solidFill>
              <a:srgbClr val="F4F1EA"/>
            </a:solidFill>
            <a:prstDash val="solid"/>
          </a:ln>
        </p:spPr>
      </p:sp>
      <p:sp>
        <p:nvSpPr>
          <p:cNvPr id="62" name="Text 59"/>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Broken bones</a:t>
            </a:r>
            <a:endParaRPr lang="en-US" sz="1250" dirty="0"/>
          </a:p>
        </p:txBody>
      </p:sp>
      <p:sp>
        <p:nvSpPr>
          <p:cNvPr id="64" name="Shape 61"/>
          <p:cNvSpPr/>
          <p:nvPr/>
        </p:nvSpPr>
        <p:spPr>
          <a:xfrm>
            <a:off x="9233154" y="3447288"/>
            <a:ext cx="256032" cy="256032"/>
          </a:xfrm>
          <a:prstGeom prst="ellipse">
            <a:avLst/>
          </a:prstGeom>
          <a:solidFill>
            <a:srgbClr val="F4F1EA"/>
          </a:solidFill>
          <a:ln w="12700">
            <a:solidFill>
              <a:srgbClr val="F4F1EA"/>
            </a:solidFill>
            <a:prstDash val="solid"/>
          </a:ln>
        </p:spPr>
      </p:sp>
      <p:sp>
        <p:nvSpPr>
          <p:cNvPr id="65" name="Text 62"/>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Food allergies</a:t>
            </a:r>
            <a:endParaRPr lang="en-US" sz="1250" dirty="0"/>
          </a:p>
        </p:txBody>
      </p:sp>
      <p:sp>
        <p:nvSpPr>
          <p:cNvPr id="67" name="Shape 6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585216"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Where is plastic waste thrown?</a:t>
            </a:r>
            <a:endParaRPr lang="en-US" sz="1250" dirty="0"/>
          </a:p>
        </p:txBody>
      </p:sp>
      <p:sp>
        <p:nvSpPr>
          <p:cNvPr id="71" name="Shape 68"/>
          <p:cNvSpPr/>
          <p:nvPr/>
        </p:nvSpPr>
        <p:spPr>
          <a:xfrm>
            <a:off x="640080"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In a recycling centre</a:t>
            </a:r>
            <a:endParaRPr lang="en-US" sz="1250" dirty="0"/>
          </a:p>
        </p:txBody>
      </p:sp>
      <p:sp>
        <p:nvSpPr>
          <p:cNvPr id="74" name="Shape 71"/>
          <p:cNvSpPr/>
          <p:nvPr/>
        </p:nvSpPr>
        <p:spPr>
          <a:xfrm>
            <a:off x="640080"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In the river</a:t>
            </a:r>
            <a:endParaRPr lang="en-US" sz="1250" dirty="0"/>
          </a:p>
        </p:txBody>
      </p:sp>
      <p:sp>
        <p:nvSpPr>
          <p:cNvPr id="77" name="Shape 74"/>
          <p:cNvSpPr/>
          <p:nvPr/>
        </p:nvSpPr>
        <p:spPr>
          <a:xfrm>
            <a:off x="640080"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In the mountains</a:t>
            </a:r>
            <a:endParaRPr lang="en-US" sz="1250" dirty="0"/>
          </a:p>
        </p:txBody>
      </p:sp>
      <p:sp>
        <p:nvSpPr>
          <p:cNvPr id="80" name="Shape 7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3449574" y="4288536"/>
            <a:ext cx="310896" cy="310896"/>
          </a:xfrm>
          <a:prstGeom prst="ellipse">
            <a:avLst/>
          </a:prstGeom>
          <a:solidFill>
            <a:srgbClr val="1B3B6F"/>
          </a:solidFill>
          <a:ln w="12700">
            <a:solidFill>
              <a:srgbClr val="1B3B6F"/>
            </a:solidFill>
            <a:prstDash val="solid"/>
          </a:ln>
        </p:spPr>
      </p:sp>
      <p:sp>
        <p:nvSpPr>
          <p:cNvPr id="82" name="Text 7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83" name="Text 8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ea typeface="Calibri" pitchFamily="34" charset="-122"/>
                <a:cs typeface="Calibri" pitchFamily="34" charset="-120"/>
              </a:rPr>
              <a:t>What are the two water-related consequences?</a:t>
            </a:r>
            <a:endParaRPr lang="en-US" sz="1100" dirty="0"/>
          </a:p>
        </p:txBody>
      </p:sp>
      <p:sp>
        <p:nvSpPr>
          <p:cNvPr id="84" name="Shape 81"/>
          <p:cNvSpPr/>
          <p:nvPr/>
        </p:nvSpPr>
        <p:spPr>
          <a:xfrm>
            <a:off x="3504438" y="4873752"/>
            <a:ext cx="256032" cy="256032"/>
          </a:xfrm>
          <a:prstGeom prst="ellipse">
            <a:avLst/>
          </a:prstGeom>
          <a:solidFill>
            <a:srgbClr val="F4F1EA"/>
          </a:solidFill>
          <a:ln w="12700">
            <a:solidFill>
              <a:srgbClr val="F4F1EA"/>
            </a:solidFill>
            <a:prstDash val="solid"/>
          </a:ln>
        </p:spPr>
      </p:sp>
      <p:sp>
        <p:nvSpPr>
          <p:cNvPr id="85" name="Text 82"/>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86" name="Text 83"/>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Water pollution and the death of some fish</a:t>
            </a:r>
            <a:endParaRPr lang="en-US" sz="1250" dirty="0"/>
          </a:p>
        </p:txBody>
      </p:sp>
      <p:sp>
        <p:nvSpPr>
          <p:cNvPr id="87" name="Shape 84"/>
          <p:cNvSpPr/>
          <p:nvPr/>
        </p:nvSpPr>
        <p:spPr>
          <a:xfrm>
            <a:off x="3504438" y="53309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9" name="Text 86"/>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More drinking water and cleaner beaches</a:t>
            </a:r>
            <a:endParaRPr lang="en-US" sz="1250" dirty="0"/>
          </a:p>
        </p:txBody>
      </p:sp>
      <p:sp>
        <p:nvSpPr>
          <p:cNvPr id="90" name="Shape 87"/>
          <p:cNvSpPr/>
          <p:nvPr/>
        </p:nvSpPr>
        <p:spPr>
          <a:xfrm>
            <a:off x="3504438" y="57881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92" name="Text 89"/>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Lower sea levels and more forests</a:t>
            </a:r>
            <a:endParaRPr lang="en-US" sz="1250" dirty="0"/>
          </a:p>
        </p:txBody>
      </p:sp>
      <p:sp>
        <p:nvSpPr>
          <p:cNvPr id="93" name="Shape 90"/>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4" name="Shape 91"/>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95" name="Text 92"/>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96" name="Text 93"/>
          <p:cNvSpPr txBox="1"/>
          <p:nvPr/>
        </p:nvSpPr>
        <p:spPr>
          <a:xfrm>
            <a:off x="6387084" y="4791456"/>
            <a:ext cx="2315718"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ea typeface="Calibri" pitchFamily="34" charset="-122"/>
                <a:cs typeface="Calibri" pitchFamily="34" charset="-120"/>
              </a:rPr>
              <a:t>Listen twice. Core: questions 1, 2 and 5 — listen for </a:t>
            </a:r>
            <a:pPr algn="l" indent="0" marL="0">
              <a:buNone/>
            </a:pPr>
            <a:r>
              <a:rPr lang="ar-SA" altLang="en-US" sz="1650" dirty="0">
                <a:solidFill>
                  <a:srgbClr val="1E6B52"/>
                </a:solidFill>
                <a:latin typeface="Amiri" pitchFamily="34" charset="0"/>
                <a:ea typeface="Amiri" pitchFamily="34" charset="-122"/>
                <a:cs typeface="Amiri" pitchFamily="34" charset="-120"/>
              </a:rPr>
              <a:t>تَلَوُّثُ الهَوَاءِ</a:t>
            </a:r>
            <a:pPr algn="l" indent="0" marL="0">
              <a:buNone/>
            </a:pPr>
            <a:r>
              <a:rPr lang="en-US" sz="1250" dirty="0">
                <a:solidFill>
                  <a:srgbClr val="1E6B52"/>
                </a:solidFill>
                <a:latin typeface="Calibri" pitchFamily="34" charset="0"/>
                <a:ea typeface="Calibri" pitchFamily="34" charset="-122"/>
                <a:cs typeface="Calibri" pitchFamily="34" charset="-120"/>
              </a:rPr>
              <a:t>, </a:t>
            </a:r>
            <a:pPr algn="l" indent="0" marL="0">
              <a:buNone/>
            </a:pPr>
            <a:r>
              <a:rPr lang="ar-SA" altLang="en-US" sz="1650" dirty="0">
                <a:solidFill>
                  <a:srgbClr val="1E6B52"/>
                </a:solidFill>
                <a:latin typeface="Amiri" pitchFamily="34" charset="0"/>
                <a:ea typeface="Amiri" pitchFamily="34" charset="-122"/>
                <a:cs typeface="Amiri" pitchFamily="34" charset="-120"/>
              </a:rPr>
              <a:t>السَّيَّارَاتُ وَالمَصَانِعُ</a:t>
            </a:r>
            <a:pPr algn="l" indent="0" marL="0">
              <a:buNone/>
            </a:pPr>
            <a:r>
              <a:rPr lang="en-US" sz="1250" dirty="0">
                <a:solidFill>
                  <a:srgbClr val="1E6B52"/>
                </a:solidFill>
                <a:latin typeface="Calibri" pitchFamily="34" charset="0"/>
                <a:ea typeface="Calibri" pitchFamily="34" charset="-122"/>
                <a:cs typeface="Calibri" pitchFamily="34" charset="-120"/>
              </a:rPr>
              <a:t> and </a:t>
            </a:r>
            <a:pPr algn="l" indent="0" marL="0">
              <a:buNone/>
            </a:pPr>
            <a:r>
              <a:rPr lang="ar-SA" altLang="en-US" sz="1650" dirty="0">
                <a:solidFill>
                  <a:srgbClr val="1E6B52"/>
                </a:solidFill>
                <a:latin typeface="Amiri" pitchFamily="34" charset="0"/>
                <a:ea typeface="Amiri" pitchFamily="34" charset="-122"/>
                <a:cs typeface="Amiri" pitchFamily="34" charset="-120"/>
              </a:rPr>
              <a:t>النَّهْرِ</a:t>
            </a:r>
            <a:pPr algn="l" indent="0" marL="0">
              <a:buNone/>
            </a:pPr>
            <a:r>
              <a:rPr lang="en-US" sz="1250" dirty="0">
                <a:solidFill>
                  <a:srgbClr val="1E6B52"/>
                </a:solidFill>
                <a:latin typeface="Calibri" pitchFamily="34" charset="0"/>
                <a:ea typeface="Calibri" pitchFamily="34" charset="-122"/>
                <a:cs typeface="Calibri" pitchFamily="34" charset="-120"/>
              </a:rPr>
              <a:t> (river).</a:t>
            </a:r>
            <a:endParaRPr lang="en-US" sz="1250" dirty="0"/>
          </a:p>
        </p:txBody>
      </p:sp>
      <p:sp>
        <p:nvSpPr>
          <p:cNvPr id="97" name="Text 9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30 / 45</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TC-L04 · Environmental Problems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ea typeface="Cambria" pitchFamily="34" charset="-122"/>
                <a:cs typeface="Cambria" pitchFamily="34" charset="-120"/>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1 of 3</a:t>
            </a:r>
            <a:endParaRPr lang="en-US" sz="850" dirty="0"/>
          </a:p>
        </p:txBody>
      </p:sp>
      <p:sp>
        <p:nvSpPr>
          <p:cNvPr id="15" name="Shape 12"/>
          <p:cNvSpPr/>
          <p:nvPr/>
        </p:nvSpPr>
        <p:spPr>
          <a:xfrm>
            <a:off x="457200" y="1810512"/>
            <a:ext cx="11274552" cy="1069848"/>
          </a:xfrm>
          <a:prstGeom prst="roundRect">
            <a:avLst>
              <a:gd name="adj" fmla="val 4274"/>
            </a:avLst>
          </a:prstGeom>
          <a:solidFill>
            <a:srgbClr val="FFFFFF"/>
          </a:solidFill>
          <a:ln w="9525">
            <a:solidFill>
              <a:srgbClr val="D8D0BF"/>
            </a:solidFill>
            <a:prstDash val="solid"/>
          </a:ln>
        </p:spPr>
      </p:sp>
      <p:sp>
        <p:nvSpPr>
          <p:cNvPr id="16" name="Text 13"/>
          <p:cNvSpPr txBox="1"/>
          <p:nvPr/>
        </p:nvSpPr>
        <p:spPr>
          <a:xfrm>
            <a:off x="4937760" y="1828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يُعَدُّ تَلَوُّثُ الهَوَاءِ مِنْ أَخْطَرِ المُشْكِلَاتِ فِي المَدِينَةِ.</a:t>
            </a:r>
            <a:endParaRPr lang="ar-SA" sz="2000" dirty="0"/>
          </a:p>
        </p:txBody>
      </p:sp>
      <p:sp>
        <p:nvSpPr>
          <p:cNvPr id="17" name="Text 14"/>
          <p:cNvSpPr txBox="1"/>
          <p:nvPr/>
        </p:nvSpPr>
        <p:spPr>
          <a:xfrm>
            <a:off x="640080" y="1828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Air pollution is considered one of the most serious problems in the city.</a:t>
            </a:r>
            <a:endParaRPr lang="en-US" sz="1250" dirty="0"/>
          </a:p>
        </p:txBody>
      </p:sp>
      <p:sp>
        <p:nvSpPr>
          <p:cNvPr id="18" name="Shape 15"/>
          <p:cNvSpPr/>
          <p:nvPr/>
        </p:nvSpPr>
        <p:spPr>
          <a:xfrm>
            <a:off x="457200" y="2953512"/>
            <a:ext cx="11274552" cy="1069848"/>
          </a:xfrm>
          <a:prstGeom prst="roundRect">
            <a:avLst>
              <a:gd name="adj" fmla="val 4274"/>
            </a:avLst>
          </a:prstGeom>
          <a:solidFill>
            <a:srgbClr val="F4F1EA"/>
          </a:solidFill>
          <a:ln w="9525">
            <a:solidFill>
              <a:srgbClr val="D8D0BF"/>
            </a:solidFill>
            <a:prstDash val="solid"/>
          </a:ln>
        </p:spPr>
      </p:sp>
      <p:sp>
        <p:nvSpPr>
          <p:cNvPr id="19" name="Text 16"/>
          <p:cNvSpPr txBox="1"/>
          <p:nvPr/>
        </p:nvSpPr>
        <p:spPr>
          <a:xfrm>
            <a:off x="4937760" y="2971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تُلَوِّثُ السَّيَّارَاتُ وَالمَصَانِعُ الهَوَاءَ، وَيَنْبَعِثُ مِنْهَا دُخَانٌ كَثِيفٌ.</a:t>
            </a:r>
            <a:endParaRPr lang="ar-SA" sz="2000" dirty="0"/>
          </a:p>
        </p:txBody>
      </p:sp>
      <p:sp>
        <p:nvSpPr>
          <p:cNvPr id="20" name="Text 17"/>
          <p:cNvSpPr txBox="1"/>
          <p:nvPr/>
        </p:nvSpPr>
        <p:spPr>
          <a:xfrm>
            <a:off x="640080" y="2971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Cars and factories pollute the air, and thick smoke comes out of them.</a:t>
            </a:r>
            <a:endParaRPr lang="en-US" sz="1250" dirty="0"/>
          </a:p>
        </p:txBody>
      </p:sp>
      <p:sp>
        <p:nvSpPr>
          <p:cNvPr id="21" name="Shape 18"/>
          <p:cNvSpPr/>
          <p:nvPr/>
        </p:nvSpPr>
        <p:spPr>
          <a:xfrm>
            <a:off x="457200" y="4096512"/>
            <a:ext cx="11274552" cy="1069848"/>
          </a:xfrm>
          <a:prstGeom prst="roundRect">
            <a:avLst>
              <a:gd name="adj" fmla="val 4274"/>
            </a:avLst>
          </a:prstGeom>
          <a:solidFill>
            <a:srgbClr val="FFFFFF"/>
          </a:solidFill>
          <a:ln w="9525">
            <a:solidFill>
              <a:srgbClr val="D8D0BF"/>
            </a:solidFill>
            <a:prstDash val="solid"/>
          </a:ln>
        </p:spPr>
      </p:sp>
      <p:sp>
        <p:nvSpPr>
          <p:cNvPr id="22" name="Text 19"/>
          <p:cNvSpPr txBox="1"/>
          <p:nvPr/>
        </p:nvSpPr>
        <p:spPr>
          <a:xfrm>
            <a:off x="4937760" y="4114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نَتِيجَةً لِذٰلِكَ، تَزْدَادُ أَمْرَاضُ التَّنَفُّسِ.</a:t>
            </a:r>
            <a:endParaRPr lang="ar-SA" sz="2000" dirty="0"/>
          </a:p>
        </p:txBody>
      </p:sp>
      <p:sp>
        <p:nvSpPr>
          <p:cNvPr id="23" name="Text 20"/>
          <p:cNvSpPr txBox="1"/>
          <p:nvPr/>
        </p:nvSpPr>
        <p:spPr>
          <a:xfrm>
            <a:off x="640080" y="4114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As a result, breathing (respiratory) illnesses increase.</a:t>
            </a:r>
            <a:endParaRPr lang="en-US" sz="1250" dirty="0"/>
          </a:p>
        </p:txBody>
      </p:sp>
      <p:sp>
        <p:nvSpPr>
          <p:cNvPr id="24" name="Shape 21"/>
          <p:cNvSpPr/>
          <p:nvPr/>
        </p:nvSpPr>
        <p:spPr>
          <a:xfrm>
            <a:off x="457200" y="5239512"/>
            <a:ext cx="11274552" cy="1069848"/>
          </a:xfrm>
          <a:prstGeom prst="roundRect">
            <a:avLst>
              <a:gd name="adj" fmla="val 4274"/>
            </a:avLst>
          </a:prstGeom>
          <a:solidFill>
            <a:srgbClr val="F4F1EA"/>
          </a:solidFill>
          <a:ln w="9525">
            <a:solidFill>
              <a:srgbClr val="D8D0BF"/>
            </a:solidFill>
            <a:prstDash val="solid"/>
          </a:ln>
        </p:spPr>
      </p:sp>
      <p:sp>
        <p:nvSpPr>
          <p:cNvPr id="25" name="Text 22"/>
          <p:cNvSpPr txBox="1"/>
          <p:nvPr/>
        </p:nvSpPr>
        <p:spPr>
          <a:xfrm>
            <a:off x="4937760" y="5257800"/>
            <a:ext cx="6675120" cy="1033272"/>
          </a:xfrm>
          <a:prstGeom prst="rect">
            <a:avLst/>
          </a:prstGeom>
          <a:noFill/>
          <a:ln/>
        </p:spPr>
        <p:txBody>
          <a:bodyPr wrap="square" lIns="0" tIns="0" rIns="0" bIns="0" rtlCol="0" anchor="ctr"/>
          <a:lstStyle/>
          <a:p>
            <a:pPr rtl="1" algn="r" indent="0" marL="0">
              <a:lnSpc>
                <a:spcPct val="120000"/>
              </a:lnSpc>
              <a:buNone/>
            </a:pPr>
            <a:r>
              <a:rPr lang="ar-SA" altLang="en-US" sz="2000" b="1" dirty="0">
                <a:solidFill>
                  <a:srgbClr val="1B3B6F"/>
                </a:solidFill>
                <a:latin typeface="Amiri" pitchFamily="34" charset="0"/>
                <a:ea typeface="Amiri" pitchFamily="34" charset="-122"/>
                <a:cs typeface="Amiri" pitchFamily="34" charset="-120"/>
              </a:rPr>
              <a:t>كَمَا تُرْمَى نُفَايَاتٌ بِلَاسْتِيكِيَّةٌ فِي النَّهْرِ، مِمَّا يُؤَدِّي إِلَى تَلَوُّثِ المِيَاهِ وَنُفُوقِ بَعْضِ الأَسْمَاكِ.</a:t>
            </a:r>
            <a:endParaRPr lang="ar-SA" sz="2000" dirty="0"/>
          </a:p>
        </p:txBody>
      </p:sp>
      <p:sp>
        <p:nvSpPr>
          <p:cNvPr id="26" name="Text 23"/>
          <p:cNvSpPr txBox="1"/>
          <p:nvPr/>
        </p:nvSpPr>
        <p:spPr>
          <a:xfrm>
            <a:off x="640080" y="5257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Plastic waste is also thrown into the river, which leads to water pollution and the death of some fish.</a:t>
            </a:r>
            <a:endParaRPr lang="en-US" sz="125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31 / 45</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TC-L04 · Environmental Problems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1 of 3</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050" b="1" dirty="0">
                <a:solidFill>
                  <a:srgbClr val="1B3B6F"/>
                </a:solidFill>
                <a:latin typeface="Calibri" pitchFamily="34" charset="0"/>
                <a:ea typeface="Calibri" pitchFamily="34" charset="-122"/>
                <a:cs typeface="Calibri" pitchFamily="34" charset="-120"/>
              </a:rPr>
              <a:t>What is described as one of the city’s most serious problems?</a:t>
            </a:r>
            <a:endParaRPr lang="en-US" sz="1050" dirty="0"/>
          </a:p>
        </p:txBody>
      </p:sp>
      <p:sp>
        <p:nvSpPr>
          <p:cNvPr id="19" name="Shape 16"/>
          <p:cNvSpPr/>
          <p:nvPr/>
        </p:nvSpPr>
        <p:spPr>
          <a:xfrm>
            <a:off x="548640" y="2453640"/>
            <a:ext cx="2498598"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Air pollution</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Lack of schools</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Cold weather</a:t>
            </a:r>
            <a:endParaRPr lang="en-US" sz="1250" dirty="0"/>
          </a:p>
        </p:txBody>
      </p:sp>
      <p:sp>
        <p:nvSpPr>
          <p:cNvPr id="29" name="Text 26"/>
          <p:cNvSpPr txBox="1"/>
          <p:nvPr/>
        </p:nvSpPr>
        <p:spPr>
          <a:xfrm>
            <a:off x="585216" y="3566160"/>
            <a:ext cx="2425446"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تلوث الهواء</a:t>
            </a:r>
            <a:pPr algn="l" indent="0" marL="0">
              <a:buNone/>
            </a:pPr>
            <a:r>
              <a:rPr lang="en-US" sz="1050" i="1" dirty="0">
                <a:solidFill>
                  <a:srgbClr val="8A6D1E"/>
                </a:solidFill>
                <a:latin typeface="Calibri" pitchFamily="34" charset="0"/>
                <a:ea typeface="Calibri" pitchFamily="34" charset="-122"/>
                <a:cs typeface="Calibri" pitchFamily="34" charset="-120"/>
              </a:rPr>
              <a:t> is named.</a:t>
            </a:r>
            <a:endParaRPr lang="en-US" sz="10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two sources pollute the air?</a:t>
            </a:r>
            <a:endParaRPr lang="en-US" sz="1250" dirty="0"/>
          </a:p>
        </p:txBody>
      </p:sp>
      <p:sp>
        <p:nvSpPr>
          <p:cNvPr id="34" name="Shape 31"/>
          <p:cNvSpPr/>
          <p:nvPr/>
        </p:nvSpPr>
        <p:spPr>
          <a:xfrm>
            <a:off x="3504438"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Rain and wind</a:t>
            </a:r>
            <a:endParaRPr lang="en-US" sz="1250" dirty="0"/>
          </a:p>
        </p:txBody>
      </p:sp>
      <p:sp>
        <p:nvSpPr>
          <p:cNvPr id="37" name="Shape 34"/>
          <p:cNvSpPr/>
          <p:nvPr/>
        </p:nvSpPr>
        <p:spPr>
          <a:xfrm>
            <a:off x="3504438"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Farms and hospitals</a:t>
            </a:r>
            <a:endParaRPr lang="en-US" sz="1250" dirty="0"/>
          </a:p>
        </p:txBody>
      </p:sp>
      <p:sp>
        <p:nvSpPr>
          <p:cNvPr id="40" name="Shape 37"/>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3504438"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Cars and factories</a:t>
            </a:r>
            <a:endParaRPr lang="en-US" sz="1250" dirty="0"/>
          </a:p>
        </p:txBody>
      </p:sp>
      <p:sp>
        <p:nvSpPr>
          <p:cNvPr id="44" name="Text 41"/>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السيارات والمصانع.</a:t>
            </a:r>
            <a:endParaRPr lang="ar-SA" sz="1350" dirty="0"/>
          </a:p>
        </p:txBody>
      </p:sp>
      <p:sp>
        <p:nvSpPr>
          <p:cNvPr id="45" name="Shape 42"/>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6313932"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emanates from them?</a:t>
            </a:r>
            <a:endParaRPr lang="en-US" sz="1250" dirty="0"/>
          </a:p>
        </p:txBody>
      </p:sp>
      <p:sp>
        <p:nvSpPr>
          <p:cNvPr id="49" name="Shape 46"/>
          <p:cNvSpPr/>
          <p:nvPr/>
        </p:nvSpPr>
        <p:spPr>
          <a:xfrm>
            <a:off x="6368796"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Fresh water</a:t>
            </a:r>
            <a:endParaRPr lang="en-US" sz="1250" dirty="0"/>
          </a:p>
        </p:txBody>
      </p:sp>
      <p:sp>
        <p:nvSpPr>
          <p:cNvPr id="52" name="Shape 49"/>
          <p:cNvSpPr/>
          <p:nvPr/>
        </p:nvSpPr>
        <p:spPr>
          <a:xfrm>
            <a:off x="6368796"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4" name="Text 51"/>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Snow</a:t>
            </a:r>
            <a:endParaRPr lang="en-US" sz="1250" dirty="0"/>
          </a:p>
        </p:txBody>
      </p:sp>
      <p:sp>
        <p:nvSpPr>
          <p:cNvPr id="55" name="Shape 52"/>
          <p:cNvSpPr/>
          <p:nvPr/>
        </p:nvSpPr>
        <p:spPr>
          <a:xfrm>
            <a:off x="6277356" y="3197352"/>
            <a:ext cx="2498598"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368796"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Thick smoke</a:t>
            </a:r>
            <a:endParaRPr lang="en-US" sz="1250" dirty="0"/>
          </a:p>
        </p:txBody>
      </p:sp>
      <p:sp>
        <p:nvSpPr>
          <p:cNvPr id="59" name="Text 56"/>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دخان كثيف.</a:t>
            </a:r>
            <a:endParaRPr lang="ar-SA" sz="1350" dirty="0"/>
          </a:p>
        </p:txBody>
      </p:sp>
      <p:sp>
        <p:nvSpPr>
          <p:cNvPr id="60" name="Shape 57"/>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9178290" y="1947672"/>
            <a:ext cx="310896" cy="310896"/>
          </a:xfrm>
          <a:prstGeom prst="ellipse">
            <a:avLst/>
          </a:prstGeom>
          <a:solidFill>
            <a:srgbClr val="1B3B6F"/>
          </a:solidFill>
          <a:ln w="12700">
            <a:solidFill>
              <a:srgbClr val="1B3B6F"/>
            </a:solidFill>
            <a:prstDash val="solid"/>
          </a:ln>
        </p:spPr>
      </p:sp>
      <p:sp>
        <p:nvSpPr>
          <p:cNvPr id="62" name="Text 59"/>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health effect increases?</a:t>
            </a:r>
            <a:endParaRPr lang="en-US" sz="1250" dirty="0"/>
          </a:p>
        </p:txBody>
      </p:sp>
      <p:sp>
        <p:nvSpPr>
          <p:cNvPr id="64" name="Shape 61"/>
          <p:cNvSpPr/>
          <p:nvPr/>
        </p:nvSpPr>
        <p:spPr>
          <a:xfrm>
            <a:off x="9141714" y="2453640"/>
            <a:ext cx="2498598"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9233154" y="2490216"/>
            <a:ext cx="256032" cy="256032"/>
          </a:xfrm>
          <a:prstGeom prst="ellipse">
            <a:avLst/>
          </a:prstGeom>
          <a:solidFill>
            <a:srgbClr val="2E8B57"/>
          </a:solidFill>
          <a:ln w="12700">
            <a:solidFill>
              <a:srgbClr val="2E8B57"/>
            </a:solidFill>
            <a:prstDash val="solid"/>
          </a:ln>
        </p:spPr>
      </p:sp>
      <p:sp>
        <p:nvSpPr>
          <p:cNvPr id="66" name="Text 63"/>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67" name="Text 64"/>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Respiratory illnesses</a:t>
            </a:r>
            <a:endParaRPr lang="en-US" sz="1250" dirty="0"/>
          </a:p>
        </p:txBody>
      </p:sp>
      <p:sp>
        <p:nvSpPr>
          <p:cNvPr id="68" name="Shape 65"/>
          <p:cNvSpPr/>
          <p:nvPr/>
        </p:nvSpPr>
        <p:spPr>
          <a:xfrm>
            <a:off x="9233154" y="2862072"/>
            <a:ext cx="256032" cy="256032"/>
          </a:xfrm>
          <a:prstGeom prst="ellipse">
            <a:avLst/>
          </a:prstGeom>
          <a:solidFill>
            <a:srgbClr val="C9CED6"/>
          </a:solidFill>
          <a:ln w="12700">
            <a:solidFill>
              <a:srgbClr val="C9CED6"/>
            </a:solidFill>
            <a:prstDash val="solid"/>
          </a:ln>
        </p:spPr>
      </p:sp>
      <p:sp>
        <p:nvSpPr>
          <p:cNvPr id="69" name="Text 66"/>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Broken bones</a:t>
            </a:r>
            <a:endParaRPr lang="en-US" sz="1250" dirty="0"/>
          </a:p>
        </p:txBody>
      </p:sp>
      <p:sp>
        <p:nvSpPr>
          <p:cNvPr id="71" name="Shape 68"/>
          <p:cNvSpPr/>
          <p:nvPr/>
        </p:nvSpPr>
        <p:spPr>
          <a:xfrm>
            <a:off x="9233154" y="3233928"/>
            <a:ext cx="256032" cy="256032"/>
          </a:xfrm>
          <a:prstGeom prst="ellipse">
            <a:avLst/>
          </a:prstGeom>
          <a:solidFill>
            <a:srgbClr val="C9CED6"/>
          </a:solidFill>
          <a:ln w="12700">
            <a:solidFill>
              <a:srgbClr val="C9CED6"/>
            </a:solidFill>
            <a:prstDash val="solid"/>
          </a:ln>
        </p:spPr>
      </p:sp>
      <p:sp>
        <p:nvSpPr>
          <p:cNvPr id="72" name="Text 69"/>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Food allergies</a:t>
            </a:r>
            <a:endParaRPr lang="en-US" sz="1250" dirty="0"/>
          </a:p>
        </p:txBody>
      </p:sp>
      <p:sp>
        <p:nvSpPr>
          <p:cNvPr id="74" name="Text 71"/>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أمراض التنفس.</a:t>
            </a:r>
            <a:endParaRPr lang="ar-SA" sz="1350" dirty="0"/>
          </a:p>
        </p:txBody>
      </p:sp>
      <p:sp>
        <p:nvSpPr>
          <p:cNvPr id="75" name="Shape 72"/>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585216"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Where is plastic waste thrown?</a:t>
            </a:r>
            <a:endParaRPr lang="en-US" sz="1250" dirty="0"/>
          </a:p>
        </p:txBody>
      </p:sp>
      <p:sp>
        <p:nvSpPr>
          <p:cNvPr id="79" name="Shape 76"/>
          <p:cNvSpPr/>
          <p:nvPr/>
        </p:nvSpPr>
        <p:spPr>
          <a:xfrm>
            <a:off x="640080"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81" name="Text 78"/>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In a recycling centre</a:t>
            </a:r>
            <a:endParaRPr lang="en-US" sz="1250" dirty="0"/>
          </a:p>
        </p:txBody>
      </p:sp>
      <p:sp>
        <p:nvSpPr>
          <p:cNvPr id="82" name="Shape 79"/>
          <p:cNvSpPr/>
          <p:nvPr/>
        </p:nvSpPr>
        <p:spPr>
          <a:xfrm>
            <a:off x="548640" y="5166360"/>
            <a:ext cx="2498598"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640080"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85" name="Text 82"/>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In the river</a:t>
            </a:r>
            <a:endParaRPr lang="en-US" sz="1250" dirty="0"/>
          </a:p>
        </p:txBody>
      </p:sp>
      <p:sp>
        <p:nvSpPr>
          <p:cNvPr id="86" name="Shape 83"/>
          <p:cNvSpPr/>
          <p:nvPr/>
        </p:nvSpPr>
        <p:spPr>
          <a:xfrm>
            <a:off x="640080"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In the mountains</a:t>
            </a:r>
            <a:endParaRPr lang="en-US" sz="1250" dirty="0"/>
          </a:p>
        </p:txBody>
      </p:sp>
      <p:sp>
        <p:nvSpPr>
          <p:cNvPr id="89" name="Text 86"/>
          <p:cNvSpPr txBox="1"/>
          <p:nvPr/>
        </p:nvSpPr>
        <p:spPr>
          <a:xfrm>
            <a:off x="585216"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في النهر.</a:t>
            </a:r>
            <a:endParaRPr lang="ar-SA" sz="1350" dirty="0"/>
          </a:p>
        </p:txBody>
      </p:sp>
      <p:sp>
        <p:nvSpPr>
          <p:cNvPr id="90" name="Shape 8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3449574" y="4288536"/>
            <a:ext cx="310896" cy="310896"/>
          </a:xfrm>
          <a:prstGeom prst="ellipse">
            <a:avLst/>
          </a:prstGeom>
          <a:solidFill>
            <a:srgbClr val="1B3B6F"/>
          </a:solidFill>
          <a:ln w="12700">
            <a:solidFill>
              <a:srgbClr val="1B3B6F"/>
            </a:solidFill>
            <a:prstDash val="solid"/>
          </a:ln>
        </p:spPr>
      </p:sp>
      <p:sp>
        <p:nvSpPr>
          <p:cNvPr id="92" name="Text 8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93" name="Text 9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ea typeface="Calibri" pitchFamily="34" charset="-122"/>
                <a:cs typeface="Calibri" pitchFamily="34" charset="-120"/>
              </a:rPr>
              <a:t>What are the two water-related consequences?</a:t>
            </a:r>
            <a:endParaRPr lang="en-US" sz="1100" dirty="0"/>
          </a:p>
        </p:txBody>
      </p:sp>
      <p:sp>
        <p:nvSpPr>
          <p:cNvPr id="94" name="Shape 91"/>
          <p:cNvSpPr/>
          <p:nvPr/>
        </p:nvSpPr>
        <p:spPr>
          <a:xfrm>
            <a:off x="3412998" y="4794504"/>
            <a:ext cx="2498598" cy="347472"/>
          </a:xfrm>
          <a:prstGeom prst="roundRect">
            <a:avLst>
              <a:gd name="adj" fmla="val 15789"/>
            </a:avLst>
          </a:prstGeom>
          <a:solidFill>
            <a:srgbClr val="E6F4EC"/>
          </a:solidFill>
          <a:ln w="9525">
            <a:solidFill>
              <a:srgbClr val="2E8B57"/>
            </a:solidFill>
            <a:prstDash val="solid"/>
          </a:ln>
        </p:spPr>
      </p:sp>
      <p:sp>
        <p:nvSpPr>
          <p:cNvPr id="95" name="Shape 92"/>
          <p:cNvSpPr/>
          <p:nvPr/>
        </p:nvSpPr>
        <p:spPr>
          <a:xfrm>
            <a:off x="3504438" y="4831080"/>
            <a:ext cx="256032" cy="256032"/>
          </a:xfrm>
          <a:prstGeom prst="ellipse">
            <a:avLst/>
          </a:prstGeom>
          <a:solidFill>
            <a:srgbClr val="2E8B57"/>
          </a:solidFill>
          <a:ln w="12700">
            <a:solidFill>
              <a:srgbClr val="2E8B57"/>
            </a:solidFill>
            <a:prstDash val="solid"/>
          </a:ln>
        </p:spPr>
      </p:sp>
      <p:sp>
        <p:nvSpPr>
          <p:cNvPr id="96" name="Text 93"/>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97" name="Text 94"/>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Water pollution and the death of some fish</a:t>
            </a:r>
            <a:endParaRPr lang="en-US" sz="1150" dirty="0"/>
          </a:p>
        </p:txBody>
      </p:sp>
      <p:sp>
        <p:nvSpPr>
          <p:cNvPr id="98" name="Shape 95"/>
          <p:cNvSpPr/>
          <p:nvPr/>
        </p:nvSpPr>
        <p:spPr>
          <a:xfrm>
            <a:off x="3504438" y="5202936"/>
            <a:ext cx="256032" cy="256032"/>
          </a:xfrm>
          <a:prstGeom prst="ellipse">
            <a:avLst/>
          </a:prstGeom>
          <a:solidFill>
            <a:srgbClr val="C9CED6"/>
          </a:solidFill>
          <a:ln w="12700">
            <a:solidFill>
              <a:srgbClr val="C9CED6"/>
            </a:solidFill>
            <a:prstDash val="solid"/>
          </a:ln>
        </p:spPr>
      </p:sp>
      <p:sp>
        <p:nvSpPr>
          <p:cNvPr id="99" name="Text 96"/>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100" name="Text 97"/>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ea typeface="Calibri" pitchFamily="34" charset="-122"/>
                <a:cs typeface="Calibri" pitchFamily="34" charset="-120"/>
              </a:rPr>
              <a:t>More drinking water and cleaner beaches</a:t>
            </a:r>
            <a:endParaRPr lang="en-US" sz="1150" dirty="0"/>
          </a:p>
        </p:txBody>
      </p:sp>
      <p:sp>
        <p:nvSpPr>
          <p:cNvPr id="101" name="Shape 98"/>
          <p:cNvSpPr/>
          <p:nvPr/>
        </p:nvSpPr>
        <p:spPr>
          <a:xfrm>
            <a:off x="3504438" y="5574792"/>
            <a:ext cx="256032" cy="256032"/>
          </a:xfrm>
          <a:prstGeom prst="ellipse">
            <a:avLst/>
          </a:prstGeom>
          <a:solidFill>
            <a:srgbClr val="C9CED6"/>
          </a:solidFill>
          <a:ln w="12700">
            <a:solidFill>
              <a:srgbClr val="C9CED6"/>
            </a:solidFill>
            <a:prstDash val="solid"/>
          </a:ln>
        </p:spPr>
      </p:sp>
      <p:sp>
        <p:nvSpPr>
          <p:cNvPr id="102" name="Text 99"/>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103" name="Text 100"/>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ea typeface="Calibri" pitchFamily="34" charset="-122"/>
                <a:cs typeface="Calibri" pitchFamily="34" charset="-120"/>
              </a:rPr>
              <a:t>Lower sea levels and more forests</a:t>
            </a:r>
            <a:endParaRPr lang="en-US" sz="1150" dirty="0"/>
          </a:p>
        </p:txBody>
      </p:sp>
      <p:sp>
        <p:nvSpPr>
          <p:cNvPr id="104" name="Text 101"/>
          <p:cNvSpPr txBox="1"/>
          <p:nvPr/>
        </p:nvSpPr>
        <p:spPr>
          <a:xfrm>
            <a:off x="3449574" y="5907024"/>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final clause names both consequences.</a:t>
            </a:r>
            <a:endParaRPr lang="en-US" sz="1050" dirty="0"/>
          </a:p>
        </p:txBody>
      </p:sp>
      <p:sp>
        <p:nvSpPr>
          <p:cNvPr id="105" name="Shape 10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6" name="Shape 103"/>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107" name="Text 104"/>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108" name="Text 105"/>
          <p:cNvSpPr txBox="1"/>
          <p:nvPr/>
        </p:nvSpPr>
        <p:spPr>
          <a:xfrm>
            <a:off x="6387084" y="4791456"/>
            <a:ext cx="2315718"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ea typeface="Calibri" pitchFamily="34" charset="-122"/>
                <a:cs typeface="Calibri" pitchFamily="34" charset="-120"/>
              </a:rPr>
              <a:t>Listen twice. Core: questions 1, 2 and 5 — listen for </a:t>
            </a:r>
            <a:pPr algn="l" indent="0" marL="0">
              <a:buNone/>
            </a:pPr>
            <a:r>
              <a:rPr lang="ar-SA" altLang="en-US" sz="1650" dirty="0">
                <a:solidFill>
                  <a:srgbClr val="1E6B52"/>
                </a:solidFill>
                <a:latin typeface="Amiri" pitchFamily="34" charset="0"/>
                <a:ea typeface="Amiri" pitchFamily="34" charset="-122"/>
                <a:cs typeface="Amiri" pitchFamily="34" charset="-120"/>
              </a:rPr>
              <a:t>تَلَوُّثُ الهَوَاءِ</a:t>
            </a:r>
            <a:pPr algn="l" indent="0" marL="0">
              <a:buNone/>
            </a:pPr>
            <a:r>
              <a:rPr lang="en-US" sz="1250" dirty="0">
                <a:solidFill>
                  <a:srgbClr val="1E6B52"/>
                </a:solidFill>
                <a:latin typeface="Calibri" pitchFamily="34" charset="0"/>
                <a:ea typeface="Calibri" pitchFamily="34" charset="-122"/>
                <a:cs typeface="Calibri" pitchFamily="34" charset="-120"/>
              </a:rPr>
              <a:t>, </a:t>
            </a:r>
            <a:pPr algn="l" indent="0" marL="0">
              <a:buNone/>
            </a:pPr>
            <a:r>
              <a:rPr lang="ar-SA" altLang="en-US" sz="1650" dirty="0">
                <a:solidFill>
                  <a:srgbClr val="1E6B52"/>
                </a:solidFill>
                <a:latin typeface="Amiri" pitchFamily="34" charset="0"/>
                <a:ea typeface="Amiri" pitchFamily="34" charset="-122"/>
                <a:cs typeface="Amiri" pitchFamily="34" charset="-120"/>
              </a:rPr>
              <a:t>السَّيَّارَاتُ وَالمَصَانِعُ</a:t>
            </a:r>
            <a:pPr algn="l" indent="0" marL="0">
              <a:buNone/>
            </a:pPr>
            <a:r>
              <a:rPr lang="en-US" sz="1250" dirty="0">
                <a:solidFill>
                  <a:srgbClr val="1E6B52"/>
                </a:solidFill>
                <a:latin typeface="Calibri" pitchFamily="34" charset="0"/>
                <a:ea typeface="Calibri" pitchFamily="34" charset="-122"/>
                <a:cs typeface="Calibri" pitchFamily="34" charset="-120"/>
              </a:rPr>
              <a:t> and </a:t>
            </a:r>
            <a:pPr algn="l" indent="0" marL="0">
              <a:buNone/>
            </a:pPr>
            <a:r>
              <a:rPr lang="ar-SA" altLang="en-US" sz="1650" dirty="0">
                <a:solidFill>
                  <a:srgbClr val="1E6B52"/>
                </a:solidFill>
                <a:latin typeface="Amiri" pitchFamily="34" charset="0"/>
                <a:ea typeface="Amiri" pitchFamily="34" charset="-122"/>
                <a:cs typeface="Amiri" pitchFamily="34" charset="-120"/>
              </a:rPr>
              <a:t>النَّهْرِ</a:t>
            </a:r>
            <a:pPr algn="l" indent="0" marL="0">
              <a:buNone/>
            </a:pPr>
            <a:r>
              <a:rPr lang="en-US" sz="1250" dirty="0">
                <a:solidFill>
                  <a:srgbClr val="1E6B52"/>
                </a:solidFill>
                <a:latin typeface="Calibri" pitchFamily="34" charset="0"/>
                <a:ea typeface="Calibri" pitchFamily="34" charset="-122"/>
                <a:cs typeface="Calibri" pitchFamily="34" charset="-120"/>
              </a:rPr>
              <a:t> (river).</a:t>
            </a:r>
            <a:endParaRPr lang="en-US" sz="1250" dirty="0"/>
          </a:p>
        </p:txBody>
      </p:sp>
      <p:sp>
        <p:nvSpPr>
          <p:cNvPr id="109" name="Text 10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32 / 45</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TC-L04 · Environmental Problems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50" b="1" dirty="0">
                <a:solidFill>
                  <a:srgbClr val="1B3B6F"/>
                </a:solidFill>
                <a:latin typeface="Cambria" pitchFamily="34" charset="0"/>
                <a:ea typeface="Cambria" pitchFamily="34" charset="-122"/>
                <a:cs typeface="Cambria" pitchFamily="34" charset="-120"/>
              </a:rPr>
              <a:t>Speaking: explain a problem and its consequences</a:t>
            </a:r>
            <a:endParaRPr lang="en-US" sz="19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1 of 3</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Think</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Rehearse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Pairs share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Build / ask</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Summarise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مَا مُشْكِلَةٌ بِيئِيَّةٌ فِي مَدِينَتِكَ؟</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مَا أَخْطَرُ مُشْكِلَةٍ بِيئِيَّةٍ؟</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مَا سَبَبُهَا؟</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مَا نَتَائِجُهَا عَلَى المَدَى الطَّوِيلِ؟</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34" charset="0"/>
                <a:ea typeface="Amiri" pitchFamily="34" charset="-122"/>
                <a:cs typeface="Amiri" pitchFamily="34" charset="-120"/>
              </a:rPr>
              <a:t>___ مُشْكِلَةٌ خَطِيرَةٌ بِسَبَبِ ___ .</a:t>
            </a:r>
            <a:endParaRPr lang="ar-SA" sz="16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يُؤَدِّي ___ إِلَى ___ .</a:t>
            </a:r>
            <a:endParaRPr lang="ar-SA" sz="1600" dirty="0"/>
          </a:p>
        </p:txBody>
      </p:sp>
      <p:sp>
        <p:nvSpPr>
          <p:cNvPr id="54" name="Shape 51"/>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___ ، مِمَّا يُسَبِّبُ ___ .</a:t>
            </a:r>
            <a:endParaRPr lang="ar-SA" sz="1600" dirty="0"/>
          </a:p>
        </p:txBody>
      </p:sp>
      <p:sp>
        <p:nvSpPr>
          <p:cNvPr id="57" name="Shape 54"/>
          <p:cNvSpPr/>
          <p:nvPr/>
        </p:nvSpPr>
        <p:spPr>
          <a:xfrm>
            <a:off x="640080" y="4681728"/>
            <a:ext cx="1051560" cy="256032"/>
          </a:xfrm>
          <a:prstGeom prst="roundRect">
            <a:avLst>
              <a:gd name="adj" fmla="val 50000"/>
            </a:avLst>
          </a:prstGeom>
          <a:solidFill>
            <a:srgbClr val="1B3B6F"/>
          </a:solidFill>
          <a:ln w="12700">
            <a:solidFill>
              <a:srgbClr val="1B3B6F"/>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 SUM UP</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قَالَ / قَالَتْ إِنَّ ___ .</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ea typeface="Calibri" pitchFamily="34" charset="-122"/>
                <a:cs typeface="Calibri" pitchFamily="34" charset="-120"/>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34" charset="0"/>
                <a:ea typeface="Amiri" pitchFamily="34" charset="-122"/>
                <a:cs typeface="Amiri" pitchFamily="34" charset="-120"/>
              </a:rPr>
              <a:t>مَا أَخْطَرُ مُشْكِلَةٍ بِيئِيَّةٍ فِي رَأْيِكَ؟</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00" i="1" dirty="0">
                <a:solidFill>
                  <a:srgbClr val="5A6472"/>
                </a:solidFill>
                <a:latin typeface="Calibri" pitchFamily="34" charset="0"/>
                <a:ea typeface="Calibri" pitchFamily="34" charset="-122"/>
                <a:cs typeface="Calibri" pitchFamily="34" charset="-120"/>
              </a:rPr>
              <a:t>What is the most serious environmental problem, in your opinion?</a:t>
            </a:r>
            <a:endParaRPr lang="en-US" sz="90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34" charset="0"/>
                <a:ea typeface="Amiri" pitchFamily="34" charset="-122"/>
                <a:cs typeface="Amiri" pitchFamily="34" charset="-120"/>
              </a:rPr>
              <a:t>فِي رَأْيِي، تَلَوُّثُ الهَوَاءِ خَطِيرٌ لِأَنَّ السَّيَّارَاتِ وَالمَصَانِعَ تُطْلِقُ دُخَانًا يُؤَدِّي إِلَى أَمْرَاضٍ تَنَفُّسِيَّةٍ.</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ea typeface="Calibri" pitchFamily="34" charset="-122"/>
                <a:cs typeface="Calibri" pitchFamily="34" charset="-120"/>
              </a:rPr>
              <a:t>Developed answer</a:t>
            </a:r>
            <a:endParaRPr lang="en-US" sz="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33 / 45</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TC-L04 · Environmental Problems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1 of 3</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34" charset="0"/>
                <a:ea typeface="Amiri" pitchFamily="34" charset="-122"/>
                <a:cs typeface="Amiri" pitchFamily="34" charset="-120"/>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ea typeface="Cambria" pitchFamily="34" charset="-122"/>
                <a:cs typeface="Cambria" pitchFamily="34" charset="-120"/>
              </a:rPr>
              <a:t>4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Use the vocabulary banks and sentence frames to produce four accurate connected sentences.</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Frames + word bank (next slide): a problem + بِسَبَبِ + cause; يُؤَدِّي … إِلَى + effect.</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34" charset="0"/>
                <a:ea typeface="Amiri" pitchFamily="34" charset="-122"/>
                <a:cs typeface="Amiri" pitchFamily="34" charset="-120"/>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ea typeface="Cambria" pitchFamily="34" charset="-122"/>
                <a:cs typeface="Cambria" pitchFamily="34" charset="-120"/>
              </a:rPr>
              <a:t>6–8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Use several target structures in a linked paragraph or sustained spoken answer.</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One active and one passive sentence (يُلَوَّثُ / تُقْطَعُ) and at least two different connectors.</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ea typeface="Cambria" pitchFamily="34" charset="-122"/>
                <a:cs typeface="Cambria" pitchFamily="34" charset="-120"/>
              </a:rPr>
              <a:t>120–140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Evaluate, compare or qualify ideas using precise evidence and formal linking language.</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Website writing task: explain two problems, their causes and consequences. Checklist and phrase bank on the Stretch slide.</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34 / 45</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TC-L04 · Environmental Problems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1 of 3</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يُلَوَّثُ الهَوَاءُ بِـ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The air is polluted by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تُقْطَعُ الأَشْجَارُ فِي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Trees are cut down in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نَتِيجَةً لِـ ______ ،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As a result of …,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______ ، مِمَّا يُسَبِّبُ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 which causes …</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عَلَى المَدَى الطَّوِيلِ، ______ .</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In the long term, …</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تَلَوُّثُ ______ مُشْكِلَةٌ خَطِيرَةٌ .</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Air pollution is a serious problem.</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يَتَلَوَّثُ البَحْرُ بِسَبَبِ ______ .</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The sea is polluted because of …</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يُؤَدِّي ______ إِلَى ______ .</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 leads to …</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تُلَوِّثُ ______ الهَوَاءَ .</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Factories pollute the air.</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فِي رَأْيِي، ______ خَطِيرٌ .</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In my opinion, … is serious.</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ea typeface="Calibri" pitchFamily="34" charset="-122"/>
                <a:cs typeface="Calibri" pitchFamily="34" charset="-120"/>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500" b="1" dirty="0">
                <a:solidFill>
                  <a:srgbClr val="1B3B6F"/>
                </a:solidFill>
                <a:latin typeface="Amiri" pitchFamily="34" charset="0"/>
                <a:ea typeface="Amiri" pitchFamily="34" charset="-122"/>
                <a:cs typeface="Amiri" pitchFamily="34" charset="-120"/>
              </a:rPr>
              <a:t>تَلَوُّثُ الهَوَاءِ  ·  تَلَوُّثُ المِيَاهِ  ·  النُّفَايَاتُ  ·  الدُّخَانُ  ·  المَصَانِعُ  ·  السَّيَّارَاتُ  ·  قَطْعُ الأَشْجَارِ  ·  الاحْتِبَاسُ الحَرَارِيُّ  ·  ذَوَبَانُ الجَلِيدِ  ·  أَمْرَاضٌ  ·  بِسَبَبِ  ·  يُؤَدِّي إِلَى</a:t>
            </a:r>
            <a:endParaRPr lang="ar-SA" sz="15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35 / 45</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TC-L04 · Environmental Problems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1 of 3</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ea typeface="Calibri" pitchFamily="34" charset="-122"/>
                <a:cs typeface="Calibri" pitchFamily="34" charset="-120"/>
              </a:rPr>
              <a:t>Write 120–140 Arabic words explaining two environmental problems, their causes and consequences.</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Use one accurate active sentence and one passive sentence.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Use at least three different cause–effect connectors.</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Develop two chains with precise consequences.</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Finish with a justified judgement.</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ea typeface="Calibri" pitchFamily="34" charset="-122"/>
                <a:cs typeface="Calibri" pitchFamily="34" charset="-120"/>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34" charset="0"/>
                <a:ea typeface="Amiri" pitchFamily="34" charset="-122"/>
                <a:cs typeface="Amiri" pitchFamily="34" charset="-120"/>
              </a:rPr>
              <a:t>تُوَاجِهُ مُدُنٌ كَثِيرَةٌ مُشْكِلَاتٍ بِيئِيَّةً مُتَرَابِطَةً</a:t>
            </a:r>
            <a:endParaRPr lang="ar-SA" sz="17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many cities face linked environmental problems</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فَبِسَبَبِ كَثْرَةِ السَّيَّارَاتِ …</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because of the large number of cars …</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مِمَّا يَضُرُّ بِالأَسْمَاكِ وَالطُّيُورِ</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which harms fish and birds</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فَيُؤَدِّي ذٰلِكَ إِلَى …</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and this leads to …</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عَلَى المَدَى الطَّوِيلِ</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in the long term</a:t>
            </a:r>
            <a:endParaRPr lang="en-US" sz="1050" dirty="0"/>
          </a:p>
        </p:txBody>
      </p:sp>
      <p:sp>
        <p:nvSpPr>
          <p:cNvPr id="35" name="Text 32"/>
          <p:cNvSpPr txBox="1"/>
          <p:nvPr/>
        </p:nvSpPr>
        <p:spPr>
          <a:xfrm>
            <a:off x="8412480" y="5522976"/>
            <a:ext cx="3154680" cy="408188"/>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لَا بُدَّ مِنْ فَهْمِ الأَسْبَابِ قَبْلَ اخْتِيَارِ الحُلُولِ</a:t>
            </a:r>
            <a:endParaRPr lang="ar-SA" sz="1600" dirty="0"/>
          </a:p>
        </p:txBody>
      </p:sp>
      <p:sp>
        <p:nvSpPr>
          <p:cNvPr id="36" name="Text 33"/>
          <p:cNvSpPr txBox="1"/>
          <p:nvPr/>
        </p:nvSpPr>
        <p:spPr>
          <a:xfrm>
            <a:off x="6400800" y="585216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we must understand the causes before choosing solutions</a:t>
            </a:r>
            <a:endParaRPr lang="en-US" sz="10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36 / 45</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TC-L04 · Environmental Problems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1 of 3</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550" dirty="0">
                <a:solidFill>
                  <a:srgbClr val="1F2A37"/>
                </a:solidFill>
                <a:latin typeface="Amiri" pitchFamily="34" charset="0"/>
                <a:ea typeface="Amiri" pitchFamily="34" charset="-122"/>
                <a:cs typeface="Amiri" pitchFamily="34" charset="-120"/>
              </a:rPr>
              <a:t>تُوَاجِهُ مُدُنٌ كَثِيرَةٌ مُشْكِلَاتٍ بِيئِيَّةً مُتَرَابِطَةً. فَبِسَبَبِ كَثْرَةِ السَّيَّارَاتِ وَحَرْقِ الوَقُودِ الأُحْفُورِيِّ، يُلَوَّثُ الهَوَاءُ وَتَزْدَادُ أَمْرَاضُ التَّنَفُّسِ. كَمَا تُرْمَى النُّفَايَاتُ البِلَاسْتِيكِيَّةُ فِي البِحَارِ، مِمَّا يَضُرُّ بِالأَسْمَاكِ وَالطُّيُورِ. وَتُقْطَعُ الأَشْجَارُ فِي بَعْضِ المَنَاطِقِ، فَيُؤَدِّي ذٰلِكَ إِلَى فَقْدِ المَوَائِلِ وَالتَّصَحُّرِ. عَلَى المَدَى الطَّوِيلِ، سَتُؤَثِّرُ هٰذِهِ المَشَاكِلُ فِي صِحَّةِ النَّاسِ وَالاقْتِصَادِ. لِذٰلِكَ، لَا بُدَّ مِنْ فَهْمِ الأَسْبَابِ قَبْلَ اخْتِيَارِ الحُلُولِ.</a:t>
            </a:r>
            <a:endParaRPr lang="ar-SA" sz="25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ea typeface="Calibri" pitchFamily="34" charset="-122"/>
                <a:cs typeface="Calibri" pitchFamily="34" charset="-120"/>
              </a:rPr>
              <a:t>Many cities face linked environmental problems. Because of the large number of cars and the burning of fossil fuels, the air is polluted and breathing illnesses increase. Plastic waste is also thrown into the seas, which harms fish and birds. In some areas trees are cut down, and this leads to habitat loss and desertification. In the long term, these problems will affect people’s health and the economy. So we must understand the causes before choosing solutions.</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ea typeface="Calibri" pitchFamily="34" charset="-122"/>
                <a:cs typeface="Calibri" pitchFamily="34" charset="-120"/>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an active sentence</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 passive sentence</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بِسَبَبِ / مِمَّا / يُؤَدِّي إِلَى</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 judgement</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37 / 45</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TC-L04 · Environmental Problems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1 of 3</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name environmental problems and give a cause with </a:t>
            </a:r>
            <a:pPr algn="l" indent="0" marL="0">
              <a:buNone/>
            </a:pPr>
            <a:r>
              <a:rPr lang="ar-SA" altLang="en-US" sz="1700" dirty="0">
                <a:solidFill>
                  <a:srgbClr val="1F2A37"/>
                </a:solidFill>
                <a:latin typeface="Amiri" pitchFamily="34" charset="0"/>
                <a:ea typeface="Amiri" pitchFamily="34" charset="-122"/>
                <a:cs typeface="Amiri" pitchFamily="34" charset="-120"/>
              </a:rPr>
              <a:t>بِسَبَبِ</a:t>
            </a:r>
            <a:pPr algn="l" indent="0" marL="0">
              <a:buNone/>
            </a:pPr>
            <a:r>
              <a:rPr lang="en-US" sz="1300" dirty="0">
                <a:solidFill>
                  <a:srgbClr val="1F2A37"/>
                </a:solidFill>
                <a:latin typeface="Calibri" pitchFamily="34" charset="0"/>
                <a:ea typeface="Calibri" pitchFamily="34" charset="-122"/>
                <a:cs typeface="Calibri" pitchFamily="34" charset="-120"/>
              </a:rPr>
              <a:t>.</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use </a:t>
            </a:r>
            <a:pPr algn="l" indent="0" marL="0">
              <a:buNone/>
            </a:pPr>
            <a:r>
              <a:rPr lang="ar-SA" altLang="en-US" sz="1700" dirty="0">
                <a:solidFill>
                  <a:srgbClr val="1F2A37"/>
                </a:solidFill>
                <a:latin typeface="Amiri" pitchFamily="34" charset="0"/>
                <a:ea typeface="Amiri" pitchFamily="34" charset="-122"/>
                <a:cs typeface="Amiri" pitchFamily="34" charset="-120"/>
              </a:rPr>
              <a:t>يُؤَدِّي إِلَى</a:t>
            </a:r>
            <a:pPr algn="l" indent="0" marL="0">
              <a:buNone/>
            </a:pPr>
            <a:r>
              <a:rPr lang="en-US" sz="1300" dirty="0">
                <a:solidFill>
                  <a:srgbClr val="1F2A37"/>
                </a:solidFill>
                <a:latin typeface="Calibri" pitchFamily="34" charset="0"/>
                <a:ea typeface="Calibri" pitchFamily="34" charset="-122"/>
                <a:cs typeface="Calibri" pitchFamily="34" charset="-120"/>
              </a:rPr>
              <a:t> — never </a:t>
            </a:r>
            <a:pPr algn="l" indent="0" marL="0">
              <a:buNone/>
            </a:pPr>
            <a:r>
              <a:rPr lang="ar-SA" altLang="en-US" sz="1700" dirty="0">
                <a:solidFill>
                  <a:srgbClr val="1F2A37"/>
                </a:solidFill>
                <a:latin typeface="Amiri" pitchFamily="34" charset="0"/>
                <a:ea typeface="Amiri" pitchFamily="34" charset="-122"/>
                <a:cs typeface="Amiri" pitchFamily="34" charset="-120"/>
              </a:rPr>
              <a:t>يُؤَدِّي فِي</a:t>
            </a:r>
            <a:pPr algn="l" indent="0" marL="0">
              <a:buNone/>
            </a:pPr>
            <a:r>
              <a:rPr lang="en-US" sz="1300" dirty="0">
                <a:solidFill>
                  <a:srgbClr val="1F2A37"/>
                </a:solidFill>
                <a:latin typeface="Calibri" pitchFamily="34" charset="0"/>
                <a:ea typeface="Calibri" pitchFamily="34" charset="-122"/>
                <a:cs typeface="Calibri" pitchFamily="34" charset="-120"/>
              </a:rPr>
              <a: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tell an active sentence (</a:t>
            </a:r>
            <a:pPr algn="l" indent="0" marL="0">
              <a:buNone/>
            </a:pPr>
            <a:r>
              <a:rPr lang="ar-SA" altLang="en-US" sz="1700" dirty="0">
                <a:solidFill>
                  <a:srgbClr val="1F2A37"/>
                </a:solidFill>
                <a:latin typeface="Amiri" pitchFamily="34" charset="0"/>
                <a:ea typeface="Amiri" pitchFamily="34" charset="-122"/>
                <a:cs typeface="Amiri" pitchFamily="34" charset="-120"/>
              </a:rPr>
              <a:t>تُلَوِّثُ المَصَانِعُ الهَوَاءَ</a:t>
            </a:r>
            <a:pPr algn="l" indent="0" marL="0">
              <a:buNone/>
            </a:pPr>
            <a:r>
              <a:rPr lang="en-US" sz="1300" dirty="0">
                <a:solidFill>
                  <a:srgbClr val="1F2A37"/>
                </a:solidFill>
                <a:latin typeface="Calibri" pitchFamily="34" charset="0"/>
                <a:ea typeface="Calibri" pitchFamily="34" charset="-122"/>
                <a:cs typeface="Calibri" pitchFamily="34" charset="-120"/>
              </a:rPr>
              <a:t>) from a passive one (</a:t>
            </a:r>
            <a:pPr algn="l" indent="0" marL="0">
              <a:buNone/>
            </a:pPr>
            <a:r>
              <a:rPr lang="ar-SA" altLang="en-US" sz="1700" dirty="0">
                <a:solidFill>
                  <a:srgbClr val="1F2A37"/>
                </a:solidFill>
                <a:latin typeface="Amiri" pitchFamily="34" charset="0"/>
                <a:ea typeface="Amiri" pitchFamily="34" charset="-122"/>
                <a:cs typeface="Amiri" pitchFamily="34" charset="-120"/>
              </a:rPr>
              <a:t>يُلَوَّثُ الهَوَاءُ</a:t>
            </a:r>
            <a:pPr algn="l" indent="0" marL="0">
              <a:buNone/>
            </a:pPr>
            <a:r>
              <a:rPr lang="en-US" sz="1300" dirty="0">
                <a:solidFill>
                  <a:srgbClr val="1F2A37"/>
                </a:solidFill>
                <a:latin typeface="Calibri" pitchFamily="34" charset="0"/>
                <a:ea typeface="Calibri" pitchFamily="34" charset="-122"/>
                <a:cs typeface="Calibri" pitchFamily="34" charset="-120"/>
              </a:rPr>
              <a:t>).</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support an answer with exact Arabic evidence.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produce an organised response with relevant detail.</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ea typeface="Calibri" pitchFamily="34" charset="-122"/>
                <a:cs typeface="Calibri" pitchFamily="34" charset="-120"/>
              </a:rPr>
              <a:t>WWW</a:t>
            </a:r>
            <a:endParaRPr lang="en-US" sz="1800" dirty="0"/>
          </a:p>
          <a:p>
            <a:pPr indent="0" marL="0">
              <a:buNone/>
            </a:pPr>
            <a:r>
              <a:rPr lang="en-US" sz="1200" dirty="0">
                <a:solidFill>
                  <a:srgbClr val="1F2A37"/>
                </a:solidFill>
                <a:latin typeface="Calibri" pitchFamily="34" charset="0"/>
                <a:ea typeface="Calibri" pitchFamily="34" charset="-122"/>
                <a:cs typeface="Calibri" pitchFamily="34" charset="-120"/>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ea typeface="Calibri" pitchFamily="34" charset="-122"/>
                <a:cs typeface="Calibri" pitchFamily="34" charset="-120"/>
              </a:rPr>
              <a:t>EBI</a:t>
            </a:r>
            <a:endParaRPr lang="en-US" sz="1800" dirty="0"/>
          </a:p>
          <a:p>
            <a:pPr indent="0" marL="0">
              <a:buNone/>
            </a:pPr>
            <a:r>
              <a:rPr lang="en-US" sz="1200" dirty="0">
                <a:solidFill>
                  <a:srgbClr val="1F2A37"/>
                </a:solidFill>
                <a:latin typeface="Calibri" pitchFamily="34" charset="0"/>
                <a:ea typeface="Calibri" pitchFamily="34" charset="-122"/>
                <a:cs typeface="Calibri" pitchFamily="34" charset="-120"/>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38 / 45</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TC-L04 · Environmental Problems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1 of 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is the accurate passive sentence?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1850" dirty="0">
                <a:solidFill>
                  <a:srgbClr val="1F2A37"/>
                </a:solidFill>
                <a:latin typeface="Amiri" pitchFamily="34" charset="0"/>
                <a:ea typeface="Amiri" pitchFamily="34" charset="-122"/>
                <a:cs typeface="Amiri" pitchFamily="34" charset="-120"/>
              </a:rPr>
              <a:t>تُقْطَعُ الأَشْجَارُ بِصُورَةٍ غَيْرِ قَانُونِيَّةٍ.</a:t>
            </a:r>
            <a:endParaRPr lang="ar-SA" sz="18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1850" dirty="0">
                <a:solidFill>
                  <a:srgbClr val="1F2A37"/>
                </a:solidFill>
                <a:latin typeface="Amiri" pitchFamily="34" charset="0"/>
                <a:ea typeface="Amiri" pitchFamily="34" charset="-122"/>
                <a:cs typeface="Amiri" pitchFamily="34" charset="-120"/>
              </a:rPr>
              <a:t>يُقْطَعُ الأَشْجَارُ بِصُورَةٍ غَيْرِ قَانُونِيَّةٍ.</a:t>
            </a:r>
            <a:endParaRPr lang="ar-SA" sz="18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1850" dirty="0">
                <a:solidFill>
                  <a:srgbClr val="1F2A37"/>
                </a:solidFill>
                <a:latin typeface="Amiri" pitchFamily="34" charset="0"/>
                <a:ea typeface="Amiri" pitchFamily="34" charset="-122"/>
                <a:cs typeface="Amiri" pitchFamily="34" charset="-120"/>
              </a:rPr>
              <a:t>تَقْطَعُ الأَشْجَارَ بِصُورَةٍ غَيْرِ قَانُونِيَّةٍ.</a:t>
            </a:r>
            <a:endParaRPr lang="ar-SA" sz="18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connector must be followed by </a:t>
            </a:r>
            <a:pPr algn="l" indent="0" marL="0">
              <a:buNone/>
            </a:pPr>
            <a:r>
              <a:rPr lang="ar-SA" altLang="en-US" sz="1650" b="1" dirty="0">
                <a:solidFill>
                  <a:srgbClr val="1B3B6F"/>
                </a:solidFill>
                <a:latin typeface="Amiri" pitchFamily="34" charset="0"/>
                <a:ea typeface="Amiri" pitchFamily="34" charset="-122"/>
                <a:cs typeface="Amiri" pitchFamily="34" charset="-120"/>
              </a:rPr>
              <a:t>إِلَى</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نَتِيجَةً</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يُؤَدِّي</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بِسَبَبِ</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a coherent cause–effect sentence.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1250" dirty="0">
                <a:solidFill>
                  <a:srgbClr val="1F2A37"/>
                </a:solidFill>
                <a:latin typeface="Amiri" pitchFamily="34" charset="0"/>
                <a:ea typeface="Amiri" pitchFamily="34" charset="-122"/>
                <a:cs typeface="Amiri" pitchFamily="34" charset="-120"/>
              </a:rPr>
              <a:t>يَتَرَاكَمُ البِلَاسْتِيكُ فِي البَحْرِ، مِمَّا يَضُرُّ بِالحَيَوَانَاتِ.</a:t>
            </a:r>
            <a:endParaRPr lang="ar-SA"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1250" dirty="0">
                <a:solidFill>
                  <a:srgbClr val="1F2A37"/>
                </a:solidFill>
                <a:latin typeface="Amiri" pitchFamily="34" charset="0"/>
                <a:ea typeface="Amiri" pitchFamily="34" charset="-122"/>
                <a:cs typeface="Amiri" pitchFamily="34" charset="-120"/>
              </a:rPr>
              <a:t>يَتَرَاكَمُ البِلَاسْتِيكُ فِي البَحْرِ، مِمَّا يَزْرَعُ الغَابَاتِ.</a:t>
            </a:r>
            <a:endParaRPr lang="ar-SA"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1250" dirty="0">
                <a:solidFill>
                  <a:srgbClr val="1F2A37"/>
                </a:solidFill>
                <a:latin typeface="Amiri" pitchFamily="34" charset="0"/>
                <a:ea typeface="Amiri" pitchFamily="34" charset="-122"/>
                <a:cs typeface="Amiri" pitchFamily="34" charset="-120"/>
              </a:rPr>
              <a:t>يَتَرَاكَمُ البِلَاسْتِيكُ فِي البَحْرِ، مِمَّا يُبَرِّدُ الصَّحْرَاءَ.</a:t>
            </a:r>
            <a:endParaRPr lang="ar-SA" sz="12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ea typeface="Calibri" pitchFamily="34" charset="-122"/>
                <a:cs typeface="Calibri" pitchFamily="34" charset="-120"/>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39 / 45</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TC-L04 · Environmental Problems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1 of 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is the accurate passive sentence?</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1850" b="1" dirty="0">
                <a:solidFill>
                  <a:srgbClr val="1F2A37"/>
                </a:solidFill>
                <a:latin typeface="Amiri" pitchFamily="34" charset="0"/>
                <a:ea typeface="Amiri" pitchFamily="34" charset="-122"/>
                <a:cs typeface="Amiri" pitchFamily="34" charset="-120"/>
              </a:rPr>
              <a:t>تُقْطَعُ الأَشْجَارُ بِصُورَةٍ غَيْرِ قَانُونِيَّةٍ.</a:t>
            </a:r>
            <a:endParaRPr lang="ar-SA" sz="18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1850" dirty="0">
                <a:solidFill>
                  <a:srgbClr val="9AA1AB"/>
                </a:solidFill>
                <a:latin typeface="Amiri" pitchFamily="34" charset="0"/>
                <a:ea typeface="Amiri" pitchFamily="34" charset="-122"/>
                <a:cs typeface="Amiri" pitchFamily="34" charset="-120"/>
              </a:rPr>
              <a:t>يُقْطَعُ الأَشْجَارُ بِصُورَةٍ غَيْرِ قَانُونِيَّةٍ.</a:t>
            </a:r>
            <a:endParaRPr lang="ar-SA" sz="18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1850" dirty="0">
                <a:solidFill>
                  <a:srgbClr val="9AA1AB"/>
                </a:solidFill>
                <a:latin typeface="Amiri" pitchFamily="34" charset="0"/>
                <a:ea typeface="Amiri" pitchFamily="34" charset="-122"/>
                <a:cs typeface="Amiri" pitchFamily="34" charset="-120"/>
              </a:rPr>
              <a:t>تَقْطَعُ الأَشْجَارَ بِصُورَةٍ غَيْرِ قَانُونِيَّةٍ.</a:t>
            </a:r>
            <a:endParaRPr lang="ar-SA" sz="18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الأشجار</a:t>
            </a:r>
            <a:pPr algn="l" indent="0" marL="0">
              <a:buNone/>
            </a:pPr>
            <a:r>
              <a:rPr lang="en-US" sz="1050" i="1" dirty="0">
                <a:solidFill>
                  <a:srgbClr val="8A6D1E"/>
                </a:solidFill>
                <a:latin typeface="Calibri" pitchFamily="34" charset="0"/>
                <a:ea typeface="Calibri" pitchFamily="34" charset="-122"/>
                <a:cs typeface="Calibri" pitchFamily="34" charset="-120"/>
              </a:rPr>
              <a:t> is treated as feminine in agreement.</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connector must be followed by </a:t>
            </a:r>
            <a:pPr algn="l" indent="0" marL="0">
              <a:buNone/>
            </a:pPr>
            <a:r>
              <a:rPr lang="ar-SA" altLang="en-US" sz="1650" b="1" dirty="0">
                <a:solidFill>
                  <a:srgbClr val="1B3B6F"/>
                </a:solidFill>
                <a:latin typeface="Amiri" pitchFamily="34" charset="0"/>
                <a:ea typeface="Amiri" pitchFamily="34" charset="-122"/>
                <a:cs typeface="Amiri" pitchFamily="34" charset="-120"/>
              </a:rPr>
              <a:t>إِلَى</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نَتِيجَةً</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يُؤَدِّي</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بِسَبَبِ</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fixed pattern is </a:t>
            </a:r>
            <a:pPr algn="l" indent="0" marL="0">
              <a:buNone/>
            </a:pPr>
            <a:r>
              <a:rPr lang="ar-SA" altLang="en-US" sz="1350" dirty="0">
                <a:solidFill>
                  <a:srgbClr val="8A6D1E"/>
                </a:solidFill>
                <a:latin typeface="Amiri" pitchFamily="34" charset="0"/>
                <a:ea typeface="Amiri" pitchFamily="34" charset="-122"/>
                <a:cs typeface="Amiri" pitchFamily="34" charset="-120"/>
              </a:rPr>
              <a:t>يؤدي إلى</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a coherent cause–effect sentence.</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1250" b="1" dirty="0">
                <a:solidFill>
                  <a:srgbClr val="1F2A37"/>
                </a:solidFill>
                <a:latin typeface="Amiri" pitchFamily="34" charset="0"/>
                <a:ea typeface="Amiri" pitchFamily="34" charset="-122"/>
                <a:cs typeface="Amiri" pitchFamily="34" charset="-120"/>
              </a:rPr>
              <a:t>يَتَرَاكَمُ البِلَاسْتِيكُ فِي البَحْرِ، مِمَّا يَضُرُّ بِالحَيَوَانَاتِ.</a:t>
            </a:r>
            <a:endParaRPr lang="ar-SA" sz="12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1250" dirty="0">
                <a:solidFill>
                  <a:srgbClr val="9AA1AB"/>
                </a:solidFill>
                <a:latin typeface="Amiri" pitchFamily="34" charset="0"/>
                <a:ea typeface="Amiri" pitchFamily="34" charset="-122"/>
                <a:cs typeface="Amiri" pitchFamily="34" charset="-120"/>
              </a:rPr>
              <a:t>يَتَرَاكَمُ البِلَاسْتِيكُ فِي البَحْرِ، مِمَّا يَزْرَعُ الغَابَاتِ.</a:t>
            </a:r>
            <a:endParaRPr lang="ar-SA" sz="12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1250" dirty="0">
                <a:solidFill>
                  <a:srgbClr val="9AA1AB"/>
                </a:solidFill>
                <a:latin typeface="Amiri" pitchFamily="34" charset="0"/>
                <a:ea typeface="Amiri" pitchFamily="34" charset="-122"/>
                <a:cs typeface="Amiri" pitchFamily="34" charset="-120"/>
              </a:rPr>
              <a:t>يَتَرَاكَمُ البِلَاسْتِيكُ فِي البَحْرِ، مِمَّا يُبَرِّدُ الصَّحْرَاءَ.</a:t>
            </a:r>
            <a:endParaRPr lang="ar-SA" sz="12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Plastic accumulation harms animals.</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ea typeface="Calibri" pitchFamily="34" charset="-122"/>
                <a:cs typeface="Calibri" pitchFamily="34" charset="-120"/>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40 / 45</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TC-L04 · Environmental Problems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Reading: a cause–effect chain</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1 of 3</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34" charset="0"/>
                <a:ea typeface="Amiri" pitchFamily="34" charset="-122"/>
                <a:cs typeface="Amiri" pitchFamily="34" charset="-120"/>
              </a:rPr>
              <a:t>بِسَبَبِ حَرْقِ الوَقُودِ الأُحْفُورِيِّ، تَرْتَفِعُ نِسْبَةُ ثَانِي أُكْسِيدِ الكَرْبُونِ فِي الهَوَاءِ. يُؤَدِّي ذٰلِكَ إِلَى الاحْتِبَاسِ الحَرَارِيِّ، مِمَّا يُسَبِّبُ ذَوَبَانَ الجَلِيدِ وَارْتِفَاعَ مُسْتَوَى البَحْرِ. وَفِي مَنَاطِقَ أُخْرَى تُقْطَعُ الأَشْجَارُ، فَتَفْقِدُ الحَيَوَانَاتُ مَوَائِلَهَا. وَإِذَا اسْتَمَرَّتْ هٰذِهِ المَشَاكِلُ، فَسَتَكُونُ نَتَائِجُهَا طَوِيلَةَ الأَمَدِ.</a:t>
            </a:r>
            <a:endParaRPr lang="ar-SA" sz="26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حَرْقٌ</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burning</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الوَقُودُ الأُحْفُورِيُّ</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fossil fuel</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نِسْبَةٌ</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level, proportion</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ثَانِي أُكْسِيدِ الكَرْبُونِ</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carbon dioxide</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الاحْتِبَاسُ الحَرَارِيُّ</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global warming</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ذَوَبَانُ الجَلِيدِ</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melting ice</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مُسْتَوَى البَحْرِ</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sea level</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تَفْقِدُ</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loses</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مَوَائِلُ</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habitats</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طَوِيلَةُ الأَمَدِ</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long-term</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41 / 45</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TC-L04 · Environmental Problems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1 of 3</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causes carbon dioxide levels to rise?</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3" name="Text 20"/>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Planting trees</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6" name="Text 23"/>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Burning fossil fuels</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9" name="Text 26"/>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Recycling paper</a:t>
            </a:r>
            <a:endParaRPr lang="en-US" sz="12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higher carbon dioxide lead to?</a:t>
            </a:r>
            <a:endParaRPr lang="en-US" sz="1250" dirty="0"/>
          </a:p>
        </p:txBody>
      </p:sp>
      <p:sp>
        <p:nvSpPr>
          <p:cNvPr id="34" name="Shape 31"/>
          <p:cNvSpPr/>
          <p:nvPr/>
        </p:nvSpPr>
        <p:spPr>
          <a:xfrm>
            <a:off x="3504438"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More habitats</a:t>
            </a:r>
            <a:endParaRPr lang="en-US" sz="1250" dirty="0"/>
          </a:p>
        </p:txBody>
      </p:sp>
      <p:sp>
        <p:nvSpPr>
          <p:cNvPr id="37" name="Shape 34"/>
          <p:cNvSpPr/>
          <p:nvPr/>
        </p:nvSpPr>
        <p:spPr>
          <a:xfrm>
            <a:off x="3504438"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Lower temperatures</a:t>
            </a:r>
            <a:endParaRPr lang="en-US" sz="1250" dirty="0"/>
          </a:p>
        </p:txBody>
      </p:sp>
      <p:sp>
        <p:nvSpPr>
          <p:cNvPr id="40" name="Shape 37"/>
          <p:cNvSpPr/>
          <p:nvPr/>
        </p:nvSpPr>
        <p:spPr>
          <a:xfrm>
            <a:off x="3504438"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2" name="Text 39"/>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Global warming</a:t>
            </a:r>
            <a:endParaRPr lang="en-US" sz="1250" dirty="0"/>
          </a:p>
        </p:txBody>
      </p:sp>
      <p:sp>
        <p:nvSpPr>
          <p:cNvPr id="43" name="Shape 40"/>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6313932"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6" name="Text 43"/>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two effects of global warming are named?</a:t>
            </a:r>
            <a:endParaRPr lang="en-US" sz="1250" dirty="0"/>
          </a:p>
        </p:txBody>
      </p:sp>
      <p:sp>
        <p:nvSpPr>
          <p:cNvPr id="47" name="Shape 44"/>
          <p:cNvSpPr/>
          <p:nvPr/>
        </p:nvSpPr>
        <p:spPr>
          <a:xfrm>
            <a:off x="6368796"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9" name="Text 46"/>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Melting ice and rising sea level</a:t>
            </a:r>
            <a:endParaRPr lang="en-US" sz="1250" dirty="0"/>
          </a:p>
        </p:txBody>
      </p:sp>
      <p:sp>
        <p:nvSpPr>
          <p:cNvPr id="50" name="Shape 47"/>
          <p:cNvSpPr/>
          <p:nvPr/>
        </p:nvSpPr>
        <p:spPr>
          <a:xfrm>
            <a:off x="6368796"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2" name="Text 49"/>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More forests and fresh water</a:t>
            </a:r>
            <a:endParaRPr lang="en-US" sz="1250" dirty="0"/>
          </a:p>
        </p:txBody>
      </p:sp>
      <p:sp>
        <p:nvSpPr>
          <p:cNvPr id="53" name="Shape 50"/>
          <p:cNvSpPr/>
          <p:nvPr/>
        </p:nvSpPr>
        <p:spPr>
          <a:xfrm>
            <a:off x="6368796"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5" name="Text 52"/>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Less wind and more soil</a:t>
            </a:r>
            <a:endParaRPr lang="en-US" sz="1250" dirty="0"/>
          </a:p>
        </p:txBody>
      </p:sp>
      <p:sp>
        <p:nvSpPr>
          <p:cNvPr id="56" name="Shape 53"/>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9178290" y="1947672"/>
            <a:ext cx="310896" cy="310896"/>
          </a:xfrm>
          <a:prstGeom prst="ellipse">
            <a:avLst/>
          </a:prstGeom>
          <a:solidFill>
            <a:srgbClr val="1B3B6F"/>
          </a:solidFill>
          <a:ln w="12700">
            <a:solidFill>
              <a:srgbClr val="1B3B6F"/>
            </a:solidFill>
            <a:prstDash val="solid"/>
          </a:ln>
        </p:spPr>
      </p:sp>
      <p:sp>
        <p:nvSpPr>
          <p:cNvPr id="58" name="Text 55"/>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9" name="Text 56"/>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happens when trees are cut down?</a:t>
            </a:r>
            <a:endParaRPr lang="en-US" sz="1250" dirty="0"/>
          </a:p>
        </p:txBody>
      </p:sp>
      <p:sp>
        <p:nvSpPr>
          <p:cNvPr id="60" name="Shape 57"/>
          <p:cNvSpPr/>
          <p:nvPr/>
        </p:nvSpPr>
        <p:spPr>
          <a:xfrm>
            <a:off x="9233154" y="2532888"/>
            <a:ext cx="256032" cy="256032"/>
          </a:xfrm>
          <a:prstGeom prst="ellipse">
            <a:avLst/>
          </a:prstGeom>
          <a:solidFill>
            <a:srgbClr val="F4F1EA"/>
          </a:solidFill>
          <a:ln w="12700">
            <a:solidFill>
              <a:srgbClr val="F4F1EA"/>
            </a:solidFill>
            <a:prstDash val="solid"/>
          </a:ln>
        </p:spPr>
      </p:sp>
      <p:sp>
        <p:nvSpPr>
          <p:cNvPr id="61" name="Text 58"/>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2" name="Text 59"/>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Sea levels fall</a:t>
            </a:r>
            <a:endParaRPr lang="en-US" sz="1250" dirty="0"/>
          </a:p>
        </p:txBody>
      </p:sp>
      <p:sp>
        <p:nvSpPr>
          <p:cNvPr id="63" name="Shape 60"/>
          <p:cNvSpPr/>
          <p:nvPr/>
        </p:nvSpPr>
        <p:spPr>
          <a:xfrm>
            <a:off x="9233154" y="2990088"/>
            <a:ext cx="256032" cy="256032"/>
          </a:xfrm>
          <a:prstGeom prst="ellipse">
            <a:avLst/>
          </a:prstGeom>
          <a:solidFill>
            <a:srgbClr val="F4F1EA"/>
          </a:solidFill>
          <a:ln w="12700">
            <a:solidFill>
              <a:srgbClr val="F4F1EA"/>
            </a:solidFill>
            <a:prstDash val="solid"/>
          </a:ln>
        </p:spPr>
      </p:sp>
      <p:sp>
        <p:nvSpPr>
          <p:cNvPr id="64" name="Text 61"/>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5" name="Text 62"/>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Animals lose their habitats</a:t>
            </a:r>
            <a:endParaRPr lang="en-US" sz="1250" dirty="0"/>
          </a:p>
        </p:txBody>
      </p:sp>
      <p:sp>
        <p:nvSpPr>
          <p:cNvPr id="66" name="Shape 63"/>
          <p:cNvSpPr/>
          <p:nvPr/>
        </p:nvSpPr>
        <p:spPr>
          <a:xfrm>
            <a:off x="9233154" y="3447288"/>
            <a:ext cx="256032" cy="256032"/>
          </a:xfrm>
          <a:prstGeom prst="ellipse">
            <a:avLst/>
          </a:prstGeom>
          <a:solidFill>
            <a:srgbClr val="F4F1EA"/>
          </a:solidFill>
          <a:ln w="12700">
            <a:solidFill>
              <a:srgbClr val="F4F1EA"/>
            </a:solidFill>
            <a:prstDash val="solid"/>
          </a:ln>
        </p:spPr>
      </p:sp>
      <p:sp>
        <p:nvSpPr>
          <p:cNvPr id="67" name="Text 64"/>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8" name="Text 65"/>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Air becomes colder</a:t>
            </a:r>
            <a:endParaRPr lang="en-US" sz="1250" dirty="0"/>
          </a:p>
        </p:txBody>
      </p:sp>
      <p:sp>
        <p:nvSpPr>
          <p:cNvPr id="69" name="Shape 66"/>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585216"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2" name="Text 69"/>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هٰذِهِ المَشَاكِلُ</a:t>
            </a:r>
            <a:pPr algn="l" indent="0" marL="0">
              <a:buNone/>
            </a:pPr>
            <a:r>
              <a:rPr lang="en-US" sz="1250" b="1" dirty="0">
                <a:solidFill>
                  <a:srgbClr val="1B3B6F"/>
                </a:solidFill>
                <a:latin typeface="Calibri" pitchFamily="34" charset="0"/>
                <a:ea typeface="Calibri" pitchFamily="34" charset="-122"/>
                <a:cs typeface="Calibri" pitchFamily="34" charset="-120"/>
              </a:rPr>
              <a:t> refer to?</a:t>
            </a:r>
            <a:endParaRPr lang="en-US" sz="1250" dirty="0"/>
          </a:p>
        </p:txBody>
      </p:sp>
      <p:sp>
        <p:nvSpPr>
          <p:cNvPr id="73" name="Shape 70"/>
          <p:cNvSpPr/>
          <p:nvPr/>
        </p:nvSpPr>
        <p:spPr>
          <a:xfrm>
            <a:off x="640080"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5" name="Text 72"/>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The environmental problems already described</a:t>
            </a:r>
            <a:endParaRPr lang="en-US" sz="1200" dirty="0"/>
          </a:p>
        </p:txBody>
      </p:sp>
      <p:sp>
        <p:nvSpPr>
          <p:cNvPr id="76" name="Shape 73"/>
          <p:cNvSpPr/>
          <p:nvPr/>
        </p:nvSpPr>
        <p:spPr>
          <a:xfrm>
            <a:off x="640080"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8" name="Text 75"/>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new transport plan</a:t>
            </a:r>
            <a:endParaRPr lang="en-US" sz="1250" dirty="0"/>
          </a:p>
        </p:txBody>
      </p:sp>
      <p:sp>
        <p:nvSpPr>
          <p:cNvPr id="79" name="Shape 76"/>
          <p:cNvSpPr/>
          <p:nvPr/>
        </p:nvSpPr>
        <p:spPr>
          <a:xfrm>
            <a:off x="640080"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1" name="Text 78"/>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Only the trees</a:t>
            </a:r>
            <a:endParaRPr lang="en-US" sz="1250" dirty="0"/>
          </a:p>
        </p:txBody>
      </p:sp>
      <p:sp>
        <p:nvSpPr>
          <p:cNvPr id="82" name="Shape 7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344957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85" name="Text 8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are the future consequences described?</a:t>
            </a:r>
            <a:endParaRPr lang="en-US" sz="1250" dirty="0"/>
          </a:p>
        </p:txBody>
      </p:sp>
      <p:sp>
        <p:nvSpPr>
          <p:cNvPr id="86" name="Shape 83"/>
          <p:cNvSpPr/>
          <p:nvPr/>
        </p:nvSpPr>
        <p:spPr>
          <a:xfrm>
            <a:off x="350443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88" name="Text 85"/>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Temporary and harmless</a:t>
            </a:r>
            <a:endParaRPr lang="en-US" sz="1250" dirty="0"/>
          </a:p>
        </p:txBody>
      </p:sp>
      <p:sp>
        <p:nvSpPr>
          <p:cNvPr id="89" name="Shape 86"/>
          <p:cNvSpPr/>
          <p:nvPr/>
        </p:nvSpPr>
        <p:spPr>
          <a:xfrm>
            <a:off x="350443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91" name="Text 88"/>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Unrelated</a:t>
            </a:r>
            <a:endParaRPr lang="en-US" sz="1250" dirty="0"/>
          </a:p>
        </p:txBody>
      </p:sp>
      <p:sp>
        <p:nvSpPr>
          <p:cNvPr id="92" name="Shape 89"/>
          <p:cNvSpPr/>
          <p:nvPr/>
        </p:nvSpPr>
        <p:spPr>
          <a:xfrm>
            <a:off x="350443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94" name="Text 91"/>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Long-term</a:t>
            </a:r>
            <a:endParaRPr lang="en-US" sz="1250" dirty="0"/>
          </a:p>
        </p:txBody>
      </p:sp>
      <p:sp>
        <p:nvSpPr>
          <p:cNvPr id="95" name="Shape 9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6" name="Text 93"/>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READ LIKE A DETECTIVE</a:t>
            </a:r>
            <a:endParaRPr lang="en-US" sz="1000" dirty="0"/>
          </a:p>
        </p:txBody>
      </p:sp>
      <p:sp>
        <p:nvSpPr>
          <p:cNvPr id="97" name="Text 94"/>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1. Read the question first.</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2. Find ONE key word from the question in the text.</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3. Read only that sentence again, then choose.</a:t>
            </a:r>
            <a:endParaRPr lang="en-US" sz="1250" dirty="0"/>
          </a:p>
        </p:txBody>
      </p:sp>
      <p:sp>
        <p:nvSpPr>
          <p:cNvPr id="98" name="Text 9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42 / 45</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TC-L04 · Environmental Problems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1 of 3</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causes carbon dioxide levels to rise?</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3" name="Text 20"/>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Planting trees</a:t>
            </a:r>
            <a:endParaRPr lang="en-US" sz="1250" dirty="0"/>
          </a:p>
        </p:txBody>
      </p:sp>
      <p:sp>
        <p:nvSpPr>
          <p:cNvPr id="24" name="Shape 21"/>
          <p:cNvSpPr/>
          <p:nvPr/>
        </p:nvSpPr>
        <p:spPr>
          <a:xfrm>
            <a:off x="548640" y="2825496"/>
            <a:ext cx="2498598"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7" name="Text 24"/>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Burning fossil fuels</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30" name="Text 27"/>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Recycling paper</a:t>
            </a:r>
            <a:endParaRPr lang="en-US" sz="1250" dirty="0"/>
          </a:p>
        </p:txBody>
      </p:sp>
      <p:sp>
        <p:nvSpPr>
          <p:cNvPr id="31" name="Text 28"/>
          <p:cNvSpPr txBox="1"/>
          <p:nvPr/>
        </p:nvSpPr>
        <p:spPr>
          <a:xfrm>
            <a:off x="585216"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text begins </a:t>
            </a:r>
            <a:pPr algn="l" indent="0" marL="0">
              <a:buNone/>
            </a:pPr>
            <a:r>
              <a:rPr lang="ar-SA" altLang="en-US" sz="1350" dirty="0">
                <a:solidFill>
                  <a:srgbClr val="8A6D1E"/>
                </a:solidFill>
                <a:latin typeface="Amiri" pitchFamily="34" charset="0"/>
                <a:ea typeface="Amiri" pitchFamily="34" charset="-122"/>
                <a:cs typeface="Amiri" pitchFamily="34" charset="-120"/>
              </a:rPr>
              <a:t>بسبب حرق الوقود الأحفوري</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32" name="Shape 29"/>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3449574"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5" name="Text 32"/>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higher carbon dioxide lead to?</a:t>
            </a:r>
            <a:endParaRPr lang="en-US" sz="1250" dirty="0"/>
          </a:p>
        </p:txBody>
      </p:sp>
      <p:sp>
        <p:nvSpPr>
          <p:cNvPr id="36" name="Shape 33"/>
          <p:cNvSpPr/>
          <p:nvPr/>
        </p:nvSpPr>
        <p:spPr>
          <a:xfrm>
            <a:off x="3504438"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8" name="Text 35"/>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More habitats</a:t>
            </a:r>
            <a:endParaRPr lang="en-US" sz="1250" dirty="0"/>
          </a:p>
        </p:txBody>
      </p:sp>
      <p:sp>
        <p:nvSpPr>
          <p:cNvPr id="39" name="Shape 36"/>
          <p:cNvSpPr/>
          <p:nvPr/>
        </p:nvSpPr>
        <p:spPr>
          <a:xfrm>
            <a:off x="3504438"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1" name="Text 38"/>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Lower temperatures</a:t>
            </a:r>
            <a:endParaRPr lang="en-US" sz="1250" dirty="0"/>
          </a:p>
        </p:txBody>
      </p:sp>
      <p:sp>
        <p:nvSpPr>
          <p:cNvPr id="42" name="Shape 39"/>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3504438"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45" name="Text 42"/>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Global warming</a:t>
            </a:r>
            <a:endParaRPr lang="en-US" sz="1250" dirty="0"/>
          </a:p>
        </p:txBody>
      </p:sp>
      <p:sp>
        <p:nvSpPr>
          <p:cNvPr id="46" name="Text 43"/>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يؤدي ذلك إلى الاحتباس الحراري.</a:t>
            </a:r>
            <a:endParaRPr lang="ar-SA" sz="1350" dirty="0"/>
          </a:p>
        </p:txBody>
      </p:sp>
      <p:sp>
        <p:nvSpPr>
          <p:cNvPr id="47" name="Shape 44"/>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6313932"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50" name="Text 47"/>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two effects of global warming are named?</a:t>
            </a:r>
            <a:endParaRPr lang="en-US" sz="1250" dirty="0"/>
          </a:p>
        </p:txBody>
      </p:sp>
      <p:sp>
        <p:nvSpPr>
          <p:cNvPr id="51" name="Shape 48"/>
          <p:cNvSpPr/>
          <p:nvPr/>
        </p:nvSpPr>
        <p:spPr>
          <a:xfrm>
            <a:off x="6277356" y="2453640"/>
            <a:ext cx="2498598"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6368796"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54" name="Text 51"/>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Melting ice and rising sea level</a:t>
            </a:r>
            <a:endParaRPr lang="en-US" sz="1150" dirty="0"/>
          </a:p>
        </p:txBody>
      </p:sp>
      <p:sp>
        <p:nvSpPr>
          <p:cNvPr id="55" name="Shape 52"/>
          <p:cNvSpPr/>
          <p:nvPr/>
        </p:nvSpPr>
        <p:spPr>
          <a:xfrm>
            <a:off x="6368796"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7" name="Text 54"/>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ea typeface="Calibri" pitchFamily="34" charset="-122"/>
                <a:cs typeface="Calibri" pitchFamily="34" charset="-120"/>
              </a:rPr>
              <a:t>More forests and fresh water</a:t>
            </a:r>
            <a:endParaRPr lang="en-US" sz="1150" dirty="0"/>
          </a:p>
        </p:txBody>
      </p:sp>
      <p:sp>
        <p:nvSpPr>
          <p:cNvPr id="58" name="Shape 55"/>
          <p:cNvSpPr/>
          <p:nvPr/>
        </p:nvSpPr>
        <p:spPr>
          <a:xfrm>
            <a:off x="6368796"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0" name="Text 57"/>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Less wind and more soil</a:t>
            </a:r>
            <a:endParaRPr lang="en-US" sz="1250" dirty="0"/>
          </a:p>
        </p:txBody>
      </p:sp>
      <p:sp>
        <p:nvSpPr>
          <p:cNvPr id="61" name="Text 58"/>
          <p:cNvSpPr txBox="1"/>
          <p:nvPr/>
        </p:nvSpPr>
        <p:spPr>
          <a:xfrm>
            <a:off x="6313932"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Both are in the correct sentence.</a:t>
            </a:r>
            <a:endParaRPr lang="en-US" sz="1050" dirty="0"/>
          </a:p>
        </p:txBody>
      </p:sp>
      <p:sp>
        <p:nvSpPr>
          <p:cNvPr id="62" name="Shape 59"/>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9178290" y="1947672"/>
            <a:ext cx="310896" cy="310896"/>
          </a:xfrm>
          <a:prstGeom prst="ellipse">
            <a:avLst/>
          </a:prstGeom>
          <a:solidFill>
            <a:srgbClr val="1B3B6F"/>
          </a:solidFill>
          <a:ln w="12700">
            <a:solidFill>
              <a:srgbClr val="1B3B6F"/>
            </a:solidFill>
            <a:prstDash val="solid"/>
          </a:ln>
        </p:spPr>
      </p:sp>
      <p:sp>
        <p:nvSpPr>
          <p:cNvPr id="64" name="Text 61"/>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5" name="Text 62"/>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happens when trees are cut down?</a:t>
            </a:r>
            <a:endParaRPr lang="en-US" sz="1250" dirty="0"/>
          </a:p>
        </p:txBody>
      </p:sp>
      <p:sp>
        <p:nvSpPr>
          <p:cNvPr id="66" name="Shape 63"/>
          <p:cNvSpPr/>
          <p:nvPr/>
        </p:nvSpPr>
        <p:spPr>
          <a:xfrm>
            <a:off x="9233154" y="2490216"/>
            <a:ext cx="256032" cy="256032"/>
          </a:xfrm>
          <a:prstGeom prst="ellipse">
            <a:avLst/>
          </a:prstGeom>
          <a:solidFill>
            <a:srgbClr val="C9CED6"/>
          </a:solidFill>
          <a:ln w="12700">
            <a:solidFill>
              <a:srgbClr val="C9CED6"/>
            </a:solidFill>
            <a:prstDash val="solid"/>
          </a:ln>
        </p:spPr>
      </p:sp>
      <p:sp>
        <p:nvSpPr>
          <p:cNvPr id="67" name="Text 64"/>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8" name="Text 65"/>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Sea levels fall</a:t>
            </a:r>
            <a:endParaRPr lang="en-US" sz="1250" dirty="0"/>
          </a:p>
        </p:txBody>
      </p:sp>
      <p:sp>
        <p:nvSpPr>
          <p:cNvPr id="69" name="Shape 66"/>
          <p:cNvSpPr/>
          <p:nvPr/>
        </p:nvSpPr>
        <p:spPr>
          <a:xfrm>
            <a:off x="9141714" y="2825496"/>
            <a:ext cx="2498598"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9233154" y="2862072"/>
            <a:ext cx="256032" cy="256032"/>
          </a:xfrm>
          <a:prstGeom prst="ellipse">
            <a:avLst/>
          </a:prstGeom>
          <a:solidFill>
            <a:srgbClr val="2E8B57"/>
          </a:solidFill>
          <a:ln w="12700">
            <a:solidFill>
              <a:srgbClr val="2E8B57"/>
            </a:solidFill>
            <a:prstDash val="solid"/>
          </a:ln>
        </p:spPr>
      </p:sp>
      <p:sp>
        <p:nvSpPr>
          <p:cNvPr id="71" name="Text 68"/>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72" name="Text 69"/>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00" b="1" dirty="0">
                <a:solidFill>
                  <a:srgbClr val="1F2A37"/>
                </a:solidFill>
                <a:latin typeface="Calibri" pitchFamily="34" charset="0"/>
                <a:ea typeface="Calibri" pitchFamily="34" charset="-122"/>
                <a:cs typeface="Calibri" pitchFamily="34" charset="-120"/>
              </a:rPr>
              <a:t>Animals lose their habitats</a:t>
            </a:r>
            <a:endParaRPr lang="en-US" sz="1200" dirty="0"/>
          </a:p>
        </p:txBody>
      </p:sp>
      <p:sp>
        <p:nvSpPr>
          <p:cNvPr id="73" name="Shape 70"/>
          <p:cNvSpPr/>
          <p:nvPr/>
        </p:nvSpPr>
        <p:spPr>
          <a:xfrm>
            <a:off x="9233154" y="3233928"/>
            <a:ext cx="256032" cy="256032"/>
          </a:xfrm>
          <a:prstGeom prst="ellipse">
            <a:avLst/>
          </a:prstGeom>
          <a:solidFill>
            <a:srgbClr val="C9CED6"/>
          </a:solidFill>
          <a:ln w="12700">
            <a:solidFill>
              <a:srgbClr val="C9CED6"/>
            </a:solidFill>
            <a:prstDash val="solid"/>
          </a:ln>
        </p:spPr>
      </p:sp>
      <p:sp>
        <p:nvSpPr>
          <p:cNvPr id="74" name="Text 71"/>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5" name="Text 72"/>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Air becomes colder</a:t>
            </a:r>
            <a:endParaRPr lang="en-US" sz="1250" dirty="0"/>
          </a:p>
        </p:txBody>
      </p:sp>
      <p:sp>
        <p:nvSpPr>
          <p:cNvPr id="76" name="Text 73"/>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فتفقد الحيوانات موائلها.</a:t>
            </a:r>
            <a:endParaRPr lang="ar-SA" sz="1350" dirty="0"/>
          </a:p>
        </p:txBody>
      </p:sp>
      <p:sp>
        <p:nvSpPr>
          <p:cNvPr id="77" name="Shape 7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585216"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80" name="Text 7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هٰذِهِ المَشَاكِلُ</a:t>
            </a:r>
            <a:pPr algn="l" indent="0" marL="0">
              <a:buNone/>
            </a:pPr>
            <a:r>
              <a:rPr lang="en-US" sz="1250" b="1" dirty="0">
                <a:solidFill>
                  <a:srgbClr val="1B3B6F"/>
                </a:solidFill>
                <a:latin typeface="Calibri" pitchFamily="34" charset="0"/>
                <a:ea typeface="Calibri" pitchFamily="34" charset="-122"/>
                <a:cs typeface="Calibri" pitchFamily="34" charset="-120"/>
              </a:rPr>
              <a:t> refer to?</a:t>
            </a:r>
            <a:endParaRPr lang="en-US" sz="1250" dirty="0"/>
          </a:p>
        </p:txBody>
      </p:sp>
      <p:sp>
        <p:nvSpPr>
          <p:cNvPr id="81" name="Shape 78"/>
          <p:cNvSpPr/>
          <p:nvPr/>
        </p:nvSpPr>
        <p:spPr>
          <a:xfrm>
            <a:off x="548640" y="4794504"/>
            <a:ext cx="2498598"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640080"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84" name="Text 81"/>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The environmental problems already described</a:t>
            </a:r>
            <a:endParaRPr lang="en-US" sz="1150" dirty="0"/>
          </a:p>
        </p:txBody>
      </p:sp>
      <p:sp>
        <p:nvSpPr>
          <p:cNvPr id="85" name="Shape 82"/>
          <p:cNvSpPr/>
          <p:nvPr/>
        </p:nvSpPr>
        <p:spPr>
          <a:xfrm>
            <a:off x="640080"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7" name="Text 84"/>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new transport plan</a:t>
            </a:r>
            <a:endParaRPr lang="en-US" sz="1250" dirty="0"/>
          </a:p>
        </p:txBody>
      </p:sp>
      <p:sp>
        <p:nvSpPr>
          <p:cNvPr id="88" name="Shape 85"/>
          <p:cNvSpPr/>
          <p:nvPr/>
        </p:nvSpPr>
        <p:spPr>
          <a:xfrm>
            <a:off x="640080"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90" name="Text 87"/>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Only the trees</a:t>
            </a:r>
            <a:endParaRPr lang="en-US" sz="1250" dirty="0"/>
          </a:p>
        </p:txBody>
      </p:sp>
      <p:sp>
        <p:nvSpPr>
          <p:cNvPr id="91" name="Text 88"/>
          <p:cNvSpPr txBox="1"/>
          <p:nvPr/>
        </p:nvSpPr>
        <p:spPr>
          <a:xfrm>
            <a:off x="585216" y="5907024"/>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It refers back to the chain of problems.</a:t>
            </a:r>
            <a:endParaRPr lang="en-US" sz="1050" dirty="0"/>
          </a:p>
        </p:txBody>
      </p:sp>
      <p:sp>
        <p:nvSpPr>
          <p:cNvPr id="92" name="Shape 8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3" name="Shape 90"/>
          <p:cNvSpPr/>
          <p:nvPr/>
        </p:nvSpPr>
        <p:spPr>
          <a:xfrm>
            <a:off x="3449574" y="4288536"/>
            <a:ext cx="310896" cy="310896"/>
          </a:xfrm>
          <a:prstGeom prst="ellipse">
            <a:avLst/>
          </a:prstGeom>
          <a:solidFill>
            <a:srgbClr val="1B3B6F"/>
          </a:solidFill>
          <a:ln w="12700">
            <a:solidFill>
              <a:srgbClr val="1B3B6F"/>
            </a:solidFill>
            <a:prstDash val="solid"/>
          </a:ln>
        </p:spPr>
      </p:sp>
      <p:sp>
        <p:nvSpPr>
          <p:cNvPr id="94" name="Text 9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95" name="Text 9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are the future consequences described?</a:t>
            </a:r>
            <a:endParaRPr lang="en-US" sz="1250" dirty="0"/>
          </a:p>
        </p:txBody>
      </p:sp>
      <p:sp>
        <p:nvSpPr>
          <p:cNvPr id="96" name="Shape 93"/>
          <p:cNvSpPr/>
          <p:nvPr/>
        </p:nvSpPr>
        <p:spPr>
          <a:xfrm>
            <a:off x="3504438" y="4831080"/>
            <a:ext cx="256032" cy="256032"/>
          </a:xfrm>
          <a:prstGeom prst="ellipse">
            <a:avLst/>
          </a:prstGeom>
          <a:solidFill>
            <a:srgbClr val="C9CED6"/>
          </a:solidFill>
          <a:ln w="12700">
            <a:solidFill>
              <a:srgbClr val="C9CED6"/>
            </a:solidFill>
            <a:prstDash val="solid"/>
          </a:ln>
        </p:spPr>
      </p:sp>
      <p:sp>
        <p:nvSpPr>
          <p:cNvPr id="97" name="Text 94"/>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98" name="Text 95"/>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Temporary and harmless</a:t>
            </a:r>
            <a:endParaRPr lang="en-US" sz="1250" dirty="0"/>
          </a:p>
        </p:txBody>
      </p:sp>
      <p:sp>
        <p:nvSpPr>
          <p:cNvPr id="99" name="Shape 96"/>
          <p:cNvSpPr/>
          <p:nvPr/>
        </p:nvSpPr>
        <p:spPr>
          <a:xfrm>
            <a:off x="3504438" y="5202936"/>
            <a:ext cx="256032" cy="256032"/>
          </a:xfrm>
          <a:prstGeom prst="ellipse">
            <a:avLst/>
          </a:prstGeom>
          <a:solidFill>
            <a:srgbClr val="C9CED6"/>
          </a:solidFill>
          <a:ln w="12700">
            <a:solidFill>
              <a:srgbClr val="C9CED6"/>
            </a:solidFill>
            <a:prstDash val="solid"/>
          </a:ln>
        </p:spPr>
      </p:sp>
      <p:sp>
        <p:nvSpPr>
          <p:cNvPr id="100" name="Text 97"/>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101" name="Text 98"/>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Unrelated</a:t>
            </a:r>
            <a:endParaRPr lang="en-US" sz="1250" dirty="0"/>
          </a:p>
        </p:txBody>
      </p:sp>
      <p:sp>
        <p:nvSpPr>
          <p:cNvPr id="102" name="Shape 99"/>
          <p:cNvSpPr/>
          <p:nvPr/>
        </p:nvSpPr>
        <p:spPr>
          <a:xfrm>
            <a:off x="3412998" y="5538216"/>
            <a:ext cx="2498598" cy="347472"/>
          </a:xfrm>
          <a:prstGeom prst="roundRect">
            <a:avLst>
              <a:gd name="adj" fmla="val 15789"/>
            </a:avLst>
          </a:prstGeom>
          <a:solidFill>
            <a:srgbClr val="E6F4EC"/>
          </a:solidFill>
          <a:ln w="9525">
            <a:solidFill>
              <a:srgbClr val="2E8B57"/>
            </a:solidFill>
            <a:prstDash val="solid"/>
          </a:ln>
        </p:spPr>
      </p:sp>
      <p:sp>
        <p:nvSpPr>
          <p:cNvPr id="103" name="Shape 100"/>
          <p:cNvSpPr/>
          <p:nvPr/>
        </p:nvSpPr>
        <p:spPr>
          <a:xfrm>
            <a:off x="3504438" y="5574792"/>
            <a:ext cx="256032" cy="256032"/>
          </a:xfrm>
          <a:prstGeom prst="ellipse">
            <a:avLst/>
          </a:prstGeom>
          <a:solidFill>
            <a:srgbClr val="2E8B57"/>
          </a:solidFill>
          <a:ln w="12700">
            <a:solidFill>
              <a:srgbClr val="2E8B57"/>
            </a:solidFill>
            <a:prstDash val="solid"/>
          </a:ln>
        </p:spPr>
      </p:sp>
      <p:sp>
        <p:nvSpPr>
          <p:cNvPr id="104" name="Text 101"/>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105" name="Text 102"/>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Long-term</a:t>
            </a:r>
            <a:endParaRPr lang="en-US" sz="1250" dirty="0"/>
          </a:p>
        </p:txBody>
      </p:sp>
      <p:sp>
        <p:nvSpPr>
          <p:cNvPr id="106" name="Text 103"/>
          <p:cNvSpPr txBox="1"/>
          <p:nvPr/>
        </p:nvSpPr>
        <p:spPr>
          <a:xfrm>
            <a:off x="3449574"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طويلة الأمد.</a:t>
            </a:r>
            <a:endParaRPr lang="ar-SA" sz="1350" dirty="0"/>
          </a:p>
        </p:txBody>
      </p:sp>
      <p:sp>
        <p:nvSpPr>
          <p:cNvPr id="107" name="Shape 104"/>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8" name="Text 105"/>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READ LIKE A DETECTIVE</a:t>
            </a:r>
            <a:endParaRPr lang="en-US" sz="1000" dirty="0"/>
          </a:p>
        </p:txBody>
      </p:sp>
      <p:sp>
        <p:nvSpPr>
          <p:cNvPr id="109" name="Text 106"/>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1. Read the question first.</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2. Find ONE key word from the question in the text.</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3. Read only that sentence again, then choose.</a:t>
            </a:r>
            <a:endParaRPr lang="en-US" sz="1250" dirty="0"/>
          </a:p>
        </p:txBody>
      </p:sp>
      <p:sp>
        <p:nvSpPr>
          <p:cNvPr id="110" name="Text 10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43 / 45</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TC-L04 · Environmental Problems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ea typeface="Calibri" pitchFamily="34" charset="-122"/>
                <a:cs typeface="Calibri" pitchFamily="34" charset="-120"/>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Before TC-L05: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1 of 3</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ea typeface="Calibri" pitchFamily="34" charset="-122"/>
                <a:cs typeface="Calibri" pitchFamily="34" charset="-120"/>
              </a:rPr>
              <a:t>LEARN THESE 5 WORDS</a:t>
            </a:r>
            <a:endParaRPr lang="en-US" sz="1100" dirty="0"/>
          </a:p>
          <a:p>
            <a:pPr indent="0" marL="0">
              <a:buNone/>
            </a:pPr>
            <a:r>
              <a:rPr lang="en-US" sz="1000" dirty="0">
                <a:solidFill>
                  <a:srgbClr val="5A6472"/>
                </a:solidFill>
                <a:latin typeface="Calibri" pitchFamily="34" charset="0"/>
                <a:ea typeface="Calibri" pitchFamily="34" charset="-122"/>
                <a:cs typeface="Calibri" pitchFamily="34" charset="-120"/>
              </a:rPr>
              <a:t>for TC-L05 · Environmental Solutions and Responsibility</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إِعَادَةُ التَّدْوِيرِ</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recycling</a:t>
            </a:r>
            <a:pPr indent="0" marL="0">
              <a:buNone/>
            </a:pP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نَزْرَعُ</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we plant</a:t>
            </a:r>
            <a:pPr indent="0" marL="0">
              <a:buNone/>
            </a:pP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نُوَفِّرُ</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we save, conserve</a:t>
            </a:r>
            <a:pPr indent="0" marL="0">
              <a:buNone/>
            </a:pP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يَجِبُ أَنْ</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must</a:t>
            </a:r>
            <a:pPr indent="0" marL="0">
              <a:buNone/>
            </a:pP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النَّقْلُ العَامُّ</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public transport</a:t>
            </a:r>
            <a:pPr indent="0" marL="0">
              <a:buNone/>
            </a:pP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ea typeface="Calibri" pitchFamily="34" charset="-122"/>
                <a:cs typeface="Calibri" pitchFamily="34" charset="-120"/>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ea typeface="Calibri" pitchFamily="34" charset="-122"/>
                <a:cs typeface="Calibri" pitchFamily="34" charset="-120"/>
              </a:rPr>
              <a:t>Write one Arabic sentence: what can you do to help the environment?</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lnSpc>
                <a:spcPct val="120000"/>
              </a:lnSpc>
              <a:buNone/>
            </a:pPr>
            <a:r>
              <a:rPr lang="ar-SA" altLang="en-US" sz="1700" b="1" dirty="0">
                <a:solidFill>
                  <a:srgbClr val="1B3B6F"/>
                </a:solidFill>
                <a:latin typeface="Amiri" pitchFamily="34" charset="0"/>
                <a:ea typeface="Amiri" pitchFamily="34" charset="-122"/>
                <a:cs typeface="Amiri" pitchFamily="34" charset="-120"/>
              </a:rPr>
              <a:t>مَاذَا تَسْتَطِيعُ أَنْ تَفْعَلَ لِحِمَايَةِ البِيئَةِ؟</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Website · TC-L04 · play “Cause &amp; Effect”, then the vocabulary mission.</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Write a four-step cause–effect chain about one problem (website application task).</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Website · TC-L04 · the application mission and the reading “A cause–effect chain” (6 questions).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44 / 45</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ea typeface="Calibri" pitchFamily="34" charset="-122"/>
                <a:cs typeface="Calibri" pitchFamily="34" charset="-120"/>
              </a:rPr>
              <a:t>TC-L04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34" charset="0"/>
                <a:ea typeface="Amiri" pitchFamily="34" charset="-122"/>
                <a:cs typeface="Amiri" pitchFamily="34" charset="-120"/>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ea typeface="Calibri" pitchFamily="34" charset="-122"/>
                <a:cs typeface="Calibri" pitchFamily="34" charset="-120"/>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ea typeface="Calibri" pitchFamily="34" charset="-122"/>
                <a:cs typeface="Calibri" pitchFamily="34" charset="-120"/>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TC-L05 · Environmental Solutions and Responsibility</a:t>
            </a:r>
            <a:endParaRPr lang="en-US" sz="19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34" charset="0"/>
                <a:ea typeface="Amiri" pitchFamily="34" charset="-122"/>
                <a:cs typeface="Amiri" pitchFamily="34" charset="-120"/>
              </a:rPr>
              <a:t>الحُلُولُ البِيئِيَّةُ وَالمَسْؤُولِيَّةُ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Remember: 5 words + 1 sentence before next lesson.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45</Slides>
  <Notes>45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TC-L04 · Environmental Problems and Their Causes</dc:title>
  <dc:subject>PptxGenJS Presentation</dc:subject>
  <dc:creator>Al Madina Online School · Arabic Department</dc:creator>
  <cp:lastModifiedBy>Al Madina Online School · Arabic Department</cp:lastModifiedBy>
  <cp:revision>1</cp:revision>
  <dcterms:created xsi:type="dcterms:W3CDTF">2026-09-27T09:04:15Z</dcterms:created>
  <dcterms:modified xsi:type="dcterms:W3CDTF">2026-09-27T09:04:15Z</dcterms:modified>
</cp:coreProperties>
</file>