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Lst>
  <p:notesMasterIdLst>
    <p:notesMasterId r:id="rId5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notesMaster" Target="notesMasters/notesMaster1.xml"/><Relationship Id="rId52" Type="http://schemas.openxmlformats.org/officeDocument/2006/relationships/presProps" Target="presProps.xml"/><Relationship Id="rId53" Type="http://schemas.openxmlformats.org/officeDocument/2006/relationships/viewProps" Target="viewProps.xml"/><Relationship Id="rId54" Type="http://schemas.openxmlformats.org/officeDocument/2006/relationships/theme" Target="theme/theme1.xml"/><Relationship Id="rId5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AT A GLANCE — planned for 56 minutes, leaving about 4 minutes for Teams delays.
0–1 Welcome · 1–2 Lesson map · 2–9 Do Now + answers · 9–10 Objectives · 10–17 Key words · 17–23 Grammar · 23–25 Quick check · 25–28 I Do · 28–37 We Do · 37–49 You Do (speaking 3 + writing 9, with live feedback) · 49–54 Feedback (model, self-check, exit ticket) · 54–56 Preparation for next lesson.
FLEX slides are optional. Use them if the class is moving quickly; otherwise the same activities are on the website for homework.
Content source: Miftah Arabic website, Advanced Topics › Topic C › Lesson 8 (TC-L08). The website lesson reuses P4-L02 (Urban Environments — Cities, Architecture and Urban Planning) with the Topic C focus “Describe a town and evaluate the availability and quality of services” (grammar: يوجد/توجد; locatives; comparatives). The Core vocabulary comes from the Topic C “Towns, Buildings, Services &amp; Shopping” bank; the picture match is the website lesson game “Town Map”. The services guide is teacher-made from website vocabulary.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P4-L02 is B2 language. CORE: town places + يُوجَدُ / تُوجَدُ / لَا يُوجَدُ + six place words (مُقَابِلَ، بِجَانِبِ …) + comparatives (أَكْبَرُ مِنْ). DEVELOP: the website’s مَبْنِيٌّ مِنْ, يَتَمَيَّزُ بِـ and the planning verbs. STRETCH: the urban passive (يُبْنَى) and لِكَيْ + subjunctive.
• Picture match (map), colour-coded masculine/feminine rule, adjective → comparative table, a “services guide” reading with a glossary, and a read-along listening with English.
• Urdu bridge words (مدینہ، عمارت، مکان، سہولت، مقابلہ).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Questions 1–2 test two of the five words prepared at home (Flipped Learning follow-up). Questions 3–5 retrieve TC-L07.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Arabic says “there is” with one verb that changes for masculine and feminine things.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The Core statements carry the Topic C focus for this lesson (describe a town, evaluate services; يوجد/توجد, locatives, comparatives). The website objectives on the left are the P4-L02 objectives.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HOW TO TEACH EACH GROUP (EAL pre-teaching routine, 7 min)
1. HEAR IT: say the word twice, clearly, with a gesture where possible.
2. SAY IT: choral repetition — “I say, you say” — then two volunteers.
3. SEE IT: point out the part of the word that carries today’s grammar (colour code).
4. USE IT: quick check — “Type the NUMBER of the word that means …” in the chat.
Transliteration is printed for Core students. Develop/Stretch students should cover it and read the Arabic.
FLEX groups are for fast classes or homework — every word is on the website vocabulary tab.
URDU BRIDGE: مدینہ (the same word — المَدِينَةُ المُنَوَّرَةُ = “the illuminated city”), عمارت (building — the website’s العِمَارَةُ = architecture), مکان (in Urdu a house; in Arabic any place), سہولت (facility — from سَهْلٌ, easy), مقابلہ (a contest, “facing each other” — مُقَابِلَ = opposite).
Groups 1–2 are the Topic C “Towns, Buildings, Services &amp; Shopping” bank; Groups 3–5 are the Topic C grammar focus (يوجد/توجد, locatives, comparatives); Group 6 is the website P4-L02 vocabulary.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buildings (Topic C bank, “Public buildings” and “Leisure &amp; cultural places”). Hear → Say → See → Use.
Pattern spotting (Stretch): many place words start with مَـ = “the place of …”: مَكْتَبَةٌ (place of books, كِتَابٌ), مَقْهًى (place of coffee, قَهْوَةٌ), مَتْحَفٌ (place of treasures, تُحْفَةٌ), مَدْرَسَةٌ (place of study, يَدْرُسُ).
Website example: أَسْتَعِيرُ الكُتُبَ مِنَ المَكْتَبَةِ = I borrow books from the library.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services and stations (Topic C bank). Core: the three CORE words. The مَـ pattern again: مَلْعَبٌ (place of playing, يَلْعَبُ), مَسْبَحٌ (place of swimming, يَسْبَحُ), مَوْقِفٌ (place of stopping, يَقِفُ).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1 — يُوجَدُ / تُوجَدُ (Topic C grammar focus). Blue = the first letter that matches the THING:
• يُـ for a masculine thing (مُسْتَشْفًى، بَنْكٌ، مَسْبَحٌ). • تُـ for a feminine thing (ـة: مَكْتَبَةٌ، عِيَادَةٌ). • تُـ for a plural of THINGS too (non-human plural = feminine singular — the rule from TC-L04: الأَشْجَارُ … تُقْطَعُ).
Teal = the question / negative word: لَا (not), هَلْ (question).
Core: rows 1–2. Develop: add questions (row 3). Stretch: the website’s own examples use مَوْجُودٌ / يُبْنَى — see Part 5.
Gesture: point to the ـة ending on the word first, THEN choose يُـ or تُـ.</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2 — locatives (Topic C grammar focus). Gesture each one with two hands (two “buildings”): facing, side by side, close, one hand between two, in front, behind.
Compass points from TC-L01 also work as place words: الفُنْدُقُ شَرْقَ مَحَطَّةِ القِطَارِ (website game).
Website note: the website game writes المُسْتَشْفَى مُقَابِلُ البَنْكِ (مُقَابِلُ as the predicate). The more common form in speech and writing is مُقَابِلَ with fatḥa, like all the other place words — teach مُقَابِلَ; accept both.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2 — locative sentences. Rows 1–3 are the website “Town Map” game sentences (row 1 with مُقَابِلَ — see previous slide); row 4 is teacher-made.
Pink = ENDING: after a place word the next noun takes kasra (-i). No verb “is” is needed in Arabic.
Core: say rows 1–2 with the gestures. Develop: make a new sentence about your own street.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3 — comparatives (Topic C grammar focus). Orange = the PATTERN أَفْعَلُ (a + root with a in the middle). Teal = مِنْ (than), always.
Good news for Core: the comparative is the SAME for masculine and feminine: المَدِينَةُ أَكْبَرُ · البَيْتُ أَكْبَرُ.
Row 5: جَيِّدٌ → أَفْضَلُ (irregular — “better”). Row 6 (Develop / Stretch): long adjectives use أَكْثَرُ + a noun ending -an (the website: أَقَلَّ اكْتِظَاظًا = less overcrowded; أَكْثَرَ اسْتِدَامَةً = more sustainable).
Common error: أَكْبَرُ عَنْ ✗ → أَكْبَرُ مِنْ ✓.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the website P4-L02 “Urban planning” and “urban passive and goals” vocabulary (Develop / Stretch). Core students listen and repeat; these words help them JUDGE services in the reading (crowded, noisy, green, liveable).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4 — Develop. Website teaching point: “مَبْنِيٌّ مِنْ names the material; the passive names the process”. All three examples are website sentences. Materials from the website: الحَجَرُ (stone), الطِّينُ (clay), الخَشَبُ (wood), الزُّجَاجُ (glass), الصُّلْبُ (steel).
Website common error: “Keeping the passive subject accusative, or leaving the verb after لِكَي in the indicative. The passive subject is nominative, and لِكَي takes a fatḥa.”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GRAMMAR RULES AND EXAMPLES (FLEX — Stretch or homework): materials and features, planning verbs, the urban passive (يُبْنَى + nominative) and the goal clause (لِكَيْ + fatḥa). Website overview: “مَبْنِيٌّ مِنْ and the planning verbs, the urban passive with a nominative subject, and the لِكَي goal clause with its subjunctive.”
Website teaching point: “يُخَطِّطُ المُهَنْدِسُونَ لِكَيْ تَكُونَ المُدُنُ أَكْثَرَ اسْتِدَامَةً (so that cities become more sustainable — تَكُونَ, subjunctive). The purpose clause carries the goal, and the verb takes a fatḥa.”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questions 1–3 teacher-made (Topic C grammar focus); question 4 is website grammar quiz question 1.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teacher models with a think-aloud; students watch, then COPY the paragraph into their books.
Step 1 — “What is there? مُسْتَشْفًى — no ـة, so يُوجَدُ.”
Step 2 — “مَكْتَبَةٌ has ـة → تُوجَدُ. Where? بِجَانِبِ المَقْهَى — next to the café.”
Step 3 — “Something missing: لَا يُوجَدُ مَسْبَحٌ.”
Step 4 — “Judge it: هَادِئٌ (quiet) → أَهْدَأُ مِنْ (quieter than) — the أَفْعَلُ pattern + مِنْ.”
Teacher-made from the Topic C bank and grammar focus; لٰكِنَّ from TC-L03.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(1 min) — website game, Topic C bank and P4-L02. Students copy TWO that are useful for them.
• Core: copy 1 and 2 (change the places). • Develop: copy 3 about a building you know. • Stretch: copy 4 and add a website Type 2: وَلَوْ كَانَ التَّخْطِيطُ أَكْثَرَ اسْتِدَامَةً، لَكَانَتِ المُدُنُ أَقَلَّ اكْتِظَاظًا.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the website’s interactive lesson game (“Town Map”)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Key words to spot: مُقَابِلُ (opposite), بِجَانِبِ (next to), شَرْقَ (east of — TC-L01 compass points). Stretch: say where YOUR nearest hospital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the website’s interactive lesson game (“Town Map”)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Key words to spot: مُقَابِلُ (opposite), بِجَانِبِ (next to), شَرْقَ (east of — TC-L01 compass points). Stretch: say where YOUR nearest hospital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AND JUDGE (2 min reading) — Topic C focus “Describe a town and evaluate the availability and quality of services”, and the website application “City-planner information gap … ask for missing services, buildings and locations, then justify where two facilities should go”.
The guide is teacher-made from the Topic C bank and website vocabulary. Read it aloud once while students follow. SEND: cover the text and uncover one line at a time; Core students use the glossary.
Ask students to label each line ✓ (good service) or ✗ (problem) — the “evaluate” part of the focus.
Translation for the teacher: A guide to the services in our area. In our area there is a big hospital and two clinics. There is a public library next to the school, and it is open every day. The train station is near the square, and the trains are fast. There is no swimming pool, and the pitch is very small. There are many cafés, but the car park is always crowded. My opinion: our area is better than the old district, but it needs green spaces.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AND JUDGE questions (teacher-made). Students type five letters in the chat. Core: questions 1, 3 and 4 with the key-word clues. Stretch: which facility should be built next, and where? Answer with يَجِبُ أَنْ نَبْنِيَ … بِجَانِبِ … (TC-L05).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Reveal. For each answer, a student reads the exact line from the guide (by invitation). Then vote: is this a good area to live in?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sentence builder (3 min). Teacher-made from the three Topic C grammar points (يوجد/توجد; locatives; comparatives).
Students choose ONE box per column (start from Column 1 on the right) and type the letters, e.g. “1: B A A”. ↔ Rehearse 30s first.
Core: sentences 1 and 2. Develop / Stretch: sentence 3 and explain the wrong options.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sentence builder (3 min). Teacher-made from the three Topic C grammar points (يوجد/توجد; locatives; comparatives).
Students choose ONE box per column (start from Column 1 on the right) and type the letters, e.g. “1: B A A”. ↔ Rehearse 30s first.
Core: sentences 1 and 2. Develop / Stretch: sentence 3 and explain the wrong options.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(FLEX — Develop / Stretch, 2 min). Clue: مَبْنِيٌّ / يَتَمَيَّزُ = describing; يُجَدِّدُ / يُعِيدُ / يُحَوِّلُ = planning (doing something to the city); يُبْنَى / يُخَطَّطُ / لِكَيْ = passive or goal.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(FLEX — Develop / Stretch, 2 min). Clue: مَبْنِيٌّ / يَتَمَيَّزُ = describing; يُجَدِّدُ / يُعِيدُ / يُحَوِّلُ = planning (doing something to the city); يُبْنَى / يُخَطَّطُ / لِكَيْ = passive or goal.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quiz 2, 3, 4, 8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LISTENING (4 min) — website script. Read it aloud yourself, twice, at natural speed with pauses.
Before listening: students read the questions (● 30s). Core: questions 1–3. Develop / Stretch: all 5.
Listen 1: just listen. Listen 2: note answers. Then chat the letters.
Support: after the second listening, show the read-along slide (Arabic + English, line by line) for Core students.
SCRIPT (read aloud):
تَتَمَيَّزُ مَدِينَةُ دُبَيَّ بِمَزِيجٍ فَرِيدٍ مِنَ العِمَارَةِ التُّرَاثِيَّةِ وَالمِعْمَارِ الحَدِيثِ. بُنِيَ الجُزْءُ القَدِيمُ مِنَ الطِّينِ وَالخَشَبِ، فِي حِينِ أَنَّ نَاطِحَاتِ السَّحَابِ مَبْنِيَّةٌ مِنَ الزُّجَاجِ وَالصُّلْبِ. تُعِيدُ هَيْئَاتُ التَّطْوِيرِ تَصْمِيمَ أَحْيَاءٍ كَامِلَةٍ، وَتُحَوِّلُ مَنَاطِقَ صِنَاعِيَّةً قَدِيمَةً إِلَى مَسَاحَاتٍ خَضْرَاءَ. غَيْرَ أَنَّ التَّوَسُّعَ السَّرِيعَ يُؤَدِّي إِلَى ازْدِحَامٍ مُرُورِيٍّ. إِذَا وَاصَلَتِ المُدُنُ التَّوَسُّعَ دُونَ تَخْطِيطٍ، سَتُعَانِي مِنْ تَلَوُّثٍ ضَوْضَائِيٍّ. وَلَوْ كَانَ التَّخْطِيطُ أَكْثَرَ اسْتِدَامَةً مُنْذُ البِدَايَةِ، لَكَانَتِ المُدُنُ أَقَلَّ اكْتِظَاظًا. لِذٰلِكَ يُخَطِّطُ المُهَنْدِسُونَ لِكَيْ تَكُونَ المُدُنُ صَالِحَةً لِلْعَيْشِ.</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READ-ALONG (Core support) — show AFTER the second listening. The Arabic is the website script, line by line; the English is a teacher translation.
Read it once more while Core students follow. Annotate the words that gave each answer.
Stretch: cover the English column and translate one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answers. For each, ask “Which Arabic words gave you the answer?” — the evidence line is under each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 REHEARSAL (3 min) — website speaking prompts (the Core prompt is teacher-made). No breakout rooms (saves setup time).
Sequence: ● 10s think → ↔ 45s everyone rehearses their answer aloud with mic muted → ◎ pairs on open mic: name two students (warned in advance); A asks, B answers; the rest of the class types one follow-up question in chat (+ / ?) → ↺ one student summarises the answer they heard.
Routes: Core uses the Core prompt and stem; Develop the Develop prompts; Stretch the last prompt.
Model (website) at the bottom — read it with a confident student first. The website model continues:
A: وَمَا الهَدَفُ العُمْرَانِيُّ؟ (Goal)
B: يُعَادُ تَصْمِيمُ الأَحْيَاءِ لِكَيْ تَكُونَ صَالِحَةً لِلْعَيْشِ، وَلَوِ اهْتَمُّوا بِالخُضْرَةِ مُبَكِّرًا لَكَانَتْ أَجْمَلَ. (Passive + لِكَي + Type 2)
Core prompt (teacher-made; it is the preparation question): “What is there in your town? Where?” — answered with the Core stem, e.g. تُوجَدُ مَكْتَبَةٌ بِجَانِبِ المَسْجِدِ.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differentiation tasks: Core — Write five urban sentences with مَبْنِيٌّ مِنْ and the planning verbs. · Develop — Add an urban passive and a Type 1 challenge. · Stretch — Close with a Type 2 counterfactual and a لِكَي goal clause.
Website writing task (Stretch): Write one hundred to one hundred and ten words analysing a city or urban project. Use مَبْنِيٌّ مِنْ, a planning verb, the urban passive, both conditional types and a لِكَي goal clause.
LIVE FEEDBACK: students post their first two sentences in the chat (or OneNote) after 3 minutes. Scan and correct misconceptions immediately — use private chat for individual corrections (Behaviour: quiet, individual).
Work with the less able: stay with Core students for the first 3 minutes; Develop/Stretch continue independently. SEND: chunk the Core task — “two sentences, then show me”.
Extension (fast finishers): the reading on the Extension slides. Pastoral: Self-Management point for students who work without prompting.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from the website model, reading text and listening script. Live feedback for Stretch: check the target structures appear and are accurate.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FEEDBACK (1 min) — website model answer, with an English translation for Core students.
Students find in the model (● 20s → ◎) the four items on the chips. Core students find the materials after مِنَ and the places in the text; Stretch find the passive (يُحَوَّلُ) and the لِكَيْ goal.
Then each student chooses ONE thing from the model to add to their own writing (specific, actionable feedback on the success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3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EXTENSION — website reading text. For fast finishers during You Do, or Stretch homework. “You don’t need every word; find the words the question asks about.”
The green key-words panel is a teacher-made glossary so Develop students can also attempt it.
SEND reading strategy (Toolkit 1): cover the text with a piece of paper and uncover one sentence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from the website. The detective steps follow the SEND “modular reading” strategy: read one part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from the website, with the evidence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(TC-L09 · Shopping, Prices and Consumer Choices) will spend class time USING this language, so students prepare it tonight — short, simple, easy to access (school guidance: “Simple, Short, Interesting, Relevant, Easy to access”). The five words come from the website lesson (F6-L06 “Shopping in Town: Prices and Comparisons”).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image" Target="../media/image-21-6.png"/><Relationship Id="rId7" Type="http://schemas.openxmlformats.org/officeDocument/2006/relationships/slideLayout" Target="../slideLayouts/slideLayout1.xml"/><Relationship Id="rId8"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image" Target="../media/image-22-5.png"/><Relationship Id="rId6" Type="http://schemas.openxmlformats.org/officeDocument/2006/relationships/image" Target="../media/image-22-6.png"/><Relationship Id="rId7" Type="http://schemas.openxmlformats.org/officeDocument/2006/relationships/slideLayout" Target="../slideLayouts/slideLayout1.xml"/><Relationship Id="rId8"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1.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1.xml"/><Relationship Id="rId3" Type="http://schemas.openxmlformats.org/officeDocument/2006/relationships/notesSlide" Target="../notesSlides/notesSlide4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34" charset="0"/>
                <a:ea typeface="Amiri" pitchFamily="34" charset="-122"/>
                <a:cs typeface="Amiri" pitchFamily="34" charset="-120"/>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Al Madina Online School</a:t>
            </a:r>
            <a:endParaRPr lang="en-US" sz="1400" dirty="0"/>
          </a:p>
          <a:p>
            <a:pPr indent="0" marL="0">
              <a:buNone/>
            </a:pPr>
            <a:r>
              <a:rPr lang="en-US" sz="800" b="1" spc="200" kern="0" dirty="0">
                <a:solidFill>
                  <a:srgbClr val="D4AF37"/>
                </a:solidFill>
                <a:latin typeface="Calibri" pitchFamily="34" charset="0"/>
                <a:ea typeface="Calibri" pitchFamily="34" charset="-122"/>
                <a:cs typeface="Calibri" pitchFamily="34" charset="-120"/>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ea typeface="Calibri" pitchFamily="34" charset="-122"/>
                <a:cs typeface="Calibri" pitchFamily="34" charset="-120"/>
              </a:rPr>
              <a:t>CAMBRIDGE IGCSE ARABIC 0544  ·  YEAR 8  ·  ADVANCED TOPIC C  ·  WEEK 3  ·  LESSON 2 OF 3</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ea typeface="Cambria" pitchFamily="34" charset="-122"/>
                <a:cs typeface="Cambria" pitchFamily="34" charset="-120"/>
              </a:rPr>
              <a:t>TC-L08</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3100" b="1" dirty="0">
                <a:solidFill>
                  <a:srgbClr val="FFFFFF"/>
                </a:solidFill>
                <a:latin typeface="Cambria" pitchFamily="34" charset="0"/>
                <a:ea typeface="Cambria" pitchFamily="34" charset="-122"/>
                <a:cs typeface="Cambria" pitchFamily="34" charset="-120"/>
              </a:rPr>
              <a:t>Buildings, Services and Urban Areas</a:t>
            </a:r>
            <a:endParaRPr lang="en-US" sz="310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34" charset="0"/>
                <a:ea typeface="Amiri" pitchFamily="34" charset="-122"/>
                <a:cs typeface="Amiri" pitchFamily="34" charset="-120"/>
              </a:rPr>
              <a:t>المَبَانِي وَالخَدَمَاتُ وَالمَنَاطِقُ الحَضَرِيَّةُ</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ea typeface="Calibri" pitchFamily="34" charset="-122"/>
                <a:cs typeface="Calibri" pitchFamily="34" charset="-120"/>
              </a:rPr>
              <a:t>Describe a town and judge its services: what there is (</a:t>
            </a:r>
            <a:pPr algn="l" indent="0" marL="0">
              <a:buNone/>
            </a:pPr>
            <a:r>
              <a:rPr lang="ar-SA" altLang="en-US" sz="1800" dirty="0">
                <a:solidFill>
                  <a:srgbClr val="C6D2E6"/>
                </a:solidFill>
                <a:latin typeface="Amiri" pitchFamily="34" charset="0"/>
                <a:ea typeface="Amiri" pitchFamily="34" charset="-122"/>
                <a:cs typeface="Amiri" pitchFamily="34" charset="-120"/>
              </a:rPr>
              <a:t>يُوجَدُ / تُوجَدُ</a:t>
            </a:r>
            <a:pPr algn="l" indent="0" marL="0">
              <a:buNone/>
            </a:pPr>
            <a:r>
              <a:rPr lang="en-US" sz="1400" dirty="0">
                <a:solidFill>
                  <a:srgbClr val="C6D2E6"/>
                </a:solidFill>
                <a:latin typeface="Calibri" pitchFamily="34" charset="0"/>
                <a:ea typeface="Calibri" pitchFamily="34" charset="-122"/>
                <a:cs typeface="Calibri" pitchFamily="34" charset="-120"/>
              </a:rPr>
              <a:t>), where it is (</a:t>
            </a:r>
            <a:pPr algn="l" indent="0" marL="0">
              <a:buNone/>
            </a:pPr>
            <a:r>
              <a:rPr lang="ar-SA" altLang="en-US" sz="1800" dirty="0">
                <a:solidFill>
                  <a:srgbClr val="C6D2E6"/>
                </a:solidFill>
                <a:latin typeface="Amiri" pitchFamily="34" charset="0"/>
                <a:ea typeface="Amiri" pitchFamily="34" charset="-122"/>
                <a:cs typeface="Amiri" pitchFamily="34" charset="-120"/>
              </a:rPr>
              <a:t>مُقَابِلَ</a:t>
            </a:r>
            <a:pPr algn="l" indent="0" marL="0">
              <a:buNone/>
            </a:pPr>
            <a:r>
              <a:rPr lang="en-US" sz="1400" dirty="0">
                <a:solidFill>
                  <a:srgbClr val="C6D2E6"/>
                </a:solidFill>
                <a:latin typeface="Calibri" pitchFamily="34" charset="0"/>
                <a:ea typeface="Calibri" pitchFamily="34" charset="-122"/>
                <a:cs typeface="Calibri" pitchFamily="34" charset="-120"/>
              </a:rPr>
              <a:t> · </a:t>
            </a:r>
            <a:pPr algn="l" indent="0" marL="0">
              <a:buNone/>
            </a:pPr>
            <a:r>
              <a:rPr lang="ar-SA" altLang="en-US" sz="1800" dirty="0">
                <a:solidFill>
                  <a:srgbClr val="C6D2E6"/>
                </a:solidFill>
                <a:latin typeface="Amiri" pitchFamily="34" charset="0"/>
                <a:ea typeface="Amiri" pitchFamily="34" charset="-122"/>
                <a:cs typeface="Amiri" pitchFamily="34" charset="-120"/>
              </a:rPr>
              <a:t>بِجَانِبِ</a:t>
            </a:r>
            <a:pPr algn="l" indent="0" marL="0">
              <a:buNone/>
            </a:pPr>
            <a:r>
              <a:rPr lang="en-US" sz="1400" dirty="0">
                <a:solidFill>
                  <a:srgbClr val="C6D2E6"/>
                </a:solidFill>
                <a:latin typeface="Calibri" pitchFamily="34" charset="0"/>
                <a:ea typeface="Calibri" pitchFamily="34" charset="-122"/>
                <a:cs typeface="Calibri" pitchFamily="34" charset="-120"/>
              </a:rPr>
              <a:t>) and how it compares (</a:t>
            </a:r>
            <a:pPr algn="l" indent="0" marL="0">
              <a:buNone/>
            </a:pPr>
            <a:r>
              <a:rPr lang="ar-SA" altLang="en-US" sz="1800" dirty="0">
                <a:solidFill>
                  <a:srgbClr val="C6D2E6"/>
                </a:solidFill>
                <a:latin typeface="Amiri" pitchFamily="34" charset="0"/>
                <a:ea typeface="Amiri" pitchFamily="34" charset="-122"/>
                <a:cs typeface="Amiri" pitchFamily="34" charset="-120"/>
              </a:rPr>
              <a:t>أَكْبَرُ مِنْ</a:t>
            </a:r>
            <a:pPr algn="l" indent="0" marL="0">
              <a:buNone/>
            </a:pPr>
            <a:r>
              <a:rPr lang="en-US" sz="1400" dirty="0">
                <a:solidFill>
                  <a:srgbClr val="C6D2E6"/>
                </a:solidFill>
                <a:latin typeface="Calibri" pitchFamily="34" charset="0"/>
                <a:ea typeface="Calibri" pitchFamily="34" charset="-122"/>
                <a:cs typeface="Calibri" pitchFamily="34" charset="-120"/>
              </a:rPr>
              <a:t>), then analyse a city with </a:t>
            </a:r>
            <a:pPr algn="l" indent="0" marL="0">
              <a:buNone/>
            </a:pPr>
            <a:r>
              <a:rPr lang="ar-SA" altLang="en-US" sz="1800" dirty="0">
                <a:solidFill>
                  <a:srgbClr val="C6D2E6"/>
                </a:solidFill>
                <a:latin typeface="Amiri" pitchFamily="34" charset="0"/>
                <a:ea typeface="Amiri" pitchFamily="34" charset="-122"/>
                <a:cs typeface="Amiri" pitchFamily="34" charset="-120"/>
              </a:rPr>
              <a:t>مَبْنِيٌّ مِنْ</a:t>
            </a:r>
            <a:pPr algn="l" indent="0" marL="0">
              <a:buNone/>
            </a:pPr>
            <a:r>
              <a:rPr lang="en-US" sz="1400" dirty="0">
                <a:solidFill>
                  <a:srgbClr val="C6D2E6"/>
                </a:solidFill>
                <a:latin typeface="Calibri" pitchFamily="34" charset="0"/>
                <a:ea typeface="Calibri" pitchFamily="34" charset="-122"/>
                <a:cs typeface="Calibri" pitchFamily="34" charset="-120"/>
              </a:rPr>
              <a:t>.</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ea typeface="Calibri" pitchFamily="34" charset="-122"/>
                <a:cs typeface="Calibri" pitchFamily="34" charset="-120"/>
              </a:rPr>
              <a:t>LESSON</a:t>
            </a:r>
            <a:endParaRPr lang="en-US" sz="850" dirty="0"/>
          </a:p>
          <a:p>
            <a:pPr indent="0" marL="0">
              <a:buNone/>
            </a:pPr>
            <a:r>
              <a:rPr lang="en-US" sz="1200" b="1" dirty="0">
                <a:solidFill>
                  <a:srgbClr val="FFFFFF"/>
                </a:solidFill>
                <a:latin typeface="Calibri" pitchFamily="34" charset="0"/>
                <a:ea typeface="Calibri" pitchFamily="34" charset="-122"/>
                <a:cs typeface="Calibri" pitchFamily="34" charset="-120"/>
              </a:rPr>
              <a:t>TC-L08 · Week 3, lesson 2</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ea typeface="Calibri" pitchFamily="34" charset="-122"/>
                <a:cs typeface="Calibri" pitchFamily="34" charset="-120"/>
              </a:rPr>
              <a:t>DURATION</a:t>
            </a:r>
            <a:endParaRPr lang="en-US" sz="850" dirty="0"/>
          </a:p>
          <a:p>
            <a:pPr indent="0" marL="0">
              <a:buNone/>
            </a:pPr>
            <a:r>
              <a:rPr lang="en-US" sz="1200" b="1" dirty="0">
                <a:solidFill>
                  <a:srgbClr val="FFFFFF"/>
                </a:solidFill>
                <a:latin typeface="Calibri" pitchFamily="34" charset="0"/>
                <a:ea typeface="Calibri" pitchFamily="34" charset="-122"/>
                <a:cs typeface="Calibri" pitchFamily="34" charset="-120"/>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ea typeface="Calibri" pitchFamily="34" charset="-122"/>
                <a:cs typeface="Calibri" pitchFamily="34" charset="-120"/>
              </a:rPr>
              <a:t>LEVEL</a:t>
            </a:r>
            <a:endParaRPr lang="en-US" sz="850" dirty="0"/>
          </a:p>
          <a:p>
            <a:pPr indent="0" marL="0">
              <a:buNone/>
            </a:pPr>
            <a:r>
              <a:rPr lang="en-US" sz="1200" b="1" dirty="0">
                <a:solidFill>
                  <a:srgbClr val="FFFFFF"/>
                </a:solidFill>
                <a:latin typeface="Calibri" pitchFamily="34" charset="0"/>
                <a:ea typeface="Calibri" pitchFamily="34" charset="-122"/>
                <a:cs typeface="Calibri" pitchFamily="34" charset="-120"/>
              </a:rPr>
              <a:t>Topic C · A1+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ea typeface="Calibri" pitchFamily="34" charset="-122"/>
                <a:cs typeface="Calibri" pitchFamily="34" charset="-120"/>
              </a:rPr>
              <a:t>ON THE WEBSITE</a:t>
            </a:r>
            <a:endParaRPr lang="en-US" sz="850" dirty="0"/>
          </a:p>
          <a:p>
            <a:pPr indent="0" marL="0">
              <a:buNone/>
            </a:pPr>
            <a:r>
              <a:rPr lang="en-US" sz="1200" b="1" dirty="0">
                <a:solidFill>
                  <a:srgbClr val="FFFFFF"/>
                </a:solidFill>
                <a:latin typeface="Calibri" pitchFamily="34" charset="0"/>
                <a:ea typeface="Calibri" pitchFamily="34" charset="-122"/>
                <a:cs typeface="Calibri" pitchFamily="34" charset="-120"/>
              </a:rPr>
              <a:t>Advanced Topics › C › Lesson 8</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TC-L08 · Buildings &amp; Services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ea typeface="Calibri" pitchFamily="34" charset="-122"/>
                <a:cs typeface="Calibri" pitchFamily="34" charset="-120"/>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3 · Lesson 2 of 3</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ea typeface="Calibri" pitchFamily="34" charset="-122"/>
                <a:cs typeface="Calibri" pitchFamily="34" charset="-120"/>
              </a:rPr>
              <a:t>Camera on</a:t>
            </a:r>
            <a:endParaRPr lang="en-US" sz="1500" dirty="0"/>
          </a:p>
          <a:p>
            <a:pPr indent="0" marL="0">
              <a:buNone/>
            </a:pPr>
            <a:r>
              <a:rPr lang="en-US" sz="1150" dirty="0">
                <a:solidFill>
                  <a:srgbClr val="5A6472"/>
                </a:solidFill>
                <a:latin typeface="Calibri" pitchFamily="34" charset="0"/>
                <a:ea typeface="Calibri" pitchFamily="34" charset="-122"/>
                <a:cs typeface="Calibri" pitchFamily="34" charset="-120"/>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ea typeface="Calibri" pitchFamily="34" charset="-122"/>
                <a:cs typeface="Calibri" pitchFamily="34" charset="-120"/>
              </a:rPr>
              <a:t>Mic muted</a:t>
            </a:r>
            <a:endParaRPr lang="en-US" sz="1500" dirty="0"/>
          </a:p>
          <a:p>
            <a:pPr indent="0" marL="0">
              <a:buNone/>
            </a:pPr>
            <a:r>
              <a:rPr lang="en-US" sz="1150" dirty="0">
                <a:solidFill>
                  <a:srgbClr val="5A6472"/>
                </a:solidFill>
                <a:latin typeface="Calibri" pitchFamily="34" charset="0"/>
                <a:ea typeface="Calibri" pitchFamily="34" charset="-122"/>
                <a:cs typeface="Calibri" pitchFamily="34" charset="-120"/>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ea typeface="Calibri" pitchFamily="34" charset="-122"/>
                <a:cs typeface="Calibri" pitchFamily="34" charset="-120"/>
              </a:rPr>
              <a:t>Chat for learning</a:t>
            </a:r>
            <a:endParaRPr lang="en-US" sz="1500" dirty="0"/>
          </a:p>
          <a:p>
            <a:pPr indent="0" marL="0">
              <a:buNone/>
            </a:pPr>
            <a:r>
              <a:rPr lang="en-US" sz="1150" dirty="0">
                <a:solidFill>
                  <a:srgbClr val="5A6472"/>
                </a:solidFill>
                <a:latin typeface="Calibri" pitchFamily="34" charset="0"/>
                <a:ea typeface="Calibri" pitchFamily="34" charset="-122"/>
                <a:cs typeface="Calibri" pitchFamily="34" charset="-120"/>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ea typeface="Calibri" pitchFamily="34" charset="-122"/>
                <a:cs typeface="Calibri" pitchFamily="34" charset="-120"/>
              </a:rPr>
              <a:t>Raise your hand</a:t>
            </a:r>
            <a:endParaRPr lang="en-US" sz="1500" dirty="0"/>
          </a:p>
          <a:p>
            <a:pPr indent="0" marL="0">
              <a:buNone/>
            </a:pPr>
            <a:r>
              <a:rPr lang="en-US" sz="1150" dirty="0">
                <a:solidFill>
                  <a:srgbClr val="5A6472"/>
                </a:solidFill>
                <a:latin typeface="Calibri" pitchFamily="34" charset="0"/>
                <a:ea typeface="Calibri" pitchFamily="34" charset="-122"/>
                <a:cs typeface="Calibri" pitchFamily="34" charset="-120"/>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ea typeface="Calibri" pitchFamily="34" charset="-122"/>
                <a:cs typeface="Calibri" pitchFamily="34" charset="-120"/>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Think</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Rehearse</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Build</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Challenge</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Share</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Summarise</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ea typeface="Calibri" pitchFamily="34" charset="-122"/>
                <a:cs typeface="Calibri" pitchFamily="34" charset="-120"/>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 / 49</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TC-L08 · Buildings &amp; Services</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ea typeface="Calibri" pitchFamily="34" charset="-122"/>
                <a:cs typeface="Calibri" pitchFamily="34" charset="-120"/>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3 · Lesson 2 of 3</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34" charset="0"/>
                <a:ea typeface="Amiri" pitchFamily="34" charset="-122"/>
                <a:cs typeface="Amiri" pitchFamily="34" charset="-120"/>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Places, “there is”, where it is and comparing.</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34" charset="0"/>
                <a:ea typeface="Amiri" pitchFamily="34" charset="-122"/>
                <a:cs typeface="Amiri" pitchFamily="34" charset="-120"/>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Town map, read a guide, build, fix and listen.</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34" charset="0"/>
                <a:ea typeface="Amiri" pitchFamily="34" charset="-122"/>
                <a:cs typeface="Amiri" pitchFamily="34" charset="-120"/>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34" charset="0"/>
                <a:ea typeface="Amiri" pitchFamily="34" charset="-122"/>
                <a:cs typeface="Amiri" pitchFamily="34" charset="-120"/>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34" charset="0"/>
                <a:ea typeface="Amiri" pitchFamily="34" charset="-122"/>
                <a:cs typeface="Amiri" pitchFamily="34" charset="-120"/>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Get ready at home for TC-L09.</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34" charset="0"/>
                <a:ea typeface="Amiri" pitchFamily="34" charset="-122"/>
                <a:cs typeface="Amiri" pitchFamily="34" charset="-120"/>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ea typeface="Calibri" pitchFamily="34" charset="-122"/>
                <a:cs typeface="Calibri" pitchFamily="34" charset="-120"/>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ea typeface="Calibri" pitchFamily="34" charset="-122"/>
                <a:cs typeface="Calibri" pitchFamily="34" charset="-120"/>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 / 49</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TC-L08 · Buildings &amp; Services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ea typeface="Calibri" pitchFamily="34" charset="-122"/>
                <a:cs typeface="Calibri" pitchFamily="34" charset="-120"/>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ea typeface="Cambria" pitchFamily="34" charset="-122"/>
                <a:cs typeface="Cambria" pitchFamily="34" charset="-120"/>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3 · Lesson 2 of 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a:t>
            </a:r>
            <a:pPr algn="l" indent="0" marL="0">
              <a:buNone/>
            </a:pPr>
            <a:r>
              <a:rPr lang="ar-SA" altLang="en-US" sz="1650" b="1" dirty="0">
                <a:solidFill>
                  <a:srgbClr val="1B3B6F"/>
                </a:solidFill>
                <a:latin typeface="Amiri" pitchFamily="34" charset="0"/>
                <a:ea typeface="Amiri" pitchFamily="34" charset="-122"/>
                <a:cs typeface="Amiri" pitchFamily="34" charset="-120"/>
              </a:rPr>
              <a:t>مُسْتَشْفًى</a:t>
            </a:r>
            <a:pPr algn="l" indent="0" marL="0">
              <a:buNone/>
            </a:pPr>
            <a:r>
              <a:rPr lang="en-US" sz="1250" b="1" dirty="0">
                <a:solidFill>
                  <a:srgbClr val="1B3B6F"/>
                </a:solidFill>
                <a:latin typeface="Calibri" pitchFamily="34" charset="0"/>
                <a:ea typeface="Calibri" pitchFamily="34" charset="-122"/>
                <a:cs typeface="Calibri" pitchFamily="34" charset="-120"/>
              </a:rPr>
              <a:t> mean?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library</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hospital</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bank</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word means “café”?</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مَقْهًى</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مَكْتَبَةٌ</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بَنْكٌ</a:t>
            </a:r>
            <a:endParaRPr lang="ar-SA" sz="20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small word must follow </a:t>
            </a:r>
            <a:pPr algn="l" indent="0" marL="0">
              <a:buNone/>
            </a:pPr>
            <a:r>
              <a:rPr lang="ar-SA" altLang="en-US" sz="1650" b="1" dirty="0">
                <a:solidFill>
                  <a:srgbClr val="1B3B6F"/>
                </a:solidFill>
                <a:latin typeface="Amiri" pitchFamily="34" charset="0"/>
                <a:ea typeface="Amiri" pitchFamily="34" charset="-122"/>
                <a:cs typeface="Amiri" pitchFamily="34" charset="-120"/>
              </a:rPr>
              <a:t>أُقِيمُ</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عَلَى</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إِلَى</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فِي</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a:t>
            </a:r>
            <a:pPr algn="l" indent="0" marL="0">
              <a:buNone/>
            </a:pPr>
            <a:r>
              <a:rPr lang="ar-SA" altLang="en-US" sz="1650" b="1" dirty="0">
                <a:solidFill>
                  <a:srgbClr val="1B3B6F"/>
                </a:solidFill>
                <a:latin typeface="Amiri" pitchFamily="34" charset="0"/>
                <a:ea typeface="Amiri" pitchFamily="34" charset="-122"/>
                <a:cs typeface="Amiri" pitchFamily="34" charset="-120"/>
              </a:rPr>
              <a:t>أَحْضِرْ جَوَازَ سَفَرِكَ</a:t>
            </a:r>
            <a:pPr algn="l" indent="0" marL="0">
              <a:buNone/>
            </a:pPr>
            <a:r>
              <a:rPr lang="en-US" sz="1250" b="1" dirty="0">
                <a:solidFill>
                  <a:srgbClr val="1B3B6F"/>
                </a:solidFill>
                <a:latin typeface="Calibri" pitchFamily="34" charset="0"/>
                <a:ea typeface="Calibri" pitchFamily="34" charset="-122"/>
                <a:cs typeface="Calibri" pitchFamily="34" charset="-120"/>
              </a:rPr>
              <a:t> mean?</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 brought my passport.</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He has a passport.</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Bring your passport.</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verb means “I will book”?</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سَأَحْجِزُ</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حَجَزْتُ</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أَحْجِزُ</a:t>
            </a:r>
            <a:endParaRPr lang="ar-SA" sz="20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ea typeface="Calibri" pitchFamily="34" charset="-122"/>
                <a:cs typeface="Calibri" pitchFamily="34" charset="-120"/>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ea typeface="Calibri" pitchFamily="34" charset="-122"/>
                <a:cs typeface="Calibri" pitchFamily="34" charset="-120"/>
              </a:rPr>
              <a:t>Work on your own in silence.</a:t>
            </a:r>
            <a:endParaRPr lang="en-US" sz="1350" dirty="0"/>
          </a:p>
          <a:p>
            <a:pPr algn="l" indent="0" marL="0">
              <a:buNone/>
            </a:pPr>
            <a:r>
              <a:rPr lang="en-US" sz="1350" dirty="0">
                <a:solidFill>
                  <a:srgbClr val="1F2A37"/>
                </a:solidFill>
                <a:latin typeface="Calibri" pitchFamily="34" charset="0"/>
                <a:ea typeface="Calibri" pitchFamily="34" charset="-122"/>
                <a:cs typeface="Calibri" pitchFamily="34" charset="-120"/>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ea typeface="Consolas" pitchFamily="34" charset="-122"/>
                <a:cs typeface="Consolas" pitchFamily="34" charset="-120"/>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ea typeface="Calibri" pitchFamily="34" charset="-122"/>
                <a:cs typeface="Calibri" pitchFamily="34" charset="-120"/>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4 / 49</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TC-L08 · Buildings &amp; Services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ea typeface="Calibri" pitchFamily="34" charset="-122"/>
                <a:cs typeface="Calibri" pitchFamily="34" charset="-120"/>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3 · Lesson 2 of 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a:t>
            </a:r>
            <a:pPr algn="l" indent="0" marL="0">
              <a:buNone/>
            </a:pPr>
            <a:r>
              <a:rPr lang="ar-SA" altLang="en-US" sz="1650" b="1" dirty="0">
                <a:solidFill>
                  <a:srgbClr val="1B3B6F"/>
                </a:solidFill>
                <a:latin typeface="Amiri" pitchFamily="34" charset="0"/>
                <a:ea typeface="Amiri" pitchFamily="34" charset="-122"/>
                <a:cs typeface="Amiri" pitchFamily="34" charset="-120"/>
              </a:rPr>
              <a:t>مُسْتَشْفًى</a:t>
            </a:r>
            <a:pPr algn="l" indent="0" marL="0">
              <a:buNone/>
            </a:pPr>
            <a:r>
              <a:rPr lang="en-US" sz="1250" b="1" dirty="0">
                <a:solidFill>
                  <a:srgbClr val="1B3B6F"/>
                </a:solidFill>
                <a:latin typeface="Calibri" pitchFamily="34" charset="0"/>
                <a:ea typeface="Calibri" pitchFamily="34" charset="-122"/>
                <a:cs typeface="Calibri" pitchFamily="34" charset="-120"/>
              </a:rPr>
              <a:t> mean?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library</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hospital</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bank</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Prepared at home: </a:t>
            </a:r>
            <a:pPr algn="l" indent="0" marL="0">
              <a:buNone/>
            </a:pPr>
            <a:r>
              <a:rPr lang="ar-SA" altLang="en-US" sz="1350" dirty="0">
                <a:solidFill>
                  <a:srgbClr val="8A6D1E"/>
                </a:solidFill>
                <a:latin typeface="Amiri" pitchFamily="34" charset="0"/>
                <a:ea typeface="Amiri" pitchFamily="34" charset="-122"/>
                <a:cs typeface="Amiri" pitchFamily="34" charset="-120"/>
              </a:rPr>
              <a:t>مُسْتَشْفًى</a:t>
            </a:r>
            <a:pPr algn="l" indent="0" marL="0">
              <a:buNone/>
            </a:pPr>
            <a:r>
              <a:rPr lang="en-US" sz="1050" i="1" dirty="0">
                <a:solidFill>
                  <a:srgbClr val="8A6D1E"/>
                </a:solidFill>
                <a:latin typeface="Calibri" pitchFamily="34" charset="0"/>
                <a:ea typeface="Calibri" pitchFamily="34" charset="-122"/>
                <a:cs typeface="Calibri" pitchFamily="34" charset="-120"/>
              </a:rPr>
              <a:t> = hospital.</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word means “café”?</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مَقْهًى</a:t>
            </a:r>
            <a:endParaRPr lang="ar-SA" sz="170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مَكْتَبَةٌ</a:t>
            </a:r>
            <a:endParaRPr lang="ar-SA" sz="170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بَنْكٌ</a:t>
            </a:r>
            <a:endParaRPr lang="ar-SA" sz="170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Prepared at home: </a:t>
            </a:r>
            <a:pPr algn="l" indent="0" marL="0">
              <a:buNone/>
            </a:pPr>
            <a:r>
              <a:rPr lang="ar-SA" altLang="en-US" sz="1350" dirty="0">
                <a:solidFill>
                  <a:srgbClr val="8A6D1E"/>
                </a:solidFill>
                <a:latin typeface="Amiri" pitchFamily="34" charset="0"/>
                <a:ea typeface="Amiri" pitchFamily="34" charset="-122"/>
                <a:cs typeface="Amiri" pitchFamily="34" charset="-120"/>
              </a:rPr>
              <a:t>مَقْهًى</a:t>
            </a:r>
            <a:pPr algn="l" indent="0" marL="0">
              <a:buNone/>
            </a:pPr>
            <a:r>
              <a:rPr lang="en-US" sz="1050" i="1" dirty="0">
                <a:solidFill>
                  <a:srgbClr val="8A6D1E"/>
                </a:solidFill>
                <a:latin typeface="Calibri" pitchFamily="34" charset="0"/>
                <a:ea typeface="Calibri" pitchFamily="34" charset="-122"/>
                <a:cs typeface="Calibri" pitchFamily="34" charset="-120"/>
              </a:rPr>
              <a:t> = café (pl. </a:t>
            </a:r>
            <a:pPr algn="l" indent="0" marL="0">
              <a:buNone/>
            </a:pPr>
            <a:r>
              <a:rPr lang="ar-SA" altLang="en-US" sz="1350" dirty="0">
                <a:solidFill>
                  <a:srgbClr val="8A6D1E"/>
                </a:solidFill>
                <a:latin typeface="Amiri" pitchFamily="34" charset="0"/>
                <a:ea typeface="Amiri" pitchFamily="34" charset="-122"/>
                <a:cs typeface="Amiri" pitchFamily="34" charset="-120"/>
              </a:rPr>
              <a:t>مَقَاهٍ</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small word must follow </a:t>
            </a:r>
            <a:pPr algn="l" indent="0" marL="0">
              <a:buNone/>
            </a:pPr>
            <a:r>
              <a:rPr lang="ar-SA" altLang="en-US" sz="1650" b="1" dirty="0">
                <a:solidFill>
                  <a:srgbClr val="1B3B6F"/>
                </a:solidFill>
                <a:latin typeface="Amiri" pitchFamily="34" charset="0"/>
                <a:ea typeface="Amiri" pitchFamily="34" charset="-122"/>
                <a:cs typeface="Amiri" pitchFamily="34" charset="-120"/>
              </a:rPr>
              <a:t>أُقِيمُ</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عَلَى</a:t>
            </a:r>
            <a:endParaRPr lang="ar-SA" sz="170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إِلَى</a:t>
            </a:r>
            <a:endParaRPr lang="ar-SA" sz="170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فِي</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TC-L07: </a:t>
            </a:r>
            <a:pPr algn="l" indent="0" marL="0">
              <a:buNone/>
            </a:pPr>
            <a:r>
              <a:rPr lang="ar-SA" altLang="en-US" sz="1350" dirty="0">
                <a:solidFill>
                  <a:srgbClr val="8A6D1E"/>
                </a:solidFill>
                <a:latin typeface="Amiri" pitchFamily="34" charset="0"/>
                <a:ea typeface="Amiri" pitchFamily="34" charset="-122"/>
                <a:cs typeface="Amiri" pitchFamily="34" charset="-120"/>
              </a:rPr>
              <a:t>أُقِيمُ فِي فُنْدُقٍ</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a:t>
            </a:r>
            <a:pPr algn="l" indent="0" marL="0">
              <a:buNone/>
            </a:pPr>
            <a:r>
              <a:rPr lang="ar-SA" altLang="en-US" sz="1650" b="1" dirty="0">
                <a:solidFill>
                  <a:srgbClr val="1B3B6F"/>
                </a:solidFill>
                <a:latin typeface="Amiri" pitchFamily="34" charset="0"/>
                <a:ea typeface="Amiri" pitchFamily="34" charset="-122"/>
                <a:cs typeface="Amiri" pitchFamily="34" charset="-120"/>
              </a:rPr>
              <a:t>أَحْضِرْ جَوَازَ سَفَرِكَ</a:t>
            </a:r>
            <a:pPr algn="l" indent="0" marL="0">
              <a:buNone/>
            </a:pPr>
            <a:r>
              <a:rPr lang="en-US" sz="1250" b="1" dirty="0">
                <a:solidFill>
                  <a:srgbClr val="1B3B6F"/>
                </a:solidFill>
                <a:latin typeface="Calibri" pitchFamily="34" charset="0"/>
                <a:ea typeface="Calibri" pitchFamily="34" charset="-122"/>
                <a:cs typeface="Calibri" pitchFamily="34" charset="-120"/>
              </a:rPr>
              <a:t> mean?</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I brought my passport.</a:t>
            </a:r>
            <a:endParaRPr lang="en-US" sz="125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He has a passport.</a:t>
            </a:r>
            <a:endParaRPr lang="en-US" sz="125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Bring your passport.</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TC-L07: an instruction (“Do it!”).</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verb means “I will book”?</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سَأَحْجِزُ</a:t>
            </a:r>
            <a:endParaRPr lang="ar-SA" sz="170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حَجَزْتُ</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أَحْجِزُ</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TC-L07: </a:t>
            </a:r>
            <a:pPr algn="l" indent="0" marL="0">
              <a:buNone/>
            </a:pPr>
            <a:r>
              <a:rPr lang="ar-SA" altLang="en-US" sz="1350" dirty="0">
                <a:solidFill>
                  <a:srgbClr val="8A6D1E"/>
                </a:solidFill>
                <a:latin typeface="Amiri" pitchFamily="34" charset="0"/>
                <a:ea typeface="Amiri" pitchFamily="34" charset="-122"/>
                <a:cs typeface="Amiri" pitchFamily="34" charset="-120"/>
              </a:rPr>
              <a:t>سَـ</a:t>
            </a:r>
            <a:pPr algn="l" indent="0" marL="0">
              <a:buNone/>
            </a:pPr>
            <a:r>
              <a:rPr lang="en-US" sz="1050" i="1" dirty="0">
                <a:solidFill>
                  <a:srgbClr val="8A6D1E"/>
                </a:solidFill>
                <a:latin typeface="Calibri" pitchFamily="34" charset="0"/>
                <a:ea typeface="Calibri" pitchFamily="34" charset="-122"/>
                <a:cs typeface="Calibri" pitchFamily="34" charset="-120"/>
              </a:rPr>
              <a:t> = will.</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ea typeface="Calibri" pitchFamily="34" charset="-122"/>
                <a:cs typeface="Calibri" pitchFamily="34" charset="-120"/>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ea typeface="Calibri" pitchFamily="34" charset="-122"/>
                <a:cs typeface="Calibri" pitchFamily="34" charset="-120"/>
              </a:rPr>
              <a:t>Arabic says “there is” with one verb that changes for masculine and feminine things.</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buNone/>
            </a:pPr>
            <a:r>
              <a:rPr lang="ar-SA" altLang="en-US" sz="2400" b="1" dirty="0">
                <a:solidFill>
                  <a:srgbClr val="1D5FBF"/>
                </a:solidFill>
                <a:latin typeface="Amiri" pitchFamily="34" charset="0"/>
                <a:ea typeface="Amiri" pitchFamily="34" charset="-122"/>
                <a:cs typeface="Amiri" pitchFamily="34" charset="-120"/>
              </a:rPr>
              <a:t>يُ</a:t>
            </a:r>
            <a:pPr rtl="1" algn="ctr" indent="0" marL="0">
              <a:buNone/>
            </a:pPr>
            <a:r>
              <a:rPr lang="ar-SA" altLang="en-US" sz="2400" b="1" dirty="0">
                <a:solidFill>
                  <a:srgbClr val="1B3B6F"/>
                </a:solidFill>
                <a:latin typeface="Amiri" pitchFamily="34" charset="0"/>
                <a:ea typeface="Amiri" pitchFamily="34" charset="-122"/>
                <a:cs typeface="Amiri" pitchFamily="34" charset="-120"/>
              </a:rPr>
              <a:t>وجَدُ مُسْتَشْفًى  ·  </a:t>
            </a:r>
            <a:pPr rtl="1" algn="ctr" indent="0" marL="0">
              <a:buNone/>
            </a:pPr>
            <a:r>
              <a:rPr lang="ar-SA" altLang="en-US" sz="2400" b="1" dirty="0">
                <a:solidFill>
                  <a:srgbClr val="1D5FBF"/>
                </a:solidFill>
                <a:latin typeface="Amiri" pitchFamily="34" charset="0"/>
                <a:ea typeface="Amiri" pitchFamily="34" charset="-122"/>
                <a:cs typeface="Amiri" pitchFamily="34" charset="-120"/>
              </a:rPr>
              <a:t>تُ</a:t>
            </a:r>
            <a:pPr rtl="1" algn="ctr" indent="0" marL="0">
              <a:buNone/>
            </a:pPr>
            <a:r>
              <a:rPr lang="ar-SA" altLang="en-US" sz="2400" b="1" dirty="0">
                <a:solidFill>
                  <a:srgbClr val="1B3B6F"/>
                </a:solidFill>
                <a:latin typeface="Amiri" pitchFamily="34" charset="0"/>
                <a:ea typeface="Amiri" pitchFamily="34" charset="-122"/>
                <a:cs typeface="Amiri" pitchFamily="34" charset="-120"/>
              </a:rPr>
              <a:t>وجَدُ مَكْتَبَةٌ</a:t>
            </a:r>
            <a:endParaRPr lang="ar-SA" sz="240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5 / 49</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TC-L08 · Buildings &amp; Services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ea typeface="Calibri" pitchFamily="34" charset="-122"/>
                <a:cs typeface="Calibri" pitchFamily="34" charset="-120"/>
              </a:rPr>
              <a:t>LESSON 2 OF 3 THIS WEEK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3 · Lesson 2 of 3</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ea typeface="Calibri" pitchFamily="34" charset="-122"/>
                <a:cs typeface="Calibri" pitchFamily="34" charset="-120"/>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34" charset="0"/>
                <a:ea typeface="Amiri" pitchFamily="34" charset="-122"/>
                <a:cs typeface="Amiri" pitchFamily="34" charset="-120"/>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ea typeface="Calibri" pitchFamily="34" charset="-122"/>
                <a:cs typeface="Calibri" pitchFamily="34" charset="-120"/>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Describe architecture with </a:t>
            </a:r>
            <a:pPr algn="l" indent="0" marL="0">
              <a:buNone/>
            </a:pPr>
            <a:r>
              <a:rPr lang="ar-SA" altLang="en-US" sz="1700" dirty="0">
                <a:solidFill>
                  <a:srgbClr val="1F2A37"/>
                </a:solidFill>
                <a:latin typeface="Amiri" pitchFamily="34" charset="0"/>
                <a:ea typeface="Amiri" pitchFamily="34" charset="-122"/>
                <a:cs typeface="Amiri" pitchFamily="34" charset="-120"/>
              </a:rPr>
              <a:t>مَبْنِيٌّ مِنْ</a:t>
            </a:r>
            <a:pPr algn="l" indent="0" marL="0">
              <a:buNone/>
            </a:pPr>
            <a:r>
              <a:rPr lang="en-US" sz="1300" dirty="0">
                <a:solidFill>
                  <a:srgbClr val="1F2A37"/>
                </a:solidFill>
                <a:latin typeface="Calibri" pitchFamily="34" charset="0"/>
                <a:ea typeface="Calibri" pitchFamily="34" charset="-122"/>
                <a:cs typeface="Calibri" pitchFamily="34" charset="-120"/>
              </a:rPr>
              <a:t> and </a:t>
            </a:r>
            <a:pPr algn="l" indent="0" marL="0">
              <a:buNone/>
            </a:pPr>
            <a:r>
              <a:rPr lang="ar-SA" altLang="en-US" sz="1700" dirty="0">
                <a:solidFill>
                  <a:srgbClr val="1F2A37"/>
                </a:solidFill>
                <a:latin typeface="Amiri" pitchFamily="34" charset="0"/>
                <a:ea typeface="Amiri" pitchFamily="34" charset="-122"/>
                <a:cs typeface="Amiri" pitchFamily="34" charset="-120"/>
              </a:rPr>
              <a:t>يَتَمَيَّزُ بِـ</a:t>
            </a:r>
            <a:pPr algn="l" indent="0" marL="0">
              <a:buNone/>
            </a:pPr>
            <a:r>
              <a:rPr lang="en-US" sz="1300" dirty="0">
                <a:solidFill>
                  <a:srgbClr val="1F2A37"/>
                </a:solidFill>
                <a:latin typeface="Calibri" pitchFamily="34" charset="0"/>
                <a:ea typeface="Calibri" pitchFamily="34" charset="-122"/>
                <a:cs typeface="Calibri" pitchFamily="34" charset="-120"/>
              </a:rPr>
              <a:t>.</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ea typeface="Calibri" pitchFamily="34" charset="-122"/>
                <a:cs typeface="Calibri" pitchFamily="34" charset="-120"/>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Use the planning verbs </a:t>
            </a:r>
            <a:pPr algn="l" indent="0" marL="0">
              <a:buNone/>
            </a:pPr>
            <a:r>
              <a:rPr lang="ar-SA" altLang="en-US" sz="1700" dirty="0">
                <a:solidFill>
                  <a:srgbClr val="1F2A37"/>
                </a:solidFill>
                <a:latin typeface="Amiri" pitchFamily="34" charset="0"/>
                <a:ea typeface="Amiri" pitchFamily="34" charset="-122"/>
                <a:cs typeface="Amiri" pitchFamily="34" charset="-120"/>
              </a:rPr>
              <a:t>يُعِيدُ تَصْمِيمَ، يُجَدِّدُ، يُحَوِّلُ إِلَى</a:t>
            </a:r>
            <a:pPr algn="l" indent="0" marL="0">
              <a:buNone/>
            </a:pPr>
            <a:r>
              <a:rPr lang="en-US" sz="1300" dirty="0">
                <a:solidFill>
                  <a:srgbClr val="1F2A37"/>
                </a:solidFill>
                <a:latin typeface="Calibri" pitchFamily="34" charset="0"/>
                <a:ea typeface="Calibri" pitchFamily="34" charset="-122"/>
                <a:cs typeface="Calibri" pitchFamily="34" charset="-120"/>
              </a:rPr>
              <a:t>.</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ea typeface="Calibri" pitchFamily="34" charset="-122"/>
                <a:cs typeface="Calibri" pitchFamily="34" charset="-120"/>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Use the urban passive </a:t>
            </a:r>
            <a:pPr algn="l" indent="0" marL="0">
              <a:buNone/>
            </a:pPr>
            <a:r>
              <a:rPr lang="ar-SA" altLang="en-US" sz="1700" dirty="0">
                <a:solidFill>
                  <a:srgbClr val="1F2A37"/>
                </a:solidFill>
                <a:latin typeface="Amiri" pitchFamily="34" charset="0"/>
                <a:ea typeface="Amiri" pitchFamily="34" charset="-122"/>
                <a:cs typeface="Amiri" pitchFamily="34" charset="-120"/>
              </a:rPr>
              <a:t>يُبْنَى، يُخَطَّطُ، يُعَادُ تَصْمِيمُهُ</a:t>
            </a:r>
            <a:pPr algn="l" indent="0" marL="0">
              <a:buNone/>
            </a:pPr>
            <a:r>
              <a:rPr lang="en-US" sz="1300" dirty="0">
                <a:solidFill>
                  <a:srgbClr val="1F2A37"/>
                </a:solidFill>
                <a:latin typeface="Calibri" pitchFamily="34" charset="0"/>
                <a:ea typeface="Calibri" pitchFamily="34" charset="-122"/>
                <a:cs typeface="Calibri" pitchFamily="34" charset="-120"/>
              </a:rPr>
              <a:t>.</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ea typeface="Calibri" pitchFamily="34" charset="-122"/>
                <a:cs typeface="Calibri" pitchFamily="34" charset="-120"/>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State a planning goal with </a:t>
            </a:r>
            <a:pPr algn="l" indent="0" marL="0">
              <a:buNone/>
            </a:pPr>
            <a:r>
              <a:rPr lang="ar-SA" altLang="en-US" sz="1700" dirty="0">
                <a:solidFill>
                  <a:srgbClr val="1F2A37"/>
                </a:solidFill>
                <a:latin typeface="Amiri" pitchFamily="34" charset="0"/>
                <a:ea typeface="Amiri" pitchFamily="34" charset="-122"/>
                <a:cs typeface="Amiri" pitchFamily="34" charset="-120"/>
              </a:rPr>
              <a:t>لِكَي</a:t>
            </a:r>
            <a:pPr algn="l" indent="0" marL="0">
              <a:buNone/>
            </a:pPr>
            <a:r>
              <a:rPr lang="en-US" sz="1300" dirty="0">
                <a:solidFill>
                  <a:srgbClr val="1F2A37"/>
                </a:solidFill>
                <a:latin typeface="Calibri" pitchFamily="34" charset="0"/>
                <a:ea typeface="Calibri" pitchFamily="34" charset="-122"/>
                <a:cs typeface="Calibri" pitchFamily="34" charset="-120"/>
              </a:rPr>
              <a:t> + a subjunctive verb.</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ea typeface="Calibri" pitchFamily="34" charset="-122"/>
                <a:cs typeface="Calibri" pitchFamily="34" charset="-120"/>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ea typeface="Calibri" pitchFamily="34" charset="-122"/>
                <a:cs typeface="Calibri" pitchFamily="34" charset="-120"/>
              </a:rPr>
              <a:t>☐  I can name 12 places in a town and say what there is: </a:t>
            </a:r>
            <a:pPr algn="l" indent="0" marL="0">
              <a:buNone/>
            </a:pPr>
            <a:r>
              <a:rPr lang="ar-SA" altLang="en-US" sz="1700" b="1" dirty="0">
                <a:solidFill>
                  <a:srgbClr val="2E8B57"/>
                </a:solidFill>
                <a:latin typeface="Amiri" pitchFamily="34" charset="0"/>
                <a:ea typeface="Amiri" pitchFamily="34" charset="-122"/>
                <a:cs typeface="Amiri" pitchFamily="34" charset="-120"/>
              </a:rPr>
              <a:t>يُوجَدُ / تُوجَدُ</a:t>
            </a:r>
            <a:pPr algn="l" indent="0" marL="0">
              <a:buNone/>
            </a:pPr>
            <a:r>
              <a:rPr lang="en-US" sz="1300" b="1" dirty="0">
                <a:solidFill>
                  <a:srgbClr val="2E8B57"/>
                </a:solidFill>
                <a:latin typeface="Calibri" pitchFamily="34" charset="0"/>
                <a:ea typeface="Calibri" pitchFamily="34" charset="-122"/>
                <a:cs typeface="Calibri" pitchFamily="34" charset="-120"/>
              </a:rPr>
              <a:t>.</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200" b="1" dirty="0">
                <a:solidFill>
                  <a:srgbClr val="2E8B57"/>
                </a:solidFill>
                <a:latin typeface="Calibri" pitchFamily="34" charset="0"/>
                <a:ea typeface="Calibri" pitchFamily="34" charset="-122"/>
                <a:cs typeface="Calibri" pitchFamily="34" charset="-120"/>
              </a:rPr>
              <a:t>☐  I can say where a place is (</a:t>
            </a:r>
            <a:pPr algn="l" indent="0" marL="0">
              <a:buNone/>
            </a:pPr>
            <a:r>
              <a:rPr lang="ar-SA" altLang="en-US" sz="1550" b="1" dirty="0">
                <a:solidFill>
                  <a:srgbClr val="2E8B57"/>
                </a:solidFill>
                <a:latin typeface="Amiri" pitchFamily="34" charset="0"/>
                <a:ea typeface="Amiri" pitchFamily="34" charset="-122"/>
                <a:cs typeface="Amiri" pitchFamily="34" charset="-120"/>
              </a:rPr>
              <a:t>مُقَابِلَ</a:t>
            </a:r>
            <a:pPr algn="l" indent="0" marL="0">
              <a:buNone/>
            </a:pPr>
            <a:r>
              <a:rPr lang="en-US" sz="1200" b="1" dirty="0">
                <a:solidFill>
                  <a:srgbClr val="2E8B57"/>
                </a:solidFill>
                <a:latin typeface="Calibri" pitchFamily="34" charset="0"/>
                <a:ea typeface="Calibri" pitchFamily="34" charset="-122"/>
                <a:cs typeface="Calibri" pitchFamily="34" charset="-120"/>
              </a:rPr>
              <a:t> · </a:t>
            </a:r>
            <a:pPr algn="l" indent="0" marL="0">
              <a:buNone/>
            </a:pPr>
            <a:r>
              <a:rPr lang="ar-SA" altLang="en-US" sz="1550" b="1" dirty="0">
                <a:solidFill>
                  <a:srgbClr val="2E8B57"/>
                </a:solidFill>
                <a:latin typeface="Amiri" pitchFamily="34" charset="0"/>
                <a:ea typeface="Amiri" pitchFamily="34" charset="-122"/>
                <a:cs typeface="Amiri" pitchFamily="34" charset="-120"/>
              </a:rPr>
              <a:t>بِجَانِبِ</a:t>
            </a:r>
            <a:pPr algn="l" indent="0" marL="0">
              <a:buNone/>
            </a:pPr>
            <a:r>
              <a:rPr lang="en-US" sz="1200" b="1" dirty="0">
                <a:solidFill>
                  <a:srgbClr val="2E8B57"/>
                </a:solidFill>
                <a:latin typeface="Calibri" pitchFamily="34" charset="0"/>
                <a:ea typeface="Calibri" pitchFamily="34" charset="-122"/>
                <a:cs typeface="Calibri" pitchFamily="34" charset="-120"/>
              </a:rPr>
              <a:t>) and compare two places (</a:t>
            </a:r>
            <a:pPr algn="l" indent="0" marL="0">
              <a:buNone/>
            </a:pPr>
            <a:r>
              <a:rPr lang="ar-SA" altLang="en-US" sz="1550" b="1" dirty="0">
                <a:solidFill>
                  <a:srgbClr val="2E8B57"/>
                </a:solidFill>
                <a:latin typeface="Amiri" pitchFamily="34" charset="0"/>
                <a:ea typeface="Amiri" pitchFamily="34" charset="-122"/>
                <a:cs typeface="Amiri" pitchFamily="34" charset="-120"/>
              </a:rPr>
              <a:t>أَكْبَرُ مِنْ</a:t>
            </a:r>
            <a:pPr algn="l" indent="0" marL="0">
              <a:buNone/>
            </a:pPr>
            <a:r>
              <a:rPr lang="en-US" sz="1200" b="1" dirty="0">
                <a:solidFill>
                  <a:srgbClr val="2E8B57"/>
                </a:solidFill>
                <a:latin typeface="Calibri" pitchFamily="34" charset="0"/>
                <a:ea typeface="Calibri" pitchFamily="34" charset="-122"/>
                <a:cs typeface="Calibri" pitchFamily="34" charset="-120"/>
              </a:rPr>
              <a:t>).</a:t>
            </a:r>
            <a:endParaRPr lang="en-US" sz="12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ea typeface="Calibri" pitchFamily="34" charset="-122"/>
                <a:cs typeface="Calibri" pitchFamily="34" charset="-120"/>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ea typeface="Calibri" pitchFamily="34" charset="-122"/>
                <a:cs typeface="Calibri" pitchFamily="34" charset="-120"/>
              </a:rPr>
              <a:t>☐  I can judge the services in my area (good, poor, crowded).</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ea typeface="Calibri" pitchFamily="34" charset="-122"/>
                <a:cs typeface="Calibri" pitchFamily="34" charset="-120"/>
              </a:rPr>
              <a:t>☐  I can use </a:t>
            </a:r>
            <a:pPr algn="l" indent="0" marL="0">
              <a:buNone/>
            </a:pPr>
            <a:r>
              <a:rPr lang="ar-SA" altLang="en-US" sz="1700" b="1" dirty="0">
                <a:solidFill>
                  <a:srgbClr val="C9780A"/>
                </a:solidFill>
                <a:latin typeface="Amiri" pitchFamily="34" charset="0"/>
                <a:ea typeface="Amiri" pitchFamily="34" charset="-122"/>
                <a:cs typeface="Amiri" pitchFamily="34" charset="-120"/>
              </a:rPr>
              <a:t>مَبْنِيٌّ مِنْ</a:t>
            </a:r>
            <a:pPr algn="l" indent="0" marL="0">
              <a:buNone/>
            </a:pPr>
            <a:r>
              <a:rPr lang="en-US" sz="1300" b="1" dirty="0">
                <a:solidFill>
                  <a:srgbClr val="C9780A"/>
                </a:solidFill>
                <a:latin typeface="Calibri" pitchFamily="34" charset="0"/>
                <a:ea typeface="Calibri" pitchFamily="34" charset="-122"/>
                <a:cs typeface="Calibri" pitchFamily="34" charset="-120"/>
              </a:rPr>
              <a:t> and </a:t>
            </a:r>
            <a:pPr algn="l" indent="0" marL="0">
              <a:buNone/>
            </a:pPr>
            <a:r>
              <a:rPr lang="ar-SA" altLang="en-US" sz="1700" b="1" dirty="0">
                <a:solidFill>
                  <a:srgbClr val="C9780A"/>
                </a:solidFill>
                <a:latin typeface="Amiri" pitchFamily="34" charset="0"/>
                <a:ea typeface="Amiri" pitchFamily="34" charset="-122"/>
                <a:cs typeface="Amiri" pitchFamily="34" charset="-120"/>
              </a:rPr>
              <a:t>يَتَمَيَّزُ بِـ</a:t>
            </a:r>
            <a:pPr algn="l" indent="0" marL="0">
              <a:buNone/>
            </a:pPr>
            <a:r>
              <a:rPr lang="en-US" sz="1300" b="1" dirty="0">
                <a:solidFill>
                  <a:srgbClr val="C9780A"/>
                </a:solidFill>
                <a:latin typeface="Calibri" pitchFamily="34" charset="0"/>
                <a:ea typeface="Calibri" pitchFamily="34" charset="-122"/>
                <a:cs typeface="Calibri" pitchFamily="34" charset="-120"/>
              </a:rPr>
              <a:t>.</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ea typeface="Calibri" pitchFamily="34" charset="-122"/>
                <a:cs typeface="Calibri" pitchFamily="34" charset="-120"/>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ea typeface="Calibri" pitchFamily="34" charset="-122"/>
                <a:cs typeface="Calibri" pitchFamily="34" charset="-120"/>
              </a:rPr>
              <a:t>☐  I can use the urban passive and </a:t>
            </a:r>
            <a:pPr algn="l" indent="0" marL="0">
              <a:buNone/>
            </a:pPr>
            <a:r>
              <a:rPr lang="ar-SA" altLang="en-US" sz="1700" b="1" dirty="0">
                <a:solidFill>
                  <a:srgbClr val="B83227"/>
                </a:solidFill>
                <a:latin typeface="Amiri" pitchFamily="34" charset="0"/>
                <a:ea typeface="Amiri" pitchFamily="34" charset="-122"/>
                <a:cs typeface="Amiri" pitchFamily="34" charset="-120"/>
              </a:rPr>
              <a:t>لِكَيْ تَكُونَ</a:t>
            </a:r>
            <a:pPr algn="l" indent="0" marL="0">
              <a:buNone/>
            </a:pPr>
            <a:r>
              <a:rPr lang="en-US" sz="1300" b="1" dirty="0">
                <a:solidFill>
                  <a:srgbClr val="B83227"/>
                </a:solidFill>
                <a:latin typeface="Calibri" pitchFamily="34" charset="0"/>
                <a:ea typeface="Calibri" pitchFamily="34" charset="-122"/>
                <a:cs typeface="Calibri" pitchFamily="34" charset="-120"/>
              </a:rPr>
              <a:t>.</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ea typeface="Calibri" pitchFamily="34" charset="-122"/>
                <a:cs typeface="Calibri" pitchFamily="34" charset="-120"/>
              </a:rPr>
              <a:t>☐  I can write a 100–110-word city analysis.</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6 / 49</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ea typeface="Calibri" pitchFamily="34" charset="-122"/>
                <a:cs typeface="Calibri" pitchFamily="34" charset="-120"/>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ea typeface="Cambria" pitchFamily="34" charset="-122"/>
                <a:cs typeface="Cambria" pitchFamily="34" charset="-120"/>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34" charset="0"/>
                <a:ea typeface="Amiri" pitchFamily="34" charset="-122"/>
                <a:cs typeface="Amiri" pitchFamily="34" charset="-120"/>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ea typeface="Calibri" pitchFamily="34" charset="-122"/>
                <a:cs typeface="Calibri" pitchFamily="34" charset="-120"/>
              </a:rPr>
              <a:t>36 words in 6 groups (Topic C bank + website P4-L02). Learn the CORE words first. Hear it → say it → see it → use it.</a:t>
            </a:r>
            <a:endParaRPr lang="en-US" sz="1600" dirty="0"/>
          </a:p>
        </p:txBody>
      </p:sp>
      <p:sp>
        <p:nvSpPr>
          <p:cNvPr id="8" name="Shape 6"/>
          <p:cNvSpPr/>
          <p:nvPr/>
        </p:nvSpPr>
        <p:spPr>
          <a:xfrm>
            <a:off x="457200" y="4572000"/>
            <a:ext cx="119634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9220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ea typeface="Calibri" pitchFamily="34" charset="-122"/>
                <a:cs typeface="Calibri" pitchFamily="34" charset="-120"/>
              </a:rPr>
              <a:t>GROUP 1</a:t>
            </a:r>
            <a:endParaRPr lang="en-US" sz="900" dirty="0"/>
          </a:p>
          <a:p>
            <a:pPr indent="0" marL="0">
              <a:buNone/>
            </a:pPr>
            <a:r>
              <a:rPr lang="en-US" sz="1200" b="1" dirty="0">
                <a:solidFill>
                  <a:srgbClr val="FFFFFF"/>
                </a:solidFill>
                <a:latin typeface="Calibri" pitchFamily="34" charset="0"/>
                <a:ea typeface="Calibri" pitchFamily="34" charset="-122"/>
                <a:cs typeface="Calibri" pitchFamily="34" charset="-120"/>
              </a:rPr>
              <a:t>Buildings · 6</a:t>
            </a:r>
            <a:endParaRPr lang="en-US" sz="900" dirty="0"/>
          </a:p>
        </p:txBody>
      </p:sp>
      <p:sp>
        <p:nvSpPr>
          <p:cNvPr id="10" name="Shape 8"/>
          <p:cNvSpPr/>
          <p:nvPr/>
        </p:nvSpPr>
        <p:spPr>
          <a:xfrm>
            <a:off x="1790700" y="4572000"/>
            <a:ext cx="1196340" cy="960120"/>
          </a:xfrm>
          <a:prstGeom prst="roundRect">
            <a:avLst>
              <a:gd name="adj" fmla="val 7619"/>
            </a:avLst>
          </a:prstGeom>
          <a:solidFill>
            <a:srgbClr val="16335F"/>
          </a:solidFill>
          <a:ln w="12700">
            <a:solidFill>
              <a:srgbClr val="2A4B7C"/>
            </a:solidFill>
            <a:prstDash val="solid"/>
          </a:ln>
        </p:spPr>
      </p:sp>
      <p:sp>
        <p:nvSpPr>
          <p:cNvPr id="11" name="Text 9"/>
          <p:cNvSpPr txBox="1"/>
          <p:nvPr/>
        </p:nvSpPr>
        <p:spPr>
          <a:xfrm>
            <a:off x="1927860" y="4617720"/>
            <a:ext cx="9220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ea typeface="Calibri" pitchFamily="34" charset="-122"/>
                <a:cs typeface="Calibri" pitchFamily="34" charset="-120"/>
              </a:rPr>
              <a:t>GROUP 2</a:t>
            </a:r>
            <a:endParaRPr lang="en-US" sz="900" dirty="0"/>
          </a:p>
          <a:p>
            <a:pPr indent="0" marL="0">
              <a:buNone/>
            </a:pPr>
            <a:r>
              <a:rPr lang="en-US" sz="1200" b="1" dirty="0">
                <a:solidFill>
                  <a:srgbClr val="FFFFFF"/>
                </a:solidFill>
                <a:latin typeface="Calibri" pitchFamily="34" charset="0"/>
                <a:ea typeface="Calibri" pitchFamily="34" charset="-122"/>
                <a:cs typeface="Calibri" pitchFamily="34" charset="-120"/>
              </a:rPr>
              <a:t>Services · 6</a:t>
            </a:r>
            <a:endParaRPr lang="en-US" sz="900" dirty="0"/>
          </a:p>
        </p:txBody>
      </p:sp>
      <p:sp>
        <p:nvSpPr>
          <p:cNvPr id="12" name="Shape 10"/>
          <p:cNvSpPr/>
          <p:nvPr/>
        </p:nvSpPr>
        <p:spPr>
          <a:xfrm>
            <a:off x="3124200" y="4572000"/>
            <a:ext cx="1196340" cy="960120"/>
          </a:xfrm>
          <a:prstGeom prst="roundRect">
            <a:avLst>
              <a:gd name="adj" fmla="val 7619"/>
            </a:avLst>
          </a:prstGeom>
          <a:solidFill>
            <a:srgbClr val="16335F"/>
          </a:solidFill>
          <a:ln w="12700">
            <a:solidFill>
              <a:srgbClr val="2A4B7C"/>
            </a:solidFill>
            <a:prstDash val="solid"/>
          </a:ln>
        </p:spPr>
      </p:sp>
      <p:sp>
        <p:nvSpPr>
          <p:cNvPr id="13" name="Text 11"/>
          <p:cNvSpPr txBox="1"/>
          <p:nvPr/>
        </p:nvSpPr>
        <p:spPr>
          <a:xfrm>
            <a:off x="3261360" y="4617720"/>
            <a:ext cx="9220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ea typeface="Calibri" pitchFamily="34" charset="-122"/>
                <a:cs typeface="Calibri" pitchFamily="34" charset="-120"/>
              </a:rPr>
              <a:t>GROUP 3</a:t>
            </a:r>
            <a:endParaRPr lang="en-US" sz="900" dirty="0"/>
          </a:p>
          <a:p>
            <a:pPr indent="0" marL="0">
              <a:buNone/>
            </a:pPr>
            <a:r>
              <a:rPr lang="en-US" sz="1200" b="1" dirty="0">
                <a:solidFill>
                  <a:srgbClr val="FFFFFF"/>
                </a:solidFill>
                <a:latin typeface="Calibri" pitchFamily="34" charset="0"/>
                <a:ea typeface="Calibri" pitchFamily="34" charset="-122"/>
                <a:cs typeface="Calibri" pitchFamily="34" charset="-120"/>
              </a:rPr>
              <a:t>There is · 6</a:t>
            </a:r>
            <a:endParaRPr lang="en-US" sz="900" dirty="0"/>
          </a:p>
        </p:txBody>
      </p:sp>
      <p:sp>
        <p:nvSpPr>
          <p:cNvPr id="14" name="Shape 12"/>
          <p:cNvSpPr/>
          <p:nvPr/>
        </p:nvSpPr>
        <p:spPr>
          <a:xfrm>
            <a:off x="4457700" y="4572000"/>
            <a:ext cx="1196340" cy="960120"/>
          </a:xfrm>
          <a:prstGeom prst="roundRect">
            <a:avLst>
              <a:gd name="adj" fmla="val 7619"/>
            </a:avLst>
          </a:prstGeom>
          <a:solidFill>
            <a:srgbClr val="16335F"/>
          </a:solidFill>
          <a:ln w="12700">
            <a:solidFill>
              <a:srgbClr val="2A4B7C"/>
            </a:solidFill>
            <a:prstDash val="solid"/>
          </a:ln>
        </p:spPr>
      </p:sp>
      <p:sp>
        <p:nvSpPr>
          <p:cNvPr id="15" name="Text 13"/>
          <p:cNvSpPr txBox="1"/>
          <p:nvPr/>
        </p:nvSpPr>
        <p:spPr>
          <a:xfrm>
            <a:off x="4594860" y="4617720"/>
            <a:ext cx="9220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ea typeface="Calibri" pitchFamily="34" charset="-122"/>
                <a:cs typeface="Calibri" pitchFamily="34" charset="-120"/>
              </a:rPr>
              <a:t>GROUP 4</a:t>
            </a:r>
            <a:endParaRPr lang="en-US" sz="900" dirty="0"/>
          </a:p>
          <a:p>
            <a:pPr indent="0" marL="0">
              <a:buNone/>
            </a:pPr>
            <a:r>
              <a:rPr lang="en-US" sz="1200" b="1" dirty="0">
                <a:solidFill>
                  <a:srgbClr val="FFFFFF"/>
                </a:solidFill>
                <a:latin typeface="Calibri" pitchFamily="34" charset="0"/>
                <a:ea typeface="Calibri" pitchFamily="34" charset="-122"/>
                <a:cs typeface="Calibri" pitchFamily="34" charset="-120"/>
              </a:rPr>
              <a:t>Where? · 6</a:t>
            </a:r>
            <a:endParaRPr lang="en-US" sz="900" dirty="0"/>
          </a:p>
        </p:txBody>
      </p:sp>
      <p:sp>
        <p:nvSpPr>
          <p:cNvPr id="16" name="Shape 14"/>
          <p:cNvSpPr/>
          <p:nvPr/>
        </p:nvSpPr>
        <p:spPr>
          <a:xfrm>
            <a:off x="5791200" y="4572000"/>
            <a:ext cx="1196340" cy="960120"/>
          </a:xfrm>
          <a:prstGeom prst="roundRect">
            <a:avLst>
              <a:gd name="adj" fmla="val 7619"/>
            </a:avLst>
          </a:prstGeom>
          <a:solidFill>
            <a:srgbClr val="16335F"/>
          </a:solidFill>
          <a:ln w="12700">
            <a:solidFill>
              <a:srgbClr val="2A4B7C"/>
            </a:solidFill>
            <a:prstDash val="solid"/>
          </a:ln>
        </p:spPr>
      </p:sp>
      <p:sp>
        <p:nvSpPr>
          <p:cNvPr id="17" name="Text 15"/>
          <p:cNvSpPr txBox="1"/>
          <p:nvPr/>
        </p:nvSpPr>
        <p:spPr>
          <a:xfrm>
            <a:off x="5928360" y="4617720"/>
            <a:ext cx="9220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ea typeface="Calibri" pitchFamily="34" charset="-122"/>
                <a:cs typeface="Calibri" pitchFamily="34" charset="-120"/>
              </a:rPr>
              <a:t>GROUP 5</a:t>
            </a:r>
            <a:endParaRPr lang="en-US" sz="900" dirty="0"/>
          </a:p>
          <a:p>
            <a:pPr indent="0" marL="0">
              <a:buNone/>
            </a:pPr>
            <a:r>
              <a:rPr lang="en-US" sz="1200" b="1" dirty="0">
                <a:solidFill>
                  <a:srgbClr val="FFFFFF"/>
                </a:solidFill>
                <a:latin typeface="Calibri" pitchFamily="34" charset="0"/>
                <a:ea typeface="Calibri" pitchFamily="34" charset="-122"/>
                <a:cs typeface="Calibri" pitchFamily="34" charset="-120"/>
              </a:rPr>
              <a:t>Compare · 6</a:t>
            </a:r>
            <a:endParaRPr lang="en-US" sz="900" dirty="0"/>
          </a:p>
        </p:txBody>
      </p:sp>
      <p:sp>
        <p:nvSpPr>
          <p:cNvPr id="18" name="Shape 16"/>
          <p:cNvSpPr/>
          <p:nvPr/>
        </p:nvSpPr>
        <p:spPr>
          <a:xfrm>
            <a:off x="7124700" y="4572000"/>
            <a:ext cx="1196340" cy="960120"/>
          </a:xfrm>
          <a:prstGeom prst="roundRect">
            <a:avLst>
              <a:gd name="adj" fmla="val 7619"/>
            </a:avLst>
          </a:prstGeom>
          <a:solidFill>
            <a:srgbClr val="16335F"/>
          </a:solidFill>
          <a:ln w="12700">
            <a:solidFill>
              <a:srgbClr val="2A4B7C"/>
            </a:solidFill>
            <a:prstDash val="solid"/>
          </a:ln>
        </p:spPr>
      </p:sp>
      <p:sp>
        <p:nvSpPr>
          <p:cNvPr id="19" name="Text 17"/>
          <p:cNvSpPr txBox="1"/>
          <p:nvPr/>
        </p:nvSpPr>
        <p:spPr>
          <a:xfrm>
            <a:off x="7261860" y="4617720"/>
            <a:ext cx="9220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ea typeface="Calibri" pitchFamily="34" charset="-122"/>
                <a:cs typeface="Calibri" pitchFamily="34" charset="-120"/>
              </a:rPr>
              <a:t>GROUP 6</a:t>
            </a:r>
            <a:endParaRPr lang="en-US" sz="900" dirty="0"/>
          </a:p>
          <a:p>
            <a:pPr indent="0" marL="0">
              <a:buNone/>
            </a:pPr>
            <a:r>
              <a:rPr lang="en-US" sz="1200" b="1" dirty="0">
                <a:solidFill>
                  <a:srgbClr val="FFFFFF"/>
                </a:solidFill>
                <a:latin typeface="Calibri" pitchFamily="34" charset="0"/>
                <a:ea typeface="Calibri" pitchFamily="34" charset="-122"/>
                <a:cs typeface="Calibri" pitchFamily="34" charset="-120"/>
              </a:rPr>
              <a:t>The city · 6</a:t>
            </a:r>
            <a:endParaRPr lang="en-US" sz="900" dirty="0"/>
          </a:p>
        </p:txBody>
      </p:sp>
      <p:sp>
        <p:nvSpPr>
          <p:cNvPr id="20" name="Shape 18"/>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21" name="Text 19"/>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ea typeface="Calibri" pitchFamily="34" charset="-122"/>
                <a:cs typeface="Calibri" pitchFamily="34" charset="-120"/>
              </a:rPr>
              <a:t>BRIDGE FROM URDU</a:t>
            </a:r>
            <a:endParaRPr lang="en-US" sz="1000" dirty="0"/>
          </a:p>
        </p:txBody>
      </p:sp>
      <p:sp>
        <p:nvSpPr>
          <p:cNvPr id="22" name="Text 20"/>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34" charset="0"/>
                <a:ea typeface="Amiri" pitchFamily="34" charset="-122"/>
                <a:cs typeface="Amiri" pitchFamily="34" charset="-120"/>
              </a:rPr>
              <a:t>مَدِينَةٌ</a:t>
            </a:r>
            <a:endParaRPr lang="ar-SA" sz="1900" dirty="0"/>
          </a:p>
        </p:txBody>
      </p:sp>
      <p:sp>
        <p:nvSpPr>
          <p:cNvPr id="23" name="Text 21"/>
          <p:cNvSpPr txBox="1"/>
          <p:nvPr/>
        </p:nvSpPr>
        <p:spPr>
          <a:xfrm>
            <a:off x="8842248" y="1810512"/>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34" charset="0"/>
                <a:ea typeface="Amiri" pitchFamily="34" charset="-122"/>
                <a:cs typeface="Amiri" pitchFamily="34" charset="-120"/>
              </a:rPr>
              <a:t>‎مدینہ‎ </a:t>
            </a:r>
            <a:pPr indent="0" marL="0">
              <a:buNone/>
            </a:pPr>
            <a:r>
              <a:rPr lang="en-US" sz="950" b="1" dirty="0">
                <a:solidFill>
                  <a:srgbClr val="2E8B57"/>
                </a:solidFill>
                <a:latin typeface="Calibri" pitchFamily="34" charset="0"/>
                <a:ea typeface="Calibri" pitchFamily="34" charset="-122"/>
                <a:cs typeface="Calibri" pitchFamily="34" charset="-120"/>
              </a:rPr>
              <a:t> madīna · city (the city of the Prophet ﷺ)</a:t>
            </a:r>
            <a:endParaRPr lang="en-US" sz="1400" dirty="0"/>
          </a:p>
        </p:txBody>
      </p:sp>
      <p:sp>
        <p:nvSpPr>
          <p:cNvPr id="24" name="Text 22"/>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34" charset="0"/>
                <a:ea typeface="Amiri" pitchFamily="34" charset="-122"/>
                <a:cs typeface="Amiri" pitchFamily="34" charset="-120"/>
              </a:rPr>
              <a:t>عِمَارَةٌ</a:t>
            </a:r>
            <a:endParaRPr lang="ar-SA" sz="1900" dirty="0"/>
          </a:p>
        </p:txBody>
      </p:sp>
      <p:sp>
        <p:nvSpPr>
          <p:cNvPr id="25" name="Text 23"/>
          <p:cNvSpPr txBox="1"/>
          <p:nvPr/>
        </p:nvSpPr>
        <p:spPr>
          <a:xfrm>
            <a:off x="8842248" y="2377440"/>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34" charset="0"/>
                <a:ea typeface="Amiri" pitchFamily="34" charset="-122"/>
                <a:cs typeface="Amiri" pitchFamily="34" charset="-120"/>
              </a:rPr>
              <a:t>‎عمارت‎ </a:t>
            </a:r>
            <a:pPr indent="0" marL="0">
              <a:buNone/>
            </a:pPr>
            <a:r>
              <a:rPr lang="en-US" sz="950" b="1" dirty="0">
                <a:solidFill>
                  <a:srgbClr val="2E8B57"/>
                </a:solidFill>
                <a:latin typeface="Calibri" pitchFamily="34" charset="0"/>
                <a:ea typeface="Calibri" pitchFamily="34" charset="-122"/>
                <a:cs typeface="Calibri" pitchFamily="34" charset="-120"/>
              </a:rPr>
              <a:t> ʿimārat · building, architecture</a:t>
            </a:r>
            <a:endParaRPr lang="en-US" sz="1400" dirty="0"/>
          </a:p>
        </p:txBody>
      </p:sp>
      <p:sp>
        <p:nvSpPr>
          <p:cNvPr id="26" name="Text 24"/>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34" charset="0"/>
                <a:ea typeface="Amiri" pitchFamily="34" charset="-122"/>
                <a:cs typeface="Amiri" pitchFamily="34" charset="-120"/>
              </a:rPr>
              <a:t>مَكَانٌ</a:t>
            </a:r>
            <a:endParaRPr lang="ar-SA" sz="1900" dirty="0"/>
          </a:p>
        </p:txBody>
      </p:sp>
      <p:sp>
        <p:nvSpPr>
          <p:cNvPr id="27" name="Text 25"/>
          <p:cNvSpPr txBox="1"/>
          <p:nvPr/>
        </p:nvSpPr>
        <p:spPr>
          <a:xfrm>
            <a:off x="8842248" y="2944368"/>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34" charset="0"/>
                <a:ea typeface="Amiri" pitchFamily="34" charset="-122"/>
                <a:cs typeface="Amiri" pitchFamily="34" charset="-120"/>
              </a:rPr>
              <a:t>‎مکان‎ </a:t>
            </a:r>
            <a:pPr indent="0" marL="0">
              <a:buNone/>
            </a:pPr>
            <a:r>
              <a:rPr lang="en-US" sz="950" b="1" dirty="0">
                <a:solidFill>
                  <a:srgbClr val="2E8B57"/>
                </a:solidFill>
                <a:latin typeface="Calibri" pitchFamily="34" charset="0"/>
                <a:ea typeface="Calibri" pitchFamily="34" charset="-122"/>
                <a:cs typeface="Calibri" pitchFamily="34" charset="-120"/>
              </a:rPr>
              <a:t> makān · place (Urdu: house)</a:t>
            </a:r>
            <a:endParaRPr lang="en-US" sz="1400" dirty="0"/>
          </a:p>
        </p:txBody>
      </p:sp>
      <p:sp>
        <p:nvSpPr>
          <p:cNvPr id="28" name="Text 26"/>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34" charset="0"/>
                <a:ea typeface="Amiri" pitchFamily="34" charset="-122"/>
                <a:cs typeface="Amiri" pitchFamily="34" charset="-120"/>
              </a:rPr>
              <a:t>سَهْلٌ</a:t>
            </a:r>
            <a:endParaRPr lang="ar-SA" sz="1900" dirty="0"/>
          </a:p>
        </p:txBody>
      </p:sp>
      <p:sp>
        <p:nvSpPr>
          <p:cNvPr id="29" name="Text 27"/>
          <p:cNvSpPr txBox="1"/>
          <p:nvPr/>
        </p:nvSpPr>
        <p:spPr>
          <a:xfrm>
            <a:off x="8842248" y="3511296"/>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34" charset="0"/>
                <a:ea typeface="Amiri" pitchFamily="34" charset="-122"/>
                <a:cs typeface="Amiri" pitchFamily="34" charset="-120"/>
              </a:rPr>
              <a:t>‎سہولت‎ </a:t>
            </a:r>
            <a:pPr indent="0" marL="0">
              <a:buNone/>
            </a:pPr>
            <a:r>
              <a:rPr lang="en-US" sz="950" b="1" dirty="0">
                <a:solidFill>
                  <a:srgbClr val="2E8B57"/>
                </a:solidFill>
                <a:latin typeface="Calibri" pitchFamily="34" charset="0"/>
                <a:ea typeface="Calibri" pitchFamily="34" charset="-122"/>
                <a:cs typeface="Calibri" pitchFamily="34" charset="-120"/>
              </a:rPr>
              <a:t> sahūlat · easy → facility</a:t>
            </a:r>
            <a:endParaRPr lang="en-US" sz="1400" dirty="0"/>
          </a:p>
        </p:txBody>
      </p:sp>
      <p:sp>
        <p:nvSpPr>
          <p:cNvPr id="30" name="Text 28"/>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34" charset="0"/>
                <a:ea typeface="Amiri" pitchFamily="34" charset="-122"/>
                <a:cs typeface="Amiri" pitchFamily="34" charset="-120"/>
              </a:rPr>
              <a:t>مُقَابِلَ</a:t>
            </a:r>
            <a:endParaRPr lang="ar-SA" sz="1900" dirty="0"/>
          </a:p>
        </p:txBody>
      </p:sp>
      <p:sp>
        <p:nvSpPr>
          <p:cNvPr id="31" name="Text 29"/>
          <p:cNvSpPr txBox="1"/>
          <p:nvPr/>
        </p:nvSpPr>
        <p:spPr>
          <a:xfrm>
            <a:off x="8842248" y="4078224"/>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34" charset="0"/>
                <a:ea typeface="Amiri" pitchFamily="34" charset="-122"/>
                <a:cs typeface="Amiri" pitchFamily="34" charset="-120"/>
              </a:rPr>
              <a:t>‎مقابلہ‎ </a:t>
            </a:r>
            <a:pPr indent="0" marL="0">
              <a:buNone/>
            </a:pPr>
            <a:r>
              <a:rPr lang="en-US" sz="950" b="1" dirty="0">
                <a:solidFill>
                  <a:srgbClr val="2E8B57"/>
                </a:solidFill>
                <a:latin typeface="Calibri" pitchFamily="34" charset="0"/>
                <a:ea typeface="Calibri" pitchFamily="34" charset="-122"/>
                <a:cs typeface="Calibri" pitchFamily="34" charset="-120"/>
              </a:rPr>
              <a:t> muqābala · facing → contest</a:t>
            </a:r>
            <a:endParaRPr lang="en-US" sz="140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7 / 49</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TC-L08 · Buildings &amp; Services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KEY WORDS · GROUP 1 · TOPIC C BANK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Buildings in town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المَبَانِي فِي المَدِينَةِ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3 · Lesson 2 of 3</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1</a:t>
            </a:r>
            <a:endParaRPr lang="en-US" sz="1000" dirty="0"/>
          </a:p>
        </p:txBody>
      </p:sp>
      <p:sp>
        <p:nvSpPr>
          <p:cNvPr id="18" name="Shape 15"/>
          <p:cNvSpPr/>
          <p:nvPr/>
        </p:nvSpPr>
        <p:spPr>
          <a:xfrm>
            <a:off x="8604504" y="1938528"/>
            <a:ext cx="833933"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noun · m.</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مُسْتَشْفًى</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hospital</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mus-tash-fā</a:t>
            </a:r>
            <a:endParaRPr lang="en-US" sz="1350" dirty="0"/>
          </a:p>
        </p:txBody>
      </p:sp>
      <p:sp>
        <p:nvSpPr>
          <p:cNvPr id="24" name="Shape 21"/>
          <p:cNvSpPr/>
          <p:nvPr/>
        </p:nvSpPr>
        <p:spPr>
          <a:xfrm>
            <a:off x="9966960" y="3438144"/>
            <a:ext cx="1636776"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0218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sg.</a:t>
            </a:r>
            <a:endParaRPr lang="en-US" sz="750" dirty="0"/>
          </a:p>
        </p:txBody>
      </p:sp>
      <p:sp>
        <p:nvSpPr>
          <p:cNvPr id="26" name="Text 23"/>
          <p:cNvSpPr txBox="1"/>
          <p:nvPr/>
        </p:nvSpPr>
        <p:spPr>
          <a:xfrm>
            <a:off x="100126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مُسْتَشْفًى</a:t>
            </a:r>
            <a:endParaRPr lang="ar-SA" sz="1500" dirty="0"/>
          </a:p>
        </p:txBody>
      </p:sp>
      <p:sp>
        <p:nvSpPr>
          <p:cNvPr id="27" name="Shape 24"/>
          <p:cNvSpPr/>
          <p:nvPr/>
        </p:nvSpPr>
        <p:spPr>
          <a:xfrm>
            <a:off x="8238744" y="3438144"/>
            <a:ext cx="1636776"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8293608"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pl.</a:t>
            </a:r>
            <a:endParaRPr lang="en-US" sz="750" dirty="0"/>
          </a:p>
        </p:txBody>
      </p:sp>
      <p:sp>
        <p:nvSpPr>
          <p:cNvPr id="29" name="Text 26"/>
          <p:cNvSpPr txBox="1"/>
          <p:nvPr/>
        </p:nvSpPr>
        <p:spPr>
          <a:xfrm>
            <a:off x="8284464"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مُسْتَشْفَيَاتٌ</a:t>
            </a:r>
            <a:endParaRPr lang="ar-SA" sz="1500" dirty="0"/>
          </a:p>
        </p:txBody>
      </p:sp>
      <p:sp>
        <p:nvSpPr>
          <p:cNvPr id="30" name="Shape 2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389120" y="1920240"/>
            <a:ext cx="310896" cy="310896"/>
          </a:xfrm>
          <a:prstGeom prst="ellipse">
            <a:avLst/>
          </a:prstGeom>
          <a:solidFill>
            <a:srgbClr val="F4F1EA"/>
          </a:solidFill>
          <a:ln w="12700">
            <a:solidFill>
              <a:srgbClr val="F4F1EA"/>
            </a:solidFill>
            <a:prstDash val="solid"/>
          </a:ln>
        </p:spPr>
      </p:sp>
      <p:sp>
        <p:nvSpPr>
          <p:cNvPr id="32" name="Text 2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2</a:t>
            </a:r>
            <a:endParaRPr lang="en-US" sz="1000" dirty="0"/>
          </a:p>
        </p:txBody>
      </p:sp>
      <p:sp>
        <p:nvSpPr>
          <p:cNvPr id="33" name="Shape 30"/>
          <p:cNvSpPr/>
          <p:nvPr/>
        </p:nvSpPr>
        <p:spPr>
          <a:xfrm>
            <a:off x="4782312" y="1938528"/>
            <a:ext cx="833933" cy="256032"/>
          </a:xfrm>
          <a:prstGeom prst="roundRect">
            <a:avLst>
              <a:gd name="adj" fmla="val 50000"/>
            </a:avLst>
          </a:prstGeom>
          <a:solidFill>
            <a:srgbClr val="EFE7D2"/>
          </a:solidFill>
          <a:ln w="12700">
            <a:solidFill>
              <a:srgbClr val="EFE7D2"/>
            </a:solidFill>
            <a:prstDash val="solid"/>
          </a:ln>
        </p:spPr>
      </p:sp>
      <p:sp>
        <p:nvSpPr>
          <p:cNvPr id="34" name="Text 31"/>
          <p:cNvSpPr txBox="1"/>
          <p:nvPr/>
        </p:nvSpPr>
        <p:spPr>
          <a:xfrm>
            <a:off x="4782312" y="1938528"/>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noun · m.</a:t>
            </a:r>
            <a:endParaRPr lang="en-US" sz="800" dirty="0"/>
          </a:p>
        </p:txBody>
      </p:sp>
      <p:sp>
        <p:nvSpPr>
          <p:cNvPr id="35" name="Shape 3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37" name="Text 34"/>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بَنْكٌ</a:t>
            </a:r>
            <a:endParaRPr lang="ar-SA" sz="3000" dirty="0"/>
          </a:p>
        </p:txBody>
      </p:sp>
      <p:sp>
        <p:nvSpPr>
          <p:cNvPr id="38" name="Text 35"/>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bank</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bank</a:t>
            </a:r>
            <a:endParaRPr lang="en-US" sz="1350" dirty="0"/>
          </a:p>
        </p:txBody>
      </p:sp>
      <p:sp>
        <p:nvSpPr>
          <p:cNvPr id="39" name="Shape 36"/>
          <p:cNvSpPr/>
          <p:nvPr/>
        </p:nvSpPr>
        <p:spPr>
          <a:xfrm>
            <a:off x="6144768" y="3438144"/>
            <a:ext cx="1636776" cy="438912"/>
          </a:xfrm>
          <a:prstGeom prst="roundRect">
            <a:avLst>
              <a:gd name="adj" fmla="val 10417"/>
            </a:avLst>
          </a:prstGeom>
          <a:solidFill>
            <a:srgbClr val="F4F1EA"/>
          </a:solidFill>
          <a:ln w="9525">
            <a:solidFill>
              <a:srgbClr val="F4F1EA"/>
            </a:solidFill>
            <a:prstDash val="solid"/>
          </a:ln>
        </p:spPr>
      </p:sp>
      <p:sp>
        <p:nvSpPr>
          <p:cNvPr id="40" name="Text 37"/>
          <p:cNvSpPr txBox="1"/>
          <p:nvPr/>
        </p:nvSpPr>
        <p:spPr>
          <a:xfrm>
            <a:off x="6199632"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sg.</a:t>
            </a:r>
            <a:endParaRPr lang="en-US" sz="750" dirty="0"/>
          </a:p>
        </p:txBody>
      </p:sp>
      <p:sp>
        <p:nvSpPr>
          <p:cNvPr id="41" name="Text 38"/>
          <p:cNvSpPr txBox="1"/>
          <p:nvPr/>
        </p:nvSpPr>
        <p:spPr>
          <a:xfrm>
            <a:off x="6190488"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بَنْكٌ</a:t>
            </a:r>
            <a:endParaRPr lang="ar-SA" sz="1500" dirty="0"/>
          </a:p>
        </p:txBody>
      </p:sp>
      <p:sp>
        <p:nvSpPr>
          <p:cNvPr id="42" name="Shape 39"/>
          <p:cNvSpPr/>
          <p:nvPr/>
        </p:nvSpPr>
        <p:spPr>
          <a:xfrm>
            <a:off x="4416552" y="3438144"/>
            <a:ext cx="1636776" cy="438912"/>
          </a:xfrm>
          <a:prstGeom prst="roundRect">
            <a:avLst>
              <a:gd name="adj" fmla="val 10417"/>
            </a:avLst>
          </a:prstGeom>
          <a:solidFill>
            <a:srgbClr val="F4F1EA"/>
          </a:solidFill>
          <a:ln w="9525">
            <a:solidFill>
              <a:srgbClr val="F4F1EA"/>
            </a:solidFill>
            <a:prstDash val="solid"/>
          </a:ln>
        </p:spPr>
      </p:sp>
      <p:sp>
        <p:nvSpPr>
          <p:cNvPr id="43" name="Text 40"/>
          <p:cNvSpPr txBox="1"/>
          <p:nvPr/>
        </p:nvSpPr>
        <p:spPr>
          <a:xfrm>
            <a:off x="4471416"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pl.</a:t>
            </a:r>
            <a:endParaRPr lang="en-US" sz="750" dirty="0"/>
          </a:p>
        </p:txBody>
      </p:sp>
      <p:sp>
        <p:nvSpPr>
          <p:cNvPr id="44" name="Text 41"/>
          <p:cNvSpPr txBox="1"/>
          <p:nvPr/>
        </p:nvSpPr>
        <p:spPr>
          <a:xfrm>
            <a:off x="4462272"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بُنُوكٌ</a:t>
            </a:r>
            <a:endParaRPr lang="ar-SA" sz="1500" dirty="0"/>
          </a:p>
        </p:txBody>
      </p:sp>
      <p:sp>
        <p:nvSpPr>
          <p:cNvPr id="45" name="Shape 42"/>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66928" y="1920240"/>
            <a:ext cx="310896" cy="310896"/>
          </a:xfrm>
          <a:prstGeom prst="ellipse">
            <a:avLst/>
          </a:prstGeom>
          <a:solidFill>
            <a:srgbClr val="F4F1EA"/>
          </a:solidFill>
          <a:ln w="12700">
            <a:solidFill>
              <a:srgbClr val="F4F1EA"/>
            </a:solidFill>
            <a:prstDash val="solid"/>
          </a:ln>
        </p:spPr>
      </p:sp>
      <p:sp>
        <p:nvSpPr>
          <p:cNvPr id="47" name="Text 44"/>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3</a:t>
            </a:r>
            <a:endParaRPr lang="en-US" sz="1000" dirty="0"/>
          </a:p>
        </p:txBody>
      </p:sp>
      <p:sp>
        <p:nvSpPr>
          <p:cNvPr id="48" name="Shape 45"/>
          <p:cNvSpPr/>
          <p:nvPr/>
        </p:nvSpPr>
        <p:spPr>
          <a:xfrm>
            <a:off x="960120" y="1938528"/>
            <a:ext cx="833933" cy="256032"/>
          </a:xfrm>
          <a:prstGeom prst="roundRect">
            <a:avLst>
              <a:gd name="adj" fmla="val 50000"/>
            </a:avLst>
          </a:prstGeom>
          <a:solidFill>
            <a:srgbClr val="EFE7D2"/>
          </a:solidFill>
          <a:ln w="12700">
            <a:solidFill>
              <a:srgbClr val="EFE7D2"/>
            </a:solidFill>
            <a:prstDash val="solid"/>
          </a:ln>
        </p:spPr>
      </p:sp>
      <p:sp>
        <p:nvSpPr>
          <p:cNvPr id="49" name="Text 46"/>
          <p:cNvSpPr txBox="1"/>
          <p:nvPr/>
        </p:nvSpPr>
        <p:spPr>
          <a:xfrm>
            <a:off x="960120" y="1938528"/>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noun · f.</a:t>
            </a:r>
            <a:endParaRPr lang="en-US" sz="800" dirty="0"/>
          </a:p>
        </p:txBody>
      </p:sp>
      <p:sp>
        <p:nvSpPr>
          <p:cNvPr id="50" name="Shape 47"/>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51" name="Text 48"/>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52" name="Text 49"/>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مَكْتَبَةٌ</a:t>
            </a:r>
            <a:endParaRPr lang="ar-SA" sz="3000" dirty="0"/>
          </a:p>
        </p:txBody>
      </p:sp>
      <p:sp>
        <p:nvSpPr>
          <p:cNvPr id="53" name="Text 50"/>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library</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mak-ta-ba</a:t>
            </a:r>
            <a:endParaRPr lang="en-US" sz="1350" dirty="0"/>
          </a:p>
        </p:txBody>
      </p:sp>
      <p:sp>
        <p:nvSpPr>
          <p:cNvPr id="54" name="Shape 51"/>
          <p:cNvSpPr/>
          <p:nvPr/>
        </p:nvSpPr>
        <p:spPr>
          <a:xfrm>
            <a:off x="2322576" y="3438144"/>
            <a:ext cx="1636776" cy="438912"/>
          </a:xfrm>
          <a:prstGeom prst="roundRect">
            <a:avLst>
              <a:gd name="adj" fmla="val 10417"/>
            </a:avLst>
          </a:prstGeom>
          <a:solidFill>
            <a:srgbClr val="F4F1EA"/>
          </a:solidFill>
          <a:ln w="9525">
            <a:solidFill>
              <a:srgbClr val="F4F1EA"/>
            </a:solidFill>
            <a:prstDash val="solid"/>
          </a:ln>
        </p:spPr>
      </p:sp>
      <p:sp>
        <p:nvSpPr>
          <p:cNvPr id="55" name="Text 52"/>
          <p:cNvSpPr txBox="1"/>
          <p:nvPr/>
        </p:nvSpPr>
        <p:spPr>
          <a:xfrm>
            <a:off x="2377440"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sg.</a:t>
            </a:r>
            <a:endParaRPr lang="en-US" sz="750" dirty="0"/>
          </a:p>
        </p:txBody>
      </p:sp>
      <p:sp>
        <p:nvSpPr>
          <p:cNvPr id="56" name="Text 53"/>
          <p:cNvSpPr txBox="1"/>
          <p:nvPr/>
        </p:nvSpPr>
        <p:spPr>
          <a:xfrm>
            <a:off x="2368296"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مَكْتَبَةٌ</a:t>
            </a:r>
            <a:endParaRPr lang="ar-SA" sz="1500" dirty="0"/>
          </a:p>
        </p:txBody>
      </p:sp>
      <p:sp>
        <p:nvSpPr>
          <p:cNvPr id="57" name="Shape 54"/>
          <p:cNvSpPr/>
          <p:nvPr/>
        </p:nvSpPr>
        <p:spPr>
          <a:xfrm>
            <a:off x="594360" y="3438144"/>
            <a:ext cx="1636776" cy="438912"/>
          </a:xfrm>
          <a:prstGeom prst="roundRect">
            <a:avLst>
              <a:gd name="adj" fmla="val 10417"/>
            </a:avLst>
          </a:prstGeom>
          <a:solidFill>
            <a:srgbClr val="F4F1EA"/>
          </a:solidFill>
          <a:ln w="9525">
            <a:solidFill>
              <a:srgbClr val="F4F1EA"/>
            </a:solidFill>
            <a:prstDash val="solid"/>
          </a:ln>
        </p:spPr>
      </p:sp>
      <p:sp>
        <p:nvSpPr>
          <p:cNvPr id="58" name="Text 55"/>
          <p:cNvSpPr txBox="1"/>
          <p:nvPr/>
        </p:nvSpPr>
        <p:spPr>
          <a:xfrm>
            <a:off x="6492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pl.</a:t>
            </a:r>
            <a:endParaRPr lang="en-US" sz="750" dirty="0"/>
          </a:p>
        </p:txBody>
      </p:sp>
      <p:sp>
        <p:nvSpPr>
          <p:cNvPr id="59" name="Text 56"/>
          <p:cNvSpPr txBox="1"/>
          <p:nvPr/>
        </p:nvSpPr>
        <p:spPr>
          <a:xfrm>
            <a:off x="6400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مَكْتَبَاتٌ</a:t>
            </a:r>
            <a:endParaRPr lang="ar-SA" sz="1500" dirty="0"/>
          </a:p>
        </p:txBody>
      </p:sp>
      <p:sp>
        <p:nvSpPr>
          <p:cNvPr id="60" name="Shape 57"/>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8211312" y="4261104"/>
            <a:ext cx="310896" cy="310896"/>
          </a:xfrm>
          <a:prstGeom prst="ellipse">
            <a:avLst/>
          </a:prstGeom>
          <a:solidFill>
            <a:srgbClr val="F4F1EA"/>
          </a:solidFill>
          <a:ln w="12700">
            <a:solidFill>
              <a:srgbClr val="F4F1EA"/>
            </a:solidFill>
            <a:prstDash val="solid"/>
          </a:ln>
        </p:spPr>
      </p:sp>
      <p:sp>
        <p:nvSpPr>
          <p:cNvPr id="62" name="Text 59"/>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4</a:t>
            </a:r>
            <a:endParaRPr lang="en-US" sz="1000" dirty="0"/>
          </a:p>
        </p:txBody>
      </p:sp>
      <p:sp>
        <p:nvSpPr>
          <p:cNvPr id="63" name="Shape 60"/>
          <p:cNvSpPr/>
          <p:nvPr/>
        </p:nvSpPr>
        <p:spPr>
          <a:xfrm>
            <a:off x="8604504" y="4279392"/>
            <a:ext cx="833933" cy="256032"/>
          </a:xfrm>
          <a:prstGeom prst="roundRect">
            <a:avLst>
              <a:gd name="adj" fmla="val 50000"/>
            </a:avLst>
          </a:prstGeom>
          <a:solidFill>
            <a:srgbClr val="EFE7D2"/>
          </a:solidFill>
          <a:ln w="12700">
            <a:solidFill>
              <a:srgbClr val="EFE7D2"/>
            </a:solidFill>
            <a:prstDash val="solid"/>
          </a:ln>
        </p:spPr>
      </p:sp>
      <p:sp>
        <p:nvSpPr>
          <p:cNvPr id="64" name="Text 61"/>
          <p:cNvSpPr txBox="1"/>
          <p:nvPr/>
        </p:nvSpPr>
        <p:spPr>
          <a:xfrm>
            <a:off x="8604504" y="4279392"/>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noun · m.</a:t>
            </a:r>
            <a:endParaRPr lang="en-US" sz="800" dirty="0"/>
          </a:p>
        </p:txBody>
      </p:sp>
      <p:sp>
        <p:nvSpPr>
          <p:cNvPr id="65" name="Shape 62"/>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66" name="Text 63"/>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67" name="Text 64"/>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مَقْهًى</a:t>
            </a:r>
            <a:endParaRPr lang="ar-SA" sz="3000" dirty="0"/>
          </a:p>
        </p:txBody>
      </p:sp>
      <p:sp>
        <p:nvSpPr>
          <p:cNvPr id="68" name="Text 65"/>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café</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maq-hā</a:t>
            </a:r>
            <a:endParaRPr lang="en-US" sz="1350" dirty="0"/>
          </a:p>
        </p:txBody>
      </p:sp>
      <p:sp>
        <p:nvSpPr>
          <p:cNvPr id="69" name="Shape 66"/>
          <p:cNvSpPr/>
          <p:nvPr/>
        </p:nvSpPr>
        <p:spPr>
          <a:xfrm>
            <a:off x="9966960" y="5779008"/>
            <a:ext cx="1636776" cy="438912"/>
          </a:xfrm>
          <a:prstGeom prst="roundRect">
            <a:avLst>
              <a:gd name="adj" fmla="val 10417"/>
            </a:avLst>
          </a:prstGeom>
          <a:solidFill>
            <a:srgbClr val="F4F1EA"/>
          </a:solidFill>
          <a:ln w="9525">
            <a:solidFill>
              <a:srgbClr val="F4F1EA"/>
            </a:solidFill>
            <a:prstDash val="solid"/>
          </a:ln>
        </p:spPr>
      </p:sp>
      <p:sp>
        <p:nvSpPr>
          <p:cNvPr id="70" name="Text 67"/>
          <p:cNvSpPr txBox="1"/>
          <p:nvPr/>
        </p:nvSpPr>
        <p:spPr>
          <a:xfrm>
            <a:off x="10021824"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sg.</a:t>
            </a:r>
            <a:endParaRPr lang="en-US" sz="750" dirty="0"/>
          </a:p>
        </p:txBody>
      </p:sp>
      <p:sp>
        <p:nvSpPr>
          <p:cNvPr id="71" name="Text 68"/>
          <p:cNvSpPr txBox="1"/>
          <p:nvPr/>
        </p:nvSpPr>
        <p:spPr>
          <a:xfrm>
            <a:off x="10012680"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مَقْهًى</a:t>
            </a:r>
            <a:endParaRPr lang="ar-SA" sz="1500" dirty="0"/>
          </a:p>
        </p:txBody>
      </p:sp>
      <p:sp>
        <p:nvSpPr>
          <p:cNvPr id="72" name="Shape 69"/>
          <p:cNvSpPr/>
          <p:nvPr/>
        </p:nvSpPr>
        <p:spPr>
          <a:xfrm>
            <a:off x="8238744" y="5779008"/>
            <a:ext cx="1636776" cy="438912"/>
          </a:xfrm>
          <a:prstGeom prst="roundRect">
            <a:avLst>
              <a:gd name="adj" fmla="val 10417"/>
            </a:avLst>
          </a:prstGeom>
          <a:solidFill>
            <a:srgbClr val="F4F1EA"/>
          </a:solidFill>
          <a:ln w="9525">
            <a:solidFill>
              <a:srgbClr val="F4F1EA"/>
            </a:solidFill>
            <a:prstDash val="solid"/>
          </a:ln>
        </p:spPr>
      </p:sp>
      <p:sp>
        <p:nvSpPr>
          <p:cNvPr id="73" name="Text 70"/>
          <p:cNvSpPr txBox="1"/>
          <p:nvPr/>
        </p:nvSpPr>
        <p:spPr>
          <a:xfrm>
            <a:off x="8293608"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pl.</a:t>
            </a:r>
            <a:endParaRPr lang="en-US" sz="750" dirty="0"/>
          </a:p>
        </p:txBody>
      </p:sp>
      <p:sp>
        <p:nvSpPr>
          <p:cNvPr id="74" name="Text 71"/>
          <p:cNvSpPr txBox="1"/>
          <p:nvPr/>
        </p:nvSpPr>
        <p:spPr>
          <a:xfrm>
            <a:off x="8284464"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مَقَاهٍ</a:t>
            </a:r>
            <a:endParaRPr lang="ar-SA" sz="1500" dirty="0"/>
          </a:p>
        </p:txBody>
      </p:sp>
      <p:sp>
        <p:nvSpPr>
          <p:cNvPr id="75" name="Shape 72"/>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389120" y="4261104"/>
            <a:ext cx="310896" cy="310896"/>
          </a:xfrm>
          <a:prstGeom prst="ellipse">
            <a:avLst/>
          </a:prstGeom>
          <a:solidFill>
            <a:srgbClr val="F4F1EA"/>
          </a:solidFill>
          <a:ln w="12700">
            <a:solidFill>
              <a:srgbClr val="F4F1EA"/>
            </a:solidFill>
            <a:prstDash val="solid"/>
          </a:ln>
        </p:spPr>
      </p:sp>
      <p:sp>
        <p:nvSpPr>
          <p:cNvPr id="77" name="Text 74"/>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5</a:t>
            </a:r>
            <a:endParaRPr lang="en-US" sz="1000" dirty="0"/>
          </a:p>
        </p:txBody>
      </p:sp>
      <p:sp>
        <p:nvSpPr>
          <p:cNvPr id="78" name="Shape 75"/>
          <p:cNvSpPr/>
          <p:nvPr/>
        </p:nvSpPr>
        <p:spPr>
          <a:xfrm>
            <a:off x="4782312" y="4279392"/>
            <a:ext cx="833933" cy="256032"/>
          </a:xfrm>
          <a:prstGeom prst="roundRect">
            <a:avLst>
              <a:gd name="adj" fmla="val 50000"/>
            </a:avLst>
          </a:prstGeom>
          <a:solidFill>
            <a:srgbClr val="EFE7D2"/>
          </a:solidFill>
          <a:ln w="12700">
            <a:solidFill>
              <a:srgbClr val="EFE7D2"/>
            </a:solidFill>
            <a:prstDash val="solid"/>
          </a:ln>
        </p:spPr>
      </p:sp>
      <p:sp>
        <p:nvSpPr>
          <p:cNvPr id="79" name="Text 76"/>
          <p:cNvSpPr txBox="1"/>
          <p:nvPr/>
        </p:nvSpPr>
        <p:spPr>
          <a:xfrm>
            <a:off x="4782312" y="4279392"/>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noun · m.</a:t>
            </a:r>
            <a:endParaRPr lang="en-US" sz="800" dirty="0"/>
          </a:p>
        </p:txBody>
      </p:sp>
      <p:sp>
        <p:nvSpPr>
          <p:cNvPr id="80" name="Shape 77"/>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81" name="Text 78"/>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82" name="Text 79"/>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مَتْحَفٌ</a:t>
            </a:r>
            <a:endParaRPr lang="ar-SA" sz="3000" dirty="0"/>
          </a:p>
        </p:txBody>
      </p:sp>
      <p:sp>
        <p:nvSpPr>
          <p:cNvPr id="83" name="Text 80"/>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museum</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mat-ḥaf</a:t>
            </a:r>
            <a:endParaRPr lang="en-US" sz="1350" dirty="0"/>
          </a:p>
        </p:txBody>
      </p:sp>
      <p:sp>
        <p:nvSpPr>
          <p:cNvPr id="84" name="Shape 81"/>
          <p:cNvSpPr/>
          <p:nvPr/>
        </p:nvSpPr>
        <p:spPr>
          <a:xfrm>
            <a:off x="6144768" y="5779008"/>
            <a:ext cx="1636776" cy="438912"/>
          </a:xfrm>
          <a:prstGeom prst="roundRect">
            <a:avLst>
              <a:gd name="adj" fmla="val 10417"/>
            </a:avLst>
          </a:prstGeom>
          <a:solidFill>
            <a:srgbClr val="F4F1EA"/>
          </a:solidFill>
          <a:ln w="9525">
            <a:solidFill>
              <a:srgbClr val="F4F1EA"/>
            </a:solidFill>
            <a:prstDash val="solid"/>
          </a:ln>
        </p:spPr>
      </p:sp>
      <p:sp>
        <p:nvSpPr>
          <p:cNvPr id="85" name="Text 82"/>
          <p:cNvSpPr txBox="1"/>
          <p:nvPr/>
        </p:nvSpPr>
        <p:spPr>
          <a:xfrm>
            <a:off x="6199632"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sg.</a:t>
            </a:r>
            <a:endParaRPr lang="en-US" sz="750" dirty="0"/>
          </a:p>
        </p:txBody>
      </p:sp>
      <p:sp>
        <p:nvSpPr>
          <p:cNvPr id="86" name="Text 83"/>
          <p:cNvSpPr txBox="1"/>
          <p:nvPr/>
        </p:nvSpPr>
        <p:spPr>
          <a:xfrm>
            <a:off x="6190488"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مَتْحَفٌ</a:t>
            </a:r>
            <a:endParaRPr lang="ar-SA" sz="1500" dirty="0"/>
          </a:p>
        </p:txBody>
      </p:sp>
      <p:sp>
        <p:nvSpPr>
          <p:cNvPr id="87" name="Shape 84"/>
          <p:cNvSpPr/>
          <p:nvPr/>
        </p:nvSpPr>
        <p:spPr>
          <a:xfrm>
            <a:off x="4416552" y="5779008"/>
            <a:ext cx="1636776" cy="438912"/>
          </a:xfrm>
          <a:prstGeom prst="roundRect">
            <a:avLst>
              <a:gd name="adj" fmla="val 10417"/>
            </a:avLst>
          </a:prstGeom>
          <a:solidFill>
            <a:srgbClr val="F4F1EA"/>
          </a:solidFill>
          <a:ln w="9525">
            <a:solidFill>
              <a:srgbClr val="F4F1EA"/>
            </a:solidFill>
            <a:prstDash val="solid"/>
          </a:ln>
        </p:spPr>
      </p:sp>
      <p:sp>
        <p:nvSpPr>
          <p:cNvPr id="88" name="Text 85"/>
          <p:cNvSpPr txBox="1"/>
          <p:nvPr/>
        </p:nvSpPr>
        <p:spPr>
          <a:xfrm>
            <a:off x="4471416"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pl.</a:t>
            </a:r>
            <a:endParaRPr lang="en-US" sz="750" dirty="0"/>
          </a:p>
        </p:txBody>
      </p:sp>
      <p:sp>
        <p:nvSpPr>
          <p:cNvPr id="89" name="Text 86"/>
          <p:cNvSpPr txBox="1"/>
          <p:nvPr/>
        </p:nvSpPr>
        <p:spPr>
          <a:xfrm>
            <a:off x="4462272"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مَتَاحِفُ</a:t>
            </a:r>
            <a:endParaRPr lang="ar-SA" sz="1500" dirty="0"/>
          </a:p>
        </p:txBody>
      </p:sp>
      <p:sp>
        <p:nvSpPr>
          <p:cNvPr id="90" name="Shape 87"/>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566928" y="4261104"/>
            <a:ext cx="310896" cy="310896"/>
          </a:xfrm>
          <a:prstGeom prst="ellipse">
            <a:avLst/>
          </a:prstGeom>
          <a:solidFill>
            <a:srgbClr val="F4F1EA"/>
          </a:solidFill>
          <a:ln w="12700">
            <a:solidFill>
              <a:srgbClr val="F4F1EA"/>
            </a:solidFill>
            <a:prstDash val="solid"/>
          </a:ln>
        </p:spPr>
      </p:sp>
      <p:sp>
        <p:nvSpPr>
          <p:cNvPr id="92" name="Text 89"/>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6</a:t>
            </a:r>
            <a:endParaRPr lang="en-US" sz="1000" dirty="0"/>
          </a:p>
        </p:txBody>
      </p:sp>
      <p:sp>
        <p:nvSpPr>
          <p:cNvPr id="93" name="Shape 90"/>
          <p:cNvSpPr/>
          <p:nvPr/>
        </p:nvSpPr>
        <p:spPr>
          <a:xfrm>
            <a:off x="960120" y="4279392"/>
            <a:ext cx="833933" cy="256032"/>
          </a:xfrm>
          <a:prstGeom prst="roundRect">
            <a:avLst>
              <a:gd name="adj" fmla="val 50000"/>
            </a:avLst>
          </a:prstGeom>
          <a:solidFill>
            <a:srgbClr val="EFE7D2"/>
          </a:solidFill>
          <a:ln w="12700">
            <a:solidFill>
              <a:srgbClr val="EFE7D2"/>
            </a:solidFill>
            <a:prstDash val="solid"/>
          </a:ln>
        </p:spPr>
      </p:sp>
      <p:sp>
        <p:nvSpPr>
          <p:cNvPr id="94" name="Text 91"/>
          <p:cNvSpPr txBox="1"/>
          <p:nvPr/>
        </p:nvSpPr>
        <p:spPr>
          <a:xfrm>
            <a:off x="960120" y="4279392"/>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noun · f.</a:t>
            </a:r>
            <a:endParaRPr lang="en-US" sz="800" dirty="0"/>
          </a:p>
        </p:txBody>
      </p:sp>
      <p:sp>
        <p:nvSpPr>
          <p:cNvPr id="95" name="Shape 92"/>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96" name="Text 93"/>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97" name="Text 94"/>
          <p:cNvSpPr txBox="1"/>
          <p:nvPr/>
        </p:nvSpPr>
        <p:spPr>
          <a:xfrm>
            <a:off x="566928"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مَدْرَسَةٌ</a:t>
            </a:r>
            <a:endParaRPr lang="ar-SA" sz="3000" dirty="0"/>
          </a:p>
        </p:txBody>
      </p:sp>
      <p:sp>
        <p:nvSpPr>
          <p:cNvPr id="98" name="Text 95"/>
          <p:cNvSpPr txBox="1"/>
          <p:nvPr/>
        </p:nvSpPr>
        <p:spPr>
          <a:xfrm>
            <a:off x="594360"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school</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mad-ra-sa</a:t>
            </a:r>
            <a:endParaRPr lang="en-US" sz="1350" dirty="0"/>
          </a:p>
        </p:txBody>
      </p:sp>
      <p:sp>
        <p:nvSpPr>
          <p:cNvPr id="99" name="Shape 96"/>
          <p:cNvSpPr/>
          <p:nvPr/>
        </p:nvSpPr>
        <p:spPr>
          <a:xfrm>
            <a:off x="2322576" y="5779008"/>
            <a:ext cx="1636776" cy="438912"/>
          </a:xfrm>
          <a:prstGeom prst="roundRect">
            <a:avLst>
              <a:gd name="adj" fmla="val 10417"/>
            </a:avLst>
          </a:prstGeom>
          <a:solidFill>
            <a:srgbClr val="F4F1EA"/>
          </a:solidFill>
          <a:ln w="9525">
            <a:solidFill>
              <a:srgbClr val="F4F1EA"/>
            </a:solidFill>
            <a:prstDash val="solid"/>
          </a:ln>
        </p:spPr>
      </p:sp>
      <p:sp>
        <p:nvSpPr>
          <p:cNvPr id="100" name="Text 97"/>
          <p:cNvSpPr txBox="1"/>
          <p:nvPr/>
        </p:nvSpPr>
        <p:spPr>
          <a:xfrm>
            <a:off x="2377440"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sg.</a:t>
            </a:r>
            <a:endParaRPr lang="en-US" sz="750" dirty="0"/>
          </a:p>
        </p:txBody>
      </p:sp>
      <p:sp>
        <p:nvSpPr>
          <p:cNvPr id="101" name="Text 98"/>
          <p:cNvSpPr txBox="1"/>
          <p:nvPr/>
        </p:nvSpPr>
        <p:spPr>
          <a:xfrm>
            <a:off x="2368296"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مَدْرَسَةٌ</a:t>
            </a:r>
            <a:endParaRPr lang="ar-SA" sz="1500" dirty="0"/>
          </a:p>
        </p:txBody>
      </p:sp>
      <p:sp>
        <p:nvSpPr>
          <p:cNvPr id="102" name="Shape 99"/>
          <p:cNvSpPr/>
          <p:nvPr/>
        </p:nvSpPr>
        <p:spPr>
          <a:xfrm>
            <a:off x="594360" y="5779008"/>
            <a:ext cx="1636776" cy="438912"/>
          </a:xfrm>
          <a:prstGeom prst="roundRect">
            <a:avLst>
              <a:gd name="adj" fmla="val 10417"/>
            </a:avLst>
          </a:prstGeom>
          <a:solidFill>
            <a:srgbClr val="F4F1EA"/>
          </a:solidFill>
          <a:ln w="9525">
            <a:solidFill>
              <a:srgbClr val="F4F1EA"/>
            </a:solidFill>
            <a:prstDash val="solid"/>
          </a:ln>
        </p:spPr>
      </p:sp>
      <p:sp>
        <p:nvSpPr>
          <p:cNvPr id="103" name="Text 100"/>
          <p:cNvSpPr txBox="1"/>
          <p:nvPr/>
        </p:nvSpPr>
        <p:spPr>
          <a:xfrm>
            <a:off x="649224"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pl.</a:t>
            </a:r>
            <a:endParaRPr lang="en-US" sz="750" dirty="0"/>
          </a:p>
        </p:txBody>
      </p:sp>
      <p:sp>
        <p:nvSpPr>
          <p:cNvPr id="104" name="Text 101"/>
          <p:cNvSpPr txBox="1"/>
          <p:nvPr/>
        </p:nvSpPr>
        <p:spPr>
          <a:xfrm>
            <a:off x="640080"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مَدَارِسُ</a:t>
            </a:r>
            <a:endParaRPr lang="ar-SA" sz="1500" dirty="0"/>
          </a:p>
        </p:txBody>
      </p:sp>
      <p:sp>
        <p:nvSpPr>
          <p:cNvPr id="105" name="Text 10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8 / 49</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TC-L08 · Buildings &amp; Services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KEY WORDS · GROUP 2 · TOPIC C BANK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Services and getting around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الخَدَمَاتُ وَالمُوَاصَلَاتُ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3 · Lesson 2 of 3</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7</a:t>
            </a:r>
            <a:endParaRPr lang="en-US" sz="1000" dirty="0"/>
          </a:p>
        </p:txBody>
      </p:sp>
      <p:sp>
        <p:nvSpPr>
          <p:cNvPr id="18" name="Shape 15"/>
          <p:cNvSpPr/>
          <p:nvPr/>
        </p:nvSpPr>
        <p:spPr>
          <a:xfrm>
            <a:off x="8604504" y="1938528"/>
            <a:ext cx="896112"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iḍāfa · f.</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مَحَطَّةُ القِطَارِ</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train station</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ma-ḥaṭ-ṭa-tu l-qi-ṭār</a:t>
            </a:r>
            <a:endParaRPr lang="en-US" sz="1350" dirty="0"/>
          </a:p>
        </p:txBody>
      </p:sp>
      <p:sp>
        <p:nvSpPr>
          <p:cNvPr id="24" name="Shape 21"/>
          <p:cNvSpPr/>
          <p:nvPr/>
        </p:nvSpPr>
        <p:spPr>
          <a:xfrm>
            <a:off x="9966960" y="3438144"/>
            <a:ext cx="1636776"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021824"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ea typeface="Calibri" pitchFamily="34" charset="-122"/>
                <a:cs typeface="Calibri" pitchFamily="34" charset="-120"/>
              </a:rPr>
              <a:t>station</a:t>
            </a:r>
            <a:endParaRPr lang="en-US" sz="700" dirty="0"/>
          </a:p>
        </p:txBody>
      </p:sp>
      <p:sp>
        <p:nvSpPr>
          <p:cNvPr id="26" name="Text 23"/>
          <p:cNvSpPr txBox="1"/>
          <p:nvPr/>
        </p:nvSpPr>
        <p:spPr>
          <a:xfrm>
            <a:off x="10012680"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34" charset="0"/>
                <a:ea typeface="Amiri" pitchFamily="34" charset="-122"/>
                <a:cs typeface="Amiri" pitchFamily="34" charset="-120"/>
              </a:rPr>
              <a:t>مَحَطَّةٌ</a:t>
            </a:r>
            <a:endParaRPr lang="ar-SA" sz="1350" dirty="0"/>
          </a:p>
        </p:txBody>
      </p:sp>
      <p:sp>
        <p:nvSpPr>
          <p:cNvPr id="27" name="Shape 24"/>
          <p:cNvSpPr/>
          <p:nvPr/>
        </p:nvSpPr>
        <p:spPr>
          <a:xfrm>
            <a:off x="8238744" y="3438144"/>
            <a:ext cx="1636776"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8293608"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ea typeface="Calibri" pitchFamily="34" charset="-122"/>
                <a:cs typeface="Calibri" pitchFamily="34" charset="-120"/>
              </a:rPr>
              <a:t>train</a:t>
            </a:r>
            <a:endParaRPr lang="en-US" sz="700" dirty="0"/>
          </a:p>
        </p:txBody>
      </p:sp>
      <p:sp>
        <p:nvSpPr>
          <p:cNvPr id="29" name="Text 26"/>
          <p:cNvSpPr txBox="1"/>
          <p:nvPr/>
        </p:nvSpPr>
        <p:spPr>
          <a:xfrm>
            <a:off x="8284464"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34" charset="0"/>
                <a:ea typeface="Amiri" pitchFamily="34" charset="-122"/>
                <a:cs typeface="Amiri" pitchFamily="34" charset="-120"/>
              </a:rPr>
              <a:t>قِطَارٌ</a:t>
            </a:r>
            <a:endParaRPr lang="ar-SA" sz="1350" dirty="0"/>
          </a:p>
        </p:txBody>
      </p:sp>
      <p:sp>
        <p:nvSpPr>
          <p:cNvPr id="30" name="Shape 2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389120" y="1920240"/>
            <a:ext cx="310896" cy="310896"/>
          </a:xfrm>
          <a:prstGeom prst="ellipse">
            <a:avLst/>
          </a:prstGeom>
          <a:solidFill>
            <a:srgbClr val="F4F1EA"/>
          </a:solidFill>
          <a:ln w="12700">
            <a:solidFill>
              <a:srgbClr val="F4F1EA"/>
            </a:solidFill>
            <a:prstDash val="solid"/>
          </a:ln>
        </p:spPr>
      </p:sp>
      <p:sp>
        <p:nvSpPr>
          <p:cNvPr id="32" name="Text 2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8</a:t>
            </a:r>
            <a:endParaRPr lang="en-US" sz="1000" dirty="0"/>
          </a:p>
        </p:txBody>
      </p:sp>
      <p:sp>
        <p:nvSpPr>
          <p:cNvPr id="33" name="Shape 30"/>
          <p:cNvSpPr/>
          <p:nvPr/>
        </p:nvSpPr>
        <p:spPr>
          <a:xfrm>
            <a:off x="4782312" y="1938528"/>
            <a:ext cx="833933" cy="256032"/>
          </a:xfrm>
          <a:prstGeom prst="roundRect">
            <a:avLst>
              <a:gd name="adj" fmla="val 50000"/>
            </a:avLst>
          </a:prstGeom>
          <a:solidFill>
            <a:srgbClr val="EFE7D2"/>
          </a:solidFill>
          <a:ln w="12700">
            <a:solidFill>
              <a:srgbClr val="EFE7D2"/>
            </a:solidFill>
            <a:prstDash val="solid"/>
          </a:ln>
        </p:spPr>
      </p:sp>
      <p:sp>
        <p:nvSpPr>
          <p:cNvPr id="34" name="Text 31"/>
          <p:cNvSpPr txBox="1"/>
          <p:nvPr/>
        </p:nvSpPr>
        <p:spPr>
          <a:xfrm>
            <a:off x="4782312" y="1938528"/>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noun · f.</a:t>
            </a:r>
            <a:endParaRPr lang="en-US" sz="800" dirty="0"/>
          </a:p>
        </p:txBody>
      </p:sp>
      <p:sp>
        <p:nvSpPr>
          <p:cNvPr id="35" name="Shape 3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37" name="Text 34"/>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عِيَادَةٌ</a:t>
            </a:r>
            <a:endParaRPr lang="ar-SA" sz="3000" dirty="0"/>
          </a:p>
        </p:txBody>
      </p:sp>
      <p:sp>
        <p:nvSpPr>
          <p:cNvPr id="38" name="Text 35"/>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clinic</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ʿi-yā-da</a:t>
            </a:r>
            <a:endParaRPr lang="en-US" sz="1350" dirty="0"/>
          </a:p>
        </p:txBody>
      </p:sp>
      <p:sp>
        <p:nvSpPr>
          <p:cNvPr id="39" name="Shape 36"/>
          <p:cNvSpPr/>
          <p:nvPr/>
        </p:nvSpPr>
        <p:spPr>
          <a:xfrm>
            <a:off x="6144768" y="3438144"/>
            <a:ext cx="1636776" cy="438912"/>
          </a:xfrm>
          <a:prstGeom prst="roundRect">
            <a:avLst>
              <a:gd name="adj" fmla="val 10417"/>
            </a:avLst>
          </a:prstGeom>
          <a:solidFill>
            <a:srgbClr val="F4F1EA"/>
          </a:solidFill>
          <a:ln w="9525">
            <a:solidFill>
              <a:srgbClr val="F4F1EA"/>
            </a:solidFill>
            <a:prstDash val="solid"/>
          </a:ln>
        </p:spPr>
      </p:sp>
      <p:sp>
        <p:nvSpPr>
          <p:cNvPr id="40" name="Text 37"/>
          <p:cNvSpPr txBox="1"/>
          <p:nvPr/>
        </p:nvSpPr>
        <p:spPr>
          <a:xfrm>
            <a:off x="6199632"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sg.</a:t>
            </a:r>
            <a:endParaRPr lang="en-US" sz="750" dirty="0"/>
          </a:p>
        </p:txBody>
      </p:sp>
      <p:sp>
        <p:nvSpPr>
          <p:cNvPr id="41" name="Text 38"/>
          <p:cNvSpPr txBox="1"/>
          <p:nvPr/>
        </p:nvSpPr>
        <p:spPr>
          <a:xfrm>
            <a:off x="6190488"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عِيَادَةٌ</a:t>
            </a:r>
            <a:endParaRPr lang="ar-SA" sz="1500" dirty="0"/>
          </a:p>
        </p:txBody>
      </p:sp>
      <p:sp>
        <p:nvSpPr>
          <p:cNvPr id="42" name="Shape 39"/>
          <p:cNvSpPr/>
          <p:nvPr/>
        </p:nvSpPr>
        <p:spPr>
          <a:xfrm>
            <a:off x="4416552" y="3438144"/>
            <a:ext cx="1636776" cy="438912"/>
          </a:xfrm>
          <a:prstGeom prst="roundRect">
            <a:avLst>
              <a:gd name="adj" fmla="val 10417"/>
            </a:avLst>
          </a:prstGeom>
          <a:solidFill>
            <a:srgbClr val="F4F1EA"/>
          </a:solidFill>
          <a:ln w="9525">
            <a:solidFill>
              <a:srgbClr val="F4F1EA"/>
            </a:solidFill>
            <a:prstDash val="solid"/>
          </a:ln>
        </p:spPr>
      </p:sp>
      <p:sp>
        <p:nvSpPr>
          <p:cNvPr id="43" name="Text 40"/>
          <p:cNvSpPr txBox="1"/>
          <p:nvPr/>
        </p:nvSpPr>
        <p:spPr>
          <a:xfrm>
            <a:off x="4471416"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pl.</a:t>
            </a:r>
            <a:endParaRPr lang="en-US" sz="750" dirty="0"/>
          </a:p>
        </p:txBody>
      </p:sp>
      <p:sp>
        <p:nvSpPr>
          <p:cNvPr id="44" name="Text 41"/>
          <p:cNvSpPr txBox="1"/>
          <p:nvPr/>
        </p:nvSpPr>
        <p:spPr>
          <a:xfrm>
            <a:off x="4462272"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عِيَادَاتٌ</a:t>
            </a:r>
            <a:endParaRPr lang="ar-SA" sz="1500" dirty="0"/>
          </a:p>
        </p:txBody>
      </p:sp>
      <p:sp>
        <p:nvSpPr>
          <p:cNvPr id="45" name="Shape 42"/>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66928" y="1920240"/>
            <a:ext cx="310896" cy="310896"/>
          </a:xfrm>
          <a:prstGeom prst="ellipse">
            <a:avLst/>
          </a:prstGeom>
          <a:solidFill>
            <a:srgbClr val="F4F1EA"/>
          </a:solidFill>
          <a:ln w="12700">
            <a:solidFill>
              <a:srgbClr val="F4F1EA"/>
            </a:solidFill>
            <a:prstDash val="solid"/>
          </a:ln>
        </p:spPr>
      </p:sp>
      <p:sp>
        <p:nvSpPr>
          <p:cNvPr id="47" name="Text 44"/>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9</a:t>
            </a:r>
            <a:endParaRPr lang="en-US" sz="1000" dirty="0"/>
          </a:p>
        </p:txBody>
      </p:sp>
      <p:sp>
        <p:nvSpPr>
          <p:cNvPr id="48" name="Shape 45"/>
          <p:cNvSpPr/>
          <p:nvPr/>
        </p:nvSpPr>
        <p:spPr>
          <a:xfrm>
            <a:off x="960120" y="1938528"/>
            <a:ext cx="896112" cy="256032"/>
          </a:xfrm>
          <a:prstGeom prst="roundRect">
            <a:avLst>
              <a:gd name="adj" fmla="val 50000"/>
            </a:avLst>
          </a:prstGeom>
          <a:solidFill>
            <a:srgbClr val="EFE7D2"/>
          </a:solidFill>
          <a:ln w="12700">
            <a:solidFill>
              <a:srgbClr val="EFE7D2"/>
            </a:solidFill>
            <a:prstDash val="solid"/>
          </a:ln>
        </p:spPr>
      </p:sp>
      <p:sp>
        <p:nvSpPr>
          <p:cNvPr id="49" name="Text 46"/>
          <p:cNvSpPr txBox="1"/>
          <p:nvPr/>
        </p:nvSpPr>
        <p:spPr>
          <a:xfrm>
            <a:off x="960120"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iḍāfa · m.</a:t>
            </a:r>
            <a:endParaRPr lang="en-US" sz="800" dirty="0"/>
          </a:p>
        </p:txBody>
      </p:sp>
      <p:sp>
        <p:nvSpPr>
          <p:cNvPr id="50" name="Text 47"/>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مَكْتَبُ البَرِيدِ</a:t>
            </a:r>
            <a:endParaRPr lang="ar-SA" sz="3000" dirty="0"/>
          </a:p>
        </p:txBody>
      </p:sp>
      <p:sp>
        <p:nvSpPr>
          <p:cNvPr id="51" name="Text 48"/>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post office</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mak-ta-bu l-ba-rīd</a:t>
            </a:r>
            <a:endParaRPr lang="en-US" sz="1350" dirty="0"/>
          </a:p>
        </p:txBody>
      </p:sp>
      <p:sp>
        <p:nvSpPr>
          <p:cNvPr id="52" name="Shape 49"/>
          <p:cNvSpPr/>
          <p:nvPr/>
        </p:nvSpPr>
        <p:spPr>
          <a:xfrm>
            <a:off x="2322576" y="3438144"/>
            <a:ext cx="1636776" cy="438912"/>
          </a:xfrm>
          <a:prstGeom prst="roundRect">
            <a:avLst>
              <a:gd name="adj" fmla="val 10417"/>
            </a:avLst>
          </a:prstGeom>
          <a:solidFill>
            <a:srgbClr val="F4F1EA"/>
          </a:solidFill>
          <a:ln w="9525">
            <a:solidFill>
              <a:srgbClr val="F4F1EA"/>
            </a:solidFill>
            <a:prstDash val="solid"/>
          </a:ln>
        </p:spPr>
      </p:sp>
      <p:sp>
        <p:nvSpPr>
          <p:cNvPr id="53" name="Text 50"/>
          <p:cNvSpPr txBox="1"/>
          <p:nvPr/>
        </p:nvSpPr>
        <p:spPr>
          <a:xfrm>
            <a:off x="2377440"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ea typeface="Calibri" pitchFamily="34" charset="-122"/>
                <a:cs typeface="Calibri" pitchFamily="34" charset="-120"/>
              </a:rPr>
              <a:t>office</a:t>
            </a:r>
            <a:endParaRPr lang="en-US" sz="700" dirty="0"/>
          </a:p>
        </p:txBody>
      </p:sp>
      <p:sp>
        <p:nvSpPr>
          <p:cNvPr id="54" name="Text 51"/>
          <p:cNvSpPr txBox="1"/>
          <p:nvPr/>
        </p:nvSpPr>
        <p:spPr>
          <a:xfrm>
            <a:off x="2368296"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34" charset="0"/>
                <a:ea typeface="Amiri" pitchFamily="34" charset="-122"/>
                <a:cs typeface="Amiri" pitchFamily="34" charset="-120"/>
              </a:rPr>
              <a:t>مَكْتَبٌ</a:t>
            </a:r>
            <a:endParaRPr lang="ar-SA" sz="1350" dirty="0"/>
          </a:p>
        </p:txBody>
      </p:sp>
      <p:sp>
        <p:nvSpPr>
          <p:cNvPr id="55" name="Shape 52"/>
          <p:cNvSpPr/>
          <p:nvPr/>
        </p:nvSpPr>
        <p:spPr>
          <a:xfrm>
            <a:off x="594360" y="3438144"/>
            <a:ext cx="1636776" cy="438912"/>
          </a:xfrm>
          <a:prstGeom prst="roundRect">
            <a:avLst>
              <a:gd name="adj" fmla="val 10417"/>
            </a:avLst>
          </a:prstGeom>
          <a:solidFill>
            <a:srgbClr val="F4F1EA"/>
          </a:solidFill>
          <a:ln w="9525">
            <a:solidFill>
              <a:srgbClr val="F4F1EA"/>
            </a:solidFill>
            <a:prstDash val="solid"/>
          </a:ln>
        </p:spPr>
      </p:sp>
      <p:sp>
        <p:nvSpPr>
          <p:cNvPr id="56" name="Text 53"/>
          <p:cNvSpPr txBox="1"/>
          <p:nvPr/>
        </p:nvSpPr>
        <p:spPr>
          <a:xfrm>
            <a:off x="649224"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ea typeface="Calibri" pitchFamily="34" charset="-122"/>
                <a:cs typeface="Calibri" pitchFamily="34" charset="-120"/>
              </a:rPr>
              <a:t>post</a:t>
            </a:r>
            <a:endParaRPr lang="en-US" sz="700" dirty="0"/>
          </a:p>
        </p:txBody>
      </p:sp>
      <p:sp>
        <p:nvSpPr>
          <p:cNvPr id="57" name="Text 54"/>
          <p:cNvSpPr txBox="1"/>
          <p:nvPr/>
        </p:nvSpPr>
        <p:spPr>
          <a:xfrm>
            <a:off x="640080"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34" charset="0"/>
                <a:ea typeface="Amiri" pitchFamily="34" charset="-122"/>
                <a:cs typeface="Amiri" pitchFamily="34" charset="-120"/>
              </a:rPr>
              <a:t>البَرِيدُ</a:t>
            </a:r>
            <a:endParaRPr lang="ar-SA" sz="1350" dirty="0"/>
          </a:p>
        </p:txBody>
      </p:sp>
      <p:sp>
        <p:nvSpPr>
          <p:cNvPr id="58" name="Shape 55"/>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9" name="Shape 56"/>
          <p:cNvSpPr/>
          <p:nvPr/>
        </p:nvSpPr>
        <p:spPr>
          <a:xfrm>
            <a:off x="8211312" y="4261104"/>
            <a:ext cx="310896" cy="310896"/>
          </a:xfrm>
          <a:prstGeom prst="ellipse">
            <a:avLst/>
          </a:prstGeom>
          <a:solidFill>
            <a:srgbClr val="F4F1EA"/>
          </a:solidFill>
          <a:ln w="12700">
            <a:solidFill>
              <a:srgbClr val="F4F1EA"/>
            </a:solidFill>
            <a:prstDash val="solid"/>
          </a:ln>
        </p:spPr>
      </p:sp>
      <p:sp>
        <p:nvSpPr>
          <p:cNvPr id="60" name="Text 57"/>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10</a:t>
            </a:r>
            <a:endParaRPr lang="en-US" sz="1000" dirty="0"/>
          </a:p>
        </p:txBody>
      </p:sp>
      <p:sp>
        <p:nvSpPr>
          <p:cNvPr id="61" name="Shape 58"/>
          <p:cNvSpPr/>
          <p:nvPr/>
        </p:nvSpPr>
        <p:spPr>
          <a:xfrm>
            <a:off x="8604504" y="4279392"/>
            <a:ext cx="896112" cy="256032"/>
          </a:xfrm>
          <a:prstGeom prst="roundRect">
            <a:avLst>
              <a:gd name="adj" fmla="val 50000"/>
            </a:avLst>
          </a:prstGeom>
          <a:solidFill>
            <a:srgbClr val="EFE7D2"/>
          </a:solidFill>
          <a:ln w="12700">
            <a:solidFill>
              <a:srgbClr val="EFE7D2"/>
            </a:solidFill>
            <a:prstDash val="solid"/>
          </a:ln>
        </p:spPr>
      </p:sp>
      <p:sp>
        <p:nvSpPr>
          <p:cNvPr id="62" name="Text 59"/>
          <p:cNvSpPr txBox="1"/>
          <p:nvPr/>
        </p:nvSpPr>
        <p:spPr>
          <a:xfrm>
            <a:off x="8604504"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iḍāfa · m.</a:t>
            </a:r>
            <a:endParaRPr lang="en-US" sz="800" dirty="0"/>
          </a:p>
        </p:txBody>
      </p:sp>
      <p:sp>
        <p:nvSpPr>
          <p:cNvPr id="63" name="Text 60"/>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مَوْقِفُ سَيَّارَاتٍ</a:t>
            </a:r>
            <a:endParaRPr lang="ar-SA" sz="3000" dirty="0"/>
          </a:p>
        </p:txBody>
      </p:sp>
      <p:sp>
        <p:nvSpPr>
          <p:cNvPr id="64" name="Text 61"/>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car park</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maw-qi-fu say-yā-rāt</a:t>
            </a:r>
            <a:endParaRPr lang="en-US" sz="1350" dirty="0"/>
          </a:p>
        </p:txBody>
      </p:sp>
      <p:sp>
        <p:nvSpPr>
          <p:cNvPr id="65" name="Shape 62"/>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6" name="Shape 63"/>
          <p:cNvSpPr/>
          <p:nvPr/>
        </p:nvSpPr>
        <p:spPr>
          <a:xfrm>
            <a:off x="4389120" y="4261104"/>
            <a:ext cx="310896" cy="310896"/>
          </a:xfrm>
          <a:prstGeom prst="ellipse">
            <a:avLst/>
          </a:prstGeom>
          <a:solidFill>
            <a:srgbClr val="F4F1EA"/>
          </a:solidFill>
          <a:ln w="12700">
            <a:solidFill>
              <a:srgbClr val="F4F1EA"/>
            </a:solidFill>
            <a:prstDash val="solid"/>
          </a:ln>
        </p:spPr>
      </p:sp>
      <p:sp>
        <p:nvSpPr>
          <p:cNvPr id="67" name="Text 64"/>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11</a:t>
            </a:r>
            <a:endParaRPr lang="en-US" sz="1000" dirty="0"/>
          </a:p>
        </p:txBody>
      </p:sp>
      <p:sp>
        <p:nvSpPr>
          <p:cNvPr id="68" name="Shape 65"/>
          <p:cNvSpPr/>
          <p:nvPr/>
        </p:nvSpPr>
        <p:spPr>
          <a:xfrm>
            <a:off x="4782312" y="4279392"/>
            <a:ext cx="833933" cy="256032"/>
          </a:xfrm>
          <a:prstGeom prst="roundRect">
            <a:avLst>
              <a:gd name="adj" fmla="val 50000"/>
            </a:avLst>
          </a:prstGeom>
          <a:solidFill>
            <a:srgbClr val="EFE7D2"/>
          </a:solidFill>
          <a:ln w="12700">
            <a:solidFill>
              <a:srgbClr val="EFE7D2"/>
            </a:solidFill>
            <a:prstDash val="solid"/>
          </a:ln>
        </p:spPr>
      </p:sp>
      <p:sp>
        <p:nvSpPr>
          <p:cNvPr id="69" name="Text 66"/>
          <p:cNvSpPr txBox="1"/>
          <p:nvPr/>
        </p:nvSpPr>
        <p:spPr>
          <a:xfrm>
            <a:off x="4782312" y="4279392"/>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noun · m.</a:t>
            </a:r>
            <a:endParaRPr lang="en-US" sz="800" dirty="0"/>
          </a:p>
        </p:txBody>
      </p:sp>
      <p:sp>
        <p:nvSpPr>
          <p:cNvPr id="70" name="Text 67"/>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مَلْعَبٌ</a:t>
            </a:r>
            <a:endParaRPr lang="ar-SA" sz="3000" dirty="0"/>
          </a:p>
        </p:txBody>
      </p:sp>
      <p:sp>
        <p:nvSpPr>
          <p:cNvPr id="71" name="Text 68"/>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sports pitch, playground</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mal-ʿab</a:t>
            </a:r>
            <a:endParaRPr lang="en-US" sz="1350" dirty="0"/>
          </a:p>
        </p:txBody>
      </p:sp>
      <p:sp>
        <p:nvSpPr>
          <p:cNvPr id="72" name="Shape 69"/>
          <p:cNvSpPr/>
          <p:nvPr/>
        </p:nvSpPr>
        <p:spPr>
          <a:xfrm>
            <a:off x="6144768" y="5779008"/>
            <a:ext cx="1636776" cy="438912"/>
          </a:xfrm>
          <a:prstGeom prst="roundRect">
            <a:avLst>
              <a:gd name="adj" fmla="val 10417"/>
            </a:avLst>
          </a:prstGeom>
          <a:solidFill>
            <a:srgbClr val="F4F1EA"/>
          </a:solidFill>
          <a:ln w="9525">
            <a:solidFill>
              <a:srgbClr val="F4F1EA"/>
            </a:solidFill>
            <a:prstDash val="solid"/>
          </a:ln>
        </p:spPr>
      </p:sp>
      <p:sp>
        <p:nvSpPr>
          <p:cNvPr id="73" name="Text 70"/>
          <p:cNvSpPr txBox="1"/>
          <p:nvPr/>
        </p:nvSpPr>
        <p:spPr>
          <a:xfrm>
            <a:off x="6199632"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sg.</a:t>
            </a:r>
            <a:endParaRPr lang="en-US" sz="750" dirty="0"/>
          </a:p>
        </p:txBody>
      </p:sp>
      <p:sp>
        <p:nvSpPr>
          <p:cNvPr id="74" name="Text 71"/>
          <p:cNvSpPr txBox="1"/>
          <p:nvPr/>
        </p:nvSpPr>
        <p:spPr>
          <a:xfrm>
            <a:off x="6190488"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مَلْعَبٌ</a:t>
            </a:r>
            <a:endParaRPr lang="ar-SA" sz="1500" dirty="0"/>
          </a:p>
        </p:txBody>
      </p:sp>
      <p:sp>
        <p:nvSpPr>
          <p:cNvPr id="75" name="Shape 72"/>
          <p:cNvSpPr/>
          <p:nvPr/>
        </p:nvSpPr>
        <p:spPr>
          <a:xfrm>
            <a:off x="4416552" y="5779008"/>
            <a:ext cx="1636776" cy="438912"/>
          </a:xfrm>
          <a:prstGeom prst="roundRect">
            <a:avLst>
              <a:gd name="adj" fmla="val 10417"/>
            </a:avLst>
          </a:prstGeom>
          <a:solidFill>
            <a:srgbClr val="F4F1EA"/>
          </a:solidFill>
          <a:ln w="9525">
            <a:solidFill>
              <a:srgbClr val="F4F1EA"/>
            </a:solidFill>
            <a:prstDash val="solid"/>
          </a:ln>
        </p:spPr>
      </p:sp>
      <p:sp>
        <p:nvSpPr>
          <p:cNvPr id="76" name="Text 73"/>
          <p:cNvSpPr txBox="1"/>
          <p:nvPr/>
        </p:nvSpPr>
        <p:spPr>
          <a:xfrm>
            <a:off x="4471416"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pl.</a:t>
            </a:r>
            <a:endParaRPr lang="en-US" sz="750" dirty="0"/>
          </a:p>
        </p:txBody>
      </p:sp>
      <p:sp>
        <p:nvSpPr>
          <p:cNvPr id="77" name="Text 74"/>
          <p:cNvSpPr txBox="1"/>
          <p:nvPr/>
        </p:nvSpPr>
        <p:spPr>
          <a:xfrm>
            <a:off x="4462272"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مَلَاعِبُ</a:t>
            </a:r>
            <a:endParaRPr lang="ar-SA" sz="1500" dirty="0"/>
          </a:p>
        </p:txBody>
      </p:sp>
      <p:sp>
        <p:nvSpPr>
          <p:cNvPr id="78" name="Shape 75"/>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9" name="Shape 76"/>
          <p:cNvSpPr/>
          <p:nvPr/>
        </p:nvSpPr>
        <p:spPr>
          <a:xfrm>
            <a:off x="566928" y="4261104"/>
            <a:ext cx="310896" cy="310896"/>
          </a:xfrm>
          <a:prstGeom prst="ellipse">
            <a:avLst/>
          </a:prstGeom>
          <a:solidFill>
            <a:srgbClr val="F4F1EA"/>
          </a:solidFill>
          <a:ln w="12700">
            <a:solidFill>
              <a:srgbClr val="F4F1EA"/>
            </a:solidFill>
            <a:prstDash val="solid"/>
          </a:ln>
        </p:spPr>
      </p:sp>
      <p:sp>
        <p:nvSpPr>
          <p:cNvPr id="80" name="Text 77"/>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12</a:t>
            </a:r>
            <a:endParaRPr lang="en-US" sz="1000" dirty="0"/>
          </a:p>
        </p:txBody>
      </p:sp>
      <p:sp>
        <p:nvSpPr>
          <p:cNvPr id="81" name="Shape 78"/>
          <p:cNvSpPr/>
          <p:nvPr/>
        </p:nvSpPr>
        <p:spPr>
          <a:xfrm>
            <a:off x="960120" y="4279392"/>
            <a:ext cx="833933" cy="256032"/>
          </a:xfrm>
          <a:prstGeom prst="roundRect">
            <a:avLst>
              <a:gd name="adj" fmla="val 50000"/>
            </a:avLst>
          </a:prstGeom>
          <a:solidFill>
            <a:srgbClr val="EFE7D2"/>
          </a:solidFill>
          <a:ln w="12700">
            <a:solidFill>
              <a:srgbClr val="EFE7D2"/>
            </a:solidFill>
            <a:prstDash val="solid"/>
          </a:ln>
        </p:spPr>
      </p:sp>
      <p:sp>
        <p:nvSpPr>
          <p:cNvPr id="82" name="Text 79"/>
          <p:cNvSpPr txBox="1"/>
          <p:nvPr/>
        </p:nvSpPr>
        <p:spPr>
          <a:xfrm>
            <a:off x="960120" y="4279392"/>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noun · m.</a:t>
            </a:r>
            <a:endParaRPr lang="en-US" sz="800" dirty="0"/>
          </a:p>
        </p:txBody>
      </p:sp>
      <p:sp>
        <p:nvSpPr>
          <p:cNvPr id="83" name="Text 80"/>
          <p:cNvSpPr txBox="1"/>
          <p:nvPr/>
        </p:nvSpPr>
        <p:spPr>
          <a:xfrm>
            <a:off x="566928"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مَسْبَحٌ</a:t>
            </a:r>
            <a:endParaRPr lang="ar-SA" sz="3000" dirty="0"/>
          </a:p>
        </p:txBody>
      </p:sp>
      <p:sp>
        <p:nvSpPr>
          <p:cNvPr id="84" name="Text 81"/>
          <p:cNvSpPr txBox="1"/>
          <p:nvPr/>
        </p:nvSpPr>
        <p:spPr>
          <a:xfrm>
            <a:off x="594360"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swimming pool</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mas-baḥ</a:t>
            </a:r>
            <a:endParaRPr lang="en-US" sz="1350" dirty="0"/>
          </a:p>
        </p:txBody>
      </p:sp>
      <p:sp>
        <p:nvSpPr>
          <p:cNvPr id="85" name="Shape 82"/>
          <p:cNvSpPr/>
          <p:nvPr/>
        </p:nvSpPr>
        <p:spPr>
          <a:xfrm>
            <a:off x="2322576" y="5779008"/>
            <a:ext cx="1636776" cy="438912"/>
          </a:xfrm>
          <a:prstGeom prst="roundRect">
            <a:avLst>
              <a:gd name="adj" fmla="val 10417"/>
            </a:avLst>
          </a:prstGeom>
          <a:solidFill>
            <a:srgbClr val="F4F1EA"/>
          </a:solidFill>
          <a:ln w="9525">
            <a:solidFill>
              <a:srgbClr val="F4F1EA"/>
            </a:solidFill>
            <a:prstDash val="solid"/>
          </a:ln>
        </p:spPr>
      </p:sp>
      <p:sp>
        <p:nvSpPr>
          <p:cNvPr id="86" name="Text 83"/>
          <p:cNvSpPr txBox="1"/>
          <p:nvPr/>
        </p:nvSpPr>
        <p:spPr>
          <a:xfrm>
            <a:off x="2377440"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sg.</a:t>
            </a:r>
            <a:endParaRPr lang="en-US" sz="750" dirty="0"/>
          </a:p>
        </p:txBody>
      </p:sp>
      <p:sp>
        <p:nvSpPr>
          <p:cNvPr id="87" name="Text 84"/>
          <p:cNvSpPr txBox="1"/>
          <p:nvPr/>
        </p:nvSpPr>
        <p:spPr>
          <a:xfrm>
            <a:off x="2368296"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مَسْبَحٌ</a:t>
            </a:r>
            <a:endParaRPr lang="ar-SA" sz="1500" dirty="0"/>
          </a:p>
        </p:txBody>
      </p:sp>
      <p:sp>
        <p:nvSpPr>
          <p:cNvPr id="88" name="Shape 85"/>
          <p:cNvSpPr/>
          <p:nvPr/>
        </p:nvSpPr>
        <p:spPr>
          <a:xfrm>
            <a:off x="594360" y="5779008"/>
            <a:ext cx="1636776" cy="438912"/>
          </a:xfrm>
          <a:prstGeom prst="roundRect">
            <a:avLst>
              <a:gd name="adj" fmla="val 10417"/>
            </a:avLst>
          </a:prstGeom>
          <a:solidFill>
            <a:srgbClr val="F4F1EA"/>
          </a:solidFill>
          <a:ln w="9525">
            <a:solidFill>
              <a:srgbClr val="F4F1EA"/>
            </a:solidFill>
            <a:prstDash val="solid"/>
          </a:ln>
        </p:spPr>
      </p:sp>
      <p:sp>
        <p:nvSpPr>
          <p:cNvPr id="89" name="Text 86"/>
          <p:cNvSpPr txBox="1"/>
          <p:nvPr/>
        </p:nvSpPr>
        <p:spPr>
          <a:xfrm>
            <a:off x="649224"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pl.</a:t>
            </a:r>
            <a:endParaRPr lang="en-US" sz="750" dirty="0"/>
          </a:p>
        </p:txBody>
      </p:sp>
      <p:sp>
        <p:nvSpPr>
          <p:cNvPr id="90" name="Text 87"/>
          <p:cNvSpPr txBox="1"/>
          <p:nvPr/>
        </p:nvSpPr>
        <p:spPr>
          <a:xfrm>
            <a:off x="640080"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مَسَابِحُ</a:t>
            </a:r>
            <a:endParaRPr lang="ar-SA" sz="1500" dirty="0"/>
          </a:p>
        </p:txBody>
      </p:sp>
      <p:sp>
        <p:nvSpPr>
          <p:cNvPr id="91" name="Text 8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9 / 49</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TC-L08 · Buildings &amp; Services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KEY WORDS · GROUP 3 · GRAMMAR PART 1 · THERE IS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There is … / There isn’t …</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يُوجَدُ وَتُوجَدُ</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3 · Lesson 2 of 3</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610344" y="1810512"/>
            <a:ext cx="20482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Meaning</a:t>
            </a:r>
            <a:endParaRPr lang="en-US" sz="1100" dirty="0"/>
          </a:p>
        </p:txBody>
      </p:sp>
      <p:sp>
        <p:nvSpPr>
          <p:cNvPr id="17" name="Text 14"/>
          <p:cNvSpPr txBox="1"/>
          <p:nvPr/>
        </p:nvSpPr>
        <p:spPr>
          <a:xfrm>
            <a:off x="6592824" y="1810512"/>
            <a:ext cx="28712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Masculine thing</a:t>
            </a:r>
            <a:endParaRPr lang="en-US" sz="1100" dirty="0"/>
          </a:p>
        </p:txBody>
      </p:sp>
      <p:sp>
        <p:nvSpPr>
          <p:cNvPr id="18" name="Text 15"/>
          <p:cNvSpPr txBox="1"/>
          <p:nvPr/>
        </p:nvSpPr>
        <p:spPr>
          <a:xfrm>
            <a:off x="3575304" y="1810512"/>
            <a:ext cx="28712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Feminine thing (</a:t>
            </a:r>
            <a:pPr algn="ctr" indent="0" marL="0">
              <a:buNone/>
            </a:pPr>
            <a:r>
              <a:rPr lang="ar-SA" altLang="en-US" sz="1450" b="1" dirty="0">
                <a:solidFill>
                  <a:srgbClr val="FFFFFF"/>
                </a:solidFill>
                <a:latin typeface="Amiri" pitchFamily="34" charset="0"/>
                <a:ea typeface="Amiri" pitchFamily="34" charset="-122"/>
                <a:cs typeface="Amiri" pitchFamily="34" charset="-120"/>
              </a:rPr>
              <a:t>ـة</a:t>
            </a:r>
            <a:pPr algn="ctr" indent="0" marL="0">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19" name="Text 16"/>
          <p:cNvSpPr txBox="1"/>
          <p:nvPr/>
        </p:nvSpPr>
        <p:spPr>
          <a:xfrm>
            <a:off x="5303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Plural thing</a:t>
            </a:r>
            <a:endParaRPr lang="en-US" sz="1100" dirty="0"/>
          </a:p>
        </p:txBody>
      </p:sp>
      <p:sp>
        <p:nvSpPr>
          <p:cNvPr id="20" name="Shape 17"/>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1" name="Text 18"/>
          <p:cNvSpPr txBox="1"/>
          <p:nvPr/>
        </p:nvSpPr>
        <p:spPr>
          <a:xfrm>
            <a:off x="9646920" y="2267712"/>
            <a:ext cx="20116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there is / are</a:t>
            </a:r>
            <a:endParaRPr lang="en-US" sz="1100" dirty="0"/>
          </a:p>
        </p:txBody>
      </p:sp>
      <p:sp>
        <p:nvSpPr>
          <p:cNvPr id="22" name="Text 19"/>
          <p:cNvSpPr txBox="1"/>
          <p:nvPr/>
        </p:nvSpPr>
        <p:spPr>
          <a:xfrm>
            <a:off x="6611112" y="2286000"/>
            <a:ext cx="2834640" cy="453542"/>
          </a:xfrm>
          <a:prstGeom prst="rect">
            <a:avLst/>
          </a:prstGeom>
          <a:noFill/>
          <a:ln/>
        </p:spPr>
        <p:txBody>
          <a:bodyPr wrap="square" lIns="0" tIns="0" rIns="0" bIns="0" rtlCol="0" anchor="ctr"/>
          <a:lstStyle/>
          <a:p>
            <a:pPr rtl="1" algn="ctr" indent="0" marL="0">
              <a:buNone/>
            </a:pPr>
            <a:r>
              <a:rPr lang="ar-SA" altLang="en-US" sz="2100" b="1" dirty="0">
                <a:solidFill>
                  <a:srgbClr val="1D5FBF"/>
                </a:solidFill>
                <a:latin typeface="Amiri" pitchFamily="34" charset="0"/>
                <a:ea typeface="Amiri" pitchFamily="34" charset="-122"/>
                <a:cs typeface="Amiri" pitchFamily="34" charset="-120"/>
              </a:rPr>
              <a:t>يُ</a:t>
            </a:r>
            <a:pPr rtl="1" algn="ctr" indent="0" marL="0">
              <a:buNone/>
            </a:pPr>
            <a:r>
              <a:rPr lang="ar-SA" altLang="en-US" sz="2100" b="1" dirty="0">
                <a:solidFill>
                  <a:srgbClr val="1B3B6F"/>
                </a:solidFill>
                <a:latin typeface="Amiri" pitchFamily="34" charset="0"/>
                <a:ea typeface="Amiri" pitchFamily="34" charset="-122"/>
                <a:cs typeface="Amiri" pitchFamily="34" charset="-120"/>
              </a:rPr>
              <a:t>وجَدُ مُسْتَشْفًى</a:t>
            </a:r>
            <a:endParaRPr lang="ar-SA" sz="2100" dirty="0"/>
          </a:p>
        </p:txBody>
      </p:sp>
      <p:sp>
        <p:nvSpPr>
          <p:cNvPr id="23" name="Text 20"/>
          <p:cNvSpPr txBox="1"/>
          <p:nvPr/>
        </p:nvSpPr>
        <p:spPr>
          <a:xfrm>
            <a:off x="6565392" y="2706624"/>
            <a:ext cx="292608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yū-ja-du · there is a hospital</a:t>
            </a:r>
            <a:endParaRPr lang="en-US" sz="950" dirty="0"/>
          </a:p>
        </p:txBody>
      </p:sp>
      <p:sp>
        <p:nvSpPr>
          <p:cNvPr id="24" name="Text 21"/>
          <p:cNvSpPr txBox="1"/>
          <p:nvPr/>
        </p:nvSpPr>
        <p:spPr>
          <a:xfrm>
            <a:off x="3593592" y="2286000"/>
            <a:ext cx="2834640" cy="453542"/>
          </a:xfrm>
          <a:prstGeom prst="rect">
            <a:avLst/>
          </a:prstGeom>
          <a:noFill/>
          <a:ln/>
        </p:spPr>
        <p:txBody>
          <a:bodyPr wrap="square" lIns="0" tIns="0" rIns="0" bIns="0" rtlCol="0" anchor="ctr"/>
          <a:lstStyle/>
          <a:p>
            <a:pPr rtl="1" algn="ctr" indent="0" marL="0">
              <a:buNone/>
            </a:pPr>
            <a:r>
              <a:rPr lang="ar-SA" altLang="en-US" sz="2100" b="1" dirty="0">
                <a:solidFill>
                  <a:srgbClr val="1D5FBF"/>
                </a:solidFill>
                <a:latin typeface="Amiri" pitchFamily="34" charset="0"/>
                <a:ea typeface="Amiri" pitchFamily="34" charset="-122"/>
                <a:cs typeface="Amiri" pitchFamily="34" charset="-120"/>
              </a:rPr>
              <a:t>تُ</a:t>
            </a:r>
            <a:pPr rtl="1" algn="ctr" indent="0" marL="0">
              <a:buNone/>
            </a:pPr>
            <a:r>
              <a:rPr lang="ar-SA" altLang="en-US" sz="2100" b="1" dirty="0">
                <a:solidFill>
                  <a:srgbClr val="1B3B6F"/>
                </a:solidFill>
                <a:latin typeface="Amiri" pitchFamily="34" charset="0"/>
                <a:ea typeface="Amiri" pitchFamily="34" charset="-122"/>
                <a:cs typeface="Amiri" pitchFamily="34" charset="-120"/>
              </a:rPr>
              <a:t>وجَدُ مَكْتَبَةٌ</a:t>
            </a:r>
            <a:endParaRPr lang="ar-SA" sz="2100" dirty="0"/>
          </a:p>
        </p:txBody>
      </p:sp>
      <p:sp>
        <p:nvSpPr>
          <p:cNvPr id="25" name="Text 22"/>
          <p:cNvSpPr txBox="1"/>
          <p:nvPr/>
        </p:nvSpPr>
        <p:spPr>
          <a:xfrm>
            <a:off x="3547872" y="2706624"/>
            <a:ext cx="292608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tū-ja-du · there is a library</a:t>
            </a:r>
            <a:endParaRPr lang="en-US" sz="950" dirty="0"/>
          </a:p>
        </p:txBody>
      </p:sp>
      <p:sp>
        <p:nvSpPr>
          <p:cNvPr id="26" name="Text 23"/>
          <p:cNvSpPr txBox="1"/>
          <p:nvPr/>
        </p:nvSpPr>
        <p:spPr>
          <a:xfrm>
            <a:off x="548640" y="2286000"/>
            <a:ext cx="2862072" cy="453542"/>
          </a:xfrm>
          <a:prstGeom prst="rect">
            <a:avLst/>
          </a:prstGeom>
          <a:noFill/>
          <a:ln/>
        </p:spPr>
        <p:txBody>
          <a:bodyPr wrap="square" lIns="0" tIns="0" rIns="0" bIns="0" rtlCol="0" anchor="ctr"/>
          <a:lstStyle/>
          <a:p>
            <a:pPr rtl="1" algn="ctr" indent="0" marL="0">
              <a:buNone/>
            </a:pPr>
            <a:r>
              <a:rPr lang="ar-SA" altLang="en-US" sz="2100" b="1" dirty="0">
                <a:solidFill>
                  <a:srgbClr val="1D5FBF"/>
                </a:solidFill>
                <a:latin typeface="Amiri" pitchFamily="34" charset="0"/>
                <a:ea typeface="Amiri" pitchFamily="34" charset="-122"/>
                <a:cs typeface="Amiri" pitchFamily="34" charset="-120"/>
              </a:rPr>
              <a:t>تُ</a:t>
            </a:r>
            <a:pPr rtl="1" algn="ctr" indent="0" marL="0">
              <a:buNone/>
            </a:pPr>
            <a:r>
              <a:rPr lang="ar-SA" altLang="en-US" sz="2100" b="1" dirty="0">
                <a:solidFill>
                  <a:srgbClr val="1B3B6F"/>
                </a:solidFill>
                <a:latin typeface="Amiri" pitchFamily="34" charset="0"/>
                <a:ea typeface="Amiri" pitchFamily="34" charset="-122"/>
                <a:cs typeface="Amiri" pitchFamily="34" charset="-120"/>
              </a:rPr>
              <a:t>وجَدُ مَقَاهٍ</a:t>
            </a:r>
            <a:endParaRPr lang="ar-SA" sz="2100" dirty="0"/>
          </a:p>
        </p:txBody>
      </p:sp>
      <p:sp>
        <p:nvSpPr>
          <p:cNvPr id="27" name="Text 24"/>
          <p:cNvSpPr txBox="1"/>
          <p:nvPr/>
        </p:nvSpPr>
        <p:spPr>
          <a:xfrm>
            <a:off x="502920" y="2706624"/>
            <a:ext cx="295351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there are cafés</a:t>
            </a:r>
            <a:endParaRPr lang="en-US" sz="950" dirty="0"/>
          </a:p>
        </p:txBody>
      </p:sp>
      <p:sp>
        <p:nvSpPr>
          <p:cNvPr id="28" name="Shape 25"/>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9" name="Text 26"/>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30" name="Shape 27"/>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31" name="Text 28"/>
          <p:cNvSpPr txBox="1"/>
          <p:nvPr/>
        </p:nvSpPr>
        <p:spPr>
          <a:xfrm>
            <a:off x="9646920" y="3054096"/>
            <a:ext cx="20116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there isn’t</a:t>
            </a:r>
            <a:endParaRPr lang="en-US" sz="1100" dirty="0"/>
          </a:p>
        </p:txBody>
      </p:sp>
      <p:sp>
        <p:nvSpPr>
          <p:cNvPr id="32" name="Text 29"/>
          <p:cNvSpPr txBox="1"/>
          <p:nvPr/>
        </p:nvSpPr>
        <p:spPr>
          <a:xfrm>
            <a:off x="6611112" y="3072384"/>
            <a:ext cx="2834640" cy="453542"/>
          </a:xfrm>
          <a:prstGeom prst="rect">
            <a:avLst/>
          </a:prstGeom>
          <a:noFill/>
          <a:ln/>
        </p:spPr>
        <p:txBody>
          <a:bodyPr wrap="square" lIns="0" tIns="0" rIns="0" bIns="0" rtlCol="0" anchor="ctr"/>
          <a:lstStyle/>
          <a:p>
            <a:pPr rtl="1" algn="ctr" indent="0" marL="0">
              <a:buNone/>
            </a:pPr>
            <a:r>
              <a:rPr lang="ar-SA" altLang="en-US" sz="2100" b="1" dirty="0">
                <a:solidFill>
                  <a:srgbClr val="0E7C86"/>
                </a:solidFill>
                <a:latin typeface="Amiri" pitchFamily="34" charset="0"/>
                <a:ea typeface="Amiri" pitchFamily="34" charset="-122"/>
                <a:cs typeface="Amiri" pitchFamily="34" charset="-120"/>
              </a:rPr>
              <a:t>لَا</a:t>
            </a:r>
            <a:pPr rtl="1" algn="ctr" indent="0" marL="0">
              <a:buNone/>
            </a:pPr>
            <a:r>
              <a:rPr lang="ar-SA" altLang="en-US" sz="2100" b="1" dirty="0">
                <a:solidFill>
                  <a:srgbClr val="1B3B6F"/>
                </a:solidFill>
                <a:latin typeface="Amiri" pitchFamily="34" charset="0"/>
                <a:ea typeface="Amiri" pitchFamily="34" charset="-122"/>
                <a:cs typeface="Amiri" pitchFamily="34" charset="-120"/>
              </a:rPr>
              <a:t> </a:t>
            </a:r>
            <a:pPr rtl="1" algn="ctr" indent="0" marL="0">
              <a:buNone/>
            </a:pPr>
            <a:r>
              <a:rPr lang="ar-SA" altLang="en-US" sz="2100" b="1" dirty="0">
                <a:solidFill>
                  <a:srgbClr val="1D5FBF"/>
                </a:solidFill>
                <a:latin typeface="Amiri" pitchFamily="34" charset="0"/>
                <a:ea typeface="Amiri" pitchFamily="34" charset="-122"/>
                <a:cs typeface="Amiri" pitchFamily="34" charset="-120"/>
              </a:rPr>
              <a:t>يُ</a:t>
            </a:r>
            <a:pPr rtl="1" algn="ctr" indent="0" marL="0">
              <a:buNone/>
            </a:pPr>
            <a:r>
              <a:rPr lang="ar-SA" altLang="en-US" sz="2100" b="1" dirty="0">
                <a:solidFill>
                  <a:srgbClr val="1B3B6F"/>
                </a:solidFill>
                <a:latin typeface="Amiri" pitchFamily="34" charset="0"/>
                <a:ea typeface="Amiri" pitchFamily="34" charset="-122"/>
                <a:cs typeface="Amiri" pitchFamily="34" charset="-120"/>
              </a:rPr>
              <a:t>وجَدُ مَسْبَحٌ</a:t>
            </a:r>
            <a:endParaRPr lang="ar-SA" sz="2100" dirty="0"/>
          </a:p>
        </p:txBody>
      </p:sp>
      <p:sp>
        <p:nvSpPr>
          <p:cNvPr id="33" name="Text 30"/>
          <p:cNvSpPr txBox="1"/>
          <p:nvPr/>
        </p:nvSpPr>
        <p:spPr>
          <a:xfrm>
            <a:off x="6565392" y="3493008"/>
            <a:ext cx="292608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there is no pool</a:t>
            </a:r>
            <a:endParaRPr lang="en-US" sz="950" dirty="0"/>
          </a:p>
        </p:txBody>
      </p:sp>
      <p:sp>
        <p:nvSpPr>
          <p:cNvPr id="34" name="Text 31"/>
          <p:cNvSpPr txBox="1"/>
          <p:nvPr/>
        </p:nvSpPr>
        <p:spPr>
          <a:xfrm>
            <a:off x="3593592" y="3072384"/>
            <a:ext cx="2834640" cy="453542"/>
          </a:xfrm>
          <a:prstGeom prst="rect">
            <a:avLst/>
          </a:prstGeom>
          <a:noFill/>
          <a:ln/>
        </p:spPr>
        <p:txBody>
          <a:bodyPr wrap="square" lIns="0" tIns="0" rIns="0" bIns="0" rtlCol="0" anchor="ctr"/>
          <a:lstStyle/>
          <a:p>
            <a:pPr rtl="1" algn="ctr" indent="0" marL="0">
              <a:buNone/>
            </a:pPr>
            <a:r>
              <a:rPr lang="ar-SA" altLang="en-US" sz="2100" b="1" dirty="0">
                <a:solidFill>
                  <a:srgbClr val="0E7C86"/>
                </a:solidFill>
                <a:latin typeface="Amiri" pitchFamily="34" charset="0"/>
                <a:ea typeface="Amiri" pitchFamily="34" charset="-122"/>
                <a:cs typeface="Amiri" pitchFamily="34" charset="-120"/>
              </a:rPr>
              <a:t>لَا</a:t>
            </a:r>
            <a:pPr rtl="1" algn="ctr" indent="0" marL="0">
              <a:buNone/>
            </a:pPr>
            <a:r>
              <a:rPr lang="ar-SA" altLang="en-US" sz="2100" b="1" dirty="0">
                <a:solidFill>
                  <a:srgbClr val="1B3B6F"/>
                </a:solidFill>
                <a:latin typeface="Amiri" pitchFamily="34" charset="0"/>
                <a:ea typeface="Amiri" pitchFamily="34" charset="-122"/>
                <a:cs typeface="Amiri" pitchFamily="34" charset="-120"/>
              </a:rPr>
              <a:t> </a:t>
            </a:r>
            <a:pPr rtl="1" algn="ctr" indent="0" marL="0">
              <a:buNone/>
            </a:pPr>
            <a:r>
              <a:rPr lang="ar-SA" altLang="en-US" sz="2100" b="1" dirty="0">
                <a:solidFill>
                  <a:srgbClr val="1D5FBF"/>
                </a:solidFill>
                <a:latin typeface="Amiri" pitchFamily="34" charset="0"/>
                <a:ea typeface="Amiri" pitchFamily="34" charset="-122"/>
                <a:cs typeface="Amiri" pitchFamily="34" charset="-120"/>
              </a:rPr>
              <a:t>تُ</a:t>
            </a:r>
            <a:pPr rtl="1" algn="ctr" indent="0" marL="0">
              <a:buNone/>
            </a:pPr>
            <a:r>
              <a:rPr lang="ar-SA" altLang="en-US" sz="2100" b="1" dirty="0">
                <a:solidFill>
                  <a:srgbClr val="1B3B6F"/>
                </a:solidFill>
                <a:latin typeface="Amiri" pitchFamily="34" charset="0"/>
                <a:ea typeface="Amiri" pitchFamily="34" charset="-122"/>
                <a:cs typeface="Amiri" pitchFamily="34" charset="-120"/>
              </a:rPr>
              <a:t>وجَدُ عِيَادَةٌ</a:t>
            </a:r>
            <a:endParaRPr lang="ar-SA" sz="2100" dirty="0"/>
          </a:p>
        </p:txBody>
      </p:sp>
      <p:sp>
        <p:nvSpPr>
          <p:cNvPr id="35" name="Text 32"/>
          <p:cNvSpPr txBox="1"/>
          <p:nvPr/>
        </p:nvSpPr>
        <p:spPr>
          <a:xfrm>
            <a:off x="3547872" y="3493008"/>
            <a:ext cx="292608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there is no clinic</a:t>
            </a:r>
            <a:endParaRPr lang="en-US" sz="950" dirty="0"/>
          </a:p>
        </p:txBody>
      </p:sp>
      <p:sp>
        <p:nvSpPr>
          <p:cNvPr id="36" name="Text 33"/>
          <p:cNvSpPr txBox="1"/>
          <p:nvPr/>
        </p:nvSpPr>
        <p:spPr>
          <a:xfrm>
            <a:off x="548640" y="3072384"/>
            <a:ext cx="2862072" cy="453542"/>
          </a:xfrm>
          <a:prstGeom prst="rect">
            <a:avLst/>
          </a:prstGeom>
          <a:noFill/>
          <a:ln/>
        </p:spPr>
        <p:txBody>
          <a:bodyPr wrap="square" lIns="0" tIns="0" rIns="0" bIns="0" rtlCol="0" anchor="ctr"/>
          <a:lstStyle/>
          <a:p>
            <a:pPr rtl="1" algn="ctr" indent="0" marL="0">
              <a:buNone/>
            </a:pPr>
            <a:r>
              <a:rPr lang="ar-SA" altLang="en-US" sz="2100" b="1" dirty="0">
                <a:solidFill>
                  <a:srgbClr val="0E7C86"/>
                </a:solidFill>
                <a:latin typeface="Amiri" pitchFamily="34" charset="0"/>
                <a:ea typeface="Amiri" pitchFamily="34" charset="-122"/>
                <a:cs typeface="Amiri" pitchFamily="34" charset="-120"/>
              </a:rPr>
              <a:t>لَا</a:t>
            </a:r>
            <a:pPr rtl="1" algn="ctr" indent="0" marL="0">
              <a:buNone/>
            </a:pPr>
            <a:r>
              <a:rPr lang="ar-SA" altLang="en-US" sz="2100" b="1" dirty="0">
                <a:solidFill>
                  <a:srgbClr val="1B3B6F"/>
                </a:solidFill>
                <a:latin typeface="Amiri" pitchFamily="34" charset="0"/>
                <a:ea typeface="Amiri" pitchFamily="34" charset="-122"/>
                <a:cs typeface="Amiri" pitchFamily="34" charset="-120"/>
              </a:rPr>
              <a:t> </a:t>
            </a:r>
            <a:pPr rtl="1" algn="ctr" indent="0" marL="0">
              <a:buNone/>
            </a:pPr>
            <a:r>
              <a:rPr lang="ar-SA" altLang="en-US" sz="2100" b="1" dirty="0">
                <a:solidFill>
                  <a:srgbClr val="1D5FBF"/>
                </a:solidFill>
                <a:latin typeface="Amiri" pitchFamily="34" charset="0"/>
                <a:ea typeface="Amiri" pitchFamily="34" charset="-122"/>
                <a:cs typeface="Amiri" pitchFamily="34" charset="-120"/>
              </a:rPr>
              <a:t>تُ</a:t>
            </a:r>
            <a:pPr rtl="1" algn="ctr" indent="0" marL="0">
              <a:buNone/>
            </a:pPr>
            <a:r>
              <a:rPr lang="ar-SA" altLang="en-US" sz="2100" b="1" dirty="0">
                <a:solidFill>
                  <a:srgbClr val="1B3B6F"/>
                </a:solidFill>
                <a:latin typeface="Amiri" pitchFamily="34" charset="0"/>
                <a:ea typeface="Amiri" pitchFamily="34" charset="-122"/>
                <a:cs typeface="Amiri" pitchFamily="34" charset="-120"/>
              </a:rPr>
              <a:t>وجَدُ مَلَاعِبُ</a:t>
            </a:r>
            <a:endParaRPr lang="ar-SA" sz="2100" dirty="0"/>
          </a:p>
        </p:txBody>
      </p:sp>
      <p:sp>
        <p:nvSpPr>
          <p:cNvPr id="37" name="Text 34"/>
          <p:cNvSpPr txBox="1"/>
          <p:nvPr/>
        </p:nvSpPr>
        <p:spPr>
          <a:xfrm>
            <a:off x="502920" y="3493008"/>
            <a:ext cx="295351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there are no pitches</a:t>
            </a:r>
            <a:endParaRPr lang="en-US" sz="950" dirty="0"/>
          </a:p>
        </p:txBody>
      </p:sp>
      <p:sp>
        <p:nvSpPr>
          <p:cNvPr id="38" name="Shape 35"/>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9" name="Text 36"/>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40" name="Shape 37"/>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41" name="Text 38"/>
          <p:cNvSpPr txBox="1"/>
          <p:nvPr/>
        </p:nvSpPr>
        <p:spPr>
          <a:xfrm>
            <a:off x="9646920" y="3840480"/>
            <a:ext cx="20116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is there …?</a:t>
            </a:r>
            <a:endParaRPr lang="en-US" sz="1100" dirty="0"/>
          </a:p>
        </p:txBody>
      </p:sp>
      <p:sp>
        <p:nvSpPr>
          <p:cNvPr id="42" name="Text 39"/>
          <p:cNvSpPr txBox="1"/>
          <p:nvPr/>
        </p:nvSpPr>
        <p:spPr>
          <a:xfrm>
            <a:off x="6611112" y="3858768"/>
            <a:ext cx="2834640" cy="453542"/>
          </a:xfrm>
          <a:prstGeom prst="rect">
            <a:avLst/>
          </a:prstGeom>
          <a:noFill/>
          <a:ln/>
        </p:spPr>
        <p:txBody>
          <a:bodyPr wrap="square" lIns="0" tIns="0" rIns="0" bIns="0" rtlCol="0" anchor="ctr"/>
          <a:lstStyle/>
          <a:p>
            <a:pPr rtl="1" algn="ctr" indent="0" marL="0">
              <a:buNone/>
            </a:pPr>
            <a:r>
              <a:rPr lang="ar-SA" altLang="en-US" sz="2100" b="1" dirty="0">
                <a:solidFill>
                  <a:srgbClr val="0E7C86"/>
                </a:solidFill>
                <a:latin typeface="Amiri" pitchFamily="34" charset="0"/>
                <a:ea typeface="Amiri" pitchFamily="34" charset="-122"/>
                <a:cs typeface="Amiri" pitchFamily="34" charset="-120"/>
              </a:rPr>
              <a:t>هَلْ</a:t>
            </a:r>
            <a:pPr rtl="1" algn="ctr" indent="0" marL="0">
              <a:buNone/>
            </a:pPr>
            <a:r>
              <a:rPr lang="ar-SA" altLang="en-US" sz="2100" b="1" dirty="0">
                <a:solidFill>
                  <a:srgbClr val="1B3B6F"/>
                </a:solidFill>
                <a:latin typeface="Amiri" pitchFamily="34" charset="0"/>
                <a:ea typeface="Amiri" pitchFamily="34" charset="-122"/>
                <a:cs typeface="Amiri" pitchFamily="34" charset="-120"/>
              </a:rPr>
              <a:t> </a:t>
            </a:r>
            <a:pPr rtl="1" algn="ctr" indent="0" marL="0">
              <a:buNone/>
            </a:pPr>
            <a:r>
              <a:rPr lang="ar-SA" altLang="en-US" sz="2100" b="1" dirty="0">
                <a:solidFill>
                  <a:srgbClr val="1D5FBF"/>
                </a:solidFill>
                <a:latin typeface="Amiri" pitchFamily="34" charset="0"/>
                <a:ea typeface="Amiri" pitchFamily="34" charset="-122"/>
                <a:cs typeface="Amiri" pitchFamily="34" charset="-120"/>
              </a:rPr>
              <a:t>يُ</a:t>
            </a:r>
            <a:pPr rtl="1" algn="ctr" indent="0" marL="0">
              <a:buNone/>
            </a:pPr>
            <a:r>
              <a:rPr lang="ar-SA" altLang="en-US" sz="2100" b="1" dirty="0">
                <a:solidFill>
                  <a:srgbClr val="1B3B6F"/>
                </a:solidFill>
                <a:latin typeface="Amiri" pitchFamily="34" charset="0"/>
                <a:ea typeface="Amiri" pitchFamily="34" charset="-122"/>
                <a:cs typeface="Amiri" pitchFamily="34" charset="-120"/>
              </a:rPr>
              <a:t>وجَدُ بَنْكٌ؟</a:t>
            </a:r>
            <a:endParaRPr lang="ar-SA" sz="2100" dirty="0"/>
          </a:p>
        </p:txBody>
      </p:sp>
      <p:sp>
        <p:nvSpPr>
          <p:cNvPr id="43" name="Text 40"/>
          <p:cNvSpPr txBox="1"/>
          <p:nvPr/>
        </p:nvSpPr>
        <p:spPr>
          <a:xfrm>
            <a:off x="6565392" y="4279392"/>
            <a:ext cx="292608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is there a bank?</a:t>
            </a:r>
            <a:endParaRPr lang="en-US" sz="950" dirty="0"/>
          </a:p>
        </p:txBody>
      </p:sp>
      <p:sp>
        <p:nvSpPr>
          <p:cNvPr id="44" name="Text 41"/>
          <p:cNvSpPr txBox="1"/>
          <p:nvPr/>
        </p:nvSpPr>
        <p:spPr>
          <a:xfrm>
            <a:off x="3593592" y="3858768"/>
            <a:ext cx="2834640" cy="453542"/>
          </a:xfrm>
          <a:prstGeom prst="rect">
            <a:avLst/>
          </a:prstGeom>
          <a:noFill/>
          <a:ln/>
        </p:spPr>
        <p:txBody>
          <a:bodyPr wrap="square" lIns="0" tIns="0" rIns="0" bIns="0" rtlCol="0" anchor="ctr"/>
          <a:lstStyle/>
          <a:p>
            <a:pPr rtl="1" algn="ctr" indent="0" marL="0">
              <a:buNone/>
            </a:pPr>
            <a:r>
              <a:rPr lang="ar-SA" altLang="en-US" sz="2100" b="1" dirty="0">
                <a:solidFill>
                  <a:srgbClr val="0E7C86"/>
                </a:solidFill>
                <a:latin typeface="Amiri" pitchFamily="34" charset="0"/>
                <a:ea typeface="Amiri" pitchFamily="34" charset="-122"/>
                <a:cs typeface="Amiri" pitchFamily="34" charset="-120"/>
              </a:rPr>
              <a:t>هَلْ</a:t>
            </a:r>
            <a:pPr rtl="1" algn="ctr" indent="0" marL="0">
              <a:buNone/>
            </a:pPr>
            <a:r>
              <a:rPr lang="ar-SA" altLang="en-US" sz="2100" b="1" dirty="0">
                <a:solidFill>
                  <a:srgbClr val="1B3B6F"/>
                </a:solidFill>
                <a:latin typeface="Amiri" pitchFamily="34" charset="0"/>
                <a:ea typeface="Amiri" pitchFamily="34" charset="-122"/>
                <a:cs typeface="Amiri" pitchFamily="34" charset="-120"/>
              </a:rPr>
              <a:t> </a:t>
            </a:r>
            <a:pPr rtl="1" algn="ctr" indent="0" marL="0">
              <a:buNone/>
            </a:pPr>
            <a:r>
              <a:rPr lang="ar-SA" altLang="en-US" sz="2100" b="1" dirty="0">
                <a:solidFill>
                  <a:srgbClr val="1D5FBF"/>
                </a:solidFill>
                <a:latin typeface="Amiri" pitchFamily="34" charset="0"/>
                <a:ea typeface="Amiri" pitchFamily="34" charset="-122"/>
                <a:cs typeface="Amiri" pitchFamily="34" charset="-120"/>
              </a:rPr>
              <a:t>تُ</a:t>
            </a:r>
            <a:pPr rtl="1" algn="ctr" indent="0" marL="0">
              <a:buNone/>
            </a:pPr>
            <a:r>
              <a:rPr lang="ar-SA" altLang="en-US" sz="2100" b="1" dirty="0">
                <a:solidFill>
                  <a:srgbClr val="1B3B6F"/>
                </a:solidFill>
                <a:latin typeface="Amiri" pitchFamily="34" charset="0"/>
                <a:ea typeface="Amiri" pitchFamily="34" charset="-122"/>
                <a:cs typeface="Amiri" pitchFamily="34" charset="-120"/>
              </a:rPr>
              <a:t>وجَدُ مَحَطَّةٌ؟</a:t>
            </a:r>
            <a:endParaRPr lang="ar-SA" sz="2100" dirty="0"/>
          </a:p>
        </p:txBody>
      </p:sp>
      <p:sp>
        <p:nvSpPr>
          <p:cNvPr id="45" name="Text 42"/>
          <p:cNvSpPr txBox="1"/>
          <p:nvPr/>
        </p:nvSpPr>
        <p:spPr>
          <a:xfrm>
            <a:off x="3547872" y="4279392"/>
            <a:ext cx="292608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is there a station?</a:t>
            </a:r>
            <a:endParaRPr lang="en-US" sz="950" dirty="0"/>
          </a:p>
        </p:txBody>
      </p:sp>
      <p:sp>
        <p:nvSpPr>
          <p:cNvPr id="46" name="Text 43"/>
          <p:cNvSpPr txBox="1"/>
          <p:nvPr/>
        </p:nvSpPr>
        <p:spPr>
          <a:xfrm>
            <a:off x="548640" y="3858768"/>
            <a:ext cx="2862072" cy="453542"/>
          </a:xfrm>
          <a:prstGeom prst="rect">
            <a:avLst/>
          </a:prstGeom>
          <a:noFill/>
          <a:ln/>
        </p:spPr>
        <p:txBody>
          <a:bodyPr wrap="square" lIns="0" tIns="0" rIns="0" bIns="0" rtlCol="0" anchor="ctr"/>
          <a:lstStyle/>
          <a:p>
            <a:pPr rtl="1" algn="ctr" indent="0" marL="0">
              <a:buNone/>
            </a:pPr>
            <a:r>
              <a:rPr lang="ar-SA" altLang="en-US" sz="2100" b="1" dirty="0">
                <a:solidFill>
                  <a:srgbClr val="0E7C86"/>
                </a:solidFill>
                <a:latin typeface="Amiri" pitchFamily="34" charset="0"/>
                <a:ea typeface="Amiri" pitchFamily="34" charset="-122"/>
                <a:cs typeface="Amiri" pitchFamily="34" charset="-120"/>
              </a:rPr>
              <a:t>هَلْ</a:t>
            </a:r>
            <a:pPr rtl="1" algn="ctr" indent="0" marL="0">
              <a:buNone/>
            </a:pPr>
            <a:r>
              <a:rPr lang="ar-SA" altLang="en-US" sz="2100" b="1" dirty="0">
                <a:solidFill>
                  <a:srgbClr val="1B3B6F"/>
                </a:solidFill>
                <a:latin typeface="Amiri" pitchFamily="34" charset="0"/>
                <a:ea typeface="Amiri" pitchFamily="34" charset="-122"/>
                <a:cs typeface="Amiri" pitchFamily="34" charset="-120"/>
              </a:rPr>
              <a:t> </a:t>
            </a:r>
            <a:pPr rtl="1" algn="ctr" indent="0" marL="0">
              <a:buNone/>
            </a:pPr>
            <a:r>
              <a:rPr lang="ar-SA" altLang="en-US" sz="2100" b="1" dirty="0">
                <a:solidFill>
                  <a:srgbClr val="1D5FBF"/>
                </a:solidFill>
                <a:latin typeface="Amiri" pitchFamily="34" charset="0"/>
                <a:ea typeface="Amiri" pitchFamily="34" charset="-122"/>
                <a:cs typeface="Amiri" pitchFamily="34" charset="-120"/>
              </a:rPr>
              <a:t>تُ</a:t>
            </a:r>
            <a:pPr rtl="1" algn="ctr" indent="0" marL="0">
              <a:buNone/>
            </a:pPr>
            <a:r>
              <a:rPr lang="ar-SA" altLang="en-US" sz="2100" b="1" dirty="0">
                <a:solidFill>
                  <a:srgbClr val="1B3B6F"/>
                </a:solidFill>
                <a:latin typeface="Amiri" pitchFamily="34" charset="0"/>
                <a:ea typeface="Amiri" pitchFamily="34" charset="-122"/>
                <a:cs typeface="Amiri" pitchFamily="34" charset="-120"/>
              </a:rPr>
              <a:t>وجَدُ مَتَاحِفُ؟</a:t>
            </a:r>
            <a:endParaRPr lang="ar-SA" sz="2100" dirty="0"/>
          </a:p>
        </p:txBody>
      </p:sp>
      <p:sp>
        <p:nvSpPr>
          <p:cNvPr id="47" name="Text 44"/>
          <p:cNvSpPr txBox="1"/>
          <p:nvPr/>
        </p:nvSpPr>
        <p:spPr>
          <a:xfrm>
            <a:off x="502920" y="4279392"/>
            <a:ext cx="295351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are there museums?</a:t>
            </a:r>
            <a:endParaRPr lang="en-US" sz="950" dirty="0"/>
          </a:p>
        </p:txBody>
      </p:sp>
      <p:sp>
        <p:nvSpPr>
          <p:cNvPr id="48" name="Shape 45"/>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49" name="Text 46"/>
          <p:cNvSpPr txBox="1"/>
          <p:nvPr/>
        </p:nvSpPr>
        <p:spPr>
          <a:xfrm>
            <a:off x="9646920" y="4626864"/>
            <a:ext cx="20116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in my town</a:t>
            </a:r>
            <a:endParaRPr lang="en-US" sz="1100" dirty="0"/>
          </a:p>
        </p:txBody>
      </p:sp>
      <p:sp>
        <p:nvSpPr>
          <p:cNvPr id="50" name="Text 47"/>
          <p:cNvSpPr txBox="1"/>
          <p:nvPr/>
        </p:nvSpPr>
        <p:spPr>
          <a:xfrm>
            <a:off x="6611112" y="4645152"/>
            <a:ext cx="283464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34" charset="0"/>
                <a:ea typeface="Amiri" pitchFamily="34" charset="-122"/>
                <a:cs typeface="Amiri" pitchFamily="34" charset="-120"/>
              </a:rPr>
              <a:t>فِي مَدِينَتِي </a:t>
            </a:r>
            <a:pPr rtl="1" algn="ctr" indent="0" marL="0">
              <a:buNone/>
            </a:pPr>
            <a:r>
              <a:rPr lang="ar-SA" altLang="en-US" sz="2100" b="1" dirty="0">
                <a:solidFill>
                  <a:srgbClr val="1D5FBF"/>
                </a:solidFill>
                <a:latin typeface="Amiri" pitchFamily="34" charset="0"/>
                <a:ea typeface="Amiri" pitchFamily="34" charset="-122"/>
                <a:cs typeface="Amiri" pitchFamily="34" charset="-120"/>
              </a:rPr>
              <a:t>يُ</a:t>
            </a:r>
            <a:pPr rtl="1" algn="ctr" indent="0" marL="0">
              <a:buNone/>
            </a:pPr>
            <a:r>
              <a:rPr lang="ar-SA" altLang="en-US" sz="2100" b="1" dirty="0">
                <a:solidFill>
                  <a:srgbClr val="1B3B6F"/>
                </a:solidFill>
                <a:latin typeface="Amiri" pitchFamily="34" charset="0"/>
                <a:ea typeface="Amiri" pitchFamily="34" charset="-122"/>
                <a:cs typeface="Amiri" pitchFamily="34" charset="-120"/>
              </a:rPr>
              <a:t>وجَدُ …</a:t>
            </a:r>
            <a:endParaRPr lang="ar-SA" sz="2100" dirty="0"/>
          </a:p>
        </p:txBody>
      </p:sp>
      <p:sp>
        <p:nvSpPr>
          <p:cNvPr id="51" name="Text 48"/>
          <p:cNvSpPr txBox="1"/>
          <p:nvPr/>
        </p:nvSpPr>
        <p:spPr>
          <a:xfrm>
            <a:off x="6565392" y="5065776"/>
            <a:ext cx="292608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in my town there is …</a:t>
            </a:r>
            <a:endParaRPr lang="en-US" sz="950" dirty="0"/>
          </a:p>
        </p:txBody>
      </p:sp>
      <p:sp>
        <p:nvSpPr>
          <p:cNvPr id="52" name="Text 49"/>
          <p:cNvSpPr txBox="1"/>
          <p:nvPr/>
        </p:nvSpPr>
        <p:spPr>
          <a:xfrm>
            <a:off x="3593592" y="4645152"/>
            <a:ext cx="283464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34" charset="0"/>
                <a:ea typeface="Amiri" pitchFamily="34" charset="-122"/>
                <a:cs typeface="Amiri" pitchFamily="34" charset="-120"/>
              </a:rPr>
              <a:t>فِي حَيِّنَا </a:t>
            </a:r>
            <a:pPr rtl="1" algn="ctr" indent="0" marL="0">
              <a:buNone/>
            </a:pPr>
            <a:r>
              <a:rPr lang="ar-SA" altLang="en-US" sz="2100" b="1" dirty="0">
                <a:solidFill>
                  <a:srgbClr val="1D5FBF"/>
                </a:solidFill>
                <a:latin typeface="Amiri" pitchFamily="34" charset="0"/>
                <a:ea typeface="Amiri" pitchFamily="34" charset="-122"/>
                <a:cs typeface="Amiri" pitchFamily="34" charset="-120"/>
              </a:rPr>
              <a:t>تُ</a:t>
            </a:r>
            <a:pPr rtl="1" algn="ctr" indent="0" marL="0">
              <a:buNone/>
            </a:pPr>
            <a:r>
              <a:rPr lang="ar-SA" altLang="en-US" sz="2100" b="1" dirty="0">
                <a:solidFill>
                  <a:srgbClr val="1B3B6F"/>
                </a:solidFill>
                <a:latin typeface="Amiri" pitchFamily="34" charset="0"/>
                <a:ea typeface="Amiri" pitchFamily="34" charset="-122"/>
                <a:cs typeface="Amiri" pitchFamily="34" charset="-120"/>
              </a:rPr>
              <a:t>وجَدُ …</a:t>
            </a:r>
            <a:endParaRPr lang="ar-SA" sz="2100" dirty="0"/>
          </a:p>
        </p:txBody>
      </p:sp>
      <p:sp>
        <p:nvSpPr>
          <p:cNvPr id="53" name="Text 50"/>
          <p:cNvSpPr txBox="1"/>
          <p:nvPr/>
        </p:nvSpPr>
        <p:spPr>
          <a:xfrm>
            <a:off x="3547872" y="5065776"/>
            <a:ext cx="292608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in our area there is …</a:t>
            </a:r>
            <a:endParaRPr lang="en-US" sz="950" dirty="0"/>
          </a:p>
        </p:txBody>
      </p:sp>
      <p:sp>
        <p:nvSpPr>
          <p:cNvPr id="54" name="Text 51"/>
          <p:cNvSpPr txBox="1"/>
          <p:nvPr/>
        </p:nvSpPr>
        <p:spPr>
          <a:xfrm>
            <a:off x="548640" y="4645152"/>
            <a:ext cx="2862072"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34" charset="0"/>
                <a:ea typeface="Amiri" pitchFamily="34" charset="-122"/>
                <a:cs typeface="Amiri" pitchFamily="34" charset="-120"/>
              </a:rPr>
              <a:t>عِنْدَنَا …</a:t>
            </a:r>
            <a:endParaRPr lang="ar-SA" sz="2100" dirty="0"/>
          </a:p>
        </p:txBody>
      </p:sp>
      <p:sp>
        <p:nvSpPr>
          <p:cNvPr id="55" name="Text 52"/>
          <p:cNvSpPr txBox="1"/>
          <p:nvPr/>
        </p:nvSpPr>
        <p:spPr>
          <a:xfrm>
            <a:off x="502920" y="5065776"/>
            <a:ext cx="295351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we have …</a:t>
            </a:r>
            <a:endParaRPr lang="en-US" sz="950" dirty="0"/>
          </a:p>
        </p:txBody>
      </p:sp>
      <p:sp>
        <p:nvSpPr>
          <p:cNvPr id="56" name="Text 5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10 / 49</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TC-L08 · Buildings &amp; Services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KEY WORDS · GROUP 4 · GRAMMAR PART 2 · LOCATIVES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Where is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أَيْنَ يَقَعُ؟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3 · Lesson 2 of 3</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1</a:t>
            </a:r>
            <a:endParaRPr lang="en-US" sz="1000" dirty="0"/>
          </a:p>
        </p:txBody>
      </p:sp>
      <p:sp>
        <p:nvSpPr>
          <p:cNvPr id="18" name="Shape 15"/>
          <p:cNvSpPr/>
          <p:nvPr/>
        </p:nvSpPr>
        <p:spPr>
          <a:xfrm>
            <a:off x="8604504" y="1938528"/>
            <a:ext cx="896112"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place word</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22" name="Text 19"/>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0E7C86"/>
                </a:solidFill>
                <a:latin typeface="Amiri" pitchFamily="34" charset="0"/>
                <a:ea typeface="Amiri" pitchFamily="34" charset="-122"/>
                <a:cs typeface="Amiri" pitchFamily="34" charset="-120"/>
              </a:rPr>
              <a:t>مُقَابِلَ</a:t>
            </a:r>
            <a:endParaRPr lang="ar-SA" sz="3000" dirty="0"/>
          </a:p>
        </p:txBody>
      </p:sp>
      <p:sp>
        <p:nvSpPr>
          <p:cNvPr id="23" name="Text 20"/>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opposite</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mu-qā-bi-la</a:t>
            </a:r>
            <a:endParaRPr lang="en-US" sz="1350" dirty="0"/>
          </a:p>
        </p:txBody>
      </p:sp>
      <p:sp>
        <p:nvSpPr>
          <p:cNvPr id="24" name="Text 21"/>
          <p:cNvSpPr txBox="1"/>
          <p:nvPr/>
        </p:nvSpPr>
        <p:spPr>
          <a:xfrm>
            <a:off x="8238744"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ea typeface="Calibri" pitchFamily="34" charset="-122"/>
                <a:cs typeface="Calibri" pitchFamily="34" charset="-120"/>
              </a:rPr>
              <a:t>Website: </a:t>
            </a:r>
            <a:pPr algn="l" indent="0" marL="0">
              <a:buNone/>
            </a:pPr>
            <a:r>
              <a:rPr lang="ar-SA" altLang="en-US" sz="1300" dirty="0">
                <a:solidFill>
                  <a:srgbClr val="8A6D1E"/>
                </a:solidFill>
                <a:latin typeface="Amiri" pitchFamily="34" charset="0"/>
                <a:ea typeface="Amiri" pitchFamily="34" charset="-122"/>
                <a:cs typeface="Amiri" pitchFamily="34" charset="-120"/>
              </a:rPr>
              <a:t>المُسْتَشْفَى مُقَابِلُ البَنْكِ</a:t>
            </a:r>
            <a:pPr algn="l" indent="0" marL="0">
              <a:buNone/>
            </a:pPr>
            <a:r>
              <a:rPr lang="en-US" sz="1000" i="1" dirty="0">
                <a:solidFill>
                  <a:srgbClr val="8A6D1E"/>
                </a:solidFill>
                <a:latin typeface="Calibri" pitchFamily="34" charset="0"/>
                <a:ea typeface="Calibri" pitchFamily="34" charset="-122"/>
                <a:cs typeface="Calibri" pitchFamily="34" charset="-120"/>
              </a:rPr>
              <a:t>.</a:t>
            </a:r>
            <a:endParaRPr lang="en-US" sz="1000" dirty="0"/>
          </a:p>
        </p:txBody>
      </p:sp>
      <p:sp>
        <p:nvSpPr>
          <p:cNvPr id="25" name="Shape 22"/>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4389120" y="1920240"/>
            <a:ext cx="310896" cy="310896"/>
          </a:xfrm>
          <a:prstGeom prst="ellipse">
            <a:avLst/>
          </a:prstGeom>
          <a:solidFill>
            <a:srgbClr val="F4F1EA"/>
          </a:solidFill>
          <a:ln w="12700">
            <a:solidFill>
              <a:srgbClr val="F4F1EA"/>
            </a:solidFill>
            <a:prstDash val="solid"/>
          </a:ln>
        </p:spPr>
      </p:sp>
      <p:sp>
        <p:nvSpPr>
          <p:cNvPr id="27" name="Text 24"/>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2</a:t>
            </a:r>
            <a:endParaRPr lang="en-US" sz="1000" dirty="0"/>
          </a:p>
        </p:txBody>
      </p:sp>
      <p:sp>
        <p:nvSpPr>
          <p:cNvPr id="28" name="Shape 25"/>
          <p:cNvSpPr/>
          <p:nvPr/>
        </p:nvSpPr>
        <p:spPr>
          <a:xfrm>
            <a:off x="4782312" y="1938528"/>
            <a:ext cx="896112" cy="256032"/>
          </a:xfrm>
          <a:prstGeom prst="roundRect">
            <a:avLst>
              <a:gd name="adj" fmla="val 50000"/>
            </a:avLst>
          </a:prstGeom>
          <a:solidFill>
            <a:srgbClr val="EFE7D2"/>
          </a:solidFill>
          <a:ln w="12700">
            <a:solidFill>
              <a:srgbClr val="EFE7D2"/>
            </a:solidFill>
            <a:prstDash val="solid"/>
          </a:ln>
        </p:spPr>
      </p:sp>
      <p:sp>
        <p:nvSpPr>
          <p:cNvPr id="29" name="Text 26"/>
          <p:cNvSpPr txBox="1"/>
          <p:nvPr/>
        </p:nvSpPr>
        <p:spPr>
          <a:xfrm>
            <a:off x="4782312"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place word</a:t>
            </a:r>
            <a:endParaRPr lang="en-US" sz="800" dirty="0"/>
          </a:p>
        </p:txBody>
      </p:sp>
      <p:sp>
        <p:nvSpPr>
          <p:cNvPr id="30" name="Shape 27"/>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1" name="Text 28"/>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32" name="Text 29"/>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0E7C86"/>
                </a:solidFill>
                <a:latin typeface="Amiri" pitchFamily="34" charset="0"/>
                <a:ea typeface="Amiri" pitchFamily="34" charset="-122"/>
                <a:cs typeface="Amiri" pitchFamily="34" charset="-120"/>
              </a:rPr>
              <a:t>بِجَانِبِ</a:t>
            </a:r>
            <a:endParaRPr lang="ar-SA" sz="3000" dirty="0"/>
          </a:p>
        </p:txBody>
      </p:sp>
      <p:sp>
        <p:nvSpPr>
          <p:cNvPr id="33" name="Text 30"/>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next to, beside</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bi-jā-ni-bi</a:t>
            </a:r>
            <a:endParaRPr lang="en-US" sz="1350" dirty="0"/>
          </a:p>
        </p:txBody>
      </p:sp>
      <p:sp>
        <p:nvSpPr>
          <p:cNvPr id="34" name="Text 31"/>
          <p:cNvSpPr txBox="1"/>
          <p:nvPr/>
        </p:nvSpPr>
        <p:spPr>
          <a:xfrm>
            <a:off x="4416552"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ea typeface="Calibri" pitchFamily="34" charset="-122"/>
                <a:cs typeface="Calibri" pitchFamily="34" charset="-120"/>
              </a:rPr>
              <a:t>Website: </a:t>
            </a:r>
            <a:pPr algn="l" indent="0" marL="0">
              <a:buNone/>
            </a:pPr>
            <a:r>
              <a:rPr lang="ar-SA" altLang="en-US" sz="1300" dirty="0">
                <a:solidFill>
                  <a:srgbClr val="8A6D1E"/>
                </a:solidFill>
                <a:latin typeface="Amiri" pitchFamily="34" charset="0"/>
                <a:ea typeface="Amiri" pitchFamily="34" charset="-122"/>
                <a:cs typeface="Amiri" pitchFamily="34" charset="-120"/>
              </a:rPr>
              <a:t>المَقْهَى بِجَانِبِ المَكْتَبَةِ</a:t>
            </a:r>
            <a:pPr algn="l" indent="0" marL="0">
              <a:buNone/>
            </a:pPr>
            <a:r>
              <a:rPr lang="en-US" sz="1000" i="1" dirty="0">
                <a:solidFill>
                  <a:srgbClr val="8A6D1E"/>
                </a:solidFill>
                <a:latin typeface="Calibri" pitchFamily="34" charset="0"/>
                <a:ea typeface="Calibri" pitchFamily="34" charset="-122"/>
                <a:cs typeface="Calibri" pitchFamily="34" charset="-120"/>
              </a:rPr>
              <a:t>.</a:t>
            </a:r>
            <a:endParaRPr lang="en-US" sz="1000" dirty="0"/>
          </a:p>
        </p:txBody>
      </p:sp>
      <p:sp>
        <p:nvSpPr>
          <p:cNvPr id="35" name="Shape 32"/>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566928" y="1920240"/>
            <a:ext cx="310896" cy="310896"/>
          </a:xfrm>
          <a:prstGeom prst="ellipse">
            <a:avLst/>
          </a:prstGeom>
          <a:solidFill>
            <a:srgbClr val="F4F1EA"/>
          </a:solidFill>
          <a:ln w="12700">
            <a:solidFill>
              <a:srgbClr val="F4F1EA"/>
            </a:solidFill>
            <a:prstDash val="solid"/>
          </a:ln>
        </p:spPr>
      </p:sp>
      <p:sp>
        <p:nvSpPr>
          <p:cNvPr id="37" name="Text 34"/>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3</a:t>
            </a:r>
            <a:endParaRPr lang="en-US" sz="1000" dirty="0"/>
          </a:p>
        </p:txBody>
      </p:sp>
      <p:sp>
        <p:nvSpPr>
          <p:cNvPr id="38" name="Shape 35"/>
          <p:cNvSpPr/>
          <p:nvPr/>
        </p:nvSpPr>
        <p:spPr>
          <a:xfrm>
            <a:off x="960120" y="1938528"/>
            <a:ext cx="896112" cy="256032"/>
          </a:xfrm>
          <a:prstGeom prst="roundRect">
            <a:avLst>
              <a:gd name="adj" fmla="val 50000"/>
            </a:avLst>
          </a:prstGeom>
          <a:solidFill>
            <a:srgbClr val="EFE7D2"/>
          </a:solidFill>
          <a:ln w="12700">
            <a:solidFill>
              <a:srgbClr val="EFE7D2"/>
            </a:solidFill>
            <a:prstDash val="solid"/>
          </a:ln>
        </p:spPr>
      </p:sp>
      <p:sp>
        <p:nvSpPr>
          <p:cNvPr id="39" name="Text 36"/>
          <p:cNvSpPr txBox="1"/>
          <p:nvPr/>
        </p:nvSpPr>
        <p:spPr>
          <a:xfrm>
            <a:off x="960120"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place word</a:t>
            </a:r>
            <a:endParaRPr lang="en-US" sz="800" dirty="0"/>
          </a:p>
        </p:txBody>
      </p:sp>
      <p:sp>
        <p:nvSpPr>
          <p:cNvPr id="40" name="Shape 37"/>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41" name="Text 38"/>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42" name="Text 39"/>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0E7C86"/>
                </a:solidFill>
                <a:latin typeface="Amiri" pitchFamily="34" charset="0"/>
                <a:ea typeface="Amiri" pitchFamily="34" charset="-122"/>
                <a:cs typeface="Amiri" pitchFamily="34" charset="-120"/>
              </a:rPr>
              <a:t>قُرْبَ</a:t>
            </a:r>
            <a:endParaRPr lang="ar-SA" sz="3000" dirty="0"/>
          </a:p>
        </p:txBody>
      </p:sp>
      <p:sp>
        <p:nvSpPr>
          <p:cNvPr id="43" name="Text 40"/>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near</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qur-ba</a:t>
            </a:r>
            <a:endParaRPr lang="en-US" sz="1350" dirty="0"/>
          </a:p>
        </p:txBody>
      </p:sp>
      <p:sp>
        <p:nvSpPr>
          <p:cNvPr id="44" name="Shape 41"/>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5" name="Shape 42"/>
          <p:cNvSpPr/>
          <p:nvPr/>
        </p:nvSpPr>
        <p:spPr>
          <a:xfrm>
            <a:off x="8211312" y="4261104"/>
            <a:ext cx="310896" cy="310896"/>
          </a:xfrm>
          <a:prstGeom prst="ellipse">
            <a:avLst/>
          </a:prstGeom>
          <a:solidFill>
            <a:srgbClr val="F4F1EA"/>
          </a:solidFill>
          <a:ln w="12700">
            <a:solidFill>
              <a:srgbClr val="F4F1EA"/>
            </a:solidFill>
            <a:prstDash val="solid"/>
          </a:ln>
        </p:spPr>
      </p:sp>
      <p:sp>
        <p:nvSpPr>
          <p:cNvPr id="46" name="Text 43"/>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4</a:t>
            </a:r>
            <a:endParaRPr lang="en-US" sz="1000" dirty="0"/>
          </a:p>
        </p:txBody>
      </p:sp>
      <p:sp>
        <p:nvSpPr>
          <p:cNvPr id="47" name="Shape 44"/>
          <p:cNvSpPr/>
          <p:nvPr/>
        </p:nvSpPr>
        <p:spPr>
          <a:xfrm>
            <a:off x="8604504" y="4279392"/>
            <a:ext cx="896112" cy="256032"/>
          </a:xfrm>
          <a:prstGeom prst="roundRect">
            <a:avLst>
              <a:gd name="adj" fmla="val 50000"/>
            </a:avLst>
          </a:prstGeom>
          <a:solidFill>
            <a:srgbClr val="EFE7D2"/>
          </a:solidFill>
          <a:ln w="12700">
            <a:solidFill>
              <a:srgbClr val="EFE7D2"/>
            </a:solidFill>
            <a:prstDash val="solid"/>
          </a:ln>
        </p:spPr>
      </p:sp>
      <p:sp>
        <p:nvSpPr>
          <p:cNvPr id="48" name="Text 45"/>
          <p:cNvSpPr txBox="1"/>
          <p:nvPr/>
        </p:nvSpPr>
        <p:spPr>
          <a:xfrm>
            <a:off x="8604504"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place word</a:t>
            </a:r>
            <a:endParaRPr lang="en-US" sz="800" dirty="0"/>
          </a:p>
        </p:txBody>
      </p:sp>
      <p:sp>
        <p:nvSpPr>
          <p:cNvPr id="49" name="Shape 46"/>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50" name="Text 47"/>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51" name="Text 48"/>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0E7C86"/>
                </a:solidFill>
                <a:latin typeface="Amiri" pitchFamily="34" charset="0"/>
                <a:ea typeface="Amiri" pitchFamily="34" charset="-122"/>
                <a:cs typeface="Amiri" pitchFamily="34" charset="-120"/>
              </a:rPr>
              <a:t>بَيْنَ</a:t>
            </a:r>
            <a:pPr rtl="1" algn="r" indent="0" marL="0">
              <a:buNone/>
            </a:pPr>
            <a:r>
              <a:rPr lang="ar-SA" altLang="en-US" sz="3000" b="1" dirty="0">
                <a:solidFill>
                  <a:srgbClr val="1B3B6F"/>
                </a:solidFill>
                <a:latin typeface="Amiri" pitchFamily="34" charset="0"/>
                <a:ea typeface="Amiri" pitchFamily="34" charset="-122"/>
                <a:cs typeface="Amiri" pitchFamily="34" charset="-120"/>
              </a:rPr>
              <a:t> … </a:t>
            </a:r>
            <a:pPr rtl="1" algn="r" indent="0" marL="0">
              <a:buNone/>
            </a:pPr>
            <a:r>
              <a:rPr lang="ar-SA" altLang="en-US" sz="3000" b="1" dirty="0">
                <a:solidFill>
                  <a:srgbClr val="0E7C86"/>
                </a:solidFill>
                <a:latin typeface="Amiri" pitchFamily="34" charset="0"/>
                <a:ea typeface="Amiri" pitchFamily="34" charset="-122"/>
                <a:cs typeface="Amiri" pitchFamily="34" charset="-120"/>
              </a:rPr>
              <a:t>وَ</a:t>
            </a:r>
            <a:endParaRPr lang="ar-SA" sz="3000" dirty="0"/>
          </a:p>
        </p:txBody>
      </p:sp>
      <p:sp>
        <p:nvSpPr>
          <p:cNvPr id="52" name="Text 49"/>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between … and</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bay-na … wa</a:t>
            </a:r>
            <a:endParaRPr lang="en-US" sz="1350" dirty="0"/>
          </a:p>
        </p:txBody>
      </p:sp>
      <p:sp>
        <p:nvSpPr>
          <p:cNvPr id="53" name="Shape 50"/>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4" name="Shape 51"/>
          <p:cNvSpPr/>
          <p:nvPr/>
        </p:nvSpPr>
        <p:spPr>
          <a:xfrm>
            <a:off x="4389120" y="4261104"/>
            <a:ext cx="310896" cy="310896"/>
          </a:xfrm>
          <a:prstGeom prst="ellipse">
            <a:avLst/>
          </a:prstGeom>
          <a:solidFill>
            <a:srgbClr val="F4F1EA"/>
          </a:solidFill>
          <a:ln w="12700">
            <a:solidFill>
              <a:srgbClr val="F4F1EA"/>
            </a:solidFill>
            <a:prstDash val="solid"/>
          </a:ln>
        </p:spPr>
      </p:sp>
      <p:sp>
        <p:nvSpPr>
          <p:cNvPr id="55" name="Text 52"/>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5</a:t>
            </a:r>
            <a:endParaRPr lang="en-US" sz="1000" dirty="0"/>
          </a:p>
        </p:txBody>
      </p:sp>
      <p:sp>
        <p:nvSpPr>
          <p:cNvPr id="56" name="Shape 53"/>
          <p:cNvSpPr/>
          <p:nvPr/>
        </p:nvSpPr>
        <p:spPr>
          <a:xfrm>
            <a:off x="4782312" y="4279392"/>
            <a:ext cx="896112" cy="256032"/>
          </a:xfrm>
          <a:prstGeom prst="roundRect">
            <a:avLst>
              <a:gd name="adj" fmla="val 50000"/>
            </a:avLst>
          </a:prstGeom>
          <a:solidFill>
            <a:srgbClr val="EFE7D2"/>
          </a:solidFill>
          <a:ln w="12700">
            <a:solidFill>
              <a:srgbClr val="EFE7D2"/>
            </a:solidFill>
            <a:prstDash val="solid"/>
          </a:ln>
        </p:spPr>
      </p:sp>
      <p:sp>
        <p:nvSpPr>
          <p:cNvPr id="57" name="Text 54"/>
          <p:cNvSpPr txBox="1"/>
          <p:nvPr/>
        </p:nvSpPr>
        <p:spPr>
          <a:xfrm>
            <a:off x="4782312"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place word</a:t>
            </a:r>
            <a:endParaRPr lang="en-US" sz="800" dirty="0"/>
          </a:p>
        </p:txBody>
      </p:sp>
      <p:sp>
        <p:nvSpPr>
          <p:cNvPr id="58" name="Text 55"/>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0E7C86"/>
                </a:solidFill>
                <a:latin typeface="Amiri" pitchFamily="34" charset="0"/>
                <a:ea typeface="Amiri" pitchFamily="34" charset="-122"/>
                <a:cs typeface="Amiri" pitchFamily="34" charset="-120"/>
              </a:rPr>
              <a:t>أَمَامَ</a:t>
            </a:r>
            <a:endParaRPr lang="ar-SA" sz="3000" dirty="0"/>
          </a:p>
        </p:txBody>
      </p:sp>
      <p:sp>
        <p:nvSpPr>
          <p:cNvPr id="59" name="Text 56"/>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in front of</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a-mā-ma</a:t>
            </a:r>
            <a:endParaRPr lang="en-US" sz="1350" dirty="0"/>
          </a:p>
        </p:txBody>
      </p:sp>
      <p:sp>
        <p:nvSpPr>
          <p:cNvPr id="60" name="Shape 57"/>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66928" y="4261104"/>
            <a:ext cx="310896" cy="310896"/>
          </a:xfrm>
          <a:prstGeom prst="ellipse">
            <a:avLst/>
          </a:prstGeom>
          <a:solidFill>
            <a:srgbClr val="F4F1EA"/>
          </a:solidFill>
          <a:ln w="12700">
            <a:solidFill>
              <a:srgbClr val="F4F1EA"/>
            </a:solidFill>
            <a:prstDash val="solid"/>
          </a:ln>
        </p:spPr>
      </p:sp>
      <p:sp>
        <p:nvSpPr>
          <p:cNvPr id="62" name="Text 59"/>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6</a:t>
            </a:r>
            <a:endParaRPr lang="en-US" sz="1000" dirty="0"/>
          </a:p>
        </p:txBody>
      </p:sp>
      <p:sp>
        <p:nvSpPr>
          <p:cNvPr id="63" name="Shape 60"/>
          <p:cNvSpPr/>
          <p:nvPr/>
        </p:nvSpPr>
        <p:spPr>
          <a:xfrm>
            <a:off x="960120" y="4279392"/>
            <a:ext cx="896112" cy="256032"/>
          </a:xfrm>
          <a:prstGeom prst="roundRect">
            <a:avLst>
              <a:gd name="adj" fmla="val 50000"/>
            </a:avLst>
          </a:prstGeom>
          <a:solidFill>
            <a:srgbClr val="EFE7D2"/>
          </a:solidFill>
          <a:ln w="12700">
            <a:solidFill>
              <a:srgbClr val="EFE7D2"/>
            </a:solidFill>
            <a:prstDash val="solid"/>
          </a:ln>
        </p:spPr>
      </p:sp>
      <p:sp>
        <p:nvSpPr>
          <p:cNvPr id="64" name="Text 61"/>
          <p:cNvSpPr txBox="1"/>
          <p:nvPr/>
        </p:nvSpPr>
        <p:spPr>
          <a:xfrm>
            <a:off x="960120"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place word</a:t>
            </a:r>
            <a:endParaRPr lang="en-US" sz="800" dirty="0"/>
          </a:p>
        </p:txBody>
      </p:sp>
      <p:sp>
        <p:nvSpPr>
          <p:cNvPr id="65" name="Text 62"/>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0E7C86"/>
                </a:solidFill>
                <a:latin typeface="Amiri" pitchFamily="34" charset="0"/>
                <a:ea typeface="Amiri" pitchFamily="34" charset="-122"/>
                <a:cs typeface="Amiri" pitchFamily="34" charset="-120"/>
              </a:rPr>
              <a:t>خَلْفَ</a:t>
            </a:r>
            <a:endParaRPr lang="ar-SA" sz="3000" dirty="0"/>
          </a:p>
        </p:txBody>
      </p:sp>
      <p:sp>
        <p:nvSpPr>
          <p:cNvPr id="66" name="Text 63"/>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behind</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khal-fa</a:t>
            </a:r>
            <a:endParaRPr lang="en-US" sz="1350" dirty="0"/>
          </a:p>
        </p:txBody>
      </p:sp>
      <p:sp>
        <p:nvSpPr>
          <p:cNvPr id="67" name="Text 6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11 / 49</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TC-L08 · Buildings &amp; Services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GRAMMAR FOCUS · PART 2 · PLACE + WHERE + SECOND PLACE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The café is next to the library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المَقْهَى بِجَانِبِ المَكْتَبَةِ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3 · Lesson 2 of 3</a:t>
            </a:r>
            <a:endParaRPr lang="en-US" sz="850" dirty="0"/>
          </a:p>
        </p:txBody>
      </p:sp>
      <p:sp>
        <p:nvSpPr>
          <p:cNvPr id="15" name="Text 12"/>
          <p:cNvSpPr txBox="1"/>
          <p:nvPr/>
        </p:nvSpPr>
        <p:spPr>
          <a:xfrm>
            <a:off x="457200" y="1828800"/>
            <a:ext cx="3017520" cy="566928"/>
          </a:xfrm>
          <a:prstGeom prst="rect">
            <a:avLst/>
          </a:prstGeom>
          <a:noFill/>
          <a:ln/>
        </p:spPr>
        <p:txBody>
          <a:bodyPr wrap="square" lIns="0" tIns="0" rIns="0" bIns="0" rtlCol="0" anchor="ctr"/>
          <a:lstStyle/>
          <a:p>
            <a:pPr algn="l" indent="0" marL="0">
              <a:buNone/>
            </a:pPr>
            <a:r>
              <a:rPr lang="en-US" sz="1100" b="1" dirty="0">
                <a:solidFill>
                  <a:srgbClr val="5A6472"/>
                </a:solidFill>
                <a:latin typeface="Calibri" pitchFamily="34" charset="0"/>
                <a:ea typeface="Calibri" pitchFamily="34" charset="-122"/>
                <a:cs typeface="Calibri" pitchFamily="34" charset="-120"/>
              </a:rPr>
              <a:t>English meaning</a:t>
            </a:r>
            <a:endParaRPr lang="en-US" sz="1100" dirty="0"/>
          </a:p>
        </p:txBody>
      </p:sp>
      <p:sp>
        <p:nvSpPr>
          <p:cNvPr id="16" name="Shape 13"/>
          <p:cNvSpPr/>
          <p:nvPr/>
        </p:nvSpPr>
        <p:spPr>
          <a:xfrm>
            <a:off x="9089136" y="1810512"/>
            <a:ext cx="2642616" cy="566928"/>
          </a:xfrm>
          <a:prstGeom prst="roundRect">
            <a:avLst>
              <a:gd name="adj" fmla="val 9677"/>
            </a:avLst>
          </a:prstGeom>
          <a:solidFill>
            <a:srgbClr val="1B3B6F"/>
          </a:solidFill>
          <a:ln w="12700">
            <a:solidFill>
              <a:srgbClr val="1B3B6F"/>
            </a:solidFill>
            <a:prstDash val="solid"/>
          </a:ln>
        </p:spPr>
      </p:sp>
      <p:sp>
        <p:nvSpPr>
          <p:cNvPr id="17" name="Text 14"/>
          <p:cNvSpPr txBox="1"/>
          <p:nvPr/>
        </p:nvSpPr>
        <p:spPr>
          <a:xfrm>
            <a:off x="9089136" y="1792224"/>
            <a:ext cx="2642616" cy="402336"/>
          </a:xfrm>
          <a:prstGeom prst="rect">
            <a:avLst/>
          </a:prstGeom>
          <a:noFill/>
          <a:ln/>
        </p:spPr>
        <p:txBody>
          <a:bodyPr wrap="square" lIns="0" tIns="0" rIns="0" bIns="0" rtlCol="0" anchor="ctr"/>
          <a:lstStyle/>
          <a:p>
            <a:pPr rtl="1" algn="ctr" indent="0" marL="0">
              <a:buNone/>
            </a:pPr>
            <a:r>
              <a:rPr lang="ar-SA" altLang="en-US" sz="1850" b="1" dirty="0">
                <a:solidFill>
                  <a:srgbClr val="FFFFFF"/>
                </a:solidFill>
                <a:latin typeface="Amiri" pitchFamily="34" charset="0"/>
                <a:ea typeface="Amiri" pitchFamily="34" charset="-122"/>
                <a:cs typeface="Amiri" pitchFamily="34" charset="-120"/>
              </a:rPr>
              <a:t>المَكَانُ</a:t>
            </a:r>
            <a:endParaRPr lang="ar-SA" sz="1850" dirty="0"/>
          </a:p>
        </p:txBody>
      </p:sp>
      <p:sp>
        <p:nvSpPr>
          <p:cNvPr id="18" name="Text 15"/>
          <p:cNvSpPr txBox="1"/>
          <p:nvPr/>
        </p:nvSpPr>
        <p:spPr>
          <a:xfrm>
            <a:off x="9089136" y="2157984"/>
            <a:ext cx="2642616" cy="201168"/>
          </a:xfrm>
          <a:prstGeom prst="rect">
            <a:avLst/>
          </a:prstGeom>
          <a:noFill/>
          <a:ln/>
        </p:spPr>
        <p:txBody>
          <a:bodyPr wrap="square" lIns="0" tIns="0" rIns="0" bIns="0" rtlCol="0" anchor="ctr"/>
          <a:lstStyle/>
          <a:p>
            <a:pPr algn="ctr" indent="0" marL="0">
              <a:buNone/>
            </a:pPr>
            <a:r>
              <a:rPr lang="en-US" sz="900" i="1" dirty="0">
                <a:solidFill>
                  <a:srgbClr val="EEF1F6"/>
                </a:solidFill>
                <a:latin typeface="Calibri" pitchFamily="34" charset="0"/>
                <a:ea typeface="Calibri" pitchFamily="34" charset="-122"/>
                <a:cs typeface="Calibri" pitchFamily="34" charset="-120"/>
              </a:rPr>
              <a:t>the place</a:t>
            </a:r>
            <a:endParaRPr lang="en-US" sz="900" dirty="0"/>
          </a:p>
        </p:txBody>
      </p:sp>
      <p:sp>
        <p:nvSpPr>
          <p:cNvPr id="19" name="Shape 16"/>
          <p:cNvSpPr/>
          <p:nvPr/>
        </p:nvSpPr>
        <p:spPr>
          <a:xfrm>
            <a:off x="6336792" y="1810512"/>
            <a:ext cx="2642616" cy="566928"/>
          </a:xfrm>
          <a:prstGeom prst="roundRect">
            <a:avLst>
              <a:gd name="adj" fmla="val 9677"/>
            </a:avLst>
          </a:prstGeom>
          <a:solidFill>
            <a:srgbClr val="0E7C86"/>
          </a:solidFill>
          <a:ln w="12700">
            <a:solidFill>
              <a:srgbClr val="0E7C86"/>
            </a:solidFill>
            <a:prstDash val="solid"/>
          </a:ln>
        </p:spPr>
      </p:sp>
      <p:sp>
        <p:nvSpPr>
          <p:cNvPr id="20" name="Text 17"/>
          <p:cNvSpPr txBox="1"/>
          <p:nvPr/>
        </p:nvSpPr>
        <p:spPr>
          <a:xfrm>
            <a:off x="6336792" y="1792224"/>
            <a:ext cx="2642616" cy="402336"/>
          </a:xfrm>
          <a:prstGeom prst="rect">
            <a:avLst/>
          </a:prstGeom>
          <a:noFill/>
          <a:ln/>
        </p:spPr>
        <p:txBody>
          <a:bodyPr wrap="square" lIns="0" tIns="0" rIns="0" bIns="0" rtlCol="0" anchor="ctr"/>
          <a:lstStyle/>
          <a:p>
            <a:pPr rtl="1" algn="ctr" indent="0" marL="0">
              <a:buNone/>
            </a:pPr>
            <a:r>
              <a:rPr lang="ar-SA" altLang="en-US" sz="1850" b="1" dirty="0">
                <a:solidFill>
                  <a:srgbClr val="FFFFFF"/>
                </a:solidFill>
                <a:latin typeface="Amiri" pitchFamily="34" charset="0"/>
                <a:ea typeface="Amiri" pitchFamily="34" charset="-122"/>
                <a:cs typeface="Amiri" pitchFamily="34" charset="-120"/>
              </a:rPr>
              <a:t>أَيْنَ؟</a:t>
            </a:r>
            <a:endParaRPr lang="ar-SA" sz="1850" dirty="0"/>
          </a:p>
        </p:txBody>
      </p:sp>
      <p:sp>
        <p:nvSpPr>
          <p:cNvPr id="21" name="Text 18"/>
          <p:cNvSpPr txBox="1"/>
          <p:nvPr/>
        </p:nvSpPr>
        <p:spPr>
          <a:xfrm>
            <a:off x="6336792" y="2157984"/>
            <a:ext cx="2642616" cy="201168"/>
          </a:xfrm>
          <a:prstGeom prst="rect">
            <a:avLst/>
          </a:prstGeom>
          <a:noFill/>
          <a:ln/>
        </p:spPr>
        <p:txBody>
          <a:bodyPr wrap="square" lIns="0" tIns="0" rIns="0" bIns="0" rtlCol="0" anchor="ctr"/>
          <a:lstStyle/>
          <a:p>
            <a:pPr algn="ctr" indent="0" marL="0">
              <a:buNone/>
            </a:pPr>
            <a:r>
              <a:rPr lang="en-US" sz="900" i="1" dirty="0">
                <a:solidFill>
                  <a:srgbClr val="EEF1F6"/>
                </a:solidFill>
                <a:latin typeface="Calibri" pitchFamily="34" charset="0"/>
                <a:ea typeface="Calibri" pitchFamily="34" charset="-122"/>
                <a:cs typeface="Calibri" pitchFamily="34" charset="-120"/>
              </a:rPr>
              <a:t>where (key word)</a:t>
            </a:r>
            <a:endParaRPr lang="en-US" sz="900" dirty="0"/>
          </a:p>
        </p:txBody>
      </p:sp>
      <p:sp>
        <p:nvSpPr>
          <p:cNvPr id="22" name="Shape 19"/>
          <p:cNvSpPr/>
          <p:nvPr/>
        </p:nvSpPr>
        <p:spPr>
          <a:xfrm>
            <a:off x="3584448" y="1810512"/>
            <a:ext cx="2642616" cy="566928"/>
          </a:xfrm>
          <a:prstGeom prst="roundRect">
            <a:avLst>
              <a:gd name="adj" fmla="val 9677"/>
            </a:avLst>
          </a:prstGeom>
          <a:solidFill>
            <a:srgbClr val="D6336C"/>
          </a:solidFill>
          <a:ln w="12700">
            <a:solidFill>
              <a:srgbClr val="D6336C"/>
            </a:solidFill>
            <a:prstDash val="solid"/>
          </a:ln>
        </p:spPr>
      </p:sp>
      <p:sp>
        <p:nvSpPr>
          <p:cNvPr id="23" name="Text 20"/>
          <p:cNvSpPr txBox="1"/>
          <p:nvPr/>
        </p:nvSpPr>
        <p:spPr>
          <a:xfrm>
            <a:off x="3584448" y="1792224"/>
            <a:ext cx="2642616" cy="402336"/>
          </a:xfrm>
          <a:prstGeom prst="rect">
            <a:avLst/>
          </a:prstGeom>
          <a:noFill/>
          <a:ln/>
        </p:spPr>
        <p:txBody>
          <a:bodyPr wrap="square" lIns="0" tIns="0" rIns="0" bIns="0" rtlCol="0" anchor="ctr"/>
          <a:lstStyle/>
          <a:p>
            <a:pPr rtl="1" algn="ctr" indent="0" marL="0">
              <a:buNone/>
            </a:pPr>
            <a:r>
              <a:rPr lang="ar-SA" altLang="en-US" sz="1850" b="1" dirty="0">
                <a:solidFill>
                  <a:srgbClr val="FFFFFF"/>
                </a:solidFill>
                <a:latin typeface="Amiri" pitchFamily="34" charset="0"/>
                <a:ea typeface="Amiri" pitchFamily="34" charset="-122"/>
                <a:cs typeface="Amiri" pitchFamily="34" charset="-120"/>
              </a:rPr>
              <a:t>المَكَانُ الثَّانِي</a:t>
            </a:r>
            <a:endParaRPr lang="ar-SA" sz="1850" dirty="0"/>
          </a:p>
        </p:txBody>
      </p:sp>
      <p:sp>
        <p:nvSpPr>
          <p:cNvPr id="24" name="Text 21"/>
          <p:cNvSpPr txBox="1"/>
          <p:nvPr/>
        </p:nvSpPr>
        <p:spPr>
          <a:xfrm>
            <a:off x="3584448" y="2157984"/>
            <a:ext cx="2642616" cy="201168"/>
          </a:xfrm>
          <a:prstGeom prst="rect">
            <a:avLst/>
          </a:prstGeom>
          <a:noFill/>
          <a:ln/>
        </p:spPr>
        <p:txBody>
          <a:bodyPr wrap="square" lIns="0" tIns="0" rIns="0" bIns="0" rtlCol="0" anchor="ctr"/>
          <a:lstStyle/>
          <a:p>
            <a:pPr algn="ctr" indent="0" marL="0">
              <a:buNone/>
            </a:pPr>
            <a:r>
              <a:rPr lang="en-US" sz="900" i="1" dirty="0">
                <a:solidFill>
                  <a:srgbClr val="EEF1F6"/>
                </a:solidFill>
                <a:latin typeface="Calibri" pitchFamily="34" charset="0"/>
                <a:ea typeface="Calibri" pitchFamily="34" charset="-122"/>
                <a:cs typeface="Calibri" pitchFamily="34" charset="-120"/>
              </a:rPr>
              <a:t>the second place (ending -i)</a:t>
            </a:r>
            <a:endParaRPr lang="en-US" sz="900" dirty="0"/>
          </a:p>
        </p:txBody>
      </p:sp>
      <p:sp>
        <p:nvSpPr>
          <p:cNvPr id="25" name="Text 22"/>
          <p:cNvSpPr txBox="1"/>
          <p:nvPr/>
        </p:nvSpPr>
        <p:spPr>
          <a:xfrm>
            <a:off x="457200" y="2487168"/>
            <a:ext cx="2926080" cy="768096"/>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The hospital is opposite the bank.</a:t>
            </a:r>
            <a:endParaRPr lang="en-US" sz="1200" dirty="0"/>
          </a:p>
        </p:txBody>
      </p:sp>
      <p:sp>
        <p:nvSpPr>
          <p:cNvPr id="26" name="Shape 23"/>
          <p:cNvSpPr/>
          <p:nvPr/>
        </p:nvSpPr>
        <p:spPr>
          <a:xfrm>
            <a:off x="9089136" y="2487168"/>
            <a:ext cx="2642616" cy="768096"/>
          </a:xfrm>
          <a:prstGeom prst="roundRect">
            <a:avLst>
              <a:gd name="adj" fmla="val 7143"/>
            </a:avLst>
          </a:prstGeom>
          <a:solidFill>
            <a:srgbClr val="EEF3FA"/>
          </a:solidFill>
          <a:ln w="9525">
            <a:solidFill>
              <a:srgbClr val="EEF3FA"/>
            </a:solidFill>
            <a:prstDash val="solid"/>
          </a:ln>
        </p:spPr>
      </p:sp>
      <p:sp>
        <p:nvSpPr>
          <p:cNvPr id="27" name="Text 24"/>
          <p:cNvSpPr txBox="1"/>
          <p:nvPr/>
        </p:nvSpPr>
        <p:spPr>
          <a:xfrm>
            <a:off x="9162288" y="2487168"/>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34" charset="0"/>
                <a:ea typeface="Amiri" pitchFamily="34" charset="-122"/>
                <a:cs typeface="Amiri" pitchFamily="34" charset="-120"/>
              </a:rPr>
              <a:t>المُسْتَشْفَى</a:t>
            </a:r>
            <a:endParaRPr lang="ar-SA" sz="2400" dirty="0"/>
          </a:p>
        </p:txBody>
      </p:sp>
      <p:sp>
        <p:nvSpPr>
          <p:cNvPr id="28" name="Shape 25"/>
          <p:cNvSpPr/>
          <p:nvPr/>
        </p:nvSpPr>
        <p:spPr>
          <a:xfrm>
            <a:off x="6336792" y="2487168"/>
            <a:ext cx="2642616" cy="768096"/>
          </a:xfrm>
          <a:prstGeom prst="roundRect">
            <a:avLst>
              <a:gd name="adj" fmla="val 7143"/>
            </a:avLst>
          </a:prstGeom>
          <a:solidFill>
            <a:srgbClr val="E3F2F3"/>
          </a:solidFill>
          <a:ln w="9525">
            <a:solidFill>
              <a:srgbClr val="E3F2F3"/>
            </a:solidFill>
            <a:prstDash val="solid"/>
          </a:ln>
        </p:spPr>
      </p:sp>
      <p:sp>
        <p:nvSpPr>
          <p:cNvPr id="29" name="Text 26"/>
          <p:cNvSpPr txBox="1"/>
          <p:nvPr/>
        </p:nvSpPr>
        <p:spPr>
          <a:xfrm>
            <a:off x="6409944" y="2487168"/>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0E7C86"/>
                </a:solidFill>
                <a:latin typeface="Amiri" pitchFamily="34" charset="0"/>
                <a:ea typeface="Amiri" pitchFamily="34" charset="-122"/>
                <a:cs typeface="Amiri" pitchFamily="34" charset="-120"/>
              </a:rPr>
              <a:t>مُقَابِلَ</a:t>
            </a:r>
            <a:endParaRPr lang="ar-SA" sz="2400" dirty="0"/>
          </a:p>
        </p:txBody>
      </p:sp>
      <p:sp>
        <p:nvSpPr>
          <p:cNvPr id="30" name="Shape 27"/>
          <p:cNvSpPr/>
          <p:nvPr/>
        </p:nvSpPr>
        <p:spPr>
          <a:xfrm>
            <a:off x="3584448" y="2487168"/>
            <a:ext cx="2642616" cy="768096"/>
          </a:xfrm>
          <a:prstGeom prst="roundRect">
            <a:avLst>
              <a:gd name="adj" fmla="val 7143"/>
            </a:avLst>
          </a:prstGeom>
          <a:solidFill>
            <a:srgbClr val="FBE7EF"/>
          </a:solidFill>
          <a:ln w="9525">
            <a:solidFill>
              <a:srgbClr val="FBE7EF"/>
            </a:solidFill>
            <a:prstDash val="solid"/>
          </a:ln>
        </p:spPr>
      </p:sp>
      <p:sp>
        <p:nvSpPr>
          <p:cNvPr id="31" name="Text 28"/>
          <p:cNvSpPr txBox="1"/>
          <p:nvPr/>
        </p:nvSpPr>
        <p:spPr>
          <a:xfrm>
            <a:off x="3657600" y="2487168"/>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34" charset="0"/>
                <a:ea typeface="Amiri" pitchFamily="34" charset="-122"/>
                <a:cs typeface="Amiri" pitchFamily="34" charset="-120"/>
              </a:rPr>
              <a:t>البَنْ</a:t>
            </a:r>
            <a:pPr rtl="1" algn="ctr" indent="0" marL="0">
              <a:buNone/>
            </a:pPr>
            <a:r>
              <a:rPr lang="ar-SA" altLang="en-US" sz="2400" b="1" dirty="0">
                <a:solidFill>
                  <a:srgbClr val="D6336C"/>
                </a:solidFill>
                <a:latin typeface="Amiri" pitchFamily="34" charset="0"/>
                <a:ea typeface="Amiri" pitchFamily="34" charset="-122"/>
                <a:cs typeface="Amiri" pitchFamily="34" charset="-120"/>
              </a:rPr>
              <a:t>كِ</a:t>
            </a:r>
            <a:endParaRPr lang="ar-SA" sz="2400" dirty="0"/>
          </a:p>
        </p:txBody>
      </p:sp>
      <p:sp>
        <p:nvSpPr>
          <p:cNvPr id="32" name="Text 29"/>
          <p:cNvSpPr txBox="1"/>
          <p:nvPr/>
        </p:nvSpPr>
        <p:spPr>
          <a:xfrm>
            <a:off x="457200" y="3364992"/>
            <a:ext cx="2926080" cy="768096"/>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The café is next to the library.</a:t>
            </a:r>
            <a:endParaRPr lang="en-US" sz="1200" dirty="0"/>
          </a:p>
        </p:txBody>
      </p:sp>
      <p:sp>
        <p:nvSpPr>
          <p:cNvPr id="33" name="Shape 30"/>
          <p:cNvSpPr/>
          <p:nvPr/>
        </p:nvSpPr>
        <p:spPr>
          <a:xfrm>
            <a:off x="9089136" y="3364992"/>
            <a:ext cx="2642616" cy="768096"/>
          </a:xfrm>
          <a:prstGeom prst="roundRect">
            <a:avLst>
              <a:gd name="adj" fmla="val 7143"/>
            </a:avLst>
          </a:prstGeom>
          <a:solidFill>
            <a:srgbClr val="EEF3FA"/>
          </a:solidFill>
          <a:ln w="9525">
            <a:solidFill>
              <a:srgbClr val="EEF3FA"/>
            </a:solidFill>
            <a:prstDash val="solid"/>
          </a:ln>
        </p:spPr>
      </p:sp>
      <p:sp>
        <p:nvSpPr>
          <p:cNvPr id="34" name="Text 31"/>
          <p:cNvSpPr txBox="1"/>
          <p:nvPr/>
        </p:nvSpPr>
        <p:spPr>
          <a:xfrm>
            <a:off x="9162288" y="3364992"/>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34" charset="0"/>
                <a:ea typeface="Amiri" pitchFamily="34" charset="-122"/>
                <a:cs typeface="Amiri" pitchFamily="34" charset="-120"/>
              </a:rPr>
              <a:t>المَقْهَى</a:t>
            </a:r>
            <a:endParaRPr lang="ar-SA" sz="2400" dirty="0"/>
          </a:p>
        </p:txBody>
      </p:sp>
      <p:sp>
        <p:nvSpPr>
          <p:cNvPr id="35" name="Shape 32"/>
          <p:cNvSpPr/>
          <p:nvPr/>
        </p:nvSpPr>
        <p:spPr>
          <a:xfrm>
            <a:off x="6336792" y="3364992"/>
            <a:ext cx="2642616" cy="768096"/>
          </a:xfrm>
          <a:prstGeom prst="roundRect">
            <a:avLst>
              <a:gd name="adj" fmla="val 7143"/>
            </a:avLst>
          </a:prstGeom>
          <a:solidFill>
            <a:srgbClr val="E3F2F3"/>
          </a:solidFill>
          <a:ln w="9525">
            <a:solidFill>
              <a:srgbClr val="E3F2F3"/>
            </a:solidFill>
            <a:prstDash val="solid"/>
          </a:ln>
        </p:spPr>
      </p:sp>
      <p:sp>
        <p:nvSpPr>
          <p:cNvPr id="36" name="Text 33"/>
          <p:cNvSpPr txBox="1"/>
          <p:nvPr/>
        </p:nvSpPr>
        <p:spPr>
          <a:xfrm>
            <a:off x="6409944" y="3364992"/>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0E7C86"/>
                </a:solidFill>
                <a:latin typeface="Amiri" pitchFamily="34" charset="0"/>
                <a:ea typeface="Amiri" pitchFamily="34" charset="-122"/>
                <a:cs typeface="Amiri" pitchFamily="34" charset="-120"/>
              </a:rPr>
              <a:t>بِجَانِبِ</a:t>
            </a:r>
            <a:endParaRPr lang="ar-SA" sz="2400" dirty="0"/>
          </a:p>
        </p:txBody>
      </p:sp>
      <p:sp>
        <p:nvSpPr>
          <p:cNvPr id="37" name="Shape 34"/>
          <p:cNvSpPr/>
          <p:nvPr/>
        </p:nvSpPr>
        <p:spPr>
          <a:xfrm>
            <a:off x="3584448" y="3364992"/>
            <a:ext cx="2642616" cy="768096"/>
          </a:xfrm>
          <a:prstGeom prst="roundRect">
            <a:avLst>
              <a:gd name="adj" fmla="val 7143"/>
            </a:avLst>
          </a:prstGeom>
          <a:solidFill>
            <a:srgbClr val="FBE7EF"/>
          </a:solidFill>
          <a:ln w="9525">
            <a:solidFill>
              <a:srgbClr val="FBE7EF"/>
            </a:solidFill>
            <a:prstDash val="solid"/>
          </a:ln>
        </p:spPr>
      </p:sp>
      <p:sp>
        <p:nvSpPr>
          <p:cNvPr id="38" name="Text 35"/>
          <p:cNvSpPr txBox="1"/>
          <p:nvPr/>
        </p:nvSpPr>
        <p:spPr>
          <a:xfrm>
            <a:off x="3657600" y="3364992"/>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34" charset="0"/>
                <a:ea typeface="Amiri" pitchFamily="34" charset="-122"/>
                <a:cs typeface="Amiri" pitchFamily="34" charset="-120"/>
              </a:rPr>
              <a:t>المَكْتَبَ</a:t>
            </a:r>
            <a:pPr rtl="1" algn="ctr" indent="0" marL="0">
              <a:buNone/>
            </a:pPr>
            <a:r>
              <a:rPr lang="ar-SA" altLang="en-US" sz="2400" b="1" dirty="0">
                <a:solidFill>
                  <a:srgbClr val="D6336C"/>
                </a:solidFill>
                <a:latin typeface="Amiri" pitchFamily="34" charset="0"/>
                <a:ea typeface="Amiri" pitchFamily="34" charset="-122"/>
                <a:cs typeface="Amiri" pitchFamily="34" charset="-120"/>
              </a:rPr>
              <a:t>ةِ</a:t>
            </a:r>
            <a:endParaRPr lang="ar-SA" sz="2400" dirty="0"/>
          </a:p>
        </p:txBody>
      </p:sp>
      <p:sp>
        <p:nvSpPr>
          <p:cNvPr id="39" name="Text 36"/>
          <p:cNvSpPr txBox="1"/>
          <p:nvPr/>
        </p:nvSpPr>
        <p:spPr>
          <a:xfrm>
            <a:off x="457200" y="4242816"/>
            <a:ext cx="2926080" cy="768096"/>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The hotel is east of the train station.</a:t>
            </a:r>
            <a:endParaRPr lang="en-US" sz="1200" dirty="0"/>
          </a:p>
        </p:txBody>
      </p:sp>
      <p:sp>
        <p:nvSpPr>
          <p:cNvPr id="40" name="Shape 37"/>
          <p:cNvSpPr/>
          <p:nvPr/>
        </p:nvSpPr>
        <p:spPr>
          <a:xfrm>
            <a:off x="9089136" y="4242816"/>
            <a:ext cx="2642616" cy="768096"/>
          </a:xfrm>
          <a:prstGeom prst="roundRect">
            <a:avLst>
              <a:gd name="adj" fmla="val 7143"/>
            </a:avLst>
          </a:prstGeom>
          <a:solidFill>
            <a:srgbClr val="EEF3FA"/>
          </a:solidFill>
          <a:ln w="9525">
            <a:solidFill>
              <a:srgbClr val="EEF3FA"/>
            </a:solidFill>
            <a:prstDash val="solid"/>
          </a:ln>
        </p:spPr>
      </p:sp>
      <p:sp>
        <p:nvSpPr>
          <p:cNvPr id="41" name="Text 38"/>
          <p:cNvSpPr txBox="1"/>
          <p:nvPr/>
        </p:nvSpPr>
        <p:spPr>
          <a:xfrm>
            <a:off x="9162288" y="4242816"/>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34" charset="0"/>
                <a:ea typeface="Amiri" pitchFamily="34" charset="-122"/>
                <a:cs typeface="Amiri" pitchFamily="34" charset="-120"/>
              </a:rPr>
              <a:t>الفُنْدُقُ</a:t>
            </a:r>
            <a:endParaRPr lang="ar-SA" sz="2400" dirty="0"/>
          </a:p>
        </p:txBody>
      </p:sp>
      <p:sp>
        <p:nvSpPr>
          <p:cNvPr id="42" name="Shape 39"/>
          <p:cNvSpPr/>
          <p:nvPr/>
        </p:nvSpPr>
        <p:spPr>
          <a:xfrm>
            <a:off x="6336792" y="4242816"/>
            <a:ext cx="2642616" cy="768096"/>
          </a:xfrm>
          <a:prstGeom prst="roundRect">
            <a:avLst>
              <a:gd name="adj" fmla="val 7143"/>
            </a:avLst>
          </a:prstGeom>
          <a:solidFill>
            <a:srgbClr val="E3F2F3"/>
          </a:solidFill>
          <a:ln w="9525">
            <a:solidFill>
              <a:srgbClr val="E3F2F3"/>
            </a:solidFill>
            <a:prstDash val="solid"/>
          </a:ln>
        </p:spPr>
      </p:sp>
      <p:sp>
        <p:nvSpPr>
          <p:cNvPr id="43" name="Text 40"/>
          <p:cNvSpPr txBox="1"/>
          <p:nvPr/>
        </p:nvSpPr>
        <p:spPr>
          <a:xfrm>
            <a:off x="6409944" y="4242816"/>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0E7C86"/>
                </a:solidFill>
                <a:latin typeface="Amiri" pitchFamily="34" charset="0"/>
                <a:ea typeface="Amiri" pitchFamily="34" charset="-122"/>
                <a:cs typeface="Amiri" pitchFamily="34" charset="-120"/>
              </a:rPr>
              <a:t>شَرْقَ</a:t>
            </a:r>
            <a:endParaRPr lang="ar-SA" sz="2400" dirty="0"/>
          </a:p>
        </p:txBody>
      </p:sp>
      <p:sp>
        <p:nvSpPr>
          <p:cNvPr id="44" name="Shape 41"/>
          <p:cNvSpPr/>
          <p:nvPr/>
        </p:nvSpPr>
        <p:spPr>
          <a:xfrm>
            <a:off x="3584448" y="4242816"/>
            <a:ext cx="2642616" cy="768096"/>
          </a:xfrm>
          <a:prstGeom prst="roundRect">
            <a:avLst>
              <a:gd name="adj" fmla="val 7143"/>
            </a:avLst>
          </a:prstGeom>
          <a:solidFill>
            <a:srgbClr val="FBE7EF"/>
          </a:solidFill>
          <a:ln w="9525">
            <a:solidFill>
              <a:srgbClr val="FBE7EF"/>
            </a:solidFill>
            <a:prstDash val="solid"/>
          </a:ln>
        </p:spPr>
      </p:sp>
      <p:sp>
        <p:nvSpPr>
          <p:cNvPr id="45" name="Text 42"/>
          <p:cNvSpPr txBox="1"/>
          <p:nvPr/>
        </p:nvSpPr>
        <p:spPr>
          <a:xfrm>
            <a:off x="3657600" y="4242816"/>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34" charset="0"/>
                <a:ea typeface="Amiri" pitchFamily="34" charset="-122"/>
                <a:cs typeface="Amiri" pitchFamily="34" charset="-120"/>
              </a:rPr>
              <a:t>مَحَطَّةِ القِطَا</a:t>
            </a:r>
            <a:pPr rtl="1" algn="ctr" indent="0" marL="0">
              <a:buNone/>
            </a:pPr>
            <a:r>
              <a:rPr lang="ar-SA" altLang="en-US" sz="2400" b="1" dirty="0">
                <a:solidFill>
                  <a:srgbClr val="D6336C"/>
                </a:solidFill>
                <a:latin typeface="Amiri" pitchFamily="34" charset="0"/>
                <a:ea typeface="Amiri" pitchFamily="34" charset="-122"/>
                <a:cs typeface="Amiri" pitchFamily="34" charset="-120"/>
              </a:rPr>
              <a:t>رِ</a:t>
            </a:r>
            <a:endParaRPr lang="ar-SA" sz="2400" dirty="0"/>
          </a:p>
        </p:txBody>
      </p:sp>
      <p:sp>
        <p:nvSpPr>
          <p:cNvPr id="46" name="Text 43"/>
          <p:cNvSpPr txBox="1"/>
          <p:nvPr/>
        </p:nvSpPr>
        <p:spPr>
          <a:xfrm>
            <a:off x="457200" y="5120640"/>
            <a:ext cx="2926080" cy="768096"/>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The museum is between the school and the square.</a:t>
            </a:r>
            <a:endParaRPr lang="en-US" sz="1200" dirty="0"/>
          </a:p>
        </p:txBody>
      </p:sp>
      <p:sp>
        <p:nvSpPr>
          <p:cNvPr id="47" name="Shape 44"/>
          <p:cNvSpPr/>
          <p:nvPr/>
        </p:nvSpPr>
        <p:spPr>
          <a:xfrm>
            <a:off x="9089136" y="5120640"/>
            <a:ext cx="2642616" cy="768096"/>
          </a:xfrm>
          <a:prstGeom prst="roundRect">
            <a:avLst>
              <a:gd name="adj" fmla="val 7143"/>
            </a:avLst>
          </a:prstGeom>
          <a:solidFill>
            <a:srgbClr val="EEF3FA"/>
          </a:solidFill>
          <a:ln w="9525">
            <a:solidFill>
              <a:srgbClr val="EEF3FA"/>
            </a:solidFill>
            <a:prstDash val="solid"/>
          </a:ln>
        </p:spPr>
      </p:sp>
      <p:sp>
        <p:nvSpPr>
          <p:cNvPr id="48" name="Text 45"/>
          <p:cNvSpPr txBox="1"/>
          <p:nvPr/>
        </p:nvSpPr>
        <p:spPr>
          <a:xfrm>
            <a:off x="9162288" y="5120640"/>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34" charset="0"/>
                <a:ea typeface="Amiri" pitchFamily="34" charset="-122"/>
                <a:cs typeface="Amiri" pitchFamily="34" charset="-120"/>
              </a:rPr>
              <a:t>المَتْحَفُ</a:t>
            </a:r>
            <a:endParaRPr lang="ar-SA" sz="2400" dirty="0"/>
          </a:p>
        </p:txBody>
      </p:sp>
      <p:sp>
        <p:nvSpPr>
          <p:cNvPr id="49" name="Shape 46"/>
          <p:cNvSpPr/>
          <p:nvPr/>
        </p:nvSpPr>
        <p:spPr>
          <a:xfrm>
            <a:off x="6336792" y="5120640"/>
            <a:ext cx="2642616" cy="768096"/>
          </a:xfrm>
          <a:prstGeom prst="roundRect">
            <a:avLst>
              <a:gd name="adj" fmla="val 7143"/>
            </a:avLst>
          </a:prstGeom>
          <a:solidFill>
            <a:srgbClr val="E3F2F3"/>
          </a:solidFill>
          <a:ln w="9525">
            <a:solidFill>
              <a:srgbClr val="E3F2F3"/>
            </a:solidFill>
            <a:prstDash val="solid"/>
          </a:ln>
        </p:spPr>
      </p:sp>
      <p:sp>
        <p:nvSpPr>
          <p:cNvPr id="50" name="Text 47"/>
          <p:cNvSpPr txBox="1"/>
          <p:nvPr/>
        </p:nvSpPr>
        <p:spPr>
          <a:xfrm>
            <a:off x="6409944" y="5120640"/>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0E7C86"/>
                </a:solidFill>
                <a:latin typeface="Amiri" pitchFamily="34" charset="0"/>
                <a:ea typeface="Amiri" pitchFamily="34" charset="-122"/>
                <a:cs typeface="Amiri" pitchFamily="34" charset="-120"/>
              </a:rPr>
              <a:t>بَيْنَ</a:t>
            </a:r>
            <a:endParaRPr lang="ar-SA" sz="2400" dirty="0"/>
          </a:p>
        </p:txBody>
      </p:sp>
      <p:sp>
        <p:nvSpPr>
          <p:cNvPr id="51" name="Shape 48"/>
          <p:cNvSpPr/>
          <p:nvPr/>
        </p:nvSpPr>
        <p:spPr>
          <a:xfrm>
            <a:off x="3584448" y="5120640"/>
            <a:ext cx="2642616" cy="768096"/>
          </a:xfrm>
          <a:prstGeom prst="roundRect">
            <a:avLst>
              <a:gd name="adj" fmla="val 7143"/>
            </a:avLst>
          </a:prstGeom>
          <a:solidFill>
            <a:srgbClr val="FBE7EF"/>
          </a:solidFill>
          <a:ln w="9525">
            <a:solidFill>
              <a:srgbClr val="FBE7EF"/>
            </a:solidFill>
            <a:prstDash val="solid"/>
          </a:ln>
        </p:spPr>
      </p:sp>
      <p:sp>
        <p:nvSpPr>
          <p:cNvPr id="52" name="Text 49"/>
          <p:cNvSpPr txBox="1"/>
          <p:nvPr/>
        </p:nvSpPr>
        <p:spPr>
          <a:xfrm>
            <a:off x="3657600" y="5120640"/>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34" charset="0"/>
                <a:ea typeface="Amiri" pitchFamily="34" charset="-122"/>
                <a:cs typeface="Amiri" pitchFamily="34" charset="-120"/>
              </a:rPr>
              <a:t>المَدْرَسَ</a:t>
            </a:r>
            <a:pPr rtl="1" algn="ctr" indent="0" marL="0">
              <a:buNone/>
            </a:pPr>
            <a:r>
              <a:rPr lang="ar-SA" altLang="en-US" sz="2400" b="1" dirty="0">
                <a:solidFill>
                  <a:srgbClr val="D6336C"/>
                </a:solidFill>
                <a:latin typeface="Amiri" pitchFamily="34" charset="0"/>
                <a:ea typeface="Amiri" pitchFamily="34" charset="-122"/>
                <a:cs typeface="Amiri" pitchFamily="34" charset="-120"/>
              </a:rPr>
              <a:t>ةِ</a:t>
            </a:r>
            <a:pPr rtl="1" algn="ctr" indent="0" marL="0">
              <a:buNone/>
            </a:pPr>
            <a:r>
              <a:rPr lang="ar-SA" altLang="en-US" sz="2400" b="1" dirty="0">
                <a:solidFill>
                  <a:srgbClr val="1B3B6F"/>
                </a:solidFill>
                <a:latin typeface="Amiri" pitchFamily="34" charset="0"/>
                <a:ea typeface="Amiri" pitchFamily="34" charset="-122"/>
                <a:cs typeface="Amiri" pitchFamily="34" charset="-120"/>
              </a:rPr>
              <a:t> وَالسَّاحَ</a:t>
            </a:r>
            <a:pPr rtl="1" algn="ctr" indent="0" marL="0">
              <a:buNone/>
            </a:pPr>
            <a:r>
              <a:rPr lang="ar-SA" altLang="en-US" sz="2400" b="1" dirty="0">
                <a:solidFill>
                  <a:srgbClr val="D6336C"/>
                </a:solidFill>
                <a:latin typeface="Amiri" pitchFamily="34" charset="0"/>
                <a:ea typeface="Amiri" pitchFamily="34" charset="-122"/>
                <a:cs typeface="Amiri" pitchFamily="34" charset="-120"/>
              </a:rPr>
              <a:t>ةِ</a:t>
            </a:r>
            <a:endParaRPr lang="ar-SA" sz="2400" dirty="0"/>
          </a:p>
        </p:txBody>
      </p:sp>
      <p:sp>
        <p:nvSpPr>
          <p:cNvPr id="53" name="Text 50"/>
          <p:cNvSpPr txBox="1"/>
          <p:nvPr/>
        </p:nvSpPr>
        <p:spPr>
          <a:xfrm>
            <a:off x="457200" y="5989320"/>
            <a:ext cx="11274552" cy="320040"/>
          </a:xfrm>
          <a:prstGeom prst="rect">
            <a:avLst/>
          </a:prstGeom>
          <a:noFill/>
          <a:ln/>
        </p:spPr>
        <p:txBody>
          <a:bodyPr wrap="square" lIns="0" tIns="0" rIns="0" bIns="0" rtlCol="0" anchor="ctr"/>
          <a:lstStyle/>
          <a:p>
            <a:pPr algn="l" indent="0" marL="0">
              <a:buNone/>
            </a:pPr>
            <a:r>
              <a:rPr lang="en-US" sz="1200" b="1" dirty="0">
                <a:solidFill>
                  <a:srgbClr val="8A6D1E"/>
                </a:solidFill>
                <a:latin typeface="Calibri" pitchFamily="34" charset="0"/>
                <a:ea typeface="Calibri" pitchFamily="34" charset="-122"/>
                <a:cs typeface="Calibri" pitchFamily="34" charset="-120"/>
              </a:rPr>
              <a:t>After a place word, the second place always ends in -i (kasra): </a:t>
            </a:r>
            <a:pPr algn="l" indent="0" marL="0">
              <a:buNone/>
            </a:pPr>
            <a:r>
              <a:rPr lang="ar-SA" altLang="en-US" sz="1550" b="1" dirty="0">
                <a:solidFill>
                  <a:srgbClr val="8A6D1E"/>
                </a:solidFill>
                <a:latin typeface="Amiri" pitchFamily="34" charset="0"/>
                <a:ea typeface="Amiri" pitchFamily="34" charset="-122"/>
                <a:cs typeface="Amiri" pitchFamily="34" charset="-120"/>
              </a:rPr>
              <a:t>البَنْكِ</a:t>
            </a:r>
            <a:pPr algn="l" indent="0" marL="0">
              <a:buNone/>
            </a:pPr>
            <a:r>
              <a:rPr lang="en-US" sz="1200" b="1" dirty="0">
                <a:solidFill>
                  <a:srgbClr val="8A6D1E"/>
                </a:solidFill>
                <a:latin typeface="Calibri" pitchFamily="34" charset="0"/>
                <a:ea typeface="Calibri" pitchFamily="34" charset="-122"/>
                <a:cs typeface="Calibri" pitchFamily="34" charset="-120"/>
              </a:rPr>
              <a:t> · </a:t>
            </a:r>
            <a:pPr algn="l" indent="0" marL="0">
              <a:buNone/>
            </a:pPr>
            <a:r>
              <a:rPr lang="ar-SA" altLang="en-US" sz="1550" b="1" dirty="0">
                <a:solidFill>
                  <a:srgbClr val="8A6D1E"/>
                </a:solidFill>
                <a:latin typeface="Amiri" pitchFamily="34" charset="0"/>
                <a:ea typeface="Amiri" pitchFamily="34" charset="-122"/>
                <a:cs typeface="Amiri" pitchFamily="34" charset="-120"/>
              </a:rPr>
              <a:t>المَكْتَبَةِ</a:t>
            </a:r>
            <a:pPr algn="l" indent="0" marL="0">
              <a:buNone/>
            </a:pPr>
            <a:r>
              <a:rPr lang="en-US" sz="1200" b="1" dirty="0">
                <a:solidFill>
                  <a:srgbClr val="8A6D1E"/>
                </a:solidFill>
                <a:latin typeface="Calibri" pitchFamily="34" charset="0"/>
                <a:ea typeface="Calibri" pitchFamily="34" charset="-122"/>
                <a:cs typeface="Calibri" pitchFamily="34" charset="-120"/>
              </a:rPr>
              <a:t>.</a:t>
            </a:r>
            <a:endParaRPr lang="en-US" sz="1200" dirty="0"/>
          </a:p>
        </p:txBody>
      </p:sp>
      <p:sp>
        <p:nvSpPr>
          <p:cNvPr id="54" name="Text 5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12 / 49</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TC-L08 · Buildings &amp; Services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KEY WORDS · GROUP 5 · GRAMMAR PART 3 · COMPARATIVES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Big → bigger than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اِسْمُ التَّفْضِيلِ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3 · Lesson 2 of 3</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793224" y="1810512"/>
            <a:ext cx="18653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Meaning</a:t>
            </a:r>
            <a:endParaRPr lang="en-US" sz="1100" dirty="0"/>
          </a:p>
        </p:txBody>
      </p:sp>
      <p:sp>
        <p:nvSpPr>
          <p:cNvPr id="17" name="Text 14"/>
          <p:cNvSpPr txBox="1"/>
          <p:nvPr/>
        </p:nvSpPr>
        <p:spPr>
          <a:xfrm>
            <a:off x="7507224" y="1810512"/>
            <a:ext cx="21396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Adjective (m.)</a:t>
            </a:r>
            <a:endParaRPr lang="en-US" sz="1100" dirty="0"/>
          </a:p>
        </p:txBody>
      </p:sp>
      <p:sp>
        <p:nvSpPr>
          <p:cNvPr id="18" name="Text 15"/>
          <p:cNvSpPr txBox="1"/>
          <p:nvPr/>
        </p:nvSpPr>
        <p:spPr>
          <a:xfrm>
            <a:off x="5221224" y="1810512"/>
            <a:ext cx="21396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Adjective (f.)</a:t>
            </a:r>
            <a:endParaRPr lang="en-US" sz="1100" dirty="0"/>
          </a:p>
        </p:txBody>
      </p:sp>
      <p:sp>
        <p:nvSpPr>
          <p:cNvPr id="19" name="Text 16"/>
          <p:cNvSpPr txBox="1"/>
          <p:nvPr/>
        </p:nvSpPr>
        <p:spPr>
          <a:xfrm>
            <a:off x="2843784"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more … than (m. and f.)</a:t>
            </a:r>
            <a:endParaRPr lang="en-US" sz="1100" dirty="0"/>
          </a:p>
        </p:txBody>
      </p:sp>
      <p:sp>
        <p:nvSpPr>
          <p:cNvPr id="20" name="Text 17"/>
          <p:cNvSpPr txBox="1"/>
          <p:nvPr/>
        </p:nvSpPr>
        <p:spPr>
          <a:xfrm>
            <a:off x="530352" y="1810512"/>
            <a:ext cx="21671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Example</a:t>
            </a:r>
            <a:endParaRPr lang="en-US" sz="1100" dirty="0"/>
          </a:p>
        </p:txBody>
      </p:sp>
      <p:sp>
        <p:nvSpPr>
          <p:cNvPr id="21" name="Shape 18"/>
          <p:cNvSpPr/>
          <p:nvPr/>
        </p:nvSpPr>
        <p:spPr>
          <a:xfrm>
            <a:off x="457200" y="2267712"/>
            <a:ext cx="11274552" cy="627888"/>
          </a:xfrm>
          <a:prstGeom prst="roundRect">
            <a:avLst>
              <a:gd name="adj" fmla="val 7282"/>
            </a:avLst>
          </a:prstGeom>
          <a:solidFill>
            <a:srgbClr val="FFFFFF"/>
          </a:solidFill>
          <a:ln w="9525">
            <a:solidFill>
              <a:srgbClr val="D8D0BF"/>
            </a:solidFill>
            <a:prstDash val="solid"/>
          </a:ln>
        </p:spPr>
      </p:sp>
      <p:sp>
        <p:nvSpPr>
          <p:cNvPr id="22" name="Text 19"/>
          <p:cNvSpPr txBox="1"/>
          <p:nvPr/>
        </p:nvSpPr>
        <p:spPr>
          <a:xfrm>
            <a:off x="9829800" y="2267712"/>
            <a:ext cx="1828800"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big</a:t>
            </a:r>
            <a:endParaRPr lang="en-US" sz="1100" dirty="0"/>
          </a:p>
        </p:txBody>
      </p:sp>
      <p:sp>
        <p:nvSpPr>
          <p:cNvPr id="23" name="Text 20"/>
          <p:cNvSpPr txBox="1"/>
          <p:nvPr/>
        </p:nvSpPr>
        <p:spPr>
          <a:xfrm>
            <a:off x="7525512" y="2286000"/>
            <a:ext cx="2103120" cy="389291"/>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كَبِيرٌ</a:t>
            </a:r>
            <a:endParaRPr lang="ar-SA" sz="1800" dirty="0"/>
          </a:p>
        </p:txBody>
      </p:sp>
      <p:sp>
        <p:nvSpPr>
          <p:cNvPr id="24" name="Text 21"/>
          <p:cNvSpPr txBox="1"/>
          <p:nvPr/>
        </p:nvSpPr>
        <p:spPr>
          <a:xfrm>
            <a:off x="7479792" y="2644445"/>
            <a:ext cx="2194560" cy="238597"/>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ka-bīr</a:t>
            </a:r>
            <a:endParaRPr lang="en-US" sz="950" dirty="0"/>
          </a:p>
        </p:txBody>
      </p:sp>
      <p:sp>
        <p:nvSpPr>
          <p:cNvPr id="25" name="Text 22"/>
          <p:cNvSpPr txBox="1"/>
          <p:nvPr/>
        </p:nvSpPr>
        <p:spPr>
          <a:xfrm>
            <a:off x="5239512" y="2286000"/>
            <a:ext cx="2103120" cy="389291"/>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كَبِيرَةٌ</a:t>
            </a:r>
            <a:endParaRPr lang="ar-SA" sz="1800" dirty="0"/>
          </a:p>
        </p:txBody>
      </p:sp>
      <p:sp>
        <p:nvSpPr>
          <p:cNvPr id="26" name="Text 23"/>
          <p:cNvSpPr txBox="1"/>
          <p:nvPr/>
        </p:nvSpPr>
        <p:spPr>
          <a:xfrm>
            <a:off x="5193792" y="2644445"/>
            <a:ext cx="2194560" cy="238597"/>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ka-bī-ra</a:t>
            </a:r>
            <a:endParaRPr lang="en-US" sz="950" dirty="0"/>
          </a:p>
        </p:txBody>
      </p:sp>
      <p:sp>
        <p:nvSpPr>
          <p:cNvPr id="27" name="Text 24"/>
          <p:cNvSpPr txBox="1"/>
          <p:nvPr/>
        </p:nvSpPr>
        <p:spPr>
          <a:xfrm>
            <a:off x="2862072" y="2286000"/>
            <a:ext cx="2194560" cy="389291"/>
          </a:xfrm>
          <a:prstGeom prst="rect">
            <a:avLst/>
          </a:prstGeom>
          <a:noFill/>
          <a:ln/>
        </p:spPr>
        <p:txBody>
          <a:bodyPr wrap="square" lIns="0" tIns="0" rIns="0" bIns="0" rtlCol="0" anchor="ctr"/>
          <a:lstStyle/>
          <a:p>
            <a:pPr rtl="1" algn="ctr" indent="0" marL="0">
              <a:buNone/>
            </a:pPr>
            <a:r>
              <a:rPr lang="ar-SA" altLang="en-US" sz="1800" b="1" dirty="0">
                <a:solidFill>
                  <a:srgbClr val="C77700"/>
                </a:solidFill>
                <a:latin typeface="Amiri" pitchFamily="34" charset="0"/>
                <a:ea typeface="Amiri" pitchFamily="34" charset="-122"/>
                <a:cs typeface="Amiri" pitchFamily="34" charset="-120"/>
              </a:rPr>
              <a:t>أَ</a:t>
            </a:r>
            <a:pPr rtl="1" algn="ctr" indent="0" marL="0">
              <a:buNone/>
            </a:pPr>
            <a:r>
              <a:rPr lang="ar-SA" altLang="en-US" sz="1800" b="1" dirty="0">
                <a:solidFill>
                  <a:srgbClr val="1B3B6F"/>
                </a:solidFill>
                <a:latin typeface="Amiri" pitchFamily="34" charset="0"/>
                <a:ea typeface="Amiri" pitchFamily="34" charset="-122"/>
                <a:cs typeface="Amiri" pitchFamily="34" charset="-120"/>
              </a:rPr>
              <a:t>كْبَرُ </a:t>
            </a:r>
            <a:pPr rtl="1" algn="ctr" indent="0" marL="0">
              <a:buNone/>
            </a:pPr>
            <a:r>
              <a:rPr lang="ar-SA" altLang="en-US" sz="1800" b="1" dirty="0">
                <a:solidFill>
                  <a:srgbClr val="0E7C86"/>
                </a:solidFill>
                <a:latin typeface="Amiri" pitchFamily="34" charset="0"/>
                <a:ea typeface="Amiri" pitchFamily="34" charset="-122"/>
                <a:cs typeface="Amiri" pitchFamily="34" charset="-120"/>
              </a:rPr>
              <a:t>مِنْ</a:t>
            </a:r>
            <a:endParaRPr lang="ar-SA" sz="1800" dirty="0"/>
          </a:p>
        </p:txBody>
      </p:sp>
      <p:sp>
        <p:nvSpPr>
          <p:cNvPr id="28" name="Text 25"/>
          <p:cNvSpPr txBox="1"/>
          <p:nvPr/>
        </p:nvSpPr>
        <p:spPr>
          <a:xfrm>
            <a:off x="2816352" y="2644445"/>
            <a:ext cx="2286000" cy="238597"/>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ak-ba-ru min</a:t>
            </a:r>
            <a:endParaRPr lang="en-US" sz="950" dirty="0"/>
          </a:p>
        </p:txBody>
      </p:sp>
      <p:sp>
        <p:nvSpPr>
          <p:cNvPr id="29" name="Text 26"/>
          <p:cNvSpPr txBox="1"/>
          <p:nvPr/>
        </p:nvSpPr>
        <p:spPr>
          <a:xfrm>
            <a:off x="548640" y="2267712"/>
            <a:ext cx="2130552" cy="62788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34" charset="0"/>
                <a:ea typeface="Amiri" pitchFamily="34" charset="-122"/>
                <a:cs typeface="Amiri" pitchFamily="34" charset="-120"/>
              </a:rPr>
              <a:t>المَدِينَةُ أَكْبَرُ مِنَ القَرْيَةِ</a:t>
            </a:r>
            <a:endParaRPr lang="ar-SA" sz="1600" dirty="0"/>
          </a:p>
        </p:txBody>
      </p:sp>
      <p:sp>
        <p:nvSpPr>
          <p:cNvPr id="30" name="Shape 27"/>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31" name="Text 28"/>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32" name="Shape 29"/>
          <p:cNvSpPr/>
          <p:nvPr/>
        </p:nvSpPr>
        <p:spPr>
          <a:xfrm>
            <a:off x="457200" y="2950464"/>
            <a:ext cx="11274552" cy="627888"/>
          </a:xfrm>
          <a:prstGeom prst="roundRect">
            <a:avLst>
              <a:gd name="adj" fmla="val 7282"/>
            </a:avLst>
          </a:prstGeom>
          <a:solidFill>
            <a:srgbClr val="F4F1EA"/>
          </a:solidFill>
          <a:ln w="9525">
            <a:solidFill>
              <a:srgbClr val="D8D0BF"/>
            </a:solidFill>
            <a:prstDash val="solid"/>
          </a:ln>
        </p:spPr>
      </p:sp>
      <p:sp>
        <p:nvSpPr>
          <p:cNvPr id="33" name="Text 30"/>
          <p:cNvSpPr txBox="1"/>
          <p:nvPr/>
        </p:nvSpPr>
        <p:spPr>
          <a:xfrm>
            <a:off x="9829800" y="2950464"/>
            <a:ext cx="1828800"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small</a:t>
            </a:r>
            <a:endParaRPr lang="en-US" sz="1100" dirty="0"/>
          </a:p>
        </p:txBody>
      </p:sp>
      <p:sp>
        <p:nvSpPr>
          <p:cNvPr id="34" name="Text 31"/>
          <p:cNvSpPr txBox="1"/>
          <p:nvPr/>
        </p:nvSpPr>
        <p:spPr>
          <a:xfrm>
            <a:off x="7525512" y="2968752"/>
            <a:ext cx="2103120" cy="389291"/>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صَغِيرٌ</a:t>
            </a:r>
            <a:endParaRPr lang="ar-SA" sz="1800" dirty="0"/>
          </a:p>
        </p:txBody>
      </p:sp>
      <p:sp>
        <p:nvSpPr>
          <p:cNvPr id="35" name="Text 32"/>
          <p:cNvSpPr txBox="1"/>
          <p:nvPr/>
        </p:nvSpPr>
        <p:spPr>
          <a:xfrm>
            <a:off x="7479792" y="3327197"/>
            <a:ext cx="2194560" cy="238597"/>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ṣa-ghīr</a:t>
            </a:r>
            <a:endParaRPr lang="en-US" sz="950" dirty="0"/>
          </a:p>
        </p:txBody>
      </p:sp>
      <p:sp>
        <p:nvSpPr>
          <p:cNvPr id="36" name="Text 33"/>
          <p:cNvSpPr txBox="1"/>
          <p:nvPr/>
        </p:nvSpPr>
        <p:spPr>
          <a:xfrm>
            <a:off x="5239512" y="2968752"/>
            <a:ext cx="2103120" cy="389291"/>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صَغِيرَةٌ</a:t>
            </a:r>
            <a:endParaRPr lang="ar-SA" sz="1800" dirty="0"/>
          </a:p>
        </p:txBody>
      </p:sp>
      <p:sp>
        <p:nvSpPr>
          <p:cNvPr id="37" name="Text 34"/>
          <p:cNvSpPr txBox="1"/>
          <p:nvPr/>
        </p:nvSpPr>
        <p:spPr>
          <a:xfrm>
            <a:off x="5193792" y="3327197"/>
            <a:ext cx="2194560" cy="238597"/>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ṣa-ghī-ra</a:t>
            </a:r>
            <a:endParaRPr lang="en-US" sz="950" dirty="0"/>
          </a:p>
        </p:txBody>
      </p:sp>
      <p:sp>
        <p:nvSpPr>
          <p:cNvPr id="38" name="Text 35"/>
          <p:cNvSpPr txBox="1"/>
          <p:nvPr/>
        </p:nvSpPr>
        <p:spPr>
          <a:xfrm>
            <a:off x="2862072" y="2968752"/>
            <a:ext cx="2194560" cy="389291"/>
          </a:xfrm>
          <a:prstGeom prst="rect">
            <a:avLst/>
          </a:prstGeom>
          <a:noFill/>
          <a:ln/>
        </p:spPr>
        <p:txBody>
          <a:bodyPr wrap="square" lIns="0" tIns="0" rIns="0" bIns="0" rtlCol="0" anchor="ctr"/>
          <a:lstStyle/>
          <a:p>
            <a:pPr rtl="1" algn="ctr" indent="0" marL="0">
              <a:buNone/>
            </a:pPr>
            <a:r>
              <a:rPr lang="ar-SA" altLang="en-US" sz="1800" b="1" dirty="0">
                <a:solidFill>
                  <a:srgbClr val="C77700"/>
                </a:solidFill>
                <a:latin typeface="Amiri" pitchFamily="34" charset="0"/>
                <a:ea typeface="Amiri" pitchFamily="34" charset="-122"/>
                <a:cs typeface="Amiri" pitchFamily="34" charset="-120"/>
              </a:rPr>
              <a:t>أَ</a:t>
            </a:r>
            <a:pPr rtl="1" algn="ctr" indent="0" marL="0">
              <a:buNone/>
            </a:pPr>
            <a:r>
              <a:rPr lang="ar-SA" altLang="en-US" sz="1800" b="1" dirty="0">
                <a:solidFill>
                  <a:srgbClr val="1B3B6F"/>
                </a:solidFill>
                <a:latin typeface="Amiri" pitchFamily="34" charset="0"/>
                <a:ea typeface="Amiri" pitchFamily="34" charset="-122"/>
                <a:cs typeface="Amiri" pitchFamily="34" charset="-120"/>
              </a:rPr>
              <a:t>صْغَرُ </a:t>
            </a:r>
            <a:pPr rtl="1" algn="ctr" indent="0" marL="0">
              <a:buNone/>
            </a:pPr>
            <a:r>
              <a:rPr lang="ar-SA" altLang="en-US" sz="1800" b="1" dirty="0">
                <a:solidFill>
                  <a:srgbClr val="0E7C86"/>
                </a:solidFill>
                <a:latin typeface="Amiri" pitchFamily="34" charset="0"/>
                <a:ea typeface="Amiri" pitchFamily="34" charset="-122"/>
                <a:cs typeface="Amiri" pitchFamily="34" charset="-120"/>
              </a:rPr>
              <a:t>مِنْ</a:t>
            </a:r>
            <a:endParaRPr lang="ar-SA" sz="1800" dirty="0"/>
          </a:p>
        </p:txBody>
      </p:sp>
      <p:sp>
        <p:nvSpPr>
          <p:cNvPr id="39" name="Text 36"/>
          <p:cNvSpPr txBox="1"/>
          <p:nvPr/>
        </p:nvSpPr>
        <p:spPr>
          <a:xfrm>
            <a:off x="2816352" y="3327197"/>
            <a:ext cx="2286000" cy="238597"/>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aṣ-gha-ru min</a:t>
            </a:r>
            <a:endParaRPr lang="en-US" sz="950" dirty="0"/>
          </a:p>
        </p:txBody>
      </p:sp>
      <p:sp>
        <p:nvSpPr>
          <p:cNvPr id="40" name="Text 37"/>
          <p:cNvSpPr txBox="1"/>
          <p:nvPr/>
        </p:nvSpPr>
        <p:spPr>
          <a:xfrm>
            <a:off x="548640" y="2950464"/>
            <a:ext cx="2130552" cy="62788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34" charset="0"/>
                <a:ea typeface="Amiri" pitchFamily="34" charset="-122"/>
                <a:cs typeface="Amiri" pitchFamily="34" charset="-120"/>
              </a:rPr>
              <a:t>حَيِّي أَصْغَرُ مِنْ حَيِّكَ</a:t>
            </a:r>
            <a:endParaRPr lang="ar-SA" sz="1600" dirty="0"/>
          </a:p>
        </p:txBody>
      </p:sp>
      <p:sp>
        <p:nvSpPr>
          <p:cNvPr id="41" name="Shape 38"/>
          <p:cNvSpPr/>
          <p:nvPr/>
        </p:nvSpPr>
        <p:spPr>
          <a:xfrm>
            <a:off x="11091672" y="2996184"/>
            <a:ext cx="548640" cy="182880"/>
          </a:xfrm>
          <a:prstGeom prst="roundRect">
            <a:avLst>
              <a:gd name="adj" fmla="val 50000"/>
            </a:avLst>
          </a:prstGeom>
          <a:solidFill>
            <a:srgbClr val="2E8B57"/>
          </a:solidFill>
          <a:ln w="12700">
            <a:solidFill>
              <a:srgbClr val="2E8B57"/>
            </a:solidFill>
            <a:prstDash val="solid"/>
          </a:ln>
        </p:spPr>
      </p:sp>
      <p:sp>
        <p:nvSpPr>
          <p:cNvPr id="42" name="Text 39"/>
          <p:cNvSpPr txBox="1"/>
          <p:nvPr/>
        </p:nvSpPr>
        <p:spPr>
          <a:xfrm>
            <a:off x="11091672" y="299618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43" name="Shape 40"/>
          <p:cNvSpPr/>
          <p:nvPr/>
        </p:nvSpPr>
        <p:spPr>
          <a:xfrm>
            <a:off x="457200" y="3633216"/>
            <a:ext cx="11274552" cy="627888"/>
          </a:xfrm>
          <a:prstGeom prst="roundRect">
            <a:avLst>
              <a:gd name="adj" fmla="val 7282"/>
            </a:avLst>
          </a:prstGeom>
          <a:solidFill>
            <a:srgbClr val="FFFFFF"/>
          </a:solidFill>
          <a:ln w="9525">
            <a:solidFill>
              <a:srgbClr val="D8D0BF"/>
            </a:solidFill>
            <a:prstDash val="solid"/>
          </a:ln>
        </p:spPr>
      </p:sp>
      <p:sp>
        <p:nvSpPr>
          <p:cNvPr id="44" name="Text 41"/>
          <p:cNvSpPr txBox="1"/>
          <p:nvPr/>
        </p:nvSpPr>
        <p:spPr>
          <a:xfrm>
            <a:off x="9829800" y="3633216"/>
            <a:ext cx="1828800"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near</a:t>
            </a:r>
            <a:endParaRPr lang="en-US" sz="1100" dirty="0"/>
          </a:p>
        </p:txBody>
      </p:sp>
      <p:sp>
        <p:nvSpPr>
          <p:cNvPr id="45" name="Text 42"/>
          <p:cNvSpPr txBox="1"/>
          <p:nvPr/>
        </p:nvSpPr>
        <p:spPr>
          <a:xfrm>
            <a:off x="7525512" y="3651504"/>
            <a:ext cx="2103120" cy="389291"/>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قَرِيبٌ</a:t>
            </a:r>
            <a:endParaRPr lang="ar-SA" sz="1800" dirty="0"/>
          </a:p>
        </p:txBody>
      </p:sp>
      <p:sp>
        <p:nvSpPr>
          <p:cNvPr id="46" name="Text 43"/>
          <p:cNvSpPr txBox="1"/>
          <p:nvPr/>
        </p:nvSpPr>
        <p:spPr>
          <a:xfrm>
            <a:off x="7479792" y="4009949"/>
            <a:ext cx="2194560" cy="238597"/>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qa-rīb</a:t>
            </a:r>
            <a:endParaRPr lang="en-US" sz="950" dirty="0"/>
          </a:p>
        </p:txBody>
      </p:sp>
      <p:sp>
        <p:nvSpPr>
          <p:cNvPr id="47" name="Text 44"/>
          <p:cNvSpPr txBox="1"/>
          <p:nvPr/>
        </p:nvSpPr>
        <p:spPr>
          <a:xfrm>
            <a:off x="5239512" y="3651504"/>
            <a:ext cx="2103120" cy="389291"/>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قَرِيبَةٌ</a:t>
            </a:r>
            <a:endParaRPr lang="ar-SA" sz="1800" dirty="0"/>
          </a:p>
        </p:txBody>
      </p:sp>
      <p:sp>
        <p:nvSpPr>
          <p:cNvPr id="48" name="Text 45"/>
          <p:cNvSpPr txBox="1"/>
          <p:nvPr/>
        </p:nvSpPr>
        <p:spPr>
          <a:xfrm>
            <a:off x="5193792" y="4009949"/>
            <a:ext cx="2194560" cy="238597"/>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qa-rī-ba</a:t>
            </a:r>
            <a:endParaRPr lang="en-US" sz="950" dirty="0"/>
          </a:p>
        </p:txBody>
      </p:sp>
      <p:sp>
        <p:nvSpPr>
          <p:cNvPr id="49" name="Text 46"/>
          <p:cNvSpPr txBox="1"/>
          <p:nvPr/>
        </p:nvSpPr>
        <p:spPr>
          <a:xfrm>
            <a:off x="2862072" y="3651504"/>
            <a:ext cx="2194560" cy="389291"/>
          </a:xfrm>
          <a:prstGeom prst="rect">
            <a:avLst/>
          </a:prstGeom>
          <a:noFill/>
          <a:ln/>
        </p:spPr>
        <p:txBody>
          <a:bodyPr wrap="square" lIns="0" tIns="0" rIns="0" bIns="0" rtlCol="0" anchor="ctr"/>
          <a:lstStyle/>
          <a:p>
            <a:pPr rtl="1" algn="ctr" indent="0" marL="0">
              <a:buNone/>
            </a:pPr>
            <a:r>
              <a:rPr lang="ar-SA" altLang="en-US" sz="1800" b="1" dirty="0">
                <a:solidFill>
                  <a:srgbClr val="C77700"/>
                </a:solidFill>
                <a:latin typeface="Amiri" pitchFamily="34" charset="0"/>
                <a:ea typeface="Amiri" pitchFamily="34" charset="-122"/>
                <a:cs typeface="Amiri" pitchFamily="34" charset="-120"/>
              </a:rPr>
              <a:t>أَ</a:t>
            </a:r>
            <a:pPr rtl="1" algn="ctr" indent="0" marL="0">
              <a:buNone/>
            </a:pPr>
            <a:r>
              <a:rPr lang="ar-SA" altLang="en-US" sz="1800" b="1" dirty="0">
                <a:solidFill>
                  <a:srgbClr val="1B3B6F"/>
                </a:solidFill>
                <a:latin typeface="Amiri" pitchFamily="34" charset="0"/>
                <a:ea typeface="Amiri" pitchFamily="34" charset="-122"/>
                <a:cs typeface="Amiri" pitchFamily="34" charset="-120"/>
              </a:rPr>
              <a:t>قْرَبُ </a:t>
            </a:r>
            <a:pPr rtl="1" algn="ctr" indent="0" marL="0">
              <a:buNone/>
            </a:pPr>
            <a:r>
              <a:rPr lang="ar-SA" altLang="en-US" sz="1800" b="1" dirty="0">
                <a:solidFill>
                  <a:srgbClr val="0E7C86"/>
                </a:solidFill>
                <a:latin typeface="Amiri" pitchFamily="34" charset="0"/>
                <a:ea typeface="Amiri" pitchFamily="34" charset="-122"/>
                <a:cs typeface="Amiri" pitchFamily="34" charset="-120"/>
              </a:rPr>
              <a:t>مِنْ</a:t>
            </a:r>
            <a:endParaRPr lang="ar-SA" sz="1800" dirty="0"/>
          </a:p>
        </p:txBody>
      </p:sp>
      <p:sp>
        <p:nvSpPr>
          <p:cNvPr id="50" name="Text 47"/>
          <p:cNvSpPr txBox="1"/>
          <p:nvPr/>
        </p:nvSpPr>
        <p:spPr>
          <a:xfrm>
            <a:off x="2816352" y="4009949"/>
            <a:ext cx="2286000" cy="238597"/>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aq-ra-bu min</a:t>
            </a:r>
            <a:endParaRPr lang="en-US" sz="950" dirty="0"/>
          </a:p>
        </p:txBody>
      </p:sp>
      <p:sp>
        <p:nvSpPr>
          <p:cNvPr id="51" name="Text 48"/>
          <p:cNvSpPr txBox="1"/>
          <p:nvPr/>
        </p:nvSpPr>
        <p:spPr>
          <a:xfrm>
            <a:off x="548640" y="3633216"/>
            <a:ext cx="2130552" cy="62788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34" charset="0"/>
                <a:ea typeface="Amiri" pitchFamily="34" charset="-122"/>
                <a:cs typeface="Amiri" pitchFamily="34" charset="-120"/>
              </a:rPr>
              <a:t>البَنْكُ أَقْرَبُ مِنَ المَتْحَفِ</a:t>
            </a:r>
            <a:endParaRPr lang="ar-SA" sz="1600" dirty="0"/>
          </a:p>
        </p:txBody>
      </p:sp>
      <p:sp>
        <p:nvSpPr>
          <p:cNvPr id="52" name="Shape 49"/>
          <p:cNvSpPr/>
          <p:nvPr/>
        </p:nvSpPr>
        <p:spPr>
          <a:xfrm>
            <a:off x="11091672" y="3678936"/>
            <a:ext cx="548640" cy="182880"/>
          </a:xfrm>
          <a:prstGeom prst="roundRect">
            <a:avLst>
              <a:gd name="adj" fmla="val 50000"/>
            </a:avLst>
          </a:prstGeom>
          <a:solidFill>
            <a:srgbClr val="2E8B57"/>
          </a:solidFill>
          <a:ln w="12700">
            <a:solidFill>
              <a:srgbClr val="2E8B57"/>
            </a:solidFill>
            <a:prstDash val="solid"/>
          </a:ln>
        </p:spPr>
      </p:sp>
      <p:sp>
        <p:nvSpPr>
          <p:cNvPr id="53" name="Text 50"/>
          <p:cNvSpPr txBox="1"/>
          <p:nvPr/>
        </p:nvSpPr>
        <p:spPr>
          <a:xfrm>
            <a:off x="11091672" y="367893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54" name="Shape 51"/>
          <p:cNvSpPr/>
          <p:nvPr/>
        </p:nvSpPr>
        <p:spPr>
          <a:xfrm>
            <a:off x="457200" y="4315968"/>
            <a:ext cx="11274552" cy="627888"/>
          </a:xfrm>
          <a:prstGeom prst="roundRect">
            <a:avLst>
              <a:gd name="adj" fmla="val 7282"/>
            </a:avLst>
          </a:prstGeom>
          <a:solidFill>
            <a:srgbClr val="F4F1EA"/>
          </a:solidFill>
          <a:ln w="9525">
            <a:solidFill>
              <a:srgbClr val="D8D0BF"/>
            </a:solidFill>
            <a:prstDash val="solid"/>
          </a:ln>
        </p:spPr>
      </p:sp>
      <p:sp>
        <p:nvSpPr>
          <p:cNvPr id="55" name="Text 52"/>
          <p:cNvSpPr txBox="1"/>
          <p:nvPr/>
        </p:nvSpPr>
        <p:spPr>
          <a:xfrm>
            <a:off x="9829800" y="4315968"/>
            <a:ext cx="1828800"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modern</a:t>
            </a:r>
            <a:endParaRPr lang="en-US" sz="1100" dirty="0"/>
          </a:p>
        </p:txBody>
      </p:sp>
      <p:sp>
        <p:nvSpPr>
          <p:cNvPr id="56" name="Text 53"/>
          <p:cNvSpPr txBox="1"/>
          <p:nvPr/>
        </p:nvSpPr>
        <p:spPr>
          <a:xfrm>
            <a:off x="7525512" y="4334256"/>
            <a:ext cx="2103120" cy="389291"/>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حَدِيثٌ</a:t>
            </a:r>
            <a:endParaRPr lang="ar-SA" sz="1800" dirty="0"/>
          </a:p>
        </p:txBody>
      </p:sp>
      <p:sp>
        <p:nvSpPr>
          <p:cNvPr id="57" name="Text 54"/>
          <p:cNvSpPr txBox="1"/>
          <p:nvPr/>
        </p:nvSpPr>
        <p:spPr>
          <a:xfrm>
            <a:off x="7479792" y="4692701"/>
            <a:ext cx="2194560" cy="238597"/>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ḥa-dīth</a:t>
            </a:r>
            <a:endParaRPr lang="en-US" sz="950" dirty="0"/>
          </a:p>
        </p:txBody>
      </p:sp>
      <p:sp>
        <p:nvSpPr>
          <p:cNvPr id="58" name="Text 55"/>
          <p:cNvSpPr txBox="1"/>
          <p:nvPr/>
        </p:nvSpPr>
        <p:spPr>
          <a:xfrm>
            <a:off x="5239512" y="4334256"/>
            <a:ext cx="2103120" cy="389291"/>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حَدِيثَةٌ</a:t>
            </a:r>
            <a:endParaRPr lang="ar-SA" sz="1800" dirty="0"/>
          </a:p>
        </p:txBody>
      </p:sp>
      <p:sp>
        <p:nvSpPr>
          <p:cNvPr id="59" name="Text 56"/>
          <p:cNvSpPr txBox="1"/>
          <p:nvPr/>
        </p:nvSpPr>
        <p:spPr>
          <a:xfrm>
            <a:off x="5193792" y="4692701"/>
            <a:ext cx="2194560" cy="238597"/>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ḥa-dī-tha</a:t>
            </a:r>
            <a:endParaRPr lang="en-US" sz="950" dirty="0"/>
          </a:p>
        </p:txBody>
      </p:sp>
      <p:sp>
        <p:nvSpPr>
          <p:cNvPr id="60" name="Text 57"/>
          <p:cNvSpPr txBox="1"/>
          <p:nvPr/>
        </p:nvSpPr>
        <p:spPr>
          <a:xfrm>
            <a:off x="2862072" y="4334256"/>
            <a:ext cx="2194560" cy="389291"/>
          </a:xfrm>
          <a:prstGeom prst="rect">
            <a:avLst/>
          </a:prstGeom>
          <a:noFill/>
          <a:ln/>
        </p:spPr>
        <p:txBody>
          <a:bodyPr wrap="square" lIns="0" tIns="0" rIns="0" bIns="0" rtlCol="0" anchor="ctr"/>
          <a:lstStyle/>
          <a:p>
            <a:pPr rtl="1" algn="ctr" indent="0" marL="0">
              <a:buNone/>
            </a:pPr>
            <a:r>
              <a:rPr lang="ar-SA" altLang="en-US" sz="1800" b="1" dirty="0">
                <a:solidFill>
                  <a:srgbClr val="C77700"/>
                </a:solidFill>
                <a:latin typeface="Amiri" pitchFamily="34" charset="0"/>
                <a:ea typeface="Amiri" pitchFamily="34" charset="-122"/>
                <a:cs typeface="Amiri" pitchFamily="34" charset="-120"/>
              </a:rPr>
              <a:t>أَ</a:t>
            </a:r>
            <a:pPr rtl="1" algn="ctr" indent="0" marL="0">
              <a:buNone/>
            </a:pPr>
            <a:r>
              <a:rPr lang="ar-SA" altLang="en-US" sz="1800" b="1" dirty="0">
                <a:solidFill>
                  <a:srgbClr val="1B3B6F"/>
                </a:solidFill>
                <a:latin typeface="Amiri" pitchFamily="34" charset="0"/>
                <a:ea typeface="Amiri" pitchFamily="34" charset="-122"/>
                <a:cs typeface="Amiri" pitchFamily="34" charset="-120"/>
              </a:rPr>
              <a:t>حْدَثُ </a:t>
            </a:r>
            <a:pPr rtl="1" algn="ctr" indent="0" marL="0">
              <a:buNone/>
            </a:pPr>
            <a:r>
              <a:rPr lang="ar-SA" altLang="en-US" sz="1800" b="1" dirty="0">
                <a:solidFill>
                  <a:srgbClr val="0E7C86"/>
                </a:solidFill>
                <a:latin typeface="Amiri" pitchFamily="34" charset="0"/>
                <a:ea typeface="Amiri" pitchFamily="34" charset="-122"/>
                <a:cs typeface="Amiri" pitchFamily="34" charset="-120"/>
              </a:rPr>
              <a:t>مِنْ</a:t>
            </a:r>
            <a:endParaRPr lang="ar-SA" sz="1800" dirty="0"/>
          </a:p>
        </p:txBody>
      </p:sp>
      <p:sp>
        <p:nvSpPr>
          <p:cNvPr id="61" name="Text 58"/>
          <p:cNvSpPr txBox="1"/>
          <p:nvPr/>
        </p:nvSpPr>
        <p:spPr>
          <a:xfrm>
            <a:off x="2816352" y="4692701"/>
            <a:ext cx="2286000" cy="238597"/>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aḥ-da-thu min</a:t>
            </a:r>
            <a:endParaRPr lang="en-US" sz="950" dirty="0"/>
          </a:p>
        </p:txBody>
      </p:sp>
      <p:sp>
        <p:nvSpPr>
          <p:cNvPr id="62" name="Text 59"/>
          <p:cNvSpPr txBox="1"/>
          <p:nvPr/>
        </p:nvSpPr>
        <p:spPr>
          <a:xfrm>
            <a:off x="548640" y="4315968"/>
            <a:ext cx="2130552" cy="62788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34" charset="0"/>
                <a:ea typeface="Amiri" pitchFamily="34" charset="-122"/>
                <a:cs typeface="Amiri" pitchFamily="34" charset="-120"/>
              </a:rPr>
              <a:t>المَكْتَبَةُ أَحْدَثُ مِنَ المَدْرَسَةِ</a:t>
            </a:r>
            <a:endParaRPr lang="ar-SA" sz="1600" dirty="0"/>
          </a:p>
        </p:txBody>
      </p:sp>
      <p:sp>
        <p:nvSpPr>
          <p:cNvPr id="63" name="Shape 60"/>
          <p:cNvSpPr/>
          <p:nvPr/>
        </p:nvSpPr>
        <p:spPr>
          <a:xfrm>
            <a:off x="457200" y="4998720"/>
            <a:ext cx="11274552" cy="627888"/>
          </a:xfrm>
          <a:prstGeom prst="roundRect">
            <a:avLst>
              <a:gd name="adj" fmla="val 7282"/>
            </a:avLst>
          </a:prstGeom>
          <a:solidFill>
            <a:srgbClr val="FFFFFF"/>
          </a:solidFill>
          <a:ln w="9525">
            <a:solidFill>
              <a:srgbClr val="D8D0BF"/>
            </a:solidFill>
            <a:prstDash val="solid"/>
          </a:ln>
        </p:spPr>
      </p:sp>
      <p:sp>
        <p:nvSpPr>
          <p:cNvPr id="64" name="Text 61"/>
          <p:cNvSpPr txBox="1"/>
          <p:nvPr/>
        </p:nvSpPr>
        <p:spPr>
          <a:xfrm>
            <a:off x="9829800" y="4998720"/>
            <a:ext cx="1828800"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good</a:t>
            </a:r>
            <a:endParaRPr lang="en-US" sz="1100" dirty="0"/>
          </a:p>
        </p:txBody>
      </p:sp>
      <p:sp>
        <p:nvSpPr>
          <p:cNvPr id="65" name="Text 62"/>
          <p:cNvSpPr txBox="1"/>
          <p:nvPr/>
        </p:nvSpPr>
        <p:spPr>
          <a:xfrm>
            <a:off x="7525512" y="5017008"/>
            <a:ext cx="2103120" cy="389291"/>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جَيِّدٌ</a:t>
            </a:r>
            <a:endParaRPr lang="ar-SA" sz="1800" dirty="0"/>
          </a:p>
        </p:txBody>
      </p:sp>
      <p:sp>
        <p:nvSpPr>
          <p:cNvPr id="66" name="Text 63"/>
          <p:cNvSpPr txBox="1"/>
          <p:nvPr/>
        </p:nvSpPr>
        <p:spPr>
          <a:xfrm>
            <a:off x="7479792" y="5375453"/>
            <a:ext cx="2194560" cy="238597"/>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jay-yid</a:t>
            </a:r>
            <a:endParaRPr lang="en-US" sz="950" dirty="0"/>
          </a:p>
        </p:txBody>
      </p:sp>
      <p:sp>
        <p:nvSpPr>
          <p:cNvPr id="67" name="Text 64"/>
          <p:cNvSpPr txBox="1"/>
          <p:nvPr/>
        </p:nvSpPr>
        <p:spPr>
          <a:xfrm>
            <a:off x="5239512" y="5017008"/>
            <a:ext cx="2103120" cy="389291"/>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جَيِّدَةٌ</a:t>
            </a:r>
            <a:endParaRPr lang="ar-SA" sz="1800" dirty="0"/>
          </a:p>
        </p:txBody>
      </p:sp>
      <p:sp>
        <p:nvSpPr>
          <p:cNvPr id="68" name="Text 65"/>
          <p:cNvSpPr txBox="1"/>
          <p:nvPr/>
        </p:nvSpPr>
        <p:spPr>
          <a:xfrm>
            <a:off x="5193792" y="5375453"/>
            <a:ext cx="2194560" cy="238597"/>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jay-yi-da</a:t>
            </a:r>
            <a:endParaRPr lang="en-US" sz="950" dirty="0"/>
          </a:p>
        </p:txBody>
      </p:sp>
      <p:sp>
        <p:nvSpPr>
          <p:cNvPr id="69" name="Text 66"/>
          <p:cNvSpPr txBox="1"/>
          <p:nvPr/>
        </p:nvSpPr>
        <p:spPr>
          <a:xfrm>
            <a:off x="2862072" y="5017008"/>
            <a:ext cx="2194560" cy="389291"/>
          </a:xfrm>
          <a:prstGeom prst="rect">
            <a:avLst/>
          </a:prstGeom>
          <a:noFill/>
          <a:ln/>
        </p:spPr>
        <p:txBody>
          <a:bodyPr wrap="square" lIns="0" tIns="0" rIns="0" bIns="0" rtlCol="0" anchor="ctr"/>
          <a:lstStyle/>
          <a:p>
            <a:pPr rtl="1" algn="ctr" indent="0" marL="0">
              <a:buNone/>
            </a:pPr>
            <a:r>
              <a:rPr lang="ar-SA" altLang="en-US" sz="1800" b="1" dirty="0">
                <a:solidFill>
                  <a:srgbClr val="C77700"/>
                </a:solidFill>
                <a:latin typeface="Amiri" pitchFamily="34" charset="0"/>
                <a:ea typeface="Amiri" pitchFamily="34" charset="-122"/>
                <a:cs typeface="Amiri" pitchFamily="34" charset="-120"/>
              </a:rPr>
              <a:t>أَ</a:t>
            </a:r>
            <a:pPr rtl="1" algn="ctr" indent="0" marL="0">
              <a:buNone/>
            </a:pPr>
            <a:r>
              <a:rPr lang="ar-SA" altLang="en-US" sz="1800" b="1" dirty="0">
                <a:solidFill>
                  <a:srgbClr val="1B3B6F"/>
                </a:solidFill>
                <a:latin typeface="Amiri" pitchFamily="34" charset="0"/>
                <a:ea typeface="Amiri" pitchFamily="34" charset="-122"/>
                <a:cs typeface="Amiri" pitchFamily="34" charset="-120"/>
              </a:rPr>
              <a:t>فْضَلُ </a:t>
            </a:r>
            <a:pPr rtl="1" algn="ctr" indent="0" marL="0">
              <a:buNone/>
            </a:pPr>
            <a:r>
              <a:rPr lang="ar-SA" altLang="en-US" sz="1800" b="1" dirty="0">
                <a:solidFill>
                  <a:srgbClr val="0E7C86"/>
                </a:solidFill>
                <a:latin typeface="Amiri" pitchFamily="34" charset="0"/>
                <a:ea typeface="Amiri" pitchFamily="34" charset="-122"/>
                <a:cs typeface="Amiri" pitchFamily="34" charset="-120"/>
              </a:rPr>
              <a:t>مِنْ</a:t>
            </a:r>
            <a:endParaRPr lang="ar-SA" sz="1800" dirty="0"/>
          </a:p>
        </p:txBody>
      </p:sp>
      <p:sp>
        <p:nvSpPr>
          <p:cNvPr id="70" name="Text 67"/>
          <p:cNvSpPr txBox="1"/>
          <p:nvPr/>
        </p:nvSpPr>
        <p:spPr>
          <a:xfrm>
            <a:off x="2816352" y="5375453"/>
            <a:ext cx="2286000" cy="238597"/>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af-ḍa-lu min · irregular</a:t>
            </a:r>
            <a:endParaRPr lang="en-US" sz="950" dirty="0"/>
          </a:p>
        </p:txBody>
      </p:sp>
      <p:sp>
        <p:nvSpPr>
          <p:cNvPr id="71" name="Text 68"/>
          <p:cNvSpPr txBox="1"/>
          <p:nvPr/>
        </p:nvSpPr>
        <p:spPr>
          <a:xfrm>
            <a:off x="548640" y="4998720"/>
            <a:ext cx="2130552" cy="62788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34" charset="0"/>
                <a:ea typeface="Amiri" pitchFamily="34" charset="-122"/>
                <a:cs typeface="Amiri" pitchFamily="34" charset="-120"/>
              </a:rPr>
              <a:t>الخَدَمَاتُ هُنَا أَفْضَلُ</a:t>
            </a:r>
            <a:endParaRPr lang="ar-SA" sz="1600" dirty="0"/>
          </a:p>
        </p:txBody>
      </p:sp>
      <p:sp>
        <p:nvSpPr>
          <p:cNvPr id="72" name="Shape 69"/>
          <p:cNvSpPr/>
          <p:nvPr/>
        </p:nvSpPr>
        <p:spPr>
          <a:xfrm>
            <a:off x="457200" y="5681472"/>
            <a:ext cx="11274552" cy="627888"/>
          </a:xfrm>
          <a:prstGeom prst="roundRect">
            <a:avLst>
              <a:gd name="adj" fmla="val 7282"/>
            </a:avLst>
          </a:prstGeom>
          <a:solidFill>
            <a:srgbClr val="F4F1EA"/>
          </a:solidFill>
          <a:ln w="9525">
            <a:solidFill>
              <a:srgbClr val="D8D0BF"/>
            </a:solidFill>
            <a:prstDash val="solid"/>
          </a:ln>
        </p:spPr>
      </p:sp>
      <p:sp>
        <p:nvSpPr>
          <p:cNvPr id="73" name="Text 70"/>
          <p:cNvSpPr txBox="1"/>
          <p:nvPr/>
        </p:nvSpPr>
        <p:spPr>
          <a:xfrm>
            <a:off x="9829800" y="5681472"/>
            <a:ext cx="1828800"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crowded</a:t>
            </a:r>
            <a:endParaRPr lang="en-US" sz="1100" dirty="0"/>
          </a:p>
        </p:txBody>
      </p:sp>
      <p:sp>
        <p:nvSpPr>
          <p:cNvPr id="74" name="Text 71"/>
          <p:cNvSpPr txBox="1"/>
          <p:nvPr/>
        </p:nvSpPr>
        <p:spPr>
          <a:xfrm>
            <a:off x="7525512" y="5699760"/>
            <a:ext cx="2103120" cy="389291"/>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مُزْدَحِمٌ</a:t>
            </a:r>
            <a:endParaRPr lang="ar-SA" sz="1800" dirty="0"/>
          </a:p>
        </p:txBody>
      </p:sp>
      <p:sp>
        <p:nvSpPr>
          <p:cNvPr id="75" name="Text 72"/>
          <p:cNvSpPr txBox="1"/>
          <p:nvPr/>
        </p:nvSpPr>
        <p:spPr>
          <a:xfrm>
            <a:off x="7479792" y="6058205"/>
            <a:ext cx="2194560" cy="238597"/>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muz-da-ḥim</a:t>
            </a:r>
            <a:endParaRPr lang="en-US" sz="950" dirty="0"/>
          </a:p>
        </p:txBody>
      </p:sp>
      <p:sp>
        <p:nvSpPr>
          <p:cNvPr id="76" name="Text 73"/>
          <p:cNvSpPr txBox="1"/>
          <p:nvPr/>
        </p:nvSpPr>
        <p:spPr>
          <a:xfrm>
            <a:off x="5239512" y="5699760"/>
            <a:ext cx="2103120" cy="389291"/>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مُزْدَحِمَةٌ</a:t>
            </a:r>
            <a:endParaRPr lang="ar-SA" sz="1800" dirty="0"/>
          </a:p>
        </p:txBody>
      </p:sp>
      <p:sp>
        <p:nvSpPr>
          <p:cNvPr id="77" name="Text 74"/>
          <p:cNvSpPr txBox="1"/>
          <p:nvPr/>
        </p:nvSpPr>
        <p:spPr>
          <a:xfrm>
            <a:off x="5193792" y="6058205"/>
            <a:ext cx="2194560" cy="238597"/>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muz-da-ḥi-ma</a:t>
            </a:r>
            <a:endParaRPr lang="en-US" sz="950" dirty="0"/>
          </a:p>
        </p:txBody>
      </p:sp>
      <p:sp>
        <p:nvSpPr>
          <p:cNvPr id="78" name="Text 75"/>
          <p:cNvSpPr txBox="1"/>
          <p:nvPr/>
        </p:nvSpPr>
        <p:spPr>
          <a:xfrm>
            <a:off x="2862072" y="5699760"/>
            <a:ext cx="2194560" cy="389291"/>
          </a:xfrm>
          <a:prstGeom prst="rect">
            <a:avLst/>
          </a:prstGeom>
          <a:noFill/>
          <a:ln/>
        </p:spPr>
        <p:txBody>
          <a:bodyPr wrap="square" lIns="0" tIns="0" rIns="0" bIns="0" rtlCol="0" anchor="ctr"/>
          <a:lstStyle/>
          <a:p>
            <a:pPr rtl="1" algn="ctr" indent="0" marL="0">
              <a:buNone/>
            </a:pPr>
            <a:r>
              <a:rPr lang="ar-SA" altLang="en-US" sz="1800" b="1" dirty="0">
                <a:solidFill>
                  <a:srgbClr val="C77700"/>
                </a:solidFill>
                <a:latin typeface="Amiri" pitchFamily="34" charset="0"/>
                <a:ea typeface="Amiri" pitchFamily="34" charset="-122"/>
                <a:cs typeface="Amiri" pitchFamily="34" charset="-120"/>
              </a:rPr>
              <a:t>أَكْثَرُ</a:t>
            </a:r>
            <a:pPr rtl="1" algn="ctr" indent="0" marL="0">
              <a:buNone/>
            </a:pPr>
            <a:r>
              <a:rPr lang="ar-SA" altLang="en-US" sz="1800" b="1" dirty="0">
                <a:solidFill>
                  <a:srgbClr val="1B3B6F"/>
                </a:solidFill>
                <a:latin typeface="Amiri" pitchFamily="34" charset="0"/>
                <a:ea typeface="Amiri" pitchFamily="34" charset="-122"/>
                <a:cs typeface="Amiri" pitchFamily="34" charset="-120"/>
              </a:rPr>
              <a:t> ازْدِحَامًا</a:t>
            </a:r>
            <a:endParaRPr lang="ar-SA" sz="1800" dirty="0"/>
          </a:p>
        </p:txBody>
      </p:sp>
      <p:sp>
        <p:nvSpPr>
          <p:cNvPr id="79" name="Text 76"/>
          <p:cNvSpPr txBox="1"/>
          <p:nvPr/>
        </p:nvSpPr>
        <p:spPr>
          <a:xfrm>
            <a:off x="2816352" y="6058205"/>
            <a:ext cx="2286000" cy="238597"/>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ak-tha-ru zdi-ḥā-man</a:t>
            </a:r>
            <a:endParaRPr lang="en-US" sz="950" dirty="0"/>
          </a:p>
        </p:txBody>
      </p:sp>
      <p:sp>
        <p:nvSpPr>
          <p:cNvPr id="80" name="Text 77"/>
          <p:cNvSpPr txBox="1"/>
          <p:nvPr/>
        </p:nvSpPr>
        <p:spPr>
          <a:xfrm>
            <a:off x="548640" y="5681472"/>
            <a:ext cx="2130552" cy="62788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34" charset="0"/>
                <a:ea typeface="Amiri" pitchFamily="34" charset="-122"/>
                <a:cs typeface="Amiri" pitchFamily="34" charset="-120"/>
              </a:rPr>
              <a:t>المَدِينَةُ أَكْثَرُ ازْدِحَامًا</a:t>
            </a:r>
            <a:endParaRPr lang="ar-SA" sz="1600" dirty="0"/>
          </a:p>
        </p:txBody>
      </p:sp>
      <p:sp>
        <p:nvSpPr>
          <p:cNvPr id="81" name="Text 7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13 / 49</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TC-L08 · Buildings &amp; Services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KEY WORDS · GROUP 6 · DEVELOP · WEBSITE P4-L02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Talking about the city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المَدِينَةُ الحَدِيثَةُ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3 · Lesson 2 of 3</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1</a:t>
            </a:r>
            <a:endParaRPr lang="en-US" sz="1000" dirty="0"/>
          </a:p>
        </p:txBody>
      </p:sp>
      <p:sp>
        <p:nvSpPr>
          <p:cNvPr id="18" name="Shape 15"/>
          <p:cNvSpPr/>
          <p:nvPr/>
        </p:nvSpPr>
        <p:spPr>
          <a:xfrm>
            <a:off x="8604504" y="1938528"/>
            <a:ext cx="1020470"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noun + nisba</a:t>
            </a:r>
            <a:endParaRPr lang="en-US" sz="800" dirty="0"/>
          </a:p>
        </p:txBody>
      </p:sp>
      <p:sp>
        <p:nvSpPr>
          <p:cNvPr id="20" name="Text 17"/>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حَيٌّ </a:t>
            </a:r>
            <a:pPr rtl="1" algn="r" indent="0" marL="0">
              <a:buNone/>
            </a:pPr>
            <a:r>
              <a:rPr lang="ar-SA" altLang="en-US" sz="3000" b="1" dirty="0">
                <a:solidFill>
                  <a:srgbClr val="7B3FA0"/>
                </a:solidFill>
                <a:latin typeface="Amiri" pitchFamily="34" charset="0"/>
                <a:ea typeface="Amiri" pitchFamily="34" charset="-122"/>
                <a:cs typeface="Amiri" pitchFamily="34" charset="-120"/>
              </a:rPr>
              <a:t>سَكَنِ</a:t>
            </a:r>
            <a:pPr rtl="1" algn="r" indent="0" marL="0">
              <a:buNone/>
            </a:pPr>
            <a:r>
              <a:rPr lang="ar-SA" altLang="en-US" sz="3000" b="1" dirty="0">
                <a:solidFill>
                  <a:srgbClr val="D6336C"/>
                </a:solidFill>
                <a:latin typeface="Amiri" pitchFamily="34" charset="0"/>
                <a:ea typeface="Amiri" pitchFamily="34" charset="-122"/>
                <a:cs typeface="Amiri" pitchFamily="34" charset="-120"/>
              </a:rPr>
              <a:t>يٌّ</a:t>
            </a:r>
            <a:endParaRPr lang="ar-SA" sz="3000" dirty="0"/>
          </a:p>
        </p:txBody>
      </p:sp>
      <p:sp>
        <p:nvSpPr>
          <p:cNvPr id="21" name="Text 18"/>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a residential district</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ḥayy sa-ka-niyy</a:t>
            </a:r>
            <a:endParaRPr lang="en-US" sz="1350" dirty="0"/>
          </a:p>
        </p:txBody>
      </p:sp>
      <p:sp>
        <p:nvSpPr>
          <p:cNvPr id="22" name="Shape 19"/>
          <p:cNvSpPr/>
          <p:nvPr/>
        </p:nvSpPr>
        <p:spPr>
          <a:xfrm>
            <a:off x="9966960" y="3438144"/>
            <a:ext cx="1636776" cy="438912"/>
          </a:xfrm>
          <a:prstGeom prst="roundRect">
            <a:avLst>
              <a:gd name="adj" fmla="val 10417"/>
            </a:avLst>
          </a:prstGeom>
          <a:solidFill>
            <a:srgbClr val="F4F1EA"/>
          </a:solidFill>
          <a:ln w="9525">
            <a:solidFill>
              <a:srgbClr val="F4F1EA"/>
            </a:solidFill>
            <a:prstDash val="solid"/>
          </a:ln>
        </p:spPr>
      </p:sp>
      <p:sp>
        <p:nvSpPr>
          <p:cNvPr id="23" name="Text 20"/>
          <p:cNvSpPr txBox="1"/>
          <p:nvPr/>
        </p:nvSpPr>
        <p:spPr>
          <a:xfrm>
            <a:off x="100218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sg.</a:t>
            </a:r>
            <a:endParaRPr lang="en-US" sz="750" dirty="0"/>
          </a:p>
        </p:txBody>
      </p:sp>
      <p:sp>
        <p:nvSpPr>
          <p:cNvPr id="24" name="Text 21"/>
          <p:cNvSpPr txBox="1"/>
          <p:nvPr/>
        </p:nvSpPr>
        <p:spPr>
          <a:xfrm>
            <a:off x="100126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حَيٌّ</a:t>
            </a:r>
            <a:endParaRPr lang="ar-SA" sz="1500" dirty="0"/>
          </a:p>
        </p:txBody>
      </p:sp>
      <p:sp>
        <p:nvSpPr>
          <p:cNvPr id="25" name="Shape 22"/>
          <p:cNvSpPr/>
          <p:nvPr/>
        </p:nvSpPr>
        <p:spPr>
          <a:xfrm>
            <a:off x="8238744" y="3438144"/>
            <a:ext cx="1636776" cy="438912"/>
          </a:xfrm>
          <a:prstGeom prst="roundRect">
            <a:avLst>
              <a:gd name="adj" fmla="val 10417"/>
            </a:avLst>
          </a:prstGeom>
          <a:solidFill>
            <a:srgbClr val="F4F1EA"/>
          </a:solidFill>
          <a:ln w="9525">
            <a:solidFill>
              <a:srgbClr val="F4F1EA"/>
            </a:solidFill>
            <a:prstDash val="solid"/>
          </a:ln>
        </p:spPr>
      </p:sp>
      <p:sp>
        <p:nvSpPr>
          <p:cNvPr id="26" name="Text 23"/>
          <p:cNvSpPr txBox="1"/>
          <p:nvPr/>
        </p:nvSpPr>
        <p:spPr>
          <a:xfrm>
            <a:off x="8293608"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pl.</a:t>
            </a:r>
            <a:endParaRPr lang="en-US" sz="750" dirty="0"/>
          </a:p>
        </p:txBody>
      </p:sp>
      <p:sp>
        <p:nvSpPr>
          <p:cNvPr id="27" name="Text 24"/>
          <p:cNvSpPr txBox="1"/>
          <p:nvPr/>
        </p:nvSpPr>
        <p:spPr>
          <a:xfrm>
            <a:off x="8284464"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أَحْيَاءٌ</a:t>
            </a:r>
            <a:endParaRPr lang="ar-SA" sz="1500" dirty="0"/>
          </a:p>
        </p:txBody>
      </p:sp>
      <p:sp>
        <p:nvSpPr>
          <p:cNvPr id="28" name="Shape 25"/>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389120" y="1920240"/>
            <a:ext cx="310896" cy="310896"/>
          </a:xfrm>
          <a:prstGeom prst="ellipse">
            <a:avLst/>
          </a:prstGeom>
          <a:solidFill>
            <a:srgbClr val="F4F1EA"/>
          </a:solidFill>
          <a:ln w="12700">
            <a:solidFill>
              <a:srgbClr val="F4F1EA"/>
            </a:solidFill>
            <a:prstDash val="solid"/>
          </a:ln>
        </p:spPr>
      </p:sp>
      <p:sp>
        <p:nvSpPr>
          <p:cNvPr id="30" name="Text 27"/>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2</a:t>
            </a:r>
            <a:endParaRPr lang="en-US" sz="1000" dirty="0"/>
          </a:p>
        </p:txBody>
      </p:sp>
      <p:sp>
        <p:nvSpPr>
          <p:cNvPr id="31" name="Shape 28"/>
          <p:cNvSpPr/>
          <p:nvPr/>
        </p:nvSpPr>
        <p:spPr>
          <a:xfrm>
            <a:off x="4782312" y="1938528"/>
            <a:ext cx="1269187" cy="256032"/>
          </a:xfrm>
          <a:prstGeom prst="roundRect">
            <a:avLst>
              <a:gd name="adj" fmla="val 50000"/>
            </a:avLst>
          </a:prstGeom>
          <a:solidFill>
            <a:srgbClr val="EFE7D2"/>
          </a:solidFill>
          <a:ln w="12700">
            <a:solidFill>
              <a:srgbClr val="EFE7D2"/>
            </a:solidFill>
            <a:prstDash val="solid"/>
          </a:ln>
        </p:spPr>
      </p:sp>
      <p:sp>
        <p:nvSpPr>
          <p:cNvPr id="32" name="Text 29"/>
          <p:cNvSpPr txBox="1"/>
          <p:nvPr/>
        </p:nvSpPr>
        <p:spPr>
          <a:xfrm>
            <a:off x="4782312" y="1938528"/>
            <a:ext cx="1269187"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noun + adjective</a:t>
            </a:r>
            <a:endParaRPr lang="en-US" sz="800" dirty="0"/>
          </a:p>
        </p:txBody>
      </p:sp>
      <p:sp>
        <p:nvSpPr>
          <p:cNvPr id="33" name="Text 30"/>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مَدِينَةٌ ذَكِيَّةٌ</a:t>
            </a:r>
            <a:endParaRPr lang="ar-SA" sz="3000" dirty="0"/>
          </a:p>
        </p:txBody>
      </p:sp>
      <p:sp>
        <p:nvSpPr>
          <p:cNvPr id="34" name="Text 31"/>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a smart city</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ma-dī-na dha-kiy-ya</a:t>
            </a:r>
            <a:endParaRPr lang="en-US" sz="1350" dirty="0"/>
          </a:p>
        </p:txBody>
      </p:sp>
      <p:sp>
        <p:nvSpPr>
          <p:cNvPr id="35" name="Shape 32"/>
          <p:cNvSpPr/>
          <p:nvPr/>
        </p:nvSpPr>
        <p:spPr>
          <a:xfrm>
            <a:off x="6144768" y="3438144"/>
            <a:ext cx="1636776" cy="438912"/>
          </a:xfrm>
          <a:prstGeom prst="roundRect">
            <a:avLst>
              <a:gd name="adj" fmla="val 10417"/>
            </a:avLst>
          </a:prstGeom>
          <a:solidFill>
            <a:srgbClr val="F4F1EA"/>
          </a:solidFill>
          <a:ln w="9525">
            <a:solidFill>
              <a:srgbClr val="F4F1EA"/>
            </a:solidFill>
            <a:prstDash val="solid"/>
          </a:ln>
        </p:spPr>
      </p:sp>
      <p:sp>
        <p:nvSpPr>
          <p:cNvPr id="36" name="Text 33"/>
          <p:cNvSpPr txBox="1"/>
          <p:nvPr/>
        </p:nvSpPr>
        <p:spPr>
          <a:xfrm>
            <a:off x="6199632"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sg.</a:t>
            </a:r>
            <a:endParaRPr lang="en-US" sz="750" dirty="0"/>
          </a:p>
        </p:txBody>
      </p:sp>
      <p:sp>
        <p:nvSpPr>
          <p:cNvPr id="37" name="Text 34"/>
          <p:cNvSpPr txBox="1"/>
          <p:nvPr/>
        </p:nvSpPr>
        <p:spPr>
          <a:xfrm>
            <a:off x="6190488"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مَدِينَةٌ</a:t>
            </a:r>
            <a:endParaRPr lang="ar-SA" sz="1500" dirty="0"/>
          </a:p>
        </p:txBody>
      </p:sp>
      <p:sp>
        <p:nvSpPr>
          <p:cNvPr id="38" name="Shape 35"/>
          <p:cNvSpPr/>
          <p:nvPr/>
        </p:nvSpPr>
        <p:spPr>
          <a:xfrm>
            <a:off x="4416552" y="3438144"/>
            <a:ext cx="1636776" cy="438912"/>
          </a:xfrm>
          <a:prstGeom prst="roundRect">
            <a:avLst>
              <a:gd name="adj" fmla="val 10417"/>
            </a:avLst>
          </a:prstGeom>
          <a:solidFill>
            <a:srgbClr val="F4F1EA"/>
          </a:solidFill>
          <a:ln w="9525">
            <a:solidFill>
              <a:srgbClr val="F4F1EA"/>
            </a:solidFill>
            <a:prstDash val="solid"/>
          </a:ln>
        </p:spPr>
      </p:sp>
      <p:sp>
        <p:nvSpPr>
          <p:cNvPr id="39" name="Text 36"/>
          <p:cNvSpPr txBox="1"/>
          <p:nvPr/>
        </p:nvSpPr>
        <p:spPr>
          <a:xfrm>
            <a:off x="4471416"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pl.</a:t>
            </a:r>
            <a:endParaRPr lang="en-US" sz="750" dirty="0"/>
          </a:p>
        </p:txBody>
      </p:sp>
      <p:sp>
        <p:nvSpPr>
          <p:cNvPr id="40" name="Text 37"/>
          <p:cNvSpPr txBox="1"/>
          <p:nvPr/>
        </p:nvSpPr>
        <p:spPr>
          <a:xfrm>
            <a:off x="4462272"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مُدُنٌ</a:t>
            </a:r>
            <a:endParaRPr lang="ar-SA" sz="1500" dirty="0"/>
          </a:p>
        </p:txBody>
      </p:sp>
      <p:sp>
        <p:nvSpPr>
          <p:cNvPr id="41" name="Shape 38"/>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66928" y="1920240"/>
            <a:ext cx="310896" cy="310896"/>
          </a:xfrm>
          <a:prstGeom prst="ellipse">
            <a:avLst/>
          </a:prstGeom>
          <a:solidFill>
            <a:srgbClr val="F4F1EA"/>
          </a:solidFill>
          <a:ln w="12700">
            <a:solidFill>
              <a:srgbClr val="F4F1EA"/>
            </a:solidFill>
            <a:prstDash val="solid"/>
          </a:ln>
        </p:spPr>
      </p:sp>
      <p:sp>
        <p:nvSpPr>
          <p:cNvPr id="43" name="Text 40"/>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3</a:t>
            </a:r>
            <a:endParaRPr lang="en-US" sz="1000" dirty="0"/>
          </a:p>
        </p:txBody>
      </p:sp>
      <p:sp>
        <p:nvSpPr>
          <p:cNvPr id="44" name="Shape 41"/>
          <p:cNvSpPr/>
          <p:nvPr/>
        </p:nvSpPr>
        <p:spPr>
          <a:xfrm>
            <a:off x="960120" y="1938528"/>
            <a:ext cx="1269187" cy="256032"/>
          </a:xfrm>
          <a:prstGeom prst="roundRect">
            <a:avLst>
              <a:gd name="adj" fmla="val 50000"/>
            </a:avLst>
          </a:prstGeom>
          <a:solidFill>
            <a:srgbClr val="EFE7D2"/>
          </a:solidFill>
          <a:ln w="12700">
            <a:solidFill>
              <a:srgbClr val="EFE7D2"/>
            </a:solidFill>
            <a:prstDash val="solid"/>
          </a:ln>
        </p:spPr>
      </p:sp>
      <p:sp>
        <p:nvSpPr>
          <p:cNvPr id="45" name="Text 42"/>
          <p:cNvSpPr txBox="1"/>
          <p:nvPr/>
        </p:nvSpPr>
        <p:spPr>
          <a:xfrm>
            <a:off x="960120" y="1938528"/>
            <a:ext cx="1269187"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noun + adjective</a:t>
            </a:r>
            <a:endParaRPr lang="en-US" sz="800" dirty="0"/>
          </a:p>
        </p:txBody>
      </p:sp>
      <p:sp>
        <p:nvSpPr>
          <p:cNvPr id="46" name="Text 43"/>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مَسَاحَاتٌ خَضْرَاءُ</a:t>
            </a:r>
            <a:endParaRPr lang="ar-SA" sz="3000" dirty="0"/>
          </a:p>
        </p:txBody>
      </p:sp>
      <p:sp>
        <p:nvSpPr>
          <p:cNvPr id="47" name="Text 44"/>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green spaces</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ma-sā-ḥāt khaḍ-rāʾ</a:t>
            </a:r>
            <a:endParaRPr lang="en-US" sz="1350" dirty="0"/>
          </a:p>
        </p:txBody>
      </p:sp>
      <p:sp>
        <p:nvSpPr>
          <p:cNvPr id="48" name="Shape 45"/>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9" name="Shape 46"/>
          <p:cNvSpPr/>
          <p:nvPr/>
        </p:nvSpPr>
        <p:spPr>
          <a:xfrm>
            <a:off x="8211312" y="4261104"/>
            <a:ext cx="310896" cy="310896"/>
          </a:xfrm>
          <a:prstGeom prst="ellipse">
            <a:avLst/>
          </a:prstGeom>
          <a:solidFill>
            <a:srgbClr val="F4F1EA"/>
          </a:solidFill>
          <a:ln w="12700">
            <a:solidFill>
              <a:srgbClr val="F4F1EA"/>
            </a:solidFill>
            <a:prstDash val="solid"/>
          </a:ln>
        </p:spPr>
      </p:sp>
      <p:sp>
        <p:nvSpPr>
          <p:cNvPr id="50" name="Text 47"/>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4</a:t>
            </a:r>
            <a:endParaRPr lang="en-US" sz="1000" dirty="0"/>
          </a:p>
        </p:txBody>
      </p:sp>
      <p:sp>
        <p:nvSpPr>
          <p:cNvPr id="51" name="Shape 48"/>
          <p:cNvSpPr/>
          <p:nvPr/>
        </p:nvSpPr>
        <p:spPr>
          <a:xfrm>
            <a:off x="8604504" y="4279392"/>
            <a:ext cx="1020470" cy="256032"/>
          </a:xfrm>
          <a:prstGeom prst="roundRect">
            <a:avLst>
              <a:gd name="adj" fmla="val 50000"/>
            </a:avLst>
          </a:prstGeom>
          <a:solidFill>
            <a:srgbClr val="EFE7D2"/>
          </a:solidFill>
          <a:ln w="12700">
            <a:solidFill>
              <a:srgbClr val="EFE7D2"/>
            </a:solidFill>
            <a:prstDash val="solid"/>
          </a:ln>
        </p:spPr>
      </p:sp>
      <p:sp>
        <p:nvSpPr>
          <p:cNvPr id="52" name="Text 49"/>
          <p:cNvSpPr txBox="1"/>
          <p:nvPr/>
        </p:nvSpPr>
        <p:spPr>
          <a:xfrm>
            <a:off x="8604504" y="4279392"/>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noun + nisba</a:t>
            </a:r>
            <a:endParaRPr lang="en-US" sz="800" dirty="0"/>
          </a:p>
        </p:txBody>
      </p:sp>
      <p:sp>
        <p:nvSpPr>
          <p:cNvPr id="53" name="Text 50"/>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الاِزْدِحَامُ </a:t>
            </a:r>
            <a:pPr rtl="1" algn="r" indent="0" marL="0">
              <a:buNone/>
            </a:pPr>
            <a:r>
              <a:rPr lang="ar-SA" altLang="en-US" sz="3000" b="1" dirty="0">
                <a:solidFill>
                  <a:srgbClr val="7B3FA0"/>
                </a:solidFill>
                <a:latin typeface="Amiri" pitchFamily="34" charset="0"/>
                <a:ea typeface="Amiri" pitchFamily="34" charset="-122"/>
                <a:cs typeface="Amiri" pitchFamily="34" charset="-120"/>
              </a:rPr>
              <a:t>المُرُورِ</a:t>
            </a:r>
            <a:pPr rtl="1" algn="r" indent="0" marL="0">
              <a:buNone/>
            </a:pPr>
            <a:r>
              <a:rPr lang="ar-SA" altLang="en-US" sz="3000" b="1" dirty="0">
                <a:solidFill>
                  <a:srgbClr val="D6336C"/>
                </a:solidFill>
                <a:latin typeface="Amiri" pitchFamily="34" charset="0"/>
                <a:ea typeface="Amiri" pitchFamily="34" charset="-122"/>
                <a:cs typeface="Amiri" pitchFamily="34" charset="-120"/>
              </a:rPr>
              <a:t>يُّ</a:t>
            </a:r>
            <a:endParaRPr lang="ar-SA" sz="3000" dirty="0"/>
          </a:p>
        </p:txBody>
      </p:sp>
      <p:sp>
        <p:nvSpPr>
          <p:cNvPr id="54" name="Text 51"/>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traffic congestion</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al-iz-di-ḥām al-mu-rū-riyy</a:t>
            </a:r>
            <a:endParaRPr lang="en-US" sz="1350" dirty="0"/>
          </a:p>
        </p:txBody>
      </p:sp>
      <p:sp>
        <p:nvSpPr>
          <p:cNvPr id="55" name="Shape 52"/>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4389120" y="4261104"/>
            <a:ext cx="310896" cy="310896"/>
          </a:xfrm>
          <a:prstGeom prst="ellipse">
            <a:avLst/>
          </a:prstGeom>
          <a:solidFill>
            <a:srgbClr val="F4F1EA"/>
          </a:solidFill>
          <a:ln w="12700">
            <a:solidFill>
              <a:srgbClr val="F4F1EA"/>
            </a:solidFill>
            <a:prstDash val="solid"/>
          </a:ln>
        </p:spPr>
      </p:sp>
      <p:sp>
        <p:nvSpPr>
          <p:cNvPr id="57" name="Text 54"/>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5</a:t>
            </a:r>
            <a:endParaRPr lang="en-US" sz="1000" dirty="0"/>
          </a:p>
        </p:txBody>
      </p:sp>
      <p:sp>
        <p:nvSpPr>
          <p:cNvPr id="58" name="Shape 55"/>
          <p:cNvSpPr/>
          <p:nvPr/>
        </p:nvSpPr>
        <p:spPr>
          <a:xfrm>
            <a:off x="4782312" y="4279392"/>
            <a:ext cx="1020470" cy="256032"/>
          </a:xfrm>
          <a:prstGeom prst="roundRect">
            <a:avLst>
              <a:gd name="adj" fmla="val 50000"/>
            </a:avLst>
          </a:prstGeom>
          <a:solidFill>
            <a:srgbClr val="EFE7D2"/>
          </a:solidFill>
          <a:ln w="12700">
            <a:solidFill>
              <a:srgbClr val="EFE7D2"/>
            </a:solidFill>
            <a:prstDash val="solid"/>
          </a:ln>
        </p:spPr>
      </p:sp>
      <p:sp>
        <p:nvSpPr>
          <p:cNvPr id="59" name="Text 56"/>
          <p:cNvSpPr txBox="1"/>
          <p:nvPr/>
        </p:nvSpPr>
        <p:spPr>
          <a:xfrm>
            <a:off x="4782312" y="4279392"/>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noun + nisba</a:t>
            </a:r>
            <a:endParaRPr lang="en-US" sz="800" dirty="0"/>
          </a:p>
        </p:txBody>
      </p:sp>
      <p:sp>
        <p:nvSpPr>
          <p:cNvPr id="60" name="Text 57"/>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التَّلَوُّثُ </a:t>
            </a:r>
            <a:pPr rtl="1" algn="r" indent="0" marL="0">
              <a:buNone/>
            </a:pPr>
            <a:r>
              <a:rPr lang="ar-SA" altLang="en-US" sz="3000" b="1" dirty="0">
                <a:solidFill>
                  <a:srgbClr val="7B3FA0"/>
                </a:solidFill>
                <a:latin typeface="Amiri" pitchFamily="34" charset="0"/>
                <a:ea typeface="Amiri" pitchFamily="34" charset="-122"/>
                <a:cs typeface="Amiri" pitchFamily="34" charset="-120"/>
              </a:rPr>
              <a:t>الضَّوْضَائِ</a:t>
            </a:r>
            <a:pPr rtl="1" algn="r" indent="0" marL="0">
              <a:buNone/>
            </a:pPr>
            <a:r>
              <a:rPr lang="ar-SA" altLang="en-US" sz="3000" b="1" dirty="0">
                <a:solidFill>
                  <a:srgbClr val="D6336C"/>
                </a:solidFill>
                <a:latin typeface="Amiri" pitchFamily="34" charset="0"/>
                <a:ea typeface="Amiri" pitchFamily="34" charset="-122"/>
                <a:cs typeface="Amiri" pitchFamily="34" charset="-120"/>
              </a:rPr>
              <a:t>يُّ</a:t>
            </a:r>
            <a:endParaRPr lang="ar-SA" sz="3000" dirty="0"/>
          </a:p>
        </p:txBody>
      </p:sp>
      <p:sp>
        <p:nvSpPr>
          <p:cNvPr id="61" name="Text 58"/>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noise pollution</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at-ta-law-wuth aḍ-ḍaw-ḍā-ʾiyy</a:t>
            </a:r>
            <a:endParaRPr lang="en-US" sz="1350" dirty="0"/>
          </a:p>
        </p:txBody>
      </p:sp>
      <p:sp>
        <p:nvSpPr>
          <p:cNvPr id="62" name="Text 59"/>
          <p:cNvSpPr txBox="1"/>
          <p:nvPr/>
        </p:nvSpPr>
        <p:spPr>
          <a:xfrm>
            <a:off x="4416552" y="5961888"/>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ea typeface="Calibri" pitchFamily="34" charset="-122"/>
                <a:cs typeface="Calibri" pitchFamily="34" charset="-120"/>
              </a:rPr>
              <a:t>TC-L04: </a:t>
            </a:r>
            <a:pPr algn="l" indent="0" marL="0">
              <a:buNone/>
            </a:pPr>
            <a:r>
              <a:rPr lang="ar-SA" altLang="en-US" sz="1300" dirty="0">
                <a:solidFill>
                  <a:srgbClr val="8A6D1E"/>
                </a:solidFill>
                <a:latin typeface="Amiri" pitchFamily="34" charset="0"/>
                <a:ea typeface="Amiri" pitchFamily="34" charset="-122"/>
                <a:cs typeface="Amiri" pitchFamily="34" charset="-120"/>
              </a:rPr>
              <a:t>التَّلَوُّثُ</a:t>
            </a:r>
            <a:pPr algn="l" indent="0" marL="0">
              <a:buNone/>
            </a:pPr>
            <a:r>
              <a:rPr lang="en-US" sz="1000" i="1" dirty="0">
                <a:solidFill>
                  <a:srgbClr val="8A6D1E"/>
                </a:solidFill>
                <a:latin typeface="Calibri" pitchFamily="34" charset="0"/>
                <a:ea typeface="Calibri" pitchFamily="34" charset="-122"/>
                <a:cs typeface="Calibri" pitchFamily="34" charset="-120"/>
              </a:rPr>
              <a:t> = pollution.</a:t>
            </a:r>
            <a:endParaRPr lang="en-US" sz="1000" dirty="0"/>
          </a:p>
        </p:txBody>
      </p:sp>
      <p:sp>
        <p:nvSpPr>
          <p:cNvPr id="63" name="Shape 60"/>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566928" y="4261104"/>
            <a:ext cx="310896" cy="310896"/>
          </a:xfrm>
          <a:prstGeom prst="ellipse">
            <a:avLst/>
          </a:prstGeom>
          <a:solidFill>
            <a:srgbClr val="F4F1EA"/>
          </a:solidFill>
          <a:ln w="12700">
            <a:solidFill>
              <a:srgbClr val="F4F1EA"/>
            </a:solidFill>
            <a:prstDash val="solid"/>
          </a:ln>
        </p:spPr>
      </p:sp>
      <p:sp>
        <p:nvSpPr>
          <p:cNvPr id="65" name="Text 62"/>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6</a:t>
            </a:r>
            <a:endParaRPr lang="en-US" sz="1000" dirty="0"/>
          </a:p>
        </p:txBody>
      </p:sp>
      <p:sp>
        <p:nvSpPr>
          <p:cNvPr id="66" name="Shape 63"/>
          <p:cNvSpPr/>
          <p:nvPr/>
        </p:nvSpPr>
        <p:spPr>
          <a:xfrm>
            <a:off x="960120" y="4279392"/>
            <a:ext cx="1269187" cy="256032"/>
          </a:xfrm>
          <a:prstGeom prst="roundRect">
            <a:avLst>
              <a:gd name="adj" fmla="val 50000"/>
            </a:avLst>
          </a:prstGeom>
          <a:solidFill>
            <a:srgbClr val="EFE7D2"/>
          </a:solidFill>
          <a:ln w="12700">
            <a:solidFill>
              <a:srgbClr val="EFE7D2"/>
            </a:solidFill>
            <a:prstDash val="solid"/>
          </a:ln>
        </p:spPr>
      </p:sp>
      <p:sp>
        <p:nvSpPr>
          <p:cNvPr id="67" name="Text 64"/>
          <p:cNvSpPr txBox="1"/>
          <p:nvPr/>
        </p:nvSpPr>
        <p:spPr>
          <a:xfrm>
            <a:off x="960120" y="4279392"/>
            <a:ext cx="1269187"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adjective phrase</a:t>
            </a:r>
            <a:endParaRPr lang="en-US" sz="800" dirty="0"/>
          </a:p>
        </p:txBody>
      </p:sp>
      <p:sp>
        <p:nvSpPr>
          <p:cNvPr id="68" name="Text 65"/>
          <p:cNvSpPr txBox="1"/>
          <p:nvPr/>
        </p:nvSpPr>
        <p:spPr>
          <a:xfrm>
            <a:off x="566928"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صَالِحٌ لِلْعَيْشِ</a:t>
            </a:r>
            <a:endParaRPr lang="ar-SA" sz="3000" dirty="0"/>
          </a:p>
        </p:txBody>
      </p:sp>
      <p:sp>
        <p:nvSpPr>
          <p:cNvPr id="69" name="Text 66"/>
          <p:cNvSpPr txBox="1"/>
          <p:nvPr/>
        </p:nvSpPr>
        <p:spPr>
          <a:xfrm>
            <a:off x="594360"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liveable</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ṣā-li-ḥun lil-ʿaysh</a:t>
            </a:r>
            <a:endParaRPr lang="en-US" sz="1350" dirty="0"/>
          </a:p>
        </p:txBody>
      </p:sp>
      <p:sp>
        <p:nvSpPr>
          <p:cNvPr id="70" name="Shape 67"/>
          <p:cNvSpPr/>
          <p:nvPr/>
        </p:nvSpPr>
        <p:spPr>
          <a:xfrm>
            <a:off x="2322576" y="5779008"/>
            <a:ext cx="1636776" cy="438912"/>
          </a:xfrm>
          <a:prstGeom prst="roundRect">
            <a:avLst>
              <a:gd name="adj" fmla="val 10417"/>
            </a:avLst>
          </a:prstGeom>
          <a:solidFill>
            <a:srgbClr val="F4F1EA"/>
          </a:solidFill>
          <a:ln w="9525">
            <a:solidFill>
              <a:srgbClr val="F4F1EA"/>
            </a:solidFill>
            <a:prstDash val="solid"/>
          </a:ln>
        </p:spPr>
      </p:sp>
      <p:sp>
        <p:nvSpPr>
          <p:cNvPr id="71" name="Text 68"/>
          <p:cNvSpPr txBox="1"/>
          <p:nvPr/>
        </p:nvSpPr>
        <p:spPr>
          <a:xfrm>
            <a:off x="2377440"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m.</a:t>
            </a:r>
            <a:endParaRPr lang="en-US" sz="750" dirty="0"/>
          </a:p>
        </p:txBody>
      </p:sp>
      <p:sp>
        <p:nvSpPr>
          <p:cNvPr id="72" name="Text 69"/>
          <p:cNvSpPr txBox="1"/>
          <p:nvPr/>
        </p:nvSpPr>
        <p:spPr>
          <a:xfrm>
            <a:off x="2368296"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صَالِحٌ</a:t>
            </a:r>
            <a:endParaRPr lang="ar-SA" sz="1500" dirty="0"/>
          </a:p>
        </p:txBody>
      </p:sp>
      <p:sp>
        <p:nvSpPr>
          <p:cNvPr id="73" name="Shape 70"/>
          <p:cNvSpPr/>
          <p:nvPr/>
        </p:nvSpPr>
        <p:spPr>
          <a:xfrm>
            <a:off x="594360" y="5779008"/>
            <a:ext cx="1636776" cy="438912"/>
          </a:xfrm>
          <a:prstGeom prst="roundRect">
            <a:avLst>
              <a:gd name="adj" fmla="val 10417"/>
            </a:avLst>
          </a:prstGeom>
          <a:solidFill>
            <a:srgbClr val="F4F1EA"/>
          </a:solidFill>
          <a:ln w="9525">
            <a:solidFill>
              <a:srgbClr val="F4F1EA"/>
            </a:solidFill>
            <a:prstDash val="solid"/>
          </a:ln>
        </p:spPr>
      </p:sp>
      <p:sp>
        <p:nvSpPr>
          <p:cNvPr id="74" name="Text 71"/>
          <p:cNvSpPr txBox="1"/>
          <p:nvPr/>
        </p:nvSpPr>
        <p:spPr>
          <a:xfrm>
            <a:off x="649224"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f.</a:t>
            </a:r>
            <a:endParaRPr lang="en-US" sz="750" dirty="0"/>
          </a:p>
        </p:txBody>
      </p:sp>
      <p:sp>
        <p:nvSpPr>
          <p:cNvPr id="75" name="Text 72"/>
          <p:cNvSpPr txBox="1"/>
          <p:nvPr/>
        </p:nvSpPr>
        <p:spPr>
          <a:xfrm>
            <a:off x="640080"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صَالِحَةٌ</a:t>
            </a:r>
            <a:endParaRPr lang="ar-SA" sz="1500" dirty="0"/>
          </a:p>
        </p:txBody>
      </p:sp>
      <p:sp>
        <p:nvSpPr>
          <p:cNvPr id="76" name="Text 7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14 / 49</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TC-L08 · Buildings &amp; Services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GRAMMAR FOCUS · PART 4 · DEVELOP · WEBSITE P4-L02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Describe a building</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وَصْفُ المَبَانِي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3 · Lesson 2 of 3</a:t>
            </a:r>
            <a:endParaRPr lang="en-US" sz="850" dirty="0"/>
          </a:p>
        </p:txBody>
      </p:sp>
      <p:sp>
        <p:nvSpPr>
          <p:cNvPr id="15" name="Shape 12"/>
          <p:cNvSpPr/>
          <p:nvPr/>
        </p:nvSpPr>
        <p:spPr>
          <a:xfrm>
            <a:off x="8095488"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32648" y="1920240"/>
            <a:ext cx="1234440" cy="274320"/>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8232648" y="1920240"/>
            <a:ext cx="123444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MADE OF · مِنْ</a:t>
            </a:r>
            <a:endParaRPr lang="en-US" sz="850" dirty="0"/>
          </a:p>
        </p:txBody>
      </p:sp>
      <p:sp>
        <p:nvSpPr>
          <p:cNvPr id="18" name="Text 15"/>
          <p:cNvSpPr txBox="1"/>
          <p:nvPr/>
        </p:nvSpPr>
        <p:spPr>
          <a:xfrm>
            <a:off x="9512808" y="1874520"/>
            <a:ext cx="208178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34" charset="0"/>
                <a:ea typeface="Amiri" pitchFamily="34" charset="-122"/>
                <a:cs typeface="Amiri" pitchFamily="34" charset="-120"/>
              </a:rPr>
              <a:t>مَبْنِيٌّ مِنْ</a:t>
            </a:r>
            <a:endParaRPr lang="ar-SA" sz="1600" dirty="0"/>
          </a:p>
        </p:txBody>
      </p:sp>
      <p:sp>
        <p:nvSpPr>
          <p:cNvPr id="19" name="Text 16"/>
          <p:cNvSpPr txBox="1"/>
          <p:nvPr/>
        </p:nvSpPr>
        <p:spPr>
          <a:xfrm>
            <a:off x="8232648" y="2286000"/>
            <a:ext cx="3361944" cy="1097280"/>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34" charset="0"/>
                <a:ea typeface="Amiri" pitchFamily="34" charset="-122"/>
                <a:cs typeface="Amiri" pitchFamily="34" charset="-120"/>
              </a:rPr>
              <a:t>الحَيُّ القَدِيمُ مَبْنِيٌّ مِنَ الحَجَرِ</a:t>
            </a:r>
            <a:endParaRPr lang="ar-SA" sz="2650" dirty="0"/>
          </a:p>
        </p:txBody>
      </p:sp>
      <p:sp>
        <p:nvSpPr>
          <p:cNvPr id="20" name="Text 17"/>
          <p:cNvSpPr txBox="1"/>
          <p:nvPr/>
        </p:nvSpPr>
        <p:spPr>
          <a:xfrm>
            <a:off x="8232648"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ea typeface="Calibri" pitchFamily="34" charset="-122"/>
                <a:cs typeface="Calibri" pitchFamily="34" charset="-120"/>
              </a:rPr>
              <a:t>The old district is built of stone.</a:t>
            </a:r>
            <a:endParaRPr lang="en-US" sz="1200" dirty="0"/>
          </a:p>
        </p:txBody>
      </p:sp>
      <p:sp>
        <p:nvSpPr>
          <p:cNvPr id="21" name="Shape 18"/>
          <p:cNvSpPr/>
          <p:nvPr/>
        </p:nvSpPr>
        <p:spPr>
          <a:xfrm>
            <a:off x="8205216" y="3913632"/>
            <a:ext cx="3416808" cy="804672"/>
          </a:xfrm>
          <a:prstGeom prst="roundRect">
            <a:avLst>
              <a:gd name="adj" fmla="val 5682"/>
            </a:avLst>
          </a:prstGeom>
          <a:solidFill>
            <a:srgbClr val="FFF4E0"/>
          </a:solidFill>
          <a:ln w="9525">
            <a:solidFill>
              <a:srgbClr val="FFF4E0"/>
            </a:solidFill>
            <a:prstDash val="solid"/>
          </a:ln>
        </p:spPr>
      </p:sp>
      <p:sp>
        <p:nvSpPr>
          <p:cNvPr id="22" name="Text 19"/>
          <p:cNvSpPr txBox="1"/>
          <p:nvPr/>
        </p:nvSpPr>
        <p:spPr>
          <a:xfrm>
            <a:off x="8296656" y="3950208"/>
            <a:ext cx="3233928" cy="731520"/>
          </a:xfrm>
          <a:prstGeom prst="rect">
            <a:avLst/>
          </a:prstGeom>
          <a:noFill/>
          <a:ln/>
        </p:spPr>
        <p:txBody>
          <a:bodyPr wrap="square" lIns="0" tIns="0" rIns="0" bIns="0" rtlCol="0" anchor="ctr"/>
          <a:lstStyle/>
          <a:p>
            <a:pPr algn="l" indent="0" marL="0">
              <a:buNone/>
            </a:pPr>
            <a:r>
              <a:rPr lang="ar-SA" altLang="en-US" sz="1450" dirty="0">
                <a:solidFill>
                  <a:srgbClr val="1F2A37"/>
                </a:solidFill>
                <a:latin typeface="Amiri" pitchFamily="34" charset="0"/>
                <a:ea typeface="Amiri" pitchFamily="34" charset="-122"/>
                <a:cs typeface="Amiri" pitchFamily="34" charset="-120"/>
              </a:rPr>
              <a:t>مَبْنِيٌّ</a:t>
            </a:r>
            <a:pPr algn="l" indent="0" marL="0">
              <a:buNone/>
            </a:pPr>
            <a:r>
              <a:rPr lang="en-US" sz="1100" dirty="0">
                <a:solidFill>
                  <a:srgbClr val="1F2A37"/>
                </a:solidFill>
                <a:latin typeface="Calibri" pitchFamily="34" charset="0"/>
                <a:ea typeface="Calibri" pitchFamily="34" charset="-122"/>
                <a:cs typeface="Calibri" pitchFamily="34" charset="-120"/>
              </a:rPr>
              <a:t> (built) always takes </a:t>
            </a:r>
            <a:pPr algn="l" indent="0" marL="0">
              <a:buNone/>
            </a:pPr>
            <a:r>
              <a:rPr lang="ar-SA" altLang="en-US" sz="1450" dirty="0">
                <a:solidFill>
                  <a:srgbClr val="1F2A37"/>
                </a:solidFill>
                <a:latin typeface="Amiri" pitchFamily="34" charset="0"/>
                <a:ea typeface="Amiri" pitchFamily="34" charset="-122"/>
                <a:cs typeface="Amiri" pitchFamily="34" charset="-120"/>
              </a:rPr>
              <a:t>مِنْ</a:t>
            </a:r>
            <a:pPr algn="l" indent="0" marL="0">
              <a:buNone/>
            </a:pPr>
            <a:r>
              <a:rPr lang="en-US" sz="1100" dirty="0">
                <a:solidFill>
                  <a:srgbClr val="1F2A37"/>
                </a:solidFill>
                <a:latin typeface="Calibri" pitchFamily="34" charset="0"/>
                <a:ea typeface="Calibri" pitchFamily="34" charset="-122"/>
                <a:cs typeface="Calibri" pitchFamily="34" charset="-120"/>
              </a:rPr>
              <a:t> + the material (website rule).</a:t>
            </a:r>
            <a:endParaRPr lang="en-US" sz="1100" dirty="0"/>
          </a:p>
        </p:txBody>
      </p:sp>
      <p:sp>
        <p:nvSpPr>
          <p:cNvPr id="23" name="Shape 20"/>
          <p:cNvSpPr/>
          <p:nvPr/>
        </p:nvSpPr>
        <p:spPr>
          <a:xfrm>
            <a:off x="4276344"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13504" y="1920240"/>
            <a:ext cx="1303020" cy="274320"/>
          </a:xfrm>
          <a:prstGeom prst="roundRect">
            <a:avLst>
              <a:gd name="adj" fmla="val 50000"/>
            </a:avLst>
          </a:prstGeom>
          <a:solidFill>
            <a:srgbClr val="0E7C86"/>
          </a:solidFill>
          <a:ln w="12700">
            <a:solidFill>
              <a:srgbClr val="0E7C86"/>
            </a:solidFill>
            <a:prstDash val="solid"/>
          </a:ln>
        </p:spPr>
      </p:sp>
      <p:sp>
        <p:nvSpPr>
          <p:cNvPr id="25" name="Text 22"/>
          <p:cNvSpPr txBox="1"/>
          <p:nvPr/>
        </p:nvSpPr>
        <p:spPr>
          <a:xfrm>
            <a:off x="4413504" y="1920240"/>
            <a:ext cx="130302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KNOWN FOR · بِـ</a:t>
            </a:r>
            <a:endParaRPr lang="en-US" sz="850" dirty="0"/>
          </a:p>
        </p:txBody>
      </p:sp>
      <p:sp>
        <p:nvSpPr>
          <p:cNvPr id="26" name="Text 23"/>
          <p:cNvSpPr txBox="1"/>
          <p:nvPr/>
        </p:nvSpPr>
        <p:spPr>
          <a:xfrm>
            <a:off x="5762244" y="1874520"/>
            <a:ext cx="201320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34" charset="0"/>
                <a:ea typeface="Amiri" pitchFamily="34" charset="-122"/>
                <a:cs typeface="Amiri" pitchFamily="34" charset="-120"/>
              </a:rPr>
              <a:t>يَتَمَيَّزُ بِـ</a:t>
            </a:r>
            <a:endParaRPr lang="ar-SA" sz="1600" dirty="0"/>
          </a:p>
        </p:txBody>
      </p:sp>
      <p:sp>
        <p:nvSpPr>
          <p:cNvPr id="27" name="Text 24"/>
          <p:cNvSpPr txBox="1"/>
          <p:nvPr/>
        </p:nvSpPr>
        <p:spPr>
          <a:xfrm>
            <a:off x="4413504" y="2286000"/>
            <a:ext cx="3361944" cy="1097280"/>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34" charset="0"/>
                <a:ea typeface="Amiri" pitchFamily="34" charset="-122"/>
                <a:cs typeface="Amiri" pitchFamily="34" charset="-120"/>
              </a:rPr>
              <a:t>تَتَمَيَّزُ المَدِينَةُ بِمِعْمَارٍ حَدِيثٍ</a:t>
            </a:r>
            <a:endParaRPr lang="ar-SA" sz="2650" dirty="0"/>
          </a:p>
        </p:txBody>
      </p:sp>
      <p:sp>
        <p:nvSpPr>
          <p:cNvPr id="28" name="Text 25"/>
          <p:cNvSpPr txBox="1"/>
          <p:nvPr/>
        </p:nvSpPr>
        <p:spPr>
          <a:xfrm>
            <a:off x="4413504"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ea typeface="Calibri" pitchFamily="34" charset="-122"/>
                <a:cs typeface="Calibri" pitchFamily="34" charset="-120"/>
              </a:rPr>
              <a:t>The city is known for modern architecture.</a:t>
            </a:r>
            <a:endParaRPr lang="en-US" sz="1200" dirty="0"/>
          </a:p>
        </p:txBody>
      </p:sp>
      <p:sp>
        <p:nvSpPr>
          <p:cNvPr id="29" name="Shape 26"/>
          <p:cNvSpPr/>
          <p:nvPr/>
        </p:nvSpPr>
        <p:spPr>
          <a:xfrm>
            <a:off x="4386072" y="3913632"/>
            <a:ext cx="3416808" cy="804672"/>
          </a:xfrm>
          <a:prstGeom prst="roundRect">
            <a:avLst>
              <a:gd name="adj" fmla="val 5682"/>
            </a:avLst>
          </a:prstGeom>
          <a:solidFill>
            <a:srgbClr val="FFF4E0"/>
          </a:solidFill>
          <a:ln w="9525">
            <a:solidFill>
              <a:srgbClr val="FFF4E0"/>
            </a:solidFill>
            <a:prstDash val="solid"/>
          </a:ln>
        </p:spPr>
      </p:sp>
      <p:sp>
        <p:nvSpPr>
          <p:cNvPr id="30" name="Text 27"/>
          <p:cNvSpPr txBox="1"/>
          <p:nvPr/>
        </p:nvSpPr>
        <p:spPr>
          <a:xfrm>
            <a:off x="4477512" y="3950208"/>
            <a:ext cx="3233928" cy="731520"/>
          </a:xfrm>
          <a:prstGeom prst="rect">
            <a:avLst/>
          </a:prstGeom>
          <a:noFill/>
          <a:ln/>
        </p:spPr>
        <p:txBody>
          <a:bodyPr wrap="square" lIns="0" tIns="0" rIns="0" bIns="0" rtlCol="0" anchor="ctr"/>
          <a:lstStyle/>
          <a:p>
            <a:pPr algn="l" indent="0" marL="0">
              <a:buNone/>
            </a:pPr>
            <a:r>
              <a:rPr lang="ar-SA" altLang="en-US" sz="1450" dirty="0">
                <a:solidFill>
                  <a:srgbClr val="1F2A37"/>
                </a:solidFill>
                <a:latin typeface="Amiri" pitchFamily="34" charset="0"/>
                <a:ea typeface="Amiri" pitchFamily="34" charset="-122"/>
                <a:cs typeface="Amiri" pitchFamily="34" charset="-120"/>
              </a:rPr>
              <a:t>تَتَمَيَّزُ</a:t>
            </a:r>
            <a:pPr algn="l" indent="0" marL="0">
              <a:buNone/>
            </a:pPr>
            <a:r>
              <a:rPr lang="en-US" sz="1100" dirty="0">
                <a:solidFill>
                  <a:srgbClr val="1F2A37"/>
                </a:solidFill>
                <a:latin typeface="Calibri" pitchFamily="34" charset="0"/>
                <a:ea typeface="Calibri" pitchFamily="34" charset="-122"/>
                <a:cs typeface="Calibri" pitchFamily="34" charset="-120"/>
              </a:rPr>
              <a:t> for a feminine city — the same </a:t>
            </a:r>
            <a:pPr algn="l" indent="0" marL="0">
              <a:buNone/>
            </a:pPr>
            <a:r>
              <a:rPr lang="ar-SA" altLang="en-US" sz="1450" dirty="0">
                <a:solidFill>
                  <a:srgbClr val="1F2A37"/>
                </a:solidFill>
                <a:latin typeface="Amiri" pitchFamily="34" charset="0"/>
                <a:ea typeface="Amiri" pitchFamily="34" charset="-122"/>
                <a:cs typeface="Amiri" pitchFamily="34" charset="-120"/>
              </a:rPr>
              <a:t>يُـ / تُـ</a:t>
            </a:r>
            <a:pPr algn="l" indent="0" marL="0">
              <a:buNone/>
            </a:pPr>
            <a:r>
              <a:rPr lang="en-US" sz="1100" dirty="0">
                <a:solidFill>
                  <a:srgbClr val="1F2A37"/>
                </a:solidFill>
                <a:latin typeface="Calibri" pitchFamily="34" charset="0"/>
                <a:ea typeface="Calibri" pitchFamily="34" charset="-122"/>
                <a:cs typeface="Calibri" pitchFamily="34" charset="-120"/>
              </a:rPr>
              <a:t> rule as </a:t>
            </a:r>
            <a:pPr algn="l" indent="0" marL="0">
              <a:buNone/>
            </a:pPr>
            <a:r>
              <a:rPr lang="ar-SA" altLang="en-US" sz="1450" dirty="0">
                <a:solidFill>
                  <a:srgbClr val="1F2A37"/>
                </a:solidFill>
                <a:latin typeface="Amiri" pitchFamily="34" charset="0"/>
                <a:ea typeface="Amiri" pitchFamily="34" charset="-122"/>
                <a:cs typeface="Amiri" pitchFamily="34" charset="-120"/>
              </a:rPr>
              <a:t>يُوجَدُ</a:t>
            </a:r>
            <a:pPr algn="l" indent="0" marL="0">
              <a:buNone/>
            </a:pPr>
            <a:r>
              <a:rPr lang="en-US" sz="1100" dirty="0">
                <a:solidFill>
                  <a:srgbClr val="1F2A37"/>
                </a:solidFill>
                <a:latin typeface="Calibri" pitchFamily="34" charset="0"/>
                <a:ea typeface="Calibri" pitchFamily="34" charset="-122"/>
                <a:cs typeface="Calibri" pitchFamily="34" charset="-120"/>
              </a:rPr>
              <a:t>.</a:t>
            </a:r>
            <a:endParaRPr lang="en-US" sz="1100" dirty="0"/>
          </a:p>
        </p:txBody>
      </p:sp>
      <p:sp>
        <p:nvSpPr>
          <p:cNvPr id="31" name="Shape 28"/>
          <p:cNvSpPr/>
          <p:nvPr/>
        </p:nvSpPr>
        <p:spPr>
          <a:xfrm>
            <a:off x="457200"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94360" y="1920240"/>
            <a:ext cx="1440180" cy="274320"/>
          </a:xfrm>
          <a:prstGeom prst="roundRect">
            <a:avLst>
              <a:gd name="adj" fmla="val 50000"/>
            </a:avLst>
          </a:prstGeom>
          <a:solidFill>
            <a:srgbClr val="7B3FA0"/>
          </a:solidFill>
          <a:ln w="12700">
            <a:solidFill>
              <a:srgbClr val="7B3FA0"/>
            </a:solidFill>
            <a:prstDash val="solid"/>
          </a:ln>
        </p:spPr>
      </p:sp>
      <p:sp>
        <p:nvSpPr>
          <p:cNvPr id="33" name="Text 30"/>
          <p:cNvSpPr txBox="1"/>
          <p:nvPr/>
        </p:nvSpPr>
        <p:spPr>
          <a:xfrm>
            <a:off x="594360" y="1920240"/>
            <a:ext cx="144018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TURN INTO · إِلَى</a:t>
            </a:r>
            <a:endParaRPr lang="en-US" sz="850" dirty="0"/>
          </a:p>
        </p:txBody>
      </p:sp>
      <p:sp>
        <p:nvSpPr>
          <p:cNvPr id="34" name="Text 31"/>
          <p:cNvSpPr txBox="1"/>
          <p:nvPr/>
        </p:nvSpPr>
        <p:spPr>
          <a:xfrm>
            <a:off x="2080260" y="1874520"/>
            <a:ext cx="187604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34" charset="0"/>
                <a:ea typeface="Amiri" pitchFamily="34" charset="-122"/>
                <a:cs typeface="Amiri" pitchFamily="34" charset="-120"/>
              </a:rPr>
              <a:t>يُحَوِّلُ … إِلَى</a:t>
            </a:r>
            <a:endParaRPr lang="ar-SA" sz="1600" dirty="0"/>
          </a:p>
        </p:txBody>
      </p:sp>
      <p:sp>
        <p:nvSpPr>
          <p:cNvPr id="35" name="Text 32"/>
          <p:cNvSpPr txBox="1"/>
          <p:nvPr/>
        </p:nvSpPr>
        <p:spPr>
          <a:xfrm>
            <a:off x="594360"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250" b="1" dirty="0">
                <a:solidFill>
                  <a:srgbClr val="1B3B6F"/>
                </a:solidFill>
                <a:latin typeface="Amiri" pitchFamily="34" charset="0"/>
                <a:ea typeface="Amiri" pitchFamily="34" charset="-122"/>
                <a:cs typeface="Amiri" pitchFamily="34" charset="-120"/>
              </a:rPr>
              <a:t>يُحَوِّلُ المَشْرُوعُ المَطَارَ إِلَى حَدِيقَةٍ</a:t>
            </a:r>
            <a:endParaRPr lang="ar-SA" sz="2250" dirty="0"/>
          </a:p>
        </p:txBody>
      </p:sp>
      <p:sp>
        <p:nvSpPr>
          <p:cNvPr id="36" name="Text 33"/>
          <p:cNvSpPr txBox="1"/>
          <p:nvPr/>
        </p:nvSpPr>
        <p:spPr>
          <a:xfrm>
            <a:off x="594360"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ea typeface="Calibri" pitchFamily="34" charset="-122"/>
                <a:cs typeface="Calibri" pitchFamily="34" charset="-120"/>
              </a:rPr>
              <a:t>The project turns the airport into a park.</a:t>
            </a:r>
            <a:endParaRPr lang="en-US" sz="1200" dirty="0"/>
          </a:p>
        </p:txBody>
      </p:sp>
      <p:sp>
        <p:nvSpPr>
          <p:cNvPr id="37" name="Shape 34"/>
          <p:cNvSpPr/>
          <p:nvPr/>
        </p:nvSpPr>
        <p:spPr>
          <a:xfrm>
            <a:off x="566928" y="3913632"/>
            <a:ext cx="3416808" cy="804672"/>
          </a:xfrm>
          <a:prstGeom prst="roundRect">
            <a:avLst>
              <a:gd name="adj" fmla="val 5682"/>
            </a:avLst>
          </a:prstGeom>
          <a:solidFill>
            <a:srgbClr val="FFF4E0"/>
          </a:solidFill>
          <a:ln w="9525">
            <a:solidFill>
              <a:srgbClr val="FFF4E0"/>
            </a:solidFill>
            <a:prstDash val="solid"/>
          </a:ln>
        </p:spPr>
      </p:sp>
      <p:sp>
        <p:nvSpPr>
          <p:cNvPr id="38" name="Text 35"/>
          <p:cNvSpPr txBox="1"/>
          <p:nvPr/>
        </p:nvSpPr>
        <p:spPr>
          <a:xfrm>
            <a:off x="658368" y="3950208"/>
            <a:ext cx="3233928" cy="731520"/>
          </a:xfrm>
          <a:prstGeom prst="rect">
            <a:avLst/>
          </a:prstGeom>
          <a:noFill/>
          <a:ln/>
        </p:spPr>
        <p:txBody>
          <a:bodyPr wrap="square" lIns="0" tIns="0" rIns="0" bIns="0" rtlCol="0" anchor="ctr"/>
          <a:lstStyle/>
          <a:p>
            <a:pPr algn="l" indent="0" marL="0">
              <a:buNone/>
            </a:pPr>
            <a:r>
              <a:rPr lang="ar-SA" altLang="en-US" sz="1450" dirty="0">
                <a:solidFill>
                  <a:srgbClr val="1F2A37"/>
                </a:solidFill>
                <a:latin typeface="Amiri" pitchFamily="34" charset="0"/>
                <a:ea typeface="Amiri" pitchFamily="34" charset="-122"/>
                <a:cs typeface="Amiri" pitchFamily="34" charset="-120"/>
              </a:rPr>
              <a:t>يُحَوِّلُ</a:t>
            </a:r>
            <a:pPr algn="l" indent="0" marL="0">
              <a:buNone/>
            </a:pPr>
            <a:r>
              <a:rPr lang="en-US" sz="1100" dirty="0">
                <a:solidFill>
                  <a:srgbClr val="1F2A37"/>
                </a:solidFill>
                <a:latin typeface="Calibri" pitchFamily="34" charset="0"/>
                <a:ea typeface="Calibri" pitchFamily="34" charset="-122"/>
                <a:cs typeface="Calibri" pitchFamily="34" charset="-120"/>
              </a:rPr>
              <a:t> always takes </a:t>
            </a:r>
            <a:pPr algn="l" indent="0" marL="0">
              <a:buNone/>
            </a:pPr>
            <a:r>
              <a:rPr lang="ar-SA" altLang="en-US" sz="1450" dirty="0">
                <a:solidFill>
                  <a:srgbClr val="1F2A37"/>
                </a:solidFill>
                <a:latin typeface="Amiri" pitchFamily="34" charset="0"/>
                <a:ea typeface="Amiri" pitchFamily="34" charset="-122"/>
                <a:cs typeface="Amiri" pitchFamily="34" charset="-120"/>
              </a:rPr>
              <a:t>إِلَى</a:t>
            </a:r>
            <a:pPr algn="l" indent="0" marL="0">
              <a:buNone/>
            </a:pPr>
            <a:r>
              <a:rPr lang="en-US" sz="1100" dirty="0">
                <a:solidFill>
                  <a:srgbClr val="1F2A37"/>
                </a:solidFill>
                <a:latin typeface="Calibri" pitchFamily="34" charset="0"/>
                <a:ea typeface="Calibri" pitchFamily="34" charset="-122"/>
                <a:cs typeface="Calibri" pitchFamily="34" charset="-120"/>
              </a:rPr>
              <a:t> (website rule).</a:t>
            </a:r>
            <a:endParaRPr lang="en-US" sz="1100" dirty="0"/>
          </a:p>
        </p:txBody>
      </p:sp>
      <p:sp>
        <p:nvSpPr>
          <p:cNvPr id="39" name="Shape 36"/>
          <p:cNvSpPr/>
          <p:nvPr/>
        </p:nvSpPr>
        <p:spPr>
          <a:xfrm>
            <a:off x="457200" y="50109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85800" y="5102352"/>
            <a:ext cx="2743200" cy="274320"/>
          </a:xfrm>
          <a:prstGeom prst="rect">
            <a:avLst/>
          </a:prstGeom>
          <a:noFill/>
          <a:ln/>
        </p:spPr>
        <p:txBody>
          <a:bodyPr wrap="square" lIns="0" tIns="0" rIns="0" bIns="0" rtlCol="0" anchor="ctr"/>
          <a:lstStyle/>
          <a:p>
            <a:pPr algn="l" indent="0" marL="0">
              <a:buNone/>
            </a:pPr>
            <a:r>
              <a:rPr lang="en-US" sz="1000" b="1" spc="200" kern="0" dirty="0">
                <a:solidFill>
                  <a:srgbClr val="B83227"/>
                </a:solidFill>
                <a:latin typeface="Calibri" pitchFamily="34" charset="0"/>
                <a:ea typeface="Calibri" pitchFamily="34" charset="-122"/>
                <a:cs typeface="Calibri" pitchFamily="34" charset="-120"/>
              </a:rPr>
              <a:t>COMMON ERROR</a:t>
            </a:r>
            <a:endParaRPr lang="en-US" sz="1000" dirty="0"/>
          </a:p>
        </p:txBody>
      </p:sp>
      <p:sp>
        <p:nvSpPr>
          <p:cNvPr id="41" name="Text 38"/>
          <p:cNvSpPr txBox="1"/>
          <p:nvPr/>
        </p:nvSpPr>
        <p:spPr>
          <a:xfrm>
            <a:off x="685800" y="5394960"/>
            <a:ext cx="3291840" cy="822960"/>
          </a:xfrm>
          <a:prstGeom prst="rect">
            <a:avLst/>
          </a:prstGeom>
          <a:noFill/>
          <a:ln/>
        </p:spPr>
        <p:txBody>
          <a:bodyPr wrap="square" lIns="0" tIns="0" rIns="0" bIns="0" rtlCol="0" anchor="t"/>
          <a:lstStyle/>
          <a:p>
            <a:pPr algn="l" indent="0" marL="0">
              <a:buNone/>
            </a:pPr>
            <a:r>
              <a:rPr lang="en-US" sz="1150" dirty="0">
                <a:solidFill>
                  <a:srgbClr val="1F2A37"/>
                </a:solidFill>
                <a:latin typeface="Calibri" pitchFamily="34" charset="0"/>
                <a:ea typeface="Calibri" pitchFamily="34" charset="-122"/>
                <a:cs typeface="Calibri" pitchFamily="34" charset="-120"/>
              </a:rPr>
              <a:t>The website’s common mistakes: the wrong partner word after </a:t>
            </a:r>
            <a:pPr algn="l" indent="0" marL="0">
              <a:buNone/>
            </a:pPr>
            <a:r>
              <a:rPr lang="ar-SA" altLang="en-US" sz="1500" dirty="0">
                <a:solidFill>
                  <a:srgbClr val="1F2A37"/>
                </a:solidFill>
                <a:latin typeface="Amiri" pitchFamily="34" charset="0"/>
                <a:ea typeface="Amiri" pitchFamily="34" charset="-122"/>
                <a:cs typeface="Amiri" pitchFamily="34" charset="-120"/>
              </a:rPr>
              <a:t>مَبْنِيٌّ</a:t>
            </a:r>
            <a:pPr algn="l" indent="0" marL="0">
              <a:buNone/>
            </a:pPr>
            <a:r>
              <a:rPr lang="en-US" sz="1150" dirty="0">
                <a:solidFill>
                  <a:srgbClr val="1F2A37"/>
                </a:solidFill>
                <a:latin typeface="Calibri" pitchFamily="34" charset="0"/>
                <a:ea typeface="Calibri" pitchFamily="34" charset="-122"/>
                <a:cs typeface="Calibri" pitchFamily="34" charset="-120"/>
              </a:rPr>
              <a:t> and </a:t>
            </a:r>
            <a:pPr algn="l" indent="0" marL="0">
              <a:buNone/>
            </a:pPr>
            <a:r>
              <a:rPr lang="ar-SA" altLang="en-US" sz="1500" dirty="0">
                <a:solidFill>
                  <a:srgbClr val="1F2A37"/>
                </a:solidFill>
                <a:latin typeface="Amiri" pitchFamily="34" charset="0"/>
                <a:ea typeface="Amiri" pitchFamily="34" charset="-122"/>
                <a:cs typeface="Amiri" pitchFamily="34" charset="-120"/>
              </a:rPr>
              <a:t>يُحَوِّلُ</a:t>
            </a:r>
            <a:pPr algn="l" indent="0" marL="0">
              <a:buNone/>
            </a:pPr>
            <a:r>
              <a:rPr lang="en-US" sz="1150" dirty="0">
                <a:solidFill>
                  <a:srgbClr val="1F2A37"/>
                </a:solidFill>
                <a:latin typeface="Calibri" pitchFamily="34" charset="0"/>
                <a:ea typeface="Calibri" pitchFamily="34" charset="-122"/>
                <a:cs typeface="Calibri" pitchFamily="34" charset="-120"/>
              </a:rPr>
              <a:t>.</a:t>
            </a:r>
            <a:endParaRPr lang="en-US" sz="1150" dirty="0"/>
          </a:p>
        </p:txBody>
      </p:sp>
      <p:sp>
        <p:nvSpPr>
          <p:cNvPr id="42" name="Text 39"/>
          <p:cNvSpPr txBox="1"/>
          <p:nvPr/>
        </p:nvSpPr>
        <p:spPr>
          <a:xfrm>
            <a:off x="9966960" y="5230368"/>
            <a:ext cx="1645920" cy="868680"/>
          </a:xfrm>
          <a:prstGeom prst="rect">
            <a:avLst/>
          </a:prstGeom>
          <a:noFill/>
          <a:ln/>
        </p:spPr>
        <p:txBody>
          <a:bodyPr wrap="square" lIns="0" tIns="0" rIns="0" bIns="0" rtlCol="0" anchor="ctr"/>
          <a:lstStyle/>
          <a:p>
            <a:pPr rtl="1" algn="ctr" indent="0" marL="0">
              <a:buNone/>
            </a:pPr>
            <a:r>
              <a:rPr lang="ar-SA" altLang="en-US" sz="2150" b="1" dirty="0">
                <a:solidFill>
                  <a:srgbClr val="1B3B6F"/>
                </a:solidFill>
                <a:latin typeface="Amiri" pitchFamily="34" charset="0"/>
                <a:ea typeface="Amiri" pitchFamily="34" charset="-122"/>
                <a:cs typeface="Amiri" pitchFamily="34" charset="-120"/>
              </a:rPr>
              <a:t>مَبْنِيَّةٌ مِنَ الزُّجَاجِ</a:t>
            </a:r>
            <a:endParaRPr lang="ar-SA" sz="2150" dirty="0"/>
          </a:p>
        </p:txBody>
      </p:sp>
      <p:sp>
        <p:nvSpPr>
          <p:cNvPr id="43" name="Text 40"/>
          <p:cNvSpPr txBox="1"/>
          <p:nvPr/>
        </p:nvSpPr>
        <p:spPr>
          <a:xfrm>
            <a:off x="960120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ea typeface="Calibri" pitchFamily="34" charset="-122"/>
                <a:cs typeface="Calibri" pitchFamily="34" charset="-120"/>
              </a:rPr>
              <a:t>→</a:t>
            </a:r>
            <a:endParaRPr lang="en-US" sz="2000" dirty="0"/>
          </a:p>
        </p:txBody>
      </p:sp>
      <p:sp>
        <p:nvSpPr>
          <p:cNvPr id="44" name="Text 41"/>
          <p:cNvSpPr txBox="1"/>
          <p:nvPr/>
        </p:nvSpPr>
        <p:spPr>
          <a:xfrm>
            <a:off x="8001000" y="5230368"/>
            <a:ext cx="1645920" cy="868680"/>
          </a:xfrm>
          <a:prstGeom prst="rect">
            <a:avLst/>
          </a:prstGeom>
          <a:noFill/>
          <a:ln/>
        </p:spPr>
        <p:txBody>
          <a:bodyPr wrap="square" lIns="0" tIns="0" rIns="0" bIns="0" rtlCol="0" anchor="ctr"/>
          <a:lstStyle/>
          <a:p>
            <a:pPr rtl="1" algn="ctr" indent="0" marL="0">
              <a:buNone/>
            </a:pPr>
            <a:r>
              <a:rPr lang="ar-SA" altLang="en-US" sz="2500" b="1" dirty="0">
                <a:solidFill>
                  <a:srgbClr val="B83227"/>
                </a:solidFill>
                <a:latin typeface="Amiri" pitchFamily="34" charset="0"/>
                <a:ea typeface="Amiri" pitchFamily="34" charset="-122"/>
                <a:cs typeface="Amiri" pitchFamily="34" charset="-120"/>
              </a:rPr>
              <a:t>مَبْنِيَّةٌ بِالزُّجَاجِ</a:t>
            </a:r>
            <a:endParaRPr lang="ar-SA" sz="2500" dirty="0"/>
          </a:p>
        </p:txBody>
      </p:sp>
      <p:sp>
        <p:nvSpPr>
          <p:cNvPr id="45" name="Shape 42"/>
          <p:cNvSpPr/>
          <p:nvPr/>
        </p:nvSpPr>
        <p:spPr>
          <a:xfrm>
            <a:off x="8138160" y="5669280"/>
            <a:ext cx="1371600" cy="0"/>
          </a:xfrm>
          <a:prstGeom prst="line">
            <a:avLst/>
          </a:prstGeom>
          <a:noFill/>
          <a:ln w="25400">
            <a:solidFill>
              <a:srgbClr val="B83227"/>
            </a:solidFill>
            <a:prstDash val="solid"/>
          </a:ln>
        </p:spPr>
      </p:sp>
      <p:sp>
        <p:nvSpPr>
          <p:cNvPr id="46" name="Text 43"/>
          <p:cNvSpPr txBox="1"/>
          <p:nvPr/>
        </p:nvSpPr>
        <p:spPr>
          <a:xfrm>
            <a:off x="6263640" y="5230368"/>
            <a:ext cx="1645920" cy="868680"/>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34" charset="0"/>
                <a:ea typeface="Amiri" pitchFamily="34" charset="-122"/>
                <a:cs typeface="Amiri" pitchFamily="34" charset="-120"/>
              </a:rPr>
              <a:t>إِلَى حَدِيقَةٍ</a:t>
            </a:r>
            <a:endParaRPr lang="ar-SA" sz="2600" dirty="0"/>
          </a:p>
        </p:txBody>
      </p:sp>
      <p:sp>
        <p:nvSpPr>
          <p:cNvPr id="47" name="Text 44"/>
          <p:cNvSpPr txBox="1"/>
          <p:nvPr/>
        </p:nvSpPr>
        <p:spPr>
          <a:xfrm>
            <a:off x="589788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ea typeface="Calibri" pitchFamily="34" charset="-122"/>
                <a:cs typeface="Calibri" pitchFamily="34" charset="-120"/>
              </a:rPr>
              <a:t>→</a:t>
            </a:r>
            <a:endParaRPr lang="en-US" sz="2000" dirty="0"/>
          </a:p>
        </p:txBody>
      </p:sp>
      <p:sp>
        <p:nvSpPr>
          <p:cNvPr id="48" name="Text 45"/>
          <p:cNvSpPr txBox="1"/>
          <p:nvPr/>
        </p:nvSpPr>
        <p:spPr>
          <a:xfrm>
            <a:off x="4297680" y="5230368"/>
            <a:ext cx="1645920" cy="868680"/>
          </a:xfrm>
          <a:prstGeom prst="rect">
            <a:avLst/>
          </a:prstGeom>
          <a:noFill/>
          <a:ln/>
        </p:spPr>
        <p:txBody>
          <a:bodyPr wrap="square" lIns="0" tIns="0" rIns="0" bIns="0" rtlCol="0" anchor="ctr"/>
          <a:lstStyle/>
          <a:p>
            <a:pPr rtl="1" algn="ctr" indent="0" marL="0">
              <a:buNone/>
            </a:pPr>
            <a:r>
              <a:rPr lang="ar-SA" altLang="en-US" sz="2600" b="1" dirty="0">
                <a:solidFill>
                  <a:srgbClr val="B83227"/>
                </a:solidFill>
                <a:latin typeface="Amiri" pitchFamily="34" charset="0"/>
                <a:ea typeface="Amiri" pitchFamily="34" charset="-122"/>
                <a:cs typeface="Amiri" pitchFamily="34" charset="-120"/>
              </a:rPr>
              <a:t>حَدِيقَةً</a:t>
            </a:r>
            <a:endParaRPr lang="ar-SA" sz="2600" dirty="0"/>
          </a:p>
        </p:txBody>
      </p:sp>
      <p:sp>
        <p:nvSpPr>
          <p:cNvPr id="49" name="Shape 46"/>
          <p:cNvSpPr/>
          <p:nvPr/>
        </p:nvSpPr>
        <p:spPr>
          <a:xfrm>
            <a:off x="4434840" y="5669280"/>
            <a:ext cx="1371600" cy="0"/>
          </a:xfrm>
          <a:prstGeom prst="line">
            <a:avLst/>
          </a:prstGeom>
          <a:noFill/>
          <a:ln w="25400">
            <a:solidFill>
              <a:srgbClr val="B83227"/>
            </a:solidFill>
            <a:prstDash val="solid"/>
          </a:ln>
        </p:spPr>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15 / 49</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TC-L08 · Buildings &amp; Services</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ea typeface="Calibri" pitchFamily="34" charset="-122"/>
                <a:cs typeface="Calibri" pitchFamily="34" charset="-120"/>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GRAMMAR FOCUS · PART 5 · WEBSITE EXAMPLES · FLEX · STRETCH</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ea typeface="Cambria" pitchFamily="34" charset="-122"/>
                <a:cs typeface="Cambria" pitchFamily="34" charset="-120"/>
              </a:rPr>
              <a:t>The four website rules with examples</a:t>
            </a:r>
            <a:endParaRPr lang="en-US" sz="25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أَمْثِلَةُ القَوَاعِدِ</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3 · Lesson 2 of 3</a:t>
            </a:r>
            <a:endParaRPr lang="en-US" sz="850" dirty="0"/>
          </a:p>
        </p:txBody>
      </p:sp>
      <p:sp>
        <p:nvSpPr>
          <p:cNvPr id="17" name="Shape 14"/>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40080" y="1883664"/>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1. Materials and features</a:t>
            </a:r>
            <a:endParaRPr lang="en-US" sz="1250" dirty="0"/>
          </a:p>
        </p:txBody>
      </p:sp>
      <p:sp>
        <p:nvSpPr>
          <p:cNvPr id="19" name="Text 16"/>
          <p:cNvSpPr txBox="1"/>
          <p:nvPr/>
        </p:nvSpPr>
        <p:spPr>
          <a:xfrm>
            <a:off x="640080" y="2345436"/>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34" charset="0"/>
                <a:ea typeface="Amiri" pitchFamily="34" charset="-122"/>
                <a:cs typeface="Amiri" pitchFamily="34" charset="-120"/>
              </a:rPr>
              <a:t>مَبْنِيٌّ مِنْ · يَتَمَيَّزُ بِـ</a:t>
            </a:r>
            <a:endParaRPr lang="ar-SA" sz="1350" dirty="0"/>
          </a:p>
        </p:txBody>
      </p:sp>
      <p:sp>
        <p:nvSpPr>
          <p:cNvPr id="20" name="Text 17"/>
          <p:cNvSpPr txBox="1"/>
          <p:nvPr/>
        </p:nvSpPr>
        <p:spPr>
          <a:xfrm>
            <a:off x="4297680" y="1847088"/>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34" charset="0"/>
                <a:ea typeface="Amiri" pitchFamily="34" charset="-122"/>
                <a:cs typeface="Amiri" pitchFamily="34" charset="-120"/>
              </a:rPr>
              <a:t>نَاطِحَاتُ السَّحَابِ مَبْنِيَّةٌ مِنَ الزُّجَاجِ   ·   تَتَمَيَّزُ المَدِينَةُ بِمِعْمَارٍ حَدِيثٍ</a:t>
            </a:r>
            <a:endParaRPr lang="ar-SA" sz="2000" dirty="0"/>
          </a:p>
        </p:txBody>
      </p:sp>
      <p:sp>
        <p:nvSpPr>
          <p:cNvPr id="21" name="Shape 18"/>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640080" y="3040380"/>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2. Planning verbs</a:t>
            </a:r>
            <a:endParaRPr lang="en-US" sz="1250" dirty="0"/>
          </a:p>
        </p:txBody>
      </p:sp>
      <p:sp>
        <p:nvSpPr>
          <p:cNvPr id="23" name="Text 20"/>
          <p:cNvSpPr txBox="1"/>
          <p:nvPr/>
        </p:nvSpPr>
        <p:spPr>
          <a:xfrm>
            <a:off x="640080" y="3502152"/>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34" charset="0"/>
                <a:ea typeface="Amiri" pitchFamily="34" charset="-122"/>
                <a:cs typeface="Amiri" pitchFamily="34" charset="-120"/>
              </a:rPr>
              <a:t>يُعِيدُ تَصْمِيمَ · يُجَدِّدُ · يُحَوِّلُ إِلَى</a:t>
            </a:r>
            <a:endParaRPr lang="ar-SA" sz="1350" dirty="0"/>
          </a:p>
        </p:txBody>
      </p:sp>
      <p:sp>
        <p:nvSpPr>
          <p:cNvPr id="24" name="Text 21"/>
          <p:cNvSpPr txBox="1"/>
          <p:nvPr/>
        </p:nvSpPr>
        <p:spPr>
          <a:xfrm>
            <a:off x="4297680" y="3003804"/>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34" charset="0"/>
                <a:ea typeface="Amiri" pitchFamily="34" charset="-122"/>
                <a:cs typeface="Amiri" pitchFamily="34" charset="-120"/>
              </a:rPr>
              <a:t>يُعِيدُ المُهَنْدِسُ تَصْمِيمَ المِنْطَقَةِ   ·   يُحَوِّلُ المَشْرُوعُ المَطَارَ القَدِيمَ إِلَى حَدِيقَةٍ</a:t>
            </a:r>
            <a:endParaRPr lang="ar-SA" sz="200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40080" y="4197096"/>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3. Urban passive</a:t>
            </a:r>
            <a:endParaRPr lang="en-US" sz="1250" dirty="0"/>
          </a:p>
        </p:txBody>
      </p:sp>
      <p:sp>
        <p:nvSpPr>
          <p:cNvPr id="27" name="Text 24"/>
          <p:cNvSpPr txBox="1"/>
          <p:nvPr/>
        </p:nvSpPr>
        <p:spPr>
          <a:xfrm>
            <a:off x="640080" y="4658868"/>
            <a:ext cx="3566160" cy="432054"/>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34" charset="0"/>
                <a:ea typeface="Amiri" pitchFamily="34" charset="-122"/>
                <a:cs typeface="Amiri" pitchFamily="34" charset="-120"/>
              </a:rPr>
              <a:t>يُبْنَى / يُخَطَّطُ</a:t>
            </a:r>
            <a:pPr algn="l" indent="0" marL="0">
              <a:buNone/>
            </a:pPr>
            <a:r>
              <a:rPr lang="en-US" sz="1050" dirty="0">
                <a:solidFill>
                  <a:srgbClr val="5A6472"/>
                </a:solidFill>
                <a:latin typeface="Calibri" pitchFamily="34" charset="0"/>
                <a:ea typeface="Calibri" pitchFamily="34" charset="-122"/>
                <a:cs typeface="Calibri" pitchFamily="34" charset="-120"/>
              </a:rPr>
              <a:t> + nominative</a:t>
            </a:r>
            <a:endParaRPr lang="en-US" sz="1050" dirty="0"/>
          </a:p>
        </p:txBody>
      </p:sp>
      <p:sp>
        <p:nvSpPr>
          <p:cNvPr id="28" name="Text 25"/>
          <p:cNvSpPr txBox="1"/>
          <p:nvPr/>
        </p:nvSpPr>
        <p:spPr>
          <a:xfrm>
            <a:off x="4297680" y="4160520"/>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34" charset="0"/>
                <a:ea typeface="Amiri" pitchFamily="34" charset="-122"/>
                <a:cs typeface="Amiri" pitchFamily="34" charset="-120"/>
              </a:rPr>
              <a:t>يُبْنَى مَشْرُوعٌ ضَخْمٌ عَلَى أَطْرَافِ المَدِينَةِ   ·   يُخَطَّطُ لِاسْتِكْمَالِ المَشْرُوعِ</a:t>
            </a:r>
            <a:endParaRPr lang="ar-SA" sz="2000" dirty="0"/>
          </a:p>
        </p:txBody>
      </p:sp>
      <p:sp>
        <p:nvSpPr>
          <p:cNvPr id="29" name="Shape 26"/>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40080" y="5353812"/>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4. Goal clause</a:t>
            </a:r>
            <a:endParaRPr lang="en-US" sz="1250" dirty="0"/>
          </a:p>
        </p:txBody>
      </p:sp>
      <p:sp>
        <p:nvSpPr>
          <p:cNvPr id="31" name="Text 28"/>
          <p:cNvSpPr txBox="1"/>
          <p:nvPr/>
        </p:nvSpPr>
        <p:spPr>
          <a:xfrm>
            <a:off x="640080" y="5815584"/>
            <a:ext cx="3566160" cy="432054"/>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34" charset="0"/>
                <a:ea typeface="Amiri" pitchFamily="34" charset="-122"/>
                <a:cs typeface="Amiri" pitchFamily="34" charset="-120"/>
              </a:rPr>
              <a:t>لِكَيْ</a:t>
            </a:r>
            <a:pPr algn="l" indent="0" marL="0">
              <a:buNone/>
            </a:pPr>
            <a:r>
              <a:rPr lang="en-US" sz="1050" dirty="0">
                <a:solidFill>
                  <a:srgbClr val="5A6472"/>
                </a:solidFill>
                <a:latin typeface="Calibri" pitchFamily="34" charset="0"/>
                <a:ea typeface="Calibri" pitchFamily="34" charset="-122"/>
                <a:cs typeface="Calibri" pitchFamily="34" charset="-120"/>
              </a:rPr>
              <a:t> + verb (final fatḥa)</a:t>
            </a:r>
            <a:endParaRPr lang="en-US" sz="1050" dirty="0"/>
          </a:p>
        </p:txBody>
      </p:sp>
      <p:sp>
        <p:nvSpPr>
          <p:cNvPr id="32" name="Text 29"/>
          <p:cNvSpPr txBox="1"/>
          <p:nvPr/>
        </p:nvSpPr>
        <p:spPr>
          <a:xfrm>
            <a:off x="4297680" y="5317236"/>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34" charset="0"/>
                <a:ea typeface="Amiri" pitchFamily="34" charset="-122"/>
                <a:cs typeface="Amiri" pitchFamily="34" charset="-120"/>
              </a:rPr>
              <a:t>يُخَطِّطُونَ لِكَيْ تَكُونَ المَدِينَةُ صَالِحَةً لِلْعَيْشِ</a:t>
            </a:r>
            <a:endParaRPr lang="ar-SA" sz="200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16 / 49</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TC-L08 · Buildings &amp; Services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3 · Lesson 2 of 3</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Complete:</a:t>
            </a:r>
            <a:endParaRPr lang="en-US" sz="1200" dirty="0"/>
          </a:p>
        </p:txBody>
      </p:sp>
      <p:sp>
        <p:nvSpPr>
          <p:cNvPr id="19" name="Text 16"/>
          <p:cNvSpPr txBox="1"/>
          <p:nvPr/>
        </p:nvSpPr>
        <p:spPr>
          <a:xfrm>
            <a:off x="3323295"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34" charset="0"/>
                <a:ea typeface="Amiri" pitchFamily="34" charset="-122"/>
                <a:cs typeface="Amiri" pitchFamily="34" charset="-120"/>
              </a:rPr>
              <a:t>___ مَكْتَبَةٌ كَبِيرَةٌ فِي مَدِينَتِي.</a:t>
            </a:r>
            <a:endParaRPr lang="ar-SA" sz="1500" dirty="0"/>
          </a:p>
        </p:txBody>
      </p:sp>
      <p:sp>
        <p:nvSpPr>
          <p:cNvPr id="20" name="Shape 17"/>
          <p:cNvSpPr/>
          <p:nvPr/>
        </p:nvSpPr>
        <p:spPr>
          <a:xfrm>
            <a:off x="640080" y="2532888"/>
            <a:ext cx="256032" cy="256032"/>
          </a:xfrm>
          <a:prstGeom prst="ellipse">
            <a:avLst/>
          </a:prstGeom>
          <a:solidFill>
            <a:srgbClr val="F4F1EA"/>
          </a:solidFill>
          <a:ln w="12700">
            <a:solidFill>
              <a:srgbClr val="F4F1EA"/>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2" name="Text 19"/>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يُوجَدُ</a:t>
            </a:r>
            <a:endParaRPr lang="ar-SA" sz="2050" dirty="0"/>
          </a:p>
        </p:txBody>
      </p:sp>
      <p:sp>
        <p:nvSpPr>
          <p:cNvPr id="23" name="Shape 20"/>
          <p:cNvSpPr/>
          <p:nvPr/>
        </p:nvSpPr>
        <p:spPr>
          <a:xfrm>
            <a:off x="640080" y="2990088"/>
            <a:ext cx="256032" cy="256032"/>
          </a:xfrm>
          <a:prstGeom prst="ellipse">
            <a:avLst/>
          </a:prstGeom>
          <a:solidFill>
            <a:srgbClr val="F4F1EA"/>
          </a:solidFill>
          <a:ln w="12700">
            <a:solidFill>
              <a:srgbClr val="F4F1EA"/>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5" name="Text 22"/>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تُوجَدِينَ</a:t>
            </a:r>
            <a:endParaRPr lang="ar-SA" sz="2050" dirty="0"/>
          </a:p>
        </p:txBody>
      </p:sp>
      <p:sp>
        <p:nvSpPr>
          <p:cNvPr id="26" name="Shape 23"/>
          <p:cNvSpPr/>
          <p:nvPr/>
        </p:nvSpPr>
        <p:spPr>
          <a:xfrm>
            <a:off x="640080" y="3447288"/>
            <a:ext cx="256032" cy="256032"/>
          </a:xfrm>
          <a:prstGeom prst="ellipse">
            <a:avLst/>
          </a:prstGeom>
          <a:solidFill>
            <a:srgbClr val="F4F1EA"/>
          </a:solidFill>
          <a:ln w="12700">
            <a:solidFill>
              <a:srgbClr val="F4F1EA"/>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8" name="Text 25"/>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تُوجَدُ</a:t>
            </a:r>
            <a:endParaRPr lang="ar-SA" sz="2050" dirty="0"/>
          </a:p>
        </p:txBody>
      </p:sp>
      <p:sp>
        <p:nvSpPr>
          <p:cNvPr id="29" name="Shape 26"/>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313932" y="1947672"/>
            <a:ext cx="310896" cy="310896"/>
          </a:xfrm>
          <a:prstGeom prst="ellipse">
            <a:avLst/>
          </a:prstGeom>
          <a:solidFill>
            <a:srgbClr val="1B3B6F"/>
          </a:solidFill>
          <a:ln w="12700">
            <a:solidFill>
              <a:srgbClr val="1B3B6F"/>
            </a:solidFill>
            <a:prstDash val="solid"/>
          </a:ln>
        </p:spPr>
      </p:sp>
      <p:sp>
        <p:nvSpPr>
          <p:cNvPr id="31" name="Text 28"/>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2" name="Text 29"/>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means “The café is next to the library”?</a:t>
            </a:r>
            <a:endParaRPr lang="en-US" sz="1250" dirty="0"/>
          </a:p>
        </p:txBody>
      </p:sp>
      <p:sp>
        <p:nvSpPr>
          <p:cNvPr id="33" name="Shape 30"/>
          <p:cNvSpPr/>
          <p:nvPr/>
        </p:nvSpPr>
        <p:spPr>
          <a:xfrm>
            <a:off x="6368796" y="2532888"/>
            <a:ext cx="256032" cy="256032"/>
          </a:xfrm>
          <a:prstGeom prst="ellipse">
            <a:avLst/>
          </a:prstGeom>
          <a:solidFill>
            <a:srgbClr val="F4F1EA"/>
          </a:solidFill>
          <a:ln w="12700">
            <a:solidFill>
              <a:srgbClr val="F4F1EA"/>
            </a:solidFill>
            <a:prstDash val="solid"/>
          </a:ln>
        </p:spPr>
      </p:sp>
      <p:sp>
        <p:nvSpPr>
          <p:cNvPr id="34" name="Text 31"/>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5" name="Text 32"/>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المَقْهَى بِجَانِبِ المَكْتَبَةِ.</a:t>
            </a:r>
            <a:endParaRPr lang="ar-SA" sz="2050" dirty="0"/>
          </a:p>
        </p:txBody>
      </p:sp>
      <p:sp>
        <p:nvSpPr>
          <p:cNvPr id="36" name="Shape 33"/>
          <p:cNvSpPr/>
          <p:nvPr/>
        </p:nvSpPr>
        <p:spPr>
          <a:xfrm>
            <a:off x="6368796" y="2990088"/>
            <a:ext cx="256032" cy="256032"/>
          </a:xfrm>
          <a:prstGeom prst="ellipse">
            <a:avLst/>
          </a:prstGeom>
          <a:solidFill>
            <a:srgbClr val="F4F1EA"/>
          </a:solidFill>
          <a:ln w="12700">
            <a:solidFill>
              <a:srgbClr val="F4F1EA"/>
            </a:solidFill>
            <a:prstDash val="solid"/>
          </a:ln>
        </p:spPr>
      </p:sp>
      <p:sp>
        <p:nvSpPr>
          <p:cNvPr id="37" name="Text 34"/>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8" name="Text 35"/>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المَقْهَى خَلْفَ المَكْتَبَةِ.</a:t>
            </a:r>
            <a:endParaRPr lang="ar-SA" sz="2050" dirty="0"/>
          </a:p>
        </p:txBody>
      </p:sp>
      <p:sp>
        <p:nvSpPr>
          <p:cNvPr id="39" name="Shape 36"/>
          <p:cNvSpPr/>
          <p:nvPr/>
        </p:nvSpPr>
        <p:spPr>
          <a:xfrm>
            <a:off x="6368796" y="3447288"/>
            <a:ext cx="256032" cy="256032"/>
          </a:xfrm>
          <a:prstGeom prst="ellipse">
            <a:avLst/>
          </a:prstGeom>
          <a:solidFill>
            <a:srgbClr val="F4F1EA"/>
          </a:solidFill>
          <a:ln w="12700">
            <a:solidFill>
              <a:srgbClr val="F4F1EA"/>
            </a:solidFill>
            <a:prstDash val="solid"/>
          </a:ln>
        </p:spPr>
      </p:sp>
      <p:sp>
        <p:nvSpPr>
          <p:cNvPr id="40" name="Text 37"/>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1" name="Text 38"/>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المَقْهَى مُقَابِلَ المَكْتَبَةِ.</a:t>
            </a:r>
            <a:endParaRPr lang="ar-SA" sz="2050" dirty="0"/>
          </a:p>
        </p:txBody>
      </p:sp>
      <p:sp>
        <p:nvSpPr>
          <p:cNvPr id="42" name="Shape 39"/>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585216" y="4288536"/>
            <a:ext cx="310896" cy="310896"/>
          </a:xfrm>
          <a:prstGeom prst="ellipse">
            <a:avLst/>
          </a:prstGeom>
          <a:solidFill>
            <a:srgbClr val="1B3B6F"/>
          </a:solidFill>
          <a:ln w="12700">
            <a:solidFill>
              <a:srgbClr val="1B3B6F"/>
            </a:solidFill>
            <a:prstDash val="solid"/>
          </a:ln>
        </p:spPr>
      </p:sp>
      <p:sp>
        <p:nvSpPr>
          <p:cNvPr id="44" name="Text 4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5" name="Text 42"/>
          <p:cNvSpPr txBox="1"/>
          <p:nvPr/>
        </p:nvSpPr>
        <p:spPr>
          <a:xfrm>
            <a:off x="950976"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Complete:</a:t>
            </a:r>
            <a:endParaRPr lang="en-US" sz="1200" dirty="0"/>
          </a:p>
        </p:txBody>
      </p:sp>
      <p:sp>
        <p:nvSpPr>
          <p:cNvPr id="46" name="Text 43"/>
          <p:cNvSpPr txBox="1"/>
          <p:nvPr/>
        </p:nvSpPr>
        <p:spPr>
          <a:xfrm>
            <a:off x="3323295" y="4224528"/>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34" charset="0"/>
                <a:ea typeface="Amiri" pitchFamily="34" charset="-122"/>
                <a:cs typeface="Amiri" pitchFamily="34" charset="-120"/>
              </a:rPr>
              <a:t>المَدِينَةُ أَكْبَرُ ___ القَرْيَةِ.</a:t>
            </a:r>
            <a:endParaRPr lang="ar-SA" sz="1500" dirty="0"/>
          </a:p>
        </p:txBody>
      </p:sp>
      <p:sp>
        <p:nvSpPr>
          <p:cNvPr id="47" name="Shape 44"/>
          <p:cNvSpPr/>
          <p:nvPr/>
        </p:nvSpPr>
        <p:spPr>
          <a:xfrm>
            <a:off x="640080" y="4873752"/>
            <a:ext cx="256032" cy="256032"/>
          </a:xfrm>
          <a:prstGeom prst="ellipse">
            <a:avLst/>
          </a:prstGeom>
          <a:solidFill>
            <a:srgbClr val="F4F1EA"/>
          </a:solidFill>
          <a:ln w="12700">
            <a:solidFill>
              <a:srgbClr val="F4F1EA"/>
            </a:solidFill>
            <a:prstDash val="solid"/>
          </a:ln>
        </p:spPr>
      </p:sp>
      <p:sp>
        <p:nvSpPr>
          <p:cNvPr id="48" name="Text 45"/>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9" name="Text 46"/>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عَنِ</a:t>
            </a:r>
            <a:endParaRPr lang="ar-SA" sz="2050" dirty="0"/>
          </a:p>
        </p:txBody>
      </p:sp>
      <p:sp>
        <p:nvSpPr>
          <p:cNvPr id="50" name="Shape 47"/>
          <p:cNvSpPr/>
          <p:nvPr/>
        </p:nvSpPr>
        <p:spPr>
          <a:xfrm>
            <a:off x="640080" y="5330952"/>
            <a:ext cx="256032" cy="256032"/>
          </a:xfrm>
          <a:prstGeom prst="ellipse">
            <a:avLst/>
          </a:prstGeom>
          <a:solidFill>
            <a:srgbClr val="F4F1EA"/>
          </a:solidFill>
          <a:ln w="12700">
            <a:solidFill>
              <a:srgbClr val="F4F1EA"/>
            </a:solidFill>
            <a:prstDash val="solid"/>
          </a:ln>
        </p:spPr>
      </p:sp>
      <p:sp>
        <p:nvSpPr>
          <p:cNvPr id="51" name="Text 48"/>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2" name="Text 49"/>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مِنَ</a:t>
            </a:r>
            <a:endParaRPr lang="ar-SA" sz="2050" dirty="0"/>
          </a:p>
        </p:txBody>
      </p:sp>
      <p:sp>
        <p:nvSpPr>
          <p:cNvPr id="53" name="Shape 50"/>
          <p:cNvSpPr/>
          <p:nvPr/>
        </p:nvSpPr>
        <p:spPr>
          <a:xfrm>
            <a:off x="640080" y="5788152"/>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5" name="Text 52"/>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فِي</a:t>
            </a:r>
            <a:endParaRPr lang="ar-SA" sz="2050" dirty="0"/>
          </a:p>
        </p:txBody>
      </p:sp>
      <p:sp>
        <p:nvSpPr>
          <p:cNvPr id="56" name="Shape 53"/>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6313932"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59" name="Text 56"/>
          <p:cNvSpPr txBox="1"/>
          <p:nvPr/>
        </p:nvSpPr>
        <p:spPr>
          <a:xfrm>
            <a:off x="6679692"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Complete:</a:t>
            </a:r>
            <a:endParaRPr lang="en-US" sz="1200" dirty="0"/>
          </a:p>
        </p:txBody>
      </p:sp>
      <p:sp>
        <p:nvSpPr>
          <p:cNvPr id="60" name="Text 57"/>
          <p:cNvSpPr txBox="1"/>
          <p:nvPr/>
        </p:nvSpPr>
        <p:spPr>
          <a:xfrm>
            <a:off x="9052011" y="4224528"/>
            <a:ext cx="2570013" cy="475488"/>
          </a:xfrm>
          <a:prstGeom prst="rect">
            <a:avLst/>
          </a:prstGeom>
          <a:noFill/>
          <a:ln/>
        </p:spPr>
        <p:txBody>
          <a:bodyPr wrap="square" lIns="0" tIns="0" rIns="0" bIns="0" rtlCol="0" anchor="ctr"/>
          <a:lstStyle/>
          <a:p>
            <a:pPr rtl="1" algn="r" indent="0" marL="0">
              <a:buNone/>
            </a:pPr>
            <a:r>
              <a:rPr lang="ar-SA" altLang="en-US" sz="1300" b="1" dirty="0">
                <a:solidFill>
                  <a:srgbClr val="1F2A37"/>
                </a:solidFill>
                <a:latin typeface="Amiri" pitchFamily="34" charset="0"/>
                <a:ea typeface="Amiri" pitchFamily="34" charset="-122"/>
                <a:cs typeface="Amiri" pitchFamily="34" charset="-120"/>
              </a:rPr>
              <a:t>نَاطِحَاتُ السَّحَابِ مَبْنِيَّةٌ ___ الزُّجَاجِ وَالصُّلْبِ.</a:t>
            </a:r>
            <a:endParaRPr lang="ar-SA" sz="1300" dirty="0"/>
          </a:p>
        </p:txBody>
      </p:sp>
      <p:sp>
        <p:nvSpPr>
          <p:cNvPr id="61" name="Shape 58"/>
          <p:cNvSpPr/>
          <p:nvPr/>
        </p:nvSpPr>
        <p:spPr>
          <a:xfrm>
            <a:off x="6368796" y="48737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3" name="Text 60"/>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مِنَ</a:t>
            </a:r>
            <a:endParaRPr lang="ar-SA" sz="2050" dirty="0"/>
          </a:p>
        </p:txBody>
      </p:sp>
      <p:sp>
        <p:nvSpPr>
          <p:cNvPr id="64" name="Shape 61"/>
          <p:cNvSpPr/>
          <p:nvPr/>
        </p:nvSpPr>
        <p:spPr>
          <a:xfrm>
            <a:off x="6368796" y="53309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6" name="Text 63"/>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بِـ</a:t>
            </a:r>
            <a:endParaRPr lang="ar-SA" sz="2050" dirty="0"/>
          </a:p>
        </p:txBody>
      </p:sp>
      <p:sp>
        <p:nvSpPr>
          <p:cNvPr id="67" name="Shape 64"/>
          <p:cNvSpPr/>
          <p:nvPr/>
        </p:nvSpPr>
        <p:spPr>
          <a:xfrm>
            <a:off x="6368796" y="5788152"/>
            <a:ext cx="256032" cy="256032"/>
          </a:xfrm>
          <a:prstGeom prst="ellipse">
            <a:avLst/>
          </a:prstGeom>
          <a:solidFill>
            <a:srgbClr val="F4F1EA"/>
          </a:solidFill>
          <a:ln w="12700">
            <a:solidFill>
              <a:srgbClr val="F4F1EA"/>
            </a:solidFill>
            <a:prstDash val="solid"/>
          </a:ln>
        </p:spPr>
      </p:sp>
      <p:sp>
        <p:nvSpPr>
          <p:cNvPr id="68" name="Text 65"/>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9" name="Text 66"/>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عَلَى</a:t>
            </a:r>
            <a:endParaRPr lang="ar-SA" sz="20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17 / 49</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TC-L08 · Buildings &amp; Services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3 · Lesson 2 of 3</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Complete:</a:t>
            </a:r>
            <a:endParaRPr lang="en-US" sz="1200" dirty="0"/>
          </a:p>
        </p:txBody>
      </p:sp>
      <p:sp>
        <p:nvSpPr>
          <p:cNvPr id="19" name="Text 16"/>
          <p:cNvSpPr txBox="1"/>
          <p:nvPr/>
        </p:nvSpPr>
        <p:spPr>
          <a:xfrm>
            <a:off x="3323295"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34" charset="0"/>
                <a:ea typeface="Amiri" pitchFamily="34" charset="-122"/>
                <a:cs typeface="Amiri" pitchFamily="34" charset="-120"/>
              </a:rPr>
              <a:t>___ مَكْتَبَةٌ كَبِيرَةٌ فِي مَدِينَتِي.</a:t>
            </a:r>
            <a:endParaRPr lang="ar-SA" sz="1500" dirty="0"/>
          </a:p>
        </p:txBody>
      </p:sp>
      <p:sp>
        <p:nvSpPr>
          <p:cNvPr id="20" name="Shape 17"/>
          <p:cNvSpPr/>
          <p:nvPr/>
        </p:nvSpPr>
        <p:spPr>
          <a:xfrm>
            <a:off x="640080" y="2490216"/>
            <a:ext cx="256032" cy="256032"/>
          </a:xfrm>
          <a:prstGeom prst="ellipse">
            <a:avLst/>
          </a:prstGeom>
          <a:solidFill>
            <a:srgbClr val="C9CED6"/>
          </a:solidFill>
          <a:ln w="12700">
            <a:solidFill>
              <a:srgbClr val="C9CED6"/>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2" name="Text 19"/>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يُوجَدُ</a:t>
            </a:r>
            <a:endParaRPr lang="ar-SA" sz="170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5" name="Text 22"/>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تُوجَدِينَ</a:t>
            </a:r>
            <a:endParaRPr lang="ar-SA" sz="1700" dirty="0"/>
          </a:p>
        </p:txBody>
      </p:sp>
      <p:sp>
        <p:nvSpPr>
          <p:cNvPr id="26" name="Shape 23"/>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7" name="Shape 24"/>
          <p:cNvSpPr/>
          <p:nvPr/>
        </p:nvSpPr>
        <p:spPr>
          <a:xfrm>
            <a:off x="640080" y="3233928"/>
            <a:ext cx="256032" cy="256032"/>
          </a:xfrm>
          <a:prstGeom prst="ellipse">
            <a:avLst/>
          </a:prstGeom>
          <a:solidFill>
            <a:srgbClr val="2E8B57"/>
          </a:solidFill>
          <a:ln w="12700">
            <a:solidFill>
              <a:srgbClr val="2E8B57"/>
            </a:solidFill>
            <a:prstDash val="solid"/>
          </a:ln>
        </p:spPr>
      </p:sp>
      <p:sp>
        <p:nvSpPr>
          <p:cNvPr id="28" name="Text 25"/>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29" name="Text 26"/>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تُوجَدُ</a:t>
            </a:r>
            <a:endParaRPr lang="ar-SA" sz="1700" dirty="0"/>
          </a:p>
        </p:txBody>
      </p:sp>
      <p:sp>
        <p:nvSpPr>
          <p:cNvPr id="30" name="Text 27"/>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مَكْتَبَةٌ</a:t>
            </a:r>
            <a:pPr algn="l" indent="0" marL="0">
              <a:buNone/>
            </a:pPr>
            <a:r>
              <a:rPr lang="en-US" sz="1050" i="1" dirty="0">
                <a:solidFill>
                  <a:srgbClr val="8A6D1E"/>
                </a:solidFill>
                <a:latin typeface="Calibri" pitchFamily="34" charset="0"/>
                <a:ea typeface="Calibri" pitchFamily="34" charset="-122"/>
                <a:cs typeface="Calibri" pitchFamily="34" charset="-120"/>
              </a:rPr>
              <a:t> ends in </a:t>
            </a:r>
            <a:pPr algn="l" indent="0" marL="0">
              <a:buNone/>
            </a:pPr>
            <a:r>
              <a:rPr lang="ar-SA" altLang="en-US" sz="1350" dirty="0">
                <a:solidFill>
                  <a:srgbClr val="8A6D1E"/>
                </a:solidFill>
                <a:latin typeface="Amiri" pitchFamily="34" charset="0"/>
                <a:ea typeface="Amiri" pitchFamily="34" charset="-122"/>
                <a:cs typeface="Amiri" pitchFamily="34" charset="-120"/>
              </a:rPr>
              <a:t>ـة</a:t>
            </a:r>
            <a:pPr algn="l" indent="0" marL="0">
              <a:buNone/>
            </a:pPr>
            <a:r>
              <a:rPr lang="en-US" sz="1050" i="1" dirty="0">
                <a:solidFill>
                  <a:srgbClr val="8A6D1E"/>
                </a:solidFill>
                <a:latin typeface="Calibri" pitchFamily="34" charset="0"/>
                <a:ea typeface="Calibri" pitchFamily="34" charset="-122"/>
                <a:cs typeface="Calibri" pitchFamily="34" charset="-120"/>
              </a:rPr>
              <a:t> (feminine) → </a:t>
            </a:r>
            <a:pPr algn="l" indent="0" marL="0">
              <a:buNone/>
            </a:pPr>
            <a:r>
              <a:rPr lang="ar-SA" altLang="en-US" sz="1350" dirty="0">
                <a:solidFill>
                  <a:srgbClr val="8A6D1E"/>
                </a:solidFill>
                <a:latin typeface="Amiri" pitchFamily="34" charset="0"/>
                <a:ea typeface="Amiri" pitchFamily="34" charset="-122"/>
                <a:cs typeface="Amiri" pitchFamily="34" charset="-120"/>
              </a:rPr>
              <a:t>تُوجَدُ</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31" name="Shape 28"/>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6313932" y="1947672"/>
            <a:ext cx="310896" cy="310896"/>
          </a:xfrm>
          <a:prstGeom prst="ellipse">
            <a:avLst/>
          </a:prstGeom>
          <a:solidFill>
            <a:srgbClr val="1B3B6F"/>
          </a:solidFill>
          <a:ln w="12700">
            <a:solidFill>
              <a:srgbClr val="1B3B6F"/>
            </a:solidFill>
            <a:prstDash val="solid"/>
          </a:ln>
        </p:spPr>
      </p:sp>
      <p:sp>
        <p:nvSpPr>
          <p:cNvPr id="33" name="Text 30"/>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4" name="Text 31"/>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means “The café is next to the library”?</a:t>
            </a:r>
            <a:endParaRPr lang="en-US" sz="1250" dirty="0"/>
          </a:p>
        </p:txBody>
      </p:sp>
      <p:sp>
        <p:nvSpPr>
          <p:cNvPr id="35" name="Shape 32"/>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6" name="Shape 33"/>
          <p:cNvSpPr/>
          <p:nvPr/>
        </p:nvSpPr>
        <p:spPr>
          <a:xfrm>
            <a:off x="6368796" y="2490216"/>
            <a:ext cx="256032" cy="256032"/>
          </a:xfrm>
          <a:prstGeom prst="ellipse">
            <a:avLst/>
          </a:prstGeom>
          <a:solidFill>
            <a:srgbClr val="2E8B57"/>
          </a:solidFill>
          <a:ln w="12700">
            <a:solidFill>
              <a:srgbClr val="2E8B57"/>
            </a:solidFill>
            <a:prstDash val="solid"/>
          </a:ln>
        </p:spPr>
      </p:sp>
      <p:sp>
        <p:nvSpPr>
          <p:cNvPr id="37" name="Text 34"/>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38" name="Text 35"/>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المَقْهَى بِجَانِبِ المَكْتَبَةِ.</a:t>
            </a:r>
            <a:endParaRPr lang="ar-SA" sz="1700" dirty="0"/>
          </a:p>
        </p:txBody>
      </p:sp>
      <p:sp>
        <p:nvSpPr>
          <p:cNvPr id="39" name="Shape 36"/>
          <p:cNvSpPr/>
          <p:nvPr/>
        </p:nvSpPr>
        <p:spPr>
          <a:xfrm>
            <a:off x="6368796"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41" name="Text 38"/>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المَقْهَى خَلْفَ المَكْتَبَةِ.</a:t>
            </a:r>
            <a:endParaRPr lang="ar-SA" sz="1700" dirty="0"/>
          </a:p>
        </p:txBody>
      </p:sp>
      <p:sp>
        <p:nvSpPr>
          <p:cNvPr id="42" name="Shape 39"/>
          <p:cNvSpPr/>
          <p:nvPr/>
        </p:nvSpPr>
        <p:spPr>
          <a:xfrm>
            <a:off x="6368796" y="3233928"/>
            <a:ext cx="256032" cy="256032"/>
          </a:xfrm>
          <a:prstGeom prst="ellipse">
            <a:avLst/>
          </a:prstGeom>
          <a:solidFill>
            <a:srgbClr val="C9CED6"/>
          </a:solidFill>
          <a:ln w="12700">
            <a:solidFill>
              <a:srgbClr val="C9CED6"/>
            </a:solidFill>
            <a:prstDash val="solid"/>
          </a:ln>
        </p:spPr>
      </p:sp>
      <p:sp>
        <p:nvSpPr>
          <p:cNvPr id="43" name="Text 40"/>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4" name="Text 41"/>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المَقْهَى مُقَابِلَ المَكْتَبَةِ.</a:t>
            </a:r>
            <a:endParaRPr lang="ar-SA" sz="1700" dirty="0"/>
          </a:p>
        </p:txBody>
      </p:sp>
      <p:sp>
        <p:nvSpPr>
          <p:cNvPr id="45" name="Text 42"/>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Website game: </a:t>
            </a:r>
            <a:pPr algn="l" indent="0" marL="0">
              <a:buNone/>
            </a:pPr>
            <a:r>
              <a:rPr lang="ar-SA" altLang="en-US" sz="1350" dirty="0">
                <a:solidFill>
                  <a:srgbClr val="8A6D1E"/>
                </a:solidFill>
                <a:latin typeface="Amiri" pitchFamily="34" charset="0"/>
                <a:ea typeface="Amiri" pitchFamily="34" charset="-122"/>
                <a:cs typeface="Amiri" pitchFamily="34" charset="-120"/>
              </a:rPr>
              <a:t>بِجَانِبِ</a:t>
            </a:r>
            <a:pPr algn="l" indent="0" marL="0">
              <a:buNone/>
            </a:pPr>
            <a:r>
              <a:rPr lang="en-US" sz="1050" i="1" dirty="0">
                <a:solidFill>
                  <a:srgbClr val="8A6D1E"/>
                </a:solidFill>
                <a:latin typeface="Calibri" pitchFamily="34" charset="0"/>
                <a:ea typeface="Calibri" pitchFamily="34" charset="-122"/>
                <a:cs typeface="Calibri" pitchFamily="34" charset="-120"/>
              </a:rPr>
              <a:t> = next to.</a:t>
            </a:r>
            <a:endParaRPr lang="en-US" sz="1050" dirty="0"/>
          </a:p>
        </p:txBody>
      </p:sp>
      <p:sp>
        <p:nvSpPr>
          <p:cNvPr id="46" name="Shape 43"/>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4"/>
          <p:cNvSpPr/>
          <p:nvPr/>
        </p:nvSpPr>
        <p:spPr>
          <a:xfrm>
            <a:off x="585216" y="4288536"/>
            <a:ext cx="310896" cy="310896"/>
          </a:xfrm>
          <a:prstGeom prst="ellipse">
            <a:avLst/>
          </a:prstGeom>
          <a:solidFill>
            <a:srgbClr val="1B3B6F"/>
          </a:solidFill>
          <a:ln w="12700">
            <a:solidFill>
              <a:srgbClr val="1B3B6F"/>
            </a:solidFill>
            <a:prstDash val="solid"/>
          </a:ln>
        </p:spPr>
      </p:sp>
      <p:sp>
        <p:nvSpPr>
          <p:cNvPr id="48" name="Text 45"/>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9" name="Text 46"/>
          <p:cNvSpPr txBox="1"/>
          <p:nvPr/>
        </p:nvSpPr>
        <p:spPr>
          <a:xfrm>
            <a:off x="950976"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Complete:</a:t>
            </a:r>
            <a:endParaRPr lang="en-US" sz="1200" dirty="0"/>
          </a:p>
        </p:txBody>
      </p:sp>
      <p:sp>
        <p:nvSpPr>
          <p:cNvPr id="50" name="Text 47"/>
          <p:cNvSpPr txBox="1"/>
          <p:nvPr/>
        </p:nvSpPr>
        <p:spPr>
          <a:xfrm>
            <a:off x="3323295" y="4224528"/>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34" charset="0"/>
                <a:ea typeface="Amiri" pitchFamily="34" charset="-122"/>
                <a:cs typeface="Amiri" pitchFamily="34" charset="-120"/>
              </a:rPr>
              <a:t>المَدِينَةُ أَكْبَرُ ___ القَرْيَةِ.</a:t>
            </a:r>
            <a:endParaRPr lang="ar-SA" sz="1500" dirty="0"/>
          </a:p>
        </p:txBody>
      </p:sp>
      <p:sp>
        <p:nvSpPr>
          <p:cNvPr id="51" name="Shape 48"/>
          <p:cNvSpPr/>
          <p:nvPr/>
        </p:nvSpPr>
        <p:spPr>
          <a:xfrm>
            <a:off x="640080" y="4831080"/>
            <a:ext cx="256032" cy="256032"/>
          </a:xfrm>
          <a:prstGeom prst="ellipse">
            <a:avLst/>
          </a:prstGeom>
          <a:solidFill>
            <a:srgbClr val="C9CED6"/>
          </a:solidFill>
          <a:ln w="12700">
            <a:solidFill>
              <a:srgbClr val="C9CED6"/>
            </a:solidFill>
            <a:prstDash val="solid"/>
          </a:ln>
        </p:spPr>
      </p:sp>
      <p:sp>
        <p:nvSpPr>
          <p:cNvPr id="52" name="Text 49"/>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53" name="Text 50"/>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عَنِ</a:t>
            </a:r>
            <a:endParaRPr lang="ar-SA" sz="1700" dirty="0"/>
          </a:p>
        </p:txBody>
      </p:sp>
      <p:sp>
        <p:nvSpPr>
          <p:cNvPr id="54" name="Shape 51"/>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5" name="Shape 52"/>
          <p:cNvSpPr/>
          <p:nvPr/>
        </p:nvSpPr>
        <p:spPr>
          <a:xfrm>
            <a:off x="640080" y="5202936"/>
            <a:ext cx="256032" cy="256032"/>
          </a:xfrm>
          <a:prstGeom prst="ellipse">
            <a:avLst/>
          </a:prstGeom>
          <a:solidFill>
            <a:srgbClr val="2E8B57"/>
          </a:solidFill>
          <a:ln w="12700">
            <a:solidFill>
              <a:srgbClr val="2E8B57"/>
            </a:solidFill>
            <a:prstDash val="solid"/>
          </a:ln>
        </p:spPr>
      </p:sp>
      <p:sp>
        <p:nvSpPr>
          <p:cNvPr id="56" name="Text 53"/>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57" name="Text 54"/>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مِنَ</a:t>
            </a:r>
            <a:endParaRPr lang="ar-SA" sz="1700" dirty="0"/>
          </a:p>
        </p:txBody>
      </p:sp>
      <p:sp>
        <p:nvSpPr>
          <p:cNvPr id="58" name="Shape 55"/>
          <p:cNvSpPr/>
          <p:nvPr/>
        </p:nvSpPr>
        <p:spPr>
          <a:xfrm>
            <a:off x="640080" y="5574792"/>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0" name="Text 57"/>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فِي</a:t>
            </a:r>
            <a:endParaRPr lang="ar-SA" sz="1700" dirty="0"/>
          </a:p>
        </p:txBody>
      </p:sp>
      <p:sp>
        <p:nvSpPr>
          <p:cNvPr id="61" name="Text 58"/>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Comparatives always take </a:t>
            </a:r>
            <a:pPr algn="l" indent="0" marL="0">
              <a:buNone/>
            </a:pPr>
            <a:r>
              <a:rPr lang="ar-SA" altLang="en-US" sz="1350" dirty="0">
                <a:solidFill>
                  <a:srgbClr val="8A6D1E"/>
                </a:solidFill>
                <a:latin typeface="Amiri" pitchFamily="34" charset="0"/>
                <a:ea typeface="Amiri" pitchFamily="34" charset="-122"/>
                <a:cs typeface="Amiri" pitchFamily="34" charset="-120"/>
              </a:rPr>
              <a:t>مِنْ</a:t>
            </a:r>
            <a:pPr algn="l" indent="0" marL="0">
              <a:buNone/>
            </a:pPr>
            <a:r>
              <a:rPr lang="en-US" sz="1050" i="1" dirty="0">
                <a:solidFill>
                  <a:srgbClr val="8A6D1E"/>
                </a:solidFill>
                <a:latin typeface="Calibri" pitchFamily="34" charset="0"/>
                <a:ea typeface="Calibri" pitchFamily="34" charset="-122"/>
                <a:cs typeface="Calibri" pitchFamily="34" charset="-120"/>
              </a:rPr>
              <a:t>: </a:t>
            </a:r>
            <a:pPr algn="l" indent="0" marL="0">
              <a:buNone/>
            </a:pPr>
            <a:r>
              <a:rPr lang="ar-SA" altLang="en-US" sz="1350" dirty="0">
                <a:solidFill>
                  <a:srgbClr val="8A6D1E"/>
                </a:solidFill>
                <a:latin typeface="Amiri" pitchFamily="34" charset="0"/>
                <a:ea typeface="Amiri" pitchFamily="34" charset="-122"/>
                <a:cs typeface="Amiri" pitchFamily="34" charset="-120"/>
              </a:rPr>
              <a:t>أَكْبَرُ مِنْ</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62" name="Shape 59"/>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6313932"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65" name="Text 62"/>
          <p:cNvSpPr txBox="1"/>
          <p:nvPr/>
        </p:nvSpPr>
        <p:spPr>
          <a:xfrm>
            <a:off x="6679692"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Complete:</a:t>
            </a:r>
            <a:endParaRPr lang="en-US" sz="1200" dirty="0"/>
          </a:p>
        </p:txBody>
      </p:sp>
      <p:sp>
        <p:nvSpPr>
          <p:cNvPr id="66" name="Text 63"/>
          <p:cNvSpPr txBox="1"/>
          <p:nvPr/>
        </p:nvSpPr>
        <p:spPr>
          <a:xfrm>
            <a:off x="9052011" y="4224528"/>
            <a:ext cx="2570013" cy="475488"/>
          </a:xfrm>
          <a:prstGeom prst="rect">
            <a:avLst/>
          </a:prstGeom>
          <a:noFill/>
          <a:ln/>
        </p:spPr>
        <p:txBody>
          <a:bodyPr wrap="square" lIns="0" tIns="0" rIns="0" bIns="0" rtlCol="0" anchor="ctr"/>
          <a:lstStyle/>
          <a:p>
            <a:pPr rtl="1" algn="r" indent="0" marL="0">
              <a:buNone/>
            </a:pPr>
            <a:r>
              <a:rPr lang="ar-SA" altLang="en-US" sz="1300" b="1" dirty="0">
                <a:solidFill>
                  <a:srgbClr val="1F2A37"/>
                </a:solidFill>
                <a:latin typeface="Amiri" pitchFamily="34" charset="0"/>
                <a:ea typeface="Amiri" pitchFamily="34" charset="-122"/>
                <a:cs typeface="Amiri" pitchFamily="34" charset="-120"/>
              </a:rPr>
              <a:t>نَاطِحَاتُ السَّحَابِ مَبْنِيَّةٌ ___ الزُّجَاجِ وَالصُّلْبِ.</a:t>
            </a:r>
            <a:endParaRPr lang="ar-SA" sz="1300" dirty="0"/>
          </a:p>
        </p:txBody>
      </p:sp>
      <p:sp>
        <p:nvSpPr>
          <p:cNvPr id="67" name="Shape 64"/>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8" name="Shape 65"/>
          <p:cNvSpPr/>
          <p:nvPr/>
        </p:nvSpPr>
        <p:spPr>
          <a:xfrm>
            <a:off x="6368796" y="4831080"/>
            <a:ext cx="256032" cy="256032"/>
          </a:xfrm>
          <a:prstGeom prst="ellipse">
            <a:avLst/>
          </a:prstGeom>
          <a:solidFill>
            <a:srgbClr val="2E8B57"/>
          </a:solidFill>
          <a:ln w="12700">
            <a:solidFill>
              <a:srgbClr val="2E8B57"/>
            </a:solidFill>
            <a:prstDash val="solid"/>
          </a:ln>
        </p:spPr>
      </p:sp>
      <p:sp>
        <p:nvSpPr>
          <p:cNvPr id="69" name="Text 66"/>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70" name="Text 67"/>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مِنَ</a:t>
            </a:r>
            <a:endParaRPr lang="ar-SA" sz="1700" dirty="0"/>
          </a:p>
        </p:txBody>
      </p:sp>
      <p:sp>
        <p:nvSpPr>
          <p:cNvPr id="71" name="Shape 68"/>
          <p:cNvSpPr/>
          <p:nvPr/>
        </p:nvSpPr>
        <p:spPr>
          <a:xfrm>
            <a:off x="6368796" y="5202936"/>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3" name="Text 70"/>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بِـ</a:t>
            </a:r>
            <a:endParaRPr lang="ar-SA" sz="1700" dirty="0"/>
          </a:p>
        </p:txBody>
      </p:sp>
      <p:sp>
        <p:nvSpPr>
          <p:cNvPr id="74" name="Shape 71"/>
          <p:cNvSpPr/>
          <p:nvPr/>
        </p:nvSpPr>
        <p:spPr>
          <a:xfrm>
            <a:off x="6368796" y="5574792"/>
            <a:ext cx="256032" cy="256032"/>
          </a:xfrm>
          <a:prstGeom prst="ellipse">
            <a:avLst/>
          </a:prstGeom>
          <a:solidFill>
            <a:srgbClr val="C9CED6"/>
          </a:solidFill>
          <a:ln w="12700">
            <a:solidFill>
              <a:srgbClr val="C9CED6"/>
            </a:solidFill>
            <a:prstDash val="solid"/>
          </a:ln>
        </p:spPr>
      </p:sp>
      <p:sp>
        <p:nvSpPr>
          <p:cNvPr id="75" name="Text 72"/>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6" name="Text 73"/>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عَلَى</a:t>
            </a:r>
            <a:endParaRPr lang="ar-SA" sz="1700" dirty="0"/>
          </a:p>
        </p:txBody>
      </p:sp>
      <p:sp>
        <p:nvSpPr>
          <p:cNvPr id="77" name="Text 74"/>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مَبْنِيٌّ</a:t>
            </a:r>
            <a:pPr algn="l" indent="0" marL="0">
              <a:buNone/>
            </a:pPr>
            <a:r>
              <a:rPr lang="en-US" sz="1050" i="1" dirty="0">
                <a:solidFill>
                  <a:srgbClr val="8A6D1E"/>
                </a:solidFill>
                <a:latin typeface="Calibri" pitchFamily="34" charset="0"/>
                <a:ea typeface="Calibri" pitchFamily="34" charset="-122"/>
                <a:cs typeface="Calibri" pitchFamily="34" charset="-120"/>
              </a:rPr>
              <a:t> is fixed with </a:t>
            </a:r>
            <a:pPr algn="l" indent="0" marL="0">
              <a:buNone/>
            </a:pPr>
            <a:r>
              <a:rPr lang="ar-SA" altLang="en-US" sz="1350" dirty="0">
                <a:solidFill>
                  <a:srgbClr val="8A6D1E"/>
                </a:solidFill>
                <a:latin typeface="Amiri" pitchFamily="34" charset="0"/>
                <a:ea typeface="Amiri" pitchFamily="34" charset="-122"/>
                <a:cs typeface="Amiri" pitchFamily="34" charset="-120"/>
              </a:rPr>
              <a:t>مِنْ</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78" name="Text 7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18 / 49</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TC-L08 · Buildings &amp; Services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ea typeface="Calibri" pitchFamily="34" charset="-122"/>
                <a:cs typeface="Calibri" pitchFamily="34" charset="-120"/>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Watch me describe my area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3 · Lesson 2 of 3</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ea typeface="Calibri" pitchFamily="34" charset="-122"/>
                <a:cs typeface="Calibri" pitchFamily="34" charset="-120"/>
              </a:rPr>
              <a:t>What is there?</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34" charset="0"/>
                <a:ea typeface="Amiri" pitchFamily="34" charset="-122"/>
                <a:cs typeface="Amiri" pitchFamily="34" charset="-120"/>
              </a:rPr>
              <a:t>فِي حَيِّي </a:t>
            </a:r>
            <a:pPr rtl="1" algn="ctr" indent="0" marL="0">
              <a:buNone/>
            </a:pPr>
            <a:r>
              <a:rPr lang="ar-SA" altLang="en-US" sz="2100" b="1" dirty="0">
                <a:solidFill>
                  <a:srgbClr val="1D5FBF"/>
                </a:solidFill>
                <a:latin typeface="Amiri" pitchFamily="34" charset="0"/>
                <a:ea typeface="Amiri" pitchFamily="34" charset="-122"/>
                <a:cs typeface="Amiri" pitchFamily="34" charset="-120"/>
              </a:rPr>
              <a:t>يُ</a:t>
            </a:r>
            <a:pPr rtl="1" algn="ctr" indent="0" marL="0">
              <a:buNone/>
            </a:pPr>
            <a:r>
              <a:rPr lang="ar-SA" altLang="en-US" sz="2100" b="1" dirty="0">
                <a:solidFill>
                  <a:srgbClr val="1B3B6F"/>
                </a:solidFill>
                <a:latin typeface="Amiri" pitchFamily="34" charset="0"/>
                <a:ea typeface="Amiri" pitchFamily="34" charset="-122"/>
                <a:cs typeface="Amiri" pitchFamily="34" charset="-120"/>
              </a:rPr>
              <a:t>وجَدُ مُسْتَشْفًى كَبِيرٌ</a:t>
            </a:r>
            <a:endParaRPr lang="ar-SA" sz="210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ar-SA" altLang="en-US" sz="1500" dirty="0">
                <a:solidFill>
                  <a:srgbClr val="1F2A37"/>
                </a:solidFill>
                <a:latin typeface="Amiri" pitchFamily="34" charset="0"/>
                <a:ea typeface="Amiri" pitchFamily="34" charset="-122"/>
                <a:cs typeface="Amiri" pitchFamily="34" charset="-120"/>
              </a:rPr>
              <a:t>مُسْتَشْفًى</a:t>
            </a:r>
            <a:pPr algn="l" indent="0" marL="0">
              <a:buNone/>
            </a:pPr>
            <a:r>
              <a:rPr lang="en-US" sz="1150" dirty="0">
                <a:solidFill>
                  <a:srgbClr val="1F2A37"/>
                </a:solidFill>
                <a:latin typeface="Calibri" pitchFamily="34" charset="0"/>
                <a:ea typeface="Calibri" pitchFamily="34" charset="-122"/>
                <a:cs typeface="Calibri" pitchFamily="34" charset="-120"/>
              </a:rPr>
              <a:t> is masculine → </a:t>
            </a:r>
            <a:pPr algn="l" indent="0" marL="0">
              <a:buNone/>
            </a:pPr>
            <a:r>
              <a:rPr lang="ar-SA" altLang="en-US" sz="1500" dirty="0">
                <a:solidFill>
                  <a:srgbClr val="1F2A37"/>
                </a:solidFill>
                <a:latin typeface="Amiri" pitchFamily="34" charset="0"/>
                <a:ea typeface="Amiri" pitchFamily="34" charset="-122"/>
                <a:cs typeface="Amiri" pitchFamily="34" charset="-120"/>
              </a:rPr>
              <a:t>يُـ</a:t>
            </a:r>
            <a:pPr algn="l" indent="0" marL="0">
              <a:buNone/>
            </a:pPr>
            <a:r>
              <a:rPr lang="en-US" sz="1150" dirty="0">
                <a:solidFill>
                  <a:srgbClr val="1F2A37"/>
                </a:solidFill>
                <a:latin typeface="Calibri" pitchFamily="34" charset="0"/>
                <a:ea typeface="Calibri" pitchFamily="34" charset="-122"/>
                <a:cs typeface="Calibri" pitchFamily="34" charset="-120"/>
              </a:rPr>
              <a:t>.</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ea typeface="Calibri" pitchFamily="34" charset="-122"/>
                <a:cs typeface="Calibri" pitchFamily="34" charset="-120"/>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ea typeface="Calibri" pitchFamily="34" charset="-122"/>
                <a:cs typeface="Calibri" pitchFamily="34" charset="-120"/>
              </a:rPr>
              <a:t>Where is it?</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2000" b="1" dirty="0">
                <a:solidFill>
                  <a:srgbClr val="1B3B6F"/>
                </a:solidFill>
                <a:latin typeface="Amiri" pitchFamily="34" charset="0"/>
                <a:ea typeface="Amiri" pitchFamily="34" charset="-122"/>
                <a:cs typeface="Amiri" pitchFamily="34" charset="-120"/>
              </a:rPr>
              <a:t>وَ</a:t>
            </a:r>
            <a:pPr rtl="1" algn="ctr" indent="0" marL="0">
              <a:lnSpc>
                <a:spcPct val="120000"/>
              </a:lnSpc>
              <a:buNone/>
            </a:pPr>
            <a:r>
              <a:rPr lang="ar-SA" altLang="en-US" sz="2000" b="1" dirty="0">
                <a:solidFill>
                  <a:srgbClr val="1D5FBF"/>
                </a:solidFill>
                <a:latin typeface="Amiri" pitchFamily="34" charset="0"/>
                <a:ea typeface="Amiri" pitchFamily="34" charset="-122"/>
                <a:cs typeface="Amiri" pitchFamily="34" charset="-120"/>
              </a:rPr>
              <a:t>تُ</a:t>
            </a:r>
            <a:pPr rtl="1" algn="ctr" indent="0" marL="0">
              <a:lnSpc>
                <a:spcPct val="120000"/>
              </a:lnSpc>
              <a:buNone/>
            </a:pPr>
            <a:r>
              <a:rPr lang="ar-SA" altLang="en-US" sz="2000" b="1" dirty="0">
                <a:solidFill>
                  <a:srgbClr val="1B3B6F"/>
                </a:solidFill>
                <a:latin typeface="Amiri" pitchFamily="34" charset="0"/>
                <a:ea typeface="Amiri" pitchFamily="34" charset="-122"/>
                <a:cs typeface="Amiri" pitchFamily="34" charset="-120"/>
              </a:rPr>
              <a:t>وجَدُ مَكْتَبَةٌ </a:t>
            </a:r>
            <a:pPr rtl="1" algn="ctr" indent="0" marL="0">
              <a:lnSpc>
                <a:spcPct val="120000"/>
              </a:lnSpc>
              <a:buNone/>
            </a:pPr>
            <a:r>
              <a:rPr lang="ar-SA" altLang="en-US" sz="2000" b="1" dirty="0">
                <a:solidFill>
                  <a:srgbClr val="0E7C86"/>
                </a:solidFill>
                <a:latin typeface="Amiri" pitchFamily="34" charset="0"/>
                <a:ea typeface="Amiri" pitchFamily="34" charset="-122"/>
                <a:cs typeface="Amiri" pitchFamily="34" charset="-120"/>
              </a:rPr>
              <a:t>بِجَانِبِ</a:t>
            </a:r>
            <a:pPr rtl="1" algn="ctr" indent="0" marL="0">
              <a:lnSpc>
                <a:spcPct val="120000"/>
              </a:lnSpc>
              <a:buNone/>
            </a:pPr>
            <a:r>
              <a:rPr lang="ar-SA" altLang="en-US" sz="2000" b="1" dirty="0">
                <a:solidFill>
                  <a:srgbClr val="1B3B6F"/>
                </a:solidFill>
                <a:latin typeface="Amiri" pitchFamily="34" charset="0"/>
                <a:ea typeface="Amiri" pitchFamily="34" charset="-122"/>
                <a:cs typeface="Amiri" pitchFamily="34" charset="-120"/>
              </a:rPr>
              <a:t> المَقْهَى</a:t>
            </a:r>
            <a:endParaRPr lang="ar-SA" sz="200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ar-SA" altLang="en-US" sz="1500" dirty="0">
                <a:solidFill>
                  <a:srgbClr val="1F2A37"/>
                </a:solidFill>
                <a:latin typeface="Amiri" pitchFamily="34" charset="0"/>
                <a:ea typeface="Amiri" pitchFamily="34" charset="-122"/>
                <a:cs typeface="Amiri" pitchFamily="34" charset="-120"/>
              </a:rPr>
              <a:t>مَكْتَبَةٌ</a:t>
            </a:r>
            <a:pPr algn="l" indent="0" marL="0">
              <a:buNone/>
            </a:pPr>
            <a:r>
              <a:rPr lang="en-US" sz="1150" dirty="0">
                <a:solidFill>
                  <a:srgbClr val="1F2A37"/>
                </a:solidFill>
                <a:latin typeface="Calibri" pitchFamily="34" charset="0"/>
                <a:ea typeface="Calibri" pitchFamily="34" charset="-122"/>
                <a:cs typeface="Calibri" pitchFamily="34" charset="-120"/>
              </a:rPr>
              <a:t> has </a:t>
            </a:r>
            <a:pPr algn="l" indent="0" marL="0">
              <a:buNone/>
            </a:pPr>
            <a:r>
              <a:rPr lang="ar-SA" altLang="en-US" sz="1500" dirty="0">
                <a:solidFill>
                  <a:srgbClr val="1F2A37"/>
                </a:solidFill>
                <a:latin typeface="Amiri" pitchFamily="34" charset="0"/>
                <a:ea typeface="Amiri" pitchFamily="34" charset="-122"/>
                <a:cs typeface="Amiri" pitchFamily="34" charset="-120"/>
              </a:rPr>
              <a:t>ـة</a:t>
            </a:r>
            <a:pPr algn="l" indent="0" marL="0">
              <a:buNone/>
            </a:pPr>
            <a:r>
              <a:rPr lang="en-US" sz="1150" dirty="0">
                <a:solidFill>
                  <a:srgbClr val="1F2A37"/>
                </a:solidFill>
                <a:latin typeface="Calibri" pitchFamily="34" charset="0"/>
                <a:ea typeface="Calibri" pitchFamily="34" charset="-122"/>
                <a:cs typeface="Calibri" pitchFamily="34" charset="-120"/>
              </a:rPr>
              <a:t> → </a:t>
            </a:r>
            <a:pPr algn="l" indent="0" marL="0">
              <a:buNone/>
            </a:pPr>
            <a:r>
              <a:rPr lang="ar-SA" altLang="en-US" sz="1500" dirty="0">
                <a:solidFill>
                  <a:srgbClr val="1F2A37"/>
                </a:solidFill>
                <a:latin typeface="Amiri" pitchFamily="34" charset="0"/>
                <a:ea typeface="Amiri" pitchFamily="34" charset="-122"/>
                <a:cs typeface="Amiri" pitchFamily="34" charset="-120"/>
              </a:rPr>
              <a:t>تُـ</a:t>
            </a:r>
            <a:pPr algn="l" indent="0" marL="0">
              <a:buNone/>
            </a:pPr>
            <a:r>
              <a:rPr lang="en-US" sz="1150" dirty="0">
                <a:solidFill>
                  <a:srgbClr val="1F2A37"/>
                </a:solidFill>
                <a:latin typeface="Calibri" pitchFamily="34" charset="0"/>
                <a:ea typeface="Calibri" pitchFamily="34" charset="-122"/>
                <a:cs typeface="Calibri" pitchFamily="34" charset="-120"/>
              </a:rPr>
              <a:t>.</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ea typeface="Calibri" pitchFamily="34" charset="-122"/>
                <a:cs typeface="Calibri" pitchFamily="34" charset="-120"/>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ea typeface="Calibri" pitchFamily="34" charset="-122"/>
                <a:cs typeface="Calibri" pitchFamily="34" charset="-120"/>
              </a:rPr>
              <a:t>What is missing?</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0E7C86"/>
                </a:solidFill>
                <a:latin typeface="Amiri" pitchFamily="34" charset="0"/>
                <a:ea typeface="Amiri" pitchFamily="34" charset="-122"/>
                <a:cs typeface="Amiri" pitchFamily="34" charset="-120"/>
              </a:rPr>
              <a:t>لَا</a:t>
            </a:r>
            <a:pPr rtl="1" algn="ctr" indent="0" marL="0">
              <a:buNone/>
            </a:pPr>
            <a:r>
              <a:rPr lang="ar-SA" altLang="en-US" sz="2800" b="1" dirty="0">
                <a:solidFill>
                  <a:srgbClr val="1B3B6F"/>
                </a:solidFill>
                <a:latin typeface="Amiri" pitchFamily="34" charset="0"/>
                <a:ea typeface="Amiri" pitchFamily="34" charset="-122"/>
                <a:cs typeface="Amiri" pitchFamily="34" charset="-120"/>
              </a:rPr>
              <a:t> يُوجَدُ مَسْبَحٌ</a:t>
            </a:r>
            <a:endParaRPr lang="ar-SA" sz="280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ar-SA" altLang="en-US" sz="1500" dirty="0">
                <a:solidFill>
                  <a:srgbClr val="1F2A37"/>
                </a:solidFill>
                <a:latin typeface="Amiri" pitchFamily="34" charset="0"/>
                <a:ea typeface="Amiri" pitchFamily="34" charset="-122"/>
                <a:cs typeface="Amiri" pitchFamily="34" charset="-120"/>
              </a:rPr>
              <a:t>لَا</a:t>
            </a:r>
            <a:pPr algn="l" indent="0" marL="0">
              <a:buNone/>
            </a:pPr>
            <a:r>
              <a:rPr lang="en-US" sz="1150" dirty="0">
                <a:solidFill>
                  <a:srgbClr val="1F2A37"/>
                </a:solidFill>
                <a:latin typeface="Calibri" pitchFamily="34" charset="0"/>
                <a:ea typeface="Calibri" pitchFamily="34" charset="-122"/>
                <a:cs typeface="Calibri" pitchFamily="34" charset="-120"/>
              </a:rPr>
              <a:t> = there is no …</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ea typeface="Calibri" pitchFamily="34" charset="-122"/>
                <a:cs typeface="Calibri" pitchFamily="34" charset="-120"/>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ea typeface="Calibri" pitchFamily="34" charset="-122"/>
                <a:cs typeface="Calibri" pitchFamily="34" charset="-120"/>
              </a:rPr>
              <a:t>Compare and judge</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34" charset="0"/>
                <a:ea typeface="Amiri" pitchFamily="34" charset="-122"/>
                <a:cs typeface="Amiri" pitchFamily="34" charset="-120"/>
              </a:rPr>
              <a:t>حَيِّي </a:t>
            </a:r>
            <a:pPr rtl="1" algn="ctr" indent="0" marL="0">
              <a:buNone/>
            </a:pPr>
            <a:r>
              <a:rPr lang="ar-SA" altLang="en-US" sz="2100" b="1" dirty="0">
                <a:solidFill>
                  <a:srgbClr val="C77700"/>
                </a:solidFill>
                <a:latin typeface="Amiri" pitchFamily="34" charset="0"/>
                <a:ea typeface="Amiri" pitchFamily="34" charset="-122"/>
                <a:cs typeface="Amiri" pitchFamily="34" charset="-120"/>
              </a:rPr>
              <a:t>أَ</a:t>
            </a:r>
            <a:pPr rtl="1" algn="ctr" indent="0" marL="0">
              <a:buNone/>
            </a:pPr>
            <a:r>
              <a:rPr lang="ar-SA" altLang="en-US" sz="2100" b="1" dirty="0">
                <a:solidFill>
                  <a:srgbClr val="1B3B6F"/>
                </a:solidFill>
                <a:latin typeface="Amiri" pitchFamily="34" charset="0"/>
                <a:ea typeface="Amiri" pitchFamily="34" charset="-122"/>
                <a:cs typeface="Amiri" pitchFamily="34" charset="-120"/>
              </a:rPr>
              <a:t>هْدَأُ </a:t>
            </a:r>
            <a:pPr rtl="1" algn="ctr" indent="0" marL="0">
              <a:buNone/>
            </a:pPr>
            <a:r>
              <a:rPr lang="ar-SA" altLang="en-US" sz="2100" b="1" dirty="0">
                <a:solidFill>
                  <a:srgbClr val="0E7C86"/>
                </a:solidFill>
                <a:latin typeface="Amiri" pitchFamily="34" charset="0"/>
                <a:ea typeface="Amiri" pitchFamily="34" charset="-122"/>
                <a:cs typeface="Amiri" pitchFamily="34" charset="-120"/>
              </a:rPr>
              <a:t>مِنْ</a:t>
            </a:r>
            <a:pPr rtl="1" algn="ctr" indent="0" marL="0">
              <a:buNone/>
            </a:pPr>
            <a:r>
              <a:rPr lang="ar-SA" altLang="en-US" sz="2100" b="1" dirty="0">
                <a:solidFill>
                  <a:srgbClr val="1B3B6F"/>
                </a:solidFill>
                <a:latin typeface="Amiri" pitchFamily="34" charset="0"/>
                <a:ea typeface="Amiri" pitchFamily="34" charset="-122"/>
                <a:cs typeface="Amiri" pitchFamily="34" charset="-120"/>
              </a:rPr>
              <a:t> وَسَطِ المَدِينَةِ</a:t>
            </a:r>
            <a:endParaRPr lang="ar-SA" sz="210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ar-SA" altLang="en-US" sz="1500" dirty="0">
                <a:solidFill>
                  <a:srgbClr val="1F2A37"/>
                </a:solidFill>
                <a:latin typeface="Amiri" pitchFamily="34" charset="0"/>
                <a:ea typeface="Amiri" pitchFamily="34" charset="-122"/>
                <a:cs typeface="Amiri" pitchFamily="34" charset="-120"/>
              </a:rPr>
              <a:t>أَهْدَأُ مِنْ</a:t>
            </a:r>
            <a:pPr algn="l" indent="0" marL="0">
              <a:buNone/>
            </a:pPr>
            <a:r>
              <a:rPr lang="en-US" sz="1150" dirty="0">
                <a:solidFill>
                  <a:srgbClr val="1F2A37"/>
                </a:solidFill>
                <a:latin typeface="Calibri" pitchFamily="34" charset="0"/>
                <a:ea typeface="Calibri" pitchFamily="34" charset="-122"/>
                <a:cs typeface="Calibri" pitchFamily="34" charset="-120"/>
              </a:rPr>
              <a:t> = quieter than.</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ea typeface="Calibri" pitchFamily="34" charset="-122"/>
                <a:cs typeface="Calibri" pitchFamily="34" charset="-120"/>
              </a:rPr>
              <a:t>COPY THIS INTO YOUR BOOK</a:t>
            </a:r>
            <a:endParaRPr lang="en-US" sz="1200" dirty="0"/>
          </a:p>
        </p:txBody>
      </p:sp>
      <p:sp>
        <p:nvSpPr>
          <p:cNvPr id="45" name="Shape 41"/>
          <p:cNvSpPr/>
          <p:nvPr/>
        </p:nvSpPr>
        <p:spPr>
          <a:xfrm>
            <a:off x="8540496" y="4736592"/>
            <a:ext cx="914400" cy="237744"/>
          </a:xfrm>
          <a:prstGeom prst="roundRect">
            <a:avLst>
              <a:gd name="adj" fmla="val 50000"/>
            </a:avLst>
          </a:prstGeom>
          <a:solidFill>
            <a:srgbClr val="1D5FBF"/>
          </a:solidFill>
          <a:ln w="12700">
            <a:solidFill>
              <a:srgbClr val="1D5FBF"/>
            </a:solidFill>
            <a:prstDash val="solid"/>
          </a:ln>
        </p:spPr>
      </p:sp>
      <p:sp>
        <p:nvSpPr>
          <p:cNvPr id="46" name="Text 42"/>
          <p:cNvSpPr txBox="1"/>
          <p:nvPr/>
        </p:nvSpPr>
        <p:spPr>
          <a:xfrm>
            <a:off x="8540496"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WHO / WHICH</a:t>
            </a:r>
            <a:endParaRPr lang="en-US" sz="800" dirty="0"/>
          </a:p>
        </p:txBody>
      </p:sp>
      <p:sp>
        <p:nvSpPr>
          <p:cNvPr id="47" name="Shape 43"/>
          <p:cNvSpPr/>
          <p:nvPr/>
        </p:nvSpPr>
        <p:spPr>
          <a:xfrm>
            <a:off x="9528048" y="4736592"/>
            <a:ext cx="914400" cy="237744"/>
          </a:xfrm>
          <a:prstGeom prst="roundRect">
            <a:avLst>
              <a:gd name="adj" fmla="val 50000"/>
            </a:avLst>
          </a:prstGeom>
          <a:solidFill>
            <a:srgbClr val="0E7C86"/>
          </a:solidFill>
          <a:ln w="12700">
            <a:solidFill>
              <a:srgbClr val="0E7C86"/>
            </a:solidFill>
            <a:prstDash val="solid"/>
          </a:ln>
        </p:spPr>
      </p:sp>
      <p:sp>
        <p:nvSpPr>
          <p:cNvPr id="48" name="Text 44"/>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KEY WORD</a:t>
            </a:r>
            <a:endParaRPr lang="en-US" sz="800" dirty="0"/>
          </a:p>
        </p:txBody>
      </p:sp>
      <p:sp>
        <p:nvSpPr>
          <p:cNvPr id="49" name="Shape 45"/>
          <p:cNvSpPr/>
          <p:nvPr/>
        </p:nvSpPr>
        <p:spPr>
          <a:xfrm>
            <a:off x="10515600" y="4736592"/>
            <a:ext cx="914400" cy="237744"/>
          </a:xfrm>
          <a:prstGeom prst="roundRect">
            <a:avLst>
              <a:gd name="adj" fmla="val 50000"/>
            </a:avLst>
          </a:prstGeom>
          <a:solidFill>
            <a:srgbClr val="C77700"/>
          </a:solidFill>
          <a:ln w="12700">
            <a:solidFill>
              <a:srgbClr val="C77700"/>
            </a:solidFill>
            <a:prstDash val="solid"/>
          </a:ln>
        </p:spPr>
      </p:sp>
      <p:sp>
        <p:nvSpPr>
          <p:cNvPr id="50" name="Text 46"/>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PATTERN</a:t>
            </a:r>
            <a:endParaRPr lang="en-US" sz="800" dirty="0"/>
          </a:p>
        </p:txBody>
      </p:sp>
      <p:sp>
        <p:nvSpPr>
          <p:cNvPr id="51" name="Text 47"/>
          <p:cNvSpPr txBox="1"/>
          <p:nvPr/>
        </p:nvSpPr>
        <p:spPr>
          <a:xfrm>
            <a:off x="685800" y="5029200"/>
            <a:ext cx="10817352" cy="731520"/>
          </a:xfrm>
          <a:prstGeom prst="rect">
            <a:avLst/>
          </a:prstGeom>
          <a:noFill/>
          <a:ln/>
        </p:spPr>
        <p:txBody>
          <a:bodyPr wrap="square" lIns="0" tIns="0" rIns="0" bIns="0" rtlCol="0" anchor="ctr"/>
          <a:lstStyle/>
          <a:p>
            <a:pPr rtl="1" algn="r" indent="0" marL="0">
              <a:buNone/>
            </a:pPr>
            <a:r>
              <a:rPr lang="ar-SA" altLang="en-US" sz="2250" b="1" dirty="0">
                <a:solidFill>
                  <a:srgbClr val="1B3B6F"/>
                </a:solidFill>
                <a:latin typeface="Amiri" pitchFamily="34" charset="0"/>
                <a:ea typeface="Amiri" pitchFamily="34" charset="-122"/>
                <a:cs typeface="Amiri" pitchFamily="34" charset="-120"/>
              </a:rPr>
              <a:t>فِي حَيِّي </a:t>
            </a:r>
            <a:pPr rtl="1" algn="r" indent="0" marL="0">
              <a:buNone/>
            </a:pPr>
            <a:r>
              <a:rPr lang="ar-SA" altLang="en-US" sz="2250" b="1" dirty="0">
                <a:solidFill>
                  <a:srgbClr val="1D5FBF"/>
                </a:solidFill>
                <a:latin typeface="Amiri" pitchFamily="34" charset="0"/>
                <a:ea typeface="Amiri" pitchFamily="34" charset="-122"/>
                <a:cs typeface="Amiri" pitchFamily="34" charset="-120"/>
              </a:rPr>
              <a:t>يُ</a:t>
            </a:r>
            <a:pPr rtl="1" algn="r" indent="0" marL="0">
              <a:buNone/>
            </a:pPr>
            <a:r>
              <a:rPr lang="ar-SA" altLang="en-US" sz="2250" b="1" dirty="0">
                <a:solidFill>
                  <a:srgbClr val="1B3B6F"/>
                </a:solidFill>
                <a:latin typeface="Amiri" pitchFamily="34" charset="0"/>
                <a:ea typeface="Amiri" pitchFamily="34" charset="-122"/>
                <a:cs typeface="Amiri" pitchFamily="34" charset="-120"/>
              </a:rPr>
              <a:t>وجَدُ مُسْتَشْفًى كَبِيرٌ، وَ</a:t>
            </a:r>
            <a:pPr rtl="1" algn="r" indent="0" marL="0">
              <a:buNone/>
            </a:pPr>
            <a:r>
              <a:rPr lang="ar-SA" altLang="en-US" sz="2250" b="1" dirty="0">
                <a:solidFill>
                  <a:srgbClr val="1D5FBF"/>
                </a:solidFill>
                <a:latin typeface="Amiri" pitchFamily="34" charset="0"/>
                <a:ea typeface="Amiri" pitchFamily="34" charset="-122"/>
                <a:cs typeface="Amiri" pitchFamily="34" charset="-120"/>
              </a:rPr>
              <a:t>تُ</a:t>
            </a:r>
            <a:pPr rtl="1" algn="r" indent="0" marL="0">
              <a:buNone/>
            </a:pPr>
            <a:r>
              <a:rPr lang="ar-SA" altLang="en-US" sz="2250" b="1" dirty="0">
                <a:solidFill>
                  <a:srgbClr val="1B3B6F"/>
                </a:solidFill>
                <a:latin typeface="Amiri" pitchFamily="34" charset="0"/>
                <a:ea typeface="Amiri" pitchFamily="34" charset="-122"/>
                <a:cs typeface="Amiri" pitchFamily="34" charset="-120"/>
              </a:rPr>
              <a:t>وجَدُ مَكْتَبَةٌ </a:t>
            </a:r>
            <a:pPr rtl="1" algn="r" indent="0" marL="0">
              <a:buNone/>
            </a:pPr>
            <a:r>
              <a:rPr lang="ar-SA" altLang="en-US" sz="2250" b="1" dirty="0">
                <a:solidFill>
                  <a:srgbClr val="0E7C86"/>
                </a:solidFill>
                <a:latin typeface="Amiri" pitchFamily="34" charset="0"/>
                <a:ea typeface="Amiri" pitchFamily="34" charset="-122"/>
                <a:cs typeface="Amiri" pitchFamily="34" charset="-120"/>
              </a:rPr>
              <a:t>بِجَانِبِ</a:t>
            </a:r>
            <a:pPr rtl="1" algn="r" indent="0" marL="0">
              <a:buNone/>
            </a:pPr>
            <a:r>
              <a:rPr lang="ar-SA" altLang="en-US" sz="2250" b="1" dirty="0">
                <a:solidFill>
                  <a:srgbClr val="1B3B6F"/>
                </a:solidFill>
                <a:latin typeface="Amiri" pitchFamily="34" charset="0"/>
                <a:ea typeface="Amiri" pitchFamily="34" charset="-122"/>
                <a:cs typeface="Amiri" pitchFamily="34" charset="-120"/>
              </a:rPr>
              <a:t> المَقْهَى. </a:t>
            </a:r>
            <a:pPr rtl="1" algn="r" indent="0" marL="0">
              <a:buNone/>
            </a:pPr>
            <a:r>
              <a:rPr lang="ar-SA" altLang="en-US" sz="2250" b="1" dirty="0">
                <a:solidFill>
                  <a:srgbClr val="0E7C86"/>
                </a:solidFill>
                <a:latin typeface="Amiri" pitchFamily="34" charset="0"/>
                <a:ea typeface="Amiri" pitchFamily="34" charset="-122"/>
                <a:cs typeface="Amiri" pitchFamily="34" charset="-120"/>
              </a:rPr>
              <a:t>لَا</a:t>
            </a:r>
            <a:pPr rtl="1" algn="r" indent="0" marL="0">
              <a:buNone/>
            </a:pPr>
            <a:r>
              <a:rPr lang="ar-SA" altLang="en-US" sz="2250" b="1" dirty="0">
                <a:solidFill>
                  <a:srgbClr val="1B3B6F"/>
                </a:solidFill>
                <a:latin typeface="Amiri" pitchFamily="34" charset="0"/>
                <a:ea typeface="Amiri" pitchFamily="34" charset="-122"/>
                <a:cs typeface="Amiri" pitchFamily="34" charset="-120"/>
              </a:rPr>
              <a:t> يُوجَدُ مَسْبَحٌ، لٰكِنَّ حَيِّي </a:t>
            </a:r>
            <a:pPr rtl="1" algn="r" indent="0" marL="0">
              <a:buNone/>
            </a:pPr>
            <a:r>
              <a:rPr lang="ar-SA" altLang="en-US" sz="2250" b="1" dirty="0">
                <a:solidFill>
                  <a:srgbClr val="C77700"/>
                </a:solidFill>
                <a:latin typeface="Amiri" pitchFamily="34" charset="0"/>
                <a:ea typeface="Amiri" pitchFamily="34" charset="-122"/>
                <a:cs typeface="Amiri" pitchFamily="34" charset="-120"/>
              </a:rPr>
              <a:t>أَ</a:t>
            </a:r>
            <a:pPr rtl="1" algn="r" indent="0" marL="0">
              <a:buNone/>
            </a:pPr>
            <a:r>
              <a:rPr lang="ar-SA" altLang="en-US" sz="2250" b="1" dirty="0">
                <a:solidFill>
                  <a:srgbClr val="1B3B6F"/>
                </a:solidFill>
                <a:latin typeface="Amiri" pitchFamily="34" charset="0"/>
                <a:ea typeface="Amiri" pitchFamily="34" charset="-122"/>
                <a:cs typeface="Amiri" pitchFamily="34" charset="-120"/>
              </a:rPr>
              <a:t>هْدَأُ </a:t>
            </a:r>
            <a:pPr rtl="1" algn="r" indent="0" marL="0">
              <a:buNone/>
            </a:pPr>
            <a:r>
              <a:rPr lang="ar-SA" altLang="en-US" sz="2250" b="1" dirty="0">
                <a:solidFill>
                  <a:srgbClr val="0E7C86"/>
                </a:solidFill>
                <a:latin typeface="Amiri" pitchFamily="34" charset="0"/>
                <a:ea typeface="Amiri" pitchFamily="34" charset="-122"/>
                <a:cs typeface="Amiri" pitchFamily="34" charset="-120"/>
              </a:rPr>
              <a:t>مِنْ</a:t>
            </a:r>
            <a:pPr rtl="1" algn="r" indent="0" marL="0">
              <a:buNone/>
            </a:pPr>
            <a:r>
              <a:rPr lang="ar-SA" altLang="en-US" sz="2250" b="1" dirty="0">
                <a:solidFill>
                  <a:srgbClr val="1B3B6F"/>
                </a:solidFill>
                <a:latin typeface="Amiri" pitchFamily="34" charset="0"/>
                <a:ea typeface="Amiri" pitchFamily="34" charset="-122"/>
                <a:cs typeface="Amiri" pitchFamily="34" charset="-120"/>
              </a:rPr>
              <a:t> وَسَطِ المَدِينَةِ.</a:t>
            </a:r>
            <a:endParaRPr lang="ar-SA" sz="2250" dirty="0"/>
          </a:p>
        </p:txBody>
      </p:sp>
      <p:sp>
        <p:nvSpPr>
          <p:cNvPr id="52" name="Text 48"/>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200" i="1" dirty="0">
                <a:solidFill>
                  <a:srgbClr val="5A6472"/>
                </a:solidFill>
                <a:latin typeface="Calibri" pitchFamily="34" charset="0"/>
                <a:ea typeface="Calibri" pitchFamily="34" charset="-122"/>
                <a:cs typeface="Calibri" pitchFamily="34" charset="-120"/>
              </a:rPr>
              <a:t>In my area there is a big hospital, and there is a library next to the café. There is no swimming pool, but my area is quieter than the city centre.</a:t>
            </a:r>
            <a:endParaRPr lang="en-US" sz="1200" dirty="0"/>
          </a:p>
        </p:txBody>
      </p:sp>
      <p:sp>
        <p:nvSpPr>
          <p:cNvPr id="53" name="Text 4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19 / 49</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TC-L08 · Buildings &amp; Services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ea typeface="Calibri" pitchFamily="34" charset="-122"/>
                <a:cs typeface="Calibri" pitchFamily="34" charset="-120"/>
              </a:rPr>
              <a:t>I DO · MODEL SENTENCES FROM THE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Four 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3 · Lesson 2 of 3</a:t>
            </a:r>
            <a:endParaRPr lang="en-US" sz="850" dirty="0"/>
          </a:p>
        </p:txBody>
      </p:sp>
      <p:sp>
        <p:nvSpPr>
          <p:cNvPr id="15" name="Shape 12"/>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123694"/>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12369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8" name="Text 15"/>
          <p:cNvSpPr txBox="1"/>
          <p:nvPr/>
        </p:nvSpPr>
        <p:spPr>
          <a:xfrm>
            <a:off x="4572000" y="1847088"/>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34" charset="0"/>
                <a:ea typeface="Amiri" pitchFamily="34" charset="-122"/>
                <a:cs typeface="Amiri" pitchFamily="34" charset="-120"/>
              </a:rPr>
              <a:t>اَلْمَقْهَى بِجَانِبِ الْمَكْتَبَةِ.</a:t>
            </a:r>
            <a:endParaRPr lang="ar-SA" sz="2600" dirty="0"/>
          </a:p>
        </p:txBody>
      </p:sp>
      <p:sp>
        <p:nvSpPr>
          <p:cNvPr id="19" name="Text 16"/>
          <p:cNvSpPr txBox="1"/>
          <p:nvPr/>
        </p:nvSpPr>
        <p:spPr>
          <a:xfrm>
            <a:off x="685800" y="1856232"/>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ea typeface="Calibri" pitchFamily="34" charset="-122"/>
                <a:cs typeface="Calibri" pitchFamily="34" charset="-120"/>
              </a:rPr>
              <a:t>The café is next to the library.</a:t>
            </a:r>
            <a:endParaRPr lang="en-US" sz="1250" dirty="0"/>
          </a:p>
          <a:p>
            <a:pPr indent="0" marL="0">
              <a:buNone/>
            </a:pPr>
            <a:r>
              <a:rPr lang="en-US" sz="1050" i="1" dirty="0">
                <a:solidFill>
                  <a:srgbClr val="8A6D1E"/>
                </a:solidFill>
                <a:latin typeface="Calibri" pitchFamily="34" charset="0"/>
                <a:ea typeface="Calibri" pitchFamily="34" charset="-122"/>
                <a:cs typeface="Calibri" pitchFamily="34" charset="-120"/>
              </a:rPr>
              <a:t>Website game — a Core sentence.</a:t>
            </a:r>
            <a:endParaRPr lang="en-US" sz="1250" dirty="0"/>
          </a:p>
        </p:txBody>
      </p:sp>
      <p:sp>
        <p:nvSpPr>
          <p:cNvPr id="20" name="Shape 17"/>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280410"/>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28041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23" name="Text 20"/>
          <p:cNvSpPr txBox="1"/>
          <p:nvPr/>
        </p:nvSpPr>
        <p:spPr>
          <a:xfrm>
            <a:off x="4572000" y="3003804"/>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34" charset="0"/>
                <a:ea typeface="Amiri" pitchFamily="34" charset="-122"/>
                <a:cs typeface="Amiri" pitchFamily="34" charset="-120"/>
              </a:rPr>
              <a:t>أَسْتَعِيرُ الكُتُبَ مِنَ المَكْتَبَةِ.</a:t>
            </a:r>
            <a:endParaRPr lang="ar-SA" sz="2600" dirty="0"/>
          </a:p>
        </p:txBody>
      </p:sp>
      <p:sp>
        <p:nvSpPr>
          <p:cNvPr id="24" name="Text 21"/>
          <p:cNvSpPr txBox="1"/>
          <p:nvPr/>
        </p:nvSpPr>
        <p:spPr>
          <a:xfrm>
            <a:off x="685800" y="3012948"/>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ea typeface="Calibri" pitchFamily="34" charset="-122"/>
                <a:cs typeface="Calibri" pitchFamily="34" charset="-120"/>
              </a:rPr>
              <a:t>I borrow books from the library.</a:t>
            </a:r>
            <a:endParaRPr lang="en-US" sz="1250" dirty="0"/>
          </a:p>
          <a:p>
            <a:pPr indent="0" marL="0">
              <a:buNone/>
            </a:pPr>
            <a:r>
              <a:rPr lang="en-US" sz="1050" i="1" dirty="0">
                <a:solidFill>
                  <a:srgbClr val="8A6D1E"/>
                </a:solidFill>
                <a:latin typeface="Calibri" pitchFamily="34" charset="0"/>
                <a:ea typeface="Calibri" pitchFamily="34" charset="-122"/>
                <a:cs typeface="Calibri" pitchFamily="34" charset="-120"/>
              </a:rPr>
              <a:t>Topic C bank example — say what you DO there.</a:t>
            </a:r>
            <a:endParaRPr lang="en-US" sz="125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443712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443712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8" name="Text 25"/>
          <p:cNvSpPr txBox="1"/>
          <p:nvPr/>
        </p:nvSpPr>
        <p:spPr>
          <a:xfrm>
            <a:off x="4572000" y="4160520"/>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34" charset="0"/>
                <a:ea typeface="Amiri" pitchFamily="34" charset="-122"/>
                <a:cs typeface="Amiri" pitchFamily="34" charset="-120"/>
              </a:rPr>
              <a:t>بُنِيَ الجُزْءُ القَدِيمُ مِنَ الطِّينِ وَالخَشَبِ.</a:t>
            </a:r>
            <a:endParaRPr lang="ar-SA" sz="2600" dirty="0"/>
          </a:p>
        </p:txBody>
      </p:sp>
      <p:sp>
        <p:nvSpPr>
          <p:cNvPr id="29" name="Text 26"/>
          <p:cNvSpPr txBox="1"/>
          <p:nvPr/>
        </p:nvSpPr>
        <p:spPr>
          <a:xfrm>
            <a:off x="685800" y="4169664"/>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ea typeface="Calibri" pitchFamily="34" charset="-122"/>
                <a:cs typeface="Calibri" pitchFamily="34" charset="-120"/>
              </a:rPr>
              <a:t>The old part was built from clay and wood.</a:t>
            </a:r>
            <a:endParaRPr lang="en-US" sz="1250" dirty="0"/>
          </a:p>
          <a:p>
            <a:pPr indent="0" marL="0">
              <a:buNone/>
            </a:pPr>
            <a:r>
              <a:rPr lang="en-US" sz="1050" i="1" dirty="0">
                <a:solidFill>
                  <a:srgbClr val="8A6D1E"/>
                </a:solidFill>
                <a:latin typeface="Calibri" pitchFamily="34" charset="0"/>
                <a:ea typeface="Calibri" pitchFamily="34" charset="-122"/>
                <a:cs typeface="Calibri" pitchFamily="34" charset="-120"/>
              </a:rPr>
              <a:t>Website listening — materials with مِنْ.</a:t>
            </a:r>
            <a:endParaRPr lang="en-US" sz="1250" dirty="0"/>
          </a:p>
        </p:txBody>
      </p:sp>
      <p:sp>
        <p:nvSpPr>
          <p:cNvPr id="30" name="Shape 27"/>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11201400" y="5593842"/>
            <a:ext cx="402336" cy="402336"/>
          </a:xfrm>
          <a:prstGeom prst="ellipse">
            <a:avLst/>
          </a:prstGeom>
          <a:solidFill>
            <a:srgbClr val="1B3B6F"/>
          </a:solidFill>
          <a:ln w="12700">
            <a:solidFill>
              <a:srgbClr val="1B3B6F"/>
            </a:solidFill>
            <a:prstDash val="solid"/>
          </a:ln>
        </p:spPr>
      </p:sp>
      <p:sp>
        <p:nvSpPr>
          <p:cNvPr id="32" name="Text 29"/>
          <p:cNvSpPr txBox="1"/>
          <p:nvPr/>
        </p:nvSpPr>
        <p:spPr>
          <a:xfrm>
            <a:off x="11201400" y="559384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33" name="Text 30"/>
          <p:cNvSpPr txBox="1"/>
          <p:nvPr/>
        </p:nvSpPr>
        <p:spPr>
          <a:xfrm>
            <a:off x="4572000" y="5317236"/>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34" charset="0"/>
                <a:ea typeface="Amiri" pitchFamily="34" charset="-122"/>
                <a:cs typeface="Amiri" pitchFamily="34" charset="-120"/>
              </a:rPr>
              <a:t>يُخَطِّطُونَ لِكَيْ تَكُونَ العَاصِمَةُ أَكْثَرَ اسْتِدَامَةً.</a:t>
            </a:r>
            <a:endParaRPr lang="ar-SA" sz="2600" dirty="0"/>
          </a:p>
        </p:txBody>
      </p:sp>
      <p:sp>
        <p:nvSpPr>
          <p:cNvPr id="34" name="Text 31"/>
          <p:cNvSpPr txBox="1"/>
          <p:nvPr/>
        </p:nvSpPr>
        <p:spPr>
          <a:xfrm>
            <a:off x="685800" y="5326380"/>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ea typeface="Calibri" pitchFamily="34" charset="-122"/>
                <a:cs typeface="Calibri" pitchFamily="34" charset="-120"/>
              </a:rPr>
              <a:t>They plan so that the capital becomes more sustainable.</a:t>
            </a:r>
            <a:endParaRPr lang="en-US" sz="1250" dirty="0"/>
          </a:p>
          <a:p>
            <a:pPr indent="0" marL="0">
              <a:buNone/>
            </a:pPr>
            <a:r>
              <a:rPr lang="en-US" sz="1050" i="1" dirty="0">
                <a:solidFill>
                  <a:srgbClr val="8A6D1E"/>
                </a:solidFill>
                <a:latin typeface="Calibri" pitchFamily="34" charset="0"/>
                <a:ea typeface="Calibri" pitchFamily="34" charset="-122"/>
                <a:cs typeface="Calibri" pitchFamily="34" charset="-120"/>
              </a:rPr>
              <a:t>لِكَيْ + subjunctive تَكُونَ.</a:t>
            </a:r>
            <a:endParaRPr lang="en-US" sz="12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20 / 49</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TC-L08 · Buildings &amp; Services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PICTURE MATCH · WEBSITE GAME “TOWN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00" b="1" dirty="0">
                <a:solidFill>
                  <a:srgbClr val="1B3B6F"/>
                </a:solidFill>
                <a:latin typeface="Cambria" pitchFamily="34" charset="0"/>
                <a:ea typeface="Cambria" pitchFamily="34" charset="-122"/>
                <a:cs typeface="Cambria" pitchFamily="34" charset="-120"/>
              </a:rPr>
              <a:t>Match the picture to the sentence</a:t>
            </a:r>
            <a:endParaRPr lang="en-US" sz="27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خَرِيطَةُ الْمَدِينَةِ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3 · Lesson 2 of 3</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8" name="Shape 15"/>
          <p:cNvSpPr/>
          <p:nvPr/>
        </p:nvSpPr>
        <p:spPr>
          <a:xfrm>
            <a:off x="881176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0" name="Shape 16"/>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2" name="Text 17"/>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ea typeface="Calibri" pitchFamily="34" charset="-122"/>
                <a:cs typeface="Calibri" pitchFamily="34" charset="-120"/>
              </a:rPr>
              <a:t>opposite</a:t>
            </a:r>
            <a:endParaRPr lang="en-US" sz="1100" dirty="0"/>
          </a:p>
        </p:txBody>
      </p:sp>
      <p:sp>
        <p:nvSpPr>
          <p:cNvPr id="23" name="Shape 18"/>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4404360" y="1938528"/>
            <a:ext cx="365760" cy="365760"/>
          </a:xfrm>
          <a:prstGeom prst="ellipse">
            <a:avLst/>
          </a:prstGeom>
          <a:solidFill>
            <a:srgbClr val="1B3B6F"/>
          </a:solidFill>
          <a:ln w="12700">
            <a:solidFill>
              <a:srgbClr val="1B3B6F"/>
            </a:solidFill>
            <a:prstDash val="solid"/>
          </a:ln>
        </p:spPr>
      </p:sp>
      <p:sp>
        <p:nvSpPr>
          <p:cNvPr id="25" name="Text 20"/>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26" name="Shape 21"/>
          <p:cNvSpPr/>
          <p:nvPr/>
        </p:nvSpPr>
        <p:spPr>
          <a:xfrm>
            <a:off x="4992624" y="2066544"/>
            <a:ext cx="1014984" cy="1014984"/>
          </a:xfrm>
          <a:prstGeom prst="ellipse">
            <a:avLst/>
          </a:prstGeom>
          <a:solidFill>
            <a:srgbClr val="F4F1EA"/>
          </a:solidFill>
          <a:ln w="12700">
            <a:solidFill>
              <a:srgbClr val="F4F1EA"/>
            </a:solidFill>
            <a:prstDash val="solid"/>
          </a:ln>
        </p:spPr>
      </p:sp>
      <p:pic>
        <p:nvPicPr>
          <p:cNvPr id="27"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28" name="Shape 22"/>
          <p:cNvSpPr/>
          <p:nvPr/>
        </p:nvSpPr>
        <p:spPr>
          <a:xfrm>
            <a:off x="6181344" y="2066544"/>
            <a:ext cx="1014984" cy="1014984"/>
          </a:xfrm>
          <a:prstGeom prst="ellipse">
            <a:avLst/>
          </a:prstGeom>
          <a:solidFill>
            <a:srgbClr val="F4F1EA"/>
          </a:solidFill>
          <a:ln w="12700">
            <a:solidFill>
              <a:srgbClr val="F4F1EA"/>
            </a:solidFill>
            <a:prstDash val="solid"/>
          </a:ln>
        </p:spPr>
      </p:sp>
      <p:pic>
        <p:nvPicPr>
          <p:cNvPr id="29"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0" name="Text 23"/>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ea typeface="Calibri" pitchFamily="34" charset="-122"/>
                <a:cs typeface="Calibri" pitchFamily="34" charset="-120"/>
              </a:rPr>
              <a:t>next to</a:t>
            </a:r>
            <a:endParaRPr lang="en-US" sz="1100" dirty="0"/>
          </a:p>
        </p:txBody>
      </p:sp>
      <p:sp>
        <p:nvSpPr>
          <p:cNvPr id="31" name="Shape 24"/>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5"/>
          <p:cNvSpPr/>
          <p:nvPr/>
        </p:nvSpPr>
        <p:spPr>
          <a:xfrm>
            <a:off x="585216" y="1938528"/>
            <a:ext cx="365760" cy="365760"/>
          </a:xfrm>
          <a:prstGeom prst="ellipse">
            <a:avLst/>
          </a:prstGeom>
          <a:solidFill>
            <a:srgbClr val="1B3B6F"/>
          </a:solidFill>
          <a:ln w="12700">
            <a:solidFill>
              <a:srgbClr val="1B3B6F"/>
            </a:solidFill>
            <a:prstDash val="solid"/>
          </a:ln>
        </p:spPr>
      </p:sp>
      <p:sp>
        <p:nvSpPr>
          <p:cNvPr id="33" name="Text 26"/>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34" name="Shape 27"/>
          <p:cNvSpPr/>
          <p:nvPr/>
        </p:nvSpPr>
        <p:spPr>
          <a:xfrm>
            <a:off x="1173480" y="2066544"/>
            <a:ext cx="1014984" cy="1014984"/>
          </a:xfrm>
          <a:prstGeom prst="ellipse">
            <a:avLst/>
          </a:prstGeom>
          <a:solidFill>
            <a:srgbClr val="F4F1EA"/>
          </a:solidFill>
          <a:ln w="12700">
            <a:solidFill>
              <a:srgbClr val="F4F1EA"/>
            </a:solidFill>
            <a:prstDash val="solid"/>
          </a:ln>
        </p:spPr>
      </p:sp>
      <p:pic>
        <p:nvPicPr>
          <p:cNvPr id="35" name="Image 4" descr="preencoded.png">    </p:cNvPr>
          <p:cNvPicPr>
            <a:picLocks noChangeAspect="1"/>
          </p:cNvPicPr>
          <p:nvPr/>
        </p:nvPicPr>
        <p:blipFill>
          <a:blip r:embed="rId5"/>
          <a:stretch>
            <a:fillRect/>
          </a:stretch>
        </p:blipFill>
        <p:spPr>
          <a:xfrm>
            <a:off x="1356360" y="2249424"/>
            <a:ext cx="649224" cy="649224"/>
          </a:xfrm>
          <a:prstGeom prst="rect">
            <a:avLst/>
          </a:prstGeom>
        </p:spPr>
      </p:pic>
      <p:sp>
        <p:nvSpPr>
          <p:cNvPr id="36" name="Shape 28"/>
          <p:cNvSpPr/>
          <p:nvPr/>
        </p:nvSpPr>
        <p:spPr>
          <a:xfrm>
            <a:off x="2362200" y="2066544"/>
            <a:ext cx="1014984" cy="1014984"/>
          </a:xfrm>
          <a:prstGeom prst="ellipse">
            <a:avLst/>
          </a:prstGeom>
          <a:solidFill>
            <a:srgbClr val="F4F1EA"/>
          </a:solidFill>
          <a:ln w="12700">
            <a:solidFill>
              <a:srgbClr val="F4F1EA"/>
            </a:solidFill>
            <a:prstDash val="solid"/>
          </a:ln>
        </p:spPr>
      </p:sp>
      <p:pic>
        <p:nvPicPr>
          <p:cNvPr id="37" name="Image 5" descr="preencoded.png">    </p:cNvPr>
          <p:cNvPicPr>
            <a:picLocks noChangeAspect="1"/>
          </p:cNvPicPr>
          <p:nvPr/>
        </p:nvPicPr>
        <p:blipFill>
          <a:blip r:embed="rId6"/>
          <a:stretch>
            <a:fillRect/>
          </a:stretch>
        </p:blipFill>
        <p:spPr>
          <a:xfrm>
            <a:off x="2545080" y="2249424"/>
            <a:ext cx="649224" cy="649224"/>
          </a:xfrm>
          <a:prstGeom prst="rect">
            <a:avLst/>
          </a:prstGeom>
        </p:spPr>
      </p:pic>
      <p:sp>
        <p:nvSpPr>
          <p:cNvPr id="38" name="Text 29"/>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ea typeface="Calibri" pitchFamily="34" charset="-122"/>
                <a:cs typeface="Calibri" pitchFamily="34" charset="-120"/>
              </a:rPr>
              <a:t>east of</a:t>
            </a:r>
            <a:endParaRPr lang="en-US" sz="1100" dirty="0"/>
          </a:p>
        </p:txBody>
      </p:sp>
      <p:sp>
        <p:nvSpPr>
          <p:cNvPr id="39" name="Shape 30"/>
          <p:cNvSpPr/>
          <p:nvPr/>
        </p:nvSpPr>
        <p:spPr>
          <a:xfrm>
            <a:off x="457200" y="3730752"/>
            <a:ext cx="11274552" cy="493776"/>
          </a:xfrm>
          <a:prstGeom prst="roundRect">
            <a:avLst>
              <a:gd name="adj" fmla="val 11111"/>
            </a:avLst>
          </a:prstGeom>
          <a:solidFill>
            <a:srgbClr val="EEF3FA"/>
          </a:solidFill>
          <a:ln w="9525">
            <a:solidFill>
              <a:srgbClr val="C9D6EA"/>
            </a:solidFill>
            <a:prstDash val="solid"/>
          </a:ln>
        </p:spPr>
      </p:sp>
      <p:sp>
        <p:nvSpPr>
          <p:cNvPr id="40" name="Shape 31"/>
          <p:cNvSpPr/>
          <p:nvPr/>
        </p:nvSpPr>
        <p:spPr>
          <a:xfrm>
            <a:off x="11247120" y="3831336"/>
            <a:ext cx="292608" cy="292608"/>
          </a:xfrm>
          <a:prstGeom prst="ellipse">
            <a:avLst/>
          </a:prstGeom>
          <a:solidFill>
            <a:srgbClr val="2F6FB0"/>
          </a:solidFill>
          <a:ln w="12700">
            <a:solidFill>
              <a:srgbClr val="2F6FB0"/>
            </a:solidFill>
            <a:prstDash val="solid"/>
          </a:ln>
        </p:spPr>
      </p:sp>
      <p:sp>
        <p:nvSpPr>
          <p:cNvPr id="41" name="Text 32"/>
          <p:cNvSpPr txBox="1"/>
          <p:nvPr/>
        </p:nvSpPr>
        <p:spPr>
          <a:xfrm>
            <a:off x="11247120" y="3831336"/>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a:t>
            </a:r>
            <a:endParaRPr lang="en-US" sz="1000" dirty="0"/>
          </a:p>
        </p:txBody>
      </p:sp>
      <p:sp>
        <p:nvSpPr>
          <p:cNvPr id="42" name="Text 33"/>
          <p:cNvSpPr txBox="1"/>
          <p:nvPr/>
        </p:nvSpPr>
        <p:spPr>
          <a:xfrm>
            <a:off x="731520" y="3730752"/>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اَلْفُنْدُقُ شَرْقَ مَحَطَّةِ الْقِطَارِ.</a:t>
            </a:r>
            <a:endParaRPr lang="ar-SA" sz="2000" dirty="0"/>
          </a:p>
        </p:txBody>
      </p:sp>
      <p:sp>
        <p:nvSpPr>
          <p:cNvPr id="43" name="Shape 34"/>
          <p:cNvSpPr/>
          <p:nvPr/>
        </p:nvSpPr>
        <p:spPr>
          <a:xfrm>
            <a:off x="457200" y="4297680"/>
            <a:ext cx="11274552" cy="493776"/>
          </a:xfrm>
          <a:prstGeom prst="roundRect">
            <a:avLst>
              <a:gd name="adj" fmla="val 11111"/>
            </a:avLst>
          </a:prstGeom>
          <a:solidFill>
            <a:srgbClr val="EEF3FA"/>
          </a:solidFill>
          <a:ln w="9525">
            <a:solidFill>
              <a:srgbClr val="C9D6EA"/>
            </a:solidFill>
            <a:prstDash val="solid"/>
          </a:ln>
        </p:spPr>
      </p:sp>
      <p:sp>
        <p:nvSpPr>
          <p:cNvPr id="44" name="Shape 35"/>
          <p:cNvSpPr/>
          <p:nvPr/>
        </p:nvSpPr>
        <p:spPr>
          <a:xfrm>
            <a:off x="11247120" y="4398264"/>
            <a:ext cx="292608" cy="292608"/>
          </a:xfrm>
          <a:prstGeom prst="ellipse">
            <a:avLst/>
          </a:prstGeom>
          <a:solidFill>
            <a:srgbClr val="2F6FB0"/>
          </a:solidFill>
          <a:ln w="12700">
            <a:solidFill>
              <a:srgbClr val="2F6FB0"/>
            </a:solidFill>
            <a:prstDash val="solid"/>
          </a:ln>
        </p:spPr>
      </p:sp>
      <p:sp>
        <p:nvSpPr>
          <p:cNvPr id="45" name="Text 36"/>
          <p:cNvSpPr txBox="1"/>
          <p:nvPr/>
        </p:nvSpPr>
        <p:spPr>
          <a:xfrm>
            <a:off x="11247120" y="4398264"/>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a:t>
            </a:r>
            <a:endParaRPr lang="en-US" sz="1000" dirty="0"/>
          </a:p>
        </p:txBody>
      </p:sp>
      <p:sp>
        <p:nvSpPr>
          <p:cNvPr id="46" name="Text 37"/>
          <p:cNvSpPr txBox="1"/>
          <p:nvPr/>
        </p:nvSpPr>
        <p:spPr>
          <a:xfrm>
            <a:off x="731520" y="4297680"/>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اَلْمُسْتَشْفَى مُقَابِلُ الْبَنْكِ.</a:t>
            </a:r>
            <a:endParaRPr lang="ar-SA" sz="2000" dirty="0"/>
          </a:p>
        </p:txBody>
      </p:sp>
      <p:sp>
        <p:nvSpPr>
          <p:cNvPr id="47" name="Shape 38"/>
          <p:cNvSpPr/>
          <p:nvPr/>
        </p:nvSpPr>
        <p:spPr>
          <a:xfrm>
            <a:off x="457200" y="4864608"/>
            <a:ext cx="11274552" cy="493776"/>
          </a:xfrm>
          <a:prstGeom prst="roundRect">
            <a:avLst>
              <a:gd name="adj" fmla="val 11111"/>
            </a:avLst>
          </a:prstGeom>
          <a:solidFill>
            <a:srgbClr val="EEF3FA"/>
          </a:solidFill>
          <a:ln w="9525">
            <a:solidFill>
              <a:srgbClr val="C9D6EA"/>
            </a:solidFill>
            <a:prstDash val="solid"/>
          </a:ln>
        </p:spPr>
      </p:sp>
      <p:sp>
        <p:nvSpPr>
          <p:cNvPr id="48" name="Shape 39"/>
          <p:cNvSpPr/>
          <p:nvPr/>
        </p:nvSpPr>
        <p:spPr>
          <a:xfrm>
            <a:off x="11247120" y="4965192"/>
            <a:ext cx="292608" cy="292608"/>
          </a:xfrm>
          <a:prstGeom prst="ellipse">
            <a:avLst/>
          </a:prstGeom>
          <a:solidFill>
            <a:srgbClr val="2F6FB0"/>
          </a:solidFill>
          <a:ln w="12700">
            <a:solidFill>
              <a:srgbClr val="2F6FB0"/>
            </a:solidFill>
            <a:prstDash val="solid"/>
          </a:ln>
        </p:spPr>
      </p:sp>
      <p:sp>
        <p:nvSpPr>
          <p:cNvPr id="49" name="Text 40"/>
          <p:cNvSpPr txBox="1"/>
          <p:nvPr/>
        </p:nvSpPr>
        <p:spPr>
          <a:xfrm>
            <a:off x="11247120" y="496519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a:t>
            </a:r>
            <a:endParaRPr lang="en-US" sz="1000" dirty="0"/>
          </a:p>
        </p:txBody>
      </p:sp>
      <p:sp>
        <p:nvSpPr>
          <p:cNvPr id="50" name="Text 41"/>
          <p:cNvSpPr txBox="1"/>
          <p:nvPr/>
        </p:nvSpPr>
        <p:spPr>
          <a:xfrm>
            <a:off x="731520" y="4864608"/>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اَلْمَقْهَى بِجَانِبِ الْمَكْتَبَةِ.</a:t>
            </a:r>
            <a:endParaRPr lang="ar-SA" sz="2000" dirty="0"/>
          </a:p>
        </p:txBody>
      </p:sp>
      <p:sp>
        <p:nvSpPr>
          <p:cNvPr id="51" name="Text 42"/>
          <p:cNvSpPr txBox="1"/>
          <p:nvPr/>
        </p:nvSpPr>
        <p:spPr>
          <a:xfrm>
            <a:off x="457200" y="5468112"/>
            <a:ext cx="11274552" cy="365760"/>
          </a:xfrm>
          <a:prstGeom prst="rect">
            <a:avLst/>
          </a:prstGeom>
          <a:noFill/>
          <a:ln/>
        </p:spPr>
        <p:txBody>
          <a:bodyPr wrap="square" lIns="0" tIns="0" rIns="0" bIns="0" rtlCol="0" anchor="ctr"/>
          <a:lstStyle/>
          <a:p>
            <a:pPr algn="l" indent="0" marL="0">
              <a:buNone/>
            </a:pPr>
            <a:r>
              <a:rPr lang="en-US" sz="1250" b="1" dirty="0">
                <a:solidFill>
                  <a:srgbClr val="2F6FB0"/>
                </a:solidFill>
                <a:latin typeface="Calibri" pitchFamily="34" charset="0"/>
                <a:ea typeface="Calibri" pitchFamily="34" charset="-122"/>
                <a:cs typeface="Calibri" pitchFamily="34" charset="-120"/>
              </a:rPr>
              <a:t>Match each picture to a sentence. Type in the chat: 1_  2_  3_</a:t>
            </a:r>
            <a:endParaRPr lang="en-US" sz="1250" dirty="0"/>
          </a:p>
        </p:txBody>
      </p:sp>
      <p:sp>
        <p:nvSpPr>
          <p:cNvPr id="52" name="Text 43"/>
          <p:cNvSpPr txBox="1"/>
          <p:nvPr/>
        </p:nvSpPr>
        <p:spPr>
          <a:xfrm>
            <a:off x="457200" y="5852160"/>
            <a:ext cx="11274552" cy="36576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ea typeface="Calibri" pitchFamily="34" charset="-122"/>
                <a:cs typeface="Calibri" pitchFamily="34" charset="-120"/>
              </a:rPr>
              <a:t>Core: find ONE key word you know in each sentence first.</a:t>
            </a:r>
            <a:endParaRPr lang="en-US" sz="1150" dirty="0"/>
          </a:p>
        </p:txBody>
      </p:sp>
      <p:sp>
        <p:nvSpPr>
          <p:cNvPr id="53" name="Text 4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21 / 49</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TC-L08 · Buildings &amp; Services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PICTURE MATCH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Picture match: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خَرِيطَةُ الْمَدِينَةِ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3 · Lesson 2 of 3</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8" name="Shape 15"/>
          <p:cNvSpPr/>
          <p:nvPr/>
        </p:nvSpPr>
        <p:spPr>
          <a:xfrm>
            <a:off x="881176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0" name="Shape 16"/>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2" name="Text 17"/>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ea typeface="Calibri" pitchFamily="34" charset="-122"/>
                <a:cs typeface="Calibri" pitchFamily="34" charset="-120"/>
              </a:rPr>
              <a:t>opposite</a:t>
            </a:r>
            <a:endParaRPr lang="en-US" sz="1100" dirty="0"/>
          </a:p>
        </p:txBody>
      </p:sp>
      <p:sp>
        <p:nvSpPr>
          <p:cNvPr id="23" name="Shape 18"/>
          <p:cNvSpPr/>
          <p:nvPr/>
        </p:nvSpPr>
        <p:spPr>
          <a:xfrm>
            <a:off x="8095488"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11256264" y="3785616"/>
            <a:ext cx="329184" cy="329184"/>
          </a:xfrm>
          <a:prstGeom prst="ellipse">
            <a:avLst/>
          </a:prstGeom>
          <a:solidFill>
            <a:srgbClr val="2E8B57"/>
          </a:solidFill>
          <a:ln w="12700">
            <a:solidFill>
              <a:srgbClr val="2E8B57"/>
            </a:solidFill>
            <a:prstDash val="solid"/>
          </a:ln>
        </p:spPr>
      </p:sp>
      <p:sp>
        <p:nvSpPr>
          <p:cNvPr id="25" name="Text 20"/>
          <p:cNvSpPr txBox="1"/>
          <p:nvPr/>
        </p:nvSpPr>
        <p:spPr>
          <a:xfrm>
            <a:off x="11256264"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sp>
        <p:nvSpPr>
          <p:cNvPr id="26" name="Text 21"/>
          <p:cNvSpPr txBox="1"/>
          <p:nvPr/>
        </p:nvSpPr>
        <p:spPr>
          <a:xfrm>
            <a:off x="8232648"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34" charset="0"/>
                <a:ea typeface="Amiri" pitchFamily="34" charset="-122"/>
                <a:cs typeface="Amiri" pitchFamily="34" charset="-120"/>
              </a:rPr>
              <a:t>اَلْمُسْتَشْفَى مُقَابِلُ الْبَنْكِ.</a:t>
            </a:r>
            <a:endParaRPr lang="ar-SA" sz="2200" dirty="0"/>
          </a:p>
        </p:txBody>
      </p:sp>
      <p:sp>
        <p:nvSpPr>
          <p:cNvPr id="27" name="Text 22"/>
          <p:cNvSpPr txBox="1"/>
          <p:nvPr/>
        </p:nvSpPr>
        <p:spPr>
          <a:xfrm>
            <a:off x="8232648"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ea typeface="Calibri" pitchFamily="34" charset="-122"/>
                <a:cs typeface="Calibri" pitchFamily="34" charset="-120"/>
              </a:rPr>
              <a:t>The hospital is opposite the bank.</a:t>
            </a:r>
            <a:endParaRPr lang="en-US" sz="1200" dirty="0"/>
          </a:p>
        </p:txBody>
      </p:sp>
      <p:sp>
        <p:nvSpPr>
          <p:cNvPr id="28" name="Shape 23"/>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4"/>
          <p:cNvSpPr/>
          <p:nvPr/>
        </p:nvSpPr>
        <p:spPr>
          <a:xfrm>
            <a:off x="4404360" y="1938528"/>
            <a:ext cx="365760" cy="365760"/>
          </a:xfrm>
          <a:prstGeom prst="ellipse">
            <a:avLst/>
          </a:prstGeom>
          <a:solidFill>
            <a:srgbClr val="1B3B6F"/>
          </a:solidFill>
          <a:ln w="12700">
            <a:solidFill>
              <a:srgbClr val="1B3B6F"/>
            </a:solidFill>
            <a:prstDash val="solid"/>
          </a:ln>
        </p:spPr>
      </p:sp>
      <p:sp>
        <p:nvSpPr>
          <p:cNvPr id="30" name="Text 25"/>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31" name="Shape 26"/>
          <p:cNvSpPr/>
          <p:nvPr/>
        </p:nvSpPr>
        <p:spPr>
          <a:xfrm>
            <a:off x="4992624" y="2066544"/>
            <a:ext cx="1014984" cy="1014984"/>
          </a:xfrm>
          <a:prstGeom prst="ellipse">
            <a:avLst/>
          </a:prstGeom>
          <a:solidFill>
            <a:srgbClr val="F4F1EA"/>
          </a:solidFill>
          <a:ln w="12700">
            <a:solidFill>
              <a:srgbClr val="F4F1EA"/>
            </a:solidFill>
            <a:prstDash val="solid"/>
          </a:ln>
        </p:spPr>
      </p:sp>
      <p:pic>
        <p:nvPicPr>
          <p:cNvPr id="32"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33" name="Shape 27"/>
          <p:cNvSpPr/>
          <p:nvPr/>
        </p:nvSpPr>
        <p:spPr>
          <a:xfrm>
            <a:off x="6181344" y="2066544"/>
            <a:ext cx="1014984" cy="1014984"/>
          </a:xfrm>
          <a:prstGeom prst="ellipse">
            <a:avLst/>
          </a:prstGeom>
          <a:solidFill>
            <a:srgbClr val="F4F1EA"/>
          </a:solidFill>
          <a:ln w="12700">
            <a:solidFill>
              <a:srgbClr val="F4F1EA"/>
            </a:solidFill>
            <a:prstDash val="solid"/>
          </a:ln>
        </p:spPr>
      </p:sp>
      <p:pic>
        <p:nvPicPr>
          <p:cNvPr id="34"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5" name="Text 28"/>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ea typeface="Calibri" pitchFamily="34" charset="-122"/>
                <a:cs typeface="Calibri" pitchFamily="34" charset="-120"/>
              </a:rPr>
              <a:t>next to</a:t>
            </a:r>
            <a:endParaRPr lang="en-US" sz="1100" dirty="0"/>
          </a:p>
        </p:txBody>
      </p:sp>
      <p:sp>
        <p:nvSpPr>
          <p:cNvPr id="36" name="Shape 29"/>
          <p:cNvSpPr/>
          <p:nvPr/>
        </p:nvSpPr>
        <p:spPr>
          <a:xfrm>
            <a:off x="4276344"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7" name="Shape 30"/>
          <p:cNvSpPr/>
          <p:nvPr/>
        </p:nvSpPr>
        <p:spPr>
          <a:xfrm>
            <a:off x="7437120" y="3785616"/>
            <a:ext cx="329184" cy="329184"/>
          </a:xfrm>
          <a:prstGeom prst="ellipse">
            <a:avLst/>
          </a:prstGeom>
          <a:solidFill>
            <a:srgbClr val="2E8B57"/>
          </a:solidFill>
          <a:ln w="12700">
            <a:solidFill>
              <a:srgbClr val="2E8B57"/>
            </a:solidFill>
            <a:prstDash val="solid"/>
          </a:ln>
        </p:spPr>
      </p:sp>
      <p:sp>
        <p:nvSpPr>
          <p:cNvPr id="38" name="Text 31"/>
          <p:cNvSpPr txBox="1"/>
          <p:nvPr/>
        </p:nvSpPr>
        <p:spPr>
          <a:xfrm>
            <a:off x="7437120"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a:t>
            </a:r>
            <a:endParaRPr lang="en-US" sz="1100" dirty="0"/>
          </a:p>
        </p:txBody>
      </p:sp>
      <p:sp>
        <p:nvSpPr>
          <p:cNvPr id="39" name="Text 32"/>
          <p:cNvSpPr txBox="1"/>
          <p:nvPr/>
        </p:nvSpPr>
        <p:spPr>
          <a:xfrm>
            <a:off x="4413504"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34" charset="0"/>
                <a:ea typeface="Amiri" pitchFamily="34" charset="-122"/>
                <a:cs typeface="Amiri" pitchFamily="34" charset="-120"/>
              </a:rPr>
              <a:t>اَلْمَقْهَى بِجَانِبِ الْمَكْتَبَةِ.</a:t>
            </a:r>
            <a:endParaRPr lang="ar-SA" sz="2200" dirty="0"/>
          </a:p>
        </p:txBody>
      </p:sp>
      <p:sp>
        <p:nvSpPr>
          <p:cNvPr id="40" name="Text 33"/>
          <p:cNvSpPr txBox="1"/>
          <p:nvPr/>
        </p:nvSpPr>
        <p:spPr>
          <a:xfrm>
            <a:off x="4413504"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ea typeface="Calibri" pitchFamily="34" charset="-122"/>
                <a:cs typeface="Calibri" pitchFamily="34" charset="-120"/>
              </a:rPr>
              <a:t>The café is next to the library.</a:t>
            </a:r>
            <a:endParaRPr lang="en-US" sz="1200" dirty="0"/>
          </a:p>
        </p:txBody>
      </p:sp>
      <p:sp>
        <p:nvSpPr>
          <p:cNvPr id="41" name="Shape 34"/>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5"/>
          <p:cNvSpPr/>
          <p:nvPr/>
        </p:nvSpPr>
        <p:spPr>
          <a:xfrm>
            <a:off x="585216" y="1938528"/>
            <a:ext cx="365760" cy="365760"/>
          </a:xfrm>
          <a:prstGeom prst="ellipse">
            <a:avLst/>
          </a:prstGeom>
          <a:solidFill>
            <a:srgbClr val="1B3B6F"/>
          </a:solidFill>
          <a:ln w="12700">
            <a:solidFill>
              <a:srgbClr val="1B3B6F"/>
            </a:solidFill>
            <a:prstDash val="solid"/>
          </a:ln>
        </p:spPr>
      </p:sp>
      <p:sp>
        <p:nvSpPr>
          <p:cNvPr id="43" name="Text 36"/>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44" name="Shape 37"/>
          <p:cNvSpPr/>
          <p:nvPr/>
        </p:nvSpPr>
        <p:spPr>
          <a:xfrm>
            <a:off x="1173480" y="2066544"/>
            <a:ext cx="1014984" cy="1014984"/>
          </a:xfrm>
          <a:prstGeom prst="ellipse">
            <a:avLst/>
          </a:prstGeom>
          <a:solidFill>
            <a:srgbClr val="F4F1EA"/>
          </a:solidFill>
          <a:ln w="12700">
            <a:solidFill>
              <a:srgbClr val="F4F1EA"/>
            </a:solidFill>
            <a:prstDash val="solid"/>
          </a:ln>
        </p:spPr>
      </p:sp>
      <p:pic>
        <p:nvPicPr>
          <p:cNvPr id="45" name="Image 4" descr="preencoded.png">    </p:cNvPr>
          <p:cNvPicPr>
            <a:picLocks noChangeAspect="1"/>
          </p:cNvPicPr>
          <p:nvPr/>
        </p:nvPicPr>
        <p:blipFill>
          <a:blip r:embed="rId5"/>
          <a:stretch>
            <a:fillRect/>
          </a:stretch>
        </p:blipFill>
        <p:spPr>
          <a:xfrm>
            <a:off x="1356360" y="2249424"/>
            <a:ext cx="649224" cy="649224"/>
          </a:xfrm>
          <a:prstGeom prst="rect">
            <a:avLst/>
          </a:prstGeom>
        </p:spPr>
      </p:pic>
      <p:sp>
        <p:nvSpPr>
          <p:cNvPr id="46" name="Shape 38"/>
          <p:cNvSpPr/>
          <p:nvPr/>
        </p:nvSpPr>
        <p:spPr>
          <a:xfrm>
            <a:off x="2362200" y="2066544"/>
            <a:ext cx="1014984" cy="1014984"/>
          </a:xfrm>
          <a:prstGeom prst="ellipse">
            <a:avLst/>
          </a:prstGeom>
          <a:solidFill>
            <a:srgbClr val="F4F1EA"/>
          </a:solidFill>
          <a:ln w="12700">
            <a:solidFill>
              <a:srgbClr val="F4F1EA"/>
            </a:solidFill>
            <a:prstDash val="solid"/>
          </a:ln>
        </p:spPr>
      </p:sp>
      <p:pic>
        <p:nvPicPr>
          <p:cNvPr id="47" name="Image 5" descr="preencoded.png">    </p:cNvPr>
          <p:cNvPicPr>
            <a:picLocks noChangeAspect="1"/>
          </p:cNvPicPr>
          <p:nvPr/>
        </p:nvPicPr>
        <p:blipFill>
          <a:blip r:embed="rId6"/>
          <a:stretch>
            <a:fillRect/>
          </a:stretch>
        </p:blipFill>
        <p:spPr>
          <a:xfrm>
            <a:off x="2545080" y="2249424"/>
            <a:ext cx="649224" cy="649224"/>
          </a:xfrm>
          <a:prstGeom prst="rect">
            <a:avLst/>
          </a:prstGeom>
        </p:spPr>
      </p:pic>
      <p:sp>
        <p:nvSpPr>
          <p:cNvPr id="48" name="Text 39"/>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ea typeface="Calibri" pitchFamily="34" charset="-122"/>
                <a:cs typeface="Calibri" pitchFamily="34" charset="-120"/>
              </a:rPr>
              <a:t>east of</a:t>
            </a:r>
            <a:endParaRPr lang="en-US" sz="1100" dirty="0"/>
          </a:p>
        </p:txBody>
      </p:sp>
      <p:sp>
        <p:nvSpPr>
          <p:cNvPr id="49" name="Shape 40"/>
          <p:cNvSpPr/>
          <p:nvPr/>
        </p:nvSpPr>
        <p:spPr>
          <a:xfrm>
            <a:off x="457200"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0" name="Shape 41"/>
          <p:cNvSpPr/>
          <p:nvPr/>
        </p:nvSpPr>
        <p:spPr>
          <a:xfrm>
            <a:off x="3617976" y="3785616"/>
            <a:ext cx="329184" cy="329184"/>
          </a:xfrm>
          <a:prstGeom prst="ellipse">
            <a:avLst/>
          </a:prstGeom>
          <a:solidFill>
            <a:srgbClr val="2E8B57"/>
          </a:solidFill>
          <a:ln w="12700">
            <a:solidFill>
              <a:srgbClr val="2E8B57"/>
            </a:solidFill>
            <a:prstDash val="solid"/>
          </a:ln>
        </p:spPr>
      </p:sp>
      <p:sp>
        <p:nvSpPr>
          <p:cNvPr id="51" name="Text 42"/>
          <p:cNvSpPr txBox="1"/>
          <p:nvPr/>
        </p:nvSpPr>
        <p:spPr>
          <a:xfrm>
            <a:off x="3617976"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sp>
        <p:nvSpPr>
          <p:cNvPr id="52" name="Text 43"/>
          <p:cNvSpPr txBox="1"/>
          <p:nvPr/>
        </p:nvSpPr>
        <p:spPr>
          <a:xfrm>
            <a:off x="594360"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34" charset="0"/>
                <a:ea typeface="Amiri" pitchFamily="34" charset="-122"/>
                <a:cs typeface="Amiri" pitchFamily="34" charset="-120"/>
              </a:rPr>
              <a:t>اَلْفُنْدُقُ شَرْقَ مَحَطَّةِ الْقِطَارِ.</a:t>
            </a:r>
            <a:endParaRPr lang="ar-SA" sz="2200" dirty="0"/>
          </a:p>
        </p:txBody>
      </p:sp>
      <p:sp>
        <p:nvSpPr>
          <p:cNvPr id="53" name="Text 44"/>
          <p:cNvSpPr txBox="1"/>
          <p:nvPr/>
        </p:nvSpPr>
        <p:spPr>
          <a:xfrm>
            <a:off x="594360"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ea typeface="Calibri" pitchFamily="34" charset="-122"/>
                <a:cs typeface="Calibri" pitchFamily="34" charset="-120"/>
              </a:rPr>
              <a:t>The hotel is east of the train station.</a:t>
            </a:r>
            <a:endParaRPr lang="en-US" sz="1200" dirty="0"/>
          </a:p>
        </p:txBody>
      </p:sp>
      <p:sp>
        <p:nvSpPr>
          <p:cNvPr id="54"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22 / 49</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TC-L08 · Buildings &amp; Services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READ AND JUDGE (TOPIC C FOCUS)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ea typeface="Cambria" pitchFamily="34" charset="-122"/>
                <a:cs typeface="Cambria" pitchFamily="34" charset="-120"/>
              </a:rPr>
              <a:t>A guide to the services in our area</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دَلِيلُ الخَدَمَاتِ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3 · Lesson 2 of 3</a:t>
            </a:r>
            <a:endParaRPr lang="en-US" sz="850" dirty="0"/>
          </a:p>
        </p:txBody>
      </p:sp>
      <p:sp>
        <p:nvSpPr>
          <p:cNvPr id="15" name="Shape 12"/>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56816"/>
            <a:ext cx="7616952" cy="564315"/>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34" charset="0"/>
                <a:ea typeface="Amiri" pitchFamily="34" charset="-122"/>
                <a:cs typeface="Amiri" pitchFamily="34" charset="-120"/>
              </a:rPr>
              <a:t>دَلِيلُ الخَدَمَاتِ فِي حَيِّنَا</a:t>
            </a:r>
            <a:endParaRPr lang="ar-SA" sz="2200" dirty="0"/>
          </a:p>
        </p:txBody>
      </p:sp>
      <p:sp>
        <p:nvSpPr>
          <p:cNvPr id="17" name="Shape 14"/>
          <p:cNvSpPr/>
          <p:nvPr/>
        </p:nvSpPr>
        <p:spPr>
          <a:xfrm>
            <a:off x="685800" y="2539419"/>
            <a:ext cx="7616952" cy="0"/>
          </a:xfrm>
          <a:prstGeom prst="line">
            <a:avLst/>
          </a:prstGeom>
          <a:noFill/>
          <a:ln w="9525">
            <a:solidFill>
              <a:srgbClr val="E4DCCB"/>
            </a:solidFill>
            <a:prstDash val="dash"/>
          </a:ln>
        </p:spPr>
      </p:sp>
      <p:sp>
        <p:nvSpPr>
          <p:cNvPr id="18" name="Text 15"/>
          <p:cNvSpPr txBox="1"/>
          <p:nvPr/>
        </p:nvSpPr>
        <p:spPr>
          <a:xfrm>
            <a:off x="685800" y="2557707"/>
            <a:ext cx="7616952" cy="564315"/>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34" charset="0"/>
                <a:ea typeface="Amiri" pitchFamily="34" charset="-122"/>
                <a:cs typeface="Amiri" pitchFamily="34" charset="-120"/>
              </a:rPr>
              <a:t>يُوجَدُ فِي حَيِّنَا مُسْتَشْفًى كَبِيرٌ وَعِيَادَتَانِ.</a:t>
            </a:r>
            <a:endParaRPr lang="ar-SA" sz="2000" dirty="0"/>
          </a:p>
        </p:txBody>
      </p:sp>
      <p:sp>
        <p:nvSpPr>
          <p:cNvPr id="19" name="Shape 16"/>
          <p:cNvSpPr/>
          <p:nvPr/>
        </p:nvSpPr>
        <p:spPr>
          <a:xfrm>
            <a:off x="685800" y="3140311"/>
            <a:ext cx="7616952" cy="0"/>
          </a:xfrm>
          <a:prstGeom prst="line">
            <a:avLst/>
          </a:prstGeom>
          <a:noFill/>
          <a:ln w="9525">
            <a:solidFill>
              <a:srgbClr val="E4DCCB"/>
            </a:solidFill>
            <a:prstDash val="dash"/>
          </a:ln>
        </p:spPr>
      </p:sp>
      <p:sp>
        <p:nvSpPr>
          <p:cNvPr id="20" name="Text 17"/>
          <p:cNvSpPr txBox="1"/>
          <p:nvPr/>
        </p:nvSpPr>
        <p:spPr>
          <a:xfrm>
            <a:off x="685800" y="3158599"/>
            <a:ext cx="7616952" cy="564315"/>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34" charset="0"/>
                <a:ea typeface="Amiri" pitchFamily="34" charset="-122"/>
                <a:cs typeface="Amiri" pitchFamily="34" charset="-120"/>
              </a:rPr>
              <a:t>تُوجَدُ مَكْتَبَةٌ عَامَّةٌ بِجَانِبِ المَدْرَسَةِ، وَهِيَ مَفْتُوحَةٌ كُلَّ يَوْمٍ.</a:t>
            </a:r>
            <a:endParaRPr lang="ar-SA" sz="2000" dirty="0"/>
          </a:p>
        </p:txBody>
      </p:sp>
      <p:sp>
        <p:nvSpPr>
          <p:cNvPr id="21" name="Shape 18"/>
          <p:cNvSpPr/>
          <p:nvPr/>
        </p:nvSpPr>
        <p:spPr>
          <a:xfrm>
            <a:off x="685800" y="3741202"/>
            <a:ext cx="7616952" cy="0"/>
          </a:xfrm>
          <a:prstGeom prst="line">
            <a:avLst/>
          </a:prstGeom>
          <a:noFill/>
          <a:ln w="9525">
            <a:solidFill>
              <a:srgbClr val="E4DCCB"/>
            </a:solidFill>
            <a:prstDash val="dash"/>
          </a:ln>
        </p:spPr>
      </p:sp>
      <p:sp>
        <p:nvSpPr>
          <p:cNvPr id="22" name="Text 19"/>
          <p:cNvSpPr txBox="1"/>
          <p:nvPr/>
        </p:nvSpPr>
        <p:spPr>
          <a:xfrm>
            <a:off x="685800" y="3759490"/>
            <a:ext cx="7616952" cy="564315"/>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34" charset="0"/>
                <a:ea typeface="Amiri" pitchFamily="34" charset="-122"/>
                <a:cs typeface="Amiri" pitchFamily="34" charset="-120"/>
              </a:rPr>
              <a:t>مَحَطَّةُ القِطَارِ قُرْبَ السَّاحَةِ، وَالقِطَارَاتُ سَرِيعَةٌ.</a:t>
            </a:r>
            <a:endParaRPr lang="ar-SA" sz="2000" dirty="0"/>
          </a:p>
        </p:txBody>
      </p:sp>
      <p:sp>
        <p:nvSpPr>
          <p:cNvPr id="23" name="Shape 20"/>
          <p:cNvSpPr/>
          <p:nvPr/>
        </p:nvSpPr>
        <p:spPr>
          <a:xfrm>
            <a:off x="685800" y="4342094"/>
            <a:ext cx="7616952" cy="0"/>
          </a:xfrm>
          <a:prstGeom prst="line">
            <a:avLst/>
          </a:prstGeom>
          <a:noFill/>
          <a:ln w="9525">
            <a:solidFill>
              <a:srgbClr val="E4DCCB"/>
            </a:solidFill>
            <a:prstDash val="dash"/>
          </a:ln>
        </p:spPr>
      </p:sp>
      <p:sp>
        <p:nvSpPr>
          <p:cNvPr id="24" name="Text 21"/>
          <p:cNvSpPr txBox="1"/>
          <p:nvPr/>
        </p:nvSpPr>
        <p:spPr>
          <a:xfrm>
            <a:off x="685800" y="4360382"/>
            <a:ext cx="7616952" cy="564315"/>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34" charset="0"/>
                <a:ea typeface="Amiri" pitchFamily="34" charset="-122"/>
                <a:cs typeface="Amiri" pitchFamily="34" charset="-120"/>
              </a:rPr>
              <a:t>لَا يُوجَدُ مَسْبَحٌ، وَالمَلْعَبُ صَغِيرٌ جِدًّا.</a:t>
            </a:r>
            <a:endParaRPr lang="ar-SA" sz="2000" dirty="0"/>
          </a:p>
        </p:txBody>
      </p:sp>
      <p:sp>
        <p:nvSpPr>
          <p:cNvPr id="25" name="Shape 22"/>
          <p:cNvSpPr/>
          <p:nvPr/>
        </p:nvSpPr>
        <p:spPr>
          <a:xfrm>
            <a:off x="685800" y="4942985"/>
            <a:ext cx="7616952" cy="0"/>
          </a:xfrm>
          <a:prstGeom prst="line">
            <a:avLst/>
          </a:prstGeom>
          <a:noFill/>
          <a:ln w="9525">
            <a:solidFill>
              <a:srgbClr val="E4DCCB"/>
            </a:solidFill>
            <a:prstDash val="dash"/>
          </a:ln>
        </p:spPr>
      </p:sp>
      <p:sp>
        <p:nvSpPr>
          <p:cNvPr id="26" name="Text 23"/>
          <p:cNvSpPr txBox="1"/>
          <p:nvPr/>
        </p:nvSpPr>
        <p:spPr>
          <a:xfrm>
            <a:off x="685800" y="4961273"/>
            <a:ext cx="7616952" cy="564315"/>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34" charset="0"/>
                <a:ea typeface="Amiri" pitchFamily="34" charset="-122"/>
                <a:cs typeface="Amiri" pitchFamily="34" charset="-120"/>
              </a:rPr>
              <a:t>المَقَاهِي كَثِيرَةٌ، لٰكِنَّ مَوْقِفَ السَّيَّارَاتِ مُزْدَحِمٌ دَائِمًا.</a:t>
            </a:r>
            <a:endParaRPr lang="ar-SA" sz="2000" dirty="0"/>
          </a:p>
        </p:txBody>
      </p:sp>
      <p:sp>
        <p:nvSpPr>
          <p:cNvPr id="27" name="Shape 24"/>
          <p:cNvSpPr/>
          <p:nvPr/>
        </p:nvSpPr>
        <p:spPr>
          <a:xfrm>
            <a:off x="685800" y="5543877"/>
            <a:ext cx="7616952" cy="0"/>
          </a:xfrm>
          <a:prstGeom prst="line">
            <a:avLst/>
          </a:prstGeom>
          <a:noFill/>
          <a:ln w="9525">
            <a:solidFill>
              <a:srgbClr val="E4DCCB"/>
            </a:solidFill>
            <a:prstDash val="dash"/>
          </a:ln>
        </p:spPr>
      </p:sp>
      <p:sp>
        <p:nvSpPr>
          <p:cNvPr id="28" name="Text 25"/>
          <p:cNvSpPr txBox="1"/>
          <p:nvPr/>
        </p:nvSpPr>
        <p:spPr>
          <a:xfrm>
            <a:off x="685800" y="5562165"/>
            <a:ext cx="7616952" cy="564315"/>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34" charset="0"/>
                <a:ea typeface="Amiri" pitchFamily="34" charset="-122"/>
                <a:cs typeface="Amiri" pitchFamily="34" charset="-120"/>
              </a:rPr>
              <a:t>رَأْيِي: حَيُّنَا أَفْضَلُ مِنَ الحَيِّ القَدِيمِ، لٰكِنَّهُ يَحْتَاجُ إِلَى مَسَاحَاتٍ خَضْرَاءَ.</a:t>
            </a:r>
            <a:endParaRPr lang="ar-SA" sz="2000" dirty="0"/>
          </a:p>
        </p:txBody>
      </p:sp>
      <p:sp>
        <p:nvSpPr>
          <p:cNvPr id="29" name="Shape 26"/>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ea typeface="Calibri" pitchFamily="34" charset="-122"/>
                <a:cs typeface="Calibri" pitchFamily="34" charset="-120"/>
              </a:rPr>
              <a:t>KEY WORDS</a:t>
            </a:r>
            <a:endParaRPr lang="en-US" sz="1000" dirty="0"/>
          </a:p>
        </p:txBody>
      </p:sp>
      <p:sp>
        <p:nvSpPr>
          <p:cNvPr id="31" name="Text 28"/>
          <p:cNvSpPr txBox="1"/>
          <p:nvPr/>
        </p:nvSpPr>
        <p:spPr>
          <a:xfrm>
            <a:off x="10102291" y="221284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دَلِيلٌ</a:t>
            </a:r>
            <a:endParaRPr lang="ar-SA" sz="1600" dirty="0"/>
          </a:p>
        </p:txBody>
      </p:sp>
      <p:sp>
        <p:nvSpPr>
          <p:cNvPr id="32" name="Text 29"/>
          <p:cNvSpPr txBox="1"/>
          <p:nvPr/>
        </p:nvSpPr>
        <p:spPr>
          <a:xfrm>
            <a:off x="8851392" y="221284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guide</a:t>
            </a:r>
            <a:endParaRPr lang="en-US" sz="1050" dirty="0"/>
          </a:p>
        </p:txBody>
      </p:sp>
      <p:sp>
        <p:nvSpPr>
          <p:cNvPr id="33" name="Text 30"/>
          <p:cNvSpPr txBox="1"/>
          <p:nvPr/>
        </p:nvSpPr>
        <p:spPr>
          <a:xfrm>
            <a:off x="10102291" y="261518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حَيُّنَا</a:t>
            </a:r>
            <a:endParaRPr lang="ar-SA" sz="1600" dirty="0"/>
          </a:p>
        </p:txBody>
      </p:sp>
      <p:sp>
        <p:nvSpPr>
          <p:cNvPr id="34" name="Text 31"/>
          <p:cNvSpPr txBox="1"/>
          <p:nvPr/>
        </p:nvSpPr>
        <p:spPr>
          <a:xfrm>
            <a:off x="8851392" y="261518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our area</a:t>
            </a:r>
            <a:endParaRPr lang="en-US" sz="1050" dirty="0"/>
          </a:p>
        </p:txBody>
      </p:sp>
      <p:sp>
        <p:nvSpPr>
          <p:cNvPr id="35" name="Text 32"/>
          <p:cNvSpPr txBox="1"/>
          <p:nvPr/>
        </p:nvSpPr>
        <p:spPr>
          <a:xfrm>
            <a:off x="10102291" y="301752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عِيَادَتَانِ</a:t>
            </a:r>
            <a:endParaRPr lang="ar-SA" sz="1600" dirty="0"/>
          </a:p>
        </p:txBody>
      </p:sp>
      <p:sp>
        <p:nvSpPr>
          <p:cNvPr id="36" name="Text 33"/>
          <p:cNvSpPr txBox="1"/>
          <p:nvPr/>
        </p:nvSpPr>
        <p:spPr>
          <a:xfrm>
            <a:off x="8851392" y="301752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two clinics</a:t>
            </a:r>
            <a:endParaRPr lang="en-US" sz="1050" dirty="0"/>
          </a:p>
        </p:txBody>
      </p:sp>
      <p:sp>
        <p:nvSpPr>
          <p:cNvPr id="37" name="Text 34"/>
          <p:cNvSpPr txBox="1"/>
          <p:nvPr/>
        </p:nvSpPr>
        <p:spPr>
          <a:xfrm>
            <a:off x="10102291" y="341985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عَامَّةٌ</a:t>
            </a:r>
            <a:endParaRPr lang="ar-SA" sz="1600" dirty="0"/>
          </a:p>
        </p:txBody>
      </p:sp>
      <p:sp>
        <p:nvSpPr>
          <p:cNvPr id="38" name="Text 35"/>
          <p:cNvSpPr txBox="1"/>
          <p:nvPr/>
        </p:nvSpPr>
        <p:spPr>
          <a:xfrm>
            <a:off x="8851392" y="341985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public</a:t>
            </a:r>
            <a:endParaRPr lang="en-US" sz="1050" dirty="0"/>
          </a:p>
        </p:txBody>
      </p:sp>
      <p:sp>
        <p:nvSpPr>
          <p:cNvPr id="39" name="Text 36"/>
          <p:cNvSpPr txBox="1"/>
          <p:nvPr/>
        </p:nvSpPr>
        <p:spPr>
          <a:xfrm>
            <a:off x="10102291" y="382219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مَفْتُوحَةٌ</a:t>
            </a:r>
            <a:endParaRPr lang="ar-SA" sz="1600" dirty="0"/>
          </a:p>
        </p:txBody>
      </p:sp>
      <p:sp>
        <p:nvSpPr>
          <p:cNvPr id="40" name="Text 37"/>
          <p:cNvSpPr txBox="1"/>
          <p:nvPr/>
        </p:nvSpPr>
        <p:spPr>
          <a:xfrm>
            <a:off x="8851392" y="382219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open</a:t>
            </a:r>
            <a:endParaRPr lang="en-US" sz="1050" dirty="0"/>
          </a:p>
        </p:txBody>
      </p:sp>
      <p:sp>
        <p:nvSpPr>
          <p:cNvPr id="41" name="Text 38"/>
          <p:cNvSpPr txBox="1"/>
          <p:nvPr/>
        </p:nvSpPr>
        <p:spPr>
          <a:xfrm>
            <a:off x="10102291" y="422452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السَّاحَةُ</a:t>
            </a:r>
            <a:endParaRPr lang="ar-SA" sz="1600" dirty="0"/>
          </a:p>
        </p:txBody>
      </p:sp>
      <p:sp>
        <p:nvSpPr>
          <p:cNvPr id="42" name="Text 39"/>
          <p:cNvSpPr txBox="1"/>
          <p:nvPr/>
        </p:nvSpPr>
        <p:spPr>
          <a:xfrm>
            <a:off x="8851392" y="422452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the square</a:t>
            </a:r>
            <a:endParaRPr lang="en-US" sz="1050" dirty="0"/>
          </a:p>
        </p:txBody>
      </p:sp>
      <p:sp>
        <p:nvSpPr>
          <p:cNvPr id="43" name="Text 40"/>
          <p:cNvSpPr txBox="1"/>
          <p:nvPr/>
        </p:nvSpPr>
        <p:spPr>
          <a:xfrm>
            <a:off x="10102291" y="462686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سَرِيعَةٌ</a:t>
            </a:r>
            <a:endParaRPr lang="ar-SA" sz="1600" dirty="0"/>
          </a:p>
        </p:txBody>
      </p:sp>
      <p:sp>
        <p:nvSpPr>
          <p:cNvPr id="44" name="Text 41"/>
          <p:cNvSpPr txBox="1"/>
          <p:nvPr/>
        </p:nvSpPr>
        <p:spPr>
          <a:xfrm>
            <a:off x="8851392" y="462686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fast</a:t>
            </a:r>
            <a:endParaRPr lang="en-US" sz="1050" dirty="0"/>
          </a:p>
        </p:txBody>
      </p:sp>
      <p:sp>
        <p:nvSpPr>
          <p:cNvPr id="45" name="Text 42"/>
          <p:cNvSpPr txBox="1"/>
          <p:nvPr/>
        </p:nvSpPr>
        <p:spPr>
          <a:xfrm>
            <a:off x="10102291" y="502920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مُزْدَحِمٌ</a:t>
            </a:r>
            <a:endParaRPr lang="ar-SA" sz="1600" dirty="0"/>
          </a:p>
        </p:txBody>
      </p:sp>
      <p:sp>
        <p:nvSpPr>
          <p:cNvPr id="46" name="Text 43"/>
          <p:cNvSpPr txBox="1"/>
          <p:nvPr/>
        </p:nvSpPr>
        <p:spPr>
          <a:xfrm>
            <a:off x="8851392" y="502920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crowded</a:t>
            </a:r>
            <a:endParaRPr lang="en-US" sz="1050" dirty="0"/>
          </a:p>
        </p:txBody>
      </p:sp>
      <p:sp>
        <p:nvSpPr>
          <p:cNvPr id="47" name="Text 44"/>
          <p:cNvSpPr txBox="1"/>
          <p:nvPr/>
        </p:nvSpPr>
        <p:spPr>
          <a:xfrm>
            <a:off x="10102291" y="543153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رَأْيِي</a:t>
            </a:r>
            <a:endParaRPr lang="ar-SA" sz="1600" dirty="0"/>
          </a:p>
        </p:txBody>
      </p:sp>
      <p:sp>
        <p:nvSpPr>
          <p:cNvPr id="48" name="Text 45"/>
          <p:cNvSpPr txBox="1"/>
          <p:nvPr/>
        </p:nvSpPr>
        <p:spPr>
          <a:xfrm>
            <a:off x="8851392" y="543153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my opinion</a:t>
            </a:r>
            <a:endParaRPr lang="en-US" sz="1050" dirty="0"/>
          </a:p>
        </p:txBody>
      </p:sp>
      <p:sp>
        <p:nvSpPr>
          <p:cNvPr id="49" name="Text 46"/>
          <p:cNvSpPr txBox="1"/>
          <p:nvPr/>
        </p:nvSpPr>
        <p:spPr>
          <a:xfrm>
            <a:off x="10102291" y="583387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يَحْتَاجُ إِلَى</a:t>
            </a:r>
            <a:endParaRPr lang="ar-SA" sz="1600" dirty="0"/>
          </a:p>
        </p:txBody>
      </p:sp>
      <p:sp>
        <p:nvSpPr>
          <p:cNvPr id="50" name="Text 47"/>
          <p:cNvSpPr txBox="1"/>
          <p:nvPr/>
        </p:nvSpPr>
        <p:spPr>
          <a:xfrm>
            <a:off x="8851392" y="583387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needs</a:t>
            </a:r>
            <a:endParaRPr lang="en-US" sz="1050" dirty="0"/>
          </a:p>
        </p:txBody>
      </p:sp>
      <p:sp>
        <p:nvSpPr>
          <p:cNvPr id="51" name="Text 4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23 / 49</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TC-L08 · Buildings &amp; Services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READ AND JUDGE ·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What is there — and is it good?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اِسْتَخْرِجِ المَعْلُومَاتِ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3 · Lesson 2 of 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is next to the school?</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The train station</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 café</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 public library</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How many clinics are there?</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Two</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One</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None</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service is missing?</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 hospital</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 swimming pool</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 train station</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is the problem with the car park?</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It is always crowded.</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It is closed.</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It is too far.</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the area need, in the writer’s opinion?</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More cafés</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 bigger station</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Green spaces</a:t>
            </a:r>
            <a:endParaRPr lang="en-US" sz="1250" dirty="0"/>
          </a:p>
        </p:txBody>
      </p:sp>
      <p:sp>
        <p:nvSpPr>
          <p:cNvPr id="80" name="Shape 7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82" name="Text 7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CORE</a:t>
            </a:r>
            <a:endParaRPr lang="en-US" sz="850" dirty="0"/>
          </a:p>
        </p:txBody>
      </p:sp>
      <p:sp>
        <p:nvSpPr>
          <p:cNvPr id="83" name="Text 80"/>
          <p:cNvSpPr txBox="1"/>
          <p:nvPr/>
        </p:nvSpPr>
        <p:spPr>
          <a:xfrm>
            <a:off x="8296656" y="4791456"/>
            <a:ext cx="3270504" cy="1380744"/>
          </a:xfrm>
          <a:prstGeom prst="rect">
            <a:avLst/>
          </a:prstGeom>
          <a:noFill/>
          <a:ln/>
        </p:spPr>
        <p:txBody>
          <a:bodyPr wrap="square" lIns="0" tIns="0" rIns="0" bIns="0" rtlCol="0" anchor="t"/>
          <a:lstStyle/>
          <a:p>
            <a:pPr algn="l" indent="0" marL="0">
              <a:lnSpc>
                <a:spcPct val="115000"/>
              </a:lnSpc>
              <a:buNone/>
            </a:pPr>
            <a:r>
              <a:rPr lang="en-US" sz="1250" dirty="0">
                <a:solidFill>
                  <a:srgbClr val="1E6B52"/>
                </a:solidFill>
                <a:latin typeface="Calibri" pitchFamily="34" charset="0"/>
                <a:ea typeface="Calibri" pitchFamily="34" charset="-122"/>
                <a:cs typeface="Calibri" pitchFamily="34" charset="-120"/>
              </a:rPr>
              <a:t>Find the KEY WORD first.</a:t>
            </a:r>
            <a:endParaRPr lang="en-US" sz="1250" dirty="0"/>
          </a:p>
          <a:p>
            <a:pPr algn="l" indent="0" marL="0">
              <a:lnSpc>
                <a:spcPct val="115000"/>
              </a:lnSpc>
              <a:buNone/>
            </a:pPr>
            <a:r>
              <a:rPr lang="en-US" sz="1250" dirty="0">
                <a:solidFill>
                  <a:srgbClr val="1E6B52"/>
                </a:solidFill>
                <a:latin typeface="Calibri" pitchFamily="34" charset="0"/>
                <a:ea typeface="Calibri" pitchFamily="34" charset="-122"/>
                <a:cs typeface="Calibri" pitchFamily="34" charset="-120"/>
              </a:rPr>
              <a:t>next to? </a:t>
            </a:r>
            <a:pPr algn="l" indent="0" marL="0">
              <a:lnSpc>
                <a:spcPct val="115000"/>
              </a:lnSpc>
              <a:buNone/>
            </a:pPr>
            <a:r>
              <a:rPr lang="ar-SA" altLang="en-US" sz="1650" dirty="0">
                <a:solidFill>
                  <a:srgbClr val="1E6B52"/>
                </a:solidFill>
                <a:latin typeface="Amiri" pitchFamily="34" charset="0"/>
                <a:ea typeface="Amiri" pitchFamily="34" charset="-122"/>
                <a:cs typeface="Amiri" pitchFamily="34" charset="-120"/>
              </a:rPr>
              <a:t>بِجَانِبِ</a:t>
            </a:r>
            <a:endParaRPr lang="en-US" sz="1250" dirty="0"/>
          </a:p>
          <a:p>
            <a:pPr algn="l" indent="0" marL="0">
              <a:lnSpc>
                <a:spcPct val="115000"/>
              </a:lnSpc>
              <a:buNone/>
            </a:pPr>
            <a:r>
              <a:rPr lang="en-US" sz="1250" dirty="0">
                <a:solidFill>
                  <a:srgbClr val="1E6B52"/>
                </a:solidFill>
                <a:latin typeface="Calibri" pitchFamily="34" charset="0"/>
                <a:ea typeface="Calibri" pitchFamily="34" charset="-122"/>
                <a:cs typeface="Calibri" pitchFamily="34" charset="-120"/>
              </a:rPr>
              <a:t>missing? </a:t>
            </a:r>
            <a:pPr algn="l" indent="0" marL="0">
              <a:lnSpc>
                <a:spcPct val="115000"/>
              </a:lnSpc>
              <a:buNone/>
            </a:pPr>
            <a:r>
              <a:rPr lang="ar-SA" altLang="en-US" sz="1650" dirty="0">
                <a:solidFill>
                  <a:srgbClr val="1E6B52"/>
                </a:solidFill>
                <a:latin typeface="Amiri" pitchFamily="34" charset="0"/>
                <a:ea typeface="Amiri" pitchFamily="34" charset="-122"/>
                <a:cs typeface="Amiri" pitchFamily="34" charset="-120"/>
              </a:rPr>
              <a:t>لَا يُوجَدُ</a:t>
            </a:r>
            <a:endParaRPr lang="en-US" sz="1250" dirty="0"/>
          </a:p>
          <a:p>
            <a:pPr algn="l" indent="0" marL="0">
              <a:lnSpc>
                <a:spcPct val="115000"/>
              </a:lnSpc>
              <a:buNone/>
            </a:pPr>
            <a:r>
              <a:rPr lang="en-US" sz="1250" dirty="0">
                <a:solidFill>
                  <a:srgbClr val="1E6B52"/>
                </a:solidFill>
                <a:latin typeface="Calibri" pitchFamily="34" charset="0"/>
                <a:ea typeface="Calibri" pitchFamily="34" charset="-122"/>
                <a:cs typeface="Calibri" pitchFamily="34" charset="-120"/>
              </a:rPr>
              <a:t>problem? </a:t>
            </a:r>
            <a:pPr algn="l" indent="0" marL="0">
              <a:lnSpc>
                <a:spcPct val="115000"/>
              </a:lnSpc>
              <a:buNone/>
            </a:pPr>
            <a:r>
              <a:rPr lang="ar-SA" altLang="en-US" sz="1650" dirty="0">
                <a:solidFill>
                  <a:srgbClr val="1E6B52"/>
                </a:solidFill>
                <a:latin typeface="Amiri" pitchFamily="34" charset="0"/>
                <a:ea typeface="Amiri" pitchFamily="34" charset="-122"/>
                <a:cs typeface="Amiri" pitchFamily="34" charset="-120"/>
              </a:rPr>
              <a:t>مُزْدَحِمٌ</a:t>
            </a:r>
            <a:endParaRPr lang="en-US" sz="1250" dirty="0"/>
          </a:p>
          <a:p>
            <a:pPr algn="l" indent="0" marL="0">
              <a:lnSpc>
                <a:spcPct val="115000"/>
              </a:lnSpc>
              <a:buNone/>
            </a:pPr>
            <a:r>
              <a:rPr lang="en-US" sz="1250" dirty="0">
                <a:solidFill>
                  <a:srgbClr val="1E6B52"/>
                </a:solidFill>
                <a:latin typeface="Calibri" pitchFamily="34" charset="0"/>
                <a:ea typeface="Calibri" pitchFamily="34" charset="-122"/>
                <a:cs typeface="Calibri" pitchFamily="34" charset="-120"/>
              </a:rPr>
              <a:t>needs? </a:t>
            </a:r>
            <a:pPr algn="l" indent="0" marL="0">
              <a:lnSpc>
                <a:spcPct val="115000"/>
              </a:lnSpc>
              <a:buNone/>
            </a:pPr>
            <a:r>
              <a:rPr lang="ar-SA" altLang="en-US" sz="1650" dirty="0">
                <a:solidFill>
                  <a:srgbClr val="1E6B52"/>
                </a:solidFill>
                <a:latin typeface="Amiri" pitchFamily="34" charset="0"/>
                <a:ea typeface="Amiri" pitchFamily="34" charset="-122"/>
                <a:cs typeface="Amiri" pitchFamily="34" charset="-120"/>
              </a:rPr>
              <a:t>يَحْتَاجُ إِلَى</a:t>
            </a:r>
            <a:endParaRPr lang="en-US" sz="125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24 / 49</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TC-L08 · Buildings &amp; Services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READ AND JUDGE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Services: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3 · Lesson 2 of 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is next to the school?</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The train station</a:t>
            </a:r>
            <a:endParaRPr lang="en-US" sz="125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A café</a:t>
            </a:r>
            <a:endParaRPr lang="en-US" sz="1250" dirty="0"/>
          </a:p>
        </p:txBody>
      </p:sp>
      <p:sp>
        <p:nvSpPr>
          <p:cNvPr id="25" name="Shape 22"/>
          <p:cNvSpPr/>
          <p:nvPr/>
        </p:nvSpPr>
        <p:spPr>
          <a:xfrm>
            <a:off x="548640" y="3197352"/>
            <a:ext cx="3453384"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A public library</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تُوجَدُ مَكْتَبَةٌ عَامَّةٌ بِجَانِبِ المَدْرَسَةِ.</a:t>
            </a:r>
            <a:endParaRPr lang="ar-SA" sz="13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How many clinics are there?</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Two</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One</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None</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مُسْتَشْفًى كَبِيرٌ وَعِيَادَتَانِ</a:t>
            </a:r>
            <a:pPr algn="l" indent="0" marL="0">
              <a:buNone/>
            </a:pPr>
            <a:r>
              <a:rPr lang="en-US" sz="1050" i="1" dirty="0">
                <a:solidFill>
                  <a:srgbClr val="8A6D1E"/>
                </a:solidFill>
                <a:latin typeface="Calibri" pitchFamily="34" charset="0"/>
                <a:ea typeface="Calibri" pitchFamily="34" charset="-122"/>
                <a:cs typeface="Calibri" pitchFamily="34" charset="-120"/>
              </a:rPr>
              <a:t> (</a:t>
            </a:r>
            <a:pPr algn="l" indent="0" marL="0">
              <a:buNone/>
            </a:pPr>
            <a:r>
              <a:rPr lang="ar-SA" altLang="en-US" sz="1350" dirty="0">
                <a:solidFill>
                  <a:srgbClr val="8A6D1E"/>
                </a:solidFill>
                <a:latin typeface="Amiri" pitchFamily="34" charset="0"/>
                <a:ea typeface="Amiri" pitchFamily="34" charset="-122"/>
                <a:cs typeface="Amiri" pitchFamily="34" charset="-120"/>
              </a:rPr>
              <a:t>ـَانِ</a:t>
            </a:r>
            <a:pPr algn="l" indent="0" marL="0">
              <a:buNone/>
            </a:pPr>
            <a:r>
              <a:rPr lang="en-US" sz="1050" i="1" dirty="0">
                <a:solidFill>
                  <a:srgbClr val="8A6D1E"/>
                </a:solidFill>
                <a:latin typeface="Calibri" pitchFamily="34" charset="0"/>
                <a:ea typeface="Calibri" pitchFamily="34" charset="-122"/>
                <a:cs typeface="Calibri" pitchFamily="34" charset="-120"/>
              </a:rPr>
              <a:t> = two).</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service is missing?</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A hospital</a:t>
            </a:r>
            <a:endParaRPr lang="en-US" sz="1250" dirty="0"/>
          </a:p>
        </p:txBody>
      </p:sp>
      <p:sp>
        <p:nvSpPr>
          <p:cNvPr id="52" name="Shape 49"/>
          <p:cNvSpPr/>
          <p:nvPr/>
        </p:nvSpPr>
        <p:spPr>
          <a:xfrm>
            <a:off x="8186928" y="2825496"/>
            <a:ext cx="3453384"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8278368" y="2862072"/>
            <a:ext cx="256032" cy="256032"/>
          </a:xfrm>
          <a:prstGeom prst="ellipse">
            <a:avLst/>
          </a:prstGeom>
          <a:solidFill>
            <a:srgbClr val="2E8B57"/>
          </a:solidFill>
          <a:ln w="12700">
            <a:solidFill>
              <a:srgbClr val="2E8B57"/>
            </a:solidFill>
            <a:prstDash val="solid"/>
          </a:ln>
        </p:spPr>
      </p:sp>
      <p:sp>
        <p:nvSpPr>
          <p:cNvPr id="54" name="Text 51"/>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55" name="Text 52"/>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A swimming pool</a:t>
            </a:r>
            <a:endParaRPr lang="en-US" sz="1250" dirty="0"/>
          </a:p>
        </p:txBody>
      </p:sp>
      <p:sp>
        <p:nvSpPr>
          <p:cNvPr id="56" name="Shape 53"/>
          <p:cNvSpPr/>
          <p:nvPr/>
        </p:nvSpPr>
        <p:spPr>
          <a:xfrm>
            <a:off x="8278368" y="323392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A train station</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لَا يُوجَدُ مَسْبَحٌ.</a:t>
            </a:r>
            <a:endParaRPr lang="ar-SA" sz="13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is the problem with the car park?</a:t>
            </a:r>
            <a:endParaRPr lang="en-US" sz="1250" dirty="0"/>
          </a:p>
        </p:txBody>
      </p:sp>
      <p:sp>
        <p:nvSpPr>
          <p:cNvPr id="64" name="Shape 61"/>
          <p:cNvSpPr/>
          <p:nvPr/>
        </p:nvSpPr>
        <p:spPr>
          <a:xfrm>
            <a:off x="548640" y="4794504"/>
            <a:ext cx="3453384"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40080"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It is always crowded.</a:t>
            </a:r>
            <a:endParaRPr lang="en-US" sz="125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It is closed.</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It is too far.</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مَوْقِفُ السَّيَّارَاتِ مُزْدَحِمٌ دَائِمًا.</a:t>
            </a:r>
            <a:endParaRPr lang="ar-SA" sz="13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the area need, in the writer’s opinion?</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More cafés</a:t>
            </a:r>
            <a:endParaRPr lang="en-US" sz="1250" dirty="0"/>
          </a:p>
        </p:txBody>
      </p:sp>
      <p:sp>
        <p:nvSpPr>
          <p:cNvPr id="82" name="Shape 79"/>
          <p:cNvSpPr/>
          <p:nvPr/>
        </p:nvSpPr>
        <p:spPr>
          <a:xfrm>
            <a:off x="4459224" y="5202936"/>
            <a:ext cx="256032" cy="256032"/>
          </a:xfrm>
          <a:prstGeom prst="ellipse">
            <a:avLst/>
          </a:prstGeom>
          <a:solidFill>
            <a:srgbClr val="C9CED6"/>
          </a:solidFill>
          <a:ln w="12700">
            <a:solidFill>
              <a:srgbClr val="C9CED6"/>
            </a:solidFill>
            <a:prstDash val="solid"/>
          </a:ln>
        </p:spPr>
      </p:sp>
      <p:sp>
        <p:nvSpPr>
          <p:cNvPr id="83" name="Text 80"/>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84" name="Text 81"/>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A bigger station</a:t>
            </a:r>
            <a:endParaRPr lang="en-US" sz="1250" dirty="0"/>
          </a:p>
        </p:txBody>
      </p:sp>
      <p:sp>
        <p:nvSpPr>
          <p:cNvPr id="85" name="Shape 82"/>
          <p:cNvSpPr/>
          <p:nvPr/>
        </p:nvSpPr>
        <p:spPr>
          <a:xfrm>
            <a:off x="4367784" y="5538216"/>
            <a:ext cx="3453384" cy="347472"/>
          </a:xfrm>
          <a:prstGeom prst="roundRect">
            <a:avLst>
              <a:gd name="adj" fmla="val 15789"/>
            </a:avLst>
          </a:prstGeom>
          <a:solidFill>
            <a:srgbClr val="E6F4EC"/>
          </a:solidFill>
          <a:ln w="9525">
            <a:solidFill>
              <a:srgbClr val="2E8B57"/>
            </a:solidFill>
            <a:prstDash val="solid"/>
          </a:ln>
        </p:spPr>
      </p:sp>
      <p:sp>
        <p:nvSpPr>
          <p:cNvPr id="86" name="Shape 83"/>
          <p:cNvSpPr/>
          <p:nvPr/>
        </p:nvSpPr>
        <p:spPr>
          <a:xfrm>
            <a:off x="4459224" y="5574792"/>
            <a:ext cx="256032" cy="256032"/>
          </a:xfrm>
          <a:prstGeom prst="ellipse">
            <a:avLst/>
          </a:prstGeom>
          <a:solidFill>
            <a:srgbClr val="2E8B57"/>
          </a:solidFill>
          <a:ln w="12700">
            <a:solidFill>
              <a:srgbClr val="2E8B57"/>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Green spaces</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لٰكِنَّهُ يَحْتَاجُ إِلَى مَسَاحَاتٍ خَضْرَاءَ.</a:t>
            </a:r>
            <a:endParaRPr lang="ar-SA" sz="1350" dirty="0"/>
          </a:p>
        </p:txBody>
      </p:sp>
      <p:sp>
        <p:nvSpPr>
          <p:cNvPr id="90" name="Shape 8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92" name="Text 8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CORE</a:t>
            </a:r>
            <a:endParaRPr lang="en-US" sz="850" dirty="0"/>
          </a:p>
        </p:txBody>
      </p:sp>
      <p:sp>
        <p:nvSpPr>
          <p:cNvPr id="93" name="Text 90"/>
          <p:cNvSpPr txBox="1"/>
          <p:nvPr/>
        </p:nvSpPr>
        <p:spPr>
          <a:xfrm>
            <a:off x="8296656" y="4791456"/>
            <a:ext cx="3270504" cy="1380744"/>
          </a:xfrm>
          <a:prstGeom prst="rect">
            <a:avLst/>
          </a:prstGeom>
          <a:noFill/>
          <a:ln/>
        </p:spPr>
        <p:txBody>
          <a:bodyPr wrap="square" lIns="0" tIns="0" rIns="0" bIns="0" rtlCol="0" anchor="t"/>
          <a:lstStyle/>
          <a:p>
            <a:pPr algn="l" indent="0" marL="0">
              <a:lnSpc>
                <a:spcPct val="115000"/>
              </a:lnSpc>
              <a:buNone/>
            </a:pPr>
            <a:r>
              <a:rPr lang="en-US" sz="1250" dirty="0">
                <a:solidFill>
                  <a:srgbClr val="1E6B52"/>
                </a:solidFill>
                <a:latin typeface="Calibri" pitchFamily="34" charset="0"/>
                <a:ea typeface="Calibri" pitchFamily="34" charset="-122"/>
                <a:cs typeface="Calibri" pitchFamily="34" charset="-120"/>
              </a:rPr>
              <a:t>Find the KEY WORD first.</a:t>
            </a:r>
            <a:endParaRPr lang="en-US" sz="1250" dirty="0"/>
          </a:p>
          <a:p>
            <a:pPr algn="l" indent="0" marL="0">
              <a:lnSpc>
                <a:spcPct val="115000"/>
              </a:lnSpc>
              <a:buNone/>
            </a:pPr>
            <a:r>
              <a:rPr lang="en-US" sz="1250" dirty="0">
                <a:solidFill>
                  <a:srgbClr val="1E6B52"/>
                </a:solidFill>
                <a:latin typeface="Calibri" pitchFamily="34" charset="0"/>
                <a:ea typeface="Calibri" pitchFamily="34" charset="-122"/>
                <a:cs typeface="Calibri" pitchFamily="34" charset="-120"/>
              </a:rPr>
              <a:t>next to? </a:t>
            </a:r>
            <a:pPr algn="l" indent="0" marL="0">
              <a:lnSpc>
                <a:spcPct val="115000"/>
              </a:lnSpc>
              <a:buNone/>
            </a:pPr>
            <a:r>
              <a:rPr lang="ar-SA" altLang="en-US" sz="1650" dirty="0">
                <a:solidFill>
                  <a:srgbClr val="1E6B52"/>
                </a:solidFill>
                <a:latin typeface="Amiri" pitchFamily="34" charset="0"/>
                <a:ea typeface="Amiri" pitchFamily="34" charset="-122"/>
                <a:cs typeface="Amiri" pitchFamily="34" charset="-120"/>
              </a:rPr>
              <a:t>بِجَانِبِ</a:t>
            </a:r>
            <a:endParaRPr lang="en-US" sz="1250" dirty="0"/>
          </a:p>
          <a:p>
            <a:pPr algn="l" indent="0" marL="0">
              <a:lnSpc>
                <a:spcPct val="115000"/>
              </a:lnSpc>
              <a:buNone/>
            </a:pPr>
            <a:r>
              <a:rPr lang="en-US" sz="1250" dirty="0">
                <a:solidFill>
                  <a:srgbClr val="1E6B52"/>
                </a:solidFill>
                <a:latin typeface="Calibri" pitchFamily="34" charset="0"/>
                <a:ea typeface="Calibri" pitchFamily="34" charset="-122"/>
                <a:cs typeface="Calibri" pitchFamily="34" charset="-120"/>
              </a:rPr>
              <a:t>missing? </a:t>
            </a:r>
            <a:pPr algn="l" indent="0" marL="0">
              <a:lnSpc>
                <a:spcPct val="115000"/>
              </a:lnSpc>
              <a:buNone/>
            </a:pPr>
            <a:r>
              <a:rPr lang="ar-SA" altLang="en-US" sz="1650" dirty="0">
                <a:solidFill>
                  <a:srgbClr val="1E6B52"/>
                </a:solidFill>
                <a:latin typeface="Amiri" pitchFamily="34" charset="0"/>
                <a:ea typeface="Amiri" pitchFamily="34" charset="-122"/>
                <a:cs typeface="Amiri" pitchFamily="34" charset="-120"/>
              </a:rPr>
              <a:t>لَا يُوجَدُ</a:t>
            </a:r>
            <a:endParaRPr lang="en-US" sz="1250" dirty="0"/>
          </a:p>
          <a:p>
            <a:pPr algn="l" indent="0" marL="0">
              <a:lnSpc>
                <a:spcPct val="115000"/>
              </a:lnSpc>
              <a:buNone/>
            </a:pPr>
            <a:r>
              <a:rPr lang="en-US" sz="1250" dirty="0">
                <a:solidFill>
                  <a:srgbClr val="1E6B52"/>
                </a:solidFill>
                <a:latin typeface="Calibri" pitchFamily="34" charset="0"/>
                <a:ea typeface="Calibri" pitchFamily="34" charset="-122"/>
                <a:cs typeface="Calibri" pitchFamily="34" charset="-120"/>
              </a:rPr>
              <a:t>problem? </a:t>
            </a:r>
            <a:pPr algn="l" indent="0" marL="0">
              <a:lnSpc>
                <a:spcPct val="115000"/>
              </a:lnSpc>
              <a:buNone/>
            </a:pPr>
            <a:r>
              <a:rPr lang="ar-SA" altLang="en-US" sz="1650" dirty="0">
                <a:solidFill>
                  <a:srgbClr val="1E6B52"/>
                </a:solidFill>
                <a:latin typeface="Amiri" pitchFamily="34" charset="0"/>
                <a:ea typeface="Amiri" pitchFamily="34" charset="-122"/>
                <a:cs typeface="Amiri" pitchFamily="34" charset="-120"/>
              </a:rPr>
              <a:t>مُزْدَحِمٌ</a:t>
            </a:r>
            <a:endParaRPr lang="en-US" sz="1250" dirty="0"/>
          </a:p>
          <a:p>
            <a:pPr algn="l" indent="0" marL="0">
              <a:lnSpc>
                <a:spcPct val="115000"/>
              </a:lnSpc>
              <a:buNone/>
            </a:pPr>
            <a:r>
              <a:rPr lang="en-US" sz="1250" dirty="0">
                <a:solidFill>
                  <a:srgbClr val="1E6B52"/>
                </a:solidFill>
                <a:latin typeface="Calibri" pitchFamily="34" charset="0"/>
                <a:ea typeface="Calibri" pitchFamily="34" charset="-122"/>
                <a:cs typeface="Calibri" pitchFamily="34" charset="-120"/>
              </a:rPr>
              <a:t>needs? </a:t>
            </a:r>
            <a:pPr algn="l" indent="0" marL="0">
              <a:lnSpc>
                <a:spcPct val="115000"/>
              </a:lnSpc>
              <a:buNone/>
            </a:pPr>
            <a:r>
              <a:rPr lang="ar-SA" altLang="en-US" sz="1650" dirty="0">
                <a:solidFill>
                  <a:srgbClr val="1E6B52"/>
                </a:solidFill>
                <a:latin typeface="Amiri" pitchFamily="34" charset="0"/>
                <a:ea typeface="Amiri" pitchFamily="34" charset="-122"/>
                <a:cs typeface="Amiri" pitchFamily="34" charset="-120"/>
              </a:rPr>
              <a:t>يَحْتَاجُ إِلَى</a:t>
            </a:r>
            <a:endParaRPr lang="en-US" sz="12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25 / 49</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TC-L08 · Buildings &amp; Services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GUIDED PRACTICE · SENTENCE BUILDER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Build the sentence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3 · Lesson 2 of 3</a:t>
            </a:r>
            <a:endParaRPr lang="en-US" sz="850" dirty="0"/>
          </a:p>
        </p:txBody>
      </p:sp>
      <p:sp>
        <p:nvSpPr>
          <p:cNvPr id="15" name="Text 12"/>
          <p:cNvSpPr txBox="1"/>
          <p:nvPr/>
        </p:nvSpPr>
        <p:spPr>
          <a:xfrm>
            <a:off x="9180576"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ea typeface="Calibri" pitchFamily="34" charset="-122"/>
                <a:cs typeface="Calibri" pitchFamily="34" charset="-120"/>
              </a:rPr>
              <a:t>Column 1 · start here</a:t>
            </a:r>
            <a:endParaRPr lang="en-US" sz="1000" dirty="0"/>
          </a:p>
        </p:txBody>
      </p:sp>
      <p:sp>
        <p:nvSpPr>
          <p:cNvPr id="16" name="Text 13"/>
          <p:cNvSpPr txBox="1"/>
          <p:nvPr/>
        </p:nvSpPr>
        <p:spPr>
          <a:xfrm>
            <a:off x="6624828"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ea typeface="Calibri" pitchFamily="34" charset="-122"/>
                <a:cs typeface="Calibri" pitchFamily="34" charset="-120"/>
              </a:rPr>
              <a:t>Column 2</a:t>
            </a:r>
            <a:endParaRPr lang="en-US" sz="1000" dirty="0"/>
          </a:p>
        </p:txBody>
      </p:sp>
      <p:sp>
        <p:nvSpPr>
          <p:cNvPr id="17" name="Text 14"/>
          <p:cNvSpPr txBox="1"/>
          <p:nvPr/>
        </p:nvSpPr>
        <p:spPr>
          <a:xfrm>
            <a:off x="4069080"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ea typeface="Calibri" pitchFamily="34" charset="-122"/>
                <a:cs typeface="Calibri" pitchFamily="34" charset="-120"/>
              </a:rPr>
              <a:t>Column 3</a:t>
            </a:r>
            <a:endParaRPr lang="en-US" sz="1000" dirty="0"/>
          </a:p>
        </p:txBody>
      </p:sp>
      <p:sp>
        <p:nvSpPr>
          <p:cNvPr id="18" name="Shape 15"/>
          <p:cNvSpPr/>
          <p:nvPr/>
        </p:nvSpPr>
        <p:spPr>
          <a:xfrm>
            <a:off x="457200" y="2011680"/>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9" name="Shape 16"/>
          <p:cNvSpPr/>
          <p:nvPr/>
        </p:nvSpPr>
        <p:spPr>
          <a:xfrm>
            <a:off x="594360" y="2148840"/>
            <a:ext cx="365760" cy="365760"/>
          </a:xfrm>
          <a:prstGeom prst="ellipse">
            <a:avLst/>
          </a:prstGeom>
          <a:solidFill>
            <a:srgbClr val="2F6FB0"/>
          </a:solidFill>
          <a:ln w="12700">
            <a:solidFill>
              <a:srgbClr val="2F6FB0"/>
            </a:solidFill>
            <a:prstDash val="solid"/>
          </a:ln>
        </p:spPr>
      </p:sp>
      <p:sp>
        <p:nvSpPr>
          <p:cNvPr id="20" name="Text 17"/>
          <p:cNvSpPr txBox="1"/>
          <p:nvPr/>
        </p:nvSpPr>
        <p:spPr>
          <a:xfrm>
            <a:off x="594360" y="21488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21" name="Text 18"/>
          <p:cNvSpPr txBox="1"/>
          <p:nvPr/>
        </p:nvSpPr>
        <p:spPr>
          <a:xfrm>
            <a:off x="1051560" y="2121408"/>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ea typeface="Calibri" pitchFamily="34" charset="-122"/>
                <a:cs typeface="Calibri" pitchFamily="34" charset="-120"/>
              </a:rPr>
              <a:t>There is a library in my town.</a:t>
            </a:r>
            <a:endParaRPr lang="en-US" sz="1400" dirty="0"/>
          </a:p>
        </p:txBody>
      </p:sp>
      <p:sp>
        <p:nvSpPr>
          <p:cNvPr id="22" name="Shape 19"/>
          <p:cNvSpPr/>
          <p:nvPr/>
        </p:nvSpPr>
        <p:spPr>
          <a:xfrm>
            <a:off x="9180576" y="2103120"/>
            <a:ext cx="2414016" cy="512064"/>
          </a:xfrm>
          <a:prstGeom prst="roundRect">
            <a:avLst>
              <a:gd name="adj" fmla="val 10714"/>
            </a:avLst>
          </a:prstGeom>
          <a:solidFill>
            <a:srgbClr val="EEF3FA"/>
          </a:solidFill>
          <a:ln w="9525">
            <a:solidFill>
              <a:srgbClr val="C9D6EA"/>
            </a:solidFill>
            <a:prstDash val="solid"/>
          </a:ln>
        </p:spPr>
      </p:sp>
      <p:sp>
        <p:nvSpPr>
          <p:cNvPr id="23" name="Text 20"/>
          <p:cNvSpPr txBox="1"/>
          <p:nvPr/>
        </p:nvSpPr>
        <p:spPr>
          <a:xfrm>
            <a:off x="9235440"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A</a:t>
            </a:r>
            <a:endParaRPr lang="en-US" sz="1000" dirty="0"/>
          </a:p>
        </p:txBody>
      </p:sp>
      <p:sp>
        <p:nvSpPr>
          <p:cNvPr id="24" name="Text 21"/>
          <p:cNvSpPr txBox="1"/>
          <p:nvPr/>
        </p:nvSpPr>
        <p:spPr>
          <a:xfrm>
            <a:off x="9500616"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يُوجَدُ</a:t>
            </a:r>
            <a:endParaRPr lang="ar-SA" sz="1800" dirty="0"/>
          </a:p>
        </p:txBody>
      </p:sp>
      <p:sp>
        <p:nvSpPr>
          <p:cNvPr id="25" name="Shape 22"/>
          <p:cNvSpPr/>
          <p:nvPr/>
        </p:nvSpPr>
        <p:spPr>
          <a:xfrm>
            <a:off x="9180576" y="2670048"/>
            <a:ext cx="2414016" cy="512064"/>
          </a:xfrm>
          <a:prstGeom prst="roundRect">
            <a:avLst>
              <a:gd name="adj" fmla="val 10714"/>
            </a:avLst>
          </a:prstGeom>
          <a:solidFill>
            <a:srgbClr val="EEF3FA"/>
          </a:solidFill>
          <a:ln w="9525">
            <a:solidFill>
              <a:srgbClr val="C9D6EA"/>
            </a:solidFill>
            <a:prstDash val="solid"/>
          </a:ln>
        </p:spPr>
      </p:sp>
      <p:sp>
        <p:nvSpPr>
          <p:cNvPr id="26" name="Text 23"/>
          <p:cNvSpPr txBox="1"/>
          <p:nvPr/>
        </p:nvSpPr>
        <p:spPr>
          <a:xfrm>
            <a:off x="9235440"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B</a:t>
            </a:r>
            <a:endParaRPr lang="en-US" sz="1000" dirty="0"/>
          </a:p>
        </p:txBody>
      </p:sp>
      <p:sp>
        <p:nvSpPr>
          <p:cNvPr id="27" name="Text 24"/>
          <p:cNvSpPr txBox="1"/>
          <p:nvPr/>
        </p:nvSpPr>
        <p:spPr>
          <a:xfrm>
            <a:off x="9500616"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تُوجَدُ</a:t>
            </a:r>
            <a:endParaRPr lang="ar-SA" sz="1800" dirty="0"/>
          </a:p>
        </p:txBody>
      </p:sp>
      <p:sp>
        <p:nvSpPr>
          <p:cNvPr id="28" name="Shape 25"/>
          <p:cNvSpPr/>
          <p:nvPr/>
        </p:nvSpPr>
        <p:spPr>
          <a:xfrm>
            <a:off x="6624828" y="2103120"/>
            <a:ext cx="2414016" cy="512064"/>
          </a:xfrm>
          <a:prstGeom prst="roundRect">
            <a:avLst>
              <a:gd name="adj" fmla="val 10714"/>
            </a:avLst>
          </a:prstGeom>
          <a:solidFill>
            <a:srgbClr val="EEF3FA"/>
          </a:solidFill>
          <a:ln w="9525">
            <a:solidFill>
              <a:srgbClr val="C9D6EA"/>
            </a:solidFill>
            <a:prstDash val="solid"/>
          </a:ln>
        </p:spPr>
      </p:sp>
      <p:sp>
        <p:nvSpPr>
          <p:cNvPr id="29" name="Text 26"/>
          <p:cNvSpPr txBox="1"/>
          <p:nvPr/>
        </p:nvSpPr>
        <p:spPr>
          <a:xfrm>
            <a:off x="6679692"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A</a:t>
            </a:r>
            <a:endParaRPr lang="en-US" sz="1000" dirty="0"/>
          </a:p>
        </p:txBody>
      </p:sp>
      <p:sp>
        <p:nvSpPr>
          <p:cNvPr id="30" name="Text 27"/>
          <p:cNvSpPr txBox="1"/>
          <p:nvPr/>
        </p:nvSpPr>
        <p:spPr>
          <a:xfrm>
            <a:off x="6944868"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مَكْتَبَةٌ</a:t>
            </a:r>
            <a:endParaRPr lang="ar-SA" sz="1800" dirty="0"/>
          </a:p>
        </p:txBody>
      </p:sp>
      <p:sp>
        <p:nvSpPr>
          <p:cNvPr id="31" name="Shape 28"/>
          <p:cNvSpPr/>
          <p:nvPr/>
        </p:nvSpPr>
        <p:spPr>
          <a:xfrm>
            <a:off x="6624828" y="2670048"/>
            <a:ext cx="2414016" cy="512064"/>
          </a:xfrm>
          <a:prstGeom prst="roundRect">
            <a:avLst>
              <a:gd name="adj" fmla="val 10714"/>
            </a:avLst>
          </a:prstGeom>
          <a:solidFill>
            <a:srgbClr val="EEF3FA"/>
          </a:solidFill>
          <a:ln w="9525">
            <a:solidFill>
              <a:srgbClr val="C9D6EA"/>
            </a:solidFill>
            <a:prstDash val="solid"/>
          </a:ln>
        </p:spPr>
      </p:sp>
      <p:sp>
        <p:nvSpPr>
          <p:cNvPr id="32" name="Text 29"/>
          <p:cNvSpPr txBox="1"/>
          <p:nvPr/>
        </p:nvSpPr>
        <p:spPr>
          <a:xfrm>
            <a:off x="6679692"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B</a:t>
            </a:r>
            <a:endParaRPr lang="en-US" sz="1000" dirty="0"/>
          </a:p>
        </p:txBody>
      </p:sp>
      <p:sp>
        <p:nvSpPr>
          <p:cNvPr id="33" name="Text 30"/>
          <p:cNvSpPr txBox="1"/>
          <p:nvPr/>
        </p:nvSpPr>
        <p:spPr>
          <a:xfrm>
            <a:off x="6944868"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مَكْتَبَةً</a:t>
            </a:r>
            <a:endParaRPr lang="ar-SA" sz="1800" dirty="0"/>
          </a:p>
        </p:txBody>
      </p:sp>
      <p:sp>
        <p:nvSpPr>
          <p:cNvPr id="34" name="Shape 31"/>
          <p:cNvSpPr/>
          <p:nvPr/>
        </p:nvSpPr>
        <p:spPr>
          <a:xfrm>
            <a:off x="4069080" y="2103120"/>
            <a:ext cx="2414016" cy="512064"/>
          </a:xfrm>
          <a:prstGeom prst="roundRect">
            <a:avLst>
              <a:gd name="adj" fmla="val 10714"/>
            </a:avLst>
          </a:prstGeom>
          <a:solidFill>
            <a:srgbClr val="EEF3FA"/>
          </a:solidFill>
          <a:ln w="9525">
            <a:solidFill>
              <a:srgbClr val="C9D6EA"/>
            </a:solidFill>
            <a:prstDash val="solid"/>
          </a:ln>
        </p:spPr>
      </p:sp>
      <p:sp>
        <p:nvSpPr>
          <p:cNvPr id="35" name="Text 32"/>
          <p:cNvSpPr txBox="1"/>
          <p:nvPr/>
        </p:nvSpPr>
        <p:spPr>
          <a:xfrm>
            <a:off x="4123944"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A</a:t>
            </a:r>
            <a:endParaRPr lang="en-US" sz="1000" dirty="0"/>
          </a:p>
        </p:txBody>
      </p:sp>
      <p:sp>
        <p:nvSpPr>
          <p:cNvPr id="36" name="Text 33"/>
          <p:cNvSpPr txBox="1"/>
          <p:nvPr/>
        </p:nvSpPr>
        <p:spPr>
          <a:xfrm>
            <a:off x="4389120"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فِي مَدِينَتِي.</a:t>
            </a:r>
            <a:endParaRPr lang="ar-SA" sz="1800" dirty="0"/>
          </a:p>
        </p:txBody>
      </p:sp>
      <p:sp>
        <p:nvSpPr>
          <p:cNvPr id="37" name="Shape 34"/>
          <p:cNvSpPr/>
          <p:nvPr/>
        </p:nvSpPr>
        <p:spPr>
          <a:xfrm>
            <a:off x="4069080" y="2670048"/>
            <a:ext cx="2414016" cy="512064"/>
          </a:xfrm>
          <a:prstGeom prst="roundRect">
            <a:avLst>
              <a:gd name="adj" fmla="val 10714"/>
            </a:avLst>
          </a:prstGeom>
          <a:solidFill>
            <a:srgbClr val="EEF3FA"/>
          </a:solidFill>
          <a:ln w="9525">
            <a:solidFill>
              <a:srgbClr val="C9D6EA"/>
            </a:solidFill>
            <a:prstDash val="solid"/>
          </a:ln>
        </p:spPr>
      </p:sp>
      <p:sp>
        <p:nvSpPr>
          <p:cNvPr id="38" name="Text 35"/>
          <p:cNvSpPr txBox="1"/>
          <p:nvPr/>
        </p:nvSpPr>
        <p:spPr>
          <a:xfrm>
            <a:off x="4123944"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B</a:t>
            </a:r>
            <a:endParaRPr lang="en-US" sz="1000" dirty="0"/>
          </a:p>
        </p:txBody>
      </p:sp>
      <p:sp>
        <p:nvSpPr>
          <p:cNvPr id="39" name="Text 36"/>
          <p:cNvSpPr txBox="1"/>
          <p:nvPr/>
        </p:nvSpPr>
        <p:spPr>
          <a:xfrm>
            <a:off x="4389120"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إِلَى مَدِينَتِي.</a:t>
            </a:r>
            <a:endParaRPr lang="ar-SA" sz="1800" dirty="0"/>
          </a:p>
        </p:txBody>
      </p:sp>
      <p:sp>
        <p:nvSpPr>
          <p:cNvPr id="40" name="Shape 37"/>
          <p:cNvSpPr/>
          <p:nvPr/>
        </p:nvSpPr>
        <p:spPr>
          <a:xfrm>
            <a:off x="457200" y="3392424"/>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94360" y="3529584"/>
            <a:ext cx="365760" cy="365760"/>
          </a:xfrm>
          <a:prstGeom prst="ellipse">
            <a:avLst/>
          </a:prstGeom>
          <a:solidFill>
            <a:srgbClr val="2F6FB0"/>
          </a:solidFill>
          <a:ln w="12700">
            <a:solidFill>
              <a:srgbClr val="2F6FB0"/>
            </a:solidFill>
            <a:prstDash val="solid"/>
          </a:ln>
        </p:spPr>
      </p:sp>
      <p:sp>
        <p:nvSpPr>
          <p:cNvPr id="42" name="Text 39"/>
          <p:cNvSpPr txBox="1"/>
          <p:nvPr/>
        </p:nvSpPr>
        <p:spPr>
          <a:xfrm>
            <a:off x="594360" y="35295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43" name="Text 40"/>
          <p:cNvSpPr txBox="1"/>
          <p:nvPr/>
        </p:nvSpPr>
        <p:spPr>
          <a:xfrm>
            <a:off x="1051560" y="3502152"/>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ea typeface="Calibri" pitchFamily="34" charset="-122"/>
                <a:cs typeface="Calibri" pitchFamily="34" charset="-120"/>
              </a:rPr>
              <a:t>The bank is opposite the hospital.</a:t>
            </a:r>
            <a:endParaRPr lang="en-US" sz="1400" dirty="0"/>
          </a:p>
        </p:txBody>
      </p:sp>
      <p:sp>
        <p:nvSpPr>
          <p:cNvPr id="44" name="Shape 41"/>
          <p:cNvSpPr/>
          <p:nvPr/>
        </p:nvSpPr>
        <p:spPr>
          <a:xfrm>
            <a:off x="9180576" y="3483864"/>
            <a:ext cx="2414016" cy="512064"/>
          </a:xfrm>
          <a:prstGeom prst="roundRect">
            <a:avLst>
              <a:gd name="adj" fmla="val 10714"/>
            </a:avLst>
          </a:prstGeom>
          <a:solidFill>
            <a:srgbClr val="EEF3FA"/>
          </a:solidFill>
          <a:ln w="9525">
            <a:solidFill>
              <a:srgbClr val="C9D6EA"/>
            </a:solidFill>
            <a:prstDash val="solid"/>
          </a:ln>
        </p:spPr>
      </p:sp>
      <p:sp>
        <p:nvSpPr>
          <p:cNvPr id="45" name="Text 42"/>
          <p:cNvSpPr txBox="1"/>
          <p:nvPr/>
        </p:nvSpPr>
        <p:spPr>
          <a:xfrm>
            <a:off x="9235440"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A</a:t>
            </a:r>
            <a:endParaRPr lang="en-US" sz="1000" dirty="0"/>
          </a:p>
        </p:txBody>
      </p:sp>
      <p:sp>
        <p:nvSpPr>
          <p:cNvPr id="46" name="Text 43"/>
          <p:cNvSpPr txBox="1"/>
          <p:nvPr/>
        </p:nvSpPr>
        <p:spPr>
          <a:xfrm>
            <a:off x="9500616"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البَنْكُ</a:t>
            </a:r>
            <a:endParaRPr lang="ar-SA" sz="1800" dirty="0"/>
          </a:p>
        </p:txBody>
      </p:sp>
      <p:sp>
        <p:nvSpPr>
          <p:cNvPr id="47" name="Shape 44"/>
          <p:cNvSpPr/>
          <p:nvPr/>
        </p:nvSpPr>
        <p:spPr>
          <a:xfrm>
            <a:off x="9180576" y="4050792"/>
            <a:ext cx="2414016" cy="512064"/>
          </a:xfrm>
          <a:prstGeom prst="roundRect">
            <a:avLst>
              <a:gd name="adj" fmla="val 10714"/>
            </a:avLst>
          </a:prstGeom>
          <a:solidFill>
            <a:srgbClr val="EEF3FA"/>
          </a:solidFill>
          <a:ln w="9525">
            <a:solidFill>
              <a:srgbClr val="C9D6EA"/>
            </a:solidFill>
            <a:prstDash val="solid"/>
          </a:ln>
        </p:spPr>
      </p:sp>
      <p:sp>
        <p:nvSpPr>
          <p:cNvPr id="48" name="Text 45"/>
          <p:cNvSpPr txBox="1"/>
          <p:nvPr/>
        </p:nvSpPr>
        <p:spPr>
          <a:xfrm>
            <a:off x="9235440"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B</a:t>
            </a:r>
            <a:endParaRPr lang="en-US" sz="1000" dirty="0"/>
          </a:p>
        </p:txBody>
      </p:sp>
      <p:sp>
        <p:nvSpPr>
          <p:cNvPr id="49" name="Text 46"/>
          <p:cNvSpPr txBox="1"/>
          <p:nvPr/>
        </p:nvSpPr>
        <p:spPr>
          <a:xfrm>
            <a:off x="9500616"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المُسْتَشْفَى</a:t>
            </a:r>
            <a:endParaRPr lang="ar-SA" sz="1800" dirty="0"/>
          </a:p>
        </p:txBody>
      </p:sp>
      <p:sp>
        <p:nvSpPr>
          <p:cNvPr id="50" name="Shape 47"/>
          <p:cNvSpPr/>
          <p:nvPr/>
        </p:nvSpPr>
        <p:spPr>
          <a:xfrm>
            <a:off x="6624828" y="3483864"/>
            <a:ext cx="2414016" cy="512064"/>
          </a:xfrm>
          <a:prstGeom prst="roundRect">
            <a:avLst>
              <a:gd name="adj" fmla="val 10714"/>
            </a:avLst>
          </a:prstGeom>
          <a:solidFill>
            <a:srgbClr val="EEF3FA"/>
          </a:solidFill>
          <a:ln w="9525">
            <a:solidFill>
              <a:srgbClr val="C9D6EA"/>
            </a:solidFill>
            <a:prstDash val="solid"/>
          </a:ln>
        </p:spPr>
      </p:sp>
      <p:sp>
        <p:nvSpPr>
          <p:cNvPr id="51" name="Text 48"/>
          <p:cNvSpPr txBox="1"/>
          <p:nvPr/>
        </p:nvSpPr>
        <p:spPr>
          <a:xfrm>
            <a:off x="6679692"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A</a:t>
            </a:r>
            <a:endParaRPr lang="en-US" sz="1000" dirty="0"/>
          </a:p>
        </p:txBody>
      </p:sp>
      <p:sp>
        <p:nvSpPr>
          <p:cNvPr id="52" name="Text 49"/>
          <p:cNvSpPr txBox="1"/>
          <p:nvPr/>
        </p:nvSpPr>
        <p:spPr>
          <a:xfrm>
            <a:off x="6944868"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بِجَانِبِ</a:t>
            </a:r>
            <a:endParaRPr lang="ar-SA" sz="1800" dirty="0"/>
          </a:p>
        </p:txBody>
      </p:sp>
      <p:sp>
        <p:nvSpPr>
          <p:cNvPr id="53" name="Shape 50"/>
          <p:cNvSpPr/>
          <p:nvPr/>
        </p:nvSpPr>
        <p:spPr>
          <a:xfrm>
            <a:off x="6624828" y="4050792"/>
            <a:ext cx="2414016" cy="512064"/>
          </a:xfrm>
          <a:prstGeom prst="roundRect">
            <a:avLst>
              <a:gd name="adj" fmla="val 10714"/>
            </a:avLst>
          </a:prstGeom>
          <a:solidFill>
            <a:srgbClr val="EEF3FA"/>
          </a:solidFill>
          <a:ln w="9525">
            <a:solidFill>
              <a:srgbClr val="C9D6EA"/>
            </a:solidFill>
            <a:prstDash val="solid"/>
          </a:ln>
        </p:spPr>
      </p:sp>
      <p:sp>
        <p:nvSpPr>
          <p:cNvPr id="54" name="Text 51"/>
          <p:cNvSpPr txBox="1"/>
          <p:nvPr/>
        </p:nvSpPr>
        <p:spPr>
          <a:xfrm>
            <a:off x="6679692"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B</a:t>
            </a:r>
            <a:endParaRPr lang="en-US" sz="1000" dirty="0"/>
          </a:p>
        </p:txBody>
      </p:sp>
      <p:sp>
        <p:nvSpPr>
          <p:cNvPr id="55" name="Text 52"/>
          <p:cNvSpPr txBox="1"/>
          <p:nvPr/>
        </p:nvSpPr>
        <p:spPr>
          <a:xfrm>
            <a:off x="6944868"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مُقَابِلَ</a:t>
            </a:r>
            <a:endParaRPr lang="ar-SA" sz="1800" dirty="0"/>
          </a:p>
        </p:txBody>
      </p:sp>
      <p:sp>
        <p:nvSpPr>
          <p:cNvPr id="56" name="Shape 53"/>
          <p:cNvSpPr/>
          <p:nvPr/>
        </p:nvSpPr>
        <p:spPr>
          <a:xfrm>
            <a:off x="4069080" y="3483864"/>
            <a:ext cx="2414016" cy="512064"/>
          </a:xfrm>
          <a:prstGeom prst="roundRect">
            <a:avLst>
              <a:gd name="adj" fmla="val 10714"/>
            </a:avLst>
          </a:prstGeom>
          <a:solidFill>
            <a:srgbClr val="EEF3FA"/>
          </a:solidFill>
          <a:ln w="9525">
            <a:solidFill>
              <a:srgbClr val="C9D6EA"/>
            </a:solidFill>
            <a:prstDash val="solid"/>
          </a:ln>
        </p:spPr>
      </p:sp>
      <p:sp>
        <p:nvSpPr>
          <p:cNvPr id="57" name="Text 54"/>
          <p:cNvSpPr txBox="1"/>
          <p:nvPr/>
        </p:nvSpPr>
        <p:spPr>
          <a:xfrm>
            <a:off x="4123944"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A</a:t>
            </a:r>
            <a:endParaRPr lang="en-US" sz="1000" dirty="0"/>
          </a:p>
        </p:txBody>
      </p:sp>
      <p:sp>
        <p:nvSpPr>
          <p:cNvPr id="58" name="Text 55"/>
          <p:cNvSpPr txBox="1"/>
          <p:nvPr/>
        </p:nvSpPr>
        <p:spPr>
          <a:xfrm>
            <a:off x="4389120"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المُسْتَشْفَى.</a:t>
            </a:r>
            <a:endParaRPr lang="ar-SA" sz="1800" dirty="0"/>
          </a:p>
        </p:txBody>
      </p:sp>
      <p:sp>
        <p:nvSpPr>
          <p:cNvPr id="59" name="Shape 56"/>
          <p:cNvSpPr/>
          <p:nvPr/>
        </p:nvSpPr>
        <p:spPr>
          <a:xfrm>
            <a:off x="4069080" y="4050792"/>
            <a:ext cx="2414016" cy="512064"/>
          </a:xfrm>
          <a:prstGeom prst="roundRect">
            <a:avLst>
              <a:gd name="adj" fmla="val 10714"/>
            </a:avLst>
          </a:prstGeom>
          <a:solidFill>
            <a:srgbClr val="EEF3FA"/>
          </a:solidFill>
          <a:ln w="9525">
            <a:solidFill>
              <a:srgbClr val="C9D6EA"/>
            </a:solidFill>
            <a:prstDash val="solid"/>
          </a:ln>
        </p:spPr>
      </p:sp>
      <p:sp>
        <p:nvSpPr>
          <p:cNvPr id="60" name="Text 57"/>
          <p:cNvSpPr txBox="1"/>
          <p:nvPr/>
        </p:nvSpPr>
        <p:spPr>
          <a:xfrm>
            <a:off x="4123944"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B</a:t>
            </a:r>
            <a:endParaRPr lang="en-US" sz="1000" dirty="0"/>
          </a:p>
        </p:txBody>
      </p:sp>
      <p:sp>
        <p:nvSpPr>
          <p:cNvPr id="61" name="Text 58"/>
          <p:cNvSpPr txBox="1"/>
          <p:nvPr/>
        </p:nvSpPr>
        <p:spPr>
          <a:xfrm>
            <a:off x="4389120"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البَنْكِ.</a:t>
            </a:r>
            <a:endParaRPr lang="ar-SA" sz="1800" dirty="0"/>
          </a:p>
        </p:txBody>
      </p:sp>
      <p:sp>
        <p:nvSpPr>
          <p:cNvPr id="62" name="Shape 59"/>
          <p:cNvSpPr/>
          <p:nvPr/>
        </p:nvSpPr>
        <p:spPr>
          <a:xfrm>
            <a:off x="457200" y="4773168"/>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94360" y="4910328"/>
            <a:ext cx="365760" cy="365760"/>
          </a:xfrm>
          <a:prstGeom prst="ellipse">
            <a:avLst/>
          </a:prstGeom>
          <a:solidFill>
            <a:srgbClr val="2F6FB0"/>
          </a:solidFill>
          <a:ln w="12700">
            <a:solidFill>
              <a:srgbClr val="2F6FB0"/>
            </a:solidFill>
            <a:prstDash val="solid"/>
          </a:ln>
        </p:spPr>
      </p:sp>
      <p:sp>
        <p:nvSpPr>
          <p:cNvPr id="64" name="Text 61"/>
          <p:cNvSpPr txBox="1"/>
          <p:nvPr/>
        </p:nvSpPr>
        <p:spPr>
          <a:xfrm>
            <a:off x="59436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65" name="Text 62"/>
          <p:cNvSpPr txBox="1"/>
          <p:nvPr/>
        </p:nvSpPr>
        <p:spPr>
          <a:xfrm>
            <a:off x="1051560" y="4882896"/>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ea typeface="Calibri" pitchFamily="34" charset="-122"/>
                <a:cs typeface="Calibri" pitchFamily="34" charset="-120"/>
              </a:rPr>
              <a:t>The city is more crowded than the village.</a:t>
            </a:r>
            <a:endParaRPr lang="en-US" sz="1400" dirty="0"/>
          </a:p>
        </p:txBody>
      </p:sp>
      <p:sp>
        <p:nvSpPr>
          <p:cNvPr id="66" name="Shape 63"/>
          <p:cNvSpPr/>
          <p:nvPr/>
        </p:nvSpPr>
        <p:spPr>
          <a:xfrm>
            <a:off x="9180576" y="4864608"/>
            <a:ext cx="2414016" cy="512064"/>
          </a:xfrm>
          <a:prstGeom prst="roundRect">
            <a:avLst>
              <a:gd name="adj" fmla="val 10714"/>
            </a:avLst>
          </a:prstGeom>
          <a:solidFill>
            <a:srgbClr val="EEF3FA"/>
          </a:solidFill>
          <a:ln w="9525">
            <a:solidFill>
              <a:srgbClr val="C9D6EA"/>
            </a:solidFill>
            <a:prstDash val="solid"/>
          </a:ln>
        </p:spPr>
      </p:sp>
      <p:sp>
        <p:nvSpPr>
          <p:cNvPr id="67" name="Text 64"/>
          <p:cNvSpPr txBox="1"/>
          <p:nvPr/>
        </p:nvSpPr>
        <p:spPr>
          <a:xfrm>
            <a:off x="9235440"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A</a:t>
            </a:r>
            <a:endParaRPr lang="en-US" sz="1000" dirty="0"/>
          </a:p>
        </p:txBody>
      </p:sp>
      <p:sp>
        <p:nvSpPr>
          <p:cNvPr id="68" name="Text 65"/>
          <p:cNvSpPr txBox="1"/>
          <p:nvPr/>
        </p:nvSpPr>
        <p:spPr>
          <a:xfrm>
            <a:off x="9500616"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المَدِينَةُ</a:t>
            </a:r>
            <a:endParaRPr lang="ar-SA" sz="1800" dirty="0"/>
          </a:p>
        </p:txBody>
      </p:sp>
      <p:sp>
        <p:nvSpPr>
          <p:cNvPr id="69" name="Shape 66"/>
          <p:cNvSpPr/>
          <p:nvPr/>
        </p:nvSpPr>
        <p:spPr>
          <a:xfrm>
            <a:off x="9180576" y="5431536"/>
            <a:ext cx="2414016" cy="512064"/>
          </a:xfrm>
          <a:prstGeom prst="roundRect">
            <a:avLst>
              <a:gd name="adj" fmla="val 10714"/>
            </a:avLst>
          </a:prstGeom>
          <a:solidFill>
            <a:srgbClr val="EEF3FA"/>
          </a:solidFill>
          <a:ln w="9525">
            <a:solidFill>
              <a:srgbClr val="C9D6EA"/>
            </a:solidFill>
            <a:prstDash val="solid"/>
          </a:ln>
        </p:spPr>
      </p:sp>
      <p:sp>
        <p:nvSpPr>
          <p:cNvPr id="70" name="Text 67"/>
          <p:cNvSpPr txBox="1"/>
          <p:nvPr/>
        </p:nvSpPr>
        <p:spPr>
          <a:xfrm>
            <a:off x="9235440"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B</a:t>
            </a:r>
            <a:endParaRPr lang="en-US" sz="1000" dirty="0"/>
          </a:p>
        </p:txBody>
      </p:sp>
      <p:sp>
        <p:nvSpPr>
          <p:cNvPr id="71" name="Text 68"/>
          <p:cNvSpPr txBox="1"/>
          <p:nvPr/>
        </p:nvSpPr>
        <p:spPr>
          <a:xfrm>
            <a:off x="9500616"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القَرْيَةُ</a:t>
            </a:r>
            <a:endParaRPr lang="ar-SA" sz="1800" dirty="0"/>
          </a:p>
        </p:txBody>
      </p:sp>
      <p:sp>
        <p:nvSpPr>
          <p:cNvPr id="72" name="Shape 69"/>
          <p:cNvSpPr/>
          <p:nvPr/>
        </p:nvSpPr>
        <p:spPr>
          <a:xfrm>
            <a:off x="6624828" y="4864608"/>
            <a:ext cx="2414016" cy="512064"/>
          </a:xfrm>
          <a:prstGeom prst="roundRect">
            <a:avLst>
              <a:gd name="adj" fmla="val 10714"/>
            </a:avLst>
          </a:prstGeom>
          <a:solidFill>
            <a:srgbClr val="EEF3FA"/>
          </a:solidFill>
          <a:ln w="9525">
            <a:solidFill>
              <a:srgbClr val="C9D6EA"/>
            </a:solidFill>
            <a:prstDash val="solid"/>
          </a:ln>
        </p:spPr>
      </p:sp>
      <p:sp>
        <p:nvSpPr>
          <p:cNvPr id="73" name="Text 70"/>
          <p:cNvSpPr txBox="1"/>
          <p:nvPr/>
        </p:nvSpPr>
        <p:spPr>
          <a:xfrm>
            <a:off x="6679692"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A</a:t>
            </a:r>
            <a:endParaRPr lang="en-US" sz="1000" dirty="0"/>
          </a:p>
        </p:txBody>
      </p:sp>
      <p:sp>
        <p:nvSpPr>
          <p:cNvPr id="74" name="Text 71"/>
          <p:cNvSpPr txBox="1"/>
          <p:nvPr/>
        </p:nvSpPr>
        <p:spPr>
          <a:xfrm>
            <a:off x="6944868"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أَكْثَرُ ازْدِحَامًا</a:t>
            </a:r>
            <a:endParaRPr lang="ar-SA" sz="1800" dirty="0"/>
          </a:p>
        </p:txBody>
      </p:sp>
      <p:sp>
        <p:nvSpPr>
          <p:cNvPr id="75" name="Shape 72"/>
          <p:cNvSpPr/>
          <p:nvPr/>
        </p:nvSpPr>
        <p:spPr>
          <a:xfrm>
            <a:off x="6624828" y="5431536"/>
            <a:ext cx="2414016" cy="512064"/>
          </a:xfrm>
          <a:prstGeom prst="roundRect">
            <a:avLst>
              <a:gd name="adj" fmla="val 10714"/>
            </a:avLst>
          </a:prstGeom>
          <a:solidFill>
            <a:srgbClr val="EEF3FA"/>
          </a:solidFill>
          <a:ln w="9525">
            <a:solidFill>
              <a:srgbClr val="C9D6EA"/>
            </a:solidFill>
            <a:prstDash val="solid"/>
          </a:ln>
        </p:spPr>
      </p:sp>
      <p:sp>
        <p:nvSpPr>
          <p:cNvPr id="76" name="Text 73"/>
          <p:cNvSpPr txBox="1"/>
          <p:nvPr/>
        </p:nvSpPr>
        <p:spPr>
          <a:xfrm>
            <a:off x="6679692"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B</a:t>
            </a:r>
            <a:endParaRPr lang="en-US" sz="1000" dirty="0"/>
          </a:p>
        </p:txBody>
      </p:sp>
      <p:sp>
        <p:nvSpPr>
          <p:cNvPr id="77" name="Text 74"/>
          <p:cNvSpPr txBox="1"/>
          <p:nvPr/>
        </p:nvSpPr>
        <p:spPr>
          <a:xfrm>
            <a:off x="6944868"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أَقَلُّ ازْدِحَامًا</a:t>
            </a:r>
            <a:endParaRPr lang="ar-SA" sz="1800" dirty="0"/>
          </a:p>
        </p:txBody>
      </p:sp>
      <p:sp>
        <p:nvSpPr>
          <p:cNvPr id="78" name="Shape 75"/>
          <p:cNvSpPr/>
          <p:nvPr/>
        </p:nvSpPr>
        <p:spPr>
          <a:xfrm>
            <a:off x="4069080" y="4864608"/>
            <a:ext cx="2414016" cy="512064"/>
          </a:xfrm>
          <a:prstGeom prst="roundRect">
            <a:avLst>
              <a:gd name="adj" fmla="val 10714"/>
            </a:avLst>
          </a:prstGeom>
          <a:solidFill>
            <a:srgbClr val="EEF3FA"/>
          </a:solidFill>
          <a:ln w="9525">
            <a:solidFill>
              <a:srgbClr val="C9D6EA"/>
            </a:solidFill>
            <a:prstDash val="solid"/>
          </a:ln>
        </p:spPr>
      </p:sp>
      <p:sp>
        <p:nvSpPr>
          <p:cNvPr id="79" name="Text 76"/>
          <p:cNvSpPr txBox="1"/>
          <p:nvPr/>
        </p:nvSpPr>
        <p:spPr>
          <a:xfrm>
            <a:off x="4123944"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A</a:t>
            </a:r>
            <a:endParaRPr lang="en-US" sz="1000" dirty="0"/>
          </a:p>
        </p:txBody>
      </p:sp>
      <p:sp>
        <p:nvSpPr>
          <p:cNvPr id="80" name="Text 77"/>
          <p:cNvSpPr txBox="1"/>
          <p:nvPr/>
        </p:nvSpPr>
        <p:spPr>
          <a:xfrm>
            <a:off x="4389120"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عَنِ القَرْيَةِ.</a:t>
            </a:r>
            <a:endParaRPr lang="ar-SA" sz="1800" dirty="0"/>
          </a:p>
        </p:txBody>
      </p:sp>
      <p:sp>
        <p:nvSpPr>
          <p:cNvPr id="81" name="Shape 78"/>
          <p:cNvSpPr/>
          <p:nvPr/>
        </p:nvSpPr>
        <p:spPr>
          <a:xfrm>
            <a:off x="4069080" y="5431536"/>
            <a:ext cx="2414016" cy="512064"/>
          </a:xfrm>
          <a:prstGeom prst="roundRect">
            <a:avLst>
              <a:gd name="adj" fmla="val 10714"/>
            </a:avLst>
          </a:prstGeom>
          <a:solidFill>
            <a:srgbClr val="EEF3FA"/>
          </a:solidFill>
          <a:ln w="9525">
            <a:solidFill>
              <a:srgbClr val="C9D6EA"/>
            </a:solidFill>
            <a:prstDash val="solid"/>
          </a:ln>
        </p:spPr>
      </p:sp>
      <p:sp>
        <p:nvSpPr>
          <p:cNvPr id="82" name="Text 79"/>
          <p:cNvSpPr txBox="1"/>
          <p:nvPr/>
        </p:nvSpPr>
        <p:spPr>
          <a:xfrm>
            <a:off x="4123944"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B</a:t>
            </a:r>
            <a:endParaRPr lang="en-US" sz="1000" dirty="0"/>
          </a:p>
        </p:txBody>
      </p:sp>
      <p:sp>
        <p:nvSpPr>
          <p:cNvPr id="83" name="Text 80"/>
          <p:cNvSpPr txBox="1"/>
          <p:nvPr/>
        </p:nvSpPr>
        <p:spPr>
          <a:xfrm>
            <a:off x="4389120"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مِنَ القَرْيَةِ.</a:t>
            </a:r>
            <a:endParaRPr lang="ar-SA" sz="180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26 / 49</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TC-L08 · Buildings &amp; Services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SENTENCE BUILDER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Check your sentences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تَحَقَّقْ مِنْ جُمَلِكَ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3 · Lesson 2 of 3</a:t>
            </a:r>
            <a:endParaRPr lang="en-US" sz="850" dirty="0"/>
          </a:p>
        </p:txBody>
      </p:sp>
      <p:sp>
        <p:nvSpPr>
          <p:cNvPr id="15" name="Shape 12"/>
          <p:cNvSpPr/>
          <p:nvPr/>
        </p:nvSpPr>
        <p:spPr>
          <a:xfrm>
            <a:off x="457200" y="1810512"/>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47672"/>
            <a:ext cx="365760" cy="365760"/>
          </a:xfrm>
          <a:prstGeom prst="ellipse">
            <a:avLst/>
          </a:prstGeom>
          <a:solidFill>
            <a:srgbClr val="2E8B57"/>
          </a:solidFill>
          <a:ln w="12700">
            <a:solidFill>
              <a:srgbClr val="2E8B57"/>
            </a:solidFill>
            <a:prstDash val="solid"/>
          </a:ln>
        </p:spPr>
      </p:sp>
      <p:sp>
        <p:nvSpPr>
          <p:cNvPr id="17" name="Text 14"/>
          <p:cNvSpPr txBox="1"/>
          <p:nvPr/>
        </p:nvSpPr>
        <p:spPr>
          <a:xfrm>
            <a:off x="640080" y="19476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8" name="Text 15"/>
          <p:cNvSpPr txBox="1"/>
          <p:nvPr/>
        </p:nvSpPr>
        <p:spPr>
          <a:xfrm>
            <a:off x="1143000" y="1901952"/>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ea typeface="Calibri" pitchFamily="34" charset="-122"/>
                <a:cs typeface="Calibri" pitchFamily="34" charset="-120"/>
              </a:rPr>
              <a:t>There is a library in my town.</a:t>
            </a:r>
            <a:endParaRPr lang="en-US" sz="1300" dirty="0"/>
          </a:p>
        </p:txBody>
      </p:sp>
      <p:sp>
        <p:nvSpPr>
          <p:cNvPr id="19" name="Text 16"/>
          <p:cNvSpPr txBox="1"/>
          <p:nvPr/>
        </p:nvSpPr>
        <p:spPr>
          <a:xfrm>
            <a:off x="1143000" y="2359152"/>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ea typeface="Calibri" pitchFamily="34" charset="-122"/>
                <a:cs typeface="Calibri" pitchFamily="34" charset="-120"/>
              </a:rPr>
              <a:t>Columns = B · A · A</a:t>
            </a:r>
            <a:endParaRPr lang="en-US" sz="1050" dirty="0"/>
          </a:p>
        </p:txBody>
      </p:sp>
      <p:sp>
        <p:nvSpPr>
          <p:cNvPr id="20" name="Text 17"/>
          <p:cNvSpPr txBox="1"/>
          <p:nvPr/>
        </p:nvSpPr>
        <p:spPr>
          <a:xfrm>
            <a:off x="1143000" y="2633472"/>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34" charset="0"/>
                <a:ea typeface="Amiri" pitchFamily="34" charset="-122"/>
                <a:cs typeface="Amiri" pitchFamily="34" charset="-120"/>
              </a:rPr>
              <a:t>مَكْتَبَةٌ</a:t>
            </a:r>
            <a:pPr algn="l" indent="0" marL="0">
              <a:buNone/>
            </a:pPr>
            <a:r>
              <a:rPr lang="en-US" sz="1050" i="1" dirty="0">
                <a:solidFill>
                  <a:srgbClr val="5A6472"/>
                </a:solidFill>
                <a:latin typeface="Calibri" pitchFamily="34" charset="0"/>
                <a:ea typeface="Calibri" pitchFamily="34" charset="-122"/>
                <a:cs typeface="Calibri" pitchFamily="34" charset="-120"/>
              </a:rPr>
              <a:t> is feminine (</a:t>
            </a:r>
            <a:pPr algn="l" indent="0" marL="0">
              <a:buNone/>
            </a:pPr>
            <a:r>
              <a:rPr lang="ar-SA" altLang="en-US" sz="1350" dirty="0">
                <a:solidFill>
                  <a:srgbClr val="5A6472"/>
                </a:solidFill>
                <a:latin typeface="Amiri" pitchFamily="34" charset="0"/>
                <a:ea typeface="Amiri" pitchFamily="34" charset="-122"/>
                <a:cs typeface="Amiri" pitchFamily="34" charset="-120"/>
              </a:rPr>
              <a:t>ـة</a:t>
            </a:r>
            <a:pPr algn="l" indent="0" marL="0">
              <a:buNone/>
            </a:pPr>
            <a:r>
              <a:rPr lang="en-US" sz="1050" i="1" dirty="0">
                <a:solidFill>
                  <a:srgbClr val="5A6472"/>
                </a:solidFill>
                <a:latin typeface="Calibri" pitchFamily="34" charset="0"/>
                <a:ea typeface="Calibri" pitchFamily="34" charset="-122"/>
                <a:cs typeface="Calibri" pitchFamily="34" charset="-120"/>
              </a:rPr>
              <a:t>) → </a:t>
            </a:r>
            <a:pPr algn="l" indent="0" marL="0">
              <a:buNone/>
            </a:pPr>
            <a:r>
              <a:rPr lang="ar-SA" altLang="en-US" sz="1350" dirty="0">
                <a:solidFill>
                  <a:srgbClr val="5A6472"/>
                </a:solidFill>
                <a:latin typeface="Amiri" pitchFamily="34" charset="0"/>
                <a:ea typeface="Amiri" pitchFamily="34" charset="-122"/>
                <a:cs typeface="Amiri" pitchFamily="34" charset="-120"/>
              </a:rPr>
              <a:t>تُوجَدُ</a:t>
            </a:r>
            <a:pPr algn="l" indent="0" marL="0">
              <a:buNone/>
            </a:pPr>
            <a:r>
              <a:rPr lang="en-US" sz="1050" i="1" dirty="0">
                <a:solidFill>
                  <a:srgbClr val="5A6472"/>
                </a:solidFill>
                <a:latin typeface="Calibri" pitchFamily="34" charset="0"/>
                <a:ea typeface="Calibri" pitchFamily="34" charset="-122"/>
                <a:cs typeface="Calibri" pitchFamily="34" charset="-120"/>
              </a:rPr>
              <a:t>.</a:t>
            </a:r>
            <a:endParaRPr lang="en-US" sz="1050" dirty="0"/>
          </a:p>
        </p:txBody>
      </p:sp>
      <p:sp>
        <p:nvSpPr>
          <p:cNvPr id="21" name="Text 18"/>
          <p:cNvSpPr txBox="1"/>
          <p:nvPr/>
        </p:nvSpPr>
        <p:spPr>
          <a:xfrm>
            <a:off x="4572000" y="1901952"/>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34" charset="0"/>
                <a:ea typeface="Amiri" pitchFamily="34" charset="-122"/>
                <a:cs typeface="Amiri" pitchFamily="34" charset="-120"/>
              </a:rPr>
              <a:t>تُوجَدُ مَكْتَبَةٌ فِي مَدِينَتِي.</a:t>
            </a:r>
            <a:endParaRPr lang="ar-SA" sz="2800" dirty="0"/>
          </a:p>
        </p:txBody>
      </p:sp>
      <p:sp>
        <p:nvSpPr>
          <p:cNvPr id="22" name="Shape 19"/>
          <p:cNvSpPr/>
          <p:nvPr/>
        </p:nvSpPr>
        <p:spPr>
          <a:xfrm>
            <a:off x="457200" y="3291840"/>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640080" y="3429000"/>
            <a:ext cx="365760" cy="365760"/>
          </a:xfrm>
          <a:prstGeom prst="ellipse">
            <a:avLst/>
          </a:prstGeom>
          <a:solidFill>
            <a:srgbClr val="2E8B57"/>
          </a:solidFill>
          <a:ln w="12700">
            <a:solidFill>
              <a:srgbClr val="2E8B57"/>
            </a:solidFill>
            <a:prstDash val="solid"/>
          </a:ln>
        </p:spPr>
      </p:sp>
      <p:sp>
        <p:nvSpPr>
          <p:cNvPr id="24" name="Text 21"/>
          <p:cNvSpPr txBox="1"/>
          <p:nvPr/>
        </p:nvSpPr>
        <p:spPr>
          <a:xfrm>
            <a:off x="640080" y="34290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25" name="Text 22"/>
          <p:cNvSpPr txBox="1"/>
          <p:nvPr/>
        </p:nvSpPr>
        <p:spPr>
          <a:xfrm>
            <a:off x="1143000" y="3383280"/>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ea typeface="Calibri" pitchFamily="34" charset="-122"/>
                <a:cs typeface="Calibri" pitchFamily="34" charset="-120"/>
              </a:rPr>
              <a:t>The bank is opposite the hospital.</a:t>
            </a:r>
            <a:endParaRPr lang="en-US" sz="1300" dirty="0"/>
          </a:p>
        </p:txBody>
      </p:sp>
      <p:sp>
        <p:nvSpPr>
          <p:cNvPr id="26" name="Text 23"/>
          <p:cNvSpPr txBox="1"/>
          <p:nvPr/>
        </p:nvSpPr>
        <p:spPr>
          <a:xfrm>
            <a:off x="1143000" y="3840480"/>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ea typeface="Calibri" pitchFamily="34" charset="-122"/>
                <a:cs typeface="Calibri" pitchFamily="34" charset="-120"/>
              </a:rPr>
              <a:t>Columns = A · B · A</a:t>
            </a:r>
            <a:endParaRPr lang="en-US" sz="1050" dirty="0"/>
          </a:p>
        </p:txBody>
      </p:sp>
      <p:sp>
        <p:nvSpPr>
          <p:cNvPr id="27" name="Text 24"/>
          <p:cNvSpPr txBox="1"/>
          <p:nvPr/>
        </p:nvSpPr>
        <p:spPr>
          <a:xfrm>
            <a:off x="1143000" y="4114800"/>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34" charset="0"/>
                <a:ea typeface="Amiri" pitchFamily="34" charset="-122"/>
                <a:cs typeface="Amiri" pitchFamily="34" charset="-120"/>
              </a:rPr>
              <a:t>مُقَابِلَ</a:t>
            </a:r>
            <a:pPr algn="l" indent="0" marL="0">
              <a:buNone/>
            </a:pPr>
            <a:r>
              <a:rPr lang="en-US" sz="1050" i="1" dirty="0">
                <a:solidFill>
                  <a:srgbClr val="5A6472"/>
                </a:solidFill>
                <a:latin typeface="Calibri" pitchFamily="34" charset="0"/>
                <a:ea typeface="Calibri" pitchFamily="34" charset="-122"/>
                <a:cs typeface="Calibri" pitchFamily="34" charset="-120"/>
              </a:rPr>
              <a:t> = opposite; the bank comes first.</a:t>
            </a:r>
            <a:endParaRPr lang="en-US" sz="1050" dirty="0"/>
          </a:p>
        </p:txBody>
      </p:sp>
      <p:sp>
        <p:nvSpPr>
          <p:cNvPr id="28" name="Text 25"/>
          <p:cNvSpPr txBox="1"/>
          <p:nvPr/>
        </p:nvSpPr>
        <p:spPr>
          <a:xfrm>
            <a:off x="4572000" y="3383280"/>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34" charset="0"/>
                <a:ea typeface="Amiri" pitchFamily="34" charset="-122"/>
                <a:cs typeface="Amiri" pitchFamily="34" charset="-120"/>
              </a:rPr>
              <a:t>البَنْكُ مُقَابِلَ المُسْتَشْفَى.</a:t>
            </a:r>
            <a:endParaRPr lang="ar-SA" sz="2800" dirty="0"/>
          </a:p>
        </p:txBody>
      </p:sp>
      <p:sp>
        <p:nvSpPr>
          <p:cNvPr id="29" name="Shape 26"/>
          <p:cNvSpPr/>
          <p:nvPr/>
        </p:nvSpPr>
        <p:spPr>
          <a:xfrm>
            <a:off x="457200" y="4773168"/>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40080" y="4910328"/>
            <a:ext cx="365760" cy="365760"/>
          </a:xfrm>
          <a:prstGeom prst="ellipse">
            <a:avLst/>
          </a:prstGeom>
          <a:solidFill>
            <a:srgbClr val="2E8B57"/>
          </a:solidFill>
          <a:ln w="12700">
            <a:solidFill>
              <a:srgbClr val="2E8B57"/>
            </a:solidFill>
            <a:prstDash val="solid"/>
          </a:ln>
        </p:spPr>
      </p:sp>
      <p:sp>
        <p:nvSpPr>
          <p:cNvPr id="31" name="Text 28"/>
          <p:cNvSpPr txBox="1"/>
          <p:nvPr/>
        </p:nvSpPr>
        <p:spPr>
          <a:xfrm>
            <a:off x="64008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32" name="Text 29"/>
          <p:cNvSpPr txBox="1"/>
          <p:nvPr/>
        </p:nvSpPr>
        <p:spPr>
          <a:xfrm>
            <a:off x="1143000" y="4864608"/>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ea typeface="Calibri" pitchFamily="34" charset="-122"/>
                <a:cs typeface="Calibri" pitchFamily="34" charset="-120"/>
              </a:rPr>
              <a:t>The city is more crowded than the village.</a:t>
            </a:r>
            <a:endParaRPr lang="en-US" sz="1300" dirty="0"/>
          </a:p>
        </p:txBody>
      </p:sp>
      <p:sp>
        <p:nvSpPr>
          <p:cNvPr id="33" name="Text 30"/>
          <p:cNvSpPr txBox="1"/>
          <p:nvPr/>
        </p:nvSpPr>
        <p:spPr>
          <a:xfrm>
            <a:off x="1143000" y="5321808"/>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ea typeface="Calibri" pitchFamily="34" charset="-122"/>
                <a:cs typeface="Calibri" pitchFamily="34" charset="-120"/>
              </a:rPr>
              <a:t>Columns = A · A · B</a:t>
            </a:r>
            <a:endParaRPr lang="en-US" sz="1050" dirty="0"/>
          </a:p>
        </p:txBody>
      </p:sp>
      <p:sp>
        <p:nvSpPr>
          <p:cNvPr id="34" name="Text 31"/>
          <p:cNvSpPr txBox="1"/>
          <p:nvPr/>
        </p:nvSpPr>
        <p:spPr>
          <a:xfrm>
            <a:off x="1143000" y="5596128"/>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34" charset="0"/>
                <a:ea typeface="Amiri" pitchFamily="34" charset="-122"/>
                <a:cs typeface="Amiri" pitchFamily="34" charset="-120"/>
              </a:rPr>
              <a:t>أَكْثَرُ</a:t>
            </a:r>
            <a:pPr algn="l" indent="0" marL="0">
              <a:buNone/>
            </a:pPr>
            <a:r>
              <a:rPr lang="en-US" sz="1050" i="1" dirty="0">
                <a:solidFill>
                  <a:srgbClr val="5A6472"/>
                </a:solidFill>
                <a:latin typeface="Calibri" pitchFamily="34" charset="0"/>
                <a:ea typeface="Calibri" pitchFamily="34" charset="-122"/>
                <a:cs typeface="Calibri" pitchFamily="34" charset="-120"/>
              </a:rPr>
              <a:t> = more; comparatives take </a:t>
            </a:r>
            <a:pPr algn="l" indent="0" marL="0">
              <a:buNone/>
            </a:pPr>
            <a:r>
              <a:rPr lang="ar-SA" altLang="en-US" sz="1350" dirty="0">
                <a:solidFill>
                  <a:srgbClr val="5A6472"/>
                </a:solidFill>
                <a:latin typeface="Amiri" pitchFamily="34" charset="0"/>
                <a:ea typeface="Amiri" pitchFamily="34" charset="-122"/>
                <a:cs typeface="Amiri" pitchFamily="34" charset="-120"/>
              </a:rPr>
              <a:t>مِنْ</a:t>
            </a:r>
            <a:pPr algn="l" indent="0" marL="0">
              <a:buNone/>
            </a:pPr>
            <a:r>
              <a:rPr lang="en-US" sz="1050" i="1" dirty="0">
                <a:solidFill>
                  <a:srgbClr val="5A6472"/>
                </a:solidFill>
                <a:latin typeface="Calibri" pitchFamily="34" charset="0"/>
                <a:ea typeface="Calibri" pitchFamily="34" charset="-122"/>
                <a:cs typeface="Calibri" pitchFamily="34" charset="-120"/>
              </a:rPr>
              <a:t>.</a:t>
            </a:r>
            <a:endParaRPr lang="en-US" sz="1050" dirty="0"/>
          </a:p>
        </p:txBody>
      </p:sp>
      <p:sp>
        <p:nvSpPr>
          <p:cNvPr id="35" name="Text 32"/>
          <p:cNvSpPr txBox="1"/>
          <p:nvPr/>
        </p:nvSpPr>
        <p:spPr>
          <a:xfrm>
            <a:off x="4572000" y="4864608"/>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34" charset="0"/>
                <a:ea typeface="Amiri" pitchFamily="34" charset="-122"/>
                <a:cs typeface="Amiri" pitchFamily="34" charset="-120"/>
              </a:rPr>
              <a:t>المَدِينَةُ أَكْثَرُ ازْدِحَامًا مِنَ القَرْيَةِ.</a:t>
            </a:r>
            <a:endParaRPr lang="ar-SA" sz="28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27 / 49</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TC-L08 · Buildings &amp; Services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ea typeface="Calibri" pitchFamily="34" charset="-122"/>
                <a:cs typeface="Calibri" pitchFamily="34" charset="-120"/>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WEBSITE SORTER</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Material, planning or goal?</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صَنِّفْ</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3 · Lesson 2 of 3</a:t>
            </a:r>
            <a:endParaRPr lang="en-US" sz="850" dirty="0"/>
          </a:p>
        </p:txBody>
      </p:sp>
      <p:sp>
        <p:nvSpPr>
          <p:cNvPr id="17" name="Shape 14"/>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يُجَدِّدُ المَبَانِيَ القَدِيمَةَ</a:t>
            </a:r>
            <a:endParaRPr lang="ar-SA" sz="1800" dirty="0"/>
          </a:p>
        </p:txBody>
      </p:sp>
      <p:sp>
        <p:nvSpPr>
          <p:cNvPr id="19" name="Shape 16"/>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مَبْنِيٌّ مِنَ الحَجَرِ</a:t>
            </a:r>
            <a:endParaRPr lang="ar-SA" sz="1800" dirty="0"/>
          </a:p>
        </p:txBody>
      </p:sp>
      <p:sp>
        <p:nvSpPr>
          <p:cNvPr id="21" name="Shape 18"/>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يُبْنَى مَشْرُوعٌ ضَخْمٌ</a:t>
            </a:r>
            <a:endParaRPr lang="ar-SA" sz="1800" dirty="0"/>
          </a:p>
        </p:txBody>
      </p:sp>
      <p:sp>
        <p:nvSpPr>
          <p:cNvPr id="23" name="Shape 20"/>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يَتَمَيَّزُ بِمِعْمَارٍ حَدِيثٍ</a:t>
            </a:r>
            <a:endParaRPr lang="ar-SA" sz="1800" dirty="0"/>
          </a:p>
        </p:txBody>
      </p:sp>
      <p:sp>
        <p:nvSpPr>
          <p:cNvPr id="25" name="Shape 22"/>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لِكَيْ تَكُونَ المَدِينَةُ صَالِحَةً</a:t>
            </a:r>
            <a:endParaRPr lang="ar-SA" sz="1800" dirty="0"/>
          </a:p>
        </p:txBody>
      </p:sp>
      <p:sp>
        <p:nvSpPr>
          <p:cNvPr id="27" name="Shape 24"/>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يُعِيدُ تَصْمِيمَ المِنْطَقَةِ</a:t>
            </a:r>
            <a:endParaRPr lang="ar-SA" sz="1800" dirty="0"/>
          </a:p>
        </p:txBody>
      </p:sp>
      <p:sp>
        <p:nvSpPr>
          <p:cNvPr id="29" name="Shape 26"/>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يُحَوِّلُ المَطَارَ إِلَى حَدِيقَةٍ</a:t>
            </a:r>
            <a:endParaRPr lang="ar-SA" sz="1800" dirty="0"/>
          </a:p>
        </p:txBody>
      </p:sp>
      <p:sp>
        <p:nvSpPr>
          <p:cNvPr id="31" name="Shape 28"/>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2" name="Text 29"/>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مَبْنِيٌّ مِنَ الزُّجَاجِ وَالصُّلْبِ</a:t>
            </a:r>
            <a:endParaRPr lang="ar-SA" sz="1800" dirty="0"/>
          </a:p>
        </p:txBody>
      </p:sp>
      <p:sp>
        <p:nvSpPr>
          <p:cNvPr id="33" name="Shape 30"/>
          <p:cNvSpPr/>
          <p:nvPr/>
        </p:nvSpPr>
        <p:spPr>
          <a:xfrm>
            <a:off x="9015984" y="2834640"/>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4" name="Text 31"/>
          <p:cNvSpPr txBox="1"/>
          <p:nvPr/>
        </p:nvSpPr>
        <p:spPr>
          <a:xfrm>
            <a:off x="9107424" y="2834640"/>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يُخَطَّطُ لِاسْتِكْمَالِ المَشْرُوعِ</a:t>
            </a:r>
            <a:endParaRPr lang="ar-SA" sz="1800" dirty="0"/>
          </a:p>
        </p:txBody>
      </p:sp>
      <p:sp>
        <p:nvSpPr>
          <p:cNvPr id="35" name="Shape 32"/>
          <p:cNvSpPr/>
          <p:nvPr/>
        </p:nvSpPr>
        <p:spPr>
          <a:xfrm>
            <a:off x="8095488" y="3529584"/>
            <a:ext cx="3636264" cy="2779776"/>
          </a:xfrm>
          <a:prstGeom prst="roundRect">
            <a:avLst>
              <a:gd name="adj" fmla="val 2632"/>
            </a:avLst>
          </a:prstGeom>
          <a:solidFill>
            <a:srgbClr val="EEF3FA"/>
          </a:solidFill>
          <a:ln w="9525">
            <a:solidFill>
              <a:srgbClr val="C9D6EA"/>
            </a:solidFill>
            <a:prstDash val="solid"/>
          </a:ln>
        </p:spPr>
      </p:sp>
      <p:sp>
        <p:nvSpPr>
          <p:cNvPr id="36" name="Shape 33"/>
          <p:cNvSpPr/>
          <p:nvPr/>
        </p:nvSpPr>
        <p:spPr>
          <a:xfrm>
            <a:off x="8232648" y="3639312"/>
            <a:ext cx="3361944" cy="310896"/>
          </a:xfrm>
          <a:prstGeom prst="roundRect">
            <a:avLst>
              <a:gd name="adj" fmla="val 50000"/>
            </a:avLst>
          </a:prstGeom>
          <a:solidFill>
            <a:srgbClr val="2F6FB0"/>
          </a:solidFill>
          <a:ln w="12700">
            <a:solidFill>
              <a:srgbClr val="2F6FB0"/>
            </a:solidFill>
            <a:prstDash val="solid"/>
          </a:ln>
        </p:spPr>
      </p:sp>
      <p:sp>
        <p:nvSpPr>
          <p:cNvPr id="37" name="Text 34"/>
          <p:cNvSpPr txBox="1"/>
          <p:nvPr/>
        </p:nvSpPr>
        <p:spPr>
          <a:xfrm>
            <a:off x="8232648"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1 · Material / feature</a:t>
            </a:r>
            <a:endParaRPr lang="en-US" sz="950" dirty="0"/>
          </a:p>
        </p:txBody>
      </p:sp>
      <p:sp>
        <p:nvSpPr>
          <p:cNvPr id="38" name="Shape 35"/>
          <p:cNvSpPr/>
          <p:nvPr/>
        </p:nvSpPr>
        <p:spPr>
          <a:xfrm>
            <a:off x="4276344" y="3529584"/>
            <a:ext cx="3636264" cy="2779776"/>
          </a:xfrm>
          <a:prstGeom prst="roundRect">
            <a:avLst>
              <a:gd name="adj" fmla="val 2632"/>
            </a:avLst>
          </a:prstGeom>
          <a:solidFill>
            <a:srgbClr val="EEF3FA"/>
          </a:solidFill>
          <a:ln w="9525">
            <a:solidFill>
              <a:srgbClr val="C9D6EA"/>
            </a:solidFill>
            <a:prstDash val="solid"/>
          </a:ln>
        </p:spPr>
      </p:sp>
      <p:sp>
        <p:nvSpPr>
          <p:cNvPr id="39" name="Shape 36"/>
          <p:cNvSpPr/>
          <p:nvPr/>
        </p:nvSpPr>
        <p:spPr>
          <a:xfrm>
            <a:off x="4413504" y="3639312"/>
            <a:ext cx="3361944" cy="310896"/>
          </a:xfrm>
          <a:prstGeom prst="roundRect">
            <a:avLst>
              <a:gd name="adj" fmla="val 50000"/>
            </a:avLst>
          </a:prstGeom>
          <a:solidFill>
            <a:srgbClr val="2F6FB0"/>
          </a:solidFill>
          <a:ln w="12700">
            <a:solidFill>
              <a:srgbClr val="2F6FB0"/>
            </a:solidFill>
            <a:prstDash val="solid"/>
          </a:ln>
        </p:spPr>
      </p:sp>
      <p:sp>
        <p:nvSpPr>
          <p:cNvPr id="40" name="Text 37"/>
          <p:cNvSpPr txBox="1"/>
          <p:nvPr/>
        </p:nvSpPr>
        <p:spPr>
          <a:xfrm>
            <a:off x="4413504"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2 · Planning verb</a:t>
            </a:r>
            <a:endParaRPr lang="en-US" sz="950" dirty="0"/>
          </a:p>
        </p:txBody>
      </p:sp>
      <p:sp>
        <p:nvSpPr>
          <p:cNvPr id="41" name="Shape 38"/>
          <p:cNvSpPr/>
          <p:nvPr/>
        </p:nvSpPr>
        <p:spPr>
          <a:xfrm>
            <a:off x="457200" y="3529584"/>
            <a:ext cx="3636264" cy="2779776"/>
          </a:xfrm>
          <a:prstGeom prst="roundRect">
            <a:avLst>
              <a:gd name="adj" fmla="val 2632"/>
            </a:avLst>
          </a:prstGeom>
          <a:solidFill>
            <a:srgbClr val="EEF3FA"/>
          </a:solidFill>
          <a:ln w="9525">
            <a:solidFill>
              <a:srgbClr val="C9D6EA"/>
            </a:solidFill>
            <a:prstDash val="solid"/>
          </a:ln>
        </p:spPr>
      </p:sp>
      <p:sp>
        <p:nvSpPr>
          <p:cNvPr id="42" name="Shape 39"/>
          <p:cNvSpPr/>
          <p:nvPr/>
        </p:nvSpPr>
        <p:spPr>
          <a:xfrm>
            <a:off x="594360" y="3639312"/>
            <a:ext cx="3361944" cy="310896"/>
          </a:xfrm>
          <a:prstGeom prst="roundRect">
            <a:avLst>
              <a:gd name="adj" fmla="val 50000"/>
            </a:avLst>
          </a:prstGeom>
          <a:solidFill>
            <a:srgbClr val="2F6FB0"/>
          </a:solidFill>
          <a:ln w="12700">
            <a:solidFill>
              <a:srgbClr val="2F6FB0"/>
            </a:solidFill>
            <a:prstDash val="solid"/>
          </a:ln>
        </p:spPr>
      </p:sp>
      <p:sp>
        <p:nvSpPr>
          <p:cNvPr id="43" name="Text 40"/>
          <p:cNvSpPr txBox="1"/>
          <p:nvPr/>
        </p:nvSpPr>
        <p:spPr>
          <a:xfrm>
            <a:off x="594360"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3 · Passive / goal</a:t>
            </a:r>
            <a:endParaRPr lang="en-US" sz="9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28 / 49</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TC-L08 · Buildings &amp; Services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ea typeface="Calibri" pitchFamily="34" charset="-122"/>
                <a:cs typeface="Calibri" pitchFamily="34" charset="-120"/>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SORTER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Sorted</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الإِجَابَاتُ</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3 · Lesson 2 of 3</a:t>
            </a:r>
            <a:endParaRPr lang="en-US" sz="850" dirty="0"/>
          </a:p>
        </p:txBody>
      </p:sp>
      <p:sp>
        <p:nvSpPr>
          <p:cNvPr id="17" name="Shape 14"/>
          <p:cNvSpPr/>
          <p:nvPr/>
        </p:nvSpPr>
        <p:spPr>
          <a:xfrm>
            <a:off x="8095488" y="1810512"/>
            <a:ext cx="3636264" cy="4498848"/>
          </a:xfrm>
          <a:prstGeom prst="roundRect">
            <a:avLst>
              <a:gd name="adj" fmla="val 2012"/>
            </a:avLst>
          </a:prstGeom>
          <a:solidFill>
            <a:srgbClr val="EEF3FA"/>
          </a:solidFill>
          <a:ln w="9525">
            <a:solidFill>
              <a:srgbClr val="C9D6EA"/>
            </a:solidFill>
            <a:prstDash val="solid"/>
          </a:ln>
        </p:spPr>
      </p:sp>
      <p:sp>
        <p:nvSpPr>
          <p:cNvPr id="18" name="Shape 15"/>
          <p:cNvSpPr/>
          <p:nvPr/>
        </p:nvSpPr>
        <p:spPr>
          <a:xfrm>
            <a:off x="8232648" y="1920240"/>
            <a:ext cx="3361944" cy="310896"/>
          </a:xfrm>
          <a:prstGeom prst="roundRect">
            <a:avLst>
              <a:gd name="adj" fmla="val 50000"/>
            </a:avLst>
          </a:prstGeom>
          <a:solidFill>
            <a:srgbClr val="2F6FB0"/>
          </a:solidFill>
          <a:ln w="12700">
            <a:solidFill>
              <a:srgbClr val="2F6FB0"/>
            </a:solidFill>
            <a:prstDash val="solid"/>
          </a:ln>
        </p:spPr>
      </p:sp>
      <p:sp>
        <p:nvSpPr>
          <p:cNvPr id="19" name="Text 16"/>
          <p:cNvSpPr txBox="1"/>
          <p:nvPr/>
        </p:nvSpPr>
        <p:spPr>
          <a:xfrm>
            <a:off x="8232648"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1 · Material / feature</a:t>
            </a:r>
            <a:endParaRPr lang="en-US" sz="950" dirty="0"/>
          </a:p>
        </p:txBody>
      </p:sp>
      <p:sp>
        <p:nvSpPr>
          <p:cNvPr id="20" name="Shape 17"/>
          <p:cNvSpPr/>
          <p:nvPr/>
        </p:nvSpPr>
        <p:spPr>
          <a:xfrm>
            <a:off x="8232648" y="2377440"/>
            <a:ext cx="3361944"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8324088"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مَبْنِيٌّ مِنَ الحَجَرِ</a:t>
            </a:r>
            <a:endParaRPr lang="ar-SA" sz="1800" dirty="0"/>
          </a:p>
        </p:txBody>
      </p:sp>
      <p:sp>
        <p:nvSpPr>
          <p:cNvPr id="22" name="Shape 19"/>
          <p:cNvSpPr/>
          <p:nvPr/>
        </p:nvSpPr>
        <p:spPr>
          <a:xfrm>
            <a:off x="8232648" y="2889504"/>
            <a:ext cx="3361944"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8324088"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يَتَمَيَّزُ بِمِعْمَارٍ حَدِيثٍ</a:t>
            </a:r>
            <a:endParaRPr lang="ar-SA" sz="1800" dirty="0"/>
          </a:p>
        </p:txBody>
      </p:sp>
      <p:sp>
        <p:nvSpPr>
          <p:cNvPr id="24" name="Shape 21"/>
          <p:cNvSpPr/>
          <p:nvPr/>
        </p:nvSpPr>
        <p:spPr>
          <a:xfrm>
            <a:off x="8232648" y="3401568"/>
            <a:ext cx="3361944" cy="438912"/>
          </a:xfrm>
          <a:prstGeom prst="roundRect">
            <a:avLst>
              <a:gd name="adj" fmla="val 12500"/>
            </a:avLst>
          </a:prstGeom>
          <a:solidFill>
            <a:srgbClr val="FFF4DC"/>
          </a:solidFill>
          <a:ln w="9525">
            <a:solidFill>
              <a:srgbClr val="E6C98A"/>
            </a:solidFill>
            <a:prstDash val="solid"/>
          </a:ln>
        </p:spPr>
      </p:sp>
      <p:sp>
        <p:nvSpPr>
          <p:cNvPr id="25" name="Text 22"/>
          <p:cNvSpPr txBox="1"/>
          <p:nvPr/>
        </p:nvSpPr>
        <p:spPr>
          <a:xfrm>
            <a:off x="8324088"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مَبْنِيٌّ مِنَ الزُّجَاجِ وَالصُّلْبِ</a:t>
            </a:r>
            <a:endParaRPr lang="ar-SA" sz="1800" dirty="0"/>
          </a:p>
        </p:txBody>
      </p:sp>
      <p:sp>
        <p:nvSpPr>
          <p:cNvPr id="26" name="Shape 23"/>
          <p:cNvSpPr/>
          <p:nvPr/>
        </p:nvSpPr>
        <p:spPr>
          <a:xfrm>
            <a:off x="4276344" y="1810512"/>
            <a:ext cx="3636264" cy="4498848"/>
          </a:xfrm>
          <a:prstGeom prst="roundRect">
            <a:avLst>
              <a:gd name="adj" fmla="val 2012"/>
            </a:avLst>
          </a:prstGeom>
          <a:solidFill>
            <a:srgbClr val="EEF3FA"/>
          </a:solidFill>
          <a:ln w="9525">
            <a:solidFill>
              <a:srgbClr val="C9D6EA"/>
            </a:solidFill>
            <a:prstDash val="solid"/>
          </a:ln>
        </p:spPr>
      </p:sp>
      <p:sp>
        <p:nvSpPr>
          <p:cNvPr id="27" name="Shape 24"/>
          <p:cNvSpPr/>
          <p:nvPr/>
        </p:nvSpPr>
        <p:spPr>
          <a:xfrm>
            <a:off x="4413504" y="1920240"/>
            <a:ext cx="3361944" cy="310896"/>
          </a:xfrm>
          <a:prstGeom prst="roundRect">
            <a:avLst>
              <a:gd name="adj" fmla="val 50000"/>
            </a:avLst>
          </a:prstGeom>
          <a:solidFill>
            <a:srgbClr val="2F6FB0"/>
          </a:solidFill>
          <a:ln w="12700">
            <a:solidFill>
              <a:srgbClr val="2F6FB0"/>
            </a:solidFill>
            <a:prstDash val="solid"/>
          </a:ln>
        </p:spPr>
      </p:sp>
      <p:sp>
        <p:nvSpPr>
          <p:cNvPr id="28" name="Text 25"/>
          <p:cNvSpPr txBox="1"/>
          <p:nvPr/>
        </p:nvSpPr>
        <p:spPr>
          <a:xfrm>
            <a:off x="4413504"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2 · Planning verb</a:t>
            </a:r>
            <a:endParaRPr lang="en-US" sz="950" dirty="0"/>
          </a:p>
        </p:txBody>
      </p:sp>
      <p:sp>
        <p:nvSpPr>
          <p:cNvPr id="29" name="Shape 26"/>
          <p:cNvSpPr/>
          <p:nvPr/>
        </p:nvSpPr>
        <p:spPr>
          <a:xfrm>
            <a:off x="4413504" y="2377440"/>
            <a:ext cx="3361944"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4504944"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يُجَدِّدُ المَبَانِيَ القَدِيمَةَ</a:t>
            </a:r>
            <a:endParaRPr lang="ar-SA" sz="1800" dirty="0"/>
          </a:p>
        </p:txBody>
      </p:sp>
      <p:sp>
        <p:nvSpPr>
          <p:cNvPr id="31" name="Shape 28"/>
          <p:cNvSpPr/>
          <p:nvPr/>
        </p:nvSpPr>
        <p:spPr>
          <a:xfrm>
            <a:off x="4413504" y="2889504"/>
            <a:ext cx="3361944"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4504944"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يُعِيدُ تَصْمِيمَ المِنْطَقَةِ</a:t>
            </a:r>
            <a:endParaRPr lang="ar-SA" sz="1800" dirty="0"/>
          </a:p>
        </p:txBody>
      </p:sp>
      <p:sp>
        <p:nvSpPr>
          <p:cNvPr id="33" name="Shape 30"/>
          <p:cNvSpPr/>
          <p:nvPr/>
        </p:nvSpPr>
        <p:spPr>
          <a:xfrm>
            <a:off x="4413504" y="3401568"/>
            <a:ext cx="3361944" cy="438912"/>
          </a:xfrm>
          <a:prstGeom prst="roundRect">
            <a:avLst>
              <a:gd name="adj" fmla="val 12500"/>
            </a:avLst>
          </a:prstGeom>
          <a:solidFill>
            <a:srgbClr val="FFF4DC"/>
          </a:solidFill>
          <a:ln w="9525">
            <a:solidFill>
              <a:srgbClr val="E6C98A"/>
            </a:solidFill>
            <a:prstDash val="solid"/>
          </a:ln>
        </p:spPr>
      </p:sp>
      <p:sp>
        <p:nvSpPr>
          <p:cNvPr id="34" name="Text 31"/>
          <p:cNvSpPr txBox="1"/>
          <p:nvPr/>
        </p:nvSpPr>
        <p:spPr>
          <a:xfrm>
            <a:off x="4504944"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يُحَوِّلُ المَطَارَ إِلَى حَدِيقَةٍ</a:t>
            </a:r>
            <a:endParaRPr lang="ar-SA" sz="1800" dirty="0"/>
          </a:p>
        </p:txBody>
      </p:sp>
      <p:sp>
        <p:nvSpPr>
          <p:cNvPr id="35" name="Shape 32"/>
          <p:cNvSpPr/>
          <p:nvPr/>
        </p:nvSpPr>
        <p:spPr>
          <a:xfrm>
            <a:off x="457200" y="1810512"/>
            <a:ext cx="3636264" cy="4498848"/>
          </a:xfrm>
          <a:prstGeom prst="roundRect">
            <a:avLst>
              <a:gd name="adj" fmla="val 2012"/>
            </a:avLst>
          </a:prstGeom>
          <a:solidFill>
            <a:srgbClr val="EEF3FA"/>
          </a:solidFill>
          <a:ln w="9525">
            <a:solidFill>
              <a:srgbClr val="C9D6EA"/>
            </a:solidFill>
            <a:prstDash val="solid"/>
          </a:ln>
        </p:spPr>
      </p:sp>
      <p:sp>
        <p:nvSpPr>
          <p:cNvPr id="36" name="Shape 33"/>
          <p:cNvSpPr/>
          <p:nvPr/>
        </p:nvSpPr>
        <p:spPr>
          <a:xfrm>
            <a:off x="594360" y="1920240"/>
            <a:ext cx="3361944" cy="310896"/>
          </a:xfrm>
          <a:prstGeom prst="roundRect">
            <a:avLst>
              <a:gd name="adj" fmla="val 50000"/>
            </a:avLst>
          </a:prstGeom>
          <a:solidFill>
            <a:srgbClr val="2F6FB0"/>
          </a:solidFill>
          <a:ln w="12700">
            <a:solidFill>
              <a:srgbClr val="2F6FB0"/>
            </a:solidFill>
            <a:prstDash val="solid"/>
          </a:ln>
        </p:spPr>
      </p:sp>
      <p:sp>
        <p:nvSpPr>
          <p:cNvPr id="37" name="Text 34"/>
          <p:cNvSpPr txBox="1"/>
          <p:nvPr/>
        </p:nvSpPr>
        <p:spPr>
          <a:xfrm>
            <a:off x="594360"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3 · Passive / goal</a:t>
            </a:r>
            <a:endParaRPr lang="en-US" sz="950" dirty="0"/>
          </a:p>
        </p:txBody>
      </p:sp>
      <p:sp>
        <p:nvSpPr>
          <p:cNvPr id="38" name="Shape 35"/>
          <p:cNvSpPr/>
          <p:nvPr/>
        </p:nvSpPr>
        <p:spPr>
          <a:xfrm>
            <a:off x="594360" y="2377440"/>
            <a:ext cx="3361944" cy="438912"/>
          </a:xfrm>
          <a:prstGeom prst="roundRect">
            <a:avLst>
              <a:gd name="adj" fmla="val 12500"/>
            </a:avLst>
          </a:prstGeom>
          <a:solidFill>
            <a:srgbClr val="FFF4DC"/>
          </a:solidFill>
          <a:ln w="9525">
            <a:solidFill>
              <a:srgbClr val="E6C98A"/>
            </a:solidFill>
            <a:prstDash val="solid"/>
          </a:ln>
        </p:spPr>
      </p:sp>
      <p:sp>
        <p:nvSpPr>
          <p:cNvPr id="39" name="Text 36"/>
          <p:cNvSpPr txBox="1"/>
          <p:nvPr/>
        </p:nvSpPr>
        <p:spPr>
          <a:xfrm>
            <a:off x="685800"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يُبْنَى مَشْرُوعٌ ضَخْمٌ</a:t>
            </a:r>
            <a:endParaRPr lang="ar-SA" sz="1800" dirty="0"/>
          </a:p>
        </p:txBody>
      </p:sp>
      <p:sp>
        <p:nvSpPr>
          <p:cNvPr id="40" name="Shape 37"/>
          <p:cNvSpPr/>
          <p:nvPr/>
        </p:nvSpPr>
        <p:spPr>
          <a:xfrm>
            <a:off x="594360" y="2889504"/>
            <a:ext cx="3361944" cy="438912"/>
          </a:xfrm>
          <a:prstGeom prst="roundRect">
            <a:avLst>
              <a:gd name="adj" fmla="val 12500"/>
            </a:avLst>
          </a:prstGeom>
          <a:solidFill>
            <a:srgbClr val="FFF4DC"/>
          </a:solidFill>
          <a:ln w="9525">
            <a:solidFill>
              <a:srgbClr val="E6C98A"/>
            </a:solidFill>
            <a:prstDash val="solid"/>
          </a:ln>
        </p:spPr>
      </p:sp>
      <p:sp>
        <p:nvSpPr>
          <p:cNvPr id="41" name="Text 38"/>
          <p:cNvSpPr txBox="1"/>
          <p:nvPr/>
        </p:nvSpPr>
        <p:spPr>
          <a:xfrm>
            <a:off x="685800"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لِكَيْ تَكُونَ المَدِينَةُ صَالِحَةً</a:t>
            </a:r>
            <a:endParaRPr lang="ar-SA" sz="1800" dirty="0"/>
          </a:p>
        </p:txBody>
      </p:sp>
      <p:sp>
        <p:nvSpPr>
          <p:cNvPr id="42" name="Shape 39"/>
          <p:cNvSpPr/>
          <p:nvPr/>
        </p:nvSpPr>
        <p:spPr>
          <a:xfrm>
            <a:off x="594360" y="3401568"/>
            <a:ext cx="3361944" cy="438912"/>
          </a:xfrm>
          <a:prstGeom prst="roundRect">
            <a:avLst>
              <a:gd name="adj" fmla="val 12500"/>
            </a:avLst>
          </a:prstGeom>
          <a:solidFill>
            <a:srgbClr val="FFF4DC"/>
          </a:solidFill>
          <a:ln w="9525">
            <a:solidFill>
              <a:srgbClr val="E6C98A"/>
            </a:solidFill>
            <a:prstDash val="solid"/>
          </a:ln>
        </p:spPr>
      </p:sp>
      <p:sp>
        <p:nvSpPr>
          <p:cNvPr id="43" name="Text 40"/>
          <p:cNvSpPr txBox="1"/>
          <p:nvPr/>
        </p:nvSpPr>
        <p:spPr>
          <a:xfrm>
            <a:off x="685800"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يُخَطَّطُ لِاسْتِكْمَالِ المَشْرُوعِ</a:t>
            </a:r>
            <a:endParaRPr lang="ar-SA"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29 / 49</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TC-L08 · Buildings &amp; Services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ea typeface="Calibri" pitchFamily="34" charset="-122"/>
                <a:cs typeface="Calibri" pitchFamily="34" charset="-120"/>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GUIDED PRACTICE · WEBSITE QUIZ 2, 3, 4, 8</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3 · Lesson 2 of 3</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accurate sentence with </a:t>
            </a:r>
            <a:pPr algn="l" indent="0" marL="0">
              <a:buNone/>
            </a:pPr>
            <a:r>
              <a:rPr lang="ar-SA" altLang="en-US" sz="1650" b="1" dirty="0">
                <a:solidFill>
                  <a:srgbClr val="1B3B6F"/>
                </a:solidFill>
                <a:latin typeface="Amiri" pitchFamily="34" charset="0"/>
                <a:ea typeface="Amiri" pitchFamily="34" charset="-122"/>
                <a:cs typeface="Amiri" pitchFamily="34" charset="-120"/>
              </a:rPr>
              <a:t>يُحَوِّلُ</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3" name="Text 20"/>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يُحَوِّلُ المَشْرُوعُ المَطَارَ القَدِيمَ حَدِيقَةً.</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6" name="Text 23"/>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يُحَوِّلُ المَشْرُوعُ بِالمَطَارِ القَدِيمِ.</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9" name="Text 26"/>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يُحَوِّلُ المَشْرُوعُ المَطَارَ القَدِيمَ إِلَى حَدِيقَةٍ.</a:t>
            </a:r>
            <a:endParaRPr lang="ar-SA" sz="2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accurate urban passive.</a:t>
            </a:r>
            <a:endParaRPr lang="en-US" sz="1250" dirty="0"/>
          </a:p>
        </p:txBody>
      </p:sp>
      <p:sp>
        <p:nvSpPr>
          <p:cNvPr id="34" name="Shape 31"/>
          <p:cNvSpPr/>
          <p:nvPr/>
        </p:nvSpPr>
        <p:spPr>
          <a:xfrm>
            <a:off x="6368796"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6" name="Text 33"/>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يُبْنَى مَشْرُوعًا ضَخْمًا عَلَى الأَطْرَافِ.</a:t>
            </a:r>
            <a:endParaRPr lang="ar-SA" sz="2050" dirty="0"/>
          </a:p>
        </p:txBody>
      </p:sp>
      <p:sp>
        <p:nvSpPr>
          <p:cNvPr id="37" name="Shape 34"/>
          <p:cNvSpPr/>
          <p:nvPr/>
        </p:nvSpPr>
        <p:spPr>
          <a:xfrm>
            <a:off x="6368796"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9" name="Text 36"/>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يُبْنَى مَشْرُوعٌ ضَخْمٌ عَلَى الأَطْرَافِ.</a:t>
            </a:r>
            <a:endParaRPr lang="ar-SA" sz="2050" dirty="0"/>
          </a:p>
        </p:txBody>
      </p:sp>
      <p:sp>
        <p:nvSpPr>
          <p:cNvPr id="40" name="Shape 37"/>
          <p:cNvSpPr/>
          <p:nvPr/>
        </p:nvSpPr>
        <p:spPr>
          <a:xfrm>
            <a:off x="6368796"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2" name="Text 39"/>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يَبْنِي مَشْرُوعٌ ضَخْمٌ نَفْسَهُ.</a:t>
            </a:r>
            <a:endParaRPr lang="ar-SA" sz="2050" dirty="0"/>
          </a:p>
        </p:txBody>
      </p:sp>
      <p:sp>
        <p:nvSpPr>
          <p:cNvPr id="43" name="Shape 40"/>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585216" y="4288536"/>
            <a:ext cx="310896" cy="310896"/>
          </a:xfrm>
          <a:prstGeom prst="ellipse">
            <a:avLst/>
          </a:prstGeom>
          <a:solidFill>
            <a:srgbClr val="1B3B6F"/>
          </a:solidFill>
          <a:ln w="12700">
            <a:solidFill>
              <a:srgbClr val="1B3B6F"/>
            </a:solidFill>
            <a:prstDash val="solid"/>
          </a:ln>
        </p:spPr>
      </p:sp>
      <p:sp>
        <p:nvSpPr>
          <p:cNvPr id="45" name="Text 4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7</a:t>
            </a:r>
            <a:endParaRPr lang="en-US" sz="1100" dirty="0"/>
          </a:p>
        </p:txBody>
      </p:sp>
      <p:sp>
        <p:nvSpPr>
          <p:cNvPr id="46" name="Text 43"/>
          <p:cNvSpPr txBox="1"/>
          <p:nvPr/>
        </p:nvSpPr>
        <p:spPr>
          <a:xfrm>
            <a:off x="950976"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Complete the goal clause:</a:t>
            </a:r>
            <a:endParaRPr lang="en-US" sz="1200" dirty="0"/>
          </a:p>
        </p:txBody>
      </p:sp>
      <p:sp>
        <p:nvSpPr>
          <p:cNvPr id="47" name="Text 44"/>
          <p:cNvSpPr txBox="1"/>
          <p:nvPr/>
        </p:nvSpPr>
        <p:spPr>
          <a:xfrm>
            <a:off x="3323295" y="4224528"/>
            <a:ext cx="2570013" cy="475488"/>
          </a:xfrm>
          <a:prstGeom prst="rect">
            <a:avLst/>
          </a:prstGeom>
          <a:noFill/>
          <a:ln/>
        </p:spPr>
        <p:txBody>
          <a:bodyPr wrap="square" lIns="0" tIns="0" rIns="0" bIns="0" rtlCol="0" anchor="ctr"/>
          <a:lstStyle/>
          <a:p>
            <a:pPr rtl="1" algn="r" indent="0" marL="0">
              <a:buNone/>
            </a:pPr>
            <a:r>
              <a:rPr lang="ar-SA" altLang="en-US" sz="1450" b="1" dirty="0">
                <a:solidFill>
                  <a:srgbClr val="1F2A37"/>
                </a:solidFill>
                <a:latin typeface="Amiri" pitchFamily="34" charset="0"/>
                <a:ea typeface="Amiri" pitchFamily="34" charset="-122"/>
                <a:cs typeface="Amiri" pitchFamily="34" charset="-120"/>
              </a:rPr>
              <a:t>يُخَطِّطُونَ لِكَيْ ___ المَدِينَةُ صَالِحَةً لِلْعَيْشِ.</a:t>
            </a:r>
            <a:endParaRPr lang="ar-SA" sz="1450" dirty="0"/>
          </a:p>
        </p:txBody>
      </p:sp>
      <p:sp>
        <p:nvSpPr>
          <p:cNvPr id="48" name="Shape 45"/>
          <p:cNvSpPr/>
          <p:nvPr/>
        </p:nvSpPr>
        <p:spPr>
          <a:xfrm>
            <a:off x="640080" y="48737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50" name="Text 47"/>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تَكُونُ</a:t>
            </a:r>
            <a:endParaRPr lang="ar-SA" sz="2050" dirty="0"/>
          </a:p>
        </p:txBody>
      </p:sp>
      <p:sp>
        <p:nvSpPr>
          <p:cNvPr id="51" name="Shape 48"/>
          <p:cNvSpPr/>
          <p:nvPr/>
        </p:nvSpPr>
        <p:spPr>
          <a:xfrm>
            <a:off x="640080" y="53309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3" name="Text 50"/>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تَكُونَ</a:t>
            </a:r>
            <a:endParaRPr lang="ar-SA" sz="2050" dirty="0"/>
          </a:p>
        </p:txBody>
      </p:sp>
      <p:sp>
        <p:nvSpPr>
          <p:cNvPr id="54" name="Shape 51"/>
          <p:cNvSpPr/>
          <p:nvPr/>
        </p:nvSpPr>
        <p:spPr>
          <a:xfrm>
            <a:off x="640080" y="5788152"/>
            <a:ext cx="256032" cy="256032"/>
          </a:xfrm>
          <a:prstGeom prst="ellipse">
            <a:avLst/>
          </a:prstGeom>
          <a:solidFill>
            <a:srgbClr val="F4F1EA"/>
          </a:solidFill>
          <a:ln w="12700">
            <a:solidFill>
              <a:srgbClr val="F4F1EA"/>
            </a:solidFill>
            <a:prstDash val="solid"/>
          </a:ln>
        </p:spPr>
      </p:sp>
      <p:sp>
        <p:nvSpPr>
          <p:cNvPr id="55" name="Text 5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6" name="Text 53"/>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كَانَتْ</a:t>
            </a:r>
            <a:endParaRPr lang="ar-SA" sz="2050" dirty="0"/>
          </a:p>
        </p:txBody>
      </p:sp>
      <p:sp>
        <p:nvSpPr>
          <p:cNvPr id="57" name="Shape 54"/>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8" name="Shape 55"/>
          <p:cNvSpPr/>
          <p:nvPr/>
        </p:nvSpPr>
        <p:spPr>
          <a:xfrm>
            <a:off x="6313932" y="4288536"/>
            <a:ext cx="310896" cy="310896"/>
          </a:xfrm>
          <a:prstGeom prst="ellipse">
            <a:avLst/>
          </a:prstGeom>
          <a:solidFill>
            <a:srgbClr val="1B3B6F"/>
          </a:solidFill>
          <a:ln w="12700">
            <a:solidFill>
              <a:srgbClr val="1B3B6F"/>
            </a:solidFill>
            <a:prstDash val="solid"/>
          </a:ln>
        </p:spPr>
      </p:sp>
      <p:sp>
        <p:nvSpPr>
          <p:cNvPr id="59" name="Text 56"/>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8</a:t>
            </a:r>
            <a:endParaRPr lang="en-US" sz="1100" dirty="0"/>
          </a:p>
        </p:txBody>
      </p:sp>
      <p:sp>
        <p:nvSpPr>
          <p:cNvPr id="60" name="Text 57"/>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sentence packs a material, a planning verb and a goal?</a:t>
            </a:r>
            <a:endParaRPr lang="en-US" sz="1250" dirty="0"/>
          </a:p>
        </p:txBody>
      </p:sp>
      <p:sp>
        <p:nvSpPr>
          <p:cNvPr id="61" name="Shape 58"/>
          <p:cNvSpPr/>
          <p:nvPr/>
        </p:nvSpPr>
        <p:spPr>
          <a:xfrm>
            <a:off x="6368796" y="48737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3" name="Text 60"/>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1950" dirty="0">
                <a:solidFill>
                  <a:srgbClr val="1F2A37"/>
                </a:solidFill>
                <a:latin typeface="Amiri" pitchFamily="34" charset="0"/>
                <a:ea typeface="Amiri" pitchFamily="34" charset="-122"/>
                <a:cs typeface="Amiri" pitchFamily="34" charset="-120"/>
              </a:rPr>
              <a:t>المَدِينَةُ كَبِيرَةٌ.</a:t>
            </a:r>
            <a:endParaRPr lang="ar-SA" sz="1950" dirty="0"/>
          </a:p>
        </p:txBody>
      </p:sp>
      <p:sp>
        <p:nvSpPr>
          <p:cNvPr id="64" name="Shape 61"/>
          <p:cNvSpPr/>
          <p:nvPr/>
        </p:nvSpPr>
        <p:spPr>
          <a:xfrm>
            <a:off x="6368796" y="53309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6" name="Text 63"/>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1950" dirty="0">
                <a:solidFill>
                  <a:srgbClr val="1F2A37"/>
                </a:solidFill>
                <a:latin typeface="Amiri" pitchFamily="34" charset="0"/>
                <a:ea typeface="Amiri" pitchFamily="34" charset="-122"/>
                <a:cs typeface="Amiri" pitchFamily="34" charset="-120"/>
              </a:rPr>
              <a:t>أُحِبُّ المُدُنَ.</a:t>
            </a:r>
            <a:endParaRPr lang="ar-SA" sz="1950" dirty="0"/>
          </a:p>
        </p:txBody>
      </p:sp>
      <p:sp>
        <p:nvSpPr>
          <p:cNvPr id="67" name="Shape 64"/>
          <p:cNvSpPr/>
          <p:nvPr/>
        </p:nvSpPr>
        <p:spPr>
          <a:xfrm>
            <a:off x="6368796" y="5788152"/>
            <a:ext cx="256032" cy="256032"/>
          </a:xfrm>
          <a:prstGeom prst="ellipse">
            <a:avLst/>
          </a:prstGeom>
          <a:solidFill>
            <a:srgbClr val="F4F1EA"/>
          </a:solidFill>
          <a:ln w="12700">
            <a:solidFill>
              <a:srgbClr val="F4F1EA"/>
            </a:solidFill>
            <a:prstDash val="solid"/>
          </a:ln>
        </p:spPr>
      </p:sp>
      <p:sp>
        <p:nvSpPr>
          <p:cNvPr id="68" name="Text 65"/>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9" name="Text 66"/>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1950" dirty="0">
                <a:solidFill>
                  <a:srgbClr val="1F2A37"/>
                </a:solidFill>
                <a:latin typeface="Amiri" pitchFamily="34" charset="0"/>
                <a:ea typeface="Amiri" pitchFamily="34" charset="-122"/>
                <a:cs typeface="Amiri" pitchFamily="34" charset="-120"/>
              </a:rPr>
              <a:t>الحَيُّ مَبْنِيٌّ مِنَ الحَجَرِ، وَيُجَدِّدُهُ المَشْرُوعُ لِكَيْ يَكُونَ أَجْمَلَ.</a:t>
            </a:r>
            <a:endParaRPr lang="ar-SA" sz="19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30 / 49</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TC-L08 · Buildings &amp; Services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ea typeface="Calibri" pitchFamily="34" charset="-122"/>
                <a:cs typeface="Calibri" pitchFamily="34" charset="-120"/>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3 · Lesson 2 of 3</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accurate sentence with </a:t>
            </a:r>
            <a:pPr algn="l" indent="0" marL="0">
              <a:buNone/>
            </a:pPr>
            <a:r>
              <a:rPr lang="ar-SA" altLang="en-US" sz="1650" b="1" dirty="0">
                <a:solidFill>
                  <a:srgbClr val="1B3B6F"/>
                </a:solidFill>
                <a:latin typeface="Amiri" pitchFamily="34" charset="0"/>
                <a:ea typeface="Amiri" pitchFamily="34" charset="-122"/>
                <a:cs typeface="Amiri" pitchFamily="34" charset="-120"/>
              </a:rPr>
              <a:t>يُحَوِّلُ</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3" name="Text 20"/>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يُحَوِّلُ المَشْرُوعُ المَطَارَ القَدِيمَ حَدِيقَةً.</a:t>
            </a:r>
            <a:endParaRPr lang="ar-SA" sz="1700" dirty="0"/>
          </a:p>
        </p:txBody>
      </p:sp>
      <p:sp>
        <p:nvSpPr>
          <p:cNvPr id="24" name="Shape 21"/>
          <p:cNvSpPr/>
          <p:nvPr/>
        </p:nvSpPr>
        <p:spPr>
          <a:xfrm>
            <a:off x="640080" y="2862072"/>
            <a:ext cx="256032" cy="256032"/>
          </a:xfrm>
          <a:prstGeom prst="ellipse">
            <a:avLst/>
          </a:prstGeom>
          <a:solidFill>
            <a:srgbClr val="C9CED6"/>
          </a:solidFill>
          <a:ln w="12700">
            <a:solidFill>
              <a:srgbClr val="C9CED6"/>
            </a:solidFill>
            <a:prstDash val="solid"/>
          </a:ln>
        </p:spPr>
      </p:sp>
      <p:sp>
        <p:nvSpPr>
          <p:cNvPr id="25" name="Text 22"/>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6" name="Text 23"/>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يُحَوِّلُ المَشْرُوعُ بِالمَطَارِ القَدِيمِ.</a:t>
            </a:r>
            <a:endParaRPr lang="ar-SA" sz="1700" dirty="0"/>
          </a:p>
        </p:txBody>
      </p:sp>
      <p:sp>
        <p:nvSpPr>
          <p:cNvPr id="27" name="Shape 24"/>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8" name="Shape 25"/>
          <p:cNvSpPr/>
          <p:nvPr/>
        </p:nvSpPr>
        <p:spPr>
          <a:xfrm>
            <a:off x="640080" y="3233928"/>
            <a:ext cx="256032" cy="256032"/>
          </a:xfrm>
          <a:prstGeom prst="ellipse">
            <a:avLst/>
          </a:prstGeom>
          <a:solidFill>
            <a:srgbClr val="2E8B57"/>
          </a:solidFill>
          <a:ln w="12700">
            <a:solidFill>
              <a:srgbClr val="2E8B57"/>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30" name="Text 27"/>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يُحَوِّلُ المَشْرُوعُ المَطَارَ القَدِيمَ إِلَى حَدِيقَةٍ.</a:t>
            </a:r>
            <a:endParaRPr lang="ar-SA" sz="1700" dirty="0"/>
          </a:p>
        </p:txBody>
      </p:sp>
      <p:sp>
        <p:nvSpPr>
          <p:cNvPr id="31" name="Text 28"/>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يُحَوِّلُ</a:t>
            </a:r>
            <a:pPr algn="l" indent="0" marL="0">
              <a:buNone/>
            </a:pPr>
            <a:r>
              <a:rPr lang="en-US" sz="1050" i="1" dirty="0">
                <a:solidFill>
                  <a:srgbClr val="8A6D1E"/>
                </a:solidFill>
                <a:latin typeface="Calibri" pitchFamily="34" charset="0"/>
                <a:ea typeface="Calibri" pitchFamily="34" charset="-122"/>
                <a:cs typeface="Calibri" pitchFamily="34" charset="-120"/>
              </a:rPr>
              <a:t> is fixed with </a:t>
            </a:r>
            <a:pPr algn="l" indent="0" marL="0">
              <a:buNone/>
            </a:pPr>
            <a:r>
              <a:rPr lang="ar-SA" altLang="en-US" sz="1350" dirty="0">
                <a:solidFill>
                  <a:srgbClr val="8A6D1E"/>
                </a:solidFill>
                <a:latin typeface="Amiri" pitchFamily="34" charset="0"/>
                <a:ea typeface="Amiri" pitchFamily="34" charset="-122"/>
                <a:cs typeface="Amiri" pitchFamily="34" charset="-120"/>
              </a:rPr>
              <a:t>إِلَى</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32" name="Shape 29"/>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6313932"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35" name="Text 32"/>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accurate urban passive.</a:t>
            </a:r>
            <a:endParaRPr lang="en-US" sz="1250" dirty="0"/>
          </a:p>
        </p:txBody>
      </p:sp>
      <p:sp>
        <p:nvSpPr>
          <p:cNvPr id="36" name="Shape 33"/>
          <p:cNvSpPr/>
          <p:nvPr/>
        </p:nvSpPr>
        <p:spPr>
          <a:xfrm>
            <a:off x="6368796"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8" name="Text 35"/>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يُبْنَى مَشْرُوعًا ضَخْمًا عَلَى الأَطْرَافِ.</a:t>
            </a:r>
            <a:endParaRPr lang="ar-SA" sz="1700" dirty="0"/>
          </a:p>
        </p:txBody>
      </p:sp>
      <p:sp>
        <p:nvSpPr>
          <p:cNvPr id="39" name="Shape 36"/>
          <p:cNvSpPr/>
          <p:nvPr/>
        </p:nvSpPr>
        <p:spPr>
          <a:xfrm>
            <a:off x="6277356" y="2825496"/>
            <a:ext cx="5362956" cy="347472"/>
          </a:xfrm>
          <a:prstGeom prst="roundRect">
            <a:avLst>
              <a:gd name="adj" fmla="val 15789"/>
            </a:avLst>
          </a:prstGeom>
          <a:solidFill>
            <a:srgbClr val="E6F4EC"/>
          </a:solidFill>
          <a:ln w="9525">
            <a:solidFill>
              <a:srgbClr val="2E8B57"/>
            </a:solidFill>
            <a:prstDash val="solid"/>
          </a:ln>
        </p:spPr>
      </p:sp>
      <p:sp>
        <p:nvSpPr>
          <p:cNvPr id="40" name="Shape 37"/>
          <p:cNvSpPr/>
          <p:nvPr/>
        </p:nvSpPr>
        <p:spPr>
          <a:xfrm>
            <a:off x="6368796" y="2862072"/>
            <a:ext cx="256032" cy="256032"/>
          </a:xfrm>
          <a:prstGeom prst="ellipse">
            <a:avLst/>
          </a:prstGeom>
          <a:solidFill>
            <a:srgbClr val="2E8B57"/>
          </a:solidFill>
          <a:ln w="12700">
            <a:solidFill>
              <a:srgbClr val="2E8B57"/>
            </a:solidFill>
            <a:prstDash val="solid"/>
          </a:ln>
        </p:spPr>
      </p:sp>
      <p:sp>
        <p:nvSpPr>
          <p:cNvPr id="41" name="Text 38"/>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42" name="Text 39"/>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يُبْنَى مَشْرُوعٌ ضَخْمٌ عَلَى الأَطْرَافِ.</a:t>
            </a:r>
            <a:endParaRPr lang="ar-SA" sz="1700" dirty="0"/>
          </a:p>
        </p:txBody>
      </p:sp>
      <p:sp>
        <p:nvSpPr>
          <p:cNvPr id="43" name="Shape 40"/>
          <p:cNvSpPr/>
          <p:nvPr/>
        </p:nvSpPr>
        <p:spPr>
          <a:xfrm>
            <a:off x="6368796" y="3233928"/>
            <a:ext cx="256032" cy="256032"/>
          </a:xfrm>
          <a:prstGeom prst="ellipse">
            <a:avLst/>
          </a:prstGeom>
          <a:solidFill>
            <a:srgbClr val="C9CED6"/>
          </a:solidFill>
          <a:ln w="12700">
            <a:solidFill>
              <a:srgbClr val="C9CED6"/>
            </a:solidFill>
            <a:prstDash val="solid"/>
          </a:ln>
        </p:spPr>
      </p:sp>
      <p:sp>
        <p:nvSpPr>
          <p:cNvPr id="44" name="Text 41"/>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5" name="Text 42"/>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يَبْنِي مَشْرُوعٌ ضَخْمٌ نَفْسَهُ.</a:t>
            </a:r>
            <a:endParaRPr lang="ar-SA" sz="1700" dirty="0"/>
          </a:p>
        </p:txBody>
      </p:sp>
      <p:sp>
        <p:nvSpPr>
          <p:cNvPr id="46" name="Text 43"/>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The passive subject is nominative.</a:t>
            </a:r>
            <a:endParaRPr lang="en-US" sz="1050" dirty="0"/>
          </a:p>
        </p:txBody>
      </p:sp>
      <p:sp>
        <p:nvSpPr>
          <p:cNvPr id="47" name="Shape 44"/>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585216" y="4288536"/>
            <a:ext cx="310896" cy="310896"/>
          </a:xfrm>
          <a:prstGeom prst="ellipse">
            <a:avLst/>
          </a:prstGeom>
          <a:solidFill>
            <a:srgbClr val="1B3B6F"/>
          </a:solidFill>
          <a:ln w="12700">
            <a:solidFill>
              <a:srgbClr val="1B3B6F"/>
            </a:solidFill>
            <a:prstDash val="solid"/>
          </a:ln>
        </p:spPr>
      </p:sp>
      <p:sp>
        <p:nvSpPr>
          <p:cNvPr id="49" name="Text 4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7</a:t>
            </a:r>
            <a:endParaRPr lang="en-US" sz="1100" dirty="0"/>
          </a:p>
        </p:txBody>
      </p:sp>
      <p:sp>
        <p:nvSpPr>
          <p:cNvPr id="50" name="Text 47"/>
          <p:cNvSpPr txBox="1"/>
          <p:nvPr/>
        </p:nvSpPr>
        <p:spPr>
          <a:xfrm>
            <a:off x="950976"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Complete the goal clause:</a:t>
            </a:r>
            <a:endParaRPr lang="en-US" sz="1200" dirty="0"/>
          </a:p>
        </p:txBody>
      </p:sp>
      <p:sp>
        <p:nvSpPr>
          <p:cNvPr id="51" name="Text 48"/>
          <p:cNvSpPr txBox="1"/>
          <p:nvPr/>
        </p:nvSpPr>
        <p:spPr>
          <a:xfrm>
            <a:off x="3323295" y="4224528"/>
            <a:ext cx="2570013" cy="475488"/>
          </a:xfrm>
          <a:prstGeom prst="rect">
            <a:avLst/>
          </a:prstGeom>
          <a:noFill/>
          <a:ln/>
        </p:spPr>
        <p:txBody>
          <a:bodyPr wrap="square" lIns="0" tIns="0" rIns="0" bIns="0" rtlCol="0" anchor="ctr"/>
          <a:lstStyle/>
          <a:p>
            <a:pPr rtl="1" algn="r" indent="0" marL="0">
              <a:buNone/>
            </a:pPr>
            <a:r>
              <a:rPr lang="ar-SA" altLang="en-US" sz="1450" b="1" dirty="0">
                <a:solidFill>
                  <a:srgbClr val="1F2A37"/>
                </a:solidFill>
                <a:latin typeface="Amiri" pitchFamily="34" charset="0"/>
                <a:ea typeface="Amiri" pitchFamily="34" charset="-122"/>
                <a:cs typeface="Amiri" pitchFamily="34" charset="-120"/>
              </a:rPr>
              <a:t>يُخَطِّطُونَ لِكَيْ ___ المَدِينَةُ صَالِحَةً لِلْعَيْشِ.</a:t>
            </a:r>
            <a:endParaRPr lang="ar-SA" sz="1450" dirty="0"/>
          </a:p>
        </p:txBody>
      </p:sp>
      <p:sp>
        <p:nvSpPr>
          <p:cNvPr id="52" name="Shape 49"/>
          <p:cNvSpPr/>
          <p:nvPr/>
        </p:nvSpPr>
        <p:spPr>
          <a:xfrm>
            <a:off x="640080" y="4831080"/>
            <a:ext cx="256032" cy="256032"/>
          </a:xfrm>
          <a:prstGeom prst="ellipse">
            <a:avLst/>
          </a:prstGeom>
          <a:solidFill>
            <a:srgbClr val="C9CED6"/>
          </a:solidFill>
          <a:ln w="12700">
            <a:solidFill>
              <a:srgbClr val="C9CED6"/>
            </a:solidFill>
            <a:prstDash val="solid"/>
          </a:ln>
        </p:spPr>
      </p:sp>
      <p:sp>
        <p:nvSpPr>
          <p:cNvPr id="53" name="Text 50"/>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54" name="Text 51"/>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تَكُونُ</a:t>
            </a:r>
            <a:endParaRPr lang="ar-SA" sz="1700" dirty="0"/>
          </a:p>
        </p:txBody>
      </p:sp>
      <p:sp>
        <p:nvSpPr>
          <p:cNvPr id="55" name="Shape 52"/>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640080" y="5202936"/>
            <a:ext cx="256032" cy="256032"/>
          </a:xfrm>
          <a:prstGeom prst="ellipse">
            <a:avLst/>
          </a:prstGeom>
          <a:solidFill>
            <a:srgbClr val="2E8B57"/>
          </a:solidFill>
          <a:ln w="12700">
            <a:solidFill>
              <a:srgbClr val="2E8B57"/>
            </a:solidFill>
            <a:prstDash val="solid"/>
          </a:ln>
        </p:spPr>
      </p:sp>
      <p:sp>
        <p:nvSpPr>
          <p:cNvPr id="57" name="Text 54"/>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58" name="Text 55"/>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تَكُونَ</a:t>
            </a:r>
            <a:endParaRPr lang="ar-SA" sz="1700" dirty="0"/>
          </a:p>
        </p:txBody>
      </p:sp>
      <p:sp>
        <p:nvSpPr>
          <p:cNvPr id="59" name="Shape 56"/>
          <p:cNvSpPr/>
          <p:nvPr/>
        </p:nvSpPr>
        <p:spPr>
          <a:xfrm>
            <a:off x="640080" y="5574792"/>
            <a:ext cx="256032" cy="256032"/>
          </a:xfrm>
          <a:prstGeom prst="ellipse">
            <a:avLst/>
          </a:prstGeom>
          <a:solidFill>
            <a:srgbClr val="C9CED6"/>
          </a:solidFill>
          <a:ln w="12700">
            <a:solidFill>
              <a:srgbClr val="C9CED6"/>
            </a:solidFill>
            <a:prstDash val="solid"/>
          </a:ln>
        </p:spPr>
      </p:sp>
      <p:sp>
        <p:nvSpPr>
          <p:cNvPr id="60" name="Text 57"/>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1" name="Text 58"/>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كَانَتْ</a:t>
            </a:r>
            <a:endParaRPr lang="ar-SA" sz="1700" dirty="0"/>
          </a:p>
        </p:txBody>
      </p:sp>
      <p:sp>
        <p:nvSpPr>
          <p:cNvPr id="62" name="Text 59"/>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After </a:t>
            </a:r>
            <a:pPr algn="l" indent="0" marL="0">
              <a:buNone/>
            </a:pPr>
            <a:r>
              <a:rPr lang="ar-SA" altLang="en-US" sz="1350" dirty="0">
                <a:solidFill>
                  <a:srgbClr val="8A6D1E"/>
                </a:solidFill>
                <a:latin typeface="Amiri" pitchFamily="34" charset="0"/>
                <a:ea typeface="Amiri" pitchFamily="34" charset="-122"/>
                <a:cs typeface="Amiri" pitchFamily="34" charset="-120"/>
              </a:rPr>
              <a:t>لِكَي</a:t>
            </a:r>
            <a:pPr algn="l" indent="0" marL="0">
              <a:buNone/>
            </a:pPr>
            <a:r>
              <a:rPr lang="en-US" sz="1050" i="1" dirty="0">
                <a:solidFill>
                  <a:srgbClr val="8A6D1E"/>
                </a:solidFill>
                <a:latin typeface="Calibri" pitchFamily="34" charset="0"/>
                <a:ea typeface="Calibri" pitchFamily="34" charset="-122"/>
                <a:cs typeface="Calibri" pitchFamily="34" charset="-120"/>
              </a:rPr>
              <a:t> the verb takes a fatḥa: </a:t>
            </a:r>
            <a:pPr algn="l" indent="0" marL="0">
              <a:buNone/>
            </a:pPr>
            <a:r>
              <a:rPr lang="ar-SA" altLang="en-US" sz="1350" dirty="0">
                <a:solidFill>
                  <a:srgbClr val="8A6D1E"/>
                </a:solidFill>
                <a:latin typeface="Amiri" pitchFamily="34" charset="0"/>
                <a:ea typeface="Amiri" pitchFamily="34" charset="-122"/>
                <a:cs typeface="Amiri" pitchFamily="34" charset="-120"/>
              </a:rPr>
              <a:t>تَكُونَ</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63" name="Shape 60"/>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6313932" y="4288536"/>
            <a:ext cx="310896" cy="310896"/>
          </a:xfrm>
          <a:prstGeom prst="ellipse">
            <a:avLst/>
          </a:prstGeom>
          <a:solidFill>
            <a:srgbClr val="1B3B6F"/>
          </a:solidFill>
          <a:ln w="12700">
            <a:solidFill>
              <a:srgbClr val="1B3B6F"/>
            </a:solidFill>
            <a:prstDash val="solid"/>
          </a:ln>
        </p:spPr>
      </p:sp>
      <p:sp>
        <p:nvSpPr>
          <p:cNvPr id="65" name="Text 62"/>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8</a:t>
            </a:r>
            <a:endParaRPr lang="en-US" sz="1100" dirty="0"/>
          </a:p>
        </p:txBody>
      </p:sp>
      <p:sp>
        <p:nvSpPr>
          <p:cNvPr id="66" name="Text 63"/>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sentence packs a material, a planning verb and a goal?</a:t>
            </a:r>
            <a:endParaRPr lang="en-US" sz="1250" dirty="0"/>
          </a:p>
        </p:txBody>
      </p:sp>
      <p:sp>
        <p:nvSpPr>
          <p:cNvPr id="67" name="Shape 64"/>
          <p:cNvSpPr/>
          <p:nvPr/>
        </p:nvSpPr>
        <p:spPr>
          <a:xfrm>
            <a:off x="6368796" y="4831080"/>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9" name="Text 66"/>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المَدِينَةُ كَبِيرَةٌ.</a:t>
            </a:r>
            <a:endParaRPr lang="ar-SA" sz="1700" dirty="0"/>
          </a:p>
        </p:txBody>
      </p:sp>
      <p:sp>
        <p:nvSpPr>
          <p:cNvPr id="70" name="Shape 67"/>
          <p:cNvSpPr/>
          <p:nvPr/>
        </p:nvSpPr>
        <p:spPr>
          <a:xfrm>
            <a:off x="6368796" y="5202936"/>
            <a:ext cx="256032" cy="256032"/>
          </a:xfrm>
          <a:prstGeom prst="ellipse">
            <a:avLst/>
          </a:prstGeom>
          <a:solidFill>
            <a:srgbClr val="C9CED6"/>
          </a:solidFill>
          <a:ln w="12700">
            <a:solidFill>
              <a:srgbClr val="C9CED6"/>
            </a:solidFill>
            <a:prstDash val="solid"/>
          </a:ln>
        </p:spPr>
      </p:sp>
      <p:sp>
        <p:nvSpPr>
          <p:cNvPr id="71" name="Text 68"/>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2" name="Text 69"/>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أُحِبُّ المُدُنَ.</a:t>
            </a:r>
            <a:endParaRPr lang="ar-SA" sz="1700" dirty="0"/>
          </a:p>
        </p:txBody>
      </p:sp>
      <p:sp>
        <p:nvSpPr>
          <p:cNvPr id="73" name="Shape 70"/>
          <p:cNvSpPr/>
          <p:nvPr/>
        </p:nvSpPr>
        <p:spPr>
          <a:xfrm>
            <a:off x="6277356" y="5538216"/>
            <a:ext cx="5362956" cy="347472"/>
          </a:xfrm>
          <a:prstGeom prst="roundRect">
            <a:avLst>
              <a:gd name="adj" fmla="val 15789"/>
            </a:avLst>
          </a:prstGeom>
          <a:solidFill>
            <a:srgbClr val="E6F4EC"/>
          </a:solidFill>
          <a:ln w="9525">
            <a:solidFill>
              <a:srgbClr val="2E8B57"/>
            </a:solidFill>
            <a:prstDash val="solid"/>
          </a:ln>
        </p:spPr>
      </p:sp>
      <p:sp>
        <p:nvSpPr>
          <p:cNvPr id="74" name="Shape 71"/>
          <p:cNvSpPr/>
          <p:nvPr/>
        </p:nvSpPr>
        <p:spPr>
          <a:xfrm>
            <a:off x="6368796" y="5574792"/>
            <a:ext cx="256032" cy="256032"/>
          </a:xfrm>
          <a:prstGeom prst="ellipse">
            <a:avLst/>
          </a:prstGeom>
          <a:solidFill>
            <a:srgbClr val="2E8B57"/>
          </a:solidFill>
          <a:ln w="12700">
            <a:solidFill>
              <a:srgbClr val="2E8B57"/>
            </a:solidFill>
            <a:prstDash val="solid"/>
          </a:ln>
        </p:spPr>
      </p:sp>
      <p:sp>
        <p:nvSpPr>
          <p:cNvPr id="75" name="Text 72"/>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76" name="Text 73"/>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الحَيُّ مَبْنِيٌّ مِنَ الحَجَرِ، وَيُجَدِّدُهُ المَشْرُوعُ لِكَيْ يَكُونَ أَجْمَلَ.</a:t>
            </a:r>
            <a:endParaRPr lang="ar-SA" sz="1700" dirty="0"/>
          </a:p>
        </p:txBody>
      </p:sp>
      <p:sp>
        <p:nvSpPr>
          <p:cNvPr id="77" name="Text 74"/>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It combines </a:t>
            </a:r>
            <a:pPr algn="l" indent="0" marL="0">
              <a:buNone/>
            </a:pPr>
            <a:r>
              <a:rPr lang="ar-SA" altLang="en-US" sz="1350" dirty="0">
                <a:solidFill>
                  <a:srgbClr val="8A6D1E"/>
                </a:solidFill>
                <a:latin typeface="Amiri" pitchFamily="34" charset="0"/>
                <a:ea typeface="Amiri" pitchFamily="34" charset="-122"/>
                <a:cs typeface="Amiri" pitchFamily="34" charset="-120"/>
              </a:rPr>
              <a:t>مَبْنِيٌّ مِنْ</a:t>
            </a:r>
            <a:pPr algn="l" indent="0" marL="0">
              <a:buNone/>
            </a:pPr>
            <a:r>
              <a:rPr lang="en-US" sz="1050" i="1" dirty="0">
                <a:solidFill>
                  <a:srgbClr val="8A6D1E"/>
                </a:solidFill>
                <a:latin typeface="Calibri" pitchFamily="34" charset="0"/>
                <a:ea typeface="Calibri" pitchFamily="34" charset="-122"/>
                <a:cs typeface="Calibri" pitchFamily="34" charset="-120"/>
              </a:rPr>
              <a:t>, </a:t>
            </a:r>
            <a:pPr algn="l" indent="0" marL="0">
              <a:buNone/>
            </a:pPr>
            <a:r>
              <a:rPr lang="ar-SA" altLang="en-US" sz="1350" dirty="0">
                <a:solidFill>
                  <a:srgbClr val="8A6D1E"/>
                </a:solidFill>
                <a:latin typeface="Amiri" pitchFamily="34" charset="0"/>
                <a:ea typeface="Amiri" pitchFamily="34" charset="-122"/>
                <a:cs typeface="Amiri" pitchFamily="34" charset="-120"/>
              </a:rPr>
              <a:t>يُجَدِّدُ</a:t>
            </a:r>
            <a:pPr algn="l" indent="0" marL="0">
              <a:buNone/>
            </a:pPr>
            <a:r>
              <a:rPr lang="en-US" sz="1050" i="1" dirty="0">
                <a:solidFill>
                  <a:srgbClr val="8A6D1E"/>
                </a:solidFill>
                <a:latin typeface="Calibri" pitchFamily="34" charset="0"/>
                <a:ea typeface="Calibri" pitchFamily="34" charset="-122"/>
                <a:cs typeface="Calibri" pitchFamily="34" charset="-120"/>
              </a:rPr>
              <a:t> and a </a:t>
            </a:r>
            <a:pPr algn="l" indent="0" marL="0">
              <a:buNone/>
            </a:pPr>
            <a:r>
              <a:rPr lang="ar-SA" altLang="en-US" sz="1350" dirty="0">
                <a:solidFill>
                  <a:srgbClr val="8A6D1E"/>
                </a:solidFill>
                <a:latin typeface="Amiri" pitchFamily="34" charset="0"/>
                <a:ea typeface="Amiri" pitchFamily="34" charset="-122"/>
                <a:cs typeface="Amiri" pitchFamily="34" charset="-120"/>
              </a:rPr>
              <a:t>لِكَي</a:t>
            </a:r>
            <a:pPr algn="l" indent="0" marL="0">
              <a:buNone/>
            </a:pPr>
            <a:r>
              <a:rPr lang="en-US" sz="1050" i="1" dirty="0">
                <a:solidFill>
                  <a:srgbClr val="8A6D1E"/>
                </a:solidFill>
                <a:latin typeface="Calibri" pitchFamily="34" charset="0"/>
                <a:ea typeface="Calibri" pitchFamily="34" charset="-122"/>
                <a:cs typeface="Calibri" pitchFamily="34" charset="-120"/>
              </a:rPr>
              <a:t> goal.</a:t>
            </a:r>
            <a:endParaRPr lang="en-US" sz="1050" dirty="0"/>
          </a:p>
        </p:txBody>
      </p:sp>
      <p:sp>
        <p:nvSpPr>
          <p:cNvPr id="78" name="Text 7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31 / 49</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TC-L08 · Buildings &amp; Services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3 · Lesson 2 of 3</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34" charset="0"/>
                <a:ea typeface="Amiri" pitchFamily="34" charset="-122"/>
                <a:cs typeface="Amiri" pitchFamily="34" charset="-120"/>
              </a:rPr>
              <a:t>نَاطِحَاتُ السَّحَابِ مَبْنِيَّةٌ بِالزُّجَاجِ.</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ea typeface="Calibri" pitchFamily="34" charset="-122"/>
                <a:cs typeface="Calibri" pitchFamily="34" charset="-120"/>
              </a:rPr>
              <a:t>What is wrong? Which small word must come after </a:t>
            </a:r>
            <a:pPr algn="l" indent="0" marL="0">
              <a:buNone/>
            </a:pPr>
            <a:r>
              <a:rPr lang="ar-SA" altLang="en-US" sz="1700" dirty="0">
                <a:solidFill>
                  <a:srgbClr val="5A6472"/>
                </a:solidFill>
                <a:latin typeface="Amiri" pitchFamily="34" charset="0"/>
                <a:ea typeface="Amiri" pitchFamily="34" charset="-122"/>
                <a:cs typeface="Amiri" pitchFamily="34" charset="-120"/>
              </a:rPr>
              <a:t>مَبْنِيَّةٌ</a:t>
            </a:r>
            <a:pPr algn="l" indent="0" marL="0">
              <a:buNone/>
            </a:pPr>
            <a:r>
              <a:rPr lang="en-US" sz="1300" i="1" dirty="0">
                <a:solidFill>
                  <a:srgbClr val="5A6472"/>
                </a:solidFill>
                <a:latin typeface="Calibri" pitchFamily="34" charset="0"/>
                <a:ea typeface="Calibri" pitchFamily="34" charset="-122"/>
                <a:cs typeface="Calibri" pitchFamily="34" charset="-120"/>
              </a:rPr>
              <a:t>?</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34" charset="0"/>
                <a:ea typeface="Amiri" pitchFamily="34" charset="-122"/>
                <a:cs typeface="Amiri" pitchFamily="34" charset="-120"/>
              </a:rPr>
              <a:t>يُحَوِّلُ المَشْرُوعُ المَطَارَ حَدِيقَةً.</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ea typeface="Calibri" pitchFamily="34" charset="-122"/>
                <a:cs typeface="Calibri" pitchFamily="34" charset="-120"/>
              </a:rPr>
              <a:t>What is wrong? Which small word must come after </a:t>
            </a:r>
            <a:pPr algn="l" indent="0" marL="0">
              <a:buNone/>
            </a:pPr>
            <a:r>
              <a:rPr lang="ar-SA" altLang="en-US" sz="1700" dirty="0">
                <a:solidFill>
                  <a:srgbClr val="5A6472"/>
                </a:solidFill>
                <a:latin typeface="Amiri" pitchFamily="34" charset="0"/>
                <a:ea typeface="Amiri" pitchFamily="34" charset="-122"/>
                <a:cs typeface="Amiri" pitchFamily="34" charset="-120"/>
              </a:rPr>
              <a:t>يُحَوِّلُ</a:t>
            </a:r>
            <a:pPr algn="l" indent="0" marL="0">
              <a:buNone/>
            </a:pPr>
            <a:r>
              <a:rPr lang="en-US" sz="1300" i="1" dirty="0">
                <a:solidFill>
                  <a:srgbClr val="5A6472"/>
                </a:solidFill>
                <a:latin typeface="Calibri" pitchFamily="34" charset="0"/>
                <a:ea typeface="Calibri" pitchFamily="34" charset="-122"/>
                <a:cs typeface="Calibri" pitchFamily="34" charset="-120"/>
              </a:rPr>
              <a:t> … ?</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34" charset="0"/>
                <a:ea typeface="Amiri" pitchFamily="34" charset="-122"/>
                <a:cs typeface="Amiri" pitchFamily="34" charset="-120"/>
              </a:rPr>
              <a:t>يُخَطِّطُونَ لِكَيْ تَكُونُ المَدِينَةُ صَالِحَةً.</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ea typeface="Calibri" pitchFamily="34" charset="-122"/>
                <a:cs typeface="Calibri" pitchFamily="34" charset="-120"/>
              </a:rPr>
              <a:t>What is wrong? After </a:t>
            </a:r>
            <a:pPr algn="l" indent="0" marL="0">
              <a:buNone/>
            </a:pPr>
            <a:r>
              <a:rPr lang="ar-SA" altLang="en-US" sz="1700" dirty="0">
                <a:solidFill>
                  <a:srgbClr val="5A6472"/>
                </a:solidFill>
                <a:latin typeface="Amiri" pitchFamily="34" charset="0"/>
                <a:ea typeface="Amiri" pitchFamily="34" charset="-122"/>
                <a:cs typeface="Amiri" pitchFamily="34" charset="-120"/>
              </a:rPr>
              <a:t>لِكَيْ</a:t>
            </a:r>
            <a:pPr algn="l" indent="0" marL="0">
              <a:buNone/>
            </a:pPr>
            <a:r>
              <a:rPr lang="en-US" sz="1300" i="1" dirty="0">
                <a:solidFill>
                  <a:srgbClr val="5A6472"/>
                </a:solidFill>
                <a:latin typeface="Calibri" pitchFamily="34" charset="0"/>
                <a:ea typeface="Calibri" pitchFamily="34" charset="-122"/>
                <a:cs typeface="Calibri" pitchFamily="34" charset="-120"/>
              </a:rPr>
              <a:t>, what is the last vowel on the verb?</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32 / 49</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TC-L08 · Buildings &amp; Services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3 · Lesson 2 of 3</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34" charset="0"/>
                <a:ea typeface="Amiri" pitchFamily="34" charset="-122"/>
                <a:cs typeface="Amiri" pitchFamily="34" charset="-120"/>
              </a:rPr>
              <a:t>نَاطِحَاتُ السَّحَابِ مَبْنِيَّةٌ بِالزُّجَاجِ.</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ea typeface="Calibri" pitchFamily="34" charset="-122"/>
                <a:cs typeface="Calibri" pitchFamily="34" charset="-120"/>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34" charset="0"/>
                <a:ea typeface="Amiri" pitchFamily="34" charset="-122"/>
                <a:cs typeface="Amiri" pitchFamily="34" charset="-120"/>
              </a:rPr>
              <a:t>نَاطِحَاتُ السَّحَابِ مَبْنِيَّةٌ مِنَ الزُّجَاجِ.</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34" charset="0"/>
                <a:ea typeface="Amiri" pitchFamily="34" charset="-122"/>
                <a:cs typeface="Amiri" pitchFamily="34" charset="-120"/>
              </a:rPr>
              <a:t>مَبْنِيٌّ</a:t>
            </a:r>
            <a:pPr algn="l" indent="0" marL="0">
              <a:buNone/>
            </a:pPr>
            <a:r>
              <a:rPr lang="en-US" sz="1150" b="1" dirty="0">
                <a:solidFill>
                  <a:srgbClr val="1B3B6F"/>
                </a:solidFill>
                <a:latin typeface="Calibri" pitchFamily="34" charset="0"/>
                <a:ea typeface="Calibri" pitchFamily="34" charset="-122"/>
                <a:cs typeface="Calibri" pitchFamily="34" charset="-120"/>
              </a:rPr>
              <a:t> is fixed with </a:t>
            </a:r>
            <a:pPr algn="l" indent="0" marL="0">
              <a:buNone/>
            </a:pPr>
            <a:r>
              <a:rPr lang="ar-SA" altLang="en-US" sz="1500" b="1" dirty="0">
                <a:solidFill>
                  <a:srgbClr val="1B3B6F"/>
                </a:solidFill>
                <a:latin typeface="Amiri" pitchFamily="34" charset="0"/>
                <a:ea typeface="Amiri" pitchFamily="34" charset="-122"/>
                <a:cs typeface="Amiri" pitchFamily="34" charset="-120"/>
              </a:rPr>
              <a:t>مِنْ</a:t>
            </a:r>
            <a:pPr algn="l" indent="0" marL="0">
              <a:buNone/>
            </a:pPr>
            <a:r>
              <a:rPr lang="en-US" sz="1150" b="1" dirty="0">
                <a:solidFill>
                  <a:srgbClr val="1B3B6F"/>
                </a:solidFill>
                <a:latin typeface="Calibri" pitchFamily="34" charset="0"/>
                <a:ea typeface="Calibri" pitchFamily="34" charset="-122"/>
                <a:cs typeface="Calibri" pitchFamily="34" charset="-120"/>
              </a:rPr>
              <a:t>.</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34" charset="0"/>
                <a:ea typeface="Amiri" pitchFamily="34" charset="-122"/>
                <a:cs typeface="Amiri" pitchFamily="34" charset="-120"/>
              </a:rPr>
              <a:t>يُحَوِّلُ المَشْرُوعُ المَطَارَ حَدِيقَةً.</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ea typeface="Calibri" pitchFamily="34" charset="-122"/>
                <a:cs typeface="Calibri" pitchFamily="34" charset="-120"/>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34" charset="0"/>
                <a:ea typeface="Amiri" pitchFamily="34" charset="-122"/>
                <a:cs typeface="Amiri" pitchFamily="34" charset="-120"/>
              </a:rPr>
              <a:t>يُحَوِّلُ المَشْرُوعُ المَطَارَ إِلَى حَدِيقَةٍ.</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34" charset="0"/>
                <a:ea typeface="Amiri" pitchFamily="34" charset="-122"/>
                <a:cs typeface="Amiri" pitchFamily="34" charset="-120"/>
              </a:rPr>
              <a:t>يُحَوِّلُ</a:t>
            </a:r>
            <a:pPr algn="l" indent="0" marL="0">
              <a:buNone/>
            </a:pPr>
            <a:r>
              <a:rPr lang="en-US" sz="1150" b="1" dirty="0">
                <a:solidFill>
                  <a:srgbClr val="1B3B6F"/>
                </a:solidFill>
                <a:latin typeface="Calibri" pitchFamily="34" charset="0"/>
                <a:ea typeface="Calibri" pitchFamily="34" charset="-122"/>
                <a:cs typeface="Calibri" pitchFamily="34" charset="-120"/>
              </a:rPr>
              <a:t> is fixed with </a:t>
            </a:r>
            <a:pPr algn="l" indent="0" marL="0">
              <a:buNone/>
            </a:pPr>
            <a:r>
              <a:rPr lang="ar-SA" altLang="en-US" sz="1500" b="1" dirty="0">
                <a:solidFill>
                  <a:srgbClr val="1B3B6F"/>
                </a:solidFill>
                <a:latin typeface="Amiri" pitchFamily="34" charset="0"/>
                <a:ea typeface="Amiri" pitchFamily="34" charset="-122"/>
                <a:cs typeface="Amiri" pitchFamily="34" charset="-120"/>
              </a:rPr>
              <a:t>إِلَى</a:t>
            </a:r>
            <a:pPr algn="l" indent="0" marL="0">
              <a:buNone/>
            </a:pPr>
            <a:r>
              <a:rPr lang="en-US" sz="1150" b="1" dirty="0">
                <a:solidFill>
                  <a:srgbClr val="1B3B6F"/>
                </a:solidFill>
                <a:latin typeface="Calibri" pitchFamily="34" charset="0"/>
                <a:ea typeface="Calibri" pitchFamily="34" charset="-122"/>
                <a:cs typeface="Calibri" pitchFamily="34" charset="-120"/>
              </a:rPr>
              <a:t>.</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34" charset="0"/>
                <a:ea typeface="Amiri" pitchFamily="34" charset="-122"/>
                <a:cs typeface="Amiri" pitchFamily="34" charset="-120"/>
              </a:rPr>
              <a:t>يُخَطِّطُونَ لِكَيْ تَكُونُ المَدِينَةُ صَالِحَةً.</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ea typeface="Calibri" pitchFamily="34" charset="-122"/>
                <a:cs typeface="Calibri" pitchFamily="34" charset="-120"/>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34" charset="0"/>
                <a:ea typeface="Amiri" pitchFamily="34" charset="-122"/>
                <a:cs typeface="Amiri" pitchFamily="34" charset="-120"/>
              </a:rPr>
              <a:t>يُخَطِّطُونَ لِكَيْ تَكُونَ المَدِينَةُ صَالِحَةً.</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ea typeface="Calibri" pitchFamily="34" charset="-122"/>
                <a:cs typeface="Calibri" pitchFamily="34" charset="-120"/>
              </a:rPr>
              <a:t>After </a:t>
            </a:r>
            <a:pPr algn="l" indent="0" marL="0">
              <a:buNone/>
            </a:pPr>
            <a:r>
              <a:rPr lang="ar-SA" altLang="en-US" sz="1500" b="1" dirty="0">
                <a:solidFill>
                  <a:srgbClr val="1B3B6F"/>
                </a:solidFill>
                <a:latin typeface="Amiri" pitchFamily="34" charset="0"/>
                <a:ea typeface="Amiri" pitchFamily="34" charset="-122"/>
                <a:cs typeface="Amiri" pitchFamily="34" charset="-120"/>
              </a:rPr>
              <a:t>لِكَي</a:t>
            </a:r>
            <a:pPr algn="l" indent="0" marL="0">
              <a:buNone/>
            </a:pPr>
            <a:r>
              <a:rPr lang="en-US" sz="1150" b="1" dirty="0">
                <a:solidFill>
                  <a:srgbClr val="1B3B6F"/>
                </a:solidFill>
                <a:latin typeface="Calibri" pitchFamily="34" charset="0"/>
                <a:ea typeface="Calibri" pitchFamily="34" charset="-122"/>
                <a:cs typeface="Calibri" pitchFamily="34" charset="-120"/>
              </a:rPr>
              <a:t> the verb is subjunctive: </a:t>
            </a:r>
            <a:pPr algn="l" indent="0" marL="0">
              <a:buNone/>
            </a:pPr>
            <a:r>
              <a:rPr lang="ar-SA" altLang="en-US" sz="1500" b="1" dirty="0">
                <a:solidFill>
                  <a:srgbClr val="1B3B6F"/>
                </a:solidFill>
                <a:latin typeface="Amiri" pitchFamily="34" charset="0"/>
                <a:ea typeface="Amiri" pitchFamily="34" charset="-122"/>
                <a:cs typeface="Amiri" pitchFamily="34" charset="-120"/>
              </a:rPr>
              <a:t>تَكُونَ</a:t>
            </a:r>
            <a:pPr algn="l" indent="0" marL="0">
              <a:buNone/>
            </a:pPr>
            <a:r>
              <a:rPr lang="en-US" sz="1150" b="1" dirty="0">
                <a:solidFill>
                  <a:srgbClr val="1B3B6F"/>
                </a:solidFill>
                <a:latin typeface="Calibri" pitchFamily="34" charset="0"/>
                <a:ea typeface="Calibri" pitchFamily="34" charset="-122"/>
                <a:cs typeface="Calibri" pitchFamily="34" charset="-120"/>
              </a:rPr>
              <a:t>.</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33 / 49</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TC-L08 · Buildings &amp; Services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LISTENING · TEACHER READS ALOUD TWICE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Listening: a city of the future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3 · Lesson 2 of 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distinguishes Dubai?</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 unique mix of heritage and modern architecture</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Only skyscrapers</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Only old houses</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is the old part built from?</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Glass and steel</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Concrete only</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Clay and wood</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 development authorities do with old industrial areas?</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Demolish them entirely</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Leave them empty</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Convert them into green spaces</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is the counterfactual (Type 2)?</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Had planning been more sustainable, cities would be less crowded</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Planning makes no difference</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Cities cannot be planned</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 engineers plan for?</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To make cities bigger only</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So that cities become liveable</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Nothing</a:t>
            </a:r>
            <a:endParaRPr lang="en-US" sz="1250" dirty="0"/>
          </a:p>
        </p:txBody>
      </p:sp>
      <p:sp>
        <p:nvSpPr>
          <p:cNvPr id="80" name="Shape 7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82" name="Text 7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CORE</a:t>
            </a:r>
            <a:endParaRPr lang="en-US" sz="850" dirty="0"/>
          </a:p>
        </p:txBody>
      </p:sp>
      <p:sp>
        <p:nvSpPr>
          <p:cNvPr id="83" name="Text 8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ea typeface="Calibri" pitchFamily="34" charset="-122"/>
                <a:cs typeface="Calibri" pitchFamily="34" charset="-120"/>
              </a:rPr>
              <a:t>Listen twice. Core: questions 1–3 — listen for </a:t>
            </a:r>
            <a:pPr algn="l" indent="0" marL="0">
              <a:buNone/>
            </a:pPr>
            <a:r>
              <a:rPr lang="ar-SA" altLang="en-US" sz="1650" dirty="0">
                <a:solidFill>
                  <a:srgbClr val="1E6B52"/>
                </a:solidFill>
                <a:latin typeface="Amiri" pitchFamily="34" charset="0"/>
                <a:ea typeface="Amiri" pitchFamily="34" charset="-122"/>
                <a:cs typeface="Amiri" pitchFamily="34" charset="-120"/>
              </a:rPr>
              <a:t>دُبَيَّ</a:t>
            </a:r>
            <a:pPr algn="l" indent="0" marL="0">
              <a:buNone/>
            </a:pPr>
            <a:r>
              <a:rPr lang="en-US" sz="1250" dirty="0">
                <a:solidFill>
                  <a:srgbClr val="1E6B52"/>
                </a:solidFill>
                <a:latin typeface="Calibri" pitchFamily="34" charset="0"/>
                <a:ea typeface="Calibri" pitchFamily="34" charset="-122"/>
                <a:cs typeface="Calibri" pitchFamily="34" charset="-120"/>
              </a:rPr>
              <a:t> (Dubai), </a:t>
            </a:r>
            <a:pPr algn="l" indent="0" marL="0">
              <a:buNone/>
            </a:pPr>
            <a:r>
              <a:rPr lang="ar-SA" altLang="en-US" sz="1650" dirty="0">
                <a:solidFill>
                  <a:srgbClr val="1E6B52"/>
                </a:solidFill>
                <a:latin typeface="Amiri" pitchFamily="34" charset="0"/>
                <a:ea typeface="Amiri" pitchFamily="34" charset="-122"/>
                <a:cs typeface="Amiri" pitchFamily="34" charset="-120"/>
              </a:rPr>
              <a:t>الطِّينِ وَالخَشَبِ</a:t>
            </a:r>
            <a:pPr algn="l" indent="0" marL="0">
              <a:buNone/>
            </a:pPr>
            <a:r>
              <a:rPr lang="en-US" sz="1250" dirty="0">
                <a:solidFill>
                  <a:srgbClr val="1E6B52"/>
                </a:solidFill>
                <a:latin typeface="Calibri" pitchFamily="34" charset="0"/>
                <a:ea typeface="Calibri" pitchFamily="34" charset="-122"/>
                <a:cs typeface="Calibri" pitchFamily="34" charset="-120"/>
              </a:rPr>
              <a:t> (clay and wood) and </a:t>
            </a:r>
            <a:pPr algn="l" indent="0" marL="0">
              <a:buNone/>
            </a:pPr>
            <a:r>
              <a:rPr lang="ar-SA" altLang="en-US" sz="1650" dirty="0">
                <a:solidFill>
                  <a:srgbClr val="1E6B52"/>
                </a:solidFill>
                <a:latin typeface="Amiri" pitchFamily="34" charset="0"/>
                <a:ea typeface="Amiri" pitchFamily="34" charset="-122"/>
                <a:cs typeface="Amiri" pitchFamily="34" charset="-120"/>
              </a:rPr>
              <a:t>مَسَاحَاتٍ خَضْرَاءَ</a:t>
            </a:r>
            <a:pPr algn="l" indent="0" marL="0">
              <a:buNone/>
            </a:pPr>
            <a:r>
              <a:rPr lang="en-US" sz="1250" dirty="0">
                <a:solidFill>
                  <a:srgbClr val="1E6B52"/>
                </a:solidFill>
                <a:latin typeface="Calibri" pitchFamily="34" charset="0"/>
                <a:ea typeface="Calibri" pitchFamily="34" charset="-122"/>
                <a:cs typeface="Calibri" pitchFamily="34" charset="-120"/>
              </a:rPr>
              <a:t> (green spaces).</a:t>
            </a:r>
            <a:endParaRPr lang="en-US" sz="125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34 / 49</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TC-L08 · Buildings &amp; Services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LISTENING SUPPORT · READ ALONG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ea typeface="Cambria" pitchFamily="34" charset="-122"/>
                <a:cs typeface="Cambria" pitchFamily="34" charset="-120"/>
              </a:rPr>
              <a:t>The script — read along with English</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نَصُّ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3 · Lesson 2 of 3</a:t>
            </a:r>
            <a:endParaRPr lang="en-US" sz="850" dirty="0"/>
          </a:p>
        </p:txBody>
      </p:sp>
      <p:sp>
        <p:nvSpPr>
          <p:cNvPr id="15" name="Shape 12"/>
          <p:cNvSpPr/>
          <p:nvPr/>
        </p:nvSpPr>
        <p:spPr>
          <a:xfrm>
            <a:off x="457200" y="1810512"/>
            <a:ext cx="11274552" cy="579991"/>
          </a:xfrm>
          <a:prstGeom prst="roundRect">
            <a:avLst>
              <a:gd name="adj" fmla="val 7883"/>
            </a:avLst>
          </a:prstGeom>
          <a:solidFill>
            <a:srgbClr val="FFFFFF"/>
          </a:solidFill>
          <a:ln w="9525">
            <a:solidFill>
              <a:srgbClr val="D8D0BF"/>
            </a:solidFill>
            <a:prstDash val="solid"/>
          </a:ln>
        </p:spPr>
      </p:sp>
      <p:sp>
        <p:nvSpPr>
          <p:cNvPr id="16" name="Text 13"/>
          <p:cNvSpPr txBox="1"/>
          <p:nvPr/>
        </p:nvSpPr>
        <p:spPr>
          <a:xfrm>
            <a:off x="4937760" y="1828800"/>
            <a:ext cx="6675120" cy="543415"/>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تَتَمَيَّزُ مَدِينَةُ دُبَيَّ بِمَزِيجٍ فَرِيدٍ مِنَ العِمَارَةِ التُّرَاثِيَّةِ وَالمِعْمَارِ الحَدِيثِ.</a:t>
            </a:r>
            <a:endParaRPr lang="ar-SA" sz="2000" dirty="0"/>
          </a:p>
        </p:txBody>
      </p:sp>
      <p:sp>
        <p:nvSpPr>
          <p:cNvPr id="17" name="Text 14"/>
          <p:cNvSpPr txBox="1"/>
          <p:nvPr/>
        </p:nvSpPr>
        <p:spPr>
          <a:xfrm>
            <a:off x="640080" y="1828800"/>
            <a:ext cx="4160520" cy="543415"/>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Dubai is known for a unique mix of heritage and modern architecture.</a:t>
            </a:r>
            <a:endParaRPr lang="en-US" sz="1250" dirty="0"/>
          </a:p>
        </p:txBody>
      </p:sp>
      <p:sp>
        <p:nvSpPr>
          <p:cNvPr id="18" name="Shape 15"/>
          <p:cNvSpPr/>
          <p:nvPr/>
        </p:nvSpPr>
        <p:spPr>
          <a:xfrm>
            <a:off x="457200" y="2463655"/>
            <a:ext cx="11274552" cy="579991"/>
          </a:xfrm>
          <a:prstGeom prst="roundRect">
            <a:avLst>
              <a:gd name="adj" fmla="val 7883"/>
            </a:avLst>
          </a:prstGeom>
          <a:solidFill>
            <a:srgbClr val="F4F1EA"/>
          </a:solidFill>
          <a:ln w="9525">
            <a:solidFill>
              <a:srgbClr val="D8D0BF"/>
            </a:solidFill>
            <a:prstDash val="solid"/>
          </a:ln>
        </p:spPr>
      </p:sp>
      <p:sp>
        <p:nvSpPr>
          <p:cNvPr id="19" name="Text 16"/>
          <p:cNvSpPr txBox="1"/>
          <p:nvPr/>
        </p:nvSpPr>
        <p:spPr>
          <a:xfrm>
            <a:off x="4937760" y="2481943"/>
            <a:ext cx="6675120" cy="543415"/>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بُنِيَ الجُزْءُ القَدِيمُ مِنَ الطِّينِ وَالخَشَبِ، فِي حِينِ أَنَّ نَاطِحَاتِ السَّحَابِ مَبْنِيَّةٌ مِنَ الزُّجَاجِ وَالصُّلْبِ.</a:t>
            </a:r>
            <a:endParaRPr lang="ar-SA" sz="1600" dirty="0"/>
          </a:p>
        </p:txBody>
      </p:sp>
      <p:sp>
        <p:nvSpPr>
          <p:cNvPr id="20" name="Text 17"/>
          <p:cNvSpPr txBox="1"/>
          <p:nvPr/>
        </p:nvSpPr>
        <p:spPr>
          <a:xfrm>
            <a:off x="640080" y="2481943"/>
            <a:ext cx="4160520" cy="543415"/>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The old part was built of clay and wood, while the skyscrapers are built of glass and steel.</a:t>
            </a:r>
            <a:endParaRPr lang="en-US" sz="1250" dirty="0"/>
          </a:p>
        </p:txBody>
      </p:sp>
      <p:sp>
        <p:nvSpPr>
          <p:cNvPr id="21" name="Shape 18"/>
          <p:cNvSpPr/>
          <p:nvPr/>
        </p:nvSpPr>
        <p:spPr>
          <a:xfrm>
            <a:off x="457200" y="3116798"/>
            <a:ext cx="11274552" cy="579991"/>
          </a:xfrm>
          <a:prstGeom prst="roundRect">
            <a:avLst>
              <a:gd name="adj" fmla="val 7883"/>
            </a:avLst>
          </a:prstGeom>
          <a:solidFill>
            <a:srgbClr val="FFFFFF"/>
          </a:solidFill>
          <a:ln w="9525">
            <a:solidFill>
              <a:srgbClr val="D8D0BF"/>
            </a:solidFill>
            <a:prstDash val="solid"/>
          </a:ln>
        </p:spPr>
      </p:sp>
      <p:sp>
        <p:nvSpPr>
          <p:cNvPr id="22" name="Text 19"/>
          <p:cNvSpPr txBox="1"/>
          <p:nvPr/>
        </p:nvSpPr>
        <p:spPr>
          <a:xfrm>
            <a:off x="4937760" y="3135086"/>
            <a:ext cx="6675120" cy="543415"/>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تُعِيدُ هَيْئَاتُ التَّطْوِيرِ تَصْمِيمَ أَحْيَاءٍ كَامِلَةٍ، وَتُحَوِّلُ مَنَاطِقَ صِنَاعِيَّةً قَدِيمَةً إِلَى مَسَاحَاتٍ خَضْرَاءَ.</a:t>
            </a:r>
            <a:endParaRPr lang="ar-SA" sz="1600" dirty="0"/>
          </a:p>
        </p:txBody>
      </p:sp>
      <p:sp>
        <p:nvSpPr>
          <p:cNvPr id="23" name="Text 20"/>
          <p:cNvSpPr txBox="1"/>
          <p:nvPr/>
        </p:nvSpPr>
        <p:spPr>
          <a:xfrm>
            <a:off x="640080" y="3135086"/>
            <a:ext cx="4160520" cy="543415"/>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Development authorities redesign whole districts and turn old industrial areas into green spaces.</a:t>
            </a:r>
            <a:endParaRPr lang="en-US" sz="1250" dirty="0"/>
          </a:p>
        </p:txBody>
      </p:sp>
      <p:sp>
        <p:nvSpPr>
          <p:cNvPr id="24" name="Shape 21"/>
          <p:cNvSpPr/>
          <p:nvPr/>
        </p:nvSpPr>
        <p:spPr>
          <a:xfrm>
            <a:off x="457200" y="3769941"/>
            <a:ext cx="11274552" cy="579991"/>
          </a:xfrm>
          <a:prstGeom prst="roundRect">
            <a:avLst>
              <a:gd name="adj" fmla="val 7883"/>
            </a:avLst>
          </a:prstGeom>
          <a:solidFill>
            <a:srgbClr val="F4F1EA"/>
          </a:solidFill>
          <a:ln w="9525">
            <a:solidFill>
              <a:srgbClr val="D8D0BF"/>
            </a:solidFill>
            <a:prstDash val="solid"/>
          </a:ln>
        </p:spPr>
      </p:sp>
      <p:sp>
        <p:nvSpPr>
          <p:cNvPr id="25" name="Text 22"/>
          <p:cNvSpPr txBox="1"/>
          <p:nvPr/>
        </p:nvSpPr>
        <p:spPr>
          <a:xfrm>
            <a:off x="4937760" y="3788229"/>
            <a:ext cx="6675120" cy="543415"/>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غَيْرَ أَنَّ التَّوَسُّعَ السَّرِيعَ يُؤَدِّي إِلَى ازْدِحَامٍ مُرُورِيٍّ.</a:t>
            </a:r>
            <a:endParaRPr lang="ar-SA" sz="2000" dirty="0"/>
          </a:p>
        </p:txBody>
      </p:sp>
      <p:sp>
        <p:nvSpPr>
          <p:cNvPr id="26" name="Text 23"/>
          <p:cNvSpPr txBox="1"/>
          <p:nvPr/>
        </p:nvSpPr>
        <p:spPr>
          <a:xfrm>
            <a:off x="640080" y="3788229"/>
            <a:ext cx="4160520" cy="543415"/>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However, rapid growth leads to traffic congestion.</a:t>
            </a:r>
            <a:endParaRPr lang="en-US" sz="1250" dirty="0"/>
          </a:p>
        </p:txBody>
      </p:sp>
      <p:sp>
        <p:nvSpPr>
          <p:cNvPr id="27" name="Shape 24"/>
          <p:cNvSpPr/>
          <p:nvPr/>
        </p:nvSpPr>
        <p:spPr>
          <a:xfrm>
            <a:off x="457200" y="4423083"/>
            <a:ext cx="11274552" cy="579991"/>
          </a:xfrm>
          <a:prstGeom prst="roundRect">
            <a:avLst>
              <a:gd name="adj" fmla="val 7883"/>
            </a:avLst>
          </a:prstGeom>
          <a:solidFill>
            <a:srgbClr val="FFFFFF"/>
          </a:solidFill>
          <a:ln w="9525">
            <a:solidFill>
              <a:srgbClr val="D8D0BF"/>
            </a:solidFill>
            <a:prstDash val="solid"/>
          </a:ln>
        </p:spPr>
      </p:sp>
      <p:sp>
        <p:nvSpPr>
          <p:cNvPr id="28" name="Text 25"/>
          <p:cNvSpPr txBox="1"/>
          <p:nvPr/>
        </p:nvSpPr>
        <p:spPr>
          <a:xfrm>
            <a:off x="4937760" y="4441371"/>
            <a:ext cx="6675120" cy="543415"/>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إِذَا وَاصَلَتِ المُدُنُ التَّوَسُّعَ دُونَ تَخْطِيطٍ، سَتُعَانِي مِنْ تَلَوُّثٍ ضَوْضَائِيٍّ.</a:t>
            </a:r>
            <a:endParaRPr lang="ar-SA" sz="2000" dirty="0"/>
          </a:p>
        </p:txBody>
      </p:sp>
      <p:sp>
        <p:nvSpPr>
          <p:cNvPr id="29" name="Text 26"/>
          <p:cNvSpPr txBox="1"/>
          <p:nvPr/>
        </p:nvSpPr>
        <p:spPr>
          <a:xfrm>
            <a:off x="640080" y="4441371"/>
            <a:ext cx="4160520" cy="543415"/>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If cities keep growing without planning, they will suffer from noise pollution.</a:t>
            </a:r>
            <a:endParaRPr lang="en-US" sz="1250" dirty="0"/>
          </a:p>
        </p:txBody>
      </p:sp>
      <p:sp>
        <p:nvSpPr>
          <p:cNvPr id="30" name="Shape 27"/>
          <p:cNvSpPr/>
          <p:nvPr/>
        </p:nvSpPr>
        <p:spPr>
          <a:xfrm>
            <a:off x="457200" y="5076226"/>
            <a:ext cx="11274552" cy="579991"/>
          </a:xfrm>
          <a:prstGeom prst="roundRect">
            <a:avLst>
              <a:gd name="adj" fmla="val 7883"/>
            </a:avLst>
          </a:prstGeom>
          <a:solidFill>
            <a:srgbClr val="F4F1EA"/>
          </a:solidFill>
          <a:ln w="9525">
            <a:solidFill>
              <a:srgbClr val="D8D0BF"/>
            </a:solidFill>
            <a:prstDash val="solid"/>
          </a:ln>
        </p:spPr>
      </p:sp>
      <p:sp>
        <p:nvSpPr>
          <p:cNvPr id="31" name="Text 28"/>
          <p:cNvSpPr txBox="1"/>
          <p:nvPr/>
        </p:nvSpPr>
        <p:spPr>
          <a:xfrm>
            <a:off x="4937760" y="5094514"/>
            <a:ext cx="6675120" cy="543415"/>
          </a:xfrm>
          <a:prstGeom prst="rect">
            <a:avLst/>
          </a:prstGeom>
          <a:noFill/>
          <a:ln/>
        </p:spPr>
        <p:txBody>
          <a:bodyPr wrap="square" lIns="0" tIns="0" rIns="0" bIns="0" rtlCol="0" anchor="ctr"/>
          <a:lstStyle/>
          <a:p>
            <a:pPr rtl="1" algn="r" indent="0" marL="0">
              <a:buNone/>
            </a:pPr>
            <a:r>
              <a:rPr lang="ar-SA" altLang="en-US" sz="1950" b="1" dirty="0">
                <a:solidFill>
                  <a:srgbClr val="1B3B6F"/>
                </a:solidFill>
                <a:latin typeface="Amiri" pitchFamily="34" charset="0"/>
                <a:ea typeface="Amiri" pitchFamily="34" charset="-122"/>
                <a:cs typeface="Amiri" pitchFamily="34" charset="-120"/>
              </a:rPr>
              <a:t>وَلَوْ كَانَ التَّخْطِيطُ أَكْثَرَ اسْتِدَامَةً مُنْذُ البِدَايَةِ، لَكَانَتِ المُدُنُ أَقَلَّ اكْتِظَاظًا.</a:t>
            </a:r>
            <a:endParaRPr lang="ar-SA" sz="1950" dirty="0"/>
          </a:p>
        </p:txBody>
      </p:sp>
      <p:sp>
        <p:nvSpPr>
          <p:cNvPr id="32" name="Text 29"/>
          <p:cNvSpPr txBox="1"/>
          <p:nvPr/>
        </p:nvSpPr>
        <p:spPr>
          <a:xfrm>
            <a:off x="640080" y="5094514"/>
            <a:ext cx="4160520" cy="543415"/>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Had planning been more sustainable from the start, cities would be less overcrowded.</a:t>
            </a:r>
            <a:endParaRPr lang="en-US" sz="1250" dirty="0"/>
          </a:p>
        </p:txBody>
      </p:sp>
      <p:sp>
        <p:nvSpPr>
          <p:cNvPr id="33" name="Shape 30"/>
          <p:cNvSpPr/>
          <p:nvPr/>
        </p:nvSpPr>
        <p:spPr>
          <a:xfrm>
            <a:off x="457200" y="5729369"/>
            <a:ext cx="11274552" cy="579991"/>
          </a:xfrm>
          <a:prstGeom prst="roundRect">
            <a:avLst>
              <a:gd name="adj" fmla="val 7883"/>
            </a:avLst>
          </a:prstGeom>
          <a:solidFill>
            <a:srgbClr val="FFFFFF"/>
          </a:solidFill>
          <a:ln w="9525">
            <a:solidFill>
              <a:srgbClr val="D8D0BF"/>
            </a:solidFill>
            <a:prstDash val="solid"/>
          </a:ln>
        </p:spPr>
      </p:sp>
      <p:sp>
        <p:nvSpPr>
          <p:cNvPr id="34" name="Text 31"/>
          <p:cNvSpPr txBox="1"/>
          <p:nvPr/>
        </p:nvSpPr>
        <p:spPr>
          <a:xfrm>
            <a:off x="4937760" y="5747657"/>
            <a:ext cx="6675120" cy="543415"/>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لِذٰلِكَ يُخَطِّطُ المُهَنْدِسُونَ لِكَيْ تَكُونَ المُدُنُ صَالِحَةً لِلْعَيْشِ.</a:t>
            </a:r>
            <a:endParaRPr lang="ar-SA" sz="2000" dirty="0"/>
          </a:p>
        </p:txBody>
      </p:sp>
      <p:sp>
        <p:nvSpPr>
          <p:cNvPr id="35" name="Text 32"/>
          <p:cNvSpPr txBox="1"/>
          <p:nvPr/>
        </p:nvSpPr>
        <p:spPr>
          <a:xfrm>
            <a:off x="640080" y="5747657"/>
            <a:ext cx="4160520" cy="543415"/>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So engineers plan so that cities are liveable.</a:t>
            </a:r>
            <a:endParaRPr lang="en-US" sz="125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35 / 49</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TC-L08 · Buildings &amp; Services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LISTENING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Listening: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إِجَابَاتُ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3 · Lesson 2 of 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distinguishes Dubai?</a:t>
            </a:r>
            <a:endParaRPr lang="en-US" sz="1250" dirty="0"/>
          </a:p>
        </p:txBody>
      </p:sp>
      <p:sp>
        <p:nvSpPr>
          <p:cNvPr id="19" name="Shape 16"/>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ea typeface="Calibri" pitchFamily="34" charset="-122"/>
                <a:cs typeface="Calibri" pitchFamily="34" charset="-120"/>
              </a:rPr>
              <a:t>A unique mix of heritage and modern architecture</a:t>
            </a:r>
            <a:endParaRPr lang="en-US" sz="11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Only skyscrapers</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Only old houses</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050" dirty="0">
                <a:solidFill>
                  <a:srgbClr val="8A6D1E"/>
                </a:solidFill>
                <a:latin typeface="Amiri" pitchFamily="34" charset="0"/>
                <a:ea typeface="Amiri" pitchFamily="34" charset="-122"/>
                <a:cs typeface="Amiri" pitchFamily="34" charset="-120"/>
              </a:rPr>
              <a:t>تَتَمَيَّزُ مَدِينَةُ دُبَيَّ بِمَزِيجٍ فَرِيدٍ مِنَ العِمَارَةِ التُّرَاثِيَّةِ وَالمِعْمَارِ الحَدِيثِ.</a:t>
            </a:r>
            <a:endParaRPr lang="ar-SA"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is the old part built from?</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Glass and steel</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Concrete only</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Clay and wood</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بُنِيَ الجُزْءُ القَدِيمُ مِنَ الطِّينِ وَالخَشَبِ.</a:t>
            </a:r>
            <a:endParaRPr lang="ar-SA" sz="13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 development authorities do with old industrial areas?</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Demolish them entirely</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Leave them empty</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Convert them into green spaces</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تُحَوِّلُ مَنَاطِقَ صِنَاعِيَّةً قَدِيمَةً إِلَى مَسَاحَاتٍ خَضْرَاءَ.</a:t>
            </a:r>
            <a:endParaRPr lang="ar-SA" sz="13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is the counterfactual (Type 2)?</a:t>
            </a:r>
            <a:endParaRPr lang="en-US" sz="1250" dirty="0"/>
          </a:p>
        </p:txBody>
      </p:sp>
      <p:sp>
        <p:nvSpPr>
          <p:cNvPr id="64" name="Shape 61"/>
          <p:cNvSpPr/>
          <p:nvPr/>
        </p:nvSpPr>
        <p:spPr>
          <a:xfrm>
            <a:off x="548640" y="4794504"/>
            <a:ext cx="3453384"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40080"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ea typeface="Calibri" pitchFamily="34" charset="-122"/>
                <a:cs typeface="Calibri" pitchFamily="34" charset="-120"/>
              </a:rPr>
              <a:t>Had planning been more sustainable, cities would be less crowded</a:t>
            </a:r>
            <a:endParaRPr lang="en-US" sz="115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Planning makes no difference</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Cities cannot be planned</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200" dirty="0">
                <a:solidFill>
                  <a:srgbClr val="8A6D1E"/>
                </a:solidFill>
                <a:latin typeface="Amiri" pitchFamily="34" charset="0"/>
                <a:ea typeface="Amiri" pitchFamily="34" charset="-122"/>
                <a:cs typeface="Amiri" pitchFamily="34" charset="-120"/>
              </a:rPr>
              <a:t>لَوْ كَانَ التَّخْطِيطُ أَكْثَرَ اسْتِدَامَةً … لَكَانَتِ المُدُنُ أَقَلَّ اكْتِظَاظًا.</a:t>
            </a:r>
            <a:endParaRPr lang="ar-SA" sz="120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 engineers plan for?</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To make cities bigger only</a:t>
            </a:r>
            <a:endParaRPr lang="en-US" sz="1250" dirty="0"/>
          </a:p>
        </p:txBody>
      </p:sp>
      <p:sp>
        <p:nvSpPr>
          <p:cNvPr id="82" name="Shape 79"/>
          <p:cNvSpPr/>
          <p:nvPr/>
        </p:nvSpPr>
        <p:spPr>
          <a:xfrm>
            <a:off x="4367784" y="5166360"/>
            <a:ext cx="3453384"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4459224"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So that cities become liveable</a:t>
            </a:r>
            <a:endParaRPr lang="en-US" sz="12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Nothing</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يُخَطِّطُ المُهَنْدِسُونَ لِكَيْ تَكُونَ المُدُنُ صَالِحَةً لِلْعَيْشِ.</a:t>
            </a:r>
            <a:endParaRPr lang="ar-SA" sz="1350" dirty="0"/>
          </a:p>
        </p:txBody>
      </p:sp>
      <p:sp>
        <p:nvSpPr>
          <p:cNvPr id="90" name="Shape 8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92" name="Text 8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CORE</a:t>
            </a:r>
            <a:endParaRPr lang="en-US" sz="850" dirty="0"/>
          </a:p>
        </p:txBody>
      </p:sp>
      <p:sp>
        <p:nvSpPr>
          <p:cNvPr id="93" name="Text 9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ea typeface="Calibri" pitchFamily="34" charset="-122"/>
                <a:cs typeface="Calibri" pitchFamily="34" charset="-120"/>
              </a:rPr>
              <a:t>Listen twice. Core: questions 1–3 — listen for </a:t>
            </a:r>
            <a:pPr algn="l" indent="0" marL="0">
              <a:buNone/>
            </a:pPr>
            <a:r>
              <a:rPr lang="ar-SA" altLang="en-US" sz="1650" dirty="0">
                <a:solidFill>
                  <a:srgbClr val="1E6B52"/>
                </a:solidFill>
                <a:latin typeface="Amiri" pitchFamily="34" charset="0"/>
                <a:ea typeface="Amiri" pitchFamily="34" charset="-122"/>
                <a:cs typeface="Amiri" pitchFamily="34" charset="-120"/>
              </a:rPr>
              <a:t>دُبَيَّ</a:t>
            </a:r>
            <a:pPr algn="l" indent="0" marL="0">
              <a:buNone/>
            </a:pPr>
            <a:r>
              <a:rPr lang="en-US" sz="1250" dirty="0">
                <a:solidFill>
                  <a:srgbClr val="1E6B52"/>
                </a:solidFill>
                <a:latin typeface="Calibri" pitchFamily="34" charset="0"/>
                <a:ea typeface="Calibri" pitchFamily="34" charset="-122"/>
                <a:cs typeface="Calibri" pitchFamily="34" charset="-120"/>
              </a:rPr>
              <a:t> (Dubai), </a:t>
            </a:r>
            <a:pPr algn="l" indent="0" marL="0">
              <a:buNone/>
            </a:pPr>
            <a:r>
              <a:rPr lang="ar-SA" altLang="en-US" sz="1650" dirty="0">
                <a:solidFill>
                  <a:srgbClr val="1E6B52"/>
                </a:solidFill>
                <a:latin typeface="Amiri" pitchFamily="34" charset="0"/>
                <a:ea typeface="Amiri" pitchFamily="34" charset="-122"/>
                <a:cs typeface="Amiri" pitchFamily="34" charset="-120"/>
              </a:rPr>
              <a:t>الطِّينِ وَالخَشَبِ</a:t>
            </a:r>
            <a:pPr algn="l" indent="0" marL="0">
              <a:buNone/>
            </a:pPr>
            <a:r>
              <a:rPr lang="en-US" sz="1250" dirty="0">
                <a:solidFill>
                  <a:srgbClr val="1E6B52"/>
                </a:solidFill>
                <a:latin typeface="Calibri" pitchFamily="34" charset="0"/>
                <a:ea typeface="Calibri" pitchFamily="34" charset="-122"/>
                <a:cs typeface="Calibri" pitchFamily="34" charset="-120"/>
              </a:rPr>
              <a:t> (clay and wood) and </a:t>
            </a:r>
            <a:pPr algn="l" indent="0" marL="0">
              <a:buNone/>
            </a:pPr>
            <a:r>
              <a:rPr lang="ar-SA" altLang="en-US" sz="1650" dirty="0">
                <a:solidFill>
                  <a:srgbClr val="1E6B52"/>
                </a:solidFill>
                <a:latin typeface="Amiri" pitchFamily="34" charset="0"/>
                <a:ea typeface="Amiri" pitchFamily="34" charset="-122"/>
                <a:cs typeface="Amiri" pitchFamily="34" charset="-120"/>
              </a:rPr>
              <a:t>مَسَاحَاتٍ خَضْرَاءَ</a:t>
            </a:r>
            <a:pPr algn="l" indent="0" marL="0">
              <a:buNone/>
            </a:pPr>
            <a:r>
              <a:rPr lang="en-US" sz="1250" dirty="0">
                <a:solidFill>
                  <a:srgbClr val="1E6B52"/>
                </a:solidFill>
                <a:latin typeface="Calibri" pitchFamily="34" charset="0"/>
                <a:ea typeface="Calibri" pitchFamily="34" charset="-122"/>
                <a:cs typeface="Calibri" pitchFamily="34" charset="-120"/>
              </a:rPr>
              <a:t> (green spaces).</a:t>
            </a:r>
            <a:endParaRPr lang="en-US" sz="12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36 / 49</a:t>
            </a:r>
            <a:endParaRPr lang="en-US" sz="8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TC-L08 · Buildings &amp; Services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Speaking: analyse a city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3 · Lesson 2 of 3</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ea typeface="Arial" pitchFamily="34" charset="-122"/>
                <a:cs typeface="Arial" pitchFamily="34" charset="-120"/>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ea typeface="Calibri" pitchFamily="34" charset="-122"/>
                <a:cs typeface="Calibri" pitchFamily="34" charset="-120"/>
              </a:rPr>
              <a:t>Think</a:t>
            </a:r>
            <a:endParaRPr lang="en-US" sz="1050" dirty="0"/>
          </a:p>
          <a:p>
            <a:pPr indent="0" marL="0">
              <a:buNone/>
            </a:pPr>
            <a:r>
              <a:rPr lang="en-US" sz="950" dirty="0">
                <a:solidFill>
                  <a:srgbClr val="5A6472"/>
                </a:solidFill>
                <a:latin typeface="Calibri" pitchFamily="34" charset="0"/>
                <a:ea typeface="Calibri" pitchFamily="34" charset="-122"/>
                <a:cs typeface="Calibri" pitchFamily="34" charset="-120"/>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ea typeface="Arial" pitchFamily="34" charset="-122"/>
                <a:cs typeface="Arial" pitchFamily="34" charset="-120"/>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ea typeface="Calibri" pitchFamily="34" charset="-122"/>
                <a:cs typeface="Calibri" pitchFamily="34" charset="-120"/>
              </a:rPr>
              <a:t>Rehearse</a:t>
            </a:r>
            <a:endParaRPr lang="en-US" sz="1050" dirty="0"/>
          </a:p>
          <a:p>
            <a:pPr indent="0" marL="0">
              <a:buNone/>
            </a:pPr>
            <a:r>
              <a:rPr lang="en-US" sz="950" dirty="0">
                <a:solidFill>
                  <a:srgbClr val="5A6472"/>
                </a:solidFill>
                <a:latin typeface="Calibri" pitchFamily="34" charset="0"/>
                <a:ea typeface="Calibri" pitchFamily="34" charset="-122"/>
                <a:cs typeface="Calibri" pitchFamily="34" charset="-120"/>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ea typeface="Arial" pitchFamily="34" charset="-122"/>
                <a:cs typeface="Arial" pitchFamily="34" charset="-120"/>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ea typeface="Calibri" pitchFamily="34" charset="-122"/>
                <a:cs typeface="Calibri" pitchFamily="34" charset="-120"/>
              </a:rPr>
              <a:t>Pairs share</a:t>
            </a:r>
            <a:endParaRPr lang="en-US" sz="1050" dirty="0"/>
          </a:p>
          <a:p>
            <a:pPr indent="0" marL="0">
              <a:buNone/>
            </a:pPr>
            <a:r>
              <a:rPr lang="en-US" sz="950" dirty="0">
                <a:solidFill>
                  <a:srgbClr val="5A6472"/>
                </a:solidFill>
                <a:latin typeface="Calibri" pitchFamily="34" charset="0"/>
                <a:ea typeface="Calibri" pitchFamily="34" charset="-122"/>
                <a:cs typeface="Calibri" pitchFamily="34" charset="-120"/>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ea typeface="Arial" pitchFamily="34" charset="-122"/>
                <a:cs typeface="Arial" pitchFamily="34" charset="-120"/>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ea typeface="Calibri" pitchFamily="34" charset="-122"/>
                <a:cs typeface="Calibri" pitchFamily="34" charset="-120"/>
              </a:rPr>
              <a:t>Build / ask</a:t>
            </a:r>
            <a:endParaRPr lang="en-US" sz="1050" dirty="0"/>
          </a:p>
          <a:p>
            <a:pPr indent="0" marL="0">
              <a:buNone/>
            </a:pPr>
            <a:r>
              <a:rPr lang="en-US" sz="950" dirty="0">
                <a:solidFill>
                  <a:srgbClr val="5A6472"/>
                </a:solidFill>
                <a:latin typeface="Calibri" pitchFamily="34" charset="0"/>
                <a:ea typeface="Calibri" pitchFamily="34" charset="-122"/>
                <a:cs typeface="Calibri" pitchFamily="34" charset="-120"/>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ea typeface="Arial" pitchFamily="34" charset="-122"/>
                <a:cs typeface="Arial" pitchFamily="34" charset="-120"/>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ea typeface="Calibri" pitchFamily="34" charset="-122"/>
                <a:cs typeface="Calibri" pitchFamily="34" charset="-120"/>
              </a:rPr>
              <a:t>Summarise</a:t>
            </a:r>
            <a:endParaRPr lang="en-US" sz="1050" dirty="0"/>
          </a:p>
          <a:p>
            <a:pPr indent="0" marL="0">
              <a:buNone/>
            </a:pPr>
            <a:r>
              <a:rPr lang="en-US" sz="950" dirty="0">
                <a:solidFill>
                  <a:srgbClr val="5A6472"/>
                </a:solidFill>
                <a:latin typeface="Calibri" pitchFamily="34" charset="0"/>
                <a:ea typeface="Calibri" pitchFamily="34" charset="-122"/>
                <a:cs typeface="Calibri" pitchFamily="34" charset="-120"/>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مَاذَا يُوجَدُ فِي مَدِينَتِكَ؟ وَأَيْنَ؟</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DEVELOP</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صِفْ مَدِينَةً مُسْتَعْمِلًا مَبْنِيٌّ مِنْ وَيَتَمَيَّزُ بِـ.</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B83227"/>
          </a:solidFill>
          <a:ln w="12700">
            <a:solidFill>
              <a:srgbClr val="B83227"/>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STRETCH</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مَا الَّذِي يُجَدَّدُ أَوْ يُعَادُ تَصْمِيمُهُ فِيهَا؟</a:t>
            </a:r>
            <a:endParaRPr lang="ar-SA" sz="1800" dirty="0"/>
          </a:p>
        </p:txBody>
      </p:sp>
      <p:sp>
        <p:nvSpPr>
          <p:cNvPr id="42" name="Shape 39"/>
          <p:cNvSpPr/>
          <p:nvPr/>
        </p:nvSpPr>
        <p:spPr>
          <a:xfrm>
            <a:off x="4754880" y="4352544"/>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4846320" y="4507992"/>
            <a:ext cx="960120" cy="256032"/>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4846320" y="4507992"/>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STRETCH</a:t>
            </a:r>
            <a:endParaRPr lang="en-US" sz="800" dirty="0"/>
          </a:p>
        </p:txBody>
      </p:sp>
      <p:sp>
        <p:nvSpPr>
          <p:cNvPr id="45" name="Text 42"/>
          <p:cNvSpPr txBox="1"/>
          <p:nvPr/>
        </p:nvSpPr>
        <p:spPr>
          <a:xfrm>
            <a:off x="5897880" y="4352544"/>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مَا الهَدَفُ العُمْرَانِيُّ؟ اِسْتَعْمِلْ لِكَيْ + مَنْصُوبًا.</a:t>
            </a:r>
            <a:endParaRPr lang="ar-SA" sz="1800" dirty="0"/>
          </a:p>
        </p:txBody>
      </p:sp>
      <p:sp>
        <p:nvSpPr>
          <p:cNvPr id="46" name="Shape 43"/>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7" name="Text 44"/>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ea typeface="Calibri" pitchFamily="34" charset="-122"/>
                <a:cs typeface="Calibri" pitchFamily="34" charset="-120"/>
              </a:rPr>
              <a:t>SENTENCE STEMS</a:t>
            </a:r>
            <a:endParaRPr lang="en-US" sz="1000" dirty="0"/>
          </a:p>
        </p:txBody>
      </p:sp>
      <p:sp>
        <p:nvSpPr>
          <p:cNvPr id="48" name="Shape 45"/>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9" name="Text 46"/>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50" name="Text 47"/>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34" charset="0"/>
                <a:ea typeface="Amiri" pitchFamily="34" charset="-122"/>
                <a:cs typeface="Amiri" pitchFamily="34" charset="-120"/>
              </a:rPr>
              <a:t>يُوجَدُ / تُوجَدُ ___ بِجَانِبِ ___ .</a:t>
            </a:r>
            <a:endParaRPr lang="ar-SA" sz="1600" dirty="0"/>
          </a:p>
        </p:txBody>
      </p:sp>
      <p:sp>
        <p:nvSpPr>
          <p:cNvPr id="51" name="Shape 48"/>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52" name="Text 49"/>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DEVELOP</a:t>
            </a:r>
            <a:endParaRPr lang="en-US" sz="800" dirty="0"/>
          </a:p>
        </p:txBody>
      </p:sp>
      <p:sp>
        <p:nvSpPr>
          <p:cNvPr id="53" name="Text 50"/>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34" charset="0"/>
                <a:ea typeface="Amiri" pitchFamily="34" charset="-122"/>
                <a:cs typeface="Amiri" pitchFamily="34" charset="-120"/>
              </a:rPr>
              <a:t>مَدِينَتِي أَكْبَرُ مِنْ ___ ، لٰكِنْ ___ .</a:t>
            </a:r>
            <a:endParaRPr lang="ar-SA" sz="1600" dirty="0"/>
          </a:p>
        </p:txBody>
      </p:sp>
      <p:sp>
        <p:nvSpPr>
          <p:cNvPr id="54" name="Shape 51"/>
          <p:cNvSpPr/>
          <p:nvPr/>
        </p:nvSpPr>
        <p:spPr>
          <a:xfrm>
            <a:off x="640080" y="4123944"/>
            <a:ext cx="1051560" cy="256032"/>
          </a:xfrm>
          <a:prstGeom prst="roundRect">
            <a:avLst>
              <a:gd name="adj" fmla="val 50000"/>
            </a:avLst>
          </a:prstGeom>
          <a:solidFill>
            <a:srgbClr val="B83227"/>
          </a:solidFill>
          <a:ln w="12700">
            <a:solidFill>
              <a:srgbClr val="B83227"/>
            </a:solidFill>
            <a:prstDash val="solid"/>
          </a:ln>
        </p:spPr>
      </p:sp>
      <p:sp>
        <p:nvSpPr>
          <p:cNvPr id="55" name="Text 52"/>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STRETCH</a:t>
            </a:r>
            <a:endParaRPr lang="en-US" sz="800" dirty="0"/>
          </a:p>
        </p:txBody>
      </p:sp>
      <p:sp>
        <p:nvSpPr>
          <p:cNvPr id="56" name="Text 53"/>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34" charset="0"/>
                <a:ea typeface="Amiri" pitchFamily="34" charset="-122"/>
                <a:cs typeface="Amiri" pitchFamily="34" charset="-120"/>
              </a:rPr>
              <a:t>يُعَادُ تَصْمِيمُ ___ لِكَيْ ___ .</a:t>
            </a:r>
            <a:endParaRPr lang="ar-SA" sz="1600" dirty="0"/>
          </a:p>
        </p:txBody>
      </p:sp>
      <p:sp>
        <p:nvSpPr>
          <p:cNvPr id="57" name="Shape 54"/>
          <p:cNvSpPr/>
          <p:nvPr/>
        </p:nvSpPr>
        <p:spPr>
          <a:xfrm>
            <a:off x="640080" y="4681728"/>
            <a:ext cx="1051560" cy="256032"/>
          </a:xfrm>
          <a:prstGeom prst="roundRect">
            <a:avLst>
              <a:gd name="adj" fmla="val 50000"/>
            </a:avLst>
          </a:prstGeom>
          <a:solidFill>
            <a:srgbClr val="1B3B6F"/>
          </a:solidFill>
          <a:ln w="12700">
            <a:solidFill>
              <a:srgbClr val="1B3B6F"/>
            </a:solidFill>
            <a:prstDash val="solid"/>
          </a:ln>
        </p:spPr>
      </p:sp>
      <p:sp>
        <p:nvSpPr>
          <p:cNvPr id="58" name="Text 55"/>
          <p:cNvSpPr txBox="1"/>
          <p:nvPr/>
        </p:nvSpPr>
        <p:spPr>
          <a:xfrm>
            <a:off x="640080" y="4681728"/>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 SUM UP</a:t>
            </a:r>
            <a:endParaRPr lang="en-US" sz="800" dirty="0"/>
          </a:p>
        </p:txBody>
      </p:sp>
      <p:sp>
        <p:nvSpPr>
          <p:cNvPr id="59" name="Text 56"/>
          <p:cNvSpPr txBox="1"/>
          <p:nvPr/>
        </p:nvSpPr>
        <p:spPr>
          <a:xfrm>
            <a:off x="1783080" y="4526280"/>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34" charset="0"/>
                <a:ea typeface="Amiri" pitchFamily="34" charset="-122"/>
                <a:cs typeface="Amiri" pitchFamily="34" charset="-120"/>
              </a:rPr>
              <a:t>فِي مَدِينَتِهِ / مَدِينَتِهَا ___ .</a:t>
            </a:r>
            <a:endParaRPr lang="ar-SA" sz="1600" dirty="0"/>
          </a:p>
        </p:txBody>
      </p:sp>
      <p:sp>
        <p:nvSpPr>
          <p:cNvPr id="60" name="Shape 57"/>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ea typeface="Calibri" pitchFamily="34" charset="-122"/>
                <a:cs typeface="Calibri" pitchFamily="34" charset="-120"/>
              </a:rPr>
              <a:t>MODEL (WEBSITE)</a:t>
            </a:r>
            <a:endParaRPr lang="en-US" sz="950" dirty="0"/>
          </a:p>
        </p:txBody>
      </p:sp>
      <p:sp>
        <p:nvSpPr>
          <p:cNvPr id="62" name="Shape 59"/>
          <p:cNvSpPr/>
          <p:nvPr/>
        </p:nvSpPr>
        <p:spPr>
          <a:xfrm>
            <a:off x="11274552" y="5559552"/>
            <a:ext cx="292608" cy="292608"/>
          </a:xfrm>
          <a:prstGeom prst="ellipse">
            <a:avLst/>
          </a:prstGeom>
          <a:solidFill>
            <a:srgbClr val="1E6B52"/>
          </a:solidFill>
          <a:ln w="12700">
            <a:solidFill>
              <a:srgbClr val="1E6B52"/>
            </a:solidFill>
            <a:prstDash val="solid"/>
          </a:ln>
        </p:spPr>
      </p:sp>
      <p:sp>
        <p:nvSpPr>
          <p:cNvPr id="63" name="Text 60"/>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a:t>
            </a:r>
            <a:endParaRPr lang="en-US" sz="1000" dirty="0"/>
          </a:p>
        </p:txBody>
      </p:sp>
      <p:sp>
        <p:nvSpPr>
          <p:cNvPr id="64" name="Text 61"/>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34" charset="0"/>
                <a:ea typeface="Amiri" pitchFamily="34" charset="-122"/>
                <a:cs typeface="Amiri" pitchFamily="34" charset="-120"/>
              </a:rPr>
              <a:t>صِفْ مَدِينَةً.</a:t>
            </a:r>
            <a:endParaRPr lang="ar-SA" sz="1550" dirty="0"/>
          </a:p>
        </p:txBody>
      </p:sp>
      <p:sp>
        <p:nvSpPr>
          <p:cNvPr id="65" name="Text 62"/>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ea typeface="Calibri" pitchFamily="34" charset="-122"/>
                <a:cs typeface="Calibri" pitchFamily="34" charset="-120"/>
              </a:rPr>
              <a:t>Describe a city.</a:t>
            </a:r>
            <a:endParaRPr lang="en-US" sz="950" dirty="0"/>
          </a:p>
        </p:txBody>
      </p:sp>
      <p:sp>
        <p:nvSpPr>
          <p:cNvPr id="66" name="Shape 63"/>
          <p:cNvSpPr/>
          <p:nvPr/>
        </p:nvSpPr>
        <p:spPr>
          <a:xfrm>
            <a:off x="11274552" y="5925312"/>
            <a:ext cx="292608" cy="292608"/>
          </a:xfrm>
          <a:prstGeom prst="ellipse">
            <a:avLst/>
          </a:prstGeom>
          <a:solidFill>
            <a:srgbClr val="1E6B52"/>
          </a:solidFill>
          <a:ln w="12700">
            <a:solidFill>
              <a:srgbClr val="1E6B52"/>
            </a:solidFill>
            <a:prstDash val="solid"/>
          </a:ln>
        </p:spPr>
      </p:sp>
      <p:sp>
        <p:nvSpPr>
          <p:cNvPr id="67" name="Text 64"/>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a:t>
            </a:r>
            <a:endParaRPr lang="en-US" sz="1000" dirty="0"/>
          </a:p>
        </p:txBody>
      </p:sp>
      <p:sp>
        <p:nvSpPr>
          <p:cNvPr id="68" name="Text 65"/>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34" charset="0"/>
                <a:ea typeface="Amiri" pitchFamily="34" charset="-122"/>
                <a:cs typeface="Amiri" pitchFamily="34" charset="-120"/>
              </a:rPr>
              <a:t>تَتَمَيَّزُ المَدِينَةُ بِمَزِيجٍ مِنَ القَدِيمِ وَالحَدِيثِ، وَأَحْيَاؤُهَا القَدِيمَةُ مَبْنِيَّةٌ مِنَ الحَجَرِ.</a:t>
            </a:r>
            <a:endParaRPr lang="ar-SA" sz="1550" dirty="0"/>
          </a:p>
        </p:txBody>
      </p:sp>
      <p:sp>
        <p:nvSpPr>
          <p:cNvPr id="69" name="Text 66"/>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ea typeface="Calibri" pitchFamily="34" charset="-122"/>
                <a:cs typeface="Calibri" pitchFamily="34" charset="-120"/>
              </a:rPr>
              <a:t>Material and feature</a:t>
            </a:r>
            <a:endParaRPr lang="en-US" sz="9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37 / 49</a:t>
            </a:r>
            <a:endParaRPr lang="en-US" sz="8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TC-L08 · Buildings &amp; Services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3 · Lesson 2 of 3</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34" charset="0"/>
                <a:ea typeface="Amiri" pitchFamily="34" charset="-122"/>
                <a:cs typeface="Amiri" pitchFamily="34" charset="-120"/>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ea typeface="Cambria" pitchFamily="34" charset="-122"/>
                <a:cs typeface="Cambria" pitchFamily="34" charset="-120"/>
              </a:rPr>
              <a:t>5 sentences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ea typeface="Calibri" pitchFamily="34" charset="-122"/>
                <a:cs typeface="Calibri" pitchFamily="34" charset="-120"/>
              </a:rPr>
              <a:t>Describe your town: what there is, what is missing, where one place is and one comparison.</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ea typeface="Calibri" pitchFamily="34" charset="-122"/>
                <a:cs typeface="Calibri" pitchFamily="34" charset="-120"/>
              </a:rPr>
              <a:t>HOW</a:t>
            </a:r>
            <a:endParaRPr lang="en-US" sz="900" dirty="0"/>
          </a:p>
          <a:p>
            <a:pPr indent="0" marL="0">
              <a:buNone/>
            </a:pPr>
            <a:r>
              <a:rPr lang="en-US" sz="1150" dirty="0">
                <a:solidFill>
                  <a:srgbClr val="1F2A37"/>
                </a:solidFill>
                <a:latin typeface="Calibri" pitchFamily="34" charset="0"/>
                <a:ea typeface="Calibri" pitchFamily="34" charset="-122"/>
                <a:cs typeface="Calibri" pitchFamily="34" charset="-120"/>
              </a:rPr>
              <a:t>Use the frames and word bank on the next slide: two things there are, one thing missing, one “where” and one comparison.</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34" charset="0"/>
                <a:ea typeface="Amiri" pitchFamily="34" charset="-122"/>
                <a:cs typeface="Amiri" pitchFamily="34" charset="-120"/>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ea typeface="Cambria" pitchFamily="34" charset="-122"/>
                <a:cs typeface="Cambria" pitchFamily="34" charset="-120"/>
              </a:rPr>
              <a:t>6–8 sentences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ea typeface="Calibri" pitchFamily="34" charset="-122"/>
                <a:cs typeface="Calibri" pitchFamily="34" charset="-120"/>
              </a:rPr>
              <a:t>Judge the services in your area and describe one building (website: </a:t>
            </a:r>
            <a:pPr algn="l" indent="0" marL="0">
              <a:buNone/>
            </a:pPr>
            <a:r>
              <a:rPr lang="ar-SA" altLang="en-US" sz="1800" b="1" dirty="0">
                <a:solidFill>
                  <a:srgbClr val="1F2A37"/>
                </a:solidFill>
                <a:latin typeface="Amiri" pitchFamily="34" charset="0"/>
                <a:ea typeface="Amiri" pitchFamily="34" charset="-122"/>
                <a:cs typeface="Amiri" pitchFamily="34" charset="-120"/>
              </a:rPr>
              <a:t>مَبْنِيٌّ مِنْ</a:t>
            </a:r>
            <a:pPr algn="l" indent="0" marL="0">
              <a:buNone/>
            </a:pPr>
            <a:r>
              <a:rPr lang="en-US" sz="1400" b="1" dirty="0">
                <a:solidFill>
                  <a:srgbClr val="1F2A37"/>
                </a:solidFill>
                <a:latin typeface="Calibri" pitchFamily="34" charset="0"/>
                <a:ea typeface="Calibri" pitchFamily="34" charset="-122"/>
                <a:cs typeface="Calibri" pitchFamily="34" charset="-120"/>
              </a:rPr>
              <a:t>).</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ea typeface="Calibri" pitchFamily="34" charset="-122"/>
                <a:cs typeface="Calibri" pitchFamily="34" charset="-120"/>
              </a:rPr>
              <a:t>HOW</a:t>
            </a:r>
            <a:endParaRPr lang="en-US" sz="900" dirty="0"/>
          </a:p>
          <a:p>
            <a:pPr indent="0" marL="0">
              <a:buNone/>
            </a:pPr>
            <a:r>
              <a:rPr lang="en-US" sz="1150" dirty="0">
                <a:solidFill>
                  <a:srgbClr val="1F2A37"/>
                </a:solidFill>
                <a:latin typeface="Calibri" pitchFamily="34" charset="0"/>
                <a:ea typeface="Calibri" pitchFamily="34" charset="-122"/>
                <a:cs typeface="Calibri" pitchFamily="34" charset="-120"/>
              </a:rPr>
              <a:t>Judge the services (good / crowded / missing), add one building material with مِنْ and one opinion.</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34" charset="0"/>
                <a:ea typeface="Amiri" pitchFamily="34" charset="-122"/>
                <a:cs typeface="Amiri" pitchFamily="34" charset="-120"/>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ea typeface="Cambria" pitchFamily="34" charset="-122"/>
                <a:cs typeface="Cambria" pitchFamily="34" charset="-120"/>
              </a:rPr>
              <a:t>100–110 words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ea typeface="Calibri" pitchFamily="34" charset="-122"/>
                <a:cs typeface="Calibri" pitchFamily="34" charset="-120"/>
              </a:rPr>
              <a:t>Close with a Type 2 counterfactual and a </a:t>
            </a:r>
            <a:pPr algn="l" indent="0" marL="0">
              <a:buNone/>
            </a:pPr>
            <a:r>
              <a:rPr lang="ar-SA" altLang="en-US" sz="1800" b="1" dirty="0">
                <a:solidFill>
                  <a:srgbClr val="1F2A37"/>
                </a:solidFill>
                <a:latin typeface="Amiri" pitchFamily="34" charset="0"/>
                <a:ea typeface="Amiri" pitchFamily="34" charset="-122"/>
                <a:cs typeface="Amiri" pitchFamily="34" charset="-120"/>
              </a:rPr>
              <a:t>لِكَي</a:t>
            </a:r>
            <a:pPr algn="l" indent="0" marL="0">
              <a:buNone/>
            </a:pPr>
            <a:r>
              <a:rPr lang="en-US" sz="1400" b="1" dirty="0">
                <a:solidFill>
                  <a:srgbClr val="1F2A37"/>
                </a:solidFill>
                <a:latin typeface="Calibri" pitchFamily="34" charset="0"/>
                <a:ea typeface="Calibri" pitchFamily="34" charset="-122"/>
                <a:cs typeface="Calibri" pitchFamily="34" charset="-120"/>
              </a:rPr>
              <a:t> goal clause.</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ea typeface="Calibri" pitchFamily="34" charset="-122"/>
                <a:cs typeface="Calibri" pitchFamily="34" charset="-120"/>
              </a:rPr>
              <a:t>HOW</a:t>
            </a:r>
            <a:endParaRPr lang="en-US" sz="900" dirty="0"/>
          </a:p>
          <a:p>
            <a:pPr indent="0" marL="0">
              <a:buNone/>
            </a:pPr>
            <a:r>
              <a:rPr lang="en-US" sz="1150" dirty="0">
                <a:solidFill>
                  <a:srgbClr val="1F2A37"/>
                </a:solidFill>
                <a:latin typeface="Calibri" pitchFamily="34" charset="0"/>
                <a:ea typeface="Calibri" pitchFamily="34" charset="-122"/>
                <a:cs typeface="Calibri" pitchFamily="34" charset="-120"/>
              </a:rPr>
              <a:t>Website writing task: analyse a city or project; checklist and phrase bank on the Stretch slide.</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38 / 49</a:t>
            </a:r>
            <a:endParaRPr lang="en-US" sz="8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TC-L08 · Buildings &amp; Services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3 · Lesson 2 of 3</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الخَدَمَاتُ جَيِّدَةٌ، لٰكِنَّ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The services are good, but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______ مُزْدَحِمٌ دَائِمًا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 is always crowded.</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الحَيُّ القَدِيمُ مَبْنِيٌّ مِنَ ______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The old district is built of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تَتَمَيَّزُ مَدِينَتِي بِـ ______ .</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My town is known for …</a:t>
            </a:r>
            <a:endParaRPr lang="en-US" sz="1050" dirty="0"/>
          </a:p>
        </p:txBody>
      </p:sp>
      <p:sp>
        <p:nvSpPr>
          <p:cNvPr id="26" name="Text 23"/>
          <p:cNvSpPr txBox="1"/>
          <p:nvPr/>
        </p:nvSpPr>
        <p:spPr>
          <a:xfrm>
            <a:off x="2468880"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فِي رَأْيِي، نَحْتَاجُ إِلَى ______ .</a:t>
            </a:r>
            <a:endParaRPr lang="ar-SA" sz="1800" dirty="0"/>
          </a:p>
        </p:txBody>
      </p:sp>
      <p:sp>
        <p:nvSpPr>
          <p:cNvPr id="27" name="Text 24"/>
          <p:cNvSpPr txBox="1"/>
          <p:nvPr/>
        </p:nvSpPr>
        <p:spPr>
          <a:xfrm>
            <a:off x="594360"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In my opinion, we need …</a:t>
            </a:r>
            <a:endParaRPr lang="en-US" sz="1050" dirty="0"/>
          </a:p>
        </p:txBody>
      </p:sp>
      <p:sp>
        <p:nvSpPr>
          <p:cNvPr id="28" name="Shape 25"/>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CORE</a:t>
            </a:r>
            <a:endParaRPr lang="en-US" sz="850" dirty="0"/>
          </a:p>
        </p:txBody>
      </p:sp>
      <p:sp>
        <p:nvSpPr>
          <p:cNvPr id="31" name="Text 28"/>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فِي مَدِينَتِي يُوجَدُ ______ .</a:t>
            </a:r>
            <a:endParaRPr lang="ar-SA" sz="1800" dirty="0"/>
          </a:p>
        </p:txBody>
      </p:sp>
      <p:sp>
        <p:nvSpPr>
          <p:cNvPr id="32" name="Text 29"/>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In my town there is (m.) …</a:t>
            </a:r>
            <a:endParaRPr lang="en-US" sz="1050" dirty="0"/>
          </a:p>
        </p:txBody>
      </p:sp>
      <p:sp>
        <p:nvSpPr>
          <p:cNvPr id="33" name="Text 30"/>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تُوجَدُ ______ بِجَانِبِ ______ .</a:t>
            </a:r>
            <a:endParaRPr lang="ar-SA" sz="1800" dirty="0"/>
          </a:p>
        </p:txBody>
      </p:sp>
      <p:sp>
        <p:nvSpPr>
          <p:cNvPr id="34" name="Text 31"/>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There is (f.) … next to …</a:t>
            </a:r>
            <a:endParaRPr lang="en-US" sz="1050" dirty="0"/>
          </a:p>
        </p:txBody>
      </p:sp>
      <p:sp>
        <p:nvSpPr>
          <p:cNvPr id="35" name="Text 32"/>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لَا يُوجَدُ ______ .</a:t>
            </a:r>
            <a:endParaRPr lang="ar-SA" sz="1800" dirty="0"/>
          </a:p>
        </p:txBody>
      </p:sp>
      <p:sp>
        <p:nvSpPr>
          <p:cNvPr id="36" name="Text 33"/>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There is no …</a:t>
            </a:r>
            <a:endParaRPr lang="en-US" sz="1050" dirty="0"/>
          </a:p>
        </p:txBody>
      </p:sp>
      <p:sp>
        <p:nvSpPr>
          <p:cNvPr id="37" name="Text 34"/>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______ مُقَابِلَ ______ .</a:t>
            </a:r>
            <a:endParaRPr lang="ar-SA" sz="1800" dirty="0"/>
          </a:p>
        </p:txBody>
      </p:sp>
      <p:sp>
        <p:nvSpPr>
          <p:cNvPr id="38" name="Text 35"/>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The … is opposite the …</a:t>
            </a:r>
            <a:endParaRPr lang="en-US" sz="1050" dirty="0"/>
          </a:p>
        </p:txBody>
      </p:sp>
      <p:sp>
        <p:nvSpPr>
          <p:cNvPr id="39" name="Text 36"/>
          <p:cNvSpPr txBox="1"/>
          <p:nvPr/>
        </p:nvSpPr>
        <p:spPr>
          <a:xfrm>
            <a:off x="8202168"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مَدِينَتِي أَكْبَرُ مِنْ ______ .</a:t>
            </a:r>
            <a:endParaRPr lang="ar-SA" sz="1800" dirty="0"/>
          </a:p>
        </p:txBody>
      </p:sp>
      <p:sp>
        <p:nvSpPr>
          <p:cNvPr id="40" name="Text 37"/>
          <p:cNvSpPr txBox="1"/>
          <p:nvPr/>
        </p:nvSpPr>
        <p:spPr>
          <a:xfrm>
            <a:off x="6327648"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My town is bigger than …</a:t>
            </a:r>
            <a:endParaRPr lang="en-US" sz="1050" dirty="0"/>
          </a:p>
        </p:txBody>
      </p:sp>
      <p:sp>
        <p:nvSpPr>
          <p:cNvPr id="41" name="Shape 38"/>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Text 39"/>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ea typeface="Calibri" pitchFamily="34" charset="-122"/>
                <a:cs typeface="Calibri" pitchFamily="34" charset="-120"/>
              </a:rPr>
              <a:t>WORD BANK</a:t>
            </a:r>
            <a:endParaRPr lang="en-US" sz="950" dirty="0"/>
          </a:p>
        </p:txBody>
      </p:sp>
      <p:sp>
        <p:nvSpPr>
          <p:cNvPr id="43" name="Text 40"/>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مُسْتَشْفًى  ·  بَنْكٌ  ·  مَكْتَبَةٌ  ·  مَقْهًى  ·  مَتْحَفٌ  ·  مَسْبَحٌ  ·  مَحَطَّةُ القِطَارِ  ·  السَّاحَةِ  ·  القَرْيَةِ  ·  الحَجَرِ  ·  مَسَاحَاتٍ خَضْرَاءَ  ·  هَادِئٌ</a:t>
            </a:r>
            <a:endParaRPr lang="ar-SA" sz="16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39 / 49</a:t>
            </a:r>
            <a:endParaRPr lang="en-US" sz="8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TC-L08 · Buildings &amp; Services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3 · Lesson 2 of 3</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ea typeface="Calibri" pitchFamily="34" charset="-122"/>
                <a:cs typeface="Calibri" pitchFamily="34" charset="-120"/>
              </a:rPr>
              <a:t>Write one hundred to one hundred and ten words analysing a city or urban project. Use </a:t>
            </a:r>
            <a:pPr algn="l" indent="0" marL="0">
              <a:buNone/>
            </a:pPr>
            <a:r>
              <a:rPr lang="ar-SA" altLang="en-US" sz="1750" b="1" dirty="0">
                <a:solidFill>
                  <a:srgbClr val="1F2A37"/>
                </a:solidFill>
                <a:latin typeface="Amiri" pitchFamily="34" charset="0"/>
                <a:ea typeface="Amiri" pitchFamily="34" charset="-122"/>
                <a:cs typeface="Amiri" pitchFamily="34" charset="-120"/>
              </a:rPr>
              <a:t>مَبْنِيٌّ مِنْ</a:t>
            </a:r>
            <a:pPr algn="l" indent="0" marL="0">
              <a:buNone/>
            </a:pPr>
            <a:r>
              <a:rPr lang="en-US" sz="1350" b="1" dirty="0">
                <a:solidFill>
                  <a:srgbClr val="1F2A37"/>
                </a:solidFill>
                <a:latin typeface="Calibri" pitchFamily="34" charset="0"/>
                <a:ea typeface="Calibri" pitchFamily="34" charset="-122"/>
                <a:cs typeface="Calibri" pitchFamily="34" charset="-120"/>
              </a:rPr>
              <a:t>, a planning verb, the urban passive, both conditional types and a </a:t>
            </a:r>
            <a:pPr algn="l" indent="0" marL="0">
              <a:buNone/>
            </a:pPr>
            <a:r>
              <a:rPr lang="ar-SA" altLang="en-US" sz="1750" b="1" dirty="0">
                <a:solidFill>
                  <a:srgbClr val="1F2A37"/>
                </a:solidFill>
                <a:latin typeface="Amiri" pitchFamily="34" charset="0"/>
                <a:ea typeface="Amiri" pitchFamily="34" charset="-122"/>
                <a:cs typeface="Amiri" pitchFamily="34" charset="-120"/>
              </a:rPr>
              <a:t>لِكَي</a:t>
            </a:r>
            <a:pPr algn="l" indent="0" marL="0">
              <a:buNone/>
            </a:pPr>
            <a:r>
              <a:rPr lang="en-US" sz="1350" b="1" dirty="0">
                <a:solidFill>
                  <a:srgbClr val="1F2A37"/>
                </a:solidFill>
                <a:latin typeface="Calibri" pitchFamily="34" charset="0"/>
                <a:ea typeface="Calibri" pitchFamily="34" charset="-122"/>
                <a:cs typeface="Calibri" pitchFamily="34" charset="-120"/>
              </a:rPr>
              <a:t> goal clause.</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  </a:t>
            </a:r>
            <a:pPr algn="l" indent="0" marL="0">
              <a:buNone/>
            </a:pPr>
            <a:r>
              <a:rPr lang="ar-SA" altLang="en-US" sz="1550" dirty="0">
                <a:solidFill>
                  <a:srgbClr val="1F2A37"/>
                </a:solidFill>
                <a:latin typeface="Amiri" pitchFamily="34" charset="0"/>
                <a:ea typeface="Amiri" pitchFamily="34" charset="-122"/>
                <a:cs typeface="Amiri" pitchFamily="34" charset="-120"/>
              </a:rPr>
              <a:t>مَبْنِيٌّ مِنْ</a:t>
            </a:r>
            <a:pPr algn="l" indent="0" marL="0">
              <a:buNone/>
            </a:pPr>
            <a:r>
              <a:rPr lang="en-US" sz="1200" dirty="0">
                <a:solidFill>
                  <a:srgbClr val="1F2A37"/>
                </a:solidFill>
                <a:latin typeface="Calibri" pitchFamily="34" charset="0"/>
                <a:ea typeface="Calibri" pitchFamily="34" charset="-122"/>
                <a:cs typeface="Calibri" pitchFamily="34" charset="-120"/>
              </a:rPr>
              <a:t> and a planning verb (</a:t>
            </a:r>
            <a:pPr algn="l" indent="0" marL="0">
              <a:buNone/>
            </a:pPr>
            <a:r>
              <a:rPr lang="ar-SA" altLang="en-US" sz="1550" dirty="0">
                <a:solidFill>
                  <a:srgbClr val="1F2A37"/>
                </a:solidFill>
                <a:latin typeface="Amiri" pitchFamily="34" charset="0"/>
                <a:ea typeface="Amiri" pitchFamily="34" charset="-122"/>
                <a:cs typeface="Amiri" pitchFamily="34" charset="-120"/>
              </a:rPr>
              <a:t>يُعِيدُ تَصْمِيمَ / يُجَدِّدُ / يُحَوِّلُ</a:t>
            </a:r>
            <a:pPr algn="l" indent="0" marL="0">
              <a:buNone/>
            </a:pPr>
            <a:r>
              <a:rPr lang="en-US" sz="1200" dirty="0">
                <a:solidFill>
                  <a:srgbClr val="1F2A37"/>
                </a:solidFill>
                <a:latin typeface="Calibri" pitchFamily="34" charset="0"/>
                <a:ea typeface="Calibri" pitchFamily="34" charset="-122"/>
                <a:cs typeface="Calibri" pitchFamily="34" charset="-120"/>
              </a:rPr>
              <a:t>).</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  One urban passive with a nominative subject.</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  A Type 1 challenge and a Type 2 counterfactual.</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  A </a:t>
            </a:r>
            <a:pPr algn="l" indent="0" marL="0">
              <a:buNone/>
            </a:pPr>
            <a:r>
              <a:rPr lang="ar-SA" altLang="en-US" sz="1550" dirty="0">
                <a:solidFill>
                  <a:srgbClr val="1F2A37"/>
                </a:solidFill>
                <a:latin typeface="Amiri" pitchFamily="34" charset="0"/>
                <a:ea typeface="Amiri" pitchFamily="34" charset="-122"/>
                <a:cs typeface="Amiri" pitchFamily="34" charset="-120"/>
              </a:rPr>
              <a:t>لِكَي</a:t>
            </a:r>
            <a:pPr algn="l" indent="0" marL="0">
              <a:buNone/>
            </a:pPr>
            <a:r>
              <a:rPr lang="en-US" sz="1200" dirty="0">
                <a:solidFill>
                  <a:srgbClr val="1F2A37"/>
                </a:solidFill>
                <a:latin typeface="Calibri" pitchFamily="34" charset="0"/>
                <a:ea typeface="Calibri" pitchFamily="34" charset="-122"/>
                <a:cs typeface="Calibri" pitchFamily="34" charset="-120"/>
              </a:rPr>
              <a:t> goal clause with the subjunctive fatḥa.</a:t>
            </a:r>
            <a:endParaRPr lang="en-US" sz="1200" dirty="0"/>
          </a:p>
        </p:txBody>
      </p:sp>
      <p:sp>
        <p:nvSpPr>
          <p:cNvPr id="23" name="Shape 20"/>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ea typeface="Calibri" pitchFamily="34" charset="-122"/>
                <a:cs typeface="Calibri" pitchFamily="34" charset="-120"/>
              </a:rPr>
              <a:t>PHRASE BANK — FROM THE WEBSITE TEXTS</a:t>
            </a:r>
            <a:endParaRPr lang="en-US" sz="950" dirty="0"/>
          </a:p>
        </p:txBody>
      </p:sp>
      <p:sp>
        <p:nvSpPr>
          <p:cNvPr id="25" name="Text 22"/>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تَتَمَيَّزُ مَدِينَةُ … بِـ …</a:t>
            </a:r>
            <a:endParaRPr lang="ar-SA" sz="1800" dirty="0"/>
          </a:p>
        </p:txBody>
      </p:sp>
      <p:sp>
        <p:nvSpPr>
          <p:cNvPr id="26" name="Text 23"/>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ea typeface="Calibri" pitchFamily="34" charset="-122"/>
                <a:cs typeface="Calibri" pitchFamily="34" charset="-120"/>
              </a:rPr>
              <a:t>… is distinguished by …</a:t>
            </a:r>
            <a:endParaRPr lang="en-US" sz="1050" dirty="0"/>
          </a:p>
        </p:txBody>
      </p:sp>
      <p:sp>
        <p:nvSpPr>
          <p:cNvPr id="27" name="Text 24"/>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بُنِيَ الجُزْءُ القَدِيمُ مِنَ …</a:t>
            </a:r>
            <a:endParaRPr lang="ar-SA" sz="1800" dirty="0"/>
          </a:p>
        </p:txBody>
      </p:sp>
      <p:sp>
        <p:nvSpPr>
          <p:cNvPr id="28" name="Text 25"/>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ea typeface="Calibri" pitchFamily="34" charset="-122"/>
                <a:cs typeface="Calibri" pitchFamily="34" charset="-120"/>
              </a:rPr>
              <a:t>the old part was built of …</a:t>
            </a:r>
            <a:endParaRPr lang="en-US" sz="1050" dirty="0"/>
          </a:p>
        </p:txBody>
      </p:sp>
      <p:sp>
        <p:nvSpPr>
          <p:cNvPr id="29" name="Text 26"/>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تُحَوِّلُ … إِلَى مَسَاحَاتٍ خَضْرَاءَ</a:t>
            </a:r>
            <a:endParaRPr lang="ar-SA" sz="1800" dirty="0"/>
          </a:p>
        </p:txBody>
      </p:sp>
      <p:sp>
        <p:nvSpPr>
          <p:cNvPr id="30" name="Text 27"/>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ea typeface="Calibri" pitchFamily="34" charset="-122"/>
                <a:cs typeface="Calibri" pitchFamily="34" charset="-120"/>
              </a:rPr>
              <a:t>turns … into green spaces</a:t>
            </a:r>
            <a:endParaRPr lang="en-US" sz="1050" dirty="0"/>
          </a:p>
        </p:txBody>
      </p:sp>
      <p:sp>
        <p:nvSpPr>
          <p:cNvPr id="31" name="Text 28"/>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إِذَا وَاصَلَتِ المُدُنُ التَّوَسُّعَ، سَـ …</a:t>
            </a:r>
            <a:endParaRPr lang="ar-SA" sz="1800" dirty="0"/>
          </a:p>
        </p:txBody>
      </p:sp>
      <p:sp>
        <p:nvSpPr>
          <p:cNvPr id="32" name="Text 29"/>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ea typeface="Calibri" pitchFamily="34" charset="-122"/>
                <a:cs typeface="Calibri" pitchFamily="34" charset="-120"/>
              </a:rPr>
              <a:t>if cities keep growing, …</a:t>
            </a:r>
            <a:endParaRPr lang="en-US" sz="1050" dirty="0"/>
          </a:p>
        </p:txBody>
      </p:sp>
      <p:sp>
        <p:nvSpPr>
          <p:cNvPr id="33" name="Text 30"/>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وَلَوْ كَانَ التَّخْطِيطُ …، لَكَانَتِ …</a:t>
            </a:r>
            <a:endParaRPr lang="ar-SA" sz="1800" dirty="0"/>
          </a:p>
        </p:txBody>
      </p:sp>
      <p:sp>
        <p:nvSpPr>
          <p:cNvPr id="34" name="Text 31"/>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ea typeface="Calibri" pitchFamily="34" charset="-122"/>
                <a:cs typeface="Calibri" pitchFamily="34" charset="-120"/>
              </a:rPr>
              <a:t>had planning been …, … would …</a:t>
            </a:r>
            <a:endParaRPr lang="en-US" sz="1050" dirty="0"/>
          </a:p>
        </p:txBody>
      </p:sp>
      <p:sp>
        <p:nvSpPr>
          <p:cNvPr id="35" name="Text 32"/>
          <p:cNvSpPr txBox="1"/>
          <p:nvPr/>
        </p:nvSpPr>
        <p:spPr>
          <a:xfrm>
            <a:off x="8412480" y="552297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لِكَيْ تَبْقَى صَالِحَةً لِلْعَيْشِ</a:t>
            </a:r>
            <a:endParaRPr lang="ar-SA" sz="1800" dirty="0"/>
          </a:p>
        </p:txBody>
      </p:sp>
      <p:sp>
        <p:nvSpPr>
          <p:cNvPr id="36" name="Text 33"/>
          <p:cNvSpPr txBox="1"/>
          <p:nvPr/>
        </p:nvSpPr>
        <p:spPr>
          <a:xfrm>
            <a:off x="6400800" y="585216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ea typeface="Calibri" pitchFamily="34" charset="-122"/>
                <a:cs typeface="Calibri" pitchFamily="34" charset="-120"/>
              </a:rPr>
              <a:t>so that they stay liveable</a:t>
            </a:r>
            <a:endParaRPr lang="en-US" sz="105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40 / 49</a:t>
            </a:r>
            <a:endParaRPr lang="en-US" sz="8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TC-L08 · Buildings &amp; Services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ea typeface="Calibri" pitchFamily="34" charset="-122"/>
                <a:cs typeface="Calibri" pitchFamily="34" charset="-120"/>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3 · Lesson 2 of 3</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300" dirty="0">
                <a:solidFill>
                  <a:srgbClr val="1F2A37"/>
                </a:solidFill>
                <a:latin typeface="Amiri" pitchFamily="34" charset="0"/>
                <a:ea typeface="Amiri" pitchFamily="34" charset="-122"/>
                <a:cs typeface="Amiri" pitchFamily="34" charset="-120"/>
              </a:rPr>
              <a:t>تَتَمَيَّزُ مَدِينَةُ دُبَيَّ بِمَزِيجٍ فَرِيدٍ مِنَ العِمَارَةِ التُّرَاثِيَّةِ وَالمِعْمَارِ الحَدِيثِ. بُنِيَ الجُزْءُ القَدِيمُ مِنَ الطِّينِ وَالخَشَبِ، فِي حِينِ أَنَّ نَاطِحَاتِ السَّحَابِ مَبْنِيَّةٌ مِنَ الزُّجَاجِ وَالصُّلْبِ. تُعِيدُ هَيْئَاتُ التَّطْوِيرِ تَصْمِيمَ أَحْيَاءٍ كَامِلَةٍ، وَيُحَوَّلُ كَثِيرٌ مِنَ المَنَاطِقِ الصِّنَاعِيَّةِ إِلَى مَسَاحَاتٍ خَضْرَاءَ. إِذَا وَاصَلَتِ المُدُنُ التَّوَسُّعَ دُونَ تَخْطِيطٍ كَافٍ، سَتُعَانِي مِنِ ازْدِحَامٍ مُرُورِيٍّ وَتَلَوُّثٍ ضَوْضَائِيٍّ. وَلَوْ كَانَ التَّخْطِيطُ أَكْثَرَ اسْتِدَامَةً مُنْذُ البِدَايَةِ، لَكَانَتِ المُدُنُ اليَوْمَ أَقَلَّ اكْتِظَاظًا. لِذٰلِكَ يُشِيرُ خُبَرَاءُ التَّخْطِيطِ إِلَى أَنَّ المُدُنَ تَحْتَاجُ إِلَى مَسَاحَاتٍ خَضْرَاءَ لِكَيْ تَبْقَى صَالِحَةً لِلْعَيْشِ.</a:t>
            </a:r>
            <a:endParaRPr lang="ar-SA" sz="23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ea typeface="Calibri" pitchFamily="34" charset="-122"/>
                <a:cs typeface="Calibri" pitchFamily="34" charset="-120"/>
              </a:rPr>
              <a:t>Dubai is known for a unique mix of heritage and modern architecture. The old part was built of clay and wood, while the skyscrapers are built of glass and steel. Development authorities redesign whole districts, and many industrial areas are turned into green spaces. If cities keep growing without enough planning, they will suffer from traffic congestion and noise pollution. Had planning been more sustainable from the start, cities would be less overcrowded today. So planning experts point out that cities need green spaces so that they stay liveable.</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ea typeface="Calibri" pitchFamily="34" charset="-122"/>
                <a:cs typeface="Calibri" pitchFamily="34" charset="-120"/>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مَبْنِيَّةٌ مِنَ</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تُعِيدُ … تَصْمِيمَ</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يُحَوَّلُ … إِلَى</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لِكَيْ تَبْقَى</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41 / 49</a:t>
            </a:r>
            <a:endParaRPr lang="en-US" sz="8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TC-L08 · Buildings &amp; Services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ea typeface="Calibri" pitchFamily="34" charset="-122"/>
                <a:cs typeface="Calibri" pitchFamily="34" charset="-120"/>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3 · Lesson 2 of 3</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I can name places in a town: </a:t>
            </a:r>
            <a:pPr algn="l" indent="0" marL="0">
              <a:buNone/>
            </a:pPr>
            <a:r>
              <a:rPr lang="ar-SA" altLang="en-US" sz="1700" dirty="0">
                <a:solidFill>
                  <a:srgbClr val="1F2A37"/>
                </a:solidFill>
                <a:latin typeface="Amiri" pitchFamily="34" charset="0"/>
                <a:ea typeface="Amiri" pitchFamily="34" charset="-122"/>
                <a:cs typeface="Amiri" pitchFamily="34" charset="-120"/>
              </a:rPr>
              <a:t>مُسْتَشْفًى، مَكْتَبَةٌ، مَقْهًى</a:t>
            </a:r>
            <a:pPr algn="l" indent="0" marL="0">
              <a:buNone/>
            </a:pPr>
            <a:r>
              <a:rPr lang="en-US" sz="1300" dirty="0">
                <a:solidFill>
                  <a:srgbClr val="1F2A37"/>
                </a:solidFill>
                <a:latin typeface="Calibri" pitchFamily="34" charset="0"/>
                <a:ea typeface="Calibri" pitchFamily="34" charset="-122"/>
                <a:cs typeface="Calibri" pitchFamily="34" charset="-120"/>
              </a:rPr>
              <a:t> …</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I can choose </a:t>
            </a:r>
            <a:pPr algn="l" indent="0" marL="0">
              <a:buNone/>
            </a:pPr>
            <a:r>
              <a:rPr lang="ar-SA" altLang="en-US" sz="1700" dirty="0">
                <a:solidFill>
                  <a:srgbClr val="1F2A37"/>
                </a:solidFill>
                <a:latin typeface="Amiri" pitchFamily="34" charset="0"/>
                <a:ea typeface="Amiri" pitchFamily="34" charset="-122"/>
                <a:cs typeface="Amiri" pitchFamily="34" charset="-120"/>
              </a:rPr>
              <a:t>يُوجَدُ</a:t>
            </a:r>
            <a:pPr algn="l" indent="0" marL="0">
              <a:buNone/>
            </a:pPr>
            <a:r>
              <a:rPr lang="en-US" sz="1300" dirty="0">
                <a:solidFill>
                  <a:srgbClr val="1F2A37"/>
                </a:solidFill>
                <a:latin typeface="Calibri" pitchFamily="34" charset="0"/>
                <a:ea typeface="Calibri" pitchFamily="34" charset="-122"/>
                <a:cs typeface="Calibri" pitchFamily="34" charset="-120"/>
              </a:rPr>
              <a:t> or </a:t>
            </a:r>
            <a:pPr algn="l" indent="0" marL="0">
              <a:buNone/>
            </a:pPr>
            <a:r>
              <a:rPr lang="ar-SA" altLang="en-US" sz="1700" dirty="0">
                <a:solidFill>
                  <a:srgbClr val="1F2A37"/>
                </a:solidFill>
                <a:latin typeface="Amiri" pitchFamily="34" charset="0"/>
                <a:ea typeface="Amiri" pitchFamily="34" charset="-122"/>
                <a:cs typeface="Amiri" pitchFamily="34" charset="-120"/>
              </a:rPr>
              <a:t>تُوجَدُ</a:t>
            </a:r>
            <a:pPr algn="l" indent="0" marL="0">
              <a:buNone/>
            </a:pPr>
            <a:r>
              <a:rPr lang="en-US" sz="1300" dirty="0">
                <a:solidFill>
                  <a:srgbClr val="1F2A37"/>
                </a:solidFill>
                <a:latin typeface="Calibri" pitchFamily="34" charset="0"/>
                <a:ea typeface="Calibri" pitchFamily="34" charset="-122"/>
                <a:cs typeface="Calibri" pitchFamily="34" charset="-120"/>
              </a:rPr>
              <a:t> and say where a place is (</a:t>
            </a:r>
            <a:pPr algn="l" indent="0" marL="0">
              <a:buNone/>
            </a:pPr>
            <a:r>
              <a:rPr lang="ar-SA" altLang="en-US" sz="1700" dirty="0">
                <a:solidFill>
                  <a:srgbClr val="1F2A37"/>
                </a:solidFill>
                <a:latin typeface="Amiri" pitchFamily="34" charset="0"/>
                <a:ea typeface="Amiri" pitchFamily="34" charset="-122"/>
                <a:cs typeface="Amiri" pitchFamily="34" charset="-120"/>
              </a:rPr>
              <a:t>بِجَانِبِ، مُقَابِلَ</a:t>
            </a:r>
            <a:pPr algn="l" indent="0" marL="0">
              <a:buNone/>
            </a:pPr>
            <a:r>
              <a:rPr lang="en-US" sz="1300" dirty="0">
                <a:solidFill>
                  <a:srgbClr val="1F2A37"/>
                </a:solidFill>
                <a:latin typeface="Calibri" pitchFamily="34" charset="0"/>
                <a:ea typeface="Calibri" pitchFamily="34" charset="-122"/>
                <a:cs typeface="Calibri" pitchFamily="34" charset="-120"/>
              </a:rPr>
              <a:t>).</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I can compare and judge services: </a:t>
            </a:r>
            <a:pPr algn="l" indent="0" marL="0">
              <a:buNone/>
            </a:pPr>
            <a:r>
              <a:rPr lang="ar-SA" altLang="en-US" sz="1700" dirty="0">
                <a:solidFill>
                  <a:srgbClr val="1F2A37"/>
                </a:solidFill>
                <a:latin typeface="Amiri" pitchFamily="34" charset="0"/>
                <a:ea typeface="Amiri" pitchFamily="34" charset="-122"/>
                <a:cs typeface="Amiri" pitchFamily="34" charset="-120"/>
              </a:rPr>
              <a:t>أَكْبَرُ مِنْ، مُزْدَحِمٌ، لَا يُوجَدُ</a:t>
            </a:r>
            <a:pPr algn="l" indent="0" marL="0">
              <a:buNone/>
            </a:pPr>
            <a:r>
              <a:rPr lang="en-US" sz="1300" dirty="0">
                <a:solidFill>
                  <a:srgbClr val="1F2A37"/>
                </a:solidFill>
                <a:latin typeface="Calibri" pitchFamily="34" charset="0"/>
                <a:ea typeface="Calibri" pitchFamily="34" charset="-122"/>
                <a:cs typeface="Calibri" pitchFamily="34" charset="-120"/>
              </a:rPr>
              <a:t>.</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I say what a building is made of with </a:t>
            </a:r>
            <a:pPr algn="l" indent="0" marL="0">
              <a:buNone/>
            </a:pPr>
            <a:r>
              <a:rPr lang="ar-SA" altLang="en-US" sz="1700" dirty="0">
                <a:solidFill>
                  <a:srgbClr val="1F2A37"/>
                </a:solidFill>
                <a:latin typeface="Amiri" pitchFamily="34" charset="0"/>
                <a:ea typeface="Amiri" pitchFamily="34" charset="-122"/>
                <a:cs typeface="Amiri" pitchFamily="34" charset="-120"/>
              </a:rPr>
              <a:t>مَبْنِيٌّ مِنْ</a:t>
            </a:r>
            <a:pPr algn="l" indent="0" marL="0">
              <a:buNone/>
            </a:pPr>
            <a:r>
              <a:rPr lang="en-US" sz="1300" dirty="0">
                <a:solidFill>
                  <a:srgbClr val="1F2A37"/>
                </a:solidFill>
                <a:latin typeface="Calibri" pitchFamily="34" charset="0"/>
                <a:ea typeface="Calibri" pitchFamily="34" charset="-122"/>
                <a:cs typeface="Calibri" pitchFamily="34" charset="-120"/>
              </a:rPr>
              <a:t>.</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I put a fatḥa on the verb after </a:t>
            </a:r>
            <a:pPr algn="l" indent="0" marL="0">
              <a:buNone/>
            </a:pPr>
            <a:r>
              <a:rPr lang="ar-SA" altLang="en-US" sz="1700" dirty="0">
                <a:solidFill>
                  <a:srgbClr val="1F2A37"/>
                </a:solidFill>
                <a:latin typeface="Amiri" pitchFamily="34" charset="0"/>
                <a:ea typeface="Amiri" pitchFamily="34" charset="-122"/>
                <a:cs typeface="Amiri" pitchFamily="34" charset="-120"/>
              </a:rPr>
              <a:t>لِكَي</a:t>
            </a:r>
            <a:pPr algn="l" indent="0" marL="0">
              <a:buNone/>
            </a:pPr>
            <a:r>
              <a:rPr lang="en-US" sz="1300" dirty="0">
                <a:solidFill>
                  <a:srgbClr val="1F2A37"/>
                </a:solidFill>
                <a:latin typeface="Calibri" pitchFamily="34" charset="0"/>
                <a:ea typeface="Calibri" pitchFamily="34" charset="-122"/>
                <a:cs typeface="Calibri" pitchFamily="34" charset="-120"/>
              </a:rPr>
              <a:t> (</a:t>
            </a:r>
            <a:pPr algn="l" indent="0" marL="0">
              <a:buNone/>
            </a:pPr>
            <a:r>
              <a:rPr lang="ar-SA" altLang="en-US" sz="1700" dirty="0">
                <a:solidFill>
                  <a:srgbClr val="1F2A37"/>
                </a:solidFill>
                <a:latin typeface="Amiri" pitchFamily="34" charset="0"/>
                <a:ea typeface="Amiri" pitchFamily="34" charset="-122"/>
                <a:cs typeface="Amiri" pitchFamily="34" charset="-120"/>
              </a:rPr>
              <a:t>تَكُونَ</a:t>
            </a:r>
            <a:pPr algn="l" indent="0" marL="0">
              <a:buNone/>
            </a:pPr>
            <a:r>
              <a:rPr lang="en-US" sz="1300" dirty="0">
                <a:solidFill>
                  <a:srgbClr val="1F2A37"/>
                </a:solidFill>
                <a:latin typeface="Calibri" pitchFamily="34" charset="0"/>
                <a:ea typeface="Calibri" pitchFamily="34" charset="-122"/>
                <a:cs typeface="Calibri" pitchFamily="34" charset="-120"/>
              </a:rPr>
              <a:t>).</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ea typeface="Calibri" pitchFamily="34" charset="-122"/>
                <a:cs typeface="Calibri" pitchFamily="34" charset="-120"/>
              </a:rPr>
              <a:t>WWW</a:t>
            </a:r>
            <a:endParaRPr lang="en-US" sz="1800" dirty="0"/>
          </a:p>
          <a:p>
            <a:pPr indent="0" marL="0">
              <a:buNone/>
            </a:pPr>
            <a:r>
              <a:rPr lang="en-US" sz="1200" dirty="0">
                <a:solidFill>
                  <a:srgbClr val="1F2A37"/>
                </a:solidFill>
                <a:latin typeface="Calibri" pitchFamily="34" charset="0"/>
                <a:ea typeface="Calibri" pitchFamily="34" charset="-122"/>
                <a:cs typeface="Calibri" pitchFamily="34" charset="-120"/>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ea typeface="Calibri" pitchFamily="34" charset="-122"/>
                <a:cs typeface="Calibri" pitchFamily="34" charset="-120"/>
              </a:rPr>
              <a:t>EBI</a:t>
            </a:r>
            <a:endParaRPr lang="en-US" sz="1800" dirty="0"/>
          </a:p>
          <a:p>
            <a:pPr indent="0" marL="0">
              <a:buNone/>
            </a:pPr>
            <a:r>
              <a:rPr lang="en-US" sz="1200" dirty="0">
                <a:solidFill>
                  <a:srgbClr val="1F2A37"/>
                </a:solidFill>
                <a:latin typeface="Calibri" pitchFamily="34" charset="0"/>
                <a:ea typeface="Calibri" pitchFamily="34" charset="-122"/>
                <a:cs typeface="Calibri" pitchFamily="34" charset="-120"/>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42 / 49</a:t>
            </a:r>
            <a:endParaRPr lang="en-US" sz="8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TC-L08 · Buildings &amp; Services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ea typeface="Calibri" pitchFamily="34" charset="-122"/>
                <a:cs typeface="Calibri" pitchFamily="34" charset="-120"/>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3 · Lesson 2 of 3</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Complete:</a:t>
            </a:r>
            <a:endParaRPr lang="en-US" sz="1200" dirty="0"/>
          </a:p>
        </p:txBody>
      </p:sp>
      <p:sp>
        <p:nvSpPr>
          <p:cNvPr id="19" name="Text 16"/>
          <p:cNvSpPr txBox="1"/>
          <p:nvPr/>
        </p:nvSpPr>
        <p:spPr>
          <a:xfrm>
            <a:off x="2406701" y="1883664"/>
            <a:ext cx="1577035"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34" charset="0"/>
                <a:ea typeface="Amiri" pitchFamily="34" charset="-122"/>
                <a:cs typeface="Amiri" pitchFamily="34" charset="-120"/>
              </a:rPr>
              <a:t>لَا ___ مَسْبَحٌ فِي حَيِّي.</a:t>
            </a:r>
            <a:endParaRPr lang="ar-SA" sz="1500" dirty="0"/>
          </a:p>
        </p:txBody>
      </p:sp>
      <p:sp>
        <p:nvSpPr>
          <p:cNvPr id="20" name="Shape 17"/>
          <p:cNvSpPr/>
          <p:nvPr/>
        </p:nvSpPr>
        <p:spPr>
          <a:xfrm>
            <a:off x="640080" y="2532888"/>
            <a:ext cx="256032" cy="256032"/>
          </a:xfrm>
          <a:prstGeom prst="ellipse">
            <a:avLst/>
          </a:prstGeom>
          <a:solidFill>
            <a:srgbClr val="F4F1EA"/>
          </a:solidFill>
          <a:ln w="12700">
            <a:solidFill>
              <a:srgbClr val="F4F1EA"/>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يُوجَدُ</a:t>
            </a:r>
            <a:endParaRPr lang="ar-SA" sz="2050" dirty="0"/>
          </a:p>
        </p:txBody>
      </p:sp>
      <p:sp>
        <p:nvSpPr>
          <p:cNvPr id="23" name="Shape 20"/>
          <p:cNvSpPr/>
          <p:nvPr/>
        </p:nvSpPr>
        <p:spPr>
          <a:xfrm>
            <a:off x="640080" y="2990088"/>
            <a:ext cx="256032" cy="256032"/>
          </a:xfrm>
          <a:prstGeom prst="ellipse">
            <a:avLst/>
          </a:prstGeom>
          <a:solidFill>
            <a:srgbClr val="F4F1EA"/>
          </a:solidFill>
          <a:ln w="12700">
            <a:solidFill>
              <a:srgbClr val="F4F1EA"/>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تُوجَدُ</a:t>
            </a:r>
            <a:endParaRPr lang="ar-SA" sz="2050" dirty="0"/>
          </a:p>
        </p:txBody>
      </p:sp>
      <p:sp>
        <p:nvSpPr>
          <p:cNvPr id="26" name="Shape 23"/>
          <p:cNvSpPr/>
          <p:nvPr/>
        </p:nvSpPr>
        <p:spPr>
          <a:xfrm>
            <a:off x="640080" y="3447288"/>
            <a:ext cx="256032" cy="256032"/>
          </a:xfrm>
          <a:prstGeom prst="ellipse">
            <a:avLst/>
          </a:prstGeom>
          <a:solidFill>
            <a:srgbClr val="F4F1EA"/>
          </a:solidFill>
          <a:ln w="12700">
            <a:solidFill>
              <a:srgbClr val="F4F1EA"/>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يُوجَدُونَ</a:t>
            </a:r>
            <a:endParaRPr lang="ar-SA" sz="2050" dirty="0"/>
          </a:p>
        </p:txBody>
      </p:sp>
      <p:sp>
        <p:nvSpPr>
          <p:cNvPr id="29" name="Shape 26"/>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4404360" y="1947672"/>
            <a:ext cx="310896" cy="310896"/>
          </a:xfrm>
          <a:prstGeom prst="ellipse">
            <a:avLst/>
          </a:prstGeom>
          <a:solidFill>
            <a:srgbClr val="1B3B6F"/>
          </a:solidFill>
          <a:ln w="12700">
            <a:solidFill>
              <a:srgbClr val="1B3B6F"/>
            </a:solidFill>
            <a:prstDash val="solid"/>
          </a:ln>
        </p:spPr>
      </p:sp>
      <p:sp>
        <p:nvSpPr>
          <p:cNvPr id="31" name="Text 28"/>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2" name="Text 29"/>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means “The hospital is opposite the bank”?</a:t>
            </a:r>
            <a:endParaRPr lang="en-US" sz="1250" dirty="0"/>
          </a:p>
        </p:txBody>
      </p:sp>
      <p:sp>
        <p:nvSpPr>
          <p:cNvPr id="33" name="Shape 30"/>
          <p:cNvSpPr/>
          <p:nvPr/>
        </p:nvSpPr>
        <p:spPr>
          <a:xfrm>
            <a:off x="4459224" y="2532888"/>
            <a:ext cx="256032" cy="256032"/>
          </a:xfrm>
          <a:prstGeom prst="ellipse">
            <a:avLst/>
          </a:prstGeom>
          <a:solidFill>
            <a:srgbClr val="F4F1EA"/>
          </a:solidFill>
          <a:ln w="12700">
            <a:solidFill>
              <a:srgbClr val="F4F1EA"/>
            </a:solidFill>
            <a:prstDash val="solid"/>
          </a:ln>
        </p:spPr>
      </p:sp>
      <p:sp>
        <p:nvSpPr>
          <p:cNvPr id="34" name="Text 31"/>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5" name="Text 32"/>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المُسْتَشْفَى بِجَانِبِ البَنْكِ.</a:t>
            </a:r>
            <a:endParaRPr lang="ar-SA" sz="2050" dirty="0"/>
          </a:p>
        </p:txBody>
      </p:sp>
      <p:sp>
        <p:nvSpPr>
          <p:cNvPr id="36" name="Shape 33"/>
          <p:cNvSpPr/>
          <p:nvPr/>
        </p:nvSpPr>
        <p:spPr>
          <a:xfrm>
            <a:off x="4459224" y="2990088"/>
            <a:ext cx="256032" cy="256032"/>
          </a:xfrm>
          <a:prstGeom prst="ellipse">
            <a:avLst/>
          </a:prstGeom>
          <a:solidFill>
            <a:srgbClr val="F4F1EA"/>
          </a:solidFill>
          <a:ln w="12700">
            <a:solidFill>
              <a:srgbClr val="F4F1EA"/>
            </a:solidFill>
            <a:prstDash val="solid"/>
          </a:ln>
        </p:spPr>
      </p:sp>
      <p:sp>
        <p:nvSpPr>
          <p:cNvPr id="37" name="Text 34"/>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8" name="Text 35"/>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المُسْتَشْفَى مُقَابِلَ البَنْكِ.</a:t>
            </a:r>
            <a:endParaRPr lang="ar-SA" sz="2050" dirty="0"/>
          </a:p>
        </p:txBody>
      </p:sp>
      <p:sp>
        <p:nvSpPr>
          <p:cNvPr id="39" name="Shape 36"/>
          <p:cNvSpPr/>
          <p:nvPr/>
        </p:nvSpPr>
        <p:spPr>
          <a:xfrm>
            <a:off x="4459224" y="3447288"/>
            <a:ext cx="256032" cy="256032"/>
          </a:xfrm>
          <a:prstGeom prst="ellipse">
            <a:avLst/>
          </a:prstGeom>
          <a:solidFill>
            <a:srgbClr val="F4F1EA"/>
          </a:solidFill>
          <a:ln w="12700">
            <a:solidFill>
              <a:srgbClr val="F4F1EA"/>
            </a:solidFill>
            <a:prstDash val="solid"/>
          </a:ln>
        </p:spPr>
      </p:sp>
      <p:sp>
        <p:nvSpPr>
          <p:cNvPr id="40" name="Text 37"/>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1" name="Text 38"/>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المُسْتَشْفَى خَلْفَ البَنْكِ.</a:t>
            </a:r>
            <a:endParaRPr lang="ar-SA" sz="2050" dirty="0"/>
          </a:p>
        </p:txBody>
      </p:sp>
      <p:sp>
        <p:nvSpPr>
          <p:cNvPr id="42" name="Shape 39"/>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8223504" y="1947672"/>
            <a:ext cx="310896" cy="310896"/>
          </a:xfrm>
          <a:prstGeom prst="ellipse">
            <a:avLst/>
          </a:prstGeom>
          <a:solidFill>
            <a:srgbClr val="1B3B6F"/>
          </a:solidFill>
          <a:ln w="12700">
            <a:solidFill>
              <a:srgbClr val="1B3B6F"/>
            </a:solidFill>
            <a:prstDash val="solid"/>
          </a:ln>
        </p:spPr>
      </p:sp>
      <p:sp>
        <p:nvSpPr>
          <p:cNvPr id="44" name="Text 41"/>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5" name="Text 42"/>
          <p:cNvSpPr txBox="1"/>
          <p:nvPr/>
        </p:nvSpPr>
        <p:spPr>
          <a:xfrm>
            <a:off x="8589264"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Complete:</a:t>
            </a:r>
            <a:endParaRPr lang="en-US" sz="1200" dirty="0"/>
          </a:p>
        </p:txBody>
      </p:sp>
      <p:sp>
        <p:nvSpPr>
          <p:cNvPr id="46" name="Text 43"/>
          <p:cNvSpPr txBox="1"/>
          <p:nvPr/>
        </p:nvSpPr>
        <p:spPr>
          <a:xfrm>
            <a:off x="10044989" y="1883664"/>
            <a:ext cx="1577035" cy="475488"/>
          </a:xfrm>
          <a:prstGeom prst="rect">
            <a:avLst/>
          </a:prstGeom>
          <a:noFill/>
          <a:ln/>
        </p:spPr>
        <p:txBody>
          <a:bodyPr wrap="square" lIns="0" tIns="0" rIns="0" bIns="0" rtlCol="0" anchor="ctr"/>
          <a:lstStyle/>
          <a:p>
            <a:pPr rtl="1" algn="r" indent="0" marL="0">
              <a:lnSpc>
                <a:spcPct val="120000"/>
              </a:lnSpc>
              <a:buNone/>
            </a:pPr>
            <a:r>
              <a:rPr lang="ar-SA" altLang="en-US" sz="1000" b="1" dirty="0">
                <a:solidFill>
                  <a:srgbClr val="1F2A37"/>
                </a:solidFill>
                <a:latin typeface="Amiri" pitchFamily="34" charset="0"/>
                <a:ea typeface="Amiri" pitchFamily="34" charset="-122"/>
                <a:cs typeface="Amiri" pitchFamily="34" charset="-120"/>
              </a:rPr>
              <a:t>نَاطِحَاتُ السَّحَابِ مَبْنِيَّةٌ ___ الزُّجَاجِ.</a:t>
            </a:r>
            <a:endParaRPr lang="ar-SA" sz="1000" dirty="0"/>
          </a:p>
        </p:txBody>
      </p:sp>
      <p:sp>
        <p:nvSpPr>
          <p:cNvPr id="47" name="Shape 44"/>
          <p:cNvSpPr/>
          <p:nvPr/>
        </p:nvSpPr>
        <p:spPr>
          <a:xfrm>
            <a:off x="8278368"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9" name="Text 46"/>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مِنَ</a:t>
            </a:r>
            <a:endParaRPr lang="ar-SA" sz="2050" dirty="0"/>
          </a:p>
        </p:txBody>
      </p:sp>
      <p:sp>
        <p:nvSpPr>
          <p:cNvPr id="50" name="Shape 47"/>
          <p:cNvSpPr/>
          <p:nvPr/>
        </p:nvSpPr>
        <p:spPr>
          <a:xfrm>
            <a:off x="8278368"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2" name="Text 49"/>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بِـ</a:t>
            </a:r>
            <a:endParaRPr lang="ar-SA" sz="2050" dirty="0"/>
          </a:p>
        </p:txBody>
      </p:sp>
      <p:sp>
        <p:nvSpPr>
          <p:cNvPr id="53" name="Shape 50"/>
          <p:cNvSpPr/>
          <p:nvPr/>
        </p:nvSpPr>
        <p:spPr>
          <a:xfrm>
            <a:off x="8278368"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5" name="Text 52"/>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عَلَى</a:t>
            </a:r>
            <a:endParaRPr lang="ar-SA" sz="2050" dirty="0"/>
          </a:p>
        </p:txBody>
      </p:sp>
      <p:sp>
        <p:nvSpPr>
          <p:cNvPr id="56" name="Shape 53"/>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7" name="Text 54"/>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ea typeface="Calibri" pitchFamily="34" charset="-122"/>
                <a:cs typeface="Calibri" pitchFamily="34" charset="-120"/>
              </a:rPr>
              <a:t>ON YOUR OWN · 2 MINUTES</a:t>
            </a:r>
            <a:endParaRPr lang="en-US" sz="1200" dirty="0"/>
          </a:p>
        </p:txBody>
      </p:sp>
      <p:sp>
        <p:nvSpPr>
          <p:cNvPr id="58" name="Text 55"/>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Answer silently. When the timer ends, type your three letters in the chat: 1_ 2_ 3_. The other end-of-lesson questions are on the website.</a:t>
            </a:r>
            <a:endParaRPr lang="en-US" sz="1250" dirty="0"/>
          </a:p>
        </p:txBody>
      </p:sp>
      <p:sp>
        <p:nvSpPr>
          <p:cNvPr id="59" name="Text 5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43 / 49</a:t>
            </a:r>
            <a:endParaRPr lang="en-US" sz="8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TC-L08 · Buildings &amp; Services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ea typeface="Calibri" pitchFamily="34" charset="-122"/>
                <a:cs typeface="Calibri" pitchFamily="34" charset="-120"/>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3 · Lesson 2 of 3</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Complete:</a:t>
            </a:r>
            <a:endParaRPr lang="en-US" sz="1200" dirty="0"/>
          </a:p>
        </p:txBody>
      </p:sp>
      <p:sp>
        <p:nvSpPr>
          <p:cNvPr id="19" name="Text 16"/>
          <p:cNvSpPr txBox="1"/>
          <p:nvPr/>
        </p:nvSpPr>
        <p:spPr>
          <a:xfrm>
            <a:off x="2406701" y="1883664"/>
            <a:ext cx="1577035"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34" charset="0"/>
                <a:ea typeface="Amiri" pitchFamily="34" charset="-122"/>
                <a:cs typeface="Amiri" pitchFamily="34" charset="-120"/>
              </a:rPr>
              <a:t>لَا ___ مَسْبَحٌ فِي حَيِّي.</a:t>
            </a:r>
            <a:endParaRPr lang="ar-SA" sz="1500" dirty="0"/>
          </a:p>
        </p:txBody>
      </p:sp>
      <p:sp>
        <p:nvSpPr>
          <p:cNvPr id="20" name="Shape 17"/>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1" name="Shape 18"/>
          <p:cNvSpPr/>
          <p:nvPr/>
        </p:nvSpPr>
        <p:spPr>
          <a:xfrm>
            <a:off x="640080" y="2532888"/>
            <a:ext cx="256032" cy="256032"/>
          </a:xfrm>
          <a:prstGeom prst="ellipse">
            <a:avLst/>
          </a:prstGeom>
          <a:solidFill>
            <a:srgbClr val="2E8B57"/>
          </a:solidFill>
          <a:ln w="12700">
            <a:solidFill>
              <a:srgbClr val="2E8B57"/>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34" charset="0"/>
                <a:ea typeface="Amiri" pitchFamily="34" charset="-122"/>
                <a:cs typeface="Amiri" pitchFamily="34" charset="-120"/>
              </a:rPr>
              <a:t>يُوجَدُ</a:t>
            </a:r>
            <a:endParaRPr lang="ar-SA" sz="2050" dirty="0"/>
          </a:p>
        </p:txBody>
      </p:sp>
      <p:sp>
        <p:nvSpPr>
          <p:cNvPr id="24" name="Shape 21"/>
          <p:cNvSpPr/>
          <p:nvPr/>
        </p:nvSpPr>
        <p:spPr>
          <a:xfrm>
            <a:off x="640080" y="2990088"/>
            <a:ext cx="256032" cy="256032"/>
          </a:xfrm>
          <a:prstGeom prst="ellipse">
            <a:avLst/>
          </a:prstGeom>
          <a:solidFill>
            <a:srgbClr val="C9CED6"/>
          </a:solidFill>
          <a:ln w="12700">
            <a:solidFill>
              <a:srgbClr val="C9CED6"/>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34" charset="0"/>
                <a:ea typeface="Amiri" pitchFamily="34" charset="-122"/>
                <a:cs typeface="Amiri" pitchFamily="34" charset="-120"/>
              </a:rPr>
              <a:t>تُوجَدُ</a:t>
            </a:r>
            <a:endParaRPr lang="ar-SA" sz="2050" dirty="0"/>
          </a:p>
        </p:txBody>
      </p:sp>
      <p:sp>
        <p:nvSpPr>
          <p:cNvPr id="27" name="Shape 24"/>
          <p:cNvSpPr/>
          <p:nvPr/>
        </p:nvSpPr>
        <p:spPr>
          <a:xfrm>
            <a:off x="640080" y="3447288"/>
            <a:ext cx="256032" cy="256032"/>
          </a:xfrm>
          <a:prstGeom prst="ellipse">
            <a:avLst/>
          </a:prstGeom>
          <a:solidFill>
            <a:srgbClr val="C9CED6"/>
          </a:solidFill>
          <a:ln w="12700">
            <a:solidFill>
              <a:srgbClr val="C9CED6"/>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9" name="Text 26"/>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34" charset="0"/>
                <a:ea typeface="Amiri" pitchFamily="34" charset="-122"/>
                <a:cs typeface="Amiri" pitchFamily="34" charset="-120"/>
              </a:rPr>
              <a:t>يُوجَدُونَ</a:t>
            </a:r>
            <a:endParaRPr lang="ar-SA" sz="2050" dirty="0"/>
          </a:p>
        </p:txBody>
      </p:sp>
      <p:sp>
        <p:nvSpPr>
          <p:cNvPr id="30" name="Text 27"/>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مَسْبَحٌ</a:t>
            </a:r>
            <a:pPr algn="l" indent="0" marL="0">
              <a:buNone/>
            </a:pPr>
            <a:r>
              <a:rPr lang="en-US" sz="1050" i="1" dirty="0">
                <a:solidFill>
                  <a:srgbClr val="8A6D1E"/>
                </a:solidFill>
                <a:latin typeface="Calibri" pitchFamily="34" charset="0"/>
                <a:ea typeface="Calibri" pitchFamily="34" charset="-122"/>
                <a:cs typeface="Calibri" pitchFamily="34" charset="-120"/>
              </a:rPr>
              <a:t> is masculine (no </a:t>
            </a:r>
            <a:pPr algn="l" indent="0" marL="0">
              <a:buNone/>
            </a:pPr>
            <a:r>
              <a:rPr lang="ar-SA" altLang="en-US" sz="1350" dirty="0">
                <a:solidFill>
                  <a:srgbClr val="8A6D1E"/>
                </a:solidFill>
                <a:latin typeface="Amiri" pitchFamily="34" charset="0"/>
                <a:ea typeface="Amiri" pitchFamily="34" charset="-122"/>
                <a:cs typeface="Amiri" pitchFamily="34" charset="-120"/>
              </a:rPr>
              <a:t>ـة</a:t>
            </a:r>
            <a:pPr algn="l" indent="0" marL="0">
              <a:buNone/>
            </a:pPr>
            <a:r>
              <a:rPr lang="en-US" sz="1050" i="1" dirty="0">
                <a:solidFill>
                  <a:srgbClr val="8A6D1E"/>
                </a:solidFill>
                <a:latin typeface="Calibri" pitchFamily="34" charset="0"/>
                <a:ea typeface="Calibri" pitchFamily="34" charset="-122"/>
                <a:cs typeface="Calibri" pitchFamily="34" charset="-120"/>
              </a:rPr>
              <a:t>) → </a:t>
            </a:r>
            <a:pPr algn="l" indent="0" marL="0">
              <a:buNone/>
            </a:pPr>
            <a:r>
              <a:rPr lang="ar-SA" altLang="en-US" sz="1350" dirty="0">
                <a:solidFill>
                  <a:srgbClr val="8A6D1E"/>
                </a:solidFill>
                <a:latin typeface="Amiri" pitchFamily="34" charset="0"/>
                <a:ea typeface="Amiri" pitchFamily="34" charset="-122"/>
                <a:cs typeface="Amiri" pitchFamily="34" charset="-120"/>
              </a:rPr>
              <a:t>يُوجَدُ</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31" name="Shape 28"/>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4404360" y="1947672"/>
            <a:ext cx="310896" cy="310896"/>
          </a:xfrm>
          <a:prstGeom prst="ellipse">
            <a:avLst/>
          </a:prstGeom>
          <a:solidFill>
            <a:srgbClr val="1B3B6F"/>
          </a:solidFill>
          <a:ln w="12700">
            <a:solidFill>
              <a:srgbClr val="1B3B6F"/>
            </a:solidFill>
            <a:prstDash val="solid"/>
          </a:ln>
        </p:spPr>
      </p:sp>
      <p:sp>
        <p:nvSpPr>
          <p:cNvPr id="33" name="Text 30"/>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4" name="Text 31"/>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means “The hospital is opposite the bank”?</a:t>
            </a:r>
            <a:endParaRPr lang="en-US" sz="1250" dirty="0"/>
          </a:p>
        </p:txBody>
      </p:sp>
      <p:sp>
        <p:nvSpPr>
          <p:cNvPr id="35" name="Shape 32"/>
          <p:cNvSpPr/>
          <p:nvPr/>
        </p:nvSpPr>
        <p:spPr>
          <a:xfrm>
            <a:off x="4459224" y="2532888"/>
            <a:ext cx="256032" cy="256032"/>
          </a:xfrm>
          <a:prstGeom prst="ellipse">
            <a:avLst/>
          </a:prstGeom>
          <a:solidFill>
            <a:srgbClr val="C9CED6"/>
          </a:solidFill>
          <a:ln w="12700">
            <a:solidFill>
              <a:srgbClr val="C9CED6"/>
            </a:solidFill>
            <a:prstDash val="solid"/>
          </a:ln>
        </p:spPr>
      </p:sp>
      <p:sp>
        <p:nvSpPr>
          <p:cNvPr id="36" name="Text 33"/>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7" name="Text 34"/>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34" charset="0"/>
                <a:ea typeface="Amiri" pitchFamily="34" charset="-122"/>
                <a:cs typeface="Amiri" pitchFamily="34" charset="-120"/>
              </a:rPr>
              <a:t>المُسْتَشْفَى بِجَانِبِ البَنْكِ.</a:t>
            </a:r>
            <a:endParaRPr lang="ar-SA" sz="2050" dirty="0"/>
          </a:p>
        </p:txBody>
      </p:sp>
      <p:sp>
        <p:nvSpPr>
          <p:cNvPr id="38" name="Shape 35"/>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9" name="Shape 36"/>
          <p:cNvSpPr/>
          <p:nvPr/>
        </p:nvSpPr>
        <p:spPr>
          <a:xfrm>
            <a:off x="4459224" y="2990088"/>
            <a:ext cx="256032" cy="256032"/>
          </a:xfrm>
          <a:prstGeom prst="ellipse">
            <a:avLst/>
          </a:prstGeom>
          <a:solidFill>
            <a:srgbClr val="2E8B57"/>
          </a:solidFill>
          <a:ln w="12700">
            <a:solidFill>
              <a:srgbClr val="2E8B57"/>
            </a:solidFill>
            <a:prstDash val="solid"/>
          </a:ln>
        </p:spPr>
      </p:sp>
      <p:sp>
        <p:nvSpPr>
          <p:cNvPr id="40" name="Text 37"/>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41" name="Text 38"/>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34" charset="0"/>
                <a:ea typeface="Amiri" pitchFamily="34" charset="-122"/>
                <a:cs typeface="Amiri" pitchFamily="34" charset="-120"/>
              </a:rPr>
              <a:t>المُسْتَشْفَى مُقَابِلَ البَنْكِ.</a:t>
            </a:r>
            <a:endParaRPr lang="ar-SA" sz="2050" dirty="0"/>
          </a:p>
        </p:txBody>
      </p:sp>
      <p:sp>
        <p:nvSpPr>
          <p:cNvPr id="42" name="Shape 39"/>
          <p:cNvSpPr/>
          <p:nvPr/>
        </p:nvSpPr>
        <p:spPr>
          <a:xfrm>
            <a:off x="4459224" y="3447288"/>
            <a:ext cx="256032" cy="256032"/>
          </a:xfrm>
          <a:prstGeom prst="ellipse">
            <a:avLst/>
          </a:prstGeom>
          <a:solidFill>
            <a:srgbClr val="C9CED6"/>
          </a:solidFill>
          <a:ln w="12700">
            <a:solidFill>
              <a:srgbClr val="C9CED6"/>
            </a:solidFill>
            <a:prstDash val="solid"/>
          </a:ln>
        </p:spPr>
      </p:sp>
      <p:sp>
        <p:nvSpPr>
          <p:cNvPr id="43" name="Text 40"/>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4" name="Text 41"/>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34" charset="0"/>
                <a:ea typeface="Amiri" pitchFamily="34" charset="-122"/>
                <a:cs typeface="Amiri" pitchFamily="34" charset="-120"/>
              </a:rPr>
              <a:t>المُسْتَشْفَى خَلْفَ البَنْكِ.</a:t>
            </a:r>
            <a:endParaRPr lang="ar-SA" sz="2050" dirty="0"/>
          </a:p>
        </p:txBody>
      </p:sp>
      <p:sp>
        <p:nvSpPr>
          <p:cNvPr id="45" name="Text 42"/>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مُقَابِلَ</a:t>
            </a:r>
            <a:pPr algn="l" indent="0" marL="0">
              <a:buNone/>
            </a:pPr>
            <a:r>
              <a:rPr lang="en-US" sz="1050" i="1" dirty="0">
                <a:solidFill>
                  <a:srgbClr val="8A6D1E"/>
                </a:solidFill>
                <a:latin typeface="Calibri" pitchFamily="34" charset="0"/>
                <a:ea typeface="Calibri" pitchFamily="34" charset="-122"/>
                <a:cs typeface="Calibri" pitchFamily="34" charset="-120"/>
              </a:rPr>
              <a:t> = opposite (website game).</a:t>
            </a:r>
            <a:endParaRPr lang="en-US" sz="1050" dirty="0"/>
          </a:p>
        </p:txBody>
      </p:sp>
      <p:sp>
        <p:nvSpPr>
          <p:cNvPr id="46" name="Shape 43"/>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4"/>
          <p:cNvSpPr/>
          <p:nvPr/>
        </p:nvSpPr>
        <p:spPr>
          <a:xfrm>
            <a:off x="8223504" y="1947672"/>
            <a:ext cx="310896" cy="310896"/>
          </a:xfrm>
          <a:prstGeom prst="ellipse">
            <a:avLst/>
          </a:prstGeom>
          <a:solidFill>
            <a:srgbClr val="1B3B6F"/>
          </a:solidFill>
          <a:ln w="12700">
            <a:solidFill>
              <a:srgbClr val="1B3B6F"/>
            </a:solidFill>
            <a:prstDash val="solid"/>
          </a:ln>
        </p:spPr>
      </p:sp>
      <p:sp>
        <p:nvSpPr>
          <p:cNvPr id="48" name="Text 45"/>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9" name="Text 46"/>
          <p:cNvSpPr txBox="1"/>
          <p:nvPr/>
        </p:nvSpPr>
        <p:spPr>
          <a:xfrm>
            <a:off x="8589264"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Complete:</a:t>
            </a:r>
            <a:endParaRPr lang="en-US" sz="1200" dirty="0"/>
          </a:p>
        </p:txBody>
      </p:sp>
      <p:sp>
        <p:nvSpPr>
          <p:cNvPr id="50" name="Text 47"/>
          <p:cNvSpPr txBox="1"/>
          <p:nvPr/>
        </p:nvSpPr>
        <p:spPr>
          <a:xfrm>
            <a:off x="10044989" y="1883664"/>
            <a:ext cx="1577035" cy="475488"/>
          </a:xfrm>
          <a:prstGeom prst="rect">
            <a:avLst/>
          </a:prstGeom>
          <a:noFill/>
          <a:ln/>
        </p:spPr>
        <p:txBody>
          <a:bodyPr wrap="square" lIns="0" tIns="0" rIns="0" bIns="0" rtlCol="0" anchor="ctr"/>
          <a:lstStyle/>
          <a:p>
            <a:pPr rtl="1" algn="r" indent="0" marL="0">
              <a:lnSpc>
                <a:spcPct val="120000"/>
              </a:lnSpc>
              <a:buNone/>
            </a:pPr>
            <a:r>
              <a:rPr lang="ar-SA" altLang="en-US" sz="1000" b="1" dirty="0">
                <a:solidFill>
                  <a:srgbClr val="1F2A37"/>
                </a:solidFill>
                <a:latin typeface="Amiri" pitchFamily="34" charset="0"/>
                <a:ea typeface="Amiri" pitchFamily="34" charset="-122"/>
                <a:cs typeface="Amiri" pitchFamily="34" charset="-120"/>
              </a:rPr>
              <a:t>نَاطِحَاتُ السَّحَابِ مَبْنِيَّةٌ ___ الزُّجَاجِ.</a:t>
            </a:r>
            <a:endParaRPr lang="ar-SA" sz="1000" dirty="0"/>
          </a:p>
        </p:txBody>
      </p:sp>
      <p:sp>
        <p:nvSpPr>
          <p:cNvPr id="51" name="Shape 48"/>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2" name="Shape 49"/>
          <p:cNvSpPr/>
          <p:nvPr/>
        </p:nvSpPr>
        <p:spPr>
          <a:xfrm>
            <a:off x="8278368" y="2532888"/>
            <a:ext cx="256032" cy="256032"/>
          </a:xfrm>
          <a:prstGeom prst="ellipse">
            <a:avLst/>
          </a:prstGeom>
          <a:solidFill>
            <a:srgbClr val="2E8B57"/>
          </a:solidFill>
          <a:ln w="12700">
            <a:solidFill>
              <a:srgbClr val="2E8B57"/>
            </a:solidFill>
            <a:prstDash val="solid"/>
          </a:ln>
        </p:spPr>
      </p:sp>
      <p:sp>
        <p:nvSpPr>
          <p:cNvPr id="53" name="Text 50"/>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54" name="Text 51"/>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34" charset="0"/>
                <a:ea typeface="Amiri" pitchFamily="34" charset="-122"/>
                <a:cs typeface="Amiri" pitchFamily="34" charset="-120"/>
              </a:rPr>
              <a:t>مِنَ</a:t>
            </a:r>
            <a:endParaRPr lang="ar-SA" sz="2050" dirty="0"/>
          </a:p>
        </p:txBody>
      </p:sp>
      <p:sp>
        <p:nvSpPr>
          <p:cNvPr id="55" name="Shape 52"/>
          <p:cNvSpPr/>
          <p:nvPr/>
        </p:nvSpPr>
        <p:spPr>
          <a:xfrm>
            <a:off x="8278368" y="2990088"/>
            <a:ext cx="256032" cy="256032"/>
          </a:xfrm>
          <a:prstGeom prst="ellipse">
            <a:avLst/>
          </a:prstGeom>
          <a:solidFill>
            <a:srgbClr val="C9CED6"/>
          </a:solidFill>
          <a:ln w="12700">
            <a:solidFill>
              <a:srgbClr val="C9CED6"/>
            </a:solidFill>
            <a:prstDash val="solid"/>
          </a:ln>
        </p:spPr>
      </p:sp>
      <p:sp>
        <p:nvSpPr>
          <p:cNvPr id="56" name="Text 53"/>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7" name="Text 54"/>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34" charset="0"/>
                <a:ea typeface="Amiri" pitchFamily="34" charset="-122"/>
                <a:cs typeface="Amiri" pitchFamily="34" charset="-120"/>
              </a:rPr>
              <a:t>بِـ</a:t>
            </a:r>
            <a:endParaRPr lang="ar-SA" sz="2050" dirty="0"/>
          </a:p>
        </p:txBody>
      </p:sp>
      <p:sp>
        <p:nvSpPr>
          <p:cNvPr id="58" name="Shape 55"/>
          <p:cNvSpPr/>
          <p:nvPr/>
        </p:nvSpPr>
        <p:spPr>
          <a:xfrm>
            <a:off x="8278368" y="3447288"/>
            <a:ext cx="256032" cy="256032"/>
          </a:xfrm>
          <a:prstGeom prst="ellipse">
            <a:avLst/>
          </a:prstGeom>
          <a:solidFill>
            <a:srgbClr val="C9CED6"/>
          </a:solidFill>
          <a:ln w="12700">
            <a:solidFill>
              <a:srgbClr val="C9CED6"/>
            </a:solidFill>
            <a:prstDash val="solid"/>
          </a:ln>
        </p:spPr>
      </p:sp>
      <p:sp>
        <p:nvSpPr>
          <p:cNvPr id="59" name="Text 56"/>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0" name="Text 57"/>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34" charset="0"/>
                <a:ea typeface="Amiri" pitchFamily="34" charset="-122"/>
                <a:cs typeface="Amiri" pitchFamily="34" charset="-120"/>
              </a:rPr>
              <a:t>عَلَى</a:t>
            </a:r>
            <a:endParaRPr lang="ar-SA" sz="2050" dirty="0"/>
          </a:p>
        </p:txBody>
      </p:sp>
      <p:sp>
        <p:nvSpPr>
          <p:cNvPr id="61" name="Text 58"/>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مَبْنِيٌّ</a:t>
            </a:r>
            <a:pPr algn="l" indent="0" marL="0">
              <a:buNone/>
            </a:pPr>
            <a:r>
              <a:rPr lang="en-US" sz="1050" i="1" dirty="0">
                <a:solidFill>
                  <a:srgbClr val="8A6D1E"/>
                </a:solidFill>
                <a:latin typeface="Calibri" pitchFamily="34" charset="0"/>
                <a:ea typeface="Calibri" pitchFamily="34" charset="-122"/>
                <a:cs typeface="Calibri" pitchFamily="34" charset="-120"/>
              </a:rPr>
              <a:t> is fixed with </a:t>
            </a:r>
            <a:pPr algn="l" indent="0" marL="0">
              <a:buNone/>
            </a:pPr>
            <a:r>
              <a:rPr lang="ar-SA" altLang="en-US" sz="1350" dirty="0">
                <a:solidFill>
                  <a:srgbClr val="8A6D1E"/>
                </a:solidFill>
                <a:latin typeface="Amiri" pitchFamily="34" charset="0"/>
                <a:ea typeface="Amiri" pitchFamily="34" charset="-122"/>
                <a:cs typeface="Amiri" pitchFamily="34" charset="-120"/>
              </a:rPr>
              <a:t>مِنْ</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62" name="Shape 59"/>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3" name="Text 60"/>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ea typeface="Calibri" pitchFamily="34" charset="-122"/>
                <a:cs typeface="Calibri" pitchFamily="34" charset="-120"/>
              </a:rPr>
              <a:t>SCORE</a:t>
            </a:r>
            <a:endParaRPr lang="en-US" sz="1200" dirty="0"/>
          </a:p>
        </p:txBody>
      </p:sp>
      <p:sp>
        <p:nvSpPr>
          <p:cNvPr id="64" name="Text 61"/>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3/3 → aim for Stretch next lesson  ·  2/3 → Develop  ·  0–1 → Core route and a quick check-in during the next Do Now.</a:t>
            </a:r>
            <a:endParaRPr lang="en-US" sz="1250" dirty="0"/>
          </a:p>
        </p:txBody>
      </p:sp>
      <p:sp>
        <p:nvSpPr>
          <p:cNvPr id="65" name="Text 6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44 / 49</a:t>
            </a:r>
            <a:endParaRPr lang="en-US" sz="8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TC-L08 · Buildings &amp; Services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ea typeface="Calibri" pitchFamily="34" charset="-122"/>
                <a:cs typeface="Calibri" pitchFamily="34" charset="-120"/>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EXTENSION · FAST FINISHERS OR HOMEWORK (STRETCH)</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ea typeface="Cambria" pitchFamily="34" charset="-122"/>
                <a:cs typeface="Cambria" pitchFamily="34" charset="-120"/>
              </a:rPr>
              <a:t>Reading: heritage and the modern city</a:t>
            </a:r>
            <a:endParaRPr lang="en-US" sz="25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3 · Lesson 2 of 3</a:t>
            </a:r>
            <a:endParaRPr lang="en-US" sz="850" dirty="0"/>
          </a:p>
        </p:txBody>
      </p:sp>
      <p:sp>
        <p:nvSpPr>
          <p:cNvPr id="17" name="Shape 14"/>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300" dirty="0">
                <a:solidFill>
                  <a:srgbClr val="1F2A37"/>
                </a:solidFill>
                <a:latin typeface="Amiri" pitchFamily="34" charset="0"/>
                <a:ea typeface="Amiri" pitchFamily="34" charset="-122"/>
                <a:cs typeface="Amiri" pitchFamily="34" charset="-120"/>
              </a:rPr>
              <a:t>تُوَاجِهُ المُدُنُ العَرَبِيَّةُ تَحَدِّيًا بَيْنَ الحِفَاظِ عَلَى تُرَاثِهَا وَبِنَاءِ مُسْتَقْبَلِهَا. فَالأَحْيَاءُ القَدِيمَةُ مَبْنِيَّةٌ مِنَ الحَجَرِ وَالطِّينِ، وَتَحْمِلُ ذَاكِرَةَ أَجْيَالٍ. وَتُجَدِّدُ بَعْضُ المَشَارِيعِ هٰذِهِ الأَحْيَاءَ وَتُعِيدُ تَصْمِيمَهَا دُونَ أَنْ تَمْحُوَ طَابِعَهَا. وَيُبْنَى فِي المُقَابِلِ مُدُنٌ ذَكِيَّةٌ جَدِيدَةٌ عَلَى أَحْدَثِ المَعَايِيرِ. إِذَا وَازَنَتِ الحُكُومَاتُ بَيْنَ القَدِيمِ وَالجَدِيدِ، سَتَحْفَظُ هُوِيَّتَهَا وَتُوَاكِبُ العَصْرَ مَعًا. وَلَوِ اهْتَمَّتْ بِالمَسَاحَاتِ الخَضْرَاءِ مُبَكِّرًا، لَكَانَتِ المُدُنُ أَجْمَلَ وَأَصَحَّ. لِذٰلِكَ يُشِيرُ الخُبَرَاءُ إِلَى أَنَّ المُدُنَ تَحْتَاجُ إِلَى مَسَاحَاتٍ خَضْرَاءَ لِكَيْ تَبْقَى صَالِحَةً لِلْعَيْشِ.</a:t>
            </a:r>
            <a:endParaRPr lang="ar-SA" sz="2300" dirty="0"/>
          </a:p>
        </p:txBody>
      </p:sp>
      <p:sp>
        <p:nvSpPr>
          <p:cNvPr id="19" name="Shape 16"/>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ea typeface="Calibri" pitchFamily="34" charset="-122"/>
                <a:cs typeface="Calibri" pitchFamily="34" charset="-120"/>
              </a:rPr>
              <a:t>KEY WORDS</a:t>
            </a:r>
            <a:endParaRPr lang="en-US" sz="1000" dirty="0"/>
          </a:p>
        </p:txBody>
      </p:sp>
      <p:sp>
        <p:nvSpPr>
          <p:cNvPr id="21" name="Text 18"/>
          <p:cNvSpPr txBox="1"/>
          <p:nvPr/>
        </p:nvSpPr>
        <p:spPr>
          <a:xfrm>
            <a:off x="10102291" y="2212848"/>
            <a:ext cx="1508760" cy="36576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تُوَاجِهُ</a:t>
            </a:r>
            <a:endParaRPr lang="ar-SA" sz="1600" dirty="0"/>
          </a:p>
        </p:txBody>
      </p:sp>
      <p:sp>
        <p:nvSpPr>
          <p:cNvPr id="22" name="Text 19"/>
          <p:cNvSpPr txBox="1"/>
          <p:nvPr/>
        </p:nvSpPr>
        <p:spPr>
          <a:xfrm>
            <a:off x="8851392" y="2212848"/>
            <a:ext cx="1388059" cy="36576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faces</a:t>
            </a:r>
            <a:endParaRPr lang="en-US" sz="1050" dirty="0"/>
          </a:p>
        </p:txBody>
      </p:sp>
      <p:sp>
        <p:nvSpPr>
          <p:cNvPr id="23" name="Text 20"/>
          <p:cNvSpPr txBox="1"/>
          <p:nvPr/>
        </p:nvSpPr>
        <p:spPr>
          <a:xfrm>
            <a:off x="10102291" y="2578608"/>
            <a:ext cx="1508760" cy="36576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تَحَدِّيًا</a:t>
            </a:r>
            <a:endParaRPr lang="ar-SA" sz="1600" dirty="0"/>
          </a:p>
        </p:txBody>
      </p:sp>
      <p:sp>
        <p:nvSpPr>
          <p:cNvPr id="24" name="Text 21"/>
          <p:cNvSpPr txBox="1"/>
          <p:nvPr/>
        </p:nvSpPr>
        <p:spPr>
          <a:xfrm>
            <a:off x="8851392" y="2578608"/>
            <a:ext cx="1388059" cy="36576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a challenge</a:t>
            </a:r>
            <a:endParaRPr lang="en-US" sz="1050" dirty="0"/>
          </a:p>
        </p:txBody>
      </p:sp>
      <p:sp>
        <p:nvSpPr>
          <p:cNvPr id="25" name="Text 22"/>
          <p:cNvSpPr txBox="1"/>
          <p:nvPr/>
        </p:nvSpPr>
        <p:spPr>
          <a:xfrm>
            <a:off x="10102291" y="2944368"/>
            <a:ext cx="1508760" cy="36576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الحِفَاظِ عَلَى</a:t>
            </a:r>
            <a:endParaRPr lang="ar-SA" sz="1600" dirty="0"/>
          </a:p>
        </p:txBody>
      </p:sp>
      <p:sp>
        <p:nvSpPr>
          <p:cNvPr id="26" name="Text 23"/>
          <p:cNvSpPr txBox="1"/>
          <p:nvPr/>
        </p:nvSpPr>
        <p:spPr>
          <a:xfrm>
            <a:off x="8851392" y="2944368"/>
            <a:ext cx="1388059" cy="36576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preserving</a:t>
            </a:r>
            <a:endParaRPr lang="en-US" sz="1050" dirty="0"/>
          </a:p>
        </p:txBody>
      </p:sp>
      <p:sp>
        <p:nvSpPr>
          <p:cNvPr id="27" name="Text 24"/>
          <p:cNvSpPr txBox="1"/>
          <p:nvPr/>
        </p:nvSpPr>
        <p:spPr>
          <a:xfrm>
            <a:off x="10102291" y="3310128"/>
            <a:ext cx="1508760" cy="36576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تُرَاثِهَا</a:t>
            </a:r>
            <a:endParaRPr lang="ar-SA" sz="1600" dirty="0"/>
          </a:p>
        </p:txBody>
      </p:sp>
      <p:sp>
        <p:nvSpPr>
          <p:cNvPr id="28" name="Text 25"/>
          <p:cNvSpPr txBox="1"/>
          <p:nvPr/>
        </p:nvSpPr>
        <p:spPr>
          <a:xfrm>
            <a:off x="8851392" y="3310128"/>
            <a:ext cx="1388059" cy="36576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its heritage</a:t>
            </a:r>
            <a:endParaRPr lang="en-US" sz="1050" dirty="0"/>
          </a:p>
        </p:txBody>
      </p:sp>
      <p:sp>
        <p:nvSpPr>
          <p:cNvPr id="29" name="Text 26"/>
          <p:cNvSpPr txBox="1"/>
          <p:nvPr/>
        </p:nvSpPr>
        <p:spPr>
          <a:xfrm>
            <a:off x="10102291" y="3675888"/>
            <a:ext cx="1508760" cy="36576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ذَاكِرَةَ أَجْيَالٍ</a:t>
            </a:r>
            <a:endParaRPr lang="ar-SA" sz="1600" dirty="0"/>
          </a:p>
        </p:txBody>
      </p:sp>
      <p:sp>
        <p:nvSpPr>
          <p:cNvPr id="30" name="Text 27"/>
          <p:cNvSpPr txBox="1"/>
          <p:nvPr/>
        </p:nvSpPr>
        <p:spPr>
          <a:xfrm>
            <a:off x="8851392" y="3675888"/>
            <a:ext cx="1388059" cy="36576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the memory of generations</a:t>
            </a:r>
            <a:endParaRPr lang="en-US" sz="1050" dirty="0"/>
          </a:p>
        </p:txBody>
      </p:sp>
      <p:sp>
        <p:nvSpPr>
          <p:cNvPr id="31" name="Text 28"/>
          <p:cNvSpPr txBox="1"/>
          <p:nvPr/>
        </p:nvSpPr>
        <p:spPr>
          <a:xfrm>
            <a:off x="10102291" y="4041648"/>
            <a:ext cx="1508760" cy="36576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تَمْحُوَ</a:t>
            </a:r>
            <a:endParaRPr lang="ar-SA" sz="1600" dirty="0"/>
          </a:p>
        </p:txBody>
      </p:sp>
      <p:sp>
        <p:nvSpPr>
          <p:cNvPr id="32" name="Text 29"/>
          <p:cNvSpPr txBox="1"/>
          <p:nvPr/>
        </p:nvSpPr>
        <p:spPr>
          <a:xfrm>
            <a:off x="8851392" y="4041648"/>
            <a:ext cx="1388059" cy="36576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erase</a:t>
            </a:r>
            <a:endParaRPr lang="en-US" sz="1050" dirty="0"/>
          </a:p>
        </p:txBody>
      </p:sp>
      <p:sp>
        <p:nvSpPr>
          <p:cNvPr id="33" name="Text 30"/>
          <p:cNvSpPr txBox="1"/>
          <p:nvPr/>
        </p:nvSpPr>
        <p:spPr>
          <a:xfrm>
            <a:off x="10102291" y="4407408"/>
            <a:ext cx="1508760" cy="36576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طَابِعَهَا</a:t>
            </a:r>
            <a:endParaRPr lang="ar-SA" sz="1600" dirty="0"/>
          </a:p>
        </p:txBody>
      </p:sp>
      <p:sp>
        <p:nvSpPr>
          <p:cNvPr id="34" name="Text 31"/>
          <p:cNvSpPr txBox="1"/>
          <p:nvPr/>
        </p:nvSpPr>
        <p:spPr>
          <a:xfrm>
            <a:off x="8851392" y="4407408"/>
            <a:ext cx="1388059" cy="36576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its character</a:t>
            </a:r>
            <a:endParaRPr lang="en-US" sz="1050" dirty="0"/>
          </a:p>
        </p:txBody>
      </p:sp>
      <p:sp>
        <p:nvSpPr>
          <p:cNvPr id="35" name="Text 32"/>
          <p:cNvSpPr txBox="1"/>
          <p:nvPr/>
        </p:nvSpPr>
        <p:spPr>
          <a:xfrm>
            <a:off x="10102291" y="4773168"/>
            <a:ext cx="1508760" cy="36576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المَعَايِيرِ</a:t>
            </a:r>
            <a:endParaRPr lang="ar-SA" sz="1600" dirty="0"/>
          </a:p>
        </p:txBody>
      </p:sp>
      <p:sp>
        <p:nvSpPr>
          <p:cNvPr id="36" name="Text 33"/>
          <p:cNvSpPr txBox="1"/>
          <p:nvPr/>
        </p:nvSpPr>
        <p:spPr>
          <a:xfrm>
            <a:off x="8851392" y="4773168"/>
            <a:ext cx="1388059" cy="36576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standards</a:t>
            </a:r>
            <a:endParaRPr lang="en-US" sz="1050" dirty="0"/>
          </a:p>
        </p:txBody>
      </p:sp>
      <p:sp>
        <p:nvSpPr>
          <p:cNvPr id="37" name="Text 34"/>
          <p:cNvSpPr txBox="1"/>
          <p:nvPr/>
        </p:nvSpPr>
        <p:spPr>
          <a:xfrm>
            <a:off x="10102291" y="5138928"/>
            <a:ext cx="1508760" cy="36576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وَازَنَتْ</a:t>
            </a:r>
            <a:endParaRPr lang="ar-SA" sz="1600" dirty="0"/>
          </a:p>
        </p:txBody>
      </p:sp>
      <p:sp>
        <p:nvSpPr>
          <p:cNvPr id="38" name="Text 35"/>
          <p:cNvSpPr txBox="1"/>
          <p:nvPr/>
        </p:nvSpPr>
        <p:spPr>
          <a:xfrm>
            <a:off x="8851392" y="5138928"/>
            <a:ext cx="1388059" cy="36576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balanced</a:t>
            </a:r>
            <a:endParaRPr lang="en-US" sz="1050" dirty="0"/>
          </a:p>
        </p:txBody>
      </p:sp>
      <p:sp>
        <p:nvSpPr>
          <p:cNvPr id="39" name="Text 36"/>
          <p:cNvSpPr txBox="1"/>
          <p:nvPr/>
        </p:nvSpPr>
        <p:spPr>
          <a:xfrm>
            <a:off x="10102291" y="5504688"/>
            <a:ext cx="1508760" cy="36576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هُوِيَّتَهَا</a:t>
            </a:r>
            <a:endParaRPr lang="ar-SA" sz="1600" dirty="0"/>
          </a:p>
        </p:txBody>
      </p:sp>
      <p:sp>
        <p:nvSpPr>
          <p:cNvPr id="40" name="Text 37"/>
          <p:cNvSpPr txBox="1"/>
          <p:nvPr/>
        </p:nvSpPr>
        <p:spPr>
          <a:xfrm>
            <a:off x="8851392" y="5504688"/>
            <a:ext cx="1388059" cy="36576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its identity</a:t>
            </a:r>
            <a:endParaRPr lang="en-US" sz="1050" dirty="0"/>
          </a:p>
        </p:txBody>
      </p:sp>
      <p:sp>
        <p:nvSpPr>
          <p:cNvPr id="41" name="Text 38"/>
          <p:cNvSpPr txBox="1"/>
          <p:nvPr/>
        </p:nvSpPr>
        <p:spPr>
          <a:xfrm>
            <a:off x="10102291" y="5870448"/>
            <a:ext cx="1508760" cy="36576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أَصَحَّ</a:t>
            </a:r>
            <a:endParaRPr lang="ar-SA" sz="1600" dirty="0"/>
          </a:p>
        </p:txBody>
      </p:sp>
      <p:sp>
        <p:nvSpPr>
          <p:cNvPr id="42" name="Text 39"/>
          <p:cNvSpPr txBox="1"/>
          <p:nvPr/>
        </p:nvSpPr>
        <p:spPr>
          <a:xfrm>
            <a:off x="8851392" y="5870448"/>
            <a:ext cx="1388059" cy="36576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healthier</a:t>
            </a:r>
            <a:endParaRPr lang="en-US" sz="1050" dirty="0"/>
          </a:p>
        </p:txBody>
      </p:sp>
      <p:sp>
        <p:nvSpPr>
          <p:cNvPr id="43" name="Text 4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45 / 49</a:t>
            </a:r>
            <a:endParaRPr lang="en-US" sz="8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TC-L08 · Buildings &amp; Services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ea typeface="Calibri" pitchFamily="34" charset="-122"/>
                <a:cs typeface="Calibri" pitchFamily="34" charset="-120"/>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EXTENSION · READING QUESTIONS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Reading: questions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أَسْئِلَةُ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3 · Lesson 2 of 3</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challenge do Arab cities face?</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Only building skyscrapers</a:t>
            </a:r>
            <a:endParaRPr lang="en-US" sz="12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Preserving heritage while building the future</a:t>
            </a:r>
            <a:endParaRPr lang="en-US" sz="12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9" name="Text 26"/>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Only preserving ruins</a:t>
            </a:r>
            <a:endParaRPr lang="en-US" sz="12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are the old districts built from?</a:t>
            </a:r>
            <a:endParaRPr lang="en-US" sz="125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Glass and steel</a:t>
            </a:r>
            <a:endParaRPr lang="en-US" sz="125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Plastic</a:t>
            </a:r>
            <a:endParaRPr lang="en-US" sz="125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Stone and clay</a:t>
            </a:r>
            <a:endParaRPr lang="en-US" sz="1250" dirty="0"/>
          </a:p>
        </p:txBody>
      </p:sp>
      <p:sp>
        <p:nvSpPr>
          <p:cNvPr id="43" name="Shape 40"/>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6" name="Text 43"/>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 some projects do with old districts?</a:t>
            </a:r>
            <a:endParaRPr lang="en-US" sz="1250" dirty="0"/>
          </a:p>
        </p:txBody>
      </p:sp>
      <p:sp>
        <p:nvSpPr>
          <p:cNvPr id="47" name="Shape 44"/>
          <p:cNvSpPr/>
          <p:nvPr/>
        </p:nvSpPr>
        <p:spPr>
          <a:xfrm>
            <a:off x="8278368"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9" name="Text 46"/>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Renovate and redesign them without erasing their character</a:t>
            </a:r>
            <a:endParaRPr lang="en-US" sz="1250" dirty="0"/>
          </a:p>
        </p:txBody>
      </p:sp>
      <p:sp>
        <p:nvSpPr>
          <p:cNvPr id="50" name="Shape 47"/>
          <p:cNvSpPr/>
          <p:nvPr/>
        </p:nvSpPr>
        <p:spPr>
          <a:xfrm>
            <a:off x="8278368"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2" name="Text 49"/>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Demolish them</a:t>
            </a:r>
            <a:endParaRPr lang="en-US" sz="1250" dirty="0"/>
          </a:p>
        </p:txBody>
      </p:sp>
      <p:sp>
        <p:nvSpPr>
          <p:cNvPr id="53" name="Shape 50"/>
          <p:cNvSpPr/>
          <p:nvPr/>
        </p:nvSpPr>
        <p:spPr>
          <a:xfrm>
            <a:off x="8278368"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5" name="Text 52"/>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Ignore them</a:t>
            </a:r>
            <a:endParaRPr lang="en-US" sz="1250" dirty="0"/>
          </a:p>
        </p:txBody>
      </p:sp>
      <p:sp>
        <p:nvSpPr>
          <p:cNvPr id="56" name="Shape 53"/>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585216"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59" name="Text 56"/>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is the counterfactual (Type 2)?</a:t>
            </a:r>
            <a:endParaRPr lang="en-US" sz="1250" dirty="0"/>
          </a:p>
        </p:txBody>
      </p:sp>
      <p:sp>
        <p:nvSpPr>
          <p:cNvPr id="60" name="Shape 57"/>
          <p:cNvSpPr/>
          <p:nvPr/>
        </p:nvSpPr>
        <p:spPr>
          <a:xfrm>
            <a:off x="640080"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2" name="Text 59"/>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Green spaces make no difference</a:t>
            </a:r>
            <a:endParaRPr lang="en-US" sz="1250" dirty="0"/>
          </a:p>
        </p:txBody>
      </p:sp>
      <p:sp>
        <p:nvSpPr>
          <p:cNvPr id="63" name="Shape 60"/>
          <p:cNvSpPr/>
          <p:nvPr/>
        </p:nvSpPr>
        <p:spPr>
          <a:xfrm>
            <a:off x="640080"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5" name="Text 62"/>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ea typeface="Calibri" pitchFamily="34" charset="-122"/>
                <a:cs typeface="Calibri" pitchFamily="34" charset="-120"/>
              </a:rPr>
              <a:t>Had cities cared about green spaces early, they would be more beautiful and healthier</a:t>
            </a:r>
            <a:endParaRPr lang="en-US" sz="1100" dirty="0"/>
          </a:p>
        </p:txBody>
      </p:sp>
      <p:sp>
        <p:nvSpPr>
          <p:cNvPr id="66" name="Shape 63"/>
          <p:cNvSpPr/>
          <p:nvPr/>
        </p:nvSpPr>
        <p:spPr>
          <a:xfrm>
            <a:off x="640080"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8" name="Text 65"/>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Cities cannot have green spaces</a:t>
            </a:r>
            <a:endParaRPr lang="en-US" sz="1250" dirty="0"/>
          </a:p>
        </p:txBody>
      </p:sp>
      <p:sp>
        <p:nvSpPr>
          <p:cNvPr id="69" name="Shape 66"/>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4404360"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2" name="Text 69"/>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Why do cities need green spaces, per the experts?</a:t>
            </a:r>
            <a:endParaRPr lang="en-US" sz="1250" dirty="0"/>
          </a:p>
        </p:txBody>
      </p:sp>
      <p:sp>
        <p:nvSpPr>
          <p:cNvPr id="73" name="Shape 70"/>
          <p:cNvSpPr/>
          <p:nvPr/>
        </p:nvSpPr>
        <p:spPr>
          <a:xfrm>
            <a:off x="4459224"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75" name="Text 72"/>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So that they remain liveable</a:t>
            </a:r>
            <a:endParaRPr lang="en-US" sz="1250" dirty="0"/>
          </a:p>
        </p:txBody>
      </p:sp>
      <p:sp>
        <p:nvSpPr>
          <p:cNvPr id="76" name="Shape 73"/>
          <p:cNvSpPr/>
          <p:nvPr/>
        </p:nvSpPr>
        <p:spPr>
          <a:xfrm>
            <a:off x="4459224"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8" name="Text 75"/>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For decoration only</a:t>
            </a:r>
            <a:endParaRPr lang="en-US" sz="1250" dirty="0"/>
          </a:p>
        </p:txBody>
      </p:sp>
      <p:sp>
        <p:nvSpPr>
          <p:cNvPr id="79" name="Shape 76"/>
          <p:cNvSpPr/>
          <p:nvPr/>
        </p:nvSpPr>
        <p:spPr>
          <a:xfrm>
            <a:off x="4459224"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81" name="Text 78"/>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For no reason</a:t>
            </a:r>
            <a:endParaRPr lang="en-US" sz="1250" dirty="0"/>
          </a:p>
        </p:txBody>
      </p:sp>
      <p:sp>
        <p:nvSpPr>
          <p:cNvPr id="82" name="Shape 79"/>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3" name="Text 80"/>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ea typeface="Calibri" pitchFamily="34" charset="-122"/>
                <a:cs typeface="Calibri" pitchFamily="34" charset="-120"/>
              </a:rPr>
              <a:t>READ LIKE A DETECTIVE</a:t>
            </a:r>
            <a:endParaRPr lang="en-US" sz="1000" dirty="0"/>
          </a:p>
        </p:txBody>
      </p:sp>
      <p:sp>
        <p:nvSpPr>
          <p:cNvPr id="84" name="Text 81"/>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ea typeface="Calibri" pitchFamily="34" charset="-122"/>
                <a:cs typeface="Calibri" pitchFamily="34" charset="-120"/>
              </a:rPr>
              <a:t>1. Read the question first.</a:t>
            </a:r>
            <a:endParaRPr lang="en-US" sz="1250" dirty="0"/>
          </a:p>
          <a:p>
            <a:pPr algn="l" indent="0" marL="0">
              <a:buNone/>
            </a:pPr>
            <a:r>
              <a:rPr lang="en-US" sz="1250" dirty="0">
                <a:solidFill>
                  <a:srgbClr val="1F2A37"/>
                </a:solidFill>
                <a:latin typeface="Calibri" pitchFamily="34" charset="0"/>
                <a:ea typeface="Calibri" pitchFamily="34" charset="-122"/>
                <a:cs typeface="Calibri" pitchFamily="34" charset="-120"/>
              </a:rPr>
              <a:t>2. Find ONE key word from the question in the text.</a:t>
            </a:r>
            <a:endParaRPr lang="en-US" sz="1250" dirty="0"/>
          </a:p>
          <a:p>
            <a:pPr algn="l" indent="0" marL="0">
              <a:buNone/>
            </a:pPr>
            <a:r>
              <a:rPr lang="en-US" sz="1250" dirty="0">
                <a:solidFill>
                  <a:srgbClr val="1F2A37"/>
                </a:solidFill>
                <a:latin typeface="Calibri" pitchFamily="34" charset="0"/>
                <a:ea typeface="Calibri" pitchFamily="34" charset="-122"/>
                <a:cs typeface="Calibri" pitchFamily="34" charset="-120"/>
              </a:rPr>
              <a:t>3. Read only that sentence again, then choose.</a:t>
            </a:r>
            <a:endParaRPr lang="en-US" sz="125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46 / 49</a:t>
            </a:r>
            <a:endParaRPr lang="en-US" sz="8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TC-L08 · Buildings &amp; Services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ea typeface="Calibri" pitchFamily="34" charset="-122"/>
                <a:cs typeface="Calibri" pitchFamily="34" charset="-120"/>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EXTENSION · READING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Reading: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إِجَابَاتُ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3 · Lesson 2 of 3</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challenge do Arab cities face?</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3" name="Text 20"/>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Only building skyscrapers</a:t>
            </a:r>
            <a:endParaRPr lang="en-US" sz="1250" dirty="0"/>
          </a:p>
        </p:txBody>
      </p:sp>
      <p:sp>
        <p:nvSpPr>
          <p:cNvPr id="24" name="Shape 21"/>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5"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6"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27" name="Text 24"/>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ea typeface="Calibri" pitchFamily="34" charset="-122"/>
                <a:cs typeface="Calibri" pitchFamily="34" charset="-120"/>
              </a:rPr>
              <a:t>Preserving heritage while building the future</a:t>
            </a:r>
            <a:endParaRPr lang="en-US" sz="1150" dirty="0"/>
          </a:p>
        </p:txBody>
      </p:sp>
      <p:sp>
        <p:nvSpPr>
          <p:cNvPr id="28"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30" name="Text 27"/>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Only preserving ruins</a:t>
            </a:r>
            <a:endParaRPr lang="en-US" sz="1250" dirty="0"/>
          </a:p>
        </p:txBody>
      </p:sp>
      <p:sp>
        <p:nvSpPr>
          <p:cNvPr id="31" name="Text 28"/>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تَحَدِّيًا بَيْنَ الحِفَاظِ عَلَى تُرَاثِهَا وَبِنَاءِ مُسْتَقْبَلِهَا.</a:t>
            </a:r>
            <a:endParaRPr lang="ar-SA" sz="1350" dirty="0"/>
          </a:p>
        </p:txBody>
      </p:sp>
      <p:sp>
        <p:nvSpPr>
          <p:cNvPr id="32" name="Shape 29"/>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4404360"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5" name="Text 32"/>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are the old districts built from?</a:t>
            </a:r>
            <a:endParaRPr lang="en-US" sz="1250" dirty="0"/>
          </a:p>
        </p:txBody>
      </p:sp>
      <p:sp>
        <p:nvSpPr>
          <p:cNvPr id="36" name="Shape 33"/>
          <p:cNvSpPr/>
          <p:nvPr/>
        </p:nvSpPr>
        <p:spPr>
          <a:xfrm>
            <a:off x="4459224"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8" name="Text 35"/>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Glass and steel</a:t>
            </a:r>
            <a:endParaRPr lang="en-US" sz="1250" dirty="0"/>
          </a:p>
        </p:txBody>
      </p:sp>
      <p:sp>
        <p:nvSpPr>
          <p:cNvPr id="39" name="Shape 36"/>
          <p:cNvSpPr/>
          <p:nvPr/>
        </p:nvSpPr>
        <p:spPr>
          <a:xfrm>
            <a:off x="4459224"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41" name="Text 38"/>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Plastic</a:t>
            </a:r>
            <a:endParaRPr lang="en-US" sz="1250" dirty="0"/>
          </a:p>
        </p:txBody>
      </p:sp>
      <p:sp>
        <p:nvSpPr>
          <p:cNvPr id="42" name="Shape 39"/>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3" name="Shape 40"/>
          <p:cNvSpPr/>
          <p:nvPr/>
        </p:nvSpPr>
        <p:spPr>
          <a:xfrm>
            <a:off x="4459224" y="3233928"/>
            <a:ext cx="256032" cy="256032"/>
          </a:xfrm>
          <a:prstGeom prst="ellipse">
            <a:avLst/>
          </a:prstGeom>
          <a:solidFill>
            <a:srgbClr val="2E8B57"/>
          </a:solidFill>
          <a:ln w="12700">
            <a:solidFill>
              <a:srgbClr val="2E8B57"/>
            </a:solidFill>
            <a:prstDash val="solid"/>
          </a:ln>
        </p:spPr>
      </p:sp>
      <p:sp>
        <p:nvSpPr>
          <p:cNvPr id="44" name="Text 41"/>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45" name="Text 42"/>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Stone and clay</a:t>
            </a:r>
            <a:endParaRPr lang="en-US" sz="1250" dirty="0"/>
          </a:p>
        </p:txBody>
      </p:sp>
      <p:sp>
        <p:nvSpPr>
          <p:cNvPr id="46" name="Text 43"/>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الأَحْيَاءُ القَدِيمَةُ مَبْنِيَّةٌ مِنَ الحَجَرِ وَالطِّينِ.</a:t>
            </a:r>
            <a:endParaRPr lang="ar-SA" sz="1350" dirty="0"/>
          </a:p>
        </p:txBody>
      </p:sp>
      <p:sp>
        <p:nvSpPr>
          <p:cNvPr id="47" name="Shape 44"/>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9"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50" name="Text 47"/>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 some projects do with old districts?</a:t>
            </a:r>
            <a:endParaRPr lang="en-US" sz="1250" dirty="0"/>
          </a:p>
        </p:txBody>
      </p:sp>
      <p:sp>
        <p:nvSpPr>
          <p:cNvPr id="51" name="Shape 48"/>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2" name="Shape 49"/>
          <p:cNvSpPr/>
          <p:nvPr/>
        </p:nvSpPr>
        <p:spPr>
          <a:xfrm>
            <a:off x="8278368" y="2490216"/>
            <a:ext cx="256032" cy="256032"/>
          </a:xfrm>
          <a:prstGeom prst="ellipse">
            <a:avLst/>
          </a:prstGeom>
          <a:solidFill>
            <a:srgbClr val="2E8B57"/>
          </a:solidFill>
          <a:ln w="12700">
            <a:solidFill>
              <a:srgbClr val="2E8B57"/>
            </a:solidFill>
            <a:prstDash val="solid"/>
          </a:ln>
        </p:spPr>
      </p:sp>
      <p:sp>
        <p:nvSpPr>
          <p:cNvPr id="53" name="Text 50"/>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54" name="Text 51"/>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ea typeface="Calibri" pitchFamily="34" charset="-122"/>
                <a:cs typeface="Calibri" pitchFamily="34" charset="-120"/>
              </a:rPr>
              <a:t>Renovate and redesign them without erasing their character</a:t>
            </a:r>
            <a:endParaRPr lang="en-US" sz="1150" dirty="0"/>
          </a:p>
        </p:txBody>
      </p:sp>
      <p:sp>
        <p:nvSpPr>
          <p:cNvPr id="55" name="Shape 52"/>
          <p:cNvSpPr/>
          <p:nvPr/>
        </p:nvSpPr>
        <p:spPr>
          <a:xfrm>
            <a:off x="8278368" y="2862072"/>
            <a:ext cx="256032" cy="256032"/>
          </a:xfrm>
          <a:prstGeom prst="ellipse">
            <a:avLst/>
          </a:prstGeom>
          <a:solidFill>
            <a:srgbClr val="C9CED6"/>
          </a:solidFill>
          <a:ln w="12700">
            <a:solidFill>
              <a:srgbClr val="C9CED6"/>
            </a:solidFill>
            <a:prstDash val="solid"/>
          </a:ln>
        </p:spPr>
      </p:sp>
      <p:sp>
        <p:nvSpPr>
          <p:cNvPr id="56" name="Text 53"/>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7" name="Text 54"/>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Demolish them</a:t>
            </a:r>
            <a:endParaRPr lang="en-US" sz="1250" dirty="0"/>
          </a:p>
        </p:txBody>
      </p:sp>
      <p:sp>
        <p:nvSpPr>
          <p:cNvPr id="58" name="Shape 55"/>
          <p:cNvSpPr/>
          <p:nvPr/>
        </p:nvSpPr>
        <p:spPr>
          <a:xfrm>
            <a:off x="8278368" y="3233928"/>
            <a:ext cx="256032" cy="256032"/>
          </a:xfrm>
          <a:prstGeom prst="ellipse">
            <a:avLst/>
          </a:prstGeom>
          <a:solidFill>
            <a:srgbClr val="C9CED6"/>
          </a:solidFill>
          <a:ln w="12700">
            <a:solidFill>
              <a:srgbClr val="C9CED6"/>
            </a:solidFill>
            <a:prstDash val="solid"/>
          </a:ln>
        </p:spPr>
      </p:sp>
      <p:sp>
        <p:nvSpPr>
          <p:cNvPr id="59" name="Text 56"/>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0" name="Text 57"/>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Ignore them</a:t>
            </a:r>
            <a:endParaRPr lang="en-US" sz="1250" dirty="0"/>
          </a:p>
        </p:txBody>
      </p:sp>
      <p:sp>
        <p:nvSpPr>
          <p:cNvPr id="61" name="Text 58"/>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250" dirty="0">
                <a:solidFill>
                  <a:srgbClr val="8A6D1E"/>
                </a:solidFill>
                <a:latin typeface="Amiri" pitchFamily="34" charset="0"/>
                <a:ea typeface="Amiri" pitchFamily="34" charset="-122"/>
                <a:cs typeface="Amiri" pitchFamily="34" charset="-120"/>
              </a:rPr>
              <a:t>تُجَدِّدُ … هٰذِهِ الأَحْيَاءَ وَتُعِيدُ تَصْمِيمَهَا دُونَ أَنْ تَمْحُوَ طَابِعَهَا.</a:t>
            </a:r>
            <a:endParaRPr lang="ar-SA" sz="1250" dirty="0"/>
          </a:p>
        </p:txBody>
      </p:sp>
      <p:sp>
        <p:nvSpPr>
          <p:cNvPr id="62" name="Shape 59"/>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85216"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65" name="Text 62"/>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is the counterfactual (Type 2)?</a:t>
            </a:r>
            <a:endParaRPr lang="en-US" sz="1250" dirty="0"/>
          </a:p>
        </p:txBody>
      </p:sp>
      <p:sp>
        <p:nvSpPr>
          <p:cNvPr id="66" name="Shape 63"/>
          <p:cNvSpPr/>
          <p:nvPr/>
        </p:nvSpPr>
        <p:spPr>
          <a:xfrm>
            <a:off x="640080" y="4831080"/>
            <a:ext cx="256032" cy="256032"/>
          </a:xfrm>
          <a:prstGeom prst="ellipse">
            <a:avLst/>
          </a:prstGeom>
          <a:solidFill>
            <a:srgbClr val="C9CED6"/>
          </a:solidFill>
          <a:ln w="12700">
            <a:solidFill>
              <a:srgbClr val="C9CED6"/>
            </a:solidFill>
            <a:prstDash val="solid"/>
          </a:ln>
        </p:spPr>
      </p:sp>
      <p:sp>
        <p:nvSpPr>
          <p:cNvPr id="67" name="Text 64"/>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8" name="Text 65"/>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Green spaces make no difference</a:t>
            </a:r>
            <a:endParaRPr lang="en-US" sz="1250" dirty="0"/>
          </a:p>
        </p:txBody>
      </p:sp>
      <p:sp>
        <p:nvSpPr>
          <p:cNvPr id="69" name="Shape 66"/>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70" name="Shape 67"/>
          <p:cNvSpPr/>
          <p:nvPr/>
        </p:nvSpPr>
        <p:spPr>
          <a:xfrm>
            <a:off x="640080" y="5202936"/>
            <a:ext cx="256032" cy="256032"/>
          </a:xfrm>
          <a:prstGeom prst="ellipse">
            <a:avLst/>
          </a:prstGeom>
          <a:solidFill>
            <a:srgbClr val="2E8B57"/>
          </a:solidFill>
          <a:ln w="12700">
            <a:solidFill>
              <a:srgbClr val="2E8B57"/>
            </a:solidFill>
            <a:prstDash val="solid"/>
          </a:ln>
        </p:spPr>
      </p:sp>
      <p:sp>
        <p:nvSpPr>
          <p:cNvPr id="71" name="Text 68"/>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72" name="Text 69"/>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100" b="1" dirty="0">
                <a:solidFill>
                  <a:srgbClr val="1F2A37"/>
                </a:solidFill>
                <a:latin typeface="Calibri" pitchFamily="34" charset="0"/>
                <a:ea typeface="Calibri" pitchFamily="34" charset="-122"/>
                <a:cs typeface="Calibri" pitchFamily="34" charset="-120"/>
              </a:rPr>
              <a:t>Had cities cared about green spaces early, they would be more beautiful and healthier</a:t>
            </a:r>
            <a:endParaRPr lang="en-US" sz="1100" dirty="0"/>
          </a:p>
        </p:txBody>
      </p:sp>
      <p:sp>
        <p:nvSpPr>
          <p:cNvPr id="73" name="Shape 70"/>
          <p:cNvSpPr/>
          <p:nvPr/>
        </p:nvSpPr>
        <p:spPr>
          <a:xfrm>
            <a:off x="640080" y="5574792"/>
            <a:ext cx="256032" cy="256032"/>
          </a:xfrm>
          <a:prstGeom prst="ellipse">
            <a:avLst/>
          </a:prstGeom>
          <a:solidFill>
            <a:srgbClr val="C9CED6"/>
          </a:solidFill>
          <a:ln w="12700">
            <a:solidFill>
              <a:srgbClr val="C9CED6"/>
            </a:solidFill>
            <a:prstDash val="solid"/>
          </a:ln>
        </p:spPr>
      </p:sp>
      <p:sp>
        <p:nvSpPr>
          <p:cNvPr id="74" name="Text 71"/>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5" name="Text 72"/>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Cities cannot have green spaces</a:t>
            </a:r>
            <a:endParaRPr lang="en-US" sz="1250" dirty="0"/>
          </a:p>
        </p:txBody>
      </p:sp>
      <p:sp>
        <p:nvSpPr>
          <p:cNvPr id="76" name="Text 73"/>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150" dirty="0">
                <a:solidFill>
                  <a:srgbClr val="8A6D1E"/>
                </a:solidFill>
                <a:latin typeface="Amiri" pitchFamily="34" charset="0"/>
                <a:ea typeface="Amiri" pitchFamily="34" charset="-122"/>
                <a:cs typeface="Amiri" pitchFamily="34" charset="-120"/>
              </a:rPr>
              <a:t>لَوِ اهْتَمَّتْ بِالمَسَاحَاتِ الخَضْرَاءِ مُبَكِّرًا، لَكَانَتِ المُدُنُ أَجْمَلَ وَأَصَحَّ.</a:t>
            </a:r>
            <a:endParaRPr lang="ar-SA" sz="1150" dirty="0"/>
          </a:p>
        </p:txBody>
      </p:sp>
      <p:sp>
        <p:nvSpPr>
          <p:cNvPr id="77" name="Shape 7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8" name="Shape 75"/>
          <p:cNvSpPr/>
          <p:nvPr/>
        </p:nvSpPr>
        <p:spPr>
          <a:xfrm>
            <a:off x="4404360" y="4288536"/>
            <a:ext cx="310896" cy="310896"/>
          </a:xfrm>
          <a:prstGeom prst="ellipse">
            <a:avLst/>
          </a:prstGeom>
          <a:solidFill>
            <a:srgbClr val="1B3B6F"/>
          </a:solidFill>
          <a:ln w="12700">
            <a:solidFill>
              <a:srgbClr val="1B3B6F"/>
            </a:solidFill>
            <a:prstDash val="solid"/>
          </a:ln>
        </p:spPr>
      </p:sp>
      <p:sp>
        <p:nvSpPr>
          <p:cNvPr id="79" name="Text 7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80" name="Text 7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Why do cities need green spaces, per the experts?</a:t>
            </a:r>
            <a:endParaRPr lang="en-US" sz="1250" dirty="0"/>
          </a:p>
        </p:txBody>
      </p:sp>
      <p:sp>
        <p:nvSpPr>
          <p:cNvPr id="81" name="Shape 78"/>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2" name="Shape 79"/>
          <p:cNvSpPr/>
          <p:nvPr/>
        </p:nvSpPr>
        <p:spPr>
          <a:xfrm>
            <a:off x="4459224" y="4831080"/>
            <a:ext cx="256032" cy="256032"/>
          </a:xfrm>
          <a:prstGeom prst="ellipse">
            <a:avLst/>
          </a:prstGeom>
          <a:solidFill>
            <a:srgbClr val="2E8B57"/>
          </a:solidFill>
          <a:ln w="12700">
            <a:solidFill>
              <a:srgbClr val="2E8B57"/>
            </a:solidFill>
            <a:prstDash val="solid"/>
          </a:ln>
        </p:spPr>
      </p:sp>
      <p:sp>
        <p:nvSpPr>
          <p:cNvPr id="83" name="Text 80"/>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84" name="Text 81"/>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So that they remain liveable</a:t>
            </a:r>
            <a:endParaRPr lang="en-US" sz="1250" dirty="0"/>
          </a:p>
        </p:txBody>
      </p:sp>
      <p:sp>
        <p:nvSpPr>
          <p:cNvPr id="85" name="Shape 82"/>
          <p:cNvSpPr/>
          <p:nvPr/>
        </p:nvSpPr>
        <p:spPr>
          <a:xfrm>
            <a:off x="4459224" y="5202936"/>
            <a:ext cx="256032" cy="256032"/>
          </a:xfrm>
          <a:prstGeom prst="ellipse">
            <a:avLst/>
          </a:prstGeom>
          <a:solidFill>
            <a:srgbClr val="C9CED6"/>
          </a:solidFill>
          <a:ln w="12700">
            <a:solidFill>
              <a:srgbClr val="C9CED6"/>
            </a:solidFill>
            <a:prstDash val="solid"/>
          </a:ln>
        </p:spPr>
      </p:sp>
      <p:sp>
        <p:nvSpPr>
          <p:cNvPr id="86" name="Text 83"/>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87" name="Text 84"/>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For decoration only</a:t>
            </a:r>
            <a:endParaRPr lang="en-US" sz="1250" dirty="0"/>
          </a:p>
        </p:txBody>
      </p:sp>
      <p:sp>
        <p:nvSpPr>
          <p:cNvPr id="88" name="Shape 85"/>
          <p:cNvSpPr/>
          <p:nvPr/>
        </p:nvSpPr>
        <p:spPr>
          <a:xfrm>
            <a:off x="4459224" y="5574792"/>
            <a:ext cx="256032" cy="256032"/>
          </a:xfrm>
          <a:prstGeom prst="ellipse">
            <a:avLst/>
          </a:prstGeom>
          <a:solidFill>
            <a:srgbClr val="C9CED6"/>
          </a:solidFill>
          <a:ln w="12700">
            <a:solidFill>
              <a:srgbClr val="C9CED6"/>
            </a:solidFill>
            <a:prstDash val="solid"/>
          </a:ln>
        </p:spPr>
      </p:sp>
      <p:sp>
        <p:nvSpPr>
          <p:cNvPr id="89" name="Text 86"/>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90" name="Text 87"/>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For no reason</a:t>
            </a:r>
            <a:endParaRPr lang="en-US" sz="1250" dirty="0"/>
          </a:p>
        </p:txBody>
      </p:sp>
      <p:sp>
        <p:nvSpPr>
          <p:cNvPr id="91" name="Text 88"/>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تَحْتَاجُ إِلَى مَسَاحَاتٍ خَضْرَاءَ لِكَيْ تَبْقَى صَالِحَةً لِلْعَيْشِ.</a:t>
            </a:r>
            <a:endParaRPr lang="ar-SA" sz="1350" dirty="0"/>
          </a:p>
        </p:txBody>
      </p:sp>
      <p:sp>
        <p:nvSpPr>
          <p:cNvPr id="92" name="Shape 89"/>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3" name="Text 90"/>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ea typeface="Calibri" pitchFamily="34" charset="-122"/>
                <a:cs typeface="Calibri" pitchFamily="34" charset="-120"/>
              </a:rPr>
              <a:t>READ LIKE A DETECTIVE</a:t>
            </a:r>
            <a:endParaRPr lang="en-US" sz="1000" dirty="0"/>
          </a:p>
        </p:txBody>
      </p:sp>
      <p:sp>
        <p:nvSpPr>
          <p:cNvPr id="94" name="Text 91"/>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ea typeface="Calibri" pitchFamily="34" charset="-122"/>
                <a:cs typeface="Calibri" pitchFamily="34" charset="-120"/>
              </a:rPr>
              <a:t>1. Read the question first.</a:t>
            </a:r>
            <a:endParaRPr lang="en-US" sz="1250" dirty="0"/>
          </a:p>
          <a:p>
            <a:pPr algn="l" indent="0" marL="0">
              <a:buNone/>
            </a:pPr>
            <a:r>
              <a:rPr lang="en-US" sz="1250" dirty="0">
                <a:solidFill>
                  <a:srgbClr val="1F2A37"/>
                </a:solidFill>
                <a:latin typeface="Calibri" pitchFamily="34" charset="0"/>
                <a:ea typeface="Calibri" pitchFamily="34" charset="-122"/>
                <a:cs typeface="Calibri" pitchFamily="34" charset="-120"/>
              </a:rPr>
              <a:t>2. Find ONE key word from the question in the text.</a:t>
            </a:r>
            <a:endParaRPr lang="en-US" sz="1250" dirty="0"/>
          </a:p>
          <a:p>
            <a:pPr algn="l" indent="0" marL="0">
              <a:buNone/>
            </a:pPr>
            <a:r>
              <a:rPr lang="en-US" sz="1250" dirty="0">
                <a:solidFill>
                  <a:srgbClr val="1F2A37"/>
                </a:solidFill>
                <a:latin typeface="Calibri" pitchFamily="34" charset="0"/>
                <a:ea typeface="Calibri" pitchFamily="34" charset="-122"/>
                <a:cs typeface="Calibri" pitchFamily="34" charset="-120"/>
              </a:rPr>
              <a:t>3. Read only that sentence again, then choose.</a:t>
            </a:r>
            <a:endParaRPr lang="en-US" sz="1250" dirty="0"/>
          </a:p>
        </p:txBody>
      </p:sp>
      <p:sp>
        <p:nvSpPr>
          <p:cNvPr id="95" name="Text 9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47 / 49</a:t>
            </a:r>
            <a:endParaRPr lang="en-US" sz="85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TC-L08 · Buildings &amp; Services</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ea typeface="Calibri" pitchFamily="34" charset="-122"/>
                <a:cs typeface="Calibri" pitchFamily="34" charset="-120"/>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ea typeface="Cambria" pitchFamily="34" charset="-122"/>
                <a:cs typeface="Cambria" pitchFamily="34" charset="-120"/>
              </a:rPr>
              <a:t>Before TC-L09: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3 · Lesson 2 of 3</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ea typeface="Calibri" pitchFamily="34" charset="-122"/>
                <a:cs typeface="Calibri" pitchFamily="34" charset="-120"/>
              </a:rPr>
              <a:t>LEARN THESE 5 WORDS</a:t>
            </a:r>
            <a:endParaRPr lang="en-US" sz="1100" dirty="0"/>
          </a:p>
          <a:p>
            <a:pPr indent="0" marL="0">
              <a:buNone/>
            </a:pPr>
            <a:r>
              <a:rPr lang="en-US" sz="1000" dirty="0">
                <a:solidFill>
                  <a:srgbClr val="5A6472"/>
                </a:solidFill>
                <a:latin typeface="Calibri" pitchFamily="34" charset="0"/>
                <a:ea typeface="Calibri" pitchFamily="34" charset="-122"/>
                <a:cs typeface="Calibri" pitchFamily="34" charset="-120"/>
              </a:rPr>
              <a:t>for TC-L09 · Shopping, Prices and Consumer Choices</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سُوقٌ</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market</a:t>
            </a:r>
            <a:pPr indent="0" marL="0">
              <a:buNone/>
            </a:pPr>
            <a:r>
              <a:rPr lang="en-US" sz="1000" i="1" dirty="0">
                <a:solidFill>
                  <a:srgbClr val="5A6472"/>
                </a:solidFill>
                <a:latin typeface="Calibri" pitchFamily="34" charset="0"/>
                <a:ea typeface="Calibri" pitchFamily="34" charset="-122"/>
                <a:cs typeface="Calibri" pitchFamily="34" charset="-120"/>
              </a:rPr>
              <a:t>  pl. أَسْوَاقٌ</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ثَمَنٌ</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price</a:t>
            </a:r>
            <a:pPr indent="0" marL="0">
              <a:buNone/>
            </a:pP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رَخِيصٌ</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cheap</a:t>
            </a:r>
            <a:pPr indent="0" marL="0">
              <a:buNone/>
            </a:pPr>
            <a:r>
              <a:rPr lang="en-US" sz="1000" i="1" dirty="0">
                <a:solidFill>
                  <a:srgbClr val="5A6472"/>
                </a:solidFill>
                <a:latin typeface="Calibri" pitchFamily="34" charset="0"/>
                <a:ea typeface="Calibri" pitchFamily="34" charset="-122"/>
                <a:cs typeface="Calibri" pitchFamily="34" charset="-120"/>
              </a:rPr>
              <a:t>  f. رَخِيصَةٌ</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غَالٍ</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expensive</a:t>
            </a:r>
            <a:pPr indent="0" marL="0">
              <a:buNone/>
            </a:pPr>
            <a:r>
              <a:rPr lang="en-US" sz="1000" i="1" dirty="0">
                <a:solidFill>
                  <a:srgbClr val="5A6472"/>
                </a:solidFill>
                <a:latin typeface="Calibri" pitchFamily="34" charset="0"/>
                <a:ea typeface="Calibri" pitchFamily="34" charset="-122"/>
                <a:cs typeface="Calibri" pitchFamily="34" charset="-120"/>
              </a:rPr>
              <a:t>  f. غَالِيَةٌ</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خَصْمٌ</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discount</a:t>
            </a:r>
            <a:pPr indent="0" marL="0">
              <a:buNone/>
            </a:pP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ea typeface="Calibri" pitchFamily="34" charset="-122"/>
                <a:cs typeface="Calibri" pitchFamily="34" charset="-120"/>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ea typeface="Calibri" pitchFamily="34" charset="-122"/>
                <a:cs typeface="Calibri" pitchFamily="34" charset="-120"/>
              </a:rPr>
              <a:t>Write one Arabic sentence: what do you like to buy, and where?</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34" charset="0"/>
                <a:ea typeface="Amiri" pitchFamily="34" charset="-122"/>
                <a:cs typeface="Amiri" pitchFamily="34" charset="-120"/>
              </a:rPr>
              <a:t>مَاذَا تُحِبُّ أَنْ تَشْتَرِيَ؟ وَمِنْ أَيْنَ؟</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ea typeface="Calibri" pitchFamily="34" charset="-122"/>
                <a:cs typeface="Calibri" pitchFamily="34" charset="-120"/>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Website · TC-L08 · play “Town Map”, then the vocabulary mission.</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Draw a simple map of your street and write 5 sentences with </a:t>
            </a:r>
            <a:pPr algn="l" indent="0" marL="0">
              <a:buNone/>
            </a:pPr>
            <a:r>
              <a:rPr lang="ar-SA" altLang="en-US" sz="1550" dirty="0">
                <a:solidFill>
                  <a:srgbClr val="1F2A37"/>
                </a:solidFill>
                <a:latin typeface="Amiri" pitchFamily="34" charset="0"/>
                <a:ea typeface="Amiri" pitchFamily="34" charset="-122"/>
                <a:cs typeface="Amiri" pitchFamily="34" charset="-120"/>
              </a:rPr>
              <a:t>يُوجَدُ / تُوجَدُ</a:t>
            </a:r>
            <a:pPr algn="l" indent="0" marL="0">
              <a:buNone/>
            </a:pPr>
            <a:r>
              <a:rPr lang="en-US" sz="1200" dirty="0">
                <a:solidFill>
                  <a:srgbClr val="1F2A37"/>
                </a:solidFill>
                <a:latin typeface="Calibri" pitchFamily="34" charset="0"/>
                <a:ea typeface="Calibri" pitchFamily="34" charset="-122"/>
                <a:cs typeface="Calibri" pitchFamily="34" charset="-120"/>
              </a:rPr>
              <a:t> and a place word.</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Website · TC-L08 · “Urban Mission” (14 rounds) and the reading “Heritage and the modern city”.</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48 / 49</a:t>
            </a:r>
            <a:endParaRPr lang="en-US" sz="85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ea typeface="Calibri" pitchFamily="34" charset="-122"/>
                <a:cs typeface="Calibri" pitchFamily="34" charset="-120"/>
              </a:rPr>
              <a:t>TC-L08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34" charset="0"/>
                <a:ea typeface="Amiri" pitchFamily="34" charset="-122"/>
                <a:cs typeface="Amiri" pitchFamily="34" charset="-120"/>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ea typeface="Calibri" pitchFamily="34" charset="-122"/>
                <a:cs typeface="Calibri" pitchFamily="34" charset="-120"/>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ea typeface="Calibri" pitchFamily="34" charset="-122"/>
                <a:cs typeface="Calibri" pitchFamily="34" charset="-120"/>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050" b="1" dirty="0">
                <a:solidFill>
                  <a:srgbClr val="FFFFFF"/>
                </a:solidFill>
                <a:latin typeface="Cambria" pitchFamily="34" charset="0"/>
                <a:ea typeface="Cambria" pitchFamily="34" charset="-122"/>
                <a:cs typeface="Cambria" pitchFamily="34" charset="-120"/>
              </a:rPr>
              <a:t>TC-L09 · Shopping, Prices and Consumer Choices</a:t>
            </a:r>
            <a:endParaRPr lang="en-US" sz="20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34" charset="0"/>
                <a:ea typeface="Amiri" pitchFamily="34" charset="-122"/>
                <a:cs typeface="Amiri" pitchFamily="34" charset="-120"/>
              </a:rPr>
              <a:t>التَّسَوُّقُ وَالأَسْعَارُ وَخِيَارَاتُ المُسْتَهْلِكِ</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ea typeface="Calibri" pitchFamily="34" charset="-122"/>
                <a:cs typeface="Calibri" pitchFamily="34" charset="-120"/>
              </a:rPr>
              <a:t>Remember: 5 words + 1 sentence before next lesson.</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49</Slides>
  <Notes>49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49</vt:i4>
      </vt:variant>
    </vt:vector>
  </HeadingPairs>
  <TitlesOfParts>
    <vt:vector size="5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TC-L08 · Buildings, Services and Urban Areas</dc:title>
  <dc:subject>PptxGenJS Presentation</dc:subject>
  <dc:creator>Al Madina Online School · Arabic Department</dc:creator>
  <cp:lastModifiedBy>Al Madina Online School · Arabic Department</cp:lastModifiedBy>
  <cp:revision>1</cp:revision>
  <dcterms:created xsi:type="dcterms:W3CDTF">2026-09-27T08:24:10Z</dcterms:created>
  <dcterms:modified xsi:type="dcterms:W3CDTF">2026-09-27T08:24:10Z</dcterms:modified>
</cp:coreProperties>
</file>