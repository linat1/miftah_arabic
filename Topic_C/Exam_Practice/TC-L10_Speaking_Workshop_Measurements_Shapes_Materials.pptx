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10 (Measurements, Shapes and Materials, TC-L10), using that lesson’s language (ṭūluhu / ʿarḍuhā + measurement (mitrān, thalāthatu amtār); maṣnūʿ min / mabnī min; shape and colour agreement; passive participles (maṣnūʿ, mulawwan, mustaʿmal)).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measurements use the pronoun of the object: الطَّاوِلَةُ طُولُهَا مِتْرَانِ (dual!) · وَزْنُهُ ثَلَاثَةُ كِيلُوغْرَامَاتٍ. Shapes agree: صُنْدُوقٌ مُرَبَّعٌ · طَاوِلَةٌ دَائِرِيَّةٌ.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two ways: مَصْنُوعٌ مِنَ الخَشَبِ = خَشَبِيٌّ. The participle agrees: الكُرْسِيُّ مَصْنُوعٌ · الحَقِيبَةُ مَصْنُوعَةٌ · الأَكْيَاسُ مَصْنُوعَةٌ (non-human pl.). Buildings: مَبْنِيٌّ مِنَ الحَجَرِ.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lost property.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فَقَدْتِ.
Core: lawnuhā (f. pronoun for ḥaqība), akhḍar (no tanwīn), khamsūna santīmitran, maṣnūʿa (f.) min, a dual (kitābān).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furniture shop.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تُرِيدِينَ.
Core+: kam ṭūluhu?, mitrun wa-niṣf, tisʿūna santīmitran, mimma huwa maṣnūʿ?, the CANDIDATE asks (task 4), athqalu min an + subjunctive.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design competition.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صِفِي · تَصْمِيمَكِ · جَاءَتْكِ.
Develop: shakluhu / ṭūluhu / ʿarḍuhu, thalāthatu amtārin, sittatu ṭullābin, maṣnūʿ min, a dual verb (lā yataʾaththarān), lāḥaẓtu anna … fa-, sa-yakūnu + accusative, li-kay, miʾatay junayhin.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sustainability panel.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رَأْيِكِ · جَرَّبْتُنَّ / جَرَّبْتُمْ · اخْتَرَعْتِ.
Stretch: arā anna … baynamā, passives (yuʿādu, tughsala, tustaʿmala, quṭiʿat), a concession with mimmā, a balanced view with idhā … fa-sa-, istabdalnā X bi-Y, numbers with tamyīz, law … la- with three similes.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measurement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TC-L10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Measurements, Shapes and Materials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المَقَايِيسُ وَالأَشْكَالُ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objects by size, shape, colour and material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طُولُهُ مِتْرَانِ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مَصْنُوعٌ مِنَ الخَشَبِ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شَكْلُهَا دَائِرِيٌّ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describe lost property, design a product and discuss materials and the environment.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SIZE, WEIGHT AND SHAPE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Length, weight, shape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المَقَايِيسُ وَالأَشْكَالُ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282366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28236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length (m.) · its width (f.) · weight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طُولٌ · عَرْضٌ · ارْتِفَاعٌ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length · width · height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ṭū-lun · ʿar-ḍun · ar-ti-fā-ʿun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weight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وَزْنٌ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width (f.)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عَرْضُهَا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length (m.)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طُولُهُ</a:t>
            </a:r>
            <a:endParaRPr lang="ar-SA" sz="135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 · pl. · centimetre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مِتْرٌ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metre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mit-run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centimetre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سَنْتِيمِتْرٌ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أَمْتَارٌ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مِتْرَانِ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 · 5 kg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كِيلُوغْرَامٌ · غْرَامٌ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kilogram · a gram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kī-lūgh-rā-mun · gh-rā-mun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5 kg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خَمْسَةُ كِيلُوغْرَامَاتٍ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كِيلُوغْرَامَانِ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a square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مُرَبَّعٌ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square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mu-rab-ba-ʿun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square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مُرَبَّعٌ · مُرَبَّعَاتٌ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مُرَبَّعَةٌ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a circle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دَائِرِيٌّ · مُسْتَطِيلٌ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round · rectangular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dā-ʾi-riy-yun · mus-ta-ṭī-lun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circle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دَائِرَةٌ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دَائِرِيَّةٌ · مُسْتَطِيلَةٌ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 participle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مَصْنُوعٌ مِنْ …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made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maṣ-nū-ʿun min …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what is it made of?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هُوَ مَصْنُوعٌ؟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مَصْنُوعَةٌ مِنْ</a:t>
            </a:r>
            <a:endParaRPr lang="ar-SA" sz="150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MATERIALS (NOUN → ADJECTIVE)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Wood, glass, cotton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هُوَ مَصْنُوعٌ؟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 · adj. 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خَشَبٌ · مَعْدِنٌ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wood · metal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kha-sha-bun · maʿ-di-nun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f.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خَشَبِيَّةٌ · مَعْدِنِيَّةٌ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خَشَبِيٌّ · مَعْدِنِيٌّ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 · adj. f.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زُجَاجٌ · بْلَاسْتِيكٌ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glass · plastic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zu-jā-jun · b-lās-tī-kun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f.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زُجَاجِيَّةٌ · بْلَاسْتِيكِيَّةٌ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زُجَاجِيٌّ · بْلَاسْتِيكِيٌّ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قُطْنٌ · جِلْدٌ · صُوفٌ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cotton · leather · wool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quṭ-nun · jil-dun · ṣū-fun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قُطْنِيٌّ · جِلْدِيٌّ · صُوفِيٌّ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comp.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ثَقِيلٌ · خَفِيفٌ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heavy · light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tha-qī-lun · kha-fī-fun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68" name="Text 65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أَثْقَلُ · أَخَفُّ</a:t>
            </a:r>
            <a:endParaRPr lang="ar-SA" sz="1350" dirty="0"/>
          </a:p>
        </p:txBody>
      </p:sp>
      <p:sp>
        <p:nvSpPr>
          <p:cNvPr id="69" name="Shape 66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ثَقِيلَةٌ · خَفِيفَةٌ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new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9" name="Text 76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مُسْتَعْمَلٌ</a:t>
            </a:r>
            <a:endParaRPr lang="ar-SA" sz="3000" dirty="0"/>
          </a:p>
        </p:txBody>
      </p:sp>
      <p:sp>
        <p:nvSpPr>
          <p:cNvPr id="80" name="Text 77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used, second-hand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mus-taʿ-ma-lun</a:t>
            </a:r>
            <a:endParaRPr lang="en-US" sz="1350" dirty="0"/>
          </a:p>
        </p:txBody>
      </p:sp>
      <p:sp>
        <p:nvSpPr>
          <p:cNvPr id="81" name="Shape 78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new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جَدِيدٌ · جَدِيدَةٌ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مُسْتَعْمَلَةٌ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960120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0120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recyclable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قَابِلٌ لِلْكَسْرِ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breakable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qā-bi-lun lil-kas-ri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recyclable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قَابِلٌ لِإِعَادَةِ التَّدْوِيرِ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قَابِلَةٌ لِلْكَسْرِ</a:t>
            </a:r>
            <a:endParaRPr lang="ar-SA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LOST PROPERTY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At the lost-property office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مَكْتَبُ المَفْقُودَاتِ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فَقَدْتُ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lost.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مَسَاءَ الخَيْرِ، مَاذَا فَقَدْتَ؟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لَوْنُهَا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colour.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لَوْنُهَا؟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هِيَ … / ارْتِفَاعُهَا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size.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هِيَ كَبِيرَةٌ؟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مَصْنُوعَةٌ مِنْ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material.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هِيَ مَصْنُوعَةٌ؟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فِيهَا … وَ…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كَانَ فِيهَا؟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traveller  ·  The examiner is: the lost-property clerk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FURNITURE 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Buying a desk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شِرَاءُ مَكْتَبٍ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… لِغُرْفَتِي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need and for which room.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طُولُهُ؟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its length.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المَكْتَبُ مُمْتَازٌ.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… لِأَنَّ … طُولُهُ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why that is a problem.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طُولُهُ مِتْرٌ وَنِصْفٌ.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هُوَ مَصْنُوعٌ؟ وَهَلْ هُوَ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material and weight.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هٰذَا: طُولُهُ تِسْعُونَ سَنْتِيمِتْرًا.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الخَشَبِ، وَوَزْنُهُ عِشْرُونَ كِيلُوغْرَامًا. هَلْ تُرِيدُ التَّوْصِيلَ؟</a:t>
            </a:r>
            <a:endParaRPr lang="ar-SA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a furniture-shop assistant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DESIGN COMPETITION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My design for a school bench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تَصْمِيمُ مَقْعَدٍ لِلْمَدْرَسَةِ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شَكْلُهُ … طُولُهُ … وَعَرْضُهُ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shape and size.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لَنَا تَصْمِيمَكَ.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مَصْنُوعٌ مِنْ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materials and why.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هُوَ مَصْنُوعٌ؟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لَاحَظْتُ أَنَّ … فَبَحَثْتُ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where the idea came from (past).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جَاءَتْكَ الفِكْرَةُ؟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… لِكَيْ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colour and reason.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اللَّوْنُ؟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سَيُكَلِّفُ … وَهُوَ أَ… مِنْ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comparison).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سَيُكَلِّفُ؟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designer  ·  The examiner is: the design-technology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SUSTAINABILITY PANEL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Plastic, wood or glass?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المَوَادِّ أَفْضَلُ لِلْبِيئَةِ؟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… لِأَنَّ … بَيْنَمَا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clear opinion with evidence.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المَوَادِّ أَفْضَلُ لِلتَّغْلِيفِ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الزُّجَاجَ ثَقِيلٌ وَقَابِلٌ لِلْكَسْرِ!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view.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عَنِ الخَشَبِ؟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اسْتَبْدَلْنَا … بِأَكْوَابٍ … فَقَلَّتْ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project with figures.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جَرَّبْتُمْ شَيْئًا فِي مَدْرَسَتِكُمْ؟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اخْتَرَعْتُ …، لَكَانَتْ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اخْتَرَعْتَ مَادَّةً جَدِيدَةً، كَيْفَ تَكُونُ؟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panellist  ·  The examiner is: the panel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an object’s colour, size and material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measurement with the right number form and used maṣnūʿ min with agreement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فَقَدْتُ حَقِيبَةَ ظَهْرٍ.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lost a backpack.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مَسَاءَ الخَيْرِ، مَاذَا فَقَدْتَ؟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لَوْنُهَا أَخْضَرُ دَاكِنٌ.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dark green.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لَوْنُهَا؟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مُتَوَسِّطَةٌ، ارْتِفَاعُهَا خَمْسُونَ سَنْتِيمِتْرًا تَقْرِيبًا.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medium — about fifty centimetres high.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هِيَ كَبِيرَةٌ؟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مَصْنُوعَةٌ مِنَ القُمَاشِ.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made of fabric.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هِيَ مَصْنُوعَةٌ؟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فِيهَا حَاسُوبٌ وَكِتَابَانِ.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was a laptop and two books in it.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كَانَ فِيهَا؟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مَكْتَبًا صَغِيرًا لِغُرْفَتِي.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a small desk for my room.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طُولُهُ مِنْ فَضْلِكَ؟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long is it, please?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المَكْتَبُ مُمْتَازٌ.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طَوِيلٌ قَلِيلًا، لِأَنَّ الجِدَارَ فِي غُرْفَتِي طُولُهُ مِتْرٌ وَاحِدٌ فَقَطْ.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That’s a bit long, because the wall in my room is only one metre long.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طُولُهُ مِتْرٌ وَنِصْفٌ.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هُوَ مَصْنُوعٌ؟ وَهَلْ هُوَ ثَقِيلٌ؟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it made of? And is it heavy?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هٰذَا: طُولُهُ تِسْعُونَ سَنْتِيمِتْرًا.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لِأَنَّهُ أَثْقَلُ مِنْ أَنْ أَحْمِلَهُ فِي الحَافِلَةِ!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it’s too heavy to carry on the bus!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الخَشَبِ، وَوَزْنُهُ عِشْرُونَ كِيلُوغْرَامًا. هَلْ تُرِيدُ التَّوْصِيلَ؟</a:t>
            </a:r>
            <a:endParaRPr lang="ar-SA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شَكْلُهُ نِصْفُ دَائِرَةٍ، طُولُهُ ثَلَاثَةُ أَمْتَارٍ، وَعَرْضُهُ نِصْفُ مِتْرٍ، فَيَجْلِسُ عَلَيْهِ سِتَّةُ طُلَّابٍ.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a semicircle, three metres long and half a metre wide, so six students can sit on it.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لَنَا تَصْمِيمَكَ.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المَقْعَدُ مَصْنُوعٌ مِنْ بْلَاسْتِيكٍ مُعَادِ التَّدْوِيرِ، وَأَرْجُلُهُ مَعْدِنِيَّةٌ، لِأَنَّهُمَا لَا يَتَأَثَّرَانِ بِالمَطَرِ.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seat is made of recycled plastic and the legs are metal, because neither is affected by rain.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هُوَ مَصْنُوعٌ؟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لَاحَظْتُ أَنَّ المَقَاعِدَ الخَشَبِيَّةَ القَدِيمَةَ تَتَكَسَّرُ بَعْدَ كُلِّ شِتَاءٍ، فَبَحَثْتُ عَنْ مَوَادَّ أَقْوَى.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noticed the old wooden benches break after every winter, so I looked for stronger materials.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جَاءَتْكَ الفِكْرَةُ؟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أَخْضَرَ فَاتِحًا، لِكَيْ يَنْسَجِمَ مَعَ الأَشْجَارِ فِي المَلْعَبِ.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will be light green, to blend with the trees in the playground.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اللَّوْنُ؟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سَيُكَلِّفُ مِئَتَيْ جُنَيْهٍ تَقْرِيبًا، وَهُوَ أَغْلَى مِنَ الخَشَبِيِّ، لٰكِنَّهُ سَيَدُومُ عِشْرِينَ سَنَةً.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About £200 — dearer than a wooden one, but it will last twenty years.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سَيُكَلِّفُ؟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الزُّجَاجَ أَفْضَلُ، لِأَنَّهُ يُعَادُ تَدْوِيرُهُ مَرَّاتٍ لَا تُحْصَى، بَيْنَمَا يَبْقَى البْلَاسْتِيكُ فِي الأَرْضِ مِئَاتِ السِّنِينَ.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Glass is best: it can be recycled countless times, whereas plastic stays in the ground for centuries.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المَوَادِّ أَفْضَلُ لِلتَّغْلِيفِ فِي رَأْيِكَ؟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أَثْقَلُ، مِمَّا يَزِيدُ تَكْلِفَةَ النَّقْلِ، غَيْرَ أَنَّ الزُّجَاجَاتِ يُمْكِنُ أَنْ تُغْسَلَ وَتُسْتَعْمَلَ عَشَرَاتِ المَرَّاتِ.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heavier, which raises transport costs, but bottles can be washed and reused dozens of times.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الزُّجَاجَ ثَقِيلٌ وَقَابِلٌ لِلْكَسْرِ!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الخَشَبُ مَادَّةٌ طَبِيعِيَّةٌ مُتَجَدِّدَةٌ، وَمِنْ نَاحِيَةٍ أُخْرَى، إِذَا قُطِعَتِ الأَشْجَارُ دُونَ زِرَاعَةِ غَيْرِهَا، فَسَنَخْسَرُ الغَابَاتِ.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Wood is a natural renewable material, but if trees are cut without replanting, we’ll lose the forests.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عَنِ الخَشَبِ؟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اسْتَبْدَلْنَا الأَكْوَابَ البْلَاسْتِيكِيَّةَ بِأَكْوَابٍ مَعْدِنِيَّةٍ، فَقَلَّتِ النُّفَايَاتُ بِمِقْدَارِ ثَلَاثِينَ كِيلُوغْرَامًا كُلَّ شَهْرٍ.</a:t>
            </a:r>
            <a:endParaRPr lang="ar-SA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we replaced plastic cups with metal ones, and waste fell by thirty kilograms a month.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جَرَّبْتُمْ شَيْئًا فِي مَدْرَسَتِكُمْ؟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اخْتَرَعْتُ مَادَّةً جَدِيدَةً، لَكَانَتْ خَفِيفَةً كَالبْلَاسْتِيكِ، وَقَوِيَّةً كَالمَعْدِنِ، وَتَتَحَلَّلُ فِي التُّرْبَةِ كَأَوْرَاقِ الشَّجَرِ.</a:t>
            </a:r>
            <a:endParaRPr lang="ar-SA" sz="14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invented a material, it would be light as plastic, strong as metal, and break down in soil like leaves.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اخْتَرَعْتَ مَادَّةً جَدِيدَةً، كَيْفَ تَكُونُ؟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evidence, a concession, a balanced view, a measured result and a creative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الأَشْيَاءُ حَوْلِي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حَقِيبَتِي … لَوْنُهَا … وَهِيَ مَصْنُوعَةٌ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school bag.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حَقِيبَتَكَ المَدْرَسِيَّةَ.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طَاوِلَتُنَا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shape is your kitchen table?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شَكْلُ طَاوِلَةِ المَطْبَخِ فِي بَيْتِكَ؟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tall are you?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طُولُكَ؟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هَاتِفِي مَصْنُوعٌ مِنْ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phone made of?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هَاتِفُكَ مَصْنُوعٌ؟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لِأَنَّهَا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cotton or woollen clothes?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المَلَابِسَ القُطْنِيَّةَ أَمِ الصُّوفِيَّةَ؟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المَقَايِيسُ وَالمَوَادُّ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… طُولُهَا … وَعَرْضُهَا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room: size and shape.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غُرْفَتَكَ: حَجْمَهَا وَشَكْلَهَا.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شَيْءٍ عِنْدِي … مَصْنُوعٌ مِنْ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something important to you.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شَيْئًا مُهِمًّا لَكَ.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اشْتَرَيْتُ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buy second-hand things?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تَشْتَرِي أَشْيَاءَ مُسْتَعْمَلَةً؟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أَ… وَأَ… مِنْ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 we use plastic so much?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نَسْتَخْدِمُ البْلَاسْتِيكَ كَثِيرًا؟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صَنَعْتُ … مِنْ … طُولُهُ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something you made by hand.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شَيْئًا صَنَعْتَهُ بِيَدِكَ.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measurement, a material and a past action.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المَوَادُّ وَالمُسْتَقْبَلُ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old things better made than modern ones?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الأَشْيَاءُ القَدِيمَةُ أَفْضَلُ صُنْعًا مِنَ الحَدِيثَةِ؟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الشَّرِكَاتِ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are devices made today so they don’t last long?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تُصْنَعُ الأَجْهِزَةُ اليَوْمَ بِحَيْثُ لَا تَدُومُ طَوِيلًا؟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think of paper bags instead of plastic?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الأَكْيَاسِ الوَرَقِيَّةِ بَدَلًا مِنَ البْلَاسْتِيكِيَّةِ؟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تُبْنَى مِنْ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were houses built in your grandparents’ country?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البُيُوتُ تُبْنَى فِي بِلَادِ أَجْدَادِكَ؟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بَنَيْتُهُ، لَجَعَلْتُهُ مَبْنِيًّا مِنْ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built your dream house, what would it be built of?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بَنَيْتَ بَيْتَ أَحْلَامِكَ، مِمَّ يَكُونُ مَبْنِيًّا؟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 cause → effect with mimmā, a balanced view, a past passive (kānat tubnā)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حَقِيبَتِي سَوْدَاءُ، وَهِيَ مَصْنُوعَةٌ مِنَ القُمَاشِ.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bag is black, and it is made of fabric.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حَقِيبَتَكَ المَدْرَسِيَّةَ.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طَاوِلَتُنَا مُسْتَطِيلَةٌ وَخَشَبِيَّةٌ.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table is rectangular and wooden.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شَكْلُ طَاوِلَةِ المَطْبَخِ فِي بَيْتِكَ؟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طُولِي مِتْرٌ وَسِتُّونَ سَنْتِيمِتْرًا.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one metre sixty.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طُولُكَ؟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هَاتِفِي مَصْنُوعٌ مِنَ المَعْدِنِ وَالزُّجَاجِ.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phone is made of metal and glass.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هَاتِفُكَ مَصْنُوعٌ؟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المَلَابِسَ القُطْنِيَّةَ، لِأَنَّهَا خَفِيفَةٌ.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cotton clothes, because they are light.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المَلَابِسَ القُطْنِيَّةَ أَمِ الصُّوفِيَّةَ؟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colour, shape or material that agrees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مُرَبَّعَةٌ تَقْرِيبًا؛ طُولُهَا ثَلَاثَةُ أَمْتَارٍ، وَعَرْضُهَا مِتْرَانِ وَنِصْفٌ، وَفِيهَا نَافِذَةٌ كَبِيرَةٌ.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room is roughly square: three metres long, two and a half wide, with a big window.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غُرْفَتَكَ: حَجْمَهَا وَشَكْلَهَا.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شَيْءٍ عِنْدِي سَاعَةٌ فِضِّيَّةٌ أَهْدَاهَا لِي جَدِّي؛ هِيَ دَائِرِيَّةٌ، وَمَصْنُوعَةٌ مِنَ الفِضَّةِ وَالجِلْدِ.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silver watch my grandad gave me: round, made of silver and leather.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شَيْئًا مُهِمًّا لَكَ.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اشْتَرَيْتُ دَرَّاجَةً مُسْتَعْمَلَةً، لِأَنَّهَا أَرْخَصُ بِكَثِيرٍ، وَمَا زَالَتْ قَوِيَّةً.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bought a second-hand bike: much cheaper, and still strong.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تَشْتَرِي أَشْيَاءَ مُسْتَعْمَلَةً؟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أَخَفُّ وَأَرْخَصُ مِنَ الزُّجَاجِ وَالمَعْدِنِ، لٰكِنَّهُ يُلَوِّثُ البِيئَةَ.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is lighter and cheaper than glass and metal — but it pollutes.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نَسْتَخْدِمُ البْلَاسْتِيكَ كَثِيرًا؟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صَنَعْتُ صُنْدُوقًا خَشَبِيًّا فِي حِصَّةِ التِّكْنُولُوجْيَا، طُولُهُ ثَلَاثُونَ سَنْتِيمِتْرًا، وَلَوَّنْتُهُ بِالأَزْرَقِ.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made a wooden box in DT, thirty centimetres long, and painted it blue.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شَيْئًا صَنَعْتَهُ بِيَدِكَ.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Measurement + material + past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أَثَاثَ جَدَّتِي الخَشَبِيَّ عَاشَ خَمْسِينَ سَنَةً، غَيْرَ أَنَّ الأَجْهِزَةَ الحَدِيثَةَ أَخَفُّ وَأَكْثَرُ أَمَانًا.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grandma’s wooden furniture lasted fifty years, but modern devices are lighter and safer.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الأَشْيَاءُ القَدِيمَةُ أَفْضَلُ صُنْعًا مِنَ الحَدِيثَةِ؟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الشَّرِكَاتِ تُرِيدُ أَنْ نَشْتَرِيَ أَجْهِزَةً جَدِيدَةً، مِمَّا يَزِيدُ أَرْبَاحَهَا وَالنُّفَايَاتِ الإِلِكْتْرُونِيَّةَ مَعًا.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companies want us to buy new ones, which increases both their profits and e-waste.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تُصْنَعُ الأَجْهِزَةُ اليَوْمَ بِحَيْثُ لَا تَدُومُ طَوِيلًا؟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تَتَحَلَّلُ بِسُرْعَةٍ، وَمِنْ نَاحِيَةٍ أُخْرَى، صِنَاعَتُهَا تَحْتَاجُ إِلَى أَشْجَارٍ وَمَاءٍ كَثِيرٍ؛ لِذٰلِكَ أُفَضِّلُ الحَقِيبَةَ القُمَاشِيَّةَ.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break down fast, but making them needs trees and lots of water — so I prefer a cloth bag.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الأَكْيَاسِ الوَرَقِيَّةِ بَدَلًا مِنَ البْلَاسْتِيكِيَّةِ؟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mimmā, balance, the past passive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تُبْنَى مِنَ الطِّينِ وَالحَجَرِ، وَجُدْرَانُهَا سَمِيكَةٌ، لِأَنَّ ذٰلِكَ يُبْقِيهَا بَارِدَةً فِي الصَّيْفِ الحَارِّ.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were built of mud and stone with thick walls, which kept them cool in the hot summer.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البُيُوتُ تُبْنَى فِي بِلَادِ أَجْدَادِكَ؟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بَنَيْتُهُ، لَجَعَلْتُهُ مَبْنِيًّا مِنَ الخَشَبِ وَالزُّجَاجِ، بِأَلْوَاحٍ شَمْسِيَّةٍ عَلَى سَطْحِهِ، وَحَدِيقَةٍ دَائِرِيَّةٍ فِي وَسَطِهِ.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built it, I’d make it of wood and glass, with solar panels on the roof and a round garden in the middle.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بَنَيْتَ بَيْتَ أَحْلَامِكَ، مِمَّ يَكُونُ مَبْنِيًّا؟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mimmā, balance, the past passive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objects by colour, shape and material.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maṣnūʿ / maṣnūʿa min with the right gender.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measurements with the right number form (mitrān, thalāthatu amtār).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materials (athqalu, akhaffu, arkhaṣu min).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TC-L10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TC-L10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TC-L10 · Speaking Workshop — Measurements, Shapes and Materials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2026-10-11T13:15:18Z</dcterms:created>
  <dcterms:modified xsi:type="dcterms:W3CDTF">2026-10-11T13:15:18Z</dcterms:modified>
</cp:coreProperties>
</file>