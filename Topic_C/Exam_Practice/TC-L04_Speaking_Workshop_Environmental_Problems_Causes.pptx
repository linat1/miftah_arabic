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embeddedFontLst>
    <p:embeddedFont>
      <p:font typeface="Amiri" pitchFamily="2" charset="-78"/>
      <p:regular r:id="rIdFont1"/>
      <p:bold r:id="rIdFont2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cs typeface="Amiri" pitchFamily="2" charset="-78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WORKSHOP AT A GLANCE — 60 minutes on Teams, mostly in breakout rooms of three.
0–2 Welcome · 2–6 How Paper 3 works · 6–10 Language bank · 10–13 Breakout routine · 13–33 Role plays A–D in rooms (rotate roles) · 33–37 Role-play models (main room) · 37–50 Topic conversation in rooms · 50–55 Conversation models · 55–58 Feedback + self-check · 58–60 Close.
Content: teacher-made exam scenarios for Advanced Topic C, Lesson 4 (Environmental Problems and Causes, TC-L04), using that lesson’s language (cause and effect (bi-sababi, yuʾaddī ilā, mimmā yusabbibu); active vs passive (tulawwithu / yulawwathu)). Every task has Core · Develop · Stretch support and a model answer.
EXAM FORMAT: Paper 3 Speaking = a role play and a topic conversation, as in the Cambridge IGCSE Arabic 0544 speaking test. Check timings and marks against the current syllabus and the past paper you use.
BREAKOUT ROOMS: set up rooms of three before the lesson. Share the deck (or a PDF) so every room can see the cards.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(1 min) — while students join.
• Greet each student by name as they arrive: السَّلَامُ عَلَيْكُمْ. Take the register (Pastoral Tracker: attendance 0/1).
• 2-MINUTE CHECK-IN (SEND training): a private chat to any student who seemed unsettled last lesson — “Are you okay today? 👍 / 👎”.
• Point to the four expectations — brief and positive: this is our class agreement.
• Talk code: “I will always give you thinking and practice time before I ask anyone.” Reading aloud is by invitation — a student may say “pass” and you return to them later.
• Follow-up on preparation: who learnt the five words? Quick private reminder to anyone who did not (Flipped Learning: follow up every time).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MAP (1 min) — most of the lesson happens in breakout rooms; the teacher visits each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TEACH (3 min). Role play = precise and complete; conversation = develop. Choral repetition of the repair phrases. To a girl: تُعِيدِي.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active: المَصَانِعُ تُلَوِّثُ النَّهْرَ (factories pollute the river). Passive: يُلَوَّثُ النَّهْرُ (the river is polluted). Adjective: نَهْرٌ مُلَوَّثٌ · مَدِينَةٌ مُلَوَّثَةٌ.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LANGUAGE BANK (2 min) — بِسَبَبِ + noun in genitive: بِسَبَبِ الدُّخَانِ. لِأَنَّ + sentence. يُؤَدِّي إِلَى + noun. مِمَّا يُسَبِّبُ links a whole idea to its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BREAKOUT ROUTINE (3 min, in the main room). Same-level rooms make the routes simple; mixed rooms work if the strongest student is examiner first. Post the room timer in the chat. Visit every room for about two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A (Core) — a school survey.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مَدِينَتِكِ · تَأْتِينَ.
Core: a superlative + iḍāfa (akbaru mushkilatin); as-sayyārāt (non-human pl.) tulawwithu; an-nufāyāt … kathīra.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B (Core+) — a polluted beach.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أُسَاعِدُكِ · تَرَيْنَ · رَأْيِكِ.
Core+: mulawwath (passive participle); non-human plurals zujājātin … kathīra; the CANDIDATE asks with a passive (sa-yunaẓẓafu); bi-sababi … mimmā.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C (Develop) — a local news report.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(same words — the journalist may be a woman).
Develop: past events, active (yarmī) vs passive (turmā), kāna + kunnā + present, yuʾaddī ilā + two effects, the future.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ROLE PLAY D (Stretch) — a youth debate.
SET-UP IN THE BREAKOUT ROOM: A = examiner (reads the left column ONLY — the questions, in order), B = candidate (sees the task column; Core may use the help column), C = observer (ticks the feedback checklist). 1 minute preparation, about 3 minutes speaking, 1 minute feedback, then rotate.
Task ! is the unexpected question: in the exam the candidate has not seen it — the examiner should read it without warning.
To a girl, the examiner uses the feminine: رَأْيِكِ.
Stretch: a superlative + bi-dalīli anna, a cause chain with mimmā, a balanced view (min nāḥiya … wa-min nāḥiya ukhrā), a concession, law lam … la-.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Observers keep this slide open (or copy the six points into their book). Collect one strong WWW per room afterwards.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— show AFTER the groups have performed. Groups compare: which task did we answer less fully? Read the model aloud in pairs (examiner / candidate).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Core. Examiner asks the questions in order and may add “لِمَاذَا؟ / هَلْ يُمْكِنُ أَنْ تَشْرَحَ أَكْثَرَ؟” to push for more. Candidate aims for one full sentence per question.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Develop. Examiner asks the questions in order and may add “لِمَاذَا؟ / هَلْ يُمْكِنُ أَنْ تَشْرَحَ أَكْثَرَ؟” to push for more. Candidate aims for two or three sentences, with a cause, an effect and a past detail.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TOPIC CONVERSATION — Stretch. Examiner asks the questions in order and may add “لِمَاذَا؟ / هَلْ يُمْكِنُ أَنْ تَشْرَحَ أَكْثَرَ؟” to push for more. Candidate aims for a developed answer: opinion, balance, concession and a conditional.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(Core)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(Develop)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ANSWERS (Stretch) — show after the groups have practised. Students underline one phrase to “steal” for their own answer.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SELF-CHECK (1 min) against the website success criteria. Students tick privately, then type one WWW and one EBI in the chat (English is fine).
Teacher: one whole-class feedback point from live feedback. Pastoral: Curiosity &amp; Growth for honest reflection and a harder target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— thank students, dismiss calmly. After the lesson: complete the Pastoral Tracker (attendance, character, self-management, curiosity; demerits only for the five listed concerns). Note any student below 2/3 on the exit ticket for a Do Now check-in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cs typeface="Amiri" pitchFamily="2" charset="-78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cs typeface="Amiri" pitchFamily="2" charset="-78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cs typeface="Amiri" pitchFamily="2" charset="-78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cs typeface="Amiri" pitchFamily="2" charset="-78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cs typeface="Amiri" pitchFamily="2" charset="-78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cs typeface="Amiri" pitchFamily="2" charset="-78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cs typeface="Amiri" pitchFamily="2" charset="-78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cs typeface="Amiri" pitchFamily="2" charset="-78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78240" y="-548640"/>
            <a:ext cx="4023360" cy="402336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12680" y="685800"/>
            <a:ext cx="1554480" cy="1554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411480"/>
            <a:ext cx="502920" cy="502920"/>
          </a:xfrm>
          <a:prstGeom prst="ellipse">
            <a:avLst/>
          </a:prstGeom>
          <a:solidFill>
            <a:srgbClr val="1B3B6F"/>
          </a:solidFill>
          <a:ln w="15875">
            <a:solidFill>
              <a:srgbClr val="D4AF3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457200" y="39319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2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78992" y="38404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400" dirty="0"/>
          </a:p>
          <a:p>
            <a:pPr indent="0" marL="0">
              <a:buNone/>
            </a:pPr>
            <a:r>
              <a:rPr lang="en-US" sz="8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ARABIC DEPARTMENT · MIFTAH ARABIC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16002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CAMBRIDGE IGCSE ARABIC 0544  ·  ADVANCED TOPIC C · EXAM PRACTICE  ·  TC-L04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196596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FB3D1"/>
                </a:solidFill>
                <a:latin typeface="Cambria" pitchFamily="34" charset="0"/>
                <a:cs typeface="Amiri" pitchFamily="2" charset="-78"/>
              </a:rPr>
              <a:t>TC-L04</a:t>
            </a:r>
            <a:endParaRPr lang="en-US" sz="26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4871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Speaking Workshop — Environmental Problems and Causes</a:t>
            </a:r>
            <a:endParaRPr lang="en-US" sz="265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331012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36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التَّحَدُّثِ — مَشَاكِلُ البِيئَةِ</a:t>
            </a:r>
            <a:endParaRPr lang="ar-SA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4224528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Paper 3 practice in breakout rooms: name environmental problems — pollution, rubbish, traffic, deforestation — explain their causes and effects (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بِسَبَبِ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يُؤَدِّي إِلَى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 · </a:t>
            </a:r>
            <a:pPr algn="l" indent="0" marL="0">
              <a:buNone/>
            </a:pPr>
            <a:r>
              <a:rPr lang="ar-SA" altLang="en-US" sz="1800" dirty="0">
                <a:solidFill>
                  <a:srgbClr val="C6D2E6"/>
                </a:solidFill>
                <a:latin typeface="Amiri" pitchFamily="2" charset="-78"/>
                <a:cs typeface="Amiri" pitchFamily="2" charset="-78"/>
              </a:rPr>
              <a:t>مِمَّا يُسَبِّبُ</a:t>
            </a:r>
            <a:pPr algn="l" indent="0" marL="0">
              <a:buNone/>
            </a:pPr>
            <a:r>
              <a:rPr lang="en-US" sz="1400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) and use active and passive verbs.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57200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21792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LESSON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Advanced Topic C · The World Around Us · exam practice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73552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438144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DURATION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60 minutes · Teams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6089904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54496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LEVEL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Topic C · A1+ → B1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8906256" y="516636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16335F"/>
          </a:solidFill>
          <a:ln w="12700">
            <a:solidFill>
              <a:srgbClr val="2A4B7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070848" y="5212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ON THE WEBSITE</a:t>
            </a:r>
            <a:endParaRPr lang="en-US" sz="85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Advanced Topics › Topic C › TC-L04</a:t>
            </a:r>
            <a:endParaRPr lang="en-US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19188" y="274320"/>
            <a:ext cx="1540764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19188" y="274320"/>
            <a:ext cx="154076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BEFORE WE BEGIN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Our online classroom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آدَابُ الصَّفِّ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2002536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139696"/>
            <a:ext cx="310896" cy="310896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71600" y="1901952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Camera on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 I can see you learning and help you quickly.</a:t>
            </a:r>
            <a:endParaRPr lang="en-US" sz="1500" dirty="0"/>
          </a:p>
        </p:txBody>
      </p:sp>
      <p:sp>
        <p:nvSpPr>
          <p:cNvPr id="19" name="Shape 15"/>
          <p:cNvSpPr/>
          <p:nvPr/>
        </p:nvSpPr>
        <p:spPr>
          <a:xfrm>
            <a:off x="457200" y="2907792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640080" y="3081528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218688"/>
            <a:ext cx="310896" cy="310896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371600" y="2980944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Mic muted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Unmute only when invited to speak.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457200" y="3986784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640080" y="4160520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297680"/>
            <a:ext cx="310896" cy="310896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371600" y="4059936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Chat for learning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Answers, questions and Arabic only.</a:t>
            </a:r>
            <a:endParaRPr lang="en-US" sz="1500" dirty="0"/>
          </a:p>
        </p:txBody>
      </p:sp>
      <p:sp>
        <p:nvSpPr>
          <p:cNvPr id="27" name="Shape 21"/>
          <p:cNvSpPr/>
          <p:nvPr/>
        </p:nvSpPr>
        <p:spPr>
          <a:xfrm>
            <a:off x="457200" y="5065776"/>
            <a:ext cx="5394960" cy="932688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2"/>
          <p:cNvSpPr/>
          <p:nvPr/>
        </p:nvSpPr>
        <p:spPr>
          <a:xfrm>
            <a:off x="640080" y="5239512"/>
            <a:ext cx="585216" cy="585216"/>
          </a:xfrm>
          <a:prstGeom prst="ellipse">
            <a:avLst/>
          </a:prstGeom>
          <a:solidFill>
            <a:srgbClr val="EEF3FA"/>
          </a:solidFill>
          <a:ln w="12700">
            <a:solidFill>
              <a:srgbClr val="EEF3FA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5376672"/>
            <a:ext cx="310896" cy="310896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1371600" y="5138928"/>
            <a:ext cx="43891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Raise your hand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 the hand button to ask for help.</a:t>
            </a:r>
            <a:endParaRPr lang="en-US" sz="1500" dirty="0"/>
          </a:p>
        </p:txBody>
      </p:sp>
      <p:sp>
        <p:nvSpPr>
          <p:cNvPr id="31" name="Shape 24"/>
          <p:cNvSpPr/>
          <p:nvPr/>
        </p:nvSpPr>
        <p:spPr>
          <a:xfrm>
            <a:off x="6172200" y="1828800"/>
            <a:ext cx="5559552" cy="4169664"/>
          </a:xfrm>
          <a:prstGeom prst="roundRect">
            <a:avLst>
              <a:gd name="adj" fmla="val 1754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Text 25"/>
          <p:cNvSpPr txBox="1"/>
          <p:nvPr/>
        </p:nvSpPr>
        <p:spPr>
          <a:xfrm>
            <a:off x="6400800" y="1938528"/>
            <a:ext cx="51023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HOW WE TALK — THE ORACY CODE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6400800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4" name="Text 27"/>
          <p:cNvSpPr txBox="1"/>
          <p:nvPr/>
        </p:nvSpPr>
        <p:spPr>
          <a:xfrm>
            <a:off x="6400800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●</a:t>
            </a:r>
            <a:endParaRPr lang="en-US" sz="1800" dirty="0"/>
          </a:p>
        </p:txBody>
      </p:sp>
      <p:sp>
        <p:nvSpPr>
          <p:cNvPr id="35" name="Text 28"/>
          <p:cNvSpPr txBox="1"/>
          <p:nvPr/>
        </p:nvSpPr>
        <p:spPr>
          <a:xfrm>
            <a:off x="7059168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Think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silent preparation</a:t>
            </a:r>
            <a:endParaRPr lang="en-US" sz="1400" dirty="0"/>
          </a:p>
        </p:txBody>
      </p:sp>
      <p:sp>
        <p:nvSpPr>
          <p:cNvPr id="36" name="Shape 29"/>
          <p:cNvSpPr/>
          <p:nvPr/>
        </p:nvSpPr>
        <p:spPr>
          <a:xfrm>
            <a:off x="8997696" y="24505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7" name="Text 30"/>
          <p:cNvSpPr txBox="1"/>
          <p:nvPr/>
        </p:nvSpPr>
        <p:spPr>
          <a:xfrm>
            <a:off x="8997696" y="24505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↔</a:t>
            </a:r>
            <a:endParaRPr lang="en-US" sz="1800" dirty="0"/>
          </a:p>
        </p:txBody>
      </p:sp>
      <p:sp>
        <p:nvSpPr>
          <p:cNvPr id="38" name="Text 31"/>
          <p:cNvSpPr txBox="1"/>
          <p:nvPr/>
        </p:nvSpPr>
        <p:spPr>
          <a:xfrm>
            <a:off x="9656064" y="23774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Rehearse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both partners speak</a:t>
            </a:r>
            <a:endParaRPr lang="en-US" sz="1400" dirty="0"/>
          </a:p>
        </p:txBody>
      </p:sp>
      <p:sp>
        <p:nvSpPr>
          <p:cNvPr id="39" name="Shape 32"/>
          <p:cNvSpPr/>
          <p:nvPr/>
        </p:nvSpPr>
        <p:spPr>
          <a:xfrm>
            <a:off x="6400800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0" name="Text 33"/>
          <p:cNvSpPr txBox="1"/>
          <p:nvPr/>
        </p:nvSpPr>
        <p:spPr>
          <a:xfrm>
            <a:off x="6400800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+</a:t>
            </a:r>
            <a:endParaRPr lang="en-US" sz="1800" dirty="0"/>
          </a:p>
        </p:txBody>
      </p:sp>
      <p:sp>
        <p:nvSpPr>
          <p:cNvPr id="41" name="Text 34"/>
          <p:cNvSpPr txBox="1"/>
          <p:nvPr/>
        </p:nvSpPr>
        <p:spPr>
          <a:xfrm>
            <a:off x="7059168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Build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add a reason or detail</a:t>
            </a:r>
            <a:endParaRPr lang="en-US" sz="1400" dirty="0"/>
          </a:p>
        </p:txBody>
      </p:sp>
      <p:sp>
        <p:nvSpPr>
          <p:cNvPr id="42" name="Shape 35"/>
          <p:cNvSpPr/>
          <p:nvPr/>
        </p:nvSpPr>
        <p:spPr>
          <a:xfrm>
            <a:off x="8997696" y="33649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3" name="Text 36"/>
          <p:cNvSpPr txBox="1"/>
          <p:nvPr/>
        </p:nvSpPr>
        <p:spPr>
          <a:xfrm>
            <a:off x="8997696" y="33649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?</a:t>
            </a:r>
            <a:endParaRPr lang="en-US" sz="1800" dirty="0"/>
          </a:p>
        </p:txBody>
      </p:sp>
      <p:sp>
        <p:nvSpPr>
          <p:cNvPr id="44" name="Text 37"/>
          <p:cNvSpPr txBox="1"/>
          <p:nvPr/>
        </p:nvSpPr>
        <p:spPr>
          <a:xfrm>
            <a:off x="9656064" y="32918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Challenge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question respectfully</a:t>
            </a:r>
            <a:endParaRPr lang="en-US" sz="1400" dirty="0"/>
          </a:p>
        </p:txBody>
      </p:sp>
      <p:sp>
        <p:nvSpPr>
          <p:cNvPr id="45" name="Shape 38"/>
          <p:cNvSpPr/>
          <p:nvPr/>
        </p:nvSpPr>
        <p:spPr>
          <a:xfrm>
            <a:off x="6400800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6" name="Text 39"/>
          <p:cNvSpPr txBox="1"/>
          <p:nvPr/>
        </p:nvSpPr>
        <p:spPr>
          <a:xfrm>
            <a:off x="6400800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◎</a:t>
            </a:r>
            <a:endParaRPr lang="en-US" sz="1800" dirty="0"/>
          </a:p>
        </p:txBody>
      </p:sp>
      <p:sp>
        <p:nvSpPr>
          <p:cNvPr id="47" name="Text 40"/>
          <p:cNvSpPr txBox="1"/>
          <p:nvPr/>
        </p:nvSpPr>
        <p:spPr>
          <a:xfrm>
            <a:off x="7059168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Share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anyone may be invited</a:t>
            </a:r>
            <a:endParaRPr lang="en-US" sz="1400" dirty="0"/>
          </a:p>
        </p:txBody>
      </p:sp>
      <p:sp>
        <p:nvSpPr>
          <p:cNvPr id="48" name="Shape 41"/>
          <p:cNvSpPr/>
          <p:nvPr/>
        </p:nvSpPr>
        <p:spPr>
          <a:xfrm>
            <a:off x="8997696" y="4279392"/>
            <a:ext cx="548640" cy="54864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49" name="Text 42"/>
          <p:cNvSpPr txBox="1"/>
          <p:nvPr/>
        </p:nvSpPr>
        <p:spPr>
          <a:xfrm>
            <a:off x="8997696" y="42793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4AF37"/>
                </a:solidFill>
                <a:latin typeface="Arial" pitchFamily="34" charset="0"/>
                <a:cs typeface="Amiri" pitchFamily="2" charset="-78"/>
              </a:rPr>
              <a:t>↺</a:t>
            </a:r>
            <a:endParaRPr lang="en-US" sz="1800" dirty="0"/>
          </a:p>
        </p:txBody>
      </p:sp>
      <p:sp>
        <p:nvSpPr>
          <p:cNvPr id="50" name="Text 43"/>
          <p:cNvSpPr txBox="1"/>
          <p:nvPr/>
        </p:nvSpPr>
        <p:spPr>
          <a:xfrm>
            <a:off x="9656064" y="4206240"/>
            <a:ext cx="20116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Summarise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it more precisely</a:t>
            </a:r>
            <a:endParaRPr lang="en-US" sz="1400" dirty="0"/>
          </a:p>
        </p:txBody>
      </p:sp>
      <p:sp>
        <p:nvSpPr>
          <p:cNvPr id="51" name="Text 44"/>
          <p:cNvSpPr txBox="1"/>
          <p:nvPr/>
        </p:nvSpPr>
        <p:spPr>
          <a:xfrm>
            <a:off x="6400800" y="5230368"/>
            <a:ext cx="51023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I will always give you thinking and practice time before I ask anyone. Reading aloud is by invitation — you can always say “pass, please come back to me”.</a:t>
            </a:r>
            <a:endParaRPr lang="en-US" sz="1150" dirty="0"/>
          </a:p>
        </p:txBody>
      </p:sp>
      <p:sp>
        <p:nvSpPr>
          <p:cNvPr id="52" name="Text 4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 / 25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388352" y="27432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5A6472"/>
          </a:solidFill>
          <a:ln w="12700">
            <a:solidFill>
              <a:srgbClr val="5A64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88352" y="27432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WELCOME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TODAY’S WORKSHOP MAP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 practice, step by step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خَرِيطَةُ الوَرْشَةِ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66928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03504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603504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8 min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1332281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1332281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585216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How the speaking exam works; the language you need.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</a:t>
            </a:r>
            <a:endParaRPr lang="ar-SA" sz="1500" dirty="0"/>
          </a:p>
        </p:txBody>
      </p:sp>
      <p:sp>
        <p:nvSpPr>
          <p:cNvPr id="23" name="Shape 20"/>
          <p:cNvSpPr/>
          <p:nvPr/>
        </p:nvSpPr>
        <p:spPr>
          <a:xfrm>
            <a:off x="273771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284744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288401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88401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20 min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612794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612794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286573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A–D in breakout rooms.</a:t>
            </a:r>
            <a:endParaRPr lang="en-US" sz="1200" dirty="0"/>
          </a:p>
        </p:txBody>
      </p:sp>
      <p:sp>
        <p:nvSpPr>
          <p:cNvPr id="30" name="Text 27"/>
          <p:cNvSpPr txBox="1"/>
          <p:nvPr/>
        </p:nvSpPr>
        <p:spPr>
          <a:xfrm>
            <a:off x="282915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تَمْثِيلُ الدَّوْرِ</a:t>
            </a:r>
            <a:endParaRPr lang="ar-SA" sz="1500" dirty="0"/>
          </a:p>
        </p:txBody>
      </p:sp>
      <p:sp>
        <p:nvSpPr>
          <p:cNvPr id="31" name="Shape 28"/>
          <p:cNvSpPr/>
          <p:nvPr/>
        </p:nvSpPr>
        <p:spPr>
          <a:xfrm>
            <a:off x="5018227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127955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164531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5164531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4 min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5893308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5893308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300" dirty="0"/>
          </a:p>
        </p:txBody>
      </p:sp>
      <p:sp>
        <p:nvSpPr>
          <p:cNvPr id="37" name="Text 34"/>
          <p:cNvSpPr txBox="1"/>
          <p:nvPr/>
        </p:nvSpPr>
        <p:spPr>
          <a:xfrm>
            <a:off x="5146243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Role-play models.</a:t>
            </a:r>
            <a:endParaRPr lang="en-US" sz="1200" dirty="0"/>
          </a:p>
        </p:txBody>
      </p:sp>
      <p:sp>
        <p:nvSpPr>
          <p:cNvPr id="38" name="Text 35"/>
          <p:cNvSpPr txBox="1"/>
          <p:nvPr/>
        </p:nvSpPr>
        <p:spPr>
          <a:xfrm>
            <a:off x="5109667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النَّمُوذَجُ</a:t>
            </a:r>
            <a:endParaRPr lang="ar-SA" sz="1500" dirty="0"/>
          </a:p>
        </p:txBody>
      </p:sp>
      <p:sp>
        <p:nvSpPr>
          <p:cNvPr id="39" name="Shape 36"/>
          <p:cNvSpPr/>
          <p:nvPr/>
        </p:nvSpPr>
        <p:spPr>
          <a:xfrm>
            <a:off x="7298741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7408469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445045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7445045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13 min</a:t>
            </a:r>
            <a:endParaRPr lang="en-US" sz="1000" dirty="0"/>
          </a:p>
        </p:txBody>
      </p:sp>
      <p:sp>
        <p:nvSpPr>
          <p:cNvPr id="43" name="Shape 40"/>
          <p:cNvSpPr/>
          <p:nvPr/>
        </p:nvSpPr>
        <p:spPr>
          <a:xfrm>
            <a:off x="8173822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8173822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300" dirty="0"/>
          </a:p>
        </p:txBody>
      </p:sp>
      <p:sp>
        <p:nvSpPr>
          <p:cNvPr id="45" name="Text 42"/>
          <p:cNvSpPr txBox="1"/>
          <p:nvPr/>
        </p:nvSpPr>
        <p:spPr>
          <a:xfrm>
            <a:off x="7426757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in breakout rooms.</a:t>
            </a:r>
            <a:endParaRPr lang="en-US" sz="1200" dirty="0"/>
          </a:p>
        </p:txBody>
      </p:sp>
      <p:sp>
        <p:nvSpPr>
          <p:cNvPr id="46" name="Text 43"/>
          <p:cNvSpPr txBox="1"/>
          <p:nvPr/>
        </p:nvSpPr>
        <p:spPr>
          <a:xfrm>
            <a:off x="7390181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E6B52"/>
                </a:solidFill>
                <a:latin typeface="Amiri" pitchFamily="2" charset="-78"/>
                <a:cs typeface="Amiri" pitchFamily="2" charset="-78"/>
              </a:rPr>
              <a:t>المُحَادَثَةُ</a:t>
            </a:r>
            <a:endParaRPr lang="ar-SA" sz="1500" dirty="0"/>
          </a:p>
        </p:txBody>
      </p:sp>
      <p:sp>
        <p:nvSpPr>
          <p:cNvPr id="47" name="Shape 44"/>
          <p:cNvSpPr/>
          <p:nvPr/>
        </p:nvSpPr>
        <p:spPr>
          <a:xfrm>
            <a:off x="9579254" y="1828800"/>
            <a:ext cx="2152498" cy="3246120"/>
          </a:xfrm>
          <a:prstGeom prst="roundRect">
            <a:avLst>
              <a:gd name="adj" fmla="val 339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8" name="Shape 45"/>
          <p:cNvSpPr/>
          <p:nvPr/>
        </p:nvSpPr>
        <p:spPr>
          <a:xfrm>
            <a:off x="9688982" y="1938528"/>
            <a:ext cx="1933042" cy="566928"/>
          </a:xfrm>
          <a:prstGeom prst="roundRect">
            <a:avLst>
              <a:gd name="adj" fmla="val 9677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725558" y="1956816"/>
            <a:ext cx="185989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</a:t>
            </a:r>
            <a:endParaRPr lang="en-US" sz="1000" dirty="0"/>
          </a:p>
        </p:txBody>
      </p:sp>
      <p:sp>
        <p:nvSpPr>
          <p:cNvPr id="50" name="Text 47"/>
          <p:cNvSpPr txBox="1"/>
          <p:nvPr/>
        </p:nvSpPr>
        <p:spPr>
          <a:xfrm>
            <a:off x="9725558" y="2249424"/>
            <a:ext cx="185989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EDF5"/>
                </a:solidFill>
                <a:latin typeface="Calibri" pitchFamily="34" charset="0"/>
                <a:cs typeface="Amiri" pitchFamily="2" charset="-78"/>
              </a:rPr>
              <a:t>9 min</a:t>
            </a:r>
            <a:endParaRPr lang="en-US" sz="1000" dirty="0"/>
          </a:p>
        </p:txBody>
      </p:sp>
      <p:sp>
        <p:nvSpPr>
          <p:cNvPr id="51" name="Shape 48"/>
          <p:cNvSpPr/>
          <p:nvPr/>
        </p:nvSpPr>
        <p:spPr>
          <a:xfrm>
            <a:off x="10454335" y="2651760"/>
            <a:ext cx="402336" cy="40233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10454335" y="2651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300" dirty="0"/>
          </a:p>
        </p:txBody>
      </p:sp>
      <p:sp>
        <p:nvSpPr>
          <p:cNvPr id="53" name="Text 50"/>
          <p:cNvSpPr txBox="1"/>
          <p:nvPr/>
        </p:nvSpPr>
        <p:spPr>
          <a:xfrm>
            <a:off x="9707270" y="3145536"/>
            <a:ext cx="189646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Conversation models, feedback, self-check.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9670694" y="4526280"/>
            <a:ext cx="196961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</a:t>
            </a:r>
            <a:endParaRPr lang="ar-SA" sz="1500" dirty="0"/>
          </a:p>
        </p:txBody>
      </p:sp>
      <p:sp>
        <p:nvSpPr>
          <p:cNvPr id="55" name="Shape 52"/>
          <p:cNvSpPr/>
          <p:nvPr/>
        </p:nvSpPr>
        <p:spPr>
          <a:xfrm>
            <a:off x="457200" y="5285232"/>
            <a:ext cx="11274552" cy="1024128"/>
          </a:xfrm>
          <a:prstGeom prst="roundRect">
            <a:avLst>
              <a:gd name="adj" fmla="val 7143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6" name="Text 53"/>
          <p:cNvSpPr txBox="1"/>
          <p:nvPr/>
        </p:nvSpPr>
        <p:spPr>
          <a:xfrm>
            <a:off x="685800" y="53583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IF ARABIC FEELS HARD TODAY</a:t>
            </a:r>
            <a:endParaRPr lang="en-US" sz="1000" dirty="0"/>
          </a:p>
        </p:txBody>
      </p:sp>
      <p:sp>
        <p:nvSpPr>
          <p:cNvPr id="57" name="Text 54"/>
          <p:cNvSpPr txBox="1"/>
          <p:nvPr/>
        </p:nvSpPr>
        <p:spPr>
          <a:xfrm>
            <a:off x="685800" y="5632704"/>
            <a:ext cx="108813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In the rooms everyone has a job: examiner, candidate or observer. You swap after each role play, so everybody speaks.</a:t>
            </a:r>
            <a:endParaRPr lang="en-US" sz="1250" dirty="0"/>
          </a:p>
        </p:txBody>
      </p:sp>
      <p:sp>
        <p:nvSpPr>
          <p:cNvPr id="58" name="Text 55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3 / 25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TEACH · PAPER 3 SPEAKING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How the speaking exam works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امْتِحَانُ التَّحَدُّثِ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6172200" cy="4498848"/>
          </a:xfrm>
          <a:prstGeom prst="roundRect">
            <a:avLst>
              <a:gd name="adj" fmla="val 1626"/>
            </a:avLst>
          </a:prstGeom>
          <a:solidFill>
            <a:srgbClr val="F7F9FC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58368" y="1883664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THE TWO PARTS WE PRACTISE TODAY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58368" y="2286000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58368" y="22860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78992" y="2176272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 — a card with a situation and tasks. The examiner asks; you answer every task in a full, clear sentence. One task is unexpected (!).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58368" y="3296412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58368" y="32964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78992" y="3186684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TOPIC CONVERSATION — the examiner asks questions about a topic you know. Short answers are not enough: develop each one.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" y="4306824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430682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25" name="Text 22"/>
          <p:cNvSpPr txBox="1"/>
          <p:nvPr/>
        </p:nvSpPr>
        <p:spPr>
          <a:xfrm>
            <a:off x="1078992" y="4197096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Examiners reward: completing the tasks, a range of language (tenses, linking words, opinions) and accuracy.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658368" y="5317236"/>
            <a:ext cx="310896" cy="310896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" y="53172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78992" y="5207508"/>
            <a:ext cx="5394960" cy="9738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Never stay silent — use a repair phrase and keep going.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812280" y="1810512"/>
            <a:ext cx="4919472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995160" y="1883664"/>
            <a:ext cx="4553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REPAIR PHRASES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6949440" y="2194560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ar-SA" sz="2800" dirty="0"/>
          </a:p>
        </p:txBody>
      </p:sp>
      <p:sp>
        <p:nvSpPr>
          <p:cNvPr id="32" name="Text 29"/>
          <p:cNvSpPr txBox="1"/>
          <p:nvPr/>
        </p:nvSpPr>
        <p:spPr>
          <a:xfrm>
            <a:off x="6949440" y="2955828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Sorry, could you repeat the question?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6995160" y="3535680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4" name="Text 31"/>
          <p:cNvSpPr txBox="1"/>
          <p:nvPr/>
        </p:nvSpPr>
        <p:spPr>
          <a:xfrm>
            <a:off x="6949440" y="3553968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لَحْظَةً، دَعْنِي أُفَكِّرُ …</a:t>
            </a:r>
            <a:endParaRPr lang="ar-SA" sz="2800" dirty="0"/>
          </a:p>
        </p:txBody>
      </p:sp>
      <p:sp>
        <p:nvSpPr>
          <p:cNvPr id="35" name="Text 32"/>
          <p:cNvSpPr txBox="1"/>
          <p:nvPr/>
        </p:nvSpPr>
        <p:spPr>
          <a:xfrm>
            <a:off x="6949440" y="4315236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One moment, let me think …</a:t>
            </a:r>
            <a:endParaRPr lang="en-US" sz="1100" dirty="0"/>
          </a:p>
        </p:txBody>
      </p:sp>
      <p:sp>
        <p:nvSpPr>
          <p:cNvPr id="36" name="Shape 33"/>
          <p:cNvSpPr/>
          <p:nvPr/>
        </p:nvSpPr>
        <p:spPr>
          <a:xfrm>
            <a:off x="6995160" y="4895088"/>
            <a:ext cx="4553712" cy="0"/>
          </a:xfrm>
          <a:prstGeom prst="line">
            <a:avLst/>
          </a:prstGeom>
          <a:noFill/>
          <a:ln w="9525">
            <a:solidFill>
              <a:srgbClr val="E4DCCB"/>
            </a:solidFill>
            <a:prstDash val="dash"/>
          </a:ln>
        </p:spPr>
      </p:sp>
      <p:sp>
        <p:nvSpPr>
          <p:cNvPr id="37" name="Text 34"/>
          <p:cNvSpPr txBox="1"/>
          <p:nvPr/>
        </p:nvSpPr>
        <p:spPr>
          <a:xfrm>
            <a:off x="6949440" y="4913376"/>
            <a:ext cx="4645152" cy="7612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2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أَقْصِدُ …</a:t>
            </a:r>
            <a:endParaRPr lang="ar-SA" sz="2800" dirty="0"/>
          </a:p>
        </p:txBody>
      </p:sp>
      <p:sp>
        <p:nvSpPr>
          <p:cNvPr id="38" name="Text 35"/>
          <p:cNvSpPr txBox="1"/>
          <p:nvPr/>
        </p:nvSpPr>
        <p:spPr>
          <a:xfrm>
            <a:off x="6949440" y="5674644"/>
            <a:ext cx="4645152" cy="543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mean …</a:t>
            </a:r>
            <a:endParaRPr lang="en-US" sz="1100" dirty="0"/>
          </a:p>
        </p:txBody>
      </p:sp>
      <p:sp>
        <p:nvSpPr>
          <p:cNvPr id="39" name="Text 3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4 / 25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PROBLEMS (NOUN · ADJECTIVE · VERB)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Pollution, rubbish, smoke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مَشَاكِلُ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331366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3313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 · adj. f.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البِيئَةُ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the environment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al-bī-ʾa-tu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99669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100218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f.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100126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بِيئِيَّةٌ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8238744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293608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adj. m.</a:t>
            </a:r>
            <a:endParaRPr lang="en-US" sz="700" dirty="0"/>
          </a:p>
        </p:txBody>
      </p:sp>
      <p:sp>
        <p:nvSpPr>
          <p:cNvPr id="29" name="Text 26"/>
          <p:cNvSpPr txBox="1"/>
          <p:nvPr/>
        </p:nvSpPr>
        <p:spPr>
          <a:xfrm>
            <a:off x="8284464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بِيئِيٌّ</a:t>
            </a:r>
            <a:endParaRPr lang="ar-SA" sz="1350" dirty="0"/>
          </a:p>
        </p:txBody>
      </p:sp>
      <p:sp>
        <p:nvSpPr>
          <p:cNvPr id="30" name="Shape 27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33" name="Shape 30"/>
          <p:cNvSpPr/>
          <p:nvPr/>
        </p:nvSpPr>
        <p:spPr>
          <a:xfrm>
            <a:off x="4782312" y="1938528"/>
            <a:ext cx="1766621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4782312" y="1938528"/>
            <a:ext cx="176662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air pollution · polluted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7" name="Text 34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تَلَوُّثٌ</a:t>
            </a:r>
            <a:endParaRPr lang="ar-SA" sz="3000" dirty="0"/>
          </a:p>
        </p:txBody>
      </p:sp>
      <p:sp>
        <p:nvSpPr>
          <p:cNvPr id="38" name="Text 35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pollution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ta-law-wu-thun</a:t>
            </a:r>
            <a:endParaRPr lang="en-US" sz="1350" dirty="0"/>
          </a:p>
        </p:txBody>
      </p:sp>
      <p:sp>
        <p:nvSpPr>
          <p:cNvPr id="39" name="Shape 36"/>
          <p:cNvSpPr/>
          <p:nvPr/>
        </p:nvSpPr>
        <p:spPr>
          <a:xfrm>
            <a:off x="6144768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199632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polluted</a:t>
            </a:r>
            <a:endParaRPr lang="en-US" sz="700" dirty="0"/>
          </a:p>
        </p:txBody>
      </p:sp>
      <p:sp>
        <p:nvSpPr>
          <p:cNvPr id="41" name="Text 38"/>
          <p:cNvSpPr txBox="1"/>
          <p:nvPr/>
        </p:nvSpPr>
        <p:spPr>
          <a:xfrm>
            <a:off x="6190488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مُلَوَّثٌ · مُلَوَّثَةٌ</a:t>
            </a:r>
            <a:endParaRPr lang="ar-SA" sz="1350" dirty="0"/>
          </a:p>
        </p:txBody>
      </p:sp>
      <p:sp>
        <p:nvSpPr>
          <p:cNvPr id="42" name="Shape 39"/>
          <p:cNvSpPr/>
          <p:nvPr/>
        </p:nvSpPr>
        <p:spPr>
          <a:xfrm>
            <a:off x="4416552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4471416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air pollution</a:t>
            </a:r>
            <a:endParaRPr lang="en-US" sz="700" dirty="0"/>
          </a:p>
        </p:txBody>
      </p:sp>
      <p:sp>
        <p:nvSpPr>
          <p:cNvPr id="44" name="Text 41"/>
          <p:cNvSpPr txBox="1"/>
          <p:nvPr/>
        </p:nvSpPr>
        <p:spPr>
          <a:xfrm>
            <a:off x="4462272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تَلَوُّثُ الهَوَاءِ</a:t>
            </a:r>
            <a:endParaRPr lang="ar-SA" sz="1350" dirty="0"/>
          </a:p>
        </p:txBody>
      </p:sp>
      <p:sp>
        <p:nvSpPr>
          <p:cNvPr id="45" name="Shape 42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48" name="Shape 45"/>
          <p:cNvSpPr/>
          <p:nvPr/>
        </p:nvSpPr>
        <p:spPr>
          <a:xfrm>
            <a:off x="960120" y="1938528"/>
            <a:ext cx="1269187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60120" y="1938528"/>
            <a:ext cx="12691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active / passive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يُلَوِّثُ</a:t>
            </a:r>
            <a:endParaRPr lang="ar-SA" sz="3000" dirty="0"/>
          </a:p>
        </p:txBody>
      </p:sp>
      <p:sp>
        <p:nvSpPr>
          <p:cNvPr id="53" name="Text 50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pollutes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yu-law-wi-thu</a:t>
            </a:r>
            <a:endParaRPr lang="en-US" sz="1350" dirty="0"/>
          </a:p>
        </p:txBody>
      </p:sp>
      <p:sp>
        <p:nvSpPr>
          <p:cNvPr id="54" name="Shape 51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passive</a:t>
            </a:r>
            <a:endParaRPr lang="en-US" sz="700" dirty="0"/>
          </a:p>
        </p:txBody>
      </p:sp>
      <p:sp>
        <p:nvSpPr>
          <p:cNvPr id="56" name="Text 53"/>
          <p:cNvSpPr txBox="1"/>
          <p:nvPr/>
        </p:nvSpPr>
        <p:spPr>
          <a:xfrm>
            <a:off x="2368296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يُلَوَّثُ · تُلَوَّثُ</a:t>
            </a:r>
            <a:endParaRPr lang="ar-SA" sz="1350" dirty="0"/>
          </a:p>
        </p:txBody>
      </p:sp>
      <p:sp>
        <p:nvSpPr>
          <p:cNvPr id="57" name="Shape 54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640080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تُلَوِّثُ</a:t>
            </a:r>
            <a:endParaRPr lang="ar-SA" sz="1500" dirty="0"/>
          </a:p>
        </p:txBody>
      </p:sp>
      <p:sp>
        <p:nvSpPr>
          <p:cNvPr id="60" name="Shape 57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61" name="Shape 58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62" name="Text 59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63" name="Shape 60"/>
          <p:cNvSpPr/>
          <p:nvPr/>
        </p:nvSpPr>
        <p:spPr>
          <a:xfrm>
            <a:off x="8604504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8604504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plastic waste · a bin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7" name="Text 64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نُفَايَاتٌ</a:t>
            </a:r>
            <a:endParaRPr lang="ar-SA" sz="3000" dirty="0"/>
          </a:p>
        </p:txBody>
      </p:sp>
      <p:sp>
        <p:nvSpPr>
          <p:cNvPr id="68" name="Text 65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rubbish, waste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nu-fā-yā-tun</a:t>
            </a:r>
            <a:endParaRPr lang="en-US" sz="1350" dirty="0"/>
          </a:p>
        </p:txBody>
      </p:sp>
      <p:sp>
        <p:nvSpPr>
          <p:cNvPr id="69" name="Shape 66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 bin</a:t>
            </a:r>
            <a:endParaRPr lang="en-US" sz="700" dirty="0"/>
          </a:p>
        </p:txBody>
      </p:sp>
      <p:sp>
        <p:nvSpPr>
          <p:cNvPr id="71" name="Text 68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سَلَّةُ مُهْمَلَاتٍ</a:t>
            </a:r>
            <a:endParaRPr lang="ar-SA" sz="1350" dirty="0"/>
          </a:p>
        </p:txBody>
      </p:sp>
      <p:sp>
        <p:nvSpPr>
          <p:cNvPr id="72" name="Shape 69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plastic waste</a:t>
            </a:r>
            <a:endParaRPr lang="en-US" sz="700" dirty="0"/>
          </a:p>
        </p:txBody>
      </p:sp>
      <p:sp>
        <p:nvSpPr>
          <p:cNvPr id="74" name="Text 71"/>
          <p:cNvSpPr txBox="1"/>
          <p:nvPr/>
        </p:nvSpPr>
        <p:spPr>
          <a:xfrm>
            <a:off x="8284464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نُفَايَاتٌ بْلَاسْتِيكِيَّةٌ</a:t>
            </a:r>
            <a:endParaRPr lang="ar-SA" sz="1350" dirty="0"/>
          </a:p>
        </p:txBody>
      </p:sp>
      <p:sp>
        <p:nvSpPr>
          <p:cNvPr id="75" name="Shape 72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6" name="Shape 73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000" dirty="0"/>
          </a:p>
        </p:txBody>
      </p:sp>
      <p:sp>
        <p:nvSpPr>
          <p:cNvPr id="78" name="Shape 75"/>
          <p:cNvSpPr/>
          <p:nvPr/>
        </p:nvSpPr>
        <p:spPr>
          <a:xfrm>
            <a:off x="4782312" y="4279392"/>
            <a:ext cx="1580083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4782312" y="4279392"/>
            <a:ext cx="158008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 fumes · factories</a:t>
            </a:r>
            <a:endParaRPr lang="en-US" sz="800" dirty="0"/>
          </a:p>
        </p:txBody>
      </p:sp>
      <p:sp>
        <p:nvSpPr>
          <p:cNvPr id="80" name="Shape 77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81" name="Text 78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82" name="Text 79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دُخَانٌ</a:t>
            </a:r>
            <a:endParaRPr lang="ar-SA" sz="3000" dirty="0"/>
          </a:p>
        </p:txBody>
      </p:sp>
      <p:sp>
        <p:nvSpPr>
          <p:cNvPr id="83" name="Text 80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smoke, fumes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du-khā-nun</a:t>
            </a:r>
            <a:endParaRPr lang="en-US" sz="1350" dirty="0"/>
          </a:p>
        </p:txBody>
      </p:sp>
      <p:sp>
        <p:nvSpPr>
          <p:cNvPr id="84" name="Shape 81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5" name="Text 82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factories</a:t>
            </a:r>
            <a:endParaRPr lang="en-US" sz="700" dirty="0"/>
          </a:p>
        </p:txBody>
      </p:sp>
      <p:sp>
        <p:nvSpPr>
          <p:cNvPr id="86" name="Text 83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مَصَانِعُ</a:t>
            </a:r>
            <a:endParaRPr lang="ar-SA" sz="1350" dirty="0"/>
          </a:p>
        </p:txBody>
      </p:sp>
      <p:sp>
        <p:nvSpPr>
          <p:cNvPr id="87" name="Shape 84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car fumes</a:t>
            </a:r>
            <a:endParaRPr lang="en-US" sz="700" dirty="0"/>
          </a:p>
        </p:txBody>
      </p:sp>
      <p:sp>
        <p:nvSpPr>
          <p:cNvPr id="89" name="Text 86"/>
          <p:cNvSpPr txBox="1"/>
          <p:nvPr/>
        </p:nvSpPr>
        <p:spPr>
          <a:xfrm>
            <a:off x="4462272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دُخَانُ السَّيَّارَاتِ</a:t>
            </a:r>
            <a:endParaRPr lang="ar-SA" sz="1350" dirty="0"/>
          </a:p>
        </p:txBody>
      </p:sp>
      <p:sp>
        <p:nvSpPr>
          <p:cNvPr id="90" name="Shape 87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91" name="Shape 88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6</a:t>
            </a:r>
            <a:endParaRPr lang="en-US" sz="1000" dirty="0"/>
          </a:p>
        </p:txBody>
      </p:sp>
      <p:sp>
        <p:nvSpPr>
          <p:cNvPr id="93" name="Shape 90"/>
          <p:cNvSpPr/>
          <p:nvPr/>
        </p:nvSpPr>
        <p:spPr>
          <a:xfrm>
            <a:off x="960120" y="4279392"/>
            <a:ext cx="195315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960120" y="4279392"/>
            <a:ext cx="195315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crowded (f.) · crowded (m.)</a:t>
            </a:r>
            <a:endParaRPr lang="en-US" sz="800" dirty="0"/>
          </a:p>
        </p:txBody>
      </p:sp>
      <p:sp>
        <p:nvSpPr>
          <p:cNvPr id="95" name="Shape 92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7" name="Text 94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زَحْمَةُ المُرُورِ</a:t>
            </a:r>
            <a:endParaRPr lang="ar-SA" sz="3000" dirty="0"/>
          </a:p>
        </p:txBody>
      </p:sp>
      <p:sp>
        <p:nvSpPr>
          <p:cNvPr id="98" name="Text 95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traffic congestion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zaḥ-ma-tu al-mu-rū-ri</a:t>
            </a:r>
            <a:endParaRPr lang="en-US" sz="1350" dirty="0"/>
          </a:p>
        </p:txBody>
      </p:sp>
      <p:sp>
        <p:nvSpPr>
          <p:cNvPr id="99" name="Shape 96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crowded (m.)</a:t>
            </a:r>
            <a:endParaRPr lang="en-US" sz="700" dirty="0"/>
          </a:p>
        </p:txBody>
      </p:sp>
      <p:sp>
        <p:nvSpPr>
          <p:cNvPr id="101" name="Text 98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مُزْدَحِمٌ</a:t>
            </a:r>
            <a:endParaRPr lang="ar-SA" sz="1350" dirty="0"/>
          </a:p>
        </p:txBody>
      </p:sp>
      <p:sp>
        <p:nvSpPr>
          <p:cNvPr id="102" name="Shape 99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103" name="Text 100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crowded (f.)</a:t>
            </a:r>
            <a:endParaRPr lang="en-US" sz="700" dirty="0"/>
          </a:p>
        </p:txBody>
      </p:sp>
      <p:sp>
        <p:nvSpPr>
          <p:cNvPr id="104" name="Text 101"/>
          <p:cNvSpPr txBox="1"/>
          <p:nvPr/>
        </p:nvSpPr>
        <p:spPr>
          <a:xfrm>
            <a:off x="6400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مُزْدَحِمَةٌ</a:t>
            </a:r>
            <a:endParaRPr lang="ar-SA" sz="1350" dirty="0"/>
          </a:p>
        </p:txBody>
      </p:sp>
      <p:sp>
        <p:nvSpPr>
          <p:cNvPr id="105" name="Text 10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5 / 25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6308446" y="274320"/>
            <a:ext cx="2451506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08446" y="274320"/>
            <a:ext cx="245150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TEACHER INSTRUCTION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LANGUAGE BANK · CAUSES AND EFFECTS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Because of … leads to …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الأَسْبَابُ وَالنَّتَائِجُ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8101584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211312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211312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7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8604504" y="1938528"/>
            <a:ext cx="120700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04504" y="1938528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forests are cut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10872216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10872216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2" name="Text 19"/>
          <p:cNvSpPr txBox="1"/>
          <p:nvPr/>
        </p:nvSpPr>
        <p:spPr>
          <a:xfrm>
            <a:off x="8211312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قَطْعُ الأَشْجَارِ</a:t>
            </a:r>
            <a:endParaRPr lang="ar-SA" sz="3000" dirty="0"/>
          </a:p>
        </p:txBody>
      </p:sp>
      <p:sp>
        <p:nvSpPr>
          <p:cNvPr id="23" name="Text 20"/>
          <p:cNvSpPr txBox="1"/>
          <p:nvPr/>
        </p:nvSpPr>
        <p:spPr>
          <a:xfrm>
            <a:off x="8238744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cutting down trees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qaṭ-ʿu al-ash-jā-ri</a:t>
            </a:r>
            <a:endParaRPr lang="en-US" sz="1350" dirty="0"/>
          </a:p>
        </p:txBody>
      </p:sp>
      <p:sp>
        <p:nvSpPr>
          <p:cNvPr id="24" name="Shape 21"/>
          <p:cNvSpPr/>
          <p:nvPr/>
        </p:nvSpPr>
        <p:spPr>
          <a:xfrm>
            <a:off x="8238744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293608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forests are cut</a:t>
            </a:r>
            <a:endParaRPr lang="en-US" sz="700" dirty="0"/>
          </a:p>
        </p:txBody>
      </p:sp>
      <p:sp>
        <p:nvSpPr>
          <p:cNvPr id="26" name="Text 23"/>
          <p:cNvSpPr txBox="1"/>
          <p:nvPr/>
        </p:nvSpPr>
        <p:spPr>
          <a:xfrm>
            <a:off x="8284464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تُقْطَعُ الغَابَاتُ</a:t>
            </a:r>
            <a:endParaRPr lang="ar-SA" sz="1350" dirty="0"/>
          </a:p>
        </p:txBody>
      </p:sp>
      <p:sp>
        <p:nvSpPr>
          <p:cNvPr id="27" name="Shape 24"/>
          <p:cNvSpPr/>
          <p:nvPr/>
        </p:nvSpPr>
        <p:spPr>
          <a:xfrm>
            <a:off x="4279392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4389120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389120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8</a:t>
            </a:r>
            <a:endParaRPr lang="en-US" sz="1000" dirty="0"/>
          </a:p>
        </p:txBody>
      </p:sp>
      <p:sp>
        <p:nvSpPr>
          <p:cNvPr id="30" name="Shape 27"/>
          <p:cNvSpPr/>
          <p:nvPr/>
        </p:nvSpPr>
        <p:spPr>
          <a:xfrm>
            <a:off x="4782312" y="1938528"/>
            <a:ext cx="1144829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782312" y="1938528"/>
            <a:ext cx="11448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climate change</a:t>
            </a:r>
            <a:endParaRPr lang="en-US" sz="800" dirty="0"/>
          </a:p>
        </p:txBody>
      </p:sp>
      <p:sp>
        <p:nvSpPr>
          <p:cNvPr id="32" name="Shape 29"/>
          <p:cNvSpPr/>
          <p:nvPr/>
        </p:nvSpPr>
        <p:spPr>
          <a:xfrm>
            <a:off x="7050024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7050024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34" name="Text 31"/>
          <p:cNvSpPr txBox="1"/>
          <p:nvPr/>
        </p:nvSpPr>
        <p:spPr>
          <a:xfrm>
            <a:off x="4389120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الاحْتِبَاسُ الحَرَارِيُّ</a:t>
            </a:r>
            <a:endParaRPr lang="ar-SA" sz="3000" dirty="0"/>
          </a:p>
        </p:txBody>
      </p:sp>
      <p:sp>
        <p:nvSpPr>
          <p:cNvPr id="35" name="Text 32"/>
          <p:cNvSpPr txBox="1"/>
          <p:nvPr/>
        </p:nvSpPr>
        <p:spPr>
          <a:xfrm>
            <a:off x="4416552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global warming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alḥ-ti-bā-su al-ḥa-rā-riy-yu</a:t>
            </a:r>
            <a:endParaRPr lang="en-US" sz="1350" dirty="0"/>
          </a:p>
        </p:txBody>
      </p:sp>
      <p:sp>
        <p:nvSpPr>
          <p:cNvPr id="36" name="Shape 33"/>
          <p:cNvSpPr/>
          <p:nvPr/>
        </p:nvSpPr>
        <p:spPr>
          <a:xfrm>
            <a:off x="4416552" y="3438144"/>
            <a:ext cx="3364992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4471416" y="3447288"/>
            <a:ext cx="3255264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climate change</a:t>
            </a:r>
            <a:endParaRPr lang="en-US" sz="700" dirty="0"/>
          </a:p>
        </p:txBody>
      </p:sp>
      <p:sp>
        <p:nvSpPr>
          <p:cNvPr id="38" name="Text 35"/>
          <p:cNvSpPr txBox="1"/>
          <p:nvPr/>
        </p:nvSpPr>
        <p:spPr>
          <a:xfrm>
            <a:off x="4462272" y="3575304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تَغَيُّرُ المُنَاخِ</a:t>
            </a:r>
            <a:endParaRPr lang="ar-SA" sz="1350" dirty="0"/>
          </a:p>
        </p:txBody>
      </p:sp>
      <p:sp>
        <p:nvSpPr>
          <p:cNvPr id="39" name="Shape 36"/>
          <p:cNvSpPr/>
          <p:nvPr/>
        </p:nvSpPr>
        <p:spPr>
          <a:xfrm>
            <a:off x="457200" y="1810512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1920240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66928" y="1920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9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960120" y="1938528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60120" y="1938528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cause</a:t>
            </a:r>
            <a:endParaRPr lang="en-US" sz="800" dirty="0"/>
          </a:p>
        </p:txBody>
      </p:sp>
      <p:sp>
        <p:nvSpPr>
          <p:cNvPr id="44" name="Shape 41"/>
          <p:cNvSpPr/>
          <p:nvPr/>
        </p:nvSpPr>
        <p:spPr>
          <a:xfrm>
            <a:off x="3227832" y="1938528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3227832" y="1938528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46" name="Text 43"/>
          <p:cNvSpPr txBox="1"/>
          <p:nvPr/>
        </p:nvSpPr>
        <p:spPr>
          <a:xfrm>
            <a:off x="566928" y="2212848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</a:t>
            </a:r>
            <a:endParaRPr lang="ar-SA" sz="3000" dirty="0"/>
          </a:p>
        </p:txBody>
      </p:sp>
      <p:sp>
        <p:nvSpPr>
          <p:cNvPr id="47" name="Text 44"/>
          <p:cNvSpPr txBox="1"/>
          <p:nvPr/>
        </p:nvSpPr>
        <p:spPr>
          <a:xfrm>
            <a:off x="594360" y="2907792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because of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bi-sa-ba-bi …</a:t>
            </a:r>
            <a:endParaRPr lang="en-US" sz="1350" dirty="0"/>
          </a:p>
        </p:txBody>
      </p:sp>
      <p:sp>
        <p:nvSpPr>
          <p:cNvPr id="48" name="Shape 45"/>
          <p:cNvSpPr/>
          <p:nvPr/>
        </p:nvSpPr>
        <p:spPr>
          <a:xfrm>
            <a:off x="2322576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377440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2368296" y="3483864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أَسْبَابٌ</a:t>
            </a:r>
            <a:endParaRPr lang="ar-SA" sz="1500" dirty="0"/>
          </a:p>
        </p:txBody>
      </p:sp>
      <p:sp>
        <p:nvSpPr>
          <p:cNvPr id="51" name="Shape 48"/>
          <p:cNvSpPr/>
          <p:nvPr/>
        </p:nvSpPr>
        <p:spPr>
          <a:xfrm>
            <a:off x="594360" y="3438144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649224" y="3447288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the cause</a:t>
            </a:r>
            <a:endParaRPr lang="en-US" sz="700" dirty="0"/>
          </a:p>
        </p:txBody>
      </p:sp>
      <p:sp>
        <p:nvSpPr>
          <p:cNvPr id="53" name="Text 50"/>
          <p:cNvSpPr txBox="1"/>
          <p:nvPr/>
        </p:nvSpPr>
        <p:spPr>
          <a:xfrm>
            <a:off x="640080" y="3575304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السَّبَبُ</a:t>
            </a:r>
            <a:endParaRPr lang="ar-SA" sz="1350" dirty="0"/>
          </a:p>
        </p:txBody>
      </p:sp>
      <p:sp>
        <p:nvSpPr>
          <p:cNvPr id="54" name="Shape 51"/>
          <p:cNvSpPr/>
          <p:nvPr/>
        </p:nvSpPr>
        <p:spPr>
          <a:xfrm>
            <a:off x="8101584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55" name="Shape 52"/>
          <p:cNvSpPr/>
          <p:nvPr/>
        </p:nvSpPr>
        <p:spPr>
          <a:xfrm>
            <a:off x="8211312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56" name="Text 53"/>
          <p:cNvSpPr txBox="1"/>
          <p:nvPr/>
        </p:nvSpPr>
        <p:spPr>
          <a:xfrm>
            <a:off x="8211312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10</a:t>
            </a:r>
            <a:endParaRPr lang="en-US" sz="1000" dirty="0"/>
          </a:p>
        </p:txBody>
      </p:sp>
      <p:sp>
        <p:nvSpPr>
          <p:cNvPr id="57" name="Shape 54"/>
          <p:cNvSpPr/>
          <p:nvPr/>
        </p:nvSpPr>
        <p:spPr>
          <a:xfrm>
            <a:off x="8604504" y="4279392"/>
            <a:ext cx="704088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58" name="Text 55"/>
          <p:cNvSpPr txBox="1"/>
          <p:nvPr/>
        </p:nvSpPr>
        <p:spPr>
          <a:xfrm>
            <a:off x="8604504" y="4279392"/>
            <a:ext cx="7040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effect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872216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10872216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61" name="Text 58"/>
          <p:cNvSpPr txBox="1"/>
          <p:nvPr/>
        </p:nvSpPr>
        <p:spPr>
          <a:xfrm>
            <a:off x="8211312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يُؤَدِّي إِلَى …</a:t>
            </a:r>
            <a:endParaRPr lang="ar-SA" sz="3000" dirty="0"/>
          </a:p>
        </p:txBody>
      </p:sp>
      <p:sp>
        <p:nvSpPr>
          <p:cNvPr id="62" name="Text 59"/>
          <p:cNvSpPr txBox="1"/>
          <p:nvPr/>
        </p:nvSpPr>
        <p:spPr>
          <a:xfrm>
            <a:off x="8238744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leads to …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yu-ʾad-dī i-lā …</a:t>
            </a:r>
            <a:endParaRPr lang="en-US" sz="1350" dirty="0"/>
          </a:p>
        </p:txBody>
      </p:sp>
      <p:sp>
        <p:nvSpPr>
          <p:cNvPr id="63" name="Shape 60"/>
          <p:cNvSpPr/>
          <p:nvPr/>
        </p:nvSpPr>
        <p:spPr>
          <a:xfrm>
            <a:off x="99669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4" name="Text 61"/>
          <p:cNvSpPr txBox="1"/>
          <p:nvPr/>
        </p:nvSpPr>
        <p:spPr>
          <a:xfrm>
            <a:off x="100218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which causes</a:t>
            </a:r>
            <a:endParaRPr lang="en-US" sz="700" dirty="0"/>
          </a:p>
        </p:txBody>
      </p:sp>
      <p:sp>
        <p:nvSpPr>
          <p:cNvPr id="65" name="Text 62"/>
          <p:cNvSpPr txBox="1"/>
          <p:nvPr/>
        </p:nvSpPr>
        <p:spPr>
          <a:xfrm>
            <a:off x="10012680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مِمَّا يُسَبِّبُ</a:t>
            </a:r>
            <a:endParaRPr lang="ar-SA" sz="1350" dirty="0"/>
          </a:p>
        </p:txBody>
      </p:sp>
      <p:sp>
        <p:nvSpPr>
          <p:cNvPr id="66" name="Shape 63"/>
          <p:cNvSpPr/>
          <p:nvPr/>
        </p:nvSpPr>
        <p:spPr>
          <a:xfrm>
            <a:off x="8238744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293608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8284464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تُؤَدِّي إِلَى</a:t>
            </a:r>
            <a:endParaRPr lang="ar-SA" sz="1500" dirty="0"/>
          </a:p>
        </p:txBody>
      </p:sp>
      <p:sp>
        <p:nvSpPr>
          <p:cNvPr id="69" name="Shape 66"/>
          <p:cNvSpPr/>
          <p:nvPr/>
        </p:nvSpPr>
        <p:spPr>
          <a:xfrm>
            <a:off x="4279392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70" name="Shape 67"/>
          <p:cNvSpPr/>
          <p:nvPr/>
        </p:nvSpPr>
        <p:spPr>
          <a:xfrm>
            <a:off x="4389120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389120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11</a:t>
            </a:r>
            <a:endParaRPr lang="en-US" sz="1000" dirty="0"/>
          </a:p>
        </p:txBody>
      </p:sp>
      <p:sp>
        <p:nvSpPr>
          <p:cNvPr id="72" name="Shape 69"/>
          <p:cNvSpPr/>
          <p:nvPr/>
        </p:nvSpPr>
        <p:spPr>
          <a:xfrm>
            <a:off x="4782312" y="4279392"/>
            <a:ext cx="896112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4782312" y="4279392"/>
            <a:ext cx="896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 · harms</a:t>
            </a:r>
            <a:endParaRPr lang="en-US" sz="800" dirty="0"/>
          </a:p>
        </p:txBody>
      </p:sp>
      <p:sp>
        <p:nvSpPr>
          <p:cNvPr id="74" name="Shape 71"/>
          <p:cNvSpPr/>
          <p:nvPr/>
        </p:nvSpPr>
        <p:spPr>
          <a:xfrm>
            <a:off x="7050024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050024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76" name="Text 73"/>
          <p:cNvSpPr txBox="1"/>
          <p:nvPr/>
        </p:nvSpPr>
        <p:spPr>
          <a:xfrm>
            <a:off x="4389120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خَطِيرٌ · ضَارٌّ</a:t>
            </a:r>
            <a:endParaRPr lang="ar-SA" sz="3000" dirty="0"/>
          </a:p>
        </p:txBody>
      </p:sp>
      <p:sp>
        <p:nvSpPr>
          <p:cNvPr id="77" name="Text 74"/>
          <p:cNvSpPr txBox="1"/>
          <p:nvPr/>
        </p:nvSpPr>
        <p:spPr>
          <a:xfrm>
            <a:off x="4416552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dangerous · harmful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kha-ṭī-run · ḍār-run</a:t>
            </a:r>
            <a:endParaRPr lang="en-US" sz="1350" dirty="0"/>
          </a:p>
        </p:txBody>
      </p:sp>
      <p:sp>
        <p:nvSpPr>
          <p:cNvPr id="78" name="Shape 75"/>
          <p:cNvSpPr/>
          <p:nvPr/>
        </p:nvSpPr>
        <p:spPr>
          <a:xfrm>
            <a:off x="6144768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6199632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harms</a:t>
            </a:r>
            <a:endParaRPr lang="en-US" sz="700" dirty="0"/>
          </a:p>
        </p:txBody>
      </p:sp>
      <p:sp>
        <p:nvSpPr>
          <p:cNvPr id="80" name="Text 77"/>
          <p:cNvSpPr txBox="1"/>
          <p:nvPr/>
        </p:nvSpPr>
        <p:spPr>
          <a:xfrm>
            <a:off x="6190488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يَضُرُّ بِالبِيئَةِ</a:t>
            </a:r>
            <a:endParaRPr lang="ar-SA" sz="1350" dirty="0"/>
          </a:p>
        </p:txBody>
      </p:sp>
      <p:sp>
        <p:nvSpPr>
          <p:cNvPr id="81" name="Shape 78"/>
          <p:cNvSpPr/>
          <p:nvPr/>
        </p:nvSpPr>
        <p:spPr>
          <a:xfrm>
            <a:off x="4416552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4471416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f.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4462272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خَطِيرَةٌ · ضَارَّةٌ</a:t>
            </a:r>
            <a:endParaRPr lang="ar-SA" sz="1500" dirty="0"/>
          </a:p>
        </p:txBody>
      </p:sp>
      <p:sp>
        <p:nvSpPr>
          <p:cNvPr id="84" name="Shape 81"/>
          <p:cNvSpPr/>
          <p:nvPr/>
        </p:nvSpPr>
        <p:spPr>
          <a:xfrm>
            <a:off x="457200" y="4151376"/>
            <a:ext cx="3639312" cy="2157984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85" name="Shape 82"/>
          <p:cNvSpPr/>
          <p:nvPr/>
        </p:nvSpPr>
        <p:spPr>
          <a:xfrm>
            <a:off x="566928" y="4261104"/>
            <a:ext cx="310896" cy="310896"/>
          </a:xfrm>
          <a:prstGeom prst="ellipse">
            <a:avLst/>
          </a:prstGeom>
          <a:solidFill>
            <a:srgbClr val="F4F1EA"/>
          </a:solidFill>
          <a:ln w="12700">
            <a:solidFill>
              <a:srgbClr val="F4F1EA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566928" y="426110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12</a:t>
            </a:r>
            <a:endParaRPr lang="en-US" sz="1000" dirty="0"/>
          </a:p>
        </p:txBody>
      </p:sp>
      <p:sp>
        <p:nvSpPr>
          <p:cNvPr id="87" name="Shape 84"/>
          <p:cNvSpPr/>
          <p:nvPr/>
        </p:nvSpPr>
        <p:spPr>
          <a:xfrm>
            <a:off x="960120" y="4279392"/>
            <a:ext cx="1082650" cy="256032"/>
          </a:xfrm>
          <a:prstGeom prst="roundRect">
            <a:avLst>
              <a:gd name="adj" fmla="val 50000"/>
            </a:avLst>
          </a:prstGeom>
          <a:solidFill>
            <a:srgbClr val="EFE7D2"/>
          </a:solidFill>
          <a:ln w="12700">
            <a:solidFill>
              <a:srgbClr val="EFE7D2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0120" y="4279392"/>
            <a:ext cx="10826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 · serious</a:t>
            </a:r>
            <a:endParaRPr lang="en-US" sz="800" dirty="0"/>
          </a:p>
        </p:txBody>
      </p:sp>
      <p:sp>
        <p:nvSpPr>
          <p:cNvPr id="89" name="Shape 86"/>
          <p:cNvSpPr/>
          <p:nvPr/>
        </p:nvSpPr>
        <p:spPr>
          <a:xfrm>
            <a:off x="3227832" y="4279392"/>
            <a:ext cx="73152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3227832" y="42793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91" name="Text 88"/>
          <p:cNvSpPr txBox="1"/>
          <p:nvPr/>
        </p:nvSpPr>
        <p:spPr>
          <a:xfrm>
            <a:off x="566928" y="4553712"/>
            <a:ext cx="34015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30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مُشْكِلَةٌ</a:t>
            </a:r>
            <a:endParaRPr lang="ar-SA" sz="3000" dirty="0"/>
          </a:p>
        </p:txBody>
      </p:sp>
      <p:sp>
        <p:nvSpPr>
          <p:cNvPr id="92" name="Text 89"/>
          <p:cNvSpPr txBox="1"/>
          <p:nvPr/>
        </p:nvSpPr>
        <p:spPr>
          <a:xfrm>
            <a:off x="594360" y="5248656"/>
            <a:ext cx="33649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 problem</a:t>
            </a:r>
            <a:endParaRPr lang="en-US" sz="1350" dirty="0"/>
          </a:p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mush-ki-la-tun</a:t>
            </a:r>
            <a:endParaRPr lang="en-US" sz="1350" dirty="0"/>
          </a:p>
        </p:txBody>
      </p:sp>
      <p:sp>
        <p:nvSpPr>
          <p:cNvPr id="93" name="Shape 90"/>
          <p:cNvSpPr/>
          <p:nvPr/>
        </p:nvSpPr>
        <p:spPr>
          <a:xfrm>
            <a:off x="2322576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2377440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serious</a:t>
            </a:r>
            <a:endParaRPr lang="en-US" sz="700" dirty="0"/>
          </a:p>
        </p:txBody>
      </p:sp>
      <p:sp>
        <p:nvSpPr>
          <p:cNvPr id="95" name="Text 92"/>
          <p:cNvSpPr txBox="1"/>
          <p:nvPr/>
        </p:nvSpPr>
        <p:spPr>
          <a:xfrm>
            <a:off x="2368296" y="591616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مُشْكِلَةٌ كَبِيرَةٌ</a:t>
            </a:r>
            <a:endParaRPr lang="ar-SA" sz="1350" dirty="0"/>
          </a:p>
        </p:txBody>
      </p:sp>
      <p:sp>
        <p:nvSpPr>
          <p:cNvPr id="96" name="Shape 93"/>
          <p:cNvSpPr/>
          <p:nvPr/>
        </p:nvSpPr>
        <p:spPr>
          <a:xfrm>
            <a:off x="594360" y="5779008"/>
            <a:ext cx="1636776" cy="438912"/>
          </a:xfrm>
          <a:prstGeom prst="roundRect">
            <a:avLst>
              <a:gd name="adj" fmla="val 10417"/>
            </a:avLst>
          </a:prstGeom>
          <a:solidFill>
            <a:srgbClr val="F4F1EA"/>
          </a:solidFill>
          <a:ln w="9525">
            <a:solidFill>
              <a:srgbClr val="F4F1EA"/>
            </a:solidFill>
            <a:prstDash val="solid"/>
          </a:ln>
        </p:spPr>
      </p:sp>
      <p:sp>
        <p:nvSpPr>
          <p:cNvPr id="97" name="Text 94"/>
          <p:cNvSpPr txBox="1"/>
          <p:nvPr/>
        </p:nvSpPr>
        <p:spPr>
          <a:xfrm>
            <a:off x="649224" y="5788152"/>
            <a:ext cx="15270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pl.</a:t>
            </a:r>
            <a:endParaRPr lang="en-US" sz="750" dirty="0"/>
          </a:p>
        </p:txBody>
      </p:sp>
      <p:sp>
        <p:nvSpPr>
          <p:cNvPr id="98" name="Text 95"/>
          <p:cNvSpPr txBox="1"/>
          <p:nvPr/>
        </p:nvSpPr>
        <p:spPr>
          <a:xfrm>
            <a:off x="640080" y="5824728"/>
            <a:ext cx="15453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مَشَاكِلُ · مُشْكِلَاتٌ</a:t>
            </a:r>
            <a:endParaRPr lang="ar-SA" sz="1500" dirty="0"/>
          </a:p>
        </p:txBody>
      </p:sp>
      <p:sp>
        <p:nvSpPr>
          <p:cNvPr id="99" name="Text 96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6 / 25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3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BREAKOUT ROOMS · HOW WE WORK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Examiner · candidate · observer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فِي الغُرَفِ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5715000" cy="4498848"/>
          </a:xfrm>
          <a:prstGeom prst="roundRect">
            <a:avLst>
              <a:gd name="adj" fmla="val 1626"/>
            </a:avLst>
          </a:prstGeom>
          <a:solidFill>
            <a:srgbClr val="F4F1EA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40080" y="1920240"/>
            <a:ext cx="3108960" cy="292608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40080" y="1920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BREAKOUT ROUTINE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2286000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🎧  Three jobs, then swap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" y="2816352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Rooms of three. A = examiner (reads the questions only). B = candidate (answers from the task card). C = observer (ticks the checklist and gives one WWW and one EBI).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40080" y="4041648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HOW WE RUN IT ONLINE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658368" y="44074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000" dirty="0"/>
          </a:p>
        </p:txBody>
      </p:sp>
      <p:sp>
        <p:nvSpPr>
          <p:cNvPr id="23" name="Text 20"/>
          <p:cNvSpPr txBox="1"/>
          <p:nvPr/>
        </p:nvSpPr>
        <p:spPr>
          <a:xfrm>
            <a:off x="1024128" y="43342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candidate reads the card and plans (no writing full sentences).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658368" y="48646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58368" y="48646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1024128" y="47914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About 3 minutes: the role play — the examiner reads every question in order.</a:t>
            </a:r>
            <a:endParaRPr lang="en-US" sz="1150" dirty="0"/>
          </a:p>
        </p:txBody>
      </p:sp>
      <p:sp>
        <p:nvSpPr>
          <p:cNvPr id="27" name="Shape 24"/>
          <p:cNvSpPr/>
          <p:nvPr/>
        </p:nvSpPr>
        <p:spPr>
          <a:xfrm>
            <a:off x="658368" y="53218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58368" y="53218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1024128" y="52486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1 minute: the observer gives feedback (WWW + EBI).</a:t>
            </a:r>
            <a:endParaRPr lang="en-US" sz="1150" dirty="0"/>
          </a:p>
        </p:txBody>
      </p:sp>
      <p:sp>
        <p:nvSpPr>
          <p:cNvPr id="30" name="Shape 27"/>
          <p:cNvSpPr/>
          <p:nvPr/>
        </p:nvSpPr>
        <p:spPr>
          <a:xfrm>
            <a:off x="658368" y="5779008"/>
            <a:ext cx="274320" cy="274320"/>
          </a:xfrm>
          <a:prstGeom prst="ellips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658368" y="57790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000" dirty="0"/>
          </a:p>
        </p:txBody>
      </p:sp>
      <p:sp>
        <p:nvSpPr>
          <p:cNvPr id="32" name="Text 29"/>
          <p:cNvSpPr txBox="1"/>
          <p:nvPr/>
        </p:nvSpPr>
        <p:spPr>
          <a:xfrm>
            <a:off x="1024128" y="5705856"/>
            <a:ext cx="4983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Swap jobs and do the next role play. Then the topic conversation.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355080" y="181051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E9F5EE"/>
          </a:solidFill>
          <a:ln w="9525">
            <a:solidFill>
              <a:srgbClr val="2E8B5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4" name="Shape 31"/>
          <p:cNvSpPr/>
          <p:nvPr/>
        </p:nvSpPr>
        <p:spPr>
          <a:xfrm>
            <a:off x="6473952" y="190195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73952" y="190195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50" dirty="0"/>
          </a:p>
        </p:txBody>
      </p:sp>
      <p:sp>
        <p:nvSpPr>
          <p:cNvPr id="36" name="Text 33"/>
          <p:cNvSpPr txBox="1"/>
          <p:nvPr/>
        </p:nvSpPr>
        <p:spPr>
          <a:xfrm>
            <a:off x="6473952" y="217627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A and B, with the help column. Conversation: Core questions.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355080" y="281635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CF1E0"/>
          </a:solidFill>
          <a:ln w="9525">
            <a:solidFill>
              <a:srgbClr val="C9780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8" name="Shape 35"/>
          <p:cNvSpPr/>
          <p:nvPr/>
        </p:nvSpPr>
        <p:spPr>
          <a:xfrm>
            <a:off x="6473952" y="290779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473952" y="290779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50" dirty="0"/>
          </a:p>
        </p:txBody>
      </p:sp>
      <p:sp>
        <p:nvSpPr>
          <p:cNvPr id="40" name="Text 37"/>
          <p:cNvSpPr txBox="1"/>
          <p:nvPr/>
        </p:nvSpPr>
        <p:spPr>
          <a:xfrm>
            <a:off x="6473952" y="318211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B and C, help column covered. Conversation: Core + Develop questions.</a:t>
            </a:r>
            <a:endParaRPr lang="en-US" sz="1150" dirty="0"/>
          </a:p>
        </p:txBody>
      </p:sp>
      <p:sp>
        <p:nvSpPr>
          <p:cNvPr id="41" name="Shape 38"/>
          <p:cNvSpPr/>
          <p:nvPr/>
        </p:nvSpPr>
        <p:spPr>
          <a:xfrm>
            <a:off x="6355080" y="3822192"/>
            <a:ext cx="5376672" cy="896112"/>
          </a:xfrm>
          <a:prstGeom prst="roundRect">
            <a:avLst>
              <a:gd name="adj" fmla="val 8163"/>
            </a:avLst>
          </a:prstGeom>
          <a:solidFill>
            <a:srgbClr val="FBEAEA"/>
          </a:solidFill>
          <a:ln w="9525">
            <a:solidFill>
              <a:srgbClr val="B83227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2" name="Shape 39"/>
          <p:cNvSpPr/>
          <p:nvPr/>
        </p:nvSpPr>
        <p:spPr>
          <a:xfrm>
            <a:off x="6473952" y="3913632"/>
            <a:ext cx="105156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6473952" y="3913632"/>
            <a:ext cx="1051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50" dirty="0"/>
          </a:p>
        </p:txBody>
      </p:sp>
      <p:sp>
        <p:nvSpPr>
          <p:cNvPr id="44" name="Text 41"/>
          <p:cNvSpPr txBox="1"/>
          <p:nvPr/>
        </p:nvSpPr>
        <p:spPr>
          <a:xfrm>
            <a:off x="6473952" y="4187952"/>
            <a:ext cx="5120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Role plays C and D, no help. Conversation: Develop + Stretch questions, push with “why?”.</a:t>
            </a:r>
            <a:endParaRPr lang="en-US" sz="1150" dirty="0"/>
          </a:p>
        </p:txBody>
      </p:sp>
      <p:sp>
        <p:nvSpPr>
          <p:cNvPr id="45" name="Shape 42"/>
          <p:cNvSpPr/>
          <p:nvPr/>
        </p:nvSpPr>
        <p:spPr>
          <a:xfrm>
            <a:off x="6355080" y="4828032"/>
            <a:ext cx="5376672" cy="1481328"/>
          </a:xfrm>
          <a:prstGeom prst="roundRect">
            <a:avLst>
              <a:gd name="adj" fmla="val 4938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6492240" y="4882896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USEFUL LANGUAGE</a:t>
            </a:r>
            <a:endParaRPr lang="en-US" sz="950" dirty="0"/>
          </a:p>
        </p:txBody>
      </p:sp>
      <p:sp>
        <p:nvSpPr>
          <p:cNvPr id="47" name="Text 44"/>
          <p:cNvSpPr txBox="1"/>
          <p:nvPr/>
        </p:nvSpPr>
        <p:spPr>
          <a:xfrm>
            <a:off x="8732520" y="5138928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دَوْرُكَ!</a:t>
            </a:r>
            <a:endParaRPr lang="ar-SA" sz="1300" dirty="0"/>
          </a:p>
        </p:txBody>
      </p:sp>
      <p:sp>
        <p:nvSpPr>
          <p:cNvPr id="48" name="Text 45"/>
          <p:cNvSpPr txBox="1"/>
          <p:nvPr/>
        </p:nvSpPr>
        <p:spPr>
          <a:xfrm>
            <a:off x="6492240" y="5138928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your turn!</a:t>
            </a:r>
            <a:endParaRPr lang="en-US" sz="1000" dirty="0"/>
          </a:p>
        </p:txBody>
      </p:sp>
      <p:sp>
        <p:nvSpPr>
          <p:cNvPr id="49" name="Text 46"/>
          <p:cNvSpPr txBox="1"/>
          <p:nvPr/>
        </p:nvSpPr>
        <p:spPr>
          <a:xfrm>
            <a:off x="8732520" y="5422392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أَحْسَنْتَ! / أَحْسَنْتِ!</a:t>
            </a:r>
            <a:endParaRPr lang="ar-SA" sz="1300" dirty="0"/>
          </a:p>
        </p:txBody>
      </p:sp>
      <p:sp>
        <p:nvSpPr>
          <p:cNvPr id="50" name="Text 47"/>
          <p:cNvSpPr txBox="1"/>
          <p:nvPr/>
        </p:nvSpPr>
        <p:spPr>
          <a:xfrm>
            <a:off x="6492240" y="5422392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well done! (m. / f.)</a:t>
            </a:r>
            <a:endParaRPr lang="en-US" sz="1000" dirty="0"/>
          </a:p>
        </p:txBody>
      </p:sp>
      <p:sp>
        <p:nvSpPr>
          <p:cNvPr id="51" name="Text 48"/>
          <p:cNvSpPr txBox="1"/>
          <p:nvPr/>
        </p:nvSpPr>
        <p:spPr>
          <a:xfrm>
            <a:off x="8732520" y="5705856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تَكَلَّمْ أَكْثَرَ، مِنْ فَضْلِكَ</a:t>
            </a:r>
            <a:endParaRPr lang="ar-SA" sz="1300" dirty="0"/>
          </a:p>
        </p:txBody>
      </p:sp>
      <p:sp>
        <p:nvSpPr>
          <p:cNvPr id="52" name="Text 49"/>
          <p:cNvSpPr txBox="1"/>
          <p:nvPr/>
        </p:nvSpPr>
        <p:spPr>
          <a:xfrm>
            <a:off x="6492240" y="5705856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more, please</a:t>
            </a:r>
            <a:endParaRPr lang="en-US" sz="1000" dirty="0"/>
          </a:p>
        </p:txBody>
      </p:sp>
      <p:sp>
        <p:nvSpPr>
          <p:cNvPr id="53" name="Text 50"/>
          <p:cNvSpPr txBox="1"/>
          <p:nvPr/>
        </p:nvSpPr>
        <p:spPr>
          <a:xfrm>
            <a:off x="8732520" y="5989320"/>
            <a:ext cx="28803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13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لِمَاذَا؟</a:t>
            </a:r>
            <a:endParaRPr lang="ar-SA" sz="1300" dirty="0"/>
          </a:p>
        </p:txBody>
      </p:sp>
      <p:sp>
        <p:nvSpPr>
          <p:cNvPr id="54" name="Text 51"/>
          <p:cNvSpPr txBox="1"/>
          <p:nvPr/>
        </p:nvSpPr>
        <p:spPr>
          <a:xfrm>
            <a:off x="6492240" y="5989320"/>
            <a:ext cx="219456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why?</a:t>
            </a:r>
            <a:endParaRPr lang="en-US" sz="100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7 / 25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A · CORE · A SCHOOL SURVEY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 — The school environment survey</a:t>
            </a:r>
            <a:endParaRPr lang="en-US" sz="21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اسْتِطْلَاعٌ عَنِ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مُشْكِلَةٍ هِيَ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فِي مَدِينَتِكَ؟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reason.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هِيَ مُشْكِلَةٌ؟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المَدْرَسَةِ … كَثِيرَةٌ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a problem at school.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وَفِي المَدْرَسَةِ؟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…؟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who will read it.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نَكْتُبَ تَقْرِيرًا.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آتِي مَشْيًا / بِالسَّيَّارَةِ،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تَأْتِي إِلَى المَدْرَسَةِ؟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student  ·  The examiner is: a member of the school eco-club  ·  ! = unexpected question: listen carefully.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8 / 25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B · CORE+ · A POLLUTED BEACH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 — Reporting a dirty beach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شَاطِئٌ مُلَوَّثٌ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فِي … وَهُوَ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where you are and the problem.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… وَ…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two things.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تَرَى بِالضَّبْطِ؟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سَيُنَظَّفُ …؟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ASK when it will be cleaned.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غَرِيبٌ.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… مِمَّا يَضُرُّ …</a:t>
            </a:r>
            <a:endParaRPr lang="ar-SA" sz="1500" dirty="0"/>
          </a:p>
        </p:txBody>
      </p:sp>
      <p:sp>
        <p:nvSpPr>
          <p:cNvPr id="41" name="Text 38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the cause and the effect.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غَدًا إِنْ شَاءَ اللّٰهُ. مَا السَّبَبُ فِي رَأْيِكَ؟</a:t>
            </a:r>
            <a:endParaRPr lang="ar-SA" sz="17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… / نَعَمْ، لٰكِنَّ …</a:t>
            </a:r>
            <a:endParaRPr lang="ar-SA" sz="1500" dirty="0"/>
          </a:p>
        </p:txBody>
      </p:sp>
      <p:sp>
        <p:nvSpPr>
          <p:cNvPr id="46" name="Text 43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question.</a:t>
            </a: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تَرَى سَلَّاتِ مُهْمَلَاتٍ هُنَاكَ؟</a:t>
            </a:r>
            <a:endParaRPr lang="ar-SA" sz="17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9" name="Text 4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visitor  ·  The examiner is: a council officer on the phone  ·  ! = unexpected question: listen carefully.</a:t>
            </a:r>
            <a:endParaRPr lang="en-US" sz="1150" dirty="0"/>
          </a:p>
        </p:txBody>
      </p:sp>
      <p:sp>
        <p:nvSpPr>
          <p:cNvPr id="50" name="Text 4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9 / 25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C · DEVELOP · A LOCAL NEWS REPORT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 — The river is dying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النَّهْرُ يَمُوتُ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تَلَوَّثَ … وَمَاتَتْ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Say what happened (past).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حَدَثَ لِلنَّهْرِ؟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المَصْنَعُ … / تُرْمَى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Explain the cause (active + passive).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السَّبَبُ؟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… وَكُنَّا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it in the past.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النَّهْرُ قَبْلَ ذٰلِكَ؟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يُؤَدِّي إِلَى … وَ…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two effects.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النَّتَائِجُ عَلَى السُّكَّانِ؟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سَنَكْتُبُ … وَسَنَجْمَعُ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(future).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سَتَفْعَلُونَ الآنَ؟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young resident  ·  The examiner is: a local journalist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10 / 25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6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ROLE PLAY D · STRETCH · A YOUTH DEBATE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 — Who is to blame?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مَنِ المَسْؤُولُ؟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22792" y="1810512"/>
            <a:ext cx="3035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Help (Core)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056632" y="1810512"/>
            <a:ext cx="34198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Your task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3877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641080" y="2267712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أَخْطَرُهَا … بِدَلِيلِ 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093208" y="2267712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 it and justify with evidence.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أَخْطَرُ مُشْكِلَةٍ بِيئِيَّةٍ فِي رَأْيِكَ؟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41080" y="300471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يَزْدَادُ … مِمَّا يُؤَدِّي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093208" y="300471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Give a chain of causes.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أَسْبَابُهُ؟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641080" y="3741725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093208" y="3741725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Balance both sides.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المَسْؤُولُ الحُكُومَاتُ أَمِ الأَفْرَادُ؟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641080" y="4478731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093208" y="4478731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Concede and counter.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المَصَانِعَ تُوَفِّرُ الوَظَائِفَ!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641080" y="5215738"/>
            <a:ext cx="299923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تُوجَدْ …، لَكَانَتِ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093208" y="5215738"/>
            <a:ext cx="33832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 the unexpected question (law … la-).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38404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تُوجَدْ سَيَّارَاتٌ، كَيْفَ تَكُونُ المُدُنُ؟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 !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You are: a debate speaker  ·  The examiner is: the debate chair  ·  ! = unexpected question: listen carefully.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11 / 25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OBSERVER · FEEDBACK CHECKLIST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Observer: tick and give feedback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وَرَقَةُ المُلَاحِظِ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759952" y="1810512"/>
            <a:ext cx="28986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Example you heard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7662672" y="1810512"/>
            <a:ext cx="950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✓ / ✗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99632" y="1810512"/>
            <a:ext cx="1316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Route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55229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candidate …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796528" y="226771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7699248" y="226771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236208" y="226771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answered EVERY task, including the unexpected one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2881884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796528" y="2881884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7699248" y="2881884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6236208" y="2881884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2881884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named a problem and gave one cause (bi-sababi / li-anna)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2927604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292760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496056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796528" y="3496056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6" name="Text 33"/>
          <p:cNvSpPr txBox="1"/>
          <p:nvPr/>
        </p:nvSpPr>
        <p:spPr>
          <a:xfrm>
            <a:off x="7699248" y="3496056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6236208" y="3496056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496056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linked a cause to an effect (yuʾaddī ilā / mimmā) and used a passive verb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4110228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8796528" y="4110228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1" name="Text 38"/>
          <p:cNvSpPr txBox="1"/>
          <p:nvPr/>
        </p:nvSpPr>
        <p:spPr>
          <a:xfrm>
            <a:off x="7699248" y="4110228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6236208" y="4110228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4110228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gave a reason (li-anna) or an opinion (fī ra’yī)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457200" y="4724400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8796528" y="4724400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6" name="Text 43"/>
          <p:cNvSpPr txBox="1"/>
          <p:nvPr/>
        </p:nvSpPr>
        <p:spPr>
          <a:xfrm>
            <a:off x="7699248" y="4724400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47" name="Text 44"/>
          <p:cNvSpPr txBox="1"/>
          <p:nvPr/>
        </p:nvSpPr>
        <p:spPr>
          <a:xfrm>
            <a:off x="6236208" y="4724400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566928" y="4724400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used more than one time frame (past / future)</a:t>
            </a:r>
            <a:endParaRPr lang="en-US" sz="1100" dirty="0"/>
          </a:p>
        </p:txBody>
      </p:sp>
      <p:sp>
        <p:nvSpPr>
          <p:cNvPr id="49" name="Shape 46"/>
          <p:cNvSpPr/>
          <p:nvPr/>
        </p:nvSpPr>
        <p:spPr>
          <a:xfrm>
            <a:off x="457200" y="5338572"/>
            <a:ext cx="11274552" cy="559308"/>
          </a:xfrm>
          <a:prstGeom prst="roundRect">
            <a:avLst>
              <a:gd name="adj" fmla="val 8174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796528" y="5338572"/>
            <a:ext cx="2862072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7699248" y="5338572"/>
            <a:ext cx="914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52" name="Text 49"/>
          <p:cNvSpPr txBox="1"/>
          <p:nvPr/>
        </p:nvSpPr>
        <p:spPr>
          <a:xfrm>
            <a:off x="6236208" y="5338572"/>
            <a:ext cx="128016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All</a:t>
            </a:r>
            <a:endParaRPr lang="en-US" sz="1100" dirty="0"/>
          </a:p>
        </p:txBody>
      </p:sp>
      <p:sp>
        <p:nvSpPr>
          <p:cNvPr id="53" name="Text 50"/>
          <p:cNvSpPr txBox="1"/>
          <p:nvPr/>
        </p:nvSpPr>
        <p:spPr>
          <a:xfrm>
            <a:off x="566928" y="5338572"/>
            <a:ext cx="5486400" cy="5593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kept going with a repair phrase instead of silence</a:t>
            </a:r>
            <a:endParaRPr lang="en-US" sz="1100" dirty="0"/>
          </a:p>
        </p:txBody>
      </p:sp>
      <p:sp>
        <p:nvSpPr>
          <p:cNvPr id="54" name="Text 5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Feedback in the room: one WWW (what went well) + one EBI (even better if …).</a:t>
            </a:r>
            <a:endParaRPr lang="en-US" sz="1150" dirty="0"/>
          </a:p>
        </p:txBody>
      </p:sp>
      <p:sp>
        <p:nvSpPr>
          <p:cNvPr id="55" name="Text 5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12 / 25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A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A: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أَكْبَرُ مُشْكِلَةٍ هِيَ زَحْمَةُ المُرُورِ.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biggest problem is traffic congestion.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أَكْبَرُ مُشْكِلَةٍ فِي مَدِينَتِكَ؟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لِأَنَّ السَّيَّارَاتِ تُلَوِّثُ الهَوَاءَ.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cars pollute the air.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هِيَ مُشْكِلَةٌ؟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المَدْرَسَةِ النُّفَايَاتُ البْلَاسْتِيكِيَّةُ كَثِيرَةٌ.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At school there is a lot of plastic waste.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وَفِي المَدْرَسَةِ؟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مَنْ سَيَقْرَأُ التَّقْرِيرَ؟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Who will read the report?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نُرِيدُ أَنْ نَكْتُبَ تَقْرِيرًا.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آتِي إِلَى المَدْرَسَةِ مَشْيًا، لِأَنَّ بَيْتِي قَرِيبٌ.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walk to school, because my house is close.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تَأْتِي إِلَى المَدْرَسَةِ؟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13 / 25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B · CORE+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B: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أَنَا عَلَى الشَّاطِئِ الشَّمَالِيِّ، وَهُوَ مُلَوَّثٌ جِدًّا.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I’m on the north beach, and it is very polluted.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أَهْلًا، كَيْفَ أُسَاعِدُكَ؟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أَرَى زُجَاجَاتٍ بْلَاسْتِيكِيَّةً كَثِيرَةً، وَأَكْيَاسًا عَلَى الرَّمْلِ.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see lots of plastic bottles, and bags on the sand.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تَرَى بِالضَّبْطِ؟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مَتَى سَيُنَظَّفُ الشَّاطِئُ؟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When will the beach be cleaned?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هٰذَا غَرِيبٌ.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بِسَبَبِ الزُّوَّارِ الَّذِينَ يَتْرُكُونَ نُفَايَاتِهِمْ، مِمَّا يَضُرُّ بِالطُّيُورِ وَالأَسْمَاكِ.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Because of visitors who leave their rubbish, which harms birds and fish.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غَدًا إِنْ شَاءَ اللّٰهُ. مَا السَّبَبُ فِي رَأْيِكَ؟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لٰكِنَّهَا قَلِيلَةٌ وَمُمْتَلِئَةٌ.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but there are few and they are full.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تَرَى سَلَّاتِ مُهْمَلَاتٍ هُنَاكَ؟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14 / 25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C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C: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تَلَوَّثَ النَّهْرُ فِي الشَّهْرِ المَاضِي، وَمَاتَتْ أَسْمَاكٌ كَثِيرَةٌ.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river was polluted last month, and many fish died.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حَدَثَ لِلنَّهْرِ؟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المَصْنَعُ القَرِيبُ يَرْمِي مَوَادَّ كِيمِيَائِيَّةً فِيهِ؛ أَيْ تُرْمَى المَوَادُّ فِي المَاءِ لَيْلًا.</a:t>
            </a:r>
            <a:endParaRPr lang="ar-SA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nearby factory dumps chemicals in it — the chemicals are dumped in the water at night.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السَّبَبُ؟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 صَافِيًا وَنَظِيفًا، وَكُنَّا نَصْطَادُ فِيهِ مَعَ أَبِي.</a:t>
            </a:r>
            <a:endParaRPr lang="ar-SA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was clear and clean, and we used to fish in it with my dad.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كَانَ النَّهْرُ قَبْلَ ذٰلِكَ؟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يُؤَدِّي التَّلَوُّثُ إِلَى رَائِحَةٍ كَرِيهَةٍ، وَإِلَى أَمْرَاضٍ عِنْدَ الأَطْفَالِ.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pollution leads to a bad smell, and to illnesses in children.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النَّتَائِجُ عَلَى السُّكَّانِ؟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سَنَكْتُبُ رِسَالَةً إِلَى البَلَدِيَّةِ، وَسَنَجْمَعُ تَوْقِيعَاتِ الجِيرَانِ.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We will write a letter to the council, and collect the neighbours’ signatures.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مَاذَا سَتَفْعَلُونَ الآنَ؟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Every task answered with a full sentence — short, clear and accurate is enough for the role play.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15 / 25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 · ROLE PLAY D · STRETCH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Role play D: a full-mark performance</a:t>
            </a:r>
            <a:endParaRPr lang="en-US" sz="25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82312" y="1810512"/>
            <a:ext cx="68762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6027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says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800600" y="2286000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أَخْطَرُهَا تَلَوُّثُ الهَوَاءِ، بِدَلِيلِ أَنَّ مَلَايِينَ النَّاسِ يَمُوتُونَ بِسَبَبِهِ كُلَّ سَنَةٍ.</a:t>
            </a:r>
            <a:endParaRPr lang="ar-SA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754880" y="267699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most dangerous is air pollution — millions of people die because of it every year.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أَخْطَرُ مُشْكِلَةٍ بِيئِيَّةٍ فِي رَأْيِكَ؟</a:t>
            </a:r>
            <a:endParaRPr lang="ar-SA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800600" y="302300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يَزْدَادُ عَدَدُ السَّيَّارَاتِ وَالمَصَانِعِ، مِمَّا يُؤَدِّي إِلَى ارْتِفَاعِ نِسْبَةِ الغَازَاتِ الضَّارَّةِ فِي الجَوِّ.</a:t>
            </a:r>
            <a:endParaRPr lang="ar-SA" sz="1750" dirty="0"/>
          </a:p>
        </p:txBody>
      </p:sp>
      <p:sp>
        <p:nvSpPr>
          <p:cNvPr id="26" name="Text 23"/>
          <p:cNvSpPr txBox="1"/>
          <p:nvPr/>
        </p:nvSpPr>
        <p:spPr>
          <a:xfrm>
            <a:off x="4754880" y="3414004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Cars and factories are increasing, which leads to a rise in harmful gases in the air.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وَمَا أَسْبَابُهُ؟</a:t>
            </a:r>
            <a:endParaRPr lang="ar-SA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800600" y="3760013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3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تَسْمَحُ الحُكُومَاتُ لِلْمَصَانِعِ بِالتَّلْوِيثِ، وَمِنْ نَاحِيَةٍ أُخْرَى، نَسْتَخْدِمُ نَحْنُ السَّيَّارَةَ حَتَّى لِلْمَسَافَاتِ القَصِيرَةِ.</a:t>
            </a:r>
            <a:endParaRPr lang="ar-SA" sz="1350" dirty="0"/>
          </a:p>
        </p:txBody>
      </p:sp>
      <p:sp>
        <p:nvSpPr>
          <p:cNvPr id="31" name="Text 28"/>
          <p:cNvSpPr txBox="1"/>
          <p:nvPr/>
        </p:nvSpPr>
        <p:spPr>
          <a:xfrm>
            <a:off x="4754880" y="4151010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hand, governments let factories pollute; on the other, we use the car even for short distances.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المَسْؤُولُ الحُكُومَاتُ أَمِ الأَفْرَادُ؟</a:t>
            </a:r>
            <a:endParaRPr lang="ar-SA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800600" y="4497019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أَنَّهَا تُوَفِّرُ الوَظَائِفَ، غَيْرَ أَنَّ صِحَّةَ العُمَّالِ أَنْفُسِهِمْ تَتَضَرَّرُ مِنْ هٰذَا الدُّخَانِ.</a:t>
            </a:r>
            <a:endParaRPr lang="ar-SA" sz="1800" dirty="0"/>
          </a:p>
        </p:txBody>
      </p:sp>
      <p:sp>
        <p:nvSpPr>
          <p:cNvPr id="36" name="Text 33"/>
          <p:cNvSpPr txBox="1"/>
          <p:nvPr/>
        </p:nvSpPr>
        <p:spPr>
          <a:xfrm>
            <a:off x="4754880" y="4888017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 is true they provide jobs, but the workers’ own health is damaged by the fumes.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لٰكِنَّ المَصَانِعَ تُوَفِّرُ الوَظَائِفَ!</a:t>
            </a:r>
            <a:endParaRPr lang="ar-SA" sz="16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800600" y="5234026"/>
            <a:ext cx="68397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تُوجَدْ سَيَّارَاتٌ، لَكَانَتِ المُدُنُ أَهْدَأَ وَأَنْظَفَ، وَلَمَشَى النَّاسُ أَكْثَرَ.</a:t>
            </a:r>
            <a:endParaRPr lang="ar-SA" sz="1800" dirty="0"/>
          </a:p>
        </p:txBody>
      </p:sp>
      <p:sp>
        <p:nvSpPr>
          <p:cNvPr id="41" name="Text 38"/>
          <p:cNvSpPr txBox="1"/>
          <p:nvPr/>
        </p:nvSpPr>
        <p:spPr>
          <a:xfrm>
            <a:off x="4754880" y="5625023"/>
            <a:ext cx="69311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there were no cars, cities would be quieter and cleaner, and people would walk more.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5661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6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تُوجَدْ سَيَّارَاتٌ، كَيْفَ تَكُونُ المُدُنُ؟</a:t>
            </a:r>
            <a:endParaRPr lang="ar-SA" sz="16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evidence, a cause chain, a balanced view, ṣaḥīḥun anna … ghayra anna and law … la-.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16 / 25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CORE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Core questions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البِيئَةُ فِي مَدِينَتِي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 / لَا، مَدِينَتِي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your town clean?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مَدِينَتُكَ نَظِيفَةٌ؟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1091672" y="2313432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11091672" y="2313432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27" name="Shape 24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الكَبِيرَةُ …</a:t>
            </a:r>
            <a:endParaRPr lang="ar-SA" sz="1500" dirty="0"/>
          </a:p>
        </p:txBody>
      </p:sp>
      <p:sp>
        <p:nvSpPr>
          <p:cNvPr id="29" name="Text 26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is the big problem in your town?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 الكَبِيرَةُ فِي مَدِينَتِكَ؟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11091672" y="305043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11091672" y="305043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34" name="Shape 31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الهَوَاءُ … بِسَبَبِ …</a:t>
            </a:r>
            <a:endParaRPr lang="ar-SA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air clean?</a:t>
            </a:r>
            <a:endParaRPr lang="en-US" sz="110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الهَوَاءُ نَظِيفٌ؟</a:t>
            </a:r>
            <a:endParaRPr lang="ar-SA" sz="17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11091672" y="3787445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1091672" y="3787445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1" name="Shape 38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أَرْمِي …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 put rubbish in the bin?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تَرْمِي النُّفَايَاتِ فِي السَّلَّةِ؟</a:t>
            </a:r>
            <a:endParaRPr lang="ar-SA" sz="1700" dirty="0"/>
          </a:p>
        </p:txBody>
      </p:sp>
      <p:sp>
        <p:nvSpPr>
          <p:cNvPr id="45" name="Text 42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11091672" y="4524451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1091672" y="4524451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48" name="Shape 45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البِيئَةُ مُهِمَّةٌ لِأَنَّ …</a:t>
            </a:r>
            <a:endParaRPr lang="ar-SA" sz="1500" dirty="0"/>
          </a:p>
        </p:txBody>
      </p:sp>
      <p:sp>
        <p:nvSpPr>
          <p:cNvPr id="50" name="Text 47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the environment important to you?</a:t>
            </a:r>
            <a:endParaRPr lang="en-US" sz="1100" dirty="0"/>
          </a:p>
        </p:txBody>
      </p:sp>
      <p:sp>
        <p:nvSpPr>
          <p:cNvPr id="51" name="Text 48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البِيئَةُ مُهِمَّةٌ لَكَ؟</a:t>
            </a:r>
            <a:endParaRPr lang="ar-SA" sz="1700" dirty="0"/>
          </a:p>
        </p:txBody>
      </p:sp>
      <p:sp>
        <p:nvSpPr>
          <p:cNvPr id="52" name="Text 49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53" name="Shape 50"/>
          <p:cNvSpPr/>
          <p:nvPr/>
        </p:nvSpPr>
        <p:spPr>
          <a:xfrm>
            <a:off x="11091672" y="5261458"/>
            <a:ext cx="548640" cy="18288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11091672" y="526145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Core: one full sentence for every question. If you are stuck: </a:t>
            </a:r>
            <a:pPr algn="l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عَفْوًا، هَلْ يُمْكِنُ أَنْ تُعِيدَ السُّؤَالَ؟</a:t>
            </a:r>
            <a:endParaRPr lang="en-US" sz="1150" dirty="0"/>
          </a:p>
        </p:txBody>
      </p:sp>
      <p:sp>
        <p:nvSpPr>
          <p:cNvPr id="56" name="Text 5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17 / 25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DEVELOP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Develop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أَسْبَابٌ وَنَتَائِجُ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أَسْبَابِهِ … وَ…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What causes air pollution in cities?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أَسْبَابُ تَلَوُّثِ الهَوَاءِ فِي المُدُنِ؟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يُؤَدِّي البْلَاسْتِيكُ إِلَى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does plastic affect the seas?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يُؤَثِّرُ البْلَاسْتِيكُ فِي البِحَارِ؟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… كَانَ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Describe a polluted place you have seen.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مَكَانًا مُلَوَّثًا رَأَيْتَهُ.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يُسَبِّبُ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noise an environmental problem too?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الضَّجِيجُ مُشْكِلَةٌ بِيئِيَّةٌ أَيْضًا؟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تُقْطَعُ الغَابَاتُ مِنْ أَجْلِ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Why are forests cut down?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تُقْطَعُ الغَابَاتُ؟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Develop: two or three sentences — a cause, an effect, a passive verb or a past description.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18 / 25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295083" y="274320"/>
            <a:ext cx="1464869" cy="329184"/>
          </a:xfrm>
          <a:prstGeom prst="roundRect">
            <a:avLst>
              <a:gd name="adj" fmla="val 50000"/>
            </a:avLst>
          </a:prstGeom>
          <a:solidFill>
            <a:srgbClr val="1E6B52"/>
          </a:solidFill>
          <a:ln w="12700">
            <a:solidFill>
              <a:srgbClr val="1E6B5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5083" y="274320"/>
            <a:ext cx="146486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YOU DO · 5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1E6B52"/>
                </a:solidFill>
                <a:latin typeface="Calibri" pitchFamily="34" charset="0"/>
                <a:cs typeface="Amiri" pitchFamily="2" charset="-78"/>
              </a:rPr>
              <a:t>TOPIC CONVERSATION · STRETCH QUESTIONS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Topic conversation — Stretch questions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الإِنْسَانُ وَمَشَاكِلُ البِيئَةِ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39912" y="1810512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Start like this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788152" y="1810512"/>
            <a:ext cx="25054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Meaning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033272" y="1810512"/>
            <a:ext cx="46085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The examiner asks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58200" y="2267712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 … لِأَنَّ …</a:t>
            </a:r>
            <a:endParaRPr lang="ar-SA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5824728" y="2267712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Are rich countries more responsible than poor ones?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51560" y="2267712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الدُّوَلُ الغَنِيَّةُ مَسْؤُولَةٌ أَكْثَرَ مِنَ الدُّوَلِ الفَقِيرَةِ؟</a:t>
            </a:r>
            <a:endParaRPr lang="ar-SA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458200" y="300471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 … وَمِنْ نَاحِيَةٍ أُخْرَى …</a:t>
            </a:r>
            <a:endParaRPr lang="ar-SA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5824728" y="300471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Is technology the cause of the problem or the solution?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1051560" y="300471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التِّكْنُولُوجْيَا سَبَبُ المُشْكِلَةِ أَمْ حَلُّهَا؟</a:t>
            </a:r>
            <a:endParaRPr lang="ar-SA" sz="1700" dirty="0"/>
          </a:p>
        </p:txBody>
      </p:sp>
      <p:sp>
        <p:nvSpPr>
          <p:cNvPr id="29" name="Text 26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458200" y="3741725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… أَمَّا الآنَ فَقَدْ …</a:t>
            </a:r>
            <a:endParaRPr lang="ar-SA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5824728" y="3741725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How has your area changed recently?</a:t>
            </a:r>
            <a:endParaRPr lang="en-US" sz="1100" dirty="0"/>
          </a:p>
        </p:txBody>
      </p:sp>
      <p:sp>
        <p:nvSpPr>
          <p:cNvPr id="33" name="Text 30"/>
          <p:cNvSpPr txBox="1"/>
          <p:nvPr/>
        </p:nvSpPr>
        <p:spPr>
          <a:xfrm>
            <a:off x="1051560" y="3741725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مِنْطَقَتُكَ فِي السَّنَوَاتِ الأَخِيرَةِ؟</a:t>
            </a:r>
            <a:endParaRPr lang="ar-SA" sz="1700" dirty="0"/>
          </a:p>
        </p:txBody>
      </p:sp>
      <p:sp>
        <p:nvSpPr>
          <p:cNvPr id="34" name="Text 31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8458200" y="4478731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… غَيْرَ أَنَّ …</a:t>
            </a:r>
            <a:endParaRPr lang="ar-SA" sz="1500" dirty="0"/>
          </a:p>
        </p:txBody>
      </p:sp>
      <p:sp>
        <p:nvSpPr>
          <p:cNvPr id="37" name="Text 34"/>
          <p:cNvSpPr txBox="1"/>
          <p:nvPr/>
        </p:nvSpPr>
        <p:spPr>
          <a:xfrm>
            <a:off x="5824728" y="4478731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Do young people care more about the environment than adults?</a:t>
            </a:r>
            <a:endParaRPr lang="en-US" sz="1100" dirty="0"/>
          </a:p>
        </p:txBody>
      </p:sp>
      <p:sp>
        <p:nvSpPr>
          <p:cNvPr id="38" name="Text 35"/>
          <p:cNvSpPr txBox="1"/>
          <p:nvPr/>
        </p:nvSpPr>
        <p:spPr>
          <a:xfrm>
            <a:off x="1051560" y="4478731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يَهْتَمُّ الشَّبَابُ بِالبِيئَةِ أَكْثَرَ مِنَ الكِبَارِ؟</a:t>
            </a:r>
            <a:endParaRPr lang="ar-SA" sz="1700" dirty="0"/>
          </a:p>
        </p:txBody>
      </p:sp>
      <p:sp>
        <p:nvSpPr>
          <p:cNvPr id="39" name="Text 36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40" name="Shape 37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8458200" y="5215738"/>
            <a:ext cx="3182112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نُغَيِّرْ …، فَسَتَخْتَفِي …</a:t>
            </a:r>
            <a:endParaRPr lang="ar-SA" sz="1500" dirty="0"/>
          </a:p>
        </p:txBody>
      </p:sp>
      <p:sp>
        <p:nvSpPr>
          <p:cNvPr id="42" name="Text 39"/>
          <p:cNvSpPr txBox="1"/>
          <p:nvPr/>
        </p:nvSpPr>
        <p:spPr>
          <a:xfrm>
            <a:off x="5824728" y="5215738"/>
            <a:ext cx="246888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don’t change our habits, what will the world be like in 100 years?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051560" y="5215738"/>
            <a:ext cx="457200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نُغَيِّرْ عَادَاتِنَا، كَيْفَ سَيَكُونُ العَالَمُ بَعْدَ مِئَةِ سَنَةٍ؟</a:t>
            </a:r>
            <a:endParaRPr lang="ar-SA" sz="1700" dirty="0"/>
          </a:p>
        </p:txBody>
      </p:sp>
      <p:sp>
        <p:nvSpPr>
          <p:cNvPr id="44" name="Text 41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5" name="Text 42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a balanced view, a passive verb, kānat vs ammā … fa-qad, a concession and idhā lam … fa-sa-.</a:t>
            </a:r>
            <a:endParaRPr lang="en-US" sz="1150" dirty="0"/>
          </a:p>
        </p:txBody>
      </p:sp>
      <p:sp>
        <p:nvSpPr>
          <p:cNvPr id="46" name="Text 43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19 / 25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CORE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Core: what a strong answer sounds like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مَدِينَتِي لَيْسَتْ نَظِيفَةً جِدًّا.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my town isn’t very clean.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مَدِينَتُكَ نَظِيفَةٌ؟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المُشْكِلَةُ الكَبِيرَةُ هِيَ النُّفَايَاتُ فِي الشَّوَارِعِ.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 big problem is rubbish in the streets.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المُشْكِلَةُ الكَبِيرَةُ فِي مَدِينَتِكَ؟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لَا، الهَوَاءُ مُلَوَّثٌ بِسَبَبِ السَّيَّارَاتِ.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No, the air is polluted because of the cars.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الهَوَاءُ نَظِيفٌ؟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أَرْمِي النُّفَايَاتِ فِي السَّلَّةِ دَائِمًا.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I always put rubbish in the bin.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تَرْمِي النُّفَايَاتِ فِي السَّلَّةِ؟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البِيئَةُ مُهِمَّةٌ لِأَنَّهَا بَيْتُنَا.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the environment is important because it is our home.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البِيئَةُ مُهِمَّةٌ لَكَ؟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Full sentence + bi-sababi or li-anna = a secure Core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20 / 25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DEVELOP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Develop: what a strong answer sounds like</a:t>
            </a:r>
            <a:endParaRPr lang="en-US" sz="225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أَسْبَابِهِ دُخَانُ السَّيَّارَاتِ وَالمَصَانِعِ، وَقِلَّةُ الحَدَائِقِ وَالأَشْجَارِ.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67699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Its causes include car and factory fumes, and a lack of parks and trees.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مَا أَسْبَابُ تَلَوُّثِ الهَوَاءِ فِي المُدُنِ؟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0471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2300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يُؤَدِّي البْلَاسْتِيكُ إِلَى مَوْتِ السَّلَاحِفِ وَالأَسْمَاكِ، لِأَنَّهَا تَظُنُّهُ طَعَامًا.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14004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Plastic leads to the death of turtles and fish, because they think it is food.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0471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يُؤَثِّرُ البْلَاسْتِيكُ فِي البِحَارِ؟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0471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741725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760013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رَأَيْتُ قَنَاةً فِي مَدِينَتِنَا كَانَتْ مَمْلُوءَةً بِالأَكْيَاسِ وَالعُلَبِ، وَكَانَتْ رَائِحَتُهَا كَرِيهَةً.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151010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saw a canal in our town full of bags and cans, and it smelt awful.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741725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صِفْ مَكَانًا مُلَوَّثًا رَأَيْتَهُ.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741725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" y="4478731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343400" y="4497019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نَعَمْ، لِأَنَّهُ يُسَبِّبُ التَّوَتُّرَ وَقِلَّةَ النَّوْمِ، وَيُخِيفُ الطُّيُورَ أَيْضًا.</a:t>
            </a:r>
            <a:endParaRPr lang="ar-SA" sz="1700" dirty="0"/>
          </a:p>
        </p:txBody>
      </p:sp>
      <p:sp>
        <p:nvSpPr>
          <p:cNvPr id="36" name="Text 33"/>
          <p:cNvSpPr txBox="1"/>
          <p:nvPr/>
        </p:nvSpPr>
        <p:spPr>
          <a:xfrm>
            <a:off x="4297680" y="4888017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Yes, because it causes stress and lack of sleep, and scares birds too.</a:t>
            </a:r>
            <a:endParaRPr lang="en-US" sz="950" dirty="0"/>
          </a:p>
        </p:txBody>
      </p:sp>
      <p:sp>
        <p:nvSpPr>
          <p:cNvPr id="37" name="Text 34"/>
          <p:cNvSpPr txBox="1"/>
          <p:nvPr/>
        </p:nvSpPr>
        <p:spPr>
          <a:xfrm>
            <a:off x="1051560" y="4478731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الضَّجِيجُ مُشْكِلَةٌ بِيئِيَّةٌ أَيْضًا؟</a:t>
            </a:r>
            <a:endParaRPr lang="ar-SA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566928" y="4478731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39" name="Shape 36"/>
          <p:cNvSpPr/>
          <p:nvPr/>
        </p:nvSpPr>
        <p:spPr>
          <a:xfrm>
            <a:off x="457200" y="5215738"/>
            <a:ext cx="11274552" cy="682142"/>
          </a:xfrm>
          <a:prstGeom prst="roundRect">
            <a:avLst>
              <a:gd name="adj" fmla="val 6702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4343400" y="5234026"/>
            <a:ext cx="7296912" cy="422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تُقْطَعُ الغَابَاتُ مِنْ أَجْلِ الخَشَبِ وَالزِّرَاعَةِ، مِمَّا يُهَدِّدُ الحَيَوَانَاتِ.</a:t>
            </a:r>
            <a:endParaRPr lang="ar-SA" sz="1700" dirty="0"/>
          </a:p>
        </p:txBody>
      </p:sp>
      <p:sp>
        <p:nvSpPr>
          <p:cNvPr id="41" name="Text 38"/>
          <p:cNvSpPr txBox="1"/>
          <p:nvPr/>
        </p:nvSpPr>
        <p:spPr>
          <a:xfrm>
            <a:off x="4297680" y="5625023"/>
            <a:ext cx="7388352" cy="2592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Forests are cut down for wood and farming, which threatens animals.</a:t>
            </a:r>
            <a:endParaRPr lang="en-US" sz="950" dirty="0"/>
          </a:p>
        </p:txBody>
      </p:sp>
      <p:sp>
        <p:nvSpPr>
          <p:cNvPr id="42" name="Text 39"/>
          <p:cNvSpPr txBox="1"/>
          <p:nvPr/>
        </p:nvSpPr>
        <p:spPr>
          <a:xfrm>
            <a:off x="1051560" y="5215738"/>
            <a:ext cx="310896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لِمَاذَا تُقْطَعُ الغَابَاتُ؟</a:t>
            </a:r>
            <a:endParaRPr lang="ar-SA" sz="1500" dirty="0"/>
          </a:p>
        </p:txBody>
      </p:sp>
      <p:sp>
        <p:nvSpPr>
          <p:cNvPr id="43" name="Text 40"/>
          <p:cNvSpPr txBox="1"/>
          <p:nvPr/>
        </p:nvSpPr>
        <p:spPr>
          <a:xfrm>
            <a:off x="566928" y="5215738"/>
            <a:ext cx="320040" cy="6821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44" name="Text 4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Cause + effect + an example = a strong Develop answer.</a:t>
            </a:r>
            <a:endParaRPr lang="en-US" sz="1150" dirty="0"/>
          </a:p>
        </p:txBody>
      </p:sp>
      <p:sp>
        <p:nvSpPr>
          <p:cNvPr id="45" name="Text 4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21 / 25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1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فِي رَأْيِي نَعَمْ، لِأَنَّهَا تُنْتِجُ وَتَسْتَهْلِكُ أَكْثَرَ بِكَثِيرٍ، وَلِأَنَّ مَصَانِعَهَا لَوَّثَتِ العَالَمَ مُنْذُ مِئَتَيْ سَنَةٍ.</a:t>
            </a:r>
            <a:endParaRPr lang="ar-SA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 think so — they produce and consume much more, and their factories have polluted the world for 200 years.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الدُّوَلُ الغَنِيَّةُ مَسْؤُولَةٌ أَكْثَرَ مِنَ الدُّوَلِ الفَقِيرَةِ؟</a:t>
            </a:r>
            <a:endParaRPr lang="ar-S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1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مِنْ نَاحِيَةٍ، الأَجْهِزَةُ القَدِيمَةُ تُرْمَى وَتُلَوِّثُ الأَرْضَ، وَمِنْ نَاحِيَةٍ أُخْرَى، السَّيَّارَاتُ الكَهْرَبَائِيَّةُ تُخَفِّفُ التَّلَوُّثَ.</a:t>
            </a:r>
            <a:endParaRPr lang="ar-SA" sz="155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On one hand, old devices are thrown away and pollute the land; on the other, electric cars reduce pollution.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هَلِ التِّكْنُولُوجْيَا سَبَبُ المُشْكِلَةِ أَمْ حَلُّهَا؟</a:t>
            </a:r>
            <a:endParaRPr lang="ar-SA" sz="15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2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457200" y="3840480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4343400" y="3858768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كَانَتْ هُنَاكَ حُقُولٌ خَضْرَاءُ، أَمَّا الآنَ فَقَدْ بُنِيَ عَلَيْهَا طَرِيقٌ سَرِيعٌ، وَازْدَادَ الضَّجِيجُ وَالدُّخَانُ.</a:t>
            </a:r>
            <a:endParaRPr lang="ar-SA" sz="1700" dirty="0"/>
          </a:p>
        </p:txBody>
      </p:sp>
      <p:sp>
        <p:nvSpPr>
          <p:cNvPr id="31" name="Text 28"/>
          <p:cNvSpPr txBox="1"/>
          <p:nvPr/>
        </p:nvSpPr>
        <p:spPr>
          <a:xfrm>
            <a:off x="4297680" y="4279392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There were green fields; now a motorway has been built on them, and noise and fumes have increased.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1051560" y="384048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كَيْفَ تَغَيَّرَتْ مِنْطَقَتُكَ فِي السَّنَوَاتِ الأَخِيرَةِ؟</a:t>
            </a:r>
            <a:endParaRPr lang="ar-SA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566928" y="3840480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3</a:t>
            </a:r>
            <a:endParaRPr lang="en-US" sz="1100" dirty="0"/>
          </a:p>
        </p:txBody>
      </p:sp>
      <p:sp>
        <p:nvSpPr>
          <p:cNvPr id="34" name="Text 31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passive, past vs present, ṣaḥīḥun anna … ghayra anna, idhā … fa-sa- — range is rewarded.</a:t>
            </a:r>
            <a:endParaRPr lang="en-US" sz="1150" dirty="0"/>
          </a:p>
        </p:txBody>
      </p:sp>
      <p:sp>
        <p:nvSpPr>
          <p:cNvPr id="35" name="Text 32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22 / 25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2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MODEL ANSWERS · TOPIC CONVERSATION · STRETCH · PART 2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Stretch: what a strong answer sounds like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نَمُوذَجُ الإِجَابَةِ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11274552" cy="384048"/>
          </a:xfrm>
          <a:prstGeom prst="rect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325112" y="1810512"/>
            <a:ext cx="73334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Model answer (with English)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33272" y="1810512"/>
            <a:ext cx="3145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Question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530352" y="1810512"/>
            <a:ext cx="3566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#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57200" y="2267712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343400" y="2286000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5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صَحِيحٌ أَنَّ الشَّبَابَ يَتَحَدَّثُونَ عَنْهَا كَثِيرًا، غَيْرَ أَنَّ بَعْضَهُمْ يَشْتَرِي مَلَابِسَ جَدِيدَةً كُلَّ أُسْبُوعٍ، مِمَّا يَضُرُّ بِالبِيئَةِ.</a:t>
            </a:r>
            <a:endParaRPr lang="ar-SA" sz="1550" dirty="0"/>
          </a:p>
        </p:txBody>
      </p:sp>
      <p:sp>
        <p:nvSpPr>
          <p:cNvPr id="21" name="Text 18"/>
          <p:cNvSpPr txBox="1"/>
          <p:nvPr/>
        </p:nvSpPr>
        <p:spPr>
          <a:xfrm>
            <a:off x="4297680" y="2706624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Young people talk about it a lot, but some buy new clothes every week, which harms the environment.</a:t>
            </a:r>
            <a:endParaRPr lang="en-US" sz="950" dirty="0"/>
          </a:p>
        </p:txBody>
      </p:sp>
      <p:sp>
        <p:nvSpPr>
          <p:cNvPr id="22" name="Text 19"/>
          <p:cNvSpPr txBox="1"/>
          <p:nvPr/>
        </p:nvSpPr>
        <p:spPr>
          <a:xfrm>
            <a:off x="1051560" y="2267712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5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هَلْ يَهْتَمُّ الشَّبَابُ بِالبِيئَةِ أَكْثَرَ مِنَ الكِبَارِ؟</a:t>
            </a:r>
            <a:endParaRPr lang="ar-SA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66928" y="2267712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4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457200" y="3054096"/>
            <a:ext cx="11274552" cy="731520"/>
          </a:xfrm>
          <a:prstGeom prst="roundRect">
            <a:avLst>
              <a:gd name="adj" fmla="val 6250"/>
            </a:avLst>
          </a:prstGeom>
          <a:solidFill>
            <a:srgbClr val="F4F1EA"/>
          </a:solidFill>
          <a:ln w="9525">
            <a:solidFill>
              <a:srgbClr val="D8D0BF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343400" y="3072384"/>
            <a:ext cx="7296912" cy="4535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7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إِذَا لَمْ نُغَيِّرْ عَادَاتِنَا، فَسَتَخْتَفِي غَابَاتٌ كَثِيرَةٌ، وَسَتَغْرَقُ مُدُنٌ سَاحِلِيَّةٌ تَحْتَ البَحْرِ.</a:t>
            </a:r>
            <a:endParaRPr lang="ar-SA" sz="1700" dirty="0"/>
          </a:p>
        </p:txBody>
      </p:sp>
      <p:sp>
        <p:nvSpPr>
          <p:cNvPr id="26" name="Text 23"/>
          <p:cNvSpPr txBox="1"/>
          <p:nvPr/>
        </p:nvSpPr>
        <p:spPr>
          <a:xfrm>
            <a:off x="4297680" y="3493008"/>
            <a:ext cx="7388352" cy="277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If we don’t change our habits, many forests will vanish and coastal cities will sink under the sea.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1051560" y="3054096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lnSpc>
                <a:spcPct val="120000"/>
              </a:lnSpc>
              <a:buNone/>
            </a:pPr>
            <a:r>
              <a:rPr lang="ar-SA" altLang="en-US" sz="1400" b="1" dirty="0">
                <a:solidFill>
                  <a:srgbClr val="1B3B6F"/>
                </a:solidFill>
                <a:latin typeface="Amiri" pitchFamily="2" charset="-78"/>
                <a:cs typeface="Amiri" pitchFamily="2" charset="-78"/>
              </a:rPr>
              <a:t>لَوْ لَمْ نُغَيِّرْ عَادَاتِنَا، كَيْفَ سَيَكُونُ العَالَمُ بَعْدَ مِئَةِ سَنَةٍ؟</a:t>
            </a:r>
            <a:endParaRPr lang="ar-SA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566928" y="3054096"/>
            <a:ext cx="320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A6472"/>
                </a:solidFill>
                <a:latin typeface="Calibri" pitchFamily="34" charset="0"/>
                <a:cs typeface="Amiri" pitchFamily="2" charset="-78"/>
              </a:rPr>
              <a:t>5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B3B6F"/>
                </a:solidFill>
                <a:latin typeface="Calibri" pitchFamily="34" charset="0"/>
                <a:cs typeface="Amiri" pitchFamily="2" charset="-78"/>
              </a:rPr>
              <a:t>Stretch: balance, passive, past vs present, ṣaḥīḥun anna … ghayra anna, idhā … fa-sa- — range is rewarded.</a:t>
            </a:r>
            <a:endParaRPr lang="en-US" sz="1150" dirty="0"/>
          </a:p>
        </p:txBody>
      </p:sp>
      <p:sp>
        <p:nvSpPr>
          <p:cNvPr id="30" name="Text 27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23 / 25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D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37744"/>
            <a:ext cx="420624" cy="420624"/>
          </a:xfrm>
          <a:prstGeom prst="ellipse">
            <a:avLst/>
          </a:prstGeom>
          <a:solidFill>
            <a:srgbClr val="1B3B6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2194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8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م</a:t>
            </a:r>
            <a:endParaRPr lang="ar-SA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960120" y="21945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Al Madina Online School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960120" y="45720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ARABIC DEPARTMENT · MIFTAH ARABIC · IGCSE 0544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8897112" y="27432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97112" y="27432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TC-L04 · Speaking workshop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7143293" y="274320"/>
            <a:ext cx="1616659" cy="329184"/>
          </a:xfrm>
          <a:prstGeom prst="roundRect">
            <a:avLst>
              <a:gd name="adj" fmla="val 50000"/>
            </a:avLst>
          </a:prstGeom>
          <a:solidFill>
            <a:srgbClr val="8A6D1E"/>
          </a:solidFill>
          <a:ln w="12700">
            <a:solidFill>
              <a:srgbClr val="8A6D1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143293" y="274320"/>
            <a:ext cx="161665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FEEDBACK · 1 MIN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822960"/>
            <a:ext cx="6949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300" kern="0" dirty="0">
                <a:solidFill>
                  <a:srgbClr val="8A6D1E"/>
                </a:solidFill>
                <a:latin typeface="Calibri" pitchFamily="34" charset="0"/>
                <a:cs typeface="Amiri" pitchFamily="2" charset="-78"/>
              </a:rPr>
              <a:t>FEEDBACK · SUCCESS CRITERIA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033272"/>
            <a:ext cx="6949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B3B6F"/>
                </a:solidFill>
                <a:latin typeface="Cambria" pitchFamily="34" charset="0"/>
                <a:cs typeface="Amiri" pitchFamily="2" charset="-78"/>
              </a:rPr>
              <a:t>Check your work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498080" y="868680"/>
            <a:ext cx="4233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r" indent="0" marL="0">
              <a:buNone/>
            </a:pPr>
            <a:r>
              <a:rPr lang="ar-SA" altLang="en-US" sz="2800" b="1" dirty="0">
                <a:solidFill>
                  <a:srgbClr val="8A6D1E"/>
                </a:solidFill>
                <a:latin typeface="Amiri" pitchFamily="2" charset="-78"/>
                <a:cs typeface="Amiri" pitchFamily="2" charset="-78"/>
              </a:rPr>
              <a:t>قَيِّمْ عَمَلَكَ</a:t>
            </a:r>
            <a:endParaRPr lang="ar-SA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6455664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Miftah Arabic · Topic C · Speaking workshop · TC-L04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457200" y="181051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85800" y="2086661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097280" y="181051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named environmental problems in full sentences.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6583680" y="2068373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583680" y="2068373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457200" y="2710282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685800" y="298643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2E8B5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097280" y="2710282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cause with bi-sababi or li-anna.</a:t>
            </a:r>
            <a:endParaRPr 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6583680" y="296814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0" y="296814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CORE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457200" y="361005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685800" y="388620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97280" y="361005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linked a cause to an effect (yuʾaddī ilā / mimmā).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6583680" y="386791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6583680" y="386791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457200" y="4509821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685800" y="4785970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C9780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1097280" y="4509821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used a passive verb (tuqṭaʿu, yulawwathu) or mulawwath.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6583680" y="4767682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C9780A"/>
          </a:solidFill>
          <a:ln w="12700">
            <a:solidFill>
              <a:srgbClr val="C9780A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6583680" y="476768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DEVELOP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457200" y="5409590"/>
            <a:ext cx="7406640" cy="771754"/>
          </a:xfrm>
          <a:prstGeom prst="roundRect">
            <a:avLst>
              <a:gd name="adj" fmla="val 9479"/>
            </a:avLst>
          </a:prstGeom>
          <a:solidFill>
            <a:srgbClr val="FFFFFF"/>
          </a:solidFill>
          <a:ln w="9525">
            <a:solidFill>
              <a:srgbClr val="D8D0BF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85800" y="5685739"/>
            <a:ext cx="219456" cy="219456"/>
          </a:xfrm>
          <a:prstGeom prst="rect">
            <a:avLst/>
          </a:prstGeom>
          <a:solidFill>
            <a:srgbClr val="FFFFFF"/>
          </a:solidFill>
          <a:ln w="19050">
            <a:solidFill>
              <a:srgbClr val="B83227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097280" y="5409590"/>
            <a:ext cx="5394960" cy="7717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I gave a balanced view, a concession or a conditional.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6583680" y="5667451"/>
            <a:ext cx="1097280" cy="256032"/>
          </a:xfrm>
          <a:prstGeom prst="roundRect">
            <a:avLst>
              <a:gd name="adj" fmla="val 50000"/>
            </a:avLst>
          </a:prstGeom>
          <a:solidFill>
            <a:srgbClr val="B83227"/>
          </a:solidFill>
          <a:ln w="12700">
            <a:solidFill>
              <a:srgbClr val="B83227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6583680" y="5667451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spc="100" kern="0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STRETCH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8092440" y="1810512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E9F5EE"/>
          </a:solidFill>
          <a:ln w="9525">
            <a:solidFill>
              <a:srgbClr val="9CCFB0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1" name="Text 38"/>
          <p:cNvSpPr txBox="1"/>
          <p:nvPr/>
        </p:nvSpPr>
        <p:spPr>
          <a:xfrm>
            <a:off x="8275320" y="1920240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8B57"/>
                </a:solidFill>
                <a:latin typeface="Calibri" pitchFamily="34" charset="0"/>
                <a:cs typeface="Amiri" pitchFamily="2" charset="-78"/>
              </a:rPr>
              <a:t>WWW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What went well? One thing you did accurately.</a:t>
            </a:r>
            <a:endParaRPr lang="en-US" sz="1800" dirty="0"/>
          </a:p>
        </p:txBody>
      </p:sp>
      <p:sp>
        <p:nvSpPr>
          <p:cNvPr id="42" name="Shape 39"/>
          <p:cNvSpPr/>
          <p:nvPr/>
        </p:nvSpPr>
        <p:spPr>
          <a:xfrm>
            <a:off x="8092440" y="4041648"/>
            <a:ext cx="3639312" cy="2084832"/>
          </a:xfrm>
          <a:prstGeom prst="roundRect">
            <a:avLst>
              <a:gd name="adj" fmla="val 3509"/>
            </a:avLst>
          </a:prstGeom>
          <a:solidFill>
            <a:srgbClr val="FFF4E0"/>
          </a:solidFill>
          <a:ln w="9525">
            <a:solidFill>
              <a:srgbClr val="E8D49A"/>
            </a:solidFill>
            <a:prstDash val="solid"/>
          </a:ln>
          <a:effectLst>
            <a:outerShdw sx="100000" sy="100000" kx="0" ky="0" algn="bl" rotWithShape="0" blurRad="50800" dist="19050" dir="5400000">
              <a:srgbClr val="000000">
                <a:alpha val="10000"/>
              </a:srgbClr>
            </a:outerShdw>
          </a:effectLst>
        </p:spPr>
      </p:sp>
      <p:sp>
        <p:nvSpPr>
          <p:cNvPr id="43" name="Text 40"/>
          <p:cNvSpPr txBox="1"/>
          <p:nvPr/>
        </p:nvSpPr>
        <p:spPr>
          <a:xfrm>
            <a:off x="8275320" y="4151376"/>
            <a:ext cx="327355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780A"/>
                </a:solidFill>
                <a:latin typeface="Calibri" pitchFamily="34" charset="0"/>
                <a:cs typeface="Amiri" pitchFamily="2" charset="-78"/>
              </a:rPr>
              <a:t>EBI</a:t>
            </a:r>
            <a:endParaRPr lang="en-US" sz="1800" dirty="0"/>
          </a:p>
          <a:p>
            <a:pPr indent="0" marL="0">
              <a:buNone/>
            </a:pPr>
            <a:r>
              <a:rPr lang="en-US" sz="1200" dirty="0">
                <a:solidFill>
                  <a:srgbClr val="1F2A37"/>
                </a:solidFill>
                <a:latin typeface="Calibri" pitchFamily="34" charset="0"/>
                <a:cs typeface="Amiri" pitchFamily="2" charset="-78"/>
              </a:rPr>
              <a:t>Even better if… One thing you will fix or add.</a:t>
            </a:r>
            <a:endParaRPr lang="en-US" sz="1800" dirty="0"/>
          </a:p>
        </p:txBody>
      </p:sp>
      <p:sp>
        <p:nvSpPr>
          <p:cNvPr id="44" name="Text 41"/>
          <p:cNvSpPr txBox="1"/>
          <p:nvPr/>
        </p:nvSpPr>
        <p:spPr>
          <a:xfrm>
            <a:off x="10360152" y="645566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8A93A0"/>
                </a:solidFill>
                <a:latin typeface="Calibri" pitchFamily="34" charset="0"/>
                <a:cs typeface="Amiri" pitchFamily="2" charset="-78"/>
              </a:rPr>
              <a:t>24 / 25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1097280"/>
            <a:ext cx="5852160" cy="5852160"/>
          </a:xfrm>
          <a:prstGeom prst="ellipse">
            <a:avLst/>
          </a:prstGeom>
          <a:solidFill>
            <a:srgbClr val="14315C"/>
          </a:solidFill>
          <a:ln w="12700">
            <a:solidFill>
              <a:srgbClr val="14315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372600" y="2606040"/>
            <a:ext cx="1737360" cy="173736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2944368"/>
            <a:ext cx="1060704" cy="106070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TC-L04 COMPLETE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69164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4000" b="1" dirty="0">
                <a:solidFill>
                  <a:srgbClr val="FFFFFF"/>
                </a:solidFill>
                <a:latin typeface="Amiri" pitchFamily="2" charset="-78"/>
                <a:cs typeface="Amiri" pitchFamily="2" charset="-78"/>
              </a:rPr>
              <a:t>أَحْسَنْتُمْ! إِلَى اللِّقَاءِ</a:t>
            </a:r>
            <a:endParaRPr lang="ar-SA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260604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C6D2E6"/>
                </a:solidFill>
                <a:latin typeface="Calibri" pitchFamily="34" charset="0"/>
                <a:cs typeface="Amiri" pitchFamily="2" charset="-78"/>
              </a:rPr>
              <a:t>Well done — great speaking practice today!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D4AF37"/>
                </a:solidFill>
                <a:latin typeface="Calibri" pitchFamily="34" charset="0"/>
                <a:cs typeface="Amiri" pitchFamily="2" charset="-78"/>
              </a:rPr>
              <a:t>NEXT WORKSHOP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388620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cs typeface="Amiri" pitchFamily="2" charset="-78"/>
              </a:rPr>
              <a:t>TC-L04 · Writing workshop · Form filling, directed writing and extended writing</a:t>
            </a:r>
            <a:endParaRPr lang="en-US" sz="165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4434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rtl="1" algn="l" indent="0" marL="0">
              <a:buNone/>
            </a:pPr>
            <a:r>
              <a:rPr lang="ar-SA" altLang="en-US" sz="2400" b="1" dirty="0">
                <a:solidFill>
                  <a:srgbClr val="D4AF37"/>
                </a:solidFill>
                <a:latin typeface="Amiri" pitchFamily="2" charset="-78"/>
                <a:cs typeface="Amiri" pitchFamily="2" charset="-78"/>
              </a:rPr>
              <a:t>وَرْشَةُ الكِتَابَةِ</a:t>
            </a:r>
            <a:endParaRPr lang="ar-SA" sz="2400" dirty="0"/>
          </a:p>
        </p:txBody>
      </p:sp>
      <p:sp>
        <p:nvSpPr>
          <p:cNvPr id="11" name="Text 8"/>
          <p:cNvSpPr txBox="1"/>
          <p:nvPr/>
        </p:nvSpPr>
        <p:spPr>
          <a:xfrm>
            <a:off x="457200" y="53035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Amiri" pitchFamily="2" charset="-78"/>
              </a:rPr>
              <a:t>Remember: in the role play answer EVERY task; in the conversation, develop every answer.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Al Madina Online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TC-L04 · Speaking Workshop — Environmental Problems and Causes</dc:title>
  <dc:subject>PptxGenJS Presentation</dc:subject>
  <dc:creator>Al Madina Online School · Arabic Department</dc:creator>
  <cp:lastModifiedBy>Al Madina Online School · Arabic Department</cp:lastModifiedBy>
  <cp:revision>1</cp:revision>
  <dcterms:created xsi:type="dcterms:W3CDTF">2026-10-11T09:40:51Z</dcterms:created>
  <dcterms:modified xsi:type="dcterms:W3CDTF">2026-10-11T09:40:51Z</dcterms:modified>
</cp:coreProperties>
</file>