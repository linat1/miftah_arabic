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4 (Environmental Problems and Causes, TC-L04), using that lesson’s language (cause and effect (bi-sababi, yuʾaddī ilā, mimmā yusabbibu); active vs passive (tulawwithu / yulawwathu)).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active: المَصَانِعُ تُلَوِّثُ النَّهْرَ (factories pollute the river). Passive: يُلَوَّثُ النَّهْرُ (the river is polluted). Adjective: نَهْرٌ مُلَوَّثٌ · مَدِينَةٌ مُلَوَّثَةٌ.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بِسَبَبِ + noun in genitive: بِسَبَبِ الدُّخَانِ. لِأَنَّ + sentence. يُؤَدِّي إِلَى + noun. مِمَّا يُسَبِّبُ links a whole idea to its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school survey.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مَدِينَتِكِ · تَأْتِينَ.
Core: a superlative + iḍāfa (akbaru mushkilatin); as-sayyārāt (non-human pl.) tulawwithu; an-nufāyāt … kathīra.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polluted beach.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تَرَيْنَ · رَأْيِكِ.
Core+: mulawwath (passive participle); non-human plurals zujājātin … kathīra; the CANDIDATE asks with a passive (sa-yunaẓẓafu); bi-sababi … mimmā.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local news report.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(same words — the journalist may be a woman).
Develop: past events, active (yarmī) vs passive (turmā), kāna + kunnā + present, yuʾaddī ilā + two effects,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رَأْيِكِ.
Stretch: a superlative + bi-dalīli anna, a cause chain with mimmā, a balanced view (min nāḥiya … wa-min nāḥiya ukhrā), a concession, law lam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cause, an effect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Environmental Problems and Causes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مَشَاكِلُ البِيئَةِ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name environmental problems — pollution, rubbish, traffic, deforestation — explain their causes and effects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يُؤَدِّي إِلَى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مِمَّا يُسَبِّبُ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use active and passive verbs.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PROBLEMS (NOUN · ADJECTIVE · VERB)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Pollution, rubbish, smoke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مَشَاكِلُ البِيئَةِ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 · adj. 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البِيئَةُ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environment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al-bī-ʾa-tu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f.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بِيئِيَّةٌ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بِيئِيٌّ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air pollution · polluted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تَلَوُّثٌ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pollution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ta-law-wu-thun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polluted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مُلَوَّثٌ · مُلَوَّثَةٌ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air pollution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تَلَوُّثُ الهَوَاءِ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active / passive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يُلَوِّثُ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pollutes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yu-law-wi-thu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يُلَوَّثُ · تُلَوَّثُ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تُلَوِّثُ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plastic waste · a bin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نُفَايَاتٌ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rubbish, waste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nu-fā-yā-tun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bin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سَلَّةُ مُهْمَلَاتٍ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plastic waste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نُفَايَاتٌ بْلَاسْتِيكِيَّةٌ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car fumes · factories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دُخَانٌ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smoke, fumes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du-khā-nun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factories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مَصَانِعُ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car fumes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دُخَانُ السَّيَّارَاتِ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crowded (f.) · crowded (m.)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زَحْمَةُ المُرُورِ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traffic congestion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zaḥ-ma-tu al-mu-rū-ri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crowded (m.)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مُزْدَحِمٌ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crowded (f.)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مُزْدَحِمَةٌ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CAUSES AND EFFECTS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Because of … leads to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الأَسْبَابُ وَالنَّتَائِجُ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forests are cut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قَطْعُ الأَشْجَارِ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cutting down trees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qaṭ-ʿu al-ash-jā-ri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forests are cut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تُقْطَعُ الغَابَاتُ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climate change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الاحْتِبَاسُ الحَرَارِيُّ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global warming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alḥ-ti-bā-su al-ḥa-rā-riy-yu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climate change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تَغَيُّرُ المُنَاخِ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cause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…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bi-sa-ba-bi …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أَسْبَابٌ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cause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السَّبَبُ</a:t>
            </a:r>
            <a:endParaRPr lang="ar-SA" sz="1350" dirty="0"/>
          </a:p>
        </p:txBody>
      </p:sp>
      <p:sp>
        <p:nvSpPr>
          <p:cNvPr id="54" name="Shape 51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effect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يُؤَدِّي إِلَى …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leads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yu-ʾad-dī i-lā …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which causes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مِمَّا يُسَبِّبُ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تُؤَدِّي إِلَى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harms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خَطِيرٌ · ضَارٌّ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dangerous · harmful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kha-ṭī-run · ḍār-run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harms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يَضُرُّ بِالبِيئَةِ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خَطِيرَةٌ · ضَارَّةٌ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serious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مُشْكِلَةٌ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problem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mush-ki-la-tun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serious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مُشْكِلَةٌ كَبِيرَةٌ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مَشَاكِلُ · مُشْكِلَاتٌ</a:t>
            </a:r>
            <a:endParaRPr lang="ar-SA" sz="1500" dirty="0"/>
          </a:p>
        </p:txBody>
      </p:sp>
      <p:sp>
        <p:nvSpPr>
          <p:cNvPr id="99" name="Text 9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SCHOOL SURVEY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The school environment survey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اسْتِطْلَاعٌ عَنِ البِيئَةِ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مُشْكِلَةٍ هِيَ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problem.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مُشْكِلَةٍ فِي مَدِينَتِكَ؟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هِيَ مُشْكِلَةٌ؟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المَدْرَسَةِ … كَثِيرَةٌ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problem at school.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وَفِي المَدْرَسَةِ؟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who will read it.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نُرِيدُ أَنْ نَكْتُبَ تَقْرِيرًا.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آتِي مَشْيًا / بِالسَّيَّارَةِ،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تَأْتِي إِلَى المَدْرَسَةِ؟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member of the school eco-club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POLLUTED BEACH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Reporting a dirty beach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شَاطِئٌ مُلَوَّثٌ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… وَهُوَ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are and the problem.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things.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تَرَى بِالضَّبْطِ؟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سَيُنَظَّفُ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it will be cleaned.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غَرِيبٌ.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… مِمَّا يَضُرُّ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cause and the effect.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غَدًا إِنْ شَاءَ اللّٰهُ. مَا السَّبَبُ فِي رَأْيِكَ؟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… / نَعَمْ، لٰكِنَّ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تَرَى سَلَّاتِ مُهْمَلَاتٍ هُنَاكَ؟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 ·  The examiner is: a council officer on the phone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LOCAL NEWS REPORT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The river is dying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النَّهْرُ يَمُوتُ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تَلَوَّثَ … وَمَاتَتْ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happened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حَدَثَ لِلنَّهْرِ؟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المَصْنَعُ … / تُرْمَى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cause (active + passive).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السَّبَبُ؟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 وَكُنَّا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in the past.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النَّهْرُ قَبْلَ ذٰلِكَ؟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يُؤَدِّي إِلَى … وَ…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effects.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النَّتَائِجُ عَلَى السُّكَّانِ؟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سَنَكْتُبُ … وَسَنَجْمَعُ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سَتَفْعَلُونَ الآنَ؟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resident  ·  The examiner is: a local journalist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Who is to blame?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أَخْطَرُهَا … بِدَلِيلِ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it and justify with evidence.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أَخْطَرُ مُشْكِلَةٍ بِيئِيَّةٍ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يَزْدَادُ … مِمَّا يُؤَدِّي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chain of causes.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أَسْبَابُهُ؟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Balance both sides.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المَسْؤُولُ الحُكُومَاتُ أَمِ الأَفْرَادُ؟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المَصَانِعَ تُوَفِّرُ الوَظَائِفَ!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تُوجَدْ …، لَكَانَتِ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تُوجَدْ سَيَّارَاتٌ، كَيْفَ تَكُونُ المُدُنُ؟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debate speaker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a problem and gave one cause (bi-sababi / li-anna)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linked a cause to an effect (yuʾaddī ilā / mimmā) and used a passive verb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مُشْكِلَةٍ هِيَ زَحْمَةُ المُرُورِ.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biggest problem is traffic congestion.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مُشْكِلَةٍ فِي مَدِينَتِكَ؟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السَّيَّارَاتِ تُلَوِّثُ الهَوَاءَ.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cars pollute the air.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هِيَ مُشْكِلَةٌ؟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المَدْرَسَةِ النُّفَايَاتُ البْلَاسْتِيكِيَّةُ كَثِيرَةٌ.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school there is a lot of plastic waste.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وَفِي المَدْرَسَةِ؟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سَيَقْرَأُ التَّقْرِيرَ؟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will read the report?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نُرِيدُ أَنْ نَكْتُبَ تَقْرِيرًا.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آتِي إِلَى المَدْرَسَةِ مَشْيًا، لِأَنَّ بَيْتِي قَرِيبٌ.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walk to school, because my house is close.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تَأْتِي إِلَى المَدْرَسَةِ؟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عَلَى الشَّاطِئِ الشَّمَالِيِّ، وَهُوَ مُلَوَّثٌ جِدًّا.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on the north beach, and it is very polluted.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زُجَاجَاتٍ بْلَاسْتِيكِيَّةً كَثِيرَةً، وَأَكْيَاسًا عَلَى الرَّمْلِ.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see lots of plastic bottles, and bags on the sand.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تَرَى بِالضَّبْطِ؟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سَيُنَظَّفُ الشَّاطِئُ؟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will the beach be cleaned?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غَرِيبٌ.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الزُّوَّارِ الَّذِينَ يَتْرُكُونَ نُفَايَاتِهِمْ، مِمَّا يَضُرُّ بِالطُّيُورِ وَالأَسْمَاكِ.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visitors who leave their rubbish, which harms birds and fish.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غَدًا إِنْ شَاءَ اللّٰهُ. مَا السَّبَبُ فِي رَأْيِكَ؟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لٰكِنَّهَا قَلِيلَةٌ وَمُمْتَلِئَةٌ.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but there are few and they are full.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تَرَى سَلَّاتِ مُهْمَلَاتٍ هُنَاكَ؟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تَلَوَّثَ النَّهْرُ فِي الشَّهْرِ المَاضِي، وَمَاتَتْ أَسْمَاكٌ كَثِيرَةٌ.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river was polluted last month, and many fish died.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حَدَثَ لِلنَّهْرِ؟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المَصْنَعُ القَرِيبُ يَرْمِي مَوَادَّ كِيمِيَائِيَّةً فِيهِ؛ أَيْ تُرْمَى المَوَادُّ فِي المَاءِ لَيْلًا.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nearby factory dumps chemicals in it — the chemicals are dumped in the water at night.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السَّبَبُ؟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صَافِيًا وَنَظِيفًا، وَكُنَّا نَصْطَادُ فِيهِ مَعَ أَبِي.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clear and clean, and we used to fish in it with my dad.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النَّهْرُ قَبْلَ ذٰلِكَ؟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يُؤَدِّي التَّلَوُّثُ إِلَى رَائِحَةٍ كَرِيهَةٍ، وَإِلَى أَمْرَاضٍ عِنْدَ الأَطْفَالِ.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pollution leads to a bad smell, and to illnesses in children.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النَّتَائِجُ عَلَى السُّكَّانِ؟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سَنَكْتُبُ رِسَالَةً إِلَى البَلَدِيَّةِ، وَسَنَجْمَعُ تَوْقِيعَاتِ الجِيرَانِ.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write a letter to the council, and collect the neighbours’ signatures.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سَتَفْعَلُونَ الآنَ؟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أَخْطَرُهَا تَلَوُّثُ الهَوَاءِ، بِدَلِيلِ أَنَّ مَلَايِينَ النَّاسِ يَمُوتُونَ بِسَبَبِهِ كُلَّ سَنَةٍ.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dangerous is air pollution — millions of people die because of it every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أَخْطَرُ مُشْكِلَةٍ بِيئِيَّةٍ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يَزْدَادُ عَدَدُ السَّيَّارَاتِ وَالمَصَانِعِ، مِمَّا يُؤَدِّي إِلَى ارْتِفَاعِ نِسْبَةِ الغَازَاتِ الضَّارَّةِ فِي الجَوِّ.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Cars and factories are increasing, which leads to a rise in harmful gases in the air.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أَسْبَابُهُ؟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تَسْمَحُ الحُكُومَاتُ لِلْمَصَانِعِ بِالتَّلْوِيثِ، وَمِنْ نَاحِيَةٍ أُخْرَى، نَسْتَخْدِمُ نَحْنُ السَّيَّارَةَ حَتَّى لِلْمَسَافَاتِ القَصِيرَةِ.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hand, governments let factories pollute; on the other, we use the car even for short distances.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المَسْؤُولُ الحُكُومَاتُ أَمِ الأَفْرَادُ؟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تُوَفِّرُ الوَظَائِفَ، غَيْرَ أَنَّ صِحَّةَ العُمَّالِ أَنْفُسِهِمْ تَتَضَرَّرُ مِنْ هٰذَا الدُّخَانِ.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provide jobs, but the workers’ own health is damaged by the fumes.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المَصَانِعَ تُوَفِّرُ الوَظَائِفَ!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تُوجَدْ سَيَّارَاتٌ، لَكَانَتِ المُدُنُ أَهْدَأَ وَأَنْظَفَ، وَلَمَشَى النَّاسُ أَكْثَرَ.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there were no cars, cities would be quieter and cleaner, and people would walk more.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تُوجَدْ سَيَّارَاتٌ، كَيْفَ تَكُونُ المُدُنُ؟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a cause chain, a balanced view,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البِيئَةُ فِي مَدِينَتِي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مَدِينَتِي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your town clean?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مَدِينَتُكَ نَظِيفَةٌ؟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المُشْكِلَةُ الكَبِيرَةُ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big problem in your town?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 الكَبِيرَةُ فِي مَدِينَتِكَ؟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الهَوَاءُ … بِسَبَبِ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air clean?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الهَوَاءُ نَظِيفٌ؟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أَرْمِي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put rubbish in the bin?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تَرْمِي النُّفَايَاتِ فِي السَّلَّةِ؟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البِيئَةُ مُهِمَّةٌ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environment important to you?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البِيئَةُ مُهِمَّةٌ لَكَ؟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أَسْبَابٌ وَنَتَائِجُ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أَسْبَابِهِ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causes air pollution in cities?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أَسْبَابُ تَلَوُّثِ الهَوَاءِ فِي المُدُنِ؟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يُؤَدِّي البْلَاسْتِيكُ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plastic affect the seas?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يُؤَثِّرُ البْلَاسْتِيكُ فِي البِحَارِ؟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… كَانَ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polluted place you have seen.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مُلَوَّثًا رَأَيْتَهُ.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لِأَنَّهُ يُسَبِّبُ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noise an environmental problem too?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الضَّجِيجُ مُشْكِلَةٌ بِيئِيَّةٌ أَيْضًا؟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تُقْطَعُ الغَابَاتُ مِنْ أَجْلِ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forests cut down?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تُقْطَعُ الغَابَاتُ؟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cause, an effect, a passive verb or a past description.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الإِنْسَانُ وَمَشَاكِلُ البِيئَةِ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rich countries more responsible than poor ones?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الدُّوَلُ الغَنِيَّةُ مَسْؤُولَةٌ أَكْثَرَ مِنَ الدُّوَلِ الفَقِيرَةِ؟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technology the cause of the problem or the solution?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التِّكْنُولُوجْيَا سَبَبُ المُشْكِلَةِ أَمْ حَلُّهَا؟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… أَمَّا الآنَ فَقَدْ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your area changed recently?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مِنْطَقَتُكَ فِي السَّنَوَاتِ الأَخِيرَةِ؟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young people care more about the environment than adults?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يَهْتَمُّ الشَّبَابُ بِالبِيئَةِ أَكْثَرَ مِنَ الكِبَارِ؟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نُغَيِّرْ …، فَسَتَخْتَفِي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we don’t change our habits, what will the world be like in 100 years?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نُغَيِّرْ عَادَاتِنَا، كَيْفَ سَيَكُونُ العَالَمُ بَعْدَ مِئَةِ سَنَةٍ؟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a passive verb, kānat vs ammā … fa-qad, a concession and idhā lam … fa-sa-.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مَدِينَتِي لَيْسَتْ نَظِيفَةً جِدًّا.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my town isn’t very clean.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مَدِينَتُكَ نَظِيفَةٌ؟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المُشْكِلَةُ الكَبِيرَةُ هِيَ النُّفَايَاتُ فِي الشَّوَارِعِ.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big problem is rubbish in the streets.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 الكَبِيرَةُ فِي مَدِينَتِكَ؟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الهَوَاءُ مُلَوَّثٌ بِسَبَبِ السَّيَّارَاتِ.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the air is polluted because of the cars.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الهَوَاءُ نَظِيفٌ؟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أَرْمِي النُّفَايَاتِ فِي السَّلَّةِ دَائِمًا.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always put rubbish in the bin.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تَرْمِي النُّفَايَاتِ فِي السَّلَّةِ؟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البِيئَةُ مُهِمَّةٌ لِأَنَّهَا بَيْتُنَا.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environment is important because it is our home.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البِيئَةُ مُهِمَّةٌ لَكَ؟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bi-sababi or li-anna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أَسْبَابِهِ دُخَانُ السَّيَّارَاتِ وَالمَصَانِعِ، وَقِلَّةُ الحَدَائِقِ وَالأَشْجَارِ.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Its causes include car and factory fumes, and a lack of parks and trees.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أَسْبَابُ تَلَوُّثِ الهَوَاءِ فِي المُدُنِ؟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يُؤَدِّي البْلَاسْتِيكُ إِلَى مَوْتِ السَّلَاحِفِ وَالأَسْمَاكِ، لِأَنَّهَا تَظُنُّهُ طَعَامًا.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Plastic leads to the death of turtles and fish, because they think it is food.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يُؤَثِّرُ البْلَاسْتِيكُ فِي البِحَارِ؟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قَنَاةً فِي مَدِينَتِنَا كَانَتْ مَمْلُوءَةً بِالأَكْيَاسِ وَالعُلَبِ، وَكَانَتْ رَائِحَتُهَا كَرِيهَةً.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a canal in our town full of bags and cans, and it smelt awful.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مُلَوَّثًا رَأَيْتَهُ.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لِأَنَّهُ يُسَبِّبُ التَّوَتُّرَ وَقِلَّةَ النَّوْمِ، وَيُخِيفُ الطُّيُورَ أَيْضًا.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causes stress and lack of sleep, and scares birds too.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الضَّجِيجُ مُشْكِلَةٌ بِيئِيَّةٌ أَيْضًا؟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تُقْطَعُ الغَابَاتُ مِنْ أَجْلِ الخَشَبِ وَالزِّرَاعَةِ، مِمَّا يُهَدِّدُ الحَيَوَانَاتِ.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Forests are cut down for wood and farming, which threatens animals.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تُقْطَعُ الغَابَاتُ؟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Cause + effect + an example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نَعَمْ، لِأَنَّهَا تُنْتِجُ وَتَسْتَهْلِكُ أَكْثَرَ بِكَثِيرٍ، وَلِأَنَّ مَصَانِعَهَا لَوَّثَتِ العَالَمَ مُنْذُ مِئَتَيْ سَنَةٍ.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so — they produce and consume much more, and their factories have polluted the world for 200 years.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الدُّوَلُ الغَنِيَّةُ مَسْؤُولَةٌ أَكْثَرَ مِنَ الدُّوَلِ الفَقِيرَةِ؟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الأَجْهِزَةُ القَدِيمَةُ تُرْمَى وَتُلَوِّثُ الأَرْضَ، وَمِنْ نَاحِيَةٍ أُخْرَى، السَّيَّارَاتُ الكَهْرَبَائِيَّةُ تُخَفِّفُ التَّلَوُّثَ.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hand, old devices are thrown away and pollute the land; on the other, electric cars reduce pollution.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التِّكْنُولُوجْيَا سَبَبُ المُشْكِلَةِ أَمْ حَلُّهَا؟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هُنَاكَ حُقُولٌ خَضْرَاءُ، أَمَّا الآنَ فَقَدْ بُنِيَ عَلَيْهَا طَرِيقٌ سَرِيعٌ، وَازْدَادَ الضَّجِيجُ وَالدُّخَانُ.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were green fields; now a motorway has been built on them, and noise and fumes have increased.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مِنْطَقَتُكَ فِي السَّنَوَاتِ الأَخِيرَةِ؟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passive, past vs present, ṣaḥīḥun anna … ghayra anna, idhā … fa-sa-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الشَّبَابَ يَتَحَدَّثُونَ عَنْهَا كَثِيرًا، غَيْرَ أَنَّ بَعْضَهُمْ يَشْتَرِي مَلَابِسَ جَدِيدَةً كُلَّ أُسْبُوعٍ، مِمَّا يَضُرُّ بِالبِيئَةِ.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Young people talk about it a lot, but some buy new clothes every week, which harms the environment.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يَهْتَمُّ الشَّبَابُ بِالبِيئَةِ أَكْثَرَ مِنَ الكِبَارِ؟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نُغَيِّرْ عَادَاتِنَا، فَسَتَخْتَفِي غَابَاتٌ كَثِيرَةٌ، وَسَتَغْرَقُ مُدُنٌ سَاحِلِيَّةٌ تَحْتَ البَحْرِ.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we don’t change our habits, many forests will vanish and coastal cities will sink under the sea.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نُغَيِّرْ عَادَاتِنَا، كَيْفَ سَيَكُونُ العَالَمُ بَعْدَ مِئَةِ سَنَةٍ؟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passive, past vs present, ṣaḥīḥun anna … ghayra anna, idhā … fa-sa-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environmental problems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cause with bi-sababi or li-anna.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a cause to an effect (yuʾaddī ilā / mimmā).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passive verb (tuqṭaʿu, yulawwathu) or mulawwath.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TC-L04 · Speaking Workshop — Environmental Problems and Causes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2026-10-11T09:40:51Z</dcterms:created>
  <dcterms:modified xsi:type="dcterms:W3CDTF">2026-10-11T09:40:51Z</dcterms:modified>
</cp:coreProperties>
</file>