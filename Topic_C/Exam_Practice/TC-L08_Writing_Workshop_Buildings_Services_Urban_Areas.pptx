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C, Lesson 8 (Buildings, Services and Urban Areas, TC-L08).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5: aqrabu + indefinite genitive (aqrabu madrasatin). Box 8: muqābila / bayna + genitive.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أَيْنَ (where) · مَاذَا يُوجَدُ (what is there) · افْتُتِحَ / بُنِيَ (opened / was built — PAST PASSIVE) · سَتَفْعَلَانِ (you two will do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(67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(83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(116 words). Core model: yūjadu / tūjadu with agreement, three locatives, kānat … mabniyyatan min, lam takun hunāka, comparatives and a future plan with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a personification hook, mabniyya min as an adjective, a passive (tuʿaddu), ammā … fa-, idh, kull mā, ghayra anna, a three-point contrast, a concession and a passive law … la-.
ENGLISH SUMMARY (read aloud or paste in the chat for Core students): Every city has a personality, and Birmingham’s is a mix of old and new: beside old factories of red brick rise glass towers, and a public library counted among Europe’s largest → as for my neighbourhood, it is a small complete world, with everything I need: a school, a mosque, a health centre, and a market full of fruit and spices from all over the world — but it lacks a place for young people to meet after school, which pushes many to spend evenings on the streets or in front of screens → I felt the difference between city and village when I spent a month in my grandfather’s village: no public transport, the nearest hospital an hour’s drive away, but neighbours shared food and news every evening → the city provides services and opportunities, but it may cost us human warmth; “if neighbourhoods were designed so residents met in shared parks and centres, we would combine the advantages of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for the Stretch title: statistics, a passive forecast (yutawaqqaʿu an), a rhetorical question with li-kay, kāna + present vs ammā … fa-, laysat … bal, passive participles (mughaṭṭāt, muʿallaqa), mimmā, a concession and idhā … fa-sa- with a lā … contrast.
ENGLISH SUMMARY (read aloud or paste in the chat for Core students): Over half the world’s population lives in cities today, expected to reach two-thirds within thirty years — so how must future cities be to hold these millions? → in the past cities grew without planning, with crowded areas built round factories and motorways; today planners realise green spaces and public transport are not luxuries but necessities for residents’ health → I saw an amazing model visiting Singapore with my family: buildings covered in plants, gardens hanging between towers, and trains reaching every area in minutes, which makes a car almost unnecessary; it amazed me that tree-lined streets were noticeably cooler than others → building such cities is costly, but the cost of pollution and congestion is far higher; “if governments invest in eco-friendly buildings and clean transport, cities will become places we live in, not places we escape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EXAM PRACTICE  ·  TC-L08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Buildings, Services and Urban Areas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المَدِينَةُ وَخِدْمَاتُهَا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new-resident registration form, write an email describing your town to a visiting friend, and write an extended piece about your town or about cities of the future.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TC-L08 · Advanced Topic C · The World Around Us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TC-L08</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describing your town.</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TC-L08</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yūjadu + masculine, tūjadu + feminine or non-human plural; locatives + genitive (muqābila al-ḥadīqati); mabnī / mabniyya agrees with the building; comparatives do not change for gender (al-madīnatu aṣgharu).</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بَيْتُنَا يَقَعُ مُقَابِلَ حَدِيقَةٍ وَاسِعَةٍ</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our house is opposite a large park</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مَتْحَفٌ مَبْنِيٌّ مِنَ الحَجَرِ الأَبْيَضِ</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museum built of white stone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مَدِينَتِي أَهْدَأُ وَأَنْظَفُ مِنَ العَاصِمَةِ</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my town is quieter and cleaner than the capital</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New-resident registration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تَسْجِيلِ السُّكَّانِ الجُدُدِ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New address</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العُنْوَانُ الجَدِيدُ</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of home</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نَوْعُ السَّكَنِ</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in family</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عَدَدُ أَفْرَادِ الأُسْرَةِ</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Nearest school</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أَقْرَبُ مَدْرَسَةٍ</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Means of transport</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وَسِيلَةُ المُوَاصَلَاتِ</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service you need</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خِدْمَةٌ تَحْتَاجُ إِلَيْهَا</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describe where your home is</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صِفْ مَوْقِعَ بَيْتِكَ</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two locatives.</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New-resident registration form: model answers</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Nour Hussein</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نُورُ حُسَيْنٌ</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12 Park Street</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١٢ شَارِعُ الحَدِيقَةِ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العُنْوَانُ الجَدِيدُ</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third-floor flat</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شَقَّةٌ فِي الطَّابِقِ الثَّالِثِ</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نَوْعُ السَّكَنِ</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five</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خَمْسَةٌ</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عَدَدُ أَفْرَادِ الأُسْرَةِ</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 Noor School</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مَدْرَسَةُ النُّورِ</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أَقْرَبُ مَدْرَسَةٍ</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bus and train</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الحَافِلَةُ وَالقِطَارُ</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وَسِيلَةُ المُوَاصَلَاتِ</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nearby public library</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مَكْتَبَةٌ عَامَّةٌ قَرِيبَةٌ</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خِدْمَةٌ تَحْتَاجُ إِلَيْهَا</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000" dirty="0">
                <a:solidFill>
                  <a:srgbClr val="5A6472"/>
                </a:solidFill>
                <a:latin typeface="Calibri" pitchFamily="34" charset="0"/>
                <a:cs typeface="Amiri" pitchFamily="2" charset="-78"/>
              </a:rPr>
              <a:t>My home is opposite the park, between the mosque and the bakery.</a:t>
            </a:r>
            <a:endParaRPr lang="en-US" sz="10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بَيْتِي مُقَابِلَ الحَدِيقَةِ، بَيْنَ المَسْجِدِ وَالمَخْبَزِ.</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صِفْ مَوْقِعَ بَيْتِكَ</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welcome to my town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أَهْلًا بِكِ فِي مَدِينَتِي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A friend is coming to visit your town. Write an email in Arabic of about 80–90 words. You must include: • where you live and what is near your home • what there is in your town • something new that opened or was built recently • your opinion of the town and what you will do together.</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yūjadu / tūjadu and two locatives.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(or passive)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فِي … بَيْتِي مُقَابِلَ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live in … my house is opposite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مَدِينَتِي يُوجَدُ … وَتُوجَدُ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town there is … and there are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الأُسْبُوعِ المَاضِي فُتِحَ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week … opened (was opened)</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تَأْتِينَ، سَنَزُورُ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you come, we will visit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friend is visiting: write her an email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سَتَزُورُكِ صَدِيقَتُكِ فِي مَدِينَتِكِ. اكْتُبِي لَهَا رِسَالَةً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live; what is near your home</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أَيْنَ تَسْكُنِينَ؟ وَمَاذَا يُوجَدُ قُرْبَ بَيْتِكِ؟</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there is in your town</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يُوجَدُ فِي مَدِينَتِكِ؟</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Something new that opened or was built</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الجَدِيدُ الَّذِي افْتُتِحَ أَوْ بُنِيَ مُؤَخَّرًا؟</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what you will do together</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رَأْيُكِ فِي المَدِينَةِ؟ وَمَاذَا سَتَفْعَلَانِ مَعًا؟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live in a … area. My house is opposite …, and next to it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أَسْكُنُ فِي حَيٍّ ______ . بَيْتِي مُقَابِلَ ______ ، وَبِجَانِبِهِ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my town there is …, and there are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مَدِينَتِي يُوجَدُ ______ ، وَتُوجَدُ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Last week … opened.</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الأُسْبُوعِ المَاضِي فُتِحَ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town is …er than … When you come, we will visit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مَدِينَتِي أَ______ مِنْ ______ . عِنْدَمَا تَأْتِينَ، سَنَزُورُ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See you,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اللِّقَاءِ،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لَيْلَى،</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سَعِيدَةٌ جِدًّا لِأَنَّكِ سَتَزُورِينَنِي فِي مَدِينَتِي! أَسْكُنُ فِي حَيٍّ هَادِئٍ قُرْبَ وَسَطِ المَدِينَةِ. بَيْتِي مُقَابِلَ حَدِيقَةٍ كَبِيرَةٍ، وَبِجَانِبِهِ مَخْبَزٌ وَصَيْدَلِيَّةٌ. فِي مَدِينَتِي يُوجَدُ مَتْحَفٌ مَشْهُورٌ، وَتُوجَدُ أَسْوَاقٌ كَثِيرَةٌ وَمَطَاعِمُ لَذِيذَةٌ. فِي الأُسْبُوعِ المَاضِي فُتِحَ مَرْكَزٌ تِجَارِيٌّ جَدِيدٌ، وَذَهَبْتُ إِلَيْهِ مَعَ أُخْتِي. فِي رَأْيِي، مَدِينَتِي أَجْمَلُ مِنَ العَاصِمَةِ، لِأَنَّهَا أَهْدَأُ وَأَنْظَفُ. عِنْدَمَا تَأْتِينَ، سَنَزُورُ القَلْعَةَ القَدِيمَةَ، وَسَنَرْكَبُ القِطَارَ إِلَى البَحْرِ.</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إِلَى اللِّقَاءِ،</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نُورُ</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Layla, how are you? I’m so happy you’re visiting me in my town! I live in a quiet area near the centre. My house is opposite a big park, and next to it there’s a bakery and a chemist. In my town there is a famous museum, and lots of markets and delicious restaurants. Last week a new shopping centre opened, and I went with my sister. In my opinion my town is nicer than the capital, because it is quieter and cleaner. When you come, we’ll visit the old castle and take the train to the sea. See you, Nour.”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بَيْتِي مُقَابِلَ</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يُوجَدُ مَتْحَفٌ</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فُتِحَ مَرْكَزٌ</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أَهْدَأُ وَأَنْظَفُ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عَزِيزَتِي لَيْلَى،</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يَا لَهُ مِنْ خَبَرٍ سَعِيدٍ أَنَّكِ سَتَقْضِينَ عُطْلَتَكِ عِنْدَنَا! أَسْكُنُ فِي حَيٍّ سَكَنِيٍّ هَادِئٍ، لَا يَبْعُدُ عَنْ وَسَطِ المَدِينَةِ إِلَّا عَشْرَ دَقَائِقَ بِالحَافِلَةِ؛ فَبَيْتُنَا يَقَعُ مُقَابِلَ حَدِيقَةٍ وَاسِعَةٍ، بَيْنَ المَسْجِدِ وَالمَكْتَبَةِ العَامَّةِ. وَفِي مَدِينَتِنَا مَتْحَفٌ مَبْنِيٌّ مِنَ الحَجَرِ الأَبْيَضِ يَعُودُ إِلَى القَرْنِ التَّاسِعَ عَشَرَ، وَسُوقٌ شَعْبِيٌّ يُقَامُ كُلَّ سَبْتٍ. وَقَدِ افْتُتِحَتْ مُؤَخَّرًا مَكْتَبَةٌ رَقْمِيَّةٌ رَائِعَةٌ قَضَيْتُ فِيهَا يَوْمًا كَامِلًا. صَحِيحٌ أَنَّ مَدِينَتَنَا أَصْغَرُ مِنْ لَنْدَنَ، غَيْرَ أَنَّهَا أَدْفَأُ قَلْبًا. وَعِنْدَمَا تَصِلِينَ، سَأَصْحَبُكِ إِلَى القَلْعَةِ الَّتِي تُطِلُّ عَلَى المَدِينَةِ كُلِّهَا.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بِشَوْقٍ،</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نُورُ</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Layla, what happy news that you’ll spend your holiday with us! I live in a quiet residential area just ten minutes by bus from the centre: our house is opposite a large park, between the mosque and the public library. Our town has a museum built of white stone dating from the 19th century, and a traditional market held every Saturday. A wonderful digital library recently opened, where I spent a whole day. It’s true our town is smaller than London, but it has a warmer heart. When you arrive, I’ll take you to the castle that overlooks the whole town. With longing, Nour.”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يَبْعُدُ … إِلَّا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 المَسْجِدِ وَالمَكْتَبَةِ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مَبْنِيٌّ مِنَ الحَجَرِ</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قَدِ افْتُتِحَتْ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town and my neighbourhood</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مَدِينَتِي وَحَيِّي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Describing your town · your neighbourhood and its services · a comparison with a place you visited · your opinion and where you will live</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وَصْفُ مَدِينَتِكَ · حَيُّكَ وَخِدْمَاتُهُ · مُقَارَنَةٌ بِمَكَانٍ زُرْتَهُ · رَأْيُكَ وَأَيْنَ سَتَسْكُنُ فِي المُسْتَقْبَلِ</a:t>
            </a:r>
            <a:endParaRPr lang="ar-SA" sz="155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Cities of the future</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مُدُنُ المُسْتَقْبَلِ</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growth of cities · past and present · an example you saw · your opinion and suggestion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نُمُوُّ المُدُنِ · المَاضِي وَالحَاضِرُ · مِثَالٌ رَأَيْتَهُ · رَأْيُكَ وَاقْتِرَاحُكَ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TC-L08</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Your town — tūjadu mabānin ʿāliya, yūjadu markaz …; non-human plural agreement.</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Your neighbourhood — muqābila, bi-jānibi, bayna … wa-; what is missing (lā yūjadu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a visit to a village or another city: kānat al-buyūtu mabniyyatan min …; lam takun hunāka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Comparison + future — afḍalu / ahdaʾu min, sa-askunu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مُقَابِلَ بَيْتِي تُوجَدُ حَدِيقَةٌ، وَبِجَانِبِهِ مَسْجِدٌ.</a:t>
            </a:r>
            <a:endParaRPr lang="ar-SA" sz="255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opposite my house there is a park, and next to it a mosque.</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كَانَتِ البُيُوتُ مَبْنِيَّةً مِنَ الطِّينِ وَالحَجَرِ.</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the houses were built of mud and stone.</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سَأَسْكُنُ فِي مَدِينَةٍ صَغِيرَةٍ قُرْبَ البَحْرِ.</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live in a small town near the sea.</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أَسْكُنُ فِي مَدِينَةِ بِرْمِنْغْهَامَ. هِيَ مَدِينَةٌ كَبِيرَةٌ وَمُزْدَحِمَةٌ فِي وَسَطِ بَرِيطَانْيَا. فِيهَا تُوجَدُ مَبَانٍ عَالِيَةٌ كَثِيرَةٌ، وَيُوجَدُ مَرْكَزٌ تِجَارِيٌّ كَبِيرٌ جِدًّا، وَمَحَطَّةُ قِطَارٍ حَدِيثَةٌ. المُوَاصَلَاتُ فِيهَا سَرِيعَةٌ، لٰكِنَّ الشَّوَارِعَ مُزْدَحِمَةٌ فِي الصَّبَاحِ.</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بَيْتِي فِي حَيٍّ هَادِئٍ. مُقَابِلَ بَيْتِي تُوجَدُ حَدِيقَةٌ جَمِيلَةٌ، وَبِجَانِبِهِ مَسْجِدٌ صَغِيرٌ. مَدْرَسَتِي قَرِيبَةٌ، بَيْنَ المَكْتَبَةِ العَامَّةِ وَالمُسْتَشْفَى. أُحِبُّ حَيِّي، لِأَنَّ الجِيرَانَ لُطَفَاءُ، وَالخِدْمَاتِ جَيِّدَةٌ.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الشِّتَاءِ المَاضِي زُرْتُ قَرْيَةَ جَدِّي فِي بَاكِسْتَانَ. كَانَتِ القَرْيَةُ صَغِيرَةً وَهَادِئَةً جِدًّا. كَانَتِ البُيُوتُ مَبْنِيَّةً مِنَ الطِّينِ وَالحَجَرِ، وَلَمْ تَكُنْ هُنَاكَ مَحَلَّاتٌ كَبِيرَةٌ. لَعِبْتُ مَعَ أَبْنَاءِ عَمِّي فِي الحُقُولِ كُلَّ يَوْمٍ، وَكُنَّا نَشْرَبُ الحَلِيبَ الطَّازَجَ.</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رَأْيِي، المَدِينَةُ أَفْضَلُ لِلدِّرَاسَةِ وَالعَمَلِ، لٰكِنَّ القَرْيَةَ أَهْدَأُ وَأَنْظَفُ. فِي المُسْتَقْبَلِ سَأَسْكُنُ فِي مَدِينَةٍ صَغِيرَةٍ قُرْبَ البَحْرِ، لِأَنِّي أُرِيدُ الهُدُوءَ وَالخِدْمَاتِ مَعًا.</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Birmingham: a big, crowded city with tall buildings, a huge shopping centre and a modern station; fast transport, busy mornings → my quiet area: a park opposite, a mosque next door, school between the library and hospital; kind neighbours → last winter in my grandfather’s village in Pakistan: mud-and-stone houses, no big shops, fields and fresh milk → the city suits study and work, the village is calmer; in future I’ll live in a small town by the sea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تُوجَدُ مَبَانٍ عَالِيَةٌ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مُقَابِلَ بَيْتِي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كَانَتِ البُيُوتُ مَبْنِيَّةً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أَهْدَأُ وَأَنْظَفُ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TC-L08</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لِكُلِّ مَدِينَةٍ شَخْصِيَّةٌ، وَشَخْصِيَّةُ مَدِينَتِي بِرْمِنْغْهَامَ مَزِيجٌ مِنَ القَدِيمِ وَالحَدِيثِ؛ فَبِجَانِبِ المَصَانِعِ القَدِيمَةِ المَبْنِيَّةِ مِنَ الطُّوبِ الأَحْمَرِ، تَرْتَفِعُ أَبْرَاجٌ زُجَاجِيَّةٌ، وَمَكْتَبَةٌ عَامَّةٌ تُعَدُّ مِنْ أَكْبَرِ المَكْتَبَاتِ فِي أُورُوبَّا.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أَمَّا حَيِّي، فَهُوَ عَالَمٌ صَغِيرٌ مُتَكَامِلٌ؛ إِذْ يُوجَدُ فِيهِ كُلُّ مَا أَحْتَاجُ إِلَيْهِ: مَدْرَسَةٌ وَمَسْجِدٌ وَمَرْكَزٌ صِحِّيٌّ، وَسُوقٌ يَمْتَلِئُ بِالفَوَاكِهِ وَالتَّوَابِلِ مِنْ كُلِّ أَنْحَاءِ العَالَمِ. غَيْرَ أَنَّهُ يَنْقُصُهُ مَكَانٌ لِلشَّبَابِ يَجْتَمِعُونَ فِيهِ بَعْدَ المَدْرَسَةِ، مِمَّا يَدْفَعُ كَثِيرًا مِنْهُمْ إِلَى قَضَاءِ المَسَاءِ فِي الشَّوَارِعِ أَوْ أَمَامَ الشَّاشَاتِ.</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شَعَرْتُ بِالفَرْقِ بَيْنَ المَدِينَةِ وَالقَرْيَةِ حِينَ قَضَيْتُ شَهْرًا فِي قَرْيَةِ جَدِّي؛ فَهُنَاكَ لَا تُوجَدُ مُوَاصَلَاتٌ عَامَّةٌ، وَأَقْرَبُ مُسْتَشْفًى يَبْعُدُ سَاعَةً بِالسَّيَّارَةِ، لٰكِنَّ الجِيرَانَ كَانُوا يَتَقَاسَمُونَ الطَّعَامَ وَالأَخْبَارَ كُلَّ مَسَاءٍ.</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المَدِينَةَ تُوَفِّرُ الخِدْمَاتِ وَالفُرَصَ، غَيْرَ أَنَّهَا قَدْ تُفْقِدُنَا الدِّفْءَ الإِنْسَانِيَّ. وَلَوْ صُمِّمَتْ أَحْيَاءُ المُدُنِ بِحَيْثُ يَلْتَقِي سُكَّانُهَا فِي حَدَائِقَ وَمَرَاكِزَ مُشْتَرَكَةٍ، لَجَمَعْنَا بَيْنَ مَزَايَا المَكَانَيْنِ.</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المَبْنِيَّةِ مِنَ الطُّوبِ</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تُعَدُّ مِنْ أَكْبَرِ</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يَنْقُصُهُ مَكَانٌ</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صُمِّمَتْ … لَجَمَعْنَا</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Q3 (</a:t>
            </a:r>
            <a:pPr algn="l" indent="0" marL="0">
              <a:buNone/>
            </a:pPr>
            <a:r>
              <a:rPr lang="ar-SA" altLang="en-US" sz="2800" b="1" dirty="0">
                <a:solidFill>
                  <a:srgbClr val="1B3B6F"/>
                </a:solidFill>
                <a:latin typeface="Amiri" pitchFamily="2" charset="-78"/>
                <a:ea typeface="Amiri" pitchFamily="2" charset="-78"/>
                <a:cs typeface="Amiri" pitchFamily="2" charset="-78"/>
              </a:rPr>
              <a:t>ب</a:t>
            </a:r>
            <a:pPr algn="l" indent="0" marL="0">
              <a:buNone/>
            </a:pPr>
            <a:r>
              <a:rPr lang="en-US" sz="2150" b="1" dirty="0">
                <a:solidFill>
                  <a:srgbClr val="1B3B6F"/>
                </a:solidFill>
                <a:latin typeface="Cambria" pitchFamily="34" charset="0"/>
                <a:cs typeface="Amiri" pitchFamily="2" charset="-78"/>
              </a:rPr>
              <a:t>) full-mark model: cities of the future</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TC-L08</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يَعِيشُ اليَوْمَ أَكْثَرُ مِنْ نِصْفِ سُكَّانِ العَالَمِ فِي المُدُنِ، وَيُتَوَقَّعُ أَنْ تَرْتَفِعَ هٰذِهِ النِّسْبَةُ إِلَى الثُّلُثَيْنِ خِلَالَ ثَلَاثِينَ سَنَةً. فَكَيْفَ يَجِبُ أَنْ تَكُونَ مُدُنُ المُسْتَقْبَلِ لِكَيْ تَتَّسِعَ لِهٰذِهِ المَلَايِينِ؟</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المَاضِي كَانَتِ المُدُنُ تَنْمُو دُونَ تَخْطِيطٍ، فَتُبْنَى الأَحْيَاءُ المُزْدَحِمَةُ حَوْلَ المَصَانِعِ وَالطُّرُقِ السَّرِيعَةِ، أَمَّا اليَوْمَ فَيُدْرِكُ المُخَطِّطُونَ أَنَّ المَسَاحَاتِ الخَضْرَاءَ وَالمُوَاصَلَاتِ العَامَّةَ لَيْسَتْ رَفَاهِيَةً، بَلْ ضَرُورَةً لِصِحَّةِ السُّكَّانِ.</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رَأَيْتُ نَمُوذَجًا مُدْهِشًا عِنْدَمَا زُرْتُ سِنْغَافُورَةَ مَعَ أُسْرَتِي؛ فَالمَبَانِي هُنَاكَ مُغَطَّاةٌ بِالنَّبَاتَاتِ، وَالحَدَائِقُ مُعَلَّقَةٌ بَيْنَ الأَبْرَاجِ، وَالقِطَارَاتُ تَصِلُ إِلَى كُلِّ حَيٍّ فِي دَقَائِقَ، مِمَّا يَجْعَلُ السَّيَّارَةَ غَيْرَ ضَرُورِيَّةٍ تَقْرِيبًا. وَأَدْهَشَنِي أَنَّ دَرَجَةَ الحَرَارَةِ فِي الشَّوَارِعِ المُشَجَّرَةِ كَانَتْ أَقَلَّ بِوُضُوحٍ مِنْ غَيْرِهَا.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بِنَاءَ مُدُنٍ كَهٰذِهِ مُكْلِفٌ، غَيْرَ أَنَّ تَكْلِفَةَ التَّلَوُّثِ وَالزَّحْمَةِ أَعْلَى بِكَثِيرٍ. وَإِذَا اسْتَثْمَرَتِ الحُكُومَاتُ فِي مَبَانٍ صَدِيقَةٍ لِلْبِيئَةِ وَمُوَاصَلَاتٍ نَظِيفَةٍ، فَسَتُصْبِحُ المُدُنُ أَمَاكِنَ نَعِيشُ فِيهَا، لَا أَمَاكِنَ نَهْرُبُ مِنْهَا.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يُتَوَقَّعُ أَنْ</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فَتُبْنَى الأَحْيَاءُ</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لَيْسَتْ رَفَاهِيَةً، بَلْ</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اسْتَثْمَرَتْ … فَسَتُصْبِحُ</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the last box has two locatives.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yūjadu / tūjadu agree, and a past passive (futiḥa).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with a comparison and mabnī min.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concession and law … la- or idhā … fa-sa-.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TC-L09 · Exam practice · Speaking and writing workshops — the next Topic C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TC-L08 · Writing Workshop — Buildings, Services and Urban Areas</dc:title>
  <dc:subject>PptxGenJS Presentation</dc:subject>
  <dc:creator>Al Madina Online School · Arabic Department</dc:creator>
  <cp:lastModifiedBy>Al Madina Online School · Arabic Department</cp:lastModifiedBy>
  <cp:revision>1</cp:revision>
  <dcterms:created xsi:type="dcterms:W3CDTF">2026-10-11T09:55:02Z</dcterms:created>
  <dcterms:modified xsi:type="dcterms:W3CDTF">2026-10-11T09:55:02Z</dcterms:modified>
</cp:coreProperties>
</file>