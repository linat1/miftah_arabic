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C, Lesson 7 (Documents, Texts and Digital Information, TC-L07).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Box 2: nisba adjective (m. / f.). Box 8: al-mawqiʿ alladhī ḥajaztu minhu (relative + resumptive pronoun).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مَنْ (who) · كَمْ (how many) · أَيُّ (which) · لِمَاذَا (why) · اسْأَلْ (ask!) — bullet 3 can be PAST; bullet 4 needs two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(83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(111 words). Core model: booking verbs in three tenses, a passive (ursila), thalāthi sāʿātin, a problem → solution, a comparative opinion and a future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(131 words). Full-mark model: a hook that challenges a belief, a passive (kullif-tu), a relative clause without alladhī (shaqqa qaraʾtu ʿanhā), a reason with qad, ghayra anna as a turn, alladhī ḥajaznā ʿan ṭarīqihi, a concession and law lam … la-.
ENGLISH SUMMARY (read aloud or paste in the chat for Core students): Many think travel starts at the airport, but I learnt the real trip starts at a computer screen: last summer I was put in charge of organising my family’s whole trip to Jordan for the first time → I compared prices on several sites, then booked return tickets and a flat in Amman with dozens of positive reviews; I also filled in the e-visa form carefully, since any mistake in names or numbers could get the application rejected; two days later an email confirmed it had been accepted → the surprise came on arrival: the owner had cancelled without telling us! After an anxious hour I contacted the site we booked through, and they found us a better hotel for the same price → online booking has made life easier, but it needs attention and patience; “if I hadn’t kept the confirmation on my phone, we’d have been on the street that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(132 words). Full-mark model for the Stretch title: lam yaʿud, a metaphor, a rhetorical question, kāna + present vs ammā … fa-, passives (tunjazu, tursalu, suriqa), mimmā, a concession and idhā … fa-sa- … dūna an.
ENGLISH SUMMARY (read aloud or paste in the chat for Core students): Nobody carries a paper ticket or printed map any more: the phone has become a wallet holding our cards, tickets and documents — so is this change a blessing or a danger? → in the past travellers queued for hours at offices to book a ticket or renew a passport; today these transactions are done in minutes and documents are emailed instantly, saving time and paper — my grandfather even renewed his passport last year without leaving home → but convenience has a price: last year my uncle got an official-looking message asking him to enter his bank details to confirm a flight booking, and hours later a large sum was stolen from his account, and he only got it back weeks later → digital documents are faster and greener, but protecting them is everyone’s responsibility; “if we learn to check websites and use strong passwords, we will benefit from this digital world without becoming its victims”.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EXAM PRACTICE  ·  TC-L07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Documents and Digital Information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الوَثَائِقُ وَالمَعْلُومَاتُ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fill in a hotel registration form, write a booking email to a hotel, and write an extended piece about organising a trip or about digital documents.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TC-L07 · Advanced Topic C · The World Around Us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 hotel booking email.</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the right tense for each booking verb (ḥajaztu / aḥjizu / sa-aḥjizu); passive verbs agree with the new subject (ursilat at-tadhākir); alladhī / allatī agree with the noun and need a pronoun when it is the object (allatī ḥajaztuhā).</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أَوَدُّ أَنْ أَحْجِزَ غُرْفَتَيْنِ</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 would like to book two rooms</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الغُرَفُ الَّتِي تُطِلُّ عَلَى البَحْرِ</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rooms which overlook the sea</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أُرْسِلَ التَّأْكِيدُ إِلَى هَاتِفِي</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confirmation was sent to my phone</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Hotel registration card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بِطَاقَةُ تَسْجِيلِ النُّزَلَاءِ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Full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 الكَامِلُ</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Nationality</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الجِنْسِيَّةُ</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المِيلَادِ</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Passport number</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رَقْمُ جَوَازِ السَّفَرِ</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Arrival and departure dates</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الوُصُولِ وَالمُغَادَرَةِ</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Room type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نَوْعُ الغُرْفَةِ</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special request</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طَلَبٌ خَاصٌّ</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how you heard about the hotel</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كَيْفَ عَرَفْتَ الفُنْدُقَ؟</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is a full sentence with a relative clause (alladhī).</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Hotel registration card: model answers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Ahmed</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يُوسُفُ أَحْمَدُ</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 الكَامِلُ</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British</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بَرِيطَانِيٌّ</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الجِنْسِيَّةُ</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March 2009</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٣ مَارِس ٢٠٠٩</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المِيلَادِ</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548291736</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٥٤٨٢٩١٧٣٦</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رَقْمُ جَوَازِ السَّفَرِ</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 to 15 July</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١٠ إِلَى ١٥ يُولْيُو</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الوُصُولِ وَالمُغَادَرَةِ</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double room</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مُزْدَوَجَةٌ</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نَوْعُ الغُرْفَةِ</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quiet room away from the lift</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غُرْفَةٌ هَادِئَةٌ بَعِيدَةٌ عَنِ المِصْعَدِ</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طَلَبٌ خَاصٌّ</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read excellent reviews of it on the website I booked through.</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cs typeface="Amiri" pitchFamily="2" charset="-78"/>
              </a:rPr>
              <a:t>قَرَأْتُ عَنْهُ تَعْلِيقَاتٍ مُمْتَازَةً عَلَى المَوْقِعِ الَّذِي حَجَزْتُ مِنْهُ.</a:t>
            </a:r>
            <a:endParaRPr lang="ar-SA" sz="165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كَيْفَ عَرَفْتَ الفُنْدُقَ؟</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2: email to a hotel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حَجْزٍ إِلَى فُنْدُقٍ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You want to book a hotel for your family holiday. Write an email in Arabic to the hotel of about 80–90 words. You must include: • who you are and how many people • the dates and the room(s) you want • why you chose this hotel (a past stay or reviews) • two questions about the hotel or services.</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polite greeting and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Dates, numbers and the room type.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AND a future sentence.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أَحْجِزَ … لِأَرْبَعَةِ أَشْخَاصٍ</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book … for four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سَنَصِلُ يَوْمَ … وَسَنُقِيمُ … لَيَالٍ</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will arrive on … and stay … nights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السَّنَةِ المَاضِيَةِ أَقَمْنَا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year we stayed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عِنْدَكُمْ …؟ وَكَمْ سِعْرُ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do you have …? and how much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 a hotel for your family holiday: write to the hotel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cs typeface="Amiri" pitchFamily="2" charset="-78"/>
              </a:rPr>
              <a:t>تُرِيدُ أَنْ تَحْجِزَ فُنْدُقًا لِعُطْلَةِ أُسْرَتِكَ. اكْتُبْ رِسَالَةً إِلَى الفُنْدُقِ (٨٠–٩٠ كَلِمَةً).</a:t>
            </a:r>
            <a:endParaRPr lang="ar-SA" sz="175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you are and how many people</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مَنْ أَنْتَ؟ وَكَمْ شَخْصًا؟</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dates and the room(s) you want</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التَّوَارِيخُ؟ وَأَيُّ غُرْفَةٍ تُرِيدُ؟</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you chose this hotel</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لِمَاذَا اخْتَرْتَ هٰذَا الفُنْدُقَ؟</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questions about the hotel or services</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اسْأَلْ سُؤَالَيْنِ عَنِ الفُنْدُقِ أَوِ الخِدْمَاتِ.</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Peace be upon you (formal greeting),</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السَّلَامُ عَلَيْكُمْ،</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book a room for me and my family. We are … people.</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أَنْ أَحْجِزَ غُرْفَةً لِي وَلِأُسْرَتِي. نَحْنُ ______ أَشْخَاصٍ.</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arrive on … and stay … nights. We want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سَنَصِلُ يَوْمَ ______ ، وَسَنُقِيمُ ______ لَيَالٍ. نُرِيدُ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year …, and the service was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السَّنَةِ المَاضِيَةِ ______ ، وَكَانَتِ الخِدْمَةُ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have …? How much is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هَلْ عِنْدَكُمْ ______ ؟ وَكَمْ سِعْرُ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With thanks,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 الشُّكْرِ،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السَّلَامُ عَلَيْكُمْ،</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أُرِيدُ أَنْ أَحْجِزَ غُرْفَةً فِي فُنْدُقِكُمْ لِي وَلِأُسْرَتِي. نَحْنُ أَرْبَعَةُ أَشْخَاصٍ: أَنَا وَأَبِي وَأُمِّي وَأَخِي الصَّغِيرُ. سَنَصِلُ يَوْمَ السَّبْتِ العَاشِرِ مِنْ يُولْيُو، وَسَنُقِيمُ خَمْسَ لَيَالٍ. نُرِيدُ غُرْفَتَيْنِ مُطِلَّتَيْنِ عَلَى البَحْرِ، مَعَ الفُطُورِ. فِي السَّنَةِ المَاضِيَةِ أَقَمْنَا فِي فُنْدُقِكُمْ، وَكَانَتِ الخِدْمَةُ مُمْتَازَةً. هَلْ عِنْدَكُمْ مَوْقِفٌ لِلسَّيَّارَاتِ؟ وَكَمْ سِعْرُ اللَّيْلَةِ؟ أَرْجُو أَنْ تُرْسِلُوا التَّأْكِيدَ إِلَى بَرِيدِي الإِلِكْتْرُونِيِّ.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مَعَ الشُّكْرِ،</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يُوسُفُ أَحْمَدُ</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I want to book a room in your hotel for me and my family. We are four people: me, my father, my mother and my little brother. We will arrive on Saturday 10 July and stay five nights. We want two sea-view rooms with breakfast. Last year we stayed in your hotel and the service was excellent. Do you have a car park? And how much is a night? Please send the confirmation to my email. With thanks, Yusuf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أُرِيدُ أَنْ أَحْجِزَ</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سَنُقِيمُ خَمْسَ لَيَالٍ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أَقَمْنَا فِي فُنْدُقِكُمْ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هَلْ عِنْدَكُمْ</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700" dirty="0">
                <a:solidFill>
                  <a:srgbClr val="1F2A37"/>
                </a:solidFill>
                <a:latin typeface="Amiri" pitchFamily="2" charset="-78"/>
                <a:cs typeface="Amiri" pitchFamily="2" charset="-78"/>
              </a:rPr>
              <a:t>حَضْرَةَ مُدِيرِ فُنْدُقِ النَّخِيلِ المُحْتَرَمِ،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تَحِيَّةً طَيِّبَةً، وَبَعْدُ، فَأَوَدُّ أَنْ أَحْجِزَ غُرْفَتَيْنِ لِأُسْرَتِي المُكَوَّنَةِ مِنْ أَرْبَعَةِ أَفْرَادٍ، مِنَ العَاشِرِ إِلَى الخَامِسَ عَشَرَ مِنْ يُولْيُو. وَنُفَضِّلُ الغُرَفَ الَّتِي تُطِلُّ عَلَى البَحْرِ، مَعَ وَجْبَةِ الفُطُورِ. وَقَدْ أَقَمْنَا عِنْدَكُمْ فِي الصَّيْفِ المَاضِي، وَأَعْجَبَتْنَا نَظَافَةُ الغُرَفِ وَلُطْفُ المُوَظَّفِينَ، لِذٰلِكَ لَمْ نُفَكِّرْ فِي فُنْدُقٍ آخَرَ. وَأَرْجُو أَنْ تُخْبِرُونِي بِسِعْرِ اللَّيْلَةِ، وَهَلْ تُوجَدُ خِدْمَةُ النَّقْلِ مِنَ المَطَارِ، لِأَنَّ طَائِرَتَنَا تَصِلُ فِي مُنْتَصَفِ اللَّيْلِ. وَبَعْدَ تَأْكِيدِ الحَجْزِ، سَأُرْسِلُ صُورَةً مِنْ جَوَازَاتِ السَّفَرِ كَمَا تَطْلُبُونَ.</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وَتَفَضَّلُوا بِقَبُولِ فَائِقِ الاحْتِرَامِ،</a:t>
            </a:r>
            <a:endParaRPr lang="ar-SA" sz="1700" dirty="0"/>
          </a:p>
          <a:p>
            <a:pPr rtl="1" algn="r" indent="0" marL="0">
              <a:lnSpc>
                <a:spcPct val="120000"/>
              </a:lnSpc>
              <a:buNone/>
            </a:pPr>
            <a:r>
              <a:rPr lang="ar-SA" altLang="en-US" sz="1700" dirty="0">
                <a:solidFill>
                  <a:srgbClr val="1F2A37"/>
                </a:solidFill>
                <a:latin typeface="Amiri" pitchFamily="2" charset="-78"/>
                <a:cs typeface="Amiri" pitchFamily="2" charset="-78"/>
              </a:rPr>
              <a:t>يُوسُفُ أَحْمَدُ</a:t>
            </a:r>
            <a:endParaRPr lang="ar-SA" sz="17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“Dear Manager of the Palm Hotel, I would like to book two rooms for my family of four, from 10 to 15 July. We prefer rooms that overlook the sea, with breakfast. We stayed with you last summer and loved the clean rooms and friendly staff, so we didn’t consider another hotel. Please tell me the price per night, and whether there is an airport transfer service, as our plane lands at midnight. Once the booking is confirmed, I will send a copy of our passports as you require. Yours respectfully, Yusuf Ahmed.”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أَوَدُّ أَنْ أَحْجِزَ</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الغُرَفَ الَّتِي تُطِلُّ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أَعْجَبَتْنَا نَظَافَةُ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بَعْدَ تَأْكِيدِ الحَجْزِ، سَأُرْسِلُ</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trip I organised myself</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رِحْلَةٌ نَظَّمْتُهَا بِنَفْسِي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Booking before travelling · documents and procedures · a problem and how it was solved · your opinion and plans</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600" b="1" dirty="0">
                <a:solidFill>
                  <a:srgbClr val="1B3B6F"/>
                </a:solidFill>
                <a:latin typeface="Amiri" pitchFamily="2" charset="-78"/>
                <a:cs typeface="Amiri" pitchFamily="2" charset="-78"/>
              </a:rPr>
              <a:t>الحَجْزُ قَبْلَ السَّفَرِ · الوَثَائِقُ وَالإِجْرَاءَاتُ · مُشْكِلَةٌ حَدَثَتْ وَكَيْفَ حُلَّتْ · رَأْيُكَ وَخِطَطُكَ</a:t>
            </a:r>
            <a:endParaRPr lang="ar-SA" sz="16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Digital documents: convenience or danger?</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الوَثَائِقُ الرَّقْمِيَّةُ: سُهُولَةٌ أَمْ خَطَرٌ؟</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move to digital · past and present · a real example · your opinion and advice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التَّحَوُّلُ إِلَى الرَّقْمِيِّ · المَاضِي وَالحَاضِرُ · مِثَالٌ مِنَ الوَاقِعِ · رَأْيُكَ وَنَصِيحَتُكَ</a:t>
            </a:r>
            <a:endParaRPr lang="ar-SA" sz="17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Booking — ḥajaznā tadhākir … wa-shaqqa; a passive (ursila at-taʾkīd).</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Documents and the journey — jawāzāt as-safar, at-tadhākir al-iliktrūniyya; sequence (thumma, baʿda).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problem — ḥadathat mushkila: nasiya … / alghā …; how it was solved (fa-).</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future — al-ḥajz ʿalā al-intarnit mufīd li-anna …, sa-aḥjizu …; Stretch: ṣaḥīḥun anna … ghayra anna, law lam … la-.</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أُفَضِّلُ الحَجْزَ عَلَى الإِنْتَرْنِتِ، لِأَنَّهُ أَسْرَعُ.</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I prefer booking online, because it is faster.</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حَجَزْنَا شَقَّةً، وَأُرْسِلَ التَّأْكِيدُ إِلَى هَاتِفِ أَبِي.</a:t>
            </a:r>
            <a:endParaRPr lang="ar-SA" sz="24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we booked a flat, and the confirmation was sent to Dad’s phone.</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سَأَحْجِزُ أَنَا الرِّحْلَةَ فِي الصَّيْفِ القَادِمِ.</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I will book the trip myself next summer.</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فِي الصَّيْفِ المَاضِي سَافَرْتُ مَعَ أُسْرَتِي إِلَى المَغْرِبِ. قَبْلَ السَّفَرِ حَجَزْنَا تَذَاكِرَ الطَّائِرَةِ عَلَى الإِنْتَرْنِتِ، وَحَجَزْنَا شَقَّةً جَمِيلَةً فِي مَرَّاكُشَ. كَانَ الحَجْزُ سَهْلًا وَسَرِيعًا، وَأُرْسِلَ التَّأْكِيدُ إِلَى هَاتِفِ أَبِي.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المَطَارِ أَظْهَرْنَا جَوَازَاتِ السَّفَرِ وَالتَّذَاكِرَ الإِلِكْتْرُونِيَّةَ. ثُمَّ رَكِبْنَا الطَّائِرَةَ، وَوَصَلْنَا بَعْدَ ثَلَاثِ سَاعَاتٍ. أَقَمْنَا فِي الشَّقَّةِ أُسْبُوعًا كَامِلًا. كَانَتْ نَظِيفَةً وَقَرِيبَةً مِنَ السُّوقِ القَدِيمِ، وَكَانَ صَاحِبُهَا لَطِيفًا جِدًّا.</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لٰكِنْ حَدَثَتْ مُشْكِلَةٌ صَغِيرَةٌ: نَسِيَ أَخِي جَوَازَ سَفَرِهِ فِي الشَّقَّةِ يَوْمَ الرُّجُوعِ! رَجَعَ أَبِي بِسُرْعَةٍ بِسَيَّارَةِ أُجْرَةٍ، وَوَصَلْنَا إِلَى المَطَارِ فِي آخِرِ دَقِيقَةٍ.</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فِي رَأْيِي، الحَجْزُ عَلَى الإِنْتَرْنِتِ مُفِيدٌ جِدًّا، لِأَنَّهُ أَرْخَصُ وَأَسْرَعُ. لٰكِنْ يَجِبُ أَنْ نَحْفَظَ الوَثَائِقَ فِي مَكَانٍ آمِنٍ. فِي الصَّيْفِ القَادِمِ سَأَحْجِزُ أَنَا الرِّحْلَةَ إِلَى إِسْبَانْيَا، وَسَأَصْنَعُ قَائِمَةً بِكُلِّ الوَثَائِقِ.</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Last summer my family went to Morocco: before travelling we booked plane tickets online and a lovely flat in Marrakech; booking was quick and easy and the confirmation was sent to Dad’s phone → at the airport we showed our passports and e-tickets, flew three hours and stayed a whole week in the flat — clean and near the old market, with a very kind owner → a small problem: my brother forgot his passport in the flat on the way home! Dad went back by taxi and we reached the airport at the last minute → online booking is very useful — cheaper and faster — but we must keep documents somewhere safe; next summer I’ll book the trip to Spain myself and make a list of all the documents.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حَجَزْنَا تَذَاكِرَ</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أُرْسِلَ التَّأْكِيدُ</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أَقَمْنَا فِي الشَّقَّةِ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سَأَحْجِزُ أَنَا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يَظُنُّ كَثِيرُونَ أَنَّ السَّفَرَ يَبْدَأُ فِي المَطَارِ، لٰكِنِّي تَعَلَّمْتُ أَنَّ الرِّحْلَةَ الحَقِيقِيَّةَ تَبْدَأُ أَمَامَ شَاشَةِ الحَاسُوبِ؛ فَفِي الصَّيْفِ المَاضِي كُلِّفْتُ لِأَوَّلِ مَرَّةٍ بِتَنْظِيمِ رِحْلَةِ أُسْرَتِي إِلَى الأُرْدُنِّ كُلِّهَا.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قَارَنْتُ أَسْعَارَ الرِّحْلَاتِ عَلَى عِدَّةِ مَوَاقِعَ، ثُمَّ حَجَزْتُ تَذَاكِرَ ذَهَابٍ وَإِيَابٍ، وَشَقَّةً فِي عَمَّانَ قَرَأْتُ عَنْهَا عَشَرَاتِ التَّعْلِيقَاتِ الإِيجَابِيَّةِ. كَمَا مَلَأْتُ اسْتِمَارَةَ التَّأْشِيرَةِ الإِلِكْتْرُونِيَّةِ بِدِقَّةٍ، لِأَنَّ أَيَّ خَطَأٍ فِي الأَسْمَاءِ أَوِ الأَرْقَامِ قَدْ يُسَبِّبُ رَفْضَ الطَّلَبِ. وَبَعْدَ يَوْمَيْنِ، وَصَلَتْ إِلَى بَرِيدِي رِسَالَةٌ تُؤَكِّدُ أَنَّ الطَّلَبَ قُبِلَ.</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غَيْرَ أَنَّ المُفَاجَأَةَ جَاءَتْ عِنْدَ الوُصُولِ؛ فَقَدِ اكْتَشَفْنَا أَنَّ صَاحِبَ الشَّقَّةِ أَلْغَى الحَجْزَ دُونَ أَنْ يُخْبِرَنَا! وَبَعْدَ سَاعَةٍ مِنَ القَلَقِ، تَوَاصَلْتُ مَعَ المَوْقِعِ الَّذِي حَجَزْنَا عَنْ طَرِيقِهِ، فَوَجَدُوا لَنَا فُنْدُقًا أَفْضَلَ بِالسِّعْرِ نَفْسِهِ.</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صَحِيحٌ أَنَّ الحَجْزَ الإِلِكْتْرُونِيَّ سَهَّلَ حَيَاتَنَا، غَيْرَ أَنَّهُ يَحْتَاجُ إِلَى انْتِبَاهٍ وَصَبْرٍ. وَلَوْ لَمْ أَحْتَفِظْ بِرِسَالَةِ التَّأْكِيدِ عَلَى هَاتِفِي، لَبَقِينَا فِي الشَّارِعِ تِلْكَ اللَّيْلَةَ.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كُلِّفْتُ لِأَوَّلِ مَرَّةٍ</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قَرَأْتُ عَنْهَا</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دُونَ أَنْ يُخْبِرَنَا</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لَمْ أَحْتَفِظْ … لَبَقِينَا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Q3 (</a:t>
            </a:r>
            <a:pPr algn="l" indent="0" marL="0">
              <a:buNone/>
            </a:pPr>
            <a:r>
              <a:rPr lang="ar-SA" altLang="en-US" sz="2600" b="1" dirty="0">
                <a:solidFill>
                  <a:srgbClr val="1B3B6F"/>
                </a:solidFill>
                <a:latin typeface="Amiri" pitchFamily="2" charset="-78"/>
                <a:cs typeface="Amiri" pitchFamily="2" charset="-78"/>
              </a:rPr>
              <a:t>ب</a:t>
            </a:r>
            <a:pPr algn="l" indent="0" marL="0">
              <a:buNone/>
            </a:pPr>
            <a:r>
              <a:rPr lang="en-US" sz="2000" b="1" dirty="0">
                <a:solidFill>
                  <a:srgbClr val="1B3B6F"/>
                </a:solidFill>
                <a:latin typeface="Cambria" pitchFamily="34" charset="0"/>
                <a:cs typeface="Amiri" pitchFamily="2" charset="-78"/>
              </a:rPr>
              <a:t>) full-mark model: convenience or danger?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800" dirty="0">
                <a:solidFill>
                  <a:srgbClr val="1F2A37"/>
                </a:solidFill>
                <a:latin typeface="Amiri" pitchFamily="2" charset="-78"/>
                <a:cs typeface="Amiri" pitchFamily="2" charset="-78"/>
              </a:rPr>
              <a:t>لَمْ يَعُدْ أَحَدٌ يَحْمِلُ تَذْكِرَةً وَرَقِيَّةً أَوْ خَرِيطَةً مَطْبُوعَةً؛ فَالهَاتِفُ أَصْبَحَ مَحْفَظَةً تَحْتَوِي عَلَى بِطَاقَاتِنَا وَتَذَاكِرِنَا وَوَثَائِقِنَا. فَهَلْ هٰذَا التَّحَوُّلُ نِعْمَةٌ أَمْ خَطَرٌ؟</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فِي المَاضِي كَانَ المُسَافِرُ يَقِفُ سَاعَاتٍ فِي طَوَابِيرِ المَكَاتِبِ لِيَحْجِزَ تَذْكِرَةً أَوْ يُجَدِّدَ جَوَازَهُ، أَمَّا اليَوْمَ فَتُنْجَزُ هٰذِهِ المُعَامَلَاتُ فِي دَقَائِقَ، وَتُرْسَلُ الوَثَائِقُ إِلَى بَرِيدِهِ الإِلِكْتْرُونِيِّ فَوْرًا، مِمَّا يُوَفِّرُ الوَقْتَ وَالوَرَقَ مَعًا. بَلْ إِنَّ جَدِّي نَفْسَهُ جَدَّدَ جَوَازَهُ العَامَ المَاضِي دُونَ أَنْ يُغَادِرَ بَيْتَهُ.</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لٰكِنَّ لِهٰذِهِ السُّهُولَةِ ثَمَنًا؛ فَقَدْ تَلَقَّى خَالِي العَامَ المَاضِي رِسَالَةً تَبْدُو رَسْمِيَّةً تَطْلُبُ مِنْهُ أَنْ يُسَجِّلَ بَيَانَاتِهِ البَنْكِيَّةَ لِتَأْكِيدِ حَجْزِ طَيَرَانٍ، وَبَعْدَ سَاعَاتٍ سُرِقَ مِنْ حِسَابِهِ مَبْلَغٌ كَبِيرٌ، وَلَمْ يَسْتَرْجِعْهُ إِلَّا بَعْدَ أَسَابِيعَ.</a:t>
            </a:r>
            <a:endParaRPr lang="ar-SA" sz="1800" dirty="0"/>
          </a:p>
          <a:p>
            <a:pPr rtl="1" algn="r" indent="0" marL="0">
              <a:lnSpc>
                <a:spcPct val="120000"/>
              </a:lnSpc>
              <a:buNone/>
            </a:pPr>
            <a:r>
              <a:rPr lang="ar-SA" altLang="en-US" sz="1800" dirty="0">
                <a:solidFill>
                  <a:srgbClr val="1F2A37"/>
                </a:solidFill>
                <a:latin typeface="Amiri" pitchFamily="2" charset="-78"/>
                <a:cs typeface="Amiri" pitchFamily="2" charset="-78"/>
              </a:rPr>
              <a:t>صَحِيحٌ أَنَّ الوَثَائِقَ الرَّقْمِيَّةَ أَسْرَعُ وَأَنْظَفُ لِلْبِيئَةِ، غَيْرَ أَنَّ حِمَايَتَهَا مَسْؤُولِيَّتُنَا جَمِيعًا. وَإِذَا تَعَلَّمْنَا كَيْفَ نَتَأَكَّدُ مِنَ المَوَاقِعِ وَنَسْتَخْدِمُ كَلِمَاتِ سِرٍّ قَوِيَّةً، فَسَنَسْتَفِيدُ مِنْ هٰذَا العَالَمِ الرَّقْمِيِّ دُونَ أَنْ نَقَعَ ضَحَايَا لَهُ.</a:t>
            </a:r>
            <a:endParaRPr lang="ar-SA" sz="180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لَمْ يَعُدْ أَحَدٌ</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اليَوْمَ فَتُنْجَزُ</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سُرِقَ مِنْ حِسَابِهِ</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إِذَا تَعَلَّمْنَا … فَسَنَسْتَفِيدُ</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TC-L07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C · Writing workshop · TC-L07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dates and numbers are clear.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including two questions.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booking verbs in two tenses and a polite request (arjū an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passive verb and a relative clause.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a problem solved, a concession and law lam … la-.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TC-L08 · Exam practice · Speaking and writing workshops — the next Topic C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TC-L07 · Writing Workshop — Documents and Digital Information</dc:title>
  <dc:subject>PptxGenJS Presentation</dc:subject>
  <dc:creator>Al Madina Online School · Arabic Department</dc:creator>
  <cp:lastModifiedBy>Al Madina Online School · Arabic Department</cp:lastModifiedBy>
  <cp:revision>1</cp:revision>
  <dcterms:created xsi:type="dcterms:W3CDTF">2026-10-11T09:51:20Z</dcterms:created>
  <dcterms:modified xsi:type="dcterms:W3CDTF">2026-10-11T09:51:20Z</dcterms:modified>
</cp:coreProperties>
</file>