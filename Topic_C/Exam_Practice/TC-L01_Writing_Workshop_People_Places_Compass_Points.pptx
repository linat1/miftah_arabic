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WORKSHOP AT A GLANCE — 60 minutes on Teams; individual writing with live feedback (shared document or paper + photo).
0–2 Welcome · 2–6 How Paper 4 works · 6–14 Q1 form filling + model · 14–17 Q2 the task, in English and Arabic · 17–19 Q2 frames (Core) · 19–31 Q2 writing · 31–35 Q2 models · 35–38 Q3 choose a title + plan · 38–54 Q3 writing (Stretch) / Q2 redraft (Core) · 54–58 Q3 models + self-check · 58–60 Close.
Content: teacher-made exam questions for Advanced Topic C, Lesson 1 (People, Places, Continents and Compass Points, TC-L01). Every question has Core · Develop · Stretch support; models are given at two levels (a secure Core answer and a full-mark answer).
EXAM FORMAT: Paper 4 Writing — Q1 form filling, Q2 directed writing (about 80–90 words), Q3 extended writing (one title from two, about 130–150 words), following the Cambridge IGCSE Arabic 0544 format. Check word counts and marks against the current syllabus and the past paper you use.
Q3 in one lesson: Stretch students write Q3 in class; Core students redraft Q2 and plan Q3, then write Q3 for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MAP (1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(3 min). The two biggest losses: a missed bullet point (Q2) and staying in one tense (Q3). Word counts are a guide: far too short cannot cover the task; far too long creates errors.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 FORM FILLING. About 8 minutes. Core: boxes 1–6. Develop / Stretch: all 8. Box 2: a girl writes biriṭāniyya. Boxes 4 and 7: compass points in iḍāfa.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 students check their own form and correct one answer in a different colour.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Q2 TASK (3 min to read and plan). Students number the four bullets 1–4 in the margin and tick each one as they write it.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Question words: أَيْنَ (where) · صِفْ (describe) · مَاذَا (what) · مَا رَأْيُكَ (your opinion) — bullet 2 is a DUAL: ṣadīqayni jadīdayni, jinsiyyatuhumā.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WRITE (12 min). Live feedback: check bullet coverage first, then verb endings and agreement. Core completes the frames; Develop adds detail; Stretch writes freely and reaches 90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(62 words). A Core model: every bullet answered in short, accurate sentences. Show how ONE extra detail per bullet brings it to 80–90 words.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(87 words). Full-mark model: all four bullets, a range of linking words, an opinion with a reason and a contrast. Students compare with their own: what can I add?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Q3 (3 min to choose and read). Title (أ) suits Core and Develop; title (ب) suits Stretch.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PLAN (3 min) then WRITE (16 min). Check the plan before students write: four paragraphs = four bullet 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(111 words). Core model: compass points, plural nisba (yamaniyyūn), yaqaʿu / taqaʿu, capitals, a past trip with kāna, an opinion and a future 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(132 words). Full-mark model: a visual hook, relative clauses, ammā … fa-, a dual (madīnatayn), aktharu min ayyi waqtin maḍā, a passive (fūjiʾtu), lam azur … baʿdu, a concession and law … la-kānat.
ENGLISH SUMMARY (read aloud or paste in the chat for Core students): A big world map on my wall: red pins where I’ve been, blue where I dream of going; the most important pin is on Sanaa, in the south of the Arabian Peninsula → born British in Birmingham, in the middle of England; as for my father, he is Yemeni and came twenty years ago; so I feel I have two cities — one I live in, one I hear about in his stories every evening → last summer I came closer than ever: we travelled to Oman, east of Yemen, where I met my uncles for the first time; our dialects were different but our laughter was exactly the same → it is true I haven’t visited Sanaa yet, but the map taught me distance doesn’t cut roots; “if circumstances allowed in future, my first trip alone would be to my grandfather’s village in the mountains, to finally place a red pin”.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(133 words). Full-mark model for the Stretch title: yuqālu inna, three parallel verbs + a ḥāl, kāna + present vs ammā … fa-, lā … illā, compass points across continents, a concession and a conditional.
ENGLISH SUMMARY (read aloud or paste in the chat for Core students): They say the world has become a small village, and largely it has: we talk to a friend in Australia, buy a product from China and watch Moroccan news while sitting in our room — all in under an hour → in the past most people lived and died in the area where they were born and knew little of distant countries; as for today, students from five continents sit in one class, speaking different languages at home → I see it every day: last year my school held a “map day”; every student put a pin on their family’s country, and we found over forty countries, from northern Europe to southern Africa, then tasted dishes from every continent → it is true this closeness eases trade and learning, but it may make local cultures and small languages disappear; “if every student learned another country’s language, this village would be more understanding and respectful”.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ADVANCED TOPIC C · EXAM PRACTICE  ·  TC-L01</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TC-L01</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Writing Workshop — Countries and Compass Points</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وَرْشَةُ الكِتَابَةِ — البُلْدَانُ وَالاتِّجَاهَاتُ</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Paper 4 practice: fill in an international-camp form, write an email about people from different countries, and write an extended piece about your roots or about the world as a “small village”.</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TC-L01 · Advanced Topic C · The World Around Us · exam practice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Topic C · A1+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Advanced Topics › Topic C › TC-L01</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TC-L01 · Writing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TC-L01</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18</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TC-L01 · Writing workshop</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WORKSHOP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Exam practice,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الوَرْشَةِ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TC-L01</a:t>
            </a:r>
            <a:endParaRPr lang="en-US" sz="850" dirty="0"/>
          </a:p>
        </p:txBody>
      </p:sp>
      <p:sp>
        <p:nvSpPr>
          <p:cNvPr id="15" name="Shape 12"/>
          <p:cNvSpPr/>
          <p:nvPr/>
        </p:nvSpPr>
        <p:spPr>
          <a:xfrm>
            <a:off x="457200"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933042" cy="566928"/>
          </a:xfrm>
          <a:prstGeom prst="roundRect">
            <a:avLst>
              <a:gd name="adj" fmla="val 9677"/>
            </a:avLst>
          </a:prstGeom>
          <a:solidFill>
            <a:srgbClr val="1B3B6F"/>
          </a:solidFill>
          <a:ln w="12700">
            <a:solidFill>
              <a:srgbClr val="1B3B6F"/>
            </a:solidFill>
            <a:prstDash val="solid"/>
          </a:ln>
        </p:spPr>
      </p:sp>
      <p:sp>
        <p:nvSpPr>
          <p:cNvPr id="17" name="Text 14"/>
          <p:cNvSpPr txBox="1"/>
          <p:nvPr/>
        </p:nvSpPr>
        <p:spPr>
          <a:xfrm>
            <a:off x="603504"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18" name="Text 15"/>
          <p:cNvSpPr txBox="1"/>
          <p:nvPr/>
        </p:nvSpPr>
        <p:spPr>
          <a:xfrm>
            <a:off x="603504"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4 min</a:t>
            </a:r>
            <a:endParaRPr lang="en-US" sz="1000" dirty="0"/>
          </a:p>
        </p:txBody>
      </p:sp>
      <p:sp>
        <p:nvSpPr>
          <p:cNvPr id="19" name="Shape 16"/>
          <p:cNvSpPr/>
          <p:nvPr/>
        </p:nvSpPr>
        <p:spPr>
          <a:xfrm>
            <a:off x="1332281"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33228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How the writing paper works.</a:t>
            </a:r>
            <a:endParaRPr lang="en-US" sz="1200" dirty="0"/>
          </a:p>
        </p:txBody>
      </p:sp>
      <p:sp>
        <p:nvSpPr>
          <p:cNvPr id="22" name="Text 19"/>
          <p:cNvSpPr txBox="1"/>
          <p:nvPr/>
        </p:nvSpPr>
        <p:spPr>
          <a:xfrm>
            <a:off x="548640"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كَيْفَ</a:t>
            </a:r>
            <a:endParaRPr lang="ar-SA" sz="1500" dirty="0"/>
          </a:p>
        </p:txBody>
      </p:sp>
      <p:sp>
        <p:nvSpPr>
          <p:cNvPr id="23" name="Shape 20"/>
          <p:cNvSpPr/>
          <p:nvPr/>
        </p:nvSpPr>
        <p:spPr>
          <a:xfrm>
            <a:off x="273771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847442" y="1938528"/>
            <a:ext cx="1933042" cy="566928"/>
          </a:xfrm>
          <a:prstGeom prst="roundRect">
            <a:avLst>
              <a:gd name="adj" fmla="val 9677"/>
            </a:avLst>
          </a:prstGeom>
          <a:solidFill>
            <a:srgbClr val="1E6B52"/>
          </a:solidFill>
          <a:ln w="12700">
            <a:solidFill>
              <a:srgbClr val="1E6B52"/>
            </a:solidFill>
            <a:prstDash val="solid"/>
          </a:ln>
        </p:spPr>
      </p:sp>
      <p:sp>
        <p:nvSpPr>
          <p:cNvPr id="25" name="Text 22"/>
          <p:cNvSpPr txBox="1"/>
          <p:nvPr/>
        </p:nvSpPr>
        <p:spPr>
          <a:xfrm>
            <a:off x="288401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26" name="Text 23"/>
          <p:cNvSpPr txBox="1"/>
          <p:nvPr/>
        </p:nvSpPr>
        <p:spPr>
          <a:xfrm>
            <a:off x="288401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8 min</a:t>
            </a:r>
            <a:endParaRPr lang="en-US" sz="1000" dirty="0"/>
          </a:p>
        </p:txBody>
      </p:sp>
      <p:sp>
        <p:nvSpPr>
          <p:cNvPr id="27" name="Shape 24"/>
          <p:cNvSpPr/>
          <p:nvPr/>
        </p:nvSpPr>
        <p:spPr>
          <a:xfrm>
            <a:off x="3612794"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3612794"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86573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1: fill in the form.</a:t>
            </a:r>
            <a:endParaRPr lang="en-US" sz="1200" dirty="0"/>
          </a:p>
        </p:txBody>
      </p:sp>
      <p:sp>
        <p:nvSpPr>
          <p:cNvPr id="30" name="Text 27"/>
          <p:cNvSpPr txBox="1"/>
          <p:nvPr/>
        </p:nvSpPr>
        <p:spPr>
          <a:xfrm>
            <a:off x="282915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الاسْتِمَارَةُ</a:t>
            </a:r>
            <a:endParaRPr lang="ar-SA" sz="1500" dirty="0"/>
          </a:p>
        </p:txBody>
      </p:sp>
      <p:sp>
        <p:nvSpPr>
          <p:cNvPr id="31" name="Shape 28"/>
          <p:cNvSpPr/>
          <p:nvPr/>
        </p:nvSpPr>
        <p:spPr>
          <a:xfrm>
            <a:off x="5018227"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127955" y="1938528"/>
            <a:ext cx="1933042" cy="566928"/>
          </a:xfrm>
          <a:prstGeom prst="roundRect">
            <a:avLst>
              <a:gd name="adj" fmla="val 9677"/>
            </a:avLst>
          </a:prstGeom>
          <a:solidFill>
            <a:srgbClr val="1E6B52"/>
          </a:solidFill>
          <a:ln w="12700">
            <a:solidFill>
              <a:srgbClr val="1E6B52"/>
            </a:solidFill>
            <a:prstDash val="solid"/>
          </a:ln>
        </p:spPr>
      </p:sp>
      <p:sp>
        <p:nvSpPr>
          <p:cNvPr id="33" name="Text 30"/>
          <p:cNvSpPr txBox="1"/>
          <p:nvPr/>
        </p:nvSpPr>
        <p:spPr>
          <a:xfrm>
            <a:off x="5164531"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34" name="Text 31"/>
          <p:cNvSpPr txBox="1"/>
          <p:nvPr/>
        </p:nvSpPr>
        <p:spPr>
          <a:xfrm>
            <a:off x="5164531"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17 min</a:t>
            </a:r>
            <a:endParaRPr lang="en-US" sz="1000" dirty="0"/>
          </a:p>
        </p:txBody>
      </p:sp>
      <p:sp>
        <p:nvSpPr>
          <p:cNvPr id="35" name="Shape 32"/>
          <p:cNvSpPr/>
          <p:nvPr/>
        </p:nvSpPr>
        <p:spPr>
          <a:xfrm>
            <a:off x="5893308"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5146243"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2: an email from an international camp.</a:t>
            </a:r>
            <a:endParaRPr lang="en-US" sz="1200" dirty="0"/>
          </a:p>
        </p:txBody>
      </p:sp>
      <p:sp>
        <p:nvSpPr>
          <p:cNvPr id="38" name="Text 35"/>
          <p:cNvSpPr txBox="1"/>
          <p:nvPr/>
        </p:nvSpPr>
        <p:spPr>
          <a:xfrm>
            <a:off x="5109667"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الرِّسَالَةُ</a:t>
            </a:r>
            <a:endParaRPr lang="ar-SA" sz="1500" dirty="0"/>
          </a:p>
        </p:txBody>
      </p:sp>
      <p:sp>
        <p:nvSpPr>
          <p:cNvPr id="39" name="Shape 36"/>
          <p:cNvSpPr/>
          <p:nvPr/>
        </p:nvSpPr>
        <p:spPr>
          <a:xfrm>
            <a:off x="7298741"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7408469" y="1938528"/>
            <a:ext cx="1933042" cy="566928"/>
          </a:xfrm>
          <a:prstGeom prst="roundRect">
            <a:avLst>
              <a:gd name="adj" fmla="val 9677"/>
            </a:avLst>
          </a:prstGeom>
          <a:solidFill>
            <a:srgbClr val="1E6B52"/>
          </a:solidFill>
          <a:ln w="12700">
            <a:solidFill>
              <a:srgbClr val="1E6B52"/>
            </a:solidFill>
            <a:prstDash val="solid"/>
          </a:ln>
        </p:spPr>
      </p:sp>
      <p:sp>
        <p:nvSpPr>
          <p:cNvPr id="41" name="Text 38"/>
          <p:cNvSpPr txBox="1"/>
          <p:nvPr/>
        </p:nvSpPr>
        <p:spPr>
          <a:xfrm>
            <a:off x="7445045"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42" name="Text 39"/>
          <p:cNvSpPr txBox="1"/>
          <p:nvPr/>
        </p:nvSpPr>
        <p:spPr>
          <a:xfrm>
            <a:off x="7445045"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23 min</a:t>
            </a:r>
            <a:endParaRPr lang="en-US" sz="1000" dirty="0"/>
          </a:p>
        </p:txBody>
      </p:sp>
      <p:sp>
        <p:nvSpPr>
          <p:cNvPr id="43" name="Shape 40"/>
          <p:cNvSpPr/>
          <p:nvPr/>
        </p:nvSpPr>
        <p:spPr>
          <a:xfrm>
            <a:off x="8173822"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8173822"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7426757"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3: extended writing (choose a title).</a:t>
            </a:r>
            <a:endParaRPr lang="en-US" sz="1200" dirty="0"/>
          </a:p>
        </p:txBody>
      </p:sp>
      <p:sp>
        <p:nvSpPr>
          <p:cNvPr id="46" name="Text 43"/>
          <p:cNvSpPr txBox="1"/>
          <p:nvPr/>
        </p:nvSpPr>
        <p:spPr>
          <a:xfrm>
            <a:off x="7390181"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المَقَالُ</a:t>
            </a:r>
            <a:endParaRPr lang="ar-SA" sz="1500" dirty="0"/>
          </a:p>
        </p:txBody>
      </p:sp>
      <p:sp>
        <p:nvSpPr>
          <p:cNvPr id="47" name="Shape 44"/>
          <p:cNvSpPr/>
          <p:nvPr/>
        </p:nvSpPr>
        <p:spPr>
          <a:xfrm>
            <a:off x="957925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9688982" y="1938528"/>
            <a:ext cx="1933042" cy="566928"/>
          </a:xfrm>
          <a:prstGeom prst="roundRect">
            <a:avLst>
              <a:gd name="adj" fmla="val 9677"/>
            </a:avLst>
          </a:prstGeom>
          <a:solidFill>
            <a:srgbClr val="8A6D1E"/>
          </a:solidFill>
          <a:ln w="12700">
            <a:solidFill>
              <a:srgbClr val="8A6D1E"/>
            </a:solidFill>
            <a:prstDash val="solid"/>
          </a:ln>
        </p:spPr>
      </p:sp>
      <p:sp>
        <p:nvSpPr>
          <p:cNvPr id="49" name="Text 46"/>
          <p:cNvSpPr txBox="1"/>
          <p:nvPr/>
        </p:nvSpPr>
        <p:spPr>
          <a:xfrm>
            <a:off x="972555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0" name="Text 47"/>
          <p:cNvSpPr txBox="1"/>
          <p:nvPr/>
        </p:nvSpPr>
        <p:spPr>
          <a:xfrm>
            <a:off x="972555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6 min</a:t>
            </a:r>
            <a:endParaRPr lang="en-US" sz="1000" dirty="0"/>
          </a:p>
        </p:txBody>
      </p:sp>
      <p:sp>
        <p:nvSpPr>
          <p:cNvPr id="51" name="Shape 48"/>
          <p:cNvSpPr/>
          <p:nvPr/>
        </p:nvSpPr>
        <p:spPr>
          <a:xfrm>
            <a:off x="10454335"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1045433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970727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Model answers and self-check.</a:t>
            </a:r>
            <a:endParaRPr lang="en-US" sz="1200" dirty="0"/>
          </a:p>
        </p:txBody>
      </p:sp>
      <p:sp>
        <p:nvSpPr>
          <p:cNvPr id="54" name="Text 51"/>
          <p:cNvSpPr txBox="1"/>
          <p:nvPr/>
        </p:nvSpPr>
        <p:spPr>
          <a:xfrm>
            <a:off x="967069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a:t>
            </a:r>
            <a:endParaRPr lang="ar-SA" sz="1500" dirty="0"/>
          </a:p>
        </p:txBody>
      </p:sp>
      <p:sp>
        <p:nvSpPr>
          <p:cNvPr id="55" name="Shape 52"/>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6" name="Text 53"/>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57" name="Text 54"/>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Core students: Questions 1 and 2 today, with frames; plan Question 3 and finish it at home. Stretch: all three questions in class.</a:t>
            </a:r>
            <a:endParaRPr lang="en-US" sz="12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18</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TC-L01 · Writing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TEACH · PAPER 4 WRITING</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How the writing exam works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امْتِحَانُ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TC-L01</a:t>
            </a:r>
            <a:endParaRPr lang="en-US" sz="850" dirty="0"/>
          </a:p>
        </p:txBody>
      </p:sp>
      <p:sp>
        <p:nvSpPr>
          <p:cNvPr id="15" name="Shape 12"/>
          <p:cNvSpPr/>
          <p:nvPr/>
        </p:nvSpPr>
        <p:spPr>
          <a:xfrm>
            <a:off x="457200" y="1810512"/>
            <a:ext cx="617220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THREE QUESTIONS</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Q1 FORM FILLING — short answers (a word or a phrase) in Arabic. Answer exactly what each box asks.</a:t>
            </a:r>
            <a:endParaRPr lang="en-US" sz="1300" dirty="0"/>
          </a:p>
        </p:txBody>
      </p:sp>
      <p:sp>
        <p:nvSpPr>
          <p:cNvPr id="20" name="Shape 17"/>
          <p:cNvSpPr/>
          <p:nvPr/>
        </p:nvSpPr>
        <p:spPr>
          <a:xfrm>
            <a:off x="658368" y="3296412"/>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296412"/>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3186684"/>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Q2 DIRECTED WRITING — about 80–90 words. Cover EVERY bullet point; a missing bullet loses marks.</a:t>
            </a:r>
            <a:endParaRPr lang="en-US" sz="1300" dirty="0"/>
          </a:p>
        </p:txBody>
      </p:sp>
      <p:sp>
        <p:nvSpPr>
          <p:cNvPr id="23" name="Shape 20"/>
          <p:cNvSpPr/>
          <p:nvPr/>
        </p:nvSpPr>
        <p:spPr>
          <a:xfrm>
            <a:off x="658368" y="4306824"/>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4306824"/>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4197096"/>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Q3 EXTENDED WRITING — choose ONE title, about 130–150 words. Show range: past, present and future, opinions, reasons, linking words.</a:t>
            </a:r>
            <a:endParaRPr lang="en-US" sz="1300" dirty="0"/>
          </a:p>
        </p:txBody>
      </p:sp>
      <p:sp>
        <p:nvSpPr>
          <p:cNvPr id="26" name="Shape 23"/>
          <p:cNvSpPr/>
          <p:nvPr/>
        </p:nvSpPr>
        <p:spPr>
          <a:xfrm>
            <a:off x="658368" y="5317236"/>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531723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5207508"/>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Check: compass points in iḍāfa (fī shamāli …, no al- on shamāl); yaqaʿu (m.) / taqaʿu (f. — most countries and all cities); nisba agrees (miṣriyy / miṣriyya / miṣriyyūn); comparatives with min.</a:t>
            </a:r>
            <a:endParaRPr lang="en-US" sz="1300" dirty="0"/>
          </a:p>
        </p:txBody>
      </p:sp>
      <p:sp>
        <p:nvSpPr>
          <p:cNvPr id="29" name="Shape 26"/>
          <p:cNvSpPr/>
          <p:nvPr/>
        </p:nvSpPr>
        <p:spPr>
          <a:xfrm>
            <a:off x="6812280" y="1810512"/>
            <a:ext cx="491947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WORDS THAT LIFT YOUR WRITING</a:t>
            </a:r>
            <a:endParaRPr lang="en-US" sz="1000" dirty="0"/>
          </a:p>
        </p:txBody>
      </p:sp>
      <p:sp>
        <p:nvSpPr>
          <p:cNvPr id="31" name="Text 28"/>
          <p:cNvSpPr txBox="1"/>
          <p:nvPr/>
        </p:nvSpPr>
        <p:spPr>
          <a:xfrm>
            <a:off x="6949440" y="2194560"/>
            <a:ext cx="4645152" cy="761268"/>
          </a:xfrm>
          <a:prstGeom prst="rect">
            <a:avLst/>
          </a:prstGeom>
          <a:noFill/>
          <a:ln/>
        </p:spPr>
        <p:txBody>
          <a:bodyPr wrap="square" lIns="0" tIns="0" rIns="0" bIns="0" rtlCol="0" anchor="ctr"/>
          <a:lstStyle/>
          <a:p>
            <a:pPr rtl="1" algn="ctr" indent="0" marL="0">
              <a:buNone/>
            </a:pPr>
            <a:r>
              <a:rPr lang="ar-SA" altLang="en-US" sz="2450" b="1" dirty="0">
                <a:solidFill>
                  <a:srgbClr val="1B3B6F"/>
                </a:solidFill>
                <a:latin typeface="Amiri" pitchFamily="2" charset="-78"/>
                <a:ea typeface="Amiri" pitchFamily="2" charset="-78"/>
                <a:cs typeface="Amiri" pitchFamily="2" charset="-78"/>
              </a:rPr>
              <a:t>يَقَعُ اليَمَنُ فِي جَنُوبِ شِبْهِ الجَزِيرَةِ العَرَبِيَّةِ</a:t>
            </a:r>
            <a:endParaRPr lang="ar-SA" sz="2450" dirty="0"/>
          </a:p>
        </p:txBody>
      </p:sp>
      <p:sp>
        <p:nvSpPr>
          <p:cNvPr id="32" name="Text 29"/>
          <p:cNvSpPr txBox="1"/>
          <p:nvPr/>
        </p:nvSpPr>
        <p:spPr>
          <a:xfrm>
            <a:off x="6949440" y="2955828"/>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Yemen is in the south of the Arabian Peninsula</a:t>
            </a:r>
            <a:endParaRPr lang="en-US" sz="1100" dirty="0"/>
          </a:p>
        </p:txBody>
      </p:sp>
      <p:sp>
        <p:nvSpPr>
          <p:cNvPr id="33" name="Shape 30"/>
          <p:cNvSpPr/>
          <p:nvPr/>
        </p:nvSpPr>
        <p:spPr>
          <a:xfrm>
            <a:off x="6995160" y="3535680"/>
            <a:ext cx="4553712" cy="0"/>
          </a:xfrm>
          <a:prstGeom prst="line">
            <a:avLst/>
          </a:prstGeom>
          <a:noFill/>
          <a:ln w="9525">
            <a:solidFill>
              <a:srgbClr val="E4DCCB"/>
            </a:solidFill>
            <a:prstDash val="dash"/>
          </a:ln>
        </p:spPr>
      </p:sp>
      <p:sp>
        <p:nvSpPr>
          <p:cNvPr id="34" name="Text 31"/>
          <p:cNvSpPr txBox="1"/>
          <p:nvPr/>
        </p:nvSpPr>
        <p:spPr>
          <a:xfrm>
            <a:off x="6949440" y="3553968"/>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هُوَ مَغْرِبِيٌّ، وَهِيَ مِصْرِيَّةٌ</a:t>
            </a:r>
            <a:endParaRPr lang="ar-SA" sz="2800" dirty="0"/>
          </a:p>
        </p:txBody>
      </p:sp>
      <p:sp>
        <p:nvSpPr>
          <p:cNvPr id="35" name="Text 32"/>
          <p:cNvSpPr txBox="1"/>
          <p:nvPr/>
        </p:nvSpPr>
        <p:spPr>
          <a:xfrm>
            <a:off x="6949440" y="4315236"/>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he is Moroccan, and she is Egyptian</a:t>
            </a:r>
            <a:endParaRPr lang="en-US" sz="1100" dirty="0"/>
          </a:p>
        </p:txBody>
      </p:sp>
      <p:sp>
        <p:nvSpPr>
          <p:cNvPr id="36" name="Shape 33"/>
          <p:cNvSpPr/>
          <p:nvPr/>
        </p:nvSpPr>
        <p:spPr>
          <a:xfrm>
            <a:off x="6995160" y="4895088"/>
            <a:ext cx="4553712" cy="0"/>
          </a:xfrm>
          <a:prstGeom prst="line">
            <a:avLst/>
          </a:prstGeom>
          <a:noFill/>
          <a:ln w="9525">
            <a:solidFill>
              <a:srgbClr val="E4DCCB"/>
            </a:solidFill>
            <a:prstDash val="dash"/>
          </a:ln>
        </p:spPr>
      </p:sp>
      <p:sp>
        <p:nvSpPr>
          <p:cNvPr id="37" name="Text 34"/>
          <p:cNvSpPr txBox="1"/>
          <p:nvPr/>
        </p:nvSpPr>
        <p:spPr>
          <a:xfrm>
            <a:off x="6949440" y="4913376"/>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المَغْرِبُ أَكْبَرُ مِنْ بِرِيطَانِيَا، لٰكِنَّ …</a:t>
            </a:r>
            <a:endParaRPr lang="ar-SA" sz="2800" dirty="0"/>
          </a:p>
        </p:txBody>
      </p:sp>
      <p:sp>
        <p:nvSpPr>
          <p:cNvPr id="38" name="Text 35"/>
          <p:cNvSpPr txBox="1"/>
          <p:nvPr/>
        </p:nvSpPr>
        <p:spPr>
          <a:xfrm>
            <a:off x="6949440" y="5674644"/>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Morocco is bigger than Britain, but …</a:t>
            </a:r>
            <a:endParaRPr lang="en-US" sz="11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18</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TC-L01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6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1 · FORM FILLING</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International youth camp registration</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التَّسْجِيلُ فِي المُخَيَّمِ الدَّوْلِيِّ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897112" y="1810512"/>
            <a:ext cx="2761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Your answer</a:t>
            </a:r>
            <a:endParaRPr lang="en-US" sz="1100" dirty="0"/>
          </a:p>
        </p:txBody>
      </p:sp>
      <p:sp>
        <p:nvSpPr>
          <p:cNvPr id="17" name="Text 14"/>
          <p:cNvSpPr txBox="1"/>
          <p:nvPr/>
        </p:nvSpPr>
        <p:spPr>
          <a:xfrm>
            <a:off x="560527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What to write</a:t>
            </a:r>
            <a:endParaRPr lang="en-US" sz="1100" dirty="0"/>
          </a:p>
        </p:txBody>
      </p:sp>
      <p:sp>
        <p:nvSpPr>
          <p:cNvPr id="18" name="Text 15"/>
          <p:cNvSpPr txBox="1"/>
          <p:nvPr/>
        </p:nvSpPr>
        <p:spPr>
          <a:xfrm>
            <a:off x="1033272" y="1810512"/>
            <a:ext cx="4425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 form</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405765"/>
          </a:xfrm>
          <a:prstGeom prst="roundRect">
            <a:avLst>
              <a:gd name="adj" fmla="val 11268"/>
            </a:avLst>
          </a:prstGeom>
          <a:solidFill>
            <a:srgbClr val="FFFFFF"/>
          </a:solidFill>
          <a:ln w="9525">
            <a:solidFill>
              <a:srgbClr val="D8D0BF"/>
            </a:solidFill>
            <a:prstDash val="solid"/>
          </a:ln>
        </p:spPr>
      </p:sp>
      <p:sp>
        <p:nvSpPr>
          <p:cNvPr id="21" name="Text 18"/>
          <p:cNvSpPr txBox="1"/>
          <p:nvPr/>
        </p:nvSpPr>
        <p:spPr>
          <a:xfrm>
            <a:off x="8933688" y="2267712"/>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2" name="Text 19"/>
          <p:cNvSpPr txBox="1"/>
          <p:nvPr/>
        </p:nvSpPr>
        <p:spPr>
          <a:xfrm>
            <a:off x="5641848" y="2267712"/>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Name</a:t>
            </a:r>
            <a:endParaRPr lang="en-US" sz="1100" dirty="0"/>
          </a:p>
        </p:txBody>
      </p:sp>
      <p:sp>
        <p:nvSpPr>
          <p:cNvPr id="23" name="Text 20"/>
          <p:cNvSpPr txBox="1"/>
          <p:nvPr/>
        </p:nvSpPr>
        <p:spPr>
          <a:xfrm>
            <a:off x="1051560" y="2267712"/>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الاسْمُ</a:t>
            </a:r>
            <a:endParaRPr lang="ar-SA" sz="1700" dirty="0"/>
          </a:p>
        </p:txBody>
      </p:sp>
      <p:sp>
        <p:nvSpPr>
          <p:cNvPr id="24" name="Text 21"/>
          <p:cNvSpPr txBox="1"/>
          <p:nvPr/>
        </p:nvSpPr>
        <p:spPr>
          <a:xfrm>
            <a:off x="566928" y="2267712"/>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2728341"/>
            <a:ext cx="11274552" cy="405765"/>
          </a:xfrm>
          <a:prstGeom prst="roundRect">
            <a:avLst>
              <a:gd name="adj" fmla="val 11268"/>
            </a:avLst>
          </a:prstGeom>
          <a:solidFill>
            <a:srgbClr val="F4F1EA"/>
          </a:solidFill>
          <a:ln w="9525">
            <a:solidFill>
              <a:srgbClr val="D8D0BF"/>
            </a:solidFill>
            <a:prstDash val="solid"/>
          </a:ln>
        </p:spPr>
      </p:sp>
      <p:sp>
        <p:nvSpPr>
          <p:cNvPr id="28" name="Text 25"/>
          <p:cNvSpPr txBox="1"/>
          <p:nvPr/>
        </p:nvSpPr>
        <p:spPr>
          <a:xfrm>
            <a:off x="8933688" y="2728341"/>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9" name="Text 26"/>
          <p:cNvSpPr txBox="1"/>
          <p:nvPr/>
        </p:nvSpPr>
        <p:spPr>
          <a:xfrm>
            <a:off x="5641848" y="2728341"/>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Nationality</a:t>
            </a:r>
            <a:endParaRPr lang="en-US" sz="1100" dirty="0"/>
          </a:p>
        </p:txBody>
      </p:sp>
      <p:sp>
        <p:nvSpPr>
          <p:cNvPr id="30" name="Text 27"/>
          <p:cNvSpPr txBox="1"/>
          <p:nvPr/>
        </p:nvSpPr>
        <p:spPr>
          <a:xfrm>
            <a:off x="1051560" y="2728341"/>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الجِنْسِيَّةُ</a:t>
            </a:r>
            <a:endParaRPr lang="ar-SA" sz="1700" dirty="0"/>
          </a:p>
        </p:txBody>
      </p:sp>
      <p:sp>
        <p:nvSpPr>
          <p:cNvPr id="31" name="Text 28"/>
          <p:cNvSpPr txBox="1"/>
          <p:nvPr/>
        </p:nvSpPr>
        <p:spPr>
          <a:xfrm>
            <a:off x="566928" y="2728341"/>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2" name="Shape 29"/>
          <p:cNvSpPr/>
          <p:nvPr/>
        </p:nvSpPr>
        <p:spPr>
          <a:xfrm>
            <a:off x="11091672" y="2774061"/>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277406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188970"/>
            <a:ext cx="11274552" cy="405765"/>
          </a:xfrm>
          <a:prstGeom prst="roundRect">
            <a:avLst>
              <a:gd name="adj" fmla="val 11268"/>
            </a:avLst>
          </a:prstGeom>
          <a:solidFill>
            <a:srgbClr val="FFFFFF"/>
          </a:solidFill>
          <a:ln w="9525">
            <a:solidFill>
              <a:srgbClr val="D8D0BF"/>
            </a:solidFill>
            <a:prstDash val="solid"/>
          </a:ln>
        </p:spPr>
      </p:sp>
      <p:sp>
        <p:nvSpPr>
          <p:cNvPr id="35" name="Text 32"/>
          <p:cNvSpPr txBox="1"/>
          <p:nvPr/>
        </p:nvSpPr>
        <p:spPr>
          <a:xfrm>
            <a:off x="8933688" y="3188970"/>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36" name="Text 33"/>
          <p:cNvSpPr txBox="1"/>
          <p:nvPr/>
        </p:nvSpPr>
        <p:spPr>
          <a:xfrm>
            <a:off x="5641848" y="3188970"/>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Country and city</a:t>
            </a:r>
            <a:endParaRPr lang="en-US" sz="1100" dirty="0"/>
          </a:p>
        </p:txBody>
      </p:sp>
      <p:sp>
        <p:nvSpPr>
          <p:cNvPr id="37" name="Text 34"/>
          <p:cNvSpPr txBox="1"/>
          <p:nvPr/>
        </p:nvSpPr>
        <p:spPr>
          <a:xfrm>
            <a:off x="1051560" y="3188970"/>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البَلَدُ وَالمَدِينَةُ</a:t>
            </a:r>
            <a:endParaRPr lang="ar-SA" sz="1700" dirty="0"/>
          </a:p>
        </p:txBody>
      </p:sp>
      <p:sp>
        <p:nvSpPr>
          <p:cNvPr id="38" name="Text 35"/>
          <p:cNvSpPr txBox="1"/>
          <p:nvPr/>
        </p:nvSpPr>
        <p:spPr>
          <a:xfrm>
            <a:off x="566928" y="3188970"/>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9" name="Shape 36"/>
          <p:cNvSpPr/>
          <p:nvPr/>
        </p:nvSpPr>
        <p:spPr>
          <a:xfrm>
            <a:off x="11091672" y="3234690"/>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23469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3649599"/>
            <a:ext cx="11274552" cy="405765"/>
          </a:xfrm>
          <a:prstGeom prst="roundRect">
            <a:avLst>
              <a:gd name="adj" fmla="val 11268"/>
            </a:avLst>
          </a:prstGeom>
          <a:solidFill>
            <a:srgbClr val="F4F1EA"/>
          </a:solidFill>
          <a:ln w="9525">
            <a:solidFill>
              <a:srgbClr val="D8D0BF"/>
            </a:solidFill>
            <a:prstDash val="solid"/>
          </a:ln>
        </p:spPr>
      </p:sp>
      <p:sp>
        <p:nvSpPr>
          <p:cNvPr id="42" name="Text 39"/>
          <p:cNvSpPr txBox="1"/>
          <p:nvPr/>
        </p:nvSpPr>
        <p:spPr>
          <a:xfrm>
            <a:off x="8933688" y="3649599"/>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43" name="Text 40"/>
          <p:cNvSpPr txBox="1"/>
          <p:nvPr/>
        </p:nvSpPr>
        <p:spPr>
          <a:xfrm>
            <a:off x="5641848" y="3649599"/>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Where your city is</a:t>
            </a:r>
            <a:endParaRPr lang="en-US" sz="1100" dirty="0"/>
          </a:p>
        </p:txBody>
      </p:sp>
      <p:sp>
        <p:nvSpPr>
          <p:cNvPr id="44" name="Text 41"/>
          <p:cNvSpPr txBox="1"/>
          <p:nvPr/>
        </p:nvSpPr>
        <p:spPr>
          <a:xfrm>
            <a:off x="1051560" y="3649599"/>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أَيْنَ تَقَعُ مَدِينَتُكَ؟</a:t>
            </a:r>
            <a:endParaRPr lang="ar-SA" sz="1700" dirty="0"/>
          </a:p>
        </p:txBody>
      </p:sp>
      <p:sp>
        <p:nvSpPr>
          <p:cNvPr id="45" name="Text 42"/>
          <p:cNvSpPr txBox="1"/>
          <p:nvPr/>
        </p:nvSpPr>
        <p:spPr>
          <a:xfrm>
            <a:off x="566928" y="3649599"/>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6" name="Shape 43"/>
          <p:cNvSpPr/>
          <p:nvPr/>
        </p:nvSpPr>
        <p:spPr>
          <a:xfrm>
            <a:off x="11091672" y="3695319"/>
            <a:ext cx="548640" cy="182880"/>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11091672" y="3695319"/>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8" name="Shape 45"/>
          <p:cNvSpPr/>
          <p:nvPr/>
        </p:nvSpPr>
        <p:spPr>
          <a:xfrm>
            <a:off x="457200" y="4110228"/>
            <a:ext cx="11274552" cy="405765"/>
          </a:xfrm>
          <a:prstGeom prst="roundRect">
            <a:avLst>
              <a:gd name="adj" fmla="val 11268"/>
            </a:avLst>
          </a:prstGeom>
          <a:solidFill>
            <a:srgbClr val="FFFFFF"/>
          </a:solidFill>
          <a:ln w="9525">
            <a:solidFill>
              <a:srgbClr val="D8D0BF"/>
            </a:solidFill>
            <a:prstDash val="solid"/>
          </a:ln>
        </p:spPr>
      </p:sp>
      <p:sp>
        <p:nvSpPr>
          <p:cNvPr id="49" name="Text 46"/>
          <p:cNvSpPr txBox="1"/>
          <p:nvPr/>
        </p:nvSpPr>
        <p:spPr>
          <a:xfrm>
            <a:off x="8933688" y="4110228"/>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50" name="Text 47"/>
          <p:cNvSpPr txBox="1"/>
          <p:nvPr/>
        </p:nvSpPr>
        <p:spPr>
          <a:xfrm>
            <a:off x="5641848" y="4110228"/>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Family origin</a:t>
            </a:r>
            <a:endParaRPr lang="en-US" sz="1100" dirty="0"/>
          </a:p>
        </p:txBody>
      </p:sp>
      <p:sp>
        <p:nvSpPr>
          <p:cNvPr id="51" name="Text 48"/>
          <p:cNvSpPr txBox="1"/>
          <p:nvPr/>
        </p:nvSpPr>
        <p:spPr>
          <a:xfrm>
            <a:off x="1051560" y="4110228"/>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أَصْلُ العَائِلَةِ</a:t>
            </a:r>
            <a:endParaRPr lang="ar-SA" sz="1700" dirty="0"/>
          </a:p>
        </p:txBody>
      </p:sp>
      <p:sp>
        <p:nvSpPr>
          <p:cNvPr id="52" name="Text 49"/>
          <p:cNvSpPr txBox="1"/>
          <p:nvPr/>
        </p:nvSpPr>
        <p:spPr>
          <a:xfrm>
            <a:off x="566928" y="4110228"/>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53" name="Shape 50"/>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5" name="Shape 52"/>
          <p:cNvSpPr/>
          <p:nvPr/>
        </p:nvSpPr>
        <p:spPr>
          <a:xfrm>
            <a:off x="457200" y="4570857"/>
            <a:ext cx="11274552" cy="405765"/>
          </a:xfrm>
          <a:prstGeom prst="roundRect">
            <a:avLst>
              <a:gd name="adj" fmla="val 11268"/>
            </a:avLst>
          </a:prstGeom>
          <a:solidFill>
            <a:srgbClr val="F4F1EA"/>
          </a:solidFill>
          <a:ln w="9525">
            <a:solidFill>
              <a:srgbClr val="D8D0BF"/>
            </a:solidFill>
            <a:prstDash val="solid"/>
          </a:ln>
        </p:spPr>
      </p:sp>
      <p:sp>
        <p:nvSpPr>
          <p:cNvPr id="56" name="Text 53"/>
          <p:cNvSpPr txBox="1"/>
          <p:nvPr/>
        </p:nvSpPr>
        <p:spPr>
          <a:xfrm>
            <a:off x="8933688" y="4570857"/>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57" name="Text 54"/>
          <p:cNvSpPr txBox="1"/>
          <p:nvPr/>
        </p:nvSpPr>
        <p:spPr>
          <a:xfrm>
            <a:off x="5641848" y="4570857"/>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Languages</a:t>
            </a:r>
            <a:endParaRPr lang="en-US" sz="1100" dirty="0"/>
          </a:p>
        </p:txBody>
      </p:sp>
      <p:sp>
        <p:nvSpPr>
          <p:cNvPr id="58" name="Text 55"/>
          <p:cNvSpPr txBox="1"/>
          <p:nvPr/>
        </p:nvSpPr>
        <p:spPr>
          <a:xfrm>
            <a:off x="1051560" y="4570857"/>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اللُّغَاتُ</a:t>
            </a:r>
            <a:endParaRPr lang="ar-SA" sz="1700" dirty="0"/>
          </a:p>
        </p:txBody>
      </p:sp>
      <p:sp>
        <p:nvSpPr>
          <p:cNvPr id="59" name="Text 56"/>
          <p:cNvSpPr txBox="1"/>
          <p:nvPr/>
        </p:nvSpPr>
        <p:spPr>
          <a:xfrm>
            <a:off x="566928" y="4570857"/>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60" name="Shape 57"/>
          <p:cNvSpPr/>
          <p:nvPr/>
        </p:nvSpPr>
        <p:spPr>
          <a:xfrm>
            <a:off x="11091672" y="4616577"/>
            <a:ext cx="548640" cy="182880"/>
          </a:xfrm>
          <a:prstGeom prst="roundRect">
            <a:avLst>
              <a:gd name="adj" fmla="val 50000"/>
            </a:avLst>
          </a:prstGeom>
          <a:solidFill>
            <a:srgbClr val="2E8B57"/>
          </a:solidFill>
          <a:ln w="12700">
            <a:solidFill>
              <a:srgbClr val="2E8B57"/>
            </a:solidFill>
            <a:prstDash val="solid"/>
          </a:ln>
        </p:spPr>
      </p:sp>
      <p:sp>
        <p:nvSpPr>
          <p:cNvPr id="61" name="Text 58"/>
          <p:cNvSpPr txBox="1"/>
          <p:nvPr/>
        </p:nvSpPr>
        <p:spPr>
          <a:xfrm>
            <a:off x="11091672" y="4616577"/>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62" name="Shape 59"/>
          <p:cNvSpPr/>
          <p:nvPr/>
        </p:nvSpPr>
        <p:spPr>
          <a:xfrm>
            <a:off x="457200" y="5031486"/>
            <a:ext cx="11274552" cy="405765"/>
          </a:xfrm>
          <a:prstGeom prst="roundRect">
            <a:avLst>
              <a:gd name="adj" fmla="val 11268"/>
            </a:avLst>
          </a:prstGeom>
          <a:solidFill>
            <a:srgbClr val="FFFFFF"/>
          </a:solidFill>
          <a:ln w="9525">
            <a:solidFill>
              <a:srgbClr val="D8D0BF"/>
            </a:solidFill>
            <a:prstDash val="solid"/>
          </a:ln>
        </p:spPr>
      </p:sp>
      <p:sp>
        <p:nvSpPr>
          <p:cNvPr id="63" name="Text 60"/>
          <p:cNvSpPr txBox="1"/>
          <p:nvPr/>
        </p:nvSpPr>
        <p:spPr>
          <a:xfrm>
            <a:off x="8933688" y="5031486"/>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64" name="Text 61"/>
          <p:cNvSpPr txBox="1"/>
          <p:nvPr/>
        </p:nvSpPr>
        <p:spPr>
          <a:xfrm>
            <a:off x="5641848" y="5031486"/>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country you have visited</a:t>
            </a:r>
            <a:endParaRPr lang="en-US" sz="1100" dirty="0"/>
          </a:p>
        </p:txBody>
      </p:sp>
      <p:sp>
        <p:nvSpPr>
          <p:cNvPr id="65" name="Text 62"/>
          <p:cNvSpPr txBox="1"/>
          <p:nvPr/>
        </p:nvSpPr>
        <p:spPr>
          <a:xfrm>
            <a:off x="1051560" y="5031486"/>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بَلَدٌ زُرْتَهُ</a:t>
            </a:r>
            <a:endParaRPr lang="ar-SA" sz="1700" dirty="0"/>
          </a:p>
        </p:txBody>
      </p:sp>
      <p:sp>
        <p:nvSpPr>
          <p:cNvPr id="66" name="Text 63"/>
          <p:cNvSpPr txBox="1"/>
          <p:nvPr/>
        </p:nvSpPr>
        <p:spPr>
          <a:xfrm>
            <a:off x="566928" y="5031486"/>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7</a:t>
            </a:r>
            <a:endParaRPr lang="en-US" sz="1100" dirty="0"/>
          </a:p>
        </p:txBody>
      </p:sp>
      <p:sp>
        <p:nvSpPr>
          <p:cNvPr id="67" name="Shape 64"/>
          <p:cNvSpPr/>
          <p:nvPr/>
        </p:nvSpPr>
        <p:spPr>
          <a:xfrm>
            <a:off x="457200" y="5492115"/>
            <a:ext cx="11274552" cy="405765"/>
          </a:xfrm>
          <a:prstGeom prst="roundRect">
            <a:avLst>
              <a:gd name="adj" fmla="val 11268"/>
            </a:avLst>
          </a:prstGeom>
          <a:solidFill>
            <a:srgbClr val="F4F1EA"/>
          </a:solidFill>
          <a:ln w="9525">
            <a:solidFill>
              <a:srgbClr val="D8D0BF"/>
            </a:solidFill>
            <a:prstDash val="solid"/>
          </a:ln>
        </p:spPr>
      </p:sp>
      <p:sp>
        <p:nvSpPr>
          <p:cNvPr id="68" name="Text 65"/>
          <p:cNvSpPr txBox="1"/>
          <p:nvPr/>
        </p:nvSpPr>
        <p:spPr>
          <a:xfrm>
            <a:off x="8933688" y="5492115"/>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69" name="Text 66"/>
          <p:cNvSpPr txBox="1"/>
          <p:nvPr/>
        </p:nvSpPr>
        <p:spPr>
          <a:xfrm>
            <a:off x="5641848" y="5492115"/>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ONE sentence: why you want to take part</a:t>
            </a:r>
            <a:endParaRPr lang="en-US" sz="1100" dirty="0"/>
          </a:p>
        </p:txBody>
      </p:sp>
      <p:sp>
        <p:nvSpPr>
          <p:cNvPr id="70" name="Text 67"/>
          <p:cNvSpPr txBox="1"/>
          <p:nvPr/>
        </p:nvSpPr>
        <p:spPr>
          <a:xfrm>
            <a:off x="1051560" y="5492115"/>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جُمْلَةٌ: لِمَاذَا تُرِيدُ أَنْ تُشَارِكَ؟</a:t>
            </a:r>
            <a:endParaRPr lang="ar-SA" sz="1700" dirty="0"/>
          </a:p>
        </p:txBody>
      </p:sp>
      <p:sp>
        <p:nvSpPr>
          <p:cNvPr id="71" name="Text 68"/>
          <p:cNvSpPr txBox="1"/>
          <p:nvPr/>
        </p:nvSpPr>
        <p:spPr>
          <a:xfrm>
            <a:off x="566928" y="5492115"/>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8</a:t>
            </a:r>
            <a:endParaRPr lang="en-US" sz="1100" dirty="0"/>
          </a:p>
        </p:txBody>
      </p:sp>
      <p:sp>
        <p:nvSpPr>
          <p:cNvPr id="72" name="Text 69"/>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One word or a short phrase for each box — the last box is a full sentence with likay + verb in -a.</a:t>
            </a:r>
            <a:endParaRPr lang="en-US" sz="1150" dirty="0"/>
          </a:p>
        </p:txBody>
      </p:sp>
      <p:sp>
        <p:nvSpPr>
          <p:cNvPr id="73" name="Text 7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18</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TC-L01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1 · MODEL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cs typeface="Amiri" pitchFamily="2" charset="-78"/>
              </a:rPr>
              <a:t>International youth camp registration: model answers</a:t>
            </a:r>
            <a:endParaRPr lang="en-US" sz="1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354312" y="1810512"/>
            <a:ext cx="2304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English</a:t>
            </a:r>
            <a:endParaRPr lang="en-US" sz="1100" dirty="0"/>
          </a:p>
        </p:txBody>
      </p:sp>
      <p:sp>
        <p:nvSpPr>
          <p:cNvPr id="17" name="Text 14"/>
          <p:cNvSpPr txBox="1"/>
          <p:nvPr/>
        </p:nvSpPr>
        <p:spPr>
          <a:xfrm>
            <a:off x="5056632" y="1810512"/>
            <a:ext cx="4151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Model answer</a:t>
            </a:r>
            <a:endParaRPr lang="en-US" sz="1100" dirty="0"/>
          </a:p>
        </p:txBody>
      </p:sp>
      <p:sp>
        <p:nvSpPr>
          <p:cNvPr id="18" name="Text 15"/>
          <p:cNvSpPr txBox="1"/>
          <p:nvPr/>
        </p:nvSpPr>
        <p:spPr>
          <a:xfrm>
            <a:off x="1033272" y="1810512"/>
            <a:ext cx="3877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 form</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405765"/>
          </a:xfrm>
          <a:prstGeom prst="roundRect">
            <a:avLst>
              <a:gd name="adj" fmla="val 11268"/>
            </a:avLst>
          </a:prstGeom>
          <a:solidFill>
            <a:srgbClr val="FFFFFF"/>
          </a:solidFill>
          <a:ln w="9525">
            <a:solidFill>
              <a:srgbClr val="D8D0BF"/>
            </a:solidFill>
            <a:prstDash val="solid"/>
          </a:ln>
        </p:spPr>
      </p:sp>
      <p:sp>
        <p:nvSpPr>
          <p:cNvPr id="21" name="Text 18"/>
          <p:cNvSpPr txBox="1"/>
          <p:nvPr/>
        </p:nvSpPr>
        <p:spPr>
          <a:xfrm>
            <a:off x="9390888" y="2267712"/>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Adam Said</a:t>
            </a:r>
            <a:endParaRPr lang="en-US" sz="1100" dirty="0"/>
          </a:p>
        </p:txBody>
      </p:sp>
      <p:sp>
        <p:nvSpPr>
          <p:cNvPr id="22" name="Text 19"/>
          <p:cNvSpPr txBox="1"/>
          <p:nvPr/>
        </p:nvSpPr>
        <p:spPr>
          <a:xfrm>
            <a:off x="5074920" y="2267712"/>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آدَمُ سَعِيدٌ</a:t>
            </a:r>
            <a:endParaRPr lang="ar-SA" sz="1800" dirty="0"/>
          </a:p>
        </p:txBody>
      </p:sp>
      <p:sp>
        <p:nvSpPr>
          <p:cNvPr id="23" name="Text 20"/>
          <p:cNvSpPr txBox="1"/>
          <p:nvPr/>
        </p:nvSpPr>
        <p:spPr>
          <a:xfrm>
            <a:off x="1051560" y="2267712"/>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الاسْمُ</a:t>
            </a:r>
            <a:endParaRPr lang="ar-SA" sz="1600" dirty="0"/>
          </a:p>
        </p:txBody>
      </p:sp>
      <p:sp>
        <p:nvSpPr>
          <p:cNvPr id="24" name="Text 21"/>
          <p:cNvSpPr txBox="1"/>
          <p:nvPr/>
        </p:nvSpPr>
        <p:spPr>
          <a:xfrm>
            <a:off x="566928" y="2267712"/>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457200" y="2728341"/>
            <a:ext cx="11274552" cy="405765"/>
          </a:xfrm>
          <a:prstGeom prst="roundRect">
            <a:avLst>
              <a:gd name="adj" fmla="val 11268"/>
            </a:avLst>
          </a:prstGeom>
          <a:solidFill>
            <a:srgbClr val="F4F1EA"/>
          </a:solidFill>
          <a:ln w="9525">
            <a:solidFill>
              <a:srgbClr val="D8D0BF"/>
            </a:solidFill>
            <a:prstDash val="solid"/>
          </a:ln>
        </p:spPr>
      </p:sp>
      <p:sp>
        <p:nvSpPr>
          <p:cNvPr id="26" name="Text 23"/>
          <p:cNvSpPr txBox="1"/>
          <p:nvPr/>
        </p:nvSpPr>
        <p:spPr>
          <a:xfrm>
            <a:off x="9390888" y="2728341"/>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British</a:t>
            </a:r>
            <a:endParaRPr lang="en-US" sz="1100" dirty="0"/>
          </a:p>
        </p:txBody>
      </p:sp>
      <p:sp>
        <p:nvSpPr>
          <p:cNvPr id="27" name="Text 24"/>
          <p:cNvSpPr txBox="1"/>
          <p:nvPr/>
        </p:nvSpPr>
        <p:spPr>
          <a:xfrm>
            <a:off x="5074920" y="2728341"/>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بِرِيطَانِيٌّ</a:t>
            </a:r>
            <a:endParaRPr lang="ar-SA" sz="1800" dirty="0"/>
          </a:p>
        </p:txBody>
      </p:sp>
      <p:sp>
        <p:nvSpPr>
          <p:cNvPr id="28" name="Text 25"/>
          <p:cNvSpPr txBox="1"/>
          <p:nvPr/>
        </p:nvSpPr>
        <p:spPr>
          <a:xfrm>
            <a:off x="1051560" y="2728341"/>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الجِنْسِيَّةُ</a:t>
            </a:r>
            <a:endParaRPr lang="ar-SA" sz="1600" dirty="0"/>
          </a:p>
        </p:txBody>
      </p:sp>
      <p:sp>
        <p:nvSpPr>
          <p:cNvPr id="29" name="Text 26"/>
          <p:cNvSpPr txBox="1"/>
          <p:nvPr/>
        </p:nvSpPr>
        <p:spPr>
          <a:xfrm>
            <a:off x="566928" y="2728341"/>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0" name="Shape 27"/>
          <p:cNvSpPr/>
          <p:nvPr/>
        </p:nvSpPr>
        <p:spPr>
          <a:xfrm>
            <a:off x="457200" y="3188970"/>
            <a:ext cx="11274552" cy="405765"/>
          </a:xfrm>
          <a:prstGeom prst="roundRect">
            <a:avLst>
              <a:gd name="adj" fmla="val 11268"/>
            </a:avLst>
          </a:prstGeom>
          <a:solidFill>
            <a:srgbClr val="FFFFFF"/>
          </a:solidFill>
          <a:ln w="9525">
            <a:solidFill>
              <a:srgbClr val="D8D0BF"/>
            </a:solidFill>
            <a:prstDash val="solid"/>
          </a:ln>
        </p:spPr>
      </p:sp>
      <p:sp>
        <p:nvSpPr>
          <p:cNvPr id="31" name="Text 28"/>
          <p:cNvSpPr txBox="1"/>
          <p:nvPr/>
        </p:nvSpPr>
        <p:spPr>
          <a:xfrm>
            <a:off x="9390888" y="3188970"/>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England, Birmingham</a:t>
            </a:r>
            <a:endParaRPr lang="en-US" sz="1100" dirty="0"/>
          </a:p>
        </p:txBody>
      </p:sp>
      <p:sp>
        <p:nvSpPr>
          <p:cNvPr id="32" name="Text 29"/>
          <p:cNvSpPr txBox="1"/>
          <p:nvPr/>
        </p:nvSpPr>
        <p:spPr>
          <a:xfrm>
            <a:off x="5074920" y="3188970"/>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إِنْجِلْتِرَا، بِرْمِنْغْهَامُ</a:t>
            </a:r>
            <a:endParaRPr lang="ar-SA" sz="1800" dirty="0"/>
          </a:p>
        </p:txBody>
      </p:sp>
      <p:sp>
        <p:nvSpPr>
          <p:cNvPr id="33" name="Text 30"/>
          <p:cNvSpPr txBox="1"/>
          <p:nvPr/>
        </p:nvSpPr>
        <p:spPr>
          <a:xfrm>
            <a:off x="1051560" y="3188970"/>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البَلَدُ وَالمَدِينَةُ</a:t>
            </a:r>
            <a:endParaRPr lang="ar-SA" sz="1600" dirty="0"/>
          </a:p>
        </p:txBody>
      </p:sp>
      <p:sp>
        <p:nvSpPr>
          <p:cNvPr id="34" name="Text 31"/>
          <p:cNvSpPr txBox="1"/>
          <p:nvPr/>
        </p:nvSpPr>
        <p:spPr>
          <a:xfrm>
            <a:off x="566928" y="3188970"/>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5" name="Shape 32"/>
          <p:cNvSpPr/>
          <p:nvPr/>
        </p:nvSpPr>
        <p:spPr>
          <a:xfrm>
            <a:off x="457200" y="3649599"/>
            <a:ext cx="11274552" cy="405765"/>
          </a:xfrm>
          <a:prstGeom prst="roundRect">
            <a:avLst>
              <a:gd name="adj" fmla="val 11268"/>
            </a:avLst>
          </a:prstGeom>
          <a:solidFill>
            <a:srgbClr val="F4F1EA"/>
          </a:solidFill>
          <a:ln w="9525">
            <a:solidFill>
              <a:srgbClr val="D8D0BF"/>
            </a:solidFill>
            <a:prstDash val="solid"/>
          </a:ln>
        </p:spPr>
      </p:sp>
      <p:sp>
        <p:nvSpPr>
          <p:cNvPr id="36" name="Text 33"/>
          <p:cNvSpPr txBox="1"/>
          <p:nvPr/>
        </p:nvSpPr>
        <p:spPr>
          <a:xfrm>
            <a:off x="9390888" y="3649599"/>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in the middle of England</a:t>
            </a:r>
            <a:endParaRPr lang="en-US" sz="1100" dirty="0"/>
          </a:p>
        </p:txBody>
      </p:sp>
      <p:sp>
        <p:nvSpPr>
          <p:cNvPr id="37" name="Text 34"/>
          <p:cNvSpPr txBox="1"/>
          <p:nvPr/>
        </p:nvSpPr>
        <p:spPr>
          <a:xfrm>
            <a:off x="5074920" y="3649599"/>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فِي وَسَطِ إِنْجِلْتِرَا</a:t>
            </a:r>
            <a:endParaRPr lang="ar-SA" sz="1800" dirty="0"/>
          </a:p>
        </p:txBody>
      </p:sp>
      <p:sp>
        <p:nvSpPr>
          <p:cNvPr id="38" name="Text 35"/>
          <p:cNvSpPr txBox="1"/>
          <p:nvPr/>
        </p:nvSpPr>
        <p:spPr>
          <a:xfrm>
            <a:off x="1051560" y="3649599"/>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أَيْنَ تَقَعُ مَدِينَتُكَ؟</a:t>
            </a:r>
            <a:endParaRPr lang="ar-SA" sz="1600" dirty="0"/>
          </a:p>
        </p:txBody>
      </p:sp>
      <p:sp>
        <p:nvSpPr>
          <p:cNvPr id="39" name="Text 36"/>
          <p:cNvSpPr txBox="1"/>
          <p:nvPr/>
        </p:nvSpPr>
        <p:spPr>
          <a:xfrm>
            <a:off x="566928" y="3649599"/>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0" name="Shape 37"/>
          <p:cNvSpPr/>
          <p:nvPr/>
        </p:nvSpPr>
        <p:spPr>
          <a:xfrm>
            <a:off x="457200" y="4110228"/>
            <a:ext cx="11274552" cy="405765"/>
          </a:xfrm>
          <a:prstGeom prst="roundRect">
            <a:avLst>
              <a:gd name="adj" fmla="val 11268"/>
            </a:avLst>
          </a:prstGeom>
          <a:solidFill>
            <a:srgbClr val="FFFFFF"/>
          </a:solidFill>
          <a:ln w="9525">
            <a:solidFill>
              <a:srgbClr val="D8D0BF"/>
            </a:solidFill>
            <a:prstDash val="solid"/>
          </a:ln>
        </p:spPr>
      </p:sp>
      <p:sp>
        <p:nvSpPr>
          <p:cNvPr id="41" name="Text 38"/>
          <p:cNvSpPr txBox="1"/>
          <p:nvPr/>
        </p:nvSpPr>
        <p:spPr>
          <a:xfrm>
            <a:off x="9390888" y="4110228"/>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Yemen</a:t>
            </a:r>
            <a:endParaRPr lang="en-US" sz="1100" dirty="0"/>
          </a:p>
        </p:txBody>
      </p:sp>
      <p:sp>
        <p:nvSpPr>
          <p:cNvPr id="42" name="Text 39"/>
          <p:cNvSpPr txBox="1"/>
          <p:nvPr/>
        </p:nvSpPr>
        <p:spPr>
          <a:xfrm>
            <a:off x="5074920" y="4110228"/>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اليَمَنُ</a:t>
            </a:r>
            <a:endParaRPr lang="ar-SA" sz="1800" dirty="0"/>
          </a:p>
        </p:txBody>
      </p:sp>
      <p:sp>
        <p:nvSpPr>
          <p:cNvPr id="43" name="Text 40"/>
          <p:cNvSpPr txBox="1"/>
          <p:nvPr/>
        </p:nvSpPr>
        <p:spPr>
          <a:xfrm>
            <a:off x="1051560" y="4110228"/>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أَصْلُ العَائِلَةِ</a:t>
            </a:r>
            <a:endParaRPr lang="ar-SA" sz="1600" dirty="0"/>
          </a:p>
        </p:txBody>
      </p:sp>
      <p:sp>
        <p:nvSpPr>
          <p:cNvPr id="44" name="Text 41"/>
          <p:cNvSpPr txBox="1"/>
          <p:nvPr/>
        </p:nvSpPr>
        <p:spPr>
          <a:xfrm>
            <a:off x="566928" y="4110228"/>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45" name="Shape 42"/>
          <p:cNvSpPr/>
          <p:nvPr/>
        </p:nvSpPr>
        <p:spPr>
          <a:xfrm>
            <a:off x="457200" y="4570857"/>
            <a:ext cx="11274552" cy="405765"/>
          </a:xfrm>
          <a:prstGeom prst="roundRect">
            <a:avLst>
              <a:gd name="adj" fmla="val 11268"/>
            </a:avLst>
          </a:prstGeom>
          <a:solidFill>
            <a:srgbClr val="F4F1EA"/>
          </a:solidFill>
          <a:ln w="9525">
            <a:solidFill>
              <a:srgbClr val="D8D0BF"/>
            </a:solidFill>
            <a:prstDash val="solid"/>
          </a:ln>
        </p:spPr>
      </p:sp>
      <p:sp>
        <p:nvSpPr>
          <p:cNvPr id="46" name="Text 43"/>
          <p:cNvSpPr txBox="1"/>
          <p:nvPr/>
        </p:nvSpPr>
        <p:spPr>
          <a:xfrm>
            <a:off x="9390888" y="4570857"/>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English and Arabic</a:t>
            </a:r>
            <a:endParaRPr lang="en-US" sz="1100" dirty="0"/>
          </a:p>
        </p:txBody>
      </p:sp>
      <p:sp>
        <p:nvSpPr>
          <p:cNvPr id="47" name="Text 44"/>
          <p:cNvSpPr txBox="1"/>
          <p:nvPr/>
        </p:nvSpPr>
        <p:spPr>
          <a:xfrm>
            <a:off x="5074920" y="4570857"/>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الإِنْجِلِيزِيَّةُ وَالعَرَبِيَّةُ</a:t>
            </a:r>
            <a:endParaRPr lang="ar-SA" sz="1800" dirty="0"/>
          </a:p>
        </p:txBody>
      </p:sp>
      <p:sp>
        <p:nvSpPr>
          <p:cNvPr id="48" name="Text 45"/>
          <p:cNvSpPr txBox="1"/>
          <p:nvPr/>
        </p:nvSpPr>
        <p:spPr>
          <a:xfrm>
            <a:off x="1051560" y="4570857"/>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اللُّغَاتُ</a:t>
            </a:r>
            <a:endParaRPr lang="ar-SA" sz="1600" dirty="0"/>
          </a:p>
        </p:txBody>
      </p:sp>
      <p:sp>
        <p:nvSpPr>
          <p:cNvPr id="49" name="Text 46"/>
          <p:cNvSpPr txBox="1"/>
          <p:nvPr/>
        </p:nvSpPr>
        <p:spPr>
          <a:xfrm>
            <a:off x="566928" y="4570857"/>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50" name="Shape 47"/>
          <p:cNvSpPr/>
          <p:nvPr/>
        </p:nvSpPr>
        <p:spPr>
          <a:xfrm>
            <a:off x="457200" y="5031486"/>
            <a:ext cx="11274552" cy="405765"/>
          </a:xfrm>
          <a:prstGeom prst="roundRect">
            <a:avLst>
              <a:gd name="adj" fmla="val 11268"/>
            </a:avLst>
          </a:prstGeom>
          <a:solidFill>
            <a:srgbClr val="FFFFFF"/>
          </a:solidFill>
          <a:ln w="9525">
            <a:solidFill>
              <a:srgbClr val="D8D0BF"/>
            </a:solidFill>
            <a:prstDash val="solid"/>
          </a:ln>
        </p:spPr>
      </p:sp>
      <p:sp>
        <p:nvSpPr>
          <p:cNvPr id="51" name="Text 48"/>
          <p:cNvSpPr txBox="1"/>
          <p:nvPr/>
        </p:nvSpPr>
        <p:spPr>
          <a:xfrm>
            <a:off x="9390888" y="5031486"/>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Oman, in the east of the Arabian Peninsula</a:t>
            </a:r>
            <a:endParaRPr lang="en-US" sz="1100" dirty="0"/>
          </a:p>
        </p:txBody>
      </p:sp>
      <p:sp>
        <p:nvSpPr>
          <p:cNvPr id="52" name="Text 49"/>
          <p:cNvSpPr txBox="1"/>
          <p:nvPr/>
        </p:nvSpPr>
        <p:spPr>
          <a:xfrm>
            <a:off x="5074920" y="5031486"/>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عُمَانُ، فِي شَرْقِ شِبْهِ الجَزِيرَةِ العَرَبِيَّةِ</a:t>
            </a:r>
            <a:endParaRPr lang="ar-SA" sz="1800" dirty="0"/>
          </a:p>
        </p:txBody>
      </p:sp>
      <p:sp>
        <p:nvSpPr>
          <p:cNvPr id="53" name="Text 50"/>
          <p:cNvSpPr txBox="1"/>
          <p:nvPr/>
        </p:nvSpPr>
        <p:spPr>
          <a:xfrm>
            <a:off x="1051560" y="5031486"/>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بَلَدٌ زُرْتَهُ</a:t>
            </a:r>
            <a:endParaRPr lang="ar-SA" sz="1600" dirty="0"/>
          </a:p>
        </p:txBody>
      </p:sp>
      <p:sp>
        <p:nvSpPr>
          <p:cNvPr id="54" name="Text 51"/>
          <p:cNvSpPr txBox="1"/>
          <p:nvPr/>
        </p:nvSpPr>
        <p:spPr>
          <a:xfrm>
            <a:off x="566928" y="5031486"/>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7</a:t>
            </a:r>
            <a:endParaRPr lang="en-US" sz="1100" dirty="0"/>
          </a:p>
        </p:txBody>
      </p:sp>
      <p:sp>
        <p:nvSpPr>
          <p:cNvPr id="55" name="Shape 52"/>
          <p:cNvSpPr/>
          <p:nvPr/>
        </p:nvSpPr>
        <p:spPr>
          <a:xfrm>
            <a:off x="457200" y="5492115"/>
            <a:ext cx="11274552" cy="405765"/>
          </a:xfrm>
          <a:prstGeom prst="roundRect">
            <a:avLst>
              <a:gd name="adj" fmla="val 11268"/>
            </a:avLst>
          </a:prstGeom>
          <a:solidFill>
            <a:srgbClr val="F4F1EA"/>
          </a:solidFill>
          <a:ln w="9525">
            <a:solidFill>
              <a:srgbClr val="D8D0BF"/>
            </a:solidFill>
            <a:prstDash val="solid"/>
          </a:ln>
        </p:spPr>
      </p:sp>
      <p:sp>
        <p:nvSpPr>
          <p:cNvPr id="56" name="Text 53"/>
          <p:cNvSpPr txBox="1"/>
          <p:nvPr/>
        </p:nvSpPr>
        <p:spPr>
          <a:xfrm>
            <a:off x="9390888" y="5492115"/>
            <a:ext cx="2267712" cy="405765"/>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I want to take part to meet young people from different continents.</a:t>
            </a:r>
            <a:endParaRPr lang="en-US" sz="1050" dirty="0"/>
          </a:p>
        </p:txBody>
      </p:sp>
      <p:sp>
        <p:nvSpPr>
          <p:cNvPr id="57" name="Text 54"/>
          <p:cNvSpPr txBox="1"/>
          <p:nvPr/>
        </p:nvSpPr>
        <p:spPr>
          <a:xfrm>
            <a:off x="5074920" y="5492115"/>
            <a:ext cx="4114800" cy="405765"/>
          </a:xfrm>
          <a:prstGeom prst="rect">
            <a:avLst/>
          </a:prstGeom>
          <a:noFill/>
          <a:ln/>
        </p:spPr>
        <p:txBody>
          <a:bodyPr wrap="square" lIns="0" tIns="0" rIns="0" bIns="0" rtlCol="0" anchor="ctr"/>
          <a:lstStyle/>
          <a:p>
            <a:pPr rtl="1" algn="ctr" indent="0" marL="0">
              <a:buNone/>
            </a:pPr>
            <a:r>
              <a:rPr lang="ar-SA" altLang="en-US" sz="1650" b="1" dirty="0">
                <a:solidFill>
                  <a:srgbClr val="1B3B6F"/>
                </a:solidFill>
                <a:latin typeface="Amiri" pitchFamily="2" charset="-78"/>
                <a:ea typeface="Amiri" pitchFamily="2" charset="-78"/>
                <a:cs typeface="Amiri" pitchFamily="2" charset="-78"/>
              </a:rPr>
              <a:t>أُرِيدُ أَنْ أُشَارِكَ لِكَيْ أَتَعَرَّفَ عَلَى شَبَابٍ مِنْ قَارَّاتٍ مُخْتَلِفَةٍ.</a:t>
            </a:r>
            <a:endParaRPr lang="ar-SA" sz="1650" dirty="0"/>
          </a:p>
        </p:txBody>
      </p:sp>
      <p:sp>
        <p:nvSpPr>
          <p:cNvPr id="58" name="Text 55"/>
          <p:cNvSpPr txBox="1"/>
          <p:nvPr/>
        </p:nvSpPr>
        <p:spPr>
          <a:xfrm>
            <a:off x="1051560" y="5492115"/>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جُمْلَةٌ: لِمَاذَا تُرِيدُ أَنْ تُشَارِكَ؟</a:t>
            </a:r>
            <a:endParaRPr lang="ar-SA" sz="1600" dirty="0"/>
          </a:p>
        </p:txBody>
      </p:sp>
      <p:sp>
        <p:nvSpPr>
          <p:cNvPr id="59" name="Text 56"/>
          <p:cNvSpPr txBox="1"/>
          <p:nvPr/>
        </p:nvSpPr>
        <p:spPr>
          <a:xfrm>
            <a:off x="566928" y="5492115"/>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8</a:t>
            </a:r>
            <a:endParaRPr lang="en-US" sz="1100" dirty="0"/>
          </a:p>
        </p:txBody>
      </p:sp>
      <p:sp>
        <p:nvSpPr>
          <p:cNvPr id="60" name="Text 57"/>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Short answers are fine — but they must be accurate, in Arabic, and answer exactly what the form asks.</a:t>
            </a:r>
            <a:endParaRPr lang="en-US" sz="1150" dirty="0"/>
          </a:p>
        </p:txBody>
      </p:sp>
      <p:sp>
        <p:nvSpPr>
          <p:cNvPr id="61" name="Text 5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18</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TC-L01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DIRECTED WRITING · ABOUT 80–90 WORDS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50" b="1" dirty="0">
                <a:solidFill>
                  <a:srgbClr val="1B3B6F"/>
                </a:solidFill>
                <a:latin typeface="Cambria" pitchFamily="34" charset="0"/>
                <a:cs typeface="Amiri" pitchFamily="2" charset="-78"/>
              </a:rPr>
              <a:t>Question 2: friends from around the world</a:t>
            </a:r>
            <a:endParaRPr lang="en-US" sz="22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رِسَالَةٌ مِنَ المُخَيَّمِ الدَّوْلِيِّ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TC-L01</a:t>
            </a:r>
            <a:endParaRPr lang="en-US" sz="850" dirty="0"/>
          </a:p>
        </p:txBody>
      </p:sp>
      <p:sp>
        <p:nvSpPr>
          <p:cNvPr id="15" name="Shape 12"/>
          <p:cNvSpPr/>
          <p:nvPr/>
        </p:nvSpPr>
        <p:spPr>
          <a:xfrm>
            <a:off x="457200" y="1810512"/>
            <a:ext cx="557784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906524" cy="292608"/>
          </a:xfrm>
          <a:prstGeom prst="roundRect">
            <a:avLst>
              <a:gd name="adj" fmla="val 50000"/>
            </a:avLst>
          </a:prstGeom>
          <a:solidFill>
            <a:srgbClr val="1B3B6F"/>
          </a:solidFill>
          <a:ln w="12700">
            <a:solidFill>
              <a:srgbClr val="1B3B6F"/>
            </a:solidFill>
            <a:prstDash val="solid"/>
          </a:ln>
        </p:spPr>
      </p:sp>
      <p:sp>
        <p:nvSpPr>
          <p:cNvPr id="17" name="Text 14"/>
          <p:cNvSpPr txBox="1"/>
          <p:nvPr/>
        </p:nvSpPr>
        <p:spPr>
          <a:xfrm>
            <a:off x="640080" y="1938528"/>
            <a:ext cx="1906524"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Q2 · DIRECTED WRITING</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100" b="1" dirty="0">
                <a:solidFill>
                  <a:srgbClr val="1F2A37"/>
                </a:solidFill>
                <a:latin typeface="Calibri" pitchFamily="34" charset="0"/>
                <a:cs typeface="Amiri" pitchFamily="2" charset="-78"/>
              </a:rPr>
              <a:t>You are at an international youth camp. Write an email in Arabic to your friend of about 80–90 words. You must include: • where the camp is (use a compass point) • two new friends: their nationalities and where they are from • what you did yesterday • your opinion of the camp and a future plan.</a:t>
            </a:r>
            <a:endParaRPr lang="en-US" sz="110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All four bullet points, in order.</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greeting and a closing.</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compass point and two nationalities that agree.</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past AND a future sentence.</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About 80–90 words.</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USEFUL LANGUAGE</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أَنَا فِي … فِي شَمَالِ …</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am in … in the north of …</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هُوَ مَغْرِبِيٌّ مِنْ …</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he is Moroccan from …</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هِيَ مِصْرِيَّةٌ مِنْ …</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she is Egyptian from …</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سَأَزُورُهُ فِي …</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will visit him in …</a:t>
            </a:r>
            <a:endParaRPr lang="en-US" sz="105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18</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TC-L01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THE TASK IN ARABIC (AS IN THE EXAM)</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 the Arabic rubric</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السُّؤَالِ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845552" y="1810512"/>
            <a:ext cx="38130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English</a:t>
            </a:r>
            <a:endParaRPr lang="en-US" sz="1100" dirty="0"/>
          </a:p>
        </p:txBody>
      </p:sp>
      <p:sp>
        <p:nvSpPr>
          <p:cNvPr id="17" name="Text 14"/>
          <p:cNvSpPr txBox="1"/>
          <p:nvPr/>
        </p:nvSpPr>
        <p:spPr>
          <a:xfrm>
            <a:off x="1627632" y="1810512"/>
            <a:ext cx="6071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Arabic</a:t>
            </a:r>
            <a:endParaRPr lang="en-US" sz="1100" dirty="0"/>
          </a:p>
        </p:txBody>
      </p:sp>
      <p:sp>
        <p:nvSpPr>
          <p:cNvPr id="18" name="Text 15"/>
          <p:cNvSpPr txBox="1"/>
          <p:nvPr/>
        </p:nvSpPr>
        <p:spPr>
          <a:xfrm>
            <a:off x="530352" y="1810512"/>
            <a:ext cx="9509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Bullet</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7882128" y="2267712"/>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 are at an international camp: write to your friend (80–90 words).</a:t>
            </a:r>
            <a:endParaRPr lang="en-US" sz="1100" dirty="0"/>
          </a:p>
        </p:txBody>
      </p:sp>
      <p:sp>
        <p:nvSpPr>
          <p:cNvPr id="21" name="Text 18"/>
          <p:cNvSpPr txBox="1"/>
          <p:nvPr/>
        </p:nvSpPr>
        <p:spPr>
          <a:xfrm>
            <a:off x="1645920" y="2267712"/>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أَنْتَ فِي مُخَيَّمٍ دَوْلِيٍّ لِلشَّبَابِ. اكْتُبْ رِسَالَةً إِلَى صَدِيقِكَ (٨٠–٩٠ كَلِمَةً).</a:t>
            </a:r>
            <a:endParaRPr lang="ar-SA" sz="1800" dirty="0"/>
          </a:p>
        </p:txBody>
      </p:sp>
      <p:sp>
        <p:nvSpPr>
          <p:cNvPr id="22" name="Text 19"/>
          <p:cNvSpPr txBox="1"/>
          <p:nvPr/>
        </p:nvSpPr>
        <p:spPr>
          <a:xfrm>
            <a:off x="566928" y="2267712"/>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task</a:t>
            </a:r>
            <a:endParaRPr lang="en-US" sz="1100" dirty="0"/>
          </a:p>
        </p:txBody>
      </p:sp>
      <p:sp>
        <p:nvSpPr>
          <p:cNvPr id="23" name="Shape 20"/>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4" name="Text 21"/>
          <p:cNvSpPr txBox="1"/>
          <p:nvPr/>
        </p:nvSpPr>
        <p:spPr>
          <a:xfrm>
            <a:off x="7882128" y="3004718"/>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Where the camp is</a:t>
            </a:r>
            <a:endParaRPr lang="en-US" sz="1100" dirty="0"/>
          </a:p>
        </p:txBody>
      </p:sp>
      <p:sp>
        <p:nvSpPr>
          <p:cNvPr id="25" name="Text 22"/>
          <p:cNvSpPr txBox="1"/>
          <p:nvPr/>
        </p:nvSpPr>
        <p:spPr>
          <a:xfrm>
            <a:off x="1645920" y="3004718"/>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أَيْنَ يَقَعُ المُخَيَّمُ؟</a:t>
            </a:r>
            <a:endParaRPr lang="ar-SA" sz="1800" dirty="0"/>
          </a:p>
        </p:txBody>
      </p:sp>
      <p:sp>
        <p:nvSpPr>
          <p:cNvPr id="26" name="Text 23"/>
          <p:cNvSpPr txBox="1"/>
          <p:nvPr/>
        </p:nvSpPr>
        <p:spPr>
          <a:xfrm>
            <a:off x="566928" y="3004718"/>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7" name="Shape 24"/>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28" name="Text 25"/>
          <p:cNvSpPr txBox="1"/>
          <p:nvPr/>
        </p:nvSpPr>
        <p:spPr>
          <a:xfrm>
            <a:off x="7882128" y="3741725"/>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Two new friends: nationalities and countries</a:t>
            </a:r>
            <a:endParaRPr lang="en-US" sz="1100" dirty="0"/>
          </a:p>
        </p:txBody>
      </p:sp>
      <p:sp>
        <p:nvSpPr>
          <p:cNvPr id="29" name="Text 26"/>
          <p:cNvSpPr txBox="1"/>
          <p:nvPr/>
        </p:nvSpPr>
        <p:spPr>
          <a:xfrm>
            <a:off x="1645920" y="3741725"/>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صِفْ صَدِيقَيْنِ جَدِيدَيْنِ: جِنْسِيَّتُهُمَا وَبَلَدُهُمَا.</a:t>
            </a:r>
            <a:endParaRPr lang="ar-SA" sz="1800" dirty="0"/>
          </a:p>
        </p:txBody>
      </p:sp>
      <p:sp>
        <p:nvSpPr>
          <p:cNvPr id="30" name="Text 27"/>
          <p:cNvSpPr txBox="1"/>
          <p:nvPr/>
        </p:nvSpPr>
        <p:spPr>
          <a:xfrm>
            <a:off x="566928" y="3741725"/>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1" name="Shape 2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2" name="Text 29"/>
          <p:cNvSpPr txBox="1"/>
          <p:nvPr/>
        </p:nvSpPr>
        <p:spPr>
          <a:xfrm>
            <a:off x="7882128" y="4478731"/>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you did yesterday</a:t>
            </a:r>
            <a:endParaRPr lang="en-US" sz="1100" dirty="0"/>
          </a:p>
        </p:txBody>
      </p:sp>
      <p:sp>
        <p:nvSpPr>
          <p:cNvPr id="33" name="Text 30"/>
          <p:cNvSpPr txBox="1"/>
          <p:nvPr/>
        </p:nvSpPr>
        <p:spPr>
          <a:xfrm>
            <a:off x="1645920" y="4478731"/>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مَاذَا فَعَلْتَ أَمْسِ؟</a:t>
            </a:r>
            <a:endParaRPr lang="ar-SA" sz="1800" dirty="0"/>
          </a:p>
        </p:txBody>
      </p:sp>
      <p:sp>
        <p:nvSpPr>
          <p:cNvPr id="34" name="Text 31"/>
          <p:cNvSpPr txBox="1"/>
          <p:nvPr/>
        </p:nvSpPr>
        <p:spPr>
          <a:xfrm>
            <a:off x="566928" y="4478731"/>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5" name="Shape 32"/>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36" name="Text 33"/>
          <p:cNvSpPr txBox="1"/>
          <p:nvPr/>
        </p:nvSpPr>
        <p:spPr>
          <a:xfrm>
            <a:off x="7882128" y="5215738"/>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Your opinion; a future plan</a:t>
            </a:r>
            <a:endParaRPr lang="en-US" sz="1100" dirty="0"/>
          </a:p>
        </p:txBody>
      </p:sp>
      <p:sp>
        <p:nvSpPr>
          <p:cNvPr id="37" name="Text 34"/>
          <p:cNvSpPr txBox="1"/>
          <p:nvPr/>
        </p:nvSpPr>
        <p:spPr>
          <a:xfrm>
            <a:off x="1645920" y="5215738"/>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مَا رَأْيُكَ فِي المُخَيَّمِ؟ وَمَا خُطَّتُكَ لِلْمُسْتَقْبَلِ؟</a:t>
            </a:r>
            <a:endParaRPr lang="ar-SA" sz="1800" dirty="0"/>
          </a:p>
        </p:txBody>
      </p:sp>
      <p:sp>
        <p:nvSpPr>
          <p:cNvPr id="38" name="Text 35"/>
          <p:cNvSpPr txBox="1"/>
          <p:nvPr/>
        </p:nvSpPr>
        <p:spPr>
          <a:xfrm>
            <a:off x="566928" y="5215738"/>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39" name="Text 3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In the exam the instructions are in Arabic: underline the question word in each bullet.</a:t>
            </a:r>
            <a:endParaRPr lang="en-US" sz="11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18</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TC-L01 · Writing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12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CORE FRAMES (DEVELOP: USE THEM ONLY IF STUCK)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with these frames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028432" y="1810512"/>
            <a:ext cx="36301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English</a:t>
            </a:r>
            <a:endParaRPr lang="en-US" sz="1100" dirty="0"/>
          </a:p>
        </p:txBody>
      </p:sp>
      <p:sp>
        <p:nvSpPr>
          <p:cNvPr id="17" name="Text 14"/>
          <p:cNvSpPr txBox="1"/>
          <p:nvPr/>
        </p:nvSpPr>
        <p:spPr>
          <a:xfrm>
            <a:off x="1627632" y="1810512"/>
            <a:ext cx="6254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Frame</a:t>
            </a:r>
            <a:endParaRPr lang="en-US" sz="1100" dirty="0"/>
          </a:p>
        </p:txBody>
      </p:sp>
      <p:sp>
        <p:nvSpPr>
          <p:cNvPr id="18" name="Text 15"/>
          <p:cNvSpPr txBox="1"/>
          <p:nvPr/>
        </p:nvSpPr>
        <p:spPr>
          <a:xfrm>
            <a:off x="530352" y="1810512"/>
            <a:ext cx="9509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Bullet</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8065008" y="2267712"/>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Hello …, how are you?</a:t>
            </a:r>
            <a:endParaRPr lang="en-US" sz="1100" dirty="0"/>
          </a:p>
        </p:txBody>
      </p:sp>
      <p:sp>
        <p:nvSpPr>
          <p:cNvPr id="21" name="Text 18"/>
          <p:cNvSpPr txBox="1"/>
          <p:nvPr/>
        </p:nvSpPr>
        <p:spPr>
          <a:xfrm>
            <a:off x="1645920" y="2267712"/>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مَرْحَبًا يَا ______ ، كَيْفَ حَالُكَ؟</a:t>
            </a:r>
            <a:endParaRPr lang="ar-SA" sz="1800" dirty="0"/>
          </a:p>
        </p:txBody>
      </p:sp>
      <p:sp>
        <p:nvSpPr>
          <p:cNvPr id="22" name="Text 19"/>
          <p:cNvSpPr txBox="1"/>
          <p:nvPr/>
        </p:nvSpPr>
        <p:spPr>
          <a:xfrm>
            <a:off x="566928" y="2267712"/>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start</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8065008" y="2881884"/>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am now at a camp in …, in the north / south of …</a:t>
            </a:r>
            <a:endParaRPr lang="en-US" sz="1100" dirty="0"/>
          </a:p>
        </p:txBody>
      </p:sp>
      <p:sp>
        <p:nvSpPr>
          <p:cNvPr id="27" name="Text 24"/>
          <p:cNvSpPr txBox="1"/>
          <p:nvPr/>
        </p:nvSpPr>
        <p:spPr>
          <a:xfrm>
            <a:off x="1645920" y="2881884"/>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أَنَا الآنَ فِي مُخَيَّمٍ فِي ______ ، فِي شَمَالِ / جَنُوبِ ______ .</a:t>
            </a:r>
            <a:endParaRPr lang="ar-SA" sz="1800" dirty="0"/>
          </a:p>
        </p:txBody>
      </p:sp>
      <p:sp>
        <p:nvSpPr>
          <p:cNvPr id="28" name="Text 25"/>
          <p:cNvSpPr txBox="1"/>
          <p:nvPr/>
        </p:nvSpPr>
        <p:spPr>
          <a:xfrm>
            <a:off x="566928" y="2881884"/>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8065008" y="3496056"/>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My new friend …, he is … And my friend …, she is …</a:t>
            </a:r>
            <a:endParaRPr lang="en-US" sz="1100" dirty="0"/>
          </a:p>
        </p:txBody>
      </p:sp>
      <p:sp>
        <p:nvSpPr>
          <p:cNvPr id="33" name="Text 30"/>
          <p:cNvSpPr txBox="1"/>
          <p:nvPr/>
        </p:nvSpPr>
        <p:spPr>
          <a:xfrm>
            <a:off x="1645920" y="3496056"/>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صَدِيقِي الجَدِيدُ ______ ، وَهُوَ ______ . وَصَدِيقَتِي ______ ، وَهِيَ ______ .</a:t>
            </a:r>
            <a:endParaRPr lang="ar-SA" sz="1800" dirty="0"/>
          </a:p>
        </p:txBody>
      </p:sp>
      <p:sp>
        <p:nvSpPr>
          <p:cNvPr id="34" name="Text 31"/>
          <p:cNvSpPr txBox="1"/>
          <p:nvPr/>
        </p:nvSpPr>
        <p:spPr>
          <a:xfrm>
            <a:off x="566928" y="3496056"/>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5" name="Shape 32"/>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8" name="Text 35"/>
          <p:cNvSpPr txBox="1"/>
          <p:nvPr/>
        </p:nvSpPr>
        <p:spPr>
          <a:xfrm>
            <a:off x="8065008" y="4110228"/>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Yesterday we … together.</a:t>
            </a:r>
            <a:endParaRPr lang="en-US" sz="1100" dirty="0"/>
          </a:p>
        </p:txBody>
      </p:sp>
      <p:sp>
        <p:nvSpPr>
          <p:cNvPr id="39" name="Text 36"/>
          <p:cNvSpPr txBox="1"/>
          <p:nvPr/>
        </p:nvSpPr>
        <p:spPr>
          <a:xfrm>
            <a:off x="1645920" y="4110228"/>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أَمْسِ ______ مَعًا.</a:t>
            </a:r>
            <a:endParaRPr lang="ar-SA" sz="1800" dirty="0"/>
          </a:p>
        </p:txBody>
      </p:sp>
      <p:sp>
        <p:nvSpPr>
          <p:cNvPr id="40" name="Text 37"/>
          <p:cNvSpPr txBox="1"/>
          <p:nvPr/>
        </p:nvSpPr>
        <p:spPr>
          <a:xfrm>
            <a:off x="566928" y="4110228"/>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41" name="Shape 38"/>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3" name="Shape 40"/>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4" name="Text 41"/>
          <p:cNvSpPr txBox="1"/>
          <p:nvPr/>
        </p:nvSpPr>
        <p:spPr>
          <a:xfrm>
            <a:off x="8065008" y="4724400"/>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camp is … In future I will visit …</a:t>
            </a:r>
            <a:endParaRPr lang="en-US" sz="1100" dirty="0"/>
          </a:p>
        </p:txBody>
      </p:sp>
      <p:sp>
        <p:nvSpPr>
          <p:cNvPr id="45" name="Text 42"/>
          <p:cNvSpPr txBox="1"/>
          <p:nvPr/>
        </p:nvSpPr>
        <p:spPr>
          <a:xfrm>
            <a:off x="1645920" y="4724400"/>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المُخَيَّمُ ______ . فِي المُسْتَقْبَلِ سَأَزُورُ ______ .</a:t>
            </a:r>
            <a:endParaRPr lang="ar-SA" sz="1800" dirty="0"/>
          </a:p>
        </p:txBody>
      </p:sp>
      <p:sp>
        <p:nvSpPr>
          <p:cNvPr id="46" name="Text 43"/>
          <p:cNvSpPr txBox="1"/>
          <p:nvPr/>
        </p:nvSpPr>
        <p:spPr>
          <a:xfrm>
            <a:off x="566928" y="4724400"/>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7" name="Shape 44"/>
          <p:cNvSpPr/>
          <p:nvPr/>
        </p:nvSpPr>
        <p:spPr>
          <a:xfrm>
            <a:off x="11091672" y="4770120"/>
            <a:ext cx="548640" cy="182880"/>
          </a:xfrm>
          <a:prstGeom prst="roundRect">
            <a:avLst>
              <a:gd name="adj" fmla="val 50000"/>
            </a:avLst>
          </a:prstGeom>
          <a:solidFill>
            <a:srgbClr val="2E8B57"/>
          </a:solidFill>
          <a:ln w="12700">
            <a:solidFill>
              <a:srgbClr val="2E8B57"/>
            </a:solidFill>
            <a:prstDash val="solid"/>
          </a:ln>
        </p:spPr>
      </p:sp>
      <p:sp>
        <p:nvSpPr>
          <p:cNvPr id="48" name="Text 45"/>
          <p:cNvSpPr txBox="1"/>
          <p:nvPr/>
        </p:nvSpPr>
        <p:spPr>
          <a:xfrm>
            <a:off x="11091672" y="477012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9" name="Shape 4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0" name="Text 47"/>
          <p:cNvSpPr txBox="1"/>
          <p:nvPr/>
        </p:nvSpPr>
        <p:spPr>
          <a:xfrm>
            <a:off x="8065008" y="5338572"/>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Goodbye, (your name)</a:t>
            </a:r>
            <a:endParaRPr lang="en-US" sz="1100" dirty="0"/>
          </a:p>
        </p:txBody>
      </p:sp>
      <p:sp>
        <p:nvSpPr>
          <p:cNvPr id="51" name="Text 48"/>
          <p:cNvSpPr txBox="1"/>
          <p:nvPr/>
        </p:nvSpPr>
        <p:spPr>
          <a:xfrm>
            <a:off x="1645920" y="5338572"/>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مَعَ السَّلَامَةِ، ______</a:t>
            </a:r>
            <a:endParaRPr lang="ar-SA" sz="1800" dirty="0"/>
          </a:p>
        </p:txBody>
      </p:sp>
      <p:sp>
        <p:nvSpPr>
          <p:cNvPr id="52" name="Text 49"/>
          <p:cNvSpPr txBox="1"/>
          <p:nvPr/>
        </p:nvSpPr>
        <p:spPr>
          <a:xfrm>
            <a:off x="566928" y="5338572"/>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end</a:t>
            </a:r>
            <a:endParaRPr lang="en-US" sz="1100" dirty="0"/>
          </a:p>
        </p:txBody>
      </p:sp>
      <p:sp>
        <p:nvSpPr>
          <p:cNvPr id="53" name="Shape 50"/>
          <p:cNvSpPr/>
          <p:nvPr/>
        </p:nvSpPr>
        <p:spPr>
          <a:xfrm>
            <a:off x="11091672" y="5384292"/>
            <a:ext cx="548640" cy="182880"/>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1091672" y="538429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5" name="Text 5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Develop: add a frequency word and a “but” (lākin). Stretch: write without frames and add a second opinion.</a:t>
            </a:r>
            <a:endParaRPr lang="en-US" sz="115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18</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TC-L01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2 · CORE MODEL · A SECURE ANSWER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Q2 Core model: every bullet covered</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TC-L01</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900" dirty="0">
                <a:solidFill>
                  <a:srgbClr val="1F2A37"/>
                </a:solidFill>
                <a:latin typeface="Amiri" pitchFamily="2" charset="-78"/>
                <a:ea typeface="Amiri" pitchFamily="2" charset="-78"/>
                <a:cs typeface="Amiri" pitchFamily="2" charset="-78"/>
              </a:rPr>
              <a:t>مَرْحَبًا يَا كَرِيمُ،</a:t>
            </a:r>
            <a:endParaRPr lang="ar-SA" sz="1900" dirty="0"/>
          </a:p>
          <a:p>
            <a:pPr rtl="1" algn="r" indent="0" marL="0">
              <a:lnSpc>
                <a:spcPct val="120000"/>
              </a:lnSpc>
              <a:buNone/>
            </a:pPr>
            <a:r>
              <a:rPr lang="ar-SA" altLang="en-US" sz="1900" dirty="0">
                <a:solidFill>
                  <a:srgbClr val="1F2A37"/>
                </a:solidFill>
                <a:latin typeface="Amiri" pitchFamily="2" charset="-78"/>
                <a:ea typeface="Amiri" pitchFamily="2" charset="-78"/>
                <a:cs typeface="Amiri" pitchFamily="2" charset="-78"/>
              </a:rPr>
              <a:t>كَيْفَ حَالُكَ؟ أَنَا الآنَ فِي مُخَيَّمٍ دَوْلِيٍّ فِي اسْكُتْلَنْدَا، فِي شَمَالِ بِرِيطَانِيَا. فِي المُخَيَّمِ شَبَابٌ مِنْ عِشْرِينَ بَلَدًا. صَدِيقِي الجَدِيدُ اسْمُهُ أَمِينٌ، وَهُوَ مَغْرِبِيٌّ مِنْ مَدِينَةِ الرِّبَاطِ، وَهِيَ عَاصِمَةُ المَغْرِبِ. عِنْدِي صَدِيقَةٌ مِصْرِيَّةٌ أَيْضًا اسْمُهَا سَلْمَى. أَمْسِ رَسَمْنَا خَرِيطَةً كَبِيرَةً لِلْعَالَمِ، وَوَضَعَ كُلُّ وَاحِدٍ بَلَدَهُ عَلَيْهَا. المُخَيَّمُ مُمْتِعٌ جِدًّا. فِي الصَّيْفِ القَادِمِ سَأَزُورُ أَمِينًا فِي المَغْرِبِ!</a:t>
            </a:r>
            <a:endParaRPr lang="ar-SA" sz="1900" dirty="0"/>
          </a:p>
          <a:p>
            <a:pPr rtl="1" algn="r" indent="0" marL="0">
              <a:lnSpc>
                <a:spcPct val="120000"/>
              </a:lnSpc>
              <a:buNone/>
            </a:pPr>
            <a:r>
              <a:rPr lang="ar-SA" altLang="en-US" sz="1900" dirty="0">
                <a:solidFill>
                  <a:srgbClr val="1F2A37"/>
                </a:solidFill>
                <a:latin typeface="Amiri" pitchFamily="2" charset="-78"/>
                <a:ea typeface="Amiri" pitchFamily="2" charset="-78"/>
                <a:cs typeface="Amiri" pitchFamily="2" charset="-78"/>
              </a:rPr>
              <a:t>مَعَ السَّلَامَةِ،</a:t>
            </a:r>
            <a:endParaRPr lang="ar-SA" sz="1900" dirty="0"/>
          </a:p>
          <a:p>
            <a:pPr rtl="1" algn="r" indent="0" marL="0">
              <a:lnSpc>
                <a:spcPct val="120000"/>
              </a:lnSpc>
              <a:buNone/>
            </a:pPr>
            <a:r>
              <a:rPr lang="ar-SA" altLang="en-US" sz="1900" dirty="0">
                <a:solidFill>
                  <a:srgbClr val="1F2A37"/>
                </a:solidFill>
                <a:latin typeface="Amiri" pitchFamily="2" charset="-78"/>
                <a:ea typeface="Amiri" pitchFamily="2" charset="-78"/>
                <a:cs typeface="Amiri" pitchFamily="2" charset="-78"/>
              </a:rPr>
              <a:t>آدَمُ</a:t>
            </a:r>
            <a:endParaRPr lang="ar-SA" sz="19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“Hello Karim, how are you? I am now at an international camp in Scotland, in the north of Britain. There are young people from twenty countries. My new friend is called Amin; he is Moroccan, from Rabat, the capital of Morocco. I also have an Egyptian friend called Salma. Yesterday we drew a big world map, and everyone put their country on it. The camp is great fun. Next summer I will visit Amin in Morocco! Goodbye, Adam.”</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فِي شَمَالِ بِرِيطَانِيَا</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وَهُوَ مَغْرِبِيٌّ</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صَدِيقَةٌ مِصْرِيَّةٌ</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سَأَزُورُ</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18</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TC-L01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2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cs typeface="Amiri" pitchFamily="2" charset="-78"/>
              </a:rPr>
              <a:t>Q2 full-mark model: detail, linking, opinion</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TC-L01</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عَزِيزِي كَرِيمٌ،</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تَحِيَّةً طَيِّبَةً، وَبَعْدُ، فَأَنَا أَكْتُبُ إِلَيْكَ مِنْ مُخَيَّمٍ دَوْلِيٍّ لِلشَّبَابِ فِي جِبَالِ اسْكُتْلَنْدَا، فِي أَقْصَى شَمَالِ بِرِيطَانِيَا. يَجْمَعُ المُخَيَّمُ أَكْثَرَ مِنْ مِئَةِ شَابٍّ مِنْ عِشْرِينَ بَلَدًا، وَقَدْ تَعَرَّفْتُ عَلَى أَمِينٍ، وَهُوَ مَغْرِبِيٌّ مِنَ الرِّبَاطِ، وَعَلَى سَلْمَى، وَهِيَ مِصْرِيَّةٌ مِنَ الإِسْكَنْدَرِيَّةِ. أَمْسِ رَسَمْنَا خَرِيطَةً ضَخْمَةً لِلْعَالَمِ، ثُمَّ حَكَى كُلُّ وَاحِدٍ عَنْ بَلَدِهِ، فَاكْتَشَفْتُ أَنَّ المَغْرِبَ أَكْبَرُ مِنْ بِرِيطَانِيَا، لٰكِنَّ عَدَدَ سُكَّانِهِ أَقَلُّ. صَحِيحٌ أَنَّ الجَوَّ هُنَا بَارِدٌ وَمُمْطِرٌ، غَيْرَ أَنَّ الأَصْدِقَاءَ يُدَفِّئُونَ كُلَّ شَيْءٍ. وَإِذَا سَمَحَ لِي وَالِدَايَ، فَسَأَزُورُ أَمِينًا فِي الصَّيْفِ القَادِمِ.</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مَعَ تَحِيَّاتِي،</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آدَمُ</a:t>
            </a:r>
            <a:endParaRPr lang="ar-SA" sz="16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“Dear Karim, greetings. I’m writing from an international youth camp in the Scottish mountains, in the far north of Britain. The camp brings together over a hundred young people from twenty countries; I’ve met Amin, a Moroccan from Rabat, and Salma, an Egyptian from Alexandria. Yesterday we drew a huge world map, then each person talked about their country, and I discovered that Morocco is bigger than Britain but has fewer people. It is true the weather here is cold and rainy, but friends warm everything up. And if my parents let me, I’ll visit Amin next summer. Best wishes, Adam.”</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فِي أَقْصَى شَمَالِ</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وَهِيَ مِصْرِيَّةٌ</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أَكْبَرُ مِنْ … لٰكِنَّ</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إِذَا سَمَحَ … فَسَأَزُورُ</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18</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TC-L01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QUESTION 3 · EXTENDED WRITING · ABOUT 130–150 WORDS · CHOOSE ONE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Question 3: choose one title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اخْتَرْ عُنْوَانًا وَاحِدًا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571232" y="1810512"/>
            <a:ext cx="40873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English</a:t>
            </a:r>
            <a:endParaRPr lang="en-US" sz="1100" dirty="0"/>
          </a:p>
        </p:txBody>
      </p:sp>
      <p:sp>
        <p:nvSpPr>
          <p:cNvPr id="17" name="Text 14"/>
          <p:cNvSpPr txBox="1"/>
          <p:nvPr/>
        </p:nvSpPr>
        <p:spPr>
          <a:xfrm>
            <a:off x="153619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Arabic</a:t>
            </a:r>
            <a:endParaRPr lang="en-US" sz="1100" dirty="0"/>
          </a:p>
        </p:txBody>
      </p:sp>
      <p:sp>
        <p:nvSpPr>
          <p:cNvPr id="18" name="Text 15"/>
          <p:cNvSpPr txBox="1"/>
          <p:nvPr/>
        </p:nvSpPr>
        <p:spPr>
          <a:xfrm>
            <a:off x="530352" y="1810512"/>
            <a:ext cx="859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Title</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7607808" y="2267712"/>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My roots on the map</a:t>
            </a:r>
            <a:endParaRPr lang="en-US" sz="1100" dirty="0"/>
          </a:p>
        </p:txBody>
      </p:sp>
      <p:sp>
        <p:nvSpPr>
          <p:cNvPr id="21" name="Text 18"/>
          <p:cNvSpPr txBox="1"/>
          <p:nvPr/>
        </p:nvSpPr>
        <p:spPr>
          <a:xfrm>
            <a:off x="1554480" y="2267712"/>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جُذُورِي عَلَى الخَرِيطَةِ</a:t>
            </a:r>
            <a:endParaRPr lang="ar-SA" sz="1700" dirty="0"/>
          </a:p>
        </p:txBody>
      </p:sp>
      <p:sp>
        <p:nvSpPr>
          <p:cNvPr id="22" name="Text 19"/>
          <p:cNvSpPr txBox="1"/>
          <p:nvPr/>
        </p:nvSpPr>
        <p:spPr>
          <a:xfrm>
            <a:off x="548640" y="2267712"/>
            <a:ext cx="8229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(أ)</a:t>
            </a:r>
            <a:endParaRPr lang="ar-SA" sz="2000" dirty="0"/>
          </a:p>
        </p:txBody>
      </p:sp>
      <p:sp>
        <p:nvSpPr>
          <p:cNvPr id="23" name="Shape 20"/>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4" name="Text 21"/>
          <p:cNvSpPr txBox="1"/>
          <p:nvPr/>
        </p:nvSpPr>
        <p:spPr>
          <a:xfrm>
            <a:off x="7607808" y="3054096"/>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Where you live and where your town is · your family’s origin and where it is · a trip to another country · your opinion and dreams</a:t>
            </a:r>
            <a:endParaRPr lang="en-US" sz="1100" dirty="0"/>
          </a:p>
        </p:txBody>
      </p:sp>
      <p:sp>
        <p:nvSpPr>
          <p:cNvPr id="25" name="Text 22"/>
          <p:cNvSpPr txBox="1"/>
          <p:nvPr/>
        </p:nvSpPr>
        <p:spPr>
          <a:xfrm>
            <a:off x="1554480" y="3054096"/>
            <a:ext cx="5852160" cy="731520"/>
          </a:xfrm>
          <a:prstGeom prst="rect">
            <a:avLst/>
          </a:prstGeom>
          <a:noFill/>
          <a:ln/>
        </p:spPr>
        <p:txBody>
          <a:bodyPr wrap="square" lIns="0" tIns="0" rIns="0" bIns="0" rtlCol="0" anchor="ctr"/>
          <a:lstStyle/>
          <a:p>
            <a:pPr rtl="1" algn="ct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أَيْنَ تَسْكُنُ؟ وَأَيْنَ تَقَعُ مَدِينَتُكَ؟ · أَصْلُ عَائِلَتِكَ وَمَكَانُهُ · رِحْلَةٌ إِلَى بَلَدٍ آخَرَ · رَأْيُكَ وَأَحْلَامُكَ</a:t>
            </a:r>
            <a:endParaRPr lang="ar-SA" sz="1400" dirty="0"/>
          </a:p>
        </p:txBody>
      </p:sp>
      <p:sp>
        <p:nvSpPr>
          <p:cNvPr id="26" name="Text 23"/>
          <p:cNvSpPr txBox="1"/>
          <p:nvPr/>
        </p:nvSpPr>
        <p:spPr>
          <a:xfrm>
            <a:off x="566928" y="3054096"/>
            <a:ext cx="822960" cy="731520"/>
          </a:xfrm>
          <a:prstGeom prst="rect">
            <a:avLst/>
          </a:prstGeom>
          <a:noFill/>
          <a:ln/>
        </p:spPr>
        <p:txBody>
          <a:bodyPr wrap="square" lIns="0" tIns="0" rIns="0" bIns="0" rtlCol="0" anchor="ctr"/>
          <a:lstStyle/>
          <a:p>
            <a:pPr algn="l" indent="0" marL="0">
              <a:buNone/>
            </a:pPr>
            <a:endParaRPr lang="en-US" sz="1100" dirty="0"/>
          </a:p>
        </p:txBody>
      </p:sp>
      <p:sp>
        <p:nvSpPr>
          <p:cNvPr id="27" name="Shape 24"/>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28" name="Text 25"/>
          <p:cNvSpPr txBox="1"/>
          <p:nvPr/>
        </p:nvSpPr>
        <p:spPr>
          <a:xfrm>
            <a:off x="7607808" y="3840480"/>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world is a small village</a:t>
            </a:r>
            <a:endParaRPr lang="en-US" sz="1100" dirty="0"/>
          </a:p>
        </p:txBody>
      </p:sp>
      <p:sp>
        <p:nvSpPr>
          <p:cNvPr id="29" name="Text 26"/>
          <p:cNvSpPr txBox="1"/>
          <p:nvPr/>
        </p:nvSpPr>
        <p:spPr>
          <a:xfrm>
            <a:off x="1554480" y="3840480"/>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العَالَمُ قَرْيَةٌ صَغِيرَةٌ</a:t>
            </a:r>
            <a:endParaRPr lang="ar-SA" sz="1700" dirty="0"/>
          </a:p>
        </p:txBody>
      </p:sp>
      <p:sp>
        <p:nvSpPr>
          <p:cNvPr id="30" name="Text 27"/>
          <p:cNvSpPr txBox="1"/>
          <p:nvPr/>
        </p:nvSpPr>
        <p:spPr>
          <a:xfrm>
            <a:off x="548640" y="3840480"/>
            <a:ext cx="8229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(ب)</a:t>
            </a:r>
            <a:endParaRPr lang="ar-SA" sz="2000" dirty="0"/>
          </a:p>
        </p:txBody>
      </p:sp>
      <p:sp>
        <p:nvSpPr>
          <p:cNvPr id="31" name="Shape 28"/>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2" name="Text 29"/>
          <p:cNvSpPr txBox="1"/>
          <p:nvPr/>
        </p:nvSpPr>
        <p:spPr>
          <a:xfrm>
            <a:off x="7607808" y="4626864"/>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How the world has become closer · past and present · an experience at your school or in your area · pros, cons and your suggestion</a:t>
            </a:r>
            <a:endParaRPr lang="en-US" sz="1100" dirty="0"/>
          </a:p>
        </p:txBody>
      </p:sp>
      <p:sp>
        <p:nvSpPr>
          <p:cNvPr id="33" name="Text 30"/>
          <p:cNvSpPr txBox="1"/>
          <p:nvPr/>
        </p:nvSpPr>
        <p:spPr>
          <a:xfrm>
            <a:off x="1554480" y="4626864"/>
            <a:ext cx="5852160" cy="731520"/>
          </a:xfrm>
          <a:prstGeom prst="rect">
            <a:avLst/>
          </a:prstGeom>
          <a:noFill/>
          <a:ln/>
        </p:spPr>
        <p:txBody>
          <a:bodyPr wrap="square" lIns="0" tIns="0" rIns="0" bIns="0" rtlCol="0" anchor="ctr"/>
          <a:lstStyle/>
          <a:p>
            <a:pPr rtl="1" algn="ct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كَيْفَ أَصْبَحَ العَالَمُ أَقْرَبَ؟ · المَاضِي وَالحَاضِرُ · تَجْرِبَةٌ فِي مَدْرَسَتِكَ أَوْ حَيِّكَ · الإِيجَابِيَّاتُ وَالسَّلْبِيَّاتُ وَاقْتِرَاحُكَ</a:t>
            </a:r>
            <a:endParaRPr lang="ar-SA" sz="1400" dirty="0"/>
          </a:p>
        </p:txBody>
      </p:sp>
      <p:sp>
        <p:nvSpPr>
          <p:cNvPr id="34" name="Text 31"/>
          <p:cNvSpPr txBox="1"/>
          <p:nvPr/>
        </p:nvSpPr>
        <p:spPr>
          <a:xfrm>
            <a:off x="566928" y="4626864"/>
            <a:ext cx="822960" cy="731520"/>
          </a:xfrm>
          <a:prstGeom prst="rect">
            <a:avLst/>
          </a:prstGeom>
          <a:noFill/>
          <a:ln/>
        </p:spPr>
        <p:txBody>
          <a:bodyPr wrap="square" lIns="0" tIns="0" rIns="0" bIns="0" rtlCol="0" anchor="ctr"/>
          <a:lstStyle/>
          <a:p>
            <a:pPr algn="l" indent="0" marL="0">
              <a:buNone/>
            </a:pPr>
            <a:endParaRPr lang="en-US" sz="1100" dirty="0"/>
          </a:p>
        </p:txBody>
      </p:sp>
      <p:sp>
        <p:nvSpPr>
          <p:cNvPr id="35" name="Text 3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Cover all four points. Use three time frames (present · past · future), opinions with reasons, and linking words.</a:t>
            </a:r>
            <a:endParaRPr lang="en-US" sz="11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18</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TC-L01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3 · PLAN BEFORE YOU WRITE (4 PARAGRAPHS)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 four-paragraph plan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خُطَّةُ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TC-L01</a:t>
            </a:r>
            <a:endParaRPr lang="en-US" sz="850" dirty="0"/>
          </a:p>
        </p:txBody>
      </p:sp>
      <p:sp>
        <p:nvSpPr>
          <p:cNvPr id="15" name="Shape 12"/>
          <p:cNvSpPr/>
          <p:nvPr/>
        </p:nvSpPr>
        <p:spPr>
          <a:xfrm>
            <a:off x="457200" y="1810512"/>
            <a:ext cx="6172200" cy="3456432"/>
          </a:xfrm>
          <a:prstGeom prst="roundRect">
            <a:avLst>
              <a:gd name="adj" fmla="val 211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ONE PARAGRAPH FOR EACH POINT</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Where you live — your town and where it lies (fī wasaṭi …, fī shamāli …); nationalities in your class.</a:t>
            </a:r>
            <a:endParaRPr lang="en-US" sz="1300" dirty="0"/>
          </a:p>
        </p:txBody>
      </p:sp>
      <p:sp>
        <p:nvSpPr>
          <p:cNvPr id="20" name="Shape 17"/>
          <p:cNvSpPr/>
          <p:nvPr/>
        </p:nvSpPr>
        <p:spPr>
          <a:xfrm>
            <a:off x="658368" y="3035808"/>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035808"/>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2926080"/>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Your roots — country, capital, neighbours by compass point (fī sh-shamāli taqaʿu …).</a:t>
            </a:r>
            <a:endParaRPr lang="en-US" sz="1300" dirty="0"/>
          </a:p>
        </p:txBody>
      </p:sp>
      <p:sp>
        <p:nvSpPr>
          <p:cNvPr id="23" name="Shape 20"/>
          <p:cNvSpPr/>
          <p:nvPr/>
        </p:nvSpPr>
        <p:spPr>
          <a:xfrm>
            <a:off x="658368" y="3785616"/>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378561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3675888"/>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Past — a trip: safartu, zurnā, raʾaynā; a comparison (akbar min / aḥarr min).</a:t>
            </a:r>
            <a:endParaRPr lang="en-US" sz="1300" dirty="0"/>
          </a:p>
        </p:txBody>
      </p:sp>
      <p:sp>
        <p:nvSpPr>
          <p:cNvPr id="26" name="Shape 23"/>
          <p:cNvSpPr/>
          <p:nvPr/>
        </p:nvSpPr>
        <p:spPr>
          <a:xfrm>
            <a:off x="658368" y="4535424"/>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4535424"/>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4425696"/>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Opinion + future — fī raʾyī …, sa- …; Stretch: ṣaḥīḥun anna … ghayra anna, law … la-.</a:t>
            </a:r>
            <a:endParaRPr lang="en-US" sz="1300" dirty="0"/>
          </a:p>
        </p:txBody>
      </p:sp>
      <p:sp>
        <p:nvSpPr>
          <p:cNvPr id="29" name="Shape 26"/>
          <p:cNvSpPr/>
          <p:nvPr/>
        </p:nvSpPr>
        <p:spPr>
          <a:xfrm>
            <a:off x="6812280" y="1810512"/>
            <a:ext cx="4919472" cy="3456432"/>
          </a:xfrm>
          <a:prstGeom prst="roundRect">
            <a:avLst>
              <a:gd name="adj" fmla="val 211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ONE SENTENCE PER TIME FRAME</a:t>
            </a:r>
            <a:endParaRPr lang="en-US" sz="1000" dirty="0"/>
          </a:p>
        </p:txBody>
      </p:sp>
      <p:sp>
        <p:nvSpPr>
          <p:cNvPr id="31" name="Text 28"/>
          <p:cNvSpPr txBox="1"/>
          <p:nvPr/>
        </p:nvSpPr>
        <p:spPr>
          <a:xfrm>
            <a:off x="6949440" y="2194560"/>
            <a:ext cx="4645152" cy="566684"/>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تَقَعُ مَدِينَتِي فِي وَسَطِ إِنْجِلْتِرَا.</a:t>
            </a:r>
            <a:endParaRPr lang="ar-SA" sz="2600" dirty="0"/>
          </a:p>
        </p:txBody>
      </p:sp>
      <p:sp>
        <p:nvSpPr>
          <p:cNvPr id="32" name="Text 29"/>
          <p:cNvSpPr txBox="1"/>
          <p:nvPr/>
        </p:nvSpPr>
        <p:spPr>
          <a:xfrm>
            <a:off x="6949440" y="2761244"/>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present: my town is in the middle of England.</a:t>
            </a:r>
            <a:endParaRPr lang="en-US" sz="1100" dirty="0"/>
          </a:p>
        </p:txBody>
      </p:sp>
      <p:sp>
        <p:nvSpPr>
          <p:cNvPr id="33" name="Shape 30"/>
          <p:cNvSpPr/>
          <p:nvPr/>
        </p:nvSpPr>
        <p:spPr>
          <a:xfrm>
            <a:off x="6995160" y="3188208"/>
            <a:ext cx="4553712" cy="0"/>
          </a:xfrm>
          <a:prstGeom prst="line">
            <a:avLst/>
          </a:prstGeom>
          <a:noFill/>
          <a:ln w="9525">
            <a:solidFill>
              <a:srgbClr val="E4DCCB"/>
            </a:solidFill>
            <a:prstDash val="dash"/>
          </a:ln>
        </p:spPr>
      </p:sp>
      <p:sp>
        <p:nvSpPr>
          <p:cNvPr id="34" name="Text 31"/>
          <p:cNvSpPr txBox="1"/>
          <p:nvPr/>
        </p:nvSpPr>
        <p:spPr>
          <a:xfrm>
            <a:off x="6949440" y="3206496"/>
            <a:ext cx="4645152" cy="566684"/>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زُرْنَا مَسْقَطَ، وَهِيَ عَاصِمَةُ عُمَانَ.</a:t>
            </a:r>
            <a:endParaRPr lang="ar-SA" sz="2600" dirty="0"/>
          </a:p>
        </p:txBody>
      </p:sp>
      <p:sp>
        <p:nvSpPr>
          <p:cNvPr id="35" name="Text 32"/>
          <p:cNvSpPr txBox="1"/>
          <p:nvPr/>
        </p:nvSpPr>
        <p:spPr>
          <a:xfrm>
            <a:off x="6949440" y="3773180"/>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past: we visited Muscat, the capital of Oman.</a:t>
            </a:r>
            <a:endParaRPr lang="en-US" sz="1100" dirty="0"/>
          </a:p>
        </p:txBody>
      </p:sp>
      <p:sp>
        <p:nvSpPr>
          <p:cNvPr id="36" name="Shape 33"/>
          <p:cNvSpPr/>
          <p:nvPr/>
        </p:nvSpPr>
        <p:spPr>
          <a:xfrm>
            <a:off x="6995160" y="4200144"/>
            <a:ext cx="4553712" cy="0"/>
          </a:xfrm>
          <a:prstGeom prst="line">
            <a:avLst/>
          </a:prstGeom>
          <a:noFill/>
          <a:ln w="9525">
            <a:solidFill>
              <a:srgbClr val="E4DCCB"/>
            </a:solidFill>
            <a:prstDash val="dash"/>
          </a:ln>
        </p:spPr>
      </p:sp>
      <p:sp>
        <p:nvSpPr>
          <p:cNvPr id="37" name="Text 34"/>
          <p:cNvSpPr txBox="1"/>
          <p:nvPr/>
        </p:nvSpPr>
        <p:spPr>
          <a:xfrm>
            <a:off x="6949440" y="4218432"/>
            <a:ext cx="4645152" cy="566684"/>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سَأَزُورُ قَرْيَةَ جَدِّي فِي الجِبَالِ.</a:t>
            </a:r>
            <a:endParaRPr lang="ar-SA" sz="2600" dirty="0"/>
          </a:p>
        </p:txBody>
      </p:sp>
      <p:sp>
        <p:nvSpPr>
          <p:cNvPr id="38" name="Text 35"/>
          <p:cNvSpPr txBox="1"/>
          <p:nvPr/>
        </p:nvSpPr>
        <p:spPr>
          <a:xfrm>
            <a:off x="6949440" y="4785116"/>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future: I will visit my grandfather’s village in the mountains.</a:t>
            </a:r>
            <a:endParaRPr lang="en-US" sz="1100" dirty="0"/>
          </a:p>
        </p:txBody>
      </p:sp>
      <p:sp>
        <p:nvSpPr>
          <p:cNvPr id="39" name="Shape 36"/>
          <p:cNvSpPr/>
          <p:nvPr/>
        </p:nvSpPr>
        <p:spPr>
          <a:xfrm>
            <a:off x="457200" y="5394960"/>
            <a:ext cx="11274552" cy="914400"/>
          </a:xfrm>
          <a:prstGeom prst="roundRect">
            <a:avLst>
              <a:gd name="adj" fmla="val 8000"/>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58368" y="5468112"/>
            <a:ext cx="1920240" cy="768096"/>
          </a:xfrm>
          <a:prstGeom prst="rect">
            <a:avLst/>
          </a:prstGeom>
          <a:noFill/>
          <a:ln/>
        </p:spPr>
        <p:txBody>
          <a:bodyPr wrap="square" lIns="0" tIns="0" rIns="0" bIns="0" rtlCol="0" anchor="ctr"/>
          <a:lstStyle/>
          <a:p>
            <a:pPr algn="l" indent="0" marL="0">
              <a:buNone/>
            </a:pPr>
            <a:r>
              <a:rPr lang="en-US" sz="1100" b="1" spc="100" kern="0" dirty="0">
                <a:solidFill>
                  <a:srgbClr val="8A6D1E"/>
                </a:solidFill>
                <a:latin typeface="Calibri" pitchFamily="34" charset="0"/>
                <a:cs typeface="Amiri" pitchFamily="2" charset="-78"/>
              </a:rPr>
              <a:t>ROUTES</a:t>
            </a:r>
            <a:endParaRPr lang="en-US" sz="1100" dirty="0"/>
          </a:p>
        </p:txBody>
      </p:sp>
      <p:sp>
        <p:nvSpPr>
          <p:cNvPr id="41" name="Text 38"/>
          <p:cNvSpPr txBox="1"/>
          <p:nvPr/>
        </p:nvSpPr>
        <p:spPr>
          <a:xfrm>
            <a:off x="2606040" y="5449824"/>
            <a:ext cx="89611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Core: title (</a:t>
            </a:r>
            <a:pPr algn="l" indent="0" marL="0">
              <a:buNone/>
            </a:pPr>
            <a:r>
              <a:rPr lang="ar-SA" altLang="en-US" sz="1650" dirty="0">
                <a:solidFill>
                  <a:srgbClr val="1F2A37"/>
                </a:solidFill>
                <a:latin typeface="Amiri" pitchFamily="2" charset="-78"/>
                <a:ea typeface="Amiri" pitchFamily="2" charset="-78"/>
                <a:cs typeface="Amiri" pitchFamily="2" charset="-78"/>
              </a:rPr>
              <a:t>أ</a:t>
            </a:r>
            <a:pPr algn="l" indent="0" marL="0">
              <a:buNone/>
            </a:pPr>
            <a:r>
              <a:rPr lang="en-US" sz="1250" dirty="0">
                <a:solidFill>
                  <a:srgbClr val="1F2A37"/>
                </a:solidFill>
                <a:latin typeface="Calibri" pitchFamily="34" charset="0"/>
                <a:cs typeface="Amiri" pitchFamily="2" charset="-78"/>
              </a:rPr>
              <a:t>), one or two sentences per paragraph, then finish at home. Develop: three sentences per paragraph. Stretch: title (</a:t>
            </a:r>
            <a:pPr algn="l" indent="0" marL="0">
              <a:buNone/>
            </a:pPr>
            <a:r>
              <a:rPr lang="ar-SA" altLang="en-US" sz="1650" dirty="0">
                <a:solidFill>
                  <a:srgbClr val="1F2A37"/>
                </a:solidFill>
                <a:latin typeface="Amiri" pitchFamily="2" charset="-78"/>
                <a:ea typeface="Amiri" pitchFamily="2" charset="-78"/>
                <a:cs typeface="Amiri" pitchFamily="2" charset="-78"/>
              </a:rPr>
              <a:t>ب</a:t>
            </a:r>
            <a:pPr algn="l" indent="0" marL="0">
              <a:buNone/>
            </a:pPr>
            <a:r>
              <a:rPr lang="en-US" sz="1250" dirty="0">
                <a:solidFill>
                  <a:srgbClr val="1F2A37"/>
                </a:solidFill>
                <a:latin typeface="Calibri" pitchFamily="34" charset="0"/>
                <a:cs typeface="Amiri" pitchFamily="2" charset="-78"/>
              </a:rPr>
              <a:t>) with a contrast and a conditional.</a:t>
            </a:r>
            <a:endParaRPr lang="en-US" sz="12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18</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TC-L01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ea typeface="Amiri" pitchFamily="2" charset="-78"/>
                <a:cs typeface="Amiri" pitchFamily="2" charset="-78"/>
              </a:rPr>
              <a:t>أ</a:t>
            </a:r>
            <a:pPr algn="l" indent="0" marL="0">
              <a:buNone/>
            </a:pPr>
            <a:r>
              <a:rPr lang="en-US" sz="1000" b="1" dirty="0">
                <a:solidFill>
                  <a:srgbClr val="8A6D1E"/>
                </a:solidFill>
                <a:latin typeface="Calibri" pitchFamily="34" charset="0"/>
                <a:cs typeface="Amiri" pitchFamily="2" charset="-78"/>
              </a:rPr>
              <a:t>) · CORE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Q3 (</a:t>
            </a:r>
            <a:pPr algn="l" indent="0" marL="0">
              <a:buNone/>
            </a:pPr>
            <a:r>
              <a:rPr lang="ar-SA" altLang="en-US" sz="3250" b="1" dirty="0">
                <a:solidFill>
                  <a:srgbClr val="1B3B6F"/>
                </a:solidFill>
                <a:latin typeface="Amiri" pitchFamily="2" charset="-78"/>
                <a:ea typeface="Amiri" pitchFamily="2" charset="-78"/>
                <a:cs typeface="Amiri" pitchFamily="2" charset="-78"/>
              </a:rPr>
              <a:t>أ</a:t>
            </a:r>
            <a:pPr algn="l" indent="0" marL="0">
              <a:buNone/>
            </a:pPr>
            <a:r>
              <a:rPr lang="en-US" sz="2500" b="1" dirty="0">
                <a:solidFill>
                  <a:srgbClr val="1B3B6F"/>
                </a:solidFill>
                <a:latin typeface="Cambria" pitchFamily="34" charset="0"/>
                <a:cs typeface="Amiri" pitchFamily="2" charset="-78"/>
              </a:rPr>
              <a:t>) Core model: clear and complete</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TC-L01</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أَسْكُنُ فِي مَدِينَةِ بِرْمِنْغْهَامَ، وَهِيَ تَقَعُ فِي وَسَطِ إِنْجِلْتِرَا. مَدِينَتِي كَبِيرَةٌ، وَسُكَّانُهَا مِنْ بُلْدَانٍ كَثِيرَةٍ. فِي صَفِّي طُلَّابٌ بَاكِسْتَانِيُّونَ وَصُومَالِيُّونَ وَيَمَنِيُّونَ وَبُولَنْدِيُّونَ، وَنَتَكَلَّمُ أَكْثَرَ مِنْ عَشْرِ لُغَاتٍ!</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أَنَا بِرِيطَانِيٌّ، لٰكِنَّ أَصْلَ عَائِلَتِي مِنَ اليَمَنِ. اليَمَنُ يَقَعُ فِي جَنُوبِ شِبْهِ الجَزِيرَةِ العَرَبِيَّةِ، وَعَاصِمَتُهُ صَنْعَاءُ. فِي الشَّمَالِ تَقَعُ السُّعُودِيَّةُ، وَفِي الشَّرْقِ تَقَعُ عُمَانُ، وَفِي الغَرْبِ البَحْرُ الأَحْمَرُ.</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فِي الصَّيْفِ المَاضِي سَافَرْتُ مَعَ أَبِي إِلَى عُمَانَ، لِأَنَّ اليَمَنَ صَعْبٌ الآنَ. زُرْنَا مَسْقَطَ، وَهِيَ عَاصِمَةُ عُمَانَ، وَرَأَيْنَا البَحْرَ وَالجِبَالَ. كَانَ الجَوُّ حَارًّا جِدًّا، لٰكِنَّ النَّاسَ كَانُوا لُطَفَاءَ، وَأَكَلْنَا المَنْدِيَ وَالحَلْوَى العُمَانِيَّةَ.</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فِي رَأْيِي، مِنَ المُهِمِّ أَنْ نَعْرِفَ بُلْدَانَ العَالَمِ. فِي المُسْتَقْبَلِ أُرِيدُ أَنْ أَزُورَ اليَمَنَ، وَسَأَرَى قَرْيَةَ جَدِّي فِي الجِبَالِ، لِأَنَّ أَبِي يَتَكَلَّمُ عَنْهَا دَائِمًا.</a:t>
            </a:r>
            <a:endParaRPr lang="ar-SA" sz="16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Birmingham, in the middle of England: a big city with people from many countries; Pakistani, Somali, Yemeni and Polish classmates — over ten languages! → British with Yemeni roots: Yemen is in the south of the Arabian Peninsula, capital Sanaa; Saudi Arabia to the north, Oman to the east, the Red Sea to the west → last summer to Oman with Dad (Yemen is hard now): Muscat, the capital; sea and mountains; very hot but kind people; we ate mandi and Omani halwa → it is important to know the world’s countries; I want to visit Yemen and will see my grandfather’s village in the mountains, because Dad always talks about it.</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تَقَعُ فِي وَسَطِ</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يَمَنِيُّونَ</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فِي الشَّمَالِ تَقَعُ</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سَأَرَى</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18</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TC-L01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ea typeface="Amiri" pitchFamily="2" charset="-78"/>
                <a:cs typeface="Amiri" pitchFamily="2" charset="-78"/>
              </a:rPr>
              <a:t>أ</a:t>
            </a:r>
            <a:pPr algn="l" indent="0" marL="0">
              <a:buNone/>
            </a:pPr>
            <a:r>
              <a:rPr lang="en-US" sz="1000" b="1" dirty="0">
                <a:solidFill>
                  <a:srgbClr val="8A6D1E"/>
                </a:solidFill>
                <a:latin typeface="Calibri" pitchFamily="34" charset="0"/>
                <a:cs typeface="Amiri" pitchFamily="2" charset="-78"/>
              </a:rPr>
              <a:t>)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00" b="1" dirty="0">
                <a:solidFill>
                  <a:srgbClr val="1B3B6F"/>
                </a:solidFill>
                <a:latin typeface="Cambria" pitchFamily="34" charset="0"/>
                <a:cs typeface="Amiri" pitchFamily="2" charset="-78"/>
              </a:rPr>
              <a:t>Q3 (</a:t>
            </a:r>
            <a:pPr algn="l" indent="0" marL="0">
              <a:buNone/>
            </a:pPr>
            <a:r>
              <a:rPr lang="ar-SA" altLang="en-US" sz="2850" b="1" dirty="0">
                <a:solidFill>
                  <a:srgbClr val="1B3B6F"/>
                </a:solidFill>
                <a:latin typeface="Amiri" pitchFamily="2" charset="-78"/>
                <a:ea typeface="Amiri" pitchFamily="2" charset="-78"/>
                <a:cs typeface="Amiri" pitchFamily="2" charset="-78"/>
              </a:rPr>
              <a:t>أ</a:t>
            </a:r>
            <a:pPr algn="l" indent="0" marL="0">
              <a:buNone/>
            </a:pPr>
            <a:r>
              <a:rPr lang="en-US" sz="2200" b="1" dirty="0">
                <a:solidFill>
                  <a:srgbClr val="1B3B6F"/>
                </a:solidFill>
                <a:latin typeface="Cambria" pitchFamily="34" charset="0"/>
                <a:cs typeface="Amiri" pitchFamily="2" charset="-78"/>
              </a:rPr>
              <a:t>) full-mark model: range and accuracy</a:t>
            </a:r>
            <a:endParaRPr lang="en-US" sz="22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TC-L01</a:t>
            </a:r>
            <a:endParaRPr lang="en-US" sz="850" dirty="0"/>
          </a:p>
        </p:txBody>
      </p:sp>
      <p:sp>
        <p:nvSpPr>
          <p:cNvPr id="15" name="Shape 12"/>
          <p:cNvSpPr/>
          <p:nvPr/>
        </p:nvSpPr>
        <p:spPr>
          <a:xfrm>
            <a:off x="457200" y="1810512"/>
            <a:ext cx="11274552" cy="3931920"/>
          </a:xfrm>
          <a:prstGeom prst="roundRect">
            <a:avLst>
              <a:gd name="adj" fmla="val 186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3675888"/>
          </a:xfrm>
          <a:prstGeom prst="rect">
            <a:avLst/>
          </a:prstGeom>
          <a:noFill/>
          <a:ln/>
        </p:spPr>
        <p:txBody>
          <a:bodyPr wrap="square" lIns="0" tIns="0" rIns="0" bIns="0" rtlCol="0" anchor="ctr"/>
          <a:lstStyle/>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عَلَى جِدَارِ غُرْفَتِي خَرِيطَةٌ كَبِيرَةٌ لِلْعَالَمِ، وَعَلَيْهَا دَبَابِيسُ حَمْرَاءُ فِي كُلِّ مَكَانٍ زُرْتُهُ، وَدَبَابِيسُ زَرْقَاءُ فِي الأَمَاكِنِ الَّتِي أَحْلُمُ بِزِيَارَتِهَا. وَأَهَمُّ دَبُّوسٍ فِيهَا هُوَ الَّذِي وَضَعْتُهُ عَلَى صَنْعَاءَ، فِي جَنُوبِ شِبْهِ الجَزِيرَةِ العَرَبِيَّةِ.</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أَنَا بِرِيطَانِيٌّ وُلِدْتُ فِي بِرْمِنْغْهَامَ، فِي وَسَطِ إِنْجِلْتِرَا، أَمَّا أَبِي فَيَمَنِيٌّ جَاءَ إِلَى بِرِيطَانِيَا قَبْلَ عِشْرِينَ سَنَةً. وَلِذٰلِكَ أَشْعُرُ أَنَّ لِي مَدِينَتَيْنِ: وَاحِدَةً أَعِيشُ فِيهَا، وَأُخْرَى أَسْمَعُ عَنْهَا فِي قِصَصِ أَبِي كُلَّ مَسَاءٍ.</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فِي الصَّيْفِ المَاضِي اقْتَرَبْتُ مِنْهَا أَكْثَرَ مِنْ أَيِّ وَقْتٍ مَضَى؛ فَقَدْ سَافَرْنَا إِلَى عُمَانَ، الَّتِي تَقَعُ شَرْقَ اليَمَنِ، وَهُنَاكَ الْتَقَيْتُ بِأَعْمَامِي لِأَوَّلِ مَرَّةٍ. فُوجِئْتُ بِأَنَّ لَهَجَاتِنَا مُخْتَلِفَةٌ، لٰكِنَّ ضَحَكَاتِنَا مُتَشَابِهَةٌ تَمَامًا.</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صَحِيحٌ أَنِّي لَمْ أَزُرْ صَنْعَاءَ بَعْدُ، غَيْرَ أَنَّ الخَرِيطَةَ عَلَّمَتْنِي أَنَّ المَسَافَاتِ لَا تَقْطَعُ الجُذُورَ. وَلَوْ سَمَحَتِ الظُّرُوفُ فِي المُسْتَقْبَلِ، لَكَانَتْ أَوَّلُ رِحْلَةٍ أَقُومُ بِهَا وَحْدِي إِلَى قَرْيَةِ جَدِّي فِي الجِبَالِ، لِأَضَعَ دَبُّوسًا أَحْمَرَ أَخِيرًا.</a:t>
            </a:r>
            <a:endParaRPr lang="ar-SA" sz="1750" dirty="0"/>
          </a:p>
        </p:txBody>
      </p:sp>
      <p:sp>
        <p:nvSpPr>
          <p:cNvPr id="17" name="Text 14"/>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18" name="Shape 15"/>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19" name="Text 16"/>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الَّتِي أَحْلُمُ بِزِيَارَتِهَا</a:t>
            </a:r>
            <a:endParaRPr lang="en-US" sz="950" dirty="0"/>
          </a:p>
        </p:txBody>
      </p:sp>
      <p:sp>
        <p:nvSpPr>
          <p:cNvPr id="20" name="Shape 17"/>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1" name="Text 18"/>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أَمَّا أَبِي فَيَمَنِيٌّ</a:t>
            </a:r>
            <a:endParaRPr lang="en-US" sz="950" dirty="0"/>
          </a:p>
        </p:txBody>
      </p:sp>
      <p:sp>
        <p:nvSpPr>
          <p:cNvPr id="22" name="Shape 19"/>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3" name="Text 20"/>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الَّتِي تَقَعُ شَرْقَ اليَمَنِ</a:t>
            </a:r>
            <a:endParaRPr lang="en-US" sz="950" dirty="0"/>
          </a:p>
        </p:txBody>
      </p:sp>
      <p:sp>
        <p:nvSpPr>
          <p:cNvPr id="24" name="Shape 21"/>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5" name="Text 22"/>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لَوْ سَمَحَتِ … لَكَانَتْ</a:t>
            </a:r>
            <a:endParaRPr lang="en-US" sz="950" dirty="0"/>
          </a:p>
        </p:txBody>
      </p:sp>
      <p:sp>
        <p:nvSpPr>
          <p:cNvPr id="26" name="Text 2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18</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TC-L01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ea typeface="Amiri" pitchFamily="2" charset="-78"/>
                <a:cs typeface="Amiri" pitchFamily="2" charset="-78"/>
              </a:rPr>
              <a:t>ب</a:t>
            </a:r>
            <a:pPr algn="l" indent="0" marL="0">
              <a:buNone/>
            </a:pPr>
            <a:r>
              <a:rPr lang="en-US" sz="1000" b="1" dirty="0">
                <a:solidFill>
                  <a:srgbClr val="8A6D1E"/>
                </a:solidFill>
                <a:latin typeface="Calibri" pitchFamily="34" charset="0"/>
                <a:cs typeface="Amiri" pitchFamily="2" charset="-78"/>
              </a:rPr>
              <a:t>)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Q3 (</a:t>
            </a:r>
            <a:pPr algn="l" indent="0" marL="0">
              <a:buNone/>
            </a:pPr>
            <a:r>
              <a:rPr lang="ar-SA" altLang="en-US" sz="3250" b="1" dirty="0">
                <a:solidFill>
                  <a:srgbClr val="1B3B6F"/>
                </a:solidFill>
                <a:latin typeface="Amiri" pitchFamily="2" charset="-78"/>
                <a:ea typeface="Amiri" pitchFamily="2" charset="-78"/>
                <a:cs typeface="Amiri" pitchFamily="2" charset="-78"/>
              </a:rPr>
              <a:t>ب</a:t>
            </a:r>
            <a:pPr algn="l" indent="0" marL="0">
              <a:buNone/>
            </a:pPr>
            <a:r>
              <a:rPr lang="en-US" sz="2500" b="1" dirty="0">
                <a:solidFill>
                  <a:srgbClr val="1B3B6F"/>
                </a:solidFill>
                <a:latin typeface="Cambria" pitchFamily="34" charset="0"/>
                <a:cs typeface="Amiri" pitchFamily="2" charset="-78"/>
              </a:rPr>
              <a:t>) full-mark model: a small village</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TC-L01</a:t>
            </a:r>
            <a:endParaRPr lang="en-US" sz="850" dirty="0"/>
          </a:p>
        </p:txBody>
      </p:sp>
      <p:sp>
        <p:nvSpPr>
          <p:cNvPr id="15" name="Shape 12"/>
          <p:cNvSpPr/>
          <p:nvPr/>
        </p:nvSpPr>
        <p:spPr>
          <a:xfrm>
            <a:off x="457200" y="1810512"/>
            <a:ext cx="11274552" cy="3931920"/>
          </a:xfrm>
          <a:prstGeom prst="roundRect">
            <a:avLst>
              <a:gd name="adj" fmla="val 186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3675888"/>
          </a:xfrm>
          <a:prstGeom prst="rect">
            <a:avLst/>
          </a:prstGeom>
          <a:noFill/>
          <a:ln/>
        </p:spPr>
        <p:txBody>
          <a:bodyPr wrap="square" lIns="0" tIns="0" rIns="0" bIns="0" rtlCol="0" anchor="ctr"/>
          <a:lstStyle/>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يُقَالُ إِنَّ العَالَمَ أَصْبَحَ قَرْيَةً صَغِيرَةً، وَهٰذَا صَحِيحٌ إِلَى حَدٍّ كَبِيرٍ؛ فَنَسْتَطِيعُ أَنْ نُكَلِّمَ صَدِيقًا فِي أُسْتُرَالْيَا، وَنَشْتَرِيَ مُنْتَجًا مِنَ الصِّينِ، وَنُشَاهِدَ أَخْبَارَ المَغْرِبِ، وَنَحْنُ جَالِسُونَ فِي غُرْفَتِنَا، وَكُلُّ ذٰلِكَ فِي أَقَلَّ مِنْ سَاعَةٍ.</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فِي المَاضِي كَانَ أَغْلَبُ النَّاسِ يَعِيشُونَ وَيَمُوتُونَ فِي المِنْطَقَةِ الَّتِي وُلِدُوا فِيهَا، وَلَا يَعْرِفُونَ عَنِ البُلْدَانِ البَعِيدَةِ إِلَّا القَلِيلَ، أَمَّا اليَوْمَ فَيَجْلِسُ فِي صَفٍّ وَاحِدٍ طُلَّابٌ مِنْ خَمْسِ قَارَّاتٍ، يَتَكَلَّمُونَ لُغَاتٍ مُخْتَلِفَةً فِي بُيُوتِهِمْ.</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وَأَنَا أَرَى ذٰلِكَ كُلَّ يَوْمٍ؛ فَفِي العَامِ المَاضِي نَظَّمَتْ مَدْرَسَتِي «يَوْمَ الخَرِيطَةِ»، فَوَضَعَ كُلُّ طَالِبٍ دَبُّوسًا عَلَى بَلَدِ عَائِلَتِهِ، فَوَجَدْنَا أَكْثَرَ مِنْ أَرْبَعِينَ بَلَدًا، مِنْ شَمَالِ أُورُوبَّا إِلَى جَنُوبِ إِفْرِيقْيَا، ثُمَّ تَذَوَّقْنَا أَطْبَاقًا مِنْ كُلِّ قَارَّةٍ.</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صَحِيحٌ أَنَّ هٰذَا التَّقَارُبَ يُسَهِّلُ التِّجَارَةَ وَالتَّعَلُّمَ، غَيْرَ أَنَّهُ قَدْ يَجْعَلُ الثَّقَافَاتِ المَحَلِّيَّةَ وَاللُّغَاتِ الصَّغِيرَةَ تَخْتَفِي. وَلَوْ تَعَلَّمَ كُلُّ طَالِبٍ لُغَةَ بَلَدٍ آخَرَ، لَأَصْبَحَتْ هٰذِهِ القَرْيَةُ أَكْثَرَ تَفَاهُمًا وَاحْتِرَامًا.</a:t>
            </a:r>
            <a:endParaRPr lang="ar-SA" sz="1750" dirty="0"/>
          </a:p>
        </p:txBody>
      </p:sp>
      <p:sp>
        <p:nvSpPr>
          <p:cNvPr id="17" name="Text 14"/>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18" name="Shape 15"/>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19" name="Text 16"/>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وَنَحْنُ جَالِسُونَ</a:t>
            </a:r>
            <a:endParaRPr lang="en-US" sz="950" dirty="0"/>
          </a:p>
        </p:txBody>
      </p:sp>
      <p:sp>
        <p:nvSpPr>
          <p:cNvPr id="20" name="Shape 17"/>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1" name="Text 18"/>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أَمَّا اليَوْمَ فَيَجْلِسُ</a:t>
            </a:r>
            <a:endParaRPr lang="en-US" sz="950" dirty="0"/>
          </a:p>
        </p:txBody>
      </p:sp>
      <p:sp>
        <p:nvSpPr>
          <p:cNvPr id="22" name="Shape 19"/>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3" name="Text 20"/>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مِنْ شَمَالِ أُورُوبَّا إِلَى جَنُوبِ</a:t>
            </a:r>
            <a:endParaRPr lang="en-US" sz="950" dirty="0"/>
          </a:p>
        </p:txBody>
      </p:sp>
      <p:sp>
        <p:nvSpPr>
          <p:cNvPr id="24" name="Shape 21"/>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5" name="Text 22"/>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لَوْ تَعَلَّمَ … لَأَصْبَحَتْ</a:t>
            </a:r>
            <a:endParaRPr lang="en-US" sz="950" dirty="0"/>
          </a:p>
        </p:txBody>
      </p:sp>
      <p:sp>
        <p:nvSpPr>
          <p:cNvPr id="26" name="Text 2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18</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TC-L01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TC-L01</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Q1: every box in Arabic; nationality agrees with me.</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Q2: all four bullet points, with a greeting and a closing.</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Q2: a compass point, two nationalities and a comparison.</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Q3: four paragraphs in three time frames.</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Q3: ammā … fa-, a concession or law … la-.</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18</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TC-L01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great writing practice today!</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WORKSHOP</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cs typeface="Amiri" pitchFamily="2" charset="-78"/>
              </a:rPr>
              <a:t>TC-L02 · Exam practice · Speaking and writing workshops — the next Topic C lesson</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وَرْشَةُ التَّدْرِيبِ</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cover every bullet point, check your verb endings, and use three time frames in Question 3.</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TC-L01 · Writing Workshop — Countries and Compass Points</dc:title>
  <dc:subject>PptxGenJS Presentation</dc:subject>
  <dc:creator>Al Madina Online School · Arabic Department</dc:creator>
  <cp:lastModifiedBy>Al Madina Online School · Arabic Department</cp:lastModifiedBy>
  <cp:revision>1</cp:revision>
  <dcterms:created xsi:type="dcterms:W3CDTF">2026-10-11T09:29:37Z</dcterms:created>
  <dcterms:modified xsi:type="dcterms:W3CDTF">2026-10-11T09:29:37Z</dcterms:modified>
</cp:coreProperties>
</file>