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WORKSHOP AT A GLANCE — 60 minutes on Teams; individual writing with live feedback (shared document or paper + photo).
0–2 Welcome · 2–6 How Paper 4 works · 6–14 Q1 form filling + model · 14–17 Q2 the task, in English and Arabic · 17–19 Q2 frames (Core) · 19–31 Q2 writing · 31–35 Q2 models · 35–38 Q3 choose a title + plan · 38–54 Q3 writing (Stretch) / Q2 redraft (Core) · 54–58 Q3 models + self-check · 58–60 Close.
Content: teacher-made exam questions for Advanced Topic C, Lesson 12 (Topic C Review — mock exam practice, TC-L12). Every question has Core · Develop · Stretch support; models are given at two levels (a secure Core answer and a full-mark answer).
EXAM FORMAT: Paper 4 Writing — Q1 form filling, Q2 directed writing (about 80–90 words), Q3 extended writing (one title from two, about 130–150 words), following the Cambridge IGCSE Arabic 0544 format. Check word counts and marks against the current syllabus and the past paper you use.
Q3 in one lesson: Stretch students write Q3 in class; Core students redraft Q2 and plan Q3, then write Q3 for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(3 min). The two biggest losses: a missed bullet point (Q2) and staying in one tense (Q3). Word counts are a guide: far too short cannot cover the task; far too long creates errors.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 FORM FILLING. About 8 minutes. Core: boxes 1–6. Develop / Stretch: all 8. Box 1: nisba (f.) (L01). Box 7: khamsumiʾati junayhin (L09). Box 8: a relative without alladhī + non-human plural agreement (L02, L08).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 students check their own form and correct one answer in a different colour.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Q2 TASK (3 min to read and plan). Students number the four bullets 1–4 in the margin and tick each one as they write 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Question words: أَيْنَ (where) · كَيْفَ (what … like) · قَارِنِي (compare!) · اشْتَرَيْتِ / فَعَلْتِ (bought / did — PAST) · سَتَفْعَلِينَ (will do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(12 min). Live feedback: check bullet coverage first, then verb endings and agreement. Core completes the frames; Develop adds detail; Stretch writes freely and reaches 90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(66 words). A Core model: every bullet answered in short, accurate sentences. Show how ONE extra detail per bullet brings it to 80–90 words.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(83 words). Full-mark model: all four bullets, a range of linking words, an opinion with a reason and a contrast. Students compare with their own: what can I add?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Q3 (3 min to choose and read). Title (أ) suits Core and Develop; title (ب) suits Stretch.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 (3 min) then WRITE (16 min). Check the plan before students write: four paragraphs = four bullet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(113 words). Core model: a mini-tour of Topic C — location (L01), booking (L07), weather (L03), tūjadu (L08), a price (L09), nature (L02), the environment (L04, L05) — with awwalan / baʿda dhālika.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(130 words). Full-mark model: reported speech, badalan min, a journey in three climates with relative clauses and ḥaythu, ghayra anna as a turn, reported speech with kāna + present, mimmā, a concession and law … la- with laysat … bal.
ENGLISH SUMMARY (read aloud or paste in the chat for Core students): They say travel teaches what books can’t — I learnt this in Morocco last summer: Dad and I organised everything ourselves, comparing prices and booking traditional houses instead of big hotels → what amazed me first was the variety: in one week we went from Marrakech’s 40°+ heat to snow-capped Atlas peaks, then to the beaches of Essaouira where strong winds blow all year → but what stayed with me most was a talk with a young man in a mountain village: the river that watered their fields now dries up every summer, which pushes young people to migrate to the cities → my trip was fun, but it made me see the world differently; “if every young person travelled and listened to people’s stories, we’d understand environmental problems aren’t numbers in the news but real people’s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(132 words). Full-mark model for the Stretch title: links all of Topic C (travel, shopping, technology, climate) — a triple hook, a rhetorical question, a balanced view with mimmā, a dual (madīnataynā), dūna an … baynamā, a concession with lan, idhā … fa-sa- with a lā … contrast.
ENGLISH SUMMARY (read aloud or paste in the chat for Core students): We live in a more connected world than ever: at the click of a button we book a trip to another continent, buy clothes made in Asia and keep in touch with friends everywhere — is this a blessing or a burden for the planet? → on one hand, technology has brought peoples together and made remote learning and work easy, cutting many unnecessary journeys; on the other, it has encouraged fast consumption — we buy more, throw away more and travel for trivial reasons → I noticed this contradiction in my own life: last year I joined an online project with students in Jordan measuring temperatures in our two cities, learning a lot without travelling, while some classmates ordered new clothes every week → globalisation won’t stop, but we can choose how to use it; “if we make technology a tool for learning and cooperation, not consumption, we will leave future generations a cleaner, fairer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C · EXAM PRACTICE  ·  TC-L12</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TC-L12</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00" b="1" dirty="0">
                <a:solidFill>
                  <a:srgbClr val="FFFFFF"/>
                </a:solidFill>
                <a:latin typeface="Cambria" pitchFamily="34" charset="0"/>
                <a:cs typeface="Amiri" pitchFamily="2" charset="-78"/>
              </a:rPr>
              <a:t>Writing Workshop — Topic C Mock Exam</a:t>
            </a:r>
            <a:endParaRPr lang="en-US" sz="28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وَرْشَةُ الكِتَابَةِ — امْتِحَانٌ تَجْرِيبِيٌّ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A full Paper 4 mock on the whole of Topic C: a travel-booking form, an email from abroad (places, weather, shopping, plans), and an extended piece about a journey or about our connected world.</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TC-L12 · Advanced Topic C · The World Around Us · exam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C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C › TC-L12</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18</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WORKSHOP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Exam practice,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الوَرْشَةِ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1B3B6F"/>
          </a:solidFill>
          <a:ln w="12700">
            <a:solidFill>
              <a:srgbClr val="1B3B6F"/>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How the writing paper works.</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كَيْفَ</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1: fill in the form.</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الاسْتِمَارَةُ</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1E6B52"/>
          </a:solidFill>
          <a:ln w="12700">
            <a:solidFill>
              <a:srgbClr val="1E6B52"/>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2: an email from abroad.</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الرِّسَالَةُ</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23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Question 3: extended writing (choose a title).</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المَقَالُ</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Model answers and self-check.</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Core students: Questions 1 and 2 today, with frames; plan Question 3 and finish it at home. Stretch: all three questions in class.</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18</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TEACH · PAPER 4 WRITING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How the writing exam works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امْتِحَانُ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THREE QUESTIONS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Q1 FORM FILLING — short answers (a word or a phrase) in Arabic. Answer exactly what each box asks.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Q2 DIRECTED WRITING — about 80–90 words. Cover EVERY bullet point; a missing bullet loses marks.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Q3 EXTENDED WRITING — choose ONE title, about 130–150 words. Show range: past, present and future, opinions, reasons, linking words.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Final check for Topic C: non-human plurals → feminine singular; numbers + nouns (thalātha sāʿātin, ʿishrūna junayhan); verbs with their prepositions; kāna + accusative; a passive where the doer is unknown; at least four linkers in Q3.</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WORDS THAT LIFT YOUR WRITING</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بَيْتٌ تَقْلِيدِيٌّ حَجَزْنَاهُ عَلَى الإِنْتَرْنِتِ، جُدْرَانُهُ مَبْنِيَّةٌ مِنَ الحَجَرِ</a:t>
            </a:r>
            <a:endParaRPr lang="ar-SA" sz="17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traditional house we booked online, its walls built of stone</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هَوَاؤُهَا أَنْظَفُ مِمَّا تَوَقَّعْتُ</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its air is cleaner than I expected</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مِمَّا يَدْفَعُ الشَّبَابَ إِلَى الهِجْرَةِ</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which pushes young people to migrate</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18</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1 · FORM FILLING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Travel-booking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حَجْزِ رِحْلَةٍ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Your answer</a:t>
            </a:r>
            <a:endParaRPr lang="en-US" sz="1100" dirty="0"/>
          </a:p>
        </p:txBody>
      </p:sp>
      <p:sp>
        <p:nvSpPr>
          <p:cNvPr id="17" name="Text 14"/>
          <p:cNvSpPr txBox="1"/>
          <p:nvPr/>
        </p:nvSpPr>
        <p:spPr>
          <a:xfrm>
            <a:off x="560527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8933688" y="2267712"/>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5641848" y="2267712"/>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 and nationality</a:t>
            </a:r>
            <a:endParaRPr lang="en-US" sz="1100" dirty="0"/>
          </a:p>
        </p:txBody>
      </p:sp>
      <p:sp>
        <p:nvSpPr>
          <p:cNvPr id="23" name="Text 20"/>
          <p:cNvSpPr txBox="1"/>
          <p:nvPr/>
        </p:nvSpPr>
        <p:spPr>
          <a:xfrm>
            <a:off x="1051560" y="2267712"/>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وَالجِنْسِيَّةُ</a:t>
            </a:r>
            <a:endParaRPr lang="ar-SA" sz="17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8" name="Text 25"/>
          <p:cNvSpPr txBox="1"/>
          <p:nvPr/>
        </p:nvSpPr>
        <p:spPr>
          <a:xfrm>
            <a:off x="8933688" y="2728341"/>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5641848" y="2728341"/>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Destination</a:t>
            </a:r>
            <a:endParaRPr lang="en-US" sz="1100" dirty="0"/>
          </a:p>
        </p:txBody>
      </p:sp>
      <p:sp>
        <p:nvSpPr>
          <p:cNvPr id="30" name="Text 27"/>
          <p:cNvSpPr txBox="1"/>
          <p:nvPr/>
        </p:nvSpPr>
        <p:spPr>
          <a:xfrm>
            <a:off x="1051560" y="2728341"/>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الوِجْهَةُ</a:t>
            </a:r>
            <a:endParaRPr lang="ar-SA" sz="1700" dirty="0"/>
          </a:p>
        </p:txBody>
      </p:sp>
      <p:sp>
        <p:nvSpPr>
          <p:cNvPr id="31" name="Text 28"/>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774061"/>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774061"/>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5" name="Text 32"/>
          <p:cNvSpPr txBox="1"/>
          <p:nvPr/>
        </p:nvSpPr>
        <p:spPr>
          <a:xfrm>
            <a:off x="8933688" y="3188970"/>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641848" y="3188970"/>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Travel date</a:t>
            </a:r>
            <a:endParaRPr lang="en-US" sz="1100" dirty="0"/>
          </a:p>
        </p:txBody>
      </p:sp>
      <p:sp>
        <p:nvSpPr>
          <p:cNvPr id="37" name="Text 34"/>
          <p:cNvSpPr txBox="1"/>
          <p:nvPr/>
        </p:nvSpPr>
        <p:spPr>
          <a:xfrm>
            <a:off x="1051560" y="3188970"/>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تَارِيخُ السَّفَرِ</a:t>
            </a:r>
            <a:endParaRPr lang="ar-SA" sz="1700" dirty="0"/>
          </a:p>
        </p:txBody>
      </p:sp>
      <p:sp>
        <p:nvSpPr>
          <p:cNvPr id="38" name="Text 35"/>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23469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23469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42" name="Text 39"/>
          <p:cNvSpPr txBox="1"/>
          <p:nvPr/>
        </p:nvSpPr>
        <p:spPr>
          <a:xfrm>
            <a:off x="8933688" y="3649599"/>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3" name="Text 40"/>
          <p:cNvSpPr txBox="1"/>
          <p:nvPr/>
        </p:nvSpPr>
        <p:spPr>
          <a:xfrm>
            <a:off x="5641848" y="3649599"/>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Number of travellers</a:t>
            </a:r>
            <a:endParaRPr lang="en-US" sz="1100" dirty="0"/>
          </a:p>
        </p:txBody>
      </p:sp>
      <p:sp>
        <p:nvSpPr>
          <p:cNvPr id="44" name="Text 41"/>
          <p:cNvSpPr txBox="1"/>
          <p:nvPr/>
        </p:nvSpPr>
        <p:spPr>
          <a:xfrm>
            <a:off x="1051560" y="3649599"/>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عَدَدُ المُسَافِرِينَ</a:t>
            </a:r>
            <a:endParaRPr lang="ar-SA" sz="1700" dirty="0"/>
          </a:p>
        </p:txBody>
      </p:sp>
      <p:sp>
        <p:nvSpPr>
          <p:cNvPr id="45" name="Text 42"/>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3695319"/>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3695319"/>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9" name="Text 46"/>
          <p:cNvSpPr txBox="1"/>
          <p:nvPr/>
        </p:nvSpPr>
        <p:spPr>
          <a:xfrm>
            <a:off x="8933688" y="4110228"/>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0" name="Text 47"/>
          <p:cNvSpPr txBox="1"/>
          <p:nvPr/>
        </p:nvSpPr>
        <p:spPr>
          <a:xfrm>
            <a:off x="5641848" y="4110228"/>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Type of accommodation</a:t>
            </a:r>
            <a:endParaRPr lang="en-US" sz="1100" dirty="0"/>
          </a:p>
        </p:txBody>
      </p:sp>
      <p:sp>
        <p:nvSpPr>
          <p:cNvPr id="51" name="Text 48"/>
          <p:cNvSpPr txBox="1"/>
          <p:nvPr/>
        </p:nvSpPr>
        <p:spPr>
          <a:xfrm>
            <a:off x="1051560" y="4110228"/>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نَوْعُ السَّكَنِ</a:t>
            </a:r>
            <a:endParaRPr lang="ar-SA" sz="1700" dirty="0"/>
          </a:p>
        </p:txBody>
      </p:sp>
      <p:sp>
        <p:nvSpPr>
          <p:cNvPr id="52" name="Text 49"/>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8933688" y="4570857"/>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57" name="Text 54"/>
          <p:cNvSpPr txBox="1"/>
          <p:nvPr/>
        </p:nvSpPr>
        <p:spPr>
          <a:xfrm>
            <a:off x="5641848" y="4570857"/>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Means of transport</a:t>
            </a:r>
            <a:endParaRPr lang="en-US" sz="1100" dirty="0"/>
          </a:p>
        </p:txBody>
      </p:sp>
      <p:sp>
        <p:nvSpPr>
          <p:cNvPr id="58" name="Text 55"/>
          <p:cNvSpPr txBox="1"/>
          <p:nvPr/>
        </p:nvSpPr>
        <p:spPr>
          <a:xfrm>
            <a:off x="1051560" y="4570857"/>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وَسِيلَةُ المُوَاصَلَاتِ</a:t>
            </a:r>
            <a:endParaRPr lang="ar-SA" sz="1700" dirty="0"/>
          </a:p>
        </p:txBody>
      </p:sp>
      <p:sp>
        <p:nvSpPr>
          <p:cNvPr id="59" name="Text 5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Shape 57"/>
          <p:cNvSpPr/>
          <p:nvPr/>
        </p:nvSpPr>
        <p:spPr>
          <a:xfrm>
            <a:off x="11091672" y="4616577"/>
            <a:ext cx="548640" cy="182880"/>
          </a:xfrm>
          <a:prstGeom prst="roundRect">
            <a:avLst>
              <a:gd name="adj" fmla="val 50000"/>
            </a:avLst>
          </a:prstGeom>
          <a:solidFill>
            <a:srgbClr val="2E8B57"/>
          </a:solidFill>
          <a:ln w="12700">
            <a:solidFill>
              <a:srgbClr val="2E8B57"/>
            </a:solidFill>
            <a:prstDash val="solid"/>
          </a:ln>
        </p:spPr>
      </p:sp>
      <p:sp>
        <p:nvSpPr>
          <p:cNvPr id="61" name="Text 58"/>
          <p:cNvSpPr txBox="1"/>
          <p:nvPr/>
        </p:nvSpPr>
        <p:spPr>
          <a:xfrm>
            <a:off x="11091672" y="4616577"/>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62" name="Shape 59"/>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63" name="Text 60"/>
          <p:cNvSpPr txBox="1"/>
          <p:nvPr/>
        </p:nvSpPr>
        <p:spPr>
          <a:xfrm>
            <a:off x="8933688" y="5031486"/>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4" name="Text 61"/>
          <p:cNvSpPr txBox="1"/>
          <p:nvPr/>
        </p:nvSpPr>
        <p:spPr>
          <a:xfrm>
            <a:off x="5641848" y="5031486"/>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Budget</a:t>
            </a:r>
            <a:endParaRPr lang="en-US" sz="1100" dirty="0"/>
          </a:p>
        </p:txBody>
      </p:sp>
      <p:sp>
        <p:nvSpPr>
          <p:cNvPr id="65" name="Text 62"/>
          <p:cNvSpPr txBox="1"/>
          <p:nvPr/>
        </p:nvSpPr>
        <p:spPr>
          <a:xfrm>
            <a:off x="1051560" y="5031486"/>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المِيزَانِيَّةُ</a:t>
            </a:r>
            <a:endParaRPr lang="ar-SA" sz="1700" dirty="0"/>
          </a:p>
        </p:txBody>
      </p:sp>
      <p:sp>
        <p:nvSpPr>
          <p:cNvPr id="66" name="Text 63"/>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67" name="Shape 64"/>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68" name="Text 65"/>
          <p:cNvSpPr txBox="1"/>
          <p:nvPr/>
        </p:nvSpPr>
        <p:spPr>
          <a:xfrm>
            <a:off x="8933688" y="5492115"/>
            <a:ext cx="27249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69" name="Text 66"/>
          <p:cNvSpPr txBox="1"/>
          <p:nvPr/>
        </p:nvSpPr>
        <p:spPr>
          <a:xfrm>
            <a:off x="5641848" y="5492115"/>
            <a:ext cx="310896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you chose this destination</a:t>
            </a:r>
            <a:endParaRPr lang="en-US" sz="1100" dirty="0"/>
          </a:p>
        </p:txBody>
      </p:sp>
      <p:sp>
        <p:nvSpPr>
          <p:cNvPr id="70" name="Text 67"/>
          <p:cNvSpPr txBox="1"/>
          <p:nvPr/>
        </p:nvSpPr>
        <p:spPr>
          <a:xfrm>
            <a:off x="1051560" y="5492115"/>
            <a:ext cx="4389120" cy="405765"/>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اخْتَرْتَ هٰذِهِ الوِجْهَةَ؟</a:t>
            </a:r>
            <a:endParaRPr lang="ar-SA" sz="1700" dirty="0"/>
          </a:p>
        </p:txBody>
      </p:sp>
      <p:sp>
        <p:nvSpPr>
          <p:cNvPr id="71" name="Text 68"/>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72" name="Text 69"/>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One word or a short phrase for each box — the last box is a full sentence. Every box recycles a Topic C lesson.</a:t>
            </a:r>
            <a:endParaRPr lang="en-US" sz="1150" dirty="0"/>
          </a:p>
        </p:txBody>
      </p:sp>
      <p:sp>
        <p:nvSpPr>
          <p:cNvPr id="73" name="Text 7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18</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1 · MODEL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Travel-booking form: model answers</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54312" y="1810512"/>
            <a:ext cx="2304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5056632" y="1810512"/>
            <a:ext cx="41513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Model answer</a:t>
            </a:r>
            <a:endParaRPr lang="en-US" sz="1100" dirty="0"/>
          </a:p>
        </p:txBody>
      </p:sp>
      <p:sp>
        <p:nvSpPr>
          <p:cNvPr id="18" name="Text 15"/>
          <p:cNvSpPr txBox="1"/>
          <p:nvPr/>
        </p:nvSpPr>
        <p:spPr>
          <a:xfrm>
            <a:off x="1033272"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405765"/>
          </a:xfrm>
          <a:prstGeom prst="roundRect">
            <a:avLst>
              <a:gd name="adj" fmla="val 11268"/>
            </a:avLst>
          </a:prstGeom>
          <a:solidFill>
            <a:srgbClr val="FFFFFF"/>
          </a:solidFill>
          <a:ln w="9525">
            <a:solidFill>
              <a:srgbClr val="D8D0BF"/>
            </a:solidFill>
            <a:prstDash val="solid"/>
          </a:ln>
        </p:spPr>
      </p:sp>
      <p:sp>
        <p:nvSpPr>
          <p:cNvPr id="21" name="Text 18"/>
          <p:cNvSpPr txBox="1"/>
          <p:nvPr/>
        </p:nvSpPr>
        <p:spPr>
          <a:xfrm>
            <a:off x="9390888" y="2267712"/>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Huda Ahmed, British</a:t>
            </a:r>
            <a:endParaRPr lang="en-US" sz="1100" dirty="0"/>
          </a:p>
        </p:txBody>
      </p:sp>
      <p:sp>
        <p:nvSpPr>
          <p:cNvPr id="22" name="Text 19"/>
          <p:cNvSpPr txBox="1"/>
          <p:nvPr/>
        </p:nvSpPr>
        <p:spPr>
          <a:xfrm>
            <a:off x="5074920" y="2267712"/>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هُدَى أَحْمَدُ، بَرِيطَانِيَّةٌ</a:t>
            </a:r>
            <a:endParaRPr lang="ar-SA" sz="1800" dirty="0"/>
          </a:p>
        </p:txBody>
      </p:sp>
      <p:sp>
        <p:nvSpPr>
          <p:cNvPr id="23" name="Text 20"/>
          <p:cNvSpPr txBox="1"/>
          <p:nvPr/>
        </p:nvSpPr>
        <p:spPr>
          <a:xfrm>
            <a:off x="1051560" y="2267712"/>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الاسْمُ وَالجِنْسِيَّةُ</a:t>
            </a:r>
            <a:endParaRPr lang="ar-SA" sz="1600" dirty="0"/>
          </a:p>
        </p:txBody>
      </p:sp>
      <p:sp>
        <p:nvSpPr>
          <p:cNvPr id="24" name="Text 21"/>
          <p:cNvSpPr txBox="1"/>
          <p:nvPr/>
        </p:nvSpPr>
        <p:spPr>
          <a:xfrm>
            <a:off x="566928" y="2267712"/>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457200" y="2728341"/>
            <a:ext cx="11274552" cy="405765"/>
          </a:xfrm>
          <a:prstGeom prst="roundRect">
            <a:avLst>
              <a:gd name="adj" fmla="val 11268"/>
            </a:avLst>
          </a:prstGeom>
          <a:solidFill>
            <a:srgbClr val="F4F1EA"/>
          </a:solidFill>
          <a:ln w="9525">
            <a:solidFill>
              <a:srgbClr val="D8D0BF"/>
            </a:solidFill>
            <a:prstDash val="solid"/>
          </a:ln>
        </p:spPr>
      </p:sp>
      <p:sp>
        <p:nvSpPr>
          <p:cNvPr id="26" name="Text 23"/>
          <p:cNvSpPr txBox="1"/>
          <p:nvPr/>
        </p:nvSpPr>
        <p:spPr>
          <a:xfrm>
            <a:off x="9390888" y="2728341"/>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Fes, Morocco</a:t>
            </a:r>
            <a:endParaRPr lang="en-US" sz="1100" dirty="0"/>
          </a:p>
        </p:txBody>
      </p:sp>
      <p:sp>
        <p:nvSpPr>
          <p:cNvPr id="27" name="Text 24"/>
          <p:cNvSpPr txBox="1"/>
          <p:nvPr/>
        </p:nvSpPr>
        <p:spPr>
          <a:xfrm>
            <a:off x="5074920" y="2728341"/>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فَاسُ، المَغْرِبُ</a:t>
            </a:r>
            <a:endParaRPr lang="ar-SA" sz="1800" dirty="0"/>
          </a:p>
        </p:txBody>
      </p:sp>
      <p:sp>
        <p:nvSpPr>
          <p:cNvPr id="28" name="Text 25"/>
          <p:cNvSpPr txBox="1"/>
          <p:nvPr/>
        </p:nvSpPr>
        <p:spPr>
          <a:xfrm>
            <a:off x="1051560" y="2728341"/>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الوِجْهَةُ</a:t>
            </a:r>
            <a:endParaRPr lang="ar-SA" sz="1600" dirty="0"/>
          </a:p>
        </p:txBody>
      </p:sp>
      <p:sp>
        <p:nvSpPr>
          <p:cNvPr id="29" name="Text 26"/>
          <p:cNvSpPr txBox="1"/>
          <p:nvPr/>
        </p:nvSpPr>
        <p:spPr>
          <a:xfrm>
            <a:off x="566928" y="2728341"/>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0" name="Shape 27"/>
          <p:cNvSpPr/>
          <p:nvPr/>
        </p:nvSpPr>
        <p:spPr>
          <a:xfrm>
            <a:off x="457200" y="3188970"/>
            <a:ext cx="11274552" cy="405765"/>
          </a:xfrm>
          <a:prstGeom prst="roundRect">
            <a:avLst>
              <a:gd name="adj" fmla="val 11268"/>
            </a:avLst>
          </a:prstGeom>
          <a:solidFill>
            <a:srgbClr val="FFFFFF"/>
          </a:solidFill>
          <a:ln w="9525">
            <a:solidFill>
              <a:srgbClr val="D8D0BF"/>
            </a:solidFill>
            <a:prstDash val="solid"/>
          </a:ln>
        </p:spPr>
      </p:sp>
      <p:sp>
        <p:nvSpPr>
          <p:cNvPr id="31" name="Text 28"/>
          <p:cNvSpPr txBox="1"/>
          <p:nvPr/>
        </p:nvSpPr>
        <p:spPr>
          <a:xfrm>
            <a:off x="9390888" y="3188970"/>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15 July</a:t>
            </a:r>
            <a:endParaRPr lang="en-US" sz="1100" dirty="0"/>
          </a:p>
        </p:txBody>
      </p:sp>
      <p:sp>
        <p:nvSpPr>
          <p:cNvPr id="32" name="Text 29"/>
          <p:cNvSpPr txBox="1"/>
          <p:nvPr/>
        </p:nvSpPr>
        <p:spPr>
          <a:xfrm>
            <a:off x="5074920" y="3188970"/>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١٥ يُولْيُو</a:t>
            </a:r>
            <a:endParaRPr lang="ar-SA" sz="1800" dirty="0"/>
          </a:p>
        </p:txBody>
      </p:sp>
      <p:sp>
        <p:nvSpPr>
          <p:cNvPr id="33" name="Text 30"/>
          <p:cNvSpPr txBox="1"/>
          <p:nvPr/>
        </p:nvSpPr>
        <p:spPr>
          <a:xfrm>
            <a:off x="1051560" y="3188970"/>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تَارِيخُ السَّفَرِ</a:t>
            </a:r>
            <a:endParaRPr lang="ar-SA" sz="1600" dirty="0"/>
          </a:p>
        </p:txBody>
      </p:sp>
      <p:sp>
        <p:nvSpPr>
          <p:cNvPr id="34" name="Text 31"/>
          <p:cNvSpPr txBox="1"/>
          <p:nvPr/>
        </p:nvSpPr>
        <p:spPr>
          <a:xfrm>
            <a:off x="566928" y="3188970"/>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3649599"/>
            <a:ext cx="11274552" cy="405765"/>
          </a:xfrm>
          <a:prstGeom prst="roundRect">
            <a:avLst>
              <a:gd name="adj" fmla="val 11268"/>
            </a:avLst>
          </a:prstGeom>
          <a:solidFill>
            <a:srgbClr val="F4F1EA"/>
          </a:solidFill>
          <a:ln w="9525">
            <a:solidFill>
              <a:srgbClr val="D8D0BF"/>
            </a:solidFill>
            <a:prstDash val="solid"/>
          </a:ln>
        </p:spPr>
      </p:sp>
      <p:sp>
        <p:nvSpPr>
          <p:cNvPr id="36" name="Text 33"/>
          <p:cNvSpPr txBox="1"/>
          <p:nvPr/>
        </p:nvSpPr>
        <p:spPr>
          <a:xfrm>
            <a:off x="9390888" y="3649599"/>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four</a:t>
            </a:r>
            <a:endParaRPr lang="en-US" sz="1100" dirty="0"/>
          </a:p>
        </p:txBody>
      </p:sp>
      <p:sp>
        <p:nvSpPr>
          <p:cNvPr id="37" name="Text 34"/>
          <p:cNvSpPr txBox="1"/>
          <p:nvPr/>
        </p:nvSpPr>
        <p:spPr>
          <a:xfrm>
            <a:off x="5074920" y="3649599"/>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أَرْبَعَةٌ</a:t>
            </a:r>
            <a:endParaRPr lang="ar-SA" sz="1800" dirty="0"/>
          </a:p>
        </p:txBody>
      </p:sp>
      <p:sp>
        <p:nvSpPr>
          <p:cNvPr id="38" name="Text 35"/>
          <p:cNvSpPr txBox="1"/>
          <p:nvPr/>
        </p:nvSpPr>
        <p:spPr>
          <a:xfrm>
            <a:off x="1051560" y="3649599"/>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عَدَدُ المُسَافِرِينَ</a:t>
            </a:r>
            <a:endParaRPr lang="ar-SA" sz="1600" dirty="0"/>
          </a:p>
        </p:txBody>
      </p:sp>
      <p:sp>
        <p:nvSpPr>
          <p:cNvPr id="39" name="Text 36"/>
          <p:cNvSpPr txBox="1"/>
          <p:nvPr/>
        </p:nvSpPr>
        <p:spPr>
          <a:xfrm>
            <a:off x="566928" y="3649599"/>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0" name="Shape 37"/>
          <p:cNvSpPr/>
          <p:nvPr/>
        </p:nvSpPr>
        <p:spPr>
          <a:xfrm>
            <a:off x="457200" y="4110228"/>
            <a:ext cx="11274552" cy="405765"/>
          </a:xfrm>
          <a:prstGeom prst="roundRect">
            <a:avLst>
              <a:gd name="adj" fmla="val 11268"/>
            </a:avLst>
          </a:prstGeom>
          <a:solidFill>
            <a:srgbClr val="FFFFFF"/>
          </a:solidFill>
          <a:ln w="9525">
            <a:solidFill>
              <a:srgbClr val="D8D0BF"/>
            </a:solidFill>
            <a:prstDash val="solid"/>
          </a:ln>
        </p:spPr>
      </p:sp>
      <p:sp>
        <p:nvSpPr>
          <p:cNvPr id="41" name="Text 38"/>
          <p:cNvSpPr txBox="1"/>
          <p:nvPr/>
        </p:nvSpPr>
        <p:spPr>
          <a:xfrm>
            <a:off x="9390888" y="4110228"/>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traditional house</a:t>
            </a:r>
            <a:endParaRPr lang="en-US" sz="1100" dirty="0"/>
          </a:p>
        </p:txBody>
      </p:sp>
      <p:sp>
        <p:nvSpPr>
          <p:cNvPr id="42" name="Text 39"/>
          <p:cNvSpPr txBox="1"/>
          <p:nvPr/>
        </p:nvSpPr>
        <p:spPr>
          <a:xfrm>
            <a:off x="5074920" y="4110228"/>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بَيْتٌ تَقْلِيدِيٌّ</a:t>
            </a:r>
            <a:endParaRPr lang="ar-SA" sz="1800" dirty="0"/>
          </a:p>
        </p:txBody>
      </p:sp>
      <p:sp>
        <p:nvSpPr>
          <p:cNvPr id="43" name="Text 40"/>
          <p:cNvSpPr txBox="1"/>
          <p:nvPr/>
        </p:nvSpPr>
        <p:spPr>
          <a:xfrm>
            <a:off x="1051560" y="4110228"/>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نَوْعُ السَّكَنِ</a:t>
            </a:r>
            <a:endParaRPr lang="ar-SA" sz="1600" dirty="0"/>
          </a:p>
        </p:txBody>
      </p:sp>
      <p:sp>
        <p:nvSpPr>
          <p:cNvPr id="44" name="Text 41"/>
          <p:cNvSpPr txBox="1"/>
          <p:nvPr/>
        </p:nvSpPr>
        <p:spPr>
          <a:xfrm>
            <a:off x="566928" y="4110228"/>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45" name="Shape 42"/>
          <p:cNvSpPr/>
          <p:nvPr/>
        </p:nvSpPr>
        <p:spPr>
          <a:xfrm>
            <a:off x="457200" y="4570857"/>
            <a:ext cx="11274552" cy="405765"/>
          </a:xfrm>
          <a:prstGeom prst="roundRect">
            <a:avLst>
              <a:gd name="adj" fmla="val 11268"/>
            </a:avLst>
          </a:prstGeom>
          <a:solidFill>
            <a:srgbClr val="F4F1EA"/>
          </a:solidFill>
          <a:ln w="9525">
            <a:solidFill>
              <a:srgbClr val="D8D0BF"/>
            </a:solidFill>
            <a:prstDash val="solid"/>
          </a:ln>
        </p:spPr>
      </p:sp>
      <p:sp>
        <p:nvSpPr>
          <p:cNvPr id="46" name="Text 43"/>
          <p:cNvSpPr txBox="1"/>
          <p:nvPr/>
        </p:nvSpPr>
        <p:spPr>
          <a:xfrm>
            <a:off x="9390888" y="4570857"/>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train</a:t>
            </a:r>
            <a:endParaRPr lang="en-US" sz="1100" dirty="0"/>
          </a:p>
        </p:txBody>
      </p:sp>
      <p:sp>
        <p:nvSpPr>
          <p:cNvPr id="47" name="Text 44"/>
          <p:cNvSpPr txBox="1"/>
          <p:nvPr/>
        </p:nvSpPr>
        <p:spPr>
          <a:xfrm>
            <a:off x="5074920" y="4570857"/>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القِطَارُ</a:t>
            </a:r>
            <a:endParaRPr lang="ar-SA" sz="1800" dirty="0"/>
          </a:p>
        </p:txBody>
      </p:sp>
      <p:sp>
        <p:nvSpPr>
          <p:cNvPr id="48" name="Text 45"/>
          <p:cNvSpPr txBox="1"/>
          <p:nvPr/>
        </p:nvSpPr>
        <p:spPr>
          <a:xfrm>
            <a:off x="1051560" y="4570857"/>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وَسِيلَةُ المُوَاصَلَاتِ</a:t>
            </a:r>
            <a:endParaRPr lang="ar-SA" sz="1600" dirty="0"/>
          </a:p>
        </p:txBody>
      </p:sp>
      <p:sp>
        <p:nvSpPr>
          <p:cNvPr id="49" name="Text 46"/>
          <p:cNvSpPr txBox="1"/>
          <p:nvPr/>
        </p:nvSpPr>
        <p:spPr>
          <a:xfrm>
            <a:off x="566928" y="4570857"/>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50" name="Shape 47"/>
          <p:cNvSpPr/>
          <p:nvPr/>
        </p:nvSpPr>
        <p:spPr>
          <a:xfrm>
            <a:off x="457200" y="5031486"/>
            <a:ext cx="11274552" cy="405765"/>
          </a:xfrm>
          <a:prstGeom prst="roundRect">
            <a:avLst>
              <a:gd name="adj" fmla="val 11268"/>
            </a:avLst>
          </a:prstGeom>
          <a:solidFill>
            <a:srgbClr val="FFFFFF"/>
          </a:solidFill>
          <a:ln w="9525">
            <a:solidFill>
              <a:srgbClr val="D8D0BF"/>
            </a:solidFill>
            <a:prstDash val="solid"/>
          </a:ln>
        </p:spPr>
      </p:sp>
      <p:sp>
        <p:nvSpPr>
          <p:cNvPr id="51" name="Text 48"/>
          <p:cNvSpPr txBox="1"/>
          <p:nvPr/>
        </p:nvSpPr>
        <p:spPr>
          <a:xfrm>
            <a:off x="9390888" y="5031486"/>
            <a:ext cx="2267712"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five hundred pounds</a:t>
            </a:r>
            <a:endParaRPr lang="en-US" sz="1100" dirty="0"/>
          </a:p>
        </p:txBody>
      </p:sp>
      <p:sp>
        <p:nvSpPr>
          <p:cNvPr id="52" name="Text 49"/>
          <p:cNvSpPr txBox="1"/>
          <p:nvPr/>
        </p:nvSpPr>
        <p:spPr>
          <a:xfrm>
            <a:off x="5074920" y="5031486"/>
            <a:ext cx="4114800" cy="405765"/>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خَمْسُمِئَةِ جُنَيْهٍ</a:t>
            </a:r>
            <a:endParaRPr lang="ar-SA" sz="1800" dirty="0"/>
          </a:p>
        </p:txBody>
      </p:sp>
      <p:sp>
        <p:nvSpPr>
          <p:cNvPr id="53" name="Text 50"/>
          <p:cNvSpPr txBox="1"/>
          <p:nvPr/>
        </p:nvSpPr>
        <p:spPr>
          <a:xfrm>
            <a:off x="1051560" y="5031486"/>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المِيزَانِيَّةُ</a:t>
            </a:r>
            <a:endParaRPr lang="ar-SA" sz="1600" dirty="0"/>
          </a:p>
        </p:txBody>
      </p:sp>
      <p:sp>
        <p:nvSpPr>
          <p:cNvPr id="54" name="Text 51"/>
          <p:cNvSpPr txBox="1"/>
          <p:nvPr/>
        </p:nvSpPr>
        <p:spPr>
          <a:xfrm>
            <a:off x="566928" y="5031486"/>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7</a:t>
            </a:r>
            <a:endParaRPr lang="en-US" sz="1100" dirty="0"/>
          </a:p>
        </p:txBody>
      </p:sp>
      <p:sp>
        <p:nvSpPr>
          <p:cNvPr id="55" name="Shape 52"/>
          <p:cNvSpPr/>
          <p:nvPr/>
        </p:nvSpPr>
        <p:spPr>
          <a:xfrm>
            <a:off x="457200" y="5492115"/>
            <a:ext cx="11274552" cy="405765"/>
          </a:xfrm>
          <a:prstGeom prst="roundRect">
            <a:avLst>
              <a:gd name="adj" fmla="val 11268"/>
            </a:avLst>
          </a:prstGeom>
          <a:solidFill>
            <a:srgbClr val="F4F1EA"/>
          </a:solidFill>
          <a:ln w="9525">
            <a:solidFill>
              <a:srgbClr val="D8D0BF"/>
            </a:solidFill>
            <a:prstDash val="solid"/>
          </a:ln>
        </p:spPr>
      </p:sp>
      <p:sp>
        <p:nvSpPr>
          <p:cNvPr id="56" name="Text 53"/>
          <p:cNvSpPr txBox="1"/>
          <p:nvPr/>
        </p:nvSpPr>
        <p:spPr>
          <a:xfrm>
            <a:off x="9390888" y="5492115"/>
            <a:ext cx="2267712" cy="405765"/>
          </a:xfrm>
          <a:prstGeom prst="rect">
            <a:avLst/>
          </a:prstGeom>
          <a:noFill/>
          <a:ln/>
        </p:spPr>
        <p:txBody>
          <a:bodyPr wrap="square" lIns="0" tIns="0" rIns="0" bIns="0" rtlCol="0" anchor="ctr"/>
          <a:lstStyle/>
          <a:p>
            <a:pPr algn="l" indent="0" marL="0">
              <a:buNone/>
            </a:pPr>
            <a:r>
              <a:rPr lang="en-US" sz="950" dirty="0">
                <a:solidFill>
                  <a:srgbClr val="5A6472"/>
                </a:solidFill>
                <a:latin typeface="Calibri" pitchFamily="34" charset="0"/>
                <a:cs typeface="Amiri" pitchFamily="2" charset="-78"/>
              </a:rPr>
              <a:t>I chose it because it has an old city no cars enter, and high mountains nearby.</a:t>
            </a:r>
            <a:endParaRPr lang="en-US" sz="950" dirty="0"/>
          </a:p>
        </p:txBody>
      </p:sp>
      <p:sp>
        <p:nvSpPr>
          <p:cNvPr id="57" name="Text 54"/>
          <p:cNvSpPr txBox="1"/>
          <p:nvPr/>
        </p:nvSpPr>
        <p:spPr>
          <a:xfrm>
            <a:off x="5074920" y="5492115"/>
            <a:ext cx="4114800" cy="405765"/>
          </a:xfrm>
          <a:prstGeom prst="rect">
            <a:avLst/>
          </a:prstGeom>
          <a:noFill/>
          <a:ln/>
        </p:spPr>
        <p:txBody>
          <a:bodyPr wrap="square" lIns="0" tIns="0" rIns="0" bIns="0" rtlCol="0" anchor="ctr"/>
          <a:lstStyle/>
          <a:p>
            <a:pPr rtl="1" algn="ctr" indent="0" marL="0">
              <a:lnSpc>
                <a:spcPct val="120000"/>
              </a:lnSpc>
              <a:buNone/>
            </a:pPr>
            <a:r>
              <a:rPr lang="ar-SA" altLang="en-US" sz="1200" b="1" dirty="0">
                <a:solidFill>
                  <a:srgbClr val="1B3B6F"/>
                </a:solidFill>
                <a:latin typeface="Amiri" pitchFamily="2" charset="-78"/>
                <a:ea typeface="Amiri" pitchFamily="2" charset="-78"/>
                <a:cs typeface="Amiri" pitchFamily="2" charset="-78"/>
              </a:rPr>
              <a:t>اخْتَرْتُهَا لِأَنَّ فِيهَا مَدِينَةً قَدِيمَةً لَا تَدْخُلُهَا السَّيَّارَاتُ، وَجِبَالًا عَالِيَةً قَرِيبَةً.</a:t>
            </a:r>
            <a:endParaRPr lang="ar-SA" sz="1200" dirty="0"/>
          </a:p>
        </p:txBody>
      </p:sp>
      <p:sp>
        <p:nvSpPr>
          <p:cNvPr id="58" name="Text 55"/>
          <p:cNvSpPr txBox="1"/>
          <p:nvPr/>
        </p:nvSpPr>
        <p:spPr>
          <a:xfrm>
            <a:off x="1051560" y="5492115"/>
            <a:ext cx="3840480" cy="405765"/>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جُمْلَةٌ: لِمَاذَا اخْتَرْتَ هٰذِهِ الوِجْهَةَ؟</a:t>
            </a:r>
            <a:endParaRPr lang="ar-SA" sz="1600" dirty="0"/>
          </a:p>
        </p:txBody>
      </p:sp>
      <p:sp>
        <p:nvSpPr>
          <p:cNvPr id="59" name="Text 56"/>
          <p:cNvSpPr txBox="1"/>
          <p:nvPr/>
        </p:nvSpPr>
        <p:spPr>
          <a:xfrm>
            <a:off x="566928" y="5492115"/>
            <a:ext cx="320040" cy="405765"/>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8</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Short answers are fine — but they must be accurate, in Arabic, and answer exactly what the form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18</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DIRECTED WRITING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2: a letter from my trip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مِنَ السَّفَرِ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You are on holiday abroad. Write an email in Arabic to a friend of about 80–90 words. You must include: • where you are staying and what the place is like • the weather, with a comparison • something you bought or did yesterday • your opinion and your plans for tomorrow.</a:t>
            </a:r>
            <a:endParaRPr lang="en-US" sz="12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comparison and a price.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past AND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حَجَزْنَا … وَهِيَ مَبْنِيَّةٌ مِنْ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booked … and it is built of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الجَوُّ … وَهُوَ أَحَرُّ مِنْ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weather is … and hotter than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أَمْسِ اشْتَرَيْتُ … وَكَانَ ثَمَنُهَا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yesterday I bought … and it cost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غَدًا سَنَزُورُ … وَسَأُرْسِلُ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tomorrow we will visit … and I will send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18</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THE TASK IN ARABIC (AS IN THE EXAM)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 the Arabic rubric</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845552" y="1810512"/>
            <a:ext cx="3813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627632" y="1810512"/>
            <a:ext cx="6071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0" name="Text 17"/>
          <p:cNvSpPr txBox="1"/>
          <p:nvPr/>
        </p:nvSpPr>
        <p:spPr>
          <a:xfrm>
            <a:off x="7882128" y="2267712"/>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 are on holiday abroad: write to your friend (80–90 words).</a:t>
            </a:r>
            <a:endParaRPr lang="en-US" sz="1100" dirty="0"/>
          </a:p>
        </p:txBody>
      </p:sp>
      <p:sp>
        <p:nvSpPr>
          <p:cNvPr id="21" name="Text 18"/>
          <p:cNvSpPr txBox="1"/>
          <p:nvPr/>
        </p:nvSpPr>
        <p:spPr>
          <a:xfrm>
            <a:off x="1645920" y="2267712"/>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أَنْتِ فِي عُطْلَةٍ خَارِجَ بِلَادِكِ. اكْتُبِي رِسَالَةً إِلَى صَدِيقَتِكِ (٨٠–٩٠ كَلِمَةً).</a:t>
            </a:r>
            <a:endParaRPr lang="ar-SA" sz="1800" dirty="0"/>
          </a:p>
        </p:txBody>
      </p:sp>
      <p:sp>
        <p:nvSpPr>
          <p:cNvPr id="22" name="Text 19"/>
          <p:cNvSpPr txBox="1"/>
          <p:nvPr/>
        </p:nvSpPr>
        <p:spPr>
          <a:xfrm>
            <a:off x="566928" y="2267712"/>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3" name="Shape 20"/>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4" name="Text 21"/>
          <p:cNvSpPr txBox="1"/>
          <p:nvPr/>
        </p:nvSpPr>
        <p:spPr>
          <a:xfrm>
            <a:off x="7882128" y="300471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you are staying; what the place is like</a:t>
            </a:r>
            <a:endParaRPr lang="en-US" sz="1100" dirty="0"/>
          </a:p>
        </p:txBody>
      </p:sp>
      <p:sp>
        <p:nvSpPr>
          <p:cNvPr id="25" name="Text 22"/>
          <p:cNvSpPr txBox="1"/>
          <p:nvPr/>
        </p:nvSpPr>
        <p:spPr>
          <a:xfrm>
            <a:off x="1645920" y="300471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أَيْنَ تُقِيمِينَ؟ وَكَيْفَ المَكَانُ؟</a:t>
            </a:r>
            <a:endParaRPr lang="ar-SA" sz="1800" dirty="0"/>
          </a:p>
        </p:txBody>
      </p:sp>
      <p:sp>
        <p:nvSpPr>
          <p:cNvPr id="26" name="Text 23"/>
          <p:cNvSpPr txBox="1"/>
          <p:nvPr/>
        </p:nvSpPr>
        <p:spPr>
          <a:xfrm>
            <a:off x="566928" y="300471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28" name="Text 25"/>
          <p:cNvSpPr txBox="1"/>
          <p:nvPr/>
        </p:nvSpPr>
        <p:spPr>
          <a:xfrm>
            <a:off x="7882128" y="3741725"/>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weather, compared with home</a:t>
            </a:r>
            <a:endParaRPr lang="en-US" sz="1100" dirty="0"/>
          </a:p>
        </p:txBody>
      </p:sp>
      <p:sp>
        <p:nvSpPr>
          <p:cNvPr id="29" name="Text 26"/>
          <p:cNvSpPr txBox="1"/>
          <p:nvPr/>
        </p:nvSpPr>
        <p:spPr>
          <a:xfrm>
            <a:off x="1645920" y="3741725"/>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كَيْفَ الطَّقْسُ؟ قَارِنِيهِ بِطَقْسِ بَلَدِكِ.</a:t>
            </a:r>
            <a:endParaRPr lang="ar-SA" sz="1800" dirty="0"/>
          </a:p>
        </p:txBody>
      </p:sp>
      <p:sp>
        <p:nvSpPr>
          <p:cNvPr id="30" name="Text 27"/>
          <p:cNvSpPr txBox="1"/>
          <p:nvPr/>
        </p:nvSpPr>
        <p:spPr>
          <a:xfrm>
            <a:off x="566928" y="3741725"/>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1" name="Shape 28"/>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2" name="Text 29"/>
          <p:cNvSpPr txBox="1"/>
          <p:nvPr/>
        </p:nvSpPr>
        <p:spPr>
          <a:xfrm>
            <a:off x="7882128" y="4478731"/>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bought or did yesterday</a:t>
            </a:r>
            <a:endParaRPr lang="en-US" sz="1100" dirty="0"/>
          </a:p>
        </p:txBody>
      </p:sp>
      <p:sp>
        <p:nvSpPr>
          <p:cNvPr id="33" name="Text 30"/>
          <p:cNvSpPr txBox="1"/>
          <p:nvPr/>
        </p:nvSpPr>
        <p:spPr>
          <a:xfrm>
            <a:off x="1645920" y="4478731"/>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مَاذَا اشْتَرَيْتِ أَوْ فَعَلْتِ أَمْسِ؟</a:t>
            </a:r>
            <a:endParaRPr lang="ar-SA" sz="1800" dirty="0"/>
          </a:p>
        </p:txBody>
      </p:sp>
      <p:sp>
        <p:nvSpPr>
          <p:cNvPr id="34" name="Text 31"/>
          <p:cNvSpPr txBox="1"/>
          <p:nvPr/>
        </p:nvSpPr>
        <p:spPr>
          <a:xfrm>
            <a:off x="566928" y="4478731"/>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5" name="Shape 32"/>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36" name="Text 33"/>
          <p:cNvSpPr txBox="1"/>
          <p:nvPr/>
        </p:nvSpPr>
        <p:spPr>
          <a:xfrm>
            <a:off x="7882128" y="5215738"/>
            <a:ext cx="377647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Your opinion and tomorrow’s plans</a:t>
            </a:r>
            <a:endParaRPr lang="en-US" sz="1100" dirty="0"/>
          </a:p>
        </p:txBody>
      </p:sp>
      <p:sp>
        <p:nvSpPr>
          <p:cNvPr id="37" name="Text 34"/>
          <p:cNvSpPr txBox="1"/>
          <p:nvPr/>
        </p:nvSpPr>
        <p:spPr>
          <a:xfrm>
            <a:off x="1645920" y="5215738"/>
            <a:ext cx="6035040" cy="6821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 رَأْيُكِ؟ وَمَاذَا سَتَفْعَلِينَ غَدًا؟</a:t>
            </a:r>
            <a:endParaRPr lang="ar-SA" sz="1800" dirty="0"/>
          </a:p>
        </p:txBody>
      </p:sp>
      <p:sp>
        <p:nvSpPr>
          <p:cNvPr id="38" name="Text 35"/>
          <p:cNvSpPr txBox="1"/>
          <p:nvPr/>
        </p:nvSpPr>
        <p:spPr>
          <a:xfrm>
            <a:off x="566928" y="5215738"/>
            <a:ext cx="91440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In the exam the instructions are in Arabic: underline the question word in each bullet.</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18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2 · CORE FRAMES (DEVELOP: USE THEM ONLY IF STUCK)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with these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028432" y="1810512"/>
            <a:ext cx="36301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English</a:t>
            </a:r>
            <a:endParaRPr lang="en-US" sz="1100" dirty="0"/>
          </a:p>
        </p:txBody>
      </p:sp>
      <p:sp>
        <p:nvSpPr>
          <p:cNvPr id="17" name="Text 14"/>
          <p:cNvSpPr txBox="1"/>
          <p:nvPr/>
        </p:nvSpPr>
        <p:spPr>
          <a:xfrm>
            <a:off x="1627632" y="1810512"/>
            <a:ext cx="62544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a:t>
            </a:r>
            <a:endParaRPr lang="en-US" sz="1100" dirty="0"/>
          </a:p>
        </p:txBody>
      </p:sp>
      <p:sp>
        <p:nvSpPr>
          <p:cNvPr id="18" name="Text 15"/>
          <p:cNvSpPr txBox="1"/>
          <p:nvPr/>
        </p:nvSpPr>
        <p:spPr>
          <a:xfrm>
            <a:off x="530352" y="1810512"/>
            <a:ext cx="9509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Bullet</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8065008" y="226771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Hello …, how are you?</a:t>
            </a:r>
            <a:endParaRPr lang="en-US" sz="1100" dirty="0"/>
          </a:p>
        </p:txBody>
      </p:sp>
      <p:sp>
        <p:nvSpPr>
          <p:cNvPr id="21" name="Text 18"/>
          <p:cNvSpPr txBox="1"/>
          <p:nvPr/>
        </p:nvSpPr>
        <p:spPr>
          <a:xfrm>
            <a:off x="1645920" y="226771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22" name="Text 19"/>
          <p:cNvSpPr txBox="1"/>
          <p:nvPr/>
        </p:nvSpPr>
        <p:spPr>
          <a:xfrm>
            <a:off x="566928" y="226771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start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6" name="Text 23"/>
          <p:cNvSpPr txBox="1"/>
          <p:nvPr/>
        </p:nvSpPr>
        <p:spPr>
          <a:xfrm>
            <a:off x="8065008" y="2881884"/>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am now in … We booked …, and it is built of …</a:t>
            </a:r>
            <a:endParaRPr lang="en-US" sz="1100" dirty="0"/>
          </a:p>
        </p:txBody>
      </p:sp>
      <p:sp>
        <p:nvSpPr>
          <p:cNvPr id="27" name="Text 24"/>
          <p:cNvSpPr txBox="1"/>
          <p:nvPr/>
        </p:nvSpPr>
        <p:spPr>
          <a:xfrm>
            <a:off x="1645920" y="2881884"/>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أَنَا الآنَ فِي ______ . حَجَزْنَا ______ ، وَهِيَ مَبْنِيَّةٌ مِنْ ______ .</a:t>
            </a:r>
            <a:endParaRPr lang="ar-SA" sz="1800" dirty="0"/>
          </a:p>
        </p:txBody>
      </p:sp>
      <p:sp>
        <p:nvSpPr>
          <p:cNvPr id="28" name="Text 25"/>
          <p:cNvSpPr txBox="1"/>
          <p:nvPr/>
        </p:nvSpPr>
        <p:spPr>
          <a:xfrm>
            <a:off x="566928" y="2881884"/>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9" name="Shape 26"/>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2" name="Text 29"/>
          <p:cNvSpPr txBox="1"/>
          <p:nvPr/>
        </p:nvSpPr>
        <p:spPr>
          <a:xfrm>
            <a:off x="8065008" y="3496056"/>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 weather is …, …er than in …</a:t>
            </a:r>
            <a:endParaRPr lang="en-US" sz="1100" dirty="0"/>
          </a:p>
        </p:txBody>
      </p:sp>
      <p:sp>
        <p:nvSpPr>
          <p:cNvPr id="33" name="Text 30"/>
          <p:cNvSpPr txBox="1"/>
          <p:nvPr/>
        </p:nvSpPr>
        <p:spPr>
          <a:xfrm>
            <a:off x="1645920" y="3496056"/>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الجَوُّ ______ ، وَهُوَ أَ______ مِنْ جَوِّ ______ .</a:t>
            </a:r>
            <a:endParaRPr lang="ar-SA" sz="1800" dirty="0"/>
          </a:p>
        </p:txBody>
      </p:sp>
      <p:sp>
        <p:nvSpPr>
          <p:cNvPr id="34" name="Text 31"/>
          <p:cNvSpPr txBox="1"/>
          <p:nvPr/>
        </p:nvSpPr>
        <p:spPr>
          <a:xfrm>
            <a:off x="566928" y="3496056"/>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8" name="Text 35"/>
          <p:cNvSpPr txBox="1"/>
          <p:nvPr/>
        </p:nvSpPr>
        <p:spPr>
          <a:xfrm>
            <a:off x="8065008" y="4110228"/>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Yesterday I bought …, and it cost …</a:t>
            </a:r>
            <a:endParaRPr lang="en-US" sz="1100" dirty="0"/>
          </a:p>
        </p:txBody>
      </p:sp>
      <p:sp>
        <p:nvSpPr>
          <p:cNvPr id="39" name="Text 36"/>
          <p:cNvSpPr txBox="1"/>
          <p:nvPr/>
        </p:nvSpPr>
        <p:spPr>
          <a:xfrm>
            <a:off x="1645920" y="4110228"/>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أَمْسِ اشْتَرَيْتُ ______ ، وَكَانَ ثَمَنُهَا ______ .</a:t>
            </a:r>
            <a:endParaRPr lang="ar-SA" sz="1800" dirty="0"/>
          </a:p>
        </p:txBody>
      </p:sp>
      <p:sp>
        <p:nvSpPr>
          <p:cNvPr id="40" name="Text 37"/>
          <p:cNvSpPr txBox="1"/>
          <p:nvPr/>
        </p:nvSpPr>
        <p:spPr>
          <a:xfrm>
            <a:off x="566928" y="4110228"/>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1" name="Shape 38"/>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3" name="Shape 40"/>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4" name="Text 41"/>
          <p:cNvSpPr txBox="1"/>
          <p:nvPr/>
        </p:nvSpPr>
        <p:spPr>
          <a:xfrm>
            <a:off x="8065008" y="4724400"/>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In my opinion … Tomorrow we will visit …</a:t>
            </a:r>
            <a:endParaRPr lang="en-US" sz="1100" dirty="0"/>
          </a:p>
        </p:txBody>
      </p:sp>
      <p:sp>
        <p:nvSpPr>
          <p:cNvPr id="45" name="Text 42"/>
          <p:cNvSpPr txBox="1"/>
          <p:nvPr/>
        </p:nvSpPr>
        <p:spPr>
          <a:xfrm>
            <a:off x="1645920" y="4724400"/>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رَأْيِي ______ . غَدًا سَنَزُورُ ______ .</a:t>
            </a:r>
            <a:endParaRPr lang="ar-SA" sz="1800" dirty="0"/>
          </a:p>
        </p:txBody>
      </p:sp>
      <p:sp>
        <p:nvSpPr>
          <p:cNvPr id="46" name="Text 43"/>
          <p:cNvSpPr txBox="1"/>
          <p:nvPr/>
        </p:nvSpPr>
        <p:spPr>
          <a:xfrm>
            <a:off x="566928" y="4724400"/>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7" name="Shape 44"/>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9" name="Shape 4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0" name="Text 47"/>
          <p:cNvSpPr txBox="1"/>
          <p:nvPr/>
        </p:nvSpPr>
        <p:spPr>
          <a:xfrm>
            <a:off x="8065008" y="5338572"/>
            <a:ext cx="35935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Goodbye, (your name)</a:t>
            </a:r>
            <a:endParaRPr lang="en-US" sz="1100" dirty="0"/>
          </a:p>
        </p:txBody>
      </p:sp>
      <p:sp>
        <p:nvSpPr>
          <p:cNvPr id="51" name="Text 48"/>
          <p:cNvSpPr txBox="1"/>
          <p:nvPr/>
        </p:nvSpPr>
        <p:spPr>
          <a:xfrm>
            <a:off x="1645920" y="5338572"/>
            <a:ext cx="6217920" cy="559308"/>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مَعَ السَّلَامَةِ، ______</a:t>
            </a:r>
            <a:endParaRPr lang="ar-SA" sz="1800" dirty="0"/>
          </a:p>
        </p:txBody>
      </p:sp>
      <p:sp>
        <p:nvSpPr>
          <p:cNvPr id="52" name="Text 49"/>
          <p:cNvSpPr txBox="1"/>
          <p:nvPr/>
        </p:nvSpPr>
        <p:spPr>
          <a:xfrm>
            <a:off x="566928" y="5338572"/>
            <a:ext cx="9144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end</a:t>
            </a:r>
            <a:endParaRPr lang="en-US" sz="1100" dirty="0"/>
          </a:p>
        </p:txBody>
      </p:sp>
      <p:sp>
        <p:nvSpPr>
          <p:cNvPr id="53" name="Shape 50"/>
          <p:cNvSpPr/>
          <p:nvPr/>
        </p:nvSpPr>
        <p:spPr>
          <a:xfrm>
            <a:off x="11091672" y="5384292"/>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538429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Text 5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Develop: add a frequency word and a “but” (lākin). Stretch: write without frames and add a second opinion.</a:t>
            </a:r>
            <a:endParaRPr lang="en-US" sz="115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18</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CORE MODEL · A SECURE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Q2 Core model: every bullet covered</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مَرْحَبًا يَا سَلْمَى،</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كَيْفَ حَالُكِ؟ أَنَا الآنَ فِي مَدِينَةِ فَاسَ فِي المَغْرِبِ. حَجَزْنَا شَقَّةً قَدِيمَةً قُرْبَ السُّوقِ، وَهِيَ مَبْنِيَّةٌ مِنَ الحَجَرِ. المَدِينَةُ جَمِيلَةٌ؛ فِيهَا شَوَارِعُ ضَيِّقَةٌ وَمَسَاجِدُ قَدِيمَةٌ. الجَوُّ حَارٌّ وَمُشْمِسٌ، وَهُوَ أَحَرُّ مِنْ جَوِّ لَنْدَنَ بِكَثِيرٍ. أَمْسِ ذَهَبْتُ إِلَى السُّوقِ، وَاشْتَرَيْتُ حَقِيبَةً جِلْدِيَّةً حَمْرَاءَ، وَكَانَ ثَمَنُهَا عِشْرِينَ جُنَيْهًا فَقَطْ. فِي رَأْيِي، فَاسُ مَدِينَةٌ رَائِعَةٌ. غَدًا سَنَزُورُ جِبَالَ الأَطْلَسِ بِالحَافِلَةِ، وَسَأُرْسِلُ لَكِ صُوَرًا.</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مَعَ السَّلَامَةِ،</a:t>
            </a:r>
            <a:endParaRPr lang="ar-SA" sz="1900" dirty="0"/>
          </a:p>
          <a:p>
            <a:pPr rtl="1" algn="r" indent="0" marL="0">
              <a:lnSpc>
                <a:spcPct val="120000"/>
              </a:lnSpc>
              <a:buNone/>
            </a:pPr>
            <a:r>
              <a:rPr lang="ar-SA" altLang="en-US" sz="1900" dirty="0">
                <a:solidFill>
                  <a:srgbClr val="1F2A37"/>
                </a:solidFill>
                <a:latin typeface="Amiri" pitchFamily="2" charset="-78"/>
                <a:ea typeface="Amiri" pitchFamily="2" charset="-78"/>
                <a:cs typeface="Amiri" pitchFamily="2" charset="-78"/>
              </a:rPr>
              <a:t>هُدَى</a:t>
            </a:r>
            <a:endParaRPr lang="ar-SA" sz="19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“Hello Salma, how are you? I’m in Fes in Morocco. We booked an old flat near the market, built of stone. The city is beautiful, with narrow streets and old mosques. It’s hot and sunny — much hotter than London. Yesterday I went to the market and bought a red leather bag for only twenty pounds. In my opinion Fes is a wonderful city. Tomorrow we’ll visit the Atlas Mountains by bus, and I’ll send you photos. Goodbye, Huda.”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مَبْنِيَّةٌ مِنَ الحَجَرِ</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أَحَرُّ مِنْ جَوِّ لَنْدَنَ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 ثَمَنُهَا عِشْرِينَ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غَدًا سَنَزُورُ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18</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QUESTION 2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00" b="1" dirty="0">
                <a:solidFill>
                  <a:srgbClr val="1B3B6F"/>
                </a:solidFill>
                <a:latin typeface="Cambria" pitchFamily="34" charset="0"/>
                <a:cs typeface="Amiri" pitchFamily="2" charset="-78"/>
              </a:rPr>
              <a:t>Q2 full-mark model: detail, linking, opinion</a:t>
            </a:r>
            <a:endParaRPr lang="en-US" sz="23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عَزِيزَتِي سَلْمَى،</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تَحِيَّةً مِنْ فَاسَ! وَصَلْنَا قَبْلَ يَوْمَيْنِ بَعْدَ رِحْلَةٍ طَوِيلَةٍ بِالقِطَارِ، وَنُقِيمُ فِي بَيْتٍ تَقْلِيدِيٍّ حَجَزْنَاهُ عَلَى الإِنْتَرْنِتِ، جُدْرَانُهُ مَبْنِيَّةٌ مِنَ الحَجَرِ، وَفِي وَسَطِهِ نَافُورَةٌ دَائِرِيَّةٌ. وَالمَدِينَةُ القَدِيمَةُ مَتَاهَةٌ مِنَ الأَزِقَّةِ الضَّيِّقَةِ الَّتِي لَا تَدْخُلُهَا السَّيَّارَاتُ، لِذٰلِكَ هَوَاؤُهَا أَنْظَفُ مِمَّا تَوَقَّعْتُ. أَمَّا الجَوُّ فَحَارٌّ نَهَارًا وَمُعْتَدِلٌ لَيْلًا. وَأَمْسِ ضِعْنَا فِي السُّوقِ سَاعَةً كَامِلَةً، حَتَّى سَاعَدَنَا بَائِعٌ لَطِيفٌ اشْتَرَيْتُ مِنْهُ حَقِيبَةً جِلْدِيَّةً بِعِشْرِينَ جُنَيْهًا. صَحِيحٌ أَنَّ المَدِينَةَ مُزْدَحِمَةٌ، غَيْرَ أَنَّ سِحْرَهَا لَا يُقَاوَمُ. وَإِذَا كَانَ الطَّقْسُ مُنَاسِبًا غَدًا، فَسَنَزُورُ جِبَالَ الأَطْلَسِ.</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بِمَحَبَّةٍ،</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هُدَى</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Salma, greetings from Fes! We arrived two days ago after a long train journey, and are staying in a traditional house we booked online: stone walls and a round fountain in the middle. The old city is a maze of narrow alleys that cars can’t enter, so its air is cleaner than I expected. As for the weather, it’s hot by day and mild at night. Yesterday we got lost in the market for a whole hour, until a kind seller helped us — I bought a leather bag from him for £20. The city is crowded, but its magic is irresistible. If the weather is right tomorrow, we’ll visit the Atlas Mountains. With love, Huda.”</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حَجَزْنَاهُ عَلَى الإِنْتَرْنِتِ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أَنْظَفُ مِمَّا تَوَقَّعْتُ</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حَتَّى سَاعَدَنَا</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كَانَ … فَسَنَزُورُ</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18</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QUESTION 3 · EXTENDED WRITING · ABOUT 130–150 WORDS · CHOOSE ONE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Question 3: choose one title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اخْتَرْ عُنْوَانًا وَاحِدًا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571232" y="1810512"/>
            <a:ext cx="4087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153619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Arabic</a:t>
            </a:r>
            <a:endParaRPr lang="en-US" sz="1100" dirty="0"/>
          </a:p>
        </p:txBody>
      </p:sp>
      <p:sp>
        <p:nvSpPr>
          <p:cNvPr id="18" name="Text 15"/>
          <p:cNvSpPr txBox="1"/>
          <p:nvPr/>
        </p:nvSpPr>
        <p:spPr>
          <a:xfrm>
            <a:off x="530352" y="1810512"/>
            <a:ext cx="859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Title</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607808" y="2267712"/>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journey that taught me a lot</a:t>
            </a:r>
            <a:endParaRPr lang="en-US" sz="1100" dirty="0"/>
          </a:p>
        </p:txBody>
      </p:sp>
      <p:sp>
        <p:nvSpPr>
          <p:cNvPr id="21" name="Text 18"/>
          <p:cNvSpPr txBox="1"/>
          <p:nvPr/>
        </p:nvSpPr>
        <p:spPr>
          <a:xfrm>
            <a:off x="1554480" y="2267712"/>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رِحْلَةٌ عَلَّمَتْنِي الكَثِيرَ</a:t>
            </a:r>
            <a:endParaRPr lang="ar-SA" sz="1700" dirty="0"/>
          </a:p>
        </p:txBody>
      </p:sp>
      <p:sp>
        <p:nvSpPr>
          <p:cNvPr id="22" name="Text 19"/>
          <p:cNvSpPr txBox="1"/>
          <p:nvPr/>
        </p:nvSpPr>
        <p:spPr>
          <a:xfrm>
            <a:off x="548640" y="2267712"/>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a:t>
            </a:r>
            <a:endParaRPr lang="ar-SA" sz="2000" dirty="0"/>
          </a:p>
        </p:txBody>
      </p:sp>
      <p:sp>
        <p:nvSpPr>
          <p:cNvPr id="23" name="Shape 20"/>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4" name="Text 21"/>
          <p:cNvSpPr txBox="1"/>
          <p:nvPr/>
        </p:nvSpPr>
        <p:spPr>
          <a:xfrm>
            <a:off x="7607808" y="3054096"/>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and how you travelled · places and weather · a moment you won’t forget · your opinion and plans</a:t>
            </a:r>
            <a:endParaRPr lang="en-US" sz="1100" dirty="0"/>
          </a:p>
        </p:txBody>
      </p:sp>
      <p:sp>
        <p:nvSpPr>
          <p:cNvPr id="25" name="Text 22"/>
          <p:cNvSpPr txBox="1"/>
          <p:nvPr/>
        </p:nvSpPr>
        <p:spPr>
          <a:xfrm>
            <a:off x="1554480" y="3054096"/>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وَكَيْفَ سَافَرْتَ · الأَمَاكِنُ وَالطَّقْسُ · مَوْقِفٌ لَا تَنْسَاهُ · رَأْيُكَ وَخِطَطُكَ</a:t>
            </a:r>
            <a:endParaRPr lang="ar-SA" sz="1700" dirty="0"/>
          </a:p>
        </p:txBody>
      </p:sp>
      <p:sp>
        <p:nvSpPr>
          <p:cNvPr id="26" name="Text 23"/>
          <p:cNvSpPr txBox="1"/>
          <p:nvPr/>
        </p:nvSpPr>
        <p:spPr>
          <a:xfrm>
            <a:off x="566928" y="3054096"/>
            <a:ext cx="822960" cy="731520"/>
          </a:xfrm>
          <a:prstGeom prst="rect">
            <a:avLst/>
          </a:prstGeom>
          <a:noFill/>
          <a:ln/>
        </p:spPr>
        <p:txBody>
          <a:bodyPr wrap="square" lIns="0" tIns="0" rIns="0" bIns="0" rtlCol="0" anchor="ctr"/>
          <a:lstStyle/>
          <a:p>
            <a:pPr algn="l" indent="0" marL="0">
              <a:buNone/>
            </a:pPr>
            <a:endParaRPr lang="en-US" sz="1100" dirty="0"/>
          </a:p>
        </p:txBody>
      </p:sp>
      <p:sp>
        <p:nvSpPr>
          <p:cNvPr id="27" name="Shape 2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28" name="Text 25"/>
          <p:cNvSpPr txBox="1"/>
          <p:nvPr/>
        </p:nvSpPr>
        <p:spPr>
          <a:xfrm>
            <a:off x="7607808" y="3840480"/>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Our connected world: blessing or burden for the planet?</a:t>
            </a:r>
            <a:endParaRPr lang="en-US" sz="1100" dirty="0"/>
          </a:p>
        </p:txBody>
      </p:sp>
      <p:sp>
        <p:nvSpPr>
          <p:cNvPr id="29" name="Text 26"/>
          <p:cNvSpPr txBox="1"/>
          <p:nvPr/>
        </p:nvSpPr>
        <p:spPr>
          <a:xfrm>
            <a:off x="1554480" y="3840480"/>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العَالَمُ المُتَّصِلُ: نِعْمَةٌ أَمْ عِبْءٌ عَلَى الكَوْكَبِ؟</a:t>
            </a:r>
            <a:endParaRPr lang="ar-SA" sz="1700" dirty="0"/>
          </a:p>
        </p:txBody>
      </p:sp>
      <p:sp>
        <p:nvSpPr>
          <p:cNvPr id="30" name="Text 27"/>
          <p:cNvSpPr txBox="1"/>
          <p:nvPr/>
        </p:nvSpPr>
        <p:spPr>
          <a:xfrm>
            <a:off x="548640" y="3840480"/>
            <a:ext cx="822960"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a:t>
            </a:r>
            <a:endParaRPr lang="ar-SA" sz="2000" dirty="0"/>
          </a:p>
        </p:txBody>
      </p:sp>
      <p:sp>
        <p:nvSpPr>
          <p:cNvPr id="31" name="Shape 2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2" name="Text 29"/>
          <p:cNvSpPr txBox="1"/>
          <p:nvPr/>
        </p:nvSpPr>
        <p:spPr>
          <a:xfrm>
            <a:off x="7607808" y="4626864"/>
            <a:ext cx="40507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connected world · positives and negatives · an example from your life · your opinion</a:t>
            </a:r>
            <a:endParaRPr lang="en-US" sz="1100" dirty="0"/>
          </a:p>
        </p:txBody>
      </p:sp>
      <p:sp>
        <p:nvSpPr>
          <p:cNvPr id="33" name="Text 30"/>
          <p:cNvSpPr txBox="1"/>
          <p:nvPr/>
        </p:nvSpPr>
        <p:spPr>
          <a:xfrm>
            <a:off x="1554480" y="4626864"/>
            <a:ext cx="585216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عَالَمٌ مُتَّصِلٌ · الإِيجَابِيَّاتُ وَالسَّلْبِيَّاتُ · مِثَالٌ مِنْ حَيَاتِكَ · رَأْيُكَ</a:t>
            </a:r>
            <a:endParaRPr lang="ar-SA" sz="1700" dirty="0"/>
          </a:p>
        </p:txBody>
      </p:sp>
      <p:sp>
        <p:nvSpPr>
          <p:cNvPr id="34" name="Text 31"/>
          <p:cNvSpPr txBox="1"/>
          <p:nvPr/>
        </p:nvSpPr>
        <p:spPr>
          <a:xfrm>
            <a:off x="566928" y="4626864"/>
            <a:ext cx="822960" cy="731520"/>
          </a:xfrm>
          <a:prstGeom prst="rect">
            <a:avLst/>
          </a:prstGeom>
          <a:noFill/>
          <a:ln/>
        </p:spPr>
        <p:txBody>
          <a:bodyPr wrap="square" lIns="0" tIns="0" rIns="0" bIns="0" rtlCol="0" anchor="ctr"/>
          <a:lstStyle/>
          <a:p>
            <a:pPr algn="l" indent="0" marL="0">
              <a:buNone/>
            </a:pPr>
            <a:endParaRPr lang="en-US" sz="1100" dirty="0"/>
          </a:p>
        </p:txBody>
      </p:sp>
      <p:sp>
        <p:nvSpPr>
          <p:cNvPr id="35" name="Text 3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Cover all four points. Use three time frames (present · past · future), opinions with reasons, and linking words.</a:t>
            </a:r>
            <a:endParaRPr lang="en-US" sz="11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18</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QUESTION 3 · PLAN BEFORE YOU WRITE (4 PARAGRAPHS)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four-paragraph plan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خُطَّةُ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6172200" cy="3456432"/>
          </a:xfrm>
          <a:prstGeom prst="roundRect">
            <a:avLst>
              <a:gd name="adj" fmla="val 211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ONE PARAGRAPH FOR EACH POINT</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Where and how — yaqaʿu fī shamāli …, ḥajaznā … ʿalā al-intarnit, safarnā bi- … (L01, L07).</a:t>
            </a:r>
            <a:endParaRPr lang="en-US" sz="1300" dirty="0"/>
          </a:p>
        </p:txBody>
      </p:sp>
      <p:sp>
        <p:nvSpPr>
          <p:cNvPr id="20" name="Shape 17"/>
          <p:cNvSpPr/>
          <p:nvPr/>
        </p:nvSpPr>
        <p:spPr>
          <a:xfrm>
            <a:off x="658368" y="3035808"/>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035808"/>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2926080"/>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Places and weather — tūjadu aswāqun qadīma; kāna al-jawwu ḥārran; abradu min … (L02, L03, L08).</a:t>
            </a:r>
            <a:endParaRPr lang="en-US" sz="1300" dirty="0"/>
          </a:p>
        </p:txBody>
      </p:sp>
      <p:sp>
        <p:nvSpPr>
          <p:cNvPr id="23" name="Shape 20"/>
          <p:cNvSpPr/>
          <p:nvPr/>
        </p:nvSpPr>
        <p:spPr>
          <a:xfrm>
            <a:off x="658368" y="3785616"/>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378561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3675888"/>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A moment — something you bought (kāna thamanuhu …) or saw (nufāyāt, mimmā …) (L04, L09).</a:t>
            </a:r>
            <a:endParaRPr lang="en-US" sz="1300" dirty="0"/>
          </a:p>
        </p:txBody>
      </p:sp>
      <p:sp>
        <p:nvSpPr>
          <p:cNvPr id="26" name="Shape 23"/>
          <p:cNvSpPr/>
          <p:nvPr/>
        </p:nvSpPr>
        <p:spPr>
          <a:xfrm>
            <a:off x="658368" y="4535424"/>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45354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4425696"/>
            <a:ext cx="5394960" cy="713232"/>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Opinion + future — yajibu an naḥmiya …, sa- … li-anna …; Stretch: ṣaḥīḥun anna … ghayra anna, law … la- (L05, L11).</a:t>
            </a:r>
            <a:endParaRPr lang="en-US" sz="1300" dirty="0"/>
          </a:p>
        </p:txBody>
      </p:sp>
      <p:sp>
        <p:nvSpPr>
          <p:cNvPr id="29" name="Shape 26"/>
          <p:cNvSpPr/>
          <p:nvPr/>
        </p:nvSpPr>
        <p:spPr>
          <a:xfrm>
            <a:off x="6812280" y="1810512"/>
            <a:ext cx="4919472" cy="3456432"/>
          </a:xfrm>
          <a:prstGeom prst="roundRect">
            <a:avLst>
              <a:gd name="adj" fmla="val 211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ONE SENTENCE PER TIME FRAME</a:t>
            </a:r>
            <a:endParaRPr lang="en-US" sz="1000" dirty="0"/>
          </a:p>
        </p:txBody>
      </p:sp>
      <p:sp>
        <p:nvSpPr>
          <p:cNvPr id="31" name="Text 28"/>
          <p:cNvSpPr txBox="1"/>
          <p:nvPr/>
        </p:nvSpPr>
        <p:spPr>
          <a:xfrm>
            <a:off x="6949440" y="2194560"/>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يَقَعُ المَغْرِبُ فِي شَمَالِ إِفْرِيقْيَا.</a:t>
            </a:r>
            <a:endParaRPr lang="ar-SA" sz="2600" dirty="0"/>
          </a:p>
        </p:txBody>
      </p:sp>
      <p:sp>
        <p:nvSpPr>
          <p:cNvPr id="32" name="Text 29"/>
          <p:cNvSpPr txBox="1"/>
          <p:nvPr/>
        </p:nvSpPr>
        <p:spPr>
          <a:xfrm>
            <a:off x="6949440" y="2761244"/>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present: Morocco is in North Africa.</a:t>
            </a:r>
            <a:endParaRPr lang="en-US" sz="1100" dirty="0"/>
          </a:p>
        </p:txBody>
      </p:sp>
      <p:sp>
        <p:nvSpPr>
          <p:cNvPr id="33" name="Shape 30"/>
          <p:cNvSpPr/>
          <p:nvPr/>
        </p:nvSpPr>
        <p:spPr>
          <a:xfrm>
            <a:off x="6995160" y="3188208"/>
            <a:ext cx="4553712" cy="0"/>
          </a:xfrm>
          <a:prstGeom prst="line">
            <a:avLst/>
          </a:prstGeom>
          <a:noFill/>
          <a:ln w="9525">
            <a:solidFill>
              <a:srgbClr val="E4DCCB"/>
            </a:solidFill>
            <a:prstDash val="dash"/>
          </a:ln>
        </p:spPr>
      </p:sp>
      <p:sp>
        <p:nvSpPr>
          <p:cNvPr id="34" name="Text 31"/>
          <p:cNvSpPr txBox="1"/>
          <p:nvPr/>
        </p:nvSpPr>
        <p:spPr>
          <a:xfrm>
            <a:off x="6949440" y="3206496"/>
            <a:ext cx="4645152" cy="566684"/>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ea typeface="Amiri" pitchFamily="2" charset="-78"/>
                <a:cs typeface="Amiri" pitchFamily="2" charset="-78"/>
              </a:rPr>
              <a:t>كَانَتِ الجِبَالُ عَالِيَةً، وَكَانَ الجَوُّ أَبْرَدَ مِنْ مَرَّاكُشَ.</a:t>
            </a:r>
            <a:endParaRPr lang="ar-SA" sz="2100" dirty="0"/>
          </a:p>
        </p:txBody>
      </p:sp>
      <p:sp>
        <p:nvSpPr>
          <p:cNvPr id="35" name="Text 32"/>
          <p:cNvSpPr txBox="1"/>
          <p:nvPr/>
        </p:nvSpPr>
        <p:spPr>
          <a:xfrm>
            <a:off x="6949440" y="3773180"/>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past: the mountains were high, and it was colder than Marrakech.</a:t>
            </a:r>
            <a:endParaRPr lang="en-US" sz="1100" dirty="0"/>
          </a:p>
        </p:txBody>
      </p:sp>
      <p:sp>
        <p:nvSpPr>
          <p:cNvPr id="36" name="Shape 33"/>
          <p:cNvSpPr/>
          <p:nvPr/>
        </p:nvSpPr>
        <p:spPr>
          <a:xfrm>
            <a:off x="6995160" y="4200144"/>
            <a:ext cx="4553712" cy="0"/>
          </a:xfrm>
          <a:prstGeom prst="line">
            <a:avLst/>
          </a:prstGeom>
          <a:noFill/>
          <a:ln w="9525">
            <a:solidFill>
              <a:srgbClr val="E4DCCB"/>
            </a:solidFill>
            <a:prstDash val="dash"/>
          </a:ln>
        </p:spPr>
      </p:sp>
      <p:sp>
        <p:nvSpPr>
          <p:cNvPr id="37" name="Text 34"/>
          <p:cNvSpPr txBox="1"/>
          <p:nvPr/>
        </p:nvSpPr>
        <p:spPr>
          <a:xfrm>
            <a:off x="6949440" y="4218432"/>
            <a:ext cx="4645152" cy="566684"/>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سَأُسَافِرُ بِالقِطَارِ، لِأَنَّهُ أَنْظَفُ لِلْبِيئَةِ.</a:t>
            </a:r>
            <a:endParaRPr lang="ar-SA" sz="2600" dirty="0"/>
          </a:p>
        </p:txBody>
      </p:sp>
      <p:sp>
        <p:nvSpPr>
          <p:cNvPr id="38" name="Text 35"/>
          <p:cNvSpPr txBox="1"/>
          <p:nvPr/>
        </p:nvSpPr>
        <p:spPr>
          <a:xfrm>
            <a:off x="6949440" y="4785116"/>
            <a:ext cx="4645152" cy="404774"/>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future: I will go by train, because it is cleaner for the environment.</a:t>
            </a:r>
            <a:endParaRPr lang="en-US" sz="1100" dirty="0"/>
          </a:p>
        </p:txBody>
      </p:sp>
      <p:sp>
        <p:nvSpPr>
          <p:cNvPr id="39" name="Shape 36"/>
          <p:cNvSpPr/>
          <p:nvPr/>
        </p:nvSpPr>
        <p:spPr>
          <a:xfrm>
            <a:off x="457200" y="5394960"/>
            <a:ext cx="11274552" cy="914400"/>
          </a:xfrm>
          <a:prstGeom prst="roundRect">
            <a:avLst>
              <a:gd name="adj" fmla="val 8000"/>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58368" y="5468112"/>
            <a:ext cx="1920240" cy="768096"/>
          </a:xfrm>
          <a:prstGeom prst="rect">
            <a:avLst/>
          </a:prstGeom>
          <a:noFill/>
          <a:ln/>
        </p:spPr>
        <p:txBody>
          <a:bodyPr wrap="square" lIns="0" tIns="0" rIns="0" bIns="0" rtlCol="0" anchor="ctr"/>
          <a:lstStyle/>
          <a:p>
            <a:pPr algn="l" indent="0" marL="0">
              <a:buNone/>
            </a:pPr>
            <a:r>
              <a:rPr lang="en-US" sz="1100" b="1" spc="100" kern="0" dirty="0">
                <a:solidFill>
                  <a:srgbClr val="8A6D1E"/>
                </a:solidFill>
                <a:latin typeface="Calibri" pitchFamily="34" charset="0"/>
                <a:cs typeface="Amiri" pitchFamily="2" charset="-78"/>
              </a:rPr>
              <a:t>ROUTES</a:t>
            </a:r>
            <a:endParaRPr lang="en-US" sz="1100" dirty="0"/>
          </a:p>
        </p:txBody>
      </p:sp>
      <p:sp>
        <p:nvSpPr>
          <p:cNvPr id="41" name="Text 38"/>
          <p:cNvSpPr txBox="1"/>
          <p:nvPr/>
        </p:nvSpPr>
        <p:spPr>
          <a:xfrm>
            <a:off x="2606040" y="5449824"/>
            <a:ext cx="89611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Core: title (</a:t>
            </a:r>
            <a:pPr algn="l" indent="0" marL="0">
              <a:buNone/>
            </a:pPr>
            <a:r>
              <a:rPr lang="ar-SA" altLang="en-US" sz="1650" dirty="0">
                <a:solidFill>
                  <a:srgbClr val="1F2A37"/>
                </a:solidFill>
                <a:latin typeface="Amiri" pitchFamily="2" charset="-78"/>
                <a:ea typeface="Amiri" pitchFamily="2" charset="-78"/>
                <a:cs typeface="Amiri" pitchFamily="2" charset="-78"/>
              </a:rPr>
              <a:t>أ</a:t>
            </a:r>
            <a:pPr algn="l" indent="0" marL="0">
              <a:buNone/>
            </a:pPr>
            <a:r>
              <a:rPr lang="en-US" sz="1250" dirty="0">
                <a:solidFill>
                  <a:srgbClr val="1F2A37"/>
                </a:solidFill>
                <a:latin typeface="Calibri" pitchFamily="34" charset="0"/>
                <a:cs typeface="Amiri" pitchFamily="2" charset="-78"/>
              </a:rPr>
              <a:t>), one or two sentences per paragraph, then finish at home. Develop: three sentences per paragraph. Stretch: title (</a:t>
            </a:r>
            <a:pPr algn="l" indent="0" marL="0">
              <a:buNone/>
            </a:pPr>
            <a:r>
              <a:rPr lang="ar-SA" altLang="en-US" sz="1650" dirty="0">
                <a:solidFill>
                  <a:srgbClr val="1F2A37"/>
                </a:solidFill>
                <a:latin typeface="Amiri" pitchFamily="2" charset="-78"/>
                <a:ea typeface="Amiri" pitchFamily="2" charset="-78"/>
                <a:cs typeface="Amiri" pitchFamily="2" charset="-78"/>
              </a:rPr>
              <a:t>ب</a:t>
            </a:r>
            <a:pPr algn="l" indent="0" marL="0">
              <a:buNone/>
            </a:pPr>
            <a:r>
              <a:rPr lang="en-US" sz="1250" dirty="0">
                <a:solidFill>
                  <a:srgbClr val="1F2A37"/>
                </a:solidFill>
                <a:latin typeface="Calibri" pitchFamily="34" charset="0"/>
                <a:cs typeface="Amiri" pitchFamily="2" charset="-78"/>
              </a:rPr>
              <a:t>) with a contrast and a conditional.</a:t>
            </a:r>
            <a:endParaRPr lang="en-US" sz="12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18</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CORE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Q3 (</a:t>
            </a:r>
            <a:pPr algn="l" indent="0" marL="0">
              <a:buNone/>
            </a:pPr>
            <a:r>
              <a:rPr lang="ar-SA" altLang="en-US" sz="3250" b="1" dirty="0">
                <a:solidFill>
                  <a:srgbClr val="1B3B6F"/>
                </a:solidFill>
                <a:latin typeface="Amiri" pitchFamily="2" charset="-78"/>
                <a:ea typeface="Amiri" pitchFamily="2" charset="-78"/>
                <a:cs typeface="Amiri" pitchFamily="2" charset="-78"/>
              </a:rPr>
              <a:t>أ</a:t>
            </a:r>
            <a:pPr algn="l" indent="0" marL="0">
              <a:buNone/>
            </a:pPr>
            <a:r>
              <a:rPr lang="en-US" sz="2500" b="1" dirty="0">
                <a:solidFill>
                  <a:srgbClr val="1B3B6F"/>
                </a:solidFill>
                <a:latin typeface="Cambria" pitchFamily="34" charset="0"/>
                <a:cs typeface="Amiri" pitchFamily="2" charset="-78"/>
              </a:rPr>
              <a:t>) Core model: clear and complete</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الصَّيْفِ المَاضِي سَافَرْتُ مَعَ أُسْرَتِي إِلَى المَغْرِبِ. يَقَعُ المَغْرِبُ فِي شَمَالِ إِفْرِيقْيَا، وَهُوَ بَلَدٌ جَمِيلٌ جِدًّا. حَجَزْنَا التَّذَاكِرَ وَالفُنْدُقَ عَلَى الإِنْتَرْنِتِ، وَسَافَرْنَا بِالطَّائِرَةِ ثَلَاثَ سَاعَاتٍ. أُرْسِلَتِ التَّذَاكِرُ إِلَى هَاتِفِ أُمِّي.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أَوَّلًا، زُرْنَا مَدِينَةَ مَرَّاكُشَ. كَانَ الجَوُّ حَارًّا جِدًّا، وَكَانَتْ دَرَجَةُ الحَرَارَةِ أَرْبَعِينَ دَرَجَةً. فِي المَدِينَةِ تُوجَدُ أَسْوَاقٌ قَدِيمَةٌ وَمَسَاجِدُ جَمِيلَةٌ. اشْتَرَيْتُ مِنَ السُّوقِ صُنْدُوقًا خَشَبِيًّا صَغِيرًا، وَكَانَ ثَمَنُهُ عَشَرَةَ جُنَيْهَاتٍ، وَهُوَ أَرْخَصُ مِنْ لَنْدَنَ بِكَثِيرٍ.</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بَعْدَ ذٰلِكَ، ذَهَبْنَا إِلَى جِبَالِ الأَطْلَسِ. كَانَتِ الجِبَالُ عَالِيَةً، وَالوِدْيَانُ خَضْرَاءَ، وَكَانَ الجَوُّ أَبْرَدَ مِنْ مَرَّاكُشَ. لٰكِنْ رَأَيْتُ نُفَايَاتٍ بْلَاسْتِيكِيَّةً قُرْبَ النَّهْرِ، فَحَزِنْتُ كَثِيرًا، وَجَمَعْتُهَا مَعَ أَخِي.</a:t>
            </a:r>
            <a:endParaRPr lang="ar-SA" sz="1650" dirty="0"/>
          </a:p>
          <a:p>
            <a:pPr rtl="1" algn="r" indent="0" marL="0">
              <a:lnSpc>
                <a:spcPct val="120000"/>
              </a:lnSpc>
              <a:buNone/>
            </a:pPr>
            <a:r>
              <a:rPr lang="ar-SA" altLang="en-US" sz="1650" dirty="0">
                <a:solidFill>
                  <a:srgbClr val="1F2A37"/>
                </a:solidFill>
                <a:latin typeface="Amiri" pitchFamily="2" charset="-78"/>
                <a:ea typeface="Amiri" pitchFamily="2" charset="-78"/>
                <a:cs typeface="Amiri" pitchFamily="2" charset="-78"/>
              </a:rPr>
              <a:t>فِي رَأْيِي، المَغْرِبُ بَلَدٌ رَائِعٌ، لٰكِنْ يَجِبُ أَنْ نَحْمِيَ طَبِيعَتَهُ. فِي المُسْتَقْبَلِ سَأَعُودُ إِلَى هُنَاكَ، وَسَأُسَافِرُ بِالقِطَارِ، لِأَنَّهُ أَنْظَفُ لِلْبِيئَةِ.</a:t>
            </a:r>
            <a:endParaRPr lang="ar-SA" sz="165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Last summer my family went to Morocco, a beautiful country in North Africa; we booked tickets and a hotel online and flew three hours; the tickets were sent to Mum’s phone → first Marrakech: very hot, forty degrees; old markets and lovely mosques; I bought a small wooden box for ten pounds, much cheaper than in London → then the Atlas Mountains: high mountains, green valleys, colder than Marrakech; but I saw plastic rubbish by the river, which made me sad, so my brother and I collected it → Morocco is wonderful, but we must protect its nature; I’ll go back by train, because it is cleaner for the environment.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يَقَعُ المَغْرِبُ</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تُوجَدُ أَسْوَاقٌ قَدِيمَةٌ</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كَانَتِ الجِبَالُ عَالِيَةً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يَجِبُ أَنْ نَحْمِيَ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18</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أ</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Q3 (</a:t>
            </a:r>
            <a:pPr algn="l" indent="0" marL="0">
              <a:buNone/>
            </a:pPr>
            <a:r>
              <a:rPr lang="ar-SA" altLang="en-US" sz="2850" b="1" dirty="0">
                <a:solidFill>
                  <a:srgbClr val="1B3B6F"/>
                </a:solidFill>
                <a:latin typeface="Amiri" pitchFamily="2" charset="-78"/>
                <a:ea typeface="Amiri" pitchFamily="2" charset="-78"/>
                <a:cs typeface="Amiri" pitchFamily="2" charset="-78"/>
              </a:rPr>
              <a:t>أ</a:t>
            </a:r>
            <a:pPr algn="l" indent="0" marL="0">
              <a:buNone/>
            </a:pPr>
            <a:r>
              <a:rPr lang="en-US" sz="2200" b="1" dirty="0">
                <a:solidFill>
                  <a:srgbClr val="1B3B6F"/>
                </a:solidFill>
                <a:latin typeface="Cambria" pitchFamily="34" charset="0"/>
                <a:cs typeface="Amiri" pitchFamily="2" charset="-78"/>
              </a:rPr>
              <a:t>) full-mark model: range and accuracy</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يَقُولُونَ إِنَّ السَّفَرَ يُعَلِّمُ مَا لَا تُعَلِّمُهُ الكُتُبُ، وَقَدْ عَرَفْتُ صِدْقَ هٰذَا القَوْلِ فِي رِحْلَتِي إِلَى المَغْرِبِ الصَّيْفَ المَاضِي؛ فَقَدْ نَظَّمْتُ مَعَ أَبِي كُلَّ شَيْءٍ بِأَنْفُسِنَا: قَارَنَّا الأَسْعَارَ، وَحَجَزْنَا بُيُوتًا تَقْلِيدِيَّةً بَدَلًا مِنَ الفَنَادِقِ الكَبِيرَةِ.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أَوَّلُ مَا أَدْهَشَنِي التَّنَوُّعُ؛ فَفِي أُسْبُوعٍ وَاحِدٍ انْتَقَلْنَا مِنْ حَرِّ مَرَّاكُشَ الَّذِي تَجَاوَزَ الأَرْبَعِينَ دَرَجَةً، إِلَى قِمَمِ الأَطْلَسِ الَّتِي تُغَطِّيهَا الثُّلُوجُ، ثُمَّ إِلَى شَوَاطِئِ الصُّوَيْرَةِ حَيْثُ تَهُبُّ الرِّيَاحُ القَوِيَّةُ طُولَ السَّنَةِ.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غَيْرَ أَنَّ أَكْثَرَ مَا بَقِيَ فِي ذَاكِرَتِي حِوَارٌ مَعَ شَابٍّ فِي قَرْيَةٍ جَبَلِيَّةٍ؛ فَقَدْ أَخْبَرَنِي أَنَّ النَّهْرَ الَّذِي كَانَ يَسْقِي حُقُولَهُمْ أَصْبَحَ يَجِفُّ كُلَّ صَيْفٍ، مِمَّا يَدْفَعُ الشَّبَابَ إِلَى الهِجْرَةِ إِلَى المُدُنِ.</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رِحْلَتِي كَانَتْ مُمْتِعَةً، غَيْرَ أَنَّهَا جَعَلَتْنِي أَرَى العَالَمَ بِعَيْنٍ مُخْتَلِفَةٍ. وَلَوْ سَافَرَ كُلُّ شَابٍّ وَاسْتَمَعَ إِلَى قِصَصِ النَّاسِ، لَفَهِمْنَا أَنَّ مَشَاكِلَ البِيئَةِ لَيْسَتْ أَرْقَامًا فِي الأَخْبَارِ، بَلْ حَيَاةُ بَشَرٍ حَقِيقِيِّينَ.</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يَقُولُونَ إِنَّ</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تَجَاوَزَ الأَرْبَعِينَ</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مِمَّا يَدْفَعُ</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لَوْ سَافَرَ … لَفَهِمْنَا</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18</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dirty="0">
                <a:solidFill>
                  <a:srgbClr val="8A6D1E"/>
                </a:solidFill>
                <a:latin typeface="Calibri" pitchFamily="34" charset="0"/>
                <a:cs typeface="Amiri" pitchFamily="2" charset="-78"/>
              </a:rPr>
              <a:t>QUESTION 3 · TITLE (</a:t>
            </a:r>
            <a:pPr algn="l" indent="0" marL="0">
              <a:buNone/>
            </a:pPr>
            <a:r>
              <a:rPr lang="ar-SA" altLang="en-US" sz="1300" b="1" dirty="0">
                <a:solidFill>
                  <a:srgbClr val="8A6D1E"/>
                </a:solidFill>
                <a:latin typeface="Amiri" pitchFamily="2" charset="-78"/>
                <a:ea typeface="Amiri" pitchFamily="2" charset="-78"/>
                <a:cs typeface="Amiri" pitchFamily="2" charset="-78"/>
              </a:rPr>
              <a:t>ب</a:t>
            </a:r>
            <a:pPr algn="l" indent="0" marL="0">
              <a:buNone/>
            </a:pPr>
            <a:r>
              <a:rPr lang="en-US" sz="1000" b="1" dirty="0">
                <a:solidFill>
                  <a:srgbClr val="8A6D1E"/>
                </a:solidFill>
                <a:latin typeface="Calibri" pitchFamily="34" charset="0"/>
                <a:cs typeface="Amiri" pitchFamily="2" charset="-78"/>
              </a:rPr>
              <a:t>) · FULL-MARK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Q3 (</a:t>
            </a:r>
            <a:pPr algn="l" indent="0" marL="0">
              <a:buNone/>
            </a:pPr>
            <a:r>
              <a:rPr lang="ar-SA" altLang="en-US" sz="2950" b="1" dirty="0">
                <a:solidFill>
                  <a:srgbClr val="1B3B6F"/>
                </a:solidFill>
                <a:latin typeface="Amiri" pitchFamily="2" charset="-78"/>
                <a:ea typeface="Amiri" pitchFamily="2" charset="-78"/>
                <a:cs typeface="Amiri" pitchFamily="2" charset="-78"/>
              </a:rPr>
              <a:t>ب</a:t>
            </a:r>
            <a:pPr algn="l" indent="0" marL="0">
              <a:buNone/>
            </a:pPr>
            <a:r>
              <a:rPr lang="en-US" sz="2250" b="1" dirty="0">
                <a:solidFill>
                  <a:srgbClr val="1B3B6F"/>
                </a:solidFill>
                <a:latin typeface="Cambria" pitchFamily="34" charset="0"/>
                <a:cs typeface="Amiri" pitchFamily="2" charset="-78"/>
              </a:rPr>
              <a:t>) full-mark model: a connected world</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11274552" cy="3931920"/>
          </a:xfrm>
          <a:prstGeom prst="roundRect">
            <a:avLst>
              <a:gd name="adj" fmla="val 186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3675888"/>
          </a:xfrm>
          <a:prstGeom prst="rect">
            <a:avLst/>
          </a:prstGeom>
          <a:noFill/>
          <a:ln/>
        </p:spPr>
        <p:txBody>
          <a:bodyPr wrap="square" lIns="0" tIns="0" rIns="0" bIns="0" rtlCol="0" anchor="ctr"/>
          <a:lstStyle/>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نَعِيشُ فِي عَالَمٍ مُتَّصِلٍ أَكْثَرَ مِنْ أَيِّ وَقْتٍ مَضَى؛ فَبِضَغْطَةِ زِرٍّ نَحْجِزُ رِحْلَةً إِلَى قَارَّةٍ أُخْرَى، وَنَشْتَرِي مَلَابِسَ مَصْنُوعَةً فِي آسْيَا، وَنَتَوَاصَلُ مَعَ أَصْدِقَاءَ فِي كُلِّ مَكَانٍ. فَهَلْ هٰذَا العَالَمُ المُتَّصِلُ نِعْمَةٌ أَمْ عِبْءٌ عَلَى الكَوْكَبِ؟</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مِنْ نَاحِيَةٍ، قَرَّبَتِ التِّكْنُولُوجْيَا بَيْنَ الشُّعُوبِ، وَسَهَّلَتِ التَّعَلُّمَ وَالعَمَلَ عَنْ بُعْدٍ، مِمَّا قَلَّلَ مِنْ رِحْلَاتٍ كَثِيرَةٍ لَمْ تَعُدْ ضَرُورِيَّةً. وَمِنْ نَاحِيَةٍ أُخْرَى، شَجَّعَتْ عَلَى الاسْتِهْلَاكِ السَّرِيعِ، فَأَصْبَحْنَا نَشْتَرِي أَكْثَرَ، وَنَرْمِي أَكْثَرَ، وَنُسَافِرُ لِأَسْبَابٍ بَسِيطَةٍ.</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وَقَدْ لَاحَظْتُ هٰذَا التَّنَاقُضَ فِي حَيَاتِي؛ فَفِي العَامِ المَاضِي شَارَكْتُ فِي مَشْرُوعٍ إِلِكْتْرُونِيٍّ مَعَ طُلَّابٍ مِنَ الأُرْدُنِّ لِقِيَاسِ دَرَجَاتِ الحَرَارَةِ فِي مَدِينَتَيْنَا، فَتَعَلَّمْتُ الكَثِيرَ دُونَ أَنْ أُسَافِرَ، بَيْنَمَا كَانَ بَعْضُ زُمَلَائِي يَطْلُبُونَ مَلَابِسَ جَدِيدَةً كُلَّ أُسْبُوعٍ.</a:t>
            </a:r>
            <a:endParaRPr lang="ar-SA" sz="1750" dirty="0"/>
          </a:p>
          <a:p>
            <a:pPr rtl="1" algn="r" indent="0" marL="0">
              <a:lnSpc>
                <a:spcPct val="120000"/>
              </a:lnSpc>
              <a:buNone/>
            </a:pPr>
            <a:r>
              <a:rPr lang="ar-SA" altLang="en-US" sz="1750" dirty="0">
                <a:solidFill>
                  <a:srgbClr val="1F2A37"/>
                </a:solidFill>
                <a:latin typeface="Amiri" pitchFamily="2" charset="-78"/>
                <a:ea typeface="Amiri" pitchFamily="2" charset="-78"/>
                <a:cs typeface="Amiri" pitchFamily="2" charset="-78"/>
              </a:rPr>
              <a:t>صَحِيحٌ أَنَّ العَوْلَمَةَ لَنْ تَتَوَقَّفَ، غَيْرَ أَنَّنَا نَسْتَطِيعُ أَنْ نَخْتَارَ كَيْفَ نَسْتَخْدِمُهَا. وَإِذَا جَعَلْنَا التِّكْنُولُوجْيَا وَسِيلَةً لِلتَّعَلُّمِ وَالتَّعَاوُنِ لَا لِلِاسْتِهْلَاكِ، فَسَنَتْرُكُ لِلْأَجْيَالِ القَادِمَةِ عَالَمًا أَنْظَفَ وَأَعْدَلَ.</a:t>
            </a:r>
            <a:endParaRPr lang="ar-SA" sz="1750" dirty="0"/>
          </a:p>
        </p:txBody>
      </p:sp>
      <p:sp>
        <p:nvSpPr>
          <p:cNvPr id="17" name="Text 14"/>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18" name="Shape 15"/>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19" name="Text 16"/>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أَكْثَرَ مِنْ أَيِّ وَقْتٍ مَضَى</a:t>
            </a:r>
            <a:endParaRPr lang="en-US" sz="950" dirty="0"/>
          </a:p>
        </p:txBody>
      </p:sp>
      <p:sp>
        <p:nvSpPr>
          <p:cNvPr id="20" name="Shape 17"/>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1" name="Text 18"/>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 نَاحِيَةٍ … وَمِنْ نَاحِيَةٍ أُخْرَى</a:t>
            </a:r>
            <a:endParaRPr lang="en-US" sz="950" dirty="0"/>
          </a:p>
        </p:txBody>
      </p:sp>
      <p:sp>
        <p:nvSpPr>
          <p:cNvPr id="22" name="Shape 19"/>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3" name="Text 20"/>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دُونَ أَنْ أُسَافِرَ</a:t>
            </a:r>
            <a:endParaRPr lang="en-US" sz="950" dirty="0"/>
          </a:p>
        </p:txBody>
      </p:sp>
      <p:sp>
        <p:nvSpPr>
          <p:cNvPr id="24" name="Shape 21"/>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5" name="Text 22"/>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إِذَا جَعَلْنَا … فَسَنَتْرُكُ</a:t>
            </a:r>
            <a:endParaRPr lang="en-US" sz="950" dirty="0"/>
          </a:p>
        </p:txBody>
      </p:sp>
      <p:sp>
        <p:nvSpPr>
          <p:cNvPr id="26" name="Text 2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18</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TC-L12 · Writing workshop</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C · Writing workshop · TC-L12</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Q1: every box in Arabic; numbers and nisba adjectives are correct.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all four bullet points,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Q2: a comparison, a price and two time frames.</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paragraphs drawing on at least four Topic C lessons.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Q3: four linkers, a concession and a conditional — mock-ready!</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18</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TC-L12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great writing practice today!</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WORKSHOP</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50" b="1" dirty="0">
                <a:solidFill>
                  <a:srgbClr val="FFFFFF"/>
                </a:solidFill>
                <a:latin typeface="Cambria" pitchFamily="34" charset="0"/>
                <a:cs typeface="Amiri" pitchFamily="2" charset="-78"/>
              </a:rPr>
              <a:t>Topic D · Exam practice continues with the next topic</a:t>
            </a:r>
            <a:endParaRPr lang="en-US" sz="18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المِحْوَرُ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Topic C exam practice complete — well done!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TC-L12 · Writing Workshop — Topic C Mock Exam</dc:title>
  <dc:subject>PptxGenJS Presentation</dc:subject>
  <dc:creator>Al Madina Online School · Arabic Department</dc:creator>
  <cp:lastModifiedBy>Al Madina Online School · Arabic Department</cp:lastModifiedBy>
  <cp:revision>1</cp:revision>
  <dcterms:created xsi:type="dcterms:W3CDTF">2026-10-11T13:22:43Z</dcterms:created>
  <dcterms:modified xsi:type="dcterms:W3CDTF">2026-10-11T13:22:43Z</dcterms:modified>
</cp:coreProperties>
</file>