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6 (Digital World and Communication, TC-L06).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5: li- + verbal nouns (lid-dirāsati wat-tawāṣul). Box 6: maʿa — the verb’s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كَمْ سَاعَةً (how many hours) · لِمَاذَا (why) · مَاذَا حَدَثَ (what happened — PAST) · سَتُغَيِّرُ (will change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(113 words). Core model: verbs with fixed prepositions (maʿa, ʿan, ʿalā), li- + verbal noun, a past paragraph with sequence (thumma), a verbal noun as subject (al-istikhdām),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a triple metaphor, bi-mā anna … fa-, dūna an, ammā … fa-, ka-annanā, ghayra anna as a turn, a comparative with mimmā, al-ifrāṭ fī + verbal noun, law … la-.
ENGLISH SUMMARY (read aloud or paste in the chat for Core students): I can’t imagine a single day without technology: it is my school, my library and my window on the world; since I study at an online school, I interact with teachers and classmates from ten countries without leaving my room; when I need information, I find it in seconds instead of hours in a library → outside study, I use social media to keep in touch with relatives spread between London, Amman and Dubai, commenting on their photos as if we lived in one house → but last summer changed my view: a week at a scout camp with no internet; on day one I was anxious, then discovered the joy of talking round the fire and slept more deeply than I had for years → technology is a great blessing, but overusing it steals our time and focus; “if each of us kept one screen-free hour a day, we’d feel a big difference in our health and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an idiom, a rhetorical question, a balanced view with verbal nouns, faḍlan ʿan, ilā an, a concession and idhā … fa-sa- with a lā … contrast.
ENGLISH SUMMARY (read aloud or paste in the chat for Core students): Social media has become an inseparable part of teenagers’ lives — most of us open our phones before fully opening our eyes; so is it a useful friend or a hidden enemy? → on one hand, it lets us learn and express our views, and connects us with people who share our hobbies, and helps young creators share their work; on the other, constant comparison with perfect images leads to anxiety and low self-confidence, not to mention cyberbullying → I saw this through a friend who posted photos daily and waited anxiously for likes; when someone wrote her a hurtful comment she was sad for days, until she deleted the app for a month and got her smile back, spending her time drawing and reading instead → banning is not the answer, but mindful use is essential; “if we learn from childhood how to protect ourselves, these tools will be in our hands, not chains round our 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Digital World and Communication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العَالَمُ الرَّقْمِيُّ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school online-safety form, write an email about your digital life, and write an extended piece about technology in your life or about social media and teenagers.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TC-L06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digital life.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each verb keeps its preposition (atawāṣalu maʿa, uʿalliqu ʿalā, abḥathu ʿan, aʿtamidu ʿalā); a verbal noun after li- is genitive (lid-dirāsati); non-human plurals take feminine singular (at-taṭbīqāt mufīda).</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أَتَوَاصَلُ مَعَ أَقَارِبِي وَأُعَلِّقُ عَلَى صُوَرِهِمْ</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keep in touch with my relatives and comment on their photos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الإِفْرَاطُ فِي اسْتِخْدَامِهَا</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overusing it (lit. excess in its use)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مِنْ نَاحِيَةٍ … وَمِنْ نَاحِيَةٍ أُخْرَى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 one hand … on the other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Online-safety pledge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الأَمَانِ الرَّقْمِيِّ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Devices you use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الأَجْهِزَةُ الَّتِي تَسْتَخْدِمُهَا</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Hours per day</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السَّاعَاتِ يَوْمِيًّا</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app</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تَطْبِيقُكَ المُفَضَّلُ</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use the internet for</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تَسْتَخْدِمُ الإِنْتَرْنِتَ؟</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you keep in touch with</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تَتَوَاصَلُ؟</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safety rule you follow</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قَاعِدَةٌ لِلْأَمَانِ تَتْبَعُهَا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do if you see an abusive comment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تَفْعَلُ إِذَا رَأَيْتَ تَعْلِيقًا مُسِيئًا؟</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idhā … fa-.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Online-safety pledge form: model answers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Sami Khalil, Year 10</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سَامِي خَلِيلٌ، الصَّفُّ العَاشِرُ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smartphone and a computer</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هَاتِفٌ ذَكِيٌّ وَحَاسُوبٌ</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الأَجْهِزَةُ الَّتِي تَسْتَخْدِمُهَا</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hours</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سَاعَاتٍ</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السَّاعَاتِ يَوْمِيًّا</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maps app</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تَطْبِيقُ خَرَائِطَ</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تَطْبِيقُكَ المُفَضَّلُ</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studying and keeping in touch</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لِلدِّرَاسَةِ وَالتَّوَاصُلِ</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تَسْتَخْدِمُ الإِنْتَرْنِتَ؟</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my friends and relatives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أَصْدِقَائِي وَأَقَارِبِي</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 مَنْ تَتَوَاصَلُ؟</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don’t post my address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أَنْشُرُ عُنْوَانِي</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قَاعِدَةٌ لِلْأَمَانِ تَتْبَعُهَا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If I see an abusive comment, I block the person and tell my teacher.</a:t>
            </a:r>
            <a:endParaRPr lang="en-US" sz="10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إِذَا رَأَيْتُ تَعْلِيقًا مُسِيئًا، فَأَحْظُرُ صَاحِبَهُ وَأُخْبِرُ مُعَلِّمِي.</a:t>
            </a:r>
            <a:endParaRPr lang="ar-SA" sz="17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تَفْعَلُ إِذَا رَأَيْتَ تَعْلِيقًا مُسِيئًا؟</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digital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حَيَاتِي الرَّقْمِيَّةُ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Arabic-speaking friend asked about how you use technology. Write an email in Arabic of about 80–90 words. You must include: • how long and what for you use your phone • your favourite app and why • something that happened recently related to technology • your opinion and what you will change.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Verbs with the right preposition.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أَسْتَخْدِمُ هَاتِفِي … سَاعَاتٍ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 my phone for … hours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أَتَوَاصَلُ مَعَ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keep in touch with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نَسِيتُ / تَعَطَّلَ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 I forgot / … broke down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سَأَسْتَخْدِمُ … أَقَلَّ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future I will use … less</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friend asked how you use technology: write an email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سَأَلَكَ صَدِيقُكَ عَنِ اسْتِخْدَامِكَ لِلتِّكْنُولُوجْيَا. اكْتُبْ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and what for you use your phone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سَاعَةً تَسْتَخْدِمُ الهَاتِفَ؟ وَلِمَاذَا؟</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app and why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تَطْبِيقُكَ المُفَضَّلُ؟ وَلِمَاذَا؟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recent related to technology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حَدَثَ مُؤَخَّرًا لَهُ عَلَاقَةٌ بِالتِّكْنُولُوجْيَا؟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and what you will change</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وَمَاذَا سَتُغَيِّرُ؟</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 my phone … hours, and keep in touch with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أَسْتَخْدِمُ هَاتِفِي ______ سَاعَاتٍ، وَأَتَوَاصَلُ مَعَ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app is …, because it is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تَطْبِيقِيَ المُفَضَّلُ ______ ، لِأَنَّهُ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opinion … In future I will use … less.</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______ . فِي المُسْتَقْبَلِ سَأَسْتَخْدِمُ ______ أَقَلَّ.</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خَالِدُ،</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أُرِيدُ أَنْ أُخْبِرَكَ عَنْ حَيَاتِي الرَّقْمِيَّةِ. أَسْتَخْدِمُ هَاتِفِي كُلَّ يَوْمٍ ثَلَاثَ سَاعَاتٍ تَقْرِيبًا. أَتَوَاصَلُ مَعَ أَصْدِقَائِي، وَأُشَاهِدُ دُرُوسًا عَلَى الإِنْتَرْنِتِ. تَطْبِيقِيَ المُفَضَّلُ تَطْبِيقٌ لِتَعَلُّمِ اللُّغَاتِ، لِأَنَّهُ سَهْلٌ وَمُمْتِعٌ. فِي الأُسْبُوعِ المَاضِي نَسِيتُ هَاتِفِي فِي البَيْتِ يَوْمًا كَامِلًا، وَشَعَرْتُ بِالمَلَلِ فِي البِدَايَةِ، لٰكِنِّي قَرَأْتُ كِتَابًا جَمِيلًا. فِي رَأْيِي، الإِنْتَرْنِتُ مُفِيدٌ، لٰكِنْ يَجِبُ أَنْ نُنَظِّمَ الوَقْتَ. فِي المُسْتَقْبَلِ سَأَسْتَخْدِمُ الهَاتِفَ أَقَلَّ.</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سَامِي</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Khalid, how are you? I want to tell you about my digital life. I use my phone about three hours a day. I keep in touch with my friends and watch lessons online. My favourite app is a language-learning app, because it is easy and fun. Last week I forgot my phone at home for a whole day; I was bored at first, but I read a lovely book. In my opinion the internet is useful, but we must organise our time. In future I will use my phone less. See you, Sami.”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أَتَوَاصَلُ مَعَ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تَطْبِيقٌ لِتَعَلُّمِ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نَسِيتُ هَاتِفِي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سَأَسْتَخْدِمُ … أَقَلَّ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خَالِدُ،</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سَأَلْتَنِي فِي رِسَالَتِكَ عَنْ حَيَاتِي الرَّقْمِيَّةِ، فَإِلَيْكَ الحَقِيقَةَ: أَقْضِي أَمَامَ الشَّاشَاتِ نَحْوَ أَرْبَعِ سَاعَاتٍ يَوْمِيًّا، نِصْفُهَا لِلدِّرَاسَةِ عَلَى مِنَصَّةِ المَدْرَسَةِ، وَالنِّصْفُ الآخَرُ لِلتَّوَاصُلِ مَعَ الأَصْدِقَاءِ. وَأَكْثَرُ تَطْبِيقٍ أَعْتَمِدُ عَلَيْهِ تَطْبِيقٌ لِلْمُرَاجَعَةِ يَخْتَبِرُنِي فِي المُفْرَدَاتِ كُلَّ مَسَاءٍ، وَقَدْ حَسَّنَ دَرَجَاتِي كَثِيرًا. لٰكِنْ حَدَثَ شَيْءٌ غَرِيبٌ الأُسْبُوعَ المَاضِي؛ فَقَدْ تَعَطَّلَ هَاتِفِي ثَلَاثَةَ أَيَّامٍ، فَاكْتَشَفْتُ كَمْ مِنَ الوَقْتِ كُنْتُ أُضَيِّعُ! مِنْ نَاحِيَةٍ، لَا أَسْتَطِيعُ الاسْتِغْنَاءَ عَنِ الإِنْتَرْنِتِ، وَمِنْ نَاحِيَةٍ أُخْرَى، أَحْتَاجُ إِلَى حُدُودٍ؛ لِذٰلِكَ سَأُطْفِئُ هَاتِفِي بَعْدَ السَّاعَةِ التَّاسِعَةِ.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سَامِي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Khalid, you asked about my digital life, so here’s the truth: I spend about four hours a day on screens — half studying on the school platform, half keeping in touch with friends. The app I rely on most is a revision app that tests my vocabulary every evening, and it has really improved my marks. But something strange happened last week: my phone broke for three days, and I discovered how much time I used to waste! On one hand, I can’t do without the internet; on the other, I need limits — so I’ll switch my phone off after nine. Best wishes, Sami.”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نِصْفُهَا لِلدِّرَاسَةِ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أَعْتَمِدُ عَلَيْهِ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أُضَيِّعُ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مِنْ نَاحِيَةٍ … وَمِنْ نَاحِيَةٍ أُخْرَى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Technology in my life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التِّكْنُولُوجْيَا فِي حَيَاتِي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devices you use and how · keeping in touch with others · an experience with technology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الأَجْهِزَةُ الَّتِي تَسْتَخْدِمُهَا وَكَيْفَ · التَّوَاصُلُ مَعَ الآخَرِينَ · تَجْرِبَةٌ مَعَ التِّكْنُولُوجْيَا · رَأْيُكَ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Social media: friend or enemy?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وَسَائِلُ التَّوَاصُلِ الاجْتِمَاعِيِّ: صَدِيقٌ أَمْ عَدُوٌّ؟</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Its place in young people’s lives · benefits and harms · a real example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مَكَانَتُهَا فِي حَيَاةِ الشَّبَابِ · فَوَائِدُهَا وَأَضْرَارُهَا · مِثَالٌ مِنَ الوَاقِعِ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Devices and study — astakhdimu … lid-dirāsa, atafāʿalu maʿa …; present tense.</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Keeping in touch — atawāṣalu maʿa, uʿalliqu ʿalā; Stretch: ka-annanā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project or an experience: baḥathtu ʿan, ḥaṣaltu ʿalā, shaʿartu bi-; the result.</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al-istikhdām al-kathīr yaḍurru bi-,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أَتَفَاعَلُ مَعَ المُعَلِّمِينَ وَالطُّلَّابِ.</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interact with the teachers and students.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بَحَثْتُ عَنِ المَعْلُومَاتِ، وَحَصَلْتُ عَلَى دَرَجَةٍ عَالِيَةٍ.</a:t>
            </a:r>
            <a:endParaRPr lang="ar-SA" sz="22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searched for information and got a high mark.</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سَأُغْلِقُ هَاتِفِي قَبْلَ النَّوْمِ بِسَاعَةٍ.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switch my phone off an hour before bed.</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00" dirty="0">
                <a:solidFill>
                  <a:srgbClr val="1F2A37"/>
                </a:solidFill>
                <a:latin typeface="Amiri" pitchFamily="2" charset="-78"/>
                <a:ea typeface="Amiri" pitchFamily="2" charset="-78"/>
                <a:cs typeface="Amiri" pitchFamily="2" charset="-78"/>
              </a:rPr>
              <a:t>التِّكْنُولُوجْيَا مُهِمَّةٌ جِدًّا فِي حَيَاتِي. عِنْدِي هَاتِفٌ ذَكِيٌّ وَحَاسُوبٌ مَحْمُولٌ. أَسْتَخْدِمُ الحَاسُوبَ لِلدِّرَاسَةِ، لِأَنِّي أَدْرُسُ فِي مَدْرَسَةٍ عَلَى الإِنْتَرْنِتِ. أَحْضُرُ الدُّرُوسَ كُلَّ صَبَاحٍ، وَأَتَفَاعَلُ مَعَ المُعَلِّمِينَ وَالطُّلَّابِ.</a:t>
            </a:r>
            <a:endParaRPr lang="ar-SA" sz="1500" dirty="0"/>
          </a:p>
          <a:p>
            <a:pPr rtl="1" algn="r" indent="0" marL="0">
              <a:lnSpc>
                <a:spcPct val="120000"/>
              </a:lnSpc>
              <a:buNone/>
            </a:pPr>
            <a:r>
              <a:rPr lang="ar-SA" altLang="en-US" sz="1500" dirty="0">
                <a:solidFill>
                  <a:srgbClr val="1F2A37"/>
                </a:solidFill>
                <a:latin typeface="Amiri" pitchFamily="2" charset="-78"/>
                <a:ea typeface="Amiri" pitchFamily="2" charset="-78"/>
                <a:cs typeface="Amiri" pitchFamily="2" charset="-78"/>
              </a:rPr>
              <a:t>أَسْتَخْدِمُ الهَاتِفَ لِلتَّوَاصُلِ مَعَ أَصْدِقَائِي وَأُسْرَتِي. جَدَّتِي تَسْكُنُ فِي الأُرْدُنِّ، وَأَتَكَلَّمُ مَعَهَا بِالفِيدْيُو كُلَّ يَوْمِ جُمُعَةٍ، وَهِيَ سَعِيدَةٌ جِدًّا بِذٰلِكَ. أُحِبُّ أَيْضًا تَطْبِيقَاتِ الأَلْعَابِ وَالمُوسِيقَى، لٰكِنِّي لَا أَلْعَبُ كَثِيرًا، لِأَنَّ وَقْتِي مَشْغُولٌ بِالوَاجِبَاتِ وَالرِّيَاضَةِ.</a:t>
            </a:r>
            <a:endParaRPr lang="ar-SA" sz="1500" dirty="0"/>
          </a:p>
          <a:p>
            <a:pPr rtl="1" algn="r" indent="0" marL="0">
              <a:lnSpc>
                <a:spcPct val="120000"/>
              </a:lnSpc>
              <a:buNone/>
            </a:pPr>
            <a:r>
              <a:rPr lang="ar-SA" altLang="en-US" sz="1500" dirty="0">
                <a:solidFill>
                  <a:srgbClr val="1F2A37"/>
                </a:solidFill>
                <a:latin typeface="Amiri" pitchFamily="2" charset="-78"/>
                <a:ea typeface="Amiri" pitchFamily="2" charset="-78"/>
                <a:cs typeface="Amiri" pitchFamily="2" charset="-78"/>
              </a:rPr>
              <a:t>فِي السَّنَةِ المَاضِيَةِ عَمِلْتُ مَشْرُوعًا عَنِ الحَيَوَانَاتِ. بَحَثْتُ عَنِ المَعْلُومَاتِ عَلَى الإِنْتَرْنِتِ، وَشَاهَدْتُ أَفْلَامًا وَثَائِقِيَّةً، ثُمَّ صَنَعْتُ عَرْضًا جَمِيلًا. حَصَلْتُ عَلَى دَرَجَةٍ عَالِيَةٍ، وَكُنْتُ سَعِيدًا جِدًّا.</a:t>
            </a:r>
            <a:endParaRPr lang="ar-SA" sz="1500" dirty="0"/>
          </a:p>
          <a:p>
            <a:pPr rtl="1" algn="r" indent="0" marL="0">
              <a:lnSpc>
                <a:spcPct val="120000"/>
              </a:lnSpc>
              <a:buNone/>
            </a:pPr>
            <a:r>
              <a:rPr lang="ar-SA" altLang="en-US" sz="1500" dirty="0">
                <a:solidFill>
                  <a:srgbClr val="1F2A37"/>
                </a:solidFill>
                <a:latin typeface="Amiri" pitchFamily="2" charset="-78"/>
                <a:ea typeface="Amiri" pitchFamily="2" charset="-78"/>
                <a:cs typeface="Amiri" pitchFamily="2" charset="-78"/>
              </a:rPr>
              <a:t>فِي رَأْيِي، الإِنْتَرْنِتُ مُفِيدٌ، لٰكِنَّ الاسْتِخْدَامَ الكَثِيرَ يَضُرُّ بِالعُيُونِ وَبِالنَّوْمِ. لِذٰلِكَ سَأُغْلِقُ هَاتِفِي قَبْلَ النَّوْمِ بِسَاعَةٍ، وَسَأَمْشِي فِي الحَدِيقَةِ أَكْثَرَ. فِي المُسْتَقْبَلِ أُرِيدُ أَنْ أَعْمَلَ مُبَرْمِجًا.</a:t>
            </a:r>
            <a:endParaRPr lang="ar-SA" sz="15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Technology is very important in my life: I have a smartphone and a laptop; I use the laptop to study because I attend an online school — lessons every morning, interacting with teachers and students → I use my phone to keep in touch with friends and family; my grandmother lives in Jordan and I video-call her every Friday, and she is very happy about it; I like game and music apps but don’t play much because I’m busy with homework and sport → last year I did a project on animals: I searched online, watched documentaries, then made a nice presentation; I got a high mark and was very happy → the internet is useful, but too much use harms eyes and sleep, so I’ll switch my phone off an hour before bed and walk in the park more; in future I want to be a programmer.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أَتَفَاعَلُ مَعَ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لِلتَّوَاصُلِ مَعَ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بَحَثْتُ عَنِ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حَصَلْتُ عَلَى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لَا أَسْتَطِيعُ أَنْ أَتَخَيَّلَ يَوْمًا وَاحِدًا بِلَا تِكْنُولُوجْيَا؛ فَهِيَ مَدْرَسَتِي وَمَكْتَبَتِي وَنَافِذَتِي عَلَى العَالَمِ. وَبِمَا أَنِّي أَدْرُسُ فِي مَدْرَسَةٍ إِلِكْتْرُونِيَّةٍ، فَأَنَا أَتَفَاعَلُ مَعَ مُعَلِّمِينَ وَزُمَلَاءَ مِنْ عَشْرِ دُوَلٍ مُخْتَلِفَةٍ دُونَ أَنْ أُغَادِرَ غُرْفَتِي. وَحِينَ أَحْتَاجُ إِلَى مَعْلُومَةٍ، أَبْحَثُ عَنْهَا فِي ثَوَانٍ بَدَلًا مِنْ سَاعَاتٍ فِي المَكْتَبَةِ.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أَمَّا خَارِجَ الدِّرَاسَةِ، فَأَسْتَخْدِمُ وَسَائِلَ التَّوَاصُلِ لِلتَّوَاصُلِ مَعَ أَقَارِبِي المُنْتَشِرِينَ بَيْنَ لَنْدَنَ وَعَمَّانَ وَدُبَيّ، وَأُعَلِّقُ عَلَى صُوَرِهِمْ وَأَخْبَارِهِمْ كَأَنَّنَا نَعِيشُ فِي بَيْتٍ وَاحِدٍ.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تَجْرِبَةً عِشْتُهَا فِي الصَّيْفِ المَاضِي غَيَّرَتْ نَظْرَتِي؛ فَقَدْ قَضَيْتُ أُسْبُوعًا فِي مُخَيَّمٍ كَشْفِيٍّ بِلَا إِنْتَرْنِتٍ. فِي اليَوْمِ الأَوَّلِ شَعَرْتُ بِالقَلَقِ، لٰكِنِّي بَعْدَ ذٰلِكَ اكْتَشَفْتُ مُتْعَةَ الحَدِيثِ حَوْلَ النَّارِ، وَنِمْتُ أَعْمَقَ مِمَّا نِمْتُ مُنْذُ سَنَوَاتٍ.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التِّكْنُولُوجْيَا نِعْمَةٌ كَبِيرَةٌ، غَيْرَ أَنَّ الإِفْرَاطَ فِي اسْتِخْدَامِهَا يَسْرِقُ مِنَّا الوَقْتَ وَالتَّرْكِيزَ. وَلَوْ خَصَّصَ كُلُّ وَاحِدٍ مِنَّا سَاعَةً يَوْمِيًّا بِلَا شَاشَاتٍ، لَشَعَرْنَا بِفَرْقٍ كَبِيرٍ فِي صِحَّتِنَا وَعَلَاقَاتِنَا.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بِمَا أَنِّي</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كَأَنَّنَا نَعِيشُ</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نِمْتُ أَعْمَقَ مِمَّا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خَصَّصَ … لَشَعَرْنَا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Q3 (</a:t>
            </a:r>
            <a:pPr algn="l" indent="0" marL="0">
              <a:buNone/>
            </a:pPr>
            <a:r>
              <a:rPr lang="ar-SA" altLang="en-US" sz="3000" b="1" dirty="0">
                <a:solidFill>
                  <a:srgbClr val="1B3B6F"/>
                </a:solidFill>
                <a:latin typeface="Amiri" pitchFamily="2" charset="-78"/>
                <a:ea typeface="Amiri" pitchFamily="2" charset="-78"/>
                <a:cs typeface="Amiri" pitchFamily="2" charset="-78"/>
              </a:rPr>
              <a:t>ب</a:t>
            </a:r>
            <a:pPr algn="l" indent="0" marL="0">
              <a:buNone/>
            </a:pPr>
            <a:r>
              <a:rPr lang="en-US" sz="2300" b="1" dirty="0">
                <a:solidFill>
                  <a:srgbClr val="1B3B6F"/>
                </a:solidFill>
                <a:latin typeface="Cambria" pitchFamily="34" charset="0"/>
                <a:cs typeface="Amiri" pitchFamily="2" charset="-78"/>
              </a:rPr>
              <a:t>) full-mark model: friend or enemy?</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أَصْبَحَتْ وَسَائِلُ التَّوَاصُلِ الاجْتِمَاعِيِّ جُزْءًا لَا يَتَجَزَّأُ مِنْ حَيَاةِ المُرَاهِقِينَ؛ فَمُعْظَمُنَا يَفْتَحُ هَاتِفَهُ قَبْلَ أَنْ يَفْتَحَ عَيْنَيْهِ تَمَامًا فِي الصَّبَاحِ. فَهَلْ هِيَ صَدِيقٌ مُفِيدٌ أَمْ عَدُوٌّ خَفِيٌّ؟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تُتِيحُ لَنَا هٰذِهِ الوَسَائِلُ التَّعَلُّمَ وَالتَّعْبِيرَ عَنْ آرَائِنَا، وَتَجْمَعُنَا بِأَشْخَاصٍ يُشَارِكُونَنَا الهِوَايَاتِ نَفْسَهَا، كَمَا تُسَاعِدُ المُبْدِعِينَ الصِّغَارَ عَلَى نَشْرِ أَعْمَالِهِمْ. وَمِنْ نَاحِيَةٍ أُخْرَى، تُؤَدِّي المُقَارَنَةُ الدَّائِمَةُ بِالصُّوَرِ المِثَالِيَّةِ إِلَى القَلَقِ وَقِلَّةِ الثِّقَةِ بِالنَّفْسِ، فَضْلًا عَنِ التَّنَمُّرِ الإِلِكْتْرُونِيِّ.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عَرَفْتُ ذٰلِكَ مِنْ تَجْرِبَةِ صَدِيقَةٍ لِي، كَانَتْ تَنْشُرُ صُوَرَهَا كُلَّ يَوْمٍ وَتَنْتَظِرُ الإِعْجَابَاتِ بِقَلَقٍ. وَعِنْدَمَا كَتَبَ لَهَا أَحَدُهُمْ تَعْلِيقًا جَارِحًا، حَزِنَتْ أَيَّامًا، إِلَى أَنْ قَرَّرَتْ حَذْفَ التَّطْبِيقِ شَهْرًا كَامِلًا، فَعَادَتْ إِلَيْهَا ابْتِسَامَتُهَا، وَأَصْبَحَتْ تَقْضِي وَقْتَهَا فِي الرَّسْمِ وَالقِرَاءَةِ.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المَنْعَ لَيْسَ حَلًّا، غَيْرَ أَنَّ الاسْتِخْدَامَ الوَاعِيَ ضَرُورِيٌّ. وَإِذَا تَعَلَّمْنَا مُنْذُ الصِّغَرِ كَيْفَ نَحْمِي أَنْفُسَنَا، فَسَتُصْبِحُ هٰذِهِ الوَسَائِلُ أَدَاةً بِأَيْدِينَا، لَا قُيُودًا حَوْلَ أَعْنَاقِنَا.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جُزْءًا لَا يَتَجَزَّأُ</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تُؤَدِّي المُقَارَنَةُ … إِلَى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فَضْلًا عَنْ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تَعَلَّمْنَا … فَسَتُصْبِحُ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right preposition in box 6.</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verbs with prepositions, a past event and a future change.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verbal nouns and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TC-L07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TC-L06 · Writing Workshop — Digital World and Communication</dc:title>
  <dc:subject>PptxGenJS Presentation</dc:subject>
  <dc:creator>Al Madina Online School · Arabic Department</dc:creator>
  <cp:lastModifiedBy>Al Madina Online School · Arabic Department</cp:lastModifiedBy>
  <cp:revision>1</cp:revision>
  <dcterms:created xsi:type="dcterms:W3CDTF">2026-10-11T09:47:52Z</dcterms:created>
  <dcterms:modified xsi:type="dcterms:W3CDTF">2026-10-11T09:47:52Z</dcterms:modified>
</cp:coreProperties>
</file>