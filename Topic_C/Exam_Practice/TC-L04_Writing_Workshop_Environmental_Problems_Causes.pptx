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4 (Environmental Problems and Causes, TC-L04).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qillatu + iḍāfa. Box 8: aqtariḥu an tūḍaʿa (passive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 (what) · أَسْبَابُهَا (its causes) · مُؤَخَّرًا (recently) · اقْتِرَاحُكَ (your suggestion) — bullet 3 is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non-human plural agreement, as-sababu al-awwal / ath-thānī, yuʾaddī ilā, a past paragraph with kāna + accusative,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a hook that challenges a belief, lā taqillu khuṭūra, bi-sababi … mimmā, ammā … fa-, a passive relative (allatī turmā), a vivid past incident, a concession and law … la-.
ENGLISH SUMMARY (read aloud or paste in the chat for Core students): Many think environmental problems are far away — in the tropics or the Arctic — but my own town suffers from problems no less serious → first, air pollution: because of morning traffic the streets fill with fumes, which causes asthma in children and the elderly; second, rubbish thrown in parks and canals, which spoils their beauty and kills animals → I saw the results myself last summer in a canal-bank clean-up: in two hours we collected over fifty bags of cans and bags and found a duck trapped in plastic netting → it is true the council is responsible for cleaning, but every problem starts with one small personal act; “if each of us thought before throwing a bag or getting in the car, our town would change within a few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statistics, kāna + present vs ammā … fa-, passives (yughallafu, yurmā, tufraḍ), mimmā, bayna-mā kuntu, a concession and idhā lam … fa-sa-.
ENGLISH SUMMARY (read aloud or paste in the chat for Core students): The world produces hundreds of millions of tonnes of plastic a year, much of it ending up in the seas; scientists estimate there may be more plastic than fish by the end of the century → in the past people carried shopping in baskets and drank from glass that lasted years; today almost everything is wrapped in plastic and thrown away within minutes, which leads to waste piling up everywhere, from streets to the ocean depths → I was shocked on my last holiday on the Red Sea: while diving to see the coral reefs, I saw a turtle trying to eat a clear bag it thought was a jellyfish, and the instructor pulled it from its mouth — I have never forgotten that scene → it is true plastic is cheap and practical, but nature pays its real price; “if strict laws are not imposed on companies and we don’t change our habits, we will leave our children lifeless seas”.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Environmental Problems and Causes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مَشَاكِلُ البِيئَةِ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an eco-club problem-report form, write a formal letter to the head teacher about a problem at school, and write an extended piece about problems in your town or plastic in the seas.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TC-L04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letter about a school problem.</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bi-sababi + genitive noun, li-anna + sentence; passive verbs agree with the new subject (tuqṭaʿu al-ghābāt, yurmā al-kīs); mulawwath / mulawwatha agree with the noun.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بِسَبَبِ زَحْمَةِ المُرُورِ</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because of the traffic</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مِمَّا يُسَبِّبُ الرَّبْوَ لِلْأَطْفَالِ</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which causes asthma in children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النُّفَايَاتُ الَّتِي تُرْمَى فِي الحَدَائِقِ</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rubbish that is thrown in the parks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Eco-club problem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اسْتِمَارَةُ الإِبْلَاغِ عَنْ مُشْكِلَةٍ بِيئِيَّةٍ</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المَكَانُ</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problem</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المُشْكِلَةِ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التَّارِيخُ</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it happens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تَحْدُثُ؟</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cause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السَّبَبُ</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effect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النَّتِيجَةُ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suggestion</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اقْتِرَاحُكَ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aqtariḥu an + a passive.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Eco-club problem report: model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Hassan, Year 10</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مَرْيَمُ حَسَنٌ، الصَّفُّ العَاشِرُ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playground</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مَلْعَبُ المَدْرَسَةِ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المَكَانُ</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plastic rubbish</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نُفَايَاتٌ بْلَاسْتِيكِيَّةٌ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المُشْكِلَةِ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Monday 12 March</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الاثْنَيْنِ، ١٢ مَارِس</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التَّارِيخُ</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break</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الاسْتِرَاحَةِ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تَحْدُثُ؟</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too few bins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قِلَّةُ السَّلَّاتِ</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السَّبَبُ</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place is dirty and birds eat the plastic</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المَكَانُ وَسِخٌ وَالطُّيُورُ تَأْكُلُ البْلَاسْتِيكَ</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النَّتِيجَةُ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suggest recycling bins be placed next to the canteen.</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أَقْتَرِحُ أَنْ تُوضَعَ سَلَّاتٌ لِلتَّدْوِيرِ بِجَانِبِ المَقْصَفِ.</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اقْتِرَاحُكَ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Question 2: letter to the head teacher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المُدِيرِ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There is an environmental problem at your school. Write a letter in Arabic to the head teacher of about 80–90 words. You must include: • what the problem is • its causes • something you saw recently • your suggestion and what students will do.</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cause (bi-sababi / li-anna / as-sababu anna).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أَكْتُبُ إِلَيْكَ عَنْ مُشْكِلَةٍ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writing to you about a problem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السَّبَبُ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cause is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رَأَيْتُ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 saw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أَقْتَرِحُ أَنْ … وَسَنُنَظِّمُ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suggest that … and we will organise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an environmental problem at school: write to the head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هُنَاكَ مُشْكِلَةٌ بِيئِيَّةٌ فِي مَدْرَسَتِكَ. اكْتُبْ رِسَالَةً إِلَى المُدِيرِ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problem is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المُشْكِلَةُ؟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causes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أَسْبَابُهَا؟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saw recently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رَأَيْتَ مُؤَخَّرًا؟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suggestion; what students will do</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اقْتِرَاحُكَ؟ وَمَاذَا سَيَفْعَلُ الطُّلَّابُ؟</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respected head teacher,</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مُدِيرِ المَدْرَسَةِ المُحْتَرَمِ،</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writing about the problem of … at school.</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أَكْتُبُ إِلَيْكَ عَنْ مُشْكِلَةِ ______ فِي مَدْرَسَتِنَا.</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cause is that …, and that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السَّبَبُ أَنَّ ______ ، وَأَنَّ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saw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رَأَيْتُ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suggest that …, and we will organise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أَقْتَرِحُ أَنْ ______ ، وَسَنُنَظِّمُ نَحْنُ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مُدِيرِ المَدْرَسَةِ المُحْتَرَمِ،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أَنَا طَالِبَةٌ فِي الصَّفِّ العَاشِرِ، وَأَكْتُبُ إِلَيْكَ عَنْ مُشْكِلَةٍ بِيئِيَّةٍ فِي مَدْرَسَتِنَا. المُشْكِلَةُ هِيَ النُّفَايَاتُ البْلَاسْتِيكِيَّةُ؛ فَالمَلْعَبُ وَالمَمَرَّاتُ وَسِخَةٌ بَعْدَ الاسْتِرَاحَةِ. السَّبَبُ أَنَّ سَلَّاتِ المُهْمَلَاتِ قَلِيلَةٌ، وَأَنَّ الطُّلَّابَ يَشْتَرُونَ زُجَاجَاتِ مَاءٍ كُلَّ يَوْمٍ. أَمْسِ رَأَيْتُ طَائِرًا يَأْكُلُ كِيسًا بْلَاسْتِيكِيًّا، وَحَزِنْتُ كَثِيرًا. فِي رَأْيِي، هٰذِهِ مُشْكِلَةٌ خَطِيرَةٌ. أَقْتَرِحُ أَنْ نَضَعَ سَلَّاتٍ لِلتَّدْوِيرِ، وَسَنُنَظِّمُ نَحْنُ يَوْمًا لِلتَّنْظِيفِ.</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the respected head teacher, I am a Year 10 student and I am writing to you about an environmental problem at our school. The problem is plastic rubbish: the playground and corridors are dirty after break. The cause is that there are few bins, and students buy bottles of water every day. Yesterday I saw a bird eating a plastic bag, and I was very sad. In my opinion this is a serious problem. I suggest we put out recycling bins, and we will organise a clean-up day. With thanks,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مُشْكِلَةٍ بِيئِيَّةٍ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السَّبَبُ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رَأَيْتُ طَائِرًا يَأْكُلُ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وَسَنُنَظِّمُ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حَضْرَةَ مُدِيرِ المَدْرَسَةِ المُحْتَرَمِ،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فَأَكْتُبُ إِلَيْكَ نِيَابَةً عَنْ نَادِي البِيئَةِ لِأُلْفِتَ نَظَرَكَ إِلَى مُشْكِلَةٍ تَزْدَادُ يَوْمًا بَعْدَ يَوْمٍ، وَهِيَ النُّفَايَاتُ البْلَاسْتِيكِيَّةُ الَّتِي تُرْمَى فِي المَلْعَبِ وَالمَمَرَّاتِ. وَيَرْجِعُ السَّبَبُ إِلَى قِلَّةِ السَّلَّاتِ، وَإِلَى بَيْعِ المَاءِ فِي زُجَاجَاتٍ تُسْتَخْدَمُ مَرَّةً وَاحِدَةً فَقَطْ. وَقَدْ لَاحَظْنَا الأُسْبُوعَ المَاضِي أَنَّ الرِّيَاحَ حَمَلَتِ الأَكْيَاسَ إِلَى الحَدِيقَةِ المُجَاوِرَةِ، مِمَّا أَضَرَّ بِالطُّيُورِ وَالسَّنَاجِبِ الَّتِي تَعِيشُ هُنَاكَ. لِذٰلِكَ نَقْتَرِحُ تَرْكِيبَ نَافُورَاتٍ لِلشُّرْبِ وَسَلَّاتٍ لِلتَّدْوِيرِ، وَسَيَتَطَوَّعُ أَعْضَاءُ النَّادِي لِتَوْعِيَةِ الطُّلَّابِ فِي الاسْتِرَاحَاتِ وَالاجْتِمَاعَاتِ الصَّبَاحِيَّةِ.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وَتَفَضَّلُوا بِقَبُولِ فَائِقِ الاحْتِرَامِ،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Head Teacher, greetings. I am writing on behalf of the eco-club to draw your attention to a growing problem: plastic rubbish thrown in the playground and corridors. The cause is the lack of bins, and the sale of water in single-use bottles. Last week we noticed the wind carried bags into the neighbouring park, which harmed the birds and squirrels that live there. We therefore suggest installing drinking fountains and recycling bins, and club members will volunteer to raise awareness among students at break and in morning assemblies. Yours respectfully,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لِأُلْفِتَ نَظَرَكَ إِلَى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تُرْمَى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يَرْجِعُ السَّبَبُ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أَضَرَّ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Environmental problems in my town</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المَشَاكِلُ البِيئِيَّةُ فِي مَدِينَتِي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Problems in your town · causes and effects · a personal experience · your opinion and what you will do</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المَشَاكِلُ فِي مَدِينَتِكَ · أَسْبَابُهَا وَنَتَائِجُهَا · تَجْرِبَةٌ شَخْصِيَّةٌ · رَأْيُكَ وَمَا سَتَفْعَلُهُ</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Plastic is threatening the seas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البْلَاسْتِيكُ يُهَدِّدُ البِحَارَ</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size of the problem · past and present · something you saw · your opinion and the solution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حَجْمُ المُشْكِلَةِ · المَاضِي وَالحَاضِرُ · مَوْقِفٌ رَأَيْتَهُ · رَأْيُكَ وَالحَلُّ</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problems — fī madīnatī mashākilu bīʾiyya kathīra; non-human plural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Causes and effects — as-sababu anna …, bi-sababi …, yuʾaddī ilā …, mimmā …; a passive (turmā).</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clean-up or an incident: dhahabnā, jamaʿnā, raʾaytu; kāna al-māʾu wasikhan.</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sa- …; Stretch: ṣaḥīḥun anna … ghayra anna, law … la- or idhā lam … fa-sa-.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السَّيَّارَاتُ وَالحَافِلَاتُ تُلَوِّثُ الهَوَاءَ.</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cars and buses pollute the air.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 المَاءُ وَسِخًا، وَجَمَعْنَا النُّفَايَاتِ.</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water was dirty, and we collected the rubbish.</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سَأَذْهَبُ إِلَى المَدْرَسَةِ بِالدَّرَّاجَةِ.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go to school by bike.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مَدِينَتِي مَشَاكِلُ بِيئِيَّةٌ كَثِيرَةٌ. أَكْبَرُ مُشْكِلَةٍ هِيَ زَحْمَةُ المُرُورِ. فِي الصَّبَاحِ الشَّوَارِعُ مُزْدَحِمَةٌ جِدًّا، وَالسَّيَّارَاتُ وَالحَافِلَاتُ تُلَوِّثُ الهَوَاءَ. هُنَاكَ أَيْضًا نُفَايَاتٌ كَثِيرَةٌ فِي الحَدَائِقِ وَالشَّوَارِعِ.</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السَّبَبُ الأَوَّلُ هُوَ أَنَّ النَّاسَ يَسْتَخْدِمُونَ السَّيَّارَاتِ كَثِيرًا. السَّبَبُ الثَّانِي هُوَ أَنَّ بَعْضَ النَّاسِ يَرْمُونَ النُّفَايَاتِ فِي الشَّارِعِ، وَلَا يَسْتَخْدِمُونَ السَّلَّاتِ. هٰذَا يُؤَدِّي إِلَى أَمْرَاضٍ، وَيَضُرُّ بِالحَيَوَانَاتِ وَالطُّيُورِ.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الشَّهْرِ المَاضِي ذَهَبْتُ مَعَ صَفِّي إِلَى النَّهْرِ. كَانَ المَاءُ وَسِخًا، وَكَانَتْ هُنَاكَ زُجَاجَاتٌ وَأَكْيَاسٌ كَثِيرَةٌ. جَمَعْنَا النُّفَايَاتِ فِي أَكْيَاسٍ كَبِيرَةٍ، وَبَعْدَ ثَلَاثِ سَاعَاتٍ أَصْبَحَ المَكَانُ نَظِيفًا. كُنْتُ سَعِيدَةً جِدًّا، لِأَنَّ عَمَلَنَا كَانَ مُفِيدًا لِلنَّهْرِ وَلِلطُّيُورِ.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البِيئَةُ مُهِمَّةٌ جِدًّا، لِأَنَّهَا بَيْتُنَا جَمِيعًا. فِي المُسْتَقْبَلِ سَأَذْهَبُ إِلَى المَدْرَسَةِ بِالدَّرَّاجَةِ، وَسَأَسْتَخْدِمُ زُجَاجَةَ مَاءٍ وَاحِدَةً كُلَّ يَوْمٍ.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town has many environmental problems: the biggest is traffic — the streets are very crowded in the morning and cars and buses pollute the air; there is also lots of rubbish in parks and streets → first cause: people use cars a lot; second: some people throw rubbish in the street and don’t use the bins; this leads to illness and harms animals and birds → last month my class went to the river: the water was dirty with many bottles and bags; we collected the rubbish in big bags, and after three hours the place was clean; I was very happy because our work helped the river and the birds → the environment matters because it is everyone’s home; I will cycle to school and use one water bottle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تُلَوِّثُ الهَوَاءَ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السَّبَبُ الأَوَّلُ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يُؤَدِّي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المَاءُ وَسِخًا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يَظُنُّ كَثِيرٌ مِنَ النَّاسِ أَنَّ المَشَاكِلَ البِيئِيَّةَ بَعِيدَةٌ عَنْهُمْ، وَأَنَّهَا تَحْدُثُ فِي الغَابَاتِ الاسْتِوَائِيَّةِ أَوْ فِي القُطْبِ الشَّمَالِيِّ فَقَطْ. لٰكِنَّ الحَقِيقَةَ أَنَّ مَدِينَتِي نَفْسَهَا تُعَانِي مِنْ مَشَاكِلَ لَا تَقِلُّ خُطُورَةً.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أَوَّلُ هٰذِهِ المَشَاكِلِ تَلَوُّثُ الهَوَاءِ؛ فَبِسَبَبِ زَحْمَةِ المُرُورِ فِي سَاعَاتِ الصَّبَاحِ، تَمْتَلِئُ الشَّوَارِعُ بِدُخَانِ السَّيَّارَاتِ، مِمَّا يُسَبِّبُ الرَّبْوَ لِلْأَطْفَالِ وَكِبَارِ السِّنِّ. أَمَّا المُشْكِلَةُ الثَّانِيَةُ فَهِيَ النُّفَايَاتُ الَّتِي تُرْمَى فِي الحَدَائِقِ وَالقَنَوَاتِ، فَتُشَوِّهُ جَمَالَهَا وَتَقْتُلُ الحَيَوَانَاتِ.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نَتَائِجَ ذٰلِكَ بِنَفْسِي فِي الصَّيْفِ المَاضِي، عِنْدَمَا شَارَكْتُ فِي حَمْلَةِ تَنْظِيفٍ عَلَى ضِفَّةِ القَنَاةِ؛ فَقَدْ جَمَعْنَا خِلَالَ سَاعَتَيْنِ أَكْثَرَ مِنْ خَمْسِينَ كِيسًا مِنَ العُلَبِ وَالأَكْيَاسِ، وَوَجَدْنَا بَطَّةً عَالِقَةً فِي شَبَكَةٍ بْلَاسْتِيكِيَّةٍ.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البَلَدِيَّةَ مَسْؤُولَةٌ عَنْ نَظَافَةِ المَدِينَةِ، غَيْرَ أَنَّ كُلَّ مُشْكِلَةٍ تَبْدَأُ بِتَصَرُّفٍ فَرْدِيٍّ صَغِيرٍ. وَلَوْ فَكَّرَ كُلُّ وَاحِدٍ مِنَّا قَبْلَ أَنْ يَرْمِيَ كِيسًا أَوْ يَرْكَبَ سَيَّارَتَهُ، لَتَغَيَّرَتْ مَدِينَتُنَا خِلَالَ سَنَوَاتٍ قَلِيلَةٍ.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يَظُنُّ … أَنَّ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فَبِسَبَبِ زَحْمَةِ</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يُسَبِّبُ</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فَكَّرَ … لَتَغَيَّرَتْ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Q3 (</a:t>
            </a:r>
            <a:pPr algn="l" indent="0" marL="0">
              <a:buNone/>
            </a:pPr>
            <a:r>
              <a:rPr lang="ar-SA" altLang="en-US" sz="2950" b="1" dirty="0">
                <a:solidFill>
                  <a:srgbClr val="1B3B6F"/>
                </a:solidFill>
                <a:latin typeface="Amiri" pitchFamily="2" charset="-78"/>
                <a:ea typeface="Amiri" pitchFamily="2" charset="-78"/>
                <a:cs typeface="Amiri" pitchFamily="2" charset="-78"/>
              </a:rPr>
              <a:t>ب</a:t>
            </a:r>
            <a:pPr algn="l" indent="0" marL="0">
              <a:buNone/>
            </a:pPr>
            <a:r>
              <a:rPr lang="en-US" sz="2250" b="1" dirty="0">
                <a:solidFill>
                  <a:srgbClr val="1B3B6F"/>
                </a:solidFill>
                <a:latin typeface="Cambria" pitchFamily="34" charset="0"/>
                <a:cs typeface="Amiri" pitchFamily="2" charset="-78"/>
              </a:rPr>
              <a:t>) full-mark model: plastic in the seas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يُنْتِجُ العَالَمُ كُلَّ سَنَةٍ مِئَاتِ المَلَايِينِ مِنَ الأَطْنَانِ مِنَ البْلَاسْتِيكِ، وَيَنْتَهِي جُزْءٌ كَبِيرٌ مِنْهَا فِي البِحَارِ وَالمُحِيطَاتِ. وَيُقَدِّرُ العُلَمَاءُ أَنَّ كَمِّيَّةَ البْلَاسْتِيكِ فِي البَحْرِ قَدْ تَزِيدُ عَلَى كَمِّيَّةِ الأَسْمَاكِ قَبْلَ نِهَايَةِ هٰذَا القَرْنِ.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النَّاسُ يَحْمِلُونَ مُشْتَرَيَاتِهِمْ فِي سِلَالٍ، وَيَشْرَبُونَ مِنْ أَوَانٍ زُجَاجِيَّةٍ تُسْتَخْدَمُ سَنَوَاتٍ، أَمَّا اليَوْمَ فَكُلُّ شَيْءٍ تَقْرِيبًا يُغَلَّفُ بِالبْلَاسْتِيكِ ثُمَّ يُرْمَى بَعْدَ دَقَائِقَ، مِمَّا يُؤَدِّي إِلَى تَرَاكُمِ النُّفَايَاتِ فِي كُلِّ مَكَانٍ، مِنَ الشَّوَارِعِ إِلَى أَعْمَاقِ المُحِيطَاتِ.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صُدِمْتُ فِي عُطْلَتِي الأَخِيرَةِ عَلَى سَاحِلِ البَحْرِ الأَحْمَرِ؛ فَبَيْنَمَا كُنْتُ أَغُوصُ لِأُشَاهِدَ الشِّعَابَ المَرْجَانِيَّةَ، رَأَيْتُ سُلَحْفَاةً تُحَاوِلُ أَنْ تَأْكُلَ كِيسًا شَفَّافًا تَظُنُّهُ قِنْدِيلَ بَحْرٍ، فَسَحَبَهُ المُدَرِّبُ مِنْ فَمِهَا بِسُرْعَةٍ، وَلَمْ أَنْسَ ذٰلِكَ المَشْهَدَ أَبَدًا.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البْلَاسْتِيكَ رَخِيصٌ وَعَمَلِيٌّ، غَيْرَ أَنَّ ثَمَنَهُ الحَقِيقِيَّ تَدْفَعُهُ الطَّبِيعَةُ. وَإِذَا لَمْ تُفْرَضْ قَوَانِينُ صَارِمَةٌ عَلَى الشَّرِكَاتِ، وَلَمْ نُغَيِّرْ نَحْنُ عَادَاتِنَا، فَسَنَتْرُكُ لِأَبْنَائِنَا بِحَارًا بِلَا حَيَاةٍ.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يُقَدِّرُ العُلَمَاءُ أَنَّ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اليَوْمَ فَكُلُّ شَيْءٍ</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 كُنْتُ أَغُوصُ</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لَمْ تُفْرَضْ … فَسَنَتْرُكُ</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cause and effect are clear.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cause, a past event and a suggestion (aqtariḥu an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yuʾaddī ilā / mimmā and a passive verb.</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law … la- or idhā lam … fa-sa-.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TC-L05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TC-L04 · Writing Workshop — Environmental Problems and Causes</dc:title>
  <dc:subject>PptxGenJS Presentation</dc:subject>
  <dc:creator>Al Madina Online School · Arabic Department</dc:creator>
  <cp:lastModifiedBy>Al Madina Online School · Arabic Department</cp:lastModifiedBy>
  <cp:revision>1</cp:revision>
  <dcterms:created xsi:type="dcterms:W3CDTF">2026-10-11T09:40:52Z</dcterms:created>
  <dcterms:modified xsi:type="dcterms:W3CDTF">2026-10-11T09:40:52Z</dcterms:modified>
</cp:coreProperties>
</file>