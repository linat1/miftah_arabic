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C, Lesson 1 (People, Places, Continents and Compass Points, TC-L01), using that lesson’s language (countries and nisba nationalities (-iyy / -iyya); compass points (fī shamāli …); comparing places).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compass + iḍāfa: فِي شَمَالِ إِفْرِيقْيَا · فِي جَنُوبِ غَرْبِ آسْيَا. يَقَعُ for masculine places (لُبْنَانُ، العِرَاقُ), تَقَعُ for feminine (مِصْرُ، السُّعُودِيَّةُ، المُدُنُ).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the nisba: drop al- and add -iyy / -iyya: المَغْرِبُ → مَغْرِبِيٌّ / مَغْرِبِيَّةٌ. Some plurals are broken: مَغَارِبَةٌ. Countries are mostly feminine: مِصْرُ كَبِيرَةٌ.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A (Core) — an international camp.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مِنْ أَيْنَ أَنْتِ · تَسْكُنِينَ · زُرْتِ · بَلَدِكِ — she answers: أَنَا بِرِيطَانِيَّةٌ.
Core: nisba with gender, compass points in iḍāfa (fī shamāli gharbi …), taqaʿu for a feminine country (Miṣr).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B (Core+) — a travel agent.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تُرِيدِينَ أَنْ تُسَافِرِي.
Core+: a reason with fīhi, the CANDIDATE asks with kam tabʿudu … ʿan, a comparative (aqrab min), compass points for neighbours.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C (Develop) — a geography project.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اخْتَرْتِ · قَارِنِيهِ · زُرْتِهِ · رَأَيْتِ.
Develop: two reasons, precise location, comparatives with bi-kathīr, a broken plural nationality (al-maghāriba), a superlative in the past.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D (Stretch) — a global-citizenship panel.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تَجْرِبَتِكِ · اسْتَطَعْتِ أَنْ تَعِيشِي · زُرْتُ صَدِيقَتِي العُمَانِيَّةَ.
Stretch: two reasons, kāna + negative present vs ammā … fa-, a dual verb (yuʿallimāninā), ʿindamā … iktashaftu anna, kamā kuntu aẓunnu, law … la-.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Develop. Examiner asks the questions in order and may add “لِمَاذَا؟ / هَلْ يُمْكِنُ أَنْ تَشْرَحَ أَكْثَرَ؟” to push for more. Candidate aims for two or three sentences, with comparison and a past detail.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Stretch. Examiner asks the questions in order and may add “لِمَاذَا؟ / هَلْ يُمْكِنُ أَنْ تَشْرَحَ أَكْثَرَ؟” to push for more. Candidate aims for a developed answer: opinion, comparison,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C · EXAM PRACTICE  ·  TC-L01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TC-L01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Countries and Compass Points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التَّحَدُّثِ — البُلْدَانُ وَالاتِّجَاهَاتُ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say where countries and cities are (fī janūbi …, sharqa …), give nationalities with the nisba (miṣriyy / miṣriyya), and compare places you know.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TC-L01 · Advanced Topic C · The World Around Us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C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C › TC-L01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PLACES AND COMPASS POINTS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Where is it?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أَيْنَ يَقَعُ؟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compass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شَمَالٌ · جَنُوبٌ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north · south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sha-mā-lun · ja-nū-bun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adj.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شَمَالِيٌّ · جَنُوبِيٌّ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in the north of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شَمَالِ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compass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شَرْقٌ · غَرْبٌ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east · west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shar-qun · ghar-bun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adj.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شَرْقِيٌّ · غَرْبِيٌّ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in the east of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شَرْقِ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 · my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بَلَدٌ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country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ba-la-dun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89864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95351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</a:t>
            </a:r>
            <a:endParaRPr lang="en-US" sz="750" dirty="0"/>
          </a:p>
        </p:txBody>
      </p:sp>
      <p:sp>
        <p:nvSpPr>
          <p:cNvPr id="56" name="Text 53"/>
          <p:cNvSpPr txBox="1"/>
          <p:nvPr/>
        </p:nvSpPr>
        <p:spPr>
          <a:xfrm>
            <a:off x="294436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بَلَدِي</a:t>
            </a:r>
            <a:endParaRPr lang="ar-SA" sz="1500" dirty="0"/>
          </a:p>
        </p:txBody>
      </p:sp>
      <p:sp>
        <p:nvSpPr>
          <p:cNvPr id="57" name="Shape 54"/>
          <p:cNvSpPr/>
          <p:nvPr/>
        </p:nvSpPr>
        <p:spPr>
          <a:xfrm>
            <a:off x="174650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180136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179222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بُلْدَانٌ</a:t>
            </a:r>
            <a:endParaRPr lang="ar-SA" sz="1500" dirty="0"/>
          </a:p>
        </p:txBody>
      </p:sp>
      <p:sp>
        <p:nvSpPr>
          <p:cNvPr id="60" name="Shape 57"/>
          <p:cNvSpPr/>
          <p:nvPr/>
        </p:nvSpPr>
        <p:spPr>
          <a:xfrm>
            <a:off x="59436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64922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64008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بَلَدٌ</a:t>
            </a:r>
            <a:endParaRPr lang="ar-SA" sz="1500" dirty="0"/>
          </a:p>
        </p:txBody>
      </p:sp>
      <p:sp>
        <p:nvSpPr>
          <p:cNvPr id="63" name="Shape 60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4" name="Shape 61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8604504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604504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</a:t>
            </a:r>
            <a:endParaRPr lang="en-US" sz="800" dirty="0"/>
          </a:p>
        </p:txBody>
      </p:sp>
      <p:sp>
        <p:nvSpPr>
          <p:cNvPr id="68" name="Shape 65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0" name="Text 67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قَارَّةٌ</a:t>
            </a:r>
            <a:endParaRPr lang="ar-SA" sz="3000" dirty="0"/>
          </a:p>
        </p:txBody>
      </p:sp>
      <p:sp>
        <p:nvSpPr>
          <p:cNvPr id="71" name="Text 68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continent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qār-ra-tun</a:t>
            </a:r>
            <a:endParaRPr lang="en-US" sz="1350" dirty="0"/>
          </a:p>
        </p:txBody>
      </p:sp>
      <p:sp>
        <p:nvSpPr>
          <p:cNvPr id="72" name="Shape 69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100126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قَارَّاتٌ</a:t>
            </a:r>
            <a:endParaRPr lang="ar-SA" sz="1500" dirty="0"/>
          </a:p>
        </p:txBody>
      </p:sp>
      <p:sp>
        <p:nvSpPr>
          <p:cNvPr id="75" name="Shape 72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77" name="Text 74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قَارَّةٌ</a:t>
            </a:r>
            <a:endParaRPr lang="ar-SA" sz="1500" dirty="0"/>
          </a:p>
        </p:txBody>
      </p:sp>
      <p:sp>
        <p:nvSpPr>
          <p:cNvPr id="78" name="Shape 75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9" name="Shape 76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81" name="Shape 78"/>
          <p:cNvSpPr/>
          <p:nvPr/>
        </p:nvSpPr>
        <p:spPr>
          <a:xfrm>
            <a:off x="4782312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782312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</a:t>
            </a:r>
            <a:endParaRPr lang="en-US" sz="800" dirty="0"/>
          </a:p>
        </p:txBody>
      </p:sp>
      <p:sp>
        <p:nvSpPr>
          <p:cNvPr id="83" name="Shape 80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5" name="Text 82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عَاصِمَةٌ</a:t>
            </a:r>
            <a:endParaRPr lang="ar-SA" sz="3000" dirty="0"/>
          </a:p>
        </p:txBody>
      </p:sp>
      <p:sp>
        <p:nvSpPr>
          <p:cNvPr id="86" name="Text 83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capital city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ʿā-ṣi-ma-tun</a:t>
            </a:r>
            <a:endParaRPr lang="en-US" sz="1350" dirty="0"/>
          </a:p>
        </p:txBody>
      </p:sp>
      <p:sp>
        <p:nvSpPr>
          <p:cNvPr id="87" name="Shape 84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6190488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عَوَاصِمُ</a:t>
            </a:r>
            <a:endParaRPr lang="ar-SA" sz="1500" dirty="0"/>
          </a:p>
        </p:txBody>
      </p:sp>
      <p:sp>
        <p:nvSpPr>
          <p:cNvPr id="90" name="Shape 87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92" name="Text 89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عَاصِمَةٌ</a:t>
            </a:r>
            <a:endParaRPr lang="ar-SA" sz="1500" dirty="0"/>
          </a:p>
        </p:txBody>
      </p:sp>
      <p:sp>
        <p:nvSpPr>
          <p:cNvPr id="93" name="Shape 90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4" name="Shape 91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5" name="Text 92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6" name="Shape 93"/>
          <p:cNvSpPr/>
          <p:nvPr/>
        </p:nvSpPr>
        <p:spPr>
          <a:xfrm>
            <a:off x="960120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960120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location</a:t>
            </a:r>
            <a:endParaRPr lang="en-US" sz="800" dirty="0"/>
          </a:p>
        </p:txBody>
      </p:sp>
      <p:sp>
        <p:nvSpPr>
          <p:cNvPr id="98" name="Shape 95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9" name="Text 96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0" name="Text 97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يَقَعُ · تَقَعُ</a:t>
            </a:r>
            <a:endParaRPr lang="ar-SA" sz="3000" dirty="0"/>
          </a:p>
        </p:txBody>
      </p:sp>
      <p:sp>
        <p:nvSpPr>
          <p:cNvPr id="101" name="Text 98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is located (m. · f.)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ya-qa-ʿu · ta-qa-ʿu</a:t>
            </a:r>
            <a:endParaRPr lang="en-US" sz="1350" dirty="0"/>
          </a:p>
        </p:txBody>
      </p:sp>
      <p:sp>
        <p:nvSpPr>
          <p:cNvPr id="102" name="Shape 99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104" name="Text 101"/>
          <p:cNvSpPr txBox="1"/>
          <p:nvPr/>
        </p:nvSpPr>
        <p:spPr>
          <a:xfrm>
            <a:off x="2368296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تَقَعُ مِصْرُ</a:t>
            </a:r>
            <a:endParaRPr lang="ar-SA" sz="1500" dirty="0"/>
          </a:p>
        </p:txBody>
      </p:sp>
      <p:sp>
        <p:nvSpPr>
          <p:cNvPr id="105" name="Shape 102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107" name="Text 104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يَقَعُ لُبْنَانُ</a:t>
            </a:r>
            <a:endParaRPr lang="ar-SA" sz="1500" dirty="0"/>
          </a:p>
        </p:txBody>
      </p:sp>
      <p:sp>
        <p:nvSpPr>
          <p:cNvPr id="108" name="Text 10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NATIONALITIES (M. · F. · PL.)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Where are you from?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مِنْ أَيْنَ أَنْتَ؟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nisba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مِصْرِيٌّ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Egyptian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miṣ-riy-yun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مِصْرِيُّونَ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مِصْرِيَّةٌ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مِصْرِيٌّ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nisba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مَغْرِبِيٌّ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Moroccan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magh-ri-biy-yun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مَغَارِبَةٌ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مَغْرِبِيَّةٌ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مَغْرِبِيٌّ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nisba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سُعُودِيٌّ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Saudi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su-ʿū-diy-yun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289864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295351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294436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سُعُودِيُّونَ</a:t>
            </a:r>
            <a:endParaRPr lang="ar-SA" sz="1500" dirty="0"/>
          </a:p>
        </p:txBody>
      </p:sp>
      <p:sp>
        <p:nvSpPr>
          <p:cNvPr id="63" name="Shape 60"/>
          <p:cNvSpPr/>
          <p:nvPr/>
        </p:nvSpPr>
        <p:spPr>
          <a:xfrm>
            <a:off x="174650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180136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179222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سُعُودِيَّةٌ</a:t>
            </a:r>
            <a:endParaRPr lang="ar-SA" sz="1500" dirty="0"/>
          </a:p>
        </p:txBody>
      </p:sp>
      <p:sp>
        <p:nvSpPr>
          <p:cNvPr id="66" name="Shape 63"/>
          <p:cNvSpPr/>
          <p:nvPr/>
        </p:nvSpPr>
        <p:spPr>
          <a:xfrm>
            <a:off x="59436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64922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64008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سُعُودِيٌّ</a:t>
            </a:r>
            <a:endParaRPr lang="ar-SA" sz="1500" dirty="0"/>
          </a:p>
        </p:txBody>
      </p:sp>
      <p:sp>
        <p:nvSpPr>
          <p:cNvPr id="69" name="Shape 66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8604504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604504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location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6" name="Text 73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عَلَى حُدُودِ …</a:t>
            </a:r>
            <a:endParaRPr lang="ar-SA" sz="3000" dirty="0"/>
          </a:p>
        </p:txBody>
      </p:sp>
      <p:sp>
        <p:nvSpPr>
          <p:cNvPr id="77" name="Text 74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on the border of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ʿa-lā ḥu-dū-di …</a:t>
            </a:r>
            <a:endParaRPr lang="en-US" sz="1350" dirty="0"/>
          </a:p>
        </p:txBody>
      </p:sp>
      <p:sp>
        <p:nvSpPr>
          <p:cNvPr id="78" name="Shape 75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near</a:t>
            </a:r>
            <a:endParaRPr lang="en-US" sz="700" dirty="0"/>
          </a:p>
        </p:txBody>
      </p:sp>
      <p:sp>
        <p:nvSpPr>
          <p:cNvPr id="80" name="Text 77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قَرِيبٌ مِنْ</a:t>
            </a:r>
            <a:endParaRPr lang="ar-SA" sz="1350" dirty="0"/>
          </a:p>
        </p:txBody>
      </p:sp>
      <p:sp>
        <p:nvSpPr>
          <p:cNvPr id="81" name="Shape 78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between</a:t>
            </a:r>
            <a:endParaRPr lang="en-US" sz="700" dirty="0"/>
          </a:p>
        </p:txBody>
      </p:sp>
      <p:sp>
        <p:nvSpPr>
          <p:cNvPr id="83" name="Text 80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بَيْنَ … وَ…</a:t>
            </a:r>
            <a:endParaRPr lang="ar-SA" sz="1350" dirty="0"/>
          </a:p>
        </p:txBody>
      </p:sp>
      <p:sp>
        <p:nvSpPr>
          <p:cNvPr id="84" name="Shape 81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5" name="Shape 82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87" name="Shape 84"/>
          <p:cNvSpPr/>
          <p:nvPr/>
        </p:nvSpPr>
        <p:spPr>
          <a:xfrm>
            <a:off x="4782312" y="4279392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782312" y="4279392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comparison</a:t>
            </a:r>
            <a:endParaRPr lang="en-US" sz="800" dirty="0"/>
          </a:p>
        </p:txBody>
      </p:sp>
      <p:sp>
        <p:nvSpPr>
          <p:cNvPr id="89" name="Shape 86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1" name="Text 88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أَكْبَرُ مِنْ · أَصْغَرُ مِنْ</a:t>
            </a:r>
            <a:endParaRPr lang="ar-SA" sz="3000" dirty="0"/>
          </a:p>
        </p:txBody>
      </p:sp>
      <p:sp>
        <p:nvSpPr>
          <p:cNvPr id="92" name="Text 89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bigger than · smaller than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ak-ba-ru min · aṣ-gha-ru min</a:t>
            </a:r>
            <a:endParaRPr lang="en-US" sz="1350" dirty="0"/>
          </a:p>
        </p:txBody>
      </p:sp>
      <p:sp>
        <p:nvSpPr>
          <p:cNvPr id="93" name="Shape 90"/>
          <p:cNvSpPr/>
          <p:nvPr/>
        </p:nvSpPr>
        <p:spPr>
          <a:xfrm>
            <a:off x="4416552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4471416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biggest</a:t>
            </a:r>
            <a:endParaRPr lang="en-US" sz="700" dirty="0"/>
          </a:p>
        </p:txBody>
      </p:sp>
      <p:sp>
        <p:nvSpPr>
          <p:cNvPr id="95" name="Text 92"/>
          <p:cNvSpPr txBox="1"/>
          <p:nvPr/>
        </p:nvSpPr>
        <p:spPr>
          <a:xfrm>
            <a:off x="4462272" y="5916168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أَكْبَرُ بَلَدٍ</a:t>
            </a:r>
            <a:endParaRPr lang="ar-SA" sz="1350" dirty="0"/>
          </a:p>
        </p:txBody>
      </p:sp>
      <p:sp>
        <p:nvSpPr>
          <p:cNvPr id="96" name="Shape 93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7" name="Shape 94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8" name="Text 95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960120" y="4279392"/>
            <a:ext cx="164226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960120" y="4279392"/>
            <a:ext cx="16422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number of · its people</a:t>
            </a:r>
            <a:endParaRPr lang="en-US" sz="800" dirty="0"/>
          </a:p>
        </p:txBody>
      </p:sp>
      <p:sp>
        <p:nvSpPr>
          <p:cNvPr id="101" name="Shape 98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2" name="Text 99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3" name="Text 100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سُكَّانٌ</a:t>
            </a:r>
            <a:endParaRPr lang="ar-SA" sz="3000" dirty="0"/>
          </a:p>
        </p:txBody>
      </p:sp>
      <p:sp>
        <p:nvSpPr>
          <p:cNvPr id="104" name="Text 101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inhabitants, population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suk-kā-nun</a:t>
            </a:r>
            <a:endParaRPr lang="en-US" sz="1350" dirty="0"/>
          </a:p>
        </p:txBody>
      </p:sp>
      <p:sp>
        <p:nvSpPr>
          <p:cNvPr id="105" name="Shape 102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its people</a:t>
            </a:r>
            <a:endParaRPr lang="en-US" sz="700" dirty="0"/>
          </a:p>
        </p:txBody>
      </p:sp>
      <p:sp>
        <p:nvSpPr>
          <p:cNvPr id="107" name="Text 104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سُكَّانُهَا</a:t>
            </a:r>
            <a:endParaRPr lang="ar-SA" sz="1350" dirty="0"/>
          </a:p>
        </p:txBody>
      </p:sp>
      <p:sp>
        <p:nvSpPr>
          <p:cNvPr id="108" name="Shape 105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9" name="Text 106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number of</a:t>
            </a:r>
            <a:endParaRPr lang="en-US" sz="700" dirty="0"/>
          </a:p>
        </p:txBody>
      </p:sp>
      <p:sp>
        <p:nvSpPr>
          <p:cNvPr id="110" name="Text 107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عَدَدُ السُّكَّانِ</a:t>
            </a:r>
            <a:endParaRPr lang="ar-SA" sz="1350" dirty="0"/>
          </a:p>
        </p:txBody>
      </p:sp>
      <p:sp>
        <p:nvSpPr>
          <p:cNvPr id="111" name="Text 108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AN INTERNATIONAL CAMP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Meeting at an international youth camp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المُخَيَّمِ الدَّوْلِيِّ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أَنَا مِنْ … أَنَا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where you are from.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أَهْلًا! مِنْ أَيْنَ أَنْتَ؟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أَسْكُنُ فِي … فِي شَمَالِ / جَنُوبِ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your city and where it is.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وَأَيْنَ تَسْكُنُ بِالضَّبْطِ؟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زُرْتُ … وَهِيَ تَقَعُ فِي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which and where it is.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زُرْتَ بَلَدًا عَرَبِيًّا؟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أَهْلًا! أَنْتِ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Greet her and say her nationality.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هٰذِهِ صَدِيقَتُكَ الجَدِيدَةُ مِنْ تُونِسَ.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عَاصِمَةُ … هِيَ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عَاصِمَةُ بَلَدِكَ؟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camper  ·  The examiner is: a camp leader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 TRAVEL AGENT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Where shall we go?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وَكَالَةِ السَّفَرِ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أُسَافِرَ إِلَى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Choose an Arab country.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إِلَى أَيِّ بَلَدٍ تُرِيدُ أَنْ تُسَافِرَ؟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 … فِيهِ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reason.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الأُرْدُنُّ؟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تَبْعُدُ … عَنْ …؟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how far Petra is from the capital.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البَتْرَاءُ فِي الجَنُوبِ، وَالبَحْرُ المَيِّتُ فِي الغَرْبِ.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أَقْرَبُ مِنْ … إِذَنْ …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with another place and decide.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ثَلَاثَ سَاعَاتٍ بِالسَّيَّارَةِ جَنُوبًا.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الشَّمَالِ … وَفِي الشَّرْقِ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البُلْدَانُ المُجَاوِرَةُ لِلْأُرْدُنِّ؟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customer  ·  The examiner is: the travel agent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GEOGRAPHY PROJECT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Presenting an Arab country</a:t>
            </a:r>
            <a:endParaRPr lang="en-US" sz="23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مَشْرُوعُ الجُغْرَافْيَا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اخْتَرْتُ … 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the country and give a reason.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أَيَّ بَلَدٍ اخْتَرْتَ؟ وَلِمَاذَا؟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يَقَعُ فِي … عَلَى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Locate it with two details.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يَقَعُ بِالضَّبْطِ؟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أَكْبَرُ مِنْ … لٰكِنَّ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size, people or weather.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قَارِنْهُ بِبِرِيطَانِيَا.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يَتَكَلَّمُ المَغَارِبَةُ … وَ…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with a plural nationality.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اللُّغَاتُ الَّتِي يَتَكَلَّمُهَا المَغَارِبَةُ؟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زُرْتُ … وَرَأَيْتُ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(past).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زُرْتَهُ؟ وَمَاذَا رَأَيْتَ؟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presenting  ·  The examiner is: your teacher asking questions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GLOBAL-CITIZENSHIP PANEL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Why learn about other countries?</a:t>
            </a:r>
            <a:endParaRPr lang="en-US" sz="20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لِمَاذَا نَتَعَرَّفُ عَلَى البُلْدَانِ؟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 … وَلِأَنَّ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two reasons.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يَجِبُ أَنْ يَتَعَلَّمَ الطُّلَّابُ عَنْ بُلْدَانٍ أُخْرَى؟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… أَمَّا اليَوْمَ فَنَرَى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past and present.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كَانَ النَّاسُ يَعْرِفُونَ العَالَمَ فِي المَاضِي؟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give your view.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يَكْفِي الإِنْتَرْنِتُ لِنَعْرِفَ البُلْدَانَ؟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عِنْدَمَا … اكْتَشَفْتُ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Tell a short past story.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أَعْطِنَا مِثَالًا مِنْ تَجْرِبَتِكَ.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لَوِ اسْتَطَعْتُ، لَعِشْتُ فِي …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لَوِ اسْتَطَعْتَ أَنْ تَعِيشَ فِي أَيِّ بَلَدٍ، أَيْنَ تَعِيشُ؟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young panellist  ·  The examiner is: the panel chair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said where places are with a compass point and gave nationalities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the right gender (yaqaʿu / taqaʿu, -iyy / -iyya) and compared two places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أَنَا مِنْ بِرِيطَانِيَا، أَنَا بِرِيطَانِيٌّ.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am from Britain; I am British.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أَهْلًا! مِنْ أَيْنَ أَنْتَ؟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أَسْكُنُ فِي مَانْشِسْتَرَ، فِي شَمَالِ غَرْبِ إِنْجِلْتِرَا.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live in Manchester, in the north-west of England.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وَأَيْنَ تَسْكُنُ بِالضَّبْطِ؟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زُرْتُ مِصْرَ، وَهِيَ تَقَعُ فِي شَمَالِ شَرْقِ إِفْرِيقْيَا.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visited Egypt; it is in north-east Africa.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زُرْتَ بَلَدًا عَرَبِيًّا؟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 وَسَهْلًا! إِذَنْ أَنْتِ تُونِسِيَّةٌ.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Welcome! So you are Tunisian.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هٰذِهِ صَدِيقَتُكَ الجَدِيدَةُ مِنْ تُونِسَ.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عَاصِمَةُ بِرِيطَانِيَا هِيَ لَنْدَنُ، وَهِيَ فِي جَنُوبِ شَرْقِ إِنْجِلْتِرَا.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capital of Britain is London, in the south-east of England.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عَاصِمَةُ بَلَدِكَ؟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أُسَافِرَ إِلَى الأُرْدُنِّ.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travel to Jordan.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إِلَى أَيِّ بَلَدٍ تُرِيدُ أَنْ تُسَافِرَ؟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 فِيهِ البَتْرَاءَ وَالبَحْرَ المَيِّتَ، وَأُحِبُّ التَّارِيخَ.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it has Petra and the Dead Sea, and I love history.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الأُرْدُنُّ؟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تَبْعُدُ البَتْرَاءُ عَنْ عَمَّانَ؟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far is Petra from Amman?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البَتْرَاءُ فِي الجَنُوبِ، وَالبَحْرُ المَيِّتُ فِي الغَرْبِ.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البَحْرُ المَيِّتُ أَقْرَبُ مِنَ البَتْرَاءِ، إِذَنْ سَنَزُورُهُ أَوَّلًا.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Dead Sea is closer than Petra, so we will visit it first.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ثَلَاثَ سَاعَاتٍ بِالسَّيَّارَةِ جَنُوبًا.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الشَّمَالِ سُورِيَا، وَفِي الشَّرْقِ العِرَاقُ، وَفِي الجَنُوبِ السُّعُودِيَّةُ.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 the north Syria, to the east Iraq and to the south Saudi Arabia.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البُلْدَانُ المُجَاوِرَةُ لِلْأُرْدُنِّ؟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اخْتَرْتُ المَغْرِبَ، لِأَنَّ جَدَّتِي مَغْرِبِيَّةٌ، وَلِأَنَّهُ بَلَدٌ مُتَنَوِّعٌ جِدًّا.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chose Morocco, because my grandmother is Moroccan and it is a very diverse country.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أَيَّ بَلَدٍ اخْتَرْتَ؟ وَلِمَاذَا؟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يَقَعُ فِي شَمَالِ غَرْبِ إِفْرِيقْيَا، عَلَى البَحْرِ الأَبْيَضِ المُتَوَسِّطِ وَالمُحِيطِ الأَطْلَسِيِّ.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in north-west Africa, on the Mediterranean and the Atlantic Ocean.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يَقَعُ بِالضَّبْطِ؟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المَغْرِبُ أَكْبَرُ مِنْ بِرِيطَانِيَا، لٰكِنَّ عَدَدَ سُكَّانِهِ أَقَلُّ، وَجَوُّهُ أَدْفَأُ بِكَثِيرٍ.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Morocco is bigger than Britain, but has fewer people, and its weather is much warmer.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قَارِنْهُ بِبِرِيطَانِيَا.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يَتَكَلَّمُ المَغَارِبَةُ العَرَبِيَّةَ وَالأَمَازِيغِيَّةَ، وَكَثِيرٌ مِنْهُمْ يَتَكَلَّمُ الفَرَنْسِيَّةَ أَيْضًا.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Moroccans speak Arabic and Amazigh, and many also speak French.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اللُّغَاتُ الَّتِي يَتَكَلَّمُهَا المَغَارِبَةُ؟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زُرْتُ مَدِينَةَ فَاسَ فِي الصَّيْفِ، وَرَأَيْتُ أَقْدَمَ جَامِعَةٍ فِي العَالَمِ.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visited Fez in the summer and saw the oldest university in the world.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زُرْتَهُ؟ وَمَاذَا رَأَيْتَ؟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 العَالَمَ أَصْبَحَ قَرْيَةً صَغِيرَةً، وَلِأَنَّ فِي صَفِّنَا طُلَّابًا مِنْ أَكْثَرَ مِنْ عِشْرِينَ بَلَدًا.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the world has become a small village, and because our class has students from over twenty countries.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يَجِبُ أَنْ يَتَعَلَّمَ الطُّلَّابُ عَنْ بُلْدَانٍ أُخْرَى؟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أَغْلَبُ النَّاسِ لَا يُسَافِرُونَ أَبْعَدَ مِنْ قُرَاهُمْ، أَمَّا اليَوْمَ فَنَرَى العَالَمَ كُلَّهُ عَلَى شَاشَةِ الهَاتِفِ.</a:t>
            </a:r>
            <a:endParaRPr lang="ar-SA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Most people used not to travel beyond their village; today we see the whole world on a phone screen.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كَانَ النَّاسُ يَعْرِفُونَ العَالَمَ فِي المَاضِي؟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أَنَّهُ يُعْطِينَا مَعْلُومَاتٍ كَثِيرَةً، غَيْرَ أَنَّ السَّفَرَ وَالحَدِيثَ مَعَ النَّاسِ يُعَلِّمَانِنَا أَكْثَرَ.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it gives us lots of information, but travel and talking to people teach us more.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يَكْفِي الإِنْتَرْنِتُ لِنَعْرِفَ البُلْدَانَ؟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عِنْدَمَا زُرْتُ صَدِيقِي العُمَانِيَّ، اكْتَشَفْتُ أَنَّ عُمَانَ فِيهَا جِبَالٌ خَضْرَاءُ، لَا صَحْرَاءُ فَقَطْ كَمَا كُنْتُ أَظُنُّ.</a:t>
            </a:r>
            <a:endParaRPr lang="ar-SA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I visited my Omani friend, I discovered Oman has green mountains, not only desert as I used to think.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أَعْطِنَا مِثَالًا مِنْ تَجْرِبَتِكَ.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لَوِ اسْتَطَعْتُ، لَعِشْتُ فِي تُونِسَ، لِأَنَّهَا تَجْمَعُ بَيْنَ البَحْرِ وَالصَّحْرَاءِ وَالتَّارِيخِ.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could, I would live in Tunisia, because it combines sea, desert and history.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لَوِ اسْتَطَعْتَ أَنْ تَعِيشَ فِي أَيِّ بَلَدٍ، أَيْنَ تَعِيشُ؟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reasons, past vs present, a concession, a discovery story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بَلَدِي وَالعَالَمُ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أَنَا مِنْ … أَنَا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are you from?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أَيْنَ أَنْتَ؟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تَقَعُ فِي … مِنْ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is your town?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تَقَعُ مَدِينَتُكَ؟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أُحِبُّ … لِأَنَّ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Arab country do you like?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البَلَدُ العَرَبِيُّ الَّذِي تُحِبُّهُ؟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عَاصِمَةُ مِصْرَ هِيَ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the capital of Egypt?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عَاصِمَةُ مِصْرَ؟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عِنْدِي صَدِيقٌ … وَصَدِيقَةٌ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have friends from other countries?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عِنْدَكَ أَصْدِقَاءُ مِنْ بُلْدَانٍ أُخْرَى؟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الأَمَاكِنُ وَالنَّاسُ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أَكْبَرُ مِنْ … لٰكِنَّ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two cities you know.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قَارِنْ بَيْنَ مَدِينَتَيْنِ تَعْرِفُهُمَا.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سَافَرْتُ إِلَى … فِي … وَهُوَ / هِيَ تَقَعُ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trip to another country.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رِحْلَةً إِلَى بَلَدٍ آخَرَ.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أَزُورَ … لِأَنَّ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country do you want to visit, and why?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البَلَدُ الَّذِي تُرِيدُ أَنْ تَزُورَهُ؟ وَلِمَاذَا؟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لِأَنَّ … مَثَلًا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it important to know geography?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مِنَ المُهِمِّ أَنْ نَعْرِفَ الجُغْرَافْيَا؟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أَصْلُ عَائِلَتِي مِنْ … فِي شَمَالِ / جَنُوبِ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is your family from? Describe that place.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أَيْنَ أَصْلُ عَائِلَتِكَ؟ صِفْ ذٰلِكَ المَكَانَ.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location, comparison, a reason, an example and a past trip.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العَالَمُ قَرْيَةٌ صَغِيرَةٌ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إِلَى حَدٍّ كَبِيرٍ، لِأَنَّ … غَيْرَ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Has the world become a “small village”?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أَصْبَحَ العَالَمُ «قَرْيَةً صَغِيرَةً»؟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تَجْمَعُهَا … وَ… رَغْمَ 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unites the Arab countries?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الَّذِي يَجْمَعُ البُلْدَانَ العَرَبِيَّةَ فِي رَأْيِكَ؟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المُسَافِرُونَ … أَمَّا اليَوْمَ فَيُخْبِرُنَا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have maps and ways of finding places changed?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تَغَيَّرَتِ الخَرَائِطُ وَطُرُقُ مَعْرِفَةِ الأَمَاكِنِ؟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Does nationality define a person’s identity?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الجِنْسِيَّةُ تُحَدِّدُ هُوِيَّةَ الإِنْسَانِ؟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رَسَمْتُ …، لَوَضَعْتُ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drew a map of your life, which places would you put on it?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رَسَمْتَ خَرِيطَةً لِحَيَاتِكَ، مَا الأَمَاكِنُ الَّتِي تَضَعُهَا؟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ghayra anna, raghma anna, kāna + present vs ammā … fa-, a concession and law … la- with a relative clause.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أَنَا مِنْ لَنْدَنَ، وَأَصْلِي مِنَ العِرَاقِ.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am from London, and my family is from Iraq.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أَيْنَ أَنْتَ؟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تَقَعُ مَدِينَتِي فِي جَنُوبِ إِنْجِلْتِرَا، قَرِيبَةً مِنَ البَحْرِ.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town is in the south of England, near the sea.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تَقَعُ مَدِينَتُكَ؟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أُحِبُّ لُبْنَانَ، لِأَنَّ طَبِيعَتَهُ جَمِيلَةٌ وَأَكْلَهُ لَذِيذٌ.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like Lebanon, because its nature is beautiful and its food is tasty.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البَلَدُ العَرَبِيُّ الَّذِي تُحِبُّهُ؟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عَاصِمَةُ مِصْرَ هِيَ القَاهِرَةُ، وَهِيَ عَلَى نَهْرِ النِّيلِ.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capital of Egypt is Cairo, on the Nile.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عَاصِمَةُ مِصْرَ؟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عِنْدِي صَدِيقٌ سُورِيٌّ، وَصَدِيقَةٌ بَاكِسْتَانِيَّةٌ.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have a Syrian friend (m.) and a Pakistani friend (f.).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عِنْدَكَ أَصْدِقَاءُ مِنْ بُلْدَانٍ أُخْرَى؟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 compass point or a nisba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لَنْدَنُ أَكْبَرُ مِنْ مَانْشِسْتَرَ وَأَغْلَى، لٰكِنَّ مَانْشِسْتَرَ أَهْدَأُ وَأَهْلَهَا أَكْثَرُ لُطْفًا.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London is bigger and dearer than Manchester, but Manchester is calmer and its people friendlier.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قَارِنْ بَيْنَ مَدِينَتَيْنِ تَعْرِفُهُمَا.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سَافَرْتُ إِلَى تُرْكِيَا فِي الصَّيْفِ، وَهِيَ تَقَعُ بَيْنَ أُورُوبَّا وَآسْيَا، وَزُرْتُ إِسْطَنْبُولَ.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travelled to Turkey in the summer; it lies between Europe and Asia, and I visited Istanbul.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رِحْلَةً إِلَى بَلَدٍ آخَرَ.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أَزُورَ اليَابَانَ، لِأَنَّ ثَقَافَتَهَا مُخْتَلِفَةٌ، وَأُحِبُّ أَكْلَهَا.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visit Japan, because its culture is different and I love its food.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البَلَدُ الَّذِي تُرِيدُ أَنْ تَزُورَهُ؟ وَلِمَاذَا؟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لِأَنَّهَا تُسَاعِدُنَا عَلَى فَهْمِ الأَخْبَارِ؛ مَثَلًا لَا نَفْهَمُ مُشْكِلَةَ المَاءِ فِي الشَّرْقِ الأَوْسَطِ بِدُونِ خَرِيطَةٍ.</a:t>
            </a:r>
            <a:endParaRPr lang="ar-SA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because it helps us understand the news — we can’t understand the Middle East water problem without a map.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مِنَ المُهِمِّ أَنْ نَعْرِفَ الجُغْرَافْيَا؟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أَصْلُ عَائِلَتِي مِنْ قَرْيَةٍ فِي جَنُوبِ لُبْنَانَ، قَرِيبَةٍ مِنَ البَحْرِ، وَفِيهَا أَشْجَارُ زَيْتُونٍ كَثِيرَةٌ.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family is from a village in south Lebanon, near the sea, with many olive trees.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أَيْنَ أَصْلُ عَائِلَتِكَ؟ صِفْ ذٰلِكَ المَكَانَ.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Location + comparison + reason + a past detail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إِلَى حَدٍّ كَبِيرٍ، لِأَنَّنَا نَتَوَاصَلُ مَعَ أَيِّ بَلَدٍ فِي ثَوَانٍ، غَيْرَ أَنَّ الفُرُوقَ بَيْنَ الأَغْنِيَاءِ وَالفُقَرَاءِ مَا زَالَتْ كَبِيرَةً.</a:t>
            </a:r>
            <a:endParaRPr lang="ar-SA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Largely, because we can reach any country in seconds — but the gaps between rich and poor are still large.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أَصْبَحَ العَالَمُ «قَرْيَةً صَغِيرَةً»؟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تَجْمَعُهَا اللُّغَةُ وَالتَّارِيخُ وَكَثِيرٌ مِنَ العَادَاتِ، رَغْمَ أَنَّ لِكُلِّ بَلَدٍ لَهْجَتَهُ وَأَكْلَهُ وَمَلَابِسَهُ.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Language, history and many customs unite them, although each country has its own dialect, food and dress.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الَّذِي يَجْمَعُ البُلْدَانَ العَرَبِيَّةَ فِي رَأْيِكَ؟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المُسَافِرُونَ يَعْتَمِدُونَ عَلَى النُّجُومِ وَالخَرَائِطِ الوَرَقِيَّةِ، أَمَّا اليَوْمَ فَيُخْبِرُنَا الهَاتِفُ بِكُلِّ مُنْعَطَفٍ.</a:t>
            </a:r>
            <a:endParaRPr lang="ar-SA" sz="165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Travellers used to rely on the stars and paper maps; today the phone tells us every turn.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تَغَيَّرَتِ الخَرَائِطُ وَطُرُقُ مَعْرِفَةِ الأَمَاكِنِ؟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concessions (ghayra anna · raghma anna), past vs present, identity,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الجِنْسِيَّةَ جُزْءٌ مِنْ هُوِيَّتِنَا، غَيْرَ أَنَّ كَثِيرًا مِنَّا يَحْمِلُ أَكْثَرَ مِنْ ثَقَافَةٍ، فَأَنَا بِرِيطَانِيٌّ وَعِرَاقِيٌّ مَعًا.</a:t>
            </a:r>
            <a:endParaRPr lang="ar-SA" sz="15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nationality is part of our identity, but many of us carry more than one culture — I am British and Iraqi at once.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الجِنْسِيَّةُ تُحَدِّدُ هُوِيَّةَ الإِنْسَانِ؟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رَسَمْتُ خَرِيطَةً لِحَيَاتِي، لَوَضَعْتُ بَغْدَادَ فِي وَسَطِهَا، ثُمَّ لَنْدَنَ، ثُمَّ مَكَّةَ الَّتِي أَحْلُمُ بِزِيَارَتِهَا.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drew a map of my life, I would put Baghdad in the middle, then London, then Mecca, which I dream of visiting.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رَسَمْتَ خَرِيطَةً لِحَيَاتِكَ، مَا الأَمَاكِنُ الَّتِي تَضَعُهَا؟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concessions (ghayra anna · raghma anna), past vs present, identity,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located places with compass points (fī shamāli …).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nationalities with the right ending (-iyy / -iyya).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yaqaʿu / taqaʿu correctly.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compared two places with a comparative.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 concession, ammā … fa- or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TC-L01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TC-L01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TC-L01 · Speaking Workshop — Countries and Compass Points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2026-10-11T09:29:36Z</dcterms:created>
  <dcterms:modified xsi:type="dcterms:W3CDTF">2026-10-11T09:29:36Z</dcterms:modified>
</cp:coreProperties>
</file>