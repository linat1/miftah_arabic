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12192000" cy="6858000"/>
  <p:notesSz cx="6858000" cy="12192000"/>
  <p:embeddedFontLst>
    <p:embeddedFont>
      <p:font typeface="Amiri" pitchFamily="2" charset="-78"/>
      <p:regular r:id="rIdFont1"/>
      <p:bold r:id="rIdFont2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Relationship Id="rIdFont1" Type="http://schemas.openxmlformats.org/officeDocument/2006/relationships/font" Target="fonts/font1.fntdata"/><Relationship Id="rIdFont2" Type="http://schemas.openxmlformats.org/officeDocument/2006/relationships/font" Target="fonts/font2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WORKSHOP AT A GLANCE — 60 minutes on Teams, mostly in breakout rooms of three.
0–2 Welcome · 2–6 How Paper 3 works · 6–10 Language bank · 10–13 Breakout routine · 13–33 Role plays A–D in rooms (rotate roles) · 33–37 Role-play models (main room) · 37–50 Topic conversation in rooms · 50–55 Conversation models · 55–58 Feedback + self-check · 58–60 Close.
Content: teacher-made exam scenarios for Advanced Topic C, Lesson 8 (Buildings, Services and Urban Areas, TC-L08), using that lesson’s language (yūjadu / tūjadu (there is); locatives (muqābila, bi-jānibi, bayna, khalfa); comparatives (akbaru min, aktharu ḥaraka); mabnī min). Every task has Core · Develop · Stretch support and a model answer.
EXAM FORMAT: Paper 3 Speaking = a role play and a topic conversation, as in the Cambridge IGCSE Arabic 0544 speaking test. Check timings and marks against the current syllabus and the past paper you use.
BREAKOUT ROOMS: set up rooms of three before the lesson. Share the deck (or a PDF) so every room can see the cards.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WELCOME (1 min) — while students join.
• Greet each student by name as they arrive: السَّلَامُ عَلَيْكُمْ. Take the register (Pastoral Tracker: attendance 0/1).
• 2-MINUTE CHECK-IN (SEND training): a private chat to any student who seemed unsettled last lesson — “Are you okay today? 👍 / 👎”.
• Point to the four expectations — brief and positive: this is our class agreement.
• Talk code: “I will always give you thinking and practice time before I ask anyone.” Reading aloud is by invitation — a student may say “pass” and you return to them later.
• Follow-up on preparation: who learnt the five words? Quick private reminder to anyone who did not (Flipped Learning: follow up every time).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MAP (1 min) — most of the lesson happens in breakout rooms; the teacher visits each room.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TEACH (3 min). Role play = precise and complete; conversation = develop. Choral repetition of the repair phrases. To a girl: تُعِيدِي.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LANGUAGE BANK (2 min) — يُوجَدُ before a masculine noun, تُوجَدُ before a feminine noun: يُوجَدُ مُسْتَشْفًى · تُوجَدُ مَكْتَبَةٌ. Non-human plurals → تُوجَدُ مَبَانٍ عَالِيَةٌ. مَبْنًى and مُسْتَشْفًى end in alif: المَبْنَى · المُسْتَشْفَى.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LANGUAGE BANK (2 min) — locatives take the genitive: مُقَابِلَ المَسْجِدِ · بِجَانِبِ البَنْكِ · بَيْنَ المَدْرَسَةِ وَالحَدِيقَةِ. Comparatives: المَدِينَةُ أَكْثَرُ ازْدِحَامًا مِنَ القَرْيَةِ. Materials: البَيْتُ مَبْنِيٌّ مِنَ الحَجَرِ.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BREAKOUT ROUTINE (3 min, in the main room). Same-level rooms make the routes simple; mixed rooms work if the strongest student is examiner first. Post the room timer in the chat. Visit every room for about two minutes.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ROLE PLAY A (Core) — in the street.
SET-UP IN THE BREAKOUT ROOM: A = examiner (reads the left column ONLY — the questions, in order), B = candidate (sees the task column; Core may use the help column), C = observer (ticks the feedback checklist). 1 minute preparation, about 3 minutes speaking, 1 minute feedback, then rotate.
Task ! is the unexpected question: in the exam the candidate has not seen it — the examiner should read it without warning.
To a girl, the examiner uses the feminine: أُسَاعِدُكِ · تُعْجِبُكِ.
Core: muqābila / bi-jānibi + genitive, yūjadu maqhan, baʿīdun ʿan, ʿashru daqāʾiqa (3–10 + plural).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ROLE PLAY B (Core+) — a tourist office.
SET-UP IN THE BREAKOUT ROOM: A = examiner (reads the left column ONLY — the questions, in order), B = candidate (sees the task column; Core may use the help column), C = observer (ticks the feedback checklist). 1 minute preparation, about 3 minutes speaking, 1 minute feedback, then rotate.
Task ! is the unexpected question: in the exam the candidate has not seen it — the examiner should read it without warning.
To a girl, the examiner uses the feminine: تُحِبِّينَ · تَزُورِي · مَدِينَتُكِ.
Core+: aṣilu ilā, passive verbs tuftaḥu / tughlaqu, mimma (min + mā) … mabniyya, akbaru / akthar izdiḥāman min; the CANDIDATE asks (task 3).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ROLE PLAY C (Develop) — a neighbourhood survey.
SET-UP IN THE BREAKOUT ROOM: A = examiner (reads the left column ONLY — the questions, in order), B = candidate (sees the task column; Core may use the help column), C = observer (ticks the feedback checklist). 1 minute preparation, about 3 minutes speaking, 1 minute feedback, then rotate.
Task ! is the unexpected question: in the exam the candidate has not seen it — the examiner should read it without warning.
To a girl, the examiner uses the feminine: حَيَّكِ · تُفَضِّلِينَ · حَيِّكُنَّ / حَيِّكُمْ.
Develop: tūjadu + bi-jānibihā, lā yūjadu … li-dhālika, kāna hunāka vs ammā … fa-qad + passive (buniyat), comparatives with maʿa anna, a future passive (sa-tuftaḥu).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ROLE PLAY D (Stretch) — a planning debate.
SET-UP IN THE BREAKOUT ROOM: A = examiner (reads the left column ONLY — the questions, in order), B = candidate (sees the task column; Core may use the help column), C = observer (ticks the feedback checklist). 1 minute preparation, about 3 minutes speaking, 1 minute feedback, then rotate.
Task ! is the unexpected question: in the exam the candidate has not seen it — the examiner should read it without warning.
To a girl, the examiner uses the feminine: رَأْيُكِ · تَقْتَرِحِينَ · كُنْتِ.
Stretch: al-waḥīda allatī, a concession with numbers, aqtariḥu an + passive (tuṭawwara, tubnā), li-kay, ḥaythu + passive (ḥuwwilat), law … la- with mabnī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Observers keep this slide open (or copy the six points into their book). Collect one strong WWW per room afterwards.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— show AFTER the groups have performed. Groups compare: which task did we answer less fully? Read the model aloud in pairs (examiner / candidate).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— show AFTER the groups have performed. Groups compare: which task did we answer less fully? Read the model aloud in pairs (examiner / candidate).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— show AFTER the groups have performed. Groups compare: which task did we answer less fully? Read the model aloud in pairs (examiner / candidate).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— show AFTER the groups have performed. Groups compare: which task did we answer less fully? Read the model aloud in pairs (examiner / candidate).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TOPIC CONVERSATION — Core. Examiner asks the questions in order and may add “لِمَاذَا؟ / هَلْ يُمْكِنُ أَنْ تَشْرَحَ أَكْثَرَ؟” to push for more. Candidate aims for one full sentence per question.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TOPIC CONVERSATION — Develop. Examiner asks the questions in order and may add “لِمَاذَا؟ / هَلْ يُمْكِنُ أَنْ تَشْرَحَ أَكْثَرَ؟” to push for more. Candidate aims for two or three sentences, with a comparison and a past detail.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TOPIC CONVERSATION — Stretch. Examiner asks the questions in order and may add “لِمَاذَا؟ / هَلْ يُمْكِنُ أَنْ تَشْرَحَ أَكْثَرَ؟” to push for more. Candidate aims for a developed answer: opinion, balance, concession and a conditional.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ANSWERS (Core) — show after the groups have practised. Students underline one phrase to “steal” for their own answer.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ANSWERS (Develop) — show after the groups have practised. Students underline one phrase to “steal” for their own answer.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ANSWERS (Stretch) — show after the groups have practised. Students underline one phrase to “steal” for their own answer.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ANSWERS (Stretch) — show after the groups have practised. Students underline one phrase to “steal” for their own answer.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SELF-CHECK (1 min) against the website success criteria. Students tick privately, then type one WWW and one EBI in the chat (English is fine).
Teacher: one whole-class feedback point from live feedback. Pastoral: Curiosity &amp; Growth for honest reflection and a harder target next lesson.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— thank students, dismiss calmly. After the lesson: complete the Pastoral Tracker (attendance, character, self-management, curiosity; demerits only for the five listed concerns). Note any student below 2/3 on the exit ticket for a Do Now check-in next lesson.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cs typeface="Amiri" pitchFamily="2" charset="-78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cs typeface="Amiri" pitchFamily="2" charset="-78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cs typeface="Amiri" pitchFamily="2" charset="-78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cs typeface="Amiri" pitchFamily="2" charset="-78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cs typeface="Amiri" pitchFamily="2" charset="-78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cs typeface="Amiri" pitchFamily="2" charset="-78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cs typeface="Amiri" pitchFamily="2" charset="-78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cs typeface="Amiri" pitchFamily="2" charset="-78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cs typeface="Amiri" pitchFamily="2" charset="-78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cs typeface="Amiri" pitchFamily="2" charset="-78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F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863840" y="-1463040"/>
            <a:ext cx="5852160" cy="5852160"/>
          </a:xfrm>
          <a:prstGeom prst="ellipse">
            <a:avLst/>
          </a:prstGeom>
          <a:solidFill>
            <a:srgbClr val="14315C"/>
          </a:solidFill>
          <a:ln w="12700">
            <a:solidFill>
              <a:srgbClr val="14315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778240" y="-548640"/>
            <a:ext cx="4023360" cy="402336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12680" y="685800"/>
            <a:ext cx="1554480" cy="1554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457200" y="411480"/>
            <a:ext cx="502920" cy="502920"/>
          </a:xfrm>
          <a:prstGeom prst="ellipse">
            <a:avLst/>
          </a:prstGeom>
          <a:solidFill>
            <a:srgbClr val="1B3B6F"/>
          </a:solidFill>
          <a:ln w="15875">
            <a:solidFill>
              <a:srgbClr val="D4AF37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57200" y="39319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2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1078992" y="384048"/>
            <a:ext cx="5486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400" dirty="0"/>
          </a:p>
          <a:p>
            <a:pPr indent="0" marL="0">
              <a:buNone/>
            </a:pPr>
            <a:r>
              <a:rPr lang="en-US" sz="80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ARABIC DEPARTMENT · MIFTAH ARABIC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1600200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CAMBRIDGE IGCSE ARABIC 0544  ·  ADVANCED TOPIC C · EXAM PRACTICE  ·  TC-L08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457200" y="196596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9FB3D1"/>
                </a:solidFill>
                <a:latin typeface="Cambria" pitchFamily="34" charset="0"/>
                <a:cs typeface="Amiri" pitchFamily="2" charset="-78"/>
              </a:rPr>
              <a:t>TC-L08</a:t>
            </a:r>
            <a:endParaRPr lang="en-US" sz="260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2487168"/>
            <a:ext cx="8046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50" b="1" dirty="0">
                <a:solidFill>
                  <a:srgbClr val="FFFFFF"/>
                </a:solidFill>
                <a:latin typeface="Cambria" pitchFamily="34" charset="0"/>
                <a:cs typeface="Amiri" pitchFamily="2" charset="-78"/>
              </a:rPr>
              <a:t>Speaking Workshop — Buildings, Services and Urban Areas</a:t>
            </a:r>
            <a:endParaRPr lang="en-US" sz="2650" dirty="0"/>
          </a:p>
        </p:txBody>
      </p:sp>
      <p:sp>
        <p:nvSpPr>
          <p:cNvPr id="11" name="Text 8"/>
          <p:cNvSpPr txBox="1"/>
          <p:nvPr/>
        </p:nvSpPr>
        <p:spPr>
          <a:xfrm>
            <a:off x="457200" y="3310128"/>
            <a:ext cx="8046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ar-SA" altLang="en-US" sz="36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وَرْشَةُ التَّحَدُّثِ — المَدِينَةُ وَخِدْمَاتُهَا</a:t>
            </a:r>
            <a:endParaRPr lang="ar-SA" sz="3600" dirty="0"/>
          </a:p>
        </p:txBody>
      </p:sp>
      <p:sp>
        <p:nvSpPr>
          <p:cNvPr id="12" name="Text 9"/>
          <p:cNvSpPr txBox="1"/>
          <p:nvPr/>
        </p:nvSpPr>
        <p:spPr>
          <a:xfrm>
            <a:off x="457200" y="4224528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C6D2E6"/>
                </a:solidFill>
                <a:latin typeface="Calibri" pitchFamily="34" charset="0"/>
                <a:cs typeface="Amiri" pitchFamily="2" charset="-78"/>
              </a:rPr>
              <a:t>Paper 3 practice in breakout rooms: describe your town and its services, give directions with locatives (</a:t>
            </a:r>
            <a:pPr algn="l" indent="0" marL="0">
              <a:buNone/>
            </a:pPr>
            <a:r>
              <a:rPr lang="ar-SA" altLang="en-US" sz="1800" dirty="0">
                <a:solidFill>
                  <a:srgbClr val="C6D2E6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مُقَابِلَ</a:t>
            </a:r>
            <a:pPr algn="l" indent="0" marL="0">
              <a:buNone/>
            </a:pPr>
            <a:r>
              <a:rPr lang="en-US" sz="1400" dirty="0">
                <a:solidFill>
                  <a:srgbClr val="C6D2E6"/>
                </a:solidFill>
                <a:latin typeface="Calibri" pitchFamily="34" charset="0"/>
                <a:cs typeface="Amiri" pitchFamily="2" charset="-78"/>
              </a:rPr>
              <a:t> · </a:t>
            </a:r>
            <a:pPr algn="l" indent="0" marL="0">
              <a:buNone/>
            </a:pPr>
            <a:r>
              <a:rPr lang="ar-SA" altLang="en-US" sz="1800" dirty="0">
                <a:solidFill>
                  <a:srgbClr val="C6D2E6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بِجَانِبِ</a:t>
            </a:r>
            <a:pPr algn="l" indent="0" marL="0">
              <a:buNone/>
            </a:pPr>
            <a:r>
              <a:rPr lang="en-US" sz="1400" dirty="0">
                <a:solidFill>
                  <a:srgbClr val="C6D2E6"/>
                </a:solidFill>
                <a:latin typeface="Calibri" pitchFamily="34" charset="0"/>
                <a:cs typeface="Amiri" pitchFamily="2" charset="-78"/>
              </a:rPr>
              <a:t> · </a:t>
            </a:r>
            <a:pPr algn="l" indent="0" marL="0">
              <a:buNone/>
            </a:pPr>
            <a:r>
              <a:rPr lang="ar-SA" altLang="en-US" sz="1800" dirty="0">
                <a:solidFill>
                  <a:srgbClr val="C6D2E6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بَيْنَ</a:t>
            </a:r>
            <a:pPr algn="l" indent="0" marL="0">
              <a:buNone/>
            </a:pPr>
            <a:r>
              <a:rPr lang="en-US" sz="1400" dirty="0">
                <a:solidFill>
                  <a:srgbClr val="C6D2E6"/>
                </a:solidFill>
                <a:latin typeface="Calibri" pitchFamily="34" charset="0"/>
                <a:cs typeface="Amiri" pitchFamily="2" charset="-78"/>
              </a:rPr>
              <a:t>), say what there is (</a:t>
            </a:r>
            <a:pPr algn="l" indent="0" marL="0">
              <a:buNone/>
            </a:pPr>
            <a:r>
              <a:rPr lang="ar-SA" altLang="en-US" sz="1800" dirty="0">
                <a:solidFill>
                  <a:srgbClr val="C6D2E6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يُوجَدُ</a:t>
            </a:r>
            <a:pPr algn="l" indent="0" marL="0">
              <a:buNone/>
            </a:pPr>
            <a:r>
              <a:rPr lang="en-US" sz="1400" dirty="0">
                <a:solidFill>
                  <a:srgbClr val="C6D2E6"/>
                </a:solidFill>
                <a:latin typeface="Calibri" pitchFamily="34" charset="0"/>
                <a:cs typeface="Amiri" pitchFamily="2" charset="-78"/>
              </a:rPr>
              <a:t> · </a:t>
            </a:r>
            <a:pPr algn="l" indent="0" marL="0">
              <a:buNone/>
            </a:pPr>
            <a:r>
              <a:rPr lang="ar-SA" altLang="en-US" sz="1800" dirty="0">
                <a:solidFill>
                  <a:srgbClr val="C6D2E6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تُوجَدُ</a:t>
            </a:r>
            <a:pPr algn="l" indent="0" marL="0">
              <a:buNone/>
            </a:pPr>
            <a:r>
              <a:rPr lang="en-US" sz="1400" dirty="0">
                <a:solidFill>
                  <a:srgbClr val="C6D2E6"/>
                </a:solidFill>
                <a:latin typeface="Calibri" pitchFamily="34" charset="0"/>
                <a:cs typeface="Amiri" pitchFamily="2" charset="-78"/>
              </a:rPr>
              <a:t>), compare town and village, and say what buildings are made of (</a:t>
            </a:r>
            <a:pPr algn="l" indent="0" marL="0">
              <a:buNone/>
            </a:pPr>
            <a:r>
              <a:rPr lang="ar-SA" altLang="en-US" sz="1800" dirty="0">
                <a:solidFill>
                  <a:srgbClr val="C6D2E6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مَبْنِيٌّ مِنْ</a:t>
            </a:r>
            <a:pPr algn="l" indent="0" marL="0">
              <a:buNone/>
            </a:pPr>
            <a:r>
              <a:rPr lang="en-US" sz="1400" dirty="0">
                <a:solidFill>
                  <a:srgbClr val="C6D2E6"/>
                </a:solidFill>
                <a:latin typeface="Calibri" pitchFamily="34" charset="0"/>
                <a:cs typeface="Amiri" pitchFamily="2" charset="-78"/>
              </a:rPr>
              <a:t>).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457200" y="5166360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16335F"/>
          </a:solidFill>
          <a:ln w="12700">
            <a:solidFill>
              <a:srgbClr val="2A4B7C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21792" y="521208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LESSON</a:t>
            </a:r>
            <a:endParaRPr lang="en-US" sz="85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TC-L08 · Advanced Topic C · The World Around Us · exam practice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3273552" y="5166360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16335F"/>
          </a:solidFill>
          <a:ln w="12700">
            <a:solidFill>
              <a:srgbClr val="2A4B7C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3438144" y="521208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DURATION</a:t>
            </a:r>
            <a:endParaRPr lang="en-US" sz="85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60 minutes · Teams</a:t>
            </a:r>
            <a:endParaRPr lang="en-US" sz="850" dirty="0"/>
          </a:p>
        </p:txBody>
      </p:sp>
      <p:sp>
        <p:nvSpPr>
          <p:cNvPr id="17" name="Shape 14"/>
          <p:cNvSpPr/>
          <p:nvPr/>
        </p:nvSpPr>
        <p:spPr>
          <a:xfrm>
            <a:off x="6089904" y="5166360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16335F"/>
          </a:solidFill>
          <a:ln w="12700">
            <a:solidFill>
              <a:srgbClr val="2A4B7C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254496" y="521208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LEVEL</a:t>
            </a:r>
            <a:endParaRPr lang="en-US" sz="85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Topic C · A1+ → B1</a:t>
            </a:r>
            <a:endParaRPr lang="en-US" sz="850" dirty="0"/>
          </a:p>
        </p:txBody>
      </p:sp>
      <p:sp>
        <p:nvSpPr>
          <p:cNvPr id="19" name="Shape 16"/>
          <p:cNvSpPr/>
          <p:nvPr/>
        </p:nvSpPr>
        <p:spPr>
          <a:xfrm>
            <a:off x="8906256" y="5166360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16335F"/>
          </a:solidFill>
          <a:ln w="12700">
            <a:solidFill>
              <a:srgbClr val="2A4B7C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9070848" y="521208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ON THE WEBSITE</a:t>
            </a:r>
            <a:endParaRPr lang="en-US" sz="85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Advanced Topics › Topic C › TC-L08</a:t>
            </a:r>
            <a:endParaRPr lang="en-US" sz="8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TC-L08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19188" y="274320"/>
            <a:ext cx="1540764" cy="329184"/>
          </a:xfrm>
          <a:prstGeom prst="roundRect">
            <a:avLst>
              <a:gd name="adj" fmla="val 50000"/>
            </a:avLst>
          </a:prstGeom>
          <a:solidFill>
            <a:srgbClr val="5A6472"/>
          </a:solidFill>
          <a:ln w="12700">
            <a:solidFill>
              <a:srgbClr val="5A647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19188" y="274320"/>
            <a:ext cx="15407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WELCOME · 1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BEFORE WE BEGIN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Our online classroom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آدَابُ الصَّفِّ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C · Speaking workshop · TC-L08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28800"/>
            <a:ext cx="5394960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640080" y="2002536"/>
            <a:ext cx="585216" cy="585216"/>
          </a:xfrm>
          <a:prstGeom prst="ellipse">
            <a:avLst/>
          </a:prstGeom>
          <a:solidFill>
            <a:srgbClr val="EEF3FA"/>
          </a:solidFill>
          <a:ln w="12700">
            <a:solidFill>
              <a:srgbClr val="EEF3FA"/>
            </a:solidFill>
            <a:prstDash val="solid"/>
          </a:ln>
        </p:spPr>
      </p:sp>
      <p:pic>
        <p:nvPicPr>
          <p:cNvPr id="1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2139696"/>
            <a:ext cx="310896" cy="310896"/>
          </a:xfrm>
          <a:prstGeom prst="rect">
            <a:avLst/>
          </a:prstGeom>
        </p:spPr>
      </p:pic>
      <p:sp>
        <p:nvSpPr>
          <p:cNvPr id="18" name="Text 14"/>
          <p:cNvSpPr txBox="1"/>
          <p:nvPr/>
        </p:nvSpPr>
        <p:spPr>
          <a:xfrm>
            <a:off x="1371600" y="1901952"/>
            <a:ext cx="43891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Camera on</a:t>
            </a:r>
            <a:endParaRPr lang="en-US" sz="1500" dirty="0"/>
          </a:p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So I can see you learning and help you quickly.</a:t>
            </a:r>
            <a:endParaRPr lang="en-US" sz="1500" dirty="0"/>
          </a:p>
        </p:txBody>
      </p:sp>
      <p:sp>
        <p:nvSpPr>
          <p:cNvPr id="19" name="Shape 15"/>
          <p:cNvSpPr/>
          <p:nvPr/>
        </p:nvSpPr>
        <p:spPr>
          <a:xfrm>
            <a:off x="457200" y="2907792"/>
            <a:ext cx="5394960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0" name="Shape 16"/>
          <p:cNvSpPr/>
          <p:nvPr/>
        </p:nvSpPr>
        <p:spPr>
          <a:xfrm>
            <a:off x="640080" y="3081528"/>
            <a:ext cx="585216" cy="585216"/>
          </a:xfrm>
          <a:prstGeom prst="ellipse">
            <a:avLst/>
          </a:prstGeom>
          <a:solidFill>
            <a:srgbClr val="EEF3FA"/>
          </a:solidFill>
          <a:ln w="12700">
            <a:solidFill>
              <a:srgbClr val="EEF3FA"/>
            </a:solidFill>
            <a:prstDash val="solid"/>
          </a:ln>
        </p:spPr>
      </p:sp>
      <p:pic>
        <p:nvPicPr>
          <p:cNvPr id="2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3218688"/>
            <a:ext cx="310896" cy="310896"/>
          </a:xfrm>
          <a:prstGeom prst="rect">
            <a:avLst/>
          </a:prstGeom>
        </p:spPr>
      </p:pic>
      <p:sp>
        <p:nvSpPr>
          <p:cNvPr id="22" name="Text 17"/>
          <p:cNvSpPr txBox="1"/>
          <p:nvPr/>
        </p:nvSpPr>
        <p:spPr>
          <a:xfrm>
            <a:off x="1371600" y="2980944"/>
            <a:ext cx="43891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Mic muted</a:t>
            </a:r>
            <a:endParaRPr lang="en-US" sz="1500" dirty="0"/>
          </a:p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Unmute only when invited to speak.</a:t>
            </a:r>
            <a:endParaRPr lang="en-US" sz="1500" dirty="0"/>
          </a:p>
        </p:txBody>
      </p:sp>
      <p:sp>
        <p:nvSpPr>
          <p:cNvPr id="23" name="Shape 18"/>
          <p:cNvSpPr/>
          <p:nvPr/>
        </p:nvSpPr>
        <p:spPr>
          <a:xfrm>
            <a:off x="457200" y="3986784"/>
            <a:ext cx="5394960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4" name="Shape 19"/>
          <p:cNvSpPr/>
          <p:nvPr/>
        </p:nvSpPr>
        <p:spPr>
          <a:xfrm>
            <a:off x="640080" y="4160520"/>
            <a:ext cx="585216" cy="585216"/>
          </a:xfrm>
          <a:prstGeom prst="ellipse">
            <a:avLst/>
          </a:prstGeom>
          <a:solidFill>
            <a:srgbClr val="EEF3FA"/>
          </a:solidFill>
          <a:ln w="12700">
            <a:solidFill>
              <a:srgbClr val="EEF3FA"/>
            </a:solidFill>
            <a:prstDash val="solid"/>
          </a:ln>
        </p:spPr>
      </p:sp>
      <p:pic>
        <p:nvPicPr>
          <p:cNvPr id="2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4297680"/>
            <a:ext cx="310896" cy="310896"/>
          </a:xfrm>
          <a:prstGeom prst="rect">
            <a:avLst/>
          </a:prstGeom>
        </p:spPr>
      </p:pic>
      <p:sp>
        <p:nvSpPr>
          <p:cNvPr id="26" name="Text 20"/>
          <p:cNvSpPr txBox="1"/>
          <p:nvPr/>
        </p:nvSpPr>
        <p:spPr>
          <a:xfrm>
            <a:off x="1371600" y="4059936"/>
            <a:ext cx="43891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Chat for learning</a:t>
            </a:r>
            <a:endParaRPr lang="en-US" sz="1500" dirty="0"/>
          </a:p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Answers, questions and Arabic only.</a:t>
            </a:r>
            <a:endParaRPr lang="en-US" sz="1500" dirty="0"/>
          </a:p>
        </p:txBody>
      </p:sp>
      <p:sp>
        <p:nvSpPr>
          <p:cNvPr id="27" name="Shape 21"/>
          <p:cNvSpPr/>
          <p:nvPr/>
        </p:nvSpPr>
        <p:spPr>
          <a:xfrm>
            <a:off x="457200" y="5065776"/>
            <a:ext cx="5394960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8" name="Shape 22"/>
          <p:cNvSpPr/>
          <p:nvPr/>
        </p:nvSpPr>
        <p:spPr>
          <a:xfrm>
            <a:off x="640080" y="5239512"/>
            <a:ext cx="585216" cy="585216"/>
          </a:xfrm>
          <a:prstGeom prst="ellipse">
            <a:avLst/>
          </a:prstGeom>
          <a:solidFill>
            <a:srgbClr val="EEF3FA"/>
          </a:solidFill>
          <a:ln w="12700">
            <a:solidFill>
              <a:srgbClr val="EEF3FA"/>
            </a:solidFill>
            <a:prstDash val="solid"/>
          </a:ln>
        </p:spPr>
      </p:sp>
      <p:pic>
        <p:nvPicPr>
          <p:cNvPr id="2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5376672"/>
            <a:ext cx="310896" cy="310896"/>
          </a:xfrm>
          <a:prstGeom prst="rect">
            <a:avLst/>
          </a:prstGeom>
        </p:spPr>
      </p:pic>
      <p:sp>
        <p:nvSpPr>
          <p:cNvPr id="30" name="Text 23"/>
          <p:cNvSpPr txBox="1"/>
          <p:nvPr/>
        </p:nvSpPr>
        <p:spPr>
          <a:xfrm>
            <a:off x="1371600" y="5138928"/>
            <a:ext cx="43891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Raise your hand</a:t>
            </a:r>
            <a:endParaRPr lang="en-US" sz="1500" dirty="0"/>
          </a:p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Use the hand button to ask for help.</a:t>
            </a:r>
            <a:endParaRPr lang="en-US" sz="1500" dirty="0"/>
          </a:p>
        </p:txBody>
      </p:sp>
      <p:sp>
        <p:nvSpPr>
          <p:cNvPr id="31" name="Shape 24"/>
          <p:cNvSpPr/>
          <p:nvPr/>
        </p:nvSpPr>
        <p:spPr>
          <a:xfrm>
            <a:off x="6172200" y="1828800"/>
            <a:ext cx="5559552" cy="4169664"/>
          </a:xfrm>
          <a:prstGeom prst="roundRect">
            <a:avLst>
              <a:gd name="adj" fmla="val 1754"/>
            </a:avLst>
          </a:prstGeom>
          <a:solidFill>
            <a:srgbClr val="F7F9FC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2" name="Text 25"/>
          <p:cNvSpPr txBox="1"/>
          <p:nvPr/>
        </p:nvSpPr>
        <p:spPr>
          <a:xfrm>
            <a:off x="6400800" y="1938528"/>
            <a:ext cx="51023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HOW WE TALK — THE ORACY CODE</a:t>
            </a:r>
            <a:endParaRPr lang="en-US" sz="1100" dirty="0"/>
          </a:p>
        </p:txBody>
      </p:sp>
      <p:sp>
        <p:nvSpPr>
          <p:cNvPr id="33" name="Shape 26"/>
          <p:cNvSpPr/>
          <p:nvPr/>
        </p:nvSpPr>
        <p:spPr>
          <a:xfrm>
            <a:off x="6400800" y="24505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34" name="Text 27"/>
          <p:cNvSpPr txBox="1"/>
          <p:nvPr/>
        </p:nvSpPr>
        <p:spPr>
          <a:xfrm>
            <a:off x="6400800" y="24505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●</a:t>
            </a:r>
            <a:endParaRPr lang="en-US" sz="1800" dirty="0"/>
          </a:p>
        </p:txBody>
      </p:sp>
      <p:sp>
        <p:nvSpPr>
          <p:cNvPr id="35" name="Text 28"/>
          <p:cNvSpPr txBox="1"/>
          <p:nvPr/>
        </p:nvSpPr>
        <p:spPr>
          <a:xfrm>
            <a:off x="7059168" y="23774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Think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silent preparation</a:t>
            </a:r>
            <a:endParaRPr lang="en-US" sz="1400" dirty="0"/>
          </a:p>
        </p:txBody>
      </p:sp>
      <p:sp>
        <p:nvSpPr>
          <p:cNvPr id="36" name="Shape 29"/>
          <p:cNvSpPr/>
          <p:nvPr/>
        </p:nvSpPr>
        <p:spPr>
          <a:xfrm>
            <a:off x="8997696" y="24505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37" name="Text 30"/>
          <p:cNvSpPr txBox="1"/>
          <p:nvPr/>
        </p:nvSpPr>
        <p:spPr>
          <a:xfrm>
            <a:off x="8997696" y="24505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↔</a:t>
            </a:r>
            <a:endParaRPr lang="en-US" sz="1800" dirty="0"/>
          </a:p>
        </p:txBody>
      </p:sp>
      <p:sp>
        <p:nvSpPr>
          <p:cNvPr id="38" name="Text 31"/>
          <p:cNvSpPr txBox="1"/>
          <p:nvPr/>
        </p:nvSpPr>
        <p:spPr>
          <a:xfrm>
            <a:off x="9656064" y="23774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Rehearse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both partners speak</a:t>
            </a:r>
            <a:endParaRPr lang="en-US" sz="1400" dirty="0"/>
          </a:p>
        </p:txBody>
      </p:sp>
      <p:sp>
        <p:nvSpPr>
          <p:cNvPr id="39" name="Shape 32"/>
          <p:cNvSpPr/>
          <p:nvPr/>
        </p:nvSpPr>
        <p:spPr>
          <a:xfrm>
            <a:off x="6400800" y="33649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40" name="Text 33"/>
          <p:cNvSpPr txBox="1"/>
          <p:nvPr/>
        </p:nvSpPr>
        <p:spPr>
          <a:xfrm>
            <a:off x="6400800" y="33649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+</a:t>
            </a:r>
            <a:endParaRPr lang="en-US" sz="1800" dirty="0"/>
          </a:p>
        </p:txBody>
      </p:sp>
      <p:sp>
        <p:nvSpPr>
          <p:cNvPr id="41" name="Text 34"/>
          <p:cNvSpPr txBox="1"/>
          <p:nvPr/>
        </p:nvSpPr>
        <p:spPr>
          <a:xfrm>
            <a:off x="7059168" y="32918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Build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add a reason or detail</a:t>
            </a:r>
            <a:endParaRPr lang="en-US" sz="1400" dirty="0"/>
          </a:p>
        </p:txBody>
      </p:sp>
      <p:sp>
        <p:nvSpPr>
          <p:cNvPr id="42" name="Shape 35"/>
          <p:cNvSpPr/>
          <p:nvPr/>
        </p:nvSpPr>
        <p:spPr>
          <a:xfrm>
            <a:off x="8997696" y="33649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43" name="Text 36"/>
          <p:cNvSpPr txBox="1"/>
          <p:nvPr/>
        </p:nvSpPr>
        <p:spPr>
          <a:xfrm>
            <a:off x="8997696" y="33649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?</a:t>
            </a:r>
            <a:endParaRPr lang="en-US" sz="1800" dirty="0"/>
          </a:p>
        </p:txBody>
      </p:sp>
      <p:sp>
        <p:nvSpPr>
          <p:cNvPr id="44" name="Text 37"/>
          <p:cNvSpPr txBox="1"/>
          <p:nvPr/>
        </p:nvSpPr>
        <p:spPr>
          <a:xfrm>
            <a:off x="9656064" y="32918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Challenge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question respectfully</a:t>
            </a:r>
            <a:endParaRPr lang="en-US" sz="1400" dirty="0"/>
          </a:p>
        </p:txBody>
      </p:sp>
      <p:sp>
        <p:nvSpPr>
          <p:cNvPr id="45" name="Shape 38"/>
          <p:cNvSpPr/>
          <p:nvPr/>
        </p:nvSpPr>
        <p:spPr>
          <a:xfrm>
            <a:off x="6400800" y="42793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46" name="Text 39"/>
          <p:cNvSpPr txBox="1"/>
          <p:nvPr/>
        </p:nvSpPr>
        <p:spPr>
          <a:xfrm>
            <a:off x="6400800" y="42793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◎</a:t>
            </a:r>
            <a:endParaRPr lang="en-US" sz="1800" dirty="0"/>
          </a:p>
        </p:txBody>
      </p:sp>
      <p:sp>
        <p:nvSpPr>
          <p:cNvPr id="47" name="Text 40"/>
          <p:cNvSpPr txBox="1"/>
          <p:nvPr/>
        </p:nvSpPr>
        <p:spPr>
          <a:xfrm>
            <a:off x="7059168" y="42062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Share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anyone may be invited</a:t>
            </a:r>
            <a:endParaRPr lang="en-US" sz="1400" dirty="0"/>
          </a:p>
        </p:txBody>
      </p:sp>
      <p:sp>
        <p:nvSpPr>
          <p:cNvPr id="48" name="Shape 41"/>
          <p:cNvSpPr/>
          <p:nvPr/>
        </p:nvSpPr>
        <p:spPr>
          <a:xfrm>
            <a:off x="8997696" y="42793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49" name="Text 42"/>
          <p:cNvSpPr txBox="1"/>
          <p:nvPr/>
        </p:nvSpPr>
        <p:spPr>
          <a:xfrm>
            <a:off x="8997696" y="42793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↺</a:t>
            </a:r>
            <a:endParaRPr lang="en-US" sz="1800" dirty="0"/>
          </a:p>
        </p:txBody>
      </p:sp>
      <p:sp>
        <p:nvSpPr>
          <p:cNvPr id="50" name="Text 43"/>
          <p:cNvSpPr txBox="1"/>
          <p:nvPr/>
        </p:nvSpPr>
        <p:spPr>
          <a:xfrm>
            <a:off x="9656064" y="42062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Summarise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say it more precisely</a:t>
            </a:r>
            <a:endParaRPr lang="en-US" sz="1400" dirty="0"/>
          </a:p>
        </p:txBody>
      </p:sp>
      <p:sp>
        <p:nvSpPr>
          <p:cNvPr id="51" name="Text 44"/>
          <p:cNvSpPr txBox="1"/>
          <p:nvPr/>
        </p:nvSpPr>
        <p:spPr>
          <a:xfrm>
            <a:off x="6400800" y="5230368"/>
            <a:ext cx="5102352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i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I will always give you thinking and practice time before I ask anyone. Reading aloud is by invitation — you can always say “pass, please come back to me”.</a:t>
            </a:r>
            <a:endParaRPr lang="en-US" sz="1150" dirty="0"/>
          </a:p>
        </p:txBody>
      </p:sp>
      <p:sp>
        <p:nvSpPr>
          <p:cNvPr id="52" name="Text 45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 / 25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TC-L08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388352" y="274320"/>
            <a:ext cx="1371600" cy="329184"/>
          </a:xfrm>
          <a:prstGeom prst="roundRect">
            <a:avLst>
              <a:gd name="adj" fmla="val 50000"/>
            </a:avLst>
          </a:prstGeom>
          <a:solidFill>
            <a:srgbClr val="5A6472"/>
          </a:solidFill>
          <a:ln w="12700">
            <a:solidFill>
              <a:srgbClr val="5A647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388352" y="274320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WELCOME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TODAY’S WORKSHOP MAP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Exam practice, step by step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خَرِيطَةُ الوَرْشَةِ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C · Speaking workshop · TC-L08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566928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03504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TEACHER INSTRUCTION</a:t>
            </a:r>
            <a:endParaRPr lang="en-US" sz="1000" dirty="0"/>
          </a:p>
        </p:txBody>
      </p:sp>
      <p:sp>
        <p:nvSpPr>
          <p:cNvPr id="18" name="Text 15"/>
          <p:cNvSpPr txBox="1"/>
          <p:nvPr/>
        </p:nvSpPr>
        <p:spPr>
          <a:xfrm>
            <a:off x="603504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8 min</a:t>
            </a:r>
            <a:endParaRPr lang="en-US" sz="1000" dirty="0"/>
          </a:p>
        </p:txBody>
      </p:sp>
      <p:sp>
        <p:nvSpPr>
          <p:cNvPr id="19" name="Shape 16"/>
          <p:cNvSpPr/>
          <p:nvPr/>
        </p:nvSpPr>
        <p:spPr>
          <a:xfrm>
            <a:off x="1332281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1332281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300" dirty="0"/>
          </a:p>
        </p:txBody>
      </p:sp>
      <p:sp>
        <p:nvSpPr>
          <p:cNvPr id="21" name="Text 18"/>
          <p:cNvSpPr txBox="1"/>
          <p:nvPr/>
        </p:nvSpPr>
        <p:spPr>
          <a:xfrm>
            <a:off x="585216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How the speaking exam works; the language you need.</a:t>
            </a:r>
            <a:endParaRPr lang="en-US" sz="1200" dirty="0"/>
          </a:p>
        </p:txBody>
      </p:sp>
      <p:sp>
        <p:nvSpPr>
          <p:cNvPr id="22" name="Text 19"/>
          <p:cNvSpPr txBox="1"/>
          <p:nvPr/>
        </p:nvSpPr>
        <p:spPr>
          <a:xfrm>
            <a:off x="548640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كَيْفَ</a:t>
            </a:r>
            <a:endParaRPr lang="ar-SA" sz="1500" dirty="0"/>
          </a:p>
        </p:txBody>
      </p:sp>
      <p:sp>
        <p:nvSpPr>
          <p:cNvPr id="23" name="Shape 20"/>
          <p:cNvSpPr/>
          <p:nvPr/>
        </p:nvSpPr>
        <p:spPr>
          <a:xfrm>
            <a:off x="2737714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2847442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2884018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</a:t>
            </a:r>
            <a:endParaRPr lang="en-US" sz="1000" dirty="0"/>
          </a:p>
        </p:txBody>
      </p:sp>
      <p:sp>
        <p:nvSpPr>
          <p:cNvPr id="26" name="Text 23"/>
          <p:cNvSpPr txBox="1"/>
          <p:nvPr/>
        </p:nvSpPr>
        <p:spPr>
          <a:xfrm>
            <a:off x="2884018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20 min</a:t>
            </a:r>
            <a:endParaRPr lang="en-US" sz="1000" dirty="0"/>
          </a:p>
        </p:txBody>
      </p:sp>
      <p:sp>
        <p:nvSpPr>
          <p:cNvPr id="27" name="Shape 24"/>
          <p:cNvSpPr/>
          <p:nvPr/>
        </p:nvSpPr>
        <p:spPr>
          <a:xfrm>
            <a:off x="3612794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3612794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300" dirty="0"/>
          </a:p>
        </p:txBody>
      </p:sp>
      <p:sp>
        <p:nvSpPr>
          <p:cNvPr id="29" name="Text 26"/>
          <p:cNvSpPr txBox="1"/>
          <p:nvPr/>
        </p:nvSpPr>
        <p:spPr>
          <a:xfrm>
            <a:off x="2865730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Role plays A–D in breakout rooms.</a:t>
            </a:r>
            <a:endParaRPr lang="en-US" sz="1200" dirty="0"/>
          </a:p>
        </p:txBody>
      </p:sp>
      <p:sp>
        <p:nvSpPr>
          <p:cNvPr id="30" name="Text 27"/>
          <p:cNvSpPr txBox="1"/>
          <p:nvPr/>
        </p:nvSpPr>
        <p:spPr>
          <a:xfrm>
            <a:off x="2829154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E6B5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تَمْثِيلُ الدَّوْرِ</a:t>
            </a:r>
            <a:endParaRPr lang="ar-SA" sz="1500" dirty="0"/>
          </a:p>
        </p:txBody>
      </p:sp>
      <p:sp>
        <p:nvSpPr>
          <p:cNvPr id="31" name="Shape 28"/>
          <p:cNvSpPr/>
          <p:nvPr/>
        </p:nvSpPr>
        <p:spPr>
          <a:xfrm>
            <a:off x="5018227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2" name="Shape 29"/>
          <p:cNvSpPr/>
          <p:nvPr/>
        </p:nvSpPr>
        <p:spPr>
          <a:xfrm>
            <a:off x="5127955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5164531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</a:t>
            </a:r>
            <a:endParaRPr lang="en-US" sz="1000" dirty="0"/>
          </a:p>
        </p:txBody>
      </p:sp>
      <p:sp>
        <p:nvSpPr>
          <p:cNvPr id="34" name="Text 31"/>
          <p:cNvSpPr txBox="1"/>
          <p:nvPr/>
        </p:nvSpPr>
        <p:spPr>
          <a:xfrm>
            <a:off x="5164531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4 min</a:t>
            </a:r>
            <a:endParaRPr lang="en-US" sz="1000" dirty="0"/>
          </a:p>
        </p:txBody>
      </p:sp>
      <p:sp>
        <p:nvSpPr>
          <p:cNvPr id="35" name="Shape 32"/>
          <p:cNvSpPr/>
          <p:nvPr/>
        </p:nvSpPr>
        <p:spPr>
          <a:xfrm>
            <a:off x="5893308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5893308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300" dirty="0"/>
          </a:p>
        </p:txBody>
      </p:sp>
      <p:sp>
        <p:nvSpPr>
          <p:cNvPr id="37" name="Text 34"/>
          <p:cNvSpPr txBox="1"/>
          <p:nvPr/>
        </p:nvSpPr>
        <p:spPr>
          <a:xfrm>
            <a:off x="5146243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Role-play models.</a:t>
            </a:r>
            <a:endParaRPr lang="en-US" sz="1200" dirty="0"/>
          </a:p>
        </p:txBody>
      </p:sp>
      <p:sp>
        <p:nvSpPr>
          <p:cNvPr id="38" name="Text 35"/>
          <p:cNvSpPr txBox="1"/>
          <p:nvPr/>
        </p:nvSpPr>
        <p:spPr>
          <a:xfrm>
            <a:off x="5109667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النَّمُوذَجُ</a:t>
            </a:r>
            <a:endParaRPr lang="ar-SA" sz="1500" dirty="0"/>
          </a:p>
        </p:txBody>
      </p:sp>
      <p:sp>
        <p:nvSpPr>
          <p:cNvPr id="39" name="Shape 36"/>
          <p:cNvSpPr/>
          <p:nvPr/>
        </p:nvSpPr>
        <p:spPr>
          <a:xfrm>
            <a:off x="7298741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0" name="Shape 37"/>
          <p:cNvSpPr/>
          <p:nvPr/>
        </p:nvSpPr>
        <p:spPr>
          <a:xfrm>
            <a:off x="7408469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7445045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</a:t>
            </a:r>
            <a:endParaRPr lang="en-US" sz="1000" dirty="0"/>
          </a:p>
        </p:txBody>
      </p:sp>
      <p:sp>
        <p:nvSpPr>
          <p:cNvPr id="42" name="Text 39"/>
          <p:cNvSpPr txBox="1"/>
          <p:nvPr/>
        </p:nvSpPr>
        <p:spPr>
          <a:xfrm>
            <a:off x="7445045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13 min</a:t>
            </a:r>
            <a:endParaRPr lang="en-US" sz="1000" dirty="0"/>
          </a:p>
        </p:txBody>
      </p:sp>
      <p:sp>
        <p:nvSpPr>
          <p:cNvPr id="43" name="Shape 40"/>
          <p:cNvSpPr/>
          <p:nvPr/>
        </p:nvSpPr>
        <p:spPr>
          <a:xfrm>
            <a:off x="8173822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8173822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300" dirty="0"/>
          </a:p>
        </p:txBody>
      </p:sp>
      <p:sp>
        <p:nvSpPr>
          <p:cNvPr id="45" name="Text 42"/>
          <p:cNvSpPr txBox="1"/>
          <p:nvPr/>
        </p:nvSpPr>
        <p:spPr>
          <a:xfrm>
            <a:off x="7426757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Topic conversation in breakout rooms.</a:t>
            </a:r>
            <a:endParaRPr lang="en-US" sz="1200" dirty="0"/>
          </a:p>
        </p:txBody>
      </p:sp>
      <p:sp>
        <p:nvSpPr>
          <p:cNvPr id="46" name="Text 43"/>
          <p:cNvSpPr txBox="1"/>
          <p:nvPr/>
        </p:nvSpPr>
        <p:spPr>
          <a:xfrm>
            <a:off x="7390181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E6B5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المُحَادَثَةُ</a:t>
            </a:r>
            <a:endParaRPr lang="ar-SA" sz="1500" dirty="0"/>
          </a:p>
        </p:txBody>
      </p:sp>
      <p:sp>
        <p:nvSpPr>
          <p:cNvPr id="47" name="Shape 44"/>
          <p:cNvSpPr/>
          <p:nvPr/>
        </p:nvSpPr>
        <p:spPr>
          <a:xfrm>
            <a:off x="9579254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8" name="Shape 45"/>
          <p:cNvSpPr/>
          <p:nvPr/>
        </p:nvSpPr>
        <p:spPr>
          <a:xfrm>
            <a:off x="9688982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9725558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</a:t>
            </a:r>
            <a:endParaRPr lang="en-US" sz="1000" dirty="0"/>
          </a:p>
        </p:txBody>
      </p:sp>
      <p:sp>
        <p:nvSpPr>
          <p:cNvPr id="50" name="Text 47"/>
          <p:cNvSpPr txBox="1"/>
          <p:nvPr/>
        </p:nvSpPr>
        <p:spPr>
          <a:xfrm>
            <a:off x="9725558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9 min</a:t>
            </a:r>
            <a:endParaRPr lang="en-US" sz="1000" dirty="0"/>
          </a:p>
        </p:txBody>
      </p:sp>
      <p:sp>
        <p:nvSpPr>
          <p:cNvPr id="51" name="Shape 48"/>
          <p:cNvSpPr/>
          <p:nvPr/>
        </p:nvSpPr>
        <p:spPr>
          <a:xfrm>
            <a:off x="10454335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52" name="Text 49"/>
          <p:cNvSpPr txBox="1"/>
          <p:nvPr/>
        </p:nvSpPr>
        <p:spPr>
          <a:xfrm>
            <a:off x="10454335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300" dirty="0"/>
          </a:p>
        </p:txBody>
      </p:sp>
      <p:sp>
        <p:nvSpPr>
          <p:cNvPr id="53" name="Text 50"/>
          <p:cNvSpPr txBox="1"/>
          <p:nvPr/>
        </p:nvSpPr>
        <p:spPr>
          <a:xfrm>
            <a:off x="9707270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Conversation models, feedback, self-check.</a:t>
            </a:r>
            <a:endParaRPr lang="en-US" sz="1200" dirty="0"/>
          </a:p>
        </p:txBody>
      </p:sp>
      <p:sp>
        <p:nvSpPr>
          <p:cNvPr id="54" name="Text 51"/>
          <p:cNvSpPr txBox="1"/>
          <p:nvPr/>
        </p:nvSpPr>
        <p:spPr>
          <a:xfrm>
            <a:off x="9670694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قَيِّمْ</a:t>
            </a:r>
            <a:endParaRPr lang="ar-SA" sz="1500" dirty="0"/>
          </a:p>
        </p:txBody>
      </p:sp>
      <p:sp>
        <p:nvSpPr>
          <p:cNvPr id="55" name="Shape 52"/>
          <p:cNvSpPr/>
          <p:nvPr/>
        </p:nvSpPr>
        <p:spPr>
          <a:xfrm>
            <a:off x="457200" y="5285232"/>
            <a:ext cx="11274552" cy="1024128"/>
          </a:xfrm>
          <a:prstGeom prst="roundRect">
            <a:avLst>
              <a:gd name="adj" fmla="val 7143"/>
            </a:avLst>
          </a:prstGeom>
          <a:solidFill>
            <a:srgbClr val="E9F5EE"/>
          </a:solidFill>
          <a:ln w="9525">
            <a:solidFill>
              <a:srgbClr val="9CCFB0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56" name="Text 53"/>
          <p:cNvSpPr txBox="1"/>
          <p:nvPr/>
        </p:nvSpPr>
        <p:spPr>
          <a:xfrm>
            <a:off x="685800" y="5358384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IF ARABIC FEELS HARD TODAY</a:t>
            </a:r>
            <a:endParaRPr lang="en-US" sz="1000" dirty="0"/>
          </a:p>
        </p:txBody>
      </p:sp>
      <p:sp>
        <p:nvSpPr>
          <p:cNvPr id="57" name="Text 54"/>
          <p:cNvSpPr txBox="1"/>
          <p:nvPr/>
        </p:nvSpPr>
        <p:spPr>
          <a:xfrm>
            <a:off x="685800" y="5632704"/>
            <a:ext cx="10881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In the rooms everyone has a job: examiner, candidate or observer. You swap after each role play, so everybody speaks.</a:t>
            </a:r>
            <a:endParaRPr lang="en-US" sz="1250" dirty="0"/>
          </a:p>
        </p:txBody>
      </p:sp>
      <p:sp>
        <p:nvSpPr>
          <p:cNvPr id="58" name="Text 55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3 / 25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TC-L08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6308446" y="274320"/>
            <a:ext cx="2451506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308446" y="274320"/>
            <a:ext cx="245150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TEACHER INSTRUCTION · 3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TEACH · PAPER 3 SPEAKING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How the speaking exam works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امْتِحَانُ التَّحَدُّثِ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C · Speaking workshop · TC-L08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6172200" cy="4498848"/>
          </a:xfrm>
          <a:prstGeom prst="roundRect">
            <a:avLst>
              <a:gd name="adj" fmla="val 1626"/>
            </a:avLst>
          </a:prstGeom>
          <a:solidFill>
            <a:srgbClr val="F7F9FC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Text 13"/>
          <p:cNvSpPr txBox="1"/>
          <p:nvPr/>
        </p:nvSpPr>
        <p:spPr>
          <a:xfrm>
            <a:off x="658368" y="1883664"/>
            <a:ext cx="5806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THE TWO PARTS WE PRACTISE TODAY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658368" y="2286000"/>
            <a:ext cx="310896" cy="310896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58368" y="22860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1078992" y="2176272"/>
            <a:ext cx="5394960" cy="9738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ROLE PLAY — a card with a situation and tasks. The examiner asks; you answer every task in a full, clear sentence. One task is unexpected (!).</a:t>
            </a:r>
            <a:endParaRPr lang="en-US" sz="1300" dirty="0"/>
          </a:p>
        </p:txBody>
      </p:sp>
      <p:sp>
        <p:nvSpPr>
          <p:cNvPr id="20" name="Shape 17"/>
          <p:cNvSpPr/>
          <p:nvPr/>
        </p:nvSpPr>
        <p:spPr>
          <a:xfrm>
            <a:off x="658368" y="3296412"/>
            <a:ext cx="310896" cy="310896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658368" y="32964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2" name="Text 19"/>
          <p:cNvSpPr txBox="1"/>
          <p:nvPr/>
        </p:nvSpPr>
        <p:spPr>
          <a:xfrm>
            <a:off x="1078992" y="3186684"/>
            <a:ext cx="5394960" cy="9738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TOPIC CONVERSATION — the examiner asks questions about a topic you know. Short answers are not enough: develop each one.</a:t>
            </a:r>
            <a:endParaRPr lang="en-US" sz="1300" dirty="0"/>
          </a:p>
        </p:txBody>
      </p:sp>
      <p:sp>
        <p:nvSpPr>
          <p:cNvPr id="23" name="Shape 20"/>
          <p:cNvSpPr/>
          <p:nvPr/>
        </p:nvSpPr>
        <p:spPr>
          <a:xfrm>
            <a:off x="658368" y="4306824"/>
            <a:ext cx="310896" cy="310896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658368" y="430682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25" name="Text 22"/>
          <p:cNvSpPr txBox="1"/>
          <p:nvPr/>
        </p:nvSpPr>
        <p:spPr>
          <a:xfrm>
            <a:off x="1078992" y="4197096"/>
            <a:ext cx="5394960" cy="9738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Examiners reward: completing the tasks, a range of language (tenses, linking words, opinions) and accuracy.</a:t>
            </a:r>
            <a:endParaRPr lang="en-US" sz="1300" dirty="0"/>
          </a:p>
        </p:txBody>
      </p:sp>
      <p:sp>
        <p:nvSpPr>
          <p:cNvPr id="26" name="Shape 23"/>
          <p:cNvSpPr/>
          <p:nvPr/>
        </p:nvSpPr>
        <p:spPr>
          <a:xfrm>
            <a:off x="658368" y="5317236"/>
            <a:ext cx="310896" cy="310896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658368" y="531723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1078992" y="5207508"/>
            <a:ext cx="5394960" cy="9738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Never stay silent — use a repair phrase and keep going.</a:t>
            </a:r>
            <a:endParaRPr lang="en-US" sz="1300" dirty="0"/>
          </a:p>
        </p:txBody>
      </p:sp>
      <p:sp>
        <p:nvSpPr>
          <p:cNvPr id="29" name="Shape 26"/>
          <p:cNvSpPr/>
          <p:nvPr/>
        </p:nvSpPr>
        <p:spPr>
          <a:xfrm>
            <a:off x="6812280" y="1810512"/>
            <a:ext cx="4919472" cy="4498848"/>
          </a:xfrm>
          <a:prstGeom prst="roundRect">
            <a:avLst>
              <a:gd name="adj" fmla="val 1626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0" name="Text 27"/>
          <p:cNvSpPr txBox="1"/>
          <p:nvPr/>
        </p:nvSpPr>
        <p:spPr>
          <a:xfrm>
            <a:off x="6995160" y="1883664"/>
            <a:ext cx="45537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REPAIR PHRASES</a:t>
            </a:r>
            <a:endParaRPr lang="en-US" sz="1000" dirty="0"/>
          </a:p>
        </p:txBody>
      </p:sp>
      <p:sp>
        <p:nvSpPr>
          <p:cNvPr id="31" name="Text 28"/>
          <p:cNvSpPr txBox="1"/>
          <p:nvPr/>
        </p:nvSpPr>
        <p:spPr>
          <a:xfrm>
            <a:off x="6949440" y="2194560"/>
            <a:ext cx="4645152" cy="7612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عَفْوًا، هَلْ يُمْكِنُ أَنْ تُعِيدَ السُّؤَالَ؟</a:t>
            </a:r>
            <a:endParaRPr lang="ar-SA" sz="2800" dirty="0"/>
          </a:p>
        </p:txBody>
      </p:sp>
      <p:sp>
        <p:nvSpPr>
          <p:cNvPr id="32" name="Text 29"/>
          <p:cNvSpPr txBox="1"/>
          <p:nvPr/>
        </p:nvSpPr>
        <p:spPr>
          <a:xfrm>
            <a:off x="6949440" y="2955828"/>
            <a:ext cx="4645152" cy="543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Sorry, could you repeat the question?</a:t>
            </a:r>
            <a:endParaRPr lang="en-US" sz="1100" dirty="0"/>
          </a:p>
        </p:txBody>
      </p:sp>
      <p:sp>
        <p:nvSpPr>
          <p:cNvPr id="33" name="Shape 30"/>
          <p:cNvSpPr/>
          <p:nvPr/>
        </p:nvSpPr>
        <p:spPr>
          <a:xfrm>
            <a:off x="6995160" y="3535680"/>
            <a:ext cx="4553712" cy="0"/>
          </a:xfrm>
          <a:prstGeom prst="line">
            <a:avLst/>
          </a:prstGeom>
          <a:noFill/>
          <a:ln w="9525">
            <a:solidFill>
              <a:srgbClr val="E4DCCB"/>
            </a:solidFill>
            <a:prstDash val="dash"/>
          </a:ln>
        </p:spPr>
      </p:sp>
      <p:sp>
        <p:nvSpPr>
          <p:cNvPr id="34" name="Text 31"/>
          <p:cNvSpPr txBox="1"/>
          <p:nvPr/>
        </p:nvSpPr>
        <p:spPr>
          <a:xfrm>
            <a:off x="6949440" y="3553968"/>
            <a:ext cx="4645152" cy="7612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لَحْظَةً، دَعْنِي أُفَكِّرُ …</a:t>
            </a:r>
            <a:endParaRPr lang="ar-SA" sz="2800" dirty="0"/>
          </a:p>
        </p:txBody>
      </p:sp>
      <p:sp>
        <p:nvSpPr>
          <p:cNvPr id="35" name="Text 32"/>
          <p:cNvSpPr txBox="1"/>
          <p:nvPr/>
        </p:nvSpPr>
        <p:spPr>
          <a:xfrm>
            <a:off x="6949440" y="4315236"/>
            <a:ext cx="4645152" cy="543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One moment, let me think …</a:t>
            </a:r>
            <a:endParaRPr lang="en-US" sz="1100" dirty="0"/>
          </a:p>
        </p:txBody>
      </p:sp>
      <p:sp>
        <p:nvSpPr>
          <p:cNvPr id="36" name="Shape 33"/>
          <p:cNvSpPr/>
          <p:nvPr/>
        </p:nvSpPr>
        <p:spPr>
          <a:xfrm>
            <a:off x="6995160" y="4895088"/>
            <a:ext cx="4553712" cy="0"/>
          </a:xfrm>
          <a:prstGeom prst="line">
            <a:avLst/>
          </a:prstGeom>
          <a:noFill/>
          <a:ln w="9525">
            <a:solidFill>
              <a:srgbClr val="E4DCCB"/>
            </a:solidFill>
            <a:prstDash val="dash"/>
          </a:ln>
        </p:spPr>
      </p:sp>
      <p:sp>
        <p:nvSpPr>
          <p:cNvPr id="37" name="Text 34"/>
          <p:cNvSpPr txBox="1"/>
          <p:nvPr/>
        </p:nvSpPr>
        <p:spPr>
          <a:xfrm>
            <a:off x="6949440" y="4913376"/>
            <a:ext cx="4645152" cy="7612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أَقْصِدُ …</a:t>
            </a:r>
            <a:endParaRPr lang="ar-SA" sz="2800" dirty="0"/>
          </a:p>
        </p:txBody>
      </p:sp>
      <p:sp>
        <p:nvSpPr>
          <p:cNvPr id="38" name="Text 35"/>
          <p:cNvSpPr txBox="1"/>
          <p:nvPr/>
        </p:nvSpPr>
        <p:spPr>
          <a:xfrm>
            <a:off x="6949440" y="5674644"/>
            <a:ext cx="4645152" cy="543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mean …</a:t>
            </a:r>
            <a:endParaRPr lang="en-US" sz="1100" dirty="0"/>
          </a:p>
        </p:txBody>
      </p:sp>
      <p:sp>
        <p:nvSpPr>
          <p:cNvPr id="39" name="Text 36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4 / 25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TC-L08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6308446" y="274320"/>
            <a:ext cx="2451506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308446" y="274320"/>
            <a:ext cx="245150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TEACHER INSTRUCTION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LANGUAGE BANK · PLACES AND BUILDINGS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Hospital, library, station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أَمَاكِنُ فِي المَدِينَةِ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C · Speaking workshop · TC-L08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8101584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8211312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8211312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8604504" y="1938528"/>
            <a:ext cx="833933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8604504" y="1938528"/>
            <a:ext cx="83393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agreement</a:t>
            </a:r>
            <a:endParaRPr lang="en-US" sz="800" dirty="0"/>
          </a:p>
        </p:txBody>
      </p:sp>
      <p:sp>
        <p:nvSpPr>
          <p:cNvPr id="20" name="Shape 17"/>
          <p:cNvSpPr/>
          <p:nvPr/>
        </p:nvSpPr>
        <p:spPr>
          <a:xfrm>
            <a:off x="10872216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10872216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22" name="Text 19"/>
          <p:cNvSpPr txBox="1"/>
          <p:nvPr/>
        </p:nvSpPr>
        <p:spPr>
          <a:xfrm>
            <a:off x="8211312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يُوجَدُ · تُوجَدُ</a:t>
            </a:r>
            <a:endParaRPr lang="ar-SA" sz="3000" dirty="0"/>
          </a:p>
        </p:txBody>
      </p:sp>
      <p:sp>
        <p:nvSpPr>
          <p:cNvPr id="23" name="Text 20"/>
          <p:cNvSpPr txBox="1"/>
          <p:nvPr/>
        </p:nvSpPr>
        <p:spPr>
          <a:xfrm>
            <a:off x="8238744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there is (m. · f.)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yū-ja-du · tū-ja-du</a:t>
            </a:r>
            <a:endParaRPr lang="en-US" sz="1350" dirty="0"/>
          </a:p>
        </p:txBody>
      </p:sp>
      <p:sp>
        <p:nvSpPr>
          <p:cNvPr id="24" name="Shape 21"/>
          <p:cNvSpPr/>
          <p:nvPr/>
        </p:nvSpPr>
        <p:spPr>
          <a:xfrm>
            <a:off x="10543032" y="3438144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10597896" y="34472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there isn’t</a:t>
            </a:r>
            <a:endParaRPr lang="en-US" sz="700" dirty="0"/>
          </a:p>
        </p:txBody>
      </p:sp>
      <p:sp>
        <p:nvSpPr>
          <p:cNvPr id="26" name="Text 23"/>
          <p:cNvSpPr txBox="1"/>
          <p:nvPr/>
        </p:nvSpPr>
        <p:spPr>
          <a:xfrm>
            <a:off x="10588752" y="3575304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لَا يُوجَدُ</a:t>
            </a:r>
            <a:endParaRPr lang="ar-SA" sz="1350" dirty="0"/>
          </a:p>
        </p:txBody>
      </p:sp>
      <p:sp>
        <p:nvSpPr>
          <p:cNvPr id="27" name="Shape 24"/>
          <p:cNvSpPr/>
          <p:nvPr/>
        </p:nvSpPr>
        <p:spPr>
          <a:xfrm>
            <a:off x="9390888" y="3438144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9445752" y="34472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there is a museum</a:t>
            </a:r>
            <a:endParaRPr lang="en-US" sz="700" dirty="0"/>
          </a:p>
        </p:txBody>
      </p:sp>
      <p:sp>
        <p:nvSpPr>
          <p:cNvPr id="29" name="Text 26"/>
          <p:cNvSpPr txBox="1"/>
          <p:nvPr/>
        </p:nvSpPr>
        <p:spPr>
          <a:xfrm>
            <a:off x="9436608" y="3575304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يُوجَدُ مَتْحَفٌ</a:t>
            </a:r>
            <a:endParaRPr lang="ar-SA" sz="1350" dirty="0"/>
          </a:p>
        </p:txBody>
      </p:sp>
      <p:sp>
        <p:nvSpPr>
          <p:cNvPr id="30" name="Shape 27"/>
          <p:cNvSpPr/>
          <p:nvPr/>
        </p:nvSpPr>
        <p:spPr>
          <a:xfrm>
            <a:off x="8238744" y="3438144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8293608" y="34472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there is a park</a:t>
            </a:r>
            <a:endParaRPr lang="en-US" sz="700" dirty="0"/>
          </a:p>
        </p:txBody>
      </p:sp>
      <p:sp>
        <p:nvSpPr>
          <p:cNvPr id="32" name="Text 29"/>
          <p:cNvSpPr txBox="1"/>
          <p:nvPr/>
        </p:nvSpPr>
        <p:spPr>
          <a:xfrm>
            <a:off x="8284464" y="3575304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تُوجَدُ حَدِيقَةٌ</a:t>
            </a:r>
            <a:endParaRPr lang="ar-SA" sz="1350" dirty="0"/>
          </a:p>
        </p:txBody>
      </p:sp>
      <p:sp>
        <p:nvSpPr>
          <p:cNvPr id="33" name="Shape 30"/>
          <p:cNvSpPr/>
          <p:nvPr/>
        </p:nvSpPr>
        <p:spPr>
          <a:xfrm>
            <a:off x="4279392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4" name="Shape 31"/>
          <p:cNvSpPr/>
          <p:nvPr/>
        </p:nvSpPr>
        <p:spPr>
          <a:xfrm>
            <a:off x="4389120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389120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000" dirty="0"/>
          </a:p>
        </p:txBody>
      </p:sp>
      <p:sp>
        <p:nvSpPr>
          <p:cNvPr id="36" name="Shape 33"/>
          <p:cNvSpPr/>
          <p:nvPr/>
        </p:nvSpPr>
        <p:spPr>
          <a:xfrm>
            <a:off x="4782312" y="1938528"/>
            <a:ext cx="1269187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4782312" y="1938528"/>
            <a:ext cx="1269187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the · pl. · tall</a:t>
            </a:r>
            <a:endParaRPr lang="en-US" sz="800" dirty="0"/>
          </a:p>
        </p:txBody>
      </p:sp>
      <p:sp>
        <p:nvSpPr>
          <p:cNvPr id="38" name="Shape 35"/>
          <p:cNvSpPr/>
          <p:nvPr/>
        </p:nvSpPr>
        <p:spPr>
          <a:xfrm>
            <a:off x="7050024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7050024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40" name="Text 37"/>
          <p:cNvSpPr txBox="1"/>
          <p:nvPr/>
        </p:nvSpPr>
        <p:spPr>
          <a:xfrm>
            <a:off x="4389120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مَبْنًى</a:t>
            </a:r>
            <a:endParaRPr lang="ar-SA" sz="3000" dirty="0"/>
          </a:p>
        </p:txBody>
      </p:sp>
      <p:sp>
        <p:nvSpPr>
          <p:cNvPr id="41" name="Text 38"/>
          <p:cNvSpPr txBox="1"/>
          <p:nvPr/>
        </p:nvSpPr>
        <p:spPr>
          <a:xfrm>
            <a:off x="4416552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a building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mab-nan</a:t>
            </a:r>
            <a:endParaRPr lang="en-US" sz="1350" dirty="0"/>
          </a:p>
        </p:txBody>
      </p:sp>
      <p:sp>
        <p:nvSpPr>
          <p:cNvPr id="42" name="Shape 39"/>
          <p:cNvSpPr/>
          <p:nvPr/>
        </p:nvSpPr>
        <p:spPr>
          <a:xfrm>
            <a:off x="6720840" y="3438144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6775704" y="34472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tall</a:t>
            </a:r>
            <a:endParaRPr lang="en-US" sz="700" dirty="0"/>
          </a:p>
        </p:txBody>
      </p:sp>
      <p:sp>
        <p:nvSpPr>
          <p:cNvPr id="44" name="Text 41"/>
          <p:cNvSpPr txBox="1"/>
          <p:nvPr/>
        </p:nvSpPr>
        <p:spPr>
          <a:xfrm>
            <a:off x="6766560" y="3575304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مَبَانٍ عَالِيَةٌ</a:t>
            </a:r>
            <a:endParaRPr lang="ar-SA" sz="1350" dirty="0"/>
          </a:p>
        </p:txBody>
      </p:sp>
      <p:sp>
        <p:nvSpPr>
          <p:cNvPr id="45" name="Shape 42"/>
          <p:cNvSpPr/>
          <p:nvPr/>
        </p:nvSpPr>
        <p:spPr>
          <a:xfrm>
            <a:off x="5568696" y="3438144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46" name="Text 43"/>
          <p:cNvSpPr txBox="1"/>
          <p:nvPr/>
        </p:nvSpPr>
        <p:spPr>
          <a:xfrm>
            <a:off x="5623560" y="34472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pl.</a:t>
            </a:r>
            <a:endParaRPr lang="en-US" sz="750" dirty="0"/>
          </a:p>
        </p:txBody>
      </p:sp>
      <p:sp>
        <p:nvSpPr>
          <p:cNvPr id="47" name="Text 44"/>
          <p:cNvSpPr txBox="1"/>
          <p:nvPr/>
        </p:nvSpPr>
        <p:spPr>
          <a:xfrm>
            <a:off x="5614416" y="3483864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مَبَانٍ · المَبَانِي</a:t>
            </a:r>
            <a:endParaRPr lang="ar-SA" sz="1350" dirty="0"/>
          </a:p>
        </p:txBody>
      </p:sp>
      <p:sp>
        <p:nvSpPr>
          <p:cNvPr id="48" name="Shape 45"/>
          <p:cNvSpPr/>
          <p:nvPr/>
        </p:nvSpPr>
        <p:spPr>
          <a:xfrm>
            <a:off x="4416552" y="3438144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4471416" y="34472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the</a:t>
            </a:r>
            <a:endParaRPr lang="en-US" sz="750" dirty="0"/>
          </a:p>
        </p:txBody>
      </p:sp>
      <p:sp>
        <p:nvSpPr>
          <p:cNvPr id="50" name="Text 47"/>
          <p:cNvSpPr txBox="1"/>
          <p:nvPr/>
        </p:nvSpPr>
        <p:spPr>
          <a:xfrm>
            <a:off x="4462272" y="3483864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المَبْنَى</a:t>
            </a:r>
            <a:endParaRPr lang="ar-SA" sz="1500" dirty="0"/>
          </a:p>
        </p:txBody>
      </p:sp>
      <p:sp>
        <p:nvSpPr>
          <p:cNvPr id="51" name="Shape 48"/>
          <p:cNvSpPr/>
          <p:nvPr/>
        </p:nvSpPr>
        <p:spPr>
          <a:xfrm>
            <a:off x="457200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52" name="Shape 49"/>
          <p:cNvSpPr/>
          <p:nvPr/>
        </p:nvSpPr>
        <p:spPr>
          <a:xfrm>
            <a:off x="566928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53" name="Text 50"/>
          <p:cNvSpPr txBox="1"/>
          <p:nvPr/>
        </p:nvSpPr>
        <p:spPr>
          <a:xfrm>
            <a:off x="566928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000" dirty="0"/>
          </a:p>
        </p:txBody>
      </p:sp>
      <p:sp>
        <p:nvSpPr>
          <p:cNvPr id="54" name="Shape 51"/>
          <p:cNvSpPr/>
          <p:nvPr/>
        </p:nvSpPr>
        <p:spPr>
          <a:xfrm>
            <a:off x="960120" y="1938528"/>
            <a:ext cx="833933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55" name="Text 52"/>
          <p:cNvSpPr txBox="1"/>
          <p:nvPr/>
        </p:nvSpPr>
        <p:spPr>
          <a:xfrm>
            <a:off x="960120" y="1938528"/>
            <a:ext cx="83393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the · pl.</a:t>
            </a:r>
            <a:endParaRPr lang="en-US" sz="800" dirty="0"/>
          </a:p>
        </p:txBody>
      </p:sp>
      <p:sp>
        <p:nvSpPr>
          <p:cNvPr id="56" name="Shape 53"/>
          <p:cNvSpPr/>
          <p:nvPr/>
        </p:nvSpPr>
        <p:spPr>
          <a:xfrm>
            <a:off x="3227832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57" name="Text 54"/>
          <p:cNvSpPr txBox="1"/>
          <p:nvPr/>
        </p:nvSpPr>
        <p:spPr>
          <a:xfrm>
            <a:off x="3227832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58" name="Text 55"/>
          <p:cNvSpPr txBox="1"/>
          <p:nvPr/>
        </p:nvSpPr>
        <p:spPr>
          <a:xfrm>
            <a:off x="566928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مُسْتَشْفًى</a:t>
            </a:r>
            <a:endParaRPr lang="ar-SA" sz="3000" dirty="0"/>
          </a:p>
        </p:txBody>
      </p:sp>
      <p:sp>
        <p:nvSpPr>
          <p:cNvPr id="59" name="Text 56"/>
          <p:cNvSpPr txBox="1"/>
          <p:nvPr/>
        </p:nvSpPr>
        <p:spPr>
          <a:xfrm>
            <a:off x="594360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a hospital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mus-tash-fan</a:t>
            </a:r>
            <a:endParaRPr lang="en-US" sz="1350" dirty="0"/>
          </a:p>
        </p:txBody>
      </p:sp>
      <p:sp>
        <p:nvSpPr>
          <p:cNvPr id="60" name="Shape 57"/>
          <p:cNvSpPr/>
          <p:nvPr/>
        </p:nvSpPr>
        <p:spPr>
          <a:xfrm>
            <a:off x="2322576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61" name="Text 58"/>
          <p:cNvSpPr txBox="1"/>
          <p:nvPr/>
        </p:nvSpPr>
        <p:spPr>
          <a:xfrm>
            <a:off x="2377440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pl.</a:t>
            </a:r>
            <a:endParaRPr lang="en-US" sz="750" dirty="0"/>
          </a:p>
        </p:txBody>
      </p:sp>
      <p:sp>
        <p:nvSpPr>
          <p:cNvPr id="62" name="Text 59"/>
          <p:cNvSpPr txBox="1"/>
          <p:nvPr/>
        </p:nvSpPr>
        <p:spPr>
          <a:xfrm>
            <a:off x="2368296" y="3483864"/>
            <a:ext cx="1545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مُسْتَشْفَيَاتٌ</a:t>
            </a:r>
            <a:endParaRPr lang="ar-SA" sz="1500" dirty="0"/>
          </a:p>
        </p:txBody>
      </p:sp>
      <p:sp>
        <p:nvSpPr>
          <p:cNvPr id="63" name="Shape 60"/>
          <p:cNvSpPr/>
          <p:nvPr/>
        </p:nvSpPr>
        <p:spPr>
          <a:xfrm>
            <a:off x="594360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64" name="Text 61"/>
          <p:cNvSpPr txBox="1"/>
          <p:nvPr/>
        </p:nvSpPr>
        <p:spPr>
          <a:xfrm>
            <a:off x="649224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the</a:t>
            </a:r>
            <a:endParaRPr lang="en-US" sz="750" dirty="0"/>
          </a:p>
        </p:txBody>
      </p:sp>
      <p:sp>
        <p:nvSpPr>
          <p:cNvPr id="65" name="Text 62"/>
          <p:cNvSpPr txBox="1"/>
          <p:nvPr/>
        </p:nvSpPr>
        <p:spPr>
          <a:xfrm>
            <a:off x="640080" y="3483864"/>
            <a:ext cx="1545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المُسْتَشْفَى</a:t>
            </a:r>
            <a:endParaRPr lang="ar-SA" sz="1500" dirty="0"/>
          </a:p>
        </p:txBody>
      </p:sp>
      <p:sp>
        <p:nvSpPr>
          <p:cNvPr id="66" name="Shape 63"/>
          <p:cNvSpPr/>
          <p:nvPr/>
        </p:nvSpPr>
        <p:spPr>
          <a:xfrm>
            <a:off x="8101584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67" name="Shape 64"/>
          <p:cNvSpPr/>
          <p:nvPr/>
        </p:nvSpPr>
        <p:spPr>
          <a:xfrm>
            <a:off x="8211312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68" name="Text 65"/>
          <p:cNvSpPr txBox="1"/>
          <p:nvPr/>
        </p:nvSpPr>
        <p:spPr>
          <a:xfrm>
            <a:off x="8211312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000" dirty="0"/>
          </a:p>
        </p:txBody>
      </p:sp>
      <p:sp>
        <p:nvSpPr>
          <p:cNvPr id="69" name="Shape 66"/>
          <p:cNvSpPr/>
          <p:nvPr/>
        </p:nvSpPr>
        <p:spPr>
          <a:xfrm>
            <a:off x="8604504" y="4279392"/>
            <a:ext cx="1455725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70" name="Text 67"/>
          <p:cNvSpPr txBox="1"/>
          <p:nvPr/>
        </p:nvSpPr>
        <p:spPr>
          <a:xfrm>
            <a:off x="8604504" y="4279392"/>
            <a:ext cx="145572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pl. · a post office</a:t>
            </a:r>
            <a:endParaRPr lang="en-US" sz="800" dirty="0"/>
          </a:p>
        </p:txBody>
      </p:sp>
      <p:sp>
        <p:nvSpPr>
          <p:cNvPr id="71" name="Shape 68"/>
          <p:cNvSpPr/>
          <p:nvPr/>
        </p:nvSpPr>
        <p:spPr>
          <a:xfrm>
            <a:off x="10872216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72" name="Text 69"/>
          <p:cNvSpPr txBox="1"/>
          <p:nvPr/>
        </p:nvSpPr>
        <p:spPr>
          <a:xfrm>
            <a:off x="10872216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73" name="Text 70"/>
          <p:cNvSpPr txBox="1"/>
          <p:nvPr/>
        </p:nvSpPr>
        <p:spPr>
          <a:xfrm>
            <a:off x="8211312" y="4553712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مَكْتَبَةٌ عَامَّةٌ</a:t>
            </a:r>
            <a:endParaRPr lang="ar-SA" sz="3000" dirty="0"/>
          </a:p>
        </p:txBody>
      </p:sp>
      <p:sp>
        <p:nvSpPr>
          <p:cNvPr id="74" name="Text 71"/>
          <p:cNvSpPr txBox="1"/>
          <p:nvPr/>
        </p:nvSpPr>
        <p:spPr>
          <a:xfrm>
            <a:off x="8238744" y="5248656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a public library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mak-ta-ba-tun ʿām-ma-tun</a:t>
            </a:r>
            <a:endParaRPr lang="en-US" sz="1350" dirty="0"/>
          </a:p>
        </p:txBody>
      </p:sp>
      <p:sp>
        <p:nvSpPr>
          <p:cNvPr id="75" name="Shape 72"/>
          <p:cNvSpPr/>
          <p:nvPr/>
        </p:nvSpPr>
        <p:spPr>
          <a:xfrm>
            <a:off x="9966960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76" name="Text 73"/>
          <p:cNvSpPr txBox="1"/>
          <p:nvPr/>
        </p:nvSpPr>
        <p:spPr>
          <a:xfrm>
            <a:off x="10021824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 post office</a:t>
            </a:r>
            <a:endParaRPr lang="en-US" sz="700" dirty="0"/>
          </a:p>
        </p:txBody>
      </p:sp>
      <p:sp>
        <p:nvSpPr>
          <p:cNvPr id="77" name="Text 74"/>
          <p:cNvSpPr txBox="1"/>
          <p:nvPr/>
        </p:nvSpPr>
        <p:spPr>
          <a:xfrm>
            <a:off x="10012680" y="591616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مَكْتَبُ البَرِيدِ</a:t>
            </a:r>
            <a:endParaRPr lang="ar-SA" sz="1350" dirty="0"/>
          </a:p>
        </p:txBody>
      </p:sp>
      <p:sp>
        <p:nvSpPr>
          <p:cNvPr id="78" name="Shape 75"/>
          <p:cNvSpPr/>
          <p:nvPr/>
        </p:nvSpPr>
        <p:spPr>
          <a:xfrm>
            <a:off x="8238744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79" name="Text 76"/>
          <p:cNvSpPr txBox="1"/>
          <p:nvPr/>
        </p:nvSpPr>
        <p:spPr>
          <a:xfrm>
            <a:off x="8293608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pl.</a:t>
            </a:r>
            <a:endParaRPr lang="en-US" sz="750" dirty="0"/>
          </a:p>
        </p:txBody>
      </p:sp>
      <p:sp>
        <p:nvSpPr>
          <p:cNvPr id="80" name="Text 77"/>
          <p:cNvSpPr txBox="1"/>
          <p:nvPr/>
        </p:nvSpPr>
        <p:spPr>
          <a:xfrm>
            <a:off x="8284464" y="5824728"/>
            <a:ext cx="1545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مَكْتَبَاتٌ عَامَّةٌ</a:t>
            </a:r>
            <a:endParaRPr lang="ar-SA" sz="1500" dirty="0"/>
          </a:p>
        </p:txBody>
      </p:sp>
      <p:sp>
        <p:nvSpPr>
          <p:cNvPr id="81" name="Shape 78"/>
          <p:cNvSpPr/>
          <p:nvPr/>
        </p:nvSpPr>
        <p:spPr>
          <a:xfrm>
            <a:off x="4279392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82" name="Shape 79"/>
          <p:cNvSpPr/>
          <p:nvPr/>
        </p:nvSpPr>
        <p:spPr>
          <a:xfrm>
            <a:off x="4389120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83" name="Text 80"/>
          <p:cNvSpPr txBox="1"/>
          <p:nvPr/>
        </p:nvSpPr>
        <p:spPr>
          <a:xfrm>
            <a:off x="4389120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000" dirty="0"/>
          </a:p>
        </p:txBody>
      </p:sp>
      <p:sp>
        <p:nvSpPr>
          <p:cNvPr id="84" name="Shape 81"/>
          <p:cNvSpPr/>
          <p:nvPr/>
        </p:nvSpPr>
        <p:spPr>
          <a:xfrm>
            <a:off x="4782312" y="4279392"/>
            <a:ext cx="1144829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85" name="Text 82"/>
          <p:cNvSpPr txBox="1"/>
          <p:nvPr/>
        </p:nvSpPr>
        <p:spPr>
          <a:xfrm>
            <a:off x="4782312" y="4279392"/>
            <a:ext cx="114482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pl. · a market</a:t>
            </a:r>
            <a:endParaRPr lang="en-US" sz="800" dirty="0"/>
          </a:p>
        </p:txBody>
      </p:sp>
      <p:sp>
        <p:nvSpPr>
          <p:cNvPr id="86" name="Shape 83"/>
          <p:cNvSpPr/>
          <p:nvPr/>
        </p:nvSpPr>
        <p:spPr>
          <a:xfrm>
            <a:off x="7050024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87" name="Text 84"/>
          <p:cNvSpPr txBox="1"/>
          <p:nvPr/>
        </p:nvSpPr>
        <p:spPr>
          <a:xfrm>
            <a:off x="7050024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88" name="Text 85"/>
          <p:cNvSpPr txBox="1"/>
          <p:nvPr/>
        </p:nvSpPr>
        <p:spPr>
          <a:xfrm>
            <a:off x="4389120" y="4553712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مَرْكَزٌ تِجَارِيٌّ</a:t>
            </a:r>
            <a:endParaRPr lang="ar-SA" sz="3000" dirty="0"/>
          </a:p>
        </p:txBody>
      </p:sp>
      <p:sp>
        <p:nvSpPr>
          <p:cNvPr id="89" name="Text 86"/>
          <p:cNvSpPr txBox="1"/>
          <p:nvPr/>
        </p:nvSpPr>
        <p:spPr>
          <a:xfrm>
            <a:off x="4416552" y="5248656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a shopping centre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mar-ka-zun ti-jā-riy-yun</a:t>
            </a:r>
            <a:endParaRPr lang="en-US" sz="1350" dirty="0"/>
          </a:p>
        </p:txBody>
      </p:sp>
      <p:sp>
        <p:nvSpPr>
          <p:cNvPr id="90" name="Shape 87"/>
          <p:cNvSpPr/>
          <p:nvPr/>
        </p:nvSpPr>
        <p:spPr>
          <a:xfrm>
            <a:off x="6144768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91" name="Text 88"/>
          <p:cNvSpPr txBox="1"/>
          <p:nvPr/>
        </p:nvSpPr>
        <p:spPr>
          <a:xfrm>
            <a:off x="6199632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 market</a:t>
            </a:r>
            <a:endParaRPr lang="en-US" sz="700" dirty="0"/>
          </a:p>
        </p:txBody>
      </p:sp>
      <p:sp>
        <p:nvSpPr>
          <p:cNvPr id="92" name="Text 89"/>
          <p:cNvSpPr txBox="1"/>
          <p:nvPr/>
        </p:nvSpPr>
        <p:spPr>
          <a:xfrm>
            <a:off x="6190488" y="591616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سُوقٌ · أَسْوَاقٌ</a:t>
            </a:r>
            <a:endParaRPr lang="ar-SA" sz="1350" dirty="0"/>
          </a:p>
        </p:txBody>
      </p:sp>
      <p:sp>
        <p:nvSpPr>
          <p:cNvPr id="93" name="Shape 90"/>
          <p:cNvSpPr/>
          <p:nvPr/>
        </p:nvSpPr>
        <p:spPr>
          <a:xfrm>
            <a:off x="4416552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94" name="Text 91"/>
          <p:cNvSpPr txBox="1"/>
          <p:nvPr/>
        </p:nvSpPr>
        <p:spPr>
          <a:xfrm>
            <a:off x="4471416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pl.</a:t>
            </a:r>
            <a:endParaRPr lang="en-US" sz="750" dirty="0"/>
          </a:p>
        </p:txBody>
      </p:sp>
      <p:sp>
        <p:nvSpPr>
          <p:cNvPr id="95" name="Text 92"/>
          <p:cNvSpPr txBox="1"/>
          <p:nvPr/>
        </p:nvSpPr>
        <p:spPr>
          <a:xfrm>
            <a:off x="4462272" y="5824728"/>
            <a:ext cx="1545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مَرَاكِزُ تِجَارِيَّةٌ</a:t>
            </a:r>
            <a:endParaRPr lang="ar-SA" sz="1500" dirty="0"/>
          </a:p>
        </p:txBody>
      </p:sp>
      <p:sp>
        <p:nvSpPr>
          <p:cNvPr id="96" name="Shape 93"/>
          <p:cNvSpPr/>
          <p:nvPr/>
        </p:nvSpPr>
        <p:spPr>
          <a:xfrm>
            <a:off x="457200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97" name="Shape 94"/>
          <p:cNvSpPr/>
          <p:nvPr/>
        </p:nvSpPr>
        <p:spPr>
          <a:xfrm>
            <a:off x="566928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98" name="Text 95"/>
          <p:cNvSpPr txBox="1"/>
          <p:nvPr/>
        </p:nvSpPr>
        <p:spPr>
          <a:xfrm>
            <a:off x="566928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6</a:t>
            </a:r>
            <a:endParaRPr lang="en-US" sz="1000" dirty="0"/>
          </a:p>
        </p:txBody>
      </p:sp>
      <p:sp>
        <p:nvSpPr>
          <p:cNvPr id="99" name="Shape 96"/>
          <p:cNvSpPr/>
          <p:nvPr/>
        </p:nvSpPr>
        <p:spPr>
          <a:xfrm>
            <a:off x="960120" y="4279392"/>
            <a:ext cx="1704442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100" name="Text 97"/>
          <p:cNvSpPr txBox="1"/>
          <p:nvPr/>
        </p:nvSpPr>
        <p:spPr>
          <a:xfrm>
            <a:off x="960120" y="4279392"/>
            <a:ext cx="170444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pl. · the train station</a:t>
            </a:r>
            <a:endParaRPr lang="en-US" sz="800" dirty="0"/>
          </a:p>
        </p:txBody>
      </p:sp>
      <p:sp>
        <p:nvSpPr>
          <p:cNvPr id="101" name="Shape 98"/>
          <p:cNvSpPr/>
          <p:nvPr/>
        </p:nvSpPr>
        <p:spPr>
          <a:xfrm>
            <a:off x="3227832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102" name="Text 99"/>
          <p:cNvSpPr txBox="1"/>
          <p:nvPr/>
        </p:nvSpPr>
        <p:spPr>
          <a:xfrm>
            <a:off x="3227832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103" name="Text 100"/>
          <p:cNvSpPr txBox="1"/>
          <p:nvPr/>
        </p:nvSpPr>
        <p:spPr>
          <a:xfrm>
            <a:off x="566928" y="4553712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مَحَطَّةٌ</a:t>
            </a:r>
            <a:endParaRPr lang="ar-SA" sz="3000" dirty="0"/>
          </a:p>
        </p:txBody>
      </p:sp>
      <p:sp>
        <p:nvSpPr>
          <p:cNvPr id="104" name="Text 101"/>
          <p:cNvSpPr txBox="1"/>
          <p:nvPr/>
        </p:nvSpPr>
        <p:spPr>
          <a:xfrm>
            <a:off x="594360" y="5248656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a station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ma-ḥaṭ-ṭa-tun</a:t>
            </a:r>
            <a:endParaRPr lang="en-US" sz="1350" dirty="0"/>
          </a:p>
        </p:txBody>
      </p:sp>
      <p:sp>
        <p:nvSpPr>
          <p:cNvPr id="105" name="Shape 102"/>
          <p:cNvSpPr/>
          <p:nvPr/>
        </p:nvSpPr>
        <p:spPr>
          <a:xfrm>
            <a:off x="2322576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106" name="Text 103"/>
          <p:cNvSpPr txBox="1"/>
          <p:nvPr/>
        </p:nvSpPr>
        <p:spPr>
          <a:xfrm>
            <a:off x="2377440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the train station</a:t>
            </a:r>
            <a:endParaRPr lang="en-US" sz="700" dirty="0"/>
          </a:p>
        </p:txBody>
      </p:sp>
      <p:sp>
        <p:nvSpPr>
          <p:cNvPr id="107" name="Text 104"/>
          <p:cNvSpPr txBox="1"/>
          <p:nvPr/>
        </p:nvSpPr>
        <p:spPr>
          <a:xfrm>
            <a:off x="2368296" y="591616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مَحَطَّةُ القِطَارِ</a:t>
            </a:r>
            <a:endParaRPr lang="ar-SA" sz="1350" dirty="0"/>
          </a:p>
        </p:txBody>
      </p:sp>
      <p:sp>
        <p:nvSpPr>
          <p:cNvPr id="108" name="Shape 105"/>
          <p:cNvSpPr/>
          <p:nvPr/>
        </p:nvSpPr>
        <p:spPr>
          <a:xfrm>
            <a:off x="594360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109" name="Text 106"/>
          <p:cNvSpPr txBox="1"/>
          <p:nvPr/>
        </p:nvSpPr>
        <p:spPr>
          <a:xfrm>
            <a:off x="649224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pl.</a:t>
            </a:r>
            <a:endParaRPr lang="en-US" sz="750" dirty="0"/>
          </a:p>
        </p:txBody>
      </p:sp>
      <p:sp>
        <p:nvSpPr>
          <p:cNvPr id="110" name="Text 107"/>
          <p:cNvSpPr txBox="1"/>
          <p:nvPr/>
        </p:nvSpPr>
        <p:spPr>
          <a:xfrm>
            <a:off x="640080" y="5824728"/>
            <a:ext cx="1545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مَحَطَّاتٌ</a:t>
            </a:r>
            <a:endParaRPr lang="ar-SA" sz="1500" dirty="0"/>
          </a:p>
        </p:txBody>
      </p:sp>
      <p:sp>
        <p:nvSpPr>
          <p:cNvPr id="111" name="Text 108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5 / 25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TC-L08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6308446" y="274320"/>
            <a:ext cx="2451506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308446" y="274320"/>
            <a:ext cx="245150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TEACHER INSTRUCTION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LANGUAGE BANK · WHERE IS IT?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Opposite, next to, between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أَيْنَ يَقَعُ؟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C · Speaking workshop · TC-L08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8101584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8211312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8211312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7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8604504" y="1938528"/>
            <a:ext cx="833933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8604504" y="1938528"/>
            <a:ext cx="83393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locatives</a:t>
            </a:r>
            <a:endParaRPr lang="en-US" sz="800" dirty="0"/>
          </a:p>
        </p:txBody>
      </p:sp>
      <p:sp>
        <p:nvSpPr>
          <p:cNvPr id="20" name="Shape 17"/>
          <p:cNvSpPr/>
          <p:nvPr/>
        </p:nvSpPr>
        <p:spPr>
          <a:xfrm>
            <a:off x="10872216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10872216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22" name="Text 19"/>
          <p:cNvSpPr txBox="1"/>
          <p:nvPr/>
        </p:nvSpPr>
        <p:spPr>
          <a:xfrm>
            <a:off x="8211312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مُقَابِلَ …</a:t>
            </a:r>
            <a:endParaRPr lang="ar-SA" sz="3000" dirty="0"/>
          </a:p>
        </p:txBody>
      </p:sp>
      <p:sp>
        <p:nvSpPr>
          <p:cNvPr id="23" name="Text 20"/>
          <p:cNvSpPr txBox="1"/>
          <p:nvPr/>
        </p:nvSpPr>
        <p:spPr>
          <a:xfrm>
            <a:off x="8238744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opposite …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mu-qā-bi-la …</a:t>
            </a:r>
            <a:endParaRPr lang="en-US" sz="1350" dirty="0"/>
          </a:p>
        </p:txBody>
      </p:sp>
      <p:sp>
        <p:nvSpPr>
          <p:cNvPr id="24" name="Shape 21"/>
          <p:cNvSpPr/>
          <p:nvPr/>
        </p:nvSpPr>
        <p:spPr>
          <a:xfrm>
            <a:off x="9966960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10021824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between</a:t>
            </a:r>
            <a:endParaRPr lang="en-US" sz="700" dirty="0"/>
          </a:p>
        </p:txBody>
      </p:sp>
      <p:sp>
        <p:nvSpPr>
          <p:cNvPr id="26" name="Text 23"/>
          <p:cNvSpPr txBox="1"/>
          <p:nvPr/>
        </p:nvSpPr>
        <p:spPr>
          <a:xfrm>
            <a:off x="10012680" y="3575304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بَيْنَ … وَ…</a:t>
            </a:r>
            <a:endParaRPr lang="ar-SA" sz="1350" dirty="0"/>
          </a:p>
        </p:txBody>
      </p:sp>
      <p:sp>
        <p:nvSpPr>
          <p:cNvPr id="27" name="Shape 24"/>
          <p:cNvSpPr/>
          <p:nvPr/>
        </p:nvSpPr>
        <p:spPr>
          <a:xfrm>
            <a:off x="8238744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293608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next to</a:t>
            </a:r>
            <a:endParaRPr lang="en-US" sz="700" dirty="0"/>
          </a:p>
        </p:txBody>
      </p:sp>
      <p:sp>
        <p:nvSpPr>
          <p:cNvPr id="29" name="Text 26"/>
          <p:cNvSpPr txBox="1"/>
          <p:nvPr/>
        </p:nvSpPr>
        <p:spPr>
          <a:xfrm>
            <a:off x="8284464" y="3575304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بِجَانِبِ</a:t>
            </a:r>
            <a:endParaRPr lang="ar-SA" sz="1350" dirty="0"/>
          </a:p>
        </p:txBody>
      </p:sp>
      <p:sp>
        <p:nvSpPr>
          <p:cNvPr id="30" name="Shape 27"/>
          <p:cNvSpPr/>
          <p:nvPr/>
        </p:nvSpPr>
        <p:spPr>
          <a:xfrm>
            <a:off x="4279392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1" name="Shape 28"/>
          <p:cNvSpPr/>
          <p:nvPr/>
        </p:nvSpPr>
        <p:spPr>
          <a:xfrm>
            <a:off x="4389120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4389120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8</a:t>
            </a:r>
            <a:endParaRPr lang="en-US" sz="1000" dirty="0"/>
          </a:p>
        </p:txBody>
      </p:sp>
      <p:sp>
        <p:nvSpPr>
          <p:cNvPr id="33" name="Shape 30"/>
          <p:cNvSpPr/>
          <p:nvPr/>
        </p:nvSpPr>
        <p:spPr>
          <a:xfrm>
            <a:off x="4782312" y="1938528"/>
            <a:ext cx="833933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4782312" y="1938528"/>
            <a:ext cx="83393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locatives</a:t>
            </a:r>
            <a:endParaRPr lang="en-US" sz="800" dirty="0"/>
          </a:p>
        </p:txBody>
      </p:sp>
      <p:sp>
        <p:nvSpPr>
          <p:cNvPr id="35" name="Shape 32"/>
          <p:cNvSpPr/>
          <p:nvPr/>
        </p:nvSpPr>
        <p:spPr>
          <a:xfrm>
            <a:off x="7050024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7050024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37" name="Text 34"/>
          <p:cNvSpPr txBox="1"/>
          <p:nvPr/>
        </p:nvSpPr>
        <p:spPr>
          <a:xfrm>
            <a:off x="4389120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خَلْفَ · أَمَامَ</a:t>
            </a:r>
            <a:endParaRPr lang="ar-SA" sz="3000" dirty="0"/>
          </a:p>
        </p:txBody>
      </p:sp>
      <p:sp>
        <p:nvSpPr>
          <p:cNvPr id="38" name="Text 35"/>
          <p:cNvSpPr txBox="1"/>
          <p:nvPr/>
        </p:nvSpPr>
        <p:spPr>
          <a:xfrm>
            <a:off x="4416552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behind · in front of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khal-fa · a-mā-ma</a:t>
            </a:r>
            <a:endParaRPr lang="en-US" sz="1350" dirty="0"/>
          </a:p>
        </p:txBody>
      </p:sp>
      <p:sp>
        <p:nvSpPr>
          <p:cNvPr id="39" name="Shape 36"/>
          <p:cNvSpPr/>
          <p:nvPr/>
        </p:nvSpPr>
        <p:spPr>
          <a:xfrm>
            <a:off x="6144768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6199632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far from</a:t>
            </a:r>
            <a:endParaRPr lang="en-US" sz="700" dirty="0"/>
          </a:p>
        </p:txBody>
      </p:sp>
      <p:sp>
        <p:nvSpPr>
          <p:cNvPr id="41" name="Text 38"/>
          <p:cNvSpPr txBox="1"/>
          <p:nvPr/>
        </p:nvSpPr>
        <p:spPr>
          <a:xfrm>
            <a:off x="6190488" y="3575304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بَعِيدٌ عَنْ</a:t>
            </a:r>
            <a:endParaRPr lang="ar-SA" sz="1350" dirty="0"/>
          </a:p>
        </p:txBody>
      </p:sp>
      <p:sp>
        <p:nvSpPr>
          <p:cNvPr id="42" name="Shape 39"/>
          <p:cNvSpPr/>
          <p:nvPr/>
        </p:nvSpPr>
        <p:spPr>
          <a:xfrm>
            <a:off x="4416552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4471416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near</a:t>
            </a:r>
            <a:endParaRPr lang="en-US" sz="700" dirty="0"/>
          </a:p>
        </p:txBody>
      </p:sp>
      <p:sp>
        <p:nvSpPr>
          <p:cNvPr id="44" name="Text 41"/>
          <p:cNvSpPr txBox="1"/>
          <p:nvPr/>
        </p:nvSpPr>
        <p:spPr>
          <a:xfrm>
            <a:off x="4462272" y="3575304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قُرْبَ</a:t>
            </a:r>
            <a:endParaRPr lang="ar-SA" sz="1350" dirty="0"/>
          </a:p>
        </p:txBody>
      </p:sp>
      <p:sp>
        <p:nvSpPr>
          <p:cNvPr id="45" name="Shape 42"/>
          <p:cNvSpPr/>
          <p:nvPr/>
        </p:nvSpPr>
        <p:spPr>
          <a:xfrm>
            <a:off x="457200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6" name="Shape 43"/>
          <p:cNvSpPr/>
          <p:nvPr/>
        </p:nvSpPr>
        <p:spPr>
          <a:xfrm>
            <a:off x="566928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566928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9</a:t>
            </a:r>
            <a:endParaRPr lang="en-US" sz="1000" dirty="0"/>
          </a:p>
        </p:txBody>
      </p:sp>
      <p:sp>
        <p:nvSpPr>
          <p:cNvPr id="48" name="Shape 45"/>
          <p:cNvSpPr/>
          <p:nvPr/>
        </p:nvSpPr>
        <p:spPr>
          <a:xfrm>
            <a:off x="960120" y="1938528"/>
            <a:ext cx="1331366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960120" y="1938528"/>
            <a:ext cx="133136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pl. · residential</a:t>
            </a:r>
            <a:endParaRPr lang="en-US" sz="800" dirty="0"/>
          </a:p>
        </p:txBody>
      </p:sp>
      <p:sp>
        <p:nvSpPr>
          <p:cNvPr id="50" name="Shape 47"/>
          <p:cNvSpPr/>
          <p:nvPr/>
        </p:nvSpPr>
        <p:spPr>
          <a:xfrm>
            <a:off x="3227832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51" name="Text 48"/>
          <p:cNvSpPr txBox="1"/>
          <p:nvPr/>
        </p:nvSpPr>
        <p:spPr>
          <a:xfrm>
            <a:off x="3227832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52" name="Text 49"/>
          <p:cNvSpPr txBox="1"/>
          <p:nvPr/>
        </p:nvSpPr>
        <p:spPr>
          <a:xfrm>
            <a:off x="566928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حَيٌّ</a:t>
            </a:r>
            <a:endParaRPr lang="ar-SA" sz="3000" dirty="0"/>
          </a:p>
        </p:txBody>
      </p:sp>
      <p:sp>
        <p:nvSpPr>
          <p:cNvPr id="53" name="Text 50"/>
          <p:cNvSpPr txBox="1"/>
          <p:nvPr/>
        </p:nvSpPr>
        <p:spPr>
          <a:xfrm>
            <a:off x="594360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a neighbourhood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ḥay-yun</a:t>
            </a:r>
            <a:endParaRPr lang="en-US" sz="1350" dirty="0"/>
          </a:p>
        </p:txBody>
      </p:sp>
      <p:sp>
        <p:nvSpPr>
          <p:cNvPr id="54" name="Shape 51"/>
          <p:cNvSpPr/>
          <p:nvPr/>
        </p:nvSpPr>
        <p:spPr>
          <a:xfrm>
            <a:off x="2322576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55" name="Text 52"/>
          <p:cNvSpPr txBox="1"/>
          <p:nvPr/>
        </p:nvSpPr>
        <p:spPr>
          <a:xfrm>
            <a:off x="2377440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residential</a:t>
            </a:r>
            <a:endParaRPr lang="en-US" sz="700" dirty="0"/>
          </a:p>
        </p:txBody>
      </p:sp>
      <p:sp>
        <p:nvSpPr>
          <p:cNvPr id="56" name="Text 53"/>
          <p:cNvSpPr txBox="1"/>
          <p:nvPr/>
        </p:nvSpPr>
        <p:spPr>
          <a:xfrm>
            <a:off x="2368296" y="3575304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حَيٌّ سَكَنِيٌّ</a:t>
            </a:r>
            <a:endParaRPr lang="ar-SA" sz="1350" dirty="0"/>
          </a:p>
        </p:txBody>
      </p:sp>
      <p:sp>
        <p:nvSpPr>
          <p:cNvPr id="57" name="Shape 54"/>
          <p:cNvSpPr/>
          <p:nvPr/>
        </p:nvSpPr>
        <p:spPr>
          <a:xfrm>
            <a:off x="594360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58" name="Text 55"/>
          <p:cNvSpPr txBox="1"/>
          <p:nvPr/>
        </p:nvSpPr>
        <p:spPr>
          <a:xfrm>
            <a:off x="649224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pl.</a:t>
            </a:r>
            <a:endParaRPr lang="en-US" sz="750" dirty="0"/>
          </a:p>
        </p:txBody>
      </p:sp>
      <p:sp>
        <p:nvSpPr>
          <p:cNvPr id="59" name="Text 56"/>
          <p:cNvSpPr txBox="1"/>
          <p:nvPr/>
        </p:nvSpPr>
        <p:spPr>
          <a:xfrm>
            <a:off x="640080" y="3483864"/>
            <a:ext cx="1545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أَحْيَاءٌ</a:t>
            </a:r>
            <a:endParaRPr lang="ar-SA" sz="1500" dirty="0"/>
          </a:p>
        </p:txBody>
      </p:sp>
      <p:sp>
        <p:nvSpPr>
          <p:cNvPr id="60" name="Shape 57"/>
          <p:cNvSpPr/>
          <p:nvPr/>
        </p:nvSpPr>
        <p:spPr>
          <a:xfrm>
            <a:off x="8101584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61" name="Shape 58"/>
          <p:cNvSpPr/>
          <p:nvPr/>
        </p:nvSpPr>
        <p:spPr>
          <a:xfrm>
            <a:off x="8211312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62" name="Text 59"/>
          <p:cNvSpPr txBox="1"/>
          <p:nvPr/>
        </p:nvSpPr>
        <p:spPr>
          <a:xfrm>
            <a:off x="8211312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10</a:t>
            </a:r>
            <a:endParaRPr lang="en-US" sz="1000" dirty="0"/>
          </a:p>
        </p:txBody>
      </p:sp>
      <p:sp>
        <p:nvSpPr>
          <p:cNvPr id="63" name="Shape 60"/>
          <p:cNvSpPr/>
          <p:nvPr/>
        </p:nvSpPr>
        <p:spPr>
          <a:xfrm>
            <a:off x="8604504" y="4279392"/>
            <a:ext cx="896112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64" name="Text 61"/>
          <p:cNvSpPr txBox="1"/>
          <p:nvPr/>
        </p:nvSpPr>
        <p:spPr>
          <a:xfrm>
            <a:off x="8604504" y="4279392"/>
            <a:ext cx="896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f. · comp.</a:t>
            </a:r>
            <a:endParaRPr lang="en-US" sz="800" dirty="0"/>
          </a:p>
        </p:txBody>
      </p:sp>
      <p:sp>
        <p:nvSpPr>
          <p:cNvPr id="65" name="Shape 62"/>
          <p:cNvSpPr/>
          <p:nvPr/>
        </p:nvSpPr>
        <p:spPr>
          <a:xfrm>
            <a:off x="10872216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6" name="Text 63"/>
          <p:cNvSpPr txBox="1"/>
          <p:nvPr/>
        </p:nvSpPr>
        <p:spPr>
          <a:xfrm>
            <a:off x="10872216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67" name="Text 64"/>
          <p:cNvSpPr txBox="1"/>
          <p:nvPr/>
        </p:nvSpPr>
        <p:spPr>
          <a:xfrm>
            <a:off x="8211312" y="4553712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مُزْدَحِمٌ · هَادِئٌ</a:t>
            </a:r>
            <a:endParaRPr lang="ar-SA" sz="3000" dirty="0"/>
          </a:p>
        </p:txBody>
      </p:sp>
      <p:sp>
        <p:nvSpPr>
          <p:cNvPr id="68" name="Text 65"/>
          <p:cNvSpPr txBox="1"/>
          <p:nvPr/>
        </p:nvSpPr>
        <p:spPr>
          <a:xfrm>
            <a:off x="8238744" y="5248656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crowded · quiet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muz-da-ḥi-mun · hā-di-ʾun</a:t>
            </a:r>
            <a:endParaRPr lang="en-US" sz="1350" dirty="0"/>
          </a:p>
        </p:txBody>
      </p:sp>
      <p:sp>
        <p:nvSpPr>
          <p:cNvPr id="69" name="Shape 66"/>
          <p:cNvSpPr/>
          <p:nvPr/>
        </p:nvSpPr>
        <p:spPr>
          <a:xfrm>
            <a:off x="9966960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70" name="Text 67"/>
          <p:cNvSpPr txBox="1"/>
          <p:nvPr/>
        </p:nvSpPr>
        <p:spPr>
          <a:xfrm>
            <a:off x="10021824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comp.</a:t>
            </a:r>
            <a:endParaRPr lang="en-US" sz="700" dirty="0"/>
          </a:p>
        </p:txBody>
      </p:sp>
      <p:sp>
        <p:nvSpPr>
          <p:cNvPr id="71" name="Text 68"/>
          <p:cNvSpPr txBox="1"/>
          <p:nvPr/>
        </p:nvSpPr>
        <p:spPr>
          <a:xfrm>
            <a:off x="10012680" y="591616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أَكْثَرُ ازْدِحَامًا · أَهْدَأُ</a:t>
            </a:r>
            <a:endParaRPr lang="ar-SA" sz="1350" dirty="0"/>
          </a:p>
        </p:txBody>
      </p:sp>
      <p:sp>
        <p:nvSpPr>
          <p:cNvPr id="72" name="Shape 69"/>
          <p:cNvSpPr/>
          <p:nvPr/>
        </p:nvSpPr>
        <p:spPr>
          <a:xfrm>
            <a:off x="8238744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73" name="Text 70"/>
          <p:cNvSpPr txBox="1"/>
          <p:nvPr/>
        </p:nvSpPr>
        <p:spPr>
          <a:xfrm>
            <a:off x="8293608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f.</a:t>
            </a:r>
            <a:endParaRPr lang="en-US" sz="750" dirty="0"/>
          </a:p>
        </p:txBody>
      </p:sp>
      <p:sp>
        <p:nvSpPr>
          <p:cNvPr id="74" name="Text 71"/>
          <p:cNvSpPr txBox="1"/>
          <p:nvPr/>
        </p:nvSpPr>
        <p:spPr>
          <a:xfrm>
            <a:off x="8284464" y="5824728"/>
            <a:ext cx="1545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مُزْدَحِمَةٌ · هَادِئَةٌ</a:t>
            </a:r>
            <a:endParaRPr lang="ar-SA" sz="1500" dirty="0"/>
          </a:p>
        </p:txBody>
      </p:sp>
      <p:sp>
        <p:nvSpPr>
          <p:cNvPr id="75" name="Shape 72"/>
          <p:cNvSpPr/>
          <p:nvPr/>
        </p:nvSpPr>
        <p:spPr>
          <a:xfrm>
            <a:off x="4279392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76" name="Shape 73"/>
          <p:cNvSpPr/>
          <p:nvPr/>
        </p:nvSpPr>
        <p:spPr>
          <a:xfrm>
            <a:off x="4389120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77" name="Text 74"/>
          <p:cNvSpPr txBox="1"/>
          <p:nvPr/>
        </p:nvSpPr>
        <p:spPr>
          <a:xfrm>
            <a:off x="4389120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11</a:t>
            </a:r>
            <a:endParaRPr lang="en-US" sz="1000" dirty="0"/>
          </a:p>
        </p:txBody>
      </p:sp>
      <p:sp>
        <p:nvSpPr>
          <p:cNvPr id="78" name="Shape 75"/>
          <p:cNvSpPr/>
          <p:nvPr/>
        </p:nvSpPr>
        <p:spPr>
          <a:xfrm>
            <a:off x="4782312" y="4279392"/>
            <a:ext cx="1393546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79" name="Text 76"/>
          <p:cNvSpPr txBox="1"/>
          <p:nvPr/>
        </p:nvSpPr>
        <p:spPr>
          <a:xfrm>
            <a:off x="4782312" y="4279392"/>
            <a:ext cx="139354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passive participle</a:t>
            </a:r>
            <a:endParaRPr lang="en-US" sz="800" dirty="0"/>
          </a:p>
        </p:txBody>
      </p:sp>
      <p:sp>
        <p:nvSpPr>
          <p:cNvPr id="80" name="Shape 77"/>
          <p:cNvSpPr/>
          <p:nvPr/>
        </p:nvSpPr>
        <p:spPr>
          <a:xfrm>
            <a:off x="7050024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81" name="Text 78"/>
          <p:cNvSpPr txBox="1"/>
          <p:nvPr/>
        </p:nvSpPr>
        <p:spPr>
          <a:xfrm>
            <a:off x="7050024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82" name="Text 79"/>
          <p:cNvSpPr txBox="1"/>
          <p:nvPr/>
        </p:nvSpPr>
        <p:spPr>
          <a:xfrm>
            <a:off x="4389120" y="4553712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مَبْنِيٌّ مِنْ …</a:t>
            </a:r>
            <a:endParaRPr lang="ar-SA" sz="3000" dirty="0"/>
          </a:p>
        </p:txBody>
      </p:sp>
      <p:sp>
        <p:nvSpPr>
          <p:cNvPr id="83" name="Text 80"/>
          <p:cNvSpPr txBox="1"/>
          <p:nvPr/>
        </p:nvSpPr>
        <p:spPr>
          <a:xfrm>
            <a:off x="4416552" y="5248656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built of …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mab-niy-yun min …</a:t>
            </a:r>
            <a:endParaRPr lang="en-US" sz="1350" dirty="0"/>
          </a:p>
        </p:txBody>
      </p:sp>
      <p:sp>
        <p:nvSpPr>
          <p:cNvPr id="84" name="Shape 81"/>
          <p:cNvSpPr/>
          <p:nvPr/>
        </p:nvSpPr>
        <p:spPr>
          <a:xfrm>
            <a:off x="6144768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85" name="Text 82"/>
          <p:cNvSpPr txBox="1"/>
          <p:nvPr/>
        </p:nvSpPr>
        <p:spPr>
          <a:xfrm>
            <a:off x="6199632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stone · brick · glass</a:t>
            </a:r>
            <a:endParaRPr lang="en-US" sz="700" dirty="0"/>
          </a:p>
        </p:txBody>
      </p:sp>
      <p:sp>
        <p:nvSpPr>
          <p:cNvPr id="86" name="Text 83"/>
          <p:cNvSpPr txBox="1"/>
          <p:nvPr/>
        </p:nvSpPr>
        <p:spPr>
          <a:xfrm>
            <a:off x="6190488" y="591616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الحَجَرُ · الطُّوبُ · الزُّجَاجُ</a:t>
            </a:r>
            <a:endParaRPr lang="ar-SA" sz="1350" dirty="0"/>
          </a:p>
        </p:txBody>
      </p:sp>
      <p:sp>
        <p:nvSpPr>
          <p:cNvPr id="87" name="Shape 84"/>
          <p:cNvSpPr/>
          <p:nvPr/>
        </p:nvSpPr>
        <p:spPr>
          <a:xfrm>
            <a:off x="4416552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88" name="Text 85"/>
          <p:cNvSpPr txBox="1"/>
          <p:nvPr/>
        </p:nvSpPr>
        <p:spPr>
          <a:xfrm>
            <a:off x="4471416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f.</a:t>
            </a:r>
            <a:endParaRPr lang="en-US" sz="750" dirty="0"/>
          </a:p>
        </p:txBody>
      </p:sp>
      <p:sp>
        <p:nvSpPr>
          <p:cNvPr id="89" name="Text 86"/>
          <p:cNvSpPr txBox="1"/>
          <p:nvPr/>
        </p:nvSpPr>
        <p:spPr>
          <a:xfrm>
            <a:off x="4462272" y="5824728"/>
            <a:ext cx="1545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مَبْنِيَّةٌ مِنْ</a:t>
            </a:r>
            <a:endParaRPr lang="ar-SA" sz="1500" dirty="0"/>
          </a:p>
        </p:txBody>
      </p:sp>
      <p:sp>
        <p:nvSpPr>
          <p:cNvPr id="90" name="Shape 87"/>
          <p:cNvSpPr/>
          <p:nvPr/>
        </p:nvSpPr>
        <p:spPr>
          <a:xfrm>
            <a:off x="457200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91" name="Shape 88"/>
          <p:cNvSpPr/>
          <p:nvPr/>
        </p:nvSpPr>
        <p:spPr>
          <a:xfrm>
            <a:off x="566928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92" name="Text 89"/>
          <p:cNvSpPr txBox="1"/>
          <p:nvPr/>
        </p:nvSpPr>
        <p:spPr>
          <a:xfrm>
            <a:off x="566928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12</a:t>
            </a:r>
            <a:endParaRPr lang="en-US" sz="1000" dirty="0"/>
          </a:p>
        </p:txBody>
      </p:sp>
      <p:sp>
        <p:nvSpPr>
          <p:cNvPr id="93" name="Shape 90"/>
          <p:cNvSpPr/>
          <p:nvPr/>
        </p:nvSpPr>
        <p:spPr>
          <a:xfrm>
            <a:off x="960120" y="4279392"/>
            <a:ext cx="1766621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94" name="Text 91"/>
          <p:cNvSpPr txBox="1"/>
          <p:nvPr/>
        </p:nvSpPr>
        <p:spPr>
          <a:xfrm>
            <a:off x="960120" y="4279392"/>
            <a:ext cx="1766621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sg. · public · transport</a:t>
            </a:r>
            <a:endParaRPr lang="en-US" sz="800" dirty="0"/>
          </a:p>
        </p:txBody>
      </p:sp>
      <p:sp>
        <p:nvSpPr>
          <p:cNvPr id="95" name="Shape 92"/>
          <p:cNvSpPr/>
          <p:nvPr/>
        </p:nvSpPr>
        <p:spPr>
          <a:xfrm>
            <a:off x="3227832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96" name="Text 93"/>
          <p:cNvSpPr txBox="1"/>
          <p:nvPr/>
        </p:nvSpPr>
        <p:spPr>
          <a:xfrm>
            <a:off x="3227832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97" name="Text 94"/>
          <p:cNvSpPr txBox="1"/>
          <p:nvPr/>
        </p:nvSpPr>
        <p:spPr>
          <a:xfrm>
            <a:off x="566928" y="4553712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خِدْمَاتٌ</a:t>
            </a:r>
            <a:endParaRPr lang="ar-SA" sz="3000" dirty="0"/>
          </a:p>
        </p:txBody>
      </p:sp>
      <p:sp>
        <p:nvSpPr>
          <p:cNvPr id="98" name="Text 95"/>
          <p:cNvSpPr txBox="1"/>
          <p:nvPr/>
        </p:nvSpPr>
        <p:spPr>
          <a:xfrm>
            <a:off x="594360" y="5248656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services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khid-mā-tun</a:t>
            </a:r>
            <a:endParaRPr lang="en-US" sz="1350" dirty="0"/>
          </a:p>
        </p:txBody>
      </p:sp>
      <p:sp>
        <p:nvSpPr>
          <p:cNvPr id="99" name="Shape 96"/>
          <p:cNvSpPr/>
          <p:nvPr/>
        </p:nvSpPr>
        <p:spPr>
          <a:xfrm>
            <a:off x="2898648" y="5779008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100" name="Text 97"/>
          <p:cNvSpPr txBox="1"/>
          <p:nvPr/>
        </p:nvSpPr>
        <p:spPr>
          <a:xfrm>
            <a:off x="2953512" y="5788152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transport</a:t>
            </a:r>
            <a:endParaRPr lang="en-US" sz="700" dirty="0"/>
          </a:p>
        </p:txBody>
      </p:sp>
      <p:sp>
        <p:nvSpPr>
          <p:cNvPr id="101" name="Text 98"/>
          <p:cNvSpPr txBox="1"/>
          <p:nvPr/>
        </p:nvSpPr>
        <p:spPr>
          <a:xfrm>
            <a:off x="2944368" y="5916168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المُوَاصَلَاتُ</a:t>
            </a:r>
            <a:endParaRPr lang="ar-SA" sz="1350" dirty="0"/>
          </a:p>
        </p:txBody>
      </p:sp>
      <p:sp>
        <p:nvSpPr>
          <p:cNvPr id="102" name="Shape 99"/>
          <p:cNvSpPr/>
          <p:nvPr/>
        </p:nvSpPr>
        <p:spPr>
          <a:xfrm>
            <a:off x="1746504" y="5779008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103" name="Text 100"/>
          <p:cNvSpPr txBox="1"/>
          <p:nvPr/>
        </p:nvSpPr>
        <p:spPr>
          <a:xfrm>
            <a:off x="1801368" y="5788152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public</a:t>
            </a:r>
            <a:endParaRPr lang="en-US" sz="700" dirty="0"/>
          </a:p>
        </p:txBody>
      </p:sp>
      <p:sp>
        <p:nvSpPr>
          <p:cNvPr id="104" name="Text 101"/>
          <p:cNvSpPr txBox="1"/>
          <p:nvPr/>
        </p:nvSpPr>
        <p:spPr>
          <a:xfrm>
            <a:off x="1792224" y="5916168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خِدْمَاتٌ عَامَّةٌ</a:t>
            </a:r>
            <a:endParaRPr lang="ar-SA" sz="1350" dirty="0"/>
          </a:p>
        </p:txBody>
      </p:sp>
      <p:sp>
        <p:nvSpPr>
          <p:cNvPr id="105" name="Shape 102"/>
          <p:cNvSpPr/>
          <p:nvPr/>
        </p:nvSpPr>
        <p:spPr>
          <a:xfrm>
            <a:off x="594360" y="5779008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106" name="Text 103"/>
          <p:cNvSpPr txBox="1"/>
          <p:nvPr/>
        </p:nvSpPr>
        <p:spPr>
          <a:xfrm>
            <a:off x="649224" y="5788152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sg.</a:t>
            </a:r>
            <a:endParaRPr lang="en-US" sz="750" dirty="0"/>
          </a:p>
        </p:txBody>
      </p:sp>
      <p:sp>
        <p:nvSpPr>
          <p:cNvPr id="107" name="Text 104"/>
          <p:cNvSpPr txBox="1"/>
          <p:nvPr/>
        </p:nvSpPr>
        <p:spPr>
          <a:xfrm>
            <a:off x="640080" y="5824728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خِدْمَةٌ</a:t>
            </a:r>
            <a:endParaRPr lang="ar-SA" sz="1500" dirty="0"/>
          </a:p>
        </p:txBody>
      </p:sp>
      <p:sp>
        <p:nvSpPr>
          <p:cNvPr id="108" name="Text 105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6 / 25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TC-L08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3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BREAKOUT ROOMS · HOW WE WORK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Examiner · candidate · observer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فِي الغُرَفِ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C · Speaking workshop · TC-L08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5715000" cy="4498848"/>
          </a:xfrm>
          <a:prstGeom prst="roundRect">
            <a:avLst>
              <a:gd name="adj" fmla="val 1626"/>
            </a:avLst>
          </a:prstGeom>
          <a:solidFill>
            <a:srgbClr val="F4F1EA"/>
          </a:solidFill>
          <a:ln w="9525">
            <a:solidFill>
              <a:srgbClr val="E8D49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640080" y="1920240"/>
            <a:ext cx="3108960" cy="292608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40080" y="1920240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BREAKOUT ROUTINE</a:t>
            </a:r>
            <a:endParaRPr lang="en-US" sz="900" dirty="0"/>
          </a:p>
        </p:txBody>
      </p:sp>
      <p:sp>
        <p:nvSpPr>
          <p:cNvPr id="18" name="Text 15"/>
          <p:cNvSpPr txBox="1"/>
          <p:nvPr/>
        </p:nvSpPr>
        <p:spPr>
          <a:xfrm>
            <a:off x="640080" y="2286000"/>
            <a:ext cx="5349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🎧  Three jobs, then swap</a:t>
            </a:r>
            <a:endParaRPr lang="en-US" sz="2200" dirty="0"/>
          </a:p>
        </p:txBody>
      </p:sp>
      <p:sp>
        <p:nvSpPr>
          <p:cNvPr id="19" name="Text 16"/>
          <p:cNvSpPr txBox="1"/>
          <p:nvPr/>
        </p:nvSpPr>
        <p:spPr>
          <a:xfrm>
            <a:off x="640080" y="2816352"/>
            <a:ext cx="5349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Rooms of three. A = examiner (reads the questions only). B = candidate (answers from the task card). C = observer (ticks the checklist and gives one WWW and one EBI).</a:t>
            </a:r>
            <a:endParaRPr lang="en-US" sz="1350" dirty="0"/>
          </a:p>
        </p:txBody>
      </p:sp>
      <p:sp>
        <p:nvSpPr>
          <p:cNvPr id="20" name="Text 17"/>
          <p:cNvSpPr txBox="1"/>
          <p:nvPr/>
        </p:nvSpPr>
        <p:spPr>
          <a:xfrm>
            <a:off x="640080" y="4041648"/>
            <a:ext cx="5303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HOW WE RUN IT ONLINE</a:t>
            </a:r>
            <a:endParaRPr lang="en-US" sz="950" dirty="0"/>
          </a:p>
        </p:txBody>
      </p:sp>
      <p:sp>
        <p:nvSpPr>
          <p:cNvPr id="21" name="Shape 18"/>
          <p:cNvSpPr/>
          <p:nvPr/>
        </p:nvSpPr>
        <p:spPr>
          <a:xfrm>
            <a:off x="658368" y="44074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658368" y="44074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000" dirty="0"/>
          </a:p>
        </p:txBody>
      </p:sp>
      <p:sp>
        <p:nvSpPr>
          <p:cNvPr id="23" name="Text 20"/>
          <p:cNvSpPr txBox="1"/>
          <p:nvPr/>
        </p:nvSpPr>
        <p:spPr>
          <a:xfrm>
            <a:off x="1024128" y="43342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1 minute: the candidate reads the card and plans (no writing full sentences).</a:t>
            </a:r>
            <a:endParaRPr lang="en-US" sz="1150" dirty="0"/>
          </a:p>
        </p:txBody>
      </p:sp>
      <p:sp>
        <p:nvSpPr>
          <p:cNvPr id="24" name="Shape 21"/>
          <p:cNvSpPr/>
          <p:nvPr/>
        </p:nvSpPr>
        <p:spPr>
          <a:xfrm>
            <a:off x="658368" y="48646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658368" y="48646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000" dirty="0"/>
          </a:p>
        </p:txBody>
      </p:sp>
      <p:sp>
        <p:nvSpPr>
          <p:cNvPr id="26" name="Text 23"/>
          <p:cNvSpPr txBox="1"/>
          <p:nvPr/>
        </p:nvSpPr>
        <p:spPr>
          <a:xfrm>
            <a:off x="1024128" y="47914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About 3 minutes: the role play — the examiner reads every question in order.</a:t>
            </a:r>
            <a:endParaRPr lang="en-US" sz="1150" dirty="0"/>
          </a:p>
        </p:txBody>
      </p:sp>
      <p:sp>
        <p:nvSpPr>
          <p:cNvPr id="27" name="Shape 24"/>
          <p:cNvSpPr/>
          <p:nvPr/>
        </p:nvSpPr>
        <p:spPr>
          <a:xfrm>
            <a:off x="658368" y="53218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658368" y="53218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000" dirty="0"/>
          </a:p>
        </p:txBody>
      </p:sp>
      <p:sp>
        <p:nvSpPr>
          <p:cNvPr id="29" name="Text 26"/>
          <p:cNvSpPr txBox="1"/>
          <p:nvPr/>
        </p:nvSpPr>
        <p:spPr>
          <a:xfrm>
            <a:off x="1024128" y="52486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1 minute: the observer gives feedback (WWW + EBI).</a:t>
            </a:r>
            <a:endParaRPr lang="en-US" sz="1150" dirty="0"/>
          </a:p>
        </p:txBody>
      </p:sp>
      <p:sp>
        <p:nvSpPr>
          <p:cNvPr id="30" name="Shape 27"/>
          <p:cNvSpPr/>
          <p:nvPr/>
        </p:nvSpPr>
        <p:spPr>
          <a:xfrm>
            <a:off x="658368" y="57790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658368" y="57790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000" dirty="0"/>
          </a:p>
        </p:txBody>
      </p:sp>
      <p:sp>
        <p:nvSpPr>
          <p:cNvPr id="32" name="Text 29"/>
          <p:cNvSpPr txBox="1"/>
          <p:nvPr/>
        </p:nvSpPr>
        <p:spPr>
          <a:xfrm>
            <a:off x="1024128" y="57058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Swap jobs and do the next role play. Then the topic conversation.</a:t>
            </a:r>
            <a:endParaRPr lang="en-US" sz="1150" dirty="0"/>
          </a:p>
        </p:txBody>
      </p:sp>
      <p:sp>
        <p:nvSpPr>
          <p:cNvPr id="33" name="Shape 30"/>
          <p:cNvSpPr/>
          <p:nvPr/>
        </p:nvSpPr>
        <p:spPr>
          <a:xfrm>
            <a:off x="6355080" y="1810512"/>
            <a:ext cx="5376672" cy="896112"/>
          </a:xfrm>
          <a:prstGeom prst="roundRect">
            <a:avLst>
              <a:gd name="adj" fmla="val 8163"/>
            </a:avLst>
          </a:prstGeom>
          <a:solidFill>
            <a:srgbClr val="E9F5EE"/>
          </a:solidFill>
          <a:ln w="9525">
            <a:solidFill>
              <a:srgbClr val="2E8B57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4" name="Shape 31"/>
          <p:cNvSpPr/>
          <p:nvPr/>
        </p:nvSpPr>
        <p:spPr>
          <a:xfrm>
            <a:off x="6473952" y="1901952"/>
            <a:ext cx="105156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6473952" y="1901952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50" dirty="0"/>
          </a:p>
        </p:txBody>
      </p:sp>
      <p:sp>
        <p:nvSpPr>
          <p:cNvPr id="36" name="Text 33"/>
          <p:cNvSpPr txBox="1"/>
          <p:nvPr/>
        </p:nvSpPr>
        <p:spPr>
          <a:xfrm>
            <a:off x="6473952" y="2176272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Role plays A and B, with the help column. Conversation: Core questions.</a:t>
            </a:r>
            <a:endParaRPr lang="en-US" sz="1150" dirty="0"/>
          </a:p>
        </p:txBody>
      </p:sp>
      <p:sp>
        <p:nvSpPr>
          <p:cNvPr id="37" name="Shape 34"/>
          <p:cNvSpPr/>
          <p:nvPr/>
        </p:nvSpPr>
        <p:spPr>
          <a:xfrm>
            <a:off x="6355080" y="2816352"/>
            <a:ext cx="5376672" cy="896112"/>
          </a:xfrm>
          <a:prstGeom prst="roundRect">
            <a:avLst>
              <a:gd name="adj" fmla="val 8163"/>
            </a:avLst>
          </a:prstGeom>
          <a:solidFill>
            <a:srgbClr val="FCF1E0"/>
          </a:solidFill>
          <a:ln w="9525">
            <a:solidFill>
              <a:srgbClr val="C9780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8" name="Shape 35"/>
          <p:cNvSpPr/>
          <p:nvPr/>
        </p:nvSpPr>
        <p:spPr>
          <a:xfrm>
            <a:off x="6473952" y="2907792"/>
            <a:ext cx="1051560" cy="256032"/>
          </a:xfrm>
          <a:prstGeom prst="roundRect">
            <a:avLst>
              <a:gd name="adj" fmla="val 50000"/>
            </a:avLst>
          </a:prstGeom>
          <a:solidFill>
            <a:srgbClr val="C9780A"/>
          </a:solidFill>
          <a:ln w="12700">
            <a:solidFill>
              <a:srgbClr val="C9780A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6473952" y="2907792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850" dirty="0"/>
          </a:p>
        </p:txBody>
      </p:sp>
      <p:sp>
        <p:nvSpPr>
          <p:cNvPr id="40" name="Text 37"/>
          <p:cNvSpPr txBox="1"/>
          <p:nvPr/>
        </p:nvSpPr>
        <p:spPr>
          <a:xfrm>
            <a:off x="6473952" y="3182112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Role plays B and C, help column covered. Conversation: Core + Develop questions.</a:t>
            </a:r>
            <a:endParaRPr lang="en-US" sz="1150" dirty="0"/>
          </a:p>
        </p:txBody>
      </p:sp>
      <p:sp>
        <p:nvSpPr>
          <p:cNvPr id="41" name="Shape 38"/>
          <p:cNvSpPr/>
          <p:nvPr/>
        </p:nvSpPr>
        <p:spPr>
          <a:xfrm>
            <a:off x="6355080" y="3822192"/>
            <a:ext cx="5376672" cy="896112"/>
          </a:xfrm>
          <a:prstGeom prst="roundRect">
            <a:avLst>
              <a:gd name="adj" fmla="val 8163"/>
            </a:avLst>
          </a:prstGeom>
          <a:solidFill>
            <a:srgbClr val="FBEAEA"/>
          </a:solidFill>
          <a:ln w="9525">
            <a:solidFill>
              <a:srgbClr val="B83227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2" name="Shape 39"/>
          <p:cNvSpPr/>
          <p:nvPr/>
        </p:nvSpPr>
        <p:spPr>
          <a:xfrm>
            <a:off x="6473952" y="3913632"/>
            <a:ext cx="1051560" cy="256032"/>
          </a:xfrm>
          <a:prstGeom prst="roundRect">
            <a:avLst>
              <a:gd name="adj" fmla="val 50000"/>
            </a:avLst>
          </a:prstGeom>
          <a:solidFill>
            <a:srgbClr val="B83227"/>
          </a:solidFill>
          <a:ln w="12700">
            <a:solidFill>
              <a:srgbClr val="B83227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6473952" y="3913632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STRETCH</a:t>
            </a:r>
            <a:endParaRPr lang="en-US" sz="850" dirty="0"/>
          </a:p>
        </p:txBody>
      </p:sp>
      <p:sp>
        <p:nvSpPr>
          <p:cNvPr id="44" name="Text 41"/>
          <p:cNvSpPr txBox="1"/>
          <p:nvPr/>
        </p:nvSpPr>
        <p:spPr>
          <a:xfrm>
            <a:off x="6473952" y="4187952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Role plays C and D, no help. Conversation: Develop + Stretch questions, push with “why?”.</a:t>
            </a:r>
            <a:endParaRPr lang="en-US" sz="1150" dirty="0"/>
          </a:p>
        </p:txBody>
      </p:sp>
      <p:sp>
        <p:nvSpPr>
          <p:cNvPr id="45" name="Shape 42"/>
          <p:cNvSpPr/>
          <p:nvPr/>
        </p:nvSpPr>
        <p:spPr>
          <a:xfrm>
            <a:off x="6355080" y="4828032"/>
            <a:ext cx="5376672" cy="1481328"/>
          </a:xfrm>
          <a:prstGeom prst="roundRect">
            <a:avLst>
              <a:gd name="adj" fmla="val 493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6" name="Text 43"/>
          <p:cNvSpPr txBox="1"/>
          <p:nvPr/>
        </p:nvSpPr>
        <p:spPr>
          <a:xfrm>
            <a:off x="6492240" y="4882896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USEFUL LANGUAGE</a:t>
            </a:r>
            <a:endParaRPr lang="en-US" sz="950" dirty="0"/>
          </a:p>
        </p:txBody>
      </p:sp>
      <p:sp>
        <p:nvSpPr>
          <p:cNvPr id="47" name="Text 44"/>
          <p:cNvSpPr txBox="1"/>
          <p:nvPr/>
        </p:nvSpPr>
        <p:spPr>
          <a:xfrm>
            <a:off x="8732520" y="5138928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دَوْرُكَ!</a:t>
            </a:r>
            <a:endParaRPr lang="ar-SA" sz="1300" dirty="0"/>
          </a:p>
        </p:txBody>
      </p:sp>
      <p:sp>
        <p:nvSpPr>
          <p:cNvPr id="48" name="Text 45"/>
          <p:cNvSpPr txBox="1"/>
          <p:nvPr/>
        </p:nvSpPr>
        <p:spPr>
          <a:xfrm>
            <a:off x="6492240" y="5138928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your turn!</a:t>
            </a:r>
            <a:endParaRPr lang="en-US" sz="1000" dirty="0"/>
          </a:p>
        </p:txBody>
      </p:sp>
      <p:sp>
        <p:nvSpPr>
          <p:cNvPr id="49" name="Text 46"/>
          <p:cNvSpPr txBox="1"/>
          <p:nvPr/>
        </p:nvSpPr>
        <p:spPr>
          <a:xfrm>
            <a:off x="8732520" y="5422392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أَحْسَنْتَ! / أَحْسَنْتِ!</a:t>
            </a:r>
            <a:endParaRPr lang="ar-SA" sz="1300" dirty="0"/>
          </a:p>
        </p:txBody>
      </p:sp>
      <p:sp>
        <p:nvSpPr>
          <p:cNvPr id="50" name="Text 47"/>
          <p:cNvSpPr txBox="1"/>
          <p:nvPr/>
        </p:nvSpPr>
        <p:spPr>
          <a:xfrm>
            <a:off x="6492240" y="5422392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well done! (m. / f.)</a:t>
            </a:r>
            <a:endParaRPr lang="en-US" sz="1000" dirty="0"/>
          </a:p>
        </p:txBody>
      </p:sp>
      <p:sp>
        <p:nvSpPr>
          <p:cNvPr id="51" name="Text 48"/>
          <p:cNvSpPr txBox="1"/>
          <p:nvPr/>
        </p:nvSpPr>
        <p:spPr>
          <a:xfrm>
            <a:off x="8732520" y="5705856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تَكَلَّمْ أَكْثَرَ، مِنْ فَضْلِكَ</a:t>
            </a:r>
            <a:endParaRPr lang="ar-SA" sz="1300" dirty="0"/>
          </a:p>
        </p:txBody>
      </p:sp>
      <p:sp>
        <p:nvSpPr>
          <p:cNvPr id="52" name="Text 49"/>
          <p:cNvSpPr txBox="1"/>
          <p:nvPr/>
        </p:nvSpPr>
        <p:spPr>
          <a:xfrm>
            <a:off x="6492240" y="5705856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say more, please</a:t>
            </a:r>
            <a:endParaRPr lang="en-US" sz="1000" dirty="0"/>
          </a:p>
        </p:txBody>
      </p:sp>
      <p:sp>
        <p:nvSpPr>
          <p:cNvPr id="53" name="Text 50"/>
          <p:cNvSpPr txBox="1"/>
          <p:nvPr/>
        </p:nvSpPr>
        <p:spPr>
          <a:xfrm>
            <a:off x="8732520" y="5989320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لِمَاذَا؟</a:t>
            </a:r>
            <a:endParaRPr lang="ar-SA" sz="1300" dirty="0"/>
          </a:p>
        </p:txBody>
      </p:sp>
      <p:sp>
        <p:nvSpPr>
          <p:cNvPr id="54" name="Text 51"/>
          <p:cNvSpPr txBox="1"/>
          <p:nvPr/>
        </p:nvSpPr>
        <p:spPr>
          <a:xfrm>
            <a:off x="6492240" y="5989320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why?</a:t>
            </a:r>
            <a:endParaRPr lang="en-US" sz="1000" dirty="0"/>
          </a:p>
        </p:txBody>
      </p:sp>
      <p:sp>
        <p:nvSpPr>
          <p:cNvPr id="55" name="Text 5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7 / 25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TC-L08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6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ROLE PLAY A · CORE · IN THE STREET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A — Asking the way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السُّؤَالُ عَنِ الطَّرِيقِ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C · Speaking workshop · TC-L08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622792" y="1810512"/>
            <a:ext cx="30358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Help (Core)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056632" y="1810512"/>
            <a:ext cx="34198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Your task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38770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641080" y="2267712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مِنْ فَضْلِكَ، أَيْنَ …؟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093208" y="2267712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Ask where the museum is.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نَعَمْ؟ هَلْ أُسَاعِدُكَ؟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11091672" y="2313432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11091672" y="231343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27" name="Shape 24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641080" y="300471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هُوَ …؟</a:t>
            </a:r>
            <a:endParaRPr lang="ar-SA" sz="1500" dirty="0"/>
          </a:p>
        </p:txBody>
      </p:sp>
      <p:sp>
        <p:nvSpPr>
          <p:cNvPr id="29" name="Text 26"/>
          <p:cNvSpPr txBox="1"/>
          <p:nvPr/>
        </p:nvSpPr>
        <p:spPr>
          <a:xfrm>
            <a:off x="5093208" y="300471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Ask if it is far.</a:t>
            </a: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1051560" y="300471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المَتْحَفُ مُقَابِلَ المَحَطَّةِ.</a:t>
            </a:r>
            <a:endParaRPr lang="ar-SA" sz="1700" dirty="0"/>
          </a:p>
        </p:txBody>
      </p:sp>
      <p:sp>
        <p:nvSpPr>
          <p:cNvPr id="31" name="Text 28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11091672" y="3050438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11091672" y="305043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34" name="Shape 31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8641080" y="3741725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يُوجَدُ … قُرْبَهُ؟</a:t>
            </a:r>
            <a:endParaRPr lang="ar-SA" sz="1500" dirty="0"/>
          </a:p>
        </p:txBody>
      </p:sp>
      <p:sp>
        <p:nvSpPr>
          <p:cNvPr id="36" name="Text 33"/>
          <p:cNvSpPr txBox="1"/>
          <p:nvPr/>
        </p:nvSpPr>
        <p:spPr>
          <a:xfrm>
            <a:off x="5093208" y="3741725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Ask about a café near it.</a:t>
            </a:r>
            <a:endParaRPr lang="en-US" sz="110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3741725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لَا، عَشْرُ دَقَائِقَ مَشْيًا.</a:t>
            </a:r>
            <a:endParaRPr lang="ar-SA" sz="17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11091672" y="3787445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11091672" y="3787445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41" name="Shape 38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8641080" y="4478731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شُكْرًا … أَنَا مِنْ …</a:t>
            </a:r>
            <a:endParaRPr lang="ar-SA" sz="1500" dirty="0"/>
          </a:p>
        </p:txBody>
      </p:sp>
      <p:sp>
        <p:nvSpPr>
          <p:cNvPr id="43" name="Text 40"/>
          <p:cNvSpPr txBox="1"/>
          <p:nvPr/>
        </p:nvSpPr>
        <p:spPr>
          <a:xfrm>
            <a:off x="5093208" y="4478731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Thank them and say where you are from.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1051560" y="4478731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نَعَمْ، بِجَانِبِ المَتْحَفِ.</a:t>
            </a:r>
            <a:endParaRPr lang="ar-SA" sz="1700" dirty="0"/>
          </a:p>
        </p:txBody>
      </p:sp>
      <p:sp>
        <p:nvSpPr>
          <p:cNvPr id="45" name="Text 42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6" name="Shape 43"/>
          <p:cNvSpPr/>
          <p:nvPr/>
        </p:nvSpPr>
        <p:spPr>
          <a:xfrm>
            <a:off x="11091672" y="4524451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11091672" y="4524451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48" name="Shape 45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8641080" y="521573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نَعَمْ، هِيَ … وَ…</a:t>
            </a:r>
            <a:endParaRPr lang="ar-SA" sz="1500" dirty="0"/>
          </a:p>
        </p:txBody>
      </p:sp>
      <p:sp>
        <p:nvSpPr>
          <p:cNvPr id="50" name="Text 47"/>
          <p:cNvSpPr txBox="1"/>
          <p:nvPr/>
        </p:nvSpPr>
        <p:spPr>
          <a:xfrm>
            <a:off x="5093208" y="521573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 the unexpected question.</a:t>
            </a:r>
            <a:endParaRPr lang="en-US" sz="1100" dirty="0"/>
          </a:p>
        </p:txBody>
      </p:sp>
      <p:sp>
        <p:nvSpPr>
          <p:cNvPr id="51" name="Text 48"/>
          <p:cNvSpPr txBox="1"/>
          <p:nvPr/>
        </p:nvSpPr>
        <p:spPr>
          <a:xfrm>
            <a:off x="1051560" y="521573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تُعْجِبُكَ مَدِينَتُنَا؟</a:t>
            </a:r>
            <a:endParaRPr lang="ar-SA" sz="1700" dirty="0"/>
          </a:p>
        </p:txBody>
      </p:sp>
      <p:sp>
        <p:nvSpPr>
          <p:cNvPr id="52" name="Text 49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 !</a:t>
            </a:r>
            <a:endParaRPr lang="en-US" sz="1100" dirty="0"/>
          </a:p>
        </p:txBody>
      </p:sp>
      <p:sp>
        <p:nvSpPr>
          <p:cNvPr id="53" name="Shape 50"/>
          <p:cNvSpPr/>
          <p:nvPr/>
        </p:nvSpPr>
        <p:spPr>
          <a:xfrm>
            <a:off x="11091672" y="5261458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54" name="Text 51"/>
          <p:cNvSpPr txBox="1"/>
          <p:nvPr/>
        </p:nvSpPr>
        <p:spPr>
          <a:xfrm>
            <a:off x="11091672" y="526145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55" name="Text 5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You are: a tourist  ·  The examiner is: a local resident  ·  ! = unexpected question: listen carefully.</a:t>
            </a:r>
            <a:endParaRPr lang="en-US" sz="1150" dirty="0"/>
          </a:p>
        </p:txBody>
      </p:sp>
      <p:sp>
        <p:nvSpPr>
          <p:cNvPr id="56" name="Text 5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8 / 25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TC-L08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6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ROLE PLAY B · CORE+ · A TOURIST OFFICE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B — At the tourist information office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فِي مَكْتَبِ السِّيَاحَةِ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C · Speaking workshop · TC-L08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622792" y="1810512"/>
            <a:ext cx="30358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Help (Core)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056632" y="1810512"/>
            <a:ext cx="34198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Your task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38770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641080" y="2267712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أُحِبُّ أَنْ أَزُورَ … وَ…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093208" y="2267712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Say two places you want to visit.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أَهْلًا وَسَهْلًا! مَاذَا تُحِبُّ أَنْ تَزُورَ؟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11091672" y="2313432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11091672" y="231343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27" name="Shape 24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641080" y="300471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كَيْفَ أَصِلُ …؟</a:t>
            </a:r>
            <a:endParaRPr lang="ar-SA" sz="1500" dirty="0"/>
          </a:p>
        </p:txBody>
      </p:sp>
      <p:sp>
        <p:nvSpPr>
          <p:cNvPr id="29" name="Text 26"/>
          <p:cNvSpPr txBox="1"/>
          <p:nvPr/>
        </p:nvSpPr>
        <p:spPr>
          <a:xfrm>
            <a:off x="5093208" y="300471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Ask how to get there.</a:t>
            </a: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1051560" y="300471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القَلْعَةُ فِي وَسَطِ المَدِينَةِ.</a:t>
            </a:r>
            <a:endParaRPr lang="ar-SA" sz="1700" dirty="0"/>
          </a:p>
        </p:txBody>
      </p:sp>
      <p:sp>
        <p:nvSpPr>
          <p:cNvPr id="31" name="Text 28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11091672" y="3050438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11091672" y="305043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34" name="Shape 31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8641080" y="3741725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مَتَى تُفْتَحُ …؟</a:t>
            </a:r>
            <a:endParaRPr lang="ar-SA" sz="1500" dirty="0"/>
          </a:p>
        </p:txBody>
      </p:sp>
      <p:sp>
        <p:nvSpPr>
          <p:cNvPr id="36" name="Text 33"/>
          <p:cNvSpPr txBox="1"/>
          <p:nvPr/>
        </p:nvSpPr>
        <p:spPr>
          <a:xfrm>
            <a:off x="5093208" y="3741725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ASK about opening times.</a:t>
            </a:r>
            <a:endParaRPr lang="en-US" sz="110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3741725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الحَافِلَةُ رَقْمُ خَمْسَةٍ، أَمَامَ المَكْتَبِ.</a:t>
            </a:r>
            <a:endParaRPr lang="ar-SA" sz="17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8641080" y="4478731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مِمَّ … مَبْنِيَّةٌ؟</a:t>
            </a:r>
            <a:endParaRPr lang="ar-SA" sz="1500" dirty="0"/>
          </a:p>
        </p:txBody>
      </p:sp>
      <p:sp>
        <p:nvSpPr>
          <p:cNvPr id="41" name="Text 38"/>
          <p:cNvSpPr txBox="1"/>
          <p:nvPr/>
        </p:nvSpPr>
        <p:spPr>
          <a:xfrm>
            <a:off x="5093208" y="4478731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Ask what it is built of.</a:t>
            </a:r>
            <a:endParaRPr lang="en-US" sz="110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4478731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مِنَ التَّاسِعَةِ إِلَى الخَامِسَةِ. وَهِيَ مَبْنِيَّةٌ مُنْذُ أَلْفِ سَنَةٍ!</a:t>
            </a:r>
            <a:endParaRPr lang="ar-SA" sz="165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4" name="Shape 41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5" name="Text 42"/>
          <p:cNvSpPr txBox="1"/>
          <p:nvPr/>
        </p:nvSpPr>
        <p:spPr>
          <a:xfrm>
            <a:off x="8641080" y="521573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نَعَمْ / لَا، مَدِينَتِي … مِنْ …</a:t>
            </a:r>
            <a:endParaRPr lang="ar-SA" sz="1500" dirty="0"/>
          </a:p>
        </p:txBody>
      </p:sp>
      <p:sp>
        <p:nvSpPr>
          <p:cNvPr id="46" name="Text 43"/>
          <p:cNvSpPr txBox="1"/>
          <p:nvPr/>
        </p:nvSpPr>
        <p:spPr>
          <a:xfrm>
            <a:off x="5093208" y="521573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 the unexpected question (compare).</a:t>
            </a:r>
            <a:endParaRPr lang="en-US" sz="1100" dirty="0"/>
          </a:p>
        </p:txBody>
      </p:sp>
      <p:sp>
        <p:nvSpPr>
          <p:cNvPr id="47" name="Text 44"/>
          <p:cNvSpPr txBox="1"/>
          <p:nvPr/>
        </p:nvSpPr>
        <p:spPr>
          <a:xfrm>
            <a:off x="1051560" y="521573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مَدِينَتُكَ أَكْبَرُ مِنْ مَدِينَتِنَا؟</a:t>
            </a:r>
            <a:endParaRPr lang="ar-SA" sz="1700" dirty="0"/>
          </a:p>
        </p:txBody>
      </p:sp>
      <p:sp>
        <p:nvSpPr>
          <p:cNvPr id="48" name="Text 45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 !</a:t>
            </a:r>
            <a:endParaRPr lang="en-US" sz="1100" dirty="0"/>
          </a:p>
        </p:txBody>
      </p:sp>
      <p:sp>
        <p:nvSpPr>
          <p:cNvPr id="49" name="Text 46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You are: a visitor  ·  The examiner is: the tourist-office employee  ·  ! = unexpected question: listen carefully.</a:t>
            </a:r>
            <a:endParaRPr lang="en-US" sz="1150" dirty="0"/>
          </a:p>
        </p:txBody>
      </p:sp>
      <p:sp>
        <p:nvSpPr>
          <p:cNvPr id="50" name="Text 47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9 / 25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TC-L08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6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ROLE PLAY C · DEVELOP · A NEIGHBOURHOOD SURVEY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C — Is your neighbourhood a good place to live?</a:t>
            </a:r>
            <a:endParaRPr lang="en-US" sz="17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اسْتِطْلَاعٌ عَنِ الحَيِّ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C · Speaking workshop · TC-L08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622792" y="1810512"/>
            <a:ext cx="30358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Help (Core)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056632" y="1810512"/>
            <a:ext cx="34198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Your task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38770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641080" y="2267712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فِي حَيِّي يُوجَدُ … وَتُوجَدُ … بِجَانِبِ 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093208" y="2267712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Describe it with yūjadu / tūjadu and a locative.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صِفْ لِي حَيَّكَ.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641080" y="300471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لَا يُوجَدُ … لِذٰلِكَ …</a:t>
            </a:r>
            <a:endParaRPr lang="ar-SA" sz="1500" dirty="0"/>
          </a:p>
        </p:txBody>
      </p:sp>
      <p:sp>
        <p:nvSpPr>
          <p:cNvPr id="27" name="Text 24"/>
          <p:cNvSpPr txBox="1"/>
          <p:nvPr/>
        </p:nvSpPr>
        <p:spPr>
          <a:xfrm>
            <a:off x="5093208" y="300471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Say what is missing and why it matters.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1051560" y="300471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وَمَا الَّذِي يَنْقُصُهُ؟</a:t>
            </a:r>
            <a:endParaRPr lang="ar-SA" sz="1700" dirty="0"/>
          </a:p>
        </p:txBody>
      </p:sp>
      <p:sp>
        <p:nvSpPr>
          <p:cNvPr id="29" name="Text 26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8641080" y="3741725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كَانَ هُنَاكَ … أَمَّا الآنَ فَقَدْ بُنِيَتْ …</a:t>
            </a:r>
            <a:endParaRPr lang="ar-SA" sz="1500" dirty="0"/>
          </a:p>
        </p:txBody>
      </p:sp>
      <p:sp>
        <p:nvSpPr>
          <p:cNvPr id="32" name="Text 29"/>
          <p:cNvSpPr txBox="1"/>
          <p:nvPr/>
        </p:nvSpPr>
        <p:spPr>
          <a:xfrm>
            <a:off x="5093208" y="3741725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Describe a change (past vs now).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1051560" y="3741725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كَيْفَ كَانَ الحَيُّ قَبْلَ عَشْرِ سَنَوَاتٍ؟</a:t>
            </a:r>
            <a:endParaRPr lang="ar-SA" sz="1700" dirty="0"/>
          </a:p>
        </p:txBody>
      </p:sp>
      <p:sp>
        <p:nvSpPr>
          <p:cNvPr id="34" name="Text 31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8641080" y="4478731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أُفَضِّلُ … لِأَنَّهَا أَ… وَأَ…</a:t>
            </a:r>
            <a:endParaRPr lang="ar-SA" sz="1500" dirty="0"/>
          </a:p>
        </p:txBody>
      </p:sp>
      <p:sp>
        <p:nvSpPr>
          <p:cNvPr id="37" name="Text 34"/>
          <p:cNvSpPr txBox="1"/>
          <p:nvPr/>
        </p:nvSpPr>
        <p:spPr>
          <a:xfrm>
            <a:off x="5093208" y="4478731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Compare with two points.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1051560" y="4478731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تُفَضِّلُ السَّكَنَ فِي المَدِينَةِ أَمْ فِي الرِّيفِ؟</a:t>
            </a:r>
            <a:endParaRPr lang="ar-SA" sz="1700" dirty="0"/>
          </a:p>
        </p:txBody>
      </p:sp>
      <p:sp>
        <p:nvSpPr>
          <p:cNvPr id="39" name="Text 36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0" name="Shape 37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8641080" y="521573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سَيُبْنَى … / سَتُفْتَحُ …</a:t>
            </a:r>
            <a:endParaRPr lang="ar-SA" sz="1500" dirty="0"/>
          </a:p>
        </p:txBody>
      </p:sp>
      <p:sp>
        <p:nvSpPr>
          <p:cNvPr id="42" name="Text 39"/>
          <p:cNvSpPr txBox="1"/>
          <p:nvPr/>
        </p:nvSpPr>
        <p:spPr>
          <a:xfrm>
            <a:off x="5093208" y="521573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 the unexpected question (future passive).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1051560" y="521573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مَاذَا سَيُبْنَى فِي حَيِّكُمْ قَرِيبًا؟</a:t>
            </a:r>
            <a:endParaRPr lang="ar-SA" sz="1700" dirty="0"/>
          </a:p>
        </p:txBody>
      </p:sp>
      <p:sp>
        <p:nvSpPr>
          <p:cNvPr id="44" name="Text 41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 !</a:t>
            </a:r>
            <a:endParaRPr lang="en-US" sz="1100" dirty="0"/>
          </a:p>
        </p:txBody>
      </p:sp>
      <p:sp>
        <p:nvSpPr>
          <p:cNvPr id="45" name="Text 4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You are: a resident  ·  The examiner is: a council researcher  ·  ! = unexpected question: listen carefully.</a:t>
            </a:r>
            <a:endParaRPr lang="en-US" sz="1150" dirty="0"/>
          </a:p>
        </p:txBody>
      </p:sp>
      <p:sp>
        <p:nvSpPr>
          <p:cNvPr id="46" name="Text 4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10 / 25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TC-L08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6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ROLE PLAY D · STRETCH · A PLANNING DEBATE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D — A new shopping centre or a park?</a:t>
            </a:r>
            <a:endParaRPr lang="en-US" sz="20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مَرْكَزٌ تِجَارِيٌّ أَمْ حَدِيقَةٌ؟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C · Speaking workshop · TC-L08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622792" y="1810512"/>
            <a:ext cx="30358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Help (Core)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056632" y="1810512"/>
            <a:ext cx="34198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Your task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38770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641080" y="2267712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أُعَارِضُ … لِأَنَّ 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093208" y="2267712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Give a clear opinion with a reason.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تُرِيدُ البَلَدِيَّةُ أَنْ تَبْنِيَ مَرْكَزًا تِجَارِيًّا مَكَانَ الحَدِيقَةِ. مَا رَأْيُكَ؟</a:t>
            </a:r>
            <a:endParaRPr lang="ar-SA" sz="135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641080" y="300471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صَحِيحٌ أَنَّ … غَيْرَ أَنَّ …</a:t>
            </a:r>
            <a:endParaRPr lang="ar-SA" sz="1500" dirty="0"/>
          </a:p>
        </p:txBody>
      </p:sp>
      <p:sp>
        <p:nvSpPr>
          <p:cNvPr id="27" name="Text 24"/>
          <p:cNvSpPr txBox="1"/>
          <p:nvPr/>
        </p:nvSpPr>
        <p:spPr>
          <a:xfrm>
            <a:off x="5093208" y="300471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Concede and counter.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1051560" y="300471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لٰكِنَّ المَرْكَزَ سَيُوَفِّرُ مِئَاتِ الوَظَائِفِ.</a:t>
            </a:r>
            <a:endParaRPr lang="ar-SA" sz="1700" dirty="0"/>
          </a:p>
        </p:txBody>
      </p:sp>
      <p:sp>
        <p:nvSpPr>
          <p:cNvPr id="29" name="Text 26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8641080" y="3741725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أَقْتَرِحُ أَنْ … لِكَيْ …</a:t>
            </a:r>
            <a:endParaRPr lang="ar-SA" sz="1500" dirty="0"/>
          </a:p>
        </p:txBody>
      </p:sp>
      <p:sp>
        <p:nvSpPr>
          <p:cNvPr id="32" name="Text 29"/>
          <p:cNvSpPr txBox="1"/>
          <p:nvPr/>
        </p:nvSpPr>
        <p:spPr>
          <a:xfrm>
            <a:off x="5093208" y="3741725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Propose an alternative with purpose.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1051560" y="3741725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وَمَاذَا تَقْتَرِحُ إِذَنْ؟</a:t>
            </a:r>
            <a:endParaRPr lang="ar-SA" sz="1700" dirty="0"/>
          </a:p>
        </p:txBody>
      </p:sp>
      <p:sp>
        <p:nvSpPr>
          <p:cNvPr id="34" name="Text 31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8641080" y="4478731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نَعَمْ، فِي … حَيْثُ …</a:t>
            </a:r>
            <a:endParaRPr lang="ar-SA" sz="1500" dirty="0"/>
          </a:p>
        </p:txBody>
      </p:sp>
      <p:sp>
        <p:nvSpPr>
          <p:cNvPr id="37" name="Text 34"/>
          <p:cNvSpPr txBox="1"/>
          <p:nvPr/>
        </p:nvSpPr>
        <p:spPr>
          <a:xfrm>
            <a:off x="5093208" y="4478731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Give an example from another city.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1051560" y="4478731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هُنَاكَ مِثَالٌ نَاجِحٌ عَلَى ذٰلِكَ؟</a:t>
            </a:r>
            <a:endParaRPr lang="ar-SA" sz="1700" dirty="0"/>
          </a:p>
        </p:txBody>
      </p:sp>
      <p:sp>
        <p:nvSpPr>
          <p:cNvPr id="39" name="Text 36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0" name="Shape 37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8641080" y="521573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لَوْ كُنْتُ رَئِيسَ البَلَدِيَّةِ، لَبَنَيْتُ …</a:t>
            </a:r>
            <a:endParaRPr lang="ar-SA" sz="1500" dirty="0"/>
          </a:p>
        </p:txBody>
      </p:sp>
      <p:sp>
        <p:nvSpPr>
          <p:cNvPr id="42" name="Text 39"/>
          <p:cNvSpPr txBox="1"/>
          <p:nvPr/>
        </p:nvSpPr>
        <p:spPr>
          <a:xfrm>
            <a:off x="5093208" y="521573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 the unexpected question (law … la-).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1051560" y="521573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لَوْ كُنْتَ رَئِيسَ البَلَدِيَّةِ، مَاذَا تَبْنِي أَوَّلًا؟</a:t>
            </a:r>
            <a:endParaRPr lang="ar-SA" sz="1700" dirty="0"/>
          </a:p>
        </p:txBody>
      </p:sp>
      <p:sp>
        <p:nvSpPr>
          <p:cNvPr id="44" name="Text 41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 !</a:t>
            </a:r>
            <a:endParaRPr lang="en-US" sz="1100" dirty="0"/>
          </a:p>
        </p:txBody>
      </p:sp>
      <p:sp>
        <p:nvSpPr>
          <p:cNvPr id="45" name="Text 4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You are: a young resident  ·  The examiner is: a town planner  ·  ! = unexpected question: listen carefully.</a:t>
            </a:r>
            <a:endParaRPr lang="en-US" sz="1150" dirty="0"/>
          </a:p>
        </p:txBody>
      </p:sp>
      <p:sp>
        <p:nvSpPr>
          <p:cNvPr id="46" name="Text 4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11 / 25</a:t>
            </a:r>
            <a:endParaRPr lang="en-US" sz="8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TC-L08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1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OBSERVER · FEEDBACK CHECKLIST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Observer: tick and give feedback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وَرَقَةُ المُلَاحِظِ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C · Speaking workshop · TC-L08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759952" y="1810512"/>
            <a:ext cx="28986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Example you heard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7662672" y="1810512"/>
            <a:ext cx="9509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✓ / ✗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6199632" y="1810512"/>
            <a:ext cx="1316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Route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55229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candidate …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796528" y="2267712"/>
            <a:ext cx="286207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22" name="Text 19"/>
          <p:cNvSpPr txBox="1"/>
          <p:nvPr/>
        </p:nvSpPr>
        <p:spPr>
          <a:xfrm>
            <a:off x="7699248" y="2267712"/>
            <a:ext cx="914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6236208" y="2267712"/>
            <a:ext cx="12801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11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5486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answered EVERY task, including the unexpected one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11091672" y="2313432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11091672" y="231343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27" name="Shape 24"/>
          <p:cNvSpPr/>
          <p:nvPr/>
        </p:nvSpPr>
        <p:spPr>
          <a:xfrm>
            <a:off x="457200" y="2881884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796528" y="2881884"/>
            <a:ext cx="286207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29" name="Text 26"/>
          <p:cNvSpPr txBox="1"/>
          <p:nvPr/>
        </p:nvSpPr>
        <p:spPr>
          <a:xfrm>
            <a:off x="7699248" y="2881884"/>
            <a:ext cx="914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6236208" y="2881884"/>
            <a:ext cx="12801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1100" dirty="0"/>
          </a:p>
        </p:txBody>
      </p:sp>
      <p:sp>
        <p:nvSpPr>
          <p:cNvPr id="31" name="Text 28"/>
          <p:cNvSpPr txBox="1"/>
          <p:nvPr/>
        </p:nvSpPr>
        <p:spPr>
          <a:xfrm>
            <a:off x="566928" y="2881884"/>
            <a:ext cx="5486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said what there is in their town (yūjadu / tūjadu)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11091672" y="2927604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11091672" y="2927604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34" name="Shape 31"/>
          <p:cNvSpPr/>
          <p:nvPr/>
        </p:nvSpPr>
        <p:spPr>
          <a:xfrm>
            <a:off x="457200" y="3496056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8796528" y="3496056"/>
            <a:ext cx="286207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36" name="Text 33"/>
          <p:cNvSpPr txBox="1"/>
          <p:nvPr/>
        </p:nvSpPr>
        <p:spPr>
          <a:xfrm>
            <a:off x="7699248" y="3496056"/>
            <a:ext cx="914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37" name="Text 34"/>
          <p:cNvSpPr txBox="1"/>
          <p:nvPr/>
        </p:nvSpPr>
        <p:spPr>
          <a:xfrm>
            <a:off x="6236208" y="3496056"/>
            <a:ext cx="12801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3496056"/>
            <a:ext cx="5486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gave directions with locatives and made a comparison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4110228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8796528" y="4110228"/>
            <a:ext cx="286207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41" name="Text 38"/>
          <p:cNvSpPr txBox="1"/>
          <p:nvPr/>
        </p:nvSpPr>
        <p:spPr>
          <a:xfrm>
            <a:off x="7699248" y="4110228"/>
            <a:ext cx="914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42" name="Text 39"/>
          <p:cNvSpPr txBox="1"/>
          <p:nvPr/>
        </p:nvSpPr>
        <p:spPr>
          <a:xfrm>
            <a:off x="6236208" y="4110228"/>
            <a:ext cx="12801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4110228"/>
            <a:ext cx="5486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gave a reason (li-anna) or an opinion (fī ra’yī)</a:t>
            </a:r>
            <a:endParaRPr lang="en-US" sz="1100" dirty="0"/>
          </a:p>
        </p:txBody>
      </p:sp>
      <p:sp>
        <p:nvSpPr>
          <p:cNvPr id="44" name="Shape 41"/>
          <p:cNvSpPr/>
          <p:nvPr/>
        </p:nvSpPr>
        <p:spPr>
          <a:xfrm>
            <a:off x="457200" y="4724400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5" name="Text 42"/>
          <p:cNvSpPr txBox="1"/>
          <p:nvPr/>
        </p:nvSpPr>
        <p:spPr>
          <a:xfrm>
            <a:off x="8796528" y="4724400"/>
            <a:ext cx="286207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46" name="Text 43"/>
          <p:cNvSpPr txBox="1"/>
          <p:nvPr/>
        </p:nvSpPr>
        <p:spPr>
          <a:xfrm>
            <a:off x="7699248" y="4724400"/>
            <a:ext cx="914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47" name="Text 44"/>
          <p:cNvSpPr txBox="1"/>
          <p:nvPr/>
        </p:nvSpPr>
        <p:spPr>
          <a:xfrm>
            <a:off x="6236208" y="4724400"/>
            <a:ext cx="12801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Stretch</a:t>
            </a:r>
            <a:endParaRPr lang="en-US" sz="1100" dirty="0"/>
          </a:p>
        </p:txBody>
      </p:sp>
      <p:sp>
        <p:nvSpPr>
          <p:cNvPr id="48" name="Text 45"/>
          <p:cNvSpPr txBox="1"/>
          <p:nvPr/>
        </p:nvSpPr>
        <p:spPr>
          <a:xfrm>
            <a:off x="566928" y="4724400"/>
            <a:ext cx="5486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used more than one time frame (past / future)</a:t>
            </a:r>
            <a:endParaRPr lang="en-US" sz="1100" dirty="0"/>
          </a:p>
        </p:txBody>
      </p:sp>
      <p:sp>
        <p:nvSpPr>
          <p:cNvPr id="49" name="Shape 46"/>
          <p:cNvSpPr/>
          <p:nvPr/>
        </p:nvSpPr>
        <p:spPr>
          <a:xfrm>
            <a:off x="457200" y="5338572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50" name="Text 47"/>
          <p:cNvSpPr txBox="1"/>
          <p:nvPr/>
        </p:nvSpPr>
        <p:spPr>
          <a:xfrm>
            <a:off x="8796528" y="5338572"/>
            <a:ext cx="286207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51" name="Text 48"/>
          <p:cNvSpPr txBox="1"/>
          <p:nvPr/>
        </p:nvSpPr>
        <p:spPr>
          <a:xfrm>
            <a:off x="7699248" y="5338572"/>
            <a:ext cx="914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52" name="Text 49"/>
          <p:cNvSpPr txBox="1"/>
          <p:nvPr/>
        </p:nvSpPr>
        <p:spPr>
          <a:xfrm>
            <a:off x="6236208" y="5338572"/>
            <a:ext cx="12801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All</a:t>
            </a:r>
            <a:endParaRPr lang="en-US" sz="1100" dirty="0"/>
          </a:p>
        </p:txBody>
      </p:sp>
      <p:sp>
        <p:nvSpPr>
          <p:cNvPr id="53" name="Text 50"/>
          <p:cNvSpPr txBox="1"/>
          <p:nvPr/>
        </p:nvSpPr>
        <p:spPr>
          <a:xfrm>
            <a:off x="566928" y="5338572"/>
            <a:ext cx="5486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kept going with a repair phrase instead of silence</a:t>
            </a:r>
            <a:endParaRPr lang="en-US" sz="1100" dirty="0"/>
          </a:p>
        </p:txBody>
      </p:sp>
      <p:sp>
        <p:nvSpPr>
          <p:cNvPr id="54" name="Text 5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Feedback in the room: one WWW (what went well) + one EBI (even better if …).</a:t>
            </a:r>
            <a:endParaRPr lang="en-US" sz="1150" dirty="0"/>
          </a:p>
        </p:txBody>
      </p:sp>
      <p:sp>
        <p:nvSpPr>
          <p:cNvPr id="55" name="Text 5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12 / 25</a:t>
            </a:r>
            <a:endParaRPr lang="en-US" sz="8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TC-L08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 · ROLE PLAY A · CORE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A: a full-mark performance</a:t>
            </a:r>
            <a:endParaRPr lang="en-US" sz="25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C · Speaking workshop · TC-L08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782312" y="1810512"/>
            <a:ext cx="68762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602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800600" y="2286000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مِنْ فَضْلِكَ، أَيْنَ المَتْحَفُ؟</a:t>
            </a:r>
            <a:endParaRPr lang="ar-SA" sz="1800" dirty="0"/>
          </a:p>
        </p:txBody>
      </p:sp>
      <p:sp>
        <p:nvSpPr>
          <p:cNvPr id="21" name="Text 18"/>
          <p:cNvSpPr txBox="1"/>
          <p:nvPr/>
        </p:nvSpPr>
        <p:spPr>
          <a:xfrm>
            <a:off x="4754880" y="267699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Excuse me, where is the museum?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نَعَمْ؟ هَلْ أُسَاعِدُكَ؟</a:t>
            </a:r>
            <a:endParaRPr lang="ar-SA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800600" y="302300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هُوَ بَعِيدٌ عَنْ هُنَا؟</a:t>
            </a:r>
            <a:endParaRPr lang="ar-SA" sz="1800" dirty="0"/>
          </a:p>
        </p:txBody>
      </p:sp>
      <p:sp>
        <p:nvSpPr>
          <p:cNvPr id="26" name="Text 23"/>
          <p:cNvSpPr txBox="1"/>
          <p:nvPr/>
        </p:nvSpPr>
        <p:spPr>
          <a:xfrm>
            <a:off x="4754880" y="3414004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Is it far from here?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المَتْحَفُ مُقَابِلَ المَحَطَّةِ.</a:t>
            </a:r>
            <a:endParaRPr lang="ar-SA" sz="16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800600" y="3760013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يُوجَدُ مَقْهًى قُرْبَهُ؟</a:t>
            </a:r>
            <a:endParaRPr lang="ar-SA" sz="1800" dirty="0"/>
          </a:p>
        </p:txBody>
      </p:sp>
      <p:sp>
        <p:nvSpPr>
          <p:cNvPr id="31" name="Text 28"/>
          <p:cNvSpPr txBox="1"/>
          <p:nvPr/>
        </p:nvSpPr>
        <p:spPr>
          <a:xfrm>
            <a:off x="4754880" y="4151010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Is there a café near it?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لَا، عَشْرُ دَقَائِقَ مَشْيًا.</a:t>
            </a:r>
            <a:endParaRPr lang="ar-SA" sz="16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800600" y="4497019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شُكْرًا جَزِيلًا، أَنَا مِنْ مَانْشِسْتَرَ.</a:t>
            </a:r>
            <a:endParaRPr lang="ar-SA" sz="1800" dirty="0"/>
          </a:p>
        </p:txBody>
      </p:sp>
      <p:sp>
        <p:nvSpPr>
          <p:cNvPr id="36" name="Text 33"/>
          <p:cNvSpPr txBox="1"/>
          <p:nvPr/>
        </p:nvSpPr>
        <p:spPr>
          <a:xfrm>
            <a:off x="4754880" y="488801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Thank you very much, I’m from Manchester.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نَعَمْ، بِجَانِبِ المَتْحَفِ.</a:t>
            </a:r>
            <a:endParaRPr lang="ar-SA" sz="16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800600" y="523402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نَعَمْ، هِيَ جَمِيلَةٌ وَنَظِيفَةٌ.</a:t>
            </a:r>
            <a:endParaRPr lang="ar-SA" sz="1800" dirty="0"/>
          </a:p>
        </p:txBody>
      </p:sp>
      <p:sp>
        <p:nvSpPr>
          <p:cNvPr id="41" name="Text 38"/>
          <p:cNvSpPr txBox="1"/>
          <p:nvPr/>
        </p:nvSpPr>
        <p:spPr>
          <a:xfrm>
            <a:off x="4754880" y="5625023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Yes, it is beautiful and clean.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تُعْجِبُكَ مَدِينَتُنَا؟</a:t>
            </a:r>
            <a:endParaRPr lang="ar-SA" sz="16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Every task answered with a full sentence — short, clear and accurate is enough for the role play.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13 / 25</a:t>
            </a:r>
            <a:endParaRPr lang="en-US" sz="8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TC-L08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 · ROLE PLAY B · CORE+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B: a full-mark performance</a:t>
            </a:r>
            <a:endParaRPr lang="en-US" sz="25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C · Speaking workshop · TC-L08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782312" y="1810512"/>
            <a:ext cx="68762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602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800600" y="2286000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أُحِبُّ أَنْ أَزُورَ القَلْعَةَ وَالسُّوقَ القَدِيمَ.</a:t>
            </a:r>
            <a:endParaRPr lang="ar-SA" sz="1800" dirty="0"/>
          </a:p>
        </p:txBody>
      </p:sp>
      <p:sp>
        <p:nvSpPr>
          <p:cNvPr id="21" name="Text 18"/>
          <p:cNvSpPr txBox="1"/>
          <p:nvPr/>
        </p:nvSpPr>
        <p:spPr>
          <a:xfrm>
            <a:off x="4754880" y="267699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I’d like to visit the castle and the old market.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أَهْلًا وَسَهْلًا! مَاذَا تُحِبُّ أَنْ تَزُورَ؟</a:t>
            </a:r>
            <a:endParaRPr lang="ar-SA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800600" y="302300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كَيْفَ أَصِلُ إِلَيْهَا بِالحَافِلَةِ؟</a:t>
            </a:r>
            <a:endParaRPr lang="ar-SA" sz="1800" dirty="0"/>
          </a:p>
        </p:txBody>
      </p:sp>
      <p:sp>
        <p:nvSpPr>
          <p:cNvPr id="26" name="Text 23"/>
          <p:cNvSpPr txBox="1"/>
          <p:nvPr/>
        </p:nvSpPr>
        <p:spPr>
          <a:xfrm>
            <a:off x="4754880" y="3414004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How do I get there by bus?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القَلْعَةُ فِي وَسَطِ المَدِينَةِ.</a:t>
            </a:r>
            <a:endParaRPr lang="ar-SA" sz="16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800600" y="3760013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مَتَى تُفْتَحُ القَلْعَةُ، وَمَتَى تُغْلَقُ؟</a:t>
            </a:r>
            <a:endParaRPr lang="ar-SA" sz="1800" dirty="0"/>
          </a:p>
        </p:txBody>
      </p:sp>
      <p:sp>
        <p:nvSpPr>
          <p:cNvPr id="31" name="Text 28"/>
          <p:cNvSpPr txBox="1"/>
          <p:nvPr/>
        </p:nvSpPr>
        <p:spPr>
          <a:xfrm>
            <a:off x="4754880" y="4151010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When does the castle open, and when does it close?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الحَافِلَةُ رَقْمُ خَمْسَةٍ، أَمَامَ المَكْتَبِ.</a:t>
            </a:r>
            <a:endParaRPr lang="ar-SA" sz="16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800600" y="4497019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رَائِعٌ! مِمَّ هِيَ مَبْنِيَّةٌ؟</a:t>
            </a:r>
            <a:endParaRPr lang="ar-SA" sz="1800" dirty="0"/>
          </a:p>
        </p:txBody>
      </p:sp>
      <p:sp>
        <p:nvSpPr>
          <p:cNvPr id="36" name="Text 33"/>
          <p:cNvSpPr txBox="1"/>
          <p:nvPr/>
        </p:nvSpPr>
        <p:spPr>
          <a:xfrm>
            <a:off x="4754880" y="488801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Wonderful! What is it built of?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مِنَ التَّاسِعَةِ إِلَى الخَامِسَةِ. وَهِيَ مَبْنِيَّةٌ مُنْذُ أَلْفِ سَنَةٍ!</a:t>
            </a:r>
            <a:endParaRPr lang="ar-SA" sz="15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800600" y="523402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نَعَمْ، مَدِينَتِي أَكْبَرُ، لٰكِنَّهَا أَكْثَرُ ازْدِحَامًا مِنْ مَدِينَتِكُمْ.</a:t>
            </a:r>
            <a:endParaRPr lang="ar-SA" sz="1800" dirty="0"/>
          </a:p>
        </p:txBody>
      </p:sp>
      <p:sp>
        <p:nvSpPr>
          <p:cNvPr id="41" name="Text 38"/>
          <p:cNvSpPr txBox="1"/>
          <p:nvPr/>
        </p:nvSpPr>
        <p:spPr>
          <a:xfrm>
            <a:off x="4754880" y="5625023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Yes, my city is bigger, but it is more crowded than yours.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مَدِينَتُكَ أَكْبَرُ مِنْ مَدِينَتِنَا؟</a:t>
            </a:r>
            <a:endParaRPr lang="ar-SA" sz="16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Every task answered with a full sentence — short, clear and accurate is enough for the role play.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14 / 25</a:t>
            </a:r>
            <a:endParaRPr lang="en-US" sz="8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TC-L08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 · ROLE PLAY C · DEVELOP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C: a full-mark performance</a:t>
            </a:r>
            <a:endParaRPr lang="en-US" sz="25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C · Speaking workshop · TC-L08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782312" y="1810512"/>
            <a:ext cx="68762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602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800600" y="2286000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حَيِّي هَادِئٌ؛ فِيهِ تُوجَدُ مَدْرَسَةٌ ابْتِدَائِيَّةٌ، وَبِجَانِبِهَا حَدِيقَةٌ صَغِيرَةٌ وَمَرْكَزٌ صِحِّيٌّ.</a:t>
            </a:r>
            <a:endParaRPr lang="ar-SA" sz="1800" dirty="0"/>
          </a:p>
        </p:txBody>
      </p:sp>
      <p:sp>
        <p:nvSpPr>
          <p:cNvPr id="21" name="Text 18"/>
          <p:cNvSpPr txBox="1"/>
          <p:nvPr/>
        </p:nvSpPr>
        <p:spPr>
          <a:xfrm>
            <a:off x="4754880" y="267699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My neighbourhood is quiet: there is a primary school, and next to it a small park and a health centre.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صِفْ لِي حَيَّكَ.</a:t>
            </a:r>
            <a:endParaRPr lang="ar-SA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800600" y="302300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لَا يُوجَدُ مَرْكَزٌ لِلشَّبَابِ، لِذٰلِكَ يَقْضِي المُرَاهِقُونَ وَقْتَهُمْ فِي الشَّارِعِ.</a:t>
            </a:r>
            <a:endParaRPr lang="ar-SA" sz="1800" dirty="0"/>
          </a:p>
        </p:txBody>
      </p:sp>
      <p:sp>
        <p:nvSpPr>
          <p:cNvPr id="26" name="Text 23"/>
          <p:cNvSpPr txBox="1"/>
          <p:nvPr/>
        </p:nvSpPr>
        <p:spPr>
          <a:xfrm>
            <a:off x="4754880" y="3414004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There is no youth centre, so teenagers spend their time in the street.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وَمَا الَّذِي يَنْقُصُهُ؟</a:t>
            </a:r>
            <a:endParaRPr lang="ar-SA" sz="16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800600" y="3760013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كَانَ هُنَاكَ مَصْنَعٌ قَدِيمٌ، أَمَّا الآنَ فَقَدْ بُنِيَتْ مَكَانَهُ شُقَقٌ حَدِيثَةٌ.</a:t>
            </a:r>
            <a:endParaRPr lang="ar-SA" sz="1800" dirty="0"/>
          </a:p>
        </p:txBody>
      </p:sp>
      <p:sp>
        <p:nvSpPr>
          <p:cNvPr id="31" name="Text 28"/>
          <p:cNvSpPr txBox="1"/>
          <p:nvPr/>
        </p:nvSpPr>
        <p:spPr>
          <a:xfrm>
            <a:off x="4754880" y="4151010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There was an old factory; now modern flats have been built in its place.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كَيْفَ كَانَ الحَيُّ قَبْلَ عَشْرِ سَنَوَاتٍ؟</a:t>
            </a:r>
            <a:endParaRPr lang="ar-SA" sz="16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800600" y="4497019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أُفَضِّلُ المَدِينَةَ، لِأَنَّ الخِدْمَاتِ فِيهَا أَكْثَرُ، وَالمُوَاصَلَاتِ أَسْرَعُ، مَعَ أَنَّ الرِّيفَ أَهْدَأُ.</a:t>
            </a:r>
            <a:endParaRPr lang="ar-SA" sz="1800" dirty="0"/>
          </a:p>
        </p:txBody>
      </p:sp>
      <p:sp>
        <p:nvSpPr>
          <p:cNvPr id="36" name="Text 33"/>
          <p:cNvSpPr txBox="1"/>
          <p:nvPr/>
        </p:nvSpPr>
        <p:spPr>
          <a:xfrm>
            <a:off x="4754880" y="488801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prefer the city: more services and faster transport, although the countryside is quieter.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تُفَضِّلُ السَّكَنَ فِي المَدِينَةِ أَمْ فِي الرِّيفِ؟</a:t>
            </a:r>
            <a:endParaRPr lang="ar-SA" sz="16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800600" y="523402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سَتُفْتَحُ مَكْتَبَةٌ عَامَّةٌ جَدِيدَةٌ مُقَابِلَ المَحَطَّةِ فِي الصَّيْفِ القَادِمِ.</a:t>
            </a:r>
            <a:endParaRPr lang="ar-SA" sz="1800" dirty="0"/>
          </a:p>
        </p:txBody>
      </p:sp>
      <p:sp>
        <p:nvSpPr>
          <p:cNvPr id="41" name="Text 38"/>
          <p:cNvSpPr txBox="1"/>
          <p:nvPr/>
        </p:nvSpPr>
        <p:spPr>
          <a:xfrm>
            <a:off x="4754880" y="5625023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 new public library will open opposite the station next summer.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مَاذَا سَيُبْنَى فِي حَيِّكُمْ قَرِيبًا؟</a:t>
            </a:r>
            <a:endParaRPr lang="ar-SA" sz="16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Every task answered with a full sentence — short, clear and accurate is enough for the role play.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15 / 25</a:t>
            </a:r>
            <a:endParaRPr lang="en-US" sz="8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TC-L08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 · ROLE PLAY D · STRETCH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D: a full-mark performance</a:t>
            </a:r>
            <a:endParaRPr lang="en-US" sz="25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C · Speaking workshop · TC-L08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782312" y="1810512"/>
            <a:ext cx="68762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602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800600" y="2286000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أُعَارِضُ ذٰلِكَ بِشِدَّةٍ، لِأَنَّ الحَدِيقَةَ هِيَ المَسَاحَةُ الخَضْرَاءُ الوَحِيدَةُ الَّتِي بَقِيَتْ فِي وَسَطِ المَدِينَةِ.</a:t>
            </a:r>
            <a:endParaRPr lang="ar-SA" sz="1650" dirty="0"/>
          </a:p>
        </p:txBody>
      </p:sp>
      <p:sp>
        <p:nvSpPr>
          <p:cNvPr id="21" name="Text 18"/>
          <p:cNvSpPr txBox="1"/>
          <p:nvPr/>
        </p:nvSpPr>
        <p:spPr>
          <a:xfrm>
            <a:off x="4754880" y="267699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strongly oppose it, because the park is the only green space left in the town centre.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تُرِيدُ البَلَدِيَّةُ أَنْ تَبْنِيَ مَرْكَزًا تِجَارِيًّا مَكَانَ الحَدِيقَةِ. مَا رَأْيُكَ؟</a:t>
            </a:r>
            <a:endParaRPr lang="ar-SA" sz="13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800600" y="302300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صَحِيحٌ أَنَّهُ سَيُوَفِّرُ وَظَائِفَ، غَيْرَ أَنَّ فِي المَدِينَةِ ثَلَاثَةَ مَرَاكِزَ تِجَارِيَّةٍ، وَنِصْفُ مَحَلَّاتِهَا مُغْلَقٌ أَصْلًا.</a:t>
            </a:r>
            <a:endParaRPr lang="ar-SA" sz="1600" dirty="0"/>
          </a:p>
        </p:txBody>
      </p:sp>
      <p:sp>
        <p:nvSpPr>
          <p:cNvPr id="26" name="Text 23"/>
          <p:cNvSpPr txBox="1"/>
          <p:nvPr/>
        </p:nvSpPr>
        <p:spPr>
          <a:xfrm>
            <a:off x="4754880" y="3414004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True, it will create jobs, but the town already has three shopping centres, and half their shops are closed.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لٰكِنَّ المَرْكَزَ سَيُوَفِّرُ مِئَاتِ الوَظَائِفِ.</a:t>
            </a:r>
            <a:endParaRPr lang="ar-SA" sz="16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800600" y="3760013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أَقْتَرِحُ أَنْ تُطَوَّرَ الحَدِيقَةُ، فَتُبْنَى فِيهَا مَلَاعِبُ وَمَقْهًى صَغِيرٌ، لِكَيْ تُوَفِّرَ وَظَائِفَ وَتَبْقَى خَضْرَاءَ.</a:t>
            </a:r>
            <a:endParaRPr lang="ar-SA" sz="1700" dirty="0"/>
          </a:p>
        </p:txBody>
      </p:sp>
      <p:sp>
        <p:nvSpPr>
          <p:cNvPr id="31" name="Text 28"/>
          <p:cNvSpPr txBox="1"/>
          <p:nvPr/>
        </p:nvSpPr>
        <p:spPr>
          <a:xfrm>
            <a:off x="4754880" y="4151010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suggest the park be developed with pitches and a small café, so it creates jobs and stays green.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وَمَاذَا تَقْتَرِحُ إِذَنْ؟</a:t>
            </a:r>
            <a:endParaRPr lang="ar-SA" sz="16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800600" y="4497019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نَعَمْ، فِي مَدِينَةِ لِيدْز، حَيْثُ حُوِّلَتْ حَدِيقَةٌ قَدِيمَةٌ إِلَى مَرْكَزٍ لِلْأَنْشِطَةِ، فَزَادَ عَدَدُ الزُّوَّارِ عَشْرَةَ أَضْعَافٍ.</a:t>
            </a:r>
            <a:endParaRPr lang="ar-SA" sz="1550" dirty="0"/>
          </a:p>
        </p:txBody>
      </p:sp>
      <p:sp>
        <p:nvSpPr>
          <p:cNvPr id="36" name="Text 33"/>
          <p:cNvSpPr txBox="1"/>
          <p:nvPr/>
        </p:nvSpPr>
        <p:spPr>
          <a:xfrm>
            <a:off x="4754880" y="488801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Yes, in Leeds, where an old park was turned into an activity hub, and visitor numbers rose tenfold.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هُنَاكَ مِثَالٌ نَاجِحٌ عَلَى ذٰلِكَ؟</a:t>
            </a:r>
            <a:endParaRPr lang="ar-SA" sz="16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800600" y="523402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لَوْ كُنْتُ رَئِيسَ البَلَدِيَّةِ، لَبَنَيْتُ مَرْكَزًا لِلشَّبَابِ مَبْنِيًّا مِنْ مَوَادَّ صَدِيقَةٍ لِلْبِيئَةِ، بِجَانِبِ الحَدِيقَةِ نَفْسِهَا.</a:t>
            </a:r>
            <a:endParaRPr lang="ar-SA" sz="1500" dirty="0"/>
          </a:p>
        </p:txBody>
      </p:sp>
      <p:sp>
        <p:nvSpPr>
          <p:cNvPr id="41" name="Text 38"/>
          <p:cNvSpPr txBox="1"/>
          <p:nvPr/>
        </p:nvSpPr>
        <p:spPr>
          <a:xfrm>
            <a:off x="4754880" y="5625023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If I were mayor, I’d build a youth centre made of eco-friendly materials, right next to the park.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لَوْ كُنْتَ رَئِيسَ البَلَدِيَّةِ، مَاذَا تَبْنِي أَوَّلًا؟</a:t>
            </a:r>
            <a:endParaRPr lang="ar-SA" sz="16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Stretch: a strong opinion, a concession with evidence, a passive proposal, a real example and law … la-.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16 / 25</a:t>
            </a:r>
            <a:endParaRPr lang="en-US" sz="8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TC-L08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5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TOPIC CONVERSATION · CORE QUESTIONS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Topic conversation — Core questions</a:t>
            </a:r>
            <a:endParaRPr lang="en-US" sz="26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مَدِينَتِي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C · Speaking workshop · TC-L08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439912" y="1810512"/>
            <a:ext cx="32186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Start like this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788152" y="1810512"/>
            <a:ext cx="25054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Meaning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46085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asks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458200" y="2267712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أَسْكُنُ فِي 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824728" y="2267712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Where do you live?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أَيْنَ تَسْكُنُ؟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11091672" y="2313432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11091672" y="231343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27" name="Shape 24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458200" y="3004718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يُوجَدُ … وَتُوجَدُ …</a:t>
            </a:r>
            <a:endParaRPr lang="ar-SA" sz="1500" dirty="0"/>
          </a:p>
        </p:txBody>
      </p:sp>
      <p:sp>
        <p:nvSpPr>
          <p:cNvPr id="29" name="Text 26"/>
          <p:cNvSpPr txBox="1"/>
          <p:nvPr/>
        </p:nvSpPr>
        <p:spPr>
          <a:xfrm>
            <a:off x="5824728" y="3004718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What is there in your town?</a:t>
            </a: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1051560" y="3004718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مَاذَا يُوجَدُ فِي مَدِينَتِكَ؟</a:t>
            </a:r>
            <a:endParaRPr lang="ar-SA" sz="1700" dirty="0"/>
          </a:p>
        </p:txBody>
      </p:sp>
      <p:sp>
        <p:nvSpPr>
          <p:cNvPr id="31" name="Text 28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11091672" y="3050438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11091672" y="305043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34" name="Shape 31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8458200" y="3741725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نَعَمْ / لَا، مَدِينَتِي …</a:t>
            </a:r>
            <a:endParaRPr lang="ar-SA" sz="1500" dirty="0"/>
          </a:p>
        </p:txBody>
      </p:sp>
      <p:sp>
        <p:nvSpPr>
          <p:cNvPr id="36" name="Text 33"/>
          <p:cNvSpPr txBox="1"/>
          <p:nvPr/>
        </p:nvSpPr>
        <p:spPr>
          <a:xfrm>
            <a:off x="5824728" y="3741725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Is your town big?</a:t>
            </a:r>
            <a:endParaRPr lang="en-US" sz="110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3741725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مَدِينَتُكَ كَبِيرَةٌ؟</a:t>
            </a:r>
            <a:endParaRPr lang="ar-SA" sz="17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11091672" y="3787445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11091672" y="3787445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41" name="Shape 38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8458200" y="4478731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مَدْرَسَتِي … بِجَانِبِ / مُقَابِلَ …</a:t>
            </a:r>
            <a:endParaRPr lang="ar-SA" sz="1500" dirty="0"/>
          </a:p>
        </p:txBody>
      </p:sp>
      <p:sp>
        <p:nvSpPr>
          <p:cNvPr id="43" name="Text 40"/>
          <p:cNvSpPr txBox="1"/>
          <p:nvPr/>
        </p:nvSpPr>
        <p:spPr>
          <a:xfrm>
            <a:off x="5824728" y="4478731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Where is your school?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1051560" y="4478731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أَيْنَ مَدْرَسَتُكَ؟</a:t>
            </a:r>
            <a:endParaRPr lang="ar-SA" sz="1700" dirty="0"/>
          </a:p>
        </p:txBody>
      </p:sp>
      <p:sp>
        <p:nvSpPr>
          <p:cNvPr id="45" name="Text 42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6" name="Shape 43"/>
          <p:cNvSpPr/>
          <p:nvPr/>
        </p:nvSpPr>
        <p:spPr>
          <a:xfrm>
            <a:off x="11091672" y="4524451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11091672" y="4524451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48" name="Shape 45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8458200" y="5215738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مَكَانِي المُفَضَّلُ … لِأَنَّ …</a:t>
            </a:r>
            <a:endParaRPr lang="ar-SA" sz="1500" dirty="0"/>
          </a:p>
        </p:txBody>
      </p:sp>
      <p:sp>
        <p:nvSpPr>
          <p:cNvPr id="50" name="Text 47"/>
          <p:cNvSpPr txBox="1"/>
          <p:nvPr/>
        </p:nvSpPr>
        <p:spPr>
          <a:xfrm>
            <a:off x="5824728" y="5215738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What is your favourite place in town?</a:t>
            </a:r>
            <a:endParaRPr lang="en-US" sz="1100" dirty="0"/>
          </a:p>
        </p:txBody>
      </p:sp>
      <p:sp>
        <p:nvSpPr>
          <p:cNvPr id="51" name="Text 48"/>
          <p:cNvSpPr txBox="1"/>
          <p:nvPr/>
        </p:nvSpPr>
        <p:spPr>
          <a:xfrm>
            <a:off x="1051560" y="5215738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 مَكَانُكَ المُفَضَّلُ فِي المَدِينَةِ؟</a:t>
            </a:r>
            <a:endParaRPr lang="ar-SA" sz="1700" dirty="0"/>
          </a:p>
        </p:txBody>
      </p:sp>
      <p:sp>
        <p:nvSpPr>
          <p:cNvPr id="52" name="Text 49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53" name="Shape 50"/>
          <p:cNvSpPr/>
          <p:nvPr/>
        </p:nvSpPr>
        <p:spPr>
          <a:xfrm>
            <a:off x="11091672" y="5261458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54" name="Text 51"/>
          <p:cNvSpPr txBox="1"/>
          <p:nvPr/>
        </p:nvSpPr>
        <p:spPr>
          <a:xfrm>
            <a:off x="11091672" y="526145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55" name="Text 5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Core: one full sentence for every question. If you are stuck: </a:t>
            </a:r>
            <a:pPr algn="l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عَفْوًا، هَلْ يُمْكِنُ أَنْ تُعِيدَ السُّؤَالَ؟</a:t>
            </a:r>
            <a:endParaRPr lang="en-US" sz="1150" dirty="0"/>
          </a:p>
        </p:txBody>
      </p:sp>
      <p:sp>
        <p:nvSpPr>
          <p:cNvPr id="56" name="Text 5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17 / 25</a:t>
            </a:r>
            <a:endParaRPr lang="en-US" sz="8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TC-L08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5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TOPIC CONVERSATION · DEVELOP QUESTIONS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Topic conversation — Develop questions</a:t>
            </a:r>
            <a:endParaRPr lang="en-US" sz="24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الخِدْمَاتُ فِي مَدِينَتِي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C · Speaking workshop · TC-L08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439912" y="1810512"/>
            <a:ext cx="32186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Start like this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788152" y="1810512"/>
            <a:ext cx="25054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Meaning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46085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asks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458200" y="2267712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أَخْرُجُ مِنَ البَيْتِ، ثُمَّ أَمْشِي إِلَى 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824728" y="2267712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Describe the way from your home to school.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صِفِ الطَّرِيقَ مِنْ بَيْتِكَ إِلَى المَدْرَسَةِ.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458200" y="3004718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المُوَاصَلَاتُ … وَالمُسْتَشْفَى …</a:t>
            </a:r>
            <a:endParaRPr lang="ar-SA" sz="1500" dirty="0"/>
          </a:p>
        </p:txBody>
      </p:sp>
      <p:sp>
        <p:nvSpPr>
          <p:cNvPr id="27" name="Text 24"/>
          <p:cNvSpPr txBox="1"/>
          <p:nvPr/>
        </p:nvSpPr>
        <p:spPr>
          <a:xfrm>
            <a:off x="5824728" y="3004718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Which services in your town are good?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1051560" y="3004718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 الخِدْمَاتُ الجَيِّدَةُ فِي مَدِينَتِكَ؟</a:t>
            </a:r>
            <a:endParaRPr lang="ar-SA" sz="1700" dirty="0"/>
          </a:p>
        </p:txBody>
      </p:sp>
      <p:sp>
        <p:nvSpPr>
          <p:cNvPr id="29" name="Text 26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8458200" y="3741725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… أَكْبَرُ / أَقْدَمُ مِنْ …</a:t>
            </a:r>
            <a:endParaRPr lang="ar-SA" sz="1500" dirty="0"/>
          </a:p>
        </p:txBody>
      </p:sp>
      <p:sp>
        <p:nvSpPr>
          <p:cNvPr id="32" name="Text 29"/>
          <p:cNvSpPr txBox="1"/>
          <p:nvPr/>
        </p:nvSpPr>
        <p:spPr>
          <a:xfrm>
            <a:off x="5824728" y="3741725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Compare your town with an Arab city you visited.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1051560" y="3741725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قَارِنْ بَيْنَ مَدِينَتِكَ وَمَدِينَةٍ عَرَبِيَّةٍ زُرْتَهَا.</a:t>
            </a:r>
            <a:endParaRPr lang="ar-SA" sz="1700" dirty="0"/>
          </a:p>
        </p:txBody>
      </p:sp>
      <p:sp>
        <p:nvSpPr>
          <p:cNvPr id="34" name="Text 31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8458200" y="4478731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مِنْ أَشْهَرِ المَبَانِي … وَهُوَ مَبْنِيٌّ مِنْ …</a:t>
            </a:r>
            <a:endParaRPr lang="ar-SA" sz="1500" dirty="0"/>
          </a:p>
        </p:txBody>
      </p:sp>
      <p:sp>
        <p:nvSpPr>
          <p:cNvPr id="37" name="Text 34"/>
          <p:cNvSpPr txBox="1"/>
          <p:nvPr/>
        </p:nvSpPr>
        <p:spPr>
          <a:xfrm>
            <a:off x="5824728" y="4478731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Describe a famous building in your town.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1051560" y="4478731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صِفْ مَبْنًى مَشْهُورًا فِي مَدِينَتِكَ.</a:t>
            </a:r>
            <a:endParaRPr lang="ar-SA" sz="1700" dirty="0"/>
          </a:p>
        </p:txBody>
      </p:sp>
      <p:sp>
        <p:nvSpPr>
          <p:cNvPr id="39" name="Text 36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0" name="Shape 37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8458200" y="5215738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بُنِيَ … وَفُتِحَ …</a:t>
            </a:r>
            <a:endParaRPr lang="ar-SA" sz="1500" dirty="0"/>
          </a:p>
        </p:txBody>
      </p:sp>
      <p:sp>
        <p:nvSpPr>
          <p:cNvPr id="42" name="Text 39"/>
          <p:cNvSpPr txBox="1"/>
          <p:nvPr/>
        </p:nvSpPr>
        <p:spPr>
          <a:xfrm>
            <a:off x="5824728" y="5215738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What has changed in your town recently?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1051560" y="5215738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 الَّذِي تَغَيَّرَ فِي مَدِينَتِكَ فِي السَّنَوَاتِ الأَخِيرَةِ؟</a:t>
            </a:r>
            <a:endParaRPr lang="ar-SA" sz="1700" dirty="0"/>
          </a:p>
        </p:txBody>
      </p:sp>
      <p:sp>
        <p:nvSpPr>
          <p:cNvPr id="44" name="Text 41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5" name="Text 4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Develop: two or three sentences — locatives, comparatives, mabnī min and a passive in the past.</a:t>
            </a:r>
            <a:endParaRPr lang="en-US" sz="1150" dirty="0"/>
          </a:p>
        </p:txBody>
      </p:sp>
      <p:sp>
        <p:nvSpPr>
          <p:cNvPr id="46" name="Text 4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18 / 25</a:t>
            </a:r>
            <a:endParaRPr lang="en-US" sz="8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TC-L08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5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TOPIC CONVERSATION · STRETCH QUESTIONS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Topic conversation — Stretch questions</a:t>
            </a:r>
            <a:endParaRPr lang="en-US" sz="24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مُدُنُ المُسْتَقْبَلِ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C · Speaking workshop · TC-L08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439912" y="1810512"/>
            <a:ext cx="32186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Start like this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788152" y="1810512"/>
            <a:ext cx="25054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Meaning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46085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asks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458200" y="2267712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مِنْ نَاحِيَةٍ … وَمِنْ نَاحِيَةٍ أُخْرَى 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824728" y="2267712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Is city life better than village life?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هَلِ الحَيَاةُ فِي المَدِينَةِ أَفْضَلُ مِنَ الحَيَاةِ فِي القَرْيَةِ؟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458200" y="3004718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بِسَبَبِ … مِمَّا يُؤَدِّي إِلَى …</a:t>
            </a:r>
            <a:endParaRPr lang="ar-SA" sz="1500" dirty="0"/>
          </a:p>
        </p:txBody>
      </p:sp>
      <p:sp>
        <p:nvSpPr>
          <p:cNvPr id="27" name="Text 24"/>
          <p:cNvSpPr txBox="1"/>
          <p:nvPr/>
        </p:nvSpPr>
        <p:spPr>
          <a:xfrm>
            <a:off x="5824728" y="3004718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Why do so many people move to cities?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1051560" y="3004718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لِمَاذَا يَنْتَقِلُ كَثِيرٌ مِنَ النَّاسِ إِلَى المُدُنِ؟</a:t>
            </a:r>
            <a:endParaRPr lang="ar-SA" sz="1700" dirty="0"/>
          </a:p>
        </p:txBody>
      </p:sp>
      <p:sp>
        <p:nvSpPr>
          <p:cNvPr id="29" name="Text 26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8458200" y="3741725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صَحِيحٌ أَنَّ … غَيْرَ أَنَّ …</a:t>
            </a:r>
            <a:endParaRPr lang="ar-SA" sz="1500" dirty="0"/>
          </a:p>
        </p:txBody>
      </p:sp>
      <p:sp>
        <p:nvSpPr>
          <p:cNvPr id="32" name="Text 29"/>
          <p:cNvSpPr txBox="1"/>
          <p:nvPr/>
        </p:nvSpPr>
        <p:spPr>
          <a:xfrm>
            <a:off x="5824728" y="3741725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Should we preserve old buildings?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1051560" y="3741725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يَجِبُ أَنْ نُحَافِظَ عَلَى المَبَانِي القَدِيمَةِ؟</a:t>
            </a:r>
            <a:endParaRPr lang="ar-SA" sz="1700" dirty="0"/>
          </a:p>
        </p:txBody>
      </p:sp>
      <p:sp>
        <p:nvSpPr>
          <p:cNvPr id="34" name="Text 31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8458200" y="4478731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يَقُولُ جَدِّي إِنَّ … كَانَتْ …</a:t>
            </a:r>
            <a:endParaRPr lang="ar-SA" sz="1500" dirty="0"/>
          </a:p>
        </p:txBody>
      </p:sp>
      <p:sp>
        <p:nvSpPr>
          <p:cNvPr id="37" name="Text 34"/>
          <p:cNvSpPr txBox="1"/>
          <p:nvPr/>
        </p:nvSpPr>
        <p:spPr>
          <a:xfrm>
            <a:off x="5824728" y="4478731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What was your town like in your grandparents’ day?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1051560" y="4478731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كَيْفَ كَانَتْ مَدِينَتُكَ فِي أَيَّامِ أَجْدَادِكَ؟</a:t>
            </a:r>
            <a:endParaRPr lang="ar-SA" sz="1700" dirty="0"/>
          </a:p>
        </p:txBody>
      </p:sp>
      <p:sp>
        <p:nvSpPr>
          <p:cNvPr id="39" name="Text 36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0" name="Shape 37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8458200" y="5215738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لَوْ صَمَّمْتُهَا، لَجَعَلْتُ …</a:t>
            </a:r>
            <a:endParaRPr lang="ar-SA" sz="1500" dirty="0"/>
          </a:p>
        </p:txBody>
      </p:sp>
      <p:sp>
        <p:nvSpPr>
          <p:cNvPr id="42" name="Text 39"/>
          <p:cNvSpPr txBox="1"/>
          <p:nvPr/>
        </p:nvSpPr>
        <p:spPr>
          <a:xfrm>
            <a:off x="5824728" y="5215738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If you designed the city of the future, what would it be like?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1051560" y="5215738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لَوْ صَمَّمْتَ مَدِينَةَ المُسْتَقْبَلِ، كَيْفَ تَكُونُ؟</a:t>
            </a:r>
            <a:endParaRPr lang="ar-SA" sz="1700" dirty="0"/>
          </a:p>
        </p:txBody>
      </p:sp>
      <p:sp>
        <p:nvSpPr>
          <p:cNvPr id="44" name="Text 41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5" name="Text 4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Stretch: a balanced view, bi-sababi … mimmā, a concession, reported speech and law … la-.</a:t>
            </a:r>
            <a:endParaRPr lang="en-US" sz="1150" dirty="0"/>
          </a:p>
        </p:txBody>
      </p:sp>
      <p:sp>
        <p:nvSpPr>
          <p:cNvPr id="46" name="Text 4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19 / 25</a:t>
            </a:r>
            <a:endParaRPr lang="en-US" sz="8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TC-L08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ANSWERS · TOPIC CONVERSATION · CORE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Core: what a strong answer sounds like</a:t>
            </a:r>
            <a:endParaRPr lang="en-US" sz="24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C · Speaking workshop · TC-L08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325112" y="1810512"/>
            <a:ext cx="73334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1455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Question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343400" y="2286000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أَسْكُنُ فِي حَيٍّ هَادِئٍ فِي بِرْمِنْغْهَامَ.</a:t>
            </a:r>
            <a:endParaRPr lang="ar-SA" sz="1700" dirty="0"/>
          </a:p>
        </p:txBody>
      </p:sp>
      <p:sp>
        <p:nvSpPr>
          <p:cNvPr id="21" name="Text 18"/>
          <p:cNvSpPr txBox="1"/>
          <p:nvPr/>
        </p:nvSpPr>
        <p:spPr>
          <a:xfrm>
            <a:off x="4297680" y="2676997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live in a quiet area of Birmingham.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أَيْنَ تَسْكُنُ؟</a:t>
            </a:r>
            <a:endParaRPr lang="ar-SA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343400" y="3023006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يُوجَدُ مَتْحَفٌ كَبِيرٌ، وَتُوجَدُ حَدَائِقُ كَثِيرَةٌ.</a:t>
            </a:r>
            <a:endParaRPr lang="ar-SA" sz="1700" dirty="0"/>
          </a:p>
        </p:txBody>
      </p:sp>
      <p:sp>
        <p:nvSpPr>
          <p:cNvPr id="26" name="Text 23"/>
          <p:cNvSpPr txBox="1"/>
          <p:nvPr/>
        </p:nvSpPr>
        <p:spPr>
          <a:xfrm>
            <a:off x="4297680" y="3414004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There is a big museum, and there are many parks.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مَاذَا يُوجَدُ فِي مَدِينَتِكَ؟</a:t>
            </a:r>
            <a:endParaRPr lang="ar-SA" sz="15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343400" y="3760013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نَعَمْ، مَدِينَتِي كَبِيرَةٌ وَمُزْدَحِمَةٌ.</a:t>
            </a:r>
            <a:endParaRPr lang="ar-SA" sz="1700" dirty="0"/>
          </a:p>
        </p:txBody>
      </p:sp>
      <p:sp>
        <p:nvSpPr>
          <p:cNvPr id="31" name="Text 28"/>
          <p:cNvSpPr txBox="1"/>
          <p:nvPr/>
        </p:nvSpPr>
        <p:spPr>
          <a:xfrm>
            <a:off x="4297680" y="4151010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Yes, my city is big and crowded.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مَدِينَتُكَ كَبِيرَةٌ؟</a:t>
            </a:r>
            <a:endParaRPr lang="ar-SA" sz="15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343400" y="4497019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مَدْرَسَتِي مُقَابِلَ المَكْتَبَةِ العَامَّةِ.</a:t>
            </a:r>
            <a:endParaRPr lang="ar-SA" sz="1700" dirty="0"/>
          </a:p>
        </p:txBody>
      </p:sp>
      <p:sp>
        <p:nvSpPr>
          <p:cNvPr id="36" name="Text 33"/>
          <p:cNvSpPr txBox="1"/>
          <p:nvPr/>
        </p:nvSpPr>
        <p:spPr>
          <a:xfrm>
            <a:off x="4297680" y="4888017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My school is opposite the public library.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أَيْنَ مَدْرَسَتُكَ؟</a:t>
            </a:r>
            <a:endParaRPr lang="ar-SA" sz="15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343400" y="5234026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مَكَانِيَ المُفَضَّلُ المَكْتَبَةُ، لِأَنَّهَا هَادِئَةٌ.</a:t>
            </a:r>
            <a:endParaRPr lang="ar-SA" sz="1700" dirty="0"/>
          </a:p>
        </p:txBody>
      </p:sp>
      <p:sp>
        <p:nvSpPr>
          <p:cNvPr id="41" name="Text 38"/>
          <p:cNvSpPr txBox="1"/>
          <p:nvPr/>
        </p:nvSpPr>
        <p:spPr>
          <a:xfrm>
            <a:off x="4297680" y="5625023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My favourite place is the library, because it is quiet.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 مَكَانُكَ المُفَضَّلُ فِي المَدِينَةِ؟</a:t>
            </a:r>
            <a:endParaRPr lang="ar-SA" sz="15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Full sentence + yūjadu / tūjadu = a secure Core answer.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20 / 25</a:t>
            </a:r>
            <a:endParaRPr lang="en-US" sz="8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TC-L08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ANSWERS · TOPIC CONVERSATION · DEVELOP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Develop: what a strong answer sounds like</a:t>
            </a:r>
            <a:endParaRPr lang="en-US" sz="22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C · Speaking workshop · TC-L08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325112" y="1810512"/>
            <a:ext cx="73334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1455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Question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343400" y="2286000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أَخْرُجُ مِنَ البَيْتِ، ثُمَّ أَمْشِي إِلَى المَحَطَّةِ الَّتِي تَقَعُ بِجَانِبِ البَنْكِ، وَأَرْكَبُ الحَافِلَةَ عَشْرَ دَقَائِقَ.</a:t>
            </a:r>
            <a:endParaRPr lang="ar-SA" sz="1700" dirty="0"/>
          </a:p>
        </p:txBody>
      </p:sp>
      <p:sp>
        <p:nvSpPr>
          <p:cNvPr id="21" name="Text 18"/>
          <p:cNvSpPr txBox="1"/>
          <p:nvPr/>
        </p:nvSpPr>
        <p:spPr>
          <a:xfrm>
            <a:off x="4297680" y="2676997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leave home, walk to the station next to the bank, and take the bus for ten minutes.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صِفِ الطَّرِيقَ مِنْ بَيْتِكَ إِلَى المَدْرَسَةِ.</a:t>
            </a:r>
            <a:endParaRPr lang="ar-SA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343400" y="3023006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المُوَاصَلَاتُ سَرِيعَةٌ، وَالمُسْتَشْفَى حَدِيثٌ، لٰكِنَّ الحَدَائِقَ قَلِيلَةٌ.</a:t>
            </a:r>
            <a:endParaRPr lang="ar-SA" sz="1700" dirty="0"/>
          </a:p>
        </p:txBody>
      </p:sp>
      <p:sp>
        <p:nvSpPr>
          <p:cNvPr id="26" name="Text 23"/>
          <p:cNvSpPr txBox="1"/>
          <p:nvPr/>
        </p:nvSpPr>
        <p:spPr>
          <a:xfrm>
            <a:off x="4297680" y="3414004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Transport is fast and the hospital modern, but there are few parks.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 الخِدْمَاتُ الجَيِّدَةُ فِي مَدِينَتِكَ؟</a:t>
            </a:r>
            <a:endParaRPr lang="ar-SA" sz="15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343400" y="3760013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القَاهِرَةُ أَكْبَرُ وَأَقْدَمُ مِنْ مَدِينَتِي بِكَثِيرٍ، وَشَوَارِعُهَا أَكْثَرُ ازْدِحَامًا، لٰكِنَّ أَسْوَاقَهَا أَجْمَلُ.</a:t>
            </a:r>
            <a:endParaRPr lang="ar-SA" sz="1700" dirty="0"/>
          </a:p>
        </p:txBody>
      </p:sp>
      <p:sp>
        <p:nvSpPr>
          <p:cNvPr id="31" name="Text 28"/>
          <p:cNvSpPr txBox="1"/>
          <p:nvPr/>
        </p:nvSpPr>
        <p:spPr>
          <a:xfrm>
            <a:off x="4297680" y="4151010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Cairo is much bigger and older than my city, with busier streets, but its markets are nicer.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قَارِنْ بَيْنَ مَدِينَتِكَ وَمَدِينَةٍ عَرَبِيَّةٍ زُرْتَهَا.</a:t>
            </a:r>
            <a:endParaRPr lang="ar-SA" sz="15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343400" y="4497019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مِنْ أَشْهَرِ المَبَانِي المَكْتَبَةُ المَرْكَزِيَّةُ؛ هِيَ مَبْنِيَّةٌ مِنَ الزُّجَاجِ وَالحَدِيدِ، وَفِيهَا حَدِيقَةٌ عَلَى السَّطْحِ.</a:t>
            </a:r>
            <a:endParaRPr lang="ar-SA" sz="1700" dirty="0"/>
          </a:p>
        </p:txBody>
      </p:sp>
      <p:sp>
        <p:nvSpPr>
          <p:cNvPr id="36" name="Text 33"/>
          <p:cNvSpPr txBox="1"/>
          <p:nvPr/>
        </p:nvSpPr>
        <p:spPr>
          <a:xfrm>
            <a:off x="4297680" y="4888017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One of the most famous buildings is the central library: built of glass and steel, with a roof garden.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صِفْ مَبْنًى مَشْهُورًا فِي مَدِينَتِكَ.</a:t>
            </a:r>
            <a:endParaRPr lang="ar-SA" sz="15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343400" y="5234026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بُنِيَ مَرْكَزٌ رِيَاضِيٌّ جَدِيدٌ، وَفُتِحَتْ مَحَطَّةٌ لِلْقِطَارِ السَّرِيعِ.</a:t>
            </a:r>
            <a:endParaRPr lang="ar-SA" sz="1700" dirty="0"/>
          </a:p>
        </p:txBody>
      </p:sp>
      <p:sp>
        <p:nvSpPr>
          <p:cNvPr id="41" name="Text 38"/>
          <p:cNvSpPr txBox="1"/>
          <p:nvPr/>
        </p:nvSpPr>
        <p:spPr>
          <a:xfrm>
            <a:off x="4297680" y="5625023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 new sports centre has been built, and a high-speed rail station opened.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4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 الَّذِي تَغَيَّرَ فِي مَدِينَتِكَ فِي السَّنَوَاتِ الأَخِيرَةِ؟</a:t>
            </a:r>
            <a:endParaRPr lang="ar-SA" sz="145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Locative + comparison + passive = a strong Develop answer.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21 / 25</a:t>
            </a:r>
            <a:endParaRPr lang="en-US" sz="8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TC-L08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ANSWERS · TOPIC CONVERSATION · STRETCH · PART 1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Stretch: what a strong answer sounds like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C · Speaking workshop · TC-L08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325112" y="1810512"/>
            <a:ext cx="73334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1455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Question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73152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343400" y="2286000"/>
            <a:ext cx="7296912" cy="453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مِنْ نَاحِيَةٍ، تُقَدِّمُ المَدِينَةُ خِدْمَاتٍ وَفُرَصًا أَكْثَرَ، وَمِنْ نَاحِيَةٍ أُخْرَى، القَرْيَةُ أَهْدَأُ وَأَنْظَفُ، وَالعَلَاقَاتُ فِيهَا أَقْوَى.</a:t>
            </a:r>
            <a:endParaRPr lang="ar-SA" sz="1500" dirty="0"/>
          </a:p>
        </p:txBody>
      </p:sp>
      <p:sp>
        <p:nvSpPr>
          <p:cNvPr id="21" name="Text 18"/>
          <p:cNvSpPr txBox="1"/>
          <p:nvPr/>
        </p:nvSpPr>
        <p:spPr>
          <a:xfrm>
            <a:off x="4297680" y="2706624"/>
            <a:ext cx="7388352" cy="277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The city offers more services and chances; the village is quieter and cleaner, with stronger relationships.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4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هَلِ الحَيَاةُ فِي المَدِينَةِ أَفْضَلُ مِنَ الحَيَاةِ فِي القَرْيَةِ؟</a:t>
            </a:r>
            <a:endParaRPr lang="ar-SA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54096"/>
            <a:ext cx="11274552" cy="731520"/>
          </a:xfrm>
          <a:prstGeom prst="roundRect">
            <a:avLst>
              <a:gd name="adj" fmla="val 6250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343400" y="3072384"/>
            <a:ext cx="7296912" cy="453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بِسَبَبِ قِلَّةِ العَمَلِ فِي الرِّيفِ، مِمَّا يُؤَدِّي إِلَى ازْدِحَامِ المُدُنِ وَارْتِفَاعِ أَسْعَارِ السَّكَنِ.</a:t>
            </a:r>
            <a:endParaRPr lang="ar-SA" sz="1700" dirty="0"/>
          </a:p>
        </p:txBody>
      </p:sp>
      <p:sp>
        <p:nvSpPr>
          <p:cNvPr id="26" name="Text 23"/>
          <p:cNvSpPr txBox="1"/>
          <p:nvPr/>
        </p:nvSpPr>
        <p:spPr>
          <a:xfrm>
            <a:off x="4297680" y="3493008"/>
            <a:ext cx="7388352" cy="277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Because of the lack of work in the countryside, which leads to crowded cities and high housing prices.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54096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لِمَاذَا يَنْتَقِلُ كَثِيرٌ مِنَ النَّاسِ إِلَى المُدُنِ؟</a:t>
            </a:r>
            <a:endParaRPr lang="ar-SA" sz="15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54096"/>
            <a:ext cx="320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840480"/>
            <a:ext cx="11274552" cy="73152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343400" y="3858768"/>
            <a:ext cx="7296912" cy="453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صَحِيحٌ أَنَّ صِيَانَتَهَا مُكْلِفَةٌ، غَيْرَ أَنَّهَا تَحْكِي تَارِيخَ المَدِينَةِ، وَتَجْذِبُ السُّيَّاحَ.</a:t>
            </a:r>
            <a:endParaRPr lang="ar-SA" sz="1700" dirty="0"/>
          </a:p>
        </p:txBody>
      </p:sp>
      <p:sp>
        <p:nvSpPr>
          <p:cNvPr id="31" name="Text 28"/>
          <p:cNvSpPr txBox="1"/>
          <p:nvPr/>
        </p:nvSpPr>
        <p:spPr>
          <a:xfrm>
            <a:off x="4297680" y="4279392"/>
            <a:ext cx="7388352" cy="277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Maintaining them is costly, but they tell the city’s history and attract tourists.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840480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يَجِبُ أَنْ نُحَافِظَ عَلَى المَبَانِي القَدِيمَةِ؟</a:t>
            </a:r>
            <a:endParaRPr lang="ar-SA" sz="15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840480"/>
            <a:ext cx="320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Text 3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Stretch: balance, cause → effect, ṣaḥīḥun anna … ghayra anna, reported speech with inna, law … la- — range is rewarded.</a:t>
            </a:r>
            <a:endParaRPr lang="en-US" sz="1150" dirty="0"/>
          </a:p>
        </p:txBody>
      </p:sp>
      <p:sp>
        <p:nvSpPr>
          <p:cNvPr id="35" name="Text 3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22 / 25</a:t>
            </a:r>
            <a:endParaRPr lang="en-US" sz="8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TC-L08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ANSWERS · TOPIC CONVERSATION · STRETCH · PART 2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Stretch: what a strong answer sounds like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C · Speaking workshop · TC-L08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325112" y="1810512"/>
            <a:ext cx="73334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1455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Question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73152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343400" y="2286000"/>
            <a:ext cx="7296912" cy="453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يَقُولُ جَدِّي إِنَّ مُعْظَمَ البُيُوتِ كَانَتْ مَبْنِيَّةً مِنَ الطُّوبِ الأَحْمَرِ، وَإِنَّ الحَيَّ كُلَّهُ كَانَ يَعْرِفُ بَعْضَهُ.</a:t>
            </a:r>
            <a:endParaRPr lang="ar-SA" sz="1700" dirty="0"/>
          </a:p>
        </p:txBody>
      </p:sp>
      <p:sp>
        <p:nvSpPr>
          <p:cNvPr id="21" name="Text 18"/>
          <p:cNvSpPr txBox="1"/>
          <p:nvPr/>
        </p:nvSpPr>
        <p:spPr>
          <a:xfrm>
            <a:off x="4297680" y="2706624"/>
            <a:ext cx="7388352" cy="277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My grandad says most houses were built of red brick, and the whole neighbourhood knew each other.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كَيْفَ كَانَتْ مَدِينَتُكَ فِي أَيَّامِ أَجْدَادِكَ؟</a:t>
            </a:r>
            <a:endParaRPr lang="ar-SA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54096"/>
            <a:ext cx="11274552" cy="731520"/>
          </a:xfrm>
          <a:prstGeom prst="roundRect">
            <a:avLst>
              <a:gd name="adj" fmla="val 6250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343400" y="3072384"/>
            <a:ext cx="7296912" cy="453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لَوْ صَمَّمْتُهَا، لَجَعَلْتُ السَّيَّارَاتِ تَحْتَ الأَرْضِ، وَلَزَرَعْتُ الأَشْجَارَ عَلَى أَسْطُحِ كُلِّ المَبَانِي.</a:t>
            </a:r>
            <a:endParaRPr lang="ar-SA" sz="1700" dirty="0"/>
          </a:p>
        </p:txBody>
      </p:sp>
      <p:sp>
        <p:nvSpPr>
          <p:cNvPr id="26" name="Text 23"/>
          <p:cNvSpPr txBox="1"/>
          <p:nvPr/>
        </p:nvSpPr>
        <p:spPr>
          <a:xfrm>
            <a:off x="4297680" y="3493008"/>
            <a:ext cx="7388352" cy="277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If I designed it, I’d put the cars underground and plant trees on every rooftop.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54096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لَوْ صَمَّمْتَ مَدِينَةَ المُسْتَقْبَلِ، كَيْفَ تَكُونُ؟</a:t>
            </a:r>
            <a:endParaRPr lang="ar-SA" sz="15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54096"/>
            <a:ext cx="320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29" name="Text 26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Stretch: balance, cause → effect, ṣaḥīḥun anna … ghayra anna, reported speech with inna, law … la- — range is rewarded.</a:t>
            </a:r>
            <a:endParaRPr lang="en-US" sz="1150" dirty="0"/>
          </a:p>
        </p:txBody>
      </p:sp>
      <p:sp>
        <p:nvSpPr>
          <p:cNvPr id="30" name="Text 27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23 / 25</a:t>
            </a:r>
            <a:endParaRPr lang="en-US" sz="8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TC-L08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1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FEEDBACK · SUCCESS CRITERIA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Check your work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قَيِّمْ عَمَلَكَ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C · Speaking workshop · TC-L08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685800" y="2086661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2E8B57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1097280" y="1810512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said what there is in my town (yūjadu / tūjadu).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6583680" y="2068373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6583680" y="2068373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20" name="Shape 17"/>
          <p:cNvSpPr/>
          <p:nvPr/>
        </p:nvSpPr>
        <p:spPr>
          <a:xfrm>
            <a:off x="457200" y="2710282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685800" y="2986430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2E8B57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1097280" y="2710282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said where places are (muqābila, bi-jānibi, qurba).</a:t>
            </a:r>
            <a:endParaRPr lang="en-US" sz="1300" dirty="0"/>
          </a:p>
        </p:txBody>
      </p:sp>
      <p:sp>
        <p:nvSpPr>
          <p:cNvPr id="23" name="Shape 20"/>
          <p:cNvSpPr/>
          <p:nvPr/>
        </p:nvSpPr>
        <p:spPr>
          <a:xfrm>
            <a:off x="6583680" y="2968142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6583680" y="296814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25" name="Shape 22"/>
          <p:cNvSpPr/>
          <p:nvPr/>
        </p:nvSpPr>
        <p:spPr>
          <a:xfrm>
            <a:off x="457200" y="3610051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6" name="Shape 23"/>
          <p:cNvSpPr/>
          <p:nvPr/>
        </p:nvSpPr>
        <p:spPr>
          <a:xfrm>
            <a:off x="685800" y="3886200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C9780A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1097280" y="3610051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compared places (akbaru / akthar izdiḥāman min).</a:t>
            </a:r>
            <a:endParaRPr lang="en-US" sz="1300" dirty="0"/>
          </a:p>
        </p:txBody>
      </p:sp>
      <p:sp>
        <p:nvSpPr>
          <p:cNvPr id="28" name="Shape 25"/>
          <p:cNvSpPr/>
          <p:nvPr/>
        </p:nvSpPr>
        <p:spPr>
          <a:xfrm>
            <a:off x="6583680" y="3867912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C9780A"/>
          </a:solidFill>
          <a:ln w="12700">
            <a:solidFill>
              <a:srgbClr val="C9780A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6583680" y="386791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800" dirty="0"/>
          </a:p>
        </p:txBody>
      </p:sp>
      <p:sp>
        <p:nvSpPr>
          <p:cNvPr id="30" name="Shape 27"/>
          <p:cNvSpPr/>
          <p:nvPr/>
        </p:nvSpPr>
        <p:spPr>
          <a:xfrm>
            <a:off x="457200" y="4509821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1" name="Shape 28"/>
          <p:cNvSpPr/>
          <p:nvPr/>
        </p:nvSpPr>
        <p:spPr>
          <a:xfrm>
            <a:off x="685800" y="4785970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C9780A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1097280" y="4509821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used mabnī min or a passive (buniya, futiḥa).</a:t>
            </a:r>
            <a:endParaRPr lang="en-US" sz="1300" dirty="0"/>
          </a:p>
        </p:txBody>
      </p:sp>
      <p:sp>
        <p:nvSpPr>
          <p:cNvPr id="33" name="Shape 30"/>
          <p:cNvSpPr/>
          <p:nvPr/>
        </p:nvSpPr>
        <p:spPr>
          <a:xfrm>
            <a:off x="6583680" y="4767682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C9780A"/>
          </a:solidFill>
          <a:ln w="12700">
            <a:solidFill>
              <a:srgbClr val="C9780A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6583680" y="476768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800" dirty="0"/>
          </a:p>
        </p:txBody>
      </p:sp>
      <p:sp>
        <p:nvSpPr>
          <p:cNvPr id="35" name="Shape 32"/>
          <p:cNvSpPr/>
          <p:nvPr/>
        </p:nvSpPr>
        <p:spPr>
          <a:xfrm>
            <a:off x="457200" y="5409590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6" name="Shape 33"/>
          <p:cNvSpPr/>
          <p:nvPr/>
        </p:nvSpPr>
        <p:spPr>
          <a:xfrm>
            <a:off x="685800" y="5685739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B83227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1097280" y="5409590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gave a balanced view, a concession or law … la-.</a:t>
            </a:r>
            <a:endParaRPr lang="en-US" sz="1300" dirty="0"/>
          </a:p>
        </p:txBody>
      </p:sp>
      <p:sp>
        <p:nvSpPr>
          <p:cNvPr id="38" name="Shape 35"/>
          <p:cNvSpPr/>
          <p:nvPr/>
        </p:nvSpPr>
        <p:spPr>
          <a:xfrm>
            <a:off x="6583680" y="5667451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B83227"/>
          </a:solidFill>
          <a:ln w="12700">
            <a:solidFill>
              <a:srgbClr val="B83227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6583680" y="5667451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STRETCH</a:t>
            </a:r>
            <a:endParaRPr lang="en-US" sz="800" dirty="0"/>
          </a:p>
        </p:txBody>
      </p:sp>
      <p:sp>
        <p:nvSpPr>
          <p:cNvPr id="40" name="Shape 37"/>
          <p:cNvSpPr/>
          <p:nvPr/>
        </p:nvSpPr>
        <p:spPr>
          <a:xfrm>
            <a:off x="8092440" y="1810512"/>
            <a:ext cx="3639312" cy="2084832"/>
          </a:xfrm>
          <a:prstGeom prst="roundRect">
            <a:avLst>
              <a:gd name="adj" fmla="val 3509"/>
            </a:avLst>
          </a:prstGeom>
          <a:solidFill>
            <a:srgbClr val="E9F5EE"/>
          </a:solidFill>
          <a:ln w="9525">
            <a:solidFill>
              <a:srgbClr val="9CCFB0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1" name="Text 38"/>
          <p:cNvSpPr txBox="1"/>
          <p:nvPr/>
        </p:nvSpPr>
        <p:spPr>
          <a:xfrm>
            <a:off x="8275320" y="1920240"/>
            <a:ext cx="3273552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E8B57"/>
                </a:solidFill>
                <a:latin typeface="Calibri" pitchFamily="34" charset="0"/>
                <a:cs typeface="Amiri" pitchFamily="2" charset="-78"/>
              </a:rPr>
              <a:t>WWW</a:t>
            </a:r>
            <a:endParaRPr lang="en-US" sz="1800" dirty="0"/>
          </a:p>
          <a:p>
            <a:pPr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What went well? One thing you did accurately.</a:t>
            </a:r>
            <a:endParaRPr lang="en-US" sz="1800" dirty="0"/>
          </a:p>
        </p:txBody>
      </p:sp>
      <p:sp>
        <p:nvSpPr>
          <p:cNvPr id="42" name="Shape 39"/>
          <p:cNvSpPr/>
          <p:nvPr/>
        </p:nvSpPr>
        <p:spPr>
          <a:xfrm>
            <a:off x="8092440" y="4041648"/>
            <a:ext cx="3639312" cy="2084832"/>
          </a:xfrm>
          <a:prstGeom prst="roundRect">
            <a:avLst>
              <a:gd name="adj" fmla="val 3509"/>
            </a:avLst>
          </a:prstGeom>
          <a:solidFill>
            <a:srgbClr val="FFF4E0"/>
          </a:solidFill>
          <a:ln w="9525">
            <a:solidFill>
              <a:srgbClr val="E8D49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3" name="Text 40"/>
          <p:cNvSpPr txBox="1"/>
          <p:nvPr/>
        </p:nvSpPr>
        <p:spPr>
          <a:xfrm>
            <a:off x="8275320" y="4151376"/>
            <a:ext cx="3273552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9780A"/>
                </a:solidFill>
                <a:latin typeface="Calibri" pitchFamily="34" charset="0"/>
                <a:cs typeface="Amiri" pitchFamily="2" charset="-78"/>
              </a:rPr>
              <a:t>EBI</a:t>
            </a:r>
            <a:endParaRPr lang="en-US" sz="1800" dirty="0"/>
          </a:p>
          <a:p>
            <a:pPr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Even better if… One thing you will fix or add.</a:t>
            </a:r>
            <a:endParaRPr lang="en-US" sz="1800" dirty="0"/>
          </a:p>
        </p:txBody>
      </p:sp>
      <p:sp>
        <p:nvSpPr>
          <p:cNvPr id="44" name="Text 41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24 / 25</a:t>
            </a:r>
            <a:endParaRPr lang="en-US" sz="8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0D1F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863840" y="1097280"/>
            <a:ext cx="5852160" cy="5852160"/>
          </a:xfrm>
          <a:prstGeom prst="ellipse">
            <a:avLst/>
          </a:prstGeom>
          <a:solidFill>
            <a:srgbClr val="14315C"/>
          </a:solidFill>
          <a:ln w="12700">
            <a:solidFill>
              <a:srgbClr val="14315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72600" y="2606040"/>
            <a:ext cx="1737360" cy="1737360"/>
          </a:xfrm>
          <a:prstGeom prst="ellipse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28" y="2944368"/>
            <a:ext cx="1060704" cy="1060704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457200" y="12801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TC-L08 COMPLETE</a:t>
            </a:r>
            <a:endParaRPr lang="en-US" sz="110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169164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ar-SA" altLang="en-US" sz="4000" b="1" dirty="0">
                <a:solidFill>
                  <a:srgbClr val="FFFFF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أَحْسَنْتُمْ! إِلَى اللِّقَاءِ</a:t>
            </a:r>
            <a:endParaRPr lang="ar-SA" sz="4000" dirty="0"/>
          </a:p>
        </p:txBody>
      </p:sp>
      <p:sp>
        <p:nvSpPr>
          <p:cNvPr id="7" name="Text 4"/>
          <p:cNvSpPr txBox="1"/>
          <p:nvPr/>
        </p:nvSpPr>
        <p:spPr>
          <a:xfrm>
            <a:off x="457200" y="260604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rgbClr val="C6D2E6"/>
                </a:solidFill>
                <a:latin typeface="Calibri" pitchFamily="34" charset="0"/>
                <a:cs typeface="Amiri" pitchFamily="2" charset="-78"/>
              </a:rPr>
              <a:t>Well done — great speaking practice today!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35661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NEXT WORKSHOP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457200" y="388620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Cambria" pitchFamily="34" charset="0"/>
                <a:cs typeface="Amiri" pitchFamily="2" charset="-78"/>
              </a:rPr>
              <a:t>TC-L08 · Writing workshop · Form filling, directed writing and extended writing</a:t>
            </a:r>
            <a:endParaRPr lang="en-US" sz="165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443484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ar-SA" altLang="en-US" sz="24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وَرْشَةُ الكِتَابَةِ</a:t>
            </a:r>
            <a:endParaRPr lang="ar-SA" sz="2400" dirty="0"/>
          </a:p>
        </p:txBody>
      </p:sp>
      <p:sp>
        <p:nvSpPr>
          <p:cNvPr id="11" name="Text 8"/>
          <p:cNvSpPr txBox="1"/>
          <p:nvPr/>
        </p:nvSpPr>
        <p:spPr>
          <a:xfrm>
            <a:off x="457200" y="53035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Remember: in the role play answer EVERY task; in the conversation, develop every answer.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Amiri" pitchFamily="2" charset="-78"/>
        <a:cs typeface="Amiri" pitchFamily="2" charset="-78"/>
        <a:font script="Arab" typeface="Amiri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Amiri" pitchFamily="2" charset="-78"/>
        <a:cs typeface="Amiri" pitchFamily="2" charset="-78"/>
        <a:font script="Arab" typeface="Amir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Al Madina Online School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TC-L08 · Speaking Workshop — Buildings, Services and Urban Areas</dc:title>
  <dc:subject>PptxGenJS Presentation</dc:subject>
  <dc:creator>Al Madina Online School · Arabic Department</dc:creator>
  <cp:lastModifiedBy>Al Madina Online School · Arabic Department</cp:lastModifiedBy>
  <cp:revision>1</cp:revision>
  <dcterms:created xsi:type="dcterms:W3CDTF">2026-10-11T09:55:01Z</dcterms:created>
  <dcterms:modified xsi:type="dcterms:W3CDTF">2026-10-11T09:55:01Z</dcterms:modified>
</cp:coreProperties>
</file>