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8 (Buildings, Services and Urban Areas, TC-L08), using that lesson’s language (yūjadu / tūjadu (there is); locatives (muqābila, bi-jānibi, bayna, khalfa); comparatives (akbaru min, aktharu ḥaraka); mabnī min).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يُوجَدُ before a masculine noun, تُوجَدُ before a feminine noun: يُوجَدُ مُسْتَشْفًى · تُوجَدُ مَكْتَبَةٌ. Non-human plurals → تُوجَدُ مَبَانٍ عَالِيَةٌ. مَبْنًى and مُسْتَشْفًى end in alif: المَبْنَى · المُسْتَشْفَى.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locatives take the genitive: مُقَابِلَ المَسْجِدِ · بِجَانِبِ البَنْكِ · بَيْنَ المَدْرَسَةِ وَالحَدِيقَةِ. Comparatives: المَدِينَةُ أَكْثَرُ ازْدِحَامًا مِنَ القَرْيَةِ. Materials: البَيْتُ مَبْنِيٌّ مِنَ الحَجَرِ.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in the street.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تُعْجِبُكِ.
Core: muqābila / bi-jānibi + genitive, yūjadu maqhan, baʿīdun ʿan, ʿashru daqāʾiqa (3–10 + plural).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tourist office.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تُحِبِّينَ · تَزُورِي · مَدِينَتُكِ.
Core+: aṣilu ilā, passive verbs tuftaḥu / tughlaqu, mimma (min + mā) … mabniyya, akbaru / akthar izdiḥāman min; the CANDIDATE asks (task 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neighbourhood survey.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حَيَّكِ · تُفَضِّلِينَ · حَيِّكُنَّ / حَيِّكُمْ.
Develop: tūjadu + bi-jānibihā, lā yūjadu … li-dhālika, kāna hunāka vs ammā … fa-qad + passive (buniyat), comparatives with maʿa anna, a future passive (sa-tuftaḥu).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planning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رَأْيُكِ · تَقْتَرِحِينَ · كُنْتِ.
Stretch: al-waḥīda allatī, a concession with numbers, aqtariḥu an + passive (tuṭawwara, tubnā), li-kay, ḥaythu + passive (ḥuwwilat), law … la- with mabnī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comparison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TC-L08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TC-L08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Buildings, Services and Urban Areas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المَدِينَةُ وَخِدْمَاتُهَا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describe your town and its services, give directions with locatives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مُقَابِلَ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بِجَانِبِ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بَيْنَ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say what there is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يُوجَدُ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تُوجَدُ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), compare town and village, and say what buildings are made of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مَبْنِيٌّ مِنْ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TC-L08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PLACES AND BUILDINGS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Hospital, library, station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أَمَاكِنُ فِي المَدِينَةِ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agreement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· تُوجَدُ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there is (m. · f.)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yū-ja-du · tū-ja-du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1054303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59789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there isn’t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588752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يُوجَدُ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9390888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9445752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there is a museum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9436608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مَتْحَفٌ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8238744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93608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there is a park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8284464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تُوجَدُ حَدِيقَةٌ</a:t>
            </a:r>
            <a:endParaRPr lang="ar-SA" sz="1350" dirty="0"/>
          </a:p>
        </p:txBody>
      </p:sp>
      <p:sp>
        <p:nvSpPr>
          <p:cNvPr id="33" name="Shape 30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6" name="Shape 33"/>
          <p:cNvSpPr/>
          <p:nvPr/>
        </p:nvSpPr>
        <p:spPr>
          <a:xfrm>
            <a:off x="4782312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782312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· pl. · tall</a:t>
            </a:r>
            <a:endParaRPr lang="en-US" sz="800" dirty="0"/>
          </a:p>
        </p:txBody>
      </p:sp>
      <p:sp>
        <p:nvSpPr>
          <p:cNvPr id="38" name="Shape 35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0" name="Text 37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مَبْنًى</a:t>
            </a:r>
            <a:endParaRPr lang="ar-SA" sz="3000" dirty="0"/>
          </a:p>
        </p:txBody>
      </p:sp>
      <p:sp>
        <p:nvSpPr>
          <p:cNvPr id="41" name="Text 38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building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mab-nan</a:t>
            </a:r>
            <a:endParaRPr lang="en-US" sz="1350" dirty="0"/>
          </a:p>
        </p:txBody>
      </p:sp>
      <p:sp>
        <p:nvSpPr>
          <p:cNvPr id="42" name="Shape 39"/>
          <p:cNvSpPr/>
          <p:nvPr/>
        </p:nvSpPr>
        <p:spPr>
          <a:xfrm>
            <a:off x="6720840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775704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tall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6766560" y="357530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مَبَانٍ عَالِيَةٌ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5568696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623560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5614416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مَبَانٍ · المَبَانِي</a:t>
            </a:r>
            <a:endParaRPr lang="ar-SA" sz="1350" dirty="0"/>
          </a:p>
        </p:txBody>
      </p:sp>
      <p:sp>
        <p:nvSpPr>
          <p:cNvPr id="48" name="Shape 45"/>
          <p:cNvSpPr/>
          <p:nvPr/>
        </p:nvSpPr>
        <p:spPr>
          <a:xfrm>
            <a:off x="4416552" y="3438144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4471416" y="3447288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4462272" y="3483864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المَبْنَى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2" name="Shape 49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54" name="Shape 51"/>
          <p:cNvSpPr/>
          <p:nvPr/>
        </p:nvSpPr>
        <p:spPr>
          <a:xfrm>
            <a:off x="960120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960120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· pl.</a:t>
            </a:r>
            <a:endParaRPr lang="en-US" sz="800" dirty="0"/>
          </a:p>
        </p:txBody>
      </p:sp>
      <p:sp>
        <p:nvSpPr>
          <p:cNvPr id="56" name="Shape 53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8" name="Text 55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مُسْتَشْفًى</a:t>
            </a:r>
            <a:endParaRPr lang="ar-SA" sz="3000" dirty="0"/>
          </a:p>
        </p:txBody>
      </p:sp>
      <p:sp>
        <p:nvSpPr>
          <p:cNvPr id="59" name="Text 56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hospital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mus-tash-fan</a:t>
            </a:r>
            <a:endParaRPr lang="en-US" sz="1350" dirty="0"/>
          </a:p>
        </p:txBody>
      </p:sp>
      <p:sp>
        <p:nvSpPr>
          <p:cNvPr id="60" name="Shape 57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مُسْتَشْفَيَاتٌ</a:t>
            </a:r>
            <a:endParaRPr lang="ar-SA" sz="1500" dirty="0"/>
          </a:p>
        </p:txBody>
      </p:sp>
      <p:sp>
        <p:nvSpPr>
          <p:cNvPr id="63" name="Shape 60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المُسْتَشْفَى</a:t>
            </a:r>
            <a:endParaRPr lang="ar-SA" sz="1500" dirty="0"/>
          </a:p>
        </p:txBody>
      </p:sp>
      <p:sp>
        <p:nvSpPr>
          <p:cNvPr id="66" name="Shape 63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7" name="Shape 64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8" name="Text 65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9" name="Shape 66"/>
          <p:cNvSpPr/>
          <p:nvPr/>
        </p:nvSpPr>
        <p:spPr>
          <a:xfrm>
            <a:off x="8604504" y="4279392"/>
            <a:ext cx="1455725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8604504" y="4279392"/>
            <a:ext cx="145572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a post office</a:t>
            </a:r>
            <a:endParaRPr lang="en-US" sz="800" dirty="0"/>
          </a:p>
        </p:txBody>
      </p:sp>
      <p:sp>
        <p:nvSpPr>
          <p:cNvPr id="71" name="Shape 68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3" name="Text 70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مَكْتَبَةٌ عَامَّةٌ</a:t>
            </a:r>
            <a:endParaRPr lang="ar-SA" sz="3000" dirty="0"/>
          </a:p>
        </p:txBody>
      </p:sp>
      <p:sp>
        <p:nvSpPr>
          <p:cNvPr id="74" name="Text 71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public library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mak-ta-ba-tun ʿām-ma-tun</a:t>
            </a:r>
            <a:endParaRPr lang="en-US" sz="1350" dirty="0"/>
          </a:p>
        </p:txBody>
      </p:sp>
      <p:sp>
        <p:nvSpPr>
          <p:cNvPr id="75" name="Shape 72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post office</a:t>
            </a:r>
            <a:endParaRPr lang="en-US" sz="700" dirty="0"/>
          </a:p>
        </p:txBody>
      </p:sp>
      <p:sp>
        <p:nvSpPr>
          <p:cNvPr id="77" name="Text 74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مَكْتَبُ البَرِيدِ</a:t>
            </a:r>
            <a:endParaRPr lang="ar-SA" sz="1350" dirty="0"/>
          </a:p>
        </p:txBody>
      </p:sp>
      <p:sp>
        <p:nvSpPr>
          <p:cNvPr id="78" name="Shape 75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مَكْتَبَاتٌ عَامَّةٌ</a:t>
            </a:r>
            <a:endParaRPr lang="ar-SA" sz="1500" dirty="0"/>
          </a:p>
        </p:txBody>
      </p:sp>
      <p:sp>
        <p:nvSpPr>
          <p:cNvPr id="81" name="Shape 78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2" name="Shape 79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3" name="Text 80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84" name="Shape 81"/>
          <p:cNvSpPr/>
          <p:nvPr/>
        </p:nvSpPr>
        <p:spPr>
          <a:xfrm>
            <a:off x="4782312" y="4279392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4782312" y="4279392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a market</a:t>
            </a:r>
            <a:endParaRPr lang="en-US" sz="800" dirty="0"/>
          </a:p>
        </p:txBody>
      </p:sp>
      <p:sp>
        <p:nvSpPr>
          <p:cNvPr id="86" name="Shape 83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7" name="Text 84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8" name="Text 85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مَرْكَزٌ تِجَارِيٌّ</a:t>
            </a:r>
            <a:endParaRPr lang="ar-SA" sz="3000" dirty="0"/>
          </a:p>
        </p:txBody>
      </p:sp>
      <p:sp>
        <p:nvSpPr>
          <p:cNvPr id="89" name="Text 86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shopping centre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mar-ka-zun ti-jā-riy-yun</a:t>
            </a:r>
            <a:endParaRPr lang="en-US" sz="1350" dirty="0"/>
          </a:p>
        </p:txBody>
      </p:sp>
      <p:sp>
        <p:nvSpPr>
          <p:cNvPr id="90" name="Shape 87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1" name="Text 88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market</a:t>
            </a:r>
            <a:endParaRPr lang="en-US" sz="700" dirty="0"/>
          </a:p>
        </p:txBody>
      </p:sp>
      <p:sp>
        <p:nvSpPr>
          <p:cNvPr id="92" name="Text 89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سُوقٌ · أَسْوَاقٌ</a:t>
            </a:r>
            <a:endParaRPr lang="ar-SA" sz="1350" dirty="0"/>
          </a:p>
        </p:txBody>
      </p:sp>
      <p:sp>
        <p:nvSpPr>
          <p:cNvPr id="93" name="Shape 90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مَرَاكِزُ تِجَارِيَّةٌ</a:t>
            </a:r>
            <a:endParaRPr lang="ar-SA" sz="1500" dirty="0"/>
          </a:p>
        </p:txBody>
      </p:sp>
      <p:sp>
        <p:nvSpPr>
          <p:cNvPr id="96" name="Shape 93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7" name="Shape 94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9" name="Shape 96"/>
          <p:cNvSpPr/>
          <p:nvPr/>
        </p:nvSpPr>
        <p:spPr>
          <a:xfrm>
            <a:off x="960120" y="4279392"/>
            <a:ext cx="170444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960120" y="4279392"/>
            <a:ext cx="170444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the train station</a:t>
            </a:r>
            <a:endParaRPr lang="en-US" sz="800" dirty="0"/>
          </a:p>
        </p:txBody>
      </p:sp>
      <p:sp>
        <p:nvSpPr>
          <p:cNvPr id="101" name="Shape 98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103" name="Text 100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مَحَطَّةٌ</a:t>
            </a:r>
            <a:endParaRPr lang="ar-SA" sz="3000" dirty="0"/>
          </a:p>
        </p:txBody>
      </p:sp>
      <p:sp>
        <p:nvSpPr>
          <p:cNvPr id="104" name="Text 101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station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ma-ḥaṭ-ṭa-tun</a:t>
            </a:r>
            <a:endParaRPr lang="en-US" sz="1350" dirty="0"/>
          </a:p>
        </p:txBody>
      </p:sp>
      <p:sp>
        <p:nvSpPr>
          <p:cNvPr id="105" name="Shape 102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train station</a:t>
            </a:r>
            <a:endParaRPr lang="en-US" sz="700" dirty="0"/>
          </a:p>
        </p:txBody>
      </p:sp>
      <p:sp>
        <p:nvSpPr>
          <p:cNvPr id="107" name="Text 104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مَحَطَّةُ القِطَارِ</a:t>
            </a:r>
            <a:endParaRPr lang="ar-SA" sz="1350" dirty="0"/>
          </a:p>
        </p:txBody>
      </p:sp>
      <p:sp>
        <p:nvSpPr>
          <p:cNvPr id="108" name="Shape 105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9" name="Text 106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110" name="Text 107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مَحَطَّاتٌ</a:t>
            </a:r>
            <a:endParaRPr lang="ar-SA" sz="1500" dirty="0"/>
          </a:p>
        </p:txBody>
      </p:sp>
      <p:sp>
        <p:nvSpPr>
          <p:cNvPr id="111" name="Text 108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WHERE IS IT?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Opposite, next to, between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أَيْنَ يَقَعُ؟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locatives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مُقَابِلَ …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opposite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mu-qā-bi-la …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between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بَيْنَ … وَ…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next to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بِجَانِبِ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83393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83393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locatives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خَلْفَ · أَمَامَ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behind · in front of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khal-fa · a-mā-ma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far from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بَعِيدٌ عَنْ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near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قُرْبَ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residential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حَيٌّ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neighbourhood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ḥay-yun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residential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حَيٌّ سَكَنِيٌّ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أَحْيَاءٌ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comp.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مُزْدَحِمٌ · هَادِئٌ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crowded · quiet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muz-da-ḥi-mun · hā-di-ʾun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comp.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أَكْثَرُ ازْدِحَامًا · أَهْدَأُ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مُزْدَحِمَةٌ · هَادِئَةٌ</a:t>
            </a:r>
            <a:endParaRPr lang="ar-SA" sz="150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39354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3935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 participle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مَبْنِيٌّ مِنْ …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built of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mab-niy-yun min …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stone · brick · glass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الحَجَرُ · الطُّوبُ · الزُّجَاجُ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مَبْنِيَّةٌ مِنْ</a:t>
            </a:r>
            <a:endParaRPr lang="ar-SA" sz="150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76662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7666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 · public · transport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خِدْمَاتٌ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services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khid-mā-tun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898648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953512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transport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944368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المُوَاصَلَاتُ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1746504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1801368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public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1792224" y="5916168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خِدْمَاتٌ عَامَّةٌ</a:t>
            </a:r>
            <a:endParaRPr lang="ar-SA" sz="1350" dirty="0"/>
          </a:p>
        </p:txBody>
      </p:sp>
      <p:sp>
        <p:nvSpPr>
          <p:cNvPr id="105" name="Shape 102"/>
          <p:cNvSpPr/>
          <p:nvPr/>
        </p:nvSpPr>
        <p:spPr>
          <a:xfrm>
            <a:off x="594360" y="5779008"/>
            <a:ext cx="1060704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649224" y="5788152"/>
            <a:ext cx="9509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sg.</a:t>
            </a:r>
            <a:endParaRPr lang="en-US" sz="750" dirty="0"/>
          </a:p>
        </p:txBody>
      </p:sp>
      <p:sp>
        <p:nvSpPr>
          <p:cNvPr id="107" name="Text 104"/>
          <p:cNvSpPr txBox="1"/>
          <p:nvPr/>
        </p:nvSpPr>
        <p:spPr>
          <a:xfrm>
            <a:off x="640080" y="5824728"/>
            <a:ext cx="969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خِدْمَةٌ</a:t>
            </a:r>
            <a:endParaRPr lang="ar-SA" sz="1500" dirty="0"/>
          </a:p>
        </p:txBody>
      </p:sp>
      <p:sp>
        <p:nvSpPr>
          <p:cNvPr id="108" name="Text 10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IN THE STREET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Asking the way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السُّؤَالُ عَنِ الطَّرِيقِ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فَضْلِكَ، أَيْنَ …؟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where the museum is.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نَعَمْ؟ هَلْ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هُوَ …؟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if it is far.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المَتْحَفُ مُقَابِلَ المَحَطَّةِ.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يُوجَدُ … قُرْبَهُ؟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a café near it.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عَشْرُ دَقَائِقَ مَشْيًا.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 … أَنَا مِنْ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them and say where you are from.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بِجَانِبِ المَتْحَفِ.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هِيَ … وَ…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تُعْجِبُكَ مَدِينَتُنَا؟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tourist  ·  The examiner is: a local resident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TOURIST OFFICE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At the tourist information office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مَكْتَبِ السِّيَاحَةِ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أَنْ أَزُورَ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two places you want to visit.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وَسَهْلًا! مَاذَا تُحِبُّ أَنْ تَزُورَ؟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أَصِلُ …؟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how to get there.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القَلْعَةُ فِي وَسَطِ المَدِينَةِ.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تُفْتَحُ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about opening times.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الحَافِلَةُ رَقْمُ خَمْسَةٍ، أَمَامَ المَكْتَبِ.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مِمَّ … مَبْنِيَّةٌ؟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what it is built of.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 التَّاسِعَةِ إِلَى الخَامِسَةِ. وَهِيَ مَبْنِيَّةٌ مُنْذُ أَلْفِ سَنَةٍ!</a:t>
            </a:r>
            <a:endParaRPr lang="ar-SA" sz="16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لَا، مَدِينَتِي … مِنْ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(compare).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مَدِينَتُكَ أَكْبَرُ مِنْ مَدِينَتِنَا؟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visitor  ·  The examiner is: the tourist-office employee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NEIGHBOURHOOD SURVEY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Is your neighbourhood a good place to live?</a:t>
            </a:r>
            <a:endParaRPr lang="en-US" sz="17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اسْتِطْلَاعٌ عَنِ الحَيِّ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حَيِّي يُوجَدُ … وَتُوجَدُ … بِجَانِبِ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it with yūjadu / tūjadu and a locative.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لِي حَيَّكَ.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يُوجَدُ … لِذٰلِكَ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is missing and why it matters.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الَّذِي يَنْقُصُهُ؟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هُنَاكَ … أَمَّا الآنَ فَقَدْ بُنِيَتْ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change (past vs now).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الحَيُّ قَبْلَ عَشْرِ سَنَوَاتٍ؟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… لِأَنَّهَا أَ… وَأَ…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with two points.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السَّكَنَ فِي المَدِينَةِ أَمْ فِي الرِّيفِ؟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سَيُبْنَى … / سَتُفْتَحُ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 passive).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سَيُبْنَى فِي حَيِّكُمْ قَرِيبًا؟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resident  ·  The examiner is: a council researcher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PLANNING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A new shopping centre or a park?</a:t>
            </a:r>
            <a:endParaRPr lang="en-US" sz="20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مَرْكَزٌ تِجَارِيٌّ أَمْ حَدِيقَةٌ؟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أُعَارِضُ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clear opinion with a reason.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تُرِيدُ البَلَدِيَّةُ أَنْ تَبْنِيَ مَرْكَزًا تِجَارِيًّا مَكَانَ الحَدِيقَةِ. مَا رَأْيُكَ؟</a:t>
            </a:r>
            <a:endParaRPr lang="ar-SA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المَرْكَزَ سَيُوَفِّرُ مِئَاتِ الوَظَائِفِ.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أَقْتَرِحُ أَنْ … لِكَيْ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Propose an alternative with purpose.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تَقْتَرِحُ إِذَنْ؟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… حَيْثُ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an example from another city.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هُنَاكَ مِثَالٌ نَاجِحٌ عَلَى ذٰلِكَ؟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رَئِيسَ البَلَدِيَّةِ، لَبَنَيْتُ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رَئِيسَ البَلَدِيَّةِ، مَاذَا تَبْنِي أَوَّلًا؟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resident  ·  The examiner is: a town planner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said what there is in their town (yūjadu / tūjadu)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directions with locatives and made a comparison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فَضْلِكَ، أَيْنَ المَتْحَفُ؟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Excuse me, where is the museum?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نَعَمْ؟ هَلْ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هُوَ بَعِيدٌ عَنْ هُنَا؟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it far from here?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المَتْحَفُ مُقَابِلَ المَحَطَّةِ.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يُوجَدُ مَقْهًى قُرْبَهُ؟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there a café near it?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عَشْرُ دَقَائِقَ مَشْيًا.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شُكْرًا جَزِيلًا، أَنَا مِنْ مَانْشِسْتَرَ.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Thank you very much, I’m from Manchester.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بِجَانِبِ المَتْحَفِ.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هِيَ جَمِيلَةٌ وَنَظِيفَةٌ.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it is beautiful and clean.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تُعْجِبُكَ مَدِينَتُنَا؟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أُحِبُّ أَنْ أَزُورَ القَلْعَةَ وَالسُّوقَ القَدِيمَ.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I’d like to visit the castle and the old market.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 وَسَهْلًا! مَاذَا تُحِبُّ أَنْ تَزُورَ؟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أَصِلُ إِلَيْهَا بِالحَافِلَةِ؟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 I get there by bus?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القَلْعَةُ فِي وَسَطِ المَدِينَةِ.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تُفْتَحُ القَلْعَةُ، وَمَتَى تُغْلَقُ؟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does the castle open, and when does it close?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الحَافِلَةُ رَقْمُ خَمْسَةٍ، أَمَامَ المَكْتَبِ.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رَائِعٌ! مِمَّ هِيَ مَبْنِيَّةٌ؟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Wonderful! What is it built of?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مِنَ التَّاسِعَةِ إِلَى الخَامِسَةِ. وَهِيَ مَبْنِيَّةٌ مُنْذُ أَلْفِ سَنَةٍ!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مَدِينَتِي أَكْبَرُ، لٰكِنَّهَا أَكْثَرُ ازْدِحَامًا مِنْ مَدِينَتِكُمْ.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my city is bigger, but it is more crowded than yours.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مَدِينَتُكَ أَكْبَرُ مِنْ مَدِينَتِنَا؟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حَيِّي هَادِئٌ؛ فِيهِ تُوجَدُ مَدْرَسَةٌ ابْتِدَائِيَّةٌ، وَبِجَانِبِهَا حَدِيقَةٌ صَغِيرَةٌ وَمَرْكَزٌ صِحِّيٌّ.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neighbourhood is quiet: there is a primary school, and next to it a small park and a health centre.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لِي حَيَّكَ.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 يُوجَدُ مَرْكَزٌ لِلشَّبَابِ، لِذٰلِكَ يَقْضِي المُرَاهِقُونَ وَقْتَهُمْ فِي الشَّارِعِ.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no youth centre, so teenagers spend their time in the street.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الَّذِي يَنْقُصُهُ؟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هُنَاكَ مَصْنَعٌ قَدِيمٌ، أَمَّا الآنَ فَقَدْ بُنِيَتْ مَكَانَهُ شُقَقٌ حَدِيثَةٌ.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was an old factory; now modern flats have been built in its place.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الحَيُّ قَبْلَ عَشْرِ سَنَوَاتٍ؟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أُفَضِّلُ المَدِينَةَ، لِأَنَّ الخِدْمَاتِ فِيهَا أَكْثَرُ، وَالمُوَاصَلَاتِ أَسْرَعُ، مَعَ أَنَّ الرِّيفَ أَهْدَأُ.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prefer the city: more services and faster transport, although the countryside is quieter.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تُفَضِّلُ السَّكَنَ فِي المَدِينَةِ أَمْ فِي الرِّيفِ؟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سَتُفْتَحُ مَكْتَبَةٌ عَامَّةٌ جَدِيدَةٌ مُقَابِلَ المَحَطَّةِ فِي الصَّيْفِ القَادِمِ.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new public library will open opposite the station next summer.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سَيُبْنَى فِي حَيِّكُمْ قَرِيبًا؟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أُعَارِضُ ذٰلِكَ بِشِدَّةٍ، لِأَنَّ الحَدِيقَةَ هِيَ المَسَاحَةُ الخَضْرَاءُ الوَحِيدَةُ الَّتِي بَقِيَتْ فِي وَسَطِ المَدِينَةِ.</a:t>
            </a:r>
            <a:endParaRPr lang="ar-SA" sz="165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strongly oppose it, because the park is the only green space left in the town centre.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تُرِيدُ البَلَدِيَّةُ أَنْ تَبْنِيَ مَرْكَزًا تِجَارِيًّا مَكَانَ الحَدِيقَةِ. مَا رَأْيُكَ؟</a:t>
            </a:r>
            <a:endParaRPr lang="ar-SA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أَنَّهُ سَيُوَفِّرُ وَظَائِفَ، غَيْرَ أَنَّ فِي المَدِينَةِ ثَلَاثَةَ مَرَاكِزَ تِجَارِيَّةٍ، وَنِصْفُ مَحَلَّاتِهَا مُغْلَقٌ أَصْلًا.</a:t>
            </a:r>
            <a:endParaRPr lang="ar-SA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True, it will create jobs, but the town already has three shopping centres, and half their shops are closed.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المَرْكَزَ سَيُوَفِّرُ مِئَاتِ الوَظَائِفِ.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أَقْتَرِحُ أَنْ تُطَوَّرَ الحَدِيقَةُ، فَتُبْنَى فِيهَا مَلَاعِبُ وَمَقْهًى صَغِيرٌ، لِكَيْ تُوَفِّرَ وَظَائِفَ وَتَبْقَى خَضْرَاءَ.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suggest the park be developed with pitches and a small café, so it creates jobs and stays green.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وَمَاذَا تَقْتَرِحُ إِذَنْ؟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فِي مَدِينَةِ لِيدْز، حَيْثُ حُوِّلَتْ حَدِيقَةٌ قَدِيمَةٌ إِلَى مَرْكَزٍ لِلْأَنْشِطَةِ، فَزَادَ عَدَدُ الزُّوَّارِ عَشْرَةَ أَضْعَافٍ.</a:t>
            </a:r>
            <a:endParaRPr lang="ar-SA" sz="155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in Leeds, where an old park was turned into an activity hub, and visitor numbers rose tenfold.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هُنَاكَ مِثَالٌ نَاجِحٌ عَلَى ذٰلِكَ؟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كُنْتُ رَئِيسَ البَلَدِيَّةِ، لَبَنَيْتُ مَرْكَزًا لِلشَّبَابِ مَبْنِيًّا مِنْ مَوَادَّ صَدِيقَةٍ لِلْبِيئَةِ، بِجَانِبِ الحَدِيقَةِ نَفْسِهَا.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were mayor, I’d build a youth centre made of eco-friendly materials, right next to the park.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كُنْتَ رَئِيسَ البَلَدِيَّةِ، مَاذَا تَبْنِي أَوَّلًا؟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strong opinion, a concession with evidence, a passive proposal, a real example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مَدِينَتِي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أَسْكُنُ فِي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do you live?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تَسْكُنُ؟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… وَتُوجَدُ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there in your town?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يُوجَدُ فِي مَدِينَتِكَ؟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لَا، مَدِينَتِي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your town big?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مَدِينَتُكَ كَبِيرَةٌ؟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مَدْرَسَتِي … بِجَانِبِ / مُقَابِلَ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Where is your school?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مَدْرَسَتُكَ؟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مَكَانِي المُفَضَّلُ …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your favourite place in town?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مَكَانُكَ المُفَضَّلُ فِي المَدِينَةِ؟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الخِدْمَاتُ فِي مَدِينَتِي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أَخْرُجُ مِنَ البَيْتِ، ثُمَّ أَمْشِي إِلَى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the way from your home to school.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صِفِ الطَّرِيقَ مِنْ بَيْتِكَ إِلَى المَدْرَسَةِ.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المُوَاصَلَاتُ … وَالمُسْتَشْفَى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Which services in your town are good?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الخِدْمَاتُ الجَيِّدَةُ فِي مَدِينَتِكَ؟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… أَكْبَرُ / أَقْدَمُ مِنْ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Compare your town with an Arab city you visited.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مَدِينَتِكَ وَمَدِينَةٍ عَرَبِيَّةٍ زُرْتَهَا.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أَشْهَرِ المَبَانِي … وَهُوَ مَبْنِيٌّ مِنْ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famous building in your town.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مَبْنًى مَشْهُورًا فِي مَدِينَتِكَ.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بُنِيَ … وَفُتِحَ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has changed in your town recently?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تَغَيَّرَ فِي مَدِينَتِكَ فِي السَّنَوَاتِ الأَخِيرَةِ؟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locatives, comparatives, mabnī min and a passive in the past.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مُدُنُ المُسْتَقْبَلِ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city life better than village life?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الحَيَاةُ فِي المَدِينَةِ أَفْضَلُ مِنَ الحَيَاةِ فِي القَرْيَةِ؟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بِسَبَبِ … مِمَّا يُؤَدِّي إِلَى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do so many people move to cities?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يَنْتَقِلُ كَثِيرٌ مِنَ النَّاسِ إِلَى المُدُنِ؟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Should we preserve old buildings?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نُحَافِظَ عَلَى المَبَانِي القَدِيمَةِ؟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يَقُولُ جَدِّي إِنَّ … كَانَتْ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was your town like in your grandparents’ day?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كَانَتْ مَدِينَتُكَ فِي أَيَّامِ أَجْدَادِكَ؟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صَمَّمْتُهَا، لَجَعَلْتُ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you designed the city of the future, what would it be like?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صَمَّمْتَ مَدِينَةَ المُسْتَقْبَلِ، كَيْفَ تَكُونُ؟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balanced view, bi-sababi … mimmā, a concession, reported speech and law … la-.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أَسْكُنُ فِي حَيٍّ هَادِئٍ فِي بِرْمِنْغْهَامَ.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live in a quiet area of Birmingham.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تَسْكُنُ؟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يُوجَدُ مَتْحَفٌ كَبِيرٌ، وَتُوجَدُ حَدَائِقُ كَثِيرَةٌ.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is a big museum, and there are many parks.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يُوجَدُ فِي مَدِينَتِكَ؟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مَدِينَتِي كَبِيرَةٌ وَمُزْدَحِمَةٌ.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my city is big and crowded.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مَدِينَتُكَ كَبِيرَةٌ؟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مَدْرَسَتِي مُقَابِلَ المَكْتَبَةِ العَامَّةِ.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school is opposite the public library.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أَيْنَ مَدْرَسَتُكَ؟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مَكَانِيَ المُفَضَّلُ المَكْتَبَةُ، لِأَنَّهَا هَادِئَةٌ.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favourite place is the library, because it is quiet.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مَكَانُكَ المُفَضَّلُ فِي المَدِينَةِ؟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yūjadu / tūjadu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أَخْرُجُ مِنَ البَيْتِ، ثُمَّ أَمْشِي إِلَى المَحَطَّةِ الَّتِي تَقَعُ بِجَانِبِ البَنْكِ، وَأَرْكَبُ الحَافِلَةَ عَشْرَ دَقَائِقَ.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leave home, walk to the station next to the bank, and take the bus for ten minutes.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صِفِ الطَّرِيقَ مِنْ بَيْتِكَ إِلَى المَدْرَسَةِ.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المُوَاصَلَاتُ سَرِيعَةٌ، وَالمُسْتَشْفَى حَدِيثٌ، لٰكِنَّ الحَدَائِقَ قَلِيلَةٌ.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Transport is fast and the hospital modern, but there are few parks.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الخِدْمَاتُ الجَيِّدَةُ فِي مَدِينَتِكَ؟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القَاهِرَةُ أَكْبَرُ وَأَقْدَمُ مِنْ مَدِينَتِي بِكَثِيرٍ، وَشَوَارِعُهَا أَكْثَرُ ازْدِحَامًا، لٰكِنَّ أَسْوَاقَهَا أَجْمَلُ.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Cairo is much bigger and older than my city, with busier streets, but its markets are nicer.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قَارِنْ بَيْنَ مَدِينَتِكَ وَمَدِينَةٍ عَرَبِيَّةٍ زُرْتَهَا.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أَشْهَرِ المَبَانِي المَكْتَبَةُ المَرْكَزِيَّةُ؛ هِيَ مَبْنِيَّةٌ مِنَ الزُّجَاجِ وَالحَدِيدِ، وَفِيهَا حَدِيقَةٌ عَلَى السَّطْحِ.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of the most famous buildings is the central library: built of glass and steel, with a roof garden.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مَبْنًى مَشْهُورًا فِي مَدِينَتِكَ.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بُنِيَ مَرْكَزٌ رِيَاضِيٌّ جَدِيدٌ، وَفُتِحَتْ مَحَطَّةٌ لِلْقِطَارِ السَّرِيعِ.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 new sports centre has been built, and a high-speed rail station opened.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الَّذِي تَغَيَّرَ فِي مَدِينَتِكَ فِي السَّنَوَاتِ الأَخِيرَةِ؟</a:t>
            </a:r>
            <a:endParaRPr lang="ar-SA" sz="145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Locative + comparison + passive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تُقَدِّمُ المَدِينَةُ خِدْمَاتٍ وَفُرَصًا أَكْثَرَ، وَمِنْ نَاحِيَةٍ أُخْرَى، القَرْيَةُ أَهْدَأُ وَأَنْظَفُ، وَالعَلَاقَاتُ فِيهَا أَقْوَى.</a:t>
            </a:r>
            <a:endParaRPr lang="ar-SA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city offers more services and chances; the village is quieter and cleaner, with stronger relationships.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الحَيَاةُ فِي المَدِينَةِ أَفْضَلُ مِنَ الحَيَاةِ فِي القَرْيَةِ؟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بِسَبَبِ قِلَّةِ العَمَلِ فِي الرِّيفِ، مِمَّا يُؤَدِّي إِلَى ازْدِحَامِ المُدُنِ وَارْتِفَاعِ أَسْعَارِ السَّكَنِ.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of the lack of work in the countryside, which leads to crowded cities and high housing prices.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يَنْتَقِلُ كَثِيرٌ مِنَ النَّاسِ إِلَى المُدُنِ؟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صِيَانَتَهَا مُكْلِفَةٌ، غَيْرَ أَنَّهَا تَحْكِي تَارِيخَ المَدِينَةِ، وَتَجْذِبُ السُّيَّاحَ.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Maintaining them is costly, but they tell the city’s history and attract tourists.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يَجِبُ أَنْ نُحَافِظَ عَلَى المَبَانِي القَدِيمَةِ؟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cause → effect, ṣaḥīḥun anna … ghayra anna, reported speech with inna, law … la-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يَقُولُ جَدِّي إِنَّ مُعْظَمَ البُيُوتِ كَانَتْ مَبْنِيَّةً مِنَ الطُّوبِ الأَحْمَرِ، وَإِنَّ الحَيَّ كُلَّهُ كَانَ يَعْرِفُ بَعْضَهُ.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My grandad says most houses were built of red brick, and the whole neighbourhood knew each other.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كَانَتْ مَدِينَتُكَ فِي أَيَّامِ أَجْدَادِكَ؟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صَمَّمْتُهَا، لَجَعَلْتُ السَّيَّارَاتِ تَحْتَ الأَرْضِ، وَلَزَرَعْتُ الأَشْجَارَ عَلَى أَسْطُحِ كُلِّ المَبَانِي.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I designed it, I’d put the cars underground and plant trees on every rooftop.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صَمَّمْتَ مَدِينَةَ المُسْتَقْبَلِ، كَيْفَ تَكُونُ؟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cause → effect, ṣaḥīḥun anna … ghayra anna, reported speech with inna, law … la-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TC-L08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TC-L08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what there is in my town (yūjadu / tūjadu).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said where places are (muqābila, bi-jānibi, qurba).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compared places (akbaru / akthar izdiḥāman min).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mabnī min or a passive (buniya, futiḥa).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law … la-.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TC-L08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TC-L08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TC-L08 · Speaking Workshop — Buildings, Services and Urban Areas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2026-10-11T09:55:01Z</dcterms:created>
  <dcterms:modified xsi:type="dcterms:W3CDTF">2026-10-11T09:55:01Z</dcterms:modified>
</cp:coreProperties>
</file>