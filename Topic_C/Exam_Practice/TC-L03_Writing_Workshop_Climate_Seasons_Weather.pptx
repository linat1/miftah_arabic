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3 (Climate, Seasons and Weather, TC-L03).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thamānī darajātin (3–10 + plural). Box 8: idhā + past, fa-sa-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كَيْفَ (what … like) · مَاذَا حَدَثَ (what happened) · قَارِنْ (compare) · حَسَبَ (according to) — bullet 2 is PAST, bullet 4 is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(110 words). Core model: weather verbs that agree, non-human plural agreement (al-ayyām … mushmisa), kāna + accusative, kunnā + present, a comparison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reported speech with inna, a sequence of weather verbs, ammā … fa-, idh for explanation, lā … wa-lā …, bayna-mā contrast, a concession and law + passive (khuyyirtu) … la-.
ENGLISH SUMMARY (read aloud or paste in the chat for Core students): The British joke that their country has four seasons in one day — and they’re right: sun in the morning, cold wind, then rain before evening, so nobody goes out without an umbrella → as for my favourite season, it is autumn: leaves turn gold and red, the air is fresh, neither hot like summer nor harsh like winter; best of all is walking in the park with dry leaves crunching underfoot → last summer in Riyadh it reached forty-six degrees; the streets were almost empty by day, while cafés and parks filled with families after midnight → it is true climate shapes our way of life, but people can adapt to any weather; “if I had to choose between Riyadh’s heat and London’s rain, I’d choose the rain, because I love the smell of the earth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lam yaʿud … bal, reported speech, kānat + present vs ammā … fa-, mimmā, a passive (ughliqat, uḍṭurrat), a concession, idhā … fa-sa- and a lā … closing.
ENGLISH SUMMARY (read aloud or paste in the chat for Core students): Climate change is no longer something we only read about; summers get hotter year after year and storms are stronger and more frequent → my grandmother says snow covered her village in Lebanon for three months each winter; now it lasts no more than a week or two, which reduces river water in summer and harms farms → last winter I saw it with my own eyes: the river near our town flooded after a week of non-stop rain, roads closed and many families had to leave their homes, and students at our school volunteered to collect blankets and food for those affected → it is true weather has always changed, but scientists stress today’s speed is caused by humans; “if temperatures keep rising, future generations will suffer far more than us — so we must act now, as individuals and governments, not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Climate, Seasons and Weather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الطَّقْسُ وَالفُصُولُ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school-trip weather form, write a holiday email comparing the weather, and write an extended piece about the seasons in your life or about climate change.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TC-L03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holiday email about the weather.</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weather verbs agree (tasquṭu al-amṭār, tahubbu ar-riyāḥ, yakūnu al-jaww); kāna / sa-yakūnu + accusative (kāna al-jawwu ḥārran); comparatives do not change for gender (al-ṣayfu aḥarru · al-madīnatu aḥarru).</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سَقَطَتْ أَمْطَارٌ غَزِيرَةٌ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heavy rain fell</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هٰذَا الجَوُّ أَدْفَأُ مِنْ جَوِّ لَنْدَنَ</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weather is warmer than London’s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مِنَ المُتَوَقَّعِ أَنْ يَكُونَ الغَدُ مُشْمِسًا</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tomorrow is expected to be sunny</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trip weather and kit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اسْتِمَارَةُ الرِّحْلَةِ: الطَّقْسُ وَالمَلَابِسُ</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Trip destination</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الرِّحْلَةِ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Season</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الفَصْلُ</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Expected weather</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الطَّقْسُ المُتَوَقَّعُ</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Temperature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دَرَجَةُ الحَرَارَةِ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Suitable clothes (two)</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مَلَابِسُ مُنَاسِبَةٌ (اثْنَتَانِ)</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if it is sunny</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إِذَا كَانَ الجَوُّ مُشْمِسًا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will do if it rains</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سَتَفْعَلُ إِذَا أَمْطَرَتْ؟</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idhā … fa-sa- and a comparative.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School trip weather and kit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Yusuf Ahmed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يُوسُفُ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Scottish mountains</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جِبَالُ اسْكُتْلَنْدَا</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الرِّحْلَةِ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autumn</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الخَرِيفُ</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الفَصْلُ</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cold and rainy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بَارِدٌ وَمُمْطِرٌ</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الطَّقْسُ المُتَوَقَّعُ</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eight degrees</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ثَمَانِي دَرَجَاتٍ</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دَرَجَةُ الحَرَارَةِ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coat and waterproof boots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مِعْطَفٌ وَحِذَاءٌ مُضَادٌّ لِلْمَاءِ</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مَلَابِسُ مُنَاسِبَةٌ (اثْنَتَانِ)</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climbing the mountain</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تَسَلُّقُ الجَبَلِ</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نَشَاطٌ إِذَا كَانَ الجَوُّ مُشْمِسًا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If it rains, we’ll visit the museum because it is warmer than the mountain.</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أَمْطَرَتْ، فَسَنَزُورُ المَتْحَفَ لِأَنَّهُ أَدْفَأُ مِنَ الجَبَلِ.</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سَتَفْعَلُ إِذَا أَمْطَرَتْ؟</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holiday weather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الطَّقْسِ فِي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on holiday abroad. Write an email in Arabic to your friend of about 80–90 words. You must include: • where you are and what the weather is like • something that happened because of the weather yesterday • a comparison with the weather at home • your plans for tomorrow, according to the forecast.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Weather verbs and adjectives that agree.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comparative (adfaʾu / abradu … min).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الجَوُّ هُنَا … وَدَرَجَةُ الحَرَارَةِ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here is … and the temperature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سَقَطَتْ … فَبَقِينَا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 fell, so we stayed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الجَوُّ أَدْفَأُ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weather is warmer than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حَسَبَ النَّشْرَةِ الجَوِّيَّةِ، سَتُشْرِقُ … وَسَنَزُورُ …</a:t>
            </a:r>
            <a:endParaRPr lang="ar-SA" sz="175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according to the forecast, … will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on holiday abroad: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 فِي عُطْلَةٍ خَارِجَ بِلَادِكَ.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what the weather is like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أَنْتَ؟ وَكَيْفَ الطَّقْسُ؟</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yesterday because of the weather</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حَدَثَ أَمْسِ بِسَبَبِ الطَّقْسِ؟</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it with the weather at home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قَارِنْ بَيْنَ الطَّقْسِ هُنَاكَ وَالطَّقْسِ فِي بَلَدِكَ.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plans for tomorrow, according to the forecast</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سَتَفْعَلُ غَدًا حَسَبَ النَّشْرَةِ الجَوِّيَّةِ؟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now in … The weather here is …, and the temperature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الآنَ فِي ______ . الجَوُّ هُنَا ______ ، وَدَرَجَةُ الحَرَارَةِ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 fell, so we stayed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سَقَطَتْ ______ ، فَبَقِينَا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this weather, because it is warmer than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هٰذَا الجَوَّ، لِأَنَّهُ أَدْفَأُ مِنْ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According to the forecast, the sun will shine tomorrow, and we will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حَسَبَ النَّشْرَةِ الجَوِّيَّةِ، سَتُشْرِقُ الشَّمْسُ غَدًا، وَسَنَزُورُ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عُمَرُ،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أَنَا الآنَ فِي إِسْطَنْبُولَ مَعَ أُسْرَتِي. الجَوُّ هُنَا مُعْتَدِلٌ وَمُشْمِسٌ، وَدَرَجَةُ الحَرَارَةِ عِشْرُونَ دَرَجَةً. أَمْسِ تَغَيَّرَ الطَّقْسُ فَجْأَةً، وَسَقَطَتْ أَمْطَارٌ غَزِيرَةٌ، فَبَقِينَا فِي المَتْحَفِ سَاعَتَيْنِ. أُحِبُّ هٰذَا الجَوَّ، لِأَنَّهُ أَدْفَأُ مِنْ جَوِّ لَنْدَنَ وَلَيْسَ حَارًّا جِدًّا. حَسَبَ النَّشْرَةِ الجَوِّيَّةِ، سَتُشْرِقُ الشَّمْسُ غَدًا، فَسَنَرْكَبُ قَارِبًا فِي البَحْرِ، وَسَنَأْكُلُ السَّمَكَ.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يُوسُفُ</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Omar, how are you? I’m in Istanbul with my family. The weather here is mild and sunny, and it’s twenty degrees. Yesterday the weather suddenly changed and heavy rain fell, so we stayed in the museum for two hours. I like this weather because it is warmer than London’s and not too hot. According to the forecast, the sun will shine tomorrow, so we’ll take a boat on the sea and eat fish. See you,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الجَوُّ هُنَا مُعْتَدِلٌ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سَقَطَتْ أَمْطَارٌ غَزِيرَةٌ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أَدْفَأُ مِنْ جَوِّ لَنْدَنَ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سَتُشْرِقُ الشَّمْسُ غَدًا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عُمَرُ،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دَافِئَةً مِنْ إِسْطَنْبُولَ! وَصَلْنَا قَبْلَ ثَلَاثَةِ أَيَّامٍ، وَالجَوُّ هُنَا رَبِيعِيٌّ رَائِعٌ: سَمَاءٌ زَرْقَاءُ صَافِيَةٌ، وَنَسِيمٌ لَطِيفٌ يَأْتِي مِنَ البَحْرِ، وَدَرَجَاتُ حَرَارَةٍ لَا تَتَجَاوَزُ اثْنَتَيْنِ وَعِشْرِينَ دَرَجَةً. أَمَّا أَمْسِ فَكَانَ مُخْتَلِفًا تَمَامًا؛ فَبَيْنَمَا كُنَّا نَتَجَوَّلُ فِي السُّوقِ، تَلَبَّدَتِ السَّمَاءُ بِالغُيُومِ، وَسَقَطَتْ أَمْطَارٌ غَزِيرَةٌ، فَاحْتَمَيْنَا فِي مَقْهًى قَدِيمٍ، وَشَرِبْنَا الشَّايَ التُّرْكِيَّ السَّاخِنَ حَتَّى تَوَقَّفَ المَطَرُ. فِي رَأْيِي، هٰذَا الجَوُّ أَفْضَلُ مِنْ صَيْفِ الخَلِيجِ الحَارِّ وَمِنْ شِتَاءِ لَنْدَنَ الرَّمَادِيِّ. وَمِنَ المُتَوَقَّعِ أَنْ يَكُونَ الغَدُ مُشْمِسًا، فَسَنَقُومُ بِجَوْلَةٍ فِي البُوسْفُورِ.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أَطْيَبِ التَّحِيَّاتِ،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يُوسُفُ</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Omar, warm greetings from Istanbul! We arrived three days ago, and the weather is wonderfully spring-like: a clear blue sky, a gentle breeze from the sea, and temperatures no higher than twenty-two degrees. Yesterday was completely different: while we were wandering in the market, the sky clouded over and heavy rain fell, so we sheltered in an old café and drank hot Turkish tea until the rain stopped. In my opinion, this weather is better than the hot Gulf summer and the grey London winter. Tomorrow is expected to be sunny, so we’ll take a tour of the Bosphorus. Best wishes,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تَتَجَاوَزُ اثْنَتَيْنِ وَعِشْرِينَ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 كُنَّا نَتَجَوَّلُ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أَفْضَلُ مِنْ صَيْفِ الخَلِيجِ</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مِنَ المُتَوَقَّعِ أَنْ يَكُونَ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Seasons and weather in my life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الفُصُولُ وَالطَّقْسُ فِي حَيَاتِي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in your country · your favourite season and why · a trip to a country with a different climate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الطَّقْسُ فِي بَلَدِكَ · فَصْلُكَ المُفَضَّلُ وَلِمَاذَا · رِحْلَةٌ إِلَى بَلَدٍ مُنَاخُهُ مُخْتَلِفٌ · رَأْيُكَ وَخِطَطُكَ</a:t>
            </a:r>
            <a:endParaRPr lang="ar-SA" sz="15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Climate change: can we feel it?</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تَغَيُّرُ المُنَاخِ: هَلْ نَشْعُرُ بِهِ؟</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has changed? · past and present · an event you lived through · your opinion and the future</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تَغَيَّرَ؟ · المَاضِي وَالحَاضِرُ · حَدَثٌ عِشْتَهُ · رَأْيُكَ وَالمُسْتَقْبَلُ</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weather where you live — tasquṭu al-amṭār, tushriqu ash-shams; qad + present for “may”.</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favourite season — adjectives that agree; Stretch: lā … ka- wa-lā … ka-.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trip to a different climate: kāna al-jawwu ḥārran, kānat darajatu al-ḥarāra …; kunnā + present for habits.</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Comparison + future — aḥarru / abradu min,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قَدْ تُشْرِقُ الشَّمْسُ فِي الصَّبَاحِ، ثُمَّ تَسْقُطُ الأَمْطَارُ.</a:t>
            </a:r>
            <a:endParaRPr lang="ar-SA" sz="22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the sun may shine in the morning, then rain falls.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كَانَ الجَوُّ حَارًّا جِدًّا، وَكُنَّا نَخْرُجُ فِي المَسَاءِ.</a:t>
            </a:r>
            <a:endParaRPr lang="ar-SA" sz="23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it was very hot, and we used to go out in the evening.</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سَأَزُورُ كَنَدَا، لِأَنِّي أُرِيدُ أَنْ أَرَى الثُّلُوجَ.</a:t>
            </a:r>
            <a:endParaRPr lang="ar-SA" sz="255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visit Canada, because I want to see the snow.</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فِي بَرِيطَانْيَا أَرْبَعَةُ فُصُولٍ، لٰكِنَّ الطَّقْسَ يَتَغَيَّرُ كَثِيرًا. فِي يَوْمٍ وَاحِدٍ، قَدْ تُشْرِقُ الشَّمْسُ فِي الصَّبَاحِ، ثُمَّ تَسْقُطُ الأَمْطَارُ فِي المَسَاءِ. لِذٰلِكَ آخُذُ مِظَلَّةً مَعِي دَائِمًا.</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فَصْلِيَ المُفَضَّلُ هُوَ الصَّيْفُ. فِي الصَّيْفِ الجَوُّ دَافِئٌ، وَالأَيَّامُ طَوِيلَةٌ وَمُشْمِسَةٌ. أَلْعَبُ كُرَةَ القَدَمِ فِي الحَدِيقَةِ مَعَ أَصْدِقَائِي، وَنَأْكُلُ المُثَلَّجَاتِ. لَا أُحِبُّ الشِّتَاءَ، لِأَنَّهُ بَارِدٌ وَمُظْلِمٌ، وَتَغْرُبُ الشَّمْسُ فِيهِ قَبْلَ السَّاعَةِ الخَامِسَةِ.</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فِي العُطْلَةِ المَاضِيَةِ سَافَرْتُ إِلَى مِصْرَ لِزِيَارَةِ جَدَّتِي. كَانَ الجَوُّ حَارًّا جِدًّا، وَكَانَتْ دَرَجَةُ الحَرَارَةِ أَرْبَعِينَ دَرَجَةً. كُنَّا نَخْرُجُ فِي المَسَاءِ فَقَطْ، لِأَنَّ الشَّمْسَ قَوِيَّةٌ فِي النَّهَارِ.</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فِي رَأْيِي، جَوُّ مِصْرَ أَحَرُّ مِنْ جَوِّ بَرِيطَانْيَا، لٰكِنَّهُ أَجْمَلُ فِي الشِّتَاءِ. فِي المُسْتَقْبَلِ سَأَزُورُ كَنَدَا، لِأَنِّي أُرِيدُ أَنْ أَرَى الثُّلُوجَ الكَثِيرَةَ، وَسَأَتَعَلَّمُ التَّزَلُّجَ هُنَاكَ.</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Britain has four seasons, but the weather changes a lot: sun in the morning, rain in the evening, so I always take an umbrella → my favourite season is summer: warm, long sunny days; football in the park and ice cream; I don’t like winter, it’s cold and dark and the sun sets before five o’clock → last holiday I visited my grandmother in Egypt: very hot, forty degrees; we only went out in the evening because the sun is strong by day → Egypt is hotter than Britain but nicer in winter; in future I’ll visit Canada to see lots of snow and learn to ski there.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قَدْ تُشْرِقُ الشَّمْسُ</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الأَيَّامُ طَوِيلَةٌ وَمُشْمِسَةٌ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الجَوُّ حَارًّا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أَحَرُّ مِنْ جَوِّ بَرِيطَانْيَا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يَقُولُ البَرِيطَانِيُّونَ مَازِحِينَ إِنَّ بِلَادَهُمْ تَعِيشُ الفُصُولَ الأَرْبَعَةَ فِي يَوْمٍ وَاحِدٍ، وَهُمْ عَلَى حَقٍّ! فَالشَّمْسُ تُشْرِقُ فِي الصَّبَاحِ، ثُمَّ تَهُبُّ رِيَاحٌ بَارِدَةٌ، وَقَبْلَ المَسَاءِ تَسْقُطُ الأَمْطَارُ، وَلِهٰذَا لَا يَخْرُجُ أَحَدٌ دُونَ مِظَلَّةٍ.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أَمَّا فَصْلِيَ المُفَضَّلُ فَهُوَ الخَرِيفُ؛ إِذْ تَتَحَوَّلُ أَوْرَاقُ الأَشْجَارِ إِلَى أَلْوَانٍ ذَهَبِيَّةٍ وَحَمْرَاءَ، وَيُصْبِحُ الجَوُّ مُنْعِشًا، لَا حَارًّا كَالصَّيْفِ وَلَا قَاسِيًا كَالشِّتَاءِ. وَأَجْمَلُ مَا فِيهِ المَشْيُ فِي الحَدِيقَةِ وَصَوْتُ الأَوْرَاقِ اليَابِسَةِ تَحْتَ قَدَمَيَّ.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عِشْتُ تَجْرِبَةً مُخْتَلِفَةً تَمَامًا فِي الصَّيْفِ المَاضِي، عِنْدَمَا زُرْتُ أَقَارِبِي فِي الرِّيَاضِ؛ فَقَدْ وَصَلَتْ دَرَجَةُ الحَرَارَةِ إِلَى سِتٍّ وَأَرْبَعِينَ دَرَجَةً، وَكَانَتِ الشَّوَارِعُ شِبْهَ فَارِغَةٍ فِي النَّهَارِ، بَيْنَمَا تَمْتَلِئُ المَقَاهِي وَالحَدَائِقُ بِالعَائِلَاتِ بَعْدَ مُنْتَصَفِ اللَّيْلِ.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المُنَاخَ يُؤَثِّرُ فِي طَرِيقَةِ حَيَاتِنَا، غَيْرَ أَنَّ الإِنْسَانَ قَادِرٌ عَلَى التَّكَيُّفِ مَعَ أَيِّ طَقْسٍ. وَلَوْ خُيِّرْتُ بَيْنَ حَرِّ الرِّيَاضِ وَمَطَرِ لَنْدَنَ، لَاخْتَرْتُ المَطَرَ، لِأَنِّي أَعْشَقُ رَائِحَةَ الأَرْضِ بَعْدَهُ.</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يَقُولُ … إِنَّ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حَارًّا كَالصَّيْفِ وَلَا قَاسِيًا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 تَمْتَلِئُ</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خُيِّرْتُ … لَاخْتَرْتُ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Q3 (</a:t>
            </a:r>
            <a:pPr algn="l" indent="0" marL="0">
              <a:buNone/>
            </a:pPr>
            <a:r>
              <a:rPr lang="ar-SA" altLang="en-US" sz="3200" b="1" dirty="0">
                <a:solidFill>
                  <a:srgbClr val="1B3B6F"/>
                </a:solidFill>
                <a:latin typeface="Amiri" pitchFamily="2" charset="-78"/>
                <a:ea typeface="Amiri" pitchFamily="2" charset="-78"/>
                <a:cs typeface="Amiri" pitchFamily="2" charset="-78"/>
              </a:rPr>
              <a:t>ب</a:t>
            </a:r>
            <a:pPr algn="l" indent="0" marL="0">
              <a:buNone/>
            </a:pPr>
            <a:r>
              <a:rPr lang="en-US" sz="2450" b="1" dirty="0">
                <a:solidFill>
                  <a:srgbClr val="1B3B6F"/>
                </a:solidFill>
                <a:latin typeface="Cambria" pitchFamily="34" charset="0"/>
                <a:cs typeface="Amiri" pitchFamily="2" charset="-78"/>
              </a:rPr>
              <a:t>) full-mark model: can we feel it?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يَعُدْ تَغَيُّرُ المُنَاخِ مَوْضُوعًا نَقْرَأُ عَنْهُ فِي الكُتُبِ فَقَطْ، بَلْ أَصْبَحَ وَاقِعًا نَعِيشُهُ؛ فَالصَّيْفُ يَزْدَادُ حَرَارَةً سَنَةً بَعْدَ سَنَةٍ، وَالعَوَاصِفُ أَصْبَحَتْ أَقْوَى وَأَكْثَرَ تَكْرَارًا مِنْ قَبْلُ.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تَقُولُ جَدَّتِي إِنَّ الثُّلُوجَ كَانَتْ تُغَطِّي قَرْيَتَهَا فِي لُبْنَانَ ثَلَاثَةَ أَشْهُرٍ كُلَّ شِتَاءٍ، أَمَّا الآنَ فَلَا تَبْقَى أَكْثَرَ مِنْ أُسْبُوعٍ أَوْ أُسْبُوعَيْنِ، مِمَّا يُقَلِّلُ مِيَاهَ الأَنْهَارِ فِي الصَّيْفِ وَيُضِرُّ بِالمَزَارِعِ.</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وَفِي الشِّتَاءِ المَاضِي رَأَيْتُ أَثَرَ هٰذَا التَّغَيُّرِ بِعَيْنَيَّ؛ فَقَدْ فَاضَ النَّهْرُ القَرِيبُ مِنْ مَدِينَتِنَا بَعْدَ أَمْطَارٍ لَمْ تَتَوَقَّفْ أُسْبُوعًا كَامِلًا، فَأُغْلِقَتِ الطُّرُقُ، وَاضْطُرَّتْ عَائِلَاتٌ كَثِيرَةٌ إِلَى تَرْكِ بُيُوتِهَا، وَتَطَوَّعَ طُلَّابُ مَدْرَسَتِنَا لِجَمْعِ البَطَّانِيَّاتِ وَالطَّعَامِ لِلْمُتَضَرِّرِينَ.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الطَّقْسَ تَغَيَّرَ دَائِمًا عَبْرَ التَّارِيخِ، غَيْرَ أَنَّ العُلَمَاءَ يُؤَكِّدُونَ أَنَّ سُرْعَةَ التَّغَيُّرِ اليَوْمَ سَبَبُهَا الإِنْسَانُ. وَإِذَا اسْتَمَرَّتْ دَرَجَاتُ الحَرَارَةِ فِي الارْتِفَاعِ، فَسَتُعَانِي الأَجْيَالُ القَادِمَةُ أَكْثَرَ مِنَّا بِكَثِيرٍ؛ وَلِذٰلِكَ يَجِبُ أَنْ نَتَحَرَّكَ الآنَ، أَفْرَادًا وَحُكُومَاتٍ، لَا غَدًا.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يَعُدْ … بَلْ أَصْبَحَ</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الآنَ فَلَا تَبْقَى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يُقَلِّلُ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اسْتَمَرَّتْ … فَسَتُعَانِي</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numbers with the right plural (thamānī darajātin).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comparative and a forecast in the future.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 with kāna + accusative.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reported speech, a concession and law … la- or idhā … fa-sa-.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TC-L04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TC-L03 · Writing Workshop — Climate, Seasons and Weather</dc:title>
  <dc:subject>PptxGenJS Presentation</dc:subject>
  <dc:creator>Al Madina Online School · Arabic Department</dc:creator>
  <cp:lastModifiedBy>Al Madina Online School · Arabic Department</cp:lastModifiedBy>
  <cp:revision>1</cp:revision>
  <dcterms:created xsi:type="dcterms:W3CDTF">2026-10-11T09:37:29Z</dcterms:created>
  <dcterms:modified xsi:type="dcterms:W3CDTF">2026-10-11T09:37:29Z</dcterms:modified>
</cp:coreProperties>
</file>