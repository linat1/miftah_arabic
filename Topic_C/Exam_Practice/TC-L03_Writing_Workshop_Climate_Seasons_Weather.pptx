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C, Lesson 3 (Climate, Seasons and Weather, TC-L03).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 5: thamānī darajātin (3–10 + plural). Box 8: idhā + past, fa-sa- + present.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words: أَيْنَ (where) · كَيْفَ (what … like) · مَاذَا حَدَثَ (what happened) · قَارِنْ (compare) · حَسَبَ (according to) — bullet 2 is PAST, bullet 4 is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(56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(83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(110 words). Core model: weather verbs that agree, non-human plural agreement (al-ayyām … mushmisa), kāna + accusative, kunnā + present, a comparison and a future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(130 words). Full-mark model: reported speech with inna, a sequence of weather verbs, ammā … fa-, idh for explanation, lā … wa-lā …, bayna-mā contrast, a concession and law + passive (khuyyirtu) … la-.
ENGLISH SUMMARY (read aloud or paste in the chat for Core students): The British joke that their country has four seasons in one day — and they’re right: sun in the morning, cold wind, then rain before evening, so nobody goes out without an umbrella → as for my favourite season, it is autumn: leaves turn gold and red, the air is fresh, neither hot like summer nor harsh like winter; best of all is walking in the park with dry leaves crunching underfoot → last summer in Riyadh it reached forty-six degrees; the streets were almost empty by day, while cafés and parks filled with families after midnight → it is true climate shapes our way of life, but people can adapt to any weather; “if I had to choose between Riyadh’s heat and London’s rain, I’d choose the rain, because I love the smell of the earth after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(130 words). Full-mark model for the Stretch title: lam yaʿud … bal, reported speech, kānat + present vs ammā … fa-, mimmā, a passive (ughliqat, uḍṭurrat), a concession, idhā … fa-sa- and a lā … closing.
ENGLISH SUMMARY (read aloud or paste in the chat for Core students): Climate change is no longer something we only read about; summers get hotter year after year and storms are stronger and more frequent → my grandmother says snow covered her village in Lebanon for three months each winter; now it lasts no more than a week or two, which reduces river water in summer and harms farms → last winter I saw it with my own eyes: the river near our town flooded after a week of non-stop rain, roads closed and many families had to leave their homes, and students at our school volunteered to collect blankets and food for those affected → it is true weather has always changed, but scientists stress today’s speed is caused by humans; “if temperatures keep rising, future generations will suffer far more than us — so we must act now, as individuals and governments, not tomorrow”.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C · EXAM PRACTICE  ·  TC-L03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TC-L03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Climate, Seasons and Weather</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وَرْشَةُ الكِتَابَةِ — الطَّقْسُ وَالفُصُولُ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 school-trip weather form, write a holiday email comparing the weather, and write an extended piece about the seasons in your life or about climate change.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TC-L03 · Advanced Topic C · The World Around Us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C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C › TC-L03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TC-L03</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 holiday email about the weather.</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TC-L03</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weather verbs agree (tasquṭu al-amṭār, tahubbu ar-riyāḥ, yakūnu al-jaww); kāna / sa-yakūnu + accusative (kāna al-jawwu ḥārran); comparatives do not change for gender (al-ṣayfu aḥarru · al-madīnatu aḥarru).</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سَقَطَتْ أَمْطَارٌ غَزِيرَةٌ</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heavy rain fell</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هٰذَا الجَوُّ أَدْفَأُ مِنْ جَوِّ لَنْدَنَ</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this weather is warmer than London’s</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مِنَ المُتَوَقَّعِ أَنْ يَكُونَ الغَدُ مُشْمِسًا</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tomorrow is expected to be sunny</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School trip weather and kit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750" b="1" dirty="0">
                <a:solidFill>
                  <a:srgbClr val="8A6D1E"/>
                </a:solidFill>
                <a:latin typeface="Amiri" pitchFamily="2" charset="-78"/>
                <a:cs typeface="Amiri" pitchFamily="2" charset="-78"/>
              </a:rPr>
              <a:t>اسْتِمَارَةُ الرِّحْلَةِ: الطَّقْسُ وَالمَلَابِسُ</a:t>
            </a:r>
            <a:endParaRPr lang="ar-SA" sz="275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الاسْمُ</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Trip destination</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مَكَانُ الرِّحْلَةِ</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Season</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الفَصْلُ</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Expected weather</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الطَّقْسُ المُتَوَقَّعُ</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Temperature</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دَرَجَةُ الحَرَارَةِ</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Suitable clothes (two)</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مَلَابِسُ مُنَاسِبَةٌ (اثْنَتَانِ)</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activity if it is sunny</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نَشَاطٌ إِذَا كَانَ الجَوُّ مُشْمِسًا</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what you will do if it rains</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جُمْلَةٌ: مَاذَا سَتَفْعَلُ إِذَا أَمْطَرَتْ؟</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with idhā … fa-sa- and a comparative.</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School trip weather and kit form: model answers</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Yusuf Ahmed</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يُوسُفُ أَحْمَدُ</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الاسْمُ</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Scottish mountains</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جِبَالُ اسْكُتْلَنْدَا</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مَكَانُ الرِّحْلَةِ</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autumn</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الخَرِيفُ</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الفَصْلُ</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cold and rainy</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بَارِدٌ وَمُمْطِرٌ</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الطَّقْسُ المُتَوَقَّعُ</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eight degrees</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ثَمَانِي دَرَجَاتٍ</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دَرَجَةُ الحَرَارَةِ</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coat and waterproof boots</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مِعْطَفٌ وَحِذَاءٌ مُضَادٌّ لِلْمَاءِ</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مَلَابِسُ مُنَاسِبَةٌ (اثْنَتَانِ)</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climbing the mountain</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تَسَلُّقُ الجَبَلِ</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نَشَاطٌ إِذَا كَانَ الجَوُّ مُشْمِسًا</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900" dirty="0">
                <a:solidFill>
                  <a:srgbClr val="5A6472"/>
                </a:solidFill>
                <a:latin typeface="Calibri" pitchFamily="34" charset="0"/>
                <a:cs typeface="Amiri" pitchFamily="2" charset="-78"/>
              </a:rPr>
              <a:t>If it rains, we’ll visit the museum because it is warmer than the mountain.</a:t>
            </a:r>
            <a:endParaRPr lang="en-US" sz="9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إِذَا أَمْطَرَتْ، فَسَنَزُورُ المَتْحَفَ لِأَنَّهُ أَدْفَأُ مِنَ الجَبَلِ.</a:t>
            </a:r>
            <a:endParaRPr lang="ar-SA" sz="18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جُمْلَةٌ: مَاذَا سَتَفْعَلُ إِذَا أَمْطَرَتْ؟</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2: holiday weather email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رِسَالَةٌ عَنِ الطَّقْسِ فِي العُطْلَةِ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TC-L03</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You are on holiday abroad. Write an email in Arabic to your friend of about 80–90 words. You must include: • where you are and what the weather is like • something that happened because of the weather yesterday • a comparison with the weather at home • your plans for tomorrow, according to the forecast.</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Weather verbs and adjectives that agree.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comparative (adfaʾu / abradu … min).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الجَوُّ هُنَا … وَدَرَجَةُ الحَرَارَةِ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weather here is … and the temperature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أَمْسِ سَقَطَتْ … فَبَقِينَا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yesterday … fell, so we stayed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هٰذَا الجَوُّ أَدْفَأُ مِنْ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this weather is warmer than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cs typeface="Amiri" pitchFamily="2" charset="-78"/>
              </a:rPr>
              <a:t>حَسَبَ النَّشْرَةِ الجَوِّيَّةِ، سَتُشْرِقُ … وَسَنَزُورُ …</a:t>
            </a:r>
            <a:endParaRPr lang="ar-SA" sz="175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according to the forecast, … will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are on holiday abroad: write to your friend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أَنْتَ فِي عُطْلَةٍ خَارِجَ بِلَادِكَ. اكْتُبْ رِسَالَةً إِلَى صَدِيقِكَ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you are; what the weather is like</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أَيْنَ أَنْتَ؟ وَكَيْفَ الطَّقْسُ؟</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happened yesterday because of the weather</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مَاذَا حَدَثَ أَمْسِ بِسَبَبِ الطَّقْسِ؟</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Compare it with the weather at home</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قَارِنْ بَيْنَ الطَّقْسِ هُنَاكَ وَالطَّقْسِ فِي بَلَدِكَ.</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plans for tomorrow, according to the forecast</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مَاذَا سَتَفْعَلُ غَدًا حَسَبَ النَّشْرَةِ الجَوِّيَّةِ؟</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am now in … The weather here is …, and the temperature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أَنَا الآنَ فِي ______ . الجَوُّ هُنَا ______ ، وَدَرَجَةُ الحَرَارَةِ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Yesterday … fell, so we stayed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أَمْسِ سَقَطَتْ ______ ، فَبَقِينَا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like this weather, because it is warmer than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أُحِبُّ هٰذَا الجَوَّ، لِأَنَّهُ أَدْفَأُ مِنْ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According to the forecast, the sun will shine tomorrow, and we will visit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حَسَبَ النَّشْرَةِ الجَوِّيَّةِ، سَتُشْرِقُ الشَّمْسُ غَدًا، وَسَنَزُورُ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See you,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إِلَى اللِّقَاءِ،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cs typeface="Amiri" pitchFamily="2" charset="-78"/>
              </a:rPr>
              <a:t>مَرْحَبًا يَا عُمَرُ،</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كَيْفَ حَالُكَ؟ أَنَا الآنَ فِي إِسْطَنْبُولَ مَعَ أُسْرَتِي. الجَوُّ هُنَا مُعْتَدِلٌ وَمُشْمِسٌ، وَدَرَجَةُ الحَرَارَةِ عِشْرُونَ دَرَجَةً. أَمْسِ تَغَيَّرَ الطَّقْسُ فَجْأَةً، وَسَقَطَتْ أَمْطَارٌ غَزِيرَةٌ، فَبَقِينَا فِي المَتْحَفِ سَاعَتَيْنِ. أُحِبُّ هٰذَا الجَوَّ، لِأَنَّهُ أَدْفَأُ مِنْ جَوِّ لَنْدَنَ وَلَيْسَ حَارًّا جِدًّا. حَسَبَ النَّشْرَةِ الجَوِّيَّةِ، سَتُشْرِقُ الشَّمْسُ غَدًا، فَسَنَرْكَبُ قَارِبًا فِي البَحْرِ، وَسَنَأْكُلُ السَّمَكَ.</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إِلَى اللِّقَاءِ،</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يُوسُفُ</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Omar, how are you? I’m in Istanbul with my family. The weather here is mild and sunny, and it’s twenty degrees. Yesterday the weather suddenly changed and heavy rain fell, so we stayed in the museum for two hours. I like this weather because it is warmer than London’s and not too hot. According to the forecast, the sun will shine tomorrow, so we’ll take a boat on the sea and eat fish. See you, Yusuf.”</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الجَوُّ هُنَا مُعْتَدِلٌ</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سَقَطَتْ أَمْطَارٌ غَزِيرَةٌ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أَدْفَأُ مِنْ جَوِّ لَنْدَنَ</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سَتُشْرِقُ الشَّمْسُ غَدًا</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cs typeface="Amiri" pitchFamily="2" charset="-78"/>
              </a:rPr>
              <a:t>عَزِيزِي عُمَرُ،</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تَحِيَّةً دَافِئَةً مِنْ إِسْطَنْبُولَ! وَصَلْنَا قَبْلَ ثَلَاثَةِ أَيَّامٍ، وَالجَوُّ هُنَا رَبِيعِيٌّ رَائِعٌ: سَمَاءٌ زَرْقَاءُ صَافِيَةٌ، وَنَسِيمٌ لَطِيفٌ يَأْتِي مِنَ البَحْرِ، وَدَرَجَاتُ حَرَارَةٍ لَا تَتَجَاوَزُ اثْنَتَيْنِ وَعِشْرِينَ دَرَجَةً. أَمَّا أَمْسِ فَكَانَ مُخْتَلِفًا تَمَامًا؛ فَبَيْنَمَا كُنَّا نَتَجَوَّلُ فِي السُّوقِ، تَلَبَّدَتِ السَّمَاءُ بِالغُيُومِ، وَسَقَطَتْ أَمْطَارٌ غَزِيرَةٌ، فَاحْتَمَيْنَا فِي مَقْهًى قَدِيمٍ، وَشَرِبْنَا الشَّايَ التُّرْكِيَّ السَّاخِنَ حَتَّى تَوَقَّفَ المَطَرُ. فِي رَأْيِي، هٰذَا الجَوُّ أَفْضَلُ مِنْ صَيْفِ الخَلِيجِ الحَارِّ وَمِنْ شِتَاءِ لَنْدَنَ الرَّمَادِيِّ. وَمِنَ المُتَوَقَّعِ أَنْ يَكُونَ الغَدُ مُشْمِسًا، فَسَنَقُومُ بِجَوْلَةٍ فِي البُوسْفُورِ.</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مَعَ أَطْيَبِ التَّحِيَّاتِ،</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يُوسُفُ</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Omar, warm greetings from Istanbul! We arrived three days ago, and the weather is wonderfully spring-like: a clear blue sky, a gentle breeze from the sea, and temperatures no higher than twenty-two degrees. Yesterday was completely different: while we were wandering in the market, the sky clouded over and heavy rain fell, so we sheltered in an old café and drank hot Turkish tea until the rain stopped. In my opinion, this weather is better than the hot Gulf summer and the grey London winter. Tomorrow is expected to be sunny, so we’ll take a tour of the Bosphorus. Best wishes, Yusuf.”</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لَا تَتَجَاوَزُ اثْنَتَيْنِ وَعِشْرِينَ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بَيْنَمَا كُنَّا نَتَجَوَّلُ</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أَفْضَلُ مِنْ صَيْفِ الخَلِيجِ</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مِنَ المُتَوَقَّعِ أَنْ يَكُونَ</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Seasons and weather in my life</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الفُصُولُ وَالطَّقْسُ فِي حَيَاتِي</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weather in your country · your favourite season and why · a trip to a country with a different climate · your opinion and plans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1B3B6F"/>
                </a:solidFill>
                <a:latin typeface="Amiri" pitchFamily="2" charset="-78"/>
                <a:cs typeface="Amiri" pitchFamily="2" charset="-78"/>
              </a:rPr>
              <a:t>الطَّقْسُ فِي بَلَدِكَ · فَصْلُكَ المُفَضَّلُ وَلِمَاذَا · رِحْلَةٌ إِلَى بَلَدٍ مُنَاخُهُ مُخْتَلِفٌ · رَأْيُكَ وَخِطَطُكَ</a:t>
            </a:r>
            <a:endParaRPr lang="ar-SA" sz="155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Climate change: can we feel it?</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تَغَيُّرُ المُنَاخِ: هَلْ نَشْعُرُ بِهِ؟</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has changed? · past and present · an event you lived through · your opinion and the future</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مَا الَّذِي تَغَيَّرَ؟ · المَاضِي وَالحَاضِرُ · حَدَثٌ عِشْتَهُ · رَأْيُكَ وَالمُسْتَقْبَلُ</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TC-L03</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weather where you live — tasquṭu al-amṭār, tushriqu ash-shams; qad + present for “may”.</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Your favourite season — adjectives that agree; Stretch: lā … ka- wa-lā … ka-.</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Past — a trip to a different climate: kāna al-jawwu ḥārran, kānat darajatu al-ḥarāra …; kunnā + present for habits.</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Comparison + future — aḥarru / abradu min, sa- …; Stretch: ṣaḥīḥun anna … ghayra anna,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قَدْ تُشْرِقُ الشَّمْسُ فِي الصَّبَاحِ، ثُمَّ تَسْقُطُ الأَمْطَارُ.</a:t>
            </a:r>
            <a:endParaRPr lang="ar-SA" sz="22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the sun may shine in the morning, then rain falls.</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350" b="1" dirty="0">
                <a:solidFill>
                  <a:srgbClr val="1B3B6F"/>
                </a:solidFill>
                <a:latin typeface="Amiri" pitchFamily="2" charset="-78"/>
                <a:cs typeface="Amiri" pitchFamily="2" charset="-78"/>
              </a:rPr>
              <a:t>كَانَ الجَوُّ حَارًّا جِدًّا، وَكُنَّا نَخْرُجُ فِي المَسَاءِ.</a:t>
            </a:r>
            <a:endParaRPr lang="ar-SA" sz="235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it was very hot, and we used to go out in the evening.</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cs typeface="Amiri" pitchFamily="2" charset="-78"/>
              </a:rPr>
              <a:t>سَأَزُورُ كَنَدَا، لِأَنِّي أُرِيدُ أَنْ أَرَى الثُّلُوجَ.</a:t>
            </a:r>
            <a:endParaRPr lang="ar-SA" sz="255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will visit Canada, because I want to see the snow.</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700" dirty="0">
                <a:solidFill>
                  <a:srgbClr val="1F2A37"/>
                </a:solidFill>
                <a:latin typeface="Amiri" pitchFamily="2" charset="-78"/>
                <a:cs typeface="Amiri" pitchFamily="2" charset="-78"/>
              </a:rPr>
              <a:t>فِي بَرِيطَانْيَا أَرْبَعَةُ فُصُولٍ، لٰكِنَّ الطَّقْسَ يَتَغَيَّرُ كَثِيرًا. فِي يَوْمٍ وَاحِدٍ، قَدْ تُشْرِقُ الشَّمْسُ فِي الصَّبَاحِ، ثُمَّ تَسْقُطُ الأَمْطَارُ فِي المَسَاءِ. لِذٰلِكَ آخُذُ مِظَلَّةً مَعِي دَائِمًا.</a:t>
            </a:r>
            <a:endParaRPr lang="ar-SA" sz="1700" dirty="0"/>
          </a:p>
          <a:p>
            <a:pPr rtl="1" algn="r" indent="0" marL="0">
              <a:lnSpc>
                <a:spcPct val="120000"/>
              </a:lnSpc>
              <a:buNone/>
            </a:pPr>
            <a:r>
              <a:rPr lang="ar-SA" altLang="en-US" sz="1700" dirty="0">
                <a:solidFill>
                  <a:srgbClr val="1F2A37"/>
                </a:solidFill>
                <a:latin typeface="Amiri" pitchFamily="2" charset="-78"/>
                <a:cs typeface="Amiri" pitchFamily="2" charset="-78"/>
              </a:rPr>
              <a:t>فَصْلِيَ المُفَضَّلُ هُوَ الصَّيْفُ. فِي الصَّيْفِ الجَوُّ دَافِئٌ، وَالأَيَّامُ طَوِيلَةٌ وَمُشْمِسَةٌ. أَلْعَبُ كُرَةَ القَدَمِ فِي الحَدِيقَةِ مَعَ أَصْدِقَائِي، وَنَأْكُلُ المُثَلَّجَاتِ. لَا أُحِبُّ الشِّتَاءَ، لِأَنَّهُ بَارِدٌ وَمُظْلِمٌ، وَتَغْرُبُ الشَّمْسُ فِيهِ قَبْلَ السَّاعَةِ الخَامِسَةِ.</a:t>
            </a:r>
            <a:endParaRPr lang="ar-SA" sz="1700" dirty="0"/>
          </a:p>
          <a:p>
            <a:pPr rtl="1" algn="r" indent="0" marL="0">
              <a:lnSpc>
                <a:spcPct val="120000"/>
              </a:lnSpc>
              <a:buNone/>
            </a:pPr>
            <a:r>
              <a:rPr lang="ar-SA" altLang="en-US" sz="1700" dirty="0">
                <a:solidFill>
                  <a:srgbClr val="1F2A37"/>
                </a:solidFill>
                <a:latin typeface="Amiri" pitchFamily="2" charset="-78"/>
                <a:cs typeface="Amiri" pitchFamily="2" charset="-78"/>
              </a:rPr>
              <a:t>فِي العُطْلَةِ المَاضِيَةِ سَافَرْتُ إِلَى مِصْرَ لِزِيَارَةِ جَدَّتِي. كَانَ الجَوُّ حَارًّا جِدًّا، وَكَانَتْ دَرَجَةُ الحَرَارَةِ أَرْبَعِينَ دَرَجَةً. كُنَّا نَخْرُجُ فِي المَسَاءِ فَقَطْ، لِأَنَّ الشَّمْسَ قَوِيَّةٌ فِي النَّهَارِ.</a:t>
            </a:r>
            <a:endParaRPr lang="ar-SA" sz="1700" dirty="0"/>
          </a:p>
          <a:p>
            <a:pPr rtl="1" algn="r" indent="0" marL="0">
              <a:lnSpc>
                <a:spcPct val="120000"/>
              </a:lnSpc>
              <a:buNone/>
            </a:pPr>
            <a:r>
              <a:rPr lang="ar-SA" altLang="en-US" sz="1700" dirty="0">
                <a:solidFill>
                  <a:srgbClr val="1F2A37"/>
                </a:solidFill>
                <a:latin typeface="Amiri" pitchFamily="2" charset="-78"/>
                <a:cs typeface="Amiri" pitchFamily="2" charset="-78"/>
              </a:rPr>
              <a:t>فِي رَأْيِي، جَوُّ مِصْرَ أَحَرُّ مِنْ جَوِّ بَرِيطَانْيَا، لٰكِنَّهُ أَجْمَلُ فِي الشِّتَاءِ. فِي المُسْتَقْبَلِ سَأَزُورُ كَنَدَا، لِأَنِّي أُرِيدُ أَنْ أَرَى الثُّلُوجَ الكَثِيرَةَ، وَسَأَتَعَلَّمُ التَّزَلُّجَ هُنَاكَ.</a:t>
            </a:r>
            <a:endParaRPr lang="ar-SA" sz="17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Britain has four seasons, but the weather changes a lot: sun in the morning, rain in the evening, so I always take an umbrella → my favourite season is summer: warm, long sunny days; football in the park and ice cream; I don’t like winter, it’s cold and dark and the sun sets before five o’clock → last holiday I visited my grandmother in Egypt: very hot, forty degrees; we only went out in the evening because the sun is strong by day → Egypt is hotter than Britain but nicer in winter; in future I’ll visit Canada to see lots of snow and learn to ski there.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قَدْ تُشْرِقُ الشَّمْسُ</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الأَيَّامُ طَوِيلَةٌ وَمُشْمِسَةٌ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كَانَ الجَوُّ حَارًّا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أَحَرُّ مِنْ جَوِّ بَرِيطَانْيَا</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TC-L03</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يَقُولُ البَرِيطَانِيُّونَ مَازِحِينَ إِنَّ بِلَادَهُمْ تَعِيشُ الفُصُولَ الأَرْبَعَةَ فِي يَوْمٍ وَاحِدٍ، وَهُمْ عَلَى حَقٍّ! فَالشَّمْسُ تُشْرِقُ فِي الصَّبَاحِ، ثُمَّ تَهُبُّ رِيَاحٌ بَارِدَةٌ، وَقَبْلَ المَسَاءِ تَسْقُطُ الأَمْطَارُ، وَلِهٰذَا لَا يَخْرُجُ أَحَدٌ دُونَ مِظَلَّةٍ.</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أَمَّا فَصْلِيَ المُفَضَّلُ فَهُوَ الخَرِيفُ؛ إِذْ تَتَحَوَّلُ أَوْرَاقُ الأَشْجَارِ إِلَى أَلْوَانٍ ذَهَبِيَّةٍ وَحَمْرَاءَ، وَيُصْبِحُ الجَوُّ مُنْعِشًا، لَا حَارًّا كَالصَّيْفِ وَلَا قَاسِيًا كَالشِّتَاءِ. وَأَجْمَلُ مَا فِيهِ المَشْيُ فِي الحَدِيقَةِ وَصَوْتُ الأَوْرَاقِ اليَابِسَةِ تَحْتَ قَدَمَيَّ.</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وَقَدْ عِشْتُ تَجْرِبَةً مُخْتَلِفَةً تَمَامًا فِي الصَّيْفِ المَاضِي، عِنْدَمَا زُرْتُ أَقَارِبِي فِي الرِّيَاضِ؛ فَقَدْ وَصَلَتْ دَرَجَةُ الحَرَارَةِ إِلَى سِتٍّ وَأَرْبَعِينَ دَرَجَةً، وَكَانَتِ الشَّوَارِعُ شِبْهَ فَارِغَةٍ فِي النَّهَارِ، بَيْنَمَا تَمْتَلِئُ المَقَاهِي وَالحَدَائِقُ بِالعَائِلَاتِ بَعْدَ مُنْتَصَفِ اللَّيْلِ.</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صَحِيحٌ أَنَّ المُنَاخَ يُؤَثِّرُ فِي طَرِيقَةِ حَيَاتِنَا، غَيْرَ أَنَّ الإِنْسَانَ قَادِرٌ عَلَى التَّكَيُّفِ مَعَ أَيِّ طَقْسٍ. وَلَوْ خُيِّرْتُ بَيْنَ حَرِّ الرِّيَاضِ وَمَطَرِ لَنْدَنَ، لَاخْتَرْتُ المَطَرَ، لِأَنِّي أَعْشَقُ رَائِحَةَ الأَرْضِ بَعْدَهُ.</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يَقُولُ … إِنَّ</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لَا حَارًّا كَالصَّيْفِ وَلَا قَاسِيًا</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بَيْنَمَا تَمْتَلِئُ</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لَوْ خُيِّرْتُ … لَاخْتَرْتُ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Q3 (</a:t>
            </a:r>
            <a:pPr algn="l" indent="0" marL="0">
              <a:buNone/>
            </a:pPr>
            <a:r>
              <a:rPr lang="ar-SA" altLang="en-US" sz="3200" b="1" dirty="0">
                <a:solidFill>
                  <a:srgbClr val="1B3B6F"/>
                </a:solidFill>
                <a:latin typeface="Amiri" pitchFamily="2" charset="-78"/>
                <a:cs typeface="Amiri" pitchFamily="2" charset="-78"/>
              </a:rPr>
              <a:t>ب</a:t>
            </a:r>
            <a:pPr algn="l" indent="0" marL="0">
              <a:buNone/>
            </a:pPr>
            <a:r>
              <a:rPr lang="en-US" sz="2450" b="1" dirty="0">
                <a:solidFill>
                  <a:srgbClr val="1B3B6F"/>
                </a:solidFill>
                <a:latin typeface="Cambria" pitchFamily="34" charset="0"/>
                <a:cs typeface="Amiri" pitchFamily="2" charset="-78"/>
              </a:rPr>
              <a:t>) full-mark model: can we feel it?</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TC-L03</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لَمْ يَعُدْ تَغَيُّرُ المُنَاخِ مَوْضُوعًا نَقْرَأُ عَنْهُ فِي الكُتُبِ فَقَطْ، بَلْ أَصْبَحَ وَاقِعًا نَعِيشُهُ؛ فَالصَّيْفُ يَزْدَادُ حَرَارَةً سَنَةً بَعْدَ سَنَةٍ، وَالعَوَاصِفُ أَصْبَحَتْ أَقْوَى وَأَكْثَرَ تَكْرَارًا مِنْ قَبْلُ.</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تَقُولُ جَدَّتِي إِنَّ الثُّلُوجَ كَانَتْ تُغَطِّي قَرْيَتَهَا فِي لُبْنَانَ ثَلَاثَةَ أَشْهُرٍ كُلَّ شِتَاءٍ، أَمَّا الآنَ فَلَا تَبْقَى أَكْثَرَ مِنْ أُسْبُوعٍ أَوْ أُسْبُوعَيْنِ، مِمَّا يُقَلِّلُ مِيَاهَ الأَنْهَارِ فِي الصَّيْفِ وَيُضِرُّ بِالمَزَارِعِ.</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وَفِي الشِّتَاءِ المَاضِي رَأَيْتُ أَثَرَ هٰذَا التَّغَيُّرِ بِعَيْنَيَّ؛ فَقَدْ فَاضَ النَّهْرُ القَرِيبُ مِنْ مَدِينَتِنَا بَعْدَ أَمْطَارٍ لَمْ تَتَوَقَّفْ أُسْبُوعًا كَامِلًا، فَأُغْلِقَتِ الطُّرُقُ، وَاضْطُرَّتْ عَائِلَاتٌ كَثِيرَةٌ إِلَى تَرْكِ بُيُوتِهَا، وَتَطَوَّعَ طُلَّابُ مَدْرَسَتِنَا لِجَمْعِ البَطَّانِيَّاتِ وَالطَّعَامِ لِلْمُتَضَرِّرِينَ.</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صَحِيحٌ أَنَّ الطَّقْسَ تَغَيَّرَ دَائِمًا عَبْرَ التَّارِيخِ، غَيْرَ أَنَّ العُلَمَاءَ يُؤَكِّدُونَ أَنَّ سُرْعَةَ التَّغَيُّرِ اليَوْمَ سَبَبُهَا الإِنْسَانُ. وَإِذَا اسْتَمَرَّتْ دَرَجَاتُ الحَرَارَةِ فِي الارْتِفَاعِ، فَسَتُعَانِي الأَجْيَالُ القَادِمَةُ أَكْثَرَ مِنَّا بِكَثِيرٍ؛ وَلِذٰلِكَ يَجِبُ أَنْ نَتَحَرَّكَ الآنَ، أَفْرَادًا وَحُكُومَاتٍ، لَا غَدًا.</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لَمْ يَعُدْ … بَلْ أَصْبَحَ</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أَمَّا الآنَ فَلَا تَبْقَى</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مِمَّا يُقَلِّلُ</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إِذَا اسْتَمَرَّتْ … فَسَتُعَانِي</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numbers with the right plural (thamānī darajātin).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 comparative and a forecast in the future.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in three time frames, with kāna + accusative.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reported speech, a concession and law … la- or idhā … fa-sa-.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TC-L03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TC-L04 · Exam practice · Speaking and writing workshops — the next Topic C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TC-L03 · Writing Workshop — Climate, Seasons and Weather</dc:title>
  <dc:subject>PptxGenJS Presentation</dc:subject>
  <dc:creator>Al Madina Online School · Arabic Department</dc:creator>
  <cp:lastModifiedBy>Al Madina Online School · Arabic Department</cp:lastModifiedBy>
  <cp:revision>1</cp:revision>
  <dcterms:created xsi:type="dcterms:W3CDTF">2026-10-11T09:37:29Z</dcterms:created>
  <dcterms:modified xsi:type="dcterms:W3CDTF">2026-10-11T09:37:29Z</dcterms:modified>
</cp:coreProperties>
</file>