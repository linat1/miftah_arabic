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C, Lesson 2 (Landscapes, Nature and Animals, TC-L02), using that lesson’s language (adjective agreement; non-human plurals (al-jibālu ʿāliya); relative clauses for habitats).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non-human plurals take the feminine singular: جِبَالٌ عَالِيَةٌ · غَابَاتٌ كَثِيفَةٌ. صَحْرَاءُ is feminine and has no tanwīn. وَادٍ → الوَادِي (al- restores the yāʾ).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the verb agrees too: يَعِيشُ الجَمَلُ فِي الصَّحْرَاءِ · تَعِيشُ الطُّيُورُ فِي الغَابَةِ (non-human pl. → f. sg.). Relative: الحَيَوَانَاتُ الَّتِي تَعِيشُ فِي القُطْبِ.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national park.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· تُحِبِّينَ · عِنْدَكِ.
Core: al-jibāl (non-human pl.) → li-annahā ʿāliya; aṭ-ṭuyūr an-nādira; a dual in iḍāfa (zujājatā māʾin).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choosing a trip.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(same words — the friend may be a girl: أَيْنَ نَذْهَبُ؟).
Core+: aṣ-ṣaḥrāʾ (f.) → hādiʾa, wāsiʿa; non-human plurals al-kuthbān … adh-dhahabiyya; comparatives; the CANDIDATE asks (task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nature photo.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أَخَذْتِ · صِفِي · اخْتَرْتِ · سَتُصَوِّرِينَ.
Develop: -hā for aṣ-ṣūra (akhadhtuhā), wādin akhḍar, a relative clause with a non-human plural (al-ghābāt allatī tughaṭṭī), two reasons, the future.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wildlife documentary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تَتَطَوَّعِينَ · مَجْمُوعَتِكُنَّ / مَجْمُوعَتِكُمْ · كُنْتِ.
Stretch: lam yabqa … illā, kāna + present vs ammā … fa-, a past action → fa- result (non-human plural ʿādat al-baṭṭ), a concession with idhā … fa-sa-, law … la-kuntu.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description and a past detail.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C · EXAM PRACTICE  ·  TC-L02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TC-L02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Landscapes, Nature and Animals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الطَّبِيعَةُ وَالحَيَوَانَاتُ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describe landscapes and wildlife — mountains, deserts, forests, rivers — with adjectives that agree, say where animals live (allatī taʿīshu fī …) and why nature matters.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Advanced Topic C · The World Around Us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C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C › TC-L02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LANDSCAPES (SG. · PL. · WITH AN ADJECTIVE)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Mountains, deserts and rivers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المَنَاظِرُ الطَّبِيعِيَّةُ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high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جَبَلٌ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mountain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ja-ba-lun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high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جِبَالٌ عَالِيَةٌ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جِبَالٌ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جَبَلٌ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vast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صَحْرَاءُ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desert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ṣaḥ-rā-ʾu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vast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صَحْرَاءُ وَاسِعَةٌ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صَحَارٍ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صَحْرَاءُ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tropical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غَابَةٌ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forest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ghā-ba-tun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tropical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غَابَةٌ اسْتِوَائِيَّةٌ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غَابَاتٌ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غَابَةٌ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نَهْرٌ · بُحَيْرَةٌ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river · a lake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nah-run · bu-ḥay-ra-tun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8284464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أَنْهَارٌ · بُحَيْرَاتٌ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· pl.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وَادٍ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valley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wā-din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وِدْيَانٌ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</a:t>
            </a:r>
            <a:endParaRPr lang="en-US" sz="750" dirty="0"/>
          </a:p>
        </p:txBody>
      </p:sp>
      <p:sp>
        <p:nvSpPr>
          <p:cNvPr id="95" name="Text 92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الوَادِي</a:t>
            </a:r>
            <a:endParaRPr lang="ar-SA" sz="1500" dirty="0"/>
          </a:p>
        </p:txBody>
      </p:sp>
      <p:sp>
        <p:nvSpPr>
          <p:cNvPr id="96" name="Shape 93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7" name="Shape 94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9" name="Shape 96"/>
          <p:cNvSpPr/>
          <p:nvPr/>
        </p:nvSpPr>
        <p:spPr>
          <a:xfrm>
            <a:off x="960120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960120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800" dirty="0"/>
          </a:p>
        </p:txBody>
      </p:sp>
      <p:sp>
        <p:nvSpPr>
          <p:cNvPr id="101" name="Shape 98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3" name="Text 100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شَاطِئٌ · سَاحِلٌ</a:t>
            </a:r>
            <a:endParaRPr lang="ar-SA" sz="3000" dirty="0"/>
          </a:p>
        </p:txBody>
      </p:sp>
      <p:sp>
        <p:nvSpPr>
          <p:cNvPr id="104" name="Text 101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beach · a coast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shā-ṭi-ʾun · sā-ḥi-lun</a:t>
            </a:r>
            <a:endParaRPr lang="en-US" sz="135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شَوَاطِئُ · سَوَاحِلُ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ANIMALS AND HABITATS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Who lives where?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تَعِيشُ الحَيَوَانَاتُ؟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wild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حَيَوَانٌ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animal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ḥa-ya-wā-nun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wild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حَيَوَانَاتٌ بَرِّيَّةٌ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حَيَوَانَاتٌ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حَيَوَانٌ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 · rare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طَائِرٌ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bird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ṭā-ʾi-run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rare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طُيُورٌ نَادِرَةٌ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طُيُورٌ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طَائِرٌ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70957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7095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habitat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يَعِيشُ فِي …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lives in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ya-ʿī-shu fī …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 (people)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يَعِيشُونَ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/ non-hum. pl.</a:t>
            </a:r>
            <a:endParaRPr lang="en-US" sz="700" dirty="0"/>
          </a:p>
        </p:txBody>
      </p:sp>
      <p:sp>
        <p:nvSpPr>
          <p:cNvPr id="65" name="Text 62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تَعِيشُ</a:t>
            </a:r>
            <a:endParaRPr lang="ar-SA" sz="1350" dirty="0"/>
          </a:p>
        </p:txBody>
      </p:sp>
      <p:sp>
        <p:nvSpPr>
          <p:cNvPr id="66" name="Shape 63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7" name="Shape 64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8604504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604504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800" dirty="0"/>
          </a:p>
        </p:txBody>
      </p:sp>
      <p:sp>
        <p:nvSpPr>
          <p:cNvPr id="71" name="Shape 68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3" name="Text 70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جَمِيلٌ · خَلَّابٌ</a:t>
            </a:r>
            <a:endParaRPr lang="ar-SA" sz="3000" dirty="0"/>
          </a:p>
        </p:txBody>
      </p:sp>
      <p:sp>
        <p:nvSpPr>
          <p:cNvPr id="74" name="Text 71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beautiful · stunning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ja-mī-lun · khal-lā-bun</a:t>
            </a:r>
            <a:endParaRPr lang="en-US" sz="135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جَمِيلَةٌ · خَلَّابَةٌ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endangered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نَادِرٌ · مُهَدَّدٌ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rare · endangered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nā-di-run · mu-had-da-dun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endangered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مُهَدَّدٌ بِالانْقِرَاضِ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نَادِرَةٌ · مُهَدَّدَةٌ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158008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15800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the environment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نِظَامٌ بِيئِيٌّ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ecosystem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ni-ẓā-mun bī-ʾiy-yun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environment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البِيئَةُ</a:t>
            </a:r>
            <a:endParaRPr lang="ar-SA" sz="135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أَنْظِمَةٌ بِيئِيَّةٌ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NATIONAL PARK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At the national-park visitor centre</a:t>
            </a:r>
            <a:endParaRPr lang="en-US" sz="19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الحَدِيقَةِ الوَطَنِيَّةِ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you want to see.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مَاذَا تُرِيدُ أَنْ تَرَى؟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 … لِأَنَّ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nature you like and why.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الطَّبِيعَةَ؟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أَرَى … وَ…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two animals.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حَيَوَانَاتٍ تُرِيدُ أَنْ تَرَى؟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long it takes.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الطَّرِيقُ إِلَى البُحَيْرَةِ طَوِيلٌ.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عِنْدِي … / لَا،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مَاءٌ وَحِذَاءٌ مُنَاسِبٌ؟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visitor  ·  The examiner is: the park ranger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CHOOSING A TRIP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Desert or forest?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الصَّحْرَاءُ أَمِ الغَابَةُ؟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and give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نَذْهَبُ: إِلَى الصَّحْرَاءِ أَمْ إِلَى الغَابَةِ؟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سَنَرَى … وَ…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two things you will see.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نَرَى هُنَاكَ؟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when it is best to go.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لٰكِنَّ الصَّحْرَاءَ حَارَّةٌ جِدًّا!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الصَّحْرَاءُ أَجْمَلُ مِنَ الغَابَةِ … لٰكِنَّ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the desert and the forest.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الشِّتَاءِ. وَفِي اللَّيْلِ يَكُونُ الجَوُّ بَارِدًا.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يَعِيشُ … لِأَنَّهُ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الحَيَوَانُ الَّذِي يَعِيشُ فِي الصَّحْرَاءِ؟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friend planning a school trip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NATURE PHOTO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Describing your best nature photo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صُورَةٌ مِنَ الطَّبِيعَةِ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أَخَذْتُهَا فِي … عِنْدَمَا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and when (past).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أَخَذْتَ هٰذِهِ الصُّورَةَ؟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الصُّورَةِ … وَ… وَ…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it with three agreeing adjectives.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مَا نَرَاهُ فِيهَا.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… الَّذِي / الَّتِي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an animal with a relative clause.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وَهَلْ تُوجَدُ حَيَوَانَاتٌ؟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وَلِأَنَّ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reasons.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اخْتَرْتَ هٰذِهِ الصُّورَةَ لِلْمُسَابَقَةِ؟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سَأُصَوِّرُ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سَتُصَوِّرُ فِي المَرَّةِ القَادِمَةِ؟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photographer  ·  The examiner is: the school photography-club leader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WILDLIFE DOCUMENTARY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Protecting wildlife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حِمَايَةُ الحَيَاةِ البَرِّيَّةِ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… فَمَثَلًا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your reason with an example.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تَتَطَوَّعُ لِحِمَايَةِ الحَيَوَانَاتِ؟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كَانَتِ الغَابَاتُ … أَمَّا اليَوْمَ فَتَحَوَّلَ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past and present.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كَانَتِ الطَّبِيعَةُ فِي المَاضِي؟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نَظَّفْنَا … فَعَادَتْ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past action and its result.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فَعَلْتُمْ فِي مَجْمُوعَتِكُمْ؟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give your view.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أَلَيْسَ النَّاسُ أَهَمَّ مِنَ الحَيَوَانَاتِ؟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حَيَوَانًا، لَكُنْتُ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حَيَوَانًا، أَيَّ حَيَوَانٍ تَكُونُ؟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wildlife volunteer  ·  The examiner is: a documentary presenter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a landscape with adjectives that agree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non-human plural agreement and a relative clause (allatī / alladhī)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أَرَى الجِبَالَ وَالبُحَيْرَةَ الكَبِيرَةَ.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see the mountains and the big lake.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مَاذَا تُرِيدُ أَنْ تَرَى؟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 الجِبَالَ لِأَنَّهَا عَالِيَةٌ وَجَمِيلَةٌ.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love mountains because they are high and beautiful.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الطَّبِيعَةَ؟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أَرَى الغِزْلَانَ وَالطُّيُورَ النَّادِرَةَ.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see the deer and the rare birds.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أَيَّ حَيَوَانَاتٍ تُرِيدُ أَنْ تَرَى؟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سَاعَةً نَمْشِي إِلَى البُحَيْرَةِ؟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hours do we walk to the lake?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الطَّرِيقُ إِلَى البُحَيْرَةِ طَوِيلٌ.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عِنْدِي زُجَاجَتَا مَاءٍ، وَحِذَاءٌ قَوِيٌّ لِلْمَشْيِ.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have two bottles of water and strong walking boots.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مَاءٌ وَحِذَاءٌ مُنَاسِبٌ؟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الصَّحْرَاءَ، لِأَنَّهَا هَادِئَةٌ وَوَاسِعَةٌ.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the desert, because it is quiet and vast.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نَذْهَبُ: إِلَى الصَّحْرَاءِ أَمْ إِلَى الغَابَةِ؟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سَنَرَى الكُثْبَانَ الرَّمْلِيَّةَ الذَّهَبِيَّةَ، وَالجِمَالَ.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will see golden sand dunes, and camels.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نَرَى هُنَاكَ؟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إِذَنْ، مَتَى أَفْضَلُ وَقْتٍ لِلزِّيَارَةِ؟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when is the best time to visit?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… لٰكِنَّ الصَّحْرَاءَ حَارَّةٌ جِدًّا!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الصَّحْرَاءُ أَجْمَلُ مِنَ الغَابَةِ فِي اللَّيْلِ، لٰكِنَّ الغَابَةَ أَبْرَدُ فِي النَّهَارِ.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desert is prettier than the forest at night, but the forest is cooler in the day.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الشِّتَاءِ. وَفِي اللَّيْلِ يَكُونُ الجَوُّ بَارِدًا.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يَعِيشُ الجَمَلُ فِي الصَّحْرَاءِ، لِأَنَّهُ يَصْبِرُ عَلَى العَطَشِ أَيَّامًا.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camel lives in the desert, because it can go without water for days.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الحَيَوَانُ الَّذِي يَعِيشُ فِي الصَّحْرَاءِ؟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أَخَذْتُهَا فِي جِبَالِ الأَطْلَسِ فِي المَغْرِبِ، عِنْدَمَا زُرْنَا قَرْيَةَ جَدِّي.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took it in the Atlas Mountains in Morocco, when we visited my grandfather’s village.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أَخَذْتَ هٰذِهِ الصُّورَةَ؟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الصُّورَةِ وَادٍ أَخْضَرُ، وَنَهْرٌ صَغِيرٌ، وَجِبَالٌ عَالِيَةٌ تُغَطِّيهَا الثُّلُوجُ.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is a green valley, a small river and high mountains covered in snow.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مَا نَرَاهُ فِيهَا.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هُنَاكَ قُرُودٌ صَغِيرَةٌ تَعِيشُ فِي الغَابَاتِ الَّتِي تُغَطِّي الجِبَالَ.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there are small monkeys that live in the forests covering the mountains.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وَهَلْ تُوجَدُ حَيَوَانَاتٌ؟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الأَلْوَانَ جَمِيلَةٌ، وَلِأَنَّهَا تُذَكِّرُنِي بِأَجْمَلِ يَوْمٍ فِي العُطْلَةِ.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the colours are beautiful, and because it reminds me of the best day of the holiday.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اخْتَرْتَ هٰذِهِ الصُّورَةَ لِلْمُسَابَقَةِ؟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سَأُصَوِّرُ الطُّيُورَ عَلَى سَاحِلِ وِيلْزَ، لِأَنَّ بَعْضَهَا نَادِرٌ جِدًّا.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photograph the birds on the Welsh coast, because some of them are very rare.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سَتُصَوِّرُ فِي المَرَّةِ القَادِمَةِ؟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 كَثِيرًا مِنَ الحَيَوَانَاتِ مُهَدَّدَةٌ بِالانْقِرَاضِ؛ فَمَثَلًا لَمْ يَبْقَ مِنَ النَّمِرِ العَرَبِيِّ إِلَّا القَلِيلُ.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many animals are endangered — only a few Arabian leopards remain, for example.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تَتَطَوَّعُ لِحِمَايَةِ الحَيَوَانَاتِ؟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كَانَتِ الغَابَاتُ تُغَطِّي مِسَاحَاتٍ أَكْبَرَ بِكَثِيرٍ، أَمَّا اليَوْمَ فَتَحَوَّلَ كَثِيرٌ مِنْهَا إِلَى مُدُنٍ وَطُرُقٍ.</a:t>
            </a:r>
            <a:endParaRPr lang="ar-SA" sz="17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Forests used to cover much larger areas; today many have turned into cities and roads.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كَانَتِ الطَّبِيعَةُ فِي المَاضِي؟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نَظَّفْنَا ضِفَّةَ النَّهْرِ مِنَ البْلَاسْتِيكِ، فَعَادَتِ البَطُّ وَالأَسْمَاكُ بَعْدَ شُهُورٍ قَلِيلَةٍ.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cleaned plastic from the riverbank, and the ducks and fish came back within a few months.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فَعَلْتُمْ فِي مَجْمُوعَتِكُمْ؟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حَاجَاتِ النَّاسِ مُهِمَّةٌ، غَيْرَ أَنَّ النِّظَامَ البِيئِيَّ إِذَا انْهَارَ، فَسَيَتَضَرَّرُ الإِنْسَانُ أَيْضًا.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people’s needs matter, but if the ecosystem collapses, humans will suffer too.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أَلَيْسَ النَّاسُ أَهَمَّ مِنَ الحَيَوَانَاتِ؟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حَيَوَانًا، لَكُنْتُ صَقْرًا، لِأَنِّي أُرِيدُ أَنْ أَرَى الصَّحْرَاءَ وَالجِبَالَ مِنْ فَوْقُ.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were an animal, I would be a falcon, because I want to see the desert and mountains from above.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حَيَوَانًا، أَيَّ حَيَوَانٍ تَكُونُ؟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an example, past vs present, cause → result, ṣaḥīḥun anna … ghayra anna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الطَّبِيعَةُ حَوْلِي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nature?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الطَّبِيعَةَ؟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يُوجَدُ نَهْرٌ … وَتُوجَدُ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there mountains or rivers near your town?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تُوجَدُ جِبَالٌ أَوْ أَنْهَارٌ قُرْبَ مَدِينَتِكَ؟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حَيَوَانِي المُفَضَّلُ … لِأَنَّهُ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animal?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حَيَوَانُكَ المُفَضَّلُ؟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يَعِيشُ الجَمَلُ فِي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does the camel live?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يَعِيشُ الجَمَلُ؟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prefer the sea or the mountains?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البَحْرَ أَمِ الجَبَلَ؟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المَنَاظِرُ وَالحَيَوَانَاتُ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مَكَانٍ زُرْتُهُ … فِيهِ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most beautiful natural place you have visited.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أَجْمَلَ مَكَانٍ طَبِيعِيٍّ زُرْتَهُ.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عِنْدِي … لَوْنُهُ … وَهُوَ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have a pet? Describe it.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حَيَوَانٌ أَلِيفٌ؟ صِفْهُ.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… وَتُسَاعِدُ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do people like spending time in nature?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يُحِبُّ النَّاسُ قَضَاءَ الوَقْتِ فِي الطَّبِيعَةِ؟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تَعِيشُ … وَ… فِي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animals live in your country?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الحَيَوَانَاتُ الَّتِي تَعِيشُ فِي بِلَادِكَ؟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أَزُورَ … لِأَرَى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would you like to go to see nature?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تُرِيدُ أَنْ تَذْهَبَ لِتَرَى الطَّبِيعَةَ؟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description, non-human plural agreement, a reason and a future wish.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الإِنْسَانُ وَالطَّبِيعَةُ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zoos useful or cruel?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حَدَائِقُ الحَيَوَانِ مُفِيدَةٌ أَمْ ظَالِمَةٌ؟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 … وَ… مِمَّا يُدَمِّرُ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 are some animals disappearing?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تَخْتَفِي بَعْضُ الحَيَوَانَاتِ؟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هُنَاكَ … أَمَّا الآنَ فَقَدْ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has nature changed in your area?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تَغَيَّرَتِ الطَّبِيعَةُ فِي مِنْطَقَتِكَ؟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يَسْتَطِيعُونَ أَنْ … مَثَلًا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can young people do for nature?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يَسْتَطِيعُ الشَّبَابُ أَنْ يَفْعَلُوهُ لِلطَّبِيعَةِ؟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اخْتَفَتِ الطُّيُورُ، لَأَصْبَحَ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birds disappeared from the world, what would life be like?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اخْتَفَتِ الطُّيُورُ مِنَ العَالَمِ، كَيْفَ تَكُونُ الحَيَاةُ؟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bi-sababi … mimmā, kāna + present vs ammā … fa-qad, an example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 الطَّبِيعَةَ لِأَنَّهَا هَادِئَةٌ وَجَمِيلَةٌ.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love nature because it is calm and beautiful.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الطَّبِيعَةَ؟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يُوجَدُ نَهْرٌ طَوِيلٌ، وَتُوجَدُ تِلَالٌ خَضْرَاءُ.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there is a long river and green hills.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تُوجَدُ جِبَالٌ أَوْ أَنْهَارٌ قُرْبَ مَدِينَتِكَ؟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حَيَوَانِيَ المُفَضَّلُ الدُّلْفِينُ، لِأَنَّهُ ذَكِيٌّ.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animal is the dolphin, because it is clever.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حَيَوَانُكَ المُفَضَّلُ؟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يَعِيشُ الجَمَلُ فِي الصَّحْرَاءِ.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camel lives in the desert.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يَعِيشُ الجَمَلُ؟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البَحْرَ، لِأَنِّي أُحِبُّ السِّبَاحَةَ.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the sea, because I love swimming.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تُفَضِّلُ البَحْرَ أَمِ الجَبَلَ؟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an adjective that agrees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أَجْمَلُ مَكَانٍ زُرْتُهُ بُحَيْرَةُ وِينْدِرْمِيرَ؛ فِيهَا مَاءٌ صَافٍ، وَحَوْلَهَا تِلَالٌ خَضْرَاءُ وَغَابَاتٌ كَثِيفَةٌ.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most beautiful place I’ve visited is Lake Windermere: clear water, surrounded by green hills and thick forests.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أَجْمَلَ مَكَانٍ طَبِيعِيٍّ زُرْتَهُ.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عِنْدِي قِطَّةٌ بَيْضَاءُ اسْمُهَا ثَلْجَةُ، عَيْنَاهَا زَرْقَاوَانِ، وَهِيَ كَسُولَةٌ جِدًّا!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have a white cat called Snowy with blue eyes — she is very lazy!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حَيَوَانٌ أَلِيفٌ؟ صِفْهُ.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تُرِيحُ الأَعْصَابَ، وَتُبْعِدُنَا عَنْ ضَجِيجِ المُدُنِ وَالشَّاشَاتِ.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it calms the nerves and takes us away from the noise of cities and screens.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يُحِبُّ النَّاسُ قَضَاءَ الوَقْتِ فِي الطَّبِيعَةِ؟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تَعِيشُ الثَّعَالِبُ وَالسَّنَاجِبُ فِي الحَدَائِقِ، وَتَعِيشُ الغِزْلَانُ فِي الغَابَاتِ الشَّمَالِيَّةِ.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Foxes and squirrels live in parks, and deer live in the northern forests.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الحَيَوَانَاتُ الَّتِي تَعِيشُ فِي بِلَادِكَ؟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أَزُورَ وَادِي رَمٍّ فِي الأُرْدُنِّ، لِأَرَى الصَّحْرَاءَ الحَمْرَاءَ وَالنُّجُومَ فِي اللَّيْلِ.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visit Wadi Rum in Jordan, to see the red desert and the stars at night.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تُرِيدُ أَنْ تَذْهَبَ لِتَرَى الطَّبِيعَةَ؟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Description + agreement + reason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بَعْضَهَا يَحْمِي الحَيَوَانَاتِ المُهَدَّدَةَ، غَيْرَ أَنَّ الأَقْفَاصَ الصَّغِيرَةَ لَا تُنَاسِبُ حَيَوَانَاتٍ تَعِيشُ فِي مِسَاحَاتٍ وَاسِعَةٍ.</a:t>
            </a:r>
            <a:endParaRPr lang="ar-SA" sz="14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some protect endangered animals, but small cages don’t suit animals that live in vast spaces.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حَدَائِقُ الحَيَوَانِ مُفِيدَةٌ أَمْ ظَالِمَةٌ؟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 قَطْعِ الغَابَاتِ وَالصَّيْدِ، مِمَّا يُدَمِّرُ بُيُوتَهَا الطَّبِيعِيَّةَ.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of deforestation and hunting, which destroys their natural homes.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تَخْتَفِي بَعْضُ الحَيَوَانَاتِ؟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هُنَاكَ حَقْلٌ كَبِيرٌ تَعِيشُ فِيهِ الأَرَانِبُ، أَمَّا الآنَ فَقَدْ بَنَوْا عَلَيْهِ مَوْقِفًا لِلسَّيَّارَاتِ.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There used to be a big field where rabbits lived; now they have built a car park on it.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تَغَيَّرَتِ الطَّبِيعَةُ فِي مِنْطَقَتِكَ؟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cause and effect, past vs present,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يَسْتَطِيعُونَ أَنْ يَزْرَعُوا الأَشْجَارَ وَيُنَظِّفُوا الشَّوَاطِئَ؛ مَثَلًا زَرَعَ صَفِّي مِئَةَ شَجَرَةٍ فِي السَّنَةِ المَاضِيَةِ.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can plant trees and clean beaches — my class planted a hundred trees last year.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يَسْتَطِيعُ الشَّبَابُ أَنْ يَفْعَلُوهُ لِلطَّبِيعَةِ؟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اخْتَفَتِ الطُّيُورُ، لَأَصْبَحَ الصَّبَاحُ صَامِتًا وَحَزِينًا، وَلَكَثُرَتِ الحَشَرَاتُ الَّتِي تَأْكُلُهَا.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birds disappeared, mornings would be silent and sad, and the insects they eat would multiply.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اخْتَفَتِ الطُّيُورُ مِنَ العَالَمِ، كَيْفَ تَكُونُ الحَيَاةُ؟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cause and effect, past vs present,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TC-L02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C · Speaking workshop · TC-L02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landscapes with adjectives that agree.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where animals live (yaʿīshu / taʿīshu fī …).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feminine singular for non-human plurals (jibāl ʿāliya).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 relative clause (allatī / alladhī).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cause and effect, a concession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TC-L02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TC-L02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TC-L02 · Speaking Workshop — Landscapes, Nature and Animals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2026-10-11T09:33:56Z</dcterms:created>
  <dcterms:modified xsi:type="dcterms:W3CDTF">2026-10-11T09:33:56Z</dcterms:modified>
</cp:coreProperties>
</file>