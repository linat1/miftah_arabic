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5 (Environmental Solutions and Responsibility, TC-L05).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7: lā + accusative (lā akyāsa). Box 8: li-kay uqallila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مَا (what) · يَنْبَغِي (should) · فَعَلَتْ (did — PAST) · سَتُنَظِّمُ (will organise — FUTURE) · لِمَاذَا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(80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(117 words). Core model: li-kay + subjunctive, yanbaghī an, a past paragraph with kāna + accusative and aṣbaḥat, yajibu ʿalā … an,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kathīran mā … ḥattā, mimmā, ammā … fa-qad, a problem → solution (fa-), wa-maʿa dhālika, idh, yajibu ʿalā … an … wa-an … li-kay, a concession and law … la-.
ENGLISH SUMMARY (read aloud or paste in the chat for Core students): We hear so much about environmental problems that we feel there is no hope, but I’ve learnt real solutions start at home: my family has sorted its waste for two years and we switch devices off before bed, which has noticeably cut our bill → at school I founded an eco-club with friends; our first project was collecting plastic bottles for a vertical garden on the playground wall; at first nobody cared, but we ran a competition between classes and collected over a thousand bottles in a month, and planted flowers and herbs in them → yet individual effort alone is not enough: governments must impose laws on factories and make public transport cheaper so people leave their cars → it is true the road is long, but every small step brings us closer; “if every school became a model like ours, a whole generation would grow up respecting and protecting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a rhetorical question, a balanced view, idhā lam + jussive, a relative clause (allatī manaʿat), arā anna, yajibu ʿalā … wa-yanbaghī ʿalaynā, idhā … fa-sa-.
ENGLISH SUMMARY (read aloud or paste in the chat for Core students): When we talk about protecting the environment, each side blames the other: citizens blame governments and big companies, and governments ask citizens to change their habits, while the problem keeps getting worse day by day — so who is really responsible? → on one hand, governments have the power to change things quickly: one law banning plastic bags stops millions of bags; on the other, no law works if people aren’t convinced and don’t apply it in daily life → I saw a great example of cooperation visiting relatives in Rwanda, which banned plastic years ago: the streets are amazingly clean and all residents join a monthly clean-up day, even ministers; it amazed me that nobody complains — they see it as a national duty → so responsibility is shared: governments must make laws and we should change our behaviour; “if both sides work together, we will protect our planet for future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Environmental Solutions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حُلُولٌ لِلْبِيئَةِ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green-pledge form, write a letter to the school magazine suggesting solutions, and write an extended piece about what you do for the environment or about who is responsible.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TC-L05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letter to the school magazine.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after an / li-kay / li- the verb is subjunctive (naḍaʿa, nuqallila, naḥmiya); yajibu ʿalā + the person + an + verb agreeing with that person (yajibu ʿalā al-ḥukūmati an tafriḍa).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يَنْبَغِي أَنْ نَضَعَ سَلَّاتٍ لِإِعَادَةِ التَّدْوِيرِ</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should put out recycling bins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يَجِبُ عَلَى الحُكُومَاتِ أَنْ تَفْرِضَ قَوَانِينَ</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governments must impose laws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لِكَيْ يَتْرُكَ النَّاسُ سَيَّارَاتِهِمْ</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 that people leave their cars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Green pledge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التَّعَهُّدِ الأَخْضَرِ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 and class</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المَدْرَسَةُ وَالصَّفُّ</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get to school</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وَسِيلَةُ الذَّهَابِ إِلَى المَدْرَسَةِ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recycle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تُعِيدُ تَدْوِيرَهُ</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save water</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تُوَفِّرُ المَاءَ؟</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save energy</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تُوَفِّرُ الطَّاقَةَ؟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pledge for this month</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تَعَهُّدُكَ لِهٰذَا الشَّهْرِ</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this pledge?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هٰذَا التَّعَهُّدُ؟</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li-kay + subjunctive.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Green pledge form: model answers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Adam Yusuf</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آدَمُ يُوسُفُ</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Madina School, Year 11</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المَدِينَةِ، الصَّفُّ الحَادِي عَشَرَ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المَدْرَسَةُ وَالصَّفُّ</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bus</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بِالحَافِلَةِ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وَسِيلَةُ الذَّهَابِ إِلَى المَدْرَسَةِ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and plastic</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الوَرَقُ وَالبْلَاسْتِيكُ</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تُعِيدُ تَدْوِيرَهُ</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short shower</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دُشٌّ قَصِيرٌ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تُوَفِّرُ المَاءَ؟</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switch off the lights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أُطْفِئُ الأَضْوَاءَ</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تُوَفِّرُ الطَّاقَةَ؟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plastic bags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أَكْيَاسَ بْلَاسْتِيكِيَّةً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تَعَهُّدُكَ لِهٰذَا الشَّهْرِ</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pledge this to reduce the waste that reaches the sea.</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أَتَعَهَّدُ بِذٰلِكَ لِكَيْ أُقَلِّلَ النُّفَايَاتِ الَّتِي تَصِلُ إِلَى البَحْرِ.</a:t>
            </a:r>
            <a:endParaRPr lang="ar-SA" sz="16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هٰذَا التَّعَهُّدُ؟</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letter with solutions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مَجَلَّةِ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school magazine is asking for ideas to make the school greener. Write a letter in Arabic of about 80–90 words. You must include: • the biggest environmental problem at your school • what students and the school should do • something your school did in the past • what you will organise,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Advice and obligation (yanbaghī an / yajibu ʿalā … an).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 with li-kay.</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مُشْكِلَةٍ فِي مَدْرَسَتِنَا هِيَ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biggest problem in our school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 وَيَجِبُ عَلَى …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should … and … must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السَّنَةِ المَاضِيَةِ زَرَعْنَا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year we planted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سَنُنَظِّمُ … لِكَيْ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organise … so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magazine wants ideas for a greener school: write a letter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تَطْلُبُ مَجَلَّةُ المَدْرَسَةِ أَفْكَارًا لِمَدْرَسَةٍ خَضْرَاءَ. اكْتُبْ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biggest environmental problem at your school</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أَكْبَرُ مُشْكِلَةٍ بِيئِيَّةٍ فِي مَدْرَسَتِكَ؟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students and the school should do</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يَنْبَغِي أَنْ يَفْعَلَ الطُّلَّابُ وَالمَدْرَسَةُ؟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your school did in the past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مَدْرَسَتُكَ فِي المَاضِي؟</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organise, and why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سَتُنَظِّمُ؟ وَلِمَاذَا؟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editor of the school magazine,</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مُحَرِّرِ مَجَلَّةِ المَدْرَسَةِ،</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biggest problem in our school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مُشْكِلَةٍ فِي مَدْرَسَتِنَا هِيَ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should …, and students must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______ ، وَيَجِبُ عَلَى الطُّلَّابِ أَنْ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year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السَّنَةِ المَاضِيَةِ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will organise …, so that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سَنُنَظِّمُ ______ ، لِكَيْ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مُحَرِّرِ مَجَلَّةِ المَدْرَسَةِ،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أُرِيدُ أَنْ أُشَارِكَ أَفْكَارِي عَنْ حِمَايَةِ البِيئَةِ. أَكْبَرُ مُشْكِلَةٍ فِي مَدْرَسَتِنَا هِيَ الوَرَقُ وَالبْلَاسْتِيكُ؛ نَرْمِي كَمِّيَّاتٍ كَبِيرَةً كُلَّ يَوْمٍ. فِي رَأْيِي، يَنْبَغِي أَنْ نَضَعَ سَلَّاتٍ لِإِعَادَةِ التَّدْوِيرِ فِي كُلِّ صَفٍّ، وَيَجِبُ عَلَى الطُّلَّابِ أَنْ يَحْمِلُوا زُجَاجَاتِ مَاءٍ خَاصَّةً. فِي السَّنَةِ المَاضِيَةِ زَرَعْنَا عِشْرِينَ شَجَرَةً فِي المَلْعَبِ، وَكَانَتْ تَجْرِبَةً رَائِعَةً. فِي الشَّهْرِ القَادِمِ سَنُنَظِّمُ حَمْلَةَ تَوْعِيَةٍ، لِكَيْ يَعْرِفَ الجَمِيعُ أَهَمِّيَّةَ البِيئَةِ.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the editor of the school magazine, I want to share my ideas about protecting the environment. The biggest problem in our school is paper and plastic: we throw away large amounts every day. In my opinion, we should put recycling bins in every classroom, and students must carry their own water bottles. Last year we planted twenty trees in the playground, and it was a wonderful experience. Next month we will organise an awareness campaign, so that everyone knows how important the environment is. With thanks,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أَكْبَرُ مُشْكِلَةٍ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يَنْبَغِي أَنْ نَضَعَ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يَجِبُ عَلَى الطُّلَّابِ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لِكَيْ يَعْرِفَ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إِلَى مُحَرِّرِ مَجَلَّةِ المَدْرَسَةِ المُحْتَرَمِ،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أَكْتُبُ إِلَيْكُمْ لِأَنِّي أُؤْمِنُ بِأَنَّ مَدْرَسَتَنَا تَسْتَطِيعُ أَنْ تَكُونَ قُدْوَةً فِي حِمَايَةِ البِيئَةِ. فَمَا زِلْنَا نَرْمِي يَوْمِيًّا أَكْيَاسًا مِنَ الأَوْرَاقِ وَالزُّجَاجَاتِ الَّتِي يُمْكِنُ إِعَادَةُ تَدْوِيرِهَا. لِذٰلِكَ أَقْتَرِحُ أَنْ تُوضَعَ سَلَّاتٌ مُلَوَّنَةٌ لِلْفَرْزِ فِي كُلِّ مَمَرٍّ، كَمَا يَجِبُ عَلَى المَقْصَفِ أَنْ يَتَوَقَّفَ عَنْ بَيْعِ الأَكْوَابِ البْلَاسْتِيكِيَّةِ. وَقَدْ أَثْبَتَتْ تَجْرِبَتُنَا العَامَ المَاضِي، حِينَ زَرَعْنَا عِشْرِينَ شَجَرَةً، أَنَّ الطُّلَّابَ مُتَحَمِّسُونَ لِلتَّغْيِيرِ. وَإِذَا دَعَمَتِ الإِدَارَةُ فِكْرَتَنَا، فَسَنُطْلِقُ الشَّهْرَ القَادِمَ حَمْلَةً بِعُنْوَانِ "مَدْرَسَةٌ بِلَا بْلَاسْتِيكٍ".</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وَتَفَضَّلُوا بِقَبُولِ فَائِقِ الاحْتِرَامِ،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آدَمُ</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Editor, I am writing because I believe our school can be a model in protecting the environment. We still throw away bags of paper and bottles every day that could be recycled. I therefore suggest colour-coded sorting bins be placed in every corridor, and the canteen must stop selling plastic cups. Our experience last year, when we planted twenty trees, proved students are keen for change. If the management supports our idea, next month we will launch a campaign called “A school without plastic”. Yours respectfully,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أُؤْمِنُ بِأَنَّ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أَقْتَرِحُ أَنْ تُوضَعَ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يَجِبُ عَلَى المَقْصَفِ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دَعَمَتْ … فَسَنُطْلِقُ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 do to protect the environment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أَفْعَلُ لِأَحْمِيَ البِيئَةَ؟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home · at school · a campaign or project you took part in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البَيْتِ · فِي المَدْرَسَةِ · حَمْلَةٌ أَوْ مَشْرُوعٌ شَارَكْتَ فِيهِ · رَأْيُكَ وَخِطَطُكَ</a:t>
            </a:r>
            <a:endParaRPr lang="ar-SA" sz="17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Protecting the environment: governments or individuals?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حِمَايَةُ البِيئَةِ: مَسْؤُولِيَّةُ الحُكُومَاتِ أَمِ الأَفْرَادِ؟</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the role of governments and of individuals · an example you saw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المُشْكِلَةُ · دَوْرُ الحُكُومَاتِ وَدَوْرُ الأَفْرَادِ · مِثَالٌ رَأَيْتَهُ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Home — we recycle, I switch off …, li-kay uwaffira; present tense.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School — the eco-club, yanbaghī an + subjunctive; a reason with li-anna.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campaign or project: shāraktu, zaraʿnā, kāna al-ʿamalu mutʿiban; then the result (aṣbaḥat).</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Responsibility + future — yajibu ʿalā al-ḥukūma an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نُعِيدُ تَدْوِيرَ الوَرَقِ، لِكَيْ نُقَلِّلَ النُّفَايَاتِ.</a:t>
            </a:r>
            <a:endParaRPr lang="ar-SA" sz="25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we recycle paper to reduce waste.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شَارَكْتُ فِي حَمْلَةٍ، وَزَرَعْنَا خَمْسِينَ شَجَرَةً.</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took part in a campaign, and we planted fifty trees.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سَأُرَكِّبُ أَلْوَاحًا شَمْسِيَّةً عَلَى بَيْتِي.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install solar panels on my house.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أَنَا أُحِبُّ البِيئَةَ، وَأُحَاوِلُ أَنْ أَحْمِيَهَا كُلَّ يَوْمٍ. فِي البَيْتِ نُعِيدُ تَدْوِيرَ الوَرَقِ وَالبْلَاسْتِيكِ وَالزُّجَاجِ، وَأُطْفِئُ الأَضْوَاءَ عِنْدَمَا أَخْرُجُ مِنَ الغُرْفَةِ. أُغْلِقُ الحَنَفِيَّةَ أَيْضًا عِنْدَمَا أُنَظِّفُ أَسْنَانِي، لِكَيْ أُوَفِّرَ المَاءَ. وَأَحْمِلُ حَقِيبَةً مِنَ القُمَاشِ إِلَى السُّوقِ.</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المَدْرَسَةِ عِنْدَنَا نَادٍ لِلْبِيئَةِ. نَجْتَمِعُ كُلَّ يَوْمِ أَرْبِعَاءَ، وَنَتَكَلَّمُ عَنِ الحُلُولِ. فِي رَأْيِي، يَنْبَغِي أَنْ نَذْهَبَ إِلَى المَدْرَسَةِ مَشْيًا أَوْ بِالدَّرَّاجَةِ، لِأَنَّ السَّيَّارَاتِ تُلَوِّثُ الهَوَاءَ.</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السَّنَةِ المَاضِيَةِ شَارَكْتُ فِي حَمْلَةٍ لِزِرَاعَةِ الأَشْجَارِ. ذَهَبْنَا إِلَى حَدِيقَةٍ كَبِيرَةٍ، وَزَرَعْنَا خَمْسِينَ شَجَرَةً صَغِيرَةً. كَانَ العَمَلُ مُتْعِبًا، لٰكِنِّي كُنْتُ فَخُورًا جِدًّا. الآنَ أَصْبَحَتِ الأَشْجَارُ أَكْبَرَ، وَتَعِيشُ فِيهَا الطُّيُورُ.</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يَجِبُ عَلَى الحُكُومَةِ أَنْ تُسَاعِدَنَا أَيْضًا. وَيَجِبُ عَلَى المَصَانِعِ أَنْ تُقَلِّلَ الدُّخَانَ. فِي المُسْتَقْبَلِ سَأُرَكِّبُ أَلْوَاحًا شَمْسِيَّةً عَلَى بَيْتِي، وَسَأَشْتَرِي سَيَّارَةً كَهْرَبَائِيَّةً، لِكَيْ أُسَاعِدَ البِيئَةَ.</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love the environment and try to protect it every day: at home we recycle paper, plastic and glass; I switch off lights and turn off the tap when brushing my teeth to save water, and I take a cloth bag to the shops → at school we have an eco-club that meets every Wednesday; we should walk or cycle to school because cars pollute the air → last year I joined a tree-planting campaign: we planted fifty small trees in a big park; the work was tiring but I was very proud; now the trees are bigger and birds live in them → the government must help us too, and factories must reduce their fumes; in future I will put solar panels on my house and buy an electric car to help the environment.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لِكَيْ أُوَفِّرَ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يَنْبَغِي أَنْ نَذْهَبَ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العَمَلُ مُتْعِبًا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يَجِبُ عَلَى الحُكُومَةِ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كَثِيرًا مَا نَسْمَعُ عَنِ المَشَاكِلِ البِيئِيَّةِ حَتَّى نَشْعُرَ بِأَنَّهُ لَا أَمَلَ، لٰكِنِّي تَعَلَّمْتُ أَنَّ الحُلُولَ الحَقِيقِيَّةَ تَبْدَأُ مِنَ البَيْتِ. فَأُسْرَتِي تَفْرِزُ النُّفَايَاتِ مُنْذُ سَنَتَيْنِ، وَنَحْرِصُ عَلَى إِطْفَاءِ الأَجْهِزَةِ قَبْلَ النَّوْمِ، مِمَّا خَفَّضَ فَاتُورَةَ الكَهْرَبَاءِ بِشَكْلٍ مَلْحُوظٍ.</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أَمَّا فِي المَدْرَسَةِ، فَقَدْ أَسَّسْتُ مَعَ زُمَلَائِي نَادِيًا لِلْبِيئَةِ. وَكَانَ أَوَّلُ مَشَارِيعِنَا جَمْعَ الزُّجَاجَاتِ البْلَاسْتِيكِيَّةِ لِصُنْعِ حَدِيقَةٍ عَمُودِيَّةٍ عَلَى جِدَارِ المَلْعَبِ. فِي البِدَايَةِ لَمْ يَهْتَمَّ أَحَدٌ، لٰكِنَّنَا نَظَّمْنَا مُسَابَقَةً بَيْنَ الصُّفُوفِ، فَجَمَعْنَا أَكْثَرَ مِنْ أَلْفِ زُجَاجَةٍ فِي شَهْرٍ وَاحِدٍ، وَزَرَعْنَا فِيهَا الزُّهُورَ وَالأَعْشَابَ.</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وَمَعَ ذٰلِكَ، أَعْتَقِدُ أَنَّ جُهُودَ الأَفْرَادِ وَحْدَهَا لَا تَكْفِي؛ إِذْ يَجِبُ عَلَى الحُكُومَاتِ أَنْ تَفْرِضَ قَوَانِينَ عَلَى المَصَانِعِ، وَأَنْ تَجْعَلَ المُوَاصَلَاتِ العَامَّةَ أَرْخَصَ لِكَيْ يَتْرُكَ النَّاسُ سَيَّارَاتِهِمْ.</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صَحِيحٌ أَنَّ الطَّرِيقَ طَوِيلٌ، غَيْرَ أَنَّ كُلَّ خُطْوَةٍ صَغِيرَةٍ تُقَرِّبُنَا مِنَ الهَدَفِ. وَلَوْ أَصْبَحَتْ كُلُّ مَدْرَسَةٍ قُدْوَةً كَمَدْرَسَتِنَا، لَنَشَأَ جِيلٌ كَامِلٌ يَحْتَرِمُ الأَرْضَ وَيَحْمِيهَا.</a:t>
            </a:r>
            <a:endParaRPr lang="ar-SA" sz="18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خَفَّضَ</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فِي المَدْرَسَةِ، فَقَدْ</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يَجِبُ عَلَى الحُكُومَاتِ أَنْ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أَصْبَحَتْ … لَنَشَأَ</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Q3 (</a:t>
            </a:r>
            <a:pPr algn="l" indent="0" marL="0">
              <a:buNone/>
            </a:pPr>
            <a:r>
              <a:rPr lang="ar-SA" altLang="en-US" sz="2350" b="1" dirty="0">
                <a:solidFill>
                  <a:srgbClr val="1B3B6F"/>
                </a:solidFill>
                <a:latin typeface="Amiri" pitchFamily="2" charset="-78"/>
                <a:ea typeface="Amiri" pitchFamily="2" charset="-78"/>
                <a:cs typeface="Amiri" pitchFamily="2" charset="-78"/>
              </a:rPr>
              <a:t>ب</a:t>
            </a:r>
            <a:pPr algn="l" indent="0" marL="0">
              <a:buNone/>
            </a:pPr>
            <a:r>
              <a:rPr lang="en-US" sz="1800" b="1" dirty="0">
                <a:solidFill>
                  <a:srgbClr val="1B3B6F"/>
                </a:solidFill>
                <a:latin typeface="Cambria" pitchFamily="34" charset="0"/>
                <a:cs typeface="Amiri" pitchFamily="2" charset="-78"/>
              </a:rPr>
              <a:t>) full-mark model: governments or individuals?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عِنْدَمَا نَتَحَدَّثُ عَنْ حِمَايَةِ البِيئَةِ، يُلْقِي كُلُّ طَرَفٍ المَسْؤُولِيَّةَ عَلَى الآخَرِ؛ فَالمُوَاطِنُونَ يَلُومُونَ الحُكُومَاتِ وَالشَّرِكَاتِ الكُبْرَى، وَالحُكُومَاتُ تَطْلُبُ مِنَ المُوَاطِنِينَ أَنْ يُغَيِّرُوا عَادَاتِهِمْ، بَيْنَمَا تَسْتَمِرُّ المُشْكِلَةُ فِي التَّفَاقُمِ يَوْمًا بَعْدَ يَوْمٍ. فَمَنِ المَسْؤُولُ حَقًّا؟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تَمْلِكُ الحُكُومَاتُ القُوَّةَ لِتَغْيِيرِ الوَاقِعِ بِسُرْعَةٍ؛ فَقَانُونٌ وَاحِدٌ يَمْنَعُ الأَكْيَاسَ البْلَاسْتِيكِيَّةَ يُوقِفُ اسْتِخْدَامَ مَلَايِينِ الأَكْيَاسِ. وَمِنْ نَاحِيَةٍ أُخْرَى، لَا يَنْجَحُ أَيُّ قَانُونٍ إِذَا لَمْ يَقْتَنِعْ بِهِ النَّاسُ وَيُطَبِّقُوهُ فِي حَيَاتِهِمُ اليَوْمِيَّةِ.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مِثَالًا رَائِعًا عَلَى التَّعَاوُنِ حِينَ زُرْتُ أَقَارِبِي فِي رُوَانْدَا، الَّتِي مَنَعَتِ البْلَاسْتِيكَ مُنْذُ سَنَوَاتٍ؛ فَالشَّوَارِعُ هُنَاكَ نَظِيفَةٌ بِشَكْلٍ مُدْهِشٍ، وَيُشَارِكُ السُّكَّانُ جَمِيعًا فِي يَوْمِ تَنْظِيفٍ شَهْرِيٍّ، حَتَّى الوُزَرَاءُ أَنْفُسُهُمْ. وَقَدْ أَدْهَشَنِي أَنَّ أَحَدًا لَا يَشْكُو، بَلْ يَعْتَبِرُونَهُ وَاجِبًا وَطَنِيًّا.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لِذٰلِكَ أَرَى أَنَّ المَسْؤُولِيَّةَ مُشْتَرَكَةٌ: يَجِبُ عَلَى الحُكُومَاتِ أَنْ تَضَعَ القَوَانِينَ، وَيَنْبَغِي عَلَيْنَا أَنْ نُغَيِّرَ سُلُوكَنَا. وَإِذَا عَمِلَ الطَّرَفَانِ مَعًا، فَسَنَحْمِي كَوْكَبَنَا لِلْأَجْيَالِ القَادِمَةِ.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يُلْقِي كُلُّ طَرَفٍ</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مِنْ نَاحِيَةٍ … وَمِنْ نَاحِيَةٍ أُخْرَى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لَمْ يَقْتَنِعْ</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عَمِلَ … فَسَنَحْمِي</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pledge sentence uses li-kay.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yanbaghī an and yajibu ʿalā … an with subjunctive verbs.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TC-L06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TC-L05 · Writing Workshop — Environmental Solutions</dc:title>
  <dc:subject>PptxGenJS Presentation</dc:subject>
  <dc:creator>Al Madina Online School · Arabic Department</dc:creator>
  <cp:lastModifiedBy>Al Madina Online School · Arabic Department</cp:lastModifiedBy>
  <cp:revision>1</cp:revision>
  <dcterms:created xsi:type="dcterms:W3CDTF">2026-10-11T09:44:18Z</dcterms:created>
  <dcterms:modified xsi:type="dcterms:W3CDTF">2026-10-11T09:44:18Z</dcterms:modified>
</cp:coreProperties>
</file>