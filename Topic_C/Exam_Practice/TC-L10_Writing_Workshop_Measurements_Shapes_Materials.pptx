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10 (Measurements, Shapes and Materials, TC-L10).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4: azraqu dākinun (colour + shade). Box 7: thalāthūna santīmitran (11–99 + sg.). Box 8: a dual noun + adjective (kitābāni madrasiyyāni).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مَتَى (when) · أَيْنَ (where) · صِفْ (describe!) · مَاذَا (what) · لِمَاذَا (why) — bullet 1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maṣnūʿ / maṣnūʿa min with agreement, shape and colour adjectives, a measurement with mitrun wa-ʿishrūna santīmitran, kāna ṭūluhu + accusative, comparatives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 passive hook (yuqālu inna), a measurement, mā zāla + passive participle, ammā … fa-, maʿa anna … fa-innī, a relative without alladhī, a sequence of past verbs, nādiran mā, a concession and law … la-.
ENGLISH SUMMARY (read aloud or paste in the chat for Core students): They say objects tell their owners’ stories — true in my room, where every piece holds a memory: first, an old 1.5 m wooden desk that was Dad’s as a student, his pen marks still carved on it → my most precious possession is a round silver watch Grandad gave me before he died; although it loses five minutes a day, I couldn’t swap it for any smartwatch → last year I added something I made: a bookshelf from used planks found in the school store; I measured the wall, cut the planks and painted them white — nicer than any shop shelf → modern things are lighter and cheaper but rarely last or mean anything; “if we repaired things instead of throwing them away, we’d save money and protect our memories and the environment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bal wa-ḥattā, a rhetorical question, kāna + passive present vs ammā … fa-, mimmā, a scientific experiment with ammā … fa-, a concession and idhā … fa-sa-.
ENGLISH SUMMARY (read aloud or paste in the chat for Core students): We live in the plastic age — in our cups, clothes, phones and even our drinking water; can we replace it with materials kinder to nature? → in the past things were made of wood, glass and cotton, repaired and handed down; today manufacturers prefer plastic because it is lighter and cheaper, which means things are thrown away after short use, until plastic waste now fills the seas and beaches → in a school experiment we buried equal pieces of paper, cotton and plastic; after three months the paper had almost gone, half the cotton had broken down, and the plastic was exactly the same — even its colour hadn’t changed → natural materials are sometimes dearer, but future generations pay plastic’s real price; “if governments support companies using biodegradable materials, these will become cheaper and within everyone’s reach, in every home and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Measurements, Shapes and Materials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المَقَايِيسُ وَالأَشْكَالُ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lost-luggage form, write an email describing a lost item precisely, and write an extended piece about objects that matter to you or about materials and the environment.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TC-L10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lost item.</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ṭūluhu / ṭūluhā follows the object’s gender; numbers: mitrān (dual), thalāthatu amtārin (3–10 + pl.), thalāthūna santīmitran (11–99 + sg. acc.); maṣnūʿ / maṣnūʿa agrees; colours: zarqāʾ (f.), azraq (m.).</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حَقِيبَةٌ جِلْدِيَّةٌ زَرْقَاءُ، مُسْتَطِيلَةُ الشَّكْلِ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blue leather bag, rectangular in shape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طُولُهَا نَحْوُ ثَلَاثِينَ سَنْتِيمِتْرًا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about thirty centimetres long</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سَاعَةٌ دَائِرِيَّةٌ مَصْنُوعَةٌ مِنَ الفِضَّةِ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round watch made of silver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Lost-luggage report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اسْتِمَارَةُ الإِبْلَاغِ عَنْ أَمْتِعَةٍ مَفْقُودَةٍ</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Flight number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الرِّحْلَةِ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item lost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الشَّيْءِ المَفْقُودِ</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Material</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Shape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الشَّكْلُ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 or weight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المَقَاسُ أَوِ الوَزْنُ</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was inside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 الَّذِي كَانَ فِيهَا؟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kāna fīhā and a dual.</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Lost-luggage report form: model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Yusuf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204</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٢٠٤</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الرِّحْلَةِ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handbag</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 يَدٍ</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الشَّيْءِ المَفْقُودِ</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dark blue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أَزْرَقُ دَاكِنٌ</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اللَّوْنُ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leather</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الجِلْدُ</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المَادَّةُ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rectangular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مُسْتَطِيلٌ</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الشَّكْلُ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thirty centimetres long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طُولُهَا ثَلَاثُونَ سَنْتِيمِتْرًا</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المَقَاسُ أَوِ الوَزْنُ</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Inside there was a silver laptop and two school books.</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فِيهَا حَاسُوبٌ فِضِّيٌّ وَكِتَابَانِ مَدْرَسِيَّانِ.</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 الَّذِي كَانَ فِيهَا؟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lost on the plane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حَقِيبَةٌ مَفْقُودَةٌ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left a bag on a plane. Write an email in Arabic to the airport lost-property office of about 80–90 words. You must include: • when and where you lost it • a precise description (colour, material, shape, size) • what was inside and why it is important • what you want them to do and when you are available.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Colour, material, shape AND a measurement.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نَسِيتُ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left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 وَمَصْنُوعَةٌ مِنْ … طُولُهَا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 and made of … it is … long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 وَهِيَ مُهِمَّةٌ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inside is … and it is important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تَتَّصِلُوا بِي … سَأَكُونُ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please call me … I will be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left a bag on a plane: write to lost property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نَسِيتَ حَقِيبَةً فِي الطَّائِرَةِ. اكْتُبْ رِسَالَةً إِلَى مَكْتَبِ المَفْقُودَاتِ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and where you lost it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وَأَيْنَ فَقَدْتَهَا؟</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it precisely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الحَقِيبَةَ بِدِقَّةٍ.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inside; why it matters</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كَانَ فِيهَا؟ وَلِمَاذَا هِيَ مُهِمَّةٌ؟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want them to do; when you are available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تُرِيدُ مِنْهُمْ؟ وَمَتَى سَتَكُونُ مُتَاحًا؟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lost-property office,</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مَكْتَبِ المَفْقُودَاتِ،</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arrived from …, and left a bag in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وَصَلْتُ مِنْ ______ ، وَنَسِيتُ حَقِيبَةً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bag is …, made of … Its shape is …, and it is … long.</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______ ، وَمَصْنُوعَةٌ مِنْ ______ . شَكْلُهَا ______ ، وَطُولُهَا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Inside is … It is important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فِيهَا ______ . هِيَ مُهِمَّةٌ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call me. I will be at home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أَرْجُو أَنْ تَتَّصِلُوا بِي. سَأَكُونُ فِي البَيْتِ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مَكْتَبِ المَفْقُودَاتِ فِي المَطَارِ،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اسْمِي آدَمُ يُوسُفُ. أَمْسِ وَصَلْتُ مِنْ دُبَيّ فِي الرِّحْلَةِ رَقْمِ ٢٠٤، وَنَسِيتُ حَقِيبَةً صَغِيرَةً فِي الطَّائِرَةِ. الحَقِيبَةُ زَرْقَاءُ، وَمَصْنُوعَةٌ مِنَ الجِلْدِ. شَكْلُهَا مُسْتَطِيلٌ، وَطُولُهَا ثَلَاثُونَ سَنْتِيمِتْرًا تَقْرِيبًا. فِيهَا حَاسُوبٌ مَحْمُولٌ وَكِتَابٌ عَرَبِيٌّ وَشَاحِنٌ أَبْيَضُ. هٰذِهِ الحَقِيبَةُ مُهِمَّةٌ جِدًّا لِي، لِأَنَّ الحَاسُوبَ فِيهِ كُلُّ وَاجِبَاتِي المَدْرَسِيَّةِ. أَرْجُو أَنْ تَتَّصِلُوا بِي إِذَا وَجَدْتُمُوهَا. سَأَكُونُ فِي البَيْتِ كُلَّ يَوْمٍ بَعْدَ السَّاعَةِ الرَّابِعَةِ.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 يُوسُفُ</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airport lost-property office, my name is Adam Yusuf. Yesterday I arrived from Dubai on flight 204 and left a small bag on the plane. The bag is blue and made of leather. It is rectangular and about thirty centimetres long. Inside are a laptop, an Arabic book and a white charger. This bag is very important to me, because the laptop has all my school homework on it. Please call me if you find it. I will be at home every day after four o’clock. With thanks, Adam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مَصْنُوعَةٌ مِنَ الجِلْدِ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شَكْلُهَا مُسْتَطِيلٌ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طُولُهَا ثَلَاثُونَ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سَأَكُونُ فِي البَيْتِ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حَضْرَةَ المَسْؤُولِ عَنْ مَكْتَبِ المَفْقُودَاتِ المُحْتَرَمِ،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أَكْتُبُ إِلَيْكُمْ لِأُبَلِّغَ عَنْ حَقِيبَةٍ فَقَدْتُهَا أَمْسِ عَلَى مَتْنِ الرِّحْلَةِ رَقْمِ ٢٠٤ القَادِمَةِ مِنْ دُبَيّ؛ إِذْ وَضَعْتُهَا تَحْتَ المَقْعَدِ، وَنَسِيتُهَا عِنْدَ النُّزُولِ. وَهِيَ حَقِيبَةٌ جِلْدِيَّةٌ زَرْقَاءُ دَاكِنَةٌ، مُسْتَطِيلَةُ الشَّكْلِ، طُولُهَا نَحْوُ ثَلَاثِينَ سَنْتِيمِتْرًا، وَعَلَى جَانِبِهَا حَرْفَا اسْمِي مَحْفُورَانِ بِاللَّوْنِ الذَّهَبِيِّ. وَبِدَاخِلِهَا حَاسُوبٌ مَحْمُولٌ فِضِّيٌّ يَحْتَوِي عَلَى مَشْرُوعِي النِّهَائِيِّ الَّذِي يَجِبُ أَنْ أُسَلِّمَهُ الأُسْبُوعَ القَادِمَ. لِذٰلِكَ أَرْجُو أَنْ تُبْلِغُونِي فَوْرَ العُثُورِ عَلَيْهَا، وَسَأَحْضُرُ بِنَفْسِي لِاسْتِلَامِهَا مَعَ جَوَازِ سَفَرِي وَبِطَاقَةِ الصُّعُودِ إِلَى الطَّائِرَةِ.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خَالِصِ الشُّكْرِ،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آدَمُ 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lost-property officer, I am writing to report a bag I lost yesterday on flight 204 from Dubai: I put it under the seat and forgot it when getting off. It is a dark-blue leather bag, rectangular, about thirty centimetres long, with my initials engraved in gold on the side. Inside is a silver laptop containing my final project, which I must hand in next week. So please inform me as soon as it is found, and I will come in person to collect it with my passport and boarding pass. Many thanks, Adam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لِأُبَلِّغَ عَنْ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مُسْتَطِيلَةُ الشَّكْلِ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حَرْفَا اسْمِي مَحْفُورَانِ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يَجِبُ أَنْ أُسَلِّمَهُ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that matter to me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أَشْيَاءُ لَهَا قِيمَةٌ عِنْدِي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use every day · something with a memory · something you made or fixed · your opinion on old and new things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شَيْءٌ تَسْتَخْدِمُهُ كُلَّ يَوْمٍ · شَيْءٌ لَهُ ذِكْرَى · شَيْءٌ صَنَعْتَهُ أَوْ أَصْلَحْتَهُ · رَأْيُكَ فِي الأَشْيَاءِ القَدِيمَةِ وَالحَدِيثَةِ</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materials we use and the environment</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المَوَادُّ الَّتِي نَسْتَخْدِمُهَا وَالبِيئَةُ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plastic age · past and present · an experiment or example · your opinion and the solution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عَصْرُ البْلَاسْتِيكِ · المَاضِي وَالحَاضِرُ · تَجْرِبَةٌ أَوْ مِثَالٌ · رَأْيُكَ وَالحَلُّ</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everyday object — maṣnūʿ min …, lawnuhu …, shakluhu …, ṭūluhu … (gender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object with a memory — ahdāhā lī …; dāʾiriyya, maṣnūʿa min al-fiḍḍa.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something you made: ṣanaʿtu, qistu, lawwantu; kāna ṭūluhu + accusative number.</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aqwā / atwalu, sa-aṣnaʿu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مَكْتَبِي مَصْنُوعٌ مِنَ الخَشَبِ، وَطُولُهُ مِتْرٌ وَعِشْرُونَ سَنْتِيمِتْرًا.</a:t>
            </a:r>
            <a:endParaRPr lang="ar-SA" sz="19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desk is made of wood and is 1.2 m long.</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طُولُهُ أَرْبَعِينَ سَنْتِيمِتْرًا، وَلَوَّنْتُهُ بِالأَخْضَرِ.</a:t>
            </a:r>
            <a:endParaRPr lang="ar-SA" sz="22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was forty centimetres long, and I painted it green.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سَأَصْنَعُ رَفًّا لِلْكُتُبِ بِنَفْسِي.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make a bookshelf myself.</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فِي غُرْفَتِي أَشْيَاءُ كَثِيرَةٌ، لٰكِنَّ أَهَمَّهَا مَكْتَبِي. هُوَ مَصْنُوعٌ مِنَ الخَشَبِ، وَلَوْنُهُ بُنِّيٌّ فَاتِحٌ. شَكْلُهُ مُسْتَطِيلٌ، وَطُولُهُ مِتْرٌ وَعِشْرُونَ سَنْتِيمِتْرًا. عَلَيْهِ حَاسُوبِي وَكُتُبِي وَمِصْبَاحٌ صَغِيرٌ. أَجْلِسُ إِلَيْهِ كُلَّ يَوْمٍ سَاعَتَيْنِ لِأَدْرُسَ.</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عِنْدِي أَيْضًا سَاعَةٌ قَدِيمَةٌ أُحِبُّهَا كَثِيرًا. هِيَ دَائِرِيَّةٌ، وَمَصْنُوعَةٌ مِنَ الفِضَّةِ وَالجِلْدِ. أَهْدَاهَا لِي جَدِّي قَبْلَ أَنْ يُسَافِرَ إِلَى مِصْرَ، لِذٰلِكَ هِيَ مُهِمَّةٌ جِدًّا لِي، وَأَلْبَسُهَا فِي المُنَاسَبَاتِ فَقَطْ.</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فِي السَّنَةِ المَاضِيَةِ صَنَعْتُ صُنْدُوقًا خَشَبِيًّا فِي حِصَّةِ التِّكْنُولُوجْيَا. كَانَ طُولُهُ أَرْبَعِينَ سَنْتِيمِتْرًا، وَعَرْضُهُ عِشْرِينَ. لَوَّنْتُهُ بِالأَخْضَرِ، وَأَعْطَيْتُهُ لِأُمِّي هَدِيَّةً، فَوَضَعَتْ فِيهِ صُوَرَ العَائِلَةِ.</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فِي رَأْيِي، الأَشْيَاءُ المَصْنُوعَةُ مِنَ الخَشَبِ وَالمَعْدِنِ أَفْضَلُ مِنَ البْلَاسْتِيكِ، لِأَنَّهَا أَقْوَى وَتَدُومُ أَطْوَلَ. فِي المُسْتَقْبَلِ سَأَشْتَرِي أَشْيَاءَ قَلِيلَةً وَجَيِّدَةً، وَسَأَصْنَعُ رَفًّا لِلْكُتُبِ بِنَفْسِي، طُولُهُ مِتْرَانِ.</a:t>
            </a:r>
            <a:endParaRPr lang="ar-SA" sz="15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most important object is my desk: wooden, light brown, rectangular, 1.2 m long, with my computer, books and a lamp; I study at it two hours a day → my old watch: round, silver and leather, a gift from Grandad before he went to Egypt; I only wear it on special occasions → last year in DT I made a wooden box, 40 cm by 20 cm, painted it green and gave it to Mum, who keeps family photos in it → wood and metal beat plastic: stronger and longer-lasting; I’ll buy fewer, better things and make a two-metre bookshelf myself.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مَصْنُوعٌ مِنَ الخَشَبِ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دَائِرِيَّةٌ، وَمَصْنُوعَةٌ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طُولُهُ أَرْبَعِينَ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أَقْوَى وَتَدُومُ أَطْوَلَ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يُقَالُ إِنَّ الأَشْيَاءَ تَحْكِي قِصَصَ أَصْحَابِهَا، وَهٰذَا صَحِيحٌ فِي غُرْفَتِي؛ فَكُلُّ قِطْعَةٍ فِيهَا تَحْمِلُ ذِكْرَى. أَوَّلُهَا مَكْتَبٌ خَشَبِيٌّ قَدِيمٌ، طُولُهُ مِتْرٌ وَنِصْفٌ، كَانَ لِأَبِي عِنْدَمَا كَانَ طَالِبًا، وَمَا زَالَتْ آثَارُ أَقْلَامِهِ مَحْفُورَةً عَلَى سَطْحِهِ.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 أَغْلَى مَا أَمْلِكُ فَهُوَ سَاعَةٌ دَائِرِيَّةٌ مَصْنُوعَةٌ مِنَ الفِضَّةِ، أَهْدَاهَا لِي جَدِّي قَبْلَ وَفَاتِهِ؛ وَمَعَ أَنَّهَا تَتَأَخَّرُ خَمْسَ دَقَائِقَ كُلَّ يَوْمٍ، فَإِنِّي لَا أَسْتَطِيعُ أَنْ أَسْتَبْدِلَهَا بِأَيِّ سَاعَةٍ ذَكِيَّةٍ.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أَضَفْتُ إِلَى هٰذِهِ المَجْمُوعَةِ قِطْعَةً صَنَعْتُهَا بِيَدَيَّ فِي العَامِ المَاضِي: رَفًّا لِلْكُتُبِ مَصْنُوعًا مِنْ أَلْوَاحِ خَشَبٍ مُسْتَعْمَلَةٍ وَجَدْتُهَا فِي مَخْزَنِ المَدْرَسَةِ. قِسْتُ الجِدَارَ بِدِقَّةٍ، وَقَطَعْتُ الأَلْوَاحَ، ثُمَّ دَهَنْتُهَا بِاللَّوْنِ الأَبْيَضِ، فَأَصْبَحَ الرَّفُّ أَجْمَلَ مِنْ أَيِّ رَفٍّ فِي المَحَلَّاتِ.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الأَشْيَاءَ الحَدِيثَةَ أَخَفُّ وَأَرْخَصُ، غَيْرَ أَنَّهَا نَادِرًا مَا تَدُومُ أَوْ تَحْمِلُ قِيمَةً. وَلَوْ أَصْلَحْنَا أَشْيَاءَنَا بَدَلًا مِنْ رَمْيِهَا، لَوَفَّرْنَا المَالَ، وَحَافَظْنَا عَلَى ذِكْرَيَاتِنَا وَعَلَى البِيئَةِ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يُقَالُ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زَالَتْ آثَارُ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أَنَّهَا … فَإِنِّي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أَصْلَحْنَا … لَوَفَّرْنَا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materials and the environment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نَعِيشُ فِي عَصْرِ البْلَاسْتِيكِ؛ فَهُوَ فِي أَكْوَابِنَا وَمَلَابِسِنَا وَهَوَاتِفِنَا، بَلْ وَحَتَّى فِي المِيَاهِ الَّتِي نَشْرَبُهَا. فَهَلْ نَسْتَطِيعُ أَنْ نَسْتَبْدِلَهُ بِمَوَادَّ أَكْثَرَ احْتِرَامًا لِلطَّبِيعَةِ؟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كَانَتِ الأَشْيَاءُ تُصْنَعُ مِنَ الخَشَبِ وَالزُّجَاجِ وَالقُطْنِ، وَكَانَتْ تُصْلَحُ وَتُورَثُ مِنْ جِيلٍ إِلَى جِيلٍ، أَمَّا اليَوْمَ فَيُفَضِّلُ المُصَنِّعُونَ البْلَاسْتِيكَ، لِأَنَّهُ أَخَفُّ وَأَرْخَصُ، مِمَّا جَعَلَ الأَشْيَاءَ تُرْمَى بَعْدَ اسْتِعْمَالٍ قَصِيرٍ، حَتَّى أَصْبَحَتِ النُّفَايَاتُ البْلَاسْتِيكِيَّةُ تَمْلَأُ البِحَارَ وَالشَّوَاطِئَ.</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شَارَكْتُ فِي تَجْرِبَةٍ عِلْمِيَّةٍ فِي المَدْرَسَةِ دَفَنَّا فِيهَا قِطَعًا مُتَسَاوِيَةً مِنَ الوَرَقِ وَالقُطْنِ وَالبْلَاسْتِيكِ فِي التُّرْبَةِ؛ وَبَعْدَ ثَلَاثَةِ أَشْهُرٍ، اخْتَفَى الوَرَقُ تَقْرِيبًا، وَتَحَلَّلَ نِصْفُ القُطْنِ، أَمَّا البْلَاسْتِيكُ فَبَقِيَ كَمَا هُوَ تَمَامًا، حَتَّى إِنَّ لَوْنَهُ لَمْ يَتَغَيَّرْ.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المَوَادَّ الطَّبِيعِيَّةَ أَغْلَى أَحْيَانًا، غَيْرَ أَنَّ ثَمَنَ البْلَاسْتِيكِ الحَقِيقِيَّ تَدْفَعُهُ الأَجْيَالُ القَادِمَةُ. وَإِذَا دَعَمَتِ الحُكُومَاتُ الشَّرِكَاتِ الَّتِي تَسْتَخْدِمُ مَوَادَّ قَابِلَةً لِلتَّحَلُّلِ، فَسَتُصْبِحُ هٰذِهِ المَوَادُّ أَرْخَصَ وَفِي مُتَنَاوَلِ الجَمِيعِ، فِي كُلِّ بَيْتٍ وَمَدْرَسَةٍ.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بَلْ وَحَتَّى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الأَشْيَاءُ تُصْنَعُ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البْلَاسْتِيكُ فَبَقِيَ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دَعَمَتْ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colour and material are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measurement with the right number form and maṣnūʿa min.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shape, size and material.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law … la- or idhā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TC-L11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TC-L10 · Writing Workshop — Measurements, Shapes and Materials</dc:title>
  <dc:subject>PptxGenJS Presentation</dc:subject>
  <dc:creator>Al Madina Online School · Arabic Department</dc:creator>
  <cp:lastModifiedBy>Al Madina Online School · Arabic Department</cp:lastModifiedBy>
  <cp:revision>1</cp:revision>
  <dcterms:created xsi:type="dcterms:W3CDTF">2026-10-11T13:15:19Z</dcterms:created>
  <dcterms:modified xsi:type="dcterms:W3CDTF">2026-10-11T13:15:19Z</dcterms:modified>
</cp:coreProperties>
</file>