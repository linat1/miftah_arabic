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5 (Environmental Solutions and Responsibility, TC-L05), using that lesson’s language (advice (yanbaghī an); obligation (yajibu ʿalā … an); purpose (li-kay / li-); conditionals (idhā … fa-, law … la-)).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after أَنْ and لِكَيْ the verb takes fatḥa (subjunctive): نُقَلِّلُ → أَنْ نُقَلِّلَ · نَحْمِي → لِكَيْ نَحْمِيَ. Recycling: نُعِيدُ تَدْوِيرَ البْلَاسْتِيكِ.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LANGUAGE BANK (2 min) — advice: يَنْبَغِي أَنْ. Duty: يَجِبُ عَلَى + person + أَنْ. Purpose: لِكَيْ. Condition: إِذَا + past, فَـ + result: إِذَا أَطْفَأْنَا الأَضْوَاءَ، فَسَنُوَفِّرُ الطَّاقَةَ.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A (Core) — an eco-club meeting.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تَفْعَلِينَ · فِكْرَتُكِ · تَزْرَعِينَ.
Core: an aḥmiya (subjunctive), yanbaghī an naḍaʿa, li-iʿādati at-tadwīr (purpose with li- + noun).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B (Core+) — at home.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إِخْوَتَكِ · سَتُسَاعِدِينَ.
Core+: yanbaghī an + subjunctive, nastaṭīʿu an, the CANDIDATE asks (hal yumkinu an …?), li-kay nuqallila.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C (Develop) — a project report.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مَشْرُوعِكُنَّ / مَشْرُوعِكُمْ · جَمَعْتُنَّ / جَمَعْتُمْ.
Develop: past (jamaʿnā, ṣanaʿnā), numbers (khamsimiʾati zujājatin), purpose with li-kay ×2, a problem → solution (fa-), law … la- with a past verb.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PLAY D (Stretch) — a youth climate summit.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رَأْيِكِ · رَأَيْتِ.
Stretch: arā anna, alladhīna, yajibu ʿalayhā an … wa-an, a concession with sa-, ḥaythu + example, idhā lam … fa-sa-.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Develop. Examiner asks the questions in order and may add “لِمَاذَا؟ / هَلْ يُمْكِنُ أَنْ تَشْرَحَ أَكْثَرَ؟” to push for more. Candidate aims for two or three sentences, with a purpose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TC-L05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Environmental Solutions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التَّحَدُّثِ — حُلُولٌ لِلْبِيئَةِ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suggest solutions — recycling, saving water and energy, public transport — give advice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يَنْبَغِي أَنْ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say who is responsible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يَجِبُ عَلَى … أَنْ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explain purpose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cs typeface="Amiri" pitchFamily="2" charset="-78"/>
              </a:rPr>
              <a:t>لِكَيْ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 and use conditionals.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TC-L05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ACTIONS (HE · SHE · WE)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Recycle, save, protect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نَحْمِي البِيئَةَ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noun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يُعِيدُ التَّدْوِيرَ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recycles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yu-ʿī-du at-tad-wī-ra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recyclable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قَابِلٌ لِلتَّدْوِيرِ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recycling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إِعَادَةُ التَّدْوِيرِ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تُعِيدُ التَّدْوِيرَ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 · saving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يُوَفِّرُ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saves (water, energy)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yu-waf-fi-ru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saving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تَوْفِيرٌ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نُوَفِّرُ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تُوَفِّرُ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يُقَلِّلُ مِنْ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reduces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yu-qal-li-lu min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نُقَلِّلُ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تُقَلِّلُ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we · protection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يَحْمِي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protects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yaḥ-mī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protection</a:t>
            </a:r>
            <a:endParaRPr lang="en-US" sz="700" dirty="0"/>
          </a:p>
        </p:txBody>
      </p:sp>
      <p:sp>
        <p:nvSpPr>
          <p:cNvPr id="77" name="Text 74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حِمَايَةٌ</a:t>
            </a:r>
            <a:endParaRPr lang="ar-SA" sz="1350" dirty="0"/>
          </a:p>
        </p:txBody>
      </p:sp>
      <p:sp>
        <p:nvSpPr>
          <p:cNvPr id="78" name="Shape 75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نَحْمِي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تَحْمِي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1393546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13935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they · a tree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يَزْرَعُ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plants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yaz-ra-ʿu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6720840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775704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tree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6766560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شَجَرَةٌ · أَشْجَارٌ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5568696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5623560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98" name="Text 95"/>
          <p:cNvSpPr txBox="1"/>
          <p:nvPr/>
        </p:nvSpPr>
        <p:spPr>
          <a:xfrm>
            <a:off x="5614416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يَزْرَعُونَ</a:t>
            </a:r>
            <a:endParaRPr lang="ar-SA" sz="1350" dirty="0"/>
          </a:p>
        </p:txBody>
      </p:sp>
      <p:sp>
        <p:nvSpPr>
          <p:cNvPr id="99" name="Shape 96"/>
          <p:cNvSpPr/>
          <p:nvPr/>
        </p:nvSpPr>
        <p:spPr>
          <a:xfrm>
            <a:off x="441655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447141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1" name="Text 98"/>
          <p:cNvSpPr txBox="1"/>
          <p:nvPr/>
        </p:nvSpPr>
        <p:spPr>
          <a:xfrm>
            <a:off x="4462272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تَزْرَعُ</a:t>
            </a:r>
            <a:endParaRPr lang="ar-SA" sz="1500" dirty="0"/>
          </a:p>
        </p:txBody>
      </p:sp>
      <p:sp>
        <p:nvSpPr>
          <p:cNvPr id="102" name="Shape 99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5" name="Shape 102"/>
          <p:cNvSpPr/>
          <p:nvPr/>
        </p:nvSpPr>
        <p:spPr>
          <a:xfrm>
            <a:off x="960120" y="4279392"/>
            <a:ext cx="207751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960120" y="4279392"/>
            <a:ext cx="20775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solar energy · renewable (f.)</a:t>
            </a:r>
            <a:endParaRPr lang="en-US" sz="800" dirty="0"/>
          </a:p>
        </p:txBody>
      </p:sp>
      <p:sp>
        <p:nvSpPr>
          <p:cNvPr id="107" name="Shape 104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9" name="Text 106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الطَّاقَةُ</a:t>
            </a:r>
            <a:endParaRPr lang="ar-SA" sz="3000" dirty="0"/>
          </a:p>
        </p:txBody>
      </p:sp>
      <p:sp>
        <p:nvSpPr>
          <p:cNvPr id="110" name="Text 107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energy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aṭ-ṭā-qa-tu</a:t>
            </a:r>
            <a:endParaRPr lang="en-US" sz="1350" dirty="0"/>
          </a:p>
        </p:txBody>
      </p:sp>
      <p:sp>
        <p:nvSpPr>
          <p:cNvPr id="111" name="Shape 108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renewable (f.)</a:t>
            </a:r>
            <a:endParaRPr lang="en-US" sz="700" dirty="0"/>
          </a:p>
        </p:txBody>
      </p:sp>
      <p:sp>
        <p:nvSpPr>
          <p:cNvPr id="113" name="Text 110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مُتَجَدِّدَةٌ</a:t>
            </a:r>
            <a:endParaRPr lang="ar-SA" sz="1350" dirty="0"/>
          </a:p>
        </p:txBody>
      </p:sp>
      <p:sp>
        <p:nvSpPr>
          <p:cNvPr id="114" name="Shape 111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solar energy</a:t>
            </a:r>
            <a:endParaRPr lang="en-US" sz="700" dirty="0"/>
          </a:p>
        </p:txBody>
      </p:sp>
      <p:sp>
        <p:nvSpPr>
          <p:cNvPr id="116" name="Text 113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الطَّاقَةُ الشَّمْسِيَّةُ</a:t>
            </a:r>
            <a:endParaRPr lang="ar-SA" sz="1350" dirty="0"/>
          </a:p>
        </p:txBody>
      </p:sp>
      <p:sp>
        <p:nvSpPr>
          <p:cNvPr id="117" name="Text 114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ADVICE, DUTY AND PURPOSE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Should, must, so that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النَّصِيحَةُ وَالمَسْؤُولِيَّةُ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 · train · a bicycle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المُوَاصَلَاتُ العَامَّةُ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public transport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al-mu-wā-ṣa-lā-tu al-ʿām-ma-tu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bicycle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دَرَّاجَةٌ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bus · train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الحَافِلَةُ · القِطَارُ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advice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…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we should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yan-ba-ghī an …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you (m.) should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تُطْفِئَ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we should reduce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نُقَلِّلَ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obligation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عَلَى … أَنْ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… must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ya-ji-bu ʿa-lā … an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عَلَيْنَا أَنْ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government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عَلَى الحُكُومَةِ أَنْ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purpose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 that, in order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li-kay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لِنَحْمِيَ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that we protect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نَحْمِيَ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responsibility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مَسْؤُولٌ عَنْ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responsible for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mas-ʾū-lun ʿan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responsibility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مَسْؤُولِيَّةٌ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مَسْؤُولَةٌ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195315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19531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an awareness campaign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حَمْلَةٌ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campaign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ḥam-la-tun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an awareness campaign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حَمْلَةُ تَوْعِيَةٍ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حَمَلَاتٌ</a:t>
            </a:r>
            <a:endParaRPr lang="ar-SA" sz="150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AN ECO-CLUB MEETING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Joining the eco-club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فِي نَادِي البِيئَةِ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أُعِيدُ … / أُطْفِئُ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one thing you do.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فِي البَيْتِ لِلْبِيئَةِ؟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one idea.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فِكْرَتُكَ لِلْمَدْرَسَةِ؟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… وَأَيْنَ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and where.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نَجْتَمِعُ كُلَّ أُسْبُوعٍ.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أَزْرَعُ …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تَزْرَعُ شَيْئًا فِي البَيْتِ؟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new member  ·  The examiner is: the club leader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HOME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A greener family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أُسْرَةٌ صَدِيقَةٌ لِلْبِيئَةِ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نُطْفِئَ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way to save energy.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فَاتُورَةُ الكَهْرَبَاءِ غَالِيَةٌ جِدًّا هٰذَا الشَّهْرَ!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نَسْتَطِيعُ أَنْ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 way to save water.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وَالمَاءُ؟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for a family meeting.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فِكْرَةٌ جَيِّدَةٌ، لٰكِنَّ إِخْوَتَكَ لَا يَسْمَعُونَ!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نَسْتَطِيعُ أَنْ … لِكَيْ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 an alternative and its purpose.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السَّيَّارَةِ؟ نَسْتَخْدِمُهَا كُلَّ يَوْمٍ.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سَأَفْرِزُ … وَ…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سَتُسَاعِدُ فِي فَرْزِ النُّفَايَاتِ؟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teenager  ·  The examiner is: your father or mother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PROJECT REPORT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Our recycling project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مَشْرُوعُ إِعَادَةِ التَّدْوِيرِ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جَمَعْنَا … وَصَنَعْنَا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did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مَشْرُوعِكُمْ.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جَمَعْنَا … فِي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number and a time.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زُجَاجَةً جَمَعْتُمْ؟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… وَلِكَيْ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purpose.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اخْتَرْتُمْ هٰذَا المَشْرُوعَ؟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… لٰكِنَّنَا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difficulty and how you solved it.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الصُّعُوبَاتُ الَّتِي وَاجَهْتُمُوهَا؟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فُزْنَا، لَاشْتَرَيْنَا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فُزْتُمْ بِالجَائِزَةِ، مَاذَا تَفْعَلُونَ بِالمَالِ؟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the project leader  ·  The examiner is: a teacher on the judging panel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YOUTH CLIMATE SUMMIT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Who should act first?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مَنْ يَجِبُ أَنْ يَبْدَأَ؟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clear opinion with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مَنِ المَسْؤُولُ عَنْ حِمَايَةِ البِيئَةِ فِي رَأْيِكَ؟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عَلَيْهَا أَنْ … وَأَنْ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Make two demands.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يَجِبُ عَلَى البَلَدِيَّةِ أَنْ تَفْعَلَ؟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counter.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مُكْلِفٌ جِدًّا!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… حَيْثُ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from another place.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رَأَيْتَ هٰذِهِ الحُلُولَ تَنْجَحُ فِي مَكَانٍ آخَرَ؟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لَمْ تُوَافِقْ، فَسَنُطْلِقُ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(condition + 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وَإِذَا لَمْ تُوَافِقِ البَلَدِيَّةُ؟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delegate  ·  The examiner is: a city councillor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suggested a solution with yanbaghī an or yajibu an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who is responsible (yajibu ʿalā …) and gave a purpose (li-kay)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لِأَنِّي أُرِيدُ أَنْ أَحْمِيَ البِيئَةَ.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want to protect the environment.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أَهْلًا! لِمَاذَا تُرِيدُ أَنْ تَنْضَمَّ إِلَى النَّادِي؟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أُطْفِئُ الأَضْوَاءَ عِنْدَمَا أَخْرُجُ مِنَ الغُرْفَةِ.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switch off the lights when I leave the room.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فِي البَيْتِ لِلْبِيئَةِ؟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نَضَعَ سَلَّاتٍ لِإِعَادَةِ التَّدْوِيرِ فِي كُلِّ صَفٍّ.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put recycling bins in every classroom.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فِكْرَتُكَ لِلْمَدْرَسَةِ؟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مَتَى وَأَيْنَ نَجْتَمِعُ؟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and where do we meet?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نَجْتَمِعُ كُلَّ أُسْبُوعٍ.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أَزْرَعُ الطَّمَاطِمَ وَالنَّعْنَاعَ فِي الحَدِيقَةِ.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grow tomatoes and mint in the garden.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تَزْرَعُ شَيْئًا فِي البَيْتِ؟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نُطْفِئَ الأَجْهِزَةَ فِي اللَّيْلِ.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switch the devices off at night.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فَاتُورَةُ الكَهْرَبَاءِ غَالِيَةٌ جِدًّا هٰذَا الشَّهْرَ!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نَسْتَطِيعُ أَنْ نَسْتَحِمَّ فِي خَمْسِ دَقَائِقَ فَقَطْ.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can shower in only five minutes.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وَالمَاءُ؟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يُمْكِنُ أَنْ نَعْقِدَ اجْتِمَاعًا عَائِلِيًّا يَوْمَ الجُمُعَةِ؟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Could we hold a family meeting on Friday?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فِكْرَةٌ جَيِّدَةٌ، لٰكِنَّ إِخْوَتَكَ لَا يَسْمَعُونَ!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نَسْتَطِيعُ أَنْ نَمْشِيَ إِلَى السُّوقِ، لِكَيْ نُقَلِّلَ مِنَ التَّلَوُّثِ وَنُحَافِظَ عَلَى صِحَّتِنَا.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can walk to the shops, to reduce pollution and keep healthy.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وَمَاذَا عَنِ السَّيَّارَةِ؟ نَسْتَخْدِمُهَا كُلَّ يَوْمٍ.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سَأَفْرِزُ الوَرَقَ وَالبْلَاسْتِيكَ كُلَّ أُسْبُوعٍ.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sort the paper and plastic every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سَتُسَاعِدُ فِي فَرْزِ النُّفَايَاتِ؟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جَمَعْنَا الزُّجَاجَاتِ البْلَاسْتِيكِيَّةَ مِنَ المَدْرَسَةِ، وَصَنَعْنَا مِنْهَا حَدِيقَةً عَمُودِيَّةً.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collected plastic bottles from school and made a vertical garden from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حَدِّثْنَا عَنْ مَشْرُوعِكُمْ.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جَمَعْنَا أَكْثَرَ مِنْ خَمْسِمِئَةِ زُجَاجَةٍ فِي شَهْرٍ وَاحِدٍ.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collected more than five hundred bottles in one month.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كَمْ زُجَاجَةً جَمَعْتُمْ؟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نُقَلِّلَ النُّفَايَاتِ، وَلِكَيْ نُعَلِّمَ الطُّلَّابَ أَنَّ البْلَاسْتِيكَ لَهُ حَيَاةٌ ثَانِيَةٌ.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reduce waste, and to teach students that plastic has a second life.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اخْتَرْتُمْ هٰذَا المَشْرُوعَ؟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فِي البِدَايَةِ لَمْ يَهْتَمَّ الطُّلَّابُ، لٰكِنَّنَا عَمِلْنَا مُسَابَقَةً بَيْنَ الصُّفُوفِ، فَتَحَمَّسَ الجَمِيعُ.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first students weren’t interested, but we ran a competition between classes, and everyone got excited.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الصُّعُوبَاتُ الَّتِي وَاجَهْتُمُوهَا؟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فُزْنَا، لَاشْتَرَيْنَا أَلْوَاحًا شَمْسِيَّةً لِسَقْفِ المَدْرَسَةِ.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won, we would buy solar panels for the school roof.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فُزْتُمْ بِالجَائِزَةِ، مَاذَا تَفْعَلُونَ بِالمَالِ؟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 المَسْؤُولِيَّةَ مُشْتَرَكَةٌ، لِأَنَّ الحُكُومَاتِ تَضَعُ القَوَانِينَ، لٰكِنَّ الأَفْرَادَ هُمُ الَّذِينَ يُطَبِّقُونَهَا.</a:t>
            </a:r>
            <a:endParaRPr lang="ar-SA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the responsibility is shared: governments make laws, but individuals apply them.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مَنِ المَسْؤُولُ عَنْ حِمَايَةِ البِيئَةِ فِي رَأْيِكَ؟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يَجِبُ عَلَيْهَا أَنْ تُخَفِّضَ أَسْعَارَ الحَافِلَاتِ لِلطُّلَّابِ، وَأَنْ تُنْشِئَ مَمَرَّاتٍ آمِنَةً لِلدَّرَّاجَاتِ.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must lower bus fares for students, and build safe cycle lanes.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يَجِبُ عَلَى البَلَدِيَّةِ أَنْ تَفْعَلَ؟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أَنَّهُ مُكْلِفٌ فِي البِدَايَةِ، غَيْرَ أَنَّهُ سَيُوَفِّرُ مَلَايِينَ الجُنَيْهَاتِ مِنْ تَكَالِيفِ العِلَاجِ وَالطُّرُقِ.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costly at first, but it will save millions of pounds in health and road costs.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هٰذَا مُكْلِفٌ جِدًّا!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فِي أَمْسْتِرْدَامَ حَيْثُ يَذْهَبُ أَكْثَرُ مِنْ نِصْفِ السُّكَّانِ إِلَى العَمَلِ بِالدَّرَّاجَةِ، فَأَصْبَحَ الهَوَاءُ أَنْظَفَ بِكَثِيرٍ.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Amsterdam, where over half the people cycle to work, and the air has become much cleaner.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رَأَيْتَ هٰذِهِ الحُلُولَ تَنْجَحُ فِي مَكَانٍ آخَرَ؟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لَمْ تُوَافِقْ، فَسَنُطْلِقُ حَمْلَةَ تَوْقِيعَاتٍ، وَسَنَكْتُبُ إِلَى الصُّحُفِ المَحَلِّيَّةِ.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it doesn’t agree, we’ll launch a petition and write to the local papers.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وَإِذَا لَمْ تُوَافِقِ البَلَدِيَّةُ؟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shared-responsibility opinion, two demands, a concession, a real-world example and a conditional plan.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أَنَا وَالبِيئَةُ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نُعِيدُ تَدْوِيرَ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recycle at home?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تُعِيدُ التَّدْوِيرَ فِي البَيْتِ؟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أُغْلِقُ … عِنْدَمَا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save water?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تُوَفِّرُ المَاءَ؟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… بِالحَافِلَةِ / مَشْيًا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school?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should we do for the environment?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يَنْبَغِي أَنْ نَفْعَلَ لِلْبِيئَةِ؟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أَسْتَخْدِمُ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use plastic bags?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تَسْتَخْدِمُ أَكْيَاسَ البْلَاسْتِيكِ؟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حُلُولٌ عَمَلِيَّةٌ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تُنَظِّمُ مَدْرَسَتِي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your school do to protect the environment?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مَدْرَسَتُكَ لِحِمَايَةِ البِيئَةِ؟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… أَمَّا الآنَ فَأَحْمِلُ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have you changed in your habits for the environment?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غَيَّرْتَهُ فِي عَادَاتِكَ لِلْبِيئَةِ؟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نُقَلِّلَ … وَ…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should we use public transport?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يَنْبَغِي أَنْ نَسْتَخْدِمَ المُوَاصَلَاتِ العَامَّةَ؟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شَارَكْتُ فِي … حَيْثُ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Have you taken part in an environmental campaign?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شَارَكْتَ فِي حَمْلَةٍ بِيئِيَّةٍ؟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أَطْفَأْنَا …، فَسَنُوَفِّرُ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switch off devices, what happens?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أَطْفَأْنَا الأَجْهِزَةَ، مَاذَا يَحْدُثُ؟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purpose (li-kay), a past change and a condition.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مَسْؤُولِيَّةُ مَنْ؟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أَنَّهُ يَجِبُ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the government ban plastic bags?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عَلَى الحُكُومَةِ أَنْ تَمْنَعَ أَكْيَاسَ البْلَاسْتِيكِ؟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one person change anything?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يَسْتَطِيعُ فَرْدٌ وَاحِدٌ أَنْ يُغَيِّرَ شَيْئًا؟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 you think of electric cars?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السَّيَّارَاتِ الكَهْرَبَائِيَّةِ؟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يُمْكِنُ أَنْ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can we persuade adults to change their habits?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يُمْكِنُ أَنْ نُقْنِعَ الكِبَارَ بِتَغْيِيرِ عَادَاتِهِمْ؟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وَزِيرًا، لَجَعَلْتُ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environment minister, what would you do first?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وَزِيرًا لِلْبِيئَةِ، مَاذَا تَفْعَلُ أَوَّلًا؟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arā anna, a concession, a balanced view, li-kay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نُعِيدُ تَدْوِيرَ الوَرَقِ وَالبْلَاسْتِيكِ.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we recycle paper and plastic.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تُعِيدُ التَّدْوِيرَ فِي البَيْتِ؟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أُغْلِقُ الحَنَفِيَّةَ عِنْدَمَا أُنَظِّفُ أَسْنَانِي.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turn off the tap when I brush my teeth.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تُوَفِّرُ المَاءَ؟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أَذْهَبُ إِلَى المَدْرَسَةِ بِالحَافِلَةِ.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to school by bus.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يَنْبَغِي أَنْ نَزْرَعَ أَشْجَارًا كَثِيرَةً.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should plant lots of trees.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يَنْبَغِي أَنْ نَفْعَلَ لِلْبِيئَةِ؟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لَا، أَسْتَخْدِمُ حَقِيبَةً مِنَ القُمَاشِ.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 use a cloth bag.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تَسْتَخْدِمُ أَكْيَاسَ البْلَاسْتِيكِ؟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yanbaghī an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تُنَظِّمُ مَدْرَسَتِي يَوْمًا لِلتَّنْظِيفِ كُلَّ شَهْرٍ، وَعِنْدَنَا أَلْوَاحٌ شَمْسِيَّةٌ عَلَى السَّقْفِ.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school organises a clean-up day every month, and we have solar panels on the roof.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مَاذَا تَفْعَلُ مَدْرَسَتُكَ لِحِمَايَةِ البِيئَةِ؟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كُنْتُ أَشْتَرِي زُجَاجَةَ مَاءٍ كُلَّ يَوْمٍ، أَمَّا الآنَ فَأَحْمِلُ زُجَاجَتِي الخَاصَّةَ.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used to buy a bottle of water every day; now I carry my own bottle.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الَّذِي غَيَّرْتَهُ فِي عَادَاتِكَ لِلْبِيئَةِ؟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لِكَيْ نُقَلِّلَ مِنْ زَحْمَةِ المُرُورِ وَالتَّلَوُّثِ، وَلِأَنَّهَا أَرْخَصُ مِنَ السَّيَّارَةِ.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reduce traffic and pollution, and because it is cheaper than a car.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لِمَاذَا يَنْبَغِي أَنْ نَسْتَخْدِمَ المُوَاصَلَاتِ العَامَّةَ؟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نَعَمْ، شَارَكْتُ فِي حَمْلَةٍ لِزِرَاعَةِ الأَشْجَارِ، حَيْثُ زَرَعْنَا خَمْسِينَ شَجَرَةً فِي يَوْمٍ وَاحِدٍ.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in a tree-planting campaign, where we planted fifty trees in one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شَارَكْتَ فِي حَمْلَةٍ بِيئِيَّةٍ؟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أَطْفَأْنَا الأَجْهِزَةَ، فَسَنُوَفِّرُ الطَّاقَةَ وَالمَالَ مَعًا.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we switch off devices, we will save energy and money together.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إِذَا أَطْفَأْنَا الأَجْهِزَةَ، مَاذَا يَحْدُثُ؟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Purpose + past + condition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أَرَى أَنَّهُ يَجِبُ عَلَيْهَا ذٰلِكَ، لِأَنَّ التَّجْرِبَةَ أَثْبَتَتْ أَنَّ النَّاسَ يَتَعَوَّدُونَ عَلَى البَدَائِلِ بِسُرْعَةٍ.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it should, because experience has shown people get used to alternatives quickly.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يَجِبُ عَلَى الحُكُومَةِ أَنْ تَمْنَعَ أَكْيَاسَ البْلَاسْتِيكِ؟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صَحِيحٌ أَنَّ تَأْثِيرَ الفَرْدِ صَغِيرٌ، غَيْرَ أَنَّ مَلَايِينَ الأَفْرَادِ يَصْنَعُونَ فَرْقًا كَبِيرًا، كَمَا أَنَّ المِثَالَ الجَيِّدَ يَنْتَشِرُ.</a:t>
            </a:r>
            <a:endParaRPr lang="ar-SA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person’s impact is small, but millions make a big difference — and a good example spreads.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هَلْ يَسْتَطِيعُ فَرْدٌ وَاحِدٌ أَنْ يُغَيِّرَ شَيْئًا؟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مِنْ نَاحِيَةٍ، لَا تُخْرِجُ دُخَانًا فِي المَدِينَةِ، وَمِنْ نَاحِيَةٍ أُخْرَى، مَا زَالَتْ غَالِيَةً، وَتَحْتَاجُ بَطَّارِيَّاتُهَا إِلَى مَعَادِنَ نَادِرَةٍ.</a:t>
            </a:r>
            <a:endParaRPr lang="ar-SA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 one hand, no fumes in the city; on the other, they are still expensive and their batteries need rare metals.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مَا رَأْيُكَ فِي السَّيَّارَاتِ الكَهْرَبَائِيَّةِ؟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ṣaḥīḥun anna … ghayra anna, min nāḥiya …, purpose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يُمْكِنُ أَنْ نُبَيِّنَ لَهُمْ كَمْ سَيُوَفِّرُونَ مِنَ المَالِ، لِكَيْ يَرَوْا الفَائِدَةَ بِأَعْيُنِهِمْ.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can show them how much money they’ll save, so they see the benefit for themselves.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كَيْفَ يُمْكِنُ أَنْ نُقْنِعَ الكِبَارَ بِتَغْيِيرِ عَادَاتِهِمْ؟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كُنْتُ وَزِيرًا لِلْبِيئَةِ، لَجَعَلْتُ المُوَاصَلَاتِ العَامَّةَ مَجَّانِيَّةً لِلطُّلَّابِ، وَلَزَرَعْتُ غَابَةً حَوْلَ كُلِّ مَدِينَةٍ.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environment minister, I’d make public transport free for students and plant a forest round every city.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cs typeface="Amiri" pitchFamily="2" charset="-78"/>
              </a:rPr>
              <a:t>لَوْ كُنْتَ وَزِيرًا لِلْبِيئَةِ، مَاذَا تَفْعَلُ أَوَّلًا؟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evidence, ṣaḥīḥun anna … ghayra anna, min nāḥiya …, purpose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TC-L05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TC-L05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suggested solutions with yanbaghī an or nastaṭīʿu an.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what I do at home to help the environment.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purpose with li-kay and the right verb ending.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who must act (yajibu ʿalā … an).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concession, a balanced view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TC-L05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TC-L05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TC-L05 · Speaking Workshop — Environmental Solutions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2026-10-11T09:44:18Z</dcterms:created>
  <dcterms:modified xsi:type="dcterms:W3CDTF">2026-10-11T09:44:18Z</dcterms:modified>
</cp:coreProperties>
</file>