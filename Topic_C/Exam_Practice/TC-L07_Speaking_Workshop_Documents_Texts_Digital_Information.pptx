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C, Lesson 7 (Documents, Texts and Digital Information, TC-L07), using that lesson’s language (booking in all tenses (aḥjizu · ḥajaztu · sa-aḥjizu · uqīmu fī); form imperatives (aḥḍir, sajjil, imlaʾ); the passive (yursalu, tuqbalu); relative pronouns (alladhī · allatī · alladhīna)).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the same verb across three tenses: أَحْجِزُ (now) · حَجَزْتُ (past) · سَأَحْجِزُ (future). أُقِيمُ فِي فُنْدُقٍ · أَقَمْتُ فِي … · سَأُقِيمُ فِي 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instructions on forms are imperatives: امْلَأْ · سَجِّلْ · أَحْضِرْ · اكْتُبْ. Passive: تُرْسَلُ التَّذَاكِرُ بِالبَرِيدِ الإِلِكْتْرُونِيِّ (the tickets are sent by email).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a hotel reception.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أُسَاعِدُكِ · سَتُقِيمِينَ · غُرْفَتُكِ · هَاتِفِكِ.
Core: ḥajzun bi-smi …, sa-uqīmu, thalātha layālin (3–10 + plural), tafaḍḍal / tafaḍḍalī, digits read one by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a phone booking.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تُرِيدِينَ · تُسَافِرِي · تَسْتَلِمِي.
Core+: arbaʿa tadhākira (diptote), the CANDIDATE asks (mā al-farq …?), sa-aḥjizu + a comparative reason, a passive subjunctive (an turshala).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a booking problem.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عِنْدَكِ · لَكِ · سَتَحْجِزِينَ.
Develop: ḥajaztu (past) vs sa-aḥjizu (future), allatī + a resumptive pronoun, passives (ursila, tunqala), hal yumkinu an, a condition with idhā.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summer course application.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مَلَأْتِ · اخْتَرْتِ · دَرَسْتِ · تُقْبَلِي.
Stretch: mā ʿadā, lam … baʿdu, al-waḥīda allatī, ḥaythu, passives (yushtaraṭu, tuqbal / uqbal), a concession and law lam … la-.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two tenses and a relative clause.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C · EXAM PRACTICE  ·  TC-L07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TC-L07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Documents and Digital Information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الوَثَائِقُ وَالمَعْلُومَاتُ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book hotels, tickets and courses, ask for and give personal details, understand instructions on forms and websites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أَحْضِرْ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سَجِّلْ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امْلَأْ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 and talk about bookings in the past, present and future.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Advanced Topic C · The World Around Us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C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C › TC-L07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BOOKING IN ALL TENSES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Book, stay, ticket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الحَجْزُ وَالإِقَامَةُ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all tenses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أَحْجِزُ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book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aḥ-ji-zu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booking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حَجْزٌ · حُجُوزَاتٌ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future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سَأَحْجِزُ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حَجَزْتُ</a:t>
            </a:r>
            <a:endParaRPr lang="ar-SA" sz="135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 + fī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أُقِيمُ فِي …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stay in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u-qī-mu fī …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stay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إِقَامَةٌ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future</a:t>
            </a:r>
            <a:endParaRPr lang="en-US" sz="70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سَأُقِيمُ</a:t>
            </a:r>
            <a:endParaRPr lang="ar-SA" sz="135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أَقَمْتُ</a:t>
            </a:r>
            <a:endParaRPr lang="ar-SA" sz="135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return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تَذْكِرَةٌ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ticket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tadh-ki-ra-tun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return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ذَهَابٌ وَإِيَابٌ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تَذَاكِرُ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8604504" y="4279392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604504" y="4279392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an ID card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جَوَازُ السَّفَرِ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passport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ja-wā-zu as-sa-fa-ri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an ID card</a:t>
            </a:r>
            <a:endParaRPr lang="en-US" sz="700" dirty="0"/>
          </a:p>
        </p:txBody>
      </p:sp>
      <p:sp>
        <p:nvSpPr>
          <p:cNvPr id="77" name="Text 74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بِطَاقَةُ الهُوِيَّةِ</a:t>
            </a:r>
            <a:endParaRPr lang="ar-SA" sz="1350" dirty="0"/>
          </a:p>
        </p:txBody>
      </p:sp>
      <p:sp>
        <p:nvSpPr>
          <p:cNvPr id="78" name="Shape 75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جَوَازَاتُ السَّفَرِ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2" name="Shape 79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4782312" y="4279392"/>
            <a:ext cx="176662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4782312" y="4279392"/>
            <a:ext cx="176662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fill in! (m. · f.)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8" name="Text 85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اسْتِمَارَةٌ</a:t>
            </a:r>
            <a:endParaRPr lang="ar-SA" sz="3000" dirty="0"/>
          </a:p>
        </p:txBody>
      </p:sp>
      <p:sp>
        <p:nvSpPr>
          <p:cNvPr id="89" name="Text 86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form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as-ti-mā-ra-tun</a:t>
            </a:r>
            <a:endParaRPr lang="en-US" sz="1350" dirty="0"/>
          </a:p>
        </p:txBody>
      </p:sp>
      <p:sp>
        <p:nvSpPr>
          <p:cNvPr id="90" name="Shape 87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fill in! (m. · f.)</a:t>
            </a:r>
            <a:endParaRPr lang="en-US" sz="700" dirty="0"/>
          </a:p>
        </p:txBody>
      </p:sp>
      <p:sp>
        <p:nvSpPr>
          <p:cNvPr id="92" name="Text 89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امْلَأْ · امْلَئِي</a:t>
            </a:r>
            <a:endParaRPr lang="ar-SA" sz="1350" dirty="0"/>
          </a:p>
        </p:txBody>
      </p:sp>
      <p:sp>
        <p:nvSpPr>
          <p:cNvPr id="93" name="Shape 90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اسْتِمَارَاتٌ</a:t>
            </a:r>
            <a:endParaRPr lang="ar-SA" sz="1500" dirty="0"/>
          </a:p>
        </p:txBody>
      </p:sp>
      <p:sp>
        <p:nvSpPr>
          <p:cNvPr id="96" name="Shape 93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7" name="Shape 94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960120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960120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imperative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3" name="Text 100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سَجِّلْ</a:t>
            </a:r>
            <a:endParaRPr lang="ar-SA" sz="3000" dirty="0"/>
          </a:p>
        </p:txBody>
      </p:sp>
      <p:sp>
        <p:nvSpPr>
          <p:cNvPr id="104" name="Text 101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register!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saj-jil</a:t>
            </a:r>
            <a:endParaRPr lang="en-US" sz="1350" dirty="0"/>
          </a:p>
        </p:txBody>
      </p:sp>
      <p:sp>
        <p:nvSpPr>
          <p:cNvPr id="105" name="Shape 102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registration</a:t>
            </a:r>
            <a:endParaRPr lang="en-US" sz="700" dirty="0"/>
          </a:p>
        </p:txBody>
      </p:sp>
      <p:sp>
        <p:nvSpPr>
          <p:cNvPr id="107" name="Text 104"/>
          <p:cNvSpPr txBox="1"/>
          <p:nvPr/>
        </p:nvSpPr>
        <p:spPr>
          <a:xfrm>
            <a:off x="2944368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التَّسْجِيلُ</a:t>
            </a:r>
            <a:endParaRPr lang="ar-SA" sz="1350" dirty="0"/>
          </a:p>
        </p:txBody>
      </p:sp>
      <p:sp>
        <p:nvSpPr>
          <p:cNvPr id="108" name="Shape 105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10" name="Text 107"/>
          <p:cNvSpPr txBox="1"/>
          <p:nvPr/>
        </p:nvSpPr>
        <p:spPr>
          <a:xfrm>
            <a:off x="179222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سَجِّلُوا</a:t>
            </a:r>
            <a:endParaRPr lang="ar-SA" sz="1500" dirty="0"/>
          </a:p>
        </p:txBody>
      </p:sp>
      <p:sp>
        <p:nvSpPr>
          <p:cNvPr id="111" name="Shape 108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13" name="Text 110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سَجِّلِي</a:t>
            </a:r>
            <a:endParaRPr lang="ar-SA" sz="1500" dirty="0"/>
          </a:p>
        </p:txBody>
      </p:sp>
      <p:sp>
        <p:nvSpPr>
          <p:cNvPr id="114" name="Text 11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FORMS, INSTRUCTIONS AND THE PASSIVE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Fill in, register, bring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التَّعْلِيمَاتُ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imperative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أَحْضِرْ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bring!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aḥ-ḍir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أَحْضِرُوا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أَحْضِرِي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213969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an email message · the address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البَرِيدُ الإِلِكْتْرُونِيُّ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email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al-ba-rī-du al-i-likt-rū-niy-yu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address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العُنْوَانُ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an email message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رِسَالَةٌ إِلِكْتْرُونِيَّةٌ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195315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19531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date of birth · nationality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رَقْمُ الهَاتِفِ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phone number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raq-mu al-hā-ti-fi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nationality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الجِنْسِيَّةُ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date of birth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تَارِيخُ المِيلَادِ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passive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يُرْسَلُ · تُرْسَلُ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is sent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yur-sa-lu · tur-sa-lu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is accepted (f.)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تُقْبَلُ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active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يُرْسِلُ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133136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13313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confirmation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مُؤَكَّدٌ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confirmed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mu-ʾak-ka-dun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confirmation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تَأْكِيدٌ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مُؤَكَّدَةٌ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relatives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الَّذِي · الَّتِي · الَّذِينَ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/ which (m. · f. · pl.)</a:t>
            </a:r>
            <a:endParaRPr lang="en-US" sz="1350" dirty="0"/>
          </a:p>
          <a:p>
            <a:pPr indent="0" marL="0">
              <a:buNone/>
            </a:pPr>
            <a:r>
              <a:rPr lang="ar-SA" sz="1100" i="1" dirty="0">
                <a:solidFill>
                  <a:srgbClr val="5A6472"/>
                </a:solidFill>
                <a:latin typeface="Calibri" pitchFamily="34" charset="0"/>
                <a:ea typeface="Amiri" pitchFamily="2" charset="-78"/>
                <a:cs typeface="Amiri" pitchFamily="2" charset="-78"/>
              </a:rPr>
              <a:t>al-َ-dhī · al-َ-tī · al-َ-dhī-na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594360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649224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room which I booked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640080" y="591616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الغُرْفَةُ الَّتِي حَجَزْتُهَا</a:t>
            </a:r>
            <a:endParaRPr lang="ar-SA" sz="1350" dirty="0"/>
          </a:p>
        </p:txBody>
      </p:sp>
      <p:sp>
        <p:nvSpPr>
          <p:cNvPr id="102" name="Text 9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HOTEL RECEPTION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Checking in at a hotel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اسْتِقْبَالِ الفُنْدُقِ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حَجْزٌ بِاسْمِ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you have a booking.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مَسَاءَ الخَيْرِ! كَيْفَ أُسَاعِدُكَ؟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سَأُقِيمُ … لَيَالٍ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many nights.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لَيْلَةً سَتُقِيمُ عِنْدَنَا؟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تَفَضَّلْ، هٰذَا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Hand it over politely.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جَوَازَ السَّفَرِ مِنْ فَضْلِكَ.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breakfast.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غُرْفَتُكَ فِي الطَّابِقِ الرَّابِعِ.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رَقْمُ هَاتِفِي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رَقْمُ هَاتِفِكَ؟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guest  ·  The examiner is: the receptionist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PHONE BOOKING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Booking train tickets by phone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حَجْزُ تَذَاكِرِ القِطَارِ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أُسَافِرَ إِلَى … يَوْمَ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 and when.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أَهْلًا، إِلَى أَيْنَ تُرِيدُ أَنْ تُسَافِرَ؟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ذَهَابٌ وَإِيَابٌ، … تَذَاكِرَ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return and how many tickets.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ذَهَابٌ فَقَطْ؟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الفَرْقُ …؟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the difference.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هُنَاكَ قِطَارٌ فِي السَّاعَةِ الثَّامِنَةِ، وَقِطَارٌ فِي الظُّهْرِ.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سَأَحْجِزُ … لِأَنَّ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Choose and give a reason.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قِطَارُ الثَّامِنَةِ أَسْرَعُ، لٰكِنَّهُ أَغْلَى.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أَرْجُو أَنْ تُرْسَلَ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تُرِيدُ أَنْ تَسْتَلِمَ التَّذَاكِرَ؟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traveller  ·  The examiner is: a ticket-office employee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BOOKING PROBLEM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There is a problem with my booking</a:t>
            </a:r>
            <a:endParaRPr lang="en-US" sz="19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مُشْكِلَةٌ فِي الحَجْزِ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حَجَزْتُ … لٰكِنَّ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what you booked (past) and the problem.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تَفَضَّلْ، مَا المُشْكِلَةُ؟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أُرْسِلَ إِلَيَّ … قَبْلَ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and when you received it.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تَأْكِيدُ الحَجْزِ؟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إِذَنْ هَلْ يُمْكِنُ أَنْ … 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Propose a solution.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أَعْتَذِرُ جِدًّا. الفُنْدُقُ مُمْتَلِئٌ اللَّيْلَةَ.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شُكْرًا … وَأَرْجُو أَنْ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Accept and add a request.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طَبْعًا، وَسَنُقَدِّمُ لَكَ عَشَاءً مَجَّانِيًّا.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رُبَّمَا، سَأَحْجِزُ … إِذَا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سَتَحْجِزُ عِنْدَنَا مَرَّةً أُخْرَى؟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hotel guest  ·  The examiner is: the hotel manager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SUMMER COURSE APPLICATION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Interview for a summer Arabic course</a:t>
            </a:r>
            <a:endParaRPr lang="en-US" sz="18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مُقَابَلَةُ القَبُولِ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مَلَأْتُهَا … مَا عَدَا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Confirm and say what is missing.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مَلَأْتَ الاسْتِمَارَةَ كُلَّهَا؟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الدَّوْرَةُ الوَحِيدَةُ الَّتِي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with a relative clause.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اخْتَرْتَ هٰذِهِ الدَّوْرَةَ بِالذَّاتِ؟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… حَيْثُ … فَتَعَلَّمْتُ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past experience and what you learnt.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دَرَسْتَ فِي الخَارِجِ مِنْ قَبْلُ؟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أَنِّي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reassure.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يُشْتَرَطُ أَنْ يَتَكَلَّمَ الطَّالِبُ العَرَبِيَّةَ فَقَطْ.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أُقْبَلْ، لَدَرَسْتُ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(conditional).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تُقْبَلْ هٰذِهِ السَّنَةَ، مَاذَا تَفْعَلُ؟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an applicant  ·  The examiner is: the course director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personal details clearly and booked something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booking verbs in two tenses and a relative pronoun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حَجْزٌ بِاسْمِ يُوسُفَ أَحْمَدَ.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have a booking in the name of Yusuf Ahmed.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مَسَاءَ الخَيْرِ! كَيْفَ أُسَاعِدُكَ؟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سَأُقِيمُ ثَلَاثَ لَيَالٍ.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will stay three nights.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لَيْلَةً سَتُقِيمُ عِنْدَنَا؟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تَفَضَّلْ، هٰذَا جَوَازُ سَفَرِي.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Here you are, this is my passport.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جَوَازَ السَّفَرِ مِنْ فَضْلِكَ.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الفُطُورُ مِنْ فَضْلِكَ؟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is breakfast, please?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غُرْفَتُكَ فِي الطَّابِقِ الرَّابِعِ.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رَقْمُ هَاتِفِي صِفْرٌ سَبْعَةٌ سَبْعَةٌ، ثَلَاثَةٌ أَرْبَعَةٌ خَمْسَةٌ.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number is 077 345 …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رَقْمُ هَاتِفِكَ؟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أُسَافِرَ إِلَى الإِسْكَنْدَرِيَّةِ يَوْمَ الخَمِيسِ.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travel to Alexandria on Thursday.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أَهْلًا، إِلَى أَيْنَ تُرِيدُ أَنْ تُسَافِرَ؟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ذَهَابٌ وَإِيَابٌ، وَأُرِيدُ أَرْبَعَ تَذَاكِرَ لِأُسْرَتِي.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return, and I want four tickets for my family.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ذَهَابٌ فَقَطْ؟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الفَرْقُ بَيْنَهُمَا فِي السِّعْرِ وَالمُدَّةِ؟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What’s the difference between them in price and journey time?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هُنَاكَ قِطَارٌ فِي السَّاعَةِ الثَّامِنَةِ، وَقِطَارٌ فِي الظُّهْرِ.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سَأَحْجِزُ قِطَارَ الظُّهْرِ، لِأَنَّهُ أَرْخَصُ، وَلَسْنَا مُسْتَعْجِلِينَ.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book the midday train, because it is cheaper and we’re not in a hurry.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قِطَارُ الثَّامِنَةِ أَسْرَعُ، لٰكِنَّهُ أَغْلَى.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أَرْجُو أَنْ تُرْسَلَ التَّذَاكِرُ إِلَى بَرِيدِي الإِلِكْتْرُونِيِّ.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Please send the tickets to my email (lit. I hope the tickets are sent …).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تُرِيدُ أَنْ تَسْتَلِمَ التَّذَاكِرَ؟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حَجَزْتُ غُرْفَةً مُطِلَّةً عَلَى البَحْرِ، لٰكِنَّ الغُرْفَةَ الَّتِي أَعْطَيْتُمُونِي إِيَّاهَا تُطِلُّ عَلَى المَوْقِفِ.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booked a sea-view room, but the room you gave me overlooks the car park.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تَفَضَّلْ، مَا المُشْكِلَةُ؟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أُرْسِلَ إِلَيَّ التَّأْكِيدُ بِالبَرِيدِ الإِلِكْتْرُونِيِّ قَبْلَ أُسْبُوعَيْنِ، وَهُوَ عَلَى هَاتِفِي.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the confirmation was emailed to me two weeks ago; it’s on my phone.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تَأْكِيدُ الحَجْزِ؟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إِذَنْ هَلْ يُمْكِنُ أَنْ أَنْتَقِلَ إِلَى الغُرْفَةِ الصَّحِيحَةِ غَدًا صَبَاحًا؟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Then could I move to the right room tomorrow morning?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أَعْتَذِرُ جِدًّا. الفُنْدُقُ مُمْتَلِئٌ اللَّيْلَةَ.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شُكْرًا جَزِيلًا، وَأَرْجُو أَنْ تُنْقَلَ حَقَائِبِي إِلَى الغُرْفَةِ الجَدِيدَةِ.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Thank you very much, and please could my bags be moved to the new room.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طَبْعًا، وَسَنُقَدِّمُ لَكَ عَشَاءً مَجَّانِيًّا.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رُبَّمَا، سَأَحْجِزُ عِنْدَكُمْ مَرَّةً أُخْرَى إِذَا كَانَتِ الخِدْمَةُ مُمْتَازَةً بَقِيَّةَ الأُسْبُوعِ.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Maybe — I’ll book with you again if the service is excellent for the rest of the week.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سَتَحْجِزُ عِنْدَنَا مَرَّةً أُخْرَى؟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مَلَأْتُهَا كُلَّهَا مَا عَدَا رَقْمِ جَوَازِ السَّفَرِ، لِأَنَّ جَوَازِي الجَدِيدَ لَمْ يَصِلْ بَعْدُ.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all of it except the passport number, because my new passport hasn’t arrived yet.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مَلَأْتَ الاسْتِمَارَةَ كُلَّهَا؟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الدَّوْرَةُ الوَحِيدَةُ الَّتِي تَجْمَعُ بَيْنَ دُرُوسِ اللُّغَةِ وَالإِقَامَةِ مَعَ عَائِلَةٍ عَرَبِيَّةٍ.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it is the only course that combines language lessons with staying with an Arab family.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اخْتَرْتَ هٰذِهِ الدَّوْرَةَ بِالذَّاتِ؟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الصَّيْفِ المَاضِي أَقَمْتُ أُسْبُوعَيْنِ فِي عَمَّانَ، حَيْثُ حَضَرْتُ دَوْرَةً قَصِيرَةً، فَتَعَلَّمْتُ أَنْ أَعْتَمِدَ عَلَى نَفْسِي.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last summer I stayed two weeks in Amman, where I took a short course, and learnt to rely on myself.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دَرَسْتَ فِي الخَارِجِ مِنْ قَبْلُ؟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ذٰلِكَ سَيَكُونُ صَعْبًا فِي البِدَايَةِ، غَيْرَ أَنِّي أَعْتَقِدُ أَنَّهُ أَسْرَعُ طَرِيقَةٍ لِلتَّحَسُّنِ.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That will be hard at first, but I believe it is the fastest way to improve.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يُشْتَرَطُ أَنْ يَتَكَلَّمَ الطَّالِبُ العَرَبِيَّةَ فَقَطْ.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أُقْبَلْ، لَدَرَسْتُ عَلَى الإِنْتَرْنِتِ طُوالَ السَّنَةِ، وَلَقَدَّمْتُ طَلَبًا جَدِيدًا فِي السَّنَةِ القَادِمَةِ.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weren’t accepted, I’d study online all year and apply again next year.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تُقْبَلْ هٰذِهِ السَّنَةَ، مَاذَا تَفْعَلُ؟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precise detail, a relative clause, a past experience with ḥaythu, a concession and a passive conditional.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الحَجْزُ وَالمَعْلُومَاتُ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اسْمِي … وَأَنَا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full name and nationality?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اسْمُكَ الكَامِلُ؟ وَمَا جِنْسِيَّتُكَ؟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وُلِدْتُ فِي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were you born?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وُلِدْتَ؟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أَحْجِزُ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book tickets online?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تَحْجِزُ التَّذَاكِرَ عَلَى الإِنْتَرْنِتِ؟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أَقَمْتُ فِي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did you stay last holiday?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أَقَمْتَ فِي العُطْلَةِ المَاضِيَةِ؟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عُنْوَانِي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email address?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عُنْوَانُ بَرِيدِكَ الإِلِكْتْرُونِيِّ؟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الوَثَائِقُ فِي حَيَاتِي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آخِرَ مَرَّةٍ حَجَزْتُ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last time you booked something.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آخِرَ مَرَّةٍ حَجَزْتَ فِيهَا شَيْئًا.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لِأَنَّ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prefer booking online or at the office?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الحَجْزَ عَلَى الإِنْتَرْنِتِ أَمْ فِي المَكْتَبِ؟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أَحْتَاجُ إِلَى … وَ…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documents do you need to travel?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الوَثَائِقُ الَّتِي تَحْتَاجُ إِلَيْهَا لِلسَّفَرِ؟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مَلَأْتُ اسْتِمَارَةً لِلتَّسْجِيلِ فِي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Have you ever filled in an important form?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مَلَأْتَ اسْتِمَارَةً مُهِمَّةً مِنْ قَبْلُ؟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سَأُقِيمُ فِي … الَّذِي / الَّتِي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will you stay next holiday?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سَتُقِيمُ فِي العُطْلَةِ القَادِمَةِ؟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booking verbs in two tenses, a passive or a relative clause.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المَعْلُومَاتُ الرَّقْمِيَّةُ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يَعْتَمِدُ ذٰلِكَ عَلَى … فَإِذَا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it safe to give our personal details online?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مِنَ الآمِنِ أَنْ نُعْطِيَ مَعْلُومَاتِنَا الشَّخْصِيَّةَ عَلَى الإِنْتَرْنِتِ؟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… لٰكِنَّ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Will paper documents disappear?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سَتَخْتَفِي الوَثَائِقُ الوَرَقِيَّةُ؟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are the pros and cons of e-tickets?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مَزَايَا التَّذَاكِرِ الإِلِكْتْرُونِيَّةِ وَعُيُوبُهَا؟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مَرَّةً أُلْغِيَتْ … فَقَضَيْنَا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Have you had a problem with a booking?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حَدَثَتْ لَكَ مُشْكِلَةٌ فِي حَجْزٍ؟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سُرِقَتْ …، لَغَيَّرْتُ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your data were stolen, what would you do?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سُرِقَتْ بَيَانَاتُكَ، مَاذَا تَفْعَلُ؟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conditional, a prediction, a balanced view, passive verbs (ulghiyat, uʿīda, suriqat)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اسْمِي سَارَةُ عَلِيٌّ، وَأَنَا بَرِيطَانِيَّةٌ.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name is Sara Ali, and I am British.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اسْمُكَ الكَامِلُ؟ وَمَا جِنْسِيَّتُكَ؟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وُلِدْتُ فِي العَاشِرِ مِنْ مَايُو سَنَةَ أَلْفَيْنِ وَعَشْرَةٍ.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was born on 10 May 2010.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وُلِدْتَ؟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أَحْجِزُ تَذَاكِرَ السِّينَمَا عَلَى الإِنْتَرْنِتِ.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book cinema tickets online.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تَحْجِزُ التَّذَاكِرَ عَلَى الإِنْتَرْنِتِ؟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أَقَمْتُ فِي فُنْدُقٍ صَغِيرٍ قُرْبَ البَحْرِ.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stayed in a small hotel near the sea.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أَقَمْتَ فِي العُطْلَةِ المَاضِيَةِ؟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عُنْوَانِي: سَارَة، نُقْطَة، عَلِي، فِي جِيمِيل.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address is sara.ali at gmail.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عُنْوَانُ بَرِيدِكَ الإِلِكْتْرُونِيِّ؟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clear personal details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آخِرَ مَرَّةٍ حَجَزْتُ تَذَاكِرَ لِمُبَارَاةِ كُرَةِ القَدَمِ عَلَى تَطْبِيقِ النَّادِي، وَأُرْسِلَتِ التَّذَاكِرُ إِلَى هَاتِفِي فَوْرًا.</a:t>
            </a:r>
            <a:endParaRPr lang="ar-SA" sz="16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Last time I booked football tickets on the club app, and the tickets were sent to my phone straight away.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آخِرَ مَرَّةٍ حَجَزْتَ فِيهَا شَيْئًا.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الحَجْزَ عَلَى الإِنْتَرْنِتِ، لِأَنَّهُ أَسْرَعُ، وَأَسْتَطِيعُ أَنْ أُقَارِنَ الأَسْعَارَ.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prefer booking online, because it is faster and I can compare prices.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الحَجْزَ عَلَى الإِنْتَرْنِتِ أَمْ فِي المَكْتَبِ؟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أَحْتَاجُ إِلَى جَوَازِ السَّفَرِ، وَتَذْكِرَةِ الطَّائِرَةِ، وَأَحْيَانًا إِلَى تَأْشِيرَةٍ.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need my passport, a plane ticket, and sometimes a visa.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الوَثَائِقُ الَّتِي تَحْتَاجُ إِلَيْهَا لِلسَّفَرِ؟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مَلَأْتُ اسْتِمَارَةً لِلتَّسْجِيلِ فِي نَادِي السِّبَاحَةِ، وَكَتَبْتُ فِيهَا مَعْلُومَاتٍ عَنْ صِحَّتِي.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a form to register at the swimming club, with information about my health.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مَلَأْتَ اسْتِمَارَةً مُهِمَّةً مِنْ قَبْلُ؟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سَأُقِيمُ فِي شَقَّةٍ صَغِيرَةٍ حَجَزَهَا أَبِي فِي إِسْطَنْبُولَ، وَهِيَ قَرِيبَةٌ مِنَ المَسْجِدِ الأَزْرَقِ.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stay in a small flat my dad booked in Istanbul, near the Blue Mosque.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سَتُقِيمُ فِي العُطْلَةِ القَادِمَةِ؟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Two tenses + a relative or passive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يَعْتَمِدُ ذٰلِكَ عَلَى المَوْقِعِ؛ فَإِذَا كَانَ رَسْمِيًّا وَمَوْثُوقًا، فَلَا بَأْسَ، أَمَّا المَوَاقِعُ المَجْهُولَةُ فَقَدْ تَسْرِقُ بَيَانَاتِنَا.</a:t>
            </a:r>
            <a:endParaRPr lang="ar-SA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depends on the site: if it is official and trusted, fine; but unknown sites may steal our data.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مِنَ الآمِنِ أَنْ نُعْطِيَ مَعْلُومَاتِنَا الشَّخْصِيَّةَ عَلَى الإِنْتَرْنِتِ؟</a:t>
            </a:r>
            <a:endParaRPr lang="ar-SA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مُعْظَمَهَا سَيُصْبِحُ رَقْمِيًّا، لٰكِنَّ بَعْضَ النَّاسِ، كَكِبَارِ السِّنِّ، سَيَظَلُّونَ يُفَضِّلُونَ الوَرَقَ.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Most will become digital, but some people, like the elderly, will still prefer paper.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سَتَخْتَفِي الوَثَائِقُ الوَرَقِيَّةُ؟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لَا تَضِيعُ وَتُوَفِّرُ الوَرَقَ، وَمِنْ نَاحِيَةٍ أُخْرَى، إِذَا نَفِدَتْ بَطَّارِيَّةُ الهَاتِفِ، فَلَنْ تَسْتَطِيعَ الدُّخُولَ!</a:t>
            </a:r>
            <a:endParaRPr lang="ar-SA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don’t get lost and save paper, but if your phone battery dies, you can’t get in!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مَزَايَا التَّذَاكِرِ الإِلِكْتْرُونِيَّةِ وَعُيُوبُهَا؟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yaʿtamidu ʿalā, ammā … fa-qad, balance, passives in a narrative and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مَرَّةً أُلْغِيَتْ رِحْلَتُنَا بِسَبَبِ العَاصِفَةِ، فَقَضَيْنَا اللَّيْلَةَ فِي المَطَارِ، ثُمَّ أُعِيدَ إِلَيْنَا ثَمَنُ التَّذَاكِرِ.</a:t>
            </a:r>
            <a:endParaRPr lang="ar-SA" sz="16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once our flight was cancelled because of a storm, so we spent the night at the airport; later the ticket money was refunded.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حَدَثَتْ لَكَ مُشْكِلَةٌ فِي حَجْزٍ؟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سُرِقَتْ بَيَانَاتِي، لَغَيَّرْتُ كُلَّ كَلِمَاتِ السِّرِّ فَوْرًا، وَلَأَبْلَغْتُ البَنْكَ وَالشُّرْطَةَ.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my data were stolen, I’d change all my passwords at once and report it to the bank and police.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سُرِقَتْ بَيَانَاتُكَ، مَاذَا تَفْعَلُ؟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yaʿtamidu ʿalā, ammā … fa-qad, balance, passives in a narrative and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my personal details clearly (name, date, number).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booked something politely (urīdu … min faḍlik).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booking verbs in two tenses (ḥajaztu / sa-aḥjizu).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 relative pronoun (alladhī / allatī) or a passive.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solved a problem, made a concession or used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TC-L07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TC-L07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TC-L07 · Speaking Workshop — Documents and Digital Information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2026-10-11T09:51:19Z</dcterms:created>
  <dcterms:modified xsi:type="dcterms:W3CDTF">2026-10-11T09:51:19Z</dcterms:modified>
</cp:coreProperties>
</file>