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 AT A GLANCE — 60 minutes on Teams, mostly in breakout rooms of three.
0–2 Welcome · 2–6 How Paper 3 works · 6–10 Language bank · 10–13 Breakout routine · 13–33 Role plays A–D in rooms (rotate roles) · 33–37 Role-play models (main room) · 37–50 Topic conversation in rooms · 50–55 Conversation models · 55–58 Feedback + self-check · 58–60 Close.
Content: teacher-made exam scenarios for Advanced Topic C, Lesson 3 (Climate, Seasons and Weather, TC-L03), using that lesson’s language (weather verbs that agree (tasquṭu al-amṭār); comparatives (akthar ḥarāratan min); the future forecast (sa- / sawfa)). Every task has Core · Develop · Stretch support and a model answer.
EXAM FORMAT: Paper 3 Speaking = a role play and a topic conversation, as in the Cambridge IGCSE Arabic 0544 speaking test. Check timings and marks against the current syllabus and the past paper you use.
BREAKOUT ROOMS: set up rooms of three before the lesson. Share the deck (or a PDF) so every room can see the cards.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 — most of the lesson happens in breakout rooms; the teacher visits each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 (3 min). Role play = precise and complete; conversation = develop. Choral repetition of the repair phrases. To a girl: تُعِيدِي.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LANGUAGE BANK (2 min) — al-jaww is masculine: al-jawwu ḥārr; al-ayyām (non-human pl.) → mushmisa. Weather verbs are feminine because the subjects are non-human plurals: تَسْقُطُ الأَمْطَارُ · تَهُبُّ الرِّيَاحُ.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LANGUAGE BANK (2 min) — comparatives: أَحَرُّ مِنْ · أَبْرَدُ مِنْ · أَكْثَرُ مَطَرًا مِنْ. Future: سَيَكُونُ الجَوُّ … · سَتَسْقُطُ الأَمْطَارُ · مِنَ المُتَوَقَّعِ أَنْ تَرْتَفِعَ دَرَجَاتُ الحَرَارَةِ.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BREAKOUT ROUTINE (3 min, in the main room). Same-level rooms make the routes simple; mixed rooms work if the strongest student is examiner first. Post the room timer in the chat. Visit every room for about two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 PLAY A (Core) — a phone call.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عِنْدَكِ · فَصْلُكِ.
Core: al-jaww (m.) bārid wa-ghāʾim; tasquṭu al-amṭār (non-human pl. → f. verb); 3–10 take a plural (khamsu darajātin).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 PLAY B (Core+) — packing for a trip.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تُسَافِرِينَ · سَتَأْخُذِينَ · تُحِبِّينَ.
Core+: the future with sa-; non-human plurals (qumṣānan khafīfa, al-layālī … abrad); the CANDIDATE asks about the forecast (task 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 PLAY C (Develop) — a holiday that went wrong.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رِحْلَتُكِ · بِلَادِكِ · سَتَعُودِينَ.
Develop: kānat + accusative, past weather verbs (habbat, saqaṭat), sequence (thumma, ḥattā), a comparison with bi-kathīr, the future.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 PLAY D (Stretch) — a radio interview.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أَنْشَأْتُنَّ / أَنْشَأْتُمْ · لَاحَظْتُنَّ / لَاحَظْتُمْ.
Stretch: li-kay + subjunctive, lāḥaẓnā anna + evidence, reported speech (yaqūlu … inna), kānat + present vs ammā … fa-, a concession, min al-mutawaqqaʿ an, idhā lam … fa-sa-.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Observers keep this slide open (or copy the six points into their book). Collect one strong WWW per room afterwards.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TOPIC CONVERSATION — Core. Examiner asks the questions in order and may add “لِمَاذَا؟ / هَلْ يُمْكِنُ أَنْ تَشْرَحَ أَكْثَرَ؟” to push for more. Candidate aims for one full sentence per question.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TOPIC CONVERSATION — Develop. Examiner asks the questions in order and may add “لِمَاذَا؟ / هَلْ يُمْكِنُ أَنْ تَشْرَحَ أَكْثَرَ؟” to push for more. Candidate aims for two or three sentences, with a comparison and a past detail.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TOPIC CONVERSATION — Stretch. Examiner asks the questions in order and may add “لِمَاذَا؟ / هَلْ يُمْكِنُ أَنْ تَشْرَحَ أَكْثَرَ؟” to push for more. Candidate aims for a developed answer: opinion, comparison, concession and a conditional.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(Core)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(Develop)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ADVANCED TOPIC C · EXAM PRACTICE  ·  TC-L03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TC-L03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Speaking Workshop — Climate, Seasons and Weather</a:t>
            </a:r>
            <a:endParaRPr lang="en-US" sz="26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وَرْشَةُ التَّحَدُّثِ — الطَّقْسُ وَالفُصُولُ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Paper 3 practice in breakout rooms: talk about the weather today, the seasons in your country and abroad, compare climates (</a:t>
            </a:r>
            <a:pPr algn="l" indent="0" marL="0">
              <a:buNone/>
            </a:pPr>
            <a:r>
              <a:rPr lang="ar-SA" altLang="en-US" sz="1800" dirty="0">
                <a:solidFill>
                  <a:srgbClr val="C6D2E6"/>
                </a:solidFill>
                <a:latin typeface="Amiri" pitchFamily="2" charset="-78"/>
                <a:cs typeface="Amiri" pitchFamily="2" charset="-78"/>
              </a:rPr>
              <a:t>أَبْرَدُ مِنْ</a:t>
            </a:r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800" dirty="0">
                <a:solidFill>
                  <a:srgbClr val="C6D2E6"/>
                </a:solidFill>
                <a:latin typeface="Amiri" pitchFamily="2" charset="-78"/>
                <a:cs typeface="Amiri" pitchFamily="2" charset="-78"/>
              </a:rPr>
              <a:t>أَكْثَرُ حَرَارَةً مِنْ</a:t>
            </a:r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) and give a forecast in the future.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TC-L03 · Advanced Topic C · The World Around Us · exam practice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Topic C · A1+ → B1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Advanced Topics › Topic C › TC-L03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25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WORKSHOP MAP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 practice, step by step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خَرِيطَةُ الوَرْشَةِ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332281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332281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How the speaking exam works; the language you need.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73771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84744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88401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88401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20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6127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6127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86573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A–D in breakout rooms.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82915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cs typeface="Amiri" pitchFamily="2" charset="-78"/>
              </a:rPr>
              <a:t>تَمْثِيلُ الدَّوْرِ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5018227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127955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164531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5164531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4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89330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89330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5146243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Role-play models.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5109667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النَّمُوذَجُ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7298741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7408469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445045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7445045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13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1738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1738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7426757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in breakout rooms.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7390181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cs typeface="Amiri" pitchFamily="2" charset="-78"/>
              </a:rPr>
              <a:t>المُحَادَثَةُ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957925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968898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72555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972555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9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10454335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0454335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970727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Conversation models, feedback, self-check.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967069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قَيِّمْ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Text 53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IF ARABIC FEELS HARD TODAY</a:t>
            </a:r>
            <a:endParaRPr lang="en-US" sz="1000" dirty="0"/>
          </a:p>
        </p:txBody>
      </p:sp>
      <p:sp>
        <p:nvSpPr>
          <p:cNvPr id="57" name="Text 54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In the rooms everyone has a job: examiner, candidate or observer. You swap after each role play, so everybody speaks.</a:t>
            </a:r>
            <a:endParaRPr lang="en-US" sz="1250" dirty="0"/>
          </a:p>
        </p:txBody>
      </p:sp>
      <p:sp>
        <p:nvSpPr>
          <p:cNvPr id="58" name="Text 5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25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TEACH · PAPER 3 SPEAKING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How the speaking exam works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امْتِحَانُ التَّحَدُّثِ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THE TWO PARTS WE PRACTISE TODAY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 — a card with a situation and tasks. The examiner asks; you answer every task in a full, clear sentence. One task is unexpected (!).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— the examiner asks questions about a topic you know. Short answers are not enough: develop each one.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Examiners reward: completing the tasks, a range of language (tenses, linking words, opinions) and accuracy.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Never stay silent — use a repair phrase and keep going.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REPAIR PHRASES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ar-SA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955828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Sorry, could you repeat the question?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53568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553968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لَحْظَةً، دَعْنِي أُفَكِّرُ …</a:t>
            </a:r>
            <a:endParaRPr lang="ar-SA" sz="28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4315236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One moment, let me think …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89508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913376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أَقْصِدُ …</a:t>
            </a:r>
            <a:endParaRPr lang="ar-SA" sz="28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5674644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mean …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25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WEATHER (M. · F. · VERB)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Sunny, rainy, cold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كَيْفَ الجَوُّ؟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1766621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176662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is it? · the climate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الطَّقْسُ · الجَوُّ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 weather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aṭ-ṭaq-su · al-jaw-wu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9669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218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 climate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المُنَاخُ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8238744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93608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is it?</a:t>
            </a:r>
            <a:endParaRPr lang="en-US" sz="700" dirty="0"/>
          </a:p>
        </p:txBody>
      </p:sp>
      <p:sp>
        <p:nvSpPr>
          <p:cNvPr id="29" name="Text 26"/>
          <p:cNvSpPr txBox="1"/>
          <p:nvPr/>
        </p:nvSpPr>
        <p:spPr>
          <a:xfrm>
            <a:off x="8284464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 الجَوُّ؟</a:t>
            </a:r>
            <a:endParaRPr lang="ar-SA" sz="1350" dirty="0"/>
          </a:p>
        </p:txBody>
      </p:sp>
      <p:sp>
        <p:nvSpPr>
          <p:cNvPr id="30" name="Shape 27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82312" y="1938528"/>
            <a:ext cx="1455725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82312" y="1938528"/>
            <a:ext cx="145572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 · the sun shines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مُشْمِسٌ</a:t>
            </a:r>
            <a:endParaRPr lang="ar-SA" sz="3000" dirty="0"/>
          </a:p>
        </p:txBody>
      </p:sp>
      <p:sp>
        <p:nvSpPr>
          <p:cNvPr id="38" name="Text 35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sunny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mush-mi-sun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6144768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199632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 sun shines</a:t>
            </a:r>
            <a:endParaRPr lang="en-US" sz="700" dirty="0"/>
          </a:p>
        </p:txBody>
      </p:sp>
      <p:sp>
        <p:nvSpPr>
          <p:cNvPr id="41" name="Text 38"/>
          <p:cNvSpPr txBox="1"/>
          <p:nvPr/>
        </p:nvSpPr>
        <p:spPr>
          <a:xfrm>
            <a:off x="6190488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تُشْرِقُ الشَّمْسُ</a:t>
            </a:r>
            <a:endParaRPr lang="ar-SA" sz="1350" dirty="0"/>
          </a:p>
        </p:txBody>
      </p:sp>
      <p:sp>
        <p:nvSpPr>
          <p:cNvPr id="42" name="Shape 39"/>
          <p:cNvSpPr/>
          <p:nvPr/>
        </p:nvSpPr>
        <p:spPr>
          <a:xfrm>
            <a:off x="4416552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471416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44" name="Text 41"/>
          <p:cNvSpPr txBox="1"/>
          <p:nvPr/>
        </p:nvSpPr>
        <p:spPr>
          <a:xfrm>
            <a:off x="4462272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مُشْمِسَةٌ</a:t>
            </a:r>
            <a:endParaRPr lang="ar-SA" sz="1500" dirty="0"/>
          </a:p>
        </p:txBody>
      </p:sp>
      <p:sp>
        <p:nvSpPr>
          <p:cNvPr id="45" name="Shape 42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960120" y="1938528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60120" y="1938528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 · it rains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مُمْطِرٌ</a:t>
            </a:r>
            <a:endParaRPr lang="ar-SA" sz="3000" dirty="0"/>
          </a:p>
        </p:txBody>
      </p:sp>
      <p:sp>
        <p:nvSpPr>
          <p:cNvPr id="53" name="Text 50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rainy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mum-ṭi-run</a:t>
            </a:r>
            <a:endParaRPr lang="en-US" sz="1350" dirty="0"/>
          </a:p>
        </p:txBody>
      </p:sp>
      <p:sp>
        <p:nvSpPr>
          <p:cNvPr id="54" name="Shape 51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it rains</a:t>
            </a:r>
            <a:endParaRPr lang="en-US" sz="700" dirty="0"/>
          </a:p>
        </p:txBody>
      </p:sp>
      <p:sp>
        <p:nvSpPr>
          <p:cNvPr id="56" name="Text 53"/>
          <p:cNvSpPr txBox="1"/>
          <p:nvPr/>
        </p:nvSpPr>
        <p:spPr>
          <a:xfrm>
            <a:off x="2368296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تَسْقُطُ الأَمْطَارُ</a:t>
            </a:r>
            <a:endParaRPr lang="ar-SA" sz="1350" dirty="0"/>
          </a:p>
        </p:txBody>
      </p:sp>
      <p:sp>
        <p:nvSpPr>
          <p:cNvPr id="57" name="Shape 54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59" name="Text 56"/>
          <p:cNvSpPr txBox="1"/>
          <p:nvPr/>
        </p:nvSpPr>
        <p:spPr>
          <a:xfrm>
            <a:off x="640080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مُمْطِرَةٌ</a:t>
            </a:r>
            <a:endParaRPr lang="ar-SA" sz="1500" dirty="0"/>
          </a:p>
        </p:txBody>
      </p:sp>
      <p:sp>
        <p:nvSpPr>
          <p:cNvPr id="60" name="Shape 57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8604504" y="4279392"/>
            <a:ext cx="958291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604504" y="4279392"/>
            <a:ext cx="95829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 · clouds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7" name="Text 64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غَائِمٌ</a:t>
            </a:r>
            <a:endParaRPr lang="ar-SA" sz="3000" dirty="0"/>
          </a:p>
        </p:txBody>
      </p:sp>
      <p:sp>
        <p:nvSpPr>
          <p:cNvPr id="68" name="Text 65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cloudy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ghā-ʾi-mun</a:t>
            </a:r>
            <a:endParaRPr lang="en-US" sz="1350" dirty="0"/>
          </a:p>
        </p:txBody>
      </p:sp>
      <p:sp>
        <p:nvSpPr>
          <p:cNvPr id="69" name="Shape 66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clouds</a:t>
            </a:r>
            <a:endParaRPr lang="en-US" sz="700" dirty="0"/>
          </a:p>
        </p:txBody>
      </p:sp>
      <p:sp>
        <p:nvSpPr>
          <p:cNvPr id="71" name="Text 68"/>
          <p:cNvSpPr txBox="1"/>
          <p:nvPr/>
        </p:nvSpPr>
        <p:spPr>
          <a:xfrm>
            <a:off x="100126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غُيُومٌ · سُحُبٌ</a:t>
            </a:r>
            <a:endParaRPr lang="ar-SA" sz="1350" dirty="0"/>
          </a:p>
        </p:txBody>
      </p:sp>
      <p:sp>
        <p:nvSpPr>
          <p:cNvPr id="72" name="Shape 69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74" name="Text 71"/>
          <p:cNvSpPr txBox="1"/>
          <p:nvPr/>
        </p:nvSpPr>
        <p:spPr>
          <a:xfrm>
            <a:off x="8284464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غَائِمَةٌ</a:t>
            </a:r>
            <a:endParaRPr lang="ar-SA" sz="1500" dirty="0"/>
          </a:p>
        </p:txBody>
      </p:sp>
      <p:sp>
        <p:nvSpPr>
          <p:cNvPr id="75" name="Shape 72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6" name="Shape 73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4782312" y="4279392"/>
            <a:ext cx="896112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782312" y="4279392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 · comp.</a:t>
            </a:r>
            <a:endParaRPr lang="en-US" sz="800" dirty="0"/>
          </a:p>
        </p:txBody>
      </p:sp>
      <p:sp>
        <p:nvSpPr>
          <p:cNvPr id="80" name="Shape 77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2" name="Text 79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حَارٌّ · بَارِدٌ</a:t>
            </a:r>
            <a:endParaRPr lang="ar-SA" sz="3000" dirty="0"/>
          </a:p>
        </p:txBody>
      </p:sp>
      <p:sp>
        <p:nvSpPr>
          <p:cNvPr id="83" name="Text 80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hot · cold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ḥār-run · bā-ri-dun</a:t>
            </a:r>
            <a:endParaRPr lang="en-US" sz="1350" dirty="0"/>
          </a:p>
        </p:txBody>
      </p:sp>
      <p:sp>
        <p:nvSpPr>
          <p:cNvPr id="84" name="Shape 81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comp.</a:t>
            </a:r>
            <a:endParaRPr lang="en-US" sz="700" dirty="0"/>
          </a:p>
        </p:txBody>
      </p:sp>
      <p:sp>
        <p:nvSpPr>
          <p:cNvPr id="86" name="Text 83"/>
          <p:cNvSpPr txBox="1"/>
          <p:nvPr/>
        </p:nvSpPr>
        <p:spPr>
          <a:xfrm>
            <a:off x="6190488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أَحَرُّ · أَبْرَدُ</a:t>
            </a:r>
            <a:endParaRPr lang="ar-SA" sz="1350" dirty="0"/>
          </a:p>
        </p:txBody>
      </p:sp>
      <p:sp>
        <p:nvSpPr>
          <p:cNvPr id="87" name="Shape 84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89" name="Text 86"/>
          <p:cNvSpPr txBox="1"/>
          <p:nvPr/>
        </p:nvSpPr>
        <p:spPr>
          <a:xfrm>
            <a:off x="4462272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حَارَّةٌ · بَارِدَةٌ</a:t>
            </a:r>
            <a:endParaRPr lang="ar-SA" sz="1500" dirty="0"/>
          </a:p>
        </p:txBody>
      </p:sp>
      <p:sp>
        <p:nvSpPr>
          <p:cNvPr id="90" name="Shape 87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1" name="Shape 88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2" name="Text 89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93" name="Shape 90"/>
          <p:cNvSpPr/>
          <p:nvPr/>
        </p:nvSpPr>
        <p:spPr>
          <a:xfrm>
            <a:off x="960120" y="4279392"/>
            <a:ext cx="1455725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960120" y="4279392"/>
            <a:ext cx="145572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 · pl. (non-hum.)</a:t>
            </a:r>
            <a:endParaRPr lang="en-US" sz="800" dirty="0"/>
          </a:p>
        </p:txBody>
      </p:sp>
      <p:sp>
        <p:nvSpPr>
          <p:cNvPr id="95" name="Shape 92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6" name="Text 93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7" name="Text 94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مُعْتَدِلٌ</a:t>
            </a:r>
            <a:endParaRPr lang="ar-SA" sz="3000" dirty="0"/>
          </a:p>
        </p:txBody>
      </p:sp>
      <p:sp>
        <p:nvSpPr>
          <p:cNvPr id="98" name="Text 95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mild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muʿ-ta-di-lun</a:t>
            </a:r>
            <a:endParaRPr lang="en-US" sz="1350" dirty="0"/>
          </a:p>
        </p:txBody>
      </p:sp>
      <p:sp>
        <p:nvSpPr>
          <p:cNvPr id="99" name="Shape 96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 (non-hum.)</a:t>
            </a:r>
            <a:endParaRPr lang="en-US" sz="700" dirty="0"/>
          </a:p>
        </p:txBody>
      </p:sp>
      <p:sp>
        <p:nvSpPr>
          <p:cNvPr id="101" name="Text 98"/>
          <p:cNvSpPr txBox="1"/>
          <p:nvPr/>
        </p:nvSpPr>
        <p:spPr>
          <a:xfrm>
            <a:off x="2368296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مُعْتَدِلَةٌ</a:t>
            </a:r>
            <a:endParaRPr lang="ar-SA" sz="1350" dirty="0"/>
          </a:p>
        </p:txBody>
      </p:sp>
      <p:sp>
        <p:nvSpPr>
          <p:cNvPr id="102" name="Shape 99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104" name="Text 101"/>
          <p:cNvSpPr txBox="1"/>
          <p:nvPr/>
        </p:nvSpPr>
        <p:spPr>
          <a:xfrm>
            <a:off x="640080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مُعْتَدِلَةٌ</a:t>
            </a:r>
            <a:endParaRPr lang="ar-SA" sz="1500" dirty="0"/>
          </a:p>
        </p:txBody>
      </p:sp>
      <p:sp>
        <p:nvSpPr>
          <p:cNvPr id="105" name="Text 10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SEASONS AND FORECASTS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Seasons and the forecast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الفُصُولُ وَالنَّشْرَةُ الجَوِّيَّةُ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1144829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11448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 · it snows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ثَلْجٌ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snow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thal-jun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9669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218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it snows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تَسْقُطُ الثُّلُوجُ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8238744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93608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8284464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ثُلُوجٌ</a:t>
            </a:r>
            <a:endParaRPr lang="ar-SA" sz="1500" dirty="0"/>
          </a:p>
        </p:txBody>
      </p:sp>
      <p:sp>
        <p:nvSpPr>
          <p:cNvPr id="30" name="Shape 27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82312" y="1938528"/>
            <a:ext cx="1704442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82312" y="1938528"/>
            <a:ext cx="17044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 · strong winds blow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رِيحٌ</a:t>
            </a:r>
            <a:endParaRPr lang="ar-SA" sz="3000" dirty="0"/>
          </a:p>
        </p:txBody>
      </p:sp>
      <p:sp>
        <p:nvSpPr>
          <p:cNvPr id="38" name="Text 35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wind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rī-ḥun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6144768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199632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strong winds blow</a:t>
            </a:r>
            <a:endParaRPr lang="en-US" sz="700" dirty="0"/>
          </a:p>
        </p:txBody>
      </p:sp>
      <p:sp>
        <p:nvSpPr>
          <p:cNvPr id="41" name="Text 38"/>
          <p:cNvSpPr txBox="1"/>
          <p:nvPr/>
        </p:nvSpPr>
        <p:spPr>
          <a:xfrm>
            <a:off x="6190488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تَهُبُّ رِيَاحٌ قَوِيَّةٌ</a:t>
            </a:r>
            <a:endParaRPr lang="ar-SA" sz="1350" dirty="0"/>
          </a:p>
        </p:txBody>
      </p:sp>
      <p:sp>
        <p:nvSpPr>
          <p:cNvPr id="42" name="Shape 39"/>
          <p:cNvSpPr/>
          <p:nvPr/>
        </p:nvSpPr>
        <p:spPr>
          <a:xfrm>
            <a:off x="4416552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471416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44" name="Text 41"/>
          <p:cNvSpPr txBox="1"/>
          <p:nvPr/>
        </p:nvSpPr>
        <p:spPr>
          <a:xfrm>
            <a:off x="4462272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رِيَاحٌ</a:t>
            </a:r>
            <a:endParaRPr lang="ar-SA" sz="1500" dirty="0"/>
          </a:p>
        </p:txBody>
      </p:sp>
      <p:sp>
        <p:nvSpPr>
          <p:cNvPr id="45" name="Shape 42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960120" y="1938528"/>
            <a:ext cx="1269187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60120" y="1938528"/>
            <a:ext cx="126918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 · 30 degrees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دَرَجَةُ الحَرَارَةِ</a:t>
            </a:r>
            <a:endParaRPr lang="ar-SA" sz="3000" dirty="0"/>
          </a:p>
        </p:txBody>
      </p:sp>
      <p:sp>
        <p:nvSpPr>
          <p:cNvPr id="53" name="Text 50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 temperature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da-ra-ja-tu al-ḥa-rā-ra-ti</a:t>
            </a:r>
            <a:endParaRPr lang="en-US" sz="1350" dirty="0"/>
          </a:p>
        </p:txBody>
      </p:sp>
      <p:sp>
        <p:nvSpPr>
          <p:cNvPr id="54" name="Shape 51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30 degrees</a:t>
            </a:r>
            <a:endParaRPr lang="en-US" sz="700" dirty="0"/>
          </a:p>
        </p:txBody>
      </p:sp>
      <p:sp>
        <p:nvSpPr>
          <p:cNvPr id="56" name="Text 53"/>
          <p:cNvSpPr txBox="1"/>
          <p:nvPr/>
        </p:nvSpPr>
        <p:spPr>
          <a:xfrm>
            <a:off x="2368296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ثَلَاثُونَ دَرَجَةً</a:t>
            </a:r>
            <a:endParaRPr lang="ar-SA" sz="1350" dirty="0"/>
          </a:p>
        </p:txBody>
      </p:sp>
      <p:sp>
        <p:nvSpPr>
          <p:cNvPr id="57" name="Shape 54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59" name="Text 56"/>
          <p:cNvSpPr txBox="1"/>
          <p:nvPr/>
        </p:nvSpPr>
        <p:spPr>
          <a:xfrm>
            <a:off x="640080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دَرَجَاتُ الحَرَارَةِ</a:t>
            </a:r>
            <a:endParaRPr lang="ar-SA" sz="1500" dirty="0"/>
          </a:p>
        </p:txBody>
      </p:sp>
      <p:sp>
        <p:nvSpPr>
          <p:cNvPr id="60" name="Shape 57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8604504" y="4279392"/>
            <a:ext cx="1642262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604504" y="4279392"/>
            <a:ext cx="164226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 · the four seasons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7" name="Text 64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فَصْلٌ</a:t>
            </a:r>
            <a:endParaRPr lang="ar-SA" sz="3000" dirty="0"/>
          </a:p>
        </p:txBody>
      </p:sp>
      <p:sp>
        <p:nvSpPr>
          <p:cNvPr id="68" name="Text 65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season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faṣ-lun</a:t>
            </a:r>
            <a:endParaRPr lang="en-US" sz="1350" dirty="0"/>
          </a:p>
        </p:txBody>
      </p:sp>
      <p:sp>
        <p:nvSpPr>
          <p:cNvPr id="69" name="Shape 66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 four seasons</a:t>
            </a:r>
            <a:endParaRPr lang="en-US" sz="700" dirty="0"/>
          </a:p>
        </p:txBody>
      </p:sp>
      <p:sp>
        <p:nvSpPr>
          <p:cNvPr id="71" name="Text 68"/>
          <p:cNvSpPr txBox="1"/>
          <p:nvPr/>
        </p:nvSpPr>
        <p:spPr>
          <a:xfrm>
            <a:off x="100126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الفُصُولُ الأَرْبَعَةُ</a:t>
            </a:r>
            <a:endParaRPr lang="ar-SA" sz="1350" dirty="0"/>
          </a:p>
        </p:txBody>
      </p:sp>
      <p:sp>
        <p:nvSpPr>
          <p:cNvPr id="72" name="Shape 69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74" name="Text 71"/>
          <p:cNvSpPr txBox="1"/>
          <p:nvPr/>
        </p:nvSpPr>
        <p:spPr>
          <a:xfrm>
            <a:off x="8284464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فُصُولٌ</a:t>
            </a:r>
            <a:endParaRPr lang="ar-SA" sz="1500" dirty="0"/>
          </a:p>
        </p:txBody>
      </p:sp>
      <p:sp>
        <p:nvSpPr>
          <p:cNvPr id="75" name="Shape 72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6" name="Shape 73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4782312" y="4279392"/>
            <a:ext cx="120700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782312" y="4279392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spring · autumn</a:t>
            </a:r>
            <a:endParaRPr lang="en-US" sz="800" dirty="0"/>
          </a:p>
        </p:txBody>
      </p:sp>
      <p:sp>
        <p:nvSpPr>
          <p:cNvPr id="80" name="Shape 77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2" name="Text 79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الصَّيْفُ · الشِّتَاءُ</a:t>
            </a:r>
            <a:endParaRPr lang="ar-SA" sz="3000" dirty="0"/>
          </a:p>
        </p:txBody>
      </p:sp>
      <p:sp>
        <p:nvSpPr>
          <p:cNvPr id="83" name="Text 80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summer · winter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aṣ-ṣay-fu · ash-shi-tā-ʾu</a:t>
            </a:r>
            <a:endParaRPr lang="en-US" sz="1350" dirty="0"/>
          </a:p>
        </p:txBody>
      </p:sp>
      <p:sp>
        <p:nvSpPr>
          <p:cNvPr id="84" name="Shape 81"/>
          <p:cNvSpPr/>
          <p:nvPr/>
        </p:nvSpPr>
        <p:spPr>
          <a:xfrm>
            <a:off x="4416552" y="5779008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4471416" y="5788152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spring · autumn</a:t>
            </a:r>
            <a:endParaRPr lang="en-US" sz="700" dirty="0"/>
          </a:p>
        </p:txBody>
      </p:sp>
      <p:sp>
        <p:nvSpPr>
          <p:cNvPr id="86" name="Text 83"/>
          <p:cNvSpPr txBox="1"/>
          <p:nvPr/>
        </p:nvSpPr>
        <p:spPr>
          <a:xfrm>
            <a:off x="4462272" y="5916168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الرَّبِيعُ · الخَرِيفُ</a:t>
            </a:r>
            <a:endParaRPr lang="ar-SA" sz="1350" dirty="0"/>
          </a:p>
        </p:txBody>
      </p:sp>
      <p:sp>
        <p:nvSpPr>
          <p:cNvPr id="87" name="Shape 84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88" name="Shape 85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9" name="Text 86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90" name="Shape 87"/>
          <p:cNvSpPr/>
          <p:nvPr/>
        </p:nvSpPr>
        <p:spPr>
          <a:xfrm>
            <a:off x="960120" y="4279392"/>
            <a:ext cx="1144829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1" name="Text 88"/>
          <p:cNvSpPr txBox="1"/>
          <p:nvPr/>
        </p:nvSpPr>
        <p:spPr>
          <a:xfrm>
            <a:off x="960120" y="4279392"/>
            <a:ext cx="11448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 · expected</a:t>
            </a:r>
            <a:endParaRPr lang="en-US" sz="800" dirty="0"/>
          </a:p>
        </p:txBody>
      </p:sp>
      <p:sp>
        <p:nvSpPr>
          <p:cNvPr id="92" name="Shape 89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3" name="Text 90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4" name="Text 91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النَّشْرَةُ الجَوِّيَّةُ</a:t>
            </a:r>
            <a:endParaRPr lang="ar-SA" sz="3000" dirty="0"/>
          </a:p>
        </p:txBody>
      </p:sp>
      <p:sp>
        <p:nvSpPr>
          <p:cNvPr id="95" name="Text 92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 weather forecast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an-nash-ra-tu al-jaw-wiy-ya-tu</a:t>
            </a:r>
            <a:endParaRPr lang="en-US" sz="1350" dirty="0"/>
          </a:p>
        </p:txBody>
      </p:sp>
      <p:sp>
        <p:nvSpPr>
          <p:cNvPr id="96" name="Shape 93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7" name="Text 94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expected</a:t>
            </a:r>
            <a:endParaRPr lang="en-US" sz="700" dirty="0"/>
          </a:p>
        </p:txBody>
      </p:sp>
      <p:sp>
        <p:nvSpPr>
          <p:cNvPr id="98" name="Text 95"/>
          <p:cNvSpPr txBox="1"/>
          <p:nvPr/>
        </p:nvSpPr>
        <p:spPr>
          <a:xfrm>
            <a:off x="2368296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مِنَ المُتَوَقَّعِ أَنْ …</a:t>
            </a:r>
            <a:endParaRPr lang="ar-SA" sz="1350" dirty="0"/>
          </a:p>
        </p:txBody>
      </p:sp>
      <p:sp>
        <p:nvSpPr>
          <p:cNvPr id="99" name="Shape 96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101" name="Text 98"/>
          <p:cNvSpPr txBox="1"/>
          <p:nvPr/>
        </p:nvSpPr>
        <p:spPr>
          <a:xfrm>
            <a:off x="640080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النَّشَرَاتُ الجَوِّيَّةُ</a:t>
            </a:r>
            <a:endParaRPr lang="ar-SA" sz="1500" dirty="0"/>
          </a:p>
        </p:txBody>
      </p:sp>
      <p:sp>
        <p:nvSpPr>
          <p:cNvPr id="102" name="Text 9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BREAKOUT ROOMS · HOW WE WORK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Examiner · candidate · observer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فِي الغُرَفِ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BREAKOUT ROUTINE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🎧  Three jobs, then swap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Rooms of three. A = examiner (reads the questions only). B = candidate (answers from the task card). C = observer (ticks the checklist and gives one WWW and one EBI).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candidate reads the card and plans (no writing full sentences).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About 3 minutes: the role play — the examiner reads every question in order.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observer gives feedback (WWW + EBI).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jobs and do the next role play. Then the topic conversation.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 and B, with the help column. Conversation: Core questions.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B and C, help column covered. Conversation: Core + Develop questions.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C and D, no help. Conversation: Develop + Stretch questions, push with “why?”.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دَوْرُكَ!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أَحْسَنْتَ! / أَحْسَنْتِ!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well done! (m. / f.)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تَكَلَّمْ أَكْثَرَ، مِنْ فَضْلِكَ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more, please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لِمَاذَا؟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why?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25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A · CORE · A PHONE CALL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 — A phone call: how is the weather?</a:t>
            </a:r>
            <a:endParaRPr lang="en-US" sz="20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مُكَالَمَةٌ عَنِ الطَّقْسِ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الجَوُّ اليَوْمَ … وَ…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today’s weather.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 الجَوُّ عِنْدَكُمُ اليَوْمَ؟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تَسْقُطُ … / لَا،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if it is raining.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تَسْقُطُ الأَمْطَارُ؟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دَرَجَةُ الحَرَارَةِ … دَرَجَاتٍ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the temperature.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كَمْ دَرَجَةُ الحَرَارَةِ؟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كَمْ …؟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how hot it is.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عِنْدَنَا الجَوُّ حَارٌّ جِدًّا!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فَصْلِي المُفَضَّلُ … لِأَنَّ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question.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فَصْلُكَ المُفَضَّلُ؟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student in the UK  ·  The examiner is: your cousin in Dubai  ·  ! = unexpected question: listen carefully.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25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B · CORE+ · PACKING FOR A TRIP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 — Packing for a holiday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حَقِيبَةُ السَّفَرِ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أُسَافِرُ إِلَى … الجَوُّ هُنَاكَ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where and what the weather is like.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إِلَى أَيْنَ تُسَافِرُ؟ وَكَيْفَ الجَوُّ هُنَاكَ؟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سَآخُذُ … وَ…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two items you will take.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مَاذَا سَتَأْخُذُ مِنْ مَلَابِسَ؟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مَاذَا تَقُولُ …؟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about the forecast.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لٰكِنْ قَدْ تَتَغَيَّرُ الأَحْوَالُ الجَوِّيَّةُ.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إِذَنْ سَآخُذُ … لِأَنَّ …</a:t>
            </a:r>
            <a:endParaRPr lang="ar-SA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what else you’ll pack, and why.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سَتَهُبُّ رِيَاحٌ قَوِيَّةٌ فِي اللَّيْلِ.</a:t>
            </a:r>
            <a:endParaRPr lang="ar-SA" sz="17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 / لَا، أُحِبُّ … أَكْثَرَ، لِأَنَّ …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question.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تُحِبُّ الجَوَّ الحَارَّ أَكْثَرَ مِنَ الجَوِّ البَارِدِ؟</a:t>
            </a:r>
            <a:endParaRPr lang="ar-SA" sz="17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traveller  ·  The examiner is: a parent helping you pack  ·  ! = unexpected question: listen carefully.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25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C · DEVELOP · A HOLIDAY THAT WENT WRONG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 — When the weather spoiled the trip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عِنْدَمَا أَفْسَدَ الطَّقْسُ الرِّحْلَةَ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كَانَتْ … لِأَنَّ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how it was (past).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 كَانَتْ رِحْلَتُكَ إِلَى اسْكُتْلَنْدَا؟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فِي الصَّبَاحِ … ثُمَّ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the weather that day.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مَاذَا حَدَثَ بِالضَّبْطِ؟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رَجَعْنَا … وَ…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what you did.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وَمَاذَا فَعَلْتُمْ؟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… أَبْرَدُ / أَكْثَرُ … مِنْ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Compare two climates.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جَوُّ اسْكُتْلَنْدَا مِثْلُ جَوِّ بِلَادِكَ الأَصْلِيَّةِ؟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سَأَعُودُ فِي … لِأَنَّ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(future).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مَتَى سَتَعُودُ إِلَى هُنَاكَ؟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student  ·  The examiner is: your Arabic teacher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25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D · STRETCH · A RADIO INTERVIEW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 — Is our climate changing?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هَلْ يَتَغَيَّرُ المُنَاخُ؟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أَنْشَأْنَاهَا لِكَيْ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Explain the purpose.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لِمَاذَا أَنْشَأْتُمْ مَحَطَّةً لِلطَّقْسِ فِي المَدْرَسَةِ؟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لَاحَظْنَا أَنَّ … فَمَثَلًا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Report a change with evidence.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وَمَاذَا لَاحَظْتُمْ؟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كَانَتِ … تَسْقُطُ … أَمَّا الآنَ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Compare past and present.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 كَانَ الطَّقْسُ أَيَّامَ أَجْدَادِكُمْ؟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صَحِيحٌ أَنَّ … غَيْرَ أَنَّ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Concede and disagree politely.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يَقُولُ بَعْضُ النَّاسِ إِنَّ هٰذَا طَبِيعِيٌّ.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مِنَ المُتَوَقَّعِ أَنْ … وَإِذَا لَمْ … فَسَتَزْدَادُ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(future + condition).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 سَيَكُونُ الطَّقْسُ بَعْدَ خَمْسِينَ سَنَةً؟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student who runs the school weather station  ·  The examiner is: a local radio presenter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25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OBSERVER · FEEDBACK CHECKLIST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Observer: tick and give feedback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وَرَقَةُ المُلَاحِظِ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Example you heard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662672" y="1810512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199632" y="1810512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52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candidate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99248" y="226771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236208" y="226771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answered EVERY task, including the unexpected one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2881884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699248" y="2881884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236208" y="2881884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2881884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described today’s weather and named a season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496056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699248" y="3496056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236208" y="3496056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496056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compared two climates (aḥarru min / akthar … min)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110228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699248" y="4110228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236208" y="4110228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110228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a reason (li-anna) or an opinion (fī ra’yī)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4724400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699248" y="4724400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236208" y="4724400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724400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more than one time frame (past / future)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796528" y="533857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699248" y="533857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6236208" y="533857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All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566928" y="533857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kept going with a repair phrase instead of silence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Feedback in the room: one WWW (what went well) + one EBI (even better if …).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25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A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الجَوُّ اليَوْمَ بَارِدٌ وَغَائِمٌ.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weather today is cold and cloudy.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 الجَوُّ عِنْدَكُمُ اليَوْمَ؟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تَسْقُطُ الأَمْطَارُ مُنْذُ الصَّبَاحِ.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it has been raining since the morning.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تَسْقُطُ الأَمْطَارُ؟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دَرَجَةُ الحَرَارَةِ خَمْسُ دَرَجَاتٍ فَقَطْ.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temperature is only five degrees.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كَمْ دَرَجَةُ الحَرَارَةِ؟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كَمْ دَرَجَةُ الحَرَارَةِ عِنْدَكُمْ؟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What’s the temperature where you are?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عِنْدَنَا الجَوُّ حَارٌّ جِدًّا!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فَصْلِيَ المُفَضَّلُ الرَّبِيعُ، لِأَنَّ الجَوَّ مُعْتَدِلٌ.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favourite season is spring, because the weather is mild.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فَصْلُكَ المُفَضَّلُ؟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25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B · CORE+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أُسَافِرُ إِلَى تُونِسَ، وَالجَوُّ هُنَاكَ حَارٌّ وَمُشْمِسٌ.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I’m travelling to Tunisia, and the weather there is hot and sunny.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إِلَى أَيْنَ تُسَافِرُ؟ وَكَيْفَ الجَوُّ هُنَاكَ؟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سَآخُذُ قُمْصَانًا خَفِيفَةً وَنَظَّارَةً شَمْسِيَّةً.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I’ll take light shirts and sunglasses.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مَاذَا سَتَأْخُذُ مِنْ مَلَابِسَ؟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مَاذَا تَقُولُ النَّشْرَةُ الجَوِّيَّةُ عَنِ الأُسْبُوعِ القَادِمِ؟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does the forecast say about next week?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لٰكِنْ قَدْ تَتَغَيَّرُ الأَحْوَالُ الجَوِّيَّةُ.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إِذَنْ سَآخُذُ سُتْرَةً، لِأَنَّ اللَّيَالِيَ سَتَكُونُ أَبْرَدَ مِنَ الأَيَّامِ.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Then I’ll take a jacket, because the nights will be colder than the days.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سَتَهُبُّ رِيَاحٌ قَوِيَّةٌ فِي اللَّيْلِ.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أُحِبُّ الجَوَّ الحَارَّ أَكْثَرَ، لِأَنِّي أَسْتَطِيعُ أَنْ أَسْبَحَ فِي البَحْرِ.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I like hot weather more, because I can swim in the sea.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تُحِبُّ الجَوَّ الحَارَّ أَكْثَرَ مِنَ الجَوِّ البَارِدِ؟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25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C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كَانَتْ صَعْبَةً قَلِيلًا، لِأَنَّ الطَّقْسَ تَغَيَّرَ فَجْأَةً.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was a bit difficult, because the weather suddenly changed.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 كَانَتْ رِحْلَتُكَ إِلَى اسْكُتْلَنْدَا؟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فِي الصَّبَاحِ كَانَتِ الشَّمْسُ مُشْرِقَةً، ثُمَّ هَبَّتْ رِيَاحٌ قَوِيَّةٌ وَسَقَطَتِ الثُّلُوجُ.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In the morning the sun was shining, then strong winds blew and snow fell.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مَاذَا حَدَثَ بِالضَّبْطِ؟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رَجَعْنَا إِلَى الفُنْدُقِ، وَلَعِبْنَا أَلْعَابًا جَمَاعِيَّةً حَتَّى المَسَاءِ.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 went back to the hotel and played group games until evening.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وَمَاذَا فَعَلْتُمْ؟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لَا، جَوُّ اسْكُتْلَنْدَا أَبْرَدُ وَأَكْثَرُ مَطَرًا مِنْ جَوِّ مِصْرَ بِكَثِيرٍ.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No, Scotland’s climate is much colder and rainier than Egypt’s.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جَوُّ اسْكُتْلَنْدَا مِثْلُ جَوِّ بِلَادِكَ الأَصْلِيَّةِ؟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سَأَعُودُ فِي الصَّيْفِ، لِأَنَّ الجَوَّ سَيَكُونُ أَدْفَأَ.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I’ll go back in summer, because the weather will be warmer.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مَتَى سَتَعُودُ إِلَى هُنَاكَ؟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D · STRETCH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أَنْشَأْنَاهَا لِكَيْ نُسَجِّلَ دَرَجَاتِ الحَرَارَةِ وَالأَمْطَارَ كُلَّ يَوْمٍ، وَنُقَارِنَهَا بِالسَّنَوَاتِ المَاضِيَةِ.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 set it up to record temperatures and rain every day and compare them with past years.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لِمَاذَا أَنْشَأْتُمْ مَحَطَّةً لِلطَّقْسِ فِي المَدْرَسَةِ؟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لَاحَظْنَا أَنَّ الشِّتَاءَ أَصْبَحَ أَدْفَأَ؛ فَمَثَلًا لَمْ تَسْقُطِ الثُّلُوجُ هُنَا مُنْذُ ثَلَاثِ سَنَوَاتٍ.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 noticed winter has become warmer — for example, it hasn’t snowed here for three years.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وَمَاذَا لَاحَظْتُمْ؟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يَقُولُ جَدِّي إِنَّ الثُّلُوجَ كَانَتْ تُغَطِّي الشَّوَارِعَ كُلَّ شِتَاءٍ، أَمَّا الآنَ فَالفَيَضَانَاتُ أَكْثَرُ مِنَ الثُّلُوجِ.</a:t>
            </a:r>
            <a:endParaRPr lang="ar-SA" sz="165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grandfather says snow covered the streets every winter; now floods are more common than snow.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 كَانَ الطَّقْسُ أَيَّامَ أَجْدَادِكُمْ؟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صَحِيحٌ أَنَّ الطَّقْسَ يَتَغَيَّرُ دَائِمًا، غَيْرَ أَنَّ العُلَمَاءَ يُؤَكِّدُونَ أَنَّ التَّغَيُّرَ اليَوْمَ أَسْرَعُ مِنْ أَيِّ وَقْتٍ مَضَى.</a:t>
            </a:r>
            <a:endParaRPr lang="ar-SA" sz="16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is true the weather always changes, but scientists stress that today’s change is faster than ever.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يَقُولُ بَعْضُ النَّاسِ إِنَّ هٰذَا طَبِيعِيٌّ.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مِنَ المُتَوَقَّعِ أَنْ تَرْتَفِعَ دَرَجَاتُ الحَرَارَةِ، وَإِذَا لَمْ نُخَفِّفِ التَّلَوُّثَ، فَسَتَزْدَادُ العَوَاصِفُ وَالفَيَضَانَاتُ.</a:t>
            </a:r>
            <a:endParaRPr lang="ar-SA" sz="16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Temperatures are expected to rise, and if we don’t cut pollution, storms and floods will increase.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 سَيَكُونُ الطَّقْسُ بَعْدَ خَمْسِينَ سَنَةً؟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purpose, evidence, past vs present, ṣaḥīḥun anna … ghayra anna and a conditional forecast.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25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CORE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Core questions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الطَّقْسُ اليَوْمَ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الجَوُّ اليَوْمَ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the weather like today?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 الجَوُّ اليَوْمَ؟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فَصْلِي المُفَضَّلُ … لِأَنَّ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your favourite season, and why?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فَصْلُكَ المُفَضَّلُ؟ وَلِمَاذَا؟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فِي الشِّتَاءِ … وَتَسْقُطُ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the weather like in winter in Britain?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 الطَّقْسُ فِي الشِّتَاءِ فِي بَرِيطَانْيَا؟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أَلْبَسُ 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do you wear when it is cold?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مَاذَا تَلْبَسُ عِنْدَمَا يَكُونُ الجَوُّ بَارِدًا؟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عِنْدَمَا تُمْطِرُ،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do you do when it rains?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مَاذَا تَفْعَلُ عِنْدَمَا تُمْطِرُ؟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Core: one full sentence for every question. If you are stuck: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25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DEVELOP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Develop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المُنَاخُ هُنَا وَهُنَاكَ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الطَّقْسُ فِي … أَبْرَدُ / أَحَرُّ مِنْ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Compare the weather in Britain and in an Arab country.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قَارِنْ بَيْنَ الطَّقْسِ فِي بَرِيطَانْيَا وَفِي بَلَدٍ عَرَبِيٍّ.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فِي الشِّتَاءِ المَاضِي هَبَّتْ … فَأُغْلِقَتْ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a day when the weather was very bad.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صِفْ يَوْمًا كَانَ فِيهِ الطَّقْسُ سَيِّئًا جِدًّا.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عِنْدَمَا … أَشْعُرُ بِالنَّشَاطِ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Does the weather affect your mood?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يُؤَثِّرُ الطَّقْسُ فِي مِزَاجِكَ؟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فِي الصَّيْفِ … وَفِي الشِّتَاءِ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Which activities suit each season?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الأَنْشِطَةُ المُنَاسِبَةُ لِكُلِّ فَصْلٍ؟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حَسَبَ النَّشْرَةِ الجَوِّيَّةِ، سَيَكُونُ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will the weather be like at the weekend?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 سَيَكُونُ الطَّقْسُ فِي عُطْلَةِ نِهَايَةِ الأُسْبُوعِ؟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Develop: two or three sentences — a comparison, a past event and a forecast in the future.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25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STRETCH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Stretch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تَغَيُّرُ المُنَاخِ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أَعْتَقِدُ أَنَّ … بِدَلِيلِ أَنَّ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you think the climate really is changing?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تَعْتَقِدُ أَنَّ المُنَاخَ يَتَغَيَّرُ فِعْلًا؟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بِسَبَبِ الحَرَارَةِ … مِمَّا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does climate affect life in hot countries?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 يُؤَثِّرُ المُنَاخُ فِي حَيَاةِ النَّاسِ فِي البِلَادِ الحَارَّةِ؟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صَحِيحٌ أَنَّ … غَيْرَ أَنَّ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Which is harder: extreme heat or extreme cold?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أَيُّهُمَا أَصْعَبُ: الحَرُّ الشَّدِيدُ أَمِ البَرْدُ الشَّدِيدُ؟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تَقُولُ أُمِّي إِنَّ … كَانَ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was the weather like in your parents’ childhood?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 كَانَ الطَّقْسُ فِي طُفُولَةِ وَالِدَيْكَ؟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كُنْتُ أَسْتَطِيعُ، لَاخْتَرْتُ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you could choose your country’s climate, what would you choose?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كُنْتَ تَسْتَطِيعُ أَنْ تَخْتَارَ مُنَاخَ بِلَادِكَ، مَاذَا تَخْتَارُ؟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evidence (bi-dalīli anna), bi-sababi … mimmā, a concession, reported speech and law … la-.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25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Core: what a strong answer sounds like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الجَوُّ اليَوْمَ مُشْمِسٌ وَلٰكِنَّهُ بَارِدٌ.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weather today is sunny but cold.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 الجَوُّ اليَوْمَ؟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فَصْلِيَ المُفَضَّلُ الصَّيْفُ، لِأَنَّ الأَيَّامَ طَوِيلَةٌ وَمُشْمِسَةٌ.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favourite season is summer, because the days are long and sunny.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فَصْلُكَ المُفَضَّلُ؟ وَلِمَاذَا؟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فِي الشِّتَاءِ الجَوُّ بَارِدٌ، وَتَسْقُطُ الأَمْطَارُ كَثِيرًا.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In winter it is cold, and it rains a lot.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 الطَّقْسُ فِي الشِّتَاءِ فِي بَرِيطَانْيَا؟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أَلْبَسُ مِعْطَفًا ثَقِيلًا وَقُبَّعَةً صُوفِيَّةً.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wear a heavy coat and a woolly hat.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مَاذَا تَلْبَسُ عِنْدَمَا يَكُونُ الجَوُّ بَارِدًا؟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عِنْدَمَا تُمْطِرُ، أَبْقَى فِي البَيْتِ وَأَقْرَأُ.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When it rains, I stay at home and read.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مَاذَا تَفْعَلُ عِنْدَمَا تُمْطِرُ؟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Full sentence + a weather adjective that agrees = a secure Core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25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Develop: what a strong answer sounds like</a:t>
            </a:r>
            <a:endParaRPr lang="en-US" sz="22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الطَّقْسُ فِي بَرِيطَانْيَا أَبْرَدُ وَأَكْثَرُ مَطَرًا، أَمَّا فِي السُّعُودِيَّةِ فَالصَّيْفُ حَارٌّ جِدًّا وَالأَمْطَارُ قَلِيلَةٌ.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Britain is colder and rainier; in Saudi Arabia the summer is very hot and rain is scarce.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قَارِنْ بَيْنَ الطَّقْسِ فِي بَرِيطَانْيَا وَفِي بَلَدٍ عَرَبِيٍّ.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فِي الشِّتَاءِ المَاضِي هَبَّتْ عَاصِفَةٌ قَوِيَّةٌ، فَأُغْلِقَتِ المَدْرَسَةُ، وَبَقِينَا فِي البَيْتِ يَوْمَيْنِ.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Last winter a strong storm blew, so school was closed and we stayed home for two days.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صِفْ يَوْمًا كَانَ فِيهِ الطَّقْسُ سَيِّئًا جِدًّا.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عِنْدَمَا تُشْرِقُ الشَّمْسُ أَشْعُرُ بِالنَّشَاطِ، أَمَّا الأَيَّامُ الرَّمَادِيَّةُ فَتَجْعَلُنِي كَسُولًا.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 — sunshine makes me energetic, but grey days make me lazy.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يُؤَثِّرُ الطَّقْسُ فِي مِزَاجِكَ؟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فِي الصَّيْفِ نَسْبَحُ وَنُخَيِّمُ، وَفِي الشِّتَاءِ نَتَزَلَّجُ أَوْ نَبْقَى قُرْبَ المِدْفَأَةِ.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In summer we swim and camp; in winter we ski or stay by the heater.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الأَنْشِطَةُ المُنَاسِبَةُ لِكُلِّ فَصْلٍ؟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حَسَبَ النَّشْرَةِ الجَوِّيَّةِ، سَيَكُونُ الجَوُّ مُعْتَدِلًا، وَسَتَسْقُطُ أَمْطَارٌ خَفِيفَةٌ يَوْمَ الأَحَدِ.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According to the forecast, it will be mild, with light rain on Sunday.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 سَيَكُونُ الطَّقْسُ فِي عُطْلَةِ نِهَايَةِ الأُسْبُوعِ؟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Comparison + past + future = a strong Develop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21 / 25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أَعْتَقِدُ ذٰلِكَ، بِدَلِيلِ أَنَّ الصَّيْفَ المَاضِيَ كَانَ أَحَرَّ صَيْفٍ فِي تَارِيخِ بَرِيطَانْيَا.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think so — last summer was the hottest summer in British history.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تَعْتَقِدُ أَنَّ المُنَاخَ يَتَغَيَّرُ فِعْلًا؟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بِسَبَبِ الحَرَارَةِ الشَّدِيدَةِ، يَعْمَلُ النَّاسُ فِي الصَّبَاحِ البَاكِرِ، مِمَّا يَجْعَلُ الحَيَاةَ تَنْشَطُ فِي اللَّيْلِ.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Because of the intense heat, people work early in the morning, which makes life lively at night.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 يُؤَثِّرُ المُنَاخُ فِي حَيَاةِ النَّاسِ فِي البِلَادِ الحَارَّةِ؟</a:t>
            </a:r>
            <a:endParaRPr lang="ar-SA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858768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صَحِيحٌ أَنَّ البَرْدَ مُزْعِجٌ، غَيْرَ أَنَّ الحَرَّ الشَّدِيدَ أَخْطَرُ؛ فَنَسْتَطِيعُ أَنْ نَلْبَسَ مَلَابِسَ أَكْثَرَ، لٰكِنْ لَا نَسْتَطِيعُ الهُرُوبَ مِنَ الحَرِّ بِسُهُولَةٍ.</a:t>
            </a:r>
            <a:endParaRPr lang="ar-SA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279392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Cold is annoying, but extreme heat is more dangerous: we can add clothes, but can’t escape heat easily.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أَيُّهُمَا أَصْعَبُ: الحَرُّ الشَّدِيدُ أَمِ البَرْدُ الشَّدِيدُ؟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evidence, cause and effect, ṣaḥīḥun anna … ghayra anna, reported speech, law … la- — range is rewarded.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22 / 25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تَقُولُ أُمِّي إِنَّ الشِّتَاءَ كَانَ أَطْوَلَ، وَإِنَّهَا كَانَتْ تَصْنَعُ رَجُلَ الثَّلْجِ كُلَّ سَنَةٍ.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mum says winters were longer, and she used to build a snowman every year.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 كَانَ الطَّقْسُ فِي طُفُولَةِ وَالِدَيْكَ؟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كُنْتُ أَسْتَطِيعُ، لَاخْتَرْتُ مُنَاخًا مُعْتَدِلًا كَمُنَاخِ المَغْرِبِ: شَمْسٌ دَافِئَةٌ، وَأَمْطَارٌ قَلِيلَةٌ فِي الشِّتَاءِ.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I could, I’d choose a mild climate like Morocco’s: warm sun and a little winter rain.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كُنْتَ تَسْتَطِيعُ أَنْ تَخْتَارَ مُنَاخَ بِلَادِكَ، مَاذَا تَخْتَارُ؟</a:t>
            </a:r>
            <a:endParaRPr lang="ar-SA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evidence, cause and effect, ṣaḥīḥun anna … ghayra anna, reported speech, law … la- — range is rewarded.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23 / 25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described the weather with adjectives that agree.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named the seasons and my favourite one.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compared two climates (aḥarru / abradu / akthar … min).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a past weather verb and a future forecast.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a concession, cause and effect or law … la-.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24 / 25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TC-L03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great speaking practice today!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 WORKSHOP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TC-L03 · Writing workshop · Form filling, directed writing and extended writing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وَرْشَةُ الكِتَابَةِ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in the role play answer EVERY task; in the conversation, develop every answer.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TC-L03 · Speaking Workshop — Climate, Seasons and Weather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2026-10-11T09:37:28Z</dcterms:created>
  <dcterms:modified xsi:type="dcterms:W3CDTF">2026-10-11T09:37:28Z</dcterms:modified>
</cp:coreProperties>
</file>