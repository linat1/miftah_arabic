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Verbs › GM-V-07 (“Imperatives and Negative Commands”).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commands to one male and one female (اُكْتُبْ · اُكْتُبِي · اِجْلِسْ · اِجْلِسِي) and the prohibition لَا تَكْتُبْ. Develop: group, dual and feminine-group commands (اُكْتُبُوا · اُكْتُبَا · اُكْتُبْنَ) and لَا تَكْتُبِي · لَا تَكْتُبُوا. Stretch: deriving the command from the jussive; polite and formal alternatives (مِنْ فَضْلِكَ · يُرْجَى …).
• Website advice: learn each command WITH its present pair (يَكْتُبُ · اُكْتُبْ / يَجْلِسُ · اِجْلِسْ) — the helping vowel is not always the same.
• Classroom routine: the teacher’s own instructions become the examples (اِفْتَحُوا الْكِتَابَ · لَا تَتَكَلَّمُوا).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(questions 1–5) — the GM-V-06 prep words uktub, uktubī, uktubū and lā taktub.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Command = you-form without ta- + a helping vowel. Don’t = lā + you-form with sukūn (five verbs drop the nūn).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(4 min) — website “How the imperative is built”. Step 3 is not a real word: it shows why the helping vowel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(3 min) — website “Imperative endings for different addressees”. Point at a student, a pair,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“Negative commands” and “Commands in real contexts”. Tone: add please, a greeting or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Build the Imperative and Command Audience checks.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model (corrected: iftaḥi l-milaffa — a sukūn before al- becomes kasra, as in lā tughliqi). Stretch: lā tansa — the final alif drops in the jussive.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website game items. Cover column 3; students point to who they are talking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1, 2 or 3. Website check: “Which is future negation, not prohibition?” — 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1, 2 or 3. Website check: “Which is future negation, not prohibition?” — 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Prohibition and Functional Command checks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workshop (teacher-written notice). Read it aloud once while students follow; then they hunt for today’s grammar.
Task: Website: classify each instruction as positive command, prohibition or impersonal formal request.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notice for the website reading workshop;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workshop. Sequence: ● 10s think → ↔ 45s rehearse aloud with mic muted → ◎ two named students on open mic (warned in advance) → + ? the class types one follow-up in chat → ↺ one student summarises.
Routes: Core uses the Core prompt and stem; Develop the Develop prompt; Stretch the last prompt.
Website: role play giving directions or explaining a process, with polite openings and clarification questions. Listening (website): follow a partner’s route; was each command to one person or a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Create a 12-step Arabic guide for a school activity, recipe, journey or digital task. Include at least three negative instructions and vary the addressee in a short second section.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(GM-V-08 · Negating Past and Present) will spend class time USING this language, so students prepare it tonight — short, simple, easy to access (school guidance: “Simple, Short, Interesting, Relevant, Easy to access”). The five words prepare GM-V-08 (website Verbs lesson 8: negating past and present).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VERBS  ·  GM-V-07</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GM-V-07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cs typeface="Amiri" pitchFamily="2" charset="-78"/>
              </a:rPr>
              <a:t>Imperatives and Negative Commands</a:t>
            </a:r>
            <a:endParaRPr lang="en-US" sz="3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فِعْلُ الْأَمْرِ وَالنَّهْيُ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 command comes from the present “you” form: drop ta-, add a helping vowel (u- or i-), then choose the ending for your audience. “Don’t!” = lā + the you-form with sukūn — and the five verbs drop their nūn.</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GM-V-07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Verbs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GM-V-07 · Verbs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GM-V-07</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GM-V-07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GM-V-07</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Derivation; audience endings; lā + jussive; tone.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Command the audience; sort command / prohibition / future;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GM-V-08.</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GM-V-07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command “Write!” to one male.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تَكْتُبُ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اُكْتُبْ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“Write!” to one female.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اُكْتُبِي</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اُكْتُبْ</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تَكْتُبِينَ</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“Write!” to a masculine/mixed group.</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اُكْتُبْنَ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تَكْتُبُونَ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اُكْتُبُوا</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“Do not write!” to one male.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تَكْتُبُ</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تَكْتُبَ</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تَكْتُبْ</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“Do not write!” to one female.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تَكْتُبِي</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تَكْتُبِينَ</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تَكْتُبِي</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GM-V-07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command “Write!” to one male.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تَكْتُبُ</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اُكْتُبْ</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masculine singular command is uktub.</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“Write!” to one female.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اُكْتُبِي</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اُكْتُبْ</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تَكْتُبِينَ</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singular command adds -ī.</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“Write!” to a masculine/mixed group.</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اُكْتُبْنَ</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تَكْتُبُونَ</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اُكْتُبُوا</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group command adds -ū (with a silent alif).</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“Do not write!” to one male.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تَكْتُبُ</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 تَكْتُبَ</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لَا تَكْتُبْ</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Prohibition = lā + jussive (sukūn).</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“Do not write!” to one female.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لَا تَكْتُبِي</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تَكْتُبِينَ</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 تَكْتُبِي</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nūn drops after prohibitive lā.</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Command = you-form without ta- + a helping vowel. Don’t = lā + you-form with sukūn (five verbs drop the nūn).</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اُكْتُبْ</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اُكْتُبِي</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لَا تَكْتُبْ</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لَا تَكْتُبِي</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GM-V-07 · Verbs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GM-V-07</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Build a command from the present you-form.</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Choose the ending for one male, one female, two or a group.</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Say “don’t” with lā and the jussive.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Give polite, clear instructions.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give commands to a boy and to a girl.</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“don’t” to one person.</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give commands to a group and to two people.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drop the nūn after lā.</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explain how the command comes from the jussive.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write a polite 12-step guide.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GM-V-07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فِعْلُ الْأَمْرِ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imperative (command)</a:t>
            </a:r>
            <a:endParaRPr lang="en-US" sz="1350" dirty="0"/>
          </a:p>
          <a:p>
            <a:pPr indent="0" marL="0">
              <a:buNone/>
            </a:pPr>
            <a:r>
              <a:rPr lang="en-US" sz="1100" i="1" dirty="0">
                <a:solidFill>
                  <a:srgbClr val="5A6472"/>
                </a:solidFill>
                <a:latin typeface="Calibri" pitchFamily="34" charset="0"/>
                <a:cs typeface="Amiri" pitchFamily="2" charset="-78"/>
              </a:rPr>
              <a:t>fiʿ-lu al-am-ri</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اُكْتُبْ</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النَّهْيُ</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prohibition (don’t!)</a:t>
            </a:r>
            <a:endParaRPr lang="en-US" sz="1350" dirty="0"/>
          </a:p>
          <a:p>
            <a:pPr indent="0" marL="0">
              <a:buNone/>
            </a:pPr>
            <a:r>
              <a:rPr lang="en-US" sz="1100" i="1" dirty="0">
                <a:solidFill>
                  <a:srgbClr val="5A6472"/>
                </a:solidFill>
                <a:latin typeface="Calibri" pitchFamily="34" charset="0"/>
                <a:cs typeface="Amiri" pitchFamily="2" charset="-78"/>
              </a:rPr>
              <a:t>an-nah-yu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لَا تَكْتُبْ</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 النَّاهِيَةُ</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prohibitive lā</a:t>
            </a:r>
            <a:endParaRPr lang="en-US" sz="1350" dirty="0"/>
          </a:p>
          <a:p>
            <a:pPr indent="0" marL="0">
              <a:buNone/>
            </a:pPr>
            <a:r>
              <a:rPr lang="en-US" sz="1100" i="1" dirty="0">
                <a:solidFill>
                  <a:srgbClr val="5A6472"/>
                </a:solidFill>
                <a:latin typeface="Calibri" pitchFamily="34" charset="0"/>
                <a:cs typeface="Amiri" pitchFamily="2" charset="-78"/>
              </a:rPr>
              <a:t>lā an-nā-hi-ya-tu</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لَا تَتَأَخَّرْ</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الْمَجْزُومُ</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jussive (ends in sukūn)</a:t>
            </a:r>
            <a:endParaRPr lang="en-US" sz="1350" dirty="0"/>
          </a:p>
          <a:p>
            <a:pPr indent="0" marL="0">
              <a:buNone/>
            </a:pPr>
            <a:r>
              <a:rPr lang="en-US" sz="1100" i="1" dirty="0">
                <a:solidFill>
                  <a:srgbClr val="5A6472"/>
                </a:solidFill>
                <a:latin typeface="Calibri" pitchFamily="34" charset="0"/>
                <a:cs typeface="Amiri" pitchFamily="2" charset="-78"/>
              </a:rPr>
              <a:t>al-maj-zū-mu</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تَكْتُبْ</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الْمُخَاطَبُ</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person addressed</a:t>
            </a:r>
            <a:endParaRPr lang="en-US" sz="1350" dirty="0"/>
          </a:p>
          <a:p>
            <a:pPr indent="0" marL="0">
              <a:buNone/>
            </a:pPr>
            <a:r>
              <a:rPr lang="en-US" sz="1100" i="1" dirty="0">
                <a:solidFill>
                  <a:srgbClr val="5A6472"/>
                </a:solidFill>
                <a:latin typeface="Calibri" pitchFamily="34" charset="0"/>
                <a:cs typeface="Amiri" pitchFamily="2" charset="-78"/>
              </a:rPr>
              <a:t>al-mu-khā-ṭa-bu</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أَنْتَ · أَنْتِ · أَنْتُمْ</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فَضْلِكَ</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please (to a male)</a:t>
            </a:r>
            <a:endParaRPr lang="en-US" sz="1350" dirty="0"/>
          </a:p>
          <a:p>
            <a:pPr indent="0" marL="0">
              <a:buNone/>
            </a:pPr>
            <a:r>
              <a:rPr lang="en-US" sz="1100" i="1" dirty="0">
                <a:solidFill>
                  <a:srgbClr val="5A6472"/>
                </a:solidFill>
                <a:latin typeface="Calibri" pitchFamily="34" charset="0"/>
                <a:cs typeface="Amiri" pitchFamily="2" charset="-78"/>
              </a:rPr>
              <a:t>min faḍ-li-ka</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مِنْ فَضْلِكِ</a:t>
            </a:r>
            <a:pPr algn="l" indent="0" marL="0">
              <a:buNone/>
            </a:pPr>
            <a:r>
              <a:rPr lang="en-US" sz="1000" i="1" dirty="0">
                <a:solidFill>
                  <a:srgbClr val="8A6D1E"/>
                </a:solidFill>
                <a:latin typeface="Calibri" pitchFamily="34" charset="0"/>
                <a:cs typeface="Amiri" pitchFamily="2" charset="-78"/>
              </a:rPr>
              <a:t> (f.)</a:t>
            </a:r>
            <a:endParaRPr lang="en-US" sz="10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GM-V-07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1 · HOW THE IMPERATIVE IS BUILT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From “you write” to “Write!”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نَبْنِي الْأَمْرَ؟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125712" y="1810512"/>
            <a:ext cx="25328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sit</a:t>
            </a:r>
            <a:endParaRPr lang="en-US" sz="1100" dirty="0"/>
          </a:p>
        </p:txBody>
      </p:sp>
      <p:sp>
        <p:nvSpPr>
          <p:cNvPr id="17" name="Text 14"/>
          <p:cNvSpPr txBox="1"/>
          <p:nvPr/>
        </p:nvSpPr>
        <p:spPr>
          <a:xfrm>
            <a:off x="63825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study</a:t>
            </a:r>
            <a:endParaRPr lang="en-US" sz="1100" dirty="0"/>
          </a:p>
        </p:txBody>
      </p:sp>
      <p:sp>
        <p:nvSpPr>
          <p:cNvPr id="18" name="Text 15"/>
          <p:cNvSpPr txBox="1"/>
          <p:nvPr/>
        </p:nvSpPr>
        <p:spPr>
          <a:xfrm>
            <a:off x="36393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write</a:t>
            </a:r>
            <a:endParaRPr lang="en-US" sz="1100" dirty="0"/>
          </a:p>
        </p:txBody>
      </p:sp>
      <p:sp>
        <p:nvSpPr>
          <p:cNvPr id="19" name="Text 16"/>
          <p:cNvSpPr txBox="1"/>
          <p:nvPr/>
        </p:nvSpPr>
        <p:spPr>
          <a:xfrm>
            <a:off x="530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Step</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144000" y="2267712"/>
            <a:ext cx="2496312"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تَجْلِسُ</a:t>
            </a:r>
            <a:endParaRPr lang="ar-SA" sz="2600" dirty="0"/>
          </a:p>
        </p:txBody>
      </p:sp>
      <p:sp>
        <p:nvSpPr>
          <p:cNvPr id="22" name="Text 19"/>
          <p:cNvSpPr txBox="1"/>
          <p:nvPr/>
        </p:nvSpPr>
        <p:spPr>
          <a:xfrm>
            <a:off x="6400800" y="2267712"/>
            <a:ext cx="256032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تَدْرُسُ</a:t>
            </a:r>
            <a:endParaRPr lang="ar-SA" sz="2600" dirty="0"/>
          </a:p>
        </p:txBody>
      </p:sp>
      <p:sp>
        <p:nvSpPr>
          <p:cNvPr id="23" name="Text 20"/>
          <p:cNvSpPr txBox="1"/>
          <p:nvPr/>
        </p:nvSpPr>
        <p:spPr>
          <a:xfrm>
            <a:off x="3657600" y="2267712"/>
            <a:ext cx="256032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تَكْتُبُ</a:t>
            </a:r>
            <a:endParaRPr lang="ar-SA" sz="2600" dirty="0"/>
          </a:p>
        </p:txBody>
      </p:sp>
      <p:sp>
        <p:nvSpPr>
          <p:cNvPr id="24" name="Text 21"/>
          <p:cNvSpPr txBox="1"/>
          <p:nvPr/>
        </p:nvSpPr>
        <p:spPr>
          <a:xfrm>
            <a:off x="566928"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you (m.) present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9144000" y="3054096"/>
            <a:ext cx="2496312"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تَجْلِسْ</a:t>
            </a:r>
            <a:endParaRPr lang="ar-SA" sz="2600" dirty="0"/>
          </a:p>
        </p:txBody>
      </p:sp>
      <p:sp>
        <p:nvSpPr>
          <p:cNvPr id="29" name="Text 26"/>
          <p:cNvSpPr txBox="1"/>
          <p:nvPr/>
        </p:nvSpPr>
        <p:spPr>
          <a:xfrm>
            <a:off x="6400800" y="3054096"/>
            <a:ext cx="256032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تَدْرُسْ</a:t>
            </a:r>
            <a:endParaRPr lang="ar-SA" sz="2600" dirty="0"/>
          </a:p>
        </p:txBody>
      </p:sp>
      <p:sp>
        <p:nvSpPr>
          <p:cNvPr id="30" name="Text 27"/>
          <p:cNvSpPr txBox="1"/>
          <p:nvPr/>
        </p:nvSpPr>
        <p:spPr>
          <a:xfrm>
            <a:off x="3657600" y="3054096"/>
            <a:ext cx="256032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تَكْتُبْ</a:t>
            </a:r>
            <a:endParaRPr lang="ar-SA" sz="2600" dirty="0"/>
          </a:p>
        </p:txBody>
      </p:sp>
      <p:sp>
        <p:nvSpPr>
          <p:cNvPr id="31" name="Text 28"/>
          <p:cNvSpPr txBox="1"/>
          <p:nvPr/>
        </p:nvSpPr>
        <p:spPr>
          <a:xfrm>
            <a:off x="566928"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jussive (sukūn)</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9144000" y="3840480"/>
            <a:ext cx="2496312"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جْلِسْ</a:t>
            </a:r>
            <a:endParaRPr lang="ar-SA" sz="2600" dirty="0"/>
          </a:p>
        </p:txBody>
      </p:sp>
      <p:sp>
        <p:nvSpPr>
          <p:cNvPr id="36" name="Text 33"/>
          <p:cNvSpPr txBox="1"/>
          <p:nvPr/>
        </p:nvSpPr>
        <p:spPr>
          <a:xfrm>
            <a:off x="6400800" y="3840480"/>
            <a:ext cx="256032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دْرُسْ</a:t>
            </a:r>
            <a:endParaRPr lang="ar-SA" sz="2600" dirty="0"/>
          </a:p>
        </p:txBody>
      </p:sp>
      <p:sp>
        <p:nvSpPr>
          <p:cNvPr id="37" name="Text 34"/>
          <p:cNvSpPr txBox="1"/>
          <p:nvPr/>
        </p:nvSpPr>
        <p:spPr>
          <a:xfrm>
            <a:off x="3657600" y="3840480"/>
            <a:ext cx="256032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كْتُبْ</a:t>
            </a:r>
            <a:endParaRPr lang="ar-SA" sz="2600" dirty="0"/>
          </a:p>
        </p:txBody>
      </p:sp>
      <p:sp>
        <p:nvSpPr>
          <p:cNvPr id="38" name="Text 35"/>
          <p:cNvSpPr txBox="1"/>
          <p:nvPr/>
        </p:nvSpPr>
        <p:spPr>
          <a:xfrm>
            <a:off x="566928" y="3840480"/>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remove ta-</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9144000" y="4626864"/>
            <a:ext cx="2496312"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اِجْلِسْ</a:t>
            </a:r>
            <a:endParaRPr lang="ar-SA" sz="2600" dirty="0"/>
          </a:p>
        </p:txBody>
      </p:sp>
      <p:sp>
        <p:nvSpPr>
          <p:cNvPr id="41" name="Text 38"/>
          <p:cNvSpPr txBox="1"/>
          <p:nvPr/>
        </p:nvSpPr>
        <p:spPr>
          <a:xfrm>
            <a:off x="6400800" y="4626864"/>
            <a:ext cx="256032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اُدْرُسْ</a:t>
            </a:r>
            <a:endParaRPr lang="ar-SA" sz="2600" dirty="0"/>
          </a:p>
        </p:txBody>
      </p:sp>
      <p:sp>
        <p:nvSpPr>
          <p:cNvPr id="42" name="Text 39"/>
          <p:cNvSpPr txBox="1"/>
          <p:nvPr/>
        </p:nvSpPr>
        <p:spPr>
          <a:xfrm>
            <a:off x="3657600" y="4626864"/>
            <a:ext cx="256032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اُكْتُبْ</a:t>
            </a:r>
            <a:endParaRPr lang="ar-SA" sz="2600" dirty="0"/>
          </a:p>
        </p:txBody>
      </p:sp>
      <p:sp>
        <p:nvSpPr>
          <p:cNvPr id="43" name="Text 40"/>
          <p:cNvSpPr txBox="1"/>
          <p:nvPr/>
        </p:nvSpPr>
        <p:spPr>
          <a:xfrm>
            <a:off x="566928" y="4626864"/>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add a helping vowel</a:t>
            </a:r>
            <a:endParaRPr lang="en-US" sz="1100" dirty="0"/>
          </a:p>
        </p:txBody>
      </p:sp>
      <p:sp>
        <p:nvSpPr>
          <p:cNvPr id="44" name="Shape 41"/>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6" name="Text 4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a word cannot begin with sukūn, so a helping alif is added — u- when the middle vowel is u (yaktubu), i- otherwise (yajlisu, yaftaḥu). Learn each pair.</a:t>
            </a:r>
            <a:endParaRPr lang="en-US" sz="11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GM-V-07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2 · IMPERATIVE ENDINGS FOR EACH AUDIENCE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Commands have an audience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نِهَايَاتُ الْأَمْرِ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942832" y="1810512"/>
            <a:ext cx="2715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read</a:t>
            </a:r>
            <a:endParaRPr lang="en-US" sz="1100" dirty="0"/>
          </a:p>
        </p:txBody>
      </p:sp>
      <p:sp>
        <p:nvSpPr>
          <p:cNvPr id="17" name="Text 14"/>
          <p:cNvSpPr txBox="1"/>
          <p:nvPr/>
        </p:nvSpPr>
        <p:spPr>
          <a:xfrm>
            <a:off x="6108192" y="1810512"/>
            <a:ext cx="2688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go</a:t>
            </a:r>
            <a:endParaRPr lang="en-US" sz="1100" dirty="0"/>
          </a:p>
        </p:txBody>
      </p:sp>
      <p:sp>
        <p:nvSpPr>
          <p:cNvPr id="18" name="Text 15"/>
          <p:cNvSpPr txBox="1"/>
          <p:nvPr/>
        </p:nvSpPr>
        <p:spPr>
          <a:xfrm>
            <a:off x="3273552" y="1810512"/>
            <a:ext cx="2688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write</a:t>
            </a:r>
            <a:endParaRPr lang="en-US" sz="1100" dirty="0"/>
          </a:p>
        </p:txBody>
      </p:sp>
      <p:sp>
        <p:nvSpPr>
          <p:cNvPr id="19" name="Text 16"/>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Speaking to</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61120" y="2267712"/>
            <a:ext cx="2679192"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اِقْرَأْ</a:t>
            </a:r>
            <a:endParaRPr lang="ar-SA" sz="2600" dirty="0"/>
          </a:p>
        </p:txBody>
      </p:sp>
      <p:sp>
        <p:nvSpPr>
          <p:cNvPr id="22" name="Text 19"/>
          <p:cNvSpPr txBox="1"/>
          <p:nvPr/>
        </p:nvSpPr>
        <p:spPr>
          <a:xfrm>
            <a:off x="6126480" y="2267712"/>
            <a:ext cx="26517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اِذْهَبْ</a:t>
            </a:r>
            <a:endParaRPr lang="ar-SA" sz="2600" dirty="0"/>
          </a:p>
        </p:txBody>
      </p:sp>
      <p:sp>
        <p:nvSpPr>
          <p:cNvPr id="23" name="Text 20"/>
          <p:cNvSpPr txBox="1"/>
          <p:nvPr/>
        </p:nvSpPr>
        <p:spPr>
          <a:xfrm>
            <a:off x="3291840" y="2267712"/>
            <a:ext cx="26517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اُكْتُبْ</a:t>
            </a:r>
            <a:endParaRPr lang="ar-SA" sz="2600" dirty="0"/>
          </a:p>
        </p:txBody>
      </p:sp>
      <p:sp>
        <p:nvSpPr>
          <p:cNvPr id="24" name="Text 21"/>
          <p:cNvSpPr txBox="1"/>
          <p:nvPr/>
        </p:nvSpPr>
        <p:spPr>
          <a:xfrm>
            <a:off x="56692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male · anta</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61120" y="3004718"/>
            <a:ext cx="2679192"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اِقْرَئِي</a:t>
            </a:r>
            <a:endParaRPr lang="ar-SA" sz="2600" dirty="0"/>
          </a:p>
        </p:txBody>
      </p:sp>
      <p:sp>
        <p:nvSpPr>
          <p:cNvPr id="29" name="Text 26"/>
          <p:cNvSpPr txBox="1"/>
          <p:nvPr/>
        </p:nvSpPr>
        <p:spPr>
          <a:xfrm>
            <a:off x="6126480" y="3004718"/>
            <a:ext cx="26517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اِذْهَبِي</a:t>
            </a:r>
            <a:endParaRPr lang="ar-SA" sz="2600" dirty="0"/>
          </a:p>
        </p:txBody>
      </p:sp>
      <p:sp>
        <p:nvSpPr>
          <p:cNvPr id="30" name="Text 27"/>
          <p:cNvSpPr txBox="1"/>
          <p:nvPr/>
        </p:nvSpPr>
        <p:spPr>
          <a:xfrm>
            <a:off x="3291840" y="3004718"/>
            <a:ext cx="26517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اُكْتُبِي</a:t>
            </a:r>
            <a:endParaRPr lang="ar-SA" sz="2600" dirty="0"/>
          </a:p>
        </p:txBody>
      </p:sp>
      <p:sp>
        <p:nvSpPr>
          <p:cNvPr id="31" name="Text 28"/>
          <p:cNvSpPr txBox="1"/>
          <p:nvPr/>
        </p:nvSpPr>
        <p:spPr>
          <a:xfrm>
            <a:off x="56692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female · anti</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61120" y="3741725"/>
            <a:ext cx="2679192"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اِقْرَآ</a:t>
            </a:r>
            <a:endParaRPr lang="ar-SA" sz="2600" dirty="0"/>
          </a:p>
        </p:txBody>
      </p:sp>
      <p:sp>
        <p:nvSpPr>
          <p:cNvPr id="36" name="Text 33"/>
          <p:cNvSpPr txBox="1"/>
          <p:nvPr/>
        </p:nvSpPr>
        <p:spPr>
          <a:xfrm>
            <a:off x="6126480" y="3741725"/>
            <a:ext cx="26517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اِذْهَبَا</a:t>
            </a:r>
            <a:endParaRPr lang="ar-SA" sz="2600" dirty="0"/>
          </a:p>
        </p:txBody>
      </p:sp>
      <p:sp>
        <p:nvSpPr>
          <p:cNvPr id="37" name="Text 34"/>
          <p:cNvSpPr txBox="1"/>
          <p:nvPr/>
        </p:nvSpPr>
        <p:spPr>
          <a:xfrm>
            <a:off x="3291840" y="3741725"/>
            <a:ext cx="26517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اُكْتُبَا</a:t>
            </a:r>
            <a:endParaRPr lang="ar-SA" sz="2600" dirty="0"/>
          </a:p>
        </p:txBody>
      </p:sp>
      <p:sp>
        <p:nvSpPr>
          <p:cNvPr id="38" name="Text 35"/>
          <p:cNvSpPr txBox="1"/>
          <p:nvPr/>
        </p:nvSpPr>
        <p:spPr>
          <a:xfrm>
            <a:off x="56692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people · antumā</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961120" y="4478731"/>
            <a:ext cx="2679192"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اِقْرَؤُوا</a:t>
            </a:r>
            <a:endParaRPr lang="ar-SA" sz="2600" dirty="0"/>
          </a:p>
        </p:txBody>
      </p:sp>
      <p:sp>
        <p:nvSpPr>
          <p:cNvPr id="41" name="Text 38"/>
          <p:cNvSpPr txBox="1"/>
          <p:nvPr/>
        </p:nvSpPr>
        <p:spPr>
          <a:xfrm>
            <a:off x="6126480" y="4478731"/>
            <a:ext cx="26517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اِذْهَبُوا</a:t>
            </a:r>
            <a:endParaRPr lang="ar-SA" sz="2600" dirty="0"/>
          </a:p>
        </p:txBody>
      </p:sp>
      <p:sp>
        <p:nvSpPr>
          <p:cNvPr id="42" name="Text 39"/>
          <p:cNvSpPr txBox="1"/>
          <p:nvPr/>
        </p:nvSpPr>
        <p:spPr>
          <a:xfrm>
            <a:off x="3291840" y="4478731"/>
            <a:ext cx="26517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اُكْتُبُوا</a:t>
            </a:r>
            <a:endParaRPr lang="ar-SA" sz="2600" dirty="0"/>
          </a:p>
        </p:txBody>
      </p:sp>
      <p:sp>
        <p:nvSpPr>
          <p:cNvPr id="43" name="Text 40"/>
          <p:cNvSpPr txBox="1"/>
          <p:nvPr/>
        </p:nvSpPr>
        <p:spPr>
          <a:xfrm>
            <a:off x="56692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group · antum</a:t>
            </a:r>
            <a:endParaRPr lang="en-US" sz="1100" dirty="0"/>
          </a:p>
        </p:txBody>
      </p:sp>
      <p:sp>
        <p:nvSpPr>
          <p:cNvPr id="44" name="Shape 41"/>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8961120" y="5215738"/>
            <a:ext cx="2679192"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اِقْرَأْنَ</a:t>
            </a:r>
            <a:endParaRPr lang="ar-SA" sz="2600" dirty="0"/>
          </a:p>
        </p:txBody>
      </p:sp>
      <p:sp>
        <p:nvSpPr>
          <p:cNvPr id="48" name="Text 45"/>
          <p:cNvSpPr txBox="1"/>
          <p:nvPr/>
        </p:nvSpPr>
        <p:spPr>
          <a:xfrm>
            <a:off x="6126480" y="5215738"/>
            <a:ext cx="26517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اِذْهَبْنَ</a:t>
            </a:r>
            <a:endParaRPr lang="ar-SA" sz="2600" dirty="0"/>
          </a:p>
        </p:txBody>
      </p:sp>
      <p:sp>
        <p:nvSpPr>
          <p:cNvPr id="49" name="Text 46"/>
          <p:cNvSpPr txBox="1"/>
          <p:nvPr/>
        </p:nvSpPr>
        <p:spPr>
          <a:xfrm>
            <a:off x="3291840" y="5215738"/>
            <a:ext cx="26517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اُكْتُبْنَ</a:t>
            </a:r>
            <a:endParaRPr lang="ar-SA" sz="2600" dirty="0"/>
          </a:p>
        </p:txBody>
      </p:sp>
      <p:sp>
        <p:nvSpPr>
          <p:cNvPr id="50" name="Text 47"/>
          <p:cNvSpPr txBox="1"/>
          <p:nvPr/>
        </p:nvSpPr>
        <p:spPr>
          <a:xfrm>
            <a:off x="56692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female group · antunna</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the same small ending family every time — nothing, -ī, -ā, -ū, -na. Irregular and very common: khudh (take!), kul (eat!), qul (say!).</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GM-V-07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B3B6F"/>
                </a:solidFill>
                <a:latin typeface="Calibri" pitchFamily="34" charset="0"/>
                <a:cs typeface="Amiri" pitchFamily="2" charset="-78"/>
              </a:rPr>
              <a:t>GRAMMAR · PART 3 · NEGATIVE COMMANDS AND TONE (WEBSITE) · DEVELOP / STRETCH</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Don’t! — and how to sound polite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النَّهْيُ وَالْأُسْلُوبُ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199632" y="1810512"/>
            <a:ext cx="54589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30906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Don’t!</a:t>
            </a:r>
            <a:endParaRPr lang="en-US" sz="1100" dirty="0"/>
          </a:p>
        </p:txBody>
      </p:sp>
      <p:sp>
        <p:nvSpPr>
          <p:cNvPr id="18" name="Text 15"/>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Command</a:t>
            </a:r>
            <a:endParaRPr lang="en-US" sz="1100" dirty="0"/>
          </a:p>
        </p:txBody>
      </p:sp>
      <p:sp>
        <p:nvSpPr>
          <p:cNvPr id="19" name="Shape 16"/>
          <p:cNvSpPr/>
          <p:nvPr/>
        </p:nvSpPr>
        <p:spPr>
          <a:xfrm>
            <a:off x="457200" y="2267712"/>
            <a:ext cx="11274552" cy="471569"/>
          </a:xfrm>
          <a:prstGeom prst="roundRect">
            <a:avLst>
              <a:gd name="adj" fmla="val 9695"/>
            </a:avLst>
          </a:prstGeom>
          <a:solidFill>
            <a:srgbClr val="FFFFFF"/>
          </a:solidFill>
          <a:ln w="9525">
            <a:solidFill>
              <a:srgbClr val="D8D0BF"/>
            </a:solidFill>
            <a:prstDash val="solid"/>
          </a:ln>
        </p:spPr>
      </p:sp>
      <p:sp>
        <p:nvSpPr>
          <p:cNvPr id="20" name="Text 17"/>
          <p:cNvSpPr txBox="1"/>
          <p:nvPr/>
        </p:nvSpPr>
        <p:spPr>
          <a:xfrm>
            <a:off x="6236208" y="2267712"/>
            <a:ext cx="542239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not write (one male) — sukūn</a:t>
            </a:r>
            <a:endParaRPr lang="en-US" sz="1100" dirty="0"/>
          </a:p>
        </p:txBody>
      </p:sp>
      <p:sp>
        <p:nvSpPr>
          <p:cNvPr id="21" name="Text 18"/>
          <p:cNvSpPr txBox="1"/>
          <p:nvPr/>
        </p:nvSpPr>
        <p:spPr>
          <a:xfrm>
            <a:off x="3108960" y="2267712"/>
            <a:ext cx="29260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لَا تَكْتُبْ</a:t>
            </a:r>
            <a:endParaRPr lang="ar-SA" sz="2200" dirty="0"/>
          </a:p>
        </p:txBody>
      </p:sp>
      <p:sp>
        <p:nvSpPr>
          <p:cNvPr id="22" name="Text 19"/>
          <p:cNvSpPr txBox="1"/>
          <p:nvPr/>
        </p:nvSpPr>
        <p:spPr>
          <a:xfrm>
            <a:off x="548640" y="2267712"/>
            <a:ext cx="23774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اُكْتُبْ</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794145"/>
            <a:ext cx="11274552" cy="471569"/>
          </a:xfrm>
          <a:prstGeom prst="roundRect">
            <a:avLst>
              <a:gd name="adj" fmla="val 9695"/>
            </a:avLst>
          </a:prstGeom>
          <a:solidFill>
            <a:srgbClr val="F4F1EA"/>
          </a:solidFill>
          <a:ln w="9525">
            <a:solidFill>
              <a:srgbClr val="D8D0BF"/>
            </a:solidFill>
            <a:prstDash val="solid"/>
          </a:ln>
        </p:spPr>
      </p:sp>
      <p:sp>
        <p:nvSpPr>
          <p:cNvPr id="26" name="Text 23"/>
          <p:cNvSpPr txBox="1"/>
          <p:nvPr/>
        </p:nvSpPr>
        <p:spPr>
          <a:xfrm>
            <a:off x="6236208" y="2794145"/>
            <a:ext cx="542239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not write (one female) — nūn dropped</a:t>
            </a:r>
            <a:endParaRPr lang="en-US" sz="1100" dirty="0"/>
          </a:p>
        </p:txBody>
      </p:sp>
      <p:sp>
        <p:nvSpPr>
          <p:cNvPr id="27" name="Text 24"/>
          <p:cNvSpPr txBox="1"/>
          <p:nvPr/>
        </p:nvSpPr>
        <p:spPr>
          <a:xfrm>
            <a:off x="3108960" y="2794145"/>
            <a:ext cx="29260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لَا تَكْتُبِي</a:t>
            </a:r>
            <a:endParaRPr lang="ar-SA" sz="2200" dirty="0"/>
          </a:p>
        </p:txBody>
      </p:sp>
      <p:sp>
        <p:nvSpPr>
          <p:cNvPr id="28" name="Text 25"/>
          <p:cNvSpPr txBox="1"/>
          <p:nvPr/>
        </p:nvSpPr>
        <p:spPr>
          <a:xfrm>
            <a:off x="548640" y="2794145"/>
            <a:ext cx="23774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اُكْتُبِي</a:t>
            </a:r>
            <a:endParaRPr lang="ar-SA" sz="2200" dirty="0"/>
          </a:p>
        </p:txBody>
      </p:sp>
      <p:sp>
        <p:nvSpPr>
          <p:cNvPr id="29" name="Shape 26"/>
          <p:cNvSpPr/>
          <p:nvPr/>
        </p:nvSpPr>
        <p:spPr>
          <a:xfrm>
            <a:off x="11091672" y="2839865"/>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83986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320578"/>
            <a:ext cx="11274552" cy="471569"/>
          </a:xfrm>
          <a:prstGeom prst="roundRect">
            <a:avLst>
              <a:gd name="adj" fmla="val 9695"/>
            </a:avLst>
          </a:prstGeom>
          <a:solidFill>
            <a:srgbClr val="FFFFFF"/>
          </a:solidFill>
          <a:ln w="9525">
            <a:solidFill>
              <a:srgbClr val="D8D0BF"/>
            </a:solidFill>
            <a:prstDash val="solid"/>
          </a:ln>
        </p:spPr>
      </p:sp>
      <p:sp>
        <p:nvSpPr>
          <p:cNvPr id="32" name="Text 29"/>
          <p:cNvSpPr txBox="1"/>
          <p:nvPr/>
        </p:nvSpPr>
        <p:spPr>
          <a:xfrm>
            <a:off x="6236208" y="3320578"/>
            <a:ext cx="542239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not write (two people)</a:t>
            </a:r>
            <a:endParaRPr lang="en-US" sz="1100" dirty="0"/>
          </a:p>
        </p:txBody>
      </p:sp>
      <p:sp>
        <p:nvSpPr>
          <p:cNvPr id="33" name="Text 30"/>
          <p:cNvSpPr txBox="1"/>
          <p:nvPr/>
        </p:nvSpPr>
        <p:spPr>
          <a:xfrm>
            <a:off x="3108960" y="3320578"/>
            <a:ext cx="29260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لَا تَكْتُبَا</a:t>
            </a:r>
            <a:endParaRPr lang="ar-SA" sz="2200" dirty="0"/>
          </a:p>
        </p:txBody>
      </p:sp>
      <p:sp>
        <p:nvSpPr>
          <p:cNvPr id="34" name="Text 31"/>
          <p:cNvSpPr txBox="1"/>
          <p:nvPr/>
        </p:nvSpPr>
        <p:spPr>
          <a:xfrm>
            <a:off x="548640" y="3320578"/>
            <a:ext cx="23774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اُكْتُبَا</a:t>
            </a:r>
            <a:endParaRPr lang="ar-SA" sz="2200" dirty="0"/>
          </a:p>
        </p:txBody>
      </p:sp>
      <p:sp>
        <p:nvSpPr>
          <p:cNvPr id="35" name="Shape 32"/>
          <p:cNvSpPr/>
          <p:nvPr/>
        </p:nvSpPr>
        <p:spPr>
          <a:xfrm>
            <a:off x="457200" y="3847011"/>
            <a:ext cx="11274552" cy="471569"/>
          </a:xfrm>
          <a:prstGeom prst="roundRect">
            <a:avLst>
              <a:gd name="adj" fmla="val 9695"/>
            </a:avLst>
          </a:prstGeom>
          <a:solidFill>
            <a:srgbClr val="F4F1EA"/>
          </a:solidFill>
          <a:ln w="9525">
            <a:solidFill>
              <a:srgbClr val="D8D0BF"/>
            </a:solidFill>
            <a:prstDash val="solid"/>
          </a:ln>
        </p:spPr>
      </p:sp>
      <p:sp>
        <p:nvSpPr>
          <p:cNvPr id="36" name="Text 33"/>
          <p:cNvSpPr txBox="1"/>
          <p:nvPr/>
        </p:nvSpPr>
        <p:spPr>
          <a:xfrm>
            <a:off x="6236208" y="3847011"/>
            <a:ext cx="542239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not write (a group)</a:t>
            </a:r>
            <a:endParaRPr lang="en-US" sz="1100" dirty="0"/>
          </a:p>
        </p:txBody>
      </p:sp>
      <p:sp>
        <p:nvSpPr>
          <p:cNvPr id="37" name="Text 34"/>
          <p:cNvSpPr txBox="1"/>
          <p:nvPr/>
        </p:nvSpPr>
        <p:spPr>
          <a:xfrm>
            <a:off x="3108960" y="3847011"/>
            <a:ext cx="29260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لَا تَكْتُبُوا</a:t>
            </a:r>
            <a:endParaRPr lang="ar-SA" sz="2200" dirty="0"/>
          </a:p>
        </p:txBody>
      </p:sp>
      <p:sp>
        <p:nvSpPr>
          <p:cNvPr id="38" name="Text 35"/>
          <p:cNvSpPr txBox="1"/>
          <p:nvPr/>
        </p:nvSpPr>
        <p:spPr>
          <a:xfrm>
            <a:off x="548640" y="3847011"/>
            <a:ext cx="23774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اُكْتُبُوا</a:t>
            </a:r>
            <a:endParaRPr lang="ar-SA" sz="2200" dirty="0"/>
          </a:p>
        </p:txBody>
      </p:sp>
      <p:sp>
        <p:nvSpPr>
          <p:cNvPr id="39" name="Shape 36"/>
          <p:cNvSpPr/>
          <p:nvPr/>
        </p:nvSpPr>
        <p:spPr>
          <a:xfrm>
            <a:off x="11091672" y="3892731"/>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9273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373445"/>
            <a:ext cx="11274552" cy="471569"/>
          </a:xfrm>
          <a:prstGeom prst="roundRect">
            <a:avLst>
              <a:gd name="adj" fmla="val 9695"/>
            </a:avLst>
          </a:prstGeom>
          <a:solidFill>
            <a:srgbClr val="FFFFFF"/>
          </a:solidFill>
          <a:ln w="9525">
            <a:solidFill>
              <a:srgbClr val="D8D0BF"/>
            </a:solidFill>
            <a:prstDash val="solid"/>
          </a:ln>
        </p:spPr>
      </p:sp>
      <p:sp>
        <p:nvSpPr>
          <p:cNvPr id="42" name="Text 39"/>
          <p:cNvSpPr txBox="1"/>
          <p:nvPr/>
        </p:nvSpPr>
        <p:spPr>
          <a:xfrm>
            <a:off x="6236208" y="4373445"/>
            <a:ext cx="542239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not write (a female group)</a:t>
            </a:r>
            <a:endParaRPr lang="en-US" sz="1100" dirty="0"/>
          </a:p>
        </p:txBody>
      </p:sp>
      <p:sp>
        <p:nvSpPr>
          <p:cNvPr id="43" name="Text 40"/>
          <p:cNvSpPr txBox="1"/>
          <p:nvPr/>
        </p:nvSpPr>
        <p:spPr>
          <a:xfrm>
            <a:off x="3108960" y="4373445"/>
            <a:ext cx="29260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لَا تَكْتُبْنَ</a:t>
            </a:r>
            <a:endParaRPr lang="ar-SA" sz="2200" dirty="0"/>
          </a:p>
        </p:txBody>
      </p:sp>
      <p:sp>
        <p:nvSpPr>
          <p:cNvPr id="44" name="Text 41"/>
          <p:cNvSpPr txBox="1"/>
          <p:nvPr/>
        </p:nvSpPr>
        <p:spPr>
          <a:xfrm>
            <a:off x="548640" y="4373445"/>
            <a:ext cx="23774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اُكْتُبْنَ</a:t>
            </a:r>
            <a:endParaRPr lang="ar-SA" sz="2200" dirty="0"/>
          </a:p>
        </p:txBody>
      </p:sp>
      <p:sp>
        <p:nvSpPr>
          <p:cNvPr id="45" name="Shape 42"/>
          <p:cNvSpPr/>
          <p:nvPr/>
        </p:nvSpPr>
        <p:spPr>
          <a:xfrm>
            <a:off x="457200" y="4899878"/>
            <a:ext cx="11274552" cy="471569"/>
          </a:xfrm>
          <a:prstGeom prst="roundRect">
            <a:avLst>
              <a:gd name="adj" fmla="val 9695"/>
            </a:avLst>
          </a:prstGeom>
          <a:solidFill>
            <a:srgbClr val="F4F1EA"/>
          </a:solidFill>
          <a:ln w="9525">
            <a:solidFill>
              <a:srgbClr val="D8D0BF"/>
            </a:solidFill>
            <a:prstDash val="solid"/>
          </a:ln>
        </p:spPr>
      </p:sp>
      <p:sp>
        <p:nvSpPr>
          <p:cNvPr id="46" name="Text 43"/>
          <p:cNvSpPr txBox="1"/>
          <p:nvPr/>
        </p:nvSpPr>
        <p:spPr>
          <a:xfrm>
            <a:off x="6236208" y="4899878"/>
            <a:ext cx="542239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Please read the text. (to a girl)</a:t>
            </a:r>
            <a:endParaRPr lang="en-US" sz="1100" dirty="0"/>
          </a:p>
        </p:txBody>
      </p:sp>
      <p:sp>
        <p:nvSpPr>
          <p:cNvPr id="47" name="Text 44"/>
          <p:cNvSpPr txBox="1"/>
          <p:nvPr/>
        </p:nvSpPr>
        <p:spPr>
          <a:xfrm>
            <a:off x="3108960" y="4899878"/>
            <a:ext cx="29260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مِنْ فَضْلِكِ، اِقْرَئِي النَّصَّ.</a:t>
            </a:r>
            <a:endParaRPr lang="ar-SA" sz="2200" dirty="0"/>
          </a:p>
        </p:txBody>
      </p:sp>
      <p:sp>
        <p:nvSpPr>
          <p:cNvPr id="48" name="Text 45"/>
          <p:cNvSpPr txBox="1"/>
          <p:nvPr/>
        </p:nvSpPr>
        <p:spPr>
          <a:xfrm>
            <a:off x="566928" y="4899878"/>
            <a:ext cx="237744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polite</a:t>
            </a:r>
            <a:endParaRPr lang="en-US" sz="1100" dirty="0"/>
          </a:p>
        </p:txBody>
      </p:sp>
      <p:sp>
        <p:nvSpPr>
          <p:cNvPr id="49" name="Shape 46"/>
          <p:cNvSpPr/>
          <p:nvPr/>
        </p:nvSpPr>
        <p:spPr>
          <a:xfrm>
            <a:off x="457200" y="5426311"/>
            <a:ext cx="11274552" cy="471569"/>
          </a:xfrm>
          <a:prstGeom prst="roundRect">
            <a:avLst>
              <a:gd name="adj" fmla="val 9695"/>
            </a:avLst>
          </a:prstGeom>
          <a:solidFill>
            <a:srgbClr val="FFFFFF"/>
          </a:solidFill>
          <a:ln w="9525">
            <a:solidFill>
              <a:srgbClr val="D8D0BF"/>
            </a:solidFill>
            <a:prstDash val="solid"/>
          </a:ln>
        </p:spPr>
      </p:sp>
      <p:sp>
        <p:nvSpPr>
          <p:cNvPr id="50" name="Text 47"/>
          <p:cNvSpPr txBox="1"/>
          <p:nvPr/>
        </p:nvSpPr>
        <p:spPr>
          <a:xfrm>
            <a:off x="6236208" y="5426311"/>
            <a:ext cx="542239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Please switch off your phone.</a:t>
            </a:r>
            <a:endParaRPr lang="en-US" sz="1100" dirty="0"/>
          </a:p>
        </p:txBody>
      </p:sp>
      <p:sp>
        <p:nvSpPr>
          <p:cNvPr id="51" name="Text 48"/>
          <p:cNvSpPr txBox="1"/>
          <p:nvPr/>
        </p:nvSpPr>
        <p:spPr>
          <a:xfrm>
            <a:off x="3108960" y="5426311"/>
            <a:ext cx="29260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يُرْجَى إِغْلَاقُ الْهَاتِفِ.</a:t>
            </a:r>
            <a:endParaRPr lang="ar-SA" sz="2200" dirty="0"/>
          </a:p>
        </p:txBody>
      </p:sp>
      <p:sp>
        <p:nvSpPr>
          <p:cNvPr id="52" name="Text 49"/>
          <p:cNvSpPr txBox="1"/>
          <p:nvPr/>
        </p:nvSpPr>
        <p:spPr>
          <a:xfrm>
            <a:off x="566928" y="5426311"/>
            <a:ext cx="237744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formal sign</a:t>
            </a:r>
            <a:endParaRPr lang="en-US" sz="1100" dirty="0"/>
          </a:p>
        </p:txBody>
      </p:sp>
      <p:sp>
        <p:nvSpPr>
          <p:cNvPr id="53" name="Text 5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a positive command uses the imperative; a negative command uses lā + the jussive you-form. Lan is NOT a command (GM-V-06).</a:t>
            </a:r>
            <a:endParaRPr lang="en-US" sz="115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GM-V-07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Imperative of yaftaḥu (open)?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اُفْتُحْ</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فَتَحَ</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اِفْتَحْ</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Imperative of yakhruju (go out)?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اُخْرُجْ</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اِخْرَجْ</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خَرَجَ</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“Go!” to one female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اِذْهَبْ</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اِذْهَبِي</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تَذْهَبِينَ</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“Write!” to a female group</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اُكْتُبْنَ</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اُكْتُبُوا</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اُكْتُبِي</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GM-V-07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Imperative of yaftaḥu (open)?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اُفْتُحْ</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فَتَحَ</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اِفْتَحْ</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Common command: iftaḥ.</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Imperative of yakhruju (go out)?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اُخْرُجْ</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اِخْرَجْ</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خَرَجَ</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Middle vowel u → helping vowel u: ukhruj.</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“Go!” to one female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اِذْهَبْ</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اِذْهَبِي</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تَذْهَبِينَ</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singular command: -ī.</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“Write!” to a female group</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اُكْتُبْنَ</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اُكْتُبُوا</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اُكْتُبِي</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plural ending -na.</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GM-V-07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Watch me give instructions for a computer task</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GM-V-07</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You open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تَفْتَحُ</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yaftaḥu → you form.</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Command</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اِفْتَحْ</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Drop ta-, add i-.</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You forget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تَنْسَى</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Final weak verb.</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Don’t!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لَا تَنْسَ</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Jussive: the alif drops.</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COMMAND</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PROHIBITION</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400" b="1" dirty="0">
                <a:solidFill>
                  <a:srgbClr val="1B3B6F"/>
                </a:solidFill>
                <a:latin typeface="Amiri" pitchFamily="2" charset="-78"/>
                <a:ea typeface="Amiri" pitchFamily="2" charset="-78"/>
                <a:cs typeface="Amiri" pitchFamily="2" charset="-78"/>
              </a:rPr>
              <a:t>أَوَّلًا، </a:t>
            </a:r>
            <a:pPr rtl="1" algn="r" indent="0" marL="0">
              <a:buNone/>
            </a:pPr>
            <a:r>
              <a:rPr lang="ar-SA" altLang="en-US" sz="2400" b="1" dirty="0">
                <a:solidFill>
                  <a:srgbClr val="0E7C86"/>
                </a:solidFill>
                <a:latin typeface="Amiri" pitchFamily="2" charset="-78"/>
                <a:ea typeface="Amiri" pitchFamily="2" charset="-78"/>
                <a:cs typeface="Amiri" pitchFamily="2" charset="-78"/>
              </a:rPr>
              <a:t>اِفْتَحِ</a:t>
            </a:r>
            <a:pPr rtl="1" algn="r" indent="0" marL="0">
              <a:buNone/>
            </a:pPr>
            <a:r>
              <a:rPr lang="ar-SA" altLang="en-US" sz="2400" b="1" dirty="0">
                <a:solidFill>
                  <a:srgbClr val="1B3B6F"/>
                </a:solidFill>
                <a:latin typeface="Amiri" pitchFamily="2" charset="-78"/>
                <a:ea typeface="Amiri" pitchFamily="2" charset="-78"/>
                <a:cs typeface="Amiri" pitchFamily="2" charset="-78"/>
              </a:rPr>
              <a:t> الْمِلَفَّ. بَعْدَ ذَلِكَ </a:t>
            </a:r>
            <a:pPr rtl="1" algn="r" indent="0" marL="0">
              <a:buNone/>
            </a:pPr>
            <a:r>
              <a:rPr lang="ar-SA" altLang="en-US" sz="2400" b="1" dirty="0">
                <a:solidFill>
                  <a:srgbClr val="0E7C86"/>
                </a:solidFill>
                <a:latin typeface="Amiri" pitchFamily="2" charset="-78"/>
                <a:ea typeface="Amiri" pitchFamily="2" charset="-78"/>
                <a:cs typeface="Amiri" pitchFamily="2" charset="-78"/>
              </a:rPr>
              <a:t>اُكْتُبْ</a:t>
            </a:r>
            <a:pPr rtl="1" algn="r" indent="0" marL="0">
              <a:buNone/>
            </a:pPr>
            <a:r>
              <a:rPr lang="ar-SA" altLang="en-US" sz="2400" b="1" dirty="0">
                <a:solidFill>
                  <a:srgbClr val="1B3B6F"/>
                </a:solidFill>
                <a:latin typeface="Amiri" pitchFamily="2" charset="-78"/>
                <a:ea typeface="Amiri" pitchFamily="2" charset="-78"/>
                <a:cs typeface="Amiri" pitchFamily="2" charset="-78"/>
              </a:rPr>
              <a:t> عُنْوَانَكَ. </a:t>
            </a:r>
            <a:pPr rtl="1" algn="r" indent="0" marL="0">
              <a:buNone/>
            </a:pPr>
            <a:r>
              <a:rPr lang="ar-SA" altLang="en-US" sz="2400" b="1" dirty="0">
                <a:solidFill>
                  <a:srgbClr val="D6336C"/>
                </a:solidFill>
                <a:latin typeface="Amiri" pitchFamily="2" charset="-78"/>
                <a:ea typeface="Amiri" pitchFamily="2" charset="-78"/>
                <a:cs typeface="Amiri" pitchFamily="2" charset="-78"/>
              </a:rPr>
              <a:t>لَا تَنْسَ</a:t>
            </a:r>
            <a:pPr rtl="1" algn="r" indent="0" marL="0">
              <a:buNone/>
            </a:pPr>
            <a:r>
              <a:rPr lang="ar-SA" altLang="en-US" sz="2400" b="1" dirty="0">
                <a:solidFill>
                  <a:srgbClr val="1B3B6F"/>
                </a:solidFill>
                <a:latin typeface="Amiri" pitchFamily="2" charset="-78"/>
                <a:ea typeface="Amiri" pitchFamily="2" charset="-78"/>
                <a:cs typeface="Amiri" pitchFamily="2" charset="-78"/>
              </a:rPr>
              <a:t> أَنْ تَحْفَظَ الْعَمَلَ، وَ</a:t>
            </a:r>
            <a:pPr rtl="1" algn="r" indent="0" marL="0">
              <a:buNone/>
            </a:pPr>
            <a:r>
              <a:rPr lang="ar-SA" altLang="en-US" sz="2400" b="1" dirty="0">
                <a:solidFill>
                  <a:srgbClr val="D6336C"/>
                </a:solidFill>
                <a:latin typeface="Amiri" pitchFamily="2" charset="-78"/>
                <a:ea typeface="Amiri" pitchFamily="2" charset="-78"/>
                <a:cs typeface="Amiri" pitchFamily="2" charset="-78"/>
              </a:rPr>
              <a:t>لَا تُغْلِقِ</a:t>
            </a:r>
            <a:pPr rtl="1" algn="r" indent="0" marL="0">
              <a:buNone/>
            </a:pPr>
            <a:r>
              <a:rPr lang="ar-SA" altLang="en-US" sz="2400" b="1" dirty="0">
                <a:solidFill>
                  <a:srgbClr val="1B3B6F"/>
                </a:solidFill>
                <a:latin typeface="Amiri" pitchFamily="2" charset="-78"/>
                <a:ea typeface="Amiri" pitchFamily="2" charset="-78"/>
                <a:cs typeface="Amiri" pitchFamily="2" charset="-78"/>
              </a:rPr>
              <a:t> الْمُتَصَفِّحَ قَبْلَ الْحِفْظِ.</a:t>
            </a:r>
            <a:endParaRPr lang="ar-SA" sz="24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First, open the file. After that, write your title. Don’t forget to save the work, and don’t close the browser before saving.</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GM-V-07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GM-V-07</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مِنْ فَضْلِكِ، اِفْتَحِي النَّافِذَةَ.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Please open the window. (to a girl)</a:t>
            </a:r>
            <a:endParaRPr lang="en-US" sz="1250" dirty="0"/>
          </a:p>
          <a:p>
            <a:pPr indent="0" marL="0">
              <a:buNone/>
            </a:pPr>
            <a:r>
              <a:rPr lang="en-US" sz="1050" i="1" dirty="0">
                <a:solidFill>
                  <a:srgbClr val="8A6D1E"/>
                </a:solidFill>
                <a:latin typeface="Calibri" pitchFamily="34" charset="0"/>
                <a:cs typeface="Amiri" pitchFamily="2" charset="-78"/>
              </a:rPr>
              <a:t>Polite + -ī.</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اِذْهَبْ مُسْتَقِيمًا، ثُمَّ انْعَطِفْ يَمِينًا.</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Go straight, then turn right.</a:t>
            </a:r>
            <a:endParaRPr lang="en-US" sz="1250" dirty="0"/>
          </a:p>
          <a:p>
            <a:pPr indent="0" marL="0">
              <a:buNone/>
            </a:pPr>
            <a:r>
              <a:rPr lang="en-US" sz="1050" i="1" dirty="0">
                <a:solidFill>
                  <a:srgbClr val="8A6D1E"/>
                </a:solidFill>
                <a:latin typeface="Calibri" pitchFamily="34" charset="0"/>
                <a:cs typeface="Amiri" pitchFamily="2" charset="-78"/>
              </a:rPr>
              <a:t>Directions.</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لَا تَعْبُرُوا الطَّرِيقَ هُنَا.</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Don’t cross the road here. (to a group)</a:t>
            </a:r>
            <a:endParaRPr lang="en-US" sz="1250" dirty="0"/>
          </a:p>
          <a:p>
            <a:pPr indent="0" marL="0">
              <a:buNone/>
            </a:pPr>
            <a:r>
              <a:rPr lang="en-US" sz="1050" i="1" dirty="0">
                <a:solidFill>
                  <a:srgbClr val="8A6D1E"/>
                </a:solidFill>
                <a:latin typeface="Calibri" pitchFamily="34" charset="0"/>
                <a:cs typeface="Amiri" pitchFamily="2" charset="-78"/>
              </a:rPr>
              <a:t>Safety rule.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خُذْ كِتَابَكَ وَاجْلِسْ.</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Take your book and sit down.</a:t>
            </a:r>
            <a:endParaRPr lang="en-US" sz="1250" dirty="0"/>
          </a:p>
          <a:p>
            <a:pPr indent="0" marL="0">
              <a:buNone/>
            </a:pPr>
            <a:r>
              <a:rPr lang="en-US" sz="1050" i="1" dirty="0">
                <a:solidFill>
                  <a:srgbClr val="8A6D1E"/>
                </a:solidFill>
                <a:latin typeface="Calibri" pitchFamily="34" charset="0"/>
                <a:cs typeface="Amiri" pitchFamily="2" charset="-78"/>
              </a:rPr>
              <a:t>Irregular khudh.</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GM-V-07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COMMAND THE AUDIENCE (WEBSITE GAME)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are you talking to?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الْمُخَاطَبُ؟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91472" y="1810512"/>
            <a:ext cx="2167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Clue</a:t>
            </a:r>
            <a:endParaRPr lang="en-US" sz="1100" dirty="0"/>
          </a:p>
        </p:txBody>
      </p:sp>
      <p:sp>
        <p:nvSpPr>
          <p:cNvPr id="17" name="Text 14"/>
          <p:cNvSpPr txBox="1"/>
          <p:nvPr/>
        </p:nvSpPr>
        <p:spPr>
          <a:xfrm>
            <a:off x="638251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8" name="Text 15"/>
          <p:cNvSpPr txBox="1"/>
          <p:nvPr/>
        </p:nvSpPr>
        <p:spPr>
          <a:xfrm>
            <a:off x="382219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 whom?</a:t>
            </a:r>
            <a:endParaRPr lang="en-US" sz="1100" dirty="0"/>
          </a:p>
        </p:txBody>
      </p:sp>
      <p:sp>
        <p:nvSpPr>
          <p:cNvPr id="19" name="Text 16"/>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Instruction</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9528048" y="2267712"/>
            <a:ext cx="21305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-ī</a:t>
            </a:r>
            <a:endParaRPr lang="en-US" sz="1100" dirty="0"/>
          </a:p>
        </p:txBody>
      </p:sp>
      <p:sp>
        <p:nvSpPr>
          <p:cNvPr id="22" name="Text 19"/>
          <p:cNvSpPr txBox="1"/>
          <p:nvPr/>
        </p:nvSpPr>
        <p:spPr>
          <a:xfrm>
            <a:off x="6400800" y="2267712"/>
            <a:ext cx="29260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اُكْتُبِي</a:t>
            </a:r>
            <a:endParaRPr lang="ar-SA" sz="2600" dirty="0"/>
          </a:p>
        </p:txBody>
      </p:sp>
      <p:sp>
        <p:nvSpPr>
          <p:cNvPr id="23" name="Text 20"/>
          <p:cNvSpPr txBox="1"/>
          <p:nvPr/>
        </p:nvSpPr>
        <p:spPr>
          <a:xfrm>
            <a:off x="3858768" y="2267712"/>
            <a:ext cx="23774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female</a:t>
            </a:r>
            <a:endParaRPr lang="en-US" sz="1100" dirty="0"/>
          </a:p>
        </p:txBody>
      </p:sp>
      <p:sp>
        <p:nvSpPr>
          <p:cNvPr id="24" name="Text 21"/>
          <p:cNvSpPr txBox="1"/>
          <p:nvPr/>
        </p:nvSpPr>
        <p:spPr>
          <a:xfrm>
            <a:off x="566928" y="2267712"/>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9528048" y="2881884"/>
            <a:ext cx="21305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-ū</a:t>
            </a:r>
            <a:endParaRPr lang="en-US" sz="1100" dirty="0"/>
          </a:p>
        </p:txBody>
      </p:sp>
      <p:sp>
        <p:nvSpPr>
          <p:cNvPr id="29" name="Text 26"/>
          <p:cNvSpPr txBox="1"/>
          <p:nvPr/>
        </p:nvSpPr>
        <p:spPr>
          <a:xfrm>
            <a:off x="6400800" y="2881884"/>
            <a:ext cx="29260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اِقْرَؤُوا</a:t>
            </a:r>
            <a:endParaRPr lang="ar-SA" sz="2600" dirty="0"/>
          </a:p>
        </p:txBody>
      </p:sp>
      <p:sp>
        <p:nvSpPr>
          <p:cNvPr id="30" name="Text 27"/>
          <p:cNvSpPr txBox="1"/>
          <p:nvPr/>
        </p:nvSpPr>
        <p:spPr>
          <a:xfrm>
            <a:off x="3858768" y="2881884"/>
            <a:ext cx="23774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group</a:t>
            </a:r>
            <a:endParaRPr lang="en-US" sz="1100" dirty="0"/>
          </a:p>
        </p:txBody>
      </p:sp>
      <p:sp>
        <p:nvSpPr>
          <p:cNvPr id="31" name="Text 28"/>
          <p:cNvSpPr txBox="1"/>
          <p:nvPr/>
        </p:nvSpPr>
        <p:spPr>
          <a:xfrm>
            <a:off x="566928" y="2881884"/>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9528048" y="3496056"/>
            <a:ext cx="21305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sukūn</a:t>
            </a:r>
            <a:endParaRPr lang="en-US" sz="1100" dirty="0"/>
          </a:p>
        </p:txBody>
      </p:sp>
      <p:sp>
        <p:nvSpPr>
          <p:cNvPr id="36" name="Text 33"/>
          <p:cNvSpPr txBox="1"/>
          <p:nvPr/>
        </p:nvSpPr>
        <p:spPr>
          <a:xfrm>
            <a:off x="6400800" y="3496056"/>
            <a:ext cx="29260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لَا تَكْتُبْ</a:t>
            </a:r>
            <a:endParaRPr lang="ar-SA" sz="2600" dirty="0"/>
          </a:p>
        </p:txBody>
      </p:sp>
      <p:sp>
        <p:nvSpPr>
          <p:cNvPr id="37" name="Text 34"/>
          <p:cNvSpPr txBox="1"/>
          <p:nvPr/>
        </p:nvSpPr>
        <p:spPr>
          <a:xfrm>
            <a:off x="3858768" y="3496056"/>
            <a:ext cx="23774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male</a:t>
            </a:r>
            <a:endParaRPr lang="en-US" sz="1100" dirty="0"/>
          </a:p>
        </p:txBody>
      </p:sp>
      <p:sp>
        <p:nvSpPr>
          <p:cNvPr id="38" name="Text 35"/>
          <p:cNvSpPr txBox="1"/>
          <p:nvPr/>
        </p:nvSpPr>
        <p:spPr>
          <a:xfrm>
            <a:off x="566928" y="3496056"/>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Don’t write!</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9528048" y="4110228"/>
            <a:ext cx="21305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nūn drops</a:t>
            </a:r>
            <a:endParaRPr lang="en-US" sz="1100" dirty="0"/>
          </a:p>
        </p:txBody>
      </p:sp>
      <p:sp>
        <p:nvSpPr>
          <p:cNvPr id="43" name="Text 40"/>
          <p:cNvSpPr txBox="1"/>
          <p:nvPr/>
        </p:nvSpPr>
        <p:spPr>
          <a:xfrm>
            <a:off x="6400800" y="4110228"/>
            <a:ext cx="29260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لَا تَكْتُبِي</a:t>
            </a:r>
            <a:endParaRPr lang="ar-SA" sz="2600" dirty="0"/>
          </a:p>
        </p:txBody>
      </p:sp>
      <p:sp>
        <p:nvSpPr>
          <p:cNvPr id="44" name="Text 41"/>
          <p:cNvSpPr txBox="1"/>
          <p:nvPr/>
        </p:nvSpPr>
        <p:spPr>
          <a:xfrm>
            <a:off x="3858768" y="4110228"/>
            <a:ext cx="23774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female</a:t>
            </a:r>
            <a:endParaRPr lang="en-US" sz="1100" dirty="0"/>
          </a:p>
        </p:txBody>
      </p:sp>
      <p:sp>
        <p:nvSpPr>
          <p:cNvPr id="45" name="Text 42"/>
          <p:cNvSpPr txBox="1"/>
          <p:nvPr/>
        </p:nvSpPr>
        <p:spPr>
          <a:xfrm>
            <a:off x="566928" y="4110228"/>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Don’t write!</a:t>
            </a:r>
            <a:endParaRPr lang="en-US" sz="110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9528048" y="4724400"/>
            <a:ext cx="21305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nūn drops</a:t>
            </a:r>
            <a:endParaRPr lang="en-US" sz="1100" dirty="0"/>
          </a:p>
        </p:txBody>
      </p:sp>
      <p:sp>
        <p:nvSpPr>
          <p:cNvPr id="48" name="Text 45"/>
          <p:cNvSpPr txBox="1"/>
          <p:nvPr/>
        </p:nvSpPr>
        <p:spPr>
          <a:xfrm>
            <a:off x="6400800" y="4724400"/>
            <a:ext cx="29260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لَا تَخْرُجُوا</a:t>
            </a:r>
            <a:endParaRPr lang="ar-SA" sz="2600" dirty="0"/>
          </a:p>
        </p:txBody>
      </p:sp>
      <p:sp>
        <p:nvSpPr>
          <p:cNvPr id="49" name="Text 46"/>
          <p:cNvSpPr txBox="1"/>
          <p:nvPr/>
        </p:nvSpPr>
        <p:spPr>
          <a:xfrm>
            <a:off x="3858768" y="4724400"/>
            <a:ext cx="23774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group</a:t>
            </a:r>
            <a:endParaRPr lang="en-US" sz="1100" dirty="0"/>
          </a:p>
        </p:txBody>
      </p:sp>
      <p:sp>
        <p:nvSpPr>
          <p:cNvPr id="50" name="Text 47"/>
          <p:cNvSpPr txBox="1"/>
          <p:nvPr/>
        </p:nvSpPr>
        <p:spPr>
          <a:xfrm>
            <a:off x="566928" y="4724400"/>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Don’t leave!</a:t>
            </a:r>
            <a:endParaRPr lang="en-US" sz="11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9528048" y="5338572"/>
            <a:ext cx="21305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-ā</a:t>
            </a:r>
            <a:endParaRPr lang="en-US" sz="1100" dirty="0"/>
          </a:p>
        </p:txBody>
      </p:sp>
      <p:sp>
        <p:nvSpPr>
          <p:cNvPr id="53" name="Text 50"/>
          <p:cNvSpPr txBox="1"/>
          <p:nvPr/>
        </p:nvSpPr>
        <p:spPr>
          <a:xfrm>
            <a:off x="6400800" y="5338572"/>
            <a:ext cx="2926080" cy="55930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اِذْهَبَا</a:t>
            </a:r>
            <a:endParaRPr lang="ar-SA" sz="2600" dirty="0"/>
          </a:p>
        </p:txBody>
      </p:sp>
      <p:sp>
        <p:nvSpPr>
          <p:cNvPr id="54" name="Text 51"/>
          <p:cNvSpPr txBox="1"/>
          <p:nvPr/>
        </p:nvSpPr>
        <p:spPr>
          <a:xfrm>
            <a:off x="3858768" y="5338572"/>
            <a:ext cx="23774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people</a:t>
            </a:r>
            <a:endParaRPr lang="en-US" sz="1100" dirty="0"/>
          </a:p>
        </p:txBody>
      </p:sp>
      <p:sp>
        <p:nvSpPr>
          <p:cNvPr id="55" name="Text 52"/>
          <p:cNvSpPr txBox="1"/>
          <p:nvPr/>
        </p:nvSpPr>
        <p:spPr>
          <a:xfrm>
            <a:off x="566928" y="5338572"/>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a:t>
            </a:r>
            <a:endParaRPr lang="en-US" sz="11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game: match purpose, addressee and form. Take! = khudh (irregular).</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GM-V-07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COMMAND, DON’T, OR FUTURE?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Command, prohibition or future negation?</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أَمْرٌ أَمْ نَهْيٌ أَمْ نَفْيٌ؟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GM-V-07</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اِجْلِسْ</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اُكْتُبُوا</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اِقْرَئِي</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تَتَأَخَّرْ</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تَخْرُجُوا</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تَنْسَيْ</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لَنْ تَكْتُبَ</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لَنْ يَخْرُجُوا</a:t>
            </a:r>
            <a:endParaRPr lang="ar-SA" sz="1800" dirty="0"/>
          </a:p>
        </p:txBody>
      </p:sp>
      <p:sp>
        <p:nvSpPr>
          <p:cNvPr id="31" name="Shape 28"/>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Command</a:t>
            </a:r>
            <a:endParaRPr lang="en-US" sz="950" dirty="0"/>
          </a:p>
        </p:txBody>
      </p:sp>
      <p:sp>
        <p:nvSpPr>
          <p:cNvPr id="34" name="Shape 31"/>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Don’t! (lā)</a:t>
            </a:r>
            <a:endParaRPr lang="en-US" sz="950" dirty="0"/>
          </a:p>
        </p:txBody>
      </p:sp>
      <p:sp>
        <p:nvSpPr>
          <p:cNvPr id="37" name="Shape 34"/>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8" name="Shape 35"/>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Will not (lan)</a:t>
            </a:r>
            <a:endParaRPr lang="en-US" sz="9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GM-V-07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GM-V-07</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Command</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اِجْلِسْ</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اُكْتُبُوا</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اِقْرَئِي</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Don’t! (lā)</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تَتَأَخَّرْ</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تَخْرُجُوا</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تَنْسَيْ</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Will not (lan)</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لَنْ تَكْتُبَ</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لَنْ يَخْرُجُوا</a:t>
            </a:r>
            <a:endParaRPr lang="ar-SA" sz="18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GM-V-07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GM-V-07</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ذَهَبْ!</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Past or present base?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لَا تَكْتُبُ عَلَى الْجِدَارِ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Damma or sukūn after lā?</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لَنْ تَذْهَبْ!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Lan or lā for “don’t”?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GM-V-07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GM-V-07</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ذَهَبْ!</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اِذْهَبْ!</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command comes from the present, not the past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لَا تَكْتُبُ عَلَى الْجِدَارِ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لَا تَكْتُبْ عَلَى الْجِدَارِ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Prohibitive lā needs the jussive — sukūn (website clinic).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لَنْ تَذْهَبْ!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لَا تَذْهَبْ!</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Lan is future negation; lā gives a negative command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GM-V-07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WE DO · GUIDED PRACTICE · WEBSITE PROHIBITION AND FUNCTIONAL COMMAND CHECKS</a:t>
            </a:r>
            <a:endParaRPr lang="en-US" sz="934"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GM-V-07</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“Don’t be late!” to one female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تَتَأَخَّرِينَ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تَتَأَخَّرِي</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تَتَأَخَّرِي</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“Don’t go out!” to a group</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تَخْرُجُونَ</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تَخْرُجُوا</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تَخْرُجُوا</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Best polite request to one female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اِفْتَحْ النَّافِذَةَ.</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فَضْلِكِ، اِفْتَحِي النَّافِذَةَ.</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تَفْتَحِي النَّافِذَةَ.</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Best formal notice</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اُدْخُنْ.</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تُدَخِّنَ غَدًا.</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يُرْجَى عَدَمُ التَّدْخِينِ.</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GM-V-07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GM-V-07</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“Don’t be late!” to one female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تَتَأَخَّرِينَ</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 تَتَأَخَّرِي</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لَا تَتَأَخَّرِي</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nūn drops.</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“Don’t go out!” to a group</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تَخْرُجُونَ</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لَا تَخْرُجُوا</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 تَخْرُجُوا</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Jussive five-verb form: no nūn.</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Best polite request to one female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اِفْتَحْ النَّافِذَةَ.</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 فَضْلِكِ، اِفْتَحِي النَّافِذَةَ.</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 تَفْتَحِي النَّافِذَةَ.</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form and politeness.</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Best formal notice</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اُدْخُنْ.</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 تُدَخِّنَ غَدًا.</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يُرْجَى عَدَمُ التَّدْخِينِ.</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 impersonal formal request: yurjā.</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GM-V-07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18" b="1" spc="150" kern="0" dirty="0">
                <a:solidFill>
                  <a:srgbClr val="1E6B52"/>
                </a:solidFill>
                <a:latin typeface="Calibri" pitchFamily="34" charset="0"/>
                <a:cs typeface="Amiri" pitchFamily="2" charset="-78"/>
              </a:rPr>
              <a:t>YOU DO · READ AND NOTICE · WEBSITE READING WORKSHOP (TEACHER-WRITTEN NOTICE)</a:t>
            </a:r>
            <a:endParaRPr lang="en-US" sz="91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Library rules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GM-V-07</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قَوَاعِدُ الْمَكْتَبَةِ: أَهْلًا وَسَهْلًا! مِنْ فَضْلِكُمْ، اُدْخُلُوا بِهُدُوءٍ وَاجْلِسُوا فِي أَمَاكِنِكُمْ. لَا تَأْكُلُوا وَلَا تَشْرَبُوا هُنَا. يُرْجَى إِغْلَاقُ الْهَوَاتِفِ. إِذَا أَخَذْتَ كِتَابًا فَاكْتُبِ اسْمَكَ فِي السِّجِلِّ. يَا مَرْيَمُ، أَرْجِعِي الْكُتُبَ إِلَى الرَّفِّ، وَلَا تَنْسَيْ بِطَاقَتَكِ!</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بِهُدُوءٍ</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quietly</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أَمَاكِنِكُمْ</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your places</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السِّجِلِّ</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register</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الرَّفِّ</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shelf</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بِطَاقَتَكِ</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your card</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GM-V-07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an impersonal formal request?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اِجْلِسُوا فِي أَمَاكِنِكُمْ.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يُرْجَى إِغْلَاقُ الْهَوَاتِفِ.</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تَأْكُلُوا.</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visitors not allowed to do?</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sit down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take books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eat and drink</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Maryam told to do something?</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return the books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close her phone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write her name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lā tansay end without a nūn?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past tense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jussive after lā drops it</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mistake</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GM-V-07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an impersonal formal request?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اِجْلِسُوا فِي أَمَاكِنِكُمْ.</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يُرْجَى إِغْلَاقُ الْهَوَاتِفِ.</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تَأْكُلُوا.</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Yurjā — no direct addressee.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visitors not allowed to do?</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sit down</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take books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eat and drink</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Lā taʾkulū wa-lā tashrabū.</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Maryam told to do something?</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return the books</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close her phone</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write her name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Arjiʿī l-kutub — feminine command.</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lā tansay end without a nūn?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past tense</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jussive after lā drops it</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mistake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Tansayna → lā tansay.</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GM-V-07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Speaking: directions and instructions</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GM-V-07</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أَعْطِ صَدِيقَكَ ثَلَاثَةَ أَوَامِرَ فِي الصَّفِّ.</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أَذْهَبُ إِلَى الْمَكْتَبَةِ مِنْ فَضْلِكَ؟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اِشْرَحْ لِمَجْمُوعَةٍ كَيْفَ يَطْبُخُونَ طَبَقًا بَسِيطًا.</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مِنْ فَضْلِكَ، ___ ، ثُمَّ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اِذْهَبْ ___ ، ثُمَّ ___ ، وَلَا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ea typeface="Amiri" pitchFamily="2" charset="-78"/>
                <a:cs typeface="Amiri" pitchFamily="2" charset="-78"/>
              </a:rPr>
              <a:t>أَوَّلًا ___ ، بَعْدَ ذَلِكَ ___ ، وَلَا ___ .</a:t>
            </a:r>
            <a:endParaRPr lang="ar-SA" sz="15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مِنْ فَضْلِكِ، كَيْفَ أَذْهَبُ إِلَى الْمَسْجِدِ؟</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Excuse me, how do I get to the mosque?</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اِذْهَبْ مُسْتَقِيمًا، ثُمَّ انْعَطِفْ يَسَارًا عِنْدَ الْمَدْرَسَةِ. لَا تَعْبُرِ الطَّرِيقَ هُنَاكَ، فَهُوَ خَطِيرٌ.</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Go straight, then turn left at the school. Don’t cross the road there — it is dangerous.</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GM-V-07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GM-V-07</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steps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Classroom rules for one student.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Commands to one male, with please.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steps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Rules for a group, with three “don’t” rules.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lā + -ū (no nūn).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12 steps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guide with a second section to a girl or a female group.</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Accurate helping vowels; one formal yurjā.</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GM-V-07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GM-V-07</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أَوَّلًا، اِفْتَحُوا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First, (all of you) open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تَتَكَلَّمُوا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Don’t (all of you) talk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اِقْرَئِي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 a girl) Read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يُرْجَى عَدَمُ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Please do not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فَضْلِكَ، اِفْتَحِ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Please open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اُكْتُبْ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Write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تَنْسَ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Don’t forget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اِجْلِسْ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Sit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اِفْتَحْ  ·  اُكْتُبْ  ·  اِجْلِسْ  ·  اِقْرَئِي  ·  اِذْهَبُوا  ·  خُذْ  ·  لَا تَنْسَ  ·  لَا تَتَأَخَّرْ  ·  لَا تَتَكَلَّمُوا  ·  مِنْ فَضْلِكَ  ·  أَوَّلًا  ·  ثُمَّ  ·  بَعْدَ ذَلِكَ</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GM-V-07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GM-V-07</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integrated production task: a 12-step guide with three negative instructions and a second section for a different audience.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Accurate helping vowels (u- or i-).</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feminine command.</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group command.</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prohibitions with lā.</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Polite language where appropriate.</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أَوَّلًا</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first</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ذَلِكَ</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after that</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أَخِيرًا</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finally</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اِنْتَبِهْ</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 careful</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يُرْجَى</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is requested</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تَنْسَ أَنْ</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don’t forget to</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GM-V-07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كَيْفَ تُحَضِّرُ الشَّايَ؟ أَوَّلًا، اِغْسِلْ يَدَيْكَ. ثُمَّ امْلَأِ الْإِبْرِيقَ بِالْمَاءِ وَضَعْهُ عَلَى النَّارِ. اِنْتَبِهْ وَلَا تَلْمِسِ الْإِبْرِيقَ لِأَنَّهُ حَارٌّ. بَعْدَ ذَلِكَ ضَعِ الشَّايَ فِي الْكُوبِ، وَلَا تَنْسَ السُّكَّرَ. يَا أُخْتِي، اِغْسِلِي الْأَكْوَابَ مِنْ فَضْلِكِ، وَلَا تَتْرُكِيهَا فِي الْمَطْبَخِ. يَا أَصْدِقَائِي، اِجْلِسُوا وَاشْرَبُوا، وَلَا تَتَأَخَّرُوا!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How do you make tea? First, wash your hands. Then fill the kettle with water and put it on the heat. Be careful and don’t touch the kettle because it is hot. After that put the tea in the cup, and don’t forget the sugar. Sister, please wash the cups, and don’t leave them in the kitchen. My friends, sit and drink, and don’t be late!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command (one)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command (group)</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feminine command</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lā + jussive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GM-V-07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GM-V-07</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commands start with a helping vowel (u- or i-).</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-ī for a girl.</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lā my verb has sukūn or no nūn.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lā, not lan, for “don’t”.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polite or formal language.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GM-V-07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“Write!” to two people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اُكْتُبَا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اُكْتُبُوا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تَكْتُبَانِ</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“Don’t write!” to a group</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تَكْتُبُونَ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تَكْتُبُوا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تَكْتُبُوا</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“Take!” to one male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خُذْ</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اِأْخُذْ</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أَخَذَ</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GM-V-07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“Write!” to two people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اُكْتُبَا</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اُكْتُبُوا</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تَكْتُبَانِ</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Dual: -ā.</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“Don’t write!” to a group</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لَا تَكْتُبُونَ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لَا تَكْتُبُوا</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لَنْ تَكْتُبُوا</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Prohibition: lā + jussive, no nūn.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“Take!” to one male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خُذْ</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اِأْخُذْ</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أَخَذَ</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Irregular command: khudh.</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GM-V-07 · Verbs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Before GM-V-08: get ready at home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GM-V-07</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GM-V-08 · Negating Past and Present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مَا</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did not (+ past)</a:t>
            </a:r>
            <a:pPr indent="0" marL="0">
              <a:buNone/>
            </a:pPr>
            <a:r>
              <a:rPr lang="ar-SA" sz="1000" i="1" dirty="0">
                <a:solidFill>
                  <a:srgbClr val="5A6472"/>
                </a:solidFill>
                <a:latin typeface="Amiri" pitchFamily="2" charset="-78"/>
                <a:ea typeface="Amiri" pitchFamily="2" charset="-78"/>
                <a:cs typeface="Amiri" pitchFamily="2" charset="-78"/>
              </a:rPr>
              <a:t>  مَا ذَهَبْتُ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لَمْ</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did not (+ jussive)</a:t>
            </a:r>
            <a:pPr indent="0" marL="0">
              <a:buNone/>
            </a:pPr>
            <a:r>
              <a:rPr lang="ar-SA" sz="1000" i="1" dirty="0">
                <a:solidFill>
                  <a:srgbClr val="5A6472"/>
                </a:solidFill>
                <a:latin typeface="Amiri" pitchFamily="2" charset="-78"/>
                <a:ea typeface="Amiri" pitchFamily="2" charset="-78"/>
                <a:cs typeface="Amiri" pitchFamily="2" charset="-78"/>
              </a:rPr>
              <a:t>  لَمْ أَذْهَبْ</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لَا</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do not (+ present)</a:t>
            </a:r>
            <a:pPr indent="0" marL="0">
              <a:buNone/>
            </a:pPr>
            <a:r>
              <a:rPr lang="ar-SA" sz="1000" i="1" dirty="0">
                <a:solidFill>
                  <a:srgbClr val="5A6472"/>
                </a:solidFill>
                <a:latin typeface="Amiri" pitchFamily="2" charset="-78"/>
                <a:ea typeface="Amiri" pitchFamily="2" charset="-78"/>
                <a:cs typeface="Amiri" pitchFamily="2" charset="-78"/>
              </a:rPr>
              <a:t>  لَا أَذْهَبُ</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أَمْسِ</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yesterday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أَبَدًا</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never / at all</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You know lā taktub (don’t write!). How do you think you say “I did not write”?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كَتَبْتُ · ______</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classroom commands to a boy and five to a girl.</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Turn eight commands into prohibitions (lā + jussive).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task: a 12-step guide with three prohibitions.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GM-V-07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cs typeface="Amiri" pitchFamily="2" charset="-78"/>
              </a:rPr>
              <a:t>GM-V-08 · Negating Past and Present</a:t>
            </a:r>
            <a:endParaRPr lang="en-US" sz="26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نَفْيُ الْمَاضِي وَالْمُضَارِعِ</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command = you-form − ta- + helping vowel · endings: —, -ī, -ā, -ū, -na · don’t = lā + jussive (sukūn, no nūn) · lan is not a command.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GM-V-07 · Imperatives and Negative Commands</dc:title>
  <dc:subject>PptxGenJS Presentation</dc:subject>
  <dc:creator>Al Madina Online School · Arabic Department</dc:creator>
  <cp:lastModifiedBy>Al Madina Online School · Arabic Department</cp:lastModifiedBy>
  <cp:revision>1</cp:revision>
  <dcterms:created xsi:type="dcterms:W3CDTF">2026-10-11T06:42:37Z</dcterms:created>
  <dcterms:modified xsi:type="dcterms:W3CDTF">2026-10-11T06:42:37Z</dcterms:modified>
</cp:coreProperties>
</file>