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GM-V-07 (“Imperatives and Negative Commands”).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commands to one male and one female (اُكْتُبْ · اُكْتُبِي · اِجْلِسْ · اِجْلِسِي) and the prohibition لَا تَكْتُبْ. Develop: group, dual and feminine-group commands (اُكْتُبُوا · اُكْتُبَا · اُكْتُبْنَ) and لَا تَكْتُبِي · لَا تَكْتُبُوا. Stretch: deriving the command from the jussive; polite and formal alternatives (مِنْ فَضْلِكَ · يُرْجَى …).
• Website advice: learn each command WITH its present pair (يَكْتُبُ · اُكْتُبْ / يَجْلِسُ · اِجْلِسْ) — the helping vowel is not always the same.
• Classroom routine: the teacher’s own instructions become the examples (اِفْتَحُوا الْكِتَابَ · لَا تَتَكَلَّمُوا).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GM-V-06 prep words uktub, uktubī, uktubū and lā taktub.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Command = you-form without ta- + a helping vowel. Don’t = lā + you-form with sukūn (five verbs drop the nūn).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“How the imperative is built”. Step 3 is not a real word: it shows why the helping vowel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“Imperative endings for different addressees”. Point at a student, a pair,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“Negative commands” and “Commands in real contexts”. Tone: add please, a greeting 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Build the Imperative and Command Audience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(corrected: iftaḥi l-milaffa — a sukūn before al- becomes kasra, as in lā tughliqi). Stretch: lā tansa — the final alif drops in the jussive.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 students point to who they are talking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Website check: “Which is future negation, not prohibition?”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Website check: “Which is future negation, not prohibition?”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Prohibition and Functional Command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notice). Read it aloud once while students follow; then they hunt for today’s grammar.
Task: Website: classify each instruction as positive command, prohibition or impersonal formal request.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notice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role play giving directions or explaining a process, with polite openings and clarification questions. Listening (website): follow a partner’s route; was each command to one person 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Create a 12-step Arabic guide for a school activity, recipe, journey or digital task. Include at least three negative instructions and vary the addressee in a short second section.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(GM-V-08 · Negating Past and Present) will spend class time USING this language, so students prepare it tonight — short, simple, easy to access (school guidance: “Simple, Short, Interesting, Relevant, Easy to access”). The five words prepare GM-V-08 (website Verbs lesson 8: negating past and present).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Imperatives and Negative Commands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فِعْلُ الْأَمْرِ وَالنَّهْيُ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command comes from the present “you” form: drop ta-, add a helping vowel (u- or i-), then choose the ending for your audience. “Don’t!” = lā + the you-form with sukūn — and the five verbs drop their nūn.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Derivation; audience endings; lā + jussive;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Command the audience; sort command / prohibition / future;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“Write!”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a masculine/mixed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male.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command “Write!” to one 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command is uktub.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one female.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اُكْتُبِي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اُكْتُبْ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command adds -ī.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“Write!” to a masculine/mixed group.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اُكْتُبْنَ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اُكْتُبُوا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group command adds -ū (with a silent alif).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male.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تَكْتُبُ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تَكْتُبَ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تَكْتُبْ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Prohibition = lā + jussive (sukūn).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not write!”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تَكْتُبِي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تَكْتُبِينَ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تَكْتُبِي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after prohibitive 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Command = you-form without ta- + a helping vowel. Don’t = lā + you-form with sukūn (five verbs drop the nūn).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اُكْتُبْ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اُكْتُبِي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لَا تَكْتُبْ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لَا تَكْتُبِي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command from the present you-form.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ending for one male, one female, two or a group.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“don’t” with lā and the jussive.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polite, clear instructions.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commands to a boy and to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“don’t” to one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commands to a group and to two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drop the nūn after lā.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how the command comes from the jussive.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polite 12-step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 الْأَمْرِ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imperative (command)</a:t>
            </a:r>
            <a:endParaRPr lang="en-US" sz="1350" dirty="0"/>
          </a:p>
          <a:p>
            <a:pPr indent="0" marL="0">
              <a:buNone/>
            </a:pPr>
            <a:r>
              <a:rPr lang="en-US" sz="1100" i="1" dirty="0">
                <a:solidFill>
                  <a:srgbClr val="5A6472"/>
                </a:solidFill>
                <a:latin typeface="Calibri" pitchFamily="34" charset="0"/>
                <a:cs typeface="Amiri" pitchFamily="2" charset="-78"/>
              </a:rPr>
              <a:t>fiʿ-lu al-am-ri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النَّهْيُ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prohibition (don’t!)</a:t>
            </a:r>
            <a:endParaRPr lang="en-US" sz="1350" dirty="0"/>
          </a:p>
          <a:p>
            <a:pPr indent="0" marL="0">
              <a:buNone/>
            </a:pPr>
            <a:r>
              <a:rPr lang="en-US" sz="1100" i="1" dirty="0">
                <a:solidFill>
                  <a:srgbClr val="5A6472"/>
                </a:solidFill>
                <a:latin typeface="Calibri" pitchFamily="34" charset="0"/>
                <a:cs typeface="Amiri" pitchFamily="2" charset="-78"/>
              </a:rPr>
              <a:t>an-nah-yu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تَكْتُبْ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النَّاهِيَةُ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prohibitive lā</a:t>
            </a:r>
            <a:endParaRPr lang="en-US" sz="1350" dirty="0"/>
          </a:p>
          <a:p>
            <a:pPr indent="0" marL="0">
              <a:buNone/>
            </a:pPr>
            <a:r>
              <a:rPr lang="en-US" sz="1100" i="1" dirty="0">
                <a:solidFill>
                  <a:srgbClr val="5A6472"/>
                </a:solidFill>
                <a:latin typeface="Calibri" pitchFamily="34" charset="0"/>
                <a:cs typeface="Amiri" pitchFamily="2" charset="-78"/>
              </a:rPr>
              <a:t>lā an-nā-hi-ya-tu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تَتَأَخَّرْ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الْمَجْزُومُ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jussive (ends in sukūn)</a:t>
            </a:r>
            <a:endParaRPr lang="en-US" sz="1350" dirty="0"/>
          </a:p>
          <a:p>
            <a:pPr indent="0" marL="0">
              <a:buNone/>
            </a:pPr>
            <a:r>
              <a:rPr lang="en-US" sz="1100" i="1" dirty="0">
                <a:solidFill>
                  <a:srgbClr val="5A6472"/>
                </a:solidFill>
                <a:latin typeface="Calibri" pitchFamily="34" charset="0"/>
                <a:cs typeface="Amiri" pitchFamily="2" charset="-78"/>
              </a:rPr>
              <a:t>al-maj-zū-mu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الْمُخَاطَبُ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person addressed</a:t>
            </a:r>
            <a:endParaRPr lang="en-US" sz="1350" dirty="0"/>
          </a:p>
          <a:p>
            <a:pPr indent="0" marL="0">
              <a:buNone/>
            </a:pPr>
            <a:r>
              <a:rPr lang="en-US" sz="1100" i="1" dirty="0">
                <a:solidFill>
                  <a:srgbClr val="5A6472"/>
                </a:solidFill>
                <a:latin typeface="Calibri" pitchFamily="34" charset="0"/>
                <a:cs typeface="Amiri" pitchFamily="2" charset="-78"/>
              </a:rPr>
              <a:t>al-mu-khā-ṭa-bu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أَنْتَ · أَنْتِ · أَنْتُمْ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(to a male)</a:t>
            </a:r>
            <a:endParaRPr lang="en-US" sz="1350" dirty="0"/>
          </a:p>
          <a:p>
            <a:pPr indent="0" marL="0">
              <a:buNone/>
            </a:pPr>
            <a:r>
              <a:rPr lang="en-US" sz="1100" i="1" dirty="0">
                <a:solidFill>
                  <a:srgbClr val="5A6472"/>
                </a:solidFill>
                <a:latin typeface="Calibri" pitchFamily="34" charset="0"/>
                <a:cs typeface="Amiri" pitchFamily="2" charset="-78"/>
              </a:rPr>
              <a:t>min faḍ-li-ka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 فَضْلِكِ</a:t>
            </a:r>
            <a:pPr algn="l" indent="0" marL="0">
              <a:buNone/>
            </a:pPr>
            <a:r>
              <a:rPr lang="en-US" sz="1000" i="1" dirty="0">
                <a:solidFill>
                  <a:srgbClr val="8A6D1E"/>
                </a:solidFill>
                <a:latin typeface="Calibri" pitchFamily="34" charset="0"/>
                <a:cs typeface="Amiri" pitchFamily="2" charset="-78"/>
              </a:rPr>
              <a:t> (f.)</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HOW THE IMPERATIVE IS BUILT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“you write” to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نَبْنِي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sit</a:t>
            </a:r>
            <a:endParaRPr lang="en-US" sz="1100" dirty="0"/>
          </a:p>
        </p:txBody>
      </p:sp>
      <p:sp>
        <p:nvSpPr>
          <p:cNvPr id="17" name="Text 14"/>
          <p:cNvSpPr txBox="1"/>
          <p:nvPr/>
        </p:nvSpPr>
        <p:spPr>
          <a:xfrm>
            <a:off x="63825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study</a:t>
            </a:r>
            <a:endParaRPr lang="en-US" sz="1100" dirty="0"/>
          </a:p>
        </p:txBody>
      </p:sp>
      <p:sp>
        <p:nvSpPr>
          <p:cNvPr id="18" name="Text 15"/>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تَجْلِسُ</a:t>
            </a:r>
            <a:endParaRPr lang="ar-SA" sz="2600" dirty="0"/>
          </a:p>
        </p:txBody>
      </p:sp>
      <p:sp>
        <p:nvSpPr>
          <p:cNvPr id="22" name="Text 19"/>
          <p:cNvSpPr txBox="1"/>
          <p:nvPr/>
        </p:nvSpPr>
        <p:spPr>
          <a:xfrm>
            <a:off x="640080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تَدْرُسُ</a:t>
            </a:r>
            <a:endParaRPr lang="ar-SA" sz="2600" dirty="0"/>
          </a:p>
        </p:txBody>
      </p:sp>
      <p:sp>
        <p:nvSpPr>
          <p:cNvPr id="23" name="Text 20"/>
          <p:cNvSpPr txBox="1"/>
          <p:nvPr/>
        </p:nvSpPr>
        <p:spPr>
          <a:xfrm>
            <a:off x="365760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a:t>
            </a:r>
            <a:endParaRPr lang="ar-SA" sz="2600" dirty="0"/>
          </a:p>
        </p:txBody>
      </p:sp>
      <p:sp>
        <p:nvSpPr>
          <p:cNvPr id="24" name="Text 21"/>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 (m.) present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تَجْلِسْ</a:t>
            </a:r>
            <a:endParaRPr lang="ar-SA" sz="2600" dirty="0"/>
          </a:p>
        </p:txBody>
      </p:sp>
      <p:sp>
        <p:nvSpPr>
          <p:cNvPr id="29" name="Text 26"/>
          <p:cNvSpPr txBox="1"/>
          <p:nvPr/>
        </p:nvSpPr>
        <p:spPr>
          <a:xfrm>
            <a:off x="640080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تَدْرُسْ</a:t>
            </a:r>
            <a:endParaRPr lang="ar-SA" sz="2600" dirty="0"/>
          </a:p>
        </p:txBody>
      </p:sp>
      <p:sp>
        <p:nvSpPr>
          <p:cNvPr id="30" name="Text 27"/>
          <p:cNvSpPr txBox="1"/>
          <p:nvPr/>
        </p:nvSpPr>
        <p:spPr>
          <a:xfrm>
            <a:off x="365760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a:t>
            </a:r>
            <a:endParaRPr lang="ar-SA" sz="2600" dirty="0"/>
          </a:p>
        </p:txBody>
      </p:sp>
      <p:sp>
        <p:nvSpPr>
          <p:cNvPr id="31" name="Text 28"/>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jussive (sukūn)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جْلِسْ</a:t>
            </a:r>
            <a:endParaRPr lang="ar-SA" sz="2600" dirty="0"/>
          </a:p>
        </p:txBody>
      </p:sp>
      <p:sp>
        <p:nvSpPr>
          <p:cNvPr id="36" name="Text 33"/>
          <p:cNvSpPr txBox="1"/>
          <p:nvPr/>
        </p:nvSpPr>
        <p:spPr>
          <a:xfrm>
            <a:off x="640080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37" name="Text 34"/>
          <p:cNvSpPr txBox="1"/>
          <p:nvPr/>
        </p:nvSpPr>
        <p:spPr>
          <a:xfrm>
            <a:off x="365760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38" name="Text 35"/>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remove ta-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144000" y="4626864"/>
            <a:ext cx="249631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اِجْلِسْ</a:t>
            </a:r>
            <a:endParaRPr lang="ar-SA" sz="2600" dirty="0"/>
          </a:p>
        </p:txBody>
      </p:sp>
      <p:sp>
        <p:nvSpPr>
          <p:cNvPr id="41" name="Text 38"/>
          <p:cNvSpPr txBox="1"/>
          <p:nvPr/>
        </p:nvSpPr>
        <p:spPr>
          <a:xfrm>
            <a:off x="640080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اُدْرُسْ</a:t>
            </a:r>
            <a:endParaRPr lang="ar-SA" sz="2600" dirty="0"/>
          </a:p>
        </p:txBody>
      </p:sp>
      <p:sp>
        <p:nvSpPr>
          <p:cNvPr id="42" name="Text 39"/>
          <p:cNvSpPr txBox="1"/>
          <p:nvPr/>
        </p:nvSpPr>
        <p:spPr>
          <a:xfrm>
            <a:off x="365760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a:t>
            </a:r>
            <a:endParaRPr lang="ar-SA" sz="2600" dirty="0"/>
          </a:p>
        </p:txBody>
      </p:sp>
      <p:sp>
        <p:nvSpPr>
          <p:cNvPr id="43" name="Text 40"/>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add a helping vowel</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word cannot begin with sukūn, so a helping alif is added — u- when the middle vowel is u (yaktubu), i- otherwise (yajlisu, yaftaḥu). Learn each pair.</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IMPERATIVE ENDINGS FOR EACH AUDIENCE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Commands have an audience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نِهَايَاتُ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a:t>
            </a:r>
            <a:endParaRPr lang="en-US" sz="1100" dirty="0"/>
          </a:p>
        </p:txBody>
      </p:sp>
      <p:sp>
        <p:nvSpPr>
          <p:cNvPr id="17" name="Text 14"/>
          <p:cNvSpPr txBox="1"/>
          <p:nvPr/>
        </p:nvSpPr>
        <p:spPr>
          <a:xfrm>
            <a:off x="610819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go</a:t>
            </a:r>
            <a:endParaRPr lang="en-US" sz="1100" dirty="0"/>
          </a:p>
        </p:txBody>
      </p:sp>
      <p:sp>
        <p:nvSpPr>
          <p:cNvPr id="18" name="Text 15"/>
          <p:cNvSpPr txBox="1"/>
          <p:nvPr/>
        </p:nvSpPr>
        <p:spPr>
          <a:xfrm>
            <a:off x="32735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Speaking to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61120" y="2267712"/>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اِقْرَأْ</a:t>
            </a:r>
            <a:endParaRPr lang="ar-SA" sz="2600" dirty="0"/>
          </a:p>
        </p:txBody>
      </p:sp>
      <p:sp>
        <p:nvSpPr>
          <p:cNvPr id="22" name="Text 19"/>
          <p:cNvSpPr txBox="1"/>
          <p:nvPr/>
        </p:nvSpPr>
        <p:spPr>
          <a:xfrm>
            <a:off x="6126480"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a:t>
            </a:r>
            <a:endParaRPr lang="ar-SA" sz="2600" dirty="0"/>
          </a:p>
        </p:txBody>
      </p:sp>
      <p:sp>
        <p:nvSpPr>
          <p:cNvPr id="23" name="Text 20"/>
          <p:cNvSpPr txBox="1"/>
          <p:nvPr/>
        </p:nvSpPr>
        <p:spPr>
          <a:xfrm>
            <a:off x="3291840"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a:t>
            </a:r>
            <a:endParaRPr lang="ar-SA" sz="26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 · anta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61120" y="300471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اِقْرَئِي</a:t>
            </a:r>
            <a:endParaRPr lang="ar-SA" sz="2600" dirty="0"/>
          </a:p>
        </p:txBody>
      </p:sp>
      <p:sp>
        <p:nvSpPr>
          <p:cNvPr id="29" name="Text 26"/>
          <p:cNvSpPr txBox="1"/>
          <p:nvPr/>
        </p:nvSpPr>
        <p:spPr>
          <a:xfrm>
            <a:off x="6126480"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اِذْهَبِي</a:t>
            </a:r>
            <a:endParaRPr lang="ar-SA" sz="2600" dirty="0"/>
          </a:p>
        </p:txBody>
      </p:sp>
      <p:sp>
        <p:nvSpPr>
          <p:cNvPr id="30" name="Text 27"/>
          <p:cNvSpPr txBox="1"/>
          <p:nvPr/>
        </p:nvSpPr>
        <p:spPr>
          <a:xfrm>
            <a:off x="3291840"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اُكْتُبِي</a:t>
            </a:r>
            <a:endParaRPr lang="ar-SA" sz="26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 · anti</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61120" y="3741725"/>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اِقْرَآ</a:t>
            </a:r>
            <a:endParaRPr lang="ar-SA" sz="2600" dirty="0"/>
          </a:p>
        </p:txBody>
      </p:sp>
      <p:sp>
        <p:nvSpPr>
          <p:cNvPr id="36" name="Text 33"/>
          <p:cNvSpPr txBox="1"/>
          <p:nvPr/>
        </p:nvSpPr>
        <p:spPr>
          <a:xfrm>
            <a:off x="6126480"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اِذْهَبَا</a:t>
            </a:r>
            <a:endParaRPr lang="ar-SA" sz="2600" dirty="0"/>
          </a:p>
        </p:txBody>
      </p:sp>
      <p:sp>
        <p:nvSpPr>
          <p:cNvPr id="37" name="Text 34"/>
          <p:cNvSpPr txBox="1"/>
          <p:nvPr/>
        </p:nvSpPr>
        <p:spPr>
          <a:xfrm>
            <a:off x="3291840"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اُكْتُبَا</a:t>
            </a:r>
            <a:endParaRPr lang="ar-SA" sz="26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people · antumā</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961120" y="4478731"/>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اِقْرَؤُوا</a:t>
            </a:r>
            <a:endParaRPr lang="ar-SA" sz="2600" dirty="0"/>
          </a:p>
        </p:txBody>
      </p:sp>
      <p:sp>
        <p:nvSpPr>
          <p:cNvPr id="41" name="Text 38"/>
          <p:cNvSpPr txBox="1"/>
          <p:nvPr/>
        </p:nvSpPr>
        <p:spPr>
          <a:xfrm>
            <a:off x="6126480"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اِذْهَبُوا</a:t>
            </a:r>
            <a:endParaRPr lang="ar-SA" sz="2600" dirty="0"/>
          </a:p>
        </p:txBody>
      </p:sp>
      <p:sp>
        <p:nvSpPr>
          <p:cNvPr id="42" name="Text 39"/>
          <p:cNvSpPr txBox="1"/>
          <p:nvPr/>
        </p:nvSpPr>
        <p:spPr>
          <a:xfrm>
            <a:off x="3291840"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اُكْتُبُوا</a:t>
            </a:r>
            <a:endParaRPr lang="ar-SA" sz="26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 · antum</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961120" y="521573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اِقْرَأْنَ</a:t>
            </a:r>
            <a:endParaRPr lang="ar-SA" sz="2600" dirty="0"/>
          </a:p>
        </p:txBody>
      </p:sp>
      <p:sp>
        <p:nvSpPr>
          <p:cNvPr id="48" name="Text 45"/>
          <p:cNvSpPr txBox="1"/>
          <p:nvPr/>
        </p:nvSpPr>
        <p:spPr>
          <a:xfrm>
            <a:off x="6126480"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اِذْهَبْنَ</a:t>
            </a:r>
            <a:endParaRPr lang="ar-SA" sz="2600" dirty="0"/>
          </a:p>
        </p:txBody>
      </p:sp>
      <p:sp>
        <p:nvSpPr>
          <p:cNvPr id="49" name="Text 46"/>
          <p:cNvSpPr txBox="1"/>
          <p:nvPr/>
        </p:nvSpPr>
        <p:spPr>
          <a:xfrm>
            <a:off x="3291840"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اُكْتُبْنَ</a:t>
            </a:r>
            <a:endParaRPr lang="ar-SA" sz="26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female group · antunna</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same small ending family every time — nothing, -ī, -ā, -ū, -na. Irregular and very common: khudh (take!), kul (eat!), qul (say!).</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 PART 3 · NEGATIVE COMMANDS AND TONE (WEBSITE)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 and how to sound polite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النَّهْيُ وَالْأُسْلُوبُ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0906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Don’t!</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236208" y="2267712"/>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(one male) — sukūn</a:t>
            </a:r>
            <a:endParaRPr lang="en-US" sz="1100" dirty="0"/>
          </a:p>
        </p:txBody>
      </p:sp>
      <p:sp>
        <p:nvSpPr>
          <p:cNvPr id="21" name="Text 18"/>
          <p:cNvSpPr txBox="1"/>
          <p:nvPr/>
        </p:nvSpPr>
        <p:spPr>
          <a:xfrm>
            <a:off x="3108960" y="2267712"/>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تَكْتُبْ</a:t>
            </a:r>
            <a:endParaRPr lang="ar-SA" sz="2200" dirty="0"/>
          </a:p>
        </p:txBody>
      </p:sp>
      <p:sp>
        <p:nvSpPr>
          <p:cNvPr id="22" name="Text 19"/>
          <p:cNvSpPr txBox="1"/>
          <p:nvPr/>
        </p:nvSpPr>
        <p:spPr>
          <a:xfrm>
            <a:off x="54864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236208" y="2794145"/>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(one female) — nūn dropped</a:t>
            </a:r>
            <a:endParaRPr lang="en-US" sz="1100" dirty="0"/>
          </a:p>
        </p:txBody>
      </p:sp>
      <p:sp>
        <p:nvSpPr>
          <p:cNvPr id="27" name="Text 24"/>
          <p:cNvSpPr txBox="1"/>
          <p:nvPr/>
        </p:nvSpPr>
        <p:spPr>
          <a:xfrm>
            <a:off x="3108960" y="27941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تَكْتُبِي</a:t>
            </a:r>
            <a:endParaRPr lang="ar-SA" sz="2200" dirty="0"/>
          </a:p>
        </p:txBody>
      </p:sp>
      <p:sp>
        <p:nvSpPr>
          <p:cNvPr id="28" name="Text 25"/>
          <p:cNvSpPr txBox="1"/>
          <p:nvPr/>
        </p:nvSpPr>
        <p:spPr>
          <a:xfrm>
            <a:off x="54864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اُكْتُبِي</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236208" y="33205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(two people)</a:t>
            </a:r>
            <a:endParaRPr lang="en-US" sz="1100" dirty="0"/>
          </a:p>
        </p:txBody>
      </p:sp>
      <p:sp>
        <p:nvSpPr>
          <p:cNvPr id="33" name="Text 30"/>
          <p:cNvSpPr txBox="1"/>
          <p:nvPr/>
        </p:nvSpPr>
        <p:spPr>
          <a:xfrm>
            <a:off x="3108960" y="33205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تَكْتُبَا</a:t>
            </a:r>
            <a:endParaRPr lang="ar-SA" sz="2200" dirty="0"/>
          </a:p>
        </p:txBody>
      </p:sp>
      <p:sp>
        <p:nvSpPr>
          <p:cNvPr id="34" name="Text 31"/>
          <p:cNvSpPr txBox="1"/>
          <p:nvPr/>
        </p:nvSpPr>
        <p:spPr>
          <a:xfrm>
            <a:off x="54864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اُكْتُبَا</a:t>
            </a:r>
            <a:endParaRPr lang="ar-SA" sz="2200" dirty="0"/>
          </a:p>
        </p:txBody>
      </p:sp>
      <p:sp>
        <p:nvSpPr>
          <p:cNvPr id="35" name="Shape 3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6" name="Text 33"/>
          <p:cNvSpPr txBox="1"/>
          <p:nvPr/>
        </p:nvSpPr>
        <p:spPr>
          <a:xfrm>
            <a:off x="6236208" y="38470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(a group)</a:t>
            </a:r>
            <a:endParaRPr lang="en-US" sz="1100" dirty="0"/>
          </a:p>
        </p:txBody>
      </p:sp>
      <p:sp>
        <p:nvSpPr>
          <p:cNvPr id="37" name="Text 34"/>
          <p:cNvSpPr txBox="1"/>
          <p:nvPr/>
        </p:nvSpPr>
        <p:spPr>
          <a:xfrm>
            <a:off x="3108960" y="38470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تَكْتُبُوا</a:t>
            </a:r>
            <a:endParaRPr lang="ar-SA" sz="2200" dirty="0"/>
          </a:p>
        </p:txBody>
      </p:sp>
      <p:sp>
        <p:nvSpPr>
          <p:cNvPr id="38" name="Text 35"/>
          <p:cNvSpPr txBox="1"/>
          <p:nvPr/>
        </p:nvSpPr>
        <p:spPr>
          <a:xfrm>
            <a:off x="54864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اُكْتُبُوا</a:t>
            </a:r>
            <a:endParaRPr lang="ar-SA" sz="2200" dirty="0"/>
          </a:p>
        </p:txBody>
      </p:sp>
      <p:sp>
        <p:nvSpPr>
          <p:cNvPr id="39" name="Shape 36"/>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6236208" y="4373445"/>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not write (a female group)</a:t>
            </a:r>
            <a:endParaRPr lang="en-US" sz="1100" dirty="0"/>
          </a:p>
        </p:txBody>
      </p:sp>
      <p:sp>
        <p:nvSpPr>
          <p:cNvPr id="43" name="Text 40"/>
          <p:cNvSpPr txBox="1"/>
          <p:nvPr/>
        </p:nvSpPr>
        <p:spPr>
          <a:xfrm>
            <a:off x="3108960" y="43734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تَكْتُبْنَ</a:t>
            </a:r>
            <a:endParaRPr lang="ar-SA" sz="2200" dirty="0"/>
          </a:p>
        </p:txBody>
      </p:sp>
      <p:sp>
        <p:nvSpPr>
          <p:cNvPr id="44" name="Text 41"/>
          <p:cNvSpPr txBox="1"/>
          <p:nvPr/>
        </p:nvSpPr>
        <p:spPr>
          <a:xfrm>
            <a:off x="54864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اُكْتُبْنَ</a:t>
            </a:r>
            <a:endParaRPr lang="ar-SA" sz="22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6236208" y="48998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read the text. (to a girl)</a:t>
            </a:r>
            <a:endParaRPr lang="en-US" sz="1100" dirty="0"/>
          </a:p>
        </p:txBody>
      </p:sp>
      <p:sp>
        <p:nvSpPr>
          <p:cNvPr id="47" name="Text 44"/>
          <p:cNvSpPr txBox="1"/>
          <p:nvPr/>
        </p:nvSpPr>
        <p:spPr>
          <a:xfrm>
            <a:off x="3108960" y="48998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فَضْلِكِ، اِقْرَئِي النَّصَّ.</a:t>
            </a:r>
            <a:endParaRPr lang="ar-SA" sz="2200" dirty="0"/>
          </a:p>
        </p:txBody>
      </p:sp>
      <p:sp>
        <p:nvSpPr>
          <p:cNvPr id="48" name="Text 45"/>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6236208" y="54263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switch off your phone.</a:t>
            </a:r>
            <a:endParaRPr lang="en-US" sz="1100" dirty="0"/>
          </a:p>
        </p:txBody>
      </p:sp>
      <p:sp>
        <p:nvSpPr>
          <p:cNvPr id="51" name="Text 48"/>
          <p:cNvSpPr txBox="1"/>
          <p:nvPr/>
        </p:nvSpPr>
        <p:spPr>
          <a:xfrm>
            <a:off x="3108960" y="54263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يُرْجَى إِغْلَاقُ الْهَاتِفِ.</a:t>
            </a:r>
            <a:endParaRPr lang="ar-SA" sz="2200" dirty="0"/>
          </a:p>
        </p:txBody>
      </p:sp>
      <p:sp>
        <p:nvSpPr>
          <p:cNvPr id="52" name="Text 49"/>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sign</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positive command uses the imperative; a negative command uses lā + the jussive you-form. Lan is NOT a command (GM-V-06).</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yaftaḥu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اُفْتُحْ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اِفْتَحْ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yakhruju (go out)?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اُخْرُجْ</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اِخْرَجْ</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خَرَجَ</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 to one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تَذْهَبِينَ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a female group</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اُكْتُبُوا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yaftaḥu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اُفْتُحْ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اِفْتَحْ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Common command: iftaḥ.</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Imperative of yakhruju (go out)?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اُخْرُجْ</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اِخْرَجْ</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خَرَجَ</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Middle vowel u → helping vowel u: ukhruj.</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“Go!” to one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اِذْهَبِي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تَذْهَبِينَ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command: -ī.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a female group</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اُكْتُبْنَ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اُكْتُبُوا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اُكْتُبِي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plural ending -na.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give instructions for a computer task</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You open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تَفْتَحُ</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yaftaḥu → you form.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Command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اِفْتَحْ</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Drop ta-, add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You forget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تَنْسَى</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Final weak verb.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لَا تَنْسَ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Jussive: the alif drops.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COMMAND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PROHIBITION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أَوَّلًا، </a:t>
            </a:r>
            <a:pPr rtl="1" algn="r" indent="0" marL="0">
              <a:buNone/>
            </a:pPr>
            <a:r>
              <a:rPr lang="ar-SA" altLang="en-US" sz="2400" b="1" dirty="0">
                <a:solidFill>
                  <a:srgbClr val="0E7C86"/>
                </a:solidFill>
                <a:latin typeface="Amiri" pitchFamily="2" charset="-78"/>
                <a:ea typeface="Amiri" pitchFamily="2" charset="-78"/>
                <a:cs typeface="Amiri" pitchFamily="2" charset="-78"/>
              </a:rPr>
              <a:t>اِفْتَحِ</a:t>
            </a:r>
            <a:pPr rtl="1" algn="r" indent="0" marL="0">
              <a:buNone/>
            </a:pPr>
            <a:r>
              <a:rPr lang="ar-SA" altLang="en-US" sz="2400" b="1" dirty="0">
                <a:solidFill>
                  <a:srgbClr val="1B3B6F"/>
                </a:solidFill>
                <a:latin typeface="Amiri" pitchFamily="2" charset="-78"/>
                <a:ea typeface="Amiri" pitchFamily="2" charset="-78"/>
                <a:cs typeface="Amiri" pitchFamily="2" charset="-78"/>
              </a:rPr>
              <a:t> الْمِلَفَّ. بَعْدَ ذَلِكَ </a:t>
            </a:r>
            <a:pPr rtl="1" algn="r" indent="0" marL="0">
              <a:buNone/>
            </a:pPr>
            <a:r>
              <a:rPr lang="ar-SA" altLang="en-US" sz="2400" b="1" dirty="0">
                <a:solidFill>
                  <a:srgbClr val="0E7C86"/>
                </a:solidFill>
                <a:latin typeface="Amiri" pitchFamily="2" charset="-78"/>
                <a:ea typeface="Amiri" pitchFamily="2" charset="-78"/>
                <a:cs typeface="Amiri" pitchFamily="2" charset="-78"/>
              </a:rPr>
              <a:t>اُكْتُبْ</a:t>
            </a:r>
            <a:pPr rtl="1" algn="r" indent="0" marL="0">
              <a:buNone/>
            </a:pPr>
            <a:r>
              <a:rPr lang="ar-SA" altLang="en-US" sz="2400" b="1" dirty="0">
                <a:solidFill>
                  <a:srgbClr val="1B3B6F"/>
                </a:solidFill>
                <a:latin typeface="Amiri" pitchFamily="2" charset="-78"/>
                <a:ea typeface="Amiri" pitchFamily="2" charset="-78"/>
                <a:cs typeface="Amiri" pitchFamily="2" charset="-78"/>
              </a:rPr>
              <a:t> عُنْوَانَكَ. </a:t>
            </a:r>
            <a:pPr rtl="1" algn="r" indent="0" marL="0">
              <a:buNone/>
            </a:pPr>
            <a:r>
              <a:rPr lang="ar-SA" altLang="en-US" sz="2400" b="1" dirty="0">
                <a:solidFill>
                  <a:srgbClr val="D6336C"/>
                </a:solidFill>
                <a:latin typeface="Amiri" pitchFamily="2" charset="-78"/>
                <a:ea typeface="Amiri" pitchFamily="2" charset="-78"/>
                <a:cs typeface="Amiri" pitchFamily="2" charset="-78"/>
              </a:rPr>
              <a:t>لَا تَنْسَ</a:t>
            </a:r>
            <a:pPr rtl="1" algn="r" indent="0" marL="0">
              <a:buNone/>
            </a:pPr>
            <a:r>
              <a:rPr lang="ar-SA" altLang="en-US" sz="2400" b="1" dirty="0">
                <a:solidFill>
                  <a:srgbClr val="1B3B6F"/>
                </a:solidFill>
                <a:latin typeface="Amiri" pitchFamily="2" charset="-78"/>
                <a:ea typeface="Amiri" pitchFamily="2" charset="-78"/>
                <a:cs typeface="Amiri" pitchFamily="2" charset="-78"/>
              </a:rPr>
              <a:t> أَنْ تَحْفَظَ الْعَمَلَ، وَ</a:t>
            </a:r>
            <a:pPr rtl="1" algn="r" indent="0" marL="0">
              <a:buNone/>
            </a:pPr>
            <a:r>
              <a:rPr lang="ar-SA" altLang="en-US" sz="2400" b="1" dirty="0">
                <a:solidFill>
                  <a:srgbClr val="D6336C"/>
                </a:solidFill>
                <a:latin typeface="Amiri" pitchFamily="2" charset="-78"/>
                <a:ea typeface="Amiri" pitchFamily="2" charset="-78"/>
                <a:cs typeface="Amiri" pitchFamily="2" charset="-78"/>
              </a:rPr>
              <a:t>لَا تُغْلِقِ</a:t>
            </a:r>
            <a:pPr rtl="1" algn="r" indent="0" marL="0">
              <a:buNone/>
            </a:pPr>
            <a:r>
              <a:rPr lang="ar-SA" altLang="en-US" sz="2400" b="1" dirty="0">
                <a:solidFill>
                  <a:srgbClr val="1B3B6F"/>
                </a:solidFill>
                <a:latin typeface="Amiri" pitchFamily="2" charset="-78"/>
                <a:ea typeface="Amiri" pitchFamily="2" charset="-78"/>
                <a:cs typeface="Amiri" pitchFamily="2" charset="-78"/>
              </a:rPr>
              <a:t> الْمُتَصَفِّحَ قَبْلَ الْحِفْظِ.</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First, open the file. After that, write your title. Don’t forget to save the work, and don’t close the browser before saving.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فَضْلِكِ، اِفْتَحِي النَّافِذَةَ.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Please open the window. (to a girl)</a:t>
            </a:r>
            <a:endParaRPr lang="en-US" sz="1250" dirty="0"/>
          </a:p>
          <a:p>
            <a:pPr indent="0" marL="0">
              <a:buNone/>
            </a:pPr>
            <a:r>
              <a:rPr lang="en-US" sz="1050" i="1" dirty="0">
                <a:solidFill>
                  <a:srgbClr val="8A6D1E"/>
                </a:solidFill>
                <a:latin typeface="Calibri" pitchFamily="34" charset="0"/>
                <a:cs typeface="Amiri" pitchFamily="2" charset="-78"/>
              </a:rPr>
              <a:t>Polite + -ī.</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اِذْهَبْ مُسْتَقِيمًا، ثُمَّ انْعَطِفْ يَمِينًا.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 straight, then turn right.</a:t>
            </a:r>
            <a:endParaRPr lang="en-US" sz="1250" dirty="0"/>
          </a:p>
          <a:p>
            <a:pPr indent="0" marL="0">
              <a:buNone/>
            </a:pPr>
            <a:r>
              <a:rPr lang="en-US" sz="1050" i="1" dirty="0">
                <a:solidFill>
                  <a:srgbClr val="8A6D1E"/>
                </a:solidFill>
                <a:latin typeface="Calibri" pitchFamily="34" charset="0"/>
                <a:cs typeface="Amiri" pitchFamily="2" charset="-78"/>
              </a:rPr>
              <a:t>Directions.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تَعْبُرُوا الطَّرِيقَ هُنَا.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Don’t cross the road here. (to a group)</a:t>
            </a:r>
            <a:endParaRPr lang="en-US" sz="1250" dirty="0"/>
          </a:p>
          <a:p>
            <a:pPr indent="0" marL="0">
              <a:buNone/>
            </a:pPr>
            <a:r>
              <a:rPr lang="en-US" sz="1050" i="1" dirty="0">
                <a:solidFill>
                  <a:srgbClr val="8A6D1E"/>
                </a:solidFill>
                <a:latin typeface="Calibri" pitchFamily="34" charset="0"/>
                <a:cs typeface="Amiri" pitchFamily="2" charset="-78"/>
              </a:rPr>
              <a:t>Safety rule.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خُذْ كِتَابَكَ وَاجْلِسْ.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Take your book and sit down.</a:t>
            </a:r>
            <a:endParaRPr lang="en-US" sz="1250" dirty="0"/>
          </a:p>
          <a:p>
            <a:pPr indent="0" marL="0">
              <a:buNone/>
            </a:pPr>
            <a:r>
              <a:rPr lang="en-US" sz="1050" i="1" dirty="0">
                <a:solidFill>
                  <a:srgbClr val="8A6D1E"/>
                </a:solidFill>
                <a:latin typeface="Calibri" pitchFamily="34" charset="0"/>
                <a:cs typeface="Amiri" pitchFamily="2" charset="-78"/>
              </a:rPr>
              <a:t>Irregular khudh.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COMMAND THE AUDIENCE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are you talking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الْمُخَاطَبُ؟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38221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whom?</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Instruction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528048" y="226771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a:t>
            </a:r>
            <a:endParaRPr lang="en-US" sz="1100" dirty="0"/>
          </a:p>
        </p:txBody>
      </p:sp>
      <p:sp>
        <p:nvSpPr>
          <p:cNvPr id="22" name="Text 19"/>
          <p:cNvSpPr txBox="1"/>
          <p:nvPr/>
        </p:nvSpPr>
        <p:spPr>
          <a:xfrm>
            <a:off x="640080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اُكْتُبِي</a:t>
            </a:r>
            <a:endParaRPr lang="ar-SA" sz="2600" dirty="0"/>
          </a:p>
        </p:txBody>
      </p:sp>
      <p:sp>
        <p:nvSpPr>
          <p:cNvPr id="23" name="Text 20"/>
          <p:cNvSpPr txBox="1"/>
          <p:nvPr/>
        </p:nvSpPr>
        <p:spPr>
          <a:xfrm>
            <a:off x="385876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24" name="Text 21"/>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528048" y="2881884"/>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a:t>
            </a:r>
            <a:endParaRPr lang="en-US" sz="1100" dirty="0"/>
          </a:p>
        </p:txBody>
      </p:sp>
      <p:sp>
        <p:nvSpPr>
          <p:cNvPr id="29" name="Text 26"/>
          <p:cNvSpPr txBox="1"/>
          <p:nvPr/>
        </p:nvSpPr>
        <p:spPr>
          <a:xfrm>
            <a:off x="640080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اِقْرَؤُوا</a:t>
            </a:r>
            <a:endParaRPr lang="ar-SA" sz="2600" dirty="0"/>
          </a:p>
        </p:txBody>
      </p:sp>
      <p:sp>
        <p:nvSpPr>
          <p:cNvPr id="30" name="Text 27"/>
          <p:cNvSpPr txBox="1"/>
          <p:nvPr/>
        </p:nvSpPr>
        <p:spPr>
          <a:xfrm>
            <a:off x="385876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31" name="Text 28"/>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528048" y="3496056"/>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a:t>
            </a:r>
            <a:endParaRPr lang="en-US" sz="1100" dirty="0"/>
          </a:p>
        </p:txBody>
      </p:sp>
      <p:sp>
        <p:nvSpPr>
          <p:cNvPr id="36" name="Text 33"/>
          <p:cNvSpPr txBox="1"/>
          <p:nvPr/>
        </p:nvSpPr>
        <p:spPr>
          <a:xfrm>
            <a:off x="640080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تَكْتُبْ</a:t>
            </a:r>
            <a:endParaRPr lang="ar-SA" sz="2600" dirty="0"/>
          </a:p>
        </p:txBody>
      </p:sp>
      <p:sp>
        <p:nvSpPr>
          <p:cNvPr id="37" name="Text 34"/>
          <p:cNvSpPr txBox="1"/>
          <p:nvPr/>
        </p:nvSpPr>
        <p:spPr>
          <a:xfrm>
            <a:off x="385876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male</a:t>
            </a:r>
            <a:endParaRPr lang="en-US" sz="1100" dirty="0"/>
          </a:p>
        </p:txBody>
      </p:sp>
      <p:sp>
        <p:nvSpPr>
          <p:cNvPr id="38" name="Text 35"/>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write!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528048" y="4110228"/>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3" name="Text 40"/>
          <p:cNvSpPr txBox="1"/>
          <p:nvPr/>
        </p:nvSpPr>
        <p:spPr>
          <a:xfrm>
            <a:off x="640080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تَكْتُبِي</a:t>
            </a:r>
            <a:endParaRPr lang="ar-SA" sz="2600" dirty="0"/>
          </a:p>
        </p:txBody>
      </p:sp>
      <p:sp>
        <p:nvSpPr>
          <p:cNvPr id="44" name="Text 41"/>
          <p:cNvSpPr txBox="1"/>
          <p:nvPr/>
        </p:nvSpPr>
        <p:spPr>
          <a:xfrm>
            <a:off x="385876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female</a:t>
            </a:r>
            <a:endParaRPr lang="en-US" sz="1100" dirty="0"/>
          </a:p>
        </p:txBody>
      </p:sp>
      <p:sp>
        <p:nvSpPr>
          <p:cNvPr id="45" name="Text 42"/>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write!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528048" y="4724400"/>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8" name="Text 45"/>
          <p:cNvSpPr txBox="1"/>
          <p:nvPr/>
        </p:nvSpPr>
        <p:spPr>
          <a:xfrm>
            <a:off x="640080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تَخْرُجُوا</a:t>
            </a:r>
            <a:endParaRPr lang="ar-SA" sz="2600" dirty="0"/>
          </a:p>
        </p:txBody>
      </p:sp>
      <p:sp>
        <p:nvSpPr>
          <p:cNvPr id="49" name="Text 46"/>
          <p:cNvSpPr txBox="1"/>
          <p:nvPr/>
        </p:nvSpPr>
        <p:spPr>
          <a:xfrm>
            <a:off x="385876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50" name="Text 47"/>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leave!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528048" y="5338572"/>
            <a:ext cx="21305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a:t>
            </a:r>
            <a:endParaRPr lang="en-US" sz="1100" dirty="0"/>
          </a:p>
        </p:txBody>
      </p:sp>
      <p:sp>
        <p:nvSpPr>
          <p:cNvPr id="53" name="Text 50"/>
          <p:cNvSpPr txBox="1"/>
          <p:nvPr/>
        </p:nvSpPr>
        <p:spPr>
          <a:xfrm>
            <a:off x="640080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اِذْهَبَا</a:t>
            </a:r>
            <a:endParaRPr lang="ar-SA" sz="2600" dirty="0"/>
          </a:p>
        </p:txBody>
      </p:sp>
      <p:sp>
        <p:nvSpPr>
          <p:cNvPr id="54" name="Text 51"/>
          <p:cNvSpPr txBox="1"/>
          <p:nvPr/>
        </p:nvSpPr>
        <p:spPr>
          <a:xfrm>
            <a:off x="385876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people</a:t>
            </a:r>
            <a:endParaRPr lang="en-US" sz="1100" dirty="0"/>
          </a:p>
        </p:txBody>
      </p:sp>
      <p:sp>
        <p:nvSpPr>
          <p:cNvPr id="55" name="Text 52"/>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match purpose, addressee and form. Take! = khudh (irregular).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COMMAND, DON’T, OR FUTURE?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Command, prohibition or future negation?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أَمْرٌ أَمْ نَهْيٌ أَمْ 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اِجْلِسْ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اِقْرَئِي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تَتَأَخَّرْ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تَخْرُجُوا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تَنْسَيْ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تَكْتُبَ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يَخْرُجُوا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Command</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Don’t! (lā)</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 (lan)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Command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اِجْلِسْ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اُكْتُبُوا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اِقْرَئِي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Don’t! (lā)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تَتَأَخَّرْ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تَخْرُجُوا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تَنْسَيْ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 (lan)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تَكْتُبَ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يَخْرُجُوا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or present base?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تَكْتُبُ عَلَى الْجِدَارِ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Damma or sukūn after 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لَنْ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Lan or lā for “don’t”?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اِذْهَبْ!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command comes from the present, not the past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تَكْتُبُ عَلَى الْجِدَارِ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تَكْتُبْ عَلَى الْجِدَارِ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Prohibitive lā needs the jussive — sukūn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لَنْ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تَذْهَبْ!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Lan is future negation; lā gives a negative command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GUIDED PRACTICE · WEBSITE PROHIBITION AND FUNCTIONAL COMMAND CHECKS</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be late!” to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تَتَأَخَّرِينَ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تَتَأَخَّرِي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تَتَأَخَّرِي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go out!” to a group</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تَخْرُجُونَ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تَخْرُجُوا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تَخْرُجُوا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polite request to one female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اِفْتَحْ النَّافِذَةَ.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 اِفْتَحِي النَّافِذَةَ.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تَفْتَحِي النَّافِذَةَ.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formal notice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اُدْخُنْ.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تُدَخِّنَ غَدًا.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يُرْجَى عَدَمُ التَّدْخِينِ.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be late!” to one female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تَتَأَخَّرِينَ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تَتَأَخَّرِي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تَتَأَخَّرِي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go out!” to a group</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تَخْرُجُونَ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تَخْرُجُوا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تَخْرُجُوا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five-verb form: no nūn.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polite request to one female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اِفْتَحْ النَّافِذَةَ.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فَضْلِكِ، اِفْتَحِي النَّافِذَةَ.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تَفْتَحِي النَّافِذَةَ.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form and politeness.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formal notice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اُدْخُنْ.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تُدَخِّنَ غَدًا.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يُرْجَى عَدَمُ التَّدْخِينِ.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impersonal formal request: yurjā.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WORKSHOP (TEACHER-WRITTEN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Library rules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قَوَاعِدُ الْمَكْتَبَةِ: أَهْلًا وَسَهْلًا! مِنْ فَضْلِكُمْ، اُدْخُلُوا بِهُدُوءٍ وَاجْلِسُوا فِي أَمَاكِنِكُمْ. لَا تَأْكُلُوا وَلَا تَشْرَبُوا هُنَا. يُرْجَى إِغْلَاقُ الْهَوَاتِفِ. إِذَا أَخَذْتَ كِتَابًا فَاكْتُبِ اسْمَكَ فِي السِّجِلِّ. يَا مَرْيَمُ، أَرْجِعِي الْكُتُبَ إِلَى الرَّفِّ، وَلَا تَنْسَيْ بِطَاقَتَكِ!</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بِهُدُوءٍ</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أَمَاكِنِكُمْ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places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السِّجِلِّ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register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الرَّفِّ</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shelf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بِطَاقَتَكِ</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card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an impersonal formal request?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اِجْلِسُوا فِي أَمَاكِنِكُمْ.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يُرْجَى إِغْلَاقُ الْهَوَاتِفِ.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تَأْكُلُوا.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visitors not allowed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 down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books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and drink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Maryam told to do something?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the books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 her phone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her name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lā tansay end without a nūn?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past tense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 after lā drops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an impersonal formal request?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اِجْلِسُوا فِي أَمَاكِنِكُمْ.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يُرْجَى إِغْلَاقُ الْهَوَاتِفِ.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تَأْكُلُوا.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Yurjā — no direct addressee.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visitors not allowed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 down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books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 and drink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taʾkulū wa-lā tashrabū.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Maryam told to do something?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return the books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close her phone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her name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Arjiʿī l-kutub — feminine command.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lā tansay end without a nūn?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past tense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jussive after lā drops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Tansayna → lā tansay.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directions and instructions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 صَدِيقَكَ ثَلَاثَةَ أَوَامِرَ فِي الصَّفِّ.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أَذْهَبُ إِلَى الْمَكْتَبَةِ مِنْ فَضْلِكَ؟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اِشْرَحْ لِمَجْمُوعَةٍ كَيْفَ يَطْبُخُونَ طَبَقًا بَسِيطًا.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مِنْ فَضْلِكَ، ___ ، ثُمَّ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اِذْهَبْ ___ ، ثُمَّ ___ ، وَلَا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أَوَّلًا ___ ، بَعْدَ ذَلِكَ ___ ، وَلَا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فَضْلِكِ، كَيْفَ أَذْهَبُ إِلَى الْمَسْجِدِ؟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how do I get to the mosque?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اِذْهَبْ مُسْتَقِيمًا، ثُمَّ انْعَطِفْ يَسَارًا عِنْدَ الْمَدْرَسَةِ. لَا تَعْبُرِ الطَّرِيقَ هُنَاكَ، فَهُوَ خَطِيرٌ.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Go straight, then turn left at the school. Don’t cross the road there — it is dangerous.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steps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Classroom rules for one student.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Commands to one male, with please.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steps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Rules for a group, with three “don’t” rules.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lā + -ū (no nūn).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steps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guide with a second section to a girl or a female group.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Accurate helping vowels; one formal yurjā.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اِفْتَحُوا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(all of you) open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تَتَكَلَّمُوا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Don’t (all of you) talk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اِقْرَئِي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Read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يُرْجَى عَدَمُ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 do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فَضْلِكَ، اِفْتَحِ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 open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اُكْتُبْ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Write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تَنْسَ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Don’t forget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اِجْلِسْ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اِفْتَحْ  ·  اُكْتُبْ  ·  اِجْلِسْ  ·  اِقْرَئِي  ·  اِذْهَبُوا  ·  خُذْ  ·  لَا تَنْسَ  ·  لَا تَتَأَخَّرْ  ·  لَا تَتَكَلَّمُوا  ·  مِنْ فَضْلِكَ  ·  أَوَّلًا  ·  ثُمَّ  ·  بَعْدَ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12-step guide with three negative instructions and a second section for a different audience.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helping vowels (u- or i-).</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feminine command.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group command.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prohibitions with lā.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Polite language where appropriate.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finally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اِنْتَبِهْ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 careful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يُرْجَى</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requested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تَنْسَ أَنْ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forget to</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كَيْفَ تُحَضِّرُ الشَّايَ؟ أَوَّلًا، اِغْسِلْ يَدَيْكَ. ثُمَّ امْلَأِ الْإِبْرِيقَ بِالْمَاءِ وَضَعْهُ عَلَى النَّارِ. اِنْتَبِهْ وَلَا تَلْمِسِ الْإِبْرِيقَ لِأَنَّهُ حَارٌّ. بَعْدَ ذَلِكَ ضَعِ الشَّايَ فِي الْكُوبِ، وَلَا تَنْسَ السُّكَّرَ. يَا أُخْتِي، اِغْسِلِي الْأَكْوَابَ مِنْ فَضْلِكِ، وَلَا تَتْرُكِيهَا فِي الْمَطْبَخِ. يَا أَصْدِقَائِي، اِجْلِسُوا وَاشْرَبُوا، وَلَا تَتَأَخَّرُوا!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How do you make tea? First, wash your hands. Then fill the kettle with water and put it on the heat. Be careful and don’t touch the kettle because it is hot. After that put the tea in the cup, and don’t forget the sugar. Sister, please wash the cups, and don’t leave them in the kitchen. My friends, sit and drink, and don’t be late!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command (one)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command (group)</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command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 + jussive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commands start with a helping vowel (u- or 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-ī for a girl.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lā my verb has sukūn or no nūn.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lā, not lan, for “don’t”.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polite or formal language.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two people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اُكْتُبُوا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write!” to a group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تَكْتُبُوا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“Take!” to one 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اِأْخُذْ</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“Write!” to two people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اُكْتُبَا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اُكْتُبُوا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تَكْتُبَانِ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“Don’t write!” to a group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تَكْتُبُونَ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تَكْتُبُوا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تَكْتُبُوا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Prohibition: lā + jussive, no nūn.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“Take!” to one 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اِأْخُذْ</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Irregular command: khudh.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GM-V-07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GM-V-08: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GM-V-08 · Negating Past and Present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past)</a:t>
            </a:r>
            <a:pPr indent="0" marL="0">
              <a:buNone/>
            </a:pPr>
            <a:r>
              <a:rPr lang="ar-SA" sz="1000" i="1" dirty="0">
                <a:solidFill>
                  <a:srgbClr val="5A6472"/>
                </a:solidFill>
                <a:latin typeface="Calibri" pitchFamily="34" charset="0"/>
                <a:ea typeface="Amiri" pitchFamily="2" charset="-78"/>
                <a:cs typeface="Amiri" pitchFamily="2" charset="-78"/>
              </a:rPr>
              <a:t>  مَا ذَهَبْتُ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did not (+ jussive)</a:t>
            </a:r>
            <a:pPr indent="0" marL="0">
              <a:buNone/>
            </a:pPr>
            <a:r>
              <a:rPr lang="ar-SA" sz="1000" i="1" dirty="0">
                <a:solidFill>
                  <a:srgbClr val="5A6472"/>
                </a:solidFill>
                <a:latin typeface="Calibri" pitchFamily="34" charset="0"/>
                <a:ea typeface="Amiri" pitchFamily="2" charset="-78"/>
                <a:cs typeface="Amiri" pitchFamily="2" charset="-78"/>
              </a:rPr>
              <a:t>  لَمْ أَذْهَبْ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not (+ present)</a:t>
            </a:r>
            <a:pPr indent="0" marL="0">
              <a:buNone/>
            </a:pPr>
            <a:r>
              <a:rPr lang="ar-SA" sz="1000" i="1" dirty="0">
                <a:solidFill>
                  <a:srgbClr val="5A6472"/>
                </a:solidFill>
                <a:latin typeface="Calibri" pitchFamily="34" charset="0"/>
                <a:ea typeface="Amiri" pitchFamily="2" charset="-78"/>
                <a:cs typeface="Amiri" pitchFamily="2" charset="-78"/>
              </a:rPr>
              <a:t>  لَا أَذْهَبُ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yesterday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أَبَدًا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never / at all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lā taktub (don’t write!). How do you think you say “I did not write”?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كَتَبْتُ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classroom commands to a boy and five to a girl.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Turn eight commands into prohibitions (lā + jussive).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a 12-step guide with three prohibitions.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GM-V-08 · Negating Past and Present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نَفْيُ الْمَاضِي وَالْمُضَارِعِ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command = you-form − ta- + helping vowel · endings: —, -ī, -ā, -ū, -na · don’t = lā + jussive (sukūn, no nūn) · lan is not a command.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GM-V-07 · Imperatives and Negative Commands</dc:title>
  <dc:subject>PptxGenJS Presentation</dc:subject>
  <dc:creator>Al Madina Online School · Arabic Department</dc:creator>
  <cp:lastModifiedBy>Al Madina Online School · Arabic Department</cp:lastModifiedBy>
  <cp:revision>1</cp:revision>
  <dcterms:created xsi:type="dcterms:W3CDTF">2026-10-11T06:42:37Z</dcterms:created>
  <dcterms:modified xsi:type="dcterms:W3CDTF">2026-10-11T06:42:37Z</dcterms:modified>
</cp:coreProperties>
</file>