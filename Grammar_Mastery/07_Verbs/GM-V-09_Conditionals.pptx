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GM-V-09 (“Basic Conditional Structures”).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إِذَا + past form, then a result (إِذَا تَعِبْتُ أَسْتَرِيحُ · إِذَا وَصَلْتَ فَاتَّصِلْ بِي). Develop: لَوْ + كَانَ / كُنْتُ with a لَـ result (لَوْ كُنْتُ غَنِيًّا لَسَافَرْتُ). Stretch: counterfactual past (لَوْ خَرَجْنَا مُبَكِّرًا لَمَا تَأَخَّرْنَا) and formal إِنْ.
• Key warning (website): after idhā Arabic uses a PAST form for a future event — idhā waṣalta = when you arrive. Do not translate the English tense.
• Accuracy note: a result starting with sa-, a command or a noun is linked with fa- (فَسَتَنْجَحُ · فَاسْأَلْنِي · فَالرِّحْلَةُ مُمْتِعَةٌ).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3, 4, 5 and 6) — the GM-V-08 prep words idhā, law, fa- and najaḥa.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or expected → idhā (+ fa- on a sa-, command or noun result). Imagined → law (+ la- on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“idhā and law”. Ask: is it going to happen, or am I dreaming?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“Functional patterns with idhā” (fa- restored in pattern A;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“Hypotheses with law” and “Conditionals extend answers”. Ladder ends: wa-law kāna ʿindī waqtun aṭwalu la-zurtu bilādan ukhrā.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Conditional Meaning and idhā Pattern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(fa- restored on fa-sa-tukmilu).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law Pattern and Application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post). Read it aloud once while students follow; then they hunt for today’s grammar.
Task: Website: distinguish likely conditions from imagined alternatives, and identify the result in each sentence.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advice post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ladder: fact → idhā consequence → law extension. Listening (website): eight condition–result pairs — expected or imagined?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giving advice about study, health or the environment. Include three realistic idhā conditions and two hypothetical law extensions.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(GM-V-10 · Subjunctive) will spend class time USING this language, so students prepare it tonight — short, simple, easy to access (school guidance: “Simple, Short, Interesting, Relevant, Easy to access”). The five words prepare GM-V-10 (website Verbs lesson 10: the subjunctive).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Basic Conditionals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أَسَالِيبُ الشَّرْطِ الْأَسَاسِيَّةُ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Idhā = if / when for real, expected or repeated conditions (idhā darasta fa-sa-tanjaḥu). Law = if for imagined or impossible ones, and the result starts with la- (law kuntu ghaniyyan la-sāfartu).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Idhā vs law; idhā patterns; law patterns; speaking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connector; sort real / imagined;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likely/real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طَائِرًا، لَطِرْتُ.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سَتَنْجَحُ.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often means “when” as well as “if”?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وَصَلْتَ، ___ بِي.</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تَتَّصِلَ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اتَّصَلْتَ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فَاتَّصِلْ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لَوْ كُنْتُ غَنِيًّا، ___ حَوْلَ الْعَالَمِ.</a:t>
            </a:r>
            <a:endParaRPr lang="ar-SA" sz="11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أَمْسِ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أُسَافِرُ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لَسَافَرْتُ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basic condition-result patterns accurately in meaningful contexts.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Parse every classical conditional rule.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 </a:t>
            </a:r>
            <a:pPr algn="l" indent="0" marL="0">
              <a:buNone/>
            </a:pPr>
            <a:r>
              <a:rPr lang="ar-SA" altLang="en-US" sz="1650" dirty="0">
                <a:solidFill>
                  <a:srgbClr val="1F2A37"/>
                </a:solidFill>
                <a:latin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as identical.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likely/real condition.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كُنْتُ طَائِرًا، لَطِرْتُ.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دَرَسْتَ، سَتَنْجَحُ.</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commonly presents a real, expected or repeated condition.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often means “when” as well as “if”?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can be an instruction, linked with fa-.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وَصَلْتَ، ___ بِي.</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تَتَّصِلَ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اتَّصَلْتَ</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فَاتَّصِلْ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 often marks the result of law.</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لَوْ كُنْتُ غَنِيًّا، ___ حَوْلَ الْعَالَمِ.</a:t>
            </a:r>
            <a:endParaRPr lang="ar-SA" sz="11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 أَمْسِ</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أُسَافِرُ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لَسَافَرْتُ</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priority is the functional contrast between idhā and law.</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basic condition-result patterns accurately in meaningful contexts.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Parse every classical conditional rule.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 </a:t>
            </a:r>
            <a:pPr algn="l" indent="0" marL="0">
              <a:buNone/>
            </a:pPr>
            <a:r>
              <a:rPr lang="ar-SA" altLang="en-US" sz="1650" dirty="0">
                <a:solidFill>
                  <a:srgbClr val="9AA1AB"/>
                </a:solidFill>
                <a:latin typeface="Amiri" pitchFamily="2" charset="-78"/>
                <a:cs typeface="Amiri" pitchFamily="2" charset="-78"/>
              </a:rPr>
              <a:t>إذا</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لو</a:t>
            </a:r>
            <a:pPr algn="l" indent="0" marL="0">
              <a:buNone/>
            </a:pPr>
            <a:r>
              <a:rPr lang="en-US" sz="1250" dirty="0">
                <a:solidFill>
                  <a:srgbClr val="9AA1AB"/>
                </a:solidFill>
                <a:latin typeface="Calibri" pitchFamily="34" charset="0"/>
                <a:cs typeface="Amiri" pitchFamily="2" charset="-78"/>
              </a:rPr>
              <a:t> as identical.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Functional contrast is the IGCSE priority.</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Real or expected → idhā (+ fa- on a sa-, command or noun result). Imagined → law (+ la- on the result).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دَرَسْتَ </a:t>
            </a:r>
            <a:pPr rtl="1" algn="ctr" indent="0" marL="0">
              <a:lnSpc>
                <a:spcPct val="120000"/>
              </a:lnSpc>
              <a:buNone/>
            </a:pPr>
            <a:r>
              <a:rPr lang="ar-SA" altLang="en-US" sz="1950" b="1" dirty="0">
                <a:solidFill>
                  <a:srgbClr val="0E7C86"/>
                </a:solidFill>
                <a:latin typeface="Amiri" pitchFamily="2" charset="-78"/>
                <a:cs typeface="Amiri" pitchFamily="2" charset="-78"/>
              </a:rPr>
              <a:t>فَسَتَنْجَحُ</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كُنْتُ غَنِيًّا </a:t>
            </a:r>
            <a:pPr rtl="1" algn="ctr" indent="0" marL="0">
              <a:lnSpc>
                <a:spcPct val="120000"/>
              </a:lnSpc>
              <a:buNone/>
            </a:pPr>
            <a:r>
              <a:rPr lang="ar-SA" altLang="en-US" sz="1950" b="1" dirty="0">
                <a:solidFill>
                  <a:srgbClr val="D6336C"/>
                </a:solidFill>
                <a:latin typeface="Amiri" pitchFamily="2" charset="-78"/>
                <a:cs typeface="Amiri" pitchFamily="2" charset="-78"/>
              </a:rPr>
              <a:t>لَسَافَرْتُ</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idhā for real and repeated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law for imagined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future, command or noun result with fa-.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Mark a law result with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if I am tired, I rest with idhā.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advice: if you need help, ask 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if I were rich, I would … with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add la- to the law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reflect on the past: if we had left early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speaking ladder: fact, idhā, law.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الشَّرْطُ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condition</a:t>
            </a:r>
            <a:endParaRPr lang="en-US" sz="1350" dirty="0"/>
          </a:p>
          <a:p>
            <a:pPr indent="0" marL="0">
              <a:buNone/>
            </a:pPr>
            <a:r>
              <a:rPr lang="en-US" sz="1100" i="1" dirty="0">
                <a:solidFill>
                  <a:srgbClr val="5A6472"/>
                </a:solidFill>
                <a:latin typeface="Calibri" pitchFamily="34" charset="0"/>
                <a:cs typeface="Amiri" pitchFamily="2" charset="-78"/>
              </a:rPr>
              <a:t>ash-shar-ṭu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دَرَسْتَ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جَوَابُ الشَّرْطِ</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 clause</a:t>
            </a:r>
            <a:endParaRPr lang="en-US" sz="1350" dirty="0"/>
          </a:p>
          <a:p>
            <a:pPr indent="0" marL="0">
              <a:buNone/>
            </a:pPr>
            <a:r>
              <a:rPr lang="en-US" sz="1100" i="1" dirty="0">
                <a:solidFill>
                  <a:srgbClr val="5A6472"/>
                </a:solidFill>
                <a:latin typeface="Calibri" pitchFamily="34" charset="0"/>
                <a:cs typeface="Amiri" pitchFamily="2" charset="-78"/>
              </a:rPr>
              <a:t>ja-wā-bu ash-shar-ṭi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فَسَتَنْجَحُ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when (real)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تَعِبْتُ أَسْتَرِيحُ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(imagined)</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لَوْ كُنْتُ طَائِرًا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(links the result)</a:t>
            </a:r>
            <a:endParaRPr lang="en-US" sz="1350" dirty="0"/>
          </a:p>
          <a:p>
            <a:pPr indent="0" marL="0">
              <a:buNone/>
            </a:pPr>
            <a:r>
              <a:rPr lang="en-US" sz="1100" i="1" dirty="0">
                <a:solidFill>
                  <a:srgbClr val="5A6472"/>
                </a:solidFill>
                <a:latin typeface="Calibri" pitchFamily="34" charset="0"/>
                <a:cs typeface="Amiri" pitchFamily="2" charset="-78"/>
              </a:rPr>
              <a:t>fa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فَاسْأَلْنِي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(result of law)</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لَسَافَرْتُ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IDHĀ AND LAW: REAL VERSUS IMAGINED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or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وَلَوْ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7" name="Text 14"/>
          <p:cNvSpPr txBox="1"/>
          <p:nvPr/>
        </p:nvSpPr>
        <p:spPr>
          <a:xfrm>
            <a:off x="58338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meaning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routines</a:t>
            </a:r>
            <a:endParaRPr lang="en-US" sz="1100" dirty="0"/>
          </a:p>
        </p:txBody>
      </p:sp>
      <p:sp>
        <p:nvSpPr>
          <p:cNvPr id="22" name="Text 19"/>
          <p:cNvSpPr txBox="1"/>
          <p:nvPr/>
        </p:nvSpPr>
        <p:spPr>
          <a:xfrm>
            <a:off x="585216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دَرَسْتَ فَسَتَنْجَحُ.</a:t>
            </a:r>
            <a:endParaRPr lang="ar-SA" sz="2200" dirty="0"/>
          </a:p>
        </p:txBody>
      </p:sp>
      <p:sp>
        <p:nvSpPr>
          <p:cNvPr id="23" name="Text 20"/>
          <p:cNvSpPr txBox="1"/>
          <p:nvPr/>
        </p:nvSpPr>
        <p:spPr>
          <a:xfrm>
            <a:off x="257860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when — real, expected or repeated</a:t>
            </a:r>
            <a:endParaRPr lang="en-US" sz="1100" dirty="0"/>
          </a:p>
        </p:txBody>
      </p:sp>
      <p:sp>
        <p:nvSpPr>
          <p:cNvPr id="24" name="Text 21"/>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dreams, regrets</a:t>
            </a:r>
            <a:endParaRPr lang="en-US" sz="1100" dirty="0"/>
          </a:p>
        </p:txBody>
      </p:sp>
      <p:sp>
        <p:nvSpPr>
          <p:cNvPr id="29" name="Text 26"/>
          <p:cNvSpPr txBox="1"/>
          <p:nvPr/>
        </p:nvSpPr>
        <p:spPr>
          <a:xfrm>
            <a:off x="585216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كَانَ عِنْدِي وَقْتٌ لَسَافَرْتُ.</a:t>
            </a:r>
            <a:endParaRPr lang="ar-SA" sz="2200" dirty="0"/>
          </a:p>
        </p:txBody>
      </p:sp>
      <p:sp>
        <p:nvSpPr>
          <p:cNvPr id="30" name="Text 27"/>
          <p:cNvSpPr txBox="1"/>
          <p:nvPr/>
        </p:nvSpPr>
        <p:spPr>
          <a:xfrm>
            <a:off x="257860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imagined, unlikely, contrary to fact</a:t>
            </a:r>
            <a:endParaRPr lang="en-US" sz="1100" dirty="0"/>
          </a:p>
        </p:txBody>
      </p:sp>
      <p:sp>
        <p:nvSpPr>
          <p:cNvPr id="31" name="Text 28"/>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a:t>
            </a:r>
            <a:endParaRPr lang="ar-SA" sz="26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texts</a:t>
            </a:r>
            <a:endParaRPr lang="en-US" sz="1100" dirty="0"/>
          </a:p>
        </p:txBody>
      </p:sp>
      <p:sp>
        <p:nvSpPr>
          <p:cNvPr id="34" name="Text 31"/>
          <p:cNvSpPr txBox="1"/>
          <p:nvPr/>
        </p:nvSpPr>
        <p:spPr>
          <a:xfrm>
            <a:off x="585216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إِنْ تَدْرُسْ تَنْجَحْ.</a:t>
            </a:r>
            <a:endParaRPr lang="ar-SA" sz="2200" dirty="0"/>
          </a:p>
        </p:txBody>
      </p:sp>
      <p:sp>
        <p:nvSpPr>
          <p:cNvPr id="35" name="Text 32"/>
          <p:cNvSpPr txBox="1"/>
          <p:nvPr/>
        </p:nvSpPr>
        <p:spPr>
          <a:xfrm>
            <a:off x="257860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formal (Stretch)</a:t>
            </a:r>
            <a:endParaRPr lang="en-US" sz="1100" dirty="0"/>
          </a:p>
        </p:txBody>
      </p:sp>
      <p:sp>
        <p:nvSpPr>
          <p:cNvPr id="36" name="Text 33"/>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إِنْ</a:t>
            </a:r>
            <a:endParaRPr lang="ar-SA" sz="26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idhā presents the condition as realistic or expected; law opens an imagined alternative. In- takes the jussive in both parts (Stretch).</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FUNCTIONAL PATTERNS WITH IDHĀ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reliable idhā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أَنْمَاطُ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arrive, I will call you.</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وَصَلْتَ فَسَأَتَّصِلُ بِكَ.</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future result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feel tired, I sleep early.</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شَعَرْتُ بِالتَّعَبِ، أَنَامُ مُبَكِّرًا.</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habit result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need help, ask me.</a:t>
            </a:r>
            <a:endParaRPr lang="en-US" sz="1100" dirty="0"/>
          </a:p>
        </p:txBody>
      </p:sp>
      <p:sp>
        <p:nvSpPr>
          <p:cNvPr id="33" name="Text 30"/>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احْتَجْتَ إِلَى مُسَاعَدَةٍ، فَاسْأَلْنِي.</a:t>
            </a:r>
            <a:endParaRPr lang="ar-SA" sz="22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command result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the weather is nice, the trip is fun.</a:t>
            </a:r>
            <a:endParaRPr lang="en-US" sz="1100" dirty="0"/>
          </a:p>
        </p:txBody>
      </p:sp>
      <p:sp>
        <p:nvSpPr>
          <p:cNvPr id="39" name="Text 36"/>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كَانَ الْجَوُّ جَمِيلًا، فَالرِّحْلَةُ مُمْتِعَةٌ.</a:t>
            </a:r>
            <a:endParaRPr lang="ar-SA" sz="2200" dirty="0"/>
          </a:p>
        </p:txBody>
      </p:sp>
      <p:sp>
        <p:nvSpPr>
          <p:cNvPr id="40" name="Text 37"/>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noun result</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after idhā the verb is usually PAST in form even for the future — idhā waṣalta = when you arrive. Results with sa-, a command or a noun take fa-.</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HYPOTHESES WITH LAW (WEBSITE TABLE)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Dreams, wishes and regrets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الِافْتِرَاضُ بِـ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had money, I would buy a car.</a:t>
            </a:r>
            <a:endParaRPr lang="en-US" sz="1100" dirty="0"/>
          </a:p>
        </p:txBody>
      </p:sp>
      <p:sp>
        <p:nvSpPr>
          <p:cNvPr id="21" name="Text 18"/>
          <p:cNvSpPr txBox="1"/>
          <p:nvPr/>
        </p:nvSpPr>
        <p:spPr>
          <a:xfrm>
            <a:off x="329184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كَانَ عِنْدِي مَالٌ لَاشْتَرَيْتُ سَيَّارَةً.</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kāna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were a manager, I would change the rules.</a:t>
            </a:r>
            <a:endParaRPr lang="en-US" sz="1100" dirty="0"/>
          </a:p>
        </p:txBody>
      </p:sp>
      <p:sp>
        <p:nvSpPr>
          <p:cNvPr id="27" name="Text 24"/>
          <p:cNvSpPr txBox="1"/>
          <p:nvPr/>
        </p:nvSpPr>
        <p:spPr>
          <a:xfrm>
            <a:off x="329184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كُنْتُ مُدِيرًا لَغَيَّرْتُ الْقَوَاعِدَ.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kuntu</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had studied more, I would have passed.</a:t>
            </a:r>
            <a:endParaRPr lang="en-US" sz="1100" dirty="0"/>
          </a:p>
        </p:txBody>
      </p:sp>
      <p:sp>
        <p:nvSpPr>
          <p:cNvPr id="33" name="Text 30"/>
          <p:cNvSpPr txBox="1"/>
          <p:nvPr/>
        </p:nvSpPr>
        <p:spPr>
          <a:xfrm>
            <a:off x="329184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دَرَسْتُ أَكْثَرَ لَنَجَحْتُ.</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event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we had left early, we wouldn’t have been late.</a:t>
            </a:r>
            <a:endParaRPr lang="en-US" sz="1100" dirty="0"/>
          </a:p>
        </p:txBody>
      </p:sp>
      <p:sp>
        <p:nvSpPr>
          <p:cNvPr id="37" name="Text 34"/>
          <p:cNvSpPr txBox="1"/>
          <p:nvPr/>
        </p:nvSpPr>
        <p:spPr>
          <a:xfrm>
            <a:off x="329184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خَرَجْنَا مُبَكِّرًا لَمَا تَأَخَّرْنَا.</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 result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 likely condition → law</a:t>
            </a:r>
            <a:endParaRPr lang="en-US" sz="1100" dirty="0"/>
          </a:p>
        </p:txBody>
      </p:sp>
      <p:sp>
        <p:nvSpPr>
          <p:cNvPr id="41" name="Text 38"/>
          <p:cNvSpPr txBox="1"/>
          <p:nvPr/>
        </p:nvSpPr>
        <p:spPr>
          <a:xfrm>
            <a:off x="329184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السَّفَرَ. إِذَا سَافَرْتُ فَسَأَزُورُ الْمَغْرِبَ.</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speaking ladder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la- on la-sāfartu, la-shtaraytu is the common signal of a law result; la-mā makes it negative.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expected weather result?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شَمْسًا، لَأَشْرَقْتُ.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تُمْطِرَ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أَمْطَرَتْ، فَسَنَبْقَى فِي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imagined ability?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أَسْتَطِيعُ الطَّيَرَانَ، لَزُرْتُ كُلَّ بَلَدٍ.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أَسْتَيْقِظُ كُلَّ يَوْمٍ.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تَطِرْ.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is more hypothetical?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وَصَلْتَ، فَاتَّصِلْ 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سَوْفَ وَصَلْتَ، اتَّصَلْتَ.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وَصَلْتَ أَمْسِ، لَنْ تَتَّصِلَ.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expected weather result?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كُنْتُ شَمْسًا، لَأَشْرَقْتُ.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تُمْطِرَ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أَمْطَرَتْ، فَسَنَبْقَى فِي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possible future condition: idhā.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imagined ability?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كُنْتُ أَسْتَطِيعُ الطَّيَرَانَ، لَزُرْتُ كُلَّ بَلَدٍ.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أَسْتَيْقِظُ كُلَّ يَوْمٍ.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تَطِرْ.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law.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is more hypothetical?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وَصَلْتَ، فَاتَّصِلْ 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سَوْفَ وَصَلْتَ، اتَّصَلْتَ.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وَصَلْتَ أَمْسِ، لَنْ تَتَّصِلَ.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Past-form condition + command result with fa-.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give advice — then imagine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إِذَا نَظَّمْتَ وَقْتَكَ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Real → idhā + past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فَسَتُكْمِلُ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result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Imagined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لَوْ كَانَ عِنْدِي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real → law.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لَخَصَّصْتُهُ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law result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IDHĀ (REAL)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(IMAGINED)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cs typeface="Amiri" pitchFamily="2" charset="-78"/>
              </a:rPr>
              <a:t>إِذَا نَظَّمْتَ</a:t>
            </a:r>
            <a:pPr rtl="1" algn="r" indent="0" marL="0">
              <a:buNone/>
            </a:pPr>
            <a:r>
              <a:rPr lang="ar-SA" altLang="en-US" sz="1900" b="1" dirty="0">
                <a:solidFill>
                  <a:srgbClr val="1B3B6F"/>
                </a:solidFill>
                <a:latin typeface="Amiri" pitchFamily="2" charset="-78"/>
                <a:cs typeface="Amiri" pitchFamily="2" charset="-78"/>
              </a:rPr>
              <a:t> وَقْتَكَ، </a:t>
            </a:r>
            <a:pPr rtl="1" algn="r" indent="0" marL="0">
              <a:buNone/>
            </a:pPr>
            <a:r>
              <a:rPr lang="ar-SA" altLang="en-US" sz="1900" b="1" dirty="0">
                <a:solidFill>
                  <a:srgbClr val="0E7C86"/>
                </a:solidFill>
                <a:latin typeface="Amiri" pitchFamily="2" charset="-78"/>
                <a:cs typeface="Amiri" pitchFamily="2" charset="-78"/>
              </a:rPr>
              <a:t>فَسَتُكْمِلُ</a:t>
            </a:r>
            <a:pPr rtl="1" algn="r" indent="0" marL="0">
              <a:buNone/>
            </a:pPr>
            <a:r>
              <a:rPr lang="ar-SA" altLang="en-US" sz="1900" b="1" dirty="0">
                <a:solidFill>
                  <a:srgbClr val="1B3B6F"/>
                </a:solidFill>
                <a:latin typeface="Amiri" pitchFamily="2" charset="-78"/>
                <a:cs typeface="Amiri" pitchFamily="2" charset="-78"/>
              </a:rPr>
              <a:t> وَاجِبَاتِكَ بِسُهُولَةٍ. وَ</a:t>
            </a:r>
            <a:pPr rtl="1" algn="r" indent="0" marL="0">
              <a:buNone/>
            </a:pPr>
            <a:r>
              <a:rPr lang="ar-SA" altLang="en-US" sz="1900" b="1" dirty="0">
                <a:solidFill>
                  <a:srgbClr val="0E7C86"/>
                </a:solidFill>
                <a:latin typeface="Amiri" pitchFamily="2" charset="-78"/>
                <a:cs typeface="Amiri" pitchFamily="2" charset="-78"/>
              </a:rPr>
              <a:t>إِذَا شَعَرْتَ</a:t>
            </a:r>
            <a:pPr rtl="1" algn="r" indent="0" marL="0">
              <a:buNone/>
            </a:pPr>
            <a:r>
              <a:rPr lang="ar-SA" altLang="en-US" sz="1900" b="1" dirty="0">
                <a:solidFill>
                  <a:srgbClr val="1B3B6F"/>
                </a:solidFill>
                <a:latin typeface="Amiri" pitchFamily="2" charset="-78"/>
                <a:cs typeface="Amiri" pitchFamily="2" charset="-78"/>
              </a:rPr>
              <a:t> بِالتَّعَبِ، </a:t>
            </a:r>
            <a:pPr rtl="1" algn="r" indent="0" marL="0">
              <a:buNone/>
            </a:pPr>
            <a:r>
              <a:rPr lang="ar-SA" altLang="en-US" sz="1900" b="1" dirty="0">
                <a:solidFill>
                  <a:srgbClr val="0E7C86"/>
                </a:solidFill>
                <a:latin typeface="Amiri" pitchFamily="2" charset="-78"/>
                <a:cs typeface="Amiri" pitchFamily="2" charset="-78"/>
              </a:rPr>
              <a:t>فَاسْتَرِحْ</a:t>
            </a:r>
            <a:pPr rtl="1" algn="r" indent="0" marL="0">
              <a:buNone/>
            </a:pPr>
            <a:r>
              <a:rPr lang="ar-SA" altLang="en-US" sz="1900" b="1" dirty="0">
                <a:solidFill>
                  <a:srgbClr val="1B3B6F"/>
                </a:solidFill>
                <a:latin typeface="Amiri" pitchFamily="2" charset="-78"/>
                <a:cs typeface="Amiri" pitchFamily="2" charset="-78"/>
              </a:rPr>
              <a:t> قَلِيلًا. وَ</a:t>
            </a:r>
            <a:pPr rtl="1" algn="r" indent="0" marL="0">
              <a:buNone/>
            </a:pPr>
            <a:r>
              <a:rPr lang="ar-SA" altLang="en-US" sz="1900" b="1" dirty="0">
                <a:solidFill>
                  <a:srgbClr val="D6336C"/>
                </a:solidFill>
                <a:latin typeface="Amiri" pitchFamily="2" charset="-78"/>
                <a:cs typeface="Amiri" pitchFamily="2" charset="-78"/>
              </a:rPr>
              <a:t>لَوْ كَانَ</a:t>
            </a:r>
            <a:pPr rtl="1" algn="r" indent="0" marL="0">
              <a:buNone/>
            </a:pPr>
            <a:r>
              <a:rPr lang="ar-SA" altLang="en-US" sz="1900" b="1" dirty="0">
                <a:solidFill>
                  <a:srgbClr val="1B3B6F"/>
                </a:solidFill>
                <a:latin typeface="Amiri" pitchFamily="2" charset="-78"/>
                <a:cs typeface="Amiri" pitchFamily="2" charset="-78"/>
              </a:rPr>
              <a:t> عِنْدِي يَوْمٌ إِضَافِيٌّ، </a:t>
            </a:r>
            <a:pPr rtl="1" algn="r" indent="0" marL="0">
              <a:buNone/>
            </a:pPr>
            <a:r>
              <a:rPr lang="ar-SA" altLang="en-US" sz="1900" b="1" dirty="0">
                <a:solidFill>
                  <a:srgbClr val="D6336C"/>
                </a:solidFill>
                <a:latin typeface="Amiri" pitchFamily="2" charset="-78"/>
                <a:cs typeface="Amiri" pitchFamily="2" charset="-78"/>
              </a:rPr>
              <a:t>لَخَصَّصْتُهُ</a:t>
            </a:r>
            <a:pPr rtl="1" algn="r" indent="0" marL="0">
              <a:buNone/>
            </a:pPr>
            <a:r>
              <a:rPr lang="ar-SA" altLang="en-US" sz="1900" b="1" dirty="0">
                <a:solidFill>
                  <a:srgbClr val="1B3B6F"/>
                </a:solidFill>
                <a:latin typeface="Amiri" pitchFamily="2" charset="-78"/>
                <a:cs typeface="Amiri" pitchFamily="2" charset="-78"/>
              </a:rPr>
              <a:t> لِلْمُرَاجَعَةِ.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If you organise your time, you will finish your homework easily. And if you feel tired, rest a little. And if I had an extra day, I would devote it to revision.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أَمْطَرَتْ فَسَنَبْقَى فِي الْبَيْتِ.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it rains, we will stay at home.</a:t>
            </a:r>
            <a:endParaRPr lang="en-US" sz="1250" dirty="0"/>
          </a:p>
          <a:p>
            <a:pPr indent="0" marL="0">
              <a:buNone/>
            </a:pPr>
            <a:r>
              <a:rPr lang="en-US" sz="1050" i="1" dirty="0">
                <a:solidFill>
                  <a:srgbClr val="8A6D1E"/>
                </a:solidFill>
                <a:latin typeface="Calibri" pitchFamily="34" charset="0"/>
                <a:cs typeface="Amiri" pitchFamily="2" charset="-78"/>
              </a:rPr>
              <a:t>Likely future.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جُعْتُ آكُلُ.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I get hungry, I eat.</a:t>
            </a:r>
            <a:endParaRPr lang="en-US" sz="1250" dirty="0"/>
          </a:p>
          <a:p>
            <a:pPr indent="0" marL="0">
              <a:buNone/>
            </a:pPr>
            <a:r>
              <a:rPr lang="en-US" sz="1050" i="1" dirty="0">
                <a:solidFill>
                  <a:srgbClr val="8A6D1E"/>
                </a:solidFill>
                <a:latin typeface="Calibri" pitchFamily="34" charset="0"/>
                <a:cs typeface="Amiri" pitchFamily="2" charset="-78"/>
              </a:rPr>
              <a:t>Routine.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كُنْتُ طَيَّارًا لَسَافَرْتُ كَثِيرًا.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were a pilot, I would travel a lot.</a:t>
            </a:r>
            <a:endParaRPr lang="en-US" sz="1250" dirty="0"/>
          </a:p>
          <a:p>
            <a:pPr indent="0" marL="0">
              <a:buNone/>
            </a:pPr>
            <a:r>
              <a:rPr lang="en-US" sz="1050" i="1" dirty="0">
                <a:solidFill>
                  <a:srgbClr val="8A6D1E"/>
                </a:solidFill>
                <a:latin typeface="Calibri" pitchFamily="34" charset="0"/>
                <a:cs typeface="Amiri" pitchFamily="2" charset="-78"/>
              </a:rPr>
              <a:t>Dream job.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دَرَسْتُ أَكْثَرَ لَنَجَحْتُ.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had studied more, I would have passed.</a:t>
            </a:r>
            <a:endParaRPr lang="en-US" sz="1250" dirty="0"/>
          </a:p>
          <a:p>
            <a:pPr indent="0" marL="0">
              <a:buNone/>
            </a:pPr>
            <a:r>
              <a:rPr lang="en-US" sz="1050" i="1" dirty="0">
                <a:solidFill>
                  <a:srgbClr val="8A6D1E"/>
                </a:solidFill>
                <a:latin typeface="Calibri" pitchFamily="34" charset="0"/>
                <a:cs typeface="Amiri" pitchFamily="2" charset="-78"/>
              </a:rPr>
              <a:t>Regret.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MATCH CONNECTOR, CONDITION AND RESULT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Idhā or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(cover the connector)</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likely result</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a:t>
            </a:r>
            <a:endParaRPr lang="ar-SA" sz="26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دَرَسْتَ فَسَتَنْجَحُ.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impossible + la-</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a:t>
            </a:r>
            <a:endParaRPr lang="ar-SA" sz="26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كُنْتُ طَائِرًا لَطِرْتُ.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expected + command</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a:t>
            </a:r>
            <a:endParaRPr lang="ar-SA" sz="26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وَصَلْتَ فَاتَّصِلْ بِي.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imagined + la-</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a:t>
            </a:r>
            <a:endParaRPr lang="ar-SA" sz="26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كَانَ عِنْدِي وَقْتٌ لَقَرَأْتُ.</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routine</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a:t>
            </a:r>
            <a:endParaRPr lang="ar-SA" sz="26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تَعِبْتُ أَسْتَرِيحُ.</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a:t>
            </a:r>
            <a:endParaRPr lang="ar-SA" sz="26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دَرَسْتُ أَكْثَرَ لَنَجَحْتُ.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the result tells you — la- points to law; fa-sa-, a command or a habit point to idhā.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REAL OR IMAGINED?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Expected, or just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وَاقِعِيٌّ أَمْ خَيَالِيٌّ؟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جُعْتُ آكُلُ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نَجَحْتُ فَسَأَحْتَفِلُ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أَرَدْتَ فَاسْأَلْ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أَمْطَرَتْ فَسَنَبْقَى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كُنْتُ طَبِيبًا لَسَاعَدْتُ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 عِنْدِي مَالٌ لَاشْتَرَيْتُ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خَرَجْنَا لَمَا تَأَخَّرْنَا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طِرْتُ لَزُرْتُ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 expected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Imagined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 expected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جُعْتُ آكُلُ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نَجَحْتُ فَسَأَحْتَفِلُ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أَرَدْتَ فَاسْأَلْ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أَمْطَرَتْ فَسَنَبْقَى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Imagined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كُنْتُ طَبِيبًا لَسَاعَدْتُ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 عِنْدِي مَالٌ لَاشْتَرَيْتُ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خَرَجْنَا لَمَا تَأَخَّرْنَا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طِرْتُ لَزُرْتُ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سَوْفَ تَدْرُسُ، سَتَنْجَحُ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Future marker inside the condition?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شَعَرْتُ بِالْجُوعِ كُلَّ يَوْمٍ، لَأَكَلْتُ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Routine or imagined?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كُنْتُ غَنِيًّا، سَافَرْتُ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signals a law result?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سَوْفَ تَدْرُسُ، سَتَنْجَحُ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دَرَسْتَ فَسَتَنْجَحُ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future marker in the condition; use a past form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شَعَرْتُ بِالْجُوعِ كُلَّ يَوْمٍ، لَأَكَلْتُ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شَعَرْتُ بِالْجُوعِ آكُلُ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routine relation uses idhā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كُنْتُ غَنِيًّا، سَافَرْتُ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كُنْتُ غَنِيًّا لَسَافَرْتُ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 signals the imagined result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LAW PATTERN AND APPLICATION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had time, I would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عِنْدِي وَقْتٌ أَمْسِ.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عِنْدِي وَقْتٌ.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 عِنْدِي وَقْتٌ، لَقَرَأْتُ.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regret about the past?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أَدْرُسُ، أَنْجَحُ.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دَرَسْتُ أَكْثَرَ، لَنَجَحْتُ.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best advice?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أَرَدْتَ، لَنْ تَدْرُسْ.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أَرَدْتَ النَّجَاحَ، فَادْرُسْ بِانْتِظَامٍ.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أَرَدْتَ، دَرَسْتُ أَنَا.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counterfactual reflection?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نَخْرُجُ غَدًا، تَأَخَّرْنَا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خَرَجْنَا.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خَرَجْنَا مُبَكِّرًا، لَمَا تَأَخَّرْنَا.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had time, I would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عِنْدِي وَقْتٌ أَمْسِ.</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عِنْدِي وَقْتٌ.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 عِنْدِي وَقْتٌ، لَقَرَأْتُ.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possession: law kāna ʿindī.</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regret about the past?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أَدْرُسُ، أَنْجَحُ.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دَرَسْتُ أَكْثَرَ، لَنَجَحْتُ.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unreal condition.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best advice?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أَرَدْتَ، لَنْ تَدْرُسْ.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أَرَدْتَ النَّجَاحَ، فَادْرُسْ بِانْتِظَامٍ.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أَرَدْتَ، دَرَسْتُ أَنَا.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Condition + command with fa-.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counterfactual reflection?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نَخْرُجُ غَدًا، تَأَخَّرْنَا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خَرَجْنَا.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خَرَجْنَا مُبَكِّرًا، لَمَا تَأَخَّرْنَا.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imagined different past with la-mā.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cs typeface="Amiri" pitchFamily="2" charset="-78"/>
              </a:rPr>
              <a:t>YOU DO · READ AND NOTICE · WEBSITE READING WORKSHOP (TEACHER-WRITTEN POST)</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post: exam stress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سُؤَالٌ مِنْ زَيْنَبَ: أَشْعُرُ بِالْقَلَقِ قَبْلَ الِامْتِحَانَاتِ. مَاذَا أَفْعَلُ؟ الْجَوَابُ: إِذَا شَعَرْتِ بِالْقَلَقِ، فَتَنَفَّسِي بِبُطْءٍ. إِذَا نِمْتِ مُبَكِّرًا، فَسَتَسْتَيْقِظِينَ نَشِيطَةً. وَإِذَا لَمْ تَفْهَمِي دَرْسًا، فَاسْأَلِي مُعَلِّمَتَكِ. أَنَا لَوْ كُنْتُ مَكَانَكِ لَصَنَعْتُ جَدْوَلًا لِلْمُرَاجَعَةِ. وَلَوْ بَدَأْتُ الْمُرَاجَعَةَ مُبَكِّرًا فِي سَنَتِي الْأُولَى، لَمَا شَعَرْتُ بِالضَّغْطِ!</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الْقَلَقِ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تَنَفَّسِي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breathe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بِبُطْءٍ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slowly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مَكَانَكِ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your place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جَدْوَلًا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timetable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الضَّغْطِ</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pressure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Zaynab do if she feels worried?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early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breathe slowly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imagined, not real?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نِمْتِ مُبَكِّرًا فَسَتَسْتَيْقِظِينَ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شَعَرْتِ بِالْقَلَقِ فَتَنَفَّسِي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مَكَانَكِ لَصَنَعْتُ جَدْوَلًا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result of sleeping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up energetic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feeling worried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making a timetable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regret?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early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starting revision early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Zaynab do if she feels worried?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early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breathe slowly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Fa-tanaffasī bi-buṭʾ.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imagined, not real?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نِمْتِ مُبَكِّرًا فَسَتَسْتَيْقِظِينَ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شَعَرْتِ بِالْقَلَقِ فَتَنَفَّسِي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كُنْتُ مَكَانَكِ لَصَنَعْتُ جَدْوَلًا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 la- result.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result of sleeping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waking up energetic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feeling worried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making a timetable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Fa-sa-tastayqiẓīna nashīṭatan.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regret?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early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starting revision early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badaʾtu … la-mā shaʿartu bi-ḍ-ḍaghṭ.</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conditional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إِذَا شَعَرْتَ بِالتَّعَبِ؟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سَتَفْعَلُ إِذَا نَجَحْتَ فِي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لَوْ كُنْتَ وَزِيرًا لِلْبِيئَةِ؟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إِذَا شَعَرْتُ بِالتَّعَبِ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نَجَحْتُ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كُنْتُ وَزِيرًا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تُحِبِّينَ السَّفَرَ؟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like travelling?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أُحِبُّ السَّفَرَ. إِذَا سَافَرْتُ فِي الصَّيْفِ فَسَأَزُورُ الْمَغْرِبَ. وَلَوْ كَانَ عِنْدِي وَقْتٌ أَطْوَلُ لَزُرْتُ بِلَادًا أُخْرَى.</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love travelling. If I travel in the summer, I will visit Morocco. And if I had longer, I would visit other countries.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Health advice with idhā.</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idhā + past form, then the result.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command result and one law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 before a command; la- after law.</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advice task with a regret.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Future, command and noun results; law + kāna / kuntu.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 عِنْدِي مَالٌ لَاشْتَرَيْتُ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money, I would buy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مُعَلِّمًا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were a teacher, I would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زَرَعْنَا أَشْجَارًا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plant trees,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دَرَسْتُ أَكْثَرَ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studied more,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شَعَرْتُ بِالتَّعَبِ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feel tired,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احْتَجْتَ مُسَاعَدَةً فَاسْأَلْ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need help, ask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أَمْطَرَتْ فَسَنَبْقَى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it rains,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دَرَسْتَ فَسَتَنْجَحُ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study, you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  لَوْ  ·  فَاسْأَلْ  ·  فَاسْتَرِحْ  ·  لَسَافَرْتُ  ·  لَاشْتَرَيْتُ  ·  لَنَجَحْتُ  ·  لَمَا تَأَخَّرْتُ  ·  كَانَ عِنْدِي  ·  كُنْتُ  ·  سَيَتَحَسَّنُ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120–140 words of advice about study, health or the environment.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realistic idhā conditions.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result with fa-sa-.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command result and a noun result with 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law extensions with 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law + kāna / kuntu frame.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أَرَدْتَ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want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فَعَلَيْكَ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you must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مَكَانَكَ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were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 عِنْدِي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had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would not (have)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سَيَتَحَسَّنُ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improve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نَصَائِحُ لِحَيَاةٍ صِحِّيَّةٍ: إِذَا أَرَدْتَ أَنْ تَكُونَ نَشِيطًا، فَنَمْ ثَمَانِيَ سَاعَاتٍ كُلَّ لَيْلَةٍ. إِذَا شَرِبْتَ الْمَاءَ بِانْتِظَامٍ فَسَتَشْعُرُ بِالرَّاحَةِ. وَإِذَا مَشَيْتَ كُلَّ يَوْمٍ، فَالْفَائِدَةُ كَبِيرَةٌ لِقَلْبِكَ. أَنَا إِذَا تَعِبْتُ أَسْتَرِيحُ قَلِيلًا ثُمَّ أَرْجِعُ إِلَى الدِّرَاسَةِ. لَوْ كُنْتُ مُدِيرَ الْمَدْرَسَةِ لَوَضَعْتُ فَوَاكِهَ فِي كُلِّ صَفٍّ. وَلَوْ عَرَفْتُ هَذِهِ النَّصَائِحَ مِنْ قَبْلُ، لَمَا أَكَلْتُ الْحَلْوَى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Advice for a healthy life: if you want to be active, sleep eight hours every night. If you drink water regularly, you will feel comfortable. And if you walk every day, the benefit to your heart is great. When I get tired, I rest a little and then go back to studying. If I were the head teacher, I would put fruit in every classroom. And if I had known this advice before, I would not have eaten sweets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command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fa-sa-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result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idhā for real or repeated conditions.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 after idhā is a past form.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fa- before sa-, a command or a noun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law results start with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regret with law … la-mā.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وَصَلْتَ، فَاتَّصِلْ 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وَصَلْتَ، لَنْ تَتَّصِلَ.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سَوْفَ وَصَلْتَ.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were a doctor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أَكُونُ طَبِيبًا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طَبِيبًا...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كُنْتُ طَبِيبًا...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counterfactual (unreal past)?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دَرَسْتُ أَكْثَرَ، لَنَجَحْتُ.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غَدًا، فَسَأَنْجَحُ.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إِذَا وَصَلْتَ، فَاتَّصِلْ 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لَوْ وَصَلْتَ، لَنْ تَتَّصِلَ.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سَوْفَ وَصَلْتَ.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Expected condition + command.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were a doctor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أَكُونُ طَبِيبًا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كُنْتُ طَبِيبًا...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كُنْتُ طَبِيبًا...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identity: law kuntu.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counterfactual (unreal past)?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دَرَسْتُ أَكْثَرَ، لَنَجَحْتُ.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دَرَسْتُ غَدًا، فَسَأَنْجَحُ.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تَدْرُسْ.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 past + la-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GM-V-10: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GM-V-10 · Subjunctive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 subjunctive)</a:t>
            </a:r>
            <a:pPr indent="0" marL="0">
              <a:buNone/>
            </a:pPr>
            <a:r>
              <a:rPr lang="en-US" sz="1000" i="1" dirty="0">
                <a:solidFill>
                  <a:srgbClr val="5A6472"/>
                </a:solidFill>
                <a:latin typeface="Calibri" pitchFamily="34" charset="0"/>
                <a:cs typeface="Amiri" pitchFamily="2" charset="-78"/>
              </a:rPr>
              <a:t>  أُرِيدُ أَنْ 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لِـ / لِكَيْ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order to</a:t>
            </a:r>
            <a:pPr indent="0" marL="0">
              <a:buNone/>
            </a:pPr>
            <a:r>
              <a:rPr lang="en-US" sz="1000" i="1" dirty="0">
                <a:solidFill>
                  <a:srgbClr val="5A6472"/>
                </a:solidFill>
                <a:latin typeface="Calibri" pitchFamily="34" charset="0"/>
                <a:cs typeface="Amiri" pitchFamily="2" charset="-78"/>
              </a:rPr>
              <a:t>  لِأَتَعَلَّمَ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want</a:t>
            </a:r>
            <a:pPr indent="0" marL="0">
              <a:buNone/>
            </a:pPr>
            <a:r>
              <a:rPr lang="en-US" sz="1000" i="1" dirty="0">
                <a:solidFill>
                  <a:srgbClr val="5A6472"/>
                </a:solidFill>
                <a:latin typeface="Calibri" pitchFamily="34" charset="0"/>
                <a:cs typeface="Amiri" pitchFamily="2" charset="-78"/>
              </a:rPr>
              <a:t>  أُرِيدُ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must / it is necessary</a:t>
            </a:r>
            <a:pPr indent="0" marL="0">
              <a:buNone/>
            </a:pPr>
            <a:r>
              <a:rPr lang="en-US" sz="1000" i="1" dirty="0">
                <a:solidFill>
                  <a:srgbClr val="5A6472"/>
                </a:solidFill>
                <a:latin typeface="Calibri" pitchFamily="34" charset="0"/>
                <a:cs typeface="Amiri" pitchFamily="2" charset="-78"/>
              </a:rPr>
              <a:t>  يَجِبُ أَنْ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 that / until</a:t>
            </a:r>
            <a:pPr indent="0" marL="0">
              <a:buNone/>
            </a:pPr>
            <a:r>
              <a:rPr lang="en-US" sz="1000" i="1" dirty="0">
                <a:solidFill>
                  <a:srgbClr val="5A6472"/>
                </a:solidFill>
                <a:latin typeface="Calibri" pitchFamily="34" charset="0"/>
                <a:cs typeface="Amiri" pitchFamily="2" charset="-78"/>
              </a:rPr>
              <a:t>  حَتَّى أَنْجَحَ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lan aktuba (fatḥa). After an (“to”) the same thing happens. How would you say “I want to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أُرِيدُ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idhā sentences about your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law sentences about your dream job.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advice task with a regret.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GM-V-10 · Subjunctive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الْمُضَارِعُ الْمَنْصُوبُ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 real / expected / repeated (+ past form) · fa- before a sa-, command or noun result · law = imagined, and its result starts with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GM-V-09 · Basic Conditionals</dc:title>
  <dc:subject>PptxGenJS Presentation</dc:subject>
  <dc:creator>Al Madina Online School · Arabic Department</dc:creator>
  <cp:lastModifiedBy>Al Madina Online School · Arabic Department</cp:lastModifiedBy>
  <cp:revision>1</cp:revision>
  <dcterms:created xsi:type="dcterms:W3CDTF">2026-10-11T06:42:38Z</dcterms:created>
  <dcterms:modified xsi:type="dcterms:W3CDTF">2026-10-11T06:42:38Z</dcterms:modified>
</cp:coreProperties>
</file>