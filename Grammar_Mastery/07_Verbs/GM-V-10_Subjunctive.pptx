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GM-V-10 (“The Subjunctive after أَنْ، لَنْ، كَيْ and حَتَّى”).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أَنْ and لَنْ with singular forms (أُرِيدُ أَنْ أَدْرُسَ · لَنْ أَتَأَخَّرَ). Develop: the five verbs (أَنْ تَكْتُبِي · أَنْ يَكْتُبُوا · أَنْ يَكْتُبَا) and purpose with لِكَيْ. Stretch: weak verbs (لَنْ يَرْمِيَ · لَنْ يَدْعُوَ) vs the jussive (لَمْ يَرْمِ · لَمْ يَدْعُ) and endpoint ḥattā.
• Website warning: do NOT remove the nūn of the feminine plural (يَكْتُبْنَ stays يَكْتُبْنَ) — it is not one of the five verbs.
• Links: lan was met in GM-V-06; the jussive in GM-V-07 and V-08. This lesson completes the three moods of the present.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5 and 6) — the GM-V-09 prep words an, li-kay, yajibu and ḥattā.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Trigger (an · lan · li-kay · ḥattā) → present verb in the subjunctive: fatḥa, or the nūn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main subjunctive triggers”. Learn each particle with its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“Regular and five-verb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“Weak verbs in the subjunctive” (jussive column added from GM-V-08 for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Particle and Purpose and Five-Verb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(corrected: uḥaqqiqa). Website routine: draw an arrow from each trigger to its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Rule: subjunctive keeps the weak letter; jussive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Rule: subjunctive keeps the weak letter; jussive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Five-Verb, Weak Subjunctive and Functional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profiles). Read it aloud once while students follow; then they hunt for today’s grammar.
Task: Website: underline the triggers and match each subjunctive verb to the word that governs it.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profiles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 one-minute answer using urīdu an, yajibu an, li-kay, lan and ḥattā. Listening (website): yaktubūna / an yaktubū and yamshī / lan yamshiya.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words about your ambitions and what you do to achieve them. Include intention, necessity, purpose, future negation and an endpoint.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(GM-V-11 · Passive Voice) will spend class time USING this language, so students prepare it tonight — short, simple, easy to access (school guidance: “Simple, Short, Interesting, Relevant, Easy to access”). The five words prepare GM-V-11 (website Verbs lesson 11: the passive voice).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Subjunctive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الْمُضَارِعُ الْمَنْصُوبُ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After an (to), lan (will not), li-kay (in order to) and ḥattā (until / so that) the present verb changes: ḍamma → fatḥa, the five verbs drop their nūn, and weak verbs keep their last letter with a fatḥa.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GM-V-10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Triggers; regular and five-verb endings; weak verbs; functions.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Transform; sort subjunctive / jussive;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دَرَسْتُ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not go”.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أَذْهَبُ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أَذْهَبَ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study in order to succeed”.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 لِكَيْ 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 لِكَيْ نَجَحْتُ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 لِكَيْ أَنْجَحَ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you (f.) to write”.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أُرِيدُكِ أَنْ تَكْتُبِينَ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أُرِيدُكِ أَنْ كَتَبْتِ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أُرِيدُكِ أَنْ تَكْتُبِي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Not every </a:t>
            </a:r>
            <a:pPr algn="l" indent="0" marL="0">
              <a:buNone/>
            </a:pPr>
            <a:r>
              <a:rPr lang="ar-SA" altLang="en-US" sz="1300" dirty="0">
                <a:solidFill>
                  <a:srgbClr val="1F2A37"/>
                </a:solidFill>
                <a:latin typeface="Amiri" pitchFamily="2" charset="-78"/>
                <a:ea typeface="Amiri" pitchFamily="2" charset="-78"/>
                <a:cs typeface="Amiri" pitchFamily="2" charset="-78"/>
              </a:rPr>
              <a:t>حَتَّى</a:t>
            </a:r>
            <a:pPr algn="l" indent="0" marL="0">
              <a:buNone/>
            </a:pPr>
            <a:r>
              <a:rPr lang="en-US" sz="1000" dirty="0">
                <a:solidFill>
                  <a:srgbClr val="1F2A37"/>
                </a:solidFill>
                <a:latin typeface="Calibri" pitchFamily="34" charset="0"/>
                <a:cs typeface="Amiri" pitchFamily="2" charset="-78"/>
              </a:rPr>
              <a:t> automatically creates the same analysis; teach clear purpose/endpoint examples.</a:t>
            </a:r>
            <a:endParaRPr lang="en-US" sz="1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word after </a:t>
            </a:r>
            <a:pPr algn="l" indent="0" marL="0">
              <a:buNone/>
            </a:pPr>
            <a:r>
              <a:rPr lang="ar-SA" altLang="en-US" sz="1650" dirty="0">
                <a:solidFill>
                  <a:srgbClr val="1F2A37"/>
                </a:solidFill>
                <a:latin typeface="Amiri" pitchFamily="2" charset="-78"/>
                <a:ea typeface="Amiri" pitchFamily="2" charset="-78"/>
                <a:cs typeface="Amiri" pitchFamily="2" charset="-78"/>
              </a:rPr>
              <a:t>حتى</a:t>
            </a:r>
            <a:pPr algn="l" indent="0" marL="0">
              <a:buNone/>
            </a:pPr>
            <a:r>
              <a:rPr lang="en-US" sz="1250" dirty="0">
                <a:solidFill>
                  <a:srgbClr val="1F2A37"/>
                </a:solidFill>
                <a:latin typeface="Calibri" pitchFamily="34" charset="0"/>
                <a:cs typeface="Amiri" pitchFamily="2" charset="-78"/>
              </a:rPr>
              <a:t> is past.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never changes plural forms.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أَنْ أَدْرُسُ</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أَنْ أَدْرُسَ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دَرَسْتُ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governs the subjunctive present: fatḥa.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not go”.</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أَذْهَبَ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أَذْهَبُ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أَذْهَبَ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governs the subjunctive.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study in order to succeed”.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 لِكَيْ 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 لِكَيْ نَجَحْتُ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أَدْرُسُ لِكَيْ أَنْجَحَ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Li-kay introduces purpose and a subjunctive verb.</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you (f.) to write”.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أُرِيدُكِ أَنْ تَكْتُبِينَ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أُرِيدُكِ أَنْ كَتَبْتِ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أُرِيدُكِ أَنْ تَكْتُبِي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Meaning decides how ḥattā works; learn clear examples.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Not every </a:t>
            </a:r>
            <a:pPr algn="l" indent="0" marL="0">
              <a:buNone/>
            </a:pPr>
            <a:r>
              <a:rPr lang="ar-SA" altLang="en-US" sz="1300" b="1" dirty="0">
                <a:solidFill>
                  <a:srgbClr val="1F2A37"/>
                </a:solidFill>
                <a:latin typeface="Amiri" pitchFamily="2" charset="-78"/>
                <a:ea typeface="Amiri" pitchFamily="2" charset="-78"/>
                <a:cs typeface="Amiri" pitchFamily="2" charset="-78"/>
              </a:rPr>
              <a:t>حَتَّى</a:t>
            </a:r>
            <a:pPr algn="l" indent="0" marL="0">
              <a:buNone/>
            </a:pPr>
            <a:r>
              <a:rPr lang="en-US" sz="1000" b="1" dirty="0">
                <a:solidFill>
                  <a:srgbClr val="1F2A37"/>
                </a:solidFill>
                <a:latin typeface="Calibri" pitchFamily="34" charset="0"/>
                <a:cs typeface="Amiri" pitchFamily="2" charset="-78"/>
              </a:rPr>
              <a:t> automatically creates the same analysis; teach clear purpose/endpoint examples.</a:t>
            </a:r>
            <a:endParaRPr lang="en-US" sz="10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word after </a:t>
            </a:r>
            <a:pPr algn="l" indent="0" marL="0">
              <a:buNone/>
            </a:pPr>
            <a:r>
              <a:rPr lang="ar-SA" altLang="en-US" sz="1650" dirty="0">
                <a:solidFill>
                  <a:srgbClr val="9AA1AB"/>
                </a:solidFill>
                <a:latin typeface="Amiri" pitchFamily="2" charset="-78"/>
                <a:ea typeface="Amiri" pitchFamily="2" charset="-78"/>
                <a:cs typeface="Amiri" pitchFamily="2" charset="-78"/>
              </a:rPr>
              <a:t>حتى</a:t>
            </a:r>
            <a:pPr algn="l" indent="0" marL="0">
              <a:buNone/>
            </a:pPr>
            <a:r>
              <a:rPr lang="en-US" sz="1250" dirty="0">
                <a:solidFill>
                  <a:srgbClr val="9AA1AB"/>
                </a:solidFill>
                <a:latin typeface="Calibri" pitchFamily="34" charset="0"/>
                <a:cs typeface="Amiri" pitchFamily="2" charset="-78"/>
              </a:rPr>
              <a:t> is past.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subjunctive never changes plural forms.</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Meaning and syntax determine the structure.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Trigger (an · lan · li-kay · ḥattā) → present verb in the subjunctive: fatḥa, or the nūn drops.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أُرِيدُ </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أَنْ أَدْرُسَ</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 أُرِيدُكِ </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أَنْ تَكْتُبِي</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four subjunctive triggers.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ḍamma to fatḥa after a trigger.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Drop the nūn of the five verbs.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weak verbs whole in the subjunctive.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want to … with an + fatḥa.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will not … with lan + fatḥa.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drop the nūn: an taktubī, an yaktubū.</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give a purpose with li-kay.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lan yarmiya and lam yarmi correctly.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ḥattā for an endpoint.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الْمَنْصُوبُ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subjunctive</a:t>
            </a:r>
            <a:endParaRPr lang="en-US" sz="1350" dirty="0"/>
          </a:p>
          <a:p>
            <a:pPr indent="0" marL="0">
              <a:buNone/>
            </a:pPr>
            <a:r>
              <a:rPr lang="en-US" sz="1100" i="1" dirty="0">
                <a:solidFill>
                  <a:srgbClr val="5A6472"/>
                </a:solidFill>
                <a:latin typeface="Calibri" pitchFamily="34" charset="0"/>
                <a:cs typeface="Amiri" pitchFamily="2" charset="-78"/>
              </a:rPr>
              <a:t>al-man-ṣū-bu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أَدْرُسَ</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 that</a:t>
            </a:r>
            <a:endParaRPr lang="en-US" sz="1350" dirty="0"/>
          </a:p>
          <a:p>
            <a:pPr indent="0" marL="0">
              <a:buNone/>
            </a:pPr>
            <a:r>
              <a:rPr lang="en-US" sz="1100" i="1" dirty="0">
                <a:solidFill>
                  <a:srgbClr val="5A6472"/>
                </a:solidFill>
                <a:latin typeface="Calibri" pitchFamily="34" charset="0"/>
                <a:cs typeface="Amiri" pitchFamily="2" charset="-78"/>
              </a:rPr>
              <a:t>an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أُرِيدُ أَنْ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لِكَيْ أَنْجَحَ</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until / 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حَتَّى يَصِلَ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must / it is necessary to</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يَجِبُ أَنْ نَحْمِيَ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الْأَفْعَالُ الْخَمْسَةُ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five verbs</a:t>
            </a:r>
            <a:endParaRPr lang="en-US" sz="1350" dirty="0"/>
          </a:p>
          <a:p>
            <a:pPr indent="0" marL="0">
              <a:buNone/>
            </a:pPr>
            <a:r>
              <a:rPr lang="en-US" sz="1100" i="1" dirty="0">
                <a:solidFill>
                  <a:srgbClr val="5A6472"/>
                </a:solidFill>
                <a:latin typeface="Calibri" pitchFamily="34" charset="0"/>
                <a:cs typeface="Amiri" pitchFamily="2" charset="-78"/>
              </a:rPr>
              <a:t>al-af-ʿā-lu al-kham-sa-tu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ـَانِ · ـُونَ · ـِينَ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MAIN SUBJUNCTIVE TRIGGERS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Four little words that change the verb</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254203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Particle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217920" y="2267712"/>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أَنْ أَدْرُسَ.</a:t>
            </a:r>
            <a:endParaRPr lang="ar-SA" sz="2200" dirty="0"/>
          </a:p>
        </p:txBody>
      </p:sp>
      <p:sp>
        <p:nvSpPr>
          <p:cNvPr id="21" name="Text 18"/>
          <p:cNvSpPr txBox="1"/>
          <p:nvPr/>
        </p:nvSpPr>
        <p:spPr>
          <a:xfrm>
            <a:off x="2578608" y="2267712"/>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 that — want, like, need, try</a:t>
            </a:r>
            <a:endParaRPr lang="en-US" sz="1100" dirty="0"/>
          </a:p>
        </p:txBody>
      </p:sp>
      <p:sp>
        <p:nvSpPr>
          <p:cNvPr id="22" name="Text 19"/>
          <p:cNvSpPr txBox="1"/>
          <p:nvPr/>
        </p:nvSpPr>
        <p:spPr>
          <a:xfrm>
            <a:off x="548640" y="2267712"/>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217920" y="3054096"/>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لَنْ أَتَأَخَّرَ.</a:t>
            </a:r>
            <a:endParaRPr lang="ar-SA" sz="2200" dirty="0"/>
          </a:p>
        </p:txBody>
      </p:sp>
      <p:sp>
        <p:nvSpPr>
          <p:cNvPr id="27" name="Text 24"/>
          <p:cNvSpPr txBox="1"/>
          <p:nvPr/>
        </p:nvSpPr>
        <p:spPr>
          <a:xfrm>
            <a:off x="2578608" y="3054096"/>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 not (GM-V-06)</a:t>
            </a:r>
            <a:endParaRPr lang="en-US" sz="1100" dirty="0"/>
          </a:p>
        </p:txBody>
      </p:sp>
      <p:sp>
        <p:nvSpPr>
          <p:cNvPr id="28" name="Text 25"/>
          <p:cNvSpPr txBox="1"/>
          <p:nvPr/>
        </p:nvSpPr>
        <p:spPr>
          <a:xfrm>
            <a:off x="548640" y="3054096"/>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لَنْ</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217920" y="3840480"/>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أَتَدَرَّبُ لِكَيْ أَتَحَسَّنَ.</a:t>
            </a:r>
            <a:endParaRPr lang="ar-SA" sz="2200" dirty="0"/>
          </a:p>
        </p:txBody>
      </p:sp>
      <p:sp>
        <p:nvSpPr>
          <p:cNvPr id="33" name="Text 30"/>
          <p:cNvSpPr txBox="1"/>
          <p:nvPr/>
        </p:nvSpPr>
        <p:spPr>
          <a:xfrm>
            <a:off x="2578608" y="3840480"/>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that / in order to</a:t>
            </a:r>
            <a:endParaRPr lang="en-US" sz="1100" dirty="0"/>
          </a:p>
        </p:txBody>
      </p:sp>
      <p:sp>
        <p:nvSpPr>
          <p:cNvPr id="34" name="Text 31"/>
          <p:cNvSpPr txBox="1"/>
          <p:nvPr/>
        </p:nvSpPr>
        <p:spPr>
          <a:xfrm>
            <a:off x="548640" y="3840480"/>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لِكَيْ</a:t>
            </a:r>
            <a:endParaRPr lang="ar-SA" sz="2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217920" y="4626864"/>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أَنْتَظِرُ حَتَّى يَصِلَ الْقِطَارُ.</a:t>
            </a:r>
            <a:endParaRPr lang="ar-SA" sz="2200" dirty="0"/>
          </a:p>
        </p:txBody>
      </p:sp>
      <p:sp>
        <p:nvSpPr>
          <p:cNvPr id="37" name="Text 34"/>
          <p:cNvSpPr txBox="1"/>
          <p:nvPr/>
        </p:nvSpPr>
        <p:spPr>
          <a:xfrm>
            <a:off x="2578608" y="4626864"/>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until / so that — a clear endpoint</a:t>
            </a:r>
            <a:endParaRPr lang="en-US" sz="1100" dirty="0"/>
          </a:p>
        </p:txBody>
      </p:sp>
      <p:sp>
        <p:nvSpPr>
          <p:cNvPr id="38" name="Text 35"/>
          <p:cNvSpPr txBox="1"/>
          <p:nvPr/>
        </p:nvSpPr>
        <p:spPr>
          <a:xfrm>
            <a:off x="548640" y="4626864"/>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حَتَّى</a:t>
            </a:r>
            <a:endParaRPr lang="ar-SA" sz="2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core sign: in regular singular forms the final ḍamma becomes fatḥa — adrusu → an adrusa.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REGULAR AND FIVE-VERB ENDINGS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Fatḥa — or the nūn drops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نِهَايَاتُ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Reason</a:t>
            </a:r>
            <a:endParaRPr lang="en-US" sz="1100" dirty="0"/>
          </a:p>
        </p:txBody>
      </p:sp>
      <p:sp>
        <p:nvSpPr>
          <p:cNvPr id="17" name="Text 14"/>
          <p:cNvSpPr txBox="1"/>
          <p:nvPr/>
        </p:nvSpPr>
        <p:spPr>
          <a:xfrm>
            <a:off x="32735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Subjunctive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Indicative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 singular: ḍamma → fatḥa</a:t>
            </a:r>
            <a:endParaRPr lang="en-US" sz="1100" dirty="0"/>
          </a:p>
        </p:txBody>
      </p:sp>
      <p:sp>
        <p:nvSpPr>
          <p:cNvPr id="21" name="Text 18"/>
          <p:cNvSpPr txBox="1"/>
          <p:nvPr/>
        </p:nvSpPr>
        <p:spPr>
          <a:xfrm>
            <a:off x="3291840" y="2267712"/>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يَكْتُبَ</a:t>
            </a:r>
            <a:endParaRPr lang="ar-SA" sz="26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verbs: nūn drops</a:t>
            </a:r>
            <a:endParaRPr lang="en-US" sz="1100" dirty="0"/>
          </a:p>
        </p:txBody>
      </p:sp>
      <p:sp>
        <p:nvSpPr>
          <p:cNvPr id="27" name="Text 24"/>
          <p:cNvSpPr txBox="1"/>
          <p:nvPr/>
        </p:nvSpPr>
        <p:spPr>
          <a:xfrm>
            <a:off x="3291840" y="300471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تَكْتُبِي</a:t>
            </a:r>
            <a:endParaRPr lang="ar-SA" sz="26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تَكْتُبِينَ</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nūn drops</a:t>
            </a:r>
            <a:endParaRPr lang="en-US" sz="1100" dirty="0"/>
          </a:p>
        </p:txBody>
      </p:sp>
      <p:sp>
        <p:nvSpPr>
          <p:cNvPr id="33" name="Text 30"/>
          <p:cNvSpPr txBox="1"/>
          <p:nvPr/>
        </p:nvSpPr>
        <p:spPr>
          <a:xfrm>
            <a:off x="3291840" y="3741725"/>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يَكْتُبَا</a:t>
            </a:r>
            <a:endParaRPr lang="ar-SA" sz="26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يَكْتُبَانِ</a:t>
            </a:r>
            <a:endParaRPr lang="ar-SA" sz="26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601968" y="4478731"/>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nūn drops (+ silent alif)</a:t>
            </a:r>
            <a:endParaRPr lang="en-US" sz="1100" dirty="0"/>
          </a:p>
        </p:txBody>
      </p:sp>
      <p:sp>
        <p:nvSpPr>
          <p:cNvPr id="37" name="Text 34"/>
          <p:cNvSpPr txBox="1"/>
          <p:nvPr/>
        </p:nvSpPr>
        <p:spPr>
          <a:xfrm>
            <a:off x="3291840" y="4478731"/>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يَكْتُبُوا</a:t>
            </a:r>
            <a:endParaRPr lang="ar-SA" sz="26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يَكْتُبُونَ</a:t>
            </a:r>
            <a:endParaRPr lang="ar-SA" sz="26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601968" y="521573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plural: NO change</a:t>
            </a:r>
            <a:endParaRPr lang="en-US" sz="1100" dirty="0"/>
          </a:p>
        </p:txBody>
      </p:sp>
      <p:sp>
        <p:nvSpPr>
          <p:cNvPr id="43" name="Text 40"/>
          <p:cNvSpPr txBox="1"/>
          <p:nvPr/>
        </p:nvSpPr>
        <p:spPr>
          <a:xfrm>
            <a:off x="3291840" y="521573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يَكْتُبْنَ</a:t>
            </a:r>
            <a:endParaRPr lang="ar-SA" sz="2600" dirty="0"/>
          </a:p>
        </p:txBody>
      </p:sp>
      <p:sp>
        <p:nvSpPr>
          <p:cNvPr id="44" name="Text 41"/>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يَكْتُبْنَ</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“five verbs” end in -āni, -ūna, -īna and lose the nūn. The feminine plural -na is part of the verb — never remove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 PART 3 · WEAK VERBS: SUBJUNCTIVE VS JUSSIVE (WEBSITE TABLE)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Don’t copy the jussive rule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الْمُعْتَلُّ فِي 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619963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Jussive (lam)</a:t>
            </a:r>
            <a:endParaRPr lang="en-US" sz="1100" dirty="0"/>
          </a:p>
        </p:txBody>
      </p:sp>
      <p:sp>
        <p:nvSpPr>
          <p:cNvPr id="18" name="Text 15"/>
          <p:cNvSpPr txBox="1"/>
          <p:nvPr/>
        </p:nvSpPr>
        <p:spPr>
          <a:xfrm>
            <a:off x="29077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Subjunctive (lan / an)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Indicative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yāʾ stays + fatḥa</a:t>
            </a:r>
            <a:endParaRPr lang="en-US" sz="1100" dirty="0"/>
          </a:p>
        </p:txBody>
      </p:sp>
      <p:sp>
        <p:nvSpPr>
          <p:cNvPr id="22" name="Text 19"/>
          <p:cNvSpPr txBox="1"/>
          <p:nvPr/>
        </p:nvSpPr>
        <p:spPr>
          <a:xfrm>
            <a:off x="621792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يَرْمِ</a:t>
            </a:r>
            <a:endParaRPr lang="ar-SA" sz="2400" dirty="0"/>
          </a:p>
        </p:txBody>
      </p:sp>
      <p:sp>
        <p:nvSpPr>
          <p:cNvPr id="23" name="Text 20"/>
          <p:cNvSpPr txBox="1"/>
          <p:nvPr/>
        </p:nvSpPr>
        <p:spPr>
          <a:xfrm>
            <a:off x="2926080" y="2267712"/>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يَرْمِيَ</a:t>
            </a:r>
            <a:endParaRPr lang="ar-SA" sz="24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يَرْمِي</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stays + fatḥa</a:t>
            </a:r>
            <a:endParaRPr lang="en-US" sz="1100" dirty="0"/>
          </a:p>
        </p:txBody>
      </p:sp>
      <p:sp>
        <p:nvSpPr>
          <p:cNvPr id="29" name="Text 26"/>
          <p:cNvSpPr txBox="1"/>
          <p:nvPr/>
        </p:nvSpPr>
        <p:spPr>
          <a:xfrm>
            <a:off x="621792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يَدْعُ</a:t>
            </a:r>
            <a:endParaRPr lang="ar-SA" sz="2400" dirty="0"/>
          </a:p>
        </p:txBody>
      </p:sp>
      <p:sp>
        <p:nvSpPr>
          <p:cNvPr id="30" name="Text 27"/>
          <p:cNvSpPr txBox="1"/>
          <p:nvPr/>
        </p:nvSpPr>
        <p:spPr>
          <a:xfrm>
            <a:off x="2926080" y="300471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يَدْعُوَ</a:t>
            </a:r>
            <a:endParaRPr lang="ar-SA" sz="24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يَدْعُو</a:t>
            </a:r>
            <a:endParaRPr lang="ar-SA" sz="24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alif: no visible change</a:t>
            </a:r>
            <a:endParaRPr lang="en-US" sz="1100" dirty="0"/>
          </a:p>
        </p:txBody>
      </p:sp>
      <p:sp>
        <p:nvSpPr>
          <p:cNvPr id="34" name="Text 31"/>
          <p:cNvSpPr txBox="1"/>
          <p:nvPr/>
        </p:nvSpPr>
        <p:spPr>
          <a:xfrm>
            <a:off x="621792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يَسْعَ</a:t>
            </a:r>
            <a:endParaRPr lang="ar-SA" sz="2400" dirty="0"/>
          </a:p>
        </p:txBody>
      </p:sp>
      <p:sp>
        <p:nvSpPr>
          <p:cNvPr id="35" name="Text 32"/>
          <p:cNvSpPr txBox="1"/>
          <p:nvPr/>
        </p:nvSpPr>
        <p:spPr>
          <a:xfrm>
            <a:off x="2926080" y="3741725"/>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يَسْعَى</a:t>
            </a:r>
            <a:endParaRPr lang="ar-SA" sz="2400" dirty="0"/>
          </a:p>
        </p:txBody>
      </p:sp>
      <p:sp>
        <p:nvSpPr>
          <p:cNvPr id="36" name="Text 33"/>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يَسْعَى</a:t>
            </a:r>
            <a:endParaRPr lang="ar-SA" sz="240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alif stays</a:t>
            </a:r>
            <a:endParaRPr lang="en-US" sz="1100" dirty="0"/>
          </a:p>
        </p:txBody>
      </p:sp>
      <p:sp>
        <p:nvSpPr>
          <p:cNvPr id="39" name="Text 36"/>
          <p:cNvSpPr txBox="1"/>
          <p:nvPr/>
        </p:nvSpPr>
        <p:spPr>
          <a:xfrm>
            <a:off x="621792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أَرَ</a:t>
            </a:r>
            <a:endParaRPr lang="ar-SA" sz="2400" dirty="0"/>
          </a:p>
        </p:txBody>
      </p:sp>
      <p:sp>
        <p:nvSpPr>
          <p:cNvPr id="40" name="Text 37"/>
          <p:cNvSpPr txBox="1"/>
          <p:nvPr/>
        </p:nvSpPr>
        <p:spPr>
          <a:xfrm>
            <a:off x="2926080" y="4478731"/>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 أَرَى</a:t>
            </a:r>
            <a:endParaRPr lang="ar-SA" sz="2400" dirty="0"/>
          </a:p>
        </p:txBody>
      </p:sp>
      <p:sp>
        <p:nvSpPr>
          <p:cNvPr id="41" name="Text 38"/>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أَرَى</a:t>
            </a:r>
            <a:endParaRPr lang="ar-SA" sz="240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 keeps the yāʾ</a:t>
            </a:r>
            <a:endParaRPr lang="en-US" sz="1100" dirty="0"/>
          </a:p>
        </p:txBody>
      </p:sp>
      <p:sp>
        <p:nvSpPr>
          <p:cNvPr id="44" name="Text 41"/>
          <p:cNvSpPr txBox="1"/>
          <p:nvPr/>
        </p:nvSpPr>
        <p:spPr>
          <a:xfrm>
            <a:off x="621792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يَمْشِ</a:t>
            </a:r>
            <a:endParaRPr lang="ar-SA" sz="2400" dirty="0"/>
          </a:p>
        </p:txBody>
      </p:sp>
      <p:sp>
        <p:nvSpPr>
          <p:cNvPr id="45" name="Text 42"/>
          <p:cNvSpPr txBox="1"/>
          <p:nvPr/>
        </p:nvSpPr>
        <p:spPr>
          <a:xfrm>
            <a:off x="2926080" y="521573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يَمْشِيَ</a:t>
            </a:r>
            <a:endParaRPr lang="ar-SA" sz="2400" dirty="0"/>
          </a:p>
        </p:txBody>
      </p:sp>
      <p:sp>
        <p:nvSpPr>
          <p:cNvPr id="46" name="Text 43"/>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يَمْشِي</a:t>
            </a:r>
            <a:endParaRPr lang="ar-SA" sz="24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subjunctive KEEPS the weak letter (with fatḥa on yāʾ / wāw); the jussive DROPS it. Compare lam yarmi with lan yarmiya.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like to read”.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أَنْ أَقْرَأُ.</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قَرَأْتُ.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أَنْ أَقْرَأَ.</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train so that I improve”.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أَتَدَرَّبُ لِكَيْ أَتَحَسَّنَ.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أَتَدَرَّبُ لِكَيْ أَتَحَسَّنُ.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أَتَدَرَّبُ لِكَيْ تَحَسَّنْتُ.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want them to write”.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نُرِيدُهُمْ أَنْ يَكْتُبُونَ.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نُرِيدُهُمْ أَنْ يَكْتُبُوا.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نُرِيدُهُمْ أَنْ كَتَبُوا.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the girls to write”.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أُرِيدُهُنَّ أَنْ يَكْتُبْنَ.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أُرِيدُهُنَّ أَنْ يَكْتُبْ.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أُرِيدُهُنَّ أَنْ يَكْتُبِينَ.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like to read”.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أَنْ أَقْرَأُ.</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قَرَأْتُ.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أَنْ أَقْرَأَ.</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subjunctive: fatḥa.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train so that I improve”.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أَتَدَرَّبُ لِكَيْ أَتَحَسَّنَ.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أَتَدَرَّبُ لِكَيْ أَتَحَسَّنُ.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أَتَدَرَّبُ لِكَيْ تَحَسَّنْتُ.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Purpose: li-kay + fatḥa.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want them to write”.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نُرِيدُهُمْ أَنْ يَكْتُبُونَ.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نُرِيدُهُمْ أَنْ يَكْتُبُوا.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نُرِيدُهُمْ أَنْ كَتَبُوا.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nūn drops.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the girls to write”.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أُرِيدُهُنَّ أَنْ يَكْتُبْنَ.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أُرِيدُهُنَّ أَنْ يَكْتُبْ.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أُرِيدُهُنَّ أَنْ يَكْتُبِينَ.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plural stays yaktubna.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Watch me find the trigger, then fix the verb</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Trigger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أُرِيدُ أَنْ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subjunctive.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أُصْبِحَ</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uṣbiḥu → fatḥa.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Trigger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لِكَيْ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Purpose.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أَتَحَسَّنَ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Fatḥa again.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TRIGGER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SUBJUNCTIVE VERB</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50" b="1" dirty="0">
                <a:solidFill>
                  <a:srgbClr val="1B3B6F"/>
                </a:solidFill>
                <a:latin typeface="Amiri" pitchFamily="2" charset="-78"/>
                <a:ea typeface="Amiri" pitchFamily="2" charset="-78"/>
                <a:cs typeface="Amiri" pitchFamily="2" charset="-78"/>
              </a:rPr>
              <a:t>أُرِيدُ </a:t>
            </a:r>
            <a:pPr rtl="1" algn="r" indent="0" marL="0">
              <a:buNone/>
            </a:pPr>
            <a:r>
              <a:rPr lang="ar-SA" altLang="en-US" sz="2050" b="1" dirty="0">
                <a:solidFill>
                  <a:srgbClr val="0E7C86"/>
                </a:solidFill>
                <a:latin typeface="Amiri" pitchFamily="2" charset="-78"/>
                <a:ea typeface="Amiri" pitchFamily="2" charset="-78"/>
                <a:cs typeface="Amiri" pitchFamily="2" charset="-78"/>
              </a:rPr>
              <a:t>أَنْ</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D6336C"/>
                </a:solidFill>
                <a:latin typeface="Amiri" pitchFamily="2" charset="-78"/>
                <a:ea typeface="Amiri" pitchFamily="2" charset="-78"/>
                <a:cs typeface="Amiri" pitchFamily="2" charset="-78"/>
              </a:rPr>
              <a:t>أُصْبِحَ</a:t>
            </a:r>
            <a:pPr rtl="1" algn="r" indent="0" marL="0">
              <a:buNone/>
            </a:pPr>
            <a:r>
              <a:rPr lang="ar-SA" altLang="en-US" sz="2050" b="1" dirty="0">
                <a:solidFill>
                  <a:srgbClr val="1B3B6F"/>
                </a:solidFill>
                <a:latin typeface="Amiri" pitchFamily="2" charset="-78"/>
                <a:ea typeface="Amiri" pitchFamily="2" charset="-78"/>
                <a:cs typeface="Amiri" pitchFamily="2" charset="-78"/>
              </a:rPr>
              <a:t> مُهَنْدِسَةً، وَلِذَلِكَ يَجِبُ </a:t>
            </a:r>
            <a:pPr rtl="1" algn="r" indent="0" marL="0">
              <a:buNone/>
            </a:pPr>
            <a:r>
              <a:rPr lang="ar-SA" altLang="en-US" sz="2050" b="1" dirty="0">
                <a:solidFill>
                  <a:srgbClr val="0E7C86"/>
                </a:solidFill>
                <a:latin typeface="Amiri" pitchFamily="2" charset="-78"/>
                <a:ea typeface="Amiri" pitchFamily="2" charset="-78"/>
                <a:cs typeface="Amiri" pitchFamily="2" charset="-78"/>
              </a:rPr>
              <a:t>أَنْ</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D6336C"/>
                </a:solidFill>
                <a:latin typeface="Amiri" pitchFamily="2" charset="-78"/>
                <a:ea typeface="Amiri" pitchFamily="2" charset="-78"/>
                <a:cs typeface="Amiri" pitchFamily="2" charset="-78"/>
              </a:rPr>
              <a:t>أَدْرُسَ</a:t>
            </a:r>
            <a:pPr rtl="1" algn="r" indent="0" marL="0">
              <a:buNone/>
            </a:pPr>
            <a:r>
              <a:rPr lang="ar-SA" altLang="en-US" sz="2050" b="1" dirty="0">
                <a:solidFill>
                  <a:srgbClr val="1B3B6F"/>
                </a:solidFill>
                <a:latin typeface="Amiri" pitchFamily="2" charset="-78"/>
                <a:ea typeface="Amiri" pitchFamily="2" charset="-78"/>
                <a:cs typeface="Amiri" pitchFamily="2" charset="-78"/>
              </a:rPr>
              <a:t> الرِّيَاضِيَّاتِ بِجِدٍّ. أَتَدَرَّبُ كُلَّ يَوْمٍ </a:t>
            </a:r>
            <a:pPr rtl="1" algn="r" indent="0" marL="0">
              <a:buNone/>
            </a:pPr>
            <a:r>
              <a:rPr lang="ar-SA" altLang="en-US" sz="2050" b="1" dirty="0">
                <a:solidFill>
                  <a:srgbClr val="0E7C86"/>
                </a:solidFill>
                <a:latin typeface="Amiri" pitchFamily="2" charset="-78"/>
                <a:ea typeface="Amiri" pitchFamily="2" charset="-78"/>
                <a:cs typeface="Amiri" pitchFamily="2" charset="-78"/>
              </a:rPr>
              <a:t>لِكَيْ</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D6336C"/>
                </a:solidFill>
                <a:latin typeface="Amiri" pitchFamily="2" charset="-78"/>
                <a:ea typeface="Amiri" pitchFamily="2" charset="-78"/>
                <a:cs typeface="Amiri" pitchFamily="2" charset="-78"/>
              </a:rPr>
              <a:t>أَتَحَسَّنَ</a:t>
            </a:r>
            <a:pPr rtl="1" algn="r" indent="0" marL="0">
              <a:buNone/>
            </a:pPr>
            <a:r>
              <a:rPr lang="ar-SA" altLang="en-US" sz="2050" b="1" dirty="0">
                <a:solidFill>
                  <a:srgbClr val="1B3B6F"/>
                </a:solidFill>
                <a:latin typeface="Amiri" pitchFamily="2" charset="-78"/>
                <a:ea typeface="Amiri" pitchFamily="2" charset="-78"/>
                <a:cs typeface="Amiri" pitchFamily="2" charset="-78"/>
              </a:rPr>
              <a:t>، وَ</a:t>
            </a:r>
            <a:pPr rtl="1" algn="r" indent="0" marL="0">
              <a:buNone/>
            </a:pPr>
            <a:r>
              <a:rPr lang="ar-SA" altLang="en-US" sz="2050" b="1" dirty="0">
                <a:solidFill>
                  <a:srgbClr val="0E7C86"/>
                </a:solidFill>
                <a:latin typeface="Amiri" pitchFamily="2" charset="-78"/>
                <a:ea typeface="Amiri" pitchFamily="2" charset="-78"/>
                <a:cs typeface="Amiri" pitchFamily="2" charset="-78"/>
              </a:rPr>
              <a:t>لَنْ</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D6336C"/>
                </a:solidFill>
                <a:latin typeface="Amiri" pitchFamily="2" charset="-78"/>
                <a:ea typeface="Amiri" pitchFamily="2" charset="-78"/>
                <a:cs typeface="Amiri" pitchFamily="2" charset="-78"/>
              </a:rPr>
              <a:t>أَتَوَقَّفَ</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0E7C86"/>
                </a:solidFill>
                <a:latin typeface="Amiri" pitchFamily="2" charset="-78"/>
                <a:ea typeface="Amiri" pitchFamily="2" charset="-78"/>
                <a:cs typeface="Amiri" pitchFamily="2" charset="-78"/>
              </a:rPr>
              <a:t>حَتَّى</a:t>
            </a:r>
            <a:pPr rtl="1" algn="r" indent="0" marL="0">
              <a:buNone/>
            </a:pPr>
            <a:r>
              <a:rPr lang="ar-SA" altLang="en-US" sz="2050" b="1" dirty="0">
                <a:solidFill>
                  <a:srgbClr val="1B3B6F"/>
                </a:solidFill>
                <a:latin typeface="Amiri" pitchFamily="2" charset="-78"/>
                <a:cs typeface="Amiri" pitchFamily="2" charset="-78"/>
              </a:rPr>
              <a:t> </a:t>
            </a:r>
            <a:pPr rtl="1" algn="r" indent="0" marL="0">
              <a:buNone/>
            </a:pPr>
            <a:r>
              <a:rPr lang="ar-SA" altLang="en-US" sz="2050" b="1" dirty="0">
                <a:solidFill>
                  <a:srgbClr val="D6336C"/>
                </a:solidFill>
                <a:latin typeface="Amiri" pitchFamily="2" charset="-78"/>
                <a:ea typeface="Amiri" pitchFamily="2" charset="-78"/>
                <a:cs typeface="Amiri" pitchFamily="2" charset="-78"/>
              </a:rPr>
              <a:t>أُحَقِّقَ</a:t>
            </a:r>
            <a:pPr rtl="1" algn="r" indent="0" marL="0">
              <a:buNone/>
            </a:pPr>
            <a:r>
              <a:rPr lang="ar-SA" altLang="en-US" sz="2050" b="1" dirty="0">
                <a:solidFill>
                  <a:srgbClr val="1B3B6F"/>
                </a:solidFill>
                <a:latin typeface="Amiri" pitchFamily="2" charset="-78"/>
                <a:ea typeface="Amiri" pitchFamily="2" charset="-78"/>
                <a:cs typeface="Amiri" pitchFamily="2" charset="-78"/>
              </a:rPr>
              <a:t> هَدَفِي.</a:t>
            </a:r>
            <a:endParaRPr lang="ar-SA" sz="20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I want to become an engineer, so I must study maths seriously. I train every day so that I improve, and I will not stop until I achieve my goal.</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أَنْ أَعْمَلَ فِي الطِّبِّ.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want to work in medicine.</a:t>
            </a:r>
            <a:endParaRPr lang="en-US" sz="1250" dirty="0"/>
          </a:p>
          <a:p>
            <a:pPr indent="0" marL="0">
              <a:buNone/>
            </a:pPr>
            <a:r>
              <a:rPr lang="en-US" sz="1050" i="1" dirty="0">
                <a:solidFill>
                  <a:srgbClr val="8A6D1E"/>
                </a:solidFill>
                <a:latin typeface="Calibri" pitchFamily="34" charset="0"/>
                <a:cs typeface="Amiri" pitchFamily="2" charset="-78"/>
              </a:rPr>
              <a:t>Want + 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أَنْ نَحْمِيَ الْبِيئَةَ.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must protect the environment.</a:t>
            </a:r>
            <a:endParaRPr lang="en-US" sz="1250" dirty="0"/>
          </a:p>
          <a:p>
            <a:pPr indent="0" marL="0">
              <a:buNone/>
            </a:pPr>
            <a:r>
              <a:rPr lang="en-US" sz="1050" i="1" dirty="0">
                <a:solidFill>
                  <a:srgbClr val="8A6D1E"/>
                </a:solidFill>
                <a:latin typeface="Calibri" pitchFamily="34" charset="0"/>
                <a:cs typeface="Amiri" pitchFamily="2" charset="-78"/>
              </a:rPr>
              <a:t>Need; yāʾ + fatḥa.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أَتَعَلَّمُ الْعَرَبِيَّةَ لِكَيْ أَتَوَاصَلَ مَعَ الْآخَرِينَ.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learn Arabic so that I can communicate with others.</a:t>
            </a:r>
            <a:endParaRPr lang="en-US" sz="1250" dirty="0"/>
          </a:p>
          <a:p>
            <a:pPr indent="0" marL="0">
              <a:buNone/>
            </a:pPr>
            <a:r>
              <a:rPr lang="en-US" sz="1050" i="1" dirty="0">
                <a:solidFill>
                  <a:srgbClr val="8A6D1E"/>
                </a:solidFill>
                <a:latin typeface="Calibri" pitchFamily="34" charset="0"/>
                <a:cs typeface="Amiri" pitchFamily="2" charset="-78"/>
              </a:rPr>
              <a:t>Purpose.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سَأَنْتَظِرُ حَتَّى تَنْتَهِيَ الْحِصَّةُ.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wait until the lesson ends.</a:t>
            </a:r>
            <a:endParaRPr lang="en-US" sz="1250" dirty="0"/>
          </a:p>
          <a:p>
            <a:pPr indent="0" marL="0">
              <a:buNone/>
            </a:pPr>
            <a:r>
              <a:rPr lang="en-US" sz="1050" i="1" dirty="0">
                <a:solidFill>
                  <a:srgbClr val="8A6D1E"/>
                </a:solidFill>
                <a:latin typeface="Calibri" pitchFamily="34" charset="0"/>
                <a:cs typeface="Amiri" pitchFamily="2" charset="-78"/>
              </a:rPr>
              <a:t>Endpoint.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TRANSFORMER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Change the verb after the trigger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حَوِّلْ إِلَى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a:t>
            </a:r>
            <a:endParaRPr lang="en-US" sz="1100" dirty="0"/>
          </a:p>
        </p:txBody>
      </p:sp>
      <p:sp>
        <p:nvSpPr>
          <p:cNvPr id="17" name="Text 14"/>
          <p:cNvSpPr txBox="1"/>
          <p:nvPr/>
        </p:nvSpPr>
        <p:spPr>
          <a:xfrm>
            <a:off x="67482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Subjunctive</a:t>
            </a:r>
            <a:endParaRPr lang="en-US" sz="1100" dirty="0"/>
          </a:p>
        </p:txBody>
      </p:sp>
      <p:sp>
        <p:nvSpPr>
          <p:cNvPr id="18" name="Text 15"/>
          <p:cNvSpPr txBox="1"/>
          <p:nvPr/>
        </p:nvSpPr>
        <p:spPr>
          <a:xfrm>
            <a:off x="41879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given</a:t>
            </a:r>
            <a:endParaRPr lang="en-US" sz="1100" dirty="0"/>
          </a:p>
        </p:txBody>
      </p:sp>
      <p:sp>
        <p:nvSpPr>
          <p:cNvPr id="19" name="Text 16"/>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345168" y="226771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fatḥa</a:t>
            </a:r>
            <a:endParaRPr lang="en-US" sz="1100" dirty="0"/>
          </a:p>
        </p:txBody>
      </p:sp>
      <p:sp>
        <p:nvSpPr>
          <p:cNvPr id="22" name="Text 19"/>
          <p:cNvSpPr txBox="1"/>
          <p:nvPr/>
        </p:nvSpPr>
        <p:spPr>
          <a:xfrm>
            <a:off x="676656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أَدْرُسَ</a:t>
            </a:r>
            <a:endParaRPr lang="ar-SA" sz="2400" dirty="0"/>
          </a:p>
        </p:txBody>
      </p:sp>
      <p:sp>
        <p:nvSpPr>
          <p:cNvPr id="23" name="Text 20"/>
          <p:cNvSpPr txBox="1"/>
          <p:nvPr/>
        </p:nvSpPr>
        <p:spPr>
          <a:xfrm>
            <a:off x="42062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أَدْرُسُ</a:t>
            </a:r>
            <a:endParaRPr lang="ar-SA" sz="2400" dirty="0"/>
          </a:p>
        </p:txBody>
      </p:sp>
      <p:sp>
        <p:nvSpPr>
          <p:cNvPr id="24" name="Text 21"/>
          <p:cNvSpPr txBox="1"/>
          <p:nvPr/>
        </p:nvSpPr>
        <p:spPr>
          <a:xfrm>
            <a:off x="548640" y="2267712"/>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أَنْ …</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345168" y="2881884"/>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fatḥa</a:t>
            </a:r>
            <a:endParaRPr lang="en-US" sz="1100" dirty="0"/>
          </a:p>
        </p:txBody>
      </p:sp>
      <p:sp>
        <p:nvSpPr>
          <p:cNvPr id="29" name="Text 26"/>
          <p:cNvSpPr txBox="1"/>
          <p:nvPr/>
        </p:nvSpPr>
        <p:spPr>
          <a:xfrm>
            <a:off x="676656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أَنْجَحَ</a:t>
            </a:r>
            <a:endParaRPr lang="ar-SA" sz="2400" dirty="0"/>
          </a:p>
        </p:txBody>
      </p:sp>
      <p:sp>
        <p:nvSpPr>
          <p:cNvPr id="30" name="Text 27"/>
          <p:cNvSpPr txBox="1"/>
          <p:nvPr/>
        </p:nvSpPr>
        <p:spPr>
          <a:xfrm>
            <a:off x="42062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أَنْجَحُ</a:t>
            </a:r>
            <a:endParaRPr lang="ar-SA" sz="2400" dirty="0"/>
          </a:p>
        </p:txBody>
      </p:sp>
      <p:sp>
        <p:nvSpPr>
          <p:cNvPr id="31" name="Text 28"/>
          <p:cNvSpPr txBox="1"/>
          <p:nvPr/>
        </p:nvSpPr>
        <p:spPr>
          <a:xfrm>
            <a:off x="548640" y="2881884"/>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لِكَيْ …</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345168" y="3496056"/>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36" name="Text 33"/>
          <p:cNvSpPr txBox="1"/>
          <p:nvPr/>
        </p:nvSpPr>
        <p:spPr>
          <a:xfrm>
            <a:off x="676656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تَكْتُبِي</a:t>
            </a:r>
            <a:endParaRPr lang="ar-SA" sz="2400" dirty="0"/>
          </a:p>
        </p:txBody>
      </p:sp>
      <p:sp>
        <p:nvSpPr>
          <p:cNvPr id="37" name="Text 34"/>
          <p:cNvSpPr txBox="1"/>
          <p:nvPr/>
        </p:nvSpPr>
        <p:spPr>
          <a:xfrm>
            <a:off x="42062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تَكْتُبِينَ</a:t>
            </a:r>
            <a:endParaRPr lang="ar-SA" sz="2400" dirty="0"/>
          </a:p>
        </p:txBody>
      </p:sp>
      <p:sp>
        <p:nvSpPr>
          <p:cNvPr id="38" name="Text 35"/>
          <p:cNvSpPr txBox="1"/>
          <p:nvPr/>
        </p:nvSpPr>
        <p:spPr>
          <a:xfrm>
            <a:off x="548640" y="3496056"/>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أُرِيدُكِ أَنْ …</a:t>
            </a:r>
            <a:endParaRPr lang="ar-SA" sz="22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345168" y="4110228"/>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1" name="Text 38"/>
          <p:cNvSpPr txBox="1"/>
          <p:nvPr/>
        </p:nvSpPr>
        <p:spPr>
          <a:xfrm>
            <a:off x="676656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يَصِلُوا</a:t>
            </a:r>
            <a:endParaRPr lang="ar-SA" sz="2400" dirty="0"/>
          </a:p>
        </p:txBody>
      </p:sp>
      <p:sp>
        <p:nvSpPr>
          <p:cNvPr id="42" name="Text 39"/>
          <p:cNvSpPr txBox="1"/>
          <p:nvPr/>
        </p:nvSpPr>
        <p:spPr>
          <a:xfrm>
            <a:off x="42062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يَصِلُونَ</a:t>
            </a:r>
            <a:endParaRPr lang="ar-SA" sz="2400" dirty="0"/>
          </a:p>
        </p:txBody>
      </p:sp>
      <p:sp>
        <p:nvSpPr>
          <p:cNvPr id="43" name="Text 40"/>
          <p:cNvSpPr txBox="1"/>
          <p:nvPr/>
        </p:nvSpPr>
        <p:spPr>
          <a:xfrm>
            <a:off x="548640" y="4110228"/>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أُرِيدُهُمْ أَنْ …</a:t>
            </a:r>
            <a:endParaRPr lang="ar-SA" sz="22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345168" y="4724400"/>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yāʾ + fatḥa</a:t>
            </a:r>
            <a:endParaRPr lang="en-US" sz="1100" dirty="0"/>
          </a:p>
        </p:txBody>
      </p:sp>
      <p:sp>
        <p:nvSpPr>
          <p:cNvPr id="46" name="Text 43"/>
          <p:cNvSpPr txBox="1"/>
          <p:nvPr/>
        </p:nvSpPr>
        <p:spPr>
          <a:xfrm>
            <a:off x="676656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يَرْمِيَ</a:t>
            </a:r>
            <a:endParaRPr lang="ar-SA" sz="2400" dirty="0"/>
          </a:p>
        </p:txBody>
      </p:sp>
      <p:sp>
        <p:nvSpPr>
          <p:cNvPr id="47" name="Text 44"/>
          <p:cNvSpPr txBox="1"/>
          <p:nvPr/>
        </p:nvSpPr>
        <p:spPr>
          <a:xfrm>
            <a:off x="42062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يَرْمِي</a:t>
            </a:r>
            <a:endParaRPr lang="ar-SA" sz="2400" dirty="0"/>
          </a:p>
        </p:txBody>
      </p:sp>
      <p:sp>
        <p:nvSpPr>
          <p:cNvPr id="48" name="Text 45"/>
          <p:cNvSpPr txBox="1"/>
          <p:nvPr/>
        </p:nvSpPr>
        <p:spPr>
          <a:xfrm>
            <a:off x="548640" y="4724400"/>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لَنْ …</a:t>
            </a:r>
            <a:endParaRPr lang="ar-SA" sz="22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345168" y="533857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fatḥa</a:t>
            </a:r>
            <a:endParaRPr lang="en-US" sz="1100" dirty="0"/>
          </a:p>
        </p:txBody>
      </p:sp>
      <p:sp>
        <p:nvSpPr>
          <p:cNvPr id="51" name="Text 48"/>
          <p:cNvSpPr txBox="1"/>
          <p:nvPr/>
        </p:nvSpPr>
        <p:spPr>
          <a:xfrm>
            <a:off x="676656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يَصِلَ</a:t>
            </a:r>
            <a:endParaRPr lang="ar-SA" sz="2400" dirty="0"/>
          </a:p>
        </p:txBody>
      </p:sp>
      <p:sp>
        <p:nvSpPr>
          <p:cNvPr id="52" name="Text 49"/>
          <p:cNvSpPr txBox="1"/>
          <p:nvPr/>
        </p:nvSpPr>
        <p:spPr>
          <a:xfrm>
            <a:off x="42062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يَصِلُ</a:t>
            </a:r>
            <a:endParaRPr lang="ar-SA" sz="2400" dirty="0"/>
          </a:p>
        </p:txBody>
      </p:sp>
      <p:sp>
        <p:nvSpPr>
          <p:cNvPr id="53" name="Text 50"/>
          <p:cNvSpPr txBox="1"/>
          <p:nvPr/>
        </p:nvSpPr>
        <p:spPr>
          <a:xfrm>
            <a:off x="548640" y="5338572"/>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حَتَّى … الْقِطَارُ</a:t>
            </a:r>
            <a:endParaRPr lang="ar-SA" sz="22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transformer: change indicative forms into accurate subjunctives.</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SUBJUNCTIVE OR JUSSIVE?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Keep the letter, or drop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مَنْصُوبٌ أَمْ مَجْزُومٌ؟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يَرْمِيَ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يَدْعُوَ</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يَمْشِيَ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تَكْتُبَ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يَرْمِ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يَدْعُ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يَمْشِ</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تَكْتُبْ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Subjunctive (an / lan)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Jussive (lam / lā)</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Subjunctive (an / lan)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يَرْمِيَ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يَدْعُوَ</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يَمْشِيَ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تَكْتُبَ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Jussive (lam / lā)</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يَرْمِ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يَدْعُ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يَمْشِ</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تَكْتُبْ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 أَنْ 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Ḍamma after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أُرِيدُكِ أَنْ تَكْتُبِينَ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Nūn after 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لَنْ يَمْشِ</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Lan or lam pattern?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 أَنْ 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أَنْ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an, the singular takes fatḥa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أُرِيدُكِ أَنْ تَكْتُبِينَ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أُرِيدُكِ أَنْ تَكْتُبِي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five-verb nūn drops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لَنْ يَمْشِ</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لَنْ يَمْشِيَ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subjunctive keeps the yāʾ; the jussive drops it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2F6FB0"/>
                </a:solidFill>
                <a:latin typeface="Calibri" pitchFamily="34" charset="0"/>
                <a:cs typeface="Amiri" pitchFamily="2" charset="-78"/>
              </a:rPr>
              <a:t>WE DO · GUIDED PRACTICE · WEBSITE FIVE-VERB, WEAK SUBJUNCTIVE AND FUNCTIONAL CHECKS</a:t>
            </a:r>
            <a:endParaRPr lang="en-US" sz="82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the two students to arrive”.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الطَّالِبَيْنِ أَنْ يَصِلَانِ.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الطَّالِبَيْنِ أَنْ وَصَلَا.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الطَّالِبَيْنِ أَنْ يَصِلَا.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will not throw”.</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يَرْمِ.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يَرْمِيَ.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يَرْمِيَ.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أَرَى.</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رَأَيْتُ.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purpose?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أُوَفِّرُ الْمَالَ لِكَيْ أُسَافِرُ.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أُوَفِّرُ الْمَالَ لِكَيْ سَافَرْتُ.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أُوَفِّرُ الْمَالَ لِكَيْ أُسَافِرَ.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the two students to arrive”.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الطَّالِبَيْنِ أَنْ يَصِلَانِ.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الطَّالِبَيْنِ أَنْ وَصَلَا.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الطَّالِبَيْنِ أَنْ يَصِلَا.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nūn drops.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will not throw”.</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يَرْمِ.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يَرْمِيَ.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يَرْمِيَ.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keeps the yāʾ.</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want to 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أَنْ أَرَ.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أَنْ أَرَى.</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أَنْ رَأَيْتُ.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alif stays: an arā.</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purpose?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أُوَفِّرُ الْمَالَ لِكَيْ أُسَافِرُ.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أُوَفِّرُ الْمَالَ لِكَيْ سَافَرْتُ.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أُوَفِّرُ الْمَالَ لِكَيْ أُسَافِرَ.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Li-kay usāfira.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E6B52"/>
                </a:solidFill>
                <a:latin typeface="Calibri" pitchFamily="34" charset="0"/>
                <a:cs typeface="Amiri" pitchFamily="2" charset="-78"/>
              </a:rPr>
              <a:t>YOU DO · READ AND NOTICE · WEBSITE READING WORKSHOP (TEACHER-WRITTEN PROFILES)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Ambition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خَدِيجَةُ: أَطْمَحُ إِلَى أَنْ أُصْبِحَ طَبِيبَةً، وَلِذَلِكَ أَدْرُسُ الْعُلُومَ لِكَيْ أَفْهَمَ جِسْمَ الْإِنْسَانِ. حَمْزَةُ: يُحِبُّ أَصْدِقَائِي أَنْ يَلْعَبُوا كُرَةَ الْقَدَمِ، أَمَّا أَنَا فَأُرِيدُ أَنْ أَكْتُبَ قِصَصًا. لَنْ أَتَوَقَّفَ حَتَّى أَنْشُرَ كِتَابِي الْأَوَّلَ. الْمُعَلِّمَةُ: يَجِبُ أَنْ تَسْعَوْا إِلَى أَهْدَافِكُمْ، وَلَا تَنْسَوْا أَنْ تَرْتَاحُوا!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أَطْمَحُ إِلَى</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aspire to</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جِسْمَ الْإِنْسَانِ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human body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أَنْشُرَ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publish</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تَسْعَوْا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strive (pl.)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تَرْتَاحُوا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rest (pl.)</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Khadīja study science?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write stories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understand the human body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play football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governs anshura?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حَتَّى</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an yalʿabū, not yalʿabūna?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nūn drops after 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past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feminine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remind the class not to forget?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publish a book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study science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Khadīja study science?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write stories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understand the human body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play football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Li-kay afhama.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governs anshura?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حَتَّى</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Ḥattā anshura — until I publish.</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an yalʿabū, not yalʿabūna?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nūn drops after an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past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feminine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Five-verb form.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teacher remind the class not to forget?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publish a book</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study science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tartāḥū.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goal in one minute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تُرِيدُ أَنْ تَفْعَلَ فِي الْمُسْتَقْبَلِ؟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تَتَعَلَّمُ الْعَرَبِيَّةَ؟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هَدَفُكَ، وَمَاذَا يَجِبُ أَنْ تَفْعَلَ لِكَيْ تُحَقِّقَهُ؟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أُرِيدُ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أَتَعَلَّمُ الْعَرَبِيَّةَ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أَنْ ___ ، وَلَنْ ___ حَتَّى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هَدَفُكِ فِي الْحَيَاةِ؟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goal in life?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أُرِيدُ أَنْ أُصْبِحَ مُعَلِّمَةً لِكَيْ أُسَاعِدَ الْأَطْفَالَ. يَجِبُ أَنْ أَدْرُسَ كَثِيرًا، وَلَنْ أَسْتَسْلِمَ حَتَّى أَنْجَحَ.</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want to become a teacher so that I can help children. I must study a lot, and I will not give up until I succeed.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What I want to do.</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urīdu an + fatḥa.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purpose and what my friends want.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li-kay; an yaktubū.</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ambition task.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triggers, two five-verb forms, one weak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لِكَيْ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so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يُرِيدُ أَصْدِقَائِي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want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سَأَنْتَظِرُ حَتَّى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wait until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الْمُهِمِّ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important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not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أَدْرُسَ  ·  أَعْمَلَ  ·  أُصْبِحَ  ·  أُسَافِرَ  ·  أَنْجَحَ  ·  أَتَحَسَّنَ  ·  أَتَوَقَّفَ  ·  يَكْتُبُوا  ·  تَكْتُبِي  ·  نَحْمِيَ  ·  أَرَى  ·  يَصِلَ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130–140 words about your ambitions and how you will achieve them.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different triggers.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Intention, necessity, purpose, lan and an endpoint.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five-verb forms with the nūn dropped.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weak verb in the subjunctive.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checked ending after every trigger.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aspire to</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أُخَطِّطُ لِأَنْ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plan to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الْمُهِمِّ أَنْ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important to</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حَتَّى أُحَقِّقَ</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until I achieve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أَسْتَسْلِمَ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not give up</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أَطْمَحُ إِلَى أَنْ أُصْبِحَ صَحَفِيًّا، لِأَنَّنِي أُحِبُّ أَنْ أَكْتُبَ عَنِ النَّاسِ. يَجِبُ أَنْ أُحَسِّنَ لُغَتِي، فَأَقْرَأُ الصُّحُفَ كُلَّ يَوْمٍ لِكَيْ أَتَعَلَّمَ كَلِمَاتٍ جَدِيدَةً. يُرِيدُ وَالِدَايَ أَنْ أَدْرُسَ الطِّبَّ، وَلَكِنَّهُمَا يُرِيدَانِ أَنْ أَكُونَ سَعِيدًا. أَطْلُبُ مِنْ أَصْدِقَائِي أَنْ يَقْرَؤُوا مَقَالَاتِي وَأَنْ يُعْطُونِي رَأْيَهُمْ. لَنْ أَنْسَى أَنْ أَسْعَى إِلَى الْحَقِيقَةِ، وَلَنْ أَتَوَقَّفَ حَتَّى أَنْشُرَ أَوَّلَ تَقْرِيرٍ لِي.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aspire to become a journalist, because I love writing about people. I must improve my language, so I read newspapers every day in order to learn new words. My parents want me to study medicine, but they want me to be happy. I ask my friends to read my articles and to give me their opinion. I will not forget to pursue the truth, and I will not stop until I publish my first report.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 fatḥa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nūn dropped</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lan / ḥattā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 and lan my singular verbs end in fatḥa.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two triggers.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dropped the nūn of the five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change the feminine plural -na.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weak verbs keep their last letter.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 after 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يَكْتُبُوا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يَكْتُبُونَ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يَكْتُبْنَ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plural after 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يَكْتُبِي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يَكْتُبْنَ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يَكْتُبُوا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Final-wāw verb after lan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يَدْعُوَ</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يَدْعُ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يَدْعُوَ</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 after 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 يَكْتُبُوا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 يَكْتُبُونَ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 يَكْتُبْنَ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 an yaktubū.</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plural after 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 يَكْتُبِي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 يَكْتُبْنَ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 يَكْتُبُوا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form stays: an yaktubna.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Final-wāw verb after lan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لَنْ يَدْعُوَ</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لَنْ يَدْعُ</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لَمْ يَدْعُوَ</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keeps the wāw: lan yadʿuwa.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GM-V-10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GM-V-11: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GM-V-11 · Passive Voice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was written</a:t>
            </a:r>
            <a:pPr indent="0" marL="0">
              <a:buNone/>
            </a:pPr>
            <a:r>
              <a:rPr lang="ar-SA" sz="1000" i="1" dirty="0">
                <a:solidFill>
                  <a:srgbClr val="5A6472"/>
                </a:solidFill>
                <a:latin typeface="Amiri" pitchFamily="2" charset="-78"/>
                <a:ea typeface="Amiri" pitchFamily="2" charset="-78"/>
                <a:cs typeface="Amiri" pitchFamily="2" charset="-78"/>
              </a:rPr>
              <a:t>  كُتِبَ الدَّرْسُ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is written</a:t>
            </a:r>
            <a:pPr indent="0" marL="0">
              <a:buNone/>
            </a:pPr>
            <a:r>
              <a:rPr lang="ar-SA" sz="1000" i="1" dirty="0">
                <a:solidFill>
                  <a:srgbClr val="5A6472"/>
                </a:solidFill>
                <a:latin typeface="Amiri" pitchFamily="2" charset="-78"/>
                <a:ea typeface="Amiri" pitchFamily="2" charset="-78"/>
                <a:cs typeface="Amiri" pitchFamily="2" charset="-78"/>
              </a:rPr>
              <a:t>  يُكْتَبُ الدَّرْسُ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صُنِعَ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was made</a:t>
            </a:r>
            <a:pPr indent="0" marL="0">
              <a:buNone/>
            </a:pPr>
            <a:r>
              <a:rPr lang="ar-SA" sz="1000" i="1" dirty="0">
                <a:solidFill>
                  <a:srgbClr val="5A6472"/>
                </a:solidFill>
                <a:latin typeface="Amiri" pitchFamily="2" charset="-78"/>
                <a:ea typeface="Amiri" pitchFamily="2" charset="-78"/>
                <a:cs typeface="Amiri" pitchFamily="2" charset="-78"/>
              </a:rPr>
              <a:t>  صُنِعَ فِي الصِّينِ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said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الْفَاعِلُ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doer (subject)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Kataba = he wrote. Kutiba = it was written. What changed in the vowels?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urīdu an and lan.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five sentences for they and you (f.), dropping the nūn.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ambition task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GM-V-11 · Passive Voice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الْمَبْنِيُّ لِلْمَجْهُولِ فِي الْمَاضِي وَالْمُضَارِعِ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 · lan · li-kay · ḥattā → subjunctive · ḍamma → fatḥa · five verbs drop the nūn · -na stays · weak verbs keep their letter (lan yarmiya, not lan yarmi).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GM-V-10 · Subjunctive</dc:title>
  <dc:subject>PptxGenJS Presentation</dc:subject>
  <dc:creator>Al Madina Online School · Arabic Department</dc:creator>
  <cp:lastModifiedBy>Al Madina Online School · Arabic Department</cp:lastModifiedBy>
  <cp:revision>1</cp:revision>
  <dcterms:created xsi:type="dcterms:W3CDTF">2026-10-11T06:42:38Z</dcterms:created>
  <dcterms:modified xsi:type="dcterms:W3CDTF">2026-10-11T06:42:38Z</dcterms:modified>
</cp:coreProperties>
</file>