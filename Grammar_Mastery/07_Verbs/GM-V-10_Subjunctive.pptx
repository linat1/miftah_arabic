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Verbs › GM-V-10 (“The Subjunctive after أَنْ، لَنْ، كَيْ and حَتَّى”).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أَنْ and لَنْ with singular forms (أُرِيدُ أَنْ أَدْرُسَ · لَنْ أَتَأَخَّرَ). Develop: the five verbs (أَنْ تَكْتُبِي · أَنْ يَكْتُبُوا · أَنْ يَكْتُبَا) and purpose with لِكَيْ. Stretch: weak verbs (لَنْ يَرْمِيَ · لَنْ يَدْعُوَ) vs the jussive (لَمْ يَرْمِ · لَمْ يَدْعُ) and endpoint ḥattā.
• Website warning: do NOT remove the nūn of the feminine plural (يَكْتُبْنَ stays يَكْتُبْنَ) — it is not one of the five verbs.
• Links: lan was met in GM-V-06; the jussive in GM-V-07 and V-08. This lesson completes the three moods of the present.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 2, 3, 5 and 6) — the GM-V-09 prep words an, li-kay, yajibu and ḥattā.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Trigger (an · lan · li-kay · ḥattā) → present verb in the subjunctive: fatḥa, or the nūn drops.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“The main subjunctive triggers”. Learn each particle with its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“Regular and five-verb endings”.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 website “Weak verbs in the subjunctive” (jussive column added from GM-V-08 for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Particle and Purpose and Five-Verb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model (corrected: uḥaqqiqa). Website routine: draw an arrow from each trigger to its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game items. Cover column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or 2. Rule: subjunctive keeps the weak letter; jussive drops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or 2. Rule: subjunctive keeps the weak letter; jussive drops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Five-Verb, Weak Subjunctive and Functional checks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workshop (teacher-written profiles). Read it aloud once while students follow; then they hunt for today’s grammar.
Task: Website: underline the triggers and match each subjunctive verb to the word that governs it.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profiles for the website reading workshop;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workshop. Sequence: ● 10s think → ↔ 45s rehearse aloud with mic muted → ◎ two named students on open mic (warned in advance) → + ? the class types one follow-up in chat → ↺ one student summarises.
Routes: Core uses the Core prompt and stem; Develop the Develop prompt; Stretch the last prompt.
Website: a one-minute answer using urīdu an, yajibu an, li-kay, lan and ḥattā. Listening (website): yaktubūna / an yaktubū and yamshī / lan yamshiya.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130–140 words about your ambitions and what you do to achieve them. Include intention, necessity, purpose, future negation and an endpoint.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(GM-V-11 · Passive Voice) will spend class time USING this language, so students prepare it tonight — short, simple, easy to access (school guidance: “Simple, Short, Interesting, Relevant, Easy to access”). The five words prepare GM-V-11 (website Verbs lesson 11: the passive voice).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VERBS  ·  GM-V-10</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GM-V-10</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Subjunctive</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الْمُضَارِعُ الْمَنْصُوبُ</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After an (to), lan (will not), li-kay (in order to) and ḥattā (until / so that) the present verb changes: ḍamma → fatḥa, the five verbs drop their nūn, and weak verbs keep their last letter with a fatḥa.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GM-V-10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Verbs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Triggers; regular and five-verb endings; weak verbs; functions.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Transform; sort subjunctive / jussive;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GM-V-11.</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want to study”.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أَنْ أَدْرُسُ</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أَنْ أَدْرُسَ</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دَرَسْتُ</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will not go”.</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أَذْهَبَ</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أَذْهَبُ</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 أَذْهَبَ</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study in order to succeed”.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أَدْرُسُ لِكَيْ أَنْجَحُ</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أَدْرُسُ لِكَيْ نَجَحْتُ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أَدْرُسُ لِكَيْ أَنْجَحَ</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want you (f.) to write”.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أُرِيدُكِ أَنْ تَكْتُبِينَ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أُرِيدُكِ أَنْ كَتَبْتِ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أُرِيدُكِ أَنْ تَكْتُبِي</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accurate?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000" dirty="0">
                <a:solidFill>
                  <a:srgbClr val="1F2A37"/>
                </a:solidFill>
                <a:latin typeface="Calibri" pitchFamily="34" charset="0"/>
                <a:cs typeface="Amiri" pitchFamily="2" charset="-78"/>
              </a:rPr>
              <a:t>Not every </a:t>
            </a:r>
            <a:pPr algn="l" indent="0" marL="0">
              <a:buNone/>
            </a:pPr>
            <a:r>
              <a:rPr lang="ar-SA" altLang="en-US" sz="1300" dirty="0">
                <a:solidFill>
                  <a:srgbClr val="1F2A37"/>
                </a:solidFill>
                <a:latin typeface="Amiri" pitchFamily="2" charset="-78"/>
                <a:ea typeface="Amiri" pitchFamily="2" charset="-78"/>
                <a:cs typeface="Amiri" pitchFamily="2" charset="-78"/>
              </a:rPr>
              <a:t>حَتَّى</a:t>
            </a:r>
            <a:pPr algn="l" indent="0" marL="0">
              <a:buNone/>
            </a:pPr>
            <a:r>
              <a:rPr lang="en-US" sz="1000" dirty="0">
                <a:solidFill>
                  <a:srgbClr val="1F2A37"/>
                </a:solidFill>
                <a:latin typeface="Calibri" pitchFamily="34" charset="0"/>
                <a:cs typeface="Amiri" pitchFamily="2" charset="-78"/>
              </a:rPr>
              <a:t> automatically creates the same analysis; teach clear purpose/endpoint examples.</a:t>
            </a:r>
            <a:endParaRPr lang="en-US" sz="100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word after </a:t>
            </a:r>
            <a:pPr algn="l" indent="0" marL="0">
              <a:buNone/>
            </a:pPr>
            <a:r>
              <a:rPr lang="ar-SA" altLang="en-US" sz="1650" dirty="0">
                <a:solidFill>
                  <a:srgbClr val="1F2A37"/>
                </a:solidFill>
                <a:latin typeface="Amiri" pitchFamily="2" charset="-78"/>
                <a:ea typeface="Amiri" pitchFamily="2" charset="-78"/>
                <a:cs typeface="Amiri" pitchFamily="2" charset="-78"/>
              </a:rPr>
              <a:t>حتى</a:t>
            </a:r>
            <a:pPr algn="l" indent="0" marL="0">
              <a:buNone/>
            </a:pPr>
            <a:r>
              <a:rPr lang="en-US" sz="1250" dirty="0">
                <a:solidFill>
                  <a:srgbClr val="1F2A37"/>
                </a:solidFill>
                <a:latin typeface="Calibri" pitchFamily="34" charset="0"/>
                <a:cs typeface="Amiri" pitchFamily="2" charset="-78"/>
              </a:rPr>
              <a:t> is past.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subjunctive never changes plural forms.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want to study”.</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أُرِيدُ أَنْ أَدْرُسُ</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أُرِيدُ أَنْ أَدْرُسَ</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أُرِيدُ دَرَسْتُ</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 governs the subjunctive present: fatḥa.</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will not go”.</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لَنْ أَذْهَبَ</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أَذْهَبُ</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 أَذْهَبَ</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Lan governs the subjunctive.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study in order to succeed”.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أَدْرُسُ لِكَيْ أَنْجَحُ</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أَدْرُسُ لِكَيْ نَجَحْتُ</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أَدْرُسُ لِكَيْ أَنْجَحَ</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Li-kay introduces purpose and a subjunctive verb.</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want you (f.) to write”.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أُرِيدُكِ أَنْ تَكْتُبِينَ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أُرِيدُكِ أَنْ كَتَبْتِ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أُرِيدُكِ أَنْ تَكْتُبِي</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Meaning decides how ḥattā works; learn clear examples.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is accurate?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000" b="1" dirty="0">
                <a:solidFill>
                  <a:srgbClr val="1F2A37"/>
                </a:solidFill>
                <a:latin typeface="Calibri" pitchFamily="34" charset="0"/>
                <a:cs typeface="Amiri" pitchFamily="2" charset="-78"/>
              </a:rPr>
              <a:t>Not every </a:t>
            </a:r>
            <a:pPr algn="l" indent="0" marL="0">
              <a:buNone/>
            </a:pPr>
            <a:r>
              <a:rPr lang="ar-SA" altLang="en-US" sz="1300" b="1" dirty="0">
                <a:solidFill>
                  <a:srgbClr val="1F2A37"/>
                </a:solidFill>
                <a:latin typeface="Amiri" pitchFamily="2" charset="-78"/>
                <a:ea typeface="Amiri" pitchFamily="2" charset="-78"/>
                <a:cs typeface="Amiri" pitchFamily="2" charset="-78"/>
              </a:rPr>
              <a:t>حَتَّى</a:t>
            </a:r>
            <a:pPr algn="l" indent="0" marL="0">
              <a:buNone/>
            </a:pPr>
            <a:r>
              <a:rPr lang="en-US" sz="1000" b="1" dirty="0">
                <a:solidFill>
                  <a:srgbClr val="1F2A37"/>
                </a:solidFill>
                <a:latin typeface="Calibri" pitchFamily="34" charset="0"/>
                <a:cs typeface="Amiri" pitchFamily="2" charset="-78"/>
              </a:rPr>
              <a:t> automatically creates the same analysis; teach clear purpose/endpoint examples.</a:t>
            </a:r>
            <a:endParaRPr lang="en-US" sz="10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word after </a:t>
            </a:r>
            <a:pPr algn="l" indent="0" marL="0">
              <a:buNone/>
            </a:pPr>
            <a:r>
              <a:rPr lang="ar-SA" altLang="en-US" sz="1650" dirty="0">
                <a:solidFill>
                  <a:srgbClr val="9AA1AB"/>
                </a:solidFill>
                <a:latin typeface="Amiri" pitchFamily="2" charset="-78"/>
                <a:ea typeface="Amiri" pitchFamily="2" charset="-78"/>
                <a:cs typeface="Amiri" pitchFamily="2" charset="-78"/>
              </a:rPr>
              <a:t>حتى</a:t>
            </a:r>
            <a:pPr algn="l" indent="0" marL="0">
              <a:buNone/>
            </a:pPr>
            <a:r>
              <a:rPr lang="en-US" sz="1250" dirty="0">
                <a:solidFill>
                  <a:srgbClr val="9AA1AB"/>
                </a:solidFill>
                <a:latin typeface="Calibri" pitchFamily="34" charset="0"/>
                <a:cs typeface="Amiri" pitchFamily="2" charset="-78"/>
              </a:rPr>
              <a:t> is past.</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The subjunctive never changes plural forms.</a:t>
            </a:r>
            <a:endParaRPr lang="en-US" sz="11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Meaning and syntax determine the structure.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Trigger (an · lan · li-kay · ḥattā) → present verb in the subjunctive: fatḥa, or the nūn drops.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أُرِيدُ </a:t>
            </a:r>
            <a:pPr rtl="1" algn="ctr" indent="0" marL="0">
              <a:lnSpc>
                <a:spcPct val="120000"/>
              </a:lnSpc>
              <a:buNone/>
            </a:pPr>
            <a:r>
              <a:rPr lang="ar-SA" altLang="en-US" sz="2200" b="1" dirty="0">
                <a:solidFill>
                  <a:srgbClr val="0E7C86"/>
                </a:solidFill>
                <a:latin typeface="Amiri" pitchFamily="2" charset="-78"/>
                <a:ea typeface="Amiri" pitchFamily="2" charset="-78"/>
                <a:cs typeface="Amiri" pitchFamily="2" charset="-78"/>
              </a:rPr>
              <a:t>أَنْ أَدْرُسَ</a:t>
            </a:r>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 ‖ أُرِيدُكِ </a:t>
            </a:r>
            <a:pPr rtl="1" algn="ctr" indent="0" marL="0">
              <a:lnSpc>
                <a:spcPct val="120000"/>
              </a:lnSpc>
              <a:buNone/>
            </a:pPr>
            <a:r>
              <a:rPr lang="ar-SA" altLang="en-US" sz="2200" b="1" dirty="0">
                <a:solidFill>
                  <a:srgbClr val="D6336C"/>
                </a:solidFill>
                <a:latin typeface="Amiri" pitchFamily="2" charset="-78"/>
                <a:ea typeface="Amiri" pitchFamily="2" charset="-78"/>
                <a:cs typeface="Amiri" pitchFamily="2" charset="-78"/>
              </a:rPr>
              <a:t>أَنْ تَكْتُبِي</a:t>
            </a:r>
            <a:endParaRPr lang="ar-SA" sz="22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the four subjunctive triggers.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Change ḍamma to fatḥa after a trigger.</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Drop the nūn of the five verbs.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Keep weak verbs whole in the subjunctive.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I want to … with an + fatḥa.</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I will not … with lan + fatḥa.</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drop the nūn: an taktubī, an yaktubū.</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give a purpose with li-kay.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write lan yarmiya and lam yarmi correctly.</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ḥattā for an endpoint.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الْمَنْصُوبُ</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subjunctive</a:t>
            </a:r>
            <a:endParaRPr lang="en-US" sz="1350" dirty="0"/>
          </a:p>
          <a:p>
            <a:pPr indent="0" marL="0">
              <a:buNone/>
            </a:pPr>
            <a:r>
              <a:rPr lang="en-US" sz="1100" i="1" dirty="0">
                <a:solidFill>
                  <a:srgbClr val="5A6472"/>
                </a:solidFill>
                <a:latin typeface="Calibri" pitchFamily="34" charset="0"/>
                <a:cs typeface="Amiri" pitchFamily="2" charset="-78"/>
              </a:rPr>
              <a:t>al-man-ṣū-bu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أَدْرُسَ</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 / that</a:t>
            </a:r>
            <a:endParaRPr lang="en-US" sz="1350" dirty="0"/>
          </a:p>
          <a:p>
            <a:pPr indent="0" marL="0">
              <a:buNone/>
            </a:pPr>
            <a:r>
              <a:rPr lang="en-US" sz="1100" i="1" dirty="0">
                <a:solidFill>
                  <a:srgbClr val="5A6472"/>
                </a:solidFill>
                <a:latin typeface="Calibri" pitchFamily="34" charset="0"/>
                <a:cs typeface="Amiri" pitchFamily="2" charset="-78"/>
              </a:rPr>
              <a:t>an</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أُرِيدُ أَنْ</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لِكَيْ</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order to</a:t>
            </a:r>
            <a:endParaRPr lang="en-US" sz="1350" dirty="0"/>
          </a:p>
          <a:p>
            <a:pPr indent="0" marL="0">
              <a:buNone/>
            </a:pPr>
            <a:r>
              <a:rPr lang="en-US" sz="1100" i="1" dirty="0">
                <a:solidFill>
                  <a:srgbClr val="5A6472"/>
                </a:solidFill>
                <a:latin typeface="Calibri" pitchFamily="34" charset="0"/>
                <a:cs typeface="Amiri" pitchFamily="2" charset="-78"/>
              </a:rPr>
              <a:t>li-kay</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لِكَيْ أَنْجَحَ</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حَتَّى</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until / so that</a:t>
            </a:r>
            <a:endParaRPr lang="en-US" sz="1350" dirty="0"/>
          </a:p>
          <a:p>
            <a:pPr indent="0" marL="0">
              <a:buNone/>
            </a:pPr>
            <a:r>
              <a:rPr lang="en-US" sz="1100" i="1" dirty="0">
                <a:solidFill>
                  <a:srgbClr val="5A6472"/>
                </a:solidFill>
                <a:latin typeface="Calibri" pitchFamily="34" charset="0"/>
                <a:cs typeface="Amiri" pitchFamily="2" charset="-78"/>
              </a:rPr>
              <a:t>ḥat-tā</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حَتَّى يَصِلَ</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يَجِبُ أَنْ</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must / it is necessary to</a:t>
            </a:r>
            <a:endParaRPr lang="en-US" sz="1350" dirty="0"/>
          </a:p>
          <a:p>
            <a:pPr indent="0" marL="0">
              <a:buNone/>
            </a:pPr>
            <a:r>
              <a:rPr lang="en-US" sz="1100" i="1" dirty="0">
                <a:solidFill>
                  <a:srgbClr val="5A6472"/>
                </a:solidFill>
                <a:latin typeface="Calibri" pitchFamily="34" charset="0"/>
                <a:cs typeface="Amiri" pitchFamily="2" charset="-78"/>
              </a:rPr>
              <a:t>ya-ji-bu an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يَجِبُ أَنْ نَحْمِيَ</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الْأَفْعَالُ الْخَمْسَةُ</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five verbs</a:t>
            </a:r>
            <a:endParaRPr lang="en-US" sz="1350" dirty="0"/>
          </a:p>
          <a:p>
            <a:pPr indent="0" marL="0">
              <a:buNone/>
            </a:pPr>
            <a:r>
              <a:rPr lang="en-US" sz="1100" i="1" dirty="0">
                <a:solidFill>
                  <a:srgbClr val="5A6472"/>
                </a:solidFill>
                <a:latin typeface="Calibri" pitchFamily="34" charset="0"/>
                <a:cs typeface="Amiri" pitchFamily="2" charset="-78"/>
              </a:rPr>
              <a:t>al-af-ʿā-lu al-kham-sa-tu</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ـَانِ · ـُونَ · ـِينَ</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1 · THE MAIN SUBJUNCTIVE TRIGGERS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Four little words that change the verb</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أَدَوَاتُ النَّصْبِ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199632" y="1810512"/>
            <a:ext cx="5458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(website)</a:t>
            </a:r>
            <a:endParaRPr lang="en-US" sz="1100" dirty="0"/>
          </a:p>
        </p:txBody>
      </p:sp>
      <p:sp>
        <p:nvSpPr>
          <p:cNvPr id="17" name="Text 14"/>
          <p:cNvSpPr txBox="1"/>
          <p:nvPr/>
        </p:nvSpPr>
        <p:spPr>
          <a:xfrm>
            <a:off x="254203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Function</a:t>
            </a:r>
            <a:endParaRPr lang="en-US" sz="1100" dirty="0"/>
          </a:p>
        </p:txBody>
      </p:sp>
      <p:sp>
        <p:nvSpPr>
          <p:cNvPr id="18" name="Text 15"/>
          <p:cNvSpPr txBox="1"/>
          <p:nvPr/>
        </p:nvSpPr>
        <p:spPr>
          <a:xfrm>
            <a:off x="53035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Particle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6217920" y="2267712"/>
            <a:ext cx="542239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أُرِيدُ أَنْ أَدْرُسَ.</a:t>
            </a:r>
            <a:endParaRPr lang="ar-SA" sz="2200" dirty="0"/>
          </a:p>
        </p:txBody>
      </p:sp>
      <p:sp>
        <p:nvSpPr>
          <p:cNvPr id="21" name="Text 18"/>
          <p:cNvSpPr txBox="1"/>
          <p:nvPr/>
        </p:nvSpPr>
        <p:spPr>
          <a:xfrm>
            <a:off x="2578608" y="2267712"/>
            <a:ext cx="3474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 that — want, like, need, try</a:t>
            </a:r>
            <a:endParaRPr lang="en-US" sz="1100" dirty="0"/>
          </a:p>
        </p:txBody>
      </p:sp>
      <p:sp>
        <p:nvSpPr>
          <p:cNvPr id="22" name="Text 19"/>
          <p:cNvSpPr txBox="1"/>
          <p:nvPr/>
        </p:nvSpPr>
        <p:spPr>
          <a:xfrm>
            <a:off x="548640" y="2267712"/>
            <a:ext cx="18288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أَنْ</a:t>
            </a:r>
            <a:endParaRPr lang="ar-SA" sz="2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6217920" y="3054096"/>
            <a:ext cx="542239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لَنْ أَتَأَخَّرَ.</a:t>
            </a:r>
            <a:endParaRPr lang="ar-SA" sz="2200" dirty="0"/>
          </a:p>
        </p:txBody>
      </p:sp>
      <p:sp>
        <p:nvSpPr>
          <p:cNvPr id="27" name="Text 24"/>
          <p:cNvSpPr txBox="1"/>
          <p:nvPr/>
        </p:nvSpPr>
        <p:spPr>
          <a:xfrm>
            <a:off x="2578608" y="3054096"/>
            <a:ext cx="3474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will not (GM-V-06)</a:t>
            </a:r>
            <a:endParaRPr lang="en-US" sz="1100" dirty="0"/>
          </a:p>
        </p:txBody>
      </p:sp>
      <p:sp>
        <p:nvSpPr>
          <p:cNvPr id="28" name="Text 25"/>
          <p:cNvSpPr txBox="1"/>
          <p:nvPr/>
        </p:nvSpPr>
        <p:spPr>
          <a:xfrm>
            <a:off x="548640" y="3054096"/>
            <a:ext cx="18288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لَنْ</a:t>
            </a:r>
            <a:endParaRPr lang="ar-SA" sz="26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6217920" y="3840480"/>
            <a:ext cx="542239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أَتَدَرَّبُ لِكَيْ أَتَحَسَّنَ.</a:t>
            </a:r>
            <a:endParaRPr lang="ar-SA" sz="2200" dirty="0"/>
          </a:p>
        </p:txBody>
      </p:sp>
      <p:sp>
        <p:nvSpPr>
          <p:cNvPr id="33" name="Text 30"/>
          <p:cNvSpPr txBox="1"/>
          <p:nvPr/>
        </p:nvSpPr>
        <p:spPr>
          <a:xfrm>
            <a:off x="2578608" y="3840480"/>
            <a:ext cx="3474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so that / in order to</a:t>
            </a:r>
            <a:endParaRPr lang="en-US" sz="1100" dirty="0"/>
          </a:p>
        </p:txBody>
      </p:sp>
      <p:sp>
        <p:nvSpPr>
          <p:cNvPr id="34" name="Text 31"/>
          <p:cNvSpPr txBox="1"/>
          <p:nvPr/>
        </p:nvSpPr>
        <p:spPr>
          <a:xfrm>
            <a:off x="548640" y="3840480"/>
            <a:ext cx="18288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لِكَيْ</a:t>
            </a:r>
            <a:endParaRPr lang="ar-SA" sz="26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6217920" y="4626864"/>
            <a:ext cx="542239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أَنْتَظِرُ حَتَّى يَصِلَ الْقِطَارُ.</a:t>
            </a:r>
            <a:endParaRPr lang="ar-SA" sz="2200" dirty="0"/>
          </a:p>
        </p:txBody>
      </p:sp>
      <p:sp>
        <p:nvSpPr>
          <p:cNvPr id="37" name="Text 34"/>
          <p:cNvSpPr txBox="1"/>
          <p:nvPr/>
        </p:nvSpPr>
        <p:spPr>
          <a:xfrm>
            <a:off x="2578608" y="4626864"/>
            <a:ext cx="347472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until / so that — a clear endpoint</a:t>
            </a:r>
            <a:endParaRPr lang="en-US" sz="1100" dirty="0"/>
          </a:p>
        </p:txBody>
      </p:sp>
      <p:sp>
        <p:nvSpPr>
          <p:cNvPr id="38" name="Text 35"/>
          <p:cNvSpPr txBox="1"/>
          <p:nvPr/>
        </p:nvSpPr>
        <p:spPr>
          <a:xfrm>
            <a:off x="548640" y="4626864"/>
            <a:ext cx="182880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حَتَّى</a:t>
            </a:r>
            <a:endParaRPr lang="ar-SA" sz="26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core sign: in regular singular forms the final ḍamma becomes fatḥa — adrusu → an adrusa.</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2 · REGULAR AND FIVE-VERB ENDINGS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Fatḥa — or the nūn drops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نِهَايَاتُ الْمَنْصُوبِ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Reason</a:t>
            </a:r>
            <a:endParaRPr lang="en-US" sz="1100" dirty="0"/>
          </a:p>
        </p:txBody>
      </p:sp>
      <p:sp>
        <p:nvSpPr>
          <p:cNvPr id="17" name="Text 14"/>
          <p:cNvSpPr txBox="1"/>
          <p:nvPr/>
        </p:nvSpPr>
        <p:spPr>
          <a:xfrm>
            <a:off x="327355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Subjunctive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Indicative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6601968" y="2267712"/>
            <a:ext cx="50566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regular singular: ḍamma → fatḥa</a:t>
            </a:r>
            <a:endParaRPr lang="en-US" sz="1100" dirty="0"/>
          </a:p>
        </p:txBody>
      </p:sp>
      <p:sp>
        <p:nvSpPr>
          <p:cNvPr id="21" name="Text 18"/>
          <p:cNvSpPr txBox="1"/>
          <p:nvPr/>
        </p:nvSpPr>
        <p:spPr>
          <a:xfrm>
            <a:off x="3291840" y="2267712"/>
            <a:ext cx="31089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أَنْ يَكْتُبَ</a:t>
            </a:r>
            <a:endParaRPr lang="ar-SA" sz="2600" dirty="0"/>
          </a:p>
        </p:txBody>
      </p:sp>
      <p:sp>
        <p:nvSpPr>
          <p:cNvPr id="22" name="Text 19"/>
          <p:cNvSpPr txBox="1"/>
          <p:nvPr/>
        </p:nvSpPr>
        <p:spPr>
          <a:xfrm>
            <a:off x="548640" y="2267712"/>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يَكْتُبُ</a:t>
            </a:r>
            <a:endParaRPr lang="ar-SA" sz="2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6601968" y="3004718"/>
            <a:ext cx="50566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five verbs: nūn drops</a:t>
            </a:r>
            <a:endParaRPr lang="en-US" sz="1100" dirty="0"/>
          </a:p>
        </p:txBody>
      </p:sp>
      <p:sp>
        <p:nvSpPr>
          <p:cNvPr id="27" name="Text 24"/>
          <p:cNvSpPr txBox="1"/>
          <p:nvPr/>
        </p:nvSpPr>
        <p:spPr>
          <a:xfrm>
            <a:off x="3291840" y="3004718"/>
            <a:ext cx="31089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أَنْ تَكْتُبِي</a:t>
            </a:r>
            <a:endParaRPr lang="ar-SA" sz="2600" dirty="0"/>
          </a:p>
        </p:txBody>
      </p:sp>
      <p:sp>
        <p:nvSpPr>
          <p:cNvPr id="28" name="Text 25"/>
          <p:cNvSpPr txBox="1"/>
          <p:nvPr/>
        </p:nvSpPr>
        <p:spPr>
          <a:xfrm>
            <a:off x="548640" y="3004718"/>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تَكْتُبِينَ</a:t>
            </a:r>
            <a:endParaRPr lang="ar-SA" sz="26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6601968" y="3741725"/>
            <a:ext cx="50566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 nūn drops</a:t>
            </a:r>
            <a:endParaRPr lang="en-US" sz="1100" dirty="0"/>
          </a:p>
        </p:txBody>
      </p:sp>
      <p:sp>
        <p:nvSpPr>
          <p:cNvPr id="33" name="Text 30"/>
          <p:cNvSpPr txBox="1"/>
          <p:nvPr/>
        </p:nvSpPr>
        <p:spPr>
          <a:xfrm>
            <a:off x="3291840" y="3741725"/>
            <a:ext cx="31089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أَنْ يَكْتُبَا</a:t>
            </a:r>
            <a:endParaRPr lang="ar-SA" sz="2600" dirty="0"/>
          </a:p>
        </p:txBody>
      </p:sp>
      <p:sp>
        <p:nvSpPr>
          <p:cNvPr id="34" name="Text 31"/>
          <p:cNvSpPr txBox="1"/>
          <p:nvPr/>
        </p:nvSpPr>
        <p:spPr>
          <a:xfrm>
            <a:off x="548640" y="3741725"/>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يَكْتُبَانِ</a:t>
            </a:r>
            <a:endParaRPr lang="ar-SA" sz="26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6601968" y="4478731"/>
            <a:ext cx="50566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plural: nūn drops (+ silent alif)</a:t>
            </a:r>
            <a:endParaRPr lang="en-US" sz="1100" dirty="0"/>
          </a:p>
        </p:txBody>
      </p:sp>
      <p:sp>
        <p:nvSpPr>
          <p:cNvPr id="37" name="Text 34"/>
          <p:cNvSpPr txBox="1"/>
          <p:nvPr/>
        </p:nvSpPr>
        <p:spPr>
          <a:xfrm>
            <a:off x="3291840" y="4478731"/>
            <a:ext cx="31089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أَنْ يَكْتُبُوا</a:t>
            </a:r>
            <a:endParaRPr lang="ar-SA" sz="2600" dirty="0"/>
          </a:p>
        </p:txBody>
      </p:sp>
      <p:sp>
        <p:nvSpPr>
          <p:cNvPr id="38" name="Text 35"/>
          <p:cNvSpPr txBox="1"/>
          <p:nvPr/>
        </p:nvSpPr>
        <p:spPr>
          <a:xfrm>
            <a:off x="548640" y="4478731"/>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يَكْتُبُونَ</a:t>
            </a:r>
            <a:endParaRPr lang="ar-SA" sz="2600" dirty="0"/>
          </a:p>
        </p:txBody>
      </p:sp>
      <p:sp>
        <p:nvSpPr>
          <p:cNvPr id="39" name="Shape 36"/>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6601968" y="5215738"/>
            <a:ext cx="50566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plural: NO change</a:t>
            </a:r>
            <a:endParaRPr lang="en-US" sz="1100" dirty="0"/>
          </a:p>
        </p:txBody>
      </p:sp>
      <p:sp>
        <p:nvSpPr>
          <p:cNvPr id="43" name="Text 40"/>
          <p:cNvSpPr txBox="1"/>
          <p:nvPr/>
        </p:nvSpPr>
        <p:spPr>
          <a:xfrm>
            <a:off x="3291840" y="5215738"/>
            <a:ext cx="310896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أَنْ يَكْتُبْنَ</a:t>
            </a:r>
            <a:endParaRPr lang="ar-SA" sz="2600" dirty="0"/>
          </a:p>
        </p:txBody>
      </p:sp>
      <p:sp>
        <p:nvSpPr>
          <p:cNvPr id="44" name="Text 41"/>
          <p:cNvSpPr txBox="1"/>
          <p:nvPr/>
        </p:nvSpPr>
        <p:spPr>
          <a:xfrm>
            <a:off x="548640" y="5215738"/>
            <a:ext cx="256032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يَكْتُبْنَ</a:t>
            </a:r>
            <a:endParaRPr lang="ar-SA" sz="26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“five verbs” end in -āni, -ūna, -īna and lose the nūn. The feminine plural -na is part of the verb — never remove it.</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1B3B6F"/>
                </a:solidFill>
                <a:latin typeface="Calibri" pitchFamily="34" charset="0"/>
                <a:cs typeface="Amiri" pitchFamily="2" charset="-78"/>
              </a:rPr>
              <a:t>GRAMMAR · PART 3 · WEAK VERBS: SUBJUNCTIVE VS JUSSIVE (WEBSITE TABLE) · STRETCH</a:t>
            </a:r>
            <a:endParaRPr lang="en-US" sz="87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Don’t copy the jussive rule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الْمُعْتَلُّ فِي النَّصْبِ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Note</a:t>
            </a:r>
            <a:endParaRPr lang="en-US" sz="1100" dirty="0"/>
          </a:p>
        </p:txBody>
      </p:sp>
      <p:sp>
        <p:nvSpPr>
          <p:cNvPr id="17" name="Text 14"/>
          <p:cNvSpPr txBox="1"/>
          <p:nvPr/>
        </p:nvSpPr>
        <p:spPr>
          <a:xfrm>
            <a:off x="619963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Jussive (lam)</a:t>
            </a:r>
            <a:endParaRPr lang="en-US" sz="1100" dirty="0"/>
          </a:p>
        </p:txBody>
      </p:sp>
      <p:sp>
        <p:nvSpPr>
          <p:cNvPr id="18" name="Text 15"/>
          <p:cNvSpPr txBox="1"/>
          <p:nvPr/>
        </p:nvSpPr>
        <p:spPr>
          <a:xfrm>
            <a:off x="29077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Subjunctive (lan / an)</a:t>
            </a:r>
            <a:endParaRPr lang="en-US" sz="1100" dirty="0"/>
          </a:p>
        </p:txBody>
      </p:sp>
      <p:sp>
        <p:nvSpPr>
          <p:cNvPr id="19" name="Text 16"/>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Indicative</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yāʾ stays + fatḥa</a:t>
            </a:r>
            <a:endParaRPr lang="en-US" sz="1100" dirty="0"/>
          </a:p>
        </p:txBody>
      </p:sp>
      <p:sp>
        <p:nvSpPr>
          <p:cNvPr id="22" name="Text 19"/>
          <p:cNvSpPr txBox="1"/>
          <p:nvPr/>
        </p:nvSpPr>
        <p:spPr>
          <a:xfrm>
            <a:off x="621792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لَمْ يَرْمِ</a:t>
            </a:r>
            <a:endParaRPr lang="ar-SA" sz="2400" dirty="0"/>
          </a:p>
        </p:txBody>
      </p:sp>
      <p:sp>
        <p:nvSpPr>
          <p:cNvPr id="23" name="Text 20"/>
          <p:cNvSpPr txBox="1"/>
          <p:nvPr/>
        </p:nvSpPr>
        <p:spPr>
          <a:xfrm>
            <a:off x="2926080" y="2267712"/>
            <a:ext cx="31089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لَنْ يَرْمِيَ</a:t>
            </a:r>
            <a:endParaRPr lang="ar-SA" sz="2400" dirty="0"/>
          </a:p>
        </p:txBody>
      </p:sp>
      <p:sp>
        <p:nvSpPr>
          <p:cNvPr id="24" name="Text 21"/>
          <p:cNvSpPr txBox="1"/>
          <p:nvPr/>
        </p:nvSpPr>
        <p:spPr>
          <a:xfrm>
            <a:off x="548640" y="2267712"/>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يَرْمِي</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wāw stays + fatḥa</a:t>
            </a:r>
            <a:endParaRPr lang="en-US" sz="1100" dirty="0"/>
          </a:p>
        </p:txBody>
      </p:sp>
      <p:sp>
        <p:nvSpPr>
          <p:cNvPr id="29" name="Text 26"/>
          <p:cNvSpPr txBox="1"/>
          <p:nvPr/>
        </p:nvSpPr>
        <p:spPr>
          <a:xfrm>
            <a:off x="621792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لَمْ يَدْعُ</a:t>
            </a:r>
            <a:endParaRPr lang="ar-SA" sz="2400" dirty="0"/>
          </a:p>
        </p:txBody>
      </p:sp>
      <p:sp>
        <p:nvSpPr>
          <p:cNvPr id="30" name="Text 27"/>
          <p:cNvSpPr txBox="1"/>
          <p:nvPr/>
        </p:nvSpPr>
        <p:spPr>
          <a:xfrm>
            <a:off x="2926080" y="3004718"/>
            <a:ext cx="31089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لَنْ يَدْعُوَ</a:t>
            </a:r>
            <a:endParaRPr lang="ar-SA" sz="2400" dirty="0"/>
          </a:p>
        </p:txBody>
      </p:sp>
      <p:sp>
        <p:nvSpPr>
          <p:cNvPr id="31" name="Text 28"/>
          <p:cNvSpPr txBox="1"/>
          <p:nvPr/>
        </p:nvSpPr>
        <p:spPr>
          <a:xfrm>
            <a:off x="548640" y="300471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يَدْعُو</a:t>
            </a:r>
            <a:endParaRPr lang="ar-SA" sz="2400" dirty="0"/>
          </a:p>
        </p:txBody>
      </p:sp>
      <p:sp>
        <p:nvSpPr>
          <p:cNvPr id="32" name="Shape 29"/>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3" name="Text 30"/>
          <p:cNvSpPr txBox="1"/>
          <p:nvPr/>
        </p:nvSpPr>
        <p:spPr>
          <a:xfrm>
            <a:off x="8796528" y="3741725"/>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alif: no visible change</a:t>
            </a:r>
            <a:endParaRPr lang="en-US" sz="1100" dirty="0"/>
          </a:p>
        </p:txBody>
      </p:sp>
      <p:sp>
        <p:nvSpPr>
          <p:cNvPr id="34" name="Text 31"/>
          <p:cNvSpPr txBox="1"/>
          <p:nvPr/>
        </p:nvSpPr>
        <p:spPr>
          <a:xfrm>
            <a:off x="621792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لَمْ يَسْعَ</a:t>
            </a:r>
            <a:endParaRPr lang="ar-SA" sz="2400" dirty="0"/>
          </a:p>
        </p:txBody>
      </p:sp>
      <p:sp>
        <p:nvSpPr>
          <p:cNvPr id="35" name="Text 32"/>
          <p:cNvSpPr txBox="1"/>
          <p:nvPr/>
        </p:nvSpPr>
        <p:spPr>
          <a:xfrm>
            <a:off x="2926080" y="3741725"/>
            <a:ext cx="31089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لَنْ يَسْعَى</a:t>
            </a:r>
            <a:endParaRPr lang="ar-SA" sz="2400" dirty="0"/>
          </a:p>
        </p:txBody>
      </p:sp>
      <p:sp>
        <p:nvSpPr>
          <p:cNvPr id="36" name="Text 33"/>
          <p:cNvSpPr txBox="1"/>
          <p:nvPr/>
        </p:nvSpPr>
        <p:spPr>
          <a:xfrm>
            <a:off x="548640" y="3741725"/>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يَسْعَى</a:t>
            </a:r>
            <a:endParaRPr lang="ar-SA" sz="240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8796528" y="4478731"/>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alif stays</a:t>
            </a:r>
            <a:endParaRPr lang="en-US" sz="1100" dirty="0"/>
          </a:p>
        </p:txBody>
      </p:sp>
      <p:sp>
        <p:nvSpPr>
          <p:cNvPr id="39" name="Text 36"/>
          <p:cNvSpPr txBox="1"/>
          <p:nvPr/>
        </p:nvSpPr>
        <p:spPr>
          <a:xfrm>
            <a:off x="621792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لَمْ أَرَ</a:t>
            </a:r>
            <a:endParaRPr lang="ar-SA" sz="2400" dirty="0"/>
          </a:p>
        </p:txBody>
      </p:sp>
      <p:sp>
        <p:nvSpPr>
          <p:cNvPr id="40" name="Text 37"/>
          <p:cNvSpPr txBox="1"/>
          <p:nvPr/>
        </p:nvSpPr>
        <p:spPr>
          <a:xfrm>
            <a:off x="2926080" y="4478731"/>
            <a:ext cx="31089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 أَرَى</a:t>
            </a:r>
            <a:endParaRPr lang="ar-SA" sz="2400" dirty="0"/>
          </a:p>
        </p:txBody>
      </p:sp>
      <p:sp>
        <p:nvSpPr>
          <p:cNvPr id="41" name="Text 38"/>
          <p:cNvSpPr txBox="1"/>
          <p:nvPr/>
        </p:nvSpPr>
        <p:spPr>
          <a:xfrm>
            <a:off x="548640" y="4478731"/>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أَرَى</a:t>
            </a:r>
            <a:endParaRPr lang="ar-SA" sz="2400" dirty="0"/>
          </a:p>
        </p:txBody>
      </p:sp>
      <p:sp>
        <p:nvSpPr>
          <p:cNvPr id="42" name="Shape 39"/>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3" name="Text 40"/>
          <p:cNvSpPr txBox="1"/>
          <p:nvPr/>
        </p:nvSpPr>
        <p:spPr>
          <a:xfrm>
            <a:off x="8796528" y="521573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subjunctive keeps the yāʾ</a:t>
            </a:r>
            <a:endParaRPr lang="en-US" sz="1100" dirty="0"/>
          </a:p>
        </p:txBody>
      </p:sp>
      <p:sp>
        <p:nvSpPr>
          <p:cNvPr id="44" name="Text 41"/>
          <p:cNvSpPr txBox="1"/>
          <p:nvPr/>
        </p:nvSpPr>
        <p:spPr>
          <a:xfrm>
            <a:off x="621792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لَمْ يَمْشِ</a:t>
            </a:r>
            <a:endParaRPr lang="ar-SA" sz="2400" dirty="0"/>
          </a:p>
        </p:txBody>
      </p:sp>
      <p:sp>
        <p:nvSpPr>
          <p:cNvPr id="45" name="Text 42"/>
          <p:cNvSpPr txBox="1"/>
          <p:nvPr/>
        </p:nvSpPr>
        <p:spPr>
          <a:xfrm>
            <a:off x="2926080" y="5215738"/>
            <a:ext cx="31089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لَنْ يَمْشِيَ</a:t>
            </a:r>
            <a:endParaRPr lang="ar-SA" sz="2400" dirty="0"/>
          </a:p>
        </p:txBody>
      </p:sp>
      <p:sp>
        <p:nvSpPr>
          <p:cNvPr id="46" name="Text 43"/>
          <p:cNvSpPr txBox="1"/>
          <p:nvPr/>
        </p:nvSpPr>
        <p:spPr>
          <a:xfrm>
            <a:off x="548640" y="5215738"/>
            <a:ext cx="21945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يَمْشِي</a:t>
            </a:r>
            <a:endParaRPr lang="ar-SA" sz="24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subjunctive KEEPS the weak letter (with fatḥa on yāʾ / wāw); the jussive DROPS it. Compare lam yarmi with lan yarmiya.</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like to read”.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أَنْ أَقْرَأُ.</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قَرَأْتُ.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أَنْ أَقْرَأَ.</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train so that I improve”.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أَتَدَرَّبُ لِكَيْ أَتَحَسَّنَ.</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أَتَدَرَّبُ لِكَيْ أَتَحَسَّنُ.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أَتَدَرَّبُ لِكَيْ تَحَسَّنْتُ.</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want them to write”.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نُرِيدُهُمْ أَنْ يَكْتُبُونَ.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نُرِيدُهُمْ أَنْ يَكْتُبُوا.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نُرِيدُهُمْ أَنْ كَتَبُوا.</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want the girls to write”.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أُرِيدُهُنَّ أَنْ يَكْتُبْنَ.</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أُرِيدُهُنَّ أَنْ يَكْتُبْ.</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أُرِيدُهُنَّ أَنْ يَكْتُبِينَ.</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like to read”.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أَنْ أَقْرَأُ.</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قَرَأْتُ.</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أُحِبُّ أَنْ أَقْرَأَ.</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 + subjunctive: fatḥa.</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train so that I improve”.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أَتَدَرَّبُ لِكَيْ أَتَحَسَّنَ.</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أَتَدَرَّبُ لِكَيْ أَتَحَسَّنُ.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أَتَدَرَّبُ لِكَيْ تَحَسَّنْتُ.</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Purpose: li-kay + fatḥa.</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want them to write”.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نُرِيدُهُمْ أَنْ يَكْتُبُونَ.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نُرِيدُهُمْ أَنْ يَكْتُبُوا.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نُرِيدُهُمْ أَنْ كَتَبُوا.</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plural nūn drops.</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want the girls to write”.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أُرِيدُهُنَّ أَنْ يَكْتُبْنَ.</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أُرِيدُهُنَّ أَنْ يَكْتُبْ.</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أُرِيدُهُنَّ أَنْ يَكْتُبِينَ.</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plural stays yaktubna.</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Watch me find the trigger, then fix the verb</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Trigger</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أُرِيدُ أَنْ</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 → subjunctive.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Verb</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أُصْبِحَ</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uṣbiḥu → fatḥa.</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Trigger</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لِكَيْ</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Purpose.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Verb</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أَتَحَسَّنَ</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Fatḥa again.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TRIGGER</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SUBJUNCTIVE VERB</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050" b="1" dirty="0">
                <a:solidFill>
                  <a:srgbClr val="1B3B6F"/>
                </a:solidFill>
                <a:latin typeface="Amiri" pitchFamily="2" charset="-78"/>
                <a:ea typeface="Amiri" pitchFamily="2" charset="-78"/>
                <a:cs typeface="Amiri" pitchFamily="2" charset="-78"/>
              </a:rPr>
              <a:t>أُرِيدُ </a:t>
            </a:r>
            <a:pPr rtl="1" algn="r" indent="0" marL="0">
              <a:buNone/>
            </a:pPr>
            <a:r>
              <a:rPr lang="ar-SA" altLang="en-US" sz="2050" b="1" dirty="0">
                <a:solidFill>
                  <a:srgbClr val="0E7C86"/>
                </a:solidFill>
                <a:latin typeface="Amiri" pitchFamily="2" charset="-78"/>
                <a:ea typeface="Amiri" pitchFamily="2" charset="-78"/>
                <a:cs typeface="Amiri" pitchFamily="2" charset="-78"/>
              </a:rPr>
              <a:t>أَنْ</a:t>
            </a:r>
            <a:pPr rtl="1" algn="r" indent="0" marL="0">
              <a:buNone/>
            </a:pPr>
            <a:r>
              <a:rPr lang="ar-SA" altLang="en-US" sz="2050" b="1" dirty="0">
                <a:solidFill>
                  <a:srgbClr val="1B3B6F"/>
                </a:solidFill>
                <a:latin typeface="Amiri" pitchFamily="2" charset="-78"/>
                <a:cs typeface="Amiri" pitchFamily="2" charset="-78"/>
              </a:rPr>
              <a:t> </a:t>
            </a:r>
            <a:pPr rtl="1" algn="r" indent="0" marL="0">
              <a:buNone/>
            </a:pPr>
            <a:r>
              <a:rPr lang="ar-SA" altLang="en-US" sz="2050" b="1" dirty="0">
                <a:solidFill>
                  <a:srgbClr val="D6336C"/>
                </a:solidFill>
                <a:latin typeface="Amiri" pitchFamily="2" charset="-78"/>
                <a:ea typeface="Amiri" pitchFamily="2" charset="-78"/>
                <a:cs typeface="Amiri" pitchFamily="2" charset="-78"/>
              </a:rPr>
              <a:t>أُصْبِحَ</a:t>
            </a:r>
            <a:pPr rtl="1" algn="r" indent="0" marL="0">
              <a:buNone/>
            </a:pPr>
            <a:r>
              <a:rPr lang="ar-SA" altLang="en-US" sz="2050" b="1" dirty="0">
                <a:solidFill>
                  <a:srgbClr val="1B3B6F"/>
                </a:solidFill>
                <a:latin typeface="Amiri" pitchFamily="2" charset="-78"/>
                <a:ea typeface="Amiri" pitchFamily="2" charset="-78"/>
                <a:cs typeface="Amiri" pitchFamily="2" charset="-78"/>
              </a:rPr>
              <a:t> مُهَنْدِسَةً، وَلِذَلِكَ يَجِبُ </a:t>
            </a:r>
            <a:pPr rtl="1" algn="r" indent="0" marL="0">
              <a:buNone/>
            </a:pPr>
            <a:r>
              <a:rPr lang="ar-SA" altLang="en-US" sz="2050" b="1" dirty="0">
                <a:solidFill>
                  <a:srgbClr val="0E7C86"/>
                </a:solidFill>
                <a:latin typeface="Amiri" pitchFamily="2" charset="-78"/>
                <a:ea typeface="Amiri" pitchFamily="2" charset="-78"/>
                <a:cs typeface="Amiri" pitchFamily="2" charset="-78"/>
              </a:rPr>
              <a:t>أَنْ</a:t>
            </a:r>
            <a:pPr rtl="1" algn="r" indent="0" marL="0">
              <a:buNone/>
            </a:pPr>
            <a:r>
              <a:rPr lang="ar-SA" altLang="en-US" sz="2050" b="1" dirty="0">
                <a:solidFill>
                  <a:srgbClr val="1B3B6F"/>
                </a:solidFill>
                <a:latin typeface="Amiri" pitchFamily="2" charset="-78"/>
                <a:cs typeface="Amiri" pitchFamily="2" charset="-78"/>
              </a:rPr>
              <a:t> </a:t>
            </a:r>
            <a:pPr rtl="1" algn="r" indent="0" marL="0">
              <a:buNone/>
            </a:pPr>
            <a:r>
              <a:rPr lang="ar-SA" altLang="en-US" sz="2050" b="1" dirty="0">
                <a:solidFill>
                  <a:srgbClr val="D6336C"/>
                </a:solidFill>
                <a:latin typeface="Amiri" pitchFamily="2" charset="-78"/>
                <a:ea typeface="Amiri" pitchFamily="2" charset="-78"/>
                <a:cs typeface="Amiri" pitchFamily="2" charset="-78"/>
              </a:rPr>
              <a:t>أَدْرُسَ</a:t>
            </a:r>
            <a:pPr rtl="1" algn="r" indent="0" marL="0">
              <a:buNone/>
            </a:pPr>
            <a:r>
              <a:rPr lang="ar-SA" altLang="en-US" sz="2050" b="1" dirty="0">
                <a:solidFill>
                  <a:srgbClr val="1B3B6F"/>
                </a:solidFill>
                <a:latin typeface="Amiri" pitchFamily="2" charset="-78"/>
                <a:ea typeface="Amiri" pitchFamily="2" charset="-78"/>
                <a:cs typeface="Amiri" pitchFamily="2" charset="-78"/>
              </a:rPr>
              <a:t> الرِّيَاضِيَّاتِ بِجِدٍّ. أَتَدَرَّبُ كُلَّ يَوْمٍ </a:t>
            </a:r>
            <a:pPr rtl="1" algn="r" indent="0" marL="0">
              <a:buNone/>
            </a:pPr>
            <a:r>
              <a:rPr lang="ar-SA" altLang="en-US" sz="2050" b="1" dirty="0">
                <a:solidFill>
                  <a:srgbClr val="0E7C86"/>
                </a:solidFill>
                <a:latin typeface="Amiri" pitchFamily="2" charset="-78"/>
                <a:ea typeface="Amiri" pitchFamily="2" charset="-78"/>
                <a:cs typeface="Amiri" pitchFamily="2" charset="-78"/>
              </a:rPr>
              <a:t>لِكَيْ</a:t>
            </a:r>
            <a:pPr rtl="1" algn="r" indent="0" marL="0">
              <a:buNone/>
            </a:pPr>
            <a:r>
              <a:rPr lang="ar-SA" altLang="en-US" sz="2050" b="1" dirty="0">
                <a:solidFill>
                  <a:srgbClr val="1B3B6F"/>
                </a:solidFill>
                <a:latin typeface="Amiri" pitchFamily="2" charset="-78"/>
                <a:cs typeface="Amiri" pitchFamily="2" charset="-78"/>
              </a:rPr>
              <a:t> </a:t>
            </a:r>
            <a:pPr rtl="1" algn="r" indent="0" marL="0">
              <a:buNone/>
            </a:pPr>
            <a:r>
              <a:rPr lang="ar-SA" altLang="en-US" sz="2050" b="1" dirty="0">
                <a:solidFill>
                  <a:srgbClr val="D6336C"/>
                </a:solidFill>
                <a:latin typeface="Amiri" pitchFamily="2" charset="-78"/>
                <a:ea typeface="Amiri" pitchFamily="2" charset="-78"/>
                <a:cs typeface="Amiri" pitchFamily="2" charset="-78"/>
              </a:rPr>
              <a:t>أَتَحَسَّنَ</a:t>
            </a:r>
            <a:pPr rtl="1" algn="r" indent="0" marL="0">
              <a:buNone/>
            </a:pPr>
            <a:r>
              <a:rPr lang="ar-SA" altLang="en-US" sz="2050" b="1" dirty="0">
                <a:solidFill>
                  <a:srgbClr val="1B3B6F"/>
                </a:solidFill>
                <a:latin typeface="Amiri" pitchFamily="2" charset="-78"/>
                <a:ea typeface="Amiri" pitchFamily="2" charset="-78"/>
                <a:cs typeface="Amiri" pitchFamily="2" charset="-78"/>
              </a:rPr>
              <a:t>، وَ</a:t>
            </a:r>
            <a:pPr rtl="1" algn="r" indent="0" marL="0">
              <a:buNone/>
            </a:pPr>
            <a:r>
              <a:rPr lang="ar-SA" altLang="en-US" sz="2050" b="1" dirty="0">
                <a:solidFill>
                  <a:srgbClr val="0E7C86"/>
                </a:solidFill>
                <a:latin typeface="Amiri" pitchFamily="2" charset="-78"/>
                <a:ea typeface="Amiri" pitchFamily="2" charset="-78"/>
                <a:cs typeface="Amiri" pitchFamily="2" charset="-78"/>
              </a:rPr>
              <a:t>لَنْ</a:t>
            </a:r>
            <a:pPr rtl="1" algn="r" indent="0" marL="0">
              <a:buNone/>
            </a:pPr>
            <a:r>
              <a:rPr lang="ar-SA" altLang="en-US" sz="2050" b="1" dirty="0">
                <a:solidFill>
                  <a:srgbClr val="1B3B6F"/>
                </a:solidFill>
                <a:latin typeface="Amiri" pitchFamily="2" charset="-78"/>
                <a:cs typeface="Amiri" pitchFamily="2" charset="-78"/>
              </a:rPr>
              <a:t> </a:t>
            </a:r>
            <a:pPr rtl="1" algn="r" indent="0" marL="0">
              <a:buNone/>
            </a:pPr>
            <a:r>
              <a:rPr lang="ar-SA" altLang="en-US" sz="2050" b="1" dirty="0">
                <a:solidFill>
                  <a:srgbClr val="D6336C"/>
                </a:solidFill>
                <a:latin typeface="Amiri" pitchFamily="2" charset="-78"/>
                <a:ea typeface="Amiri" pitchFamily="2" charset="-78"/>
                <a:cs typeface="Amiri" pitchFamily="2" charset="-78"/>
              </a:rPr>
              <a:t>أَتَوَقَّفَ</a:t>
            </a:r>
            <a:pPr rtl="1" algn="r" indent="0" marL="0">
              <a:buNone/>
            </a:pPr>
            <a:r>
              <a:rPr lang="ar-SA" altLang="en-US" sz="2050" b="1" dirty="0">
                <a:solidFill>
                  <a:srgbClr val="1B3B6F"/>
                </a:solidFill>
                <a:latin typeface="Amiri" pitchFamily="2" charset="-78"/>
                <a:cs typeface="Amiri" pitchFamily="2" charset="-78"/>
              </a:rPr>
              <a:t> </a:t>
            </a:r>
            <a:pPr rtl="1" algn="r" indent="0" marL="0">
              <a:buNone/>
            </a:pPr>
            <a:r>
              <a:rPr lang="ar-SA" altLang="en-US" sz="2050" b="1" dirty="0">
                <a:solidFill>
                  <a:srgbClr val="0E7C86"/>
                </a:solidFill>
                <a:latin typeface="Amiri" pitchFamily="2" charset="-78"/>
                <a:ea typeface="Amiri" pitchFamily="2" charset="-78"/>
                <a:cs typeface="Amiri" pitchFamily="2" charset="-78"/>
              </a:rPr>
              <a:t>حَتَّى</a:t>
            </a:r>
            <a:pPr rtl="1" algn="r" indent="0" marL="0">
              <a:buNone/>
            </a:pPr>
            <a:r>
              <a:rPr lang="ar-SA" altLang="en-US" sz="2050" b="1" dirty="0">
                <a:solidFill>
                  <a:srgbClr val="1B3B6F"/>
                </a:solidFill>
                <a:latin typeface="Amiri" pitchFamily="2" charset="-78"/>
                <a:cs typeface="Amiri" pitchFamily="2" charset="-78"/>
              </a:rPr>
              <a:t> </a:t>
            </a:r>
            <a:pPr rtl="1" algn="r" indent="0" marL="0">
              <a:buNone/>
            </a:pPr>
            <a:r>
              <a:rPr lang="ar-SA" altLang="en-US" sz="2050" b="1" dirty="0">
                <a:solidFill>
                  <a:srgbClr val="D6336C"/>
                </a:solidFill>
                <a:latin typeface="Amiri" pitchFamily="2" charset="-78"/>
                <a:ea typeface="Amiri" pitchFamily="2" charset="-78"/>
                <a:cs typeface="Amiri" pitchFamily="2" charset="-78"/>
              </a:rPr>
              <a:t>أُحَقِّقَ</a:t>
            </a:r>
            <a:pPr rtl="1" algn="r" indent="0" marL="0">
              <a:buNone/>
            </a:pPr>
            <a:r>
              <a:rPr lang="ar-SA" altLang="en-US" sz="2050" b="1" dirty="0">
                <a:solidFill>
                  <a:srgbClr val="1B3B6F"/>
                </a:solidFill>
                <a:latin typeface="Amiri" pitchFamily="2" charset="-78"/>
                <a:ea typeface="Amiri" pitchFamily="2" charset="-78"/>
                <a:cs typeface="Amiri" pitchFamily="2" charset="-78"/>
              </a:rPr>
              <a:t> هَدَفِي.</a:t>
            </a:r>
            <a:endParaRPr lang="ar-SA" sz="20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250" i="1" dirty="0">
                <a:solidFill>
                  <a:srgbClr val="5A6472"/>
                </a:solidFill>
                <a:latin typeface="Calibri" pitchFamily="34" charset="0"/>
                <a:cs typeface="Amiri" pitchFamily="2" charset="-78"/>
              </a:rPr>
              <a:t>I want to become an engineer, so I must study maths seriously. I train every day so that I improve, and I will not stop until I achieve my goal.</a:t>
            </a:r>
            <a:endParaRPr lang="en-US" sz="125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أُرِيدُ أَنْ أَعْمَلَ فِي الطِّبِّ.</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want to work in medicine.</a:t>
            </a:r>
            <a:endParaRPr lang="en-US" sz="1250" dirty="0"/>
          </a:p>
          <a:p>
            <a:pPr indent="0" marL="0">
              <a:buNone/>
            </a:pPr>
            <a:r>
              <a:rPr lang="en-US" sz="1050" i="1" dirty="0">
                <a:solidFill>
                  <a:srgbClr val="8A6D1E"/>
                </a:solidFill>
                <a:latin typeface="Calibri" pitchFamily="34" charset="0"/>
                <a:cs typeface="Amiri" pitchFamily="2" charset="-78"/>
              </a:rPr>
              <a:t>Want + an.</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يَجِبُ أَنْ نَحْمِيَ الْبِيئَةَ.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must protect the environment.</a:t>
            </a:r>
            <a:endParaRPr lang="en-US" sz="1250" dirty="0"/>
          </a:p>
          <a:p>
            <a:pPr indent="0" marL="0">
              <a:buNone/>
            </a:pPr>
            <a:r>
              <a:rPr lang="en-US" sz="1050" i="1" dirty="0">
                <a:solidFill>
                  <a:srgbClr val="8A6D1E"/>
                </a:solidFill>
                <a:latin typeface="Calibri" pitchFamily="34" charset="0"/>
                <a:cs typeface="Amiri" pitchFamily="2" charset="-78"/>
              </a:rPr>
              <a:t>Need; yāʾ + fatḥa.</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أَتَعَلَّمُ الْعَرَبِيَّةَ لِكَيْ أَتَوَاصَلَ مَعَ الْآخَرِينَ.</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learn Arabic so that I can communicate with others.</a:t>
            </a:r>
            <a:endParaRPr lang="en-US" sz="1250" dirty="0"/>
          </a:p>
          <a:p>
            <a:pPr indent="0" marL="0">
              <a:buNone/>
            </a:pPr>
            <a:r>
              <a:rPr lang="en-US" sz="1050" i="1" dirty="0">
                <a:solidFill>
                  <a:srgbClr val="8A6D1E"/>
                </a:solidFill>
                <a:latin typeface="Calibri" pitchFamily="34" charset="0"/>
                <a:cs typeface="Amiri" pitchFamily="2" charset="-78"/>
              </a:rPr>
              <a:t>Purpose.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سَأَنْتَظِرُ حَتَّى تَنْتَهِيَ الْحِصَّةُ.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will wait until the lesson ends.</a:t>
            </a:r>
            <a:endParaRPr lang="en-US" sz="1250" dirty="0"/>
          </a:p>
          <a:p>
            <a:pPr indent="0" marL="0">
              <a:buNone/>
            </a:pPr>
            <a:r>
              <a:rPr lang="en-US" sz="1050" i="1" dirty="0">
                <a:solidFill>
                  <a:srgbClr val="8A6D1E"/>
                </a:solidFill>
                <a:latin typeface="Calibri" pitchFamily="34" charset="0"/>
                <a:cs typeface="Amiri" pitchFamily="2" charset="-78"/>
              </a:rPr>
              <a:t>Endpoint.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THE TRANSFORMER (WEBSITE GAME)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Change the verb after the trigger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حَوِّلْ إِلَى الْمَنْصُوبِ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Change</a:t>
            </a:r>
            <a:endParaRPr lang="en-US" sz="1100" dirty="0"/>
          </a:p>
        </p:txBody>
      </p:sp>
      <p:sp>
        <p:nvSpPr>
          <p:cNvPr id="17" name="Text 14"/>
          <p:cNvSpPr txBox="1"/>
          <p:nvPr/>
        </p:nvSpPr>
        <p:spPr>
          <a:xfrm>
            <a:off x="674827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Subjunctive</a:t>
            </a:r>
            <a:endParaRPr lang="en-US" sz="1100" dirty="0"/>
          </a:p>
        </p:txBody>
      </p:sp>
      <p:sp>
        <p:nvSpPr>
          <p:cNvPr id="18" name="Text 15"/>
          <p:cNvSpPr txBox="1"/>
          <p:nvPr/>
        </p:nvSpPr>
        <p:spPr>
          <a:xfrm>
            <a:off x="41879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given</a:t>
            </a:r>
            <a:endParaRPr lang="en-US" sz="1100" dirty="0"/>
          </a:p>
        </p:txBody>
      </p:sp>
      <p:sp>
        <p:nvSpPr>
          <p:cNvPr id="19" name="Text 16"/>
          <p:cNvSpPr txBox="1"/>
          <p:nvPr/>
        </p:nvSpPr>
        <p:spPr>
          <a:xfrm>
            <a:off x="53035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9345168" y="2267712"/>
            <a:ext cx="23134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fatḥa</a:t>
            </a:r>
            <a:endParaRPr lang="en-US" sz="1100" dirty="0"/>
          </a:p>
        </p:txBody>
      </p:sp>
      <p:sp>
        <p:nvSpPr>
          <p:cNvPr id="22" name="Text 19"/>
          <p:cNvSpPr txBox="1"/>
          <p:nvPr/>
        </p:nvSpPr>
        <p:spPr>
          <a:xfrm>
            <a:off x="6766560" y="2267712"/>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أَدْرُسَ</a:t>
            </a:r>
            <a:endParaRPr lang="ar-SA" sz="2400" dirty="0"/>
          </a:p>
        </p:txBody>
      </p:sp>
      <p:sp>
        <p:nvSpPr>
          <p:cNvPr id="23" name="Text 20"/>
          <p:cNvSpPr txBox="1"/>
          <p:nvPr/>
        </p:nvSpPr>
        <p:spPr>
          <a:xfrm>
            <a:off x="4206240" y="2267712"/>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أَدْرُسُ</a:t>
            </a:r>
            <a:endParaRPr lang="ar-SA" sz="2400" dirty="0"/>
          </a:p>
        </p:txBody>
      </p:sp>
      <p:sp>
        <p:nvSpPr>
          <p:cNvPr id="24" name="Text 21"/>
          <p:cNvSpPr txBox="1"/>
          <p:nvPr/>
        </p:nvSpPr>
        <p:spPr>
          <a:xfrm>
            <a:off x="548640" y="2267712"/>
            <a:ext cx="34747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أُرِيدُ أَنْ …</a:t>
            </a:r>
            <a:endParaRPr lang="ar-SA" sz="22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9345168" y="2881884"/>
            <a:ext cx="23134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fatḥa</a:t>
            </a:r>
            <a:endParaRPr lang="en-US" sz="1100" dirty="0"/>
          </a:p>
        </p:txBody>
      </p:sp>
      <p:sp>
        <p:nvSpPr>
          <p:cNvPr id="29" name="Text 26"/>
          <p:cNvSpPr txBox="1"/>
          <p:nvPr/>
        </p:nvSpPr>
        <p:spPr>
          <a:xfrm>
            <a:off x="6766560" y="2881884"/>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أَنْجَحَ</a:t>
            </a:r>
            <a:endParaRPr lang="ar-SA" sz="2400" dirty="0"/>
          </a:p>
        </p:txBody>
      </p:sp>
      <p:sp>
        <p:nvSpPr>
          <p:cNvPr id="30" name="Text 27"/>
          <p:cNvSpPr txBox="1"/>
          <p:nvPr/>
        </p:nvSpPr>
        <p:spPr>
          <a:xfrm>
            <a:off x="4206240" y="2881884"/>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أَنْجَحُ</a:t>
            </a:r>
            <a:endParaRPr lang="ar-SA" sz="2400" dirty="0"/>
          </a:p>
        </p:txBody>
      </p:sp>
      <p:sp>
        <p:nvSpPr>
          <p:cNvPr id="31" name="Text 28"/>
          <p:cNvSpPr txBox="1"/>
          <p:nvPr/>
        </p:nvSpPr>
        <p:spPr>
          <a:xfrm>
            <a:off x="548640" y="2881884"/>
            <a:ext cx="34747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لِكَيْ …</a:t>
            </a:r>
            <a:endParaRPr lang="ar-SA" sz="22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9345168" y="3496056"/>
            <a:ext cx="23134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nūn drops</a:t>
            </a:r>
            <a:endParaRPr lang="en-US" sz="1100" dirty="0"/>
          </a:p>
        </p:txBody>
      </p:sp>
      <p:sp>
        <p:nvSpPr>
          <p:cNvPr id="36" name="Text 33"/>
          <p:cNvSpPr txBox="1"/>
          <p:nvPr/>
        </p:nvSpPr>
        <p:spPr>
          <a:xfrm>
            <a:off x="6766560" y="3496056"/>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تَكْتُبِي</a:t>
            </a:r>
            <a:endParaRPr lang="ar-SA" sz="2400" dirty="0"/>
          </a:p>
        </p:txBody>
      </p:sp>
      <p:sp>
        <p:nvSpPr>
          <p:cNvPr id="37" name="Text 34"/>
          <p:cNvSpPr txBox="1"/>
          <p:nvPr/>
        </p:nvSpPr>
        <p:spPr>
          <a:xfrm>
            <a:off x="4206240" y="3496056"/>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تَكْتُبِينَ</a:t>
            </a:r>
            <a:endParaRPr lang="ar-SA" sz="2400" dirty="0"/>
          </a:p>
        </p:txBody>
      </p:sp>
      <p:sp>
        <p:nvSpPr>
          <p:cNvPr id="38" name="Text 35"/>
          <p:cNvSpPr txBox="1"/>
          <p:nvPr/>
        </p:nvSpPr>
        <p:spPr>
          <a:xfrm>
            <a:off x="548640" y="3496056"/>
            <a:ext cx="34747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أُرِيدُكِ أَنْ …</a:t>
            </a:r>
            <a:endParaRPr lang="ar-SA" sz="22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9345168" y="4110228"/>
            <a:ext cx="23134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nūn drops</a:t>
            </a:r>
            <a:endParaRPr lang="en-US" sz="1100" dirty="0"/>
          </a:p>
        </p:txBody>
      </p:sp>
      <p:sp>
        <p:nvSpPr>
          <p:cNvPr id="41" name="Text 38"/>
          <p:cNvSpPr txBox="1"/>
          <p:nvPr/>
        </p:nvSpPr>
        <p:spPr>
          <a:xfrm>
            <a:off x="6766560" y="4110228"/>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يَصِلُوا</a:t>
            </a:r>
            <a:endParaRPr lang="ar-SA" sz="2400" dirty="0"/>
          </a:p>
        </p:txBody>
      </p:sp>
      <p:sp>
        <p:nvSpPr>
          <p:cNvPr id="42" name="Text 39"/>
          <p:cNvSpPr txBox="1"/>
          <p:nvPr/>
        </p:nvSpPr>
        <p:spPr>
          <a:xfrm>
            <a:off x="4206240" y="4110228"/>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يَصِلُونَ</a:t>
            </a:r>
            <a:endParaRPr lang="ar-SA" sz="2400" dirty="0"/>
          </a:p>
        </p:txBody>
      </p:sp>
      <p:sp>
        <p:nvSpPr>
          <p:cNvPr id="43" name="Text 40"/>
          <p:cNvSpPr txBox="1"/>
          <p:nvPr/>
        </p:nvSpPr>
        <p:spPr>
          <a:xfrm>
            <a:off x="548640" y="4110228"/>
            <a:ext cx="34747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أُرِيدُهُمْ أَنْ …</a:t>
            </a:r>
            <a:endParaRPr lang="ar-SA" sz="22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9345168" y="4724400"/>
            <a:ext cx="23134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yāʾ + fatḥa</a:t>
            </a:r>
            <a:endParaRPr lang="en-US" sz="1100" dirty="0"/>
          </a:p>
        </p:txBody>
      </p:sp>
      <p:sp>
        <p:nvSpPr>
          <p:cNvPr id="46" name="Text 43"/>
          <p:cNvSpPr txBox="1"/>
          <p:nvPr/>
        </p:nvSpPr>
        <p:spPr>
          <a:xfrm>
            <a:off x="6766560" y="4724400"/>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يَرْمِيَ</a:t>
            </a:r>
            <a:endParaRPr lang="ar-SA" sz="2400" dirty="0"/>
          </a:p>
        </p:txBody>
      </p:sp>
      <p:sp>
        <p:nvSpPr>
          <p:cNvPr id="47" name="Text 44"/>
          <p:cNvSpPr txBox="1"/>
          <p:nvPr/>
        </p:nvSpPr>
        <p:spPr>
          <a:xfrm>
            <a:off x="4206240" y="4724400"/>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يَرْمِي</a:t>
            </a:r>
            <a:endParaRPr lang="ar-SA" sz="2400" dirty="0"/>
          </a:p>
        </p:txBody>
      </p:sp>
      <p:sp>
        <p:nvSpPr>
          <p:cNvPr id="48" name="Text 45"/>
          <p:cNvSpPr txBox="1"/>
          <p:nvPr/>
        </p:nvSpPr>
        <p:spPr>
          <a:xfrm>
            <a:off x="548640" y="4724400"/>
            <a:ext cx="34747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لَنْ …</a:t>
            </a:r>
            <a:endParaRPr lang="ar-SA" sz="220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9345168" y="5338572"/>
            <a:ext cx="23134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fatḥa</a:t>
            </a:r>
            <a:endParaRPr lang="en-US" sz="1100" dirty="0"/>
          </a:p>
        </p:txBody>
      </p:sp>
      <p:sp>
        <p:nvSpPr>
          <p:cNvPr id="51" name="Text 48"/>
          <p:cNvSpPr txBox="1"/>
          <p:nvPr/>
        </p:nvSpPr>
        <p:spPr>
          <a:xfrm>
            <a:off x="6766560" y="5338572"/>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يَصِلَ</a:t>
            </a:r>
            <a:endParaRPr lang="ar-SA" sz="2400" dirty="0"/>
          </a:p>
        </p:txBody>
      </p:sp>
      <p:sp>
        <p:nvSpPr>
          <p:cNvPr id="52" name="Text 49"/>
          <p:cNvSpPr txBox="1"/>
          <p:nvPr/>
        </p:nvSpPr>
        <p:spPr>
          <a:xfrm>
            <a:off x="4206240" y="5338572"/>
            <a:ext cx="237744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يَصِلُ</a:t>
            </a:r>
            <a:endParaRPr lang="ar-SA" sz="2400" dirty="0"/>
          </a:p>
        </p:txBody>
      </p:sp>
      <p:sp>
        <p:nvSpPr>
          <p:cNvPr id="53" name="Text 50"/>
          <p:cNvSpPr txBox="1"/>
          <p:nvPr/>
        </p:nvSpPr>
        <p:spPr>
          <a:xfrm>
            <a:off x="548640" y="5338572"/>
            <a:ext cx="34747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حَتَّى … الْقِطَارُ</a:t>
            </a:r>
            <a:endParaRPr lang="ar-SA" sz="2200" dirty="0"/>
          </a:p>
        </p:txBody>
      </p:sp>
      <p:sp>
        <p:nvSpPr>
          <p:cNvPr id="54" name="Text 5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transformer: change indicative forms into accurate subjunctives.</a:t>
            </a:r>
            <a:endParaRPr lang="en-US" sz="11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SUBJUNCTIVE OR JUSSIVE?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Keep the letter, or drop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مَنْصُوبٌ أَمْ مَجْزُومٌ؟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يَرْمِيَ</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 يَدْعُوَ</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يَمْشِيَ</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 تَكْتُبَ</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 يَرْمِ</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 يَدْعُ</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 يَمْشِ</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تَكْتُبْ</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Subjunctive (an / lan)</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Jussive (lam / lā)</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Subjunctive (an / lan)</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يَرْمِيَ</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 يَدْعُوَ</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لَنْ يَمْشِيَ</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 تَكْتُبَ</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Jussive (lam / lā)</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 يَرْمِ</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 يَدْعُ</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لَمْ يَمْشِ</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تَكْتُبْ</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أُرِيدُ أَنْ أَدْرُسُ</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Ḍamma after an?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أُرِيدُكِ أَنْ تَكْتُبِينَ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Nūn after an?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لَنْ يَمْشِ</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Lan or lam pattern?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أُرِيدُ أَنْ أَدْرُسُ</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أُرِيدُ أَنْ أَدْرُسَ</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an, the singular takes fatḥa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أُرِيدُكِ أَنْ تَكْتُبِينَ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أُرِيدُكِ أَنْ تَكْتُبِي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five-verb nūn drops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لَنْ يَمْشِ</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لَنْ يَمْشِيَ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subjunctive keeps the yāʾ; the jussive drops it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20" b="1" spc="150" kern="0" dirty="0">
                <a:solidFill>
                  <a:srgbClr val="2F6FB0"/>
                </a:solidFill>
                <a:latin typeface="Calibri" pitchFamily="34" charset="0"/>
                <a:cs typeface="Amiri" pitchFamily="2" charset="-78"/>
              </a:rPr>
              <a:t>WE DO · GUIDED PRACTICE · WEBSITE FIVE-VERB, WEAK SUBJUNCTIVE AND FUNCTIONAL CHECKS</a:t>
            </a:r>
            <a:endParaRPr lang="en-US" sz="82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want the two students to arrive”.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الطَّالِبَيْنِ أَنْ يَصِلَانِ.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الطَّالِبَيْنِ أَنْ وَصَلَا.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الطَّالِبَيْنِ أَنْ يَصِلَا.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will not throw”.</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يَرْمِ.</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يَرْمِيَ.</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 يَرْمِيَ.</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want to see”.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أَنْ أَرَ.</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أَنْ أَرَى.</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أَنْ رَأَيْتُ.</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expresses purpose?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أُوَفِّرُ الْمَالَ لِكَيْ أُسَافِرُ.</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أُوَفِّرُ الْمَالَ لِكَيْ سَافَرْتُ.</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أُوَفِّرُ الْمَالَ لِكَيْ أُسَافِرَ.</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want the two students to arrive”.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أُرِيدُ الطَّالِبَيْنِ أَنْ يَصِلَانِ.</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أُرِيدُ الطَّالِبَيْنِ أَنْ وَصَلَا.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أُرِيدُ الطَّالِبَيْنِ أَنْ يَصِلَا.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dual nūn drops.</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will not throw”.</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 يَرْمِ.</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لَنْ يَرْمِيَ.</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لَمْ يَرْمِيَ.</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subjunctive keeps the yāʾ.</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want to see”.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أُرِيدُ أَنْ أَرَ.</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أُرِيدُ أَنْ أَرَى.</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أُرِيدُ أَنْ رَأَيْتُ.</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Final alif stays: an arā.</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expresses purpose?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أُوَفِّرُ الْمَالَ لِكَيْ أُسَافِرُ.</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أُوَفِّرُ الْمَالَ لِكَيْ سَافَرْتُ.</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أُوَفِّرُ الْمَالَ لِكَيْ أُسَافِرَ.</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Li-kay usāfira.</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88" b="1" spc="150" kern="0" dirty="0">
                <a:solidFill>
                  <a:srgbClr val="1E6B52"/>
                </a:solidFill>
                <a:latin typeface="Calibri" pitchFamily="34" charset="0"/>
                <a:cs typeface="Amiri" pitchFamily="2" charset="-78"/>
              </a:rPr>
              <a:t>YOU DO · READ AND NOTICE · WEBSITE READING WORKSHOP (TEACHER-WRITTEN PROFILES)</a:t>
            </a:r>
            <a:endParaRPr lang="en-US" sz="88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Ambition profiles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خَدِيجَةُ: أَطْمَحُ إِلَى أَنْ أُصْبِحَ طَبِيبَةً، وَلِذَلِكَ أَدْرُسُ الْعُلُومَ لِكَيْ أَفْهَمَ جِسْمَ الْإِنْسَانِ. حَمْزَةُ: يُحِبُّ أَصْدِقَائِي أَنْ يَلْعَبُوا كُرَةَ الْقَدَمِ، أَمَّا أَنَا فَأُرِيدُ أَنْ أَكْتُبَ قِصَصًا. لَنْ أَتَوَقَّفَ حَتَّى أَنْشُرَ كِتَابِي الْأَوَّلَ. الْمُعَلِّمَةُ: يَجِبُ أَنْ تَسْعَوْا إِلَى أَهْدَافِكُمْ، وَلَا تَنْسَوْا أَنْ تَرْتَاحُوا!</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أَطْمَحُ إِلَى</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aspire to</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جِسْمَ الْإِنْسَانِ</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human body</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أَنْشُرَ</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publish</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تَسْعَوْا</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strive (pl.)</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تَرْتَاحُوا</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rest (pl.)</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Khadīja study science?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write stories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understand the human body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play football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governs anshura?</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حَتَّى</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an yalʿabū, not yalʿabūna?</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nūn drops after an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past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feminine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teacher remind the class not to forget?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publish a book</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rest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study science</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Khadīja study science?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write stories</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understand the human body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play football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Li-kay afhama.</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governs anshura?</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لَنْ</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حَتَّى</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Ḥattā anshura — until I publish.</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an yalʿabū, not yalʿabūna?</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nūn drops after an</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past</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feminine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Five-verb form.</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teacher remind the class not to forget?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publish a book</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rest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study science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 tartāḥū.</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my goal in one minute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تُرِيدُ أَنْ تَفْعَلَ فِي الْمُسْتَقْبَلِ؟</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لِمَاذَا تَتَعَلَّمُ الْعَرَبِيَّةَ؟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هَدَفُكَ، وَمَاذَا يَجِبُ أَنْ تَفْعَلَ لِكَيْ تُحَقِّقَهُ؟</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أُرِيدُ أَنْ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أَتَعَلَّمُ الْعَرَبِيَّةَ لِكَيْ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يَجِبُ أَنْ ___ ، وَلَنْ ___ حَتَّى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هَدَفُكِ فِي الْحَيَاةِ؟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your goal in life?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أُرِيدُ أَنْ أُصْبِحَ مُعَلِّمَةً لِكَيْ أُسَاعِدَ الْأَطْفَالَ. يَجِبُ أَنْ أَدْرُسَ كَثِيرًا، وَلَنْ أَسْتَسْلِمَ حَتَّى أَنْجَحَ.</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want to become a teacher so that I can help children. I must study a lot, and I will not give up until I succeed.</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What I want to do.</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urīdu an + fatḥa.</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purpose and what my friends want.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li-kay; an yaktubū.</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130–140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ambition task.</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Four triggers, two five-verb forms, one weak verb.</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أَدْرُسُ لِكَيْ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study so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يُرِيدُ أَصْدِقَائِي 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friends want to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سَأَنْتَظِرُ حَتَّى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wait until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الْمُهِمِّ 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important to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want to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أَنْ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to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not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must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أَدْرُسَ  ·  أَعْمَلَ  ·  أُصْبِحَ  ·  أُسَافِرَ  ·  أَنْجَحَ  ·  أَتَحَسَّنَ  ·  أَتَوَقَّفَ  ·  يَكْتُبُوا  ·  تَكْتُبِي  ·  نَحْمِيَ  ·  أَرَى  ·  يَصِلَ</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integrated production task: 130–140 words about your ambitions and how you will achieve them.</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different triggers.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Intention, necessity, purpose, lan and an endpoint.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five-verb forms with the nūn dropped.</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weak verb in the subjunctive.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checked ending after every trigger.</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أَطْمَحُ إِلَى أَنْ</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aspire to</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أُخَطِّطُ لِأَنْ</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plan to</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الْمُهِمِّ أَنْ</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important to</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لِكَيْ</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so that</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حَتَّى أُحَقِّقَ</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until I achieve</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أَسْتَسْلِمَ</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not give up</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أَطْمَحُ إِلَى أَنْ أُصْبِحَ صَحَفِيًّا، لِأَنَّنِي أُحِبُّ أَنْ أَكْتُبَ عَنِ النَّاسِ. يَجِبُ أَنْ أُحَسِّنَ لُغَتِي، فَأَقْرَأُ الصُّحُفَ كُلَّ يَوْمٍ لِكَيْ أَتَعَلَّمَ كَلِمَاتٍ جَدِيدَةً. يُرِيدُ وَالِدَايَ أَنْ أَدْرُسَ الطِّبَّ، وَلَكِنَّهُمَا يُرِيدَانِ أَنْ أَكُونَ سَعِيدًا. أَطْلُبُ مِنْ أَصْدِقَائِي أَنْ يَقْرَؤُوا مَقَالَاتِي وَأَنْ يُعْطُونِي رَأْيَهُمْ. لَنْ أَنْسَى أَنْ أَسْعَى إِلَى الْحَقِيقَةِ، وَلَنْ أَتَوَقَّفَ حَتَّى أَنْشُرَ أَوَّلَ تَقْرِيرٍ لِي.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aspire to become a journalist, because I love writing about people. I must improve my language, so I read newspapers every day in order to learn new words. My parents want me to study medicine, but they want me to be happy. I ask my friends to read my articles and to give me their opinion. I will not forget to pursue the truth, and I will not stop until I publish my first report.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 fatḥa</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nūn dropped</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li-kay</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lan / ḥattā</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an and lan my singular verbs end in fatḥa.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least two triggers.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dropped the nūn of the five verbs.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did not change the feminine plural -na.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weak verbs keep their last letter.</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“They …” after 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 يَكْتُبُوا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 يَكْتُبُونَ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 يَكْتُبْنَ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Feminine plural after 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 يَكْتُبِي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 يَكْتُبْنَ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 يَكْتُبُوا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Final-wāw verb after lan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يَدْعُوَ</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لَنْ يَدْعُ</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لَمْ يَدْعُوَ</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“They …” after an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أَنْ يَكْتُبُوا</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أَنْ يَكْتُبُونَ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أَنْ يَكْتُبْنَ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nūn drops: an yaktubū.</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Feminine plural after an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أَنْ يَكْتُبِي</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أَنْ يَكْتُبْنَ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أَنْ يَكْتُبُوا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form stays: an yaktubna.</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Final-wāw verb after lan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لَنْ يَدْعُوَ</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لَنْ يَدْعُ</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لَمْ يَدْعُوَ</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subjunctive keeps the wāw: lan yadʿuwa.</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GM-V-10 · Verbs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Before GM-V-11: get ready at home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GM-V-10</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GM-V-11 · Passive Voice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كُتِبَ</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was written</a:t>
            </a:r>
            <a:pPr indent="0" marL="0">
              <a:buNone/>
            </a:pPr>
            <a:r>
              <a:rPr lang="ar-SA" sz="1000" i="1" dirty="0">
                <a:solidFill>
                  <a:srgbClr val="5A6472"/>
                </a:solidFill>
                <a:latin typeface="Calibri" pitchFamily="34" charset="0"/>
                <a:ea typeface="Amiri" pitchFamily="2" charset="-78"/>
                <a:cs typeface="Amiri" pitchFamily="2" charset="-78"/>
              </a:rPr>
              <a:t>  كُتِبَ الدَّرْسُ</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يُكْتَبُ</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is written</a:t>
            </a:r>
            <a:pPr indent="0" marL="0">
              <a:buNone/>
            </a:pPr>
            <a:r>
              <a:rPr lang="ar-SA" sz="1000" i="1" dirty="0">
                <a:solidFill>
                  <a:srgbClr val="5A6472"/>
                </a:solidFill>
                <a:latin typeface="Calibri" pitchFamily="34" charset="0"/>
                <a:ea typeface="Amiri" pitchFamily="2" charset="-78"/>
                <a:cs typeface="Amiri" pitchFamily="2" charset="-78"/>
              </a:rPr>
              <a:t>  يُكْتَبُ الدَّرْسُ</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صُنِعَ</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was made</a:t>
            </a:r>
            <a:pPr indent="0" marL="0">
              <a:buNone/>
            </a:pPr>
            <a:r>
              <a:rPr lang="ar-SA" sz="1000" i="1" dirty="0">
                <a:solidFill>
                  <a:srgbClr val="5A6472"/>
                </a:solidFill>
                <a:latin typeface="Calibri" pitchFamily="34" charset="0"/>
                <a:ea typeface="Amiri" pitchFamily="2" charset="-78"/>
                <a:cs typeface="Amiri" pitchFamily="2" charset="-78"/>
              </a:rPr>
              <a:t>  صُنِعَ فِي الصِّينِ</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يُقَالُ</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it is said</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الْفَاعِلُ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doer (subject)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Kataba = he wrote. Kutiba = it was written. What changed in the vowels?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كَتَبَ ←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sentences with urīdu an and lan.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Rewrite five sentences for they and you (f.), dropping the nūn.</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ambition task (130–140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GM-V-10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GM-V-11 · Passive Voice</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الْمَبْنِيُّ لِلْمَجْهُولِ فِي الْمَاضِي وَالْمُضَارِعِ</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an · lan · li-kay · ḥattā → subjunctive · ḍamma → fatḥa · five verbs drop the nūn · -na stays · weak verbs keep their letter (lan yarmiya, not lan yarmi).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GM-V-10 · Subjunctive</dc:title>
  <dc:subject>PptxGenJS Presentation</dc:subject>
  <dc:creator>Al Madina Online School · Arabic Department</dc:creator>
  <cp:lastModifiedBy>Al Madina Online School · Arabic Department</cp:lastModifiedBy>
  <cp:revision>1</cp:revision>
  <dcterms:created xsi:type="dcterms:W3CDTF">2026-10-11T06:42:38Z</dcterms:created>
  <dcterms:modified xsi:type="dcterms:W3CDTF">2026-10-11T06:42:38Z</dcterms:modified>
</cp:coreProperties>
</file>