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GM-V-12 (“Verbal Nouns and Active/Passive Participles”).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k-t-b family كِتَابَةٌ · كَاتِبٌ · مَكْتُوبٌ and the patterns فَاعِلٌ / مَفْعُولٌ (لَاعِبٌ · مَكْسُورٌ · مَفْتُوحٌ). Develop: agreement (رِسَالَةٌ مَكْتُوبَةٌ · الْكُتُبُ مَوْجُودَةٌ) and maṣdars in phrases (أُحِبُّ الْقِرَاءَةَ). Stretch: derived families — تَعَلُّمٌ · مُتَعَلِّمٌ · اِسْتِعْمَالٌ · مُسْتَعْمِلٌ · مُسْتَعْمَلٌ.
• Website caution: Form I maṣdars are NOT predictable — store each verb with its maṣdar (زَارَ · يَزُورُ · زِيَارَةٌ).
• Stretch shortcut for derived forms: mu- … kasra = the doer (mustaʿmil); mu- … fatḥa = the thing affected (mustaʿmal). Links straight into the Verb Forms unit (GM-VF).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the GM-V-11 prep words kitāba, kātib, maktūb, dirāsa and madrūs.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root, three jobs: action (maṣdar) · doer (fāʿil) · affected (mafʿūl).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“Verbal nouns: naming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“Active participles” and “Passive participles”.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“Derived forms” (examples chosen from the website patterns II, III, V, VIII, X). Full detail in GM-VF.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Verbal Noun, Active and Passive Participle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Website routine: circle maṣdars, underline active participles, box passive participles.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quiz items arranged as families. Cover one column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classification game. Students type 1, 2 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classification game. Students type 1, 2 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Verbal Noun, Participle and Derived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profile). Read it aloud once while students follow; then they hunt for today’s grammar.
Task: Website: classify every nominal derivative as action, doer or affected state.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profile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yourself as a learner using verbal nouns and participles. Listening (website): kitāba / kātib / maktūb — which meaning is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130–140 words about learning, reading, sport or technology. Use at least four verbal nouns, four active participles and four passive participles.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(GM-VF-00 · What Are Arabic Verb Forms?) will spend class time USING this language, so students prepare it tonight — short, simple, easy to access (school guidance: “Simple, Short, Interesting, Relevant, Easy to access”). The five words prepare GM-VF-00 (website Verb Forms: what are Arabic verb forms?).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50" b="1" dirty="0">
                <a:solidFill>
                  <a:srgbClr val="FFFFFF"/>
                </a:solidFill>
                <a:latin typeface="Cambria" pitchFamily="34" charset="0"/>
                <a:cs typeface="Amiri" pitchFamily="2" charset="-78"/>
              </a:rPr>
              <a:t>Verbal Nouns and Participles</a:t>
            </a:r>
            <a:endParaRPr lang="en-US" sz="3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الْمَصْدَرُ وَاسْمُ الْفَاعِلِ وَاسْمُ الْمَفْعُولِ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One root, three nouns: the ACTION (kitāba — writing), the DOER (kātib — writer), the AFFECTED thing (maktūb — written). Participles agree like adjectives.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GM-V-12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Maṣdar; active participle; passive participle; derived families.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the family; sort action / doer / affected;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participle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participle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زَائِرٌ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مَزُورٌ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زِيَارَةٌ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participle “player”.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لَاعِبٌ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مَلْعُوبٌ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مَكْتُوبٌ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Kitāba names the action of writing.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participle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كَاتِبٌ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مَكْتُوبٌ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Kātib identifies the doer: writer.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participle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مَكْتُوبٌ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Maktūb describes what has been written.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زَائِرٌ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مَزُورٌ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زِيَارَةٌ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Ziyāra is the action noun “visit / visiting”.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participle “player”.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لَاعِبٌ</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مَلْعُوبٌ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 I active participle follows fāʿil: lāʿib.</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root, three jobs: action (maṣdar) · doer (fāʿil) · affected (mafʿūl).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كِتَابَةٌ</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كَاتِبٌ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مَكْتُوبٌ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an action with a verbal noun.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or describe the doer with an active participle.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the affected thing with a passive participle.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participles agree like adjectives.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tell kitāba, kātib and maktūb apart.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make fāʿil and mafʿūl from a Form I verb.</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participles agree: risāla maktūba.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maṣdars: uḥibbu l-qirāʾa.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derived families: mutaʿallim, mustaʿmal.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spot mu- + kasra vs mu- + fatḥa.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الْمَصْدَرُ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verbal noun (the action)</a:t>
            </a:r>
            <a:endParaRPr lang="en-US" sz="1350" dirty="0"/>
          </a:p>
          <a:p>
            <a:pPr indent="0" marL="0">
              <a:buNone/>
            </a:pPr>
            <a:r>
              <a:rPr lang="en-US" sz="1100" i="1" dirty="0">
                <a:solidFill>
                  <a:srgbClr val="5A6472"/>
                </a:solidFill>
                <a:latin typeface="Calibri" pitchFamily="34" charset="0"/>
                <a:cs typeface="Amiri" pitchFamily="2" charset="-78"/>
              </a:rPr>
              <a:t>al-maṣ-da-ru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الْفَاعِلِ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participle (the doer)</a:t>
            </a:r>
            <a:endParaRPr lang="en-US" sz="1350" dirty="0"/>
          </a:p>
          <a:p>
            <a:pPr indent="0" marL="0">
              <a:buNone/>
            </a:pPr>
            <a:r>
              <a:rPr lang="en-US" sz="1100" i="1" dirty="0">
                <a:solidFill>
                  <a:srgbClr val="5A6472"/>
                </a:solidFill>
                <a:latin typeface="Calibri" pitchFamily="34" charset="0"/>
                <a:cs typeface="Amiri" pitchFamily="2" charset="-78"/>
              </a:rPr>
              <a:t>as-mu al-fā-ʿi-li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كَاتِبٌ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الْمَفْعُولِ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passive participle (affected)</a:t>
            </a:r>
            <a:endParaRPr lang="en-US" sz="1350" dirty="0"/>
          </a:p>
          <a:p>
            <a:pPr indent="0" marL="0">
              <a:buNone/>
            </a:pPr>
            <a:r>
              <a:rPr lang="en-US" sz="1100" i="1" dirty="0">
                <a:solidFill>
                  <a:srgbClr val="5A6472"/>
                </a:solidFill>
                <a:latin typeface="Calibri" pitchFamily="34" charset="0"/>
                <a:cs typeface="Amiri" pitchFamily="2" charset="-78"/>
              </a:rPr>
              <a:t>as-mu al-maf-ʿū-li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مَكْتُوبٌ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الْجَذْرُ</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root</a:t>
            </a:r>
            <a:endParaRPr lang="en-US" sz="1350" dirty="0"/>
          </a:p>
          <a:p>
            <a:pPr indent="0" marL="0">
              <a:buNone/>
            </a:pPr>
            <a:r>
              <a:rPr lang="en-US" sz="1100" i="1" dirty="0">
                <a:solidFill>
                  <a:srgbClr val="5A6472"/>
                </a:solidFill>
                <a:latin typeface="Calibri" pitchFamily="34" charset="0"/>
                <a:cs typeface="Amiri" pitchFamily="2" charset="-78"/>
              </a:rPr>
              <a:t>al-jadh-ru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 ت 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doer pattern (Form I)</a:t>
            </a:r>
            <a:endParaRPr lang="en-US" sz="1350" dirty="0"/>
          </a:p>
          <a:p>
            <a:pPr indent="0" marL="0">
              <a:buNone/>
            </a:pPr>
            <a:r>
              <a:rPr lang="en-US" sz="1100" i="1" dirty="0">
                <a:solidFill>
                  <a:srgbClr val="5A6472"/>
                </a:solidFill>
                <a:latin typeface="Calibri" pitchFamily="34" charset="0"/>
                <a:cs typeface="Amiri" pitchFamily="2" charset="-78"/>
              </a:rPr>
              <a:t>fā-ʿi-lun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لَاعِبٌ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مَفْعُولٌ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affected pattern (Form I)</a:t>
            </a:r>
            <a:endParaRPr lang="en-US" sz="1350" dirty="0"/>
          </a:p>
          <a:p>
            <a:pPr indent="0" marL="0">
              <a:buNone/>
            </a:pPr>
            <a:r>
              <a:rPr lang="en-US" sz="1100" i="1" dirty="0">
                <a:solidFill>
                  <a:srgbClr val="5A6472"/>
                </a:solidFill>
                <a:latin typeface="Calibri" pitchFamily="34" charset="0"/>
                <a:cs typeface="Amiri" pitchFamily="2" charset="-78"/>
              </a:rPr>
              <a:t>maf-ʿū-lun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مَكْسُورٌ</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VERBAL NOUNS: NAMING THE ACTION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maṣdar names the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الْمَصْدَرُ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phrase (website)</a:t>
            </a:r>
            <a:endParaRPr lang="en-US" sz="1100" dirty="0"/>
          </a:p>
        </p:txBody>
      </p:sp>
      <p:sp>
        <p:nvSpPr>
          <p:cNvPr id="17" name="Text 14"/>
          <p:cNvSpPr txBox="1"/>
          <p:nvPr/>
        </p:nvSpPr>
        <p:spPr>
          <a:xfrm>
            <a:off x="345643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35040" y="2267712"/>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الْكِتَابَةَ.</a:t>
            </a:r>
            <a:endParaRPr lang="ar-SA" sz="2200" dirty="0"/>
          </a:p>
        </p:txBody>
      </p:sp>
      <p:sp>
        <p:nvSpPr>
          <p:cNvPr id="21" name="Text 18"/>
          <p:cNvSpPr txBox="1"/>
          <p:nvPr/>
        </p:nvSpPr>
        <p:spPr>
          <a:xfrm>
            <a:off x="3474720" y="2267712"/>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كِتَابَةٌ</a:t>
            </a:r>
            <a:endParaRPr lang="ar-SA" sz="2600" dirty="0"/>
          </a:p>
        </p:txBody>
      </p:sp>
      <p:sp>
        <p:nvSpPr>
          <p:cNvPr id="22" name="Text 19"/>
          <p:cNvSpPr txBox="1"/>
          <p:nvPr/>
        </p:nvSpPr>
        <p:spPr>
          <a:xfrm>
            <a:off x="548640"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 يَكْتُبُ</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35040" y="3004718"/>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الْقِرَاءَةُ مُفِيدَةٌ.</a:t>
            </a:r>
            <a:endParaRPr lang="ar-SA" sz="2200" dirty="0"/>
          </a:p>
        </p:txBody>
      </p:sp>
      <p:sp>
        <p:nvSpPr>
          <p:cNvPr id="27" name="Text 24"/>
          <p:cNvSpPr txBox="1"/>
          <p:nvPr/>
        </p:nvSpPr>
        <p:spPr>
          <a:xfrm>
            <a:off x="3474720" y="3004718"/>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قِرَاءَةٌ</a:t>
            </a:r>
            <a:endParaRPr lang="ar-SA" sz="2600" dirty="0"/>
          </a:p>
        </p:txBody>
      </p:sp>
      <p:sp>
        <p:nvSpPr>
          <p:cNvPr id="28" name="Text 25"/>
          <p:cNvSpPr txBox="1"/>
          <p:nvPr/>
        </p:nvSpPr>
        <p:spPr>
          <a:xfrm>
            <a:off x="548640"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 · يَقْرَأُ</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35040" y="3741725"/>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بَعْدَ دِرَاسَةِ النَّصِّ …</a:t>
            </a:r>
            <a:endParaRPr lang="ar-SA" sz="2200" dirty="0"/>
          </a:p>
        </p:txBody>
      </p:sp>
      <p:sp>
        <p:nvSpPr>
          <p:cNvPr id="33" name="Text 30"/>
          <p:cNvSpPr txBox="1"/>
          <p:nvPr/>
        </p:nvSpPr>
        <p:spPr>
          <a:xfrm>
            <a:off x="3474720" y="3741725"/>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دِرَاسَةٌ</a:t>
            </a:r>
            <a:endParaRPr lang="ar-SA" sz="2600" dirty="0"/>
          </a:p>
        </p:txBody>
      </p:sp>
      <p:sp>
        <p:nvSpPr>
          <p:cNvPr id="34" name="Text 31"/>
          <p:cNvSpPr txBox="1"/>
          <p:nvPr/>
        </p:nvSpPr>
        <p:spPr>
          <a:xfrm>
            <a:off x="548640"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 · يَدْرُسُ</a:t>
            </a:r>
            <a:endParaRPr lang="ar-SA" sz="24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035040" y="4478731"/>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أَسْتَمْتِعُ بِالسَّفَرِ.</a:t>
            </a:r>
            <a:endParaRPr lang="ar-SA" sz="2200" dirty="0"/>
          </a:p>
        </p:txBody>
      </p:sp>
      <p:sp>
        <p:nvSpPr>
          <p:cNvPr id="37" name="Text 34"/>
          <p:cNvSpPr txBox="1"/>
          <p:nvPr/>
        </p:nvSpPr>
        <p:spPr>
          <a:xfrm>
            <a:off x="3474720" y="4478731"/>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سَفَرٌ</a:t>
            </a:r>
            <a:endParaRPr lang="ar-SA" sz="2600" dirty="0"/>
          </a:p>
        </p:txBody>
      </p:sp>
      <p:sp>
        <p:nvSpPr>
          <p:cNvPr id="38" name="Text 35"/>
          <p:cNvSpPr txBox="1"/>
          <p:nvPr/>
        </p:nvSpPr>
        <p:spPr>
          <a:xfrm>
            <a:off x="548640"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 · يُسَافِرُ</a:t>
            </a:r>
            <a:endParaRPr lang="ar-SA" sz="24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035040" y="5215738"/>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قُمْنَا بِزِيَارَةِ الْمَتْحَفِ.</a:t>
            </a:r>
            <a:endParaRPr lang="ar-SA" sz="2200" dirty="0"/>
          </a:p>
        </p:txBody>
      </p:sp>
      <p:sp>
        <p:nvSpPr>
          <p:cNvPr id="41" name="Text 38"/>
          <p:cNvSpPr txBox="1"/>
          <p:nvPr/>
        </p:nvSpPr>
        <p:spPr>
          <a:xfrm>
            <a:off x="3474720" y="5215738"/>
            <a:ext cx="23774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زِيَارَةٌ</a:t>
            </a:r>
            <a:endParaRPr lang="ar-SA" sz="2600" dirty="0"/>
          </a:p>
        </p:txBody>
      </p:sp>
      <p:sp>
        <p:nvSpPr>
          <p:cNvPr id="42" name="Text 39"/>
          <p:cNvSpPr txBox="1"/>
          <p:nvPr/>
        </p:nvSpPr>
        <p:spPr>
          <a:xfrm>
            <a:off x="548640"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زَارَ · يَزُورُ</a:t>
            </a:r>
            <a:endParaRPr lang="ar-SA" sz="24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caution: Form I verbal nouns are often unpredictable — learn kataba / kitāba, qaraʾa / qirāʾa, zāra / ziyāra as pairs. A maṣdar can be a subject, an object or part of an iḍāfa.</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ACTIVE AND PASSIVE PARTICIPLES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doer — and the thing done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 الْفَاعِلِ وَاسْمُ الْمَفْعُولِ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56509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Affected · mafʿūl</a:t>
            </a:r>
            <a:endParaRPr lang="en-US" sz="1100" dirty="0"/>
          </a:p>
        </p:txBody>
      </p:sp>
      <p:sp>
        <p:nvSpPr>
          <p:cNvPr id="18" name="Text 15"/>
          <p:cNvSpPr txBox="1"/>
          <p:nvPr/>
        </p:nvSpPr>
        <p:spPr>
          <a:xfrm>
            <a:off x="25420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 · fāʿil</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595360" y="2267712"/>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رِسَالَةٌ مَكْتُوبَةٌ</a:t>
            </a:r>
            <a:endParaRPr lang="ar-SA" sz="2000" dirty="0"/>
          </a:p>
        </p:txBody>
      </p:sp>
      <p:sp>
        <p:nvSpPr>
          <p:cNvPr id="22" name="Text 19"/>
          <p:cNvSpPr txBox="1"/>
          <p:nvPr/>
        </p:nvSpPr>
        <p:spPr>
          <a:xfrm>
            <a:off x="566928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مَكْتُوبٌ</a:t>
            </a:r>
            <a:endParaRPr lang="ar-SA" sz="2400" dirty="0"/>
          </a:p>
        </p:txBody>
      </p:sp>
      <p:sp>
        <p:nvSpPr>
          <p:cNvPr id="23" name="Text 20"/>
          <p:cNvSpPr txBox="1"/>
          <p:nvPr/>
        </p:nvSpPr>
        <p:spPr>
          <a:xfrm>
            <a:off x="256032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كَاتِبٌ · كَاتِبَةٌ</a:t>
            </a:r>
            <a:endParaRPr lang="ar-SA" sz="2400" dirty="0"/>
          </a:p>
        </p:txBody>
      </p:sp>
      <p:sp>
        <p:nvSpPr>
          <p:cNvPr id="24" name="Text 21"/>
          <p:cNvSpPr txBox="1"/>
          <p:nvPr/>
        </p:nvSpPr>
        <p:spPr>
          <a:xfrm>
            <a:off x="548640" y="226771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595360" y="2881884"/>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لَاعِبَةٌ مَاهِرَةٌ</a:t>
            </a:r>
            <a:endParaRPr lang="ar-SA" sz="2000" dirty="0"/>
          </a:p>
        </p:txBody>
      </p:sp>
      <p:sp>
        <p:nvSpPr>
          <p:cNvPr id="29" name="Text 26"/>
          <p:cNvSpPr txBox="1"/>
          <p:nvPr/>
        </p:nvSpPr>
        <p:spPr>
          <a:xfrm>
            <a:off x="566928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مَلْعُوبٌ</a:t>
            </a:r>
            <a:endParaRPr lang="ar-SA" sz="2400" dirty="0"/>
          </a:p>
        </p:txBody>
      </p:sp>
      <p:sp>
        <p:nvSpPr>
          <p:cNvPr id="30" name="Text 27"/>
          <p:cNvSpPr txBox="1"/>
          <p:nvPr/>
        </p:nvSpPr>
        <p:spPr>
          <a:xfrm>
            <a:off x="256032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لَاعِبٌ · لَاعِبَةٌ</a:t>
            </a:r>
            <a:endParaRPr lang="ar-SA" sz="2400" dirty="0"/>
          </a:p>
        </p:txBody>
      </p:sp>
      <p:sp>
        <p:nvSpPr>
          <p:cNvPr id="31" name="Text 28"/>
          <p:cNvSpPr txBox="1"/>
          <p:nvPr/>
        </p:nvSpPr>
        <p:spPr>
          <a:xfrm>
            <a:off x="548640" y="2881884"/>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لَعِبَ</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595360" y="3496056"/>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الْبَابُ مَفْتُوحٌ</a:t>
            </a:r>
            <a:endParaRPr lang="ar-SA" sz="2000" dirty="0"/>
          </a:p>
        </p:txBody>
      </p:sp>
      <p:sp>
        <p:nvSpPr>
          <p:cNvPr id="36" name="Text 33"/>
          <p:cNvSpPr txBox="1"/>
          <p:nvPr/>
        </p:nvSpPr>
        <p:spPr>
          <a:xfrm>
            <a:off x="566928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مَفْتُوحٌ</a:t>
            </a:r>
            <a:endParaRPr lang="ar-SA" sz="2400" dirty="0"/>
          </a:p>
        </p:txBody>
      </p:sp>
      <p:sp>
        <p:nvSpPr>
          <p:cNvPr id="37" name="Text 34"/>
          <p:cNvSpPr txBox="1"/>
          <p:nvPr/>
        </p:nvSpPr>
        <p:spPr>
          <a:xfrm>
            <a:off x="256032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فَاتِحٌ</a:t>
            </a:r>
            <a:endParaRPr lang="ar-SA" sz="2400" dirty="0"/>
          </a:p>
        </p:txBody>
      </p:sp>
      <p:sp>
        <p:nvSpPr>
          <p:cNvPr id="38" name="Text 35"/>
          <p:cNvSpPr txBox="1"/>
          <p:nvPr/>
        </p:nvSpPr>
        <p:spPr>
          <a:xfrm>
            <a:off x="548640" y="3496056"/>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595360" y="4110228"/>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هَاتِفٌ مَكْسُورٌ</a:t>
            </a:r>
            <a:endParaRPr lang="ar-SA" sz="2000" dirty="0"/>
          </a:p>
        </p:txBody>
      </p:sp>
      <p:sp>
        <p:nvSpPr>
          <p:cNvPr id="43" name="Text 40"/>
          <p:cNvSpPr txBox="1"/>
          <p:nvPr/>
        </p:nvSpPr>
        <p:spPr>
          <a:xfrm>
            <a:off x="566928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مَكْسُورٌ</a:t>
            </a:r>
            <a:endParaRPr lang="ar-SA" sz="2400" dirty="0"/>
          </a:p>
        </p:txBody>
      </p:sp>
      <p:sp>
        <p:nvSpPr>
          <p:cNvPr id="44" name="Text 41"/>
          <p:cNvSpPr txBox="1"/>
          <p:nvPr/>
        </p:nvSpPr>
        <p:spPr>
          <a:xfrm>
            <a:off x="256032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كَاسِرٌ</a:t>
            </a:r>
            <a:endParaRPr lang="ar-SA" sz="2400" dirty="0"/>
          </a:p>
        </p:txBody>
      </p:sp>
      <p:sp>
        <p:nvSpPr>
          <p:cNvPr id="45" name="Text 42"/>
          <p:cNvSpPr txBox="1"/>
          <p:nvPr/>
        </p:nvSpPr>
        <p:spPr>
          <a:xfrm>
            <a:off x="548640" y="4110228"/>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كَسَرَ</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595360" y="4724400"/>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مَقْرُوءٌ</a:t>
            </a:r>
            <a:endParaRPr lang="ar-SA" sz="2000" dirty="0"/>
          </a:p>
        </p:txBody>
      </p:sp>
      <p:sp>
        <p:nvSpPr>
          <p:cNvPr id="48" name="Text 45"/>
          <p:cNvSpPr txBox="1"/>
          <p:nvPr/>
        </p:nvSpPr>
        <p:spPr>
          <a:xfrm>
            <a:off x="566928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مَقْرُوءٌ</a:t>
            </a:r>
            <a:endParaRPr lang="ar-SA" sz="2400" dirty="0"/>
          </a:p>
        </p:txBody>
      </p:sp>
      <p:sp>
        <p:nvSpPr>
          <p:cNvPr id="49" name="Text 46"/>
          <p:cNvSpPr txBox="1"/>
          <p:nvPr/>
        </p:nvSpPr>
        <p:spPr>
          <a:xfrm>
            <a:off x="256032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قَارِئٌ</a:t>
            </a:r>
            <a:endParaRPr lang="ar-SA" sz="2400" dirty="0"/>
          </a:p>
        </p:txBody>
      </p:sp>
      <p:sp>
        <p:nvSpPr>
          <p:cNvPr id="50" name="Text 47"/>
          <p:cNvSpPr txBox="1"/>
          <p:nvPr/>
        </p:nvSpPr>
        <p:spPr>
          <a:xfrm>
            <a:off x="548640" y="4724400"/>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595360" y="5338572"/>
            <a:ext cx="30449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قَائِلُ هَذَا الْكَلَامِ</a:t>
            </a:r>
            <a:endParaRPr lang="ar-SA" sz="2000" dirty="0"/>
          </a:p>
        </p:txBody>
      </p:sp>
      <p:sp>
        <p:nvSpPr>
          <p:cNvPr id="53" name="Text 50"/>
          <p:cNvSpPr txBox="1"/>
          <p:nvPr/>
        </p:nvSpPr>
        <p:spPr>
          <a:xfrm>
            <a:off x="566928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مَقُولٌ</a:t>
            </a:r>
            <a:endParaRPr lang="ar-SA" sz="2400" dirty="0"/>
          </a:p>
        </p:txBody>
      </p:sp>
      <p:sp>
        <p:nvSpPr>
          <p:cNvPr id="54" name="Text 51"/>
          <p:cNvSpPr txBox="1"/>
          <p:nvPr/>
        </p:nvSpPr>
        <p:spPr>
          <a:xfrm>
            <a:off x="256032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قَائِلٌ</a:t>
            </a:r>
            <a:endParaRPr lang="ar-SA" sz="2400" dirty="0"/>
          </a:p>
        </p:txBody>
      </p:sp>
      <p:sp>
        <p:nvSpPr>
          <p:cNvPr id="55" name="Text 52"/>
          <p:cNvSpPr txBox="1"/>
          <p:nvPr/>
        </p:nvSpPr>
        <p:spPr>
          <a:xfrm>
            <a:off x="548640" y="533857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قَالَ</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participles agree like adjectives — kitābun maktūbun, risālatun maktūbatun, al-kutubu mawjūdatun (non-human plural → feminine singular).</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DERIVED FAMILIES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mu- + kasra = doer · mu- + fatḥa = affected</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الْأَوْزَانُ الْمَزِيدَةُ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Affected</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29077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(Forms II · III · V · VIII · X)</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12480" y="2267712"/>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a:t>
            </a:r>
            <a:endParaRPr lang="ar-SA" sz="2400" dirty="0"/>
          </a:p>
        </p:txBody>
      </p:sp>
      <p:sp>
        <p:nvSpPr>
          <p:cNvPr id="22" name="Text 19"/>
          <p:cNvSpPr txBox="1"/>
          <p:nvPr/>
        </p:nvSpPr>
        <p:spPr>
          <a:xfrm>
            <a:off x="566928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a:t>
            </a:r>
            <a:endParaRPr lang="ar-SA" sz="2400" dirty="0"/>
          </a:p>
        </p:txBody>
      </p:sp>
      <p:sp>
        <p:nvSpPr>
          <p:cNvPr id="23" name="Text 20"/>
          <p:cNvSpPr txBox="1"/>
          <p:nvPr/>
        </p:nvSpPr>
        <p:spPr>
          <a:xfrm>
            <a:off x="292608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تَدْرِيسٌ</a:t>
            </a:r>
            <a:endParaRPr lang="ar-SA" sz="24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12480" y="3004718"/>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مُشَاهَدٌ</a:t>
            </a:r>
            <a:endParaRPr lang="ar-SA" sz="2400" dirty="0"/>
          </a:p>
        </p:txBody>
      </p:sp>
      <p:sp>
        <p:nvSpPr>
          <p:cNvPr id="27" name="Text 24"/>
          <p:cNvSpPr txBox="1"/>
          <p:nvPr/>
        </p:nvSpPr>
        <p:spPr>
          <a:xfrm>
            <a:off x="566928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مُشَاهِدٌ</a:t>
            </a:r>
            <a:endParaRPr lang="ar-SA" sz="2400" dirty="0"/>
          </a:p>
        </p:txBody>
      </p:sp>
      <p:sp>
        <p:nvSpPr>
          <p:cNvPr id="28" name="Text 25"/>
          <p:cNvSpPr txBox="1"/>
          <p:nvPr/>
        </p:nvSpPr>
        <p:spPr>
          <a:xfrm>
            <a:off x="292608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مُشَاهَدَةٌ</a:t>
            </a:r>
            <a:endParaRPr lang="ar-SA" sz="2400" dirty="0"/>
          </a:p>
        </p:txBody>
      </p:sp>
      <p:sp>
        <p:nvSpPr>
          <p:cNvPr id="29" name="Text 26"/>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شَاهَدَ</a:t>
            </a:r>
            <a:endParaRPr lang="ar-SA" sz="24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412480" y="3741725"/>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مُتَعَلَّمٌ</a:t>
            </a:r>
            <a:endParaRPr lang="ar-SA" sz="2400" dirty="0"/>
          </a:p>
        </p:txBody>
      </p:sp>
      <p:sp>
        <p:nvSpPr>
          <p:cNvPr id="32" name="Text 29"/>
          <p:cNvSpPr txBox="1"/>
          <p:nvPr/>
        </p:nvSpPr>
        <p:spPr>
          <a:xfrm>
            <a:off x="566928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مُتَعَلِّمٌ</a:t>
            </a:r>
            <a:endParaRPr lang="ar-SA" sz="2400" dirty="0"/>
          </a:p>
        </p:txBody>
      </p:sp>
      <p:sp>
        <p:nvSpPr>
          <p:cNvPr id="33" name="Text 30"/>
          <p:cNvSpPr txBox="1"/>
          <p:nvPr/>
        </p:nvSpPr>
        <p:spPr>
          <a:xfrm>
            <a:off x="292608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4" name="Text 31"/>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412480" y="4478731"/>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مُحْتَرَمٌ</a:t>
            </a:r>
            <a:endParaRPr lang="ar-SA" sz="2400" dirty="0"/>
          </a:p>
        </p:txBody>
      </p:sp>
      <p:sp>
        <p:nvSpPr>
          <p:cNvPr id="39" name="Text 36"/>
          <p:cNvSpPr txBox="1"/>
          <p:nvPr/>
        </p:nvSpPr>
        <p:spPr>
          <a:xfrm>
            <a:off x="566928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مُحْتَرِمٌ</a:t>
            </a:r>
            <a:endParaRPr lang="ar-SA" sz="2400" dirty="0"/>
          </a:p>
        </p:txBody>
      </p:sp>
      <p:sp>
        <p:nvSpPr>
          <p:cNvPr id="40" name="Text 37"/>
          <p:cNvSpPr txBox="1"/>
          <p:nvPr/>
        </p:nvSpPr>
        <p:spPr>
          <a:xfrm>
            <a:off x="292608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اِحْتِرَامٌ</a:t>
            </a:r>
            <a:endParaRPr lang="ar-SA" sz="2400" dirty="0"/>
          </a:p>
        </p:txBody>
      </p:sp>
      <p:sp>
        <p:nvSpPr>
          <p:cNvPr id="41" name="Text 38"/>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اِحْتَرَمَ</a:t>
            </a:r>
            <a:endParaRPr lang="ar-SA" sz="2400" dirty="0"/>
          </a:p>
        </p:txBody>
      </p:sp>
      <p:sp>
        <p:nvSpPr>
          <p:cNvPr id="42" name="Shape 3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3" name="Text 40"/>
          <p:cNvSpPr txBox="1"/>
          <p:nvPr/>
        </p:nvSpPr>
        <p:spPr>
          <a:xfrm>
            <a:off x="8412480" y="5215738"/>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مُسْتَعْمَلٌ</a:t>
            </a:r>
            <a:endParaRPr lang="ar-SA" sz="2400" dirty="0"/>
          </a:p>
        </p:txBody>
      </p:sp>
      <p:sp>
        <p:nvSpPr>
          <p:cNvPr id="44" name="Text 41"/>
          <p:cNvSpPr txBox="1"/>
          <p:nvPr/>
        </p:nvSpPr>
        <p:spPr>
          <a:xfrm>
            <a:off x="566928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مُسْتَعْمِلٌ</a:t>
            </a:r>
            <a:endParaRPr lang="ar-SA" sz="2400" dirty="0"/>
          </a:p>
        </p:txBody>
      </p:sp>
      <p:sp>
        <p:nvSpPr>
          <p:cNvPr id="45" name="Text 42"/>
          <p:cNvSpPr txBox="1"/>
          <p:nvPr/>
        </p:nvSpPr>
        <p:spPr>
          <a:xfrm>
            <a:off x="292608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اِسْتِعْمَالٌ</a:t>
            </a:r>
            <a:endParaRPr lang="ar-SA" sz="2400" dirty="0"/>
          </a:p>
        </p:txBody>
      </p:sp>
      <p:sp>
        <p:nvSpPr>
          <p:cNvPr id="46" name="Text 43"/>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اِسْتَعْمَلَ</a:t>
            </a:r>
            <a:endParaRPr lang="ar-SA" sz="24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derived forms are more predictable than Form I, but meet them through useful words. Example: the student is a user (mustaʿmil); the computer is used (mustaʿmal).</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“reading” (the activity).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قَارِئٌ</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مَقْرُوءٌ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قِرَاءَةٌ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“one who says / speaker”.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قَائِلٌ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مَقُولٌ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written letter”.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رِسَالَةٌ كَاتِبَةٌ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رِسَالَةٌ مَكْتُوبَةٌ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رِسَالَةٌ كِتَابَةٌ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available”.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مَوْجُودَةٌ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مَوْجُودُونَ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وَاجِدَةٌ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“reading” (the activity).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قَارِئٌ</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مَقْرُوءٌ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قِرَاءَةٌ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Action noun: qirāʾa.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“one who says / speaker”.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قَائِلٌ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مَقُولٌ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قَوْلٌ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Hollow active participle: qāʾil.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written letter”.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رِسَالَةٌ كَاتِبَةٌ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رِسَالَةٌ مَكْتُوبَةٌ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رِسَالَةٌ كِتَابَةٌ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participle + feminine agreement.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available”.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الْكُتُبُ مَوْجُودَةٌ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الْكُتُبُ مَوْجُودُونَ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الْكُتُبُ وَاجِدَةٌ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feminine singular.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root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قَرَأَ</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Root q-r-ʾ.</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قِرَاءَةٌ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Learn with the verb.</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Doer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قَارِئٌ</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fāʿil pattern.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Affected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مَقْرُوءٌ</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mafʿūl pattern.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ACTION (MAṢDAR)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PARTICIPLE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0E7C86"/>
                </a:solidFill>
                <a:latin typeface="Amiri" pitchFamily="2" charset="-78"/>
                <a:ea typeface="Amiri" pitchFamily="2" charset="-78"/>
                <a:cs typeface="Amiri" pitchFamily="2" charset="-78"/>
              </a:rPr>
              <a:t>تَعَلُّمُ</a:t>
            </a:r>
            <a:pPr rtl="1" algn="r" indent="0" marL="0">
              <a:buNone/>
            </a:pPr>
            <a:r>
              <a:rPr lang="ar-SA" altLang="en-US" sz="1950" b="1" dirty="0">
                <a:solidFill>
                  <a:srgbClr val="1B3B6F"/>
                </a:solidFill>
                <a:latin typeface="Amiri" pitchFamily="2" charset="-78"/>
                <a:ea typeface="Amiri" pitchFamily="2" charset="-78"/>
                <a:cs typeface="Amiri" pitchFamily="2" charset="-78"/>
              </a:rPr>
              <a:t> اللُّغَاتِ نَشَاطٌ مُفِيدٌ. أَنَا </a:t>
            </a:r>
            <a:pPr rtl="1" algn="r" indent="0" marL="0">
              <a:buNone/>
            </a:pPr>
            <a:r>
              <a:rPr lang="ar-SA" altLang="en-US" sz="1950" b="1" dirty="0">
                <a:solidFill>
                  <a:srgbClr val="D6336C"/>
                </a:solidFill>
                <a:latin typeface="Amiri" pitchFamily="2" charset="-78"/>
                <a:ea typeface="Amiri" pitchFamily="2" charset="-78"/>
                <a:cs typeface="Amiri" pitchFamily="2" charset="-78"/>
              </a:rPr>
              <a:t>مُتَعَلِّمَةٌ</a:t>
            </a:r>
            <a:pPr rtl="1" algn="r" indent="0" marL="0">
              <a:buNone/>
            </a:pPr>
            <a:r>
              <a:rPr lang="ar-SA" altLang="en-US" sz="1950" b="1" dirty="0">
                <a:solidFill>
                  <a:srgbClr val="1B3B6F"/>
                </a:solidFill>
                <a:latin typeface="Amiri" pitchFamily="2" charset="-78"/>
                <a:ea typeface="Amiri" pitchFamily="2" charset="-78"/>
                <a:cs typeface="Amiri" pitchFamily="2" charset="-78"/>
              </a:rPr>
              <a:t> مُجْتَهِدَةٌ، وَأُحِبُّ </a:t>
            </a:r>
            <a:pPr rtl="1" algn="r" indent="0" marL="0">
              <a:buNone/>
            </a:pPr>
            <a:r>
              <a:rPr lang="ar-SA" altLang="en-US" sz="1950" b="1" dirty="0">
                <a:solidFill>
                  <a:srgbClr val="0E7C86"/>
                </a:solidFill>
                <a:latin typeface="Amiri" pitchFamily="2" charset="-78"/>
                <a:ea typeface="Amiri" pitchFamily="2" charset="-78"/>
                <a:cs typeface="Amiri" pitchFamily="2" charset="-78"/>
              </a:rPr>
              <a:t>الْقِرَاءَةَ</a:t>
            </a:r>
            <a:pPr rtl="1" algn="r" indent="0" marL="0">
              <a:buNone/>
            </a:pPr>
            <a:r>
              <a:rPr lang="ar-SA" altLang="en-US" sz="1950" b="1" dirty="0">
                <a:solidFill>
                  <a:srgbClr val="1B3B6F"/>
                </a:solidFill>
                <a:latin typeface="Amiri" pitchFamily="2" charset="-78"/>
                <a:ea typeface="Amiri" pitchFamily="2" charset="-78"/>
                <a:cs typeface="Amiri" pitchFamily="2" charset="-78"/>
              </a:rPr>
              <a:t> وَ</a:t>
            </a:r>
            <a:pPr rtl="1" algn="r" indent="0" marL="0">
              <a:buNone/>
            </a:pPr>
            <a:r>
              <a:rPr lang="ar-SA" altLang="en-US" sz="1950" b="1" dirty="0">
                <a:solidFill>
                  <a:srgbClr val="0E7C86"/>
                </a:solidFill>
                <a:latin typeface="Amiri" pitchFamily="2" charset="-78"/>
                <a:ea typeface="Amiri" pitchFamily="2" charset="-78"/>
                <a:cs typeface="Amiri" pitchFamily="2" charset="-78"/>
              </a:rPr>
              <a:t>الْكِتَابَةَ</a:t>
            </a:r>
            <a:pPr rtl="1" algn="r" indent="0" marL="0">
              <a:buNone/>
            </a:pPr>
            <a:r>
              <a:rPr lang="ar-SA" altLang="en-US" sz="1950" b="1" dirty="0">
                <a:solidFill>
                  <a:srgbClr val="1B3B6F"/>
                </a:solidFill>
                <a:latin typeface="Amiri" pitchFamily="2" charset="-78"/>
                <a:ea typeface="Amiri" pitchFamily="2" charset="-78"/>
                <a:cs typeface="Amiri" pitchFamily="2" charset="-78"/>
              </a:rPr>
              <a:t>. فِي مَكْتَبَتِنَا كُتُبٌ </a:t>
            </a:r>
            <a:pPr rtl="1" algn="r" indent="0" marL="0">
              <a:buNone/>
            </a:pPr>
            <a:r>
              <a:rPr lang="ar-SA" altLang="en-US" sz="1950" b="1" dirty="0">
                <a:solidFill>
                  <a:srgbClr val="D6336C"/>
                </a:solidFill>
                <a:latin typeface="Amiri" pitchFamily="2" charset="-78"/>
                <a:ea typeface="Amiri" pitchFamily="2" charset="-78"/>
                <a:cs typeface="Amiri" pitchFamily="2" charset="-78"/>
              </a:rPr>
              <a:t>مَعْرُوفَةٌ</a:t>
            </a:r>
            <a:pPr rtl="1" algn="r" indent="0" marL="0">
              <a:buNone/>
            </a:pPr>
            <a:r>
              <a:rPr lang="ar-SA" altLang="en-US" sz="1950" b="1" dirty="0">
                <a:solidFill>
                  <a:srgbClr val="1B3B6F"/>
                </a:solidFill>
                <a:latin typeface="Amiri" pitchFamily="2" charset="-78"/>
                <a:ea typeface="Amiri" pitchFamily="2" charset="-78"/>
                <a:cs typeface="Amiri" pitchFamily="2" charset="-78"/>
              </a:rPr>
              <a:t> وَنُصُوصٌ </a:t>
            </a:r>
            <a:pPr rtl="1" algn="r" indent="0" marL="0">
              <a:buNone/>
            </a:pPr>
            <a:r>
              <a:rPr lang="ar-SA" altLang="en-US" sz="1950" b="1" dirty="0">
                <a:solidFill>
                  <a:srgbClr val="D6336C"/>
                </a:solidFill>
                <a:latin typeface="Amiri" pitchFamily="2" charset="-78"/>
                <a:ea typeface="Amiri" pitchFamily="2" charset="-78"/>
                <a:cs typeface="Amiri" pitchFamily="2" charset="-78"/>
              </a:rPr>
              <a:t>مَقْرُوءَةٌ</a:t>
            </a:r>
            <a:pPr rtl="1" algn="r" indent="0" marL="0">
              <a:buNone/>
            </a:pPr>
            <a:r>
              <a:rPr lang="ar-SA" altLang="en-US" sz="1950" b="1" dirty="0">
                <a:solidFill>
                  <a:srgbClr val="1B3B6F"/>
                </a:solidFill>
                <a:latin typeface="Amiri" pitchFamily="2" charset="-78"/>
                <a:ea typeface="Amiri" pitchFamily="2" charset="-78"/>
                <a:cs typeface="Amiri" pitchFamily="2" charset="-78"/>
              </a:rPr>
              <a:t> بِعِنَايَةٍ.</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Learning languages is a useful activity. I am a hard-working learner, and I love reading and writing. In our library there are well-known books and carefully read texts.</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أَسْتَمْتِعُ بِالسَّفَرِ.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enjoy travelling.</a:t>
            </a:r>
            <a:endParaRPr lang="en-US" sz="1250" dirty="0"/>
          </a:p>
          <a:p>
            <a:pPr indent="0" marL="0">
              <a:buNone/>
            </a:pPr>
            <a:r>
              <a:rPr lang="en-US" sz="1050" i="1" dirty="0">
                <a:solidFill>
                  <a:srgbClr val="8A6D1E"/>
                </a:solidFill>
                <a:latin typeface="Calibri" pitchFamily="34" charset="0"/>
                <a:cs typeface="Amiri" pitchFamily="2" charset="-78"/>
              </a:rPr>
              <a:t>Maṣdar after a preposition.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أُخْتِي لَاعِبَةٌ مَاهِرَةٌ.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 is a skilful player.</a:t>
            </a:r>
            <a:endParaRPr lang="en-US" sz="1250" dirty="0"/>
          </a:p>
          <a:p>
            <a:pPr indent="0" marL="0">
              <a:buNone/>
            </a:pPr>
            <a:r>
              <a:rPr lang="en-US" sz="1050" i="1" dirty="0">
                <a:solidFill>
                  <a:srgbClr val="8A6D1E"/>
                </a:solidFill>
                <a:latin typeface="Calibri" pitchFamily="34" charset="0"/>
                <a:cs typeface="Amiri" pitchFamily="2" charset="-78"/>
              </a:rPr>
              <a:t>Active, feminine.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الْمَتْجَرُ مُغْلَقٌ الْيَوْمَ.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shop is closed today.</a:t>
            </a:r>
            <a:endParaRPr lang="en-US" sz="1250" dirty="0"/>
          </a:p>
          <a:p>
            <a:pPr indent="0" marL="0">
              <a:buNone/>
            </a:pPr>
            <a:r>
              <a:rPr lang="en-US" sz="1050" i="1" dirty="0">
                <a:solidFill>
                  <a:srgbClr val="8A6D1E"/>
                </a:solidFill>
                <a:latin typeface="Calibri" pitchFamily="34" charset="0"/>
                <a:cs typeface="Amiri" pitchFamily="2" charset="-78"/>
              </a:rPr>
              <a:t>Form IV affected: mughlaq.</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شَخْصٌ مَعْرُوفٌ.</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well-known person.</a:t>
            </a:r>
            <a:endParaRPr lang="en-US" sz="1250" dirty="0"/>
          </a:p>
          <a:p>
            <a:pPr indent="0" marL="0">
              <a:buNone/>
            </a:pPr>
            <a:r>
              <a:rPr lang="en-US" sz="1050" i="1" dirty="0">
                <a:solidFill>
                  <a:srgbClr val="8A6D1E"/>
                </a:solidFill>
                <a:latin typeface="Calibri" pitchFamily="34" charset="0"/>
                <a:cs typeface="Amiri" pitchFamily="2" charset="-78"/>
              </a:rPr>
              <a:t>Passive participle as adjective.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THE FAMILY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Action, doer, affected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الْجَذْرِ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Affected</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29077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Action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12480" y="2267712"/>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مَكْتُوبٌ</a:t>
            </a:r>
            <a:endParaRPr lang="ar-SA" sz="2400" dirty="0"/>
          </a:p>
        </p:txBody>
      </p:sp>
      <p:sp>
        <p:nvSpPr>
          <p:cNvPr id="22" name="Text 19"/>
          <p:cNvSpPr txBox="1"/>
          <p:nvPr/>
        </p:nvSpPr>
        <p:spPr>
          <a:xfrm>
            <a:off x="566928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كَاتِبٌ</a:t>
            </a:r>
            <a:endParaRPr lang="ar-SA" sz="2400" dirty="0"/>
          </a:p>
        </p:txBody>
      </p:sp>
      <p:sp>
        <p:nvSpPr>
          <p:cNvPr id="23" name="Text 20"/>
          <p:cNvSpPr txBox="1"/>
          <p:nvPr/>
        </p:nvSpPr>
        <p:spPr>
          <a:xfrm>
            <a:off x="292608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كِتَابَةٌ</a:t>
            </a:r>
            <a:endParaRPr lang="ar-SA" sz="2400" dirty="0"/>
          </a:p>
        </p:txBody>
      </p:sp>
      <p:sp>
        <p:nvSpPr>
          <p:cNvPr id="24" name="Text 21"/>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12480" y="2881884"/>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مَقْرُوءٌ</a:t>
            </a:r>
            <a:endParaRPr lang="ar-SA" sz="2400" dirty="0"/>
          </a:p>
        </p:txBody>
      </p:sp>
      <p:sp>
        <p:nvSpPr>
          <p:cNvPr id="29" name="Text 26"/>
          <p:cNvSpPr txBox="1"/>
          <p:nvPr/>
        </p:nvSpPr>
        <p:spPr>
          <a:xfrm>
            <a:off x="566928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قَارِئٌ</a:t>
            </a:r>
            <a:endParaRPr lang="ar-SA" sz="2400" dirty="0"/>
          </a:p>
        </p:txBody>
      </p:sp>
      <p:sp>
        <p:nvSpPr>
          <p:cNvPr id="30" name="Text 27"/>
          <p:cNvSpPr txBox="1"/>
          <p:nvPr/>
        </p:nvSpPr>
        <p:spPr>
          <a:xfrm>
            <a:off x="292608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قِرَاءَةٌ</a:t>
            </a:r>
            <a:endParaRPr lang="ar-SA" sz="2400" dirty="0"/>
          </a:p>
        </p:txBody>
      </p:sp>
      <p:sp>
        <p:nvSpPr>
          <p:cNvPr id="31" name="Text 28"/>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12480" y="3496056"/>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مَدْرُوسٌ</a:t>
            </a:r>
            <a:endParaRPr lang="ar-SA" sz="2400" dirty="0"/>
          </a:p>
        </p:txBody>
      </p:sp>
      <p:sp>
        <p:nvSpPr>
          <p:cNvPr id="36" name="Text 33"/>
          <p:cNvSpPr txBox="1"/>
          <p:nvPr/>
        </p:nvSpPr>
        <p:spPr>
          <a:xfrm>
            <a:off x="566928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دَارِسٌ</a:t>
            </a:r>
            <a:endParaRPr lang="ar-SA" sz="2400" dirty="0"/>
          </a:p>
        </p:txBody>
      </p:sp>
      <p:sp>
        <p:nvSpPr>
          <p:cNvPr id="37" name="Text 34"/>
          <p:cNvSpPr txBox="1"/>
          <p:nvPr/>
        </p:nvSpPr>
        <p:spPr>
          <a:xfrm>
            <a:off x="292608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دِرَاسَةٌ</a:t>
            </a:r>
            <a:endParaRPr lang="ar-SA" sz="2400" dirty="0"/>
          </a:p>
        </p:txBody>
      </p:sp>
      <p:sp>
        <p:nvSpPr>
          <p:cNvPr id="38" name="Text 35"/>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412480" y="4110228"/>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مَعْرُوفٌ</a:t>
            </a:r>
            <a:endParaRPr lang="ar-SA" sz="2400" dirty="0"/>
          </a:p>
        </p:txBody>
      </p:sp>
      <p:sp>
        <p:nvSpPr>
          <p:cNvPr id="41" name="Text 38"/>
          <p:cNvSpPr txBox="1"/>
          <p:nvPr/>
        </p:nvSpPr>
        <p:spPr>
          <a:xfrm>
            <a:off x="566928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عَارِفٌ</a:t>
            </a:r>
            <a:endParaRPr lang="ar-SA" sz="2400" dirty="0"/>
          </a:p>
        </p:txBody>
      </p:sp>
      <p:sp>
        <p:nvSpPr>
          <p:cNvPr id="42" name="Text 39"/>
          <p:cNvSpPr txBox="1"/>
          <p:nvPr/>
        </p:nvSpPr>
        <p:spPr>
          <a:xfrm>
            <a:off x="292608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مَعْرِفَةٌ</a:t>
            </a:r>
            <a:endParaRPr lang="ar-SA" sz="2400" dirty="0"/>
          </a:p>
        </p:txBody>
      </p:sp>
      <p:sp>
        <p:nvSpPr>
          <p:cNvPr id="43" name="Text 40"/>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عَرَفَ</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412480" y="4724400"/>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مُتَعَلَّمٌ</a:t>
            </a:r>
            <a:endParaRPr lang="ar-SA" sz="2400" dirty="0"/>
          </a:p>
        </p:txBody>
      </p:sp>
      <p:sp>
        <p:nvSpPr>
          <p:cNvPr id="46" name="Text 43"/>
          <p:cNvSpPr txBox="1"/>
          <p:nvPr/>
        </p:nvSpPr>
        <p:spPr>
          <a:xfrm>
            <a:off x="566928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مُتَعَلِّمٌ</a:t>
            </a:r>
            <a:endParaRPr lang="ar-SA" sz="2400" dirty="0"/>
          </a:p>
        </p:txBody>
      </p:sp>
      <p:sp>
        <p:nvSpPr>
          <p:cNvPr id="47" name="Text 44"/>
          <p:cNvSpPr txBox="1"/>
          <p:nvPr/>
        </p:nvSpPr>
        <p:spPr>
          <a:xfrm>
            <a:off x="292608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48" name="Text 45"/>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412480" y="5338572"/>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مُسْتَعْمَلٌ</a:t>
            </a:r>
            <a:endParaRPr lang="ar-SA" sz="2400" dirty="0"/>
          </a:p>
        </p:txBody>
      </p:sp>
      <p:sp>
        <p:nvSpPr>
          <p:cNvPr id="51" name="Text 48"/>
          <p:cNvSpPr txBox="1"/>
          <p:nvPr/>
        </p:nvSpPr>
        <p:spPr>
          <a:xfrm>
            <a:off x="566928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مُسْتَعْمِلٌ</a:t>
            </a:r>
            <a:endParaRPr lang="ar-SA" sz="2400" dirty="0"/>
          </a:p>
        </p:txBody>
      </p:sp>
      <p:sp>
        <p:nvSpPr>
          <p:cNvPr id="52" name="Text 49"/>
          <p:cNvSpPr txBox="1"/>
          <p:nvPr/>
        </p:nvSpPr>
        <p:spPr>
          <a:xfrm>
            <a:off x="292608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اِسْتِعْمَالٌ</a:t>
            </a:r>
            <a:endParaRPr lang="ar-SA" sz="2400" dirty="0"/>
          </a:p>
        </p:txBody>
      </p:sp>
      <p:sp>
        <p:nvSpPr>
          <p:cNvPr id="53" name="Text 50"/>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اِسْتَعْمَلَ</a:t>
            </a:r>
            <a:endParaRPr lang="ar-SA" sz="24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 column and rebuild it. Columns 3 and 4 follow patterns; column 2 (Form I) must be learned.</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CLASSIFICATION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Action, doer or affected?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حَدَثٌ أَمْ فَاعِلٌ أَمْ 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قِرَاءَةٌ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اِسْتِعْمَالٌ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كَاتِبٌ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قَارِئٌ</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مُتَعَلِّمٌ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مَكْتُوبٌ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مُسْتَعْمَلٌ</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Doer</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Affected</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قِرَاءَةٌ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اِسْتِعْمَالٌ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كَاتِبٌ</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قَارِئٌ</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مُتَعَلِّمٌ</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Affected</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مَكْتُوبٌ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مُسْتَعْمَلٌ</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الْكَاتِبَ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Activity or person?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رِسَالَةٌ كَاتِبَةٌ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Doer or done-to?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الْكُتُبُ مَكْتُوبُونَ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Human or non-human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الْكَاتِبَ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الْكِتَابَةَ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“I love writing”, use the maṣdar; al-kātib is a writer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رِسَالَةٌ كَاتِبَةٌ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رِسَالَةٌ مَكْتُوبَةٌ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letter is affected, and feminine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الْكُتُبُ مَكْتُوبُونَ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الْكُتُبُ مَكْتُوبَةٌ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2F6FB0"/>
                </a:solidFill>
                <a:latin typeface="Calibri" pitchFamily="34" charset="0"/>
                <a:cs typeface="Amiri" pitchFamily="2" charset="-78"/>
              </a:rPr>
              <a:t>WE DO · GUIDED PRACTICE · WEBSITE VERBAL NOUN, PARTICIPLE AND DERIVED CHECKS</a:t>
            </a:r>
            <a:endParaRPr lang="en-US" sz="918"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“learning” (the activity).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مُتَعَلِّمٌ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مُتَعَلَّمٌ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“female player”.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مَلْعُوبَةٌ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لَاعِبَةٌ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is open”.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فَاتِحٌ</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مَفْتُوحٌ</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فَتْحٌ</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participle of istaʿmala (used)?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مُسْتَعْمِلٌ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اِسْتِعْمَالٌ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مُسْتَعْمَلٌ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“learning” (the activity).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مُتَعَلِّمٌ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مُتَعَلَّمٌ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تَعَلُّمٌ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 verbal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“female player”.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مَلْعُوبَةٌ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لَاعِبَةٌ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Active participle, feminine.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is open”.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 فَاتِحٌ</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الْبَابُ مَفْتُوحٌ</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 فَتْحٌ</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participle as predicate.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participle of istaʿmala (used)?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مُسْتَعْمِلٌ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اِسْتِعْمَالٌ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مُسْتَعْمَلٌ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 + fatḥa = affected: mustaʿmal.</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E6B52"/>
                </a:solidFill>
                <a:latin typeface="Calibri" pitchFamily="34" charset="0"/>
                <a:cs typeface="Amiri" pitchFamily="2" charset="-78"/>
              </a:rPr>
              <a:t>YOU DO · READ AND NOTICE · WEBSITE READING WORKSHOP (TEACHER-WRITTEN PROFILE)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Profile: a young writer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سَلْمَى كَاتِبَةٌ شَابَّةٌ وَقَارِئَةٌ نَشِيطَةٌ. تَقُولُ: «الْقِرَاءَةُ وَالْكِتَابَةُ هِوَايَتَايَ الْمُفَضَّلَتَانِ». قِصَصُهَا مَكْتُوبَةٌ بِلُغَةٍ سَهْلَةٍ، وَهِيَ مَعْرُوفَةٌ فِي مَدِينَتِهَا. تَعْمَلُ مُدَرِّسَةً فِي الصَّبَاحِ، وَفِي الْمَسَاءِ تُسَاعِدُ الْمُتَعَلِّمِينَ الصِّغَارَ. مَكْتَبُهَا مَفْتُوحٌ لِكُلِّ الزُّوَّارِ، وَلَكِنَّ اسْتِعْمَالَ الْهَوَاتِفِ مَمْنُوعٌ فِيهِ!</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شَابَّةٌ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young (f.)</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هِوَايَتَايَ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two hobbies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الْمُفَضَّلَتَانِ</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favourite (dual)</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الزُّوَّارِ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visitors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مَمْنُوعٌ</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forbidden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an ACTION?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قَارِئَةٌ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الْقِرَاءَةُ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describes something AFFECTED?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Salmā help in the evening?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young learners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other writers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visitors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her office?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phones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an ACTION?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قَارِئَةٌ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الْقِرَاءَةُ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مَكْتُوبَةٌ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Maṣdar.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describes something AFFECTED?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مَكْتُوبَةٌ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stories are written.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Salmā help in the evening?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young learners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other writers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visitors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Al-mutaʿallimīna ṣ-ṣighār.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her office?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phones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Istiʿmāl al-hawātif mamnūʿ.</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me as a learner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هِوَايَتُكَ الْمُفَضَّلَةُ؟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أَنْتَ قَارِئٌ جَيِّدٌ؟ مَاذَا تَقْرَأُ؟</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نَفْسَكَ مُتَعَلِّمًا. مَا الْمُفِيدُ فِي تَعَلُّمِ اللُّغَاتِ؟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أُحِبُّ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___ ، وَأَقْرَأُ كُتُبًا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أَنَا مُتَعَلِّمٌ ___ ، وَ ___ مُفِيدٌ لِأَنَّ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هِوَايَتُكِ الْمُفَضَّلَةُ؟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favourite hobby?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أُحِبُّ الرَّسْمَ وَالسِّبَاحَةَ. أَنَا سَبَّاحَةٌ فِي فَرِيقِ الْمَدْرَسَةِ، وَرُسُومِي مَعْرُوفَةٌ فِي صَفِّي!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love drawing and swimming. I am a swimmer in the school team, and my drawings are well known in my class!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Activities I love (maṣdars).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uḥibbu + maṣdar.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people (doers) and things (affected).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fāʿil / mafʿūl with agreement.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on learning or technology.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derived family (mutaʿallim / mustaʿmal).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الرِّسَالَةُ مَكْتُوبَةٌ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letter is written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______ جَيِّدَةٌ.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a good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 ______ مُهِمٌّ.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Learning … is important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…ing</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مُفِيدَةٌ.</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useful</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لَاعِبٌ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is a player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الْبَابُ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door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الْقِرَاءَةَ  ·  الْكِتَابَةَ  ·  السَّفَرَ  ·  السِّبَاحَةَ  ·  كَاتِبٌ  ·  قَارِئَةٌ  ·  لَاعِبٌ  ·  مُتَعَلِّمٌ  ·  مَكْتُوبَةٌ  ·  مَفْتُوحٌ  ·  مَعْرُوفَةٌ  ·  مُسْتَعْمَلَةٌ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130–140 words about learning, reading, sport or technology.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verbal nouns (actions).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active participles (doers).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passive participles (affected).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Gender and non-human plural agreement.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 and one derived family.</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 اللُّغَاتِ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learning languages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مُتَعَلِّمٌ مُجْتَهِدٌ</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hard-working learner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اِسْتِعْمَالُ التِّقْنِيَّةِ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using technology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مَعْرُوفٌ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well known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مَمْنُوعٌ</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forbidden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مُفِيدٌ</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useful</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اِسْتِعْمَالُ التِّقْنِيَّةِ جُزْءٌ مِنْ حَيَاتِنَا. أَنَا مُسْتَعْمِلٌ نَشِيطٌ لِلْحَاسُوبِ، وَأُحِبُّ الْبَرْمَجَةَ وَالْقِرَاءَةَ عَنِ الْعُلُومِ. أَخِي لَاعِبٌ فِي فَرِيقِ الْمَدْرَسَةِ، وَأُخْتِي كَاتِبَةٌ تَنْشُرُ مَقَالَاتٍ مَقْرُوءَةً عَلَى الْإِنْتَرْنِتِ. فِي مَدْرَسَتِنَا الْأَجْهِزَةُ مُسْتَعْمَلَةٌ فِي كُلِّ الدُّرُوسِ، وَلَكِنَّ الْأَلْعَابَ مَمْنُوعَةٌ فِي الصَّفِّ. الْمُدَرِّسُونَ مُتَعَاوِنُونَ، وَالْبَرَامِجُ مَعْرُوفَةٌ وَسَهْلَةٌ. أَظُنُّ أَنَّ تَعَلُّمَ التِّقْنِيَّةِ مُفِيدٌ، وَلَكِنَّ الْقِرَاءَةَ مِنَ الْكُتُبِ مُهِمَّةٌ أَيْضًا.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Using technology is part of our lives. I am an active computer user, and I love programming and reading about science. My brother is a player in the school team, and my sister is a writer who publishes widely read articles online. At our school devices are used in every lesson, but games are forbidden in class. The teachers are cooperative, and the programs are well known and easy. I think learning technology is useful, but reading from books is important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action (maṣdar)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doer (active)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affected (passive)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maṣdars for activities.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fāʿil for people and mafʿūl for things.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participles agree with their nouns.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Non-human plurals take feminine singular.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derived family (mu- + kasra / fatḥa).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“written”.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مَكْتُوبٌ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“reader”.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قِرَاءَةٌ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قَارِئٌ</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مَقْرُوءٌ</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“learner”.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مُتَعَلَّمٌ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“written”.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مَكْتُوبٌ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كَاتِبٌ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participle.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“reader”.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قِرَاءَةٌ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قَارِئٌ</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مَقْرُوءٌ</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Active participle.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“learner”.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مُتَعَلِّمٌ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تَعَلُّمٌ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مُتَعَلَّمٌ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Active participle (Form V).</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GM-V-12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GM-VF-00: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GM-VF-00 · What Are Arabic Verb Forms?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الْوَزْنُ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pattern / form</a:t>
            </a:r>
            <a:pPr indent="0" marL="0">
              <a:buNone/>
            </a:pPr>
            <a:r>
              <a:rPr lang="ar-SA" sz="1000" i="1" dirty="0">
                <a:solidFill>
                  <a:srgbClr val="5A6472"/>
                </a:solidFill>
                <a:latin typeface="Amiri" pitchFamily="2" charset="-78"/>
                <a:ea typeface="Amiri" pitchFamily="2" charset="-78"/>
                <a:cs typeface="Amiri" pitchFamily="2" charset="-78"/>
              </a:rPr>
              <a:t>  فَعَلَ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الْجَذْرُ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root</a:t>
            </a:r>
            <a:pPr indent="0" marL="0">
              <a:buNone/>
            </a:pPr>
            <a:r>
              <a:rPr lang="ar-SA" sz="1000" i="1" dirty="0">
                <a:solidFill>
                  <a:srgbClr val="5A6472"/>
                </a:solidFill>
                <a:latin typeface="Amiri" pitchFamily="2" charset="-78"/>
                <a:ea typeface="Amiri" pitchFamily="2" charset="-78"/>
                <a:cs typeface="Amiri" pitchFamily="2" charset="-78"/>
              </a:rPr>
              <a:t>  ك ت 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study (Form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دَرَّسَ</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teach (Form II)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learn (Form V)</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Darasa = to study; darrasa = to teach. What one change made the new meaning?</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دَرَسَ · دَرَّسَ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the action, doer and affected words for kataba, qaraʾa and fataḥa.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with participles that agree with their nouns.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on learning, reading, sport or technology.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GM-VF-00 · What Are Arabic Verb Forms?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مَا الْأَوْزَانُ الصَّرْفِيَّةُ؟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maṣdar = the action (kitāba) · fāʿil = the doer (kātib) · mafʿūl = the affected (maktūb) · participles agree like adjectives · derived: mu- + kasra doer, mu- + fatḥa affected.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GM-V-12 · Verbal Nouns and Participles</dc:title>
  <dc:subject>PptxGenJS Presentation</dc:subject>
  <dc:creator>Al Madina Online School · Arabic Department</dc:creator>
  <cp:lastModifiedBy>Al Madina Online School · Arabic Department</cp:lastModifiedBy>
  <cp:revision>1</cp:revision>
  <dcterms:created xsi:type="dcterms:W3CDTF">2026-10-11T06:42:40Z</dcterms:created>
  <dcterms:modified xsi:type="dcterms:W3CDTF">2026-10-11T06:42:40Z</dcterms:modified>
</cp:coreProperties>
</file>