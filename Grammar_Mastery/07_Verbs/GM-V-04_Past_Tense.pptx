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GM-V-04 (“Past Tense: Complete Conjugation and Narration”).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most frequent endings — ـْتُ · ـْنَا · ـَتْ · ـُوا, then ـْتَ / ـْتِ. Develop: all thirteen persons, including duals (ـَا · ـَتَا · ـْتُمَا) and feminine plurals (ـْنَ · ـْتُنَّ). Stretch: add the endings to hollow, doubled and final-weak stems (قُلْنَا · مَرَرْتُ · مَشَيْتِ) and analyse full agreement.
• The “four t’s” trap: ـْتُ (I) · ـْتَ (you m.) · ـْتِ (you f.) · ـَتْ (she). Say them with exaggerated final vowels.
• Narrative frame from the website: فِي الْأُسْبُوعِ الْمَاضِي … أَوَّلًا … ثُمَّ … بَعْدَ ذَلِكَ … أَخِيرًا … (links to GM-ADV-04).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past, the ENDING tells you who acted. One small vowel can change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“Third-person past endings”. Core: rows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“First and second person”. Drill the four t’s aloud with exaggerated vowels.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“Past endings across verb families” and “Use the past to tell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Third-Person and Speaker / Addressee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narrative frame added. For each verb, say who acted from the ending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Laʿiba has kasra on the middle letter — the endings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Family and Narrative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biography). Read it aloud once while students follow; then they hunt for today’s grammar.
Task: Website: identify who performed each action, using the endings to resolve pronouns that are not written.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biography (Fatima al-Fihri, founder of al-Qarawiyyin)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story with first-person singular, first-person plural and a third-person report. Listening (website): partner tells a weekend account; listener draws a timeline with the exact past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130–140-word blog entry about a memorable day, with at least eight different past verbs and four different subject endings.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blog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(GM-V-05 · Present Tense: Prefixes, Suffixes and Meaning) will spend class time USING this language, so students prepare it tonight — short, simple, easy to access (school guidance: “Simple, Short, Interesting, Relevant, Easy to access”). The five forms prepare GM-V-05 (website Verbs lesson 5: the present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Past Tense: Complete Conjugation and Narration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الْفِعْلُ الْمَاضِي: التَّصْرِيفُ وَالسَّرْدُ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past tense shows WHO acted with an ending on the verb: katabtu (I), katabta (you m.), katabti (you f.), katabat (she), katabnā (we), katabū (they). One tiny vowel changes the person — so read the ending carefully, and tell your story in order.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Third person; first and second person; families; narration.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person and ending; tell the story in order;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travelled”.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يُسَافِرُونَ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two arrived”.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played”.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لَعِبُوا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لَعِبْتُنَّ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دَرَسَتْ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دَرَسْتُ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marks “I” in the past.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wrote”.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vowel on -ti marks “you (f.)”.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travelled”.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يُسَافِرُونَ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سَافَرُوا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-ū marks “they (m. / mixed)”.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two arrived”.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-tumā marks “you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played”.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لَعِبْنَ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لَعِبُوا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لَعِبْتُنَّ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“they (f.)”.</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past, the ENDING tells you who acted. One small vowel can change the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 كَتَبْتَ · كَتَبْتِ · </a:t>
            </a:r>
            <a:pPr rtl="1" algn="ctr" indent="0" marL="0">
              <a:buNone/>
            </a:pPr>
            <a:r>
              <a:rPr lang="ar-SA" altLang="en-US" sz="2400" b="1" dirty="0">
                <a:solidFill>
                  <a:srgbClr val="0E7C86"/>
                </a:solidFill>
                <a:latin typeface="Amiri" pitchFamily="2" charset="-78"/>
                <a:ea typeface="Amiri" pitchFamily="2" charset="-78"/>
                <a:cs typeface="Amiri" pitchFamily="2" charset="-78"/>
              </a:rPr>
              <a:t>كَتَبَتْ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regular past verbs for all persons.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-tu, -ta, -ti and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past endings to weak and doubled stems.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connected story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I, we, she and they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hear the difference between -tu, -ta and -ti.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dual and feminine plural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a story with first, then, finally.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add endings to weak stems: qulnā, marartu.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mix I, we and a third-person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tense (completed)</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ضَمِيرُ الرَّفْعِ الْمُتَّصِلُ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ending</a:t>
            </a:r>
            <a:endParaRPr lang="en-US" sz="1350" dirty="0"/>
          </a:p>
          <a:p>
            <a:pPr indent="0" marL="0">
              <a:buNone/>
            </a:pPr>
            <a:r>
              <a:rPr lang="en-US" sz="1100" i="1" dirty="0">
                <a:solidFill>
                  <a:srgbClr val="5A6472"/>
                </a:solidFill>
                <a:latin typeface="Calibri" pitchFamily="34" charset="0"/>
                <a:cs typeface="Amiri" pitchFamily="2" charset="-78"/>
              </a:rPr>
              <a:t>ḍa-mī-ru ar-raf-ʿi al-mut-ta-ṣi-lu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ـْتُ · ـْنَا · ـُوا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الْمُتَكَلِّمُ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1st person (I / we)</a:t>
            </a:r>
            <a:endParaRPr lang="en-US" sz="1350" dirty="0"/>
          </a:p>
          <a:p>
            <a:pPr indent="0" marL="0">
              <a:buNone/>
            </a:pPr>
            <a:r>
              <a:rPr lang="en-US" sz="1100" i="1" dirty="0">
                <a:solidFill>
                  <a:srgbClr val="5A6472"/>
                </a:solidFill>
                <a:latin typeface="Calibri" pitchFamily="34" charset="0"/>
                <a:cs typeface="Amiri" pitchFamily="2" charset="-78"/>
              </a:rPr>
              <a:t>al-mu-ta-kal-li-mu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كَتَبْتُ · كَتَبْنَا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الْمُخَاطَبُ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2nd person (you)</a:t>
            </a:r>
            <a:endParaRPr lang="en-US" sz="1350" dirty="0"/>
          </a:p>
          <a:p>
            <a:pPr indent="0" marL="0">
              <a:buNone/>
            </a:pPr>
            <a:r>
              <a:rPr lang="en-US" sz="1100" i="1" dirty="0">
                <a:solidFill>
                  <a:srgbClr val="5A6472"/>
                </a:solidFill>
                <a:latin typeface="Calibri" pitchFamily="34" charset="0"/>
                <a:cs typeface="Amiri" pitchFamily="2" charset="-78"/>
              </a:rPr>
              <a:t>al-mu-khā-ṭa-bu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كَتَبْتَ · كَتَبْتِ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الْغَائِبُ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3rd person (he / she / they)</a:t>
            </a:r>
            <a:endParaRPr lang="en-US" sz="1350" dirty="0"/>
          </a:p>
          <a:p>
            <a:pPr indent="0" marL="0">
              <a:buNone/>
            </a:pPr>
            <a:r>
              <a:rPr lang="en-US" sz="1100" i="1" dirty="0">
                <a:solidFill>
                  <a:srgbClr val="5A6472"/>
                </a:solidFill>
                <a:latin typeface="Calibri" pitchFamily="34" charset="0"/>
                <a:cs typeface="Amiri" pitchFamily="2" charset="-78"/>
              </a:rPr>
              <a:t>al-ghā-ʾi-bu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كَتَبَتْ · كَتَبُوا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السَّرْدُ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narration (telling a story)</a:t>
            </a:r>
            <a:endParaRPr lang="en-US" sz="1350" dirty="0"/>
          </a:p>
          <a:p>
            <a:pPr indent="0" marL="0">
              <a:buNone/>
            </a:pPr>
            <a:r>
              <a:rPr lang="en-US" sz="1100" i="1" dirty="0">
                <a:solidFill>
                  <a:srgbClr val="5A6472"/>
                </a:solidFill>
                <a:latin typeface="Calibri" pitchFamily="34" charset="0"/>
                <a:cs typeface="Amiri" pitchFamily="2" charset="-78"/>
              </a:rPr>
              <a:t>as-sar-du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أَوَّلًا … ثُمَّ … أَخِيرًا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THIRD-PERSON PAST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she,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الْغَائِبُ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wrote</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dictionary form</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a:t>
            </a:r>
            <a:endParaRPr lang="ar-SA" sz="2600" dirty="0"/>
          </a:p>
        </p:txBody>
      </p:sp>
      <p:sp>
        <p:nvSpPr>
          <p:cNvPr id="23" name="Text 20"/>
          <p:cNvSpPr txBox="1"/>
          <p:nvPr/>
        </p:nvSpPr>
        <p:spPr>
          <a:xfrm>
            <a:off x="3127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كَتَبُوا</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ـُوا</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كَتَبْنَ</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ـْنَ</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two (m.)</a:t>
            </a:r>
            <a:endParaRPr lang="en-US" sz="1100" dirty="0"/>
          </a:p>
        </p:txBody>
      </p:sp>
      <p:sp>
        <p:nvSpPr>
          <p:cNvPr id="48" name="Text 45"/>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كَتَبَا</a:t>
            </a:r>
            <a:endParaRPr lang="ar-SA" sz="2600" dirty="0"/>
          </a:p>
        </p:txBody>
      </p:sp>
      <p:sp>
        <p:nvSpPr>
          <p:cNvPr id="49" name="Text 46"/>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ـَا</a:t>
            </a:r>
            <a:endParaRPr lang="ar-SA" sz="2400" dirty="0"/>
          </a:p>
        </p:txBody>
      </p:sp>
      <p:sp>
        <p:nvSpPr>
          <p:cNvPr id="50" name="Text 47"/>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two (f.)</a:t>
            </a:r>
            <a:endParaRPr lang="en-US" sz="1100" dirty="0"/>
          </a:p>
        </p:txBody>
      </p:sp>
      <p:sp>
        <p:nvSpPr>
          <p:cNvPr id="53" name="Text 50"/>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كَتَبَتَا</a:t>
            </a:r>
            <a:endParaRPr lang="ar-SA" sz="2600" dirty="0"/>
          </a:p>
        </p:txBody>
      </p:sp>
      <p:sp>
        <p:nvSpPr>
          <p:cNvPr id="54" name="Text 51"/>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ـَتَا</a:t>
            </a:r>
            <a:endParaRPr lang="ar-SA" sz="2400" dirty="0"/>
          </a:p>
        </p:txBody>
      </p:sp>
      <p:sp>
        <p:nvSpPr>
          <p:cNvPr id="55" name="Text 52"/>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third person starts from the dictionary form; the ending shows masculine / feminine and singular / dual / plural.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FIRST AND SECOND PERSON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we and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الْمُتَكَلِّمُ وَالْمُخَاطَبُ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studied</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final ḍamma</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دَرَسْتُ</a:t>
            </a:r>
            <a:endParaRPr lang="ar-SA" sz="2600" dirty="0"/>
          </a:p>
        </p:txBody>
      </p:sp>
      <p:sp>
        <p:nvSpPr>
          <p:cNvPr id="23" name="Text 20"/>
          <p:cNvSpPr txBox="1"/>
          <p:nvPr/>
        </p:nvSpPr>
        <p:spPr>
          <a:xfrm>
            <a:off x="310896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a:t>
            </a:r>
            <a:endParaRPr lang="ar-SA" sz="24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دَرَسْنَا</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ـْنَا</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final fatḥa</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دَرَسْتَ</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 final kasra</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دَرَسْتِ</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two</a:t>
            </a:r>
            <a:endParaRPr lang="en-US" sz="1100" dirty="0"/>
          </a:p>
        </p:txBody>
      </p:sp>
      <p:sp>
        <p:nvSpPr>
          <p:cNvPr id="50" name="Text 47"/>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دَرَسْتُمَا</a:t>
            </a:r>
            <a:endParaRPr lang="ar-SA" sz="2600" dirty="0"/>
          </a:p>
        </p:txBody>
      </p:sp>
      <p:sp>
        <p:nvSpPr>
          <p:cNvPr id="51" name="Text 48"/>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ـْتُمَا</a:t>
            </a:r>
            <a:endParaRPr lang="ar-SA" sz="2400" dirty="0"/>
          </a:p>
        </p:txBody>
      </p:sp>
      <p:sp>
        <p:nvSpPr>
          <p:cNvPr id="52" name="Text 49"/>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أَنْتُمَا</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all (m. · f.)</a:t>
            </a:r>
            <a:endParaRPr lang="en-US" sz="1100" dirty="0"/>
          </a:p>
        </p:txBody>
      </p:sp>
      <p:sp>
        <p:nvSpPr>
          <p:cNvPr id="55" name="Text 52"/>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دَرَسْتُمْ · دَرَسْتُنَّ</a:t>
            </a:r>
            <a:endParaRPr lang="ar-SA" sz="2600" dirty="0"/>
          </a:p>
        </p:txBody>
      </p:sp>
      <p:sp>
        <p:nvSpPr>
          <p:cNvPr id="56" name="Text 53"/>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ـْتُمْ · ـْتُنَّ</a:t>
            </a:r>
            <a:endParaRPr lang="ar-SA" sz="2400" dirty="0"/>
          </a:p>
        </p:txBody>
      </p:sp>
      <p:sp>
        <p:nvSpPr>
          <p:cNvPr id="57" name="Text 54"/>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 · أَنْتُنَّ</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three short vowels matter — darastu (I), darasta (you m.), darasti (you f.). And she = darasat (sukūn on the t).</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 PART 3 · ENDINGS ACROSS VERB FAMILIES · NARRATION (WEBSITE)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Ending + the right 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اللَّاحِقَةُ وَالْجِذْعُ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 (website)</a:t>
            </a:r>
            <a:endParaRPr lang="en-US" sz="1100" dirty="0"/>
          </a:p>
        </p:txBody>
      </p:sp>
      <p:sp>
        <p:nvSpPr>
          <p:cNvPr id="17" name="Text 14"/>
          <p:cNvSpPr txBox="1"/>
          <p:nvPr/>
        </p:nvSpPr>
        <p:spPr>
          <a:xfrm>
            <a:off x="5102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2907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 letters stay visible</a:t>
            </a:r>
            <a:endParaRPr lang="en-US" sz="1100" dirty="0"/>
          </a:p>
        </p:txBody>
      </p:sp>
      <p:sp>
        <p:nvSpPr>
          <p:cNvPr id="22" name="Text 19"/>
          <p:cNvSpPr txBox="1"/>
          <p:nvPr/>
        </p:nvSpPr>
        <p:spPr>
          <a:xfrm>
            <a:off x="512064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كَتَبْتُ · كَتَبْنَا</a:t>
            </a:r>
            <a:endParaRPr lang="ar-SA" sz="2400" dirty="0"/>
          </a:p>
        </p:txBody>
      </p:sp>
      <p:sp>
        <p:nvSpPr>
          <p:cNvPr id="23" name="Text 20"/>
          <p:cNvSpPr txBox="1"/>
          <p:nvPr/>
        </p:nvSpPr>
        <p:spPr>
          <a:xfrm>
            <a:off x="292608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كَتَبَ</a:t>
            </a:r>
            <a:endParaRPr lang="ar-SA" sz="24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stem shortens</a:t>
            </a:r>
            <a:endParaRPr lang="en-US" sz="1100" dirty="0"/>
          </a:p>
        </p:txBody>
      </p:sp>
      <p:sp>
        <p:nvSpPr>
          <p:cNvPr id="29" name="Text 26"/>
          <p:cNvSpPr txBox="1"/>
          <p:nvPr/>
        </p:nvSpPr>
        <p:spPr>
          <a:xfrm>
            <a:off x="512064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قُلْتُ · قُلْنَا</a:t>
            </a:r>
            <a:endParaRPr lang="ar-SA" sz="2400" dirty="0"/>
          </a:p>
        </p:txBody>
      </p:sp>
      <p:sp>
        <p:nvSpPr>
          <p:cNvPr id="30" name="Text 27"/>
          <p:cNvSpPr txBox="1"/>
          <p:nvPr/>
        </p:nvSpPr>
        <p:spPr>
          <a:xfrm>
            <a:off x="292608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قَالَ</a:t>
            </a:r>
            <a:endParaRPr lang="ar-SA" sz="24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opens</a:t>
            </a:r>
            <a:endParaRPr lang="en-US" sz="1100" dirty="0"/>
          </a:p>
        </p:txBody>
      </p:sp>
      <p:sp>
        <p:nvSpPr>
          <p:cNvPr id="34" name="Text 31"/>
          <p:cNvSpPr txBox="1"/>
          <p:nvPr/>
        </p:nvSpPr>
        <p:spPr>
          <a:xfrm>
            <a:off x="512064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مَرَرْتُ · مَرَرْنَا</a:t>
            </a:r>
            <a:endParaRPr lang="ar-SA" sz="2400" dirty="0"/>
          </a:p>
        </p:txBody>
      </p:sp>
      <p:sp>
        <p:nvSpPr>
          <p:cNvPr id="35" name="Text 32"/>
          <p:cNvSpPr txBox="1"/>
          <p:nvPr/>
        </p:nvSpPr>
        <p:spPr>
          <a:xfrm>
            <a:off x="292608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مَرَّ</a:t>
            </a:r>
            <a:endParaRPr lang="ar-SA" sz="2400" dirty="0"/>
          </a:p>
        </p:txBody>
      </p:sp>
      <p:sp>
        <p:nvSpPr>
          <p:cNvPr id="36" name="Text 33"/>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letter changes</a:t>
            </a:r>
            <a:endParaRPr lang="en-US" sz="1100" dirty="0"/>
          </a:p>
        </p:txBody>
      </p:sp>
      <p:sp>
        <p:nvSpPr>
          <p:cNvPr id="39" name="Text 36"/>
          <p:cNvSpPr txBox="1"/>
          <p:nvPr/>
        </p:nvSpPr>
        <p:spPr>
          <a:xfrm>
            <a:off x="512064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مَشَيْتُ · مَشَيْنَا</a:t>
            </a:r>
            <a:endParaRPr lang="ar-SA" sz="2400" dirty="0"/>
          </a:p>
        </p:txBody>
      </p:sp>
      <p:sp>
        <p:nvSpPr>
          <p:cNvPr id="40" name="Text 37"/>
          <p:cNvSpPr txBox="1"/>
          <p:nvPr/>
        </p:nvSpPr>
        <p:spPr>
          <a:xfrm>
            <a:off x="292608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مَشَى</a:t>
            </a:r>
            <a:endParaRPr lang="ar-SA" sz="2400" dirty="0"/>
          </a:p>
        </p:txBody>
      </p:sp>
      <p:sp>
        <p:nvSpPr>
          <p:cNvPr id="41" name="Text 38"/>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conjugation is not only adding a suffix — identify the family first (GM-V-02), then attach the ending. Narrative frame: last week … first … then … after that … finally …</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وَصَلَتْ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(f.)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(m.s.) cooked”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طَبَخَتْ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(f.s.) read”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قَرَأَتْ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arrived”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وَصَلَ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وَصَلَتْ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 she.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(f.)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كَتَبْنَ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كَتَبْتُنَّ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they (f.).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(m.s.) cooked”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طَبَخْتَ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طَبَخَتْ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you (m.).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(f.s.) read”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قَرَأْتِ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قَرَأَتْ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 = you (f.).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story in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فِي الْأُسْبُوعِ الْمَاضِي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time frame.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ذَهَبْنَا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 رَأَيْنَا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Sequence + we.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وَقَالَ الْمُرْشِدُ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dictionary form.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فِي الْأُسْبُوعِ الْمَاضِي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ذَهَبْنَا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إِلَى مَعْرِضٍ ثَقَافِيٍّ.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أَوَّلًا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رَأَيْنَا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صُوَرًا جَمِيلَةً،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ثُمَّ</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قَالَ</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الْمُرْشِدُ إِنَّ الْمَعْرِضَ يَعْرِضُ تَارِيخَ الْمَدِينَةِ. </a:t>
            </a:r>
            <a:pPr rtl="1" algn="r" indent="0" marL="0">
              <a:lnSpc>
                <a:spcPct val="120000"/>
              </a:lnSpc>
              <a:buNone/>
            </a:pPr>
            <a:r>
              <a:rPr lang="ar-SA" altLang="en-US" sz="1650" b="1" dirty="0">
                <a:solidFill>
                  <a:srgbClr val="D6336C"/>
                </a:solidFill>
                <a:latin typeface="Amiri" pitchFamily="2" charset="-78"/>
                <a:ea typeface="Amiri" pitchFamily="2" charset="-78"/>
                <a:cs typeface="Amiri" pitchFamily="2" charset="-78"/>
              </a:rPr>
              <a:t>أَخِيرًا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ea typeface="Amiri" pitchFamily="2" charset="-78"/>
                <a:cs typeface="Amiri" pitchFamily="2" charset="-78"/>
              </a:rPr>
              <a:t>رَجَعْنَا</a:t>
            </a:r>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 إِلَى الْبَيْتِ.</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week we went to a cultural exhibition. First we saw beautiful pictures, then the guide said that the exhibition shows the history of the city. Finally we returned home.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أَمْسِ قَرَأْتُ مَقَالًا.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Yesterday I read an article.</a:t>
            </a:r>
            <a:endParaRPr lang="en-US" sz="1250" dirty="0"/>
          </a:p>
          <a:p>
            <a:pPr indent="0" marL="0">
              <a:buNone/>
            </a:pPr>
            <a:r>
              <a:rPr lang="en-US" sz="1050" i="1" dirty="0">
                <a:solidFill>
                  <a:srgbClr val="8A6D1E"/>
                </a:solidFill>
                <a:latin typeface="Calibri" pitchFamily="34" charset="0"/>
                <a:cs typeface="Amiri" pitchFamily="2" charset="-78"/>
              </a:rPr>
              <a:t>Website: personal action.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الْعُطْلَةِ زُرْنَا مِصْرَ.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holiday we visited Egypt.</a:t>
            </a:r>
            <a:endParaRPr lang="en-US" sz="1250" dirty="0"/>
          </a:p>
          <a:p>
            <a:pPr indent="0" marL="0">
              <a:buNone/>
            </a:pPr>
            <a:r>
              <a:rPr lang="en-US" sz="1050" i="1" dirty="0">
                <a:solidFill>
                  <a:srgbClr val="8A6D1E"/>
                </a:solidFill>
                <a:latin typeface="Calibri" pitchFamily="34" charset="0"/>
                <a:cs typeface="Amiri" pitchFamily="2" charset="-78"/>
              </a:rPr>
              <a:t>Website: shared experience.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فَازُوا بِالْمُبَارَاةِ.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won the match.</a:t>
            </a:r>
            <a:endParaRPr lang="en-US" sz="1250" dirty="0"/>
          </a:p>
          <a:p>
            <a:pPr indent="0" marL="0">
              <a:buNone/>
            </a:pPr>
            <a:r>
              <a:rPr lang="en-US" sz="1050" i="1" dirty="0">
                <a:solidFill>
                  <a:srgbClr val="8A6D1E"/>
                </a:solidFill>
                <a:latin typeface="Calibri" pitchFamily="34" charset="0"/>
                <a:cs typeface="Amiri" pitchFamily="2" charset="-78"/>
              </a:rPr>
              <a:t>Website: reporting others.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وَصَلَتِ الطَّالِبَاتُ وَجَلَسْنَ فِي الصَّفِّ.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arrived and sat in class.</a:t>
            </a:r>
            <a:endParaRPr lang="en-US" sz="1250" dirty="0"/>
          </a:p>
          <a:p>
            <a:pPr indent="0" marL="0">
              <a:buNone/>
            </a:pPr>
            <a:r>
              <a:rPr lang="en-US" sz="1050" i="1" dirty="0">
                <a:solidFill>
                  <a:srgbClr val="8A6D1E"/>
                </a:solidFill>
                <a:latin typeface="Calibri" pitchFamily="34" charset="0"/>
                <a:cs typeface="Amiri" pitchFamily="2" charset="-78"/>
              </a:rPr>
              <a:t>Feminine plural report.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MATCH PERSON AND ENDING (WEBSITE PERSON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قُلْتُمْ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 · we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 · she · they</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 · we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دَرَسْتِ</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قُلْتُمْ</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شَاهَدْتَ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 · she · they</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سَافَرَتْ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لَعِبُوا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وَصَلْنَ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VERB, EVERY PERSON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Conjugate “to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صَرِّفِ الْفِعْلَ «لَعِبَ»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32735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لَعِبْنَا</a:t>
            </a:r>
            <a:endParaRPr lang="ar-SA" sz="2600" dirty="0"/>
          </a:p>
        </p:txBody>
      </p:sp>
      <p:sp>
        <p:nvSpPr>
          <p:cNvPr id="22" name="Text 19"/>
          <p:cNvSpPr txBox="1"/>
          <p:nvPr/>
        </p:nvSpPr>
        <p:spPr>
          <a:xfrm>
            <a:off x="621792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نَحْنُ</a:t>
            </a:r>
            <a:endParaRPr lang="ar-SA" sz="2400" dirty="0"/>
          </a:p>
        </p:txBody>
      </p:sp>
      <p:sp>
        <p:nvSpPr>
          <p:cNvPr id="23" name="Text 20"/>
          <p:cNvSpPr txBox="1"/>
          <p:nvPr/>
        </p:nvSpPr>
        <p:spPr>
          <a:xfrm>
            <a:off x="32918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29" name="Text 26"/>
          <p:cNvSpPr txBox="1"/>
          <p:nvPr/>
        </p:nvSpPr>
        <p:spPr>
          <a:xfrm>
            <a:off x="621792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0" name="Text 27"/>
          <p:cNvSpPr txBox="1"/>
          <p:nvPr/>
        </p:nvSpPr>
        <p:spPr>
          <a:xfrm>
            <a:off x="32918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a:t>
            </a:r>
            <a:endParaRPr lang="ar-SA" sz="2600" dirty="0"/>
          </a:p>
        </p:txBody>
      </p:sp>
      <p:sp>
        <p:nvSpPr>
          <p:cNvPr id="36" name="Text 33"/>
          <p:cNvSpPr txBox="1"/>
          <p:nvPr/>
        </p:nvSpPr>
        <p:spPr>
          <a:xfrm>
            <a:off x="621792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a:t>
            </a:r>
            <a:endParaRPr lang="ar-SA" sz="2400" dirty="0"/>
          </a:p>
        </p:txBody>
      </p:sp>
      <p:sp>
        <p:nvSpPr>
          <p:cNvPr id="37" name="Text 34"/>
          <p:cNvSpPr txBox="1"/>
          <p:nvPr/>
        </p:nvSpPr>
        <p:spPr>
          <a:xfrm>
            <a:off x="32918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a:t>
            </a:r>
            <a:endParaRPr lang="ar-SA" sz="26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لَعِبْنَ</a:t>
            </a:r>
            <a:endParaRPr lang="ar-SA" sz="2600" dirty="0"/>
          </a:p>
        </p:txBody>
      </p:sp>
      <p:sp>
        <p:nvSpPr>
          <p:cNvPr id="43" name="Text 40"/>
          <p:cNvSpPr txBox="1"/>
          <p:nvPr/>
        </p:nvSpPr>
        <p:spPr>
          <a:xfrm>
            <a:off x="621792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هُنَّ</a:t>
            </a:r>
            <a:endParaRPr lang="ar-SA" sz="2400" dirty="0"/>
          </a:p>
        </p:txBody>
      </p:sp>
      <p:sp>
        <p:nvSpPr>
          <p:cNvPr id="44" name="Text 41"/>
          <p:cNvSpPr txBox="1"/>
          <p:nvPr/>
        </p:nvSpPr>
        <p:spPr>
          <a:xfrm>
            <a:off x="32918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لَعِبُوا</a:t>
            </a:r>
            <a:endParaRPr lang="ar-SA" sz="26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لَعِبَا</a:t>
            </a:r>
            <a:endParaRPr lang="ar-SA" sz="2600" dirty="0"/>
          </a:p>
        </p:txBody>
      </p:sp>
      <p:sp>
        <p:nvSpPr>
          <p:cNvPr id="48" name="Text 45"/>
          <p:cNvSpPr txBox="1"/>
          <p:nvPr/>
        </p:nvSpPr>
        <p:spPr>
          <a:xfrm>
            <a:off x="6236208" y="5215738"/>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49" name="Text 46"/>
          <p:cNvSpPr txBox="1"/>
          <p:nvPr/>
        </p:nvSpPr>
        <p:spPr>
          <a:xfrm>
            <a:off x="32918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لَعِبْتُمْ</a:t>
            </a:r>
            <a:endParaRPr lang="ar-SA" sz="26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أَنْتُمْ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“Past” columns; students conjugate aloud, then write. Watch the vowel on the second root letter: laʿiba.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دَرَسْتَ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for 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كَتَبْتِ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هُنَّ لَعِبُوا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female?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دَرَسْتَ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دَرَسْتُ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vowel shows the person: -tu =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كَتَبْتِ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كَتَبَتْ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 she; -ti =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هُنَّ لَعِبُوا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هُنَّ لَعِبْنَ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plural takes -na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PAST FAMILY AND NARRATIVE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said”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passed”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مَرَرْنَا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walked”.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مَشَيْتِ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مَشَوْتِ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sequence ending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 نَرْجِعُ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 رَجَعْنَا أَخِيرًا.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 رَجَعْنَا إِلَى الْبَيْتِ.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said”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 stem.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passed”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مَرَرْنَا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stem opens.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walked”.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مَشَيْتِ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مَشَوْتِ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family + -ti.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sequence ending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 نَرْجِعُ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غَدًا رَجَعْنَا أَخِيرًا.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أَخِيرًا رَجَعْنَا إِلَى الْبَيْتِ.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form and sequence agree.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READING WORKSHOP (TEACHER-WRITTEN BIOGRAPHY)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biography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ea typeface="Amiri" pitchFamily="2" charset="-78"/>
                <a:cs typeface="Amiri" pitchFamily="2" charset="-78"/>
              </a:rPr>
              <a:t>وُلِدَتْ فَاطِمَةُ الْفِهْرِيَّةُ فِي الْقَيْرَوَانِ، ثُمَّ سَافَرَتْ مَعَ أُسْرَتِهَا إِلَى فَاسَ. هُنَاكَ وَرِثَتْ مَالًا كَثِيرًا، فَبَنَتْ مَسْجِدًا كَبِيرًا. بَعْدَ ذَلِكَ دَرَسَ فِيهِ طُلَّابٌ كَثِيرُونَ، وَأَصْبَحَ جَامِعَةَ الْقَرَوِيِّينَ. زُرْنَا الْجَامِعَةَ فِي الصَّيْفِ الْمَاضِي، وَتَعَلَّمْنَا قِصَّتَهَا.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وُلِدَتْ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was born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وَرِثَتْ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inherited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built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أَصْبَحَ</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became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تَعَلَّمْنَا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learned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travelled to Fes?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Fatima (with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Fatima build?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mosque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university last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and others (we)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Fatima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final weak (“she built”)?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وَرِثَتْ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travelled to Fes?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Fatima (with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Sāfarat — -at = she.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Fatima build?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 mosque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Banat masjidan kabīran.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university last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and others (we)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Fatima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Zurnā — -nā = we.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final weak (“she built”)?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سَافَرَتْ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وَرِثَتْ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banā → banat.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one-minute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فَعَلْتُمْ فِي آخِرِ رِحْلَةٍ مَدْرَسِيَّةٍ؟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احْكِ قِصَّةً: أَنَا … نَحْنُ … هُمْ / هِيَ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أَمْسِ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___ ، وَنَحْنُ ___ ، وَأَصْدِقَائِي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فَعَلْتِ فِي عُطْلَةِ نِهَايَةِ الْأُسْبُوعِ؟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at the weekend?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زُرْتُ خَالَتِي، وَطَبَخْنَا مَعًا، وَبَعْدَ ذَلِكَ لَعِبَ أَوْلَادُهَا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visited my aunt, we cooked together, and after that her children played in the garden.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memorable day in the first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 went, I saw, I ate … (-tu).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we, she and they — in order.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first · then · after that · finally.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blog with one hollow and one weak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each ending and label the subject above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لَعِبَ 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played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كَتَبَتِ الْبَنَاتُ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wrote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(f.)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قُلْنَا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said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we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أُخْتِي.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my sister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رَجَعْنَا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we returned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ذَهَبْتُ  ·  ذَهَبْنَا  ·  رَأَيْتُ  ·  زُرْنَا  ·  أَكَلْنَا  ·  شَاهَدْتُ  ·  سَافَرَتْ  ·  لَعِبُوا  ·  وَصَلْنَ  ·  قُلْتُ  ·  رَجَعْنَا  ·  أَوَّلًا  ·  ثُمَّ  ·  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130–140-word blog entry about a memorable day.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Eight different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subject endings (e.g. -tu, -nā, -at, -ū).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time expression and sequence links.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hollow verb and one 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ذَلِكَ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that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 ثُمَّ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أَعْجَبَنِي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liked (it pleased 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فَرِحْتُ كَثِيرًا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very happy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رَجَعْنَا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 we returned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أَجْمَلُ يَوْمٍ فِي حَيَاتِي كَانَ يَوْمَ تَخَرُّجِ أُخْتِي الْكَبِيرَةِ. فِي الصَّبَاحِ لَبِسْنَا ثِيَابًا جَدِيدَةً وَذَهَبْنَا إِلَى الْجَامِعَةِ. أَوَّلًا جَلَسْنَا فِي قَاعَةٍ كَبِيرَةٍ، ثُمَّ دَخَلَ الطُّلَّابُ وَالطَّالِبَاتُ. حِينَ سَمِعْنَا اسْمَ أُخْتِي، صَفَّقْنَا كَثِيرًا، وَبَكَتْ أُمِّي مِنَ الْفَرَحِ. بَعْدَ ذَلِكَ أَخَذْنَا صُوَرًا، وَقُلْتُ لِأُخْتِي: «أَنَا فَخُورٌ بِكِ!». أَخِيرًا رَجَعْنَا إِلَى الْبَيْتِ وَأَكَلْنَا عَشَاءً لَذِيذًا. تَعَلَّمْتُ أَنَّ الْجُهْدَ يَصْنَعُ النَّجَاحَ.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most beautiful day of my life was my older sister’s graduation day. In the morning we put on new clothes and went to the university. First we sat in a big hall, then the male and female students came in. When we heard my sister’s name, we clapped a lot, and my mother cried with joy. After that we took photos, and I said to my sister: “I am proud of you!”. Finally we went home and ate a delicious dinner. I learned that effort creates success.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she / they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ending matches its subject.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-tu for I and -nā for we.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for she and -ū for they.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story moves in order with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Weak stems are correct (qultu, mashaynā).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wrote”.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(f.)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كَتَبْتُمَا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said”.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wrote”.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 = you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(f.)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كَتَبَتَا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كَتَبْتُمَا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-atā = they two (f.).</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said”.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قَالُوا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 stem: qulnā.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GM-V-05 · Present Tense: Prefixes, Suffixes and Meaning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write</a:t>
            </a:r>
            <a:pPr indent="0" marL="0">
              <a:buNone/>
            </a:pPr>
            <a:r>
              <a:rPr lang="en-US" sz="1000" i="1" dirty="0">
                <a:solidFill>
                  <a:srgbClr val="5A6472"/>
                </a:solidFill>
                <a:latin typeface="Calibri" pitchFamily="34" charset="0"/>
                <a:cs typeface="Amiri" pitchFamily="2" charset="-78"/>
              </a:rPr>
              <a:t>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write / she writes</a:t>
            </a:r>
            <a:pPr indent="0" marL="0">
              <a:buNone/>
            </a:pPr>
            <a:r>
              <a:rPr lang="en-US" sz="1000" i="1" dirty="0">
                <a:solidFill>
                  <a:srgbClr val="5A6472"/>
                </a:solidFill>
                <a:latin typeface="Calibri" pitchFamily="34" charset="0"/>
                <a:cs typeface="Amiri" pitchFamily="2" charset="-78"/>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يَكْتُبُ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writes</a:t>
            </a:r>
            <a:pPr indent="0" marL="0">
              <a:buNone/>
            </a:pPr>
            <a:r>
              <a:rPr lang="en-US" sz="1000" i="1" dirty="0">
                <a:solidFill>
                  <a:srgbClr val="5A6472"/>
                </a:solidFill>
                <a:latin typeface="Calibri" pitchFamily="34" charset="0"/>
                <a:cs typeface="Amiri" pitchFamily="2" charset="-78"/>
              </a:rPr>
              <a:t>  ya-</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write</a:t>
            </a:r>
            <a:pPr indent="0" marL="0">
              <a:buNone/>
            </a:pPr>
            <a:r>
              <a:rPr lang="en-US" sz="1000" i="1" dirty="0">
                <a:solidFill>
                  <a:srgbClr val="5A6472"/>
                </a:solidFill>
                <a:latin typeface="Calibri" pitchFamily="34" charset="0"/>
                <a:cs typeface="Amiri" pitchFamily="2" charset="-78"/>
              </a:rPr>
              <a:t>  na-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يَكْتُبُونَ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write</a:t>
            </a:r>
            <a:pPr indent="0" marL="0">
              <a:buNone/>
            </a:pPr>
            <a:r>
              <a:rPr lang="en-US" sz="1000" i="1" dirty="0">
                <a:solidFill>
                  <a:srgbClr val="5A6472"/>
                </a:solidFill>
                <a:latin typeface="Calibri" pitchFamily="34" charset="0"/>
                <a:cs typeface="Amiri" pitchFamily="2" charset="-78"/>
              </a:rPr>
              <a:t>  ya- … -ūna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the past the ending shows the person. Where is the person shown in aktubu, taktubu, naktubu?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أَكْتُبُ · تَكْتُبُ · ______ · نَكْتُبُ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darasa for I, we, you (m.), you (f.), she, they.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Repair a story with person-ending mistakes.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blog entry about a memorable day.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GM-V-05 · Present Tense: Prefixes, Suffixes and Meaning</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الْفِعْلُ الْمُضَارِعُ: السَّوَابِقُ وَاللَّوَاحِقُ وَالدَّلَالَةُ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ending tells who · -tu I · -ta you (m.) · -ti you (f.) · -at she · -nā we · -ū they · -na they (f.) · identify the family, then add the ending.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GM-V-04 · Past Tense: Complete Conjugation and Narration</dc:title>
  <dc:subject>PptxGenJS Presentation</dc:subject>
  <dc:creator>Al Madina Online School · Arabic Department</dc:creator>
  <cp:lastModifiedBy>Al Madina Online School · Arabic Department</cp:lastModifiedBy>
  <cp:revision>1</cp:revision>
  <dcterms:created xsi:type="dcterms:W3CDTF">2026-10-11T06:42:35Z</dcterms:created>
  <dcterms:modified xsi:type="dcterms:W3CDTF">2026-10-11T06:42:35Z</dcterms:modified>
</cp:coreProperties>
</file>