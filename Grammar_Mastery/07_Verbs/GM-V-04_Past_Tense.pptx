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Verbs › GM-V-04 (“Past Tense: Complete Conjugation and Narration”).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the most frequent endings — ـْتُ · ـْنَا · ـَتْ · ـُوا, then ـْتَ / ـْتِ. Develop: all thirteen persons, including duals (ـَا · ـَتَا · ـْتُمَا) and feminine plurals (ـْنَ · ـْتُنَّ). Stretch: add the endings to hollow, doubled and final-weak stems (قُلْنَا · مَرَرْتُ · مَشَيْتِ) and analyse full agreement.
• The “four t’s” trap: ـْتُ (I) · ـْتَ (you m.) · ـْتِ (you f.) · ـَتْ (she). Say them with exaggerated final vowels.
• Narrative frame from the website: فِي الْأُسْبُوعِ الْمَاضِي … أَوَّلًا … ثُمَّ … بَعْدَ ذَلِكَ … أَخِيرًا … (links to GM-ADV-04).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(questions 1–5) — it uses the five forms prepared at the end of GM-V-03.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In the past, the ENDING tells you who acted. One small vowel can change the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“Third-person past endings”. Core: rows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(4 min) — website “First and second person”. Drill the four t’s aloud with exaggerated vowels.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“Past endings across verb families” and “Use the past to tell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Third-Person and Speaker / Addressee checks.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model with the narrative frame added. For each verb, say who acted from the ending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person game forms. Students type 1–3 and name the exact pronoun (darasti = 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person game forms. Students type 1–3 and name the exact pronoun (darasti = 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Laʿiba has kasra on the middle letter — the endings are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Past Family and Narrative checks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workshop (teacher-written biography). Read it aloud once while students follow; then they hunt for today’s grammar.
Task: Website: identify who performed each action, using the endings to resolve pronouns that are not written.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biography (Fatima al-Fihri, founder of al-Qarawiyyin) for the website reading workshop;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workshop. Sequence: ● 10s think → ↔ 45s rehearse aloud with mic muted → ◎ two named students on open mic (warned in advance) → + ? the class types one follow-up in chat → ↺ one student summarises.
Routes: Core uses the Core prompt and stem; Develop the Develop prompt; Stretch the last prompt.
Website: one-minute story with first-person singular, first-person plural and a third-person report. Listening (website): partner tells a weekend account; listener draws a timeline with the exact past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a 130–140-word blog entry about a memorable day, with at least eight different past verbs and four different subject endings.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blog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(GM-V-05 · Present Tense: Prefixes, Suffixes and Meaning) will spend class time USING this language, so students prepare it tonight — short, simple, easy to access (school guidance: “Simple, Short, Interesting, Relevant, Easy to access”). The five forms prepare GM-V-05 (website Verbs lesson 5: the present tense).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VERBS  ·  GM-V-04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GM-V-04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Past Tense: Complete Conjugation and Narration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الْفِعْلُ الْمَاضِي: التَّصْرِيفُ وَالسَّرْدُ</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The past tense shows WHO acted with an ending on the verb: katabtu (I), katabta (you m.), katabti (you f.), katabat (she), katabnā (we), katabū (they). One tiny vowel changes the person — so read the ending carefully, and tell your story in order.</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GM-V-04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Verbs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GM-V-04 · 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GM-V-04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Third person; first and second person; families; narration.</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Match person and ending; tell the story in order;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GM-V-05.</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GM-V-04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studied”.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دَرَسَتْ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دَرَسْتُ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أَدْرُسُ</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 (f.s.) wrote”.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كَتَبْتَ</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كَتَبَتْ</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travelled”.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سَافَرْنَ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يُسَافِرُونَ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سَافَرُوا</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 two arrived”.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وَصَلَا</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وَصَلْنَا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وَصَلْتُمَا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(f.) played”.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لَعِبْنَ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لَعِبُوا</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لَعِبْتُنَّ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GM-V-04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studied”.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دَرَسَتْ</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دَرَسْتُ</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أَدْرُسُ</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-tu marks “I” in the past.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 (f.s.) wrote”.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كَتَبْتِ</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كَتَبْتَ</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كَتَبَتْ</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vowel on -ti marks “you (f.)”.</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travelled”.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سَافَرْنَ</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يُسَافِرُونَ</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سَافَرُوا</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-ū marks “they (m. / mixed)”.</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 two arrived”.</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وَصَلَا</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وَصَلْنَا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وَصَلْتُمَا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-tumā marks “you two”.</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(f.) played”.</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لَعِبْنَ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لَعِبُوا</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لَعِبْتُنَّ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-na marks “they (f.)”.</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In the past, the ENDING tells you who acted. One small vowel can change the person.</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كَتَبْتُ · كَتَبْتَ · كَتَبْتِ · </a:t>
            </a:r>
            <a:pPr rtl="1" algn="ctr" indent="0" marL="0">
              <a:buNone/>
            </a:pPr>
            <a:r>
              <a:rPr lang="ar-SA" altLang="en-US" sz="2400" b="1" dirty="0">
                <a:solidFill>
                  <a:srgbClr val="0E7C86"/>
                </a:solidFill>
                <a:latin typeface="Amiri" pitchFamily="2" charset="-78"/>
                <a:ea typeface="Amiri" pitchFamily="2" charset="-78"/>
                <a:cs typeface="Amiri" pitchFamily="2" charset="-78"/>
              </a:rPr>
              <a:t>كَتَبَتْ</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GM-V-04 · 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Conjugate regular past verbs for all persons.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Distinguish -tu, -ta, -ti and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Add past endings to weak and doubled stems.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Tell a connected story in the past.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write I, we, she and they in the past.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hear the difference between -tu, -ta and -ti.</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dual and feminine plural endings.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tell a story with first, then, finally.</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add endings to weak stems: qulnā, marartu.</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mix I, we and a third-person report.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GM-V-04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الْفِعْلُ الْمَاضِي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past tense (completed)</a:t>
            </a:r>
            <a:endParaRPr lang="en-US" sz="1350" dirty="0"/>
          </a:p>
          <a:p>
            <a:pPr indent="0" marL="0">
              <a:buNone/>
            </a:pPr>
            <a:r>
              <a:rPr lang="en-US" sz="1100" i="1" dirty="0">
                <a:solidFill>
                  <a:srgbClr val="5A6472"/>
                </a:solidFill>
                <a:latin typeface="Calibri" pitchFamily="34" charset="0"/>
                <a:cs typeface="Amiri" pitchFamily="2" charset="-78"/>
              </a:rPr>
              <a:t>al-fiʿ-lu al-mā-ḍī</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كَتَبَ</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ضَمِيرُ الرَّفْعِ الْمُتَّصِلُ</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subject ending</a:t>
            </a:r>
            <a:endParaRPr lang="en-US" sz="1350" dirty="0"/>
          </a:p>
          <a:p>
            <a:pPr indent="0" marL="0">
              <a:buNone/>
            </a:pPr>
            <a:r>
              <a:rPr lang="en-US" sz="1100" i="1" dirty="0">
                <a:solidFill>
                  <a:srgbClr val="5A6472"/>
                </a:solidFill>
                <a:latin typeface="Calibri" pitchFamily="34" charset="0"/>
                <a:cs typeface="Amiri" pitchFamily="2" charset="-78"/>
              </a:rPr>
              <a:t>ḍa-mī-ru ar-raf-ʿi al-mut-ta-ṣi-lu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ـْتُ · ـْنَا · ـُوا</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الْمُتَكَلِّمُ</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1st person (I / we)</a:t>
            </a:r>
            <a:endParaRPr lang="en-US" sz="1350" dirty="0"/>
          </a:p>
          <a:p>
            <a:pPr indent="0" marL="0">
              <a:buNone/>
            </a:pPr>
            <a:r>
              <a:rPr lang="en-US" sz="1100" i="1" dirty="0">
                <a:solidFill>
                  <a:srgbClr val="5A6472"/>
                </a:solidFill>
                <a:latin typeface="Calibri" pitchFamily="34" charset="0"/>
                <a:cs typeface="Amiri" pitchFamily="2" charset="-78"/>
              </a:rPr>
              <a:t>al-mu-ta-kal-li-mu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كَتَبْتُ · كَتَبْنَا</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الْمُخَاطَبُ</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2nd person (you)</a:t>
            </a:r>
            <a:endParaRPr lang="en-US" sz="1350" dirty="0"/>
          </a:p>
          <a:p>
            <a:pPr indent="0" marL="0">
              <a:buNone/>
            </a:pPr>
            <a:r>
              <a:rPr lang="en-US" sz="1100" i="1" dirty="0">
                <a:solidFill>
                  <a:srgbClr val="5A6472"/>
                </a:solidFill>
                <a:latin typeface="Calibri" pitchFamily="34" charset="0"/>
                <a:cs typeface="Amiri" pitchFamily="2" charset="-78"/>
              </a:rPr>
              <a:t>al-mu-khā-ṭa-bu</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كَتَبْتَ · كَتَبْتِ</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الْغَائِبُ</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3rd person (he / she / they)</a:t>
            </a:r>
            <a:endParaRPr lang="en-US" sz="1350" dirty="0"/>
          </a:p>
          <a:p>
            <a:pPr indent="0" marL="0">
              <a:buNone/>
            </a:pPr>
            <a:r>
              <a:rPr lang="en-US" sz="1100" i="1" dirty="0">
                <a:solidFill>
                  <a:srgbClr val="5A6472"/>
                </a:solidFill>
                <a:latin typeface="Calibri" pitchFamily="34" charset="0"/>
                <a:cs typeface="Amiri" pitchFamily="2" charset="-78"/>
              </a:rPr>
              <a:t>al-ghā-ʾi-bu</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كَتَبَ · كَتَبَتْ · كَتَبُوا</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السَّرْدُ</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narration (telling a story)</a:t>
            </a:r>
            <a:endParaRPr lang="en-US" sz="1350" dirty="0"/>
          </a:p>
          <a:p>
            <a:pPr indent="0" marL="0">
              <a:buNone/>
            </a:pPr>
            <a:r>
              <a:rPr lang="en-US" sz="1100" i="1" dirty="0">
                <a:solidFill>
                  <a:srgbClr val="5A6472"/>
                </a:solidFill>
                <a:latin typeface="Calibri" pitchFamily="34" charset="0"/>
                <a:cs typeface="Amiri" pitchFamily="2" charset="-78"/>
              </a:rPr>
              <a:t>as-sar-du</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أَوَّلًا … ثُمَّ … أَخِيرًا</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GM-V-04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1 · THIRD-PERSON PAST ENDINGS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 she, they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الْغَائِبُ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Note</a:t>
            </a:r>
            <a:endParaRPr lang="en-US" sz="1100" dirty="0"/>
          </a:p>
        </p:txBody>
      </p:sp>
      <p:sp>
        <p:nvSpPr>
          <p:cNvPr id="17" name="Text 14"/>
          <p:cNvSpPr txBox="1"/>
          <p:nvPr/>
        </p:nvSpPr>
        <p:spPr>
          <a:xfrm>
            <a:off x="546811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wrote</a:t>
            </a:r>
            <a:endParaRPr lang="en-US" sz="1100" dirty="0"/>
          </a:p>
        </p:txBody>
      </p:sp>
      <p:sp>
        <p:nvSpPr>
          <p:cNvPr id="18" name="Text 15"/>
          <p:cNvSpPr txBox="1"/>
          <p:nvPr/>
        </p:nvSpPr>
        <p:spPr>
          <a:xfrm>
            <a:off x="309067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Ending</a:t>
            </a:r>
            <a:endParaRPr lang="en-US" sz="1100" dirty="0"/>
          </a:p>
        </p:txBody>
      </p:sp>
      <p:sp>
        <p:nvSpPr>
          <p:cNvPr id="19" name="Text 16"/>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Pronoun</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8430768" y="226771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dictionary form</a:t>
            </a:r>
            <a:endParaRPr lang="en-US" sz="1100" dirty="0"/>
          </a:p>
        </p:txBody>
      </p:sp>
      <p:sp>
        <p:nvSpPr>
          <p:cNvPr id="22" name="Text 19"/>
          <p:cNvSpPr txBox="1"/>
          <p:nvPr/>
        </p:nvSpPr>
        <p:spPr>
          <a:xfrm>
            <a:off x="5486400" y="2267712"/>
            <a:ext cx="27432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كَتَبَ</a:t>
            </a:r>
            <a:endParaRPr lang="ar-SA" sz="2600" dirty="0"/>
          </a:p>
        </p:txBody>
      </p:sp>
      <p:sp>
        <p:nvSpPr>
          <p:cNvPr id="23" name="Text 20"/>
          <p:cNvSpPr txBox="1"/>
          <p:nvPr/>
        </p:nvSpPr>
        <p:spPr>
          <a:xfrm>
            <a:off x="312724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24" name="Text 21"/>
          <p:cNvSpPr txBox="1"/>
          <p:nvPr/>
        </p:nvSpPr>
        <p:spPr>
          <a:xfrm>
            <a:off x="548640" y="2267712"/>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هُوَ</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8430768" y="2881884"/>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a:t>
            </a:r>
            <a:endParaRPr lang="en-US" sz="1100" dirty="0"/>
          </a:p>
        </p:txBody>
      </p:sp>
      <p:sp>
        <p:nvSpPr>
          <p:cNvPr id="29" name="Text 26"/>
          <p:cNvSpPr txBox="1"/>
          <p:nvPr/>
        </p:nvSpPr>
        <p:spPr>
          <a:xfrm>
            <a:off x="5486400" y="2881884"/>
            <a:ext cx="27432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كَتَبَتْ</a:t>
            </a:r>
            <a:endParaRPr lang="ar-SA" sz="2600" dirty="0"/>
          </a:p>
        </p:txBody>
      </p:sp>
      <p:sp>
        <p:nvSpPr>
          <p:cNvPr id="30" name="Text 27"/>
          <p:cNvSpPr txBox="1"/>
          <p:nvPr/>
        </p:nvSpPr>
        <p:spPr>
          <a:xfrm>
            <a:off x="3108960" y="2881884"/>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ـَتْ</a:t>
            </a:r>
            <a:endParaRPr lang="ar-SA" sz="2400" dirty="0"/>
          </a:p>
        </p:txBody>
      </p:sp>
      <p:sp>
        <p:nvSpPr>
          <p:cNvPr id="31" name="Text 28"/>
          <p:cNvSpPr txBox="1"/>
          <p:nvPr/>
        </p:nvSpPr>
        <p:spPr>
          <a:xfrm>
            <a:off x="548640" y="2881884"/>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هِيَ</a:t>
            </a:r>
            <a:endParaRPr lang="ar-SA" sz="24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8430768" y="3496056"/>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(m. / mixed)</a:t>
            </a:r>
            <a:endParaRPr lang="en-US" sz="1100" dirty="0"/>
          </a:p>
        </p:txBody>
      </p:sp>
      <p:sp>
        <p:nvSpPr>
          <p:cNvPr id="36" name="Text 33"/>
          <p:cNvSpPr txBox="1"/>
          <p:nvPr/>
        </p:nvSpPr>
        <p:spPr>
          <a:xfrm>
            <a:off x="5486400" y="3496056"/>
            <a:ext cx="27432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كَتَبُوا</a:t>
            </a:r>
            <a:endParaRPr lang="ar-SA" sz="2600" dirty="0"/>
          </a:p>
        </p:txBody>
      </p:sp>
      <p:sp>
        <p:nvSpPr>
          <p:cNvPr id="37" name="Text 34"/>
          <p:cNvSpPr txBox="1"/>
          <p:nvPr/>
        </p:nvSpPr>
        <p:spPr>
          <a:xfrm>
            <a:off x="3108960" y="3496056"/>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ـُوا</a:t>
            </a:r>
            <a:endParaRPr lang="ar-SA" sz="2400" dirty="0"/>
          </a:p>
        </p:txBody>
      </p:sp>
      <p:sp>
        <p:nvSpPr>
          <p:cNvPr id="38" name="Text 35"/>
          <p:cNvSpPr txBox="1"/>
          <p:nvPr/>
        </p:nvSpPr>
        <p:spPr>
          <a:xfrm>
            <a:off x="548640" y="3496056"/>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هُمْ</a:t>
            </a:r>
            <a:endParaRPr lang="ar-SA" sz="24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8430768" y="4110228"/>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(f.)</a:t>
            </a:r>
            <a:endParaRPr lang="en-US" sz="1100" dirty="0"/>
          </a:p>
        </p:txBody>
      </p:sp>
      <p:sp>
        <p:nvSpPr>
          <p:cNvPr id="43" name="Text 40"/>
          <p:cNvSpPr txBox="1"/>
          <p:nvPr/>
        </p:nvSpPr>
        <p:spPr>
          <a:xfrm>
            <a:off x="5486400" y="4110228"/>
            <a:ext cx="27432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كَتَبْنَ</a:t>
            </a:r>
            <a:endParaRPr lang="ar-SA" sz="2600" dirty="0"/>
          </a:p>
        </p:txBody>
      </p:sp>
      <p:sp>
        <p:nvSpPr>
          <p:cNvPr id="44" name="Text 41"/>
          <p:cNvSpPr txBox="1"/>
          <p:nvPr/>
        </p:nvSpPr>
        <p:spPr>
          <a:xfrm>
            <a:off x="3108960" y="4110228"/>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ـْنَ</a:t>
            </a:r>
            <a:endParaRPr lang="ar-SA" sz="2400" dirty="0"/>
          </a:p>
        </p:txBody>
      </p:sp>
      <p:sp>
        <p:nvSpPr>
          <p:cNvPr id="45" name="Text 42"/>
          <p:cNvSpPr txBox="1"/>
          <p:nvPr/>
        </p:nvSpPr>
        <p:spPr>
          <a:xfrm>
            <a:off x="548640" y="4110228"/>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هُنَّ</a:t>
            </a:r>
            <a:endParaRPr lang="ar-SA" sz="24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8430768" y="4724400"/>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two (m.)</a:t>
            </a:r>
            <a:endParaRPr lang="en-US" sz="1100" dirty="0"/>
          </a:p>
        </p:txBody>
      </p:sp>
      <p:sp>
        <p:nvSpPr>
          <p:cNvPr id="48" name="Text 45"/>
          <p:cNvSpPr txBox="1"/>
          <p:nvPr/>
        </p:nvSpPr>
        <p:spPr>
          <a:xfrm>
            <a:off x="5486400" y="4724400"/>
            <a:ext cx="27432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كَتَبَا</a:t>
            </a:r>
            <a:endParaRPr lang="ar-SA" sz="2600" dirty="0"/>
          </a:p>
        </p:txBody>
      </p:sp>
      <p:sp>
        <p:nvSpPr>
          <p:cNvPr id="49" name="Text 46"/>
          <p:cNvSpPr txBox="1"/>
          <p:nvPr/>
        </p:nvSpPr>
        <p:spPr>
          <a:xfrm>
            <a:off x="3108960" y="4724400"/>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ـَا</a:t>
            </a:r>
            <a:endParaRPr lang="ar-SA" sz="2400" dirty="0"/>
          </a:p>
        </p:txBody>
      </p:sp>
      <p:sp>
        <p:nvSpPr>
          <p:cNvPr id="50" name="Text 47"/>
          <p:cNvSpPr txBox="1"/>
          <p:nvPr/>
        </p:nvSpPr>
        <p:spPr>
          <a:xfrm>
            <a:off x="566928" y="4724400"/>
            <a:ext cx="2377440" cy="559308"/>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هُمَا</a:t>
            </a:r>
            <a:pPr algn="l" indent="0" marL="0">
              <a:buNone/>
            </a:pPr>
            <a:r>
              <a:rPr lang="en-US" sz="1100" dirty="0">
                <a:solidFill>
                  <a:srgbClr val="5A6472"/>
                </a:solidFill>
                <a:latin typeface="Calibri" pitchFamily="34" charset="0"/>
                <a:cs typeface="Amiri" pitchFamily="2" charset="-78"/>
              </a:rPr>
              <a:t> (m.)</a:t>
            </a:r>
            <a:endParaRPr lang="en-US" sz="11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8430768" y="533857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two (f.)</a:t>
            </a:r>
            <a:endParaRPr lang="en-US" sz="1100" dirty="0"/>
          </a:p>
        </p:txBody>
      </p:sp>
      <p:sp>
        <p:nvSpPr>
          <p:cNvPr id="53" name="Text 50"/>
          <p:cNvSpPr txBox="1"/>
          <p:nvPr/>
        </p:nvSpPr>
        <p:spPr>
          <a:xfrm>
            <a:off x="5486400" y="5338572"/>
            <a:ext cx="27432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كَتَبَتَا</a:t>
            </a:r>
            <a:endParaRPr lang="ar-SA" sz="2600" dirty="0"/>
          </a:p>
        </p:txBody>
      </p:sp>
      <p:sp>
        <p:nvSpPr>
          <p:cNvPr id="54" name="Text 51"/>
          <p:cNvSpPr txBox="1"/>
          <p:nvPr/>
        </p:nvSpPr>
        <p:spPr>
          <a:xfrm>
            <a:off x="3108960" y="5338572"/>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ـَتَا</a:t>
            </a:r>
            <a:endParaRPr lang="ar-SA" sz="2400" dirty="0"/>
          </a:p>
        </p:txBody>
      </p:sp>
      <p:sp>
        <p:nvSpPr>
          <p:cNvPr id="55" name="Text 52"/>
          <p:cNvSpPr txBox="1"/>
          <p:nvPr/>
        </p:nvSpPr>
        <p:spPr>
          <a:xfrm>
            <a:off x="566928" y="5338572"/>
            <a:ext cx="2377440" cy="559308"/>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هُمَا</a:t>
            </a:r>
            <a:pPr algn="l" indent="0" marL="0">
              <a:buNone/>
            </a:pPr>
            <a:r>
              <a:rPr lang="en-US" sz="1100" dirty="0">
                <a:solidFill>
                  <a:srgbClr val="5A6472"/>
                </a:solidFill>
                <a:latin typeface="Calibri" pitchFamily="34" charset="0"/>
                <a:cs typeface="Amiri" pitchFamily="2" charset="-78"/>
              </a:rPr>
              <a:t> (f.)</a:t>
            </a:r>
            <a:endParaRPr lang="en-US" sz="11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third person starts from the dictionary form; the ending shows masculine / feminine and singular / dual / plural.</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GM-V-04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FIRST AND SECOND PERSON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 we and you</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الْمُتَكَلِّمُ وَالْمُخَاطَبُ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Note</a:t>
            </a:r>
            <a:endParaRPr lang="en-US" sz="1100" dirty="0"/>
          </a:p>
        </p:txBody>
      </p:sp>
      <p:sp>
        <p:nvSpPr>
          <p:cNvPr id="17" name="Text 14"/>
          <p:cNvSpPr txBox="1"/>
          <p:nvPr/>
        </p:nvSpPr>
        <p:spPr>
          <a:xfrm>
            <a:off x="546811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studied</a:t>
            </a:r>
            <a:endParaRPr lang="en-US" sz="1100" dirty="0"/>
          </a:p>
        </p:txBody>
      </p:sp>
      <p:sp>
        <p:nvSpPr>
          <p:cNvPr id="18" name="Text 15"/>
          <p:cNvSpPr txBox="1"/>
          <p:nvPr/>
        </p:nvSpPr>
        <p:spPr>
          <a:xfrm>
            <a:off x="309067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Ending</a:t>
            </a:r>
            <a:endParaRPr lang="en-US" sz="1100" dirty="0"/>
          </a:p>
        </p:txBody>
      </p:sp>
      <p:sp>
        <p:nvSpPr>
          <p:cNvPr id="19" name="Text 16"/>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Pronoun</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8430768" y="226771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 final ḍamma</a:t>
            </a:r>
            <a:endParaRPr lang="en-US" sz="1100" dirty="0"/>
          </a:p>
        </p:txBody>
      </p:sp>
      <p:sp>
        <p:nvSpPr>
          <p:cNvPr id="22" name="Text 19"/>
          <p:cNvSpPr txBox="1"/>
          <p:nvPr/>
        </p:nvSpPr>
        <p:spPr>
          <a:xfrm>
            <a:off x="5486400" y="2267712"/>
            <a:ext cx="27432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دَرَسْتُ</a:t>
            </a:r>
            <a:endParaRPr lang="ar-SA" sz="2600" dirty="0"/>
          </a:p>
        </p:txBody>
      </p:sp>
      <p:sp>
        <p:nvSpPr>
          <p:cNvPr id="23" name="Text 20"/>
          <p:cNvSpPr txBox="1"/>
          <p:nvPr/>
        </p:nvSpPr>
        <p:spPr>
          <a:xfrm>
            <a:off x="3108960" y="2267712"/>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ـْتُ</a:t>
            </a:r>
            <a:endParaRPr lang="ar-SA" sz="2400" dirty="0"/>
          </a:p>
        </p:txBody>
      </p:sp>
      <p:sp>
        <p:nvSpPr>
          <p:cNvPr id="24" name="Text 21"/>
          <p:cNvSpPr txBox="1"/>
          <p:nvPr/>
        </p:nvSpPr>
        <p:spPr>
          <a:xfrm>
            <a:off x="548640" y="2267712"/>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أَنَا</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8430768" y="2881884"/>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t>
            </a:r>
            <a:endParaRPr lang="en-US" sz="1100" dirty="0"/>
          </a:p>
        </p:txBody>
      </p:sp>
      <p:sp>
        <p:nvSpPr>
          <p:cNvPr id="29" name="Text 26"/>
          <p:cNvSpPr txBox="1"/>
          <p:nvPr/>
        </p:nvSpPr>
        <p:spPr>
          <a:xfrm>
            <a:off x="5486400" y="2881884"/>
            <a:ext cx="27432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دَرَسْنَا</a:t>
            </a:r>
            <a:endParaRPr lang="ar-SA" sz="2600" dirty="0"/>
          </a:p>
        </p:txBody>
      </p:sp>
      <p:sp>
        <p:nvSpPr>
          <p:cNvPr id="30" name="Text 27"/>
          <p:cNvSpPr txBox="1"/>
          <p:nvPr/>
        </p:nvSpPr>
        <p:spPr>
          <a:xfrm>
            <a:off x="3108960" y="2881884"/>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ـْنَا</a:t>
            </a:r>
            <a:endParaRPr lang="ar-SA" sz="2400" dirty="0"/>
          </a:p>
        </p:txBody>
      </p:sp>
      <p:sp>
        <p:nvSpPr>
          <p:cNvPr id="31" name="Text 28"/>
          <p:cNvSpPr txBox="1"/>
          <p:nvPr/>
        </p:nvSpPr>
        <p:spPr>
          <a:xfrm>
            <a:off x="548640" y="2881884"/>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نَحْنُ</a:t>
            </a:r>
            <a:endParaRPr lang="ar-SA" sz="24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8430768" y="3496056"/>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(m.) — final fatḥa</a:t>
            </a:r>
            <a:endParaRPr lang="en-US" sz="1100" dirty="0"/>
          </a:p>
        </p:txBody>
      </p:sp>
      <p:sp>
        <p:nvSpPr>
          <p:cNvPr id="36" name="Text 33"/>
          <p:cNvSpPr txBox="1"/>
          <p:nvPr/>
        </p:nvSpPr>
        <p:spPr>
          <a:xfrm>
            <a:off x="5486400" y="3496056"/>
            <a:ext cx="27432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دَرَسْتَ</a:t>
            </a:r>
            <a:endParaRPr lang="ar-SA" sz="2600" dirty="0"/>
          </a:p>
        </p:txBody>
      </p:sp>
      <p:sp>
        <p:nvSpPr>
          <p:cNvPr id="37" name="Text 34"/>
          <p:cNvSpPr txBox="1"/>
          <p:nvPr/>
        </p:nvSpPr>
        <p:spPr>
          <a:xfrm>
            <a:off x="3108960" y="3496056"/>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ـْتَ</a:t>
            </a:r>
            <a:endParaRPr lang="ar-SA" sz="2400" dirty="0"/>
          </a:p>
        </p:txBody>
      </p:sp>
      <p:sp>
        <p:nvSpPr>
          <p:cNvPr id="38" name="Text 35"/>
          <p:cNvSpPr txBox="1"/>
          <p:nvPr/>
        </p:nvSpPr>
        <p:spPr>
          <a:xfrm>
            <a:off x="548640" y="3496056"/>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أَنْتَ</a:t>
            </a:r>
            <a:endParaRPr lang="ar-SA" sz="24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8430768" y="4110228"/>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(f.) — final kasra</a:t>
            </a:r>
            <a:endParaRPr lang="en-US" sz="1100" dirty="0"/>
          </a:p>
        </p:txBody>
      </p:sp>
      <p:sp>
        <p:nvSpPr>
          <p:cNvPr id="43" name="Text 40"/>
          <p:cNvSpPr txBox="1"/>
          <p:nvPr/>
        </p:nvSpPr>
        <p:spPr>
          <a:xfrm>
            <a:off x="5486400" y="4110228"/>
            <a:ext cx="27432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دَرَسْتِ</a:t>
            </a:r>
            <a:endParaRPr lang="ar-SA" sz="2600" dirty="0"/>
          </a:p>
        </p:txBody>
      </p:sp>
      <p:sp>
        <p:nvSpPr>
          <p:cNvPr id="44" name="Text 41"/>
          <p:cNvSpPr txBox="1"/>
          <p:nvPr/>
        </p:nvSpPr>
        <p:spPr>
          <a:xfrm>
            <a:off x="3108960" y="4110228"/>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ـْتِ</a:t>
            </a:r>
            <a:endParaRPr lang="ar-SA" sz="2400" dirty="0"/>
          </a:p>
        </p:txBody>
      </p:sp>
      <p:sp>
        <p:nvSpPr>
          <p:cNvPr id="45" name="Text 42"/>
          <p:cNvSpPr txBox="1"/>
          <p:nvPr/>
        </p:nvSpPr>
        <p:spPr>
          <a:xfrm>
            <a:off x="548640" y="4110228"/>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أَنْتِ</a:t>
            </a:r>
            <a:endParaRPr lang="ar-SA" sz="24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8430768" y="4724400"/>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two</a:t>
            </a:r>
            <a:endParaRPr lang="en-US" sz="1100" dirty="0"/>
          </a:p>
        </p:txBody>
      </p:sp>
      <p:sp>
        <p:nvSpPr>
          <p:cNvPr id="50" name="Text 47"/>
          <p:cNvSpPr txBox="1"/>
          <p:nvPr/>
        </p:nvSpPr>
        <p:spPr>
          <a:xfrm>
            <a:off x="5486400" y="4724400"/>
            <a:ext cx="27432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دَرَسْتُمَا</a:t>
            </a:r>
            <a:endParaRPr lang="ar-SA" sz="2600" dirty="0"/>
          </a:p>
        </p:txBody>
      </p:sp>
      <p:sp>
        <p:nvSpPr>
          <p:cNvPr id="51" name="Text 48"/>
          <p:cNvSpPr txBox="1"/>
          <p:nvPr/>
        </p:nvSpPr>
        <p:spPr>
          <a:xfrm>
            <a:off x="3108960" y="4724400"/>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ـْتُمَا</a:t>
            </a:r>
            <a:endParaRPr lang="ar-SA" sz="2400" dirty="0"/>
          </a:p>
        </p:txBody>
      </p:sp>
      <p:sp>
        <p:nvSpPr>
          <p:cNvPr id="52" name="Text 49"/>
          <p:cNvSpPr txBox="1"/>
          <p:nvPr/>
        </p:nvSpPr>
        <p:spPr>
          <a:xfrm>
            <a:off x="548640" y="4724400"/>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أَنْتُمَا</a:t>
            </a:r>
            <a:endParaRPr lang="ar-SA" sz="2400" dirty="0"/>
          </a:p>
        </p:txBody>
      </p:sp>
      <p:sp>
        <p:nvSpPr>
          <p:cNvPr id="53" name="Shape 50"/>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4" name="Text 51"/>
          <p:cNvSpPr txBox="1"/>
          <p:nvPr/>
        </p:nvSpPr>
        <p:spPr>
          <a:xfrm>
            <a:off x="8430768" y="533857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all (m. · f.)</a:t>
            </a:r>
            <a:endParaRPr lang="en-US" sz="1100" dirty="0"/>
          </a:p>
        </p:txBody>
      </p:sp>
      <p:sp>
        <p:nvSpPr>
          <p:cNvPr id="55" name="Text 52"/>
          <p:cNvSpPr txBox="1"/>
          <p:nvPr/>
        </p:nvSpPr>
        <p:spPr>
          <a:xfrm>
            <a:off x="5486400" y="5338572"/>
            <a:ext cx="27432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دَرَسْتُمْ · دَرَسْتُنَّ</a:t>
            </a:r>
            <a:endParaRPr lang="ar-SA" sz="2600" dirty="0"/>
          </a:p>
        </p:txBody>
      </p:sp>
      <p:sp>
        <p:nvSpPr>
          <p:cNvPr id="56" name="Text 53"/>
          <p:cNvSpPr txBox="1"/>
          <p:nvPr/>
        </p:nvSpPr>
        <p:spPr>
          <a:xfrm>
            <a:off x="3108960" y="5338572"/>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ـْتُمْ · ـْتُنَّ</a:t>
            </a:r>
            <a:endParaRPr lang="ar-SA" sz="2400" dirty="0"/>
          </a:p>
        </p:txBody>
      </p:sp>
      <p:sp>
        <p:nvSpPr>
          <p:cNvPr id="57" name="Text 54"/>
          <p:cNvSpPr txBox="1"/>
          <p:nvPr/>
        </p:nvSpPr>
        <p:spPr>
          <a:xfrm>
            <a:off x="548640" y="5338572"/>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أَنْتُمْ · أَنْتُنَّ</a:t>
            </a:r>
            <a:endParaRPr lang="ar-SA" sz="2400" dirty="0"/>
          </a:p>
        </p:txBody>
      </p:sp>
      <p:sp>
        <p:nvSpPr>
          <p:cNvPr id="58" name="Text 5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the three short vowels matter — darastu (I), darasta (you m.), darasti (you f.). And she = darasat (sukūn on the t).</a:t>
            </a:r>
            <a:endParaRPr lang="en-US" sz="11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GM-V-04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74" b="1" spc="150" kern="0" dirty="0">
                <a:solidFill>
                  <a:srgbClr val="1B3B6F"/>
                </a:solidFill>
                <a:latin typeface="Calibri" pitchFamily="34" charset="0"/>
                <a:cs typeface="Amiri" pitchFamily="2" charset="-78"/>
              </a:rPr>
              <a:t>GRAMMAR · PART 3 · ENDINGS ACROSS VERB FAMILIES · NARRATION (WEBSITE) · STRETCH</a:t>
            </a:r>
            <a:endParaRPr lang="en-US" sz="87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Ending + the right stem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اللَّاحِقَةُ وَالْجِذْعُ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1131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happens (website)</a:t>
            </a:r>
            <a:endParaRPr lang="en-US" sz="1100" dirty="0"/>
          </a:p>
        </p:txBody>
      </p:sp>
      <p:sp>
        <p:nvSpPr>
          <p:cNvPr id="17" name="Text 14"/>
          <p:cNvSpPr txBox="1"/>
          <p:nvPr/>
        </p:nvSpPr>
        <p:spPr>
          <a:xfrm>
            <a:off x="5102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 · we</a:t>
            </a:r>
            <a:endParaRPr lang="en-US" sz="1100" dirty="0"/>
          </a:p>
        </p:txBody>
      </p:sp>
      <p:sp>
        <p:nvSpPr>
          <p:cNvPr id="18" name="Text 15"/>
          <p:cNvSpPr txBox="1"/>
          <p:nvPr/>
        </p:nvSpPr>
        <p:spPr>
          <a:xfrm>
            <a:off x="290779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a:t>
            </a:r>
            <a:endParaRPr lang="en-US" sz="1100" dirty="0"/>
          </a:p>
        </p:txBody>
      </p:sp>
      <p:sp>
        <p:nvSpPr>
          <p:cNvPr id="19" name="Text 16"/>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Family</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47888" y="2267712"/>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 letters stay visible</a:t>
            </a:r>
            <a:endParaRPr lang="en-US" sz="1100" dirty="0"/>
          </a:p>
        </p:txBody>
      </p:sp>
      <p:sp>
        <p:nvSpPr>
          <p:cNvPr id="22" name="Text 19"/>
          <p:cNvSpPr txBox="1"/>
          <p:nvPr/>
        </p:nvSpPr>
        <p:spPr>
          <a:xfrm>
            <a:off x="5120640" y="2267712"/>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كَتَبْتُ · كَتَبْنَا</a:t>
            </a:r>
            <a:endParaRPr lang="ar-SA" sz="2400" dirty="0"/>
          </a:p>
        </p:txBody>
      </p:sp>
      <p:sp>
        <p:nvSpPr>
          <p:cNvPr id="23" name="Text 20"/>
          <p:cNvSpPr txBox="1"/>
          <p:nvPr/>
        </p:nvSpPr>
        <p:spPr>
          <a:xfrm>
            <a:off x="2926080" y="2267712"/>
            <a:ext cx="20116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كَتَبَ</a:t>
            </a:r>
            <a:endParaRPr lang="ar-SA" sz="2400" dirty="0"/>
          </a:p>
        </p:txBody>
      </p:sp>
      <p:sp>
        <p:nvSpPr>
          <p:cNvPr id="24" name="Text 21"/>
          <p:cNvSpPr txBox="1"/>
          <p:nvPr/>
        </p:nvSpPr>
        <p:spPr>
          <a:xfrm>
            <a:off x="566928"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regular</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47888" y="3054096"/>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stem shortens</a:t>
            </a:r>
            <a:endParaRPr lang="en-US" sz="1100" dirty="0"/>
          </a:p>
        </p:txBody>
      </p:sp>
      <p:sp>
        <p:nvSpPr>
          <p:cNvPr id="29" name="Text 26"/>
          <p:cNvSpPr txBox="1"/>
          <p:nvPr/>
        </p:nvSpPr>
        <p:spPr>
          <a:xfrm>
            <a:off x="5120640" y="3054096"/>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قُلْتُ · قُلْنَا</a:t>
            </a:r>
            <a:endParaRPr lang="ar-SA" sz="2400" dirty="0"/>
          </a:p>
        </p:txBody>
      </p:sp>
      <p:sp>
        <p:nvSpPr>
          <p:cNvPr id="30" name="Text 27"/>
          <p:cNvSpPr txBox="1"/>
          <p:nvPr/>
        </p:nvSpPr>
        <p:spPr>
          <a:xfrm>
            <a:off x="2926080" y="3054096"/>
            <a:ext cx="20116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قَالَ</a:t>
            </a:r>
            <a:endParaRPr lang="ar-SA" sz="2400" dirty="0"/>
          </a:p>
        </p:txBody>
      </p:sp>
      <p:sp>
        <p:nvSpPr>
          <p:cNvPr id="31" name="Text 28"/>
          <p:cNvSpPr txBox="1"/>
          <p:nvPr/>
        </p:nvSpPr>
        <p:spPr>
          <a:xfrm>
            <a:off x="566928"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hollow</a:t>
            </a:r>
            <a:endParaRPr lang="en-US" sz="1100" dirty="0"/>
          </a:p>
        </p:txBody>
      </p:sp>
      <p:sp>
        <p:nvSpPr>
          <p:cNvPr id="32" name="Shape 29"/>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3" name="Text 30"/>
          <p:cNvSpPr txBox="1"/>
          <p:nvPr/>
        </p:nvSpPr>
        <p:spPr>
          <a:xfrm>
            <a:off x="8247888" y="3840480"/>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shadda opens</a:t>
            </a:r>
            <a:endParaRPr lang="en-US" sz="1100" dirty="0"/>
          </a:p>
        </p:txBody>
      </p:sp>
      <p:sp>
        <p:nvSpPr>
          <p:cNvPr id="34" name="Text 31"/>
          <p:cNvSpPr txBox="1"/>
          <p:nvPr/>
        </p:nvSpPr>
        <p:spPr>
          <a:xfrm>
            <a:off x="5120640" y="3840480"/>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مَرَرْتُ · مَرَرْنَا</a:t>
            </a:r>
            <a:endParaRPr lang="ar-SA" sz="2400" dirty="0"/>
          </a:p>
        </p:txBody>
      </p:sp>
      <p:sp>
        <p:nvSpPr>
          <p:cNvPr id="35" name="Text 32"/>
          <p:cNvSpPr txBox="1"/>
          <p:nvPr/>
        </p:nvSpPr>
        <p:spPr>
          <a:xfrm>
            <a:off x="2926080" y="3840480"/>
            <a:ext cx="20116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مَرَّ</a:t>
            </a:r>
            <a:endParaRPr lang="ar-SA" sz="2400" dirty="0"/>
          </a:p>
        </p:txBody>
      </p:sp>
      <p:sp>
        <p:nvSpPr>
          <p:cNvPr id="36" name="Text 33"/>
          <p:cNvSpPr txBox="1"/>
          <p:nvPr/>
        </p:nvSpPr>
        <p:spPr>
          <a:xfrm>
            <a:off x="566928"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doubled</a:t>
            </a:r>
            <a:endParaRPr lang="en-US" sz="110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247888" y="4626864"/>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final letter changes</a:t>
            </a:r>
            <a:endParaRPr lang="en-US" sz="1100" dirty="0"/>
          </a:p>
        </p:txBody>
      </p:sp>
      <p:sp>
        <p:nvSpPr>
          <p:cNvPr id="39" name="Text 36"/>
          <p:cNvSpPr txBox="1"/>
          <p:nvPr/>
        </p:nvSpPr>
        <p:spPr>
          <a:xfrm>
            <a:off x="5120640" y="4626864"/>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مَشَيْتُ · مَشَيْنَا</a:t>
            </a:r>
            <a:endParaRPr lang="ar-SA" sz="2400" dirty="0"/>
          </a:p>
        </p:txBody>
      </p:sp>
      <p:sp>
        <p:nvSpPr>
          <p:cNvPr id="40" name="Text 37"/>
          <p:cNvSpPr txBox="1"/>
          <p:nvPr/>
        </p:nvSpPr>
        <p:spPr>
          <a:xfrm>
            <a:off x="2926080" y="4626864"/>
            <a:ext cx="20116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مَشَى</a:t>
            </a:r>
            <a:endParaRPr lang="ar-SA" sz="2400" dirty="0"/>
          </a:p>
        </p:txBody>
      </p:sp>
      <p:sp>
        <p:nvSpPr>
          <p:cNvPr id="41" name="Text 38"/>
          <p:cNvSpPr txBox="1"/>
          <p:nvPr/>
        </p:nvSpPr>
        <p:spPr>
          <a:xfrm>
            <a:off x="566928" y="4626864"/>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final weak</a:t>
            </a:r>
            <a:endParaRPr lang="en-US" sz="1100" dirty="0"/>
          </a:p>
        </p:txBody>
      </p:sp>
      <p:sp>
        <p:nvSpPr>
          <p:cNvPr id="42" name="Text 3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warning: conjugation is not only adding a suffix — identify the family first (GM-V-02), then attach the ending. Narrative frame: last week … first … then … after that … finally …</a:t>
            </a:r>
            <a:endParaRPr lang="en-US" sz="110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GM-V-04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“She arrived”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وَصَلْتِ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وَصَلَ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وَصَلَتْ</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“They (f.) wrote”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كَتَبْنَ</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كَتَبُوا</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كَتَبْتُنَّ</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(m.s.) cooked”</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طَبَخْتِ</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طَبَخْتَ</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طَبَخَتْ</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(f.s.) read”</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قَرَأْتِ</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قَرَأْتَ</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قَرَأَتْ</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GM-V-04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“She arrived”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وَصَلْتِ</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وَصَلَ</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وَصَلَتْ</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 = she.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“They (f.) wrote”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كَتَبْنَ</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كَتَبُوا</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كَتَبْتُنَّ</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-na = they (f.).</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(m.s.) cooked”</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طَبَخْتِ</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طَبَخْتَ</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طَبَخَتْ</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 = you (m.).</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(f.s.) read”</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قَرَأْتِ</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قَرَأْتَ</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قَرَأَتْ</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-ti = you (f.).</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GM-V-04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tell a story in order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GM-V-04</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When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فِي الْأُسْبُوعِ الْمَاضِي</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Past time frame.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ذَهَبْنَا</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-nā = we.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Then</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ثُمَّ رَأَيْنَا</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Sequence + we.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Report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وَقَالَ الْمُرْشِدُ</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he: dictionary form.</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PAST VERB</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SEQUENCE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فِي الْأُسْبُوعِ الْمَاضِي </a:t>
            </a:r>
            <a:pPr rtl="1" algn="r" indent="0" marL="0">
              <a:lnSpc>
                <a:spcPct val="120000"/>
              </a:lnSpc>
              <a:buNone/>
            </a:pPr>
            <a:r>
              <a:rPr lang="ar-SA" altLang="en-US" sz="1650" b="1" dirty="0">
                <a:solidFill>
                  <a:srgbClr val="0E7C86"/>
                </a:solidFill>
                <a:latin typeface="Amiri" pitchFamily="2" charset="-78"/>
                <a:ea typeface="Amiri" pitchFamily="2" charset="-78"/>
                <a:cs typeface="Amiri" pitchFamily="2" charset="-78"/>
              </a:rPr>
              <a:t>ذَهَبْنَا</a:t>
            </a:r>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 إِلَى مَعْرِضٍ ثَقَافِيٍّ. </a:t>
            </a:r>
            <a:pPr rtl="1" algn="r" indent="0" marL="0">
              <a:lnSpc>
                <a:spcPct val="120000"/>
              </a:lnSpc>
              <a:buNone/>
            </a:pPr>
            <a:r>
              <a:rPr lang="ar-SA" altLang="en-US" sz="1650" b="1" dirty="0">
                <a:solidFill>
                  <a:srgbClr val="D6336C"/>
                </a:solidFill>
                <a:latin typeface="Amiri" pitchFamily="2" charset="-78"/>
                <a:ea typeface="Amiri" pitchFamily="2" charset="-78"/>
                <a:cs typeface="Amiri" pitchFamily="2" charset="-78"/>
              </a:rPr>
              <a:t>أَوَّلًا</a:t>
            </a:r>
            <a:pPr rtl="1" algn="r" indent="0" marL="0">
              <a:lnSpc>
                <a:spcPct val="120000"/>
              </a:lnSpc>
              <a:buNone/>
            </a:pPr>
            <a:r>
              <a:rPr lang="ar-SA" altLang="en-US" sz="1650" b="1" dirty="0">
                <a:solidFill>
                  <a:srgbClr val="1B3B6F"/>
                </a:solidFill>
                <a:latin typeface="Amiri" pitchFamily="2" charset="-78"/>
                <a:cs typeface="Amiri" pitchFamily="2" charset="-78"/>
              </a:rPr>
              <a:t> </a:t>
            </a:r>
            <a:pPr rtl="1" algn="r" indent="0" marL="0">
              <a:lnSpc>
                <a:spcPct val="120000"/>
              </a:lnSpc>
              <a:buNone/>
            </a:pPr>
            <a:r>
              <a:rPr lang="ar-SA" altLang="en-US" sz="1650" b="1" dirty="0">
                <a:solidFill>
                  <a:srgbClr val="0E7C86"/>
                </a:solidFill>
                <a:latin typeface="Amiri" pitchFamily="2" charset="-78"/>
                <a:ea typeface="Amiri" pitchFamily="2" charset="-78"/>
                <a:cs typeface="Amiri" pitchFamily="2" charset="-78"/>
              </a:rPr>
              <a:t>رَأَيْنَا</a:t>
            </a:r>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 صُوَرًا جَمِيلَةً، </a:t>
            </a:r>
            <a:pPr rtl="1" algn="r" indent="0" marL="0">
              <a:lnSpc>
                <a:spcPct val="120000"/>
              </a:lnSpc>
              <a:buNone/>
            </a:pPr>
            <a:r>
              <a:rPr lang="ar-SA" altLang="en-US" sz="1650" b="1" dirty="0">
                <a:solidFill>
                  <a:srgbClr val="D6336C"/>
                </a:solidFill>
                <a:latin typeface="Amiri" pitchFamily="2" charset="-78"/>
                <a:ea typeface="Amiri" pitchFamily="2" charset="-78"/>
                <a:cs typeface="Amiri" pitchFamily="2" charset="-78"/>
              </a:rPr>
              <a:t>ثُمَّ</a:t>
            </a:r>
            <a:pPr rtl="1" algn="r" indent="0" marL="0">
              <a:lnSpc>
                <a:spcPct val="120000"/>
              </a:lnSpc>
              <a:buNone/>
            </a:pPr>
            <a:r>
              <a:rPr lang="ar-SA" altLang="en-US" sz="1650" b="1" dirty="0">
                <a:solidFill>
                  <a:srgbClr val="1B3B6F"/>
                </a:solidFill>
                <a:latin typeface="Amiri" pitchFamily="2" charset="-78"/>
                <a:cs typeface="Amiri" pitchFamily="2" charset="-78"/>
              </a:rPr>
              <a:t> </a:t>
            </a:r>
            <a:pPr rtl="1" algn="r" indent="0" marL="0">
              <a:lnSpc>
                <a:spcPct val="120000"/>
              </a:lnSpc>
              <a:buNone/>
            </a:pPr>
            <a:r>
              <a:rPr lang="ar-SA" altLang="en-US" sz="1650" b="1" dirty="0">
                <a:solidFill>
                  <a:srgbClr val="0E7C86"/>
                </a:solidFill>
                <a:latin typeface="Amiri" pitchFamily="2" charset="-78"/>
                <a:ea typeface="Amiri" pitchFamily="2" charset="-78"/>
                <a:cs typeface="Amiri" pitchFamily="2" charset="-78"/>
              </a:rPr>
              <a:t>قَالَ</a:t>
            </a:r>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 الْمُرْشِدُ إِنَّ الْمَعْرِضَ يَعْرِضُ تَارِيخَ الْمَدِينَةِ. </a:t>
            </a:r>
            <a:pPr rtl="1" algn="r" indent="0" marL="0">
              <a:lnSpc>
                <a:spcPct val="120000"/>
              </a:lnSpc>
              <a:buNone/>
            </a:pPr>
            <a:r>
              <a:rPr lang="ar-SA" altLang="en-US" sz="1650" b="1" dirty="0">
                <a:solidFill>
                  <a:srgbClr val="D6336C"/>
                </a:solidFill>
                <a:latin typeface="Amiri" pitchFamily="2" charset="-78"/>
                <a:ea typeface="Amiri" pitchFamily="2" charset="-78"/>
                <a:cs typeface="Amiri" pitchFamily="2" charset="-78"/>
              </a:rPr>
              <a:t>أَخِيرًا</a:t>
            </a:r>
            <a:pPr rtl="1" algn="r" indent="0" marL="0">
              <a:lnSpc>
                <a:spcPct val="120000"/>
              </a:lnSpc>
              <a:buNone/>
            </a:pPr>
            <a:r>
              <a:rPr lang="ar-SA" altLang="en-US" sz="1650" b="1" dirty="0">
                <a:solidFill>
                  <a:srgbClr val="1B3B6F"/>
                </a:solidFill>
                <a:latin typeface="Amiri" pitchFamily="2" charset="-78"/>
                <a:cs typeface="Amiri" pitchFamily="2" charset="-78"/>
              </a:rPr>
              <a:t> </a:t>
            </a:r>
            <a:pPr rtl="1" algn="r" indent="0" marL="0">
              <a:lnSpc>
                <a:spcPct val="120000"/>
              </a:lnSpc>
              <a:buNone/>
            </a:pPr>
            <a:r>
              <a:rPr lang="ar-SA" altLang="en-US" sz="1650" b="1" dirty="0">
                <a:solidFill>
                  <a:srgbClr val="0E7C86"/>
                </a:solidFill>
                <a:latin typeface="Amiri" pitchFamily="2" charset="-78"/>
                <a:ea typeface="Amiri" pitchFamily="2" charset="-78"/>
                <a:cs typeface="Amiri" pitchFamily="2" charset="-78"/>
              </a:rPr>
              <a:t>رَجَعْنَا</a:t>
            </a:r>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 إِلَى الْبَيْتِ.</a:t>
            </a:r>
            <a:endParaRPr lang="ar-SA" sz="16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Last week we went to a cultural exhibition. First we saw beautiful pictures, then the guide said that the exhibition shows the history of the city. Finally we returned home.</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GM-V-04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GM-V-04</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أَمْسِ قَرَأْتُ مَقَالًا.</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Yesterday I read an article.</a:t>
            </a:r>
            <a:endParaRPr lang="en-US" sz="1250" dirty="0"/>
          </a:p>
          <a:p>
            <a:pPr indent="0" marL="0">
              <a:buNone/>
            </a:pPr>
            <a:r>
              <a:rPr lang="en-US" sz="1050" i="1" dirty="0">
                <a:solidFill>
                  <a:srgbClr val="8A6D1E"/>
                </a:solidFill>
                <a:latin typeface="Calibri" pitchFamily="34" charset="0"/>
                <a:cs typeface="Amiri" pitchFamily="2" charset="-78"/>
              </a:rPr>
              <a:t>Website: personal action.</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فِي الْعُطْلَةِ زُرْنَا مِصْرَ.</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In the holiday we visited Egypt.</a:t>
            </a:r>
            <a:endParaRPr lang="en-US" sz="1250" dirty="0"/>
          </a:p>
          <a:p>
            <a:pPr indent="0" marL="0">
              <a:buNone/>
            </a:pPr>
            <a:r>
              <a:rPr lang="en-US" sz="1050" i="1" dirty="0">
                <a:solidFill>
                  <a:srgbClr val="8A6D1E"/>
                </a:solidFill>
                <a:latin typeface="Calibri" pitchFamily="34" charset="0"/>
                <a:cs typeface="Amiri" pitchFamily="2" charset="-78"/>
              </a:rPr>
              <a:t>Website: shared experience.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فَازُوا بِالْمُبَارَاةِ.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They won the match.</a:t>
            </a:r>
            <a:endParaRPr lang="en-US" sz="1250" dirty="0"/>
          </a:p>
          <a:p>
            <a:pPr indent="0" marL="0">
              <a:buNone/>
            </a:pPr>
            <a:r>
              <a:rPr lang="en-US" sz="1050" i="1" dirty="0">
                <a:solidFill>
                  <a:srgbClr val="8A6D1E"/>
                </a:solidFill>
                <a:latin typeface="Calibri" pitchFamily="34" charset="0"/>
                <a:cs typeface="Amiri" pitchFamily="2" charset="-78"/>
              </a:rPr>
              <a:t>Website: reporting others.</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وَصَلَتِ الطَّالِبَاتُ وَجَلَسْنَ فِي الصَّفِّ.</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female students arrived and sat in class.</a:t>
            </a:r>
            <a:endParaRPr lang="en-US" sz="1250" dirty="0"/>
          </a:p>
          <a:p>
            <a:pPr indent="0" marL="0">
              <a:buNone/>
            </a:pPr>
            <a:r>
              <a:rPr lang="en-US" sz="1050" i="1" dirty="0">
                <a:solidFill>
                  <a:srgbClr val="8A6D1E"/>
                </a:solidFill>
                <a:latin typeface="Calibri" pitchFamily="34" charset="0"/>
                <a:cs typeface="Amiri" pitchFamily="2" charset="-78"/>
              </a:rPr>
              <a:t>Feminine plural report.</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GM-V-04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MATCH PERSON AND ENDING (WEBSITE PERSON GAME)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acted?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فَعَلَ؟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كَتَبْتُ</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دَرَسْتِ</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سَافَرَتْ</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زُرْنَا</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قُلْتُمْ</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لَعِبُوا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وَصَلْنَ</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شَاهَدْتَ</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I · we</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you</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he · she · they</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GM-V-04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GM-V-04</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I · we</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كَتَبْتُ</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زُرْنَا</a:t>
            </a:r>
            <a:endParaRPr lang="ar-SA" sz="1800" dirty="0"/>
          </a:p>
        </p:txBody>
      </p:sp>
      <p:sp>
        <p:nvSpPr>
          <p:cNvPr id="22" name="Shape 19"/>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3" name="Shape 20"/>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you</a:t>
            </a:r>
            <a:endParaRPr lang="en-US" sz="950" dirty="0"/>
          </a:p>
        </p:txBody>
      </p:sp>
      <p:sp>
        <p:nvSpPr>
          <p:cNvPr id="25" name="Shape 22"/>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دَرَسْتِ</a:t>
            </a:r>
            <a:endParaRPr lang="ar-SA" sz="1800" dirty="0"/>
          </a:p>
        </p:txBody>
      </p:sp>
      <p:sp>
        <p:nvSpPr>
          <p:cNvPr id="27" name="Shape 24"/>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قُلْتُمْ</a:t>
            </a:r>
            <a:endParaRPr lang="ar-SA" sz="1800" dirty="0"/>
          </a:p>
        </p:txBody>
      </p:sp>
      <p:sp>
        <p:nvSpPr>
          <p:cNvPr id="29" name="Shape 26"/>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شَاهَدْتَ</a:t>
            </a:r>
            <a:endParaRPr lang="ar-SA" sz="1800" dirty="0"/>
          </a:p>
        </p:txBody>
      </p:sp>
      <p:sp>
        <p:nvSpPr>
          <p:cNvPr id="31" name="Shape 28"/>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2" name="Shape 29"/>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he · she · they</a:t>
            </a:r>
            <a:endParaRPr lang="en-US" sz="950" dirty="0"/>
          </a:p>
        </p:txBody>
      </p:sp>
      <p:sp>
        <p:nvSpPr>
          <p:cNvPr id="34" name="Shape 31"/>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سَافَرَتْ</a:t>
            </a:r>
            <a:endParaRPr lang="ar-SA" sz="1800" dirty="0"/>
          </a:p>
        </p:txBody>
      </p:sp>
      <p:sp>
        <p:nvSpPr>
          <p:cNvPr id="36" name="Shape 33"/>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لَعِبُوا</a:t>
            </a:r>
            <a:endParaRPr lang="ar-SA" sz="1800" dirty="0"/>
          </a:p>
        </p:txBody>
      </p:sp>
      <p:sp>
        <p:nvSpPr>
          <p:cNvPr id="38" name="Shape 35"/>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وَصَلْنَ</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GM-V-04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ONE VERB, EVERY PERSON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Conjugate “to play”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صَرِّفِ الْفِعْلَ «لَعِبَ»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94283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a:t>
            </a:r>
            <a:endParaRPr lang="en-US" sz="1100" dirty="0"/>
          </a:p>
        </p:txBody>
      </p:sp>
      <p:sp>
        <p:nvSpPr>
          <p:cNvPr id="17" name="Text 14"/>
          <p:cNvSpPr txBox="1"/>
          <p:nvPr/>
        </p:nvSpPr>
        <p:spPr>
          <a:xfrm>
            <a:off x="619963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Pronoun</a:t>
            </a:r>
            <a:endParaRPr lang="en-US" sz="1100" dirty="0"/>
          </a:p>
        </p:txBody>
      </p:sp>
      <p:sp>
        <p:nvSpPr>
          <p:cNvPr id="18" name="Text 15"/>
          <p:cNvSpPr txBox="1"/>
          <p:nvPr/>
        </p:nvSpPr>
        <p:spPr>
          <a:xfrm>
            <a:off x="32735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a:t>
            </a:r>
            <a:endParaRPr lang="en-US" sz="1100" dirty="0"/>
          </a:p>
        </p:txBody>
      </p:sp>
      <p:sp>
        <p:nvSpPr>
          <p:cNvPr id="19" name="Text 16"/>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Pronoun</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61120" y="2267712"/>
            <a:ext cx="2679192"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لَعِبْنَا</a:t>
            </a:r>
            <a:endParaRPr lang="ar-SA" sz="2600" dirty="0"/>
          </a:p>
        </p:txBody>
      </p:sp>
      <p:sp>
        <p:nvSpPr>
          <p:cNvPr id="22" name="Text 19"/>
          <p:cNvSpPr txBox="1"/>
          <p:nvPr/>
        </p:nvSpPr>
        <p:spPr>
          <a:xfrm>
            <a:off x="6217920" y="2267712"/>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نَحْنُ</a:t>
            </a:r>
            <a:endParaRPr lang="ar-SA" sz="2400" dirty="0"/>
          </a:p>
        </p:txBody>
      </p:sp>
      <p:sp>
        <p:nvSpPr>
          <p:cNvPr id="23" name="Text 20"/>
          <p:cNvSpPr txBox="1"/>
          <p:nvPr/>
        </p:nvSpPr>
        <p:spPr>
          <a:xfrm>
            <a:off x="3291840" y="2267712"/>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لَعِبْتُ</a:t>
            </a:r>
            <a:endParaRPr lang="ar-SA" sz="2600" dirty="0"/>
          </a:p>
        </p:txBody>
      </p:sp>
      <p:sp>
        <p:nvSpPr>
          <p:cNvPr id="24" name="Text 21"/>
          <p:cNvSpPr txBox="1"/>
          <p:nvPr/>
        </p:nvSpPr>
        <p:spPr>
          <a:xfrm>
            <a:off x="548640" y="2267712"/>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أَنَا</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61120" y="3004718"/>
            <a:ext cx="2679192"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لَعِبْتِ</a:t>
            </a:r>
            <a:endParaRPr lang="ar-SA" sz="2600" dirty="0"/>
          </a:p>
        </p:txBody>
      </p:sp>
      <p:sp>
        <p:nvSpPr>
          <p:cNvPr id="29" name="Text 26"/>
          <p:cNvSpPr txBox="1"/>
          <p:nvPr/>
        </p:nvSpPr>
        <p:spPr>
          <a:xfrm>
            <a:off x="6217920" y="3004718"/>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أَنْتِ</a:t>
            </a:r>
            <a:endParaRPr lang="ar-SA" sz="2400" dirty="0"/>
          </a:p>
        </p:txBody>
      </p:sp>
      <p:sp>
        <p:nvSpPr>
          <p:cNvPr id="30" name="Text 27"/>
          <p:cNvSpPr txBox="1"/>
          <p:nvPr/>
        </p:nvSpPr>
        <p:spPr>
          <a:xfrm>
            <a:off x="3291840" y="3004718"/>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لَعِبْتَ</a:t>
            </a:r>
            <a:endParaRPr lang="ar-SA" sz="2600" dirty="0"/>
          </a:p>
        </p:txBody>
      </p:sp>
      <p:sp>
        <p:nvSpPr>
          <p:cNvPr id="31" name="Text 28"/>
          <p:cNvSpPr txBox="1"/>
          <p:nvPr/>
        </p:nvSpPr>
        <p:spPr>
          <a:xfrm>
            <a:off x="548640" y="3004718"/>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أَنْتَ</a:t>
            </a:r>
            <a:endParaRPr lang="ar-SA" sz="24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61120" y="3741725"/>
            <a:ext cx="2679192"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لَعِبَتْ</a:t>
            </a:r>
            <a:endParaRPr lang="ar-SA" sz="2600" dirty="0"/>
          </a:p>
        </p:txBody>
      </p:sp>
      <p:sp>
        <p:nvSpPr>
          <p:cNvPr id="36" name="Text 33"/>
          <p:cNvSpPr txBox="1"/>
          <p:nvPr/>
        </p:nvSpPr>
        <p:spPr>
          <a:xfrm>
            <a:off x="6217920" y="3741725"/>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هِيَ</a:t>
            </a:r>
            <a:endParaRPr lang="ar-SA" sz="2400" dirty="0"/>
          </a:p>
        </p:txBody>
      </p:sp>
      <p:sp>
        <p:nvSpPr>
          <p:cNvPr id="37" name="Text 34"/>
          <p:cNvSpPr txBox="1"/>
          <p:nvPr/>
        </p:nvSpPr>
        <p:spPr>
          <a:xfrm>
            <a:off x="3291840" y="3741725"/>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لَعِبَ</a:t>
            </a:r>
            <a:endParaRPr lang="ar-SA" sz="2600" dirty="0"/>
          </a:p>
        </p:txBody>
      </p:sp>
      <p:sp>
        <p:nvSpPr>
          <p:cNvPr id="38" name="Text 35"/>
          <p:cNvSpPr txBox="1"/>
          <p:nvPr/>
        </p:nvSpPr>
        <p:spPr>
          <a:xfrm>
            <a:off x="548640" y="3741725"/>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هُوَ</a:t>
            </a:r>
            <a:endParaRPr lang="ar-SA" sz="24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961120" y="4478731"/>
            <a:ext cx="2679192"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لَعِبْنَ</a:t>
            </a:r>
            <a:endParaRPr lang="ar-SA" sz="2600" dirty="0"/>
          </a:p>
        </p:txBody>
      </p:sp>
      <p:sp>
        <p:nvSpPr>
          <p:cNvPr id="43" name="Text 40"/>
          <p:cNvSpPr txBox="1"/>
          <p:nvPr/>
        </p:nvSpPr>
        <p:spPr>
          <a:xfrm>
            <a:off x="6217920" y="4478731"/>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هُنَّ</a:t>
            </a:r>
            <a:endParaRPr lang="ar-SA" sz="2400" dirty="0"/>
          </a:p>
        </p:txBody>
      </p:sp>
      <p:sp>
        <p:nvSpPr>
          <p:cNvPr id="44" name="Text 41"/>
          <p:cNvSpPr txBox="1"/>
          <p:nvPr/>
        </p:nvSpPr>
        <p:spPr>
          <a:xfrm>
            <a:off x="3291840" y="4478731"/>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لَعِبُوا</a:t>
            </a:r>
            <a:endParaRPr lang="ar-SA" sz="2600" dirty="0"/>
          </a:p>
        </p:txBody>
      </p:sp>
      <p:sp>
        <p:nvSpPr>
          <p:cNvPr id="45" name="Text 42"/>
          <p:cNvSpPr txBox="1"/>
          <p:nvPr/>
        </p:nvSpPr>
        <p:spPr>
          <a:xfrm>
            <a:off x="548640" y="4478731"/>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هُمْ</a:t>
            </a:r>
            <a:endParaRPr lang="ar-SA" sz="24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8961120" y="5215738"/>
            <a:ext cx="2679192"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لَعِبَا</a:t>
            </a:r>
            <a:endParaRPr lang="ar-SA" sz="2600" dirty="0"/>
          </a:p>
        </p:txBody>
      </p:sp>
      <p:sp>
        <p:nvSpPr>
          <p:cNvPr id="48" name="Text 45"/>
          <p:cNvSpPr txBox="1"/>
          <p:nvPr/>
        </p:nvSpPr>
        <p:spPr>
          <a:xfrm>
            <a:off x="6236208" y="5215738"/>
            <a:ext cx="256032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هُمَا</a:t>
            </a:r>
            <a:pPr algn="l" indent="0" marL="0">
              <a:buNone/>
            </a:pPr>
            <a:r>
              <a:rPr lang="en-US" sz="1100" dirty="0">
                <a:solidFill>
                  <a:srgbClr val="5A6472"/>
                </a:solidFill>
                <a:latin typeface="Calibri" pitchFamily="34" charset="0"/>
                <a:cs typeface="Amiri" pitchFamily="2" charset="-78"/>
              </a:rPr>
              <a:t> (m.)</a:t>
            </a:r>
            <a:endParaRPr lang="en-US" sz="1100" dirty="0"/>
          </a:p>
        </p:txBody>
      </p:sp>
      <p:sp>
        <p:nvSpPr>
          <p:cNvPr id="49" name="Text 46"/>
          <p:cNvSpPr txBox="1"/>
          <p:nvPr/>
        </p:nvSpPr>
        <p:spPr>
          <a:xfrm>
            <a:off x="3291840" y="5215738"/>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لَعِبْتُمْ</a:t>
            </a:r>
            <a:endParaRPr lang="ar-SA" sz="2600" dirty="0"/>
          </a:p>
        </p:txBody>
      </p:sp>
      <p:sp>
        <p:nvSpPr>
          <p:cNvPr id="50" name="Text 47"/>
          <p:cNvSpPr txBox="1"/>
          <p:nvPr/>
        </p:nvSpPr>
        <p:spPr>
          <a:xfrm>
            <a:off x="548640" y="5215738"/>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أَنْتُمْ</a:t>
            </a:r>
            <a:endParaRPr lang="ar-SA" sz="24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the “Past” columns; students conjugate aloud, then write. Watch the vowel on the second root letter: laʿiba.</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GM-V-04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 دَرَسْتَ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vowel for I?</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هِيَ كَتَبْتِ</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She or you (f.)?</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هُنَّ لَعِبُوا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All female?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GM-V-04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 دَرَسْتَ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دَرَسْتُ</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final vowel shows the person: -tu = I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هِيَ كَتَبْتِ</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هِيَ كَتَبَتْ</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 she; -ti = you (f.)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هُنَّ لَعِبُوا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هُنَّ لَعِبْنَ</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plural takes -na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GM-V-04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WEBSITE PAST FAMILY AND NARRATIVE CHECKS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 said”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قَالْتُ</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قَالَتْ</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قُلْتُ</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“We passed”</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مَرَّنَا</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مَرَرْنَا</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مَرْنَا</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 (f.) walked”.</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مَشَاتِ</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مَشَيْتِ</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مَشَوْتِ</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sequence ending</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أَخِيرًا نَرْجِعُ أَمْسِ.</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غَدًا رَجَعْنَا أَخِيرًا.</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أَخِيرًا رَجَعْنَا إِلَى الْبَيْتِ.</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GM-V-04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 said”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قَالْتُ</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قَالَتْ</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قُلْتُ</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Hollow short stem.</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“We passed”</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مَرَّنَا</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مَرَرْنَا</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مَرْنَا</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doubled stem opens.</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 (f.) walked”.</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مَشَاتِ</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مَشَيْتِ</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مَشَوْتِ</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Final yāʾ family + -ti.</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sequence ending</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أَخِيرًا نَرْجِعُ أَمْسِ.</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غَدًا رَجَعْنَا أَخِيرًا.</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أَخِيرًا رَجَعْنَا إِلَى الْبَيْتِ.</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Past form and sequence agree.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GM-V-04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74" b="1" spc="150" kern="0" dirty="0">
                <a:solidFill>
                  <a:srgbClr val="1E6B52"/>
                </a:solidFill>
                <a:latin typeface="Calibri" pitchFamily="34" charset="0"/>
                <a:cs typeface="Amiri" pitchFamily="2" charset="-78"/>
              </a:rPr>
              <a:t>YOU DO · READ AND NOTICE · WEBSITE READING WORKSHOP (TEACHER-WRITTEN BIOGRAPHY)</a:t>
            </a:r>
            <a:endParaRPr lang="en-US" sz="87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short biography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GM-V-04</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200" dirty="0">
                <a:solidFill>
                  <a:srgbClr val="1F2A37"/>
                </a:solidFill>
                <a:latin typeface="Amiri" pitchFamily="2" charset="-78"/>
                <a:ea typeface="Amiri" pitchFamily="2" charset="-78"/>
                <a:cs typeface="Amiri" pitchFamily="2" charset="-78"/>
              </a:rPr>
              <a:t>وُلِدَتْ فَاطِمَةُ الْفِهْرِيَّةُ فِي الْقَيْرَوَانِ، ثُمَّ سَافَرَتْ مَعَ أُسْرَتِهَا إِلَى فَاسَ. هُنَاكَ وَرِثَتْ مَالًا كَثِيرًا، فَبَنَتْ مَسْجِدًا كَبِيرًا. بَعْدَ ذَلِكَ دَرَسَ فِيهِ طُلَّابٌ كَثِيرُونَ، وَأَصْبَحَ جَامِعَةَ الْقَرَوِيِّينَ. زُرْنَا الْجَامِعَةَ فِي الصَّيْفِ الْمَاضِي، وَتَعَلَّمْنَا قِصَّتَهَا.</a:t>
            </a:r>
            <a:endParaRPr lang="ar-SA" sz="22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وُلِدَتْ</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she was born</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وَرِثَتْ</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she inherited</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بَنَتْ</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she built</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أَصْبَحَ</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 became</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تَعَلَّمْنَا</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learned</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GM-V-04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travelled to Fes?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students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Fatima (with her family)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Fatima build?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school</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house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big mosque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visited the university last summer?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 and others (we)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Fatima</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students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is final weak (“she built”)?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سَافَرَتْ</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وَرِثَتْ</a:t>
            </a:r>
            <a:endParaRPr lang="ar-SA" sz="20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GM-V-04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travelled to Fes?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students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Fatima (with her family)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Sāfarat — -at = she.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Fatima build?</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school</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house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big mosque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Banat masjidan kabīran.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visited the university last summer?</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writer and others (we)</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Fatima</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students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Zurnā — -nā = we.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is final weak (“she built”)?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سَافَرَتْ</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بَنَتْ</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وَرِثَتْ</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banā → banat.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GM-V-04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a one-minute story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GM-V-04</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فَعَلْتَ أَمْسِ؟</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فَعَلْتُمْ فِي آخِرِ رِحْلَةٍ مَدْرَسِيَّةٍ؟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احْكِ قِصَّةً: أَنَا … نَحْنُ … هُمْ / هِيَ …</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أَمْسِ ___ وَ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أَوَّلًا ___ ، ثُمَّ ___ ، وَأَخِيرًا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أَنَا ___ ، وَنَحْنُ ___ ، وَأَصْدِقَائِي ___ .</a:t>
            </a:r>
            <a:endParaRPr lang="ar-SA" sz="15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مَاذَا فَعَلْتِ فِي عُطْلَةِ نِهَايَةِ الْأُسْبُوعِ؟</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did you do at the weekend?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زُرْتُ خَالَتِي، وَطَبَخْنَا مَعًا، وَبَعْدَ ذَلِكَ لَعِبَ أَوْلَادُهَا فِي الْحَدِيقَةِ.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00" i="1" dirty="0">
                <a:solidFill>
                  <a:srgbClr val="5A6472"/>
                </a:solidFill>
                <a:latin typeface="Calibri" pitchFamily="34" charset="0"/>
                <a:cs typeface="Amiri" pitchFamily="2" charset="-78"/>
              </a:rPr>
              <a:t>I visited my aunt, we cooked together, and after that her children played in the garden.</a:t>
            </a:r>
            <a:endParaRPr lang="en-US" sz="8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GM-V-04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 memorable day in the first person.</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I went, I saw, I ate … (-tu).</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we, she and they — in order.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first · then · after that · finally.</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130–140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blog with one hollow and one weak verb.</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Underline each ending and label the subject above it.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GM-V-04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لَعِبَ أَصْدِقَائِي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friends played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كَتَبَتِ الْبَنَاتُ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girls wrote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رَأَيْتِ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Did you (f.) see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قُلْنَا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said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الْأُسْبُوعِ الْمَاضِي ذَهَبْتُ إِلَى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Last week I went to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First we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 ______ أُخْتِي.</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Then my sister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أَخِيرًا رَجَعْنَا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Finally we returned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ذَهَبْتُ  ·  ذَهَبْنَا  ·  رَأَيْتُ  ·  زُرْنَا  ·  أَكَلْنَا  ·  شَاهَدْتُ  ·  سَافَرَتْ  ·  لَعِبُوا  ·  وَصَلْنَ  ·  قُلْتُ  ·  رَجَعْنَا  ·  أَوَّلًا  ·  ثُمَّ  ·  أَخِيرًا</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GM-V-04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GM-V-04</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integrated production task: a 130–140-word blog entry about a memorable day.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Eight different past verbs.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Four different subject endings (e.g. -tu, -nā, -at, -ū).</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time expression and sequence links.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hollow verb and one weak verb.</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Singular and plural subjects.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ذَلِكَ الْيَوْمِ</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that day</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 ثُمَّ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first … then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أَعْجَبَنِي</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liked (it pleased me)</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فَرِحْتُ كَثِيرًا</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was very happy</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تَعَلَّمْتُ</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learned</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أَخِيرًا رَجَعْنَا</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finally we returned</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GM-V-04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أَجْمَلُ يَوْمٍ فِي حَيَاتِي كَانَ يَوْمَ تَخَرُّجِ أُخْتِي الْكَبِيرَةِ. فِي الصَّبَاحِ لَبِسْنَا ثِيَابًا جَدِيدَةً وَذَهَبْنَا إِلَى الْجَامِعَةِ. أَوَّلًا جَلَسْنَا فِي قَاعَةٍ كَبِيرَةٍ، ثُمَّ دَخَلَ الطُّلَّابُ وَالطَّالِبَاتُ. حِينَ سَمِعْنَا اسْمَ أُخْتِي، صَفَّقْنَا كَثِيرًا، وَبَكَتْ أُمِّي مِنَ الْفَرَحِ. بَعْدَ ذَلِكَ أَخَذْنَا صُوَرًا، وَقُلْتُ لِأُخْتِي: «أَنَا فَخُورٌ بِكِ!». أَخِيرًا رَجَعْنَا إِلَى الْبَيْتِ وَأَكَلْنَا عَشَاءً لَذِيذًا. تَعَلَّمْتُ أَنَّ الْجُهْدَ يَصْنَعُ النَّجَاحَ.</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most beautiful day of my life was my older sister’s graduation day. In the morning we put on new clothes and went to the university. First we sat in a big hall, then the male and female students came in. When we heard my sister’s name, we clapped a lot, and my mother cried with joy. After that we took photos, and I said to my sister: “I am proud of you!”. Finally we went home and ate a delicious dinner. I learned that effort creates success.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we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she / they</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sequence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GM-V-04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ending matches its subject.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-tu for I and -nā for we.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for she and -ū for they.</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story moves in order with sequence words.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Weak stems are correct (qultu, mashaynā).</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GM-V-04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 (f.) wrote”.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كَتَبَتْ</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two (f.) wrote”.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كَتَبَتَا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كَتَبْتُمَا</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said”.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قُلْنَا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قَالْنَا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قَالُوا</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GM-V-04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 (f.) wrote”.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كَتَبْتِ</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كَتَبْتَ</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كَتَبَتْ</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-ti = you (f.).</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two (f.) wrote”.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كَتَبَا</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كَتَبَتَا</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كَتَبْتُمَا</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-atā = they two (f.).</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said”.</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قُلْنَا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قَالْنَا</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قَالُوا</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Hollow short stem: qulnā.</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GM-V-04 · Verbs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Before GM-V-05: get ready at home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GM-V-05 · Present Tense: Prefixes, Suffixes and Meaning</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أَكْتُبُ</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write</a:t>
            </a:r>
            <a:pPr indent="0" marL="0">
              <a:buNone/>
            </a:pPr>
            <a:r>
              <a:rPr lang="en-US" sz="1000" i="1" dirty="0">
                <a:solidFill>
                  <a:srgbClr val="5A6472"/>
                </a:solidFill>
                <a:latin typeface="Calibri" pitchFamily="34" charset="0"/>
                <a:cs typeface="Amiri" pitchFamily="2" charset="-78"/>
              </a:rPr>
              <a:t>  a-</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تَكْتُبُ</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you write / she writes</a:t>
            </a:r>
            <a:pPr indent="0" marL="0">
              <a:buNone/>
            </a:pPr>
            <a:r>
              <a:rPr lang="en-US" sz="1000" i="1" dirty="0">
                <a:solidFill>
                  <a:srgbClr val="5A6472"/>
                </a:solidFill>
                <a:latin typeface="Calibri" pitchFamily="34" charset="0"/>
                <a:cs typeface="Amiri" pitchFamily="2" charset="-78"/>
              </a:rPr>
              <a:t>  ta-</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يَكْتُبُ</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writes</a:t>
            </a:r>
            <a:pPr indent="0" marL="0">
              <a:buNone/>
            </a:pPr>
            <a:r>
              <a:rPr lang="en-US" sz="1000" i="1" dirty="0">
                <a:solidFill>
                  <a:srgbClr val="5A6472"/>
                </a:solidFill>
                <a:latin typeface="Calibri" pitchFamily="34" charset="0"/>
                <a:cs typeface="Amiri" pitchFamily="2" charset="-78"/>
              </a:rPr>
              <a:t>  ya-</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نَكْتُبُ</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we write</a:t>
            </a:r>
            <a:pPr indent="0" marL="0">
              <a:buNone/>
            </a:pPr>
            <a:r>
              <a:rPr lang="en-US" sz="1000" i="1" dirty="0">
                <a:solidFill>
                  <a:srgbClr val="5A6472"/>
                </a:solidFill>
                <a:latin typeface="Calibri" pitchFamily="34" charset="0"/>
                <a:cs typeface="Amiri" pitchFamily="2" charset="-78"/>
              </a:rPr>
              <a:t>  na-</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يَكْتُبُونَ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they write</a:t>
            </a:r>
            <a:pPr indent="0" marL="0">
              <a:buNone/>
            </a:pPr>
            <a:r>
              <a:rPr lang="en-US" sz="1000" i="1" dirty="0">
                <a:solidFill>
                  <a:srgbClr val="5A6472"/>
                </a:solidFill>
                <a:latin typeface="Calibri" pitchFamily="34" charset="0"/>
                <a:cs typeface="Amiri" pitchFamily="2" charset="-78"/>
              </a:rPr>
              <a:t>  ya- … -ūna</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In the past the ending shows the person. Where is the person shown in aktubu, taktubu, naktubu?</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أَكْتُبُ · تَكْتُبُ · ______ · نَكْتُبُ</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Conjugate darasa for I, we, you (m.), you (f.), she, they.</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Repair a story with person-ending mistakes.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blog entry about a memorable day.</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GM-V-04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00" b="1" dirty="0">
                <a:solidFill>
                  <a:srgbClr val="FFFFFF"/>
                </a:solidFill>
                <a:latin typeface="Cambria" pitchFamily="34" charset="0"/>
                <a:cs typeface="Amiri" pitchFamily="2" charset="-78"/>
              </a:rPr>
              <a:t>GM-V-05 · Present Tense: Prefixes, Suffixes and Meaning</a:t>
            </a:r>
            <a:endParaRPr lang="en-US" sz="1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الْفِعْلُ الْمُضَارِعُ: السَّوَابِقُ وَاللَّوَاحِقُ وَالدَّلَالَةُ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the ending tells who · -tu I · -ta you (m.) · -ti you (f.) · -at she · -nā we · -ū they · -na they (f.) · identify the family, then add the ending.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GM-V-04 · Past Tense: Complete Conjugation and Narration</dc:title>
  <dc:subject>PptxGenJS Presentation</dc:subject>
  <dc:creator>Al Madina Online School · Arabic Department</dc:creator>
  <cp:lastModifiedBy>Al Madina Online School · Arabic Department</cp:lastModifiedBy>
  <cp:revision>1</cp:revision>
  <dcterms:created xsi:type="dcterms:W3CDTF">2026-10-11T06:42:35Z</dcterms:created>
  <dcterms:modified xsi:type="dcterms:W3CDTF">2026-10-11T06:42:35Z</dcterms:modified>
</cp:coreProperties>
</file>