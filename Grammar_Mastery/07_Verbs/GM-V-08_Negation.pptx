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GM-V-08 (“Negating Past and Present Actions”).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مَا + past (مَا ذَهَبْتُ) and لَا + present (لَا أَذْهَبُ). Develop: لَمْ + jussive (لَمْ أَذْهَبْ · لَمْ يَكْتُبُوا) and the four-part map with لَنْ. Stretch: weak jussives (لَمْ يَمْشِ · لَمْ يَدْعُ · لَمْ يَرَ) and statement vs prohibition (لَا تَكْتُبُ / لَا تَكْتُبْ).
• Website point: mā + past and lam + jussive BOTH mean “did not”. Lam looks like a present verb but means past — warn students.
• Weak classes: start with the time line (yesterday · every day · tomorrow) and one particle each.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1–4 and 6) — the GM-V-07 prep words mā, lam and lā, and lan from GM-V-06.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Pick the particle from the TIME: did not = mā + past or lam + jussive · does not = lā + present · will not =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“A four-part negation map”. Draw a timeline: yesterday (mā / lam) · every day (lā) · tomorrow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“Past negation” and “Present negation with lā”. Stretch: lam nazuri — the long ū of nazūru shortens in the jussive.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“Visible jussive changes after lam”. Same changes as after prohibitive lā (GM-V-07).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Negation Map and Past Negation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Ask: which two verbs mean the same time? (mā dhahabtu and lam alʿab — both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Trap: lam + a present shape =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Trap: lam + a present shape =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Past, Present and Jussive Change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diary). Read it aloud once while students follow; then they hunt for today’s grammar.
Task: Website: classify every negative sentence by time frame and particle, and explain the verb form.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diary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answer four questions with a different negative system each time. Listening (website): lam yaktub / lā yaktubu / lan yaktuba — identify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120–140-word reflection comparing what you did not do last week, what you do not usually do, and what you will not do next week.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(GM-V-09 · Basic Conditionals) will spend class time USING this language, so students prepare it tonight — short, simple, easy to access (school guidance: “Simple, Short, Interesting, Relevant, Easy to access”). The five words prepare GM-V-09 (website Verbs lesson 9: basic conditionals).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Negating Past and Present</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نَفْيُ الْمَاضِي وَالْمُضَارِعِ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English has one “not”; Arabic chooses by time: mā + past (did not), lam + jussive (did not), lā + present (does not), lan + subjunctive (will not). After lam the verb takes sukūn, drops its nūn, or loses a final weak letter.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GM-V-08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Negation map; mā and lam; lā; jussive changes.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Choose the particle; sort by time;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did not travel” with a perfect verb.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سَافَرْتُ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سَافَرْتُ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سَافَرْتُ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another standard “I did not travel”.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أُسَافِرْ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سَافَرْتُ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أُسَافِرُ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do not travel every week”.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أُسَافِرْ كُلَّ أُسْبُوعٍ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أُسَافِرَ أَمْسِ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أُسَافِرُ كُلَّ أُسْبُوعٍ</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did not write” with </a:t>
            </a:r>
            <a:pPr algn="l" indent="0" marL="0">
              <a:buNone/>
            </a:pPr>
            <a:r>
              <a:rPr lang="ar-SA" altLang="en-US" sz="1650" b="1" dirty="0">
                <a:solidFill>
                  <a:srgbClr val="1B3B6F"/>
                </a:solidFill>
                <a:latin typeface="Amiri" pitchFamily="2" charset="-78"/>
                <a:ea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يَكْتُبُونَ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كَتَبُوا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يَكْتُبُوا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particle is for future negation?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لَنْ</a:t>
            </a:r>
            <a:endParaRPr lang="ar-SA" sz="22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لَمْ</a:t>
            </a:r>
            <a:endParaRPr lang="ar-SA" sz="2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مَا</a:t>
            </a:r>
            <a:pPr algn="l" indent="0" marL="0">
              <a:buNone/>
            </a:pPr>
            <a:r>
              <a:rPr lang="en-US" sz="1250" dirty="0">
                <a:solidFill>
                  <a:srgbClr val="1F2A37"/>
                </a:solidFill>
                <a:latin typeface="Calibri" pitchFamily="34" charset="0"/>
                <a:cs typeface="Amiri" pitchFamily="2" charset="-78"/>
              </a:rPr>
              <a:t> + past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did not travel” with a perfect verb.</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سَافَرْتُ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 سَافَرْتُ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سَافَرْتُ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Mā can negate the past verb directly.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another standard “I did not travel”.</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 أُسَافِرْ</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سَافَرْتُ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أُسَافِرُ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Lam + jussive present also means “did not”.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do not travel every week”.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أُسَافِرْ كُلَّ أُسْبُوعٍ</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أُسَافِرَ أَمْسِ</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أُسَافِرُ كُلَّ أُسْبُوعٍ</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 present negates a habit.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did not write” with </a:t>
            </a:r>
            <a:pPr algn="l" indent="0" marL="0">
              <a:buNone/>
            </a:pPr>
            <a:r>
              <a:rPr lang="ar-SA" altLang="en-US" sz="1650" b="1" dirty="0">
                <a:solidFill>
                  <a:srgbClr val="1B3B6F"/>
                </a:solidFill>
                <a:latin typeface="Amiri" pitchFamily="2" charset="-78"/>
                <a:ea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يَكْتُبُونَ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كَتَبُوا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 يَكْتُبُوا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five-verb nūn drops after lam.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particle is for future negation?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ea typeface="Amiri" pitchFamily="2" charset="-78"/>
                <a:cs typeface="Amiri" pitchFamily="2" charset="-78"/>
              </a:rPr>
              <a:t>لَنْ</a:t>
            </a:r>
            <a:endParaRPr lang="ar-SA" sz="22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لَمْ</a:t>
            </a:r>
            <a:endParaRPr lang="ar-SA" sz="2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مَا</a:t>
            </a:r>
            <a:pPr algn="l" indent="0" marL="0">
              <a:buNone/>
            </a:pPr>
            <a:r>
              <a:rPr lang="en-US" sz="1250" dirty="0">
                <a:solidFill>
                  <a:srgbClr val="9AA1AB"/>
                </a:solidFill>
                <a:latin typeface="Calibri" pitchFamily="34" charset="0"/>
                <a:cs typeface="Amiri" pitchFamily="2" charset="-78"/>
              </a:rPr>
              <a:t> + past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لن</a:t>
            </a:r>
            <a:pPr algn="l" indent="0" marL="0">
              <a:buNone/>
            </a:pPr>
            <a:r>
              <a:rPr lang="en-US" sz="1050" i="1" dirty="0">
                <a:solidFill>
                  <a:srgbClr val="8A6D1E"/>
                </a:solidFill>
                <a:latin typeface="Calibri" pitchFamily="34" charset="0"/>
                <a:cs typeface="Amiri" pitchFamily="2" charset="-78"/>
              </a:rPr>
              <a:t> belongs to the future system.</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Pick the particle from the TIME: did not = mā + past or lam + jussive · does not = lā + present · will not = lan.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مَا ذَهَبْتُ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لَمْ أَذْهَبْ</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لَا أَذْهَبُ</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لَنْ أَذْهَبَ</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Negate the past with mā and with lam.</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Negate the present with lā.</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the jussive changes after lam.</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negative statement from a negative command.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did not … with mā.</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do not … with lā.</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I did not … with lam + sukūn.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drop the nūn after lam.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shorten weak verbs after lam.</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lā taktubu vs lā taktub.</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النَّفْيُ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negation</a:t>
            </a:r>
            <a:endParaRPr lang="en-US" sz="1350" dirty="0"/>
          </a:p>
          <a:p>
            <a:pPr indent="0" marL="0">
              <a:buNone/>
            </a:pPr>
            <a:r>
              <a:rPr lang="en-US" sz="1100" i="1" dirty="0">
                <a:solidFill>
                  <a:srgbClr val="5A6472"/>
                </a:solidFill>
                <a:latin typeface="Calibri" pitchFamily="34" charset="0"/>
                <a:cs typeface="Amiri" pitchFamily="2" charset="-78"/>
              </a:rPr>
              <a:t>an-naf-yu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مَا · لَمْ · لَا · لَنْ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did not (+ past)</a:t>
            </a:r>
            <a:endParaRPr lang="en-US" sz="1350" dirty="0"/>
          </a:p>
          <a:p>
            <a:pPr indent="0" marL="0">
              <a:buNone/>
            </a:pPr>
            <a:r>
              <a:rPr lang="en-US" sz="1100" i="1" dirty="0">
                <a:solidFill>
                  <a:srgbClr val="5A6472"/>
                </a:solidFill>
                <a:latin typeface="Calibri" pitchFamily="34" charset="0"/>
                <a:cs typeface="Amiri" pitchFamily="2" charset="-78"/>
              </a:rPr>
              <a:t>mā</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مَا ذَهَبْتُ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did not (+ jussive)</a:t>
            </a:r>
            <a:endParaRPr lang="en-US" sz="1350" dirty="0"/>
          </a:p>
          <a:p>
            <a:pPr indent="0" marL="0">
              <a:buNone/>
            </a:pPr>
            <a:r>
              <a:rPr lang="en-US" sz="1100" i="1" dirty="0">
                <a:solidFill>
                  <a:srgbClr val="5A6472"/>
                </a:solidFill>
                <a:latin typeface="Calibri" pitchFamily="34" charset="0"/>
                <a:cs typeface="Amiri" pitchFamily="2" charset="-78"/>
              </a:rPr>
              <a:t>lam</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لَمْ أَذْهَبْ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does not (+ present)</a:t>
            </a:r>
            <a:endParaRPr lang="en-US" sz="1350" dirty="0"/>
          </a:p>
          <a:p>
            <a:pPr indent="0" marL="0">
              <a:buNone/>
            </a:pPr>
            <a:r>
              <a:rPr lang="en-US" sz="1100" i="1" dirty="0">
                <a:solidFill>
                  <a:srgbClr val="5A6472"/>
                </a:solidFill>
                <a:latin typeface="Calibri" pitchFamily="34" charset="0"/>
                <a:cs typeface="Amiri" pitchFamily="2" charset="-78"/>
              </a:rPr>
              <a:t>lā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لَا أَذْهَبُ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الْمَجْزُومُ</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jussive (after lam)</a:t>
            </a:r>
            <a:endParaRPr lang="en-US" sz="1350" dirty="0"/>
          </a:p>
          <a:p>
            <a:pPr indent="0" marL="0">
              <a:buNone/>
            </a:pPr>
            <a:r>
              <a:rPr lang="en-US" sz="1100" i="1" dirty="0">
                <a:solidFill>
                  <a:srgbClr val="5A6472"/>
                </a:solidFill>
                <a:latin typeface="Calibri" pitchFamily="34" charset="0"/>
                <a:cs typeface="Amiri" pitchFamily="2" charset="-78"/>
              </a:rPr>
              <a:t>al-maj-zū-mu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أَذْهَبْ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أَبَدًا</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 / at all</a:t>
            </a:r>
            <a:endParaRPr lang="en-US" sz="1350" dirty="0"/>
          </a:p>
          <a:p>
            <a:pPr indent="0" marL="0">
              <a:buNone/>
            </a:pPr>
            <a:r>
              <a:rPr lang="en-US" sz="1100" i="1" dirty="0">
                <a:solidFill>
                  <a:srgbClr val="5A6472"/>
                </a:solidFill>
                <a:latin typeface="Calibri" pitchFamily="34" charset="0"/>
                <a:cs typeface="Amiri" pitchFamily="2" charset="-78"/>
              </a:rPr>
              <a:t>a-ba-dan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لَا أُدَخِّنُ أَبَدًا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A FOUR-PART NEGATION MAP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One English “not” — four Arabic systems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form</a:t>
            </a:r>
            <a:endParaRPr lang="en-US" sz="1100" dirty="0"/>
          </a:p>
        </p:txBody>
      </p:sp>
      <p:sp>
        <p:nvSpPr>
          <p:cNvPr id="17" name="Text 14"/>
          <p:cNvSpPr txBox="1"/>
          <p:nvPr/>
        </p:nvSpPr>
        <p:spPr>
          <a:xfrm>
            <a:off x="65653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32735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normal past</a:t>
            </a:r>
            <a:endParaRPr lang="en-US" sz="1100" dirty="0"/>
          </a:p>
        </p:txBody>
      </p:sp>
      <p:sp>
        <p:nvSpPr>
          <p:cNvPr id="22" name="Text 19"/>
          <p:cNvSpPr txBox="1"/>
          <p:nvPr/>
        </p:nvSpPr>
        <p:spPr>
          <a:xfrm>
            <a:off x="660196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did not go.</a:t>
            </a:r>
            <a:endParaRPr lang="en-US" sz="1100" dirty="0"/>
          </a:p>
        </p:txBody>
      </p:sp>
      <p:sp>
        <p:nvSpPr>
          <p:cNvPr id="23" name="Text 20"/>
          <p:cNvSpPr txBox="1"/>
          <p:nvPr/>
        </p:nvSpPr>
        <p:spPr>
          <a:xfrm>
            <a:off x="3291840" y="2267712"/>
            <a:ext cx="31089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مَا ذَهَبْتُ.</a:t>
            </a:r>
            <a:endParaRPr lang="ar-SA" sz="2600" dirty="0"/>
          </a:p>
        </p:txBody>
      </p:sp>
      <p:sp>
        <p:nvSpPr>
          <p:cNvPr id="24" name="Text 21"/>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mā + past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shape, sukūn</a:t>
            </a:r>
            <a:endParaRPr lang="en-US" sz="1100" dirty="0"/>
          </a:p>
        </p:txBody>
      </p:sp>
      <p:sp>
        <p:nvSpPr>
          <p:cNvPr id="29" name="Text 26"/>
          <p:cNvSpPr txBox="1"/>
          <p:nvPr/>
        </p:nvSpPr>
        <p:spPr>
          <a:xfrm>
            <a:off x="660196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did not go.</a:t>
            </a:r>
            <a:endParaRPr lang="en-US" sz="1100" dirty="0"/>
          </a:p>
        </p:txBody>
      </p:sp>
      <p:sp>
        <p:nvSpPr>
          <p:cNvPr id="30" name="Text 27"/>
          <p:cNvSpPr txBox="1"/>
          <p:nvPr/>
        </p:nvSpPr>
        <p:spPr>
          <a:xfrm>
            <a:off x="3291840" y="3054096"/>
            <a:ext cx="31089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لَمْ أَذْهَبْ.</a:t>
            </a:r>
            <a:endParaRPr lang="ar-SA" sz="2600" dirty="0"/>
          </a:p>
        </p:txBody>
      </p:sp>
      <p:sp>
        <p:nvSpPr>
          <p:cNvPr id="31" name="Text 28"/>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lam + jussive</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normal present</a:t>
            </a:r>
            <a:endParaRPr lang="en-US" sz="1100" dirty="0"/>
          </a:p>
        </p:txBody>
      </p:sp>
      <p:sp>
        <p:nvSpPr>
          <p:cNvPr id="34" name="Text 31"/>
          <p:cNvSpPr txBox="1"/>
          <p:nvPr/>
        </p:nvSpPr>
        <p:spPr>
          <a:xfrm>
            <a:off x="660196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don’t usually go.</a:t>
            </a:r>
            <a:endParaRPr lang="en-US" sz="1100" dirty="0"/>
          </a:p>
        </p:txBody>
      </p:sp>
      <p:sp>
        <p:nvSpPr>
          <p:cNvPr id="35" name="Text 32"/>
          <p:cNvSpPr txBox="1"/>
          <p:nvPr/>
        </p:nvSpPr>
        <p:spPr>
          <a:xfrm>
            <a:off x="3291840" y="3840480"/>
            <a:ext cx="31089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لَا أَذْهَبُ عَادَةً.</a:t>
            </a:r>
            <a:endParaRPr lang="ar-SA" sz="2600" dirty="0"/>
          </a:p>
        </p:txBody>
      </p:sp>
      <p:sp>
        <p:nvSpPr>
          <p:cNvPr id="36" name="Text 33"/>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 + present</a:t>
            </a:r>
            <a:endParaRPr lang="en-US" sz="1100" dirty="0"/>
          </a:p>
        </p:txBody>
      </p:sp>
      <p:sp>
        <p:nvSpPr>
          <p:cNvPr id="37" name="Shape 34"/>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shape, fatḥa</a:t>
            </a:r>
            <a:endParaRPr lang="en-US" sz="1100" dirty="0"/>
          </a:p>
        </p:txBody>
      </p:sp>
      <p:sp>
        <p:nvSpPr>
          <p:cNvPr id="41" name="Text 38"/>
          <p:cNvSpPr txBox="1"/>
          <p:nvPr/>
        </p:nvSpPr>
        <p:spPr>
          <a:xfrm>
            <a:off x="660196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not go.</a:t>
            </a:r>
            <a:endParaRPr lang="en-US" sz="1100" dirty="0"/>
          </a:p>
        </p:txBody>
      </p:sp>
      <p:sp>
        <p:nvSpPr>
          <p:cNvPr id="42" name="Text 39"/>
          <p:cNvSpPr txBox="1"/>
          <p:nvPr/>
        </p:nvSpPr>
        <p:spPr>
          <a:xfrm>
            <a:off x="3291840" y="4626864"/>
            <a:ext cx="31089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لَنْ أَذْهَبَ.</a:t>
            </a:r>
            <a:endParaRPr lang="ar-SA" sz="2600" dirty="0"/>
          </a:p>
        </p:txBody>
      </p:sp>
      <p:sp>
        <p:nvSpPr>
          <p:cNvPr id="43" name="Text 40"/>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 + subjunctive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choose the particle from the intended time frame and sentence type — not from the English word “not”.</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PAST WITH MĀ AND LAM · PRESENT WITH LĀ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ways to say “did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 وَلَمْ وَلَا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32735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did not visit the museum yesterday.</a:t>
            </a:r>
            <a:endParaRPr lang="en-US" sz="1100" dirty="0"/>
          </a:p>
        </p:txBody>
      </p:sp>
      <p:sp>
        <p:nvSpPr>
          <p:cNvPr id="21" name="Text 18"/>
          <p:cNvSpPr txBox="1"/>
          <p:nvPr/>
        </p:nvSpPr>
        <p:spPr>
          <a:xfrm>
            <a:off x="3291840" y="226771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 زُرْنَا الْمَتْحَفَ أَمْسِ.</a:t>
            </a:r>
            <a:endParaRPr lang="ar-SA" sz="2400" dirty="0"/>
          </a:p>
        </p:txBody>
      </p:sp>
      <p:sp>
        <p:nvSpPr>
          <p:cNvPr id="22" name="Text 19"/>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mā + past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did not visit the museum yesterday.</a:t>
            </a:r>
            <a:endParaRPr lang="en-US" sz="1100" dirty="0"/>
          </a:p>
        </p:txBody>
      </p:sp>
      <p:sp>
        <p:nvSpPr>
          <p:cNvPr id="27" name="Text 24"/>
          <p:cNvSpPr txBox="1"/>
          <p:nvPr/>
        </p:nvSpPr>
        <p:spPr>
          <a:xfrm>
            <a:off x="3291840" y="2881884"/>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 نَزُرِ الْمَتْحَفَ أَمْسِ.</a:t>
            </a:r>
            <a:endParaRPr lang="ar-SA" sz="2400" dirty="0"/>
          </a:p>
        </p:txBody>
      </p:sp>
      <p:sp>
        <p:nvSpPr>
          <p:cNvPr id="28" name="Text 25"/>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lam + jussive</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 not drink coffee.</a:t>
            </a:r>
            <a:endParaRPr lang="en-US" sz="1100" dirty="0"/>
          </a:p>
        </p:txBody>
      </p:sp>
      <p:sp>
        <p:nvSpPr>
          <p:cNvPr id="31" name="Text 28"/>
          <p:cNvSpPr txBox="1"/>
          <p:nvPr/>
        </p:nvSpPr>
        <p:spPr>
          <a:xfrm>
            <a:off x="3291840" y="3496056"/>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أَشْرَبُ الْقَهْوَةَ.</a:t>
            </a:r>
            <a:endParaRPr lang="ar-SA" sz="2400" dirty="0"/>
          </a:p>
        </p:txBody>
      </p:sp>
      <p:sp>
        <p:nvSpPr>
          <p:cNvPr id="32" name="Text 29"/>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habit</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 not want to go now.</a:t>
            </a:r>
            <a:endParaRPr lang="en-US" sz="1100" dirty="0"/>
          </a:p>
        </p:txBody>
      </p:sp>
      <p:sp>
        <p:nvSpPr>
          <p:cNvPr id="37" name="Text 34"/>
          <p:cNvSpPr txBox="1"/>
          <p:nvPr/>
        </p:nvSpPr>
        <p:spPr>
          <a:xfrm>
            <a:off x="3291840" y="4110228"/>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أُرِيدُ أَنْ أَذْهَبَ الْآنَ.</a:t>
            </a:r>
            <a:endParaRPr lang="ar-SA" sz="2400" dirty="0"/>
          </a:p>
        </p:txBody>
      </p:sp>
      <p:sp>
        <p:nvSpPr>
          <p:cNvPr id="38" name="Text 35"/>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current refusal</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Fish do not fly.</a:t>
            </a:r>
            <a:endParaRPr lang="en-US" sz="1100" dirty="0"/>
          </a:p>
        </p:txBody>
      </p:sp>
      <p:sp>
        <p:nvSpPr>
          <p:cNvPr id="41" name="Text 38"/>
          <p:cNvSpPr txBox="1"/>
          <p:nvPr/>
        </p:nvSpPr>
        <p:spPr>
          <a:xfrm>
            <a:off x="3291840" y="4724400"/>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تَطِيرُ الْأَسْمَاكُ.</a:t>
            </a:r>
            <a:endParaRPr lang="ar-SA" sz="2400" dirty="0"/>
          </a:p>
        </p:txBody>
      </p:sp>
      <p:sp>
        <p:nvSpPr>
          <p:cNvPr id="42" name="Text 39"/>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general fact</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do not write · don’t write!</a:t>
            </a:r>
            <a:endParaRPr lang="en-US" sz="1100" dirty="0"/>
          </a:p>
        </p:txBody>
      </p:sp>
      <p:sp>
        <p:nvSpPr>
          <p:cNvPr id="45" name="Text 42"/>
          <p:cNvSpPr txBox="1"/>
          <p:nvPr/>
        </p:nvSpPr>
        <p:spPr>
          <a:xfrm>
            <a:off x="3291840" y="533857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تَكْتُبُ · لَا تَكْتُبْ!</a:t>
            </a:r>
            <a:endParaRPr lang="ar-SA" sz="2400" dirty="0"/>
          </a:p>
        </p:txBody>
      </p:sp>
      <p:sp>
        <p:nvSpPr>
          <p:cNvPr id="46" name="Text 43"/>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statement vs command</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both mā and lam are standard; lam is very common in formal written Arabic. Lā taktubu (u) is a statement; lā taktub (sukūn) is a command.</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3 · VISIBLE JUSSIVE CHANGES AFTER LAM (WEBSITE TABLE)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What lam does to the end of the verb</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تَغَيُّرَاتُ الْجَزْمِ بَعْدَ «لَمْ»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changes</a:t>
            </a:r>
            <a:endParaRPr lang="en-US" sz="1100" dirty="0"/>
          </a:p>
        </p:txBody>
      </p:sp>
      <p:sp>
        <p:nvSpPr>
          <p:cNvPr id="17" name="Text 14"/>
          <p:cNvSpPr txBox="1"/>
          <p:nvPr/>
        </p:nvSpPr>
        <p:spPr>
          <a:xfrm>
            <a:off x="32735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lam</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Positive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419088" y="2267712"/>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ḍamma → sukūn</a:t>
            </a:r>
            <a:endParaRPr lang="en-US" sz="1100" dirty="0"/>
          </a:p>
        </p:txBody>
      </p:sp>
      <p:sp>
        <p:nvSpPr>
          <p:cNvPr id="21" name="Text 18"/>
          <p:cNvSpPr txBox="1"/>
          <p:nvPr/>
        </p:nvSpPr>
        <p:spPr>
          <a:xfrm>
            <a:off x="3291840" y="226771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لَمْ يَكْتُبْ</a:t>
            </a:r>
            <a:endParaRPr lang="ar-SA" sz="2600" dirty="0"/>
          </a:p>
        </p:txBody>
      </p:sp>
      <p:sp>
        <p:nvSpPr>
          <p:cNvPr id="22" name="Text 19"/>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يَكْتُبُ</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419088" y="2881884"/>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 (+ silent alif)</a:t>
            </a:r>
            <a:endParaRPr lang="en-US" sz="1100" dirty="0"/>
          </a:p>
        </p:txBody>
      </p:sp>
      <p:sp>
        <p:nvSpPr>
          <p:cNvPr id="27" name="Text 24"/>
          <p:cNvSpPr txBox="1"/>
          <p:nvPr/>
        </p:nvSpPr>
        <p:spPr>
          <a:xfrm>
            <a:off x="3291840" y="2881884"/>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لَمْ يَكْتُبُوا</a:t>
            </a:r>
            <a:endParaRPr lang="ar-SA" sz="2600" dirty="0"/>
          </a:p>
        </p:txBody>
      </p:sp>
      <p:sp>
        <p:nvSpPr>
          <p:cNvPr id="28" name="Text 25"/>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يَكْتُبُونَ</a:t>
            </a:r>
            <a:endParaRPr lang="ar-SA" sz="26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419088" y="3496056"/>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33" name="Text 30"/>
          <p:cNvSpPr txBox="1"/>
          <p:nvPr/>
        </p:nvSpPr>
        <p:spPr>
          <a:xfrm>
            <a:off x="3291840" y="3496056"/>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لَمْ تَكْتُبِي</a:t>
            </a:r>
            <a:endParaRPr lang="ar-SA" sz="2600" dirty="0"/>
          </a:p>
        </p:txBody>
      </p:sp>
      <p:sp>
        <p:nvSpPr>
          <p:cNvPr id="34" name="Text 31"/>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تَكْتُبِينَ</a:t>
            </a:r>
            <a:endParaRPr lang="ar-SA" sz="26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6419088" y="4110228"/>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yāʾ drops</a:t>
            </a:r>
            <a:endParaRPr lang="en-US" sz="1100" dirty="0"/>
          </a:p>
        </p:txBody>
      </p:sp>
      <p:sp>
        <p:nvSpPr>
          <p:cNvPr id="37" name="Text 34"/>
          <p:cNvSpPr txBox="1"/>
          <p:nvPr/>
        </p:nvSpPr>
        <p:spPr>
          <a:xfrm>
            <a:off x="3291840" y="4110228"/>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لَمْ يَمْشِ</a:t>
            </a:r>
            <a:endParaRPr lang="ar-SA" sz="2600" dirty="0"/>
          </a:p>
        </p:txBody>
      </p:sp>
      <p:sp>
        <p:nvSpPr>
          <p:cNvPr id="38" name="Text 35"/>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يَمْشِي</a:t>
            </a:r>
            <a:endParaRPr lang="ar-SA" sz="26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6419088" y="4724400"/>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wāw drops</a:t>
            </a:r>
            <a:endParaRPr lang="en-US" sz="1100" dirty="0"/>
          </a:p>
        </p:txBody>
      </p:sp>
      <p:sp>
        <p:nvSpPr>
          <p:cNvPr id="41" name="Text 38"/>
          <p:cNvSpPr txBox="1"/>
          <p:nvPr/>
        </p:nvSpPr>
        <p:spPr>
          <a:xfrm>
            <a:off x="3291840" y="4724400"/>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لَمْ يَدْعُ</a:t>
            </a:r>
            <a:endParaRPr lang="ar-SA" sz="2600" dirty="0"/>
          </a:p>
        </p:txBody>
      </p:sp>
      <p:sp>
        <p:nvSpPr>
          <p:cNvPr id="42" name="Text 39"/>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يَدْعُو</a:t>
            </a:r>
            <a:endParaRPr lang="ar-SA" sz="26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6419088" y="5338572"/>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alif drops</a:t>
            </a:r>
            <a:endParaRPr lang="en-US" sz="1100" dirty="0"/>
          </a:p>
        </p:txBody>
      </p:sp>
      <p:sp>
        <p:nvSpPr>
          <p:cNvPr id="45" name="Text 42"/>
          <p:cNvSpPr txBox="1"/>
          <p:nvPr/>
        </p:nvSpPr>
        <p:spPr>
          <a:xfrm>
            <a:off x="3291840" y="533857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لَمْ يَرَ</a:t>
            </a:r>
            <a:endParaRPr lang="ar-SA" sz="2600" dirty="0"/>
          </a:p>
        </p:txBody>
      </p:sp>
      <p:sp>
        <p:nvSpPr>
          <p:cNvPr id="46" name="Text 43"/>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يَرَى</a:t>
            </a:r>
            <a:endParaRPr lang="ar-SA" sz="26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stretch focus: weak verbs make the jussive especially visible — learn the pairs yamshī / lam yamshi, yadʿū / lam yadʿu, yarā / lam yara.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completed past action?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كَتَبْتُ.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كَتَبْتُ.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كَتَبْتُ.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past negative with the jussive?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أَكْتُبْ.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أَكْتُبُ.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كَتَبْتُ.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present habit?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أَكْتُبْ غَدًا.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أَكْتُبُ كُلَّ يَوْمٍ.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كَتَبْتُ عَادَةً.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did not arrive” with lam</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تَصِلْ</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تَصِلُ</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وَصَلَتْ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completed past action?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كَتَبْتُ.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كَتَبْتُ.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 كَتَبْتُ.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Mā + past.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past negative with the jussive?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 أَكْتُبْ.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أَكْتُبُ.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كَتَبْتُ.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Lam + jussive.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present habit?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أَكْتُبْ غَدًا.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أَكْتُبُ كُلَّ يَوْمٍ.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كَتَبْتُ عَادَةً.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 present.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did not arrive” with lam</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 تَصِلْ</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تَصِلُ</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وَصَلَتْ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Jussive present form: lam taṣil.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Watch me choose the particle from the time</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Last week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مَا ذَهَبْتُ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 mā + past.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Last week</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لَمْ أَلْعَبْ</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Or lam + sukūn.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Every day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لَا أَتَدَرَّبُ</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Habit → 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Next week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لَنْ أَتَوَقَّفَ</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Future → lan.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 / FUTURE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الْأُسْبُوعِ الْمَاضِي </a:t>
            </a:r>
            <a:pPr rtl="1" algn="r" indent="0" marL="0">
              <a:buNone/>
            </a:pPr>
            <a:r>
              <a:rPr lang="ar-SA" altLang="en-US" sz="2000" b="1" dirty="0">
                <a:solidFill>
                  <a:srgbClr val="0E7C86"/>
                </a:solidFill>
                <a:latin typeface="Amiri" pitchFamily="2" charset="-78"/>
                <a:ea typeface="Amiri" pitchFamily="2" charset="-78"/>
                <a:cs typeface="Amiri" pitchFamily="2" charset="-78"/>
              </a:rPr>
              <a:t>مَا ذَهَبْتُ</a:t>
            </a:r>
            <a:pPr rtl="1" algn="r" indent="0" marL="0">
              <a:buNone/>
            </a:pPr>
            <a:r>
              <a:rPr lang="ar-SA" altLang="en-US" sz="2000" b="1" dirty="0">
                <a:solidFill>
                  <a:srgbClr val="1B3B6F"/>
                </a:solidFill>
                <a:latin typeface="Amiri" pitchFamily="2" charset="-78"/>
                <a:ea typeface="Amiri" pitchFamily="2" charset="-78"/>
                <a:cs typeface="Amiri" pitchFamily="2" charset="-78"/>
              </a:rPr>
              <a:t> إِلَى النَّادِي، وَ</a:t>
            </a:r>
            <a:pPr rtl="1" algn="r" indent="0" marL="0">
              <a:buNone/>
            </a:pPr>
            <a:r>
              <a:rPr lang="ar-SA" altLang="en-US" sz="2000" b="1" dirty="0">
                <a:solidFill>
                  <a:srgbClr val="0E7C86"/>
                </a:solidFill>
                <a:latin typeface="Amiri" pitchFamily="2" charset="-78"/>
                <a:ea typeface="Amiri" pitchFamily="2" charset="-78"/>
                <a:cs typeface="Amiri" pitchFamily="2" charset="-78"/>
              </a:rPr>
              <a:t>لَمْ أَلْعَبْ</a:t>
            </a:r>
            <a:pPr rtl="1" algn="r" indent="0" marL="0">
              <a:buNone/>
            </a:pPr>
            <a:r>
              <a:rPr lang="ar-SA" altLang="en-US" sz="2000" b="1" dirty="0">
                <a:solidFill>
                  <a:srgbClr val="1B3B6F"/>
                </a:solidFill>
                <a:latin typeface="Amiri" pitchFamily="2" charset="-78"/>
                <a:ea typeface="Amiri" pitchFamily="2" charset="-78"/>
                <a:cs typeface="Amiri" pitchFamily="2" charset="-78"/>
              </a:rPr>
              <a:t> كُرَةَ الْقَدَمِ. أَنَا </a:t>
            </a:r>
            <a:pPr rtl="1" algn="r" indent="0" marL="0">
              <a:buNone/>
            </a:pPr>
            <a:r>
              <a:rPr lang="ar-SA" altLang="en-US" sz="2000" b="1" dirty="0">
                <a:solidFill>
                  <a:srgbClr val="D6336C"/>
                </a:solidFill>
                <a:latin typeface="Amiri" pitchFamily="2" charset="-78"/>
                <a:ea typeface="Amiri" pitchFamily="2" charset="-78"/>
                <a:cs typeface="Amiri" pitchFamily="2" charset="-78"/>
              </a:rPr>
              <a:t>لَا أَتَدَرَّبُ</a:t>
            </a:r>
            <a:pPr rtl="1" algn="r" indent="0" marL="0">
              <a:buNone/>
            </a:pPr>
            <a:r>
              <a:rPr lang="ar-SA" altLang="en-US" sz="2000" b="1" dirty="0">
                <a:solidFill>
                  <a:srgbClr val="1B3B6F"/>
                </a:solidFill>
                <a:latin typeface="Amiri" pitchFamily="2" charset="-78"/>
                <a:ea typeface="Amiri" pitchFamily="2" charset="-78"/>
                <a:cs typeface="Amiri" pitchFamily="2" charset="-78"/>
              </a:rPr>
              <a:t> كُلَّ يَوْمٍ، وَلَكِنَّنِي </a:t>
            </a:r>
            <a:pPr rtl="1" algn="r" indent="0" marL="0">
              <a:buNone/>
            </a:pPr>
            <a:r>
              <a:rPr lang="ar-SA" altLang="en-US" sz="2000" b="1" dirty="0">
                <a:solidFill>
                  <a:srgbClr val="D6336C"/>
                </a:solidFill>
                <a:latin typeface="Amiri" pitchFamily="2" charset="-78"/>
                <a:ea typeface="Amiri" pitchFamily="2" charset="-78"/>
                <a:cs typeface="Amiri" pitchFamily="2" charset="-78"/>
              </a:rPr>
              <a:t>لَنْ أَتَوَقَّفَ</a:t>
            </a:r>
            <a:pPr rtl="1" algn="r" indent="0" marL="0">
              <a:buNone/>
            </a:pPr>
            <a:r>
              <a:rPr lang="ar-SA" altLang="en-US" sz="2000" b="1" dirty="0">
                <a:solidFill>
                  <a:srgbClr val="1B3B6F"/>
                </a:solidFill>
                <a:latin typeface="Amiri" pitchFamily="2" charset="-78"/>
                <a:ea typeface="Amiri" pitchFamily="2" charset="-78"/>
                <a:cs typeface="Amiri" pitchFamily="2" charset="-78"/>
              </a:rPr>
              <a:t> عَنِ الرِّيَاضَةِ.</a:t>
            </a:r>
            <a:endParaRPr lang="ar-SA" sz="20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Last week I did not go to the club, and I did not play football. I do not train every day, but I will not stop doing sport.</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مَا فَهِمْتُ السُّؤَالَ.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did not understand the question.</a:t>
            </a:r>
            <a:endParaRPr lang="en-US" sz="1250" dirty="0"/>
          </a:p>
          <a:p>
            <a:pPr indent="0" marL="0">
              <a:buNone/>
            </a:pPr>
            <a:r>
              <a:rPr lang="en-US" sz="1050" i="1" dirty="0">
                <a:solidFill>
                  <a:srgbClr val="8A6D1E"/>
                </a:solidFill>
                <a:latin typeface="Calibri" pitchFamily="34" charset="0"/>
                <a:cs typeface="Amiri" pitchFamily="2" charset="-78"/>
              </a:rPr>
              <a:t>mā + past.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لَمْ يَأْتُوا إِلَى الدَّرْسِ.</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They did not come to the lesson.</a:t>
            </a:r>
            <a:endParaRPr lang="en-US" sz="1250" dirty="0"/>
          </a:p>
          <a:p>
            <a:pPr indent="0" marL="0">
              <a:buNone/>
            </a:pPr>
            <a:r>
              <a:rPr lang="en-US" sz="1050" i="1" dirty="0">
                <a:solidFill>
                  <a:srgbClr val="8A6D1E"/>
                </a:solidFill>
                <a:latin typeface="Calibri" pitchFamily="34" charset="0"/>
                <a:cs typeface="Amiri" pitchFamily="2" charset="-78"/>
              </a:rPr>
              <a:t>Nūn drops.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لَا تَنْبُتُ النَّبَاتَاتُ بِلَا مَاءٍ.</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Plants do not grow without water.</a:t>
            </a:r>
            <a:endParaRPr lang="en-US" sz="1250" dirty="0"/>
          </a:p>
          <a:p>
            <a:pPr indent="0" marL="0">
              <a:buNone/>
            </a:pPr>
            <a:r>
              <a:rPr lang="en-US" sz="1050" i="1" dirty="0">
                <a:solidFill>
                  <a:srgbClr val="8A6D1E"/>
                </a:solidFill>
                <a:latin typeface="Calibri" pitchFamily="34" charset="0"/>
                <a:cs typeface="Amiri" pitchFamily="2" charset="-78"/>
              </a:rPr>
              <a:t>General fact.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لَمْ أَرَ صَدِيقِي مُنْذُ شَهْرٍ.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not seen my friend for a month.</a:t>
            </a:r>
            <a:endParaRPr lang="en-US" sz="1250" dirty="0"/>
          </a:p>
          <a:p>
            <a:pPr indent="0" marL="0">
              <a:buNone/>
            </a:pPr>
            <a:r>
              <a:rPr lang="en-US" sz="1050" i="1" dirty="0">
                <a:solidFill>
                  <a:srgbClr val="8A6D1E"/>
                </a:solidFill>
                <a:latin typeface="Calibri" pitchFamily="34" charset="0"/>
                <a:cs typeface="Amiri" pitchFamily="2" charset="-78"/>
              </a:rPr>
              <a:t>Weak jussive.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LINK TIME, PARTICLE AND MOOD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“not” fits?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أَدَاةَ النَّفْيِ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a:t>
            </a:r>
            <a:endParaRPr lang="en-US" sz="1100" dirty="0"/>
          </a:p>
        </p:txBody>
      </p:sp>
      <p:sp>
        <p:nvSpPr>
          <p:cNvPr id="17" name="Text 14"/>
          <p:cNvSpPr txBox="1"/>
          <p:nvPr/>
        </p:nvSpPr>
        <p:spPr>
          <a:xfrm>
            <a:off x="40050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mā + past</a:t>
            </a:r>
            <a:endParaRPr lang="en-US" sz="1100" dirty="0"/>
          </a:p>
        </p:txBody>
      </p:sp>
      <p:sp>
        <p:nvSpPr>
          <p:cNvPr id="21" name="Text 18"/>
          <p:cNvSpPr txBox="1"/>
          <p:nvPr/>
        </p:nvSpPr>
        <p:spPr>
          <a:xfrm>
            <a:off x="4023360" y="2267712"/>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 سَافَرْتُ أَمْسِ.</a:t>
            </a:r>
            <a:endParaRPr lang="ar-SA" sz="2400" dirty="0"/>
          </a:p>
        </p:txBody>
      </p:sp>
      <p:sp>
        <p:nvSpPr>
          <p:cNvPr id="22" name="Text 19"/>
          <p:cNvSpPr txBox="1"/>
          <p:nvPr/>
        </p:nvSpPr>
        <p:spPr>
          <a:xfrm>
            <a:off x="566928" y="226771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did not travel yesterday.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lam + sukūn</a:t>
            </a:r>
            <a:endParaRPr lang="en-US" sz="1100" dirty="0"/>
          </a:p>
        </p:txBody>
      </p:sp>
      <p:sp>
        <p:nvSpPr>
          <p:cNvPr id="27" name="Text 24"/>
          <p:cNvSpPr txBox="1"/>
          <p:nvPr/>
        </p:nvSpPr>
        <p:spPr>
          <a:xfrm>
            <a:off x="4023360" y="2881884"/>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 أُسَافِرْ أَمْسِ.</a:t>
            </a:r>
            <a:endParaRPr lang="ar-SA" sz="2400" dirty="0"/>
          </a:p>
        </p:txBody>
      </p:sp>
      <p:sp>
        <p:nvSpPr>
          <p:cNvPr id="28" name="Text 25"/>
          <p:cNvSpPr txBox="1"/>
          <p:nvPr/>
        </p:nvSpPr>
        <p:spPr>
          <a:xfrm>
            <a:off x="566928" y="2881884"/>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did not travel yesterday.</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 + present</a:t>
            </a:r>
            <a:endParaRPr lang="en-US" sz="1100" dirty="0"/>
          </a:p>
        </p:txBody>
      </p:sp>
      <p:sp>
        <p:nvSpPr>
          <p:cNvPr id="31" name="Text 28"/>
          <p:cNvSpPr txBox="1"/>
          <p:nvPr/>
        </p:nvSpPr>
        <p:spPr>
          <a:xfrm>
            <a:off x="4023360" y="3496056"/>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أُسَافِرُ غَالِبًا.</a:t>
            </a:r>
            <a:endParaRPr lang="ar-SA" sz="2400" dirty="0"/>
          </a:p>
        </p:txBody>
      </p:sp>
      <p:sp>
        <p:nvSpPr>
          <p:cNvPr id="32" name="Text 29"/>
          <p:cNvSpPr txBox="1"/>
          <p:nvPr/>
        </p:nvSpPr>
        <p:spPr>
          <a:xfrm>
            <a:off x="566928" y="3496056"/>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 not travel often.</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 + fatḥa</a:t>
            </a:r>
            <a:endParaRPr lang="en-US" sz="1100" dirty="0"/>
          </a:p>
        </p:txBody>
      </p:sp>
      <p:sp>
        <p:nvSpPr>
          <p:cNvPr id="37" name="Text 34"/>
          <p:cNvSpPr txBox="1"/>
          <p:nvPr/>
        </p:nvSpPr>
        <p:spPr>
          <a:xfrm>
            <a:off x="4023360" y="4110228"/>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 أُسَافِرَ غَدًا.</a:t>
            </a:r>
            <a:endParaRPr lang="ar-SA" sz="2400" dirty="0"/>
          </a:p>
        </p:txBody>
      </p:sp>
      <p:sp>
        <p:nvSpPr>
          <p:cNvPr id="38" name="Text 35"/>
          <p:cNvSpPr txBox="1"/>
          <p:nvPr/>
        </p:nvSpPr>
        <p:spPr>
          <a:xfrm>
            <a:off x="566928" y="4110228"/>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not travel tomorrow.</a:t>
            </a:r>
            <a:endParaRPr lang="en-US" sz="11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43" name="Text 40"/>
          <p:cNvSpPr txBox="1"/>
          <p:nvPr/>
        </p:nvSpPr>
        <p:spPr>
          <a:xfrm>
            <a:off x="4023360" y="4724400"/>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 يَكْتُبُوا.</a:t>
            </a:r>
            <a:endParaRPr lang="ar-SA" sz="2400" dirty="0"/>
          </a:p>
        </p:txBody>
      </p:sp>
      <p:sp>
        <p:nvSpPr>
          <p:cNvPr id="44" name="Text 41"/>
          <p:cNvSpPr txBox="1"/>
          <p:nvPr/>
        </p:nvSpPr>
        <p:spPr>
          <a:xfrm>
            <a:off x="566928" y="4724400"/>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did not write.</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yāʾ drops</a:t>
            </a:r>
            <a:endParaRPr lang="en-US" sz="1100" dirty="0"/>
          </a:p>
        </p:txBody>
      </p:sp>
      <p:sp>
        <p:nvSpPr>
          <p:cNvPr id="47" name="Text 44"/>
          <p:cNvSpPr txBox="1"/>
          <p:nvPr/>
        </p:nvSpPr>
        <p:spPr>
          <a:xfrm>
            <a:off x="4023360" y="5338572"/>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 يَمْشِ.</a:t>
            </a:r>
            <a:endParaRPr lang="ar-SA" sz="2400" dirty="0"/>
          </a:p>
        </p:txBody>
      </p:sp>
      <p:sp>
        <p:nvSpPr>
          <p:cNvPr id="48" name="Text 45"/>
          <p:cNvSpPr txBox="1"/>
          <p:nvPr/>
        </p:nvSpPr>
        <p:spPr>
          <a:xfrm>
            <a:off x="566928" y="533857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did not walk.</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game: link the time, the particle and the mood.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WHICH TIME IS NEGATED?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Did not, does not, or will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مَاضٍ أَمْ حَاضِرٌ أَمْ 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كَتَبْتُ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يَأْكُلْ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أَشْرَبُ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لَا تَذْهَبُ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تَطِيرُ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نَتَأَخَّرَ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يَكْتُبُوا</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Did not</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Does not</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Will not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Did not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كَتَبْتُ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يَأْكُلْ</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Does not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أَشْرَبُ</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لَا تَذْهَبُ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تَطِيرُ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Will not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نَتَأَخَّرَ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يَكْتُبُوا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لَا ذَهَبْتُ أَمْسِ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Lā with a past verb?</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لَمْ يَكْتُبُونَ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Nūn after lam?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هُوَ لَا يَكْتُبْ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Statement or command?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لَا ذَهَبْتُ أَمْسِ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مَا ذَهَبْتُ أَمْسِ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mā with a past verb, or lam + jussive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لَمْ يَكْتُبُونَ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لَمْ يَكْتُبُوا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nūn drops after lam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هُوَ لَا يَكْتُبْ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هُوَ لَا يَكْتُبُ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statement stays indicative; sukūn suggests a command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cs typeface="Amiri" pitchFamily="2" charset="-78"/>
              </a:rPr>
              <a:t>WE DO · GUIDED PRACTICE · WEBSITE PAST, PRESENT AND JUSSIVE CHANGE CHECKS</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did not travel” with lam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يُسَافِرُونَ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سَافَرُوا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يُسَافِرُوا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Statement: “He does not play.”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لَا يَلْعَبْ!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لَا يَلْعَبُ.</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لَمْ يَلْعَبُ.</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did not walk”</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يَمْشِي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يَمْشِ</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يَمْشِ</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did not see”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يَرَى</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يَرَ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did not travel” with lam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يُسَافِرُونَ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سَافَرُوا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 يُسَافِرُوا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drops.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Statement: “He does not play.”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لَا يَلْعَبْ!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لَا يَلْعَبُ.</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لَمْ يَلْعَبُ.</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Indicative present statement.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did not walk”</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يَمْشِي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 يَمْشِ</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يَمْشِ</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weak jussive: the yāʾ drops.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did not see”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يَرَى</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يَرَ</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 يَرَ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Jussive of yarā: lam yara.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YOU DO · READ AND NOTICE · WEBSITE READING WORKSHOP (TEACHER-WRITTEN DIARY)</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difficult day — my diary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يَوْمُ الْأَحَدِ: كَانَ يَوْمًا صَعْبًا! مَا سَمِعْتُ الْمُنَبِّهَ، وَلَمْ أَسْتَيْقِظْ فِي الْوَقْتِ. لَمْ آكُلِ الْفَطُورَ، وَلَمْ أَرَ أُخْتِي قَبْلَ الْمَدْرَسَةِ. أَنَا عَادَةً لَا أَتَأَخَّرُ، وَلَا أَنْسَى وَاجِبِي، وَلَكِنِ الْيَوْمَ نَسِيتُهُ! أَصْدِقَائِي لَمْ يَضْحَكُوا، بَلْ سَاعَدُونِي. مِنَ الْآنَ لَنْ أَسْهَرَ لَيْلًا.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الْمُنَبِّهَ</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alarm clock</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الْوَقْتِ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time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نَسِيتُهُ</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forgot it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يَضْحَكُوا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laugh</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أَسْهَرَ</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stay up late</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verbs negate the past?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أَتَأَخَّرُ · لَا أَنْسَى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سَمِعْتُ · لَمْ أَسْتَيْقِظْ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أَسْهَرَ · لَا أَنْسَى</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usually NOT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breakfast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see her sister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arrive late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lam ara and not lam arā?</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final alif drops in the jussive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future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command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writer not do from now 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forget homework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 up late at night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 to school</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verbs negate the past?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أَتَأَخَّرُ · لَا أَنْسَى</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 سَمِعْتُ · لَمْ أَسْتَيْقِظْ</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أَسْهَرَ · لَا أَنْسَى</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Mā + past and lam + jussive.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usually NOT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 breakfast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see her sister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arrive late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ataʾakhkharu — a habit.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lam ara and not lam arā?</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final alif drops in the jussive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future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command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Weak jussive.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writer not do from now 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forget homework</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stay up late at night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 to school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Lan ashara laylan.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Speaking: four questions, four “nots”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ذَهَبْتَ إِلَى السُّوقِ أَمْسِ؟ هَلْ تَشْرَبُ الْقَهْوَةَ؟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زُرْتَ مَكَانًا جَدِيدًا هَذَا الشَّهْرَ؟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الَّذِي لَمْ تَفْعَلْهُ، وَلَا تَفْعَلُهُ، وَلَنْ تَفْعَلَهُ؟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أَمْسِ مَا ___ ، وَعَادَةً لَا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لَا، لَمْ ___ لِأَنَّنِي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لَمْ ___ ، وَلَا ___ ، وَلَنْ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شَاهَدْتِ الْمُبَارَاةَ أَمْسِ؟</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Did you watch the match yesterday?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لَا، لَمْ أُشَاهِدْهَا، لِأَنَّنِي لَا أُحِبُّ كُرَةَ الْقَدَمِ. وَلَنْ أُشَاهِدَ الْمُبَارَاةَ الْقَادِمَةَ أَيْضًا!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No, I didn’t watch it, because I don’t like football. And I won’t watch the next match either!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things I did not do, three I do not do.</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mā + past · lā + present.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lam and lan sentences.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Sukūn after lam; fatḥa after lan.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reflection: last week, usually, next week.</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weak jussive and one five-verb form.</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الْأُسْبُوعِ الْمَاضِي لَمْ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week I did not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أَصْدِقَائِي لَمْ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friends did not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الْأُسْبُوعِ الْقَادِمِ لَنْ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Next week I will not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 أَرَ ______ مُنْذُ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not seen … for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مَا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did not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عَادَةً لَا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 not usually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 لَا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does not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فَهِمْتُ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did not understand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مَا ذَهَبْتُ  ·  مَا فَهِمْتُ  ·  لَمْ أَلْعَبْ  ·  لَمْ أَرَ  ·  لَمْ يَأْتُوا  ·  لَا أَشْرَبُ  ·  لَا أُحِبُّ  ·  لَا أَتَأَخَّرُ  ·  لَنْ أَنْسَى  ·  أَمْسِ  ·  عَادَةً  ·  أَبَدًا  ·  مُنْذُ</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a 120–140-word reflection — last week, usually, next week.</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mā + past at least twice.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lam + jussive at least twice.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lā + present at least twice.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 + subjunctive at least twice.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weak jussive and one five-verb form.</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الْأُسْبُوعِ الْمَاضِي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week</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عَادَةً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usually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أَبَدًا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never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 … بَعْدُ</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not … yet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مُنْذُ</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since / for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بَلْ</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rather</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الْأُسْبُوعِ الْمَاضِي كُنْتُ مَرِيضًا، فَمَا ذَهَبْتُ إِلَى الْمَدْرَسَةِ، وَلَمْ أَخْرُجْ مِنَ الْبَيْتِ. لَمْ أَرَ أَصْدِقَائِي، وَهُمْ لَمْ يَزُورُونِي لِأَنَّهُمْ كَانُوا مَشْغُولِينَ. مَا قَرَأْتُ كَثِيرًا. أَنَا عَادَةً لَا أَنَامُ فِي النَّهَارِ، وَلَا أُشَاهِدُ التِّلْفَازَ كَثِيرًا، وَلَكِنِّي كُنْتُ مُتْعَبًا جِدًّا. فِي الْأُسْبُوعِ الْقَادِمِ لَنْ أَتَأَخَّرَ فِي دُرُوسِي، وَلَنْ أَنْسَى أَنْ أَشْرَبَ الْمَاءَ.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week I was ill, so I did not go to school, and I did not leave the house. I did not see my friends, and they did not visit me because they were busy. I did not read much. I do not usually sleep in the daytime, and I do not watch TV much, but I was very tired. Next week I will not fall behind in my lessons, and I will not forget to drink water.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mā + past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lam + jussive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lā + present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lan + subjunctive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mā goes with a past verb; lā with a present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never used lā with a past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lam my verb has sukūn or no nūn.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lan my verb has fatḥa.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weak verbs are shortened after lam.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with lam: “I did not write”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أَكْتُبْ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كَتَبْتُ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(f.) did not write”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تَكْتُبِينَ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تَكْتُبِي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تَكْتُبِي!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present statement?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لَا يَلْعَبُ.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تَلْعَبْ!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لَا يَلْعَبْ.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with lam: “I did not write”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لَمْ أَكْتُبْ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لَمْ أَكْتُبُ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لَمْ كَتَبْتُ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Jussive: sukūn.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(f.) did not write”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لَمْ تَكْتُبِينَ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لَمْ تَكْتُبِي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تَكْتُبِي!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Jussive five-verb form: no nūn.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present statement?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هُوَ لَا يَلْعَبُ.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تَلْعَبْ!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هُوَ لَا يَلْعَبْ.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Indicative: lā yalʿabu.</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GM-V-09: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GM-V-09 · Basic Conditionals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إِذَا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if / when (likely)</a:t>
            </a:r>
            <a:pPr indent="0" marL="0">
              <a:buNone/>
            </a:pPr>
            <a:r>
              <a:rPr lang="ar-SA" sz="1000" i="1" dirty="0">
                <a:solidFill>
                  <a:srgbClr val="5A6472"/>
                </a:solidFill>
                <a:latin typeface="Amiri" pitchFamily="2" charset="-78"/>
                <a:ea typeface="Amiri" pitchFamily="2" charset="-78"/>
                <a:cs typeface="Amiri" pitchFamily="2" charset="-78"/>
              </a:rPr>
              <a:t>  إِذَا دَرَسْتَ نَجَحْتَ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if</a:t>
            </a:r>
            <a:pPr indent="0" marL="0">
              <a:buNone/>
            </a:pPr>
            <a:r>
              <a:rPr lang="ar-SA" sz="1000" i="1" dirty="0">
                <a:solidFill>
                  <a:srgbClr val="5A6472"/>
                </a:solidFill>
                <a:latin typeface="Amiri" pitchFamily="2" charset="-78"/>
                <a:ea typeface="Amiri" pitchFamily="2" charset="-78"/>
                <a:cs typeface="Amiri" pitchFamily="2" charset="-78"/>
              </a:rPr>
              <a:t>  إِنْ تَدْرُسْ تَنْجَحْ</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لَوْ</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if (unreal)</a:t>
            </a:r>
            <a:pPr indent="0" marL="0">
              <a:buNone/>
            </a:pPr>
            <a:r>
              <a:rPr lang="ar-SA" sz="1000" i="1" dirty="0">
                <a:solidFill>
                  <a:srgbClr val="5A6472"/>
                </a:solidFill>
                <a:latin typeface="Amiri" pitchFamily="2" charset="-78"/>
                <a:ea typeface="Amiri" pitchFamily="2" charset="-78"/>
                <a:cs typeface="Amiri" pitchFamily="2" charset="-78"/>
              </a:rPr>
              <a:t>  لَوْ كُنْتُ غَنِيًّا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فَـ</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then (linking)</a:t>
            </a:r>
            <a:pPr indent="0" marL="0">
              <a:buNone/>
            </a:pPr>
            <a:r>
              <a:rPr lang="ar-SA" sz="1000" i="1" dirty="0">
                <a:solidFill>
                  <a:srgbClr val="5A6472"/>
                </a:solidFill>
                <a:latin typeface="Amiri" pitchFamily="2" charset="-78"/>
                <a:ea typeface="Amiri" pitchFamily="2" charset="-78"/>
                <a:cs typeface="Amiri" pitchFamily="2" charset="-78"/>
              </a:rPr>
              <a:t>  فَسَأَذْهَبُ</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نَجَحَ</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succeed</a:t>
            </a:r>
            <a:pPr indent="0" marL="0">
              <a:buNone/>
            </a:pPr>
            <a:r>
              <a:rPr lang="ar-SA" sz="1000" i="1" dirty="0">
                <a:solidFill>
                  <a:srgbClr val="5A6472"/>
                </a:solidFill>
                <a:latin typeface="Amiri" pitchFamily="2" charset="-78"/>
                <a:ea typeface="Amiri" pitchFamily="2" charset="-78"/>
                <a:cs typeface="Amiri" pitchFamily="2" charset="-78"/>
              </a:rPr>
              <a:t>  نَجَحْتُ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would you say “If you study, you will succeed” — using a word above?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______ دَرَسْتَ نَجَحْتَ.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“did not” sentences with mā and five “does not” with lā.</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Rewrite the five mā sentences with lam + jussive.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reflection: last week, usually, next week.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GM-V-09 · Basic Conditionals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أَسَالِيبُ الشَّرْطِ الْأَسَاسِيَّةُ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did not = mā + past or lam + jussive · does not = lā + present · will not = lan + fatḥa · after lam: sukūn, nūn drops, weak letter drops.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GM-V-08 · Negating Past and Present</dc:title>
  <dc:subject>PptxGenJS Presentation</dc:subject>
  <dc:creator>Al Madina Online School · Arabic Department</dc:creator>
  <cp:lastModifiedBy>Al Madina Online School · Arabic Department</cp:lastModifiedBy>
  <cp:revision>1</cp:revision>
  <dcterms:created xsi:type="dcterms:W3CDTF">2026-10-11T06:42:37Z</dcterms:created>
  <dcterms:modified xsi:type="dcterms:W3CDTF">2026-10-11T06:42:37Z</dcterms:modified>
</cp:coreProperties>
</file>