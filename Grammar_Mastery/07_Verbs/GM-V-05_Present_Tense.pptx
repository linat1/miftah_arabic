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GM-V-05 (“Present Tense: Prefixes, Suffixes and Meaning”).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four prefixes أَـ · نَـ · يَـ · تَـ with sound verbs (أَكْتُبُ · نَكْتُبُ · يَكْتُبُ · تَكْتُبُ). Develop: suffix persons — تَكْتُبِينَ · يَكْتُبُونَ · يَكْتُبْنَ · تَكْتُبَانِ. Stretch: weak verbs in the present (أَقُولُ · تَصِلُ · يَمْشُونَ · تَدْعِينَ) and meaning from context (habit, now, general fact).
• Website warning: the Arabic present is not one English tense — أَقْرَأُ can be “I read” or “I am reading”.
• Prefix memory hook: أَنَيْت (a-, na-, ya-, ta-) — the four letters every present verb starts with.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it uses the forms prepared at the end of GM-V-04.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Present = PREFIX for the person (a-, na-, ya-, ta-) + sometimes a SUFFIX (-īna, -āni, -ūna, -na).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prefix family”. Hook: a – na –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complete present paradigm”. Colour prefixes and box suffixes (website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“Habit, current action and general truth” and “Present forms of weak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Prefix and Present Ending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subject placed first so the plural verb agrees fully. Stretch note: when the verb comes first it stays singular (yadrusu aṣdiqāʾī) — see the Verbal Sentences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in Context and Present Weak Verb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use prefixes and suffixes to identify speakers, addressees and reported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routine answer, then change the subject from I to we, and from a male to a female friend. Listening (website): minimal contrasts taktubu / taktubīna / yaktubūna /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about your routine, current priorities and one general fact about your school or community, with eight present verbs and six different persons.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(GM-V-06 · Future Tense and Future Negation) will spend class time USING this language, so students prepare it tonight — short, simple, easy to access (school guidance: “Simple, Short, Interesting, Relevant, Easy to access”). The five words prepare GM-V-06 (website Verbs lesson 6: the future and its negation).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Present Tense: Prefixes, Suffixes and Meaning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الْفِعْلُ الْمُضَارِعُ: السَّوَابِقُ وَاللَّوَاحِقُ وَالدَّلَالَةُ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present shows the person at the FRONT (a- I, na- we, ya- he, ta- you / she) and sometimes at the END too (-īna you f., -āni two, -ūna they, -na they f.). The same form can mean “I write” or “I am writing” — context decides.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Prefix family; full paradigm; meaning in context; weak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the form; sort by prefix;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(f.s.)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tense can express…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habit, current action or general fact depending on context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 only and never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marks “I”.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write”.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marks “we”.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(f.s.)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تَكْتُبِينَ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(f.) takes ta-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تَكْتُبْنَ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يَكْتُبْنَ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(f.) take ya- … -na.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tense can express…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habit, current action or general fact depending on context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future only and never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expressions and context determine the reading.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Present = PREFIX for the person (a-, na-, ya-, ta-) + sometimes a SUFFIX (-īna, -āni, -ūna, -na).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أَكْتُبُ</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نَكْتُبُ</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تَكْتُبِينَ</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يَكْتُبُونَ</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prefixes a-, na-, ya- and ta-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suffixes for feminine, dual and plural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habit, current action or general fact from context.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Conjugate common weak verbs in the present.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we, he and she write.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ta- can mean you (m.) or she.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you (f.), they and they (f.) write.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every day and now to show meaning.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conjugate qāla, waṣala and mashā in the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general fact in the present.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al-mu-ḍā-ri-ʿu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السَّابِقَةُ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as-sā-bi-qa-tu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 · نَ · يَ · 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اللَّاحِقَةُ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all-lā-ḥi-qa-tu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ـِينَ · ـُونَ · ـْنَ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الْعَادَةُ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habit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al-ʿā-da-tu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أَقْرَأُ كُلَّ يَوْمٍ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الْحَدَثُ الْآنَ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current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al-ḥa-da-thu al-ʾā-na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أَقْرَأُ الْآنَ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حَقِيقَةٌ عَامَّةٌ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general fact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ḥa-qī-qa-tun ʿām-ma-tun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تَدُورُ الْأَرْضُ</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PREFIX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front of the verb tells you who</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السَّوَابِقُ: أَ · نَ · يَ · 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person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Prefix</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أَكْتُبُ</a:t>
            </a:r>
            <a:endParaRPr lang="ar-SA" sz="2600" dirty="0"/>
          </a:p>
        </p:txBody>
      </p:sp>
      <p:sp>
        <p:nvSpPr>
          <p:cNvPr id="21" name="Text 18"/>
          <p:cNvSpPr txBox="1"/>
          <p:nvPr/>
        </p:nvSpPr>
        <p:spPr>
          <a:xfrm>
            <a:off x="276148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أَـ</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نَكْتُبُ</a:t>
            </a:r>
            <a:endParaRPr lang="ar-SA" sz="2600" dirty="0"/>
          </a:p>
        </p:txBody>
      </p:sp>
      <p:sp>
        <p:nvSpPr>
          <p:cNvPr id="27" name="Text 24"/>
          <p:cNvSpPr txBox="1"/>
          <p:nvPr/>
        </p:nvSpPr>
        <p:spPr>
          <a:xfrm>
            <a:off x="276148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a:t>
            </a:r>
            <a:endParaRPr lang="ar-SA" sz="2600" dirty="0"/>
          </a:p>
        </p:txBody>
      </p:sp>
      <p:sp>
        <p:nvSpPr>
          <p:cNvPr id="33" name="Text 30"/>
          <p:cNvSpPr txBox="1"/>
          <p:nvPr/>
        </p:nvSpPr>
        <p:spPr>
          <a:xfrm>
            <a:off x="276148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and many third-person forms</a:t>
            </a:r>
            <a:endParaRPr lang="en-US" sz="11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يَـ</a:t>
            </a:r>
            <a:endParaRPr lang="ar-SA" sz="2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a:t>
            </a:r>
            <a:endParaRPr lang="ar-SA" sz="2600" dirty="0"/>
          </a:p>
        </p:txBody>
      </p:sp>
      <p:sp>
        <p:nvSpPr>
          <p:cNvPr id="39" name="Text 36"/>
          <p:cNvSpPr txBox="1"/>
          <p:nvPr/>
        </p:nvSpPr>
        <p:spPr>
          <a:xfrm>
            <a:off x="276148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she, and several dual / plural forms</a:t>
            </a:r>
            <a:endParaRPr lang="en-US" sz="1100" dirty="0"/>
          </a:p>
        </p:txBody>
      </p:sp>
      <p:sp>
        <p:nvSpPr>
          <p:cNvPr id="40" name="Text 37"/>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تَـ</a:t>
            </a:r>
            <a:endParaRPr lang="ar-SA" sz="2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taktubu is ambiguous on its own — “you (m.) write” or “she writes”. The pronoun, noun or conversation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COMPLETE PRESENT PARADIGM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writes</a:t>
            </a:r>
            <a:endParaRPr lang="en-US" sz="1100" dirty="0"/>
          </a:p>
        </p:txBody>
      </p:sp>
      <p:sp>
        <p:nvSpPr>
          <p:cNvPr id="17" name="Text 14"/>
          <p:cNvSpPr txBox="1"/>
          <p:nvPr/>
        </p:nvSpPr>
        <p:spPr>
          <a:xfrm>
            <a:off x="56509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63840" y="226771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نَكْتُبُ</a:t>
            </a:r>
            <a:endParaRPr lang="ar-SA" sz="2400" dirty="0"/>
          </a:p>
        </p:txBody>
      </p:sp>
      <p:sp>
        <p:nvSpPr>
          <p:cNvPr id="22" name="Text 19"/>
          <p:cNvSpPr txBox="1"/>
          <p:nvPr/>
        </p:nvSpPr>
        <p:spPr>
          <a:xfrm>
            <a:off x="566928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أَكْتُبُ</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63840" y="2881884"/>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تَكْتُبِينَ</a:t>
            </a:r>
            <a:endParaRPr lang="ar-SA" sz="2400" dirty="0"/>
          </a:p>
        </p:txBody>
      </p:sp>
      <p:sp>
        <p:nvSpPr>
          <p:cNvPr id="29" name="Text 26"/>
          <p:cNvSpPr txBox="1"/>
          <p:nvPr/>
        </p:nvSpPr>
        <p:spPr>
          <a:xfrm>
            <a:off x="566928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863840" y="3496056"/>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a:t>
            </a:r>
            <a:endParaRPr lang="ar-SA" sz="2400" dirty="0"/>
          </a:p>
        </p:txBody>
      </p:sp>
      <p:sp>
        <p:nvSpPr>
          <p:cNvPr id="36" name="Text 33"/>
          <p:cNvSpPr txBox="1"/>
          <p:nvPr/>
        </p:nvSpPr>
        <p:spPr>
          <a:xfrm>
            <a:off x="566928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863840" y="4110228"/>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يَكْتُبْنَ</a:t>
            </a:r>
            <a:endParaRPr lang="ar-SA" sz="2400" dirty="0"/>
          </a:p>
        </p:txBody>
      </p:sp>
      <p:sp>
        <p:nvSpPr>
          <p:cNvPr id="43" name="Text 40"/>
          <p:cNvSpPr txBox="1"/>
          <p:nvPr/>
        </p:nvSpPr>
        <p:spPr>
          <a:xfrm>
            <a:off x="566928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يَكْتُبُونَ</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863840" y="4724400"/>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تَكْتُبْنَ</a:t>
            </a:r>
            <a:endParaRPr lang="ar-SA" sz="2400" dirty="0"/>
          </a:p>
        </p:txBody>
      </p:sp>
      <p:sp>
        <p:nvSpPr>
          <p:cNvPr id="48" name="Text 45"/>
          <p:cNvSpPr txBox="1"/>
          <p:nvPr/>
        </p:nvSpPr>
        <p:spPr>
          <a:xfrm>
            <a:off x="566928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تَكْتُبُونَ</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63840" y="533857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تَكْتُبَانِ</a:t>
            </a:r>
            <a:endParaRPr lang="ar-SA" sz="2400" dirty="0"/>
          </a:p>
        </p:txBody>
      </p:sp>
      <p:sp>
        <p:nvSpPr>
          <p:cNvPr id="53" name="Text 50"/>
          <p:cNvSpPr txBox="1"/>
          <p:nvPr/>
        </p:nvSpPr>
        <p:spPr>
          <a:xfrm>
            <a:off x="566928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أَنْتُمَا</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يَكْتُبَانِ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duals, masculine plurals, “you (f.)” and feminine plurals need BOTH ends. Dual: humā (m.) yaktubāni, humā (f.) taktubāni.</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MEANING IN CONTEXT · WEAK VERBS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Habit, now, fact — and weak stems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الدَّلَالَةُ وَالْأَفْعَالُ الْمُعْتَلَّةُ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456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Point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every day → habit</a:t>
            </a:r>
            <a:endParaRPr lang="en-US" sz="1100" dirty="0"/>
          </a:p>
        </p:txBody>
      </p:sp>
      <p:sp>
        <p:nvSpPr>
          <p:cNvPr id="21" name="Text 18"/>
          <p:cNvSpPr txBox="1"/>
          <p:nvPr/>
        </p:nvSpPr>
        <p:spPr>
          <a:xfrm>
            <a:off x="347472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كُلَّ يَوْمٍ.</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 happening now</a:t>
            </a:r>
            <a:endParaRPr lang="en-US" sz="1100" dirty="0"/>
          </a:p>
        </p:txBody>
      </p:sp>
      <p:sp>
        <p:nvSpPr>
          <p:cNvPr id="27" name="Text 24"/>
          <p:cNvSpPr txBox="1"/>
          <p:nvPr/>
        </p:nvSpPr>
        <p:spPr>
          <a:xfrm>
            <a:off x="347472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الْآنَ.</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current action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general knowledge</a:t>
            </a:r>
            <a:endParaRPr lang="en-US" sz="1100" dirty="0"/>
          </a:p>
        </p:txBody>
      </p:sp>
      <p:sp>
        <p:nvSpPr>
          <p:cNvPr id="33" name="Text 30"/>
          <p:cNvSpPr txBox="1"/>
          <p:nvPr/>
        </p:nvSpPr>
        <p:spPr>
          <a:xfrm>
            <a:off x="347472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تَدُورُ الْأَرْضُ حَوْلَ الشَّمْسِ.</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general fact</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long ū stays</a:t>
            </a:r>
            <a:endParaRPr lang="en-US" sz="1100" dirty="0"/>
          </a:p>
        </p:txBody>
      </p:sp>
      <p:sp>
        <p:nvSpPr>
          <p:cNvPr id="37" name="Text 34"/>
          <p:cNvSpPr txBox="1"/>
          <p:nvPr/>
        </p:nvSpPr>
        <p:spPr>
          <a:xfrm>
            <a:off x="347472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أَقُولُ · تَقُولِينَ · يَقُولُونَ</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wāw</a:t>
            </a:r>
            <a:endParaRPr lang="en-US" sz="1100" dirty="0"/>
          </a:p>
        </p:txBody>
      </p:sp>
      <p:sp>
        <p:nvSpPr>
          <p:cNvPr id="41" name="Text 38"/>
          <p:cNvSpPr txBox="1"/>
          <p:nvPr/>
        </p:nvSpPr>
        <p:spPr>
          <a:xfrm>
            <a:off x="347472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أَصِلُ · تَصِلِينَ · يَصِلُونَ</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initial weak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drops the yāʾ</a:t>
            </a:r>
            <a:endParaRPr lang="en-US" sz="1100" dirty="0"/>
          </a:p>
        </p:txBody>
      </p:sp>
      <p:sp>
        <p:nvSpPr>
          <p:cNvPr id="45" name="Text 42"/>
          <p:cNvSpPr txBox="1"/>
          <p:nvPr/>
        </p:nvSpPr>
        <p:spPr>
          <a:xfrm>
            <a:off x="347472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أَمْشِي · تَمْشِينَ · يَمْشُونَ</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weak</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Arabic present can be “I write”, “I am writing”, or an arranged future — strengthen a future with sa- (GM-V-06).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يُسَافِرُونَ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تُسَافِرِينَ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نُسَافِرُ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can mean “she writes”?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 mixed)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study”.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“We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يُسَافِرُونَ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تُسَافِرِينَ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نُسَافِرُ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can mean “she writes”?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can mark “she”.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 / mixed)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يَدْرُسُونَ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 … -ūna.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study”.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يَدْرُسْنَ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feminine plural uses ya- …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Watch me build the present from the subject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أُخْتِي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تَسْتَيْقِظُ</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ta- + stem.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أَصْدِقَائِي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they → ya- … -ūna.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يَدْرُسُونَ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ends.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PREFIX ONLY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PREFIX + SUFFIX</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550" b="1" dirty="0">
                <a:solidFill>
                  <a:srgbClr val="0E7C86"/>
                </a:solidFill>
                <a:latin typeface="Amiri" pitchFamily="34" charset="0"/>
                <a:ea typeface="Amiri" pitchFamily="34" charset="-122"/>
                <a:cs typeface="Amiri" pitchFamily="34" charset="-120"/>
              </a:rPr>
              <a:t>أَسْتَيْقِظُ</a:t>
            </a:r>
            <a:pPr rtl="1" algn="r" indent="0" marL="0">
              <a:buNone/>
            </a:pPr>
            <a:r>
              <a:rPr lang="ar-SA" altLang="en-US" sz="2550" b="1" dirty="0">
                <a:solidFill>
                  <a:srgbClr val="1B3B6F"/>
                </a:solidFill>
                <a:latin typeface="Amiri" pitchFamily="34" charset="0"/>
                <a:ea typeface="Amiri" pitchFamily="34" charset="-122"/>
                <a:cs typeface="Amiri" pitchFamily="34" charset="-120"/>
              </a:rPr>
              <a:t> مُبَكِّرًا، وَ</a:t>
            </a:r>
            <a:pPr rtl="1" algn="r" indent="0" marL="0">
              <a:buNone/>
            </a:pPr>
            <a:r>
              <a:rPr lang="ar-SA" altLang="en-US" sz="2550" b="1" dirty="0">
                <a:solidFill>
                  <a:srgbClr val="0E7C86"/>
                </a:solidFill>
                <a:latin typeface="Amiri" pitchFamily="34" charset="0"/>
                <a:ea typeface="Amiri" pitchFamily="34" charset="-122"/>
                <a:cs typeface="Amiri" pitchFamily="34" charset="-120"/>
              </a:rPr>
              <a:t>تَسْتَيْقِظُ</a:t>
            </a:r>
            <a:pPr rtl="1" algn="r" indent="0" marL="0">
              <a:buNone/>
            </a:pPr>
            <a:r>
              <a:rPr lang="ar-SA" altLang="en-US" sz="2550" b="1" dirty="0">
                <a:solidFill>
                  <a:srgbClr val="1B3B6F"/>
                </a:solidFill>
                <a:latin typeface="Amiri" pitchFamily="34" charset="0"/>
                <a:ea typeface="Amiri" pitchFamily="34" charset="-122"/>
                <a:cs typeface="Amiri" pitchFamily="34" charset="-120"/>
              </a:rPr>
              <a:t> أُخْتِي بَعْدِي. </a:t>
            </a:r>
            <a:pPr rtl="1" algn="r" indent="0" marL="0">
              <a:buNone/>
            </a:pPr>
            <a:r>
              <a:rPr lang="ar-SA" altLang="en-US" sz="2550" b="1" dirty="0">
                <a:solidFill>
                  <a:srgbClr val="0E7C86"/>
                </a:solidFill>
                <a:latin typeface="Amiri" pitchFamily="34" charset="0"/>
                <a:ea typeface="Amiri" pitchFamily="34" charset="-122"/>
                <a:cs typeface="Amiri" pitchFamily="34" charset="-120"/>
              </a:rPr>
              <a:t>نَذْهَبُ</a:t>
            </a:r>
            <a:pPr rtl="1" algn="r" indent="0" marL="0">
              <a:buNone/>
            </a:pPr>
            <a:r>
              <a:rPr lang="ar-SA" altLang="en-US" sz="2550" b="1" dirty="0">
                <a:solidFill>
                  <a:srgbClr val="1B3B6F"/>
                </a:solidFill>
                <a:latin typeface="Amiri" pitchFamily="34" charset="0"/>
                <a:ea typeface="Amiri" pitchFamily="34" charset="-122"/>
                <a:cs typeface="Amiri" pitchFamily="34" charset="-120"/>
              </a:rPr>
              <a:t> إِلَى الْمَدْرَسَةِ مَعًا، وَأَصْدِقَائِي </a:t>
            </a:r>
            <a:pPr rtl="1" algn="r" indent="0" marL="0">
              <a:buNone/>
            </a:pPr>
            <a:r>
              <a:rPr lang="ar-SA" altLang="en-US" sz="2550" b="1" dirty="0">
                <a:solidFill>
                  <a:srgbClr val="D6336C"/>
                </a:solidFill>
                <a:latin typeface="Amiri" pitchFamily="34" charset="0"/>
                <a:ea typeface="Amiri" pitchFamily="34" charset="-122"/>
                <a:cs typeface="Amiri" pitchFamily="34" charset="-120"/>
              </a:rPr>
              <a:t>يَدْرُسُونَ</a:t>
            </a:r>
            <a:pPr rtl="1" algn="r" indent="0" marL="0">
              <a:buNone/>
            </a:pPr>
            <a:r>
              <a:rPr lang="ar-SA" altLang="en-US" sz="2550" b="1" dirty="0">
                <a:solidFill>
                  <a:srgbClr val="1B3B6F"/>
                </a:solidFill>
                <a:latin typeface="Amiri" pitchFamily="34" charset="0"/>
                <a:ea typeface="Amiri" pitchFamily="34" charset="-122"/>
                <a:cs typeface="Amiri" pitchFamily="34" charset="-120"/>
              </a:rPr>
              <a:t> مَوَادَّ مُخْتَلِفَةً.</a:t>
            </a:r>
            <a:endParaRPr lang="ar-SA" sz="2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wake up early, and my sister wakes up after me. We go to school together, and my friends study different subjects.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أَقْرَأُ قَبْلَ النَّوْمِ كُلَّ لَيْلَةٍ.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read before sleeping every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Habit.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مَاذَا تَفْعَلِينَ الْآنَ؟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are you doing now?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ta- … -īna.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تَشْرُقُ الشَّمْسُ مِنَ الشَّرْقِ.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sun rises in the east.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الطَّالِبَاتُ يَكْتُبْنَ الْوَاجِبَ.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students are writing the homework.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 … -na.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PERSON BUILDER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Subject + verb = present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كَوِّنِ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 form</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2" name="Text 19"/>
          <p:cNvSpPr txBox="1"/>
          <p:nvPr/>
        </p:nvSpPr>
        <p:spPr>
          <a:xfrm>
            <a:off x="530352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أَكْتُبُ</a:t>
            </a:r>
            <a:endParaRPr lang="ar-SA" sz="2600" dirty="0"/>
          </a:p>
        </p:txBody>
      </p:sp>
      <p:sp>
        <p:nvSpPr>
          <p:cNvPr id="23" name="Text 20"/>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-īna</a:t>
            </a:r>
            <a:endParaRPr lang="en-US" sz="1100" dirty="0"/>
          </a:p>
        </p:txBody>
      </p:sp>
      <p:sp>
        <p:nvSpPr>
          <p:cNvPr id="29" name="Text 26"/>
          <p:cNvSpPr txBox="1"/>
          <p:nvPr/>
        </p:nvSpPr>
        <p:spPr>
          <a:xfrm>
            <a:off x="530352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تَدْرُسِينَ</a:t>
            </a:r>
            <a:endParaRPr lang="ar-SA" sz="2600" dirty="0"/>
          </a:p>
        </p:txBody>
      </p:sp>
      <p:sp>
        <p:nvSpPr>
          <p:cNvPr id="30" name="Text 27"/>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 (hollow)</a:t>
            </a:r>
            <a:endParaRPr lang="en-US" sz="1100" dirty="0"/>
          </a:p>
        </p:txBody>
      </p:sp>
      <p:sp>
        <p:nvSpPr>
          <p:cNvPr id="36" name="Text 33"/>
          <p:cNvSpPr txBox="1"/>
          <p:nvPr/>
        </p:nvSpPr>
        <p:spPr>
          <a:xfrm>
            <a:off x="530352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يَقُولُونَ</a:t>
            </a:r>
            <a:endParaRPr lang="ar-SA" sz="2600" dirty="0"/>
          </a:p>
        </p:txBody>
      </p:sp>
      <p:sp>
        <p:nvSpPr>
          <p:cNvPr id="37" name="Text 34"/>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-na</a:t>
            </a:r>
            <a:endParaRPr lang="en-US" sz="1100" dirty="0"/>
          </a:p>
        </p:txBody>
      </p:sp>
      <p:sp>
        <p:nvSpPr>
          <p:cNvPr id="43" name="Text 40"/>
          <p:cNvSpPr txBox="1"/>
          <p:nvPr/>
        </p:nvSpPr>
        <p:spPr>
          <a:xfrm>
            <a:off x="530352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يَكْتُبْنَ</a:t>
            </a:r>
            <a:endParaRPr lang="ar-SA" sz="2600" dirty="0"/>
          </a:p>
        </p:txBody>
      </p:sp>
      <p:sp>
        <p:nvSpPr>
          <p:cNvPr id="44" name="Text 41"/>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-ūna (no wāw)</a:t>
            </a:r>
            <a:endParaRPr lang="en-US" sz="1100" dirty="0"/>
          </a:p>
        </p:txBody>
      </p:sp>
      <p:sp>
        <p:nvSpPr>
          <p:cNvPr id="48" name="Text 45"/>
          <p:cNvSpPr txBox="1"/>
          <p:nvPr/>
        </p:nvSpPr>
        <p:spPr>
          <a:xfrm>
            <a:off x="530352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تَصِلُونَ</a:t>
            </a:r>
            <a:endParaRPr lang="ar-SA" sz="2600" dirty="0"/>
          </a:p>
        </p:txBody>
      </p:sp>
      <p:sp>
        <p:nvSpPr>
          <p:cNvPr id="49" name="Text 46"/>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a:t>
            </a:r>
            <a:endParaRPr lang="ar-SA" sz="24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(final weak)</a:t>
            </a:r>
            <a:endParaRPr lang="en-US" sz="1100" dirty="0"/>
          </a:p>
        </p:txBody>
      </p:sp>
      <p:sp>
        <p:nvSpPr>
          <p:cNvPr id="53" name="Text 50"/>
          <p:cNvSpPr txBox="1"/>
          <p:nvPr/>
        </p:nvSpPr>
        <p:spPr>
          <a:xfrm>
            <a:off x="530352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نَمْشِي</a:t>
            </a:r>
            <a:endParaRPr lang="ar-SA" sz="2600" dirty="0"/>
          </a:p>
        </p:txBody>
      </p:sp>
      <p:sp>
        <p:nvSpPr>
          <p:cNvPr id="54" name="Text 51"/>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مَشَى</a:t>
            </a:r>
            <a:endParaRPr lang="ar-SA" sz="24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person builder: start from the subject, choose the prefix, then add any suffix.</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ONE END OR BOTH ENDS?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Prefix only, or 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سَابِقَةٌ فَقَطْ أَمْ سَابِقَةٌ وَلَاحِقَةٌ؟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أَلْعَبُ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Prefix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Prefix + suffix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Prefix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أَلْعَبُ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نَلْعَبُ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Prefix + suffix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تَلْعَبِينَ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يَلْعَبُونَ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تَلْعَبَانِ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prefix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ending for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هُنَّ تَكْتُبْنَ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ta- for they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She takes ta-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أَنْتِ تَكْتُبِينَ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-īna for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هُنَّ تَكْتُبْنَ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هُنَّ يَكْتُبْنَ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They (f.) begin with ya-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ea typeface="Calibri" pitchFamily="34" charset="-122"/>
                <a:cs typeface="Calibri" pitchFamily="34" charset="-120"/>
              </a:rPr>
              <a:t>WE DO · GUIDED PRACTICE · WEBSITE MEANING IN CONTEXT AND PRESENT WEAK VERB CHECKS</a:t>
            </a:r>
            <a:endParaRPr lang="en-US" sz="84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adrusu l-āna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studied yesterday.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never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studying now.</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amshī kulla ṣabāḥin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walked once.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walk every morning.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يَمْشِيُونَ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يَمْشُونَ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يَمْشَوْنَ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call / invite”.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تَدْعُوينَ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تَدْعُو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تَدْعِينَ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adrusu l-āna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studied yesterday.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will never study.</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studying now.</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Al-āna signals a current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amshī kulla ṣabāḥin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walked once.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walk every morning.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routine.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يَمْشِيُونَ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يَمْشُونَ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يَمْشَوْنَ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yāʾ verb, present plural: yamshūna.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call / invite”.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تَدْعُوينَ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تَدْعُو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تَدْعِينَ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wāw changes before -īna.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تَقَعُ مَدْرَسَتُنَا فِي وَسَطِ الْمَدِينَةِ. يَدْرُسُ فِيهَا خَمْسُمِئَةِ طَالِبٍ وَطَالِبَةٍ. يَبْدَأُ الْيَوْمُ الدِّرَاسِيُّ فِي الثَّامِنَةِ. الطُّلَّابُ يَلْعَبُونَ كُرَةَ الْقَدَمِ فِي الِاسْتِرَاحَةِ، وَالطَّالِبَاتُ يَقْرَأْنَ فِي الْمَكْتَبَةِ. مُعَلِّمَتِي تَقُولُ دَائِمًا: «أَنْتُمْ تَتَعَلَّمُونَ كُلَّ 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located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وَسَطِ</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يَبْدَأُ</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begins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تَتَعَلَّمُونَ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(pl.) learn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reads in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male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male students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teacher talking to in her saying?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students (you 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herself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girl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general fact about the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يَقْرَأْنَ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reads in the library?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male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female students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Yaqraʾna — ya- … -na = they (f.).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male students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Yalʿabūna = they (m.).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teacher talking to in her saying?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students (you all)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herself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girl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Antum tataʿallamūna.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shows a general fact about the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يَقْرَأْنَ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Where the school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routine — and theirs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كُلَّ 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تَفْعَلُونَ فِي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صَدِيقُكَ؟ وَمَاذَا تَفْعَلُ صَدِيقَتُكَ؟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كُلَّ صَبَاحٍ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الْمَدْرَسَةِ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صَدِيقِي ___ ، وَصَدِيقَتِي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أَرْجِعُ إِلَى الْبَيْتِ وَأَكْتُبُ الْوَاجِبَ، ثُمَّ أَقْرَأُ الْقُرْآنَ مَعَ أُمِّي. أَخِي يَلْعَبُ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go home and write my homework, then I read the Qur’an with my mother. My brother plays in the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routine: I wake up, I go, I study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for every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we, she, they and you (f.).</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both ends of the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a habit, a current action and a general fact.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one hollow and one final-weak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الْآنَ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am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يَدْرُسُونَ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study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الْبَنَاتُ يَمْشِينَ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girls walk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do you (f.) do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 أَسْتَيْقِظُ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Every day 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plays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تَقْرَأُ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reads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أَذْهَبُ  ·  نَدْرُسُ  ·  يَلْعَبُ  ·  تَقْرَأُ  ·  تَكْتُبِينَ  ·  يَدْرُسُونَ  ·  يَكْتُبْنَ  ·  أَقُولُ  ·  نَمْشِي  ·  يَصِلُ  ·  كُلَّ يَوْمٍ  ·  الْآنَ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120–140 words about your routine, priorities and a general fact.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Eight present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different persons.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habit, a current action and a general fact.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hollow verb and one final-weak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feminine plural or dual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الْوَقْتِ الْحَالِيِّ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currently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أُرَكِّزُ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focus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يَقُولُ الْمُعَلِّمُ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teacher says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يَمْشُونَ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walk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تَتَعَلَّمِينَ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 (f.) learn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كُلَّ يَوْمٍ فِي السَّادِسَةِ وَأُصَلِّي الْفَجْرَ. بَعْدَ ذَلِكَ نَأْكُلُ الْفَطُورَ مَعًا، وَتَقُولُ أُمِّي: «لَا تَتَأَخَّرُوا!». أَخَوَايَ يَمْشِيَانِ إِلَى الْمَدْرَسَةِ، وَأَنَا أَرْكَبُ الْحَافِلَةَ. فِي الْوَقْتِ الْحَالِيِّ أُرَكِّزُ عَلَى الِامْتِحَانَاتِ، فَأَدْرُسُ كُلَّ مَسَاءٍ. أُخْتَايَ تَدْرُسَانِ فِي الْجَامِعَةِ، وَهُنَّ وَصَدِيقَاتُهُنَّ يَقْرَأْنَ كَثِيرًا. فِي مَدِينَتِنَا يَعِيشُ نَاسٌ مِنْ ثَقَافَاتٍ مُخْتَلِفَةٍ.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wake up every day at six and pray Fajr. After that we eat breakfast together, and my mother says: “Don’t be late!”. My two brothers walk to school, and I take the bus. Currently I am focusing on exams, so I study every evening. My two sisters study at university, and they and their friends read a lot. In our city people from different cultures live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prefix only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prefix + suffix</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habit / now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general fact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present verb starts with a-, na-, ya- or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She takes ta-; he takes 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-īna, -ūna, -na or -āni where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Time words show habit or now.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weak verbs are correct in the present.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(m.)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تَكْتُبِينَ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two (m.)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تَكْتُبَانِ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يَكْتُبَانِ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Third-person masculine dual: yaktubāni.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يَكْتُبْنَ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تَكْتُبْنَ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يَكْتُبُونَ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 … -na.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GM-V-05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GM-V-06 · Future Tense and Future Negation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(attached)</a:t>
            </a:r>
            <a:pPr indent="0" marL="0">
              <a:buNone/>
            </a:pPr>
            <a:r>
              <a:rPr lang="en-US" sz="1000" i="1" dirty="0">
                <a:solidFill>
                  <a:srgbClr val="5A6472"/>
                </a:solidFill>
                <a:latin typeface="Calibri" pitchFamily="34" charset="0"/>
                <a:ea typeface="Calibri" pitchFamily="34" charset="-122"/>
                <a:cs typeface="Calibri" pitchFamily="34" charset="-120"/>
              </a:rPr>
              <a:t>  سَأَدْرُسُ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سَوْفَ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(separate)</a:t>
            </a:r>
            <a:pPr indent="0" marL="0">
              <a:buNone/>
            </a:pPr>
            <a:r>
              <a:rPr lang="en-US" sz="1000" i="1" dirty="0">
                <a:solidFill>
                  <a:srgbClr val="5A6472"/>
                </a:solidFill>
                <a:latin typeface="Calibri" pitchFamily="34" charset="0"/>
                <a:ea typeface="Calibri" pitchFamily="34" charset="-122"/>
                <a:cs typeface="Calibri" pitchFamily="34" charset="-120"/>
              </a:rPr>
              <a:t>  سَوْفَ أَدْرُسُ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not</a:t>
            </a:r>
            <a:pPr indent="0" marL="0">
              <a:buNone/>
            </a:pPr>
            <a:r>
              <a:rPr lang="en-US" sz="1000" i="1" dirty="0">
                <a:solidFill>
                  <a:srgbClr val="5A6472"/>
                </a:solidFill>
                <a:latin typeface="Calibri" pitchFamily="34" charset="0"/>
                <a:ea typeface="Calibri" pitchFamily="34" charset="-122"/>
                <a:cs typeface="Calibri" pitchFamily="34" charset="-120"/>
              </a:rPr>
              <a:t>  لَنْ أَتَأَخَّرَ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tomorrow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future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adrusu (I study). How do you think you say “I will study”?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أَدْرُسُ · ______ غَدًا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laʿiba in the present for six persons.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Repair ten present forms with wrong prefixes or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routine, priorities and a general fact.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GM-V-06 · Future Tense and Future Negation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زَمَنُ الْمُسْتَقْبَلِ وَنَفْيُهُ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 I · na- we · ya- he / they · ta- you / she · add -īna, -āni, -ūna, -na where needed · the present can mean habit, now or a general fact.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GM-V-05 · Present Tense: Prefixes, Suffixes and Meaning</dc:title>
  <dc:subject>PptxGenJS Presentation</dc:subject>
  <dc:creator>Al Madina Online School · Arabic Department</dc:creator>
  <cp:lastModifiedBy>Al Madina Online School · Arabic Department</cp:lastModifiedBy>
  <cp:revision>1</cp:revision>
  <dcterms:created xsi:type="dcterms:W3CDTF">2026-10-04T01:18:59Z</dcterms:created>
  <dcterms:modified xsi:type="dcterms:W3CDTF">2026-10-04T01:18:59Z</dcterms:modified>
</cp:coreProperties>
</file>