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Verbs › GM-V-05 (“Present Tense: Prefixes, Suffixes and Meaning”).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four prefixes أَـ · نَـ · يَـ · تَـ with sound verbs (أَكْتُبُ · نَكْتُبُ · يَكْتُبُ · تَكْتُبُ). Develop: suffix persons — تَكْتُبِينَ · يَكْتُبُونَ · يَكْتُبْنَ · تَكْتُبَانِ. Stretch: weak verbs in the present (أَقُولُ · تَصِلُ · يَمْشُونَ · تَدْعِينَ) and meaning from context (habit, now, general fact).
• Website warning: the Arabic present is not one English tense — أَقْرَأُ can be “I read” or “I am reading”.
• Prefix memory hook: أَنَيْت (a-, na-, ya-, ta-) — the four letters every present verb starts with.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 2, 3, 5 and 6) — it uses the forms prepared at the end of GM-V-04.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Present = PREFIX for the person (a-, na-, ya-, ta-) + sometimes a SUFFIX (-īna, -āni, -ūna,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prefix family”. Hook: a – na – ya – 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“The complete present paradigm”. Colour prefixes and box suffixes (website routine).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“Habit, current action and general truth” and “Present forms of weak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Prefix and Present Ending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model, with the subject placed first so the plural verb agrees fully. Stretch note: when the verb comes first it stays singular (yadrusu aṣdiqāʾī) — see the Verbal Sentences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game items. Cover column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or 2 and name the pronoun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or 2 and name the pronoun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Meaning in Context and Present Weak Verb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workshop (teacher-written profile). Read it aloud once while students follow; then they hunt for today’s grammar.
Task: Website: use prefixes and suffixes to identify speakers, addressees and reported people.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profile for the website reading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one-minute routine answer, then change the subject from I to we, and from a male to a female friend. Listening (website): minimal contrasts taktubu / taktubīna / yaktubūna / yaktubna.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120–140 words about your routine, current priorities and one general fact about your school or community, with eight present verbs and six different persons.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(GM-V-06 · Future Tense and Future Negation) will spend class time USING this language, so students prepare it tonight — short, simple, easy to access (school guidance: “Simple, Short, Interesting, Relevant, Easy to access”). The five words prepare GM-V-06 (website Verbs lesson 6: the future and its negation).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VERBS  ·  GM-V-05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Present Tense: Prefixes, Suffixes and Meaning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الْفِعْلُ الْمُضَارِعُ: السَّوَابِقُ وَاللَّوَاحِقُ وَالدَّلَالَةُ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The present shows the person at the FRONT (a- I, na- we, ya- he, ta- you / she) and sometimes at the END too (-īna you f., -āni two, -ūna they, -na they f.). The same form can mean “I write” or “I am writing” — context decides.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GM-V-05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Prefix family; full paradigm; meaning in context; weak verbs.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 the form; sort by prefix;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write”.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أَكْتُبُ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تَكْتُبِينَ</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write”.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نَكْتُبُ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يَكْتُبُونَ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تَكْتُبَانِ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(f.s.) write”.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تَكْتُبِينَ</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(f.) write”.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يَكْتُبُونَ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Present tense can express…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habit, current action or general fact depending on context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 only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future only and never habit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write”.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يَكْتُبُ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أَكْتُبُ</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تَكْتُبِينَ</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marks “I”.</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write”.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نَكْتُبُ</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يَكْتُبُونَ</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تَكْتُبَانِ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na- marks “we”.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(f.s.) write”.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تَكْتُبُ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يَكْتُبْنَ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تَكْتُبِينَ</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You (f.) takes ta- … -īna.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(f.) write”.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يَكْتُبُونَ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تَكْتُبْنَ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يَكْتُبْنَ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They (f.) take ya- … -na.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Present tense can express…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habit, current action or general fact depending on context</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past only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future only and never habit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Time expressions and context determine the reading.</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Present = PREFIX for the person (a-, na-, ya-, ta-) + sometimes a SUFFIX (-īna, -āni, -ūna, -na).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0E7C86"/>
                </a:solidFill>
                <a:latin typeface="Amiri" pitchFamily="2" charset="-78"/>
                <a:ea typeface="Amiri" pitchFamily="2" charset="-78"/>
                <a:cs typeface="Amiri" pitchFamily="2" charset="-78"/>
              </a:rPr>
              <a:t>أَكْتُبُ</a:t>
            </a:r>
            <a:pPr rtl="1" algn="ctr" indent="0" marL="0">
              <a:lnSpc>
                <a:spcPct val="120000"/>
              </a:lnSpc>
              <a:buNone/>
            </a:pPr>
            <a:r>
              <a:rPr lang="ar-SA" altLang="en-US" sz="2200" b="1" dirty="0">
                <a:solidFill>
                  <a:srgbClr val="1B3B6F"/>
                </a:solidFill>
                <a:latin typeface="Amiri" pitchFamily="2" charset="-78"/>
                <a:cs typeface="Amiri" pitchFamily="2" charset="-78"/>
              </a:rPr>
              <a:t> · </a:t>
            </a:r>
            <a:pPr rtl="1" algn="ctr" indent="0" marL="0">
              <a:lnSpc>
                <a:spcPct val="120000"/>
              </a:lnSpc>
              <a:buNone/>
            </a:pPr>
            <a:r>
              <a:rPr lang="ar-SA" altLang="en-US" sz="2200" b="1" dirty="0">
                <a:solidFill>
                  <a:srgbClr val="0E7C86"/>
                </a:solidFill>
                <a:latin typeface="Amiri" pitchFamily="2" charset="-78"/>
                <a:ea typeface="Amiri" pitchFamily="2" charset="-78"/>
                <a:cs typeface="Amiri" pitchFamily="2" charset="-78"/>
              </a:rPr>
              <a:t>نَكْتُبُ</a:t>
            </a:r>
            <a:pPr rtl="1" algn="ctr" indent="0" marL="0">
              <a:lnSpc>
                <a:spcPct val="120000"/>
              </a:lnSpc>
              <a:buNone/>
            </a:pPr>
            <a:r>
              <a:rPr lang="ar-SA" altLang="en-US" sz="2200" b="1" dirty="0">
                <a:solidFill>
                  <a:srgbClr val="1B3B6F"/>
                </a:solidFill>
                <a:latin typeface="Amiri" pitchFamily="2" charset="-78"/>
                <a:cs typeface="Amiri" pitchFamily="2" charset="-78"/>
              </a:rPr>
              <a:t> ‖ </a:t>
            </a:r>
            <a:pPr rtl="1" algn="ctr" indent="0" marL="0">
              <a:lnSpc>
                <a:spcPct val="120000"/>
              </a:lnSpc>
              <a:buNone/>
            </a:pPr>
            <a:r>
              <a:rPr lang="ar-SA" altLang="en-US" sz="2200" b="1" dirty="0">
                <a:solidFill>
                  <a:srgbClr val="D6336C"/>
                </a:solidFill>
                <a:latin typeface="Amiri" pitchFamily="2" charset="-78"/>
                <a:ea typeface="Amiri" pitchFamily="2" charset="-78"/>
                <a:cs typeface="Amiri" pitchFamily="2" charset="-78"/>
              </a:rPr>
              <a:t>تَكْتُبِينَ</a:t>
            </a:r>
            <a:pPr rtl="1" algn="ctr" indent="0" marL="0">
              <a:lnSpc>
                <a:spcPct val="120000"/>
              </a:lnSpc>
              <a:buNone/>
            </a:pPr>
            <a:r>
              <a:rPr lang="ar-SA" altLang="en-US" sz="2200" b="1" dirty="0">
                <a:solidFill>
                  <a:srgbClr val="1B3B6F"/>
                </a:solidFill>
                <a:latin typeface="Amiri" pitchFamily="2" charset="-78"/>
                <a:cs typeface="Amiri" pitchFamily="2" charset="-78"/>
              </a:rPr>
              <a:t> · </a:t>
            </a:r>
            <a:pPr rtl="1" algn="ctr" indent="0" marL="0">
              <a:lnSpc>
                <a:spcPct val="120000"/>
              </a:lnSpc>
              <a:buNone/>
            </a:pPr>
            <a:r>
              <a:rPr lang="ar-SA" altLang="en-US" sz="2200" b="1" dirty="0">
                <a:solidFill>
                  <a:srgbClr val="D6336C"/>
                </a:solidFill>
                <a:latin typeface="Amiri" pitchFamily="2" charset="-78"/>
                <a:ea typeface="Amiri" pitchFamily="2" charset="-78"/>
                <a:cs typeface="Amiri" pitchFamily="2" charset="-78"/>
              </a:rPr>
              <a:t>يَكْتُبُونَ</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prefixes a-, na-, ya- and ta-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Add suffixes for feminine, dual and plural persons.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habit, current action or general fact from context.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Conjugate common weak verbs in the present.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 we, he and she write.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know ta- can mean you (m.) or she.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say you (f.), they and they (f.) write.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every day and now to show meaning.</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conjugate qāla, waṣala and mashā in the present.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 general fact in the present.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الْمُضَارِعُ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present tense</a:t>
            </a:r>
            <a:endParaRPr lang="en-US" sz="1350" dirty="0"/>
          </a:p>
          <a:p>
            <a:pPr indent="0" marL="0">
              <a:buNone/>
            </a:pPr>
            <a:r>
              <a:rPr lang="en-US" sz="1100" i="1" dirty="0">
                <a:solidFill>
                  <a:srgbClr val="5A6472"/>
                </a:solidFill>
                <a:latin typeface="Calibri" pitchFamily="34" charset="0"/>
                <a:cs typeface="Amiri" pitchFamily="2" charset="-78"/>
              </a:rPr>
              <a:t>al-mu-ḍā-ri-ʿu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يَكْتُبُ</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السَّابِقَةُ</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prefix</a:t>
            </a:r>
            <a:endParaRPr lang="en-US" sz="1350" dirty="0"/>
          </a:p>
          <a:p>
            <a:pPr indent="0" marL="0">
              <a:buNone/>
            </a:pPr>
            <a:r>
              <a:rPr lang="en-US" sz="1100" i="1" dirty="0">
                <a:solidFill>
                  <a:srgbClr val="5A6472"/>
                </a:solidFill>
                <a:latin typeface="Calibri" pitchFamily="34" charset="0"/>
                <a:cs typeface="Amiri" pitchFamily="2" charset="-78"/>
              </a:rPr>
              <a:t>as-sā-bi-qa-tu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 · نَ · يَ · تَ</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اللَّاحِقَةُ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suffix</a:t>
            </a:r>
            <a:endParaRPr lang="en-US" sz="1350" dirty="0"/>
          </a:p>
          <a:p>
            <a:pPr indent="0" marL="0">
              <a:buNone/>
            </a:pPr>
            <a:r>
              <a:rPr lang="en-US" sz="1100" i="1" dirty="0">
                <a:solidFill>
                  <a:srgbClr val="5A6472"/>
                </a:solidFill>
                <a:latin typeface="Calibri" pitchFamily="34" charset="0"/>
                <a:cs typeface="Amiri" pitchFamily="2" charset="-78"/>
              </a:rPr>
              <a:t>all-lā-ḥi-qa-tu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ـِينَ · ـُونَ · ـْنَ</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الْعَادَةُ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habit</a:t>
            </a:r>
            <a:endParaRPr lang="en-US" sz="1350" dirty="0"/>
          </a:p>
          <a:p>
            <a:pPr indent="0" marL="0">
              <a:buNone/>
            </a:pPr>
            <a:r>
              <a:rPr lang="en-US" sz="1100" i="1" dirty="0">
                <a:solidFill>
                  <a:srgbClr val="5A6472"/>
                </a:solidFill>
                <a:latin typeface="Calibri" pitchFamily="34" charset="0"/>
                <a:cs typeface="Amiri" pitchFamily="2" charset="-78"/>
              </a:rPr>
              <a:t>al-ʿā-da-tu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أَقْرَأُ كُلَّ يَوْمٍ</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الْحَدَثُ الْآنَ</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current action</a:t>
            </a:r>
            <a:endParaRPr lang="en-US" sz="1350" dirty="0"/>
          </a:p>
          <a:p>
            <a:pPr indent="0" marL="0">
              <a:buNone/>
            </a:pPr>
            <a:r>
              <a:rPr lang="en-US" sz="1100" i="1" dirty="0">
                <a:solidFill>
                  <a:srgbClr val="5A6472"/>
                </a:solidFill>
                <a:latin typeface="Calibri" pitchFamily="34" charset="0"/>
                <a:cs typeface="Amiri" pitchFamily="2" charset="-78"/>
              </a:rPr>
              <a:t>al-ḥa-da-thu al-ʾā-na</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أَقْرَأُ الْآنَ</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حَقِيقَةٌ عَامَّةٌ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general fact</a:t>
            </a:r>
            <a:endParaRPr lang="en-US" sz="1350" dirty="0"/>
          </a:p>
          <a:p>
            <a:pPr indent="0" marL="0">
              <a:buNone/>
            </a:pPr>
            <a:r>
              <a:rPr lang="en-US" sz="1100" i="1" dirty="0">
                <a:solidFill>
                  <a:srgbClr val="5A6472"/>
                </a:solidFill>
                <a:latin typeface="Calibri" pitchFamily="34" charset="0"/>
                <a:cs typeface="Amiri" pitchFamily="2" charset="-78"/>
              </a:rPr>
              <a:t>ḥa-qī-qa-tun ʿām-ma-tun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تَدُورُ الْأَرْضُ</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PREFIX FAMILY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front of the verb tells you who</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السَّوَابِقُ: أَ · نَ · يَ · 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2724912"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Core person (website)</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Prefix</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80960" y="2267712"/>
            <a:ext cx="395935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أَكْتُبُ</a:t>
            </a:r>
            <a:endParaRPr lang="ar-SA" sz="2600" dirty="0"/>
          </a:p>
        </p:txBody>
      </p:sp>
      <p:sp>
        <p:nvSpPr>
          <p:cNvPr id="21" name="Text 18"/>
          <p:cNvSpPr txBox="1"/>
          <p:nvPr/>
        </p:nvSpPr>
        <p:spPr>
          <a:xfrm>
            <a:off x="2761488" y="2267712"/>
            <a:ext cx="4754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2" name="Text 19"/>
          <p:cNvSpPr txBox="1"/>
          <p:nvPr/>
        </p:nvSpPr>
        <p:spPr>
          <a:xfrm>
            <a:off x="548640" y="2267712"/>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أَـ</a:t>
            </a:r>
            <a:endParaRPr lang="ar-SA" sz="2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680960" y="3054096"/>
            <a:ext cx="395935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نَكْتُبُ</a:t>
            </a:r>
            <a:endParaRPr lang="ar-SA" sz="2600" dirty="0"/>
          </a:p>
        </p:txBody>
      </p:sp>
      <p:sp>
        <p:nvSpPr>
          <p:cNvPr id="27" name="Text 24"/>
          <p:cNvSpPr txBox="1"/>
          <p:nvPr/>
        </p:nvSpPr>
        <p:spPr>
          <a:xfrm>
            <a:off x="2761488" y="3054096"/>
            <a:ext cx="4754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t>
            </a:r>
            <a:endParaRPr lang="en-US" sz="1100" dirty="0"/>
          </a:p>
        </p:txBody>
      </p:sp>
      <p:sp>
        <p:nvSpPr>
          <p:cNvPr id="28" name="Text 25"/>
          <p:cNvSpPr txBox="1"/>
          <p:nvPr/>
        </p:nvSpPr>
        <p:spPr>
          <a:xfrm>
            <a:off x="548640" y="3054096"/>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نَـ</a:t>
            </a:r>
            <a:endParaRPr lang="ar-SA" sz="26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680960" y="3840480"/>
            <a:ext cx="395935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يَكْتُبُ</a:t>
            </a:r>
            <a:endParaRPr lang="ar-SA" sz="2600" dirty="0"/>
          </a:p>
        </p:txBody>
      </p:sp>
      <p:sp>
        <p:nvSpPr>
          <p:cNvPr id="33" name="Text 30"/>
          <p:cNvSpPr txBox="1"/>
          <p:nvPr/>
        </p:nvSpPr>
        <p:spPr>
          <a:xfrm>
            <a:off x="2761488" y="3840480"/>
            <a:ext cx="4754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and many third-person forms</a:t>
            </a:r>
            <a:endParaRPr lang="en-US" sz="1100" dirty="0"/>
          </a:p>
        </p:txBody>
      </p:sp>
      <p:sp>
        <p:nvSpPr>
          <p:cNvPr id="34" name="Text 31"/>
          <p:cNvSpPr txBox="1"/>
          <p:nvPr/>
        </p:nvSpPr>
        <p:spPr>
          <a:xfrm>
            <a:off x="548640" y="3840480"/>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يَـ</a:t>
            </a:r>
            <a:endParaRPr lang="ar-SA" sz="26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7680960" y="4626864"/>
            <a:ext cx="395935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تَكْتُبُ</a:t>
            </a:r>
            <a:endParaRPr lang="ar-SA" sz="2600" dirty="0"/>
          </a:p>
        </p:txBody>
      </p:sp>
      <p:sp>
        <p:nvSpPr>
          <p:cNvPr id="39" name="Text 36"/>
          <p:cNvSpPr txBox="1"/>
          <p:nvPr/>
        </p:nvSpPr>
        <p:spPr>
          <a:xfrm>
            <a:off x="2761488" y="4626864"/>
            <a:ext cx="4754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 she, and several dual / plural forms</a:t>
            </a:r>
            <a:endParaRPr lang="en-US" sz="1100" dirty="0"/>
          </a:p>
        </p:txBody>
      </p:sp>
      <p:sp>
        <p:nvSpPr>
          <p:cNvPr id="40" name="Text 37"/>
          <p:cNvSpPr txBox="1"/>
          <p:nvPr/>
        </p:nvSpPr>
        <p:spPr>
          <a:xfrm>
            <a:off x="548640" y="4626864"/>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تَـ</a:t>
            </a:r>
            <a:endParaRPr lang="ar-SA" sz="26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taktubu is ambiguous on its own — “you (m.) write” or “she writes”. The pronoun, noun or conversation decides.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THE COMPLETE PRESENT PARADIGM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Prefix + suffix</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تَصْرِيفُ الْمُضَارِعِ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writes</a:t>
            </a:r>
            <a:endParaRPr lang="en-US" sz="1100" dirty="0"/>
          </a:p>
        </p:txBody>
      </p:sp>
      <p:sp>
        <p:nvSpPr>
          <p:cNvPr id="17" name="Text 14"/>
          <p:cNvSpPr txBox="1"/>
          <p:nvPr/>
        </p:nvSpPr>
        <p:spPr>
          <a:xfrm>
            <a:off x="565099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a:t>
            </a:r>
            <a:endParaRPr lang="en-US" sz="1100" dirty="0"/>
          </a:p>
        </p:txBody>
      </p:sp>
      <p:sp>
        <p:nvSpPr>
          <p:cNvPr id="18" name="Text 15"/>
          <p:cNvSpPr txBox="1"/>
          <p:nvPr/>
        </p:nvSpPr>
        <p:spPr>
          <a:xfrm>
            <a:off x="27249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writes</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63840" y="2267712"/>
            <a:ext cx="37764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نَكْتُبُ</a:t>
            </a:r>
            <a:endParaRPr lang="ar-SA" sz="2400" dirty="0"/>
          </a:p>
        </p:txBody>
      </p:sp>
      <p:sp>
        <p:nvSpPr>
          <p:cNvPr id="22" name="Text 19"/>
          <p:cNvSpPr txBox="1"/>
          <p:nvPr/>
        </p:nvSpPr>
        <p:spPr>
          <a:xfrm>
            <a:off x="566928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23" name="Text 20"/>
          <p:cNvSpPr txBox="1"/>
          <p:nvPr/>
        </p:nvSpPr>
        <p:spPr>
          <a:xfrm>
            <a:off x="274320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أَكْتُبُ</a:t>
            </a:r>
            <a:endParaRPr lang="ar-SA" sz="2400" dirty="0"/>
          </a:p>
        </p:txBody>
      </p:sp>
      <p:sp>
        <p:nvSpPr>
          <p:cNvPr id="24" name="Text 21"/>
          <p:cNvSpPr txBox="1"/>
          <p:nvPr/>
        </p:nvSpPr>
        <p:spPr>
          <a:xfrm>
            <a:off x="5486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63840" y="2881884"/>
            <a:ext cx="37764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تَكْتُبِينَ</a:t>
            </a:r>
            <a:endParaRPr lang="ar-SA" sz="2400" dirty="0"/>
          </a:p>
        </p:txBody>
      </p:sp>
      <p:sp>
        <p:nvSpPr>
          <p:cNvPr id="29" name="Text 26"/>
          <p:cNvSpPr txBox="1"/>
          <p:nvPr/>
        </p:nvSpPr>
        <p:spPr>
          <a:xfrm>
            <a:off x="566928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30" name="Text 27"/>
          <p:cNvSpPr txBox="1"/>
          <p:nvPr/>
        </p:nvSpPr>
        <p:spPr>
          <a:xfrm>
            <a:off x="274320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تَكْتُبُ</a:t>
            </a:r>
            <a:endParaRPr lang="ar-SA" sz="2400" dirty="0"/>
          </a:p>
        </p:txBody>
      </p:sp>
      <p:sp>
        <p:nvSpPr>
          <p:cNvPr id="31" name="Text 28"/>
          <p:cNvSpPr txBox="1"/>
          <p:nvPr/>
        </p:nvSpPr>
        <p:spPr>
          <a:xfrm>
            <a:off x="5486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63840" y="3496056"/>
            <a:ext cx="37764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تَكْتُبُ</a:t>
            </a:r>
            <a:endParaRPr lang="ar-SA" sz="2400" dirty="0"/>
          </a:p>
        </p:txBody>
      </p:sp>
      <p:sp>
        <p:nvSpPr>
          <p:cNvPr id="36" name="Text 33"/>
          <p:cNvSpPr txBox="1"/>
          <p:nvPr/>
        </p:nvSpPr>
        <p:spPr>
          <a:xfrm>
            <a:off x="566928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37" name="Text 34"/>
          <p:cNvSpPr txBox="1"/>
          <p:nvPr/>
        </p:nvSpPr>
        <p:spPr>
          <a:xfrm>
            <a:off x="274320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يَكْتُبُ</a:t>
            </a:r>
            <a:endParaRPr lang="ar-SA" sz="2400" dirty="0"/>
          </a:p>
        </p:txBody>
      </p:sp>
      <p:sp>
        <p:nvSpPr>
          <p:cNvPr id="38" name="Text 35"/>
          <p:cNvSpPr txBox="1"/>
          <p:nvPr/>
        </p:nvSpPr>
        <p:spPr>
          <a:xfrm>
            <a:off x="5486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63840" y="4110228"/>
            <a:ext cx="37764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يَكْتُبْنَ</a:t>
            </a:r>
            <a:endParaRPr lang="ar-SA" sz="2400" dirty="0"/>
          </a:p>
        </p:txBody>
      </p:sp>
      <p:sp>
        <p:nvSpPr>
          <p:cNvPr id="43" name="Text 40"/>
          <p:cNvSpPr txBox="1"/>
          <p:nvPr/>
        </p:nvSpPr>
        <p:spPr>
          <a:xfrm>
            <a:off x="566928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هُنَّ</a:t>
            </a:r>
            <a:endParaRPr lang="ar-SA" sz="2400" dirty="0"/>
          </a:p>
        </p:txBody>
      </p:sp>
      <p:sp>
        <p:nvSpPr>
          <p:cNvPr id="44" name="Text 41"/>
          <p:cNvSpPr txBox="1"/>
          <p:nvPr/>
        </p:nvSpPr>
        <p:spPr>
          <a:xfrm>
            <a:off x="274320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يَكْتُبُونَ</a:t>
            </a:r>
            <a:endParaRPr lang="ar-SA" sz="2400" dirty="0"/>
          </a:p>
        </p:txBody>
      </p:sp>
      <p:sp>
        <p:nvSpPr>
          <p:cNvPr id="45" name="Text 42"/>
          <p:cNvSpPr txBox="1"/>
          <p:nvPr/>
        </p:nvSpPr>
        <p:spPr>
          <a:xfrm>
            <a:off x="5486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هُمْ</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7863840" y="4724400"/>
            <a:ext cx="37764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تَكْتُبْنَ</a:t>
            </a:r>
            <a:endParaRPr lang="ar-SA" sz="2400" dirty="0"/>
          </a:p>
        </p:txBody>
      </p:sp>
      <p:sp>
        <p:nvSpPr>
          <p:cNvPr id="48" name="Text 45"/>
          <p:cNvSpPr txBox="1"/>
          <p:nvPr/>
        </p:nvSpPr>
        <p:spPr>
          <a:xfrm>
            <a:off x="566928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أَنْتُنَّ</a:t>
            </a:r>
            <a:endParaRPr lang="ar-SA" sz="2400" dirty="0"/>
          </a:p>
        </p:txBody>
      </p:sp>
      <p:sp>
        <p:nvSpPr>
          <p:cNvPr id="49" name="Text 46"/>
          <p:cNvSpPr txBox="1"/>
          <p:nvPr/>
        </p:nvSpPr>
        <p:spPr>
          <a:xfrm>
            <a:off x="274320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تَكْتُبُونَ</a:t>
            </a:r>
            <a:endParaRPr lang="ar-SA" sz="2400" dirty="0"/>
          </a:p>
        </p:txBody>
      </p:sp>
      <p:sp>
        <p:nvSpPr>
          <p:cNvPr id="50" name="Text 47"/>
          <p:cNvSpPr txBox="1"/>
          <p:nvPr/>
        </p:nvSpPr>
        <p:spPr>
          <a:xfrm>
            <a:off x="5486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أَنْتُمْ</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7863840" y="5338572"/>
            <a:ext cx="37764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تَكْتُبَانِ</a:t>
            </a:r>
            <a:endParaRPr lang="ar-SA" sz="2400" dirty="0"/>
          </a:p>
        </p:txBody>
      </p:sp>
      <p:sp>
        <p:nvSpPr>
          <p:cNvPr id="53" name="Text 50"/>
          <p:cNvSpPr txBox="1"/>
          <p:nvPr/>
        </p:nvSpPr>
        <p:spPr>
          <a:xfrm>
            <a:off x="566928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أَنْتُمَا</a:t>
            </a:r>
            <a:endParaRPr lang="ar-SA" sz="2400" dirty="0"/>
          </a:p>
        </p:txBody>
      </p:sp>
      <p:sp>
        <p:nvSpPr>
          <p:cNvPr id="54" name="Text 51"/>
          <p:cNvSpPr txBox="1"/>
          <p:nvPr/>
        </p:nvSpPr>
        <p:spPr>
          <a:xfrm>
            <a:off x="274320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يَكْتُبَانِ</a:t>
            </a:r>
            <a:endParaRPr lang="ar-SA" sz="2400" dirty="0"/>
          </a:p>
        </p:txBody>
      </p:sp>
      <p:sp>
        <p:nvSpPr>
          <p:cNvPr id="55" name="Text 52"/>
          <p:cNvSpPr txBox="1"/>
          <p:nvPr/>
        </p:nvSpPr>
        <p:spPr>
          <a:xfrm>
            <a:off x="5486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هُمَا</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duals, masculine plurals, “you (f.)” and feminine plurals need BOTH ends. Dual: humā (m.) yaktubāni, humā (f.) taktubāni.</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 PART 3 · MEANING IN CONTEXT · WEAK VERBS (WEBSITE TABLES)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Habit, now, fact — and weak stems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الدَّلَالَةُ وَالْأَفْعَالُ الْمُعْتَلَّةُ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345643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(website)</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Point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every day → habit</a:t>
            </a:r>
            <a:endParaRPr lang="en-US" sz="1100" dirty="0"/>
          </a:p>
        </p:txBody>
      </p:sp>
      <p:sp>
        <p:nvSpPr>
          <p:cNvPr id="21" name="Text 18"/>
          <p:cNvSpPr txBox="1"/>
          <p:nvPr/>
        </p:nvSpPr>
        <p:spPr>
          <a:xfrm>
            <a:off x="3474720" y="2267712"/>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أَقْرَأُ كُلَّ يَوْمٍ.</a:t>
            </a:r>
            <a:endParaRPr lang="ar-SA" sz="2200" dirty="0"/>
          </a:p>
        </p:txBody>
      </p:sp>
      <p:sp>
        <p:nvSpPr>
          <p:cNvPr id="22" name="Text 19"/>
          <p:cNvSpPr txBox="1"/>
          <p:nvPr/>
        </p:nvSpPr>
        <p:spPr>
          <a:xfrm>
            <a:off x="5669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habit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now → happening now</a:t>
            </a:r>
            <a:endParaRPr lang="en-US" sz="1100" dirty="0"/>
          </a:p>
        </p:txBody>
      </p:sp>
      <p:sp>
        <p:nvSpPr>
          <p:cNvPr id="27" name="Text 24"/>
          <p:cNvSpPr txBox="1"/>
          <p:nvPr/>
        </p:nvSpPr>
        <p:spPr>
          <a:xfrm>
            <a:off x="3474720" y="2881884"/>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أَقْرَأُ الْآنَ.</a:t>
            </a:r>
            <a:endParaRPr lang="ar-SA" sz="2200" dirty="0"/>
          </a:p>
        </p:txBody>
      </p:sp>
      <p:sp>
        <p:nvSpPr>
          <p:cNvPr id="28" name="Text 25"/>
          <p:cNvSpPr txBox="1"/>
          <p:nvPr/>
        </p:nvSpPr>
        <p:spPr>
          <a:xfrm>
            <a:off x="5669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current action</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general knowledge</a:t>
            </a:r>
            <a:endParaRPr lang="en-US" sz="1100" dirty="0"/>
          </a:p>
        </p:txBody>
      </p:sp>
      <p:sp>
        <p:nvSpPr>
          <p:cNvPr id="33" name="Text 30"/>
          <p:cNvSpPr txBox="1"/>
          <p:nvPr/>
        </p:nvSpPr>
        <p:spPr>
          <a:xfrm>
            <a:off x="3474720" y="3496056"/>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تَدُورُ الْأَرْضُ حَوْلَ الشَّمْسِ.</a:t>
            </a:r>
            <a:endParaRPr lang="ar-SA" sz="2200" dirty="0"/>
          </a:p>
        </p:txBody>
      </p:sp>
      <p:sp>
        <p:nvSpPr>
          <p:cNvPr id="34" name="Text 31"/>
          <p:cNvSpPr txBox="1"/>
          <p:nvPr/>
        </p:nvSpPr>
        <p:spPr>
          <a:xfrm>
            <a:off x="5669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general fact</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long ū stays</a:t>
            </a:r>
            <a:endParaRPr lang="en-US" sz="1100" dirty="0"/>
          </a:p>
        </p:txBody>
      </p:sp>
      <p:sp>
        <p:nvSpPr>
          <p:cNvPr id="37" name="Text 34"/>
          <p:cNvSpPr txBox="1"/>
          <p:nvPr/>
        </p:nvSpPr>
        <p:spPr>
          <a:xfrm>
            <a:off x="3474720" y="4110228"/>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أَقُولُ · تَقُولِينَ · يَقُولُونَ</a:t>
            </a:r>
            <a:endParaRPr lang="ar-SA" sz="2200" dirty="0"/>
          </a:p>
        </p:txBody>
      </p:sp>
      <p:sp>
        <p:nvSpPr>
          <p:cNvPr id="38" name="Text 35"/>
          <p:cNvSpPr txBox="1"/>
          <p:nvPr/>
        </p:nvSpPr>
        <p:spPr>
          <a:xfrm>
            <a:off x="5669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wāw</a:t>
            </a:r>
            <a:endParaRPr lang="en-US" sz="1100" dirty="0"/>
          </a:p>
        </p:txBody>
      </p:sp>
      <p:sp>
        <p:nvSpPr>
          <p:cNvPr id="41" name="Text 38"/>
          <p:cNvSpPr txBox="1"/>
          <p:nvPr/>
        </p:nvSpPr>
        <p:spPr>
          <a:xfrm>
            <a:off x="3474720" y="4724400"/>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أَصِلُ · تَصِلِينَ · يَصِلُونَ</a:t>
            </a:r>
            <a:endParaRPr lang="ar-SA" sz="2200" dirty="0"/>
          </a:p>
        </p:txBody>
      </p:sp>
      <p:sp>
        <p:nvSpPr>
          <p:cNvPr id="42" name="Text 39"/>
          <p:cNvSpPr txBox="1"/>
          <p:nvPr/>
        </p:nvSpPr>
        <p:spPr>
          <a:xfrm>
            <a:off x="5669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initial weak</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drops the yāʾ</a:t>
            </a:r>
            <a:endParaRPr lang="en-US" sz="1100" dirty="0"/>
          </a:p>
        </p:txBody>
      </p:sp>
      <p:sp>
        <p:nvSpPr>
          <p:cNvPr id="45" name="Text 42"/>
          <p:cNvSpPr txBox="1"/>
          <p:nvPr/>
        </p:nvSpPr>
        <p:spPr>
          <a:xfrm>
            <a:off x="3474720" y="5338572"/>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أَمْشِي · تَمْشِينَ · يَمْشُونَ</a:t>
            </a:r>
            <a:endParaRPr lang="ar-SA" sz="2200" dirty="0"/>
          </a:p>
        </p:txBody>
      </p:sp>
      <p:sp>
        <p:nvSpPr>
          <p:cNvPr id="46" name="Text 43"/>
          <p:cNvSpPr txBox="1"/>
          <p:nvPr/>
        </p:nvSpPr>
        <p:spPr>
          <a:xfrm>
            <a:off x="5669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weak</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Arabic present can be “I write”, “I am writing”, or an arranged future — strengthen a future with sa- (GM-V-06).</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“We travel”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يُسَافِرُونَ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تُسَافِرِينَ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نُسَافِرُ</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can mean “she writes”?</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أَكْتُبُ</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(m. / mixed) study”.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تَدْرُسُونَ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يَدْرُسُونَ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(f.) study”.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يَدْرُسُونَ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“We travel”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يُسَافِرُونَ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تُسَافِرِينَ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نُسَافِرُ</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na- = we.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can mean “she writes”?</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تَكْتُبُ</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يَكْتُبُ</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أَكْتُبُ</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can mark “she”.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(m. / mixed) study”.</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تَدْرُسُونَ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يَدْرُسُونَ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 … -ūna.</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(f.) study”.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يَدْرُسْنَ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تَدْرُسْنَ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يَدْرُسُونَ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Third-person feminine plural uses ya- … -na.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Watch me build the present from the subject</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Subject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أُخْتِي</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she → ta-.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تَسْتَيْقِظُ</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ta- + stem.</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Subject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أَصْدِقَائِي</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they → ya- … -ūna.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يَدْرُسُونَ</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ends.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PREFIX ONLY</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PREFIX + SUFFIX</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550" b="1" dirty="0">
                <a:solidFill>
                  <a:srgbClr val="0E7C86"/>
                </a:solidFill>
                <a:latin typeface="Amiri" pitchFamily="2" charset="-78"/>
                <a:ea typeface="Amiri" pitchFamily="2" charset="-78"/>
                <a:cs typeface="Amiri" pitchFamily="2" charset="-78"/>
              </a:rPr>
              <a:t>أَسْتَيْقِظُ</a:t>
            </a:r>
            <a:pPr rtl="1" algn="r" indent="0" marL="0">
              <a:buNone/>
            </a:pPr>
            <a:r>
              <a:rPr lang="ar-SA" altLang="en-US" sz="2550" b="1" dirty="0">
                <a:solidFill>
                  <a:srgbClr val="1B3B6F"/>
                </a:solidFill>
                <a:latin typeface="Amiri" pitchFamily="2" charset="-78"/>
                <a:ea typeface="Amiri" pitchFamily="2" charset="-78"/>
                <a:cs typeface="Amiri" pitchFamily="2" charset="-78"/>
              </a:rPr>
              <a:t> مُبَكِّرًا، وَ</a:t>
            </a:r>
            <a:pPr rtl="1" algn="r" indent="0" marL="0">
              <a:buNone/>
            </a:pPr>
            <a:r>
              <a:rPr lang="ar-SA" altLang="en-US" sz="2550" b="1" dirty="0">
                <a:solidFill>
                  <a:srgbClr val="0E7C86"/>
                </a:solidFill>
                <a:latin typeface="Amiri" pitchFamily="2" charset="-78"/>
                <a:ea typeface="Amiri" pitchFamily="2" charset="-78"/>
                <a:cs typeface="Amiri" pitchFamily="2" charset="-78"/>
              </a:rPr>
              <a:t>تَسْتَيْقِظُ</a:t>
            </a:r>
            <a:pPr rtl="1" algn="r" indent="0" marL="0">
              <a:buNone/>
            </a:pPr>
            <a:r>
              <a:rPr lang="ar-SA" altLang="en-US" sz="2550" b="1" dirty="0">
                <a:solidFill>
                  <a:srgbClr val="1B3B6F"/>
                </a:solidFill>
                <a:latin typeface="Amiri" pitchFamily="2" charset="-78"/>
                <a:ea typeface="Amiri" pitchFamily="2" charset="-78"/>
                <a:cs typeface="Amiri" pitchFamily="2" charset="-78"/>
              </a:rPr>
              <a:t> أُخْتِي بَعْدِي. </a:t>
            </a:r>
            <a:pPr rtl="1" algn="r" indent="0" marL="0">
              <a:buNone/>
            </a:pPr>
            <a:r>
              <a:rPr lang="ar-SA" altLang="en-US" sz="2550" b="1" dirty="0">
                <a:solidFill>
                  <a:srgbClr val="0E7C86"/>
                </a:solidFill>
                <a:latin typeface="Amiri" pitchFamily="2" charset="-78"/>
                <a:ea typeface="Amiri" pitchFamily="2" charset="-78"/>
                <a:cs typeface="Amiri" pitchFamily="2" charset="-78"/>
              </a:rPr>
              <a:t>نَذْهَبُ</a:t>
            </a:r>
            <a:pPr rtl="1" algn="r" indent="0" marL="0">
              <a:buNone/>
            </a:pPr>
            <a:r>
              <a:rPr lang="ar-SA" altLang="en-US" sz="2550" b="1" dirty="0">
                <a:solidFill>
                  <a:srgbClr val="1B3B6F"/>
                </a:solidFill>
                <a:latin typeface="Amiri" pitchFamily="2" charset="-78"/>
                <a:ea typeface="Amiri" pitchFamily="2" charset="-78"/>
                <a:cs typeface="Amiri" pitchFamily="2" charset="-78"/>
              </a:rPr>
              <a:t> إِلَى الْمَدْرَسَةِ مَعًا، وَأَصْدِقَائِي </a:t>
            </a:r>
            <a:pPr rtl="1" algn="r" indent="0" marL="0">
              <a:buNone/>
            </a:pPr>
            <a:r>
              <a:rPr lang="ar-SA" altLang="en-US" sz="2550" b="1" dirty="0">
                <a:solidFill>
                  <a:srgbClr val="D6336C"/>
                </a:solidFill>
                <a:latin typeface="Amiri" pitchFamily="2" charset="-78"/>
                <a:ea typeface="Amiri" pitchFamily="2" charset="-78"/>
                <a:cs typeface="Amiri" pitchFamily="2" charset="-78"/>
              </a:rPr>
              <a:t>يَدْرُسُونَ</a:t>
            </a:r>
            <a:pPr rtl="1" algn="r" indent="0" marL="0">
              <a:buNone/>
            </a:pPr>
            <a:r>
              <a:rPr lang="ar-SA" altLang="en-US" sz="2550" b="1" dirty="0">
                <a:solidFill>
                  <a:srgbClr val="1B3B6F"/>
                </a:solidFill>
                <a:latin typeface="Amiri" pitchFamily="2" charset="-78"/>
                <a:ea typeface="Amiri" pitchFamily="2" charset="-78"/>
                <a:cs typeface="Amiri" pitchFamily="2" charset="-78"/>
              </a:rPr>
              <a:t> مَوَادَّ مُخْتَلِفَةً.</a:t>
            </a:r>
            <a:endParaRPr lang="ar-SA" sz="25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wake up early, and my sister wakes up after me. We go to school together, and my friends study different subjects.</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أَقْرَأُ قَبْلَ النَّوْمِ كُلَّ لَيْلَةٍ.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read before sleeping every night.</a:t>
            </a:r>
            <a:endParaRPr lang="en-US" sz="1250" dirty="0"/>
          </a:p>
          <a:p>
            <a:pPr indent="0" marL="0">
              <a:buNone/>
            </a:pPr>
            <a:r>
              <a:rPr lang="en-US" sz="1050" i="1" dirty="0">
                <a:solidFill>
                  <a:srgbClr val="8A6D1E"/>
                </a:solidFill>
                <a:latin typeface="Calibri" pitchFamily="34" charset="0"/>
                <a:cs typeface="Amiri" pitchFamily="2" charset="-78"/>
              </a:rPr>
              <a:t>Habit.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مَاذَا تَفْعَلِينَ الْآنَ؟</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What are you doing now? (to a girl)</a:t>
            </a:r>
            <a:endParaRPr lang="en-US" sz="1250" dirty="0"/>
          </a:p>
          <a:p>
            <a:pPr indent="0" marL="0">
              <a:buNone/>
            </a:pPr>
            <a:r>
              <a:rPr lang="en-US" sz="1050" i="1" dirty="0">
                <a:solidFill>
                  <a:srgbClr val="8A6D1E"/>
                </a:solidFill>
                <a:latin typeface="Calibri" pitchFamily="34" charset="0"/>
                <a:cs typeface="Amiri" pitchFamily="2" charset="-78"/>
              </a:rPr>
              <a:t>ta- … -īna.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تَشْرُقُ الشَّمْسُ مِنَ الشَّرْقِ.</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sun rises in the east.</a:t>
            </a:r>
            <a:endParaRPr lang="en-US" sz="1250" dirty="0"/>
          </a:p>
          <a:p>
            <a:pPr indent="0" marL="0">
              <a:buNone/>
            </a:pPr>
            <a:r>
              <a:rPr lang="en-US" sz="1050" i="1" dirty="0">
                <a:solidFill>
                  <a:srgbClr val="8A6D1E"/>
                </a:solidFill>
                <a:latin typeface="Calibri" pitchFamily="34" charset="0"/>
                <a:cs typeface="Amiri" pitchFamily="2" charset="-78"/>
              </a:rPr>
              <a:t>General fact.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الطَّالِبَاتُ يَكْتُبْنَ الْوَاجِبَ.</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female students are writing the homework.</a:t>
            </a:r>
            <a:endParaRPr lang="en-US" sz="1250" dirty="0"/>
          </a:p>
          <a:p>
            <a:pPr indent="0" marL="0">
              <a:buNone/>
            </a:pPr>
            <a:r>
              <a:rPr lang="en-US" sz="1050" i="1" dirty="0">
                <a:solidFill>
                  <a:srgbClr val="8A6D1E"/>
                </a:solidFill>
                <a:latin typeface="Calibri" pitchFamily="34" charset="0"/>
                <a:cs typeface="Amiri" pitchFamily="2" charset="-78"/>
              </a:rPr>
              <a:t>ya- … -na.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PERSON BUILDER (WEBSITE GAME)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Subject + verb = present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كَوِّنِ الْمُضَارِعَ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Clue</a:t>
            </a:r>
            <a:endParaRPr lang="en-US" sz="1100" dirty="0"/>
          </a:p>
        </p:txBody>
      </p:sp>
      <p:sp>
        <p:nvSpPr>
          <p:cNvPr id="17" name="Text 14"/>
          <p:cNvSpPr txBox="1"/>
          <p:nvPr/>
        </p:nvSpPr>
        <p:spPr>
          <a:xfrm>
            <a:off x="52852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 form</a:t>
            </a:r>
            <a:endParaRPr lang="en-US" sz="1100" dirty="0"/>
          </a:p>
        </p:txBody>
      </p:sp>
      <p:sp>
        <p:nvSpPr>
          <p:cNvPr id="18" name="Text 15"/>
          <p:cNvSpPr txBox="1"/>
          <p:nvPr/>
        </p:nvSpPr>
        <p:spPr>
          <a:xfrm>
            <a:off x="29077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43076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2" name="Text 19"/>
          <p:cNvSpPr txBox="1"/>
          <p:nvPr/>
        </p:nvSpPr>
        <p:spPr>
          <a:xfrm>
            <a:off x="5303520" y="2267712"/>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أَكْتُبُ</a:t>
            </a:r>
            <a:endParaRPr lang="ar-SA" sz="2600" dirty="0"/>
          </a:p>
        </p:txBody>
      </p:sp>
      <p:sp>
        <p:nvSpPr>
          <p:cNvPr id="23" name="Text 20"/>
          <p:cNvSpPr txBox="1"/>
          <p:nvPr/>
        </p:nvSpPr>
        <p:spPr>
          <a:xfrm>
            <a:off x="2926080" y="226771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a:t>
            </a:r>
            <a:endParaRPr lang="ar-SA" sz="2400" dirty="0"/>
          </a:p>
        </p:txBody>
      </p:sp>
      <p:sp>
        <p:nvSpPr>
          <p:cNvPr id="24" name="Text 21"/>
          <p:cNvSpPr txBox="1"/>
          <p:nvPr/>
        </p:nvSpPr>
        <p:spPr>
          <a:xfrm>
            <a:off x="548640" y="226771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43076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 -īna</a:t>
            </a:r>
            <a:endParaRPr lang="en-US" sz="1100" dirty="0"/>
          </a:p>
        </p:txBody>
      </p:sp>
      <p:sp>
        <p:nvSpPr>
          <p:cNvPr id="29" name="Text 26"/>
          <p:cNvSpPr txBox="1"/>
          <p:nvPr/>
        </p:nvSpPr>
        <p:spPr>
          <a:xfrm>
            <a:off x="5303520" y="2881884"/>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تَدْرُسِينَ</a:t>
            </a:r>
            <a:endParaRPr lang="ar-SA" sz="2600" dirty="0"/>
          </a:p>
        </p:txBody>
      </p:sp>
      <p:sp>
        <p:nvSpPr>
          <p:cNvPr id="30" name="Text 27"/>
          <p:cNvSpPr txBox="1"/>
          <p:nvPr/>
        </p:nvSpPr>
        <p:spPr>
          <a:xfrm>
            <a:off x="2926080"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دَرَسَ</a:t>
            </a:r>
            <a:endParaRPr lang="ar-SA" sz="2400" dirty="0"/>
          </a:p>
        </p:txBody>
      </p:sp>
      <p:sp>
        <p:nvSpPr>
          <p:cNvPr id="31" name="Text 28"/>
          <p:cNvSpPr txBox="1"/>
          <p:nvPr/>
        </p:nvSpPr>
        <p:spPr>
          <a:xfrm>
            <a:off x="548640"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43076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 … -ūna (hollow)</a:t>
            </a:r>
            <a:endParaRPr lang="en-US" sz="1100" dirty="0"/>
          </a:p>
        </p:txBody>
      </p:sp>
      <p:sp>
        <p:nvSpPr>
          <p:cNvPr id="36" name="Text 33"/>
          <p:cNvSpPr txBox="1"/>
          <p:nvPr/>
        </p:nvSpPr>
        <p:spPr>
          <a:xfrm>
            <a:off x="5303520" y="3496056"/>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يَقُولُونَ</a:t>
            </a:r>
            <a:endParaRPr lang="ar-SA" sz="2600" dirty="0"/>
          </a:p>
        </p:txBody>
      </p:sp>
      <p:sp>
        <p:nvSpPr>
          <p:cNvPr id="37" name="Text 34"/>
          <p:cNvSpPr txBox="1"/>
          <p:nvPr/>
        </p:nvSpPr>
        <p:spPr>
          <a:xfrm>
            <a:off x="2926080"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قَالَ</a:t>
            </a:r>
            <a:endParaRPr lang="ar-SA" sz="2400" dirty="0"/>
          </a:p>
        </p:txBody>
      </p:sp>
      <p:sp>
        <p:nvSpPr>
          <p:cNvPr id="38" name="Text 35"/>
          <p:cNvSpPr txBox="1"/>
          <p:nvPr/>
        </p:nvSpPr>
        <p:spPr>
          <a:xfrm>
            <a:off x="548640"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هُمْ</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43076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 … -na</a:t>
            </a:r>
            <a:endParaRPr lang="en-US" sz="1100" dirty="0"/>
          </a:p>
        </p:txBody>
      </p:sp>
      <p:sp>
        <p:nvSpPr>
          <p:cNvPr id="43" name="Text 40"/>
          <p:cNvSpPr txBox="1"/>
          <p:nvPr/>
        </p:nvSpPr>
        <p:spPr>
          <a:xfrm>
            <a:off x="5303520" y="4110228"/>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يَكْتُبْنَ</a:t>
            </a:r>
            <a:endParaRPr lang="ar-SA" sz="2600" dirty="0"/>
          </a:p>
        </p:txBody>
      </p:sp>
      <p:sp>
        <p:nvSpPr>
          <p:cNvPr id="44" name="Text 41"/>
          <p:cNvSpPr txBox="1"/>
          <p:nvPr/>
        </p:nvSpPr>
        <p:spPr>
          <a:xfrm>
            <a:off x="2926080"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a:t>
            </a:r>
            <a:endParaRPr lang="ar-SA" sz="2400" dirty="0"/>
          </a:p>
        </p:txBody>
      </p:sp>
      <p:sp>
        <p:nvSpPr>
          <p:cNvPr id="45" name="Text 42"/>
          <p:cNvSpPr txBox="1"/>
          <p:nvPr/>
        </p:nvSpPr>
        <p:spPr>
          <a:xfrm>
            <a:off x="548640"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هُنَّ</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43076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 -ūna (no wāw)</a:t>
            </a:r>
            <a:endParaRPr lang="en-US" sz="1100" dirty="0"/>
          </a:p>
        </p:txBody>
      </p:sp>
      <p:sp>
        <p:nvSpPr>
          <p:cNvPr id="48" name="Text 45"/>
          <p:cNvSpPr txBox="1"/>
          <p:nvPr/>
        </p:nvSpPr>
        <p:spPr>
          <a:xfrm>
            <a:off x="5303520" y="4724400"/>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تَصِلُونَ</a:t>
            </a:r>
            <a:endParaRPr lang="ar-SA" sz="2600" dirty="0"/>
          </a:p>
        </p:txBody>
      </p:sp>
      <p:sp>
        <p:nvSpPr>
          <p:cNvPr id="49" name="Text 46"/>
          <p:cNvSpPr txBox="1"/>
          <p:nvPr/>
        </p:nvSpPr>
        <p:spPr>
          <a:xfrm>
            <a:off x="2926080"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وَصَلَ</a:t>
            </a:r>
            <a:endParaRPr lang="ar-SA" sz="2400" dirty="0"/>
          </a:p>
        </p:txBody>
      </p:sp>
      <p:sp>
        <p:nvSpPr>
          <p:cNvPr id="50" name="Text 47"/>
          <p:cNvSpPr txBox="1"/>
          <p:nvPr/>
        </p:nvSpPr>
        <p:spPr>
          <a:xfrm>
            <a:off x="548640"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أَنْتُمْ</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43076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 (final weak)</a:t>
            </a:r>
            <a:endParaRPr lang="en-US" sz="1100" dirty="0"/>
          </a:p>
        </p:txBody>
      </p:sp>
      <p:sp>
        <p:nvSpPr>
          <p:cNvPr id="53" name="Text 50"/>
          <p:cNvSpPr txBox="1"/>
          <p:nvPr/>
        </p:nvSpPr>
        <p:spPr>
          <a:xfrm>
            <a:off x="5303520" y="5338572"/>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نَمْشِي</a:t>
            </a:r>
            <a:endParaRPr lang="ar-SA" sz="2600" dirty="0"/>
          </a:p>
        </p:txBody>
      </p:sp>
      <p:sp>
        <p:nvSpPr>
          <p:cNvPr id="54" name="Text 51"/>
          <p:cNvSpPr txBox="1"/>
          <p:nvPr/>
        </p:nvSpPr>
        <p:spPr>
          <a:xfrm>
            <a:off x="2926080" y="533857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مَشَى</a:t>
            </a:r>
            <a:endParaRPr lang="ar-SA" sz="2400" dirty="0"/>
          </a:p>
        </p:txBody>
      </p:sp>
      <p:sp>
        <p:nvSpPr>
          <p:cNvPr id="55" name="Text 52"/>
          <p:cNvSpPr txBox="1"/>
          <p:nvPr/>
        </p:nvSpPr>
        <p:spPr>
          <a:xfrm>
            <a:off x="548640" y="533857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person builder: start from the subject, choose the prefix, then add any suffix.</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ONE END OR BOTH ENDS?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Prefix only, or prefix + suffix?</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سَابِقَةٌ فَقَطْ أَمْ سَابِقَةٌ وَلَاحِقَةٌ؟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أَلْعَبُ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تَلْعَبِينَ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نَلْعَبُ</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يَلْعَبُونَ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يَلْعَبُ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يَلْعَبْنَ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تَلْعَبُ</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تَلْعَبَانِ</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Prefix only</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Prefix + suffix</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Prefix only</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أَلْعَبُ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نَلْعَبُ</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يَلْعَبُ</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تَلْعَبُ</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Prefix + suffix</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تَلْعَبِينَ</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يَلْعَبُونَ</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يَلْعَبْنَ</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تَلْعَبَانِ</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يَكْتُبُ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prefix for she?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أَنْتِ تَكْتُبُ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ending for you (f.)?</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هُنَّ تَكْتُبْنَ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 or ta- for they (f.)?</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يَكْتُبُ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تَكْتُبُ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takes ta-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أَنْتِ تَكْتُبُ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أَنْتِ تَكْتُبِينَ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Add -īna for you (f.)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هُنَّ تَكْتُبْنَ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هُنَّ يَكْتُبْنَ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They (f.) begin with ya-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2F6FB0"/>
                </a:solidFill>
                <a:latin typeface="Calibri" pitchFamily="34" charset="0"/>
                <a:cs typeface="Amiri" pitchFamily="2" charset="-78"/>
              </a:rPr>
              <a:t>WE DO · GUIDED PRACTICE · WEBSITE MEANING IN CONTEXT AND PRESENT WEAK VERB CHECKS</a:t>
            </a:r>
            <a:endParaRPr lang="en-US" sz="846"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adrusu l-āna mean?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studied yesterday.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will never study.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studying now.</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amshī kulla ṣabāḥin mean?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walked once.</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walk every morning.</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“They walk”</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يَمْشِيُونَ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يَمْشُونَ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يَمْشَوْنَ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 call / invite”.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تَدْعُوينَ</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تَدْعُو</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تَدْعِينَ</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adrusu l-āna mean?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studied yesterday.</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will never study.</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am studying now.</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Al-āna signals a current action.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amshī kulla ṣabāḥin mean?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walked once.</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walk every morning.</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Walk!</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routine.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“They walk”</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يَمْشِيُونَ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يَمْشُونَ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يَمْشَوْنَ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Final yāʾ verb, present plural: yamshūna.</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 call / invite”.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تَدْعُوينَ</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تَدْعُو</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تَدْعِينَ</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wāw changes before -īna.</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1E6B52"/>
                </a:solidFill>
                <a:latin typeface="Calibri" pitchFamily="34" charset="0"/>
                <a:cs typeface="Amiri" pitchFamily="2" charset="-78"/>
              </a:rPr>
              <a:t>YOU DO · READ AND NOTICE · WEBSITE READING WORKSHOP (TEACHER-WRITTEN PROFILE)</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school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تَقَعُ مَدْرَسَتُنَا فِي وَسَطِ الْمَدِينَةِ. يَدْرُسُ فِيهَا خَمْسُمِئَةِ طَالِبٍ وَطَالِبَةٍ. يَبْدَأُ الْيَوْمُ الدِّرَاسِيُّ فِي الثَّامِنَةِ. الطُّلَّابُ يَلْعَبُونَ كُرَةَ الْقَدَمِ فِي الِاسْتِرَاحَةِ، وَالطَّالِبَاتُ يَقْرَأْنَ فِي الْمَكْتَبَةِ. مُعَلِّمَتِي تَقُولُ دَائِمًا: «أَنْتُمْ تَتَعَلَّمُونَ كُلَّ يَوْمٍ!».</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تَقَعُ</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located</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وَسَطِ</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centre</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يَبْدَأُ</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begins</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الِاسْتِرَاحَةِ</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break</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تَتَعَلَّمُونَ</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 (pl.) learn</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reads in the library?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male students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female students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plays football?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female students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male students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the teacher talking to in her saying?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students (you all)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herself</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girl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shows a general fact about the school?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يَقْرَأْنَ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تَقَعُ</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تَقُولُ</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reads in the library?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male students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female students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teacher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Yaqraʾna — ya- … -na = they (f.).</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plays football?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female students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teacher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male students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Yalʿabūna = they (m.).</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the teacher talking to in her saying?</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students (you all)</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herself</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girl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Antum tataʿallamūna.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shows a general fact about the school?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يَقْرَأْنَ</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تَقَعُ</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تَقُولُ</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Where the school is located.</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my routine — and theirs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كُلَّ صَبَاحٍ؟</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تَفْعَلُونَ فِي الْمَدْرَسَةِ؟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يَفْعَلُ صَدِيقُكَ؟ وَمَاذَا تَفْعَلُ صَدِيقَتُكَ؟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كُلَّ صَبَاحٍ ___ وَ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الْمَدْرَسَةِ ___ وَ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صَدِيقِي ___ ، وَصَدِيقَتِي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تَفْعَلِينَ بَعْدَ الْمَدْرَسَةِ؟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you do after school?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أَرْجِعُ إِلَى الْبَيْتِ وَأَكْتُبُ الْوَاجِبَ، ثُمَّ أَقْرَأُ الْقُرْآنَ مَعَ أُمِّي. أَخِي يَلْعَبُ فِي الْحَدِيقَةِ.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go home and write my homework, then I read the Qur’an with my mother. My brother plays in the garden.</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My routine: I wake up, I go, I study …</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for every verb.</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we, she, they and you (f.).</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Check both ends of the verb.</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with a habit, a current action and a general fact.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Include one hollow and one final-weak verb.</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الْآنَ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Now I am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أَصْدِقَائِي يَدْرُسُونَ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friends study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الْبَنَاتُ يَمْشِينَ إِلَى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girls walk to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تَفْعَلِينَ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What do you (f.) do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 يَوْمٍ أَسْتَيْقِظُ فِي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Every day I wake up at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نَذْهَبُ إِلَى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go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 يَلْعَبُ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plays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أُخْتِي تَقْرَأُ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reads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أَسْتَيْقِظُ  ·  أَذْهَبُ  ·  نَدْرُسُ  ·  يَلْعَبُ  ·  تَقْرَأُ  ·  تَكْتُبِينَ  ·  يَدْرُسُونَ  ·  يَكْتُبْنَ  ·  أَقُولُ  ·  نَمْشِي  ·  يَصِلُ  ·  كُلَّ يَوْمٍ  ·  الْآنَ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integrated production task: 120–140 words about your routine, priorities and a general fact.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Eight present verbs.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Six different persons.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habit, a current action and a general fact.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hollow verb and one final-weak verb.</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feminine plural or dual form.</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 يَوْمٍ</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every day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الْوَقْتِ الْحَالِيِّ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currently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أُرَكِّزُ عَلَى</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focus on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يَقُولُ الْمُعَلِّمُ</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teacher says</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يَمْشُونَ</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walk</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تَتَعَلَّمِينَ</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 (f.) learn</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أَسْتَيْقِظُ كُلَّ يَوْمٍ فِي السَّادِسَةِ وَأُصَلِّي الْفَجْرَ. بَعْدَ ذَلِكَ نَأْكُلُ الْفَطُورَ مَعًا، وَتَقُولُ أُمِّي: «لَا تَتَأَخَّرُوا!». أَخَوَايَ يَمْشِيَانِ إِلَى الْمَدْرَسَةِ، وَأَنَا أَرْكَبُ الْحَافِلَةَ. فِي الْوَقْتِ الْحَالِيِّ أُرَكِّزُ عَلَى الِامْتِحَانَاتِ، فَأَدْرُسُ كُلَّ مَسَاءٍ. أُخْتَايَ تَدْرُسَانِ فِي الْجَامِعَةِ، وَهُنَّ وَصَدِيقَاتُهُنَّ يَقْرَأْنَ كَثِيرًا. فِي مَدِينَتِنَا يَعِيشُ نَاسٌ مِنْ ثَقَافَاتٍ مُخْتَلِفَةٍ.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wake up every day at six and pray Fajr. After that we eat breakfast together, and my mother says: “Don’t be late!”. My two brothers walk to school, and I take the bus. Currently I am focusing on exams, so I study every evening. My two sisters study at university, and they and their friends read a lot. In our city people from different cultures live together.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prefix only</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prefix + suffix</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habit / now</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general fact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present verb starts with a-, na-, ya- or ta-.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She takes ta-; he takes ya-.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-īna, -ūna, -na or -āni where needed.</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Time words show habit or now.</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weak verbs are correct in the present.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 write”.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two (m.) write”.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تَكْتُبَانِ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يَكْتُبَانِ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يَكْتُبُونَ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(f.) write”.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يَكْتُبُونَ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 write”.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تَكْتُبِينَ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تَكْتُبُ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تَكْتُبْنَ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 -īna.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two (m.) write”.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تَكْتُبَانِ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يَكْتُبَانِ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يَكْتُبُونَ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Third-person masculine dual: yaktubāni.</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(f.) write”.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يَكْتُبْنَ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تَكْتُبْنَ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يَكْتُبُونَ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 … -na.</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GM-V-05 · 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GM-V-06: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GM-V-06 · Future Tense and Future Negation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سَـ</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will (attached)</a:t>
            </a:r>
            <a:pPr indent="0" marL="0">
              <a:buNone/>
            </a:pPr>
            <a:r>
              <a:rPr lang="ar-SA" sz="1000" i="1" dirty="0">
                <a:solidFill>
                  <a:srgbClr val="5A6472"/>
                </a:solidFill>
                <a:latin typeface="Calibri" pitchFamily="34" charset="0"/>
                <a:ea typeface="Amiri" pitchFamily="2" charset="-78"/>
                <a:cs typeface="Amiri" pitchFamily="2" charset="-78"/>
              </a:rPr>
              <a:t>  سَأَدْرُسُ</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سَوْفَ</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will (separate)</a:t>
            </a:r>
            <a:pPr indent="0" marL="0">
              <a:buNone/>
            </a:pPr>
            <a:r>
              <a:rPr lang="ar-SA" sz="1000" i="1" dirty="0">
                <a:solidFill>
                  <a:srgbClr val="5A6472"/>
                </a:solidFill>
                <a:latin typeface="Calibri" pitchFamily="34" charset="0"/>
                <a:ea typeface="Amiri" pitchFamily="2" charset="-78"/>
                <a:cs typeface="Amiri" pitchFamily="2" charset="-78"/>
              </a:rPr>
              <a:t>  سَوْفَ أَدْرُسُ</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will not</a:t>
            </a:r>
            <a:pPr indent="0" marL="0">
              <a:buNone/>
            </a:pPr>
            <a:r>
              <a:rPr lang="ar-SA" sz="1000" i="1" dirty="0">
                <a:solidFill>
                  <a:srgbClr val="5A6472"/>
                </a:solidFill>
                <a:latin typeface="Calibri" pitchFamily="34" charset="0"/>
                <a:ea typeface="Amiri" pitchFamily="2" charset="-78"/>
                <a:cs typeface="Amiri" pitchFamily="2" charset="-78"/>
              </a:rPr>
              <a:t>  لَنْ أَتَأَخَّرَ</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غَدًا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tomorrow</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الْمُسْتَقْبَلِ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the future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You know adrusu (I study). How do you think you say “I will study”?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أَدْرُسُ · ______ غَدًا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Conjugate laʿiba in the present for six persons.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Repair ten present forms with wrong prefixes or endings.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task: routine, priorities and a general fact.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GM-V-06 · Future Tense and Future Negation</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زَمَنُ الْمُسْتَقْبَلِ وَنَفْيُهُ</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 I · na- we · ya- he / they · ta- you / she · add -īna, -āni, -ūna, -na where needed · the present can mean habit, now or a general fact.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GM-V-05 · Present Tense: Prefixes, Suffixes and Meaning</dc:title>
  <dc:subject>PptxGenJS Presentation</dc:subject>
  <dc:creator>Al Madina Online School · Arabic Department</dc:creator>
  <cp:lastModifiedBy>Al Madina Online School · Arabic Department</cp:lastModifiedBy>
  <cp:revision>1</cp:revision>
  <dcterms:created xsi:type="dcterms:W3CDTF">2026-10-11T06:42:36Z</dcterms:created>
  <dcterms:modified xsi:type="dcterms:W3CDTF">2026-10-11T06:42:36Z</dcterms:modified>
</cp:coreProperties>
</file>