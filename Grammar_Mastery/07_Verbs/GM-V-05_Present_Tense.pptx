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GM-V-05 (“Present Tense: Prefixes, Suffixes and Meaning”).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four prefixes أَـ · نَـ · يَـ · تَـ with sound verbs (أَكْتُبُ · نَكْتُبُ · يَكْتُبُ · تَكْتُبُ). Develop: suffix persons — تَكْتُبِينَ · يَكْتُبُونَ · يَكْتُبْنَ · تَكْتُبَانِ. Stretch: weak verbs in the present (أَقُولُ · تَصِلُ · يَمْشُونَ · تَدْعِينَ) and meaning from context (habit, now, general fact).
• Website warning: the Arabic present is not one English tense — أَقْرَأُ can be “I read” or “I am reading”.
• Prefix memory hook: أَنَيْت (a-, na-, ya-, ta-) — the four letters every present verb starts with.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5 and 6) — it uses the forms prepared at the end of GM-V-04.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Present = PREFIX for the person (a-, na-, ya-, ta-) + sometimes a SUFFIX (-īna, -āni, -ūna, -na).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prefix family”. Hook: a – na – ya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complete present paradigm”. Colour prefixes and box suffixes (website routine).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“Habit, current action and general truth” and “Present forms of weak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Prefix and Present Ending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with the subject placed first so the plural verb agrees fully. Stretch note: when the verb comes first it stays singular (yadrusu aṣdiqāʾī) — see the Verbal Sentences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pronoun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pronoun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Meaning in Context and Present Weak Verb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 Read it aloud once while students follow; then they hunt for today’s grammar.
Task: Website: use prefixes and suffixes to identify speakers, addressees and reported people.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one-minute routine answer, then change the subject from I to we, and from a male to a female friend. Listening (website): minimal contrasts taktubu / taktubīna / yaktubūna / yaktubna.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about your routine, current priorities and one general fact about your school or community, with eight present verbs and six different persons.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(GM-V-06 · Future Tense and Future Negation) will spend class time USING this language, so students prepare it tonight — short, simple, easy to access (school guidance: “Simple, Short, Interesting, Relevant, Easy to access”). The five words prepare GM-V-06 (website Verbs lesson 6: the future and its negation).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Present Tense: Prefixes, Suffixes and Meaning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الْفِعْلُ الْمُضَارِعُ: السَّوَابِقُ وَاللَّوَاحِقُ وَالدَّلَالَةُ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present shows the person at the FRONT (a- I, na- we, ya- he, ta- you / she) and sometimes at the END too (-īna you f., -āni two, -ūna they, -na they f.). The same form can mean “I write” or “I am writing” — context decides.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Prefix family; full paradigm; meaning in context; weak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form; sort by prefix;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تَكْتُبِينَ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tense can express…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habit, current action or general fact depending on context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 only and never habit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تَكْتُبِينَ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marks “I”.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marks “we”.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تَكْتُبِينَ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(f.) takes ta-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يَكْتُبْنَ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(f.) take ya- … -na.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tense can express…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habit, current action or general fact depending on context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 only and never habit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Time expressions and context determine the reading.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Present = PREFIX for the person (a-, na-, ya-, ta-) + sometimes a SUFFIX (-īna, -āni, -ūna, -na).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أَكْتُبُ</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نَكْتُبُ</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تَكْتُبِينَ</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يَكْتُبُونَ</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prefixes a-, na-, ya- and ta-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suffixes for feminine, dual and plural persons.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habit, current action or general fact from context.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Conjugate common weak verbs in the present.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we, he and she write.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ta- can mean you (m.) or she.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you (f.), they and they (f.) write.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every day and now to show meaning.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conjugate qāla, waṣala and mashā in the present.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general fact in the present.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الْمُضَارِعُ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 tense</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السَّابِقَةُ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prefix</a:t>
            </a:r>
            <a:endParaRPr lang="en-US" sz="1350" dirty="0"/>
          </a:p>
          <a:p>
            <a:pPr indent="0" marL="0">
              <a:buNone/>
            </a:pPr>
            <a:r>
              <a:rPr lang="en-US" sz="1100" i="1" dirty="0">
                <a:solidFill>
                  <a:srgbClr val="5A6472"/>
                </a:solidFill>
                <a:latin typeface="Calibri" pitchFamily="34" charset="0"/>
                <a:cs typeface="Amiri" pitchFamily="2" charset="-78"/>
              </a:rPr>
              <a:t>as-sā-bi-qa-tu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 · نَ · يَ · 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اللَّاحِقَةُ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suffix</a:t>
            </a:r>
            <a:endParaRPr lang="en-US" sz="1350" dirty="0"/>
          </a:p>
          <a:p>
            <a:pPr indent="0" marL="0">
              <a:buNone/>
            </a:pPr>
            <a:r>
              <a:rPr lang="en-US" sz="1100" i="1" dirty="0">
                <a:solidFill>
                  <a:srgbClr val="5A6472"/>
                </a:solidFill>
                <a:latin typeface="Calibri" pitchFamily="34" charset="0"/>
                <a:cs typeface="Amiri" pitchFamily="2" charset="-78"/>
              </a:rPr>
              <a:t>all-lā-ḥi-qa-tu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ـِينَ · ـُونَ · ـْنَ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الْعَادَةُ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a:t>
            </a:r>
            <a:endParaRPr lang="en-US" sz="1350" dirty="0"/>
          </a:p>
          <a:p>
            <a:pPr indent="0" marL="0">
              <a:buNone/>
            </a:pPr>
            <a:r>
              <a:rPr lang="en-US" sz="1100" i="1" dirty="0">
                <a:solidFill>
                  <a:srgbClr val="5A6472"/>
                </a:solidFill>
                <a:latin typeface="Calibri" pitchFamily="34" charset="0"/>
                <a:cs typeface="Amiri" pitchFamily="2" charset="-78"/>
              </a:rPr>
              <a:t>al-ʿā-da-tu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أَقْرَأُ كُلَّ يَوْمٍ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الْحَدَثُ الْآنَ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current action</a:t>
            </a:r>
            <a:endParaRPr lang="en-US" sz="1350" dirty="0"/>
          </a:p>
          <a:p>
            <a:pPr indent="0" marL="0">
              <a:buNone/>
            </a:pPr>
            <a:r>
              <a:rPr lang="en-US" sz="1100" i="1" dirty="0">
                <a:solidFill>
                  <a:srgbClr val="5A6472"/>
                </a:solidFill>
                <a:latin typeface="Calibri" pitchFamily="34" charset="0"/>
                <a:cs typeface="Amiri" pitchFamily="2" charset="-78"/>
              </a:rPr>
              <a:t>al-ḥa-da-thu al-ʾā-na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أَقْرَأُ الْآنَ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حَقِيقَةٌ عَامَّةٌ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general fact</a:t>
            </a:r>
            <a:endParaRPr lang="en-US" sz="1350" dirty="0"/>
          </a:p>
          <a:p>
            <a:pPr indent="0" marL="0">
              <a:buNone/>
            </a:pPr>
            <a:r>
              <a:rPr lang="en-US" sz="1100" i="1" dirty="0">
                <a:solidFill>
                  <a:srgbClr val="5A6472"/>
                </a:solidFill>
                <a:latin typeface="Calibri" pitchFamily="34" charset="0"/>
                <a:cs typeface="Amiri" pitchFamily="2" charset="-78"/>
              </a:rPr>
              <a:t>ḥa-qī-qa-tun ʿām-ma-tun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تَدُورُ الْأَرْضُ</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PREFIX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front of the verb tells you who</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السَّوَابِقُ: أَ · نَ · يَ · 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7249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person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Prefix</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أَكْتُبُ</a:t>
            </a:r>
            <a:endParaRPr lang="ar-SA" sz="2600" dirty="0"/>
          </a:p>
        </p:txBody>
      </p:sp>
      <p:sp>
        <p:nvSpPr>
          <p:cNvPr id="21" name="Text 18"/>
          <p:cNvSpPr txBox="1"/>
          <p:nvPr/>
        </p:nvSpPr>
        <p:spPr>
          <a:xfrm>
            <a:off x="2761488" y="2267712"/>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أَـ</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نَكْتُبُ</a:t>
            </a:r>
            <a:endParaRPr lang="ar-SA" sz="2600" dirty="0"/>
          </a:p>
        </p:txBody>
      </p:sp>
      <p:sp>
        <p:nvSpPr>
          <p:cNvPr id="27" name="Text 24"/>
          <p:cNvSpPr txBox="1"/>
          <p:nvPr/>
        </p:nvSpPr>
        <p:spPr>
          <a:xfrm>
            <a:off x="2761488" y="3054096"/>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28" name="Text 25"/>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نَـ</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a:t>
            </a:r>
            <a:endParaRPr lang="ar-SA" sz="2600" dirty="0"/>
          </a:p>
        </p:txBody>
      </p:sp>
      <p:sp>
        <p:nvSpPr>
          <p:cNvPr id="33" name="Text 30"/>
          <p:cNvSpPr txBox="1"/>
          <p:nvPr/>
        </p:nvSpPr>
        <p:spPr>
          <a:xfrm>
            <a:off x="2761488" y="3840480"/>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and many third-person forms</a:t>
            </a:r>
            <a:endParaRPr lang="en-US" sz="1100" dirty="0"/>
          </a:p>
        </p:txBody>
      </p:sp>
      <p:sp>
        <p:nvSpPr>
          <p:cNvPr id="34" name="Text 31"/>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يَـ</a:t>
            </a:r>
            <a:endParaRPr lang="ar-SA" sz="2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a:t>
            </a:r>
            <a:endParaRPr lang="ar-SA" sz="2600" dirty="0"/>
          </a:p>
        </p:txBody>
      </p:sp>
      <p:sp>
        <p:nvSpPr>
          <p:cNvPr id="39" name="Text 36"/>
          <p:cNvSpPr txBox="1"/>
          <p:nvPr/>
        </p:nvSpPr>
        <p:spPr>
          <a:xfrm>
            <a:off x="2761488" y="4626864"/>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she, and several dual / plural forms</a:t>
            </a:r>
            <a:endParaRPr lang="en-US" sz="1100" dirty="0"/>
          </a:p>
        </p:txBody>
      </p:sp>
      <p:sp>
        <p:nvSpPr>
          <p:cNvPr id="40" name="Text 37"/>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تَـ</a:t>
            </a:r>
            <a:endParaRPr lang="ar-SA" sz="26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taktubu is ambiguous on its own — “you (m.) write” or “she writes”. The pronoun, noun or conversation decides.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COMPLETE PRESENT PARADIGM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Prefix + suffix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writes</a:t>
            </a:r>
            <a:endParaRPr lang="en-US" sz="1100" dirty="0"/>
          </a:p>
        </p:txBody>
      </p:sp>
      <p:sp>
        <p:nvSpPr>
          <p:cNvPr id="17" name="Text 14"/>
          <p:cNvSpPr txBox="1"/>
          <p:nvPr/>
        </p:nvSpPr>
        <p:spPr>
          <a:xfrm>
            <a:off x="56509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63840" y="2267712"/>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نَكْتُبُ</a:t>
            </a:r>
            <a:endParaRPr lang="ar-SA" sz="2400" dirty="0"/>
          </a:p>
        </p:txBody>
      </p:sp>
      <p:sp>
        <p:nvSpPr>
          <p:cNvPr id="22" name="Text 19"/>
          <p:cNvSpPr txBox="1"/>
          <p:nvPr/>
        </p:nvSpPr>
        <p:spPr>
          <a:xfrm>
            <a:off x="566928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أَكْتُبُ</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63840" y="2881884"/>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تَكْتُبِينَ</a:t>
            </a:r>
            <a:endParaRPr lang="ar-SA" sz="2400" dirty="0"/>
          </a:p>
        </p:txBody>
      </p:sp>
      <p:sp>
        <p:nvSpPr>
          <p:cNvPr id="29" name="Text 26"/>
          <p:cNvSpPr txBox="1"/>
          <p:nvPr/>
        </p:nvSpPr>
        <p:spPr>
          <a:xfrm>
            <a:off x="566928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863840" y="3496056"/>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a:t>
            </a:r>
            <a:endParaRPr lang="ar-SA" sz="2400" dirty="0"/>
          </a:p>
        </p:txBody>
      </p:sp>
      <p:sp>
        <p:nvSpPr>
          <p:cNvPr id="36" name="Text 33"/>
          <p:cNvSpPr txBox="1"/>
          <p:nvPr/>
        </p:nvSpPr>
        <p:spPr>
          <a:xfrm>
            <a:off x="566928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863840" y="4110228"/>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يَكْتُبْنَ</a:t>
            </a:r>
            <a:endParaRPr lang="ar-SA" sz="2400" dirty="0"/>
          </a:p>
        </p:txBody>
      </p:sp>
      <p:sp>
        <p:nvSpPr>
          <p:cNvPr id="43" name="Text 40"/>
          <p:cNvSpPr txBox="1"/>
          <p:nvPr/>
        </p:nvSpPr>
        <p:spPr>
          <a:xfrm>
            <a:off x="566928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يَكْتُبُونَ</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863840" y="4724400"/>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تَكْتُبْنَ</a:t>
            </a:r>
            <a:endParaRPr lang="ar-SA" sz="2400" dirty="0"/>
          </a:p>
        </p:txBody>
      </p:sp>
      <p:sp>
        <p:nvSpPr>
          <p:cNvPr id="48" name="Text 45"/>
          <p:cNvSpPr txBox="1"/>
          <p:nvPr/>
        </p:nvSpPr>
        <p:spPr>
          <a:xfrm>
            <a:off x="566928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تَكْتُبُونَ</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863840" y="5338572"/>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تَكْتُبَانِ</a:t>
            </a:r>
            <a:endParaRPr lang="ar-SA" sz="2400" dirty="0"/>
          </a:p>
        </p:txBody>
      </p:sp>
      <p:sp>
        <p:nvSpPr>
          <p:cNvPr id="53" name="Text 50"/>
          <p:cNvSpPr txBox="1"/>
          <p:nvPr/>
        </p:nvSpPr>
        <p:spPr>
          <a:xfrm>
            <a:off x="566928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أَنْتُمَا</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يَكْتُبَانِ</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هُمَا</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duals, masculine plurals, “you (f.)” and feminine plurals need BOTH ends. Dual: humā (m.) yaktubāni, humā (f.) taktubāni.</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MEANING IN CONTEXT · WEAK VERBS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Habit, now, fact — and weak stems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الدَّلَالَةُ وَالْأَفْعَالُ الْمُعْتَلَّةُ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4564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Point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 day → habit</a:t>
            </a:r>
            <a:endParaRPr lang="en-US" sz="1100" dirty="0"/>
          </a:p>
        </p:txBody>
      </p:sp>
      <p:sp>
        <p:nvSpPr>
          <p:cNvPr id="21" name="Text 18"/>
          <p:cNvSpPr txBox="1"/>
          <p:nvPr/>
        </p:nvSpPr>
        <p:spPr>
          <a:xfrm>
            <a:off x="347472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كُلَّ يَوْمٍ.</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habit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 happening now</a:t>
            </a:r>
            <a:endParaRPr lang="en-US" sz="1100" dirty="0"/>
          </a:p>
        </p:txBody>
      </p:sp>
      <p:sp>
        <p:nvSpPr>
          <p:cNvPr id="27" name="Text 24"/>
          <p:cNvSpPr txBox="1"/>
          <p:nvPr/>
        </p:nvSpPr>
        <p:spPr>
          <a:xfrm>
            <a:off x="347472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الْآنَ.</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action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general knowledge</a:t>
            </a:r>
            <a:endParaRPr lang="en-US" sz="1100" dirty="0"/>
          </a:p>
        </p:txBody>
      </p:sp>
      <p:sp>
        <p:nvSpPr>
          <p:cNvPr id="33" name="Text 30"/>
          <p:cNvSpPr txBox="1"/>
          <p:nvPr/>
        </p:nvSpPr>
        <p:spPr>
          <a:xfrm>
            <a:off x="347472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تَدُورُ الْأَرْضُ حَوْلَ الشَّمْسِ.</a:t>
            </a:r>
            <a:endParaRPr lang="ar-SA" sz="22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general fact</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 ū stays</a:t>
            </a:r>
            <a:endParaRPr lang="en-US" sz="1100" dirty="0"/>
          </a:p>
        </p:txBody>
      </p:sp>
      <p:sp>
        <p:nvSpPr>
          <p:cNvPr id="37" name="Text 34"/>
          <p:cNvSpPr txBox="1"/>
          <p:nvPr/>
        </p:nvSpPr>
        <p:spPr>
          <a:xfrm>
            <a:off x="347472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أَقُولُ · تَقُولِينَ · يَقُولُونَ</a:t>
            </a:r>
            <a:endParaRPr lang="ar-SA" sz="22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wāw</a:t>
            </a:r>
            <a:endParaRPr lang="en-US" sz="1100" dirty="0"/>
          </a:p>
        </p:txBody>
      </p:sp>
      <p:sp>
        <p:nvSpPr>
          <p:cNvPr id="41" name="Text 38"/>
          <p:cNvSpPr txBox="1"/>
          <p:nvPr/>
        </p:nvSpPr>
        <p:spPr>
          <a:xfrm>
            <a:off x="347472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أَصِلُ · تَصِلِينَ · يَصِلُونَ</a:t>
            </a:r>
            <a:endParaRPr lang="ar-SA" sz="22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weak</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drops the yāʾ</a:t>
            </a:r>
            <a:endParaRPr lang="en-US" sz="1100" dirty="0"/>
          </a:p>
        </p:txBody>
      </p:sp>
      <p:sp>
        <p:nvSpPr>
          <p:cNvPr id="45" name="Text 42"/>
          <p:cNvSpPr txBox="1"/>
          <p:nvPr/>
        </p:nvSpPr>
        <p:spPr>
          <a:xfrm>
            <a:off x="347472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أَمْشِي · تَمْشِينَ · يَمْشُونَ</a:t>
            </a:r>
            <a:endParaRPr lang="ar-SA" sz="22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Arabic present can be “I write”, “I am writing”, or an arranged future — strengthen a future with sa- (GM-V-06).</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يُسَافِرُونَ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تُسَافِرِينَ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نُسَافِرُ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can mean “she writes”?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 mixed)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يَدْرُسُونَ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study”.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travel”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يُسَافِرُونَ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تُسَافِرِينَ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نُسَافِرُ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can mean “she writes”?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تَكْتُبُ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أَكْتُبُ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can mark “she”.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 mixed)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يَدْرُسُونَ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-ūna.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study”.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يَدْرُسْنَ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feminine plural uses ya- … -na.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Watch me build the present from the subject</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أُخْتِي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تَسْتَيْقِظُ</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ta- + stem.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أَصْدِقَائِي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 ya- … -ūna.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يَدْرُسُونَ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ends.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PREFIX ONLY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PREFIX + SUFFIX</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550" b="1" dirty="0">
                <a:solidFill>
                  <a:srgbClr val="0E7C86"/>
                </a:solidFill>
                <a:latin typeface="Amiri" pitchFamily="2" charset="-78"/>
                <a:ea typeface="Amiri" pitchFamily="2" charset="-78"/>
                <a:cs typeface="Amiri" pitchFamily="2" charset="-78"/>
              </a:rPr>
              <a:t>أَسْتَيْقِظُ</a:t>
            </a:r>
            <a:pPr rtl="1" algn="r" indent="0" marL="0">
              <a:buNone/>
            </a:pPr>
            <a:r>
              <a:rPr lang="ar-SA" altLang="en-US" sz="2550" b="1" dirty="0">
                <a:solidFill>
                  <a:srgbClr val="1B3B6F"/>
                </a:solidFill>
                <a:latin typeface="Amiri" pitchFamily="2" charset="-78"/>
                <a:ea typeface="Amiri" pitchFamily="2" charset="-78"/>
                <a:cs typeface="Amiri" pitchFamily="2" charset="-78"/>
              </a:rPr>
              <a:t> مُبَكِّرًا، وَ</a:t>
            </a:r>
            <a:pPr rtl="1" algn="r" indent="0" marL="0">
              <a:buNone/>
            </a:pPr>
            <a:r>
              <a:rPr lang="ar-SA" altLang="en-US" sz="2550" b="1" dirty="0">
                <a:solidFill>
                  <a:srgbClr val="0E7C86"/>
                </a:solidFill>
                <a:latin typeface="Amiri" pitchFamily="2" charset="-78"/>
                <a:ea typeface="Amiri" pitchFamily="2" charset="-78"/>
                <a:cs typeface="Amiri" pitchFamily="2" charset="-78"/>
              </a:rPr>
              <a:t>تَسْتَيْقِظُ</a:t>
            </a:r>
            <a:pPr rtl="1" algn="r" indent="0" marL="0">
              <a:buNone/>
            </a:pPr>
            <a:r>
              <a:rPr lang="ar-SA" altLang="en-US" sz="2550" b="1" dirty="0">
                <a:solidFill>
                  <a:srgbClr val="1B3B6F"/>
                </a:solidFill>
                <a:latin typeface="Amiri" pitchFamily="2" charset="-78"/>
                <a:ea typeface="Amiri" pitchFamily="2" charset="-78"/>
                <a:cs typeface="Amiri" pitchFamily="2" charset="-78"/>
              </a:rPr>
              <a:t> أُخْتِي بَعْدِي. </a:t>
            </a:r>
            <a:pPr rtl="1" algn="r" indent="0" marL="0">
              <a:buNone/>
            </a:pPr>
            <a:r>
              <a:rPr lang="ar-SA" altLang="en-US" sz="2550" b="1" dirty="0">
                <a:solidFill>
                  <a:srgbClr val="0E7C86"/>
                </a:solidFill>
                <a:latin typeface="Amiri" pitchFamily="2" charset="-78"/>
                <a:ea typeface="Amiri" pitchFamily="2" charset="-78"/>
                <a:cs typeface="Amiri" pitchFamily="2" charset="-78"/>
              </a:rPr>
              <a:t>نَذْهَبُ</a:t>
            </a:r>
            <a:pPr rtl="1" algn="r" indent="0" marL="0">
              <a:buNone/>
            </a:pPr>
            <a:r>
              <a:rPr lang="ar-SA" altLang="en-US" sz="2550" b="1" dirty="0">
                <a:solidFill>
                  <a:srgbClr val="1B3B6F"/>
                </a:solidFill>
                <a:latin typeface="Amiri" pitchFamily="2" charset="-78"/>
                <a:ea typeface="Amiri" pitchFamily="2" charset="-78"/>
                <a:cs typeface="Amiri" pitchFamily="2" charset="-78"/>
              </a:rPr>
              <a:t> إِلَى الْمَدْرَسَةِ مَعًا، وَأَصْدِقَائِي </a:t>
            </a:r>
            <a:pPr rtl="1" algn="r" indent="0" marL="0">
              <a:buNone/>
            </a:pPr>
            <a:r>
              <a:rPr lang="ar-SA" altLang="en-US" sz="2550" b="1" dirty="0">
                <a:solidFill>
                  <a:srgbClr val="D6336C"/>
                </a:solidFill>
                <a:latin typeface="Amiri" pitchFamily="2" charset="-78"/>
                <a:ea typeface="Amiri" pitchFamily="2" charset="-78"/>
                <a:cs typeface="Amiri" pitchFamily="2" charset="-78"/>
              </a:rPr>
              <a:t>يَدْرُسُونَ</a:t>
            </a:r>
            <a:pPr rtl="1" algn="r" indent="0" marL="0">
              <a:buNone/>
            </a:pPr>
            <a:r>
              <a:rPr lang="ar-SA" altLang="en-US" sz="2550" b="1" dirty="0">
                <a:solidFill>
                  <a:srgbClr val="1B3B6F"/>
                </a:solidFill>
                <a:latin typeface="Amiri" pitchFamily="2" charset="-78"/>
                <a:ea typeface="Amiri" pitchFamily="2" charset="-78"/>
                <a:cs typeface="Amiri" pitchFamily="2" charset="-78"/>
              </a:rPr>
              <a:t> مَوَادَّ مُخْتَلِفَةً.</a:t>
            </a:r>
            <a:endParaRPr lang="ar-SA" sz="2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wake up early, and my sister wakes up after me. We go to school together, and my friends study different subjects.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أَقْرَأُ قَبْلَ النَّوْمِ كُلَّ لَيْلَةٍ.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read before sleeping every night.</a:t>
            </a:r>
            <a:endParaRPr lang="en-US" sz="1250" dirty="0"/>
          </a:p>
          <a:p>
            <a:pPr indent="0" marL="0">
              <a:buNone/>
            </a:pPr>
            <a:r>
              <a:rPr lang="en-US" sz="1050" i="1" dirty="0">
                <a:solidFill>
                  <a:srgbClr val="8A6D1E"/>
                </a:solidFill>
                <a:latin typeface="Calibri" pitchFamily="34" charset="0"/>
                <a:cs typeface="Amiri" pitchFamily="2" charset="-78"/>
              </a:rPr>
              <a:t>Habit.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مَاذَا تَفْعَلِينَ الْآنَ؟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are you doing now? (to a girl)</a:t>
            </a:r>
            <a:endParaRPr lang="en-US" sz="1250" dirty="0"/>
          </a:p>
          <a:p>
            <a:pPr indent="0" marL="0">
              <a:buNone/>
            </a:pPr>
            <a:r>
              <a:rPr lang="en-US" sz="1050" i="1" dirty="0">
                <a:solidFill>
                  <a:srgbClr val="8A6D1E"/>
                </a:solidFill>
                <a:latin typeface="Calibri" pitchFamily="34" charset="0"/>
                <a:cs typeface="Amiri" pitchFamily="2" charset="-78"/>
              </a:rPr>
              <a:t>ta- … -īna.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تَشْرُقُ الشَّمْسُ مِنَ الشَّرْقِ.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sun rises in the east.</a:t>
            </a:r>
            <a:endParaRPr lang="en-US" sz="1250" dirty="0"/>
          </a:p>
          <a:p>
            <a:pPr indent="0" marL="0">
              <a:buNone/>
            </a:pPr>
            <a:r>
              <a:rPr lang="en-US" sz="1050" i="1" dirty="0">
                <a:solidFill>
                  <a:srgbClr val="8A6D1E"/>
                </a:solidFill>
                <a:latin typeface="Calibri" pitchFamily="34" charset="0"/>
                <a:cs typeface="Amiri" pitchFamily="2" charset="-78"/>
              </a:rPr>
              <a:t>General fact.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الطَّالِبَاتُ يَكْتُبْنَ الْوَاجِبَ.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are writing the homework.</a:t>
            </a:r>
            <a:endParaRPr lang="en-US" sz="1250" dirty="0"/>
          </a:p>
          <a:p>
            <a:pPr indent="0" marL="0">
              <a:buNone/>
            </a:pPr>
            <a:r>
              <a:rPr lang="en-US" sz="1050" i="1" dirty="0">
                <a:solidFill>
                  <a:srgbClr val="8A6D1E"/>
                </a:solidFill>
                <a:latin typeface="Calibri" pitchFamily="34" charset="0"/>
                <a:cs typeface="Amiri" pitchFamily="2" charset="-78"/>
              </a:rPr>
              <a:t>ya- … -na.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PERSON BUILDER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 + verb = present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كَوِّنِ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 form</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2" name="Text 19"/>
          <p:cNvSpPr txBox="1"/>
          <p:nvPr/>
        </p:nvSpPr>
        <p:spPr>
          <a:xfrm>
            <a:off x="530352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أَكْتُبُ</a:t>
            </a:r>
            <a:endParaRPr lang="ar-SA" sz="2600" dirty="0"/>
          </a:p>
        </p:txBody>
      </p:sp>
      <p:sp>
        <p:nvSpPr>
          <p:cNvPr id="23" name="Text 20"/>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-īna</a:t>
            </a:r>
            <a:endParaRPr lang="en-US" sz="1100" dirty="0"/>
          </a:p>
        </p:txBody>
      </p:sp>
      <p:sp>
        <p:nvSpPr>
          <p:cNvPr id="29" name="Text 26"/>
          <p:cNvSpPr txBox="1"/>
          <p:nvPr/>
        </p:nvSpPr>
        <p:spPr>
          <a:xfrm>
            <a:off x="530352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تَدْرُسِينَ</a:t>
            </a:r>
            <a:endParaRPr lang="ar-SA" sz="2600" dirty="0"/>
          </a:p>
        </p:txBody>
      </p:sp>
      <p:sp>
        <p:nvSpPr>
          <p:cNvPr id="30" name="Text 27"/>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 (hollow)</a:t>
            </a:r>
            <a:endParaRPr lang="en-US" sz="1100" dirty="0"/>
          </a:p>
        </p:txBody>
      </p:sp>
      <p:sp>
        <p:nvSpPr>
          <p:cNvPr id="36" name="Text 33"/>
          <p:cNvSpPr txBox="1"/>
          <p:nvPr/>
        </p:nvSpPr>
        <p:spPr>
          <a:xfrm>
            <a:off x="530352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يَقُولُونَ</a:t>
            </a:r>
            <a:endParaRPr lang="ar-SA" sz="2600" dirty="0"/>
          </a:p>
        </p:txBody>
      </p:sp>
      <p:sp>
        <p:nvSpPr>
          <p:cNvPr id="37" name="Text 34"/>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قَالَ</a:t>
            </a:r>
            <a:endParaRPr lang="ar-SA" sz="24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-na</a:t>
            </a:r>
            <a:endParaRPr lang="en-US" sz="1100" dirty="0"/>
          </a:p>
        </p:txBody>
      </p:sp>
      <p:sp>
        <p:nvSpPr>
          <p:cNvPr id="43" name="Text 40"/>
          <p:cNvSpPr txBox="1"/>
          <p:nvPr/>
        </p:nvSpPr>
        <p:spPr>
          <a:xfrm>
            <a:off x="530352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يَكْتُبْنَ</a:t>
            </a:r>
            <a:endParaRPr lang="ar-SA" sz="2600" dirty="0"/>
          </a:p>
        </p:txBody>
      </p:sp>
      <p:sp>
        <p:nvSpPr>
          <p:cNvPr id="44" name="Text 41"/>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-ūna (no wāw)</a:t>
            </a:r>
            <a:endParaRPr lang="en-US" sz="1100" dirty="0"/>
          </a:p>
        </p:txBody>
      </p:sp>
      <p:sp>
        <p:nvSpPr>
          <p:cNvPr id="48" name="Text 45"/>
          <p:cNvSpPr txBox="1"/>
          <p:nvPr/>
        </p:nvSpPr>
        <p:spPr>
          <a:xfrm>
            <a:off x="530352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تَصِلُونَ</a:t>
            </a:r>
            <a:endParaRPr lang="ar-SA" sz="2600" dirty="0"/>
          </a:p>
        </p:txBody>
      </p:sp>
      <p:sp>
        <p:nvSpPr>
          <p:cNvPr id="49" name="Text 46"/>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a:t>
            </a:r>
            <a:endParaRPr lang="ar-SA" sz="24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(final weak)</a:t>
            </a:r>
            <a:endParaRPr lang="en-US" sz="1100" dirty="0"/>
          </a:p>
        </p:txBody>
      </p:sp>
      <p:sp>
        <p:nvSpPr>
          <p:cNvPr id="53" name="Text 50"/>
          <p:cNvSpPr txBox="1"/>
          <p:nvPr/>
        </p:nvSpPr>
        <p:spPr>
          <a:xfrm>
            <a:off x="530352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نَمْشِي</a:t>
            </a:r>
            <a:endParaRPr lang="ar-SA" sz="2600" dirty="0"/>
          </a:p>
        </p:txBody>
      </p:sp>
      <p:sp>
        <p:nvSpPr>
          <p:cNvPr id="54" name="Text 51"/>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مَشَى</a:t>
            </a:r>
            <a:endParaRPr lang="ar-SA" sz="24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person builder: start from the subject, choose the prefix, then add any suffix.</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ONE END OR BOTH ENDS?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Prefix only, or prefix + suffix?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سَابِقَةٌ فَقَطْ أَمْ سَابِقَةٌ وَلَاحِقَةٌ؟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أَلْعَبُ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تَلْعَبِينَ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نَلْعَبُ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تَلْعَبُ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تَلْعَبَانِ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Prefix only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Prefix + suffix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Prefix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أَلْعَبُ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نَلْعَبُ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تَلْعَبُ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Prefix + suffix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تَلْعَبِينَ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يَلْعَبُونَ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تَلْعَبَانِ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يَكْتُبُ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prefix for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أَنْتِ تَكْتُبُ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ending for you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هُنَّ تَكْتُبْنَ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ta- for they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يَكْتُبُ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takes ta-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أَنْتِ تَكْتُبُ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أَنْتِ تَكْتُبِينَ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-īna for you (f.)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هُنَّ تَكْتُبْنَ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هُنَّ يَكْتُبْنَ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They (f.) begin with ya-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cs typeface="Amiri" pitchFamily="2" charset="-78"/>
              </a:rPr>
              <a:t>WE DO · GUIDED PRACTICE · WEBSITE MEANING IN CONTEXT AND PRESENT WEAK VERB CHECKS</a:t>
            </a:r>
            <a:endParaRPr lang="en-US" sz="84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adrusu l-āna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studied yesterday.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never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studying now.</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amshī kulla ṣabāḥin mean?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walked once.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walk every morning.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walk”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يَمْشِيُونَ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يَمْشُونَ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يَمْشَوْنَ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call / invite”.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تَدْعُوينَ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تَدْعُو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تَدْعِينَ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adrusu l-āna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studied yesterday.</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will never study.</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studying now.</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Al-āna signals a current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amshī kulla ṣabāḥin mean?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walked once.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walk every morning.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routine.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walk”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يَمْشِيُونَ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يَمْشُونَ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يَمْشَوْنَ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yāʾ verb, present plural: yamshūna.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call / invite”.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تَدْعُوينَ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تَدْعُو</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تَدْعِينَ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wāw changes before -īna.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WORKSHOP (TEACHER-WRITTEN PROFILE)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تَقَعُ مَدْرَسَتُنَا فِي وَسَطِ الْمَدِينَةِ. يَدْرُسُ فِيهَا خَمْسُمِئَةِ طَالِبٍ وَطَالِبَةٍ. يَبْدَأُ الْيَوْمُ الدِّرَاسِيُّ فِي الثَّامِنَةِ. الطُّلَّابُ يَلْعَبُونَ كُرَةَ الْقَدَمِ فِي الِاسْتِرَاحَةِ، وَالطَّالِبَاتُ يَقْرَأْنَ فِي الْمَكْتَبَةِ. مُعَلِّمَتِي تَقُولُ دَائِمًا: «أَنْتُمْ تَتَعَلَّمُونَ كُلَّ 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located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وَسَطِ</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centre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يَبْدَأُ</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begins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break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تَتَعَلَّمُونَ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(pl.) learn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reads in the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male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male students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teacher talking to in her saying?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(you all)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herself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girl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general fact about the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يَقْرَأْنَ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reads in the library?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male students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female students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Yaqraʾna — ya- … -na = they (f.).</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female students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male students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Yalʿabūna = they (m.).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teacher talking to in her saying?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students (you all)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herself</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girl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Antum tataʿallamūna.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general fact about the school?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يَقْرَأْنَ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Where the school is located.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routine — and theirs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كُلَّ 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تَفْعَلُونَ فِي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يَفْعَلُ صَدِيقُكَ؟ وَمَاذَا تَفْعَلُ صَدِيقَتُكَ؟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كُلَّ صَبَاحٍ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الْمَدْرَسَةِ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صَدِيقِي ___ ، وَصَدِيقَتِي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تَفْعَلِينَ بَعْدَ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after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أَرْجِعُ إِلَى الْبَيْتِ وَأَكْتُبُ الْوَاجِبَ، ثُمَّ أَقْرَأُ الْقُرْآنَ مَعَ أُمِّي. أَخِي يَلْعَبُ فِي الْحَدِيقَةِ.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go home and write my homework, then I read the Qur’an with my mother. My brother plays in the garden.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routine: I wake up, I go, I study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for every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we, she, they and you (f.).</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both ends of the verb.</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habit, a current action and a general fact.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one hollow and one final-weak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الْآنَ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am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يَدْرُسُونَ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study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الْبَنَاتُ يَمْشِينَ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walk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do you (f.) do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يَوْمٍ أَسْتَيْقِظُ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wake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go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يَلْعَبُ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plays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تَقْرَأُ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reads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أَذْهَبُ  ·  نَدْرُسُ  ·  يَلْعَبُ  ·  تَقْرَأُ  ·  تَكْتُبِينَ  ·  يَدْرُسُونَ  ·  يَكْتُبْنَ  ·  أَقُولُ  ·  نَمْشِي  ·  يَصِلُ  ·  كُلَّ يَوْمٍ  ·  الْآنَ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120–140 words about your routine, priorities and a general fact.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Eight present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different persons.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habit, a current action and a general fact.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hollow verb and one final-weak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feminine plural or dual form.</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الْوَقْتِ الْحَالِيِّ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currently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أُرَكِّزُ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focus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يَقُولُ الْمُعَلِّمُ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 says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يَمْشُونَ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walk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تَتَعَلَّمِينَ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(f.) learn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أَسْتَيْقِظُ كُلَّ يَوْمٍ فِي السَّادِسَةِ وَأُصَلِّي الْفَجْرَ. بَعْدَ ذَلِكَ نَأْكُلُ الْفَطُورَ مَعًا، وَتَقُولُ أُمِّي: «لَا تَتَأَخَّرُوا!». أَخَوَايَ يَمْشِيَانِ إِلَى الْمَدْرَسَةِ، وَأَنَا أَرْكَبُ الْحَافِلَةَ. فِي الْوَقْتِ الْحَالِيِّ أُرَكِّزُ عَلَى الِامْتِحَانَاتِ، فَأَدْرُسُ كُلَّ مَسَاءٍ. أُخْتَايَ تَدْرُسَانِ فِي الْجَامِعَةِ، وَهُنَّ وَصَدِيقَاتُهُنَّ يَقْرَأْنَ كَثِيرًا. فِي مَدِينَتِنَا يَعِيشُ نَاسٌ مِنْ ثَقَافَاتٍ مُخْتَلِفَةٍ.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wake up every day at six and pray Fajr. After that we eat breakfast together, and my mother says: “Don’t be late!”. My two brothers walk to school, and I take the bus. Currently I am focusing on exams, so I study every evening. My two sisters study at university, and they and their friends read a lot. In our city people from different cultures live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prefix only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prefix + suffix</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habit / now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general fact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present verb starts with a-, na-, ya- or ta-.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She takes ta-; he takes 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-īna, -ūna, -na or -āni where needed.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Time words show habit or now.</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weak verbs are correct in the present.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(m.)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write”.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تَكْتُبِينَ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تَكْتُبْنَ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-īna.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(m.)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تَكْتُبَانِ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يَكْتُبَانِ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dual: yaktubāni.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يَكْتُبْنَ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تَكْتُبْنَ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يَكْتُبُونَ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GM-V-06: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GM-V-06 · Future Tense and Future Negation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(attached)</a:t>
            </a:r>
            <a:pPr indent="0" marL="0">
              <a:buNone/>
            </a:pPr>
            <a:r>
              <a:rPr lang="ar-SA" sz="1000" i="1" dirty="0">
                <a:solidFill>
                  <a:srgbClr val="5A6472"/>
                </a:solidFill>
                <a:latin typeface="Amiri" pitchFamily="2" charset="-78"/>
                <a:ea typeface="Amiri" pitchFamily="2" charset="-78"/>
                <a:cs typeface="Amiri" pitchFamily="2" charset="-78"/>
              </a:rPr>
              <a:t>  سَأَدْرُسُ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سَوْفَ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(separate)</a:t>
            </a:r>
            <a:pPr indent="0" marL="0">
              <a:buNone/>
            </a:pPr>
            <a:r>
              <a:rPr lang="ar-SA" sz="1000" i="1" dirty="0">
                <a:solidFill>
                  <a:srgbClr val="5A6472"/>
                </a:solidFill>
                <a:latin typeface="Amiri" pitchFamily="2" charset="-78"/>
                <a:ea typeface="Amiri" pitchFamily="2" charset="-78"/>
                <a:cs typeface="Amiri" pitchFamily="2" charset="-78"/>
              </a:rPr>
              <a:t>  سَوْفَ أَدْرُسُ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not</a:t>
            </a:r>
            <a:pPr indent="0" marL="0">
              <a:buNone/>
            </a:pPr>
            <a:r>
              <a:rPr lang="ar-SA" sz="1000" i="1" dirty="0">
                <a:solidFill>
                  <a:srgbClr val="5A6472"/>
                </a:solidFill>
                <a:latin typeface="Amiri" pitchFamily="2" charset="-78"/>
                <a:ea typeface="Amiri" pitchFamily="2" charset="-78"/>
                <a:cs typeface="Amiri" pitchFamily="2" charset="-78"/>
              </a:rPr>
              <a:t>  لَنْ أَتَأَخَّرَ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غَدًا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tomorrow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الْمُسْتَقْبَلِ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future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adrusu (I study). How do you think you say “I will study”?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أَدْرُسُ · ______ غَدًا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laʿiba in the present for six persons.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Repair ten present forms with wrong prefixes or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routine, priorities and a general fact.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GM-V-06 · Future Tense and Future Negation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زَمَنُ الْمُسْتَقْبَلِ وَنَفْيُهُ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 I · na- we · ya- he / they · ta- you / she · add -īna, -āni, -ūna, -na where needed · the present can mean habit, now or a general fact.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GM-V-05 · Present Tense: Prefixes, Suffixes and Meaning</dc:title>
  <dc:subject>PptxGenJS Presentation</dc:subject>
  <dc:creator>Al Madina Online School · Arabic Department</dc:creator>
  <cp:lastModifiedBy>Al Madina Online School · Arabic Department</cp:lastModifiedBy>
  <cp:revision>1</cp:revision>
  <dcterms:created xsi:type="dcterms:W3CDTF">2026-10-11T06:42:36Z</dcterms:created>
  <dcterms:modified xsi:type="dcterms:W3CDTF">2026-10-11T06:42:36Z</dcterms:modified>
</cp:coreProperties>
</file>