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GM-V-06 (“Future Tense and Future Negation”).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سَـ and سَوْفَ before a present verb you already know (سَأَدْرُسُ · سَوْفَ أَدْرُسُ). Develop: لَنْ + singular forms (لَنْ أَكْتُبَ · لَنْ تَكْتُبَ). Stretch: لَنْ with the five verbs — the nūn drops (لَنْ تَكْتُبِي · لَنْ يَكْتُبُوا).
• Website correction: do not teach “sa- = near, sawfa = distant” as a law. Both mark the future; context decides.
• Weak classes: the future is the easiest tense — students already know the present from GM-V-05. Reassure them: one extra letter.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the GM-V-05 prep words sa-, sawfa and 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Future = sa- or sawfa + present verb. Negative future = lan + present verb with a fatḥa — or with the nūn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“Build the affirmative future”. Students already know the present (GM-V-05): just add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“Negate the future”. Chant: lan aktuba · lan taktubī · lan yaktubū.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“Plans, predictions, promises and refusals” and “Future time expressions”.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Future Marker and Future Negation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(the website prints “ʿani taʿallumi” — corrected to ʿan taʿallumi; ʿan only takes kasra before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ask why the nūn drops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ask why the nūn drops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Future Negation and Communicative Function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plans). Read it aloud once while students follow; then they hunt for today’s grammar.
Task: Website: match each prediction, intention, promise and refusal to the correct person.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plans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five linked future sentences on education, work and travel. Listening (website): sayafʿalu / lan yafʿala, especially in plural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your plans, hopes and predictions for the next five years. Include one promise and two things you will not do.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(GM-V-07 · Imperatives and Negative Commands) will spend class time USING this language, so students prepare it tonight — short, simple, easy to access (school guidance: “Simple, Short, Interesting, Relevant, Easy to access”). The five words prepare GM-V-07 (website Verbs lesson 7: imperatives and negative commands).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Future Tense and Future Negation</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زَمَنُ الْمُسْتَقْبَلِ وَنَفْيُهُ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Future = sa- (attached) or sawfa (separate) + a correct present verb. Negative future = lan + present verb, which changes: a final fatḥa on singular forms, and the five verbs lose their nūn.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 and sawfa; lan + subjunctive; purposes; time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Make it negative; sort nūn stays / drops;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سَأُسَافِرُ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أُسَافِرَ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written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construction.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أَدْرُسُ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سَوْفَأَدْرُسُ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دَرَسْتُ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سَكَتَبُوا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سَيَكْتُبُوا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سَيَكْتُبُونَ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يَكْتُبُوا غَدًا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claim is safest?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350" dirty="0">
                <a:solidFill>
                  <a:srgbClr val="1F2A37"/>
                </a:solidFill>
                <a:latin typeface="Amiri" pitchFamily="2" charset="-78"/>
                <a:cs typeface="Amiri" pitchFamily="2" charset="-78"/>
              </a:rPr>
              <a:t>سـ</a:t>
            </a:r>
            <a:pPr algn="l" indent="0" marL="0">
              <a:buNone/>
            </a:pPr>
            <a:r>
              <a:rPr lang="en-US" sz="1050" dirty="0">
                <a:solidFill>
                  <a:srgbClr val="1F2A37"/>
                </a:solidFill>
                <a:latin typeface="Calibri" pitchFamily="34" charset="0"/>
                <a:cs typeface="Amiri" pitchFamily="2" charset="-78"/>
              </a:rPr>
              <a:t> and </a:t>
            </a:r>
            <a:pPr algn="l" indent="0" marL="0">
              <a:buNone/>
            </a:pPr>
            <a:r>
              <a:rPr lang="ar-SA" altLang="en-US" sz="1350" dirty="0">
                <a:solidFill>
                  <a:srgbClr val="1F2A37"/>
                </a:solidFill>
                <a:latin typeface="Amiri" pitchFamily="2" charset="-78"/>
                <a:cs typeface="Amiri" pitchFamily="2" charset="-78"/>
              </a:rPr>
              <a:t>سوف</a:t>
            </a:r>
            <a:pPr algn="l" indent="0" marL="0">
              <a:buNone/>
            </a:pPr>
            <a:r>
              <a:rPr lang="en-US" sz="1050" dirty="0">
                <a:solidFill>
                  <a:srgbClr val="1F2A37"/>
                </a:solidFill>
                <a:latin typeface="Calibri" pitchFamily="34" charset="0"/>
                <a:cs typeface="Amiri" pitchFamily="2" charset="-78"/>
              </a:rPr>
              <a:t> both mark future; context matters more than a rigid near/distant rule.</a:t>
            </a:r>
            <a:endParaRPr lang="en-US"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always means tomorrow and </a:t>
            </a:r>
            <a:pPr algn="l" indent="0" marL="0">
              <a:buNone/>
            </a:pPr>
            <a:r>
              <a:rPr lang="ar-SA" altLang="en-US" sz="1650" dirty="0">
                <a:solidFill>
                  <a:srgbClr val="1F2A37"/>
                </a:solidFill>
                <a:latin typeface="Amiri" pitchFamily="2" charset="-78"/>
                <a:cs typeface="Amiri" pitchFamily="2" charset="-78"/>
              </a:rPr>
              <a:t>سوف</a:t>
            </a:r>
            <a:pPr algn="l" indent="0" marL="0">
              <a:buNone/>
            </a:pPr>
            <a:r>
              <a:rPr lang="en-US" sz="1250" dirty="0">
                <a:solidFill>
                  <a:srgbClr val="1F2A37"/>
                </a:solidFill>
                <a:latin typeface="Calibri" pitchFamily="34" charset="0"/>
                <a:cs typeface="Amiri" pitchFamily="2" charset="-78"/>
              </a:rPr>
              <a:t> always means ten years later.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سوف</a:t>
            </a:r>
            <a:pPr algn="l" indent="0" marL="0">
              <a:buNone/>
            </a:pPr>
            <a:r>
              <a:rPr lang="en-US" sz="1250" dirty="0">
                <a:solidFill>
                  <a:srgbClr val="1F2A37"/>
                </a:solidFill>
                <a:latin typeface="Calibri" pitchFamily="34" charset="0"/>
                <a:cs typeface="Amiri" pitchFamily="2" charset="-78"/>
              </a:rPr>
              <a:t> attaches to the verb.</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travel”.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سَأُسَافِرُ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أُسَافِرَ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attaches to the present form.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written </a:t>
            </a:r>
            <a:pPr algn="l" indent="0" marL="0">
              <a:buNone/>
            </a:pPr>
            <a:r>
              <a:rPr lang="ar-SA" altLang="en-US" sz="1650" b="1" dirty="0">
                <a:solidFill>
                  <a:srgbClr val="1B3B6F"/>
                </a:solidFill>
                <a:latin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construction.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سَوْفَ أَدْرُسُ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سَوْفَأَدْرُسُ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دَرَسْتُ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is a separate word followed by a present verb.</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سَكَتَبُوا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سَيَكْتُبُوا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سَيَكْتُبُونَ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lan, the five-verb nūn drops.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يَكْتُبُوا غَدًا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يَكْتُبُوا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mark the future; context matters more than distance.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claim is safest?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2" charset="-78"/>
                <a:cs typeface="Amiri" pitchFamily="2" charset="-78"/>
              </a:rPr>
              <a:t>سـ</a:t>
            </a:r>
            <a:pPr algn="l" indent="0" marL="0">
              <a:buNone/>
            </a:pPr>
            <a:r>
              <a:rPr lang="en-US" sz="1050" b="1" dirty="0">
                <a:solidFill>
                  <a:srgbClr val="1F2A37"/>
                </a:solidFill>
                <a:latin typeface="Calibri" pitchFamily="34" charset="0"/>
                <a:cs typeface="Amiri" pitchFamily="2" charset="-78"/>
              </a:rPr>
              <a:t> and </a:t>
            </a:r>
            <a:pPr algn="l" indent="0" marL="0">
              <a:buNone/>
            </a:pPr>
            <a:r>
              <a:rPr lang="ar-SA" altLang="en-US" sz="1350" b="1" dirty="0">
                <a:solidFill>
                  <a:srgbClr val="1F2A37"/>
                </a:solidFill>
                <a:latin typeface="Amiri" pitchFamily="2" charset="-78"/>
                <a:cs typeface="Amiri" pitchFamily="2" charset="-78"/>
              </a:rPr>
              <a:t>سوف</a:t>
            </a:r>
            <a:pPr algn="l" indent="0" marL="0">
              <a:buNone/>
            </a:pPr>
            <a:r>
              <a:rPr lang="en-US" sz="1050" b="1" dirty="0">
                <a:solidFill>
                  <a:srgbClr val="1F2A37"/>
                </a:solidFill>
                <a:latin typeface="Calibri" pitchFamily="34" charset="0"/>
                <a:cs typeface="Amiri" pitchFamily="2" charset="-78"/>
              </a:rPr>
              <a:t> both mark future; context matters more than a rigid near/distant rule.</a:t>
            </a:r>
            <a:endParaRPr lang="en-US" sz="10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dirty="0">
                <a:solidFill>
                  <a:srgbClr val="9AA1AB"/>
                </a:solidFill>
                <a:latin typeface="Amiri" pitchFamily="2" charset="-78"/>
                <a:cs typeface="Amiri" pitchFamily="2" charset="-78"/>
              </a:rPr>
              <a:t>سـ</a:t>
            </a:r>
            <a:pPr algn="l" indent="0" marL="0">
              <a:buNone/>
            </a:pPr>
            <a:r>
              <a:rPr lang="en-US" sz="1150" dirty="0">
                <a:solidFill>
                  <a:srgbClr val="9AA1AB"/>
                </a:solidFill>
                <a:latin typeface="Calibri" pitchFamily="34" charset="0"/>
                <a:cs typeface="Amiri" pitchFamily="2" charset="-78"/>
              </a:rPr>
              <a:t> always means tomorrow and </a:t>
            </a:r>
            <a:pPr algn="l" indent="0" marL="0">
              <a:buNone/>
            </a:pPr>
            <a:r>
              <a:rPr lang="ar-SA" altLang="en-US" sz="1500" dirty="0">
                <a:solidFill>
                  <a:srgbClr val="9AA1AB"/>
                </a:solidFill>
                <a:latin typeface="Amiri" pitchFamily="2" charset="-78"/>
                <a:cs typeface="Amiri" pitchFamily="2" charset="-78"/>
              </a:rPr>
              <a:t>سوف</a:t>
            </a:r>
            <a:pPr algn="l" indent="0" marL="0">
              <a:buNone/>
            </a:pPr>
            <a:r>
              <a:rPr lang="en-US" sz="1150" dirty="0">
                <a:solidFill>
                  <a:srgbClr val="9AA1AB"/>
                </a:solidFill>
                <a:latin typeface="Calibri" pitchFamily="34" charset="0"/>
                <a:cs typeface="Amiri" pitchFamily="2" charset="-78"/>
              </a:rPr>
              <a:t> always means ten years later.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سوف</a:t>
            </a:r>
            <a:pPr algn="l" indent="0" marL="0">
              <a:buNone/>
            </a:pPr>
            <a:r>
              <a:rPr lang="en-US" sz="1250" dirty="0">
                <a:solidFill>
                  <a:srgbClr val="9AA1AB"/>
                </a:solidFill>
                <a:latin typeface="Calibri" pitchFamily="34" charset="0"/>
                <a:cs typeface="Amiri" pitchFamily="2" charset="-78"/>
              </a:rPr>
              <a:t> attaches to the verb.</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Distance is not a dependable absolute distinction.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Future = sa- or sawfa + present verb. Negative future = lan + present verb with a fatḥa — or with the nūn dropped.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سَأَكْتُبُ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سَوْفَ أَكْتُبُ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لَنْ أَكْتُبَ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future with sa- and sawfa.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the future with lan.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Drop the nūn of the five verbs after lan.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future for plans, predictions, promises and refusals.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will study with sa- and sawfa.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add a time phrase like tomorrow.</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 will not … with lan.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change the final vowel to fatḥa after lan.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drop the nūn after lan (they, you 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promise and two refusals.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الْمُسْتَقْبَلُ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future</a:t>
            </a:r>
            <a:endParaRPr lang="en-US" sz="1350" dirty="0"/>
          </a:p>
          <a:p>
            <a:pPr indent="0" marL="0">
              <a:buNone/>
            </a:pPr>
            <a:r>
              <a:rPr lang="en-US" sz="1100" i="1" dirty="0">
                <a:solidFill>
                  <a:srgbClr val="5A6472"/>
                </a:solidFill>
                <a:latin typeface="Calibri" pitchFamily="34" charset="0"/>
                <a:cs typeface="Amiri" pitchFamily="2" charset="-78"/>
              </a:rPr>
              <a:t>al-mus-taq-ba-lu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فِي الْمُسْتَقْبَلِ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(attached)</a:t>
            </a:r>
            <a:endParaRPr lang="en-US" sz="1350" dirty="0"/>
          </a:p>
          <a:p>
            <a:pPr indent="0" marL="0">
              <a:buNone/>
            </a:pPr>
            <a:r>
              <a:rPr lang="en-US" sz="1100" i="1" dirty="0">
                <a:solidFill>
                  <a:srgbClr val="5A6472"/>
                </a:solidFill>
                <a:latin typeface="Calibri" pitchFamily="34" charset="0"/>
                <a:cs typeface="Amiri" pitchFamily="2" charset="-78"/>
              </a:rPr>
              <a:t>sa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سَأَدْرُسُ</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(separate word)</a:t>
            </a:r>
            <a:endParaRPr lang="en-US" sz="1350" dirty="0"/>
          </a:p>
          <a:p>
            <a:pPr indent="0" marL="0">
              <a:buNone/>
            </a:pPr>
            <a:r>
              <a:rPr lang="en-US" sz="1100" i="1" dirty="0">
                <a:solidFill>
                  <a:srgbClr val="5A6472"/>
                </a:solidFill>
                <a:latin typeface="Calibri" pitchFamily="34" charset="0"/>
                <a:cs typeface="Amiri" pitchFamily="2" charset="-78"/>
              </a:rPr>
              <a:t>saw-fa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سَوْفَ أَدْرُسُ</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a:t>
            </a:r>
            <a:endParaRPr lang="en-US" sz="1350" dirty="0"/>
          </a:p>
          <a:p>
            <a:pPr indent="0" marL="0">
              <a:buNone/>
            </a:pPr>
            <a:r>
              <a:rPr lang="en-US" sz="1100" i="1" dirty="0">
                <a:solidFill>
                  <a:srgbClr val="5A6472"/>
                </a:solidFill>
                <a:latin typeface="Calibri" pitchFamily="34" charset="0"/>
                <a:cs typeface="Amiri" pitchFamily="2" charset="-78"/>
              </a:rPr>
              <a:t>lan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لَنْ أَدْرُسَ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الْمَنْصُوبُ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subjunctive (after lan)</a:t>
            </a:r>
            <a:endParaRPr lang="en-US" sz="1350" dirty="0"/>
          </a:p>
          <a:p>
            <a:pPr indent="0" marL="0">
              <a:buNone/>
            </a:pPr>
            <a:r>
              <a:rPr lang="en-US" sz="1100" i="1" dirty="0">
                <a:solidFill>
                  <a:srgbClr val="5A6472"/>
                </a:solidFill>
                <a:latin typeface="Calibri" pitchFamily="34" charset="0"/>
                <a:cs typeface="Amiri" pitchFamily="2" charset="-78"/>
              </a:rPr>
              <a:t>al-man-ṣū-bu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أَكْتُبَ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الْأَفْعَالُ الْخَمْسَةُ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five verbs (end in nūn)</a:t>
            </a:r>
            <a:endParaRPr lang="en-US" sz="1350" dirty="0"/>
          </a:p>
          <a:p>
            <a:pPr indent="0" marL="0">
              <a:buNone/>
            </a:pPr>
            <a:r>
              <a:rPr lang="en-US" sz="1100" i="1" dirty="0">
                <a:solidFill>
                  <a:srgbClr val="5A6472"/>
                </a:solidFill>
                <a:latin typeface="Calibri" pitchFamily="34" charset="0"/>
                <a:cs typeface="Amiri" pitchFamily="2" charset="-78"/>
              </a:rPr>
              <a:t>al-af-ʿā-lu al-kham-sa-tu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يَكْتُبُونَ · تَكْتُبِينَ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BUILD THE AFFIRMATIVE FUTURE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One extra letter — or one extra word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سَـ وَسَوْفَ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Typical use</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compact, very common</a:t>
            </a:r>
            <a:endParaRPr lang="en-US" sz="1100" dirty="0"/>
          </a:p>
        </p:txBody>
      </p:sp>
      <p:sp>
        <p:nvSpPr>
          <p:cNvPr id="22" name="Text 19"/>
          <p:cNvSpPr txBox="1"/>
          <p:nvPr/>
        </p:nvSpPr>
        <p:spPr>
          <a:xfrm>
            <a:off x="493776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سَأَدْرُسُ غَدًا.</a:t>
            </a:r>
            <a:endParaRPr lang="ar-SA" sz="2400" dirty="0"/>
          </a:p>
        </p:txBody>
      </p:sp>
      <p:sp>
        <p:nvSpPr>
          <p:cNvPr id="23" name="Text 20"/>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attached</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سَـ</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explicit; often more formal</a:t>
            </a:r>
            <a:endParaRPr lang="en-US" sz="1100" dirty="0"/>
          </a:p>
        </p:txBody>
      </p:sp>
      <p:sp>
        <p:nvSpPr>
          <p:cNvPr id="29" name="Text 26"/>
          <p:cNvSpPr txBox="1"/>
          <p:nvPr/>
        </p:nvSpPr>
        <p:spPr>
          <a:xfrm>
            <a:off x="493776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سَوْفَ أَدْرُسُ غَدًا.</a:t>
            </a:r>
            <a:endParaRPr lang="ar-SA" sz="2400" dirty="0"/>
          </a:p>
        </p:txBody>
      </p:sp>
      <p:sp>
        <p:nvSpPr>
          <p:cNvPr id="30" name="Text 27"/>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separate</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سَوْفَ</a:t>
            </a:r>
            <a:endParaRPr lang="ar-SA" sz="26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clear arrangement</a:t>
            </a:r>
            <a:endParaRPr lang="en-US" sz="1100" dirty="0"/>
          </a:p>
        </p:txBody>
      </p:sp>
      <p:sp>
        <p:nvSpPr>
          <p:cNvPr id="36" name="Text 33"/>
          <p:cNvSpPr txBox="1"/>
          <p:nvPr/>
        </p:nvSpPr>
        <p:spPr>
          <a:xfrm>
            <a:off x="493776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أُسَافِرُ غَدًا.</a:t>
            </a:r>
            <a:endParaRPr lang="ar-SA" sz="2400" dirty="0"/>
          </a:p>
        </p:txBody>
      </p:sp>
      <p:sp>
        <p:nvSpPr>
          <p:cNvPr id="37" name="Text 34"/>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time</a:t>
            </a:r>
            <a:endParaRPr lang="en-US" sz="11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marker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stays after sa-</a:t>
            </a:r>
            <a:endParaRPr lang="en-US" sz="1100" dirty="0"/>
          </a:p>
        </p:txBody>
      </p:sp>
      <p:sp>
        <p:nvSpPr>
          <p:cNvPr id="41" name="Text 38"/>
          <p:cNvSpPr txBox="1"/>
          <p:nvPr/>
        </p:nvSpPr>
        <p:spPr>
          <a:xfrm>
            <a:off x="493776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سَتَدْرُسُ</a:t>
            </a:r>
            <a:endParaRPr lang="ar-SA" sz="2400" dirty="0"/>
          </a:p>
        </p:txBody>
      </p:sp>
      <p:sp>
        <p:nvSpPr>
          <p:cNvPr id="42" name="Text 39"/>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سَـ</a:t>
            </a:r>
            <a:endParaRPr lang="ar-SA" sz="26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nūn STAYS</a:t>
            </a:r>
            <a:endParaRPr lang="en-US" sz="1100" dirty="0"/>
          </a:p>
        </p:txBody>
      </p:sp>
      <p:sp>
        <p:nvSpPr>
          <p:cNvPr id="48" name="Text 45"/>
          <p:cNvSpPr txBox="1"/>
          <p:nvPr/>
        </p:nvSpPr>
        <p:spPr>
          <a:xfrm>
            <a:off x="493776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سَيَكْتُبُونَ</a:t>
            </a:r>
            <a:endParaRPr lang="ar-SA" sz="2400" dirty="0"/>
          </a:p>
        </p:txBody>
      </p:sp>
      <p:sp>
        <p:nvSpPr>
          <p:cNvPr id="49" name="Text 46"/>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a:t>
            </a:r>
            <a:endParaRPr lang="en-US" sz="11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سَـ</a:t>
            </a:r>
            <a:endParaRPr lang="ar-SA" sz="26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correction: both sa- and sawfa mark the future — there is no strict “near / distant” law. Never use both together, and never attach sawfa.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NEGATE THE FUTURE WITH LAN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 changes the end of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النَّفْيُ بِـ «لَنْ»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58338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 with lan</a:t>
            </a:r>
            <a:endParaRPr lang="en-US" sz="1100" dirty="0"/>
          </a:p>
        </p:txBody>
      </p:sp>
      <p:sp>
        <p:nvSpPr>
          <p:cNvPr id="18" name="Text 15"/>
          <p:cNvSpPr txBox="1"/>
          <p:nvPr/>
        </p:nvSpPr>
        <p:spPr>
          <a:xfrm>
            <a:off x="27249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Affirmative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2" name="Text 19"/>
          <p:cNvSpPr txBox="1"/>
          <p:nvPr/>
        </p:nvSpPr>
        <p:spPr>
          <a:xfrm>
            <a:off x="585216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أَكْتُبَ</a:t>
            </a:r>
            <a:endParaRPr lang="ar-SA" sz="2400" dirty="0"/>
          </a:p>
        </p:txBody>
      </p:sp>
      <p:sp>
        <p:nvSpPr>
          <p:cNvPr id="23" name="Text 20"/>
          <p:cNvSpPr txBox="1"/>
          <p:nvPr/>
        </p:nvSpPr>
        <p:spPr>
          <a:xfrm>
            <a:off x="27432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سَأَكْتُبُ</a:t>
            </a:r>
            <a:endParaRPr lang="ar-SA" sz="24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9" name="Text 26"/>
          <p:cNvSpPr txBox="1"/>
          <p:nvPr/>
        </p:nvSpPr>
        <p:spPr>
          <a:xfrm>
            <a:off x="585216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تَكْتُبَ</a:t>
            </a:r>
            <a:endParaRPr lang="ar-SA" sz="2400" dirty="0"/>
          </a:p>
        </p:txBody>
      </p:sp>
      <p:sp>
        <p:nvSpPr>
          <p:cNvPr id="30" name="Text 27"/>
          <p:cNvSpPr txBox="1"/>
          <p:nvPr/>
        </p:nvSpPr>
        <p:spPr>
          <a:xfrm>
            <a:off x="27432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سَتَكْتُبُ</a:t>
            </a:r>
            <a:endParaRPr lang="ar-SA" sz="24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36" name="Text 33"/>
          <p:cNvSpPr txBox="1"/>
          <p:nvPr/>
        </p:nvSpPr>
        <p:spPr>
          <a:xfrm>
            <a:off x="585216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نَكْتُبَ</a:t>
            </a:r>
            <a:endParaRPr lang="ar-SA" sz="2400" dirty="0"/>
          </a:p>
        </p:txBody>
      </p:sp>
      <p:sp>
        <p:nvSpPr>
          <p:cNvPr id="37" name="Text 34"/>
          <p:cNvSpPr txBox="1"/>
          <p:nvPr/>
        </p:nvSpPr>
        <p:spPr>
          <a:xfrm>
            <a:off x="27432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سَنَكْتُبُ</a:t>
            </a:r>
            <a:endParaRPr lang="ar-SA" sz="24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3" name="Text 40"/>
          <p:cNvSpPr txBox="1"/>
          <p:nvPr/>
        </p:nvSpPr>
        <p:spPr>
          <a:xfrm>
            <a:off x="585216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تَكْتُبِي</a:t>
            </a:r>
            <a:endParaRPr lang="ar-SA" sz="2400" dirty="0"/>
          </a:p>
        </p:txBody>
      </p:sp>
      <p:sp>
        <p:nvSpPr>
          <p:cNvPr id="44" name="Text 41"/>
          <p:cNvSpPr txBox="1"/>
          <p:nvPr/>
        </p:nvSpPr>
        <p:spPr>
          <a:xfrm>
            <a:off x="27432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سَتَكْتُبِينَ</a:t>
            </a:r>
            <a:endParaRPr lang="ar-SA" sz="2400" dirty="0"/>
          </a:p>
        </p:txBody>
      </p:sp>
      <p:sp>
        <p:nvSpPr>
          <p:cNvPr id="45" name="Text 42"/>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 + silent alif</a:t>
            </a:r>
            <a:endParaRPr lang="en-US" sz="1100" dirty="0"/>
          </a:p>
        </p:txBody>
      </p:sp>
      <p:sp>
        <p:nvSpPr>
          <p:cNvPr id="48" name="Text 45"/>
          <p:cNvSpPr txBox="1"/>
          <p:nvPr/>
        </p:nvSpPr>
        <p:spPr>
          <a:xfrm>
            <a:off x="585216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يَكْتُبُوا</a:t>
            </a:r>
            <a:endParaRPr lang="ar-SA" sz="2400" dirty="0"/>
          </a:p>
        </p:txBody>
      </p:sp>
      <p:sp>
        <p:nvSpPr>
          <p:cNvPr id="49" name="Text 46"/>
          <p:cNvSpPr txBox="1"/>
          <p:nvPr/>
        </p:nvSpPr>
        <p:spPr>
          <a:xfrm>
            <a:off x="274320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سَيَكْتُبُونَ</a:t>
            </a:r>
            <a:endParaRPr lang="ar-SA" sz="24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lan REPLACES sa- / sawfa (never “lan sa-”). The five verbs (-īna, -āni, -ūna) lose their nūn; the plural adds a silent alif.</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PURPOSES AND TIME PHRASES (WEBSITE)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Plans, predictions, promises, refusals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الْوَظَائِفُ وَعِبَارَاتُ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Purpose / 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 medicine.</a:t>
            </a:r>
            <a:endParaRPr lang="en-US" sz="1100" dirty="0"/>
          </a:p>
        </p:txBody>
      </p:sp>
      <p:sp>
        <p:nvSpPr>
          <p:cNvPr id="21" name="Text 18"/>
          <p:cNvSpPr txBox="1"/>
          <p:nvPr/>
        </p:nvSpPr>
        <p:spPr>
          <a:xfrm>
            <a:off x="347472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سَأَدْرُسُ الطِّبَّ فِي الْمُسْتَقْبَلِ.</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Technology will change fast.</a:t>
            </a:r>
            <a:endParaRPr lang="en-US" sz="1100" dirty="0"/>
          </a:p>
        </p:txBody>
      </p:sp>
      <p:sp>
        <p:nvSpPr>
          <p:cNvPr id="27" name="Text 24"/>
          <p:cNvSpPr txBox="1"/>
          <p:nvPr/>
        </p:nvSpPr>
        <p:spPr>
          <a:xfrm>
            <a:off x="347472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سَوْفَ تَتَغَيَّرُ التِّقْنِيَّةُ سَرِيعًا.</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prediction</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help you tomorrow.</a:t>
            </a:r>
            <a:endParaRPr lang="en-US" sz="1100" dirty="0"/>
          </a:p>
        </p:txBody>
      </p:sp>
      <p:sp>
        <p:nvSpPr>
          <p:cNvPr id="31" name="Text 28"/>
          <p:cNvSpPr txBox="1"/>
          <p:nvPr/>
        </p:nvSpPr>
        <p:spPr>
          <a:xfrm>
            <a:off x="347472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سَأُسَاعِدُكَ غَدًا.</a:t>
            </a:r>
            <a:endParaRPr lang="ar-SA" sz="2200" dirty="0"/>
          </a:p>
        </p:txBody>
      </p:sp>
      <p:sp>
        <p:nvSpPr>
          <p:cNvPr id="32" name="Text 29"/>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promise</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be late again.</a:t>
            </a:r>
            <a:endParaRPr lang="en-US" sz="1100" dirty="0"/>
          </a:p>
        </p:txBody>
      </p:sp>
      <p:sp>
        <p:nvSpPr>
          <p:cNvPr id="37" name="Text 34"/>
          <p:cNvSpPr txBox="1"/>
          <p:nvPr/>
        </p:nvSpPr>
        <p:spPr>
          <a:xfrm>
            <a:off x="347472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لَنْ أَتَأَخَّرَ مَرَّةً أُخْرَى.</a:t>
            </a:r>
            <a:endParaRPr lang="ar-SA" sz="22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refusal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start next week.</a:t>
            </a:r>
            <a:endParaRPr lang="en-US" sz="1100" dirty="0"/>
          </a:p>
        </p:txBody>
      </p:sp>
      <p:sp>
        <p:nvSpPr>
          <p:cNvPr id="41" name="Text 38"/>
          <p:cNvSpPr txBox="1"/>
          <p:nvPr/>
        </p:nvSpPr>
        <p:spPr>
          <a:xfrm>
            <a:off x="347472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سَوْفَ نَبْدَأُ الْأُسْبُوعَ الْقَادِمَ.</a:t>
            </a:r>
            <a:endParaRPr lang="ar-SA" sz="22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week</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travel next summer.</a:t>
            </a:r>
            <a:endParaRPr lang="en-US" sz="1100" dirty="0"/>
          </a:p>
        </p:txBody>
      </p:sp>
      <p:sp>
        <p:nvSpPr>
          <p:cNvPr id="45" name="Text 42"/>
          <p:cNvSpPr txBox="1"/>
          <p:nvPr/>
        </p:nvSpPr>
        <p:spPr>
          <a:xfrm>
            <a:off x="347472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سَنُسَافِرُ فِي الصَّيْفِ الْمُقْبِلِ.</a:t>
            </a:r>
            <a:endParaRPr lang="ar-SA" sz="22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summer</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“double evidence”: a future marker + a future time phrase makes the time unmistakable. Extend with a reason: … li-annanī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attached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 نَذْهَبُ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سَوْفَنَذْهَبُ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سَنَذْهَبُ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separate form?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نَذْهَبُ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سَوْفَنَذْهَبُ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نَذْهَبَ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سَيَدْرُسُ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سَتَدْرُسُ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دَرَسَتْ غَدًا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not travel”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تُسَافِرَ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تُسَافِرُ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تُسَافِرْ غَدًا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attached form?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 نَذْهَبُ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سَوْفَنَذْهَبُ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سَنَذْهَبُ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attaches directly.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separate form?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سَوْفَ نَذْهَبُ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سَوْفَنَذْهَبُ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نَذْهَبَ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is a separate word.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سَيَدْرُسُ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سَتَدْرُسُ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دَرَسَتْ غَدًا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matches she.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not travel”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تُسَافِرَ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تُسَافِرُ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تُسَافِرْ غَدًا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Subjunctive after lan: final fatḥa.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build a future plan — and a refusal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أَدْرُسُ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study (GM-V-05).</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سَأَدْرُسُ</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sa-.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أَتَوَقَّفُ</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stop.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Negative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لَنْ أَتَوَقَّفَ</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lan + fatḥa.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LAN + SUBJUNCTIVE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الْمُسْتَقْبَلِ </a:t>
            </a:r>
            <a:pPr rtl="1" algn="r" indent="0" marL="0">
              <a:buNone/>
            </a:pPr>
            <a:r>
              <a:rPr lang="ar-SA" altLang="en-US" sz="2600" b="1" dirty="0">
                <a:solidFill>
                  <a:srgbClr val="0E7C86"/>
                </a:solidFill>
                <a:latin typeface="Amiri" pitchFamily="2" charset="-78"/>
                <a:cs typeface="Amiri" pitchFamily="2" charset="-78"/>
              </a:rPr>
              <a:t>سَأَدْرُسُ</a:t>
            </a:r>
            <a:pPr rtl="1" algn="r" indent="0" marL="0">
              <a:buNone/>
            </a:pPr>
            <a:r>
              <a:rPr lang="ar-SA" altLang="en-US" sz="2600" b="1" dirty="0">
                <a:solidFill>
                  <a:srgbClr val="1B3B6F"/>
                </a:solidFill>
                <a:latin typeface="Amiri" pitchFamily="2" charset="-78"/>
                <a:cs typeface="Amiri" pitchFamily="2" charset="-78"/>
              </a:rPr>
              <a:t> فِي الْجَامِعَةِ، وَ</a:t>
            </a:r>
            <a:pPr rtl="1" algn="r" indent="0" marL="0">
              <a:buNone/>
            </a:pPr>
            <a:r>
              <a:rPr lang="ar-SA" altLang="en-US" sz="2600" b="1" dirty="0">
                <a:solidFill>
                  <a:srgbClr val="0E7C86"/>
                </a:solidFill>
                <a:latin typeface="Amiri" pitchFamily="2" charset="-78"/>
                <a:cs typeface="Amiri" pitchFamily="2" charset="-78"/>
              </a:rPr>
              <a:t>سَوْفَ أَتَعَلَّمُ</a:t>
            </a:r>
            <a:pPr rtl="1" algn="r" indent="0" marL="0">
              <a:buNone/>
            </a:pPr>
            <a:r>
              <a:rPr lang="ar-SA" altLang="en-US" sz="2600" b="1" dirty="0">
                <a:solidFill>
                  <a:srgbClr val="1B3B6F"/>
                </a:solidFill>
                <a:latin typeface="Amiri" pitchFamily="2" charset="-78"/>
                <a:cs typeface="Amiri" pitchFamily="2" charset="-78"/>
              </a:rPr>
              <a:t> مَهَارَاتٍ جَدِيدَةً. </a:t>
            </a:r>
            <a:pPr rtl="1" algn="r" indent="0" marL="0">
              <a:buNone/>
            </a:pPr>
            <a:r>
              <a:rPr lang="ar-SA" altLang="en-US" sz="2600" b="1" dirty="0">
                <a:solidFill>
                  <a:srgbClr val="D6336C"/>
                </a:solidFill>
                <a:latin typeface="Amiri" pitchFamily="2" charset="-78"/>
                <a:cs typeface="Amiri" pitchFamily="2" charset="-78"/>
              </a:rPr>
              <a:t>لَنْ أَتَوَقَّفَ</a:t>
            </a:r>
            <a:pPr rtl="1" algn="r" indent="0" marL="0">
              <a:buNone/>
            </a:pPr>
            <a:r>
              <a:rPr lang="ar-SA" altLang="en-US" sz="2600" b="1" dirty="0">
                <a:solidFill>
                  <a:srgbClr val="1B3B6F"/>
                </a:solidFill>
                <a:latin typeface="Amiri" pitchFamily="2" charset="-78"/>
                <a:cs typeface="Amiri" pitchFamily="2" charset="-78"/>
              </a:rPr>
              <a:t> عَنْ تَعَلُّمِ الْعَرَبِيَّةِ.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the future I will study at university, and I will learn new skills. I will not stop learning Arabic.</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سَأَتَّصِلُ بِكَ مَسَاءً.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call you this evening.</a:t>
            </a:r>
            <a:endParaRPr lang="en-US" sz="1250" dirty="0"/>
          </a:p>
          <a:p>
            <a:pPr indent="0" marL="0">
              <a:buNone/>
            </a:pPr>
            <a:r>
              <a:rPr lang="en-US" sz="1050" i="1" dirty="0">
                <a:solidFill>
                  <a:srgbClr val="8A6D1E"/>
                </a:solidFill>
                <a:latin typeface="Calibri" pitchFamily="34" charset="0"/>
                <a:cs typeface="Amiri" pitchFamily="2" charset="-78"/>
              </a:rPr>
              <a:t>Promise.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سَوْفَ يَزْدَادُ اسْتِخْدَامُ التِّقْنِيَّةِ.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use of technology will increase.</a:t>
            </a:r>
            <a:endParaRPr lang="en-US" sz="1250" dirty="0"/>
          </a:p>
          <a:p>
            <a:pPr indent="0" marL="0">
              <a:buNone/>
            </a:pPr>
            <a:r>
              <a:rPr lang="en-US" sz="1050" i="1" dirty="0">
                <a:solidFill>
                  <a:srgbClr val="8A6D1E"/>
                </a:solidFill>
                <a:latin typeface="Calibri" pitchFamily="34" charset="0"/>
                <a:cs typeface="Amiri" pitchFamily="2" charset="-78"/>
              </a:rPr>
              <a:t>Prediction.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 أَنْسَى وَاجِبِي.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not forget my homework.</a:t>
            </a:r>
            <a:endParaRPr lang="en-US" sz="1250" dirty="0"/>
          </a:p>
          <a:p>
            <a:pPr indent="0" marL="0">
              <a:buNone/>
            </a:pPr>
            <a:r>
              <a:rPr lang="en-US" sz="1050" i="1" dirty="0">
                <a:solidFill>
                  <a:srgbClr val="8A6D1E"/>
                </a:solidFill>
                <a:latin typeface="Calibri" pitchFamily="34" charset="0"/>
                <a:cs typeface="Amiri" pitchFamily="2" charset="-78"/>
              </a:rPr>
              <a:t>lan + final weak: no change seen.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أَصْدِقَائِي لَنْ يَتَأَخَّرُوا.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friends will not be late.</a:t>
            </a:r>
            <a:endParaRPr lang="en-US" sz="1250" dirty="0"/>
          </a:p>
          <a:p>
            <a:pPr indent="0" marL="0">
              <a:buNone/>
            </a:pPr>
            <a:r>
              <a:rPr lang="en-US" sz="1050" i="1" dirty="0">
                <a:solidFill>
                  <a:srgbClr val="8A6D1E"/>
                </a:solidFill>
                <a:latin typeface="Calibri" pitchFamily="34" charset="0"/>
                <a:cs typeface="Amiri" pitchFamily="2" charset="-78"/>
              </a:rPr>
              <a:t>Nūn drops.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IT NEGATIVE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Will →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65653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8" name="Text 15"/>
          <p:cNvSpPr txBox="1"/>
          <p:nvPr/>
        </p:nvSpPr>
        <p:spPr>
          <a:xfrm>
            <a:off x="34564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Affirmative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710928" y="226771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2" name="Text 19"/>
          <p:cNvSpPr txBox="1"/>
          <p:nvPr/>
        </p:nvSpPr>
        <p:spPr>
          <a:xfrm>
            <a:off x="65836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أَدْرُسَ</a:t>
            </a:r>
            <a:endParaRPr lang="ar-SA" sz="2400" dirty="0"/>
          </a:p>
        </p:txBody>
      </p:sp>
      <p:sp>
        <p:nvSpPr>
          <p:cNvPr id="23" name="Text 20"/>
          <p:cNvSpPr txBox="1"/>
          <p:nvPr/>
        </p:nvSpPr>
        <p:spPr>
          <a:xfrm>
            <a:off x="34747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سَأَدْرُسُ</a:t>
            </a:r>
            <a:endParaRPr lang="ar-SA" sz="24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710928" y="2881884"/>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9" name="Text 26"/>
          <p:cNvSpPr txBox="1"/>
          <p:nvPr/>
        </p:nvSpPr>
        <p:spPr>
          <a:xfrm>
            <a:off x="65836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تَتَأَخَّرَ</a:t>
            </a:r>
            <a:endParaRPr lang="ar-SA" sz="2400" dirty="0"/>
          </a:p>
        </p:txBody>
      </p:sp>
      <p:sp>
        <p:nvSpPr>
          <p:cNvPr id="30" name="Text 27"/>
          <p:cNvSpPr txBox="1"/>
          <p:nvPr/>
        </p:nvSpPr>
        <p:spPr>
          <a:xfrm>
            <a:off x="34747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سَتَتَأَخَّرُ</a:t>
            </a:r>
            <a:endParaRPr lang="ar-SA" sz="24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will be late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710928" y="3496056"/>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36" name="Text 33"/>
          <p:cNvSpPr txBox="1"/>
          <p:nvPr/>
        </p:nvSpPr>
        <p:spPr>
          <a:xfrm>
            <a:off x="65836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يَكْتُبُوا</a:t>
            </a:r>
            <a:endParaRPr lang="ar-SA" sz="2400" dirty="0"/>
          </a:p>
        </p:txBody>
      </p:sp>
      <p:sp>
        <p:nvSpPr>
          <p:cNvPr id="37" name="Text 34"/>
          <p:cNvSpPr txBox="1"/>
          <p:nvPr/>
        </p:nvSpPr>
        <p:spPr>
          <a:xfrm>
            <a:off x="34747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سَيَكْتُبُونَ</a:t>
            </a:r>
            <a:endParaRPr lang="ar-SA" sz="24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will write</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710928" y="4110228"/>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1" name="Text 38"/>
          <p:cNvSpPr txBox="1"/>
          <p:nvPr/>
        </p:nvSpPr>
        <p:spPr>
          <a:xfrm>
            <a:off x="65836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تُسَافِرِي</a:t>
            </a:r>
            <a:endParaRPr lang="ar-SA" sz="2400" dirty="0"/>
          </a:p>
        </p:txBody>
      </p:sp>
      <p:sp>
        <p:nvSpPr>
          <p:cNvPr id="42" name="Text 39"/>
          <p:cNvSpPr txBox="1"/>
          <p:nvPr/>
        </p:nvSpPr>
        <p:spPr>
          <a:xfrm>
            <a:off x="34747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سَتُسَافِرِينَ</a:t>
            </a:r>
            <a:endParaRPr lang="ar-SA" sz="2400" dirty="0"/>
          </a:p>
        </p:txBody>
      </p:sp>
      <p:sp>
        <p:nvSpPr>
          <p:cNvPr id="43" name="Text 40"/>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will travel</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710928" y="4724400"/>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visible change</a:t>
            </a:r>
            <a:endParaRPr lang="en-US" sz="1100" dirty="0"/>
          </a:p>
        </p:txBody>
      </p:sp>
      <p:sp>
        <p:nvSpPr>
          <p:cNvPr id="46" name="Text 43"/>
          <p:cNvSpPr txBox="1"/>
          <p:nvPr/>
        </p:nvSpPr>
        <p:spPr>
          <a:xfrm>
            <a:off x="65836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نَرَى</a:t>
            </a:r>
            <a:endParaRPr lang="ar-SA" sz="2400" dirty="0"/>
          </a:p>
        </p:txBody>
      </p:sp>
      <p:sp>
        <p:nvSpPr>
          <p:cNvPr id="47" name="Text 44"/>
          <p:cNvSpPr txBox="1"/>
          <p:nvPr/>
        </p:nvSpPr>
        <p:spPr>
          <a:xfrm>
            <a:off x="34747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سَنَرَى</a:t>
            </a:r>
            <a:endParaRPr lang="ar-SA" sz="2400" dirty="0"/>
          </a:p>
        </p:txBody>
      </p:sp>
      <p:sp>
        <p:nvSpPr>
          <p:cNvPr id="48" name="Text 45"/>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see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710928" y="533857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51" name="Text 48"/>
          <p:cNvSpPr txBox="1"/>
          <p:nvPr/>
        </p:nvSpPr>
        <p:spPr>
          <a:xfrm>
            <a:off x="65836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 يَصِلُوا</a:t>
            </a:r>
            <a:endParaRPr lang="ar-SA" sz="2400" dirty="0"/>
          </a:p>
        </p:txBody>
      </p:sp>
      <p:sp>
        <p:nvSpPr>
          <p:cNvPr id="52" name="Text 49"/>
          <p:cNvSpPr txBox="1"/>
          <p:nvPr/>
        </p:nvSpPr>
        <p:spPr>
          <a:xfrm>
            <a:off x="34747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سَيَصِلُونَ</a:t>
            </a:r>
            <a:endParaRPr lang="ar-SA" sz="2400" dirty="0"/>
          </a:p>
        </p:txBody>
      </p:sp>
      <p:sp>
        <p:nvSpPr>
          <p:cNvPr id="53" name="Text 50"/>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will arrive</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lan replaces sa- — then check the end of the verb.</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NŪN STAYS OR DROPS?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Does the nūn stay?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هَلْ تَبْقَى النُّونُ؟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سَيَكْتُبُونَ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يَكْتُبُوا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سَتَدْرُسِينَ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تَدْرُسِي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يَلْعَبُونَ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يَلْعَبُوا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سَتُسَافِرِينَ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تُسَافِرِي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Nūn stays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Nūn drops (after lan)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Nūn stays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سَيَكْتُبُونَ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سَتَدْرُسِينَ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سَوْفَ يَلْعَبُونَ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سَتُسَافِرِينَ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Nūn drops (after lan)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يَكْتُبُوا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تَدْرُسِي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يَلْعَبُوا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لَنْ تُسَافِرِي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سَوْفَسَأَدْرُسُ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marker or two?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لَنْ يَذْهَبُونَ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the nūn after 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سَافَرْتُ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verb with tomorrow?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سَوْفَسَأَدْرُسُ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سَوْفَ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combine both markers or attach sawfa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لَنْ يَذْهَبُونَ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لَنْ يَذْهَبُوا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nūn of the five verbs drops after lan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سَافَرْتُ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سَأُسَافِرُ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Tomorrow needs a future verb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cs typeface="Amiri" pitchFamily="2" charset="-78"/>
              </a:rPr>
              <a:t>WE DO · GUIDED PRACTICE · WEBSITE FUTURE NEGATION AND COMMUNICATIVE FUNCTION CHECKS</a:t>
            </a:r>
            <a:endParaRPr lang="en-US" sz="82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will not arrive”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يَصِلُونَ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يَصِلُوا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وَصَلُوا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future ambition?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عَمِلْتُ غَدًا.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سَأَعْمَلُ كَمُهَنْدِسَةٍ.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أَعْمَلَ أَمْسِ.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negative intention?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 أَنْسَ غَدًا.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أَنْسَى سَوْفَ.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أَنْسَى وَاجِبِي.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تَكْتُبِينَ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تَكْتُبِي!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تَكْتُبِي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this is not a command.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will not arrive”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يَصِلُونَ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يَصِلُوا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وَصَلُوا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subjunctive after lan: the nūn drops.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future ambition?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عَمِلْتُ غَدًا.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سَأَعْمَلُ كَمُهَنْدِسَةٍ.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 أَعْمَلَ أَمْسِ.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plan.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negative intention?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 أَنْسَ غَدًا.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أَنْسَى سَوْفَ.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 أَنْسَى وَاجِبِي.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subjunctive.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READING WORKSHOP (TEACHER-WRITTEN PLANS)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students, four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تَقُولُ مَرْيَمُ: «سَأَدْرُسُ الطِّبَّ لِأَنَّنِي أُحِبُّ مُسَاعَدَةَ النَّاسِ». يَقُولُ يُوسُفُ: «سَوْفَ تَتَغَيَّرُ الْوَظَائِفُ بِسَبَبِ التِّقْنِيَّةِ». تَقُولُ سَارَةُ لِأُمِّهَا: «سَأُسَاعِدُكِ فِي الْمَطْبَخِ غَدًا». يَقُولُ عُمَرُ: «لَنْ أَتَأَخَّرَ عَنِ الْمَدْرَسَةِ مَرَّةً أُخْرَى، وَأَصْدِقَائِي لَنْ يَتَأَخَّرُوا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medicine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مُسَاعَدَةَ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helping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الْوَظَائِفُ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jobs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بِسَبَبِ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because of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الْمَطْبَخِ</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kitchen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promise?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ʿUmar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something / makes a negative plan?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ʿUmar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lost its nūn after lan?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أَتَأَخَّرَ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يَتَأَخَّرُوا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prediction?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Yūsuf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Sārah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tataghayyaru l-waẓāʾif — a prediction about jobs.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promise?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ʿUmar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Sārah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Saʾusāʿiduki — I will help you.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something / makes a negative plan?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ʿUmar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Yūsuf</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Sārah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ataʾakhkhara.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lost its nūn after lan?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أَتَأَخَّرَ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يَتَأَخَّرُوا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Yataʾakhkharūna → lan yataʾakhkharū.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next five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سَتَفْعَلُ غَدًا؟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سَتَفْعَلُ فِي الصَّيْفِ الْمُقْبِلِ؟ وَمَاذَا لَنْ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سَتَكُونُ حَيَاتُكَ بَعْدَ خَمْسِ سَنَوَاتٍ؟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غَدًا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فِي الصَّيْفِ الْمُقْبِلِ ___ ، وَلَكِنْ لَنْ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بَعْدَ خَمْسِ سَنَوَاتٍ ___ لِأَنَّنِي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سَتَفْعَلِينَ بَعْدَ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do after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سَأَدْرُسُ فِي الْجَامِعَةِ، وَسَوْفَ أَعْمَلُ مُعَلِّمَةً. لَنْ أَتْرُكَ الْعَرَبِيَّةَ لِأَنَّنِي أُحِبُّهَا.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will study at university, and I will work as a teacher. I will not leave Arabic because I love it.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plans for tomorrow and next week.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 + a present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sawfa, one promise and one lan sentence.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Fatḥa after 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five-year plans, a promise and two refusals.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five-verb form after 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سَوْفَ ______ التِّقْنِيَّةُ.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Technology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أَصْدِقَائِي لَنْ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will not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لِأَنَّنِي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غَدًا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الْأُسْبُوعَ الْقَادِمَ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we will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الْمُسْتَقْبَلِ سَأَعْمَلُ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work 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سَأُسَاعِدُ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help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سَأَدْرُسُ  ·  سَوْفَ أَعْمَلُ  ·  سَنُسَافِرُ  ·  سَأُسَاعِدُ  ·  لَنْ أَتَأَخَّرَ  ·  لَنْ أَنْسَى  ·  لَنْ يَتَأَخَّرُوا  ·  غَدًا  ·  الْأُسْبُوعَ الْقَادِمَ  ·  فِي الْمُسْتَقْبَلِ  ·  بَعْدَ خَمْسِ سَنَوَاتٍ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130–140 words about your plans, hopes and predictions for the next five years.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sa- and sawfa.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future time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lan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five-verb form after lan (nūn dropped).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promise and one prediction.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خَمْسِ سَنَوَاتٍ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five years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الْمُقْبِلِ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summer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أَتَمَنَّى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to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أَعِدُكَ أَنْ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promise you to</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لِأَنَّنِي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أَتَوَقَّفَ عَنْ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stop</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بَعْدَ خَمْسِ سَنَوَاتٍ سَأَكُونُ فِي الْجَامِعَةِ، وَسَأَدْرُسُ الْهَنْدَسَةَ لِأَنَّنِي أُحِبُّ الرِّيَاضِيَّاتِ. فِي الصَّيْفِ الْمُقْبِلِ سَنُسَافِرُ إِلَى الْأُرْدُنِّ، وَسَوْفَ أَتَكَلَّمُ الْعَرَبِيَّةَ هُنَاكَ. أَظُنُّ أَنَّ التِّقْنِيَّةَ سَوْفَ تَتَغَيَّرُ كَثِيرًا. أَعِدُ أُمِّي أَنِّي سَأُسَاعِدُهَا كُلَّ أُسْبُوعٍ. لَنْ أَتَوَقَّفَ عَنْ تَعَلُّمِ الْقُرْآنِ، وَلَنْ أُضَيِّعَ وَقْتِي. أَصْدِقَائِي أَيْضًا لَنْ يَنْسَوْا أَحْلَامَهُمْ.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five years I will be at university, and I will study engineering because I love maths. Next summer we will travel to Jordan, and I will speak Arabic there. I think technology will change a lot. I promise my mother that I will help her every week. I will not stop learning the Qur’an, and I will not waste my time. My friends too will not forget their dreams.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 / sawfa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 + fatḥa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nūn dropped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phrase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 is attached; sawfa is separate.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are present forms.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lan the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future time phrases.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lan I dropped the nūn of the five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will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نُسَافِرُ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سَوْفَنُسَافِرُ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سَنُسَافَرْنَا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تَكْتُبِي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تَكْتُبِي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يَكْتُبُوا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يَكْتُبُونَ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 كَتَبُوا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will travel”.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سَوْفَ نُسَافِرُ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سَوْفَنُسَافِرُ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سَنُسَافَرْنَا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Separate sawfa.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تَكْتُبِينَ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لَنْ تَكْتُبِي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تَكْتُبِي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لَنْ يَكْتُبُوا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يَكْتُبُونَ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 كَتَبُوا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GM-V-07: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GM-V-07 · Imperatives and Negative Commands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 (to a boy)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اُكْتُبِي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 (to a girl)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اُكْتُبُوا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 (to a group)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تَكْتُبْ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don’t write!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Lan taktubī drops the nūn. Can you guess how a teacher says “Write!” to a girl?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تَكْتُبِينَ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tomorrow with sa-.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five future sentences negative with lan.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five-year plans with a promise and two refusals.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GM-V-07 · Imperatives and Negative Commands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فِعْلُ الْأَمْرِ وَالنَّهْيُ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 attached · sawfa separate · both = future · lan replaces them · after lan: fatḥa, and the five verbs drop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GM-V-06 · Future Tense and Future Negation</dc:title>
  <dc:subject>PptxGenJS Presentation</dc:subject>
  <dc:creator>Al Madina Online School · Arabic Department</dc:creator>
  <cp:lastModifiedBy>Al Madina Online School · Arabic Department</cp:lastModifiedBy>
  <cp:revision>1</cp:revision>
  <dcterms:created xsi:type="dcterms:W3CDTF">2026-10-11T06:42:36Z</dcterms:created>
  <dcterms:modified xsi:type="dcterms:W3CDTF">2026-10-11T06:42:36Z</dcterms:modified>
</cp:coreProperties>
</file>