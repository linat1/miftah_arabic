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GM-V-06 (“Future Tense and Future Negation”).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سَـ and سَوْفَ before a present verb you already know (سَأَدْرُسُ · سَوْفَ أَدْرُسُ). Develop: لَنْ + singular forms (لَنْ أَكْتُبَ · لَنْ تَكْتُبَ). Stretch: لَنْ with the five verbs — the nūn drops (لَنْ تَكْتُبِي · لَنْ يَكْتُبُوا).
• Website correction: do not teach “sa- = near, sawfa = distant” as a law. Both mark the future; context decides.
• Weak classes: the future is the easiest tense — students already know the present from GM-V-05. Reassure them: one extra letter.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 2, 4, 5 and 6) — the GM-V-05 prep words sa-, sawfa and lan.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Future = sa- or sawfa + present verb. Negative future = lan + present verb with a fatḥa — or with the nūn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“Build the affirmative future”. Students already know the present (GM-V-05): just add 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“Negate the future”. Chant: lan aktuba · lan taktubī · lan yaktubū.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“Plans, predictions, promises and refusals” and “Future time expressions”.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Future Marker and Future Negation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(the website prints “ʿani taʿallumi” — corrected to ʿan taʿallumi; ʿan only takes kasra before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ask why the nūn drops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ask why the nūn drops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Future Negation and Communicative Function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plans). Read it aloud once while students follow; then they hunt for today’s grammar.
Task: Website: match each prediction, intention, promise and refusal to the correct person.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plans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five linked future sentences on education, work and travel. Listening (website): sayafʿalu / lan yafʿala, especially in plural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130–140 words about your plans, hopes and predictions for the next five years. Include one promise and two things you will not do.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(GM-V-07 · Imperatives and Negative Commands) will spend class time USING this language, so students prepare it tonight — short, simple, easy to access (school guidance: “Simple, Short, Interesting, Relevant, Easy to access”). The five words prepare GM-V-07 (website Verbs lesson 7: imperatives and negative commands).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Future Tense and Future Negation</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زَمَنُ الْمُسْتَقْبَلِ وَنَفْيُهُ</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Future = sa- (attached) or sawfa (separate) + a correct present verb. Negative future = lan + present verb, which changes: a final fatḥa on singular forms, and the five verbs lose their nūn.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GM-V-06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sa- and sawfa; lan + subjunctive; purposes; time phrases.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Make it negative; sort nūn stays / drops;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will travel”.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سَأُسَافِرُ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أُسَافِرَ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correctly written </a:t>
            </a:r>
            <a:pPr algn="l" indent="0" marL="0">
              <a:buNone/>
            </a:pPr>
            <a:r>
              <a:rPr lang="ar-SA" altLang="en-US" sz="1650" b="1" dirty="0">
                <a:solidFill>
                  <a:srgbClr val="1B3B6F"/>
                </a:solidFill>
                <a:latin typeface="Amiri" pitchFamily="2" charset="-78"/>
                <a:ea typeface="Amiri" pitchFamily="2" charset="-78"/>
                <a:cs typeface="Amiri" pitchFamily="2" charset="-78"/>
              </a:rPr>
              <a:t>سوف</a:t>
            </a:r>
            <a:pPr algn="l" indent="0" marL="0">
              <a:buNone/>
            </a:pPr>
            <a:r>
              <a:rPr lang="en-US" sz="1250" b="1" dirty="0">
                <a:solidFill>
                  <a:srgbClr val="1B3B6F"/>
                </a:solidFill>
                <a:latin typeface="Calibri" pitchFamily="34" charset="0"/>
                <a:cs typeface="Amiri" pitchFamily="2" charset="-78"/>
              </a:rPr>
              <a:t> construction.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أَدْرُسُ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سَوْفَأَدْرُسُ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دَرَسْتُ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will write”.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سَكَتَبُوا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سَيَكْتُبُوا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سَيَكْتُبُونَ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will not write”.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يَكْتُبُونَ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يَكْتُبُوا غَدًا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يَكْتُبُوا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claim is safest?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ar-SA" altLang="en-US" sz="1350" dirty="0">
                <a:solidFill>
                  <a:srgbClr val="1F2A37"/>
                </a:solidFill>
                <a:latin typeface="Amiri" pitchFamily="2" charset="-78"/>
                <a:ea typeface="Amiri" pitchFamily="2" charset="-78"/>
                <a:cs typeface="Amiri" pitchFamily="2" charset="-78"/>
              </a:rPr>
              <a:t>سـ</a:t>
            </a:r>
            <a:pPr algn="l" indent="0" marL="0">
              <a:buNone/>
            </a:pPr>
            <a:r>
              <a:rPr lang="en-US" sz="1050" dirty="0">
                <a:solidFill>
                  <a:srgbClr val="1F2A37"/>
                </a:solidFill>
                <a:latin typeface="Calibri" pitchFamily="34" charset="0"/>
                <a:cs typeface="Amiri" pitchFamily="2" charset="-78"/>
              </a:rPr>
              <a:t> and </a:t>
            </a:r>
            <a:pPr algn="l" indent="0" marL="0">
              <a:buNone/>
            </a:pPr>
            <a:r>
              <a:rPr lang="ar-SA" altLang="en-US" sz="1350" dirty="0">
                <a:solidFill>
                  <a:srgbClr val="1F2A37"/>
                </a:solidFill>
                <a:latin typeface="Amiri" pitchFamily="2" charset="-78"/>
                <a:ea typeface="Amiri" pitchFamily="2" charset="-78"/>
                <a:cs typeface="Amiri" pitchFamily="2" charset="-78"/>
              </a:rPr>
              <a:t>سوف</a:t>
            </a:r>
            <a:pPr algn="l" indent="0" marL="0">
              <a:buNone/>
            </a:pPr>
            <a:r>
              <a:rPr lang="en-US" sz="1050" dirty="0">
                <a:solidFill>
                  <a:srgbClr val="1F2A37"/>
                </a:solidFill>
                <a:latin typeface="Calibri" pitchFamily="34" charset="0"/>
                <a:cs typeface="Amiri" pitchFamily="2" charset="-78"/>
              </a:rPr>
              <a:t> both mark future; context matters more than a rigid near/distant rule.</a:t>
            </a:r>
            <a:endParaRPr lang="en-US" sz="1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سـ</a:t>
            </a:r>
            <a:pPr algn="l" indent="0" marL="0">
              <a:buNone/>
            </a:pPr>
            <a:r>
              <a:rPr lang="en-US" sz="1250" dirty="0">
                <a:solidFill>
                  <a:srgbClr val="1F2A37"/>
                </a:solidFill>
                <a:latin typeface="Calibri" pitchFamily="34" charset="0"/>
                <a:cs typeface="Amiri" pitchFamily="2" charset="-78"/>
              </a:rPr>
              <a:t> always means tomorrow and </a:t>
            </a:r>
            <a:pPr algn="l" indent="0" marL="0">
              <a:buNone/>
            </a:pPr>
            <a:r>
              <a:rPr lang="ar-SA" altLang="en-US" sz="1650" dirty="0">
                <a:solidFill>
                  <a:srgbClr val="1F2A37"/>
                </a:solidFill>
                <a:latin typeface="Amiri" pitchFamily="2" charset="-78"/>
                <a:ea typeface="Amiri" pitchFamily="2" charset="-78"/>
                <a:cs typeface="Amiri" pitchFamily="2" charset="-78"/>
              </a:rPr>
              <a:t>سوف</a:t>
            </a:r>
            <a:pPr algn="l" indent="0" marL="0">
              <a:buNone/>
            </a:pPr>
            <a:r>
              <a:rPr lang="en-US" sz="1250" dirty="0">
                <a:solidFill>
                  <a:srgbClr val="1F2A37"/>
                </a:solidFill>
                <a:latin typeface="Calibri" pitchFamily="34" charset="0"/>
                <a:cs typeface="Amiri" pitchFamily="2" charset="-78"/>
              </a:rPr>
              <a:t> always means ten years later.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سوف</a:t>
            </a:r>
            <a:pPr algn="l" indent="0" marL="0">
              <a:buNone/>
            </a:pPr>
            <a:r>
              <a:rPr lang="en-US" sz="1250" dirty="0">
                <a:solidFill>
                  <a:srgbClr val="1F2A37"/>
                </a:solidFill>
                <a:latin typeface="Calibri" pitchFamily="34" charset="0"/>
                <a:cs typeface="Amiri" pitchFamily="2" charset="-78"/>
              </a:rPr>
              <a:t> attaches to the verb.</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will travel”.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سَأُسَافِرُ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أُسَافِرَ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 attaches to the present form.</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correctly written </a:t>
            </a:r>
            <a:pPr algn="l" indent="0" marL="0">
              <a:buNone/>
            </a:pPr>
            <a:r>
              <a:rPr lang="ar-SA" altLang="en-US" sz="1650" b="1" dirty="0">
                <a:solidFill>
                  <a:srgbClr val="1B3B6F"/>
                </a:solidFill>
                <a:latin typeface="Amiri" pitchFamily="2" charset="-78"/>
                <a:ea typeface="Amiri" pitchFamily="2" charset="-78"/>
                <a:cs typeface="Amiri" pitchFamily="2" charset="-78"/>
              </a:rPr>
              <a:t>سوف</a:t>
            </a:r>
            <a:pPr algn="l" indent="0" marL="0">
              <a:buNone/>
            </a:pPr>
            <a:r>
              <a:rPr lang="en-US" sz="1250" b="1" dirty="0">
                <a:solidFill>
                  <a:srgbClr val="1B3B6F"/>
                </a:solidFill>
                <a:latin typeface="Calibri" pitchFamily="34" charset="0"/>
                <a:cs typeface="Amiri" pitchFamily="2" charset="-78"/>
              </a:rPr>
              <a:t> construction.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سَوْفَ أَدْرُسُ</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سَوْفَأَدْرُسُ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دَرَسْتُ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Sawfa is a separate word followed by a present verb.</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will write”.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سَكَتَبُوا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سَيَكْتُبُوا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سَيَكْتُبُونَ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lan, the five-verb nūn drops.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will not write”.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يَكْتُبُونَ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يَكْتُبُوا غَدًا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يَكْتُبُوا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mark the future; context matters more than distance.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claim is safest?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ar-SA" altLang="en-US" sz="1350" b="1" dirty="0">
                <a:solidFill>
                  <a:srgbClr val="1F2A37"/>
                </a:solidFill>
                <a:latin typeface="Amiri" pitchFamily="2" charset="-78"/>
                <a:ea typeface="Amiri" pitchFamily="2" charset="-78"/>
                <a:cs typeface="Amiri" pitchFamily="2" charset="-78"/>
              </a:rPr>
              <a:t>سـ</a:t>
            </a:r>
            <a:pPr algn="l" indent="0" marL="0">
              <a:buNone/>
            </a:pPr>
            <a:r>
              <a:rPr lang="en-US" sz="1050" b="1" dirty="0">
                <a:solidFill>
                  <a:srgbClr val="1F2A37"/>
                </a:solidFill>
                <a:latin typeface="Calibri" pitchFamily="34" charset="0"/>
                <a:cs typeface="Amiri" pitchFamily="2" charset="-78"/>
              </a:rPr>
              <a:t> and </a:t>
            </a:r>
            <a:pPr algn="l" indent="0" marL="0">
              <a:buNone/>
            </a:pPr>
            <a:r>
              <a:rPr lang="ar-SA" altLang="en-US" sz="1350" b="1" dirty="0">
                <a:solidFill>
                  <a:srgbClr val="1F2A37"/>
                </a:solidFill>
                <a:latin typeface="Amiri" pitchFamily="2" charset="-78"/>
                <a:ea typeface="Amiri" pitchFamily="2" charset="-78"/>
                <a:cs typeface="Amiri" pitchFamily="2" charset="-78"/>
              </a:rPr>
              <a:t>سوف</a:t>
            </a:r>
            <a:pPr algn="l" indent="0" marL="0">
              <a:buNone/>
            </a:pPr>
            <a:r>
              <a:rPr lang="en-US" sz="1050" b="1" dirty="0">
                <a:solidFill>
                  <a:srgbClr val="1F2A37"/>
                </a:solidFill>
                <a:latin typeface="Calibri" pitchFamily="34" charset="0"/>
                <a:cs typeface="Amiri" pitchFamily="2" charset="-78"/>
              </a:rPr>
              <a:t> both mark future; context matters more than a rigid near/distant rule.</a:t>
            </a:r>
            <a:endParaRPr lang="en-US" sz="10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ar-SA" altLang="en-US" sz="1500" dirty="0">
                <a:solidFill>
                  <a:srgbClr val="9AA1AB"/>
                </a:solidFill>
                <a:latin typeface="Amiri" pitchFamily="2" charset="-78"/>
                <a:ea typeface="Amiri" pitchFamily="2" charset="-78"/>
                <a:cs typeface="Amiri" pitchFamily="2" charset="-78"/>
              </a:rPr>
              <a:t>سـ</a:t>
            </a:r>
            <a:pPr algn="l" indent="0" marL="0">
              <a:buNone/>
            </a:pPr>
            <a:r>
              <a:rPr lang="en-US" sz="1150" dirty="0">
                <a:solidFill>
                  <a:srgbClr val="9AA1AB"/>
                </a:solidFill>
                <a:latin typeface="Calibri" pitchFamily="34" charset="0"/>
                <a:cs typeface="Amiri" pitchFamily="2" charset="-78"/>
              </a:rPr>
              <a:t> always means tomorrow and </a:t>
            </a:r>
            <a:pPr algn="l" indent="0" marL="0">
              <a:buNone/>
            </a:pPr>
            <a:r>
              <a:rPr lang="ar-SA" altLang="en-US" sz="1500" dirty="0">
                <a:solidFill>
                  <a:srgbClr val="9AA1AB"/>
                </a:solidFill>
                <a:latin typeface="Amiri" pitchFamily="2" charset="-78"/>
                <a:ea typeface="Amiri" pitchFamily="2" charset="-78"/>
                <a:cs typeface="Amiri" pitchFamily="2" charset="-78"/>
              </a:rPr>
              <a:t>سوف</a:t>
            </a:r>
            <a:pPr algn="l" indent="0" marL="0">
              <a:buNone/>
            </a:pPr>
            <a:r>
              <a:rPr lang="en-US" sz="1150" dirty="0">
                <a:solidFill>
                  <a:srgbClr val="9AA1AB"/>
                </a:solidFill>
                <a:latin typeface="Calibri" pitchFamily="34" charset="0"/>
                <a:cs typeface="Amiri" pitchFamily="2" charset="-78"/>
              </a:rPr>
              <a:t> always means ten years later.</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سوف</a:t>
            </a:r>
            <a:pPr algn="l" indent="0" marL="0">
              <a:buNone/>
            </a:pPr>
            <a:r>
              <a:rPr lang="en-US" sz="1250" dirty="0">
                <a:solidFill>
                  <a:srgbClr val="9AA1AB"/>
                </a:solidFill>
                <a:latin typeface="Calibri" pitchFamily="34" charset="0"/>
                <a:cs typeface="Amiri" pitchFamily="2" charset="-78"/>
              </a:rPr>
              <a:t> attaches to the verb.</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Distance is not a dependable absolute distinction.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Future = sa- or sawfa + present verb. Negative future = lan + present verb with a fatḥa — or with the nūn dropped.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سَأَكْتُبُ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سَوْفَ أَكْتُبُ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لَنْ أَكْتُبَ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the future with sa- and sawfa.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Negate the future with lan.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Drop the nūn of the five verbs after lan.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future for plans, predictions, promises and refusals.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will study with sa- and sawfa.</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add a time phrase like tomorrow.</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I will not … with lan.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change the final vowel to fatḥa after lan.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drop the nūn after lan (they, you f.).</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promise and two refusals.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الْمُسْتَقْبَلُ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future</a:t>
            </a:r>
            <a:endParaRPr lang="en-US" sz="1350" dirty="0"/>
          </a:p>
          <a:p>
            <a:pPr indent="0" marL="0">
              <a:buNone/>
            </a:pPr>
            <a:r>
              <a:rPr lang="en-US" sz="1100" i="1" dirty="0">
                <a:solidFill>
                  <a:srgbClr val="5A6472"/>
                </a:solidFill>
                <a:latin typeface="Calibri" pitchFamily="34" charset="0"/>
                <a:cs typeface="Amiri" pitchFamily="2" charset="-78"/>
              </a:rPr>
              <a:t>al-mus-taq-ba-lu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فِي الْمُسْتَقْبَلِ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(attached)</a:t>
            </a:r>
            <a:endParaRPr lang="en-US" sz="1350" dirty="0"/>
          </a:p>
          <a:p>
            <a:pPr indent="0" marL="0">
              <a:buNone/>
            </a:pPr>
            <a:r>
              <a:rPr lang="en-US" sz="1100" i="1" dirty="0">
                <a:solidFill>
                  <a:srgbClr val="5A6472"/>
                </a:solidFill>
                <a:latin typeface="Calibri" pitchFamily="34" charset="0"/>
                <a:cs typeface="Amiri" pitchFamily="2" charset="-78"/>
              </a:rPr>
              <a:t>sa</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سَأَدْرُسُ</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سَوْفَ</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(separate word)</a:t>
            </a:r>
            <a:endParaRPr lang="en-US" sz="1350" dirty="0"/>
          </a:p>
          <a:p>
            <a:pPr indent="0" marL="0">
              <a:buNone/>
            </a:pPr>
            <a:r>
              <a:rPr lang="en-US" sz="1100" i="1" dirty="0">
                <a:solidFill>
                  <a:srgbClr val="5A6472"/>
                </a:solidFill>
                <a:latin typeface="Calibri" pitchFamily="34" charset="0"/>
                <a:cs typeface="Amiri" pitchFamily="2" charset="-78"/>
              </a:rPr>
              <a:t>saw-fa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سَوْفَ أَدْرُسُ</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not</a:t>
            </a:r>
            <a:endParaRPr lang="en-US" sz="1350" dirty="0"/>
          </a:p>
          <a:p>
            <a:pPr indent="0" marL="0">
              <a:buNone/>
            </a:pPr>
            <a:r>
              <a:rPr lang="en-US" sz="1100" i="1" dirty="0">
                <a:solidFill>
                  <a:srgbClr val="5A6472"/>
                </a:solidFill>
                <a:latin typeface="Calibri" pitchFamily="34" charset="0"/>
                <a:cs typeface="Amiri" pitchFamily="2" charset="-78"/>
              </a:rPr>
              <a:t>lan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لَنْ أَدْرُسَ</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الْمَنْصُوبُ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subjunctive (after lan)</a:t>
            </a:r>
            <a:endParaRPr lang="en-US" sz="1350" dirty="0"/>
          </a:p>
          <a:p>
            <a:pPr indent="0" marL="0">
              <a:buNone/>
            </a:pPr>
            <a:r>
              <a:rPr lang="en-US" sz="1100" i="1" dirty="0">
                <a:solidFill>
                  <a:srgbClr val="5A6472"/>
                </a:solidFill>
                <a:latin typeface="Calibri" pitchFamily="34" charset="0"/>
                <a:cs typeface="Amiri" pitchFamily="2" charset="-78"/>
              </a:rPr>
              <a:t>al-man-ṣū-bu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أَكْتُبَ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الْأَفْعَالُ الْخَمْسَةُ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five verbs (end in nūn)</a:t>
            </a:r>
            <a:endParaRPr lang="en-US" sz="1350" dirty="0"/>
          </a:p>
          <a:p>
            <a:pPr indent="0" marL="0">
              <a:buNone/>
            </a:pPr>
            <a:r>
              <a:rPr lang="en-US" sz="1100" i="1" dirty="0">
                <a:solidFill>
                  <a:srgbClr val="5A6472"/>
                </a:solidFill>
                <a:latin typeface="Calibri" pitchFamily="34" charset="0"/>
                <a:cs typeface="Amiri" pitchFamily="2" charset="-78"/>
              </a:rPr>
              <a:t>al-af-ʿā-lu al-kham-sa-tu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يَكْتُبُونَ · تَكْتُبِينَ</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BUILD THE AFFIRMATIVE FUTURE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One extra letter — or one extra word</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سَـ وَسَوْفَ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Typical use</a:t>
            </a:r>
            <a:endParaRPr lang="en-US" sz="1100" dirty="0"/>
          </a:p>
        </p:txBody>
      </p:sp>
      <p:sp>
        <p:nvSpPr>
          <p:cNvPr id="17" name="Text 14"/>
          <p:cNvSpPr txBox="1"/>
          <p:nvPr/>
        </p:nvSpPr>
        <p:spPr>
          <a:xfrm>
            <a:off x="49194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27249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Writing</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compact, very common</a:t>
            </a:r>
            <a:endParaRPr lang="en-US" sz="1100" dirty="0"/>
          </a:p>
        </p:txBody>
      </p:sp>
      <p:sp>
        <p:nvSpPr>
          <p:cNvPr id="22" name="Text 19"/>
          <p:cNvSpPr txBox="1"/>
          <p:nvPr/>
        </p:nvSpPr>
        <p:spPr>
          <a:xfrm>
            <a:off x="4937760" y="2267712"/>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سَأَدْرُسُ غَدًا.</a:t>
            </a:r>
            <a:endParaRPr lang="ar-SA" sz="2400" dirty="0"/>
          </a:p>
        </p:txBody>
      </p:sp>
      <p:sp>
        <p:nvSpPr>
          <p:cNvPr id="23" name="Text 20"/>
          <p:cNvSpPr txBox="1"/>
          <p:nvPr/>
        </p:nvSpPr>
        <p:spPr>
          <a:xfrm>
            <a:off x="276148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attached</a:t>
            </a:r>
            <a:endParaRPr lang="en-US" sz="1100" dirty="0"/>
          </a:p>
        </p:txBody>
      </p:sp>
      <p:sp>
        <p:nvSpPr>
          <p:cNvPr id="24" name="Text 21"/>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سَـ</a:t>
            </a:r>
            <a:endParaRPr lang="ar-SA" sz="2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explicit; often more formal</a:t>
            </a:r>
            <a:endParaRPr lang="en-US" sz="1100" dirty="0"/>
          </a:p>
        </p:txBody>
      </p:sp>
      <p:sp>
        <p:nvSpPr>
          <p:cNvPr id="29" name="Text 26"/>
          <p:cNvSpPr txBox="1"/>
          <p:nvPr/>
        </p:nvSpPr>
        <p:spPr>
          <a:xfrm>
            <a:off x="4937760" y="3004718"/>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سَوْفَ أَدْرُسُ غَدًا.</a:t>
            </a:r>
            <a:endParaRPr lang="ar-SA" sz="2400" dirty="0"/>
          </a:p>
        </p:txBody>
      </p:sp>
      <p:sp>
        <p:nvSpPr>
          <p:cNvPr id="30" name="Text 27"/>
          <p:cNvSpPr txBox="1"/>
          <p:nvPr/>
        </p:nvSpPr>
        <p:spPr>
          <a:xfrm>
            <a:off x="276148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separate</a:t>
            </a:r>
            <a:endParaRPr lang="en-US" sz="1100" dirty="0"/>
          </a:p>
        </p:txBody>
      </p:sp>
      <p:sp>
        <p:nvSpPr>
          <p:cNvPr id="31" name="Text 28"/>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سَوْفَ</a:t>
            </a:r>
            <a:endParaRPr lang="ar-SA" sz="26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clear arrangement</a:t>
            </a:r>
            <a:endParaRPr lang="en-US" sz="1100" dirty="0"/>
          </a:p>
        </p:txBody>
      </p:sp>
      <p:sp>
        <p:nvSpPr>
          <p:cNvPr id="36" name="Text 33"/>
          <p:cNvSpPr txBox="1"/>
          <p:nvPr/>
        </p:nvSpPr>
        <p:spPr>
          <a:xfrm>
            <a:off x="4937760" y="3741725"/>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أُسَافِرُ غَدًا.</a:t>
            </a:r>
            <a:endParaRPr lang="ar-SA" sz="2400" dirty="0"/>
          </a:p>
        </p:txBody>
      </p:sp>
      <p:sp>
        <p:nvSpPr>
          <p:cNvPr id="37" name="Text 34"/>
          <p:cNvSpPr txBox="1"/>
          <p:nvPr/>
        </p:nvSpPr>
        <p:spPr>
          <a:xfrm>
            <a:off x="276148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time</a:t>
            </a:r>
            <a:endParaRPr lang="en-US" sz="11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marker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stays after sa-</a:t>
            </a:r>
            <a:endParaRPr lang="en-US" sz="1100" dirty="0"/>
          </a:p>
        </p:txBody>
      </p:sp>
      <p:sp>
        <p:nvSpPr>
          <p:cNvPr id="41" name="Text 38"/>
          <p:cNvSpPr txBox="1"/>
          <p:nvPr/>
        </p:nvSpPr>
        <p:spPr>
          <a:xfrm>
            <a:off x="4937760" y="4478731"/>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سَتَدْرُسُ</a:t>
            </a:r>
            <a:endParaRPr lang="ar-SA" sz="2400" dirty="0"/>
          </a:p>
        </p:txBody>
      </p:sp>
      <p:sp>
        <p:nvSpPr>
          <p:cNvPr id="42" name="Text 39"/>
          <p:cNvSpPr txBox="1"/>
          <p:nvPr/>
        </p:nvSpPr>
        <p:spPr>
          <a:xfrm>
            <a:off x="276148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43" name="Text 40"/>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سَـ</a:t>
            </a:r>
            <a:endParaRPr lang="ar-SA" sz="26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nūn STAYS</a:t>
            </a:r>
            <a:endParaRPr lang="en-US" sz="1100" dirty="0"/>
          </a:p>
        </p:txBody>
      </p:sp>
      <p:sp>
        <p:nvSpPr>
          <p:cNvPr id="48" name="Text 45"/>
          <p:cNvSpPr txBox="1"/>
          <p:nvPr/>
        </p:nvSpPr>
        <p:spPr>
          <a:xfrm>
            <a:off x="4937760" y="5215738"/>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سَيَكْتُبُونَ</a:t>
            </a:r>
            <a:endParaRPr lang="ar-SA" sz="2400" dirty="0"/>
          </a:p>
        </p:txBody>
      </p:sp>
      <p:sp>
        <p:nvSpPr>
          <p:cNvPr id="49" name="Text 46"/>
          <p:cNvSpPr txBox="1"/>
          <p:nvPr/>
        </p:nvSpPr>
        <p:spPr>
          <a:xfrm>
            <a:off x="276148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a:t>
            </a:r>
            <a:endParaRPr lang="en-US" sz="1100" dirty="0"/>
          </a:p>
        </p:txBody>
      </p:sp>
      <p:sp>
        <p:nvSpPr>
          <p:cNvPr id="50" name="Text 47"/>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سَـ</a:t>
            </a:r>
            <a:endParaRPr lang="ar-SA" sz="26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correction: both sa- and sawfa mark the future — there is no strict “near / distant” law. Never use both together, and never attach sawfa.</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NEGATE THE FUTURE WITH LAN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 changes the end of the 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النَّفْيُ بِـ «لَنْ»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Change</a:t>
            </a:r>
            <a:endParaRPr lang="en-US" sz="1100" dirty="0"/>
          </a:p>
        </p:txBody>
      </p:sp>
      <p:sp>
        <p:nvSpPr>
          <p:cNvPr id="17" name="Text 14"/>
          <p:cNvSpPr txBox="1"/>
          <p:nvPr/>
        </p:nvSpPr>
        <p:spPr>
          <a:xfrm>
            <a:off x="58338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Negative with lan</a:t>
            </a:r>
            <a:endParaRPr lang="en-US" sz="1100" dirty="0"/>
          </a:p>
        </p:txBody>
      </p:sp>
      <p:sp>
        <p:nvSpPr>
          <p:cNvPr id="18" name="Text 15"/>
          <p:cNvSpPr txBox="1"/>
          <p:nvPr/>
        </p:nvSpPr>
        <p:spPr>
          <a:xfrm>
            <a:off x="27249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Affirmative</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162288" y="2267712"/>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a</a:t>
            </a:r>
            <a:endParaRPr lang="en-US" sz="1100" dirty="0"/>
          </a:p>
        </p:txBody>
      </p:sp>
      <p:sp>
        <p:nvSpPr>
          <p:cNvPr id="22" name="Text 19"/>
          <p:cNvSpPr txBox="1"/>
          <p:nvPr/>
        </p:nvSpPr>
        <p:spPr>
          <a:xfrm>
            <a:off x="5852160" y="2267712"/>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أَكْتُبَ</a:t>
            </a:r>
            <a:endParaRPr lang="ar-SA" sz="2400" dirty="0"/>
          </a:p>
        </p:txBody>
      </p:sp>
      <p:sp>
        <p:nvSpPr>
          <p:cNvPr id="23" name="Text 20"/>
          <p:cNvSpPr txBox="1"/>
          <p:nvPr/>
        </p:nvSpPr>
        <p:spPr>
          <a:xfrm>
            <a:off x="274320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سَأَكْتُبُ</a:t>
            </a:r>
            <a:endParaRPr lang="ar-SA" sz="2400" dirty="0"/>
          </a:p>
        </p:txBody>
      </p:sp>
      <p:sp>
        <p:nvSpPr>
          <p:cNvPr id="24" name="Text 21"/>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162288" y="300471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a</a:t>
            </a:r>
            <a:endParaRPr lang="en-US" sz="1100" dirty="0"/>
          </a:p>
        </p:txBody>
      </p:sp>
      <p:sp>
        <p:nvSpPr>
          <p:cNvPr id="29" name="Text 26"/>
          <p:cNvSpPr txBox="1"/>
          <p:nvPr/>
        </p:nvSpPr>
        <p:spPr>
          <a:xfrm>
            <a:off x="5852160" y="3004718"/>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تَكْتُبَ</a:t>
            </a:r>
            <a:endParaRPr lang="ar-SA" sz="2400" dirty="0"/>
          </a:p>
        </p:txBody>
      </p:sp>
      <p:sp>
        <p:nvSpPr>
          <p:cNvPr id="30" name="Text 27"/>
          <p:cNvSpPr txBox="1"/>
          <p:nvPr/>
        </p:nvSpPr>
        <p:spPr>
          <a:xfrm>
            <a:off x="274320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سَتَكْتُبُ</a:t>
            </a:r>
            <a:endParaRPr lang="ar-SA" sz="2400" dirty="0"/>
          </a:p>
        </p:txBody>
      </p:sp>
      <p:sp>
        <p:nvSpPr>
          <p:cNvPr id="31" name="Text 28"/>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162288" y="3741725"/>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a</a:t>
            </a:r>
            <a:endParaRPr lang="en-US" sz="1100" dirty="0"/>
          </a:p>
        </p:txBody>
      </p:sp>
      <p:sp>
        <p:nvSpPr>
          <p:cNvPr id="36" name="Text 33"/>
          <p:cNvSpPr txBox="1"/>
          <p:nvPr/>
        </p:nvSpPr>
        <p:spPr>
          <a:xfrm>
            <a:off x="5852160" y="3741725"/>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نَكْتُبَ</a:t>
            </a:r>
            <a:endParaRPr lang="ar-SA" sz="2400" dirty="0"/>
          </a:p>
        </p:txBody>
      </p:sp>
      <p:sp>
        <p:nvSpPr>
          <p:cNvPr id="37" name="Text 34"/>
          <p:cNvSpPr txBox="1"/>
          <p:nvPr/>
        </p:nvSpPr>
        <p:spPr>
          <a:xfrm>
            <a:off x="274320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سَنَكْتُبُ</a:t>
            </a:r>
            <a:endParaRPr lang="ar-SA" sz="2400" dirty="0"/>
          </a:p>
        </p:txBody>
      </p:sp>
      <p:sp>
        <p:nvSpPr>
          <p:cNvPr id="38" name="Text 35"/>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162288" y="4478731"/>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43" name="Text 40"/>
          <p:cNvSpPr txBox="1"/>
          <p:nvPr/>
        </p:nvSpPr>
        <p:spPr>
          <a:xfrm>
            <a:off x="5852160" y="4478731"/>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تَكْتُبِي</a:t>
            </a:r>
            <a:endParaRPr lang="ar-SA" sz="2400" dirty="0"/>
          </a:p>
        </p:txBody>
      </p:sp>
      <p:sp>
        <p:nvSpPr>
          <p:cNvPr id="44" name="Text 41"/>
          <p:cNvSpPr txBox="1"/>
          <p:nvPr/>
        </p:nvSpPr>
        <p:spPr>
          <a:xfrm>
            <a:off x="274320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سَتَكْتُبِينَ</a:t>
            </a:r>
            <a:endParaRPr lang="ar-SA" sz="2400" dirty="0"/>
          </a:p>
        </p:txBody>
      </p:sp>
      <p:sp>
        <p:nvSpPr>
          <p:cNvPr id="45" name="Text 42"/>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162288" y="521573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 + silent alif</a:t>
            </a:r>
            <a:endParaRPr lang="en-US" sz="1100" dirty="0"/>
          </a:p>
        </p:txBody>
      </p:sp>
      <p:sp>
        <p:nvSpPr>
          <p:cNvPr id="48" name="Text 45"/>
          <p:cNvSpPr txBox="1"/>
          <p:nvPr/>
        </p:nvSpPr>
        <p:spPr>
          <a:xfrm>
            <a:off x="5852160" y="5215738"/>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يَكْتُبُوا</a:t>
            </a:r>
            <a:endParaRPr lang="ar-SA" sz="2400" dirty="0"/>
          </a:p>
        </p:txBody>
      </p:sp>
      <p:sp>
        <p:nvSpPr>
          <p:cNvPr id="49" name="Text 46"/>
          <p:cNvSpPr txBox="1"/>
          <p:nvPr/>
        </p:nvSpPr>
        <p:spPr>
          <a:xfrm>
            <a:off x="274320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سَيَكْتُبُونَ</a:t>
            </a:r>
            <a:endParaRPr lang="ar-SA" sz="2400" dirty="0"/>
          </a:p>
        </p:txBody>
      </p:sp>
      <p:sp>
        <p:nvSpPr>
          <p:cNvPr id="50" name="Text 47"/>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lan REPLACES sa- / sawfa (never “lan sa-”). The five verbs (-īna, -āni, -ūna) lose their nūn; the plural adds a silent alif.</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3 · PURPOSES AND TIME PHRASES (WEBSITE) · DEVELOP / STRETCH</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Plans, predictions, promises, refusals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الْوَظَائِفُ وَعِبَارَاتُ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345643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Purpose / phrase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61364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study medicine.</a:t>
            </a:r>
            <a:endParaRPr lang="en-US" sz="1100" dirty="0"/>
          </a:p>
        </p:txBody>
      </p:sp>
      <p:sp>
        <p:nvSpPr>
          <p:cNvPr id="21" name="Text 18"/>
          <p:cNvSpPr txBox="1"/>
          <p:nvPr/>
        </p:nvSpPr>
        <p:spPr>
          <a:xfrm>
            <a:off x="3474720" y="226771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سَأَدْرُسُ الطِّبَّ فِي الْمُسْتَقْبَلِ.</a:t>
            </a:r>
            <a:endParaRPr lang="ar-SA" sz="2200" dirty="0"/>
          </a:p>
        </p:txBody>
      </p:sp>
      <p:sp>
        <p:nvSpPr>
          <p:cNvPr id="22" name="Text 19"/>
          <p:cNvSpPr txBox="1"/>
          <p:nvPr/>
        </p:nvSpPr>
        <p:spPr>
          <a:xfrm>
            <a:off x="5669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61364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Technology will change fast.</a:t>
            </a:r>
            <a:endParaRPr lang="en-US" sz="1100" dirty="0"/>
          </a:p>
        </p:txBody>
      </p:sp>
      <p:sp>
        <p:nvSpPr>
          <p:cNvPr id="27" name="Text 24"/>
          <p:cNvSpPr txBox="1"/>
          <p:nvPr/>
        </p:nvSpPr>
        <p:spPr>
          <a:xfrm>
            <a:off x="3474720" y="2881884"/>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سَوْفَ تَتَغَيَّرُ التِّقْنِيَّةُ سَرِيعًا.</a:t>
            </a:r>
            <a:endParaRPr lang="ar-SA" sz="2200" dirty="0"/>
          </a:p>
        </p:txBody>
      </p:sp>
      <p:sp>
        <p:nvSpPr>
          <p:cNvPr id="28" name="Text 25"/>
          <p:cNvSpPr txBox="1"/>
          <p:nvPr/>
        </p:nvSpPr>
        <p:spPr>
          <a:xfrm>
            <a:off x="5669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prediction</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861364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help you tomorrow.</a:t>
            </a:r>
            <a:endParaRPr lang="en-US" sz="1100" dirty="0"/>
          </a:p>
        </p:txBody>
      </p:sp>
      <p:sp>
        <p:nvSpPr>
          <p:cNvPr id="31" name="Text 28"/>
          <p:cNvSpPr txBox="1"/>
          <p:nvPr/>
        </p:nvSpPr>
        <p:spPr>
          <a:xfrm>
            <a:off x="3474720" y="3496056"/>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سَأُسَاعِدُكَ غَدًا.</a:t>
            </a:r>
            <a:endParaRPr lang="ar-SA" sz="2200" dirty="0"/>
          </a:p>
        </p:txBody>
      </p:sp>
      <p:sp>
        <p:nvSpPr>
          <p:cNvPr id="32" name="Text 29"/>
          <p:cNvSpPr txBox="1"/>
          <p:nvPr/>
        </p:nvSpPr>
        <p:spPr>
          <a:xfrm>
            <a:off x="5669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promise</a:t>
            </a:r>
            <a:endParaRPr lang="en-US" sz="1100" dirty="0"/>
          </a:p>
        </p:txBody>
      </p:sp>
      <p:sp>
        <p:nvSpPr>
          <p:cNvPr id="33" name="Shape 3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61364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not be late again.</a:t>
            </a:r>
            <a:endParaRPr lang="en-US" sz="1100" dirty="0"/>
          </a:p>
        </p:txBody>
      </p:sp>
      <p:sp>
        <p:nvSpPr>
          <p:cNvPr id="37" name="Text 34"/>
          <p:cNvSpPr txBox="1"/>
          <p:nvPr/>
        </p:nvSpPr>
        <p:spPr>
          <a:xfrm>
            <a:off x="3474720" y="4110228"/>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لَنْ أَتَأَخَّرَ مَرَّةً أُخْرَى.</a:t>
            </a:r>
            <a:endParaRPr lang="ar-SA" sz="2200" dirty="0"/>
          </a:p>
        </p:txBody>
      </p:sp>
      <p:sp>
        <p:nvSpPr>
          <p:cNvPr id="38" name="Text 35"/>
          <p:cNvSpPr txBox="1"/>
          <p:nvPr/>
        </p:nvSpPr>
        <p:spPr>
          <a:xfrm>
            <a:off x="5669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refusal</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61364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will start next week.</a:t>
            </a:r>
            <a:endParaRPr lang="en-US" sz="1100" dirty="0"/>
          </a:p>
        </p:txBody>
      </p:sp>
      <p:sp>
        <p:nvSpPr>
          <p:cNvPr id="41" name="Text 38"/>
          <p:cNvSpPr txBox="1"/>
          <p:nvPr/>
        </p:nvSpPr>
        <p:spPr>
          <a:xfrm>
            <a:off x="3474720" y="4724400"/>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سَوْفَ نَبْدَأُ الْأُسْبُوعَ الْقَادِمَ.</a:t>
            </a:r>
            <a:endParaRPr lang="ar-SA" sz="2200" dirty="0"/>
          </a:p>
        </p:txBody>
      </p:sp>
      <p:sp>
        <p:nvSpPr>
          <p:cNvPr id="42" name="Text 39"/>
          <p:cNvSpPr txBox="1"/>
          <p:nvPr/>
        </p:nvSpPr>
        <p:spPr>
          <a:xfrm>
            <a:off x="5669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week</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61364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will travel next summer.</a:t>
            </a:r>
            <a:endParaRPr lang="en-US" sz="1100" dirty="0"/>
          </a:p>
        </p:txBody>
      </p:sp>
      <p:sp>
        <p:nvSpPr>
          <p:cNvPr id="45" name="Text 42"/>
          <p:cNvSpPr txBox="1"/>
          <p:nvPr/>
        </p:nvSpPr>
        <p:spPr>
          <a:xfrm>
            <a:off x="3474720" y="533857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سَنُسَافِرُ فِي الصَّيْفِ الْمُقْبِلِ.</a:t>
            </a:r>
            <a:endParaRPr lang="ar-SA" sz="2200" dirty="0"/>
          </a:p>
        </p:txBody>
      </p:sp>
      <p:sp>
        <p:nvSpPr>
          <p:cNvPr id="46" name="Text 43"/>
          <p:cNvSpPr txBox="1"/>
          <p:nvPr/>
        </p:nvSpPr>
        <p:spPr>
          <a:xfrm>
            <a:off x="5669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summer</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“double evidence”: a future marker + a future time phrase makes the time unmistakable. Extend with a reason: … li-annanī …</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attached form?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 نَذْهَبُ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سَوْفَنَذْهَبُ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سَنَذْهَبُ</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separate form?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نَذْهَبُ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سَوْفَنَذْهَبُ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نَذْهَبَ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will study”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سَيَدْرُسُ</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سَتَدْرُسُ</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دَرَسَتْ غَدًا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will not travel”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تُسَافِرَ</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تُسَافِرُ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تُسَافِرْ غَدًا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attached form?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 نَذْهَبُ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سَوْفَنَذْهَبُ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سَنَذْهَبُ</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 attaches directly.</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separate form?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سَوْفَ نَذْهَبُ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سَوْفَنَذْهَبُ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نَذْهَبَ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Sawfa is a separate word.</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will study”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سَيَدْرُسُ</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سَتَدْرُسُ</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دَرَسَتْ غَدًا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matches she.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will not travel”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تُسَافِرَ</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تُسَافِرُ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تُسَافِرْ غَدًا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Subjunctive after lan: final fatḥa.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Watch me build a future plan — and a refusal</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أَدْرُسُ</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study (GM-V-05).</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Future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سَأَدْرُسُ</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sa-.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أَتَوَقَّفُ</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stop.</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Negative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لَنْ أَتَوَقَّفَ</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lan + fatḥa.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LAN + SUBJUNCTIVE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الْمُسْتَقْبَلِ </a:t>
            </a:r>
            <a:pPr rtl="1" algn="r" indent="0" marL="0">
              <a:buNone/>
            </a:pPr>
            <a:r>
              <a:rPr lang="ar-SA" altLang="en-US" sz="2600" b="1" dirty="0">
                <a:solidFill>
                  <a:srgbClr val="0E7C86"/>
                </a:solidFill>
                <a:latin typeface="Amiri" pitchFamily="2" charset="-78"/>
                <a:ea typeface="Amiri" pitchFamily="2" charset="-78"/>
                <a:cs typeface="Amiri" pitchFamily="2" charset="-78"/>
              </a:rPr>
              <a:t>سَأَدْرُسُ</a:t>
            </a:r>
            <a:pPr rtl="1" algn="r" indent="0" marL="0">
              <a:buNone/>
            </a:pPr>
            <a:r>
              <a:rPr lang="ar-SA" altLang="en-US" sz="2600" b="1" dirty="0">
                <a:solidFill>
                  <a:srgbClr val="1B3B6F"/>
                </a:solidFill>
                <a:latin typeface="Amiri" pitchFamily="2" charset="-78"/>
                <a:ea typeface="Amiri" pitchFamily="2" charset="-78"/>
                <a:cs typeface="Amiri" pitchFamily="2" charset="-78"/>
              </a:rPr>
              <a:t> فِي الْجَامِعَةِ، وَ</a:t>
            </a:r>
            <a:pPr rtl="1" algn="r" indent="0" marL="0">
              <a:buNone/>
            </a:pPr>
            <a:r>
              <a:rPr lang="ar-SA" altLang="en-US" sz="2600" b="1" dirty="0">
                <a:solidFill>
                  <a:srgbClr val="0E7C86"/>
                </a:solidFill>
                <a:latin typeface="Amiri" pitchFamily="2" charset="-78"/>
                <a:ea typeface="Amiri" pitchFamily="2" charset="-78"/>
                <a:cs typeface="Amiri" pitchFamily="2" charset="-78"/>
              </a:rPr>
              <a:t>سَوْفَ أَتَعَلَّمُ</a:t>
            </a:r>
            <a:pPr rtl="1" algn="r" indent="0" marL="0">
              <a:buNone/>
            </a:pPr>
            <a:r>
              <a:rPr lang="ar-SA" altLang="en-US" sz="2600" b="1" dirty="0">
                <a:solidFill>
                  <a:srgbClr val="1B3B6F"/>
                </a:solidFill>
                <a:latin typeface="Amiri" pitchFamily="2" charset="-78"/>
                <a:ea typeface="Amiri" pitchFamily="2" charset="-78"/>
                <a:cs typeface="Amiri" pitchFamily="2" charset="-78"/>
              </a:rPr>
              <a:t> مَهَارَاتٍ جَدِيدَةً. </a:t>
            </a:r>
            <a:pPr rtl="1" algn="r" indent="0" marL="0">
              <a:buNone/>
            </a:pPr>
            <a:r>
              <a:rPr lang="ar-SA" altLang="en-US" sz="2600" b="1" dirty="0">
                <a:solidFill>
                  <a:srgbClr val="D6336C"/>
                </a:solidFill>
                <a:latin typeface="Amiri" pitchFamily="2" charset="-78"/>
                <a:ea typeface="Amiri" pitchFamily="2" charset="-78"/>
                <a:cs typeface="Amiri" pitchFamily="2" charset="-78"/>
              </a:rPr>
              <a:t>لَنْ أَتَوَقَّفَ</a:t>
            </a:r>
            <a:pPr rtl="1" algn="r" indent="0" marL="0">
              <a:buNone/>
            </a:pPr>
            <a:r>
              <a:rPr lang="ar-SA" altLang="en-US" sz="2600" b="1" dirty="0">
                <a:solidFill>
                  <a:srgbClr val="1B3B6F"/>
                </a:solidFill>
                <a:latin typeface="Amiri" pitchFamily="2" charset="-78"/>
                <a:ea typeface="Amiri" pitchFamily="2" charset="-78"/>
                <a:cs typeface="Amiri" pitchFamily="2" charset="-78"/>
              </a:rPr>
              <a:t> عَنْ تَعَلُّمِ الْعَرَبِيَّةِ.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In the future I will study at university, and I will learn new skills. I will not stop learning Arabic.</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سَأَتَّصِلُ بِكَ مَسَاءً.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call you this evening.</a:t>
            </a:r>
            <a:endParaRPr lang="en-US" sz="1250" dirty="0"/>
          </a:p>
          <a:p>
            <a:pPr indent="0" marL="0">
              <a:buNone/>
            </a:pPr>
            <a:r>
              <a:rPr lang="en-US" sz="1050" i="1" dirty="0">
                <a:solidFill>
                  <a:srgbClr val="8A6D1E"/>
                </a:solidFill>
                <a:latin typeface="Calibri" pitchFamily="34" charset="0"/>
                <a:cs typeface="Amiri" pitchFamily="2" charset="-78"/>
              </a:rPr>
              <a:t>Promise.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سَوْفَ يَزْدَادُ اسْتِخْدَامُ التِّقْنِيَّةِ.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use of technology will increase.</a:t>
            </a:r>
            <a:endParaRPr lang="en-US" sz="1250" dirty="0"/>
          </a:p>
          <a:p>
            <a:pPr indent="0" marL="0">
              <a:buNone/>
            </a:pPr>
            <a:r>
              <a:rPr lang="en-US" sz="1050" i="1" dirty="0">
                <a:solidFill>
                  <a:srgbClr val="8A6D1E"/>
                </a:solidFill>
                <a:latin typeface="Calibri" pitchFamily="34" charset="0"/>
                <a:cs typeface="Amiri" pitchFamily="2" charset="-78"/>
              </a:rPr>
              <a:t>Prediction.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 أَنْسَى وَاجِبِي.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not forget my homework.</a:t>
            </a:r>
            <a:endParaRPr lang="en-US" sz="1250" dirty="0"/>
          </a:p>
          <a:p>
            <a:pPr indent="0" marL="0">
              <a:buNone/>
            </a:pPr>
            <a:r>
              <a:rPr lang="en-US" sz="1050" i="1" dirty="0">
                <a:solidFill>
                  <a:srgbClr val="8A6D1E"/>
                </a:solidFill>
                <a:latin typeface="Calibri" pitchFamily="34" charset="0"/>
                <a:cs typeface="Amiri" pitchFamily="2" charset="-78"/>
              </a:rPr>
              <a:t>lan + final weak: no change seen.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أَصْدِقَائِي لَنْ يَتَأَخَّرُوا.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friends will not be late.</a:t>
            </a:r>
            <a:endParaRPr lang="en-US" sz="1250" dirty="0"/>
          </a:p>
          <a:p>
            <a:pPr indent="0" marL="0">
              <a:buNone/>
            </a:pPr>
            <a:r>
              <a:rPr lang="en-US" sz="1050" i="1" dirty="0">
                <a:solidFill>
                  <a:srgbClr val="8A6D1E"/>
                </a:solidFill>
                <a:latin typeface="Calibri" pitchFamily="34" charset="0"/>
                <a:cs typeface="Amiri" pitchFamily="2" charset="-78"/>
              </a:rPr>
              <a:t>Nūn drops.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MAKE IT NEGATIVE (WEBSITE GAME)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Will → will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 إِلَى النَّفْيِ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65653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Negative</a:t>
            </a:r>
            <a:endParaRPr lang="en-US" sz="1100" dirty="0"/>
          </a:p>
        </p:txBody>
      </p:sp>
      <p:sp>
        <p:nvSpPr>
          <p:cNvPr id="18" name="Text 15"/>
          <p:cNvSpPr txBox="1"/>
          <p:nvPr/>
        </p:nvSpPr>
        <p:spPr>
          <a:xfrm>
            <a:off x="34564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Affirmative</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710928" y="2267712"/>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a</a:t>
            </a:r>
            <a:endParaRPr lang="en-US" sz="1100" dirty="0"/>
          </a:p>
        </p:txBody>
      </p:sp>
      <p:sp>
        <p:nvSpPr>
          <p:cNvPr id="22" name="Text 19"/>
          <p:cNvSpPr txBox="1"/>
          <p:nvPr/>
        </p:nvSpPr>
        <p:spPr>
          <a:xfrm>
            <a:off x="65836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أَدْرُسَ</a:t>
            </a:r>
            <a:endParaRPr lang="ar-SA" sz="2400" dirty="0"/>
          </a:p>
        </p:txBody>
      </p:sp>
      <p:sp>
        <p:nvSpPr>
          <p:cNvPr id="23" name="Text 20"/>
          <p:cNvSpPr txBox="1"/>
          <p:nvPr/>
        </p:nvSpPr>
        <p:spPr>
          <a:xfrm>
            <a:off x="347472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سَأَدْرُسُ</a:t>
            </a:r>
            <a:endParaRPr lang="ar-SA" sz="2400" dirty="0"/>
          </a:p>
        </p:txBody>
      </p:sp>
      <p:sp>
        <p:nvSpPr>
          <p:cNvPr id="24" name="Text 21"/>
          <p:cNvSpPr txBox="1"/>
          <p:nvPr/>
        </p:nvSpPr>
        <p:spPr>
          <a:xfrm>
            <a:off x="5669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study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710928" y="2881884"/>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a</a:t>
            </a:r>
            <a:endParaRPr lang="en-US" sz="1100" dirty="0"/>
          </a:p>
        </p:txBody>
      </p:sp>
      <p:sp>
        <p:nvSpPr>
          <p:cNvPr id="29" name="Text 26"/>
          <p:cNvSpPr txBox="1"/>
          <p:nvPr/>
        </p:nvSpPr>
        <p:spPr>
          <a:xfrm>
            <a:off x="65836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تَتَأَخَّرَ</a:t>
            </a:r>
            <a:endParaRPr lang="ar-SA" sz="2400" dirty="0"/>
          </a:p>
        </p:txBody>
      </p:sp>
      <p:sp>
        <p:nvSpPr>
          <p:cNvPr id="30" name="Text 27"/>
          <p:cNvSpPr txBox="1"/>
          <p:nvPr/>
        </p:nvSpPr>
        <p:spPr>
          <a:xfrm>
            <a:off x="347472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سَتَتَأَخَّرُ</a:t>
            </a:r>
            <a:endParaRPr lang="ar-SA" sz="2400" dirty="0"/>
          </a:p>
        </p:txBody>
      </p:sp>
      <p:sp>
        <p:nvSpPr>
          <p:cNvPr id="31" name="Text 28"/>
          <p:cNvSpPr txBox="1"/>
          <p:nvPr/>
        </p:nvSpPr>
        <p:spPr>
          <a:xfrm>
            <a:off x="5669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will be late</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710928" y="3496056"/>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36" name="Text 33"/>
          <p:cNvSpPr txBox="1"/>
          <p:nvPr/>
        </p:nvSpPr>
        <p:spPr>
          <a:xfrm>
            <a:off x="65836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يَكْتُبُوا</a:t>
            </a:r>
            <a:endParaRPr lang="ar-SA" sz="2400" dirty="0"/>
          </a:p>
        </p:txBody>
      </p:sp>
      <p:sp>
        <p:nvSpPr>
          <p:cNvPr id="37" name="Text 34"/>
          <p:cNvSpPr txBox="1"/>
          <p:nvPr/>
        </p:nvSpPr>
        <p:spPr>
          <a:xfrm>
            <a:off x="347472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سَيَكْتُبُونَ</a:t>
            </a:r>
            <a:endParaRPr lang="ar-SA" sz="2400" dirty="0"/>
          </a:p>
        </p:txBody>
      </p:sp>
      <p:sp>
        <p:nvSpPr>
          <p:cNvPr id="38" name="Text 35"/>
          <p:cNvSpPr txBox="1"/>
          <p:nvPr/>
        </p:nvSpPr>
        <p:spPr>
          <a:xfrm>
            <a:off x="5669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will write</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9710928" y="4110228"/>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41" name="Text 38"/>
          <p:cNvSpPr txBox="1"/>
          <p:nvPr/>
        </p:nvSpPr>
        <p:spPr>
          <a:xfrm>
            <a:off x="65836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تُسَافِرِي</a:t>
            </a:r>
            <a:endParaRPr lang="ar-SA" sz="2400" dirty="0"/>
          </a:p>
        </p:txBody>
      </p:sp>
      <p:sp>
        <p:nvSpPr>
          <p:cNvPr id="42" name="Text 39"/>
          <p:cNvSpPr txBox="1"/>
          <p:nvPr/>
        </p:nvSpPr>
        <p:spPr>
          <a:xfrm>
            <a:off x="347472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سَتُسَافِرِينَ</a:t>
            </a:r>
            <a:endParaRPr lang="ar-SA" sz="2400" dirty="0"/>
          </a:p>
        </p:txBody>
      </p:sp>
      <p:sp>
        <p:nvSpPr>
          <p:cNvPr id="43" name="Text 40"/>
          <p:cNvSpPr txBox="1"/>
          <p:nvPr/>
        </p:nvSpPr>
        <p:spPr>
          <a:xfrm>
            <a:off x="5669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(f.) will travel</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9710928" y="4724400"/>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visible change</a:t>
            </a:r>
            <a:endParaRPr lang="en-US" sz="1100" dirty="0"/>
          </a:p>
        </p:txBody>
      </p:sp>
      <p:sp>
        <p:nvSpPr>
          <p:cNvPr id="46" name="Text 43"/>
          <p:cNvSpPr txBox="1"/>
          <p:nvPr/>
        </p:nvSpPr>
        <p:spPr>
          <a:xfrm>
            <a:off x="65836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نَرَى</a:t>
            </a:r>
            <a:endParaRPr lang="ar-SA" sz="2400" dirty="0"/>
          </a:p>
        </p:txBody>
      </p:sp>
      <p:sp>
        <p:nvSpPr>
          <p:cNvPr id="47" name="Text 44"/>
          <p:cNvSpPr txBox="1"/>
          <p:nvPr/>
        </p:nvSpPr>
        <p:spPr>
          <a:xfrm>
            <a:off x="347472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سَنَرَى</a:t>
            </a:r>
            <a:endParaRPr lang="ar-SA" sz="2400" dirty="0"/>
          </a:p>
        </p:txBody>
      </p:sp>
      <p:sp>
        <p:nvSpPr>
          <p:cNvPr id="48" name="Text 45"/>
          <p:cNvSpPr txBox="1"/>
          <p:nvPr/>
        </p:nvSpPr>
        <p:spPr>
          <a:xfrm>
            <a:off x="5669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will see</a:t>
            </a:r>
            <a:endParaRPr lang="en-US" sz="11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9710928" y="5338572"/>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51" name="Text 48"/>
          <p:cNvSpPr txBox="1"/>
          <p:nvPr/>
        </p:nvSpPr>
        <p:spPr>
          <a:xfrm>
            <a:off x="65836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يَصِلُوا</a:t>
            </a:r>
            <a:endParaRPr lang="ar-SA" sz="2400" dirty="0"/>
          </a:p>
        </p:txBody>
      </p:sp>
      <p:sp>
        <p:nvSpPr>
          <p:cNvPr id="52" name="Text 49"/>
          <p:cNvSpPr txBox="1"/>
          <p:nvPr/>
        </p:nvSpPr>
        <p:spPr>
          <a:xfrm>
            <a:off x="347472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سَيَصِلُونَ</a:t>
            </a:r>
            <a:endParaRPr lang="ar-SA" sz="2400" dirty="0"/>
          </a:p>
        </p:txBody>
      </p:sp>
      <p:sp>
        <p:nvSpPr>
          <p:cNvPr id="53" name="Text 50"/>
          <p:cNvSpPr txBox="1"/>
          <p:nvPr/>
        </p:nvSpPr>
        <p:spPr>
          <a:xfrm>
            <a:off x="5669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will arrive</a:t>
            </a:r>
            <a:endParaRPr lang="en-US" sz="11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lan replaces sa- — then check the end of the verb.</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NŪN STAYS OR DROPS?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Does the nūn stay?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تَبْقَى النُّونُ؟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سَيَكْتُبُونَ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يَكْتُبُوا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سَتَدْرُسِينَ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تَدْرُسِي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يَلْعَبُونَ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يَلْعَبُوا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سَتُسَافِرِينَ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تُسَافِرِي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Nūn stays (future)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Nūn drops (after lan)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Nūn stays (future)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سَيَكْتُبُونَ</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سَتَدْرُسِينَ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يَلْعَبُونَ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سَتُسَافِرِينَ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Nūn drops (after lan)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يَكْتُبُوا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تَدْرُسِي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يَلْعَبُوا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تُسَافِرِي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سَوْفَسَأَدْرُسُ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marker or two?</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 يَذْهَبُونَ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happens to the nūn after lan?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سَافَرْتُ غَدًا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Past verb with tomorrow?</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سَوْفَسَأَدْرُسُ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سَوْفَ أَدْرُسُ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 not combine both markers or attach sawfa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 يَذْهَبُونَ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يَذْهَبُوا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nūn of the five verbs drops after lan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سَافَرْتُ غَدًا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سَأُسَافِرُ غَدًا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Tomorrow needs a future verb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2F6FB0"/>
                </a:solidFill>
                <a:latin typeface="Calibri" pitchFamily="34" charset="0"/>
                <a:cs typeface="Amiri" pitchFamily="2" charset="-78"/>
              </a:rPr>
              <a:t>WE DO · GUIDED PRACTICE · WEBSITE FUTURE NEGATION AND COMMUNICATIVE FUNCTION CHECKS</a:t>
            </a:r>
            <a:endParaRPr lang="en-US" sz="82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will not write”.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تَكْتُبِينَ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تَكْتُبِي!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تَكْتُبِي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will not arrive”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يَصِلُونَ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يَصِلُوا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وَصَلُوا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future ambition?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عَمِلْتُ غَدًا.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سَأَعْمَلُ كَمُهَنْدِسَةٍ.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أَعْمَلَ أَمْسِ.</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negative intention?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أَنْسَ غَدًا.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أَنْسَى سَوْفَ.</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أَنْسَى وَاجِبِي.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will not write”.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تَكْتُبِينَ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تَكْتُبِي!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تَكْتُبِي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 this is not a command.</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will not arrive”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يَصِلُونَ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يَصِلُوا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وَصَلُوا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Present subjunctive after lan: the nūn drops.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future ambition?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عَمِلْتُ غَدًا.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سَأَعْمَلُ كَمُهَنْدِسَةٍ.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أَعْمَلَ أَمْسِ.</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future plan.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negative intention?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أَنْسَ غَدًا.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أَنْسَى سَوْفَ.</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أَنْسَى وَاجِبِي.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 + subjunctive.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YOU DO · READ AND NOTICE · WEBSITE READING WORKSHOP (TEACHER-WRITTEN PLANS)</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students, four plans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تَقُولُ مَرْيَمُ: «سَأَدْرُسُ الطِّبَّ لِأَنَّنِي أُحِبُّ مُسَاعَدَةَ النَّاسِ». يَقُولُ يُوسُفُ: «سَوْفَ تَتَغَيَّرُ الْوَظَائِفُ بِسَبَبِ التِّقْنِيَّةِ». تَقُولُ سَارَةُ لِأُمِّهَا: «سَأُسَاعِدُكِ فِي الْمَطْبَخِ غَدًا». يَقُولُ عُمَرُ: «لَنْ أَتَأَخَّرَ عَنِ الْمَدْرَسَةِ مَرَّةً أُخْرَى، وَأَصْدِقَائِي لَنْ يَتَأَخَّرُوا أَيْضًا».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الطِّبَّ</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medicine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مُسَاعَدَةَ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helping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الْوَظَائِفُ</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jobs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بِسَبَبِ</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because of</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الْمَطْبَخِ</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kitchen</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a prediction?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Yūsuf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Sārah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a promise?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ʿUmar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Sārah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refuses something / makes a negative plan?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ʿUmar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Yūsuf</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Sārah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lost its nūn after lan?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أَتَأَخَّرَ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يَتَأَخَّرُوا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سَأَدْرُسُ</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a prediction?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Yūsuf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Sārah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Sawfa tataghayyaru l-waẓāʾif — a prediction about jobs.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a promise?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ʿUmar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Maryam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Sārah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Saʾusāʿiduki — I will help you.</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refuses something / makes a negative plan?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ʿUmar</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Yūsuf</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Sārah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 ataʾakhkhara.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lost its nūn after lan?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أَتَأَخَّرَ</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يَتَأَخَّرُوا</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سَأَدْرُسُ</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Yataʾakhkharūna → lan yataʾakhkharū.</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next five years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سَتَفْعَلُ غَدًا؟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سَتَفْعَلُ فِي الصَّيْفِ الْمُقْبِلِ؟ وَمَاذَا لَنْ تَفْعَلَ؟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سَتَكُونُ حَيَاتُكَ بَعْدَ خَمْسِ سَنَوَاتٍ؟ وَلِمَاذَا؟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غَدًا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فِي الصَّيْفِ الْمُقْبِلِ ___ ، وَلَكِنْ لَنْ ___ .</a:t>
            </a:r>
            <a:endParaRPr lang="ar-SA" sz="15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بَعْدَ خَمْسِ سَنَوَاتٍ ___ لِأَنَّنِي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سَتَفْعَلِينَ بَعْدَ الْمَدْرَسَةِ؟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will you do after school?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سَأَدْرُسُ فِي الْجَامِعَةِ، وَسَوْفَ أَعْمَلُ مُعَلِّمَةً. لَنْ أَتْرُكَ الْعَرَبِيَّةَ لِأَنَّنِي أُحِبُّهَا.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will study at university, and I will work as a teacher. I will not leave Arabic because I love it.</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My plans for tomorrow and next week.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sa- + a present verb.</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sawfa, one promise and one lan sentence.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Fatḥa after lan.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five-year plans, a promise and two refusals.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five-verb form after lan.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not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سَوْفَ ______ التِّقْنِيَّةُ.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Technology will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أَصْدِقَائِي لَنْ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will not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لِأَنَّنِي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I will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الْأُسْبُوعَ الْقَادِمَ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week we will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سَأَعْمَلُ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work as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سَأُسَاعِدُ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help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سَأَدْرُسُ  ·  سَوْفَ أَعْمَلُ  ·  سَنُسَافِرُ  ·  سَأُسَاعِدُ  ·  لَنْ أَتَأَخَّرَ  ·  لَنْ أَنْسَى  ·  لَنْ يَتَأَخَّرُوا  ·  غَدًا  ·  الْأُسْبُوعَ الْقَادِمَ  ·  فِي الْمُسْتَقْبَلِ  ·  بَعْدَ خَمْسِ سَنَوَاتٍ</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130–140 words about your plans, hopes and predictions for the next five years.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Both sa- and sawfa.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future time phrases.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lan structures.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five-verb form after lan (nūn dropped).</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promise and one prediction.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خَمْسِ سَنَوَاتٍ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five years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الْمُقْبِلِ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summer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hope to</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أَعِدُكَ أَنْ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promise you to</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لِأَنَّنِي</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I</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أَتَوَقَّفَ عَنْ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not stop</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بَعْدَ خَمْسِ سَنَوَاتٍ سَأَكُونُ فِي الْجَامِعَةِ، وَسَأَدْرُسُ الْهَنْدَسَةَ لِأَنَّنِي أُحِبُّ الرِّيَاضِيَّاتِ. فِي الصَّيْفِ الْمُقْبِلِ سَنُسَافِرُ إِلَى الْأُرْدُنِّ، وَسَوْفَ أَتَكَلَّمُ الْعَرَبِيَّةَ هُنَاكَ. أَظُنُّ أَنَّ التِّقْنِيَّةَ سَوْفَ تَتَغَيَّرُ كَثِيرًا. أَعِدُ أُمِّي أَنِّي سَأُسَاعِدُهَا كُلَّ أُسْبُوعٍ. لَنْ أَتَوَقَّفَ عَنْ تَعَلُّمِ الْقُرْآنِ، وَلَنْ أُضَيِّعَ وَقْتِي. أَصْدِقَائِي أَيْضًا لَنْ يَنْسَوْا أَحْلَامَهُمْ.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five years I will be at university, and I will study engineering because I love maths. Next summer we will travel to Jordan, and I will speak Arabic there. I think technology will change a lot. I promise my mother that I will help her every week. I will not stop learning the Qur’an, and I will not waste my time. My friends too will not forget their dreams.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sa- / sawfa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lan + fatḥa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nūn dropped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 phrase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 is attached; sawfa is separate.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future verbs are present forms.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lan the verb ends in fatḥa.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future time phrases.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lan I dropped the nūn of the five verbs.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will travel”.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نُسَافِرُ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سَوْفَنُسَافِرُ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سَنُسَافَرْنَا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will not write”.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تَكْتُبِينَ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تَكْتُبِي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تَكْتُبِي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will not write”.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يَكْتُبُوا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يَكْتُبُونَ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كَتَبُوا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will travel”.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سَوْفَ نُسَافِرُ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سَوْفَنُسَافِرُ</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سَنُسَافَرْنَا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Separate sawfa.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will not write”.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 تَكْتُبِينَ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لَنْ تَكْتُبِي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تَكْتُبِي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will not write”.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لَنْ يَكْتُبُوا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 يَكْتُبُونَ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 كَتَبُوا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GM-V-06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GM-V-07: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GM-V-07 · Imperatives and Negative Commands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اُكْتُبْ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write! (to a boy)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اُكْتُبِي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write! (to a girl)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اُكْتُبُوا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write! (to a group)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تَكْتُبْ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don’t write!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فَضْلِكَ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please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Lan taktubī drops the nūn. Can you guess how a teacher says “Write!” to a girl?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تَكْتُبِينَ ·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about tomorrow with sa-.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Make five future sentences negative with lan.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five-year plans with a promise and two refusals.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GM-V-07 · Imperatives and Negative Commands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فِعْلُ الْأَمْرِ وَالنَّهْيُ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 attached · sawfa separate · both = future · lan replaces them · after lan: fatḥa, and the five verbs drop the nūn.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GM-V-06 · Future Tense and Future Negation</dc:title>
  <dc:subject>PptxGenJS Presentation</dc:subject>
  <dc:creator>Al Madina Online School · Arabic Department</dc:creator>
  <cp:lastModifiedBy>Al Madina Online School · Arabic Department</cp:lastModifiedBy>
  <cp:revision>1</cp:revision>
  <dcterms:created xsi:type="dcterms:W3CDTF">2026-10-11T06:42:36Z</dcterms:created>
  <dcterms:modified xsi:type="dcterms:W3CDTF">2026-10-11T06:42:36Z</dcterms:modified>
</cp:coreProperties>
</file>