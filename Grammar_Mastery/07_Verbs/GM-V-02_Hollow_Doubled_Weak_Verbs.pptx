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GM-V-02 (“Hollow, Doubled and Weak Verb Patterns”).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high-frequency forms قُلْتُ · زُرْنَا · مَرَرْتُ · مَشَيْتُ · يَصِلُ. Develop: explain WHEN the long vowel shortens (hollow) and the shadda opens (doubled): before endings that start with a consonant (-tu, -ta, -nā, -tum). Stretch: compare final ي-family (مَشَى / مَشَيْتُ) and final و-family (دَعَا / دَعَوْتُ); plural رَمَوْا.
• The key question for students: “Does the ending begin with a VOWEL (‑at, ‑ū) or a CONSONANT (‑tu, ‑nā)?”
• Website warning: patterns guide, but high-frequency verbs must still be learned as pairs (وَصَلَ / يَصِلُ · وَجَدَ / يَجِدُ).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does the ending start with a VOWEL or a CONSONANT? Before a consonant, hollow verbs shorten and doubled verbs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“Hollow verbs”. Model the website pair: huwa qāla l-ḥaqqa · naḥnu qulnā l-ḥaqqa. Chant the memory line: qāla — qālat — qālū — qultu — qulnā.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“Doubled verbs”. Memory line: marra — marrat — marrū — marartu — mararnā.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“Initial and final weak verbs”. Memory line: mashā — mashat — mashaw — mashaytu — mashaynā.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Hollow, Doubled and Initial / Final Weak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extended with marrat (vowel-led ending, shadda stays). Ask the key question at every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 3; students complete aloud. Stretch: notice daʿat (she called) loses the alif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and Initial / Final Weak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blog). Read it aloud once while students follow; then they hunt for today’s grammar.
Task: Website: highlight every hollow, doubled, initial-weak and final-weak verb, and rebuild its dictionary pair.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journey blog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retell a past journey with qāla, zāra, marra, mashā and waṣala; then retell it with a different subject. Listening (website): note each new form when the speaker changes from I to we to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account of a visit or journey with at least six weak or doubled verbs, including singular and plural subjects.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(GM-V-03 · Unusual High-Frequency Verbs) will spend class time USING this language, so students prepare it tonight — short, simple, easy to access (school guidance: “Simple, Short, Interesting, Relevant, Easy to access”). The five verbs prepare GM-V-03 (website Verbs lesson 3: unusual high-frequency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Hollow, Doubled and Weak Verb Patterns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الْأَفْعَالُ الْجَوْفَاءُ وَالْمُضَعَّفَةُ وَالْمُعْتَلَّةُ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Weak and doubled verbs change shape with their endings: qāla → qultu (I said), marra → marartu (I passed), mashā → mashaytu (I walked), waṣala → yaṣilu (he arrives). One simple question decides most changes: does the ending start with a vowel or a consonant?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Hollow; doubled; initial and final weak; retrieval lines.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ending; complete the lines;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visited”.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walked”.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مَشَوْتُ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وَصَلَ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Before a consonant-led ending, the hollow stem shortens: qultu.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visited”.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middle vowel shortens before -nā.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مَرَرْتُ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consonants separate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walked”.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مَشَوْتُ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maqṣūra appears as yāʾ before the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وَصَلَ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wāw drops in this common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Ask: does the ending start with a VOWEL or a CONSONANT? Before a consonant, hollow verbs shorten and doubled verbs open.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 · </a:t>
            </a:r>
            <a:pPr rtl="1" algn="ctr" indent="0" marL="0">
              <a:buNone/>
            </a:pPr>
            <a:r>
              <a:rPr lang="ar-SA" altLang="en-US" sz="2400" b="1" dirty="0">
                <a:solidFill>
                  <a:srgbClr val="0E7C86"/>
                </a:solidFill>
                <a:latin typeface="Amiri" pitchFamily="2" charset="-78"/>
                <a:ea typeface="Amiri" pitchFamily="2" charset="-78"/>
                <a:cs typeface="Amiri" pitchFamily="2" charset="-78"/>
              </a:rPr>
              <a:t>قُلْتُ</a:t>
            </a:r>
            <a:pPr rtl="1" algn="ctr" indent="0" marL="0">
              <a:buNone/>
            </a:pPr>
            <a:r>
              <a:rPr lang="ar-SA" altLang="en-US" sz="2400" b="1" dirty="0">
                <a:solidFill>
                  <a:srgbClr val="1B3B6F"/>
                </a:solidFill>
                <a:latin typeface="Amiri" pitchFamily="2" charset="-78"/>
                <a:ea typeface="Amiri" pitchFamily="2" charset="-78"/>
                <a:cs typeface="Amiri" pitchFamily="2" charset="-78"/>
              </a:rPr>
              <a:t> ‖ مَرَّ · </a:t>
            </a:r>
            <a:pPr rtl="1" algn="ctr" indent="0" marL="0">
              <a:buNone/>
            </a:pPr>
            <a:r>
              <a:rPr lang="ar-SA" altLang="en-US" sz="2400" b="1" dirty="0">
                <a:solidFill>
                  <a:srgbClr val="D6336C"/>
                </a:solidFill>
                <a:latin typeface="Amiri" pitchFamily="2" charset="-78"/>
                <a:ea typeface="Amiri" pitchFamily="2" charset="-78"/>
                <a:cs typeface="Amiri" pitchFamily="2" charset="-78"/>
              </a:rPr>
              <a:t>مَرَرْتُ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hollow verbs before consonant-led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doubled verbs before consonant-led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common initial-weak and final-weak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weak verbs in a connected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said, we visited, I passed, I walked.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he arrives as yaṣilu.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why the vowel shortens or the shadda opens.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she passed vs I passed.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mashaytu and daʿawtu.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they threw: ramaw.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الْأَجْوَفُ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hollow (weak middle)</a:t>
            </a:r>
            <a:endParaRPr lang="en-US" sz="1350" dirty="0"/>
          </a:p>
          <a:p>
            <a:pPr indent="0" marL="0">
              <a:buNone/>
            </a:pPr>
            <a:r>
              <a:rPr lang="en-US" sz="1100" i="1" dirty="0">
                <a:solidFill>
                  <a:srgbClr val="5A6472"/>
                </a:solidFill>
                <a:latin typeface="Calibri" pitchFamily="34" charset="0"/>
                <a:cs typeface="Amiri" pitchFamily="2" charset="-78"/>
              </a:rPr>
              <a:t>al-aj-wa-fu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قَالَ · زَارَ · قَامَ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الْمُضَعَّفُ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doubled</a:t>
            </a:r>
            <a:endParaRPr lang="en-US" sz="1350" dirty="0"/>
          </a:p>
          <a:p>
            <a:pPr indent="0" marL="0">
              <a:buNone/>
            </a:pPr>
            <a:r>
              <a:rPr lang="en-US" sz="1100" i="1" dirty="0">
                <a:solidFill>
                  <a:srgbClr val="5A6472"/>
                </a:solidFill>
                <a:latin typeface="Calibri" pitchFamily="34" charset="0"/>
                <a:cs typeface="Amiri" pitchFamily="2" charset="-78"/>
              </a:rPr>
              <a:t>al-mu-ḍaʿ-ʿa-fu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مَرَّ · رَدَّ · أَحَبَّ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initial weak</a:t>
            </a:r>
            <a:endParaRPr lang="en-US" sz="1350" dirty="0"/>
          </a:p>
          <a:p>
            <a:pPr indent="0" marL="0">
              <a:buNone/>
            </a:pPr>
            <a:r>
              <a:rPr lang="en-US" sz="1100" i="1" dirty="0">
                <a:solidFill>
                  <a:srgbClr val="5A6472"/>
                </a:solidFill>
                <a:latin typeface="Calibri" pitchFamily="34" charset="0"/>
                <a:cs typeface="Amiri" pitchFamily="2" charset="-78"/>
              </a:rPr>
              <a:t>al-mi-thā-lu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وَصَلَ / يَصِلُ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النَّاقِصُ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 weak</a:t>
            </a:r>
            <a:endParaRPr lang="en-US" sz="1350" dirty="0"/>
          </a:p>
          <a:p>
            <a:pPr indent="0" marL="0">
              <a:buNone/>
            </a:pPr>
            <a:r>
              <a:rPr lang="en-US" sz="1100" i="1" dirty="0">
                <a:solidFill>
                  <a:srgbClr val="5A6472"/>
                </a:solidFill>
                <a:latin typeface="Calibri" pitchFamily="34" charset="0"/>
                <a:cs typeface="Amiri" pitchFamily="2" charset="-78"/>
              </a:rPr>
              <a:t>an-nā-qi-ṣu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مَشَى · دَعَا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 تَبْدَأُ بِسَاكِنٍ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consonant-led ending</a:t>
            </a:r>
            <a:endParaRPr lang="en-US" sz="1350" dirty="0"/>
          </a:p>
          <a:p>
            <a:pPr indent="0" marL="0">
              <a:buNone/>
            </a:pPr>
            <a:r>
              <a:rPr lang="en-US" sz="1100" i="1" dirty="0">
                <a:solidFill>
                  <a:srgbClr val="5A6472"/>
                </a:solidFill>
                <a:latin typeface="Calibri" pitchFamily="34" charset="0"/>
                <a:cs typeface="Amiri" pitchFamily="2" charset="-78"/>
              </a:rPr>
              <a:t>lā-ḥi-qa-tun tab-da-ʾu bi-sā-ki-nin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-tu · -nā · -tum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 تَبْدَأُ بِحَرَكَةٍ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vowel-led ending</a:t>
            </a:r>
            <a:endParaRPr lang="en-US" sz="1350" dirty="0"/>
          </a:p>
          <a:p>
            <a:pPr indent="0" marL="0">
              <a:buNone/>
            </a:pPr>
            <a:r>
              <a:rPr lang="en-US" sz="1100" i="1" dirty="0">
                <a:solidFill>
                  <a:srgbClr val="5A6472"/>
                </a:solidFill>
                <a:latin typeface="Calibri" pitchFamily="34" charset="0"/>
                <a:cs typeface="Amiri" pitchFamily="2" charset="-78"/>
              </a:rPr>
              <a:t>lā-ḥi-qa-tun tab-da-ʾu bi-ḥa-ra-ka-tin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 -ū</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1 · HOLLOW VERBS: THE MIDDLE CHANGES SHAPE (WEBSITE TABLE)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Long with vowel endings, short with consonant endings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Short stem (I · we)</a:t>
            </a:r>
            <a:endParaRPr lang="en-US" sz="1100" dirty="0"/>
          </a:p>
        </p:txBody>
      </p:sp>
      <p:sp>
        <p:nvSpPr>
          <p:cNvPr id="18" name="Text 15"/>
          <p:cNvSpPr txBox="1"/>
          <p:nvPr/>
        </p:nvSpPr>
        <p:spPr>
          <a:xfrm>
            <a:off x="25420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Long stem (he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يَقُولُ</a:t>
            </a:r>
            <a:endParaRPr lang="ar-SA" sz="2200" dirty="0"/>
          </a:p>
        </p:txBody>
      </p:sp>
      <p:sp>
        <p:nvSpPr>
          <p:cNvPr id="22" name="Text 19"/>
          <p:cNvSpPr txBox="1"/>
          <p:nvPr/>
        </p:nvSpPr>
        <p:spPr>
          <a:xfrm>
            <a:off x="6035040" y="2267712"/>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قُلْتُ · قُلْنَا</a:t>
            </a:r>
            <a:endParaRPr lang="ar-SA" sz="2200" dirty="0"/>
          </a:p>
        </p:txBody>
      </p:sp>
      <p:sp>
        <p:nvSpPr>
          <p:cNvPr id="23" name="Text 20"/>
          <p:cNvSpPr txBox="1"/>
          <p:nvPr/>
        </p:nvSpPr>
        <p:spPr>
          <a:xfrm>
            <a:off x="256032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قَالَ · قَالَتْ · قَالُوا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(q-w-l)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يَزُورُ</a:t>
            </a:r>
            <a:endParaRPr lang="ar-SA" sz="2200" dirty="0"/>
          </a:p>
        </p:txBody>
      </p:sp>
      <p:sp>
        <p:nvSpPr>
          <p:cNvPr id="29" name="Text 26"/>
          <p:cNvSpPr txBox="1"/>
          <p:nvPr/>
        </p:nvSpPr>
        <p:spPr>
          <a:xfrm>
            <a:off x="6035040" y="3054096"/>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 زُرْنَا</a:t>
            </a:r>
            <a:endParaRPr lang="ar-SA" sz="2200" dirty="0"/>
          </a:p>
        </p:txBody>
      </p:sp>
      <p:sp>
        <p:nvSpPr>
          <p:cNvPr id="30" name="Text 27"/>
          <p:cNvSpPr txBox="1"/>
          <p:nvPr/>
        </p:nvSpPr>
        <p:spPr>
          <a:xfrm>
            <a:off x="256032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زَارَ · زَارَتْ · زَارُوا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(z-w-r)</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يَقُومُ</a:t>
            </a:r>
            <a:endParaRPr lang="ar-SA" sz="2200" dirty="0"/>
          </a:p>
        </p:txBody>
      </p:sp>
      <p:sp>
        <p:nvSpPr>
          <p:cNvPr id="36" name="Text 33"/>
          <p:cNvSpPr txBox="1"/>
          <p:nvPr/>
        </p:nvSpPr>
        <p:spPr>
          <a:xfrm>
            <a:off x="6035040" y="3840480"/>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قُمْتُ · قُمْنَا</a:t>
            </a:r>
            <a:endParaRPr lang="ar-SA" sz="2200" dirty="0"/>
          </a:p>
        </p:txBody>
      </p:sp>
      <p:sp>
        <p:nvSpPr>
          <p:cNvPr id="37" name="Text 34"/>
          <p:cNvSpPr txBox="1"/>
          <p:nvPr/>
        </p:nvSpPr>
        <p:spPr>
          <a:xfrm>
            <a:off x="256032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قَامَ · قَامَتْ · قَامُوا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stand (q-w-m)</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long vowel appears with vowel-led endings; it shortens when the ending begins with a consonant: qultu, qulnā, qultum.</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DOUBLED VERBS: MERGE AND SEPARATE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shadda opens before a consonant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Consonant-led ending</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Vowel-led ending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يَمُرُّ</a:t>
            </a:r>
            <a:endParaRPr lang="ar-SA" sz="2200" dirty="0"/>
          </a:p>
        </p:txBody>
      </p:sp>
      <p:sp>
        <p:nvSpPr>
          <p:cNvPr id="22" name="Text 19"/>
          <p:cNvSpPr txBox="1"/>
          <p:nvPr/>
        </p:nvSpPr>
        <p:spPr>
          <a:xfrm>
            <a:off x="585216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مَرَرْتُ · مَرَرْنَا</a:t>
            </a:r>
            <a:endParaRPr lang="ar-SA" sz="2200" dirty="0"/>
          </a:p>
        </p:txBody>
      </p:sp>
      <p:sp>
        <p:nvSpPr>
          <p:cNvPr id="23" name="Text 20"/>
          <p:cNvSpPr txBox="1"/>
          <p:nvPr/>
        </p:nvSpPr>
        <p:spPr>
          <a:xfrm>
            <a:off x="25603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مَرَّتْ · مَرُّوا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 (m-r-r)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يَرُدُّ</a:t>
            </a:r>
            <a:endParaRPr lang="ar-SA" sz="2200" dirty="0"/>
          </a:p>
        </p:txBody>
      </p:sp>
      <p:sp>
        <p:nvSpPr>
          <p:cNvPr id="29" name="Text 26"/>
          <p:cNvSpPr txBox="1"/>
          <p:nvPr/>
        </p:nvSpPr>
        <p:spPr>
          <a:xfrm>
            <a:off x="585216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رَدَدْتُ · رَدَدْنَا</a:t>
            </a:r>
            <a:endParaRPr lang="ar-SA" sz="2200" dirty="0"/>
          </a:p>
        </p:txBody>
      </p:sp>
      <p:sp>
        <p:nvSpPr>
          <p:cNvPr id="30" name="Text 27"/>
          <p:cNvSpPr txBox="1"/>
          <p:nvPr/>
        </p:nvSpPr>
        <p:spPr>
          <a:xfrm>
            <a:off x="25603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رَدَّتْ · رَدُّوا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(r-d-d)</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يُحِبُّ</a:t>
            </a:r>
            <a:endParaRPr lang="ar-SA" sz="2200" dirty="0"/>
          </a:p>
        </p:txBody>
      </p:sp>
      <p:sp>
        <p:nvSpPr>
          <p:cNvPr id="36" name="Text 33"/>
          <p:cNvSpPr txBox="1"/>
          <p:nvPr/>
        </p:nvSpPr>
        <p:spPr>
          <a:xfrm>
            <a:off x="585216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أَحْبَبْتُ · أَحْبَبْنَا</a:t>
            </a:r>
            <a:endParaRPr lang="ar-SA" sz="2200" dirty="0"/>
          </a:p>
        </p:txBody>
      </p:sp>
      <p:sp>
        <p:nvSpPr>
          <p:cNvPr id="37" name="Text 34"/>
          <p:cNvSpPr txBox="1"/>
          <p:nvPr/>
        </p:nvSpPr>
        <p:spPr>
          <a:xfrm>
            <a:off x="25603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أَحَبَّتْ · أَحَبُّوا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love (ḥ-b-b)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shadda is two consonants. Before a consonant-led ending Arabic shows both: marartu, not “marrattu”.</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 PART 3 · INITIAL AND FINAL WEAK VERBS (WEBSITE TABLE)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Edges that drop, return or change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الْمِثَالُ وَالنَّاقِصُ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forms</a:t>
            </a:r>
            <a:endParaRPr lang="en-US" sz="1100" dirty="0"/>
          </a:p>
        </p:txBody>
      </p:sp>
      <p:sp>
        <p:nvSpPr>
          <p:cNvPr id="17" name="Text 14"/>
          <p:cNvSpPr txBox="1"/>
          <p:nvPr/>
        </p:nvSpPr>
        <p:spPr>
          <a:xfrm>
            <a:off x="583387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change (website)</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326880" y="2267712"/>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وَصَلْتُ · نَصِلُ</a:t>
            </a:r>
            <a:endParaRPr lang="ar-SA" sz="2200" dirty="0"/>
          </a:p>
        </p:txBody>
      </p:sp>
      <p:sp>
        <p:nvSpPr>
          <p:cNvPr id="22" name="Text 19"/>
          <p:cNvSpPr txBox="1"/>
          <p:nvPr/>
        </p:nvSpPr>
        <p:spPr>
          <a:xfrm>
            <a:off x="587044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wāw drops in the present</a:t>
            </a:r>
            <a:endParaRPr lang="en-US" sz="1100" dirty="0"/>
          </a:p>
        </p:txBody>
      </p:sp>
      <p:sp>
        <p:nvSpPr>
          <p:cNvPr id="23" name="Text 20"/>
          <p:cNvSpPr txBox="1"/>
          <p:nvPr/>
        </p:nvSpPr>
        <p:spPr>
          <a:xfrm>
            <a:off x="2926080"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 / يَصِلُ</a:t>
            </a:r>
            <a:endParaRPr lang="ar-SA" sz="22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326880" y="3054096"/>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مَشَيْتُ · مَشَيْنَا</a:t>
            </a:r>
            <a:endParaRPr lang="ar-SA" sz="2200" dirty="0"/>
          </a:p>
        </p:txBody>
      </p:sp>
      <p:sp>
        <p:nvSpPr>
          <p:cNvPr id="29" name="Text 26"/>
          <p:cNvSpPr txBox="1"/>
          <p:nvPr/>
        </p:nvSpPr>
        <p:spPr>
          <a:xfrm>
            <a:off x="587044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becomes yāʾ before endings</a:t>
            </a:r>
            <a:endParaRPr lang="en-US" sz="1100" dirty="0"/>
          </a:p>
        </p:txBody>
      </p:sp>
      <p:sp>
        <p:nvSpPr>
          <p:cNvPr id="30" name="Text 27"/>
          <p:cNvSpPr txBox="1"/>
          <p:nvPr/>
        </p:nvSpPr>
        <p:spPr>
          <a:xfrm>
            <a:off x="2926080"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مَشَى / يَمْشِي</a:t>
            </a:r>
            <a:endParaRPr lang="ar-SA" sz="22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yāʾ family</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326880" y="3840480"/>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دَعَوْتُ · دَعَوْنَا</a:t>
            </a:r>
            <a:endParaRPr lang="ar-SA" sz="2200" dirty="0"/>
          </a:p>
        </p:txBody>
      </p:sp>
      <p:sp>
        <p:nvSpPr>
          <p:cNvPr id="36" name="Text 33"/>
          <p:cNvSpPr txBox="1"/>
          <p:nvPr/>
        </p:nvSpPr>
        <p:spPr>
          <a:xfrm>
            <a:off x="587044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returns as wāw</a:t>
            </a:r>
            <a:endParaRPr lang="en-US" sz="1100" dirty="0"/>
          </a:p>
        </p:txBody>
      </p:sp>
      <p:sp>
        <p:nvSpPr>
          <p:cNvPr id="37" name="Text 34"/>
          <p:cNvSpPr txBox="1"/>
          <p:nvPr/>
        </p:nvSpPr>
        <p:spPr>
          <a:xfrm>
            <a:off x="2926080"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دَعَا / يَدْعُو</a:t>
            </a:r>
            <a:endParaRPr lang="ar-SA" sz="2200" dirty="0"/>
          </a:p>
        </p:txBody>
      </p:sp>
      <p:sp>
        <p:nvSpPr>
          <p:cNvPr id="38" name="Text 35"/>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wāw family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326880" y="4626864"/>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مَشَوْا · رَمَوْا</a:t>
            </a:r>
            <a:endParaRPr lang="ar-SA" sz="2200" dirty="0"/>
          </a:p>
        </p:txBody>
      </p:sp>
      <p:sp>
        <p:nvSpPr>
          <p:cNvPr id="41" name="Text 38"/>
          <p:cNvSpPr txBox="1"/>
          <p:nvPr/>
        </p:nvSpPr>
        <p:spPr>
          <a:xfrm>
            <a:off x="587044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past ends in -aw</a:t>
            </a:r>
            <a:endParaRPr lang="en-US" sz="1100" dirty="0"/>
          </a:p>
        </p:txBody>
      </p:sp>
      <p:sp>
        <p:nvSpPr>
          <p:cNvPr id="42" name="Text 39"/>
          <p:cNvSpPr txBox="1"/>
          <p:nvPr/>
        </p:nvSpPr>
        <p:spPr>
          <a:xfrm>
            <a:off x="2926080"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مَشَى · رَمَى</a:t>
            </a:r>
            <a:endParaRPr lang="ar-SA" sz="2200" dirty="0"/>
          </a:p>
        </p:txBody>
      </p:sp>
      <p:sp>
        <p:nvSpPr>
          <p:cNvPr id="43" name="Text 40"/>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 they</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turn the rule into guessing. Some initial-wāw verbs keep their wāw — learn the real pair (wajada / yajidu).</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visited”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passed”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walked”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stem qul- comes before -ta.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visited”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زَارُوا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vowel stays before -ū.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passed”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مَرَرَتْ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stays before the vowel-led ending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walked”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becomes yāʾ before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decide: vowel or consonant?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زَارَ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z-w-r.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Starts with a consonant.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Shorten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zur- + nā.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زَارُوا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-ū is a vowel: long stays.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SHORT / OPEN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LONG / MERGED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أَمْسِ </a:t>
            </a:r>
            <a:pPr rtl="1" algn="r" indent="0" marL="0">
              <a:buNone/>
            </a:pPr>
            <a:r>
              <a:rPr lang="ar-SA" altLang="en-US" sz="2250" b="1" dirty="0">
                <a:solidFill>
                  <a:srgbClr val="0E7C86"/>
                </a:solidFill>
                <a:latin typeface="Amiri" pitchFamily="2" charset="-78"/>
                <a:ea typeface="Amiri" pitchFamily="2" charset="-78"/>
                <a:cs typeface="Amiri" pitchFamily="2" charset="-78"/>
              </a:rPr>
              <a:t>زُرْنَا</a:t>
            </a:r>
            <a:pPr rtl="1" algn="r" indent="0" marL="0">
              <a:buNone/>
            </a:pPr>
            <a:r>
              <a:rPr lang="ar-SA" altLang="en-US" sz="2250" b="1" dirty="0">
                <a:solidFill>
                  <a:srgbClr val="1B3B6F"/>
                </a:solidFill>
                <a:latin typeface="Amiri" pitchFamily="2" charset="-78"/>
                <a:ea typeface="Amiri" pitchFamily="2" charset="-78"/>
                <a:cs typeface="Amiri" pitchFamily="2" charset="-78"/>
              </a:rPr>
              <a:t> مَدِينَةً قَرِيبَةً. </a:t>
            </a:r>
            <a:pPr rtl="1" algn="r" indent="0" marL="0">
              <a:buNone/>
            </a:pPr>
            <a:r>
              <a:rPr lang="ar-SA" altLang="en-US" sz="2250" b="1" dirty="0">
                <a:solidFill>
                  <a:srgbClr val="0E7C86"/>
                </a:solidFill>
                <a:latin typeface="Amiri" pitchFamily="2" charset="-78"/>
                <a:ea typeface="Amiri" pitchFamily="2" charset="-78"/>
                <a:cs typeface="Amiri" pitchFamily="2" charset="-78"/>
              </a:rPr>
              <a:t>قُلْنَا</a:t>
            </a:r>
            <a:pPr rtl="1" algn="r" indent="0" marL="0">
              <a:buNone/>
            </a:pPr>
            <a:r>
              <a:rPr lang="ar-SA" altLang="en-US" sz="2250" b="1" dirty="0">
                <a:solidFill>
                  <a:srgbClr val="1B3B6F"/>
                </a:solidFill>
                <a:latin typeface="Amiri" pitchFamily="2" charset="-78"/>
                <a:ea typeface="Amiri" pitchFamily="2" charset="-78"/>
                <a:cs typeface="Amiri" pitchFamily="2" charset="-78"/>
              </a:rPr>
              <a:t> إِنَّنَا سَنَمْشِي إِلَى الْمَتْحَفِ، وَلَكِنَّنَا </a:t>
            </a:r>
            <a:pPr rtl="1" algn="r" indent="0" marL="0">
              <a:buNone/>
            </a:pPr>
            <a:r>
              <a:rPr lang="ar-SA" altLang="en-US" sz="2250" b="1" dirty="0">
                <a:solidFill>
                  <a:srgbClr val="0E7C86"/>
                </a:solidFill>
                <a:latin typeface="Amiri" pitchFamily="2" charset="-78"/>
                <a:ea typeface="Amiri" pitchFamily="2" charset="-78"/>
                <a:cs typeface="Amiri" pitchFamily="2" charset="-78"/>
              </a:rPr>
              <a:t>مَرَرْنَا</a:t>
            </a:r>
            <a:pPr rtl="1" algn="r" indent="0" marL="0">
              <a:buNone/>
            </a:pPr>
            <a:r>
              <a:rPr lang="ar-SA" altLang="en-US" sz="2250" b="1" dirty="0">
                <a:solidFill>
                  <a:srgbClr val="1B3B6F"/>
                </a:solidFill>
                <a:latin typeface="Amiri" pitchFamily="2" charset="-78"/>
                <a:ea typeface="Amiri" pitchFamily="2" charset="-78"/>
                <a:cs typeface="Amiri" pitchFamily="2" charset="-78"/>
              </a:rPr>
              <a:t> بِسُوقٍ جَمِيلٍ أَوَّلًا، وَ</a:t>
            </a:r>
            <a:pPr rtl="1" algn="r" indent="0" marL="0">
              <a:buNone/>
            </a:pPr>
            <a:r>
              <a:rPr lang="ar-SA" altLang="en-US" sz="2250" b="1" dirty="0">
                <a:solidFill>
                  <a:srgbClr val="D6336C"/>
                </a:solidFill>
                <a:latin typeface="Amiri" pitchFamily="2" charset="-78"/>
                <a:ea typeface="Amiri" pitchFamily="2" charset="-78"/>
                <a:cs typeface="Amiri" pitchFamily="2" charset="-78"/>
              </a:rPr>
              <a:t>مَرَّتْ</a:t>
            </a:r>
            <a:pPr rtl="1" algn="r" indent="0" marL="0">
              <a:buNone/>
            </a:pPr>
            <a:r>
              <a:rPr lang="ar-SA" altLang="en-US" sz="2250" b="1" dirty="0">
                <a:solidFill>
                  <a:srgbClr val="1B3B6F"/>
                </a:solidFill>
                <a:latin typeface="Amiri" pitchFamily="2" charset="-78"/>
                <a:ea typeface="Amiri" pitchFamily="2" charset="-78"/>
                <a:cs typeface="Amiri" pitchFamily="2" charset="-78"/>
              </a:rPr>
              <a:t> سَاعَةٌ بِسُرْعَةٍ!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Yesterday we visited a nearby town. We said we would walk to the museum, but we passed a beautiful market first, and an hour passed quickly!</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قَالَ الْحَقَّ، وَنَحْنُ قُلْنَا الْحَقَّ.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told the truth, and we told the truth.</a:t>
            </a:r>
            <a:endParaRPr lang="en-US" sz="1250" dirty="0"/>
          </a:p>
          <a:p>
            <a:pPr indent="0" marL="0">
              <a:buNone/>
            </a:pPr>
            <a:r>
              <a:rPr lang="en-US" sz="1050" i="1" dirty="0">
                <a:solidFill>
                  <a:srgbClr val="8A6D1E"/>
                </a:solidFill>
                <a:latin typeface="Calibri" pitchFamily="34" charset="0"/>
                <a:cs typeface="Amiri" pitchFamily="2" charset="-78"/>
              </a:rPr>
              <a:t>Website: long vs short stem.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رَدَدْتُ عَلَى الرِّسَالَةِ.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replied to the message.</a:t>
            </a:r>
            <a:endParaRPr lang="en-US" sz="1250" dirty="0"/>
          </a:p>
          <a:p>
            <a:pPr indent="0" marL="0">
              <a:buNone/>
            </a:pPr>
            <a:r>
              <a:rPr lang="en-US" sz="1050" i="1" dirty="0">
                <a:solidFill>
                  <a:srgbClr val="8A6D1E"/>
                </a:solidFill>
                <a:latin typeface="Calibri" pitchFamily="34" charset="0"/>
                <a:cs typeface="Amiri" pitchFamily="2" charset="-78"/>
              </a:rPr>
              <a:t>Doubled: opens before -tu.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دَعَوْتُ صَدِيقِي إِلَى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invited my friend home.</a:t>
            </a:r>
            <a:endParaRPr lang="en-US" sz="1250" dirty="0"/>
          </a:p>
          <a:p>
            <a:pPr indent="0" marL="0">
              <a:buNone/>
            </a:pPr>
            <a:r>
              <a:rPr lang="en-US" sz="1050" i="1" dirty="0">
                <a:solidFill>
                  <a:srgbClr val="8A6D1E"/>
                </a:solidFill>
                <a:latin typeface="Calibri" pitchFamily="34" charset="0"/>
                <a:cs typeface="Amiri" pitchFamily="2" charset="-78"/>
              </a:rPr>
              <a:t>Final wāw family.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يَصِلُ الْقِطَارُ مُبَكِّرًا.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train arrives early.</a:t>
            </a:r>
            <a:endParaRPr lang="en-US" sz="1250" dirty="0"/>
          </a:p>
          <a:p>
            <a:pPr indent="0" marL="0">
              <a:buNone/>
            </a:pPr>
            <a:r>
              <a:rPr lang="en-US" sz="1050" i="1" dirty="0">
                <a:solidFill>
                  <a:srgbClr val="8A6D1E"/>
                </a:solidFill>
                <a:latin typeface="Calibri" pitchFamily="34" charset="0"/>
                <a:cs typeface="Amiri" pitchFamily="2" charset="-78"/>
              </a:rPr>
              <a:t>Initial weak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HAPPENED TO THE 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Shortened, opened, or changed?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مَرَرْتُ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رَدَدْنَا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أَحْبَبْتُ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hollow: shortened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opened</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final weak: changed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hollow: shortened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opened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مَرَرْتُ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رَدَدْنَا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أَحْبَبْتُ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final weak: changed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دَعَوْتُ</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RETRIEVAL LINES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memory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سَلَاسِلُ الِاسْتِرْجَاعِ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69311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254203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shortens</a:t>
            </a:r>
            <a:endParaRPr lang="en-US" sz="1100" dirty="0"/>
          </a:p>
        </p:txBody>
      </p:sp>
      <p:sp>
        <p:nvSpPr>
          <p:cNvPr id="22" name="Text 19"/>
          <p:cNvSpPr txBox="1"/>
          <p:nvPr/>
        </p:nvSpPr>
        <p:spPr>
          <a:xfrm>
            <a:off x="69494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قُلْتُ · قُلْنَا</a:t>
            </a:r>
            <a:endParaRPr lang="ar-SA" sz="2200" dirty="0"/>
          </a:p>
        </p:txBody>
      </p:sp>
      <p:sp>
        <p:nvSpPr>
          <p:cNvPr id="23" name="Text 20"/>
          <p:cNvSpPr txBox="1"/>
          <p:nvPr/>
        </p:nvSpPr>
        <p:spPr>
          <a:xfrm>
            <a:off x="2560320"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قَالَ · قَالَتْ · قَالُوا</a:t>
            </a:r>
            <a:endParaRPr lang="ar-SA" sz="22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opens</a:t>
            </a:r>
            <a:endParaRPr lang="en-US" sz="1100" dirty="0"/>
          </a:p>
        </p:txBody>
      </p:sp>
      <p:sp>
        <p:nvSpPr>
          <p:cNvPr id="29" name="Text 26"/>
          <p:cNvSpPr txBox="1"/>
          <p:nvPr/>
        </p:nvSpPr>
        <p:spPr>
          <a:xfrm>
            <a:off x="69494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مَرَرْتُ · مَرَرْنَا</a:t>
            </a:r>
            <a:endParaRPr lang="ar-SA" sz="2200" dirty="0"/>
          </a:p>
        </p:txBody>
      </p:sp>
      <p:sp>
        <p:nvSpPr>
          <p:cNvPr id="30" name="Text 27"/>
          <p:cNvSpPr txBox="1"/>
          <p:nvPr/>
        </p:nvSpPr>
        <p:spPr>
          <a:xfrm>
            <a:off x="2560320"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 · مَرَّتْ · مَرُّوا</a:t>
            </a:r>
            <a:endParaRPr lang="ar-SA" sz="22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a:t>
            </a:r>
            <a:endParaRPr lang="en-US" sz="1100" dirty="0"/>
          </a:p>
        </p:txBody>
      </p:sp>
      <p:sp>
        <p:nvSpPr>
          <p:cNvPr id="36" name="Text 33"/>
          <p:cNvSpPr txBox="1"/>
          <p:nvPr/>
        </p:nvSpPr>
        <p:spPr>
          <a:xfrm>
            <a:off x="69494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مَشَيْتُ · مَشَيْنَا</a:t>
            </a:r>
            <a:endParaRPr lang="ar-SA" sz="2200" dirty="0"/>
          </a:p>
        </p:txBody>
      </p:sp>
      <p:sp>
        <p:nvSpPr>
          <p:cNvPr id="37" name="Text 34"/>
          <p:cNvSpPr txBox="1"/>
          <p:nvPr/>
        </p:nvSpPr>
        <p:spPr>
          <a:xfrm>
            <a:off x="2560320"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مَشَى · مَشَتْ · مَشَوْا</a:t>
            </a:r>
            <a:endParaRPr lang="ar-SA" sz="22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shortens</a:t>
            </a:r>
            <a:endParaRPr lang="en-US" sz="1100" dirty="0"/>
          </a:p>
        </p:txBody>
      </p:sp>
      <p:sp>
        <p:nvSpPr>
          <p:cNvPr id="43" name="Text 40"/>
          <p:cNvSpPr txBox="1"/>
          <p:nvPr/>
        </p:nvSpPr>
        <p:spPr>
          <a:xfrm>
            <a:off x="69494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 زُرْنَا</a:t>
            </a:r>
            <a:endParaRPr lang="ar-SA" sz="2200" dirty="0"/>
          </a:p>
        </p:txBody>
      </p:sp>
      <p:sp>
        <p:nvSpPr>
          <p:cNvPr id="44" name="Text 41"/>
          <p:cNvSpPr txBox="1"/>
          <p:nvPr/>
        </p:nvSpPr>
        <p:spPr>
          <a:xfrm>
            <a:off x="2560320"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زَارَ · زَارَتْ · زَارُوا</a:t>
            </a:r>
            <a:endParaRPr lang="ar-SA" sz="2200" dirty="0"/>
          </a:p>
        </p:txBody>
      </p:sp>
      <p:sp>
        <p:nvSpPr>
          <p:cNvPr id="45" name="Text 42"/>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returns</a:t>
            </a:r>
            <a:endParaRPr lang="en-US" sz="1100" dirty="0"/>
          </a:p>
        </p:txBody>
      </p:sp>
      <p:sp>
        <p:nvSpPr>
          <p:cNvPr id="48" name="Text 45"/>
          <p:cNvSpPr txBox="1"/>
          <p:nvPr/>
        </p:nvSpPr>
        <p:spPr>
          <a:xfrm>
            <a:off x="694944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دَعَوْتُ · دَعَوْنَا</a:t>
            </a:r>
            <a:endParaRPr lang="ar-SA" sz="2200" dirty="0"/>
          </a:p>
        </p:txBody>
      </p:sp>
      <p:sp>
        <p:nvSpPr>
          <p:cNvPr id="49" name="Text 46"/>
          <p:cNvSpPr txBox="1"/>
          <p:nvPr/>
        </p:nvSpPr>
        <p:spPr>
          <a:xfrm>
            <a:off x="2560320"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دَعَا · دَعَتْ · دَعَوْا</a:t>
            </a:r>
            <a:endParaRPr lang="ar-SA" sz="22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short oral chains make the changes automatic — say each line three times, faster each time.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قَالْتُ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Vowel or consonant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نَحْنُ مَرَّنَا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rāʾs?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يَوْصَلُ إِلَى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the real pair?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قَالْتُ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قُلْتُ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long vowel shortens before -tu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نَحْنُ مَرَّنَا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نَحْنُ مَرَرْنَا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two rāʾs separate before -nā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يَوْصَلُ إِلَى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يَصِلُ إِلَى الْمَدْرَسَةِ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pair is waṣala / yaṣilu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MASTERY AND INITIAL / FINAL WEAK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called / invited”.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دَعَيْتُ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threw”.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رَمَيُوا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رَمَوْا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رَمُووا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wajada (to find).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مَرَرَتُ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مَرَرْتُ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consonants open before -tu.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called / invited”.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دَعَيْتُ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دَعَوْتُ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wāw family: daʿawtu.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threw”.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رَمَيُوا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رَمَوْا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رَمُووا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past is ramaw.</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wajada (to find).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wāw drops: yajidu.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cs typeface="Amiri" pitchFamily="2" charset="-78"/>
              </a:rPr>
              <a:t>YOU DO · READ AND NOTICE · WEBSITE READING WORKSHOP (TEACHER-WRITTEN BLOG)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journey blog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فِي الْعُطْلَةِ زُرْنَا مَدِينَةَ فَاسَ. وَصَلْنَا فِي الصَّبَاحِ، وَمَشَيْنَا فِي الْأَسْوَاقِ الْقَدِيمَةِ. مَرَرْنَا بِمَسْجِدٍ جَمِيلٍ، فَقَالَ أَبِي: «لِنُصَلِّ هُنَا». بَعْدَ الصَّلَاةِ دَعَوْنَا صَدِيقًا مَغْرِبِيًّا إِلَى الْغَدَاءِ. قُلْتُ لَهُ: «أَحْبَبْتُ مَدِينَتَكُمْ كَثِيرًا!» وَرَدَّ قَائِلًا: «أَهْلًا بِكُمْ دَائِمًا».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الْأَسْوَاقِ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markets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لِنُصَلِّ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let us pray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الْغَدَاءِ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lunch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أَحْبَبْتُ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loved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قَائِلًا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saying</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shortened hollow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an opened shadda?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returning wāw?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رَدَّ</a:t>
            </a:r>
            <a:pPr algn="l" indent="0" marL="0">
              <a:buNone/>
            </a:pPr>
            <a:r>
              <a:rPr lang="en-US" sz="1250" b="1" dirty="0">
                <a:solidFill>
                  <a:srgbClr val="1B3B6F"/>
                </a:solidFill>
                <a:latin typeface="Calibri" pitchFamily="34" charset="0"/>
                <a:cs typeface="Amiri" pitchFamily="2" charset="-78"/>
              </a:rPr>
              <a:t> (shadda)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“he” — no consonant ending.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shortened hollow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مَرَرْنَا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zāra → zurnā.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an opened shadda?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وَصَلْنَا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aḥabba → aḥbabtu.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returning wāw?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دَعَوْنَا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زُرْنَا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daʿā → daʿawnā.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رَدَّ</a:t>
            </a:r>
            <a:pPr algn="l" indent="0" marL="0">
              <a:buNone/>
            </a:pPr>
            <a:r>
              <a:rPr lang="en-US" sz="1250" b="1" dirty="0">
                <a:solidFill>
                  <a:srgbClr val="1B3B6F"/>
                </a:solidFill>
                <a:latin typeface="Calibri" pitchFamily="34" charset="0"/>
                <a:cs typeface="Amiri" pitchFamily="2" charset="-78"/>
              </a:rPr>
              <a:t> (shadda)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subject is “he” — no consonant ending.</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consonant-led ending → shadda stays.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retell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زُرْتَ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رِحْلَةً: زُرْنَا … مَشَيْنَا … مَرَرْنَا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أَعِدِ الْقِصَّةَ مَعَ «هُمْ»: زَارُوا … مَشَوْا … مَرُّوا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زُرْتُ ___ ، وَقُلْتُ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مَشَيْنَا إِلَى ___ ، وَمَرَرْنَا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زَارُوا ___ ، وَمَشَوْا ___ ، وَمَرُّوا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فَعَلْتُمْ فِي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(all) do on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زُرْنَا الْمَتْحَفَ، وَمَشَيْنَا فِي الْحَدِيقَةِ، وَمَرَرْنَا بِالسُّوقِ. وَصَلْنَا إِلَى الْبَيْتِ مُتْعَبِينَ!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 visited the museum, walked in the park and passed by the market. We arrived home tired!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visit in the first person: I visited, I said, I walked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memory lines.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Switch between I, we and they.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Vowel ending or consonant ending?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dictionary-pair annotation for each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hollow, one doubled, two final weak, one initial weak.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دَعَوْتُ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invited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زَارُوا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visited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passed by the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زُرْتُ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قُلْتُ لِصَدِيقِي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said to my friend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مَشَيْنَا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walked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passed by the market.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قُلْتُ  ·  قُلْنَا  ·  زُرْتُ  ·  زُرْنَا  ·  مَرَرْتُ  ·  مَرَرْنَا  ·  مَرَّتْ  ·  مَشَيْتُ  ·  مَشَيْنَا  ·  دَعَوْتُ  ·  وَصَلْنَا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100–120-word account of a visit or journey.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hollow verbs (one long, one short stem).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doubled verb before a consonant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final-weak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initial-weak present or past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مَرَرْنَا بِـ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passed by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مَشَيْنَا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walked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دَعَوْنَا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invited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arrived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الْأُسْبُوعِ الْمَاضِي زُرْتُ جَدِّي فِي الرِّيفِ مَعَ أُسْرَتِي. وَصَلْنَا ظُهْرًا، فَقَالَ جَدِّي: «أَهْلًا بِكُمْ!». بَعْدَ الْغَدَاءِ مَشَيْنَا فِي الْحُقُولِ، وَمَرَرْنَا بِنَهْرٍ صَغِيرٍ. قُلْتُ لِأَخِي: «هَذَا أَجْمَلُ مَكَانٍ!». فِي الْمَسَاءِ دَعَوْنَا الْجِيرَانَ إِلَى الْعَشَاءِ، وَقَامُوا بِمُسَاعَدَتِنَا. أَحْبَبْتُ تِلْكَ الرِّحْلَةَ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I visited my grandfather in the countryside with my family. We arrived at noon, and my grandfather said: “Welcome!”. After lunch we walked in the fields and passed a small river. I said to my brother: “This is the most beautiful place!”. In the evening we invited the neighbours to dinner, and they helped us. I loved that trip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hollow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doubled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final weak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initial weak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Hollow verbs shorten before -tu /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Doubled verbs open before -tu / -nā.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Final-weak verbs show yāʾ or wāw before endings.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waṣala / yaṣilu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dictionary pair for each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passed”.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walked”.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مَشَوْنَا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مَشَانَا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said”.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قَوَلْتُ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shortening: qultu.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passed”.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مَرَرْتْ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Vowel-led ending: the shadda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walked”.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مَشَيْنَا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مَشَوْنَا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مَشَانَا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family: mashaynā.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GM-V-03 · Unusual High-Frequency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رَأَى / يَرَى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جَاءَ / يَجِيءُ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أَتَى / يَأْتِي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 / يَكُونُ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أَخَذَ / يَأْخُذُ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take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Raʾā means “he saw”. How might you say “I saw”? (Clue: mashā → mashaytu.)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مَشَى · مَشَيْتُ — رَأَى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three memory lines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eight weak-verb forms and name each change.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an account of a visit or journey.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GM-V-03 · Unusual High-Frequency 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أَفْعَالٌ شَائِعَةٌ غَيْرُ مَأْلُوفَةٍ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vowel-led ending → long / merged (qālat, marrat) · consonant-led ending → short / open (qultu, marartu) · mashā → mashaytu · daʿā → daʿawtu · waṣala / yaṣilu.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GM-V-02 · Hollow, Doubled and Weak Verb Patterns</dc:title>
  <dc:subject>PptxGenJS Presentation</dc:subject>
  <dc:creator>Al Madina Online School · Arabic Department</dc:creator>
  <cp:lastModifiedBy>Al Madina Online School · Arabic Department</cp:lastModifiedBy>
  <cp:revision>1</cp:revision>
  <dcterms:created xsi:type="dcterms:W3CDTF">2026-10-11T06:42:34Z</dcterms:created>
  <dcterms:modified xsi:type="dcterms:W3CDTF">2026-10-11T06:42:34Z</dcterms:modified>
</cp:coreProperties>
</file>