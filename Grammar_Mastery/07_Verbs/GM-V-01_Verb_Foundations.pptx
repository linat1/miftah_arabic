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GM-V-01 (“Verb Foundations and the Conjugation Map”).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find the root (ك ت ب), tell past from present, and identify who acts (كَتَبْنَا = we wrote). Develop: classify the five families — sound, initial weak, hollow, final weak, doubled. Stretch: explain why a visible form changes while the root meaning stays (قَالَ ← ق و ل; مَرَّ ← م ر ر).
• Website scope: this lesson MAPS the territory; GM-V-02 teaches the actual weak-verb changes. Don’t drill weak conjugations yet.
• Learning habit to build from today: the four-part verb entry (قَالَ / يَقُولُ / قَوْلٌ / قُلْ) plus one collocation (زَارَ الْمَتْحَفَ).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4, 5 and 6) — it uses the verb words prepared at the end of GM-PRO-06.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verb = root + pattern + time + person. Katabnā already tells you “we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five layers inside a verb”. Colour the root letters in every form of k-t-b: kataba, yaktubu, kitāb, maktab.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“A map of sound and weak verb families”. Scope: this lesson maps; GM-V-02 teaches the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“Person, number and gender”. Model the website pair: anā katabtu amsi · anā aktubu l-āna.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Root and Pattern and Verb Family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For each verb: who acts? when? which root and family? Zurtu is hollow (z-w-r) — the wāw is hidden (GM-V-02).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the website game words. Category 3 groups initial weak (waṣala) and final weak (mashā, daʿā); ask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the website game words. Category 3 groups initial weak (waṣala) and final weak (mashā, daʿā); ask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Cover columns 3–5; students recall what they can. Copy into vocabulary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Person check and mastery check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paragraph). Read it aloud once while students follow; then they hunt for today’s grammar.
Task: Website: circle all the verbs and sort them by past / present and by family.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paragraph for the website reading workshop (website model sentences extended);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(45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 seconds, at least four different verbs. Listening workshop (website): partner reads eight sentences; the listener notes only the verb, who acts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80–100 words introducing your daily routine and one past experience; underline five verbs and annotate each with its root, time frame and subject.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(GM-V-02 · Hollow, Doubled and Weak Verb Patterns) will spend class time USING this language, so students prepare it tonight — short, simple, easy to access (school guidance: “Simple, Short, Interesting, Relevant, Easy to access”). The five words prepare GM-V-02 (website Verbs lesson 2: hollow, doubled and weak verbs).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Verb Foundations and the Conjugation Map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أُسُسُ الْأَفْعَالِ وَخَرِيطَةُ التَّصْرِيفِ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One Arabic verb packs in five layers: a three-letter root, a pattern, the time (past / present), the person, and the context. Katabnā already means “we wrote”. Learn each verb as a family: past · present · verbal noun · command.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Five layers; root and pattern; five families; person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families; build verb entries;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a verb?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ea typeface="Amiri" pitchFamily="2" charset="-78"/>
                <a:cs typeface="Amiri" pitchFamily="2" charset="-78"/>
              </a:rPr>
              <a:t>كَتَبَ / يَكْتُبُ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hollow?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doubled?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learning principle?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root, past, present and a useful sentence.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Memorise one English meaning only.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Assume all verbs take identical vowels.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item is a verb?</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Kataba expresses an action and carries past-tense information.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ea typeface="Amiri" pitchFamily="2" charset="-78"/>
                <a:cs typeface="Amiri" pitchFamily="2" charset="-78"/>
              </a:rPr>
              <a:t>كَتَبَ / يَكْتُبُ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root consonants carry the central lexical meaning.</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hollow?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Qāla has a weak middle root letter.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doubled?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Marra: the second and third root letters are both rāʾ — the shadda shows two letters.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learning principle?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 root, past, present and a useful sentence.</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Memorise one English meaning only.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Assume all verbs take identical vowels.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verb entry is a family of related forms and uses.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verb = root + pattern + time + person. Katabnā already tells you “we wrote”.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 ت ب ‖ </a:t>
            </a:r>
            <a:pPr rtl="1" algn="ctr" indent="0" marL="0">
              <a:buNone/>
            </a:pPr>
            <a:r>
              <a:rPr lang="ar-SA" altLang="en-US" sz="2400" b="1" dirty="0">
                <a:solidFill>
                  <a:srgbClr val="0E7C86"/>
                </a:solidFill>
                <a:latin typeface="Amiri" pitchFamily="2" charset="-78"/>
                <a:ea typeface="Amiri" pitchFamily="2" charset="-78"/>
                <a:cs typeface="Amiri" pitchFamily="2" charset="-78"/>
              </a:rPr>
              <a:t>كَتَبْنَا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نَكْتُبُ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Find the three-letter root of a verb.</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past from present and identify who acts.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Classify verbs into five families.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Learn verbs as connected entries, not single words.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find the root of kataba / yaktubu.</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katabnā = we wrote and aktubu = I write.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classify sound, hollow, doubled, initial and final weak.</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learn qāla / yaqūlu as a pair.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qāla has the root q-w-l.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a shadda counts twice.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الْجِذْرُ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root (core consonants)</a:t>
            </a:r>
            <a:endParaRPr lang="en-US" sz="1350" dirty="0"/>
          </a:p>
          <a:p>
            <a:pPr indent="0" marL="0">
              <a:buNone/>
            </a:pPr>
            <a:r>
              <a:rPr lang="en-US" sz="1100" i="1" dirty="0">
                <a:solidFill>
                  <a:srgbClr val="5A6472"/>
                </a:solidFill>
                <a:latin typeface="Calibri" pitchFamily="34" charset="0"/>
                <a:cs typeface="Amiri" pitchFamily="2" charset="-78"/>
              </a:rPr>
              <a:t>al-jidh-ru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 ت 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 (completed)</a:t>
            </a:r>
            <a:endParaRPr lang="en-US" sz="1350" dirty="0"/>
          </a:p>
          <a:p>
            <a:pPr indent="0" marL="0">
              <a:buNone/>
            </a:pPr>
            <a:r>
              <a:rPr lang="en-US" sz="1100" i="1" dirty="0">
                <a:solidFill>
                  <a:srgbClr val="5A6472"/>
                </a:solidFill>
                <a:latin typeface="Calibri" pitchFamily="34" charset="0"/>
                <a:cs typeface="Amiri" pitchFamily="2" charset="-78"/>
              </a:rPr>
              <a:t>al-mā-ḍī</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الْمُضَارِعُ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 (ongoing / habitual)</a:t>
            </a:r>
            <a:endParaRPr lang="en-US" sz="1350" dirty="0"/>
          </a:p>
          <a:p>
            <a:pPr indent="0" marL="0">
              <a:buNone/>
            </a:pPr>
            <a:r>
              <a:rPr lang="en-US" sz="1100" i="1" dirty="0">
                <a:solidFill>
                  <a:srgbClr val="5A6472"/>
                </a:solidFill>
                <a:latin typeface="Calibri" pitchFamily="34" charset="0"/>
                <a:cs typeface="Amiri" pitchFamily="2" charset="-78"/>
              </a:rPr>
              <a:t>al-mu-ḍā-ri-ʿu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يَكْتُبُ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السَّالِمُ</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sound verb</a:t>
            </a:r>
            <a:endParaRPr lang="en-US" sz="1350" dirty="0"/>
          </a:p>
          <a:p>
            <a:pPr indent="0" marL="0">
              <a:buNone/>
            </a:pPr>
            <a:r>
              <a:rPr lang="en-US" sz="1100" i="1" dirty="0">
                <a:solidFill>
                  <a:srgbClr val="5A6472"/>
                </a:solidFill>
                <a:latin typeface="Calibri" pitchFamily="34" charset="0"/>
                <a:cs typeface="Amiri" pitchFamily="2" charset="-78"/>
              </a:rPr>
              <a:t>as-sā-li-mu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 دَرَسَ</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الْمُعْتَلُّ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weak verb (wāw or yāʾ in the root)</a:t>
            </a:r>
            <a:endParaRPr lang="en-US" sz="1350" dirty="0"/>
          </a:p>
          <a:p>
            <a:pPr indent="0" marL="0">
              <a:buNone/>
            </a:pPr>
            <a:r>
              <a:rPr lang="en-US" sz="1100" i="1" dirty="0">
                <a:solidFill>
                  <a:srgbClr val="5A6472"/>
                </a:solidFill>
                <a:latin typeface="Calibri" pitchFamily="34" charset="0"/>
                <a:cs typeface="Amiri" pitchFamily="2" charset="-78"/>
              </a:rPr>
              <a:t>al-muʿ-tal-lu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قَالَ · وَصَلَ · مَشَى</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الْمُضَعَّفُ</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doubled verb</a:t>
            </a:r>
            <a:endParaRPr lang="en-US" sz="1350" dirty="0"/>
          </a:p>
          <a:p>
            <a:pPr indent="0" marL="0">
              <a:buNone/>
            </a:pPr>
            <a:r>
              <a:rPr lang="en-US" sz="1100" i="1" dirty="0">
                <a:solidFill>
                  <a:srgbClr val="5A6472"/>
                </a:solidFill>
                <a:latin typeface="Calibri" pitchFamily="34" charset="0"/>
                <a:cs typeface="Amiri" pitchFamily="2" charset="-78"/>
              </a:rPr>
              <a:t>al-mu-ḍaʿ-ʿa-fu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مَرَّ · رَدَّ</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FIVE LAYERS INSIDE A VERB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A verb is a compact information system</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طَبَقَاتُ الْفِعْلِ الْخَمْسُ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29077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it answers (website)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46720" y="2267712"/>
            <a:ext cx="35935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 ت ب</a:t>
            </a:r>
            <a:endParaRPr lang="ar-SA" sz="2400" dirty="0"/>
          </a:p>
        </p:txBody>
      </p:sp>
      <p:sp>
        <p:nvSpPr>
          <p:cNvPr id="21" name="Text 18"/>
          <p:cNvSpPr txBox="1"/>
          <p:nvPr/>
        </p:nvSpPr>
        <p:spPr>
          <a:xfrm>
            <a:off x="2944368" y="2267712"/>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consonants carry the main meaning?</a:t>
            </a:r>
            <a:endParaRPr lang="en-US" sz="11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46720" y="3004718"/>
            <a:ext cx="35935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 يَكْتُبُ</a:t>
            </a:r>
            <a:endParaRPr lang="ar-SA" sz="2400" dirty="0"/>
          </a:p>
        </p:txBody>
      </p:sp>
      <p:sp>
        <p:nvSpPr>
          <p:cNvPr id="27" name="Text 24"/>
          <p:cNvSpPr txBox="1"/>
          <p:nvPr/>
        </p:nvSpPr>
        <p:spPr>
          <a:xfrm>
            <a:off x="2944368" y="3004718"/>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the root shaped?</a:t>
            </a:r>
            <a:endParaRPr lang="en-US" sz="11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Pattern / stem</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46720" y="3741725"/>
            <a:ext cx="35935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 · يَكْتُبُ</a:t>
            </a:r>
            <a:endParaRPr lang="ar-SA" sz="2400" dirty="0"/>
          </a:p>
        </p:txBody>
      </p:sp>
      <p:sp>
        <p:nvSpPr>
          <p:cNvPr id="33" name="Text 30"/>
          <p:cNvSpPr txBox="1"/>
          <p:nvPr/>
        </p:nvSpPr>
        <p:spPr>
          <a:xfrm>
            <a:off x="2944368" y="3741725"/>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Completed, or ongoing / habitual?</a:t>
            </a:r>
            <a:endParaRPr lang="en-US" sz="11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046720" y="4478731"/>
            <a:ext cx="35935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 · كَتَبْنَا</a:t>
            </a:r>
            <a:endParaRPr lang="ar-SA" sz="2400" dirty="0"/>
          </a:p>
        </p:txBody>
      </p:sp>
      <p:sp>
        <p:nvSpPr>
          <p:cNvPr id="39" name="Text 36"/>
          <p:cNvSpPr txBox="1"/>
          <p:nvPr/>
        </p:nvSpPr>
        <p:spPr>
          <a:xfrm>
            <a:off x="2944368" y="4478731"/>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performs the action?</a:t>
            </a:r>
            <a:endParaRPr lang="en-US" sz="1100" dirty="0"/>
          </a:p>
        </p:txBody>
      </p:sp>
      <p:sp>
        <p:nvSpPr>
          <p:cNvPr id="40" name="Text 37"/>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046720" y="5215738"/>
            <a:ext cx="35935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كَتَبْنَا رِسَالَةً أَمْسِ.</a:t>
            </a:r>
            <a:endParaRPr lang="ar-SA" sz="2400" dirty="0"/>
          </a:p>
        </p:txBody>
      </p:sp>
      <p:sp>
        <p:nvSpPr>
          <p:cNvPr id="45" name="Text 42"/>
          <p:cNvSpPr txBox="1"/>
          <p:nvPr/>
        </p:nvSpPr>
        <p:spPr>
          <a:xfrm>
            <a:off x="2944368" y="5215738"/>
            <a:ext cx="49377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completes the meaning?</a:t>
            </a:r>
            <a:endParaRPr lang="en-US" sz="1100" dirty="0"/>
          </a:p>
        </p:txBody>
      </p:sp>
      <p:sp>
        <p:nvSpPr>
          <p:cNvPr id="46" name="Text 43"/>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Context</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key idea: Arabic verbs package several pieces of information into one word — katabnā already tells us “we wrote”.</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2 · A MAP OF SOUND AND WEAK VERB FAMILIES (WEBSITE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verb families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عَائِلَاتِ الْأَفْعَالِ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Examples</a:t>
            </a:r>
            <a:endParaRPr lang="en-US" sz="1100" dirty="0"/>
          </a:p>
        </p:txBody>
      </p:sp>
      <p:sp>
        <p:nvSpPr>
          <p:cNvPr id="17" name="Text 14"/>
          <p:cNvSpPr txBox="1"/>
          <p:nvPr/>
        </p:nvSpPr>
        <p:spPr>
          <a:xfrm>
            <a:off x="49194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 (website)</a:t>
            </a:r>
            <a:endParaRPr lang="en-US" sz="1100" dirty="0"/>
          </a:p>
        </p:txBody>
      </p:sp>
      <p:sp>
        <p:nvSpPr>
          <p:cNvPr id="18" name="Text 15"/>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term</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78240" y="2267712"/>
            <a:ext cx="28620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 · دَرَسَ</a:t>
            </a:r>
            <a:endParaRPr lang="ar-SA" sz="2200" dirty="0"/>
          </a:p>
        </p:txBody>
      </p:sp>
      <p:sp>
        <p:nvSpPr>
          <p:cNvPr id="22" name="Text 19"/>
          <p:cNvSpPr txBox="1"/>
          <p:nvPr/>
        </p:nvSpPr>
        <p:spPr>
          <a:xfrm>
            <a:off x="4956048" y="2267712"/>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weak letter, no doubled pair</a:t>
            </a:r>
            <a:endParaRPr lang="en-US" sz="1100" dirty="0"/>
          </a:p>
        </p:txBody>
      </p:sp>
      <p:sp>
        <p:nvSpPr>
          <p:cNvPr id="23" name="Text 20"/>
          <p:cNvSpPr txBox="1"/>
          <p:nvPr/>
        </p:nvSpPr>
        <p:spPr>
          <a:xfrm>
            <a:off x="2743200" y="2267712"/>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السَّالِمُ</a:t>
            </a:r>
            <a:endParaRPr lang="ar-SA" sz="22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78240" y="3004718"/>
            <a:ext cx="28620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وَصَلَ / يَصِلُ</a:t>
            </a:r>
            <a:endParaRPr lang="ar-SA" sz="2200" dirty="0"/>
          </a:p>
        </p:txBody>
      </p:sp>
      <p:sp>
        <p:nvSpPr>
          <p:cNvPr id="29" name="Text 26"/>
          <p:cNvSpPr txBox="1"/>
          <p:nvPr/>
        </p:nvSpPr>
        <p:spPr>
          <a:xfrm>
            <a:off x="4956048" y="300471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or yāʾ is the FIRST root letter</a:t>
            </a:r>
            <a:endParaRPr lang="en-US" sz="1100" dirty="0"/>
          </a:p>
        </p:txBody>
      </p:sp>
      <p:sp>
        <p:nvSpPr>
          <p:cNvPr id="30" name="Text 27"/>
          <p:cNvSpPr txBox="1"/>
          <p:nvPr/>
        </p:nvSpPr>
        <p:spPr>
          <a:xfrm>
            <a:off x="2743200" y="3004718"/>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الْمِثَالُ</a:t>
            </a:r>
            <a:endParaRPr lang="ar-SA" sz="22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initial weak</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78240" y="3741725"/>
            <a:ext cx="28620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قَالَ · زَارَ · قَامَ</a:t>
            </a:r>
            <a:endParaRPr lang="ar-SA" sz="2200" dirty="0"/>
          </a:p>
        </p:txBody>
      </p:sp>
      <p:sp>
        <p:nvSpPr>
          <p:cNvPr id="36" name="Text 33"/>
          <p:cNvSpPr txBox="1"/>
          <p:nvPr/>
        </p:nvSpPr>
        <p:spPr>
          <a:xfrm>
            <a:off x="4956048" y="3741725"/>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or yāʾ is the MIDDLE root letter</a:t>
            </a:r>
            <a:endParaRPr lang="en-US" sz="1100" dirty="0"/>
          </a:p>
        </p:txBody>
      </p:sp>
      <p:sp>
        <p:nvSpPr>
          <p:cNvPr id="37" name="Text 34"/>
          <p:cNvSpPr txBox="1"/>
          <p:nvPr/>
        </p:nvSpPr>
        <p:spPr>
          <a:xfrm>
            <a:off x="2743200" y="3741725"/>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الْأَجْوَفُ</a:t>
            </a:r>
            <a:endParaRPr lang="ar-SA" sz="22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778240" y="4478731"/>
            <a:ext cx="28620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مَشَى · دَعَا</a:t>
            </a:r>
            <a:endParaRPr lang="ar-SA" sz="2200" dirty="0"/>
          </a:p>
        </p:txBody>
      </p:sp>
      <p:sp>
        <p:nvSpPr>
          <p:cNvPr id="43" name="Text 40"/>
          <p:cNvSpPr txBox="1"/>
          <p:nvPr/>
        </p:nvSpPr>
        <p:spPr>
          <a:xfrm>
            <a:off x="4956048" y="4478731"/>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or yāʾ is the LAST root letter</a:t>
            </a:r>
            <a:endParaRPr lang="en-US" sz="1100" dirty="0"/>
          </a:p>
        </p:txBody>
      </p:sp>
      <p:sp>
        <p:nvSpPr>
          <p:cNvPr id="44" name="Text 41"/>
          <p:cNvSpPr txBox="1"/>
          <p:nvPr/>
        </p:nvSpPr>
        <p:spPr>
          <a:xfrm>
            <a:off x="2743200" y="4478731"/>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النَّاقِصُ</a:t>
            </a:r>
            <a:endParaRPr lang="ar-SA" sz="2200" dirty="0"/>
          </a:p>
        </p:txBody>
      </p:sp>
      <p:sp>
        <p:nvSpPr>
          <p:cNvPr id="45" name="Text 42"/>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weak</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778240" y="5215738"/>
            <a:ext cx="286207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مَرَّ · رَدَّ</a:t>
            </a:r>
            <a:endParaRPr lang="ar-SA" sz="2200" dirty="0"/>
          </a:p>
        </p:txBody>
      </p:sp>
      <p:sp>
        <p:nvSpPr>
          <p:cNvPr id="50" name="Text 47"/>
          <p:cNvSpPr txBox="1"/>
          <p:nvPr/>
        </p:nvSpPr>
        <p:spPr>
          <a:xfrm>
            <a:off x="4956048" y="5215738"/>
            <a:ext cx="3657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two root letters identical</a:t>
            </a:r>
            <a:endParaRPr lang="en-US" sz="1100" dirty="0"/>
          </a:p>
        </p:txBody>
      </p:sp>
      <p:sp>
        <p:nvSpPr>
          <p:cNvPr id="51" name="Text 48"/>
          <p:cNvSpPr txBox="1"/>
          <p:nvPr/>
        </p:nvSpPr>
        <p:spPr>
          <a:xfrm>
            <a:off x="2743200" y="5215738"/>
            <a:ext cx="20116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الْمُضَعَّفُ</a:t>
            </a:r>
            <a:endParaRPr lang="ar-SA" sz="2200" dirty="0"/>
          </a:p>
        </p:txBody>
      </p:sp>
      <p:sp>
        <p:nvSpPr>
          <p:cNvPr id="52" name="Text 4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labels help you PREDICT what may change, but they do not replace learning real forms — learn pairs: qāla / yaqūlu, zāra / yazūru, mashā / yamshī.</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PERSON, NUMBER AND GENDER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verb tells you who 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60167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 · writes</a:t>
            </a:r>
            <a:endParaRPr lang="en-US" sz="1100" dirty="0"/>
          </a:p>
        </p:txBody>
      </p:sp>
      <p:sp>
        <p:nvSpPr>
          <p:cNvPr id="18" name="Text 15"/>
          <p:cNvSpPr txBox="1"/>
          <p:nvPr/>
        </p:nvSpPr>
        <p:spPr>
          <a:xfrm>
            <a:off x="29077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wrote</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162288" y="2267712"/>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 · a-</a:t>
            </a:r>
            <a:endParaRPr lang="en-US" sz="1100" dirty="0"/>
          </a:p>
        </p:txBody>
      </p:sp>
      <p:sp>
        <p:nvSpPr>
          <p:cNvPr id="22" name="Text 19"/>
          <p:cNvSpPr txBox="1"/>
          <p:nvPr/>
        </p:nvSpPr>
        <p:spPr>
          <a:xfrm>
            <a:off x="603504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أَكْتُبُ</a:t>
            </a:r>
            <a:endParaRPr lang="ar-SA" sz="2400" dirty="0"/>
          </a:p>
        </p:txBody>
      </p:sp>
      <p:sp>
        <p:nvSpPr>
          <p:cNvPr id="23" name="Text 20"/>
          <p:cNvSpPr txBox="1"/>
          <p:nvPr/>
        </p:nvSpPr>
        <p:spPr>
          <a:xfrm>
            <a:off x="292608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a:t>
            </a:r>
            <a:endParaRPr lang="ar-SA" sz="2400" dirty="0"/>
          </a:p>
        </p:txBody>
      </p:sp>
      <p:sp>
        <p:nvSpPr>
          <p:cNvPr id="24" name="Text 21"/>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162288" y="300471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ta-</a:t>
            </a:r>
            <a:endParaRPr lang="en-US" sz="1100" dirty="0"/>
          </a:p>
        </p:txBody>
      </p:sp>
      <p:sp>
        <p:nvSpPr>
          <p:cNvPr id="29" name="Text 26"/>
          <p:cNvSpPr txBox="1"/>
          <p:nvPr/>
        </p:nvSpPr>
        <p:spPr>
          <a:xfrm>
            <a:off x="603504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a:t>
            </a:r>
            <a:endParaRPr lang="ar-SA" sz="2400" dirty="0"/>
          </a:p>
        </p:txBody>
      </p:sp>
      <p:sp>
        <p:nvSpPr>
          <p:cNvPr id="30" name="Text 27"/>
          <p:cNvSpPr txBox="1"/>
          <p:nvPr/>
        </p:nvSpPr>
        <p:spPr>
          <a:xfrm>
            <a:off x="292608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a:t>
            </a:r>
            <a:endParaRPr lang="ar-SA" sz="2400" dirty="0"/>
          </a:p>
        </p:txBody>
      </p:sp>
      <p:sp>
        <p:nvSpPr>
          <p:cNvPr id="31" name="Text 28"/>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162288" y="3741725"/>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ya-</a:t>
            </a:r>
            <a:endParaRPr lang="en-US" sz="1100" dirty="0"/>
          </a:p>
        </p:txBody>
      </p:sp>
      <p:sp>
        <p:nvSpPr>
          <p:cNvPr id="36" name="Text 33"/>
          <p:cNvSpPr txBox="1"/>
          <p:nvPr/>
        </p:nvSpPr>
        <p:spPr>
          <a:xfrm>
            <a:off x="603504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a:t>
            </a:r>
            <a:endParaRPr lang="ar-SA" sz="2400" dirty="0"/>
          </a:p>
        </p:txBody>
      </p:sp>
      <p:sp>
        <p:nvSpPr>
          <p:cNvPr id="37" name="Text 34"/>
          <p:cNvSpPr txBox="1"/>
          <p:nvPr/>
        </p:nvSpPr>
        <p:spPr>
          <a:xfrm>
            <a:off x="292608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38" name="Text 35"/>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162288" y="4478731"/>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 ta-</a:t>
            </a:r>
            <a:endParaRPr lang="en-US" sz="1100" dirty="0"/>
          </a:p>
        </p:txBody>
      </p:sp>
      <p:sp>
        <p:nvSpPr>
          <p:cNvPr id="43" name="Text 40"/>
          <p:cNvSpPr txBox="1"/>
          <p:nvPr/>
        </p:nvSpPr>
        <p:spPr>
          <a:xfrm>
            <a:off x="603504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a:t>
            </a:r>
            <a:endParaRPr lang="ar-SA" sz="2400" dirty="0"/>
          </a:p>
        </p:txBody>
      </p:sp>
      <p:sp>
        <p:nvSpPr>
          <p:cNvPr id="44" name="Text 41"/>
          <p:cNvSpPr txBox="1"/>
          <p:nvPr/>
        </p:nvSpPr>
        <p:spPr>
          <a:xfrm>
            <a:off x="292608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كَتَبَتْ</a:t>
            </a:r>
            <a:endParaRPr lang="ar-SA" sz="2400" dirty="0"/>
          </a:p>
        </p:txBody>
      </p:sp>
      <p:sp>
        <p:nvSpPr>
          <p:cNvPr id="45" name="Text 42"/>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9162288" y="521573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-nā · na-</a:t>
            </a:r>
            <a:endParaRPr lang="en-US" sz="1100" dirty="0"/>
          </a:p>
        </p:txBody>
      </p:sp>
      <p:sp>
        <p:nvSpPr>
          <p:cNvPr id="50" name="Text 47"/>
          <p:cNvSpPr txBox="1"/>
          <p:nvPr/>
        </p:nvSpPr>
        <p:spPr>
          <a:xfrm>
            <a:off x="603504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نَكْتُبُ</a:t>
            </a:r>
            <a:endParaRPr lang="ar-SA" sz="2400" dirty="0"/>
          </a:p>
        </p:txBody>
      </p:sp>
      <p:sp>
        <p:nvSpPr>
          <p:cNvPr id="51" name="Text 48"/>
          <p:cNvSpPr txBox="1"/>
          <p:nvPr/>
        </p:nvSpPr>
        <p:spPr>
          <a:xfrm>
            <a:off x="292608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كَتَبْنَا</a:t>
            </a:r>
            <a:endParaRPr lang="ar-SA" sz="2400" dirty="0"/>
          </a:p>
        </p:txBody>
      </p:sp>
      <p:sp>
        <p:nvSpPr>
          <p:cNvPr id="52" name="Text 49"/>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PAST shows the person mainly with suffixes; the PRESENT uses the prefixes a- · ta- · ya- · na- (and some suffixes). The full grids come in GM-V-04 and GM-V-05.</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root of darasa (to study).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د-س-ر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“we wrote”?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waṣala / yaṣilu (to arrive).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hollow</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 weak</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shadda in marra represent?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identical consonants pronounced together</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decorative mark</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vowel</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root of darasa (to study).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د-س-ر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د-ر-س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prefixes and vowels change; d-r-s remain.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“we wrote”?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كَتَبْنَا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marks “we” in the past.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waṣala / yaṣilu (to arrive).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hollow</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initial weak</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sound</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root letter is wāw, which drops in the present.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shadda in marra represent?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identical consonants pronounced together</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decorative mark</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vowel</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identical consonants pronounced together.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read a verb layer by layer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زُرْنَا</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is it?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Person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ـنَا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-nā → we.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زُرْنَا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Suffix → past.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ز و 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Hollow: wāw in the middle.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D6336C"/>
                </a:solidFill>
                <a:latin typeface="Amiri" pitchFamily="2" charset="-78"/>
                <a:ea typeface="Amiri" pitchFamily="2" charset="-78"/>
                <a:cs typeface="Amiri" pitchFamily="2" charset="-78"/>
              </a:rPr>
              <a:t>أَسْتَيْقِظُ</a:t>
            </a:r>
            <a:pPr rtl="1" algn="r" indent="0" marL="0">
              <a:buNone/>
            </a:pPr>
            <a:r>
              <a:rPr lang="ar-SA" altLang="en-US" sz="2600" b="1" dirty="0">
                <a:solidFill>
                  <a:srgbClr val="1B3B6F"/>
                </a:solidFill>
                <a:latin typeface="Amiri" pitchFamily="2" charset="-78"/>
                <a:ea typeface="Amiri" pitchFamily="2" charset="-78"/>
                <a:cs typeface="Amiri" pitchFamily="2" charset="-78"/>
              </a:rPr>
              <a:t> مُبَكِّرًا كُلَّ يَوْمٍ، وَ</a:t>
            </a:r>
            <a:pPr rtl="1" algn="r" indent="0" marL="0">
              <a:buNone/>
            </a:pPr>
            <a:r>
              <a:rPr lang="ar-SA" altLang="en-US" sz="2600" b="1" dirty="0">
                <a:solidFill>
                  <a:srgbClr val="D6336C"/>
                </a:solidFill>
                <a:latin typeface="Amiri" pitchFamily="2" charset="-78"/>
                <a:ea typeface="Amiri" pitchFamily="2" charset="-78"/>
                <a:cs typeface="Amiri" pitchFamily="2" charset="-78"/>
              </a:rPr>
              <a:t>أَذْهَبُ</a:t>
            </a:r>
            <a:pPr rtl="1" algn="r" indent="0" marL="0">
              <a:buNone/>
            </a:pPr>
            <a:r>
              <a:rPr lang="ar-SA" altLang="en-US" sz="2600" b="1" dirty="0">
                <a:solidFill>
                  <a:srgbClr val="1B3B6F"/>
                </a:solidFill>
                <a:latin typeface="Amiri" pitchFamily="2" charset="-78"/>
                <a:ea typeface="Amiri" pitchFamily="2" charset="-78"/>
                <a:cs typeface="Amiri" pitchFamily="2" charset="-78"/>
              </a:rPr>
              <a:t> إِلَى الْمَدْرَسَةِ. أَمْسِ </a:t>
            </a:r>
            <a:pPr rtl="1" algn="r" indent="0" marL="0">
              <a:buNone/>
            </a:pPr>
            <a:r>
              <a:rPr lang="ar-SA" altLang="en-US" sz="2600" b="1" dirty="0">
                <a:solidFill>
                  <a:srgbClr val="0E7C86"/>
                </a:solidFill>
                <a:latin typeface="Amiri" pitchFamily="2" charset="-78"/>
                <a:ea typeface="Amiri" pitchFamily="2" charset="-78"/>
                <a:cs typeface="Amiri" pitchFamily="2" charset="-78"/>
              </a:rPr>
              <a:t>زُرْتُ</a:t>
            </a:r>
            <a:pPr rtl="1" algn="r" indent="0" marL="0">
              <a:buNone/>
            </a:pPr>
            <a:r>
              <a:rPr lang="ar-SA" altLang="en-US" sz="2600" b="1" dirty="0">
                <a:solidFill>
                  <a:srgbClr val="1B3B6F"/>
                </a:solidFill>
                <a:latin typeface="Amiri" pitchFamily="2" charset="-78"/>
                <a:ea typeface="Amiri" pitchFamily="2" charset="-78"/>
                <a:cs typeface="Amiri" pitchFamily="2" charset="-78"/>
              </a:rPr>
              <a:t> الْمَكْتَبَةَ وَ</a:t>
            </a:r>
            <a:pPr rtl="1" algn="r" indent="0" marL="0">
              <a:buNone/>
            </a:pPr>
            <a:r>
              <a:rPr lang="ar-SA" altLang="en-US" sz="2600" b="1" dirty="0">
                <a:solidFill>
                  <a:srgbClr val="0E7C86"/>
                </a:solidFill>
                <a:latin typeface="Amiri" pitchFamily="2" charset="-78"/>
                <a:ea typeface="Amiri" pitchFamily="2" charset="-78"/>
                <a:cs typeface="Amiri" pitchFamily="2" charset="-78"/>
              </a:rPr>
              <a:t>قَرَأْتُ</a:t>
            </a:r>
            <a:pPr rtl="1" algn="r" indent="0" marL="0">
              <a:buNone/>
            </a:pPr>
            <a:r>
              <a:rPr lang="ar-SA" altLang="en-US" sz="2600" b="1" dirty="0">
                <a:solidFill>
                  <a:srgbClr val="1B3B6F"/>
                </a:solidFill>
                <a:latin typeface="Amiri" pitchFamily="2" charset="-78"/>
                <a:ea typeface="Amiri" pitchFamily="2" charset="-78"/>
                <a:cs typeface="Amiri" pitchFamily="2" charset="-78"/>
              </a:rPr>
              <a:t> كِتَابًا.</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wake up early every day, and I go to school. Yesterday I visited the library and read a book.</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 يَقُولُ / قَوْلٌ / قُلْ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said / he says / saying / say!</a:t>
            </a:r>
            <a:endParaRPr lang="en-US" sz="1250" dirty="0"/>
          </a:p>
          <a:p>
            <a:pPr indent="0" marL="0">
              <a:buNone/>
            </a:pPr>
            <a:r>
              <a:rPr lang="en-US" sz="1050" i="1" dirty="0">
                <a:solidFill>
                  <a:srgbClr val="8A6D1E"/>
                </a:solidFill>
                <a:latin typeface="Calibri" pitchFamily="34" charset="0"/>
                <a:cs typeface="Amiri" pitchFamily="2" charset="-78"/>
              </a:rPr>
              <a:t>Website: a four-part verb entry.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زَارَ الْمَتْحَفَ</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visited the museum</a:t>
            </a:r>
            <a:endParaRPr lang="en-US" sz="1250" dirty="0"/>
          </a:p>
          <a:p>
            <a:pPr indent="0" marL="0">
              <a:buNone/>
            </a:pPr>
            <a:r>
              <a:rPr lang="en-US" sz="1050" i="1" dirty="0">
                <a:solidFill>
                  <a:srgbClr val="8A6D1E"/>
                </a:solidFill>
                <a:latin typeface="Calibri" pitchFamily="34" charset="0"/>
                <a:cs typeface="Amiri" pitchFamily="2" charset="-78"/>
              </a:rPr>
              <a:t>Website: learn with a collocation.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مَرَّ بِالسُّوقِ</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passed by the market</a:t>
            </a:r>
            <a:endParaRPr lang="en-US" sz="1250" dirty="0"/>
          </a:p>
          <a:p>
            <a:pPr indent="0" marL="0">
              <a:buNone/>
            </a:pPr>
            <a:r>
              <a:rPr lang="en-US" sz="1050" i="1" dirty="0">
                <a:solidFill>
                  <a:srgbClr val="8A6D1E"/>
                </a:solidFill>
                <a:latin typeface="Calibri" pitchFamily="34" charset="0"/>
                <a:cs typeface="Amiri" pitchFamily="2" charset="-78"/>
              </a:rPr>
              <a:t>Website: verb + its preposition.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 كَتَبْتُ أَمْسِ، وَأَكْتُبُ الْآنَ.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wrote yesterday, and I am writing now.</a:t>
            </a:r>
            <a:endParaRPr lang="en-US" sz="1250" dirty="0"/>
          </a:p>
          <a:p>
            <a:pPr indent="0" marL="0">
              <a:buNone/>
            </a:pPr>
            <a:r>
              <a:rPr lang="en-US" sz="1050" i="1" dirty="0">
                <a:solidFill>
                  <a:srgbClr val="8A6D1E"/>
                </a:solidFill>
                <a:latin typeface="Calibri" pitchFamily="34" charset="0"/>
                <a:cs typeface="Amiri" pitchFamily="2" charset="-78"/>
              </a:rPr>
              <a:t>Website: past vs present.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CLASSIFY THE VERB (WEBSITE PATTERN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إِلَى أَيِّ 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زَارَ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رَدَّ</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دَعَا</a:t>
            </a:r>
            <a:endParaRPr lang="ar-SA" sz="1800" dirty="0"/>
          </a:p>
        </p:txBody>
      </p:sp>
      <p:sp>
        <p:nvSpPr>
          <p:cNvPr id="33" name="Shape 30"/>
          <p:cNvSpPr/>
          <p:nvPr/>
        </p:nvSpPr>
        <p:spPr>
          <a:xfrm>
            <a:off x="9050274" y="3529584"/>
            <a:ext cx="2681478" cy="2779776"/>
          </a:xfrm>
          <a:prstGeom prst="roundRect">
            <a:avLst>
              <a:gd name="adj" fmla="val 2728"/>
            </a:avLst>
          </a:prstGeom>
          <a:solidFill>
            <a:srgbClr val="EEF3FA"/>
          </a:solidFill>
          <a:ln w="9525">
            <a:solidFill>
              <a:srgbClr val="C9D6EA"/>
            </a:solidFill>
            <a:prstDash val="solid"/>
          </a:ln>
        </p:spPr>
      </p:sp>
      <p:sp>
        <p:nvSpPr>
          <p:cNvPr id="34" name="Shape 31"/>
          <p:cNvSpPr/>
          <p:nvPr/>
        </p:nvSpPr>
        <p:spPr>
          <a:xfrm>
            <a:off x="9187434" y="3639312"/>
            <a:ext cx="2407158"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9187434" y="3639312"/>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sound</a:t>
            </a:r>
            <a:endParaRPr lang="en-US" sz="950" dirty="0"/>
          </a:p>
        </p:txBody>
      </p:sp>
      <p:sp>
        <p:nvSpPr>
          <p:cNvPr id="36" name="Shape 33"/>
          <p:cNvSpPr/>
          <p:nvPr/>
        </p:nvSpPr>
        <p:spPr>
          <a:xfrm>
            <a:off x="6185916" y="3529584"/>
            <a:ext cx="2681478" cy="2779776"/>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6323076" y="3639312"/>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6323076" y="3639312"/>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hollow (weak middle)</a:t>
            </a:r>
            <a:endParaRPr lang="en-US" sz="950" dirty="0"/>
          </a:p>
        </p:txBody>
      </p:sp>
      <p:sp>
        <p:nvSpPr>
          <p:cNvPr id="39" name="Shape 36"/>
          <p:cNvSpPr/>
          <p:nvPr/>
        </p:nvSpPr>
        <p:spPr>
          <a:xfrm>
            <a:off x="3321558" y="3529584"/>
            <a:ext cx="2681478" cy="2779776"/>
          </a:xfrm>
          <a:prstGeom prst="roundRect">
            <a:avLst>
              <a:gd name="adj" fmla="val 2728"/>
            </a:avLst>
          </a:prstGeom>
          <a:solidFill>
            <a:srgbClr val="EEF3FA"/>
          </a:solidFill>
          <a:ln w="9525">
            <a:solidFill>
              <a:srgbClr val="C9D6EA"/>
            </a:solidFill>
            <a:prstDash val="solid"/>
          </a:ln>
        </p:spPr>
      </p:sp>
      <p:sp>
        <p:nvSpPr>
          <p:cNvPr id="40" name="Shape 37"/>
          <p:cNvSpPr/>
          <p:nvPr/>
        </p:nvSpPr>
        <p:spPr>
          <a:xfrm>
            <a:off x="3458718" y="3639312"/>
            <a:ext cx="2407158"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3458718" y="3639312"/>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weak at an end</a:t>
            </a:r>
            <a:endParaRPr lang="en-US" sz="950" dirty="0"/>
          </a:p>
        </p:txBody>
      </p:sp>
      <p:sp>
        <p:nvSpPr>
          <p:cNvPr id="42" name="Shape 39"/>
          <p:cNvSpPr/>
          <p:nvPr/>
        </p:nvSpPr>
        <p:spPr>
          <a:xfrm>
            <a:off x="457200" y="3529584"/>
            <a:ext cx="2681478" cy="2779776"/>
          </a:xfrm>
          <a:prstGeom prst="roundRect">
            <a:avLst>
              <a:gd name="adj" fmla="val 2728"/>
            </a:avLst>
          </a:prstGeom>
          <a:solidFill>
            <a:srgbClr val="EEF3FA"/>
          </a:solidFill>
          <a:ln w="9525">
            <a:solidFill>
              <a:srgbClr val="C9D6EA"/>
            </a:solidFill>
            <a:prstDash val="solid"/>
          </a:ln>
        </p:spPr>
      </p:sp>
      <p:sp>
        <p:nvSpPr>
          <p:cNvPr id="43" name="Shape 40"/>
          <p:cNvSpPr/>
          <p:nvPr/>
        </p:nvSpPr>
        <p:spPr>
          <a:xfrm>
            <a:off x="594360" y="3639312"/>
            <a:ext cx="2407158" cy="310896"/>
          </a:xfrm>
          <a:prstGeom prst="roundRect">
            <a:avLst>
              <a:gd name="adj" fmla="val 50000"/>
            </a:avLst>
          </a:prstGeom>
          <a:solidFill>
            <a:srgbClr val="2F6FB0"/>
          </a:solidFill>
          <a:ln w="12700">
            <a:solidFill>
              <a:srgbClr val="2F6FB0"/>
            </a:solidFill>
            <a:prstDash val="solid"/>
          </a:ln>
        </p:spPr>
      </p:sp>
      <p:sp>
        <p:nvSpPr>
          <p:cNvPr id="44" name="Text 41"/>
          <p:cNvSpPr txBox="1"/>
          <p:nvPr/>
        </p:nvSpPr>
        <p:spPr>
          <a:xfrm>
            <a:off x="594360" y="3639312"/>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doubled</a:t>
            </a:r>
            <a:endParaRPr lang="en-US" sz="9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sound</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hollow (weak middle)</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زَارَ</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weak at an end</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مَشَى</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a:t>
            </a:r>
            <a:endParaRPr lang="ar-SA" sz="1800" dirty="0"/>
          </a:p>
        </p:txBody>
      </p:sp>
      <p:sp>
        <p:nvSpPr>
          <p:cNvPr id="36" name="Shape 33"/>
          <p:cNvSpPr/>
          <p:nvPr/>
        </p:nvSpPr>
        <p:spPr>
          <a:xfrm>
            <a:off x="3458718" y="3401568"/>
            <a:ext cx="2407158"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3550158" y="3401568"/>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دَعَا</a:t>
            </a:r>
            <a:endParaRPr lang="ar-SA" sz="1800" dirty="0"/>
          </a:p>
        </p:txBody>
      </p:sp>
      <p:sp>
        <p:nvSpPr>
          <p:cNvPr id="38" name="Shape 35"/>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9" name="Shape 36"/>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doubled</a:t>
            </a:r>
            <a:endParaRPr lang="en-US" sz="950" dirty="0"/>
          </a:p>
        </p:txBody>
      </p:sp>
      <p:sp>
        <p:nvSpPr>
          <p:cNvPr id="41" name="Shape 38"/>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a:t>
            </a:r>
            <a:endParaRPr lang="ar-SA" sz="1800" dirty="0"/>
          </a:p>
        </p:txBody>
      </p:sp>
      <p:sp>
        <p:nvSpPr>
          <p:cNvPr id="43" name="Shape 40"/>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4" name="Text 41"/>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رَدَّ</a:t>
            </a:r>
            <a:endParaRPr lang="ar-SA" sz="18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FOUR-PART VERB ENTRY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 present · noun · command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71140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8" name="Text 15"/>
          <p:cNvSpPr txBox="1"/>
          <p:nvPr/>
        </p:nvSpPr>
        <p:spPr>
          <a:xfrm>
            <a:off x="49194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9" name="Text 16"/>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0" name="Text 17"/>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509760" y="2267712"/>
            <a:ext cx="21305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اُكْتُبْ</a:t>
            </a:r>
            <a:endParaRPr lang="ar-SA" sz="2400" dirty="0"/>
          </a:p>
        </p:txBody>
      </p:sp>
      <p:sp>
        <p:nvSpPr>
          <p:cNvPr id="23" name="Text 20"/>
          <p:cNvSpPr txBox="1"/>
          <p:nvPr/>
        </p:nvSpPr>
        <p:spPr>
          <a:xfrm>
            <a:off x="713232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كِتَابَةٌ</a:t>
            </a:r>
            <a:endParaRPr lang="ar-SA" sz="2400" dirty="0"/>
          </a:p>
        </p:txBody>
      </p:sp>
      <p:sp>
        <p:nvSpPr>
          <p:cNvPr id="24" name="Text 21"/>
          <p:cNvSpPr txBox="1"/>
          <p:nvPr/>
        </p:nvSpPr>
        <p:spPr>
          <a:xfrm>
            <a:off x="493776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يَكْتُبُ</a:t>
            </a:r>
            <a:endParaRPr lang="ar-SA" sz="2400" dirty="0"/>
          </a:p>
        </p:txBody>
      </p:sp>
      <p:sp>
        <p:nvSpPr>
          <p:cNvPr id="25" name="Text 22"/>
          <p:cNvSpPr txBox="1"/>
          <p:nvPr/>
        </p:nvSpPr>
        <p:spPr>
          <a:xfrm>
            <a:off x="27432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6" name="Text 23"/>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509760" y="3004718"/>
            <a:ext cx="21305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قُلْ</a:t>
            </a:r>
            <a:endParaRPr lang="ar-SA" sz="2400" dirty="0"/>
          </a:p>
        </p:txBody>
      </p:sp>
      <p:sp>
        <p:nvSpPr>
          <p:cNvPr id="31" name="Text 28"/>
          <p:cNvSpPr txBox="1"/>
          <p:nvPr/>
        </p:nvSpPr>
        <p:spPr>
          <a:xfrm>
            <a:off x="713232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قَوْلٌ</a:t>
            </a:r>
            <a:endParaRPr lang="ar-SA" sz="2400" dirty="0"/>
          </a:p>
        </p:txBody>
      </p:sp>
      <p:sp>
        <p:nvSpPr>
          <p:cNvPr id="32" name="Text 29"/>
          <p:cNvSpPr txBox="1"/>
          <p:nvPr/>
        </p:nvSpPr>
        <p:spPr>
          <a:xfrm>
            <a:off x="493776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يَقُولُ</a:t>
            </a:r>
            <a:endParaRPr lang="ar-SA" sz="2400" dirty="0"/>
          </a:p>
        </p:txBody>
      </p:sp>
      <p:sp>
        <p:nvSpPr>
          <p:cNvPr id="33" name="Text 30"/>
          <p:cNvSpPr txBox="1"/>
          <p:nvPr/>
        </p:nvSpPr>
        <p:spPr>
          <a:xfrm>
            <a:off x="27432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قَالَ</a:t>
            </a:r>
            <a:endParaRPr lang="ar-SA" sz="2400" dirty="0"/>
          </a:p>
        </p:txBody>
      </p:sp>
      <p:sp>
        <p:nvSpPr>
          <p:cNvPr id="34" name="Text 31"/>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09760" y="3741725"/>
            <a:ext cx="21305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زُرْ</a:t>
            </a:r>
            <a:endParaRPr lang="ar-SA" sz="2400" dirty="0"/>
          </a:p>
        </p:txBody>
      </p:sp>
      <p:sp>
        <p:nvSpPr>
          <p:cNvPr id="39" name="Text 36"/>
          <p:cNvSpPr txBox="1"/>
          <p:nvPr/>
        </p:nvSpPr>
        <p:spPr>
          <a:xfrm>
            <a:off x="713232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زِيَارَةٌ</a:t>
            </a:r>
            <a:endParaRPr lang="ar-SA" sz="2400" dirty="0"/>
          </a:p>
        </p:txBody>
      </p:sp>
      <p:sp>
        <p:nvSpPr>
          <p:cNvPr id="40" name="Text 37"/>
          <p:cNvSpPr txBox="1"/>
          <p:nvPr/>
        </p:nvSpPr>
        <p:spPr>
          <a:xfrm>
            <a:off x="493776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يَزُورُ</a:t>
            </a:r>
            <a:endParaRPr lang="ar-SA" sz="2400" dirty="0"/>
          </a:p>
        </p:txBody>
      </p:sp>
      <p:sp>
        <p:nvSpPr>
          <p:cNvPr id="41" name="Text 38"/>
          <p:cNvSpPr txBox="1"/>
          <p:nvPr/>
        </p:nvSpPr>
        <p:spPr>
          <a:xfrm>
            <a:off x="27432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زَارَ</a:t>
            </a:r>
            <a:endParaRPr lang="ar-SA" sz="2400" dirty="0"/>
          </a:p>
        </p:txBody>
      </p:sp>
      <p:sp>
        <p:nvSpPr>
          <p:cNvPr id="42" name="Text 3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509760" y="4478731"/>
            <a:ext cx="21305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صِلْ</a:t>
            </a:r>
            <a:endParaRPr lang="ar-SA" sz="2400" dirty="0"/>
          </a:p>
        </p:txBody>
      </p:sp>
      <p:sp>
        <p:nvSpPr>
          <p:cNvPr id="47" name="Text 44"/>
          <p:cNvSpPr txBox="1"/>
          <p:nvPr/>
        </p:nvSpPr>
        <p:spPr>
          <a:xfrm>
            <a:off x="713232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وُصُولٌ</a:t>
            </a:r>
            <a:endParaRPr lang="ar-SA" sz="2400" dirty="0"/>
          </a:p>
        </p:txBody>
      </p:sp>
      <p:sp>
        <p:nvSpPr>
          <p:cNvPr id="48" name="Text 45"/>
          <p:cNvSpPr txBox="1"/>
          <p:nvPr/>
        </p:nvSpPr>
        <p:spPr>
          <a:xfrm>
            <a:off x="493776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يَصِلُ</a:t>
            </a:r>
            <a:endParaRPr lang="ar-SA" sz="2400" dirty="0"/>
          </a:p>
        </p:txBody>
      </p:sp>
      <p:sp>
        <p:nvSpPr>
          <p:cNvPr id="49" name="Text 46"/>
          <p:cNvSpPr txBox="1"/>
          <p:nvPr/>
        </p:nvSpPr>
        <p:spPr>
          <a:xfrm>
            <a:off x="27432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وَصَلَ</a:t>
            </a:r>
            <a:endParaRPr lang="ar-SA" sz="2400" dirty="0"/>
          </a:p>
        </p:txBody>
      </p:sp>
      <p:sp>
        <p:nvSpPr>
          <p:cNvPr id="50" name="Text 47"/>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arrive</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509760" y="5215738"/>
            <a:ext cx="21305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اِمْشِ</a:t>
            </a:r>
            <a:endParaRPr lang="ar-SA" sz="2400" dirty="0"/>
          </a:p>
        </p:txBody>
      </p:sp>
      <p:sp>
        <p:nvSpPr>
          <p:cNvPr id="53" name="Text 50"/>
          <p:cNvSpPr txBox="1"/>
          <p:nvPr/>
        </p:nvSpPr>
        <p:spPr>
          <a:xfrm>
            <a:off x="713232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مَشْيٌ</a:t>
            </a:r>
            <a:endParaRPr lang="ar-SA" sz="2400" dirty="0"/>
          </a:p>
        </p:txBody>
      </p:sp>
      <p:sp>
        <p:nvSpPr>
          <p:cNvPr id="54" name="Text 51"/>
          <p:cNvSpPr txBox="1"/>
          <p:nvPr/>
        </p:nvSpPr>
        <p:spPr>
          <a:xfrm>
            <a:off x="493776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يَمْشِي</a:t>
            </a:r>
            <a:endParaRPr lang="ar-SA" sz="2400" dirty="0"/>
          </a:p>
        </p:txBody>
      </p:sp>
      <p:sp>
        <p:nvSpPr>
          <p:cNvPr id="55" name="Text 52"/>
          <p:cNvSpPr txBox="1"/>
          <p:nvPr/>
        </p:nvSpPr>
        <p:spPr>
          <a:xfrm>
            <a:off x="27432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مَشَى</a:t>
            </a:r>
            <a:endParaRPr lang="ar-SA" sz="2400" dirty="0"/>
          </a:p>
        </p:txBody>
      </p:sp>
      <p:sp>
        <p:nvSpPr>
          <p:cNvPr id="56" name="Text 53"/>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walk</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store each verb as a family, then add a useful phrase. Notice how the weak letter hides or changes — that is GM-V-02.</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 ق 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the root of qāla?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 · م 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many rāʾs in marra?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the vowels change?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 ق 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 ق و 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weak letter is a root letter, even when hidden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 · م 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 · م ر 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shadda counts twice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present is not “add ya-”: the stem vowels change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PERSON CHECK AND MASTERY CHECK</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write”.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نَكْتُبُ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أَكْتُبُ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wrote”.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study”.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نَدْرُسُ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يَدْرُسُونَ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Marra (to pass) is …</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hollow</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 weak</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doubled</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write”.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نَكْتُبُ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أَكْتُبُ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marks “I”.</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wrote”.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كَتَبْنَا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 marks “she” in the past.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study”.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نَدْرُسُ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يَدْرُسُونَ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 marks “we”.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Marra (to pass) is …</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hollow</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 weak</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doubled</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last two root letters match.</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E6B52"/>
                </a:solidFill>
                <a:latin typeface="Calibri" pitchFamily="34" charset="0"/>
                <a:cs typeface="Amiri" pitchFamily="2" charset="-78"/>
              </a:rPr>
              <a:t>YOU DO · READ AND NOTICE · WEBSITE READING WORKSHOP (TEACHER-WRITTEN PARAGRAPH)</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أَسْتَيْقِظُ مُبَكِّرًا كُلَّ يَوْمٍ، وَأَذْهَبُ إِلَى الْمَدْرَسَةِ. فِي الطَّرِيقِ أَمُرُّ بِالسُّوقِ. أَمْسِ زُرْتُ الْمَكْتَبَةَ وَقَرَأْتُ كِتَابًا، ثُمَّ مَشَيْتُ إِلَى الْبَيْتِ. وَصَلْتُ مُتَأَخِّرًا، فَقَالَتْ أُمِّي: «أَيْنَ كُنْتَ؟»</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wake up</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أَمُرُّ بِـ</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pass by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زُرْتُ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visited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مَشَيْتُ</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walked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وَصَلْتُ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arrived</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مُتَأَخِّرًا</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late</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doubled?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hollow?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وَصَلْتُ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final weak?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said “Where were you?”</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doubled?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Root m-r-r.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hollow?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مَشَيْتُ</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وَصَلْتُ</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Root z-w-r.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final weak?</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مَشَيْتُ</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Root m-sh-y.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said “Where were you?”</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mother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Qālat ummī — -at = she.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usually, and yesterday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كُلَّ يَوْمٍ؟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فَعَلْتَ أَمْسِ؟</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مَاذَا تَفْعَلُ عَادَةً، وَمَاذَا فَعَلْتَ أَمْسِ؟</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كُلَّ يَوْمٍ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أَمْسِ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عَادَةً ___ ، لَكِنْ أَمْسِ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تَفْعَلُ بَعْدَ الْمَدْرَسَةِ عَادَةً؟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usually do after school?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عَادَةً أَدْرُسُ وَأَلْعَبُ، لَكِنْ أَمْسِ زُرْتُ جَدَّتِي وَقُلْتُ لَهَا: عِيدٌ مُبَارَكٌ!</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Usually I study and play, but yesterday I visited my grandmother and said to her: Eid Mubarak!</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present and three past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 wake up / I go … · yesterday I visited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two persons and at least one weak verb.</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Annotate: root · family · time.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a three-column verb audit.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verb form · root / family · why it fits.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كَتَبْنَا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wrote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said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مَشَيْتُ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walked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 أَمُرُّ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day I pass by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 أَسْتَيْقِظُ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day I wake up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زُرْتُ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visited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قَرَأْتُ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read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أَذْهَبُ  ·  أَدْرُسُ  ·  أَكْتُبُ  ·  أَقُولُ  ·  زُرْتُ  ·  قَرَأْتُ  ·  كَتَبْنَا  ·  قَالَتْ  ·  مَشَيْتُ  ·  وَصَلْتُ  ·  أَمُرُّ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80–100 words on your routine and one past experience, with a verb audit.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sound verb.</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hollow or weak verb.</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different persons (I, we, she …).</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time frames (present and past).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verbs annotated: root · family · time · subject.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مُبَكِّرًا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early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visited (hollow)</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said (hollow)</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مَشَيْتُ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walked (final weak)</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وَصَلْتُ</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arrived (initial weak)</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مَرَرْتُ بِـ</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passed by (doubled)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كُلَّ يَوْمٍ أَسْتَيْقِظُ فِي السَّاعَةِ السَّادِسَةِ وَأُصَلِّي الْفَجْرَ. ثُمَّ أَذْهَبُ إِلَى الْمَدْرَسَةِ وَأَدْرُسُ الْعَرَبِيَّةَ. فِي الْأُسْبُوعِ الْمَاضِي زُرْنَا الْمَتْحَفَ مَعَ الْمُعَلِّمَةِ. مَشَيْنَا فِي الْقَاعَاتِ، وَقَالَتِ الْمُعَلِّمَةُ: «اُكْتُبُوا مُلَاحَظَاتِكُمْ». كَتَبْتُ صَفْحَتَيْنِ، وَوَصَلْنَا إِلَى الْبَيْتِ مُتْعَبِينَ وَسُعَدَاءَ.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Every day I wake up at six and pray Fajr. Then I go to school and study Arabic. Last week we visited the museum with the teacher. We walked through the halls, and the teacher said: “Write your notes.” I wrote two pages, and we arrived home tired and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present (routine)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(experience)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hollow / weak verbs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different persons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verbs show the right person.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verbs show the right person.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one weak or hollow verb.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verbs as pairs in my vocabulary list.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annotated root, family, time and subject.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root of qāla (he said) is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ق-و-ل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wrote”.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يَكْتُبُونَ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Mashā (he walked) is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 weak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doubled</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root of qāla (he said) is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ق-و-ل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ي-ق-و</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hidden weak letter is wāw: q-w-l.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wrote”.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كَتَبْتُ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كَتَبْنَا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يَكْتُبُونَ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marks “we” in the past.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Mashā (he walked) is …</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final weak</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sound</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doubled</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last root letter is weak.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GM-V-01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GM-V-02: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GM-V-02 · Hollow, Doubled and Weak Verb Patterns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said</a:t>
            </a:r>
            <a:pPr indent="0" marL="0">
              <a:buNone/>
            </a:pPr>
            <a:r>
              <a:rPr lang="ar-SA" sz="1000" i="1" dirty="0">
                <a:solidFill>
                  <a:srgbClr val="5A6472"/>
                </a:solidFill>
                <a:latin typeface="Calibri" pitchFamily="34" charset="0"/>
                <a:ea typeface="Amiri" pitchFamily="2" charset="-78"/>
                <a:cs typeface="Amiri" pitchFamily="2" charset="-78"/>
              </a:rPr>
              <a:t>  from قَالَ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زُرْتُ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visited</a:t>
            </a:r>
            <a:pPr indent="0" marL="0">
              <a:buNone/>
            </a:pPr>
            <a:r>
              <a:rPr lang="ar-SA" sz="1000" i="1" dirty="0">
                <a:solidFill>
                  <a:srgbClr val="5A6472"/>
                </a:solidFill>
                <a:latin typeface="Calibri" pitchFamily="34" charset="0"/>
                <a:ea typeface="Amiri" pitchFamily="2" charset="-78"/>
                <a:cs typeface="Amiri" pitchFamily="2" charset="-78"/>
              </a:rPr>
              <a:t>  from زَارَ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مَرَرْتُ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passed</a:t>
            </a:r>
            <a:pPr indent="0" marL="0">
              <a:buNone/>
            </a:pPr>
            <a:r>
              <a:rPr lang="ar-SA" sz="1000" i="1" dirty="0">
                <a:solidFill>
                  <a:srgbClr val="5A6472"/>
                </a:solidFill>
                <a:latin typeface="Calibri" pitchFamily="34" charset="0"/>
                <a:ea typeface="Amiri" pitchFamily="2" charset="-78"/>
                <a:cs typeface="Amiri" pitchFamily="2" charset="-78"/>
              </a:rPr>
              <a:t>  from مَرَّ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مَشَيْتُ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walked</a:t>
            </a:r>
            <a:pPr indent="0" marL="0">
              <a:buNone/>
            </a:pPr>
            <a:r>
              <a:rPr lang="ar-SA" sz="1000" i="1" dirty="0">
                <a:solidFill>
                  <a:srgbClr val="5A6472"/>
                </a:solidFill>
                <a:latin typeface="Calibri" pitchFamily="34" charset="0"/>
                <a:ea typeface="Amiri" pitchFamily="2" charset="-78"/>
                <a:cs typeface="Amiri" pitchFamily="2" charset="-78"/>
              </a:rPr>
              <a:t>  from مَشَى</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يَصِلُ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arrives</a:t>
            </a:r>
            <a:pPr indent="0" marL="0">
              <a:buNone/>
            </a:pPr>
            <a:r>
              <a:rPr lang="ar-SA" sz="1000" i="1" dirty="0">
                <a:solidFill>
                  <a:srgbClr val="5A6472"/>
                </a:solidFill>
                <a:latin typeface="Calibri" pitchFamily="34" charset="0"/>
                <a:ea typeface="Amiri" pitchFamily="2" charset="-78"/>
                <a:cs typeface="Amiri" pitchFamily="2" charset="-78"/>
              </a:rPr>
              <a:t>  from وَصَلَ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Qāla → qultu (I said). Where has the long ā gone? Try zāra → “I visited”.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قَالَ · قُلْتُ — زَارَ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Make four-part entries for five verbs.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Classify twenty verbs from your book into the five families.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routine + past experience, with a verb audit.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GM-V-02 · Hollow, Doubled and Weak Verb Patterns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الْأَفْعَالُ الْجَوْفَاءُ وَالْمُضَعَّفَةُ وَالْمُعْتَلَّةُ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root + pattern + time + person · five families: sound, initial weak, hollow, final weak, doubled · the hidden weak letter is still a root letter · learn verbs in families.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GM-V-01 · Verb Foundations and the Conjugation Map</dc:title>
  <dc:subject>PptxGenJS Presentation</dc:subject>
  <dc:creator>Al Madina Online School · Arabic Department</dc:creator>
  <cp:lastModifiedBy>Al Madina Online School · Arabic Department</cp:lastModifiedBy>
  <cp:revision>1</cp:revision>
  <dcterms:created xsi:type="dcterms:W3CDTF">2026-10-11T06:42:33Z</dcterms:created>
  <dcterms:modified xsi:type="dcterms:W3CDTF">2026-10-11T06:42:33Z</dcterms:modified>
</cp:coreProperties>
</file>