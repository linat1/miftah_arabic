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GM-V-11 (“Passive Voice in the Past and Present”).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vowel patterns فُعِلَ and يُفْعَلُ with sound verbs (كُتِبَ · يُكْتَبُ · فُتِحَ · يُفْتَحُ) and signs (يُمْنَعُ التَّدْخِينُ). Develop: transforming active → passive with agreement (كُتِبَتِ الرِّسَالَةُ · تُقْرَأُ الْكُتُبُ). Stretch: derived forms (أُعْلِنَتْ · تُسْتَعْمَلُ · يُعْتَقَدُ) and choosing passive or active for a reason.
• Hook for weak classes: “u-i past, u-a present” — the first ḍamma is the passive alarm.
• Agreement reminder (GM-N-06): non-human plurals take a feminine singular verb — tuqraʾu l-kutubu.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GM-V-10 prep words kutiba, yuktabu and yuqālu.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Passive = new vowels: past u–i (kutiba), present u–a (yuktabu). The object moves up and becomes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“Passive past”. Say the vowels: ka-ta-ba / ku-ti-ba.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“Passive present”. Signs and notices are full of yufʿalu.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“Transform active into passive” and “Choose passive for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Passive Past and Passive Present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Note the subjunctive after li-kay (GM-V-10).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Active-to-Passive check and game.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which information does the speaker foreground? Clue: a first ḍamma =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which information does the speaker foreground? Clue: a first ḍamma =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Passive Past, Why Passive and Active-to-Passive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notice). Read it aloud once while students follow; then they hunt for today’s grammar.
Task: Website: underline the passive verbs and identify the affected noun that follows each one.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notice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a school process with three present passives, then answer who does one step with an active sentence. Listening (website): paired active / passive sentences — what is foregrounded?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120–140-word news report, process description or school notice. Include at least five passive verbs and explain one event with an active sentence where the agent matters.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(GM-V-12 · Verbal Nouns and Participles) will spend class time USING this language, so students prepare it tonight — short, simple, easy to access (school guidance: “Simple, Short, Interesting, Relevant, Easy to access”). The five words prepare GM-V-12 (website Verbs lesson 12: verbal nouns and participles).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Passive Voice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الْمَبْنِيُّ لِلْمَجْهُولِ فِي الْمَاضِي وَالْمُضَارِعِ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passive hides the doer and puts the result first. Past: u – i (kataba → kutiba). Present: u – a (yaktubu → yuktabu). The old object becomes the new subject: nominative, and the verb agrees with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GM-V-11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Past passive; present passive; transformation; why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Transform; sort active / passive;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past “The letter was written”.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الرِّسَالَةُ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الرِّسَالَةُ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 الرِّسَالَةُ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present “The letter is written”.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 الرِّسَالَةُ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 الرِّسَالَةُ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 الرِّسَالَةَ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“Smoking is prohibited”.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يَمْنَعُ التَّدْخِينُ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مَنَعَ التَّدْخِينُ نَفْسَهُ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يُمْنَعُ التَّدْخِينُ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passive sentence, the former object…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stays accusative automatically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must disappear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becomes the grammatical </a:t>
            </a:r>
            <a:pPr algn="l" indent="0" marL="0">
              <a:buNone/>
            </a:pPr>
            <a:r>
              <a:rPr lang="ar-SA" altLang="en-US" sz="1650" dirty="0">
                <a:solidFill>
                  <a:srgbClr val="1F2A37"/>
                </a:solidFill>
                <a:latin typeface="Amiri" pitchFamily="34" charset="0"/>
                <a:ea typeface="Amiri" pitchFamily="34" charset="-122"/>
                <a:cs typeface="Amiri" pitchFamily="34" charset="-120"/>
              </a:rPr>
              <a:t>نائب الفاعل</a:t>
            </a:r>
            <a:pPr algn="l" indent="0" marL="0">
              <a:buNone/>
            </a:pPr>
            <a:r>
              <a:rPr lang="en-US" sz="1250" dirty="0">
                <a:solidFill>
                  <a:srgbClr val="1F2A37"/>
                </a:solidFill>
                <a:latin typeface="Calibri" pitchFamily="34" charset="0"/>
                <a:ea typeface="Calibri" pitchFamily="34" charset="-122"/>
                <a:cs typeface="Calibri" pitchFamily="34" charset="-120"/>
              </a:rPr>
              <a:t> and is nominative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فَتَحَ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past “The letter was written”.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 الرِّسَالَةُ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 الرِّسَالَةُ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 الرِّسَالَةُ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passive uses the fuʿila vowel pattern.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present “The letter is written”.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تُكْتَبُ الرِّسَالَةُ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 الرِّسَالَةُ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 الرِّسَالَةَ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passive uses yufʿalu / tufʿalu.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“Smoking is prohibited”.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يَمْنَعُ التَّدْخِينُ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مَنَعَ التَّدْخِينُ نَفْسَهُ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يُمْنَعُ التَّدْخِينُ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focuses on the rule, not the unnamed agent.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passive sentence, the former object…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stays accusative automatically</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must disappear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becomes the grammatical </a:t>
            </a:r>
            <a:pPr algn="l" indent="0" marL="0">
              <a:buNone/>
            </a:pPr>
            <a:r>
              <a:rPr lang="ar-SA" altLang="en-US" sz="1500" b="1" dirty="0">
                <a:solidFill>
                  <a:srgbClr val="1F2A37"/>
                </a:solidFill>
                <a:latin typeface="Amiri" pitchFamily="34" charset="0"/>
                <a:ea typeface="Amiri" pitchFamily="34" charset="-122"/>
                <a:cs typeface="Amiri" pitchFamily="34" charset="-120"/>
              </a:rPr>
              <a:t>نائب الفاعل</a:t>
            </a:r>
            <a:pPr algn="l" indent="0" marL="0">
              <a:buNone/>
            </a:pPr>
            <a:r>
              <a:rPr lang="en-US" sz="1150" b="1" dirty="0">
                <a:solidFill>
                  <a:srgbClr val="1F2A37"/>
                </a:solidFill>
                <a:latin typeface="Calibri" pitchFamily="34" charset="0"/>
                <a:ea typeface="Calibri" pitchFamily="34" charset="-122"/>
                <a:cs typeface="Calibri" pitchFamily="34" charset="-120"/>
              </a:rPr>
              <a:t> and is nominative</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deputy subject and is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فَتَحَ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يُفْتَحُ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يَفْتَحُ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فُتِحَ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Present passive: yufʿalu.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Passive = new vowels: past u–i (kutiba), present u–a (yuktabu). The object moves up and becomes nominative.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34" charset="0"/>
                <a:ea typeface="Amiri" pitchFamily="34" charset="-122"/>
                <a:cs typeface="Amiri" pitchFamily="34" charset="-120"/>
              </a:rPr>
              <a:t>كُتِبَتِ</a:t>
            </a:r>
            <a:pPr rtl="1" algn="ctr" indent="0" marL="0">
              <a:buNone/>
            </a:pPr>
            <a:r>
              <a:rPr lang="ar-SA" altLang="en-US" sz="2350" b="1" dirty="0">
                <a:solidFill>
                  <a:srgbClr val="1B3B6F"/>
                </a:solidFill>
                <a:latin typeface="Amiri" pitchFamily="34" charset="0"/>
                <a:ea typeface="Amiri" pitchFamily="34" charset="-122"/>
                <a:cs typeface="Amiri" pitchFamily="34" charset="-120"/>
              </a:rPr>
              <a:t> الرِّسَالَةُ ‖ </a:t>
            </a:r>
            <a:pPr rtl="1" algn="ctr" indent="0" marL="0">
              <a:buNone/>
            </a:pPr>
            <a:r>
              <a:rPr lang="ar-SA" altLang="en-US" sz="2350" b="1" dirty="0">
                <a:solidFill>
                  <a:srgbClr val="D6336C"/>
                </a:solidFill>
                <a:latin typeface="Amiri" pitchFamily="34" charset="0"/>
                <a:ea typeface="Amiri" pitchFamily="34" charset="-122"/>
                <a:cs typeface="Amiri" pitchFamily="34" charset="-120"/>
              </a:rPr>
              <a:t>تُكْتَبُ</a:t>
            </a:r>
            <a:pPr rtl="1" algn="ctr" indent="0" marL="0">
              <a:buNone/>
            </a:pPr>
            <a:r>
              <a:rPr lang="ar-SA" altLang="en-US" sz="2350" b="1" dirty="0">
                <a:solidFill>
                  <a:srgbClr val="1B3B6F"/>
                </a:solidFill>
                <a:latin typeface="Amiri" pitchFamily="34" charset="0"/>
                <a:ea typeface="Amiri" pitchFamily="34" charset="-122"/>
                <a:cs typeface="Amiri" pitchFamily="34" charset="-120"/>
              </a:rPr>
              <a:t> الرِّسَالَةُ</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past passive fuʿila.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passive yufʿalu.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the verb agree with the new subject.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passive or active for a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read signs like yumnaʿu t-tadkhīn.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change kataba into kutiba.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turn an active sentence into a passive one.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ta- for feminine and non-human plural subjects.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derived passives like uʿlinat and tustaʿmalu.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I chose passive or active.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الْمَبْنِيُّ لِلْمَعْلُومِ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voice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al-mab-niy-yu lil-maʿ-lū-mi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الطَّالِبُ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الْمَبْنِيُّ لِلْمَجْهُولِ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passive voice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al-mab-niy-yu lil-maj-hū-li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الدَّرْسُ</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الْفَاعِلُ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al-fā-ʿi-lu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نَائِبُ الْفَاعِلِ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deputy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nā-ʾi-bu al-fā-ʿi-li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الرِّسَالَةُ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يُمْنَعُ</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forbidden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yum-na-ʿu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يُمْنَعُ التَّدْخِينُ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يُقَالُ إِنَّ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said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yu-qā-lu in-na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يُقَالُ إِنَّ …</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PASSIVE PAST: FUʿILA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passive: u –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happened</a:t>
            </a:r>
            <a:endParaRPr lang="en-US" sz="1100" dirty="0"/>
          </a:p>
        </p:txBody>
      </p:sp>
      <p:sp>
        <p:nvSpPr>
          <p:cNvPr id="17" name="Text 14"/>
          <p:cNvSpPr txBox="1"/>
          <p:nvPr/>
        </p:nvSpPr>
        <p:spPr>
          <a:xfrm>
            <a:off x="43708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 past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 past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9924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letter is foregrounded</a:t>
            </a:r>
            <a:endParaRPr lang="en-US" sz="1100" dirty="0"/>
          </a:p>
        </p:txBody>
      </p:sp>
      <p:sp>
        <p:nvSpPr>
          <p:cNvPr id="21" name="Text 18"/>
          <p:cNvSpPr txBox="1"/>
          <p:nvPr/>
        </p:nvSpPr>
        <p:spPr>
          <a:xfrm>
            <a:off x="438912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كُتِبَتِ الرِّسَالَةُ.</a:t>
            </a:r>
            <a:endParaRPr lang="ar-SA" sz="2200" dirty="0"/>
          </a:p>
        </p:txBody>
      </p:sp>
      <p:sp>
        <p:nvSpPr>
          <p:cNvPr id="22" name="Text 19"/>
          <p:cNvSpPr txBox="1"/>
          <p:nvPr/>
        </p:nvSpPr>
        <p:spPr>
          <a:xfrm>
            <a:off x="54864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الطَّالِبُ الرِّسَالَةَ.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9924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agent is omitted</a:t>
            </a:r>
            <a:endParaRPr lang="en-US" sz="1100" dirty="0"/>
          </a:p>
        </p:txBody>
      </p:sp>
      <p:sp>
        <p:nvSpPr>
          <p:cNvPr id="27" name="Text 24"/>
          <p:cNvSpPr txBox="1"/>
          <p:nvPr/>
        </p:nvSpPr>
        <p:spPr>
          <a:xfrm>
            <a:off x="438912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فُتِحَ الْبَابُ.</a:t>
            </a:r>
            <a:endParaRPr lang="ar-SA" sz="2200" dirty="0"/>
          </a:p>
        </p:txBody>
      </p:sp>
      <p:sp>
        <p:nvSpPr>
          <p:cNvPr id="28" name="Text 25"/>
          <p:cNvSpPr txBox="1"/>
          <p:nvPr/>
        </p:nvSpPr>
        <p:spPr>
          <a:xfrm>
            <a:off x="54864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فَتَحَ الْمُوَظَّفُ الْبَابَ.</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9924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object becomes the subject</a:t>
            </a:r>
            <a:endParaRPr lang="en-US" sz="1100" dirty="0"/>
          </a:p>
        </p:txBody>
      </p:sp>
      <p:sp>
        <p:nvSpPr>
          <p:cNvPr id="33" name="Text 30"/>
          <p:cNvSpPr txBox="1"/>
          <p:nvPr/>
        </p:nvSpPr>
        <p:spPr>
          <a:xfrm>
            <a:off x="438912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كُسِرَ الزُّجَاجُ.</a:t>
            </a:r>
            <a:endParaRPr lang="ar-SA" sz="2200" dirty="0"/>
          </a:p>
        </p:txBody>
      </p:sp>
      <p:sp>
        <p:nvSpPr>
          <p:cNvPr id="34" name="Text 31"/>
          <p:cNvSpPr txBox="1"/>
          <p:nvPr/>
        </p:nvSpPr>
        <p:spPr>
          <a:xfrm>
            <a:off x="54864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كَسَرَ الْوَلَدُ الزُّجَاجَ.</a:t>
            </a:r>
            <a:endParaRPr lang="ar-SA" sz="22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69924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derived form (Stretch)</a:t>
            </a:r>
            <a:endParaRPr lang="en-US" sz="1100" dirty="0"/>
          </a:p>
        </p:txBody>
      </p:sp>
      <p:sp>
        <p:nvSpPr>
          <p:cNvPr id="39" name="Text 36"/>
          <p:cNvSpPr txBox="1"/>
          <p:nvPr/>
        </p:nvSpPr>
        <p:spPr>
          <a:xfrm>
            <a:off x="438912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أُعْلِنَتِ النَّتَائِجُ.</a:t>
            </a:r>
            <a:endParaRPr lang="ar-SA" sz="2200" dirty="0"/>
          </a:p>
        </p:txBody>
      </p:sp>
      <p:sp>
        <p:nvSpPr>
          <p:cNvPr id="40" name="Text 37"/>
          <p:cNvSpPr txBox="1"/>
          <p:nvPr/>
        </p:nvSpPr>
        <p:spPr>
          <a:xfrm>
            <a:off x="548640"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أَعْلَنَتِ الْمَدْرَسَةُ النَّتَائِجَ.</a:t>
            </a:r>
            <a:endParaRPr lang="ar-SA" sz="22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Form I active faʿala becomes passive fuʿila — kataba → kutiba, fataḥa → futiḥa. The verb agrees with the new subject: kutibat (the letter is feminine).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PASSIVE PRESENT: YUFʿALU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passive: u –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الْمُضَارِعُ 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p>
        </p:txBody>
      </p:sp>
      <p:sp>
        <p:nvSpPr>
          <p:cNvPr id="17" name="Text 14"/>
          <p:cNvSpPr txBox="1"/>
          <p:nvPr/>
        </p:nvSpPr>
        <p:spPr>
          <a:xfrm>
            <a:off x="45537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 present</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 present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process / general practice</a:t>
            </a:r>
            <a:endParaRPr lang="en-US" sz="1100" dirty="0"/>
          </a:p>
        </p:txBody>
      </p:sp>
      <p:sp>
        <p:nvSpPr>
          <p:cNvPr id="21" name="Text 18"/>
          <p:cNvSpPr txBox="1"/>
          <p:nvPr/>
        </p:nvSpPr>
        <p:spPr>
          <a:xfrm>
            <a:off x="457200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تُكْتَبُ الرِّسَالَةُ.</a:t>
            </a:r>
            <a:endParaRPr lang="ar-SA" sz="22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يَكْتُبُ الطَّالِبُ الرِّسَالَةَ.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happens to the door</a:t>
            </a:r>
            <a:endParaRPr lang="en-US" sz="1100" dirty="0"/>
          </a:p>
        </p:txBody>
      </p:sp>
      <p:sp>
        <p:nvSpPr>
          <p:cNvPr id="27" name="Text 24"/>
          <p:cNvSpPr txBox="1"/>
          <p:nvPr/>
        </p:nvSpPr>
        <p:spPr>
          <a:xfrm>
            <a:off x="457200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يُفْتَحُ الْبَابُ.</a:t>
            </a:r>
            <a:endParaRPr lang="ar-SA" sz="22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يَفْتَحُ الْمُوَظَّفُ الْبَابَ.</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rule / sign</a:t>
            </a:r>
            <a:endParaRPr lang="en-US" sz="1100" dirty="0"/>
          </a:p>
        </p:txBody>
      </p:sp>
      <p:sp>
        <p:nvSpPr>
          <p:cNvPr id="33" name="Text 30"/>
          <p:cNvSpPr txBox="1"/>
          <p:nvPr/>
        </p:nvSpPr>
        <p:spPr>
          <a:xfrm>
            <a:off x="457200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يُمْنَعُ التَّدْخِينُ.</a:t>
            </a:r>
            <a:endParaRPr lang="ar-SA" sz="22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يَمْنَعُ الْقَانُونُ التَّدْخِينَ.</a:t>
            </a:r>
            <a:endParaRPr lang="ar-SA" sz="22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derived form (Stretch)</a:t>
            </a:r>
            <a:endParaRPr lang="en-US" sz="1100" dirty="0"/>
          </a:p>
        </p:txBody>
      </p:sp>
      <p:sp>
        <p:nvSpPr>
          <p:cNvPr id="39" name="Text 36"/>
          <p:cNvSpPr txBox="1"/>
          <p:nvPr/>
        </p:nvSpPr>
        <p:spPr>
          <a:xfrm>
            <a:off x="457200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تُسْتَعْمَلُ التِّقْنِيَّةُ.</a:t>
            </a:r>
            <a:endParaRPr lang="ar-SA" sz="2200" dirty="0"/>
          </a:p>
        </p:txBody>
      </p:sp>
      <p:sp>
        <p:nvSpPr>
          <p:cNvPr id="40" name="Text 37"/>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يَسْتَعْمِلُ النَّاسُ التِّقْنِيَّةَ.</a:t>
            </a:r>
            <a:endParaRPr lang="ar-SA" sz="22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active yafʿalu becomes passive yufʿalu. The prefix still matches the new subject: tuktabu r-risālatu (ta- for feminine).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TRANSFORM AND CHOOSE (WEBSITE)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steps — and a good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التَّحْوِيلُ وَسَبَبُ الِاخْتِيَارِ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 / reason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u–i past · u–a present</a:t>
            </a:r>
            <a:endParaRPr lang="en-US" sz="1100" dirty="0"/>
          </a:p>
        </p:txBody>
      </p:sp>
      <p:sp>
        <p:nvSpPr>
          <p:cNvPr id="21" name="Text 18"/>
          <p:cNvSpPr txBox="1"/>
          <p:nvPr/>
        </p:nvSpPr>
        <p:spPr>
          <a:xfrm>
            <a:off x="365760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 كُتِبَ</a:t>
            </a:r>
            <a:endParaRPr lang="ar-SA" sz="22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change the vowels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only if unknown / unimportant</a:t>
            </a:r>
            <a:endParaRPr lang="en-US" sz="1100" dirty="0"/>
          </a:p>
        </p:txBody>
      </p:sp>
      <p:sp>
        <p:nvSpPr>
          <p:cNvPr id="27" name="Text 24"/>
          <p:cNvSpPr txBox="1"/>
          <p:nvPr/>
        </p:nvSpPr>
        <p:spPr>
          <a:xfrm>
            <a:off x="365760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كُتِبَتِ الرِّسَالَةُ.</a:t>
            </a:r>
            <a:endParaRPr lang="ar-SA" sz="22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remove the doer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 agreement</a:t>
            </a:r>
            <a:endParaRPr lang="en-US" sz="1100" dirty="0"/>
          </a:p>
        </p:txBody>
      </p:sp>
      <p:sp>
        <p:nvSpPr>
          <p:cNvPr id="33" name="Text 30"/>
          <p:cNvSpPr txBox="1"/>
          <p:nvPr/>
        </p:nvSpPr>
        <p:spPr>
          <a:xfrm>
            <a:off x="365760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الرِّسَالَةَ · الرِّسَالَةُ</a:t>
            </a:r>
            <a:endParaRPr lang="ar-SA" sz="22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raise the object</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don’t know who</a:t>
            </a:r>
            <a:endParaRPr lang="en-US" sz="1100" dirty="0"/>
          </a:p>
        </p:txBody>
      </p:sp>
      <p:sp>
        <p:nvSpPr>
          <p:cNvPr id="39" name="Text 36"/>
          <p:cNvSpPr txBox="1"/>
          <p:nvPr/>
        </p:nvSpPr>
        <p:spPr>
          <a:xfrm>
            <a:off x="365760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سُرِقَتِ الدَّرَّاجَةُ.</a:t>
            </a:r>
            <a:endParaRPr lang="ar-SA" sz="22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unknown agent</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impersonal</a:t>
            </a:r>
            <a:endParaRPr lang="en-US" sz="1100" dirty="0"/>
          </a:p>
        </p:txBody>
      </p:sp>
      <p:sp>
        <p:nvSpPr>
          <p:cNvPr id="43" name="Text 40"/>
          <p:cNvSpPr txBox="1"/>
          <p:nvPr/>
        </p:nvSpPr>
        <p:spPr>
          <a:xfrm>
            <a:off x="365760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تُفْحَصُ الْحَقَائِبُ عِنْدَ الْمَدْخَلِ.</a:t>
            </a:r>
            <a:endParaRPr lang="ar-SA" sz="22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rule / process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believed</a:t>
            </a:r>
            <a:endParaRPr lang="en-US" sz="1100" dirty="0"/>
          </a:p>
        </p:txBody>
      </p:sp>
      <p:sp>
        <p:nvSpPr>
          <p:cNvPr id="47" name="Text 44"/>
          <p:cNvSpPr txBox="1"/>
          <p:nvPr/>
        </p:nvSpPr>
        <p:spPr>
          <a:xfrm>
            <a:off x="365760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يُعْتَقَدُ أَنَّ التِّقْنِيَّةَ سَتَتَطَوَّرُ.</a:t>
            </a:r>
            <a:endParaRPr lang="ar-SA" sz="22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report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do not use the passive to hide a relevant agent. If who acted matters, the active sentence is clearer.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past of samiʿa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يُسْمَعُ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سُمِعَ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was opened”.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 الْبَابُ.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 الْبَابُ.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 الْبَابَ.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letter is written”.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 الرِّسَالَةُ.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 الرِّسَالَةُ.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 الرِّسَالَةُ.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cars are used”.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تُسْتَعْمَلُ السَّيَّارَاتُ.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يَسْتَعْمِلُ السَّيَّارَاتُ.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تَسْتَعْمِلُ السَّيَّارَاتُ.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past of samiʿa (hear)?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سَمَعَ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يُسْمَعُ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سُمِعَ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passive pattern: sumiʿa.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was opened”.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فُتِحَ الْبَابُ.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فَتَحَ الْبَابُ.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فُتِحَ الْبَابَ.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Passive verb + nominative deputy subject.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letter is written”.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 الرِّسَالَةُ.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تُكْتَبُ الرِّسَالَةُ.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 الرِّسَالَةُ.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agreement: tu-.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cars are used”.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تُسْتَعْمَلُ السَّيَّارَاتُ.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يَسْتَعْمِلُ السَّيَّارَاتُ.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تَسْتَعْمِلُ السَّيَّارَاتُ.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takes feminine singular agreement.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report the news in the passive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أَعْلَنَتِ 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doer is obvious.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أُعْلِنَتِ النَّتَائِجُ</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u–i; results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نَشَرَتْ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Same doer.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Passive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نُشِرَتْ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-at agrees.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PASSIVE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 PASSIVE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0E7C86"/>
                </a:solidFill>
                <a:latin typeface="Amiri" pitchFamily="34" charset="0"/>
                <a:ea typeface="Amiri" pitchFamily="34" charset="-122"/>
                <a:cs typeface="Amiri" pitchFamily="34" charset="-120"/>
              </a:rPr>
              <a:t>أُعْلِنَتِ</a:t>
            </a:r>
            <a:pPr rtl="1" algn="r" indent="0" marL="0">
              <a:buNone/>
            </a:pPr>
            <a:r>
              <a:rPr lang="ar-SA" altLang="en-US" sz="2200" b="1" dirty="0">
                <a:solidFill>
                  <a:srgbClr val="1B3B6F"/>
                </a:solidFill>
                <a:latin typeface="Amiri" pitchFamily="34" charset="0"/>
                <a:ea typeface="Amiri" pitchFamily="34" charset="-122"/>
                <a:cs typeface="Amiri" pitchFamily="34" charset="-120"/>
              </a:rPr>
              <a:t> النَّتَائِجُ صَبَاحَ الْيَوْمِ، وَ</a:t>
            </a:r>
            <a:pPr rtl="1" algn="r" indent="0" marL="0">
              <a:buNone/>
            </a:pPr>
            <a:r>
              <a:rPr lang="ar-SA" altLang="en-US" sz="2200" b="1" dirty="0">
                <a:solidFill>
                  <a:srgbClr val="0E7C86"/>
                </a:solidFill>
                <a:latin typeface="Amiri" pitchFamily="34" charset="0"/>
                <a:ea typeface="Amiri" pitchFamily="34" charset="-122"/>
                <a:cs typeface="Amiri" pitchFamily="34" charset="-120"/>
              </a:rPr>
              <a:t>نُشِرَتْ</a:t>
            </a:r>
            <a:pPr rtl="1" algn="r" indent="0" marL="0">
              <a:buNone/>
            </a:pPr>
            <a:r>
              <a:rPr lang="ar-SA" altLang="en-US" sz="2200" b="1" dirty="0">
                <a:solidFill>
                  <a:srgbClr val="1B3B6F"/>
                </a:solidFill>
                <a:latin typeface="Amiri" pitchFamily="34" charset="0"/>
                <a:ea typeface="Amiri" pitchFamily="34" charset="-122"/>
                <a:cs typeface="Amiri" pitchFamily="34" charset="-120"/>
              </a:rPr>
              <a:t> عَلَى مَوْقِعِ الْمَدْرَسَةِ. </a:t>
            </a:r>
            <a:pPr rtl="1" algn="r" indent="0" marL="0">
              <a:buNone/>
            </a:pPr>
            <a:r>
              <a:rPr lang="ar-SA" altLang="en-US" sz="2200" b="1" dirty="0">
                <a:solidFill>
                  <a:srgbClr val="D6336C"/>
                </a:solidFill>
                <a:latin typeface="Amiri" pitchFamily="34" charset="0"/>
                <a:ea typeface="Amiri" pitchFamily="34" charset="-122"/>
                <a:cs typeface="Amiri" pitchFamily="34" charset="-120"/>
              </a:rPr>
              <a:t>تُسْتَعْمَلُ</a:t>
            </a:r>
            <a:pPr rtl="1" algn="r" indent="0" marL="0">
              <a:buNone/>
            </a:pPr>
            <a:r>
              <a:rPr lang="ar-SA" altLang="en-US" sz="2200" b="1" dirty="0">
                <a:solidFill>
                  <a:srgbClr val="1B3B6F"/>
                </a:solidFill>
                <a:latin typeface="Amiri" pitchFamily="34" charset="0"/>
                <a:ea typeface="Amiri" pitchFamily="34" charset="-122"/>
                <a:cs typeface="Amiri" pitchFamily="34" charset="-120"/>
              </a:rPr>
              <a:t> هَذِهِ الطَّرِيقَةُ لِكَيْ يَطَّلِعَ جَمِيعُ الطُّلَّابِ عَلَيْهَا.</a:t>
            </a:r>
            <a:endParaRPr lang="ar-SA" sz="22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ea typeface="Calibri" pitchFamily="34" charset="-122"/>
                <a:cs typeface="Calibri" pitchFamily="34" charset="-120"/>
              </a:rPr>
              <a:t>The results were announced this morning and were published on the school website. This method is used so that all students can see them.</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يُمْنَعُ الدُّخُولُ.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Entry is forbidden.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Sign.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سُرِقَ الْهَاتِفُ.</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phone was stolen.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Unknown agent.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تُغْسَلُ الْفَوَاكِهُ قَبْلَ الْأَكْلِ.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Fruit is washed before eating.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Process.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صَحَّحَتِ الْمُعَلِّمَةُ الْعَمَلَ.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teacher marked the work.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Active: the doer matters.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ACTIVE → PASSIVE (WEBSITE CHECK)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Transform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 إِلَى 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7" name="Text 14"/>
          <p:cNvSpPr txBox="1"/>
          <p:nvPr/>
        </p:nvSpPr>
        <p:spPr>
          <a:xfrm>
            <a:off x="5102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u–i</a:t>
            </a:r>
            <a:endParaRPr lang="en-US" sz="1100" dirty="0"/>
          </a:p>
        </p:txBody>
      </p:sp>
      <p:sp>
        <p:nvSpPr>
          <p:cNvPr id="21" name="Text 18"/>
          <p:cNvSpPr txBox="1"/>
          <p:nvPr/>
        </p:nvSpPr>
        <p:spPr>
          <a:xfrm>
            <a:off x="5120640" y="226771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فُتِحَ الْبَابُ.</a:t>
            </a:r>
            <a:endParaRPr lang="ar-SA" sz="2200" dirty="0"/>
          </a:p>
        </p:txBody>
      </p:sp>
      <p:sp>
        <p:nvSpPr>
          <p:cNvPr id="22" name="Text 19"/>
          <p:cNvSpPr txBox="1"/>
          <p:nvPr/>
        </p:nvSpPr>
        <p:spPr>
          <a:xfrm>
            <a:off x="54864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فَتَحَ الْحَارِسُ الْبَابَ.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-at</a:t>
            </a:r>
            <a:endParaRPr lang="en-US" sz="1100" dirty="0"/>
          </a:p>
        </p:txBody>
      </p:sp>
      <p:sp>
        <p:nvSpPr>
          <p:cNvPr id="27" name="Text 24"/>
          <p:cNvSpPr txBox="1"/>
          <p:nvPr/>
        </p:nvSpPr>
        <p:spPr>
          <a:xfrm>
            <a:off x="5120640" y="2881884"/>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كُسِرَتِ النَّافِذَةُ.</a:t>
            </a:r>
            <a:endParaRPr lang="ar-SA" sz="2200" dirty="0"/>
          </a:p>
        </p:txBody>
      </p:sp>
      <p:sp>
        <p:nvSpPr>
          <p:cNvPr id="28" name="Text 25"/>
          <p:cNvSpPr txBox="1"/>
          <p:nvPr/>
        </p:nvSpPr>
        <p:spPr>
          <a:xfrm>
            <a:off x="54864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كَسَرَ الْوَلَدُ النَّافِذَةَ.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plural: tu-</a:t>
            </a:r>
            <a:endParaRPr lang="en-US" sz="1100" dirty="0"/>
          </a:p>
        </p:txBody>
      </p:sp>
      <p:sp>
        <p:nvSpPr>
          <p:cNvPr id="33" name="Text 30"/>
          <p:cNvSpPr txBox="1"/>
          <p:nvPr/>
        </p:nvSpPr>
        <p:spPr>
          <a:xfrm>
            <a:off x="5120640" y="3496056"/>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تُقْرَأُ الْكُتُبُ.</a:t>
            </a:r>
            <a:endParaRPr lang="ar-SA" sz="2200" dirty="0"/>
          </a:p>
        </p:txBody>
      </p:sp>
      <p:sp>
        <p:nvSpPr>
          <p:cNvPr id="34" name="Text 31"/>
          <p:cNvSpPr txBox="1"/>
          <p:nvPr/>
        </p:nvSpPr>
        <p:spPr>
          <a:xfrm>
            <a:off x="54864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يَقْرَأُ الطُّلَّابُ الْكُتُبَ.</a:t>
            </a:r>
            <a:endParaRPr lang="ar-SA" sz="22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u–i</a:t>
            </a:r>
            <a:endParaRPr lang="en-US" sz="1100" dirty="0"/>
          </a:p>
        </p:txBody>
      </p:sp>
      <p:sp>
        <p:nvSpPr>
          <p:cNvPr id="37" name="Text 34"/>
          <p:cNvSpPr txBox="1"/>
          <p:nvPr/>
        </p:nvSpPr>
        <p:spPr>
          <a:xfrm>
            <a:off x="5120640" y="4110228"/>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مُنِعَ التَّدْخِينُ.</a:t>
            </a:r>
            <a:endParaRPr lang="ar-SA" sz="2200" dirty="0"/>
          </a:p>
        </p:txBody>
      </p:sp>
      <p:sp>
        <p:nvSpPr>
          <p:cNvPr id="38" name="Text 35"/>
          <p:cNvSpPr txBox="1"/>
          <p:nvPr/>
        </p:nvSpPr>
        <p:spPr>
          <a:xfrm>
            <a:off x="54864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مَنَعَ الْقَانُونُ التَّدْخِينَ.</a:t>
            </a:r>
            <a:endParaRPr lang="ar-SA" sz="22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u–a + tu-</a:t>
            </a:r>
            <a:endParaRPr lang="en-US" sz="1100" dirty="0"/>
          </a:p>
        </p:txBody>
      </p:sp>
      <p:sp>
        <p:nvSpPr>
          <p:cNvPr id="41" name="Text 38"/>
          <p:cNvSpPr txBox="1"/>
          <p:nvPr/>
        </p:nvSpPr>
        <p:spPr>
          <a:xfrm>
            <a:off x="5120640" y="4724400"/>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تُفْحَصُ الْحَقَائِبُ.</a:t>
            </a:r>
            <a:endParaRPr lang="ar-SA" sz="2200" dirty="0"/>
          </a:p>
        </p:txBody>
      </p:sp>
      <p:sp>
        <p:nvSpPr>
          <p:cNvPr id="42" name="Text 39"/>
          <p:cNvSpPr txBox="1"/>
          <p:nvPr/>
        </p:nvSpPr>
        <p:spPr>
          <a:xfrm>
            <a:off x="54864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يَفْحَصُ الْمُوَظَّفُ الْحَقَائِبَ.</a:t>
            </a:r>
            <a:endParaRPr lang="ar-SA" sz="22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derived (Stretch)</a:t>
            </a:r>
            <a:endParaRPr lang="en-US" sz="1100" dirty="0"/>
          </a:p>
        </p:txBody>
      </p:sp>
      <p:sp>
        <p:nvSpPr>
          <p:cNvPr id="45" name="Text 42"/>
          <p:cNvSpPr txBox="1"/>
          <p:nvPr/>
        </p:nvSpPr>
        <p:spPr>
          <a:xfrm>
            <a:off x="5120640" y="533857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تُسْتَعْمَلُ الْهَوَاتِفُ.</a:t>
            </a:r>
            <a:endParaRPr lang="ar-SA" sz="2200" dirty="0"/>
          </a:p>
        </p:txBody>
      </p:sp>
      <p:sp>
        <p:nvSpPr>
          <p:cNvPr id="46" name="Text 43"/>
          <p:cNvSpPr txBox="1"/>
          <p:nvPr/>
        </p:nvSpPr>
        <p:spPr>
          <a:xfrm>
            <a:off x="54864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يَسْتَعْمِلُ النَّاسُ الْهَوَاتِفَ.</a:t>
            </a:r>
            <a:endParaRPr lang="ar-SA" sz="22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routine: draw an arrow from object to deputy subject — and change its ending to ḍamma.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WHO IS DOING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Active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مَعْلُومٌ أَمْ 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تَكْتُبُ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Active (doer named)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Passive (doer hidden)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Active (doer named)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يَفْتَحُ</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تَكْتُبُ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Passive (doer hidden)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يُفْتَحُ</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تُكْتَبُ</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يَفْتَحُ الْبَابُ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vowel starts a passive?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كُسِرَ الزُّجَاجَ</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Fatḥa or ḍamma on the new subject?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يُكْتَبُ الرِّسَالَةُ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 or ta- for a feminine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يَفْتَحُ الْبَابُ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يُفْتَحُ الْبَابُ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 “is opened”, the present passive begins with ḍamma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كُسِرَ الزُّجَاجَ</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كُسِرَ الزُّجَاجُ</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deputy subject is nominative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يُكْتَبُ الرِّسَالَةُ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تُكْتَبُ الرِّسَالَةُ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agrees with the feminine noun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GUIDED PRACTICE · WEBSITE PASSIVE PAST, WHY PASSIVE AND ACTIVE-TO-PASSIVE CHECKS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were read”.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الْكُتُبَ.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تُقْرَأُ الْكُتُبُ.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قُرِئَتِ الْكُتُبُ.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best for a rule?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يَمْنَعُ الدُّخُولُ نَفْسَهُ.</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يُمْنَعُ الدُّخُولُ.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مَنَعْتُ الدُّخُولَ أَمْسِ.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process description?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تَغْسِلُ الْفَوَاكِهُ نَفْسَهَا.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تُغْسَلُ الْفَوَاكِهُ قَبْلَ الْأَكْلِ.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غَسَلَتْ الْفَوَاكِهُ.</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Transform: yaqraʾu ṭ-ṭullābu l-kutuba.</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يَقْرَأُ الْكُتُبُ.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تُقْرَأُ الْكُتُبَ.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تُقْرَأُ الْكُتُبُ.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were read”.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 الْكُتُبَ.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تُقْرَأُ الْكُتُبُ.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قُرِئَتِ الْكُتُبُ.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passive and feminine singular for a non-human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best for a rule?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يَمْنَعُ الدُّخُولُ نَفْسَهُ.</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يُمْنَعُ الدُّخُولُ.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مَنَعْتُ الدُّخُولَ أَمْسِ.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impersonal notice.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process description?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تَغْسِلُ الْفَوَاكِهُ نَفْسَهَا.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تُغْسَلُ الْفَوَاكِهُ قَبْلَ الْأَكْلِ.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غَسَلَتْ الْفَوَاكِهُ.</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general process.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Transform: yaqraʾu ṭ-ṭullābu l-kutuba.</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يَقْرَأُ الْكُتُبُ.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تُقْرَأُ الْكُتُبَ.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تُقْرَأُ الْكُتُبُ.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feminine singular verb + nominative.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READING WORKSHOP (TEACHER-WRITTEN NOTICE)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School notice and news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تُفْتَحُ الْمَكْتَبَةُ يَوْمِيًّا مِنَ الثَّامِنَةِ. يُمْنَعُ الْأَكْلُ فِي الصُّفُوفِ، وَتُجْمَعُ الْهَوَاتِفُ قَبْلَ الِامْتِحَانِ. خَبَرٌ: سُرِقَتْ دَرَّاجَةٌ مِنْ أَمَامِ الْمَدْرَسَةِ أَمْسِ، وَوُجِدَتْ بَعْدَ سَاعَتَيْنِ فِي الْحَدِيقَةِ. وَأُعْلِنَتْ أَسْمَاءُ الْفَائِزِينَ فِي الْمُسَابَقَةِ، وَكَتَبَتِ الْمُدِيرَةُ رِسَالَةَ شُكْرٍ لِكُلِّ الْمُشَارِكِينَ.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تُجْمَعُ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collected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سُرِقَتْ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was stolen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وُجِدَتْ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was found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الْفَائِزِينَ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winners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الْمُشَارِكِينَ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participants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phones before the exam?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opened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collected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stolen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suriqat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rule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process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thief is unknown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ACTIVE because the doer matters?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 الْمُدِيرَةُ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وُجِدَتْ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classrooms?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phones before the exam?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opened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are collected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stolen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Tujmaʿu l-hawātif.</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suriqat passive?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rule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process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thief is unknown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Unknown agent.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ACTIVE because the doer matters?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 الْمُدِيرَةُ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وُجِدَتْ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head teacher is named.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classrooms?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eating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Yumnaʿu l-akl.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Speaking: how does it work at our school?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الْمَمْنُوعُ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يُنَظَّمُ يَوْمُ الِامْتِحَانِ فِي مَدْرَسَتِكَ؟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اِشْرَحْ كَيْفَ يُصْنَعُ الْخُبْزُ. ثُمَّ: مَنْ يَصْنَعُهُ فِي بَيْتِكَ؟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يُمْنَعُ ___ ، وَيُمْنَعُ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أَوَّلًا تُجْمَعُ ___ ، ثُمَّ تُوَزَّعُ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يُخْلَطُ ___ ، ثُمَّ يُخْبَزُ ___ . أُمِّي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تُنَظَّفُ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is the school cleaned?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تُنَظَّفُ الصُّفُوفُ كُلَّ مَسَاءٍ، وَتُغْسَلُ الْأَرْضُ يَوْمَ الْجُمُعَةِ. وَالطُّلَّابُ يُرَتِّبُونَ طَاوِلَاتِهِمْ قَبْلَ الْخُرُوجِ.</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classrooms are cleaned every evening, and the floor is washed on Friday. And the students tidy their desks before leaving.</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school notice: what is forbidden and when places open.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yumnaʿu · yuftaḥu · tuftaḥu.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short news report with past passives.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u–i; feminine -at.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report or process with one active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Derived passives; non-human plural agreement.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أُعْلِنَتِ النَّتَائِجُ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results were announced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الْكُتُبُ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books are collected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وُجِدَتِ الْحَقِيبَةُ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bag was found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يُقَالُ إِنَّ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said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يُمْنَعُ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forbidden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تُفْتَحُ الْمَكْتَبَةُ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library opens 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يُغْلَقُ الْبَابُ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door is closed 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سُرِقَ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was stolen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يُمْنَعُ  ·  يُفْتَحُ  ·  تُفْتَحُ  ·  يُغْلَقُ  ·  تُجْمَعُ  ·  سُرِقَ  ·  وُجِدَ  ·  كُتِبَ  ·  أُعْلِنَتْ  ·  نُشِرَتْ  ·  تُسْتَعْمَلُ  ·  يُقَالُ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a 120–140-word news report, process or notice with five passives.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past passives (u–i).</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present passives (u–a).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feminine subject with -at / tu-.</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non-human plural with feminine singular.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active sentence where the doer matters.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أُعْلِنَ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was announced that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يُعْتَقَدُ 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believed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يُرْجَى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requested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تُسْتَعْمَلُ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used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 ثُمَّ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first … then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that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خَبَرٌ مِنْ مَدْرَسَتِنَا: أُقِيمَ مَعْرِضُ الْعُلُومِ يَوْمَ الْخَمِيسِ، وَدُعِيَ إِلَيْهِ الْأَهَالِي. عُرِضَتْ أَكْثَرُ مِنْ ثَلَاثِينَ تَجْرِبَةً، وَكُتِبَتْ تَقَارِيرُ عَنْ كُلِّ مَشْرُوعٍ. فِي الْمَعْرِضِ تُسْتَعْمَلُ أَدَوَاتٌ آمِنَةٌ فَقَطْ، وَيُمْنَعُ لَمْسُ الْمَوَادِّ الْكِيمِيَائِيَّةِ. تُجْمَعُ آرَاءُ الزُّوَّارِ فِي اسْتِمَارَةٍ قَصِيرَةٍ. وَفِي النِّهَايَةِ اخْتَارَتْ لَجْنَةُ الْمُعَلِّمِينَ أَفْضَلَ مَشْرُوعٍ، وَفَازَتْ بِهِ طَالِبَتَانِ مِنَ الصَّفِّ الْعَاشِرِ.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News from our school: the science fair was held on Thursday, and parents were invited. More than thirty experiments were displayed, and reports were written about every project. At the fair only safe equipment is used, and touching the chemicals is forbidden. Visitors’ opinions are collected on a short form. At the end the teachers’ committee chose the best project, and two Year 10 students won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past passive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present passive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non-human plural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active (doer matters)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verbs start with ḍamma.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Past passive u–i; present passive u–a.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new subject is nominative (ḍamma).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verb agrees: tu- / -at for feminine and non-human plurals.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the active where the doer matters.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was opened”.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 الْبَابُ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 الْبَابُ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 الْبَابَ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are read”.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يَقْرَأُ الْكُتُبَ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تُقْرَأُ الْكُتُبُ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تُقْرَأُ الْكُتُبَ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Transform: kasara l-waladu n-nāfidhata.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كُسِرَتِ النَّافِذَةُ.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كَسَرَتِ النَّافِذَةُ.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 النَّافِذَةَ.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was opened”.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فُتِحَ الْبَابُ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فَتَحَ الْبَابُ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فُتِحَ الْبَابَ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Passive + nominative.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are read”.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يَقْرَأُ الْكُتُبَ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تُقْرَأُ الْكُتُبُ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تُقْرَأُ الْكُتُبَ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feminine + nominative.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Transform: kasara l-waladu n-nāfidhata.</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كُسِرَتِ النَّافِذَةُ.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كَسَرَتِ النَّافِذَةُ.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كُسِرَ النَّافِذَةَ.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Passive + feminine agreement + nominative.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GM-V-11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GM-V-12: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GM-V-12 · Verbal Nouns and Participles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الْكِتَابَةُ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writing (verbal noun)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writer / writing (doer)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مَكْتُوبٌ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written (done to)</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الدِّرَاسَةُ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studying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مَدْرُوسٌ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studied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From k-t-b we get kitāba, kātib and maktūb. Which one means “written”?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كَتَبَ · كِتَابَةٌ · كَاتِبٌ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school signs with yumnaʿu and yuftaḥu.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Transform eight active sentences into the passive.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 news report with five passives and one active.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ea typeface="Cambria" pitchFamily="34" charset="-122"/>
                <a:cs typeface="Cambria" pitchFamily="34" charset="-120"/>
              </a:rPr>
              <a:t>GM-V-12 · Verbal Nouns and Participles</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الْمَصْدَرُ وَاسْمُ الْفَاعِلِ وَاسْمُ الْمَفْعُولِ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past passive u–i (kutiba) · present passive u–a (yuktabu) · the object becomes the subject: ḍamma + agreement · keep the active when the doer matters.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GM-V-11 · Passive Voice</dc:title>
  <dc:subject>PptxGenJS Presentation</dc:subject>
  <dc:creator>Al Madina Online School · Arabic Department</dc:creator>
  <cp:lastModifiedBy>Al Madina Online School · Arabic Department</cp:lastModifiedBy>
  <cp:revision>1</cp:revision>
  <dcterms:created xsi:type="dcterms:W3CDTF">2026-10-04T01:29:58Z</dcterms:created>
  <dcterms:modified xsi:type="dcterms:W3CDTF">2026-10-04T01:29:58Z</dcterms:modified>
</cp:coreProperties>
</file>