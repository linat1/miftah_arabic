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GM-V-03 (“Unusual High-Frequency Verbs”).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رَأَيْتُ · يَرَى · جِئْتُ · آخُذُ · أَعْطَيْتُ · أُرِيدُ. Develop: move the same verb across persons and time frames (رَأَى · رَأَتْ · رَأَيْتُ · يَرَى · أَرَى · سَأَرَى). Stretch: compare جَاءَ / أَتَى; spelling of hamza, madda and alif maqṣūra; irregular commands خُذْ · كُلْ.
• Website “mini-paradigm method”: say five forms in one rhythm, then put them in sentence frames — far more durable than lists.
• These verbs carry IGCSE narratives: what I saw, how I came, what I took, what I want to do next.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it uses the five verbs prepared at the end of GM-V-02.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Some everyday verbs must be learned as small chains. Say five forms in one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verb raʾā / yarā”. Chant the mini-paradigm: raʾā — raʾat — raʾaytu — yarā — arā.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“Coming”. Jiʾtu behaves like a hollow verb (GM-V-02); atā behaves like a final-weak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(4 min) — website “Other high-frequency unusual verbs”. Khudh! and kul! are the commands students hear at home and at mealtimes.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verb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Narrate the spelling check for each verb: hamza, madda, alif maqṣūra.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Cover columns 3–5; students rebuild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P or N and give the English. Watch aʿṭaytu (past) vs uʿṭī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P or N and give the English. Watch aʿṭaytu (past) vs uʿṭī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mini-paradigm and mastery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message). Read it aloud once while students follow; then they hunt for today’s grammar.
Task: Website: identify the subject and time of each unusual verb, and work out any unfamiliar form from context.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message for the website reading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answer the four questions in connected Arabic. Listening (website): distinguish jiʾtu, jāʾat, jāʾū, ajīʾu and yajīʾūna.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100–120-word description of an event you attended or saw, using at least five unusual high-frequency verbs across two or three time frames.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(GM-V-04 · Past Tense: Conjugation and Narration) will spend class time USING this language, so students prepare it tonight — short, simple, easy to access (school guidance: “Simple, Short, Interesting, Relevant, Easy to access”). The five forms prepare GM-V-04 (website Verbs lesson 4: the past tense).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cs typeface="Amiri" pitchFamily="2" charset="-78"/>
              </a:rPr>
              <a:t>Unusual High-Frequency Verbs</a:t>
            </a:r>
            <a:endParaRPr lang="en-US" sz="36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أَفْعَالٌ شَائِعَةٌ غَيْرُ مَأْلُوفَةٍ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 handful of everyday verbs look irregular: to see (raʾā / yarā), to come (jāʾa / yajīʾu, atā / yaʾtī), to take (akhadha → ākhudhu, khudh!), to give, to want. Learn each as a short five-form chain and check every hamza and madda.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To see; to come; take, eat, give, remain, want; spelling.</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Complete the chains; gap-fill;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رَيْتُ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sees”.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يَرْأَى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يَرَأُ</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came”.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جَاءْتُ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جِيئْتُ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جِئْتُ</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came”.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جِئُوا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جَاؤوا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جَاءُوا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take”.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آخُذُ</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أَأْخُذُ</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يَأْخُذُ</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رَأَيْتُ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رَيْتُ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Raʾā becomes raʾay- before the ending.</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sees”.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يَرَى</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يَرْأَى</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يَرَأُ</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high-frequency present is yarā.</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came”.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جَاءْتُ</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جِيئْتُ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جِئْتُ</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Jāʾa becomes jiʾ- before -tu.</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came”.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جِئُوا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جَاؤوا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جَاءُوا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standard spelling is jāʾū.</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take”.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آخُذُ</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أَأْخُذُ</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يَأْخُذُ</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First-person present contracts to ākhudhu (madda).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Some everyday verbs must be learned as small chains. Say five forms in one rhythm.</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300" b="1" dirty="0">
                <a:solidFill>
                  <a:srgbClr val="1B3B6F"/>
                </a:solidFill>
                <a:latin typeface="Amiri" pitchFamily="2" charset="-78"/>
                <a:ea typeface="Amiri" pitchFamily="2" charset="-78"/>
                <a:cs typeface="Amiri" pitchFamily="2" charset="-78"/>
              </a:rPr>
              <a:t>رَأَى · رَأَتْ · </a:t>
            </a:r>
            <a:pPr rtl="1" algn="ctr" indent="0" marL="0">
              <a:lnSpc>
                <a:spcPct val="120000"/>
              </a:lnSpc>
              <a:buNone/>
            </a:pPr>
            <a:r>
              <a:rPr lang="ar-SA" altLang="en-US" sz="2300" b="1" dirty="0">
                <a:solidFill>
                  <a:srgbClr val="0E7C86"/>
                </a:solidFill>
                <a:latin typeface="Amiri" pitchFamily="2" charset="-78"/>
                <a:ea typeface="Amiri" pitchFamily="2" charset="-78"/>
                <a:cs typeface="Amiri" pitchFamily="2" charset="-78"/>
              </a:rPr>
              <a:t>رَأَيْتُ</a:t>
            </a:r>
            <a:pPr rtl="1" algn="ctr" indent="0" marL="0">
              <a:lnSpc>
                <a:spcPct val="120000"/>
              </a:lnSpc>
              <a:buNone/>
            </a:pPr>
            <a:r>
              <a:rPr lang="ar-SA" altLang="en-US" sz="2300" b="1" dirty="0">
                <a:solidFill>
                  <a:srgbClr val="1B3B6F"/>
                </a:solidFill>
                <a:latin typeface="Amiri" pitchFamily="2" charset="-78"/>
                <a:cs typeface="Amiri" pitchFamily="2" charset="-78"/>
              </a:rPr>
              <a:t> · </a:t>
            </a:r>
            <a:pPr rtl="1" algn="ctr" indent="0" marL="0">
              <a:lnSpc>
                <a:spcPct val="120000"/>
              </a:lnSpc>
              <a:buNone/>
            </a:pPr>
            <a:r>
              <a:rPr lang="ar-SA" altLang="en-US" sz="2300" b="1" dirty="0">
                <a:solidFill>
                  <a:srgbClr val="D6336C"/>
                </a:solidFill>
                <a:latin typeface="Amiri" pitchFamily="2" charset="-78"/>
                <a:ea typeface="Amiri" pitchFamily="2" charset="-78"/>
                <a:cs typeface="Amiri" pitchFamily="2" charset="-78"/>
              </a:rPr>
              <a:t>يَرَى</a:t>
            </a:r>
            <a:pPr rtl="1" algn="ctr" indent="0" marL="0">
              <a:lnSpc>
                <a:spcPct val="120000"/>
              </a:lnSpc>
              <a:buNone/>
            </a:pPr>
            <a:r>
              <a:rPr lang="ar-SA" altLang="en-US" sz="2300" b="1" dirty="0">
                <a:solidFill>
                  <a:srgbClr val="1B3B6F"/>
                </a:solidFill>
                <a:latin typeface="Amiri" pitchFamily="2" charset="-78"/>
                <a:ea typeface="Amiri" pitchFamily="2" charset="-78"/>
                <a:cs typeface="Amiri" pitchFamily="2" charset="-78"/>
              </a:rPr>
              <a:t> · أَرَى</a:t>
            </a:r>
            <a:endParaRPr lang="ar-SA" sz="23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to see across persons and time frames.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to come (jāʾa and atā)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take, eat, give and want in common forms.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Spell hamza, madda and alif maqṣūra correctly.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saw, he sees, I came, I take.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keep the hamza in raʾaytu.</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move one verb across I / she / we / they.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I will see with sa-.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compare jiʾtu and ataytu.</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the commands khudh and kul.</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رَأَى / يَرَى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see</a:t>
            </a:r>
            <a:endParaRPr lang="en-US" sz="1350" dirty="0"/>
          </a:p>
          <a:p>
            <a:pPr indent="0" marL="0">
              <a:buNone/>
            </a:pPr>
            <a:r>
              <a:rPr lang="en-US" sz="1100" i="1" dirty="0">
                <a:solidFill>
                  <a:srgbClr val="5A6472"/>
                </a:solidFill>
                <a:latin typeface="Calibri" pitchFamily="34" charset="0"/>
                <a:cs typeface="Amiri" pitchFamily="2" charset="-78"/>
              </a:rPr>
              <a:t>ra-ʾā / ya-rā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رَأَيْتُ · أَرَى</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جَاءَ / يَجِيءُ</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come</a:t>
            </a:r>
            <a:endParaRPr lang="en-US" sz="1350" dirty="0"/>
          </a:p>
          <a:p>
            <a:pPr indent="0" marL="0">
              <a:buNone/>
            </a:pPr>
            <a:r>
              <a:rPr lang="en-US" sz="1100" i="1" dirty="0">
                <a:solidFill>
                  <a:srgbClr val="5A6472"/>
                </a:solidFill>
                <a:latin typeface="Calibri" pitchFamily="34" charset="0"/>
                <a:cs typeface="Amiri" pitchFamily="2" charset="-78"/>
              </a:rPr>
              <a:t>jā-ʾa / ya-jī-ʾu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جِئْتُ · أَجِيءُ</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أَتَى / يَأْتِي</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come (also very common)</a:t>
            </a:r>
            <a:endParaRPr lang="en-US" sz="1350" dirty="0"/>
          </a:p>
          <a:p>
            <a:pPr indent="0" marL="0">
              <a:buNone/>
            </a:pPr>
            <a:r>
              <a:rPr lang="en-US" sz="1100" i="1" dirty="0">
                <a:solidFill>
                  <a:srgbClr val="5A6472"/>
                </a:solidFill>
                <a:latin typeface="Calibri" pitchFamily="34" charset="0"/>
                <a:cs typeface="Amiri" pitchFamily="2" charset="-78"/>
              </a:rPr>
              <a:t>a-tā / yaʾ-tī</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أَتَيْتُ · آتِي</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أَخَذَ / يَأْخُذُ</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take</a:t>
            </a:r>
            <a:endParaRPr lang="en-US" sz="1350" dirty="0"/>
          </a:p>
          <a:p>
            <a:pPr indent="0" marL="0">
              <a:buNone/>
            </a:pPr>
            <a:r>
              <a:rPr lang="en-US" sz="1100" i="1" dirty="0">
                <a:solidFill>
                  <a:srgbClr val="5A6472"/>
                </a:solidFill>
                <a:latin typeface="Calibri" pitchFamily="34" charset="0"/>
                <a:cs typeface="Amiri" pitchFamily="2" charset="-78"/>
              </a:rPr>
              <a:t>a-kha-dha / yaʾ-khu-dhu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آخُذُ · خُذْ</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أَعْطَى / يُعْطِي</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give</a:t>
            </a:r>
            <a:endParaRPr lang="en-US" sz="1350" dirty="0"/>
          </a:p>
          <a:p>
            <a:pPr indent="0" marL="0">
              <a:buNone/>
            </a:pPr>
            <a:r>
              <a:rPr lang="en-US" sz="1100" i="1" dirty="0">
                <a:solidFill>
                  <a:srgbClr val="5A6472"/>
                </a:solidFill>
                <a:latin typeface="Calibri" pitchFamily="34" charset="0"/>
                <a:cs typeface="Amiri" pitchFamily="2" charset="-78"/>
              </a:rPr>
              <a:t>aʿ-ṭā / yuʿ-ṭī</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أَعْطَيْتُ · أُعْطِي</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الْمَدَّةُ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madda (ā with hamza)</a:t>
            </a:r>
            <a:endParaRPr lang="en-US" sz="1350" dirty="0"/>
          </a:p>
          <a:p>
            <a:pPr indent="0" marL="0">
              <a:buNone/>
            </a:pPr>
            <a:r>
              <a:rPr lang="en-US" sz="1100" i="1" dirty="0">
                <a:solidFill>
                  <a:srgbClr val="5A6472"/>
                </a:solidFill>
                <a:latin typeface="Calibri" pitchFamily="34" charset="0"/>
                <a:cs typeface="Amiri" pitchFamily="2" charset="-78"/>
              </a:rPr>
              <a:t>al-mad-da-tu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آخُذُ · آكُلُ</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VERB TO SEE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raʾā / yarā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رَأَى / يَرَى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7" name="Text 14"/>
          <p:cNvSpPr txBox="1"/>
          <p:nvPr/>
        </p:nvSpPr>
        <p:spPr>
          <a:xfrm>
            <a:off x="34564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Function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583680" y="2267712"/>
            <a:ext cx="50566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رَأَى الْفِيلْمَ.</a:t>
            </a:r>
            <a:endParaRPr lang="ar-SA" sz="2200" dirty="0"/>
          </a:p>
        </p:txBody>
      </p:sp>
      <p:sp>
        <p:nvSpPr>
          <p:cNvPr id="21" name="Text 18"/>
          <p:cNvSpPr txBox="1"/>
          <p:nvPr/>
        </p:nvSpPr>
        <p:spPr>
          <a:xfrm>
            <a:off x="347472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رَأَى</a:t>
            </a:r>
            <a:endParaRPr lang="ar-SA" sz="2400" dirty="0"/>
          </a:p>
        </p:txBody>
      </p:sp>
      <p:sp>
        <p:nvSpPr>
          <p:cNvPr id="22" name="Text 19"/>
          <p:cNvSpPr txBox="1"/>
          <p:nvPr/>
        </p:nvSpPr>
        <p:spPr>
          <a:xfrm>
            <a:off x="5669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he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583680" y="2881884"/>
            <a:ext cx="50566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رَأَتْ صَدِيقَتَهَا.</a:t>
            </a:r>
            <a:endParaRPr lang="ar-SA" sz="2200" dirty="0"/>
          </a:p>
        </p:txBody>
      </p:sp>
      <p:sp>
        <p:nvSpPr>
          <p:cNvPr id="27" name="Text 24"/>
          <p:cNvSpPr txBox="1"/>
          <p:nvPr/>
        </p:nvSpPr>
        <p:spPr>
          <a:xfrm>
            <a:off x="347472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رَأَتْ</a:t>
            </a:r>
            <a:endParaRPr lang="ar-SA" sz="2400" dirty="0"/>
          </a:p>
        </p:txBody>
      </p:sp>
      <p:sp>
        <p:nvSpPr>
          <p:cNvPr id="28" name="Text 25"/>
          <p:cNvSpPr txBox="1"/>
          <p:nvPr/>
        </p:nvSpPr>
        <p:spPr>
          <a:xfrm>
            <a:off x="5669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she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6583680" y="3496056"/>
            <a:ext cx="50566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رَأَيْنَا الْبَحْرَ.</a:t>
            </a:r>
            <a:endParaRPr lang="ar-SA" sz="2200" dirty="0"/>
          </a:p>
        </p:txBody>
      </p:sp>
      <p:sp>
        <p:nvSpPr>
          <p:cNvPr id="33" name="Text 30"/>
          <p:cNvSpPr txBox="1"/>
          <p:nvPr/>
        </p:nvSpPr>
        <p:spPr>
          <a:xfrm>
            <a:off x="347472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رَأَيْتُ · رَأَيْنَا</a:t>
            </a:r>
            <a:endParaRPr lang="ar-SA" sz="2400" dirty="0"/>
          </a:p>
        </p:txBody>
      </p:sp>
      <p:sp>
        <p:nvSpPr>
          <p:cNvPr id="34" name="Text 31"/>
          <p:cNvSpPr txBox="1"/>
          <p:nvPr/>
        </p:nvSpPr>
        <p:spPr>
          <a:xfrm>
            <a:off x="5669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I / we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6583680" y="4110228"/>
            <a:ext cx="50566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نَرَى الْجَبَلَ.</a:t>
            </a:r>
            <a:endParaRPr lang="ar-SA" sz="2200" dirty="0"/>
          </a:p>
        </p:txBody>
      </p:sp>
      <p:sp>
        <p:nvSpPr>
          <p:cNvPr id="39" name="Text 36"/>
          <p:cNvSpPr txBox="1"/>
          <p:nvPr/>
        </p:nvSpPr>
        <p:spPr>
          <a:xfrm>
            <a:off x="347472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أَرَى · يَرَى · نَرَى</a:t>
            </a:r>
            <a:endParaRPr lang="ar-SA" sz="2400" dirty="0"/>
          </a:p>
        </p:txBody>
      </p:sp>
      <p:sp>
        <p:nvSpPr>
          <p:cNvPr id="40" name="Text 37"/>
          <p:cNvSpPr txBox="1"/>
          <p:nvPr/>
        </p:nvSpPr>
        <p:spPr>
          <a:xfrm>
            <a:off x="5669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I / he / we</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6583680" y="4724400"/>
            <a:ext cx="50566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يَرَوْنَ الْقَمَرَ.</a:t>
            </a:r>
            <a:endParaRPr lang="ar-SA" sz="2200" dirty="0"/>
          </a:p>
        </p:txBody>
      </p:sp>
      <p:sp>
        <p:nvSpPr>
          <p:cNvPr id="45" name="Text 42"/>
          <p:cNvSpPr txBox="1"/>
          <p:nvPr/>
        </p:nvSpPr>
        <p:spPr>
          <a:xfrm>
            <a:off x="347472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يَرَوْنَ</a:t>
            </a:r>
            <a:endParaRPr lang="ar-SA" sz="2400" dirty="0"/>
          </a:p>
        </p:txBody>
      </p:sp>
      <p:sp>
        <p:nvSpPr>
          <p:cNvPr id="46" name="Text 43"/>
          <p:cNvSpPr txBox="1"/>
          <p:nvPr/>
        </p:nvSpPr>
        <p:spPr>
          <a:xfrm>
            <a:off x="5669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they</a:t>
            </a:r>
            <a:endParaRPr lang="en-US" sz="1100" dirty="0"/>
          </a:p>
        </p:txBody>
      </p:sp>
      <p:sp>
        <p:nvSpPr>
          <p:cNvPr id="47" name="Shape 4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8" name="Text 45"/>
          <p:cNvSpPr txBox="1"/>
          <p:nvPr/>
        </p:nvSpPr>
        <p:spPr>
          <a:xfrm>
            <a:off x="6583680" y="5338572"/>
            <a:ext cx="50566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سَأَرَى النَّتِيجَةَ غَدًا.</a:t>
            </a:r>
            <a:endParaRPr lang="ar-SA" sz="2200" dirty="0"/>
          </a:p>
        </p:txBody>
      </p:sp>
      <p:sp>
        <p:nvSpPr>
          <p:cNvPr id="49" name="Text 46"/>
          <p:cNvSpPr txBox="1"/>
          <p:nvPr/>
        </p:nvSpPr>
        <p:spPr>
          <a:xfrm>
            <a:off x="347472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سَأَرَى</a:t>
            </a:r>
            <a:endParaRPr lang="ar-SA" sz="2400" dirty="0"/>
          </a:p>
        </p:txBody>
      </p:sp>
      <p:sp>
        <p:nvSpPr>
          <p:cNvPr id="50" name="Text 47"/>
          <p:cNvSpPr txBox="1"/>
          <p:nvPr/>
        </p:nvSpPr>
        <p:spPr>
          <a:xfrm>
            <a:off x="5669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spelling alert: keep the hamza in raʾaytu. The present yarā drops the hamza — learn it whole.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COMING: TWO COMMON PAIRS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jāʾa / yajīʾu and atā / yaʾtī</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جَاءَ وَأَتَى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atā / yaʾtī</a:t>
            </a:r>
            <a:endParaRPr lang="en-US" sz="1100" dirty="0"/>
          </a:p>
        </p:txBody>
      </p:sp>
      <p:sp>
        <p:nvSpPr>
          <p:cNvPr id="17" name="Text 14"/>
          <p:cNvSpPr txBox="1"/>
          <p:nvPr/>
        </p:nvSpPr>
        <p:spPr>
          <a:xfrm>
            <a:off x="345643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jāʾa / yajīʾu</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Function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498080" y="2267712"/>
            <a:ext cx="41422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أَتَى · أَتَتْ</a:t>
            </a:r>
            <a:endParaRPr lang="ar-SA" sz="2400" dirty="0"/>
          </a:p>
        </p:txBody>
      </p:sp>
      <p:sp>
        <p:nvSpPr>
          <p:cNvPr id="21" name="Text 18"/>
          <p:cNvSpPr txBox="1"/>
          <p:nvPr/>
        </p:nvSpPr>
        <p:spPr>
          <a:xfrm>
            <a:off x="3474720" y="2267712"/>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جَاءَ · جَاءَتْ</a:t>
            </a:r>
            <a:endParaRPr lang="ar-SA" sz="2400" dirty="0"/>
          </a:p>
        </p:txBody>
      </p:sp>
      <p:sp>
        <p:nvSpPr>
          <p:cNvPr id="22" name="Text 19"/>
          <p:cNvSpPr txBox="1"/>
          <p:nvPr/>
        </p:nvSpPr>
        <p:spPr>
          <a:xfrm>
            <a:off x="56692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he · she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498080" y="3004718"/>
            <a:ext cx="41422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أَتَيْتُ · أَتَيْنَا</a:t>
            </a:r>
            <a:endParaRPr lang="ar-SA" sz="2400" dirty="0"/>
          </a:p>
        </p:txBody>
      </p:sp>
      <p:sp>
        <p:nvSpPr>
          <p:cNvPr id="27" name="Text 24"/>
          <p:cNvSpPr txBox="1"/>
          <p:nvPr/>
        </p:nvSpPr>
        <p:spPr>
          <a:xfrm>
            <a:off x="3474720" y="3004718"/>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جِئْتُ · جِئْنَا</a:t>
            </a:r>
            <a:endParaRPr lang="ar-SA" sz="2400" dirty="0"/>
          </a:p>
        </p:txBody>
      </p:sp>
      <p:sp>
        <p:nvSpPr>
          <p:cNvPr id="28" name="Text 25"/>
          <p:cNvSpPr txBox="1"/>
          <p:nvPr/>
        </p:nvSpPr>
        <p:spPr>
          <a:xfrm>
            <a:off x="56692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I · we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498080" y="3741725"/>
            <a:ext cx="41422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آتِي · يَأْتِي</a:t>
            </a:r>
            <a:endParaRPr lang="ar-SA" sz="2400" dirty="0"/>
          </a:p>
        </p:txBody>
      </p:sp>
      <p:sp>
        <p:nvSpPr>
          <p:cNvPr id="33" name="Text 30"/>
          <p:cNvSpPr txBox="1"/>
          <p:nvPr/>
        </p:nvSpPr>
        <p:spPr>
          <a:xfrm>
            <a:off x="3474720" y="3741725"/>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أَجِيءُ · يَجِيءُ</a:t>
            </a:r>
            <a:endParaRPr lang="ar-SA" sz="2400" dirty="0"/>
          </a:p>
        </p:txBody>
      </p:sp>
      <p:sp>
        <p:nvSpPr>
          <p:cNvPr id="34" name="Text 31"/>
          <p:cNvSpPr txBox="1"/>
          <p:nvPr/>
        </p:nvSpPr>
        <p:spPr>
          <a:xfrm>
            <a:off x="56692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I · he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498080" y="4478731"/>
            <a:ext cx="41422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نَأْتِي · يَأْتُونَ</a:t>
            </a:r>
            <a:endParaRPr lang="ar-SA" sz="2400" dirty="0"/>
          </a:p>
        </p:txBody>
      </p:sp>
      <p:sp>
        <p:nvSpPr>
          <p:cNvPr id="39" name="Text 36"/>
          <p:cNvSpPr txBox="1"/>
          <p:nvPr/>
        </p:nvSpPr>
        <p:spPr>
          <a:xfrm>
            <a:off x="3474720" y="4478731"/>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نَجِيءُ · يَجِيئُونَ</a:t>
            </a:r>
            <a:endParaRPr lang="ar-SA" sz="2400" dirty="0"/>
          </a:p>
        </p:txBody>
      </p:sp>
      <p:sp>
        <p:nvSpPr>
          <p:cNvPr id="40" name="Text 37"/>
          <p:cNvSpPr txBox="1"/>
          <p:nvPr/>
        </p:nvSpPr>
        <p:spPr>
          <a:xfrm>
            <a:off x="56692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we · they</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498080" y="5215738"/>
            <a:ext cx="41422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أَتَوْا</a:t>
            </a:r>
            <a:endParaRPr lang="ar-SA" sz="2400" dirty="0"/>
          </a:p>
        </p:txBody>
      </p:sp>
      <p:sp>
        <p:nvSpPr>
          <p:cNvPr id="43" name="Text 40"/>
          <p:cNvSpPr txBox="1"/>
          <p:nvPr/>
        </p:nvSpPr>
        <p:spPr>
          <a:xfrm>
            <a:off x="3474720" y="5215738"/>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جَاءُوا</a:t>
            </a:r>
            <a:endParaRPr lang="ar-SA" sz="2400" dirty="0"/>
          </a:p>
        </p:txBody>
      </p:sp>
      <p:sp>
        <p:nvSpPr>
          <p:cNvPr id="44" name="Text 41"/>
          <p:cNvSpPr txBox="1"/>
          <p:nvPr/>
        </p:nvSpPr>
        <p:spPr>
          <a:xfrm>
            <a:off x="56692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they</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house approach: learn both pairs; choose ONE and use it consistently within a sentence — do not mix stems.</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PART 3 · OTHER HIGH-FREQUENCY UNUSUAL VERBS (WEBSITE TABLE)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Take, eat, give, remain, want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شَائِعَةٌ أُخْرَى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60167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Key forms (website)</a:t>
            </a:r>
            <a:endParaRPr lang="en-US" sz="1100" dirty="0"/>
          </a:p>
        </p:txBody>
      </p:sp>
      <p:sp>
        <p:nvSpPr>
          <p:cNvPr id="18" name="Text 15"/>
          <p:cNvSpPr txBox="1"/>
          <p:nvPr/>
        </p:nvSpPr>
        <p:spPr>
          <a:xfrm>
            <a:off x="272491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family</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893808" y="2267712"/>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madda; short command</a:t>
            </a:r>
            <a:endParaRPr lang="en-US" sz="1100" dirty="0"/>
          </a:p>
        </p:txBody>
      </p:sp>
      <p:sp>
        <p:nvSpPr>
          <p:cNvPr id="22" name="Text 19"/>
          <p:cNvSpPr txBox="1"/>
          <p:nvPr/>
        </p:nvSpPr>
        <p:spPr>
          <a:xfrm>
            <a:off x="6035040" y="2267712"/>
            <a:ext cx="36576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أَخَذْتُ · آخُذُ · خُذْ</a:t>
            </a:r>
            <a:endParaRPr lang="ar-SA" sz="2200" dirty="0"/>
          </a:p>
        </p:txBody>
      </p:sp>
      <p:sp>
        <p:nvSpPr>
          <p:cNvPr id="23" name="Text 20"/>
          <p:cNvSpPr txBox="1"/>
          <p:nvPr/>
        </p:nvSpPr>
        <p:spPr>
          <a:xfrm>
            <a:off x="2743200" y="2267712"/>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أَخَذَ / يَأْخُذُ</a:t>
            </a:r>
            <a:endParaRPr lang="ar-SA" sz="2200" dirty="0"/>
          </a:p>
        </p:txBody>
      </p:sp>
      <p:sp>
        <p:nvSpPr>
          <p:cNvPr id="24" name="Text 21"/>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take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893808" y="300471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madda; short command</a:t>
            </a:r>
            <a:endParaRPr lang="en-US" sz="1100" dirty="0"/>
          </a:p>
        </p:txBody>
      </p:sp>
      <p:sp>
        <p:nvSpPr>
          <p:cNvPr id="29" name="Text 26"/>
          <p:cNvSpPr txBox="1"/>
          <p:nvPr/>
        </p:nvSpPr>
        <p:spPr>
          <a:xfrm>
            <a:off x="6035040" y="3004718"/>
            <a:ext cx="36576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أَكَلْتُ · آكُلُ · كُلْ</a:t>
            </a:r>
            <a:endParaRPr lang="ar-SA" sz="2200" dirty="0"/>
          </a:p>
        </p:txBody>
      </p:sp>
      <p:sp>
        <p:nvSpPr>
          <p:cNvPr id="30" name="Text 27"/>
          <p:cNvSpPr txBox="1"/>
          <p:nvPr/>
        </p:nvSpPr>
        <p:spPr>
          <a:xfrm>
            <a:off x="2743200" y="300471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أَكَلَ / يَأْكُلُ</a:t>
            </a:r>
            <a:endParaRPr lang="ar-SA" sz="2200" dirty="0"/>
          </a:p>
        </p:txBody>
      </p:sp>
      <p:sp>
        <p:nvSpPr>
          <p:cNvPr id="31" name="Text 28"/>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893808" y="3741725"/>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weak</a:t>
            </a:r>
            <a:endParaRPr lang="en-US" sz="1100" dirty="0"/>
          </a:p>
        </p:txBody>
      </p:sp>
      <p:sp>
        <p:nvSpPr>
          <p:cNvPr id="36" name="Text 33"/>
          <p:cNvSpPr txBox="1"/>
          <p:nvPr/>
        </p:nvSpPr>
        <p:spPr>
          <a:xfrm>
            <a:off x="6035040" y="3741725"/>
            <a:ext cx="36576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أَعْطَيْتُ · أُعْطِي · أَعْطِ</a:t>
            </a:r>
            <a:endParaRPr lang="ar-SA" sz="2200" dirty="0"/>
          </a:p>
        </p:txBody>
      </p:sp>
      <p:sp>
        <p:nvSpPr>
          <p:cNvPr id="37" name="Text 34"/>
          <p:cNvSpPr txBox="1"/>
          <p:nvPr/>
        </p:nvSpPr>
        <p:spPr>
          <a:xfrm>
            <a:off x="2743200" y="3741725"/>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أَعْطَى / يُعْطِي</a:t>
            </a:r>
            <a:endParaRPr lang="ar-SA" sz="2200" dirty="0"/>
          </a:p>
        </p:txBody>
      </p:sp>
      <p:sp>
        <p:nvSpPr>
          <p:cNvPr id="38" name="Text 35"/>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893808" y="4478731"/>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weak</a:t>
            </a:r>
            <a:endParaRPr lang="en-US" sz="1100" dirty="0"/>
          </a:p>
        </p:txBody>
      </p:sp>
      <p:sp>
        <p:nvSpPr>
          <p:cNvPr id="43" name="Text 40"/>
          <p:cNvSpPr txBox="1"/>
          <p:nvPr/>
        </p:nvSpPr>
        <p:spPr>
          <a:xfrm>
            <a:off x="6035040" y="4478731"/>
            <a:ext cx="36576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بَقِيتُ · أَبْقَى</a:t>
            </a:r>
            <a:endParaRPr lang="ar-SA" sz="2200" dirty="0"/>
          </a:p>
        </p:txBody>
      </p:sp>
      <p:sp>
        <p:nvSpPr>
          <p:cNvPr id="44" name="Text 41"/>
          <p:cNvSpPr txBox="1"/>
          <p:nvPr/>
        </p:nvSpPr>
        <p:spPr>
          <a:xfrm>
            <a:off x="2743200" y="4478731"/>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بَقِيَ / يَبْقَى</a:t>
            </a:r>
            <a:endParaRPr lang="ar-SA" sz="2200" dirty="0"/>
          </a:p>
        </p:txBody>
      </p:sp>
      <p:sp>
        <p:nvSpPr>
          <p:cNvPr id="45" name="Text 42"/>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remain</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893808" y="521573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hollow-like</a:t>
            </a:r>
            <a:endParaRPr lang="en-US" sz="1100" dirty="0"/>
          </a:p>
        </p:txBody>
      </p:sp>
      <p:sp>
        <p:nvSpPr>
          <p:cNvPr id="48" name="Text 45"/>
          <p:cNvSpPr txBox="1"/>
          <p:nvPr/>
        </p:nvSpPr>
        <p:spPr>
          <a:xfrm>
            <a:off x="6035040" y="5215738"/>
            <a:ext cx="36576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أَرَدْتُ · أُرِيدُ</a:t>
            </a:r>
            <a:endParaRPr lang="ar-SA" sz="2200" dirty="0"/>
          </a:p>
        </p:txBody>
      </p:sp>
      <p:sp>
        <p:nvSpPr>
          <p:cNvPr id="49" name="Text 46"/>
          <p:cNvSpPr txBox="1"/>
          <p:nvPr/>
        </p:nvSpPr>
        <p:spPr>
          <a:xfrm>
            <a:off x="2743200" y="521573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أَرَادَ / يُرِيدُ</a:t>
            </a:r>
            <a:endParaRPr lang="ar-SA" sz="2200" dirty="0"/>
          </a:p>
        </p:txBody>
      </p:sp>
      <p:sp>
        <p:nvSpPr>
          <p:cNvPr id="50" name="Text 4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want</a:t>
            </a:r>
            <a:endParaRPr lang="en-US" sz="1100" dirty="0"/>
          </a:p>
        </p:txBody>
      </p:sp>
      <p:sp>
        <p:nvSpPr>
          <p:cNvPr id="51" name="Shape 4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ākhudhu and ākulu are NOT written with two hamzas — the madda shows the contraction.</a:t>
            </a:r>
            <a:endParaRPr lang="en-US" sz="11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“We saw”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رَآنَا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رَأَوْنَا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رَأَيْنَا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comes” from atā / yaʾtī.</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يَأْتِي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يَأَتِي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“Take!” (to one male).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اِأْخُذْ</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خُذْ</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أَخَذْ</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wanted”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أَرَدْتُ</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أَرَادْتُ</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“We saw”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رَآنَا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رَأَوْنَا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رَأَيْنَا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Stem raʾay- before -nā.</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comes” from atā / yaʾtī.</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يَأْتِي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يَأَتِي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Keep the middle hamza: yaʾtī.</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“Take!” (to one male).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اِأْخُذْ</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خُذْ</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أَخَذْ</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irregular command is khudh.</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wanted”</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أَرَدْتُ</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أَرَادْتُ</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short past stem before -tu: aradtu.</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tell what happened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Came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جِئْتُ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jāʾa → jiʾtu.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Saw</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رَأَيْتُ</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Keep the hamza.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Took</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أَخَذْتُ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Regular past.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Gave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أَعْطَيْتُ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Final weak: -aytu.</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UNUSUAL VERB</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TIME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450" b="1" dirty="0">
                <a:solidFill>
                  <a:srgbClr val="D6336C"/>
                </a:solidFill>
                <a:latin typeface="Amiri" pitchFamily="2" charset="-78"/>
                <a:ea typeface="Amiri" pitchFamily="2" charset="-78"/>
                <a:cs typeface="Amiri" pitchFamily="2" charset="-78"/>
              </a:rPr>
              <a:t>أَمْسِ</a:t>
            </a:r>
            <a:pPr rtl="1" algn="r" indent="0" marL="0">
              <a:buNone/>
            </a:pPr>
            <a:r>
              <a:rPr lang="ar-SA" altLang="en-US" sz="2450" b="1" dirty="0">
                <a:solidFill>
                  <a:srgbClr val="1B3B6F"/>
                </a:solidFill>
                <a:latin typeface="Amiri" pitchFamily="2" charset="-78"/>
                <a:cs typeface="Amiri" pitchFamily="2" charset="-78"/>
              </a:rPr>
              <a:t> </a:t>
            </a:r>
            <a:pPr rtl="1" algn="r" indent="0" marL="0">
              <a:buNone/>
            </a:pPr>
            <a:r>
              <a:rPr lang="ar-SA" altLang="en-US" sz="2450" b="1" dirty="0">
                <a:solidFill>
                  <a:srgbClr val="0E7C86"/>
                </a:solidFill>
                <a:latin typeface="Amiri" pitchFamily="2" charset="-78"/>
                <a:ea typeface="Amiri" pitchFamily="2" charset="-78"/>
                <a:cs typeface="Amiri" pitchFamily="2" charset="-78"/>
              </a:rPr>
              <a:t>جِئْتُ</a:t>
            </a:r>
            <a:pPr rtl="1" algn="r" indent="0" marL="0">
              <a:buNone/>
            </a:pPr>
            <a:r>
              <a:rPr lang="ar-SA" altLang="en-US" sz="2450" b="1" dirty="0">
                <a:solidFill>
                  <a:srgbClr val="1B3B6F"/>
                </a:solidFill>
                <a:latin typeface="Amiri" pitchFamily="2" charset="-78"/>
                <a:ea typeface="Amiri" pitchFamily="2" charset="-78"/>
                <a:cs typeface="Amiri" pitchFamily="2" charset="-78"/>
              </a:rPr>
              <a:t> إِلَى الْمَدْرَسَةِ مُبَكِّرًا، وَ</a:t>
            </a:r>
            <a:pPr rtl="1" algn="r" indent="0" marL="0">
              <a:buNone/>
            </a:pPr>
            <a:r>
              <a:rPr lang="ar-SA" altLang="en-US" sz="2450" b="1" dirty="0">
                <a:solidFill>
                  <a:srgbClr val="0E7C86"/>
                </a:solidFill>
                <a:latin typeface="Amiri" pitchFamily="2" charset="-78"/>
                <a:ea typeface="Amiri" pitchFamily="2" charset="-78"/>
                <a:cs typeface="Amiri" pitchFamily="2" charset="-78"/>
              </a:rPr>
              <a:t>رَأَيْتُ</a:t>
            </a:r>
            <a:pPr rtl="1" algn="r" indent="0" marL="0">
              <a:buNone/>
            </a:pPr>
            <a:r>
              <a:rPr lang="ar-SA" altLang="en-US" sz="2450" b="1" dirty="0">
                <a:solidFill>
                  <a:srgbClr val="1B3B6F"/>
                </a:solidFill>
                <a:latin typeface="Amiri" pitchFamily="2" charset="-78"/>
                <a:ea typeface="Amiri" pitchFamily="2" charset="-78"/>
                <a:cs typeface="Amiri" pitchFamily="2" charset="-78"/>
              </a:rPr>
              <a:t> مَعْرِضًا جَمِيلًا. </a:t>
            </a:r>
            <a:pPr rtl="1" algn="r" indent="0" marL="0">
              <a:buNone/>
            </a:pPr>
            <a:r>
              <a:rPr lang="ar-SA" altLang="en-US" sz="2450" b="1" dirty="0">
                <a:solidFill>
                  <a:srgbClr val="0E7C86"/>
                </a:solidFill>
                <a:latin typeface="Amiri" pitchFamily="2" charset="-78"/>
                <a:ea typeface="Amiri" pitchFamily="2" charset="-78"/>
                <a:cs typeface="Amiri" pitchFamily="2" charset="-78"/>
              </a:rPr>
              <a:t>أَخَذْتُ</a:t>
            </a:r>
            <a:pPr rtl="1" algn="r" indent="0" marL="0">
              <a:buNone/>
            </a:pPr>
            <a:r>
              <a:rPr lang="ar-SA" altLang="en-US" sz="2450" b="1" dirty="0">
                <a:solidFill>
                  <a:srgbClr val="1B3B6F"/>
                </a:solidFill>
                <a:latin typeface="Amiri" pitchFamily="2" charset="-78"/>
                <a:ea typeface="Amiri" pitchFamily="2" charset="-78"/>
                <a:cs typeface="Amiri" pitchFamily="2" charset="-78"/>
              </a:rPr>
              <a:t> بَعْضَ الصُّوَرِ، وَ</a:t>
            </a:r>
            <a:pPr rtl="1" algn="r" indent="0" marL="0">
              <a:buNone/>
            </a:pPr>
            <a:r>
              <a:rPr lang="ar-SA" altLang="en-US" sz="2450" b="1" dirty="0">
                <a:solidFill>
                  <a:srgbClr val="0E7C86"/>
                </a:solidFill>
                <a:latin typeface="Amiri" pitchFamily="2" charset="-78"/>
                <a:ea typeface="Amiri" pitchFamily="2" charset="-78"/>
                <a:cs typeface="Amiri" pitchFamily="2" charset="-78"/>
              </a:rPr>
              <a:t>أَعْطَيْتُ</a:t>
            </a:r>
            <a:pPr rtl="1" algn="r" indent="0" marL="0">
              <a:buNone/>
            </a:pPr>
            <a:r>
              <a:rPr lang="ar-SA" altLang="en-US" sz="2450" b="1" dirty="0">
                <a:solidFill>
                  <a:srgbClr val="1B3B6F"/>
                </a:solidFill>
                <a:latin typeface="Amiri" pitchFamily="2" charset="-78"/>
                <a:ea typeface="Amiri" pitchFamily="2" charset="-78"/>
                <a:cs typeface="Amiri" pitchFamily="2" charset="-78"/>
              </a:rPr>
              <a:t> صَدِيقَتِي نُسْخَةً مِنْهَا.</a:t>
            </a:r>
            <a:endParaRPr lang="ar-SA" sz="24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Yesterday I came to school early, and I saw a beautiful exhibition. I took some photos, and I gave my friend a copy of them.</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سَأَرَى النَّتِيجَةَ غَدًا.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see the result tomorrow.</a:t>
            </a:r>
            <a:endParaRPr lang="en-US" sz="1250" dirty="0"/>
          </a:p>
          <a:p>
            <a:pPr indent="0" marL="0">
              <a:buNone/>
            </a:pPr>
            <a:r>
              <a:rPr lang="en-US" sz="1050" i="1" dirty="0">
                <a:solidFill>
                  <a:srgbClr val="8A6D1E"/>
                </a:solidFill>
                <a:latin typeface="Calibri" pitchFamily="34" charset="0"/>
                <a:cs typeface="Amiri" pitchFamily="2" charset="-78"/>
              </a:rPr>
              <a:t>Website: future of to see.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آخُذُ الْحَافِلَةَ كُلَّ يَوْمٍ.</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take the bus every day.</a:t>
            </a:r>
            <a:endParaRPr lang="en-US" sz="1250" dirty="0"/>
          </a:p>
          <a:p>
            <a:pPr indent="0" marL="0">
              <a:buNone/>
            </a:pPr>
            <a:r>
              <a:rPr lang="en-US" sz="1050" i="1" dirty="0">
                <a:solidFill>
                  <a:srgbClr val="8A6D1E"/>
                </a:solidFill>
                <a:latin typeface="Calibri" pitchFamily="34" charset="0"/>
                <a:cs typeface="Amiri" pitchFamily="2" charset="-78"/>
              </a:rPr>
              <a:t>Madda.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أُرِيدُ أَنْ أَنْجَحَ.</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want to succeed.</a:t>
            </a:r>
            <a:endParaRPr lang="en-US" sz="1250" dirty="0"/>
          </a:p>
          <a:p>
            <a:pPr indent="0" marL="0">
              <a:buNone/>
            </a:pPr>
            <a:r>
              <a:rPr lang="en-US" sz="1050" i="1" dirty="0">
                <a:solidFill>
                  <a:srgbClr val="8A6D1E"/>
                </a:solidFill>
                <a:latin typeface="Calibri" pitchFamily="34" charset="0"/>
                <a:cs typeface="Amiri" pitchFamily="2" charset="-78"/>
              </a:rPr>
              <a:t>Website game.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يَأْتِي أَبِي مِنَ الْعَمَلِ مَسَاءً.</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father comes home from work in the evening.</a:t>
            </a:r>
            <a:endParaRPr lang="en-US" sz="1250" dirty="0"/>
          </a:p>
          <a:p>
            <a:pPr indent="0" marL="0">
              <a:buNone/>
            </a:pPr>
            <a:r>
              <a:rPr lang="en-US" sz="1050" i="1" dirty="0">
                <a:solidFill>
                  <a:srgbClr val="8A6D1E"/>
                </a:solidFill>
                <a:latin typeface="Calibri" pitchFamily="34" charset="0"/>
                <a:cs typeface="Amiri" pitchFamily="2" charset="-78"/>
              </a:rPr>
              <a:t>atā / yaʾtī.</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MINI-PARADIGM CHAINS (WEBSITE) · SAY THEM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أَكْمِلِ السِّلْسِلَةَ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222992" y="1810512"/>
            <a:ext cx="1435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74797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 I (present)</a:t>
            </a:r>
            <a:endParaRPr lang="en-US" sz="1100" dirty="0"/>
          </a:p>
        </p:txBody>
      </p:sp>
      <p:sp>
        <p:nvSpPr>
          <p:cNvPr id="18" name="Text 15"/>
          <p:cNvSpPr txBox="1"/>
          <p:nvPr/>
        </p:nvSpPr>
        <p:spPr>
          <a:xfrm>
            <a:off x="528523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(past)</a:t>
            </a:r>
            <a:endParaRPr lang="en-US" sz="1100" dirty="0"/>
          </a:p>
        </p:txBody>
      </p:sp>
      <p:sp>
        <p:nvSpPr>
          <p:cNvPr id="19" name="Text 16"/>
          <p:cNvSpPr txBox="1"/>
          <p:nvPr/>
        </p:nvSpPr>
        <p:spPr>
          <a:xfrm>
            <a:off x="23591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 she</a:t>
            </a:r>
            <a:endParaRPr lang="en-US" sz="1100" dirty="0"/>
          </a:p>
        </p:txBody>
      </p:sp>
      <p:sp>
        <p:nvSpPr>
          <p:cNvPr id="20" name="Text 17"/>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10259568" y="2267712"/>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3" name="Text 20"/>
          <p:cNvSpPr txBox="1"/>
          <p:nvPr/>
        </p:nvSpPr>
        <p:spPr>
          <a:xfrm>
            <a:off x="749808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يَرَى · أَرَى</a:t>
            </a:r>
            <a:endParaRPr lang="ar-SA" sz="2200" dirty="0"/>
          </a:p>
        </p:txBody>
      </p:sp>
      <p:sp>
        <p:nvSpPr>
          <p:cNvPr id="24" name="Text 21"/>
          <p:cNvSpPr txBox="1"/>
          <p:nvPr/>
        </p:nvSpPr>
        <p:spPr>
          <a:xfrm>
            <a:off x="530352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رَأَيْتُ</a:t>
            </a:r>
            <a:endParaRPr lang="ar-SA" sz="2400" dirty="0"/>
          </a:p>
        </p:txBody>
      </p:sp>
      <p:sp>
        <p:nvSpPr>
          <p:cNvPr id="25" name="Text 22"/>
          <p:cNvSpPr txBox="1"/>
          <p:nvPr/>
        </p:nvSpPr>
        <p:spPr>
          <a:xfrm>
            <a:off x="2377440" y="2267712"/>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رَأَى · رَأَتْ</a:t>
            </a:r>
            <a:endParaRPr lang="ar-SA" sz="2200" dirty="0"/>
          </a:p>
        </p:txBody>
      </p:sp>
      <p:sp>
        <p:nvSpPr>
          <p:cNvPr id="26" name="Text 23"/>
          <p:cNvSpPr txBox="1"/>
          <p:nvPr/>
        </p:nvSpPr>
        <p:spPr>
          <a:xfrm>
            <a:off x="5669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10259568" y="3004718"/>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749808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يَجِيءُ · أَجِيءُ</a:t>
            </a:r>
            <a:endParaRPr lang="ar-SA" sz="2200" dirty="0"/>
          </a:p>
        </p:txBody>
      </p:sp>
      <p:sp>
        <p:nvSpPr>
          <p:cNvPr id="32" name="Text 29"/>
          <p:cNvSpPr txBox="1"/>
          <p:nvPr/>
        </p:nvSpPr>
        <p:spPr>
          <a:xfrm>
            <a:off x="530352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جِئْتُ</a:t>
            </a:r>
            <a:endParaRPr lang="ar-SA" sz="2400" dirty="0"/>
          </a:p>
        </p:txBody>
      </p:sp>
      <p:sp>
        <p:nvSpPr>
          <p:cNvPr id="33" name="Text 30"/>
          <p:cNvSpPr txBox="1"/>
          <p:nvPr/>
        </p:nvSpPr>
        <p:spPr>
          <a:xfrm>
            <a:off x="2377440" y="3004718"/>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جَاءَ · جَاءَتْ</a:t>
            </a:r>
            <a:endParaRPr lang="ar-SA" sz="2200" dirty="0"/>
          </a:p>
        </p:txBody>
      </p:sp>
      <p:sp>
        <p:nvSpPr>
          <p:cNvPr id="34" name="Text 31"/>
          <p:cNvSpPr txBox="1"/>
          <p:nvPr/>
        </p:nvSpPr>
        <p:spPr>
          <a:xfrm>
            <a:off x="5669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come</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10241280" y="3741725"/>
            <a:ext cx="1399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خُذْ</a:t>
            </a:r>
            <a:endParaRPr lang="ar-SA" sz="2200" dirty="0"/>
          </a:p>
        </p:txBody>
      </p:sp>
      <p:sp>
        <p:nvSpPr>
          <p:cNvPr id="39" name="Text 36"/>
          <p:cNvSpPr txBox="1"/>
          <p:nvPr/>
        </p:nvSpPr>
        <p:spPr>
          <a:xfrm>
            <a:off x="749808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يَأْخُذُ · آخُذُ</a:t>
            </a:r>
            <a:endParaRPr lang="ar-SA" sz="2200" dirty="0"/>
          </a:p>
        </p:txBody>
      </p:sp>
      <p:sp>
        <p:nvSpPr>
          <p:cNvPr id="40" name="Text 37"/>
          <p:cNvSpPr txBox="1"/>
          <p:nvPr/>
        </p:nvSpPr>
        <p:spPr>
          <a:xfrm>
            <a:off x="530352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أَخَذْتُ</a:t>
            </a:r>
            <a:endParaRPr lang="ar-SA" sz="2400" dirty="0"/>
          </a:p>
        </p:txBody>
      </p:sp>
      <p:sp>
        <p:nvSpPr>
          <p:cNvPr id="41" name="Text 38"/>
          <p:cNvSpPr txBox="1"/>
          <p:nvPr/>
        </p:nvSpPr>
        <p:spPr>
          <a:xfrm>
            <a:off x="2377440" y="3741725"/>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أَخَذَ · أَخَذَتْ</a:t>
            </a:r>
            <a:endParaRPr lang="ar-SA" sz="2200" dirty="0"/>
          </a:p>
        </p:txBody>
      </p:sp>
      <p:sp>
        <p:nvSpPr>
          <p:cNvPr id="42" name="Text 39"/>
          <p:cNvSpPr txBox="1"/>
          <p:nvPr/>
        </p:nvSpPr>
        <p:spPr>
          <a:xfrm>
            <a:off x="5669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take</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10241280" y="4478731"/>
            <a:ext cx="1399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كُلْ</a:t>
            </a:r>
            <a:endParaRPr lang="ar-SA" sz="2200" dirty="0"/>
          </a:p>
        </p:txBody>
      </p:sp>
      <p:sp>
        <p:nvSpPr>
          <p:cNvPr id="47" name="Text 44"/>
          <p:cNvSpPr txBox="1"/>
          <p:nvPr/>
        </p:nvSpPr>
        <p:spPr>
          <a:xfrm>
            <a:off x="749808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يَأْكُلُ · آكُلُ</a:t>
            </a:r>
            <a:endParaRPr lang="ar-SA" sz="2200" dirty="0"/>
          </a:p>
        </p:txBody>
      </p:sp>
      <p:sp>
        <p:nvSpPr>
          <p:cNvPr id="48" name="Text 45"/>
          <p:cNvSpPr txBox="1"/>
          <p:nvPr/>
        </p:nvSpPr>
        <p:spPr>
          <a:xfrm>
            <a:off x="530352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أَكَلْتُ</a:t>
            </a:r>
            <a:endParaRPr lang="ar-SA" sz="2400" dirty="0"/>
          </a:p>
        </p:txBody>
      </p:sp>
      <p:sp>
        <p:nvSpPr>
          <p:cNvPr id="49" name="Text 46"/>
          <p:cNvSpPr txBox="1"/>
          <p:nvPr/>
        </p:nvSpPr>
        <p:spPr>
          <a:xfrm>
            <a:off x="2377440" y="4478731"/>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أَكَلَ · أَكَلَتْ</a:t>
            </a:r>
            <a:endParaRPr lang="ar-SA" sz="2200" dirty="0"/>
          </a:p>
        </p:txBody>
      </p:sp>
      <p:sp>
        <p:nvSpPr>
          <p:cNvPr id="50" name="Text 47"/>
          <p:cNvSpPr txBox="1"/>
          <p:nvPr/>
        </p:nvSpPr>
        <p:spPr>
          <a:xfrm>
            <a:off x="5669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eat</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10241280" y="5215738"/>
            <a:ext cx="1399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أَعْطِ</a:t>
            </a:r>
            <a:endParaRPr lang="ar-SA" sz="2200" dirty="0"/>
          </a:p>
        </p:txBody>
      </p:sp>
      <p:sp>
        <p:nvSpPr>
          <p:cNvPr id="53" name="Text 50"/>
          <p:cNvSpPr txBox="1"/>
          <p:nvPr/>
        </p:nvSpPr>
        <p:spPr>
          <a:xfrm>
            <a:off x="749808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يُعْطِي · أُعْطِي</a:t>
            </a:r>
            <a:endParaRPr lang="ar-SA" sz="2200" dirty="0"/>
          </a:p>
        </p:txBody>
      </p:sp>
      <p:sp>
        <p:nvSpPr>
          <p:cNvPr id="54" name="Text 51"/>
          <p:cNvSpPr txBox="1"/>
          <p:nvPr/>
        </p:nvSpPr>
        <p:spPr>
          <a:xfrm>
            <a:off x="530352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أَعْطَيْتُ</a:t>
            </a:r>
            <a:endParaRPr lang="ar-SA" sz="2400" dirty="0"/>
          </a:p>
        </p:txBody>
      </p:sp>
      <p:sp>
        <p:nvSpPr>
          <p:cNvPr id="55" name="Text 52"/>
          <p:cNvSpPr txBox="1"/>
          <p:nvPr/>
        </p:nvSpPr>
        <p:spPr>
          <a:xfrm>
            <a:off x="2377440" y="5215738"/>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أَعْطَى · أَعْطَتْ</a:t>
            </a:r>
            <a:endParaRPr lang="ar-SA" sz="2200" dirty="0"/>
          </a:p>
        </p:txBody>
      </p:sp>
      <p:sp>
        <p:nvSpPr>
          <p:cNvPr id="56" name="Text 53"/>
          <p:cNvSpPr txBox="1"/>
          <p:nvPr/>
        </p:nvSpPr>
        <p:spPr>
          <a:xfrm>
            <a:off x="5669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say five forms in one rhythm, three times, faster each time. Then cover the columns and rebuild.</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PAST OR PRESENT?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Did it happen, or does it happen?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مَاضٍ أَمْ مُضَارِعٌ؟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أَرَى</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جِئْنَا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نَجِيءُ</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أَخَذْتُ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آخُذُ</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أَعْطَيْتُ</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أُعْطِي</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جِئْنَا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أَخَذْتُ</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أَعْطَيْتُ</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أَرَى</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نَجِيءُ</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آخُذُ</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أُعْطِي</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رَيْتُ الْمُبَارَاةَ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is the hamza?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جَاءْتُ مُبَكِّرًا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“I came”?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أَأْخُذُ الْحَافِلَةَ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hamzas or madda?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رَيْتُ الْمُبَارَاةَ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رَأَيْتُ الْمُبَارَاةَ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the hamza and the full stem raʾay-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جَاءْتُ مُبَكِّرًا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جِئْتُ مُبَكِّرًا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first-person past is jiʾtu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أَأْخُذُ الْحَافِلَةَ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آخُذُ الْحَافِلَةَ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madda in the first-person present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MINI-PARADIGM AND MASTERY CHECKS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chain: raʾā, raʾat, ___, yarā</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رَآيْتُ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chain: akhadha, akhadhtu, ___</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يَخُذُ</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يَأْخُذُ</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يَأَخَذُ</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see”.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يَرَيُونَ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يَرَوْنَ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يَرُونَ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gave”.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أَعْطَاتُ</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أُعْطِي</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أَعْطَيْتُ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chain: raʾā, raʾat, ___, yarā</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رَأَتُ</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رَآيْتُ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رَأَيْتُ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first person: raʾaytu.</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chain: akhadha, akhadhtu, ___</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يَخُذُ</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يَأْخُذُ</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يَأَخَذُ</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pair: yaʾkhudhu.</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see”.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يَرَيُونَ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يَرَوْنَ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يَرُونَ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plural present is yarawna.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gave”.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أَعْطَاتُ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أُعْطِي</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أَعْطَيْتُ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first person: aʿṭaytu.</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E6B52"/>
                </a:solidFill>
                <a:latin typeface="Calibri" pitchFamily="34" charset="0"/>
                <a:cs typeface="Amiri" pitchFamily="2" charset="-78"/>
              </a:rPr>
              <a:t>YOU DO · READ AND NOTICE · WEBSITE READING WORKSHOP (TEACHER-WRITTEN MESSAGE)</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message from the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يَا أُمِّي! جِئْنَا إِلَى الْمَدِينَةِ صَبَاحًا، وَرَأَيْنَا الْمَتْحَفَ الْكَبِيرَ. أَخَذْتُ صُوَرًا كَثِيرَةً، وَأَعْطَانِي الْمُرْشِدُ خَرِيطَةً. أَكَلْنَا فِي مَطْعَمٍ صَغِيرٍ. الْآنَ أُرِيدُ أَنْ أَشْتَرِيَ هَدِيَّةً لَكِ. سَنَأْتِي إِلَى الْبَيْتِ مَسَاءً، وَسَتَرَيْنَ الصُّوَرَ!</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الْمُرْشِدُ</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guide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خَرِيطَةً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map</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أَعْطَانِي</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gave me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أَشْتَرِيَ</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buy</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سَتَرَيْنَ</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 (f.) will see</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group see?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big museum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match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gave the writer a map?</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mother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friend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guide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want now?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buy a gift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eat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go home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will see the photos?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guide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mother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group see?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sea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big museum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match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رَأَيْنَا الْمَتْحَفَ الْكَبِيرَ.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gave the writer a map?</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mother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friend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guide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أَعْطَانِي الْمُرْشِدُ.</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want now?</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buy a gift</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eat</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go home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أُرِيدُ أَنْ أَشْتَرِيَ هَدِيَّةً.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will see the photos?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guide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mother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Sa-tarayna = you (f.) will see.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Speaking: what did you see, take, want?</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رَأَيْتَ فِي الْعُطْلَةِ؟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جِئْتَ إِلَى الْمَدْرَسَةِ الْيَوْمَ؟ مَاذَا أَخَذْتَ مَعَكَ؟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تُرِيدُ أَنْ تَفْعَلَ بَعْدَ ذَلِكَ؟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رَأَيْتُ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جِئْتُ ___ ، وَأَخَذْتُ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أُرِيدُ أَنْ ___ ، وَسَأَرَى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جِئْتِ إِلَى الْمَدْرَسَةِ؟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did you come to school?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جِئْتُ بِالْحَافِلَةِ، وَأَخَذْتُ مَعِي كِتَابًا. فِي الطَّرِيقِ رَأَيْتُ صَدِيقَتِي.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came by bus, and I took a book with me. On the way I saw my friend.</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 event: I came, I saw, I took, I ate …</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chains on the we-do slide.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other persons and the future.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raʾaynā · sa-arā · yajīʾu.</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with a spelling margin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hamza · madda · alif maqṣūra · subject.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أَكَلْنَا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ate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أَعْطَيْتُ صَدِيقِي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gave my friend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غَدًا سَأَرَى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Tomorrow I will see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يَأْتِي أَبِي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comes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جِئْتُ إِلَى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came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saw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أَخَذْتُ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took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رَأَيْتُ  ·  رَأَيْنَا  ·  أَرَى  ·  سَأَرَى  ·  جِئْتُ  ·  جِئْنَا  ·  يَأْتِي  ·  أَخَذْتُ  ·  آخُذُ  ·  أَكَلْنَا  ·  أَعْطَيْتُ  ·  أُرِيدُ  ·  أَرَدْتُ</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a 100–120-word description of an event you attended or saw.</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 of to see (raʾā).</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 of to come (jāʾa or atā — not mixed in one sentence).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 of to take (akhadha).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 of to give (aʿṭā) and to want (arāda).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or three time frames; every hamza and madda checked.</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جِئْتُ مُبَكِّرًا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came early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مَعْرِضًا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saw an exhibition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أَخَذْتُ صُوَرًا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took photos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أَعْطَيْتُهُ</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gave him</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أَعُودَ</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go back</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سَأَرَى</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see</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يَوْمِ السَّبْتِ جِئْتُ مَعَ أُسْرَتِي إِلَى مَعْرِضِ الْكِتَابِ. رَأَيْنَا كُتُبًا كَثِيرَةً بِلُغَاتٍ مُخْتَلِفَةٍ. أَخَذْتُ كِتَابًا عَنِ التَّارِيخِ الْإِسْلَامِيِّ، وَأَعْطَتْنِي أُمِّي مَالًا لِأَشْتَرِيَهُ. أَكَلْنَا فِي مَقْهَى الْمَعْرِضِ. أَنَا الْآنَ أَقْرَأُ الْكِتَابَ، وَأُرِيدُ أَنْ أَرْجِعَ فِي السَّنَةِ الْقَادِمَةِ. سَأَرَى كُتُبًا جَدِيدَةً بِإِذْنِ اللَّهِ!</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On Saturday I came with my family to the book fair. We saw many books in different languages. I took a book about Islamic history, and my mother gave me money to buy it. We ate in the fair’s café. Now I am reading the book, and I want to go back next year. I will see new books, God willing!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see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come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take / give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want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the hamza in raʾaytu.</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jiʾtu for “I came”.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madda in ākhudhu / ākulu.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two or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mix jāʾa and atā in one sentence.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رَيْتُ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came”.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جَاءْتُ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جِئْتُ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جِيتُ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take”.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آخُذُ</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أَأْخُذُ</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أَخُذُ</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رَأَيْتُ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رَيْتُ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رَأَتُ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Correct hamza and stem.</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came”.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جَاءْتُ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جِئْتُ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جِيتُ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Correct stem and hamza: jiʾtu.</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take”.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آخُذُ</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أَأْخُذُ</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أَخُذُ</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Madda: ākhudhu.</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GM-V-03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GM-V-04: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GM-V-04 · Past Tense: Conjugation and Narration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كَتَبْتُ</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wrote</a:t>
            </a:r>
            <a:pPr indent="0" marL="0">
              <a:buNone/>
            </a:pPr>
            <a:r>
              <a:rPr lang="en-US" sz="1000" i="1" dirty="0">
                <a:solidFill>
                  <a:srgbClr val="5A6472"/>
                </a:solidFill>
                <a:latin typeface="Calibri" pitchFamily="34" charset="0"/>
                <a:cs typeface="Amiri" pitchFamily="2" charset="-78"/>
              </a:rPr>
              <a:t>  -tu</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 (m.) wrote</a:t>
            </a:r>
            <a:pPr indent="0" marL="0">
              <a:buNone/>
            </a:pPr>
            <a:r>
              <a:rPr lang="en-US" sz="1000" i="1" dirty="0">
                <a:solidFill>
                  <a:srgbClr val="5A6472"/>
                </a:solidFill>
                <a:latin typeface="Calibri" pitchFamily="34" charset="0"/>
                <a:cs typeface="Amiri" pitchFamily="2" charset="-78"/>
              </a:rPr>
              <a:t>  -ta</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 (f.) wrote</a:t>
            </a:r>
            <a:pPr indent="0" marL="0">
              <a:buNone/>
            </a:pPr>
            <a:r>
              <a:rPr lang="en-US" sz="1000" i="1" dirty="0">
                <a:solidFill>
                  <a:srgbClr val="5A6472"/>
                </a:solidFill>
                <a:latin typeface="Calibri" pitchFamily="34" charset="0"/>
                <a:cs typeface="Amiri" pitchFamily="2" charset="-78"/>
              </a:rPr>
              <a:t>  -ti</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كَتَبُوا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they wrote</a:t>
            </a:r>
            <a:pPr indent="0" marL="0">
              <a:buNone/>
            </a:pPr>
            <a:r>
              <a:rPr lang="en-US" sz="1000" i="1" dirty="0">
                <a:solidFill>
                  <a:srgbClr val="5A6472"/>
                </a:solidFill>
                <a:latin typeface="Calibri" pitchFamily="34" charset="0"/>
                <a:cs typeface="Amiri" pitchFamily="2" charset="-78"/>
              </a:rPr>
              <a:t>  -ū</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they (f.) wrote</a:t>
            </a:r>
            <a:pPr indent="0" marL="0">
              <a:buNone/>
            </a:pPr>
            <a:r>
              <a:rPr lang="en-US" sz="1000" i="1" dirty="0">
                <a:solidFill>
                  <a:srgbClr val="5A6472"/>
                </a:solidFill>
                <a:latin typeface="Calibri" pitchFamily="34" charset="0"/>
                <a:cs typeface="Amiri" pitchFamily="2" charset="-78"/>
              </a:rPr>
              <a:t>  -na</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Katabtu, katabta, katabti look almost the same. What tells you who wrote?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كَتَبْتُ · كَتَبْتَ · كَتَبْتِ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five chains by heart.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Correct a message with hamza, madda and stem errors.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task: an event you attended or saw.</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GM-V-04 · Past Tense: Conjugation and Narration</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الْفِعْلُ الْمَاضِي: التَّصْرِيفُ وَالسَّرْدُ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raʾā · raʾaytu · yarā · jāʾa · jiʾtu · yajīʾu · atā · yaʾtī · akhadha · ākhudhu · khudh · learn chains, check hamza and madda.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GM-V-03 · Unusual High-Frequency Verbs</dc:title>
  <dc:subject>PptxGenJS Presentation</dc:subject>
  <dc:creator>Al Madina Online School · Arabic Department</dc:creator>
  <cp:lastModifiedBy>Al Madina Online School · Arabic Department</cp:lastModifiedBy>
  <cp:revision>1</cp:revision>
  <dcterms:created xsi:type="dcterms:W3CDTF">2026-10-11T06:42:34Z</dcterms:created>
  <dcterms:modified xsi:type="dcterms:W3CDTF">2026-10-11T06:42:34Z</dcterms:modified>
</cp:coreProperties>
</file>