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Numbers and Time › GM-NUM-02 (“— Time · Numeracy Mastery 02”).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كَمِ السَّاعَةُ؟ and the twelve hours with feminine ordinals; وَالنِّصْفُ · وَالرُّبُعُ · وَالثُّلُثُ. Develop: إِلَّا for times to the hour, exact minutes (وَخَمْسُ دَقَائِقَ) and صَبَاحًا · مَسَاءً. Stretch: digital and 24-hour times, a full timetable, and explaining listening traps.
• Website trap 1: 1:00 = السَّاعَةُ الْوَاحِدَةُ (never الْأُولَى). Trap 2: hear إِلَّا → the real time is BEFORE the hour you heard (al-khāmisatu illā rubʿan = 4:45).
• Faith link (website): illā as in lā ilāha illā llāh; the prayer timetable is real Arabic reading material.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from GM-NUM-01 (feminine ordinals, the 3–10 flip) and the prep words.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as-sāʿa + feminine ordinal. Past: wa + half / quarter / third. To: next hour + illā + rubʿan / thuluthan.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“The twelve hours”. 11 and 12 are compound: al-ḥādiyata ʿashrata, ath-thāniyata ʿashrata.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“Past the hour” and “The illā trick”. Arabic’s “secret weapon” (website): ath-thuluth = 20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“Morning, evening &amp; full sentences” and “Digital and 24-hour time”. Speech uses the 12-hour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 rules and traps.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“Daily timetable” (answers: 6:30 · 7:45 · 1:05 · 4:10).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Task A. Cover column 3; students read the times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write each card in digits (4:30, 9:15, 6:20, 3:05 · 4:45, 7:40, 9:50,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Then write each card in digits (4:30, 9:15, 6:20, 3:05 · 4:45, 7:40, 9:50,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questions on the website formulas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heritage link (sample times). Read it aloud once while students follow; then they hunt for today’s grammar.
Task: Website challenge: say each prayer time aloud in full words.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prayer-timetable sample extended into a short text;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challenge: one “past”, one “to”, one exact-minute expression and one time with ṣabāḥan or masāʾan. Listening (website): three station announcements — write the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7–9 Arabic sentences describing a school day or weekend schedule.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(GM-NUM-03 · Age) will spend class time USING this language, so students prepare it tonight — short, simple, easy to access (school guidance: “Simple, Short, Interesting, Relevant, Easy to access”). The five words prepare GM-NUM-03 (website Numeracy Mastery 03: 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NUMBERS AND TIME  ·  GM-NUM-02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GM-NUM-02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Telling the Time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الْوَقْتُ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Arabic says “the hour the third” for 3:00 (as-sāʿatu th-thālithatu). Past the hour: wa + half / quarter / third. To the hour: name the NEXT hour, then illā — al-khāmisatu illā rubʿan is 4:45, not 5:45.</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GM-NUM-02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Numbers and Time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Twelve hours; past the hour; illā; parts of the day.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 the timetable; sort past / to;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GM-NUM-03.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third” (feminine).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الثَّالِثَةُ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“ten minutes”.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 دَقَائِقَ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عَشَرَةُ دَقَائِقَ</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 دَقِيقَةٍ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النِّصْفُ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quarter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minute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إِلَّا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except / minus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٧</a:t>
            </a:r>
            <a:pPr algn="l" indent="0" marL="0">
              <a:buNone/>
            </a:pPr>
            <a:r>
              <a:rPr lang="en-US" sz="1250" b="1" dirty="0">
                <a:solidFill>
                  <a:srgbClr val="1B3B6F"/>
                </a:solidFill>
                <a:latin typeface="Calibri" pitchFamily="34" charset="0"/>
                <a:cs typeface="Amiri" pitchFamily="2" charset="-78"/>
              </a:rPr>
              <a:t>:</a:t>
            </a:r>
            <a:pPr algn="l" indent="0" marL="0">
              <a:buNone/>
            </a:pPr>
            <a:r>
              <a:rPr lang="ar-SA" altLang="en-US" sz="1650" b="1" dirty="0">
                <a:solidFill>
                  <a:srgbClr val="1B3B6F"/>
                </a:solidFill>
                <a:latin typeface="Amiri" pitchFamily="2" charset="-78"/>
                <a:ea typeface="Amiri" pitchFamily="2" charset="-78"/>
                <a:cs typeface="Amiri" pitchFamily="2" charset="-78"/>
              </a:rPr>
              <a:t>٣٠</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3:07</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7:03</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third” (feminine).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الثَّالِثُ</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الثَّالِثَةُ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GM-NUM-01 ordinals.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“ten minutes”.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عَشْرُ دَقَائِقَ</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عَشَرَةُ دَقَائِقَ</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عَشْرُ دَقِيقَةٍ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Daqīqa is feminine → no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النِّصْفُ</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quarter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minute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half</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إِلَّا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except / minus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 word (GM-CP-05).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٧</a:t>
            </a:r>
            <a:pPr algn="l" indent="0" marL="0">
              <a:buNone/>
            </a:pPr>
            <a:r>
              <a:rPr lang="en-US" sz="1250" b="1" dirty="0">
                <a:solidFill>
                  <a:srgbClr val="1B3B6F"/>
                </a:solidFill>
                <a:latin typeface="Calibri" pitchFamily="34" charset="0"/>
                <a:cs typeface="Amiri" pitchFamily="2" charset="-78"/>
              </a:rPr>
              <a:t>:</a:t>
            </a:r>
            <a:pPr algn="l" indent="0" marL="0">
              <a:buNone/>
            </a:pPr>
            <a:r>
              <a:rPr lang="ar-SA" altLang="en-US" sz="1650" b="1" dirty="0">
                <a:solidFill>
                  <a:srgbClr val="1B3B6F"/>
                </a:solidFill>
                <a:latin typeface="Amiri" pitchFamily="2" charset="-78"/>
                <a:ea typeface="Amiri" pitchFamily="2" charset="-78"/>
                <a:cs typeface="Amiri" pitchFamily="2" charset="-78"/>
              </a:rPr>
              <a:t>٣٠</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7:30</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3:07</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7:03</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Left to right.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as-sāʿa + feminine ordinal. Past: wa + half / quarter / third. To: next hour + illā + rubʿan / thuluthan.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السَّاعَةُ الرَّابِعَةُ وَالنِّصْفُ</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الْخَامِسَةُ إِلَّا رُبُعًا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Ask and tell the time on the hour.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half, quarter and twenty past.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illā for times to the hour.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Add morning, afternoon and evening in full sentences.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every o’clock time with a feminine ordinal.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4:30, 9:15 and 6:20.</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decode al-khāmisatu illā rubʿan as 4:45.</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say exact minutes and ṣabāḥan / masāʾan.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read a 24-hour timetable aloud.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describe my whole day with six times.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السَّاعَةُ؟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time is it?</a:t>
            </a:r>
            <a:endParaRPr lang="en-US" sz="1350" dirty="0"/>
          </a:p>
          <a:p>
            <a:pPr indent="0" marL="0">
              <a:buNone/>
            </a:pPr>
            <a:r>
              <a:rPr lang="en-US" sz="1100" i="1" dirty="0">
                <a:solidFill>
                  <a:srgbClr val="5A6472"/>
                </a:solidFill>
                <a:latin typeface="Calibri" pitchFamily="34" charset="0"/>
                <a:cs typeface="Amiri" pitchFamily="2" charset="-78"/>
              </a:rPr>
              <a:t>ka-mi as-sā-ʿa-tu?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السَّاعَةُ الثَّالِثَةُ</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النِّصْفُ</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half (30 min)</a:t>
            </a:r>
            <a:endParaRPr lang="en-US" sz="1350" dirty="0"/>
          </a:p>
          <a:p>
            <a:pPr indent="0" marL="0">
              <a:buNone/>
            </a:pPr>
            <a:r>
              <a:rPr lang="en-US" sz="1100" i="1" dirty="0">
                <a:solidFill>
                  <a:srgbClr val="5A6472"/>
                </a:solidFill>
                <a:latin typeface="Calibri" pitchFamily="34" charset="0"/>
                <a:cs typeface="Amiri" pitchFamily="2" charset="-78"/>
              </a:rPr>
              <a:t>an-niṣ-fu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وَالنِّصْفُ</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الرُّبُعُ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quarter (15 min)</a:t>
            </a:r>
            <a:endParaRPr lang="en-US" sz="1350" dirty="0"/>
          </a:p>
          <a:p>
            <a:pPr indent="0" marL="0">
              <a:buNone/>
            </a:pPr>
            <a:r>
              <a:rPr lang="en-US" sz="1100" i="1" dirty="0">
                <a:solidFill>
                  <a:srgbClr val="5A6472"/>
                </a:solidFill>
                <a:latin typeface="Calibri" pitchFamily="34" charset="0"/>
                <a:cs typeface="Amiri" pitchFamily="2" charset="-78"/>
              </a:rPr>
              <a:t>ar-ru-bu-ʿu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وَالرُّبُعُ · إِلَّا رُبُعًا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الثُّلُثُ</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third (20 min)</a:t>
            </a:r>
            <a:endParaRPr lang="en-US" sz="1350" dirty="0"/>
          </a:p>
          <a:p>
            <a:pPr indent="0" marL="0">
              <a:buNone/>
            </a:pPr>
            <a:r>
              <a:rPr lang="en-US" sz="1100" i="1" dirty="0">
                <a:solidFill>
                  <a:srgbClr val="5A6472"/>
                </a:solidFill>
                <a:latin typeface="Calibri" pitchFamily="34" charset="0"/>
                <a:cs typeface="Amiri" pitchFamily="2" charset="-78"/>
              </a:rPr>
              <a:t>ath-thu-lu-thu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وَالثُّلُثُ</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إِلَّا</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(minus)</a:t>
            </a:r>
            <a:endParaRPr lang="en-US" sz="1350" dirty="0"/>
          </a:p>
          <a:p>
            <a:pPr indent="0" marL="0">
              <a:buNone/>
            </a:pPr>
            <a:r>
              <a:rPr lang="en-US" sz="1100" i="1" dirty="0">
                <a:solidFill>
                  <a:srgbClr val="5A6472"/>
                </a:solidFill>
                <a:latin typeface="Calibri" pitchFamily="34" charset="0"/>
                <a:cs typeface="Amiri" pitchFamily="2" charset="-78"/>
              </a:rPr>
              <a:t>il-lā</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إِلَّا عَشْرَ دَقَائِقَ</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صَبَاحًا · مَسَاءً</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 · p.m.</a:t>
            </a:r>
            <a:endParaRPr lang="en-US" sz="1350" dirty="0"/>
          </a:p>
          <a:p>
            <a:pPr indent="0" marL="0">
              <a:buNone/>
            </a:pPr>
            <a:r>
              <a:rPr lang="en-US" sz="1100" i="1" dirty="0">
                <a:solidFill>
                  <a:srgbClr val="5A6472"/>
                </a:solidFill>
                <a:latin typeface="Calibri" pitchFamily="34" charset="0"/>
                <a:cs typeface="Amiri" pitchFamily="2" charset="-78"/>
              </a:rPr>
              <a:t>ṣa-bā-ḥan · ma-sā-ʾan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السَّابِعَةُ صَبَاحًا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TIME · PART 1 · THE TWELVE HOURS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hour the third”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كَمِ السَّاعَةُ؟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7" name="Text 14"/>
          <p:cNvSpPr txBox="1"/>
          <p:nvPr/>
        </p:nvSpPr>
        <p:spPr>
          <a:xfrm>
            <a:off x="583387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8" name="Text 15"/>
          <p:cNvSpPr txBox="1"/>
          <p:nvPr/>
        </p:nvSpPr>
        <p:spPr>
          <a:xfrm>
            <a:off x="18105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9" name="Text 16"/>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132320" y="2267712"/>
            <a:ext cx="45079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السَّابِعَةُ</a:t>
            </a:r>
            <a:endParaRPr lang="ar-SA" sz="2200" dirty="0"/>
          </a:p>
        </p:txBody>
      </p:sp>
      <p:sp>
        <p:nvSpPr>
          <p:cNvPr id="22" name="Text 19"/>
          <p:cNvSpPr txBox="1"/>
          <p:nvPr/>
        </p:nvSpPr>
        <p:spPr>
          <a:xfrm>
            <a:off x="587044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7:00</a:t>
            </a:r>
            <a:endParaRPr lang="en-US" sz="1100" dirty="0"/>
          </a:p>
        </p:txBody>
      </p:sp>
      <p:sp>
        <p:nvSpPr>
          <p:cNvPr id="23" name="Text 20"/>
          <p:cNvSpPr txBox="1"/>
          <p:nvPr/>
        </p:nvSpPr>
        <p:spPr>
          <a:xfrm>
            <a:off x="1828800" y="226771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الْوَاحِدَةُ</a:t>
            </a:r>
            <a:endParaRPr lang="ar-SA" sz="2200" dirty="0"/>
          </a:p>
        </p:txBody>
      </p:sp>
      <p:sp>
        <p:nvSpPr>
          <p:cNvPr id="24" name="Text 21"/>
          <p:cNvSpPr txBox="1"/>
          <p:nvPr/>
        </p:nvSpPr>
        <p:spPr>
          <a:xfrm>
            <a:off x="566928" y="226771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132320" y="2881884"/>
            <a:ext cx="45079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الثَّامِنَةُ</a:t>
            </a:r>
            <a:endParaRPr lang="ar-SA" sz="2200" dirty="0"/>
          </a:p>
        </p:txBody>
      </p:sp>
      <p:sp>
        <p:nvSpPr>
          <p:cNvPr id="29" name="Text 26"/>
          <p:cNvSpPr txBox="1"/>
          <p:nvPr/>
        </p:nvSpPr>
        <p:spPr>
          <a:xfrm>
            <a:off x="587044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8:00</a:t>
            </a:r>
            <a:endParaRPr lang="en-US" sz="1100" dirty="0"/>
          </a:p>
        </p:txBody>
      </p:sp>
      <p:sp>
        <p:nvSpPr>
          <p:cNvPr id="30" name="Text 27"/>
          <p:cNvSpPr txBox="1"/>
          <p:nvPr/>
        </p:nvSpPr>
        <p:spPr>
          <a:xfrm>
            <a:off x="1828800" y="2881884"/>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الثَّانِيَةُ</a:t>
            </a:r>
            <a:endParaRPr lang="ar-SA" sz="2200" dirty="0"/>
          </a:p>
        </p:txBody>
      </p:sp>
      <p:sp>
        <p:nvSpPr>
          <p:cNvPr id="31" name="Text 28"/>
          <p:cNvSpPr txBox="1"/>
          <p:nvPr/>
        </p:nvSpPr>
        <p:spPr>
          <a:xfrm>
            <a:off x="566928" y="2881884"/>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2:00</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132320" y="3496056"/>
            <a:ext cx="45079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التَّاسِعَةُ</a:t>
            </a:r>
            <a:endParaRPr lang="ar-SA" sz="2200" dirty="0"/>
          </a:p>
        </p:txBody>
      </p:sp>
      <p:sp>
        <p:nvSpPr>
          <p:cNvPr id="36" name="Text 33"/>
          <p:cNvSpPr txBox="1"/>
          <p:nvPr/>
        </p:nvSpPr>
        <p:spPr>
          <a:xfrm>
            <a:off x="587044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9:00</a:t>
            </a:r>
            <a:endParaRPr lang="en-US" sz="1100" dirty="0"/>
          </a:p>
        </p:txBody>
      </p:sp>
      <p:sp>
        <p:nvSpPr>
          <p:cNvPr id="37" name="Text 34"/>
          <p:cNvSpPr txBox="1"/>
          <p:nvPr/>
        </p:nvSpPr>
        <p:spPr>
          <a:xfrm>
            <a:off x="1828800" y="3496056"/>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الثَّالِثَةُ</a:t>
            </a:r>
            <a:endParaRPr lang="ar-SA" sz="2200" dirty="0"/>
          </a:p>
        </p:txBody>
      </p:sp>
      <p:sp>
        <p:nvSpPr>
          <p:cNvPr id="38" name="Text 35"/>
          <p:cNvSpPr txBox="1"/>
          <p:nvPr/>
        </p:nvSpPr>
        <p:spPr>
          <a:xfrm>
            <a:off x="566928" y="3496056"/>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3:00</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132320" y="4110228"/>
            <a:ext cx="45079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الْعَاشِرَةُ</a:t>
            </a:r>
            <a:endParaRPr lang="ar-SA" sz="2200" dirty="0"/>
          </a:p>
        </p:txBody>
      </p:sp>
      <p:sp>
        <p:nvSpPr>
          <p:cNvPr id="43" name="Text 40"/>
          <p:cNvSpPr txBox="1"/>
          <p:nvPr/>
        </p:nvSpPr>
        <p:spPr>
          <a:xfrm>
            <a:off x="587044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10:00</a:t>
            </a:r>
            <a:endParaRPr lang="en-US" sz="1100" dirty="0"/>
          </a:p>
        </p:txBody>
      </p:sp>
      <p:sp>
        <p:nvSpPr>
          <p:cNvPr id="44" name="Text 41"/>
          <p:cNvSpPr txBox="1"/>
          <p:nvPr/>
        </p:nvSpPr>
        <p:spPr>
          <a:xfrm>
            <a:off x="1828800" y="4110228"/>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الرَّابِعَةُ</a:t>
            </a:r>
            <a:endParaRPr lang="ar-SA" sz="2200" dirty="0"/>
          </a:p>
        </p:txBody>
      </p:sp>
      <p:sp>
        <p:nvSpPr>
          <p:cNvPr id="45" name="Text 42"/>
          <p:cNvSpPr txBox="1"/>
          <p:nvPr/>
        </p:nvSpPr>
        <p:spPr>
          <a:xfrm>
            <a:off x="566928" y="4110228"/>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4:00</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7132320" y="4724400"/>
            <a:ext cx="45079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الْحَادِيَةَ عَشْرَةَ</a:t>
            </a:r>
            <a:endParaRPr lang="ar-SA" sz="2200" dirty="0"/>
          </a:p>
        </p:txBody>
      </p:sp>
      <p:sp>
        <p:nvSpPr>
          <p:cNvPr id="50" name="Text 47"/>
          <p:cNvSpPr txBox="1"/>
          <p:nvPr/>
        </p:nvSpPr>
        <p:spPr>
          <a:xfrm>
            <a:off x="587044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11:00</a:t>
            </a:r>
            <a:endParaRPr lang="en-US" sz="1100" dirty="0"/>
          </a:p>
        </p:txBody>
      </p:sp>
      <p:sp>
        <p:nvSpPr>
          <p:cNvPr id="51" name="Text 48"/>
          <p:cNvSpPr txBox="1"/>
          <p:nvPr/>
        </p:nvSpPr>
        <p:spPr>
          <a:xfrm>
            <a:off x="1828800" y="4724400"/>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الْخَامِسَةُ</a:t>
            </a:r>
            <a:endParaRPr lang="ar-SA" sz="2200" dirty="0"/>
          </a:p>
        </p:txBody>
      </p:sp>
      <p:sp>
        <p:nvSpPr>
          <p:cNvPr id="52" name="Text 49"/>
          <p:cNvSpPr txBox="1"/>
          <p:nvPr/>
        </p:nvSpPr>
        <p:spPr>
          <a:xfrm>
            <a:off x="566928" y="4724400"/>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5:00</a:t>
            </a:r>
            <a:endParaRPr lang="en-US" sz="1100" dirty="0"/>
          </a:p>
        </p:txBody>
      </p:sp>
      <p:sp>
        <p:nvSpPr>
          <p:cNvPr id="53" name="Shape 5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6" name="Text 53"/>
          <p:cNvSpPr txBox="1"/>
          <p:nvPr/>
        </p:nvSpPr>
        <p:spPr>
          <a:xfrm>
            <a:off x="7132320" y="5338572"/>
            <a:ext cx="450799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الثَّانِيَةَ عَشْرَةَ</a:t>
            </a:r>
            <a:endParaRPr lang="ar-SA" sz="2200" dirty="0"/>
          </a:p>
        </p:txBody>
      </p:sp>
      <p:sp>
        <p:nvSpPr>
          <p:cNvPr id="57" name="Text 54"/>
          <p:cNvSpPr txBox="1"/>
          <p:nvPr/>
        </p:nvSpPr>
        <p:spPr>
          <a:xfrm>
            <a:off x="587044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12:00</a:t>
            </a:r>
            <a:endParaRPr lang="en-US" sz="1100" dirty="0"/>
          </a:p>
        </p:txBody>
      </p:sp>
      <p:sp>
        <p:nvSpPr>
          <p:cNvPr id="58" name="Text 55"/>
          <p:cNvSpPr txBox="1"/>
          <p:nvPr/>
        </p:nvSpPr>
        <p:spPr>
          <a:xfrm>
            <a:off x="1828800" y="533857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السَّادِسَةُ</a:t>
            </a:r>
            <a:endParaRPr lang="ar-SA" sz="2200" dirty="0"/>
          </a:p>
        </p:txBody>
      </p:sp>
      <p:sp>
        <p:nvSpPr>
          <p:cNvPr id="59" name="Text 56"/>
          <p:cNvSpPr txBox="1"/>
          <p:nvPr/>
        </p:nvSpPr>
        <p:spPr>
          <a:xfrm>
            <a:off x="566928" y="5338572"/>
            <a:ext cx="10972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6:00</a:t>
            </a:r>
            <a:endParaRPr lang="en-US" sz="1100" dirty="0"/>
          </a:p>
        </p:txBody>
      </p:sp>
      <p:sp>
        <p:nvSpPr>
          <p:cNvPr id="60" name="Shape 57"/>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Text 5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sāʿa is feminine, so every clock ordinal is feminine. The 1 o’clock trap: al-wāḥida — never al-ūlā. Ask: kami s-sāʿatu? · fī ayyi sāʿatin? (at what time?) · matā? (when?)</a:t>
            </a:r>
            <a:endParaRPr lang="en-US" sz="11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TIME · PART 2 · PAST THE HOUR AND THE ILLĀ TRICK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with wa — to with illā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 ·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Literally</a:t>
            </a:r>
            <a:endParaRPr lang="en-US" sz="1100" dirty="0"/>
          </a:p>
        </p:txBody>
      </p:sp>
      <p:sp>
        <p:nvSpPr>
          <p:cNvPr id="17" name="Text 14"/>
          <p:cNvSpPr txBox="1"/>
          <p:nvPr/>
        </p:nvSpPr>
        <p:spPr>
          <a:xfrm>
            <a:off x="181051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9" name="Shape 16"/>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0" name="Text 17"/>
          <p:cNvSpPr txBox="1"/>
          <p:nvPr/>
        </p:nvSpPr>
        <p:spPr>
          <a:xfrm>
            <a:off x="7882128" y="2267712"/>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 and the half</a:t>
            </a:r>
            <a:endParaRPr lang="en-US" sz="1100" dirty="0"/>
          </a:p>
        </p:txBody>
      </p:sp>
      <p:sp>
        <p:nvSpPr>
          <p:cNvPr id="21" name="Text 18"/>
          <p:cNvSpPr txBox="1"/>
          <p:nvPr/>
        </p:nvSpPr>
        <p:spPr>
          <a:xfrm>
            <a:off x="1828800" y="2267712"/>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الرَّابِعَةُ وَالنِّصْفُ</a:t>
            </a:r>
            <a:endParaRPr lang="ar-SA" sz="2200" dirty="0"/>
          </a:p>
        </p:txBody>
      </p:sp>
      <p:sp>
        <p:nvSpPr>
          <p:cNvPr id="22" name="Text 19"/>
          <p:cNvSpPr txBox="1"/>
          <p:nvPr/>
        </p:nvSpPr>
        <p:spPr>
          <a:xfrm>
            <a:off x="566928" y="2267712"/>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4:30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6" name="Text 23"/>
          <p:cNvSpPr txBox="1"/>
          <p:nvPr/>
        </p:nvSpPr>
        <p:spPr>
          <a:xfrm>
            <a:off x="7882128" y="2794145"/>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nine and the quarter</a:t>
            </a:r>
            <a:endParaRPr lang="en-US" sz="1100" dirty="0"/>
          </a:p>
        </p:txBody>
      </p:sp>
      <p:sp>
        <p:nvSpPr>
          <p:cNvPr id="27" name="Text 24"/>
          <p:cNvSpPr txBox="1"/>
          <p:nvPr/>
        </p:nvSpPr>
        <p:spPr>
          <a:xfrm>
            <a:off x="1828800" y="2794145"/>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التَّاسِعَةُ وَالرُّبُعُ</a:t>
            </a:r>
            <a:endParaRPr lang="ar-SA" sz="2200" dirty="0"/>
          </a:p>
        </p:txBody>
      </p:sp>
      <p:sp>
        <p:nvSpPr>
          <p:cNvPr id="28" name="Text 25"/>
          <p:cNvSpPr txBox="1"/>
          <p:nvPr/>
        </p:nvSpPr>
        <p:spPr>
          <a:xfrm>
            <a:off x="566928" y="2794145"/>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9:15</a:t>
            </a:r>
            <a:endParaRPr lang="en-US" sz="1100" dirty="0"/>
          </a:p>
        </p:txBody>
      </p:sp>
      <p:sp>
        <p:nvSpPr>
          <p:cNvPr id="29" name="Shape 26"/>
          <p:cNvSpPr/>
          <p:nvPr/>
        </p:nvSpPr>
        <p:spPr>
          <a:xfrm>
            <a:off x="11091672" y="2839865"/>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83986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2" name="Text 29"/>
          <p:cNvSpPr txBox="1"/>
          <p:nvPr/>
        </p:nvSpPr>
        <p:spPr>
          <a:xfrm>
            <a:off x="7882128" y="3320578"/>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six and the third (20 min)</a:t>
            </a:r>
            <a:endParaRPr lang="en-US" sz="1100" dirty="0"/>
          </a:p>
        </p:txBody>
      </p:sp>
      <p:sp>
        <p:nvSpPr>
          <p:cNvPr id="33" name="Text 30"/>
          <p:cNvSpPr txBox="1"/>
          <p:nvPr/>
        </p:nvSpPr>
        <p:spPr>
          <a:xfrm>
            <a:off x="1828800" y="3320578"/>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السَّادِسَةُ وَالثُّلُثُ</a:t>
            </a:r>
            <a:endParaRPr lang="ar-SA" sz="2200" dirty="0"/>
          </a:p>
        </p:txBody>
      </p:sp>
      <p:sp>
        <p:nvSpPr>
          <p:cNvPr id="34" name="Text 31"/>
          <p:cNvSpPr txBox="1"/>
          <p:nvPr/>
        </p:nvSpPr>
        <p:spPr>
          <a:xfrm>
            <a:off x="566928" y="3320578"/>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6:20</a:t>
            </a:r>
            <a:endParaRPr lang="en-US" sz="1100" dirty="0"/>
          </a:p>
        </p:txBody>
      </p:sp>
      <p:sp>
        <p:nvSpPr>
          <p:cNvPr id="35" name="Shape 32"/>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38" name="Text 35"/>
          <p:cNvSpPr txBox="1"/>
          <p:nvPr/>
        </p:nvSpPr>
        <p:spPr>
          <a:xfrm>
            <a:off x="7882128" y="3847011"/>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and five minutes</a:t>
            </a:r>
            <a:endParaRPr lang="en-US" sz="1100" dirty="0"/>
          </a:p>
        </p:txBody>
      </p:sp>
      <p:sp>
        <p:nvSpPr>
          <p:cNvPr id="39" name="Text 36"/>
          <p:cNvSpPr txBox="1"/>
          <p:nvPr/>
        </p:nvSpPr>
        <p:spPr>
          <a:xfrm>
            <a:off x="1828800" y="3847011"/>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الثَّالِثَةُ وَخَمْسُ دَقَائِقَ</a:t>
            </a:r>
            <a:endParaRPr lang="ar-SA" sz="2200" dirty="0"/>
          </a:p>
        </p:txBody>
      </p:sp>
      <p:sp>
        <p:nvSpPr>
          <p:cNvPr id="40" name="Text 37"/>
          <p:cNvSpPr txBox="1"/>
          <p:nvPr/>
        </p:nvSpPr>
        <p:spPr>
          <a:xfrm>
            <a:off x="566928" y="3847011"/>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3:05</a:t>
            </a:r>
            <a:endParaRPr lang="en-US" sz="1100" dirty="0"/>
          </a:p>
        </p:txBody>
      </p:sp>
      <p:sp>
        <p:nvSpPr>
          <p:cNvPr id="41" name="Shape 38"/>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2" name="Text 39"/>
          <p:cNvSpPr txBox="1"/>
          <p:nvPr/>
        </p:nvSpPr>
        <p:spPr>
          <a:xfrm>
            <a:off x="7882128" y="4373445"/>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five, except a quarter</a:t>
            </a:r>
            <a:endParaRPr lang="en-US" sz="1100" dirty="0"/>
          </a:p>
        </p:txBody>
      </p:sp>
      <p:sp>
        <p:nvSpPr>
          <p:cNvPr id="43" name="Text 40"/>
          <p:cNvSpPr txBox="1"/>
          <p:nvPr/>
        </p:nvSpPr>
        <p:spPr>
          <a:xfrm>
            <a:off x="1828800" y="4373445"/>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الْخَامِسَةُ إِلَّا رُبُعًا</a:t>
            </a:r>
            <a:endParaRPr lang="ar-SA" sz="2200" dirty="0"/>
          </a:p>
        </p:txBody>
      </p:sp>
      <p:sp>
        <p:nvSpPr>
          <p:cNvPr id="44" name="Text 41"/>
          <p:cNvSpPr txBox="1"/>
          <p:nvPr/>
        </p:nvSpPr>
        <p:spPr>
          <a:xfrm>
            <a:off x="566928" y="4373445"/>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4:45</a:t>
            </a:r>
            <a:endParaRPr lang="en-US" sz="1100" dirty="0"/>
          </a:p>
        </p:txBody>
      </p:sp>
      <p:sp>
        <p:nvSpPr>
          <p:cNvPr id="45" name="Shape 42"/>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46" name="Text 43"/>
          <p:cNvSpPr txBox="1"/>
          <p:nvPr/>
        </p:nvSpPr>
        <p:spPr>
          <a:xfrm>
            <a:off x="7882128" y="4899878"/>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eight, except a third</a:t>
            </a:r>
            <a:endParaRPr lang="en-US" sz="1100" dirty="0"/>
          </a:p>
        </p:txBody>
      </p:sp>
      <p:sp>
        <p:nvSpPr>
          <p:cNvPr id="47" name="Text 44"/>
          <p:cNvSpPr txBox="1"/>
          <p:nvPr/>
        </p:nvSpPr>
        <p:spPr>
          <a:xfrm>
            <a:off x="1828800" y="4899878"/>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الثَّامِنَةُ إِلَّا ثُلُثًا</a:t>
            </a:r>
            <a:endParaRPr lang="ar-SA" sz="2200" dirty="0"/>
          </a:p>
        </p:txBody>
      </p:sp>
      <p:sp>
        <p:nvSpPr>
          <p:cNvPr id="48" name="Text 45"/>
          <p:cNvSpPr txBox="1"/>
          <p:nvPr/>
        </p:nvSpPr>
        <p:spPr>
          <a:xfrm>
            <a:off x="566928" y="4899878"/>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7:40</a:t>
            </a:r>
            <a:endParaRPr lang="en-US" sz="1100" dirty="0"/>
          </a:p>
        </p:txBody>
      </p:sp>
      <p:sp>
        <p:nvSpPr>
          <p:cNvPr id="49" name="Shape 46"/>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0" name="Text 47"/>
          <p:cNvSpPr txBox="1"/>
          <p:nvPr/>
        </p:nvSpPr>
        <p:spPr>
          <a:xfrm>
            <a:off x="7882128" y="5426311"/>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 except ten minutes</a:t>
            </a:r>
            <a:endParaRPr lang="en-US" sz="1100" dirty="0"/>
          </a:p>
        </p:txBody>
      </p:sp>
      <p:sp>
        <p:nvSpPr>
          <p:cNvPr id="51" name="Text 48"/>
          <p:cNvSpPr txBox="1"/>
          <p:nvPr/>
        </p:nvSpPr>
        <p:spPr>
          <a:xfrm>
            <a:off x="1828800" y="5426311"/>
            <a:ext cx="5852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الْعَاشِرَةُ إِلَّا عَشْرَ دَقَائِقَ</a:t>
            </a:r>
            <a:endParaRPr lang="ar-SA" sz="2200" dirty="0"/>
          </a:p>
        </p:txBody>
      </p:sp>
      <p:sp>
        <p:nvSpPr>
          <p:cNvPr id="52" name="Text 49"/>
          <p:cNvSpPr txBox="1"/>
          <p:nvPr/>
        </p:nvSpPr>
        <p:spPr>
          <a:xfrm>
            <a:off x="566928" y="5426311"/>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9:50</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examiner’s trap: hear illā → subtract from the hour you heard. After illā the fraction takes -an: illā rubʿan, illā thuluthan. Minutes use the GM-NUM-01 flip: khamsu daqāʾiqa.</a:t>
            </a:r>
            <a:endParaRPr lang="en-US" sz="11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TIME · PART 3 · PARTS OF THE DAY AND 24-HOUR TIME (WEBSITE TABLES)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 p.m. — and full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صَبَاحًا وَمَسَاءً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 of day</a:t>
            </a:r>
            <a:endParaRPr lang="en-US" sz="1100" dirty="0"/>
          </a:p>
        </p:txBody>
      </p:sp>
      <p:sp>
        <p:nvSpPr>
          <p:cNvPr id="17" name="Text 14"/>
          <p:cNvSpPr txBox="1"/>
          <p:nvPr/>
        </p:nvSpPr>
        <p:spPr>
          <a:xfrm>
            <a:off x="217627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Natural Arabic</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Digital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61364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ṣabāḥan — morning</a:t>
            </a:r>
            <a:endParaRPr lang="en-US" sz="1100" dirty="0"/>
          </a:p>
        </p:txBody>
      </p:sp>
      <p:sp>
        <p:nvSpPr>
          <p:cNvPr id="21" name="Text 18"/>
          <p:cNvSpPr txBox="1"/>
          <p:nvPr/>
        </p:nvSpPr>
        <p:spPr>
          <a:xfrm>
            <a:off x="2194560" y="2267712"/>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السَّابِعَةُ صَبَاحًا</a:t>
            </a:r>
            <a:endParaRPr lang="ar-SA" sz="2200" dirty="0"/>
          </a:p>
        </p:txBody>
      </p:sp>
      <p:sp>
        <p:nvSpPr>
          <p:cNvPr id="22" name="Text 19"/>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07:00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61364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ẓuhran — noon</a:t>
            </a:r>
            <a:endParaRPr lang="en-US" sz="1100" dirty="0"/>
          </a:p>
        </p:txBody>
      </p:sp>
      <p:sp>
        <p:nvSpPr>
          <p:cNvPr id="27" name="Text 24"/>
          <p:cNvSpPr txBox="1"/>
          <p:nvPr/>
        </p:nvSpPr>
        <p:spPr>
          <a:xfrm>
            <a:off x="2194560" y="3004718"/>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الثَّانِيَةَ عَشْرَةَ ظُهْرًا</a:t>
            </a:r>
            <a:endParaRPr lang="ar-SA" sz="2200" dirty="0"/>
          </a:p>
        </p:txBody>
      </p:sp>
      <p:sp>
        <p:nvSpPr>
          <p:cNvPr id="28" name="Text 25"/>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12:00</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861364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baʿda ẓ-ẓuhr — afternoon</a:t>
            </a:r>
            <a:endParaRPr lang="en-US" sz="1100" dirty="0"/>
          </a:p>
        </p:txBody>
      </p:sp>
      <p:sp>
        <p:nvSpPr>
          <p:cNvPr id="31" name="Text 28"/>
          <p:cNvSpPr txBox="1"/>
          <p:nvPr/>
        </p:nvSpPr>
        <p:spPr>
          <a:xfrm>
            <a:off x="2194560" y="3741725"/>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الْوَاحِدَةُ وَالثُّلُثُ بَعْدَ الظُّهْرِ</a:t>
            </a:r>
            <a:endParaRPr lang="ar-SA" sz="2200" dirty="0"/>
          </a:p>
        </p:txBody>
      </p:sp>
      <p:sp>
        <p:nvSpPr>
          <p:cNvPr id="32" name="Text 29"/>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13:20</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861364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masāʾan — evening</a:t>
            </a:r>
            <a:endParaRPr lang="en-US" sz="1100" dirty="0"/>
          </a:p>
        </p:txBody>
      </p:sp>
      <p:sp>
        <p:nvSpPr>
          <p:cNvPr id="35" name="Text 32"/>
          <p:cNvSpPr txBox="1"/>
          <p:nvPr/>
        </p:nvSpPr>
        <p:spPr>
          <a:xfrm>
            <a:off x="2194560" y="4478731"/>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السَّادِسَةُ وَالنِّصْفُ مَسَاءً</a:t>
            </a:r>
            <a:endParaRPr lang="ar-SA" sz="2200" dirty="0"/>
          </a:p>
        </p:txBody>
      </p:sp>
      <p:sp>
        <p:nvSpPr>
          <p:cNvPr id="36" name="Text 33"/>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18:30</a:t>
            </a:r>
            <a:endParaRPr lang="en-US" sz="1100" dirty="0"/>
          </a:p>
        </p:txBody>
      </p:sp>
      <p:sp>
        <p:nvSpPr>
          <p:cNvPr id="37" name="Shape 3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61364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laylan — night</a:t>
            </a:r>
            <a:endParaRPr lang="en-US" sz="1100" dirty="0"/>
          </a:p>
        </p:txBody>
      </p:sp>
      <p:sp>
        <p:nvSpPr>
          <p:cNvPr id="41" name="Text 38"/>
          <p:cNvSpPr txBox="1"/>
          <p:nvPr/>
        </p:nvSpPr>
        <p:spPr>
          <a:xfrm>
            <a:off x="2194560" y="5215738"/>
            <a:ext cx="62179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الْعَاشِرَةُ وَالنِّصْفُ لَيْلًا</a:t>
            </a:r>
            <a:endParaRPr lang="ar-SA" sz="2200" dirty="0"/>
          </a:p>
        </p:txBody>
      </p:sp>
      <p:sp>
        <p:nvSpPr>
          <p:cNvPr id="42" name="Text 39"/>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22:30</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“at” a time = fī s-sāʿati … — astayqiẓu fī s-sāʿati s-sābiʿati ṣabāḥan. After fī the whole phrase takes kasra: fī s-sāʿati th-thālithati.</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1:00?</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الْأُولَى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الْوَاحِدُ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الْوَاحِدَةُ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السَّاعَةُ الرَّابِعَةُ وَالنِّصْفُ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4:30</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4:15</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5:30</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السَّاعَةُ الْخَامِسَةُ إِلَّا رُبُعًا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5:45</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4:45</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5:15</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السَّاعَةُ السَّادِسَةُ وَالثُّلُثُ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6:20</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6:03</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1:00?</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الْأُولَى</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الْوَاحِدُ</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الْوَاحِدَةُ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trap: al-wāḥida.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السَّاعَةُ الرَّابِعَةُ وَالنِّصْفُ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4:30</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4:15</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5:30</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wa-n-niṣf = half past.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السَّاعَةُ الْخَامِسَةُ إِلَّا رُبُعًا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5:45</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4:45</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5:15</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Hear illā → subtract: 5 minus a quarter.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السَّاعَةُ السَّادِسَةُ وَالثُّلُثُ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6:20</a:t>
            </a:r>
            <a:endParaRPr lang="en-US" sz="125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6:30</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6:03</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ath-thuluth = 20 minutes.</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my school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Wake up</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السَّادِسَةِ وَالنِّصْفِ</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6:30 — fī + kasra.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First lesson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الثَّامِنَةِ إِلَّا رُبُعًا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7:45 — next hour minus.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Lunch</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الْوَاحِدَةِ وَخَمْسِ دَقَائِقَ</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1:05 — flip for minutes.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Home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الرَّابِعَةِ وَعَشْرِ دَقَائِقَ</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4:10.</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THE HOUR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TO THE HOUR (illā)</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أَسْتَيْقِظُ فِي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السَّاعَةِ السَّادِسَةِ وَالنِّصْفِ</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صَبَاحًا. يَبْدَأُ الدَّرْسُ الْأَوَّلُ فِي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السَّاعَةِ الثَّامِنَةِ إِلَّا رُبُعًا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أَتَنَاوَلُ الْغَدَاءَ فِي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السَّاعَةِ الْوَاحِدَةِ وَخَمْسِ دَقَائِقَ</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وَأَعُودُ إِلَى الْبَيْتِ فِي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السَّاعَةِ الرَّابِعَةِ وَعَشْرِ دَقَائِقَ</a:t>
            </a:r>
            <a:pPr rtl="1" algn="r" indent="0" marL="0">
              <a:lnSpc>
                <a:spcPct val="120000"/>
              </a:lnSpc>
              <a:buNone/>
            </a:pPr>
            <a:r>
              <a:rPr lang="ar-SA" altLang="en-US" sz="1400" b="1" dirty="0">
                <a:solidFill>
                  <a:srgbClr val="1B3B6F"/>
                </a:solidFill>
                <a:latin typeface="Amiri" pitchFamily="2" charset="-78"/>
                <a:cs typeface="Amiri" pitchFamily="2" charset="-78"/>
              </a:rPr>
              <a:t>.</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00" i="1" dirty="0">
                <a:solidFill>
                  <a:srgbClr val="5A6472"/>
                </a:solidFill>
                <a:latin typeface="Calibri" pitchFamily="34" charset="0"/>
                <a:cs typeface="Amiri" pitchFamily="2" charset="-78"/>
              </a:rPr>
              <a:t>I wake up at half past six in the morning. The first lesson starts at quarter to eight. I have lunch at five past one, and I go home at ten past four.</a:t>
            </a:r>
            <a:endParaRPr lang="en-US" sz="12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يُغَادِرُ الْقِطَارُ فِي السَّاعَةِ الثَّالِثَةِ وَالنِّصْفِ مَسَاءً.</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train leaves at 3:30 p.m.</a:t>
            </a:r>
            <a:endParaRPr lang="en-US" sz="1250" dirty="0"/>
          </a:p>
          <a:p>
            <a:pPr indent="0" marL="0">
              <a:buNone/>
            </a:pPr>
            <a:r>
              <a:rPr lang="en-US" sz="1050" i="1" dirty="0">
                <a:solidFill>
                  <a:srgbClr val="8A6D1E"/>
                </a:solidFill>
                <a:latin typeface="Calibri" pitchFamily="34" charset="0"/>
                <a:cs typeface="Amiri" pitchFamily="2" charset="-78"/>
              </a:rPr>
              <a:t>Announcement.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يَبْدَأُ الْفِيلْمُ فِي السَّاعَةِ الثَّامِنَةِ إِلَّا رُبُعًا.</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film starts at 7:45.</a:t>
            </a:r>
            <a:endParaRPr lang="en-US" sz="1250" dirty="0"/>
          </a:p>
          <a:p>
            <a:pPr indent="0" marL="0">
              <a:buNone/>
            </a:pPr>
            <a:r>
              <a:rPr lang="en-US" sz="1050" i="1" dirty="0">
                <a:solidFill>
                  <a:srgbClr val="8A6D1E"/>
                </a:solidFill>
                <a:latin typeface="Calibri" pitchFamily="34" charset="0"/>
                <a:cs typeface="Amiri" pitchFamily="2" charset="-78"/>
              </a:rPr>
              <a:t>illā trap.</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يَفْتَحُ الْمَتْحَفُ فِي السَّاعَةِ الْعَاشِرَةِ إِلَّا عَشْرَ دَقَائِقَ.</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museum opens at 9:50.</a:t>
            </a:r>
            <a:endParaRPr lang="en-US" sz="1250" dirty="0"/>
          </a:p>
          <a:p>
            <a:pPr indent="0" marL="0">
              <a:buNone/>
            </a:pPr>
            <a:r>
              <a:rPr lang="en-US" sz="1050" i="1" dirty="0">
                <a:solidFill>
                  <a:srgbClr val="8A6D1E"/>
                </a:solidFill>
                <a:latin typeface="Calibri" pitchFamily="34" charset="0"/>
                <a:cs typeface="Amiri" pitchFamily="2" charset="-78"/>
              </a:rPr>
              <a:t>illā + minutes.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أَنَامُ فِي السَّاعَةِ الْعَاشِرَةِ وَالنِّصْفِ لَيْلًا.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sleep at 10:30 at night.</a:t>
            </a:r>
            <a:endParaRPr lang="en-US" sz="1250" dirty="0"/>
          </a:p>
          <a:p>
            <a:pPr indent="0" marL="0">
              <a:buNone/>
            </a:pPr>
            <a:r>
              <a:rPr lang="en-US" sz="1050" i="1" dirty="0">
                <a:solidFill>
                  <a:srgbClr val="8A6D1E"/>
                </a:solidFill>
                <a:latin typeface="Calibri" pitchFamily="34" charset="0"/>
                <a:cs typeface="Amiri" pitchFamily="2" charset="-78"/>
              </a:rPr>
              <a:t>laylan.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THE SCHOOL TIMETABLE (WEBSITE TASK A)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timetable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جَدْوَلُ الْحِصَصِ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650992" y="1810512"/>
            <a:ext cx="6007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a:t>
            </a:r>
            <a:endParaRPr lang="en-US" sz="1100" dirty="0"/>
          </a:p>
        </p:txBody>
      </p:sp>
      <p:sp>
        <p:nvSpPr>
          <p:cNvPr id="17" name="Text 14"/>
          <p:cNvSpPr txBox="1"/>
          <p:nvPr/>
        </p:nvSpPr>
        <p:spPr>
          <a:xfrm>
            <a:off x="382219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Time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5669280" y="2267712"/>
            <a:ext cx="59710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السَّاعَةِ التَّاسِعَةِ تَمَامًا</a:t>
            </a:r>
            <a:endParaRPr lang="ar-SA" sz="2200" dirty="0"/>
          </a:p>
        </p:txBody>
      </p:sp>
      <p:sp>
        <p:nvSpPr>
          <p:cNvPr id="21" name="Text 18"/>
          <p:cNvSpPr txBox="1"/>
          <p:nvPr/>
        </p:nvSpPr>
        <p:spPr>
          <a:xfrm>
            <a:off x="385876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9:00</a:t>
            </a:r>
            <a:endParaRPr lang="en-US" sz="1100" dirty="0"/>
          </a:p>
        </p:txBody>
      </p:sp>
      <p:sp>
        <p:nvSpPr>
          <p:cNvPr id="22" name="Text 19"/>
          <p:cNvSpPr txBox="1"/>
          <p:nvPr/>
        </p:nvSpPr>
        <p:spPr>
          <a:xfrm>
            <a:off x="548640" y="2267712"/>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اللُّغَةُ الْعَرَبِيَّةُ</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5669280" y="2881884"/>
            <a:ext cx="59710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السَّاعَةِ الْعَاشِرَةِ وَالرُّبُعِ</a:t>
            </a:r>
            <a:endParaRPr lang="ar-SA" sz="2200" dirty="0"/>
          </a:p>
        </p:txBody>
      </p:sp>
      <p:sp>
        <p:nvSpPr>
          <p:cNvPr id="27" name="Text 24"/>
          <p:cNvSpPr txBox="1"/>
          <p:nvPr/>
        </p:nvSpPr>
        <p:spPr>
          <a:xfrm>
            <a:off x="385876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10:15</a:t>
            </a:r>
            <a:endParaRPr lang="en-US" sz="1100" dirty="0"/>
          </a:p>
        </p:txBody>
      </p:sp>
      <p:sp>
        <p:nvSpPr>
          <p:cNvPr id="28" name="Text 25"/>
          <p:cNvSpPr txBox="1"/>
          <p:nvPr/>
        </p:nvSpPr>
        <p:spPr>
          <a:xfrm>
            <a:off x="548640" y="2881884"/>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الرِّيَاضِيَّاتُ</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5669280" y="3496056"/>
            <a:ext cx="59710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السَّاعَةِ الْحَادِيَةَ عَشْرَةَ وَالنِّصْفِ</a:t>
            </a:r>
            <a:endParaRPr lang="ar-SA" sz="2200" dirty="0"/>
          </a:p>
        </p:txBody>
      </p:sp>
      <p:sp>
        <p:nvSpPr>
          <p:cNvPr id="33" name="Text 30"/>
          <p:cNvSpPr txBox="1"/>
          <p:nvPr/>
        </p:nvSpPr>
        <p:spPr>
          <a:xfrm>
            <a:off x="385876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11:30</a:t>
            </a:r>
            <a:endParaRPr lang="en-US" sz="1100" dirty="0"/>
          </a:p>
        </p:txBody>
      </p:sp>
      <p:sp>
        <p:nvSpPr>
          <p:cNvPr id="34" name="Text 31"/>
          <p:cNvSpPr txBox="1"/>
          <p:nvPr/>
        </p:nvSpPr>
        <p:spPr>
          <a:xfrm>
            <a:off x="548640" y="3496056"/>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التَّرْبِيَةُ الْإِسْلَامِيَّةُ</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5669280" y="4110228"/>
            <a:ext cx="59710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السَّاعَةِ الثَّانِيَةَ عَشْرَةَ وَالنِّصْفِ</a:t>
            </a:r>
            <a:endParaRPr lang="ar-SA" sz="2200" dirty="0"/>
          </a:p>
        </p:txBody>
      </p:sp>
      <p:sp>
        <p:nvSpPr>
          <p:cNvPr id="39" name="Text 36"/>
          <p:cNvSpPr txBox="1"/>
          <p:nvPr/>
        </p:nvSpPr>
        <p:spPr>
          <a:xfrm>
            <a:off x="385876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12:30</a:t>
            </a:r>
            <a:endParaRPr lang="en-US" sz="1100" dirty="0"/>
          </a:p>
        </p:txBody>
      </p:sp>
      <p:sp>
        <p:nvSpPr>
          <p:cNvPr id="40" name="Text 37"/>
          <p:cNvSpPr txBox="1"/>
          <p:nvPr/>
        </p:nvSpPr>
        <p:spPr>
          <a:xfrm>
            <a:off x="548640" y="4110228"/>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الِاسْتِرَاحَةُ</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5669280" y="4724400"/>
            <a:ext cx="59710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السَّاعَةِ الْوَاحِدَةِ وَالرُّبُعِ</a:t>
            </a:r>
            <a:endParaRPr lang="ar-SA" sz="2200" dirty="0"/>
          </a:p>
        </p:txBody>
      </p:sp>
      <p:sp>
        <p:nvSpPr>
          <p:cNvPr id="43" name="Text 40"/>
          <p:cNvSpPr txBox="1"/>
          <p:nvPr/>
        </p:nvSpPr>
        <p:spPr>
          <a:xfrm>
            <a:off x="385876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1:15</a:t>
            </a:r>
            <a:endParaRPr lang="en-US" sz="1100" dirty="0"/>
          </a:p>
        </p:txBody>
      </p:sp>
      <p:sp>
        <p:nvSpPr>
          <p:cNvPr id="44" name="Text 41"/>
          <p:cNvSpPr txBox="1"/>
          <p:nvPr/>
        </p:nvSpPr>
        <p:spPr>
          <a:xfrm>
            <a:off x="548640" y="4724400"/>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الْعُلُومُ</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5669280" y="5338572"/>
            <a:ext cx="59710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السَّاعَةِ الثَّانِيَةِ وَالرُّبُعِ</a:t>
            </a:r>
            <a:endParaRPr lang="ar-SA" sz="2200" dirty="0"/>
          </a:p>
        </p:txBody>
      </p:sp>
      <p:sp>
        <p:nvSpPr>
          <p:cNvPr id="47" name="Text 44"/>
          <p:cNvSpPr txBox="1"/>
          <p:nvPr/>
        </p:nvSpPr>
        <p:spPr>
          <a:xfrm>
            <a:off x="385876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2:15</a:t>
            </a:r>
            <a:endParaRPr lang="en-US" sz="1100" dirty="0"/>
          </a:p>
        </p:txBody>
      </p:sp>
      <p:sp>
        <p:nvSpPr>
          <p:cNvPr id="48" name="Text 45"/>
          <p:cNvSpPr txBox="1"/>
          <p:nvPr/>
        </p:nvSpPr>
        <p:spPr>
          <a:xfrm>
            <a:off x="548640" y="5338572"/>
            <a:ext cx="31089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نِهَايَةُ الْعُلُومِ</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Task A: the break lasts 45 minutes — thalāthatu arbāʿi sāʿatin (three quarters of an hour) or khamsun wa-arbaʿūna daqīqatan.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PAST OR TO THE HOUR?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Past the hour, or to the hour?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 أَمْ إِلَّا؟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الرَّابِعَةُ وَالنِّصْفُ</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التَّاسِعَةُ وَالرُّبُعُ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السَّادِسَةُ وَالثُّلُثُ</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الثَّالِثَةُ وَخَمْسُ دَقَائِقَ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الْخَامِسَةُ إِلَّا رُبُعًا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الثَّامِنَةُ إِلَّا ثُلُثًا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الْعَاشِرَةُ إِلَّا عَشْرَ دَقَائِقَ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الثَّالِثَةُ إِلَّا خَمْسَ دَقَائِقَ</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the hour (wa)</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To the hour (illā)</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Past the hour (wa)</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الرَّابِعَةُ وَالنِّصْفُ</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التَّاسِعَةُ وَالرُّبُعُ</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السَّادِسَةُ وَالثُّلُثُ</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الثَّالِثَةُ وَخَمْسُ دَقَائِقَ</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To the hour (illā)</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الْخَامِسَةُ إِلَّا رُبُعًا</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الثَّامِنَةُ إِلَّا ثُلُثًا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الْعَاشِرَةُ إِلَّا عَشْرَ دَقَائِقَ</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الثَّالِثَةُ إِلَّا خَمْسَ دَقَائِقَ</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السَّاعَةُ الْأُولَى</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First or one?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السَّاعَةُ الثَّالِثُ</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الْخَامِسَةُ إِلَّا الرُّبُعُ</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Ending after illā?</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السَّاعَةُ الْأُولَى</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السَّاعَةُ الْوَاحِدَةُ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1:00 uses al-wāḥida (website trap).</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السَّاعَةُ الثَّالِثُ</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السَّاعَةُ الثَّالِثَةُ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Sāʿa is feminine → feminine ordinal.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الْخَامِسَةُ إِلَّا الرُّبُعُ</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الْخَامِسَةُ إِلَّا رُبُعًا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illā: rubʿan (website).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WE DO · GUIDED PRACTICE · TEACHER-WRITTEN QUESTIONS ON THE WEBSITE FORMULAS</a:t>
            </a:r>
            <a:endParaRPr lang="en-US" sz="934"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8:10.</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الْعَاشِرَةُ وَثَمَانِي دَقَائِقَ</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الثَّامِنَةُ إِلَّا عَشْرَ دَقَائِقَ</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الثَّامِنَةُ وَعَشْرُ دَقَائِقَ</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7:40.</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السَّابِعَةُ إِلَّا ثُلُثًا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الثَّامِنَةُ إِلَّا ثُلُثًا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السَّابِعَةُ وَالثُّلُثُ</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“8 p.m.”.</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الثَّامِنَةُ صَبَاحًا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الثَّامِنَةُ مَسَاءً</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الثَّامِنَةُ ظُهْرًا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“at seven o’clock”.</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السَّاعَةُ السَّابِعَةُ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السَّاعَةَ السَّابِعَةِ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السَّاعَةِ السَّابِعَةِ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8:10.</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الْعَاشِرَةُ وَثَمَانِي دَقَائِقَ</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الثَّامِنَةُ إِلَّا عَشْرَ دَقَائِقَ</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الثَّامِنَةُ وَعَشْرُ دَقَائِقَ</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Hour + wa + minutes.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7:40.</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السَّابِعَةُ إِلَّا ثُلُثًا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السَّاعَةُ الثَّامِنَةُ إِلَّا ثُلُثًا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السَّابِعَةُ وَالثُّلُثُ</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Next hour minus 20.</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“8 p.m.”.</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الثَّامِنَةُ صَبَاحًا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الثَّامِنَةُ مَسَاءً</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الثَّامِنَةُ ظُهْرًا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masāʾan = evening.</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“at seven o’clock”.</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السَّاعَةُ السَّابِعَةُ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السَّاعَةَ السَّابِعَةِ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السَّاعَةِ السَّابِعَةِ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fī: kasra on both words.</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WEBSITE HERITAGE LINK (SAMPLE TIMES)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Prayer timetable — London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مَوَاقِيتُ الصَّلَاةِ الْيَوْمَ فِي لَنْدَنَ: الْفَجْرُ: ٤:٤٥ صَبَاحًا. الظُّهْرُ: ١:١٥. الْعَصْرُ: ٥:٣٠. الْمَغْرِبُ: ٩:٢٠ مَسَاءً. الْعِشَاءُ: ١٠:٤٥. أَسْتَيْقِظُ لِصَلَاةِ الْفَجْرِ فِي السَّاعَةِ الْخَامِسَةِ إِلَّا رُبُعًا، ثُمَّ أَنَامُ قَلِيلًا. نُصَلِّي الْمَغْرِبَ فِي الْمَسْجِدِ فِي السَّاعَةِ التَّاسِعَةِ وَالثُّلُثِ.</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مَوَاقِيتُ الصَّلَاةِ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prayer times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أَسْتَيْقِظُ</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wake up</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قَلِيلًا</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little</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نُصَلِّي</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pray</a:t>
            </a:r>
            <a:endParaRPr lang="en-US" sz="10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Fajr in words?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الرَّابِعَةُ إِلَّا رُبُعًا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الْخَامِسَةُ إِلَّا رُبُعًا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الْخَامِسَةُ وَالرُّبُعُ</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ʿAṣr?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5:03</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5:30</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20 minutes in “9:20”?</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الثُّلُثِ</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الرُّبُعِ</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النِّصْفِ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prayer is at 10:45?</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Maghrib</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ʿIshāʾ</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Ẓuhr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Fajr in words?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الرَّابِعَةُ إِلَّا رُبُعًا</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الْخَامِسَةُ إِلَّا رُبُعًا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الْخَامِسَةُ وَالرُّبُعُ</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4:45 — next hour minus a quarter.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ʿAṣr?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3:05</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5:03</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5:30</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٥</a:t>
            </a:r>
            <a:pPr algn="l" indent="0" marL="0">
              <a:buNone/>
            </a:pPr>
            <a:r>
              <a:rPr lang="en-US" sz="1050" i="1" dirty="0">
                <a:solidFill>
                  <a:srgbClr val="8A6D1E"/>
                </a:solidFill>
                <a:latin typeface="Calibri" pitchFamily="34" charset="0"/>
                <a:cs typeface="Amiri" pitchFamily="2" charset="-78"/>
              </a:rPr>
              <a:t>:</a:t>
            </a:r>
            <a:pPr algn="l" indent="0" marL="0">
              <a:buNone/>
            </a:pPr>
            <a:r>
              <a:rPr lang="ar-SA" altLang="en-US" sz="1350" dirty="0">
                <a:solidFill>
                  <a:srgbClr val="8A6D1E"/>
                </a:solidFill>
                <a:latin typeface="Amiri" pitchFamily="2" charset="-78"/>
                <a:ea typeface="Amiri" pitchFamily="2" charset="-78"/>
                <a:cs typeface="Amiri" pitchFamily="2" charset="-78"/>
              </a:rPr>
              <a:t>٣٠</a:t>
            </a:r>
            <a:pPr algn="l" indent="0" marL="0">
              <a:buNone/>
            </a:pPr>
            <a:r>
              <a:rPr lang="en-US" sz="1050" i="1" dirty="0">
                <a:solidFill>
                  <a:srgbClr val="8A6D1E"/>
                </a:solidFill>
                <a:latin typeface="Calibri" pitchFamily="34" charset="0"/>
                <a:cs typeface="Amiri" pitchFamily="2" charset="-78"/>
              </a:rPr>
              <a:t> = al-khāmisatu wa-n-niṣf.</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20 minutes in “9:20”?</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الثُّلُثِ</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الرُّبُعِ</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النِّصْفِ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at-tāsiʿatu wa-th-thuluth.</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prayer is at 10:45?</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Maghrib</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ʿIshāʾ</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Ẓuhr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Al-ʿishāʾ: al-ḥādiyata ʿashrata illā rubʿan.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my daily rhythm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السَّاعَةُ الْآنَ؟ وَمَتَى تَسْتَيْقِظُ؟</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تَبْدَأُ الْمَدْرَسَةُ وَمَتَى تَنْتَهِي؟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يَوْمَكَ بِسِتَّةِ أَوْقَاتٍ عَلَى الْأَقَلِّ.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2" charset="-78"/>
                <a:ea typeface="Amiri" pitchFamily="2" charset="-78"/>
                <a:cs typeface="Amiri" pitchFamily="2" charset="-78"/>
              </a:rPr>
              <a:t>السَّاعَةُ الْآنَ ___ ، وَأَسْتَيْقِظُ فِي السَّاعَةِ ___ .</a:t>
            </a:r>
            <a:endParaRPr lang="ar-SA" sz="13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F2A37"/>
                </a:solidFill>
                <a:latin typeface="Amiri" pitchFamily="2" charset="-78"/>
                <a:ea typeface="Amiri" pitchFamily="2" charset="-78"/>
                <a:cs typeface="Amiri" pitchFamily="2" charset="-78"/>
              </a:rPr>
              <a:t>تَبْدَأُ الْمَدْرَسَةُ فِي السَّاعَةِ ___ وَتَنْتَهِي فِي ___ .</a:t>
            </a:r>
            <a:endParaRPr lang="ar-SA" sz="12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2" charset="-78"/>
                <a:ea typeface="Amiri" pitchFamily="2" charset="-78"/>
                <a:cs typeface="Amiri" pitchFamily="2" charset="-78"/>
              </a:rPr>
              <a:t>أَتَنَاوَلُ الْعَشَاءَ فِي ___ مَسَاءً، وَأَنَامُ فِي ___ لَيْلًا.</a:t>
            </a:r>
            <a:endParaRPr lang="ar-SA" sz="11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مَتَى تَنَامِينَ؟</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do you go to sleep?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أَنَامُ فِي السَّاعَةِ الْعَاشِرَةِ إِلَّا رُبُعًا، وَأَسْتَيْقِظُ فِي السَّادِسَةِ وَالنِّصْفِ صَبَاحًا لِصَلَاةِ الْفَجْرِ.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sleep at quarter to ten, and I wake up at half past six in the morning for Fajr prayer.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scaffold: wake up, Fajr, school, dinner, sleep.</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fī s-sāʿati + ordinal.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half, quarter, third and illā.</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Plus ṣabāḥan / masāʾan twice.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weekend timetable with a 24-hour time read naturally.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Exact minutes with the flip.</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فِي السَّاعَةِ ______ إِلَّا رُبُعًا.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at quarter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فِي السَّاعَةِ ______ وَالثُّلُثِ.</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at twenty past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مَسَاءً.</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in the evening</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يَسْتَمِرُّ الدَّرْسُ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lesson lasts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أَسْتَيْقِظُ فِي السَّاعَةِ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wake up 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أُصَلِّي الْفَجْرَ فِي السَّاعَةِ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pray Fajr at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تَبْدَأُ الْمَدْرَسَةُ فِي السَّاعَةِ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School starts 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أَنَامُ فِي السَّاعَةِ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sleep 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السَّاعَةُ الْوَاحِدَةُ  ·  الثَّانِيَةُ  ·  الثَّالِثَةُ  ·  وَالنِّصْفُ  ·  وَالرُّبُعُ  ·  وَالثُّلُثُ  ·  إِلَّا رُبُعًا  ·  إِلَّا ثُلُثًا  ·  دَقَائِقَ  ·  صَبَاحًا  ·  ظُهْرًا  ·  مَسَاءً  ·  لَيْلًا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“Hot” task: write this week’s five prayer times in full words with ṣabāḥan / masāʾan, plus two comparison sentences.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Five prayer times in full words.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Feminine ordinals throughout.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illā time with -an.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Exact minutes with the 3–10 flip.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comparisons (qabla / baʿda).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مَوَاقِيتُ الصَّلَاةِ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prayer times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تَمَامًا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exactly</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after</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يَسْتَمِرُّ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lasts</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ثَلَاثَةُ أَرْبَاعِ سَاعَةٍ</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three quarters of an hour</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يَوْمُ السَّبْتِ عِنْدِي هَادِئٌ. أَسْتَيْقِظُ فِي السَّاعَةِ الْخَامِسَةِ إِلَّا رُبُعًا لِصَلَاةِ الْفَجْرِ، ثُمَّ أَنَامُ حَتَّى السَّابِعَةِ وَالنِّصْفِ صَبَاحًا. فِي السَّاعَةِ التَّاسِعَةِ تَمَامًا أَذْهَبُ إِلَى دَرْسِ الْقُرْآنِ، وَيَسْتَمِرُّ الدَّرْسُ سَاعَةً وَنِصْفًا. أَتَنَاوَلُ الْغَدَاءَ مَعَ أُسْرَتِي فِي الْوَاحِدَةِ وَالثُّلُثِ بَعْدَ الظُّهْرِ. فِي الْخَامِسَةِ وَعَشْرِ دَقَائِقَ أَلْعَبُ كُرَةَ الْقَدَمِ. نُصَلِّي الْمَغْرِبَ فِي السَّاعَةِ الثَّامِنَةِ إِلَّا خَمْسَ دَقَائِقَ مَسَاءً، وَأَنَامُ فِي الْعَاشِرَةِ لَيْلًا.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Saturday is calm. I wake up at quarter to five for Fajr prayer, then I sleep until half past seven in the morning. At nine o’clock exactly I go to my Qur’an lesson, which lasts an hour and a half. I have lunch with my family at twenty past one in the afternoon. At ten past five I play football. We pray Maghrib at five to eight in the evening, and I sleep at ten at night.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past (wa)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to (illā)</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exact minutes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part of day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clock ordinals are feminine (al-wāḥida for 1:00).</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half, quarter and third past.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the NEXT hour before illā.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minutes use the flip (khamsu daqāʾiq).</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read 24-hour times naturally with masāʾan.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السَّاعَةُ الْعَاشِرَةُ إِلَّا عَشْرَ دَقَائِقَ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9:50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10:10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10:50</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12:00 noon.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الثَّانِيَةُ ظُهْرًا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الثَّانِيَةَ عَشْرَةَ ظُهْرًا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الْعَاشِرَةُ ظُهْرًا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9:15.</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التَّاسِعَةُ وَالرُّبُعُ</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التَّاسِعَةُ إِلَّا رُبُعًا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الْعَاشِرَةُ وَالرُّبُعُ</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السَّاعَةُ الْعَاشِرَةُ إِلَّا عَشْرَ دَقَائِقَ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9:50</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10:10</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10:50</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Ten minus ten minutes.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12:00 noon.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الثَّانِيَةُ ظُهْرًا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الثَّانِيَةَ عَشْرَةَ ظُهْرًا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الْعَاشِرَةُ ظُهْرًا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Compound feminine ordinal.</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9:15.</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التَّاسِعَةُ وَالرُّبُعُ</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التَّاسِعَةُ إِلَّا رُبُعًا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الْعَاشِرَةُ وَالرُّبُعُ</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wa-r-rubuʿ = quarter past.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GM-NUM-02 · Numbers and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Before GM-NUM-03: get ready at home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GM-NUM-03 · Age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الْعُمْرُ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age</a:t>
            </a:r>
            <a:pPr indent="0" marL="0">
              <a:buNone/>
            </a:pPr>
            <a:r>
              <a:rPr lang="ar-SA" sz="1000" i="1" dirty="0">
                <a:solidFill>
                  <a:srgbClr val="5A6472"/>
                </a:solidFill>
                <a:latin typeface="Calibri" pitchFamily="34" charset="0"/>
                <a:ea typeface="Amiri" pitchFamily="2" charset="-78"/>
                <a:cs typeface="Amiri" pitchFamily="2" charset="-78"/>
              </a:rPr>
              <a:t>  كَمْ عُمْرُكَ؟</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سَنَةٌ · سَنَوَاتٌ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year · years</a:t>
            </a:r>
            <a:pPr indent="0" marL="0">
              <a:buNone/>
            </a:pPr>
            <a:r>
              <a:rPr lang="ar-SA" sz="1000" i="1" dirty="0">
                <a:solidFill>
                  <a:srgbClr val="5A6472"/>
                </a:solidFill>
                <a:latin typeface="Calibri" pitchFamily="34" charset="0"/>
                <a:ea typeface="Amiri" pitchFamily="2" charset="-78"/>
                <a:cs typeface="Amiri" pitchFamily="2" charset="-78"/>
              </a:rPr>
              <a:t>  خَمْسُ سَنَوَاتٍ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عَامٌ · أَعْوَامٌ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year (also)</a:t>
            </a:r>
            <a:pPr indent="0" marL="0">
              <a:buNone/>
            </a:pPr>
            <a:r>
              <a:rPr lang="ar-SA" sz="1000" i="1" dirty="0">
                <a:solidFill>
                  <a:srgbClr val="5A6472"/>
                </a:solidFill>
                <a:latin typeface="Calibri" pitchFamily="34" charset="0"/>
                <a:ea typeface="Amiri" pitchFamily="2" charset="-78"/>
                <a:cs typeface="Amiri" pitchFamily="2" charset="-78"/>
              </a:rPr>
              <a:t>  عَشَرَةُ أَعْوَامٍ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أَكْبَرُ مِنْ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older than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أَصْغَرُ مِنْ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younger than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Sana (year) is feminine. Is it khamsatu sanawātin or khamsu sanawātin?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______ سَنَوَاتٍ</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“Mild”: eight clock faces labelled in Arabic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“Spicy”: six sentences about your school day.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“Hot”: this week’s prayer timetable in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GM-NUM-02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GM-NUM-03 · Age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الْعُمْرُ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kami s-sāʿatu? · as-sāʿa + feminine ordinal (1:00 = al-wāḥida) · wa + niṣf / rubuʿ / thuluth = past · next hour + illā rubʿan = to · fī s-sāʿati … ṣabāḥan / masāʾan.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GM-NUM-02 · Telling the Time</dc:title>
  <dc:subject>PptxGenJS Presentation</dc:subject>
  <dc:creator>Al Madina Online School · Arabic Department</dc:creator>
  <cp:lastModifiedBy>Al Madina Online School · Arabic Department</cp:lastModifiedBy>
  <cp:revision>1</cp:revision>
  <dcterms:created xsi:type="dcterms:W3CDTF">2026-10-11T06:42:20Z</dcterms:created>
  <dcterms:modified xsi:type="dcterms:W3CDTF">2026-10-11T06:42:20Z</dcterms:modified>
</cp:coreProperties>
</file>