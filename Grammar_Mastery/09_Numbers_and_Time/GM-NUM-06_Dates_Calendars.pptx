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Numbers and Time › GM-NUM-06 (“— Dates &amp; Calendars · Numeracy Mastery 06”).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seven days (with the numbers hidden inside) and the twelve months in Arabic script; مَا الْيَوْمُ؟ · أَمْسِ · الْيَوْمَ · غَدًا. Develop: full dates 1st–10th with the masculine ordinal (الْخَامِسُ مِنْ مَارِس), birthdays and school events, فِي الْخَامِسِ مِنْ … . Stretch: dates above 10, years (سَنَةَ أَلْفَيْنِ وَسَبْعٍ وَعِشْرِينَ) and date calculations.
• Website ear trap: يُونْيُو (June, nūn) vs يُولْيُو (July, lām) — “N for nūn, L for lām”.
• The gender contrast (website): clock ordinals are feminine (sāʿa), date ordinals masculine (yawm). The system never changed.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GM-NUM-01 and NUM-02 (ordinals and gender) and the prep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Date = masculine ordinal + min (shahri) + month. After fī the ordinal takes kasra: fī l-khāmisi min māris.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counted week”. Count the five on your fingers.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twelve months”. Spellings follow the website (some Arab countries use other month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(4 min) — website “Saying the date”. Birthday question: matā ʿīdu mīlādika? (website corrected — see file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 formulas and traps.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“School calendar” (answers: 7 Sep · 22 Oct · 19 Dec · 4 Jan).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Task A. Watch the June / July trap in rows 2 and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day students say the number hidden inside (al-aḥad = 1 …); for each month, its English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day students say the number hidden inside (al-aḥad = 1 …); for each month, its English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questions on the website formula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listening “Important dates” (as a reading text). Read it aloud once while students follow; then they hunt for today’s grammar.
Task: Website: write the three birthdays in day / month format.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listening script used as a reading text, with one added sentence;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examiner questions. Sequence: ● 10s think → ↔ 45s rehearse aloud with mic muted → ◎ two named students on open mic (warned in advance) → + ? the class types one follow-up in chat → ↺ one student summarises.
Routes: Core uses the Core prompt and stem; Develop the Develop prompt; Stretch the last prompt.
Website: birthday, two school dates, a family celebration, a holiday and one date above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8–10 Arabic sentences about important dates in your year.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capstone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(GM-VS-01 · Word Order and Sentence Roles) will spend class time USING this language, so students prepare it tonight — short, simple, easy to access (school guidance: “Simple, Short, Interesting, Relevant, Easy to access”). The five words prepare GM-VS-01 (website Verbal Sentences: word order and sentence roles).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NUMBERS AND TIME  ·  GM-NUM-06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GM-NUM-06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Dates and Calendars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التَّارِيخُ وَالتَّقْوِيمُ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The week counts: al-aḥad (day one) to al-khamīs (day five), then al-jumuʿa and as-sabt. A date = masculine ordinal + min + month: al-khāmisu min māris (5 March) — masculine because yawm is masculine.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GM-NUM-06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Numbers and Time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week; the months; the date formula; important dates.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 the school calendar; sort days / months;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GM-VS-01.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fifth” (masculine).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خَمْسَةٌ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5:00 (clock time).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الْخَامِسَةُ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الْخَامِسُ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خَمْسَةٌ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يَوْمٌ</a:t>
            </a:r>
            <a:pPr algn="l" indent="0" marL="0">
              <a:buNone/>
            </a:pPr>
            <a:r>
              <a:rPr lang="en-US" sz="1250" b="1" dirty="0">
                <a:solidFill>
                  <a:srgbClr val="1B3B6F"/>
                </a:solidFill>
                <a:latin typeface="Calibri" pitchFamily="34" charset="0"/>
                <a:ea typeface="Calibri" pitchFamily="34" charset="-122"/>
                <a:cs typeface="Calibri" pitchFamily="34" charset="-120"/>
              </a:rPr>
              <a:t> masculine or feminine?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feminine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masculine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غَدًا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yesterday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today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tomorrow</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month is </a:t>
            </a:r>
            <a:pPr algn="l" indent="0" marL="0">
              <a:buNone/>
            </a:pPr>
            <a:r>
              <a:rPr lang="ar-SA" altLang="en-US" sz="1650" b="1" dirty="0">
                <a:solidFill>
                  <a:srgbClr val="1B3B6F"/>
                </a:solidFill>
                <a:latin typeface="Amiri" pitchFamily="34" charset="0"/>
                <a:ea typeface="Amiri" pitchFamily="34" charset="-122"/>
                <a:cs typeface="Amiri" pitchFamily="34" charset="-120"/>
              </a:rPr>
              <a:t>رَمَضَانُ</a:t>
            </a:r>
            <a:pPr algn="l" indent="0" marL="0">
              <a:buNone/>
            </a:pPr>
            <a:r>
              <a:rPr lang="en-US" sz="1250" b="1" dirty="0">
                <a:solidFill>
                  <a:srgbClr val="1B3B6F"/>
                </a:solidFill>
                <a:latin typeface="Calibri" pitchFamily="34" charset="0"/>
                <a:ea typeface="Calibri" pitchFamily="34" charset="-122"/>
                <a:cs typeface="Calibri" pitchFamily="34" charset="-120"/>
              </a:rPr>
              <a:t> in?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Hijri calendar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Western calendar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fifth” (masculine).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الْخَامِسَةُ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الْخَامِسُ</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خَمْسَةٌ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GM-NUM-01 ordinals.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5:00 (clock time).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الْخَامِسَةُ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الْخَامِسُ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خَمْسَةٌ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GM-NUM-02: sāʿa is feminine.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يَوْمٌ</a:t>
            </a:r>
            <a:pPr algn="l" indent="0" marL="0">
              <a:buNone/>
            </a:pPr>
            <a:r>
              <a:rPr lang="en-US" sz="1250" b="1" dirty="0">
                <a:solidFill>
                  <a:srgbClr val="1B3B6F"/>
                </a:solidFill>
                <a:latin typeface="Calibri" pitchFamily="34" charset="0"/>
                <a:ea typeface="Calibri" pitchFamily="34" charset="-122"/>
                <a:cs typeface="Calibri" pitchFamily="34" charset="-120"/>
              </a:rPr>
              <a:t> masculine or feminine?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feminine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masculine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tāʾ marbūṭa.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غَدًا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yesterday</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today</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tomorrow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GM-V-06.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month is </a:t>
            </a:r>
            <a:pPr algn="l" indent="0" marL="0">
              <a:buNone/>
            </a:pPr>
            <a:r>
              <a:rPr lang="ar-SA" altLang="en-US" sz="1650" b="1" dirty="0">
                <a:solidFill>
                  <a:srgbClr val="1B3B6F"/>
                </a:solidFill>
                <a:latin typeface="Amiri" pitchFamily="34" charset="0"/>
                <a:ea typeface="Amiri" pitchFamily="34" charset="-122"/>
                <a:cs typeface="Amiri" pitchFamily="34" charset="-120"/>
              </a:rPr>
              <a:t>رَمَضَانُ</a:t>
            </a:r>
            <a:pPr algn="l" indent="0" marL="0">
              <a:buNone/>
            </a:pPr>
            <a:r>
              <a:rPr lang="en-US" sz="1250" b="1" dirty="0">
                <a:solidFill>
                  <a:srgbClr val="1B3B6F"/>
                </a:solidFill>
                <a:latin typeface="Calibri" pitchFamily="34" charset="0"/>
                <a:ea typeface="Calibri" pitchFamily="34" charset="-122"/>
                <a:cs typeface="Calibri" pitchFamily="34" charset="-120"/>
              </a:rPr>
              <a:t> in?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Hijri calendar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Western calendar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Date = masculine ordinal + min (shahri) + month. After fī the ordinal takes kasra: fī l-khāmisi min māris.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الْخَامِسُ</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مِنْ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مَارِس</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فِي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الْعَاشِرِ</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مِنْ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يُونْيُو</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seven days of the week.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and write the twelve months in Arabic script.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a full date with a masculine ordinal.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Talk about birthdays, Eids and holidays.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what day it is today.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name any month in Arabic.</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say dates 1st–10th: al-khāmisu min māris.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answer matā ʿīdu mīlādika?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say a full date with the year.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calculate the days between two dates.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التَّارِيخُ</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at-tā-rī-khu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مَا التَّارِيخُ الْيَوْمَ؟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التَّقْوِيمُ</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calendar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at-taq-wī-mu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الْمِيلَادِيُّ · الْهِجْرِيُّ</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الْأُسْبُوعُ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al-us-bū-ʿu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سَبْعَةُ أَيَّامٍ</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الشَّهْرُ · الشُّهُورُ</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month · months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ash-shah-ru · ash-shu-hū-ru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شَهْرُ مَايُو</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عِيدُ مِيلَادٍ</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birthday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ʿī-du mī-lā-din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عِيدُ مِيلَادِي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الْعُطْلَةُ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holiday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al-ʿuṭ-la-tu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الْعُطْلَةُ الصَّيْفِيَّةُ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DATES · PART 1 · THE COUNTED WEEK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numbers hiding in the days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أَيَّامُ الْأُسْبُوعِ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Number inside</a:t>
            </a:r>
            <a:endParaRPr lang="en-US" sz="1100" dirty="0"/>
          </a:p>
        </p:txBody>
      </p:sp>
      <p:sp>
        <p:nvSpPr>
          <p:cNvPr id="17" name="Text 14"/>
          <p:cNvSpPr txBox="1"/>
          <p:nvPr/>
        </p:nvSpPr>
        <p:spPr>
          <a:xfrm>
            <a:off x="38221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Day</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6236208" y="2267712"/>
            <a:ext cx="5422392" cy="471569"/>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وَاحِدٌ</a:t>
            </a:r>
            <a:pPr algn="l" indent="0" marL="0">
              <a:buNone/>
            </a:pPr>
            <a:r>
              <a:rPr lang="en-US" sz="1100" dirty="0">
                <a:solidFill>
                  <a:srgbClr val="5A6472"/>
                </a:solidFill>
                <a:latin typeface="Calibri" pitchFamily="34" charset="0"/>
                <a:ea typeface="Calibri" pitchFamily="34" charset="-122"/>
                <a:cs typeface="Calibri" pitchFamily="34" charset="-120"/>
              </a:rPr>
              <a:t> — day one</a:t>
            </a:r>
            <a:endParaRPr lang="en-US" sz="1100" dirty="0"/>
          </a:p>
        </p:txBody>
      </p:sp>
      <p:sp>
        <p:nvSpPr>
          <p:cNvPr id="21" name="Text 18"/>
          <p:cNvSpPr txBox="1"/>
          <p:nvPr/>
        </p:nvSpPr>
        <p:spPr>
          <a:xfrm>
            <a:off x="3858768" y="2267712"/>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Sunday</a:t>
            </a:r>
            <a:endParaRPr lang="en-US" sz="1100" dirty="0"/>
          </a:p>
        </p:txBody>
      </p:sp>
      <p:sp>
        <p:nvSpPr>
          <p:cNvPr id="22" name="Text 19"/>
          <p:cNvSpPr txBox="1"/>
          <p:nvPr/>
        </p:nvSpPr>
        <p:spPr>
          <a:xfrm>
            <a:off x="548640" y="2267712"/>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يَوْمُ الْأَحَدِ</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6236208" y="2794145"/>
            <a:ext cx="5422392" cy="471569"/>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اثْنَانِ</a:t>
            </a:r>
            <a:pPr algn="l" indent="0" marL="0">
              <a:buNone/>
            </a:pPr>
            <a:r>
              <a:rPr lang="en-US" sz="1100" dirty="0">
                <a:solidFill>
                  <a:srgbClr val="5A6472"/>
                </a:solidFill>
                <a:latin typeface="Calibri" pitchFamily="34" charset="0"/>
                <a:ea typeface="Calibri" pitchFamily="34" charset="-122"/>
                <a:cs typeface="Calibri" pitchFamily="34" charset="-120"/>
              </a:rPr>
              <a:t> — day two</a:t>
            </a:r>
            <a:endParaRPr lang="en-US" sz="1100" dirty="0"/>
          </a:p>
        </p:txBody>
      </p:sp>
      <p:sp>
        <p:nvSpPr>
          <p:cNvPr id="27" name="Text 24"/>
          <p:cNvSpPr txBox="1"/>
          <p:nvPr/>
        </p:nvSpPr>
        <p:spPr>
          <a:xfrm>
            <a:off x="3858768" y="2794145"/>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Monday</a:t>
            </a:r>
            <a:endParaRPr lang="en-US" sz="1100" dirty="0"/>
          </a:p>
        </p:txBody>
      </p:sp>
      <p:sp>
        <p:nvSpPr>
          <p:cNvPr id="28" name="Text 25"/>
          <p:cNvSpPr txBox="1"/>
          <p:nvPr/>
        </p:nvSpPr>
        <p:spPr>
          <a:xfrm>
            <a:off x="548640" y="2794145"/>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يَوْمُ الِاثْنَيْنِ</a:t>
            </a:r>
            <a:endParaRPr lang="ar-SA" sz="22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6236208" y="3320578"/>
            <a:ext cx="5422392" cy="471569"/>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ثَلَاثَةٌ</a:t>
            </a:r>
            <a:pPr algn="l" indent="0" marL="0">
              <a:buNone/>
            </a:pPr>
            <a:r>
              <a:rPr lang="en-US" sz="1100" dirty="0">
                <a:solidFill>
                  <a:srgbClr val="5A6472"/>
                </a:solidFill>
                <a:latin typeface="Calibri" pitchFamily="34" charset="0"/>
                <a:ea typeface="Calibri" pitchFamily="34" charset="-122"/>
                <a:cs typeface="Calibri" pitchFamily="34" charset="-120"/>
              </a:rPr>
              <a:t> — day three</a:t>
            </a:r>
            <a:endParaRPr lang="en-US" sz="1100" dirty="0"/>
          </a:p>
        </p:txBody>
      </p:sp>
      <p:sp>
        <p:nvSpPr>
          <p:cNvPr id="33" name="Text 30"/>
          <p:cNvSpPr txBox="1"/>
          <p:nvPr/>
        </p:nvSpPr>
        <p:spPr>
          <a:xfrm>
            <a:off x="3858768" y="3320578"/>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Tuesday</a:t>
            </a:r>
            <a:endParaRPr lang="en-US" sz="1100" dirty="0"/>
          </a:p>
        </p:txBody>
      </p:sp>
      <p:sp>
        <p:nvSpPr>
          <p:cNvPr id="34" name="Text 31"/>
          <p:cNvSpPr txBox="1"/>
          <p:nvPr/>
        </p:nvSpPr>
        <p:spPr>
          <a:xfrm>
            <a:off x="548640" y="3320578"/>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يَوْمُ الثُّلَاثَاءِ</a:t>
            </a:r>
            <a:endParaRPr lang="ar-SA" sz="22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6236208" y="3847011"/>
            <a:ext cx="5422392" cy="471569"/>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أَرْبَعَةٌ</a:t>
            </a:r>
            <a:pPr algn="l" indent="0" marL="0">
              <a:buNone/>
            </a:pPr>
            <a:r>
              <a:rPr lang="en-US" sz="1100" dirty="0">
                <a:solidFill>
                  <a:srgbClr val="5A6472"/>
                </a:solidFill>
                <a:latin typeface="Calibri" pitchFamily="34" charset="0"/>
                <a:ea typeface="Calibri" pitchFamily="34" charset="-122"/>
                <a:cs typeface="Calibri" pitchFamily="34" charset="-120"/>
              </a:rPr>
              <a:t> — day four</a:t>
            </a:r>
            <a:endParaRPr lang="en-US" sz="1100" dirty="0"/>
          </a:p>
        </p:txBody>
      </p:sp>
      <p:sp>
        <p:nvSpPr>
          <p:cNvPr id="39" name="Text 36"/>
          <p:cNvSpPr txBox="1"/>
          <p:nvPr/>
        </p:nvSpPr>
        <p:spPr>
          <a:xfrm>
            <a:off x="3858768" y="3847011"/>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Wednesday</a:t>
            </a:r>
            <a:endParaRPr lang="en-US" sz="1100" dirty="0"/>
          </a:p>
        </p:txBody>
      </p:sp>
      <p:sp>
        <p:nvSpPr>
          <p:cNvPr id="40" name="Text 37"/>
          <p:cNvSpPr txBox="1"/>
          <p:nvPr/>
        </p:nvSpPr>
        <p:spPr>
          <a:xfrm>
            <a:off x="548640" y="3847011"/>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يَوْمُ الْأَرْبِعَاءِ</a:t>
            </a:r>
            <a:endParaRPr lang="ar-SA" sz="2200" dirty="0"/>
          </a:p>
        </p:txBody>
      </p:sp>
      <p:sp>
        <p:nvSpPr>
          <p:cNvPr id="41" name="Shape 38"/>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4" name="Text 41"/>
          <p:cNvSpPr txBox="1"/>
          <p:nvPr/>
        </p:nvSpPr>
        <p:spPr>
          <a:xfrm>
            <a:off x="6236208" y="4373445"/>
            <a:ext cx="5422392" cy="471569"/>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خَمْسَةٌ</a:t>
            </a:r>
            <a:pPr algn="l" indent="0" marL="0">
              <a:buNone/>
            </a:pPr>
            <a:r>
              <a:rPr lang="en-US" sz="1100" dirty="0">
                <a:solidFill>
                  <a:srgbClr val="5A6472"/>
                </a:solidFill>
                <a:latin typeface="Calibri" pitchFamily="34" charset="0"/>
                <a:ea typeface="Calibri" pitchFamily="34" charset="-122"/>
                <a:cs typeface="Calibri" pitchFamily="34" charset="-120"/>
              </a:rPr>
              <a:t> — day five</a:t>
            </a:r>
            <a:endParaRPr lang="en-US" sz="1100" dirty="0"/>
          </a:p>
        </p:txBody>
      </p:sp>
      <p:sp>
        <p:nvSpPr>
          <p:cNvPr id="45" name="Text 42"/>
          <p:cNvSpPr txBox="1"/>
          <p:nvPr/>
        </p:nvSpPr>
        <p:spPr>
          <a:xfrm>
            <a:off x="3858768" y="4373445"/>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Thursday</a:t>
            </a:r>
            <a:endParaRPr lang="en-US" sz="1100" dirty="0"/>
          </a:p>
        </p:txBody>
      </p:sp>
      <p:sp>
        <p:nvSpPr>
          <p:cNvPr id="46" name="Text 43"/>
          <p:cNvSpPr txBox="1"/>
          <p:nvPr/>
        </p:nvSpPr>
        <p:spPr>
          <a:xfrm>
            <a:off x="548640" y="4373445"/>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يَوْمُ الْخَمِيسِ</a:t>
            </a:r>
            <a:endParaRPr lang="ar-SA" sz="2200" dirty="0"/>
          </a:p>
        </p:txBody>
      </p:sp>
      <p:sp>
        <p:nvSpPr>
          <p:cNvPr id="47" name="Shape 44"/>
          <p:cNvSpPr/>
          <p:nvPr/>
        </p:nvSpPr>
        <p:spPr>
          <a:xfrm>
            <a:off x="11091672" y="4419165"/>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4191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Shape 46"/>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0" name="Text 47"/>
          <p:cNvSpPr txBox="1"/>
          <p:nvPr/>
        </p:nvSpPr>
        <p:spPr>
          <a:xfrm>
            <a:off x="6236208" y="4899878"/>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day of gathering (Jumuʿa)</a:t>
            </a:r>
            <a:endParaRPr lang="en-US" sz="1100" dirty="0"/>
          </a:p>
        </p:txBody>
      </p:sp>
      <p:sp>
        <p:nvSpPr>
          <p:cNvPr id="51" name="Text 48"/>
          <p:cNvSpPr txBox="1"/>
          <p:nvPr/>
        </p:nvSpPr>
        <p:spPr>
          <a:xfrm>
            <a:off x="3858768" y="4899878"/>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Friday</a:t>
            </a:r>
            <a:endParaRPr lang="en-US" sz="1100" dirty="0"/>
          </a:p>
        </p:txBody>
      </p:sp>
      <p:sp>
        <p:nvSpPr>
          <p:cNvPr id="52" name="Text 49"/>
          <p:cNvSpPr txBox="1"/>
          <p:nvPr/>
        </p:nvSpPr>
        <p:spPr>
          <a:xfrm>
            <a:off x="548640" y="4899878"/>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يَوْمُ الْجُمُعَةِ</a:t>
            </a:r>
            <a:endParaRPr lang="ar-SA" sz="2200" dirty="0"/>
          </a:p>
        </p:txBody>
      </p:sp>
      <p:sp>
        <p:nvSpPr>
          <p:cNvPr id="53" name="Shape 50"/>
          <p:cNvSpPr/>
          <p:nvPr/>
        </p:nvSpPr>
        <p:spPr>
          <a:xfrm>
            <a:off x="11091672" y="494559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9455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5" name="Shape 52"/>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6" name="Text 53"/>
          <p:cNvSpPr txBox="1"/>
          <p:nvPr/>
        </p:nvSpPr>
        <p:spPr>
          <a:xfrm>
            <a:off x="6236208" y="5426311"/>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learn it as a word</a:t>
            </a:r>
            <a:endParaRPr lang="en-US" sz="1100" dirty="0"/>
          </a:p>
        </p:txBody>
      </p:sp>
      <p:sp>
        <p:nvSpPr>
          <p:cNvPr id="57" name="Text 54"/>
          <p:cNvSpPr txBox="1"/>
          <p:nvPr/>
        </p:nvSpPr>
        <p:spPr>
          <a:xfrm>
            <a:off x="3858768" y="5426311"/>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Saturday</a:t>
            </a:r>
            <a:endParaRPr lang="en-US" sz="1100" dirty="0"/>
          </a:p>
        </p:txBody>
      </p:sp>
      <p:sp>
        <p:nvSpPr>
          <p:cNvPr id="58" name="Text 55"/>
          <p:cNvSpPr txBox="1"/>
          <p:nvPr/>
        </p:nvSpPr>
        <p:spPr>
          <a:xfrm>
            <a:off x="548640" y="5426311"/>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يَوْمُ السَّبْتِ</a:t>
            </a:r>
            <a:endParaRPr lang="ar-SA" sz="2200" dirty="0"/>
          </a:p>
        </p:txBody>
      </p:sp>
      <p:sp>
        <p:nvSpPr>
          <p:cNvPr id="59" name="Shape 56"/>
          <p:cNvSpPr/>
          <p:nvPr/>
        </p:nvSpPr>
        <p:spPr>
          <a:xfrm>
            <a:off x="11091672" y="5472031"/>
            <a:ext cx="548640" cy="182880"/>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1091672" y="54720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1" name="Text 5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memory gift: you only truly memorise TWO days — al-jumuʿa and as-sabt. Ask mā l-yawm? — al-yawmu yawmu l-khamīs. amsi · al-yawma · ghadan.</a:t>
            </a:r>
            <a:endParaRPr lang="en-US" sz="11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DATES · PART 2 · THE TWELVE MONTHS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Western months in Arabic script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الشُّهُورُ الْمِيلَادِيَّةُ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88752" y="1810512"/>
            <a:ext cx="1069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82113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p>
        </p:txBody>
      </p:sp>
      <p:sp>
        <p:nvSpPr>
          <p:cNvPr id="18" name="Text 15"/>
          <p:cNvSpPr txBox="1"/>
          <p:nvPr/>
        </p:nvSpPr>
        <p:spPr>
          <a:xfrm>
            <a:off x="674827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9" name="Text 16"/>
          <p:cNvSpPr txBox="1"/>
          <p:nvPr/>
        </p:nvSpPr>
        <p:spPr>
          <a:xfrm>
            <a:off x="43708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p>
        </p:txBody>
      </p:sp>
      <p:sp>
        <p:nvSpPr>
          <p:cNvPr id="20" name="Text 17"/>
          <p:cNvSpPr txBox="1"/>
          <p:nvPr/>
        </p:nvSpPr>
        <p:spPr>
          <a:xfrm>
            <a:off x="290779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21" name="Text 18"/>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p>
        </p:txBody>
      </p:sp>
      <p:sp>
        <p:nvSpPr>
          <p:cNvPr id="22" name="Shape 19"/>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3" name="Text 20"/>
          <p:cNvSpPr txBox="1"/>
          <p:nvPr/>
        </p:nvSpPr>
        <p:spPr>
          <a:xfrm>
            <a:off x="10625328" y="2267712"/>
            <a:ext cx="1033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Sep</a:t>
            </a:r>
            <a:endParaRPr lang="en-US" sz="1100" dirty="0"/>
          </a:p>
        </p:txBody>
      </p:sp>
      <p:sp>
        <p:nvSpPr>
          <p:cNvPr id="24" name="Text 21"/>
          <p:cNvSpPr txBox="1"/>
          <p:nvPr/>
        </p:nvSpPr>
        <p:spPr>
          <a:xfrm>
            <a:off x="822960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سِبْتَمْبِر</a:t>
            </a:r>
            <a:endParaRPr lang="ar-SA" sz="2400" dirty="0"/>
          </a:p>
        </p:txBody>
      </p:sp>
      <p:sp>
        <p:nvSpPr>
          <p:cNvPr id="25" name="Text 22"/>
          <p:cNvSpPr txBox="1"/>
          <p:nvPr/>
        </p:nvSpPr>
        <p:spPr>
          <a:xfrm>
            <a:off x="678484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May</a:t>
            </a:r>
            <a:endParaRPr lang="en-US" sz="1100" dirty="0"/>
          </a:p>
        </p:txBody>
      </p:sp>
      <p:sp>
        <p:nvSpPr>
          <p:cNvPr id="26" name="Text 23"/>
          <p:cNvSpPr txBox="1"/>
          <p:nvPr/>
        </p:nvSpPr>
        <p:spPr>
          <a:xfrm>
            <a:off x="438912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مَايُو</a:t>
            </a:r>
            <a:endParaRPr lang="ar-SA" sz="2400" dirty="0"/>
          </a:p>
        </p:txBody>
      </p:sp>
      <p:sp>
        <p:nvSpPr>
          <p:cNvPr id="27" name="Text 24"/>
          <p:cNvSpPr txBox="1"/>
          <p:nvPr/>
        </p:nvSpPr>
        <p:spPr>
          <a:xfrm>
            <a:off x="294436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Jan</a:t>
            </a:r>
            <a:endParaRPr lang="en-US" sz="1100" dirty="0"/>
          </a:p>
        </p:txBody>
      </p:sp>
      <p:sp>
        <p:nvSpPr>
          <p:cNvPr id="28" name="Text 25"/>
          <p:cNvSpPr txBox="1"/>
          <p:nvPr/>
        </p:nvSpPr>
        <p:spPr>
          <a:xfrm>
            <a:off x="54864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يَنَايِر</a:t>
            </a:r>
            <a:endParaRPr lang="ar-SA" sz="24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10625328" y="3054096"/>
            <a:ext cx="1033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Oct</a:t>
            </a:r>
            <a:endParaRPr lang="en-US" sz="1100" dirty="0"/>
          </a:p>
        </p:txBody>
      </p:sp>
      <p:sp>
        <p:nvSpPr>
          <p:cNvPr id="33" name="Text 30"/>
          <p:cNvSpPr txBox="1"/>
          <p:nvPr/>
        </p:nvSpPr>
        <p:spPr>
          <a:xfrm>
            <a:off x="822960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أُكْتُوبَر</a:t>
            </a:r>
            <a:endParaRPr lang="ar-SA" sz="2400" dirty="0"/>
          </a:p>
        </p:txBody>
      </p:sp>
      <p:sp>
        <p:nvSpPr>
          <p:cNvPr id="34" name="Text 31"/>
          <p:cNvSpPr txBox="1"/>
          <p:nvPr/>
        </p:nvSpPr>
        <p:spPr>
          <a:xfrm>
            <a:off x="678484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Jun</a:t>
            </a:r>
            <a:endParaRPr lang="en-US" sz="1100" dirty="0"/>
          </a:p>
        </p:txBody>
      </p:sp>
      <p:sp>
        <p:nvSpPr>
          <p:cNvPr id="35" name="Text 32"/>
          <p:cNvSpPr txBox="1"/>
          <p:nvPr/>
        </p:nvSpPr>
        <p:spPr>
          <a:xfrm>
            <a:off x="438912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يُونْيُو</a:t>
            </a:r>
            <a:endParaRPr lang="ar-SA" sz="2400" dirty="0"/>
          </a:p>
        </p:txBody>
      </p:sp>
      <p:sp>
        <p:nvSpPr>
          <p:cNvPr id="36" name="Text 33"/>
          <p:cNvSpPr txBox="1"/>
          <p:nvPr/>
        </p:nvSpPr>
        <p:spPr>
          <a:xfrm>
            <a:off x="294436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Feb</a:t>
            </a:r>
            <a:endParaRPr lang="en-US" sz="1100" dirty="0"/>
          </a:p>
        </p:txBody>
      </p:sp>
      <p:sp>
        <p:nvSpPr>
          <p:cNvPr id="37" name="Text 34"/>
          <p:cNvSpPr txBox="1"/>
          <p:nvPr/>
        </p:nvSpPr>
        <p:spPr>
          <a:xfrm>
            <a:off x="54864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فِبْرَايِر</a:t>
            </a:r>
            <a:endParaRPr lang="ar-SA" sz="240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10625328" y="3840480"/>
            <a:ext cx="1033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Nov</a:t>
            </a:r>
            <a:endParaRPr lang="en-US" sz="1100" dirty="0"/>
          </a:p>
        </p:txBody>
      </p:sp>
      <p:sp>
        <p:nvSpPr>
          <p:cNvPr id="42" name="Text 39"/>
          <p:cNvSpPr txBox="1"/>
          <p:nvPr/>
        </p:nvSpPr>
        <p:spPr>
          <a:xfrm>
            <a:off x="822960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نُوفَمْبِر</a:t>
            </a:r>
            <a:endParaRPr lang="ar-SA" sz="2400" dirty="0"/>
          </a:p>
        </p:txBody>
      </p:sp>
      <p:sp>
        <p:nvSpPr>
          <p:cNvPr id="43" name="Text 40"/>
          <p:cNvSpPr txBox="1"/>
          <p:nvPr/>
        </p:nvSpPr>
        <p:spPr>
          <a:xfrm>
            <a:off x="678484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Jul</a:t>
            </a:r>
            <a:endParaRPr lang="en-US" sz="1100" dirty="0"/>
          </a:p>
        </p:txBody>
      </p:sp>
      <p:sp>
        <p:nvSpPr>
          <p:cNvPr id="44" name="Text 41"/>
          <p:cNvSpPr txBox="1"/>
          <p:nvPr/>
        </p:nvSpPr>
        <p:spPr>
          <a:xfrm>
            <a:off x="438912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يُولْيُو</a:t>
            </a:r>
            <a:endParaRPr lang="ar-SA" sz="2400" dirty="0"/>
          </a:p>
        </p:txBody>
      </p:sp>
      <p:sp>
        <p:nvSpPr>
          <p:cNvPr id="45" name="Text 42"/>
          <p:cNvSpPr txBox="1"/>
          <p:nvPr/>
        </p:nvSpPr>
        <p:spPr>
          <a:xfrm>
            <a:off x="294436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a:t>
            </a:r>
            <a:endParaRPr lang="en-US" sz="1100" dirty="0"/>
          </a:p>
        </p:txBody>
      </p:sp>
      <p:sp>
        <p:nvSpPr>
          <p:cNvPr id="46" name="Text 43"/>
          <p:cNvSpPr txBox="1"/>
          <p:nvPr/>
        </p:nvSpPr>
        <p:spPr>
          <a:xfrm>
            <a:off x="54864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مَارِس</a:t>
            </a:r>
            <a:endParaRPr lang="ar-SA" sz="2400" dirty="0"/>
          </a:p>
        </p:txBody>
      </p:sp>
      <p:sp>
        <p:nvSpPr>
          <p:cNvPr id="47" name="Shape 44"/>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Shape 4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50" name="Text 47"/>
          <p:cNvSpPr txBox="1"/>
          <p:nvPr/>
        </p:nvSpPr>
        <p:spPr>
          <a:xfrm>
            <a:off x="10625328" y="4626864"/>
            <a:ext cx="1033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Dec</a:t>
            </a:r>
            <a:endParaRPr lang="en-US" sz="1100" dirty="0"/>
          </a:p>
        </p:txBody>
      </p:sp>
      <p:sp>
        <p:nvSpPr>
          <p:cNvPr id="51" name="Text 48"/>
          <p:cNvSpPr txBox="1"/>
          <p:nvPr/>
        </p:nvSpPr>
        <p:spPr>
          <a:xfrm>
            <a:off x="822960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دِيسَمْبِر</a:t>
            </a:r>
            <a:endParaRPr lang="ar-SA" sz="2400" dirty="0"/>
          </a:p>
        </p:txBody>
      </p:sp>
      <p:sp>
        <p:nvSpPr>
          <p:cNvPr id="52" name="Text 49"/>
          <p:cNvSpPr txBox="1"/>
          <p:nvPr/>
        </p:nvSpPr>
        <p:spPr>
          <a:xfrm>
            <a:off x="678484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Aug</a:t>
            </a:r>
            <a:endParaRPr lang="en-US" sz="1100" dirty="0"/>
          </a:p>
        </p:txBody>
      </p:sp>
      <p:sp>
        <p:nvSpPr>
          <p:cNvPr id="53" name="Text 50"/>
          <p:cNvSpPr txBox="1"/>
          <p:nvPr/>
        </p:nvSpPr>
        <p:spPr>
          <a:xfrm>
            <a:off x="438912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أُغُسْطُس</a:t>
            </a:r>
            <a:endParaRPr lang="ar-SA" sz="2400" dirty="0"/>
          </a:p>
        </p:txBody>
      </p:sp>
      <p:sp>
        <p:nvSpPr>
          <p:cNvPr id="54" name="Text 51"/>
          <p:cNvSpPr txBox="1"/>
          <p:nvPr/>
        </p:nvSpPr>
        <p:spPr>
          <a:xfrm>
            <a:off x="294436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Apr</a:t>
            </a:r>
            <a:endParaRPr lang="en-US" sz="1100" dirty="0"/>
          </a:p>
        </p:txBody>
      </p:sp>
      <p:sp>
        <p:nvSpPr>
          <p:cNvPr id="55" name="Text 52"/>
          <p:cNvSpPr txBox="1"/>
          <p:nvPr/>
        </p:nvSpPr>
        <p:spPr>
          <a:xfrm>
            <a:off x="54864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أَبْرِيل</a:t>
            </a:r>
            <a:endParaRPr lang="ar-SA" sz="2400" dirty="0"/>
          </a:p>
        </p:txBody>
      </p:sp>
      <p:sp>
        <p:nvSpPr>
          <p:cNvPr id="56" name="Shape 5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the months are transliterations — sound them out. Ear trap: yūnyū (June, nūn) vs yūlyū (July, lām). Heritage link: at-taqwīm al-mīlādī (from the birth of ʿĪsā, peace be upon him) and at-taqwīm al-hijrī; Ramaḍān is the ninth Hijri month.</a:t>
            </a:r>
            <a:endParaRPr lang="en-US" sz="11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DATES · PART 3 · SAYING THE DATE (WEBSITE TABLE)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Ordinal + min + month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 التَّارِيخُ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7" name="Text 14"/>
          <p:cNvSpPr txBox="1"/>
          <p:nvPr/>
        </p:nvSpPr>
        <p:spPr>
          <a:xfrm>
            <a:off x="217627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Date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full exam format</a:t>
            </a:r>
            <a:endParaRPr lang="en-US" sz="1100" dirty="0"/>
          </a:p>
        </p:txBody>
      </p:sp>
      <p:sp>
        <p:nvSpPr>
          <p:cNvPr id="21" name="Text 18"/>
          <p:cNvSpPr txBox="1"/>
          <p:nvPr/>
        </p:nvSpPr>
        <p:spPr>
          <a:xfrm>
            <a:off x="2194560" y="2267712"/>
            <a:ext cx="58521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الْيَوْمُ الْأَوَّلُ مِنْ شَهْرِ مَايُو</a:t>
            </a:r>
            <a:endParaRPr lang="ar-SA" sz="2200" dirty="0"/>
          </a:p>
        </p:txBody>
      </p:sp>
      <p:sp>
        <p:nvSpPr>
          <p:cNvPr id="22" name="Text 19"/>
          <p:cNvSpPr txBox="1"/>
          <p:nvPr/>
        </p:nvSpPr>
        <p:spPr>
          <a:xfrm>
            <a:off x="566928" y="226771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May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short form — shahr optional</a:t>
            </a:r>
            <a:endParaRPr lang="en-US" sz="1100" dirty="0"/>
          </a:p>
        </p:txBody>
      </p:sp>
      <p:sp>
        <p:nvSpPr>
          <p:cNvPr id="27" name="Text 24"/>
          <p:cNvSpPr txBox="1"/>
          <p:nvPr/>
        </p:nvSpPr>
        <p:spPr>
          <a:xfrm>
            <a:off x="2194560" y="2881884"/>
            <a:ext cx="58521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الثَّالِثُ مِنْ سِبْتَمْبِر</a:t>
            </a:r>
            <a:endParaRPr lang="ar-SA" sz="2200" dirty="0"/>
          </a:p>
        </p:txBody>
      </p:sp>
      <p:sp>
        <p:nvSpPr>
          <p:cNvPr id="28" name="Text 25"/>
          <p:cNvSpPr txBox="1"/>
          <p:nvPr/>
        </p:nvSpPr>
        <p:spPr>
          <a:xfrm>
            <a:off x="566928" y="2881884"/>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Sep</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masculine ordinal (yawm)</a:t>
            </a:r>
            <a:endParaRPr lang="en-US" sz="1100" dirty="0"/>
          </a:p>
        </p:txBody>
      </p:sp>
      <p:sp>
        <p:nvSpPr>
          <p:cNvPr id="33" name="Text 30"/>
          <p:cNvSpPr txBox="1"/>
          <p:nvPr/>
        </p:nvSpPr>
        <p:spPr>
          <a:xfrm>
            <a:off x="2194560" y="3496056"/>
            <a:ext cx="58521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الْخَامِسُ مِنْ مَارِس</a:t>
            </a:r>
            <a:endParaRPr lang="ar-SA" sz="2200" dirty="0"/>
          </a:p>
        </p:txBody>
      </p:sp>
      <p:sp>
        <p:nvSpPr>
          <p:cNvPr id="34" name="Text 31"/>
          <p:cNvSpPr txBox="1"/>
          <p:nvPr/>
        </p:nvSpPr>
        <p:spPr>
          <a:xfrm>
            <a:off x="566928" y="3496056"/>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Mar</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fī: kasra</a:t>
            </a:r>
            <a:endParaRPr lang="en-US" sz="1100" dirty="0"/>
          </a:p>
        </p:txBody>
      </p:sp>
      <p:sp>
        <p:nvSpPr>
          <p:cNvPr id="39" name="Text 36"/>
          <p:cNvSpPr txBox="1"/>
          <p:nvPr/>
        </p:nvSpPr>
        <p:spPr>
          <a:xfrm>
            <a:off x="2194560" y="4110228"/>
            <a:ext cx="58521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الْخَامِسِ مِنْ يُولْيُو</a:t>
            </a:r>
            <a:endParaRPr lang="ar-SA" sz="2200" dirty="0"/>
          </a:p>
        </p:txBody>
      </p:sp>
      <p:sp>
        <p:nvSpPr>
          <p:cNvPr id="40" name="Text 37"/>
          <p:cNvSpPr txBox="1"/>
          <p:nvPr/>
        </p:nvSpPr>
        <p:spPr>
          <a:xfrm>
            <a:off x="566928" y="4110228"/>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 5 Jul</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compound ordinal</a:t>
            </a:r>
            <a:endParaRPr lang="en-US" sz="1100" dirty="0"/>
          </a:p>
        </p:txBody>
      </p:sp>
      <p:sp>
        <p:nvSpPr>
          <p:cNvPr id="43" name="Text 40"/>
          <p:cNvSpPr txBox="1"/>
          <p:nvPr/>
        </p:nvSpPr>
        <p:spPr>
          <a:xfrm>
            <a:off x="2194560" y="4724400"/>
            <a:ext cx="58521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الثَّانِي وَالْعِشْرُونَ مِنْ أُكْتُوبَر</a:t>
            </a:r>
            <a:endParaRPr lang="ar-SA" sz="2200" dirty="0"/>
          </a:p>
        </p:txBody>
      </p:sp>
      <p:sp>
        <p:nvSpPr>
          <p:cNvPr id="44" name="Text 41"/>
          <p:cNvSpPr txBox="1"/>
          <p:nvPr/>
        </p:nvSpPr>
        <p:spPr>
          <a:xfrm>
            <a:off x="566928" y="4724400"/>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22 Oct</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year (Stretch)</a:t>
            </a:r>
            <a:endParaRPr lang="en-US" sz="1100" dirty="0"/>
          </a:p>
        </p:txBody>
      </p:sp>
      <p:sp>
        <p:nvSpPr>
          <p:cNvPr id="47" name="Text 44"/>
          <p:cNvSpPr txBox="1"/>
          <p:nvPr/>
        </p:nvSpPr>
        <p:spPr>
          <a:xfrm>
            <a:off x="2194560" y="5338572"/>
            <a:ext cx="58521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الْخَامِسُ مِنْ مَارِس سَنَةَ أَلْفَيْنِ وَسَبْعٍ وَعِشْرِينَ</a:t>
            </a:r>
            <a:endParaRPr lang="ar-SA" sz="2200" dirty="0"/>
          </a:p>
        </p:txBody>
      </p:sp>
      <p:sp>
        <p:nvSpPr>
          <p:cNvPr id="48" name="Text 45"/>
          <p:cNvSpPr txBox="1"/>
          <p:nvPr/>
        </p:nvSpPr>
        <p:spPr>
          <a:xfrm>
            <a:off x="566928" y="533857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5/3/2027</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gender contrast: clock times are feminine (as-sāʿatu l-khāmisa) because sāʿa is feminine; dates are masculine (al-yawmu l-khāmis) because yawm is masculine. Digits: day/month/year, like the UK.</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is “day two”?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الثُّلَاثَاءِ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الْأَحَدِ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الِاثْنَيْنِ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month is June?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يُونْيُو</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يُولْيُو</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يَنَايِر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5th of March”.</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الْخَامِسَةُ مِنْ مَارِس</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 مِنْ مَارِس</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خَمْسَةٌ مِنْ مَارِس</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“on the 10th of June”.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الْعَاشِرِ مِنْ يُونْيُو</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الْعَاشِرُ مِنْ يُونْيُو</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الْعَاشِرَةِ مِنْ يُونْيُو</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is “day two”?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الثُّلَاثَاءِ</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الْأَحَدِ</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الِاثْنَيْنِ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ithnān = two.</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month is June?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يُونْيُو</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يُولْيُو</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يَنَايِر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 for nūn = June.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5th of March”.</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الْخَامِسَةُ مِنْ مَارِس</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الْخَامِسُ مِنْ مَارِس</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خَمْسَةٌ مِنْ مَارِس</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ordinal.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“on the 10th of June”.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الْعَاشِرِ مِنْ يُونْيُو</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الْعَاشِرُ مِنْ يُونْيُو</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الْعَاشِرَةِ مِنْ يُونْيُو</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fī: kasra; masculine.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Watch me read our school calendar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Term starts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السَّابِعَ مِنْ سِبْتَمْبِر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Monday 7 September.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Sports Day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الثَّانِي وَالْعِشْرِينَ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22 October.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Holiday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التَّاسِعَ عَشَرَ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19 December.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Return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الرَّابِعِ مِنْ يَنَايِر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4 January.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DATE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DAY / EVENT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يَبْدَأُ الْفَصْلُ الدِّرَاسِيُّ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يَوْمَ الِاثْنَيْنِ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السَّابِعَ مِنْ سِبْتَمْبِر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يَوْمُ الرِّيَاضَةِ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الثَّانِي وَالْعِشْرِينَ مِنْ أُكْتُوبَر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تَبْدَأُ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عُطْلَةُ الشِّتَاءِ</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التَّاسِعَ عَشَرَ مِنْ دِيسَمْبِر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وَنَعُودُ إِلَى الْمَدْرَسَةِ فِي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الرَّابِعِ مِنْ يَنَايِر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The term starts on Monday 7 September. Sports Day is on 22 October. The winter holiday starts on 19 December, and we return to school on 4 January.</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مَا الْيَوْمُ؟ — الْيَوْمُ يَوْمُ الْخَمِيسِ.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What day is it? — Today is Thursday.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Day.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عِيدُ مِيلَادِي فِي الْخَامِسِ مِنْ يُولْيُو.</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birthday is on 5 July.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fī + kasra.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تَبْدَأُ الْعُطْلَةُ فِي الْعِشْرِينَ مِنْ دِيسَمْبِر.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holiday starts on 20 December.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20th.</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الِامْتِحَانُ يَوْمَ الْخَمِيسِ، الثَّانِي مِنْ مَايُو.</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exam is on Thursday, 2 May.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Day + date.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THE SCHOOL NOTICE (WEBSITE TASK A)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Important days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إِعْلَانٌ: أَيَّامٌ مُهِمَّةٌ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 English</a:t>
            </a:r>
            <a:endParaRPr lang="en-US" sz="1100" dirty="0"/>
          </a:p>
        </p:txBody>
      </p:sp>
      <p:sp>
        <p:nvSpPr>
          <p:cNvPr id="17" name="Text 14"/>
          <p:cNvSpPr txBox="1"/>
          <p:nvPr/>
        </p:nvSpPr>
        <p:spPr>
          <a:xfrm>
            <a:off x="38221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date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Event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Mon 4 May</a:t>
            </a:r>
            <a:endParaRPr lang="en-US" sz="1100" dirty="0"/>
          </a:p>
        </p:txBody>
      </p:sp>
      <p:sp>
        <p:nvSpPr>
          <p:cNvPr id="21" name="Text 18"/>
          <p:cNvSpPr txBox="1"/>
          <p:nvPr/>
        </p:nvSpPr>
        <p:spPr>
          <a:xfrm>
            <a:off x="3840480" y="2267712"/>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يَوْمَ الِاثْنَيْنِ، الرَّابِعَ مِنْ مَايُو</a:t>
            </a:r>
            <a:endParaRPr lang="ar-SA" sz="2200" dirty="0"/>
          </a:p>
        </p:txBody>
      </p:sp>
      <p:sp>
        <p:nvSpPr>
          <p:cNvPr id="22" name="Text 19"/>
          <p:cNvSpPr txBox="1"/>
          <p:nvPr/>
        </p:nvSpPr>
        <p:spPr>
          <a:xfrm>
            <a:off x="548640"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تَبْدَأُ الِامْتِحَانَاتُ</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Wed 10 June</a:t>
            </a:r>
            <a:endParaRPr lang="en-US" sz="1100" dirty="0"/>
          </a:p>
        </p:txBody>
      </p:sp>
      <p:sp>
        <p:nvSpPr>
          <p:cNvPr id="27" name="Text 24"/>
          <p:cNvSpPr txBox="1"/>
          <p:nvPr/>
        </p:nvSpPr>
        <p:spPr>
          <a:xfrm>
            <a:off x="3840480" y="3054096"/>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يَوْمَ الْأَرْبِعَاءِ، الْعَاشِرَ مِنْ يُونْيُو</a:t>
            </a:r>
            <a:endParaRPr lang="ar-SA" sz="2200" dirty="0"/>
          </a:p>
        </p:txBody>
      </p:sp>
      <p:sp>
        <p:nvSpPr>
          <p:cNvPr id="28" name="Text 25"/>
          <p:cNvSpPr txBox="1"/>
          <p:nvPr/>
        </p:nvSpPr>
        <p:spPr>
          <a:xfrm>
            <a:off x="548640"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رِحْلَةُ الْمَدْرَسَةِ</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27 May</a:t>
            </a:r>
            <a:endParaRPr lang="en-US" sz="1100" dirty="0"/>
          </a:p>
        </p:txBody>
      </p:sp>
      <p:sp>
        <p:nvSpPr>
          <p:cNvPr id="33" name="Text 30"/>
          <p:cNvSpPr txBox="1"/>
          <p:nvPr/>
        </p:nvSpPr>
        <p:spPr>
          <a:xfrm>
            <a:off x="3840480" y="3840480"/>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 وَالْعِشْرِينَ مِنْ مَايُو</a:t>
            </a:r>
            <a:endParaRPr lang="ar-SA" sz="2200" dirty="0"/>
          </a:p>
        </p:txBody>
      </p:sp>
      <p:sp>
        <p:nvSpPr>
          <p:cNvPr id="34" name="Text 31"/>
          <p:cNvSpPr txBox="1"/>
          <p:nvPr/>
        </p:nvSpPr>
        <p:spPr>
          <a:xfrm>
            <a:off x="548640"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عِيدُ الْأَضْحَى</a:t>
            </a:r>
            <a:endParaRPr lang="ar-SA" sz="22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July</a:t>
            </a:r>
            <a:endParaRPr lang="en-US" sz="1100" dirty="0"/>
          </a:p>
        </p:txBody>
      </p:sp>
      <p:sp>
        <p:nvSpPr>
          <p:cNvPr id="37" name="Text 34"/>
          <p:cNvSpPr txBox="1"/>
          <p:nvPr/>
        </p:nvSpPr>
        <p:spPr>
          <a:xfrm>
            <a:off x="3840480" y="4626864"/>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الْأَوَّلِ مِنْ يُولْيُو</a:t>
            </a:r>
            <a:endParaRPr lang="ar-SA" sz="2200" dirty="0"/>
          </a:p>
        </p:txBody>
      </p:sp>
      <p:sp>
        <p:nvSpPr>
          <p:cNvPr id="38" name="Text 35"/>
          <p:cNvSpPr txBox="1"/>
          <p:nvPr/>
        </p:nvSpPr>
        <p:spPr>
          <a:xfrm>
            <a:off x="548640" y="4626864"/>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الْعُطْلَةُ الصَّيْفِيَّةُ</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detective question: June has 30 days, so from the trip (10 June) to the end of June is 30 − 10 = 20 days. The notice never says it — your arithmetic does.</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DAY OR MONTH?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Day of the week, or month?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يَوْمٌ أَمْ شَهْرٌ؟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الْأَحَدُ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الثُّلَاثَاءُ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الْخَمِيسُ</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السَّبْتُ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مَارِس</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يُونْيُو</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أُكْتُوبَر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دِيسَمْبِر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Day of the week</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Month</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Day of the week</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الْأَحَدُ</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الثُّلَاثَاءُ</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الْخَمِيسُ</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السَّبْتُ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Month</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مَارِس</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يُونْيُو</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أُكْتُوبَر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دِيسَمْبِر</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الْخَامِسَةُ مِنْ مَارِس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Day or hour: masc. or fem.?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مَتَى عِيدُ مِيلَادُكَ؟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Ending after ʿīdu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الْعَاشِرُ مِنْ يُونْيُو</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Ending after fī?</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الْخَامِسَةُ مِنْ مَارِس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الْخَامِسُ مِنْ مَارِس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Dates count days (yawm, masculine) → masculine ordinal.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مَتَى عِيدُ مِيلَادُكَ؟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مَتَى عِيدُ مِيلَادِكَ؟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 an iḍāfa the second noun is genitive (website line corrected).</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الْعَاشِرُ مِنْ يُونْيُو</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الْعَاشِرِ مِنْ يُونْيُو</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fī the ordinal takes kasra.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2F6FB0"/>
                </a:solidFill>
                <a:latin typeface="Calibri" pitchFamily="34" charset="0"/>
                <a:ea typeface="Calibri" pitchFamily="34" charset="-122"/>
                <a:cs typeface="Calibri" pitchFamily="34" charset="-120"/>
              </a:rPr>
              <a:t>WE DO · GUIDED PRACTICE · TEACHER-WRITTEN QUESTIONS ON THE WEBSITE FORMULA</a:t>
            </a:r>
            <a:endParaRPr lang="en-US" sz="95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month is July?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يُونْيُو</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يَنَايِر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يُولْيُو</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٢٠٢٦/٥/١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 January 2026</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 May 2026</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26 May 2001</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“Eid al-Fiṭr”.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عِيدُ الْأَضْحَى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عِيدُ الْفِطْرِ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رَأْسُ السَّنَةِ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birthday is on the 3rd of March”.</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عِيدُ مِيلَادِي الثَّالِثَةُ مِنْ مَارِس</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عِيدُ مِيلَادِي فِي ثَلَاثَةِ مَارِس</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عِيدُ مِيلَادِي فِي الثَّالِثِ مِنْ مَارِس</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month is July?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يُونْيُو</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يَنَايِر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يُولْيُو</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 for lām = July.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٢٠٢٦/٥/١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 January 2026</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 May 2026</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26 May 2001</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day / month / year.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“Eid al-Fiṭr”.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عِيدُ الْأَضْحَى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عِيدُ الْفِطْرِ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رَأْسُ السَّنَةِ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Eid after Ramaḍān.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birthday is on the 3rd of March”.</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عِيدُ مِيلَادِي الثَّالِثَةُ مِنْ مَارِس</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عِيدُ مِيلَادِي فِي ثَلَاثَةِ مَارِس</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عِيدُ مِيلَادِي فِي الثَّالِثِ مِنْ مَارِس</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fī + masculine ordinal (kasra) + min.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E6B52"/>
                </a:solidFill>
                <a:latin typeface="Calibri" pitchFamily="34" charset="0"/>
                <a:ea typeface="Calibri" pitchFamily="34" charset="-122"/>
                <a:cs typeface="Calibri" pitchFamily="34" charset="-120"/>
              </a:rPr>
              <a:t>YOU DO · READ AND NOTICE · WEBSITE LISTENING “IMPORTANT DATES” (AS A READING TEXT)</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birthdays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اِسْمِي سَارَةُ، وَعِيدُ مِيلَادِي فِي الثَّالِثِ مِنْ مَارِس. اِسْمِي عُمَرُ، وَعِيدُ مِيلَادِي فِي الْعَاشِرِ مِنْ يُونْيُو. اِسْمِي زَيْنَبُ، وَعِيدُ مِيلَادِي فِي الْحَادِي وَالثَّلَاثِينَ مِنْ دِيسَمْبِر — لَيْلَةَ رَأْسِ السَّنَةِ! نَحْتَفِلُ بِأَعْيَادِ مِيلَادِنَا مَعًا فِي يَوْمِ السَّبْتِ الْأَوَّلِ مِنْ كُلِّ شَهْرٍ.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الْحَادِي وَالثَّلَاثِينَ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thirty-first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لَيْلَةَ رَأْسِ السَّنَةِ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New Year’s Eve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نَحْتَفِلُ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celebrate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together</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Sārah’s birthday?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10/6</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31/12</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ʿUmar’s birthday?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10/7</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6/10</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10/6</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Zaynab’s birthday special?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New Year’s Eve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Eid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first day of the year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 they celebrate together?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Friday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Saturday of each month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1 January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Sārah’s birthday?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10/6</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3/3</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31/12</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Ath-thālith min māris.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ʿUmar’s birthday?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10/7</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6/10</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10/6</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Yūnyū = June (nūn).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Zaynab’s birthday special?</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New Year’s Eve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Eid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first day of the year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Laylata raʾsi s-sana.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 they celebrate together?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Friday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first Saturday of each month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1 January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Yawm as-sabt al-awwal.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my year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الْيَوْمُ؟ وَمَا التَّارِيخُ الْيَوْمَ؟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عِيدُ مِيلَادِكَ؟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تَبْدَأُ الْعُطْلَةُ الصَّيْفِيَّةُ؟ وَمَاذَا سَتَفْعَلُ فِيهَا؟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الْيَوْمُ يَوْمُ ___ ، ___ مِنْ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عِيدُ مِيلَادِي فِي ___ مِنْ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تَبْدَأُ الْعُطْلَةُ فِي ___ ، وَسَوْفَ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عِيدُ مِيلَادِكِ؟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is your birthday?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عِيدُ مِيلَادِي فِي الثَّامِنِ مِنْ أَبْرِيل. هَذِهِ السَّنَةَ سَيَكُونُ يَوْمَ الْأَرْبِعَاءِ، وَسَأَحْتَفِلُ مَعَ عَائِلَتِي.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My birthday is on the 8th of April. This year it will be on a Wednesday, and I will celebrate with my family.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Days and months: what happens when.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yawma l-… · fī shahri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“Spicy”: «</a:t>
            </a:r>
            <a:pPr algn="l" indent="0" marL="0">
              <a:buNone/>
            </a:pPr>
            <a:r>
              <a:rPr lang="ar-SA" altLang="en-US" sz="1800" b="1" dirty="0">
                <a:solidFill>
                  <a:srgbClr val="1F2A37"/>
                </a:solidFill>
                <a:latin typeface="Amiri" pitchFamily="34" charset="0"/>
                <a:ea typeface="Amiri" pitchFamily="34" charset="-122"/>
                <a:cs typeface="Amiri" pitchFamily="34" charset="-120"/>
              </a:rPr>
              <a:t>تَوَارِيخِي الْمُهِمَّةُ</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Ordinal + min + month.</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capstone paragraph</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“Hot”: «</a:t>
            </a:r>
            <a:pPr algn="l" indent="0" marL="0">
              <a:buNone/>
            </a:pPr>
            <a:r>
              <a:rPr lang="ar-SA" altLang="en-US" sz="1800" b="1" dirty="0">
                <a:solidFill>
                  <a:srgbClr val="1F2A37"/>
                </a:solidFill>
                <a:latin typeface="Amiri" pitchFamily="34" charset="0"/>
                <a:ea typeface="Amiri" pitchFamily="34" charset="-122"/>
                <a:cs typeface="Amiri" pitchFamily="34" charset="-120"/>
              </a:rPr>
              <a:t>صَفْحَةٌ مِنْ حَيَاتِي بِالْأَرْقَامِ</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Age, a time, a price, a quantity and a date.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عِيدُ مِيلَادِي فِي ______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birthday is on the …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تَبْدَأُ الْعُطْلَةُ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holiday starts on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الِامْتِحَانُ يَوْمَ ______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exam is on (day), (date)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نَحْتَفِلُ بِالْعِيدِ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celebrate Eid in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الْيَوْمُ يَوْمُ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Today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عِيدُ مِيلَادِي فِي شَهْرِ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birthday is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غَدًا يَوْمُ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Tomorrow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شَهْرِي الْمُفَضَّلُ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month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الْأَحَدُ  ·  الِاثْنَيْنِ  ·  الثُّلَاثَاءُ  ·  الْأَرْبِعَاءُ  ·  الْخَمِيسُ  ·  الْجُمُعَةُ  ·  السَّبْتُ  ·  الْأَوَّلُ  ·  الثَّانِي  ·  الْخَامِسُ  ·  الْعَاشِرُ  ·  مِنْ  ·  عِيدُ الْفِطْرِ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capstone: «</a:t>
            </a:r>
            <a:pPr algn="l" indent="0" marL="0">
              <a:buNone/>
            </a:pPr>
            <a:r>
              <a:rPr lang="ar-SA" altLang="en-US" sz="1750" b="1" dirty="0">
                <a:solidFill>
                  <a:srgbClr val="1F2A37"/>
                </a:solidFill>
                <a:latin typeface="Amiri" pitchFamily="34" charset="0"/>
                <a:ea typeface="Amiri" pitchFamily="34" charset="-122"/>
                <a:cs typeface="Amiri" pitchFamily="34" charset="-120"/>
              </a:rPr>
              <a:t>صَفْحَةٌ مِنْ حَيَاتِي بِالْأَرْقَامِ</a:t>
            </a:r>
            <a:pPr algn="l" indent="0" marL="0">
              <a:buNone/>
            </a:pPr>
            <a:r>
              <a:rPr lang="en-US" sz="1350" b="1" dirty="0">
                <a:solidFill>
                  <a:srgbClr val="1F2A37"/>
                </a:solidFill>
                <a:latin typeface="Calibri" pitchFamily="34" charset="0"/>
                <a:ea typeface="Calibri" pitchFamily="34" charset="-122"/>
                <a:cs typeface="Calibri" pitchFamily="34" charset="-120"/>
              </a:rPr>
              <a:t>» — one paragraph using all six numeracy lessons.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Your age (Age Ladder).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clock time from your day.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price you paid (masculine currency).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quantity you bought (kīlū / ghrām).</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date you are looking forward to (masculine ordinal).</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أَنْتَظِرُ بِشَوْقٍ</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look forward to</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الْأُسْبُوعِ الْمَاضِي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last week</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 سَنَةٍ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every year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السَّنَةَ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this year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الشَّهْرَ الْقَادِمَ</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next month</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عَائِلَتِي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my family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صَفْحَةٌ مِنْ حَيَاتِي بِالْأَرْقَامِ: اِسْمِي هِنْدُ، وَعُمْرِي أَرْبَعَ عَشْرَةَ سَنَةً. أَسْتَيْقِظُ كُلَّ يَوْمٍ فِي السَّاعَةِ السَّادِسَةِ وَالنِّصْفِ صَبَاحًا. يَوْمَ السَّبْتِ ذَهَبْتُ إِلَى السُّوقِ، وَاشْتَرَيْتُ كِيلُو مِنَ التُّفَّاحِ وَنِصْفَ كِيلُو مِنَ الْعِنَبِ بِخَمْسَةَ عَشَرَ جُنَيْهًا. عِيدُ مِيلَادِي فِي الْخَامِسِ مِنْ يُونْيُو، وَأَنْتَظِرُهُ بِشَوْقٍ لِأَنَّ جَدَّتِي سَتَزُورُنَا. تَبْدَأُ الْعُطْلَةُ الصَّيْفِيَّةُ فِي الْأَوَّلِ مِنْ يُولْيُو، وَسَنُسَافِرُ إِلَى الْأُرْدُنِّ لِمُدَّةِ ثَلَاثَةِ أَسَابِيعَ.</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 page of my life in numbers: My name is Hind, and I am fourteen. I wake up every day at half past six in the morning. On Saturday I went to the market and bought a kilo of apples and half a kilo of grapes for fifteen pounds. My birthday is on the 5th of June, and I am looking forward to it because my grandmother will visit us. The summer holiday starts on the 1st of July, and we will travel to Jordan for three weeks.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age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clock 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price / quantity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date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the seven days and twelve months.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confuse yūnyū and yūlyū.</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date ordinals are masculine.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fī my ordinal takes kasra.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combined numbers from all six lessons.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is “day five”?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الْخَمِيسُ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الْجُمُعَةُ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الْأَرْبِعَاءُ</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1st of May”.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الْأُولَى مِنْ مَايُو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الْأَوَّلُ مِنْ مَايُو</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وَاحِدٌ مِنْ مَايُو</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are clock ordinals feminine but date ordinals masculine?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sāʿa is feminine; yawm is masculine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dates are always masculine in English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reason</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is “day five”?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الْخَمِيسُ</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الْجُمُعَةُ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الْأَرْبِعَاءُ</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khamsa = five.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1st of May”.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الْأُولَى مِنْ مَايُو</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الْأَوَّلُ مِنْ مَايُو</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وَاحِدٌ مِنْ مَايُو</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ordinal.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are clock ordinals feminine but date ordinals masculine?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sāʿa is feminine; yawm is masculine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dates are always masculine in English</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reason</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decides.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GM-NUM-06 · Numbers and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GM-VS-01: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GM-VS-01 · Word Order and Sentence Roles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الْجُمْلَةُ الْفِعْلِيَّةُ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verbal sentence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الْفِعْلُ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verb</a:t>
            </a:r>
            <a:pPr indent="0" marL="0">
              <a:buNone/>
            </a:pPr>
            <a:r>
              <a:rPr lang="en-US" sz="1000" i="1" dirty="0">
                <a:solidFill>
                  <a:srgbClr val="5A6472"/>
                </a:solidFill>
                <a:latin typeface="Calibri" pitchFamily="34" charset="0"/>
                <a:ea typeface="Calibri" pitchFamily="34" charset="-122"/>
                <a:cs typeface="Calibri" pitchFamily="34" charset="-120"/>
              </a:rPr>
              <a:t>  كَتَبَ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الْفَاعِلُ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doer / subject</a:t>
            </a:r>
            <a:pPr indent="0" marL="0">
              <a:buNone/>
            </a:pPr>
            <a:r>
              <a:rPr lang="en-US" sz="1000" i="1" dirty="0">
                <a:solidFill>
                  <a:srgbClr val="5A6472"/>
                </a:solidFill>
                <a:latin typeface="Calibri" pitchFamily="34" charset="0"/>
                <a:ea typeface="Calibri" pitchFamily="34" charset="-122"/>
                <a:cs typeface="Calibri" pitchFamily="34" charset="-120"/>
              </a:rPr>
              <a:t>  الطَّالِبُ</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الْمَفْعُولُ بِهِ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object</a:t>
            </a:r>
            <a:pPr indent="0" marL="0">
              <a:buNone/>
            </a:pPr>
            <a:r>
              <a:rPr lang="en-US" sz="1000" i="1" dirty="0">
                <a:solidFill>
                  <a:srgbClr val="5A6472"/>
                </a:solidFill>
                <a:latin typeface="Calibri" pitchFamily="34" charset="0"/>
                <a:ea typeface="Calibri" pitchFamily="34" charset="-122"/>
                <a:cs typeface="Calibri" pitchFamily="34" charset="-120"/>
              </a:rPr>
              <a:t>  الدَّرْسَ</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 الطَّالِبُ الدَّرْسَ</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student wrote the lesson.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In “kataba ṭ-ṭālibu d-darsa”, which word comes first — the verb or the subject?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كَتَبَ · الطَّالِبُ · الدَّرْسَ</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“Mild”: a calendar page with four birthdays in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“Spicy”: «</a:t>
            </a:r>
            <a:pPr algn="l" indent="0" marL="0">
              <a:buNone/>
            </a:pPr>
            <a:r>
              <a:rPr lang="ar-SA" altLang="en-US" sz="1550" dirty="0">
                <a:solidFill>
                  <a:srgbClr val="1F2A37"/>
                </a:solidFill>
                <a:latin typeface="Amiri" pitchFamily="34" charset="0"/>
                <a:ea typeface="Amiri" pitchFamily="34" charset="-122"/>
                <a:cs typeface="Amiri" pitchFamily="34" charset="-120"/>
              </a:rPr>
              <a:t>تَوَارِيخِي الْمُهِمَّةُ</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“Hot” capstone: «</a:t>
            </a:r>
            <a:pPr algn="l" indent="0" marL="0">
              <a:buNone/>
            </a:pPr>
            <a:r>
              <a:rPr lang="ar-SA" altLang="en-US" sz="1550" dirty="0">
                <a:solidFill>
                  <a:srgbClr val="1F2A37"/>
                </a:solidFill>
                <a:latin typeface="Amiri" pitchFamily="34" charset="0"/>
                <a:ea typeface="Amiri" pitchFamily="34" charset="-122"/>
                <a:cs typeface="Amiri" pitchFamily="34" charset="-120"/>
              </a:rPr>
              <a:t>صَفْحَةٌ مِنْ حَيَاتِي بِالْأَرْقَامِ</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GM-NUM-06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GM-VS-01 · Word Order and Sentence Roles</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تَرْتِيبُ الْجُمْلَةِ الْفِعْلِيَّةِ وَأَرْكَانُهَا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al-aḥad = day one … al-khamīs = day five · yūnyū (N) June · yūlyū (L) July · date = masculine ordinal + min + month · fī l-khāmisi min māris · clock ordinals feminine, date ordinals masculine.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GM-NUM-06 · Dates and Calendars</dc:title>
  <dc:subject>PptxGenJS Presentation</dc:subject>
  <dc:creator>Al Madina Online School · Arabic Department</dc:creator>
  <cp:lastModifiedBy>Al Madina Online School · Arabic Department</cp:lastModifiedBy>
  <cp:revision>1</cp:revision>
  <dcterms:created xsi:type="dcterms:W3CDTF">2026-10-04T06:08:11Z</dcterms:created>
  <dcterms:modified xsi:type="dcterms:W3CDTF">2026-10-04T06:08:11Z</dcterms:modified>
</cp:coreProperties>
</file>