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notesMasterIdLst>
    <p:notesMasterId r:id="rId36"/>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10–13 Grammar words · 13–24 The grammar, step by step · 24–26 Quick check · 26–29 I Do · 29–38 We Do (sort, repair, practise) · 38–49 You Do (read, speak, write on your route) · 49–54 Feedback (model, self-check, exit ticket) · 54–56 Preparation.
FLEX slides are optional: use them if the class is moving quickly; otherwise the same activities are on the website for homework.
Content source: Miftah Arabic website, Mastery &amp; Revision › Grammar › Numbers and Time › GM-NUM-06 (“— Dates &amp; Calendars · Numeracy Mastery 06”). The Do Now, quick check, game practice, exit ticket and mastery check are the website’s own quizzes; the reading text, speaking and writing tasks are the website’s four-skills application. Explanation slides, worked examples, sorter, repair items, frames and model translations are teacher-made on the website rules and labelled in the notes.
SUPPORT FOR THIS CLASS (Arabic not yet secure; mixed levels):
• Core: the seven days (with the numbers hidden inside) and the twelve months in Arabic script; مَا الْيَوْمُ؟ · أَمْسِ · الْيَوْمَ · غَدًا. Develop: full dates 1st–10th with the masculine ordinal (الْخَامِسُ مِنْ مَارِس), birthdays and school events, فِي الْخَامِسِ مِنْ … . Stretch: dates above 10, years (سَنَةَ أَلْفَيْنِ وَسَبْعٍ وَعِشْرِينَ) and date calculations.
• Website ear trap: يُونْيُو (June, nūn) vs يُولْيُو (July, lām) — “N for nūn, L for lām”.
• The gender contrast (website): clock ordinals are feminine (sāʿa), date ordinals masculine (yawm). The system never changed.
• Grammar words are always given in English AND Arabic: students should be able to name the rule, not just apply it.
• Colour code (same as all Miftah lessons): WHO = blue, MEANING = purple, ENDING = pink, PATTERN = orange, KEY WORD = teal.
• SEND “automatic doors”: lesson map, chunked tasks, worked examples before practice, cover-the-text reading and “pass” for reading aloud are built in for everyone.
ROUTES: Core (green) = students whose Arabic is not yet secure; Develop (amber) = on track; Stretch (red) = confident. Same objective for everyone — the task changes, not the goal.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Teacher-written retrieval from GM-NUM-01 and NUM-02 (ordinals and gender) and the prep words.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Date = masculine ordinal + min (shahri) + month. After fī the ordinal takes kasra: fī l-khāmisi min māris.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Objectives are drawn from the website lesson purpose and its Core / Develop / Stretch routes.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WORDS (3 min). These are the words we use to TALK ABOUT the grammar. Hear → Say → See → Use:
say each term twice, class repeats, point to the example on the card, then ask “Which word means …?” (chat the number).
Core students learn the English name and recognise the Arabic; Develop/Stretch use the Arabic term when explaining a rule.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(3 min) — website “The counted week”. Count the five on your fingers.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2 (3 min) — website “The twelve months”. Spellings follow the website (some Arab countries use other month names).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3 (4 min) — website “Saying the date”. Birthday question: matā ʿīdu mīlādika? (website corrected — see file note).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teacher-written hinge questions on the website formulas and traps.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think aloud at every step: name the rule in English and Arabic as you apply it.
Website reading “School calendar” (answers: 7 Sep · 22 Oct · 19 Dec · 4 Jan).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Students copy TWO that are useful for them.
• Core: copy one and change one word. • Develop: copy two and change the noun. • Stretch: combine two into one longer sentence.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(3 min) — website Task A. Watch the June / July trap in rows 2 and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For each day students say the number hidden inside (al-aḥad = 1 …); for each month, its English name.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For each day students say the number hidden inside (al-aḥad = 1 …); for each month, its English name.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teacher-written questions on the website formula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AND NOTICE (3 min) — website listening “Important dates” (as a reading text). Read it aloud once while students follow; then they hunt for today’s grammar.
Task: Website: write the three birthdays in day / month format.
SEND reading strategy: cover the text and uncover one sentence at a time. Core: use the green glossary.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(3 min). Website listening script used as a reading text, with one added sentence; questions teacher-written.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 student reads the phrase aloud and names the rule (in English or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(3 min) — website examiner questions. Sequence: ● 10s think → ↔ 45s rehearse aloud with mic muted → ◎ two named students on open mic (warned in advance) → + ? the class types one follow-up in chat → ↺ one student summarises.
Routes: Core uses the Core prompt and stem; Develop the Develop prompt; Stretch the last prompt.
Website: birthday, two school dates, a family celebration, a holiday and one date above 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writing task: Write 8–10 Arabic sentences about important dates in your year.
LIVE FEEDBACK: students post their first two sentences in the chat after 3 minutes. Scan and correct the target rule immediately (private chat for individual corrections).
Work with the less able: stay with Core students for the first 3 minutes. SEND: chunk the Core task — “two sentences, then show me”.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built on today’s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teacher model on the website capstone task, with an English translation for Core students.
Students find in the model (● 20s → ◎) the items on the chips. 
Then each student chooses ONE thing from the model to add to their own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3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(GM-VS-01 · Word Order and Sentence Roles) will spend class time USING this language, so students prepare it tonight — short, simple, easy to access (school guidance: “Simple, Short, Interesting, Relevant, Easy to access”). The five words prepare GM-VS-01 (website Verbal Sentences: word order and sentence roles).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MIFTAH GRAMMAR MASTERY  ·  NUMBERS AND TIME  ·  GM-NUM-06</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GM-NUM-06</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Dates and Calendars</a:t>
            </a:r>
            <a:endParaRPr lang="en-US" sz="40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cs typeface="Amiri" pitchFamily="2" charset="-78"/>
              </a:rPr>
              <a:t>التَّارِيخُ وَالتَّقْوِيمُ</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The week counts: al-aḥad (day one) to al-khamīs (day five), then al-jumuʿa and as-sabt. A date = masculine ordinal + min + month: al-khāmisu min māris (5 March) — masculine because yawm is masculine.</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GM-NUM-06 · Grammar Mastery</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All pathways · revision</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Grammar › Numbers and Time</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GM-NUM-06 · Numbers and Time</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GM-NUM-06</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34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GM-NUM-06 · Numbers and Time</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GM-NUM-06</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The week; the months; the date formula; important dates.</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Read the school calendar; sort days / months; repair.</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GM-VS-01.</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34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GM-NUM-06 · Numbers and Time</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fifth” (masculine).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الْخَامِسَةُ</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الْخَامِسُ</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خَمْسَةٌ</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5:00 (clock time).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السَّاعَةُ الْخَامِسَةُ</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السَّاعَةُ الْخَامِسُ</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السَّاعَةُ خَمْسَةٌ</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Is </a:t>
            </a:r>
            <a:pPr algn="l" indent="0" marL="0">
              <a:buNone/>
            </a:pPr>
            <a:r>
              <a:rPr lang="ar-SA" altLang="en-US" sz="1650" b="1" dirty="0">
                <a:solidFill>
                  <a:srgbClr val="1B3B6F"/>
                </a:solidFill>
                <a:latin typeface="Amiri" pitchFamily="2" charset="-78"/>
                <a:cs typeface="Amiri" pitchFamily="2" charset="-78"/>
              </a:rPr>
              <a:t>يَوْمٌ</a:t>
            </a:r>
            <a:pPr algn="l" indent="0" marL="0">
              <a:buNone/>
            </a:pPr>
            <a:r>
              <a:rPr lang="en-US" sz="1250" b="1" dirty="0">
                <a:solidFill>
                  <a:srgbClr val="1B3B6F"/>
                </a:solidFill>
                <a:latin typeface="Calibri" pitchFamily="34" charset="0"/>
                <a:cs typeface="Amiri" pitchFamily="2" charset="-78"/>
              </a:rPr>
              <a:t> masculine or feminine?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feminine</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both</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masculine</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غَدًا</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yesterday</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today</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tomorrow</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month is </a:t>
            </a:r>
            <a:pPr algn="l" indent="0" marL="0">
              <a:buNone/>
            </a:pPr>
            <a:r>
              <a:rPr lang="ar-SA" altLang="en-US" sz="1650" b="1" dirty="0">
                <a:solidFill>
                  <a:srgbClr val="1B3B6F"/>
                </a:solidFill>
                <a:latin typeface="Amiri" pitchFamily="2" charset="-78"/>
                <a:cs typeface="Amiri" pitchFamily="2" charset="-78"/>
              </a:rPr>
              <a:t>رَمَضَانُ</a:t>
            </a:r>
            <a:pPr algn="l" indent="0" marL="0">
              <a:buNone/>
            </a:pPr>
            <a:r>
              <a:rPr lang="en-US" sz="1250" b="1" dirty="0">
                <a:solidFill>
                  <a:srgbClr val="1B3B6F"/>
                </a:solidFill>
                <a:latin typeface="Calibri" pitchFamily="34" charset="0"/>
                <a:cs typeface="Amiri" pitchFamily="2" charset="-78"/>
              </a:rPr>
              <a:t> in?</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Hijri calendar</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Western calendar</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both</a:t>
            </a:r>
            <a:endParaRPr lang="en-US" sz="12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34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GM-NUM-06 · Numbers and Time</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fifth” (masculine).</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الْخَامِسَةُ</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الْخَامِسُ</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خَمْسَةٌ</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GM-NUM-01 ordinals.</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5:00 (clock time).</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السَّاعَةُ الْخَامِسَةُ</a:t>
            </a:r>
            <a:endParaRPr lang="ar-SA" sz="170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السَّاعَةُ الْخَامِسُ</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السَّاعَةُ خَمْسَةٌ</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GM-NUM-02: sāʿa is feminine.</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Is </a:t>
            </a:r>
            <a:pPr algn="l" indent="0" marL="0">
              <a:buNone/>
            </a:pPr>
            <a:r>
              <a:rPr lang="ar-SA" altLang="en-US" sz="1650" b="1" dirty="0">
                <a:solidFill>
                  <a:srgbClr val="1B3B6F"/>
                </a:solidFill>
                <a:latin typeface="Amiri" pitchFamily="2" charset="-78"/>
                <a:cs typeface="Amiri" pitchFamily="2" charset="-78"/>
              </a:rPr>
              <a:t>يَوْمٌ</a:t>
            </a:r>
            <a:pPr algn="l" indent="0" marL="0">
              <a:buNone/>
            </a:pPr>
            <a:r>
              <a:rPr lang="en-US" sz="1250" b="1" dirty="0">
                <a:solidFill>
                  <a:srgbClr val="1B3B6F"/>
                </a:solidFill>
                <a:latin typeface="Calibri" pitchFamily="34" charset="0"/>
                <a:cs typeface="Amiri" pitchFamily="2" charset="-78"/>
              </a:rPr>
              <a:t> masculine or feminine?</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feminine</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both</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masculine</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No tāʾ marbūṭa.</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غَدًا</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yesterday</a:t>
            </a:r>
            <a:endParaRPr lang="en-US" sz="125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today</a:t>
            </a:r>
            <a:endParaRPr lang="en-US" sz="125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tomorrow</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GM-V-06.</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month is </a:t>
            </a:r>
            <a:pPr algn="l" indent="0" marL="0">
              <a:buNone/>
            </a:pPr>
            <a:r>
              <a:rPr lang="ar-SA" altLang="en-US" sz="1650" b="1" dirty="0">
                <a:solidFill>
                  <a:srgbClr val="1B3B6F"/>
                </a:solidFill>
                <a:latin typeface="Amiri" pitchFamily="2" charset="-78"/>
                <a:cs typeface="Amiri" pitchFamily="2" charset="-78"/>
              </a:rPr>
              <a:t>رَمَضَانُ</a:t>
            </a:r>
            <a:pPr algn="l" indent="0" marL="0">
              <a:buNone/>
            </a:pPr>
            <a:r>
              <a:rPr lang="en-US" sz="1250" b="1" dirty="0">
                <a:solidFill>
                  <a:srgbClr val="1B3B6F"/>
                </a:solidFill>
                <a:latin typeface="Calibri" pitchFamily="34" charset="0"/>
                <a:cs typeface="Amiri" pitchFamily="2" charset="-78"/>
              </a:rPr>
              <a:t> in?</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Hijri calendar</a:t>
            </a:r>
            <a:endParaRPr lang="en-US" sz="125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Western calendar</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both</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 word.</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Date = masculine ordinal + min (shahri) + month. After fī the ordinal takes kasra: fī l-khāmisi min māris.</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0E7C86"/>
                </a:solidFill>
                <a:latin typeface="Amiri" pitchFamily="2" charset="-78"/>
                <a:cs typeface="Amiri" pitchFamily="2" charset="-78"/>
              </a:rPr>
              <a:t>الْخَامِسُ</a:t>
            </a:r>
            <a:pPr rtl="1" algn="ctr" indent="0" marL="0">
              <a:lnSpc>
                <a:spcPct val="120000"/>
              </a:lnSpc>
              <a:buNone/>
            </a:pPr>
            <a:r>
              <a:rPr lang="ar-SA" altLang="en-US" sz="1950" b="1" dirty="0">
                <a:solidFill>
                  <a:srgbClr val="1B3B6F"/>
                </a:solidFill>
                <a:latin typeface="Amiri" pitchFamily="2" charset="-78"/>
                <a:cs typeface="Amiri" pitchFamily="2" charset="-78"/>
              </a:rPr>
              <a:t> مِنْ </a:t>
            </a:r>
            <a:pPr rtl="1" algn="ctr" indent="0" marL="0">
              <a:lnSpc>
                <a:spcPct val="120000"/>
              </a:lnSpc>
              <a:buNone/>
            </a:pPr>
            <a:r>
              <a:rPr lang="ar-SA" altLang="en-US" sz="1950" b="1" dirty="0">
                <a:solidFill>
                  <a:srgbClr val="D6336C"/>
                </a:solidFill>
                <a:latin typeface="Amiri" pitchFamily="2" charset="-78"/>
                <a:cs typeface="Amiri" pitchFamily="2" charset="-78"/>
              </a:rPr>
              <a:t>مَارِس</a:t>
            </a:r>
            <a:pPr rtl="1" algn="ctr" indent="0" marL="0">
              <a:lnSpc>
                <a:spcPct val="120000"/>
              </a:lnSpc>
              <a:buNone/>
            </a:pPr>
            <a:r>
              <a:rPr lang="ar-SA" altLang="en-US" sz="1950" b="1" dirty="0">
                <a:solidFill>
                  <a:srgbClr val="1B3B6F"/>
                </a:solidFill>
                <a:latin typeface="Amiri" pitchFamily="2" charset="-78"/>
                <a:cs typeface="Amiri" pitchFamily="2" charset="-78"/>
              </a:rPr>
              <a:t> ‖ فِي </a:t>
            </a:r>
            <a:pPr rtl="1" algn="ctr" indent="0" marL="0">
              <a:lnSpc>
                <a:spcPct val="120000"/>
              </a:lnSpc>
              <a:buNone/>
            </a:pPr>
            <a:r>
              <a:rPr lang="ar-SA" altLang="en-US" sz="1950" b="1" dirty="0">
                <a:solidFill>
                  <a:srgbClr val="0E7C86"/>
                </a:solidFill>
                <a:latin typeface="Amiri" pitchFamily="2" charset="-78"/>
                <a:cs typeface="Amiri" pitchFamily="2" charset="-78"/>
              </a:rPr>
              <a:t>الْعَاشِرِ</a:t>
            </a:r>
            <a:pPr rtl="1" algn="ctr" indent="0" marL="0">
              <a:lnSpc>
                <a:spcPct val="120000"/>
              </a:lnSpc>
              <a:buNone/>
            </a:pPr>
            <a:r>
              <a:rPr lang="ar-SA" altLang="en-US" sz="1950" b="1" dirty="0">
                <a:solidFill>
                  <a:srgbClr val="1B3B6F"/>
                </a:solidFill>
                <a:latin typeface="Amiri" pitchFamily="2" charset="-78"/>
                <a:cs typeface="Amiri" pitchFamily="2" charset="-78"/>
              </a:rPr>
              <a:t> مِنْ </a:t>
            </a:r>
            <a:pPr rtl="1" algn="ctr" indent="0" marL="0">
              <a:lnSpc>
                <a:spcPct val="120000"/>
              </a:lnSpc>
              <a:buNone/>
            </a:pPr>
            <a:r>
              <a:rPr lang="ar-SA" altLang="en-US" sz="1950" b="1" dirty="0">
                <a:solidFill>
                  <a:srgbClr val="D6336C"/>
                </a:solidFill>
                <a:latin typeface="Amiri" pitchFamily="2" charset="-78"/>
                <a:cs typeface="Amiri" pitchFamily="2" charset="-78"/>
              </a:rPr>
              <a:t>يُونْيُو</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34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GM-NUM-06 · Numbers and Time</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GM-NUM-06</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Name the seven days of the week.</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Read and write the twelve months in Arabic script.</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Say a full date with a masculine ordinal.</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Talk about birthdays, Eids and holidays.</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say what day it is today.</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name any month in Arabic.</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say dates 1st–10th: al-khāmisu min māris.</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answer matā ʿīdu mīlādika?</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say a full date with the year.</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calculate the days between two dates.</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34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GM-NUM-06 · Numbers and Time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THE GRAMMAR WORDS WE WILL USE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Grammar words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مُصْطَلَحَاتُ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GM-NUM-06</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التَّارِيخُ</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date</a:t>
            </a:r>
            <a:endParaRPr lang="en-US" sz="1350" dirty="0"/>
          </a:p>
          <a:p>
            <a:pPr indent="0" marL="0">
              <a:buNone/>
            </a:pPr>
            <a:r>
              <a:rPr lang="en-US" sz="1100" i="1" dirty="0">
                <a:solidFill>
                  <a:srgbClr val="5A6472"/>
                </a:solidFill>
                <a:latin typeface="Calibri" pitchFamily="34" charset="0"/>
                <a:cs typeface="Amiri" pitchFamily="2" charset="-78"/>
              </a:rPr>
              <a:t>at-tā-rī-khu</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cs typeface="Amiri" pitchFamily="2" charset="-78"/>
              </a:rPr>
              <a:t>مَا التَّارِيخُ الْيَوْمَ؟</a:t>
            </a:r>
            <a:endParaRPr lang="ar-SA" sz="13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6" name="Shape 23"/>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8" name="Text 2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التَّقْوِيمُ</a:t>
            </a:r>
            <a:endParaRPr lang="ar-SA" sz="3000" dirty="0"/>
          </a:p>
        </p:txBody>
      </p:sp>
      <p:sp>
        <p:nvSpPr>
          <p:cNvPr id="29" name="Text 2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calendar</a:t>
            </a:r>
            <a:endParaRPr lang="en-US" sz="1350" dirty="0"/>
          </a:p>
          <a:p>
            <a:pPr indent="0" marL="0">
              <a:buNone/>
            </a:pPr>
            <a:r>
              <a:rPr lang="en-US" sz="1100" i="1" dirty="0">
                <a:solidFill>
                  <a:srgbClr val="5A6472"/>
                </a:solidFill>
                <a:latin typeface="Calibri" pitchFamily="34" charset="0"/>
                <a:cs typeface="Amiri" pitchFamily="2" charset="-78"/>
              </a:rPr>
              <a:t>at-taq-wī-mu</a:t>
            </a:r>
            <a:endParaRPr lang="en-US" sz="1350" dirty="0"/>
          </a:p>
        </p:txBody>
      </p:sp>
      <p:sp>
        <p:nvSpPr>
          <p:cNvPr id="30" name="Text 27"/>
          <p:cNvSpPr txBox="1"/>
          <p:nvPr/>
        </p:nvSpPr>
        <p:spPr>
          <a:xfrm>
            <a:off x="4416552"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cs typeface="Amiri" pitchFamily="2" charset="-78"/>
              </a:rPr>
              <a:t>الْمِيلَادِيُّ · الْهِجْرِيُّ</a:t>
            </a:r>
            <a:endParaRPr lang="ar-SA" sz="130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4" name="Shape 3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6" name="Text 3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الْأُسْبُوعُ</a:t>
            </a:r>
            <a:endParaRPr lang="ar-SA" sz="3000" dirty="0"/>
          </a:p>
        </p:txBody>
      </p:sp>
      <p:sp>
        <p:nvSpPr>
          <p:cNvPr id="37" name="Text 3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week</a:t>
            </a:r>
            <a:endParaRPr lang="en-US" sz="1350" dirty="0"/>
          </a:p>
          <a:p>
            <a:pPr indent="0" marL="0">
              <a:buNone/>
            </a:pPr>
            <a:r>
              <a:rPr lang="en-US" sz="1100" i="1" dirty="0">
                <a:solidFill>
                  <a:srgbClr val="5A6472"/>
                </a:solidFill>
                <a:latin typeface="Calibri" pitchFamily="34" charset="0"/>
                <a:cs typeface="Amiri" pitchFamily="2" charset="-78"/>
              </a:rPr>
              <a:t>al-us-bū-ʿu</a:t>
            </a:r>
            <a:endParaRPr lang="en-US" sz="1350" dirty="0"/>
          </a:p>
        </p:txBody>
      </p:sp>
      <p:sp>
        <p:nvSpPr>
          <p:cNvPr id="38" name="Text 35"/>
          <p:cNvSpPr txBox="1"/>
          <p:nvPr/>
        </p:nvSpPr>
        <p:spPr>
          <a:xfrm>
            <a:off x="594360"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cs typeface="Amiri" pitchFamily="2" charset="-78"/>
              </a:rPr>
              <a:t>سَبْعَةُ أَيَّامٍ</a:t>
            </a:r>
            <a:endParaRPr lang="ar-SA" sz="1300" dirty="0"/>
          </a:p>
        </p:txBody>
      </p:sp>
      <p:sp>
        <p:nvSpPr>
          <p:cNvPr id="39" name="Shape 3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11312"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42" name="Shape 39"/>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4" name="Text 41"/>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الشَّهْرُ · الشُّهُورُ</a:t>
            </a:r>
            <a:endParaRPr lang="ar-SA" sz="3000" dirty="0"/>
          </a:p>
        </p:txBody>
      </p:sp>
      <p:sp>
        <p:nvSpPr>
          <p:cNvPr id="45" name="Text 42"/>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month · months</a:t>
            </a:r>
            <a:endParaRPr lang="en-US" sz="1350" dirty="0"/>
          </a:p>
          <a:p>
            <a:pPr indent="0" marL="0">
              <a:buNone/>
            </a:pPr>
            <a:r>
              <a:rPr lang="en-US" sz="1100" i="1" dirty="0">
                <a:solidFill>
                  <a:srgbClr val="5A6472"/>
                </a:solidFill>
                <a:latin typeface="Calibri" pitchFamily="34" charset="0"/>
                <a:cs typeface="Amiri" pitchFamily="2" charset="-78"/>
              </a:rPr>
              <a:t>ash-shah-ru · ash-shu-hū-ru</a:t>
            </a:r>
            <a:endParaRPr lang="en-US" sz="1350" dirty="0"/>
          </a:p>
        </p:txBody>
      </p:sp>
      <p:sp>
        <p:nvSpPr>
          <p:cNvPr id="46" name="Text 43"/>
          <p:cNvSpPr txBox="1"/>
          <p:nvPr/>
        </p:nvSpPr>
        <p:spPr>
          <a:xfrm>
            <a:off x="8238744"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cs typeface="Amiri" pitchFamily="2" charset="-78"/>
              </a:rPr>
              <a:t>شَهْرُ مَايُو</a:t>
            </a:r>
            <a:endParaRPr lang="ar-SA" sz="1300" dirty="0"/>
          </a:p>
        </p:txBody>
      </p:sp>
      <p:sp>
        <p:nvSpPr>
          <p:cNvPr id="47" name="Shape 4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4389120"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50" name="Shape 4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عِيدُ مِيلَادٍ</a:t>
            </a:r>
            <a:endParaRPr lang="ar-SA" sz="3000" dirty="0"/>
          </a:p>
        </p:txBody>
      </p:sp>
      <p:sp>
        <p:nvSpPr>
          <p:cNvPr id="53" name="Text 5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birthday</a:t>
            </a:r>
            <a:endParaRPr lang="en-US" sz="1350" dirty="0"/>
          </a:p>
          <a:p>
            <a:pPr indent="0" marL="0">
              <a:buNone/>
            </a:pPr>
            <a:r>
              <a:rPr lang="en-US" sz="1100" i="1" dirty="0">
                <a:solidFill>
                  <a:srgbClr val="5A6472"/>
                </a:solidFill>
                <a:latin typeface="Calibri" pitchFamily="34" charset="0"/>
                <a:cs typeface="Amiri" pitchFamily="2" charset="-78"/>
              </a:rPr>
              <a:t>ʿī-du mī-lā-din</a:t>
            </a:r>
            <a:endParaRPr lang="en-US" sz="1350" dirty="0"/>
          </a:p>
        </p:txBody>
      </p:sp>
      <p:sp>
        <p:nvSpPr>
          <p:cNvPr id="54" name="Text 51"/>
          <p:cNvSpPr txBox="1"/>
          <p:nvPr/>
        </p:nvSpPr>
        <p:spPr>
          <a:xfrm>
            <a:off x="4416552"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cs typeface="Amiri" pitchFamily="2" charset="-78"/>
              </a:rPr>
              <a:t>عِيدُ مِيلَادِي</a:t>
            </a:r>
            <a:endParaRPr lang="ar-SA" sz="1300" dirty="0"/>
          </a:p>
        </p:txBody>
      </p:sp>
      <p:sp>
        <p:nvSpPr>
          <p:cNvPr id="55" name="Shape 52"/>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66928" y="4261104"/>
            <a:ext cx="310896" cy="310896"/>
          </a:xfrm>
          <a:prstGeom prst="ellipse">
            <a:avLst/>
          </a:prstGeom>
          <a:solidFill>
            <a:srgbClr val="F4F1EA"/>
          </a:solidFill>
          <a:ln w="12700">
            <a:solidFill>
              <a:srgbClr val="F4F1EA"/>
            </a:solidFill>
            <a:prstDash val="solid"/>
          </a:ln>
        </p:spPr>
      </p:sp>
      <p:sp>
        <p:nvSpPr>
          <p:cNvPr id="57" name="Text 54"/>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58" name="Shape 55"/>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9" name="Text 56"/>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0" name="Text 57"/>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الْعُطْلَةُ</a:t>
            </a:r>
            <a:endParaRPr lang="ar-SA" sz="3000" dirty="0"/>
          </a:p>
        </p:txBody>
      </p:sp>
      <p:sp>
        <p:nvSpPr>
          <p:cNvPr id="61" name="Text 58"/>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holiday</a:t>
            </a:r>
            <a:endParaRPr lang="en-US" sz="1350" dirty="0"/>
          </a:p>
          <a:p>
            <a:pPr indent="0" marL="0">
              <a:buNone/>
            </a:pPr>
            <a:r>
              <a:rPr lang="en-US" sz="1100" i="1" dirty="0">
                <a:solidFill>
                  <a:srgbClr val="5A6472"/>
                </a:solidFill>
                <a:latin typeface="Calibri" pitchFamily="34" charset="0"/>
                <a:cs typeface="Amiri" pitchFamily="2" charset="-78"/>
              </a:rPr>
              <a:t>al-ʿuṭ-la-tu</a:t>
            </a:r>
            <a:endParaRPr lang="en-US" sz="1350" dirty="0"/>
          </a:p>
        </p:txBody>
      </p:sp>
      <p:sp>
        <p:nvSpPr>
          <p:cNvPr id="62" name="Text 59"/>
          <p:cNvSpPr txBox="1"/>
          <p:nvPr/>
        </p:nvSpPr>
        <p:spPr>
          <a:xfrm>
            <a:off x="594360"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cs typeface="Amiri" pitchFamily="2" charset="-78"/>
              </a:rPr>
              <a:t>الْعُطْلَةُ الصَّيْفِيَّةُ</a:t>
            </a:r>
            <a:endParaRPr lang="ar-SA" sz="130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34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GM-NUM-06 · Numbers and Time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DATES · PART 1 · THE COUNTED WEEK (WEBSITE TABLE)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 numbers hiding in the days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أَيَّامُ الْأُسْبُوعِ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6199632" y="1810512"/>
            <a:ext cx="54589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Number inside</a:t>
            </a:r>
            <a:endParaRPr lang="en-US" sz="1100" dirty="0"/>
          </a:p>
        </p:txBody>
      </p:sp>
      <p:sp>
        <p:nvSpPr>
          <p:cNvPr id="17" name="Text 14"/>
          <p:cNvSpPr txBox="1"/>
          <p:nvPr/>
        </p:nvSpPr>
        <p:spPr>
          <a:xfrm>
            <a:off x="382219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18" name="Text 15"/>
          <p:cNvSpPr txBox="1"/>
          <p:nvPr/>
        </p:nvSpPr>
        <p:spPr>
          <a:xfrm>
            <a:off x="53035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Day</a:t>
            </a:r>
            <a:endParaRPr lang="en-US" sz="1100" dirty="0"/>
          </a:p>
        </p:txBody>
      </p:sp>
      <p:sp>
        <p:nvSpPr>
          <p:cNvPr id="19" name="Shape 16"/>
          <p:cNvSpPr/>
          <p:nvPr/>
        </p:nvSpPr>
        <p:spPr>
          <a:xfrm>
            <a:off x="457200" y="2267712"/>
            <a:ext cx="11274552" cy="471569"/>
          </a:xfrm>
          <a:prstGeom prst="roundRect">
            <a:avLst>
              <a:gd name="adj" fmla="val 9695"/>
            </a:avLst>
          </a:prstGeom>
          <a:solidFill>
            <a:srgbClr val="FFFFFF"/>
          </a:solidFill>
          <a:ln w="9525">
            <a:solidFill>
              <a:srgbClr val="D8D0BF"/>
            </a:solidFill>
            <a:prstDash val="solid"/>
          </a:ln>
        </p:spPr>
      </p:sp>
      <p:sp>
        <p:nvSpPr>
          <p:cNvPr id="20" name="Text 17"/>
          <p:cNvSpPr txBox="1"/>
          <p:nvPr/>
        </p:nvSpPr>
        <p:spPr>
          <a:xfrm>
            <a:off x="6236208" y="2267712"/>
            <a:ext cx="5422392" cy="471569"/>
          </a:xfrm>
          <a:prstGeom prst="rect">
            <a:avLst/>
          </a:prstGeom>
          <a:noFill/>
          <a:ln/>
        </p:spPr>
        <p:txBody>
          <a:bodyPr wrap="square" lIns="0" tIns="0" rIns="0" bIns="0" rtlCol="0" anchor="ctr"/>
          <a:lstStyle/>
          <a:p>
            <a:pPr algn="l" indent="0" marL="0">
              <a:buNone/>
            </a:pPr>
            <a:r>
              <a:rPr lang="ar-SA" altLang="en-US" sz="1450" dirty="0">
                <a:solidFill>
                  <a:srgbClr val="5A6472"/>
                </a:solidFill>
                <a:latin typeface="Amiri" pitchFamily="2" charset="-78"/>
                <a:cs typeface="Amiri" pitchFamily="2" charset="-78"/>
              </a:rPr>
              <a:t>وَاحِدٌ</a:t>
            </a:r>
            <a:pPr algn="l" indent="0" marL="0">
              <a:buNone/>
            </a:pPr>
            <a:r>
              <a:rPr lang="en-US" sz="1100" dirty="0">
                <a:solidFill>
                  <a:srgbClr val="5A6472"/>
                </a:solidFill>
                <a:latin typeface="Calibri" pitchFamily="34" charset="0"/>
                <a:cs typeface="Amiri" pitchFamily="2" charset="-78"/>
              </a:rPr>
              <a:t> — day one</a:t>
            </a:r>
            <a:endParaRPr lang="en-US" sz="1100" dirty="0"/>
          </a:p>
        </p:txBody>
      </p:sp>
      <p:sp>
        <p:nvSpPr>
          <p:cNvPr id="21" name="Text 18"/>
          <p:cNvSpPr txBox="1"/>
          <p:nvPr/>
        </p:nvSpPr>
        <p:spPr>
          <a:xfrm>
            <a:off x="3858768" y="2267712"/>
            <a:ext cx="2194560"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Sunday</a:t>
            </a:r>
            <a:endParaRPr lang="en-US" sz="1100" dirty="0"/>
          </a:p>
        </p:txBody>
      </p:sp>
      <p:sp>
        <p:nvSpPr>
          <p:cNvPr id="22" name="Text 19"/>
          <p:cNvSpPr txBox="1"/>
          <p:nvPr/>
        </p:nvSpPr>
        <p:spPr>
          <a:xfrm>
            <a:off x="548640" y="2267712"/>
            <a:ext cx="310896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يَوْمُ الْأَحَدِ</a:t>
            </a:r>
            <a:endParaRPr lang="ar-SA" sz="22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2794145"/>
            <a:ext cx="11274552" cy="471569"/>
          </a:xfrm>
          <a:prstGeom prst="roundRect">
            <a:avLst>
              <a:gd name="adj" fmla="val 9695"/>
            </a:avLst>
          </a:prstGeom>
          <a:solidFill>
            <a:srgbClr val="F4F1EA"/>
          </a:solidFill>
          <a:ln w="9525">
            <a:solidFill>
              <a:srgbClr val="D8D0BF"/>
            </a:solidFill>
            <a:prstDash val="solid"/>
          </a:ln>
        </p:spPr>
      </p:sp>
      <p:sp>
        <p:nvSpPr>
          <p:cNvPr id="26" name="Text 23"/>
          <p:cNvSpPr txBox="1"/>
          <p:nvPr/>
        </p:nvSpPr>
        <p:spPr>
          <a:xfrm>
            <a:off x="6236208" y="2794145"/>
            <a:ext cx="5422392" cy="471569"/>
          </a:xfrm>
          <a:prstGeom prst="rect">
            <a:avLst/>
          </a:prstGeom>
          <a:noFill/>
          <a:ln/>
        </p:spPr>
        <p:txBody>
          <a:bodyPr wrap="square" lIns="0" tIns="0" rIns="0" bIns="0" rtlCol="0" anchor="ctr"/>
          <a:lstStyle/>
          <a:p>
            <a:pPr algn="l" indent="0" marL="0">
              <a:buNone/>
            </a:pPr>
            <a:r>
              <a:rPr lang="ar-SA" altLang="en-US" sz="1450" dirty="0">
                <a:solidFill>
                  <a:srgbClr val="5A6472"/>
                </a:solidFill>
                <a:latin typeface="Amiri" pitchFamily="2" charset="-78"/>
                <a:cs typeface="Amiri" pitchFamily="2" charset="-78"/>
              </a:rPr>
              <a:t>اثْنَانِ</a:t>
            </a:r>
            <a:pPr algn="l" indent="0" marL="0">
              <a:buNone/>
            </a:pPr>
            <a:r>
              <a:rPr lang="en-US" sz="1100" dirty="0">
                <a:solidFill>
                  <a:srgbClr val="5A6472"/>
                </a:solidFill>
                <a:latin typeface="Calibri" pitchFamily="34" charset="0"/>
                <a:cs typeface="Amiri" pitchFamily="2" charset="-78"/>
              </a:rPr>
              <a:t> — day two</a:t>
            </a:r>
            <a:endParaRPr lang="en-US" sz="1100" dirty="0"/>
          </a:p>
        </p:txBody>
      </p:sp>
      <p:sp>
        <p:nvSpPr>
          <p:cNvPr id="27" name="Text 24"/>
          <p:cNvSpPr txBox="1"/>
          <p:nvPr/>
        </p:nvSpPr>
        <p:spPr>
          <a:xfrm>
            <a:off x="3858768" y="2794145"/>
            <a:ext cx="2194560"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Monday</a:t>
            </a:r>
            <a:endParaRPr lang="en-US" sz="1100" dirty="0"/>
          </a:p>
        </p:txBody>
      </p:sp>
      <p:sp>
        <p:nvSpPr>
          <p:cNvPr id="28" name="Text 25"/>
          <p:cNvSpPr txBox="1"/>
          <p:nvPr/>
        </p:nvSpPr>
        <p:spPr>
          <a:xfrm>
            <a:off x="548640" y="2794145"/>
            <a:ext cx="310896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يَوْمُ الِاثْنَيْنِ</a:t>
            </a:r>
            <a:endParaRPr lang="ar-SA" sz="2200" dirty="0"/>
          </a:p>
        </p:txBody>
      </p:sp>
      <p:sp>
        <p:nvSpPr>
          <p:cNvPr id="29" name="Shape 26"/>
          <p:cNvSpPr/>
          <p:nvPr/>
        </p:nvSpPr>
        <p:spPr>
          <a:xfrm>
            <a:off x="11091672" y="2839865"/>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83986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320578"/>
            <a:ext cx="11274552" cy="471569"/>
          </a:xfrm>
          <a:prstGeom prst="roundRect">
            <a:avLst>
              <a:gd name="adj" fmla="val 9695"/>
            </a:avLst>
          </a:prstGeom>
          <a:solidFill>
            <a:srgbClr val="FFFFFF"/>
          </a:solidFill>
          <a:ln w="9525">
            <a:solidFill>
              <a:srgbClr val="D8D0BF"/>
            </a:solidFill>
            <a:prstDash val="solid"/>
          </a:ln>
        </p:spPr>
      </p:sp>
      <p:sp>
        <p:nvSpPr>
          <p:cNvPr id="32" name="Text 29"/>
          <p:cNvSpPr txBox="1"/>
          <p:nvPr/>
        </p:nvSpPr>
        <p:spPr>
          <a:xfrm>
            <a:off x="6236208" y="3320578"/>
            <a:ext cx="5422392" cy="471569"/>
          </a:xfrm>
          <a:prstGeom prst="rect">
            <a:avLst/>
          </a:prstGeom>
          <a:noFill/>
          <a:ln/>
        </p:spPr>
        <p:txBody>
          <a:bodyPr wrap="square" lIns="0" tIns="0" rIns="0" bIns="0" rtlCol="0" anchor="ctr"/>
          <a:lstStyle/>
          <a:p>
            <a:pPr algn="l" indent="0" marL="0">
              <a:buNone/>
            </a:pPr>
            <a:r>
              <a:rPr lang="ar-SA" altLang="en-US" sz="1450" dirty="0">
                <a:solidFill>
                  <a:srgbClr val="5A6472"/>
                </a:solidFill>
                <a:latin typeface="Amiri" pitchFamily="2" charset="-78"/>
                <a:cs typeface="Amiri" pitchFamily="2" charset="-78"/>
              </a:rPr>
              <a:t>ثَلَاثَةٌ</a:t>
            </a:r>
            <a:pPr algn="l" indent="0" marL="0">
              <a:buNone/>
            </a:pPr>
            <a:r>
              <a:rPr lang="en-US" sz="1100" dirty="0">
                <a:solidFill>
                  <a:srgbClr val="5A6472"/>
                </a:solidFill>
                <a:latin typeface="Calibri" pitchFamily="34" charset="0"/>
                <a:cs typeface="Amiri" pitchFamily="2" charset="-78"/>
              </a:rPr>
              <a:t> — day three</a:t>
            </a:r>
            <a:endParaRPr lang="en-US" sz="1100" dirty="0"/>
          </a:p>
        </p:txBody>
      </p:sp>
      <p:sp>
        <p:nvSpPr>
          <p:cNvPr id="33" name="Text 30"/>
          <p:cNvSpPr txBox="1"/>
          <p:nvPr/>
        </p:nvSpPr>
        <p:spPr>
          <a:xfrm>
            <a:off x="3858768" y="3320578"/>
            <a:ext cx="2194560"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Tuesday</a:t>
            </a:r>
            <a:endParaRPr lang="en-US" sz="1100" dirty="0"/>
          </a:p>
        </p:txBody>
      </p:sp>
      <p:sp>
        <p:nvSpPr>
          <p:cNvPr id="34" name="Text 31"/>
          <p:cNvSpPr txBox="1"/>
          <p:nvPr/>
        </p:nvSpPr>
        <p:spPr>
          <a:xfrm>
            <a:off x="548640" y="3320578"/>
            <a:ext cx="310896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يَوْمُ الثُّلَاثَاءِ</a:t>
            </a:r>
            <a:endParaRPr lang="ar-SA" sz="2200" dirty="0"/>
          </a:p>
        </p:txBody>
      </p:sp>
      <p:sp>
        <p:nvSpPr>
          <p:cNvPr id="35" name="Shape 32"/>
          <p:cNvSpPr/>
          <p:nvPr/>
        </p:nvSpPr>
        <p:spPr>
          <a:xfrm>
            <a:off x="11091672" y="3366298"/>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36629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3847011"/>
            <a:ext cx="11274552" cy="471569"/>
          </a:xfrm>
          <a:prstGeom prst="roundRect">
            <a:avLst>
              <a:gd name="adj" fmla="val 9695"/>
            </a:avLst>
          </a:prstGeom>
          <a:solidFill>
            <a:srgbClr val="F4F1EA"/>
          </a:solidFill>
          <a:ln w="9525">
            <a:solidFill>
              <a:srgbClr val="D8D0BF"/>
            </a:solidFill>
            <a:prstDash val="solid"/>
          </a:ln>
        </p:spPr>
      </p:sp>
      <p:sp>
        <p:nvSpPr>
          <p:cNvPr id="38" name="Text 35"/>
          <p:cNvSpPr txBox="1"/>
          <p:nvPr/>
        </p:nvSpPr>
        <p:spPr>
          <a:xfrm>
            <a:off x="6236208" y="3847011"/>
            <a:ext cx="5422392" cy="471569"/>
          </a:xfrm>
          <a:prstGeom prst="rect">
            <a:avLst/>
          </a:prstGeom>
          <a:noFill/>
          <a:ln/>
        </p:spPr>
        <p:txBody>
          <a:bodyPr wrap="square" lIns="0" tIns="0" rIns="0" bIns="0" rtlCol="0" anchor="ctr"/>
          <a:lstStyle/>
          <a:p>
            <a:pPr algn="l" indent="0" marL="0">
              <a:buNone/>
            </a:pPr>
            <a:r>
              <a:rPr lang="ar-SA" altLang="en-US" sz="1450" dirty="0">
                <a:solidFill>
                  <a:srgbClr val="5A6472"/>
                </a:solidFill>
                <a:latin typeface="Amiri" pitchFamily="2" charset="-78"/>
                <a:cs typeface="Amiri" pitchFamily="2" charset="-78"/>
              </a:rPr>
              <a:t>أَرْبَعَةٌ</a:t>
            </a:r>
            <a:pPr algn="l" indent="0" marL="0">
              <a:buNone/>
            </a:pPr>
            <a:r>
              <a:rPr lang="en-US" sz="1100" dirty="0">
                <a:solidFill>
                  <a:srgbClr val="5A6472"/>
                </a:solidFill>
                <a:latin typeface="Calibri" pitchFamily="34" charset="0"/>
                <a:cs typeface="Amiri" pitchFamily="2" charset="-78"/>
              </a:rPr>
              <a:t> — day four</a:t>
            </a:r>
            <a:endParaRPr lang="en-US" sz="1100" dirty="0"/>
          </a:p>
        </p:txBody>
      </p:sp>
      <p:sp>
        <p:nvSpPr>
          <p:cNvPr id="39" name="Text 36"/>
          <p:cNvSpPr txBox="1"/>
          <p:nvPr/>
        </p:nvSpPr>
        <p:spPr>
          <a:xfrm>
            <a:off x="3858768" y="3847011"/>
            <a:ext cx="2194560"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Wednesday</a:t>
            </a:r>
            <a:endParaRPr lang="en-US" sz="1100" dirty="0"/>
          </a:p>
        </p:txBody>
      </p:sp>
      <p:sp>
        <p:nvSpPr>
          <p:cNvPr id="40" name="Text 37"/>
          <p:cNvSpPr txBox="1"/>
          <p:nvPr/>
        </p:nvSpPr>
        <p:spPr>
          <a:xfrm>
            <a:off x="548640" y="3847011"/>
            <a:ext cx="310896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يَوْمُ الْأَرْبِعَاءِ</a:t>
            </a:r>
            <a:endParaRPr lang="ar-SA" sz="2200" dirty="0"/>
          </a:p>
        </p:txBody>
      </p:sp>
      <p:sp>
        <p:nvSpPr>
          <p:cNvPr id="41" name="Shape 38"/>
          <p:cNvSpPr/>
          <p:nvPr/>
        </p:nvSpPr>
        <p:spPr>
          <a:xfrm>
            <a:off x="11091672" y="3892731"/>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389273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Shape 40"/>
          <p:cNvSpPr/>
          <p:nvPr/>
        </p:nvSpPr>
        <p:spPr>
          <a:xfrm>
            <a:off x="457200" y="4373445"/>
            <a:ext cx="11274552" cy="471569"/>
          </a:xfrm>
          <a:prstGeom prst="roundRect">
            <a:avLst>
              <a:gd name="adj" fmla="val 9695"/>
            </a:avLst>
          </a:prstGeom>
          <a:solidFill>
            <a:srgbClr val="FFFFFF"/>
          </a:solidFill>
          <a:ln w="9525">
            <a:solidFill>
              <a:srgbClr val="D8D0BF"/>
            </a:solidFill>
            <a:prstDash val="solid"/>
          </a:ln>
        </p:spPr>
      </p:sp>
      <p:sp>
        <p:nvSpPr>
          <p:cNvPr id="44" name="Text 41"/>
          <p:cNvSpPr txBox="1"/>
          <p:nvPr/>
        </p:nvSpPr>
        <p:spPr>
          <a:xfrm>
            <a:off x="6236208" y="4373445"/>
            <a:ext cx="5422392" cy="471569"/>
          </a:xfrm>
          <a:prstGeom prst="rect">
            <a:avLst/>
          </a:prstGeom>
          <a:noFill/>
          <a:ln/>
        </p:spPr>
        <p:txBody>
          <a:bodyPr wrap="square" lIns="0" tIns="0" rIns="0" bIns="0" rtlCol="0" anchor="ctr"/>
          <a:lstStyle/>
          <a:p>
            <a:pPr algn="l" indent="0" marL="0">
              <a:buNone/>
            </a:pPr>
            <a:r>
              <a:rPr lang="ar-SA" altLang="en-US" sz="1450" dirty="0">
                <a:solidFill>
                  <a:srgbClr val="5A6472"/>
                </a:solidFill>
                <a:latin typeface="Amiri" pitchFamily="2" charset="-78"/>
                <a:cs typeface="Amiri" pitchFamily="2" charset="-78"/>
              </a:rPr>
              <a:t>خَمْسَةٌ</a:t>
            </a:r>
            <a:pPr algn="l" indent="0" marL="0">
              <a:buNone/>
            </a:pPr>
            <a:r>
              <a:rPr lang="en-US" sz="1100" dirty="0">
                <a:solidFill>
                  <a:srgbClr val="5A6472"/>
                </a:solidFill>
                <a:latin typeface="Calibri" pitchFamily="34" charset="0"/>
                <a:cs typeface="Amiri" pitchFamily="2" charset="-78"/>
              </a:rPr>
              <a:t> — day five</a:t>
            </a:r>
            <a:endParaRPr lang="en-US" sz="1100" dirty="0"/>
          </a:p>
        </p:txBody>
      </p:sp>
      <p:sp>
        <p:nvSpPr>
          <p:cNvPr id="45" name="Text 42"/>
          <p:cNvSpPr txBox="1"/>
          <p:nvPr/>
        </p:nvSpPr>
        <p:spPr>
          <a:xfrm>
            <a:off x="3858768" y="4373445"/>
            <a:ext cx="2194560"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Thursday</a:t>
            </a:r>
            <a:endParaRPr lang="en-US" sz="1100" dirty="0"/>
          </a:p>
        </p:txBody>
      </p:sp>
      <p:sp>
        <p:nvSpPr>
          <p:cNvPr id="46" name="Text 43"/>
          <p:cNvSpPr txBox="1"/>
          <p:nvPr/>
        </p:nvSpPr>
        <p:spPr>
          <a:xfrm>
            <a:off x="548640" y="4373445"/>
            <a:ext cx="310896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يَوْمُ الْخَمِيسِ</a:t>
            </a:r>
            <a:endParaRPr lang="ar-SA" sz="2200" dirty="0"/>
          </a:p>
        </p:txBody>
      </p:sp>
      <p:sp>
        <p:nvSpPr>
          <p:cNvPr id="47" name="Shape 44"/>
          <p:cNvSpPr/>
          <p:nvPr/>
        </p:nvSpPr>
        <p:spPr>
          <a:xfrm>
            <a:off x="11091672" y="4419165"/>
            <a:ext cx="548640" cy="182880"/>
          </a:xfrm>
          <a:prstGeom prst="roundRect">
            <a:avLst>
              <a:gd name="adj" fmla="val 50000"/>
            </a:avLst>
          </a:prstGeom>
          <a:solidFill>
            <a:srgbClr val="2E8B57"/>
          </a:solidFill>
          <a:ln w="12700">
            <a:solidFill>
              <a:srgbClr val="2E8B57"/>
            </a:solidFill>
            <a:prstDash val="solid"/>
          </a:ln>
        </p:spPr>
      </p:sp>
      <p:sp>
        <p:nvSpPr>
          <p:cNvPr id="48" name="Text 45"/>
          <p:cNvSpPr txBox="1"/>
          <p:nvPr/>
        </p:nvSpPr>
        <p:spPr>
          <a:xfrm>
            <a:off x="11091672" y="441916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9" name="Shape 46"/>
          <p:cNvSpPr/>
          <p:nvPr/>
        </p:nvSpPr>
        <p:spPr>
          <a:xfrm>
            <a:off x="457200" y="4899878"/>
            <a:ext cx="11274552" cy="471569"/>
          </a:xfrm>
          <a:prstGeom prst="roundRect">
            <a:avLst>
              <a:gd name="adj" fmla="val 9695"/>
            </a:avLst>
          </a:prstGeom>
          <a:solidFill>
            <a:srgbClr val="F4F1EA"/>
          </a:solidFill>
          <a:ln w="9525">
            <a:solidFill>
              <a:srgbClr val="D8D0BF"/>
            </a:solidFill>
            <a:prstDash val="solid"/>
          </a:ln>
        </p:spPr>
      </p:sp>
      <p:sp>
        <p:nvSpPr>
          <p:cNvPr id="50" name="Text 47"/>
          <p:cNvSpPr txBox="1"/>
          <p:nvPr/>
        </p:nvSpPr>
        <p:spPr>
          <a:xfrm>
            <a:off x="6236208" y="4899878"/>
            <a:ext cx="5422392"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day of gathering (Jumuʿa)</a:t>
            </a:r>
            <a:endParaRPr lang="en-US" sz="1100" dirty="0"/>
          </a:p>
        </p:txBody>
      </p:sp>
      <p:sp>
        <p:nvSpPr>
          <p:cNvPr id="51" name="Text 48"/>
          <p:cNvSpPr txBox="1"/>
          <p:nvPr/>
        </p:nvSpPr>
        <p:spPr>
          <a:xfrm>
            <a:off x="3858768" y="4899878"/>
            <a:ext cx="2194560"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Friday</a:t>
            </a:r>
            <a:endParaRPr lang="en-US" sz="1100" dirty="0"/>
          </a:p>
        </p:txBody>
      </p:sp>
      <p:sp>
        <p:nvSpPr>
          <p:cNvPr id="52" name="Text 49"/>
          <p:cNvSpPr txBox="1"/>
          <p:nvPr/>
        </p:nvSpPr>
        <p:spPr>
          <a:xfrm>
            <a:off x="548640" y="4899878"/>
            <a:ext cx="310896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يَوْمُ الْجُمُعَةِ</a:t>
            </a:r>
            <a:endParaRPr lang="ar-SA" sz="2200" dirty="0"/>
          </a:p>
        </p:txBody>
      </p:sp>
      <p:sp>
        <p:nvSpPr>
          <p:cNvPr id="53" name="Shape 50"/>
          <p:cNvSpPr/>
          <p:nvPr/>
        </p:nvSpPr>
        <p:spPr>
          <a:xfrm>
            <a:off x="11091672" y="4945598"/>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494559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Shape 52"/>
          <p:cNvSpPr/>
          <p:nvPr/>
        </p:nvSpPr>
        <p:spPr>
          <a:xfrm>
            <a:off x="457200" y="5426311"/>
            <a:ext cx="11274552" cy="471569"/>
          </a:xfrm>
          <a:prstGeom prst="roundRect">
            <a:avLst>
              <a:gd name="adj" fmla="val 9695"/>
            </a:avLst>
          </a:prstGeom>
          <a:solidFill>
            <a:srgbClr val="FFFFFF"/>
          </a:solidFill>
          <a:ln w="9525">
            <a:solidFill>
              <a:srgbClr val="D8D0BF"/>
            </a:solidFill>
            <a:prstDash val="solid"/>
          </a:ln>
        </p:spPr>
      </p:sp>
      <p:sp>
        <p:nvSpPr>
          <p:cNvPr id="56" name="Text 53"/>
          <p:cNvSpPr txBox="1"/>
          <p:nvPr/>
        </p:nvSpPr>
        <p:spPr>
          <a:xfrm>
            <a:off x="6236208" y="5426311"/>
            <a:ext cx="5422392"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learn it as a word</a:t>
            </a:r>
            <a:endParaRPr lang="en-US" sz="1100" dirty="0"/>
          </a:p>
        </p:txBody>
      </p:sp>
      <p:sp>
        <p:nvSpPr>
          <p:cNvPr id="57" name="Text 54"/>
          <p:cNvSpPr txBox="1"/>
          <p:nvPr/>
        </p:nvSpPr>
        <p:spPr>
          <a:xfrm>
            <a:off x="3858768" y="5426311"/>
            <a:ext cx="2194560"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Saturday</a:t>
            </a:r>
            <a:endParaRPr lang="en-US" sz="1100" dirty="0"/>
          </a:p>
        </p:txBody>
      </p:sp>
      <p:sp>
        <p:nvSpPr>
          <p:cNvPr id="58" name="Text 55"/>
          <p:cNvSpPr txBox="1"/>
          <p:nvPr/>
        </p:nvSpPr>
        <p:spPr>
          <a:xfrm>
            <a:off x="548640" y="5426311"/>
            <a:ext cx="310896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يَوْمُ السَّبْتِ</a:t>
            </a:r>
            <a:endParaRPr lang="ar-SA" sz="2200" dirty="0"/>
          </a:p>
        </p:txBody>
      </p:sp>
      <p:sp>
        <p:nvSpPr>
          <p:cNvPr id="59" name="Shape 56"/>
          <p:cNvSpPr/>
          <p:nvPr/>
        </p:nvSpPr>
        <p:spPr>
          <a:xfrm>
            <a:off x="11091672" y="5472031"/>
            <a:ext cx="548640" cy="182880"/>
          </a:xfrm>
          <a:prstGeom prst="roundRect">
            <a:avLst>
              <a:gd name="adj" fmla="val 50000"/>
            </a:avLst>
          </a:prstGeom>
          <a:solidFill>
            <a:srgbClr val="2E8B57"/>
          </a:solidFill>
          <a:ln w="12700">
            <a:solidFill>
              <a:srgbClr val="2E8B57"/>
            </a:solidFill>
            <a:prstDash val="solid"/>
          </a:ln>
        </p:spPr>
      </p:sp>
      <p:sp>
        <p:nvSpPr>
          <p:cNvPr id="60" name="Text 57"/>
          <p:cNvSpPr txBox="1"/>
          <p:nvPr/>
        </p:nvSpPr>
        <p:spPr>
          <a:xfrm>
            <a:off x="11091672" y="547203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61" name="Text 58"/>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memory gift: you only truly memorise TWO days — al-jumuʿa and as-sabt. Ask mā l-yawm? — al-yawmu yawmu l-khamīs. amsi · al-yawma · ghadan.</a:t>
            </a:r>
            <a:endParaRPr lang="en-US" sz="1150" dirty="0"/>
          </a:p>
        </p:txBody>
      </p:sp>
      <p:sp>
        <p:nvSpPr>
          <p:cNvPr id="62" name="Text 5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34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GM-NUM-06 · Numbers and Time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DATES · PART 2 · THE TWELVE MONTHS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Western months in Arabic script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الشُّهُورُ الْمِيلَادِيَّةُ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10588752" y="1810512"/>
            <a:ext cx="10698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17" name="Text 14"/>
          <p:cNvSpPr txBox="1"/>
          <p:nvPr/>
        </p:nvSpPr>
        <p:spPr>
          <a:xfrm>
            <a:off x="821131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Month</a:t>
            </a:r>
            <a:endParaRPr lang="en-US" sz="1100" dirty="0"/>
          </a:p>
        </p:txBody>
      </p:sp>
      <p:sp>
        <p:nvSpPr>
          <p:cNvPr id="18" name="Text 15"/>
          <p:cNvSpPr txBox="1"/>
          <p:nvPr/>
        </p:nvSpPr>
        <p:spPr>
          <a:xfrm>
            <a:off x="6748272" y="1810512"/>
            <a:ext cx="1316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19" name="Text 16"/>
          <p:cNvSpPr txBox="1"/>
          <p:nvPr/>
        </p:nvSpPr>
        <p:spPr>
          <a:xfrm>
            <a:off x="437083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Month</a:t>
            </a:r>
            <a:endParaRPr lang="en-US" sz="1100" dirty="0"/>
          </a:p>
        </p:txBody>
      </p:sp>
      <p:sp>
        <p:nvSpPr>
          <p:cNvPr id="20" name="Text 17"/>
          <p:cNvSpPr txBox="1"/>
          <p:nvPr/>
        </p:nvSpPr>
        <p:spPr>
          <a:xfrm>
            <a:off x="2907792" y="1810512"/>
            <a:ext cx="1316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21" name="Text 18"/>
          <p:cNvSpPr txBox="1"/>
          <p:nvPr/>
        </p:nvSpPr>
        <p:spPr>
          <a:xfrm>
            <a:off x="53035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Month</a:t>
            </a:r>
            <a:endParaRPr lang="en-US" sz="1100" dirty="0"/>
          </a:p>
        </p:txBody>
      </p:sp>
      <p:sp>
        <p:nvSpPr>
          <p:cNvPr id="22" name="Shape 19"/>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3" name="Text 20"/>
          <p:cNvSpPr txBox="1"/>
          <p:nvPr/>
        </p:nvSpPr>
        <p:spPr>
          <a:xfrm>
            <a:off x="10625328" y="2267712"/>
            <a:ext cx="10332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Sep</a:t>
            </a:r>
            <a:endParaRPr lang="en-US" sz="1100" dirty="0"/>
          </a:p>
        </p:txBody>
      </p:sp>
      <p:sp>
        <p:nvSpPr>
          <p:cNvPr id="24" name="Text 21"/>
          <p:cNvSpPr txBox="1"/>
          <p:nvPr/>
        </p:nvSpPr>
        <p:spPr>
          <a:xfrm>
            <a:off x="8229600" y="2267712"/>
            <a:ext cx="219456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سِبْتَمْبِر</a:t>
            </a:r>
            <a:endParaRPr lang="ar-SA" sz="2400" dirty="0"/>
          </a:p>
        </p:txBody>
      </p:sp>
      <p:sp>
        <p:nvSpPr>
          <p:cNvPr id="25" name="Text 22"/>
          <p:cNvSpPr txBox="1"/>
          <p:nvPr/>
        </p:nvSpPr>
        <p:spPr>
          <a:xfrm>
            <a:off x="6784848" y="2267712"/>
            <a:ext cx="12801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May</a:t>
            </a:r>
            <a:endParaRPr lang="en-US" sz="1100" dirty="0"/>
          </a:p>
        </p:txBody>
      </p:sp>
      <p:sp>
        <p:nvSpPr>
          <p:cNvPr id="26" name="Text 23"/>
          <p:cNvSpPr txBox="1"/>
          <p:nvPr/>
        </p:nvSpPr>
        <p:spPr>
          <a:xfrm>
            <a:off x="4389120" y="2267712"/>
            <a:ext cx="219456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مَايُو</a:t>
            </a:r>
            <a:endParaRPr lang="ar-SA" sz="2400" dirty="0"/>
          </a:p>
        </p:txBody>
      </p:sp>
      <p:sp>
        <p:nvSpPr>
          <p:cNvPr id="27" name="Text 24"/>
          <p:cNvSpPr txBox="1"/>
          <p:nvPr/>
        </p:nvSpPr>
        <p:spPr>
          <a:xfrm>
            <a:off x="2944368" y="2267712"/>
            <a:ext cx="12801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Jan</a:t>
            </a:r>
            <a:endParaRPr lang="en-US" sz="1100" dirty="0"/>
          </a:p>
        </p:txBody>
      </p:sp>
      <p:sp>
        <p:nvSpPr>
          <p:cNvPr id="28" name="Text 25"/>
          <p:cNvSpPr txBox="1"/>
          <p:nvPr/>
        </p:nvSpPr>
        <p:spPr>
          <a:xfrm>
            <a:off x="548640" y="2267712"/>
            <a:ext cx="219456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يَنَايِر</a:t>
            </a:r>
            <a:endParaRPr lang="ar-SA" sz="2400" dirty="0"/>
          </a:p>
        </p:txBody>
      </p:sp>
      <p:sp>
        <p:nvSpPr>
          <p:cNvPr id="29" name="Shape 26"/>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32" name="Text 29"/>
          <p:cNvSpPr txBox="1"/>
          <p:nvPr/>
        </p:nvSpPr>
        <p:spPr>
          <a:xfrm>
            <a:off x="10625328" y="3054096"/>
            <a:ext cx="10332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Oct</a:t>
            </a:r>
            <a:endParaRPr lang="en-US" sz="1100" dirty="0"/>
          </a:p>
        </p:txBody>
      </p:sp>
      <p:sp>
        <p:nvSpPr>
          <p:cNvPr id="33" name="Text 30"/>
          <p:cNvSpPr txBox="1"/>
          <p:nvPr/>
        </p:nvSpPr>
        <p:spPr>
          <a:xfrm>
            <a:off x="8229600" y="3054096"/>
            <a:ext cx="219456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أُكْتُوبَر</a:t>
            </a:r>
            <a:endParaRPr lang="ar-SA" sz="2400" dirty="0"/>
          </a:p>
        </p:txBody>
      </p:sp>
      <p:sp>
        <p:nvSpPr>
          <p:cNvPr id="34" name="Text 31"/>
          <p:cNvSpPr txBox="1"/>
          <p:nvPr/>
        </p:nvSpPr>
        <p:spPr>
          <a:xfrm>
            <a:off x="6784848" y="3054096"/>
            <a:ext cx="12801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Jun</a:t>
            </a:r>
            <a:endParaRPr lang="en-US" sz="1100" dirty="0"/>
          </a:p>
        </p:txBody>
      </p:sp>
      <p:sp>
        <p:nvSpPr>
          <p:cNvPr id="35" name="Text 32"/>
          <p:cNvSpPr txBox="1"/>
          <p:nvPr/>
        </p:nvSpPr>
        <p:spPr>
          <a:xfrm>
            <a:off x="4389120" y="3054096"/>
            <a:ext cx="219456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يُونْيُو</a:t>
            </a:r>
            <a:endParaRPr lang="ar-SA" sz="2400" dirty="0"/>
          </a:p>
        </p:txBody>
      </p:sp>
      <p:sp>
        <p:nvSpPr>
          <p:cNvPr id="36" name="Text 33"/>
          <p:cNvSpPr txBox="1"/>
          <p:nvPr/>
        </p:nvSpPr>
        <p:spPr>
          <a:xfrm>
            <a:off x="2944368" y="3054096"/>
            <a:ext cx="12801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Feb</a:t>
            </a:r>
            <a:endParaRPr lang="en-US" sz="1100" dirty="0"/>
          </a:p>
        </p:txBody>
      </p:sp>
      <p:sp>
        <p:nvSpPr>
          <p:cNvPr id="37" name="Text 34"/>
          <p:cNvSpPr txBox="1"/>
          <p:nvPr/>
        </p:nvSpPr>
        <p:spPr>
          <a:xfrm>
            <a:off x="548640" y="3054096"/>
            <a:ext cx="219456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فِبْرَايِر</a:t>
            </a:r>
            <a:endParaRPr lang="ar-SA" sz="2400" dirty="0"/>
          </a:p>
        </p:txBody>
      </p:sp>
      <p:sp>
        <p:nvSpPr>
          <p:cNvPr id="38" name="Shape 35"/>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0" name="Shape 37"/>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41" name="Text 38"/>
          <p:cNvSpPr txBox="1"/>
          <p:nvPr/>
        </p:nvSpPr>
        <p:spPr>
          <a:xfrm>
            <a:off x="10625328" y="3840480"/>
            <a:ext cx="10332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Nov</a:t>
            </a:r>
            <a:endParaRPr lang="en-US" sz="1100" dirty="0"/>
          </a:p>
        </p:txBody>
      </p:sp>
      <p:sp>
        <p:nvSpPr>
          <p:cNvPr id="42" name="Text 39"/>
          <p:cNvSpPr txBox="1"/>
          <p:nvPr/>
        </p:nvSpPr>
        <p:spPr>
          <a:xfrm>
            <a:off x="8229600" y="3840480"/>
            <a:ext cx="219456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نُوفَمْبِر</a:t>
            </a:r>
            <a:endParaRPr lang="ar-SA" sz="2400" dirty="0"/>
          </a:p>
        </p:txBody>
      </p:sp>
      <p:sp>
        <p:nvSpPr>
          <p:cNvPr id="43" name="Text 40"/>
          <p:cNvSpPr txBox="1"/>
          <p:nvPr/>
        </p:nvSpPr>
        <p:spPr>
          <a:xfrm>
            <a:off x="6784848" y="3840480"/>
            <a:ext cx="12801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Jul</a:t>
            </a:r>
            <a:endParaRPr lang="en-US" sz="1100" dirty="0"/>
          </a:p>
        </p:txBody>
      </p:sp>
      <p:sp>
        <p:nvSpPr>
          <p:cNvPr id="44" name="Text 41"/>
          <p:cNvSpPr txBox="1"/>
          <p:nvPr/>
        </p:nvSpPr>
        <p:spPr>
          <a:xfrm>
            <a:off x="4389120" y="3840480"/>
            <a:ext cx="219456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يُولْيُو</a:t>
            </a:r>
            <a:endParaRPr lang="ar-SA" sz="2400" dirty="0"/>
          </a:p>
        </p:txBody>
      </p:sp>
      <p:sp>
        <p:nvSpPr>
          <p:cNvPr id="45" name="Text 42"/>
          <p:cNvSpPr txBox="1"/>
          <p:nvPr/>
        </p:nvSpPr>
        <p:spPr>
          <a:xfrm>
            <a:off x="2944368" y="3840480"/>
            <a:ext cx="12801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Mar</a:t>
            </a:r>
            <a:endParaRPr lang="en-US" sz="1100" dirty="0"/>
          </a:p>
        </p:txBody>
      </p:sp>
      <p:sp>
        <p:nvSpPr>
          <p:cNvPr id="46" name="Text 43"/>
          <p:cNvSpPr txBox="1"/>
          <p:nvPr/>
        </p:nvSpPr>
        <p:spPr>
          <a:xfrm>
            <a:off x="548640" y="3840480"/>
            <a:ext cx="219456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مَارِس</a:t>
            </a:r>
            <a:endParaRPr lang="ar-SA" sz="2400" dirty="0"/>
          </a:p>
        </p:txBody>
      </p:sp>
      <p:sp>
        <p:nvSpPr>
          <p:cNvPr id="47" name="Shape 44"/>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48" name="Text 45"/>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9" name="Shape 46"/>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50" name="Text 47"/>
          <p:cNvSpPr txBox="1"/>
          <p:nvPr/>
        </p:nvSpPr>
        <p:spPr>
          <a:xfrm>
            <a:off x="10625328" y="4626864"/>
            <a:ext cx="10332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Dec</a:t>
            </a:r>
            <a:endParaRPr lang="en-US" sz="1100" dirty="0"/>
          </a:p>
        </p:txBody>
      </p:sp>
      <p:sp>
        <p:nvSpPr>
          <p:cNvPr id="51" name="Text 48"/>
          <p:cNvSpPr txBox="1"/>
          <p:nvPr/>
        </p:nvSpPr>
        <p:spPr>
          <a:xfrm>
            <a:off x="8229600" y="4626864"/>
            <a:ext cx="219456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دِيسَمْبِر</a:t>
            </a:r>
            <a:endParaRPr lang="ar-SA" sz="2400" dirty="0"/>
          </a:p>
        </p:txBody>
      </p:sp>
      <p:sp>
        <p:nvSpPr>
          <p:cNvPr id="52" name="Text 49"/>
          <p:cNvSpPr txBox="1"/>
          <p:nvPr/>
        </p:nvSpPr>
        <p:spPr>
          <a:xfrm>
            <a:off x="6784848" y="4626864"/>
            <a:ext cx="12801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Aug</a:t>
            </a:r>
            <a:endParaRPr lang="en-US" sz="1100" dirty="0"/>
          </a:p>
        </p:txBody>
      </p:sp>
      <p:sp>
        <p:nvSpPr>
          <p:cNvPr id="53" name="Text 50"/>
          <p:cNvSpPr txBox="1"/>
          <p:nvPr/>
        </p:nvSpPr>
        <p:spPr>
          <a:xfrm>
            <a:off x="4389120" y="4626864"/>
            <a:ext cx="219456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أُغُسْطُس</a:t>
            </a:r>
            <a:endParaRPr lang="ar-SA" sz="2400" dirty="0"/>
          </a:p>
        </p:txBody>
      </p:sp>
      <p:sp>
        <p:nvSpPr>
          <p:cNvPr id="54" name="Text 51"/>
          <p:cNvSpPr txBox="1"/>
          <p:nvPr/>
        </p:nvSpPr>
        <p:spPr>
          <a:xfrm>
            <a:off x="2944368" y="4626864"/>
            <a:ext cx="12801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Apr</a:t>
            </a:r>
            <a:endParaRPr lang="en-US" sz="1100" dirty="0"/>
          </a:p>
        </p:txBody>
      </p:sp>
      <p:sp>
        <p:nvSpPr>
          <p:cNvPr id="55" name="Text 52"/>
          <p:cNvSpPr txBox="1"/>
          <p:nvPr/>
        </p:nvSpPr>
        <p:spPr>
          <a:xfrm>
            <a:off x="548640" y="4626864"/>
            <a:ext cx="219456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أَبْرِيل</a:t>
            </a:r>
            <a:endParaRPr lang="ar-SA" sz="2400" dirty="0"/>
          </a:p>
        </p:txBody>
      </p:sp>
      <p:sp>
        <p:nvSpPr>
          <p:cNvPr id="56" name="Shape 53"/>
          <p:cNvSpPr/>
          <p:nvPr/>
        </p:nvSpPr>
        <p:spPr>
          <a:xfrm>
            <a:off x="11091672" y="4672584"/>
            <a:ext cx="548640" cy="182880"/>
          </a:xfrm>
          <a:prstGeom prst="roundRect">
            <a:avLst>
              <a:gd name="adj" fmla="val 50000"/>
            </a:avLst>
          </a:prstGeom>
          <a:solidFill>
            <a:srgbClr val="2E8B57"/>
          </a:solidFill>
          <a:ln w="12700">
            <a:solidFill>
              <a:srgbClr val="2E8B57"/>
            </a:solidFill>
            <a:prstDash val="solid"/>
          </a:ln>
        </p:spPr>
      </p:sp>
      <p:sp>
        <p:nvSpPr>
          <p:cNvPr id="57" name="Text 54"/>
          <p:cNvSpPr txBox="1"/>
          <p:nvPr/>
        </p:nvSpPr>
        <p:spPr>
          <a:xfrm>
            <a:off x="11091672" y="467258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8" name="Text 55"/>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Website: the months are transliterations — sound them out. Ear trap: yūnyū (June, nūn) vs yūlyū (July, lām). Heritage link: at-taqwīm al-mīlādī (from the birth of ʿĪsā, peace be upon him) and at-taqwīm al-hijrī; Ramaḍān is the ninth Hijri month.</a:t>
            </a:r>
            <a:endParaRPr lang="en-US" sz="1100" dirty="0"/>
          </a:p>
        </p:txBody>
      </p:sp>
      <p:sp>
        <p:nvSpPr>
          <p:cNvPr id="59" name="Text 5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34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GM-NUM-06 · Numbers and Time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DATES · PART 3 · SAYING THE DATE (WEBSITE TABLE) · DEVELOP / STRETCH</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Ordinal + min + month</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مَا التَّارِيخُ الْيَوْمَ؟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211312" y="1810512"/>
            <a:ext cx="3447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Note</a:t>
            </a:r>
            <a:endParaRPr lang="en-US" sz="1100" dirty="0"/>
          </a:p>
        </p:txBody>
      </p:sp>
      <p:sp>
        <p:nvSpPr>
          <p:cNvPr id="17" name="Text 14"/>
          <p:cNvSpPr txBox="1"/>
          <p:nvPr/>
        </p:nvSpPr>
        <p:spPr>
          <a:xfrm>
            <a:off x="217627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Arabic</a:t>
            </a:r>
            <a:endParaRPr lang="en-US" sz="1100" dirty="0"/>
          </a:p>
        </p:txBody>
      </p:sp>
      <p:sp>
        <p:nvSpPr>
          <p:cNvPr id="18" name="Text 15"/>
          <p:cNvSpPr txBox="1"/>
          <p:nvPr/>
        </p:nvSpPr>
        <p:spPr>
          <a:xfrm>
            <a:off x="530352" y="1810512"/>
            <a:ext cx="1499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Date</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8247888" y="2267712"/>
            <a:ext cx="34107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full exam format</a:t>
            </a:r>
            <a:endParaRPr lang="en-US" sz="1100" dirty="0"/>
          </a:p>
        </p:txBody>
      </p:sp>
      <p:sp>
        <p:nvSpPr>
          <p:cNvPr id="21" name="Text 18"/>
          <p:cNvSpPr txBox="1"/>
          <p:nvPr/>
        </p:nvSpPr>
        <p:spPr>
          <a:xfrm>
            <a:off x="2194560" y="2267712"/>
            <a:ext cx="585216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الْيَوْمُ الْأَوَّلُ مِنْ شَهْرِ مَايُو</a:t>
            </a:r>
            <a:endParaRPr lang="ar-SA" sz="2200" dirty="0"/>
          </a:p>
        </p:txBody>
      </p:sp>
      <p:sp>
        <p:nvSpPr>
          <p:cNvPr id="22" name="Text 19"/>
          <p:cNvSpPr txBox="1"/>
          <p:nvPr/>
        </p:nvSpPr>
        <p:spPr>
          <a:xfrm>
            <a:off x="566928" y="2267712"/>
            <a:ext cx="1463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 May</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8247888" y="2881884"/>
            <a:ext cx="34107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short form — shahr optional</a:t>
            </a:r>
            <a:endParaRPr lang="en-US" sz="1100" dirty="0"/>
          </a:p>
        </p:txBody>
      </p:sp>
      <p:sp>
        <p:nvSpPr>
          <p:cNvPr id="27" name="Text 24"/>
          <p:cNvSpPr txBox="1"/>
          <p:nvPr/>
        </p:nvSpPr>
        <p:spPr>
          <a:xfrm>
            <a:off x="2194560" y="2881884"/>
            <a:ext cx="585216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الثَّالِثُ مِنْ سِبْتَمْبِر</a:t>
            </a:r>
            <a:endParaRPr lang="ar-SA" sz="2200" dirty="0"/>
          </a:p>
        </p:txBody>
      </p:sp>
      <p:sp>
        <p:nvSpPr>
          <p:cNvPr id="28" name="Text 25"/>
          <p:cNvSpPr txBox="1"/>
          <p:nvPr/>
        </p:nvSpPr>
        <p:spPr>
          <a:xfrm>
            <a:off x="566928" y="2881884"/>
            <a:ext cx="1463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 Sep</a:t>
            </a:r>
            <a:endParaRPr lang="en-US" sz="11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8247888" y="3496056"/>
            <a:ext cx="34107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masculine ordinal (yawm)</a:t>
            </a:r>
            <a:endParaRPr lang="en-US" sz="1100" dirty="0"/>
          </a:p>
        </p:txBody>
      </p:sp>
      <p:sp>
        <p:nvSpPr>
          <p:cNvPr id="33" name="Text 30"/>
          <p:cNvSpPr txBox="1"/>
          <p:nvPr/>
        </p:nvSpPr>
        <p:spPr>
          <a:xfrm>
            <a:off x="2194560" y="3496056"/>
            <a:ext cx="585216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الْخَامِسُ مِنْ مَارِس</a:t>
            </a:r>
            <a:endParaRPr lang="ar-SA" sz="2200" dirty="0"/>
          </a:p>
        </p:txBody>
      </p:sp>
      <p:sp>
        <p:nvSpPr>
          <p:cNvPr id="34" name="Text 31"/>
          <p:cNvSpPr txBox="1"/>
          <p:nvPr/>
        </p:nvSpPr>
        <p:spPr>
          <a:xfrm>
            <a:off x="566928" y="3496056"/>
            <a:ext cx="1463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 Mar</a:t>
            </a:r>
            <a:endParaRPr lang="en-US" sz="1100" dirty="0"/>
          </a:p>
        </p:txBody>
      </p:sp>
      <p:sp>
        <p:nvSpPr>
          <p:cNvPr id="35" name="Shape 32"/>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8" name="Text 35"/>
          <p:cNvSpPr txBox="1"/>
          <p:nvPr/>
        </p:nvSpPr>
        <p:spPr>
          <a:xfrm>
            <a:off x="8247888" y="4110228"/>
            <a:ext cx="34107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after fī: kasra</a:t>
            </a:r>
            <a:endParaRPr lang="en-US" sz="1100" dirty="0"/>
          </a:p>
        </p:txBody>
      </p:sp>
      <p:sp>
        <p:nvSpPr>
          <p:cNvPr id="39" name="Text 36"/>
          <p:cNvSpPr txBox="1"/>
          <p:nvPr/>
        </p:nvSpPr>
        <p:spPr>
          <a:xfrm>
            <a:off x="2194560" y="4110228"/>
            <a:ext cx="585216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فِي الْخَامِسِ مِنْ يُولْيُو</a:t>
            </a:r>
            <a:endParaRPr lang="ar-SA" sz="2200" dirty="0"/>
          </a:p>
        </p:txBody>
      </p:sp>
      <p:sp>
        <p:nvSpPr>
          <p:cNvPr id="40" name="Text 37"/>
          <p:cNvSpPr txBox="1"/>
          <p:nvPr/>
        </p:nvSpPr>
        <p:spPr>
          <a:xfrm>
            <a:off x="566928" y="4110228"/>
            <a:ext cx="1463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on 5 Jul</a:t>
            </a:r>
            <a:endParaRPr lang="en-US" sz="1100" dirty="0"/>
          </a:p>
        </p:txBody>
      </p:sp>
      <p:sp>
        <p:nvSpPr>
          <p:cNvPr id="41" name="Shape 38"/>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2" name="Text 39"/>
          <p:cNvSpPr txBox="1"/>
          <p:nvPr/>
        </p:nvSpPr>
        <p:spPr>
          <a:xfrm>
            <a:off x="8247888" y="4724400"/>
            <a:ext cx="34107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compound ordinal</a:t>
            </a:r>
            <a:endParaRPr lang="en-US" sz="1100" dirty="0"/>
          </a:p>
        </p:txBody>
      </p:sp>
      <p:sp>
        <p:nvSpPr>
          <p:cNvPr id="43" name="Text 40"/>
          <p:cNvSpPr txBox="1"/>
          <p:nvPr/>
        </p:nvSpPr>
        <p:spPr>
          <a:xfrm>
            <a:off x="2194560" y="4724400"/>
            <a:ext cx="585216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الثَّانِي وَالْعِشْرُونَ مِنْ أُكْتُوبَر</a:t>
            </a:r>
            <a:endParaRPr lang="ar-SA" sz="2200" dirty="0"/>
          </a:p>
        </p:txBody>
      </p:sp>
      <p:sp>
        <p:nvSpPr>
          <p:cNvPr id="44" name="Text 41"/>
          <p:cNvSpPr txBox="1"/>
          <p:nvPr/>
        </p:nvSpPr>
        <p:spPr>
          <a:xfrm>
            <a:off x="566928" y="4724400"/>
            <a:ext cx="1463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22 Oct</a:t>
            </a:r>
            <a:endParaRPr lang="en-US" sz="1100" dirty="0"/>
          </a:p>
        </p:txBody>
      </p:sp>
      <p:sp>
        <p:nvSpPr>
          <p:cNvPr id="45" name="Shape 42"/>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6" name="Text 43"/>
          <p:cNvSpPr txBox="1"/>
          <p:nvPr/>
        </p:nvSpPr>
        <p:spPr>
          <a:xfrm>
            <a:off x="8247888" y="5338572"/>
            <a:ext cx="34107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year (Stretch)</a:t>
            </a:r>
            <a:endParaRPr lang="en-US" sz="1100" dirty="0"/>
          </a:p>
        </p:txBody>
      </p:sp>
      <p:sp>
        <p:nvSpPr>
          <p:cNvPr id="47" name="Text 44"/>
          <p:cNvSpPr txBox="1"/>
          <p:nvPr/>
        </p:nvSpPr>
        <p:spPr>
          <a:xfrm>
            <a:off x="2194560" y="5338572"/>
            <a:ext cx="585216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الْخَامِسُ مِنْ مَارِس سَنَةَ أَلْفَيْنِ وَسَبْعٍ وَعِشْرِينَ</a:t>
            </a:r>
            <a:endParaRPr lang="ar-SA" sz="2200" dirty="0"/>
          </a:p>
        </p:txBody>
      </p:sp>
      <p:sp>
        <p:nvSpPr>
          <p:cNvPr id="48" name="Text 45"/>
          <p:cNvSpPr txBox="1"/>
          <p:nvPr/>
        </p:nvSpPr>
        <p:spPr>
          <a:xfrm>
            <a:off x="566928" y="5338572"/>
            <a:ext cx="1463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5/3/2027</a:t>
            </a:r>
            <a:endParaRPr lang="en-US" sz="11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Website gender contrast: clock times are feminine (as-sāʿatu l-khāmisa) because sāʿa is feminine; dates are masculine (al-yawmu l-khāmis) because yawm is masculine. Digits: day/month/year, like the UK.</a:t>
            </a:r>
            <a:endParaRPr lang="en-US" sz="110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34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GM-NUM-06 · Numbers and Time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GM-NUM-06</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day is “day two”?</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الثُّلَاثَاءِ</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الْأَحَدِ</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الِاثْنَيْنِ</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month is June?</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يُونْيُو</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يُولْيُو</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يَنَايِر</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5th of March”.</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الْخَامِسَةُ مِنْ مَارِس</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الْخَامِسُ مِنْ مَارِس</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خَمْسَةٌ مِنْ مَارِس</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“on the 10th of June”.</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فِي الْعَاشِرِ مِنْ يُونْيُو</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فِي الْعَاشِرُ مِنْ يُونْيُو</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فِي الْعَاشِرَةِ مِنْ يُونْيُو</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34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GM-NUM-06 · Numbers and Time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GM-NUM-06</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day is “day two”?</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الثُّلَاثَاءِ</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الْأَحَدِ</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الِاثْنَيْنِ</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ithnān = two.</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month is June?</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يُونْيُو</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يُولْيُو</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يَنَايِر</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N for nūn = June.</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5th of March”.</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الْخَامِسَةُ مِنْ مَارِس</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الْخَامِسُ مِنْ مَارِس</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خَمْسَةٌ مِنْ مَارِس</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Masculine ordinal.</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“on the 10th of June”.</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فِي الْعَاشِرِ مِنْ يُونْيُو</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فِي الْعَاشِرُ مِنْ يُونْيُو</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فِي الْعَاشِرَةِ مِنْ يُونْيُو</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After fī: kasra; masculine.</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34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GM-NUM-06 · Numbers and Time</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cs typeface="Amiri" pitchFamily="2" charset="-78"/>
              </a:rPr>
              <a:t>Watch me read our school calendar</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GM-NUM-06</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Term starts</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السَّابِعَ مِنْ سِبْتَمْبِر</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Monday 7 September.</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Sports Day</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الثَّانِي وَالْعِشْرِينَ</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22 October.</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Holiday</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التَّاسِعَ عَشَرَ</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19 December.</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Return</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الرَّابِعِ مِنْ يَنَايِر</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4 January.</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DATE</a:t>
            </a:r>
            <a:endParaRPr lang="en-US" sz="800" dirty="0"/>
          </a:p>
        </p:txBody>
      </p:sp>
      <p:sp>
        <p:nvSpPr>
          <p:cNvPr id="47" name="Shape 43"/>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DAY / EVENT</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B3B6F"/>
                </a:solidFill>
                <a:latin typeface="Amiri" pitchFamily="2" charset="-78"/>
                <a:cs typeface="Amiri" pitchFamily="2" charset="-78"/>
              </a:rPr>
              <a:t>يَبْدَأُ الْفَصْلُ الدِّرَاسِيُّ </a:t>
            </a:r>
            <a:pPr rtl="1" algn="r" indent="0" marL="0">
              <a:lnSpc>
                <a:spcPct val="120000"/>
              </a:lnSpc>
              <a:buNone/>
            </a:pPr>
            <a:r>
              <a:rPr lang="ar-SA" altLang="en-US" sz="1400" b="1" dirty="0">
                <a:solidFill>
                  <a:srgbClr val="D6336C"/>
                </a:solidFill>
                <a:latin typeface="Amiri" pitchFamily="2" charset="-78"/>
                <a:cs typeface="Amiri" pitchFamily="2" charset="-78"/>
              </a:rPr>
              <a:t>يَوْمَ الِاثْنَيْنِ</a:t>
            </a:r>
            <a:pPr rtl="1" algn="r" indent="0" marL="0">
              <a:lnSpc>
                <a:spcPct val="120000"/>
              </a:lnSpc>
              <a:buNone/>
            </a:pPr>
            <a:r>
              <a:rPr lang="ar-SA" altLang="en-US" sz="1400" b="1" dirty="0">
                <a:solidFill>
                  <a:srgbClr val="1B3B6F"/>
                </a:solidFill>
                <a:latin typeface="Amiri" pitchFamily="2" charset="-78"/>
                <a:cs typeface="Amiri" pitchFamily="2" charset="-78"/>
              </a:rPr>
              <a:t>، </a:t>
            </a:r>
            <a:pPr rtl="1" algn="r" indent="0" marL="0">
              <a:lnSpc>
                <a:spcPct val="120000"/>
              </a:lnSpc>
              <a:buNone/>
            </a:pPr>
            <a:r>
              <a:rPr lang="ar-SA" altLang="en-US" sz="1400" b="1" dirty="0">
                <a:solidFill>
                  <a:srgbClr val="0E7C86"/>
                </a:solidFill>
                <a:latin typeface="Amiri" pitchFamily="2" charset="-78"/>
                <a:cs typeface="Amiri" pitchFamily="2" charset="-78"/>
              </a:rPr>
              <a:t>السَّابِعَ مِنْ سِبْتَمْبِر</a:t>
            </a:r>
            <a:pPr rtl="1" algn="r" indent="0" marL="0">
              <a:lnSpc>
                <a:spcPct val="120000"/>
              </a:lnSpc>
              <a:buNone/>
            </a:pPr>
            <a:r>
              <a:rPr lang="ar-SA" altLang="en-US" sz="1400" b="1" dirty="0">
                <a:solidFill>
                  <a:srgbClr val="1B3B6F"/>
                </a:solidFill>
                <a:latin typeface="Amiri" pitchFamily="2" charset="-78"/>
                <a:cs typeface="Amiri" pitchFamily="2" charset="-78"/>
              </a:rPr>
              <a:t>. </a:t>
            </a:r>
            <a:pPr rtl="1" algn="r" indent="0" marL="0">
              <a:lnSpc>
                <a:spcPct val="120000"/>
              </a:lnSpc>
              <a:buNone/>
            </a:pPr>
            <a:r>
              <a:rPr lang="ar-SA" altLang="en-US" sz="1400" b="1" dirty="0">
                <a:solidFill>
                  <a:srgbClr val="D6336C"/>
                </a:solidFill>
                <a:latin typeface="Amiri" pitchFamily="2" charset="-78"/>
                <a:cs typeface="Amiri" pitchFamily="2" charset="-78"/>
              </a:rPr>
              <a:t>يَوْمُ الرِّيَاضَةِ</a:t>
            </a:r>
            <a:pPr rtl="1" algn="r" indent="0" marL="0">
              <a:lnSpc>
                <a:spcPct val="120000"/>
              </a:lnSpc>
              <a:buNone/>
            </a:pPr>
            <a:r>
              <a:rPr lang="ar-SA" altLang="en-US" sz="1400" b="1" dirty="0">
                <a:solidFill>
                  <a:srgbClr val="1B3B6F"/>
                </a:solidFill>
                <a:latin typeface="Amiri" pitchFamily="2" charset="-78"/>
                <a:cs typeface="Amiri" pitchFamily="2" charset="-78"/>
              </a:rPr>
              <a:t> فِي </a:t>
            </a:r>
            <a:pPr rtl="1" algn="r" indent="0" marL="0">
              <a:lnSpc>
                <a:spcPct val="120000"/>
              </a:lnSpc>
              <a:buNone/>
            </a:pPr>
            <a:r>
              <a:rPr lang="ar-SA" altLang="en-US" sz="1400" b="1" dirty="0">
                <a:solidFill>
                  <a:srgbClr val="0E7C86"/>
                </a:solidFill>
                <a:latin typeface="Amiri" pitchFamily="2" charset="-78"/>
                <a:cs typeface="Amiri" pitchFamily="2" charset="-78"/>
              </a:rPr>
              <a:t>الثَّانِي وَالْعِشْرِينَ مِنْ أُكْتُوبَر</a:t>
            </a:r>
            <a:pPr rtl="1" algn="r" indent="0" marL="0">
              <a:lnSpc>
                <a:spcPct val="120000"/>
              </a:lnSpc>
              <a:buNone/>
            </a:pPr>
            <a:r>
              <a:rPr lang="ar-SA" altLang="en-US" sz="1400" b="1" dirty="0">
                <a:solidFill>
                  <a:srgbClr val="1B3B6F"/>
                </a:solidFill>
                <a:latin typeface="Amiri" pitchFamily="2" charset="-78"/>
                <a:cs typeface="Amiri" pitchFamily="2" charset="-78"/>
              </a:rPr>
              <a:t>. تَبْدَأُ </a:t>
            </a:r>
            <a:pPr rtl="1" algn="r" indent="0" marL="0">
              <a:lnSpc>
                <a:spcPct val="120000"/>
              </a:lnSpc>
              <a:buNone/>
            </a:pPr>
            <a:r>
              <a:rPr lang="ar-SA" altLang="en-US" sz="1400" b="1" dirty="0">
                <a:solidFill>
                  <a:srgbClr val="D6336C"/>
                </a:solidFill>
                <a:latin typeface="Amiri" pitchFamily="2" charset="-78"/>
                <a:cs typeface="Amiri" pitchFamily="2" charset="-78"/>
              </a:rPr>
              <a:t>عُطْلَةُ الشِّتَاءِ</a:t>
            </a:r>
            <a:pPr rtl="1" algn="r" indent="0" marL="0">
              <a:lnSpc>
                <a:spcPct val="120000"/>
              </a:lnSpc>
              <a:buNone/>
            </a:pPr>
            <a:r>
              <a:rPr lang="ar-SA" altLang="en-US" sz="1400" b="1" dirty="0">
                <a:solidFill>
                  <a:srgbClr val="1B3B6F"/>
                </a:solidFill>
                <a:latin typeface="Amiri" pitchFamily="2" charset="-78"/>
                <a:cs typeface="Amiri" pitchFamily="2" charset="-78"/>
              </a:rPr>
              <a:t> فِي </a:t>
            </a:r>
            <a:pPr rtl="1" algn="r" indent="0" marL="0">
              <a:lnSpc>
                <a:spcPct val="120000"/>
              </a:lnSpc>
              <a:buNone/>
            </a:pPr>
            <a:r>
              <a:rPr lang="ar-SA" altLang="en-US" sz="1400" b="1" dirty="0">
                <a:solidFill>
                  <a:srgbClr val="0E7C86"/>
                </a:solidFill>
                <a:latin typeface="Amiri" pitchFamily="2" charset="-78"/>
                <a:cs typeface="Amiri" pitchFamily="2" charset="-78"/>
              </a:rPr>
              <a:t>التَّاسِعَ عَشَرَ مِنْ دِيسَمْبِر</a:t>
            </a:r>
            <a:pPr rtl="1" algn="r" indent="0" marL="0">
              <a:lnSpc>
                <a:spcPct val="120000"/>
              </a:lnSpc>
              <a:buNone/>
            </a:pPr>
            <a:r>
              <a:rPr lang="ar-SA" altLang="en-US" sz="1400" b="1" dirty="0">
                <a:solidFill>
                  <a:srgbClr val="1B3B6F"/>
                </a:solidFill>
                <a:latin typeface="Amiri" pitchFamily="2" charset="-78"/>
                <a:cs typeface="Amiri" pitchFamily="2" charset="-78"/>
              </a:rPr>
              <a:t>، وَنَعُودُ إِلَى الْمَدْرَسَةِ فِي </a:t>
            </a:r>
            <a:pPr rtl="1" algn="r" indent="0" marL="0">
              <a:lnSpc>
                <a:spcPct val="120000"/>
              </a:lnSpc>
              <a:buNone/>
            </a:pPr>
            <a:r>
              <a:rPr lang="ar-SA" altLang="en-US" sz="1400" b="1" dirty="0">
                <a:solidFill>
                  <a:srgbClr val="0E7C86"/>
                </a:solidFill>
                <a:latin typeface="Amiri" pitchFamily="2" charset="-78"/>
                <a:cs typeface="Amiri" pitchFamily="2" charset="-78"/>
              </a:rPr>
              <a:t>الرَّابِعِ مِنْ يَنَايِر</a:t>
            </a:r>
            <a:pPr rtl="1" algn="r" indent="0" marL="0">
              <a:lnSpc>
                <a:spcPct val="120000"/>
              </a:lnSpc>
              <a:buNone/>
            </a:pPr>
            <a:r>
              <a:rPr lang="ar-SA" altLang="en-US" sz="1400" b="1" dirty="0">
                <a:solidFill>
                  <a:srgbClr val="1B3B6F"/>
                </a:solidFill>
                <a:latin typeface="Amiri" pitchFamily="2" charset="-78"/>
                <a:cs typeface="Amiri" pitchFamily="2" charset="-78"/>
              </a:rPr>
              <a:t>.</a:t>
            </a:r>
            <a:endParaRPr lang="ar-SA" sz="140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50" i="1" dirty="0">
                <a:solidFill>
                  <a:srgbClr val="5A6472"/>
                </a:solidFill>
                <a:latin typeface="Calibri" pitchFamily="34" charset="0"/>
                <a:cs typeface="Amiri" pitchFamily="2" charset="-78"/>
              </a:rPr>
              <a:t>The term starts on Monday 7 September. Sports Day is on 22 October. The winter holiday starts on 19 December, and we return to school on 4 January.</a:t>
            </a:r>
            <a:endParaRPr lang="en-US" sz="115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34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GM-NUM-06 · Numbers and Time</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GM-NUM-06</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مَا الْيَوْمُ؟ — الْيَوْمُ يَوْمُ الْخَمِيسِ.</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What day is it? — Today is Thursday.</a:t>
            </a:r>
            <a:endParaRPr lang="en-US" sz="1250" dirty="0"/>
          </a:p>
          <a:p>
            <a:pPr indent="0" marL="0">
              <a:buNone/>
            </a:pPr>
            <a:r>
              <a:rPr lang="en-US" sz="1050" i="1" dirty="0">
                <a:solidFill>
                  <a:srgbClr val="8A6D1E"/>
                </a:solidFill>
                <a:latin typeface="Calibri" pitchFamily="34" charset="0"/>
                <a:cs typeface="Amiri" pitchFamily="2" charset="-78"/>
              </a:rPr>
              <a:t>Day.</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عِيدُ مِيلَادِي فِي الْخَامِسِ مِنْ يُولْيُو.</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My birthday is on 5 July.</a:t>
            </a:r>
            <a:endParaRPr lang="en-US" sz="1250" dirty="0"/>
          </a:p>
          <a:p>
            <a:pPr indent="0" marL="0">
              <a:buNone/>
            </a:pPr>
            <a:r>
              <a:rPr lang="en-US" sz="1050" i="1" dirty="0">
                <a:solidFill>
                  <a:srgbClr val="8A6D1E"/>
                </a:solidFill>
                <a:latin typeface="Calibri" pitchFamily="34" charset="0"/>
                <a:cs typeface="Amiri" pitchFamily="2" charset="-78"/>
              </a:rPr>
              <a:t>fī + kasra.</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تَبْدَأُ الْعُطْلَةُ فِي الْعِشْرِينَ مِنْ دِيسَمْبِر.</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 holiday starts on 20 December.</a:t>
            </a:r>
            <a:endParaRPr lang="en-US" sz="1250" dirty="0"/>
          </a:p>
          <a:p>
            <a:pPr indent="0" marL="0">
              <a:buNone/>
            </a:pPr>
            <a:r>
              <a:rPr lang="en-US" sz="1050" i="1" dirty="0">
                <a:solidFill>
                  <a:srgbClr val="8A6D1E"/>
                </a:solidFill>
                <a:latin typeface="Calibri" pitchFamily="34" charset="0"/>
                <a:cs typeface="Amiri" pitchFamily="2" charset="-78"/>
              </a:rPr>
              <a:t>20th.</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الِامْتِحَانُ يَوْمَ الْخَمِيسِ، الثَّانِي مِنْ مَايُو.</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 exam is on Thursday, 2 May.</a:t>
            </a:r>
            <a:endParaRPr lang="en-US" sz="1250" dirty="0"/>
          </a:p>
          <a:p>
            <a:pPr indent="0" marL="0">
              <a:buNone/>
            </a:pPr>
            <a:r>
              <a:rPr lang="en-US" sz="1050" i="1" dirty="0">
                <a:solidFill>
                  <a:srgbClr val="8A6D1E"/>
                </a:solidFill>
                <a:latin typeface="Calibri" pitchFamily="34" charset="0"/>
                <a:cs typeface="Amiri" pitchFamily="2" charset="-78"/>
              </a:rPr>
              <a:t>Day + date.</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34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GM-NUM-06 · Numbers and Time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THE SCHOOL NOTICE (WEBSITE TASK A) · SAY IT ALOUD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Important days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إِعْلَانٌ: أَيَّامٌ مُهِمَّةٌ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942832" y="1810512"/>
            <a:ext cx="27157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English</a:t>
            </a:r>
            <a:endParaRPr lang="en-US" sz="1100" dirty="0"/>
          </a:p>
        </p:txBody>
      </p:sp>
      <p:sp>
        <p:nvSpPr>
          <p:cNvPr id="17" name="Text 14"/>
          <p:cNvSpPr txBox="1"/>
          <p:nvPr/>
        </p:nvSpPr>
        <p:spPr>
          <a:xfrm>
            <a:off x="3822192" y="1810512"/>
            <a:ext cx="49743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Arabic date</a:t>
            </a:r>
            <a:endParaRPr lang="en-US" sz="1100" dirty="0"/>
          </a:p>
        </p:txBody>
      </p:sp>
      <p:sp>
        <p:nvSpPr>
          <p:cNvPr id="18" name="Text 15"/>
          <p:cNvSpPr txBox="1"/>
          <p:nvPr/>
        </p:nvSpPr>
        <p:spPr>
          <a:xfrm>
            <a:off x="53035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Event</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979408" y="2267712"/>
            <a:ext cx="26791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Mon 4 May</a:t>
            </a:r>
            <a:endParaRPr lang="en-US" sz="1100" dirty="0"/>
          </a:p>
        </p:txBody>
      </p:sp>
      <p:sp>
        <p:nvSpPr>
          <p:cNvPr id="21" name="Text 18"/>
          <p:cNvSpPr txBox="1"/>
          <p:nvPr/>
        </p:nvSpPr>
        <p:spPr>
          <a:xfrm>
            <a:off x="3840480" y="2267712"/>
            <a:ext cx="493776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يَوْمَ الِاثْنَيْنِ، الرَّابِعَ مِنْ مَايُو</a:t>
            </a:r>
            <a:endParaRPr lang="ar-SA" sz="2200" dirty="0"/>
          </a:p>
        </p:txBody>
      </p:sp>
      <p:sp>
        <p:nvSpPr>
          <p:cNvPr id="22" name="Text 19"/>
          <p:cNvSpPr txBox="1"/>
          <p:nvPr/>
        </p:nvSpPr>
        <p:spPr>
          <a:xfrm>
            <a:off x="548640" y="2267712"/>
            <a:ext cx="310896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تَبْدَأُ الِامْتِحَانَاتُ</a:t>
            </a:r>
            <a:endParaRPr lang="ar-SA" sz="22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8979408" y="3054096"/>
            <a:ext cx="26791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Wed 10 June</a:t>
            </a:r>
            <a:endParaRPr lang="en-US" sz="1100" dirty="0"/>
          </a:p>
        </p:txBody>
      </p:sp>
      <p:sp>
        <p:nvSpPr>
          <p:cNvPr id="27" name="Text 24"/>
          <p:cNvSpPr txBox="1"/>
          <p:nvPr/>
        </p:nvSpPr>
        <p:spPr>
          <a:xfrm>
            <a:off x="3840480" y="3054096"/>
            <a:ext cx="493776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يَوْمَ الْأَرْبِعَاءِ، الْعَاشِرَ مِنْ يُونْيُو</a:t>
            </a:r>
            <a:endParaRPr lang="ar-SA" sz="2200" dirty="0"/>
          </a:p>
        </p:txBody>
      </p:sp>
      <p:sp>
        <p:nvSpPr>
          <p:cNvPr id="28" name="Text 25"/>
          <p:cNvSpPr txBox="1"/>
          <p:nvPr/>
        </p:nvSpPr>
        <p:spPr>
          <a:xfrm>
            <a:off x="548640" y="3054096"/>
            <a:ext cx="310896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رِحْلَةُ الْمَدْرَسَةِ</a:t>
            </a:r>
            <a:endParaRPr lang="ar-SA" sz="22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8979408" y="3840480"/>
            <a:ext cx="26791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27 May</a:t>
            </a:r>
            <a:endParaRPr lang="en-US" sz="1100" dirty="0"/>
          </a:p>
        </p:txBody>
      </p:sp>
      <p:sp>
        <p:nvSpPr>
          <p:cNvPr id="33" name="Text 30"/>
          <p:cNvSpPr txBox="1"/>
          <p:nvPr/>
        </p:nvSpPr>
        <p:spPr>
          <a:xfrm>
            <a:off x="3840480" y="3840480"/>
            <a:ext cx="493776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السَّابِعَ وَالْعِشْرِينَ مِنْ مَايُو</a:t>
            </a:r>
            <a:endParaRPr lang="ar-SA" sz="2200" dirty="0"/>
          </a:p>
        </p:txBody>
      </p:sp>
      <p:sp>
        <p:nvSpPr>
          <p:cNvPr id="34" name="Text 31"/>
          <p:cNvSpPr txBox="1"/>
          <p:nvPr/>
        </p:nvSpPr>
        <p:spPr>
          <a:xfrm>
            <a:off x="548640" y="3840480"/>
            <a:ext cx="310896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عِيدُ الْأَضْحَى</a:t>
            </a:r>
            <a:endParaRPr lang="ar-SA" sz="2200" dirty="0"/>
          </a:p>
        </p:txBody>
      </p:sp>
      <p:sp>
        <p:nvSpPr>
          <p:cNvPr id="35" name="Shape 32"/>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6" name="Text 33"/>
          <p:cNvSpPr txBox="1"/>
          <p:nvPr/>
        </p:nvSpPr>
        <p:spPr>
          <a:xfrm>
            <a:off x="8979408" y="4626864"/>
            <a:ext cx="26791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 July</a:t>
            </a:r>
            <a:endParaRPr lang="en-US" sz="1100" dirty="0"/>
          </a:p>
        </p:txBody>
      </p:sp>
      <p:sp>
        <p:nvSpPr>
          <p:cNvPr id="37" name="Text 34"/>
          <p:cNvSpPr txBox="1"/>
          <p:nvPr/>
        </p:nvSpPr>
        <p:spPr>
          <a:xfrm>
            <a:off x="3840480" y="4626864"/>
            <a:ext cx="493776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فِي الْأَوَّلِ مِنْ يُولْيُو</a:t>
            </a:r>
            <a:endParaRPr lang="ar-SA" sz="2200" dirty="0"/>
          </a:p>
        </p:txBody>
      </p:sp>
      <p:sp>
        <p:nvSpPr>
          <p:cNvPr id="38" name="Text 35"/>
          <p:cNvSpPr txBox="1"/>
          <p:nvPr/>
        </p:nvSpPr>
        <p:spPr>
          <a:xfrm>
            <a:off x="548640" y="4626864"/>
            <a:ext cx="310896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الْعُطْلَةُ الصَّيْفِيَّةُ</a:t>
            </a:r>
            <a:endParaRPr lang="ar-SA" sz="2200" dirty="0"/>
          </a:p>
        </p:txBody>
      </p:sp>
      <p:sp>
        <p:nvSpPr>
          <p:cNvPr id="39" name="Text 3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detective question: June has 30 days, so from the trip (10 June) to the end of June is 30 − 10 = 20 days. The notice never says it — your arithmetic does.</a:t>
            </a:r>
            <a:endParaRPr lang="en-US" sz="11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34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GM-NUM-06 · Numbers and Time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 IT · DAY OR MONTH?</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Day of the week, or month?</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يَوْمٌ أَمْ شَهْرٌ؟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GM-NUM-06</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الْأَحَدُ</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الثُّلَاثَاءُ</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الْخَمِيسُ</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السَّبْتُ</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مَارِس</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يُونْيُو</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أُكْتُوبَر</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دِيسَمْبِر</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Day of the week</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Month</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34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GM-NUM-06 · Numbers and Time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GM-NUM-06</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Day of the week</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الْأَحَدُ</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الثُّلَاثَاءُ</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الْخَمِيسُ</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السَّبْتُ</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Month</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مَارِس</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يُونْيُو</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أُكْتُوبَر</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دِيسَمْبِر</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34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GM-NUM-06 · Numbers and Time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GM-NUM-06</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الْخَامِسَةُ مِنْ مَارِس</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Day or hour: masc. or fem.?</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مَتَى عِيدُ مِيلَادُكَ؟</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Ending after ʿīdu …?</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فِي الْعَاشِرُ مِنْ يُونْيُو</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Ending after fī?</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34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GM-NUM-06 · Numbers and Time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GM-NUM-06</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الْخَامِسَةُ مِنْ مَارِس</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الْخَامِسُ مِنْ مَارِس</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Dates count days (yawm, masculine) → masculine ordinal.</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مَتَى عِيدُ مِيلَادُكَ؟</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مَتَى عِيدُ مِيلَادِكَ؟</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In an iḍāfa the second noun is genitive (website line corrected).</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فِي الْعَاشِرُ مِنْ يُونْيُو</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فِي الْعَاشِرِ مِنْ يُونْيُو</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After fī the ordinal takes kasra.</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34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GM-NUM-06 · Numbers and Time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50" b="1" spc="150" kern="0" dirty="0">
                <a:solidFill>
                  <a:srgbClr val="2F6FB0"/>
                </a:solidFill>
                <a:latin typeface="Calibri" pitchFamily="34" charset="0"/>
                <a:cs typeface="Amiri" pitchFamily="2" charset="-78"/>
              </a:rPr>
              <a:t>WE DO · GUIDED PRACTICE · TEACHER-WRITTEN QUESTIONS ON THE WEBSITE FORMULA</a:t>
            </a:r>
            <a:endParaRPr lang="en-US" sz="95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GM-NUM-06</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month is July?</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يُونْيُو</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يَنَايِر</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يُولْيُو</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a:t>
            </a:r>
            <a:pPr algn="l" indent="0" marL="0">
              <a:buNone/>
            </a:pPr>
            <a:r>
              <a:rPr lang="ar-SA" altLang="en-US" sz="1650" b="1" dirty="0">
                <a:solidFill>
                  <a:srgbClr val="1B3B6F"/>
                </a:solidFill>
                <a:latin typeface="Amiri" pitchFamily="2" charset="-78"/>
                <a:cs typeface="Amiri" pitchFamily="2" charset="-78"/>
              </a:rPr>
              <a:t>٢٠٢٦/٥/١</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5 January 2026</a:t>
            </a:r>
            <a:endParaRPr lang="en-US" sz="12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1 May 2026</a:t>
            </a:r>
            <a:endParaRPr lang="en-US" sz="12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26 May 2001</a:t>
            </a:r>
            <a:endParaRPr lang="en-US" sz="12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“Eid al-Fiṭr”.</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عِيدُ الْأَضْحَى</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عِيدُ الْفِطْرِ</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رَأْسُ السَّنَةِ</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“My birthday is on the 3rd of March”.</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عِيدُ مِيلَادِي الثَّالِثَةُ مِنْ مَارِس</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عِيدُ مِيلَادِي فِي ثَلَاثَةِ مَارِس</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عِيدُ مِيلَادِي فِي الثَّالِثِ مِنْ مَارِس</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34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GM-NUM-06 · Numbers and Time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GM-NUM-06</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month is July?</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يُونْيُو</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يَنَايِر</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يُولْيُو</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L for lām = July.</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a:t>
            </a:r>
            <a:pPr algn="l" indent="0" marL="0">
              <a:buNone/>
            </a:pPr>
            <a:r>
              <a:rPr lang="ar-SA" altLang="en-US" sz="1650" b="1" dirty="0">
                <a:solidFill>
                  <a:srgbClr val="1B3B6F"/>
                </a:solidFill>
                <a:latin typeface="Amiri" pitchFamily="2" charset="-78"/>
                <a:cs typeface="Amiri" pitchFamily="2" charset="-78"/>
              </a:rPr>
              <a:t>٢٠٢٦/٥/١</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5 January 2026</a:t>
            </a:r>
            <a:endParaRPr lang="en-US" sz="125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1 May 2026</a:t>
            </a:r>
            <a:endParaRPr lang="en-US" sz="125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26 May 2001</a:t>
            </a:r>
            <a:endParaRPr lang="en-US" sz="125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day / month / year.</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“Eid al-Fiṭr”.</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عِيدُ الْأَضْحَى</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عِيدُ الْفِطْرِ</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رَأْسُ السَّنَةِ</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Eid after Ramaḍān.</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“My birthday is on the 3rd of March”.</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عِيدُ مِيلَادِي الثَّالِثَةُ مِنْ مَارِس</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عِيدُ مِيلَادِي فِي ثَلَاثَةِ مَارِس</a:t>
            </a:r>
            <a:endParaRPr lang="ar-SA" sz="170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عِيدُ مِيلَادِي فِي الثَّالِثِ مِنْ مَارِس</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fī + masculine ordinal (kasra) + min.</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34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GM-NUM-06 · Numbers and Time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33" b="1" spc="150" kern="0" dirty="0">
                <a:solidFill>
                  <a:srgbClr val="1E6B52"/>
                </a:solidFill>
                <a:latin typeface="Calibri" pitchFamily="34" charset="0"/>
                <a:cs typeface="Amiri" pitchFamily="2" charset="-78"/>
              </a:rPr>
              <a:t>YOU DO · READ AND NOTICE · WEBSITE LISTENING “IMPORTANT DATES” (AS A READING TEXT)</a:t>
            </a:r>
            <a:endParaRPr lang="en-US" sz="833"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Three birthdays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اِقْرَأْ وَلَاحِظْ</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GM-NUM-06</a:t>
            </a:r>
            <a:endParaRPr lang="en-US" sz="850" dirty="0"/>
          </a:p>
        </p:txBody>
      </p:sp>
      <p:sp>
        <p:nvSpPr>
          <p:cNvPr id="15" name="Shape 12"/>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cs typeface="Amiri" pitchFamily="2" charset="-78"/>
              </a:rPr>
              <a:t>اِسْمِي سَارَةُ، وَعِيدُ مِيلَادِي فِي الثَّالِثِ مِنْ مَارِس. اِسْمِي عُمَرُ، وَعِيدُ مِيلَادِي فِي الْعَاشِرِ مِنْ يُونْيُو. اِسْمِي زَيْنَبُ، وَعِيدُ مِيلَادِي فِي الْحَادِي وَالثَّلَاثِينَ مِنْ دِيسَمْبِر — لَيْلَةَ رَأْسِ السَّنَةِ! نَحْتَفِلُ بِأَعْيَادِ مِيلَادِنَا مَعًا فِي يَوْمِ السَّبْتِ الْأَوَّلِ مِنْ كُلِّ شَهْرٍ.</a:t>
            </a:r>
            <a:endParaRPr lang="ar-SA" sz="2600" dirty="0"/>
          </a:p>
        </p:txBody>
      </p:sp>
      <p:sp>
        <p:nvSpPr>
          <p:cNvPr id="17" name="Shape 14"/>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19" name="Text 16"/>
          <p:cNvSpPr txBox="1"/>
          <p:nvPr/>
        </p:nvSpPr>
        <p:spPr>
          <a:xfrm>
            <a:off x="10102291" y="22128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الْحَادِي وَالثَّلَاثِينَ</a:t>
            </a:r>
            <a:endParaRPr lang="ar-SA" sz="1600" dirty="0"/>
          </a:p>
        </p:txBody>
      </p:sp>
      <p:sp>
        <p:nvSpPr>
          <p:cNvPr id="20" name="Text 17"/>
          <p:cNvSpPr txBox="1"/>
          <p:nvPr/>
        </p:nvSpPr>
        <p:spPr>
          <a:xfrm>
            <a:off x="8851392" y="22128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thirty-first</a:t>
            </a:r>
            <a:endParaRPr lang="en-US" sz="1050" dirty="0"/>
          </a:p>
        </p:txBody>
      </p:sp>
      <p:sp>
        <p:nvSpPr>
          <p:cNvPr id="21" name="Text 18"/>
          <p:cNvSpPr txBox="1"/>
          <p:nvPr/>
        </p:nvSpPr>
        <p:spPr>
          <a:xfrm>
            <a:off x="10102291" y="271576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لَيْلَةَ رَأْسِ السَّنَةِ</a:t>
            </a:r>
            <a:endParaRPr lang="ar-SA" sz="1600" dirty="0"/>
          </a:p>
        </p:txBody>
      </p:sp>
      <p:sp>
        <p:nvSpPr>
          <p:cNvPr id="22" name="Text 19"/>
          <p:cNvSpPr txBox="1"/>
          <p:nvPr/>
        </p:nvSpPr>
        <p:spPr>
          <a:xfrm>
            <a:off x="8851392" y="271576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New Year’s Eve</a:t>
            </a:r>
            <a:endParaRPr lang="en-US" sz="1050" dirty="0"/>
          </a:p>
        </p:txBody>
      </p:sp>
      <p:sp>
        <p:nvSpPr>
          <p:cNvPr id="23" name="Text 20"/>
          <p:cNvSpPr txBox="1"/>
          <p:nvPr/>
        </p:nvSpPr>
        <p:spPr>
          <a:xfrm>
            <a:off x="10102291" y="321868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نَحْتَفِلُ</a:t>
            </a:r>
            <a:endParaRPr lang="ar-SA" sz="1600" dirty="0"/>
          </a:p>
        </p:txBody>
      </p:sp>
      <p:sp>
        <p:nvSpPr>
          <p:cNvPr id="24" name="Text 21"/>
          <p:cNvSpPr txBox="1"/>
          <p:nvPr/>
        </p:nvSpPr>
        <p:spPr>
          <a:xfrm>
            <a:off x="8851392" y="321868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we celebrate</a:t>
            </a:r>
            <a:endParaRPr lang="en-US" sz="1050" dirty="0"/>
          </a:p>
        </p:txBody>
      </p:sp>
      <p:sp>
        <p:nvSpPr>
          <p:cNvPr id="25" name="Text 22"/>
          <p:cNvSpPr txBox="1"/>
          <p:nvPr/>
        </p:nvSpPr>
        <p:spPr>
          <a:xfrm>
            <a:off x="10102291" y="372160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مَعًا</a:t>
            </a:r>
            <a:endParaRPr lang="ar-SA" sz="1600" dirty="0"/>
          </a:p>
        </p:txBody>
      </p:sp>
      <p:sp>
        <p:nvSpPr>
          <p:cNvPr id="26" name="Text 23"/>
          <p:cNvSpPr txBox="1"/>
          <p:nvPr/>
        </p:nvSpPr>
        <p:spPr>
          <a:xfrm>
            <a:off x="8851392" y="372160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together</a:t>
            </a:r>
            <a:endParaRPr lang="en-US" sz="105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34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GM-NUM-06 · Numbers and Time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READING QUESTIONS · FIND THE GRAMMAR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notice the grammar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is Sārah’s birthday?</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10/6</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31/12</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is ʿUmar’s birthday?</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10/7</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6/10</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10/6</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is Zaynab’s birthday special?</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New Year’s Eve</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Eid</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the first day of the year</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do they celebrate together?</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every Friday</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first Saturday of each month</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 1 January</a:t>
            </a:r>
            <a:endParaRPr lang="en-US" sz="1250" dirty="0"/>
          </a:p>
        </p:txBody>
      </p:sp>
      <p:sp>
        <p:nvSpPr>
          <p:cNvPr id="67" name="Shape 64"/>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8" name="Text 65"/>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GRAMMAR DETECTIVE</a:t>
            </a:r>
            <a:endParaRPr lang="en-US" sz="1000" dirty="0"/>
          </a:p>
        </p:txBody>
      </p:sp>
      <p:sp>
        <p:nvSpPr>
          <p:cNvPr id="69" name="Text 66"/>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the phrase in the text.</a:t>
            </a:r>
            <a:endParaRPr lang="en-US" sz="1250" dirty="0"/>
          </a:p>
          <a:p>
            <a:pPr algn="l" indent="0" marL="0">
              <a:buNone/>
            </a:pPr>
            <a:r>
              <a:rPr lang="en-US" sz="1250" dirty="0">
                <a:solidFill>
                  <a:srgbClr val="1F2A37"/>
                </a:solidFill>
                <a:latin typeface="Calibri" pitchFamily="34" charset="0"/>
                <a:cs typeface="Amiri" pitchFamily="2" charset="-78"/>
              </a:rPr>
              <a:t>3. Name the rule that explains it.</a:t>
            </a:r>
            <a:endParaRPr lang="en-US" sz="12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34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GM-NUM-06 · Numbers and Time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READING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is Sārah’s birthday?</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10/6</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3/3</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31/12</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Ath-thālith min māris.</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is ʿUmar’s birthday?</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10/7</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6/10</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10/6</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Yūnyū = June (nūn).</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is Zaynab’s birthday special?</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it is New Year’s Eve</a:t>
            </a:r>
            <a:endParaRPr lang="en-US" sz="12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Eid</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the first day of the year</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Laylata raʾsi s-sana.</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do they celebrate together?</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every Friday</a:t>
            </a:r>
            <a:endParaRPr lang="en-US" sz="125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first Saturday of each month</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 1 January</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Yawm as-sabt al-awwal.</a:t>
            </a:r>
            <a:endParaRPr lang="en-US" sz="1050" dirty="0"/>
          </a:p>
        </p:txBody>
      </p:sp>
      <p:sp>
        <p:nvSpPr>
          <p:cNvPr id="75" name="Shape 72"/>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6" name="Text 73"/>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GRAMMAR DETECTIVE</a:t>
            </a:r>
            <a:endParaRPr lang="en-US" sz="1000" dirty="0"/>
          </a:p>
        </p:txBody>
      </p:sp>
      <p:sp>
        <p:nvSpPr>
          <p:cNvPr id="77" name="Text 74"/>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the phrase in the text.</a:t>
            </a:r>
            <a:endParaRPr lang="en-US" sz="1250" dirty="0"/>
          </a:p>
          <a:p>
            <a:pPr algn="l" indent="0" marL="0">
              <a:buNone/>
            </a:pPr>
            <a:r>
              <a:rPr lang="en-US" sz="1250" dirty="0">
                <a:solidFill>
                  <a:srgbClr val="1F2A37"/>
                </a:solidFill>
                <a:latin typeface="Calibri" pitchFamily="34" charset="0"/>
                <a:cs typeface="Amiri" pitchFamily="2" charset="-78"/>
              </a:rPr>
              <a:t>3. Name the rule that explains it.</a:t>
            </a:r>
            <a:endParaRPr lang="en-US" sz="12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34</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GM-NUM-06 · Numbers and Time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Speaking: my year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GM-NUM-06</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مَا الْيَوْمُ؟ وَمَا التَّارِيخُ الْيَوْمَ؟</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مَتَى عِيدُ مِيلَادِكَ؟</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مَتَى تَبْدَأُ الْعُطْلَةُ الصَّيْفِيَّةُ؟ وَمَاذَا سَتَفْعَلُ فِيهَا؟</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cs typeface="Amiri" pitchFamily="2" charset="-78"/>
              </a:rPr>
              <a:t>الْيَوْمُ يَوْمُ ___ ، ___ مِنْ ___ .</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عِيدُ مِيلَادِي فِي ___ مِنْ ___ .</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تَبْدَأُ الْعُطْلَةُ فِي ___ ، وَسَوْفَ ___ .</a:t>
            </a:r>
            <a:endParaRPr lang="ar-SA" sz="16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مَتَى عِيدُ مِيلَادِكِ؟</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When is your birthday? (to a girl)</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عِيدُ مِيلَادِي فِي الثَّامِنِ مِنْ أَبْرِيل. هَذِهِ السَّنَةَ سَيَكُونُ يَوْمَ الْأَرْبِعَاءِ، وَسَأَحْتَفِلُ مَعَ عَائِلَتِي.</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cs typeface="Amiri" pitchFamily="2" charset="-78"/>
              </a:rPr>
              <a:t>My birthday is on the 8th of April. This year it will be on a Wednesday, and I will celebrate with my family.</a:t>
            </a:r>
            <a:endParaRPr lang="en-US" sz="7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34</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GM-NUM-06 · Numbers and Time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GM-NUM-06</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Days and months: what happens when.</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yawma l-… · fī shahri …</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8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Website “Spicy”: «</a:t>
            </a:r>
            <a:pPr algn="l" indent="0" marL="0">
              <a:buNone/>
            </a:pPr>
            <a:r>
              <a:rPr lang="ar-SA" altLang="en-US" sz="1800" b="1" dirty="0">
                <a:solidFill>
                  <a:srgbClr val="1F2A37"/>
                </a:solidFill>
                <a:latin typeface="Amiri" pitchFamily="2" charset="-78"/>
                <a:cs typeface="Amiri" pitchFamily="2" charset="-78"/>
              </a:rPr>
              <a:t>تَوَارِيخِي الْمُهِمَّةُ</a:t>
            </a:r>
            <a:pPr algn="l" indent="0" marL="0">
              <a:buNone/>
            </a:pPr>
            <a:r>
              <a:rPr lang="en-US" sz="1400" b="1" dirty="0">
                <a:solidFill>
                  <a:srgbClr val="1F2A37"/>
                </a:solidFill>
                <a:latin typeface="Calibri" pitchFamily="34" charset="0"/>
                <a:cs typeface="Amiri" pitchFamily="2" charset="-78"/>
              </a:rPr>
              <a:t>».</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Ordinal + min + month.</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capstone paragraph</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Website “Hot”: «</a:t>
            </a:r>
            <a:pPr algn="l" indent="0" marL="0">
              <a:buNone/>
            </a:pPr>
            <a:r>
              <a:rPr lang="ar-SA" altLang="en-US" sz="1800" b="1" dirty="0">
                <a:solidFill>
                  <a:srgbClr val="1F2A37"/>
                </a:solidFill>
                <a:latin typeface="Amiri" pitchFamily="2" charset="-78"/>
                <a:cs typeface="Amiri" pitchFamily="2" charset="-78"/>
              </a:rPr>
              <a:t>صَفْحَةٌ مِنْ حَيَاتِي بِالْأَرْقَامِ</a:t>
            </a:r>
            <a:pPr algn="l" indent="0" marL="0">
              <a:buNone/>
            </a:pPr>
            <a:r>
              <a:rPr lang="en-US" sz="1400" b="1" dirty="0">
                <a:solidFill>
                  <a:srgbClr val="1F2A37"/>
                </a:solidFill>
                <a:latin typeface="Calibri" pitchFamily="34" charset="0"/>
                <a:cs typeface="Amiri" pitchFamily="2" charset="-78"/>
              </a:rPr>
              <a:t>».</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Age, a time, a price, a quantity and a date.</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34</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GM-NUM-06 · Numbers and Time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GM-NUM-06</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عِيدُ مِيلَادِي فِي ______ مِنْ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birthday is on the … of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تَبْدَأُ الْعُطْلَةُ فِي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holiday starts on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الِامْتِحَانُ يَوْمَ ______ ،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exam is on (day), (date)</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نَحْتَفِلُ بِالْعِيدِ فِي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We celebrate Eid in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الْيَوْمُ يَوْمُ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Today is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عِيدُ مِيلَادِي فِي شَهْرِ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birthday is in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غَدًا يَوْمُ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Tomorrow is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شَهْرِي الْمُفَضَّلُ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favourite month is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الْأَحَدُ  ·  الِاثْنَيْنِ  ·  الثُّلَاثَاءُ  ·  الْأَرْبِعَاءُ  ·  الْخَمِيسُ  ·  الْجُمُعَةُ  ·  السَّبْتُ  ·  الْأَوَّلُ  ·  الثَّانِي  ·  الْخَامِسُ  ·  الْعَاشِرُ  ·  مِنْ  ·  عِيدُ الْفِطْرِ</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34</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GM-NUM-06 · Numbers and Time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GM-NUM-06</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Website capstone: «</a:t>
            </a:r>
            <a:pPr algn="l" indent="0" marL="0">
              <a:buNone/>
            </a:pPr>
            <a:r>
              <a:rPr lang="ar-SA" altLang="en-US" sz="1750" b="1" dirty="0">
                <a:solidFill>
                  <a:srgbClr val="1F2A37"/>
                </a:solidFill>
                <a:latin typeface="Amiri" pitchFamily="2" charset="-78"/>
                <a:cs typeface="Amiri" pitchFamily="2" charset="-78"/>
              </a:rPr>
              <a:t>صَفْحَةٌ مِنْ حَيَاتِي بِالْأَرْقَامِ</a:t>
            </a:r>
            <a:pPr algn="l" indent="0" marL="0">
              <a:buNone/>
            </a:pPr>
            <a:r>
              <a:rPr lang="en-US" sz="1350" b="1" dirty="0">
                <a:solidFill>
                  <a:srgbClr val="1F2A37"/>
                </a:solidFill>
                <a:latin typeface="Calibri" pitchFamily="34" charset="0"/>
                <a:cs typeface="Amiri" pitchFamily="2" charset="-78"/>
              </a:rPr>
              <a:t>» — one paragraph using all six numeracy lessons.</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Your age (Age Ladder).</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clock time from your day.</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price you paid (masculine currency).</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quantity you bought (kīlū / ghrām).</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date you are looking forward to (masculine ordinal).</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USEFUL FOR THIS TASK</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أَنْتَظِرُ بِشَوْقٍ</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look forward to</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فِي الْأُسْبُوعِ الْمَاضِي</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last week</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كُلَّ سَنَةٍ</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every year</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هَذِهِ السَّنَةَ</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this year</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الشَّهْرَ الْقَادِمَ</a:t>
            </a:r>
            <a:endParaRPr lang="ar-SA" sz="180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next month</a:t>
            </a:r>
            <a:endParaRPr lang="en-US" sz="1050" dirty="0"/>
          </a:p>
        </p:txBody>
      </p:sp>
      <p:sp>
        <p:nvSpPr>
          <p:cNvPr id="36" name="Text 33"/>
          <p:cNvSpPr txBox="1"/>
          <p:nvPr/>
        </p:nvSpPr>
        <p:spPr>
          <a:xfrm>
            <a:off x="8412480" y="552297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مَعَ عَائِلَتِي</a:t>
            </a:r>
            <a:endParaRPr lang="ar-SA" sz="1800" dirty="0"/>
          </a:p>
        </p:txBody>
      </p:sp>
      <p:sp>
        <p:nvSpPr>
          <p:cNvPr id="37" name="Text 34"/>
          <p:cNvSpPr txBox="1"/>
          <p:nvPr/>
        </p:nvSpPr>
        <p:spPr>
          <a:xfrm>
            <a:off x="6400800" y="585216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with my family</a:t>
            </a:r>
            <a:endParaRPr lang="en-US" sz="105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34</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GM-NUM-06 · Numbers and Time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GM-NUM-06</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cs typeface="Amiri" pitchFamily="2" charset="-78"/>
              </a:rPr>
              <a:t>صَفْحَةٌ مِنْ حَيَاتِي بِالْأَرْقَامِ: اِسْمِي هِنْدُ، وَعُمْرِي أَرْبَعَ عَشْرَةَ سَنَةً. أَسْتَيْقِظُ كُلَّ يَوْمٍ فِي السَّاعَةِ السَّادِسَةِ وَالنِّصْفِ صَبَاحًا. يَوْمَ السَّبْتِ ذَهَبْتُ إِلَى السُّوقِ، وَاشْتَرَيْتُ كِيلُو مِنَ التُّفَّاحِ وَنِصْفَ كِيلُو مِنَ الْعِنَبِ بِخَمْسَةَ عَشَرَ جُنَيْهًا. عِيدُ مِيلَادِي فِي الْخَامِسِ مِنْ يُونْيُو، وَأَنْتَظِرُهُ بِشَوْقٍ لِأَنَّ جَدَّتِي سَتَزُورُنَا. تَبْدَأُ الْعُطْلَةُ الصَّيْفِيَّةُ فِي الْأَوَّلِ مِنْ يُولْيُو، وَسَنُسَافِرُ إِلَى الْأُرْدُنِّ لِمُدَّةِ ثَلَاثَةِ أَسَابِيعَ.</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A page of my life in numbers: My name is Hind, and I am fourteen. I wake up every day at half past six in the morning. On Saturday I went to the market and bought a kilo of apples and half a kilo of grapes for fifteen pounds. My birthday is on the 5th of June, and I am looking forward to it because my grandmother will visit us. The summer holiday starts on the 1st of July, and we will travel to Jordan for three weeks.</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age</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clock time</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price / quantity</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date</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34</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GM-NUM-06 · Numbers and Time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GM-NUM-06</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name the seven days and twelve months.</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did not confuse yūnyū and yūlyū.</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date ordinals are masculine.</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After fī my ordinal takes kasra.</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combined numbers from all six lessons.</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34</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GM-NUM-06 · Numbers and Time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GM-NUM-06</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day is “day five”?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الْخَمِيسُ</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الْجُمُعَةُ</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الْأَرْبِعَاءُ</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1st of May”.</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الْأُولَى مِنْ مَايُو</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الْأَوَّلُ مِنْ مَايُو</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وَاحِدٌ مِنْ مَايُو</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are clock ordinals feminine but date ordinals masculine?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sāʿa is feminine; yawm is masculine</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dates are always masculine in English</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there is no reason</a:t>
            </a:r>
            <a:endParaRPr lang="en-US" sz="12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34</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GM-NUM-06 · Numbers and Time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GM-NUM-06</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day is “day five”?</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الْخَمِيسُ</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الْجُمُعَةُ</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الْأَرْبِعَاءُ</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khamsa = five.</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1st of May”.</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الْأُولَى مِنْ مَايُو</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الْأَوَّلُ مِنْ مَايُو</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وَاحِدٌ مِنْ مَايُو</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Masculine ordinal.</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are clock ordinals feminine but date ordinals masculine?</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sāʿa is feminine; yawm is masculine</a:t>
            </a:r>
            <a:endParaRPr lang="en-US" sz="12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dates are always masculine in English</a:t>
            </a:r>
            <a:endParaRPr lang="en-US" sz="12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there is no reason</a:t>
            </a:r>
            <a:endParaRPr lang="en-US" sz="12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noun decides.</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34</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GM-NUM-06 · Numbers and Time</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Before GM-VS-01: get ready at home</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GM-NUM-06</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GM-VS-01 · Word Order and Sentence Roles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الْجُمْلَةُ الْفِعْلِيَّةُ</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verbal sentence</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الْفِعْلُ</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the verb</a:t>
            </a:r>
            <a:pPr indent="0" marL="0">
              <a:buNone/>
            </a:pPr>
            <a:r>
              <a:rPr lang="en-US" sz="1000" i="1" dirty="0">
                <a:solidFill>
                  <a:srgbClr val="5A6472"/>
                </a:solidFill>
                <a:latin typeface="Calibri" pitchFamily="34" charset="0"/>
                <a:cs typeface="Amiri" pitchFamily="2" charset="-78"/>
              </a:rPr>
              <a:t>  كَتَبَ</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الْفَاعِلُ</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the doer / subject</a:t>
            </a:r>
            <a:pPr indent="0" marL="0">
              <a:buNone/>
            </a:pPr>
            <a:r>
              <a:rPr lang="en-US" sz="1000" i="1" dirty="0">
                <a:solidFill>
                  <a:srgbClr val="5A6472"/>
                </a:solidFill>
                <a:latin typeface="Calibri" pitchFamily="34" charset="0"/>
                <a:cs typeface="Amiri" pitchFamily="2" charset="-78"/>
              </a:rPr>
              <a:t>  الطَّالِبُ</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الْمَفْعُولُ بِهِ</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the object</a:t>
            </a:r>
            <a:pPr indent="0" marL="0">
              <a:buNone/>
            </a:pPr>
            <a:r>
              <a:rPr lang="en-US" sz="1000" i="1" dirty="0">
                <a:solidFill>
                  <a:srgbClr val="5A6472"/>
                </a:solidFill>
                <a:latin typeface="Calibri" pitchFamily="34" charset="0"/>
                <a:cs typeface="Amiri" pitchFamily="2" charset="-78"/>
              </a:rPr>
              <a:t>  الدَّرْسَ</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كَتَبَ الطَّالِبُ الدَّرْسَ</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The student wrote the lesson.</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In “kataba ṭ-ṭālibu d-darsa”, which word comes first — the verb or the subject?</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cs typeface="Amiri" pitchFamily="2" charset="-78"/>
              </a:rPr>
              <a:t>كَتَبَ · الطَّالِبُ · الدَّرْسَ</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“Mild”: a calendar page with four birthdays in words.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“Spicy”: «</a:t>
            </a:r>
            <a:pPr algn="l" indent="0" marL="0">
              <a:buNone/>
            </a:pPr>
            <a:r>
              <a:rPr lang="ar-SA" altLang="en-US" sz="1550" dirty="0">
                <a:solidFill>
                  <a:srgbClr val="1F2A37"/>
                </a:solidFill>
                <a:latin typeface="Amiri" pitchFamily="2" charset="-78"/>
                <a:cs typeface="Amiri" pitchFamily="2" charset="-78"/>
              </a:rPr>
              <a:t>تَوَارِيخِي الْمُهِمَّةُ</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“Hot” capstone: «</a:t>
            </a:r>
            <a:pPr algn="l" indent="0" marL="0">
              <a:buNone/>
            </a:pPr>
            <a:r>
              <a:rPr lang="ar-SA" altLang="en-US" sz="1550" dirty="0">
                <a:solidFill>
                  <a:srgbClr val="1F2A37"/>
                </a:solidFill>
                <a:latin typeface="Amiri" pitchFamily="2" charset="-78"/>
                <a:cs typeface="Amiri" pitchFamily="2" charset="-78"/>
              </a:rPr>
              <a:t>صَفْحَةٌ مِنْ حَيَاتِي بِالْأَرْقَامِ</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34</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GM-NUM-06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250" b="1" dirty="0">
                <a:solidFill>
                  <a:srgbClr val="FFFFFF"/>
                </a:solidFill>
                <a:latin typeface="Cambria" pitchFamily="34" charset="0"/>
                <a:cs typeface="Amiri" pitchFamily="2" charset="-78"/>
              </a:rPr>
              <a:t>GM-VS-01 · Word Order and Sentence Roles</a:t>
            </a:r>
            <a:endParaRPr lang="en-US" sz="22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cs typeface="Amiri" pitchFamily="2" charset="-78"/>
              </a:rPr>
              <a:t>تَرْتِيبُ الْجُمْلَةِ الْفِعْلِيَّةِ وَأَرْكَانُهَا</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al-aḥad = day one … al-khamīs = day five · yūnyū (N) June · yūlyū (L) July · date = masculine ordinal + min + month · fī l-khāmisi min māris · clock ordinals feminine, date ordinals masculine.</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34</Slides>
  <Notes>34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GM-NUM-06 · Dates and Calendars</dc:title>
  <dc:subject>PptxGenJS Presentation</dc:subject>
  <dc:creator>Al Madina Online School · Arabic Department</dc:creator>
  <cp:lastModifiedBy>Al Madina Online School · Arabic Department</cp:lastModifiedBy>
  <cp:revision>1</cp:revision>
  <dcterms:created xsi:type="dcterms:W3CDTF">2026-10-11T06:42:23Z</dcterms:created>
  <dcterms:modified xsi:type="dcterms:W3CDTF">2026-10-11T06:42:23Z</dcterms:modified>
</cp:coreProperties>
</file>