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Numbers and Time › GM-NUM-04 (“— Money · Numeracy Mastery 04”).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بِكَمْ هَذَا؟ · كَمْ ثَمَنُ …؟ and prices 1–99 with جُنَيْهٌ and رِيَالٌ. Develop: shop words (غَالٍ · رَخِيصٌ · تَخْفِيضٌ · الْبَاقِي) and the five-move souq dialogue with a calculation. Stretch: the Age–Money mirror explained, hundreds (مِئَتَانِ وَخَمْسُونَ) and subunits (قِرْشًا).
• Website over-correction trap: after the Age lesson students write ✗ خَمْسُ جُنَيْهَاتٍ. Junayh is masculine → the number KEEPS its ة: خَمْسَةُ جُنَيْهَاتٍ. The rule was never “drop the ة” — it was always “flip”.
• Heritage link (website): haggling (al-musāwama) is friendly theatre in a souq — and in the bazaars of Lahore and Karachi.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from GM-NUM-03 (the Age Ladder) and the prep words.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Currencies are masculine → 3–10 keep the ة; 11–99 take a singular noun with -an. Prices mirror 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“Asking the price”. Same kam as kami s-sāʿa and kam ʿumruka.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“Currencies — and the Mirror”. Ask the GM-NUM-01 question: singular? gender? then flip.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“Shopping words” and “The souq dialogue” five-move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hinge questions on the website rules.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listening “Shop transaction” (80 → 70 · paid 100 · change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Task A. Ask: how much do you save on the bag? (15 pounds).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Website Mirror: same rungs, opposite clothes. Dirham → darāhim, dīnār → danānīr (broken plurals).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Website Mirror: same rungs, opposite clothes. Dirham → darāhim, dīnār → danānīr (broken plurals).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questions on the website rules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“Sale notice”. Read it aloud once while students follow; then they hunt for today’s grammar.
Task: Website: read the prices in words, then calculate.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“Sale notice” with an added opening-times line; questions from the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role-play card. Sequence: ● 10s think → ↔ 45s rehearse aloud with mic muted → ◎ two named students on open mic (warned in advance) → + ? the class types one follow-up in chat → ↺ one student summarises.
Routes: Core uses the Core prompt and stem; Develop the Develop prompt; Stretch the last prompt.
Website five moves: greet → ask → react &amp; haggle → agree &amp; pay → change &amp; farewell. Challenge: one currency other than pounds and one compound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7–9 Arabic sentences describing a shopping trip. Include at least three items, prices, a total, a discount and the change.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(GM-NUM-05 · Measurements) will spend class time USING this language, so students prepare it tonight — short, simple, easy to access (school guidance: “Simple, Short, Interesting, Relevant, Easy to access”). The five words prepare GM-NUM-05 (website Numeracy Mastery 05: measurements).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NUMBERS AND TIME  ·  GM-NUM-04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GM-NUM-04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Money</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الْمَالُ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Bi-kam hādhā? — How much is this? Currencies are masculine, so prices MIRROR ages: khamsu sanawātin but khamsatu junayhātin; khamsa ʿashrata sanatan but khamsata ʿashara junayhan. React, haggle, pay and get your change.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GM-NUM-04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Numbers and Time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Price questions; currencies and the mirror; shop words; the souq dialogue.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 the prices; sort age / money;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GM-NUM-05.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am 5”.</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عُمْرِي خَمْسَةُ سَنَوَاتٍ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عُمْرِي خَمْسُ سَنَوَاتٍ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عُمْرِي خَمْسُ سَنَةً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a:t>
            </a:r>
            <a:pPr algn="l" indent="0" marL="0">
              <a:buNone/>
            </a:pPr>
            <a:r>
              <a:rPr lang="ar-SA" altLang="en-US" sz="1650" b="1" dirty="0">
                <a:solidFill>
                  <a:srgbClr val="1B3B6F"/>
                </a:solidFill>
                <a:latin typeface="Amiri" pitchFamily="2" charset="-78"/>
                <a:cs typeface="Amiri" pitchFamily="2" charset="-78"/>
              </a:rPr>
              <a:t>جُنَيْهٌ</a:t>
            </a:r>
            <a:pPr algn="l" indent="0" marL="0">
              <a:buNone/>
            </a:pPr>
            <a:r>
              <a:rPr lang="en-US" sz="1250" b="1" dirty="0">
                <a:solidFill>
                  <a:srgbClr val="1B3B6F"/>
                </a:solidFill>
                <a:latin typeface="Calibri" pitchFamily="34" charset="0"/>
                <a:cs typeface="Amiri" pitchFamily="2" charset="-78"/>
              </a:rPr>
              <a:t> masculine or feminine?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masculine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feminine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بِكَمْ؟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many?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much (does it cost)?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السِّعْرُ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money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shop</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price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“cheaper than”.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أَرْخَصُ مِنْ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أَكْبَرُ مِنْ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أَغْلَى مِنْ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am 5”.</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عُمْرِي خَمْسَةُ سَنَوَاتٍ</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عُمْرِي خَمْسُ سَنَوَاتٍ</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عُمْرِي خَمْسُ سَنَةً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GM-NUM-03: sana is feminine.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a:t>
            </a:r>
            <a:pPr algn="l" indent="0" marL="0">
              <a:buNone/>
            </a:pPr>
            <a:r>
              <a:rPr lang="ar-SA" altLang="en-US" sz="1650" b="1" dirty="0">
                <a:solidFill>
                  <a:srgbClr val="1B3B6F"/>
                </a:solidFill>
                <a:latin typeface="Amiri" pitchFamily="2" charset="-78"/>
                <a:cs typeface="Amiri" pitchFamily="2" charset="-78"/>
              </a:rPr>
              <a:t>جُنَيْهٌ</a:t>
            </a:r>
            <a:pPr algn="l" indent="0" marL="0">
              <a:buNone/>
            </a:pPr>
            <a:r>
              <a:rPr lang="en-US" sz="1250" b="1" dirty="0">
                <a:solidFill>
                  <a:srgbClr val="1B3B6F"/>
                </a:solidFill>
                <a:latin typeface="Calibri" pitchFamily="34" charset="0"/>
                <a:cs typeface="Amiri" pitchFamily="2" charset="-78"/>
              </a:rPr>
              <a:t> masculine or feminine?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masculine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feminine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tāʾ marbūṭa.</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بِكَمْ؟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how many?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how much (does it cost)?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السِّعْرُ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money</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shop</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price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“cheaper than”.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أَرْخَصُ مِنْ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أَكْبَرُ مِنْ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أَغْلَى مِنْ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afʿal pattern (GM-NUM-03).</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Currencies are masculine → 3–10 keep the </a:t>
            </a:r>
            <a:pPr algn="l" indent="0" marL="0">
              <a:buNone/>
            </a:pPr>
            <a:r>
              <a:rPr lang="ar-SA" altLang="en-US" sz="1700" b="1" dirty="0">
                <a:solidFill>
                  <a:srgbClr val="1F2A37"/>
                </a:solidFill>
                <a:latin typeface="Amiri" pitchFamily="2" charset="-78"/>
                <a:cs typeface="Amiri" pitchFamily="2" charset="-78"/>
              </a:rPr>
              <a:t>ة</a:t>
            </a:r>
            <a:pPr algn="l" indent="0" marL="0">
              <a:buNone/>
            </a:pPr>
            <a:r>
              <a:rPr lang="en-US" sz="1300" b="1" dirty="0">
                <a:solidFill>
                  <a:srgbClr val="1F2A37"/>
                </a:solidFill>
                <a:latin typeface="Calibri" pitchFamily="34" charset="0"/>
                <a:cs typeface="Amiri" pitchFamily="2" charset="-78"/>
              </a:rPr>
              <a:t>; 11–99 take a singular noun with -an. Prices mirror ages.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cs typeface="Amiri" pitchFamily="2" charset="-78"/>
              </a:rPr>
              <a:t>خَمْسُ سَنَوَاتٍ</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0E7C86"/>
                </a:solidFill>
                <a:latin typeface="Amiri" pitchFamily="2" charset="-78"/>
                <a:cs typeface="Amiri" pitchFamily="2" charset="-78"/>
              </a:rPr>
              <a:t>خَمْسَةُ جُنَيْهَاتٍ</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and understand prices.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prices 1–99 with masculine currencies.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React to prices, ask for a discount and get change.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Perform a complete souq dialogue.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ask bi-kam hādhā? and understand the answer.</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prices with junayh and riyāl.</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haggle: hādhā ghālin! ʿindaka takhfīḍ?</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calculate al-bāqī (the change).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the Age–Money mirror.</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say 250 and 12.50 in Arabic.</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بِكَمْ؟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(for how much)</a:t>
            </a:r>
            <a:endParaRPr lang="en-US" sz="1350" dirty="0"/>
          </a:p>
          <a:p>
            <a:pPr indent="0" marL="0">
              <a:buNone/>
            </a:pPr>
            <a:r>
              <a:rPr lang="en-US" sz="1100" i="1" dirty="0">
                <a:solidFill>
                  <a:srgbClr val="5A6472"/>
                </a:solidFill>
                <a:latin typeface="Calibri" pitchFamily="34" charset="0"/>
                <a:cs typeface="Amiri" pitchFamily="2" charset="-78"/>
              </a:rPr>
              <a:t>bi-kam?</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بِكَمْ هَذَا؟</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الثَّمَنُ · السِّعْرُ</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price</a:t>
            </a:r>
            <a:endParaRPr lang="en-US" sz="1350" dirty="0"/>
          </a:p>
          <a:p>
            <a:pPr indent="0" marL="0">
              <a:buNone/>
            </a:pPr>
            <a:r>
              <a:rPr lang="en-US" sz="1100" i="1" dirty="0">
                <a:solidFill>
                  <a:srgbClr val="5A6472"/>
                </a:solidFill>
                <a:latin typeface="Calibri" pitchFamily="34" charset="0"/>
                <a:cs typeface="Amiri" pitchFamily="2" charset="-78"/>
              </a:rPr>
              <a:t>ath-tha-ma-nu · as-siʿ-ru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كَمْ ثَمَنُ الْكِتَابِ؟</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الْعُمْلَةُ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currency</a:t>
            </a:r>
            <a:endParaRPr lang="en-US" sz="1350" dirty="0"/>
          </a:p>
          <a:p>
            <a:pPr indent="0" marL="0">
              <a:buNone/>
            </a:pPr>
            <a:r>
              <a:rPr lang="en-US" sz="1100" i="1" dirty="0">
                <a:solidFill>
                  <a:srgbClr val="5A6472"/>
                </a:solidFill>
                <a:latin typeface="Calibri" pitchFamily="34" charset="0"/>
                <a:cs typeface="Amiri" pitchFamily="2" charset="-78"/>
              </a:rPr>
              <a:t>al-ʿum-la-tu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جُنَيْهٌ · رِيَالٌ</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غَالٍ · رَخِيصٌ</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expensive · cheap</a:t>
            </a:r>
            <a:endParaRPr lang="en-US" sz="1350" dirty="0"/>
          </a:p>
          <a:p>
            <a:pPr indent="0" marL="0">
              <a:buNone/>
            </a:pPr>
            <a:r>
              <a:rPr lang="en-US" sz="1100" i="1" dirty="0">
                <a:solidFill>
                  <a:srgbClr val="5A6472"/>
                </a:solidFill>
                <a:latin typeface="Calibri" pitchFamily="34" charset="0"/>
                <a:cs typeface="Amiri" pitchFamily="2" charset="-78"/>
              </a:rPr>
              <a:t>ghā-lin · ra-khī-ṣun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هَذَا غَالٍ!</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التَّخْفِيضُ</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discount</a:t>
            </a:r>
            <a:endParaRPr lang="en-US" sz="1350" dirty="0"/>
          </a:p>
          <a:p>
            <a:pPr indent="0" marL="0">
              <a:buNone/>
            </a:pPr>
            <a:r>
              <a:rPr lang="en-US" sz="1100" i="1" dirty="0">
                <a:solidFill>
                  <a:srgbClr val="5A6472"/>
                </a:solidFill>
                <a:latin typeface="Calibri" pitchFamily="34" charset="0"/>
                <a:cs typeface="Amiri" pitchFamily="2" charset="-78"/>
              </a:rPr>
              <a:t>at-takh-fī-ḍu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عِنْدَكَ تَخْفِيضٌ؟</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الْبَاقِي</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change</a:t>
            </a:r>
            <a:endParaRPr lang="en-US" sz="1350" dirty="0"/>
          </a:p>
          <a:p>
            <a:pPr indent="0" marL="0">
              <a:buNone/>
            </a:pPr>
            <a:r>
              <a:rPr lang="en-US" sz="1100" i="1" dirty="0">
                <a:solidFill>
                  <a:srgbClr val="5A6472"/>
                </a:solidFill>
                <a:latin typeface="Calibri" pitchFamily="34" charset="0"/>
                <a:cs typeface="Amiri" pitchFamily="2" charset="-78"/>
              </a:rPr>
              <a:t>al-bā-qī</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وَهَذَا الْبَاقِي</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MONEY · PART 1 · ASKING THE PRICE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Bi-kam hādhā?</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بِكَمْ هَذَا؟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a:t>
            </a:r>
            <a:endParaRPr lang="en-US" sz="1100" dirty="0"/>
          </a:p>
        </p:txBody>
      </p:sp>
      <p:sp>
        <p:nvSpPr>
          <p:cNvPr id="17" name="Text 14"/>
          <p:cNvSpPr txBox="1"/>
          <p:nvPr/>
        </p:nvSpPr>
        <p:spPr>
          <a:xfrm>
            <a:off x="5102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430768" y="2267712"/>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everyday favourite</a:t>
            </a:r>
            <a:endParaRPr lang="en-US" sz="1100" dirty="0"/>
          </a:p>
        </p:txBody>
      </p:sp>
      <p:sp>
        <p:nvSpPr>
          <p:cNvPr id="21" name="Text 18"/>
          <p:cNvSpPr txBox="1"/>
          <p:nvPr/>
        </p:nvSpPr>
        <p:spPr>
          <a:xfrm>
            <a:off x="513892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much is this? (m. item)</a:t>
            </a:r>
            <a:endParaRPr lang="en-US" sz="1100" dirty="0"/>
          </a:p>
        </p:txBody>
      </p:sp>
      <p:sp>
        <p:nvSpPr>
          <p:cNvPr id="22" name="Text 19"/>
          <p:cNvSpPr txBox="1"/>
          <p:nvPr/>
        </p:nvSpPr>
        <p:spPr>
          <a:xfrm>
            <a:off x="548640" y="2267712"/>
            <a:ext cx="4389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بِكَمْ هَذَا؟</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430768" y="3004718"/>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hādhihi for f. items</a:t>
            </a:r>
            <a:endParaRPr lang="en-US" sz="1100" dirty="0"/>
          </a:p>
        </p:txBody>
      </p:sp>
      <p:sp>
        <p:nvSpPr>
          <p:cNvPr id="27" name="Text 24"/>
          <p:cNvSpPr txBox="1"/>
          <p:nvPr/>
        </p:nvSpPr>
        <p:spPr>
          <a:xfrm>
            <a:off x="513892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much is this bag?</a:t>
            </a:r>
            <a:endParaRPr lang="en-US" sz="1100" dirty="0"/>
          </a:p>
        </p:txBody>
      </p:sp>
      <p:sp>
        <p:nvSpPr>
          <p:cNvPr id="28" name="Text 25"/>
          <p:cNvSpPr txBox="1"/>
          <p:nvPr/>
        </p:nvSpPr>
        <p:spPr>
          <a:xfrm>
            <a:off x="548640" y="3004718"/>
            <a:ext cx="4389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بِكَمْ هَذِهِ الْحَقِيبَةُ؟</a:t>
            </a:r>
            <a:endParaRPr lang="ar-SA" sz="22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430768" y="3741725"/>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thaman = price</a:t>
            </a:r>
            <a:endParaRPr lang="en-US" sz="1100" dirty="0"/>
          </a:p>
        </p:txBody>
      </p:sp>
      <p:sp>
        <p:nvSpPr>
          <p:cNvPr id="33" name="Text 30"/>
          <p:cNvSpPr txBox="1"/>
          <p:nvPr/>
        </p:nvSpPr>
        <p:spPr>
          <a:xfrm>
            <a:off x="513892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price of the book?</a:t>
            </a:r>
            <a:endParaRPr lang="en-US" sz="1100" dirty="0"/>
          </a:p>
        </p:txBody>
      </p:sp>
      <p:sp>
        <p:nvSpPr>
          <p:cNvPr id="34" name="Text 31"/>
          <p:cNvSpPr txBox="1"/>
          <p:nvPr/>
        </p:nvSpPr>
        <p:spPr>
          <a:xfrm>
            <a:off x="548640" y="3741725"/>
            <a:ext cx="4389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كَمْ ثَمَنُ الْكِتَابِ؟</a:t>
            </a:r>
            <a:endParaRPr lang="ar-SA" sz="22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430768" y="4478731"/>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siʿr = price</a:t>
            </a:r>
            <a:endParaRPr lang="en-US" sz="1100" dirty="0"/>
          </a:p>
        </p:txBody>
      </p:sp>
      <p:sp>
        <p:nvSpPr>
          <p:cNvPr id="37" name="Text 34"/>
          <p:cNvSpPr txBox="1"/>
          <p:nvPr/>
        </p:nvSpPr>
        <p:spPr>
          <a:xfrm>
            <a:off x="513892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price of the pen?</a:t>
            </a:r>
            <a:endParaRPr lang="en-US" sz="1100" dirty="0"/>
          </a:p>
        </p:txBody>
      </p:sp>
      <p:sp>
        <p:nvSpPr>
          <p:cNvPr id="38" name="Text 35"/>
          <p:cNvSpPr txBox="1"/>
          <p:nvPr/>
        </p:nvSpPr>
        <p:spPr>
          <a:xfrm>
            <a:off x="548640" y="4478731"/>
            <a:ext cx="4389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كَمْ سِعْرُ الْقَلَمِ؟</a:t>
            </a:r>
            <a:endParaRPr lang="ar-SA" sz="22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430768" y="5215738"/>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with bi-</a:t>
            </a:r>
            <a:endParaRPr lang="en-US" sz="1100" dirty="0"/>
          </a:p>
        </p:txBody>
      </p:sp>
      <p:sp>
        <p:nvSpPr>
          <p:cNvPr id="41" name="Text 38"/>
          <p:cNvSpPr txBox="1"/>
          <p:nvPr/>
        </p:nvSpPr>
        <p:spPr>
          <a:xfrm>
            <a:off x="513892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pen is three pounds.</a:t>
            </a:r>
            <a:endParaRPr lang="en-US" sz="1100" dirty="0"/>
          </a:p>
        </p:txBody>
      </p:sp>
      <p:sp>
        <p:nvSpPr>
          <p:cNvPr id="42" name="Text 39"/>
          <p:cNvSpPr txBox="1"/>
          <p:nvPr/>
        </p:nvSpPr>
        <p:spPr>
          <a:xfrm>
            <a:off x="548640" y="5215738"/>
            <a:ext cx="4389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الْقَلَمُ بِثَلَاثَةِ جُنَيْهَاتٍ.</a:t>
            </a:r>
            <a:endParaRPr lang="ar-SA" sz="2200" dirty="0"/>
          </a:p>
        </p:txBody>
      </p:sp>
      <p:sp>
        <p:nvSpPr>
          <p:cNvPr id="43" name="Shape 4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bi- is the sticky price tag — ask with it (bi-kam?) and answer with it (bi-ʿasharati junayhātin). After bi- the number takes kasra.</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MONEY · PART 2 · CURRENCIES AND THE MIRROR (WEBSITE TABLES)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Money mirrors 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الْعُمْلَاتُ وَالْمِرْآةُ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199632" y="1810512"/>
            <a:ext cx="5458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Money (junayh · masc.)</a:t>
            </a:r>
            <a:endParaRPr lang="en-US" sz="1100" dirty="0"/>
          </a:p>
        </p:txBody>
      </p:sp>
      <p:sp>
        <p:nvSpPr>
          <p:cNvPr id="17" name="Text 14"/>
          <p:cNvSpPr txBox="1"/>
          <p:nvPr/>
        </p:nvSpPr>
        <p:spPr>
          <a:xfrm>
            <a:off x="199339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Age (sana · fem.)</a:t>
            </a:r>
            <a:endParaRPr lang="en-US" sz="1100" dirty="0"/>
          </a:p>
        </p:txBody>
      </p:sp>
      <p:sp>
        <p:nvSpPr>
          <p:cNvPr id="18" name="Text 15"/>
          <p:cNvSpPr txBox="1"/>
          <p:nvPr/>
        </p:nvSpPr>
        <p:spPr>
          <a:xfrm>
            <a:off x="53035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Amount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6217920" y="2267712"/>
            <a:ext cx="54223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جُنَيْهٌ وَاحِدٌ</a:t>
            </a:r>
            <a:endParaRPr lang="ar-SA" sz="2200" dirty="0"/>
          </a:p>
        </p:txBody>
      </p:sp>
      <p:sp>
        <p:nvSpPr>
          <p:cNvPr id="21" name="Text 18"/>
          <p:cNvSpPr txBox="1"/>
          <p:nvPr/>
        </p:nvSpPr>
        <p:spPr>
          <a:xfrm>
            <a:off x="2011680" y="2267712"/>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سَنَةٌ وَاحِدَةٌ</a:t>
            </a:r>
            <a:endParaRPr lang="ar-SA" sz="2200" dirty="0"/>
          </a:p>
        </p:txBody>
      </p:sp>
      <p:sp>
        <p:nvSpPr>
          <p:cNvPr id="22" name="Text 19"/>
          <p:cNvSpPr txBox="1"/>
          <p:nvPr/>
        </p:nvSpPr>
        <p:spPr>
          <a:xfrm>
            <a:off x="566928" y="2267712"/>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6217920" y="2881884"/>
            <a:ext cx="54223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جُنَيْهَانِ</a:t>
            </a:r>
            <a:endParaRPr lang="ar-SA" sz="2200" dirty="0"/>
          </a:p>
        </p:txBody>
      </p:sp>
      <p:sp>
        <p:nvSpPr>
          <p:cNvPr id="27" name="Text 24"/>
          <p:cNvSpPr txBox="1"/>
          <p:nvPr/>
        </p:nvSpPr>
        <p:spPr>
          <a:xfrm>
            <a:off x="2011680" y="2881884"/>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سَنَتَانِ</a:t>
            </a:r>
            <a:endParaRPr lang="ar-SA" sz="2200" dirty="0"/>
          </a:p>
        </p:txBody>
      </p:sp>
      <p:sp>
        <p:nvSpPr>
          <p:cNvPr id="28" name="Text 25"/>
          <p:cNvSpPr txBox="1"/>
          <p:nvPr/>
        </p:nvSpPr>
        <p:spPr>
          <a:xfrm>
            <a:off x="566928" y="2881884"/>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6217920" y="3496056"/>
            <a:ext cx="54223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خَمْسَةُ جُنَيْهَاتٍ</a:t>
            </a:r>
            <a:endParaRPr lang="ar-SA" sz="2200" dirty="0"/>
          </a:p>
        </p:txBody>
      </p:sp>
      <p:sp>
        <p:nvSpPr>
          <p:cNvPr id="33" name="Text 30"/>
          <p:cNvSpPr txBox="1"/>
          <p:nvPr/>
        </p:nvSpPr>
        <p:spPr>
          <a:xfrm>
            <a:off x="2011680" y="3496056"/>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خَمْسُ سَنَوَاتٍ</a:t>
            </a:r>
            <a:endParaRPr lang="ar-SA" sz="2200" dirty="0"/>
          </a:p>
        </p:txBody>
      </p:sp>
      <p:sp>
        <p:nvSpPr>
          <p:cNvPr id="34" name="Text 31"/>
          <p:cNvSpPr txBox="1"/>
          <p:nvPr/>
        </p:nvSpPr>
        <p:spPr>
          <a:xfrm>
            <a:off x="566928" y="3496056"/>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6217920" y="4110228"/>
            <a:ext cx="54223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خَمْسَةَ عَشَرَ جُنَيْهًا</a:t>
            </a:r>
            <a:endParaRPr lang="ar-SA" sz="2200" dirty="0"/>
          </a:p>
        </p:txBody>
      </p:sp>
      <p:sp>
        <p:nvSpPr>
          <p:cNvPr id="39" name="Text 36"/>
          <p:cNvSpPr txBox="1"/>
          <p:nvPr/>
        </p:nvSpPr>
        <p:spPr>
          <a:xfrm>
            <a:off x="2011680" y="4110228"/>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خَمْسَ عَشْرَةَ سَنَةً</a:t>
            </a:r>
            <a:endParaRPr lang="ar-SA" sz="2200" dirty="0"/>
          </a:p>
        </p:txBody>
      </p:sp>
      <p:sp>
        <p:nvSpPr>
          <p:cNvPr id="40" name="Text 37"/>
          <p:cNvSpPr txBox="1"/>
          <p:nvPr/>
        </p:nvSpPr>
        <p:spPr>
          <a:xfrm>
            <a:off x="566928" y="4110228"/>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6217920" y="4724400"/>
            <a:ext cx="54223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خَمْسَةٌ وَعِشْرُونَ جُنَيْهًا</a:t>
            </a:r>
            <a:endParaRPr lang="ar-SA" sz="2200" dirty="0"/>
          </a:p>
        </p:txBody>
      </p:sp>
      <p:sp>
        <p:nvSpPr>
          <p:cNvPr id="45" name="Text 42"/>
          <p:cNvSpPr txBox="1"/>
          <p:nvPr/>
        </p:nvSpPr>
        <p:spPr>
          <a:xfrm>
            <a:off x="2011680" y="4724400"/>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خَمْسٌ وَعِشْرُونَ سَنَةً</a:t>
            </a:r>
            <a:endParaRPr lang="ar-SA" sz="2200" dirty="0"/>
          </a:p>
        </p:txBody>
      </p:sp>
      <p:sp>
        <p:nvSpPr>
          <p:cNvPr id="46" name="Text 43"/>
          <p:cNvSpPr txBox="1"/>
          <p:nvPr/>
        </p:nvSpPr>
        <p:spPr>
          <a:xfrm>
            <a:off x="566928" y="4724400"/>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25</a:t>
            </a:r>
            <a:endParaRPr lang="en-US" sz="1100" dirty="0"/>
          </a:p>
        </p:txBody>
      </p:sp>
      <p:sp>
        <p:nvSpPr>
          <p:cNvPr id="47" name="Shape 44"/>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8" name="Text 45"/>
          <p:cNvSpPr txBox="1"/>
          <p:nvPr/>
        </p:nvSpPr>
        <p:spPr>
          <a:xfrm>
            <a:off x="6217920" y="5338572"/>
            <a:ext cx="54223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مِئَةُ جُنَيْهٍ</a:t>
            </a:r>
            <a:endParaRPr lang="ar-SA" sz="2200" dirty="0"/>
          </a:p>
        </p:txBody>
      </p:sp>
      <p:sp>
        <p:nvSpPr>
          <p:cNvPr id="49" name="Text 46"/>
          <p:cNvSpPr txBox="1"/>
          <p:nvPr/>
        </p:nvSpPr>
        <p:spPr>
          <a:xfrm>
            <a:off x="2011680" y="5338572"/>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مِئَةُ سَنَةٍ</a:t>
            </a:r>
            <a:endParaRPr lang="ar-SA" sz="2200" dirty="0"/>
          </a:p>
        </p:txBody>
      </p:sp>
      <p:sp>
        <p:nvSpPr>
          <p:cNvPr id="50" name="Text 47"/>
          <p:cNvSpPr txBox="1"/>
          <p:nvPr/>
        </p:nvSpPr>
        <p:spPr>
          <a:xfrm>
            <a:off x="566928" y="5338572"/>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100</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other masculine currencies — riyāl (Saudi Arabia, Qatar), dirham (UAE, Morocco), dīnār (Kuwait, Jordan), dūlār. Junayh istirlīnī = the British pound £. Same rungs, opposite clothes.</a:t>
            </a:r>
            <a:endParaRPr lang="en-US" sz="110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B3B6F"/>
                </a:solidFill>
                <a:latin typeface="Calibri" pitchFamily="34" charset="0"/>
                <a:cs typeface="Amiri" pitchFamily="2" charset="-78"/>
              </a:rPr>
              <a:t>MONEY · PART 3 · SHOPPING WORDS AND THE FIVE MOVES (WEBSITE) · DEVELOP / STRETCH</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React, haggle, pay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مُفْرَدَاتُ التَّسَوُّقِ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2907792" y="1810512"/>
            <a:ext cx="5157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Move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247888" y="2267712"/>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Peace be upon you.</a:t>
            </a:r>
            <a:endParaRPr lang="en-US" sz="1100" dirty="0"/>
          </a:p>
        </p:txBody>
      </p:sp>
      <p:sp>
        <p:nvSpPr>
          <p:cNvPr id="21" name="Text 18"/>
          <p:cNvSpPr txBox="1"/>
          <p:nvPr/>
        </p:nvSpPr>
        <p:spPr>
          <a:xfrm>
            <a:off x="2926080" y="2267712"/>
            <a:ext cx="51206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السَّلَامُ عَلَيْكُمْ.</a:t>
            </a:r>
            <a:endParaRPr lang="ar-SA" sz="2200" dirty="0"/>
          </a:p>
        </p:txBody>
      </p:sp>
      <p:sp>
        <p:nvSpPr>
          <p:cNvPr id="22" name="Text 19"/>
          <p:cNvSpPr txBox="1"/>
          <p:nvPr/>
        </p:nvSpPr>
        <p:spPr>
          <a:xfrm>
            <a:off x="56692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① greet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247888" y="2881884"/>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much is this bag?</a:t>
            </a:r>
            <a:endParaRPr lang="en-US" sz="1100" dirty="0"/>
          </a:p>
        </p:txBody>
      </p:sp>
      <p:sp>
        <p:nvSpPr>
          <p:cNvPr id="27" name="Text 24"/>
          <p:cNvSpPr txBox="1"/>
          <p:nvPr/>
        </p:nvSpPr>
        <p:spPr>
          <a:xfrm>
            <a:off x="2926080" y="2881884"/>
            <a:ext cx="51206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بِكَمْ هَذِهِ الْحَقِيبَةُ؟</a:t>
            </a:r>
            <a:endParaRPr lang="ar-SA" sz="2200" dirty="0"/>
          </a:p>
        </p:txBody>
      </p:sp>
      <p:sp>
        <p:nvSpPr>
          <p:cNvPr id="28" name="Text 25"/>
          <p:cNvSpPr txBox="1"/>
          <p:nvPr/>
        </p:nvSpPr>
        <p:spPr>
          <a:xfrm>
            <a:off x="56692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② ask</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247888" y="3496056"/>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Too expensive! A discount?</a:t>
            </a:r>
            <a:endParaRPr lang="en-US" sz="1100" dirty="0"/>
          </a:p>
        </p:txBody>
      </p:sp>
      <p:sp>
        <p:nvSpPr>
          <p:cNvPr id="33" name="Text 30"/>
          <p:cNvSpPr txBox="1"/>
          <p:nvPr/>
        </p:nvSpPr>
        <p:spPr>
          <a:xfrm>
            <a:off x="2926080" y="3496056"/>
            <a:ext cx="51206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هَذَا غَالٍ جِدًّا! عِنْدَكَ تَخْفِيضٌ؟</a:t>
            </a:r>
            <a:endParaRPr lang="ar-SA" sz="2200" dirty="0"/>
          </a:p>
        </p:txBody>
      </p:sp>
      <p:sp>
        <p:nvSpPr>
          <p:cNvPr id="34" name="Text 31"/>
          <p:cNvSpPr txBox="1"/>
          <p:nvPr/>
        </p:nvSpPr>
        <p:spPr>
          <a:xfrm>
            <a:off x="56692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③ react / haggle</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247888" y="4110228"/>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I’ll take it. Here you are.</a:t>
            </a:r>
            <a:endParaRPr lang="en-US" sz="1100" dirty="0"/>
          </a:p>
        </p:txBody>
      </p:sp>
      <p:sp>
        <p:nvSpPr>
          <p:cNvPr id="39" name="Text 36"/>
          <p:cNvSpPr txBox="1"/>
          <p:nvPr/>
        </p:nvSpPr>
        <p:spPr>
          <a:xfrm>
            <a:off x="2926080" y="4110228"/>
            <a:ext cx="51206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سَآخُذُهَا. تَفَضَّلْ.</a:t>
            </a:r>
            <a:endParaRPr lang="ar-SA" sz="2200" dirty="0"/>
          </a:p>
        </p:txBody>
      </p:sp>
      <p:sp>
        <p:nvSpPr>
          <p:cNvPr id="40" name="Text 37"/>
          <p:cNvSpPr txBox="1"/>
          <p:nvPr/>
        </p:nvSpPr>
        <p:spPr>
          <a:xfrm>
            <a:off x="56692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④ agree / pay</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247888" y="4724400"/>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here is the change. Thanks!</a:t>
            </a:r>
            <a:endParaRPr lang="en-US" sz="1100" dirty="0"/>
          </a:p>
        </p:txBody>
      </p:sp>
      <p:sp>
        <p:nvSpPr>
          <p:cNvPr id="43" name="Text 40"/>
          <p:cNvSpPr txBox="1"/>
          <p:nvPr/>
        </p:nvSpPr>
        <p:spPr>
          <a:xfrm>
            <a:off x="2926080" y="4724400"/>
            <a:ext cx="51206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وَهَذَا الْبَاقِي. شُكْرًا!</a:t>
            </a:r>
            <a:endParaRPr lang="ar-SA" sz="2200" dirty="0"/>
          </a:p>
        </p:txBody>
      </p:sp>
      <p:sp>
        <p:nvSpPr>
          <p:cNvPr id="44" name="Text 41"/>
          <p:cNvSpPr txBox="1"/>
          <p:nvPr/>
        </p:nvSpPr>
        <p:spPr>
          <a:xfrm>
            <a:off x="56692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⑤ change / thanks</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247888" y="5338572"/>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more expensive · cheaper than</a:t>
            </a:r>
            <a:endParaRPr lang="en-US" sz="1100" dirty="0"/>
          </a:p>
        </p:txBody>
      </p:sp>
      <p:sp>
        <p:nvSpPr>
          <p:cNvPr id="47" name="Text 44"/>
          <p:cNvSpPr txBox="1"/>
          <p:nvPr/>
        </p:nvSpPr>
        <p:spPr>
          <a:xfrm>
            <a:off x="2926080" y="5338572"/>
            <a:ext cx="51206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هَذَا أَغْلَى مِنْ ذَلِكَ · أَرْخَصُ مِنْ</a:t>
            </a:r>
            <a:endParaRPr lang="ar-SA" sz="2200" dirty="0"/>
          </a:p>
        </p:txBody>
      </p:sp>
      <p:sp>
        <p:nvSpPr>
          <p:cNvPr id="48" name="Text 45"/>
          <p:cNvSpPr txBox="1"/>
          <p:nvPr/>
        </p:nvSpPr>
        <p:spPr>
          <a:xfrm>
            <a:off x="56692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ghālin is a “defective” adjective — learn the chunk hādhā ghālin! as it is (al-ghālī, ghāliya behave normally). Stretch: 250 = miʾatāni wa-khamsūna junayhan; 12.50 = ithnā ʿashara junayhan wa-khamsūna qirshan.</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“five pounds”.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خَمْسُ جُنَيْهَاتٍ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خَمْسَةُ جُنَيْهًا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خَمْسَةُ جُنَيْهَاتٍ</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“twenty riyals”.</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عِشْرُونَ رِيَالًا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عِشْرُونَ رِيَالَاتٍ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عِشْرُونَ رِيَالٌ</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“How much is this bag?”</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بِكَمْ هَذَا الْحَقِيبَةُ؟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بِكَمْ هَذِهِ الْحَقِيبَةُ؟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هَذِهِ الْحَقِيبَةَ؟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shirt is 70; you pay 100. The change is …</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ثَلَاثُونَ جُنَيْهًا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ثَلَاثُ جُنَيْهَاتٍ</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سَبْعُونَ جُنَيْهًا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“five pounds”.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خَمْسُ جُنَيْهَاتٍ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خَمْسَةُ جُنَيْهًا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خَمْسَةُ جُنَيْهَاتٍ</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 number keeps </a:t>
            </a:r>
            <a:pPr algn="l" indent="0" marL="0">
              <a:buNone/>
            </a:pPr>
            <a:r>
              <a:rPr lang="ar-SA" altLang="en-US" sz="1350" dirty="0">
                <a:solidFill>
                  <a:srgbClr val="8A6D1E"/>
                </a:solidFill>
                <a:latin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“twenty riyals”.</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عِشْرُونَ رِيَالًا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عِشْرُونَ رِيَالَاتٍ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عِشْرُونَ رِيَالٌ</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11–99: singular -an.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“How much is this bag?”</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بِكَمْ هَذَا الْحَقِيبَةُ؟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بِكَمْ هَذِهِ الْحَقِيبَةُ؟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هَذِهِ الْحَقِيبَةَ؟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item: hādhihi.</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shirt is 70; you pay 100. The change is …</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ثَلَاثُونَ جُنَيْهًا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ثَلَاثُ جُنَيْهَاتٍ</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سَبْعُونَ جُنَيْهًا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100 − 70 = 30.</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haggle for a shirt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Ask</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بِكَمْ هَذَا الْقَمِيصُ؟</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qamīṣ masc.: hādhā.</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React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هَذَا غَالٍ جِدًّا!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chunk.</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مِئَةُ جُنَيْهٍ</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100 + genitive singular.</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Change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ثَلَاثُونَ جُنَيْهًا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11–99: -an.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PRICE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SHOP PHRASE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الزَّبُونُ: </a:t>
            </a:r>
            <a:pPr rtl="1" algn="r" indent="0" marL="0">
              <a:lnSpc>
                <a:spcPct val="120000"/>
              </a:lnSpc>
              <a:buNone/>
            </a:pPr>
            <a:r>
              <a:rPr lang="ar-SA" altLang="en-US" sz="1400" b="1" dirty="0">
                <a:solidFill>
                  <a:srgbClr val="D6336C"/>
                </a:solidFill>
                <a:latin typeface="Amiri" pitchFamily="2" charset="-78"/>
                <a:cs typeface="Amiri" pitchFamily="2" charset="-78"/>
              </a:rPr>
              <a:t>بِكَمْ</a:t>
            </a:r>
            <a:pPr rtl="1" algn="r" indent="0" marL="0">
              <a:lnSpc>
                <a:spcPct val="120000"/>
              </a:lnSpc>
              <a:buNone/>
            </a:pPr>
            <a:r>
              <a:rPr lang="ar-SA" altLang="en-US" sz="1400" b="1" dirty="0">
                <a:solidFill>
                  <a:srgbClr val="1B3B6F"/>
                </a:solidFill>
                <a:latin typeface="Amiri" pitchFamily="2" charset="-78"/>
                <a:cs typeface="Amiri" pitchFamily="2" charset="-78"/>
              </a:rPr>
              <a:t> هَذَا الْقَمِيصُ؟ الْبَائِعُ: </a:t>
            </a:r>
            <a:pPr rtl="1" algn="r" indent="0" marL="0">
              <a:lnSpc>
                <a:spcPct val="120000"/>
              </a:lnSpc>
              <a:buNone/>
            </a:pPr>
            <a:r>
              <a:rPr lang="ar-SA" altLang="en-US" sz="1400" b="1" dirty="0">
                <a:solidFill>
                  <a:srgbClr val="0E7C86"/>
                </a:solidFill>
                <a:latin typeface="Amiri" pitchFamily="2" charset="-78"/>
                <a:cs typeface="Amiri" pitchFamily="2" charset="-78"/>
              </a:rPr>
              <a:t>بِثَمَانِينَ جُنَيْهًا</a:t>
            </a:r>
            <a:pPr rtl="1" algn="r" indent="0" marL="0">
              <a:lnSpc>
                <a:spcPct val="120000"/>
              </a:lnSpc>
              <a:buNone/>
            </a:pPr>
            <a:r>
              <a:rPr lang="ar-SA" altLang="en-US" sz="1400" b="1" dirty="0">
                <a:solidFill>
                  <a:srgbClr val="1B3B6F"/>
                </a:solidFill>
                <a:latin typeface="Amiri" pitchFamily="2" charset="-78"/>
                <a:cs typeface="Amiri" pitchFamily="2" charset="-78"/>
              </a:rPr>
              <a:t>. الزَّبُونُ: </a:t>
            </a:r>
            <a:pPr rtl="1" algn="r" indent="0" marL="0">
              <a:lnSpc>
                <a:spcPct val="120000"/>
              </a:lnSpc>
              <a:buNone/>
            </a:pPr>
            <a:r>
              <a:rPr lang="ar-SA" altLang="en-US" sz="1400" b="1" dirty="0">
                <a:solidFill>
                  <a:srgbClr val="D6336C"/>
                </a:solidFill>
                <a:latin typeface="Amiri" pitchFamily="2" charset="-78"/>
                <a:cs typeface="Amiri" pitchFamily="2" charset="-78"/>
              </a:rPr>
              <a:t>هَذَا غَالٍ جِدًّا! عِنْدَكَ تَخْفِيضٌ؟</a:t>
            </a:r>
            <a:pPr rtl="1" algn="r" indent="0" marL="0">
              <a:lnSpc>
                <a:spcPct val="120000"/>
              </a:lnSpc>
              <a:buNone/>
            </a:pPr>
            <a:r>
              <a:rPr lang="ar-SA" altLang="en-US" sz="1400" b="1" dirty="0">
                <a:solidFill>
                  <a:srgbClr val="1B3B6F"/>
                </a:solidFill>
                <a:latin typeface="Amiri" pitchFamily="2" charset="-78"/>
                <a:cs typeface="Amiri" pitchFamily="2" charset="-78"/>
              </a:rPr>
              <a:t> الْبَائِعُ: حَسَنًا، </a:t>
            </a:r>
            <a:pPr rtl="1" algn="r" indent="0" marL="0">
              <a:lnSpc>
                <a:spcPct val="120000"/>
              </a:lnSpc>
              <a:buNone/>
            </a:pPr>
            <a:r>
              <a:rPr lang="ar-SA" altLang="en-US" sz="1400" b="1" dirty="0">
                <a:solidFill>
                  <a:srgbClr val="0E7C86"/>
                </a:solidFill>
                <a:latin typeface="Amiri" pitchFamily="2" charset="-78"/>
                <a:cs typeface="Amiri" pitchFamily="2" charset="-78"/>
              </a:rPr>
              <a:t>سَبْعُونَ جُنَيْهًا</a:t>
            </a:r>
            <a:pPr rtl="1" algn="r" indent="0" marL="0">
              <a:lnSpc>
                <a:spcPct val="120000"/>
              </a:lnSpc>
              <a:buNone/>
            </a:pPr>
            <a:r>
              <a:rPr lang="ar-SA" altLang="en-US" sz="1400" b="1" dirty="0">
                <a:solidFill>
                  <a:srgbClr val="1B3B6F"/>
                </a:solidFill>
                <a:latin typeface="Amiri" pitchFamily="2" charset="-78"/>
                <a:cs typeface="Amiri" pitchFamily="2" charset="-78"/>
              </a:rPr>
              <a:t> لَكَ. الزَّبُونُ: سَآخُذُهُ. تَفَضَّلْ، </a:t>
            </a:r>
            <a:pPr rtl="1" algn="r" indent="0" marL="0">
              <a:lnSpc>
                <a:spcPct val="120000"/>
              </a:lnSpc>
              <a:buNone/>
            </a:pPr>
            <a:r>
              <a:rPr lang="ar-SA" altLang="en-US" sz="1400" b="1" dirty="0">
                <a:solidFill>
                  <a:srgbClr val="0E7C86"/>
                </a:solidFill>
                <a:latin typeface="Amiri" pitchFamily="2" charset="-78"/>
                <a:cs typeface="Amiri" pitchFamily="2" charset="-78"/>
              </a:rPr>
              <a:t>مِئَةُ جُنَيْهٍ</a:t>
            </a:r>
            <a:pPr rtl="1" algn="r" indent="0" marL="0">
              <a:lnSpc>
                <a:spcPct val="120000"/>
              </a:lnSpc>
              <a:buNone/>
            </a:pPr>
            <a:r>
              <a:rPr lang="ar-SA" altLang="en-US" sz="1400" b="1" dirty="0">
                <a:solidFill>
                  <a:srgbClr val="1B3B6F"/>
                </a:solidFill>
                <a:latin typeface="Amiri" pitchFamily="2" charset="-78"/>
                <a:cs typeface="Amiri" pitchFamily="2" charset="-78"/>
              </a:rPr>
              <a:t>. الْبَائِعُ: وَهَذَا </a:t>
            </a:r>
            <a:pPr rtl="1" algn="r" indent="0" marL="0">
              <a:lnSpc>
                <a:spcPct val="120000"/>
              </a:lnSpc>
              <a:buNone/>
            </a:pPr>
            <a:r>
              <a:rPr lang="ar-SA" altLang="en-US" sz="1400" b="1" dirty="0">
                <a:solidFill>
                  <a:srgbClr val="D6336C"/>
                </a:solidFill>
                <a:latin typeface="Amiri" pitchFamily="2" charset="-78"/>
                <a:cs typeface="Amiri" pitchFamily="2" charset="-78"/>
              </a:rPr>
              <a:t>الْبَاقِي</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0E7C86"/>
                </a:solidFill>
                <a:latin typeface="Amiri" pitchFamily="2" charset="-78"/>
                <a:cs typeface="Amiri" pitchFamily="2" charset="-78"/>
              </a:rPr>
              <a:t>ثَلَاثُونَ جُنَيْهًا</a:t>
            </a:r>
            <a:pPr rtl="1" algn="r" indent="0" marL="0">
              <a:lnSpc>
                <a:spcPct val="120000"/>
              </a:lnSpc>
              <a:buNone/>
            </a:pPr>
            <a:r>
              <a:rPr lang="ar-SA" altLang="en-US" sz="1400" b="1" dirty="0">
                <a:solidFill>
                  <a:srgbClr val="1B3B6F"/>
                </a:solidFill>
                <a:latin typeface="Amiri" pitchFamily="2" charset="-78"/>
                <a:cs typeface="Amiri" pitchFamily="2" charset="-78"/>
              </a:rPr>
              <a:t>.</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Customer: How much is this shirt? Seller: Eighty pounds. Customer: That’s very expensive! Do you have a discount? Seller: All right — seventy pounds for you. Customer: I’ll take it. Here you are, a hundred pounds. Seller: And here is your change: thirty pounds.</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كَمْ ثَمَنُ الْكِتَابِ؟</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What is the price of the book?</a:t>
            </a:r>
            <a:endParaRPr lang="en-US" sz="1250" dirty="0"/>
          </a:p>
          <a:p>
            <a:pPr indent="0" marL="0">
              <a:buNone/>
            </a:pPr>
            <a:r>
              <a:rPr lang="en-US" sz="1050" i="1" dirty="0">
                <a:solidFill>
                  <a:srgbClr val="8A6D1E"/>
                </a:solidFill>
                <a:latin typeface="Calibri" pitchFamily="34" charset="0"/>
                <a:cs typeface="Amiri" pitchFamily="2" charset="-78"/>
              </a:rPr>
              <a:t>thaman.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الْقَلَمُ بِثَلَاثَةِ جُنَيْهَاتٍ.</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pen is three pounds.</a:t>
            </a:r>
            <a:endParaRPr lang="en-US" sz="1250" dirty="0"/>
          </a:p>
          <a:p>
            <a:pPr indent="0" marL="0">
              <a:buNone/>
            </a:pPr>
            <a:r>
              <a:rPr lang="en-US" sz="1050" i="1" dirty="0">
                <a:solidFill>
                  <a:srgbClr val="8A6D1E"/>
                </a:solidFill>
                <a:latin typeface="Calibri" pitchFamily="34" charset="0"/>
                <a:cs typeface="Amiri" pitchFamily="2" charset="-78"/>
              </a:rPr>
              <a:t>bi- + flip.</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هَذَا رَخِيصٌ — سَآخُذُهُ!</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cheap — I’ll take it!</a:t>
            </a:r>
            <a:endParaRPr lang="en-US" sz="1250" dirty="0"/>
          </a:p>
          <a:p>
            <a:pPr indent="0" marL="0">
              <a:buNone/>
            </a:pPr>
            <a:r>
              <a:rPr lang="en-US" sz="1050" i="1" dirty="0">
                <a:solidFill>
                  <a:srgbClr val="8A6D1E"/>
                </a:solidFill>
                <a:latin typeface="Calibri" pitchFamily="34" charset="0"/>
                <a:cs typeface="Amiri" pitchFamily="2" charset="-78"/>
              </a:rPr>
              <a:t>React.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الْحَقِيبَةُ أَغْلَى مِنَ الْقَمِيصِ.</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bag is more expensive than the shirt.</a:t>
            </a:r>
            <a:endParaRPr lang="en-US" sz="1250" dirty="0"/>
          </a:p>
          <a:p>
            <a:pPr indent="0" marL="0">
              <a:buNone/>
            </a:pPr>
            <a:r>
              <a:rPr lang="en-US" sz="1050" i="1" dirty="0">
                <a:solidFill>
                  <a:srgbClr val="8A6D1E"/>
                </a:solidFill>
                <a:latin typeface="Calibri" pitchFamily="34" charset="0"/>
                <a:cs typeface="Amiri" pitchFamily="2" charset="-78"/>
              </a:rPr>
              <a:t>Compare.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THE SALE ADVERT (WEBSITE TASK A)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Was … now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مَكْتَبَةُ الْأَمَلِ — تَنْزِيلَاتٌ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Now</a:t>
            </a:r>
            <a:endParaRPr lang="en-US" sz="1100" dirty="0"/>
          </a:p>
        </p:txBody>
      </p:sp>
      <p:sp>
        <p:nvSpPr>
          <p:cNvPr id="17" name="Text 14"/>
          <p:cNvSpPr txBox="1"/>
          <p:nvPr/>
        </p:nvSpPr>
        <p:spPr>
          <a:xfrm>
            <a:off x="254203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Was</a:t>
            </a:r>
            <a:endParaRPr lang="en-US" sz="1100" dirty="0"/>
          </a:p>
        </p:txBody>
      </p:sp>
      <p:sp>
        <p:nvSpPr>
          <p:cNvPr id="18" name="Text 15"/>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Item</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6583680" y="2267712"/>
            <a:ext cx="50566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بِأَرْبَعَةِ جُنَيْهَاتٍ (4)</a:t>
            </a:r>
            <a:endParaRPr lang="ar-SA" sz="2200" dirty="0"/>
          </a:p>
        </p:txBody>
      </p:sp>
      <p:sp>
        <p:nvSpPr>
          <p:cNvPr id="21" name="Text 18"/>
          <p:cNvSpPr txBox="1"/>
          <p:nvPr/>
        </p:nvSpPr>
        <p:spPr>
          <a:xfrm>
            <a:off x="2560320" y="2267712"/>
            <a:ext cx="38404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بِسِتَّةِ جُنَيْهَاتٍ</a:t>
            </a:r>
            <a:endParaRPr lang="ar-SA" sz="2200" dirty="0"/>
          </a:p>
        </p:txBody>
      </p:sp>
      <p:sp>
        <p:nvSpPr>
          <p:cNvPr id="22" name="Text 19"/>
          <p:cNvSpPr txBox="1"/>
          <p:nvPr/>
        </p:nvSpPr>
        <p:spPr>
          <a:xfrm>
            <a:off x="548640" y="2267712"/>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قَلَمٌ</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583680" y="3004718"/>
            <a:ext cx="50566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بِسَبْعَةِ جُنَيْهَاتٍ (7)</a:t>
            </a:r>
            <a:endParaRPr lang="ar-SA" sz="2200" dirty="0"/>
          </a:p>
        </p:txBody>
      </p:sp>
      <p:sp>
        <p:nvSpPr>
          <p:cNvPr id="27" name="Text 24"/>
          <p:cNvSpPr txBox="1"/>
          <p:nvPr/>
        </p:nvSpPr>
        <p:spPr>
          <a:xfrm>
            <a:off x="2560320" y="3004718"/>
            <a:ext cx="38404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بِعَشَرَةِ جُنَيْهَاتٍ</a:t>
            </a:r>
            <a:endParaRPr lang="ar-SA" sz="2200" dirty="0"/>
          </a:p>
        </p:txBody>
      </p:sp>
      <p:sp>
        <p:nvSpPr>
          <p:cNvPr id="28" name="Text 25"/>
          <p:cNvSpPr txBox="1"/>
          <p:nvPr/>
        </p:nvSpPr>
        <p:spPr>
          <a:xfrm>
            <a:off x="548640" y="3004718"/>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دَفْتَرٌ</a:t>
            </a:r>
            <a:endParaRPr lang="ar-SA" sz="24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6583680" y="3741725"/>
            <a:ext cx="50566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بِخَمْسَةٍ وَأَرْبَعِينَ جُنَيْهًا (45)</a:t>
            </a:r>
            <a:endParaRPr lang="ar-SA" sz="2200" dirty="0"/>
          </a:p>
        </p:txBody>
      </p:sp>
      <p:sp>
        <p:nvSpPr>
          <p:cNvPr id="33" name="Text 30"/>
          <p:cNvSpPr txBox="1"/>
          <p:nvPr/>
        </p:nvSpPr>
        <p:spPr>
          <a:xfrm>
            <a:off x="2560320" y="3741725"/>
            <a:ext cx="38404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بِسِتِّينَ جُنَيْهًا</a:t>
            </a:r>
            <a:endParaRPr lang="ar-SA" sz="2200" dirty="0"/>
          </a:p>
        </p:txBody>
      </p:sp>
      <p:sp>
        <p:nvSpPr>
          <p:cNvPr id="34" name="Text 31"/>
          <p:cNvSpPr txBox="1"/>
          <p:nvPr/>
        </p:nvSpPr>
        <p:spPr>
          <a:xfrm>
            <a:off x="548640" y="3741725"/>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حَقِيبَةٌ</a:t>
            </a:r>
            <a:endParaRPr lang="ar-SA" sz="24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6583680" y="4478731"/>
            <a:ext cx="50566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بِنِصْفِ الثَّمَنِ (50)</a:t>
            </a:r>
            <a:endParaRPr lang="ar-SA" sz="2200" dirty="0"/>
          </a:p>
        </p:txBody>
      </p:sp>
      <p:sp>
        <p:nvSpPr>
          <p:cNvPr id="39" name="Text 36"/>
          <p:cNvSpPr txBox="1"/>
          <p:nvPr/>
        </p:nvSpPr>
        <p:spPr>
          <a:xfrm>
            <a:off x="2560320" y="4478731"/>
            <a:ext cx="38404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بِمِئَةِ جُنَيْهٍ</a:t>
            </a:r>
            <a:endParaRPr lang="ar-SA" sz="2200" dirty="0"/>
          </a:p>
        </p:txBody>
      </p:sp>
      <p:sp>
        <p:nvSpPr>
          <p:cNvPr id="40" name="Text 37"/>
          <p:cNvSpPr txBox="1"/>
          <p:nvPr/>
        </p:nvSpPr>
        <p:spPr>
          <a:xfrm>
            <a:off x="548640" y="4478731"/>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قَامُوسٌ</a:t>
            </a:r>
            <a:endParaRPr lang="ar-SA" sz="24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6583680" y="5215738"/>
            <a:ext cx="50566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أَحَدَ عَشَرَ جُنَيْهًا (11)</a:t>
            </a:r>
            <a:endParaRPr lang="ar-SA" sz="2200" dirty="0"/>
          </a:p>
        </p:txBody>
      </p:sp>
      <p:sp>
        <p:nvSpPr>
          <p:cNvPr id="43" name="Text 40"/>
          <p:cNvSpPr txBox="1"/>
          <p:nvPr/>
        </p:nvSpPr>
        <p:spPr>
          <a:xfrm>
            <a:off x="2578608" y="5215738"/>
            <a:ext cx="3840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Text 41"/>
          <p:cNvSpPr txBox="1"/>
          <p:nvPr/>
        </p:nvSpPr>
        <p:spPr>
          <a:xfrm>
            <a:off x="548640" y="5215738"/>
            <a:ext cx="18288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قَلَمٌ + دَفْتَرٌ</a:t>
            </a:r>
            <a:endParaRPr lang="ar-SA" sz="24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Task A: the dictionary price is never written — bi-niṣfi th-thaman means you must calculate it. The pen is the cheapest: al-qalamu arkhaṣu shayʾ!</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THE MIRROR · AGE OR MONEY?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Feminine sana, or masculine junayh?</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سَنَةٌ أَمْ جُنَيْهٌ؟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ثَلَاثُ سَنَوَاتٍ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سَبْعُ سَنَوَاتٍ</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تِسْعُ سَنَوَاتٍ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أَرْبَعُ سَنَوَاتٍ</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ثَلَاثَةُ جُنَيْهَاتٍ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سَبْعَةُ رِيَالَاتٍ</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تِسْعَةُ دَرَاهِمَ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أَرْبَعَةُ دَنَانِيرَ</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Age (number without ة)</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Money (number with ة)</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Age (number without ة)</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ثَلَاثُ سَنَوَاتٍ</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سَبْعُ سَنَوَاتٍ</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تِسْعُ سَنَوَاتٍ</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أَرْبَعُ سَنَوَاتٍ</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Money (number with ة)</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ثَلَاثَةُ جُنَيْهَاتٍ</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سَبْعَةُ رِيَالَاتٍ</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تِسْعَةُ دَرَاهِمَ</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أَرْبَعَةُ دَنَانِيرَ</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خَمْسُ جُنَيْهَاتٍ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junayh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عِشْرُونَ جُنَيْهَاتٍ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rung for 20?</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هَذَا غَالِي جِدًّا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ending on ghālin?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خَمْسُ جُنَيْهَاتٍ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خَمْسَةُ جُنَيْهَاتٍ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Junayh is masculine → keep the </a:t>
            </a:r>
            <a:pPr algn="l" indent="0" marL="0">
              <a:buNone/>
            </a:pPr>
            <a:r>
              <a:rPr lang="ar-SA" altLang="en-US" sz="1500" b="1" dirty="0">
                <a:solidFill>
                  <a:srgbClr val="1B3B6F"/>
                </a:solidFill>
                <a:latin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 (website over-correction trap).</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عِشْرُونَ جُنَيْهَاتٍ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عِشْرُونَ جُنَيْهًا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11–99: singular noun with -an.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هَذَا غَالِي جِدًّا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هَذَا غَالٍ جِدًّا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Learn the chunk ghālin (website).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2F6FB0"/>
                </a:solidFill>
                <a:latin typeface="Calibri" pitchFamily="34" charset="0"/>
                <a:cs typeface="Amiri" pitchFamily="2" charset="-78"/>
              </a:rPr>
              <a:t>WE DO · GUIDED PRACTICE · TEACHER-WRITTEN QUESTIONS ON THE WEBSITE RULES</a:t>
            </a:r>
            <a:endParaRPr lang="en-US" sz="983"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“fifteen pounds”.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خَمْسَ عَشْرَةَ جُنَيْهًا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خَمْسَةَ عَشَرَ جُنَيْهَاتٍ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خَمْسَةَ عَشَرَ جُنَيْهًا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“two dirhams”.</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اثْنَانِ دِرْهَمًا</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دِرْهَمَانِ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دِرْهَمَيْنِ اثْنَيْنِ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“Do you have a discount?”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عِنْدَكَ الْبَاقِي؟</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عِنْدَكَ تَخْفِيضٌ؟</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بِكَمْ تَخْفِيضٌ؟</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250 pounds (Stretch).</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مِئَتَا وَخَمْسُونَ جُنَيْهٌ</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خَمْسُونَ وَمِئَتَانِ جُنَيْهًا</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مِئَتَانِ وَخَمْسُونَ جُنَيْهًا</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“fifteen pounds”.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خَمْسَ عَشْرَةَ جُنَيْهًا</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خَمْسَةَ عَشَرَ جُنَيْهَاتٍ</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خَمْسَةَ عَشَرَ جُنَيْهًا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teen + singular.</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“two dirhams”.</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اثْنَانِ دِرْهَمًا</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دِرْهَمَانِ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دِرْهَمَيْنِ اثْنَيْنِ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dual.</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“Do you have a discount?”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عِنْدَكَ الْبَاقِي؟</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عِنْدَكَ تَخْفِيضٌ؟</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بِكَمْ تَخْفِيضٌ؟</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takhfīḍ = discount.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250 pounds (Stretch).</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مِئَتَا وَخَمْسُونَ جُنَيْهٌ</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خَمْسُونَ وَمِئَتَانِ جُنَيْهًا</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مِئَتَانِ وَخَمْسُونَ جُنَيْهًا</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hundred + ten.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 AND NOTICE · WEBSITE READING “SALE NOTICE”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Today’s sale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تَخْفِيضَاتُ الْيَوْمِ: الْقَمِيصُ بِخَمْسَةٍ وَثَلَاثِينَ جُنَيْهًا، وَالْحِذَاءُ بِثَمَانِيَةٍ وَخَمْسِينَ جُنَيْهًا، وَالْحَقِيبَةُ بِاثْنَيْنِ وَسَبْعِينَ جُنَيْهًا. إِذَا اشْتَرَيْتَ قِطْعَتَيْنِ فَالتَّخْفِيضُ عَشَرَةُ جُنَيْهَاتٍ. الْمَحَلُّ مَفْتُوحٌ مِنَ السَّاعَةِ التَّاسِعَةِ صَبَاحًا حَتَّى الْعَاشِرَةِ مَسَاءً.</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تَخْفِيضَاتُ</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discounts / sale</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الْحِذَاءُ</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shoes</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قِطْعَتَيْنِ</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two items</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الْمَحَلُّ</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shop</a:t>
            </a:r>
            <a:endParaRPr lang="en-US" sz="10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shirt?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53 pounds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35 pounds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58 pounds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item is the most expensive?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shoes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shirt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bag</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Shirt + shoes before the discount cost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93</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83</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72</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 and after the discount?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93</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83</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73</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shirt?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53 pounds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35 pounds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58 pounds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Khamsatin wa-thalāthīna (unit first).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item is the most expensive?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shoes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shirt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bag</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72 pounds.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Shirt + shoes before the discount cost …</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93</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83</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72</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35 + 58.</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 and after the discount?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93</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83</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73</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93 − 10 (two items).</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your turn in the souq</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اِسْأَلْ عَنْ ثَمَنِ ثَلَاثَةِ أَشْيَاءَ فِي الصَّفِّ.</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أَنْتَ فِي سُوقِ الْقَاهِرَةِ: اِشْتَرِ هَدِيَّةً لِأُخْتِكَ.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سَاوِمِ الْبَائِعَ، وَادْفَعْ، وَاحْسُبِ الْبَاقِي.</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بِكَمْ ___ ؟ — ثَمَنُهُ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هَذَا غَالٍ! عِنْدَكَ تَخْفِيضٌ؟ — ___ لَكَ.</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تَفَضَّلْ ___ . — وَهَذَا الْبَاقِي: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السَّلَامُ عَلَيْكُمْ. بِكَمْ هَذِهِ الْحَقِيبَةُ؟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Peace be upon you. How much is this bag?</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وَعَلَيْكُمُ السَّلَامُ. بِخَمْسِينَ جُنَيْهًا. — هَذَا غَالٍ! — حَسَنًا، أَرْبَعُونَ لَكِ. — سَآخُذُهَا، شُكْرًا!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And upon you peace. Fifty pounds. — That’s expensive! — All right, forty for you. — I’ll take it, thank you!</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Three items and their prices.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al-… bi- + price.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haggle, a total and the change.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ghālin · takhfīḍ · al-bāqī.</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7–9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“Hot”: «</a:t>
            </a:r>
            <a:pPr algn="l" indent="0" marL="0">
              <a:buNone/>
            </a:pPr>
            <a:r>
              <a:rPr lang="ar-SA" altLang="en-US" sz="1800" b="1" dirty="0">
                <a:solidFill>
                  <a:srgbClr val="1F2A37"/>
                </a:solidFill>
                <a:latin typeface="Amiri" pitchFamily="2" charset="-78"/>
                <a:cs typeface="Amiri" pitchFamily="2" charset="-78"/>
              </a:rPr>
              <a:t>ذَهَبْتُ إِلَى السُّوقِ</a:t>
            </a:r>
            <a:pPr algn="l" indent="0" marL="0">
              <a:buNone/>
            </a:pPr>
            <a:r>
              <a:rPr lang="en-US" sz="1400" b="1" dirty="0">
                <a:solidFill>
                  <a:srgbClr val="1F2A37"/>
                </a:solidFill>
                <a:latin typeface="Calibri" pitchFamily="34" charset="0"/>
                <a:cs typeface="Amiri" pitchFamily="2" charset="-78"/>
              </a:rPr>
              <a:t>» with two comparisons.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aghlā min · arkhaṣu min.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عِنْدَكَ تَخْفِيضٌ عَلَى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 you have a discount on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الْمَجْمُوعُ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total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الْبَاقِي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change is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أَرْخَصُ مِنْ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cheaper than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بِكَمْ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much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ثَمَنُ ______ ______ جُنَيْهًا.</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 costs … pounds</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هَذَا غَالٍ جِدًّا!</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too expensive!</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سَآخُذُ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I’ll take it</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جُنَيْهٌ وَاحِدٌ  ·  جُنَيْهَانِ  ·  خَمْسَةُ جُنَيْهَاتٍ  ·  عَشَرَةُ رِيَالَاتٍ  ·  عِشْرُونَ جُنَيْهًا  ·  مِئَةُ جُنَيْهٍ  ·  بِكَمْ؟  ·  غَالٍ  ·  رَخِيصٌ  ·  تَخْفِيضٌ  ·  الْبَاقِي  ·  أَغْلَى مِنْ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“Hot” task: «</a:t>
            </a:r>
            <a:pPr algn="l" indent="0" marL="0">
              <a:buNone/>
            </a:pPr>
            <a:r>
              <a:rPr lang="ar-SA" altLang="en-US" sz="1750" b="1" dirty="0">
                <a:solidFill>
                  <a:srgbClr val="1F2A37"/>
                </a:solidFill>
                <a:latin typeface="Amiri" pitchFamily="2" charset="-78"/>
                <a:cs typeface="Amiri" pitchFamily="2" charset="-78"/>
              </a:rPr>
              <a:t>ذَهَبْتُ إِلَى السُّوقِ</a:t>
            </a:r>
            <a:pPr algn="l" indent="0" marL="0">
              <a:buNone/>
            </a:pPr>
            <a:r>
              <a:rPr lang="en-US" sz="1350" b="1" dirty="0">
                <a:solidFill>
                  <a:srgbClr val="1F2A37"/>
                </a:solidFill>
                <a:latin typeface="Calibri" pitchFamily="34" charset="0"/>
                <a:cs typeface="Amiri" pitchFamily="2" charset="-78"/>
              </a:rPr>
              <a:t>» — what you bought, prices in words, a haggle, your change and two comparisons.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prices in words with correct masculine forms.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price 11–99 with a singular noun.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haggle (ghālin! takhfīḍ?).</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correct calculation of al-bāqī.</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comparisons (aghlā / arkhaṣu min).</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اِشْتَرَيْتُ</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bought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دَفَعْتُ</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paid</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الْمَجْمُوعُ</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total</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بِنِصْفِ الثَّمَنِ</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half price</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قِرْشٌ · قُرُوشٌ</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piastre(s)</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تَفَضَّلْ</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here you are</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ذَهَبْتُ إِلَى السُّوقِ مَعَ أُمِّي يَوْمَ السَّبْتِ. اِشْتَرَيْتُ قَلَمًا بِخَمْسَةِ جُنَيْهَاتٍ، وَدَفْتَرًا بِاثْنَيْ عَشَرَ جُنَيْهًا. ثُمَّ رَأَيْتُ حَقِيبَةً جَمِيلَةً، فَسَأَلْتُ: «بِكَمْ هَذِهِ الْحَقِيبَةُ؟». قَالَ الْبَائِعُ: «بِسِتِّينَ جُنَيْهًا». قُلْتُ: «هَذَا غَالٍ جِدًّا! عِنْدَكَ تَخْفِيضٌ؟». فَقَالَ: «خَمْسُونَ لَكِ». كَانَ الْمَجْمُوعُ سَبْعَةً وَسِتِّينَ جُنَيْهًا، فَدَفَعْتُ مِئَةَ جُنَيْهٍ، وَكَانَ الْبَاقِي ثَلَاثَةً وَثَلَاثِينَ جُنَيْهًا. الْحَقِيبَةُ أَغْلَى مِنَ الدَّفْتَرِ، لَكِنَّ الْقَلَمَ أَرْخَصُ شَيْءٍ.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went to the market with my mother on Saturday. I bought a pen for five pounds and a notebook for twelve pounds. Then I saw a beautiful bag, so I asked: “How much is this bag?” The seller said: “Sixty pounds.” I said: “That’s very expensive! Do you have a discount?” He said: “Fifty for you.” The total was sixty-seven pounds, so I paid a hundred pounds, and the change was thirty-three pounds. The bag is more expensive than the notebook, but the pen is the cheapest thing.</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3–10 price (ة on)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11–99 price (-an)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haggle phrase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comparison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asked bi-kam? with hādhā / hādhihi correctly.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3–10 prices keep the </a:t>
            </a:r>
            <a:pPr algn="l" indent="0" marL="0">
              <a:buNone/>
            </a:pPr>
            <a:r>
              <a:rPr lang="ar-SA" altLang="en-US" sz="1700" dirty="0">
                <a:solidFill>
                  <a:srgbClr val="1F2A37"/>
                </a:solidFill>
                <a:latin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 (masculine currency).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11–99 prices use a singular noun with -an.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calculated the change correctly.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explain why money mirrors age.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“three riyals”.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ثَلَاثَةُ رِيَالَاتٍ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ثَلَاثُ رِيَالَاتٍ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ثَلَاثَةُ رِيَالًا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hundred pounds”.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مِئَةُ جُنَيْهَاتٍ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مِئَةُ جُنَيْهٍ</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مِئَةٌ جُنَيْهًا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“That is cheap”.</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رَخِيصٌ</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غَالٍ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تَخْفِيضٌ</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“three riyals”.</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ثَلَاثَةُ رِيَالَاتٍ</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ثَلَاثُ رِيَالَاتٍ</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ثَلَاثَةُ رِيَالًا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currency → </a:t>
            </a:r>
            <a:pPr algn="l" indent="0" marL="0">
              <a:buNone/>
            </a:pPr>
            <a:r>
              <a:rPr lang="ar-SA" altLang="en-US" sz="1350" dirty="0">
                <a:solidFill>
                  <a:srgbClr val="8A6D1E"/>
                </a:solidFill>
                <a:latin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 on.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hundred pounds”.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مِئَةُ جُنَيْهَاتٍ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مِئَةُ جُنَيْهٍ</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مِئَةٌ جُنَيْهًا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100 + genitive singular.</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“That is cheap”.</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هَذَا رَخِيصٌ</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هَذَا غَالٍ</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هَذَا تَخْفِيضٌ</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rakhīṣ = cheap.</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GM-NUM-04 · Numbers and Time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Before GM-NUM-05: get ready at home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GM-NUM-05 · Measurements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كِيلُو</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kilo</a:t>
            </a:r>
            <a:pPr indent="0" marL="0">
              <a:buNone/>
            </a:pPr>
            <a:r>
              <a:rPr lang="en-US" sz="1000" i="1" dirty="0">
                <a:solidFill>
                  <a:srgbClr val="5A6472"/>
                </a:solidFill>
                <a:latin typeface="Calibri" pitchFamily="34" charset="0"/>
                <a:cs typeface="Amiri" pitchFamily="2" charset="-78"/>
              </a:rPr>
              <a:t>  كِيلُو تُفَّاحٍ</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لِتْرٌ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litre</a:t>
            </a:r>
            <a:pPr indent="0" marL="0">
              <a:buNone/>
            </a:pPr>
            <a:r>
              <a:rPr lang="en-US" sz="1000" i="1" dirty="0">
                <a:solidFill>
                  <a:srgbClr val="5A6472"/>
                </a:solidFill>
                <a:latin typeface="Calibri" pitchFamily="34" charset="0"/>
                <a:cs typeface="Amiri" pitchFamily="2" charset="-78"/>
              </a:rPr>
              <a:t>  لِتْرُ حَلِيبٍ</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مِتْرٌ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metre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نِصْفٌ · رُبْعٌ</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half · quarter</a:t>
            </a:r>
            <a:pPr indent="0" marL="0">
              <a:buNone/>
            </a:pPr>
            <a:r>
              <a:rPr lang="en-US" sz="1000" i="1" dirty="0">
                <a:solidFill>
                  <a:srgbClr val="5A6472"/>
                </a:solidFill>
                <a:latin typeface="Calibri" pitchFamily="34" charset="0"/>
                <a:cs typeface="Amiri" pitchFamily="2" charset="-78"/>
              </a:rPr>
              <a:t>  نِصْفُ كِيلُو</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وَزْنٌ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weight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would you ask for “a kilo of apples” in a shop?</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أُرِيدُ ______ تُفَّاحٍ.</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“Mild”: eight price labels in Hindi digits and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“Spicy”: an eight-line souq dialogue with the change calculated.</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“Hot”: «</a:t>
            </a:r>
            <a:pPr algn="l" indent="0" marL="0">
              <a:buNone/>
            </a:pPr>
            <a:r>
              <a:rPr lang="ar-SA" altLang="en-US" sz="1550" dirty="0">
                <a:solidFill>
                  <a:srgbClr val="1F2A37"/>
                </a:solidFill>
                <a:latin typeface="Amiri" pitchFamily="2" charset="-78"/>
                <a:cs typeface="Amiri" pitchFamily="2" charset="-78"/>
              </a:rPr>
              <a:t>ذَهَبْتُ إِلَى السُّوقِ</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GM-NUM-04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GM-NUM-05 · Measurements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الْوَزْنُ وَالْقِيَاسُ</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bi-kam hādhā? · answer with bi- · currencies are masculine: khamsatu junayhātin · 11–99 junayhan · 100 miʾatu junayhin · hādhā ghālin! · ʿindaka takhfīḍ? · al-bāqī.</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GM-NUM-04 · Money</dc:title>
  <dc:subject>PptxGenJS Presentation</dc:subject>
  <dc:creator>Al Madina Online School · Arabic Department</dc:creator>
  <cp:lastModifiedBy>Al Madina Online School · Arabic Department</cp:lastModifiedBy>
  <cp:revision>1</cp:revision>
  <dcterms:created xsi:type="dcterms:W3CDTF">2026-10-11T06:42:21Z</dcterms:created>
  <dcterms:modified xsi:type="dcterms:W3CDTF">2026-10-11T06:42:21Z</dcterms:modified>
</cp:coreProperties>
</file>