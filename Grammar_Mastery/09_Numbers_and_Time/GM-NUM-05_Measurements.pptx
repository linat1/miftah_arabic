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Numbers and Time › GM-NUM-05 (“— Measurements · Numeracy Mastery 05”).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كِيلُو · نِصْفُ كِيلُو · رُبُعُ كِيلُو · لِتْرٌ with market foods, and the pattern أُرِيدُ … مِنَ … . Develop: conversions (500 g, 250 g), the gram hundreds (مِئَةُ · مِئَتَا · خَمْسُمِئَةِ غْرَامٍ) and containers (زُجَاجَةٌ · عُلْبَةٌ). Stretch: the six-move grocer dialogue with كَمِ الْحِسَابُ؟ and multi-step quantity–price problems.
• Website link: niṣf and rubuʿ are the SAME fraction words as in telling the time (GM-NUM-02). Ghrām is masculine, so it follows the money rules (GM-NUM-04).
• Heritage link (website): a family biryani list is a measurements lesson — kīlū mina l-aruzz, niṣfu kīlū mina l-baṣal …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from GM-NUM-02 (fractions) and GM-NUM-04 (money, bi-kam?).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Quantity + min + food: kīlū mina ṭ-ṭamāṭim. Half a kilo = 500 g; a quarter = 250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“The units”. Short form without min is also heard: kīlū ṭamāṭima, zujājatu zaytin.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“Numbers meet units”. Kilo itself does not change for number: kīlū wāḥid, kīlūghrāmāni (two kilos).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“At the grocer’s” power phrases and six-move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on the website units and script.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listening “Market order” (answer: change = 10 pounds). Objects after urīdu take -a: niṣfa kīlū, miʾatay ghrāmin.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Task A. Cover column 3; students double each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order each item with a quantity: kīlū mina ṭ-ṭamāṭim, litr mina l-ḥalīb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order each item with a quantity: kīlū mina ṭ-ṭamāṭim, litr mina l-ḥalīb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questions on the website conversions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“Supermarket offers”. Read it aloud once while students follow; then they hunt for today’s grammar.
Task: Website: read the offers, then answer — item, quantity and price.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“Supermarket offers” with an added olive-oil line; questions adapted from the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role-play card (Amman). Sequence: ● 10s think → ↔ 45s rehearse aloud with mic muted → ◎ two named students on open mic (warned in advance) → + ? the class types one follow-up in chat → ↺ one student summarises.
Routes: Core uses the Core prompt and stem; Develop the Develop prompt; Stretch the last prompt.
Website six moves. Challenge: three quantities, two unit families, total, change and a polite close. Listening (website): Mum’s shopping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Website: write your shopping list with quantities in words, then a grocer dialogue.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(GM-NUM-06 · Dates and Calendars) will spend class time USING this language, so students prepare it tonight — short, simple, easy to access (school guidance: “Simple, Short, Interesting, Relevant, Easy to access”). The five words prepare GM-NUM-06 (website Numeracy Mastery 06: dates and calendars).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NUMBERS AND TIME  ·  GM-NUM-05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GM-NUM-05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Measurements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الْوَزْنُ وَالْقِيَاسُ</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Order like a local: urīdu kīlū mina ṭ-ṭamāṭim (a kilo of tomatoes), niṣfu kīlū = 500 g, rubuʿu kīlū = 250 g, miʾatā ghrāmin = 200 g. Then ask kami l-ḥisāb? and check your change.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GM-NUM-05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Numbers and Time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Units; conversions and hundreds; ordering; the grocer.</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Convert; sort the unit;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GM-NUM-06.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“five pounds”.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خَمْسُ جُنَيْهَاتٍ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خَمْسَةُ جُنَيْهَاتٍ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خَمْسَةُ جُنَيْهًا</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نِصْفٌ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half</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quarter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third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رُبُعٌ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half</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kilo</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quarter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 </a:t>
            </a:r>
            <a:pPr algn="l" indent="0" marL="0">
              <a:buNone/>
            </a:pPr>
            <a:r>
              <a:rPr lang="ar-SA" altLang="en-US" sz="1650" b="1" dirty="0">
                <a:solidFill>
                  <a:srgbClr val="1B3B6F"/>
                </a:solidFill>
                <a:latin typeface="Amiri" pitchFamily="2" charset="-78"/>
                <a:ea typeface="Amiri" pitchFamily="2" charset="-78"/>
                <a:cs typeface="Amiri" pitchFamily="2" charset="-78"/>
              </a:rPr>
              <a:t>لِتْرٌ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metre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kilo</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litre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“How much is this?”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بِكَمْ هَذَا؟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عُمْرُكَ؟</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السَّاعَةُ؟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“five pounds”.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خَمْسُ جُنَيْهَاتٍ</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خَمْسَةُ جُنَيْهَاتٍ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خَمْسَةُ جُنَيْهًا</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GM-NUM-04: masculine currency.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نِصْفٌ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half</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quarter</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third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GM-NUM-02.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رُبُعٌ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half</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kilo</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quarter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GM-NUM-02.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 </a:t>
            </a:r>
            <a:pPr algn="l" indent="0" marL="0">
              <a:buNone/>
            </a:pPr>
            <a:r>
              <a:rPr lang="ar-SA" altLang="en-US" sz="1650" b="1" dirty="0">
                <a:solidFill>
                  <a:srgbClr val="1B3B6F"/>
                </a:solidFill>
                <a:latin typeface="Amiri" pitchFamily="2" charset="-78"/>
                <a:ea typeface="Amiri" pitchFamily="2" charset="-78"/>
                <a:cs typeface="Amiri" pitchFamily="2" charset="-78"/>
              </a:rPr>
              <a:t>لِتْرٌ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metre</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kilo</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litre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“How much is this?”</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بِكَمْ هَذَا؟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عُمْرُكَ؟</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السَّاعَةُ؟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GM-NUM-04.</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Quantity + min + food: kīlū mina ṭ-ṭamāṭim. Half a kilo = 500 g; a quarter = 250 g.</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نِصْفُ كِيلُو</a:t>
            </a:r>
            <a:pPr rtl="1" algn="ctr" indent="0" marL="0">
              <a:lnSpc>
                <a:spcPct val="120000"/>
              </a:lnSpc>
              <a:buNone/>
            </a:pPr>
            <a:r>
              <a:rPr lang="ar-SA" altLang="en-US" sz="1950" b="1" dirty="0">
                <a:solidFill>
                  <a:srgbClr val="1B3B6F"/>
                </a:solidFill>
                <a:latin typeface="Amiri" pitchFamily="2" charset="-78"/>
                <a:cs typeface="Amiri" pitchFamily="2" charset="-78"/>
              </a:rPr>
              <a:t>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مِنَ الْجُبْنِ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مِئَتَا غْرَامٍ</a:t>
            </a:r>
            <a:pPr rtl="1" algn="ctr" indent="0" marL="0">
              <a:lnSpc>
                <a:spcPct val="120000"/>
              </a:lnSpc>
              <a:buNone/>
            </a:pPr>
            <a:r>
              <a:rPr lang="ar-SA" altLang="en-US" sz="1950" b="1" dirty="0">
                <a:solidFill>
                  <a:srgbClr val="1B3B6F"/>
                </a:solidFill>
                <a:latin typeface="Amiri" pitchFamily="2" charset="-78"/>
                <a:cs typeface="Amiri" pitchFamily="2" charset="-78"/>
              </a:rPr>
              <a:t>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مِنَ الزَّيْتُونِ</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common units of weight, capacity and length.</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Convert kilos and grams.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Order quantities with the min pattern.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Complete a grocer’s transaction with the bill and change.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ask for a kilo or half a kilo of a food.</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a litre of milk.</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convert: niṣfu kīlū = 500 g.</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say miʾatā ghrāmin (200 g).</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run the six-move grocer dialogue.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solve a two-step quantity–price problem.</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الْوَزْنُ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weight</a:t>
            </a:r>
            <a:endParaRPr lang="en-US" sz="1350" dirty="0"/>
          </a:p>
          <a:p>
            <a:pPr indent="0" marL="0">
              <a:buNone/>
            </a:pPr>
            <a:r>
              <a:rPr lang="en-US" sz="1100" i="1" dirty="0">
                <a:solidFill>
                  <a:srgbClr val="5A6472"/>
                </a:solidFill>
                <a:latin typeface="Calibri" pitchFamily="34" charset="0"/>
                <a:cs typeface="Amiri" pitchFamily="2" charset="-78"/>
              </a:rPr>
              <a:t>al-waz-nu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مَا وَزْنُهُ؟</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كِيلُو · غْرَامٌ</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kilo · gram</a:t>
            </a:r>
            <a:endParaRPr lang="en-US" sz="1350" dirty="0"/>
          </a:p>
          <a:p>
            <a:pPr indent="0" marL="0">
              <a:buNone/>
            </a:pPr>
            <a:r>
              <a:rPr lang="en-US" sz="1100" i="1" dirty="0">
                <a:solidFill>
                  <a:srgbClr val="5A6472"/>
                </a:solidFill>
                <a:latin typeface="Calibri" pitchFamily="34" charset="0"/>
                <a:cs typeface="Amiri" pitchFamily="2" charset="-78"/>
              </a:rPr>
              <a:t>kī-lū · gh-rā-mun</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كِيلُو تُفَّاحٍ</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نِصْفُ كِيلُو</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half a kilo (500 g)</a:t>
            </a:r>
            <a:endParaRPr lang="en-US" sz="1350" dirty="0"/>
          </a:p>
          <a:p>
            <a:pPr indent="0" marL="0">
              <a:buNone/>
            </a:pPr>
            <a:r>
              <a:rPr lang="en-US" sz="1100" i="1" dirty="0">
                <a:solidFill>
                  <a:srgbClr val="5A6472"/>
                </a:solidFill>
                <a:latin typeface="Calibri" pitchFamily="34" charset="0"/>
                <a:cs typeface="Amiri" pitchFamily="2" charset="-78"/>
              </a:rPr>
              <a:t>niṣ-fu kī-lū</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نِصْفُ كِيلُو مِنَ الْجُبْنِ</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رُبُعُ كِيلُو</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quarter of a kilo (250 g)</a:t>
            </a:r>
            <a:endParaRPr lang="en-US" sz="1350" dirty="0"/>
          </a:p>
          <a:p>
            <a:pPr indent="0" marL="0">
              <a:buNone/>
            </a:pPr>
            <a:r>
              <a:rPr lang="en-US" sz="1100" i="1" dirty="0">
                <a:solidFill>
                  <a:srgbClr val="5A6472"/>
                </a:solidFill>
                <a:latin typeface="Calibri" pitchFamily="34" charset="0"/>
                <a:cs typeface="Amiri" pitchFamily="2" charset="-78"/>
              </a:rPr>
              <a:t>ru-bu-ʿu kī-lū</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رُبُعُ كِيلُو زَيْتُونٍ</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لِتْرٌ · مِتْرٌ</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litre · metre</a:t>
            </a:r>
            <a:endParaRPr lang="en-US" sz="1350" dirty="0"/>
          </a:p>
          <a:p>
            <a:pPr indent="0" marL="0">
              <a:buNone/>
            </a:pPr>
            <a:r>
              <a:rPr lang="en-US" sz="1100" i="1" dirty="0">
                <a:solidFill>
                  <a:srgbClr val="5A6472"/>
                </a:solidFill>
                <a:latin typeface="Calibri" pitchFamily="34" charset="0"/>
                <a:cs typeface="Amiri" pitchFamily="2" charset="-78"/>
              </a:rPr>
              <a:t>lit-run · mit-run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لِتْرٌ مِنَ الْحَلِيبِ</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الْحِسَابُ؟</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is the bill?</a:t>
            </a:r>
            <a:endParaRPr lang="en-US" sz="1350" dirty="0"/>
          </a:p>
          <a:p>
            <a:pPr indent="0" marL="0">
              <a:buNone/>
            </a:pPr>
            <a:r>
              <a:rPr lang="en-US" sz="1100" i="1" dirty="0">
                <a:solidFill>
                  <a:srgbClr val="5A6472"/>
                </a:solidFill>
                <a:latin typeface="Calibri" pitchFamily="34" charset="0"/>
                <a:cs typeface="Amiri" pitchFamily="2" charset="-78"/>
              </a:rPr>
              <a:t>ka-mi al-ḥi-sā-bu?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الْمَجْمُوعُ …</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MEASURES · PART 1 · THE UNITS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Weights, measures and containers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وَحَدَاتُ الْوَزْنِ وَالْقِيَاسِ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382512" y="1810512"/>
            <a:ext cx="5276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Typical use</a:t>
            </a:r>
            <a:endParaRPr lang="en-US" sz="1100" dirty="0"/>
          </a:p>
        </p:txBody>
      </p:sp>
      <p:sp>
        <p:nvSpPr>
          <p:cNvPr id="17" name="Text 14"/>
          <p:cNvSpPr txBox="1"/>
          <p:nvPr/>
        </p:nvSpPr>
        <p:spPr>
          <a:xfrm>
            <a:off x="345643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a:t>
            </a:r>
            <a:endParaRPr lang="en-US" sz="1100" dirty="0"/>
          </a:p>
        </p:txBody>
      </p:sp>
      <p:sp>
        <p:nvSpPr>
          <p:cNvPr id="19" name="Shape 16"/>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20" name="Text 17"/>
          <p:cNvSpPr txBox="1"/>
          <p:nvPr/>
        </p:nvSpPr>
        <p:spPr>
          <a:xfrm>
            <a:off x="6400800" y="2267712"/>
            <a:ext cx="5239512" cy="471569"/>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كِيلُو مِنَ الطَّمَاطِمِ</a:t>
            </a:r>
            <a:endParaRPr lang="ar-SA" sz="2000" dirty="0"/>
          </a:p>
        </p:txBody>
      </p:sp>
      <p:sp>
        <p:nvSpPr>
          <p:cNvPr id="21" name="Text 18"/>
          <p:cNvSpPr txBox="1"/>
          <p:nvPr/>
        </p:nvSpPr>
        <p:spPr>
          <a:xfrm>
            <a:off x="3493008" y="2267712"/>
            <a:ext cx="274320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kilo(gram)</a:t>
            </a:r>
            <a:endParaRPr lang="en-US" sz="1100" dirty="0"/>
          </a:p>
        </p:txBody>
      </p:sp>
      <p:sp>
        <p:nvSpPr>
          <p:cNvPr id="22" name="Text 19"/>
          <p:cNvSpPr txBox="1"/>
          <p:nvPr/>
        </p:nvSpPr>
        <p:spPr>
          <a:xfrm>
            <a:off x="548640" y="2267712"/>
            <a:ext cx="274320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كِيلُو</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26" name="Text 23"/>
          <p:cNvSpPr txBox="1"/>
          <p:nvPr/>
        </p:nvSpPr>
        <p:spPr>
          <a:xfrm>
            <a:off x="6400800" y="2794145"/>
            <a:ext cx="5239512" cy="471569"/>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نِصْفُ كِيلُو مِنَ الْجُبْنِ</a:t>
            </a:r>
            <a:endParaRPr lang="ar-SA" sz="2000" dirty="0"/>
          </a:p>
        </p:txBody>
      </p:sp>
      <p:sp>
        <p:nvSpPr>
          <p:cNvPr id="27" name="Text 24"/>
          <p:cNvSpPr txBox="1"/>
          <p:nvPr/>
        </p:nvSpPr>
        <p:spPr>
          <a:xfrm>
            <a:off x="3493008" y="2794145"/>
            <a:ext cx="274320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half a kilo</a:t>
            </a:r>
            <a:endParaRPr lang="en-US" sz="1100" dirty="0"/>
          </a:p>
        </p:txBody>
      </p:sp>
      <p:sp>
        <p:nvSpPr>
          <p:cNvPr id="28" name="Text 25"/>
          <p:cNvSpPr txBox="1"/>
          <p:nvPr/>
        </p:nvSpPr>
        <p:spPr>
          <a:xfrm>
            <a:off x="548640" y="2794145"/>
            <a:ext cx="274320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نِصْفُ كِيلُو</a:t>
            </a:r>
            <a:endParaRPr lang="ar-SA" sz="2200" dirty="0"/>
          </a:p>
        </p:txBody>
      </p:sp>
      <p:sp>
        <p:nvSpPr>
          <p:cNvPr id="29" name="Shape 26"/>
          <p:cNvSpPr/>
          <p:nvPr/>
        </p:nvSpPr>
        <p:spPr>
          <a:xfrm>
            <a:off x="11091672" y="2839865"/>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8398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32" name="Text 29"/>
          <p:cNvSpPr txBox="1"/>
          <p:nvPr/>
        </p:nvSpPr>
        <p:spPr>
          <a:xfrm>
            <a:off x="6400800" y="3320578"/>
            <a:ext cx="5239512" cy="471569"/>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رُبُعُ كِيلُو مِنَ الزَّيْتُونِ</a:t>
            </a:r>
            <a:endParaRPr lang="ar-SA" sz="2000" dirty="0"/>
          </a:p>
        </p:txBody>
      </p:sp>
      <p:sp>
        <p:nvSpPr>
          <p:cNvPr id="33" name="Text 30"/>
          <p:cNvSpPr txBox="1"/>
          <p:nvPr/>
        </p:nvSpPr>
        <p:spPr>
          <a:xfrm>
            <a:off x="3493008" y="3320578"/>
            <a:ext cx="274320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quarter of a kilo</a:t>
            </a:r>
            <a:endParaRPr lang="en-US" sz="1100" dirty="0"/>
          </a:p>
        </p:txBody>
      </p:sp>
      <p:sp>
        <p:nvSpPr>
          <p:cNvPr id="34" name="Text 31"/>
          <p:cNvSpPr txBox="1"/>
          <p:nvPr/>
        </p:nvSpPr>
        <p:spPr>
          <a:xfrm>
            <a:off x="548640" y="3320578"/>
            <a:ext cx="274320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رُبُعُ كِيلُو</a:t>
            </a:r>
            <a:endParaRPr lang="ar-SA" sz="2200" dirty="0"/>
          </a:p>
        </p:txBody>
      </p:sp>
      <p:sp>
        <p:nvSpPr>
          <p:cNvPr id="35" name="Shape 32"/>
          <p:cNvSpPr/>
          <p:nvPr/>
        </p:nvSpPr>
        <p:spPr>
          <a:xfrm>
            <a:off x="11091672" y="336629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36629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38" name="Text 35"/>
          <p:cNvSpPr txBox="1"/>
          <p:nvPr/>
        </p:nvSpPr>
        <p:spPr>
          <a:xfrm>
            <a:off x="6400800" y="3847011"/>
            <a:ext cx="5239512" cy="471569"/>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مِئَةُ غْرَامٍ مِنَ الْمُكَسَّرَاتِ</a:t>
            </a:r>
            <a:endParaRPr lang="ar-SA" sz="2000" dirty="0"/>
          </a:p>
        </p:txBody>
      </p:sp>
      <p:sp>
        <p:nvSpPr>
          <p:cNvPr id="39" name="Text 36"/>
          <p:cNvSpPr txBox="1"/>
          <p:nvPr/>
        </p:nvSpPr>
        <p:spPr>
          <a:xfrm>
            <a:off x="3493008" y="3847011"/>
            <a:ext cx="274320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gram</a:t>
            </a:r>
            <a:endParaRPr lang="en-US" sz="1100" dirty="0"/>
          </a:p>
        </p:txBody>
      </p:sp>
      <p:sp>
        <p:nvSpPr>
          <p:cNvPr id="40" name="Text 37"/>
          <p:cNvSpPr txBox="1"/>
          <p:nvPr/>
        </p:nvSpPr>
        <p:spPr>
          <a:xfrm>
            <a:off x="548640" y="3847011"/>
            <a:ext cx="274320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غْرَامٌ</a:t>
            </a:r>
            <a:endParaRPr lang="ar-SA" sz="2200" dirty="0"/>
          </a:p>
        </p:txBody>
      </p:sp>
      <p:sp>
        <p:nvSpPr>
          <p:cNvPr id="41" name="Shape 38"/>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42" name="Text 39"/>
          <p:cNvSpPr txBox="1"/>
          <p:nvPr/>
        </p:nvSpPr>
        <p:spPr>
          <a:xfrm>
            <a:off x="6400800" y="4373445"/>
            <a:ext cx="5239512" cy="471569"/>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لِتْرٌ مِنَ الْحَلِيبِ</a:t>
            </a:r>
            <a:endParaRPr lang="ar-SA" sz="2000" dirty="0"/>
          </a:p>
        </p:txBody>
      </p:sp>
      <p:sp>
        <p:nvSpPr>
          <p:cNvPr id="43" name="Text 40"/>
          <p:cNvSpPr txBox="1"/>
          <p:nvPr/>
        </p:nvSpPr>
        <p:spPr>
          <a:xfrm>
            <a:off x="3493008" y="4373445"/>
            <a:ext cx="274320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litre</a:t>
            </a:r>
            <a:endParaRPr lang="en-US" sz="1100" dirty="0"/>
          </a:p>
        </p:txBody>
      </p:sp>
      <p:sp>
        <p:nvSpPr>
          <p:cNvPr id="44" name="Text 41"/>
          <p:cNvSpPr txBox="1"/>
          <p:nvPr/>
        </p:nvSpPr>
        <p:spPr>
          <a:xfrm>
            <a:off x="548640" y="4373445"/>
            <a:ext cx="274320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لِتْرٌ</a:t>
            </a:r>
            <a:endParaRPr lang="ar-SA" sz="2200" dirty="0"/>
          </a:p>
        </p:txBody>
      </p:sp>
      <p:sp>
        <p:nvSpPr>
          <p:cNvPr id="45" name="Shape 42"/>
          <p:cNvSpPr/>
          <p:nvPr/>
        </p:nvSpPr>
        <p:spPr>
          <a:xfrm>
            <a:off x="11091672" y="4419165"/>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44191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7" name="Shape 44"/>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48" name="Text 45"/>
          <p:cNvSpPr txBox="1"/>
          <p:nvPr/>
        </p:nvSpPr>
        <p:spPr>
          <a:xfrm>
            <a:off x="6400800" y="4899878"/>
            <a:ext cx="5239512" cy="471569"/>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زُجَاجَةُ زَيْتٍ · عُلْبَةُ زَبَادِي</a:t>
            </a:r>
            <a:endParaRPr lang="ar-SA" sz="2000" dirty="0"/>
          </a:p>
        </p:txBody>
      </p:sp>
      <p:sp>
        <p:nvSpPr>
          <p:cNvPr id="49" name="Text 46"/>
          <p:cNvSpPr txBox="1"/>
          <p:nvPr/>
        </p:nvSpPr>
        <p:spPr>
          <a:xfrm>
            <a:off x="3493008" y="4899878"/>
            <a:ext cx="274320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bottle · tin / pot</a:t>
            </a:r>
            <a:endParaRPr lang="en-US" sz="1100" dirty="0"/>
          </a:p>
        </p:txBody>
      </p:sp>
      <p:sp>
        <p:nvSpPr>
          <p:cNvPr id="50" name="Text 47"/>
          <p:cNvSpPr txBox="1"/>
          <p:nvPr/>
        </p:nvSpPr>
        <p:spPr>
          <a:xfrm>
            <a:off x="548640" y="4899878"/>
            <a:ext cx="274320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زُجَاجَةٌ · عُلْبَةٌ</a:t>
            </a:r>
            <a:endParaRPr lang="ar-SA" sz="2200" dirty="0"/>
          </a:p>
        </p:txBody>
      </p:sp>
      <p:sp>
        <p:nvSpPr>
          <p:cNvPr id="51" name="Shape 48"/>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52" name="Text 49"/>
          <p:cNvSpPr txBox="1"/>
          <p:nvPr/>
        </p:nvSpPr>
        <p:spPr>
          <a:xfrm>
            <a:off x="6400800" y="5426311"/>
            <a:ext cx="5239512" cy="471569"/>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لَنْدَن ١٥ كِيلُومِتْرًا</a:t>
            </a:r>
            <a:endParaRPr lang="ar-SA" sz="2000" dirty="0"/>
          </a:p>
        </p:txBody>
      </p:sp>
      <p:sp>
        <p:nvSpPr>
          <p:cNvPr id="53" name="Text 50"/>
          <p:cNvSpPr txBox="1"/>
          <p:nvPr/>
        </p:nvSpPr>
        <p:spPr>
          <a:xfrm>
            <a:off x="3493008" y="5426311"/>
            <a:ext cx="274320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metre · kilometre</a:t>
            </a:r>
            <a:endParaRPr lang="en-US" sz="1100" dirty="0"/>
          </a:p>
        </p:txBody>
      </p:sp>
      <p:sp>
        <p:nvSpPr>
          <p:cNvPr id="54" name="Text 51"/>
          <p:cNvSpPr txBox="1"/>
          <p:nvPr/>
        </p:nvSpPr>
        <p:spPr>
          <a:xfrm>
            <a:off x="548640" y="5426311"/>
            <a:ext cx="274320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مِتْرٌ · كِيلُومِتْرٌ</a:t>
            </a:r>
            <a:endParaRPr lang="ar-SA" sz="220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kilo, gram, litre and metre travelled into Arabic just as into English. The stars are the fractions you already own from telling the time: niṣf and rubuʿ.</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MEASURES · PART 2 · NUMBERS MEET UNITS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Conversions and the gram hundreds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الْأَعْدَادُ مَعَ الْوَحَدَاتِ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114032" y="1810512"/>
            <a:ext cx="4544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17" name="Text 14"/>
          <p:cNvSpPr txBox="1"/>
          <p:nvPr/>
        </p:nvSpPr>
        <p:spPr>
          <a:xfrm>
            <a:off x="2176272"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Amount</a:t>
            </a:r>
            <a:endParaRPr lang="en-US" sz="1100" dirty="0"/>
          </a:p>
        </p:txBody>
      </p:sp>
      <p:sp>
        <p:nvSpPr>
          <p:cNvPr id="19" name="Shape 16"/>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20" name="Text 17"/>
          <p:cNvSpPr txBox="1"/>
          <p:nvPr/>
        </p:nvSpPr>
        <p:spPr>
          <a:xfrm>
            <a:off x="7150608" y="2267712"/>
            <a:ext cx="45079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kilo</a:t>
            </a:r>
            <a:endParaRPr lang="en-US" sz="1100" dirty="0"/>
          </a:p>
        </p:txBody>
      </p:sp>
      <p:sp>
        <p:nvSpPr>
          <p:cNvPr id="21" name="Text 18"/>
          <p:cNvSpPr txBox="1"/>
          <p:nvPr/>
        </p:nvSpPr>
        <p:spPr>
          <a:xfrm>
            <a:off x="2194560" y="2267712"/>
            <a:ext cx="47548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كِيلُو وَاحِدٌ</a:t>
            </a:r>
            <a:endParaRPr lang="ar-SA" sz="2200" dirty="0"/>
          </a:p>
        </p:txBody>
      </p:sp>
      <p:sp>
        <p:nvSpPr>
          <p:cNvPr id="22" name="Text 19"/>
          <p:cNvSpPr txBox="1"/>
          <p:nvPr/>
        </p:nvSpPr>
        <p:spPr>
          <a:xfrm>
            <a:off x="566928" y="2267712"/>
            <a:ext cx="14630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1000 g</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26" name="Text 23"/>
          <p:cNvSpPr txBox="1"/>
          <p:nvPr/>
        </p:nvSpPr>
        <p:spPr>
          <a:xfrm>
            <a:off x="7150608" y="2794145"/>
            <a:ext cx="45079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half a kilo</a:t>
            </a:r>
            <a:endParaRPr lang="en-US" sz="1100" dirty="0"/>
          </a:p>
        </p:txBody>
      </p:sp>
      <p:sp>
        <p:nvSpPr>
          <p:cNvPr id="27" name="Text 24"/>
          <p:cNvSpPr txBox="1"/>
          <p:nvPr/>
        </p:nvSpPr>
        <p:spPr>
          <a:xfrm>
            <a:off x="2194560" y="2794145"/>
            <a:ext cx="47548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نِصْفُ كِيلُو · خَمْسُمِئَةِ غْرَامٍ</a:t>
            </a:r>
            <a:endParaRPr lang="ar-SA" sz="2200" dirty="0"/>
          </a:p>
        </p:txBody>
      </p:sp>
      <p:sp>
        <p:nvSpPr>
          <p:cNvPr id="28" name="Text 25"/>
          <p:cNvSpPr txBox="1"/>
          <p:nvPr/>
        </p:nvSpPr>
        <p:spPr>
          <a:xfrm>
            <a:off x="566928" y="2794145"/>
            <a:ext cx="14630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500 g</a:t>
            </a:r>
            <a:endParaRPr lang="en-US" sz="1100" dirty="0"/>
          </a:p>
        </p:txBody>
      </p:sp>
      <p:sp>
        <p:nvSpPr>
          <p:cNvPr id="29" name="Shape 26"/>
          <p:cNvSpPr/>
          <p:nvPr/>
        </p:nvSpPr>
        <p:spPr>
          <a:xfrm>
            <a:off x="11091672" y="2839865"/>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8398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32" name="Text 29"/>
          <p:cNvSpPr txBox="1"/>
          <p:nvPr/>
        </p:nvSpPr>
        <p:spPr>
          <a:xfrm>
            <a:off x="7150608" y="3320578"/>
            <a:ext cx="45079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quarter of a kilo</a:t>
            </a:r>
            <a:endParaRPr lang="en-US" sz="1100" dirty="0"/>
          </a:p>
        </p:txBody>
      </p:sp>
      <p:sp>
        <p:nvSpPr>
          <p:cNvPr id="33" name="Text 30"/>
          <p:cNvSpPr txBox="1"/>
          <p:nvPr/>
        </p:nvSpPr>
        <p:spPr>
          <a:xfrm>
            <a:off x="2194560" y="3320578"/>
            <a:ext cx="47548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رُبُعُ كِيلُو</a:t>
            </a:r>
            <a:endParaRPr lang="ar-SA" sz="2200" dirty="0"/>
          </a:p>
        </p:txBody>
      </p:sp>
      <p:sp>
        <p:nvSpPr>
          <p:cNvPr id="34" name="Text 31"/>
          <p:cNvSpPr txBox="1"/>
          <p:nvPr/>
        </p:nvSpPr>
        <p:spPr>
          <a:xfrm>
            <a:off x="566928" y="3320578"/>
            <a:ext cx="14630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250 g</a:t>
            </a:r>
            <a:endParaRPr lang="en-US" sz="1100" dirty="0"/>
          </a:p>
        </p:txBody>
      </p:sp>
      <p:sp>
        <p:nvSpPr>
          <p:cNvPr id="35" name="Shape 32"/>
          <p:cNvSpPr/>
          <p:nvPr/>
        </p:nvSpPr>
        <p:spPr>
          <a:xfrm>
            <a:off x="11091672" y="336629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36629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38" name="Text 35"/>
          <p:cNvSpPr txBox="1"/>
          <p:nvPr/>
        </p:nvSpPr>
        <p:spPr>
          <a:xfrm>
            <a:off x="7150608" y="3847011"/>
            <a:ext cx="45079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100 + genitive singular</a:t>
            </a:r>
            <a:endParaRPr lang="en-US" sz="1100" dirty="0"/>
          </a:p>
        </p:txBody>
      </p:sp>
      <p:sp>
        <p:nvSpPr>
          <p:cNvPr id="39" name="Text 36"/>
          <p:cNvSpPr txBox="1"/>
          <p:nvPr/>
        </p:nvSpPr>
        <p:spPr>
          <a:xfrm>
            <a:off x="2194560" y="3847011"/>
            <a:ext cx="47548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مِئَةُ غْرَامٍ</a:t>
            </a:r>
            <a:endParaRPr lang="ar-SA" sz="2200" dirty="0"/>
          </a:p>
        </p:txBody>
      </p:sp>
      <p:sp>
        <p:nvSpPr>
          <p:cNvPr id="40" name="Text 37"/>
          <p:cNvSpPr txBox="1"/>
          <p:nvPr/>
        </p:nvSpPr>
        <p:spPr>
          <a:xfrm>
            <a:off x="566928" y="3847011"/>
            <a:ext cx="14630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100 g</a:t>
            </a:r>
            <a:endParaRPr lang="en-US" sz="1100" dirty="0"/>
          </a:p>
        </p:txBody>
      </p:sp>
      <p:sp>
        <p:nvSpPr>
          <p:cNvPr id="41" name="Shape 38"/>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42" name="Text 39"/>
          <p:cNvSpPr txBox="1"/>
          <p:nvPr/>
        </p:nvSpPr>
        <p:spPr>
          <a:xfrm>
            <a:off x="7150608" y="4373445"/>
            <a:ext cx="45079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 hundred (like sanatān)</a:t>
            </a:r>
            <a:endParaRPr lang="en-US" sz="1100" dirty="0"/>
          </a:p>
        </p:txBody>
      </p:sp>
      <p:sp>
        <p:nvSpPr>
          <p:cNvPr id="43" name="Text 40"/>
          <p:cNvSpPr txBox="1"/>
          <p:nvPr/>
        </p:nvSpPr>
        <p:spPr>
          <a:xfrm>
            <a:off x="2194560" y="4373445"/>
            <a:ext cx="47548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مِئَتَا غْرَامٍ</a:t>
            </a:r>
            <a:endParaRPr lang="ar-SA" sz="2200" dirty="0"/>
          </a:p>
        </p:txBody>
      </p:sp>
      <p:sp>
        <p:nvSpPr>
          <p:cNvPr id="44" name="Text 41"/>
          <p:cNvSpPr txBox="1"/>
          <p:nvPr/>
        </p:nvSpPr>
        <p:spPr>
          <a:xfrm>
            <a:off x="566928" y="4373445"/>
            <a:ext cx="14630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200 g</a:t>
            </a:r>
            <a:endParaRPr lang="en-US" sz="1100" dirty="0"/>
          </a:p>
        </p:txBody>
      </p:sp>
      <p:sp>
        <p:nvSpPr>
          <p:cNvPr id="45" name="Shape 42"/>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46" name="Text 43"/>
          <p:cNvSpPr txBox="1"/>
          <p:nvPr/>
        </p:nvSpPr>
        <p:spPr>
          <a:xfrm>
            <a:off x="7150608" y="4899878"/>
            <a:ext cx="45079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unit + miʾa as one word</a:t>
            </a:r>
            <a:endParaRPr lang="en-US" sz="1100" dirty="0"/>
          </a:p>
        </p:txBody>
      </p:sp>
      <p:sp>
        <p:nvSpPr>
          <p:cNvPr id="47" name="Text 44"/>
          <p:cNvSpPr txBox="1"/>
          <p:nvPr/>
        </p:nvSpPr>
        <p:spPr>
          <a:xfrm>
            <a:off x="2194560" y="4899878"/>
            <a:ext cx="47548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ثَلَاثُمِئَةِ غْرَامٍ</a:t>
            </a:r>
            <a:endParaRPr lang="ar-SA" sz="2200" dirty="0"/>
          </a:p>
        </p:txBody>
      </p:sp>
      <p:sp>
        <p:nvSpPr>
          <p:cNvPr id="48" name="Text 45"/>
          <p:cNvSpPr txBox="1"/>
          <p:nvPr/>
        </p:nvSpPr>
        <p:spPr>
          <a:xfrm>
            <a:off x="566928" y="4899878"/>
            <a:ext cx="14630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300 g</a:t>
            </a:r>
            <a:endParaRPr lang="en-US" sz="1100" dirty="0"/>
          </a:p>
        </p:txBody>
      </p:sp>
      <p:sp>
        <p:nvSpPr>
          <p:cNvPr id="49" name="Shape 46"/>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50" name="Text 47"/>
          <p:cNvSpPr txBox="1"/>
          <p:nvPr/>
        </p:nvSpPr>
        <p:spPr>
          <a:xfrm>
            <a:off x="7150608" y="5426311"/>
            <a:ext cx="45079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ghrām masc. → money rules</a:t>
            </a:r>
            <a:endParaRPr lang="en-US" sz="1100" dirty="0"/>
          </a:p>
        </p:txBody>
      </p:sp>
      <p:sp>
        <p:nvSpPr>
          <p:cNvPr id="51" name="Text 48"/>
          <p:cNvSpPr txBox="1"/>
          <p:nvPr/>
        </p:nvSpPr>
        <p:spPr>
          <a:xfrm>
            <a:off x="2194560" y="5426311"/>
            <a:ext cx="47548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خَمْسُونَ غْرَامًا</a:t>
            </a:r>
            <a:endParaRPr lang="ar-SA" sz="2200" dirty="0"/>
          </a:p>
        </p:txBody>
      </p:sp>
      <p:sp>
        <p:nvSpPr>
          <p:cNvPr id="52" name="Text 49"/>
          <p:cNvSpPr txBox="1"/>
          <p:nvPr/>
        </p:nvSpPr>
        <p:spPr>
          <a:xfrm>
            <a:off x="566928" y="5426311"/>
            <a:ext cx="14630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50 g</a:t>
            </a:r>
            <a:endParaRPr lang="en-US" sz="1100" dirty="0"/>
          </a:p>
        </p:txBody>
      </p:sp>
      <p:sp>
        <p:nvSpPr>
          <p:cNvPr id="53" name="Text 5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ghrām is masculine, so it mirrors junayh exactly — thalāthatu ghrāmātin, khamsūna ghrāman, miʾatu ghrāmin. If you can count money, you can weigh gold.</a:t>
            </a:r>
            <a:endParaRPr lang="en-US" sz="11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spc="150" kern="0" dirty="0">
                <a:solidFill>
                  <a:srgbClr val="1B3B6F"/>
                </a:solidFill>
                <a:latin typeface="Calibri" pitchFamily="34" charset="0"/>
                <a:cs typeface="Amiri" pitchFamily="2" charset="-78"/>
              </a:rPr>
              <a:t>MEASURES · PART 3 · AT THE GROCER’S (WEBSITE SIX-MOVE SCRIPT) · DEVELOP / STRETCH</a:t>
            </a:r>
            <a:endParaRPr lang="en-US" sz="84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Order, add, pay,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عِنْدَ الْبَقَّالِ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2724912" y="1810512"/>
            <a:ext cx="5522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Move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430768" y="226771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would you like?</a:t>
            </a:r>
            <a:endParaRPr lang="en-US" sz="1100" dirty="0"/>
          </a:p>
        </p:txBody>
      </p:sp>
      <p:sp>
        <p:nvSpPr>
          <p:cNvPr id="21" name="Text 18"/>
          <p:cNvSpPr txBox="1"/>
          <p:nvPr/>
        </p:nvSpPr>
        <p:spPr>
          <a:xfrm>
            <a:off x="2743200" y="2267712"/>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السَّلَامُ عَلَيْكُمْ. مَاذَا تُرِيدُ؟</a:t>
            </a:r>
            <a:endParaRPr lang="ar-SA" sz="2200" dirty="0"/>
          </a:p>
        </p:txBody>
      </p:sp>
      <p:sp>
        <p:nvSpPr>
          <p:cNvPr id="22" name="Text 19"/>
          <p:cNvSpPr txBox="1"/>
          <p:nvPr/>
        </p:nvSpPr>
        <p:spPr>
          <a:xfrm>
            <a:off x="566928" y="226771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① greet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430768" y="2881884"/>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kilo of tomatoes, please.</a:t>
            </a:r>
            <a:endParaRPr lang="en-US" sz="1100" dirty="0"/>
          </a:p>
        </p:txBody>
      </p:sp>
      <p:sp>
        <p:nvSpPr>
          <p:cNvPr id="27" name="Text 24"/>
          <p:cNvSpPr txBox="1"/>
          <p:nvPr/>
        </p:nvSpPr>
        <p:spPr>
          <a:xfrm>
            <a:off x="2743200" y="2881884"/>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أُرِيدُ كِيلُو مِنَ الطَّمَاطِمِ، مِنْ فَضْلِكَ.</a:t>
            </a:r>
            <a:endParaRPr lang="ar-SA" sz="2200" dirty="0"/>
          </a:p>
        </p:txBody>
      </p:sp>
      <p:sp>
        <p:nvSpPr>
          <p:cNvPr id="28" name="Text 25"/>
          <p:cNvSpPr txBox="1"/>
          <p:nvPr/>
        </p:nvSpPr>
        <p:spPr>
          <a:xfrm>
            <a:off x="566928" y="2881884"/>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② order</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430768" y="3496056"/>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Anything else? — Yes, a bottle of oil.</a:t>
            </a:r>
            <a:endParaRPr lang="en-US" sz="1100" dirty="0"/>
          </a:p>
        </p:txBody>
      </p:sp>
      <p:sp>
        <p:nvSpPr>
          <p:cNvPr id="33" name="Text 30"/>
          <p:cNvSpPr txBox="1"/>
          <p:nvPr/>
        </p:nvSpPr>
        <p:spPr>
          <a:xfrm>
            <a:off x="2743200" y="3496056"/>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شَيْءٌ آخَرُ؟ — نَعَمْ، زُجَاجَةُ زَيْتٍ.</a:t>
            </a:r>
            <a:endParaRPr lang="ar-SA" sz="2200" dirty="0"/>
          </a:p>
        </p:txBody>
      </p:sp>
      <p:sp>
        <p:nvSpPr>
          <p:cNvPr id="34" name="Text 31"/>
          <p:cNvSpPr txBox="1"/>
          <p:nvPr/>
        </p:nvSpPr>
        <p:spPr>
          <a:xfrm>
            <a:off x="566928" y="3496056"/>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③ add</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8430768" y="4110228"/>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That’s all. How much is it?</a:t>
            </a:r>
            <a:endParaRPr lang="en-US" sz="1100" dirty="0"/>
          </a:p>
        </p:txBody>
      </p:sp>
      <p:sp>
        <p:nvSpPr>
          <p:cNvPr id="37" name="Text 34"/>
          <p:cNvSpPr txBox="1"/>
          <p:nvPr/>
        </p:nvSpPr>
        <p:spPr>
          <a:xfrm>
            <a:off x="2743200" y="4110228"/>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كُلُّ شَيْءٍ. كَمِ الْحِسَابُ؟</a:t>
            </a:r>
            <a:endParaRPr lang="ar-SA" sz="2200" dirty="0"/>
          </a:p>
        </p:txBody>
      </p:sp>
      <p:sp>
        <p:nvSpPr>
          <p:cNvPr id="38" name="Text 35"/>
          <p:cNvSpPr txBox="1"/>
          <p:nvPr/>
        </p:nvSpPr>
        <p:spPr>
          <a:xfrm>
            <a:off x="566928" y="4110228"/>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④ the bill</a:t>
            </a:r>
            <a:endParaRPr lang="en-US" sz="1100" dirty="0"/>
          </a:p>
        </p:txBody>
      </p:sp>
      <p:sp>
        <p:nvSpPr>
          <p:cNvPr id="39" name="Shape 36"/>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430768" y="4724400"/>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total is 40. — Here you are.</a:t>
            </a:r>
            <a:endParaRPr lang="en-US" sz="1100" dirty="0"/>
          </a:p>
        </p:txBody>
      </p:sp>
      <p:sp>
        <p:nvSpPr>
          <p:cNvPr id="43" name="Text 40"/>
          <p:cNvSpPr txBox="1"/>
          <p:nvPr/>
        </p:nvSpPr>
        <p:spPr>
          <a:xfrm>
            <a:off x="2743200" y="4724400"/>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الْمَجْمُوعُ أَرْبَعُونَ جُنَيْهًا. — تَفَضَّلْ.</a:t>
            </a:r>
            <a:endParaRPr lang="ar-SA" sz="2200" dirty="0"/>
          </a:p>
        </p:txBody>
      </p:sp>
      <p:sp>
        <p:nvSpPr>
          <p:cNvPr id="44" name="Text 41"/>
          <p:cNvSpPr txBox="1"/>
          <p:nvPr/>
        </p:nvSpPr>
        <p:spPr>
          <a:xfrm>
            <a:off x="566928" y="4724400"/>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⑤ pay</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430768" y="533857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your change: ten pounds.</a:t>
            </a:r>
            <a:endParaRPr lang="en-US" sz="1100" dirty="0"/>
          </a:p>
        </p:txBody>
      </p:sp>
      <p:sp>
        <p:nvSpPr>
          <p:cNvPr id="47" name="Text 44"/>
          <p:cNvSpPr txBox="1"/>
          <p:nvPr/>
        </p:nvSpPr>
        <p:spPr>
          <a:xfrm>
            <a:off x="2743200" y="5338572"/>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وَهَذَا الْبَاقِي: عَشَرَةُ جُنَيْهَاتٍ.</a:t>
            </a:r>
            <a:endParaRPr lang="ar-SA" sz="2200" dirty="0"/>
          </a:p>
        </p:txBody>
      </p:sp>
      <p:sp>
        <p:nvSpPr>
          <p:cNvPr id="48" name="Text 45"/>
          <p:cNvSpPr txBox="1"/>
          <p:nvPr/>
        </p:nvSpPr>
        <p:spPr>
          <a:xfrm>
            <a:off x="566928" y="533857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⑥ change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GM-NUM-04’s five moves plus one extra — the order with quantities. To a woman: mādhā turīdīna?</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Half a kilo is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250 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50 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500 g</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“200 grams”.</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مِئَتَا غْرَامٍ</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مِئَتَانِ غْرَامَاتٍ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اثْنَانِ مِئَةُ غْرَامٍ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litre of milk”.</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لِتْرٌ مَعَ الْحَلِيبِ</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لِتْرٌ مِنَ الْحَلِيبِ</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كِيلُو مِنَ الْحَلِيبِ</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“How much is the bill?”</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الْحِسَابُ؟</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السَّاعَةُ؟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عُمْرُكَ؟</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Half a kilo is …</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250 g</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50 g</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500 g</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niṣfu kīlū.</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“200 grams”.</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مِئَتَا غْرَامٍ</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مِئَتَانِ غْرَامَاتٍ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اثْنَانِ مِئَةُ غْرَامٍ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hundred.</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litre of milk”.</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لِتْرٌ مَعَ الْحَلِيبِ</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لِتْرٌ مِنَ الْحَلِيبِ</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كِيلُو مِنَ الْحَلِيبِ</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Quantity + min + food; milk by the litre.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“How much is the bill?”</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كَمِ الْحِسَابُ؟</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السَّاعَةُ؟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عُمْرُكَ؟</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al-ḥisāb = the bill.</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Watch me read Mum’s shopping list</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Rice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كِيلُو مِنَ الْأَرُزِّ</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1 kg.</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Meat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نِصْفَ كِيلُو مِنَ اللَّحْمِ</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½ kg = 500 g.</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Olives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مِئَتَيْ غْرَامٍ</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200 g (dual, -ay).</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Change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عَشَرَةُ جُنَيْهَاتٍ</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70 − 60 = 10.</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QUANTITY</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MONEY</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يَا أَحْمَدُ، اذْهَبْ إِلَى الْبَقَّالِ مِنْ فَضْلِكَ. أُرِيدُ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كِيلُو</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مِنَ الْأَرُزِّ، وَ</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نِصْفَ كِيلُو</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مِنَ اللَّحْمِ، وَ</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مِئَتَيْ غْرَامٍ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مِنَ الزَّيْتُونِ، وَ</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لِتْرَيْنِ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مِنَ الْحَلِيبِ. الْمَجْمُوعُ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سِتُّونَ جُنَيْهًا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 خُذْ مَعَكَ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سَبْعِينَ جُنَيْهًا</a:t>
            </a:r>
            <a:pPr rtl="1" algn="r" indent="0" marL="0">
              <a:lnSpc>
                <a:spcPct val="120000"/>
              </a:lnSpc>
              <a:buNone/>
            </a:pPr>
            <a:r>
              <a:rPr lang="ar-SA" altLang="en-US" sz="1400" b="1" dirty="0">
                <a:solidFill>
                  <a:srgbClr val="1B3B6F"/>
                </a:solidFill>
                <a:latin typeface="Amiri" pitchFamily="2" charset="-78"/>
                <a:cs typeface="Amiri" pitchFamily="2" charset="-78"/>
              </a:rPr>
              <a:t>.</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Aḥmad, please go to the grocer’s. I want a kilo of rice, half a kilo of meat, two hundred grams of olives and two litres of milk. The total is sixty pounds — take seventy pounds with you.</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الْحَقِيبَةُ ٢٣ كِيلُوغْرَامًا.</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suitcase is 23 kilograms.</a:t>
            </a:r>
            <a:endParaRPr lang="en-US" sz="1250" dirty="0"/>
          </a:p>
          <a:p>
            <a:pPr indent="0" marL="0">
              <a:buNone/>
            </a:pPr>
            <a:r>
              <a:rPr lang="en-US" sz="1050" i="1" dirty="0">
                <a:solidFill>
                  <a:srgbClr val="8A6D1E"/>
                </a:solidFill>
                <a:latin typeface="Calibri" pitchFamily="34" charset="0"/>
                <a:cs typeface="Amiri" pitchFamily="2" charset="-78"/>
              </a:rPr>
              <a:t>Airport (website).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لَنْدَن ١٥ كِيلُومِتْرًا.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London 15 km.</a:t>
            </a:r>
            <a:endParaRPr lang="en-US" sz="1250" dirty="0"/>
          </a:p>
          <a:p>
            <a:pPr indent="0" marL="0">
              <a:buNone/>
            </a:pPr>
            <a:r>
              <a:rPr lang="en-US" sz="1050" i="1" dirty="0">
                <a:solidFill>
                  <a:srgbClr val="8A6D1E"/>
                </a:solidFill>
                <a:latin typeface="Calibri" pitchFamily="34" charset="0"/>
                <a:cs typeface="Amiri" pitchFamily="2" charset="-78"/>
              </a:rPr>
              <a:t>Road sign (website).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أُرِيدُ رُبُعَ كِيلُو مِنَ الزَّيْتُونِ.</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want a quarter of a kilo of olives.</a:t>
            </a:r>
            <a:endParaRPr lang="en-US" sz="1250" dirty="0"/>
          </a:p>
          <a:p>
            <a:pPr indent="0" marL="0">
              <a:buNone/>
            </a:pPr>
            <a:r>
              <a:rPr lang="en-US" sz="1050" i="1" dirty="0">
                <a:solidFill>
                  <a:srgbClr val="8A6D1E"/>
                </a:solidFill>
                <a:latin typeface="Calibri" pitchFamily="34" charset="0"/>
                <a:cs typeface="Amiri" pitchFamily="2" charset="-78"/>
              </a:rPr>
              <a:t>Order.</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مَا وَزْنُ هَذَا الصُّنْدُوقِ؟</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What does this box weigh?</a:t>
            </a:r>
            <a:endParaRPr lang="en-US" sz="1250" dirty="0"/>
          </a:p>
          <a:p>
            <a:pPr indent="0" marL="0">
              <a:buNone/>
            </a:pPr>
            <a:r>
              <a:rPr lang="en-US" sz="1050" i="1" dirty="0">
                <a:solidFill>
                  <a:srgbClr val="8A6D1E"/>
                </a:solidFill>
                <a:latin typeface="Calibri" pitchFamily="34" charset="0"/>
                <a:cs typeface="Amiri" pitchFamily="2" charset="-78"/>
              </a:rPr>
              <a:t>wazn.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THE FRUIT-SALAD RECIPE (WEBSITE TASK A) · CONVERT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recipe — then double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سَلَطَةُ الْفَوَاكِهِ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 12 people</a:t>
            </a:r>
            <a:endParaRPr lang="en-US" sz="1100" dirty="0"/>
          </a:p>
        </p:txBody>
      </p:sp>
      <p:sp>
        <p:nvSpPr>
          <p:cNvPr id="17" name="Text 14"/>
          <p:cNvSpPr txBox="1"/>
          <p:nvPr/>
        </p:nvSpPr>
        <p:spPr>
          <a:xfrm>
            <a:off x="5102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grams / units</a:t>
            </a:r>
            <a:endParaRPr lang="en-US" sz="1100" dirty="0"/>
          </a:p>
        </p:txBody>
      </p:sp>
      <p:sp>
        <p:nvSpPr>
          <p:cNvPr id="18" name="Text 15"/>
          <p:cNvSpPr txBox="1"/>
          <p:nvPr/>
        </p:nvSpPr>
        <p:spPr>
          <a:xfrm>
            <a:off x="53035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Ingredient (for 6)</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63840" y="2267712"/>
            <a:ext cx="37764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كِيلُو مِنَ التُّفَّاحِ</a:t>
            </a:r>
            <a:endParaRPr lang="ar-SA" sz="2200" dirty="0"/>
          </a:p>
        </p:txBody>
      </p:sp>
      <p:sp>
        <p:nvSpPr>
          <p:cNvPr id="21" name="Text 18"/>
          <p:cNvSpPr txBox="1"/>
          <p:nvPr/>
        </p:nvSpPr>
        <p:spPr>
          <a:xfrm>
            <a:off x="5138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500 g</a:t>
            </a:r>
            <a:endParaRPr lang="en-US" sz="1100" dirty="0"/>
          </a:p>
        </p:txBody>
      </p:sp>
      <p:sp>
        <p:nvSpPr>
          <p:cNvPr id="22" name="Text 19"/>
          <p:cNvSpPr txBox="1"/>
          <p:nvPr/>
        </p:nvSpPr>
        <p:spPr>
          <a:xfrm>
            <a:off x="548640" y="2267712"/>
            <a:ext cx="4389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نِصْفُ كِيلُو مِنَ التُّفَّاحِ</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863840" y="3004718"/>
            <a:ext cx="37764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نِصْفُ كِيلُو مِنَ الْعِنَبِ</a:t>
            </a:r>
            <a:endParaRPr lang="ar-SA" sz="2200" dirty="0"/>
          </a:p>
        </p:txBody>
      </p:sp>
      <p:sp>
        <p:nvSpPr>
          <p:cNvPr id="27" name="Text 24"/>
          <p:cNvSpPr txBox="1"/>
          <p:nvPr/>
        </p:nvSpPr>
        <p:spPr>
          <a:xfrm>
            <a:off x="5138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250 g</a:t>
            </a:r>
            <a:endParaRPr lang="en-US" sz="1100" dirty="0"/>
          </a:p>
        </p:txBody>
      </p:sp>
      <p:sp>
        <p:nvSpPr>
          <p:cNvPr id="28" name="Text 25"/>
          <p:cNvSpPr txBox="1"/>
          <p:nvPr/>
        </p:nvSpPr>
        <p:spPr>
          <a:xfrm>
            <a:off x="548640" y="3004718"/>
            <a:ext cx="4389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رُبُعُ كِيلُو مِنَ الْعِنَبِ</a:t>
            </a:r>
            <a:endParaRPr lang="ar-SA" sz="22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863840" y="3741725"/>
            <a:ext cx="37764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سِتُّ مَوْزَاتٍ</a:t>
            </a:r>
            <a:endParaRPr lang="ar-SA" sz="2200" dirty="0"/>
          </a:p>
        </p:txBody>
      </p:sp>
      <p:sp>
        <p:nvSpPr>
          <p:cNvPr id="33" name="Text 30"/>
          <p:cNvSpPr txBox="1"/>
          <p:nvPr/>
        </p:nvSpPr>
        <p:spPr>
          <a:xfrm>
            <a:off x="5138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bananas</a:t>
            </a:r>
            <a:endParaRPr lang="en-US" sz="1100" dirty="0"/>
          </a:p>
        </p:txBody>
      </p:sp>
      <p:sp>
        <p:nvSpPr>
          <p:cNvPr id="34" name="Text 31"/>
          <p:cNvSpPr txBox="1"/>
          <p:nvPr/>
        </p:nvSpPr>
        <p:spPr>
          <a:xfrm>
            <a:off x="548640" y="3741725"/>
            <a:ext cx="4389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ثَلَاثُ مَوْزَاتٍ</a:t>
            </a:r>
            <a:endParaRPr lang="ar-SA" sz="22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7863840" y="4478731"/>
            <a:ext cx="37764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لِتْرَانِ</a:t>
            </a:r>
            <a:endParaRPr lang="ar-SA" sz="2200" dirty="0"/>
          </a:p>
        </p:txBody>
      </p:sp>
      <p:sp>
        <p:nvSpPr>
          <p:cNvPr id="37" name="Text 34"/>
          <p:cNvSpPr txBox="1"/>
          <p:nvPr/>
        </p:nvSpPr>
        <p:spPr>
          <a:xfrm>
            <a:off x="5138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litre</a:t>
            </a:r>
            <a:endParaRPr lang="en-US" sz="1100" dirty="0"/>
          </a:p>
        </p:txBody>
      </p:sp>
      <p:sp>
        <p:nvSpPr>
          <p:cNvPr id="38" name="Text 35"/>
          <p:cNvSpPr txBox="1"/>
          <p:nvPr/>
        </p:nvSpPr>
        <p:spPr>
          <a:xfrm>
            <a:off x="548640" y="4478731"/>
            <a:ext cx="4389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لِتْرٌ مِنْ عَصِيرِ الْبُرْتُقَالِ</a:t>
            </a:r>
            <a:endParaRPr lang="ar-SA" sz="22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7863840" y="5215738"/>
            <a:ext cx="37764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مِئَتَا غْرَامٍ</a:t>
            </a:r>
            <a:endParaRPr lang="ar-SA" sz="2200" dirty="0"/>
          </a:p>
        </p:txBody>
      </p:sp>
      <p:sp>
        <p:nvSpPr>
          <p:cNvPr id="41" name="Text 38"/>
          <p:cNvSpPr txBox="1"/>
          <p:nvPr/>
        </p:nvSpPr>
        <p:spPr>
          <a:xfrm>
            <a:off x="5138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100 g</a:t>
            </a:r>
            <a:endParaRPr lang="en-US" sz="1100" dirty="0"/>
          </a:p>
        </p:txBody>
      </p:sp>
      <p:sp>
        <p:nvSpPr>
          <p:cNvPr id="42" name="Text 39"/>
          <p:cNvSpPr txBox="1"/>
          <p:nvPr/>
        </p:nvSpPr>
        <p:spPr>
          <a:xfrm>
            <a:off x="548640" y="5215738"/>
            <a:ext cx="4389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مِئَةُ غْرَامٍ مِنَ السُّكَّرِ</a:t>
            </a:r>
            <a:endParaRPr lang="ar-SA" sz="22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why thalāthu mawzātin? Mawza (one banana) is feminine → the number drops </a:t>
            </a:r>
            <a:pPr algn="l" indent="0" marL="0">
              <a:buNone/>
            </a:pPr>
            <a:r>
              <a:rPr lang="ar-SA" altLang="en-US" sz="1450" b="1" dirty="0">
                <a:solidFill>
                  <a:srgbClr val="1B3B6F"/>
                </a:solidFill>
                <a:latin typeface="Amiri" pitchFamily="2" charset="-78"/>
                <a:ea typeface="Amiri" pitchFamily="2" charset="-78"/>
                <a:cs typeface="Amiri" pitchFamily="2" charset="-78"/>
              </a:rPr>
              <a:t>ة</a:t>
            </a:r>
            <a:pPr algn="l" indent="0" marL="0">
              <a:buNone/>
            </a:pPr>
            <a:r>
              <a:rPr lang="en-US" sz="1100" b="1" dirty="0">
                <a:solidFill>
                  <a:srgbClr val="1B3B6F"/>
                </a:solidFill>
                <a:latin typeface="Calibri" pitchFamily="34" charset="0"/>
                <a:cs typeface="Amiri" pitchFamily="2" charset="-78"/>
              </a:rPr>
              <a:t> (GM-NUM-01). Doubling the sugar needs the dual hundred: miʾatā ghrāmin.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THE WEBSITE UNIT FAMILIES · SENSIBLE UNIT?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By the kilo, or by the litre?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بِالْكِيلُو أَمْ بِاللِّتْرِ؟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طَمَاطِمُ</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أَرُزٌّ</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جُبْنٌ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زَيْتُونٌ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حَلِيبٌ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عَصِيرٌ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مَاءٌ</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زَيْتٌ</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by weight (kilo / gram)</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by volume (litre)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by weight (kilo / gram)</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طَمَاطِمُ</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أَرُزٌّ</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جُبْنٌ</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زَيْتُونٌ</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by volume (litre)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حَلِيبٌ</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عَصِيرٌ</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مَاءٌ</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زَيْتٌ</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لِتْرٌ مِنَ الطَّمَاطِمِ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Weight or volume?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مِئَتَانِ غْرَامَاتٍ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Nūn or no nūn?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خَمْسُونَ غْرَامَاتٍ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rung for 50?</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لِتْرٌ مِنَ الطَّمَاطِمِ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كِيلُو مِنَ الطَّمَاطِمِ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Tomatoes are sold by weight, not volume.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مِئَتَانِ غْرَامَاتٍ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مِئَتَا غْرَامٍ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Dual hundred + genitive singular (the nūn drops).</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خَمْسُونَ غْرَامَاتٍ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خَمْسُونَ غْرَامًا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11–99: singular with -an (money rules).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2F6FB0"/>
                </a:solidFill>
                <a:latin typeface="Calibri" pitchFamily="34" charset="0"/>
                <a:cs typeface="Amiri" pitchFamily="2" charset="-78"/>
              </a:rPr>
              <a:t>WE DO · GUIDED PRACTICE · TEACHER-WRITTEN QUESTIONS ON THE WEBSITE CONVERSIONS</a:t>
            </a:r>
            <a:endParaRPr lang="en-US" sz="888"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quarter of a kilo is …</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25 g</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400 g</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250 g</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“half a kilo of cheese”.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نِصْفُ لِتْرٍ مِنَ الْجُبْنِ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نِصْفُ كِيلُو مِنَ الْجُبْنِ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رُبُعُ كِيلُو مِنَ الْجُبْنِ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“500 grams”.</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خَمْسُ مِئَاتٍ غْرَامًا</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خَمْسُمِئَةِ غْرَامٍ</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خَمْسُونَ غْرَامًا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Rice is 20 a kilo. Two kilos cost …</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عِشْرُونَ جُنَيْهًا</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أَرْبَعَةُ جُنَيْهَاتٍ</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أَرْبَعُونَ جُنَيْهًا</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quarter of a kilo is …</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25 g</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400 g</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250 g</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1000 ÷ 4.</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“half a kilo of cheese”.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نِصْفُ لِتْرٍ مِنَ الْجُبْنِ</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نِصْفُ كِيلُو مِنَ الْجُبْنِ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رُبُعُ كِيلُو مِنَ الْجُبْنِ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niṣf = half.</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“500 grams”.</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خَمْسُ مِئَاتٍ غْرَامًا</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خَمْسُمِئَةِ غْرَامٍ</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خَمْسُونَ غْرَامًا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word + genitive singular.</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Rice is 20 a kilo. Two kilos cost …</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عِشْرُونَ جُنَيْهًا</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أَرْبَعَةُ جُنَيْهَاتٍ</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أَرْبَعُونَ جُنَيْهًا</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2 × 20 = 40.</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WEBSITE READING “SUPERMARKET OFFERS”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Today’s supermarket offers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عُرُوضُ الْيَوْمِ: كِيلُوغْرَامَانِ مِنَ التُّفَّاحِ بِاثْنَيْ عَشَرَ جُنَيْهًا. لِتْرٌ مِنَ الْحَلِيبِ بِثَلَاثَةِ جُنَيْهَاتٍ. نِصْفُ كِيلُو مِنَ الْجُبْنِ بِثَمَانِيَةَ عَشَرَ جُنَيْهًا. زُجَاجَةُ زَيْتِ الزَّيْتُونِ بِخَمْسَةٍ وَعِشْرِينَ جُنَيْهًا. الْعُرُوضُ صَالِحَةٌ حَتَّى نِهَايَةِ الْأُسْبُوعِ.</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عُرُوضُ</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offers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كِيلُوغْرَامَانِ</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two kilograms</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زُجَاجَةُ</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bottle</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صَالِحَةٌ</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valid</a:t>
            </a:r>
            <a:endParaRPr lang="en-US" sz="10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item is sold as two kilograms?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cheese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apples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milk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milk?</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13 pounds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30 pounds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 pounds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cheese do you get for 18 pounds?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500 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250 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 kg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item is most expensive?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cheese (18)</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olive oil (25)</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apples (12)</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item is sold as two kilograms?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cheese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apples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milk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Kīlūghrāmāni mina t-tuffāḥ.</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milk?</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13 pounds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30 pounds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 pounds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Bi-thalāthati junayhātin.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cheese do you get for 18 pounds?</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500 g</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250 g</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 kg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Niṣfu kīlū.</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item is most expensive?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cheese (18)</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olive oil (25)</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apples (12)</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Bi-khamsatin wa-ʿishrīna.</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Speaking: your turn at the grocer’s</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اُطْلُبْ كِيلُو مِنَ الطَّمَاطِمِ وَنِصْفَ كِيلُو مِنَ الْجُبْنِ.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أَضِفْ زُجَاجَةَ زَيْتٍ، وَاسْأَلْ عَنِ الْحِسَابِ.</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اِدْفَعْ، وَاحْسُبِ الْبَاقِي، وَاشْكُرِ الْبَقَّالَ.</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أُرِيدُ ___ مِنَ ___ ، مِنْ فَضْلِكَ.</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نَعَمْ، ___ أَيْضًا. هَذَا كُلُّ شَيْءٍ. كَمِ الْحِسَابُ؟</a:t>
            </a:r>
            <a:endParaRPr lang="ar-SA" sz="14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تَفَضَّلْ ___ . — وَهَذَا الْبَاقِي: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أَهْلًا! مَاذَا تُرِيدِينَ؟</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Hello! What would you like? (to a woman)</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أُرِيدُ كِيلُو مِنَ الطَّمَاطِمِ وَنِصْفَ كِيلُو مِنَ الْجُبْنِ، وَزُجَاجَةَ زَيْتٍ. كَمِ الْحِسَابُ؟</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I’d like a kilo of tomatoes, half a kilo of cheese and a bottle of oil. How much is the bill?</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items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shopping list with quantities.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kīlū · niṣfu kīlū · litr · min.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items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“Spicy”: weekly list; convert two fractions into grams.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niṣfu kīlū = 500 g.</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list + dialogue</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“Hot”: a family dish list and a six-move dialogue.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kami l-ḥisāb? · al-bāqī.</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غْرَامٍ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grams of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شَيْءٌ آخَرُ؟ — نَعَمْ،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Anything else? — Yes,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الْمَجْمُوعُ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total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الْبَاقِي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change is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كِيلُو مِنَ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want a kilo of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نِصْفَ كِيلُو مِنَ ______ ، مِنْ فَضْلِكَ.</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Half a kilo of …, please</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لِتْرٌ مِنَ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litre of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زُجَاجَةُ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bottle of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كِيلُو  ·  نِصْفُ كِيلُو  ·  رُبُعُ كِيلُو  ·  مِئَةُ غْرَامٍ  ·  مِئَتَا غْرَامٍ  ·  لِتْرٌ  ·  زُجَاجَةٌ  ·  عُلْبَةٌ  ·  طَمَاطِمُ  ·  أَرُزٌّ  ·  جُبْنٌ  ·  حَلِيبٌ  ·  كَمِ الْحِسَابُ؟</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“Hot” task: the shopping list for your family’s signature dish, then a six-move grocer dialogue buying three items.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six items with quantities in words.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Kīlū, a fraction, a gram amount and a litre.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pattern quantity + min + food.</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kami l-ḥisāb? and a total.</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correctly calculated al-bāqī.</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الْبَقَّالُ</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grocer</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فَضْلِكَ</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please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شَيْءٌ آخَرُ؟</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anything else?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كُلُّ شَيْءٍ</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that’s everything</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الْمَجْمُوعُ</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total</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تَفَضَّلْ</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here you are</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قَائِمَةُ الْبِرْيَانِي لِعَائِلَتِي: كِيلُو مِنَ الْأَرُزِّ، وَكِيلُو مِنَ الدَّجَاجِ، وَنِصْفُ كِيلُو مِنَ الْبَصَلِ، وَرُبُعُ كِيلُو مِنَ الطَّمَاطِمِ، وَعُلْبَةُ زَبَادِي، وَمِئَةُ غْرَامٍ مِنَ الْمُكَسَّرَاتِ. ذَهَبْتُ إِلَى الْبَقَّالِ وَقُلْتُ: «السَّلَامُ عَلَيْكُمْ، أُرِيدُ كِيلُو مِنَ الْأَرُزِّ وَنِصْفَ كِيلُو مِنَ الْبَصَلِ، مِنْ فَضْلِكَ». سَأَلَنِي: «شَيْءٌ آخَرُ؟». قُلْتُ: «نَعَمْ، عُلْبَةُ زَبَادِي. هَذَا كُلُّ شَيْءٍ. كَمِ الْحِسَابُ؟». كَانَ الْمَجْمُوعُ خَمْسَةً وَثَلَاثِينَ جُنَيْهًا، فَدَفَعْتُ خَمْسِينَ، وَكَانَ الْبَاقِي خَمْسَةَ عَشَرَ جُنَيْهًا.</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family’s biryani list: a kilo of rice, a kilo of chicken, half a kilo of onions, a quarter of a kilo of tomatoes, a pot of yoghurt and a hundred grams of nuts. I went to the grocer and said: “Peace be upon you, I would like a kilo of rice and half a kilo of onions, please.” He asked me: “Anything else?” I said: “Yes, a pot of yoghurt. That’s everything. How much is the bill?” The total was thirty-five pounds, so I paid fifty, and the change was fifteen pounds.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quantity + min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fraction of a kilo</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gram amount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bill and change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ordered with quantity + min + food.</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chose a sensible unit for each food.</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converted fractions into grams.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gram amounts follow the money rules.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asked kami l-ḥisāb? and checked the change.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quarter of a kilo of olives”.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رُبُعُ كِيلُو مِنَ الزَّيْتُونِ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نِصْفُ كِيلُو مِنَ الزَّيْتُونِ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رُبُعُ لِتْرٍ مِنَ الزَّيْتُونِ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100 g is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عَشَرَةُ غْرَامَاتٍ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مِئَةُ غْرَامٍ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أَلْفُ غْرَامٍ</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“That’s everything”.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كُلُّ شَيْءٍ</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شَيْءٌ آخَرُ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الْحِسَابُ</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quarter of a kilo of olives”.</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رُبُعُ كِيلُو مِنَ الزَّيْتُونِ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نِصْفُ كِيلُو مِنَ الزَّيْتُونِ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رُبُعُ لِتْرٍ مِنَ الزَّيْتُونِ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250 g, by weight.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100 g is …</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عَشَرَةُ غْرَامَاتٍ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مِئَةُ غْرَامٍ</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أَلْفُ غْرَامٍ</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miʾa + genitive.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“That’s everything”.</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هَذَا كُلُّ شَيْءٍ</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شَيْءٌ آخَرُ</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كَمِ الْحِسَابُ</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Closing the order.</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GM-NUM-05 · Numbers and Time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Before GM-NUM-06: get ready at home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GM-NUM-06 · Dates and Calendars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التَّارِيخُ</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date</a:t>
            </a:r>
            <a:pPr indent="0" marL="0">
              <a:buNone/>
            </a:pPr>
            <a:r>
              <a:rPr lang="ar-SA" sz="1000" i="1" dirty="0">
                <a:solidFill>
                  <a:srgbClr val="5A6472"/>
                </a:solidFill>
                <a:latin typeface="Amiri" pitchFamily="2" charset="-78"/>
                <a:ea typeface="Amiri" pitchFamily="2" charset="-78"/>
                <a:cs typeface="Amiri" pitchFamily="2" charset="-78"/>
              </a:rPr>
              <a:t>  مَا تَارِيخُ الْيَوْمِ؟</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يَنَايِرُ · فِبْرَايِرُ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January · February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رَمَضَانُ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Ramaḍān (Hijri month)</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السَّبْتُ · الْأَحَدُ</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Saturday · Sunday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عِيدُ مِيلَادِي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my birthday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do you think you say “the fifth of May”? (Hint: ordinal + min + month)</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الْخَامِسُ مِنْ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“Mild”: label eight market foods with quantities.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“Spicy”: weekly shopping list with two conversions.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“Hot”: family-dish list and a six-move grocer dialogue.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GM-NUM-05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GM-NUM-06 · Dates and Calendars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التَّارِيخُ وَالتَّقْوِيمُ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quantity + min + food (kīlū mina ṭ-ṭamāṭim) · niṣfu kīlū = 500 g · rubuʿu kīlū = 250 g · miʾatā ghrāmin = 200 g · ghrām follows the money rules · kami l-ḥisāb? · al-bāqī.</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GM-NUM-05 · Measurements</dc:title>
  <dc:subject>PptxGenJS Presentation</dc:subject>
  <dc:creator>Al Madina Online School · Arabic Department</dc:creator>
  <cp:lastModifiedBy>Al Madina Online School · Arabic Department</cp:lastModifiedBy>
  <cp:revision>1</cp:revision>
  <dcterms:created xsi:type="dcterms:W3CDTF">2026-10-11T06:42:22Z</dcterms:created>
  <dcterms:modified xsi:type="dcterms:W3CDTF">2026-10-11T06:42:22Z</dcterms:modified>
</cp:coreProperties>
</file>