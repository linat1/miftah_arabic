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GM-NUM-01 (“— Numbers · Numeracy Mastery 01”).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digits ٠–٩ ↔ 0–9 and the words 0–10; numbers 11–100 by pattern; ordinals first–fifth. Develop: compound numbers 21–99 (unit FIRST: خَمْسَةٌ وَعِشْرُونَ) and agreement for 1–2 (كِتَابٌ وَاحِدٌ) and 3–10 (ثَلَاثَةُ كُتُبٍ / ثَلَاثُ سَيَّارَاتٍ). Stretch: 11–99 + singular accusative noun (عِشْرُونَ طَالِبًا) and repairing complex errors.
• Website traps: ٥ looks like 0 but is 5; ٦ looks like 7 but is 6. Numbers are written left to right, even inside Arabic text (٢٠٢٦ = 2026).
• Golden rule for 3–10 (website): ask “what is the SINGULAR? Is it masculine or feminine?” — then flip.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digits (website traps), GM-N-05 broken plurals and noun gender.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Say the unit FIRST, then wa + the ten: 25 = five and twenty. For 3–10, the number takes the OPPOSITE gender of the singular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“Two digit systems” and “Counting 0–10”. Faith hooks (website): khamsa — five daily prayers; sabʿa — seven verses of al-Fātiḥa.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“Building 11–100 and beyond”. English link: “four-and-twenty blackbirds”.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“The Golden Rules of agreement”. Magnet image: opposites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“Information hunt” (rakam → raqmi after a genitive: al-bayti raqmi 27 — website writes raqma; both are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“Ordinal numbers”. Cover a column; students supply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card students say the singular (kitāb, yawm, qalam, ṭālib · sayyāra, daqīqa, bint,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card students say the singular (kitāb, yawm, qalam, ṭālib · sayyāra, daqīqa, bint,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(price list). Read it aloud once while students follow; then they hunt for today’s grammar.
Task: Website: read the Hindi-Arabic prices, then answer. Write one price in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task (price list) extended into a short text; questions adapted from the website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at least six numbers — age, a house / bus / phone number, people or objects, a price, an ordinal, a number above 100. Listening (website): dictate a phone number digit by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using both digit systems and at least two cardinal numbers, one ordinal, one agreement pattern, one compound number and one real-life detail.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(GM-NUM-02 · Telling the Time) will spend class time USING this language, so students prepare it tonight — short, simple, easy to access (school guidance: “Simple, Short, Interesting, Relevant, Easy to access”). The five words prepare GM-NUM-02 (website Numeracy Mastery 02: time).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NUMBERS AND TIME  ·  GM-NUM-01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GM-NUM-01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Numbers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الْأَرْقَامُ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both digit systems (</a:t>
            </a:r>
            <a:pPr algn="l" indent="0" marL="0">
              <a:buNone/>
            </a:pPr>
            <a:r>
              <a:rPr lang="ar-SA" altLang="en-US" sz="1800" dirty="0">
                <a:solidFill>
                  <a:srgbClr val="C6D2E6"/>
                </a:solidFill>
                <a:latin typeface="Amiri" pitchFamily="34" charset="0"/>
                <a:ea typeface="Amiri" pitchFamily="34" charset="-122"/>
                <a:cs typeface="Amiri" pitchFamily="34" charset="-120"/>
              </a:rPr>
              <a:t>٥</a:t>
            </a:r>
            <a:pPr algn="l" indent="0" marL="0">
              <a:buNone/>
            </a:pPr>
            <a:r>
              <a:rPr lang="en-US" sz="1400" dirty="0">
                <a:solidFill>
                  <a:srgbClr val="C6D2E6"/>
                </a:solidFill>
                <a:latin typeface="Calibri" pitchFamily="34" charset="0"/>
                <a:ea typeface="Calibri" pitchFamily="34" charset="-122"/>
                <a:cs typeface="Calibri" pitchFamily="34" charset="-120"/>
              </a:rPr>
              <a:t> = 5, </a:t>
            </a:r>
            <a:pPr algn="l" indent="0" marL="0">
              <a:buNone/>
            </a:pPr>
            <a:r>
              <a:rPr lang="ar-SA" altLang="en-US" sz="1800" dirty="0">
                <a:solidFill>
                  <a:srgbClr val="C6D2E6"/>
                </a:solidFill>
                <a:latin typeface="Amiri" pitchFamily="34" charset="0"/>
                <a:ea typeface="Amiri" pitchFamily="34" charset="-122"/>
                <a:cs typeface="Amiri" pitchFamily="34" charset="-120"/>
              </a:rPr>
              <a:t>٦</a:t>
            </a:r>
            <a:pPr algn="l" indent="0" marL="0">
              <a:buNone/>
            </a:pPr>
            <a:r>
              <a:rPr lang="en-US" sz="1400" dirty="0">
                <a:solidFill>
                  <a:srgbClr val="C6D2E6"/>
                </a:solidFill>
                <a:latin typeface="Calibri" pitchFamily="34" charset="0"/>
                <a:ea typeface="Calibri" pitchFamily="34" charset="-122"/>
                <a:cs typeface="Calibri" pitchFamily="34" charset="-120"/>
              </a:rPr>
              <a:t> = 6), count to 100, build compounds “five and twenty” (khamsatun wa-ʿishrūna = 25), use ordinals (al-awwal, ath-thānī) — and flip the gender for 3–10: thalāthatu awlādin but thalāthu banātin.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GM-NUM-01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Digits; building 11–100; agreement rules; ordinals.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Ordinals and time; sort </a:t>
            </a:r>
            <a:pPr algn="ctr" indent="0" marL="0">
              <a:buNone/>
            </a:pPr>
            <a:r>
              <a:rPr lang="ar-SA" altLang="en-US" sz="1550" dirty="0">
                <a:solidFill>
                  <a:srgbClr val="1F2A37"/>
                </a:solidFill>
                <a:latin typeface="Amiri" pitchFamily="34" charset="0"/>
                <a:ea typeface="Amiri" pitchFamily="34" charset="-122"/>
                <a:cs typeface="Amiri" pitchFamily="34" charset="-120"/>
              </a:rPr>
              <a:t>ة</a:t>
            </a:r>
            <a:pPr algn="ctr" indent="0" marL="0">
              <a:buNone/>
            </a:pPr>
            <a:r>
              <a:rPr lang="en-US" sz="1200" dirty="0">
                <a:solidFill>
                  <a:srgbClr val="1F2A37"/>
                </a:solidFill>
                <a:latin typeface="Calibri" pitchFamily="34" charset="0"/>
                <a:ea typeface="Calibri" pitchFamily="34" charset="-122"/>
                <a:cs typeface="Calibri" pitchFamily="34" charset="-120"/>
              </a:rPr>
              <a:t> on / </a:t>
            </a:r>
            <a:pPr algn="ctr" indent="0" marL="0">
              <a:buNone/>
            </a:pPr>
            <a:r>
              <a:rPr lang="ar-SA" altLang="en-US" sz="1550" dirty="0">
                <a:solidFill>
                  <a:srgbClr val="1F2A37"/>
                </a:solidFill>
                <a:latin typeface="Amiri" pitchFamily="34" charset="0"/>
                <a:ea typeface="Amiri" pitchFamily="34" charset="-122"/>
                <a:cs typeface="Amiri" pitchFamily="34" charset="-120"/>
              </a:rPr>
              <a:t>ة</a:t>
            </a:r>
            <a:pPr algn="ctr" indent="0" marL="0">
              <a:buNone/>
            </a:pPr>
            <a:r>
              <a:rPr lang="en-US" sz="1200" dirty="0">
                <a:solidFill>
                  <a:srgbClr val="1F2A37"/>
                </a:solidFill>
                <a:latin typeface="Calibri" pitchFamily="34" charset="0"/>
                <a:ea typeface="Calibri" pitchFamily="34" charset="-122"/>
                <a:cs typeface="Calibri" pitchFamily="34" charset="-120"/>
              </a:rPr>
              <a:t> off;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GM-NUM-02.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٥</a:t>
            </a:r>
            <a:pPr algn="l" indent="0" marL="0">
              <a:buNone/>
            </a:pPr>
            <a:r>
              <a:rPr lang="en-US" sz="1250" b="1" dirty="0">
                <a:solidFill>
                  <a:srgbClr val="1B3B6F"/>
                </a:solidFill>
                <a:latin typeface="Calibri" pitchFamily="34" charset="0"/>
                <a:ea typeface="Calibri" pitchFamily="34" charset="-122"/>
                <a:cs typeface="Calibri" pitchFamily="34" charset="-120"/>
              </a:rPr>
              <a:t> in Western digits?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٦</a:t>
            </a:r>
            <a:pPr algn="l" indent="0" marL="0">
              <a:buNone/>
            </a:pPr>
            <a:r>
              <a:rPr lang="en-US" sz="1250" b="1" dirty="0">
                <a:solidFill>
                  <a:srgbClr val="1B3B6F"/>
                </a:solidFill>
                <a:latin typeface="Calibri" pitchFamily="34" charset="0"/>
                <a:ea typeface="Calibri" pitchFamily="34" charset="-122"/>
                <a:cs typeface="Calibri" pitchFamily="34" charset="-120"/>
              </a:rPr>
              <a:t> in Western digits?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ثَمَانِيَةٌ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ثَانِي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singular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٥</a:t>
            </a:r>
            <a:pPr algn="l" indent="0" marL="0">
              <a:buNone/>
            </a:pPr>
            <a:r>
              <a:rPr lang="en-US" sz="1250" b="1" dirty="0">
                <a:solidFill>
                  <a:srgbClr val="1B3B6F"/>
                </a:solidFill>
                <a:latin typeface="Calibri" pitchFamily="34" charset="0"/>
                <a:ea typeface="Calibri" pitchFamily="34" charset="-122"/>
                <a:cs typeface="Calibri" pitchFamily="34" charset="-120"/>
              </a:rPr>
              <a:t> in Western digits?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0</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trap: the ring is five.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٦</a:t>
            </a:r>
            <a:pPr algn="l" indent="0" marL="0">
              <a:buNone/>
            </a:pPr>
            <a:r>
              <a:rPr lang="en-US" sz="1250" b="1" dirty="0">
                <a:solidFill>
                  <a:srgbClr val="1B3B6F"/>
                </a:solidFill>
                <a:latin typeface="Calibri" pitchFamily="34" charset="0"/>
                <a:ea typeface="Calibri" pitchFamily="34" charset="-122"/>
                <a:cs typeface="Calibri" pitchFamily="34" charset="-120"/>
              </a:rPr>
              <a:t> in Western digits?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trap: </a:t>
            </a:r>
            <a:pPr algn="l" indent="0" marL="0">
              <a:buNone/>
            </a:pPr>
            <a:r>
              <a:rPr lang="ar-SA" altLang="en-US" sz="1350" dirty="0">
                <a:solidFill>
                  <a:srgbClr val="8A6D1E"/>
                </a:solidFill>
                <a:latin typeface="Amiri" pitchFamily="34" charset="0"/>
                <a:ea typeface="Amiri" pitchFamily="34" charset="-122"/>
                <a:cs typeface="Amiri" pitchFamily="34" charset="-120"/>
              </a:rPr>
              <a:t>٦</a:t>
            </a:r>
            <a:pPr algn="l" indent="0" marL="0">
              <a:buNone/>
            </a:pPr>
            <a:r>
              <a:rPr lang="en-US" sz="1050" i="1" dirty="0">
                <a:solidFill>
                  <a:srgbClr val="8A6D1E"/>
                </a:solidFill>
                <a:latin typeface="Calibri" pitchFamily="34" charset="0"/>
                <a:ea typeface="Calibri" pitchFamily="34" charset="-122"/>
                <a:cs typeface="Calibri" pitchFamily="34" charset="-120"/>
              </a:rPr>
              <a:t> looks like 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ثَمَانِيَةٌ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ثَانِي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thalātha.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singular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Broken plural (GM-N-05).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Tāʾ marbūṭa.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Say the unit FIRST, then wa + the ten: 25 = five and twenty. For 3–10, the number takes the OPPOSITE gender of the singular noun.</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خَمْسَةٌ وَعِشْرُونَ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ثَلَاثَةُ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أَوْلَادٍ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ثَلَاثُ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بَنَاتٍ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Switch between </a:t>
            </a:r>
            <a:pPr algn="l" indent="0" marL="0">
              <a:buNone/>
            </a:pPr>
            <a:r>
              <a:rPr lang="ar-SA" altLang="en-US" sz="1700" dirty="0">
                <a:solidFill>
                  <a:srgbClr val="1F2A37"/>
                </a:solidFill>
                <a:latin typeface="Amiri" pitchFamily="34" charset="0"/>
                <a:ea typeface="Amiri" pitchFamily="34" charset="-122"/>
                <a:cs typeface="Amiri" pitchFamily="34" charset="-120"/>
              </a:rPr>
              <a:t>٠</a:t>
            </a:r>
            <a:pPr algn="l" indent="0" marL="0">
              <a:buNone/>
            </a:pPr>
            <a:r>
              <a:rPr lang="en-US" sz="1300" dirty="0">
                <a:solidFill>
                  <a:srgbClr val="1F2A37"/>
                </a:solidFill>
                <a:latin typeface="Calibri" pitchFamily="34" charset="0"/>
                <a:ea typeface="Calibri" pitchFamily="34" charset="-122"/>
                <a:cs typeface="Calibri" pitchFamily="34" charset="-120"/>
              </a:rPr>
              <a:t>–</a:t>
            </a:r>
            <a:pPr algn="l" indent="0" marL="0">
              <a:buNone/>
            </a:pPr>
            <a:r>
              <a:rPr lang="ar-SA" altLang="en-US" sz="1700" dirty="0">
                <a:solidFill>
                  <a:srgbClr val="1F2A37"/>
                </a:solidFill>
                <a:latin typeface="Amiri" pitchFamily="34" charset="0"/>
                <a:ea typeface="Amiri" pitchFamily="34" charset="-122"/>
                <a:cs typeface="Amiri" pitchFamily="34" charset="-120"/>
              </a:rPr>
              <a:t>٩</a:t>
            </a:r>
            <a:pPr algn="l" indent="0" marL="0">
              <a:buNone/>
            </a:pPr>
            <a:r>
              <a:rPr lang="en-US" sz="1300" dirty="0">
                <a:solidFill>
                  <a:srgbClr val="1F2A37"/>
                </a:solidFill>
                <a:latin typeface="Calibri" pitchFamily="34" charset="0"/>
                <a:ea typeface="Calibri" pitchFamily="34" charset="-122"/>
                <a:cs typeface="Calibri" pitchFamily="34" charset="-120"/>
              </a:rPr>
              <a:t> and 0–9.</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and write numbers to 100, including compounds.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ordinals first to tenth.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number–noun agreement for 1–2 and 3–10.</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read </a:t>
            </a:r>
            <a:pPr algn="l" indent="0" marL="0">
              <a:buNone/>
            </a:pPr>
            <a:r>
              <a:rPr lang="ar-SA" altLang="en-US" sz="1700" b="1" dirty="0">
                <a:solidFill>
                  <a:srgbClr val="2E8B57"/>
                </a:solidFill>
                <a:latin typeface="Amiri" pitchFamily="34" charset="0"/>
                <a:ea typeface="Amiri" pitchFamily="34" charset="-122"/>
                <a:cs typeface="Amiri" pitchFamily="34" charset="-120"/>
              </a:rPr>
              <a:t>٤٥</a:t>
            </a:r>
            <a:pPr algn="l" indent="0" marL="0">
              <a:buNone/>
            </a:pPr>
            <a:r>
              <a:rPr lang="en-US" sz="1300" b="1" dirty="0">
                <a:solidFill>
                  <a:srgbClr val="2E8B57"/>
                </a:solidFill>
                <a:latin typeface="Calibri" pitchFamily="34" charset="0"/>
                <a:ea typeface="Calibri" pitchFamily="34" charset="-122"/>
                <a:cs typeface="Calibri" pitchFamily="34" charset="-120"/>
              </a:rPr>
              <a:t> as 45 and say khamsatun wa-arbaʿūna.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count to ten and use ordinals 1st–5th.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build compounds: unit + wa + ten.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flip the gender for 3–10.</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11–99 with a singular accusative noun.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repair complex number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الرَّقْمُ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 / number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ar-raq-mu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٧ · 7</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number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al-ʿa-da-du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سَبْعَةٌ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الْمَعْدُودُ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counted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al-maʿ-dū-du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ثَلَاثَةُ 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الْعَدَدُ التَّرْتِيبِيُّ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ordinal number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al-ʿa-da-du at-tar-tī-biy-yu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الْأَوَّلُ · الثَّانِي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الْمُخَالَفَةُ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gender flip (3–10)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al-mu-khā-la-fa-tu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ثَلَاثُ بَنَاتٍ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التَّمْيِيزُ</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noun after 11–99 (singular)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at-tam-yī-zu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عِشْرُونَ طَالِبًا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NUMBERS · PART 1 · TWO DIGIT SYSTEMS, ONE STORY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Digits and the first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 الْهِنْدِيَّةُ وَالْغَرْبِيَّةُ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7" name="Text 14"/>
          <p:cNvSpPr txBox="1"/>
          <p:nvPr/>
        </p:nvSpPr>
        <p:spPr>
          <a:xfrm>
            <a:off x="72054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Hindi</a:t>
            </a:r>
            <a:endParaRPr lang="en-US" sz="1100" dirty="0"/>
          </a:p>
        </p:txBody>
      </p:sp>
      <p:sp>
        <p:nvSpPr>
          <p:cNvPr id="18" name="Text 15"/>
          <p:cNvSpPr txBox="1"/>
          <p:nvPr/>
        </p:nvSpPr>
        <p:spPr>
          <a:xfrm>
            <a:off x="610819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t>
            </a:r>
            <a:endParaRPr lang="en-US" sz="1100" dirty="0"/>
          </a:p>
        </p:txBody>
      </p:sp>
      <p:sp>
        <p:nvSpPr>
          <p:cNvPr id="19" name="Text 16"/>
          <p:cNvSpPr txBox="1"/>
          <p:nvPr/>
        </p:nvSpPr>
        <p:spPr>
          <a:xfrm>
            <a:off x="2816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0" name="Text 17"/>
          <p:cNvSpPr txBox="1"/>
          <p:nvPr/>
        </p:nvSpPr>
        <p:spPr>
          <a:xfrm>
            <a:off x="162763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Hindi</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t>
            </a:r>
            <a:endParaRPr lang="en-US" sz="1100" dirty="0"/>
          </a:p>
        </p:txBody>
      </p:sp>
      <p:sp>
        <p:nvSpPr>
          <p:cNvPr id="22" name="Shape 19"/>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3" name="Text 20"/>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سِتَّةٌ</a:t>
            </a:r>
            <a:endParaRPr lang="ar-SA" sz="2400" dirty="0"/>
          </a:p>
        </p:txBody>
      </p:sp>
      <p:sp>
        <p:nvSpPr>
          <p:cNvPr id="24" name="Text 21"/>
          <p:cNvSpPr txBox="1"/>
          <p:nvPr/>
        </p:nvSpPr>
        <p:spPr>
          <a:xfrm>
            <a:off x="7223760" y="226771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٦</a:t>
            </a:r>
            <a:endParaRPr lang="ar-SA" sz="2600" dirty="0"/>
          </a:p>
        </p:txBody>
      </p:sp>
      <p:sp>
        <p:nvSpPr>
          <p:cNvPr id="25" name="Text 22"/>
          <p:cNvSpPr txBox="1"/>
          <p:nvPr/>
        </p:nvSpPr>
        <p:spPr>
          <a:xfrm>
            <a:off x="614476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6" name="Text 23"/>
          <p:cNvSpPr txBox="1"/>
          <p:nvPr/>
        </p:nvSpPr>
        <p:spPr>
          <a:xfrm>
            <a:off x="28346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صِفْرٌ</a:t>
            </a:r>
            <a:endParaRPr lang="ar-SA" sz="2400" dirty="0"/>
          </a:p>
        </p:txBody>
      </p:sp>
      <p:sp>
        <p:nvSpPr>
          <p:cNvPr id="27" name="Text 24"/>
          <p:cNvSpPr txBox="1"/>
          <p:nvPr/>
        </p:nvSpPr>
        <p:spPr>
          <a:xfrm>
            <a:off x="1645920" y="226771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٠</a:t>
            </a:r>
            <a:endParaRPr lang="ar-SA" sz="2600" dirty="0"/>
          </a:p>
        </p:txBody>
      </p:sp>
      <p:sp>
        <p:nvSpPr>
          <p:cNvPr id="28" name="Text 25"/>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سَبْعَةٌ</a:t>
            </a:r>
            <a:endParaRPr lang="ar-SA" sz="2400" dirty="0"/>
          </a:p>
        </p:txBody>
      </p:sp>
      <p:sp>
        <p:nvSpPr>
          <p:cNvPr id="33" name="Text 30"/>
          <p:cNvSpPr txBox="1"/>
          <p:nvPr/>
        </p:nvSpPr>
        <p:spPr>
          <a:xfrm>
            <a:off x="7223760" y="2881884"/>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٧</a:t>
            </a:r>
            <a:endParaRPr lang="ar-SA" sz="2600" dirty="0"/>
          </a:p>
        </p:txBody>
      </p:sp>
      <p:sp>
        <p:nvSpPr>
          <p:cNvPr id="34" name="Text 31"/>
          <p:cNvSpPr txBox="1"/>
          <p:nvPr/>
        </p:nvSpPr>
        <p:spPr>
          <a:xfrm>
            <a:off x="614476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35" name="Text 32"/>
          <p:cNvSpPr txBox="1"/>
          <p:nvPr/>
        </p:nvSpPr>
        <p:spPr>
          <a:xfrm>
            <a:off x="28346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وَاحِدٌ</a:t>
            </a:r>
            <a:endParaRPr lang="ar-SA" sz="2400" dirty="0"/>
          </a:p>
        </p:txBody>
      </p:sp>
      <p:sp>
        <p:nvSpPr>
          <p:cNvPr id="36" name="Text 33"/>
          <p:cNvSpPr txBox="1"/>
          <p:nvPr/>
        </p:nvSpPr>
        <p:spPr>
          <a:xfrm>
            <a:off x="1645920" y="2881884"/>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١</a:t>
            </a:r>
            <a:endParaRPr lang="ar-SA" sz="2600" dirty="0"/>
          </a:p>
        </p:txBody>
      </p:sp>
      <p:sp>
        <p:nvSpPr>
          <p:cNvPr id="37" name="Text 34"/>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38" name="Shape 35"/>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41" name="Text 38"/>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ثَمَانِيَةٌ</a:t>
            </a:r>
            <a:endParaRPr lang="ar-SA" sz="2400" dirty="0"/>
          </a:p>
        </p:txBody>
      </p:sp>
      <p:sp>
        <p:nvSpPr>
          <p:cNvPr id="42" name="Text 39"/>
          <p:cNvSpPr txBox="1"/>
          <p:nvPr/>
        </p:nvSpPr>
        <p:spPr>
          <a:xfrm>
            <a:off x="7223760" y="3496056"/>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٨</a:t>
            </a:r>
            <a:endParaRPr lang="ar-SA" sz="2600" dirty="0"/>
          </a:p>
        </p:txBody>
      </p:sp>
      <p:sp>
        <p:nvSpPr>
          <p:cNvPr id="43" name="Text 40"/>
          <p:cNvSpPr txBox="1"/>
          <p:nvPr/>
        </p:nvSpPr>
        <p:spPr>
          <a:xfrm>
            <a:off x="614476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28346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اِثْنَانِ</a:t>
            </a:r>
            <a:endParaRPr lang="ar-SA" sz="2400" dirty="0"/>
          </a:p>
        </p:txBody>
      </p:sp>
      <p:sp>
        <p:nvSpPr>
          <p:cNvPr id="45" name="Text 42"/>
          <p:cNvSpPr txBox="1"/>
          <p:nvPr/>
        </p:nvSpPr>
        <p:spPr>
          <a:xfrm>
            <a:off x="1645920" y="3496056"/>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٢</a:t>
            </a:r>
            <a:endParaRPr lang="ar-SA" sz="2600" dirty="0"/>
          </a:p>
        </p:txBody>
      </p:sp>
      <p:sp>
        <p:nvSpPr>
          <p:cNvPr id="46" name="Text 43"/>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47" name="Shape 4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تِسْعَةٌ</a:t>
            </a:r>
            <a:endParaRPr lang="ar-SA" sz="2400" dirty="0"/>
          </a:p>
        </p:txBody>
      </p:sp>
      <p:sp>
        <p:nvSpPr>
          <p:cNvPr id="51" name="Text 48"/>
          <p:cNvSpPr txBox="1"/>
          <p:nvPr/>
        </p:nvSpPr>
        <p:spPr>
          <a:xfrm>
            <a:off x="7223760" y="4110228"/>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٩</a:t>
            </a:r>
            <a:endParaRPr lang="ar-SA" sz="2600" dirty="0"/>
          </a:p>
        </p:txBody>
      </p:sp>
      <p:sp>
        <p:nvSpPr>
          <p:cNvPr id="52" name="Text 49"/>
          <p:cNvSpPr txBox="1"/>
          <p:nvPr/>
        </p:nvSpPr>
        <p:spPr>
          <a:xfrm>
            <a:off x="614476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a:t>
            </a:r>
            <a:endParaRPr lang="en-US" sz="1100" dirty="0"/>
          </a:p>
        </p:txBody>
      </p:sp>
      <p:sp>
        <p:nvSpPr>
          <p:cNvPr id="53" name="Text 50"/>
          <p:cNvSpPr txBox="1"/>
          <p:nvPr/>
        </p:nvSpPr>
        <p:spPr>
          <a:xfrm>
            <a:off x="28346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ثَلَاثَةٌ</a:t>
            </a:r>
            <a:endParaRPr lang="ar-SA" sz="2400" dirty="0"/>
          </a:p>
        </p:txBody>
      </p:sp>
      <p:sp>
        <p:nvSpPr>
          <p:cNvPr id="54" name="Text 51"/>
          <p:cNvSpPr txBox="1"/>
          <p:nvPr/>
        </p:nvSpPr>
        <p:spPr>
          <a:xfrm>
            <a:off x="1645920" y="4110228"/>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٣</a:t>
            </a:r>
            <a:endParaRPr lang="ar-SA" sz="2600" dirty="0"/>
          </a:p>
        </p:txBody>
      </p:sp>
      <p:sp>
        <p:nvSpPr>
          <p:cNvPr id="55" name="Text 52"/>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56" name="Shape 5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Shape 5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9" name="Text 56"/>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عَشَرَةٌ</a:t>
            </a:r>
            <a:endParaRPr lang="ar-SA" sz="2400" dirty="0"/>
          </a:p>
        </p:txBody>
      </p:sp>
      <p:sp>
        <p:nvSpPr>
          <p:cNvPr id="60" name="Text 57"/>
          <p:cNvSpPr txBox="1"/>
          <p:nvPr/>
        </p:nvSpPr>
        <p:spPr>
          <a:xfrm>
            <a:off x="7223760" y="4724400"/>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١٠</a:t>
            </a:r>
            <a:endParaRPr lang="ar-SA" sz="2600" dirty="0"/>
          </a:p>
        </p:txBody>
      </p:sp>
      <p:sp>
        <p:nvSpPr>
          <p:cNvPr id="61" name="Text 58"/>
          <p:cNvSpPr txBox="1"/>
          <p:nvPr/>
        </p:nvSpPr>
        <p:spPr>
          <a:xfrm>
            <a:off x="614476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62" name="Text 59"/>
          <p:cNvSpPr txBox="1"/>
          <p:nvPr/>
        </p:nvSpPr>
        <p:spPr>
          <a:xfrm>
            <a:off x="28346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أَرْبَعَةٌ</a:t>
            </a:r>
            <a:endParaRPr lang="ar-SA" sz="2400" dirty="0"/>
          </a:p>
        </p:txBody>
      </p:sp>
      <p:sp>
        <p:nvSpPr>
          <p:cNvPr id="63" name="Text 60"/>
          <p:cNvSpPr txBox="1"/>
          <p:nvPr/>
        </p:nvSpPr>
        <p:spPr>
          <a:xfrm>
            <a:off x="1645920" y="4724400"/>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٤</a:t>
            </a:r>
            <a:endParaRPr lang="ar-SA" sz="2600" dirty="0"/>
          </a:p>
        </p:txBody>
      </p:sp>
      <p:sp>
        <p:nvSpPr>
          <p:cNvPr id="64" name="Text 6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65" name="Shape 62"/>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7" name="Shape 6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8" name="Text 65"/>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مِئَةٌ</a:t>
            </a:r>
            <a:endParaRPr lang="ar-SA" sz="2400" dirty="0"/>
          </a:p>
        </p:txBody>
      </p:sp>
      <p:sp>
        <p:nvSpPr>
          <p:cNvPr id="69" name="Text 66"/>
          <p:cNvSpPr txBox="1"/>
          <p:nvPr/>
        </p:nvSpPr>
        <p:spPr>
          <a:xfrm>
            <a:off x="7223760" y="533857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١٠٠</a:t>
            </a:r>
            <a:endParaRPr lang="ar-SA" sz="2600" dirty="0"/>
          </a:p>
        </p:txBody>
      </p:sp>
      <p:sp>
        <p:nvSpPr>
          <p:cNvPr id="70" name="Text 67"/>
          <p:cNvSpPr txBox="1"/>
          <p:nvPr/>
        </p:nvSpPr>
        <p:spPr>
          <a:xfrm>
            <a:off x="614476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a:t>
            </a:r>
            <a:endParaRPr lang="en-US" sz="1100" dirty="0"/>
          </a:p>
        </p:txBody>
      </p:sp>
      <p:sp>
        <p:nvSpPr>
          <p:cNvPr id="71" name="Text 68"/>
          <p:cNvSpPr txBox="1"/>
          <p:nvPr/>
        </p:nvSpPr>
        <p:spPr>
          <a:xfrm>
            <a:off x="28346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خَمْسَةٌ</a:t>
            </a:r>
            <a:endParaRPr lang="ar-SA" sz="2400" dirty="0"/>
          </a:p>
        </p:txBody>
      </p:sp>
      <p:sp>
        <p:nvSpPr>
          <p:cNvPr id="72" name="Text 69"/>
          <p:cNvSpPr txBox="1"/>
          <p:nvPr/>
        </p:nvSpPr>
        <p:spPr>
          <a:xfrm>
            <a:off x="1645920" y="533857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٥</a:t>
            </a:r>
            <a:endParaRPr lang="ar-SA" sz="2600" dirty="0"/>
          </a:p>
        </p:txBody>
      </p:sp>
      <p:sp>
        <p:nvSpPr>
          <p:cNvPr id="73" name="Text 70"/>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74" name="Shape 7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6" name="Text 7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key facts: numbers are written LEFT to right, even inside Arabic (</a:t>
            </a:r>
            <a:pPr algn="l" indent="0" marL="0">
              <a:buNone/>
            </a:pPr>
            <a:r>
              <a:rPr lang="ar-SA" altLang="en-US" sz="1450" b="1" dirty="0">
                <a:solidFill>
                  <a:srgbClr val="1B3B6F"/>
                </a:solidFill>
                <a:latin typeface="Amiri" pitchFamily="34" charset="0"/>
                <a:ea typeface="Amiri" pitchFamily="34" charset="-122"/>
                <a:cs typeface="Amiri" pitchFamily="34" charset="-120"/>
              </a:rPr>
              <a:t>٢٠٢٦</a:t>
            </a:r>
            <a:pPr algn="l" indent="0" marL="0">
              <a:buNone/>
            </a:pPr>
            <a:r>
              <a:rPr lang="en-US" sz="1100" b="1" dirty="0">
                <a:solidFill>
                  <a:srgbClr val="1B3B6F"/>
                </a:solidFill>
                <a:latin typeface="Calibri" pitchFamily="34" charset="0"/>
                <a:ea typeface="Calibri" pitchFamily="34" charset="-122"/>
                <a:cs typeface="Calibri" pitchFamily="34" charset="-120"/>
              </a:rPr>
              <a:t> = 2026). Traps: </a:t>
            </a:r>
            <a:pPr algn="l" indent="0" marL="0">
              <a:buNone/>
            </a:pPr>
            <a:r>
              <a:rPr lang="ar-SA" altLang="en-US" sz="1450" b="1" dirty="0">
                <a:solidFill>
                  <a:srgbClr val="1B3B6F"/>
                </a:solidFill>
                <a:latin typeface="Amiri" pitchFamily="34" charset="0"/>
                <a:ea typeface="Amiri" pitchFamily="34" charset="-122"/>
                <a:cs typeface="Amiri" pitchFamily="34" charset="-120"/>
              </a:rPr>
              <a:t>٥</a:t>
            </a:r>
            <a:pPr algn="l" indent="0" marL="0">
              <a:buNone/>
            </a:pPr>
            <a:r>
              <a:rPr lang="en-US" sz="1100" b="1" dirty="0">
                <a:solidFill>
                  <a:srgbClr val="1B3B6F"/>
                </a:solidFill>
                <a:latin typeface="Calibri" pitchFamily="34" charset="0"/>
                <a:ea typeface="Calibri" pitchFamily="34" charset="-122"/>
                <a:cs typeface="Calibri" pitchFamily="34" charset="-120"/>
              </a:rPr>
              <a:t> looks like 0 but is 5; </a:t>
            </a:r>
            <a:pPr algn="l" indent="0" marL="0">
              <a:buNone/>
            </a:pPr>
            <a:r>
              <a:rPr lang="ar-SA" altLang="en-US" sz="1450" b="1" dirty="0">
                <a:solidFill>
                  <a:srgbClr val="1B3B6F"/>
                </a:solidFill>
                <a:latin typeface="Amiri" pitchFamily="34" charset="0"/>
                <a:ea typeface="Amiri" pitchFamily="34" charset="-122"/>
                <a:cs typeface="Amiri" pitchFamily="34" charset="-120"/>
              </a:rPr>
              <a:t>٦</a:t>
            </a:r>
            <a:pPr algn="l" indent="0" marL="0">
              <a:buNone/>
            </a:pPr>
            <a:r>
              <a:rPr lang="en-US" sz="1100" b="1" dirty="0">
                <a:solidFill>
                  <a:srgbClr val="1B3B6F"/>
                </a:solidFill>
                <a:latin typeface="Calibri" pitchFamily="34" charset="0"/>
                <a:ea typeface="Calibri" pitchFamily="34" charset="-122"/>
                <a:cs typeface="Calibri" pitchFamily="34" charset="-120"/>
              </a:rPr>
              <a:t> looks like 7 but is 6 — “the dot is zero, the ring is five”.</a:t>
            </a: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NUMBERS · PART 2 · BUILDING 11–100 (WEBSITE PATTERNS)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Three patterns build every number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أَحَدَ عَشَرَ إِلَى مِئَةٍ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32735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Words</a:t>
            </a:r>
            <a:endParaRPr lang="en-US" sz="1100" dirty="0"/>
          </a:p>
        </p:txBody>
      </p:sp>
      <p:sp>
        <p:nvSpPr>
          <p:cNvPr id="18" name="Text 15"/>
          <p:cNvSpPr txBox="1"/>
          <p:nvPr/>
        </p:nvSpPr>
        <p:spPr>
          <a:xfrm>
            <a:off x="181051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Hindi</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Figure</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7882128" y="2267712"/>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teens: unit + ʿashara</a:t>
            </a:r>
            <a:endParaRPr lang="en-US" sz="1100" dirty="0"/>
          </a:p>
        </p:txBody>
      </p:sp>
      <p:sp>
        <p:nvSpPr>
          <p:cNvPr id="22" name="Text 19"/>
          <p:cNvSpPr txBox="1"/>
          <p:nvPr/>
        </p:nvSpPr>
        <p:spPr>
          <a:xfrm>
            <a:off x="3291840" y="2267712"/>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أَحَدَ عَشَرَ</a:t>
            </a:r>
            <a:endParaRPr lang="ar-SA" sz="2200" dirty="0"/>
          </a:p>
        </p:txBody>
      </p:sp>
      <p:sp>
        <p:nvSpPr>
          <p:cNvPr id="23" name="Text 20"/>
          <p:cNvSpPr txBox="1"/>
          <p:nvPr/>
        </p:nvSpPr>
        <p:spPr>
          <a:xfrm>
            <a:off x="1828800" y="2267712"/>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a:t>
            </a:r>
            <a:endParaRPr lang="ar-SA" sz="2200" dirty="0"/>
          </a:p>
        </p:txBody>
      </p:sp>
      <p:sp>
        <p:nvSpPr>
          <p:cNvPr id="24" name="Text 21"/>
          <p:cNvSpPr txBox="1"/>
          <p:nvPr/>
        </p:nvSpPr>
        <p:spPr>
          <a:xfrm>
            <a:off x="566928"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7882128" y="27941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teens (both parts fatḥa)</a:t>
            </a:r>
            <a:endParaRPr lang="en-US" sz="1100" dirty="0"/>
          </a:p>
        </p:txBody>
      </p:sp>
      <p:sp>
        <p:nvSpPr>
          <p:cNvPr id="29" name="Text 26"/>
          <p:cNvSpPr txBox="1"/>
          <p:nvPr/>
        </p:nvSpPr>
        <p:spPr>
          <a:xfrm>
            <a:off x="3291840" y="27941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اِثْنَا عَشَرَ</a:t>
            </a:r>
            <a:endParaRPr lang="ar-SA" sz="2200" dirty="0"/>
          </a:p>
        </p:txBody>
      </p:sp>
      <p:sp>
        <p:nvSpPr>
          <p:cNvPr id="30" name="Text 27"/>
          <p:cNvSpPr txBox="1"/>
          <p:nvPr/>
        </p:nvSpPr>
        <p:spPr>
          <a:xfrm>
            <a:off x="1828800" y="2794145"/>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a:t>
            </a:r>
            <a:endParaRPr lang="ar-SA" sz="2200" dirty="0"/>
          </a:p>
        </p:txBody>
      </p:sp>
      <p:sp>
        <p:nvSpPr>
          <p:cNvPr id="31" name="Text 28"/>
          <p:cNvSpPr txBox="1"/>
          <p:nvPr/>
        </p:nvSpPr>
        <p:spPr>
          <a:xfrm>
            <a:off x="566928"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a:t>
            </a:r>
            <a:endParaRPr lang="en-US" sz="1100" dirty="0"/>
          </a:p>
        </p:txBody>
      </p:sp>
      <p:sp>
        <p:nvSpPr>
          <p:cNvPr id="32" name="Shape 29"/>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3" name="Text 30"/>
          <p:cNvSpPr txBox="1"/>
          <p:nvPr/>
        </p:nvSpPr>
        <p:spPr>
          <a:xfrm>
            <a:off x="7882128" y="33205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teens</a:t>
            </a:r>
            <a:endParaRPr lang="en-US" sz="1100" dirty="0"/>
          </a:p>
        </p:txBody>
      </p:sp>
      <p:sp>
        <p:nvSpPr>
          <p:cNvPr id="34" name="Text 31"/>
          <p:cNvSpPr txBox="1"/>
          <p:nvPr/>
        </p:nvSpPr>
        <p:spPr>
          <a:xfrm>
            <a:off x="3291840" y="33205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خَمْسَةَ عَشَرَ</a:t>
            </a:r>
            <a:endParaRPr lang="ar-SA" sz="2200" dirty="0"/>
          </a:p>
        </p:txBody>
      </p:sp>
      <p:sp>
        <p:nvSpPr>
          <p:cNvPr id="35" name="Text 32"/>
          <p:cNvSpPr txBox="1"/>
          <p:nvPr/>
        </p:nvSpPr>
        <p:spPr>
          <a:xfrm>
            <a:off x="1828800" y="3320578"/>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١٥</a:t>
            </a:r>
            <a:endParaRPr lang="ar-SA" sz="2200" dirty="0"/>
          </a:p>
        </p:txBody>
      </p:sp>
      <p:sp>
        <p:nvSpPr>
          <p:cNvPr id="36" name="Text 33"/>
          <p:cNvSpPr txBox="1"/>
          <p:nvPr/>
        </p:nvSpPr>
        <p:spPr>
          <a:xfrm>
            <a:off x="566928"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7" name="Shape 34"/>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0" name="Text 37"/>
          <p:cNvSpPr txBox="1"/>
          <p:nvPr/>
        </p:nvSpPr>
        <p:spPr>
          <a:xfrm>
            <a:off x="7882128" y="38470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 -ūna (20 from ʿashara)</a:t>
            </a:r>
            <a:endParaRPr lang="en-US" sz="1100" dirty="0"/>
          </a:p>
        </p:txBody>
      </p:sp>
      <p:sp>
        <p:nvSpPr>
          <p:cNvPr id="41" name="Text 38"/>
          <p:cNvSpPr txBox="1"/>
          <p:nvPr/>
        </p:nvSpPr>
        <p:spPr>
          <a:xfrm>
            <a:off x="3291840" y="38470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عِشْرُونَ</a:t>
            </a:r>
            <a:endParaRPr lang="ar-SA" sz="2200" dirty="0"/>
          </a:p>
        </p:txBody>
      </p:sp>
      <p:sp>
        <p:nvSpPr>
          <p:cNvPr id="42" name="Text 39"/>
          <p:cNvSpPr txBox="1"/>
          <p:nvPr/>
        </p:nvSpPr>
        <p:spPr>
          <a:xfrm>
            <a:off x="1828800" y="3847011"/>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a:t>
            </a:r>
            <a:endParaRPr lang="ar-SA" sz="2200" dirty="0"/>
          </a:p>
        </p:txBody>
      </p:sp>
      <p:sp>
        <p:nvSpPr>
          <p:cNvPr id="43" name="Text 40"/>
          <p:cNvSpPr txBox="1"/>
          <p:nvPr/>
        </p:nvSpPr>
        <p:spPr>
          <a:xfrm>
            <a:off x="566928"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44" name="Shape 41"/>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7" name="Text 44"/>
          <p:cNvSpPr txBox="1"/>
          <p:nvPr/>
        </p:nvSpPr>
        <p:spPr>
          <a:xfrm>
            <a:off x="7882128" y="43734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 unit + -ūna</a:t>
            </a:r>
            <a:endParaRPr lang="en-US" sz="1100" dirty="0"/>
          </a:p>
        </p:txBody>
      </p:sp>
      <p:sp>
        <p:nvSpPr>
          <p:cNvPr id="48" name="Text 45"/>
          <p:cNvSpPr txBox="1"/>
          <p:nvPr/>
        </p:nvSpPr>
        <p:spPr>
          <a:xfrm>
            <a:off x="3291840" y="43734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أَرْبَعُونَ</a:t>
            </a:r>
            <a:endParaRPr lang="ar-SA" sz="2200" dirty="0"/>
          </a:p>
        </p:txBody>
      </p:sp>
      <p:sp>
        <p:nvSpPr>
          <p:cNvPr id="49" name="Text 46"/>
          <p:cNvSpPr txBox="1"/>
          <p:nvPr/>
        </p:nvSpPr>
        <p:spPr>
          <a:xfrm>
            <a:off x="1828800" y="4373445"/>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a:t>
            </a:r>
            <a:endParaRPr lang="ar-SA" sz="2200" dirty="0"/>
          </a:p>
        </p:txBody>
      </p:sp>
      <p:sp>
        <p:nvSpPr>
          <p:cNvPr id="50" name="Text 47"/>
          <p:cNvSpPr txBox="1"/>
          <p:nvPr/>
        </p:nvSpPr>
        <p:spPr>
          <a:xfrm>
            <a:off x="566928"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a:t>
            </a:r>
            <a:endParaRPr lang="en-US" sz="1100" dirty="0"/>
          </a:p>
        </p:txBody>
      </p:sp>
      <p:sp>
        <p:nvSpPr>
          <p:cNvPr id="51" name="Shape 48"/>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2" name="Text 49"/>
          <p:cNvSpPr txBox="1"/>
          <p:nvPr/>
        </p:nvSpPr>
        <p:spPr>
          <a:xfrm>
            <a:off x="7882128" y="48998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unit FIRST + wa + ten</a:t>
            </a:r>
            <a:endParaRPr lang="en-US" sz="1100" dirty="0"/>
          </a:p>
        </p:txBody>
      </p:sp>
      <p:sp>
        <p:nvSpPr>
          <p:cNvPr id="53" name="Text 50"/>
          <p:cNvSpPr txBox="1"/>
          <p:nvPr/>
        </p:nvSpPr>
        <p:spPr>
          <a:xfrm>
            <a:off x="3291840" y="48998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خَمْسَةٌ وَعِشْرُونَ</a:t>
            </a:r>
            <a:endParaRPr lang="ar-SA" sz="2200" dirty="0"/>
          </a:p>
        </p:txBody>
      </p:sp>
      <p:sp>
        <p:nvSpPr>
          <p:cNvPr id="54" name="Text 51"/>
          <p:cNvSpPr txBox="1"/>
          <p:nvPr/>
        </p:nvSpPr>
        <p:spPr>
          <a:xfrm>
            <a:off x="1828800" y="4899878"/>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٢٥</a:t>
            </a:r>
            <a:endParaRPr lang="ar-SA" sz="2200" dirty="0"/>
          </a:p>
        </p:txBody>
      </p:sp>
      <p:sp>
        <p:nvSpPr>
          <p:cNvPr id="55" name="Text 52"/>
          <p:cNvSpPr txBox="1"/>
          <p:nvPr/>
        </p:nvSpPr>
        <p:spPr>
          <a:xfrm>
            <a:off x="566928"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25</a:t>
            </a:r>
            <a:endParaRPr lang="en-US" sz="1100" dirty="0"/>
          </a:p>
        </p:txBody>
      </p:sp>
      <p:sp>
        <p:nvSpPr>
          <p:cNvPr id="56" name="Shape 53"/>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7882128" y="54263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hundreds come first</a:t>
            </a:r>
            <a:endParaRPr lang="en-US" sz="1100" dirty="0"/>
          </a:p>
        </p:txBody>
      </p:sp>
      <p:sp>
        <p:nvSpPr>
          <p:cNvPr id="60" name="Text 57"/>
          <p:cNvSpPr txBox="1"/>
          <p:nvPr/>
        </p:nvSpPr>
        <p:spPr>
          <a:xfrm>
            <a:off x="3291840" y="54263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مِئَةٌ وَخَمْسَةٌ</a:t>
            </a:r>
            <a:endParaRPr lang="ar-SA" sz="2200" dirty="0"/>
          </a:p>
        </p:txBody>
      </p:sp>
      <p:sp>
        <p:nvSpPr>
          <p:cNvPr id="61" name="Text 58"/>
          <p:cNvSpPr txBox="1"/>
          <p:nvPr/>
        </p:nvSpPr>
        <p:spPr>
          <a:xfrm>
            <a:off x="1828800" y="5426311"/>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١٠٥</a:t>
            </a:r>
            <a:endParaRPr lang="ar-SA" sz="2200" dirty="0"/>
          </a:p>
        </p:txBody>
      </p:sp>
      <p:sp>
        <p:nvSpPr>
          <p:cNvPr id="62" name="Text 59"/>
          <p:cNvSpPr txBox="1"/>
          <p:nvPr/>
        </p:nvSpPr>
        <p:spPr>
          <a:xfrm>
            <a:off x="566928"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105</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trap: when you HEAR khamsatun wa-ʿishrūna, do not write 52 — you hear “5 and 20”, you write 25.</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NUMBERS · PART 3 · THE GOLDEN RULES OF AGREEMENT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Follow (1–2) — flip (3–10)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الْعَدَدُ وَالْمَعْدُودُ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6382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7249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the noun, same gender</a:t>
            </a:r>
            <a:endParaRPr lang="en-US" sz="1100" dirty="0"/>
          </a:p>
        </p:txBody>
      </p:sp>
      <p:sp>
        <p:nvSpPr>
          <p:cNvPr id="22" name="Text 19"/>
          <p:cNvSpPr txBox="1"/>
          <p:nvPr/>
        </p:nvSpPr>
        <p:spPr>
          <a:xfrm>
            <a:off x="64190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book · one car</a:t>
            </a:r>
            <a:endParaRPr lang="en-US" sz="1100" dirty="0"/>
          </a:p>
        </p:txBody>
      </p:sp>
      <p:sp>
        <p:nvSpPr>
          <p:cNvPr id="23" name="Text 20"/>
          <p:cNvSpPr txBox="1"/>
          <p:nvPr/>
        </p:nvSpPr>
        <p:spPr>
          <a:xfrm>
            <a:off x="2743200" y="226771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وَاحِدٌ · سَيَّارَةٌ وَاحِدَةٌ</a:t>
            </a:r>
            <a:endParaRPr lang="ar-SA" sz="2400" dirty="0"/>
          </a:p>
        </p:txBody>
      </p:sp>
      <p:sp>
        <p:nvSpPr>
          <p:cNvPr id="24" name="Text 21"/>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follows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 same gender</a:t>
            </a:r>
            <a:endParaRPr lang="en-US" sz="1100" dirty="0"/>
          </a:p>
        </p:txBody>
      </p:sp>
      <p:sp>
        <p:nvSpPr>
          <p:cNvPr id="29" name="Text 26"/>
          <p:cNvSpPr txBox="1"/>
          <p:nvPr/>
        </p:nvSpPr>
        <p:spPr>
          <a:xfrm>
            <a:off x="64190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girls</a:t>
            </a:r>
            <a:endParaRPr lang="en-US" sz="1100" dirty="0"/>
          </a:p>
        </p:txBody>
      </p:sp>
      <p:sp>
        <p:nvSpPr>
          <p:cNvPr id="30" name="Text 27"/>
          <p:cNvSpPr txBox="1"/>
          <p:nvPr/>
        </p:nvSpPr>
        <p:spPr>
          <a:xfrm>
            <a:off x="2743200" y="2881884"/>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بِنْتَانِ اثْنَتَانِ</a:t>
            </a:r>
            <a:endParaRPr lang="ar-SA" sz="2400" dirty="0"/>
          </a:p>
        </p:txBody>
      </p:sp>
      <p:sp>
        <p:nvSpPr>
          <p:cNvPr id="31" name="Text 28"/>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follows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walad masc. → number with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4" name="Text 31"/>
          <p:cNvSpPr txBox="1"/>
          <p:nvPr/>
        </p:nvSpPr>
        <p:spPr>
          <a:xfrm>
            <a:off x="64190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boys</a:t>
            </a:r>
            <a:endParaRPr lang="en-US" sz="1100" dirty="0"/>
          </a:p>
        </p:txBody>
      </p:sp>
      <p:sp>
        <p:nvSpPr>
          <p:cNvPr id="35" name="Text 32"/>
          <p:cNvSpPr txBox="1"/>
          <p:nvPr/>
        </p:nvSpPr>
        <p:spPr>
          <a:xfrm>
            <a:off x="2743200" y="3496056"/>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ثَلَاثَةُ أَوْلَادٍ</a:t>
            </a:r>
            <a:endParaRPr lang="ar-SA" sz="2400" dirty="0"/>
          </a:p>
        </p:txBody>
      </p:sp>
      <p:sp>
        <p:nvSpPr>
          <p:cNvPr id="36" name="Text 33"/>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 · flip</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bint fem. → number without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41" name="Text 38"/>
          <p:cNvSpPr txBox="1"/>
          <p:nvPr/>
        </p:nvSpPr>
        <p:spPr>
          <a:xfrm>
            <a:off x="64190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girls</a:t>
            </a:r>
            <a:endParaRPr lang="en-US" sz="1100" dirty="0"/>
          </a:p>
        </p:txBody>
      </p:sp>
      <p:sp>
        <p:nvSpPr>
          <p:cNvPr id="42" name="Text 39"/>
          <p:cNvSpPr txBox="1"/>
          <p:nvPr/>
        </p:nvSpPr>
        <p:spPr>
          <a:xfrm>
            <a:off x="2743200" y="4110228"/>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ثَلَاثُ بَنَاتٍ</a:t>
            </a:r>
            <a:endParaRPr lang="ar-SA" sz="2400" dirty="0"/>
          </a:p>
        </p:txBody>
      </p:sp>
      <p:sp>
        <p:nvSpPr>
          <p:cNvPr id="43" name="Text 40"/>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 · flip</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 first, then flip</a:t>
            </a:r>
            <a:endParaRPr lang="en-US" sz="1100" dirty="0"/>
          </a:p>
        </p:txBody>
      </p:sp>
      <p:sp>
        <p:nvSpPr>
          <p:cNvPr id="48" name="Text 45"/>
          <p:cNvSpPr txBox="1"/>
          <p:nvPr/>
        </p:nvSpPr>
        <p:spPr>
          <a:xfrm>
            <a:off x="64190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seven days · ten minutes</a:t>
            </a:r>
            <a:endParaRPr lang="en-US" sz="1100" dirty="0"/>
          </a:p>
        </p:txBody>
      </p:sp>
      <p:sp>
        <p:nvSpPr>
          <p:cNvPr id="49" name="Text 46"/>
          <p:cNvSpPr txBox="1"/>
          <p:nvPr/>
        </p:nvSpPr>
        <p:spPr>
          <a:xfrm>
            <a:off x="2743200" y="4724400"/>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سَبْعَةُ أَيَّامٍ · عَشْرُ دَقَائِقَ</a:t>
            </a:r>
            <a:endParaRPr lang="ar-SA" sz="2400" dirty="0"/>
          </a:p>
        </p:txBody>
      </p:sp>
      <p:sp>
        <p:nvSpPr>
          <p:cNvPr id="50" name="Text 47"/>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 · flip</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 noun with -an</a:t>
            </a:r>
            <a:endParaRPr lang="en-US" sz="1100" dirty="0"/>
          </a:p>
        </p:txBody>
      </p:sp>
      <p:sp>
        <p:nvSpPr>
          <p:cNvPr id="53" name="Text 50"/>
          <p:cNvSpPr txBox="1"/>
          <p:nvPr/>
        </p:nvSpPr>
        <p:spPr>
          <a:xfrm>
            <a:off x="64190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twenty students</a:t>
            </a:r>
            <a:endParaRPr lang="en-US" sz="1100" dirty="0"/>
          </a:p>
        </p:txBody>
      </p:sp>
      <p:sp>
        <p:nvSpPr>
          <p:cNvPr id="54" name="Text 51"/>
          <p:cNvSpPr txBox="1"/>
          <p:nvPr/>
        </p:nvSpPr>
        <p:spPr>
          <a:xfrm>
            <a:off x="2743200" y="533857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عِشْرُونَ طَالِبًا</a:t>
            </a:r>
            <a:endParaRPr lang="ar-SA" sz="2400" dirty="0"/>
          </a:p>
        </p:txBody>
      </p:sp>
      <p:sp>
        <p:nvSpPr>
          <p:cNvPr id="55" name="Text 52"/>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11–99 (Stretch)</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#1 mistake: students look at the plural and panic. Ask: what is the SINGULAR — masculine or feminine? Then flip. 3–10: number BEFORE a genitive plural noun.</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٢٧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27</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وَعِشْرُونَ</a:t>
            </a:r>
            <a:pPr algn="l" indent="0" marL="0">
              <a:buNone/>
            </a:pPr>
            <a:r>
              <a:rPr lang="en-US" sz="1250" b="1" dirty="0">
                <a:solidFill>
                  <a:srgbClr val="1B3B6F"/>
                </a:solidFill>
                <a:latin typeface="Calibri" pitchFamily="34" charset="0"/>
                <a:ea typeface="Calibri" pitchFamily="34" charset="-122"/>
                <a:cs typeface="Calibri" pitchFamily="34" charset="-120"/>
              </a:rPr>
              <a:t>. You write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52</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boys”.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أَوْلَادٍ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أَوْلَادٍ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وَلَدٍ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“ten minutes”.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 دَقَائِقَ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عَشَرَةُ دَقَائِقَ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 دَقِيقَةٍ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٢٧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27</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Numbers are read left to right.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t>
            </a:r>
            <a:pPr algn="l" indent="0" marL="0">
              <a:buNone/>
            </a:pPr>
            <a:r>
              <a:rPr lang="ar-SA" altLang="en-US" sz="1650" b="1" dirty="0">
                <a:solidFill>
                  <a:srgbClr val="1B3B6F"/>
                </a:solidFill>
                <a:latin typeface="Amiri" pitchFamily="34" charset="0"/>
                <a:ea typeface="Amiri" pitchFamily="34" charset="-122"/>
                <a:cs typeface="Amiri" pitchFamily="34" charset="-120"/>
              </a:rPr>
              <a:t>خَمْسَةٌ وَعِشْرُونَ</a:t>
            </a:r>
            <a:pPr algn="l" indent="0" marL="0">
              <a:buNone/>
            </a:pPr>
            <a:r>
              <a:rPr lang="en-US" sz="1250" b="1" dirty="0">
                <a:solidFill>
                  <a:srgbClr val="1B3B6F"/>
                </a:solidFill>
                <a:latin typeface="Calibri" pitchFamily="34" charset="0"/>
                <a:ea typeface="Calibri" pitchFamily="34" charset="-122"/>
                <a:cs typeface="Calibri" pitchFamily="34" charset="-120"/>
              </a:rPr>
              <a:t>. You write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25</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52</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“Five and twenty”.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boys”.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أَوْلَادٍ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ثَلَاثَةُ أَوْلَادٍ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وَلَدٍ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Walad is masculine → number with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“ten minutes”.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 دَقَائِقَ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عَشَرَةُ دَقَائِقَ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 دَقِيقَةٍ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Daqīqa is feminine → number without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write numbers about myself</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Age (Stretch)</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خَمْسَ عَشْرَةَ سَنَةً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sana fem. → teens flip.</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رَقْمُ ٢٧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left to right.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Class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ثَمَانِيَةَ عَشَرَ طَالِبًا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11–99: singular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Books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ثَلَاثَةُ كُتُبٍ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kitāb masc. →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NUMBER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COUNTED 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34" charset="0"/>
                <a:ea typeface="Amiri" pitchFamily="34" charset="-122"/>
                <a:cs typeface="Amiri" pitchFamily="34" charset="-120"/>
              </a:rPr>
              <a:t>اِسْمِي سَلْمَى، وَعُمْرِي </a:t>
            </a:r>
            <a:pPr rtl="1" algn="r" indent="0" marL="0">
              <a:buNone/>
            </a:pPr>
            <a:r>
              <a:rPr lang="ar-SA" altLang="en-US" sz="2100" b="1" dirty="0">
                <a:solidFill>
                  <a:srgbClr val="0E7C86"/>
                </a:solidFill>
                <a:latin typeface="Amiri" pitchFamily="34" charset="0"/>
                <a:ea typeface="Amiri" pitchFamily="34" charset="-122"/>
                <a:cs typeface="Amiri" pitchFamily="34" charset="-120"/>
              </a:rPr>
              <a:t>خَمْسَ عَشْرَةَ</a:t>
            </a:r>
            <a:pPr rtl="1" algn="r" indent="0" marL="0">
              <a:buNone/>
            </a:pPr>
            <a:r>
              <a:rPr lang="ar-SA" altLang="en-US" sz="2100" b="1" dirty="0">
                <a:solidFill>
                  <a:srgbClr val="1B3B6F"/>
                </a:solidFill>
                <a:latin typeface="Amiri" pitchFamily="34" charset="0"/>
                <a:ea typeface="Amiri" pitchFamily="34" charset="-122"/>
                <a:cs typeface="Amiri" pitchFamily="34" charset="-120"/>
              </a:rPr>
              <a:t> </a:t>
            </a:r>
            <a:pPr rtl="1" algn="r" indent="0" marL="0">
              <a:buNone/>
            </a:pPr>
            <a:r>
              <a:rPr lang="ar-SA" altLang="en-US" sz="2100" b="1" dirty="0">
                <a:solidFill>
                  <a:srgbClr val="D6336C"/>
                </a:solidFill>
                <a:latin typeface="Amiri" pitchFamily="34" charset="0"/>
                <a:ea typeface="Amiri" pitchFamily="34" charset="-122"/>
                <a:cs typeface="Amiri" pitchFamily="34" charset="-120"/>
              </a:rPr>
              <a:t>سَنَةً</a:t>
            </a:r>
            <a:pPr rtl="1" algn="r" indent="0" marL="0">
              <a:buNone/>
            </a:pPr>
            <a:r>
              <a:rPr lang="ar-SA" altLang="en-US" sz="2100" b="1" dirty="0">
                <a:solidFill>
                  <a:srgbClr val="1B3B6F"/>
                </a:solidFill>
                <a:latin typeface="Amiri" pitchFamily="34" charset="0"/>
                <a:ea typeface="Amiri" pitchFamily="34" charset="-122"/>
                <a:cs typeface="Amiri" pitchFamily="34" charset="-120"/>
              </a:rPr>
              <a:t>. أَسْكُنُ فِي الْبَيْتِ رَقْمِ ٢٧. فِي فَصْلِي </a:t>
            </a:r>
            <a:pPr rtl="1" algn="r" indent="0" marL="0">
              <a:buNone/>
            </a:pPr>
            <a:r>
              <a:rPr lang="ar-SA" altLang="en-US" sz="2100" b="1" dirty="0">
                <a:solidFill>
                  <a:srgbClr val="0E7C86"/>
                </a:solidFill>
                <a:latin typeface="Amiri" pitchFamily="34" charset="0"/>
                <a:ea typeface="Amiri" pitchFamily="34" charset="-122"/>
                <a:cs typeface="Amiri" pitchFamily="34" charset="-120"/>
              </a:rPr>
              <a:t>ثَمَانِيَةَ عَشَرَ</a:t>
            </a:r>
            <a:pPr rtl="1" algn="r" indent="0" marL="0">
              <a:buNone/>
            </a:pPr>
            <a:r>
              <a:rPr lang="ar-SA" altLang="en-US" sz="2100" b="1" dirty="0">
                <a:solidFill>
                  <a:srgbClr val="1B3B6F"/>
                </a:solidFill>
                <a:latin typeface="Amiri" pitchFamily="34" charset="0"/>
                <a:ea typeface="Amiri" pitchFamily="34" charset="-122"/>
                <a:cs typeface="Amiri" pitchFamily="34" charset="-120"/>
              </a:rPr>
              <a:t> </a:t>
            </a:r>
            <a:pPr rtl="1" algn="r" indent="0" marL="0">
              <a:buNone/>
            </a:pPr>
            <a:r>
              <a:rPr lang="ar-SA" altLang="en-US" sz="2100" b="1" dirty="0">
                <a:solidFill>
                  <a:srgbClr val="D6336C"/>
                </a:solidFill>
                <a:latin typeface="Amiri" pitchFamily="34" charset="0"/>
                <a:ea typeface="Amiri" pitchFamily="34" charset="-122"/>
                <a:cs typeface="Amiri" pitchFamily="34" charset="-120"/>
              </a:rPr>
              <a:t>طَالِبًا</a:t>
            </a:r>
            <a:pPr rtl="1" algn="r" indent="0" marL="0">
              <a:buNone/>
            </a:pPr>
            <a:r>
              <a:rPr lang="ar-SA" altLang="en-US" sz="2100" b="1" dirty="0">
                <a:solidFill>
                  <a:srgbClr val="1B3B6F"/>
                </a:solidFill>
                <a:latin typeface="Amiri" pitchFamily="34" charset="0"/>
                <a:ea typeface="Amiri" pitchFamily="34" charset="-122"/>
                <a:cs typeface="Amiri" pitchFamily="34" charset="-120"/>
              </a:rPr>
              <a:t>، وَعِنْدِي </a:t>
            </a:r>
            <a:pPr rtl="1" algn="r" indent="0" marL="0">
              <a:buNone/>
            </a:pPr>
            <a:r>
              <a:rPr lang="ar-SA" altLang="en-US" sz="2100" b="1" dirty="0">
                <a:solidFill>
                  <a:srgbClr val="0E7C86"/>
                </a:solidFill>
                <a:latin typeface="Amiri" pitchFamily="34" charset="0"/>
                <a:ea typeface="Amiri" pitchFamily="34" charset="-122"/>
                <a:cs typeface="Amiri" pitchFamily="34" charset="-120"/>
              </a:rPr>
              <a:t>ثَلَاثَةُ</a:t>
            </a:r>
            <a:pPr rtl="1" algn="r" indent="0" marL="0">
              <a:buNone/>
            </a:pPr>
            <a:r>
              <a:rPr lang="ar-SA" altLang="en-US" sz="2100" b="1" dirty="0">
                <a:solidFill>
                  <a:srgbClr val="1B3B6F"/>
                </a:solidFill>
                <a:latin typeface="Amiri" pitchFamily="34" charset="0"/>
                <a:ea typeface="Amiri" pitchFamily="34" charset="-122"/>
                <a:cs typeface="Amiri" pitchFamily="34" charset="-120"/>
              </a:rPr>
              <a:t> </a:t>
            </a:r>
            <a:pPr rtl="1" algn="r" indent="0" marL="0">
              <a:buNone/>
            </a:pPr>
            <a:r>
              <a:rPr lang="ar-SA" altLang="en-US" sz="2100" b="1" dirty="0">
                <a:solidFill>
                  <a:srgbClr val="D6336C"/>
                </a:solidFill>
                <a:latin typeface="Amiri" pitchFamily="34" charset="0"/>
                <a:ea typeface="Amiri" pitchFamily="34" charset="-122"/>
                <a:cs typeface="Amiri" pitchFamily="34" charset="-120"/>
              </a:rPr>
              <a:t>كُتُبٍ</a:t>
            </a:r>
            <a:pPr rtl="1" algn="r" indent="0" marL="0">
              <a:buNone/>
            </a:pPr>
            <a:r>
              <a:rPr lang="ar-SA" altLang="en-US" sz="2100" b="1" dirty="0">
                <a:solidFill>
                  <a:srgbClr val="1B3B6F"/>
                </a:solidFill>
                <a:latin typeface="Amiri" pitchFamily="34" charset="0"/>
                <a:ea typeface="Amiri" pitchFamily="34" charset="-122"/>
                <a:cs typeface="Amiri" pitchFamily="34" charset="-120"/>
              </a:rPr>
              <a:t> عَرَبِيَّةٍ.</a:t>
            </a:r>
            <a:endParaRPr lang="ar-SA" sz="21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My name is Salmā, and I am fifteen years old. I live at house number 27. There are eighteen students in my class, and I have three Arabic books.</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الدَّرْسُ الْأَوَّلُ · السَّنَةُ الْأُولَى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first lesson · the first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Ordinal follows the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السَّاعَةُ الثَّالِثَةُ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three o’clock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sāʿa fem. → ordinal fem.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أَرْبَعَةُ إِخْوَةٍ.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four brothers.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akh masc. → ة 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الْبَيْتِ خَمْسُ غُرَفٍ.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There are five rooms in the house.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ghurfa fem. → ة off.</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ORDINAL NUMBERS (WEBSITE TABLE)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First, second, third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التَّرْتِيبِيَّةُ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919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fem. noun</a:t>
            </a:r>
            <a:endParaRPr lang="en-US" sz="1100" dirty="0"/>
          </a:p>
        </p:txBody>
      </p:sp>
      <p:sp>
        <p:nvSpPr>
          <p:cNvPr id="18" name="Text 15"/>
          <p:cNvSpPr txBox="1"/>
          <p:nvPr/>
        </p:nvSpPr>
        <p:spPr>
          <a:xfrm>
            <a:off x="23591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a masc. noun</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49808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الدَّرْسُ الْأَوَّلُ</a:t>
            </a:r>
            <a:endParaRPr lang="ar-SA" sz="2200" dirty="0"/>
          </a:p>
        </p:txBody>
      </p:sp>
      <p:sp>
        <p:nvSpPr>
          <p:cNvPr id="22" name="Text 19"/>
          <p:cNvSpPr txBox="1"/>
          <p:nvPr/>
        </p:nvSpPr>
        <p:spPr>
          <a:xfrm>
            <a:off x="493776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الْأُولَى</a:t>
            </a:r>
            <a:endParaRPr lang="ar-SA" sz="2400" dirty="0"/>
          </a:p>
        </p:txBody>
      </p:sp>
      <p:sp>
        <p:nvSpPr>
          <p:cNvPr id="23" name="Text 20"/>
          <p:cNvSpPr txBox="1"/>
          <p:nvPr/>
        </p:nvSpPr>
        <p:spPr>
          <a:xfrm>
            <a:off x="23774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الْأَوَّلُ</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49808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الْمَرَّةُ الثَّانِيَةُ</a:t>
            </a:r>
            <a:endParaRPr lang="ar-SA" sz="2200" dirty="0"/>
          </a:p>
        </p:txBody>
      </p:sp>
      <p:sp>
        <p:nvSpPr>
          <p:cNvPr id="29" name="Text 26"/>
          <p:cNvSpPr txBox="1"/>
          <p:nvPr/>
        </p:nvSpPr>
        <p:spPr>
          <a:xfrm>
            <a:off x="493776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الثَّانِيَةُ</a:t>
            </a:r>
            <a:endParaRPr lang="ar-SA" sz="2400" dirty="0"/>
          </a:p>
        </p:txBody>
      </p:sp>
      <p:sp>
        <p:nvSpPr>
          <p:cNvPr id="30" name="Text 27"/>
          <p:cNvSpPr txBox="1"/>
          <p:nvPr/>
        </p:nvSpPr>
        <p:spPr>
          <a:xfrm>
            <a:off x="23774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الثَّانِي</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second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49808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الطَّابِقُ الثَّالِثُ</a:t>
            </a:r>
            <a:endParaRPr lang="ar-SA" sz="2200" dirty="0"/>
          </a:p>
        </p:txBody>
      </p:sp>
      <p:sp>
        <p:nvSpPr>
          <p:cNvPr id="36" name="Text 33"/>
          <p:cNvSpPr txBox="1"/>
          <p:nvPr/>
        </p:nvSpPr>
        <p:spPr>
          <a:xfrm>
            <a:off x="493776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الثَّالِثَةُ</a:t>
            </a:r>
            <a:endParaRPr lang="ar-SA" sz="2400" dirty="0"/>
          </a:p>
        </p:txBody>
      </p:sp>
      <p:sp>
        <p:nvSpPr>
          <p:cNvPr id="37" name="Text 34"/>
          <p:cNvSpPr txBox="1"/>
          <p:nvPr/>
        </p:nvSpPr>
        <p:spPr>
          <a:xfrm>
            <a:off x="23774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الثَّالِثُ</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third</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49808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الرَّابِعَةُ</a:t>
            </a:r>
            <a:endParaRPr lang="ar-SA" sz="2200" dirty="0"/>
          </a:p>
        </p:txBody>
      </p:sp>
      <p:sp>
        <p:nvSpPr>
          <p:cNvPr id="43" name="Text 40"/>
          <p:cNvSpPr txBox="1"/>
          <p:nvPr/>
        </p:nvSpPr>
        <p:spPr>
          <a:xfrm>
            <a:off x="493776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الرَّابِعَةُ</a:t>
            </a:r>
            <a:endParaRPr lang="ar-SA" sz="2400" dirty="0"/>
          </a:p>
        </p:txBody>
      </p:sp>
      <p:sp>
        <p:nvSpPr>
          <p:cNvPr id="44" name="Text 41"/>
          <p:cNvSpPr txBox="1"/>
          <p:nvPr/>
        </p:nvSpPr>
        <p:spPr>
          <a:xfrm>
            <a:off x="23774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الرَّابِعُ</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fourth</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49808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الصَّفُّ الْخَامِسُ</a:t>
            </a:r>
            <a:endParaRPr lang="ar-SA" sz="2200" dirty="0"/>
          </a:p>
        </p:txBody>
      </p:sp>
      <p:sp>
        <p:nvSpPr>
          <p:cNvPr id="48" name="Text 45"/>
          <p:cNvSpPr txBox="1"/>
          <p:nvPr/>
        </p:nvSpPr>
        <p:spPr>
          <a:xfrm>
            <a:off x="493776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الْخَامِسَةُ</a:t>
            </a:r>
            <a:endParaRPr lang="ar-SA" sz="2400" dirty="0"/>
          </a:p>
        </p:txBody>
      </p:sp>
      <p:sp>
        <p:nvSpPr>
          <p:cNvPr id="49" name="Text 46"/>
          <p:cNvSpPr txBox="1"/>
          <p:nvPr/>
        </p:nvSpPr>
        <p:spPr>
          <a:xfrm>
            <a:off x="23774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الْخَامِسُ</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fifth</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49808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الْعَاشِرَةُ</a:t>
            </a:r>
            <a:endParaRPr lang="ar-SA" sz="2200" dirty="0"/>
          </a:p>
        </p:txBody>
      </p:sp>
      <p:sp>
        <p:nvSpPr>
          <p:cNvPr id="53" name="Text 50"/>
          <p:cNvSpPr txBox="1"/>
          <p:nvPr/>
        </p:nvSpPr>
        <p:spPr>
          <a:xfrm>
            <a:off x="493776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الْعَاشِرَةُ</a:t>
            </a:r>
            <a:endParaRPr lang="ar-SA" sz="2400" dirty="0"/>
          </a:p>
        </p:txBody>
      </p:sp>
      <p:sp>
        <p:nvSpPr>
          <p:cNvPr id="54" name="Text 51"/>
          <p:cNvSpPr txBox="1"/>
          <p:nvPr/>
        </p:nvSpPr>
        <p:spPr>
          <a:xfrm>
            <a:off x="23774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الْعَاشِرُ</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tenth</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from second to tenth, ordinals follow fāʿil (thālith, rābiʿ, khāmis). Only al-awwal / al-ūlā is irregular — like English one → first. Clock times use the feminine: as-sāʿatu th-thālithatu.</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“FLIP OR FOLLOW?” · 3–10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 with </a:t>
            </a:r>
            <a:pPr algn="l" indent="0" marL="0">
              <a:buNone/>
            </a:pPr>
            <a:r>
              <a:rPr lang="ar-SA" altLang="en-US" sz="3650" b="1" dirty="0">
                <a:solidFill>
                  <a:srgbClr val="1B3B6F"/>
                </a:solidFill>
                <a:latin typeface="Amiri" pitchFamily="34" charset="0"/>
                <a:ea typeface="Amiri" pitchFamily="34" charset="-122"/>
                <a:cs typeface="Amiri" pitchFamily="34" charset="-120"/>
              </a:rPr>
              <a:t>ة</a:t>
            </a:r>
            <a:pPr algn="l" indent="0" marL="0">
              <a:buNone/>
            </a:pPr>
            <a:r>
              <a:rPr lang="en-US" sz="2800" b="1" dirty="0">
                <a:solidFill>
                  <a:srgbClr val="1B3B6F"/>
                </a:solidFill>
                <a:latin typeface="Cambria" pitchFamily="34" charset="0"/>
                <a:ea typeface="Cambria" pitchFamily="34" charset="-122"/>
                <a:cs typeface="Cambria" pitchFamily="34" charset="-120"/>
              </a:rPr>
              <a:t>, or without?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بِالتَّاءِ أَمْ بِدُونِهَا؟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 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أَيَّامٍ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خَمْسَةُ أَقْلَامٍ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سِتَّةُ طُلَّابٍ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 دَقَائِقَ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سَبْعُ بَنَاتٍ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 غُرَفٍ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ة on (masc. singular noun)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ة off (fem. singular noun)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ة on (masc. singular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 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 أَيَّامٍ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خَمْسَةُ أَقْلَامٍ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سِتَّةُ طُلَّابٍ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ة off (fem. singular noun)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سَيَّارَاتٍ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 دَقَائِقَ</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سَبْعُ بَنَاتٍ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 غُرَفٍ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ثَلَاثُ أَوْلَادٍ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Singular masc. or fem.?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خَمْسَةُ سَيَّارَاتٍ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Singular masc. or fem.?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عِشْرُونَ وَخَمْسَةٌ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comes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ثَلَاثُ أَوْلَادٍ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ثَلَاثَةُ أَوْلَادٍ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Walad is masculine → the number takes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خَمْسَةُ سَيَّارَاتٍ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خَمْسُ سَيَّارَاتٍ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Sayyāra is feminine → the number drops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عِشْرُونَ وَخَمْسَةٌ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خَمْسَةٌ وَعِشْرُونَ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Unit first, then wa + ten.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GUIDED PRACTICE · TEACHER-WRITTEN QUESTIONS ON THE WEBSITE RULES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second time”.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الْمَرَّةُ الثَّانِي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الْمَرَّةُ الثَّانِيَةُ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31 in words.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ثَلَاثُونَ وَوَاحِدٌ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وَاحِدٌ وَثَلَاثُونَ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عَشَرَ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“seven days”.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سَبْعُ أَيَّامٍ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سَبْعَةُ أَيَّامٍ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سَبْعَةُ 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“twenty students” (Stretch).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طُلَّابٍ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عِشْرِينَ طَالِبٌ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 طَالِبًا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second time”.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الْمَرَّةُ الثَّانِي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الْمَرَّةُ الثَّانِيَةُ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Marra fem. → thāniya.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31 in words.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ثَلَاثُونَ وَوَاحِدٌ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وَاحِدٌ وَثَلَاثُونَ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عَشَرَ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Unit + wa + 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“seven days”.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سَبْعُ أَيَّامٍ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سَبْعَةُ أَيَّامٍ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سَبْعَةُ 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Yawm masc.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on, plural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“twenty students” (Stretch).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عِشْرُونَ طُلَّابٍ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عِشْرِينَ طَالِبٌ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عِشْرُونَ طَالِبًا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11–99: singular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TASK (PRICE 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stationery shop — maktabat an-Nūr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مَكْتَبَةُ النُّورِ — قَائِمَةُ الْأَسْعَارِ: قَلَمٌ: ٣ جُنَيْهَاتٍ. دَفْتَرٌ: ١٢ جُنَيْهًا. حَقِيبَةٌ: ٤٥ جُنَيْهًا. قَامُوسٌ: ٩٩ جُنَيْهًا. اِشْتَرَى أَحْمَدُ قَلَمًا وَدَفْتَرًا، وَاشْتَرَتْ أُخْتُهُ الْحَقِيبَةَ. الْمَكْتَبَةُ فِي الطَّابِقِ الثَّانِي، وَتُغْلَقُ فِي السَّاعَةِ الثَّامِنَةِ.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قَائِمَةُ الْأَسْعَارِ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price list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جُنَيْهٌ</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pound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دَفْتَرٌ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notebook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قَامُوسٌ</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dictionary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الطَّابِقِ</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floor</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does the notebook cost?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21 pounds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pounds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pounds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Aḥmad pay in total?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pounds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48 pounds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pounds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costs 45 pounds?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dictionary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floor is the shop 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eighth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does the notebook cost?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21 pounds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 pounds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 pounds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١٢</a:t>
            </a:r>
            <a:pPr algn="l" indent="0" marL="0">
              <a:buNone/>
            </a:pPr>
            <a:r>
              <a:rPr lang="en-US" sz="1050" i="1" dirty="0">
                <a:solidFill>
                  <a:srgbClr val="8A6D1E"/>
                </a:solidFill>
                <a:latin typeface="Calibri" pitchFamily="34" charset="0"/>
                <a:ea typeface="Calibri" pitchFamily="34" charset="-122"/>
                <a:cs typeface="Calibri" pitchFamily="34" charset="-120"/>
              </a:rPr>
              <a:t> = ithnā ʿashara junayhan.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Aḥmad pay in total?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pounds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48 pounds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 pounds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3 + 12 = khamsata ʿashara junayhan.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costs 45 pounds?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bag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dictionary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٤٥ = 45.</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floor is the shop 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eighth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second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Aṭ-ṭābiq ath-thānī.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number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عُمْرُكَ؟ وَمَا رَقْمُ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شَخْصًا فِي أُسْرَتِكَ؟ وَكَمْ أَخًا وَأُخْتًا عِنْدَكَ؟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«عَالَمَ أَرْقَامِكَ»: سِتَّةُ أَرْقَامٍ عَلَى الْأَقَلِّ.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عُمْرِي ___ سَنَةً، وَرَقْمُ بَيْتِي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أُسْرَتِي ___ أَشْخَاصٍ، وَعِنْدِي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أَنَا فِي الصَّفِّ ___ ، وَأَسْتَيْقِظُ فِي السَّاعَةِ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أَخًا عِنْدَكِ؟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many brothers do you have?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ثَلَاثَةُ إِخْوَةٍ وَأُخْتَانِ. أَنَا الْبِنْتُ الْأُولَى فِي الْأُسْرَةِ، وَعُمْرِي أَرْبَعَ عَشْرَةَ سَنَةً.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have three brothers and two sisters. I am the first girl in the family, and I am fourteen.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scaffold: age, house number,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ʿumrī … sana · raqm … · fī ʿāʾilatī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compound number and two 3–10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Flip: ة on / ة off.</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connected number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11–99 + singular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إِخْوَةٍ.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 brothers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بَيْتِنَا ______ غُرَفٍ.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 rooms in our house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رَقْمُ هَاتِفِي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phone number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ثَمَنُ الْحَقِيبَةِ ______ جُنَيْهًا.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bag costs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years 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الْبَيْتِ رَقْمِ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at house number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عَائِلَتِي ______ أَشْخَاصٍ.</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 people in my family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فِي الصَّفِّ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in Year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وَاحِدٌ  ·  اِثْنَانِ  ·  ثَلَاثَةٌ / ثَلَاثُ  ·  خَمْسَةٌ / خَمْسُ  ·  عَشَرَةٌ / عَشْرُ  ·  أَحَدَ عَشَرَ  ·  عِشْرُونَ  ·  خَمْسَةٌ وَعِشْرُونَ  ·  مِئَةٌ  ·  الْأَوَّلُ  ·  الثَّانِي  ·  الثَّالِثُ</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“Hot” task: write «</a:t>
            </a:r>
            <a:pPr algn="l" indent="0" marL="0">
              <a:buNone/>
            </a:pPr>
            <a:r>
              <a:rPr lang="ar-SA" altLang="en-US" sz="1750" b="1" dirty="0">
                <a:solidFill>
                  <a:srgbClr val="1F2A37"/>
                </a:solidFill>
                <a:latin typeface="Amiri" pitchFamily="34" charset="0"/>
                <a:ea typeface="Amiri" pitchFamily="34" charset="-122"/>
                <a:cs typeface="Amiri" pitchFamily="34" charset="-120"/>
              </a:rPr>
              <a:t>عَائِلَتِي وَأَرْقَامِي</a:t>
            </a:r>
            <a:pPr algn="l" indent="0" marL="0">
              <a:buNone/>
            </a:pPr>
            <a:r>
              <a:rPr lang="en-US" sz="1350" b="1" dirty="0">
                <a:solidFill>
                  <a:srgbClr val="1F2A37"/>
                </a:solidFill>
                <a:latin typeface="Calibri" pitchFamily="34" charset="0"/>
                <a:ea typeface="Calibri" pitchFamily="34" charset="-122"/>
                <a:cs typeface="Calibri" pitchFamily="34" charset="-120"/>
              </a:rPr>
              <a:t>» — age, house number, family size, brothers and sisters, wake-up time, with an ordinal.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digit systems (</a:t>
            </a:r>
            <a:pPr algn="l" indent="0" marL="0">
              <a:buNone/>
            </a:pPr>
            <a:r>
              <a:rPr lang="ar-SA" altLang="en-US" sz="1550" dirty="0">
                <a:solidFill>
                  <a:srgbClr val="1F2A37"/>
                </a:solidFill>
                <a:latin typeface="Amiri" pitchFamily="34" charset="0"/>
                <a:ea typeface="Amiri" pitchFamily="34" charset="-122"/>
                <a:cs typeface="Amiri" pitchFamily="34" charset="-120"/>
              </a:rPr>
              <a:t>٢٧</a:t>
            </a:r>
            <a:pPr algn="l" indent="0" marL="0">
              <a:buNone/>
            </a:pPr>
            <a:r>
              <a:rPr lang="en-US" sz="1200" dirty="0">
                <a:solidFill>
                  <a:srgbClr val="1F2A37"/>
                </a:solidFill>
                <a:latin typeface="Calibri" pitchFamily="34" charset="0"/>
                <a:ea typeface="Calibri" pitchFamily="34" charset="-122"/>
                <a:cs typeface="Calibri" pitchFamily="34" charset="-120"/>
              </a:rPr>
              <a:t> and 27).</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cardinal numbers in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compound number (unit + wa + ten).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3–10 phrase with the gender flip.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ordinal (al-awwal, ath-thāniya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age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رَقْمُ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number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الْأَكْبَرُ / الْأَصْغَرُ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oldest / youngest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السَّاعَةِ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 o’clock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أَشْخَاصٍ</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people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يَوْمٍ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عَائِلَتِي وَأَرْقَامِي: عُمْرِي ثَلَاثَ عَشْرَةَ سَنَةً، وَأَنَا فِي الصَّفِّ الثَّامِنِ. أَسْكُنُ فِي الْبَيْتِ رَقْمِ ٣٤. فِي عَائِلَتِي سِتَّةُ أَشْخَاصٍ: أَبِي وَأُمِّي وَثَلَاثَةُ إِخْوَةٍ وَأَنَا. أَنَا الْبِنْتُ الْأُولَى، وَأَخِي الْأَصْغَرُ عُمْرُهُ خَمْسُ سَنَوَاتٍ. فِي بَيْتِنَا أَرْبَعُ غُرَفٍ. أَسْتَيْقِظُ فِي السَّاعَةِ السَّادِسَةِ، وَأَمْشِي إِلَى الْمَدْرَسَةِ عِشْرِينَ دَقِيقَةً. فِي فَصْلِي خَمْسَةٌ وَعِشْرُونَ طَالِبًا.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family and my numbers: I am thirteen and I am in Year 8. I live at house number 34. There are six people in my family: my father, my mother, three brothers and me. I am the first daughter, and my youngest brother is five years old. There are four rooms in our house. I wake up at six o’clock, and I walk to school for twenty minutes. There are twenty-five students in my class.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ة on (masc.)</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ة off (fem.)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compound number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ordinal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switch </a:t>
            </a:r>
            <a:pPr algn="l" indent="0" marL="0">
              <a:buNone/>
            </a:pPr>
            <a:r>
              <a:rPr lang="ar-SA" altLang="en-US" sz="1700" dirty="0">
                <a:solidFill>
                  <a:srgbClr val="1F2A37"/>
                </a:solidFill>
                <a:latin typeface="Amiri" pitchFamily="34" charset="0"/>
                <a:ea typeface="Amiri" pitchFamily="34" charset="-122"/>
                <a:cs typeface="Amiri" pitchFamily="34" charset="-120"/>
              </a:rPr>
              <a:t>٠</a:t>
            </a:r>
            <a:pPr algn="l" indent="0" marL="0">
              <a:buNone/>
            </a:pPr>
            <a:r>
              <a:rPr lang="en-US" sz="1300" dirty="0">
                <a:solidFill>
                  <a:srgbClr val="1F2A37"/>
                </a:solidFill>
                <a:latin typeface="Calibri" pitchFamily="34" charset="0"/>
                <a:ea typeface="Calibri" pitchFamily="34" charset="-122"/>
                <a:cs typeface="Calibri" pitchFamily="34" charset="-120"/>
              </a:rPr>
              <a:t>–</a:t>
            </a:r>
            <a:pPr algn="l" indent="0" marL="0">
              <a:buNone/>
            </a:pPr>
            <a:r>
              <a:rPr lang="ar-SA" altLang="en-US" sz="1700" dirty="0">
                <a:solidFill>
                  <a:srgbClr val="1F2A37"/>
                </a:solidFill>
                <a:latin typeface="Amiri" pitchFamily="34" charset="0"/>
                <a:ea typeface="Amiri" pitchFamily="34" charset="-122"/>
                <a:cs typeface="Amiri" pitchFamily="34" charset="-120"/>
              </a:rPr>
              <a:t>٩</a:t>
            </a:r>
            <a:pPr algn="l" indent="0" marL="0">
              <a:buNone/>
            </a:pPr>
            <a:r>
              <a:rPr lang="en-US" sz="1300" dirty="0">
                <a:solidFill>
                  <a:srgbClr val="1F2A37"/>
                </a:solidFill>
                <a:latin typeface="Calibri" pitchFamily="34" charset="0"/>
                <a:ea typeface="Calibri" pitchFamily="34" charset="-122"/>
                <a:cs typeface="Calibri" pitchFamily="34" charset="-120"/>
              </a:rPr>
              <a:t> and 0–9 (</a:t>
            </a:r>
            <a:pPr algn="l" indent="0" marL="0">
              <a:buNone/>
            </a:pPr>
            <a:r>
              <a:rPr lang="ar-SA" altLang="en-US" sz="1700" dirty="0">
                <a:solidFill>
                  <a:srgbClr val="1F2A37"/>
                </a:solidFill>
                <a:latin typeface="Amiri" pitchFamily="34" charset="0"/>
                <a:ea typeface="Amiri" pitchFamily="34" charset="-122"/>
                <a:cs typeface="Amiri" pitchFamily="34" charset="-120"/>
              </a:rPr>
              <a:t>٥</a:t>
            </a:r>
            <a:pPr algn="l" indent="0" marL="0">
              <a:buNone/>
            </a:pPr>
            <a:r>
              <a:rPr lang="en-US" sz="1300" dirty="0">
                <a:solidFill>
                  <a:srgbClr val="1F2A37"/>
                </a:solidFill>
                <a:latin typeface="Calibri" pitchFamily="34" charset="0"/>
                <a:ea typeface="Calibri" pitchFamily="34" charset="-122"/>
                <a:cs typeface="Calibri" pitchFamily="34" charset="-120"/>
              </a:rPr>
              <a:t> = 5, </a:t>
            </a:r>
            <a:pPr algn="l" indent="0" marL="0">
              <a:buNone/>
            </a:pPr>
            <a:r>
              <a:rPr lang="ar-SA" altLang="en-US" sz="1700" dirty="0">
                <a:solidFill>
                  <a:srgbClr val="1F2A37"/>
                </a:solidFill>
                <a:latin typeface="Amiri" pitchFamily="34" charset="0"/>
                <a:ea typeface="Amiri" pitchFamily="34" charset="-122"/>
                <a:cs typeface="Amiri" pitchFamily="34" charset="-120"/>
              </a:rPr>
              <a:t>٦</a:t>
            </a:r>
            <a:pPr algn="l" indent="0" marL="0">
              <a:buNone/>
            </a:pPr>
            <a:r>
              <a:rPr lang="en-US" sz="1300" dirty="0">
                <a:solidFill>
                  <a:srgbClr val="1F2A37"/>
                </a:solidFill>
                <a:latin typeface="Calibri" pitchFamily="34" charset="0"/>
                <a:ea typeface="Calibri" pitchFamily="34" charset="-122"/>
                <a:cs typeface="Calibri" pitchFamily="34" charset="-120"/>
              </a:rPr>
              <a:t> = 6).</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compounds unit first: khamsatun wa-ʿishrūna.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 3–10 I checked the singular, then flipped.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ordinals agree with the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11–99 I used a singular noun with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٥٦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06</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سَيَّارَةٍ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first year”.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السَّنَةُ الْأُولَى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السَّنَةُ الْأَوَّلُ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الْأُولَى سَنَةٌ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٥٦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56</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06</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75</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ring is five; </a:t>
            </a:r>
            <a:pPr algn="l" indent="0" marL="0">
              <a:buNone/>
            </a:pPr>
            <a:r>
              <a:rPr lang="ar-SA" altLang="en-US" sz="1350" dirty="0">
                <a:solidFill>
                  <a:srgbClr val="8A6D1E"/>
                </a:solidFill>
                <a:latin typeface="Amiri" pitchFamily="34" charset="0"/>
                <a:ea typeface="Amiri" pitchFamily="34" charset="-122"/>
                <a:cs typeface="Amiri" pitchFamily="34" charset="-120"/>
              </a:rPr>
              <a:t>٦</a:t>
            </a:r>
            <a:pPr algn="l" indent="0" marL="0">
              <a:buNone/>
            </a:pPr>
            <a:r>
              <a:rPr lang="en-US" sz="1050" i="1" dirty="0">
                <a:solidFill>
                  <a:srgbClr val="8A6D1E"/>
                </a:solidFill>
                <a:latin typeface="Calibri" pitchFamily="34" charset="0"/>
                <a:ea typeface="Calibri" pitchFamily="34" charset="-122"/>
                <a:cs typeface="Calibri" pitchFamily="34" charset="-120"/>
              </a:rPr>
              <a:t> is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“three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ثَلَاثَةُ 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ثَلَاثُ 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 سَيَّارَةٍ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 singular → number without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first year”.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السَّنَةُ الْأُولَى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السَّنَةُ الْأَوَّلُ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الْأُولَى سَنَةٌ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 ordinal follows the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GM-NUM-01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Before GM-NUM-02: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GM-NUM-02 · Telling the Time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hour / o’clock</a:t>
            </a:r>
            <a:pPr indent="0" marL="0">
              <a:buNone/>
            </a:pPr>
            <a:r>
              <a:rPr lang="en-US" sz="1000" i="1" dirty="0">
                <a:solidFill>
                  <a:srgbClr val="5A6472"/>
                </a:solidFill>
                <a:latin typeface="Calibri" pitchFamily="34" charset="0"/>
                <a:ea typeface="Calibri" pitchFamily="34" charset="-122"/>
                <a:cs typeface="Calibri" pitchFamily="34" charset="-120"/>
              </a:rPr>
              <a:t>  السَّاعَةُ الْخَامِسَةُ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half</a:t>
            </a:r>
            <a:pPr indent="0" marL="0">
              <a:buNone/>
            </a:pPr>
            <a:r>
              <a:rPr lang="en-US" sz="1000" i="1" dirty="0">
                <a:solidFill>
                  <a:srgbClr val="5A6472"/>
                </a:solidFill>
                <a:latin typeface="Calibri" pitchFamily="34" charset="0"/>
                <a:ea typeface="Calibri" pitchFamily="34" charset="-122"/>
                <a:cs typeface="Calibri" pitchFamily="34" charset="-120"/>
              </a:rPr>
              <a:t>  وَالنِّصْفُ</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quarter</a:t>
            </a:r>
            <a:pPr indent="0" marL="0">
              <a:buNone/>
            </a:pPr>
            <a:r>
              <a:rPr lang="en-US" sz="1000" i="1" dirty="0">
                <a:solidFill>
                  <a:srgbClr val="5A6472"/>
                </a:solidFill>
                <a:latin typeface="Calibri" pitchFamily="34" charset="0"/>
                <a:ea typeface="Calibri" pitchFamily="34" charset="-122"/>
                <a:cs typeface="Calibri" pitchFamily="34" charset="-120"/>
              </a:rPr>
              <a:t>  وَالرُّبْعُ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إِلَّا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(minus)</a:t>
            </a:r>
            <a:pPr indent="0" marL="0">
              <a:buNone/>
            </a:pPr>
            <a:r>
              <a:rPr lang="en-US" sz="1000" i="1" dirty="0">
                <a:solidFill>
                  <a:srgbClr val="5A6472"/>
                </a:solidFill>
                <a:latin typeface="Calibri" pitchFamily="34" charset="0"/>
                <a:ea typeface="Calibri" pitchFamily="34" charset="-122"/>
                <a:cs typeface="Calibri" pitchFamily="34" charset="-120"/>
              </a:rPr>
              <a:t>  إِلَّا رُبْعًا</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minute</a:t>
            </a:r>
            <a:pPr indent="0" marL="0">
              <a:buNone/>
            </a:pPr>
            <a:r>
              <a:rPr lang="en-US" sz="1000" i="1" dirty="0">
                <a:solidFill>
                  <a:srgbClr val="5A6472"/>
                </a:solidFill>
                <a:latin typeface="Calibri" pitchFamily="34" charset="0"/>
                <a:ea typeface="Calibri" pitchFamily="34" charset="-122"/>
                <a:cs typeface="Calibri" pitchFamily="34" charset="-120"/>
              </a:rPr>
              <a:t>  عَشْرُ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as-sāʿatu th-thālithatu = 3 o’clock. How do you think you say “half past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السَّاعَةُ الثَّالِثَةُ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“Mild”: numbers 1–20 three ways (digit, Hindi digit, word).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“Spicy”: eight 3–10 sentences, labelled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on /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off.</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“Hot”: «</a:t>
            </a:r>
            <a:pPr algn="l" indent="0" marL="0">
              <a:buNone/>
            </a:pPr>
            <a:r>
              <a:rPr lang="ar-SA" altLang="en-US" sz="1550" dirty="0">
                <a:solidFill>
                  <a:srgbClr val="1F2A37"/>
                </a:solidFill>
                <a:latin typeface="Amiri" pitchFamily="34" charset="0"/>
                <a:ea typeface="Amiri" pitchFamily="34" charset="-122"/>
                <a:cs typeface="Amiri" pitchFamily="34" charset="-120"/>
              </a:rPr>
              <a:t>عَائِلَتِي وَأَرْقَامِي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GM-NUM-01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GM-NUM-02 · Telling the Time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الْوَقْتُ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٥</a:t>
            </a:r>
            <a:pPr algn="l" indent="0" marL="0">
              <a:buNone/>
            </a:pPr>
            <a:r>
              <a:rPr lang="en-US" sz="1300" b="1" dirty="0">
                <a:solidFill>
                  <a:srgbClr val="FFFFFF"/>
                </a:solidFill>
                <a:latin typeface="Calibri" pitchFamily="34" charset="0"/>
                <a:ea typeface="Calibri" pitchFamily="34" charset="-122"/>
                <a:cs typeface="Calibri" pitchFamily="34" charset="-120"/>
              </a:rPr>
              <a:t> = 5, </a:t>
            </a:r>
            <a:pPr algn="l" indent="0" marL="0">
              <a:buNone/>
            </a:pPr>
            <a:r>
              <a:rPr lang="ar-SA" altLang="en-US" sz="1700" b="1" dirty="0">
                <a:solidFill>
                  <a:srgbClr val="FFFFFF"/>
                </a:solidFill>
                <a:latin typeface="Amiri" pitchFamily="34" charset="0"/>
                <a:ea typeface="Amiri" pitchFamily="34" charset="-122"/>
                <a:cs typeface="Amiri" pitchFamily="34" charset="-120"/>
              </a:rPr>
              <a:t>٦</a:t>
            </a:r>
            <a:pPr algn="l" indent="0" marL="0">
              <a:buNone/>
            </a:pPr>
            <a:r>
              <a:rPr lang="en-US" sz="1300" b="1" dirty="0">
                <a:solidFill>
                  <a:srgbClr val="FFFFFF"/>
                </a:solidFill>
                <a:latin typeface="Calibri" pitchFamily="34" charset="0"/>
                <a:ea typeface="Calibri" pitchFamily="34" charset="-122"/>
                <a:cs typeface="Calibri" pitchFamily="34" charset="-120"/>
              </a:rPr>
              <a:t> = 6 · numbers read left to right · 25 = khamsatun wa-ʿishrūna · 1–2 follow the noun · 3–10 flip the gender of the singular · ordinals match the noun (al-awwal / al-ūlā).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GM-NUM-01 · Numbers</dc:title>
  <dc:subject>PptxGenJS Presentation</dc:subject>
  <dc:creator>Al Madina Online School · Arabic Department</dc:creator>
  <cp:lastModifiedBy>Al Madina Online School · Arabic Department</cp:lastModifiedBy>
  <cp:revision>1</cp:revision>
  <dcterms:created xsi:type="dcterms:W3CDTF">2026-10-04T02:13:03Z</dcterms:created>
  <dcterms:modified xsi:type="dcterms:W3CDTF">2026-10-04T02:13:03Z</dcterms:modified>
</cp:coreProperties>
</file>