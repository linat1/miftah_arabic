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Numbers and Time › GM-NUM-01 (“— Numbers · Numeracy Mastery 01”).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digits ٠–٩ ↔ 0–9 and the words 0–10; numbers 11–100 by pattern; ordinals first–fifth. Develop: compound numbers 21–99 (unit FIRST: خَمْسَةٌ وَعِشْرُونَ) and agreement for 1–2 (كِتَابٌ وَاحِدٌ) and 3–10 (ثَلَاثَةُ كُتُبٍ / ثَلَاثُ سَيَّارَاتٍ). Stretch: 11–99 + singular accusative noun (عِشْرُونَ طَالِبًا) and repairing complex errors.
• Website traps: ٥ looks like 0 but is 5; ٦ looks like 7 but is 6. Numbers are written left to right, even inside Arabic text (٢٠٢٦ = 2026).
• Golden rule for 3–10 (website): ask “what is the SINGULAR? Is it masculine or feminine?” — then flip.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digits (website traps), GM-N-05 broken plurals and noun gender.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Say the unit FIRST, then wa + the ten: 25 = five and twenty. For 3–10, the number takes the OPPOSITE gender of the singular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“Two digit systems” and “Counting 0–10”. Faith hooks (website): khamsa — five daily prayers; sabʿa — seven verses of al-Fātiḥa.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“Building 11–100 and beyond”. English link: “four-and-twenty blackbirds”.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“The Golden Rules of agreement”. Magnet image: opposites attract.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 rules.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reading “Information hunt” (rakam → raqmi after a genitive: al-bayti raqmi 27 — website writes raqma; both are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“Ordinal numbers”. Cover a column; students supply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For each card students say the singular (kitāb, yawm, qalam, ṭālib · sayyāra, daqīqa, bint, ghurfa).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For each card students say the singular (kitāb, yawm, qalam, ṭālib · sayyāra, daqīqa, bint, ghurfa).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questions on the website rules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task (price list). Read it aloud once while students follow; then they hunt for today’s grammar.
Task: Website: read the Hindi-Arabic prices, then answer. Write one price in words.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reading task (price list) extended into a short text; questions adapted from the website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Sequence: ● 10s think → ↔ 45s rehearse aloud with mic muted → ◎ two named students on open mic (warned in advance) → + ? the class types one follow-up in chat → ↺ one student summarises.
Routes: Core uses the Core prompt and stem; Develop the Develop prompt; Stretch the last prompt.
Website: at least six numbers — age, a house / bus / phone number, people or objects, a price, an ordinal, a number above 100. Listening (website): dictate a phone number digit by digit.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7–9 Arabic sentences using both digit systems and at least two cardinal numbers, one ordinal, one agreement pattern, one compound number and one real-life detail.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(GM-NUM-02 · Telling the Time) will spend class time USING this language, so students prepare it tonight — short, simple, easy to access (school guidance: “Simple, Short, Interesting, Relevant, Easy to access”). The five words prepare GM-NUM-02 (website Numeracy Mastery 02: time).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NUMBERS AND TIME  ·  GM-NUM-01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GM-NUM-01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Numbers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الْأَرْقَامُ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both digit systems (</a:t>
            </a:r>
            <a:pPr algn="l" indent="0" marL="0">
              <a:buNone/>
            </a:pPr>
            <a:r>
              <a:rPr lang="ar-SA" altLang="en-US" sz="1800" dirty="0">
                <a:solidFill>
                  <a:srgbClr val="C6D2E6"/>
                </a:solidFill>
                <a:latin typeface="Amiri" pitchFamily="2" charset="-78"/>
                <a:ea typeface="Amiri" pitchFamily="2" charset="-78"/>
                <a:cs typeface="Amiri" pitchFamily="2" charset="-78"/>
              </a:rPr>
              <a:t>٥</a:t>
            </a:r>
            <a:pPr algn="l" indent="0" marL="0">
              <a:buNone/>
            </a:pPr>
            <a:r>
              <a:rPr lang="en-US" sz="1400" dirty="0">
                <a:solidFill>
                  <a:srgbClr val="C6D2E6"/>
                </a:solidFill>
                <a:latin typeface="Calibri" pitchFamily="34" charset="0"/>
                <a:cs typeface="Amiri" pitchFamily="2" charset="-78"/>
              </a:rPr>
              <a:t> = 5, </a:t>
            </a:r>
            <a:pPr algn="l" indent="0" marL="0">
              <a:buNone/>
            </a:pPr>
            <a:r>
              <a:rPr lang="ar-SA" altLang="en-US" sz="1800" dirty="0">
                <a:solidFill>
                  <a:srgbClr val="C6D2E6"/>
                </a:solidFill>
                <a:latin typeface="Amiri" pitchFamily="2" charset="-78"/>
                <a:ea typeface="Amiri" pitchFamily="2" charset="-78"/>
                <a:cs typeface="Amiri" pitchFamily="2" charset="-78"/>
              </a:rPr>
              <a:t>٦</a:t>
            </a:r>
            <a:pPr algn="l" indent="0" marL="0">
              <a:buNone/>
            </a:pPr>
            <a:r>
              <a:rPr lang="en-US" sz="1400" dirty="0">
                <a:solidFill>
                  <a:srgbClr val="C6D2E6"/>
                </a:solidFill>
                <a:latin typeface="Calibri" pitchFamily="34" charset="0"/>
                <a:cs typeface="Amiri" pitchFamily="2" charset="-78"/>
              </a:rPr>
              <a:t> = 6), count to 100, build compounds “five and twenty” (khamsatun wa-ʿishrūna = 25), use ordinals (al-awwal, ath-thānī) — and flip the gender for 3–10: thalāthatu awlādin but thalāthu banātin.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GM-NUM-01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Numbers and Time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Digits; building 11–100; agreement rules; ordinals.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Ordinals and time; sort </a:t>
            </a:r>
            <a:pPr algn="ctr" indent="0" marL="0">
              <a:buNone/>
            </a:pPr>
            <a:r>
              <a:rPr lang="ar-SA" altLang="en-US" sz="1550" dirty="0">
                <a:solidFill>
                  <a:srgbClr val="1F2A37"/>
                </a:solidFill>
                <a:latin typeface="Amiri" pitchFamily="2" charset="-78"/>
                <a:ea typeface="Amiri" pitchFamily="2" charset="-78"/>
                <a:cs typeface="Amiri" pitchFamily="2" charset="-78"/>
              </a:rPr>
              <a:t>ة</a:t>
            </a:r>
            <a:pPr algn="ctr" indent="0" marL="0">
              <a:buNone/>
            </a:pPr>
            <a:r>
              <a:rPr lang="en-US" sz="1200" dirty="0">
                <a:solidFill>
                  <a:srgbClr val="1F2A37"/>
                </a:solidFill>
                <a:latin typeface="Calibri" pitchFamily="34" charset="0"/>
                <a:cs typeface="Amiri" pitchFamily="2" charset="-78"/>
              </a:rPr>
              <a:t> on / </a:t>
            </a:r>
            <a:pPr algn="ctr" indent="0" marL="0">
              <a:buNone/>
            </a:pPr>
            <a:r>
              <a:rPr lang="ar-SA" altLang="en-US" sz="1550" dirty="0">
                <a:solidFill>
                  <a:srgbClr val="1F2A37"/>
                </a:solidFill>
                <a:latin typeface="Amiri" pitchFamily="2" charset="-78"/>
                <a:ea typeface="Amiri" pitchFamily="2" charset="-78"/>
                <a:cs typeface="Amiri" pitchFamily="2" charset="-78"/>
              </a:rPr>
              <a:t>ة</a:t>
            </a:r>
            <a:pPr algn="ctr" indent="0" marL="0">
              <a:buNone/>
            </a:pPr>
            <a:r>
              <a:rPr lang="en-US" sz="1200" dirty="0">
                <a:solidFill>
                  <a:srgbClr val="1F2A37"/>
                </a:solidFill>
                <a:latin typeface="Calibri" pitchFamily="34" charset="0"/>
                <a:cs typeface="Amiri" pitchFamily="2" charset="-78"/>
              </a:rPr>
              <a:t> off;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GM-NUM-02.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٥</a:t>
            </a:r>
            <a:pPr algn="l" indent="0" marL="0">
              <a:buNone/>
            </a:pPr>
            <a:r>
              <a:rPr lang="en-US" sz="1250" b="1" dirty="0">
                <a:solidFill>
                  <a:srgbClr val="1B3B6F"/>
                </a:solidFill>
                <a:latin typeface="Calibri" pitchFamily="34" charset="0"/>
                <a:cs typeface="Amiri" pitchFamily="2" charset="-78"/>
              </a:rPr>
              <a:t> in Western digits?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0</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٦</a:t>
            </a:r>
            <a:pPr algn="l" indent="0" marL="0">
              <a:buNone/>
            </a:pPr>
            <a:r>
              <a:rPr lang="en-US" sz="1250" b="1" dirty="0">
                <a:solidFill>
                  <a:srgbClr val="1B3B6F"/>
                </a:solidFill>
                <a:latin typeface="Calibri" pitchFamily="34" charset="0"/>
                <a:cs typeface="Amiri" pitchFamily="2" charset="-78"/>
              </a:rPr>
              <a:t> in Western digits?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ثَمَانِيَةٌ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ثَانِي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singular of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كَاتِبٌ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٥</a:t>
            </a:r>
            <a:pPr algn="l" indent="0" marL="0">
              <a:buNone/>
            </a:pPr>
            <a:r>
              <a:rPr lang="en-US" sz="1250" b="1" dirty="0">
                <a:solidFill>
                  <a:srgbClr val="1B3B6F"/>
                </a:solidFill>
                <a:latin typeface="Calibri" pitchFamily="34" charset="0"/>
                <a:cs typeface="Amiri" pitchFamily="2" charset="-78"/>
              </a:rPr>
              <a:t> in Western digits?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0</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5</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trap: the ring is five.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٦</a:t>
            </a:r>
            <a:pPr algn="l" indent="0" marL="0">
              <a:buNone/>
            </a:pPr>
            <a:r>
              <a:rPr lang="en-US" sz="1250" b="1" dirty="0">
                <a:solidFill>
                  <a:srgbClr val="1B3B6F"/>
                </a:solidFill>
                <a:latin typeface="Calibri" pitchFamily="34" charset="0"/>
                <a:cs typeface="Amiri" pitchFamily="2" charset="-78"/>
              </a:rPr>
              <a:t> in Western digits?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trap: </a:t>
            </a:r>
            <a:pPr algn="l" indent="0" marL="0">
              <a:buNone/>
            </a:pPr>
            <a:r>
              <a:rPr lang="ar-SA" altLang="en-US" sz="1350" dirty="0">
                <a:solidFill>
                  <a:srgbClr val="8A6D1E"/>
                </a:solidFill>
                <a:latin typeface="Amiri" pitchFamily="2" charset="-78"/>
                <a:ea typeface="Amiri" pitchFamily="2" charset="-78"/>
                <a:cs typeface="Amiri" pitchFamily="2" charset="-78"/>
              </a:rPr>
              <a:t>٦</a:t>
            </a:r>
            <a:pPr algn="l" indent="0" marL="0">
              <a:buNone/>
            </a:pPr>
            <a:r>
              <a:rPr lang="en-US" sz="1050" i="1" dirty="0">
                <a:solidFill>
                  <a:srgbClr val="8A6D1E"/>
                </a:solidFill>
                <a:latin typeface="Calibri" pitchFamily="34" charset="0"/>
                <a:cs typeface="Amiri" pitchFamily="2" charset="-78"/>
              </a:rPr>
              <a:t> looks like 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ثَمَانِيَةٌ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ثَانِي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ثَلَاثَةٌ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thalātha.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singular of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كَاتِبٌ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Broken plural (GM-N-05).</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سَيَّارَةٌ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Tāʾ marbūṭa.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00" b="1" dirty="0">
                <a:solidFill>
                  <a:srgbClr val="1F2A37"/>
                </a:solidFill>
                <a:latin typeface="Calibri" pitchFamily="34" charset="0"/>
                <a:cs typeface="Amiri" pitchFamily="2" charset="-78"/>
              </a:rPr>
              <a:t>Say the unit FIRST, then wa + the ten: 25 = five and twenty. For 3–10, the number takes the OPPOSITE gender of the singular noun.</a:t>
            </a:r>
            <a:endParaRPr lang="en-US" sz="12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خَمْسَةٌ وَعِشْرُونَ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ثَلَاثَةُ</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أَوْلَادٍ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ثَلَاثُ</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بَنَاتٍ</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Switch between </a:t>
            </a:r>
            <a:pPr algn="l" indent="0" marL="0">
              <a:buNone/>
            </a:pPr>
            <a:r>
              <a:rPr lang="ar-SA" altLang="en-US" sz="1700" dirty="0">
                <a:solidFill>
                  <a:srgbClr val="1F2A37"/>
                </a:solidFill>
                <a:latin typeface="Amiri" pitchFamily="2" charset="-78"/>
                <a:ea typeface="Amiri" pitchFamily="2" charset="-78"/>
                <a:cs typeface="Amiri" pitchFamily="2" charset="-78"/>
              </a:rPr>
              <a:t>٠</a:t>
            </a:r>
            <a:pPr algn="l" indent="0" marL="0">
              <a:buNone/>
            </a:pPr>
            <a:r>
              <a:rPr lang="en-US" sz="1300" dirty="0">
                <a:solidFill>
                  <a:srgbClr val="1F2A37"/>
                </a:solidFill>
                <a:latin typeface="Calibri" pitchFamily="34" charset="0"/>
                <a:cs typeface="Amiri" pitchFamily="2" charset="-78"/>
              </a:rPr>
              <a:t>–</a:t>
            </a:r>
            <a:pPr algn="l" indent="0" marL="0">
              <a:buNone/>
            </a:pPr>
            <a:r>
              <a:rPr lang="ar-SA" altLang="en-US" sz="1700" dirty="0">
                <a:solidFill>
                  <a:srgbClr val="1F2A37"/>
                </a:solidFill>
                <a:latin typeface="Amiri" pitchFamily="2" charset="-78"/>
                <a:ea typeface="Amiri" pitchFamily="2" charset="-78"/>
                <a:cs typeface="Amiri" pitchFamily="2" charset="-78"/>
              </a:rPr>
              <a:t>٩</a:t>
            </a:r>
            <a:pPr algn="l" indent="0" marL="0">
              <a:buNone/>
            </a:pPr>
            <a:r>
              <a:rPr lang="en-US" sz="1300" dirty="0">
                <a:solidFill>
                  <a:srgbClr val="1F2A37"/>
                </a:solidFill>
                <a:latin typeface="Calibri" pitchFamily="34" charset="0"/>
                <a:cs typeface="Amiri" pitchFamily="2" charset="-78"/>
              </a:rPr>
              <a:t> and 0–9.</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and write numbers to 100, including compounds.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ordinals first to tenth.</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number–noun agreement for 1–2 and 3–10.</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read </a:t>
            </a:r>
            <a:pPr algn="l" indent="0" marL="0">
              <a:buNone/>
            </a:pPr>
            <a:r>
              <a:rPr lang="ar-SA" altLang="en-US" sz="1700" b="1" dirty="0">
                <a:solidFill>
                  <a:srgbClr val="2E8B57"/>
                </a:solidFill>
                <a:latin typeface="Amiri" pitchFamily="2" charset="-78"/>
                <a:ea typeface="Amiri" pitchFamily="2" charset="-78"/>
                <a:cs typeface="Amiri" pitchFamily="2" charset="-78"/>
              </a:rPr>
              <a:t>٤٥</a:t>
            </a:r>
            <a:pPr algn="l" indent="0" marL="0">
              <a:buNone/>
            </a:pPr>
            <a:r>
              <a:rPr lang="en-US" sz="1300" b="1" dirty="0">
                <a:solidFill>
                  <a:srgbClr val="2E8B57"/>
                </a:solidFill>
                <a:latin typeface="Calibri" pitchFamily="34" charset="0"/>
                <a:cs typeface="Amiri" pitchFamily="2" charset="-78"/>
              </a:rPr>
              <a:t> as 45 and say khamsatun wa-arbaʿūna.</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count to ten and use ordinals 1st–5th.</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build compounds: unit + wa + ten.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flip the gender for 3–10.</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11–99 with a singular accusative noun.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repair complex number errors.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الرَّقْمُ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 / number</a:t>
            </a:r>
            <a:endParaRPr lang="en-US" sz="1350" dirty="0"/>
          </a:p>
          <a:p>
            <a:pPr indent="0" marL="0">
              <a:buNone/>
            </a:pPr>
            <a:r>
              <a:rPr lang="en-US" sz="1100" i="1" dirty="0">
                <a:solidFill>
                  <a:srgbClr val="5A6472"/>
                </a:solidFill>
                <a:latin typeface="Calibri" pitchFamily="34" charset="0"/>
                <a:cs typeface="Amiri" pitchFamily="2" charset="-78"/>
              </a:rPr>
              <a:t>ar-raq-mu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٧ · 7</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الْعَدَدُ</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number (word)</a:t>
            </a:r>
            <a:endParaRPr lang="en-US" sz="1350" dirty="0"/>
          </a:p>
          <a:p>
            <a:pPr indent="0" marL="0">
              <a:buNone/>
            </a:pPr>
            <a:r>
              <a:rPr lang="en-US" sz="1100" i="1" dirty="0">
                <a:solidFill>
                  <a:srgbClr val="5A6472"/>
                </a:solidFill>
                <a:latin typeface="Calibri" pitchFamily="34" charset="0"/>
                <a:cs typeface="Amiri" pitchFamily="2" charset="-78"/>
              </a:rPr>
              <a:t>al-ʿa-da-du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سَبْعَةٌ</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الْمَعْدُودُ</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counted noun</a:t>
            </a:r>
            <a:endParaRPr lang="en-US" sz="1350" dirty="0"/>
          </a:p>
          <a:p>
            <a:pPr indent="0" marL="0">
              <a:buNone/>
            </a:pPr>
            <a:r>
              <a:rPr lang="en-US" sz="1100" i="1" dirty="0">
                <a:solidFill>
                  <a:srgbClr val="5A6472"/>
                </a:solidFill>
                <a:latin typeface="Calibri" pitchFamily="34" charset="0"/>
                <a:cs typeface="Amiri" pitchFamily="2" charset="-78"/>
              </a:rPr>
              <a:t>al-maʿ-dū-du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ثَلَاثَةُ كُتُبٍ</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الْعَدَدُ التَّرْتِيبِيُّ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ordinal number</a:t>
            </a:r>
            <a:endParaRPr lang="en-US" sz="1350" dirty="0"/>
          </a:p>
          <a:p>
            <a:pPr indent="0" marL="0">
              <a:buNone/>
            </a:pPr>
            <a:r>
              <a:rPr lang="en-US" sz="1100" i="1" dirty="0">
                <a:solidFill>
                  <a:srgbClr val="5A6472"/>
                </a:solidFill>
                <a:latin typeface="Calibri" pitchFamily="34" charset="0"/>
                <a:cs typeface="Amiri" pitchFamily="2" charset="-78"/>
              </a:rPr>
              <a:t>al-ʿa-da-du at-tar-tī-biy-yu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الْأَوَّلُ · الثَّانِي</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الْمُخَالَفَةُ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gender flip (3–10)</a:t>
            </a:r>
            <a:endParaRPr lang="en-US" sz="1350" dirty="0"/>
          </a:p>
          <a:p>
            <a:pPr indent="0" marL="0">
              <a:buNone/>
            </a:pPr>
            <a:r>
              <a:rPr lang="en-US" sz="1100" i="1" dirty="0">
                <a:solidFill>
                  <a:srgbClr val="5A6472"/>
                </a:solidFill>
                <a:latin typeface="Calibri" pitchFamily="34" charset="0"/>
                <a:cs typeface="Amiri" pitchFamily="2" charset="-78"/>
              </a:rPr>
              <a:t>al-mu-khā-la-fa-tu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ثَلَاثُ بَنَاتٍ</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التَّمْيِيزُ</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noun after 11–99 (singular)</a:t>
            </a:r>
            <a:endParaRPr lang="en-US" sz="1350" dirty="0"/>
          </a:p>
          <a:p>
            <a:pPr indent="0" marL="0">
              <a:buNone/>
            </a:pPr>
            <a:r>
              <a:rPr lang="en-US" sz="1100" i="1" dirty="0">
                <a:solidFill>
                  <a:srgbClr val="5A6472"/>
                </a:solidFill>
                <a:latin typeface="Calibri" pitchFamily="34" charset="0"/>
                <a:cs typeface="Amiri" pitchFamily="2" charset="-78"/>
              </a:rPr>
              <a:t>at-tam-yī-zu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عِشْرُونَ طَالِبًا</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NUMBERS · PART 1 · TWO DIGIT SYSTEMS, ONE STORY (WEBSITE TABLES)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Digits and the first numbers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الْأَرْقَامُ الْهِنْدِيَّةُ وَالْغَرْبِيَّةُ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17" name="Text 14"/>
          <p:cNvSpPr txBox="1"/>
          <p:nvPr/>
        </p:nvSpPr>
        <p:spPr>
          <a:xfrm>
            <a:off x="7205472" y="1810512"/>
            <a:ext cx="1042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Hindi</a:t>
            </a:r>
            <a:endParaRPr lang="en-US" sz="1100" dirty="0"/>
          </a:p>
        </p:txBody>
      </p:sp>
      <p:sp>
        <p:nvSpPr>
          <p:cNvPr id="18" name="Text 15"/>
          <p:cNvSpPr txBox="1"/>
          <p:nvPr/>
        </p:nvSpPr>
        <p:spPr>
          <a:xfrm>
            <a:off x="610819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Digit</a:t>
            </a:r>
            <a:endParaRPr lang="en-US" sz="1100" dirty="0"/>
          </a:p>
        </p:txBody>
      </p:sp>
      <p:sp>
        <p:nvSpPr>
          <p:cNvPr id="19" name="Text 16"/>
          <p:cNvSpPr txBox="1"/>
          <p:nvPr/>
        </p:nvSpPr>
        <p:spPr>
          <a:xfrm>
            <a:off x="2816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20" name="Text 17"/>
          <p:cNvSpPr txBox="1"/>
          <p:nvPr/>
        </p:nvSpPr>
        <p:spPr>
          <a:xfrm>
            <a:off x="1627632" y="1810512"/>
            <a:ext cx="1042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Hindi</a:t>
            </a:r>
            <a:endParaRPr lang="en-US" sz="1100" dirty="0"/>
          </a:p>
        </p:txBody>
      </p:sp>
      <p:sp>
        <p:nvSpPr>
          <p:cNvPr id="21" name="Text 18"/>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Digit</a:t>
            </a:r>
            <a:endParaRPr lang="en-US" sz="1100" dirty="0"/>
          </a:p>
        </p:txBody>
      </p:sp>
      <p:sp>
        <p:nvSpPr>
          <p:cNvPr id="22" name="Shape 19"/>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3" name="Text 20"/>
          <p:cNvSpPr txBox="1"/>
          <p:nvPr/>
        </p:nvSpPr>
        <p:spPr>
          <a:xfrm>
            <a:off x="8412480" y="2267712"/>
            <a:ext cx="32278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سِتَّةٌ</a:t>
            </a:r>
            <a:endParaRPr lang="ar-SA" sz="2400" dirty="0"/>
          </a:p>
        </p:txBody>
      </p:sp>
      <p:sp>
        <p:nvSpPr>
          <p:cNvPr id="24" name="Text 21"/>
          <p:cNvSpPr txBox="1"/>
          <p:nvPr/>
        </p:nvSpPr>
        <p:spPr>
          <a:xfrm>
            <a:off x="7223760" y="2267712"/>
            <a:ext cx="10058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٦</a:t>
            </a:r>
            <a:endParaRPr lang="ar-SA" sz="2600" dirty="0"/>
          </a:p>
        </p:txBody>
      </p:sp>
      <p:sp>
        <p:nvSpPr>
          <p:cNvPr id="25" name="Text 22"/>
          <p:cNvSpPr txBox="1"/>
          <p:nvPr/>
        </p:nvSpPr>
        <p:spPr>
          <a:xfrm>
            <a:off x="614476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26" name="Text 23"/>
          <p:cNvSpPr txBox="1"/>
          <p:nvPr/>
        </p:nvSpPr>
        <p:spPr>
          <a:xfrm>
            <a:off x="2834640" y="2267712"/>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صِفْرٌ</a:t>
            </a:r>
            <a:endParaRPr lang="ar-SA" sz="2400" dirty="0"/>
          </a:p>
        </p:txBody>
      </p:sp>
      <p:sp>
        <p:nvSpPr>
          <p:cNvPr id="27" name="Text 24"/>
          <p:cNvSpPr txBox="1"/>
          <p:nvPr/>
        </p:nvSpPr>
        <p:spPr>
          <a:xfrm>
            <a:off x="1645920" y="2267712"/>
            <a:ext cx="10058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٠</a:t>
            </a:r>
            <a:endParaRPr lang="ar-SA" sz="2600" dirty="0"/>
          </a:p>
        </p:txBody>
      </p:sp>
      <p:sp>
        <p:nvSpPr>
          <p:cNvPr id="28" name="Text 25"/>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0</a:t>
            </a:r>
            <a:endParaRPr lang="en-US" sz="1100" dirty="0"/>
          </a:p>
        </p:txBody>
      </p:sp>
      <p:sp>
        <p:nvSpPr>
          <p:cNvPr id="29" name="Shape 26"/>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8412480" y="2881884"/>
            <a:ext cx="32278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سَبْعَةٌ</a:t>
            </a:r>
            <a:endParaRPr lang="ar-SA" sz="2400" dirty="0"/>
          </a:p>
        </p:txBody>
      </p:sp>
      <p:sp>
        <p:nvSpPr>
          <p:cNvPr id="33" name="Text 30"/>
          <p:cNvSpPr txBox="1"/>
          <p:nvPr/>
        </p:nvSpPr>
        <p:spPr>
          <a:xfrm>
            <a:off x="7223760" y="2881884"/>
            <a:ext cx="10058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٧</a:t>
            </a:r>
            <a:endParaRPr lang="ar-SA" sz="2600" dirty="0"/>
          </a:p>
        </p:txBody>
      </p:sp>
      <p:sp>
        <p:nvSpPr>
          <p:cNvPr id="34" name="Text 31"/>
          <p:cNvSpPr txBox="1"/>
          <p:nvPr/>
        </p:nvSpPr>
        <p:spPr>
          <a:xfrm>
            <a:off x="614476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35" name="Text 32"/>
          <p:cNvSpPr txBox="1"/>
          <p:nvPr/>
        </p:nvSpPr>
        <p:spPr>
          <a:xfrm>
            <a:off x="2834640" y="2881884"/>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وَاحِدٌ</a:t>
            </a:r>
            <a:endParaRPr lang="ar-SA" sz="2400" dirty="0"/>
          </a:p>
        </p:txBody>
      </p:sp>
      <p:sp>
        <p:nvSpPr>
          <p:cNvPr id="36" name="Text 33"/>
          <p:cNvSpPr txBox="1"/>
          <p:nvPr/>
        </p:nvSpPr>
        <p:spPr>
          <a:xfrm>
            <a:off x="1645920" y="2881884"/>
            <a:ext cx="10058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١</a:t>
            </a:r>
            <a:endParaRPr lang="ar-SA" sz="2600" dirty="0"/>
          </a:p>
        </p:txBody>
      </p:sp>
      <p:sp>
        <p:nvSpPr>
          <p:cNvPr id="37" name="Text 34"/>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8" name="Shape 35"/>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41" name="Text 38"/>
          <p:cNvSpPr txBox="1"/>
          <p:nvPr/>
        </p:nvSpPr>
        <p:spPr>
          <a:xfrm>
            <a:off x="8412480" y="3496056"/>
            <a:ext cx="32278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ثَمَانِيَةٌ</a:t>
            </a:r>
            <a:endParaRPr lang="ar-SA" sz="2400" dirty="0"/>
          </a:p>
        </p:txBody>
      </p:sp>
      <p:sp>
        <p:nvSpPr>
          <p:cNvPr id="42" name="Text 39"/>
          <p:cNvSpPr txBox="1"/>
          <p:nvPr/>
        </p:nvSpPr>
        <p:spPr>
          <a:xfrm>
            <a:off x="7223760" y="3496056"/>
            <a:ext cx="10058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٨</a:t>
            </a:r>
            <a:endParaRPr lang="ar-SA" sz="2600" dirty="0"/>
          </a:p>
        </p:txBody>
      </p:sp>
      <p:sp>
        <p:nvSpPr>
          <p:cNvPr id="43" name="Text 40"/>
          <p:cNvSpPr txBox="1"/>
          <p:nvPr/>
        </p:nvSpPr>
        <p:spPr>
          <a:xfrm>
            <a:off x="614476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44" name="Text 41"/>
          <p:cNvSpPr txBox="1"/>
          <p:nvPr/>
        </p:nvSpPr>
        <p:spPr>
          <a:xfrm>
            <a:off x="2834640" y="3496056"/>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اِثْنَانِ</a:t>
            </a:r>
            <a:endParaRPr lang="ar-SA" sz="2400" dirty="0"/>
          </a:p>
        </p:txBody>
      </p:sp>
      <p:sp>
        <p:nvSpPr>
          <p:cNvPr id="45" name="Text 42"/>
          <p:cNvSpPr txBox="1"/>
          <p:nvPr/>
        </p:nvSpPr>
        <p:spPr>
          <a:xfrm>
            <a:off x="1645920" y="3496056"/>
            <a:ext cx="10058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٢</a:t>
            </a:r>
            <a:endParaRPr lang="ar-SA" sz="2600" dirty="0"/>
          </a:p>
        </p:txBody>
      </p:sp>
      <p:sp>
        <p:nvSpPr>
          <p:cNvPr id="46" name="Text 43"/>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47" name="Shape 44"/>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412480" y="4110228"/>
            <a:ext cx="32278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تِسْعَةٌ</a:t>
            </a:r>
            <a:endParaRPr lang="ar-SA" sz="2400" dirty="0"/>
          </a:p>
        </p:txBody>
      </p:sp>
      <p:sp>
        <p:nvSpPr>
          <p:cNvPr id="51" name="Text 48"/>
          <p:cNvSpPr txBox="1"/>
          <p:nvPr/>
        </p:nvSpPr>
        <p:spPr>
          <a:xfrm>
            <a:off x="7223760" y="4110228"/>
            <a:ext cx="10058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٩</a:t>
            </a:r>
            <a:endParaRPr lang="ar-SA" sz="2600" dirty="0"/>
          </a:p>
        </p:txBody>
      </p:sp>
      <p:sp>
        <p:nvSpPr>
          <p:cNvPr id="52" name="Text 49"/>
          <p:cNvSpPr txBox="1"/>
          <p:nvPr/>
        </p:nvSpPr>
        <p:spPr>
          <a:xfrm>
            <a:off x="614476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9</a:t>
            </a:r>
            <a:endParaRPr lang="en-US" sz="1100" dirty="0"/>
          </a:p>
        </p:txBody>
      </p:sp>
      <p:sp>
        <p:nvSpPr>
          <p:cNvPr id="53" name="Text 50"/>
          <p:cNvSpPr txBox="1"/>
          <p:nvPr/>
        </p:nvSpPr>
        <p:spPr>
          <a:xfrm>
            <a:off x="2834640" y="4110228"/>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ثَلَاثَةٌ</a:t>
            </a:r>
            <a:endParaRPr lang="ar-SA" sz="2400" dirty="0"/>
          </a:p>
        </p:txBody>
      </p:sp>
      <p:sp>
        <p:nvSpPr>
          <p:cNvPr id="54" name="Text 51"/>
          <p:cNvSpPr txBox="1"/>
          <p:nvPr/>
        </p:nvSpPr>
        <p:spPr>
          <a:xfrm>
            <a:off x="1645920" y="4110228"/>
            <a:ext cx="10058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٣</a:t>
            </a:r>
            <a:endParaRPr lang="ar-SA" sz="2600" dirty="0"/>
          </a:p>
        </p:txBody>
      </p:sp>
      <p:sp>
        <p:nvSpPr>
          <p:cNvPr id="55" name="Text 52"/>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56" name="Shape 5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8" name="Shape 5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9" name="Text 56"/>
          <p:cNvSpPr txBox="1"/>
          <p:nvPr/>
        </p:nvSpPr>
        <p:spPr>
          <a:xfrm>
            <a:off x="8412480" y="4724400"/>
            <a:ext cx="32278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عَشَرَةٌ</a:t>
            </a:r>
            <a:endParaRPr lang="ar-SA" sz="2400" dirty="0"/>
          </a:p>
        </p:txBody>
      </p:sp>
      <p:sp>
        <p:nvSpPr>
          <p:cNvPr id="60" name="Text 57"/>
          <p:cNvSpPr txBox="1"/>
          <p:nvPr/>
        </p:nvSpPr>
        <p:spPr>
          <a:xfrm>
            <a:off x="7223760" y="4724400"/>
            <a:ext cx="10058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١٠</a:t>
            </a:r>
            <a:endParaRPr lang="ar-SA" sz="2600" dirty="0"/>
          </a:p>
        </p:txBody>
      </p:sp>
      <p:sp>
        <p:nvSpPr>
          <p:cNvPr id="61" name="Text 58"/>
          <p:cNvSpPr txBox="1"/>
          <p:nvPr/>
        </p:nvSpPr>
        <p:spPr>
          <a:xfrm>
            <a:off x="614476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62" name="Text 59"/>
          <p:cNvSpPr txBox="1"/>
          <p:nvPr/>
        </p:nvSpPr>
        <p:spPr>
          <a:xfrm>
            <a:off x="2834640" y="4724400"/>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أَرْبَعَةٌ</a:t>
            </a:r>
            <a:endParaRPr lang="ar-SA" sz="2400" dirty="0"/>
          </a:p>
        </p:txBody>
      </p:sp>
      <p:sp>
        <p:nvSpPr>
          <p:cNvPr id="63" name="Text 60"/>
          <p:cNvSpPr txBox="1"/>
          <p:nvPr/>
        </p:nvSpPr>
        <p:spPr>
          <a:xfrm>
            <a:off x="1645920" y="4724400"/>
            <a:ext cx="10058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٤</a:t>
            </a:r>
            <a:endParaRPr lang="ar-SA" sz="2600" dirty="0"/>
          </a:p>
        </p:txBody>
      </p:sp>
      <p:sp>
        <p:nvSpPr>
          <p:cNvPr id="64" name="Text 61"/>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65" name="Shape 62"/>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7" name="Shape 6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8" name="Text 65"/>
          <p:cNvSpPr txBox="1"/>
          <p:nvPr/>
        </p:nvSpPr>
        <p:spPr>
          <a:xfrm>
            <a:off x="8412480" y="5338572"/>
            <a:ext cx="32278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مِئَةٌ</a:t>
            </a:r>
            <a:endParaRPr lang="ar-SA" sz="2400" dirty="0"/>
          </a:p>
        </p:txBody>
      </p:sp>
      <p:sp>
        <p:nvSpPr>
          <p:cNvPr id="69" name="Text 66"/>
          <p:cNvSpPr txBox="1"/>
          <p:nvPr/>
        </p:nvSpPr>
        <p:spPr>
          <a:xfrm>
            <a:off x="7223760" y="5338572"/>
            <a:ext cx="10058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١٠٠</a:t>
            </a:r>
            <a:endParaRPr lang="ar-SA" sz="2600" dirty="0"/>
          </a:p>
        </p:txBody>
      </p:sp>
      <p:sp>
        <p:nvSpPr>
          <p:cNvPr id="70" name="Text 67"/>
          <p:cNvSpPr txBox="1"/>
          <p:nvPr/>
        </p:nvSpPr>
        <p:spPr>
          <a:xfrm>
            <a:off x="614476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100</a:t>
            </a:r>
            <a:endParaRPr lang="en-US" sz="1100" dirty="0"/>
          </a:p>
        </p:txBody>
      </p:sp>
      <p:sp>
        <p:nvSpPr>
          <p:cNvPr id="71" name="Text 68"/>
          <p:cNvSpPr txBox="1"/>
          <p:nvPr/>
        </p:nvSpPr>
        <p:spPr>
          <a:xfrm>
            <a:off x="2834640" y="5338572"/>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خَمْسَةٌ</a:t>
            </a:r>
            <a:endParaRPr lang="ar-SA" sz="2400" dirty="0"/>
          </a:p>
        </p:txBody>
      </p:sp>
      <p:sp>
        <p:nvSpPr>
          <p:cNvPr id="72" name="Text 69"/>
          <p:cNvSpPr txBox="1"/>
          <p:nvPr/>
        </p:nvSpPr>
        <p:spPr>
          <a:xfrm>
            <a:off x="1645920" y="5338572"/>
            <a:ext cx="10058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٥</a:t>
            </a:r>
            <a:endParaRPr lang="ar-SA" sz="2600" dirty="0"/>
          </a:p>
        </p:txBody>
      </p:sp>
      <p:sp>
        <p:nvSpPr>
          <p:cNvPr id="73" name="Text 70"/>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74" name="Shape 71"/>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76" name="Text 7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key facts: numbers are written LEFT to right, even inside Arabic (</a:t>
            </a:r>
            <a:pPr algn="l" indent="0" marL="0">
              <a:buNone/>
            </a:pPr>
            <a:r>
              <a:rPr lang="ar-SA" altLang="en-US" sz="1450" b="1" dirty="0">
                <a:solidFill>
                  <a:srgbClr val="1B3B6F"/>
                </a:solidFill>
                <a:latin typeface="Amiri" pitchFamily="2" charset="-78"/>
                <a:ea typeface="Amiri" pitchFamily="2" charset="-78"/>
                <a:cs typeface="Amiri" pitchFamily="2" charset="-78"/>
              </a:rPr>
              <a:t>٢٠٢٦</a:t>
            </a:r>
            <a:pPr algn="l" indent="0" marL="0">
              <a:buNone/>
            </a:pPr>
            <a:r>
              <a:rPr lang="en-US" sz="1100" b="1" dirty="0">
                <a:solidFill>
                  <a:srgbClr val="1B3B6F"/>
                </a:solidFill>
                <a:latin typeface="Calibri" pitchFamily="34" charset="0"/>
                <a:cs typeface="Amiri" pitchFamily="2" charset="-78"/>
              </a:rPr>
              <a:t> = 2026). Traps: </a:t>
            </a:r>
            <a:pPr algn="l" indent="0" marL="0">
              <a:buNone/>
            </a:pPr>
            <a:r>
              <a:rPr lang="ar-SA" altLang="en-US" sz="1450" b="1" dirty="0">
                <a:solidFill>
                  <a:srgbClr val="1B3B6F"/>
                </a:solidFill>
                <a:latin typeface="Amiri" pitchFamily="2" charset="-78"/>
                <a:ea typeface="Amiri" pitchFamily="2" charset="-78"/>
                <a:cs typeface="Amiri" pitchFamily="2" charset="-78"/>
              </a:rPr>
              <a:t>٥</a:t>
            </a:r>
            <a:pPr algn="l" indent="0" marL="0">
              <a:buNone/>
            </a:pPr>
            <a:r>
              <a:rPr lang="en-US" sz="1100" b="1" dirty="0">
                <a:solidFill>
                  <a:srgbClr val="1B3B6F"/>
                </a:solidFill>
                <a:latin typeface="Calibri" pitchFamily="34" charset="0"/>
                <a:cs typeface="Amiri" pitchFamily="2" charset="-78"/>
              </a:rPr>
              <a:t> looks like 0 but is 5; </a:t>
            </a:r>
            <a:pPr algn="l" indent="0" marL="0">
              <a:buNone/>
            </a:pPr>
            <a:r>
              <a:rPr lang="ar-SA" altLang="en-US" sz="1450" b="1" dirty="0">
                <a:solidFill>
                  <a:srgbClr val="1B3B6F"/>
                </a:solidFill>
                <a:latin typeface="Amiri" pitchFamily="2" charset="-78"/>
                <a:ea typeface="Amiri" pitchFamily="2" charset="-78"/>
                <a:cs typeface="Amiri" pitchFamily="2" charset="-78"/>
              </a:rPr>
              <a:t>٦</a:t>
            </a:r>
            <a:pPr algn="l" indent="0" marL="0">
              <a:buNone/>
            </a:pPr>
            <a:r>
              <a:rPr lang="en-US" sz="1100" b="1" dirty="0">
                <a:solidFill>
                  <a:srgbClr val="1B3B6F"/>
                </a:solidFill>
                <a:latin typeface="Calibri" pitchFamily="34" charset="0"/>
                <a:cs typeface="Amiri" pitchFamily="2" charset="-78"/>
              </a:rPr>
              <a:t> looks like 7 but is 6 — “the dot is zero, the ring is five”.</a:t>
            </a:r>
            <a:endParaRPr lang="en-US" sz="110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NUMBERS · PART 2 · BUILDING 11–100 (WEBSITE PATTERNS)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Three patterns build every number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أَحَدَ عَشَرَ إِلَى مِئَةٍ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7" name="Text 14"/>
          <p:cNvSpPr txBox="1"/>
          <p:nvPr/>
        </p:nvSpPr>
        <p:spPr>
          <a:xfrm>
            <a:off x="327355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Words</a:t>
            </a:r>
            <a:endParaRPr lang="en-US" sz="1100" dirty="0"/>
          </a:p>
        </p:txBody>
      </p:sp>
      <p:sp>
        <p:nvSpPr>
          <p:cNvPr id="18" name="Text 15"/>
          <p:cNvSpPr txBox="1"/>
          <p:nvPr/>
        </p:nvSpPr>
        <p:spPr>
          <a:xfrm>
            <a:off x="181051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Hindi</a:t>
            </a:r>
            <a:endParaRPr lang="en-US" sz="1100" dirty="0"/>
          </a:p>
        </p:txBody>
      </p:sp>
      <p:sp>
        <p:nvSpPr>
          <p:cNvPr id="19" name="Text 16"/>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Figure</a:t>
            </a:r>
            <a:endParaRPr lang="en-US" sz="1100" dirty="0"/>
          </a:p>
        </p:txBody>
      </p:sp>
      <p:sp>
        <p:nvSpPr>
          <p:cNvPr id="20" name="Shape 17"/>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1" name="Text 18"/>
          <p:cNvSpPr txBox="1"/>
          <p:nvPr/>
        </p:nvSpPr>
        <p:spPr>
          <a:xfrm>
            <a:off x="7882128" y="2267712"/>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teens: unit + ʿashara</a:t>
            </a:r>
            <a:endParaRPr lang="en-US" sz="1100" dirty="0"/>
          </a:p>
        </p:txBody>
      </p:sp>
      <p:sp>
        <p:nvSpPr>
          <p:cNvPr id="22" name="Text 19"/>
          <p:cNvSpPr txBox="1"/>
          <p:nvPr/>
        </p:nvSpPr>
        <p:spPr>
          <a:xfrm>
            <a:off x="3291840" y="2267712"/>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أَحَدَ عَشَرَ</a:t>
            </a:r>
            <a:endParaRPr lang="ar-SA" sz="2200" dirty="0"/>
          </a:p>
        </p:txBody>
      </p:sp>
      <p:sp>
        <p:nvSpPr>
          <p:cNvPr id="23" name="Text 20"/>
          <p:cNvSpPr txBox="1"/>
          <p:nvPr/>
        </p:nvSpPr>
        <p:spPr>
          <a:xfrm>
            <a:off x="1828800" y="2267712"/>
            <a:ext cx="1280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١١</a:t>
            </a:r>
            <a:endParaRPr lang="ar-SA" sz="2200" dirty="0"/>
          </a:p>
        </p:txBody>
      </p:sp>
      <p:sp>
        <p:nvSpPr>
          <p:cNvPr id="24" name="Text 21"/>
          <p:cNvSpPr txBox="1"/>
          <p:nvPr/>
        </p:nvSpPr>
        <p:spPr>
          <a:xfrm>
            <a:off x="566928" y="2267712"/>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8" name="Text 25"/>
          <p:cNvSpPr txBox="1"/>
          <p:nvPr/>
        </p:nvSpPr>
        <p:spPr>
          <a:xfrm>
            <a:off x="7882128" y="2794145"/>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teens (both parts fatḥa)</a:t>
            </a:r>
            <a:endParaRPr lang="en-US" sz="1100" dirty="0"/>
          </a:p>
        </p:txBody>
      </p:sp>
      <p:sp>
        <p:nvSpPr>
          <p:cNvPr id="29" name="Text 26"/>
          <p:cNvSpPr txBox="1"/>
          <p:nvPr/>
        </p:nvSpPr>
        <p:spPr>
          <a:xfrm>
            <a:off x="3291840" y="2794145"/>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اِثْنَا عَشَرَ</a:t>
            </a:r>
            <a:endParaRPr lang="ar-SA" sz="2200" dirty="0"/>
          </a:p>
        </p:txBody>
      </p:sp>
      <p:sp>
        <p:nvSpPr>
          <p:cNvPr id="30" name="Text 27"/>
          <p:cNvSpPr txBox="1"/>
          <p:nvPr/>
        </p:nvSpPr>
        <p:spPr>
          <a:xfrm>
            <a:off x="1828800" y="2794145"/>
            <a:ext cx="1280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١٢</a:t>
            </a:r>
            <a:endParaRPr lang="ar-SA" sz="2200" dirty="0"/>
          </a:p>
        </p:txBody>
      </p:sp>
      <p:sp>
        <p:nvSpPr>
          <p:cNvPr id="31" name="Text 28"/>
          <p:cNvSpPr txBox="1"/>
          <p:nvPr/>
        </p:nvSpPr>
        <p:spPr>
          <a:xfrm>
            <a:off x="566928" y="2794145"/>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a:t>
            </a:r>
            <a:endParaRPr lang="en-US" sz="1100" dirty="0"/>
          </a:p>
        </p:txBody>
      </p:sp>
      <p:sp>
        <p:nvSpPr>
          <p:cNvPr id="32" name="Shape 29"/>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3" name="Text 30"/>
          <p:cNvSpPr txBox="1"/>
          <p:nvPr/>
        </p:nvSpPr>
        <p:spPr>
          <a:xfrm>
            <a:off x="7882128" y="3320578"/>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teens</a:t>
            </a:r>
            <a:endParaRPr lang="en-US" sz="1100" dirty="0"/>
          </a:p>
        </p:txBody>
      </p:sp>
      <p:sp>
        <p:nvSpPr>
          <p:cNvPr id="34" name="Text 31"/>
          <p:cNvSpPr txBox="1"/>
          <p:nvPr/>
        </p:nvSpPr>
        <p:spPr>
          <a:xfrm>
            <a:off x="3291840" y="3320578"/>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خَمْسَةَ عَشَرَ</a:t>
            </a:r>
            <a:endParaRPr lang="ar-SA" sz="2200" dirty="0"/>
          </a:p>
        </p:txBody>
      </p:sp>
      <p:sp>
        <p:nvSpPr>
          <p:cNvPr id="35" name="Text 32"/>
          <p:cNvSpPr txBox="1"/>
          <p:nvPr/>
        </p:nvSpPr>
        <p:spPr>
          <a:xfrm>
            <a:off x="1828800" y="3320578"/>
            <a:ext cx="1280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١٥</a:t>
            </a:r>
            <a:endParaRPr lang="ar-SA" sz="2200" dirty="0"/>
          </a:p>
        </p:txBody>
      </p:sp>
      <p:sp>
        <p:nvSpPr>
          <p:cNvPr id="36" name="Text 33"/>
          <p:cNvSpPr txBox="1"/>
          <p:nvPr/>
        </p:nvSpPr>
        <p:spPr>
          <a:xfrm>
            <a:off x="566928" y="3320578"/>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37" name="Shape 34"/>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40" name="Text 37"/>
          <p:cNvSpPr txBox="1"/>
          <p:nvPr/>
        </p:nvSpPr>
        <p:spPr>
          <a:xfrm>
            <a:off x="7882128" y="3847011"/>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tens: -ūna (20 from ʿashara)</a:t>
            </a:r>
            <a:endParaRPr lang="en-US" sz="1100" dirty="0"/>
          </a:p>
        </p:txBody>
      </p:sp>
      <p:sp>
        <p:nvSpPr>
          <p:cNvPr id="41" name="Text 38"/>
          <p:cNvSpPr txBox="1"/>
          <p:nvPr/>
        </p:nvSpPr>
        <p:spPr>
          <a:xfrm>
            <a:off x="3291840" y="3847011"/>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عِشْرُونَ</a:t>
            </a:r>
            <a:endParaRPr lang="ar-SA" sz="2200" dirty="0"/>
          </a:p>
        </p:txBody>
      </p:sp>
      <p:sp>
        <p:nvSpPr>
          <p:cNvPr id="42" name="Text 39"/>
          <p:cNvSpPr txBox="1"/>
          <p:nvPr/>
        </p:nvSpPr>
        <p:spPr>
          <a:xfrm>
            <a:off x="1828800" y="3847011"/>
            <a:ext cx="1280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٢٠</a:t>
            </a:r>
            <a:endParaRPr lang="ar-SA" sz="2200" dirty="0"/>
          </a:p>
        </p:txBody>
      </p:sp>
      <p:sp>
        <p:nvSpPr>
          <p:cNvPr id="43" name="Text 40"/>
          <p:cNvSpPr txBox="1"/>
          <p:nvPr/>
        </p:nvSpPr>
        <p:spPr>
          <a:xfrm>
            <a:off x="566928" y="3847011"/>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44" name="Shape 41"/>
          <p:cNvSpPr/>
          <p:nvPr/>
        </p:nvSpPr>
        <p:spPr>
          <a:xfrm>
            <a:off x="11091672" y="3892731"/>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389273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47" name="Text 44"/>
          <p:cNvSpPr txBox="1"/>
          <p:nvPr/>
        </p:nvSpPr>
        <p:spPr>
          <a:xfrm>
            <a:off x="7882128" y="4373445"/>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tens: unit + -ūna</a:t>
            </a:r>
            <a:endParaRPr lang="en-US" sz="1100" dirty="0"/>
          </a:p>
        </p:txBody>
      </p:sp>
      <p:sp>
        <p:nvSpPr>
          <p:cNvPr id="48" name="Text 45"/>
          <p:cNvSpPr txBox="1"/>
          <p:nvPr/>
        </p:nvSpPr>
        <p:spPr>
          <a:xfrm>
            <a:off x="3291840" y="4373445"/>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أَرْبَعُونَ</a:t>
            </a:r>
            <a:endParaRPr lang="ar-SA" sz="2200" dirty="0"/>
          </a:p>
        </p:txBody>
      </p:sp>
      <p:sp>
        <p:nvSpPr>
          <p:cNvPr id="49" name="Text 46"/>
          <p:cNvSpPr txBox="1"/>
          <p:nvPr/>
        </p:nvSpPr>
        <p:spPr>
          <a:xfrm>
            <a:off x="1828800" y="4373445"/>
            <a:ext cx="1280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٤٠</a:t>
            </a:r>
            <a:endParaRPr lang="ar-SA" sz="2200" dirty="0"/>
          </a:p>
        </p:txBody>
      </p:sp>
      <p:sp>
        <p:nvSpPr>
          <p:cNvPr id="50" name="Text 47"/>
          <p:cNvSpPr txBox="1"/>
          <p:nvPr/>
        </p:nvSpPr>
        <p:spPr>
          <a:xfrm>
            <a:off x="566928" y="4373445"/>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40</a:t>
            </a:r>
            <a:endParaRPr lang="en-US" sz="1100" dirty="0"/>
          </a:p>
        </p:txBody>
      </p:sp>
      <p:sp>
        <p:nvSpPr>
          <p:cNvPr id="51" name="Shape 48"/>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52" name="Text 49"/>
          <p:cNvSpPr txBox="1"/>
          <p:nvPr/>
        </p:nvSpPr>
        <p:spPr>
          <a:xfrm>
            <a:off x="7882128" y="4899878"/>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unit FIRST + wa + ten</a:t>
            </a:r>
            <a:endParaRPr lang="en-US" sz="1100" dirty="0"/>
          </a:p>
        </p:txBody>
      </p:sp>
      <p:sp>
        <p:nvSpPr>
          <p:cNvPr id="53" name="Text 50"/>
          <p:cNvSpPr txBox="1"/>
          <p:nvPr/>
        </p:nvSpPr>
        <p:spPr>
          <a:xfrm>
            <a:off x="3291840" y="4899878"/>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خَمْسَةٌ وَعِشْرُونَ</a:t>
            </a:r>
            <a:endParaRPr lang="ar-SA" sz="2200" dirty="0"/>
          </a:p>
        </p:txBody>
      </p:sp>
      <p:sp>
        <p:nvSpPr>
          <p:cNvPr id="54" name="Text 51"/>
          <p:cNvSpPr txBox="1"/>
          <p:nvPr/>
        </p:nvSpPr>
        <p:spPr>
          <a:xfrm>
            <a:off x="1828800" y="4899878"/>
            <a:ext cx="1280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٢٥</a:t>
            </a:r>
            <a:endParaRPr lang="ar-SA" sz="2200" dirty="0"/>
          </a:p>
        </p:txBody>
      </p:sp>
      <p:sp>
        <p:nvSpPr>
          <p:cNvPr id="55" name="Text 52"/>
          <p:cNvSpPr txBox="1"/>
          <p:nvPr/>
        </p:nvSpPr>
        <p:spPr>
          <a:xfrm>
            <a:off x="566928" y="4899878"/>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25</a:t>
            </a:r>
            <a:endParaRPr lang="en-US" sz="1100" dirty="0"/>
          </a:p>
        </p:txBody>
      </p:sp>
      <p:sp>
        <p:nvSpPr>
          <p:cNvPr id="56" name="Shape 53"/>
          <p:cNvSpPr/>
          <p:nvPr/>
        </p:nvSpPr>
        <p:spPr>
          <a:xfrm>
            <a:off x="11091672" y="4945598"/>
            <a:ext cx="548640" cy="182880"/>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1091672" y="49455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8" name="Shape 55"/>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59" name="Text 56"/>
          <p:cNvSpPr txBox="1"/>
          <p:nvPr/>
        </p:nvSpPr>
        <p:spPr>
          <a:xfrm>
            <a:off x="7882128" y="5426311"/>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hundreds come first</a:t>
            </a:r>
            <a:endParaRPr lang="en-US" sz="1100" dirty="0"/>
          </a:p>
        </p:txBody>
      </p:sp>
      <p:sp>
        <p:nvSpPr>
          <p:cNvPr id="60" name="Text 57"/>
          <p:cNvSpPr txBox="1"/>
          <p:nvPr/>
        </p:nvSpPr>
        <p:spPr>
          <a:xfrm>
            <a:off x="3291840" y="5426311"/>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مِئَةٌ وَخَمْسَةٌ</a:t>
            </a:r>
            <a:endParaRPr lang="ar-SA" sz="2200" dirty="0"/>
          </a:p>
        </p:txBody>
      </p:sp>
      <p:sp>
        <p:nvSpPr>
          <p:cNvPr id="61" name="Text 58"/>
          <p:cNvSpPr txBox="1"/>
          <p:nvPr/>
        </p:nvSpPr>
        <p:spPr>
          <a:xfrm>
            <a:off x="1828800" y="5426311"/>
            <a:ext cx="1280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١٠٥</a:t>
            </a:r>
            <a:endParaRPr lang="ar-SA" sz="2200" dirty="0"/>
          </a:p>
        </p:txBody>
      </p:sp>
      <p:sp>
        <p:nvSpPr>
          <p:cNvPr id="62" name="Text 59"/>
          <p:cNvSpPr txBox="1"/>
          <p:nvPr/>
        </p:nvSpPr>
        <p:spPr>
          <a:xfrm>
            <a:off x="566928" y="5426311"/>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105</a:t>
            </a:r>
            <a:endParaRPr lang="en-US" sz="1100" dirty="0"/>
          </a:p>
        </p:txBody>
      </p:sp>
      <p:sp>
        <p:nvSpPr>
          <p:cNvPr id="63" name="Text 6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trap: when you HEAR khamsatun wa-ʿishrūna, do not write 52 — you hear “5 and 20”, you write 25.</a:t>
            </a:r>
            <a:endParaRPr lang="en-US" sz="11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NUMBERS · PART 3 · THE GOLDEN RULES OF AGREEMENT (WEBSITE TABLES)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Follow (1–2) — flip (3–10)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الْعَدَدُ وَالْمَعْدُودُ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63825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272491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613648" y="226771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the noun, same gender</a:t>
            </a:r>
            <a:endParaRPr lang="en-US" sz="1100" dirty="0"/>
          </a:p>
        </p:txBody>
      </p:sp>
      <p:sp>
        <p:nvSpPr>
          <p:cNvPr id="22" name="Text 19"/>
          <p:cNvSpPr txBox="1"/>
          <p:nvPr/>
        </p:nvSpPr>
        <p:spPr>
          <a:xfrm>
            <a:off x="641908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book · one car</a:t>
            </a:r>
            <a:endParaRPr lang="en-US" sz="1100" dirty="0"/>
          </a:p>
        </p:txBody>
      </p:sp>
      <p:sp>
        <p:nvSpPr>
          <p:cNvPr id="23" name="Text 20"/>
          <p:cNvSpPr txBox="1"/>
          <p:nvPr/>
        </p:nvSpPr>
        <p:spPr>
          <a:xfrm>
            <a:off x="2743200" y="2267712"/>
            <a:ext cx="34747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 وَاحِدٌ · سَيَّارَةٌ وَاحِدَةٌ</a:t>
            </a:r>
            <a:endParaRPr lang="ar-SA" sz="2400" dirty="0"/>
          </a:p>
        </p:txBody>
      </p:sp>
      <p:sp>
        <p:nvSpPr>
          <p:cNvPr id="24" name="Text 21"/>
          <p:cNvSpPr txBox="1"/>
          <p:nvPr/>
        </p:nvSpPr>
        <p:spPr>
          <a:xfrm>
            <a:off x="56692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follows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613648" y="2881884"/>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 same gender</a:t>
            </a:r>
            <a:endParaRPr lang="en-US" sz="1100" dirty="0"/>
          </a:p>
        </p:txBody>
      </p:sp>
      <p:sp>
        <p:nvSpPr>
          <p:cNvPr id="29" name="Text 26"/>
          <p:cNvSpPr txBox="1"/>
          <p:nvPr/>
        </p:nvSpPr>
        <p:spPr>
          <a:xfrm>
            <a:off x="641908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girls</a:t>
            </a:r>
            <a:endParaRPr lang="en-US" sz="1100" dirty="0"/>
          </a:p>
        </p:txBody>
      </p:sp>
      <p:sp>
        <p:nvSpPr>
          <p:cNvPr id="30" name="Text 27"/>
          <p:cNvSpPr txBox="1"/>
          <p:nvPr/>
        </p:nvSpPr>
        <p:spPr>
          <a:xfrm>
            <a:off x="2743200" y="2881884"/>
            <a:ext cx="34747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بِنْتَانِ اثْنَتَانِ</a:t>
            </a:r>
            <a:endParaRPr lang="ar-SA" sz="2400" dirty="0"/>
          </a:p>
        </p:txBody>
      </p:sp>
      <p:sp>
        <p:nvSpPr>
          <p:cNvPr id="31" name="Text 28"/>
          <p:cNvSpPr txBox="1"/>
          <p:nvPr/>
        </p:nvSpPr>
        <p:spPr>
          <a:xfrm>
            <a:off x="56692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follows</a:t>
            </a:r>
            <a:endParaRPr lang="en-US" sz="1100" dirty="0"/>
          </a:p>
        </p:txBody>
      </p:sp>
      <p:sp>
        <p:nvSpPr>
          <p:cNvPr id="32" name="Shape 29"/>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3" name="Text 30"/>
          <p:cNvSpPr txBox="1"/>
          <p:nvPr/>
        </p:nvSpPr>
        <p:spPr>
          <a:xfrm>
            <a:off x="8613648" y="3496056"/>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walad masc. → number with </a:t>
            </a:r>
            <a:pPr algn="l" indent="0" marL="0">
              <a:buNone/>
            </a:pPr>
            <a:r>
              <a:rPr lang="ar-SA" altLang="en-US" sz="1450" dirty="0">
                <a:solidFill>
                  <a:srgbClr val="5A6472"/>
                </a:solidFill>
                <a:latin typeface="Amiri" pitchFamily="2" charset="-78"/>
                <a:ea typeface="Amiri" pitchFamily="2" charset="-78"/>
                <a:cs typeface="Amiri" pitchFamily="2" charset="-78"/>
              </a:rPr>
              <a:t>ة</a:t>
            </a:r>
            <a:endParaRPr lang="en-US" sz="1100" dirty="0"/>
          </a:p>
        </p:txBody>
      </p:sp>
      <p:sp>
        <p:nvSpPr>
          <p:cNvPr id="34" name="Text 31"/>
          <p:cNvSpPr txBox="1"/>
          <p:nvPr/>
        </p:nvSpPr>
        <p:spPr>
          <a:xfrm>
            <a:off x="641908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boys</a:t>
            </a:r>
            <a:endParaRPr lang="en-US" sz="1100" dirty="0"/>
          </a:p>
        </p:txBody>
      </p:sp>
      <p:sp>
        <p:nvSpPr>
          <p:cNvPr id="35" name="Text 32"/>
          <p:cNvSpPr txBox="1"/>
          <p:nvPr/>
        </p:nvSpPr>
        <p:spPr>
          <a:xfrm>
            <a:off x="2743200" y="3496056"/>
            <a:ext cx="34747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ثَلَاثَةُ أَوْلَادٍ</a:t>
            </a:r>
            <a:endParaRPr lang="ar-SA" sz="2400" dirty="0"/>
          </a:p>
        </p:txBody>
      </p:sp>
      <p:sp>
        <p:nvSpPr>
          <p:cNvPr id="36" name="Text 33"/>
          <p:cNvSpPr txBox="1"/>
          <p:nvPr/>
        </p:nvSpPr>
        <p:spPr>
          <a:xfrm>
            <a:off x="56692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3–10 · flip</a:t>
            </a:r>
            <a:endParaRPr lang="en-US" sz="1100" dirty="0"/>
          </a:p>
        </p:txBody>
      </p:sp>
      <p:sp>
        <p:nvSpPr>
          <p:cNvPr id="37" name="Shape 34"/>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8613648" y="4110228"/>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bint fem. → number without </a:t>
            </a:r>
            <a:pPr algn="l" indent="0" marL="0">
              <a:buNone/>
            </a:pPr>
            <a:r>
              <a:rPr lang="ar-SA" altLang="en-US" sz="1450" dirty="0">
                <a:solidFill>
                  <a:srgbClr val="5A6472"/>
                </a:solidFill>
                <a:latin typeface="Amiri" pitchFamily="2" charset="-78"/>
                <a:ea typeface="Amiri" pitchFamily="2" charset="-78"/>
                <a:cs typeface="Amiri" pitchFamily="2" charset="-78"/>
              </a:rPr>
              <a:t>ة</a:t>
            </a:r>
            <a:endParaRPr lang="en-US" sz="1100" dirty="0"/>
          </a:p>
        </p:txBody>
      </p:sp>
      <p:sp>
        <p:nvSpPr>
          <p:cNvPr id="41" name="Text 38"/>
          <p:cNvSpPr txBox="1"/>
          <p:nvPr/>
        </p:nvSpPr>
        <p:spPr>
          <a:xfrm>
            <a:off x="641908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girls</a:t>
            </a:r>
            <a:endParaRPr lang="en-US" sz="1100" dirty="0"/>
          </a:p>
        </p:txBody>
      </p:sp>
      <p:sp>
        <p:nvSpPr>
          <p:cNvPr id="42" name="Text 39"/>
          <p:cNvSpPr txBox="1"/>
          <p:nvPr/>
        </p:nvSpPr>
        <p:spPr>
          <a:xfrm>
            <a:off x="2743200" y="4110228"/>
            <a:ext cx="34747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ثَلَاثُ بَنَاتٍ</a:t>
            </a:r>
            <a:endParaRPr lang="ar-SA" sz="2400" dirty="0"/>
          </a:p>
        </p:txBody>
      </p:sp>
      <p:sp>
        <p:nvSpPr>
          <p:cNvPr id="43" name="Text 40"/>
          <p:cNvSpPr txBox="1"/>
          <p:nvPr/>
        </p:nvSpPr>
        <p:spPr>
          <a:xfrm>
            <a:off x="56692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3–10 · flip</a:t>
            </a:r>
            <a:endParaRPr lang="en-US" sz="1100" dirty="0"/>
          </a:p>
        </p:txBody>
      </p:sp>
      <p:sp>
        <p:nvSpPr>
          <p:cNvPr id="44" name="Shape 41"/>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613648" y="4724400"/>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singular first, then flip</a:t>
            </a:r>
            <a:endParaRPr lang="en-US" sz="1100" dirty="0"/>
          </a:p>
        </p:txBody>
      </p:sp>
      <p:sp>
        <p:nvSpPr>
          <p:cNvPr id="48" name="Text 45"/>
          <p:cNvSpPr txBox="1"/>
          <p:nvPr/>
        </p:nvSpPr>
        <p:spPr>
          <a:xfrm>
            <a:off x="641908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seven days · ten minutes</a:t>
            </a:r>
            <a:endParaRPr lang="en-US" sz="1100" dirty="0"/>
          </a:p>
        </p:txBody>
      </p:sp>
      <p:sp>
        <p:nvSpPr>
          <p:cNvPr id="49" name="Text 46"/>
          <p:cNvSpPr txBox="1"/>
          <p:nvPr/>
        </p:nvSpPr>
        <p:spPr>
          <a:xfrm>
            <a:off x="2743200" y="4724400"/>
            <a:ext cx="34747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سَبْعَةُ أَيَّامٍ · عَشْرُ دَقَائِقَ</a:t>
            </a:r>
            <a:endParaRPr lang="ar-SA" sz="2400" dirty="0"/>
          </a:p>
        </p:txBody>
      </p:sp>
      <p:sp>
        <p:nvSpPr>
          <p:cNvPr id="50" name="Text 47"/>
          <p:cNvSpPr txBox="1"/>
          <p:nvPr/>
        </p:nvSpPr>
        <p:spPr>
          <a:xfrm>
            <a:off x="56692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3–10 · flip</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613648" y="533857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singular noun with -an</a:t>
            </a:r>
            <a:endParaRPr lang="en-US" sz="1100" dirty="0"/>
          </a:p>
        </p:txBody>
      </p:sp>
      <p:sp>
        <p:nvSpPr>
          <p:cNvPr id="53" name="Text 50"/>
          <p:cNvSpPr txBox="1"/>
          <p:nvPr/>
        </p:nvSpPr>
        <p:spPr>
          <a:xfrm>
            <a:off x="641908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twenty students</a:t>
            </a:r>
            <a:endParaRPr lang="en-US" sz="1100" dirty="0"/>
          </a:p>
        </p:txBody>
      </p:sp>
      <p:sp>
        <p:nvSpPr>
          <p:cNvPr id="54" name="Text 51"/>
          <p:cNvSpPr txBox="1"/>
          <p:nvPr/>
        </p:nvSpPr>
        <p:spPr>
          <a:xfrm>
            <a:off x="2743200" y="5338572"/>
            <a:ext cx="34747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عِشْرُونَ طَالِبًا</a:t>
            </a:r>
            <a:endParaRPr lang="ar-SA" sz="2400" dirty="0"/>
          </a:p>
        </p:txBody>
      </p:sp>
      <p:sp>
        <p:nvSpPr>
          <p:cNvPr id="55" name="Text 52"/>
          <p:cNvSpPr txBox="1"/>
          <p:nvPr/>
        </p:nvSpPr>
        <p:spPr>
          <a:xfrm>
            <a:off x="56692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11–99 (Stretch)</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#1 mistake: students look at the plural and panic. Ask: what is the SINGULAR — masculine or feminine? Then flip. 3–10: number BEFORE a genitive plural noun.</a:t>
            </a:r>
            <a:endParaRPr lang="en-US" sz="11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٢٧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72</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27</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خَمْسَةٌ وَعِشْرُونَ</a:t>
            </a:r>
            <a:pPr algn="l" indent="0" marL="0">
              <a:buNone/>
            </a:pPr>
            <a:r>
              <a:rPr lang="en-US" sz="1250" b="1" dirty="0">
                <a:solidFill>
                  <a:srgbClr val="1B3B6F"/>
                </a:solidFill>
                <a:latin typeface="Calibri" pitchFamily="34" charset="0"/>
                <a:cs typeface="Amiri" pitchFamily="2" charset="-78"/>
              </a:rPr>
              <a:t>. You write …</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52</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205</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 boys”.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أَوْلَادٍ</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ثَلَاثَةُ أَوْلَادٍ</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ثَلَاثَةُ وَلَدٍ</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“ten minutes”.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 دَقَائِقَ</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عَشَرَةُ دَقَائِقَ</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 دَقِيقَةٍ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٢٧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72</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27</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Numbers are read left to right.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خَمْسَةٌ وَعِشْرُونَ</a:t>
            </a:r>
            <a:pPr algn="l" indent="0" marL="0">
              <a:buNone/>
            </a:pPr>
            <a:r>
              <a:rPr lang="en-US" sz="1250" b="1" dirty="0">
                <a:solidFill>
                  <a:srgbClr val="1B3B6F"/>
                </a:solidFill>
                <a:latin typeface="Calibri" pitchFamily="34" charset="0"/>
                <a:cs typeface="Amiri" pitchFamily="2" charset="-78"/>
              </a:rPr>
              <a:t>. You write …</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25</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52</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205</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“Five and twenty”.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 boys”.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 أَوْلَادٍ</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ثَلَاثَةُ أَوْلَادٍ</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ثَلَاثَةُ وَلَدٍ</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Walad is masculine → number with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“ten minutes”.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عَشْرُ دَقَائِقَ</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عَشَرَةُ دَقَائِقَ</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عَشْرُ دَقِيقَةٍ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Daqīqa is feminine → number without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Watch me write numbers about myself</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Age (Stretch)</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خَمْسَ عَشْرَةَ سَنَةً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sana fem. → teens flip.</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House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رَقْمُ ٢٧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left to right.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Class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ثَمَانِيَةَ عَشَرَ طَالِبًا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11–99: singular -an.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Books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ثَلَاثَةُ كُتُبٍ</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kitāb masc. →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 on.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NUMBER</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COUNTED NOUN</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100" b="1" dirty="0">
                <a:solidFill>
                  <a:srgbClr val="1B3B6F"/>
                </a:solidFill>
                <a:latin typeface="Amiri" pitchFamily="2" charset="-78"/>
                <a:ea typeface="Amiri" pitchFamily="2" charset="-78"/>
                <a:cs typeface="Amiri" pitchFamily="2" charset="-78"/>
              </a:rPr>
              <a:t>اِسْمِي سَلْمَى، وَعُمْرِي </a:t>
            </a:r>
            <a:pPr rtl="1" algn="r" indent="0" marL="0">
              <a:buNone/>
            </a:pPr>
            <a:r>
              <a:rPr lang="ar-SA" altLang="en-US" sz="2100" b="1" dirty="0">
                <a:solidFill>
                  <a:srgbClr val="0E7C86"/>
                </a:solidFill>
                <a:latin typeface="Amiri" pitchFamily="2" charset="-78"/>
                <a:ea typeface="Amiri" pitchFamily="2" charset="-78"/>
                <a:cs typeface="Amiri" pitchFamily="2" charset="-78"/>
              </a:rPr>
              <a:t>خَمْسَ عَشْرَةَ</a:t>
            </a:r>
            <a:pPr rtl="1" algn="r" indent="0" marL="0">
              <a:buNone/>
            </a:pPr>
            <a:r>
              <a:rPr lang="ar-SA" altLang="en-US" sz="2100" b="1" dirty="0">
                <a:solidFill>
                  <a:srgbClr val="1B3B6F"/>
                </a:solidFill>
                <a:latin typeface="Amiri" pitchFamily="2" charset="-78"/>
                <a:cs typeface="Amiri" pitchFamily="2" charset="-78"/>
              </a:rPr>
              <a:t> </a:t>
            </a:r>
            <a:pPr rtl="1" algn="r" indent="0" marL="0">
              <a:buNone/>
            </a:pPr>
            <a:r>
              <a:rPr lang="ar-SA" altLang="en-US" sz="2100" b="1" dirty="0">
                <a:solidFill>
                  <a:srgbClr val="D6336C"/>
                </a:solidFill>
                <a:latin typeface="Amiri" pitchFamily="2" charset="-78"/>
                <a:ea typeface="Amiri" pitchFamily="2" charset="-78"/>
                <a:cs typeface="Amiri" pitchFamily="2" charset="-78"/>
              </a:rPr>
              <a:t>سَنَةً</a:t>
            </a:r>
            <a:pPr rtl="1" algn="r" indent="0" marL="0">
              <a:buNone/>
            </a:pPr>
            <a:r>
              <a:rPr lang="ar-SA" altLang="en-US" sz="2100" b="1" dirty="0">
                <a:solidFill>
                  <a:srgbClr val="1B3B6F"/>
                </a:solidFill>
                <a:latin typeface="Amiri" pitchFamily="2" charset="-78"/>
                <a:ea typeface="Amiri" pitchFamily="2" charset="-78"/>
                <a:cs typeface="Amiri" pitchFamily="2" charset="-78"/>
              </a:rPr>
              <a:t>. أَسْكُنُ فِي الْبَيْتِ رَقْمِ ٢٧. فِي فَصْلِي </a:t>
            </a:r>
            <a:pPr rtl="1" algn="r" indent="0" marL="0">
              <a:buNone/>
            </a:pPr>
            <a:r>
              <a:rPr lang="ar-SA" altLang="en-US" sz="2100" b="1" dirty="0">
                <a:solidFill>
                  <a:srgbClr val="0E7C86"/>
                </a:solidFill>
                <a:latin typeface="Amiri" pitchFamily="2" charset="-78"/>
                <a:ea typeface="Amiri" pitchFamily="2" charset="-78"/>
                <a:cs typeface="Amiri" pitchFamily="2" charset="-78"/>
              </a:rPr>
              <a:t>ثَمَانِيَةَ عَشَرَ</a:t>
            </a:r>
            <a:pPr rtl="1" algn="r" indent="0" marL="0">
              <a:buNone/>
            </a:pPr>
            <a:r>
              <a:rPr lang="ar-SA" altLang="en-US" sz="2100" b="1" dirty="0">
                <a:solidFill>
                  <a:srgbClr val="1B3B6F"/>
                </a:solidFill>
                <a:latin typeface="Amiri" pitchFamily="2" charset="-78"/>
                <a:cs typeface="Amiri" pitchFamily="2" charset="-78"/>
              </a:rPr>
              <a:t> </a:t>
            </a:r>
            <a:pPr rtl="1" algn="r" indent="0" marL="0">
              <a:buNone/>
            </a:pPr>
            <a:r>
              <a:rPr lang="ar-SA" altLang="en-US" sz="2100" b="1" dirty="0">
                <a:solidFill>
                  <a:srgbClr val="D6336C"/>
                </a:solidFill>
                <a:latin typeface="Amiri" pitchFamily="2" charset="-78"/>
                <a:ea typeface="Amiri" pitchFamily="2" charset="-78"/>
                <a:cs typeface="Amiri" pitchFamily="2" charset="-78"/>
              </a:rPr>
              <a:t>طَالِبًا</a:t>
            </a:r>
            <a:pPr rtl="1" algn="r" indent="0" marL="0">
              <a:buNone/>
            </a:pPr>
            <a:r>
              <a:rPr lang="ar-SA" altLang="en-US" sz="2100" b="1" dirty="0">
                <a:solidFill>
                  <a:srgbClr val="1B3B6F"/>
                </a:solidFill>
                <a:latin typeface="Amiri" pitchFamily="2" charset="-78"/>
                <a:ea typeface="Amiri" pitchFamily="2" charset="-78"/>
                <a:cs typeface="Amiri" pitchFamily="2" charset="-78"/>
              </a:rPr>
              <a:t>، وَعِنْدِي </a:t>
            </a:r>
            <a:pPr rtl="1" algn="r" indent="0" marL="0">
              <a:buNone/>
            </a:pPr>
            <a:r>
              <a:rPr lang="ar-SA" altLang="en-US" sz="2100" b="1" dirty="0">
                <a:solidFill>
                  <a:srgbClr val="0E7C86"/>
                </a:solidFill>
                <a:latin typeface="Amiri" pitchFamily="2" charset="-78"/>
                <a:ea typeface="Amiri" pitchFamily="2" charset="-78"/>
                <a:cs typeface="Amiri" pitchFamily="2" charset="-78"/>
              </a:rPr>
              <a:t>ثَلَاثَةُ</a:t>
            </a:r>
            <a:pPr rtl="1" algn="r" indent="0" marL="0">
              <a:buNone/>
            </a:pPr>
            <a:r>
              <a:rPr lang="ar-SA" altLang="en-US" sz="2100" b="1" dirty="0">
                <a:solidFill>
                  <a:srgbClr val="1B3B6F"/>
                </a:solidFill>
                <a:latin typeface="Amiri" pitchFamily="2" charset="-78"/>
                <a:cs typeface="Amiri" pitchFamily="2" charset="-78"/>
              </a:rPr>
              <a:t> </a:t>
            </a:r>
            <a:pPr rtl="1" algn="r" indent="0" marL="0">
              <a:buNone/>
            </a:pPr>
            <a:r>
              <a:rPr lang="ar-SA" altLang="en-US" sz="2100" b="1" dirty="0">
                <a:solidFill>
                  <a:srgbClr val="D6336C"/>
                </a:solidFill>
                <a:latin typeface="Amiri" pitchFamily="2" charset="-78"/>
                <a:ea typeface="Amiri" pitchFamily="2" charset="-78"/>
                <a:cs typeface="Amiri" pitchFamily="2" charset="-78"/>
              </a:rPr>
              <a:t>كُتُبٍ</a:t>
            </a:r>
            <a:pPr rtl="1" algn="r" indent="0" marL="0">
              <a:buNone/>
            </a:pPr>
            <a:r>
              <a:rPr lang="ar-SA" altLang="en-US" sz="2100" b="1" dirty="0">
                <a:solidFill>
                  <a:srgbClr val="1B3B6F"/>
                </a:solidFill>
                <a:latin typeface="Amiri" pitchFamily="2" charset="-78"/>
                <a:ea typeface="Amiri" pitchFamily="2" charset="-78"/>
                <a:cs typeface="Amiri" pitchFamily="2" charset="-78"/>
              </a:rPr>
              <a:t> عَرَبِيَّةٍ.</a:t>
            </a:r>
            <a:endParaRPr lang="ar-SA" sz="21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50" i="1" dirty="0">
                <a:solidFill>
                  <a:srgbClr val="5A6472"/>
                </a:solidFill>
                <a:latin typeface="Calibri" pitchFamily="34" charset="0"/>
                <a:cs typeface="Amiri" pitchFamily="2" charset="-78"/>
              </a:rPr>
              <a:t>My name is Salmā, and I am fifteen years old. I live at house number 27. There are eighteen students in my class, and I have three Arabic books.</a:t>
            </a:r>
            <a:endParaRPr lang="en-US" sz="12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الدَّرْسُ الْأَوَّلُ · السَّنَةُ الْأُولَى</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first lesson · the first year</a:t>
            </a:r>
            <a:endParaRPr lang="en-US" sz="1250" dirty="0"/>
          </a:p>
          <a:p>
            <a:pPr indent="0" marL="0">
              <a:buNone/>
            </a:pPr>
            <a:r>
              <a:rPr lang="en-US" sz="1050" i="1" dirty="0">
                <a:solidFill>
                  <a:srgbClr val="8A6D1E"/>
                </a:solidFill>
                <a:latin typeface="Calibri" pitchFamily="34" charset="0"/>
                <a:cs typeface="Amiri" pitchFamily="2" charset="-78"/>
              </a:rPr>
              <a:t>Ordinal follows the noun.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السَّاعَةُ الثَّالِثَةُ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three o’clock</a:t>
            </a:r>
            <a:endParaRPr lang="en-US" sz="1250" dirty="0"/>
          </a:p>
          <a:p>
            <a:pPr indent="0" marL="0">
              <a:buNone/>
            </a:pPr>
            <a:r>
              <a:rPr lang="en-US" sz="1050" i="1" dirty="0">
                <a:solidFill>
                  <a:srgbClr val="8A6D1E"/>
                </a:solidFill>
                <a:latin typeface="Calibri" pitchFamily="34" charset="0"/>
                <a:cs typeface="Amiri" pitchFamily="2" charset="-78"/>
              </a:rPr>
              <a:t>sāʿa fem. → ordinal fem.</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أَرْبَعَةُ إِخْوَةٍ.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four brothers.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akh masc. → ة 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الْبَيْتِ خَمْسُ غُرَفٍ.</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There are five rooms in the house.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ghurfa fem. → ة off.</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ORDINAL NUMBERS (WEBSITE TABLE)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First, second, third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الْأَعْدَادُ التَّرْتِيبِيَّةُ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491947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a fem. noun</a:t>
            </a:r>
            <a:endParaRPr lang="en-US" sz="1100" dirty="0"/>
          </a:p>
        </p:txBody>
      </p:sp>
      <p:sp>
        <p:nvSpPr>
          <p:cNvPr id="18" name="Text 15"/>
          <p:cNvSpPr txBox="1"/>
          <p:nvPr/>
        </p:nvSpPr>
        <p:spPr>
          <a:xfrm>
            <a:off x="23591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a masc. noun</a:t>
            </a:r>
            <a:endParaRPr lang="en-US" sz="1100" dirty="0"/>
          </a:p>
        </p:txBody>
      </p:sp>
      <p:sp>
        <p:nvSpPr>
          <p:cNvPr id="19" name="Text 16"/>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498080" y="2267712"/>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الدَّرْسُ الْأَوَّلُ</a:t>
            </a:r>
            <a:endParaRPr lang="ar-SA" sz="2200" dirty="0"/>
          </a:p>
        </p:txBody>
      </p:sp>
      <p:sp>
        <p:nvSpPr>
          <p:cNvPr id="22" name="Text 19"/>
          <p:cNvSpPr txBox="1"/>
          <p:nvPr/>
        </p:nvSpPr>
        <p:spPr>
          <a:xfrm>
            <a:off x="4937760" y="226771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الْأُولَى</a:t>
            </a:r>
            <a:endParaRPr lang="ar-SA" sz="2400" dirty="0"/>
          </a:p>
        </p:txBody>
      </p:sp>
      <p:sp>
        <p:nvSpPr>
          <p:cNvPr id="23" name="Text 20"/>
          <p:cNvSpPr txBox="1"/>
          <p:nvPr/>
        </p:nvSpPr>
        <p:spPr>
          <a:xfrm>
            <a:off x="2377440" y="226771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الْأَوَّلُ</a:t>
            </a:r>
            <a:endParaRPr lang="ar-SA" sz="2400" dirty="0"/>
          </a:p>
        </p:txBody>
      </p:sp>
      <p:sp>
        <p:nvSpPr>
          <p:cNvPr id="24" name="Text 21"/>
          <p:cNvSpPr txBox="1"/>
          <p:nvPr/>
        </p:nvSpPr>
        <p:spPr>
          <a:xfrm>
            <a:off x="566928" y="226771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498080" y="2881884"/>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الْمَرَّةُ الثَّانِيَةُ</a:t>
            </a:r>
            <a:endParaRPr lang="ar-SA" sz="2200" dirty="0"/>
          </a:p>
        </p:txBody>
      </p:sp>
      <p:sp>
        <p:nvSpPr>
          <p:cNvPr id="29" name="Text 26"/>
          <p:cNvSpPr txBox="1"/>
          <p:nvPr/>
        </p:nvSpPr>
        <p:spPr>
          <a:xfrm>
            <a:off x="4937760" y="2881884"/>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الثَّانِيَةُ</a:t>
            </a:r>
            <a:endParaRPr lang="ar-SA" sz="2400" dirty="0"/>
          </a:p>
        </p:txBody>
      </p:sp>
      <p:sp>
        <p:nvSpPr>
          <p:cNvPr id="30" name="Text 27"/>
          <p:cNvSpPr txBox="1"/>
          <p:nvPr/>
        </p:nvSpPr>
        <p:spPr>
          <a:xfrm>
            <a:off x="2377440" y="2881884"/>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الثَّانِي</a:t>
            </a:r>
            <a:endParaRPr lang="ar-SA" sz="2400" dirty="0"/>
          </a:p>
        </p:txBody>
      </p:sp>
      <p:sp>
        <p:nvSpPr>
          <p:cNvPr id="31" name="Text 28"/>
          <p:cNvSpPr txBox="1"/>
          <p:nvPr/>
        </p:nvSpPr>
        <p:spPr>
          <a:xfrm>
            <a:off x="566928" y="2881884"/>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second</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498080" y="3496056"/>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الطَّابِقُ الثَّالِثُ</a:t>
            </a:r>
            <a:endParaRPr lang="ar-SA" sz="2200" dirty="0"/>
          </a:p>
        </p:txBody>
      </p:sp>
      <p:sp>
        <p:nvSpPr>
          <p:cNvPr id="36" name="Text 33"/>
          <p:cNvSpPr txBox="1"/>
          <p:nvPr/>
        </p:nvSpPr>
        <p:spPr>
          <a:xfrm>
            <a:off x="4937760" y="3496056"/>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الثَّالِثَةُ</a:t>
            </a:r>
            <a:endParaRPr lang="ar-SA" sz="2400" dirty="0"/>
          </a:p>
        </p:txBody>
      </p:sp>
      <p:sp>
        <p:nvSpPr>
          <p:cNvPr id="37" name="Text 34"/>
          <p:cNvSpPr txBox="1"/>
          <p:nvPr/>
        </p:nvSpPr>
        <p:spPr>
          <a:xfrm>
            <a:off x="2377440" y="3496056"/>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الثَّالِثُ</a:t>
            </a:r>
            <a:endParaRPr lang="ar-SA" sz="2400" dirty="0"/>
          </a:p>
        </p:txBody>
      </p:sp>
      <p:sp>
        <p:nvSpPr>
          <p:cNvPr id="38" name="Text 35"/>
          <p:cNvSpPr txBox="1"/>
          <p:nvPr/>
        </p:nvSpPr>
        <p:spPr>
          <a:xfrm>
            <a:off x="566928" y="3496056"/>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third</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498080" y="4110228"/>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الرَّابِعَةُ</a:t>
            </a:r>
            <a:endParaRPr lang="ar-SA" sz="2200" dirty="0"/>
          </a:p>
        </p:txBody>
      </p:sp>
      <p:sp>
        <p:nvSpPr>
          <p:cNvPr id="43" name="Text 40"/>
          <p:cNvSpPr txBox="1"/>
          <p:nvPr/>
        </p:nvSpPr>
        <p:spPr>
          <a:xfrm>
            <a:off x="4937760" y="4110228"/>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الرَّابِعَةُ</a:t>
            </a:r>
            <a:endParaRPr lang="ar-SA" sz="2400" dirty="0"/>
          </a:p>
        </p:txBody>
      </p:sp>
      <p:sp>
        <p:nvSpPr>
          <p:cNvPr id="44" name="Text 41"/>
          <p:cNvSpPr txBox="1"/>
          <p:nvPr/>
        </p:nvSpPr>
        <p:spPr>
          <a:xfrm>
            <a:off x="2377440" y="4110228"/>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الرَّابِعُ</a:t>
            </a:r>
            <a:endParaRPr lang="ar-SA" sz="2400" dirty="0"/>
          </a:p>
        </p:txBody>
      </p:sp>
      <p:sp>
        <p:nvSpPr>
          <p:cNvPr id="45" name="Text 42"/>
          <p:cNvSpPr txBox="1"/>
          <p:nvPr/>
        </p:nvSpPr>
        <p:spPr>
          <a:xfrm>
            <a:off x="566928" y="4110228"/>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fourth</a:t>
            </a:r>
            <a:endParaRPr lang="en-US" sz="11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7498080" y="4724400"/>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الصَّفُّ الْخَامِسُ</a:t>
            </a:r>
            <a:endParaRPr lang="ar-SA" sz="2200" dirty="0"/>
          </a:p>
        </p:txBody>
      </p:sp>
      <p:sp>
        <p:nvSpPr>
          <p:cNvPr id="48" name="Text 45"/>
          <p:cNvSpPr txBox="1"/>
          <p:nvPr/>
        </p:nvSpPr>
        <p:spPr>
          <a:xfrm>
            <a:off x="4937760" y="4724400"/>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الْخَامِسَةُ</a:t>
            </a:r>
            <a:endParaRPr lang="ar-SA" sz="2400" dirty="0"/>
          </a:p>
        </p:txBody>
      </p:sp>
      <p:sp>
        <p:nvSpPr>
          <p:cNvPr id="49" name="Text 46"/>
          <p:cNvSpPr txBox="1"/>
          <p:nvPr/>
        </p:nvSpPr>
        <p:spPr>
          <a:xfrm>
            <a:off x="2377440" y="4724400"/>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الْخَامِسُ</a:t>
            </a:r>
            <a:endParaRPr lang="ar-SA" sz="2400" dirty="0"/>
          </a:p>
        </p:txBody>
      </p:sp>
      <p:sp>
        <p:nvSpPr>
          <p:cNvPr id="50" name="Text 47"/>
          <p:cNvSpPr txBox="1"/>
          <p:nvPr/>
        </p:nvSpPr>
        <p:spPr>
          <a:xfrm>
            <a:off x="566928" y="4724400"/>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fifth</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7498080" y="5338572"/>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الْعَاشِرَةُ</a:t>
            </a:r>
            <a:endParaRPr lang="ar-SA" sz="2200" dirty="0"/>
          </a:p>
        </p:txBody>
      </p:sp>
      <p:sp>
        <p:nvSpPr>
          <p:cNvPr id="53" name="Text 50"/>
          <p:cNvSpPr txBox="1"/>
          <p:nvPr/>
        </p:nvSpPr>
        <p:spPr>
          <a:xfrm>
            <a:off x="4937760" y="533857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الْعَاشِرَةُ</a:t>
            </a:r>
            <a:endParaRPr lang="ar-SA" sz="2400" dirty="0"/>
          </a:p>
        </p:txBody>
      </p:sp>
      <p:sp>
        <p:nvSpPr>
          <p:cNvPr id="54" name="Text 51"/>
          <p:cNvSpPr txBox="1"/>
          <p:nvPr/>
        </p:nvSpPr>
        <p:spPr>
          <a:xfrm>
            <a:off x="2377440" y="533857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الْعَاشِرُ</a:t>
            </a:r>
            <a:endParaRPr lang="ar-SA" sz="2400" dirty="0"/>
          </a:p>
        </p:txBody>
      </p:sp>
      <p:sp>
        <p:nvSpPr>
          <p:cNvPr id="55" name="Text 52"/>
          <p:cNvSpPr txBox="1"/>
          <p:nvPr/>
        </p:nvSpPr>
        <p:spPr>
          <a:xfrm>
            <a:off x="566928" y="533857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tenth</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from second to tenth, ordinals follow fāʿil (thālith, rābiʿ, khāmis). Only al-awwal / al-ūlā is irregular — like English one → first. Clock times use the feminine: as-sāʿatu th-thālithatu.</a:t>
            </a:r>
            <a:endParaRPr lang="en-US" sz="11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“FLIP OR FOLLOW?” · 3–10</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Number with </a:t>
            </a:r>
            <a:pPr algn="l" indent="0" marL="0">
              <a:buNone/>
            </a:pPr>
            <a:r>
              <a:rPr lang="ar-SA" altLang="en-US" sz="3650" b="1" dirty="0">
                <a:solidFill>
                  <a:srgbClr val="1B3B6F"/>
                </a:solidFill>
                <a:latin typeface="Amiri" pitchFamily="2" charset="-78"/>
                <a:ea typeface="Amiri" pitchFamily="2" charset="-78"/>
                <a:cs typeface="Amiri" pitchFamily="2" charset="-78"/>
              </a:rPr>
              <a:t>ة</a:t>
            </a:r>
            <a:pPr algn="l" indent="0" marL="0">
              <a:buNone/>
            </a:pPr>
            <a:r>
              <a:rPr lang="en-US" sz="2800" b="1" dirty="0">
                <a:solidFill>
                  <a:srgbClr val="1B3B6F"/>
                </a:solidFill>
                <a:latin typeface="Cambria" pitchFamily="34" charset="0"/>
                <a:cs typeface="Amiri" pitchFamily="2" charset="-78"/>
              </a:rPr>
              <a:t>, or without?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بِالتَّاءِ أَمْ بِدُونِهَا؟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ثَلَاثَةُ كُتُبٍ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أَرْبَعَةُ أَيَّامٍ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خَمْسَةُ أَقْلَامٍ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سِتَّةُ طُلَّابٍ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 سَيَّارَاتٍ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 دَقَائِقَ</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سَبْعُ بَنَاتٍ</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 غُرَفٍ</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ة on (masc. singular noun)</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ة off (fem. singular noun)</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ة on (masc. singular noun)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ثَلَاثَةُ كُتُبٍ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أَرْبَعَةُ أَيَّامٍ</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خَمْسَةُ أَقْلَامٍ</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سِتَّةُ طُلَّابٍ</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ة off (fem. singular noun)</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 سَيَّارَاتٍ</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 دَقَائِقَ</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سَبْعُ بَنَاتٍ</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 غُرَفٍ</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ثَلَاثُ أَوْلَادٍ</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Singular masc. or fem.?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خَمْسَةُ سَيَّارَاتٍ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Singular masc. or fem.?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عِشْرُونَ وَخَمْسَةٌ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comes first?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ثَلَاثُ أَوْلَادٍ</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ثَلَاثَةُ أَوْلَادٍ</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Walad is masculine → the number takes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خَمْسَةُ سَيَّارَاتٍ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خَمْسُ سَيَّارَاتٍ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Sayyāra is feminine → the number drops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عِشْرُونَ وَخَمْسَةٌ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خَمْسَةٌ وَعِشْرُونَ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Unit first, then wa + ten.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2F6FB0"/>
                </a:solidFill>
                <a:latin typeface="Calibri" pitchFamily="34" charset="0"/>
                <a:cs typeface="Amiri" pitchFamily="2" charset="-78"/>
              </a:rPr>
              <a:t>WE DO · GUIDED PRACTICE · TEACHER-WRITTEN QUESTIONS ON THE WEBSITE RULES</a:t>
            </a:r>
            <a:endParaRPr lang="en-US" sz="983"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second time”.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الْمَرَّةُ الثَّانِي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الثَّانِي مَرَّةٌ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الْمَرَّةُ الثَّانِيَةُ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31 in words.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ثَلَاثُونَ وَوَاحِدٌ</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وَاحِدٌ وَثَلَاثُونَ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ثَلَاثَةَ عَشَرَ</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“seven days”.</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سَبْعُ أَيَّامٍ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سَبْعَةُ أَيَّامٍ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سَبْعَةُ يَوْمٍ</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“twenty students” (Stretch).</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عِشْرُونَ طُلَّابٍ</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عِشْرِينَ طَالِبٌ</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عِشْرُونَ طَالِبًا</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second time”.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الْمَرَّةُ الثَّانِي</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الثَّانِي مَرَّةٌ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الْمَرَّةُ الثَّانِيَةُ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Marra fem. → thāniya.</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31 in words.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ثَلَاثُونَ وَوَاحِدٌ</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وَاحِدٌ وَثَلَاثُونَ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ثَلَاثَةَ عَشَرَ</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Unit + wa + ten.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“seven days”.</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سَبْعُ أَيَّامٍ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سَبْعَةُ أَيَّامٍ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سَبْعَةُ يَوْمٍ</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Yawm masc. →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on, plural noun.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“twenty students” (Stretch).</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عِشْرُونَ طُلَّابٍ</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عِشْرِينَ طَالِبٌ</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عِشْرُونَ طَالِبًا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11–99: singular accusative.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WEBSITE READING TASK (PRICE LIST)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The stationery shop — maktabat an-Nūr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مَكْتَبَةُ النُّورِ — قَائِمَةُ الْأَسْعَارِ: قَلَمٌ: ٣ جُنَيْهَاتٍ. دَفْتَرٌ: ١٢ جُنَيْهًا. حَقِيبَةٌ: ٤٥ جُنَيْهًا. قَامُوسٌ: ٩٩ جُنَيْهًا. اِشْتَرَى أَحْمَدُ قَلَمًا وَدَفْتَرًا، وَاشْتَرَتْ أُخْتُهُ الْحَقِيبَةَ. الْمَكْتَبَةُ فِي الطَّابِقِ الثَّانِي، وَتُغْلَقُ فِي السَّاعَةِ الثَّامِنَةِ.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قَائِمَةُ الْأَسْعَارِ</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price list</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جُنَيْهٌ</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pound</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دَفْتَرٌ</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notebook</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قَامُوسٌ</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dictionary</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الطَّابِقِ</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floor</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does the notebook cost?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21 pounds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 pounds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 pounds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did Aḥmad pay in total?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 pounds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48 pounds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 pounds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item costs 45 pounds?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bag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dictionary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pen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floor is the shop 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eighth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does the notebook cost?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21 pounds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12 pounds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 pounds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١٢</a:t>
            </a:r>
            <a:pPr algn="l" indent="0" marL="0">
              <a:buNone/>
            </a:pPr>
            <a:r>
              <a:rPr lang="en-US" sz="1050" i="1" dirty="0">
                <a:solidFill>
                  <a:srgbClr val="8A6D1E"/>
                </a:solidFill>
                <a:latin typeface="Calibri" pitchFamily="34" charset="0"/>
                <a:cs typeface="Amiri" pitchFamily="2" charset="-78"/>
              </a:rPr>
              <a:t> = ithnā ʿashara junayhan.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did Aḥmad pay in total?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 pounds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48 pounds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15 pounds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3 + 12 = khamsata ʿashara junayhan.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item costs 45 pounds?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bag</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dictionary</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pen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٤٥ = 45.</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floor is the shop 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eighth</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second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first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Aṭ-ṭābiq ath-thānī.</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my number world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عُمْرُكَ؟ وَمَا رَقْمُ بَيْتِكَ؟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شَخْصًا فِي أُسْرَتِكَ؟ وَكَمْ أَخًا وَأُخْتًا عِنْدَكَ؟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قَدِّمْ «عَالَمَ أَرْقَامِكَ»: سِتَّةُ أَرْقَامٍ عَلَى الْأَقَلِّ.</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عُمْرِي ___ سَنَةً، وَرَقْمُ بَيْتِي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أُسْرَتِي ___ أَشْخَاصٍ، وَعِنْدِي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أَنَا فِي الصَّفِّ ___ ، وَأَسْتَيْقِظُ فِي السَّاعَةِ ___ .</a:t>
            </a:r>
            <a:endParaRPr lang="ar-SA" sz="13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كَمْ أَخًا عِنْدَكِ؟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many brothers do you have?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عِنْدِي ثَلَاثَةُ إِخْوَةٍ وَأُخْتَانِ. أَنَا الْبِنْتُ الْأُولَى فِي الْأُسْرَةِ، وَعُمْرِي أَرْبَعَ عَشْرَةَ سَنَةً.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have three brothers and two sisters. I am the first girl in the family, and I am fourteen.</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scaffold: age, house number, family.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ʿumrī … sana · raqm … · fī ʿāʾilatī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compound number and two 3–10 phrases.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Flip: ة on / ة off.</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7–9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connected number paragraph.</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11–99 + singular noun.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______ إِخْوَةٍ.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 brothers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بَيْتِنَا ______ غُرَفٍ.</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are … rooms in our house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رَقْمُ هَاتِفِي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phone number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ثَمَنُ الْحَقِيبَةِ ______ جُنَيْهًا.</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bag costs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عُمْرِي ______ سَنَةً.</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years old</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الْبَيْتِ رَقْمِ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at house number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______ أَشْخَاصٍ.</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are … people in my family</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فِي الصَّفِّ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in Year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وَاحِدٌ  ·  اِثْنَانِ  ·  ثَلَاثَةٌ / ثَلَاثُ  ·  خَمْسَةٌ / خَمْسُ  ·  عَشَرَةٌ / عَشْرُ  ·  أَحَدَ عَشَرَ  ·  عِشْرُونَ  ·  خَمْسَةٌ وَعِشْرُونَ  ·  مِئَةٌ  ·  الْأَوَّلُ  ·  الثَّانِي  ·  الثَّالِثُ</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“Hot” task: write «</a:t>
            </a:r>
            <a:pPr algn="l" indent="0" marL="0">
              <a:buNone/>
            </a:pPr>
            <a:r>
              <a:rPr lang="ar-SA" altLang="en-US" sz="1750" b="1" dirty="0">
                <a:solidFill>
                  <a:srgbClr val="1F2A37"/>
                </a:solidFill>
                <a:latin typeface="Amiri" pitchFamily="2" charset="-78"/>
                <a:ea typeface="Amiri" pitchFamily="2" charset="-78"/>
                <a:cs typeface="Amiri" pitchFamily="2" charset="-78"/>
              </a:rPr>
              <a:t>عَائِلَتِي وَأَرْقَامِي</a:t>
            </a:r>
            <a:pPr algn="l" indent="0" marL="0">
              <a:buNone/>
            </a:pPr>
            <a:r>
              <a:rPr lang="en-US" sz="1350" b="1" dirty="0">
                <a:solidFill>
                  <a:srgbClr val="1F2A37"/>
                </a:solidFill>
                <a:latin typeface="Calibri" pitchFamily="34" charset="0"/>
                <a:cs typeface="Amiri" pitchFamily="2" charset="-78"/>
              </a:rPr>
              <a:t>» — age, house number, family size, brothers and sisters, wake-up time, with an ordinal.</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Both digit systems (</a:t>
            </a:r>
            <a:pPr algn="l" indent="0" marL="0">
              <a:buNone/>
            </a:pPr>
            <a:r>
              <a:rPr lang="ar-SA" altLang="en-US" sz="1550" dirty="0">
                <a:solidFill>
                  <a:srgbClr val="1F2A37"/>
                </a:solidFill>
                <a:latin typeface="Amiri" pitchFamily="2" charset="-78"/>
                <a:ea typeface="Amiri" pitchFamily="2" charset="-78"/>
                <a:cs typeface="Amiri" pitchFamily="2" charset="-78"/>
              </a:rPr>
              <a:t>٢٧</a:t>
            </a:r>
            <a:pPr algn="l" indent="0" marL="0">
              <a:buNone/>
            </a:pPr>
            <a:r>
              <a:rPr lang="en-US" sz="1200" dirty="0">
                <a:solidFill>
                  <a:srgbClr val="1F2A37"/>
                </a:solidFill>
                <a:latin typeface="Calibri" pitchFamily="34" charset="0"/>
                <a:cs typeface="Amiri" pitchFamily="2" charset="-78"/>
              </a:rPr>
              <a:t> and 27).</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cardinal numbers in words.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compound number (unit + wa + ten).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3–10 phrase with the gender flip.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ordinal (al-awwal, ath-thāniya …).</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عُمْرِي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age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رَقْمُ</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number (of)</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الْأَكْبَرُ / الْأَصْغَرُ</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oldest / youngest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السَّاعَةِ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 o’clock</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أَشْخَاصٍ</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people</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يَوْمٍ</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every day</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عَائِلَتِي وَأَرْقَامِي: عُمْرِي ثَلَاثَ عَشْرَةَ سَنَةً، وَأَنَا فِي الصَّفِّ الثَّامِنِ. أَسْكُنُ فِي الْبَيْتِ رَقْمِ ٣٤. فِي عَائِلَتِي سِتَّةُ أَشْخَاصٍ: أَبِي وَأُمِّي وَثَلَاثَةُ إِخْوَةٍ وَأَنَا. أَنَا الْبِنْتُ الْأُولَى، وَأَخِي الْأَصْغَرُ عُمْرُهُ خَمْسُ سَنَوَاتٍ. فِي بَيْتِنَا أَرْبَعُ غُرَفٍ. أَسْتَيْقِظُ فِي السَّاعَةِ السَّادِسَةِ، وَأَمْشِي إِلَى الْمَدْرَسَةِ عِشْرِينَ دَقِيقَةً. فِي فَصْلِي خَمْسَةٌ وَعِشْرُونَ طَالِبًا.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family and my numbers: I am thirteen and I am in Year 8. I live at house number 34. There are six people in my family: my father, my mother, three brothers and me. I am the first daughter, and my youngest brother is five years old. There are four rooms in our house. I wake up at six o’clock, and I walk to school for twenty minutes. There are twenty-five students in my class.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ة on (masc.)</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ة off (fem.)</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compound number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ordinal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switch </a:t>
            </a:r>
            <a:pPr algn="l" indent="0" marL="0">
              <a:buNone/>
            </a:pPr>
            <a:r>
              <a:rPr lang="ar-SA" altLang="en-US" sz="1700" dirty="0">
                <a:solidFill>
                  <a:srgbClr val="1F2A37"/>
                </a:solidFill>
                <a:latin typeface="Amiri" pitchFamily="2" charset="-78"/>
                <a:ea typeface="Amiri" pitchFamily="2" charset="-78"/>
                <a:cs typeface="Amiri" pitchFamily="2" charset="-78"/>
              </a:rPr>
              <a:t>٠</a:t>
            </a:r>
            <a:pPr algn="l" indent="0" marL="0">
              <a:buNone/>
            </a:pPr>
            <a:r>
              <a:rPr lang="en-US" sz="1300" dirty="0">
                <a:solidFill>
                  <a:srgbClr val="1F2A37"/>
                </a:solidFill>
                <a:latin typeface="Calibri" pitchFamily="34" charset="0"/>
                <a:cs typeface="Amiri" pitchFamily="2" charset="-78"/>
              </a:rPr>
              <a:t>–</a:t>
            </a:r>
            <a:pPr algn="l" indent="0" marL="0">
              <a:buNone/>
            </a:pPr>
            <a:r>
              <a:rPr lang="ar-SA" altLang="en-US" sz="1700" dirty="0">
                <a:solidFill>
                  <a:srgbClr val="1F2A37"/>
                </a:solidFill>
                <a:latin typeface="Amiri" pitchFamily="2" charset="-78"/>
                <a:ea typeface="Amiri" pitchFamily="2" charset="-78"/>
                <a:cs typeface="Amiri" pitchFamily="2" charset="-78"/>
              </a:rPr>
              <a:t>٩</a:t>
            </a:r>
            <a:pPr algn="l" indent="0" marL="0">
              <a:buNone/>
            </a:pPr>
            <a:r>
              <a:rPr lang="en-US" sz="1300" dirty="0">
                <a:solidFill>
                  <a:srgbClr val="1F2A37"/>
                </a:solidFill>
                <a:latin typeface="Calibri" pitchFamily="34" charset="0"/>
                <a:cs typeface="Amiri" pitchFamily="2" charset="-78"/>
              </a:rPr>
              <a:t> and 0–9 (</a:t>
            </a:r>
            <a:pPr algn="l" indent="0" marL="0">
              <a:buNone/>
            </a:pPr>
            <a:r>
              <a:rPr lang="ar-SA" altLang="en-US" sz="1700" dirty="0">
                <a:solidFill>
                  <a:srgbClr val="1F2A37"/>
                </a:solidFill>
                <a:latin typeface="Amiri" pitchFamily="2" charset="-78"/>
                <a:ea typeface="Amiri" pitchFamily="2" charset="-78"/>
                <a:cs typeface="Amiri" pitchFamily="2" charset="-78"/>
              </a:rPr>
              <a:t>٥</a:t>
            </a:r>
            <a:pPr algn="l" indent="0" marL="0">
              <a:buNone/>
            </a:pPr>
            <a:r>
              <a:rPr lang="en-US" sz="1300" dirty="0">
                <a:solidFill>
                  <a:srgbClr val="1F2A37"/>
                </a:solidFill>
                <a:latin typeface="Calibri" pitchFamily="34" charset="0"/>
                <a:cs typeface="Amiri" pitchFamily="2" charset="-78"/>
              </a:rPr>
              <a:t> = 5, </a:t>
            </a:r>
            <a:pPr algn="l" indent="0" marL="0">
              <a:buNone/>
            </a:pPr>
            <a:r>
              <a:rPr lang="ar-SA" altLang="en-US" sz="1700" dirty="0">
                <a:solidFill>
                  <a:srgbClr val="1F2A37"/>
                </a:solidFill>
                <a:latin typeface="Amiri" pitchFamily="2" charset="-78"/>
                <a:ea typeface="Amiri" pitchFamily="2" charset="-78"/>
                <a:cs typeface="Amiri" pitchFamily="2" charset="-78"/>
              </a:rPr>
              <a:t>٦</a:t>
            </a:r>
            <a:pPr algn="l" indent="0" marL="0">
              <a:buNone/>
            </a:pPr>
            <a:r>
              <a:rPr lang="en-US" sz="1300" dirty="0">
                <a:solidFill>
                  <a:srgbClr val="1F2A37"/>
                </a:solidFill>
                <a:latin typeface="Calibri" pitchFamily="34" charset="0"/>
                <a:cs typeface="Amiri" pitchFamily="2" charset="-78"/>
              </a:rPr>
              <a:t> = 6).</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compounds unit first: khamsatun wa-ʿishrūna.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 3–10 I checked the singular, then flipped.</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ordinals agree with the noun.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11–99 I used a singular noun with -an.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٥٦</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56</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06</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75</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 cars”.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ثَلَاثَةُ سَيَّارَاتٍ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سَيَّارَاتٍ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سَيَّارَةٍ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first year”.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السَّنَةُ الْأُولَى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السَّنَةُ الْأَوَّلُ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الْأُولَى سَنَةٌ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٥٦</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56</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06</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75</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ring is five; </a:t>
            </a:r>
            <a:pPr algn="l" indent="0" marL="0">
              <a:buNone/>
            </a:pPr>
            <a:r>
              <a:rPr lang="ar-SA" altLang="en-US" sz="1350" dirty="0">
                <a:solidFill>
                  <a:srgbClr val="8A6D1E"/>
                </a:solidFill>
                <a:latin typeface="Amiri" pitchFamily="2" charset="-78"/>
                <a:ea typeface="Amiri" pitchFamily="2" charset="-78"/>
                <a:cs typeface="Amiri" pitchFamily="2" charset="-78"/>
              </a:rPr>
              <a:t>٦</a:t>
            </a:r>
            <a:pPr algn="l" indent="0" marL="0">
              <a:buNone/>
            </a:pPr>
            <a:r>
              <a:rPr lang="en-US" sz="1050" i="1" dirty="0">
                <a:solidFill>
                  <a:srgbClr val="8A6D1E"/>
                </a:solidFill>
                <a:latin typeface="Calibri" pitchFamily="34" charset="0"/>
                <a:cs typeface="Amiri" pitchFamily="2" charset="-78"/>
              </a:rPr>
              <a:t> is six.</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 cars”.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ثَلَاثَةُ سَيَّارَاتٍ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ثَلَاثُ سَيَّارَاتٍ</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ثَلَاثُ سَيَّارَةٍ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 singular → number without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first year”.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السَّنَةُ الْأُولَى</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السَّنَةُ الْأَوَّلُ</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الْأُولَى سَنَةٌ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 ordinal follows the noun.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GM-NUM-01 · Numbers and Time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Before GM-NUM-02: get ready at home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GM-NUM-02 · Telling the Time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السَّاعَةُ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hour / o’clock</a:t>
            </a:r>
            <a:pPr indent="0" marL="0">
              <a:buNone/>
            </a:pPr>
            <a:r>
              <a:rPr lang="ar-SA" sz="1000" i="1" dirty="0">
                <a:solidFill>
                  <a:srgbClr val="5A6472"/>
                </a:solidFill>
                <a:latin typeface="Calibri" pitchFamily="34" charset="0"/>
                <a:ea typeface="Amiri" pitchFamily="2" charset="-78"/>
                <a:cs typeface="Amiri" pitchFamily="2" charset="-78"/>
              </a:rPr>
              <a:t>  السَّاعَةُ الْخَامِسَةُ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النِّصْفُ</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half</a:t>
            </a:r>
            <a:pPr indent="0" marL="0">
              <a:buNone/>
            </a:pPr>
            <a:r>
              <a:rPr lang="ar-SA" sz="1000" i="1" dirty="0">
                <a:solidFill>
                  <a:srgbClr val="5A6472"/>
                </a:solidFill>
                <a:latin typeface="Calibri" pitchFamily="34" charset="0"/>
                <a:ea typeface="Amiri" pitchFamily="2" charset="-78"/>
                <a:cs typeface="Amiri" pitchFamily="2" charset="-78"/>
              </a:rPr>
              <a:t>  وَالنِّصْفُ</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الرُّبْعُ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quarter</a:t>
            </a:r>
            <a:pPr indent="0" marL="0">
              <a:buNone/>
            </a:pPr>
            <a:r>
              <a:rPr lang="ar-SA" sz="1000" i="1" dirty="0">
                <a:solidFill>
                  <a:srgbClr val="5A6472"/>
                </a:solidFill>
                <a:latin typeface="Calibri" pitchFamily="34" charset="0"/>
                <a:ea typeface="Amiri" pitchFamily="2" charset="-78"/>
                <a:cs typeface="Amiri" pitchFamily="2" charset="-78"/>
              </a:rPr>
              <a:t>  وَالرُّبْعُ</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إِلَّا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(minus)</a:t>
            </a:r>
            <a:pPr indent="0" marL="0">
              <a:buNone/>
            </a:pPr>
            <a:r>
              <a:rPr lang="ar-SA" sz="1000" i="1" dirty="0">
                <a:solidFill>
                  <a:srgbClr val="5A6472"/>
                </a:solidFill>
                <a:latin typeface="Calibri" pitchFamily="34" charset="0"/>
                <a:ea typeface="Amiri" pitchFamily="2" charset="-78"/>
                <a:cs typeface="Amiri" pitchFamily="2" charset="-78"/>
              </a:rPr>
              <a:t>  إِلَّا رُبْعًا</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دَقِيقَةٌ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minute</a:t>
            </a:r>
            <a:pPr indent="0" marL="0">
              <a:buNone/>
            </a:pPr>
            <a:r>
              <a:rPr lang="ar-SA" sz="1000" i="1" dirty="0">
                <a:solidFill>
                  <a:srgbClr val="5A6472"/>
                </a:solidFill>
                <a:latin typeface="Calibri" pitchFamily="34" charset="0"/>
                <a:ea typeface="Amiri" pitchFamily="2" charset="-78"/>
                <a:cs typeface="Amiri" pitchFamily="2" charset="-78"/>
              </a:rPr>
              <a:t>  عَشْرُ دَقَائِقَ</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You know as-sāʿatu th-thālithatu = 3 o’clock. How do you think you say “half past three”?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السَّاعَةُ الثَّالِثَةُ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“Mild”: numbers 1–20 three ways (digit, Hindi digit, word).</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“Spicy”: eight 3–10 sentences, labelled </a:t>
            </a:r>
            <a:pPr algn="l" indent="0" marL="0">
              <a:buNone/>
            </a:pPr>
            <a:r>
              <a:rPr lang="ar-SA" altLang="en-US" sz="1550" dirty="0">
                <a:solidFill>
                  <a:srgbClr val="1F2A37"/>
                </a:solidFill>
                <a:latin typeface="Amiri" pitchFamily="2" charset="-78"/>
                <a:ea typeface="Amiri" pitchFamily="2" charset="-78"/>
                <a:cs typeface="Amiri" pitchFamily="2" charset="-78"/>
              </a:rPr>
              <a:t>ة</a:t>
            </a:r>
            <a:pPr algn="l" indent="0" marL="0">
              <a:buNone/>
            </a:pPr>
            <a:r>
              <a:rPr lang="en-US" sz="1200" dirty="0">
                <a:solidFill>
                  <a:srgbClr val="1F2A37"/>
                </a:solidFill>
                <a:latin typeface="Calibri" pitchFamily="34" charset="0"/>
                <a:cs typeface="Amiri" pitchFamily="2" charset="-78"/>
              </a:rPr>
              <a:t> on / </a:t>
            </a:r>
            <a:pPr algn="l" indent="0" marL="0">
              <a:buNone/>
            </a:pPr>
            <a:r>
              <a:rPr lang="ar-SA" altLang="en-US" sz="1550" dirty="0">
                <a:solidFill>
                  <a:srgbClr val="1F2A37"/>
                </a:solidFill>
                <a:latin typeface="Amiri" pitchFamily="2" charset="-78"/>
                <a:ea typeface="Amiri" pitchFamily="2" charset="-78"/>
                <a:cs typeface="Amiri" pitchFamily="2" charset="-78"/>
              </a:rPr>
              <a:t>ة</a:t>
            </a:r>
            <a:pPr algn="l" indent="0" marL="0">
              <a:buNone/>
            </a:pPr>
            <a:r>
              <a:rPr lang="en-US" sz="1200" dirty="0">
                <a:solidFill>
                  <a:srgbClr val="1F2A37"/>
                </a:solidFill>
                <a:latin typeface="Calibri" pitchFamily="34" charset="0"/>
                <a:cs typeface="Amiri" pitchFamily="2" charset="-78"/>
              </a:rPr>
              <a:t> off.</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“Hot”: «</a:t>
            </a:r>
            <a:pPr algn="l" indent="0" marL="0">
              <a:buNone/>
            </a:pPr>
            <a:r>
              <a:rPr lang="ar-SA" altLang="en-US" sz="1550" dirty="0">
                <a:solidFill>
                  <a:srgbClr val="1F2A37"/>
                </a:solidFill>
                <a:latin typeface="Amiri" pitchFamily="2" charset="-78"/>
                <a:ea typeface="Amiri" pitchFamily="2" charset="-78"/>
                <a:cs typeface="Amiri" pitchFamily="2" charset="-78"/>
              </a:rPr>
              <a:t>عَائِلَتِي وَأَرْقَامِي</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GM-NUM-01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GM-NUM-02 · Telling the Time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الْوَقْتُ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٥</a:t>
            </a:r>
            <a:pPr algn="l" indent="0" marL="0">
              <a:buNone/>
            </a:pPr>
            <a:r>
              <a:rPr lang="en-US" sz="1300" b="1" dirty="0">
                <a:solidFill>
                  <a:srgbClr val="FFFFFF"/>
                </a:solidFill>
                <a:latin typeface="Calibri" pitchFamily="34" charset="0"/>
                <a:cs typeface="Amiri" pitchFamily="2" charset="-78"/>
              </a:rPr>
              <a:t> = 5, </a:t>
            </a:r>
            <a:pPr algn="l" indent="0" marL="0">
              <a:buNone/>
            </a:pPr>
            <a:r>
              <a:rPr lang="ar-SA" altLang="en-US" sz="1700" b="1" dirty="0">
                <a:solidFill>
                  <a:srgbClr val="FFFFFF"/>
                </a:solidFill>
                <a:latin typeface="Amiri" pitchFamily="2" charset="-78"/>
                <a:ea typeface="Amiri" pitchFamily="2" charset="-78"/>
                <a:cs typeface="Amiri" pitchFamily="2" charset="-78"/>
              </a:rPr>
              <a:t>٦</a:t>
            </a:r>
            <a:pPr algn="l" indent="0" marL="0">
              <a:buNone/>
            </a:pPr>
            <a:r>
              <a:rPr lang="en-US" sz="1300" b="1" dirty="0">
                <a:solidFill>
                  <a:srgbClr val="FFFFFF"/>
                </a:solidFill>
                <a:latin typeface="Calibri" pitchFamily="34" charset="0"/>
                <a:cs typeface="Amiri" pitchFamily="2" charset="-78"/>
              </a:rPr>
              <a:t> = 6 · numbers read left to right · 25 = khamsatun wa-ʿishrūna · 1–2 follow the noun · 3–10 flip the gender of the singular · ordinals match the noun (al-awwal / al-ūlā).</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GM-NUM-01 · Numbers</dc:title>
  <dc:subject>PptxGenJS Presentation</dc:subject>
  <dc:creator>Al Madina Online School · Arabic Department</dc:creator>
  <cp:lastModifiedBy>Al Madina Online School · Arabic Department</cp:lastModifiedBy>
  <cp:revision>1</cp:revision>
  <dcterms:created xsi:type="dcterms:W3CDTF">2026-10-11T06:42:20Z</dcterms:created>
  <dcterms:modified xsi:type="dcterms:W3CDTF">2026-10-11T06:42:20Z</dcterms:modified>
</cp:coreProperties>
</file>