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Numbers and Time › GM-NUM-03 (“— Age · Numeracy Mastery 03”).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كَمْ عُمْرُكَ؟ · عُمْرِي … and the family عُمْرُهُ · عُمْرُهَا with common ages. Develop: the full Age Ladder (سَنَةٌ · سَنَتَانِ · سَنَوَاتٍ · سَنَةً) and family comparisons with أَكْبَرُ مِنْ / أَصْغَرُ مِنْ. Stretch: feminine teens (أَرْبَعَ عَشْرَةَ), compound ages (خَمْسٌ وَأَرْبَعُونَ), the gap with بِـ, hidden calculations and the masculine عَامٌ.
• Website ear trap: thalātha ʿashrata (13 — TWO words) vs thalāthūna (30 — ONE word in -ūna).
• Website Rung 3 surprise: from 11 the noun is singular — khamsa ʿashrata sanatan, never sanawātin.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GM-NUM-01 (the flip, 11–99) and the GM-NUM-02 prep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ʿumrī + number + the right form of “year”: sana · sanatān · 3–10 sanawāt · 11–99 sanatan.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“Asking and answering”. The lī pattern is like French j’ai 16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“The Age Ladder” and “Tens, compounds &amp; the whole family”. Stretch: ʿām is masculine — khamsata ʿashara ʿāman.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“Older, younger &amp; the same age”. Heritage link (website): Allāhu akbar — the same pattern afʿal.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 ladder and traps.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“Family profile” (answers: 16 · 19 · 8 ·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family table and Age Machine. Cover column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say each age in digits — and hold up 1 finger (teen) or 3 (ten) for the 13 / 30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say each age in digits — and hold up 1 finger (teen) or 3 (ten) for the 13 / 30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questions on the website ladder and comparisons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task A. Read it aloud once while students follow; then they hunt for today’s grammar.
Task: Website: answer, and calculate any age gap the text does not state.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Task A text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and role-play questions. Sequence: ● 10s think → ↔ 45s rehearse aloud with mic muted → ◎ two named students on open mic (warned in advance) → + ? the class types one follow-up in chat → ↺ one student summarises.
Routes: Core uses the Core prompt and stem; Develop the Develop prompt; Stretch the last prompt.
Website: five ages, two comparisons, an exact gap and three ladder rungs. Listening (website): three introductions — beware 13 /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7–9 Arabic sentences using both ʿumruhu / ʿumruhā and akbaru min / aṣgharu min.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(GM-NUM-04 · Money) will spend class time USING this language, so students prepare it tonight — short, simple, easy to access (school guidance: “Simple, Short, Interesting, Relevant, Easy to access”). The five words prepare GM-NUM-04 (website Numeracy Mastery 04: money).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NUMBERS AND TIME  ·  GM-NUM-03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GM-NUM-03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Age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الْعُمْرُ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Kam ʿumruka? — ʿumrī arbaʿa ʿashrata sanatan. Climb the Age Ladder: sana (1), sanatān (2), sanawāt (3–10), sanatan (11–99). Compare with akbaru min / aṣgharu min, and give the gap with bi-: bi-sanatayni.</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GM-NUM-03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Numbers and Time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ʿumr family; the Age Ladder; family ages; comparisons.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Climb the ladder; sort rungs;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GM-NUM-04.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cars”.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سَيَّارَاتٍ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سَيَّارَاتٍ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سَيَّارَةٍ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سَنَةٌ</a:t>
            </a:r>
            <a:pPr algn="l" indent="0" marL="0">
              <a:buNone/>
            </a:pPr>
            <a:r>
              <a:rPr lang="en-US" sz="1250" b="1" dirty="0">
                <a:solidFill>
                  <a:srgbClr val="1B3B6F"/>
                </a:solidFill>
                <a:latin typeface="Calibri" pitchFamily="34" charset="0"/>
                <a:cs typeface="Amiri" pitchFamily="2" charset="-78"/>
              </a:rPr>
              <a:t> masculine or feminine?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feminine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masculine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“twenty students”.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 طُلَّابٍ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 طَالِبٌ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 طَالِبًا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أَكْبَرُ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younger than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same as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older than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عُمْرُكَ</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cars”.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ثَلَاثَةُ سَيَّارَاتٍ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 سَيَّارَاتٍ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 سَيَّارَةٍ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GM-NUM-01: fem. noun → no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سَنَةٌ</a:t>
            </a:r>
            <a:pPr algn="l" indent="0" marL="0">
              <a:buNone/>
            </a:pPr>
            <a:r>
              <a:rPr lang="en-US" sz="1250" b="1" dirty="0">
                <a:solidFill>
                  <a:srgbClr val="1B3B6F"/>
                </a:solidFill>
                <a:latin typeface="Calibri" pitchFamily="34" charset="0"/>
                <a:cs typeface="Amiri" pitchFamily="2" charset="-78"/>
              </a:rPr>
              <a:t> masculine or feminine?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feminine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masculine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Tāʾ marbūṭa.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“twenty students”.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عِشْرُونَ طُلَّابٍ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عِشْرُونَ طَالِبٌ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عِشْرُونَ طَالِبًا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11–99: singular -an.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أَكْبَرُ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younger than</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same as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older than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عُمْرِي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عُمْرُكَ</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عُمْرُهُ</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-ī = my.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ʿumrī + number + the right form of “year”: sana · sanatān · 3–10 sanawāt · 11–99 sanatan.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عُمْرُهُ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خَمْسُ سَنَوَاتٍ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عُمْرِي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أَرْبَعَ عَشْرَةَ سَنَةً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kam ʿumruka?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right form of “year” for any age.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the ages of family members.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ages and give the gap with bi-.</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my own age correctly.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ask kam ʿumruka? / kam ʿumruki?</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all four rungs of the Age Ladder.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compare: akhī akbaru minnī.</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feminine teens and compound ages.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calculate hidden age gaps.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age</a:t>
            </a:r>
            <a:endParaRPr lang="en-US" sz="1350" dirty="0"/>
          </a:p>
          <a:p>
            <a:pPr indent="0" marL="0">
              <a:buNone/>
            </a:pPr>
            <a:r>
              <a:rPr lang="en-US" sz="1100" i="1" dirty="0">
                <a:solidFill>
                  <a:srgbClr val="5A6472"/>
                </a:solidFill>
                <a:latin typeface="Calibri" pitchFamily="34" charset="0"/>
                <a:cs typeface="Amiri" pitchFamily="2" charset="-78"/>
              </a:rPr>
              <a:t>al-ʿum-ru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كَمْ عُمْرُكَ؟</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سَنَةٌ · سَنَتَانِ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year · two years</a:t>
            </a:r>
            <a:endParaRPr lang="en-US" sz="1350" dirty="0"/>
          </a:p>
          <a:p>
            <a:pPr indent="0" marL="0">
              <a:buNone/>
            </a:pPr>
            <a:r>
              <a:rPr lang="en-US" sz="1100" i="1" dirty="0">
                <a:solidFill>
                  <a:srgbClr val="5A6472"/>
                </a:solidFill>
                <a:latin typeface="Calibri" pitchFamily="34" charset="0"/>
                <a:cs typeface="Amiri" pitchFamily="2" charset="-78"/>
              </a:rPr>
              <a:t>sa-na-tun · sa-na-tā-ni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عُمْرُهَا سَنَتَانِ</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سَنَوَاتٌ</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years (3–10)</a:t>
            </a:r>
            <a:endParaRPr lang="en-US" sz="1350" dirty="0"/>
          </a:p>
          <a:p>
            <a:pPr indent="0" marL="0">
              <a:buNone/>
            </a:pPr>
            <a:r>
              <a:rPr lang="en-US" sz="1100" i="1" dirty="0">
                <a:solidFill>
                  <a:srgbClr val="5A6472"/>
                </a:solidFill>
                <a:latin typeface="Calibri" pitchFamily="34" charset="0"/>
                <a:cs typeface="Amiri" pitchFamily="2" charset="-78"/>
              </a:rPr>
              <a:t>sa-na-wā-tun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خَمْسُ سَنَوَاتٍ</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سَنَةً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year (11–99, singular)</a:t>
            </a:r>
            <a:endParaRPr lang="en-US" sz="1350" dirty="0"/>
          </a:p>
          <a:p>
            <a:pPr indent="0" marL="0">
              <a:buNone/>
            </a:pPr>
            <a:r>
              <a:rPr lang="en-US" sz="1100" i="1" dirty="0">
                <a:solidFill>
                  <a:srgbClr val="5A6472"/>
                </a:solidFill>
                <a:latin typeface="Calibri" pitchFamily="34" charset="0"/>
                <a:cs typeface="Amiri" pitchFamily="2" charset="-78"/>
              </a:rPr>
              <a:t>sa-na-tan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عِشْرُونَ سَنَةً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أَكْبَرُ مِنْ · أَصْغَرُ مِنْ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older than · younger than</a:t>
            </a:r>
            <a:endParaRPr lang="en-US" sz="1350" dirty="0"/>
          </a:p>
          <a:p>
            <a:pPr indent="0" marL="0">
              <a:buNone/>
            </a:pPr>
            <a:r>
              <a:rPr lang="en-US" sz="1100" i="1" dirty="0">
                <a:solidFill>
                  <a:srgbClr val="5A6472"/>
                </a:solidFill>
                <a:latin typeface="Calibri" pitchFamily="34" charset="0"/>
                <a:cs typeface="Amiri" pitchFamily="2" charset="-78"/>
              </a:rPr>
              <a:t>ak-ba-ru min · aṣ-gha-ru min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أَكْبَرُ مِنِّي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بِـ</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(the gap)</a:t>
            </a:r>
            <a:endParaRPr lang="en-US" sz="1350" dirty="0"/>
          </a:p>
          <a:p>
            <a:pPr indent="0" marL="0">
              <a:buNone/>
            </a:pPr>
            <a:r>
              <a:rPr lang="en-US" sz="1100" i="1" dirty="0">
                <a:solidFill>
                  <a:srgbClr val="5A6472"/>
                </a:solidFill>
                <a:latin typeface="Calibri" pitchFamily="34" charset="0"/>
                <a:cs typeface="Amiri" pitchFamily="2" charset="-78"/>
              </a:rPr>
              <a:t>bi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بِسَنَتَيْنِ</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AGE · PART 1 · ASKING AND ANSWERING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Kam ʿumruka?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عُمْرُكَ؟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9077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669280" y="2267712"/>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عُمْرِي أَرْبَعَ عَشْرَةَ سَنَةً.</a:t>
            </a:r>
            <a:endParaRPr lang="ar-SA" sz="2200" dirty="0"/>
          </a:p>
        </p:txBody>
      </p:sp>
      <p:sp>
        <p:nvSpPr>
          <p:cNvPr id="21" name="Text 18"/>
          <p:cNvSpPr txBox="1"/>
          <p:nvPr/>
        </p:nvSpPr>
        <p:spPr>
          <a:xfrm>
            <a:off x="294436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age</a:t>
            </a:r>
            <a:endParaRPr lang="en-US" sz="1100" dirty="0"/>
          </a:p>
        </p:txBody>
      </p:sp>
      <p:sp>
        <p:nvSpPr>
          <p:cNvPr id="22" name="Text 19"/>
          <p:cNvSpPr txBox="1"/>
          <p:nvPr/>
        </p:nvSpPr>
        <p:spPr>
          <a:xfrm>
            <a:off x="54864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عُمْرِي</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669280" y="3054096"/>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كَمْ عُمْرُكِ يَا فَاطِمَةُ؟</a:t>
            </a:r>
            <a:endParaRPr lang="ar-SA" sz="2200" dirty="0"/>
          </a:p>
        </p:txBody>
      </p:sp>
      <p:sp>
        <p:nvSpPr>
          <p:cNvPr id="27" name="Text 24"/>
          <p:cNvSpPr txBox="1"/>
          <p:nvPr/>
        </p:nvSpPr>
        <p:spPr>
          <a:xfrm>
            <a:off x="294436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age (m. · f.)</a:t>
            </a:r>
            <a:endParaRPr lang="en-US" sz="1100" dirty="0"/>
          </a:p>
        </p:txBody>
      </p:sp>
      <p:sp>
        <p:nvSpPr>
          <p:cNvPr id="28" name="Text 25"/>
          <p:cNvSpPr txBox="1"/>
          <p:nvPr/>
        </p:nvSpPr>
        <p:spPr>
          <a:xfrm>
            <a:off x="54864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عُمْرُكَ · عُمْرُكِ</a:t>
            </a:r>
            <a:endParaRPr lang="ar-SA" sz="24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669280" y="3840480"/>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أَخِي عُمْرُهُ سَبْعُ سَنَوَاتٍ.</a:t>
            </a:r>
            <a:endParaRPr lang="ar-SA" sz="2200" dirty="0"/>
          </a:p>
        </p:txBody>
      </p:sp>
      <p:sp>
        <p:nvSpPr>
          <p:cNvPr id="33" name="Text 30"/>
          <p:cNvSpPr txBox="1"/>
          <p:nvPr/>
        </p:nvSpPr>
        <p:spPr>
          <a:xfrm>
            <a:off x="294436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 her age</a:t>
            </a:r>
            <a:endParaRPr lang="en-US" sz="1100" dirty="0"/>
          </a:p>
        </p:txBody>
      </p:sp>
      <p:sp>
        <p:nvSpPr>
          <p:cNvPr id="34" name="Text 31"/>
          <p:cNvSpPr txBox="1"/>
          <p:nvPr/>
        </p:nvSpPr>
        <p:spPr>
          <a:xfrm>
            <a:off x="54864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عُمْرُهُ · عُمْرُهَا</a:t>
            </a:r>
            <a:endParaRPr lang="ar-SA" sz="24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669280" y="4626864"/>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 سِتَّ عَشْرَةَ سَنَةً.</a:t>
            </a:r>
            <a:endParaRPr lang="ar-SA" sz="2200" dirty="0"/>
          </a:p>
        </p:txBody>
      </p:sp>
      <p:sp>
        <p:nvSpPr>
          <p:cNvPr id="39" name="Text 36"/>
          <p:cNvSpPr txBox="1"/>
          <p:nvPr/>
        </p:nvSpPr>
        <p:spPr>
          <a:xfrm>
            <a:off x="294436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 he has · she has</a:t>
            </a:r>
            <a:endParaRPr lang="en-US" sz="1100" dirty="0"/>
          </a:p>
        </p:txBody>
      </p:sp>
      <p:sp>
        <p:nvSpPr>
          <p:cNvPr id="40" name="Text 37"/>
          <p:cNvSpPr txBox="1"/>
          <p:nvPr/>
        </p:nvSpPr>
        <p:spPr>
          <a:xfrm>
            <a:off x="548640"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 · لَهُ · لَهَا</a:t>
            </a:r>
            <a:endParaRPr lang="ar-SA" sz="24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ʿumr = age (the same root as ʿumra and the name ʿUmar). Both formulas earn full marks; ʿumrī … is the safest everyday choice. Listen for ʿumruka (boy) vs ʿumruki (girl).</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AGE · PART 2 · THE AGE LADDER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rungs for “year”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الْعُمْرِ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748272" y="1810512"/>
            <a:ext cx="4910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0050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18105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Rung</a:t>
            </a:r>
            <a:endParaRPr lang="en-US" sz="1100" dirty="0"/>
          </a:p>
        </p:txBody>
      </p:sp>
      <p:sp>
        <p:nvSpPr>
          <p:cNvPr id="19" name="Text 16"/>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Age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766560" y="2267712"/>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 أَخِي سَنَةٌ وَاحِدَةٌ.</a:t>
            </a:r>
            <a:endParaRPr lang="ar-SA" sz="2200" dirty="0"/>
          </a:p>
        </p:txBody>
      </p:sp>
      <p:sp>
        <p:nvSpPr>
          <p:cNvPr id="22" name="Text 19"/>
          <p:cNvSpPr txBox="1"/>
          <p:nvPr/>
        </p:nvSpPr>
        <p:spPr>
          <a:xfrm>
            <a:off x="402336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سَنَةٌ وَاحِدَةٌ</a:t>
            </a:r>
            <a:endParaRPr lang="ar-SA" sz="2400" dirty="0"/>
          </a:p>
        </p:txBody>
      </p:sp>
      <p:sp>
        <p:nvSpPr>
          <p:cNvPr id="23" name="Text 20"/>
          <p:cNvSpPr txBox="1"/>
          <p:nvPr/>
        </p:nvSpPr>
        <p:spPr>
          <a:xfrm>
            <a:off x="18470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rung 1 · singular</a:t>
            </a:r>
            <a:endParaRPr lang="en-US" sz="1100" dirty="0"/>
          </a:p>
        </p:txBody>
      </p:sp>
      <p:sp>
        <p:nvSpPr>
          <p:cNvPr id="24" name="Text 21"/>
          <p:cNvSpPr txBox="1"/>
          <p:nvPr/>
        </p:nvSpPr>
        <p:spPr>
          <a:xfrm>
            <a:off x="56692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766560" y="2881884"/>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عُمْرُهَا سَنَتَانِ.</a:t>
            </a:r>
            <a:endParaRPr lang="ar-SA" sz="2200" dirty="0"/>
          </a:p>
        </p:txBody>
      </p:sp>
      <p:sp>
        <p:nvSpPr>
          <p:cNvPr id="29" name="Text 26"/>
          <p:cNvSpPr txBox="1"/>
          <p:nvPr/>
        </p:nvSpPr>
        <p:spPr>
          <a:xfrm>
            <a:off x="402336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سَنَتَانِ</a:t>
            </a:r>
            <a:endParaRPr lang="ar-SA" sz="2400" dirty="0"/>
          </a:p>
        </p:txBody>
      </p:sp>
      <p:sp>
        <p:nvSpPr>
          <p:cNvPr id="30" name="Text 27"/>
          <p:cNvSpPr txBox="1"/>
          <p:nvPr/>
        </p:nvSpPr>
        <p:spPr>
          <a:xfrm>
            <a:off x="18470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rung 1 · dual</a:t>
            </a:r>
            <a:endParaRPr lang="en-US" sz="1100" dirty="0"/>
          </a:p>
        </p:txBody>
      </p:sp>
      <p:sp>
        <p:nvSpPr>
          <p:cNvPr id="31" name="Text 28"/>
          <p:cNvSpPr txBox="1"/>
          <p:nvPr/>
        </p:nvSpPr>
        <p:spPr>
          <a:xfrm>
            <a:off x="56692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766560" y="3496056"/>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 خَمْسُ سَنَوَاتٍ.</a:t>
            </a:r>
            <a:endParaRPr lang="ar-SA" sz="2200" dirty="0"/>
          </a:p>
        </p:txBody>
      </p:sp>
      <p:sp>
        <p:nvSpPr>
          <p:cNvPr id="36" name="Text 33"/>
          <p:cNvSpPr txBox="1"/>
          <p:nvPr/>
        </p:nvSpPr>
        <p:spPr>
          <a:xfrm>
            <a:off x="402336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 سَنَوَاتٍ</a:t>
            </a:r>
            <a:endParaRPr lang="ar-SA" sz="2400" dirty="0"/>
          </a:p>
        </p:txBody>
      </p:sp>
      <p:sp>
        <p:nvSpPr>
          <p:cNvPr id="37" name="Text 34"/>
          <p:cNvSpPr txBox="1"/>
          <p:nvPr/>
        </p:nvSpPr>
        <p:spPr>
          <a:xfrm>
            <a:off x="18470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rung 2 · plural (flip)</a:t>
            </a:r>
            <a:endParaRPr lang="en-US" sz="1100" dirty="0"/>
          </a:p>
        </p:txBody>
      </p:sp>
      <p:sp>
        <p:nvSpPr>
          <p:cNvPr id="38" name="Text 35"/>
          <p:cNvSpPr txBox="1"/>
          <p:nvPr/>
        </p:nvSpPr>
        <p:spPr>
          <a:xfrm>
            <a:off x="56692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6766560" y="4110228"/>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عُمْرِي خَمْسَ عَشْرَةَ سَنَةً.</a:t>
            </a:r>
            <a:endParaRPr lang="ar-SA" sz="2200" dirty="0"/>
          </a:p>
        </p:txBody>
      </p:sp>
      <p:sp>
        <p:nvSpPr>
          <p:cNvPr id="43" name="Text 40"/>
          <p:cNvSpPr txBox="1"/>
          <p:nvPr/>
        </p:nvSpPr>
        <p:spPr>
          <a:xfrm>
            <a:off x="402336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 سَنَةً</a:t>
            </a:r>
            <a:endParaRPr lang="ar-SA" sz="2400" dirty="0"/>
          </a:p>
        </p:txBody>
      </p:sp>
      <p:sp>
        <p:nvSpPr>
          <p:cNvPr id="44" name="Text 41"/>
          <p:cNvSpPr txBox="1"/>
          <p:nvPr/>
        </p:nvSpPr>
        <p:spPr>
          <a:xfrm>
            <a:off x="18470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rung 3 · fem. teens</a:t>
            </a:r>
            <a:endParaRPr lang="en-US" sz="1100" dirty="0"/>
          </a:p>
        </p:txBody>
      </p:sp>
      <p:sp>
        <p:nvSpPr>
          <p:cNvPr id="45" name="Text 42"/>
          <p:cNvSpPr txBox="1"/>
          <p:nvPr/>
        </p:nvSpPr>
        <p:spPr>
          <a:xfrm>
            <a:off x="56692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11–19</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6766560" y="4724400"/>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 أَخِي عِشْرُونَ سَنَةً.</a:t>
            </a:r>
            <a:endParaRPr lang="ar-SA" sz="2200" dirty="0"/>
          </a:p>
        </p:txBody>
      </p:sp>
      <p:sp>
        <p:nvSpPr>
          <p:cNvPr id="50" name="Text 47"/>
          <p:cNvSpPr txBox="1"/>
          <p:nvPr/>
        </p:nvSpPr>
        <p:spPr>
          <a:xfrm>
            <a:off x="402336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 سَنَةً</a:t>
            </a:r>
            <a:endParaRPr lang="ar-SA" sz="2400" dirty="0"/>
          </a:p>
        </p:txBody>
      </p:sp>
      <p:sp>
        <p:nvSpPr>
          <p:cNvPr id="51" name="Text 48"/>
          <p:cNvSpPr txBox="1"/>
          <p:nvPr/>
        </p:nvSpPr>
        <p:spPr>
          <a:xfrm>
            <a:off x="18470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rung 3 · tens</a:t>
            </a:r>
            <a:endParaRPr lang="en-US" sz="1100" dirty="0"/>
          </a:p>
        </p:txBody>
      </p:sp>
      <p:sp>
        <p:nvSpPr>
          <p:cNvPr id="52" name="Text 49"/>
          <p:cNvSpPr txBox="1"/>
          <p:nvPr/>
        </p:nvSpPr>
        <p:spPr>
          <a:xfrm>
            <a:off x="56692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20–99</a:t>
            </a:r>
            <a:endParaRPr lang="en-US" sz="11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6766560" y="5338572"/>
            <a:ext cx="48737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 أَبِي خَمْسٌ وَأَرْبَعُونَ سَنَةً.</a:t>
            </a:r>
            <a:endParaRPr lang="ar-SA" sz="2200" dirty="0"/>
          </a:p>
        </p:txBody>
      </p:sp>
      <p:sp>
        <p:nvSpPr>
          <p:cNvPr id="55" name="Text 52"/>
          <p:cNvSpPr txBox="1"/>
          <p:nvPr/>
        </p:nvSpPr>
        <p:spPr>
          <a:xfrm>
            <a:off x="4023360"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خَمْسٌ وَأَرْبَعُونَ سَنَةً</a:t>
            </a:r>
            <a:endParaRPr lang="ar-SA" sz="2400" dirty="0"/>
          </a:p>
        </p:txBody>
      </p:sp>
      <p:sp>
        <p:nvSpPr>
          <p:cNvPr id="56" name="Text 53"/>
          <p:cNvSpPr txBox="1"/>
          <p:nvPr/>
        </p:nvSpPr>
        <p:spPr>
          <a:xfrm>
            <a:off x="18470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compound (unit flips)</a:t>
            </a:r>
            <a:endParaRPr lang="en-US" sz="1100" dirty="0"/>
          </a:p>
        </p:txBody>
      </p:sp>
      <p:sp>
        <p:nvSpPr>
          <p:cNvPr id="57" name="Text 54"/>
          <p:cNvSpPr txBox="1"/>
          <p:nvPr/>
        </p:nvSpPr>
        <p:spPr>
          <a:xfrm>
            <a:off x="56692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45</a:t>
            </a:r>
            <a:endParaRPr lang="en-US" sz="11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sana is feminine, so 3–10 drop the </a:t>
            </a:r>
            <a:pPr algn="l" indent="0" marL="0">
              <a:buNone/>
            </a:pPr>
            <a:r>
              <a:rPr lang="ar-SA" altLang="en-US" sz="1450" b="1" dirty="0">
                <a:solidFill>
                  <a:srgbClr val="1B3B6F"/>
                </a:solidFill>
                <a:latin typeface="Amiri" pitchFamily="2" charset="-78"/>
                <a:ea typeface="Amiri" pitchFamily="2" charset="-78"/>
                <a:cs typeface="Amiri" pitchFamily="2" charset="-78"/>
              </a:rPr>
              <a:t>ة</a:t>
            </a:r>
            <a:pPr algn="l" indent="0" marL="0">
              <a:buNone/>
            </a:pPr>
            <a:r>
              <a:rPr lang="en-US" sz="1100" b="1" dirty="0">
                <a:solidFill>
                  <a:srgbClr val="1B3B6F"/>
                </a:solidFill>
                <a:latin typeface="Calibri" pitchFamily="34" charset="0"/>
                <a:cs typeface="Amiri" pitchFamily="2" charset="-78"/>
              </a:rPr>
              <a:t> (thalāthu sanawātin) and the teens use the feminine set: iḥdā ʿashrata, ithnatā ʿashrata, thalātha ʿashrata … From 11 the noun is SINGULAR: sanatan.</a:t>
            </a:r>
            <a:endParaRPr lang="en-US" sz="110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AGE · PART 3 · OLDER, YOUNGER AND THE GAP (WEBSITE TABLE) · DEVELOP / STRETCH</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Akbaru min … bi-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أَكْبَرُ وَأَصْغَرُ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32735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035040" y="2267712"/>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أَخِي أَكْبَرُ مِنِّي.</a:t>
            </a:r>
            <a:endParaRPr lang="ar-SA" sz="2200" dirty="0"/>
          </a:p>
        </p:txBody>
      </p:sp>
      <p:sp>
        <p:nvSpPr>
          <p:cNvPr id="21" name="Text 18"/>
          <p:cNvSpPr txBox="1"/>
          <p:nvPr/>
        </p:nvSpPr>
        <p:spPr>
          <a:xfrm>
            <a:off x="33101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older than</a:t>
            </a:r>
            <a:endParaRPr lang="en-US" sz="1100" dirty="0"/>
          </a:p>
        </p:txBody>
      </p:sp>
      <p:sp>
        <p:nvSpPr>
          <p:cNvPr id="22" name="Text 19"/>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أَكْبَرُ مِنْ</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035040" y="3004718"/>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أُخْتِي أَصْغَرُ مِنْهُ.</a:t>
            </a:r>
            <a:endParaRPr lang="ar-SA" sz="2200" dirty="0"/>
          </a:p>
        </p:txBody>
      </p:sp>
      <p:sp>
        <p:nvSpPr>
          <p:cNvPr id="27" name="Text 24"/>
          <p:cNvSpPr txBox="1"/>
          <p:nvPr/>
        </p:nvSpPr>
        <p:spPr>
          <a:xfrm>
            <a:off x="33101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younger than</a:t>
            </a:r>
            <a:endParaRPr lang="en-US" sz="1100" dirty="0"/>
          </a:p>
        </p:txBody>
      </p:sp>
      <p:sp>
        <p:nvSpPr>
          <p:cNvPr id="28" name="Text 25"/>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أَصْغَرُ مِنْ</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035040" y="3741725"/>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أَكْبَرُ مِنِّي بِسَنَتَيْنِ.</a:t>
            </a:r>
            <a:endParaRPr lang="ar-SA" sz="2200" dirty="0"/>
          </a:p>
        </p:txBody>
      </p:sp>
      <p:sp>
        <p:nvSpPr>
          <p:cNvPr id="33" name="Text 30"/>
          <p:cNvSpPr txBox="1"/>
          <p:nvPr/>
        </p:nvSpPr>
        <p:spPr>
          <a:xfrm>
            <a:off x="33101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one · by two years</a:t>
            </a:r>
            <a:endParaRPr lang="en-US" sz="1100" dirty="0"/>
          </a:p>
        </p:txBody>
      </p:sp>
      <p:sp>
        <p:nvSpPr>
          <p:cNvPr id="34" name="Text 31"/>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بِسَنَةٍ · بِسَنَتَيْنِ</a:t>
            </a:r>
            <a:endParaRPr lang="ar-SA" sz="24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6035040" y="4478731"/>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أَبِي أَكْبَرُ مِنْ أُمِّي بِثَلَاثِ سَنَوَاتٍ.</a:t>
            </a:r>
            <a:endParaRPr lang="ar-SA" sz="2200" dirty="0"/>
          </a:p>
        </p:txBody>
      </p:sp>
      <p:sp>
        <p:nvSpPr>
          <p:cNvPr id="37" name="Text 34"/>
          <p:cNvSpPr txBox="1"/>
          <p:nvPr/>
        </p:nvSpPr>
        <p:spPr>
          <a:xfrm>
            <a:off x="33101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three years</a:t>
            </a:r>
            <a:endParaRPr lang="en-US" sz="1100" dirty="0"/>
          </a:p>
        </p:txBody>
      </p:sp>
      <p:sp>
        <p:nvSpPr>
          <p:cNvPr id="38" name="Text 35"/>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بِثَلَاثِ سَنَوَاتٍ</a:t>
            </a:r>
            <a:endParaRPr lang="ar-SA" sz="24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035040" y="5215738"/>
            <a:ext cx="56052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جَدَّتِي أَكْبَرُ شَخْصٍ فِي الْبَيْتِ.</a:t>
            </a:r>
            <a:endParaRPr lang="ar-SA" sz="2200" dirty="0"/>
          </a:p>
        </p:txBody>
      </p:sp>
      <p:sp>
        <p:nvSpPr>
          <p:cNvPr id="41" name="Text 38"/>
          <p:cNvSpPr txBox="1"/>
          <p:nvPr/>
        </p:nvSpPr>
        <p:spPr>
          <a:xfrm>
            <a:off x="33101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oldest · the youngest</a:t>
            </a:r>
            <a:endParaRPr lang="en-US" sz="1100" dirty="0"/>
          </a:p>
        </p:txBody>
      </p:sp>
      <p:sp>
        <p:nvSpPr>
          <p:cNvPr id="42" name="Text 39"/>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الْأَكْبَرُ · الْأَصْغَرُ</a:t>
            </a:r>
            <a:endParaRPr lang="ar-SA" sz="24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than me / you / him / her = minnī (double n!), minka / minki, minhu, minhā. The ladder still applies after bi-: bi-sanatin, bi-sanatayni, bi-thalāthi sanawātin.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5”.</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خَمْسَةُ سَنَوَاتٍ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خَمْسُ سَنَةً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خَمْسُ سَنَوَاتٍ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15”.</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خَمْسَ عَشْرَةَ سَنَةً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خَمْسَ عَشْرَةَ سَنَوَاتٍ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خَمْسُونَ سَنَةً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ثَلَاثُونَ سَنَةً</a:t>
            </a:r>
            <a:pPr algn="l" indent="0" marL="0">
              <a:buNone/>
            </a:pPr>
            <a:r>
              <a:rPr lang="en-US" sz="1250" b="1" dirty="0">
                <a:solidFill>
                  <a:srgbClr val="1B3B6F"/>
                </a:solidFill>
                <a:latin typeface="Calibri" pitchFamily="34" charset="0"/>
                <a:cs typeface="Amiri" pitchFamily="2" charset="-78"/>
              </a:rPr>
              <a:t>. The age is …</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years old”.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سَنَتَانِ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اثْنَانِ سَنَةً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سَنَتَيْنِ اثْنَتَيْنِ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5”.</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عُمْرِي خَمْسَةُ سَنَوَاتٍ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عُمْرِي خَمْسُ سَنَةً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عُمْرِي خَمْسُ سَنَوَاتٍ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Rung 2: flip + plural.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15”.</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عُمْرِي خَمْسَ عَشْرَةَ سَنَةً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عُمْرِي خَمْسَ عَشْرَةَ سَنَوَاتٍ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عُمْرِي خَمْسُونَ سَنَةً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Rung 3: singular sanatan.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ثَلَاثُونَ سَنَةً</a:t>
            </a:r>
            <a:pPr algn="l" indent="0" marL="0">
              <a:buNone/>
            </a:pPr>
            <a:r>
              <a:rPr lang="en-US" sz="1250" b="1" dirty="0">
                <a:solidFill>
                  <a:srgbClr val="1B3B6F"/>
                </a:solidFill>
                <a:latin typeface="Calibri" pitchFamily="34" charset="0"/>
                <a:cs typeface="Amiri" pitchFamily="2" charset="-78"/>
              </a:rPr>
              <a:t>. The age is …</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30</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word in -ūna = a ten.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years old”.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سَنَتَانِ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اثْنَانِ سَنَةً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سَنَتَيْنِ اثْنَتَيْنِ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Rung 1: the dual.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describe my family’s ages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 · 16</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سِتَّ عَشْرَةَ سَنَةً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teen, singular.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Brother · 19</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أَكْبَرُ مِنِّي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 the gap with 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Sister · 8</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ثَمَانِي سَنَوَاتٍ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Rung 2.</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Father · 46</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سِتٌّ وَأَرْبَعُونَ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Unit flips.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AGE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COMPARISON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اِسْمِي سَارَةُ وَعُمْرِي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سِتَّ عَشْرَةَ سَنَةً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أَخِي عُمَرُ عُمْرُهُ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تِسْعَ عَشْرَةَ سَنَةً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وَهُوَ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أَكْبَرُ مِنِّي بِثَلَاثِ سَنَوَاتٍ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أُخْتِي لَيْلَى عُمْرُهَا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ثَمَانِي سَنَوَاتٍ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أَبِي عُمْرُهُ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سِتٌّ وَأَرْبَعُونَ سَنَةً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وَأُمِّي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أَصْغَرُ مِنْهُ بِسَنَتَيْنِ</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name is Sārah and I am sixteen. My brother ʿUmar is nineteen, and he is three years older than me. My sister Laylā is eight. My father is forty-six, and my mother is two years younger than him.</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كَمْ عُمْرُكَ يَا أَحْمَدُ؟</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old are you, Aḥmad?</a:t>
            </a:r>
            <a:endParaRPr lang="en-US" sz="1250" dirty="0"/>
          </a:p>
          <a:p>
            <a:pPr indent="0" marL="0">
              <a:buNone/>
            </a:pPr>
            <a:r>
              <a:rPr lang="en-US" sz="1050" i="1" dirty="0">
                <a:solidFill>
                  <a:srgbClr val="8A6D1E"/>
                </a:solidFill>
                <a:latin typeface="Calibri" pitchFamily="34" charset="0"/>
                <a:cs typeface="Amiri" pitchFamily="2" charset="-78"/>
              </a:rPr>
              <a:t>To a boy.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لِي عِشْرُونَ سَنَةً.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twenty (I have twenty years).</a:t>
            </a:r>
            <a:endParaRPr lang="en-US" sz="1250" dirty="0"/>
          </a:p>
          <a:p>
            <a:pPr indent="0" marL="0">
              <a:buNone/>
            </a:pPr>
            <a:r>
              <a:rPr lang="en-US" sz="1050" i="1" dirty="0">
                <a:solidFill>
                  <a:srgbClr val="8A6D1E"/>
                </a:solidFill>
                <a:latin typeface="Calibri" pitchFamily="34" charset="0"/>
                <a:cs typeface="Amiri" pitchFamily="2" charset="-78"/>
              </a:rPr>
              <a:t>lī formula.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عُمْرُ أُمِّي اثْنَتَانِ وَأَرْبَعُونَ سَنَةً.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mother is forty-two.</a:t>
            </a:r>
            <a:endParaRPr lang="en-US" sz="1250" dirty="0"/>
          </a:p>
          <a:p>
            <a:pPr indent="0" marL="0">
              <a:buNone/>
            </a:pPr>
            <a:r>
              <a:rPr lang="en-US" sz="1050" i="1" dirty="0">
                <a:solidFill>
                  <a:srgbClr val="8A6D1E"/>
                </a:solidFill>
                <a:latin typeface="Calibri" pitchFamily="34" charset="0"/>
                <a:cs typeface="Amiri" pitchFamily="2" charset="-78"/>
              </a:rPr>
              <a:t>Compound, feminine unit.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جَدَّتِي عُمْرُهَا سَبْعُونَ سَنَةً.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grandmother is seventy.</a:t>
            </a:r>
            <a:endParaRPr lang="en-US" sz="1250" dirty="0"/>
          </a:p>
          <a:p>
            <a:pPr indent="0" marL="0">
              <a:buNone/>
            </a:pPr>
            <a:r>
              <a:rPr lang="en-US" sz="1050" i="1" dirty="0">
                <a:solidFill>
                  <a:srgbClr val="8A6D1E"/>
                </a:solidFill>
                <a:latin typeface="Calibri" pitchFamily="34" charset="0"/>
                <a:cs typeface="Amiri" pitchFamily="2" charset="-78"/>
              </a:rPr>
              <a:t>Ten + sanatan.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CLIMB THE LADDER (WEBSITE AGE MACHINE)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old is he / she?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عُمْرُهُ؟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Rung</a:t>
            </a:r>
            <a:endParaRPr lang="en-US" sz="1100" dirty="0"/>
          </a:p>
        </p:txBody>
      </p:sp>
      <p:sp>
        <p:nvSpPr>
          <p:cNvPr id="17" name="Text 14"/>
          <p:cNvSpPr txBox="1"/>
          <p:nvPr/>
        </p:nvSpPr>
        <p:spPr>
          <a:xfrm>
            <a:off x="47365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345643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Age</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893808" y="226771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2" name="Text 19"/>
          <p:cNvSpPr txBox="1"/>
          <p:nvPr/>
        </p:nvSpPr>
        <p:spPr>
          <a:xfrm>
            <a:off x="4754880" y="226771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 سَنَةٌ وَاحِدَةٌ</a:t>
            </a:r>
            <a:endParaRPr lang="ar-SA" sz="2200" dirty="0"/>
          </a:p>
        </p:txBody>
      </p:sp>
      <p:sp>
        <p:nvSpPr>
          <p:cNvPr id="23" name="Text 20"/>
          <p:cNvSpPr txBox="1"/>
          <p:nvPr/>
        </p:nvSpPr>
        <p:spPr>
          <a:xfrm>
            <a:off x="349300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Text 21"/>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baby brother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893808" y="2881884"/>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Text 26"/>
          <p:cNvSpPr txBox="1"/>
          <p:nvPr/>
        </p:nvSpPr>
        <p:spPr>
          <a:xfrm>
            <a:off x="4754880" y="2881884"/>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عُمْرُهَا خَمْسُ سَنَوَاتٍ</a:t>
            </a:r>
            <a:endParaRPr lang="ar-SA" sz="2200" dirty="0"/>
          </a:p>
        </p:txBody>
      </p:sp>
      <p:sp>
        <p:nvSpPr>
          <p:cNvPr id="30" name="Text 27"/>
          <p:cNvSpPr txBox="1"/>
          <p:nvPr/>
        </p:nvSpPr>
        <p:spPr>
          <a:xfrm>
            <a:off x="349300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1" name="Text 28"/>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little sister</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893808" y="3496056"/>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6" name="Text 33"/>
          <p:cNvSpPr txBox="1"/>
          <p:nvPr/>
        </p:nvSpPr>
        <p:spPr>
          <a:xfrm>
            <a:off x="4754880" y="3496056"/>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عُمْرِي أَرْبَعَ عَشْرَةَ سَنَةً</a:t>
            </a:r>
            <a:endParaRPr lang="ar-SA" sz="2200" dirty="0"/>
          </a:p>
        </p:txBody>
      </p:sp>
      <p:sp>
        <p:nvSpPr>
          <p:cNvPr id="37" name="Text 34"/>
          <p:cNvSpPr txBox="1"/>
          <p:nvPr/>
        </p:nvSpPr>
        <p:spPr>
          <a:xfrm>
            <a:off x="349300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14</a:t>
            </a:r>
            <a:endParaRPr lang="en-US" sz="1100" dirty="0"/>
          </a:p>
        </p:txBody>
      </p:sp>
      <p:sp>
        <p:nvSpPr>
          <p:cNvPr id="38" name="Text 35"/>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893808" y="4110228"/>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Text 40"/>
          <p:cNvSpPr txBox="1"/>
          <p:nvPr/>
        </p:nvSpPr>
        <p:spPr>
          <a:xfrm>
            <a:off x="4754880" y="4110228"/>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 عِشْرُونَ سَنَةً</a:t>
            </a:r>
            <a:endParaRPr lang="ar-SA" sz="2200" dirty="0"/>
          </a:p>
        </p:txBody>
      </p:sp>
      <p:sp>
        <p:nvSpPr>
          <p:cNvPr id="44" name="Text 41"/>
          <p:cNvSpPr txBox="1"/>
          <p:nvPr/>
        </p:nvSpPr>
        <p:spPr>
          <a:xfrm>
            <a:off x="349300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45" name="Text 42"/>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 brother</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893808" y="4724400"/>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8" name="Text 45"/>
          <p:cNvSpPr txBox="1"/>
          <p:nvPr/>
        </p:nvSpPr>
        <p:spPr>
          <a:xfrm>
            <a:off x="4754880" y="4724400"/>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عُمْرُهَا اثْنَتَانِ وَأَرْبَعُونَ سَنَةً</a:t>
            </a:r>
            <a:endParaRPr lang="ar-SA" sz="2200" dirty="0"/>
          </a:p>
        </p:txBody>
      </p:sp>
      <p:sp>
        <p:nvSpPr>
          <p:cNvPr id="49" name="Text 46"/>
          <p:cNvSpPr txBox="1"/>
          <p:nvPr/>
        </p:nvSpPr>
        <p:spPr>
          <a:xfrm>
            <a:off x="349300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a:t>
            </a:r>
            <a:endParaRPr lang="en-US" sz="1100" dirty="0"/>
          </a:p>
        </p:txBody>
      </p:sp>
      <p:sp>
        <p:nvSpPr>
          <p:cNvPr id="50" name="Text 47"/>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mother</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893808" y="533857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53" name="Text 50"/>
          <p:cNvSpPr txBox="1"/>
          <p:nvPr/>
        </p:nvSpPr>
        <p:spPr>
          <a:xfrm>
            <a:off x="4754880" y="533857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عُمْرُهَا سَبْعُونَ سَنَةً</a:t>
            </a:r>
            <a:endParaRPr lang="ar-SA" sz="2200" dirty="0"/>
          </a:p>
        </p:txBody>
      </p:sp>
      <p:sp>
        <p:nvSpPr>
          <p:cNvPr id="54" name="Text 51"/>
          <p:cNvSpPr txBox="1"/>
          <p:nvPr/>
        </p:nvSpPr>
        <p:spPr>
          <a:xfrm>
            <a:off x="349300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70</a:t>
            </a:r>
            <a:endParaRPr lang="en-US" sz="1100" dirty="0"/>
          </a:p>
        </p:txBody>
      </p:sp>
      <p:sp>
        <p:nvSpPr>
          <p:cNvPr id="55" name="Text 52"/>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grandmother</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 family of ages”: choose the right rung — and the right teen gender (sana is feminine).</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RUNG?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Sanawāt or sanatan?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سَنَوَاتٍ أَمْ سَنَةً؟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سَنَوَاتٍ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 سَنَوَاتٍ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ثَمَانِي سَنَوَاتٍ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 سَنَوَاتٍ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إِحْدَى عَشْرَةَ سَنَةً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عَشْرَةَ سَنَةً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عِشْرُونَ سَنَةً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 وَثَلَاثُونَ سَنَةً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3–10 (… sanawātin)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11–99 (… sanatan)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3–10 (… sanawātin)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سَنَوَاتٍ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 سَنَوَاتٍ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ثَمَانِي سَنَوَاتٍ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 سَنَوَاتٍ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11–99 (… sanatan)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إِحْدَى عَشْرَةَ سَنَةً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عَشْرَةَ سَنَةً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عِشْرُونَ سَنَةً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 وَثَلَاثُونَ سَنَةً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عُمْرِي خَمْسَ عَشْرَةَ سَنَوَاتٍ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rung for 15?</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عُمْرُهُ خَمْسَةُ سَنَوَاتٍ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sana masculine?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أَكْبَرُ مِنْ أَنَا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you say “than 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عُمْرِي خَمْسَ عَشْرَةَ سَنَوَاتٍ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عُمْرِي خَمْسَ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From 11 the noun is singular (website).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عُمْرُهُ خَمْسَةُ سَنَوَاتٍ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عُمْرُهُ خَمْسُ سَنَوَاتٍ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Sana is feminine → the number drops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أَكْبَرُ مِنْ أَنَا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أَكْبَرُ مِنِّي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Min + -nī = minnī.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TEACHER-WRITTEN QUESTIONS ON THE WEBSITE LADDER AND COMPARISONS</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12”.</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عُمْرُهَا اثْنَا عَشَرَ سَنَةً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عُمْرُهَا اثْنَتَا عَشْرَةَ سَنَوَاتٍ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عُمْرُهَا اثْنَتَا عَشْرَةَ سَنَةً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“older than her by two years”.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مِنْهَا سَنَتَانِ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مِنْهَا بِسَنَتَيْنِ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 مِنْهَا بِسَنَتَيْنِ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Maryam is 15; her brother is 6 years older. He is …</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21</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16</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has 30 years” (lī formula).</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ثَلَاثُونَ سَنَةً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ثَلَاثَ عَشْرَةَ سَنَةً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ثَلَاثُونَ سَنَةً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12”.</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عُمْرُهَا اثْنَا عَشَرَ سَنَةً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عُمْرُهَا اثْنَتَا عَشْرَةَ سَنَوَاتٍ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عُمْرُهَا اثْنَتَا عَشْرَةَ سَنَةً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teen + singular.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“older than her by two years”.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أَكْبَرُ مِنْهَا سَنَتَانِ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أَكْبَرُ مِنْهَا بِسَنَتَيْنِ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أَصْغَرُ مِنْهَا بِسَنَتَيْنِ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Gap with bi- + dual (genitive -ayni).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Maryam is 15; her brother is 6 years older. He is …</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21</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16</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hidden calculation.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has 30 years” (lī formula).</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لَهَا ثَلَاثُونَ سَنَةً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ثَلَاثَ عَشْرَةَ سَنَةً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 ثَلَاثُونَ سَنَةً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lahu = he has.</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TASK 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Āmina’s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آمِنَةُ عُمْرُهَا أَرْبَعَ عَشْرَةَ سَنَةً. أَخُوهَا الْكَبِيرُ يُوسُفُ عُمْرُهُ سَبْعَ عَشْرَةَ سَنَةً، وَهُوَ أَكْبَرُ مِنْهَا بِثَلَاثِ سَنَوَاتٍ. أُخْتُهَا الصَّغِيرَةُ مَرْيَمُ عُمْرُهَا خَمْسُ سَنَوَاتٍ. أَبُوهَا عُمْرُهُ خَمْسٌ وَأَرْبَعُونَ سَنَةً، وَأُمُّهَا عُمْرُهَا اثْنَتَانِ وَأَرْبَعُونَ سَنَةً. جَدَّتُهَا عُمْرُهَا سَبْعُونَ سَنَةً، وَهِيَ أَكْبَرُ شَخْصٍ فِي الْبَيْتِ.</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أَخُوهَا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brother</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أَبُوهَا</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father</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جَدَّتُهَا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grandmother</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أَكْبَرُ شَخْصٍ</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oldest person</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five years old?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Āmina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Yūsuf</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is Yūsuf older than Āmina?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seventeen years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years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years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oldest person in the house?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grandmother (70)</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 (45)</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 (42)</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Detective: the age gap between the parents is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years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years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years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five years old?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Āmina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Yūsuf</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Khamsu sanawātin — rung 2 shows a small number.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is Yūsuf older than Āmina?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seventeen years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years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years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Bi-thalāthi sanawātin.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oldest person in the house?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grandmother (70)</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father (45)</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mother (42)</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Akbaru shakhṣin fī l-bayt.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Detective: the age gap between the parents is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 years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 years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 years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45 − 42 — calculated, not stated.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family age map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عُمْرُكَ؟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عُمْرُ أَخِيكَ أَوْ أُخْتِكَ؟ مَنْ أَكْبَرُ؟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أَكْبَرُ شَخْصٍ فِي عَائِلَتِكَ؟ وَمَنِ الْأَصْغَرُ؟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عُمْرِي ___ سَنَةً.</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عُمْرُ أَخِي ___ ، وَهُوَ أَكْبَرُ مِنِّي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___ أَكْبَرُ شَخْصٍ فِي عَائِلَتِي، وَعُمْرُهُ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كَمْ عُمْرُكِ يَا مَرْيَمُ؟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old are you, Maryam?</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عُمْرِي ثَلَاثَ عَشْرَةَ سَنَةً. أُخْتِي أَصْغَرُ مِنِّي بِأَرْبَعِ سَنَوَاتٍ، وَعُمْرُهَا تِسْعُ سَنَوَاتٍ. جَدِّي أَكْبَرُ شَخْصٍ فِي الْعَائِلَةِ.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am thirteen. My sister is four years younger than me — she is nine. My grandfather is the oldest person in the family.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My age and three family members.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ʿumrī · ʿumruhu · ʿumruhā.</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three ladder rungs and two comparisons.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akbaru minnī · aṣgharu minhā.</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“Hot”: «</a:t>
            </a:r>
            <a:pPr algn="l" indent="0" marL="0">
              <a:buNone/>
            </a:pPr>
            <a:r>
              <a:rPr lang="ar-SA" altLang="en-US" sz="1800" b="1" dirty="0">
                <a:solidFill>
                  <a:srgbClr val="1F2A37"/>
                </a:solidFill>
                <a:latin typeface="Amiri" pitchFamily="2" charset="-78"/>
                <a:ea typeface="Amiri" pitchFamily="2" charset="-78"/>
                <a:cs typeface="Amiri" pitchFamily="2" charset="-78"/>
              </a:rPr>
              <a:t>أَعْمَارُ عَائِلَتِي</a:t>
            </a:r>
            <a:pPr algn="l" indent="0" marL="0">
              <a:buNone/>
            </a:pPr>
            <a:r>
              <a:rPr lang="en-US" sz="1400" b="1" dirty="0">
                <a:solidFill>
                  <a:srgbClr val="1F2A37"/>
                </a:solidFill>
                <a:latin typeface="Calibri" pitchFamily="34" charset="0"/>
                <a:cs typeface="Amiri" pitchFamily="2" charset="-78"/>
              </a:rPr>
              <a:t>» with three gaps.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Feminine teens, compound ages, bi-.</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أَكْبَرُ مِنِّي.</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older than me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أَصْغَرُ مِنْهُ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younger than him by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 أَبِي ______ سَنَةً.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is … (compound)</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الْأَصْغَرُ فِي عَائِلَتِي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youngest in my family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عُمْرِي ______ سَنَةً.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years old</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عُمْرُهُ ______ سَنَوَاتٍ.</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is … (3–10)</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عُمْرُهَا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عُمْرُ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old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سَنَةٌ وَاحِدَةٌ  ·  سَنَتَانِ  ·  خَمْسُ سَنَوَاتٍ  ·  ثَمَانِي سَنَوَاتٍ  ·  ثَلَاثَ عَشْرَةَ سَنَةً  ·  أَرْبَعَ عَشْرَةَ سَنَةً  ·  عِشْرُونَ سَنَةً  ·  أَكْبَرُ مِنْ  ·  أَصْغَرُ مِنْ  ·  مِنِّي  ·  بِسَنَتَيْنِ  ·  الْأَكْبَرُ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“Hot” task: «</a:t>
            </a:r>
            <a:pPr algn="l" indent="0" marL="0">
              <a:buNone/>
            </a:pPr>
            <a:r>
              <a:rPr lang="ar-SA" altLang="en-US" sz="1750" b="1" dirty="0">
                <a:solidFill>
                  <a:srgbClr val="1F2A37"/>
                </a:solidFill>
                <a:latin typeface="Amiri" pitchFamily="2" charset="-78"/>
                <a:ea typeface="Amiri" pitchFamily="2" charset="-78"/>
                <a:cs typeface="Amiri" pitchFamily="2" charset="-78"/>
              </a:rPr>
              <a:t>أَعْمَارُ عَائِلَتِي</a:t>
            </a:r>
            <a:pPr algn="l" indent="0" marL="0">
              <a:buNone/>
            </a:pPr>
            <a:r>
              <a:rPr lang="en-US" sz="1350" b="1" dirty="0">
                <a:solidFill>
                  <a:srgbClr val="1F2A37"/>
                </a:solidFill>
                <a:latin typeface="Calibri" pitchFamily="34" charset="0"/>
                <a:cs typeface="Amiri" pitchFamily="2" charset="-78"/>
              </a:rPr>
              <a:t>» — everyone’s ages, three comparisons with a gap, ending with the oldest and the youngest.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ladder rungs (if your family allows).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Feminine teens with sana.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compound age (unit flips).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comparisons with bi- for the gap.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al-akbar and al-aṣghar at the end.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تَوْأَمٌ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twin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نَفْسِ الْعُمْرِ</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same age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الْأَكْبَرُ</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oldest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الْأَصْغَرُ</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youngest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بِسَنَةٍ وَاحِدَةٍ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by one year</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عِيدُ مِيلَادِي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birthday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أَعْمَارُ عَائِلَتِي: عُمْرِي أَرْبَعَ عَشْرَةَ سَنَةً، وَأَنَا الْبِنْتُ الْكُبْرَى. أُخْتِي هِنْدُ عُمْرُهَا إِحْدَى عَشْرَةَ سَنَةً، فَأَنَا أَكْبَرُ مِنْهَا بِثَلَاثِ سَنَوَاتٍ. أَخِي يُوسُفُ عُمْرُهُ سِتُّ سَنَوَاتٍ، وَأَخِي الصَّغِيرُ عُمْرُهُ سَنَتَانِ. أُمِّي عُمْرُهَا تِسْعٌ وَثَلَاثُونَ سَنَةً، وَأَبِي أَكْبَرُ مِنْهَا بِسَنَتَيْنِ، فَعُمْرُهُ وَاحِدٌ وَأَرْبَعُونَ سَنَةً. جَدِّي يَسْكُنُ مَعَنَا، وَعُمْرُهُ سَبْعُونَ سَنَةً. هُوَ الْأَكْبَرُ، وَأَخِي الصَّغِيرُ هُوَ الْأَصْغَرُ.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family’s ages: I am fourteen, and I am the eldest daughter. My sister Hind is eleven, so I am three years older than her. My brother Yūsuf is six, and my little brother is two. My mother is thirty-nine, and my father is two years older than her, so he is forty-one. My grandfather lives with us, and he is seventy. He is the oldest, and my little brother is the youngest.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rung 2 (sanawāt)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rung 3 (sanatan)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comparison + gap</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compound age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my own age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ʿumruhu for a male and ʿumruhā for a female.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the right rung of the ladder.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minnī for “than me”.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teens are feminine and my compound units flip.</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is 8”.</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 ثَمَانِي سَنَوَاتٍ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 ثَمَانِيَةُ سَنَوَاتٍ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 ثَمَانِي سَنَةً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13”.</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ثَلَاثُونَ سَنَةً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ثَلَاثَ عَشْرَةَ سَنَةً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 ثَلَاثَةَ عَشَرَ سَنَةً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“younger than 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 مِنِّي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مِنِّي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 مِنْ أَنَا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is 8”.</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عُمْرُهُ ثَمَانِي سَنَوَاتٍ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عُمْرُهُ ثَمَانِيَةُ سَنَوَاتٍ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عُمْرُهُ ثَمَانِي سَنَةً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Rung 2, feminine sana.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13”.</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عُمْرِي ثَلَاثُونَ سَنَةً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عُمْرِي ثَلَاثَ عَشْرَةَ سَنَةً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عُمْرِي ثَلَاثَةَ عَشَرَ سَنَةً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teen + singular.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“younger than me”.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أَصْغَرُ مِنِّي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أَكْبَرُ مِنِّي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أَصْغَرُ مِنْ أَنَا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aṣgharu = younger.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GM-NUM-03 · Numbers and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Before GM-NUM-04: get ready at home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GM-NUM-04 · Money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money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جُنَيْهٌ · جُنَيْهَاتٌ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pound · pounds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رِيَالٌ · دِرْهَمٌ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riyal · dirham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بِكَمْ؟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much (does it cost)?</a:t>
            </a:r>
            <a:pPr indent="0" marL="0">
              <a:buNone/>
            </a:pPr>
            <a:r>
              <a:rPr lang="ar-SA" sz="1000" i="1" dirty="0">
                <a:solidFill>
                  <a:srgbClr val="5A6472"/>
                </a:solidFill>
                <a:latin typeface="Calibri" pitchFamily="34" charset="0"/>
                <a:ea typeface="Amiri" pitchFamily="2" charset="-78"/>
                <a:cs typeface="Amiri" pitchFamily="2" charset="-78"/>
              </a:rPr>
              <a:t>  بِكَمْ هَذَا؟</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السِّعْرُ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price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Junayh (pound) is masculine. Is it khamsu junayhātin or khamsatu junayhātin?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______ جُنَيْهَاتٍ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“Mild”: the Age Ladder poster.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“Spicy”: eight age sentences using all four rungs.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“Hot”: «</a:t>
            </a:r>
            <a:pPr algn="l" indent="0" marL="0">
              <a:buNone/>
            </a:pPr>
            <a:r>
              <a:rPr lang="ar-SA" altLang="en-US" sz="1550" dirty="0">
                <a:solidFill>
                  <a:srgbClr val="1F2A37"/>
                </a:solidFill>
                <a:latin typeface="Amiri" pitchFamily="2" charset="-78"/>
                <a:ea typeface="Amiri" pitchFamily="2" charset="-78"/>
                <a:cs typeface="Amiri" pitchFamily="2" charset="-78"/>
              </a:rPr>
              <a:t>أَعْمَارُ عَائِلَتِي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GM-NUM-03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GM-NUM-04 · Money</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الْمَالُ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kam ʿumruka / ʿumruki? · ʿumrī … · ladder: sana · sanatān · 3–10 sanawāt (no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 11–99 sanatan · teens feminine (arbaʿa ʿashrata) · akbaru minnī bi-sanatayni.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GM-NUM-03 · Age</dc:title>
  <dc:subject>PptxGenJS Presentation</dc:subject>
  <dc:creator>Al Madina Online School · Arabic Department</dc:creator>
  <cp:lastModifiedBy>Al Madina Online School · Arabic Department</cp:lastModifiedBy>
  <cp:revision>1</cp:revision>
  <dcterms:created xsi:type="dcterms:W3CDTF">2026-10-11T06:42:21Z</dcterms:created>
  <dcterms:modified xsi:type="dcterms:W3CDTF">2026-10-11T06:42:21Z</dcterms:modified>
</cp:coreProperties>
</file>