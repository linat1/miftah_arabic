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GM-ADJ-09 (“Nisba Adjectives”).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nationality pairs (مِصْرِيٌّ / مِصْرِيَّةٌ · عَرَبِيٌّ / عَرَبِيَّةٌ · بِرِيطَانِيٌّ / بِرِيطَانِيَّةٌ · بَاكِسْتَانِيٌّ / بَاكِسْتَانِيَّةٌ). Develop: agreement and definiteness (الْمَنْطِقَةُ الشَّمَالِيَّةُ); languages as feminine nisba (الْعَرَبِيَّةُ · الْإِنْجِلِيزِيَّةُ). Stretch: building steps and irregular forms (سُورِيَا → سُورِيٌّ · الْمَدِينَةُ → مَدَنِيٌّ); field nisbas (عِلْمِيٌّ · تَارِيخِيٌّ · رِيَاضِيٌّ); people plurals (مِصْرِيُّونَ).
• Identity hook: every student says their own nisba (heritage and British) — high engagement and immediately useful for IGCSE “self and family”.
• Website clinic: keep the shadda on the yāʾ (ـِيٌّ), and never forget ـِيَّةٌ for feminine nouns.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nisba words prepared at the end of GM-ADJ-08.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 -iyy = “from / related to”. Masculine -iyyun, feminine -iyyatun. Then agree like any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core ending”. Ask each student: “min ayna anta / anti?” and build their nisba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“Agreement and meaning”. The language row is a teacher-added Develop point: al-ʿarabiyya alone means “Arabic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(3 min) — website “Spelling awareness”, extended. Rule of thumb: drop al-, a final -ā and a final ة, then add -iyy.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Model the three building steps on screen. Point out الطَّعَامَ الْمَغْرِبِيَّ — the nisba copies al- and the object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Invite students to add their own heritage country as a sixth row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and translate each phrase: scientific book, historical story, Indian food, foreign language, sports team, coastal city, school day, folk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and translate each phrase: scientific book, historical story, Indian food, foreign language, sports team, coastal city, school day, folk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and every nisba; draw an arrow to its noun and label the agreement.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Celebrate every heritage; check -iyy / -iyya for boys and girls.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(GM-ADV-01 · Common Adverbs of Time, Place and Manner) will spend class time USING this language, so students prepare it tonight — short, simple, easy to access (school guidance: “Simple, Short, Interesting, Relevant, Easy to access”). The five words prepare GM-ADV-01 (website Adverbs lesson 1: common adverbs of time, place and manner).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Nisba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صِفَاتُ النِّسْبَةِ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Add -iyy to a noun to say where someone is from or what something relates to: Miṣr → miṣriyy (Egyptian), tārīkh → tārīkhiyy (historical). Feminine: -iyya. It then behaves like any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core ending; agreement; building and spelling.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nationalities, sort, describe.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مِصْرِيٌّ</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مِصْرَاوِيَّةٌ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طَالِبٌ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مُوسِيقَى</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northern region”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الْمَنْطِقَةُ الشَّمَالِيُّ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مَنْطِقَةٌ الشَّمَالِيَّةُ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الْمَنْطِقَةُ الشَّمَالِيَّةُ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مِصْرِيٌّ</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مِصْرِيَةٌ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مِصْرِيَّةٌ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مِصْرَاوِيَّةٌ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nisba feminine has -iyya (yāʾ with shadda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طَالِبٌ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nisba.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مُوسِيقَى</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عَرَبِيَّةٌ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Music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northern region”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الْمَنْطِقَةُ الشَّمَالِيُّ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مَنْطِقَةٌ الشَّمَالِيَّةُ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الْمَنْطِقَةُ الشَّمَالِيَّةُ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Gender and definiteness agree.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Noun + -iyy = “from / related to”. Masculine -iyyun, feminine -iyyatun. Then agree like any adjective.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مِصْرُ · </a:t>
            </a:r>
            <a:pPr rtl="1" algn="ctr" indent="0" marL="0">
              <a:buNone/>
            </a:pPr>
            <a:r>
              <a:rPr lang="ar-SA" altLang="en-US" sz="2400" b="1" dirty="0">
                <a:solidFill>
                  <a:srgbClr val="0E7C86"/>
                </a:solidFill>
                <a:latin typeface="Amiri" pitchFamily="2" charset="-78"/>
                <a:ea typeface="Amiri" pitchFamily="2" charset="-78"/>
                <a:cs typeface="Amiri" pitchFamily="2" charset="-78"/>
              </a:rPr>
              <a:t>مِصْرِيٌّ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مِصْرِيَّةٌ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nisba adjective with -iyy / -iyya.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nationalities for men and women.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nisba agree like any adjective.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irregular nisbas and nisbas for subjects.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my nationality (m. / f.).</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the shadda on the yāʾ.</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the northern region with al- on both.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name languages: al-ʿarabiyya.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build Syrian, French, scientific.</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plurals: Egyptians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النِّسْبَةُ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nisba (relation adjective)</a:t>
            </a:r>
            <a:endParaRPr lang="en-US" sz="1350" dirty="0"/>
          </a:p>
          <a:p>
            <a:pPr indent="0" marL="0">
              <a:buNone/>
            </a:pPr>
            <a:r>
              <a:rPr lang="en-US" sz="1100" i="1" dirty="0">
                <a:solidFill>
                  <a:srgbClr val="5A6472"/>
                </a:solidFill>
                <a:latin typeface="Calibri" pitchFamily="34" charset="0"/>
                <a:cs typeface="Amiri" pitchFamily="2" charset="-78"/>
              </a:rPr>
              <a:t>an-nis-ba-tu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مِصْرِيٌّ · عِلْمِيٌّ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ending</a:t>
            </a:r>
            <a:endParaRPr lang="en-US" sz="1350" dirty="0"/>
          </a:p>
          <a:p>
            <a:pPr indent="0" marL="0">
              <a:buNone/>
            </a:pPr>
            <a:r>
              <a:rPr lang="en-US" sz="1100" i="1" dirty="0">
                <a:solidFill>
                  <a:srgbClr val="5A6472"/>
                </a:solidFill>
                <a:latin typeface="Calibri" pitchFamily="34" charset="0"/>
                <a:cs typeface="Amiri" pitchFamily="2" charset="-78"/>
              </a:rPr>
              <a:t>-iyyun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عَرَبِيٌّ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ending</a:t>
            </a:r>
            <a:endParaRPr lang="en-US" sz="1350" dirty="0"/>
          </a:p>
          <a:p>
            <a:pPr indent="0" marL="0">
              <a:buNone/>
            </a:pPr>
            <a:r>
              <a:rPr lang="en-US" sz="1100" i="1" dirty="0">
                <a:solidFill>
                  <a:srgbClr val="5A6472"/>
                </a:solidFill>
                <a:latin typeface="Calibri" pitchFamily="34" charset="0"/>
                <a:cs typeface="Amiri" pitchFamily="2" charset="-78"/>
              </a:rPr>
              <a:t>-iyyatun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عَرَبِيَّةٌ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jin-siy-ya-tun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جِنْسِيَّتُكَ؟</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اللُّغَةُ الْعَرَبِيَّةُ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(doubling)</a:t>
            </a:r>
            <a:endParaRPr lang="en-US" sz="1350" dirty="0"/>
          </a:p>
          <a:p>
            <a:pPr indent="0" marL="0">
              <a:buNone/>
            </a:pPr>
            <a:r>
              <a:rPr lang="en-US" sz="1100" i="1" dirty="0">
                <a:solidFill>
                  <a:srgbClr val="5A6472"/>
                </a:solidFill>
                <a:latin typeface="Calibri" pitchFamily="34" charset="0"/>
                <a:cs typeface="Amiri" pitchFamily="2" charset="-78"/>
              </a:rPr>
              <a:t>shad-da-tun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keep it on the yāʾ</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THE CORE ENDING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 -iyy = “from / related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يَاءُ 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nisba adjective links a person or thing to a place, field, material or concept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Masculine ending: -iyyun, a doubled yāʾ with shadda (website).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Feminine ending: -iyyatun (website).</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is the Arabic equivalent of English -ish, -an, -ese, -al: British, Egyptian, Chinese, musical.</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clinic: always keep the shadda in fully vowelled work.</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مِصْرِيٌّ · مِصْرِيَّةٌ</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Egyptian (m. · f.)  ·  website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عَرَبِيٌّ · عَرَبِيَّةٌ</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 Arabic  ·  website</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شَمَالِيٌّ · شَمَالِيَّةٌ</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northern  ·  website · from north</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مُوسِيقِيٌّ · مُوسِيقِيَّةٌ</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musical  ·  website · from music</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2 · AGREEMENT AND MEANING (WEBSITE)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nisba agrees like any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a:t>
            </a:r>
            <a:endParaRPr lang="en-US" sz="1100" dirty="0"/>
          </a:p>
        </p:txBody>
      </p:sp>
      <p:sp>
        <p:nvSpPr>
          <p:cNvPr id="21" name="Text 18"/>
          <p:cNvSpPr txBox="1"/>
          <p:nvPr/>
        </p:nvSpPr>
        <p:spPr>
          <a:xfrm>
            <a:off x="38404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 مِصْرِيٌّ</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Egyptian student (m.)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a:t>
            </a:r>
            <a:endParaRPr lang="en-US" sz="1100" dirty="0"/>
          </a:p>
        </p:txBody>
      </p:sp>
      <p:sp>
        <p:nvSpPr>
          <p:cNvPr id="27" name="Text 24"/>
          <p:cNvSpPr txBox="1"/>
          <p:nvPr/>
        </p:nvSpPr>
        <p:spPr>
          <a:xfrm>
            <a:off x="38404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طَالِبَةٌ مِصْرِيَّةٌ</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Egyptian student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music is feminine (website)</a:t>
            </a:r>
            <a:endParaRPr lang="en-US" sz="1100" dirty="0"/>
          </a:p>
        </p:txBody>
      </p:sp>
      <p:sp>
        <p:nvSpPr>
          <p:cNvPr id="33" name="Text 30"/>
          <p:cNvSpPr txBox="1"/>
          <p:nvPr/>
        </p:nvSpPr>
        <p:spPr>
          <a:xfrm>
            <a:off x="38404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مُوسِيقَى عَرَبِيَّةٌ</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music</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on both (website)</a:t>
            </a:r>
            <a:endParaRPr lang="en-US" sz="1100" dirty="0"/>
          </a:p>
        </p:txBody>
      </p:sp>
      <p:sp>
        <p:nvSpPr>
          <p:cNvPr id="39" name="Text 36"/>
          <p:cNvSpPr txBox="1"/>
          <p:nvPr/>
        </p:nvSpPr>
        <p:spPr>
          <a:xfrm>
            <a:off x="38404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الْمَنْطِقَةُ الشَّمَالِيَّةُ</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northern region</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are feminine nisbas</a:t>
            </a:r>
            <a:endParaRPr lang="en-US" sz="1100" dirty="0"/>
          </a:p>
        </p:txBody>
      </p:sp>
      <p:sp>
        <p:nvSpPr>
          <p:cNvPr id="45" name="Text 42"/>
          <p:cNvSpPr txBox="1"/>
          <p:nvPr/>
        </p:nvSpPr>
        <p:spPr>
          <a:xfrm>
            <a:off x="38404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اللُّغَةُ الْعَرَبِيَّةُ · الْعَرَبِيَّةُ</a:t>
            </a:r>
            <a:endParaRPr lang="ar-SA" sz="2400" dirty="0"/>
          </a:p>
        </p:txBody>
      </p:sp>
      <p:sp>
        <p:nvSpPr>
          <p:cNvPr id="46" name="Text 43"/>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Arabic language</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plural: -iyyūna</a:t>
            </a:r>
            <a:endParaRPr lang="en-US" sz="1100" dirty="0"/>
          </a:p>
        </p:txBody>
      </p:sp>
      <p:sp>
        <p:nvSpPr>
          <p:cNvPr id="49" name="Text 46"/>
          <p:cNvSpPr txBox="1"/>
          <p:nvPr/>
        </p:nvSpPr>
        <p:spPr>
          <a:xfrm>
            <a:off x="38404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الْمِصْرِيُّونَ</a:t>
            </a:r>
            <a:endParaRPr lang="ar-SA" sz="2400" dirty="0"/>
          </a:p>
        </p:txBody>
      </p:sp>
      <p:sp>
        <p:nvSpPr>
          <p:cNvPr id="50" name="Text 47"/>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Egyptians (people)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nisba follows and agrees with its noun — gender, number, definiteness and case, exactly as in ADJ-04.</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3 · SPELLING AWARENESS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source noun changes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تَغَيُّرَاتٌ فِي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changed</a:t>
            </a:r>
            <a:endParaRPr lang="en-US" sz="1100" dirty="0"/>
          </a:p>
        </p:txBody>
      </p:sp>
      <p:sp>
        <p:nvSpPr>
          <p:cNvPr id="17" name="Text 14"/>
          <p:cNvSpPr txBox="1"/>
          <p:nvPr/>
        </p:nvSpPr>
        <p:spPr>
          <a:xfrm>
            <a:off x="63825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Nisba</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Source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just add -iyy (website)</a:t>
            </a:r>
            <a:endParaRPr lang="en-US" sz="1100" dirty="0"/>
          </a:p>
        </p:txBody>
      </p:sp>
      <p:sp>
        <p:nvSpPr>
          <p:cNvPr id="22" name="Text 19"/>
          <p:cNvSpPr txBox="1"/>
          <p:nvPr/>
        </p:nvSpPr>
        <p:spPr>
          <a:xfrm>
            <a:off x="64190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Lebanese</a:t>
            </a:r>
            <a:endParaRPr lang="en-US" sz="1100" dirty="0"/>
          </a:p>
        </p:txBody>
      </p:sp>
      <p:sp>
        <p:nvSpPr>
          <p:cNvPr id="23" name="Text 20"/>
          <p:cNvSpPr txBox="1"/>
          <p:nvPr/>
        </p:nvSpPr>
        <p:spPr>
          <a:xfrm>
            <a:off x="347472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لُبْنَانِيٌّ</a:t>
            </a:r>
            <a:endParaRPr lang="ar-SA" sz="2400" dirty="0"/>
          </a:p>
        </p:txBody>
      </p:sp>
      <p:sp>
        <p:nvSpPr>
          <p:cNvPr id="24" name="Text 21"/>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لُبْنَانُ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just add -iyy</a:t>
            </a:r>
            <a:endParaRPr lang="en-US" sz="1100" dirty="0"/>
          </a:p>
        </p:txBody>
      </p:sp>
      <p:sp>
        <p:nvSpPr>
          <p:cNvPr id="29" name="Text 26"/>
          <p:cNvSpPr txBox="1"/>
          <p:nvPr/>
        </p:nvSpPr>
        <p:spPr>
          <a:xfrm>
            <a:off x="64190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Pakistani</a:t>
            </a:r>
            <a:endParaRPr lang="en-US" sz="1100" dirty="0"/>
          </a:p>
        </p:txBody>
      </p:sp>
      <p:sp>
        <p:nvSpPr>
          <p:cNvPr id="30" name="Text 27"/>
          <p:cNvSpPr txBox="1"/>
          <p:nvPr/>
        </p:nvSpPr>
        <p:spPr>
          <a:xfrm>
            <a:off x="347472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بَاكِسْتَانِيٌّ</a:t>
            </a:r>
            <a:endParaRPr lang="ar-SA" sz="2400" dirty="0"/>
          </a:p>
        </p:txBody>
      </p:sp>
      <p:sp>
        <p:nvSpPr>
          <p:cNvPr id="31" name="Text 28"/>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بَاكِسْتَانُ</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-yā dropped (website)</a:t>
            </a:r>
            <a:endParaRPr lang="en-US" sz="1100" dirty="0"/>
          </a:p>
        </p:txBody>
      </p:sp>
      <p:sp>
        <p:nvSpPr>
          <p:cNvPr id="36" name="Text 33"/>
          <p:cNvSpPr txBox="1"/>
          <p:nvPr/>
        </p:nvSpPr>
        <p:spPr>
          <a:xfrm>
            <a:off x="64190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Syrian</a:t>
            </a:r>
            <a:endParaRPr lang="en-US" sz="1100" dirty="0"/>
          </a:p>
        </p:txBody>
      </p:sp>
      <p:sp>
        <p:nvSpPr>
          <p:cNvPr id="37" name="Text 34"/>
          <p:cNvSpPr txBox="1"/>
          <p:nvPr/>
        </p:nvSpPr>
        <p:spPr>
          <a:xfrm>
            <a:off x="347472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سُورِيٌّ</a:t>
            </a:r>
            <a:endParaRPr lang="ar-SA" sz="2400" dirty="0"/>
          </a:p>
        </p:txBody>
      </p:sp>
      <p:sp>
        <p:nvSpPr>
          <p:cNvPr id="38" name="Text 35"/>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سُورِيَا</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-ā dropped (website)</a:t>
            </a:r>
            <a:endParaRPr lang="en-US" sz="1100" dirty="0"/>
          </a:p>
        </p:txBody>
      </p:sp>
      <p:sp>
        <p:nvSpPr>
          <p:cNvPr id="41" name="Text 38"/>
          <p:cNvSpPr txBox="1"/>
          <p:nvPr/>
        </p:nvSpPr>
        <p:spPr>
          <a:xfrm>
            <a:off x="64190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French</a:t>
            </a:r>
            <a:endParaRPr lang="en-US" sz="1100" dirty="0"/>
          </a:p>
        </p:txBody>
      </p:sp>
      <p:sp>
        <p:nvSpPr>
          <p:cNvPr id="42" name="Text 39"/>
          <p:cNvSpPr txBox="1"/>
          <p:nvPr/>
        </p:nvSpPr>
        <p:spPr>
          <a:xfrm>
            <a:off x="347472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فَرَنْسِيٌّ</a:t>
            </a:r>
            <a:endParaRPr lang="ar-SA" sz="2400" dirty="0"/>
          </a:p>
        </p:txBody>
      </p:sp>
      <p:sp>
        <p:nvSpPr>
          <p:cNvPr id="43" name="Text 40"/>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فَرَنْسَا</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and -iyya dropped</a:t>
            </a:r>
            <a:endParaRPr lang="en-US" sz="1100" dirty="0"/>
          </a:p>
        </p:txBody>
      </p:sp>
      <p:sp>
        <p:nvSpPr>
          <p:cNvPr id="46" name="Text 43"/>
          <p:cNvSpPr txBox="1"/>
          <p:nvPr/>
        </p:nvSpPr>
        <p:spPr>
          <a:xfrm>
            <a:off x="64190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Saudi</a:t>
            </a:r>
            <a:endParaRPr lang="en-US" sz="1100" dirty="0"/>
          </a:p>
        </p:txBody>
      </p:sp>
      <p:sp>
        <p:nvSpPr>
          <p:cNvPr id="47" name="Text 44"/>
          <p:cNvSpPr txBox="1"/>
          <p:nvPr/>
        </p:nvSpPr>
        <p:spPr>
          <a:xfrm>
            <a:off x="347472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سُعُودِيٌّ</a:t>
            </a:r>
            <a:endParaRPr lang="ar-SA" sz="2400" dirty="0"/>
          </a:p>
        </p:txBody>
      </p:sp>
      <p:sp>
        <p:nvSpPr>
          <p:cNvPr id="48" name="Text 45"/>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السُّعُودِيَّةُ</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irregular — learn whole</a:t>
            </a:r>
            <a:endParaRPr lang="en-US" sz="1100" dirty="0"/>
          </a:p>
        </p:txBody>
      </p:sp>
      <p:sp>
        <p:nvSpPr>
          <p:cNvPr id="51" name="Text 48"/>
          <p:cNvSpPr txBox="1"/>
          <p:nvPr/>
        </p:nvSpPr>
        <p:spPr>
          <a:xfrm>
            <a:off x="64190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Madinan / civil</a:t>
            </a:r>
            <a:endParaRPr lang="en-US" sz="1100" dirty="0"/>
          </a:p>
        </p:txBody>
      </p:sp>
      <p:sp>
        <p:nvSpPr>
          <p:cNvPr id="52" name="Text 49"/>
          <p:cNvSpPr txBox="1"/>
          <p:nvPr/>
        </p:nvSpPr>
        <p:spPr>
          <a:xfrm>
            <a:off x="347472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مَدَنِيٌّ</a:t>
            </a:r>
            <a:endParaRPr lang="ar-SA" sz="2400" dirty="0"/>
          </a:p>
        </p:txBody>
      </p:sp>
      <p:sp>
        <p:nvSpPr>
          <p:cNvPr id="53" name="Text 50"/>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الْمَدِينَةُ</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some source nouns change before the nisba ending, so learn frequent forms as whole words.</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بِرِيطَانِيٌّ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بِرِيطَانِيَةٌ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بِرِيطَانِيَا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بِرِيطَانِيَّةٌ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Pakistani doctor (f.)”.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طَبِيبَةٌ بَاكِسْتَانِيَّةٌ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طَبِيبَةٌ بَاكِسْتَانِيٌّ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 بَاكِسْتَانِيَّةٌ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historical city”.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تَارِيخِيَّةٌ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التَّارِيخِيَّةُ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التَّارِيخِيُّ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nisba of </a:t>
            </a:r>
            <a:pPr algn="l" indent="0" marL="0">
              <a:buNone/>
            </a:pPr>
            <a:r>
              <a:rPr lang="ar-SA" altLang="en-US" sz="1650" b="1" dirty="0">
                <a:solidFill>
                  <a:srgbClr val="1B3B6F"/>
                </a:solidFill>
                <a:latin typeface="Amiri" pitchFamily="2" charset="-78"/>
                <a:ea typeface="Amiri" pitchFamily="2" charset="-78"/>
                <a:cs typeface="Amiri" pitchFamily="2" charset="-78"/>
              </a:rPr>
              <a:t>فَرَنْسَا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فَرَنْسِيٌّ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فَرَنْسَاوِيٌّ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فَرَنْسَيٌّ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بِرِيطَانِيٌّ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بِرِيطَانِيَةٌ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بِرِيطَانِيَا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بِرِيطَانِيَّةٌ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Yāʾ with shadda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Pakistani doctor (f.)”.</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طَبِيبَةٌ بَاكِسْتَانِيَّةٌ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طَبِيبَةٌ بَاكِسْتَانِيٌّ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طَبِيبٌ بَاكِسْتَانِيَّةٌ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-iyya.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historical city”.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تَارِيخِيَّةٌ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التَّارِيخِيَّةُ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التَّارِيخِيُّ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al- on both.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nisba of </a:t>
            </a:r>
            <a:pPr algn="l" indent="0" marL="0">
              <a:buNone/>
            </a:pPr>
            <a:r>
              <a:rPr lang="ar-SA" altLang="en-US" sz="1650" b="1" dirty="0">
                <a:solidFill>
                  <a:srgbClr val="1B3B6F"/>
                </a:solidFill>
                <a:latin typeface="Amiri" pitchFamily="2" charset="-78"/>
                <a:ea typeface="Amiri" pitchFamily="2" charset="-78"/>
                <a:cs typeface="Amiri" pitchFamily="2" charset="-78"/>
              </a:rPr>
              <a:t>فَرَنْسَا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فَرَنْسِيٌّ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فَرَنْسَاوِيٌّ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فَرَنْسَيٌّ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Drop the final -ā (website).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nisba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Morocco.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Drop 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مَغْرِبُ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Remove the article.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-iyy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مَغْرِبِيٌّ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Moroccan (m.).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طَالِبَةٌ مَغْرِبِيَّةٌ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-iyya for her.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-IYY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-IYYA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2" charset="-78"/>
                <a:ea typeface="Amiri" pitchFamily="2" charset="-78"/>
                <a:cs typeface="Amiri" pitchFamily="2" charset="-78"/>
              </a:rPr>
              <a:t>صَدِيقِي يُوسُفُ </a:t>
            </a:r>
            <a:pPr rtl="1" algn="r" indent="0" marL="0">
              <a:buNone/>
            </a:pPr>
            <a:r>
              <a:rPr lang="ar-SA" altLang="en-US" sz="2300" b="1" dirty="0">
                <a:solidFill>
                  <a:srgbClr val="0E7C86"/>
                </a:solidFill>
                <a:latin typeface="Amiri" pitchFamily="2" charset="-78"/>
                <a:ea typeface="Amiri" pitchFamily="2" charset="-78"/>
                <a:cs typeface="Amiri" pitchFamily="2" charset="-78"/>
              </a:rPr>
              <a:t>مَغْرِبِيٌّ</a:t>
            </a:r>
            <a:pPr rtl="1" algn="r" indent="0" marL="0">
              <a:buNone/>
            </a:pPr>
            <a:r>
              <a:rPr lang="ar-SA" altLang="en-US" sz="2300" b="1" dirty="0">
                <a:solidFill>
                  <a:srgbClr val="1B3B6F"/>
                </a:solidFill>
                <a:latin typeface="Amiri" pitchFamily="2" charset="-78"/>
                <a:ea typeface="Amiri" pitchFamily="2" charset="-78"/>
                <a:cs typeface="Amiri" pitchFamily="2" charset="-78"/>
              </a:rPr>
              <a:t>، وَصَدِيقَتُهُ مَرْيَمُ </a:t>
            </a:r>
            <a:pPr rtl="1" algn="r" indent="0" marL="0">
              <a:buNone/>
            </a:pPr>
            <a:r>
              <a:rPr lang="ar-SA" altLang="en-US" sz="2300" b="1" dirty="0">
                <a:solidFill>
                  <a:srgbClr val="D6336C"/>
                </a:solidFill>
                <a:latin typeface="Amiri" pitchFamily="2" charset="-78"/>
                <a:ea typeface="Amiri" pitchFamily="2" charset="-78"/>
                <a:cs typeface="Amiri" pitchFamily="2" charset="-78"/>
              </a:rPr>
              <a:t>بِرِيطَانِيَّةٌ</a:t>
            </a:r>
            <a:pPr rtl="1" algn="r" indent="0" marL="0">
              <a:buNone/>
            </a:pPr>
            <a:r>
              <a:rPr lang="ar-SA" altLang="en-US" sz="2300" b="1" dirty="0">
                <a:solidFill>
                  <a:srgbClr val="1B3B6F"/>
                </a:solidFill>
                <a:latin typeface="Amiri" pitchFamily="2" charset="-78"/>
                <a:ea typeface="Amiri" pitchFamily="2" charset="-78"/>
                <a:cs typeface="Amiri" pitchFamily="2" charset="-78"/>
              </a:rPr>
              <a:t>. يَتَكَلَّمَانِ </a:t>
            </a:r>
            <a:pPr rtl="1" algn="r" indent="0" marL="0">
              <a:buNone/>
            </a:pPr>
            <a:r>
              <a:rPr lang="ar-SA" altLang="en-US" sz="2300" b="1" dirty="0">
                <a:solidFill>
                  <a:srgbClr val="D6336C"/>
                </a:solidFill>
                <a:latin typeface="Amiri" pitchFamily="2" charset="-78"/>
                <a:ea typeface="Amiri" pitchFamily="2" charset="-78"/>
                <a:cs typeface="Amiri" pitchFamily="2" charset="-78"/>
              </a:rPr>
              <a:t>الْعَرَبِيَّةَ</a:t>
            </a:r>
            <a:pPr rtl="1" algn="r" indent="0" marL="0">
              <a:buNone/>
            </a:pPr>
            <a:r>
              <a:rPr lang="ar-SA" altLang="en-US" sz="2300" b="1" dirty="0">
                <a:solidFill>
                  <a:srgbClr val="1B3B6F"/>
                </a:solidFill>
                <a:latin typeface="Amiri" pitchFamily="2" charset="-78"/>
                <a:ea typeface="Amiri" pitchFamily="2" charset="-78"/>
                <a:cs typeface="Amiri" pitchFamily="2" charset="-78"/>
              </a:rPr>
              <a:t> وَ</a:t>
            </a:r>
            <a:pPr rtl="1" algn="r" indent="0" marL="0">
              <a:buNone/>
            </a:pPr>
            <a:r>
              <a:rPr lang="ar-SA" altLang="en-US" sz="2300" b="1" dirty="0">
                <a:solidFill>
                  <a:srgbClr val="D6336C"/>
                </a:solidFill>
                <a:latin typeface="Amiri" pitchFamily="2" charset="-78"/>
                <a:ea typeface="Amiri" pitchFamily="2" charset="-78"/>
                <a:cs typeface="Amiri" pitchFamily="2" charset="-78"/>
              </a:rPr>
              <a:t>الْإِنْجِلِيزِيَّةَ</a:t>
            </a:r>
            <a:pPr rtl="1" algn="r" indent="0" marL="0">
              <a:buNone/>
            </a:pPr>
            <a:r>
              <a:rPr lang="ar-SA" altLang="en-US" sz="2300" b="1" dirty="0">
                <a:solidFill>
                  <a:srgbClr val="1B3B6F"/>
                </a:solidFill>
                <a:latin typeface="Amiri" pitchFamily="2" charset="-78"/>
                <a:ea typeface="Amiri" pitchFamily="2" charset="-78"/>
                <a:cs typeface="Amiri" pitchFamily="2" charset="-78"/>
              </a:rPr>
              <a:t>، وَيُحِبَّانِ الطَّعَامَ </a:t>
            </a:r>
            <a:pPr rtl="1" algn="r" indent="0" marL="0">
              <a:buNone/>
            </a:pPr>
            <a:r>
              <a:rPr lang="ar-SA" altLang="en-US" sz="2300" b="1" dirty="0">
                <a:solidFill>
                  <a:srgbClr val="0E7C86"/>
                </a:solidFill>
                <a:latin typeface="Amiri" pitchFamily="2" charset="-78"/>
                <a:ea typeface="Amiri" pitchFamily="2" charset="-78"/>
                <a:cs typeface="Amiri" pitchFamily="2" charset="-78"/>
              </a:rPr>
              <a:t>الْمَغْرِبِيَّ</a:t>
            </a:r>
            <a:pPr rtl="1" algn="r" indent="0" marL="0">
              <a:buNone/>
            </a:pPr>
            <a:r>
              <a:rPr lang="ar-SA" altLang="en-US" sz="2300" b="1" dirty="0">
                <a:solidFill>
                  <a:srgbClr val="1B3B6F"/>
                </a:solidFill>
                <a:latin typeface="Amiri" pitchFamily="2" charset="-78"/>
                <a:cs typeface="Amiri" pitchFamily="2" charset="-78"/>
              </a:rPr>
              <a:t>.</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My friend Yusuf is Moroccan, and his friend Maryam is British. They both speak Arabic and English, and they love Moroccan food.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بِرِيطَانِيٌّ مِنْ أَصْلٍ بَاكِسْتَانِيٍّ.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British of Pakistani origin.</a:t>
            </a:r>
            <a:endParaRPr lang="en-US" sz="1250" dirty="0"/>
          </a:p>
          <a:p>
            <a:pPr indent="0" marL="0">
              <a:buNone/>
            </a:pPr>
            <a:r>
              <a:rPr lang="en-US" sz="1050" i="1" dirty="0">
                <a:solidFill>
                  <a:srgbClr val="8A6D1E"/>
                </a:solidFill>
                <a:latin typeface="Calibri" pitchFamily="34" charset="0"/>
                <a:cs typeface="Amiri" pitchFamily="2" charset="-78"/>
              </a:rPr>
              <a:t>Two nisbas; genitive after min.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أُمِّي صُومَالِيَّةٌ، وَأَبِي يَمَنِيٌّ.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mother is Somali, and my father is Yemeni.</a:t>
            </a:r>
            <a:endParaRPr lang="en-US" sz="1250" dirty="0"/>
          </a:p>
          <a:p>
            <a:pPr indent="0" marL="0">
              <a:buNone/>
            </a:pPr>
            <a:r>
              <a:rPr lang="en-US" sz="1050" i="1" dirty="0">
                <a:solidFill>
                  <a:srgbClr val="8A6D1E"/>
                </a:solidFill>
                <a:latin typeface="Calibri" pitchFamily="34" charset="0"/>
                <a:cs typeface="Amiri" pitchFamily="2" charset="-78"/>
              </a:rPr>
              <a:t>Feminine and masculine.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أُحِبُّ الْمُوسِيقَى الْعَرَبِيَّةَ.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love Arabic music.</a:t>
            </a:r>
            <a:endParaRPr lang="en-US" sz="1250" dirty="0"/>
          </a:p>
          <a:p>
            <a:pPr indent="0" marL="0">
              <a:buNone/>
            </a:pPr>
            <a:r>
              <a:rPr lang="en-US" sz="1050" i="1" dirty="0">
                <a:solidFill>
                  <a:srgbClr val="8A6D1E"/>
                </a:solidFill>
                <a:latin typeface="Calibri" pitchFamily="34" charset="0"/>
                <a:cs typeface="Amiri" pitchFamily="2" charset="-78"/>
              </a:rPr>
              <a:t>Website model bank, definite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الْعُلُومُ مَادَّةٌ عِلْمِيَّةٌ صَعْبَةٌ.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Science is a difficult scientific subject.</a:t>
            </a:r>
            <a:endParaRPr lang="en-US" sz="1250" dirty="0"/>
          </a:p>
          <a:p>
            <a:pPr indent="0" marL="0">
              <a:buNone/>
            </a:pPr>
            <a:r>
              <a:rPr lang="en-US" sz="1050" i="1" dirty="0">
                <a:solidFill>
                  <a:srgbClr val="8A6D1E"/>
                </a:solidFill>
                <a:latin typeface="Calibri" pitchFamily="34" charset="0"/>
                <a:cs typeface="Amiri" pitchFamily="2" charset="-78"/>
              </a:rPr>
              <a:t>A field nisba.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NATIONALITY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Country →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الْبَلَدُ وَالْجِنْسِيَّةُ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7482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is …</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is …</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Iraqi</a:t>
            </a:r>
            <a:endParaRPr lang="en-US" sz="1100" dirty="0"/>
          </a:p>
        </p:txBody>
      </p:sp>
      <p:sp>
        <p:nvSpPr>
          <p:cNvPr id="22" name="Text 19"/>
          <p:cNvSpPr txBox="1"/>
          <p:nvPr/>
        </p:nvSpPr>
        <p:spPr>
          <a:xfrm>
            <a:off x="676656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عِرَاقِيَّةٌ</a:t>
            </a:r>
            <a:endParaRPr lang="ar-SA" sz="2400" dirty="0"/>
          </a:p>
        </p:txBody>
      </p:sp>
      <p:sp>
        <p:nvSpPr>
          <p:cNvPr id="23" name="Text 20"/>
          <p:cNvSpPr txBox="1"/>
          <p:nvPr/>
        </p:nvSpPr>
        <p:spPr>
          <a:xfrm>
            <a:off x="36576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عِرَاقِيٌّ</a:t>
            </a:r>
            <a:endParaRPr lang="ar-SA" sz="2400" dirty="0"/>
          </a:p>
        </p:txBody>
      </p:sp>
      <p:sp>
        <p:nvSpPr>
          <p:cNvPr id="24" name="Text 21"/>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الْعِرَاقُ</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Yemeni</a:t>
            </a:r>
            <a:endParaRPr lang="en-US" sz="1100" dirty="0"/>
          </a:p>
        </p:txBody>
      </p:sp>
      <p:sp>
        <p:nvSpPr>
          <p:cNvPr id="29" name="Text 26"/>
          <p:cNvSpPr txBox="1"/>
          <p:nvPr/>
        </p:nvSpPr>
        <p:spPr>
          <a:xfrm>
            <a:off x="676656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يَمَنِيَّةٌ</a:t>
            </a:r>
            <a:endParaRPr lang="ar-SA" sz="2400" dirty="0"/>
          </a:p>
        </p:txBody>
      </p:sp>
      <p:sp>
        <p:nvSpPr>
          <p:cNvPr id="30" name="Text 27"/>
          <p:cNvSpPr txBox="1"/>
          <p:nvPr/>
        </p:nvSpPr>
        <p:spPr>
          <a:xfrm>
            <a:off x="36576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يَمَنِيٌّ</a:t>
            </a:r>
            <a:endParaRPr lang="ar-SA" sz="2400" dirty="0"/>
          </a:p>
        </p:txBody>
      </p:sp>
      <p:sp>
        <p:nvSpPr>
          <p:cNvPr id="31" name="Text 28"/>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الْيَمَنُ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Somali</a:t>
            </a:r>
            <a:endParaRPr lang="en-US" sz="1100" dirty="0"/>
          </a:p>
        </p:txBody>
      </p:sp>
      <p:sp>
        <p:nvSpPr>
          <p:cNvPr id="36" name="Text 33"/>
          <p:cNvSpPr txBox="1"/>
          <p:nvPr/>
        </p:nvSpPr>
        <p:spPr>
          <a:xfrm>
            <a:off x="676656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صُومَالِيَّةٌ</a:t>
            </a:r>
            <a:endParaRPr lang="ar-SA" sz="2400" dirty="0"/>
          </a:p>
        </p:txBody>
      </p:sp>
      <p:sp>
        <p:nvSpPr>
          <p:cNvPr id="37" name="Text 34"/>
          <p:cNvSpPr txBox="1"/>
          <p:nvPr/>
        </p:nvSpPr>
        <p:spPr>
          <a:xfrm>
            <a:off x="36576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صُومَالِيٌّ</a:t>
            </a:r>
            <a:endParaRPr lang="ar-SA" sz="2400" dirty="0"/>
          </a:p>
        </p:txBody>
      </p:sp>
      <p:sp>
        <p:nvSpPr>
          <p:cNvPr id="38" name="Text 35"/>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الصُّومَالُ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Turkish</a:t>
            </a:r>
            <a:endParaRPr lang="en-US" sz="1100" dirty="0"/>
          </a:p>
        </p:txBody>
      </p:sp>
      <p:sp>
        <p:nvSpPr>
          <p:cNvPr id="43" name="Text 40"/>
          <p:cNvSpPr txBox="1"/>
          <p:nvPr/>
        </p:nvSpPr>
        <p:spPr>
          <a:xfrm>
            <a:off x="676656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تُرْكِيَّةٌ</a:t>
            </a:r>
            <a:endParaRPr lang="ar-SA" sz="2400" dirty="0"/>
          </a:p>
        </p:txBody>
      </p:sp>
      <p:sp>
        <p:nvSpPr>
          <p:cNvPr id="44" name="Text 41"/>
          <p:cNvSpPr txBox="1"/>
          <p:nvPr/>
        </p:nvSpPr>
        <p:spPr>
          <a:xfrm>
            <a:off x="36576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تُرْكِيٌّ</a:t>
            </a:r>
            <a:endParaRPr lang="ar-SA" sz="2400" dirty="0"/>
          </a:p>
        </p:txBody>
      </p:sp>
      <p:sp>
        <p:nvSpPr>
          <p:cNvPr id="45" name="Text 42"/>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تُرْكِيَا</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Indian</a:t>
            </a:r>
            <a:endParaRPr lang="en-US" sz="1100" dirty="0"/>
          </a:p>
        </p:txBody>
      </p:sp>
      <p:sp>
        <p:nvSpPr>
          <p:cNvPr id="48" name="Text 45"/>
          <p:cNvSpPr txBox="1"/>
          <p:nvPr/>
        </p:nvSpPr>
        <p:spPr>
          <a:xfrm>
            <a:off x="676656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هِنْدِيَّةٌ</a:t>
            </a:r>
            <a:endParaRPr lang="ar-SA" sz="2400" dirty="0"/>
          </a:p>
        </p:txBody>
      </p:sp>
      <p:sp>
        <p:nvSpPr>
          <p:cNvPr id="49" name="Text 46"/>
          <p:cNvSpPr txBox="1"/>
          <p:nvPr/>
        </p:nvSpPr>
        <p:spPr>
          <a:xfrm>
            <a:off x="365760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هِنْدِيٌّ</a:t>
            </a:r>
            <a:endParaRPr lang="ar-SA" sz="2400" dirty="0"/>
          </a:p>
        </p:txBody>
      </p:sp>
      <p:sp>
        <p:nvSpPr>
          <p:cNvPr id="50" name="Text 47"/>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الْهِنْدُ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last three columns. Steps: drop al- (or a final -ā), add -iyy, then -iyya for “she”.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MASCULINE OR FEMININE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form fits the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عِلْمِيٌّ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قِصَّةٌ تَارِيخِيَّةٌ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 هِنْدِيٌّ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لُغَةٌ أَجْنَبِيَّةٌ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فَرِيقٌ رِيَاضِيٌّ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سَاحِلِيَّةٌ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دِرَاسِيٌّ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مُوسِيقَى شَعْبِيَّةٌ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-iyy (masculine noun)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-iyya (feminine noun)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-iyy (masculine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عِلْمِيٌّ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 هِنْدِيٌّ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فَرِيقٌ رِيَاضِيٌّ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دِرَاسِيٌّ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-iyya (feminine noun)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قِصَّةٌ تَارِيخِيَّةٌ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لُغَةٌ أَجْنَبِيَّةٌ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سَاحِلِيَّةٌ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مُوسِيقَى شَعْبِيَّةٌ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بِرِيطَانِيٌّ.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sister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طَالِبٌ عَرَبِيٌ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the shadda?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سُورِيَاوِيٌّ.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Drop the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بِرِيطَانِيٌّ.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بِرِيطَانِيَّةٌ.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-iyya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طَالِبٌ عَرَبِيٌ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طَالِبٌ عَرَبِيٌّ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shadda on the yāʾ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سُورِيَاوِيٌّ.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سُورِيٌّ.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Drop the final -yā before -iyy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Arab country (m.)”.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بَلَدٌ عَرَبِيَّةٌ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بَلَدٌ عَرَبٌ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بَلَدٌ عَرَبِيٌّ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speak English.”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الْإِنْجِلِيزِيُّ.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الْإِنْجِلِيزِيَّةَ.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إِنْجِلِيزٌ.</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Saudi team”.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الْفَرِيقُ السُّعُودِيَّةُ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الْفَرِيقُ السُّعُودِيُّ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فَرِيقُ السُّعُودِيُّ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“Many Egyptians live in London.”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يَسْكُنُ مِصْرِيَّةٌ كَثِيرَةٌ فِي لَنْدَن.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يَسْكُنُ مِصْرِيٌّ كَثِيرٌ فِي لَنْدَن.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يَسْكُنُ مِصْرِيُّونَ كَثِيرُونَ فِي لَنْدَن.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Arab country (m.)”.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بَلَدٌ عَرَبِيَّةٌ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بَلَدٌ عَرَبٌ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بَلَدٌ عَرَبِيٌّ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-iyy.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speak English.”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الْإِنْجِلِيزِيُّ.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أَتَكَلَّمُ الْإِنْجِلِيزِيَّةَ.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إِنْجِلِيزٌ.</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Languages: feminine nisba with 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Saudi team”.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الْفَرِيقُ السُّعُودِيَّةُ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الْفَرِيقُ السُّعُودِيُّ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فَرِيقُ السُّعُودِيُّ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al- on both.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“Many Egyptians live in London.”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يَسْكُنُ مِصْرِيَّةٌ كَثِيرَةٌ فِي لَنْدَن.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يَسْكُنُ مِصْرِيٌّ كَثِيرٌ فِي لَنْدَن.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يَسْكُنُ مِصْرِيُّونَ كَثِيرُونَ فِي لَنْدَن.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plural: -iyyūna.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multicultural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فِي الْمَتْحَفِ قِطَعٌ تَارِيخِيَّةٌ وَصُوَرٌ قَدِيمَةٌ. فِي شَارِعِنَا مَطْعَمٌ لُبْنَانِيٌّ وَمَخْبَزٌ تُرْكِيٌّ وَمَحَلٌّ صُومَالِيٌّ، وَجِيرَانُنَا بَاكِسْتَانِيُّونَ وَبِرِيطَانِيُّونَ.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قِطَعٌ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pieces, items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مَطْعَمٌ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restaurant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مَخْبَزٌ</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bakery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shop</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جِيرَانُنَا</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neighbours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قِطَعٌ تَارِيخِيَّةٌ</a:t>
            </a:r>
            <a:pPr algn="l" indent="0" marL="0">
              <a:buNone/>
            </a:pPr>
            <a:r>
              <a:rPr lang="en-US" sz="1250" b="1" dirty="0">
                <a:solidFill>
                  <a:srgbClr val="1B3B6F"/>
                </a:solidFill>
                <a:latin typeface="Calibri" pitchFamily="34" charset="0"/>
                <a:cs typeface="Amiri" pitchFamily="2" charset="-78"/>
              </a:rPr>
              <a:t>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Items are women.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Items are a non-human plural.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restaurant is in the street?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Turkish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Somali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بَاكِسْتَانِيُّونَ</a:t>
            </a:r>
            <a:pPr algn="l" indent="0" marL="0">
              <a:buNone/>
            </a:pPr>
            <a:r>
              <a:rPr lang="en-US" sz="1250" b="1" dirty="0">
                <a:solidFill>
                  <a:srgbClr val="1B3B6F"/>
                </a:solidFill>
                <a:latin typeface="Calibri" pitchFamily="34" charset="0"/>
                <a:cs typeface="Amiri" pitchFamily="2" charset="-78"/>
              </a:rPr>
              <a:t> (-ūna)?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neighbours are people, plural.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things.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nisba describes the bakery?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صُومَالِيٌّ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تُرْكِيٌّ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قِطَعٌ تَارِيخِيَّةٌ</a:t>
            </a:r>
            <a:pPr algn="l" indent="0" marL="0">
              <a:buNone/>
            </a:pPr>
            <a:r>
              <a:rPr lang="en-US" sz="1250" b="1" dirty="0">
                <a:solidFill>
                  <a:srgbClr val="1B3B6F"/>
                </a:solidFill>
                <a:latin typeface="Calibri" pitchFamily="34" charset="0"/>
                <a:cs typeface="Amiri" pitchFamily="2" charset="-78"/>
              </a:rPr>
              <a:t>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Items are women.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Items are a non-human plural.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restaurant is in the street?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Turkish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Somali</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Lebanese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مَطْعَمٌ لُبْنَانِيٌّ.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بَاكِسْتَانِيُّونَ</a:t>
            </a:r>
            <a:pPr algn="l" indent="0" marL="0">
              <a:buNone/>
            </a:pPr>
            <a:r>
              <a:rPr lang="en-US" sz="1250" b="1" dirty="0">
                <a:solidFill>
                  <a:srgbClr val="1B3B6F"/>
                </a:solidFill>
                <a:latin typeface="Calibri" pitchFamily="34" charset="0"/>
                <a:cs typeface="Amiri" pitchFamily="2" charset="-78"/>
              </a:rPr>
              <a:t> (-ūna)?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neighbours are people, plural.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things.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plural: -iyyūna.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nisba describes the bakery?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صُومَالِيٌّ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تُرْكِيٌّ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مَخْبَزٌ تُرْكِيٌّ.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Speaking: who are you and where are you from?</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جِنْسِيَّتُكَ؟ مَا جِنْسِيَّةُ أُمِّكَ وَأَبِيكَ؟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اللُّغَاتُ الَّتِي تَتَكَلَّمُهَا؟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الطَّعَامُ الْمُفَضَّلُ عِنْدَكَ؟ (هِنْدِيٌّ، إِيطَالِيٌّ، عَرَبِيٌّ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 وَأُمِّي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أَتَكَلَّمُ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الطَّعَامَ ___ لِأَنَّهُ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جِنْسِيَّتُكِ؟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nationality?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بِرِيطَانِيَّةٌ، وَأَصْلِي بَنْغَالِيٌّ. أَتَكَلَّمُ الْإِنْجِلِيزِيَّةَ وَالْبَنْغَالِيَّةَ وَقَلِيلًا مِنَ الْعَرَبِيَّةِ.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am British, and my origin is Bengali. I speak English, Bengali and a little Arabic.</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Introduce your family: nationality of each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He -iyy, she -iyya.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languages and food.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al-ʿarabiyya · ṭaʿām hindiyy.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your multicultural street or school.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an irregular nisba and a people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الطَّعَامَ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food.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شَارِعِي مَطْعَمٌ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street there is a … restaurant.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مَادَّةٌ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a … subject.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(nationality).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بِرِيطَانِيٌّ  ·  بِرِيطَانِيَّةٌ  ·  بَاكِسْتَانِيٌّ  ·  صُومَالِيٌّ  ·  مِصْرِيٌّ  ·  مَغْرِبِيٌّ  ·  هِنْدِيٌّ  ·  تُرْكِيٌّ  ·  الْعَرَبِيَّةُ  ·  الْإِنْجِلِيزِيَّةُ  ·  عِلْمِيَّةٌ  ·  تَارِيخِيَّةٌ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about a multicultural place or your family,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masculine and three feminine nationality nisbas.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languages as feminine nisbas with 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field nisba (scientific, historical, sporting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irregular nisba (Syrian, French, Saudi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people plural (-iyyūna).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أَصْلٍ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of … origin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مَطْعَمٌ لُبْنَانِيٌّ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Lebanese restaurant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مَادَّةٌ عِلْمِيَّةٌ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scientific subject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مَدِينَةٌ تَارِيخِيَّةٌ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historical city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جِيرَانٌ بِرِيطَانِيُّونَ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British neighbours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أَنَا بِرِيطَانِيٌّ، وَأَصْلِي بَاكِسْتَانِيٌّ. أُمِّي بَاكِسْتَانِيَّةٌ، وَأَبِي بِرِيطَانِيٌّ وُلِدَ فِي مَانْشِسْتَر. فِي الْبَيْتِ نَتَكَلَّمُ الْأُرْدِيَّةَ وَالْإِنْجِلِيزِيَّةَ، وَفِي الْمَدْرَسَةِ أَتَعَلَّمُ الْعَرَبِيَّةَ. أُحِبُّ الطَّعَامَ الْهِنْدِيَّ وَالْحَلْوَيَاتِ التُّرْكِيَّةَ. فِي صَفِّي طُلَّابٌ صُومَالِيُّونَ وَمَغَارِبَةٌ وَسُورِيُّونَ.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British, and my origin is Pakistani. My mother is Pakistani, and my father is British, born in Manchester. At home we speak Urdu and English, and at school I learn Arabic. I love Indian food and Turkish sweets. In my class there are Somali, Moroccan and Syrian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nisba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nisba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languages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plurals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nisba has the shadda on the yāʾ.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 and feminine nouns have -iyya.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Languages are feminine nisbas with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 is on both noun and nisba in “the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an irregular nisba and a people plural.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يَمَنِيٌّ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Indian film (m.)”.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فِيلْمٌ هِنْدِيَّةٌ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فِيلْمٌ هِنْدِيٌّ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فِيلْمٌ الْهِنْدِيُّ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speaks Arabic.”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تَتَكَلَّمُ الْعَرَبِيَّةَ.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تَتَكَلَّمُ الْعَرَبِيَّ.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تَتَكَلَّمُ عَرَبٌ.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يَمَنِيٌّ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يَمَنِيَّةٌ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يَمَنِيَةٌ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يَمَنِيٌّ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Yāʾ with shadda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Indian film (m.)”.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فِيلْمٌ هِنْدِيَّةٌ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فِيلْمٌ هِنْدِيٌّ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فِيلْمٌ الْهِنْدِيُّ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indefinite.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speaks Arabic.”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تَتَكَلَّمُ الْعَرَبِيَّةَ.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تَتَكَلَّمُ الْعَرَبِيَّ.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تَتَكَلَّمُ عَرَبٌ.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Language: feminine nisba.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GM-ADJ-09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GM-ADV-01 · Common Adverbs of Time, Place and Manner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ظَرْفٌ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دَائِمًا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always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أَحْيَانًا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sometimes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بِسُرْعَةٍ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quickly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dāʾiman and aḥyānan. What ending do they share? Why might many adverbs look like this?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دَائِمًا · أَحْيَانًا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nationality of eight people you know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about languages and food.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your multicultural street or school.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GM-ADV-01 · Common Adverbs of Time, Place and Manner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ظُرُوفُ الزَّمَانِ وَالْمَكَانِ وَالْحَالِ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 -iyy (shadda!) · feminine -iyya · it agrees like any adjective · languages are feminine nisbas · drop al-, a final -ā or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before -iyy.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GM-ADJ-09 · Nisba Adjectives</dc:title>
  <dc:subject>PptxGenJS Presentation</dc:subject>
  <dc:creator>Al Madina Online School · Arabic Department</dc:creator>
  <cp:lastModifiedBy>Al Madina Online School · Arabic Department</cp:lastModifiedBy>
  <cp:revision>1</cp:revision>
  <dcterms:created xsi:type="dcterms:W3CDTF">2026-10-11T06:42:04Z</dcterms:created>
  <dcterms:modified xsi:type="dcterms:W3CDTF">2026-10-11T06:42:04Z</dcterms:modified>
</cp:coreProperties>
</file>