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GM-ADJ-05 (“Negative Description with غَيْر”).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غَيْرُ + adjective in -in = “un- / not” (غَيْرُ مُمْكِنٍ · غَيْرُ صَحِيحٍ · غَيْرُ مُنَاسِبٍ). Develop: the adjective after غَيْر still matches the noun in gender (فِكْرَةٌ غَيْرُ وَاضِحَةٍ). Stretch: case on غَيْر changes with its position (‑u / ‑a / ‑i); definite contexts (غَيْرُ الصَّحِيحِ).
• Link to GM-N-07: “ghayr + word” is built like an iḍāfa — first word without tanwīn, second word genitive.
• Very high value for exams and opinions: غَيْرُ مُمْكِنٍ · غَيْرُ صِحِّيٍّ · غَيْرُ مُرِيحٍ · غَيْرُ مَسْمُوحٍ.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ghayr words prepared at the end of GM-ADJ-04.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Ghayr = un- / not. The word after it is always genitive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“Meaning and structure”. Link to iḍāfa (GM-N-07): ghayr is the first word, so no al- and no tanwīn;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model bank, plus teacher-added rows. All the ADJ-01 and ADJ-02 agreement rules still apply to the word after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“Case belongs to ghayr” and “Definiteness”. Stretch focus; Core needs only the first row. Contrast with laysa: لَيْسَ الْجَوَابُ صَحِيحًا (“the answer is not correct”) is a verb sentence; غَيْرُ صَحِيحٍ is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Show the change from positive to negative. Point to مُرِيحَةٍ: feminine (the bus is feminine) and genitive. The final clause uses laysa — contrast it briefly.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the last column; students say it first. The last row (Stretch) shows the genitive plural -īna.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W, then explain each wrong one: nominative after ghayr; wrong gender; tanwīn on ghayr; al- on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W, then explain each wrong one: nominative after ghayr; wrong gender; tanwīn on ghayr; al- on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and every ghayr phrase; label the agreement and the genitive.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Excellent for IGCSE opinion questions — insist on the genitive after ghayr.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(GM-ADJ-06 · Comparative and Superlative) will spend class time USING this language, so students prepare it tonight — short, simple, easy to access (school guidance: “Simple, Short, Interesting, Relevant, Easy to access”). The five words prepare GM-ADJ-06 (website Adjectives lesson 6: comparative and superlative).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cs typeface="Amiri" pitchFamily="2" charset="-78"/>
              </a:rPr>
              <a:t>Negative Description with ghayr</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النَّفْيُ الوَصْفِيُّ بِـ«غَيْر»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Ghayr works like English “un-”, “in-” or “not”: ghayru mumkin = impossible. The word after ghayr is ALWAYS genitive (-in); ghayr itself takes the case of the noun it describes.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Meaning and structure; agreement; case on ghayr.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opposites,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غَيْرُ</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مُمْكِنٍ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مُمْكِنًا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unsuitable idea”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فِكْرَةٌ غَيْرُ مُنَاسِبَةٍ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فِكْرَةٌ غَيْرَ مُنَاسِبَةٌ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فِكْرَةٌ مُنَاسِبَةٌ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correct </a:t>
            </a:r>
            <a:pPr algn="l" indent="0" marL="0">
              <a:buNone/>
            </a:pPr>
            <a:r>
              <a:rPr lang="ar-SA" altLang="en-US" sz="1650" b="1" dirty="0">
                <a:solidFill>
                  <a:srgbClr val="1B3B6F"/>
                </a:solidFill>
                <a:latin typeface="Amiri" pitchFamily="2" charset="-78"/>
                <a:cs typeface="Amiri" pitchFamily="2" charset="-78"/>
              </a:rPr>
              <a:t>غَيْر</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Meaning of </a:t>
            </a:r>
            <a:pPr algn="l" indent="0" marL="0">
              <a:buNone/>
            </a:pPr>
            <a:r>
              <a:rPr lang="ar-SA" altLang="en-US" sz="1650" b="1" dirty="0">
                <a:solidFill>
                  <a:srgbClr val="1B3B6F"/>
                </a:solidFill>
                <a:latin typeface="Amiri" pitchFamily="2" charset="-78"/>
                <a:cs typeface="Amiri" pitchFamily="2" charset="-78"/>
              </a:rPr>
              <a:t>غَيْرُ صَحِيحٍ</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very correct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yet read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incorrect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غَيْرُ</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مُمْكِنٌ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مُمْكِنٍ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مُمْكِنًا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word after ghayr is genitive.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unsuitable idea”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فِكْرَةٌ غَيْرُ مُنَاسِبَةٍ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فِكْرَةٌ غَيْرَ مُنَاسِبَةٌ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غَيْرٌ فِكْرَةٌ مُنَاسِبَةٌ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begins an iḍāfa-like negative description.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choose correct </a:t>
            </a:r>
            <a:pPr algn="l" indent="0" marL="0">
              <a:buNone/>
            </a:pPr>
            <a:r>
              <a:rPr lang="ar-SA" altLang="en-US" sz="1650" b="1" dirty="0">
                <a:solidFill>
                  <a:srgbClr val="1B3B6F"/>
                </a:solidFill>
                <a:latin typeface="Amiri" pitchFamily="2" charset="-78"/>
                <a:cs typeface="Amiri" pitchFamily="2" charset="-78"/>
              </a:rPr>
              <a:t>غَيْر</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غَيْرِ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fī the whole description is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Meaning of </a:t>
            </a:r>
            <a:pPr algn="l" indent="0" marL="0">
              <a:buNone/>
            </a:pPr>
            <a:r>
              <a:rPr lang="ar-SA" altLang="en-US" sz="1650" b="1" dirty="0">
                <a:solidFill>
                  <a:srgbClr val="1B3B6F"/>
                </a:solidFill>
                <a:latin typeface="Amiri" pitchFamily="2" charset="-78"/>
                <a:cs typeface="Amiri" pitchFamily="2" charset="-78"/>
              </a:rPr>
              <a:t>غَيْرُ صَحِيحٍ</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very correct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 yet read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incorrect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negates the description after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Ghayr = un- / not. The word after it is always genitive (-in).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غَيْرُ</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cs typeface="Amiri" pitchFamily="2" charset="-78"/>
              </a:rPr>
              <a:t>مُمْكِنٍ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غَيْرُ</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D6336C"/>
                </a:solidFill>
                <a:latin typeface="Amiri" pitchFamily="2" charset="-78"/>
                <a:cs typeface="Amiri" pitchFamily="2" charset="-78"/>
              </a:rPr>
              <a:t>صَحِيحٍ</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ghayr to make negative descriptions (un-, in-, not).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the word after ghayr in the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gender and number agreement after ghayr.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the case of ghayr with its position.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impossible, incorrect and unsuitable.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-in on the word after ghayr.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an unclear idea with a feminine adjective.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ghayr in sentences about opinions.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change ghayru / ghayra / ghayri by position.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ghayr in a definite phrase.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un-, non-, other than</a:t>
            </a:r>
            <a:endParaRPr lang="en-US" sz="1350" dirty="0"/>
          </a:p>
          <a:p>
            <a:pPr indent="0" marL="0">
              <a:buNone/>
            </a:pPr>
            <a:r>
              <a:rPr lang="en-US" sz="1100" i="1" dirty="0">
                <a:solidFill>
                  <a:srgbClr val="5A6472"/>
                </a:solidFill>
                <a:latin typeface="Calibri" pitchFamily="34" charset="0"/>
                <a:cs typeface="Amiri" pitchFamily="2" charset="-78"/>
              </a:rPr>
              <a:t>ghayru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غَيْرُ مُمْكِنٍ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مَجْرُورٌ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genitive (-i / -in)</a:t>
            </a:r>
            <a:endParaRPr lang="en-US" sz="1350" dirty="0"/>
          </a:p>
          <a:p>
            <a:pPr indent="0" marL="0">
              <a:buNone/>
            </a:pPr>
            <a:r>
              <a:rPr lang="en-US" sz="1100" i="1" dirty="0">
                <a:solidFill>
                  <a:srgbClr val="5A6472"/>
                </a:solidFill>
                <a:latin typeface="Calibri" pitchFamily="34" charset="0"/>
                <a:cs typeface="Amiri" pitchFamily="2" charset="-78"/>
              </a:rPr>
              <a:t>maj-rū-run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word after ghayr</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مُمْكِنٌ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possible</a:t>
            </a:r>
            <a:endParaRPr lang="en-US" sz="1350" dirty="0"/>
          </a:p>
          <a:p>
            <a:pPr indent="0" marL="0">
              <a:buNone/>
            </a:pPr>
            <a:r>
              <a:rPr lang="en-US" sz="1100" i="1" dirty="0">
                <a:solidFill>
                  <a:srgbClr val="5A6472"/>
                </a:solidFill>
                <a:latin typeface="Calibri" pitchFamily="34" charset="0"/>
                <a:cs typeface="Amiri" pitchFamily="2" charset="-78"/>
              </a:rPr>
              <a:t>mum-ki-nun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غَيْرُ مُمْكِنٍ</a:t>
            </a:r>
            <a:pPr algn="l" indent="0" marL="0">
              <a:buNone/>
            </a:pPr>
            <a:r>
              <a:rPr lang="en-US" sz="1000" i="1" dirty="0">
                <a:solidFill>
                  <a:srgbClr val="8A6D1E"/>
                </a:solidFill>
                <a:latin typeface="Calibri" pitchFamily="34" charset="0"/>
                <a:cs typeface="Amiri" pitchFamily="2" charset="-78"/>
              </a:rPr>
              <a:t> = impossible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صَحِيحٌ</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correct</a:t>
            </a:r>
            <a:endParaRPr lang="en-US" sz="1350" dirty="0"/>
          </a:p>
          <a:p>
            <a:pPr indent="0" marL="0">
              <a:buNone/>
            </a:pPr>
            <a:r>
              <a:rPr lang="en-US" sz="1100" i="1" dirty="0">
                <a:solidFill>
                  <a:srgbClr val="5A6472"/>
                </a:solidFill>
                <a:latin typeface="Calibri" pitchFamily="34" charset="0"/>
                <a:cs typeface="Amiri" pitchFamily="2" charset="-78"/>
              </a:rPr>
              <a:t>ṣa-ḥī-ḥun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غَيْرُ صَحِيحٍ</a:t>
            </a:r>
            <a:pPr algn="l" indent="0" marL="0">
              <a:buNone/>
            </a:pPr>
            <a:r>
              <a:rPr lang="en-US" sz="1000" i="1" dirty="0">
                <a:solidFill>
                  <a:srgbClr val="8A6D1E"/>
                </a:solidFill>
                <a:latin typeface="Calibri" pitchFamily="34" charset="0"/>
                <a:cs typeface="Amiri" pitchFamily="2" charset="-78"/>
              </a:rPr>
              <a:t> = incorrect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مُنَاسِبٌ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suitable</a:t>
            </a:r>
            <a:endParaRPr lang="en-US" sz="1350" dirty="0"/>
          </a:p>
          <a:p>
            <a:pPr indent="0" marL="0">
              <a:buNone/>
            </a:pPr>
            <a:r>
              <a:rPr lang="en-US" sz="1100" i="1" dirty="0">
                <a:solidFill>
                  <a:srgbClr val="5A6472"/>
                </a:solidFill>
                <a:latin typeface="Calibri" pitchFamily="34" charset="0"/>
                <a:cs typeface="Amiri" pitchFamily="2" charset="-78"/>
              </a:rPr>
              <a:t>mu-nā-si-bun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غَيْرُ مُنَاسِبٍ</a:t>
            </a:r>
            <a:pPr algn="l" indent="0" marL="0">
              <a:buNone/>
            </a:pPr>
            <a:r>
              <a:rPr lang="en-US" sz="1000" i="1" dirty="0">
                <a:solidFill>
                  <a:srgbClr val="8A6D1E"/>
                </a:solidFill>
                <a:latin typeface="Calibri" pitchFamily="34" charset="0"/>
                <a:cs typeface="Amiri" pitchFamily="2" charset="-78"/>
              </a:rPr>
              <a:t> = unsuitable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وَاضِحٌ</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clear</a:t>
            </a:r>
            <a:endParaRPr lang="en-US" sz="1350" dirty="0"/>
          </a:p>
          <a:p>
            <a:pPr indent="0" marL="0">
              <a:buNone/>
            </a:pPr>
            <a:r>
              <a:rPr lang="en-US" sz="1100" i="1" dirty="0">
                <a:solidFill>
                  <a:srgbClr val="5A6472"/>
                </a:solidFill>
                <a:latin typeface="Calibri" pitchFamily="34" charset="0"/>
                <a:cs typeface="Amiri" pitchFamily="2" charset="-78"/>
              </a:rPr>
              <a:t>wā-ḍi-ḥun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غَيْرُ وَاضِحٍ</a:t>
            </a:r>
            <a:pPr algn="l" indent="0" marL="0">
              <a:buNone/>
            </a:pPr>
            <a:r>
              <a:rPr lang="en-US" sz="1000" i="1" dirty="0">
                <a:solidFill>
                  <a:srgbClr val="8A6D1E"/>
                </a:solidFill>
                <a:latin typeface="Calibri" pitchFamily="34" charset="0"/>
                <a:cs typeface="Amiri" pitchFamily="2" charset="-78"/>
              </a:rPr>
              <a:t> = unclear</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MEANING AND STRUCTURE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Ghayr + genitive = “un- /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الْمَعْنَى وَالتَّرْكِيبُ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Ghayr means “other than”, “not” or “non-” in adjective-like expressions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It is followed by a GENITIVE word, because the structure behaves like an iḍāfa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ghayr itself has no tanwīn, and the word after it ends in -in.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Arabic has no prefix “un-”: ghayr does that job.</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Use it after a noun, like an adjective, or as the predicate: “This is …”.</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غَيْرُ مُمْكِنٍ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impossible / not possible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غَيْرُ مُنَاسِبٍ</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unsuitable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غَيْرُ صَحِيحٍ</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incorrect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هَذَا الْحَلُّ غَيْرُ مُنَاسِبٍ.</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solution is unsuitable.  ·  website · predicate</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put the word after ghayr in the nominative: ghayru mumkinin, not ghayru mumkinun.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GHAYR AFTER A NOUN · AGREEMENT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The word after ghayr still matches the noun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الْمُطَابَقَةُ بَعْدَ «غَيْر»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6393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(website)</a:t>
            </a:r>
            <a:endParaRPr lang="en-US" sz="1100" dirty="0"/>
          </a:p>
        </p:txBody>
      </p:sp>
      <p:sp>
        <p:nvSpPr>
          <p:cNvPr id="21" name="Text 18"/>
          <p:cNvSpPr txBox="1"/>
          <p:nvPr/>
        </p:nvSpPr>
        <p:spPr>
          <a:xfrm>
            <a:off x="365760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طَعَامٌ غَيْرُ صِحِّيٍّ</a:t>
            </a:r>
            <a:endParaRPr lang="ar-SA" sz="24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unhealthy food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still -in (website)</a:t>
            </a:r>
            <a:endParaRPr lang="en-US" sz="1100" dirty="0"/>
          </a:p>
        </p:txBody>
      </p:sp>
      <p:sp>
        <p:nvSpPr>
          <p:cNvPr id="27" name="Text 24"/>
          <p:cNvSpPr txBox="1"/>
          <p:nvPr/>
        </p:nvSpPr>
        <p:spPr>
          <a:xfrm>
            <a:off x="365760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فِكْرَةٌ غَيْرُ وَاضِحَةٍ</a:t>
            </a:r>
            <a:endParaRPr lang="ar-SA" sz="24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unclear idea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a:t>
            </a:r>
            <a:endParaRPr lang="en-US" sz="1100" dirty="0"/>
          </a:p>
        </p:txBody>
      </p:sp>
      <p:sp>
        <p:nvSpPr>
          <p:cNvPr id="33" name="Text 30"/>
          <p:cNvSpPr txBox="1"/>
          <p:nvPr/>
        </p:nvSpPr>
        <p:spPr>
          <a:xfrm>
            <a:off x="365760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كُرْسِيٌّ غَيْرُ مُرِيحٍ</a:t>
            </a:r>
            <a:endParaRPr lang="ar-SA" sz="24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uncomfortable chair</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plural: genitive -īna</a:t>
            </a:r>
            <a:endParaRPr lang="en-US" sz="1100" dirty="0"/>
          </a:p>
        </p:txBody>
      </p:sp>
      <p:sp>
        <p:nvSpPr>
          <p:cNvPr id="39" name="Text 36"/>
          <p:cNvSpPr txBox="1"/>
          <p:nvPr/>
        </p:nvSpPr>
        <p:spPr>
          <a:xfrm>
            <a:off x="365760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طُلَّابٌ غَيْرُ مُجْتَهِدِينَ</a:t>
            </a:r>
            <a:endParaRPr lang="ar-SA" sz="2400" dirty="0"/>
          </a:p>
        </p:txBody>
      </p:sp>
      <p:sp>
        <p:nvSpPr>
          <p:cNvPr id="40" name="Text 37"/>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lazy (not hard-working) students</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43" name="Text 40"/>
          <p:cNvSpPr txBox="1"/>
          <p:nvPr/>
        </p:nvSpPr>
        <p:spPr>
          <a:xfrm>
            <a:off x="365760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طُرُقٌ غَيْرُ آمِنَةٍ</a:t>
            </a:r>
            <a:endParaRPr lang="ar-SA" sz="2400" dirty="0"/>
          </a:p>
        </p:txBody>
      </p:sp>
      <p:sp>
        <p:nvSpPr>
          <p:cNvPr id="44" name="Text 41"/>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unsafe roads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Ghayr copies the CASE of the noun; the word after it copies the GENDER and NUMBER of the noun but stays genitive.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3 · CASE BELONGS TO GHAYR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Ghayr changes; the next word stays genitive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الْإِعْرَابُ عَلَى «غَيْر»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 on ghayr</a:t>
            </a:r>
            <a:endParaRPr lang="en-US" sz="1100" dirty="0"/>
          </a:p>
        </p:txBody>
      </p:sp>
      <p:sp>
        <p:nvSpPr>
          <p:cNvPr id="17" name="Text 14"/>
          <p:cNvSpPr txBox="1"/>
          <p:nvPr/>
        </p:nvSpPr>
        <p:spPr>
          <a:xfrm>
            <a:off x="32735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ghayru (-u)</a:t>
            </a:r>
            <a:endParaRPr lang="en-US" sz="1100" dirty="0"/>
          </a:p>
        </p:txBody>
      </p:sp>
      <p:sp>
        <p:nvSpPr>
          <p:cNvPr id="21" name="Text 18"/>
          <p:cNvSpPr txBox="1"/>
          <p:nvPr/>
        </p:nvSpPr>
        <p:spPr>
          <a:xfrm>
            <a:off x="3291840" y="2267712"/>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جَوَابٌ غَيْرُ صَحِيحٍ.</a:t>
            </a:r>
            <a:endParaRPr lang="ar-SA" sz="24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describing a subject / predicate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ghayra (-a)</a:t>
            </a:r>
            <a:endParaRPr lang="en-US" sz="1100" dirty="0"/>
          </a:p>
        </p:txBody>
      </p:sp>
      <p:sp>
        <p:nvSpPr>
          <p:cNvPr id="27" name="Text 24"/>
          <p:cNvSpPr txBox="1"/>
          <p:nvPr/>
        </p:nvSpPr>
        <p:spPr>
          <a:xfrm>
            <a:off x="3291840" y="3054096"/>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رَأَيْتُ جَوَابًا غَيْرَ صَحِيحٍ.</a:t>
            </a:r>
            <a:endParaRPr lang="ar-SA" sz="24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describing an object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ghayri (-i)</a:t>
            </a:r>
            <a:endParaRPr lang="en-US" sz="1100" dirty="0"/>
          </a:p>
        </p:txBody>
      </p:sp>
      <p:sp>
        <p:nvSpPr>
          <p:cNvPr id="31" name="Text 28"/>
          <p:cNvSpPr txBox="1"/>
          <p:nvPr/>
        </p:nvSpPr>
        <p:spPr>
          <a:xfrm>
            <a:off x="3291840" y="3840480"/>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فَكَّرْتُ فِي جَوَابٍ غَيْرِ صَحِيحٍ.</a:t>
            </a:r>
            <a:endParaRPr lang="ar-SA" sz="2400" dirty="0"/>
          </a:p>
        </p:txBody>
      </p:sp>
      <p:sp>
        <p:nvSpPr>
          <p:cNvPr id="32" name="Text 29"/>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 preposition</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next word takes al-</a:t>
            </a:r>
            <a:endParaRPr lang="en-US" sz="1100" dirty="0"/>
          </a:p>
        </p:txBody>
      </p:sp>
      <p:sp>
        <p:nvSpPr>
          <p:cNvPr id="35" name="Text 32"/>
          <p:cNvSpPr txBox="1"/>
          <p:nvPr/>
        </p:nvSpPr>
        <p:spPr>
          <a:xfrm>
            <a:off x="3291840" y="4626864"/>
            <a:ext cx="47548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قَرَأْتُ الْخَبَرَ غَيْرَ الصَّحِيحِ.</a:t>
            </a:r>
            <a:endParaRPr lang="ar-SA" sz="2400" dirty="0"/>
          </a:p>
        </p:txBody>
      </p:sp>
      <p:sp>
        <p:nvSpPr>
          <p:cNvPr id="36" name="Text 3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context</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position changes the ending on ghayr; the word after it remains genitive in every row.</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“unclear”?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وَاضِحٌ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وَاضِحٌ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وَاضِحٍ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unhealthy drink”.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مَشْرُوبٌ غَيْرُ صِحِّيٍّ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مَشْرُوبٌ غَيْرُ صِحِّيٌّ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مَشْرُوبٍ صِحِّيٍّ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uncomfortable bed (m.)”.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سَرِيرٌ غَيْرُ مُرِيحَةٍ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سَرِيرٌ غَيْرُ مُرِيحٍ</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سَرِيرٌ غَيْرَ مُرِيحٌ</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incorrect answer (f.)”.</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إِجَابَةٌ غَيْرُ صَحِيحَةٍ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إِجَابَةٌ غَيْرُ صَحِيحٍ</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إِجَابَةٌ غَيْرُ صَحِيحَةٌ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“unclear”?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غَيْرُ وَاضِحٌ</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غَيْرٌ وَاضِحٌ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غَيْرُ وَاضِحٍ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genitive.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unhealthy drink”.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مَشْرُوبٌ غَيْرُ صِحِّيٍّ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مَشْرُوبٌ غَيْرُ صِحِّيٌّ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غَيْرُ مَشْرُوبٍ صِحِّيٍّ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first, then ghayr +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uncomfortable bed (m.)”.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سَرِيرٌ غَيْرُ مُرِيحَةٍ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سَرِيرٌ غَيْرُ مُرِيحٍ</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سَرِيرٌ غَيْرَ مُرِيحٌ</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 masculine word after ghayr.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incorrect answer (f.)”.</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إِجَابَةٌ غَيْرُ صَحِيحَةٍ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إِجَابَةٌ غَيْرُ صَحِيحٍ</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إِجَابَةٌ غَيْرُ صَحِيحَةٌ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and genitive.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Watch me build a negative description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Positive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الطَّرِيقُ آمِنٌ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road is safe.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ghayr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غَيْرُ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Ghayr takes -u here.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Genitive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غَيْرُ آمِنٍ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Next word → -in.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الطَّرِيقُ غَيْرُ آمِنٍ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road is unsafe.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GHAYR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GENITIVE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الطَّرِيقُ إِلَى الْمَدْرَسَةِ </a:t>
            </a:r>
            <a:pPr rtl="1" algn="r" indent="0" marL="0">
              <a:buNone/>
            </a:pPr>
            <a:r>
              <a:rPr lang="ar-SA" altLang="en-US" sz="2600" b="1" dirty="0">
                <a:solidFill>
                  <a:srgbClr val="0E7C86"/>
                </a:solidFill>
                <a:latin typeface="Amiri" pitchFamily="2" charset="-78"/>
                <a:cs typeface="Amiri" pitchFamily="2" charset="-78"/>
              </a:rPr>
              <a:t>غَيْرُ</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آمِنٍ</a:t>
            </a:r>
            <a:pPr rtl="1" algn="r" indent="0" marL="0">
              <a:buNone/>
            </a:pPr>
            <a:r>
              <a:rPr lang="ar-SA" altLang="en-US" sz="2600" b="1" dirty="0">
                <a:solidFill>
                  <a:srgbClr val="1B3B6F"/>
                </a:solidFill>
                <a:latin typeface="Amiri" pitchFamily="2" charset="-78"/>
                <a:cs typeface="Amiri" pitchFamily="2" charset="-78"/>
              </a:rPr>
              <a:t> فِي الشِّتَاءِ، وَالْحَافِلَةُ </a:t>
            </a:r>
            <a:pPr rtl="1" algn="r" indent="0" marL="0">
              <a:buNone/>
            </a:pPr>
            <a:r>
              <a:rPr lang="ar-SA" altLang="en-US" sz="2600" b="1" dirty="0">
                <a:solidFill>
                  <a:srgbClr val="0E7C86"/>
                </a:solidFill>
                <a:latin typeface="Amiri" pitchFamily="2" charset="-78"/>
                <a:cs typeface="Amiri" pitchFamily="2" charset="-78"/>
              </a:rPr>
              <a:t>غَيْرُ</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مُرِيحَةٍ</a:t>
            </a:r>
            <a:pPr rtl="1" algn="r" indent="0" marL="0">
              <a:buNone/>
            </a:pPr>
            <a:r>
              <a:rPr lang="ar-SA" altLang="en-US" sz="2600" b="1" dirty="0">
                <a:solidFill>
                  <a:srgbClr val="1B3B6F"/>
                </a:solidFill>
                <a:latin typeface="Amiri" pitchFamily="2" charset="-78"/>
                <a:cs typeface="Amiri" pitchFamily="2" charset="-78"/>
              </a:rPr>
              <a:t>، لَكِنَّ الرِّحْلَةَ لَيْسَتْ طَوِيلَةً.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road to school is unsafe in winter, and the bus is uncomfortable, but the journey is not long.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غَيْرُ مُمْكِنٍ!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impossible!</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الطَّعَامُ السَّرِيعُ غَيْرُ صِحِّيٍّ.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Fast food is unhealthy.</a:t>
            </a:r>
            <a:endParaRPr lang="en-US" sz="1250" dirty="0"/>
          </a:p>
          <a:p>
            <a:pPr indent="0" marL="0">
              <a:buNone/>
            </a:pPr>
            <a:r>
              <a:rPr lang="en-US" sz="1050" i="1" dirty="0">
                <a:solidFill>
                  <a:srgbClr val="8A6D1E"/>
                </a:solidFill>
                <a:latin typeface="Calibri" pitchFamily="34" charset="0"/>
                <a:cs typeface="Amiri" pitchFamily="2" charset="-78"/>
              </a:rPr>
              <a:t>Great for opinions.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هَذِهِ فِكْرَةٌ غَيْرُ وَاضِحَةٍ.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an unclear idea.</a:t>
            </a:r>
            <a:endParaRPr lang="en-US" sz="1250" dirty="0"/>
          </a:p>
          <a:p>
            <a:pPr indent="0" marL="0">
              <a:buNone/>
            </a:pPr>
            <a:r>
              <a:rPr lang="en-US" sz="1050" i="1" dirty="0">
                <a:solidFill>
                  <a:srgbClr val="8A6D1E"/>
                </a:solidFill>
                <a:latin typeface="Calibri" pitchFamily="34" charset="0"/>
                <a:cs typeface="Amiri" pitchFamily="2" charset="-78"/>
              </a:rPr>
              <a:t>Website model bank: feminine.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التَّدْخِينُ غَيْرُ مَسْمُوحٍ هُنَا.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Smoking is not allowed here.</a:t>
            </a:r>
            <a:endParaRPr lang="en-US" sz="1250" dirty="0"/>
          </a:p>
          <a:p>
            <a:pPr indent="0" marL="0">
              <a:buNone/>
            </a:pPr>
            <a:r>
              <a:rPr lang="en-US" sz="1050" i="1" dirty="0">
                <a:solidFill>
                  <a:srgbClr val="8A6D1E"/>
                </a:solidFill>
                <a:latin typeface="Calibri" pitchFamily="34" charset="0"/>
                <a:cs typeface="Amiri" pitchFamily="2" charset="-78"/>
              </a:rPr>
              <a:t>Signs and rules.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THE OPPOSITE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it negative with ghayr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اعْكِسِ الْمَعْنَى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7" name="Text 14"/>
          <p:cNvSpPr txBox="1"/>
          <p:nvPr/>
        </p:nvSpPr>
        <p:spPr>
          <a:xfrm>
            <a:off x="36393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غَيْرُ مُمْكِنٍ</a:t>
            </a:r>
            <a:endParaRPr lang="ar-SA" sz="2400" dirty="0"/>
          </a:p>
        </p:txBody>
      </p:sp>
      <p:sp>
        <p:nvSpPr>
          <p:cNvPr id="21" name="Text 18"/>
          <p:cNvSpPr txBox="1"/>
          <p:nvPr/>
        </p:nvSpPr>
        <p:spPr>
          <a:xfrm>
            <a:off x="367588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possible</a:t>
            </a:r>
            <a:endParaRPr lang="en-US" sz="1100" dirty="0"/>
          </a:p>
        </p:txBody>
      </p:sp>
      <p:sp>
        <p:nvSpPr>
          <p:cNvPr id="22" name="Text 19"/>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مُمْكِنٌ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غَيْرُ مُهِمٍّ</a:t>
            </a:r>
            <a:endParaRPr lang="ar-SA" sz="2400" dirty="0"/>
          </a:p>
        </p:txBody>
      </p:sp>
      <p:sp>
        <p:nvSpPr>
          <p:cNvPr id="27" name="Text 24"/>
          <p:cNvSpPr txBox="1"/>
          <p:nvPr/>
        </p:nvSpPr>
        <p:spPr>
          <a:xfrm>
            <a:off x="367588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important</a:t>
            </a:r>
            <a:endParaRPr lang="en-US" sz="1100" dirty="0"/>
          </a:p>
        </p:txBody>
      </p:sp>
      <p:sp>
        <p:nvSpPr>
          <p:cNvPr id="28" name="Text 25"/>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مُهِمٌّ</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غَيْرُ مُفِيدٍ</a:t>
            </a:r>
            <a:endParaRPr lang="ar-SA" sz="2400" dirty="0"/>
          </a:p>
        </p:txBody>
      </p:sp>
      <p:sp>
        <p:nvSpPr>
          <p:cNvPr id="33" name="Text 30"/>
          <p:cNvSpPr txBox="1"/>
          <p:nvPr/>
        </p:nvSpPr>
        <p:spPr>
          <a:xfrm>
            <a:off x="367588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useful</a:t>
            </a:r>
            <a:endParaRPr lang="en-US" sz="1100" dirty="0"/>
          </a:p>
        </p:txBody>
      </p:sp>
      <p:sp>
        <p:nvSpPr>
          <p:cNvPr id="34" name="Text 31"/>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مُفِيدٌ</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قِصَّةٌ غَيْرُ مُمْتِعَةٍ</a:t>
            </a:r>
            <a:endParaRPr lang="ar-SA" sz="2400" dirty="0"/>
          </a:p>
        </p:txBody>
      </p:sp>
      <p:sp>
        <p:nvSpPr>
          <p:cNvPr id="39" name="Text 36"/>
          <p:cNvSpPr txBox="1"/>
          <p:nvPr/>
        </p:nvSpPr>
        <p:spPr>
          <a:xfrm>
            <a:off x="367588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enjoyable story</a:t>
            </a:r>
            <a:endParaRPr lang="en-US" sz="1100" dirty="0"/>
          </a:p>
        </p:txBody>
      </p:sp>
      <p:sp>
        <p:nvSpPr>
          <p:cNvPr id="40" name="Text 37"/>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قِصَّةٌ مُمْتِعَةٌ</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لَاعِبُونَ غَيْرُ مَشْهُورِينَ</a:t>
            </a:r>
            <a:endParaRPr lang="ar-SA" sz="2400" dirty="0"/>
          </a:p>
        </p:txBody>
      </p:sp>
      <p:sp>
        <p:nvSpPr>
          <p:cNvPr id="43" name="Text 40"/>
          <p:cNvSpPr txBox="1"/>
          <p:nvPr/>
        </p:nvSpPr>
        <p:spPr>
          <a:xfrm>
            <a:off x="367588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famous players</a:t>
            </a:r>
            <a:endParaRPr lang="en-US" sz="1100" dirty="0"/>
          </a:p>
        </p:txBody>
      </p:sp>
      <p:sp>
        <p:nvSpPr>
          <p:cNvPr id="44" name="Text 41"/>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لَاعِبُونَ مَشْهُورُونَ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word after ghayr ends in -in (or -īna for a masculine plural) — and still matches the noun’s gender and number.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CORRECT OR NOT?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 the ghayr phrase correct?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صَحِيحٌ أَمْ 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صَحِيحٍ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صَحِيحٌ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فِكْرَةٌ غَيْرُ جَيِّدَةٍ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فِكْرَةٌ غَيْرُ جَيِّدٍ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مُنَاسِبٍ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مُنَاسِبٌ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 غَيْرُ عَادِيٍّ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الْغَيْرُ مُمْكِنٍ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Wrong</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Correct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صَحِيحٍ</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فِكْرَةٌ غَيْرُ جَيِّدَةٍ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مُنَاسِبٍ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 غَيْرُ عَادِيٍّ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Wrong</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صَحِيحٌ</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فِكْرَةٌ غَيْرُ جَيِّدٍ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غَيْرٌ مُنَاسِبٌ</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الْغَيْرُ مُمْكِنٍ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غَيْرُ مُمْكِنٌ.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Genitive after ghayr?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لُغَةٌ غَيْرُ سَهْلٍ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noun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قَرَأْتُ قِصَّةً غَيْرُ مُمْتِعَةٍ.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case is the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غَيْرُ مُمْكِنٌ.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هَذَا غَيْرُ مُمْكِنٍ.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word after ghayr is genitive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لُغَةٌ غَيْرُ سَهْلٍ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لُغَةٌ غَيْرُ سَهْلَةٍ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Language is feminine — match the gender.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قَرَأْتُ قِصَّةً غَيْرُ مُمْتِعَةٍ.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قَرَأْتُ قِصَّةً غَيْرَ مُمْتِعَةٍ.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Describing an object → ghayra (Stretch).</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weather is unsuitable for a picnic.”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الْجَوُّ غَيْرُ مُنَاسِبٌ لِلنُّزْهَةِ.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الْجَوُّ غَيْرٌ مُنَاسِبٌ لِلنُّزْهَةِ.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الْجَوُّ غَيْرُ مُنَاسِبٍ لِلنُّزْهَةِ.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unimportant question (m.)”.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سُؤَالٌ غَيْرُ مُهِمَّةٍ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سُؤَالٌ غَيْرُ مُهِمٍّ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سُؤَالٍ مُهِمٍّ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“unsafe streets”.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شَوَارِعُ غَيْرُ آمِنِينَ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شَوَارِعُ غَيْرُ آمِنَةٍ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شَوَارِعُ غَيْرُ آمِنَةٌ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bought an unhealthy meal.”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اشْتَرَيْتُ وَجْبَةً غَيْرُ صِحِّيَّةٍ.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اشْتَرَيْتُ وَجْبَةً غَيْرَ صِحِّيَّةً.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اشْتَرَيْتُ وَجْبَةً غَيْرَ صِحِّيَّةٍ.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weather is unsuitable for a picnic.”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الْجَوُّ غَيْرُ مُنَاسِبٌ لِلنُّزْهَةِ.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الْجَوُّ غَيْرٌ مُنَاسِبٌ لِلنُّزْهَةِ.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الْجَوُّ غَيْرُ مُنَاسِبٍ لِلنُّزْهَةِ.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genitive.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unimportant question (m.)”.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سُؤَالٌ غَيْرُ مُهِمَّةٍ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سُؤَالٌ غَيْرُ مُهِمٍّ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غَيْرُ سُؤَالٍ مُهِمٍّ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first.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“unsafe streets”.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شَوَارِعُ غَيْرُ آمِنِينَ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شَوَارِعُ غَيْرُ آمِنَةٍ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شَوَارِعُ غَيْرُ آمِنَةٌ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 genitive.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bought an unhealthy meal.”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اشْتَرَيْتُ وَجْبَةً غَيْرُ صِحِّيَّةٍ.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اشْتَرَيْتُ وَجْبَةً غَيْرَ صِحِّيَّةً.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اشْتَرَيْتُ وَجْبَةً غَيْرَ صِحِّيَّةٍ.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 ghayra; next word genitive.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Not everything is perfect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مَدِينَتِي أَمَاكِنُ جَمِيلَةٌ وَشَوَارِعُ وَاسِعَةٌ. هَذِهِ الْمَدْرَسَةُ الْجَدِيدَةُ قَرِيبَةٌ، وَذَلِكَ الْمَتْحَفُ الْقَدِيمُ مُثِيرٌ لِلِاهْتِمَامِ. لَكِنَّ الْمَوَاصَلَاتِ غَيْرُ مُرِيحَةٍ، وَمَوْقِفَ السَّيَّارَاتِ غَيْرُ كَافٍ. الطَّعَامُ فِي السُّوقِ لَذِيذٌ، لَكِنَّهُ غَيْرُ صِحِّيٍّ أَحْيَانًا.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الْمَوَاصَلَاتِ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transport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مُرِيحَةٍ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comfortable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مَوْقِفَ السَّيَّارَاتِ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 park</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كَافٍ</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enough</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صِحِّيٍّ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healthy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transport sentence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transport is comfortable.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transport is uncomfortable.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transport.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word after ghayr feminine in the transport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feminine.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here is a non-human plural.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غَيْرُ كَافٍ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enough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very enough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other places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about the food?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never tasty.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tasty but sometimes unhealthy.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healthy.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transport sentence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transport is comfortable.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transport is uncomfortable.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transport.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word after ghayr feminine in the transport sentence?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feminine.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Transport here is a non-human plural.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غَيْرُ كَافٍ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enough</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very enough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other places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kāfin.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true about the food?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never tasty.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tasty but sometimes unhealthy.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healthy.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لَذِيذٌ … غَيْرُ صِحِّيٍّ أَحْيَانًا.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is not good?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الطَّعَامُ غَيْرُ الصِّحِّيِّ فِي رَأْيِكَ؟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فِي مَدِينَتِكَ غَيْرُ مُنَاسِبٍ لِلشَّبَابِ؟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الْهَاتِفُ فِي الصَّفِّ مُفِيدٌ أَمْ غَيْرُ مُفِيدٍ؟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رَأْيِي، ___ غَيْرُ صِحِّيٍّ.</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مَدِينَتِي ___ غَيْرُ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أَعْتَقِدُ أَنَّ الْهَاتِفَ غَيْرُ ___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الْوَجَبَاتُ السَّرِيعَةُ صِحِّيَّةٌ؟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Are fast-food meals healthy?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لَا، هِيَ غَيْرُ صِحِّيَّةٍ لِأَنَّ فِيهَا دُهُونًا كَثِيرَةً، لَكِنَّهَا لَذِيذَةٌ!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No, they are unhealthy because they have a lot of fat — but they are tasty!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with ghayr + a genitive adjective.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impossible · incorrect · unhealthy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ghayr after masculine, feminine and plural 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Match gender; keep -in.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the good and bad sides of your town or school, with ghayr as subject, object and after a preposition.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ghayru · ghayra · ghayri.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الْحَافِلَةُ غَيْرُ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is uncomfortable.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فِكْرَةٌ غَيْرُ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an unclear idea.</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الشَّوَارِعُ غَيْرُ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streets are unsafe.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غَيْرُ مَسْمُوحٍ فِي الْمَدْرَسَةِ.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not allowed in school.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غَيْرُ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impossible.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غَيْرُ صِحِّيٍّ.</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unhealthy.</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الْجَوَابُ غَيْرُ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answer is incorrect.</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كُرْسِيِّي غَيْرُ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chair is uncomfortable.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مُمْكِنٍ  ·  صَحِيحٍ  ·  صِحِّيٍّ  ·  مُرِيحٍ  ·  مُرِيحَةٍ  ·  وَاضِحَةٍ  ·  آمِنَةٍ  ·  مُفِيدٍ  ·  مُهِمٍّ  ·  مَسْمُوحٍ  ·  كَافٍ  ·  مُنَاسِبٍ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on the good and bad sides of a place or experience,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ghayr phrases with a genitive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ghayr phrase after a feminine noun.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after a plural (people or things).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ghayr describing an object (ghayra).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laysa for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 مُمْكِنٍ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impossible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 صِحِّيٍّ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unhealthy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فِكْرَةٌ غَيْرُ وَاضِحَةٍ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unclear idea</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شَوَارِعُ غَيْرُ آمِنَةٍ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unsafe streets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 مَسْمُوحٍ</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allowed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 … صَحِيحًا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not correct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أُحِبُّ مَدْرَسَتِي، لَكِنَّ بَعْضَ الْأَشْيَاءِ غَيْرُ مُنَاسِبَةٍ. الْكَرَاسِيُّ فِي الصَّفِّ غَيْرُ مُرِيحَةٍ، وَالْمَقْصَفُ يَبِيعُ طَعَامًا غَيْرَ صِحِّيٍّ. اسْتِخْدَامُ الْهَاتِفِ فِي الصَّفِّ غَيْرُ مَسْمُوحٍ، وَهَذَا قَرَارٌ صَحِيحٌ فِي رَأْيِي. مَعَ ذَلِكَ، الْمُعَلِّمُونَ لُطَفَاءُ، وَالدُّرُوسُ لَيْسَتْ صَعْبَةً.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my school, but some things are unsuitable. The chairs in class are uncomfortable, and the tuck shop sells unhealthy food. Using a phone in class is not allowed, and in my opinion that is a correct decision. Even so, the teachers are kind, and the lessons are not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ghayr + genitive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after ghayr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ghayra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laysa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word after ghayr ends in -in (or -īna).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Ghayr has no al- and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word after ghayr matches the noun’s gender.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use the feminine singular form.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Ghayr takes -u, -a or -i from its position.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“incorrect”?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صَحِيحٍ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غَيْرُ صَحِيحٌ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صَحِيحٌ</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unclear picture (f.)”.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صُورَةٌ غَيْرُ وَاضِحٍ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صُورَةٌ غَيْرُ وَاضِحَةٍ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صُورَةٌ غَيْرُ وَاضِحَةٌ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not allowed.”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غَيْرُ مَسْمُوحٍ.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غَيْرٌ مَسْمُوحٌ.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الْغَيْرُ مَسْمُوحٍ.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“incorrect”?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غَيْرُ صَحِيحٍ</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غَيْرُ صَحِيحٌ</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صَحِيحٌ</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Ghayr +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unclear picture (f.)”.</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صُورَةٌ غَيْرُ وَاضِحٍ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صُورَةٌ غَيْرُ وَاضِحَةٍ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صُورَةٌ غَيْرُ وَاضِحَةٌ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and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not allowed.”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هَذَا غَيْرُ مَسْمُوحٍ.</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غَيْرٌ مَسْمُوحٌ.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الْغَيْرُ مَسْمُوحٍ.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tanwīn or al- on ghayr.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GM-ADJ-05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GM-ADJ-06: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GM-ADJ-06 · Comparative and Superlative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أَكْبَرُ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bigger</a:t>
            </a:r>
            <a:pPr indent="0" marL="0">
              <a:buNone/>
            </a:pPr>
            <a:r>
              <a:rPr lang="en-US" sz="1000" i="1" dirty="0">
                <a:solidFill>
                  <a:srgbClr val="5A6472"/>
                </a:solidFill>
                <a:latin typeface="Calibri" pitchFamily="34" charset="0"/>
                <a:cs typeface="Amiri" pitchFamily="2" charset="-78"/>
              </a:rPr>
              <a:t>  from كَبِيرٌ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أَصْغَرُ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smaller</a:t>
            </a:r>
            <a:pPr indent="0" marL="0">
              <a:buNone/>
            </a:pPr>
            <a:r>
              <a:rPr lang="en-US" sz="1000" i="1" dirty="0">
                <a:solidFill>
                  <a:srgbClr val="5A6472"/>
                </a:solidFill>
                <a:latin typeface="Calibri" pitchFamily="34" charset="0"/>
                <a:cs typeface="Amiri" pitchFamily="2" charset="-78"/>
              </a:rPr>
              <a:t>  from صَغِيرٌ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أَطْوَلُ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taller, longer</a:t>
            </a:r>
            <a:pPr indent="0" marL="0">
              <a:buNone/>
            </a:pPr>
            <a:r>
              <a:rPr lang="en-US" sz="1000" i="1" dirty="0">
                <a:solidFill>
                  <a:srgbClr val="5A6472"/>
                </a:solidFill>
                <a:latin typeface="Calibri" pitchFamily="34" charset="0"/>
                <a:cs typeface="Amiri" pitchFamily="2" charset="-78"/>
              </a:rPr>
              <a:t>  from طَوِيلٌ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than</a:t>
            </a:r>
            <a:pPr indent="0" marL="0">
              <a:buNone/>
            </a:pPr>
            <a:r>
              <a:rPr lang="en-US" sz="1000" i="1" dirty="0">
                <a:solidFill>
                  <a:srgbClr val="5A6472"/>
                </a:solidFill>
                <a:latin typeface="Calibri" pitchFamily="34" charset="0"/>
                <a:cs typeface="Amiri" pitchFamily="2" charset="-78"/>
              </a:rPr>
              <a:t>  أَكْبَرُ مِنْ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الْأَكْبَرُ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biggest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From kabīr we get akbar (bigger). What do you think comes from ṭawīl and ṣaghīr?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كَبِيرٌ · أَكْبَرُ — طَوِيلٌ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ghayr expressions with their English meaning.</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opinion sentences using ghayr with different 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on the good and bad sides of your town.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GM-ADJ-06 · Comparative and Superlative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اِسْمُ التَّفْضِيلِ: أَفْعَلُ وَالْأَفْعَلُ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ghayr = un- / not · the word after it is always genitive · it still matches the noun’s gender and number · ghayr takes the noun’s case · no al-, no tanwīn on ghayr.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GM-ADJ-05 · Negative Description with ghayr</dc:title>
  <dc:subject>PptxGenJS Presentation</dc:subject>
  <dc:creator>Al Madina Online School · Arabic Department</dc:creator>
  <cp:lastModifiedBy>Al Madina Online School · Arabic Department</cp:lastModifiedBy>
  <cp:revision>1</cp:revision>
  <dcterms:created xsi:type="dcterms:W3CDTF">2026-10-11T06:42:01Z</dcterms:created>
  <dcterms:modified xsi:type="dcterms:W3CDTF">2026-10-11T06:42:01Z</dcterms:modified>
</cp:coreProperties>
</file>