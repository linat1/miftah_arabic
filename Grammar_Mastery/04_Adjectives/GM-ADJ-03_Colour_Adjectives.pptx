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Adjectives › GM-ADJ-03 (“Colour Adjectives: أَفْعَل / فَعْلَاء”).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learn the six pairs as families (أَحْمَرُ حَمْرَاءُ · أَخْضَرُ خَضْرَاءُ · أَزْرَقُ زَرْقَاءُ · أَصْفَرُ صَفْرَاءُ · أَبْيَضُ بَيْضَاءُ · أَسْوَدُ سَوْدَاءُ). Develop: choose from the HEAD noun; things in the plural → feminine form. Stretch: no tanwīn on these colours; -iyy colours (بُنِّيٌّ / بُنِّيَّةٌ) use normal + ة.
• Pattern teaching: show the root letters ḥ-m-r in both أَحْمَرُ and حَمْرَاءُ — the shape changes around them (link to broken plurals, GM-N-05).
• Visual hook: hold up real objects (pen, bag, shirt) on camera; students name them with colours in the chat.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(all five questions) — it uses the five colour words prepared at the end of GM-ADJ-02.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Colours do not add tāʾ marbūṭa. Masculine aḥmar → feminine ḥamrāʾ. Plural things take the feminine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(3 min) — website “The colour pair”. Chant the pairs with actions; colour the root letters in both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 website “Agreement in context”. The last example is the “nearest word” trap: sister is feminine, but the colour describes the shirt.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(3 min) — website “Plural colour agreement”, with teacher-added rows. Core: rows 1–3. Stretch: the -iyy colours and the human plural forms (recognition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hinge questions on the website’s three steps.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Hold real objects up to the camera. For each: “What is the noun? Masculine, feminine, or plural things?” then choose the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M or F. Traps: leaves and trees are plural things → feminine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M or F. Traps: leaves and trees are plural things → feminine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(2 min). Discussion point to add orally: “dress” (فُسْتَانٌ) is MASCULINE in Arabic, so a red dress is فُسْتَانٌ أَحْمَرُ — check the noun, not the English idea of the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practice on the website rules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text, extended by the teacher. Read it aloud once while students follow; then they hunt for today’s grammar.
Task: Website: underline each adjective, draw an arrow to its noun, and label the agreement feature.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The first two sentences are the website text; the rest is teacher-written.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task (45–60 seconds). Sequence: ● 10s think → ↔ 45s rehearse aloud with mic muted → ◎ two named students on open mic (warned in advance) → + ? the class types one follow-up in chat → ↺ one student summarises.
Routes: Core uses the Core prompt and stem; Develop the Develop prompt; Stretch the last prompt.
Website: 45–60 seconds with six accurate structures. Camera game: students hold up an object; the class says it with its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90–120 words describing a person, place, object or experience, with at least eight target adjective structures, underlined.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workshop,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(GM-ADJ-04 · Position and Full Adjective Agreement) will spend class time USING this language, so students prepare it tonight — short, simple, easy to access (school guidance: “Simple, Short, Interesting, Relevant, Easy to access”). The five words prepare GM-ADJ-04 (website Adjectives lesson 4: position and full agreement).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ADJECTIVES  ·  GM-ADJ-03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GM-ADJ-03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Colour Adjectives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أَلْوَانُ أَفْعَلَ وَفَعْلَاءَ</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The six basic colours have their own feminine shape: red → ḥamrāʾ, not “aḥmara”. Masculine noun → aḥmar; feminine noun or a plural of things → ḥamrāʾ.</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GM-ADJ-03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Adjectives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colour pair; agreement from the head noun; plurals.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pairs, sort masculine / feminine, describe objects.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GM-ADJ-04.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feminine of </a:t>
            </a:r>
            <a:pPr algn="l" indent="0" marL="0">
              <a:buNone/>
            </a:pPr>
            <a:r>
              <a:rPr lang="ar-SA" altLang="en-US" sz="1650" b="1" dirty="0">
                <a:solidFill>
                  <a:srgbClr val="1B3B6F"/>
                </a:solidFill>
                <a:latin typeface="Amiri" pitchFamily="2" charset="-78"/>
                <a:ea typeface="Amiri" pitchFamily="2" charset="-78"/>
                <a:cs typeface="Amiri" pitchFamily="2" charset="-78"/>
              </a:rPr>
              <a:t>أَحْمَرُ</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أَحْمَرَةٌ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حَمْرَاءُ</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حُمْرٌ</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حَقِيبَةٌ</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زَرْقَاءُ</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أَزْرَقُ</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زَرْقَةٌ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قَمِيصٌ</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بَيْضَاءُ</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بَيَاضٌ</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أَبْيَضُ</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سَيَّارَاتٌ</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أَحْمَرُونَ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حَمْرَاوَاتٌ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حَمْرَاءُ</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principle best supports this lesson?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Check the noun first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Translate word by word from English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definiteness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feminine of </a:t>
            </a:r>
            <a:pPr algn="l" indent="0" marL="0">
              <a:buNone/>
            </a:pPr>
            <a:r>
              <a:rPr lang="ar-SA" altLang="en-US" sz="1650" b="1" dirty="0">
                <a:solidFill>
                  <a:srgbClr val="1B3B6F"/>
                </a:solidFill>
                <a:latin typeface="Amiri" pitchFamily="2" charset="-78"/>
                <a:ea typeface="Amiri" pitchFamily="2" charset="-78"/>
                <a:cs typeface="Amiri" pitchFamily="2" charset="-78"/>
              </a:rPr>
              <a:t>أَحْمَرُ</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أَحْمَرَةٌ</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حَمْرَاءُ</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حُمْرٌ</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colour pattern is faʿlāʾ.</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حَقِيبَةٌ</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زَرْقَاءُ</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أَزْرَقُ</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زَرْقَةٌ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Bag is feminine singular.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قَمِيصٌ</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بَيْضَاءُ</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بَيَاضٌ</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أَبْيَضُ</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Shirt is masculine singular.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سَيَّارَاتٌ</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أَحْمَرُونَ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حَمْرَاوَاتٌ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حَمْرَاءُ</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Cars are a non-human plural → feminine singular.</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principle best supports this lesson?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Check the noun first</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Translate word by word from English</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definiteness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controls adjective agreement.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Colours do not add tāʾ marbūṭa. Masculine aḥmar → feminine ḥamrāʾ. Plural things take the feminine form.</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قَلَمٌ </a:t>
            </a:r>
            <a:pPr rtl="1" algn="ctr" indent="0" marL="0">
              <a:buNone/>
            </a:pPr>
            <a:r>
              <a:rPr lang="ar-SA" altLang="en-US" sz="2400" b="1" dirty="0">
                <a:solidFill>
                  <a:srgbClr val="0E7C86"/>
                </a:solidFill>
                <a:latin typeface="Amiri" pitchFamily="2" charset="-78"/>
                <a:ea typeface="Amiri" pitchFamily="2" charset="-78"/>
                <a:cs typeface="Amiri" pitchFamily="2" charset="-78"/>
              </a:rPr>
              <a:t>أَحْمَرُ</a:t>
            </a:r>
            <a:pPr rtl="1" algn="ctr" indent="0" marL="0">
              <a:buNone/>
            </a:pPr>
            <a:r>
              <a:rPr lang="ar-SA" altLang="en-US" sz="2400" b="1" dirty="0">
                <a:solidFill>
                  <a:srgbClr val="1B3B6F"/>
                </a:solidFill>
                <a:latin typeface="Amiri" pitchFamily="2" charset="-78"/>
                <a:ea typeface="Amiri" pitchFamily="2" charset="-78"/>
                <a:cs typeface="Amiri" pitchFamily="2" charset="-78"/>
              </a:rPr>
              <a:t> ‖ حَقِيبَةٌ </a:t>
            </a:r>
            <a:pPr rtl="1" algn="ctr" indent="0" marL="0">
              <a:buNone/>
            </a:pPr>
            <a:r>
              <a:rPr lang="ar-SA" altLang="en-US" sz="2400" b="1" dirty="0">
                <a:solidFill>
                  <a:srgbClr val="D6336C"/>
                </a:solidFill>
                <a:latin typeface="Amiri" pitchFamily="2" charset="-78"/>
                <a:ea typeface="Amiri" pitchFamily="2" charset="-78"/>
                <a:cs typeface="Amiri" pitchFamily="2" charset="-78"/>
              </a:rPr>
              <a:t>حَمْرَاءُ</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six basic colours in masculine and feminine.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the colour form from the head noun.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feminine colour with non-human plurals.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colours that DO take tāʾ marbūṭa.</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know the six colour pairs.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a red pen and a red bag correctly.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match the colour to the head noun.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the feminine colour for plural things.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know basic colours take no tanwīn.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brown, grey and orange with + </a:t>
            </a:r>
            <a:pPr algn="l" indent="0" marL="0">
              <a:buNone/>
            </a:pPr>
            <a:r>
              <a:rPr lang="ar-SA" altLang="en-US" sz="1700" b="1" dirty="0">
                <a:solidFill>
                  <a:srgbClr val="B83227"/>
                </a:solidFill>
                <a:latin typeface="Amiri" pitchFamily="2" charset="-78"/>
                <a:ea typeface="Amiri" pitchFamily="2" charset="-78"/>
                <a:cs typeface="Amiri" pitchFamily="2" charset="-78"/>
              </a:rPr>
              <a:t>ة</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لَوْنٌ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colour</a:t>
            </a:r>
            <a:endParaRPr lang="en-US" sz="1350" dirty="0"/>
          </a:p>
          <a:p>
            <a:pPr indent="0" marL="0">
              <a:buNone/>
            </a:pPr>
            <a:r>
              <a:rPr lang="en-US" sz="1100" i="1" dirty="0">
                <a:solidFill>
                  <a:srgbClr val="5A6472"/>
                </a:solidFill>
                <a:latin typeface="Calibri" pitchFamily="34" charset="0"/>
                <a:cs typeface="Amiri" pitchFamily="2" charset="-78"/>
              </a:rPr>
              <a:t>law-nun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pl. </a:t>
            </a:r>
            <a:pPr algn="l" indent="0" marL="0">
              <a:buNone/>
            </a:pPr>
            <a:r>
              <a:rPr lang="ar-SA" altLang="en-US" sz="1300" dirty="0">
                <a:solidFill>
                  <a:srgbClr val="8A6D1E"/>
                </a:solidFill>
                <a:latin typeface="Amiri" pitchFamily="2" charset="-78"/>
                <a:ea typeface="Amiri" pitchFamily="2" charset="-78"/>
                <a:cs typeface="Amiri" pitchFamily="2" charset="-78"/>
              </a:rPr>
              <a:t>أَلْوَانٌ</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أَفْعَلُ</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masculine colour pattern</a:t>
            </a:r>
            <a:endParaRPr lang="en-US" sz="1350" dirty="0"/>
          </a:p>
          <a:p>
            <a:pPr indent="0" marL="0">
              <a:buNone/>
            </a:pPr>
            <a:r>
              <a:rPr lang="en-US" sz="1100" i="1" dirty="0">
                <a:solidFill>
                  <a:srgbClr val="5A6472"/>
                </a:solidFill>
                <a:latin typeface="Calibri" pitchFamily="34" charset="0"/>
                <a:cs typeface="Amiri" pitchFamily="2" charset="-78"/>
              </a:rPr>
              <a:t>afʿal</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أَحْمَرُ · أَزْرَقُ</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فَعْلَاءُ</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feminine colour pattern</a:t>
            </a:r>
            <a:endParaRPr lang="en-US" sz="1350" dirty="0"/>
          </a:p>
          <a:p>
            <a:pPr indent="0" marL="0">
              <a:buNone/>
            </a:pPr>
            <a:r>
              <a:rPr lang="en-US" sz="1100" i="1" dirty="0">
                <a:solidFill>
                  <a:srgbClr val="5A6472"/>
                </a:solidFill>
                <a:latin typeface="Calibri" pitchFamily="34" charset="0"/>
                <a:cs typeface="Amiri" pitchFamily="2" charset="-78"/>
              </a:rPr>
              <a:t>faʿlāʾ</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حَمْرَاءُ · زَرْقَاءُ</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الْمَوْصُوفُ</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head noun (the one described)</a:t>
            </a:r>
            <a:endParaRPr lang="en-US" sz="1350" dirty="0"/>
          </a:p>
          <a:p>
            <a:pPr indent="0" marL="0">
              <a:buNone/>
            </a:pPr>
            <a:r>
              <a:rPr lang="en-US" sz="1100" i="1" dirty="0">
                <a:solidFill>
                  <a:srgbClr val="5A6472"/>
                </a:solidFill>
                <a:latin typeface="Calibri" pitchFamily="34" charset="0"/>
                <a:cs typeface="Amiri" pitchFamily="2" charset="-78"/>
              </a:rPr>
              <a:t>al-maw-ṣū-fu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قَمِيصُ … أَبْيَضُ</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 لَوْنُ …؟</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colour is …?</a:t>
            </a:r>
            <a:endParaRPr lang="en-US" sz="1350" dirty="0"/>
          </a:p>
          <a:p>
            <a:pPr indent="0" marL="0">
              <a:buNone/>
            </a:pPr>
            <a:r>
              <a:rPr lang="en-US" sz="1100" i="1" dirty="0">
                <a:solidFill>
                  <a:srgbClr val="5A6472"/>
                </a:solidFill>
                <a:latin typeface="Calibri" pitchFamily="34" charset="0"/>
                <a:cs typeface="Amiri" pitchFamily="2" charset="-78"/>
              </a:rPr>
              <a:t>mā law-nu …?</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مَا لَوْنُ حَقِيبَتِكَ؟</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مَمْنُوعٌ مِنَ الصَّرْفِ</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takes no tanwīn (diptote)</a:t>
            </a:r>
            <a:endParaRPr lang="en-US" sz="1350" dirty="0"/>
          </a:p>
          <a:p>
            <a:pPr indent="0" marL="0">
              <a:buNone/>
            </a:pPr>
            <a:r>
              <a:rPr lang="en-US" sz="1100" i="1" dirty="0">
                <a:solidFill>
                  <a:srgbClr val="5A6472"/>
                </a:solidFill>
                <a:latin typeface="Calibri" pitchFamily="34" charset="0"/>
                <a:cs typeface="Amiri" pitchFamily="2" charset="-78"/>
              </a:rPr>
              <a:t>mam-nū-ʿun mi-na aṣ-ṣar-fi</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أَحْمَرُ</a:t>
            </a:r>
            <a:pPr algn="l" indent="0" marL="0">
              <a:buNone/>
            </a:pPr>
            <a:r>
              <a:rPr lang="en-US" sz="1000" i="1" dirty="0">
                <a:solidFill>
                  <a:srgbClr val="8A6D1E"/>
                </a:solidFill>
                <a:latin typeface="Calibri" pitchFamily="34" charset="0"/>
                <a:cs typeface="Amiri" pitchFamily="2" charset="-78"/>
              </a:rPr>
              <a:t> — not </a:t>
            </a:r>
            <a:pPr algn="l" indent="0" marL="0">
              <a:buNone/>
            </a:pPr>
            <a:r>
              <a:rPr lang="ar-SA" altLang="en-US" sz="1300" dirty="0">
                <a:solidFill>
                  <a:srgbClr val="8A6D1E"/>
                </a:solidFill>
                <a:latin typeface="Amiri" pitchFamily="2" charset="-78"/>
                <a:ea typeface="Amiri" pitchFamily="2" charset="-78"/>
                <a:cs typeface="Amiri" pitchFamily="2" charset="-78"/>
              </a:rPr>
              <a:t>أَحْمَرٌ</a:t>
            </a:r>
            <a:endParaRPr lang="en-US" sz="10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STEP 1 · THE COLOUR PAIR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colours, two shapes each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أَفْعَلُ وَفَعْلَاءُ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2571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60167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 · faʿlāʾ</a:t>
            </a:r>
            <a:endParaRPr lang="en-US" sz="1100" dirty="0"/>
          </a:p>
        </p:txBody>
      </p:sp>
      <p:sp>
        <p:nvSpPr>
          <p:cNvPr id="18" name="Text 15"/>
          <p:cNvSpPr txBox="1"/>
          <p:nvPr/>
        </p:nvSpPr>
        <p:spPr>
          <a:xfrm>
            <a:off x="290779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 · afʿal</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Colour</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9144000" y="2267712"/>
            <a:ext cx="249631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تُفَّاحَةٌ حَمْرَاءُ</a:t>
            </a:r>
            <a:endParaRPr lang="ar-SA" sz="2000" dirty="0"/>
          </a:p>
        </p:txBody>
      </p:sp>
      <p:sp>
        <p:nvSpPr>
          <p:cNvPr id="22" name="Text 19"/>
          <p:cNvSpPr txBox="1"/>
          <p:nvPr/>
        </p:nvSpPr>
        <p:spPr>
          <a:xfrm>
            <a:off x="6035040" y="2267712"/>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حَمْرَاءُ</a:t>
            </a:r>
            <a:endParaRPr lang="ar-SA" sz="2600" dirty="0"/>
          </a:p>
        </p:txBody>
      </p:sp>
      <p:sp>
        <p:nvSpPr>
          <p:cNvPr id="23" name="Text 20"/>
          <p:cNvSpPr txBox="1"/>
          <p:nvPr/>
        </p:nvSpPr>
        <p:spPr>
          <a:xfrm>
            <a:off x="2926080" y="2267712"/>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أَحْمَرُ</a:t>
            </a:r>
            <a:endParaRPr lang="ar-SA" sz="2600" dirty="0"/>
          </a:p>
        </p:txBody>
      </p:sp>
      <p:sp>
        <p:nvSpPr>
          <p:cNvPr id="24" name="Text 21"/>
          <p:cNvSpPr txBox="1"/>
          <p:nvPr/>
        </p:nvSpPr>
        <p:spPr>
          <a:xfrm>
            <a:off x="56692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red</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9144000" y="2881884"/>
            <a:ext cx="249631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شَجَرَةٌ خَضْرَاءُ</a:t>
            </a:r>
            <a:endParaRPr lang="ar-SA" sz="2000" dirty="0"/>
          </a:p>
        </p:txBody>
      </p:sp>
      <p:sp>
        <p:nvSpPr>
          <p:cNvPr id="29" name="Text 26"/>
          <p:cNvSpPr txBox="1"/>
          <p:nvPr/>
        </p:nvSpPr>
        <p:spPr>
          <a:xfrm>
            <a:off x="6035040" y="2881884"/>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خَضْرَاءُ</a:t>
            </a:r>
            <a:endParaRPr lang="ar-SA" sz="2600" dirty="0"/>
          </a:p>
        </p:txBody>
      </p:sp>
      <p:sp>
        <p:nvSpPr>
          <p:cNvPr id="30" name="Text 27"/>
          <p:cNvSpPr txBox="1"/>
          <p:nvPr/>
        </p:nvSpPr>
        <p:spPr>
          <a:xfrm>
            <a:off x="2926080" y="2881884"/>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أَخْضَرُ</a:t>
            </a:r>
            <a:endParaRPr lang="ar-SA" sz="2600" dirty="0"/>
          </a:p>
        </p:txBody>
      </p:sp>
      <p:sp>
        <p:nvSpPr>
          <p:cNvPr id="31" name="Text 28"/>
          <p:cNvSpPr txBox="1"/>
          <p:nvPr/>
        </p:nvSpPr>
        <p:spPr>
          <a:xfrm>
            <a:off x="56692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green</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9144000" y="3496056"/>
            <a:ext cx="249631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سَمَاءٌ زَرْقَاءُ</a:t>
            </a:r>
            <a:endParaRPr lang="ar-SA" sz="2000" dirty="0"/>
          </a:p>
        </p:txBody>
      </p:sp>
      <p:sp>
        <p:nvSpPr>
          <p:cNvPr id="36" name="Text 33"/>
          <p:cNvSpPr txBox="1"/>
          <p:nvPr/>
        </p:nvSpPr>
        <p:spPr>
          <a:xfrm>
            <a:off x="6035040" y="3496056"/>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زَرْقَاءُ</a:t>
            </a:r>
            <a:endParaRPr lang="ar-SA" sz="2600" dirty="0"/>
          </a:p>
        </p:txBody>
      </p:sp>
      <p:sp>
        <p:nvSpPr>
          <p:cNvPr id="37" name="Text 34"/>
          <p:cNvSpPr txBox="1"/>
          <p:nvPr/>
        </p:nvSpPr>
        <p:spPr>
          <a:xfrm>
            <a:off x="2926080" y="3496056"/>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أَزْرَقُ</a:t>
            </a:r>
            <a:endParaRPr lang="ar-SA" sz="2600" dirty="0"/>
          </a:p>
        </p:txBody>
      </p:sp>
      <p:sp>
        <p:nvSpPr>
          <p:cNvPr id="38" name="Text 35"/>
          <p:cNvSpPr txBox="1"/>
          <p:nvPr/>
        </p:nvSpPr>
        <p:spPr>
          <a:xfrm>
            <a:off x="56692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blue</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9144000" y="4110228"/>
            <a:ext cx="249631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شَمْسٌ صَفْرَاءُ</a:t>
            </a:r>
            <a:endParaRPr lang="ar-SA" sz="2000" dirty="0"/>
          </a:p>
        </p:txBody>
      </p:sp>
      <p:sp>
        <p:nvSpPr>
          <p:cNvPr id="43" name="Text 40"/>
          <p:cNvSpPr txBox="1"/>
          <p:nvPr/>
        </p:nvSpPr>
        <p:spPr>
          <a:xfrm>
            <a:off x="6035040" y="4110228"/>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صَفْرَاءُ</a:t>
            </a:r>
            <a:endParaRPr lang="ar-SA" sz="2600" dirty="0"/>
          </a:p>
        </p:txBody>
      </p:sp>
      <p:sp>
        <p:nvSpPr>
          <p:cNvPr id="44" name="Text 41"/>
          <p:cNvSpPr txBox="1"/>
          <p:nvPr/>
        </p:nvSpPr>
        <p:spPr>
          <a:xfrm>
            <a:off x="2926080" y="4110228"/>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أَصْفَرُ</a:t>
            </a:r>
            <a:endParaRPr lang="ar-SA" sz="2600" dirty="0"/>
          </a:p>
        </p:txBody>
      </p:sp>
      <p:sp>
        <p:nvSpPr>
          <p:cNvPr id="45" name="Text 42"/>
          <p:cNvSpPr txBox="1"/>
          <p:nvPr/>
        </p:nvSpPr>
        <p:spPr>
          <a:xfrm>
            <a:off x="56692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yellow</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9144000" y="4724400"/>
            <a:ext cx="249631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قَمِيصٌ أَبْيَضُ</a:t>
            </a:r>
            <a:endParaRPr lang="ar-SA" sz="2000" dirty="0"/>
          </a:p>
        </p:txBody>
      </p:sp>
      <p:sp>
        <p:nvSpPr>
          <p:cNvPr id="50" name="Text 47"/>
          <p:cNvSpPr txBox="1"/>
          <p:nvPr/>
        </p:nvSpPr>
        <p:spPr>
          <a:xfrm>
            <a:off x="6035040" y="4724400"/>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بَيْضَاءُ</a:t>
            </a:r>
            <a:endParaRPr lang="ar-SA" sz="2600" dirty="0"/>
          </a:p>
        </p:txBody>
      </p:sp>
      <p:sp>
        <p:nvSpPr>
          <p:cNvPr id="51" name="Text 48"/>
          <p:cNvSpPr txBox="1"/>
          <p:nvPr/>
        </p:nvSpPr>
        <p:spPr>
          <a:xfrm>
            <a:off x="2926080" y="4724400"/>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أَبْيَضُ</a:t>
            </a:r>
            <a:endParaRPr lang="ar-SA" sz="2600" dirty="0"/>
          </a:p>
        </p:txBody>
      </p:sp>
      <p:sp>
        <p:nvSpPr>
          <p:cNvPr id="52" name="Text 49"/>
          <p:cNvSpPr txBox="1"/>
          <p:nvPr/>
        </p:nvSpPr>
        <p:spPr>
          <a:xfrm>
            <a:off x="56692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white</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9144000" y="5338572"/>
            <a:ext cx="249631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قِطَّةٌ سَوْدَاءُ</a:t>
            </a:r>
            <a:endParaRPr lang="ar-SA" sz="2000" dirty="0"/>
          </a:p>
        </p:txBody>
      </p:sp>
      <p:sp>
        <p:nvSpPr>
          <p:cNvPr id="57" name="Text 54"/>
          <p:cNvSpPr txBox="1"/>
          <p:nvPr/>
        </p:nvSpPr>
        <p:spPr>
          <a:xfrm>
            <a:off x="6035040" y="5338572"/>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سَوْدَاءُ</a:t>
            </a:r>
            <a:endParaRPr lang="ar-SA" sz="2600" dirty="0"/>
          </a:p>
        </p:txBody>
      </p:sp>
      <p:sp>
        <p:nvSpPr>
          <p:cNvPr id="58" name="Text 55"/>
          <p:cNvSpPr txBox="1"/>
          <p:nvPr/>
        </p:nvSpPr>
        <p:spPr>
          <a:xfrm>
            <a:off x="2926080" y="5338572"/>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أَسْوَدُ</a:t>
            </a:r>
            <a:endParaRPr lang="ar-SA" sz="2600" dirty="0"/>
          </a:p>
        </p:txBody>
      </p:sp>
      <p:sp>
        <p:nvSpPr>
          <p:cNvPr id="59" name="Text 56"/>
          <p:cNvSpPr txBox="1"/>
          <p:nvPr/>
        </p:nvSpPr>
        <p:spPr>
          <a:xfrm>
            <a:off x="56692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black</a:t>
            </a:r>
            <a:endParaRPr lang="en-US" sz="1100" dirty="0"/>
          </a:p>
        </p:txBody>
      </p:sp>
      <p:sp>
        <p:nvSpPr>
          <p:cNvPr id="60" name="Shape 57"/>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Text 5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feminine is NOT made by adding tāʾ marbūṭa. The three root letters stay; the shape around them changes: a-ḥ-m-a-r → ḥ-a-m-r-āʾ.</a:t>
            </a:r>
            <a:endParaRPr lang="en-US" sz="11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STEP 2 · AGREEMENT IN CONTEXT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Look at the head noun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الْمُطَابَقَةُ فِي السِّيَاقِ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Choose the colour form from the gender of the singular noun (website).</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Masculine noun → afʿal: a red pen, a blue shirt.</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Feminine noun → faʿlāʾ: a red bag, a blue car — including hidden feminines like the sky.</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Match the HEAD noun, not the nearest word (website clinic).</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Stretch: these colours never take tanwīn — say aḥmaru, not aḥmarun.</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قَلَمٌ أَحْمَرُ</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red pen  ·  website</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حَقِيبَةٌ حَمْرَاءُ</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red bag  ·  website</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قَمِيصٌ أَزْرَقُ</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blue shirt  ·  website</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قَمِيصُ أُخْتِي الْأَبْيَضُ</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my sister’s white shirt  ·  the head noun is the shirt</a:t>
            </a:r>
            <a:endParaRPr lang="en-US" sz="1100" dirty="0"/>
          </a:p>
        </p:txBody>
      </p:sp>
      <p:sp>
        <p:nvSpPr>
          <p:cNvPr id="45" name="Shape 42"/>
          <p:cNvSpPr/>
          <p:nvPr/>
        </p:nvSpPr>
        <p:spPr>
          <a:xfrm>
            <a:off x="457200" y="5394960"/>
            <a:ext cx="11274552" cy="914400"/>
          </a:xfrm>
          <a:prstGeom prst="roundRect">
            <a:avLst>
              <a:gd name="adj" fmla="val 8000"/>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B83227"/>
                </a:solidFill>
                <a:latin typeface="Calibri" pitchFamily="34" charset="0"/>
                <a:cs typeface="Amiri" pitchFamily="2" charset="-78"/>
              </a:rPr>
              <a:t>CLINIC</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 “aḥmara” with tāʾ marbūṭa. The feminine of red is always ḥamrāʾ.</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STEP 3 · PLURALS AND OTHER COLOURS (WEBSITE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Plural things, people — and colours with + </a:t>
            </a:r>
            <a:pPr algn="l" indent="0" marL="0">
              <a:buNone/>
            </a:pPr>
            <a:r>
              <a:rPr lang="ar-SA" altLang="en-US" sz="2950" b="1" dirty="0">
                <a:solidFill>
                  <a:srgbClr val="1B3B6F"/>
                </a:solidFill>
                <a:latin typeface="Amiri" pitchFamily="2" charset="-78"/>
                <a:ea typeface="Amiri" pitchFamily="2" charset="-78"/>
                <a:cs typeface="Amiri" pitchFamily="2" charset="-78"/>
              </a:rPr>
              <a:t>ة</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الْجَمْعُ وَأَلْوَانٌ أُخْرَى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Why</a:t>
            </a:r>
            <a:endParaRPr lang="en-US" sz="1100" dirty="0"/>
          </a:p>
        </p:txBody>
      </p:sp>
      <p:sp>
        <p:nvSpPr>
          <p:cNvPr id="17" name="Text 14"/>
          <p:cNvSpPr txBox="1"/>
          <p:nvPr/>
        </p:nvSpPr>
        <p:spPr>
          <a:xfrm>
            <a:off x="363931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699248" y="2267712"/>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things → feminine form (website)</a:t>
            </a:r>
            <a:endParaRPr lang="en-US" sz="1100" dirty="0"/>
          </a:p>
        </p:txBody>
      </p:sp>
      <p:sp>
        <p:nvSpPr>
          <p:cNvPr id="21" name="Text 18"/>
          <p:cNvSpPr txBox="1"/>
          <p:nvPr/>
        </p:nvSpPr>
        <p:spPr>
          <a:xfrm>
            <a:off x="3657600" y="2267712"/>
            <a:ext cx="38404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سَيَّارَاتٌ حَمْرَاءُ</a:t>
            </a:r>
            <a:endParaRPr lang="ar-SA" sz="2400" dirty="0"/>
          </a:p>
        </p:txBody>
      </p:sp>
      <p:sp>
        <p:nvSpPr>
          <p:cNvPr id="22" name="Text 19"/>
          <p:cNvSpPr txBox="1"/>
          <p:nvPr/>
        </p:nvSpPr>
        <p:spPr>
          <a:xfrm>
            <a:off x="566928" y="2267712"/>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red cars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7699248" y="2881884"/>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things → feminine form (website)</a:t>
            </a:r>
            <a:endParaRPr lang="en-US" sz="1100" dirty="0"/>
          </a:p>
        </p:txBody>
      </p:sp>
      <p:sp>
        <p:nvSpPr>
          <p:cNvPr id="27" name="Text 24"/>
          <p:cNvSpPr txBox="1"/>
          <p:nvPr/>
        </p:nvSpPr>
        <p:spPr>
          <a:xfrm>
            <a:off x="3657600" y="2881884"/>
            <a:ext cx="38404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حَقَائِبُ سَوْدَاءُ</a:t>
            </a:r>
            <a:endParaRPr lang="ar-SA" sz="2400" dirty="0"/>
          </a:p>
        </p:txBody>
      </p:sp>
      <p:sp>
        <p:nvSpPr>
          <p:cNvPr id="28" name="Text 25"/>
          <p:cNvSpPr txBox="1"/>
          <p:nvPr/>
        </p:nvSpPr>
        <p:spPr>
          <a:xfrm>
            <a:off x="566928" y="2881884"/>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black bags</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7699248" y="3496056"/>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website model bank</a:t>
            </a:r>
            <a:endParaRPr lang="en-US" sz="1100" dirty="0"/>
          </a:p>
        </p:txBody>
      </p:sp>
      <p:sp>
        <p:nvSpPr>
          <p:cNvPr id="33" name="Text 30"/>
          <p:cNvSpPr txBox="1"/>
          <p:nvPr/>
        </p:nvSpPr>
        <p:spPr>
          <a:xfrm>
            <a:off x="3657600" y="3496056"/>
            <a:ext cx="38404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أَشْجَارٌ خَضْرَاءُ</a:t>
            </a:r>
            <a:endParaRPr lang="ar-SA" sz="2400" dirty="0"/>
          </a:p>
        </p:txBody>
      </p:sp>
      <p:sp>
        <p:nvSpPr>
          <p:cNvPr id="34" name="Text 31"/>
          <p:cNvSpPr txBox="1"/>
          <p:nvPr/>
        </p:nvSpPr>
        <p:spPr>
          <a:xfrm>
            <a:off x="566928" y="3496056"/>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green trees</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7699248" y="4110228"/>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brown (bunniyy) is regular: + </a:t>
            </a:r>
            <a:pPr algn="l" indent="0" marL="0">
              <a:buNone/>
            </a:pPr>
            <a:r>
              <a:rPr lang="ar-SA" altLang="en-US" sz="1450" dirty="0">
                <a:solidFill>
                  <a:srgbClr val="5A6472"/>
                </a:solidFill>
                <a:latin typeface="Amiri" pitchFamily="2" charset="-78"/>
                <a:ea typeface="Amiri" pitchFamily="2" charset="-78"/>
                <a:cs typeface="Amiri" pitchFamily="2" charset="-78"/>
              </a:rPr>
              <a:t>ة</a:t>
            </a:r>
            <a:endParaRPr lang="en-US" sz="1100" dirty="0"/>
          </a:p>
        </p:txBody>
      </p:sp>
      <p:sp>
        <p:nvSpPr>
          <p:cNvPr id="39" name="Text 36"/>
          <p:cNvSpPr txBox="1"/>
          <p:nvPr/>
        </p:nvSpPr>
        <p:spPr>
          <a:xfrm>
            <a:off x="3657600" y="4110228"/>
            <a:ext cx="38404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حَقِيبَةٌ بُنِّيَّةٌ</a:t>
            </a:r>
            <a:endParaRPr lang="ar-SA" sz="2400" dirty="0"/>
          </a:p>
        </p:txBody>
      </p:sp>
      <p:sp>
        <p:nvSpPr>
          <p:cNvPr id="40" name="Text 37"/>
          <p:cNvSpPr txBox="1"/>
          <p:nvPr/>
        </p:nvSpPr>
        <p:spPr>
          <a:xfrm>
            <a:off x="566928" y="4110228"/>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brown bag</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7699248" y="4724400"/>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colours in -iyy add </a:t>
            </a:r>
            <a:pPr algn="l" indent="0" marL="0">
              <a:buNone/>
            </a:pPr>
            <a:r>
              <a:rPr lang="ar-SA" altLang="en-US" sz="1450" dirty="0">
                <a:solidFill>
                  <a:srgbClr val="5A6472"/>
                </a:solidFill>
                <a:latin typeface="Amiri" pitchFamily="2" charset="-78"/>
                <a:ea typeface="Amiri" pitchFamily="2" charset="-78"/>
                <a:cs typeface="Amiri" pitchFamily="2" charset="-78"/>
              </a:rPr>
              <a:t>ة</a:t>
            </a:r>
            <a:endParaRPr lang="en-US" sz="1100" dirty="0"/>
          </a:p>
        </p:txBody>
      </p:sp>
      <p:sp>
        <p:nvSpPr>
          <p:cNvPr id="43" name="Text 40"/>
          <p:cNvSpPr txBox="1"/>
          <p:nvPr/>
        </p:nvSpPr>
        <p:spPr>
          <a:xfrm>
            <a:off x="3657600" y="4724400"/>
            <a:ext cx="38404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سَيَّارَةٌ رَمَادِيَّةٌ / بُرْتُقَالِيَّةٌ</a:t>
            </a:r>
            <a:endParaRPr lang="ar-SA" sz="2400" dirty="0"/>
          </a:p>
        </p:txBody>
      </p:sp>
      <p:sp>
        <p:nvSpPr>
          <p:cNvPr id="44" name="Text 41"/>
          <p:cNvSpPr txBox="1"/>
          <p:nvPr/>
        </p:nvSpPr>
        <p:spPr>
          <a:xfrm>
            <a:off x="566928" y="4724400"/>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grey / orange car</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7699248" y="5338572"/>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recognition only: human plural colours</a:t>
            </a:r>
            <a:endParaRPr lang="en-US" sz="1100" dirty="0"/>
          </a:p>
        </p:txBody>
      </p:sp>
      <p:sp>
        <p:nvSpPr>
          <p:cNvPr id="47" name="Text 44"/>
          <p:cNvSpPr txBox="1"/>
          <p:nvPr/>
        </p:nvSpPr>
        <p:spPr>
          <a:xfrm>
            <a:off x="3657600" y="5338572"/>
            <a:ext cx="38404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بِيضٌ · سُودٌ</a:t>
            </a:r>
            <a:endParaRPr lang="ar-SA" sz="2400" dirty="0"/>
          </a:p>
        </p:txBody>
      </p:sp>
      <p:sp>
        <p:nvSpPr>
          <p:cNvPr id="48" name="Text 45"/>
          <p:cNvSpPr txBox="1"/>
          <p:nvPr/>
        </p:nvSpPr>
        <p:spPr>
          <a:xfrm>
            <a:off x="566928" y="5338572"/>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white (people, plural)</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Everyday rule (website): plural things take the feminine singular colour. Only basic colours change shape — -iyy colours follow the normal +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 rule.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Feminine of </a:t>
            </a:r>
            <a:pPr algn="l" indent="0" marL="0">
              <a:buNone/>
            </a:pPr>
            <a:r>
              <a:rPr lang="ar-SA" altLang="en-US" sz="1650" b="1" dirty="0">
                <a:solidFill>
                  <a:srgbClr val="1B3B6F"/>
                </a:solidFill>
                <a:latin typeface="Amiri" pitchFamily="2" charset="-78"/>
                <a:ea typeface="Amiri" pitchFamily="2" charset="-78"/>
                <a:cs typeface="Amiri" pitchFamily="2" charset="-78"/>
              </a:rPr>
              <a:t>أَخْضَرُ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أَخْضَرَةٌ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خُضْرٌ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خَضْرَاءُ</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سَمَاءٌ</a:t>
            </a:r>
            <a:pPr algn="l" indent="0" marL="0">
              <a:buNone/>
            </a:pPr>
            <a:r>
              <a:rPr lang="en-US" sz="1250" b="1" dirty="0">
                <a:solidFill>
                  <a:srgbClr val="1B3B6F"/>
                </a:solidFill>
                <a:latin typeface="Calibri" pitchFamily="34" charset="0"/>
                <a:cs typeface="Amiri" pitchFamily="2" charset="-78"/>
              </a:rPr>
              <a:t> ______ (blue).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زَرْقَاءُ</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أَزْرَقُ</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زَرْقَةٌ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أَقْلَامٌ</a:t>
            </a:r>
            <a:pPr algn="l" indent="0" marL="0">
              <a:buNone/>
            </a:pPr>
            <a:r>
              <a:rPr lang="en-US" sz="1250" b="1" dirty="0">
                <a:solidFill>
                  <a:srgbClr val="1B3B6F"/>
                </a:solidFill>
                <a:latin typeface="Calibri" pitchFamily="34" charset="0"/>
                <a:cs typeface="Amiri" pitchFamily="2" charset="-78"/>
              </a:rPr>
              <a:t> ______ (black).</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أَسْوَدُ</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سَوْدَاءُ</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أَسْوَدُونَ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brown table”.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طَاوِلَةٌ بُنِّيَّةٌ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طَاوِلَةٌ بُنِّيٌّ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طَاوِلَةٌ بَنْيَاءُ</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Feminine of </a:t>
            </a:r>
            <a:pPr algn="l" indent="0" marL="0">
              <a:buNone/>
            </a:pPr>
            <a:r>
              <a:rPr lang="ar-SA" altLang="en-US" sz="1650" b="1" dirty="0">
                <a:solidFill>
                  <a:srgbClr val="1B3B6F"/>
                </a:solidFill>
                <a:latin typeface="Amiri" pitchFamily="2" charset="-78"/>
                <a:ea typeface="Amiri" pitchFamily="2" charset="-78"/>
                <a:cs typeface="Amiri" pitchFamily="2" charset="-78"/>
              </a:rPr>
              <a:t>أَخْضَرُ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أَخْضَرَةٌ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خُضْرٌ</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خَضْرَاءُ</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Pattern faʿlāʾ.</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سَمَاءٌ</a:t>
            </a:r>
            <a:pPr algn="l" indent="0" marL="0">
              <a:buNone/>
            </a:pPr>
            <a:r>
              <a:rPr lang="en-US" sz="1250" b="1" dirty="0">
                <a:solidFill>
                  <a:srgbClr val="1B3B6F"/>
                </a:solidFill>
                <a:latin typeface="Calibri" pitchFamily="34" charset="0"/>
                <a:cs typeface="Amiri" pitchFamily="2" charset="-78"/>
              </a:rPr>
              <a:t> ______ (blue).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زَرْقَاءُ</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أَزْرَقُ</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زَرْقَةٌ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Sky is feminine.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أَقْلَامٌ</a:t>
            </a:r>
            <a:pPr algn="l" indent="0" marL="0">
              <a:buNone/>
            </a:pPr>
            <a:r>
              <a:rPr lang="en-US" sz="1250" b="1" dirty="0">
                <a:solidFill>
                  <a:srgbClr val="1B3B6F"/>
                </a:solidFill>
                <a:latin typeface="Calibri" pitchFamily="34" charset="0"/>
                <a:cs typeface="Amiri" pitchFamily="2" charset="-78"/>
              </a:rPr>
              <a:t> ______ (black).</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أَسْوَدُ</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سَوْدَاءُ</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أَسْوَدُونَ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Plural things → feminine form.</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brown table”.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طَاوِلَةٌ بُنِّيَّةٌ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طَاوِلَةٌ بُنِّيٌّ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طَاوِلَةٌ بَنْيَاءُ</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Brown is an -iyy colour → +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describe my desk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Masculine noun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قَلَمٌ أَزْرَقُ</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pen → afʿal.</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Feminine noun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مِسْطَرَةٌ صَفْرَاءُ</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ruler → faʿlāʾ.</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Plural things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كُتُبٌ حَمْرَاءُ</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books → feminine form.</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-iyy colour</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حَقِيبَةٌ بُنِّيَّةٌ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brown → + </a:t>
            </a:r>
            <a:pPr algn="l" indent="0" marL="0">
              <a:buNone/>
            </a:pPr>
            <a:r>
              <a:rPr lang="ar-SA" altLang="en-US" sz="1500" dirty="0">
                <a:solidFill>
                  <a:srgbClr val="1F2A37"/>
                </a:solidFill>
                <a:latin typeface="Amiri" pitchFamily="2" charset="-78"/>
                <a:ea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MASCULINE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 FORM</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عَلَى مَكْتَبِي قَلَمٌ </a:t>
            </a:r>
            <a:pPr rtl="1" algn="r" indent="0" marL="0">
              <a:buNone/>
            </a:pPr>
            <a:r>
              <a:rPr lang="ar-SA" altLang="en-US" sz="2600" b="1" dirty="0">
                <a:solidFill>
                  <a:srgbClr val="0E7C86"/>
                </a:solidFill>
                <a:latin typeface="Amiri" pitchFamily="2" charset="-78"/>
                <a:ea typeface="Amiri" pitchFamily="2" charset="-78"/>
                <a:cs typeface="Amiri" pitchFamily="2" charset="-78"/>
              </a:rPr>
              <a:t>أَزْرَقُ</a:t>
            </a:r>
            <a:pPr rtl="1" algn="r" indent="0" marL="0">
              <a:buNone/>
            </a:pPr>
            <a:r>
              <a:rPr lang="ar-SA" altLang="en-US" sz="2600" b="1" dirty="0">
                <a:solidFill>
                  <a:srgbClr val="1B3B6F"/>
                </a:solidFill>
                <a:latin typeface="Amiri" pitchFamily="2" charset="-78"/>
                <a:ea typeface="Amiri" pitchFamily="2" charset="-78"/>
                <a:cs typeface="Amiri" pitchFamily="2" charset="-78"/>
              </a:rPr>
              <a:t> وَمِسْطَرَةٌ </a:t>
            </a:r>
            <a:pPr rtl="1" algn="r" indent="0" marL="0">
              <a:buNone/>
            </a:pPr>
            <a:r>
              <a:rPr lang="ar-SA" altLang="en-US" sz="2600" b="1" dirty="0">
                <a:solidFill>
                  <a:srgbClr val="D6336C"/>
                </a:solidFill>
                <a:latin typeface="Amiri" pitchFamily="2" charset="-78"/>
                <a:ea typeface="Amiri" pitchFamily="2" charset="-78"/>
                <a:cs typeface="Amiri" pitchFamily="2" charset="-78"/>
              </a:rPr>
              <a:t>صَفْرَاءُ</a:t>
            </a:r>
            <a:pPr rtl="1" algn="r" indent="0" marL="0">
              <a:buNone/>
            </a:pPr>
            <a:r>
              <a:rPr lang="ar-SA" altLang="en-US" sz="2600" b="1" dirty="0">
                <a:solidFill>
                  <a:srgbClr val="1B3B6F"/>
                </a:solidFill>
                <a:latin typeface="Amiri" pitchFamily="2" charset="-78"/>
                <a:ea typeface="Amiri" pitchFamily="2" charset="-78"/>
                <a:cs typeface="Amiri" pitchFamily="2" charset="-78"/>
              </a:rPr>
              <a:t> وَكُتُبٌ </a:t>
            </a:r>
            <a:pPr rtl="1" algn="r" indent="0" marL="0">
              <a:buNone/>
            </a:pPr>
            <a:r>
              <a:rPr lang="ar-SA" altLang="en-US" sz="2600" b="1" dirty="0">
                <a:solidFill>
                  <a:srgbClr val="D6336C"/>
                </a:solidFill>
                <a:latin typeface="Amiri" pitchFamily="2" charset="-78"/>
                <a:ea typeface="Amiri" pitchFamily="2" charset="-78"/>
                <a:cs typeface="Amiri" pitchFamily="2" charset="-78"/>
              </a:rPr>
              <a:t>حَمْرَاءُ</a:t>
            </a:r>
            <a:pPr rtl="1" algn="r" indent="0" marL="0">
              <a:buNone/>
            </a:pPr>
            <a:r>
              <a:rPr lang="ar-SA" altLang="en-US" sz="2600" b="1" dirty="0">
                <a:solidFill>
                  <a:srgbClr val="1B3B6F"/>
                </a:solidFill>
                <a:latin typeface="Amiri" pitchFamily="2" charset="-78"/>
                <a:ea typeface="Amiri" pitchFamily="2" charset="-78"/>
                <a:cs typeface="Amiri" pitchFamily="2" charset="-78"/>
              </a:rPr>
              <a:t>، وَحَقِيبَتِي </a:t>
            </a:r>
            <a:pPr rtl="1" algn="r" indent="0" marL="0">
              <a:buNone/>
            </a:pPr>
            <a:r>
              <a:rPr lang="ar-SA" altLang="en-US" sz="2600" b="1" dirty="0">
                <a:solidFill>
                  <a:srgbClr val="D6336C"/>
                </a:solidFill>
                <a:latin typeface="Amiri" pitchFamily="2" charset="-78"/>
                <a:ea typeface="Amiri" pitchFamily="2" charset="-78"/>
                <a:cs typeface="Amiri" pitchFamily="2" charset="-78"/>
              </a:rPr>
              <a:t>بُنِّيَّةٌ</a:t>
            </a:r>
            <a:pPr rtl="1" algn="r" indent="0" marL="0">
              <a:buNone/>
            </a:pPr>
            <a:r>
              <a:rPr lang="ar-SA" altLang="en-US" sz="2600" b="1" dirty="0">
                <a:solidFill>
                  <a:srgbClr val="1B3B6F"/>
                </a:solidFill>
                <a:latin typeface="Amiri" pitchFamily="2" charset="-78"/>
                <a:cs typeface="Amiri" pitchFamily="2" charset="-78"/>
              </a:rPr>
              <a:t>.</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On my desk there is a blue pen, a yellow ruler and red books, and my bag is brown.</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قَمِيصٌ أَبْيَضُ وَتَنُّورَةٌ بَيْضَاءُ</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 white shirt and a white skirt</a:t>
            </a:r>
            <a:endParaRPr lang="en-US" sz="1250" dirty="0"/>
          </a:p>
          <a:p>
            <a:pPr indent="0" marL="0">
              <a:buNone/>
            </a:pPr>
            <a:r>
              <a:rPr lang="en-US" sz="1050" i="1" dirty="0">
                <a:solidFill>
                  <a:srgbClr val="8A6D1E"/>
                </a:solidFill>
                <a:latin typeface="Calibri" pitchFamily="34" charset="0"/>
                <a:cs typeface="Amiri" pitchFamily="2" charset="-78"/>
              </a:rPr>
              <a:t>Website model bank.</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أَشْجَارٌ خَضْرَاءُ</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green trees</a:t>
            </a:r>
            <a:endParaRPr lang="en-US" sz="1250" dirty="0"/>
          </a:p>
          <a:p>
            <a:pPr indent="0" marL="0">
              <a:buNone/>
            </a:pPr>
            <a:r>
              <a:rPr lang="en-US" sz="1050" i="1" dirty="0">
                <a:solidFill>
                  <a:srgbClr val="8A6D1E"/>
                </a:solidFill>
                <a:latin typeface="Calibri" pitchFamily="34" charset="0"/>
                <a:cs typeface="Amiri" pitchFamily="2" charset="-78"/>
              </a:rPr>
              <a:t>Website model bank.</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مَا لَوْنُ سَيَّارَتِكَ؟ — سَيَّارَتِي سَوْدَاءُ.</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What colour is your car? — My car is black.</a:t>
            </a:r>
            <a:endParaRPr lang="en-US" sz="1250" dirty="0"/>
          </a:p>
          <a:p>
            <a:pPr indent="0" marL="0">
              <a:buNone/>
            </a:pPr>
            <a:r>
              <a:rPr lang="en-US" sz="1050" i="1" dirty="0">
                <a:solidFill>
                  <a:srgbClr val="8A6D1E"/>
                </a:solidFill>
                <a:latin typeface="Calibri" pitchFamily="34" charset="0"/>
                <a:cs typeface="Amiri" pitchFamily="2" charset="-78"/>
              </a:rPr>
              <a:t>Question and answer.</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لَبِسْتُ حِذَاءً أَسْوَدَ.</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wore black shoes.</a:t>
            </a:r>
            <a:endParaRPr lang="en-US" sz="1250" dirty="0"/>
          </a:p>
          <a:p>
            <a:pPr indent="0" marL="0">
              <a:buNone/>
            </a:pPr>
            <a:r>
              <a:rPr lang="en-US" sz="1050" i="1" dirty="0">
                <a:solidFill>
                  <a:srgbClr val="8A6D1E"/>
                </a:solidFill>
                <a:latin typeface="Calibri" pitchFamily="34" charset="0"/>
                <a:cs typeface="Amiri" pitchFamily="2" charset="-78"/>
              </a:rPr>
              <a:t>Stretch: object, no tanwīn on the colour.</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WHICH FORM OF GREEN?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Masculine or feminine colour?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قَمِيصٌ</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حَدِيقَةٌ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بَابٌ</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أَوْرَاقٌ</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تُفَّاحَةٌ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كُرْسِيٌّ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أَشْجَارٌ</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Masculine: akhḍar</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Feminine form: khaḍrāʾ</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Masculine: akhḍar</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قَمِيصٌ</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بَابٌ</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قَلَمٌ</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كُرْسِيٌّ</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Feminine form: khaḍrāʾ</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حَدِيقَةٌ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أَوْرَاقٌ</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تُفَّاحَةٌ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أَشْجَارٌ</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TRANSFORMATION DRILL (WEBSITE)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Change the noun, change the colour</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748272" y="1810512"/>
            <a:ext cx="49103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Result</a:t>
            </a:r>
            <a:endParaRPr lang="en-US" sz="1100" dirty="0"/>
          </a:p>
        </p:txBody>
      </p:sp>
      <p:sp>
        <p:nvSpPr>
          <p:cNvPr id="17" name="Text 14"/>
          <p:cNvSpPr txBox="1"/>
          <p:nvPr/>
        </p:nvSpPr>
        <p:spPr>
          <a:xfrm>
            <a:off x="40050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Change to</a:t>
            </a:r>
            <a:endParaRPr lang="en-US" sz="1100" dirty="0"/>
          </a:p>
        </p:txBody>
      </p:sp>
      <p:sp>
        <p:nvSpPr>
          <p:cNvPr id="18" name="Text 15"/>
          <p:cNvSpPr txBox="1"/>
          <p:nvPr/>
        </p:nvSpPr>
        <p:spPr>
          <a:xfrm>
            <a:off x="53035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6766560" y="2267712"/>
            <a:ext cx="48737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تَنُّورَةٌ حَمْرَاءُ</a:t>
            </a:r>
            <a:endParaRPr lang="ar-SA" sz="2400" dirty="0"/>
          </a:p>
        </p:txBody>
      </p:sp>
      <p:sp>
        <p:nvSpPr>
          <p:cNvPr id="21" name="Text 18"/>
          <p:cNvSpPr txBox="1"/>
          <p:nvPr/>
        </p:nvSpPr>
        <p:spPr>
          <a:xfrm>
            <a:off x="404164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skirt</a:t>
            </a:r>
            <a:endParaRPr lang="en-US" sz="1100" dirty="0"/>
          </a:p>
        </p:txBody>
      </p:sp>
      <p:sp>
        <p:nvSpPr>
          <p:cNvPr id="22" name="Text 19"/>
          <p:cNvSpPr txBox="1"/>
          <p:nvPr/>
        </p:nvSpPr>
        <p:spPr>
          <a:xfrm>
            <a:off x="548640" y="2267712"/>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قَمِيصٌ أَحْمَرُ</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6766560" y="3004718"/>
            <a:ext cx="48737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حَقِيبَةٌ سَوْدَاءُ</a:t>
            </a:r>
            <a:endParaRPr lang="ar-SA" sz="2400" dirty="0"/>
          </a:p>
        </p:txBody>
      </p:sp>
      <p:sp>
        <p:nvSpPr>
          <p:cNvPr id="27" name="Text 24"/>
          <p:cNvSpPr txBox="1"/>
          <p:nvPr/>
        </p:nvSpPr>
        <p:spPr>
          <a:xfrm>
            <a:off x="404164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bag</a:t>
            </a:r>
            <a:endParaRPr lang="en-US" sz="1100" dirty="0"/>
          </a:p>
        </p:txBody>
      </p:sp>
      <p:sp>
        <p:nvSpPr>
          <p:cNvPr id="28" name="Text 25"/>
          <p:cNvSpPr txBox="1"/>
          <p:nvPr/>
        </p:nvSpPr>
        <p:spPr>
          <a:xfrm>
            <a:off x="548640" y="3004718"/>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قَلَمٌ أَسْوَدُ</a:t>
            </a:r>
            <a:endParaRPr lang="ar-SA" sz="24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6766560" y="3741725"/>
            <a:ext cx="48737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بُيُوتٌ بَيْضَاءُ</a:t>
            </a:r>
            <a:endParaRPr lang="ar-SA" sz="2400" dirty="0"/>
          </a:p>
        </p:txBody>
      </p:sp>
      <p:sp>
        <p:nvSpPr>
          <p:cNvPr id="33" name="Text 30"/>
          <p:cNvSpPr txBox="1"/>
          <p:nvPr/>
        </p:nvSpPr>
        <p:spPr>
          <a:xfrm>
            <a:off x="404164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houses</a:t>
            </a:r>
            <a:endParaRPr lang="en-US" sz="1100" dirty="0"/>
          </a:p>
        </p:txBody>
      </p:sp>
      <p:sp>
        <p:nvSpPr>
          <p:cNvPr id="34" name="Text 31"/>
          <p:cNvSpPr txBox="1"/>
          <p:nvPr/>
        </p:nvSpPr>
        <p:spPr>
          <a:xfrm>
            <a:off x="548640" y="3741725"/>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بَيْتٌ أَبْيَضُ</a:t>
            </a:r>
            <a:endParaRPr lang="ar-SA" sz="24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6766560" y="4478731"/>
            <a:ext cx="48737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بَاصٌ أَزْرَقُ</a:t>
            </a:r>
            <a:endParaRPr lang="ar-SA" sz="2400" dirty="0"/>
          </a:p>
        </p:txBody>
      </p:sp>
      <p:sp>
        <p:nvSpPr>
          <p:cNvPr id="39" name="Text 36"/>
          <p:cNvSpPr txBox="1"/>
          <p:nvPr/>
        </p:nvSpPr>
        <p:spPr>
          <a:xfrm>
            <a:off x="404164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bus (m.)</a:t>
            </a:r>
            <a:endParaRPr lang="en-US" sz="1100" dirty="0"/>
          </a:p>
        </p:txBody>
      </p:sp>
      <p:sp>
        <p:nvSpPr>
          <p:cNvPr id="40" name="Text 37"/>
          <p:cNvSpPr txBox="1"/>
          <p:nvPr/>
        </p:nvSpPr>
        <p:spPr>
          <a:xfrm>
            <a:off x="548640" y="4478731"/>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سَيَّارَةٌ زَرْقَاءُ</a:t>
            </a:r>
            <a:endParaRPr lang="ar-SA" sz="24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6766560" y="5215738"/>
            <a:ext cx="48737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دَفَاتِرُ صَفْرَاءُ</a:t>
            </a:r>
            <a:endParaRPr lang="ar-SA" sz="2400" dirty="0"/>
          </a:p>
        </p:txBody>
      </p:sp>
      <p:sp>
        <p:nvSpPr>
          <p:cNvPr id="43" name="Text 40"/>
          <p:cNvSpPr txBox="1"/>
          <p:nvPr/>
        </p:nvSpPr>
        <p:spPr>
          <a:xfrm>
            <a:off x="404164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notebooks</a:t>
            </a:r>
            <a:endParaRPr lang="en-US" sz="1100" dirty="0"/>
          </a:p>
        </p:txBody>
      </p:sp>
      <p:sp>
        <p:nvSpPr>
          <p:cNvPr id="44" name="Text 41"/>
          <p:cNvSpPr txBox="1"/>
          <p:nvPr/>
        </p:nvSpPr>
        <p:spPr>
          <a:xfrm>
            <a:off x="548640" y="5215738"/>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 أَصْفَرُ</a:t>
            </a:r>
            <a:endParaRPr lang="ar-SA" sz="24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drill: change the noun, then every adjective feature it controls — and say why in grammar words.</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حَقِيبَةٌ أَحْمَرَةٌ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the feminine + </a:t>
            </a:r>
            <a:pPr algn="l" indent="0" marL="0">
              <a:buNone/>
            </a:pPr>
            <a:r>
              <a:rPr lang="ar-SA" altLang="en-US" sz="1700" dirty="0">
                <a:solidFill>
                  <a:srgbClr val="5A6472"/>
                </a:solidFill>
                <a:latin typeface="Amiri" pitchFamily="2" charset="-78"/>
                <a:ea typeface="Amiri" pitchFamily="2" charset="-78"/>
                <a:cs typeface="Amiri" pitchFamily="2" charset="-78"/>
              </a:rPr>
              <a:t>ة</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سَيَّارَاتٌ أَزْرَقُ</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Things in the plural?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قَمِيصُ أُخْتِي الْبَيْضَاءُ</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word is described?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حَقِيبَةٌ أَحْمَرَةٌ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حَقِيبَةٌ حَمْرَاءُ</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Colours use faʿlāʾ, not +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سَيَّارَاتٌ أَزْرَقُ</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سَيَّارَاتٌ زَرْقَاءُ</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Plural things → feminine form.</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قَمِيصُ أُخْتِي الْبَيْضَاءُ</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قَمِيصُ أُخْتِي الْأَبْيَضُ</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Match the head noun, the shirt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TEACHER-WRITTEN PRACTICE ON THE WEBSITE RULES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yellow flower”.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زَهْرَةٌ أَصْفَرُ</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زَهْرَةٌ أَصْفَرَةٌ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زَهْرَةٌ صَفْرَاءُ</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white door”.</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بَيْضَاءُ</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أَبْيَضُ</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أَبْيَضَةٌ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“green leaves”.</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أَوْرَاقٌ أَخْضَرُ</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أَوْرَاقٌ خَضْرَاءُ</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أَوْرَاقٌ خُضْرٌ</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flag is masculine. Choose “The flag is green and white.”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الْعَلَمُ خَضْرَاءُ وَبَيْضَاءُ.</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الْعَلَمُ أَخْضَرَةٌ.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الْعَلَمُ أَخْضَرُ وَأَبْيَضُ.</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yellow flower”.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زَهْرَةٌ أَصْفَرُ</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زَهْرَةٌ أَصْفَرَةٌ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زَهْرَةٌ صَفْرَاءُ</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noun → faʿlāʾ.</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white door”.</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بَابٌ بَيْضَاءُ</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بَابٌ أَبْيَضُ</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بَابٌ أَبْيَضَةٌ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noun → afʿal.</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“green leaves”.</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أَوْرَاقٌ أَخْضَرُ</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أَوْرَاقٌ خَضْرَاءُ</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أَوْرَاقٌ خُضْرٌ</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Plural things → feminine form.</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flag is masculine. Choose “The flag is green and white.”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الْعَلَمُ خَضْرَاءُ وَبَيْضَاءُ.</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الْعَلَمُ أَخْضَرَةٌ.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الْعَلَمُ أَخْضَرُ وَأَبْيَضُ.</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Flag is masculine.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E6B52"/>
                </a:solidFill>
                <a:latin typeface="Calibri" pitchFamily="34" charset="0"/>
                <a:cs typeface="Amiri" pitchFamily="2" charset="-78"/>
              </a:rPr>
              <a:t>YOU DO · READ AND NOTICE · WEBSITE READING TEXT, EXTENDED BY THE TEACHER</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colourful city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مَدِينَتِي أَمَاكِنُ جَمِيلَةٌ وَشَوَارِعُ وَاسِعَةٌ. هَذِهِ الْمَدْرَسَةُ الْجَدِيدَةُ قَرِيبَةٌ، وَذَلِكَ الْمَتْحَفُ الْقَدِيمُ مُثِيرٌ لِلِاهْتِمَامِ. بَابُ الْمَتْحَفِ أَزْرَقُ، وَحَوْلَهُ أَشْجَارٌ خَضْرَاءُ وَزُهُورٌ صَفْرَاءُ. الْحَافِلَاتُ فِي الْمَدِينَةِ حَمْرَاءُ، وَالسَّمَاءُ زَرْقَاءُ فِي الصَّيْفِ.</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أَمَاكِنُ</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places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وَاسِعَةٌ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wide</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الْمَتْحَفُ</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museum</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مُثِيرٌ لِلِاهْتِمَامِ</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interesting</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حَوْلَهُ</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around it</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زُهُورٌ</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flowers</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الْحَافِلَاتُ</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buses</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noun does </a:t>
            </a:r>
            <a:pPr algn="l" indent="0" marL="0">
              <a:buNone/>
            </a:pPr>
            <a:r>
              <a:rPr lang="ar-SA" altLang="en-US" sz="1650" b="1" dirty="0">
                <a:solidFill>
                  <a:srgbClr val="1B3B6F"/>
                </a:solidFill>
                <a:latin typeface="Amiri" pitchFamily="2" charset="-78"/>
                <a:ea typeface="Amiri" pitchFamily="2" charset="-78"/>
                <a:cs typeface="Amiri" pitchFamily="2" charset="-78"/>
              </a:rPr>
              <a:t>أَزْرَقُ</a:t>
            </a:r>
            <a:pPr algn="l" indent="0" marL="0">
              <a:buNone/>
            </a:pPr>
            <a:r>
              <a:rPr lang="en-US" sz="1250" b="1" dirty="0">
                <a:solidFill>
                  <a:srgbClr val="1B3B6F"/>
                </a:solidFill>
                <a:latin typeface="Calibri" pitchFamily="34" charset="0"/>
                <a:cs typeface="Amiri" pitchFamily="2" charset="-78"/>
              </a:rPr>
              <a:t> describe?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museum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door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city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colour of the trees </a:t>
            </a:r>
            <a:pPr algn="l" indent="0" marL="0">
              <a:buNone/>
            </a:pPr>
            <a:r>
              <a:rPr lang="ar-SA" altLang="en-US" sz="1650" b="1" dirty="0">
                <a:solidFill>
                  <a:srgbClr val="1B3B6F"/>
                </a:solidFill>
                <a:latin typeface="Amiri" pitchFamily="2" charset="-78"/>
                <a:ea typeface="Amiri" pitchFamily="2" charset="-78"/>
                <a:cs typeface="Amiri" pitchFamily="2" charset="-78"/>
              </a:rPr>
              <a:t>خَضْرَاءُ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Trees are feminine people.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Trees are plural things.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السَّمَاءُ زَرْقَاءُ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Sky is feminine.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Sky is plural.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Sky is masculine.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colour describes the buses?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yellow</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noun does </a:t>
            </a:r>
            <a:pPr algn="l" indent="0" marL="0">
              <a:buNone/>
            </a:pPr>
            <a:r>
              <a:rPr lang="ar-SA" altLang="en-US" sz="1650" b="1" dirty="0">
                <a:solidFill>
                  <a:srgbClr val="1B3B6F"/>
                </a:solidFill>
                <a:latin typeface="Amiri" pitchFamily="2" charset="-78"/>
                <a:ea typeface="Amiri" pitchFamily="2" charset="-78"/>
                <a:cs typeface="Amiri" pitchFamily="2" charset="-78"/>
              </a:rPr>
              <a:t>أَزْرَقُ</a:t>
            </a:r>
            <a:pPr algn="l" indent="0" marL="0">
              <a:buNone/>
            </a:pPr>
            <a:r>
              <a:rPr lang="en-US" sz="1250" b="1" dirty="0">
                <a:solidFill>
                  <a:srgbClr val="1B3B6F"/>
                </a:solidFill>
                <a:latin typeface="Calibri" pitchFamily="34" charset="0"/>
                <a:cs typeface="Amiri" pitchFamily="2" charset="-78"/>
              </a:rPr>
              <a:t> describe?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museum</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door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city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Head noun of the iḍāfa: the door.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colour of the trees </a:t>
            </a:r>
            <a:pPr algn="l" indent="0" marL="0">
              <a:buNone/>
            </a:pPr>
            <a:r>
              <a:rPr lang="ar-SA" altLang="en-US" sz="1650" b="1" dirty="0">
                <a:solidFill>
                  <a:srgbClr val="1B3B6F"/>
                </a:solidFill>
                <a:latin typeface="Amiri" pitchFamily="2" charset="-78"/>
                <a:ea typeface="Amiri" pitchFamily="2" charset="-78"/>
                <a:cs typeface="Amiri" pitchFamily="2" charset="-78"/>
              </a:rPr>
              <a:t>خَضْرَاءُ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Trees are feminine people.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Trees are plural things.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 feminine form.</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السَّمَاءُ زَرْقَاءُ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Sky is feminine.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Sky is plural.</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Sky is masculine.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hidden feminine noun.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colour describes the buses?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yellow</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blue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الْحَافِلَاتُ … حَمْرَاءُ.</a:t>
            </a:r>
            <a:endParaRPr lang="ar-SA" sz="13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what are you wearing?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لَوْنُ قَمِيصِكَ؟ مَا لَوْنُ حَقِيبَتِكَ؟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غُرْفَتَكَ بِالْأَلْوَانِ.</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عَلَمَ بَلَدِكَ وَأَلْوَانَ مَدِينَتِكَ.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قَمِيصِي ___ ، وَحَقِيبَتِي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غُرْفَتِي سَرِيرٌ ___ وَسَتَائِرُ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عَلَمُ بَلَدِي ___ وَ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لَوْنُ حِذَائِكِ؟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colour are your shoes?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حِذَائِي أَسْوَدُ، وَحَقِيبَتِي حَمْرَاءُ، وَنَظَّارَتِي زَرْقَاءُ.</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My shoes are black, my bag is red and my glasses are blue.</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Describe six objects in your room with colours.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Three masculine, three feminine nouns.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plural things and “What colour is …?”.</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Plural things → feminine form.</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describe an outfit or a place, with one -iyy colour and one object in the accusative.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Brown, grey, orange: + ة.</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غُرْفَتِي سَتَائِرُ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room there are … curtains.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الْأَشْجَارُ فِي الْحَدِيقَةِ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trees in the garden are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لَوْنُ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What colour is your car?</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سَيَّارَةُ أَبِي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father’s car is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قَمِيصِي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shirt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حَقِيبَتِي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bag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السَّمَاءُ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sky is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قَلَمٌ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a … pen.</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أَحْمَرُ  ·  حَمْرَاءُ  ·  أَخْضَرُ  ·  خَضْرَاءُ  ·  أَزْرَقُ  ·  زَرْقَاءُ  ·  أَصْفَرُ  ·  صَفْرَاءُ  ·  أَبْيَضُ  ·  بَيْضَاءُ  ·  أَسْوَدُ  ·  سَوْدَاءُ  ·  بُنِّيٌّ / بُنِّيَّةٌ</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extended writing workshop: 90–120 words describing a person, place, object or experience, with at least eight target adjective structures.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masculine nouns with afʿal colours.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feminine nouns with faʿlāʾ colours.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plural things with the feminine colour form.</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-iyy colour with + </a:t>
            </a:r>
            <a:pPr algn="l" indent="0" marL="0">
              <a:buNone/>
            </a:pPr>
            <a:r>
              <a:rPr lang="ar-SA" altLang="en-US" sz="1550" dirty="0">
                <a:solidFill>
                  <a:srgbClr val="1F2A37"/>
                </a:solidFill>
                <a:latin typeface="Amiri" pitchFamily="2" charset="-78"/>
                <a:ea typeface="Amiri" pitchFamily="2" charset="-78"/>
                <a:cs typeface="Amiri" pitchFamily="2" charset="-78"/>
              </a:rPr>
              <a:t>ة</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colour matches its HEAD noun.</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قَمِيصٌ أَبْيَضُ</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white shirt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تَنُّورَةٌ زَرْقَاءُ</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blue skirt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أَشْجَارٌ خَضْرَاءُ</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green trees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سَيَّارَاتٌ حَمْرَاءُ</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red cars</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حَقِيبَةٌ بُنِّيَّةٌ</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brown bag</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لَوْنُ …؟</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what colour is …?</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يَوْمِ الْعِيدِ لَبِسْتُ ثِيَابًا جَدِيدَةً: قَمِيصًا أَبْيَضَ وَبِنْطَالًا أَزْرَقَ وَحِذَاءً أَسْوَدَ. أُخْتِي لَبِسَتْ فُسْتَانًا أَخْضَرَ وَحِجَابًا وَرْدِيًّا. ذَهَبْنَا إِلَى حَدِيقَةٍ كَبِيرَةٍ فِيهَا أَشْجَارٌ خَضْرَاءُ وَزُهُورٌ حَمْرَاءُ وَصَفْرَاءُ. كَانَتِ السَّمَاءُ زَرْقَاءَ، وَكَانَ الْيَوْمُ جَمِيلًا.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On Eid day I wore new clothes: a white shirt, blue trousers and black shoes. My sister wore a green dress and a pink headscarf. We went to a big park with green trees and red and yellow flowers. The sky was blue, and the day was beautiful.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masculine colours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feminine colours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plural things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-iyy colour</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colours use the right pair: afʿal or faʿlāʾ.</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never added tāʾ marbūṭa to a basic colour.</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Plural things have the feminine colour.</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colour matches its head noun.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an -iyy colour and no tanwīn on basic colours.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Feminine of </a:t>
            </a:r>
            <a:pPr algn="l" indent="0" marL="0">
              <a:buNone/>
            </a:pPr>
            <a:r>
              <a:rPr lang="ar-SA" altLang="en-US" sz="1650" b="1" dirty="0">
                <a:solidFill>
                  <a:srgbClr val="1B3B6F"/>
                </a:solidFill>
                <a:latin typeface="Amiri" pitchFamily="2" charset="-78"/>
                <a:ea typeface="Amiri" pitchFamily="2" charset="-78"/>
                <a:cs typeface="Amiri" pitchFamily="2" charset="-78"/>
              </a:rPr>
              <a:t>أَبْيَضُ</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بَيْضَاءُ</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أَبْيَضَةٌ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بِيضٌ</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black cat (f.)”.</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قِطَّةٌ أَسْوَدُ</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قِطَّةٌ سَوْدَاءُ</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قِطَّةٌ أَسْوَدَةٌ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“blue chairs”.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كَرَاسِيُّ زَرْقَاءُ</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كَرَاسِيُّ أَزْرَقُ</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كَرَاسِيُّ أَزْرَقُونَ</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Feminine of </a:t>
            </a:r>
            <a:pPr algn="l" indent="0" marL="0">
              <a:buNone/>
            </a:pPr>
            <a:r>
              <a:rPr lang="ar-SA" altLang="en-US" sz="1650" b="1" dirty="0">
                <a:solidFill>
                  <a:srgbClr val="1B3B6F"/>
                </a:solidFill>
                <a:latin typeface="Amiri" pitchFamily="2" charset="-78"/>
                <a:ea typeface="Amiri" pitchFamily="2" charset="-78"/>
                <a:cs typeface="Amiri" pitchFamily="2" charset="-78"/>
              </a:rPr>
              <a:t>أَبْيَضُ</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بَيْضَاءُ</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أَبْيَضَةٌ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بِيضٌ</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Pattern faʿlāʾ.</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black cat (f.)”.</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قِطَّةٌ أَسْوَدُ</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قِطَّةٌ سَوْدَاءُ</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قِطَّةٌ أَسْوَدَةٌ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noun → faʿlāʾ.</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“blue chairs”.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كَرَاسِيُّ زَرْقَاءُ</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كَرَاسِيُّ أَزْرَقُ</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كَرَاسِيُّ أَزْرَقُونَ</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Plural things → feminine form.</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GM-ADJ-03 · Adjectives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GM-ADJ-04: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GM-ADJ-04 · Position and Full Adjective Agreement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الصِّفَةُ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adjective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قَبْلَ</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before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بَعْدَ</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after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مُعَرَّفٌ</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definite (with al-)</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نَكِرَةٌ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indefinite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In English we say “a big house”. In Arabic, where does the adjective go — and what must it copy from the noun?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بَيْتٌ كَبِيرٌ · الْبَيْتُ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Label ten objects at home with their colour (masculine or feminine).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eight sentences describing clothes and plural things.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workshop on an outfit or a colourful place.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GM-ADJ-03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cs typeface="Amiri" pitchFamily="2" charset="-78"/>
              </a:rPr>
              <a:t>GM-ADJ-04 · Position and Full Adjective Agreement</a:t>
            </a:r>
            <a:endParaRPr lang="en-US" sz="19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مَوْقِعُ الصِّفَةِ وَالْمُطَابَقَةُ الْكَامِلَةُ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basic colours change shape — aḥmar · ḥamrāʾ · never “aḥmara” · plural things → feminine form · match the head noun · brown, grey, orange just add </a:t>
            </a:r>
            <a:pPr algn="l" indent="0" marL="0">
              <a:buNone/>
            </a:pPr>
            <a:r>
              <a:rPr lang="ar-SA" altLang="en-US" sz="1700" b="1" dirty="0">
                <a:solidFill>
                  <a:srgbClr val="FFFFFF"/>
                </a:solidFill>
                <a:latin typeface="Amiri" pitchFamily="2" charset="-78"/>
                <a:ea typeface="Amiri" pitchFamily="2" charset="-78"/>
                <a:cs typeface="Amiri" pitchFamily="2" charset="-78"/>
              </a:rPr>
              <a:t>ة</a:t>
            </a:r>
            <a:pPr algn="l" indent="0" marL="0">
              <a:buNone/>
            </a:pPr>
            <a:r>
              <a:rPr lang="en-US" sz="1300" b="1" dirty="0">
                <a:solidFill>
                  <a:srgbClr val="FFFFFF"/>
                </a:solidFill>
                <a:latin typeface="Calibri" pitchFamily="34" charset="0"/>
                <a:cs typeface="Amiri" pitchFamily="2" charset="-78"/>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GM-ADJ-03 · Colour Adjectives</dc:title>
  <dc:subject>PptxGenJS Presentation</dc:subject>
  <dc:creator>Al Madina Online School · Arabic Department</dc:creator>
  <cp:lastModifiedBy>Al Madina Online School · Arabic Department</cp:lastModifiedBy>
  <cp:revision>1</cp:revision>
  <dcterms:created xsi:type="dcterms:W3CDTF">2026-10-11T06:42:00Z</dcterms:created>
  <dcterms:modified xsi:type="dcterms:W3CDTF">2026-10-11T06:42:00Z</dcterms:modified>
</cp:coreProperties>
</file>