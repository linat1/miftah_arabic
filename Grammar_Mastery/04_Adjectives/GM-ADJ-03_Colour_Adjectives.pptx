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GM-ADJ-03 (“Colour Adjectives: أَفْعَل / فَعْلَاء”).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learn the six pairs as families (أَحْمَرُ حَمْرَاءُ · أَخْضَرُ خَضْرَاءُ · أَزْرَقُ زَرْقَاءُ · أَصْفَرُ صَفْرَاءُ · أَبْيَضُ بَيْضَاءُ · أَسْوَدُ سَوْدَاءُ). Develop: choose from the HEAD noun; things in the plural → feminine form. Stretch: no tanwīn on these colours; -iyy colours (بُنِّيٌّ / بُنِّيَّةٌ) use normal + ة.
• Pattern teaching: show the root letters ḥ-m-r in both أَحْمَرُ and حَمْرَاءُ — the shape changes around them (link to broken plurals, GM-N-05).
• Visual hook: hold up real objects (pen, bag, shirt) on camera; students name them with colours in the chat.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colour words prepared at the end of GM-ADJ-02.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Colours do not add tāʾ marbūṭa. Masculine aḥmar → feminine ḥamrāʾ. Plural things take the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colour pair”. Chant the pairs with actions; colour the root letters in both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“Agreement in context”. The last example is the “nearest word” trap: sister is feminine, but the colour describes the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“Plural colour agreement”, with teacher-added rows. Core: rows 1–3. Stretch: the -iyy colours and the human plural forms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Hold real objects up to the camera. For each: “What is the noun? Masculine, feminine, or plural things?” then choose the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leaves and trees are plural things → feminine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Discussion point to add orally: “dress” (فُسْتَانٌ) is MASCULINE in Arabic, so a red dress is فُسْتَانٌ أَحْمَرُ — check the noun, not the English idea of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six accurate structures. Camera game: students hold up an object; the class says it with its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(GM-ADJ-04 · Position and Full Adjective Agreement) will spend class time USING this language, so students prepare it tonight — short, simple, easy to access (school guidance: “Simple, Short, Interesting, Relevant, Easy to access”). The five words prepare GM-ADJ-04 (website Adjectives lesson 4: position and full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Colour Adjectives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أَلْوَانُ أَفْعَلَ وَفَعْلَاءَ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six basic colours have their own feminine shape: red → ḥamrāʾ, not “aḥmara”. Masculine noun → aḥmar; feminine noun or a plural of things → ḥamrāʾ.</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pair; agreement from the head noun; plurals.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pairs, sort masculine / feminine, describe objects.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أَحْمَرُ</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قَمِيصٌ</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حَمْرَاوَاتٌ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feminine of </a:t>
            </a:r>
            <a:pPr algn="l" indent="0" marL="0">
              <a:buNone/>
            </a:pPr>
            <a:r>
              <a:rPr lang="ar-SA" altLang="en-US" sz="1650" b="1" dirty="0">
                <a:solidFill>
                  <a:srgbClr val="1B3B6F"/>
                </a:solidFill>
                <a:latin typeface="Amiri" pitchFamily="2" charset="-78"/>
                <a:ea typeface="Amiri" pitchFamily="2" charset="-78"/>
                <a:cs typeface="Amiri" pitchFamily="2" charset="-78"/>
              </a:rPr>
              <a:t>أَحْمَرُ</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pattern is faʿlāʾ.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Bag is feminine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قَمِيصٌ</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بَيْضَاءُ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أَبْيَضُ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Shirt is masculine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حَمْرَاوَاتٌ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حَمْرَاءُ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Cars are a 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Colours do not add tāʾ marbūṭa. Masculine aḥmar → feminine ḥamrāʾ. Plural things take the feminine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a:t>
            </a:r>
            <a:pPr rtl="1" algn="ctr" indent="0" marL="0">
              <a:buNone/>
            </a:pPr>
            <a:r>
              <a:rPr lang="ar-SA" altLang="en-US" sz="2400" b="1" dirty="0">
                <a:solidFill>
                  <a:srgbClr val="0E7C86"/>
                </a:solidFill>
                <a:latin typeface="Amiri" pitchFamily="2" charset="-78"/>
                <a:ea typeface="Amiri" pitchFamily="2" charset="-78"/>
                <a:cs typeface="Amiri" pitchFamily="2" charset="-78"/>
              </a:rPr>
              <a:t>أَحْمَرُ</a:t>
            </a:r>
            <a:pPr rtl="1" algn="ctr" indent="0" marL="0">
              <a:buNone/>
            </a:pPr>
            <a:r>
              <a:rPr lang="ar-SA" altLang="en-US" sz="2400" b="1" dirty="0">
                <a:solidFill>
                  <a:srgbClr val="1B3B6F"/>
                </a:solidFill>
                <a:latin typeface="Amiri" pitchFamily="2" charset="-78"/>
                <a:ea typeface="Amiri" pitchFamily="2" charset="-78"/>
                <a:cs typeface="Amiri" pitchFamily="2" charset="-78"/>
              </a:rPr>
              <a:t> ‖ حَقِيبَةٌ </a:t>
            </a:r>
            <a:pPr rtl="1" algn="ctr" indent="0" marL="0">
              <a:buNone/>
            </a:pPr>
            <a:r>
              <a:rPr lang="ar-SA" altLang="en-US" sz="2400" b="1" dirty="0">
                <a:solidFill>
                  <a:srgbClr val="D6336C"/>
                </a:solidFill>
                <a:latin typeface="Amiri" pitchFamily="2" charset="-78"/>
                <a:ea typeface="Amiri" pitchFamily="2" charset="-78"/>
                <a:cs typeface="Amiri" pitchFamily="2" charset="-78"/>
              </a:rPr>
              <a:t>حَمْرَاءُ</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six basic colours in masculine and feminine.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colour form from the head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feminine colour with non-human plurals.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colours that DO take tāʾ marbūṭa.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the six colour pairs.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 red pen and a red bag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match the colour to the head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the feminine colour for plural things.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basic colours take no tanwīn.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brown, grey and orange with + </a:t>
            </a:r>
            <a:pPr algn="l" indent="0" marL="0">
              <a:buNone/>
            </a:pPr>
            <a:r>
              <a:rPr lang="ar-SA" altLang="en-US" sz="1700" b="1" dirty="0">
                <a:solidFill>
                  <a:srgbClr val="B83227"/>
                </a:solidFill>
                <a:latin typeface="Amiri" pitchFamily="2" charset="-78"/>
                <a:ea typeface="Amiri" pitchFamily="2" charset="-78"/>
                <a:cs typeface="Amiri" pitchFamily="2" charset="-78"/>
              </a:rPr>
              <a:t>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 </a:t>
            </a:r>
            <a:pPr algn="l" indent="0" marL="0">
              <a:buNone/>
            </a:pPr>
            <a:r>
              <a:rPr lang="ar-SA" altLang="en-US" sz="1300" dirty="0">
                <a:solidFill>
                  <a:srgbClr val="8A6D1E"/>
                </a:solidFill>
                <a:latin typeface="Amiri" pitchFamily="2" charset="-78"/>
                <a:ea typeface="Amiri" pitchFamily="2" charset="-78"/>
                <a:cs typeface="Amiri" pitchFamily="2" charset="-78"/>
              </a:rPr>
              <a:t>أَلْوَانٌ</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 colour pattern</a:t>
            </a:r>
            <a:endParaRPr lang="en-US" sz="1350" dirty="0"/>
          </a:p>
          <a:p>
            <a:pPr indent="0" marL="0">
              <a:buNone/>
            </a:pPr>
            <a:r>
              <a:rPr lang="en-US" sz="1100" i="1" dirty="0">
                <a:solidFill>
                  <a:srgbClr val="5A6472"/>
                </a:solidFill>
                <a:latin typeface="Calibri" pitchFamily="34" charset="0"/>
                <a:cs typeface="Amiri" pitchFamily="2" charset="-78"/>
              </a:rPr>
              <a:t>afʿal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أَحْمَرُ · أَزْرَقُ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فَعْلَاءُ</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 colour pattern</a:t>
            </a:r>
            <a:endParaRPr lang="en-US" sz="1350" dirty="0"/>
          </a:p>
          <a:p>
            <a:pPr indent="0" marL="0">
              <a:buNone/>
            </a:pPr>
            <a:r>
              <a:rPr lang="en-US" sz="1100" i="1" dirty="0">
                <a:solidFill>
                  <a:srgbClr val="5A6472"/>
                </a:solidFill>
                <a:latin typeface="Calibri" pitchFamily="34" charset="0"/>
                <a:cs typeface="Amiri" pitchFamily="2" charset="-78"/>
              </a:rPr>
              <a:t>faʿlāʾ</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حَمْرَاءُ · زَرْقَاءُ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الْمَوْصُوفُ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 noun (the one described)</a:t>
            </a:r>
            <a:endParaRPr lang="en-US" sz="1350" dirty="0"/>
          </a:p>
          <a:p>
            <a:pPr indent="0" marL="0">
              <a:buNone/>
            </a:pPr>
            <a:r>
              <a:rPr lang="en-US" sz="1100" i="1" dirty="0">
                <a:solidFill>
                  <a:srgbClr val="5A6472"/>
                </a:solidFill>
                <a:latin typeface="Calibri" pitchFamily="34" charset="0"/>
                <a:cs typeface="Amiri" pitchFamily="2" charset="-78"/>
              </a:rPr>
              <a:t>al-maw-ṣū-fu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قَمِيصُ … أَبْيَضُ</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لَوْنُ …؟</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colour is …?</a:t>
            </a:r>
            <a:endParaRPr lang="en-US" sz="1350" dirty="0"/>
          </a:p>
          <a:p>
            <a:pPr indent="0" marL="0">
              <a:buNone/>
            </a:pPr>
            <a:r>
              <a:rPr lang="en-US" sz="1100" i="1" dirty="0">
                <a:solidFill>
                  <a:srgbClr val="5A6472"/>
                </a:solidFill>
                <a:latin typeface="Calibri" pitchFamily="34" charset="0"/>
                <a:cs typeface="Amiri" pitchFamily="2" charset="-78"/>
              </a:rPr>
              <a:t>mā law-nu …?</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مَا لَوْنُ حَقِيبَتِكَ؟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مَمْنُوعٌ مِنَ الصَّرْفِ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no tanwīn (diptote)</a:t>
            </a:r>
            <a:endParaRPr lang="en-US" sz="1350" dirty="0"/>
          </a:p>
          <a:p>
            <a:pPr indent="0" marL="0">
              <a:buNone/>
            </a:pPr>
            <a:r>
              <a:rPr lang="en-US" sz="1100" i="1" dirty="0">
                <a:solidFill>
                  <a:srgbClr val="5A6472"/>
                </a:solidFill>
                <a:latin typeface="Calibri" pitchFamily="34" charset="0"/>
                <a:cs typeface="Amiri" pitchFamily="2" charset="-78"/>
              </a:rPr>
              <a:t>mam-nū-ʿun mi-na aṣ-ṣar-fi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أَحْمَرُ</a:t>
            </a:r>
            <a:pPr algn="l" indent="0" marL="0">
              <a:buNone/>
            </a:pPr>
            <a:r>
              <a:rPr lang="en-US" sz="1000" i="1" dirty="0">
                <a:solidFill>
                  <a:srgbClr val="8A6D1E"/>
                </a:solidFill>
                <a:latin typeface="Calibri" pitchFamily="34" charset="0"/>
                <a:cs typeface="Amiri" pitchFamily="2" charset="-78"/>
              </a:rPr>
              <a:t> — not </a:t>
            </a:r>
            <a:pPr algn="l" indent="0" marL="0">
              <a:buNone/>
            </a:pPr>
            <a:r>
              <a:rPr lang="ar-SA" altLang="en-US" sz="1300" dirty="0">
                <a:solidFill>
                  <a:srgbClr val="8A6D1E"/>
                </a:solidFill>
                <a:latin typeface="Amiri" pitchFamily="2" charset="-78"/>
                <a:ea typeface="Amiri" pitchFamily="2" charset="-78"/>
                <a:cs typeface="Amiri" pitchFamily="2" charset="-78"/>
              </a:rPr>
              <a:t>أَحْمَرٌ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THE COLOUR PAIR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colours, two shapes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أَفْعَلُ وَفَعْلَاءُ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60167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 faʿlāʾ</a:t>
            </a:r>
            <a:endParaRPr lang="en-US" sz="1100" dirty="0"/>
          </a:p>
        </p:txBody>
      </p:sp>
      <p:sp>
        <p:nvSpPr>
          <p:cNvPr id="18" name="Text 15"/>
          <p:cNvSpPr txBox="1"/>
          <p:nvPr/>
        </p:nvSpPr>
        <p:spPr>
          <a:xfrm>
            <a:off x="29077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 afʿal</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144000" y="226771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تُفَّاحَةٌ حَمْرَاءُ</a:t>
            </a:r>
            <a:endParaRPr lang="ar-SA" sz="2000" dirty="0"/>
          </a:p>
        </p:txBody>
      </p:sp>
      <p:sp>
        <p:nvSpPr>
          <p:cNvPr id="22" name="Text 19"/>
          <p:cNvSpPr txBox="1"/>
          <p:nvPr/>
        </p:nvSpPr>
        <p:spPr>
          <a:xfrm>
            <a:off x="603504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حَمْرَاءُ</a:t>
            </a:r>
            <a:endParaRPr lang="ar-SA" sz="2600" dirty="0"/>
          </a:p>
        </p:txBody>
      </p:sp>
      <p:sp>
        <p:nvSpPr>
          <p:cNvPr id="23" name="Text 20"/>
          <p:cNvSpPr txBox="1"/>
          <p:nvPr/>
        </p:nvSpPr>
        <p:spPr>
          <a:xfrm>
            <a:off x="292608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أَحْمَرُ</a:t>
            </a:r>
            <a:endParaRPr lang="ar-SA" sz="2600" dirty="0"/>
          </a:p>
        </p:txBody>
      </p:sp>
      <p:sp>
        <p:nvSpPr>
          <p:cNvPr id="24" name="Text 21"/>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44000" y="2881884"/>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شَجَرَةٌ خَضْرَاءُ</a:t>
            </a:r>
            <a:endParaRPr lang="ar-SA" sz="2000" dirty="0"/>
          </a:p>
        </p:txBody>
      </p:sp>
      <p:sp>
        <p:nvSpPr>
          <p:cNvPr id="29" name="Text 26"/>
          <p:cNvSpPr txBox="1"/>
          <p:nvPr/>
        </p:nvSpPr>
        <p:spPr>
          <a:xfrm>
            <a:off x="603504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خَضْرَاءُ</a:t>
            </a:r>
            <a:endParaRPr lang="ar-SA" sz="2600" dirty="0"/>
          </a:p>
        </p:txBody>
      </p:sp>
      <p:sp>
        <p:nvSpPr>
          <p:cNvPr id="30" name="Text 27"/>
          <p:cNvSpPr txBox="1"/>
          <p:nvPr/>
        </p:nvSpPr>
        <p:spPr>
          <a:xfrm>
            <a:off x="292608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أَخْضَرُ</a:t>
            </a:r>
            <a:endParaRPr lang="ar-SA" sz="2600" dirty="0"/>
          </a:p>
        </p:txBody>
      </p:sp>
      <p:sp>
        <p:nvSpPr>
          <p:cNvPr id="31" name="Text 28"/>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144000" y="3496056"/>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سَمَاءٌ زَرْقَاءُ</a:t>
            </a:r>
            <a:endParaRPr lang="ar-SA" sz="2000" dirty="0"/>
          </a:p>
        </p:txBody>
      </p:sp>
      <p:sp>
        <p:nvSpPr>
          <p:cNvPr id="36" name="Text 33"/>
          <p:cNvSpPr txBox="1"/>
          <p:nvPr/>
        </p:nvSpPr>
        <p:spPr>
          <a:xfrm>
            <a:off x="603504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زَرْقَاءُ</a:t>
            </a:r>
            <a:endParaRPr lang="ar-SA" sz="2600" dirty="0"/>
          </a:p>
        </p:txBody>
      </p:sp>
      <p:sp>
        <p:nvSpPr>
          <p:cNvPr id="37" name="Text 34"/>
          <p:cNvSpPr txBox="1"/>
          <p:nvPr/>
        </p:nvSpPr>
        <p:spPr>
          <a:xfrm>
            <a:off x="292608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أَزْرَقُ</a:t>
            </a:r>
            <a:endParaRPr lang="ar-SA" sz="2600" dirty="0"/>
          </a:p>
        </p:txBody>
      </p:sp>
      <p:sp>
        <p:nvSpPr>
          <p:cNvPr id="38" name="Text 35"/>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44000" y="4110228"/>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شَمْسٌ صَفْرَاءُ</a:t>
            </a:r>
            <a:endParaRPr lang="ar-SA" sz="2000" dirty="0"/>
          </a:p>
        </p:txBody>
      </p:sp>
      <p:sp>
        <p:nvSpPr>
          <p:cNvPr id="43" name="Text 40"/>
          <p:cNvSpPr txBox="1"/>
          <p:nvPr/>
        </p:nvSpPr>
        <p:spPr>
          <a:xfrm>
            <a:off x="603504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صَفْرَاءُ</a:t>
            </a:r>
            <a:endParaRPr lang="ar-SA" sz="2600" dirty="0"/>
          </a:p>
        </p:txBody>
      </p:sp>
      <p:sp>
        <p:nvSpPr>
          <p:cNvPr id="44" name="Text 41"/>
          <p:cNvSpPr txBox="1"/>
          <p:nvPr/>
        </p:nvSpPr>
        <p:spPr>
          <a:xfrm>
            <a:off x="292608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أَصْفَرُ</a:t>
            </a:r>
            <a:endParaRPr lang="ar-SA" sz="2600" dirty="0"/>
          </a:p>
        </p:txBody>
      </p:sp>
      <p:sp>
        <p:nvSpPr>
          <p:cNvPr id="45" name="Text 42"/>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yellow</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144000" y="4724400"/>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قَمِيصٌ أَبْيَضُ</a:t>
            </a:r>
            <a:endParaRPr lang="ar-SA" sz="2000" dirty="0"/>
          </a:p>
        </p:txBody>
      </p:sp>
      <p:sp>
        <p:nvSpPr>
          <p:cNvPr id="50" name="Text 47"/>
          <p:cNvSpPr txBox="1"/>
          <p:nvPr/>
        </p:nvSpPr>
        <p:spPr>
          <a:xfrm>
            <a:off x="603504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بَيْضَاءُ</a:t>
            </a:r>
            <a:endParaRPr lang="ar-SA" sz="2600" dirty="0"/>
          </a:p>
        </p:txBody>
      </p:sp>
      <p:sp>
        <p:nvSpPr>
          <p:cNvPr id="51" name="Text 48"/>
          <p:cNvSpPr txBox="1"/>
          <p:nvPr/>
        </p:nvSpPr>
        <p:spPr>
          <a:xfrm>
            <a:off x="292608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أَبْيَضُ</a:t>
            </a:r>
            <a:endParaRPr lang="ar-SA" sz="2600" dirty="0"/>
          </a:p>
        </p:txBody>
      </p:sp>
      <p:sp>
        <p:nvSpPr>
          <p:cNvPr id="52" name="Text 49"/>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44000" y="5338572"/>
            <a:ext cx="249631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قِطَّةٌ سَوْدَاءُ</a:t>
            </a:r>
            <a:endParaRPr lang="ar-SA" sz="2000" dirty="0"/>
          </a:p>
        </p:txBody>
      </p:sp>
      <p:sp>
        <p:nvSpPr>
          <p:cNvPr id="57" name="Text 54"/>
          <p:cNvSpPr txBox="1"/>
          <p:nvPr/>
        </p:nvSpPr>
        <p:spPr>
          <a:xfrm>
            <a:off x="603504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سَوْدَاءُ</a:t>
            </a:r>
            <a:endParaRPr lang="ar-SA" sz="2600" dirty="0"/>
          </a:p>
        </p:txBody>
      </p:sp>
      <p:sp>
        <p:nvSpPr>
          <p:cNvPr id="58" name="Text 55"/>
          <p:cNvSpPr txBox="1"/>
          <p:nvPr/>
        </p:nvSpPr>
        <p:spPr>
          <a:xfrm>
            <a:off x="292608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أَسْوَدُ</a:t>
            </a:r>
            <a:endParaRPr lang="ar-SA" sz="2600" dirty="0"/>
          </a:p>
        </p:txBody>
      </p:sp>
      <p:sp>
        <p:nvSpPr>
          <p:cNvPr id="59" name="Text 56"/>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feminine is NOT made by adding tāʾ marbūṭa. The three root letters stay; the shape around them changes: a-ḥ-m-a-r → ḥ-a-m-r-āʾ.</a:t>
            </a:r>
            <a:endParaRPr lang="en-US" sz="11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2 · AGREEMENT IN CONTEXT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Look at the head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 فِي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Choose the colour form from the gender of the singular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Masculine noun → afʿal: a red pen, a blue shirt.</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Feminine noun → faʿlāʾ: a red bag, a blue car — including hidden feminines like the sky.</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Match the HEAD noun, not the nearest word (website clinic).</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Stretch: these colours never take tanwīn — say aḥmaru, not aḥmarun.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قَلَمٌ أَحْمَرُ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red pen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حَقِيبَةٌ حَمْرَاءُ</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red bag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قَمِيصٌ أَزْرَقُ</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blue shirt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قَمِيصُ أُخْتِي الْأَبْيَضُ</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sister’s white shirt  ·  the head noun is the shirt</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CLINIC</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“aḥmara” with tāʾ marbūṭa. The feminine of red is always ḥamrāʾ.</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3 · PLURALS AND OTHER COLOURS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Plural things, people — and colours with + </a:t>
            </a:r>
            <a:pPr algn="l" indent="0" marL="0">
              <a:buNone/>
            </a:pPr>
            <a:r>
              <a:rPr lang="ar-SA" altLang="en-US" sz="2950" b="1" dirty="0">
                <a:solidFill>
                  <a:srgbClr val="1B3B6F"/>
                </a:solidFill>
                <a:latin typeface="Amiri" pitchFamily="2" charset="-78"/>
                <a:ea typeface="Amiri" pitchFamily="2" charset="-78"/>
                <a:cs typeface="Amiri" pitchFamily="2" charset="-78"/>
              </a:rPr>
              <a:t>ة</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الْجَمْعُ وَأَلْوَانٌ أُخْرَى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36393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form (website)</a:t>
            </a:r>
            <a:endParaRPr lang="en-US" sz="1100" dirty="0"/>
          </a:p>
        </p:txBody>
      </p:sp>
      <p:sp>
        <p:nvSpPr>
          <p:cNvPr id="21" name="Text 18"/>
          <p:cNvSpPr txBox="1"/>
          <p:nvPr/>
        </p:nvSpPr>
        <p:spPr>
          <a:xfrm>
            <a:off x="3657600" y="226771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سَيَّارَاتٌ حَمْرَاءُ</a:t>
            </a:r>
            <a:endParaRPr lang="ar-SA" sz="24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 cars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form (website)</a:t>
            </a:r>
            <a:endParaRPr lang="en-US" sz="1100" dirty="0"/>
          </a:p>
        </p:txBody>
      </p:sp>
      <p:sp>
        <p:nvSpPr>
          <p:cNvPr id="27" name="Text 24"/>
          <p:cNvSpPr txBox="1"/>
          <p:nvPr/>
        </p:nvSpPr>
        <p:spPr>
          <a:xfrm>
            <a:off x="3657600" y="2881884"/>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حَقَائِبُ سَوْدَاءُ</a:t>
            </a:r>
            <a:endParaRPr lang="ar-SA" sz="24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 bags</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website model bank</a:t>
            </a:r>
            <a:endParaRPr lang="en-US" sz="1100" dirty="0"/>
          </a:p>
        </p:txBody>
      </p:sp>
      <p:sp>
        <p:nvSpPr>
          <p:cNvPr id="33" name="Text 30"/>
          <p:cNvSpPr txBox="1"/>
          <p:nvPr/>
        </p:nvSpPr>
        <p:spPr>
          <a:xfrm>
            <a:off x="3657600" y="3496056"/>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أَشْجَارٌ خَضْرَاءُ</a:t>
            </a:r>
            <a:endParaRPr lang="ar-SA" sz="24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 trees</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(bunniyy) is regular: +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9" name="Text 36"/>
          <p:cNvSpPr txBox="1"/>
          <p:nvPr/>
        </p:nvSpPr>
        <p:spPr>
          <a:xfrm>
            <a:off x="3657600" y="4110228"/>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بُنِّيَّةٌ</a:t>
            </a:r>
            <a:endParaRPr lang="ar-SA" sz="24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bag</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colours in -iyy add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43" name="Text 40"/>
          <p:cNvSpPr txBox="1"/>
          <p:nvPr/>
        </p:nvSpPr>
        <p:spPr>
          <a:xfrm>
            <a:off x="3657600" y="4724400"/>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 رَمَادِيَّةٌ / بُرْتُقَالِيَّةٌ</a:t>
            </a:r>
            <a:endParaRPr lang="ar-SA" sz="24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grey / orange car</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recognition only: human plural colours</a:t>
            </a:r>
            <a:endParaRPr lang="en-US" sz="1100" dirty="0"/>
          </a:p>
        </p:txBody>
      </p:sp>
      <p:sp>
        <p:nvSpPr>
          <p:cNvPr id="47" name="Text 44"/>
          <p:cNvSpPr txBox="1"/>
          <p:nvPr/>
        </p:nvSpPr>
        <p:spPr>
          <a:xfrm>
            <a:off x="3657600" y="5338572"/>
            <a:ext cx="3840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بِيضٌ · سُودٌ</a:t>
            </a:r>
            <a:endParaRPr lang="ar-SA" sz="24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 (people,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Everyday rule (website): plural things take the feminine singular colour. Only basic colours change shape — -iyy colours follow the normal +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rule.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أَخْضَرُ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أَخْضَرَةٌ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خُضْرٌ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خَضْرَاءُ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سَمَاءٌ</a:t>
            </a:r>
            <a:pPr algn="l" indent="0" marL="0">
              <a:buNone/>
            </a:pPr>
            <a:r>
              <a:rPr lang="en-US" sz="1250" b="1" dirty="0">
                <a:solidFill>
                  <a:srgbClr val="1B3B6F"/>
                </a:solidFill>
                <a:latin typeface="Calibri" pitchFamily="34" charset="0"/>
                <a:cs typeface="Amiri" pitchFamily="2" charset="-78"/>
              </a:rPr>
              <a:t> ______ (blue).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أَقْلَامٌ</a:t>
            </a:r>
            <a:pPr algn="l" indent="0" marL="0">
              <a:buNone/>
            </a:pPr>
            <a:r>
              <a:rPr lang="en-US" sz="1250" b="1" dirty="0">
                <a:solidFill>
                  <a:srgbClr val="1B3B6F"/>
                </a:solidFill>
                <a:latin typeface="Calibri" pitchFamily="34" charset="0"/>
                <a:cs typeface="Amiri" pitchFamily="2" charset="-78"/>
              </a:rPr>
              <a:t> ______ (black).</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سَوْدَاءُ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brown table”.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طَاوِلَةٌ بُنِّيَّةٌ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طَاوِلَةٌ بُنِّيٌّ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طَاوِلَةٌ بَنْيَاءُ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أَخْضَرُ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أَخْضَرَةٌ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خُضْرٌ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خَضْرَاءُ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faʿlāʾ.</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سَمَاءٌ</a:t>
            </a:r>
            <a:pPr algn="l" indent="0" marL="0">
              <a:buNone/>
            </a:pPr>
            <a:r>
              <a:rPr lang="en-US" sz="1250" b="1" dirty="0">
                <a:solidFill>
                  <a:srgbClr val="1B3B6F"/>
                </a:solidFill>
                <a:latin typeface="Calibri" pitchFamily="34" charset="0"/>
                <a:cs typeface="Amiri" pitchFamily="2" charset="-78"/>
              </a:rPr>
              <a:t> ______ (blue).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زَرْقَةٌ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Sky is feminine.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أَقْلَامٌ</a:t>
            </a:r>
            <a:pPr algn="l" indent="0" marL="0">
              <a:buNone/>
            </a:pPr>
            <a:r>
              <a:rPr lang="en-US" sz="1250" b="1" dirty="0">
                <a:solidFill>
                  <a:srgbClr val="1B3B6F"/>
                </a:solidFill>
                <a:latin typeface="Calibri" pitchFamily="34" charset="0"/>
                <a:cs typeface="Amiri" pitchFamily="2" charset="-78"/>
              </a:rPr>
              <a:t> ______ (black).</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أَسْوَدُ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سَوْدَاءُ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أَسْوَدُونَ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brown table”.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طَاوِلَةٌ بُنِّيَّةٌ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طَاوِلَةٌ بُنِّيٌّ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طَاوِلَةٌ بَنْيَاءُ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Brown is an -iyy colour →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desk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Masculine 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قَلَمٌ أَزْرَقُ</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pen → afʿal.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Feminine noun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مِسْطَرَةٌ صَفْرَاءُ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ruler → faʿlāʾ.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 things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كُتُبٌ حَمْرَاءُ</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books → feminine form.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-iyy colour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حَقِيبَةٌ بُنِّيَّةٌ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brown →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FORM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عَلَى مَكْتَبِي قَلَمٌ </a:t>
            </a:r>
            <a:pPr rtl="1" algn="r" indent="0" marL="0">
              <a:buNone/>
            </a:pPr>
            <a:r>
              <a:rPr lang="ar-SA" altLang="en-US" sz="2600" b="1" dirty="0">
                <a:solidFill>
                  <a:srgbClr val="0E7C86"/>
                </a:solidFill>
                <a:latin typeface="Amiri" pitchFamily="2" charset="-78"/>
                <a:ea typeface="Amiri" pitchFamily="2" charset="-78"/>
                <a:cs typeface="Amiri" pitchFamily="2" charset="-78"/>
              </a:rPr>
              <a:t>أَزْرَقُ</a:t>
            </a:r>
            <a:pPr rtl="1" algn="r" indent="0" marL="0">
              <a:buNone/>
            </a:pPr>
            <a:r>
              <a:rPr lang="ar-SA" altLang="en-US" sz="2600" b="1" dirty="0">
                <a:solidFill>
                  <a:srgbClr val="1B3B6F"/>
                </a:solidFill>
                <a:latin typeface="Amiri" pitchFamily="2" charset="-78"/>
                <a:ea typeface="Amiri" pitchFamily="2" charset="-78"/>
                <a:cs typeface="Amiri" pitchFamily="2" charset="-78"/>
              </a:rPr>
              <a:t> وَمِسْطَرَةٌ </a:t>
            </a:r>
            <a:pPr rtl="1" algn="r" indent="0" marL="0">
              <a:buNone/>
            </a:pPr>
            <a:r>
              <a:rPr lang="ar-SA" altLang="en-US" sz="2600" b="1" dirty="0">
                <a:solidFill>
                  <a:srgbClr val="D6336C"/>
                </a:solidFill>
                <a:latin typeface="Amiri" pitchFamily="2" charset="-78"/>
                <a:ea typeface="Amiri" pitchFamily="2" charset="-78"/>
                <a:cs typeface="Amiri" pitchFamily="2" charset="-78"/>
              </a:rPr>
              <a:t>صَفْرَاءُ</a:t>
            </a:r>
            <a:pPr rtl="1" algn="r" indent="0" marL="0">
              <a:buNone/>
            </a:pPr>
            <a:r>
              <a:rPr lang="ar-SA" altLang="en-US" sz="2600" b="1" dirty="0">
                <a:solidFill>
                  <a:srgbClr val="1B3B6F"/>
                </a:solidFill>
                <a:latin typeface="Amiri" pitchFamily="2" charset="-78"/>
                <a:ea typeface="Amiri" pitchFamily="2" charset="-78"/>
                <a:cs typeface="Amiri" pitchFamily="2" charset="-78"/>
              </a:rPr>
              <a:t> وَكُتُبٌ </a:t>
            </a:r>
            <a:pPr rtl="1" algn="r" indent="0" marL="0">
              <a:buNone/>
            </a:pPr>
            <a:r>
              <a:rPr lang="ar-SA" altLang="en-US" sz="2600" b="1" dirty="0">
                <a:solidFill>
                  <a:srgbClr val="D6336C"/>
                </a:solidFill>
                <a:latin typeface="Amiri" pitchFamily="2" charset="-78"/>
                <a:ea typeface="Amiri" pitchFamily="2" charset="-78"/>
                <a:cs typeface="Amiri" pitchFamily="2" charset="-78"/>
              </a:rPr>
              <a:t>حَمْرَاءُ</a:t>
            </a:r>
            <a:pPr rtl="1" algn="r" indent="0" marL="0">
              <a:buNone/>
            </a:pPr>
            <a:r>
              <a:rPr lang="ar-SA" altLang="en-US" sz="2600" b="1" dirty="0">
                <a:solidFill>
                  <a:srgbClr val="1B3B6F"/>
                </a:solidFill>
                <a:latin typeface="Amiri" pitchFamily="2" charset="-78"/>
                <a:ea typeface="Amiri" pitchFamily="2" charset="-78"/>
                <a:cs typeface="Amiri" pitchFamily="2" charset="-78"/>
              </a:rPr>
              <a:t>، وَحَقِيبَتِي </a:t>
            </a:r>
            <a:pPr rtl="1" algn="r" indent="0" marL="0">
              <a:buNone/>
            </a:pPr>
            <a:r>
              <a:rPr lang="ar-SA" altLang="en-US" sz="2600" b="1" dirty="0">
                <a:solidFill>
                  <a:srgbClr val="D6336C"/>
                </a:solidFill>
                <a:latin typeface="Amiri" pitchFamily="2" charset="-78"/>
                <a:ea typeface="Amiri" pitchFamily="2" charset="-78"/>
                <a:cs typeface="Amiri" pitchFamily="2" charset="-78"/>
              </a:rPr>
              <a:t>بُنِّيَّةٌ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On my desk there is a blue pen, a yellow ruler and red books, and my bag is brown.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قَمِيصٌ أَبْيَضُ وَتَنُّورَةٌ بَيْضَاءُ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white shirt and a white skirt</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أَشْجَارٌ خَضْرَاءُ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green trees</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لَوْنُ سَيَّارَتِكَ؟ — سَيَّارَتِي سَوْدَاءُ.</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colour is your car? — My car is black.</a:t>
            </a:r>
            <a:endParaRPr lang="en-US" sz="1250" dirty="0"/>
          </a:p>
          <a:p>
            <a:pPr indent="0" marL="0">
              <a:buNone/>
            </a:pPr>
            <a:r>
              <a:rPr lang="en-US" sz="1050" i="1" dirty="0">
                <a:solidFill>
                  <a:srgbClr val="8A6D1E"/>
                </a:solidFill>
                <a:latin typeface="Calibri" pitchFamily="34" charset="0"/>
                <a:cs typeface="Amiri" pitchFamily="2" charset="-78"/>
              </a:rPr>
              <a:t>Question and answer.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لَبِسْتُ حِذَاءً أَسْوَدَ.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wore black shoes.</a:t>
            </a:r>
            <a:endParaRPr lang="en-US" sz="1250" dirty="0"/>
          </a:p>
          <a:p>
            <a:pPr indent="0" marL="0">
              <a:buNone/>
            </a:pPr>
            <a:r>
              <a:rPr lang="en-US" sz="1050" i="1" dirty="0">
                <a:solidFill>
                  <a:srgbClr val="8A6D1E"/>
                </a:solidFill>
                <a:latin typeface="Calibri" pitchFamily="34" charset="0"/>
                <a:cs typeface="Amiri" pitchFamily="2" charset="-78"/>
              </a:rPr>
              <a:t>Stretch: object, no tanwīn on the colour.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WHICH FORM OF GREEN?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or feminine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قَمِيصٌ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أَوْرَاقٌ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تُفَّاحَةٌ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كُرْسِيٌّ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أَشْجَارٌ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akhḍar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form: khaḍrāʾ</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akhḍar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قَمِيصٌ</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كُرْسِيٌّ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form: khaḍrāʾ</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حَدِيقَةٌ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أَوْرَاقٌ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تُفَّاحَةٌ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أَشْجَارٌ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Change the noun, change the colour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748272" y="1810512"/>
            <a:ext cx="4910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a:t>
            </a:r>
            <a:endParaRPr lang="en-US" sz="1100" dirty="0"/>
          </a:p>
        </p:txBody>
      </p:sp>
      <p:sp>
        <p:nvSpPr>
          <p:cNvPr id="17" name="Text 14"/>
          <p:cNvSpPr txBox="1"/>
          <p:nvPr/>
        </p:nvSpPr>
        <p:spPr>
          <a:xfrm>
            <a:off x="40050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 to</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766560" y="2267712"/>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تَنُّورَةٌ حَمْرَاءُ</a:t>
            </a:r>
            <a:endParaRPr lang="ar-SA" sz="2400" dirty="0"/>
          </a:p>
        </p:txBody>
      </p:sp>
      <p:sp>
        <p:nvSpPr>
          <p:cNvPr id="21" name="Text 18"/>
          <p:cNvSpPr txBox="1"/>
          <p:nvPr/>
        </p:nvSpPr>
        <p:spPr>
          <a:xfrm>
            <a:off x="404164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skirt</a:t>
            </a:r>
            <a:endParaRPr lang="en-US" sz="11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قَمِيصٌ أَحْمَرُ</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766560" y="300471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سَوْدَاءُ</a:t>
            </a:r>
            <a:endParaRPr lang="ar-SA" sz="2400" dirty="0"/>
          </a:p>
        </p:txBody>
      </p:sp>
      <p:sp>
        <p:nvSpPr>
          <p:cNvPr id="27" name="Text 24"/>
          <p:cNvSpPr txBox="1"/>
          <p:nvPr/>
        </p:nvSpPr>
        <p:spPr>
          <a:xfrm>
            <a:off x="404164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bag</a:t>
            </a:r>
            <a:endParaRPr lang="en-US" sz="11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أَسْوَدُ</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766560" y="3741725"/>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بُيُوتٌ بَيْضَاءُ</a:t>
            </a:r>
            <a:endParaRPr lang="ar-SA" sz="2400" dirty="0"/>
          </a:p>
        </p:txBody>
      </p:sp>
      <p:sp>
        <p:nvSpPr>
          <p:cNvPr id="33" name="Text 30"/>
          <p:cNvSpPr txBox="1"/>
          <p:nvPr/>
        </p:nvSpPr>
        <p:spPr>
          <a:xfrm>
            <a:off x="404164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houses</a:t>
            </a:r>
            <a:endParaRPr lang="en-US" sz="11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أَبْيَضُ</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766560" y="4478731"/>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بَاصٌ أَزْرَقُ</a:t>
            </a:r>
            <a:endParaRPr lang="ar-SA" sz="2400" dirty="0"/>
          </a:p>
        </p:txBody>
      </p:sp>
      <p:sp>
        <p:nvSpPr>
          <p:cNvPr id="39" name="Text 36"/>
          <p:cNvSpPr txBox="1"/>
          <p:nvPr/>
        </p:nvSpPr>
        <p:spPr>
          <a:xfrm>
            <a:off x="404164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bus (m.)</a:t>
            </a:r>
            <a:endParaRPr lang="en-US" sz="11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 زَرْقَاءُ</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766560" y="5215738"/>
            <a:ext cx="48737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دَفَاتِرُ صَفْرَاءُ</a:t>
            </a:r>
            <a:endParaRPr lang="ar-SA" sz="2400" dirty="0"/>
          </a:p>
        </p:txBody>
      </p:sp>
      <p:sp>
        <p:nvSpPr>
          <p:cNvPr id="43" name="Text 40"/>
          <p:cNvSpPr txBox="1"/>
          <p:nvPr/>
        </p:nvSpPr>
        <p:spPr>
          <a:xfrm>
            <a:off x="404164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notebooks</a:t>
            </a:r>
            <a:endParaRPr lang="en-US" sz="11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أَصْفَرُ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the noun, then every adjective feature it controls — and say why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حَقِيبَةٌ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feminine +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سَيَّارَاتٌ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Things in the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قَمِيصُ أُخْتِي الْبَيْضَاءُ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word is described?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حَقِيبَةٌ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حَقِيبَةٌ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Colours use faʿlāʾ, not +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سَيَّارَاتٌ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سَيَّارَاتٌ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Plural things → feminine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قَمِيصُ أُخْتِي الْبَيْضَاءُ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قَمِيصُ أُخْتِي الْأَبْيَضُ</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head noun, the shirt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flower”.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 أَصْفَرُ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 أَصْفَرَةٌ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زَهْرَةٌ صَفْرَاءُ</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white door”.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بَيْضَاءُ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أَبْيَضُ</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بَابٌ أَبْيَضَةٌ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“green leaves”.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أَوْرَاقٌ أَخْضَرُ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أَوْرَاقٌ خَضْرَاءُ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أَوْرَاقٌ 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flag is masculine. Choose “The flag is green and white.”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الْعَلَمُ خَضْرَاءُ وَبَيْضَاءُ.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الْعَلَمُ أَخْضَرَةٌ.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الْعَلَمُ أَخْضَرُ وَأَبْيَضُ.</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flower”.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زَهْرَةٌ أَصْفَرُ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زَهْرَةٌ أَصْفَرَةٌ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زَهْرَةٌ صَفْرَاءُ</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faʿlāʾ.</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white door”.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بَيْضَاءُ</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بَابٌ أَبْيَضُ</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بَابٌ أَبْيَضَةٌ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afʿal.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“green leaves”.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أَوْرَاقٌ أَخْضَرُ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أَوْرَاقٌ خَضْرَاءُ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أَوْرَاقٌ 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flag is masculine. Choose “The flag is green and white.”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الْعَلَمُ خَضْرَاءُ وَبَيْضَاءُ.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الْعَلَمُ أَخْضَرَةٌ.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الْعَلَمُ أَخْضَرُ وَأَبْيَضُ.</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Flag is masculine.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colourful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أَمَاكِنُ جَمِيلَةٌ وَشَوَارِعُ وَاسِعَةٌ. هَذِهِ الْمَدْرَسَةُ الْجَدِيدَةُ قَرِيبَةٌ، وَذَلِكَ الْمَتْحَفُ الْقَدِيمُ مُثِيرٌ لِلِاهْتِمَامِ. بَابُ الْمَتْحَفِ أَزْرَقُ، وَحَوْلَهُ أَشْجَارٌ خَضْرَاءُ وَزُهُورٌ صَفْرَاءُ. الْحَافِلَاتُ فِي الْمَدِينَةِ حَمْرَاءُ، وَالسَّمَاءُ زَرْقَاءُ فِي الصَّيْفِ.</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حَوْلَهُ</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around it</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زُهُورٌ</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flowers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الْحَافِلَاتُ</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buses</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museum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colour of the trees </a:t>
            </a:r>
            <a:pPr algn="l" indent="0" marL="0">
              <a:buNone/>
            </a:pPr>
            <a:r>
              <a:rPr lang="ar-SA" altLang="en-US" sz="1650" b="1" dirty="0">
                <a:solidFill>
                  <a:srgbClr val="1B3B6F"/>
                </a:solidFill>
                <a:latin typeface="Amiri" pitchFamily="2" charset="-78"/>
                <a:ea typeface="Amiri" pitchFamily="2" charset="-78"/>
                <a:cs typeface="Amiri" pitchFamily="2" charset="-78"/>
              </a:rPr>
              <a:t>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Trees are feminine people.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Trees are plural things.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السَّمَاءُ زَرْقَاءُ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feminine.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plural.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Sky is masculine.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describes the buses?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does </a:t>
            </a:r>
            <a:pPr algn="l" indent="0" marL="0">
              <a:buNone/>
            </a:pPr>
            <a:r>
              <a:rPr lang="ar-SA" altLang="en-US" sz="1650" b="1" dirty="0">
                <a:solidFill>
                  <a:srgbClr val="1B3B6F"/>
                </a:solidFill>
                <a:latin typeface="Amiri" pitchFamily="2" charset="-78"/>
                <a:ea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describe?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museum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Head noun of the iḍāfa: the door.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colour of the trees </a:t>
            </a:r>
            <a:pPr algn="l" indent="0" marL="0">
              <a:buNone/>
            </a:pPr>
            <a:r>
              <a:rPr lang="ar-SA" altLang="en-US" sz="1650" b="1" dirty="0">
                <a:solidFill>
                  <a:srgbClr val="1B3B6F"/>
                </a:solidFill>
                <a:latin typeface="Amiri" pitchFamily="2" charset="-78"/>
                <a:ea typeface="Amiri" pitchFamily="2" charset="-78"/>
                <a:cs typeface="Amiri" pitchFamily="2" charset="-78"/>
              </a:rPr>
              <a:t>خَضْرَاءُ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Trees are feminine people.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Trees are plural things.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السَّمَاءُ زَرْقَاءُ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Sky is feminine.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Sky is plural.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Sky is masculine.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describes the buses?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الْحَافِلَاتُ … حَمْرَاءُ.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are you wearing?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 قَمِيصِكَ؟ مَا لَوْنُ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بِالْأَلْوَانِ.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عَلَمَ بَلَدِكَ وَأَلْوَانَ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قَمِيصِي ___ ، وَحَقِيبَتِي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غُرْفَتِي سَرِيرٌ ___ وَسَتَائِرُ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عَلَمُ بَلَدِي ___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لَوْنُ حِذَائِكِ؟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colour are your shoes?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حِذَائِي أَسْوَدُ، وَحَقِيبَتِي حَمْرَاءُ، وَنَظَّارَتِي زَرْقَاءُ.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shoes are black, my bag is red and my glasses are blue.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six objects in your room with colours.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masculine, three feminine nouns.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 things and “What colour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Plural things → feminine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describe an outfit or a place, with one -iyy colour and one object in the accusative.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Brown, grey, orange: + ة.</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غُرْفَتِي سَتَائِرُ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room there are … curtains.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الْأَشْجَارُ فِي الْحَدِيقَةِ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trees in the garden are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colour is your car?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سَيَّارَةُ أَبِي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father’s car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قَمِيصِي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shirt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السَّمَاءُ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sky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قَلَمٌ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pen.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أَحْمَرُ  ·  حَمْرَاءُ  ·  أَخْضَرُ  ·  خَضْرَاءُ  ·  أَزْرَقُ  ·  زَرْقَاءُ  ·  أَصْفَرُ  ·  صَفْرَاءُ  ·  أَبْيَضُ  ·  بَيْضَاءُ  ·  أَسْوَدُ  ·  سَوْدَاءُ  ·  بُنِّيٌّ / بُنِّيَّةٌ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masculine nouns with afʿal colours.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feminine nouns with faʿlāʾ colours.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plural things with the feminine colour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-iyy colour with +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colour matches its HEAD noun.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قَمِيصٌ أَبْيَضُ</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white shirt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تَنُّورَةٌ زَرْقَاءُ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blue skirt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أَشْجَارٌ خَضْرَاءُ</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green trees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سَيَّارَاتٌ حَمْرَاءُ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 cars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حَقِيبَةٌ بُنِّيَّةٌ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brown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 …؟</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colour is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يَوْمِ الْعِيدِ لَبِسْتُ ثِيَابًا جَدِيدَةً: قَمِيصًا أَبْيَضَ وَبِنْطَالًا أَزْرَقَ وَحِذَاءً أَسْوَدَ. أُخْتِي لَبِسَتْ فُسْتَانًا أَخْضَرَ وَحِجَابًا وَرْدِيًّا. ذَهَبْنَا إِلَى حَدِيقَةٍ كَبِيرَةٍ فِيهَا أَشْجَارٌ خَضْرَاءُ وَزُهُورٌ حَمْرَاءُ وَصَفْرَاءُ. كَانَتِ السَّمَاءُ زَرْقَاءَ، وَكَانَ الْيَوْمُ جَمِيلًا.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Eid day I wore new clothes: a white shirt, blue trousers and black shoes. My sister wore a green dress and a pink headscarf. We went to a big park with green trees and red and yellow flowers. The sky was blue, and the day was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colours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colours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plural things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-iyy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colours use the right pair: afʿal or faʿlāʾ.</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added tāʾ marbūṭa to a basic colour.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have the feminine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colour matches its head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an -iyy colour and no tanwīn on basic colours.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black cat (f.)”.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قِطَّةٌ أَسْوَدُ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قِطَّةٌ سَوْدَاءُ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قِطَّةٌ أَسْوَدَةٌ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chairs”.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زَرْقَاءُ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أَزْرَقُ</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كَرَاسِيُّ أَزْرَقُونَ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Feminine of </a:t>
            </a:r>
            <a:pPr algn="l" indent="0" marL="0">
              <a:buNone/>
            </a:pPr>
            <a:r>
              <a:rPr lang="ar-SA" altLang="en-US" sz="1650" b="1" dirty="0">
                <a:solidFill>
                  <a:srgbClr val="1B3B6F"/>
                </a:solidFill>
                <a:latin typeface="Amiri" pitchFamily="2" charset="-78"/>
                <a:ea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بَيْضَاءُ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أَبْيَضَةٌ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بِيضٌ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Pattern faʿlāʾ.</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black cat (f.)”.</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قِطَّةٌ أَسْوَدُ</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قِطَّةٌ سَوْدَاءُ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قِطَّةٌ أَسْوَدَةٌ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faʿlāʾ.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chairs”.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كَرَاسِيُّ زَرْقَاءُ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كَرَاسِيُّ أَزْرَقُ</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كَرَاسِيُّ أَزْرَقُونَ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Plural things → feminine 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GM-ADJ-03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GM-ADJ-04 · Position and Full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adjective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definite (with 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نَكِرَةٌ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indefinite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English we say “a big house”. In Arabic, where does the adjective go — and what must it copy from the noun?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بَيْتٌ كَبِيرٌ · الْبَيْتُ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with their colour (masculine or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eight sentences describing clothes and plural things.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on an outfit or a colourful place.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GM-ADJ-04 · Position and Full Adjective Agreement</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مَوْقِعُ الصِّفَةِ وَالْمُطَابَقَةُ الْكَامِلَةُ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basic colours change shape — aḥmar · ḥamrāʾ · never “aḥmara” · plural things → feminine form · match the head noun · brown, grey, orange just add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GM-ADJ-03 · Colour Adjectives</dc:title>
  <dc:subject>PptxGenJS Presentation</dc:subject>
  <dc:creator>Al Madina Online School · Arabic Department</dc:creator>
  <cp:lastModifiedBy>Al Madina Online School · Arabic Department</cp:lastModifiedBy>
  <cp:revision>1</cp:revision>
  <dcterms:created xsi:type="dcterms:W3CDTF">2026-10-11T06:42:00Z</dcterms:created>
  <dcterms:modified xsi:type="dcterms:W3CDTF">2026-10-11T06:42:00Z</dcterms:modified>
</cp:coreProperties>
</file>