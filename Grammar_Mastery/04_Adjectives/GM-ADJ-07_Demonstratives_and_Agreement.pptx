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GM-ADJ-07 (“Demonstratives and Agreement”).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هَذَا / هَذِهِ with singular nouns; the noun after it takes al- for “this …” (هَذَا الْبَيْتُ). Develop: far forms ذَلِكَ / تِلْكَ; people plurals هَؤُلَاءِ / أُولَئِكَ; things plurals هَذِهِ / تِلْكَ. Stretch: phrase vs sentence (هَذَا كِتَابٌ · هَذَا الْكِتَابُ · هَذَا هُوَ الْكِتَابُ); dual هَذَانِ / هَاتَانِ; demonstrative after a possessive (كِتَابِي هَذَا).
• Spelling note: هَذَا, هَذِهِ, ذَلِكَ, هَؤُلَاءِ and أُولَئِكَ hide a long ā that is not written (hādhā, hādhihi, dhālika, hāʾulāʾi, ulāʾika). Say it, don’t write it.
• Links: GM-N-06 (non-human plurals → هَذِهِ) and GM-ADJ-01/04 (phrase vs sentence).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uses the five demonstratives prepared at the end of GM-ADJ-06.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Match the noun: hādhā / hādhihi near, dhālika / tilka far. Hāʾulāʾi / ulāʾika are for PEOPLE; plural things take hādhihi / tilka.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1–2 (3 min) — website “Near singular” and “Far singular”, plus the plural row from step 3. Gesture near (hand on desk) and far (point to the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(3 min) — website “Plural decision”. Thumbs up (person) / down (thing) routine from ADJ-02.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(3 min) — teacher-added, building on the website rule “the noun after a demonstrative is definite”. This links to ADJ-01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Use real objects on camera. For each: “Near or far? Masculine, feminine, people or things?” Then say the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Traps: tables and nurses both end in -āt; cats are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Traps: tables and nurses both end in -āt; cats are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(2 min). Extension: add an adjective with the right agreement (تِلْكَ الْجِبَالُ عَالِيَةٌ · أُولَئِكَ الْأَطِبَّاءُ مَشْغُولُونَ).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each demonstrative, draw an arrow to its noun, and label near/far and m./f./people/things.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with six accurate structures. Students share a photo on screen (or describe their room) and point as they speak.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(GM-ADJ-08 · Defective Adjectives) will spend class time USING this language, so students prepare it tonight — short, simple, easy to access (school guidance: “Simple, Short, Interesting, Relevant, Easy to access”). The five words prepare GM-ADJ-08 (website Adjectives lesson 8: defective adjectives).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ADJECTIVES  ·  GM-ADJ-07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GM-ADJ-07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cs typeface="Amiri" pitchFamily="2" charset="-78"/>
              </a:rPr>
              <a:t>Demonstratives and Agreement</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أَسْمَاءُ الْإِشَارَةِ وَالْمُطَابَقَةُ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This / that / these / those must match the noun: hādhā (m.), hādhihi (f.), dhālika, tilka — and hāʾulāʾi / ulāʾika for people only. Things in the plural take hādhihi / tilka. “This book” needs al-; “This is a book” does not.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GM-ADJ-07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Near and far; the plural decision; phrase or sentence.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Point and say; sort;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GM-ADJ-08.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الْمَدْرَسَةُ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teachers (m.)”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أُولَئِكَ الْمُعَلِّمُونَ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تِلْكَ الْمُعَلِّمُونَ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ذَلِكَ الْمُعَلِّمُونَ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books”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الْكُتُبُ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الْكُتُبُ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الْكُتُبُ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 car”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ذَلِكَ السَّيَّارَةُ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أُولَئِكَ السَّيَّارَةُ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تِلْكَ السَّيَّارَةُ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الْمَدْرَسَةُ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الْمَدْرَسَةُ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هَؤُلَاءِ الْمَدْرَسَةُ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School is feminine singular.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teachers (m.)”</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أُولَئِكَ الْمُعَلِّمُونَ</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تِلْكَ الْمُعَلِّمُونَ</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ذَلِكَ الْمُعَلِّمُونَ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plural, far away → ulāʾika.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books”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هَؤُلَاءِ الْكُتُبُ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الْكُتُبُ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الْكُتُبُ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non-human plural acts as feminine singular.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 car”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ذَلِكَ السَّيَّارَةُ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أُولَئِكَ السَّيَّارَةُ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تِلْكَ السَّيَّارَةُ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Car is feminine singular, far away.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00" b="1" dirty="0">
                <a:solidFill>
                  <a:srgbClr val="1F2A37"/>
                </a:solidFill>
                <a:latin typeface="Calibri" pitchFamily="34" charset="0"/>
                <a:cs typeface="Amiri" pitchFamily="2" charset="-78"/>
              </a:rPr>
              <a:t>Match the noun: hādhā / hādhihi near, dhālika / tilka far. Hāʾulāʾi / ulāʾika are for PEOPLE; plural things take hādhihi / tilka.</a:t>
            </a:r>
            <a:endParaRPr lang="en-US" sz="12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هَذِهِ</a:t>
            </a:r>
            <a:pPr rtl="1" algn="ctr" indent="0" marL="0">
              <a:buNone/>
            </a:pPr>
            <a:r>
              <a:rPr lang="ar-SA" altLang="en-US" sz="2400" b="1" dirty="0">
                <a:solidFill>
                  <a:srgbClr val="1B3B6F"/>
                </a:solidFill>
                <a:latin typeface="Amiri" pitchFamily="2" charset="-78"/>
                <a:ea typeface="Amiri" pitchFamily="2" charset="-78"/>
                <a:cs typeface="Amiri" pitchFamily="2" charset="-78"/>
              </a:rPr>
              <a:t> الْكُتُبُ ‖ </a:t>
            </a:r>
            <a:pPr rtl="1" algn="ctr" indent="0" marL="0">
              <a:buNone/>
            </a:pPr>
            <a:r>
              <a:rPr lang="ar-SA" altLang="en-US" sz="2400" b="1" dirty="0">
                <a:solidFill>
                  <a:srgbClr val="D6336C"/>
                </a:solidFill>
                <a:latin typeface="Amiri" pitchFamily="2" charset="-78"/>
                <a:ea typeface="Amiri" pitchFamily="2" charset="-78"/>
                <a:cs typeface="Amiri" pitchFamily="2" charset="-78"/>
              </a:rPr>
              <a:t>هَؤُلَاءِ</a:t>
            </a:r>
            <a:pPr rtl="1" algn="ctr" indent="0" marL="0">
              <a:buNone/>
            </a:pPr>
            <a:r>
              <a:rPr lang="ar-SA" altLang="en-US" sz="2400" b="1" dirty="0">
                <a:solidFill>
                  <a:srgbClr val="1B3B6F"/>
                </a:solidFill>
                <a:latin typeface="Amiri" pitchFamily="2" charset="-78"/>
                <a:ea typeface="Amiri" pitchFamily="2" charset="-78"/>
                <a:cs typeface="Amiri" pitchFamily="2" charset="-78"/>
              </a:rPr>
              <a:t> الطُّلَّابُ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this / that for masculine and feminine nouns.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these / those for people and for things correctly.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Put al- on the noun after a demonstrative for “this …”.</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“this book” from “This is a book.”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this house and this school.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put al- after hādhā for “this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that (m. / f.) and those for people.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hādhihi for plural things.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tell “this book” from “This is a book.”</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the dual and “my book, this one”.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 الْإِشَارَةِ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demonstrative (this / that)</a:t>
            </a:r>
            <a:endParaRPr lang="en-US" sz="1350" dirty="0"/>
          </a:p>
          <a:p>
            <a:pPr indent="0" marL="0">
              <a:buNone/>
            </a:pPr>
            <a:r>
              <a:rPr lang="en-US" sz="1100" i="1" dirty="0">
                <a:solidFill>
                  <a:srgbClr val="5A6472"/>
                </a:solidFill>
                <a:latin typeface="Calibri" pitchFamily="34" charset="0"/>
                <a:cs typeface="Amiri" pitchFamily="2" charset="-78"/>
              </a:rPr>
              <a:t>as-mu al-i-shā-ra-ti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هَذَا · تِلْكَ</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هَذَا · هَذِهِ</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this (m. · f.)</a:t>
            </a:r>
            <a:endParaRPr lang="en-US" sz="1350" dirty="0"/>
          </a:p>
          <a:p>
            <a:pPr indent="0" marL="0">
              <a:buNone/>
            </a:pPr>
            <a:r>
              <a:rPr lang="en-US" sz="1100" i="1" dirty="0">
                <a:solidFill>
                  <a:srgbClr val="5A6472"/>
                </a:solidFill>
                <a:latin typeface="Calibri" pitchFamily="34" charset="0"/>
                <a:cs typeface="Amiri" pitchFamily="2" charset="-78"/>
              </a:rPr>
              <a:t>hādhā · hādhihi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near</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ذَلِكَ · تِلْكَ</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that (m. · f.)</a:t>
            </a:r>
            <a:endParaRPr lang="en-US" sz="1350" dirty="0"/>
          </a:p>
          <a:p>
            <a:pPr indent="0" marL="0">
              <a:buNone/>
            </a:pPr>
            <a:r>
              <a:rPr lang="en-US" sz="1100" i="1" dirty="0">
                <a:solidFill>
                  <a:srgbClr val="5A6472"/>
                </a:solidFill>
                <a:latin typeface="Calibri" pitchFamily="34" charset="0"/>
                <a:cs typeface="Amiri" pitchFamily="2" charset="-78"/>
              </a:rPr>
              <a:t>dhālika · tilka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far</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هَؤُلَاءِ</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these (people)</a:t>
            </a:r>
            <a:endParaRPr lang="en-US" sz="1350" dirty="0"/>
          </a:p>
          <a:p>
            <a:pPr indent="0" marL="0">
              <a:buNone/>
            </a:pPr>
            <a:r>
              <a:rPr lang="en-US" sz="1100" i="1" dirty="0">
                <a:solidFill>
                  <a:srgbClr val="5A6472"/>
                </a:solidFill>
                <a:latin typeface="Calibri" pitchFamily="34" charset="0"/>
                <a:cs typeface="Amiri" pitchFamily="2" charset="-78"/>
              </a:rPr>
              <a:t>hāʾulāʾi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هَؤُلَاءِ الطُّلَّابُ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أُولَئِكَ</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those (people)</a:t>
            </a:r>
            <a:endParaRPr lang="en-US" sz="1350" dirty="0"/>
          </a:p>
          <a:p>
            <a:pPr indent="0" marL="0">
              <a:buNone/>
            </a:pPr>
            <a:r>
              <a:rPr lang="en-US" sz="1100" i="1" dirty="0">
                <a:solidFill>
                  <a:srgbClr val="5A6472"/>
                </a:solidFill>
                <a:latin typeface="Calibri" pitchFamily="34" charset="0"/>
                <a:cs typeface="Amiri" pitchFamily="2" charset="-78"/>
              </a:rPr>
              <a:t>ulāʾika</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أُولَئِكَ الْمُعَلِّمَاتُ</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الْمُشَارُ إِلَيْهِ</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noun pointed at</a:t>
            </a:r>
            <a:endParaRPr lang="en-US" sz="1350" dirty="0"/>
          </a:p>
          <a:p>
            <a:pPr indent="0" marL="0">
              <a:buNone/>
            </a:pPr>
            <a:r>
              <a:rPr lang="en-US" sz="1100" i="1" dirty="0">
                <a:solidFill>
                  <a:srgbClr val="5A6472"/>
                </a:solidFill>
                <a:latin typeface="Calibri" pitchFamily="34" charset="0"/>
                <a:cs typeface="Amiri" pitchFamily="2" charset="-78"/>
              </a:rPr>
              <a:t>al-mu-shā-ru i-lay-hi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needs al- in a phrase</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STEPS 1–2 · NEAR AND FAR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This and that — masculine and feminine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الْقَرِيبُ وَالْبَعِيدُ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583387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Far · that</a:t>
            </a:r>
            <a:endParaRPr lang="en-US" sz="1100" dirty="0"/>
          </a:p>
        </p:txBody>
      </p:sp>
      <p:sp>
        <p:nvSpPr>
          <p:cNvPr id="18" name="Text 15"/>
          <p:cNvSpPr txBox="1"/>
          <p:nvPr/>
        </p:nvSpPr>
        <p:spPr>
          <a:xfrm>
            <a:off x="27249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Near · this</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979408" y="2267712"/>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website examples</a:t>
            </a:r>
            <a:endParaRPr lang="en-US" sz="1100" dirty="0"/>
          </a:p>
        </p:txBody>
      </p:sp>
      <p:sp>
        <p:nvSpPr>
          <p:cNvPr id="22" name="Text 19"/>
          <p:cNvSpPr txBox="1"/>
          <p:nvPr/>
        </p:nvSpPr>
        <p:spPr>
          <a:xfrm>
            <a:off x="585216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ذَلِكَ الشَّارِعُ</a:t>
            </a:r>
            <a:endParaRPr lang="ar-SA" sz="2400" dirty="0"/>
          </a:p>
        </p:txBody>
      </p:sp>
      <p:sp>
        <p:nvSpPr>
          <p:cNvPr id="23" name="Text 20"/>
          <p:cNvSpPr txBox="1"/>
          <p:nvPr/>
        </p:nvSpPr>
        <p:spPr>
          <a:xfrm>
            <a:off x="274320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هَذَا الْبَيْتُ</a:t>
            </a:r>
            <a:endParaRPr lang="ar-SA" sz="24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979408" y="300471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website examples</a:t>
            </a:r>
            <a:endParaRPr lang="en-US" sz="1100" dirty="0"/>
          </a:p>
        </p:txBody>
      </p:sp>
      <p:sp>
        <p:nvSpPr>
          <p:cNvPr id="29" name="Text 26"/>
          <p:cNvSpPr txBox="1"/>
          <p:nvPr/>
        </p:nvSpPr>
        <p:spPr>
          <a:xfrm>
            <a:off x="585216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تِلْكَ السَّيَّارَةُ</a:t>
            </a:r>
            <a:endParaRPr lang="ar-SA" sz="2400" dirty="0"/>
          </a:p>
        </p:txBody>
      </p:sp>
      <p:sp>
        <p:nvSpPr>
          <p:cNvPr id="30" name="Text 27"/>
          <p:cNvSpPr txBox="1"/>
          <p:nvPr/>
        </p:nvSpPr>
        <p:spPr>
          <a:xfrm>
            <a:off x="274320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هَذِهِ الْمَدْرَسَةُ</a:t>
            </a:r>
            <a:endParaRPr lang="ar-SA" sz="24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979408" y="3741725"/>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men or women</a:t>
            </a:r>
            <a:endParaRPr lang="en-US" sz="1100" dirty="0"/>
          </a:p>
        </p:txBody>
      </p:sp>
      <p:sp>
        <p:nvSpPr>
          <p:cNvPr id="36" name="Text 33"/>
          <p:cNvSpPr txBox="1"/>
          <p:nvPr/>
        </p:nvSpPr>
        <p:spPr>
          <a:xfrm>
            <a:off x="585216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أُولَئِكَ الْمُعَلِّمَاتُ</a:t>
            </a:r>
            <a:endParaRPr lang="ar-SA" sz="2400" dirty="0"/>
          </a:p>
        </p:txBody>
      </p:sp>
      <p:sp>
        <p:nvSpPr>
          <p:cNvPr id="37" name="Text 34"/>
          <p:cNvSpPr txBox="1"/>
          <p:nvPr/>
        </p:nvSpPr>
        <p:spPr>
          <a:xfrm>
            <a:off x="274320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هَؤُلَاءِ الطُّلَّابُ</a:t>
            </a:r>
            <a:endParaRPr lang="ar-SA" sz="24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people (plural)</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979408" y="4478731"/>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singular!</a:t>
            </a:r>
            <a:endParaRPr lang="en-US" sz="1100" dirty="0"/>
          </a:p>
        </p:txBody>
      </p:sp>
      <p:sp>
        <p:nvSpPr>
          <p:cNvPr id="43" name="Text 40"/>
          <p:cNvSpPr txBox="1"/>
          <p:nvPr/>
        </p:nvSpPr>
        <p:spPr>
          <a:xfrm>
            <a:off x="585216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تِلْكَ السَّيَّارَاتُ</a:t>
            </a:r>
            <a:endParaRPr lang="ar-SA" sz="2400" dirty="0"/>
          </a:p>
        </p:txBody>
      </p:sp>
      <p:sp>
        <p:nvSpPr>
          <p:cNvPr id="44" name="Text 41"/>
          <p:cNvSpPr txBox="1"/>
          <p:nvPr/>
        </p:nvSpPr>
        <p:spPr>
          <a:xfrm>
            <a:off x="274320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هَذِهِ الْكُتُبُ</a:t>
            </a:r>
            <a:endParaRPr lang="ar-SA" sz="2400" dirty="0"/>
          </a:p>
        </p:txBody>
      </p:sp>
      <p:sp>
        <p:nvSpPr>
          <p:cNvPr id="45" name="Text 42"/>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(plural)</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979408" y="521573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recognition</a:t>
            </a:r>
            <a:endParaRPr lang="en-US" sz="1100" dirty="0"/>
          </a:p>
        </p:txBody>
      </p:sp>
      <p:sp>
        <p:nvSpPr>
          <p:cNvPr id="50" name="Text 47"/>
          <p:cNvSpPr txBox="1"/>
          <p:nvPr/>
        </p:nvSpPr>
        <p:spPr>
          <a:xfrm>
            <a:off x="587044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1" name="Text 48"/>
          <p:cNvSpPr txBox="1"/>
          <p:nvPr/>
        </p:nvSpPr>
        <p:spPr>
          <a:xfrm>
            <a:off x="2743200" y="5215738"/>
            <a:ext cx="2926080" cy="682142"/>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هَذَانِ الْكِتَابَانِ · هَاتَانِ الْبِنْتَانِ</a:t>
            </a:r>
            <a:endParaRPr lang="ar-SA" sz="1950" dirty="0"/>
          </a:p>
        </p:txBody>
      </p:sp>
      <p:sp>
        <p:nvSpPr>
          <p:cNvPr id="52" name="Text 49"/>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(Stretch)</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noun after a demonstrative in “this / that noun” is definite — it takes al-.</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3 · THE PLURAL DECISION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People or things? Choose the demonstrative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قَرَارُ الْجَمْعِ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Hāʾulāʾi (these) and ulāʾika (those) are mainly for HUMAN plurals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They work for men and women alike.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Non-human plurals are grammatically feminine singular, so use hādhihi / tilka (website).</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Website clinic: do not use hāʾulāʾi for every plural.</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Ask the same question as GM-N-06: “Is it a person?”</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هَؤُلَاءِ الطُّلَّابُ مُجْتَهِدُونَ.</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These students are hard-working.  ·  people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أُولَئِكَ الْمُعَلِّمَاتُ لَطِيفَاتٌ.</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Those teachers (f.) are kind.  ·  people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هَذِهِ الْكُتُبُ مُفِيدَةٌ.</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These books are useful.  ·  things</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تِلْكَ الْقِطَطُ صَغِيرَةٌ.</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Those cats are small.  ·  animals</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WEBSITE CLINIC</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common errors: hāʾulāʾi with things (hāʾulāʾi l-kutub ✗), and forgetting al- after the demonstrative.</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4 · PHRASE OR SENTENCE?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“This book” or “This is a book”?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عِبَارَةٌ أَمْ 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47365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noun without al- → sentence</a:t>
            </a:r>
            <a:endParaRPr lang="en-US" sz="1100" dirty="0"/>
          </a:p>
        </p:txBody>
      </p:sp>
      <p:sp>
        <p:nvSpPr>
          <p:cNvPr id="21" name="Text 18"/>
          <p:cNvSpPr txBox="1"/>
          <p:nvPr/>
        </p:nvSpPr>
        <p:spPr>
          <a:xfrm>
            <a:off x="47731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a book.</a:t>
            </a:r>
            <a:endParaRPr lang="en-US" sz="1100" dirty="0"/>
          </a:p>
        </p:txBody>
      </p:sp>
      <p:sp>
        <p:nvSpPr>
          <p:cNvPr id="22" name="Text 19"/>
          <p:cNvSpPr txBox="1"/>
          <p:nvPr/>
        </p:nvSpPr>
        <p:spPr>
          <a:xfrm>
            <a:off x="548640" y="2267712"/>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هَذَا كِتَابٌ.</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 phrase; it needs more</a:t>
            </a:r>
            <a:endParaRPr lang="en-US" sz="1100" dirty="0"/>
          </a:p>
        </p:txBody>
      </p:sp>
      <p:sp>
        <p:nvSpPr>
          <p:cNvPr id="27" name="Text 24"/>
          <p:cNvSpPr txBox="1"/>
          <p:nvPr/>
        </p:nvSpPr>
        <p:spPr>
          <a:xfrm>
            <a:off x="47731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book …</a:t>
            </a:r>
            <a:endParaRPr lang="en-US" sz="1100" dirty="0"/>
          </a:p>
        </p:txBody>
      </p:sp>
      <p:sp>
        <p:nvSpPr>
          <p:cNvPr id="28" name="Text 25"/>
          <p:cNvSpPr txBox="1"/>
          <p:nvPr/>
        </p:nvSpPr>
        <p:spPr>
          <a:xfrm>
            <a:off x="548640" y="3004718"/>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هَذَا الْكِتَابُ …</a:t>
            </a:r>
            <a:endParaRPr lang="ar-SA" sz="26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phrase + adjective → sentence</a:t>
            </a:r>
            <a:endParaRPr lang="en-US" sz="1100" dirty="0"/>
          </a:p>
        </p:txBody>
      </p:sp>
      <p:sp>
        <p:nvSpPr>
          <p:cNvPr id="33" name="Text 30"/>
          <p:cNvSpPr txBox="1"/>
          <p:nvPr/>
        </p:nvSpPr>
        <p:spPr>
          <a:xfrm>
            <a:off x="47731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book is useful.</a:t>
            </a:r>
            <a:endParaRPr lang="en-US" sz="1100" dirty="0"/>
          </a:p>
        </p:txBody>
      </p:sp>
      <p:sp>
        <p:nvSpPr>
          <p:cNvPr id="34" name="Text 31"/>
          <p:cNvSpPr txBox="1"/>
          <p:nvPr/>
        </p:nvSpPr>
        <p:spPr>
          <a:xfrm>
            <a:off x="548640" y="3741725"/>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هَذَا الْكِتَابُ مُفِيدٌ.</a:t>
            </a:r>
            <a:endParaRPr lang="ar-SA" sz="26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huwa / hiya to keep it a sentence</a:t>
            </a:r>
            <a:endParaRPr lang="en-US" sz="1100" dirty="0"/>
          </a:p>
        </p:txBody>
      </p:sp>
      <p:sp>
        <p:nvSpPr>
          <p:cNvPr id="39" name="Text 36"/>
          <p:cNvSpPr txBox="1"/>
          <p:nvPr/>
        </p:nvSpPr>
        <p:spPr>
          <a:xfrm>
            <a:off x="47731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THE book.</a:t>
            </a:r>
            <a:endParaRPr lang="en-US" sz="1100" dirty="0"/>
          </a:p>
        </p:txBody>
      </p:sp>
      <p:sp>
        <p:nvSpPr>
          <p:cNvPr id="40" name="Text 37"/>
          <p:cNvSpPr txBox="1"/>
          <p:nvPr/>
        </p:nvSpPr>
        <p:spPr>
          <a:xfrm>
            <a:off x="548640" y="4478731"/>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هَذَا هُوَ الْكِتَابُ.</a:t>
            </a:r>
            <a:endParaRPr lang="ar-SA" sz="26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possessive noun → demonstrative goes after</a:t>
            </a:r>
            <a:endParaRPr lang="en-US" sz="1100" dirty="0"/>
          </a:p>
        </p:txBody>
      </p:sp>
      <p:sp>
        <p:nvSpPr>
          <p:cNvPr id="43" name="Text 40"/>
          <p:cNvSpPr txBox="1"/>
          <p:nvPr/>
        </p:nvSpPr>
        <p:spPr>
          <a:xfrm>
            <a:off x="47731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book of mine</a:t>
            </a:r>
            <a:endParaRPr lang="en-US" sz="1100" dirty="0"/>
          </a:p>
        </p:txBody>
      </p:sp>
      <p:sp>
        <p:nvSpPr>
          <p:cNvPr id="44" name="Text 41"/>
          <p:cNvSpPr txBox="1"/>
          <p:nvPr/>
        </p:nvSpPr>
        <p:spPr>
          <a:xfrm>
            <a:off x="548640" y="5215738"/>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كِتَابِي هَذَا</a:t>
            </a:r>
            <a:endParaRPr lang="ar-SA" sz="26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Stretch: hādhā + al-noun is only “this …” — add a predicate, or a pronoun, to make a full sentence.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garden (f.)”.</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الْحَدِيقَةُ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حَدِيقَةٌ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الْحَدِيقَةُ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men”.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أُولَئِكَ الرِّجَالُ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تِلْكَ الرِّجَالُ</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ذَلِكَ الرِّجَالُ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houses”.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الْبُيُوتُ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الْبُيُوتُ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الْبُيُوتُ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هَذِهِ سَيَّارَةٌ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is a car.</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car</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these cars</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garden (f.)”.</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الْحَدِيقَةُ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حَدِيقَةٌ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الْحَدِيقَةُ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 al-.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men”.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أُولَئِكَ الرِّجَالُ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تِلْكَ الرِّجَالُ</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ذَلِكَ الرِّجَالُ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far → ulāʾika.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houses”.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هَؤُلَاءِ الْبُيُوتُ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الْبُيُوتُ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الْبُيُوتُ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things → hādhihi.</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هَذِهِ سَيَّارَةٌ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This is a car.</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car</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these cars</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al- → a sentence.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point and choose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Near, 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هَذَا الْقَلَمُ</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Masculine, here.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Far, f.</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تِلْكَ النَّافِذَةُ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there.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People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هَؤُلَاءِ الطُّلَّابُ</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Human plural.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Things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هَذِهِ الْكَرَاسِيُّ</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Plural things → hādhihi.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DEMONSTRATIVE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NOUN WITH AL-</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2" charset="-78"/>
                <a:ea typeface="Amiri" pitchFamily="2" charset="-78"/>
                <a:cs typeface="Amiri" pitchFamily="2" charset="-78"/>
              </a:rPr>
              <a:t>هَذَا</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الْقَلَمُ</a:t>
            </a:r>
            <a:pPr rtl="1" algn="r" indent="0" marL="0">
              <a:buNone/>
            </a:pPr>
            <a:r>
              <a:rPr lang="ar-SA" altLang="en-US" sz="2600" b="1" dirty="0">
                <a:solidFill>
                  <a:srgbClr val="1B3B6F"/>
                </a:solidFill>
                <a:latin typeface="Amiri" pitchFamily="2" charset="-78"/>
                <a:ea typeface="Amiri" pitchFamily="2" charset="-78"/>
                <a:cs typeface="Amiri" pitchFamily="2" charset="-78"/>
              </a:rPr>
              <a:t> لِي، وَ</a:t>
            </a:r>
            <a:pPr rtl="1" algn="r" indent="0" marL="0">
              <a:buNone/>
            </a:pPr>
            <a:r>
              <a:rPr lang="ar-SA" altLang="en-US" sz="2600" b="1" dirty="0">
                <a:solidFill>
                  <a:srgbClr val="0E7C86"/>
                </a:solidFill>
                <a:latin typeface="Amiri" pitchFamily="2" charset="-78"/>
                <a:ea typeface="Amiri" pitchFamily="2" charset="-78"/>
                <a:cs typeface="Amiri" pitchFamily="2" charset="-78"/>
              </a:rPr>
              <a:t>تِلْكَ</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الْحَقِيبَةُ</a:t>
            </a:r>
            <a:pPr rtl="1" algn="r" indent="0" marL="0">
              <a:buNone/>
            </a:pPr>
            <a:r>
              <a:rPr lang="ar-SA" altLang="en-US" sz="2600" b="1" dirty="0">
                <a:solidFill>
                  <a:srgbClr val="1B3B6F"/>
                </a:solidFill>
                <a:latin typeface="Amiri" pitchFamily="2" charset="-78"/>
                <a:ea typeface="Amiri" pitchFamily="2" charset="-78"/>
                <a:cs typeface="Amiri" pitchFamily="2" charset="-78"/>
              </a:rPr>
              <a:t> لِأُخْتِي. </a:t>
            </a:r>
            <a:pPr rtl="1" algn="r" indent="0" marL="0">
              <a:buNone/>
            </a:pPr>
            <a:r>
              <a:rPr lang="ar-SA" altLang="en-US" sz="2600" b="1" dirty="0">
                <a:solidFill>
                  <a:srgbClr val="0E7C86"/>
                </a:solidFill>
                <a:latin typeface="Amiri" pitchFamily="2" charset="-78"/>
                <a:ea typeface="Amiri" pitchFamily="2" charset="-78"/>
                <a:cs typeface="Amiri" pitchFamily="2" charset="-78"/>
              </a:rPr>
              <a:t>هَؤُلَاءِ</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الطُّلَّابُ</a:t>
            </a:r>
            <a:pPr rtl="1" algn="r" indent="0" marL="0">
              <a:buNone/>
            </a:pPr>
            <a:r>
              <a:rPr lang="ar-SA" altLang="en-US" sz="2600" b="1" dirty="0">
                <a:solidFill>
                  <a:srgbClr val="1B3B6F"/>
                </a:solidFill>
                <a:latin typeface="Amiri" pitchFamily="2" charset="-78"/>
                <a:ea typeface="Amiri" pitchFamily="2" charset="-78"/>
                <a:cs typeface="Amiri" pitchFamily="2" charset="-78"/>
              </a:rPr>
              <a:t> أَصْدِقَائِي، وَ</a:t>
            </a:r>
            <a:pPr rtl="1" algn="r" indent="0" marL="0">
              <a:buNone/>
            </a:pPr>
            <a:r>
              <a:rPr lang="ar-SA" altLang="en-US" sz="2600" b="1" dirty="0">
                <a:solidFill>
                  <a:srgbClr val="0E7C86"/>
                </a:solidFill>
                <a:latin typeface="Amiri" pitchFamily="2" charset="-78"/>
                <a:ea typeface="Amiri" pitchFamily="2" charset="-78"/>
                <a:cs typeface="Amiri" pitchFamily="2" charset="-78"/>
              </a:rPr>
              <a:t>هَذِهِ</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الْكُتُبُ</a:t>
            </a:r>
            <a:pPr rtl="1" algn="r" indent="0" marL="0">
              <a:buNone/>
            </a:pPr>
            <a:r>
              <a:rPr lang="ar-SA" altLang="en-US" sz="2600" b="1" dirty="0">
                <a:solidFill>
                  <a:srgbClr val="1B3B6F"/>
                </a:solidFill>
                <a:latin typeface="Amiri" pitchFamily="2" charset="-78"/>
                <a:ea typeface="Amiri" pitchFamily="2" charset="-78"/>
                <a:cs typeface="Amiri" pitchFamily="2" charset="-78"/>
              </a:rPr>
              <a:t> لَهُمْ.</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This pen is mine, and that bag is my sister’s. These students are my friends, and these books are theirs.</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الْبَيْتُ كَبِيرٌ.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house is big.</a:t>
            </a:r>
            <a:endParaRPr lang="en-US" sz="1250" dirty="0"/>
          </a:p>
          <a:p>
            <a:pPr indent="0" marL="0">
              <a:buNone/>
            </a:pPr>
            <a:r>
              <a:rPr lang="en-US" sz="1050" i="1" dirty="0">
                <a:solidFill>
                  <a:srgbClr val="8A6D1E"/>
                </a:solidFill>
                <a:latin typeface="Calibri" pitchFamily="34" charset="0"/>
                <a:cs typeface="Amiri" pitchFamily="2" charset="-78"/>
              </a:rPr>
              <a:t>Website model bank + predicate.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تِلْكَ الْكُتُبُ قَدِيمَةٌ.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Those books are old.</a:t>
            </a:r>
            <a:endParaRPr lang="en-US" sz="1250" dirty="0"/>
          </a:p>
          <a:p>
            <a:pPr indent="0" marL="0">
              <a:buNone/>
            </a:pPr>
            <a:r>
              <a:rPr lang="en-US" sz="1050" i="1" dirty="0">
                <a:solidFill>
                  <a:srgbClr val="8A6D1E"/>
                </a:solidFill>
                <a:latin typeface="Calibri" pitchFamily="34" charset="0"/>
                <a:cs typeface="Amiri" pitchFamily="2" charset="-78"/>
              </a:rPr>
              <a:t>Website model bank: things.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هَؤُلَاءِ اللَّاعِبُونَ مَشْهُورُونَ.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These players are famous.</a:t>
            </a:r>
            <a:endParaRPr lang="en-US" sz="1250" dirty="0"/>
          </a:p>
          <a:p>
            <a:pPr indent="0" marL="0">
              <a:buNone/>
            </a:pPr>
            <a:r>
              <a:rPr lang="en-US" sz="1050" i="1" dirty="0">
                <a:solidFill>
                  <a:srgbClr val="8A6D1E"/>
                </a:solidFill>
                <a:latin typeface="Calibri" pitchFamily="34" charset="0"/>
                <a:cs typeface="Amiri" pitchFamily="2" charset="-78"/>
              </a:rPr>
              <a:t>People: plural adjective.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مَنْ ذَلِكَ الرَّجُلُ؟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Who is that man?</a:t>
            </a:r>
            <a:endParaRPr lang="en-US" sz="1250" dirty="0"/>
          </a:p>
          <a:p>
            <a:pPr indent="0" marL="0">
              <a:buNone/>
            </a:pPr>
            <a:r>
              <a:rPr lang="en-US" sz="1050" i="1" dirty="0">
                <a:solidFill>
                  <a:srgbClr val="8A6D1E"/>
                </a:solidFill>
                <a:latin typeface="Calibri" pitchFamily="34" charset="0"/>
                <a:cs typeface="Amiri" pitchFamily="2" charset="-78"/>
              </a:rPr>
              <a:t>Questions with demonstratives.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HĀDHIHI OR HĀʾULĀʾI?</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“these”?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هَذِهِ أَمْ هَؤُلَاءِ؟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الطَّاوِلَاتُ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الْمُمَرِّضَاتُ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الْغُرْفَةُ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الْأَطْفَالُ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الْأَشْجَارُ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الْجِيرَانُ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الْقِطَطُ</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اللَّاعِبَاتُ</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hādhihi (f. sing. / things)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hāʾulāʾi (people)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hādhihi (f. sing. / things)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الطَّاوِلَاتُ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الْغُرْفَةُ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الْأَشْجَارُ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الْقِطَطُ</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hāʾulāʾi (people)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الْمُمَرِّضَاتُ</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الْأَطْفَالُ</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الْجِيرَانُ</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اللَّاعِبَاتُ</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NEAR TO FAR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Change “this” to “that”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الْقَرِيبِ إِلَى الْبَعِيدِ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437083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Far</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Near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47888" y="2267712"/>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 that mosque</a:t>
            </a:r>
            <a:endParaRPr lang="en-US" sz="1100" dirty="0"/>
          </a:p>
        </p:txBody>
      </p:sp>
      <p:sp>
        <p:nvSpPr>
          <p:cNvPr id="21" name="Text 18"/>
          <p:cNvSpPr txBox="1"/>
          <p:nvPr/>
        </p:nvSpPr>
        <p:spPr>
          <a:xfrm>
            <a:off x="4389120" y="2267712"/>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ذَلِكَ الْمَسْجِدُ</a:t>
            </a:r>
            <a:endParaRPr lang="ar-SA" sz="2400" dirty="0"/>
          </a:p>
        </p:txBody>
      </p:sp>
      <p:sp>
        <p:nvSpPr>
          <p:cNvPr id="22" name="Text 19"/>
          <p:cNvSpPr txBox="1"/>
          <p:nvPr/>
        </p:nvSpPr>
        <p:spPr>
          <a:xfrm>
            <a:off x="548640" y="2267712"/>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هَذَا الْمَسْجِدُ</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247888" y="300471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 that library</a:t>
            </a:r>
            <a:endParaRPr lang="en-US" sz="1100" dirty="0"/>
          </a:p>
        </p:txBody>
      </p:sp>
      <p:sp>
        <p:nvSpPr>
          <p:cNvPr id="27" name="Text 24"/>
          <p:cNvSpPr txBox="1"/>
          <p:nvPr/>
        </p:nvSpPr>
        <p:spPr>
          <a:xfrm>
            <a:off x="4389120" y="300471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تِلْكَ الْمَكْتَبَةُ</a:t>
            </a:r>
            <a:endParaRPr lang="ar-SA" sz="2400" dirty="0"/>
          </a:p>
        </p:txBody>
      </p:sp>
      <p:sp>
        <p:nvSpPr>
          <p:cNvPr id="28" name="Text 25"/>
          <p:cNvSpPr txBox="1"/>
          <p:nvPr/>
        </p:nvSpPr>
        <p:spPr>
          <a:xfrm>
            <a:off x="548640" y="300471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هَذِهِ الْمَكْتَبَةُ</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247888" y="3741725"/>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these / those doctors</a:t>
            </a:r>
            <a:endParaRPr lang="en-US" sz="1100" dirty="0"/>
          </a:p>
        </p:txBody>
      </p:sp>
      <p:sp>
        <p:nvSpPr>
          <p:cNvPr id="33" name="Text 30"/>
          <p:cNvSpPr txBox="1"/>
          <p:nvPr/>
        </p:nvSpPr>
        <p:spPr>
          <a:xfrm>
            <a:off x="4389120" y="3741725"/>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أُولَئِكَ الْأَطِبَّاءُ</a:t>
            </a:r>
            <a:endParaRPr lang="ar-SA" sz="2400" dirty="0"/>
          </a:p>
        </p:txBody>
      </p:sp>
      <p:sp>
        <p:nvSpPr>
          <p:cNvPr id="34" name="Text 31"/>
          <p:cNvSpPr txBox="1"/>
          <p:nvPr/>
        </p:nvSpPr>
        <p:spPr>
          <a:xfrm>
            <a:off x="548640" y="3741725"/>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هَؤُلَاءِ الْأَطِبَّاءُ</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247888" y="4478731"/>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these / those buses</a:t>
            </a:r>
            <a:endParaRPr lang="en-US" sz="1100" dirty="0"/>
          </a:p>
        </p:txBody>
      </p:sp>
      <p:sp>
        <p:nvSpPr>
          <p:cNvPr id="39" name="Text 36"/>
          <p:cNvSpPr txBox="1"/>
          <p:nvPr/>
        </p:nvSpPr>
        <p:spPr>
          <a:xfrm>
            <a:off x="4389120" y="4478731"/>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تِلْكَ الْحَافِلَاتُ</a:t>
            </a:r>
            <a:endParaRPr lang="ar-SA" sz="2400" dirty="0"/>
          </a:p>
        </p:txBody>
      </p:sp>
      <p:sp>
        <p:nvSpPr>
          <p:cNvPr id="40" name="Text 37"/>
          <p:cNvSpPr txBox="1"/>
          <p:nvPr/>
        </p:nvSpPr>
        <p:spPr>
          <a:xfrm>
            <a:off x="548640" y="4478731"/>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هَذِهِ الْحَافِلَاتُ</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8247888" y="521573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these / those mountains</a:t>
            </a:r>
            <a:endParaRPr lang="en-US" sz="1100" dirty="0"/>
          </a:p>
        </p:txBody>
      </p:sp>
      <p:sp>
        <p:nvSpPr>
          <p:cNvPr id="43" name="Text 40"/>
          <p:cNvSpPr txBox="1"/>
          <p:nvPr/>
        </p:nvSpPr>
        <p:spPr>
          <a:xfrm>
            <a:off x="4389120" y="521573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تِلْكَ الْجِبَالُ</a:t>
            </a:r>
            <a:endParaRPr lang="ar-SA" sz="2400" dirty="0"/>
          </a:p>
        </p:txBody>
      </p:sp>
      <p:sp>
        <p:nvSpPr>
          <p:cNvPr id="44" name="Text 41"/>
          <p:cNvSpPr txBox="1"/>
          <p:nvPr/>
        </p:nvSpPr>
        <p:spPr>
          <a:xfrm>
            <a:off x="548640" y="521573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هَذِهِ الْجِبَالُ</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the “Far” column. Students say it, then make one full sentence with an adjective.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هَؤُلَاءِ الْكُتُبُ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People or things?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الْمَدِينَةُ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city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ذَلِكَ رَجُلٌ طَوِيلٌ.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Phrase or sentence?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هَؤُلَاءِ الْكُتُبُ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الْكُتُبُ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Plural things → hādhihi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الْمَدِينَةُ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الْمَدِينَةُ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City is feminine.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ذَلِكَ رَجُلٌ طَوِيلٌ.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ذَلِكَ الرَّجُلُ طَوِيلٌ.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 “that man is tall”, the noun needs al-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 city”.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ذَلِكَ الْمَدِينَةُ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تِلْكَ مَدِينَةٌ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تِلْكَ الْمَدِينَةُ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girls are clever.”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الْبَنَاتُ ذَكِيَّةٌ.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الْبَنَاتُ ذَكِيَّاتٌ.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الْبَنَاتُ ذَكِيَّةٌ.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trees are tall.”</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أُولَئِكَ الْأَشْجَارُ عَالِيَةٌ.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تِلْكَ الْأَشْجَارُ عَالِيَةٌ.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تِلْكَ الْأَشْجَارُ عَالِيَاتٌ.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the right answer.”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الْجَوَابُ الصَّحِيحُ.</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جَوَابٌ الصَّحِيحُ.</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هُوَ الْجَوَابُ الصَّحِيحُ.</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 city”.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ذَلِكَ الْمَدِينَةُ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تِلْكَ مَدِينَةٌ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تِلْكَ الْمَدِينَةُ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far, 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girls are clever.”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الْبَنَاتُ ذَكِيَّةٌ.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هَؤُلَاءِ الْبَنَاتُ ذَكِيَّاتٌ.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هَؤُلَاءِ الْبَنَاتُ ذَكِيَّةٌ.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hāʾulāʾi + plural adjective.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trees are tall.”</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أُولَئِكَ الْأَشْجَارُ عَالِيَةٌ.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تِلْكَ الْأَشْجَارُ عَالِيَةٌ.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تِلْكَ الْأَشْجَارُ عَالِيَاتٌ.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Things: tilka + feminine singular.</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the right answer.”</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الْجَوَابُ الصَّحِيحُ.</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جَوَابٌ الصَّحِيحُ.</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 هُوَ الْجَوَابُ الصَّحِيحُ.</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Add huwa to make a sentence.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cs typeface="Amiri" pitchFamily="2" charset="-78"/>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tour of my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مَدِينَتِي أَمَاكِنُ جَمِيلَةٌ وَشَوَارِعُ وَاسِعَةٌ. هَذِهِ الْمَدْرَسَةُ الْجَدِيدَةُ قَرِيبَةٌ، وَذَلِكَ الْمَتْحَفُ الْقَدِيمُ مُثِيرٌ لِلِاهْتِمَامِ. هَؤُلَاءِ الْأَطْفَالُ يَلْعَبُونَ فِي تِلْكَ الْحَدِيقَةِ، وَأُولَئِكَ الرِّجَالُ يَعْمَلُونَ فِي السُّوقِ. هَذِهِ الْمَحَلَّاتُ رَخِيصَةٌ.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الْمَتْحَفُ</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museum</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مُثِيرٌ لِلِاهْتِمَامِ</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interesting</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يَلْعَبُونَ</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are playing</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يَعْمَلُونَ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are working</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الْمَحَلَّاتُ</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shops</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رَخِيصَةٌ</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cheap</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ذَلِكَ</a:t>
            </a:r>
            <a:pPr algn="l" indent="0" marL="0">
              <a:buNone/>
            </a:pPr>
            <a:r>
              <a:rPr lang="en-US" sz="1250" b="1" dirty="0">
                <a:solidFill>
                  <a:srgbClr val="1B3B6F"/>
                </a:solidFill>
                <a:latin typeface="Calibri" pitchFamily="34" charset="0"/>
                <a:cs typeface="Amiri" pitchFamily="2" charset="-78"/>
              </a:rPr>
              <a:t> before the museum?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Museum is feminine.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Museum is masculine and far.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Museum is plural.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هَؤُلَاءِ</a:t>
            </a:r>
            <a:pPr algn="l" indent="0" marL="0">
              <a:buNone/>
            </a:pPr>
            <a:r>
              <a:rPr lang="en-US" sz="1250" b="1" dirty="0">
                <a:solidFill>
                  <a:srgbClr val="1B3B6F"/>
                </a:solidFill>
                <a:latin typeface="Calibri" pitchFamily="34" charset="0"/>
                <a:cs typeface="Amiri" pitchFamily="2" charset="-78"/>
              </a:rPr>
              <a:t> before the children?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Children are things.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Children are feminine.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Children are people.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هَذِهِ</a:t>
            </a:r>
            <a:pPr algn="l" indent="0" marL="0">
              <a:buNone/>
            </a:pPr>
            <a:r>
              <a:rPr lang="en-US" sz="1250" b="1" dirty="0">
                <a:solidFill>
                  <a:srgbClr val="1B3B6F"/>
                </a:solidFill>
                <a:latin typeface="Calibri" pitchFamily="34" charset="0"/>
                <a:cs typeface="Amiri" pitchFamily="2" charset="-78"/>
              </a:rPr>
              <a:t> before the shops?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Shops are plural things.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Shops are people.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demonstrative means “those (people)”?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أُولَئِكَ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ذَلِكَ</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ذَلِكَ</a:t>
            </a:r>
            <a:pPr algn="l" indent="0" marL="0">
              <a:buNone/>
            </a:pPr>
            <a:r>
              <a:rPr lang="en-US" sz="1250" b="1" dirty="0">
                <a:solidFill>
                  <a:srgbClr val="1B3B6F"/>
                </a:solidFill>
                <a:latin typeface="Calibri" pitchFamily="34" charset="0"/>
                <a:cs typeface="Amiri" pitchFamily="2" charset="-78"/>
              </a:rPr>
              <a:t> before the museum?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Museum is feminine.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Museum is masculine and far.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Museum is plural.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far.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هَؤُلَاءِ</a:t>
            </a:r>
            <a:pPr algn="l" indent="0" marL="0">
              <a:buNone/>
            </a:pPr>
            <a:r>
              <a:rPr lang="en-US" sz="1250" b="1" dirty="0">
                <a:solidFill>
                  <a:srgbClr val="1B3B6F"/>
                </a:solidFill>
                <a:latin typeface="Calibri" pitchFamily="34" charset="0"/>
                <a:cs typeface="Amiri" pitchFamily="2" charset="-78"/>
              </a:rPr>
              <a:t> before the children?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Children are things.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Children are feminine.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Children are people.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Human plural.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هَذِهِ</a:t>
            </a:r>
            <a:pPr algn="l" indent="0" marL="0">
              <a:buNone/>
            </a:pPr>
            <a:r>
              <a:rPr lang="en-US" sz="1250" b="1" dirty="0">
                <a:solidFill>
                  <a:srgbClr val="1B3B6F"/>
                </a:solidFill>
                <a:latin typeface="Calibri" pitchFamily="34" charset="0"/>
                <a:cs typeface="Amiri" pitchFamily="2" charset="-78"/>
              </a:rPr>
              <a:t> before the shops?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Shops are plural things.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Shops are people.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hādhihi.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demonstrative means “those (people)”?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تِلْكَ</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أُولَئِكَ</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ذَلِكَ</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Far human plural.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 photo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هَذَا؟ مَا هَذِهِ؟ (أَشْيَاءُ فِي غُرْفَتِكَ)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صُورَةً لِعَائِلَتِكَ: مَنْ هَؤُلَاءِ؟</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مَدِينَتَكَ لِزَائِرٍ: هَذَا … وَتِلْكَ …</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هَذَا ___ ، وَهَذِهِ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هَؤُلَاءِ ___ ، وَأُولَئِكَ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هَذَا ___ قَدِيمٌ، وَتِلْكَ ___ حَدِيثَةٌ.</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مَنْ هَؤُلَاءِ فِي الصُّورَةِ؟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 are these people in the photo?</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هَؤُلَاءِ أَبْنَاءُ عَمِّي، وَتِلْكَ جَدَّتِي، وَهَذَا بَيْتُهَا الْقَدِيمُ.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These are my cousins, that is my grandmother, and this is her old house.</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six objects in your room with this / that.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This X is …; that Y is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people and plural things.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People: hāʾulāʾi / ulāʾika; things: hādhihi / tilka.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a guided tour of your town for a visitor.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Mix phrases, sentences and “this is the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الْكُتُبُ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These books are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هَؤُلَاءِ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These people are my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تِلْكَ الْمَحَلَّاتُ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Those shops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هُوَ ______ الْأَفْضَلُ.</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the best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الْغُرْفَةُ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room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السَّرِيرُ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bed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تِلْكَ النَّافِذَةُ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That window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ذَلِكَ الدُّولَابُ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That cupboard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هَذَا  ·  هَذِهِ  ·  ذَلِكَ  ·  تِلْكَ  ·  هَؤُلَاءِ  ·  أُولَئِكَ  ·  هُوَ  ·  هِيَ  ·  كَبِيرٌ  ·  جَمِيلَةٌ  ·  قَدِيمَةٌ  ·  مُفِيدَةٌ  ·  لُطَفَاءُ</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extended writing workshop: a 90–120-word guided tour of your town or school, with at least eight target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near and two far singular demonstratives (m. and f.).</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hāʾulāʾi / ulāʾika with people.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hādhihi / tilka with plural things.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“This is a …” sentence and one “this … is …”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“this is the …” sentence with huwa / hiya.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هُوَ الْمَسْجِدُ الْكَبِيرُ</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is the big mosque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تِلْكَ الْمَدْرَسَةُ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that school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أُولَئِكَ الرِّجَالُ</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those men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الْمَحَلَّاتُ</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these shops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ذَلِكَ الشَّارِعُ طَوِيلٌ</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that street is long</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سُوقٌ قَدِيمَةٌ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is an old market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مَرْحَبًا بِكَ فِي مَدِينَتِي! هَذَا هُوَ الْمَسْجِدُ الْكَبِيرُ، وَتِلْكَ الْمَدْرَسَةُ هِيَ مَدْرَسَتِي. هَذَا الشَّارِعُ طَوِيلٌ، وَهَذِهِ الْمَحَلَّاتُ رَخِيصَةٌ. هَؤُلَاءِ الْبَاعَةُ لُطَفَاءُ جِدًّا. انْظُرْ! ذَلِكَ الْجِسْرُ قَدِيمٌ، وَتِلْكَ الْأَشْجَارُ عُمْرُهَا مِئَةُ سَنَةٍ. هَذِهِ مَدِينَةٌ صَغِيرَةٌ، لَكِنَّهَا جَمِيلَةٌ.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Welcome to my city! This is the big mosque, and that school is my school. This street is long, and these shops are cheap. These sellers are very kind. Look! That bridge is old, and those trees are a hundred years old. This is a small city, but it is beautiful.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near / far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people plurals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things plurals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“this is a …”</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demonstratives match masculine / feminine.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noun after “this / that …” has al-.</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Hāʾulāʾi / ulāʾika only with people.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Plural things take hādhihi / tilka.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huwa / hiya for “this is the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window (f.)”.</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النَّافِذَةُ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النَّافِذَةُ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النَّافِذَةُ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cars”.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أُولَئِكَ السَّيَّارَاتُ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تِلْكَ السَّيَّارَاتُ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ذَلِكَ السَّيَّارَاتُ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teachers (m.)”.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الْمُعَلِّمُونَ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الْمُعَلِّمُونَ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الْمُعَلِّمُونَ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window (f.)”.</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هَذِهِ النَّافِذَةُ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 النَّافِذَةُ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هَؤُلَاءِ النَّافِذَةُ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singular.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cars”.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أُولَئِكَ السَّيَّارَاتُ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تِلْكَ السَّيَّارَاتُ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ذَلِكَ السَّيَّارَاتُ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things → tilka.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teachers (m.)”.</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هَؤُلَاءِ الْمُعَلِّمُونَ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هَذِهِ الْمُعَلِّمُونَ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 الْمُعَلِّمُونَ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 hāʾulāʾi.</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GM-ADJ-08: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GM-ADJ-08 · Defective Adjectives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expensive</a:t>
            </a:r>
            <a:pPr indent="0" marL="0">
              <a:buNone/>
            </a:pPr>
            <a:r>
              <a:rPr lang="ar-SA" sz="1000" i="1" dirty="0">
                <a:solidFill>
                  <a:srgbClr val="5A6472"/>
                </a:solidFill>
                <a:latin typeface="Calibri" pitchFamily="34" charset="0"/>
                <a:ea typeface="Amiri" pitchFamily="2" charset="-78"/>
                <a:cs typeface="Amiri" pitchFamily="2" charset="-78"/>
              </a:rPr>
              <a:t>  الْغَالِي = the expensive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رَاضٍ</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satisfied</a:t>
            </a:r>
            <a:pPr indent="0" marL="0">
              <a:buNone/>
            </a:pPr>
            <a:r>
              <a:rPr lang="ar-SA" sz="1000" i="1" dirty="0">
                <a:solidFill>
                  <a:srgbClr val="5A6472"/>
                </a:solidFill>
                <a:latin typeface="Calibri" pitchFamily="34" charset="0"/>
                <a:ea typeface="Amiri" pitchFamily="2" charset="-78"/>
                <a:cs typeface="Amiri" pitchFamily="2" charset="-78"/>
              </a:rPr>
              <a:t>  f. رَاضِيَةٌ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عَالٍ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high</a:t>
            </a:r>
            <a:pPr indent="0" marL="0">
              <a:buNone/>
            </a:pPr>
            <a:r>
              <a:rPr lang="ar-SA" sz="1000" i="1" dirty="0">
                <a:solidFill>
                  <a:srgbClr val="5A6472"/>
                </a:solidFill>
                <a:latin typeface="Calibri" pitchFamily="34" charset="0"/>
                <a:ea typeface="Amiri" pitchFamily="2" charset="-78"/>
                <a:cs typeface="Amiri" pitchFamily="2" charset="-78"/>
              </a:rPr>
              <a:t>  f. عَالِيَةٌ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هَادِئٌ</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calm (compare)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مَاضٍ</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past</a:t>
            </a:r>
            <a:pPr indent="0" marL="0">
              <a:buNone/>
            </a:pPr>
            <a:r>
              <a:rPr lang="ar-SA" sz="1000" i="1" dirty="0">
                <a:solidFill>
                  <a:srgbClr val="5A6472"/>
                </a:solidFill>
                <a:latin typeface="Amiri" pitchFamily="2" charset="-78"/>
                <a:ea typeface="Amiri" pitchFamily="2" charset="-78"/>
                <a:cs typeface="Amiri" pitchFamily="2" charset="-78"/>
              </a:rPr>
              <a:t>  الْأُسْبُوعُ الْمَاضِي</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You know “al-usbūʿ al-māḍī” (last week). Where is the final -ī in māḍin? Why might it disappear?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الْأُسْبُوعُ الْمَاضِي · أُسْبُوعٌ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Label ten objects at home: this / that + noun.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Describe a family photo with these / those.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a guided tour of your town.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GM-ADJ-07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GM-ADJ-08 · Defective Adjectives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الصِّفَاتُ الْمَنْقُوصَةُ مِثْلُ غَالٍ وَرَاضٍ</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hādhā / hādhihi near, dhālika / tilka far · hāʾulāʾi / ulāʾika for people · plural things → hādhihi / tilka · “this book” needs al-; “This is a book” does not.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GM-ADJ-07 · Demonstratives and Agreement</dc:title>
  <dc:subject>PptxGenJS Presentation</dc:subject>
  <dc:creator>Al Madina Online School · Arabic Department</dc:creator>
  <cp:lastModifiedBy>Al Madina Online School · Arabic Department</cp:lastModifiedBy>
  <cp:revision>1</cp:revision>
  <dcterms:created xsi:type="dcterms:W3CDTF">2026-10-11T06:42:03Z</dcterms:created>
  <dcterms:modified xsi:type="dcterms:W3CDTF">2026-10-11T06:42:03Z</dcterms:modified>
</cp:coreProperties>
</file>