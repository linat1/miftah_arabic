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GM-ADJ-01 (“Masculine and Feminine Singular”).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noun first, then adjective; feminine noun → adjective + ة (وَلَدٌ صَغِيرٌ · بِنْتٌ صَغِيرَةٌ). Develop: phrase vs sentence (بَيْتٌ كَبِيرٌ / الْبَيْتُ كَبِيرٌ / الْبَيْتُ الْكَبِيرُ); feminine nouns without ة (شَمْسٌ · أُمٌّ · بِنْتٌ). Stretch: feminine forms that are not “+ ة” — أَحْمَرُ حَمْرَاءُ (taught fully in ADJ-03) and عَطْشَانُ عَطْشَى.
• Website “Why this matters”: adjective control affects every Cambridge topic — people, clothes, homes, school, travel, weather, work and opinions.
• This lesson revisits GM-N-01 (noun gender) and GM-ART-02 (definiteness agreement) — keep those links visible.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GM-N-07.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Find the noun first. Masculine noun → masculine adjective; feminine noun → feminine adjective (usually + tāʾ marbūṭa).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agreement principle”. Use the arrow routine: point at the noun, then draw an arrow to the adjective and say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2 (3 min) — website “Do not add ة mechanically”. Core learns the first three rows; the last two rows are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“Phrase or sentence?”. Ask: “Is there an is/are in English?” If yes, the adjective has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Narrate the checklist each time: “Noun? Gender? Definite? Case?” Point out مَدِينَةٍ جَمِيلَةٍ — the adjective copies the -in after fī.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row by row. For each, ask a student to name the feature: gender / definiteness / phrase vs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at least six accurate adjective structures. Listening variant (website “listening without audio”): read the model twice; partners note nouns first, adjectives second, then rebuild the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(GM-ADJ-02 · Adjective Agreement with Plurals) will spend class time USING this language, so students prepare it tonight — short, simple, easy to access (school guidance: “Simple, Short, Interesting, Relevant, Easy to access”). The five words prepare GM-ADJ-02 (website Adjectives lesson 2: agreement with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Masculine and Feminine Singular</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مُطَابَقَةُ الصِّفَةِ فِي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 Arabic adjective comes AFTER its noun and matches it: masculine noun → masculine adjective, feminine noun → feminine adjective (usually + tāʾ marbūṭa). Check the noun first — and notice whether you have made a phrase or a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agreement principle; not just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masculine / feminine, transform,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ea typeface="Amiri" pitchFamily="2" charset="-78"/>
                <a:cs typeface="Amiri" pitchFamily="2" charset="-78"/>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أَذْكِيَاءُ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صَغِيرَةٌ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الصَّغِيرُ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ea typeface="Amiri" pitchFamily="2" charset="-78"/>
                <a:cs typeface="Amiri" pitchFamily="2" charset="-78"/>
              </a:rPr>
              <a:t>بِنْتٌ</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ذَكِيٌّ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ذَكِيَّةٌ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أَذْكِيَاءُ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مُفِيدٌ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Book is masculine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agrees with the feminine noun car.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صَغِيرَةٌ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الصَّغِيرُ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الصَّغِيرَةُ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definite in the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Find the noun first. Masculine noun → masculine adjective; feminine noun → feminine adjective (usually + tāʾ marbūṭa).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وَلَدٌ </a:t>
            </a:r>
            <a:pPr rtl="1" algn="ctr" indent="0" marL="0">
              <a:buNone/>
            </a:pPr>
            <a:r>
              <a:rPr lang="ar-SA" altLang="en-US" sz="2400" b="1" dirty="0">
                <a:solidFill>
                  <a:srgbClr val="0E7C86"/>
                </a:solidFill>
                <a:latin typeface="Amiri" pitchFamily="2" charset="-78"/>
                <a:ea typeface="Amiri" pitchFamily="2" charset="-78"/>
                <a:cs typeface="Amiri" pitchFamily="2" charset="-78"/>
              </a:rPr>
              <a:t>صَغِيرٌ</a:t>
            </a:r>
            <a:pPr rtl="1" algn="ctr" indent="0" marL="0">
              <a:buNone/>
            </a:pPr>
            <a:r>
              <a:rPr lang="ar-SA" altLang="en-US" sz="2400" b="1" dirty="0">
                <a:solidFill>
                  <a:srgbClr val="1B3B6F"/>
                </a:solidFill>
                <a:latin typeface="Amiri" pitchFamily="2" charset="-78"/>
                <a:ea typeface="Amiri" pitchFamily="2" charset="-78"/>
                <a:cs typeface="Amiri" pitchFamily="2" charset="-78"/>
              </a:rPr>
              <a:t> ‖ بِنْتٌ </a:t>
            </a:r>
            <a:pPr rtl="1" algn="ctr" indent="0" marL="0">
              <a:buNone/>
            </a:pPr>
            <a:r>
              <a:rPr lang="ar-SA" altLang="en-US" sz="2400" b="1" dirty="0">
                <a:solidFill>
                  <a:srgbClr val="D6336C"/>
                </a:solidFill>
                <a:latin typeface="Amiri" pitchFamily="2" charset="-78"/>
                <a:ea typeface="Amiri" pitchFamily="2" charset="-78"/>
                <a:cs typeface="Amiri" pitchFamily="2" charset="-78"/>
              </a:rPr>
              <a:t>صَغِيرَةٌ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an adjective agrees with its noun in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feminine adjective by adding tāʾ marbūṭa.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feminine nouns without tāʾ marbūṭa and adjectives that change shape.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noun phrase from a nominal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the adjective after the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tāʾ marbūṭa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know sun, mother and girl are feminine.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big house”, “the house is big”, “the big house”.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some feminines change shape (red, thirsty).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each agreement in grammar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a:t>
            </a:r>
            <a:endParaRPr lang="en-US" sz="1350" dirty="0"/>
          </a:p>
          <a:p>
            <a:pPr indent="0" marL="0">
              <a:buNone/>
            </a:pPr>
            <a:r>
              <a:rPr lang="en-US" sz="1100" i="1" dirty="0">
                <a:solidFill>
                  <a:srgbClr val="5A6472"/>
                </a:solidFill>
                <a:latin typeface="Calibri" pitchFamily="34" charset="0"/>
                <a:cs typeface="Amiri" pitchFamily="2" charset="-78"/>
              </a:rPr>
              <a:t>aṣ-ṣi-fa-tu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كَبِيرٌ · جَمِيلَةٌ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الْمَوْصُوفُ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described</a:t>
            </a:r>
            <a:endParaRPr lang="en-US" sz="1350" dirty="0"/>
          </a:p>
          <a:p>
            <a:pPr indent="0" marL="0">
              <a:buNone/>
            </a:pPr>
            <a:r>
              <a:rPr lang="en-US" sz="1100" i="1" dirty="0">
                <a:solidFill>
                  <a:srgbClr val="5A6472"/>
                </a:solidFill>
                <a:latin typeface="Calibri" pitchFamily="34" charset="0"/>
                <a:cs typeface="Amiri" pitchFamily="2" charset="-78"/>
              </a:rPr>
              <a:t>al-maw-ṣū-fu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بَيْتٌ كَبِيرٌ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a:t>
            </a:r>
            <a:endParaRPr lang="en-US" sz="1350" dirty="0"/>
          </a:p>
          <a:p>
            <a:pPr indent="0" marL="0">
              <a:buNone/>
            </a:pPr>
            <a:r>
              <a:rPr lang="en-US" sz="1100" i="1" dirty="0">
                <a:solidFill>
                  <a:srgbClr val="5A6472"/>
                </a:solidFill>
                <a:latin typeface="Calibri" pitchFamily="34" charset="0"/>
                <a:cs typeface="Amiri" pitchFamily="2" charset="-78"/>
              </a:rPr>
              <a:t>mu-dhak-ka-run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وَلَدٌ صَغِيرٌ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a:t>
            </a:r>
            <a:endParaRPr lang="en-US" sz="1350" dirty="0"/>
          </a:p>
          <a:p>
            <a:pPr indent="0" marL="0">
              <a:buNone/>
            </a:pPr>
            <a:r>
              <a:rPr lang="en-US" sz="1100" i="1" dirty="0">
                <a:solidFill>
                  <a:srgbClr val="5A6472"/>
                </a:solidFill>
                <a:latin typeface="Calibri" pitchFamily="34" charset="0"/>
                <a:cs typeface="Amiri" pitchFamily="2" charset="-78"/>
              </a:rPr>
              <a:t>mu-ʾan-na-thun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بِنْتٌ صَغِيرَةٌ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(matching)</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gender · number · definiteness · case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اسْمِيَّةٌ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nominal sentence</a:t>
            </a:r>
            <a:endParaRPr lang="en-US" sz="1350" dirty="0"/>
          </a:p>
          <a:p>
            <a:pPr indent="0" marL="0">
              <a:buNone/>
            </a:pPr>
            <a:r>
              <a:rPr lang="en-US" sz="1100" i="1" dirty="0">
                <a:solidFill>
                  <a:srgbClr val="5A6472"/>
                </a:solidFill>
                <a:latin typeface="Calibri" pitchFamily="34" charset="0"/>
                <a:cs typeface="Amiri" pitchFamily="2" charset="-78"/>
              </a:rPr>
              <a:t>jum-la-tun as-miy-ya-tun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الْبَيْتُ كَبِيرٌ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THE AGREEMENT PRINCIPLE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Arabic adjective describes a noun and normally agrees with it in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comes AFTER the noun — the opposite of English.</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Masculine noun → masculine adjective (no tāʾ marbūṭa).</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Feminine noun → feminine adjective: the classroom shortcut is to add -atun (tāʾ marbūṭa).</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also copies the case ending: -un · -an · -in, like its noun.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وَلَدٌ صَغِيرٌ · بِنْتٌ صَغِيرَةٌ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small boy · a small girl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بَيْتٌ كَبِيرٌ · مَدْرَسَةٌ كَبِيرَةٌ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big house · a big school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طَالِبٌ مُجْتَهِدٌ · طَالِبَةٌ مُجْتَهِدَةٌ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hard-working student (m. · f.)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رَأَيْتُ بِنْتًا ذَكِيَّةً.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a clever girl.  ·  case copied too</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quality check: identify the head noun FIRST, then check gender, number and definiteness.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2 · DO NOT ADD TĀʾ MARBŪṬA MECHANICALLY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Masculine, feminine — and the traps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 تُضِفِ التَّاءَ آلِيًّا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جَمِيلَةٌ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جَمِيلٌ</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سَرِيعَةٌ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سَرِيعٌ</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shadda</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ذَكِيَّةٌ</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ذَكِيٌّ</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shape changes — colours, ADJ-03</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حَمْرَاءُ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أَحْمَرُ</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 → -ā (also hungry: jawʿān → jawʿā)</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عَطْشَى</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عَطْشَانُ</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thirsty</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base rule works often, but always notice the REAL feminine form when you learn a new adjective (website).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3 · PHRASE OR SENTENCE? (WEBSITE)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words, three meanings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3708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indefinite → phrase</a:t>
            </a:r>
            <a:endParaRPr lang="en-US" sz="1100" dirty="0"/>
          </a:p>
        </p:txBody>
      </p:sp>
      <p:sp>
        <p:nvSpPr>
          <p:cNvPr id="21" name="Text 18"/>
          <p:cNvSpPr txBox="1"/>
          <p:nvPr/>
        </p:nvSpPr>
        <p:spPr>
          <a:xfrm>
            <a:off x="440740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house</a:t>
            </a:r>
            <a:endParaRPr lang="en-US" sz="11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بَيْتٌ كَبِيرٌ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 + indefinite adjective → SENTENCE</a:t>
            </a:r>
            <a:endParaRPr lang="en-US" sz="1100" dirty="0"/>
          </a:p>
        </p:txBody>
      </p:sp>
      <p:sp>
        <p:nvSpPr>
          <p:cNvPr id="27" name="Text 24"/>
          <p:cNvSpPr txBox="1"/>
          <p:nvPr/>
        </p:nvSpPr>
        <p:spPr>
          <a:xfrm>
            <a:off x="440740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big.</a:t>
            </a:r>
            <a:endParaRPr lang="en-US" sz="11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 كَبِيرٌ.</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definite → phrase</a:t>
            </a:r>
            <a:endParaRPr lang="en-US" sz="1100" dirty="0"/>
          </a:p>
        </p:txBody>
      </p:sp>
      <p:sp>
        <p:nvSpPr>
          <p:cNvPr id="33" name="Text 30"/>
          <p:cNvSpPr txBox="1"/>
          <p:nvPr/>
        </p:nvSpPr>
        <p:spPr>
          <a:xfrm>
            <a:off x="440740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 house</a:t>
            </a:r>
            <a:endParaRPr lang="en-US" sz="11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 الْكَبِيرُ</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sentence — still feminine agreement</a:t>
            </a:r>
            <a:endParaRPr lang="en-US" sz="1100" dirty="0"/>
          </a:p>
        </p:txBody>
      </p:sp>
      <p:sp>
        <p:nvSpPr>
          <p:cNvPr id="39" name="Text 36"/>
          <p:cNvSpPr txBox="1"/>
          <p:nvPr/>
        </p:nvSpPr>
        <p:spPr>
          <a:xfrm>
            <a:off x="440740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is new.</a:t>
            </a:r>
            <a:endParaRPr lang="en-US" sz="11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السَّيَّارَةُ جَدِيدَةٌ.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al- on both</a:t>
            </a:r>
            <a:endParaRPr lang="en-US" sz="1100" dirty="0"/>
          </a:p>
        </p:txBody>
      </p:sp>
      <p:sp>
        <p:nvSpPr>
          <p:cNvPr id="43" name="Text 40"/>
          <p:cNvSpPr txBox="1"/>
          <p:nvPr/>
        </p:nvSpPr>
        <p:spPr>
          <a:xfrm>
            <a:off x="440740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car</a:t>
            </a:r>
            <a:endParaRPr lang="en-US" sz="11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السَّيَّارَةُ الْجَدِيدَةُ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in gender is the same in all three — only definiteness changes the meaning (website).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sun is feminine. Choose its adjective.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حَارُّونَ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fast car”.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السَّرِيعَةُ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الْوَلَدُ ذَكِيٌّ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clever boy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is clever.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clever boy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قَمِيصٌ جَمِيلٌ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قَمِيصَةٌ جَمِيلَةٌ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قَمِيصٌ جَمِيلَةٌ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sun is feminine. Choose its adjective.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حَارُّونَ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Sun is feminine without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the adjective still takes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fast car”.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سَيَّارَةٌ سَرِيعَةٌ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السَّرِيعَةُ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indefinite.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الْوَلَدُ ذَكِيٌّ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clever boy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boy is clever.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clever boy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noun + indefinite adjective = sentence.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قَمِيصٌ جَمِيلٌ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قَمِيصَةٌ جَمِيلَةٌ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قَمِيصٌ جَمِيلَةٌ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to the adjective only when the noun is feminine — never to the 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check the noun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Ends in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Definite?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Yes — 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 الْجَمِيلَةُ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الْمَدِينَةُ 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al- → “is”.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ADJECTIVE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أَسْكُنُ فِي </a:t>
            </a:r>
            <a:pPr rtl="1" algn="r" indent="0" marL="0">
              <a:buNone/>
            </a:pPr>
            <a:r>
              <a:rPr lang="ar-SA" altLang="en-US" sz="2600" b="1" dirty="0">
                <a:solidFill>
                  <a:srgbClr val="0E7C86"/>
                </a:solidFill>
                <a:latin typeface="Amiri" pitchFamily="2" charset="-78"/>
                <a:ea typeface="Amiri" pitchFamily="2" charset="-78"/>
                <a:cs typeface="Amiri" pitchFamily="2" charset="-78"/>
              </a:rPr>
              <a:t>مَدِينَةٍ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جَمِيلَةٍ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بَيْتِي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صَغِيرٌ</a:t>
            </a:r>
            <a:pPr rtl="1" algn="r" indent="0" marL="0">
              <a:buNone/>
            </a:pPr>
            <a:r>
              <a:rPr lang="ar-SA" altLang="en-US" sz="2600" b="1" dirty="0">
                <a:solidFill>
                  <a:srgbClr val="1B3B6F"/>
                </a:solidFill>
                <a:latin typeface="Amiri" pitchFamily="2" charset="-78"/>
                <a:ea typeface="Amiri" pitchFamily="2" charset="-78"/>
                <a:cs typeface="Amiri" pitchFamily="2" charset="-78"/>
              </a:rPr>
              <a:t>، لَكِنَّ </a:t>
            </a:r>
            <a:pPr rtl="1" algn="r" indent="0" marL="0">
              <a:buNone/>
            </a:pPr>
            <a:r>
              <a:rPr lang="ar-SA" altLang="en-US" sz="2600" b="1" dirty="0">
                <a:solidFill>
                  <a:srgbClr val="0E7C86"/>
                </a:solidFill>
                <a:latin typeface="Amiri" pitchFamily="2" charset="-78"/>
                <a:ea typeface="Amiri" pitchFamily="2" charset="-78"/>
                <a:cs typeface="Amiri" pitchFamily="2" charset="-78"/>
              </a:rPr>
              <a:t>الْحَدِيقَةَ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live in a beautiful city. My house is small, but the garden is big.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وَلَدٌ ذَكِيٌّ وَبِنْتٌ ذَكِيَّةٌ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clever boy and a clever girl</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سَيَّارَةٌ سَرِيعَةٌ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fast car</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طَعَامٌ لَذِيذٌ</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delicious food</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الشَّمْسُ حَارَّةٌ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is hot today.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noun without ة.</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MASCULINE OR FEMININE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adjective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مُذَكَّرٌ أَمْ 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Feminine adjective (+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Feminine adjective (+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شَمْسٌ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Change the noun, change the adjective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a:t>
            </a:r>
            <a:endParaRPr lang="en-US" sz="1100" dirty="0"/>
          </a:p>
        </p:txBody>
      </p:sp>
      <p:sp>
        <p:nvSpPr>
          <p:cNvPr id="17" name="Text 14"/>
          <p:cNvSpPr txBox="1"/>
          <p:nvPr/>
        </p:nvSpPr>
        <p:spPr>
          <a:xfrm>
            <a:off x="41879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طَالِبَةٌ نَشِيطَةٌ</a:t>
            </a:r>
            <a:endParaRPr lang="ar-SA" sz="2400" dirty="0"/>
          </a:p>
        </p:txBody>
      </p:sp>
      <p:sp>
        <p:nvSpPr>
          <p:cNvPr id="21" name="Text 18"/>
          <p:cNvSpPr txBox="1"/>
          <p:nvPr/>
        </p:nvSpPr>
        <p:spPr>
          <a:xfrm>
            <a:off x="42245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female student</a:t>
            </a:r>
            <a:endParaRPr lang="en-US" sz="1100" dirty="0"/>
          </a:p>
        </p:txBody>
      </p:sp>
      <p:sp>
        <p:nvSpPr>
          <p:cNvPr id="22" name="Text 19"/>
          <p:cNvSpPr txBox="1"/>
          <p:nvPr/>
        </p:nvSpPr>
        <p:spPr>
          <a:xfrm>
            <a:off x="54864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طَالِبٌ نَشِيطٌ</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 لَطِيفٌ</a:t>
            </a:r>
            <a:endParaRPr lang="ar-SA" sz="2400" dirty="0"/>
          </a:p>
        </p:txBody>
      </p:sp>
      <p:sp>
        <p:nvSpPr>
          <p:cNvPr id="27" name="Text 24"/>
          <p:cNvSpPr txBox="1"/>
          <p:nvPr/>
        </p:nvSpPr>
        <p:spPr>
          <a:xfrm>
            <a:off x="42245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male teacher</a:t>
            </a:r>
            <a:endParaRPr lang="en-US" sz="1100" dirty="0"/>
          </a:p>
        </p:txBody>
      </p:sp>
      <p:sp>
        <p:nvSpPr>
          <p:cNvPr id="28" name="Text 25"/>
          <p:cNvSpPr txBox="1"/>
          <p:nvPr/>
        </p:nvSpPr>
        <p:spPr>
          <a:xfrm>
            <a:off x="54864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مُعَلِّمَةٌ لَطِيفَةٌ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الْجَدِيدُ</a:t>
            </a:r>
            <a:endParaRPr lang="ar-SA" sz="2400" dirty="0"/>
          </a:p>
        </p:txBody>
      </p:sp>
      <p:sp>
        <p:nvSpPr>
          <p:cNvPr id="33" name="Text 30"/>
          <p:cNvSpPr txBox="1"/>
          <p:nvPr/>
        </p:nvSpPr>
        <p:spPr>
          <a:xfrm>
            <a:off x="42245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make it “the …”</a:t>
            </a:r>
            <a:endParaRPr lang="en-US" sz="1100" dirty="0"/>
          </a:p>
        </p:txBody>
      </p:sp>
      <p:sp>
        <p:nvSpPr>
          <p:cNvPr id="34" name="Text 31"/>
          <p:cNvSpPr txBox="1"/>
          <p:nvPr/>
        </p:nvSpPr>
        <p:spPr>
          <a:xfrm>
            <a:off x="54864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جَدِيدٌ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الْغُرْفَةُ وَاسِعَةٌ.</a:t>
            </a:r>
            <a:endParaRPr lang="ar-SA" sz="2400" dirty="0"/>
          </a:p>
        </p:txBody>
      </p:sp>
      <p:sp>
        <p:nvSpPr>
          <p:cNvPr id="39" name="Text 36"/>
          <p:cNvSpPr txBox="1"/>
          <p:nvPr/>
        </p:nvSpPr>
        <p:spPr>
          <a:xfrm>
            <a:off x="42245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make it a sentence</a:t>
            </a:r>
            <a:endParaRPr lang="en-US" sz="1100" dirty="0"/>
          </a:p>
        </p:txBody>
      </p:sp>
      <p:sp>
        <p:nvSpPr>
          <p:cNvPr id="40" name="Text 37"/>
          <p:cNvSpPr txBox="1"/>
          <p:nvPr/>
        </p:nvSpPr>
        <p:spPr>
          <a:xfrm>
            <a:off x="54864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الْغُرْفَةُ الْوَاسِعَةُ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حَمْرَاءُ</a:t>
            </a:r>
            <a:endParaRPr lang="ar-SA" sz="2400" dirty="0"/>
          </a:p>
        </p:txBody>
      </p:sp>
      <p:sp>
        <p:nvSpPr>
          <p:cNvPr id="43" name="Text 40"/>
          <p:cNvSpPr txBox="1"/>
          <p:nvPr/>
        </p:nvSpPr>
        <p:spPr>
          <a:xfrm>
            <a:off x="42245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red bag (f.)</a:t>
            </a:r>
            <a:endParaRPr lang="en-US" sz="1100" dirty="0"/>
          </a:p>
        </p:txBody>
      </p:sp>
      <p:sp>
        <p:nvSpPr>
          <p:cNvPr id="44" name="Text 41"/>
          <p:cNvSpPr txBox="1"/>
          <p:nvPr/>
        </p:nvSpPr>
        <p:spPr>
          <a:xfrm>
            <a:off x="54864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قَمِيصٌ أَحْمَرُ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one feature of the noun, then change EVERY adjective feature it controls — and explain the change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بِنْتٌ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girl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الشَّمْسُ حَارٌّ.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قَلَمَةٌ جَدِيدَةٌ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you change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بِنْتٌ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بِنْتٌ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Girl is feminine →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الشَّمْسُ حَارٌّ.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الشَّمْسُ حَارَّةٌ.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Sun is feminine without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قَلَمَةٌ جَدِيدَةٌ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قَلَمٌ جَدِيدٌ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add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to the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old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قَدِيمٌ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قَدِيمَةٌ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food is delicious.”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اللَّذِيذُ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لَذِيذٌ.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طَعَامٌ لَذِيذٌ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adjective for </a:t>
            </a:r>
            <a:pPr algn="l" indent="0" marL="0">
              <a:buNone/>
            </a:pPr>
            <a:r>
              <a:rPr lang="ar-SA" altLang="en-US" sz="1650" b="1" dirty="0">
                <a:solidFill>
                  <a:srgbClr val="1B3B6F"/>
                </a:solidFill>
                <a:latin typeface="Amiri" pitchFamily="2" charset="-78"/>
                <a:ea typeface="Amiri" pitchFamily="2" charset="-78"/>
                <a:cs typeface="Amiri" pitchFamily="2" charset="-78"/>
              </a:rPr>
              <a:t>أُخْتِي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big school.”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مَدْرَسَةً كَبِيرٌ.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مَدْرَسَةٌ كَبِيرَةٌ.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مَدْرَسَةً كَبِيرَةً.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old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 قَدِيمٌ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قَدِيمَةٌ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مَدِينَةٌ قَدِيمَةٌ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indefinite.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food is delicious.”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 اللَّذِيذُ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الطَّعَامُ لَذِيذٌ.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طَعَامٌ لَذِيذٌ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sentence: no al- on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adjective for </a:t>
            </a:r>
            <a:pPr algn="l" indent="0" marL="0">
              <a:buNone/>
            </a:pPr>
            <a:r>
              <a:rPr lang="ar-SA" altLang="en-US" sz="1650" b="1" dirty="0">
                <a:solidFill>
                  <a:srgbClr val="1B3B6F"/>
                </a:solidFill>
                <a:latin typeface="Amiri" pitchFamily="2" charset="-78"/>
                <a:ea typeface="Amiri" pitchFamily="2" charset="-78"/>
                <a:cs typeface="Amiri" pitchFamily="2" charset="-78"/>
              </a:rPr>
              <a:t>أُخْتِي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طَوِيلَةٌ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big school.”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مَدْرَسَةً كَبِيرٌ.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مَدْرَسَةٌ كَبِيرَةٌ.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 مَدْرَسَةً كَبِيرَةً.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both words take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فِي وَسَطِ الْمَدِينَةِ سُوقٌ كَبِيرٌ وَحَدِيقَةٌ هَادِئَةٌ. الْجَوُّ لَطِيفٌ، وَالشَّمْسُ دَافِئَةٌ.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دَافِئَةٌ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warm</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for museum have no tāʾ marbūṭa?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masculine.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sentence.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حَدِيقَةٌ هَادِئَةٌ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Garden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Garden is feminine.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الشَّمْسُ دَافِئَةٌ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is feminine without </a:t>
            </a:r>
            <a:pPr algn="l" indent="0" marL="0">
              <a:buNone/>
            </a:pPr>
            <a:r>
              <a:rPr lang="ar-SA" altLang="en-US" sz="1650" dirty="0">
                <a:solidFill>
                  <a:srgbClr val="1F2A37"/>
                </a:solidFill>
                <a:latin typeface="Amiri" pitchFamily="2" charset="-78"/>
                <a:ea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is masculine.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الْجَوُّ لَطِيفٌ</a:t>
            </a:r>
            <a:pPr algn="l" indent="0" marL="0">
              <a:buNone/>
            </a:pPr>
            <a:r>
              <a:rPr lang="en-US" sz="1250" b="1" dirty="0">
                <a:solidFill>
                  <a:srgbClr val="1B3B6F"/>
                </a:solidFill>
                <a:latin typeface="Calibri" pitchFamily="34" charset="0"/>
                <a:cs typeface="Amiri" pitchFamily="2" charset="-78"/>
              </a:rPr>
              <a:t> a phrase or a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phrase: “the pleasant weather”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 “The weather is pleasant.”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phrase: “a pleasant weather”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for museum have no tāʾ marbūṭa?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Museum is masculine.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sentence.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masculine adjective.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حَدِيقَةٌ هَادِئَةٌ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Garden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Garden is feminine.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الشَّمْسُ دَافِئَةٌ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 is feminine without </a:t>
            </a:r>
            <a:pPr algn="l" indent="0" marL="0">
              <a:buNone/>
            </a:pPr>
            <a:r>
              <a:rPr lang="ar-SA" altLang="en-US" sz="1650" b="1" dirty="0">
                <a:solidFill>
                  <a:srgbClr val="1F2A37"/>
                </a:solidFill>
                <a:latin typeface="Amiri" pitchFamily="2" charset="-78"/>
                <a:ea typeface="Amiri" pitchFamily="2" charset="-78"/>
                <a:cs typeface="Amiri" pitchFamily="2" charset="-78"/>
              </a:rPr>
              <a:t>ة</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 is masculine.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الْجَوُّ لَطِيفٌ</a:t>
            </a:r>
            <a:pPr algn="l" indent="0" marL="0">
              <a:buNone/>
            </a:pPr>
            <a:r>
              <a:rPr lang="en-US" sz="1250" b="1" dirty="0">
                <a:solidFill>
                  <a:srgbClr val="1B3B6F"/>
                </a:solidFill>
                <a:latin typeface="Calibri" pitchFamily="34" charset="0"/>
                <a:cs typeface="Amiri" pitchFamily="2" charset="-78"/>
              </a:rPr>
              <a:t> a phrase or a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phrase: “the pleasant weather”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sentence: “The weather is pleasant.”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phrase: “a pleasant weather”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noun + indefinite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describe two people or places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صَدِيقًا وَصَدِيقَةً.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 وَغُرْفَتَكَ.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مَدِينَتَكَ فِي الصَّيْفِ وَالشِّتَاءِ.</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صَدِيقِي ___ ، وَصَدِيقَتِي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بَيْتِي ___ ، وَغُرْفَتِي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الصَّيْفِ الشَّمْسُ ___ ، وَالْجَوُّ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أُخْتَكَ.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sister.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أُخْتِي طَوِيلَةٌ وَذَكِيَّةٌ، وَأَخِي قَصِيرٌ وَمَرِحٌ.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sister is tall and clever, and my brother is short and cheerful.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male and three female people or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Noun → adjective; + ة for feminine.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phrases (a / the …) and sentences (…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 al- on the adjective in a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including a feminine noun without </a:t>
            </a:r>
            <a:pPr algn="l" indent="0" marL="0">
              <a:buNone/>
            </a:pPr>
            <a:r>
              <a:rPr lang="ar-SA" altLang="en-US" sz="1800" b="1" dirty="0">
                <a:solidFill>
                  <a:srgbClr val="1F2A37"/>
                </a:solidFill>
                <a:latin typeface="Amiri" pitchFamily="2" charset="-78"/>
                <a:ea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and one shape-changing adjective.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Sun, mother · red, thirsty.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مَدِينَةٍ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______ قَرِيبَةٌ.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school is near.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الْيَوْمَ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 today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حَقِيبَةٌ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bag.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book.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100" b="1" dirty="0">
                <a:solidFill>
                  <a:srgbClr val="1B3B6F"/>
                </a:solidFill>
                <a:latin typeface="Amiri" pitchFamily="2" charset="-78"/>
                <a:ea typeface="Amiri" pitchFamily="2" charset="-78"/>
                <a:cs typeface="Amiri" pitchFamily="2" charset="-78"/>
              </a:rPr>
              <a:t>كَبِيرٌ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صَغِيرٌ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جَمِيلٌ</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جَدِيدٌ</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قَدِيمٌ</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طَوِيلٌ</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قَصِيرٌ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ذَكِيٌّ</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لَطِيفٌ</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نَشِيطٌ</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هَادِئٌ</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ea typeface="Amiri" pitchFamily="2" charset="-78"/>
                <a:cs typeface="Amiri" pitchFamily="2" charset="-78"/>
              </a:rPr>
              <a:t>حَارٌّ</a:t>
            </a:r>
            <a:pPr algn="l" indent="0" marL="0">
              <a:buNone/>
            </a:pPr>
            <a:r>
              <a:rPr lang="en-US" sz="1600" b="1" dirty="0">
                <a:solidFill>
                  <a:srgbClr val="1B3B6F"/>
                </a:solidFill>
                <a:latin typeface="Calibri" pitchFamily="34" charset="0"/>
                <a:cs typeface="Amiri" pitchFamily="2" charset="-78"/>
              </a:rPr>
              <a:t>  ·  + </a:t>
            </a:r>
            <a:pPr algn="l" indent="0" marL="0">
              <a:buNone/>
            </a:pPr>
            <a:r>
              <a:rPr lang="ar-SA" altLang="en-US" sz="2100" b="1" dirty="0">
                <a:solidFill>
                  <a:srgbClr val="1B3B6F"/>
                </a:solidFill>
                <a:latin typeface="Amiri" pitchFamily="2" charset="-78"/>
                <a:ea typeface="Amiri" pitchFamily="2" charset="-78"/>
                <a:cs typeface="Amiri" pitchFamily="2" charset="-78"/>
              </a:rPr>
              <a:t>ة</a:t>
            </a:r>
            <a:pPr algn="l" indent="0" marL="0">
              <a:buNone/>
            </a:pPr>
            <a:r>
              <a:rPr lang="en-US" sz="1600" b="1" dirty="0">
                <a:solidFill>
                  <a:srgbClr val="1B3B6F"/>
                </a:solidFill>
                <a:latin typeface="Calibri" pitchFamily="34" charset="0"/>
                <a:cs typeface="Amiri" pitchFamily="2" charset="-78"/>
              </a:rPr>
              <a:t> for feminine</a:t>
            </a:r>
            <a:endParaRPr lang="en-US"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masculine and four feminine adjective structures.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phrases with al- on both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nominal sentences (“… is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noun without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(sun, mother, sister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adjective whose feminine changes shape.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لَطِيفَةٌ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is kind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الشَّمْسُ حَارَّةٌ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sun is hot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مَدِينَةٌ قَدِيمَةٌ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old city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الْمَتْحَفُ الْقَدِيمُ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 museum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حَقِيبَةٌ حَمْرَاءُ</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red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عَطْشَانُ / عَطْشَى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thirsty (m. /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قَدِيمَةٍ وَجَمِيلَةٍ. بَيْتُنَا صَغِيرٌ، لَكِنَّ الْحَدِيقَةَ كَبِيرَةٌ. أُمِّي طَبَّاخَةٌ مَاهِرَةٌ، وَطَعَامُهَا لَذِيذٌ. أَخِي الْكَبِيرُ طَالِبٌ مُجْتَهِدٌ، وَأُخْتِي الصَّغِيرَةُ مَرِحَةٌ. فِي الصَّيْفِ الشَّمْسُ حَارَّةٌ، فَتَلْبَسُ أُخْتِي قُبَّعَةً حَمْرَاءَ.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an old and beautiful city. Our house is small, but the garden is big. My mother is a skilful cook, and her food is delicious. My older brother is a hard-working student, and my little sister is cheerful. In summer the sun is hot, so my sister wears a red hat.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pairs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phrase vs sentence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hidden feminine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phrases and sentences mean what I intended.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spotted feminine nouns without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adjective that changes shape.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clever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 ذَكِيَّةٌ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 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 الذَّكِيَّةُ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sun is hot.”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 حَارٌّ.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 حَارَّةٌ.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 الْحَارَّةُ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الْجَدِيدَةُ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clever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بِنْتٌ ذَكِيَّةٌ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بِنْتٌ ذَكِيٌّ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بِنْتٌ الذَّكِيَّةُ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indefinite.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sun is hot.”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الشَّمْسُ حَارٌّ.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الشَّمْسُ حَارَّةٌ.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الشَّمْسُ الْحَارَّةُ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الْكِتَابُ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الْجَدِيدَةُ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al- on both.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GM-ADJ-02 · Adjective Agreement with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مُجْتَهِدُونَ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hard-working (m. pl.)</a:t>
            </a:r>
            <a:pPr indent="0" marL="0">
              <a:buNone/>
            </a:pPr>
            <a:r>
              <a:rPr lang="ar-SA" sz="1000" i="1" dirty="0">
                <a:solidFill>
                  <a:srgbClr val="5A6472"/>
                </a:solidFill>
                <a:latin typeface="Calibri" pitchFamily="34" charset="0"/>
                <a:ea typeface="Amiri" pitchFamily="2" charset="-78"/>
                <a:cs typeface="Amiri" pitchFamily="2" charset="-78"/>
              </a:rPr>
              <a:t>  sing. مُجْتَهِدٌ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مُجْتَهِدَاتٌ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hard-working (f. pl.)</a:t>
            </a:r>
            <a:pPr indent="0" marL="0">
              <a:buNone/>
            </a:pPr>
            <a:r>
              <a:rPr lang="ar-SA" sz="1000" i="1" dirty="0">
                <a:solidFill>
                  <a:srgbClr val="5A6472"/>
                </a:solidFill>
                <a:latin typeface="Calibri" pitchFamily="34" charset="0"/>
                <a:ea typeface="Amiri" pitchFamily="2" charset="-78"/>
                <a:cs typeface="Amiri" pitchFamily="2" charset="-78"/>
              </a:rPr>
              <a:t>  sing. مُجْتَهِدَةٌ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big (pl., people)</a:t>
            </a:r>
            <a:pPr indent="0" marL="0">
              <a:buNone/>
            </a:pPr>
            <a:r>
              <a:rPr lang="ar-SA" sz="1000" i="1" dirty="0">
                <a:solidFill>
                  <a:srgbClr val="5A6472"/>
                </a:solidFill>
                <a:latin typeface="Calibri" pitchFamily="34" charset="0"/>
                <a:ea typeface="Amiri" pitchFamily="2" charset="-78"/>
                <a:cs typeface="Amiri" pitchFamily="2" charset="-78"/>
              </a:rPr>
              <a:t>  sing. كَبِيرٌ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مُفِيدَةٌ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useful (for things in the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say “the students are hard-working” for boys, and for girls?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الطُّلَّابُ ______ · الطَّالِبَاتُ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adjective pairs: five masculine, five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and six phrases with the same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(90–120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GM-ADJ-02 · Adjective Agreement with Plurals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مُطَابَقَةُ الصِّفَةِ مَعَ الْجُمُوعِ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feminine noun → adjective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watch hidden feminines (sun, mother) and shape-changers (red) · al- on the adjective = phrase; no al- =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GM-ADJ-01 · Masculine and Feminine Singular</dc:title>
  <dc:subject>PptxGenJS Presentation</dc:subject>
  <dc:creator>Al Madina Online School · Arabic Department</dc:creator>
  <cp:lastModifiedBy>Al Madina Online School · Arabic Department</cp:lastModifiedBy>
  <cp:revision>1</cp:revision>
  <dcterms:created xsi:type="dcterms:W3CDTF">2026-10-11T06:41:59Z</dcterms:created>
  <dcterms:modified xsi:type="dcterms:W3CDTF">2026-10-11T06:41:59Z</dcterms:modified>
</cp:coreProperties>
</file>