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Adjectives › GM-ADJ-01 (“Masculine and Feminine Singular”).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noun first, then adjective; feminine noun → adjective + ة (وَلَدٌ صَغِيرٌ · بِنْتٌ صَغِيرَةٌ). Develop: phrase vs sentence (بَيْتٌ كَبِيرٌ / الْبَيْتُ كَبِيرٌ / الْبَيْتُ الْكَبِيرُ); feminine nouns without ة (شَمْسٌ · أُمٌّ · بِنْتٌ). Stretch: feminine forms that are not “+ ة” — أَحْمَرُ حَمْرَاءُ (taught fully in ADJ-03) and عَطْشَانُ عَطْشَى.
• Website “Why this matters”: adjective control affects every Cambridge topic — people, clothes, homes, school, travel, weather, work and opinions.
• This lesson revisits GM-N-01 (noun gender) and GM-ART-02 (definiteness agreement) — keep those links visible.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The website Entry Check (all five questions) — it uses the five words prepared at the end of GM-N-07.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Find the noun first. Masculine noun → masculine adjective; feminine noun → feminine adjective (usually + tāʾ marbūṭa).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(3 min) — website “The agreement principle”. Use the arrow routine: point at the noun, then draw an arrow to the adjective and say “matches”.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(3 min) — website “Do not add ة mechanically”. Core learns the first three rows; the last two rows are Stretch recognition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3 (3 min) — website “Phrase or sentence?”. Ask: “Is there an is/are in English?” If yes, the adjective has NO 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teacher-written hinge questions on the website’s three steps.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Narrate the checklist each time: “Noun? Gender? Definite? Case?” Point out مَدِينَةٍ جَمِيلَةٍ — the adjective copies the -in after fī.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type M or F. Traps: sun, mother and girl are feminine without ة (GM-N-01).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type M or F. Traps: sun, mother and girl are feminine without ة (GM-N-01).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 reveal row by row. For each, ask a student to name the feature: gender / definiteness / phrase vs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teacher-written practice on the website rules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reading text, extended by the teacher. Read it aloud once while students follow; then they hunt for today’s grammar.
Task: Website: underline each adjective, draw an arrow to its noun, and label the agreement feature.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The first two sentences are the website text; the rest is teacher-written.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speaking task (45–60 seconds). Sequence: ● 10s think → ↔ 45s rehearse aloud with mic muted → ◎ two named students on open mic (warned in advance) → + ? the class types one follow-up in chat → ↺ one student summarises.
Routes: Core uses the Core prompt and stem; Develop the Develop prompt; Stretch the last prompt.
Website: 45–60 seconds with at least six accurate adjective structures. Listening variant (website “listening without audio”): read the model twice; partners note nouns first, adjectives second, then rebuild the pairs.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90–120 words describing a person, place, object or experience, with at least eight target adjective structures, underlined.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workshop,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(GM-ADJ-02 · Adjective Agreement with Plurals) will spend class time USING this language, so students prepare it tonight — short, simple, easy to access (school guidance: “Simple, Short, Interesting, Relevant, Easy to access”). The five words prepare GM-ADJ-02 (website Adjectives lesson 2: agreement with plurals).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MIFTAH GRAMMAR MASTERY  ·  ADJECTIVES  ·  GM-ADJ-01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GM-ADJ-01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450" b="1" dirty="0">
                <a:solidFill>
                  <a:srgbClr val="FFFFFF"/>
                </a:solidFill>
                <a:latin typeface="Cambria" pitchFamily="34" charset="0"/>
                <a:cs typeface="Amiri" pitchFamily="2" charset="-78"/>
              </a:rPr>
              <a:t>Masculine and Feminine Singular</a:t>
            </a:r>
            <a:endParaRPr lang="en-US" sz="34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مُطَابَقَةُ الصِّفَةِ فِي الْمُذَكَّرِ وَالْمُؤَنَّثِ</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An Arabic adjective comes AFTER its noun and matches it: masculine noun → masculine adjective, feminine noun → feminine adjective (usually + tāʾ marbūṭa). Check the noun first — and notice whether you have made a phrase or a sentence.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GM-ADJ-01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Grammar › Adjectives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GM-ADJ-01 · Adjectives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GM-ADJ-01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The agreement principle; not just </a:t>
            </a:r>
            <a:pPr algn="ctr" indent="0" marL="0">
              <a:buNone/>
            </a:pPr>
            <a:r>
              <a:rPr lang="ar-SA" altLang="en-US" sz="1550" dirty="0">
                <a:solidFill>
                  <a:srgbClr val="1F2A37"/>
                </a:solidFill>
                <a:latin typeface="Amiri" pitchFamily="2" charset="-78"/>
                <a:cs typeface="Amiri" pitchFamily="2" charset="-78"/>
              </a:rPr>
              <a:t>ة</a:t>
            </a:r>
            <a:pPr algn="ctr" indent="0" marL="0">
              <a:buNone/>
            </a:pPr>
            <a:r>
              <a:rPr lang="en-US" sz="1200" dirty="0">
                <a:solidFill>
                  <a:srgbClr val="1F2A37"/>
                </a:solidFill>
                <a:latin typeface="Calibri" pitchFamily="34" charset="0"/>
                <a:cs typeface="Amiri" pitchFamily="2" charset="-78"/>
              </a:rPr>
              <a:t>; phrase or sentence.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Sort masculine / feminine, transform,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GM-ADJ-02.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GM-ADJ-01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agreement for </a:t>
            </a:r>
            <a:pPr algn="l" indent="0" marL="0">
              <a:buNone/>
            </a:pPr>
            <a:r>
              <a:rPr lang="ar-SA" altLang="en-US" sz="1650" b="1" dirty="0">
                <a:solidFill>
                  <a:srgbClr val="1B3B6F"/>
                </a:solidFill>
                <a:latin typeface="Amiri" pitchFamily="2" charset="-78"/>
                <a:cs typeface="Amiri" pitchFamily="2" charset="-78"/>
              </a:rPr>
              <a:t>بِنْتٌ</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ذَكِيٌّ</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ذَكِيَّةٌ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أَذْكِيَاءُ</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agreement for </a:t>
            </a:r>
            <a:pPr algn="l" indent="0" marL="0">
              <a:buNone/>
            </a:pPr>
            <a:r>
              <a:rPr lang="ar-SA" altLang="en-US" sz="1650" b="1" dirty="0">
                <a:solidFill>
                  <a:srgbClr val="1B3B6F"/>
                </a:solidFill>
                <a:latin typeface="Amiri" pitchFamily="2" charset="-78"/>
                <a:cs typeface="Amiri" pitchFamily="2" charset="-78"/>
              </a:rPr>
              <a:t>كِتَابٌ</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مُفِيدٌ</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مُفِيدَةٌ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مُفِيدُونَ</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السَّيَّارَةُ</a:t>
            </a:r>
            <a:pPr algn="l" indent="0" marL="0">
              <a:buNone/>
            </a:pPr>
            <a:r>
              <a:rPr lang="en-US" sz="1250" b="1" dirty="0">
                <a:solidFill>
                  <a:srgbClr val="1B3B6F"/>
                </a:solidFill>
                <a:latin typeface="Calibri" pitchFamily="34" charset="0"/>
                <a:cs typeface="Amiri" pitchFamily="2" charset="-78"/>
              </a:rPr>
              <a:t> ...</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جَدِيدٌ</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جُدُدٌ</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جَدِيدَةٌ</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small school”</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الْمَدْرَسَةُ صَغِيرَةٌ</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الْمَدْرَسَةُ الصَّغِيرُ</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الْمَدْرَسَةُ الصَّغِيرَةُ</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principle best supports this lesson?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Check the noun first</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Translate word by word from English</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Ignore definiteness</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GM-ADJ-01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agreement for </a:t>
            </a:r>
            <a:pPr algn="l" indent="0" marL="0">
              <a:buNone/>
            </a:pPr>
            <a:r>
              <a:rPr lang="ar-SA" altLang="en-US" sz="1650" b="1" dirty="0">
                <a:solidFill>
                  <a:srgbClr val="1B3B6F"/>
                </a:solidFill>
                <a:latin typeface="Amiri" pitchFamily="2" charset="-78"/>
                <a:cs typeface="Amiri" pitchFamily="2" charset="-78"/>
              </a:rPr>
              <a:t>بِنْتٌ</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ذَكِيٌّ</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ذَكِيَّةٌ</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أَذْكِيَاءُ</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Girl is feminine singular.</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agreement for </a:t>
            </a:r>
            <a:pPr algn="l" indent="0" marL="0">
              <a:buNone/>
            </a:pPr>
            <a:r>
              <a:rPr lang="ar-SA" altLang="en-US" sz="1650" b="1" dirty="0">
                <a:solidFill>
                  <a:srgbClr val="1B3B6F"/>
                </a:solidFill>
                <a:latin typeface="Amiri" pitchFamily="2" charset="-78"/>
                <a:cs typeface="Amiri" pitchFamily="2" charset="-78"/>
              </a:rPr>
              <a:t>كِتَابٌ</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مُفِيدٌ</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مُفِيدَةٌ</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مُفِيدُونَ</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Book is masculine singular.</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السَّيَّارَةُ</a:t>
            </a:r>
            <a:pPr algn="l" indent="0" marL="0">
              <a:buNone/>
            </a:pPr>
            <a:r>
              <a:rPr lang="en-US" sz="1250" b="1" dirty="0">
                <a:solidFill>
                  <a:srgbClr val="1B3B6F"/>
                </a:solidFill>
                <a:latin typeface="Calibri" pitchFamily="34" charset="0"/>
                <a:cs typeface="Amiri" pitchFamily="2" charset="-78"/>
              </a:rPr>
              <a:t> ...</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جَدِيدٌ</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جُدُدٌ</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جَدِيدَةٌ</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predicate agrees with the feminine noun car.</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small school”</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الْمَدْرَسَةُ صَغِيرَةٌ</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الْمَدْرَسَةُ الصَّغِيرُ</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الْمَدْرَسَةُ الصَّغِيرَةُ</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Both words are definite in the phrase.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principle best supports this lesson?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Check the noun first</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Translate word by word from English</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Ignore definiteness</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noun controls adjective agreement.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200" b="1" dirty="0">
                <a:solidFill>
                  <a:srgbClr val="1F2A37"/>
                </a:solidFill>
                <a:latin typeface="Calibri" pitchFamily="34" charset="0"/>
                <a:cs typeface="Amiri" pitchFamily="2" charset="-78"/>
              </a:rPr>
              <a:t>Find the noun first. Masculine noun → masculine adjective; feminine noun → feminine adjective (usually + tāʾ marbūṭa).</a:t>
            </a:r>
            <a:endParaRPr lang="en-US" sz="12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وَلَدٌ </a:t>
            </a:r>
            <a:pPr rtl="1" algn="ctr" indent="0" marL="0">
              <a:buNone/>
            </a:pPr>
            <a:r>
              <a:rPr lang="ar-SA" altLang="en-US" sz="2400" b="1" dirty="0">
                <a:solidFill>
                  <a:srgbClr val="0E7C86"/>
                </a:solidFill>
                <a:latin typeface="Amiri" pitchFamily="2" charset="-78"/>
                <a:cs typeface="Amiri" pitchFamily="2" charset="-78"/>
              </a:rPr>
              <a:t>صَغِيرٌ</a:t>
            </a:r>
            <a:pPr rtl="1" algn="ctr" indent="0" marL="0">
              <a:buNone/>
            </a:pPr>
            <a:r>
              <a:rPr lang="ar-SA" altLang="en-US" sz="2400" b="1" dirty="0">
                <a:solidFill>
                  <a:srgbClr val="1B3B6F"/>
                </a:solidFill>
                <a:latin typeface="Amiri" pitchFamily="2" charset="-78"/>
                <a:cs typeface="Amiri" pitchFamily="2" charset="-78"/>
              </a:rPr>
              <a:t> ‖ بِنْتٌ </a:t>
            </a:r>
            <a:pPr rtl="1" algn="ctr" indent="0" marL="0">
              <a:buNone/>
            </a:pPr>
            <a:r>
              <a:rPr lang="ar-SA" altLang="en-US" sz="2400" b="1" dirty="0">
                <a:solidFill>
                  <a:srgbClr val="D6336C"/>
                </a:solidFill>
                <a:latin typeface="Amiri" pitchFamily="2" charset="-78"/>
                <a:cs typeface="Amiri" pitchFamily="2" charset="-78"/>
              </a:rPr>
              <a:t>صَغِيرَةٌ</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GM-ADJ-01 · Adjectives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Explain how an adjective agrees with its noun in gender.</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Form the feminine adjective by adding tāʾ marbūṭa.</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Recognise feminine nouns without tāʾ marbūṭa and adjectives that change shape.</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Tell a noun phrase from a nominal sentence.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put the adjective after the noun.</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add tāʾ marbūṭa for a feminine noun.</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know sun, mother and girl are feminine.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say “a big house”, “the house is big”, “the big house”.</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know some feminines change shape (red, thirsty).</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explain each agreement in grammar words.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GM-ADJ-01 · Adjectives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الصِّفَةُ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adjective</a:t>
            </a:r>
            <a:endParaRPr lang="en-US" sz="1350" dirty="0"/>
          </a:p>
          <a:p>
            <a:pPr indent="0" marL="0">
              <a:buNone/>
            </a:pPr>
            <a:r>
              <a:rPr lang="en-US" sz="1100" i="1" dirty="0">
                <a:solidFill>
                  <a:srgbClr val="5A6472"/>
                </a:solidFill>
                <a:latin typeface="Calibri" pitchFamily="34" charset="0"/>
                <a:cs typeface="Amiri" pitchFamily="2" charset="-78"/>
              </a:rPr>
              <a:t>aṣ-ṣi-fa-tu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كَبِيرٌ · جَمِيلَةٌ</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الْمَوْصُوفُ</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noun described</a:t>
            </a:r>
            <a:endParaRPr lang="en-US" sz="1350" dirty="0"/>
          </a:p>
          <a:p>
            <a:pPr indent="0" marL="0">
              <a:buNone/>
            </a:pPr>
            <a:r>
              <a:rPr lang="en-US" sz="1100" i="1" dirty="0">
                <a:solidFill>
                  <a:srgbClr val="5A6472"/>
                </a:solidFill>
                <a:latin typeface="Calibri" pitchFamily="34" charset="0"/>
                <a:cs typeface="Amiri" pitchFamily="2" charset="-78"/>
              </a:rPr>
              <a:t>al-maw-ṣū-fu</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بَيْتٌ كَبِيرٌ</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مُذَكَّرٌ</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masculine</a:t>
            </a:r>
            <a:endParaRPr lang="en-US" sz="1350" dirty="0"/>
          </a:p>
          <a:p>
            <a:pPr indent="0" marL="0">
              <a:buNone/>
            </a:pPr>
            <a:r>
              <a:rPr lang="en-US" sz="1100" i="1" dirty="0">
                <a:solidFill>
                  <a:srgbClr val="5A6472"/>
                </a:solidFill>
                <a:latin typeface="Calibri" pitchFamily="34" charset="0"/>
                <a:cs typeface="Amiri" pitchFamily="2" charset="-78"/>
              </a:rPr>
              <a:t>mu-dhak-ka-run</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وَلَدٌ صَغِيرٌ</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مُؤَنَّثٌ</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feminine</a:t>
            </a:r>
            <a:endParaRPr lang="en-US" sz="1350" dirty="0"/>
          </a:p>
          <a:p>
            <a:pPr indent="0" marL="0">
              <a:buNone/>
            </a:pPr>
            <a:r>
              <a:rPr lang="en-US" sz="1100" i="1" dirty="0">
                <a:solidFill>
                  <a:srgbClr val="5A6472"/>
                </a:solidFill>
                <a:latin typeface="Calibri" pitchFamily="34" charset="0"/>
                <a:cs typeface="Amiri" pitchFamily="2" charset="-78"/>
              </a:rPr>
              <a:t>mu-ʾan-na-thun</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بِنْتٌ صَغِيرَةٌ</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الْمُطَابَقَةُ</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agreement (matching)</a:t>
            </a:r>
            <a:endParaRPr lang="en-US" sz="1350" dirty="0"/>
          </a:p>
          <a:p>
            <a:pPr indent="0" marL="0">
              <a:buNone/>
            </a:pPr>
            <a:r>
              <a:rPr lang="en-US" sz="1100" i="1" dirty="0">
                <a:solidFill>
                  <a:srgbClr val="5A6472"/>
                </a:solidFill>
                <a:latin typeface="Calibri" pitchFamily="34" charset="0"/>
                <a:cs typeface="Amiri" pitchFamily="2" charset="-78"/>
              </a:rPr>
              <a:t>al-mu-ṭā-ba-qa-tu</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gender · number · definiteness · case</a:t>
            </a:r>
            <a:endParaRPr lang="en-US" sz="10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جُمْلَةٌ اسْمِيَّةٌ</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nominal sentence</a:t>
            </a:r>
            <a:endParaRPr lang="en-US" sz="1350" dirty="0"/>
          </a:p>
          <a:p>
            <a:pPr indent="0" marL="0">
              <a:buNone/>
            </a:pPr>
            <a:r>
              <a:rPr lang="en-US" sz="1100" i="1" dirty="0">
                <a:solidFill>
                  <a:srgbClr val="5A6472"/>
                </a:solidFill>
                <a:latin typeface="Calibri" pitchFamily="34" charset="0"/>
                <a:cs typeface="Amiri" pitchFamily="2" charset="-78"/>
              </a:rPr>
              <a:t>jum-la-tun as-miy-ya-tun</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الْبَيْتُ كَبِيرٌ</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GM-ADJ-01 · Adjectives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STEP 1 · THE AGREEMENT PRINCIPLE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noun decides the adjective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الصِّفَةُ تَتْبَعُ الْمَوْصُوفَ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GM-ADJ-01</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THE RULE, STEP BY STEP</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An Arabic adjective describes a noun and normally agrees with it in gender (website).</a:t>
            </a:r>
            <a:endParaRPr lang="en-US" sz="1300" dirty="0"/>
          </a:p>
        </p:txBody>
      </p:sp>
      <p:sp>
        <p:nvSpPr>
          <p:cNvPr id="20" name="Shape 17"/>
          <p:cNvSpPr/>
          <p:nvPr/>
        </p:nvSpPr>
        <p:spPr>
          <a:xfrm>
            <a:off x="658368" y="2885846"/>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288584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776118"/>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The adjective comes AFTER the noun — the opposite of English.</a:t>
            </a:r>
            <a:endParaRPr lang="en-US" sz="1300" dirty="0"/>
          </a:p>
        </p:txBody>
      </p:sp>
      <p:sp>
        <p:nvSpPr>
          <p:cNvPr id="23" name="Shape 20"/>
          <p:cNvSpPr/>
          <p:nvPr/>
        </p:nvSpPr>
        <p:spPr>
          <a:xfrm>
            <a:off x="658368" y="3485693"/>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485693"/>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375965"/>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Masculine noun → masculine adjective (no tāʾ marbūṭa).</a:t>
            </a:r>
            <a:endParaRPr lang="en-US" sz="1300" dirty="0"/>
          </a:p>
        </p:txBody>
      </p:sp>
      <p:sp>
        <p:nvSpPr>
          <p:cNvPr id="26" name="Shape 23"/>
          <p:cNvSpPr/>
          <p:nvPr/>
        </p:nvSpPr>
        <p:spPr>
          <a:xfrm>
            <a:off x="658368" y="4085539"/>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085539"/>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3975811"/>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Feminine noun → feminine adjective: the classroom shortcut is to add -atun (tāʾ marbūṭa).</a:t>
            </a:r>
            <a:endParaRPr lang="en-US" sz="1300" dirty="0"/>
          </a:p>
        </p:txBody>
      </p:sp>
      <p:sp>
        <p:nvSpPr>
          <p:cNvPr id="29" name="Shape 26"/>
          <p:cNvSpPr/>
          <p:nvPr/>
        </p:nvSpPr>
        <p:spPr>
          <a:xfrm>
            <a:off x="658368" y="4685386"/>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58368" y="468538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5</a:t>
            </a:r>
            <a:endParaRPr lang="en-US" sz="1100" dirty="0"/>
          </a:p>
        </p:txBody>
      </p:sp>
      <p:sp>
        <p:nvSpPr>
          <p:cNvPr id="31" name="Text 28"/>
          <p:cNvSpPr txBox="1"/>
          <p:nvPr/>
        </p:nvSpPr>
        <p:spPr>
          <a:xfrm>
            <a:off x="1078992" y="4575658"/>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The adjective also copies the case ending: -un · -an · -in, like its noun.</a:t>
            </a:r>
            <a:endParaRPr lang="en-US" sz="1300" dirty="0"/>
          </a:p>
        </p:txBody>
      </p:sp>
      <p:sp>
        <p:nvSpPr>
          <p:cNvPr id="32" name="Shape 29"/>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Text 30"/>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WORKED EXAMPLES</a:t>
            </a:r>
            <a:endParaRPr lang="en-US" sz="1000" dirty="0"/>
          </a:p>
        </p:txBody>
      </p:sp>
      <p:sp>
        <p:nvSpPr>
          <p:cNvPr id="34" name="Text 31"/>
          <p:cNvSpPr txBox="1"/>
          <p:nvPr/>
        </p:nvSpPr>
        <p:spPr>
          <a:xfrm>
            <a:off x="6949440" y="2194560"/>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وَلَدٌ صَغِيرٌ · بِنْتٌ صَغِيرَةٌ</a:t>
            </a:r>
            <a:endParaRPr lang="ar-SA" sz="1950" dirty="0"/>
          </a:p>
        </p:txBody>
      </p:sp>
      <p:sp>
        <p:nvSpPr>
          <p:cNvPr id="35" name="Text 32"/>
          <p:cNvSpPr txBox="1"/>
          <p:nvPr/>
        </p:nvSpPr>
        <p:spPr>
          <a:xfrm>
            <a:off x="6949440" y="2619573"/>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small boy · a small girl  ·  website</a:t>
            </a:r>
            <a:endParaRPr lang="en-US" sz="1100" dirty="0"/>
          </a:p>
        </p:txBody>
      </p:sp>
      <p:sp>
        <p:nvSpPr>
          <p:cNvPr id="36" name="Shape 33"/>
          <p:cNvSpPr/>
          <p:nvPr/>
        </p:nvSpPr>
        <p:spPr>
          <a:xfrm>
            <a:off x="6995160" y="2935224"/>
            <a:ext cx="4553712" cy="0"/>
          </a:xfrm>
          <a:prstGeom prst="line">
            <a:avLst/>
          </a:prstGeom>
          <a:noFill/>
          <a:ln w="9525">
            <a:solidFill>
              <a:srgbClr val="E4DCCB"/>
            </a:solidFill>
            <a:prstDash val="dash"/>
          </a:ln>
        </p:spPr>
      </p:sp>
      <p:sp>
        <p:nvSpPr>
          <p:cNvPr id="37" name="Text 34"/>
          <p:cNvSpPr txBox="1"/>
          <p:nvPr/>
        </p:nvSpPr>
        <p:spPr>
          <a:xfrm>
            <a:off x="6949440" y="2953512"/>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بَيْتٌ كَبِيرٌ · مَدْرَسَةٌ كَبِيرَةٌ</a:t>
            </a:r>
            <a:endParaRPr lang="ar-SA" sz="1950" dirty="0"/>
          </a:p>
        </p:txBody>
      </p:sp>
      <p:sp>
        <p:nvSpPr>
          <p:cNvPr id="38" name="Text 35"/>
          <p:cNvSpPr txBox="1"/>
          <p:nvPr/>
        </p:nvSpPr>
        <p:spPr>
          <a:xfrm>
            <a:off x="6949440" y="3378525"/>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big house · a big school  ·  website</a:t>
            </a:r>
            <a:endParaRPr lang="en-US" sz="1100" dirty="0"/>
          </a:p>
        </p:txBody>
      </p:sp>
      <p:sp>
        <p:nvSpPr>
          <p:cNvPr id="39" name="Shape 36"/>
          <p:cNvSpPr/>
          <p:nvPr/>
        </p:nvSpPr>
        <p:spPr>
          <a:xfrm>
            <a:off x="6995160" y="3694176"/>
            <a:ext cx="4553712" cy="0"/>
          </a:xfrm>
          <a:prstGeom prst="line">
            <a:avLst/>
          </a:prstGeom>
          <a:noFill/>
          <a:ln w="9525">
            <a:solidFill>
              <a:srgbClr val="E4DCCB"/>
            </a:solidFill>
            <a:prstDash val="dash"/>
          </a:ln>
        </p:spPr>
      </p:sp>
      <p:sp>
        <p:nvSpPr>
          <p:cNvPr id="40" name="Text 37"/>
          <p:cNvSpPr txBox="1"/>
          <p:nvPr/>
        </p:nvSpPr>
        <p:spPr>
          <a:xfrm>
            <a:off x="6949440" y="3712464"/>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طَالِبٌ مُجْتَهِدٌ · طَالِبَةٌ مُجْتَهِدَةٌ</a:t>
            </a:r>
            <a:endParaRPr lang="ar-SA" sz="1950" dirty="0"/>
          </a:p>
        </p:txBody>
      </p:sp>
      <p:sp>
        <p:nvSpPr>
          <p:cNvPr id="41" name="Text 38"/>
          <p:cNvSpPr txBox="1"/>
          <p:nvPr/>
        </p:nvSpPr>
        <p:spPr>
          <a:xfrm>
            <a:off x="6949440" y="4137477"/>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hard-working student (m. · f.)  ·  website</a:t>
            </a:r>
            <a:endParaRPr lang="en-US" sz="1100" dirty="0"/>
          </a:p>
        </p:txBody>
      </p:sp>
      <p:sp>
        <p:nvSpPr>
          <p:cNvPr id="42" name="Shape 39"/>
          <p:cNvSpPr/>
          <p:nvPr/>
        </p:nvSpPr>
        <p:spPr>
          <a:xfrm>
            <a:off x="6995160" y="4453128"/>
            <a:ext cx="4553712" cy="0"/>
          </a:xfrm>
          <a:prstGeom prst="line">
            <a:avLst/>
          </a:prstGeom>
          <a:noFill/>
          <a:ln w="9525">
            <a:solidFill>
              <a:srgbClr val="E4DCCB"/>
            </a:solidFill>
            <a:prstDash val="dash"/>
          </a:ln>
        </p:spPr>
      </p:sp>
      <p:sp>
        <p:nvSpPr>
          <p:cNvPr id="43" name="Text 40"/>
          <p:cNvSpPr txBox="1"/>
          <p:nvPr/>
        </p:nvSpPr>
        <p:spPr>
          <a:xfrm>
            <a:off x="6949440" y="4471416"/>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رَأَيْتُ بِنْتًا ذَكِيَّةً.</a:t>
            </a:r>
            <a:endParaRPr lang="ar-SA" sz="1950" dirty="0"/>
          </a:p>
        </p:txBody>
      </p:sp>
      <p:sp>
        <p:nvSpPr>
          <p:cNvPr id="44" name="Text 41"/>
          <p:cNvSpPr txBox="1"/>
          <p:nvPr/>
        </p:nvSpPr>
        <p:spPr>
          <a:xfrm>
            <a:off x="6949440" y="4896429"/>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 saw a clever girl.  ·  case copied too</a:t>
            </a:r>
            <a:endParaRPr lang="en-US" sz="1100" dirty="0"/>
          </a:p>
        </p:txBody>
      </p:sp>
      <p:sp>
        <p:nvSpPr>
          <p:cNvPr id="45" name="Shape 42"/>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cs typeface="Amiri" pitchFamily="2" charset="-78"/>
              </a:rPr>
              <a:t>REMEMBER</a:t>
            </a:r>
            <a:endParaRPr lang="en-US" sz="1100" dirty="0"/>
          </a:p>
        </p:txBody>
      </p:sp>
      <p:sp>
        <p:nvSpPr>
          <p:cNvPr id="47" name="Text 44"/>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Website quality check: identify the head noun FIRST, then check gender, number and definiteness.</a:t>
            </a:r>
            <a:endParaRPr lang="en-US" sz="12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GM-ADJ-01 · Adjectives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 STEP 2 · DO NOT ADD TĀʾ MARBŪṬA MECHANICALLY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Masculine, feminine — and the traps</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لَا تُضِفِ التَّاءَ آلِيًّا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Notice</a:t>
            </a:r>
            <a:endParaRPr lang="en-US" sz="1100" dirty="0"/>
          </a:p>
        </p:txBody>
      </p:sp>
      <p:sp>
        <p:nvSpPr>
          <p:cNvPr id="17" name="Text 14"/>
          <p:cNvSpPr txBox="1"/>
          <p:nvPr/>
        </p:nvSpPr>
        <p:spPr>
          <a:xfrm>
            <a:off x="60167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Feminine</a:t>
            </a:r>
            <a:endParaRPr lang="en-US" sz="1100" dirty="0"/>
          </a:p>
        </p:txBody>
      </p:sp>
      <p:sp>
        <p:nvSpPr>
          <p:cNvPr id="18" name="Text 15"/>
          <p:cNvSpPr txBox="1"/>
          <p:nvPr/>
        </p:nvSpPr>
        <p:spPr>
          <a:xfrm>
            <a:off x="32735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Masculine</a:t>
            </a:r>
            <a:endParaRPr lang="en-US" sz="1100" dirty="0"/>
          </a:p>
        </p:txBody>
      </p:sp>
      <p:sp>
        <p:nvSpPr>
          <p:cNvPr id="19" name="Text 16"/>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796528" y="2267712"/>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regular: + </a:t>
            </a:r>
            <a:pPr algn="l" indent="0" marL="0">
              <a:buNone/>
            </a:pPr>
            <a:r>
              <a:rPr lang="ar-SA" altLang="en-US" sz="1450" dirty="0">
                <a:solidFill>
                  <a:srgbClr val="5A6472"/>
                </a:solidFill>
                <a:latin typeface="Amiri" pitchFamily="2" charset="-78"/>
                <a:cs typeface="Amiri" pitchFamily="2" charset="-78"/>
              </a:rPr>
              <a:t>ة</a:t>
            </a:r>
            <a:pPr algn="l" indent="0" marL="0">
              <a:buNone/>
            </a:pPr>
            <a:r>
              <a:rPr lang="en-US" sz="1100" dirty="0">
                <a:solidFill>
                  <a:srgbClr val="5A6472"/>
                </a:solidFill>
                <a:latin typeface="Calibri" pitchFamily="34" charset="0"/>
                <a:cs typeface="Amiri" pitchFamily="2" charset="-78"/>
              </a:rPr>
              <a:t> (website)</a:t>
            </a:r>
            <a:endParaRPr lang="en-US" sz="1100" dirty="0"/>
          </a:p>
        </p:txBody>
      </p:sp>
      <p:sp>
        <p:nvSpPr>
          <p:cNvPr id="22" name="Text 19"/>
          <p:cNvSpPr txBox="1"/>
          <p:nvPr/>
        </p:nvSpPr>
        <p:spPr>
          <a:xfrm>
            <a:off x="6035040" y="2267712"/>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جَمِيلَةٌ</a:t>
            </a:r>
            <a:endParaRPr lang="ar-SA" sz="2400" dirty="0"/>
          </a:p>
        </p:txBody>
      </p:sp>
      <p:sp>
        <p:nvSpPr>
          <p:cNvPr id="23" name="Text 20"/>
          <p:cNvSpPr txBox="1"/>
          <p:nvPr/>
        </p:nvSpPr>
        <p:spPr>
          <a:xfrm>
            <a:off x="3291840" y="2267712"/>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جَمِيلٌ</a:t>
            </a:r>
            <a:endParaRPr lang="ar-SA" sz="2400" dirty="0"/>
          </a:p>
        </p:txBody>
      </p:sp>
      <p:sp>
        <p:nvSpPr>
          <p:cNvPr id="24" name="Text 21"/>
          <p:cNvSpPr txBox="1"/>
          <p:nvPr/>
        </p:nvSpPr>
        <p:spPr>
          <a:xfrm>
            <a:off x="566928" y="2267712"/>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beautiful</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796528" y="3004718"/>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regular: + </a:t>
            </a:r>
            <a:pPr algn="l" indent="0" marL="0">
              <a:buNone/>
            </a:pPr>
            <a:r>
              <a:rPr lang="ar-SA" altLang="en-US" sz="1450" dirty="0">
                <a:solidFill>
                  <a:srgbClr val="5A6472"/>
                </a:solidFill>
                <a:latin typeface="Amiri" pitchFamily="2" charset="-78"/>
                <a:cs typeface="Amiri" pitchFamily="2" charset="-78"/>
              </a:rPr>
              <a:t>ة</a:t>
            </a:r>
            <a:pPr algn="l" indent="0" marL="0">
              <a:buNone/>
            </a:pPr>
            <a:r>
              <a:rPr lang="en-US" sz="1100" dirty="0">
                <a:solidFill>
                  <a:srgbClr val="5A6472"/>
                </a:solidFill>
                <a:latin typeface="Calibri" pitchFamily="34" charset="0"/>
                <a:cs typeface="Amiri" pitchFamily="2" charset="-78"/>
              </a:rPr>
              <a:t> (website)</a:t>
            </a:r>
            <a:endParaRPr lang="en-US" sz="1100" dirty="0"/>
          </a:p>
        </p:txBody>
      </p:sp>
      <p:sp>
        <p:nvSpPr>
          <p:cNvPr id="29" name="Text 26"/>
          <p:cNvSpPr txBox="1"/>
          <p:nvPr/>
        </p:nvSpPr>
        <p:spPr>
          <a:xfrm>
            <a:off x="6035040" y="3004718"/>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سَرِيعَةٌ</a:t>
            </a:r>
            <a:endParaRPr lang="ar-SA" sz="2400" dirty="0"/>
          </a:p>
        </p:txBody>
      </p:sp>
      <p:sp>
        <p:nvSpPr>
          <p:cNvPr id="30" name="Text 27"/>
          <p:cNvSpPr txBox="1"/>
          <p:nvPr/>
        </p:nvSpPr>
        <p:spPr>
          <a:xfrm>
            <a:off x="3291840" y="3004718"/>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سَرِيعٌ</a:t>
            </a:r>
            <a:endParaRPr lang="ar-SA" sz="2400" dirty="0"/>
          </a:p>
        </p:txBody>
      </p:sp>
      <p:sp>
        <p:nvSpPr>
          <p:cNvPr id="31" name="Text 28"/>
          <p:cNvSpPr txBox="1"/>
          <p:nvPr/>
        </p:nvSpPr>
        <p:spPr>
          <a:xfrm>
            <a:off x="566928" y="3004718"/>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fast</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796528" y="3741725"/>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keep the shadda</a:t>
            </a:r>
            <a:endParaRPr lang="en-US" sz="1100" dirty="0"/>
          </a:p>
        </p:txBody>
      </p:sp>
      <p:sp>
        <p:nvSpPr>
          <p:cNvPr id="36" name="Text 33"/>
          <p:cNvSpPr txBox="1"/>
          <p:nvPr/>
        </p:nvSpPr>
        <p:spPr>
          <a:xfrm>
            <a:off x="6035040" y="3741725"/>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ذَكِيَّةٌ</a:t>
            </a:r>
            <a:endParaRPr lang="ar-SA" sz="2400" dirty="0"/>
          </a:p>
        </p:txBody>
      </p:sp>
      <p:sp>
        <p:nvSpPr>
          <p:cNvPr id="37" name="Text 34"/>
          <p:cNvSpPr txBox="1"/>
          <p:nvPr/>
        </p:nvSpPr>
        <p:spPr>
          <a:xfrm>
            <a:off x="3291840" y="3741725"/>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ذَكِيٌّ</a:t>
            </a:r>
            <a:endParaRPr lang="ar-SA" sz="2400" dirty="0"/>
          </a:p>
        </p:txBody>
      </p:sp>
      <p:sp>
        <p:nvSpPr>
          <p:cNvPr id="38" name="Text 35"/>
          <p:cNvSpPr txBox="1"/>
          <p:nvPr/>
        </p:nvSpPr>
        <p:spPr>
          <a:xfrm>
            <a:off x="566928" y="3741725"/>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clever</a:t>
            </a:r>
            <a:endParaRPr lang="en-US" sz="11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8796528" y="4478731"/>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shape changes — colours, ADJ-03</a:t>
            </a:r>
            <a:endParaRPr lang="en-US" sz="1100" dirty="0"/>
          </a:p>
        </p:txBody>
      </p:sp>
      <p:sp>
        <p:nvSpPr>
          <p:cNvPr id="43" name="Text 40"/>
          <p:cNvSpPr txBox="1"/>
          <p:nvPr/>
        </p:nvSpPr>
        <p:spPr>
          <a:xfrm>
            <a:off x="6035040" y="4478731"/>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حَمْرَاءُ</a:t>
            </a:r>
            <a:endParaRPr lang="ar-SA" sz="2400" dirty="0"/>
          </a:p>
        </p:txBody>
      </p:sp>
      <p:sp>
        <p:nvSpPr>
          <p:cNvPr id="44" name="Text 41"/>
          <p:cNvSpPr txBox="1"/>
          <p:nvPr/>
        </p:nvSpPr>
        <p:spPr>
          <a:xfrm>
            <a:off x="3291840" y="4478731"/>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أَحْمَرُ</a:t>
            </a:r>
            <a:endParaRPr lang="ar-SA" sz="2400" dirty="0"/>
          </a:p>
        </p:txBody>
      </p:sp>
      <p:sp>
        <p:nvSpPr>
          <p:cNvPr id="45" name="Text 42"/>
          <p:cNvSpPr txBox="1"/>
          <p:nvPr/>
        </p:nvSpPr>
        <p:spPr>
          <a:xfrm>
            <a:off x="566928" y="4478731"/>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red</a:t>
            </a:r>
            <a:endParaRPr lang="en-US" sz="1100" dirty="0"/>
          </a:p>
        </p:txBody>
      </p:sp>
      <p:sp>
        <p:nvSpPr>
          <p:cNvPr id="46" name="Shape 4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7" name="Text 44"/>
          <p:cNvSpPr txBox="1"/>
          <p:nvPr/>
        </p:nvSpPr>
        <p:spPr>
          <a:xfrm>
            <a:off x="8796528" y="5215738"/>
            <a:ext cx="28620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-ān → -ā (also hungry: jawʿān → jawʿā)</a:t>
            </a:r>
            <a:endParaRPr lang="en-US" sz="1100" dirty="0"/>
          </a:p>
        </p:txBody>
      </p:sp>
      <p:sp>
        <p:nvSpPr>
          <p:cNvPr id="48" name="Text 45"/>
          <p:cNvSpPr txBox="1"/>
          <p:nvPr/>
        </p:nvSpPr>
        <p:spPr>
          <a:xfrm>
            <a:off x="6035040" y="5215738"/>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عَطْشَى</a:t>
            </a:r>
            <a:endParaRPr lang="ar-SA" sz="2400" dirty="0"/>
          </a:p>
        </p:txBody>
      </p:sp>
      <p:sp>
        <p:nvSpPr>
          <p:cNvPr id="49" name="Text 46"/>
          <p:cNvSpPr txBox="1"/>
          <p:nvPr/>
        </p:nvSpPr>
        <p:spPr>
          <a:xfrm>
            <a:off x="3291840" y="5215738"/>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عَطْشَانُ</a:t>
            </a:r>
            <a:endParaRPr lang="ar-SA" sz="2400" dirty="0"/>
          </a:p>
        </p:txBody>
      </p:sp>
      <p:sp>
        <p:nvSpPr>
          <p:cNvPr id="50" name="Text 47"/>
          <p:cNvSpPr txBox="1"/>
          <p:nvPr/>
        </p:nvSpPr>
        <p:spPr>
          <a:xfrm>
            <a:off x="566928" y="5215738"/>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thirsty</a:t>
            </a:r>
            <a:endParaRPr lang="en-US" sz="11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base rule works often, but always notice the REAL feminine form when you learn a new adjective (website).</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GM-ADJ-01 · Adjectives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STEP 3 · PHRASE OR SENTENCE? (WEBSITE) · DEVELOP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Same words, three meanings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عِبَارَةٌ أَمْ 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Why</a:t>
            </a:r>
            <a:endParaRPr lang="en-US" sz="1100" dirty="0"/>
          </a:p>
        </p:txBody>
      </p:sp>
      <p:sp>
        <p:nvSpPr>
          <p:cNvPr id="17" name="Text 14"/>
          <p:cNvSpPr txBox="1"/>
          <p:nvPr/>
        </p:nvSpPr>
        <p:spPr>
          <a:xfrm>
            <a:off x="4370832" y="1810512"/>
            <a:ext cx="33284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8" name="Text 15"/>
          <p:cNvSpPr txBox="1"/>
          <p:nvPr/>
        </p:nvSpPr>
        <p:spPr>
          <a:xfrm>
            <a:off x="530352" y="1810512"/>
            <a:ext cx="3694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Arabic</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82128" y="2267712"/>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both indefinite → phrase</a:t>
            </a:r>
            <a:endParaRPr lang="en-US" sz="1100" dirty="0"/>
          </a:p>
        </p:txBody>
      </p:sp>
      <p:sp>
        <p:nvSpPr>
          <p:cNvPr id="21" name="Text 18"/>
          <p:cNvSpPr txBox="1"/>
          <p:nvPr/>
        </p:nvSpPr>
        <p:spPr>
          <a:xfrm>
            <a:off x="4407408" y="2267712"/>
            <a:ext cx="32918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big house</a:t>
            </a:r>
            <a:endParaRPr lang="en-US" sz="1100" dirty="0"/>
          </a:p>
        </p:txBody>
      </p:sp>
      <p:sp>
        <p:nvSpPr>
          <p:cNvPr id="22" name="Text 19"/>
          <p:cNvSpPr txBox="1"/>
          <p:nvPr/>
        </p:nvSpPr>
        <p:spPr>
          <a:xfrm>
            <a:off x="548640" y="2267712"/>
            <a:ext cx="36576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بَيْتٌ كَبِيرٌ</a:t>
            </a:r>
            <a:endParaRPr lang="ar-SA" sz="26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7882128" y="300471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definite noun + indefinite adjective → SENTENCE</a:t>
            </a:r>
            <a:endParaRPr lang="en-US" sz="1100" dirty="0"/>
          </a:p>
        </p:txBody>
      </p:sp>
      <p:sp>
        <p:nvSpPr>
          <p:cNvPr id="27" name="Text 24"/>
          <p:cNvSpPr txBox="1"/>
          <p:nvPr/>
        </p:nvSpPr>
        <p:spPr>
          <a:xfrm>
            <a:off x="4407408" y="3004718"/>
            <a:ext cx="32918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house is big.</a:t>
            </a:r>
            <a:endParaRPr lang="en-US" sz="1100" dirty="0"/>
          </a:p>
        </p:txBody>
      </p:sp>
      <p:sp>
        <p:nvSpPr>
          <p:cNvPr id="28" name="Text 25"/>
          <p:cNvSpPr txBox="1"/>
          <p:nvPr/>
        </p:nvSpPr>
        <p:spPr>
          <a:xfrm>
            <a:off x="548640" y="3004718"/>
            <a:ext cx="36576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الْبَيْتُ كَبِيرٌ.</a:t>
            </a:r>
            <a:endParaRPr lang="ar-SA" sz="26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7882128" y="3741725"/>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both definite → phrase</a:t>
            </a:r>
            <a:endParaRPr lang="en-US" sz="1100" dirty="0"/>
          </a:p>
        </p:txBody>
      </p:sp>
      <p:sp>
        <p:nvSpPr>
          <p:cNvPr id="33" name="Text 30"/>
          <p:cNvSpPr txBox="1"/>
          <p:nvPr/>
        </p:nvSpPr>
        <p:spPr>
          <a:xfrm>
            <a:off x="4407408" y="3741725"/>
            <a:ext cx="32918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big house</a:t>
            </a:r>
            <a:endParaRPr lang="en-US" sz="1100" dirty="0"/>
          </a:p>
        </p:txBody>
      </p:sp>
      <p:sp>
        <p:nvSpPr>
          <p:cNvPr id="34" name="Text 31"/>
          <p:cNvSpPr txBox="1"/>
          <p:nvPr/>
        </p:nvSpPr>
        <p:spPr>
          <a:xfrm>
            <a:off x="548640" y="3741725"/>
            <a:ext cx="36576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الْبَيْتُ الْكَبِيرُ</a:t>
            </a:r>
            <a:endParaRPr lang="ar-SA" sz="26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7882128" y="4478731"/>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sentence — still feminine agreement</a:t>
            </a:r>
            <a:endParaRPr lang="en-US" sz="1100" dirty="0"/>
          </a:p>
        </p:txBody>
      </p:sp>
      <p:sp>
        <p:nvSpPr>
          <p:cNvPr id="39" name="Text 36"/>
          <p:cNvSpPr txBox="1"/>
          <p:nvPr/>
        </p:nvSpPr>
        <p:spPr>
          <a:xfrm>
            <a:off x="4407408" y="4478731"/>
            <a:ext cx="32918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car is new.</a:t>
            </a:r>
            <a:endParaRPr lang="en-US" sz="1100" dirty="0"/>
          </a:p>
        </p:txBody>
      </p:sp>
      <p:sp>
        <p:nvSpPr>
          <p:cNvPr id="40" name="Text 37"/>
          <p:cNvSpPr txBox="1"/>
          <p:nvPr/>
        </p:nvSpPr>
        <p:spPr>
          <a:xfrm>
            <a:off x="548640" y="4478731"/>
            <a:ext cx="36576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السَّيَّارَةُ جَدِيدَةٌ.</a:t>
            </a:r>
            <a:endParaRPr lang="ar-SA" sz="2600" dirty="0"/>
          </a:p>
        </p:txBody>
      </p:sp>
      <p:sp>
        <p:nvSpPr>
          <p:cNvPr id="41" name="Shape 3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2" name="Text 39"/>
          <p:cNvSpPr txBox="1"/>
          <p:nvPr/>
        </p:nvSpPr>
        <p:spPr>
          <a:xfrm>
            <a:off x="7882128" y="521573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phrase — al- on both</a:t>
            </a:r>
            <a:endParaRPr lang="en-US" sz="1100" dirty="0"/>
          </a:p>
        </p:txBody>
      </p:sp>
      <p:sp>
        <p:nvSpPr>
          <p:cNvPr id="43" name="Text 40"/>
          <p:cNvSpPr txBox="1"/>
          <p:nvPr/>
        </p:nvSpPr>
        <p:spPr>
          <a:xfrm>
            <a:off x="4407408" y="5215738"/>
            <a:ext cx="32918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new car</a:t>
            </a:r>
            <a:endParaRPr lang="en-US" sz="1100" dirty="0"/>
          </a:p>
        </p:txBody>
      </p:sp>
      <p:sp>
        <p:nvSpPr>
          <p:cNvPr id="44" name="Text 41"/>
          <p:cNvSpPr txBox="1"/>
          <p:nvPr/>
        </p:nvSpPr>
        <p:spPr>
          <a:xfrm>
            <a:off x="548640" y="5215738"/>
            <a:ext cx="36576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السَّيَّارَةُ الْجَدِيدَةُ</a:t>
            </a:r>
            <a:endParaRPr lang="ar-SA" sz="260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Agreement in gender is the same in all three — only definiteness changes the meaning (website).</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GM-ADJ-01 · Adjectives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The sun is feminine. Choose its adjective.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حَارٌّ</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حَارُّونَ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حَارَّةٌ</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fast car”.</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سَيَّارَةٌ سَرِيعَةٌ</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سَيَّارَةٌ سَرِيعٌ</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سَيَّارَةٌ السَّرِيعَةُ</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الْوَلَدُ ذَكِيٌّ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clever boy</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boy is clever.</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clever boy</a:t>
            </a:r>
            <a:endParaRPr lang="en-US" sz="12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pair is correct?</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قَمِيصٌ جَمِيلٌ</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قَمِيصَةٌ جَمِيلَةٌ</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قَمِيصٌ جَمِيلَةٌ</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GM-ADJ-01 · Adjectives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The sun is feminine. Choose its adjective.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حَارٌّ</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حَارُّونَ</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حَارَّةٌ</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Sun is feminine without </a:t>
            </a:r>
            <a:pPr algn="l" indent="0" marL="0">
              <a:buNone/>
            </a:pPr>
            <a:r>
              <a:rPr lang="ar-SA" altLang="en-US" sz="1350" dirty="0">
                <a:solidFill>
                  <a:srgbClr val="8A6D1E"/>
                </a:solidFill>
                <a:latin typeface="Amiri" pitchFamily="2" charset="-78"/>
                <a:cs typeface="Amiri" pitchFamily="2" charset="-78"/>
              </a:rPr>
              <a:t>ة</a:t>
            </a:r>
            <a:pPr algn="l" indent="0" marL="0">
              <a:buNone/>
            </a:pPr>
            <a:r>
              <a:rPr lang="en-US" sz="1050" i="1" dirty="0">
                <a:solidFill>
                  <a:srgbClr val="8A6D1E"/>
                </a:solidFill>
                <a:latin typeface="Calibri" pitchFamily="34" charset="0"/>
                <a:cs typeface="Amiri" pitchFamily="2" charset="-78"/>
              </a:rPr>
              <a:t> — the adjective still takes </a:t>
            </a:r>
            <a:pPr algn="l" indent="0" marL="0">
              <a:buNone/>
            </a:pPr>
            <a:r>
              <a:rPr lang="ar-SA" altLang="en-US" sz="1350" dirty="0">
                <a:solidFill>
                  <a:srgbClr val="8A6D1E"/>
                </a:solidFill>
                <a:latin typeface="Amiri" pitchFamily="2" charset="-78"/>
                <a:cs typeface="Amiri" pitchFamily="2" charset="-78"/>
              </a:rPr>
              <a:t>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fast car”.</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سَيَّارَةٌ سَرِيعَةٌ</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سَيَّارَةٌ سَرِيعٌ</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سَيَّارَةٌ السَّرِيعَةُ</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Feminine and indefinite.</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الْوَلَدُ ذَكِيٌّ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clever boy</a:t>
            </a:r>
            <a:endParaRPr lang="en-US" sz="125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boy is clever.</a:t>
            </a:r>
            <a:endParaRPr lang="en-US" sz="125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clever boy</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Definite noun + indefinite adjective = sentence.</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pair is correct?</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قَمِيصٌ جَمِيلٌ</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قَمِيصَةٌ جَمِيلَةٌ</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قَمِيصٌ جَمِيلَةٌ</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Add </a:t>
            </a:r>
            <a:pPr algn="l" indent="0" marL="0">
              <a:buNone/>
            </a:pPr>
            <a:r>
              <a:rPr lang="ar-SA" altLang="en-US" sz="1350" dirty="0">
                <a:solidFill>
                  <a:srgbClr val="8A6D1E"/>
                </a:solidFill>
                <a:latin typeface="Amiri" pitchFamily="2" charset="-78"/>
                <a:cs typeface="Amiri" pitchFamily="2" charset="-78"/>
              </a:rPr>
              <a:t>ة</a:t>
            </a:r>
            <a:pPr algn="l" indent="0" marL="0">
              <a:buNone/>
            </a:pPr>
            <a:r>
              <a:rPr lang="en-US" sz="1050" i="1" dirty="0">
                <a:solidFill>
                  <a:srgbClr val="8A6D1E"/>
                </a:solidFill>
                <a:latin typeface="Calibri" pitchFamily="34" charset="0"/>
                <a:cs typeface="Amiri" pitchFamily="2" charset="-78"/>
              </a:rPr>
              <a:t> to the adjective only when the noun is feminine — never to the noun.</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GM-ADJ-01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check the noun first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Noun</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الْمَدِينَةُ</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Ends in </a:t>
            </a:r>
            <a:pPr algn="l" indent="0" marL="0">
              <a:buNone/>
            </a:pPr>
            <a:r>
              <a:rPr lang="ar-SA" altLang="en-US" sz="1500" dirty="0">
                <a:solidFill>
                  <a:srgbClr val="1F2A37"/>
                </a:solidFill>
                <a:latin typeface="Amiri" pitchFamily="2" charset="-78"/>
                <a:cs typeface="Amiri" pitchFamily="2" charset="-78"/>
              </a:rPr>
              <a:t>ة</a:t>
            </a:r>
            <a:pPr algn="l" indent="0" marL="0">
              <a:buNone/>
            </a:pPr>
            <a:r>
              <a:rPr lang="en-US" sz="1150" dirty="0">
                <a:solidFill>
                  <a:srgbClr val="1F2A37"/>
                </a:solidFill>
                <a:latin typeface="Calibri" pitchFamily="34" charset="0"/>
                <a:cs typeface="Amiri" pitchFamily="2" charset="-78"/>
              </a:rPr>
              <a:t> → feminine.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Definite?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الْمَدِينَةُ</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Yes — al-.</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Phrase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الْمَدِينَةُ الْجَمِيلَةُ</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al- + </a:t>
            </a:r>
            <a:pPr algn="l" indent="0" marL="0">
              <a:buNone/>
            </a:pPr>
            <a:r>
              <a:rPr lang="ar-SA" altLang="en-US" sz="1500" dirty="0">
                <a:solidFill>
                  <a:srgbClr val="1F2A37"/>
                </a:solidFill>
                <a:latin typeface="Amiri" pitchFamily="2" charset="-78"/>
                <a:cs typeface="Amiri" pitchFamily="2" charset="-78"/>
              </a:rPr>
              <a:t>ة</a:t>
            </a:r>
            <a:pPr algn="l" indent="0" marL="0">
              <a:buNone/>
            </a:pPr>
            <a:r>
              <a:rPr lang="en-US" sz="1150" dirty="0">
                <a:solidFill>
                  <a:srgbClr val="1F2A37"/>
                </a:solidFill>
                <a:latin typeface="Calibri" pitchFamily="34" charset="0"/>
                <a:cs typeface="Amiri" pitchFamily="2" charset="-78"/>
              </a:rPr>
              <a:t> on the adjective.</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Sentence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الْمَدِينَةُ جَمِيلَةٌ.</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No al- → “is”.</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NOUN</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ADJECTIVE</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أَسْكُنُ فِي </a:t>
            </a:r>
            <a:pPr rtl="1" algn="r" indent="0" marL="0">
              <a:buNone/>
            </a:pPr>
            <a:r>
              <a:rPr lang="ar-SA" altLang="en-US" sz="2600" b="1" dirty="0">
                <a:solidFill>
                  <a:srgbClr val="0E7C86"/>
                </a:solidFill>
                <a:latin typeface="Amiri" pitchFamily="2" charset="-78"/>
                <a:cs typeface="Amiri" pitchFamily="2" charset="-78"/>
              </a:rPr>
              <a:t>مَدِينَةٍ</a:t>
            </a:r>
            <a:pPr rtl="1" algn="r" indent="0" marL="0">
              <a:buNone/>
            </a:pPr>
            <a:r>
              <a:rPr lang="ar-SA" altLang="en-US" sz="2600" b="1" dirty="0">
                <a:solidFill>
                  <a:srgbClr val="1B3B6F"/>
                </a:solidFill>
                <a:latin typeface="Amiri" pitchFamily="2" charset="-78"/>
                <a:cs typeface="Amiri" pitchFamily="2" charset="-78"/>
              </a:rPr>
              <a:t> </a:t>
            </a:r>
            <a:pPr rtl="1" algn="r" indent="0" marL="0">
              <a:buNone/>
            </a:pPr>
            <a:r>
              <a:rPr lang="ar-SA" altLang="en-US" sz="2600" b="1" dirty="0">
                <a:solidFill>
                  <a:srgbClr val="D6336C"/>
                </a:solidFill>
                <a:latin typeface="Amiri" pitchFamily="2" charset="-78"/>
                <a:cs typeface="Amiri" pitchFamily="2" charset="-78"/>
              </a:rPr>
              <a:t>جَمِيلَةٍ</a:t>
            </a:r>
            <a:pPr rtl="1" algn="r" indent="0" marL="0">
              <a:buNone/>
            </a:pPr>
            <a:r>
              <a:rPr lang="ar-SA" altLang="en-US" sz="2600" b="1" dirty="0">
                <a:solidFill>
                  <a:srgbClr val="1B3B6F"/>
                </a:solidFill>
                <a:latin typeface="Amiri" pitchFamily="2" charset="-78"/>
                <a:cs typeface="Amiri" pitchFamily="2" charset="-78"/>
              </a:rPr>
              <a:t>. </a:t>
            </a:r>
            <a:pPr rtl="1" algn="r" indent="0" marL="0">
              <a:buNone/>
            </a:pPr>
            <a:r>
              <a:rPr lang="ar-SA" altLang="en-US" sz="2600" b="1" dirty="0">
                <a:solidFill>
                  <a:srgbClr val="0E7C86"/>
                </a:solidFill>
                <a:latin typeface="Amiri" pitchFamily="2" charset="-78"/>
                <a:cs typeface="Amiri" pitchFamily="2" charset="-78"/>
              </a:rPr>
              <a:t>بَيْتِي</a:t>
            </a:r>
            <a:pPr rtl="1" algn="r" indent="0" marL="0">
              <a:buNone/>
            </a:pPr>
            <a:r>
              <a:rPr lang="ar-SA" altLang="en-US" sz="2600" b="1" dirty="0">
                <a:solidFill>
                  <a:srgbClr val="1B3B6F"/>
                </a:solidFill>
                <a:latin typeface="Amiri" pitchFamily="2" charset="-78"/>
                <a:cs typeface="Amiri" pitchFamily="2" charset="-78"/>
              </a:rPr>
              <a:t> </a:t>
            </a:r>
            <a:pPr rtl="1" algn="r" indent="0" marL="0">
              <a:buNone/>
            </a:pPr>
            <a:r>
              <a:rPr lang="ar-SA" altLang="en-US" sz="2600" b="1" dirty="0">
                <a:solidFill>
                  <a:srgbClr val="D6336C"/>
                </a:solidFill>
                <a:latin typeface="Amiri" pitchFamily="2" charset="-78"/>
                <a:cs typeface="Amiri" pitchFamily="2" charset="-78"/>
              </a:rPr>
              <a:t>صَغِيرٌ</a:t>
            </a:r>
            <a:pPr rtl="1" algn="r" indent="0" marL="0">
              <a:buNone/>
            </a:pPr>
            <a:r>
              <a:rPr lang="ar-SA" altLang="en-US" sz="2600" b="1" dirty="0">
                <a:solidFill>
                  <a:srgbClr val="1B3B6F"/>
                </a:solidFill>
                <a:latin typeface="Amiri" pitchFamily="2" charset="-78"/>
                <a:cs typeface="Amiri" pitchFamily="2" charset="-78"/>
              </a:rPr>
              <a:t>، لَكِنَّ </a:t>
            </a:r>
            <a:pPr rtl="1" algn="r" indent="0" marL="0">
              <a:buNone/>
            </a:pPr>
            <a:r>
              <a:rPr lang="ar-SA" altLang="en-US" sz="2600" b="1" dirty="0">
                <a:solidFill>
                  <a:srgbClr val="0E7C86"/>
                </a:solidFill>
                <a:latin typeface="Amiri" pitchFamily="2" charset="-78"/>
                <a:cs typeface="Amiri" pitchFamily="2" charset="-78"/>
              </a:rPr>
              <a:t>الْحَدِيقَةَ</a:t>
            </a:r>
            <a:pPr rtl="1" algn="r" indent="0" marL="0">
              <a:buNone/>
            </a:pPr>
            <a:r>
              <a:rPr lang="ar-SA" altLang="en-US" sz="2600" b="1" dirty="0">
                <a:solidFill>
                  <a:srgbClr val="1B3B6F"/>
                </a:solidFill>
                <a:latin typeface="Amiri" pitchFamily="2" charset="-78"/>
                <a:cs typeface="Amiri" pitchFamily="2" charset="-78"/>
              </a:rPr>
              <a:t> </a:t>
            </a:r>
            <a:pPr rtl="1" algn="r" indent="0" marL="0">
              <a:buNone/>
            </a:pPr>
            <a:r>
              <a:rPr lang="ar-SA" altLang="en-US" sz="2600" b="1" dirty="0">
                <a:solidFill>
                  <a:srgbClr val="D6336C"/>
                </a:solidFill>
                <a:latin typeface="Amiri" pitchFamily="2" charset="-78"/>
                <a:cs typeface="Amiri" pitchFamily="2" charset="-78"/>
              </a:rPr>
              <a:t>كَبِيرَةٌ</a:t>
            </a:r>
            <a:pPr rtl="1" algn="r" indent="0" marL="0">
              <a:buNone/>
            </a:pPr>
            <a:r>
              <a:rPr lang="ar-SA" altLang="en-US" sz="2600" b="1" dirty="0">
                <a:solidFill>
                  <a:srgbClr val="1B3B6F"/>
                </a:solidFill>
                <a:latin typeface="Amiri" pitchFamily="2" charset="-78"/>
                <a:cs typeface="Amiri" pitchFamily="2" charset="-78"/>
              </a:rPr>
              <a:t>.</a:t>
            </a:r>
            <a:endParaRPr lang="ar-SA" sz="26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cs typeface="Amiri" pitchFamily="2" charset="-78"/>
              </a:rPr>
              <a:t>I live in a beautiful city. My house is small, but the garden is big.</a:t>
            </a:r>
            <a:endParaRPr lang="en-US" sz="13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GM-ADJ-01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GM-ADJ-01</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وَلَدٌ ذَكِيٌّ وَبِنْتٌ ذَكِيَّةٌ</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a clever boy and a clever girl</a:t>
            </a:r>
            <a:endParaRPr lang="en-US" sz="1250" dirty="0"/>
          </a:p>
          <a:p>
            <a:pPr indent="0" marL="0">
              <a:buNone/>
            </a:pPr>
            <a:r>
              <a:rPr lang="en-US" sz="1050" i="1" dirty="0">
                <a:solidFill>
                  <a:srgbClr val="8A6D1E"/>
                </a:solidFill>
                <a:latin typeface="Calibri" pitchFamily="34" charset="0"/>
                <a:cs typeface="Amiri" pitchFamily="2" charset="-78"/>
              </a:rPr>
              <a:t>Website model bank.</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سَيَّارَةٌ سَرِيعَةٌ</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a fast car</a:t>
            </a:r>
            <a:endParaRPr lang="en-US" sz="1250" dirty="0"/>
          </a:p>
          <a:p>
            <a:pPr indent="0" marL="0">
              <a:buNone/>
            </a:pPr>
            <a:r>
              <a:rPr lang="en-US" sz="1050" i="1" dirty="0">
                <a:solidFill>
                  <a:srgbClr val="8A6D1E"/>
                </a:solidFill>
                <a:latin typeface="Calibri" pitchFamily="34" charset="0"/>
                <a:cs typeface="Amiri" pitchFamily="2" charset="-78"/>
              </a:rPr>
              <a:t>Website model bank.</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طَعَامٌ لَذِيذٌ</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delicious food</a:t>
            </a:r>
            <a:endParaRPr lang="en-US" sz="1250" dirty="0"/>
          </a:p>
          <a:p>
            <a:pPr indent="0" marL="0">
              <a:buNone/>
            </a:pPr>
            <a:r>
              <a:rPr lang="en-US" sz="1050" i="1" dirty="0">
                <a:solidFill>
                  <a:srgbClr val="8A6D1E"/>
                </a:solidFill>
                <a:latin typeface="Calibri" pitchFamily="34" charset="0"/>
                <a:cs typeface="Amiri" pitchFamily="2" charset="-78"/>
              </a:rPr>
              <a:t>Website model bank.</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الشَّمْسُ حَارَّةٌ الْيَوْمَ.</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sun is hot today.</a:t>
            </a:r>
            <a:endParaRPr lang="en-US" sz="1250" dirty="0"/>
          </a:p>
          <a:p>
            <a:pPr indent="0" marL="0">
              <a:buNone/>
            </a:pPr>
            <a:r>
              <a:rPr lang="en-US" sz="1050" i="1" dirty="0">
                <a:solidFill>
                  <a:srgbClr val="8A6D1E"/>
                </a:solidFill>
                <a:latin typeface="Calibri" pitchFamily="34" charset="0"/>
                <a:cs typeface="Amiri" pitchFamily="2" charset="-78"/>
              </a:rPr>
              <a:t>Feminine noun without ة.</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GM-ADJ-01 · Adjectives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 IT · MASCULINE OR FEMININE NOUN?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adjective form?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مُذَكَّرٌ أَمْ مُؤَنَّثٌ؟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GM-ADJ-01</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كِتَابٌ</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شَمْسٌ</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قَلَمٌ</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أُمٌّ</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بَابٌ</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مَدْرَسَةٌ</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يَوْمٌ</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بِنْتٌ</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Masculine adjective</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Feminine adjective (+ ة)</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GM-ADJ-01 · Adjectives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GM-ADJ-01</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Masculine adjective</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كِتَابٌ</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قَلَمٌ</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بَابٌ</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يَوْمٌ</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Feminine adjective (+ ة)</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شَمْسٌ</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أُمٌّ</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مَدْرَسَةٌ</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بِنْتٌ</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GM-ADJ-01 · Adjectives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TRANSFORMATION DRILL (WEBSITE) · SAY IT ALOUD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Change the noun, change the adjective</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حَوِّلْ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114032" y="1810512"/>
            <a:ext cx="4544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Result</a:t>
            </a:r>
            <a:endParaRPr lang="en-US" sz="1100" dirty="0"/>
          </a:p>
        </p:txBody>
      </p:sp>
      <p:sp>
        <p:nvSpPr>
          <p:cNvPr id="17" name="Text 14"/>
          <p:cNvSpPr txBox="1"/>
          <p:nvPr/>
        </p:nvSpPr>
        <p:spPr>
          <a:xfrm>
            <a:off x="418795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Change</a:t>
            </a:r>
            <a:endParaRPr lang="en-US" sz="1100" dirty="0"/>
          </a:p>
        </p:txBody>
      </p:sp>
      <p:sp>
        <p:nvSpPr>
          <p:cNvPr id="18" name="Text 15"/>
          <p:cNvSpPr txBox="1"/>
          <p:nvPr/>
        </p:nvSpPr>
        <p:spPr>
          <a:xfrm>
            <a:off x="530352"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Start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132320" y="2267712"/>
            <a:ext cx="450799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طَالِبَةٌ نَشِيطَةٌ</a:t>
            </a:r>
            <a:endParaRPr lang="ar-SA" sz="2400" dirty="0"/>
          </a:p>
        </p:txBody>
      </p:sp>
      <p:sp>
        <p:nvSpPr>
          <p:cNvPr id="21" name="Text 18"/>
          <p:cNvSpPr txBox="1"/>
          <p:nvPr/>
        </p:nvSpPr>
        <p:spPr>
          <a:xfrm>
            <a:off x="4224528" y="2267712"/>
            <a:ext cx="27432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female student</a:t>
            </a:r>
            <a:endParaRPr lang="en-US" sz="1100" dirty="0"/>
          </a:p>
        </p:txBody>
      </p:sp>
      <p:sp>
        <p:nvSpPr>
          <p:cNvPr id="22" name="Text 19"/>
          <p:cNvSpPr txBox="1"/>
          <p:nvPr/>
        </p:nvSpPr>
        <p:spPr>
          <a:xfrm>
            <a:off x="548640" y="2267712"/>
            <a:ext cx="34747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طَالِبٌ نَشِيطٌ</a:t>
            </a:r>
            <a:endParaRPr lang="ar-SA" sz="24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7132320" y="3004718"/>
            <a:ext cx="450799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مُعَلِّمٌ لَطِيفٌ</a:t>
            </a:r>
            <a:endParaRPr lang="ar-SA" sz="2400" dirty="0"/>
          </a:p>
        </p:txBody>
      </p:sp>
      <p:sp>
        <p:nvSpPr>
          <p:cNvPr id="27" name="Text 24"/>
          <p:cNvSpPr txBox="1"/>
          <p:nvPr/>
        </p:nvSpPr>
        <p:spPr>
          <a:xfrm>
            <a:off x="4224528" y="3004718"/>
            <a:ext cx="27432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male teacher</a:t>
            </a:r>
            <a:endParaRPr lang="en-US" sz="1100" dirty="0"/>
          </a:p>
        </p:txBody>
      </p:sp>
      <p:sp>
        <p:nvSpPr>
          <p:cNvPr id="28" name="Text 25"/>
          <p:cNvSpPr txBox="1"/>
          <p:nvPr/>
        </p:nvSpPr>
        <p:spPr>
          <a:xfrm>
            <a:off x="548640" y="3004718"/>
            <a:ext cx="34747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مُعَلِّمَةٌ لَطِيفَةٌ</a:t>
            </a:r>
            <a:endParaRPr lang="ar-SA" sz="24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7132320" y="3741725"/>
            <a:ext cx="450799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الْبَيْتُ الْجَدِيدُ</a:t>
            </a:r>
            <a:endParaRPr lang="ar-SA" sz="2400" dirty="0"/>
          </a:p>
        </p:txBody>
      </p:sp>
      <p:sp>
        <p:nvSpPr>
          <p:cNvPr id="33" name="Text 30"/>
          <p:cNvSpPr txBox="1"/>
          <p:nvPr/>
        </p:nvSpPr>
        <p:spPr>
          <a:xfrm>
            <a:off x="4224528" y="3741725"/>
            <a:ext cx="27432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make it “the …”</a:t>
            </a:r>
            <a:endParaRPr lang="en-US" sz="1100" dirty="0"/>
          </a:p>
        </p:txBody>
      </p:sp>
      <p:sp>
        <p:nvSpPr>
          <p:cNvPr id="34" name="Text 31"/>
          <p:cNvSpPr txBox="1"/>
          <p:nvPr/>
        </p:nvSpPr>
        <p:spPr>
          <a:xfrm>
            <a:off x="548640" y="3741725"/>
            <a:ext cx="34747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بَيْتٌ جَدِيدٌ</a:t>
            </a:r>
            <a:endParaRPr lang="ar-SA" sz="24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7132320" y="4478731"/>
            <a:ext cx="450799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الْغُرْفَةُ وَاسِعَةٌ.</a:t>
            </a:r>
            <a:endParaRPr lang="ar-SA" sz="2400" dirty="0"/>
          </a:p>
        </p:txBody>
      </p:sp>
      <p:sp>
        <p:nvSpPr>
          <p:cNvPr id="39" name="Text 36"/>
          <p:cNvSpPr txBox="1"/>
          <p:nvPr/>
        </p:nvSpPr>
        <p:spPr>
          <a:xfrm>
            <a:off x="4224528" y="4478731"/>
            <a:ext cx="27432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make it a sentence</a:t>
            </a:r>
            <a:endParaRPr lang="en-US" sz="1100" dirty="0"/>
          </a:p>
        </p:txBody>
      </p:sp>
      <p:sp>
        <p:nvSpPr>
          <p:cNvPr id="40" name="Text 37"/>
          <p:cNvSpPr txBox="1"/>
          <p:nvPr/>
        </p:nvSpPr>
        <p:spPr>
          <a:xfrm>
            <a:off x="548640" y="4478731"/>
            <a:ext cx="34747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الْغُرْفَةُ الْوَاسِعَةُ</a:t>
            </a:r>
            <a:endParaRPr lang="ar-SA" sz="2400" dirty="0"/>
          </a:p>
        </p:txBody>
      </p:sp>
      <p:sp>
        <p:nvSpPr>
          <p:cNvPr id="41" name="Shape 3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2" name="Text 39"/>
          <p:cNvSpPr txBox="1"/>
          <p:nvPr/>
        </p:nvSpPr>
        <p:spPr>
          <a:xfrm>
            <a:off x="7132320" y="5215738"/>
            <a:ext cx="4507992"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حَقِيبَةٌ حَمْرَاءُ</a:t>
            </a:r>
            <a:endParaRPr lang="ar-SA" sz="2400" dirty="0"/>
          </a:p>
        </p:txBody>
      </p:sp>
      <p:sp>
        <p:nvSpPr>
          <p:cNvPr id="43" name="Text 40"/>
          <p:cNvSpPr txBox="1"/>
          <p:nvPr/>
        </p:nvSpPr>
        <p:spPr>
          <a:xfrm>
            <a:off x="4224528" y="5215738"/>
            <a:ext cx="27432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a red bag (f.)</a:t>
            </a:r>
            <a:endParaRPr lang="en-US" sz="1100" dirty="0"/>
          </a:p>
        </p:txBody>
      </p:sp>
      <p:sp>
        <p:nvSpPr>
          <p:cNvPr id="44" name="Text 41"/>
          <p:cNvSpPr txBox="1"/>
          <p:nvPr/>
        </p:nvSpPr>
        <p:spPr>
          <a:xfrm>
            <a:off x="548640" y="5215738"/>
            <a:ext cx="34747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قَمِيصٌ أَحْمَرُ</a:t>
            </a:r>
            <a:endParaRPr lang="ar-SA" sz="240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drill: change one feature of the noun, then change EVERY adjective feature it controls — and explain the change in grammar words.</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GM-ADJ-01 · Adjectives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بِنْتٌ جَمِيلٌ</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Is girl masculine?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الشَّمْسُ حَارٌّ.</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Is sun feminine?</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قَلَمَةٌ جَدِيدَةٌ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Did you change the noun?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GM-ADJ-01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بِنْتٌ جَمِيلٌ</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بِنْتٌ جَمِيلَةٌ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Girl is feminine → feminine adjective.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الشَّمْسُ حَارٌّ.</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الشَّمْسُ حَارَّةٌ.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Sun is feminine without </a:t>
            </a:r>
            <a:pPr algn="l" indent="0" marL="0">
              <a:buNone/>
            </a:pPr>
            <a:r>
              <a:rPr lang="ar-SA" altLang="en-US" sz="1500" b="1" dirty="0">
                <a:solidFill>
                  <a:srgbClr val="1B3B6F"/>
                </a:solidFill>
                <a:latin typeface="Amiri" pitchFamily="2" charset="-78"/>
                <a:cs typeface="Amiri" pitchFamily="2" charset="-78"/>
              </a:rPr>
              <a:t>ة</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قَلَمَةٌ جَدِيدَةٌ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قَلَمٌ جَدِيدٌ</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Do not add </a:t>
            </a:r>
            <a:pPr algn="l" indent="0" marL="0">
              <a:buNone/>
            </a:pPr>
            <a:r>
              <a:rPr lang="ar-SA" altLang="en-US" sz="1500" b="1" dirty="0">
                <a:solidFill>
                  <a:srgbClr val="1B3B6F"/>
                </a:solidFill>
                <a:latin typeface="Amiri" pitchFamily="2" charset="-78"/>
                <a:cs typeface="Amiri" pitchFamily="2" charset="-78"/>
              </a:rPr>
              <a:t>ة</a:t>
            </a:r>
            <a:pPr algn="l" indent="0" marL="0">
              <a:buNone/>
            </a:pPr>
            <a:r>
              <a:rPr lang="en-US" sz="1150" b="1" dirty="0">
                <a:solidFill>
                  <a:srgbClr val="1B3B6F"/>
                </a:solidFill>
                <a:latin typeface="Calibri" pitchFamily="34" charset="0"/>
                <a:cs typeface="Amiri" pitchFamily="2" charset="-78"/>
              </a:rPr>
              <a:t> to the noun (website clinic).</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GM-ADJ-01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GUIDED PRACTICE · TEACHER-WRITTEN PRACTICE ON THE WEBSITE RULES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“an old city”.</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مَدِينَةٌ قَدِيمٌ</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الْمَدِينَةُ قَدِيمَةٌ</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مَدِينَةٌ قَدِيمَةٌ</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food is delicious.”</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الطَّعَامُ اللَّذِيذُ</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الطَّعَامُ لَذِيذٌ.</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طَعَامٌ لَذِيذٌ</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adjective for </a:t>
            </a:r>
            <a:pPr algn="l" indent="0" marL="0">
              <a:buNone/>
            </a:pPr>
            <a:r>
              <a:rPr lang="ar-SA" altLang="en-US" sz="1650" b="1" dirty="0">
                <a:solidFill>
                  <a:srgbClr val="1B3B6F"/>
                </a:solidFill>
                <a:latin typeface="Amiri" pitchFamily="2" charset="-78"/>
                <a:cs typeface="Amiri" pitchFamily="2" charset="-78"/>
              </a:rPr>
              <a:t>أُخْتِي</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طَوِيلٌ</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طَوِيلَةٌ</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طِوَالٌ</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saw a big school.”</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رَأَيْتُ مَدْرَسَةً كَبِيرٌ.</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رَأَيْتُ مَدْرَسَةٌ كَبِيرَةٌ.</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رَأَيْتُ مَدْرَسَةً كَبِيرَةً.</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GM-ADJ-01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“an old city”.</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مَدِينَةٌ قَدِيمٌ</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الْمَدِينَةُ قَدِيمَةٌ</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مَدِينَةٌ قَدِيمَةٌ</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Feminine, indefinite.</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food is delicious.”</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الطَّعَامُ اللَّذِيذُ</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الطَّعَامُ لَذِيذٌ.</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طَعَامٌ لَذِيذٌ</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sentence: no al- on the adjective.</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adjective for </a:t>
            </a:r>
            <a:pPr algn="l" indent="0" marL="0">
              <a:buNone/>
            </a:pPr>
            <a:r>
              <a:rPr lang="ar-SA" altLang="en-US" sz="1650" b="1" dirty="0">
                <a:solidFill>
                  <a:srgbClr val="1B3B6F"/>
                </a:solidFill>
                <a:latin typeface="Amiri" pitchFamily="2" charset="-78"/>
                <a:cs typeface="Amiri" pitchFamily="2" charset="-78"/>
              </a:rPr>
              <a:t>أُخْتِي</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طَوِيلٌ</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طَوِيلَةٌ</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طِوَالٌ</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Sister is feminine.</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saw a big school.”</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رَأَيْتُ مَدْرَسَةً كَبِيرٌ.</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رَأَيْتُ مَدْرَسَةٌ كَبِيرَةٌ.</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رَأَيْتُ مَدْرَسَةً كَبِيرَةً.</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Object: both words take -an.</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GM-ADJ-01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83" b="1" spc="150" kern="0" dirty="0">
                <a:solidFill>
                  <a:srgbClr val="1E6B52"/>
                </a:solidFill>
                <a:latin typeface="Calibri" pitchFamily="34" charset="0"/>
                <a:cs typeface="Amiri" pitchFamily="2" charset="-78"/>
              </a:rPr>
              <a:t>YOU DO · READ AND NOTICE · WEBSITE READING TEXT, EXTENDED BY THE TEACHER</a:t>
            </a:r>
            <a:endParaRPr lang="en-US" sz="98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My city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GM-ADJ-01</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cs typeface="Amiri" pitchFamily="2" charset="-78"/>
              </a:rPr>
              <a:t>فِي مَدِينَتِي أَمَاكِنُ جَمِيلَةٌ وَشَوَارِعُ وَاسِعَةٌ. هَذِهِ الْمَدْرَسَةُ الْجَدِيدَةُ قَرِيبَةٌ، وَذَلِكَ الْمَتْحَفُ الْقَدِيمُ مُثِيرٌ لِلِاهْتِمَامِ. فِي وَسَطِ الْمَدِينَةِ سُوقٌ كَبِيرٌ وَحَدِيقَةٌ هَادِئَةٌ. الْجَوُّ لَطِيفٌ، وَالشَّمْسُ دَافِئَةٌ.</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أَمَاكِنُ</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places</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وَاسِعَةٌ</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wide</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الْمَتْحَفُ</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museum</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مُثِيرٌ لِلِاهْتِمَامِ</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interesting</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وَسَطِ</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centre</a:t>
            </a:r>
            <a:endParaRPr lang="en-US" sz="1050" dirty="0"/>
          </a:p>
        </p:txBody>
      </p:sp>
      <p:sp>
        <p:nvSpPr>
          <p:cNvPr id="29" name="Text 26"/>
          <p:cNvSpPr txBox="1"/>
          <p:nvPr/>
        </p:nvSpPr>
        <p:spPr>
          <a:xfrm>
            <a:off x="10102291" y="47274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هَادِئَةٌ</a:t>
            </a:r>
            <a:endParaRPr lang="ar-SA" sz="1600" dirty="0"/>
          </a:p>
        </p:txBody>
      </p:sp>
      <p:sp>
        <p:nvSpPr>
          <p:cNvPr id="30" name="Text 27"/>
          <p:cNvSpPr txBox="1"/>
          <p:nvPr/>
        </p:nvSpPr>
        <p:spPr>
          <a:xfrm>
            <a:off x="8851392" y="47274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quiet</a:t>
            </a:r>
            <a:endParaRPr lang="en-US" sz="1050" dirty="0"/>
          </a:p>
        </p:txBody>
      </p:sp>
      <p:sp>
        <p:nvSpPr>
          <p:cNvPr id="31" name="Text 28"/>
          <p:cNvSpPr txBox="1"/>
          <p:nvPr/>
        </p:nvSpPr>
        <p:spPr>
          <a:xfrm>
            <a:off x="10102291" y="52303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دَافِئَةٌ</a:t>
            </a:r>
            <a:endParaRPr lang="ar-SA" sz="1600" dirty="0"/>
          </a:p>
        </p:txBody>
      </p:sp>
      <p:sp>
        <p:nvSpPr>
          <p:cNvPr id="32" name="Text 29"/>
          <p:cNvSpPr txBox="1"/>
          <p:nvPr/>
        </p:nvSpPr>
        <p:spPr>
          <a:xfrm>
            <a:off x="8851392" y="52303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warm</a:t>
            </a:r>
            <a:endParaRPr lang="en-US" sz="10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GM-ADJ-01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the adjective for museum have no tāʾ marbūṭa?</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Museum is feminine.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Museum is masculine.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a sentence.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it </a:t>
            </a:r>
            <a:pPr algn="l" indent="0" marL="0">
              <a:buNone/>
            </a:pPr>
            <a:r>
              <a:rPr lang="ar-SA" altLang="en-US" sz="1650" b="1" dirty="0">
                <a:solidFill>
                  <a:srgbClr val="1B3B6F"/>
                </a:solidFill>
                <a:latin typeface="Amiri" pitchFamily="2" charset="-78"/>
                <a:cs typeface="Amiri" pitchFamily="2" charset="-78"/>
              </a:rPr>
              <a:t>حَدِيقَةٌ هَادِئَةٌ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Garden is masculine.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plural.</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Garden is feminine.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it </a:t>
            </a:r>
            <a:pPr algn="l" indent="0" marL="0">
              <a:buNone/>
            </a:pPr>
            <a:r>
              <a:rPr lang="ar-SA" altLang="en-US" sz="1650" b="1" dirty="0">
                <a:solidFill>
                  <a:srgbClr val="1B3B6F"/>
                </a:solidFill>
                <a:latin typeface="Amiri" pitchFamily="2" charset="-78"/>
                <a:cs typeface="Amiri" pitchFamily="2" charset="-78"/>
              </a:rPr>
              <a:t>الشَّمْسُ دَافِئَةٌ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Sun is feminine without </a:t>
            </a:r>
            <a:pPr algn="l" indent="0" marL="0">
              <a:buNone/>
            </a:pPr>
            <a:r>
              <a:rPr lang="ar-SA" altLang="en-US" sz="1650" dirty="0">
                <a:solidFill>
                  <a:srgbClr val="1F2A37"/>
                </a:solidFill>
                <a:latin typeface="Amiri" pitchFamily="2" charset="-78"/>
                <a:cs typeface="Amiri" pitchFamily="2" charset="-78"/>
              </a:rPr>
              <a:t>ة</a:t>
            </a:r>
            <a:pPr algn="l" indent="0" marL="0">
              <a:buNone/>
            </a:pPr>
            <a:r>
              <a:rPr lang="en-US" sz="1250" dirty="0">
                <a:solidFill>
                  <a:srgbClr val="1F2A37"/>
                </a:solidFill>
                <a:latin typeface="Calibri" pitchFamily="34" charset="0"/>
                <a:cs typeface="Amiri" pitchFamily="2" charset="-78"/>
              </a:rPr>
              <a: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Sun is masculine.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a mistake.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Is </a:t>
            </a:r>
            <a:pPr algn="l" indent="0" marL="0">
              <a:buNone/>
            </a:pPr>
            <a:r>
              <a:rPr lang="ar-SA" altLang="en-US" sz="1650" b="1" dirty="0">
                <a:solidFill>
                  <a:srgbClr val="1B3B6F"/>
                </a:solidFill>
                <a:latin typeface="Amiri" pitchFamily="2" charset="-78"/>
                <a:cs typeface="Amiri" pitchFamily="2" charset="-78"/>
              </a:rPr>
              <a:t>الْجَوُّ لَطِيفٌ</a:t>
            </a:r>
            <a:pPr algn="l" indent="0" marL="0">
              <a:buNone/>
            </a:pPr>
            <a:r>
              <a:rPr lang="en-US" sz="1250" b="1" dirty="0">
                <a:solidFill>
                  <a:srgbClr val="1B3B6F"/>
                </a:solidFill>
                <a:latin typeface="Calibri" pitchFamily="34" charset="0"/>
                <a:cs typeface="Amiri" pitchFamily="2" charset="-78"/>
              </a:rPr>
              <a:t> a phrase or a sentence?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phrase: “the pleasant weather”</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sentence: “The weather is pleasant.”</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phrase: “a pleasant weather”</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GM-ADJ-01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the adjective for museum have no tāʾ marbūṭa?</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Museum is feminine.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Museum is masculine.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a sentence.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Masculine noun → masculine adjective.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it </a:t>
            </a:r>
            <a:pPr algn="l" indent="0" marL="0">
              <a:buNone/>
            </a:pPr>
            <a:r>
              <a:rPr lang="ar-SA" altLang="en-US" sz="1650" b="1" dirty="0">
                <a:solidFill>
                  <a:srgbClr val="1B3B6F"/>
                </a:solidFill>
                <a:latin typeface="Amiri" pitchFamily="2" charset="-78"/>
                <a:cs typeface="Amiri" pitchFamily="2" charset="-78"/>
              </a:rPr>
              <a:t>حَدِيقَةٌ هَادِئَةٌ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Garden is masculine.</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plural.</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Garden is feminine.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Feminine noun → + </a:t>
            </a:r>
            <a:pPr algn="l" indent="0" marL="0">
              <a:buNone/>
            </a:pPr>
            <a:r>
              <a:rPr lang="ar-SA" altLang="en-US" sz="1350" dirty="0">
                <a:solidFill>
                  <a:srgbClr val="8A6D1E"/>
                </a:solidFill>
                <a:latin typeface="Amiri" pitchFamily="2" charset="-78"/>
                <a:cs typeface="Amiri" pitchFamily="2" charset="-78"/>
              </a:rPr>
              <a:t>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it </a:t>
            </a:r>
            <a:pPr algn="l" indent="0" marL="0">
              <a:buNone/>
            </a:pPr>
            <a:r>
              <a:rPr lang="ar-SA" altLang="en-US" sz="1650" b="1" dirty="0">
                <a:solidFill>
                  <a:srgbClr val="1B3B6F"/>
                </a:solidFill>
                <a:latin typeface="Amiri" pitchFamily="2" charset="-78"/>
                <a:cs typeface="Amiri" pitchFamily="2" charset="-78"/>
              </a:rPr>
              <a:t>الشَّمْسُ دَافِئَةٌ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Sun is feminine without </a:t>
            </a:r>
            <a:pPr algn="l" indent="0" marL="0">
              <a:buNone/>
            </a:pPr>
            <a:r>
              <a:rPr lang="ar-SA" altLang="en-US" sz="1650" b="1" dirty="0">
                <a:solidFill>
                  <a:srgbClr val="1F2A37"/>
                </a:solidFill>
                <a:latin typeface="Amiri" pitchFamily="2" charset="-78"/>
                <a:cs typeface="Amiri" pitchFamily="2" charset="-78"/>
              </a:rPr>
              <a:t>ة</a:t>
            </a:r>
            <a:pPr algn="l" indent="0" marL="0">
              <a:buNone/>
            </a:pPr>
            <a:r>
              <a:rPr lang="en-US" sz="1250" b="1" dirty="0">
                <a:solidFill>
                  <a:srgbClr val="1F2A37"/>
                </a:solidFill>
                <a:latin typeface="Calibri" pitchFamily="34" charset="0"/>
                <a:cs typeface="Amiri" pitchFamily="2" charset="-78"/>
              </a:rPr>
              <a:t>.</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Sun is masculine.</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a mistake.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hidden feminine noun.</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Is </a:t>
            </a:r>
            <a:pPr algn="l" indent="0" marL="0">
              <a:buNone/>
            </a:pPr>
            <a:r>
              <a:rPr lang="ar-SA" altLang="en-US" sz="1650" b="1" dirty="0">
                <a:solidFill>
                  <a:srgbClr val="1B3B6F"/>
                </a:solidFill>
                <a:latin typeface="Amiri" pitchFamily="2" charset="-78"/>
                <a:cs typeface="Amiri" pitchFamily="2" charset="-78"/>
              </a:rPr>
              <a:t>الْجَوُّ لَطِيفٌ</a:t>
            </a:r>
            <a:pPr algn="l" indent="0" marL="0">
              <a:buNone/>
            </a:pPr>
            <a:r>
              <a:rPr lang="en-US" sz="1250" b="1" dirty="0">
                <a:solidFill>
                  <a:srgbClr val="1B3B6F"/>
                </a:solidFill>
                <a:latin typeface="Calibri" pitchFamily="34" charset="0"/>
                <a:cs typeface="Amiri" pitchFamily="2" charset="-78"/>
              </a:rPr>
              <a:t> a phrase or a sentence?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phrase: “the pleasant weather”</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sentence: “The weather is pleasant.”</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phrase: “a pleasant weather”</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Definite noun + indefinite adjective.</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GM-ADJ-01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Speaking: describe two people or places</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GM-ADJ-01</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صِفْ صَدِيقًا وَصَدِيقَةً.</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صِفْ بَيْتَكَ وَغُرْفَتَكَ.</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صِفْ مَدِينَتَكَ فِي الصَّيْفِ وَالشِّتَاءِ.</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صَدِيقِي ___ ، وَصَدِيقَتِي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بَيْتِي ___ ، وَغُرْفَتِي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فِي الصَّيْفِ الشَّمْسُ ___ ، وَالْجَوُّ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صِفْ أُخْتَكَ.</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Describe your sister.</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أُخْتِي طَوِيلَةٌ وَذَكِيَّةٌ، وَأَخِي قَصِيرٌ وَمَرِحٌ.</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My sister is tall and clever, and my brother is short and cheerful.</a:t>
            </a:r>
            <a:endParaRPr lang="en-US" sz="9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GM-ADJ-01 · Adjectives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Describe three male and three female people or things.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Noun → adjective; + ة for feminine.</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Mix phrases (a / the …) and sentences (… is …).</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No al- on the adjective in a sentence.</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90–120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task, including a feminine noun without </a:t>
            </a:r>
            <a:pPr algn="l" indent="0" marL="0">
              <a:buNone/>
            </a:pPr>
            <a:r>
              <a:rPr lang="ar-SA" altLang="en-US" sz="1800" b="1" dirty="0">
                <a:solidFill>
                  <a:srgbClr val="1F2A37"/>
                </a:solidFill>
                <a:latin typeface="Amiri" pitchFamily="2" charset="-78"/>
                <a:cs typeface="Amiri" pitchFamily="2" charset="-78"/>
              </a:rPr>
              <a:t>ة</a:t>
            </a:r>
            <a:pPr algn="l" indent="0" marL="0">
              <a:buNone/>
            </a:pPr>
            <a:r>
              <a:rPr lang="en-US" sz="1400" b="1" dirty="0">
                <a:solidFill>
                  <a:srgbClr val="1F2A37"/>
                </a:solidFill>
                <a:latin typeface="Calibri" pitchFamily="34" charset="0"/>
                <a:cs typeface="Amiri" pitchFamily="2" charset="-78"/>
              </a:rPr>
              <a:t> and one shape-changing adjective.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Sun, mother · red, thirsty.</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GM-ADJ-01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أَسْكُنُ فِي مَدِينَةٍ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live in a … city.</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الْمَدْرَسَةُ ______ قَرِيبَةٌ.</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 school is near.</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الشَّمْسُ الْيَوْمَ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sun today is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أُمِّي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mother is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صَدِيقِي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friend (m.) is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صَدِيقَتِي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friend (f.) is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عِنْدِي حَقِيبَةٌ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have a … bag.</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عِنْدِي كِتَابٌ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have a … book.</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algn="l" indent="0" marL="0">
              <a:buNone/>
            </a:pPr>
            <a:r>
              <a:rPr lang="ar-SA" altLang="en-US" sz="2100" b="1" dirty="0">
                <a:solidFill>
                  <a:srgbClr val="1B3B6F"/>
                </a:solidFill>
                <a:latin typeface="Amiri" pitchFamily="2" charset="-78"/>
                <a:cs typeface="Amiri" pitchFamily="2" charset="-78"/>
              </a:rPr>
              <a:t>كَبِيرٌ</a:t>
            </a:r>
            <a:pPr algn="l" indent="0" marL="0">
              <a:buNone/>
            </a:pPr>
            <a:r>
              <a:rPr lang="en-US" sz="1600" b="1" dirty="0">
                <a:solidFill>
                  <a:srgbClr val="1B3B6F"/>
                </a:solidFill>
                <a:latin typeface="Calibri" pitchFamily="34" charset="0"/>
                <a:cs typeface="Amiri" pitchFamily="2" charset="-78"/>
              </a:rPr>
              <a:t>  ·  </a:t>
            </a:r>
            <a:pPr algn="l" indent="0" marL="0">
              <a:buNone/>
            </a:pPr>
            <a:r>
              <a:rPr lang="ar-SA" altLang="en-US" sz="2100" b="1" dirty="0">
                <a:solidFill>
                  <a:srgbClr val="1B3B6F"/>
                </a:solidFill>
                <a:latin typeface="Amiri" pitchFamily="2" charset="-78"/>
                <a:cs typeface="Amiri" pitchFamily="2" charset="-78"/>
              </a:rPr>
              <a:t>صَغِيرٌ</a:t>
            </a:r>
            <a:pPr algn="l" indent="0" marL="0">
              <a:buNone/>
            </a:pPr>
            <a:r>
              <a:rPr lang="en-US" sz="1600" b="1" dirty="0">
                <a:solidFill>
                  <a:srgbClr val="1B3B6F"/>
                </a:solidFill>
                <a:latin typeface="Calibri" pitchFamily="34" charset="0"/>
                <a:cs typeface="Amiri" pitchFamily="2" charset="-78"/>
              </a:rPr>
              <a:t>  ·  </a:t>
            </a:r>
            <a:pPr algn="l" indent="0" marL="0">
              <a:buNone/>
            </a:pPr>
            <a:r>
              <a:rPr lang="ar-SA" altLang="en-US" sz="2100" b="1" dirty="0">
                <a:solidFill>
                  <a:srgbClr val="1B3B6F"/>
                </a:solidFill>
                <a:latin typeface="Amiri" pitchFamily="2" charset="-78"/>
                <a:cs typeface="Amiri" pitchFamily="2" charset="-78"/>
              </a:rPr>
              <a:t>جَمِيلٌ</a:t>
            </a:r>
            <a:pPr algn="l" indent="0" marL="0">
              <a:buNone/>
            </a:pPr>
            <a:r>
              <a:rPr lang="en-US" sz="1600" b="1" dirty="0">
                <a:solidFill>
                  <a:srgbClr val="1B3B6F"/>
                </a:solidFill>
                <a:latin typeface="Calibri" pitchFamily="34" charset="0"/>
                <a:cs typeface="Amiri" pitchFamily="2" charset="-78"/>
              </a:rPr>
              <a:t>  ·  </a:t>
            </a:r>
            <a:pPr algn="l" indent="0" marL="0">
              <a:buNone/>
            </a:pPr>
            <a:r>
              <a:rPr lang="ar-SA" altLang="en-US" sz="2100" b="1" dirty="0">
                <a:solidFill>
                  <a:srgbClr val="1B3B6F"/>
                </a:solidFill>
                <a:latin typeface="Amiri" pitchFamily="2" charset="-78"/>
                <a:cs typeface="Amiri" pitchFamily="2" charset="-78"/>
              </a:rPr>
              <a:t>جَدِيدٌ</a:t>
            </a:r>
            <a:pPr algn="l" indent="0" marL="0">
              <a:buNone/>
            </a:pPr>
            <a:r>
              <a:rPr lang="en-US" sz="1600" b="1" dirty="0">
                <a:solidFill>
                  <a:srgbClr val="1B3B6F"/>
                </a:solidFill>
                <a:latin typeface="Calibri" pitchFamily="34" charset="0"/>
                <a:cs typeface="Amiri" pitchFamily="2" charset="-78"/>
              </a:rPr>
              <a:t>  ·  </a:t>
            </a:r>
            <a:pPr algn="l" indent="0" marL="0">
              <a:buNone/>
            </a:pPr>
            <a:r>
              <a:rPr lang="ar-SA" altLang="en-US" sz="2100" b="1" dirty="0">
                <a:solidFill>
                  <a:srgbClr val="1B3B6F"/>
                </a:solidFill>
                <a:latin typeface="Amiri" pitchFamily="2" charset="-78"/>
                <a:cs typeface="Amiri" pitchFamily="2" charset="-78"/>
              </a:rPr>
              <a:t>قَدِيمٌ</a:t>
            </a:r>
            <a:pPr algn="l" indent="0" marL="0">
              <a:buNone/>
            </a:pPr>
            <a:r>
              <a:rPr lang="en-US" sz="1600" b="1" dirty="0">
                <a:solidFill>
                  <a:srgbClr val="1B3B6F"/>
                </a:solidFill>
                <a:latin typeface="Calibri" pitchFamily="34" charset="0"/>
                <a:cs typeface="Amiri" pitchFamily="2" charset="-78"/>
              </a:rPr>
              <a:t>  ·  </a:t>
            </a:r>
            <a:pPr algn="l" indent="0" marL="0">
              <a:buNone/>
            </a:pPr>
            <a:r>
              <a:rPr lang="ar-SA" altLang="en-US" sz="2100" b="1" dirty="0">
                <a:solidFill>
                  <a:srgbClr val="1B3B6F"/>
                </a:solidFill>
                <a:latin typeface="Amiri" pitchFamily="2" charset="-78"/>
                <a:cs typeface="Amiri" pitchFamily="2" charset="-78"/>
              </a:rPr>
              <a:t>طَوِيلٌ</a:t>
            </a:r>
            <a:pPr algn="l" indent="0" marL="0">
              <a:buNone/>
            </a:pPr>
            <a:r>
              <a:rPr lang="en-US" sz="1600" b="1" dirty="0">
                <a:solidFill>
                  <a:srgbClr val="1B3B6F"/>
                </a:solidFill>
                <a:latin typeface="Calibri" pitchFamily="34" charset="0"/>
                <a:cs typeface="Amiri" pitchFamily="2" charset="-78"/>
              </a:rPr>
              <a:t>  ·  </a:t>
            </a:r>
            <a:pPr algn="l" indent="0" marL="0">
              <a:buNone/>
            </a:pPr>
            <a:r>
              <a:rPr lang="ar-SA" altLang="en-US" sz="2100" b="1" dirty="0">
                <a:solidFill>
                  <a:srgbClr val="1B3B6F"/>
                </a:solidFill>
                <a:latin typeface="Amiri" pitchFamily="2" charset="-78"/>
                <a:cs typeface="Amiri" pitchFamily="2" charset="-78"/>
              </a:rPr>
              <a:t>قَصِيرٌ</a:t>
            </a:r>
            <a:pPr algn="l" indent="0" marL="0">
              <a:buNone/>
            </a:pPr>
            <a:r>
              <a:rPr lang="en-US" sz="1600" b="1" dirty="0">
                <a:solidFill>
                  <a:srgbClr val="1B3B6F"/>
                </a:solidFill>
                <a:latin typeface="Calibri" pitchFamily="34" charset="0"/>
                <a:cs typeface="Amiri" pitchFamily="2" charset="-78"/>
              </a:rPr>
              <a:t>  ·  </a:t>
            </a:r>
            <a:pPr algn="l" indent="0" marL="0">
              <a:buNone/>
            </a:pPr>
            <a:r>
              <a:rPr lang="ar-SA" altLang="en-US" sz="2100" b="1" dirty="0">
                <a:solidFill>
                  <a:srgbClr val="1B3B6F"/>
                </a:solidFill>
                <a:latin typeface="Amiri" pitchFamily="2" charset="-78"/>
                <a:cs typeface="Amiri" pitchFamily="2" charset="-78"/>
              </a:rPr>
              <a:t>ذَكِيٌّ</a:t>
            </a:r>
            <a:pPr algn="l" indent="0" marL="0">
              <a:buNone/>
            </a:pPr>
            <a:r>
              <a:rPr lang="en-US" sz="1600" b="1" dirty="0">
                <a:solidFill>
                  <a:srgbClr val="1B3B6F"/>
                </a:solidFill>
                <a:latin typeface="Calibri" pitchFamily="34" charset="0"/>
                <a:cs typeface="Amiri" pitchFamily="2" charset="-78"/>
              </a:rPr>
              <a:t>  ·  </a:t>
            </a:r>
            <a:pPr algn="l" indent="0" marL="0">
              <a:buNone/>
            </a:pPr>
            <a:r>
              <a:rPr lang="ar-SA" altLang="en-US" sz="2100" b="1" dirty="0">
                <a:solidFill>
                  <a:srgbClr val="1B3B6F"/>
                </a:solidFill>
                <a:latin typeface="Amiri" pitchFamily="2" charset="-78"/>
                <a:cs typeface="Amiri" pitchFamily="2" charset="-78"/>
              </a:rPr>
              <a:t>لَطِيفٌ</a:t>
            </a:r>
            <a:pPr algn="l" indent="0" marL="0">
              <a:buNone/>
            </a:pPr>
            <a:r>
              <a:rPr lang="en-US" sz="1600" b="1" dirty="0">
                <a:solidFill>
                  <a:srgbClr val="1B3B6F"/>
                </a:solidFill>
                <a:latin typeface="Calibri" pitchFamily="34" charset="0"/>
                <a:cs typeface="Amiri" pitchFamily="2" charset="-78"/>
              </a:rPr>
              <a:t>  ·  </a:t>
            </a:r>
            <a:pPr algn="l" indent="0" marL="0">
              <a:buNone/>
            </a:pPr>
            <a:r>
              <a:rPr lang="ar-SA" altLang="en-US" sz="2100" b="1" dirty="0">
                <a:solidFill>
                  <a:srgbClr val="1B3B6F"/>
                </a:solidFill>
                <a:latin typeface="Amiri" pitchFamily="2" charset="-78"/>
                <a:cs typeface="Amiri" pitchFamily="2" charset="-78"/>
              </a:rPr>
              <a:t>نَشِيطٌ</a:t>
            </a:r>
            <a:pPr algn="l" indent="0" marL="0">
              <a:buNone/>
            </a:pPr>
            <a:r>
              <a:rPr lang="en-US" sz="1600" b="1" dirty="0">
                <a:solidFill>
                  <a:srgbClr val="1B3B6F"/>
                </a:solidFill>
                <a:latin typeface="Calibri" pitchFamily="34" charset="0"/>
                <a:cs typeface="Amiri" pitchFamily="2" charset="-78"/>
              </a:rPr>
              <a:t>  ·  </a:t>
            </a:r>
            <a:pPr algn="l" indent="0" marL="0">
              <a:buNone/>
            </a:pPr>
            <a:r>
              <a:rPr lang="ar-SA" altLang="en-US" sz="2100" b="1" dirty="0">
                <a:solidFill>
                  <a:srgbClr val="1B3B6F"/>
                </a:solidFill>
                <a:latin typeface="Amiri" pitchFamily="2" charset="-78"/>
                <a:cs typeface="Amiri" pitchFamily="2" charset="-78"/>
              </a:rPr>
              <a:t>هَادِئٌ</a:t>
            </a:r>
            <a:pPr algn="l" indent="0" marL="0">
              <a:buNone/>
            </a:pPr>
            <a:r>
              <a:rPr lang="en-US" sz="1600" b="1" dirty="0">
                <a:solidFill>
                  <a:srgbClr val="1B3B6F"/>
                </a:solidFill>
                <a:latin typeface="Calibri" pitchFamily="34" charset="0"/>
                <a:cs typeface="Amiri" pitchFamily="2" charset="-78"/>
              </a:rPr>
              <a:t>  ·  </a:t>
            </a:r>
            <a:pPr algn="l" indent="0" marL="0">
              <a:buNone/>
            </a:pPr>
            <a:r>
              <a:rPr lang="ar-SA" altLang="en-US" sz="2100" b="1" dirty="0">
                <a:solidFill>
                  <a:srgbClr val="1B3B6F"/>
                </a:solidFill>
                <a:latin typeface="Amiri" pitchFamily="2" charset="-78"/>
                <a:cs typeface="Amiri" pitchFamily="2" charset="-78"/>
              </a:rPr>
              <a:t>حَارٌّ</a:t>
            </a:r>
            <a:pPr algn="l" indent="0" marL="0">
              <a:buNone/>
            </a:pPr>
            <a:r>
              <a:rPr lang="en-US" sz="1600" b="1" dirty="0">
                <a:solidFill>
                  <a:srgbClr val="1B3B6F"/>
                </a:solidFill>
                <a:latin typeface="Calibri" pitchFamily="34" charset="0"/>
                <a:cs typeface="Amiri" pitchFamily="2" charset="-78"/>
              </a:rPr>
              <a:t>  ·  + </a:t>
            </a:r>
            <a:pPr algn="l" indent="0" marL="0">
              <a:buNone/>
            </a:pPr>
            <a:r>
              <a:rPr lang="ar-SA" altLang="en-US" sz="2100" b="1" dirty="0">
                <a:solidFill>
                  <a:srgbClr val="1B3B6F"/>
                </a:solidFill>
                <a:latin typeface="Amiri" pitchFamily="2" charset="-78"/>
                <a:cs typeface="Amiri" pitchFamily="2" charset="-78"/>
              </a:rPr>
              <a:t>ة</a:t>
            </a:r>
            <a:pPr algn="l" indent="0" marL="0">
              <a:buNone/>
            </a:pPr>
            <a:r>
              <a:rPr lang="en-US" sz="1600" b="1" dirty="0">
                <a:solidFill>
                  <a:srgbClr val="1B3B6F"/>
                </a:solidFill>
                <a:latin typeface="Calibri" pitchFamily="34" charset="0"/>
                <a:cs typeface="Amiri" pitchFamily="2" charset="-78"/>
              </a:rPr>
              <a:t> for feminine</a:t>
            </a:r>
            <a:endParaRPr lang="en-US"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GM-ADJ-01 · Adjectives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GM-ADJ-01</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Website extended writing workshop: 90–120 words describing a person, place, object or experience with at least eight target adjective structures.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Four masculine and four feminine adjective structures.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least two phrases with al- on both words.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least two nominal sentences (“… is …”).</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feminine noun without </a:t>
            </a:r>
            <a:pPr algn="l" indent="0" marL="0">
              <a:buNone/>
            </a:pPr>
            <a:r>
              <a:rPr lang="ar-SA" altLang="en-US" sz="1550" dirty="0">
                <a:solidFill>
                  <a:srgbClr val="1F2A37"/>
                </a:solidFill>
                <a:latin typeface="Amiri" pitchFamily="2" charset="-78"/>
                <a:cs typeface="Amiri" pitchFamily="2" charset="-78"/>
              </a:rPr>
              <a:t>ة</a:t>
            </a:r>
            <a:pPr algn="l" indent="0" marL="0">
              <a:buNone/>
            </a:pPr>
            <a:r>
              <a:rPr lang="en-US" sz="1200" dirty="0">
                <a:solidFill>
                  <a:srgbClr val="1F2A37"/>
                </a:solidFill>
                <a:latin typeface="Calibri" pitchFamily="34" charset="0"/>
                <a:cs typeface="Amiri" pitchFamily="2" charset="-78"/>
              </a:rPr>
              <a:t> (sun, mother, sister …).</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adjective whose feminine changes shape.</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أُمِّي لَطِيفَةٌ</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my mother is kind</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الشَّمْسُ حَارَّةٌ</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sun is hot</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مَدِينَةٌ قَدِيمَةٌ</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 old city</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الْمَتْحَفُ الْقَدِيمُ</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old museum</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حَقِيبَةٌ حَمْرَاءُ</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 red bag</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أَنَا عَطْشَانُ / عَطْشَى</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am thirsty (m. / f.)</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GM-ADJ-01 · Adjectives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cs typeface="Amiri" pitchFamily="2" charset="-78"/>
              </a:rPr>
              <a:t>أَسْكُنُ فِي مَدِينَةٍ قَدِيمَةٍ وَجَمِيلَةٍ. بَيْتُنَا صَغِيرٌ، لَكِنَّ الْحَدِيقَةَ كَبِيرَةٌ. أُمِّي طَبَّاخَةٌ مَاهِرَةٌ، وَطَعَامُهَا لَذِيذٌ. أَخِي الْكَبِيرُ طَالِبٌ مُجْتَهِدٌ، وَأُخْتِي الصَّغِيرَةُ مَرِحَةٌ. فِي الصَّيْفِ الشَّمْسُ حَارَّةٌ، فَتَلْبَسُ أُخْتِي قُبَّعَةً حَمْرَاءَ.</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 live in an old and beautiful city. Our house is small, but the garden is big. My mother is a skilful cook, and her food is delicious. My older brother is a hard-working student, and my little sister is cheerful. In summer the sun is hot, so my sister wears a red hat.</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masculine pairs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feminine pairs</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phrase vs sentence</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hidden feminine</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GM-ADJ-01 · Adjectives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Every adjective comes after its noun.</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Feminine nouns have feminine adjectives.</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phrases and sentences mean what I intended.</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spotted feminine nouns without </a:t>
            </a:r>
            <a:pPr algn="l" indent="0" marL="0">
              <a:buNone/>
            </a:pPr>
            <a:r>
              <a:rPr lang="ar-SA" altLang="en-US" sz="1700" dirty="0">
                <a:solidFill>
                  <a:srgbClr val="1F2A37"/>
                </a:solidFill>
                <a:latin typeface="Amiri" pitchFamily="2" charset="-78"/>
                <a:cs typeface="Amiri" pitchFamily="2" charset="-78"/>
              </a:rPr>
              <a:t>ة</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one adjective that changes shape.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GM-ADJ-01 · Adjectives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clever girl”.</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بِنْتٌ ذَكِيَّةٌ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بِنْتٌ ذَكِيٌّ</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بِنْتٌ الذَّكِيَّةُ</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sun is hot.”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الشَّمْسُ حَارٌّ.</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الشَّمْسُ حَارَّةٌ.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الشَّمْسُ الْحَارَّةُ</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new book”.</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الْكِتَابُ الْجَدِيدُ</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الْكِتَابُ جَدِيدٌ</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الْكِتَابُ الْجَدِيدَةُ</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GM-ADJ-01 · Adjectives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clever girl”.</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بِنْتٌ ذَكِيَّةٌ</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بِنْتٌ ذَكِيٌّ</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بِنْتٌ الذَّكِيَّةُ</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Feminine, indefinite.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sun is hot.”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الشَّمْسُ حَارٌّ.</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الشَّمْسُ حَارَّةٌ.</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الشَّمْسُ الْحَارَّةُ</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Feminine noun; a sentence.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new book”.</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الْكِتَابُ الْجَدِيدُ</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الْكِتَابُ جَدِيدٌ</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الْكِتَابُ الْجَدِيدَةُ</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Masculine; al- on both.</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GM-ADJ-01 · Adjectives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Before GM-ADJ-02: get ready at home</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Adjectives · GM-ADJ-01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GM-ADJ-02 · Adjective Agreement with Plurals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جَمْعٌ</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plural</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مُجْتَهِدُونَ</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hard-working (m. pl.)</a:t>
            </a:r>
            <a:pPr indent="0" marL="0">
              <a:buNone/>
            </a:pPr>
            <a:r>
              <a:rPr lang="en-US" sz="1000" i="1" dirty="0">
                <a:solidFill>
                  <a:srgbClr val="5A6472"/>
                </a:solidFill>
                <a:latin typeface="Calibri" pitchFamily="34" charset="0"/>
                <a:cs typeface="Amiri" pitchFamily="2" charset="-78"/>
              </a:rPr>
              <a:t>  sing. مُجْتَهِدٌ</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مُجْتَهِدَاتٌ</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hard-working (f. pl.)</a:t>
            </a:r>
            <a:pPr indent="0" marL="0">
              <a:buNone/>
            </a:pPr>
            <a:r>
              <a:rPr lang="en-US" sz="1000" i="1" dirty="0">
                <a:solidFill>
                  <a:srgbClr val="5A6472"/>
                </a:solidFill>
                <a:latin typeface="Calibri" pitchFamily="34" charset="0"/>
                <a:cs typeface="Amiri" pitchFamily="2" charset="-78"/>
              </a:rPr>
              <a:t>  sing. مُجْتَهِدَةٌ</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كِبَارٌ</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big (pl., people)</a:t>
            </a:r>
            <a:pPr indent="0" marL="0">
              <a:buNone/>
            </a:pPr>
            <a:r>
              <a:rPr lang="en-US" sz="1000" i="1" dirty="0">
                <a:solidFill>
                  <a:srgbClr val="5A6472"/>
                </a:solidFill>
                <a:latin typeface="Calibri" pitchFamily="34" charset="0"/>
                <a:cs typeface="Amiri" pitchFamily="2" charset="-78"/>
              </a:rPr>
              <a:t>  sing. كَبِيرٌ</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مُفِيدَةٌ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useful (for things in the plural)</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How would you say “the students are hard-working” for boys, and for girls?</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الطُّلَّابُ ______ · الطَّالِبَاتُ ______</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ten adjective pairs: five masculine, five feminine.</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six sentences and six phrases with the same nouns.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workshop (90–120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GM-ADJ-01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050" b="1" dirty="0">
                <a:solidFill>
                  <a:srgbClr val="FFFFFF"/>
                </a:solidFill>
                <a:latin typeface="Cambria" pitchFamily="34" charset="0"/>
                <a:cs typeface="Amiri" pitchFamily="2" charset="-78"/>
              </a:rPr>
              <a:t>GM-ADJ-02 · Adjective Agreement with Plurals</a:t>
            </a:r>
            <a:endParaRPr lang="en-US" sz="20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مُطَابَقَةُ الصِّفَةِ مَعَ الْجُمُوعِ</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noun first · feminine noun → adjective + </a:t>
            </a:r>
            <a:pPr algn="l" indent="0" marL="0">
              <a:buNone/>
            </a:pPr>
            <a:r>
              <a:rPr lang="ar-SA" altLang="en-US" sz="1700" b="1" dirty="0">
                <a:solidFill>
                  <a:srgbClr val="FFFFFF"/>
                </a:solidFill>
                <a:latin typeface="Amiri" pitchFamily="2" charset="-78"/>
                <a:cs typeface="Amiri" pitchFamily="2" charset="-78"/>
              </a:rPr>
              <a:t>ة</a:t>
            </a:r>
            <a:pPr algn="l" indent="0" marL="0">
              <a:buNone/>
            </a:pPr>
            <a:r>
              <a:rPr lang="en-US" sz="1300" b="1" dirty="0">
                <a:solidFill>
                  <a:srgbClr val="FFFFFF"/>
                </a:solidFill>
                <a:latin typeface="Calibri" pitchFamily="34" charset="0"/>
                <a:cs typeface="Amiri" pitchFamily="2" charset="-78"/>
              </a:rPr>
              <a:t> · watch hidden feminines (sun, mother) and shape-changers (red) · al- on the adjective = phrase; no al- = “is”.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GM-ADJ-01 · Masculine and Feminine Singular</dc:title>
  <dc:subject>PptxGenJS Presentation</dc:subject>
  <dc:creator>Al Madina Online School · Arabic Department</dc:creator>
  <cp:lastModifiedBy>Al Madina Online School · Arabic Department</cp:lastModifiedBy>
  <cp:revision>1</cp:revision>
  <dcterms:created xsi:type="dcterms:W3CDTF">2026-10-11T06:41:59Z</dcterms:created>
  <dcterms:modified xsi:type="dcterms:W3CDTF">2026-10-11T06:41:59Z</dcterms:modified>
</cp:coreProperties>
</file>