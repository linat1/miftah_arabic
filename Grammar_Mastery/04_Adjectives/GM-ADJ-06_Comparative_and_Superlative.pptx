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GM-ADJ-06 (“Comparative and Superlative”).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build afʿal from common adjectives (كَبِيرٌ أَكْبَرُ · طَوِيلٌ أَطْوَلُ · سَرِيعٌ أَسْرَعُ) and compare with مِنْ. Develop: superlative — هُوَ الْأَفْضَلُ and أَفْضَلُ كِتَابٍ. Stretch: analytical comparison with أَكْثَرُ / أَقَلُّ + noun in -an (أَكْثَرُ أَهَمِّيَّةً); doubled and weak roots (أَحَرُّ · أَغْلَى); recognition of الْكُبْرَى.
• The comparative does NOT agree in gender: مَرْيَمُ أَطْوَلُ مِنْ سَلْمَى (website). Many students add ة — this is the website’s first clinic point.
• Afʿal is a diptote: no tanwīn (أَكْبَرُ, not أَكْبَرٌ) — the same shape as the colours in ADJ-03, but a different meaning.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five words prepared at the end of GM-ADJ-05.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Bigger than = akbaru min — the same for boys and girls. The biggest = al-akbar, or akbaru + an indefinite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1 (3 min) — teacher-added formation table (the website assumes it). Root-letter colouring helps: k-b-r in both كَبِيرٌ and أَكْبَرُ. Good is irregular: afḍal (from faḍl).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 website “Comparative with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(4 min) — website “Superlative routes” and “Analytical comparison”. The iḍāfa superlative (afḍalu kitābin) is the most useful for exams. Kubrā is for Stretch recognition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Write the three transport words on screen; students rank them in Arabic. Point out أَسْرَعُ never changes, even with الطَّائِرَةُ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Last row: newer is usually aḥdath (from ḥadīth “modern”) — a useful Stretch vocabulary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C or S. The clue: min → comparative; al- or a following indefinite noun → superlative.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C or S. The clue: min → comparative; al- or a following indefinite noun → superlative.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comparative and superlative, and label its type.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six accurate structures. Great IGCSE opinion practice: “X is better than Y because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(GM-ADJ-07 · Demonstratives and Agreement) will spend class time USING this language, so students prepare it tonight — short, simple, easy to access (school guidance: “Simple, Short, Interesting, Relevant, Easy to access”). The five words prepare GM-ADJ-07 (website Adjectives lesson 7: demonstratives).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cs typeface="Amiri" pitchFamily="2" charset="-78"/>
              </a:rPr>
              <a:t>Comparative and Superlative</a:t>
            </a:r>
            <a:endParaRPr lang="en-US" sz="3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اِسْمُ التَّفْضِيلِ: أَفْعَلُ وَالْأَفْعَلُ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One pattern, afʿal, makes “bigger” and “biggest”. Bigger than = akbaru min (never changes for gender). The biggest = al-akbar, or akbaru + an indefinite noun: “the biggest city”.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GM-ADJ-06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Comparative + min; superlative routes; analytical comparison.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afʿal, compare, rank.</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train is faster than the bus.”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أَسْرَعَ الْحَافِلَةِ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أَسْرَعُ مِنَ الْحَافِلَةِ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الْقِطَارُ السَّرِيعُ مِنَ الْحَافِلَةِ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“Maryam is taller than Salma”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 أَطْوَلُ مِنْ سَلْمَى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 طَوِيلَةٌ مِنْ سَلْمَى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 أَطْوَلَةُ مِنْ سَلْمَى</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مِنْ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فَاضِلٌ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الْأَفْضَلُ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book”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الْأَفْضَلُ الْكِتَابُ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مِنْ كِتَابٍ</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 كِتَابٍ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train is faster than the bus.”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الْقِطَارُ أَسْرَعَ الْحَافِلَةِ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الْقِطَارُ أَسْرَعُ مِنَ الْحَافِلَةِ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الْقِطَارُ السَّرِيعُ مِنَ الْحَافِلَةِ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 + min.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“Maryam is taller than Salma”</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مَرْيَمُ أَطْوَلُ مِنْ سَلْمَى</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 طَوِيلَةٌ مِنْ سَلْمَى</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 أَطْوَلَةُ مِنْ سَلْمَى</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comparative stays afʿal, even for a woman.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مِنْ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فَاضِلٌ</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الْأَفْضَلُ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definite superlative.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book”</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الْأَفْضَلُ الْكِتَابُ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أَفْضَلٌ مِنْ كِتَابٍ</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أَفْضَلُ كِتَابٍ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Superlative as the first word of an iḍāfa.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Bigger than = akbaru min — the same for boys and girls. The biggest = al-akbar, or akbaru + an indefinite noun.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أَكْبَرُ </a:t>
            </a:r>
            <a:pPr rtl="1" algn="ctr" indent="0" marL="0">
              <a:buNone/>
            </a:pPr>
            <a:r>
              <a:rPr lang="ar-SA" altLang="en-US" sz="2400" b="1" dirty="0">
                <a:solidFill>
                  <a:srgbClr val="0E7C86"/>
                </a:solidFill>
                <a:latin typeface="Amiri" pitchFamily="2" charset="-78"/>
                <a:ea typeface="Amiri" pitchFamily="2" charset="-78"/>
                <a:cs typeface="Amiri" pitchFamily="2" charset="-78"/>
              </a:rPr>
              <a:t>مِنْ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أَكْبَرُ مَدِينَةٍ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comparative afʿal from common adjectives.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things with afʿal + min.</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the superlative in two ways.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akthar / aqall for adjectives without a simple afʿal.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make bigger, taller, faster.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compare two people or things with min.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say the best and the best book.</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keep the comparative the same for girls.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more important and more helpful.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form hotter, less and more expensive.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 التَّفْضِيلِ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comparative / superlative</a:t>
            </a:r>
            <a:endParaRPr lang="en-US" sz="1350" dirty="0"/>
          </a:p>
          <a:p>
            <a:pPr indent="0" marL="0">
              <a:buNone/>
            </a:pPr>
            <a:r>
              <a:rPr lang="en-US" sz="1100" i="1" dirty="0">
                <a:solidFill>
                  <a:srgbClr val="5A6472"/>
                </a:solidFill>
                <a:latin typeface="Calibri" pitchFamily="34" charset="0"/>
                <a:cs typeface="Amiri" pitchFamily="2" charset="-78"/>
              </a:rPr>
              <a:t>as-mu at-taf-ḍī-li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pattern </a:t>
            </a:r>
            <a:pPr algn="l" indent="0" marL="0">
              <a:buNone/>
            </a:pPr>
            <a:r>
              <a:rPr lang="ar-SA" altLang="en-US" sz="1300" dirty="0">
                <a:solidFill>
                  <a:srgbClr val="8A6D1E"/>
                </a:solidFill>
                <a:latin typeface="Amiri" pitchFamily="2" charset="-78"/>
                <a:ea typeface="Amiri" pitchFamily="2" charset="-78"/>
                <a:cs typeface="Amiri" pitchFamily="2" charset="-78"/>
              </a:rPr>
              <a:t>أَفْعَلُ</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أَفْعَلُ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afʿal pattern</a:t>
            </a:r>
            <a:endParaRPr lang="en-US" sz="1350" dirty="0"/>
          </a:p>
          <a:p>
            <a:pPr indent="0" marL="0">
              <a:buNone/>
            </a:pPr>
            <a:r>
              <a:rPr lang="en-US" sz="1100" i="1" dirty="0">
                <a:solidFill>
                  <a:srgbClr val="5A6472"/>
                </a:solidFill>
                <a:latin typeface="Calibri" pitchFamily="34" charset="0"/>
                <a:cs typeface="Amiri" pitchFamily="2" charset="-78"/>
              </a:rPr>
              <a:t>afʿal</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أَكْبَرُ · أَسْرَعُ</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than</a:t>
            </a:r>
            <a:endParaRPr lang="en-US" sz="1350" dirty="0"/>
          </a:p>
          <a:p>
            <a:pPr indent="0" marL="0">
              <a:buNone/>
            </a:pPr>
            <a:r>
              <a:rPr lang="en-US" sz="1100" i="1" dirty="0">
                <a:solidFill>
                  <a:srgbClr val="5A6472"/>
                </a:solidFill>
                <a:latin typeface="Calibri" pitchFamily="34" charset="0"/>
                <a:cs typeface="Amiri" pitchFamily="2" charset="-78"/>
              </a:rPr>
              <a:t>min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أَكْبَرُ مِنْ</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الْأَفْضَلُ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best</a:t>
            </a:r>
            <a:endParaRPr lang="en-US" sz="1350" dirty="0"/>
          </a:p>
          <a:p>
            <a:pPr indent="0" marL="0">
              <a:buNone/>
            </a:pPr>
            <a:r>
              <a:rPr lang="en-US" sz="1100" i="1" dirty="0">
                <a:solidFill>
                  <a:srgbClr val="5A6472"/>
                </a:solidFill>
                <a:latin typeface="Calibri" pitchFamily="34" charset="0"/>
                <a:cs typeface="Amiri" pitchFamily="2" charset="-78"/>
              </a:rPr>
              <a:t>al-af-ḍa-lu</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هُوَ الْأَفْضَلُ</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(most)</a:t>
            </a:r>
            <a:endParaRPr lang="en-US" sz="1350" dirty="0"/>
          </a:p>
          <a:p>
            <a:pPr indent="0" marL="0">
              <a:buNone/>
            </a:pPr>
            <a:r>
              <a:rPr lang="en-US" sz="1100" i="1" dirty="0">
                <a:solidFill>
                  <a:srgbClr val="5A6472"/>
                </a:solidFill>
                <a:latin typeface="Calibri" pitchFamily="34" charset="0"/>
                <a:cs typeface="Amiri" pitchFamily="2" charset="-78"/>
              </a:rPr>
              <a:t>ak-tha-ru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أَكْثَرُ أَهَمِّيَّةً</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(least)</a:t>
            </a:r>
            <a:endParaRPr lang="en-US" sz="1350" dirty="0"/>
          </a:p>
          <a:p>
            <a:pPr indent="0" marL="0">
              <a:buNone/>
            </a:pPr>
            <a:r>
              <a:rPr lang="en-US" sz="1100" i="1" dirty="0">
                <a:solidFill>
                  <a:srgbClr val="5A6472"/>
                </a:solidFill>
                <a:latin typeface="Calibri" pitchFamily="34" charset="0"/>
                <a:cs typeface="Amiri" pitchFamily="2" charset="-78"/>
              </a:rPr>
              <a:t>a-qal-lu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أَقَلُّ صُعُوبَةً</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BUILDING AFʿAL ·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From adjective to comparative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بِنَاءُ أَفْعَلَ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833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Comparative</a:t>
            </a:r>
            <a:endParaRPr lang="en-US" sz="1100" dirty="0"/>
          </a:p>
        </p:txBody>
      </p:sp>
      <p:sp>
        <p:nvSpPr>
          <p:cNvPr id="18" name="Text 15"/>
          <p:cNvSpPr txBox="1"/>
          <p:nvPr/>
        </p:nvSpPr>
        <p:spPr>
          <a:xfrm>
            <a:off x="32735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bigger / older</a:t>
            </a:r>
            <a:endParaRPr lang="en-US" sz="1100" dirty="0"/>
          </a:p>
        </p:txBody>
      </p:sp>
      <p:sp>
        <p:nvSpPr>
          <p:cNvPr id="22" name="Text 19"/>
          <p:cNvSpPr txBox="1"/>
          <p:nvPr/>
        </p:nvSpPr>
        <p:spPr>
          <a:xfrm>
            <a:off x="585216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أَكْبَرُ</a:t>
            </a:r>
            <a:endParaRPr lang="ar-SA" sz="2400" dirty="0"/>
          </a:p>
        </p:txBody>
      </p:sp>
      <p:sp>
        <p:nvSpPr>
          <p:cNvPr id="23" name="Text 20"/>
          <p:cNvSpPr txBox="1"/>
          <p:nvPr/>
        </p:nvSpPr>
        <p:spPr>
          <a:xfrm>
            <a:off x="3310128" y="226771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a:t>
            </a:r>
            <a:endParaRPr lang="en-US" sz="1100" dirty="0"/>
          </a:p>
        </p:txBody>
      </p:sp>
      <p:sp>
        <p:nvSpPr>
          <p:cNvPr id="24" name="Text 21"/>
          <p:cNvSpPr txBox="1"/>
          <p:nvPr/>
        </p:nvSpPr>
        <p:spPr>
          <a:xfrm>
            <a:off x="548640" y="226771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كَبِيرٌ</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smaller / younger</a:t>
            </a:r>
            <a:endParaRPr lang="en-US" sz="1100" dirty="0"/>
          </a:p>
        </p:txBody>
      </p:sp>
      <p:sp>
        <p:nvSpPr>
          <p:cNvPr id="29" name="Text 26"/>
          <p:cNvSpPr txBox="1"/>
          <p:nvPr/>
        </p:nvSpPr>
        <p:spPr>
          <a:xfrm>
            <a:off x="585216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أَصْغَرُ</a:t>
            </a:r>
            <a:endParaRPr lang="ar-SA" sz="2400" dirty="0"/>
          </a:p>
        </p:txBody>
      </p:sp>
      <p:sp>
        <p:nvSpPr>
          <p:cNvPr id="30" name="Text 27"/>
          <p:cNvSpPr txBox="1"/>
          <p:nvPr/>
        </p:nvSpPr>
        <p:spPr>
          <a:xfrm>
            <a:off x="3310128" y="2881884"/>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a:t>
            </a:r>
            <a:endParaRPr lang="en-US" sz="1100" dirty="0"/>
          </a:p>
        </p:txBody>
      </p:sp>
      <p:sp>
        <p:nvSpPr>
          <p:cNvPr id="31" name="Text 28"/>
          <p:cNvSpPr txBox="1"/>
          <p:nvPr/>
        </p:nvSpPr>
        <p:spPr>
          <a:xfrm>
            <a:off x="548640" y="2881884"/>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صَغِيرٌ</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taller, longer</a:t>
            </a:r>
            <a:endParaRPr lang="en-US" sz="1100" dirty="0"/>
          </a:p>
        </p:txBody>
      </p:sp>
      <p:sp>
        <p:nvSpPr>
          <p:cNvPr id="36" name="Text 33"/>
          <p:cNvSpPr txBox="1"/>
          <p:nvPr/>
        </p:nvSpPr>
        <p:spPr>
          <a:xfrm>
            <a:off x="585216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أَطْوَلُ</a:t>
            </a:r>
            <a:endParaRPr lang="ar-SA" sz="2400" dirty="0"/>
          </a:p>
        </p:txBody>
      </p:sp>
      <p:sp>
        <p:nvSpPr>
          <p:cNvPr id="37" name="Text 34"/>
          <p:cNvSpPr txBox="1"/>
          <p:nvPr/>
        </p:nvSpPr>
        <p:spPr>
          <a:xfrm>
            <a:off x="3310128" y="3496056"/>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tall, long</a:t>
            </a:r>
            <a:endParaRPr lang="en-US" sz="1100" dirty="0"/>
          </a:p>
        </p:txBody>
      </p:sp>
      <p:sp>
        <p:nvSpPr>
          <p:cNvPr id="38" name="Text 35"/>
          <p:cNvSpPr txBox="1"/>
          <p:nvPr/>
        </p:nvSpPr>
        <p:spPr>
          <a:xfrm>
            <a:off x="548640" y="3496056"/>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طَوِيلٌ</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faster</a:t>
            </a:r>
            <a:endParaRPr lang="en-US" sz="1100" dirty="0"/>
          </a:p>
        </p:txBody>
      </p:sp>
      <p:sp>
        <p:nvSpPr>
          <p:cNvPr id="43" name="Text 40"/>
          <p:cNvSpPr txBox="1"/>
          <p:nvPr/>
        </p:nvSpPr>
        <p:spPr>
          <a:xfrm>
            <a:off x="585216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أَسْرَعُ</a:t>
            </a:r>
            <a:endParaRPr lang="ar-SA" sz="2400" dirty="0"/>
          </a:p>
        </p:txBody>
      </p:sp>
      <p:sp>
        <p:nvSpPr>
          <p:cNvPr id="44" name="Text 41"/>
          <p:cNvSpPr txBox="1"/>
          <p:nvPr/>
        </p:nvSpPr>
        <p:spPr>
          <a:xfrm>
            <a:off x="3310128" y="4110228"/>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fast</a:t>
            </a:r>
            <a:endParaRPr lang="en-US" sz="1100" dirty="0"/>
          </a:p>
        </p:txBody>
      </p:sp>
      <p:sp>
        <p:nvSpPr>
          <p:cNvPr id="45" name="Text 42"/>
          <p:cNvSpPr txBox="1"/>
          <p:nvPr/>
        </p:nvSpPr>
        <p:spPr>
          <a:xfrm>
            <a:off x="548640" y="4110228"/>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سَرِيعٌ</a:t>
            </a:r>
            <a:endParaRPr lang="ar-SA" sz="24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better</a:t>
            </a:r>
            <a:endParaRPr lang="en-US" sz="1100" dirty="0"/>
          </a:p>
        </p:txBody>
      </p:sp>
      <p:sp>
        <p:nvSpPr>
          <p:cNvPr id="50" name="Text 47"/>
          <p:cNvSpPr txBox="1"/>
          <p:nvPr/>
        </p:nvSpPr>
        <p:spPr>
          <a:xfrm>
            <a:off x="585216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أَفْضَلُ / أَحْسَنُ</a:t>
            </a:r>
            <a:endParaRPr lang="ar-SA" sz="2400" dirty="0"/>
          </a:p>
        </p:txBody>
      </p:sp>
      <p:sp>
        <p:nvSpPr>
          <p:cNvPr id="51" name="Text 48"/>
          <p:cNvSpPr txBox="1"/>
          <p:nvPr/>
        </p:nvSpPr>
        <p:spPr>
          <a:xfrm>
            <a:off x="3310128" y="4724400"/>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a:t>
            </a:r>
            <a:endParaRPr lang="en-US" sz="1100" dirty="0"/>
          </a:p>
        </p:txBody>
      </p:sp>
      <p:sp>
        <p:nvSpPr>
          <p:cNvPr id="52" name="Text 49"/>
          <p:cNvSpPr txBox="1"/>
          <p:nvPr/>
        </p:nvSpPr>
        <p:spPr>
          <a:xfrm>
            <a:off x="548640" y="4724400"/>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جَيِّدٌ / حَسَنٌ</a:t>
            </a:r>
            <a:endParaRPr lang="ar-SA" sz="24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 doubled and weak roots</a:t>
            </a:r>
            <a:endParaRPr lang="en-US" sz="1100" dirty="0"/>
          </a:p>
        </p:txBody>
      </p:sp>
      <p:sp>
        <p:nvSpPr>
          <p:cNvPr id="55" name="Text 52"/>
          <p:cNvSpPr txBox="1"/>
          <p:nvPr/>
        </p:nvSpPr>
        <p:spPr>
          <a:xfrm>
            <a:off x="5852160"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أَحَرُّ · أَقَلُّ · أَغْلَى</a:t>
            </a:r>
            <a:endParaRPr lang="ar-SA" sz="2400" dirty="0"/>
          </a:p>
        </p:txBody>
      </p:sp>
      <p:sp>
        <p:nvSpPr>
          <p:cNvPr id="56" name="Text 53"/>
          <p:cNvSpPr txBox="1"/>
          <p:nvPr/>
        </p:nvSpPr>
        <p:spPr>
          <a:xfrm>
            <a:off x="3310128" y="5338572"/>
            <a:ext cx="23774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hot · few · expensive</a:t>
            </a:r>
            <a:endParaRPr lang="en-US" sz="1100" dirty="0"/>
          </a:p>
        </p:txBody>
      </p:sp>
      <p:sp>
        <p:nvSpPr>
          <p:cNvPr id="57" name="Text 54"/>
          <p:cNvSpPr txBox="1"/>
          <p:nvPr/>
        </p:nvSpPr>
        <p:spPr>
          <a:xfrm>
            <a:off x="548640" y="5338572"/>
            <a:ext cx="25603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حَارٌّ · قَلِيلٌ · غَالٍ</a:t>
            </a:r>
            <a:endParaRPr lang="ar-SA" sz="24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Take the three root letters and put them into a-_-_-a-_: k-b-r → akbar. Afʿal never takes tanwīn.</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2 · COMPARATIVE WITH MIN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Afʿal + min = “…er than”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أَفْعَلُ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Most comparisons use afʿal followed by min, “than”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comparative is FIXED: it does not change for a feminine or plural subject (website).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noun after min is genitive (-i / -in).</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Do not forget min in a two-item comparison (website clinic).</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min + al- becomes mina l- for easy pronunciation.</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أَحْمَدُ أَطْوَلُ مِنْ عَلِيٍّ.</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Ahmad is taller than Ali.  ·  website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مَرْيَمُ أَطْوَلُ مِنْ سَلْمَى.</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Maryam is taller than Salma.  ·  website — no </a:t>
            </a:r>
            <a:pPr algn="ctr" indent="0" marL="0">
              <a:buNone/>
            </a:pPr>
            <a:r>
              <a:rPr lang="ar-SA" altLang="en-US" sz="1450" dirty="0">
                <a:solidFill>
                  <a:srgbClr val="5A6472"/>
                </a:solidFill>
                <a:latin typeface="Amiri" pitchFamily="2" charset="-78"/>
                <a:ea typeface="Amiri" pitchFamily="2" charset="-78"/>
                <a:cs typeface="Amiri" pitchFamily="2" charset="-78"/>
              </a:rPr>
              <a:t>ة</a:t>
            </a:r>
            <a:pPr algn="ctr" indent="0" marL="0">
              <a:buNone/>
            </a:pPr>
            <a:r>
              <a:rPr lang="en-US" sz="1100" i="1" dirty="0">
                <a:solidFill>
                  <a:srgbClr val="5A6472"/>
                </a:solidFill>
                <a:latin typeface="Calibri" pitchFamily="34" charset="0"/>
                <a:cs typeface="Amiri" pitchFamily="2" charset="-78"/>
              </a:rPr>
              <a:t>!</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الْقِطَارُ أَسْرَعُ مِنَ الْحَافِلَةِ.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train is faster than the bus.  ·  website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السَّيَّارَاتُ أَغْلَى مِنَ الدَّرَّاجَاتِ.</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Cars are more expensive than bikes.  ·  plural — still fixed</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WEBSITE CLINIC</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add tāʾ marbūṭa to the comparative because the subject is feminine: Maryam is aṭwalu, not “aṭwalatu”.</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STEP 3 · SUPERLATIVE AND ANALYTICAL COMPARISON (WEBSITE)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The best, the most — and “more …”</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الْأَفْضَلُ وَأَكْثَرُ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book is the best.</a:t>
            </a:r>
            <a:endParaRPr lang="en-US" sz="1100" dirty="0"/>
          </a:p>
        </p:txBody>
      </p:sp>
      <p:sp>
        <p:nvSpPr>
          <p:cNvPr id="21" name="Text 18"/>
          <p:cNvSpPr txBox="1"/>
          <p:nvPr/>
        </p:nvSpPr>
        <p:spPr>
          <a:xfrm>
            <a:off x="3291840" y="226771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الْكِتَابُ هُوَ الْأَفْضَلُ.</a:t>
            </a:r>
            <a:endParaRPr lang="ar-SA" sz="2400" dirty="0"/>
          </a:p>
        </p:txBody>
      </p:sp>
      <p:sp>
        <p:nvSpPr>
          <p:cNvPr id="22" name="Text 19"/>
          <p:cNvSpPr txBox="1"/>
          <p:nvPr/>
        </p:nvSpPr>
        <p:spPr>
          <a:xfrm>
            <a:off x="566928" y="226771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 afʿal</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the best book.</a:t>
            </a:r>
            <a:endParaRPr lang="en-US" sz="1100" dirty="0"/>
          </a:p>
        </p:txBody>
      </p:sp>
      <p:sp>
        <p:nvSpPr>
          <p:cNvPr id="27" name="Text 24"/>
          <p:cNvSpPr txBox="1"/>
          <p:nvPr/>
        </p:nvSpPr>
        <p:spPr>
          <a:xfrm>
            <a:off x="3291840" y="2881884"/>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أَفْضَلُ كِتَابٍ.</a:t>
            </a:r>
            <a:endParaRPr lang="ar-SA" sz="2400" dirty="0"/>
          </a:p>
        </p:txBody>
      </p:sp>
      <p:sp>
        <p:nvSpPr>
          <p:cNvPr id="28" name="Text 25"/>
          <p:cNvSpPr txBox="1"/>
          <p:nvPr/>
        </p:nvSpPr>
        <p:spPr>
          <a:xfrm>
            <a:off x="566928" y="2881884"/>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afʿal + indefinite noun</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the fastest student in the team.</a:t>
            </a:r>
            <a:endParaRPr lang="en-US" sz="1100" dirty="0"/>
          </a:p>
        </p:txBody>
      </p:sp>
      <p:sp>
        <p:nvSpPr>
          <p:cNvPr id="33" name="Text 30"/>
          <p:cNvSpPr txBox="1"/>
          <p:nvPr/>
        </p:nvSpPr>
        <p:spPr>
          <a:xfrm>
            <a:off x="3291840" y="3496056"/>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 أَسْرَعُ طَالِبَةٍ فِي الْفَرِيقِ.</a:t>
            </a:r>
            <a:endParaRPr lang="ar-SA" sz="2400" dirty="0"/>
          </a:p>
        </p:txBody>
      </p:sp>
      <p:sp>
        <p:nvSpPr>
          <p:cNvPr id="34" name="Text 31"/>
          <p:cNvSpPr txBox="1"/>
          <p:nvPr/>
        </p:nvSpPr>
        <p:spPr>
          <a:xfrm>
            <a:off x="566928" y="3496056"/>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afʿal + indefinite noun</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work is more important.</a:t>
            </a:r>
            <a:endParaRPr lang="en-US" sz="1100" dirty="0"/>
          </a:p>
        </p:txBody>
      </p:sp>
      <p:sp>
        <p:nvSpPr>
          <p:cNvPr id="39" name="Text 36"/>
          <p:cNvSpPr txBox="1"/>
          <p:nvPr/>
        </p:nvSpPr>
        <p:spPr>
          <a:xfrm>
            <a:off x="3291840" y="4110228"/>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 الْعَمَلُ أَكْثَرُ أَهَمِّيَّةً.</a:t>
            </a:r>
            <a:endParaRPr lang="ar-SA" sz="2400" dirty="0"/>
          </a:p>
        </p:txBody>
      </p:sp>
      <p:sp>
        <p:nvSpPr>
          <p:cNvPr id="40" name="Text 37"/>
          <p:cNvSpPr txBox="1"/>
          <p:nvPr/>
        </p:nvSpPr>
        <p:spPr>
          <a:xfrm>
            <a:off x="566928" y="4110228"/>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 noun in -an</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more cooperative than her colleague.</a:t>
            </a:r>
            <a:endParaRPr lang="en-US" sz="1100" dirty="0"/>
          </a:p>
        </p:txBody>
      </p:sp>
      <p:sp>
        <p:nvSpPr>
          <p:cNvPr id="43" name="Text 40"/>
          <p:cNvSpPr txBox="1"/>
          <p:nvPr/>
        </p:nvSpPr>
        <p:spPr>
          <a:xfrm>
            <a:off x="3291840" y="4724400"/>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 أَكْثَرُ تَعَاوُنًا مِنْ زَمِيلَتِهَا.</a:t>
            </a:r>
            <a:endParaRPr lang="ar-SA" sz="2400" dirty="0"/>
          </a:p>
        </p:txBody>
      </p:sp>
      <p:sp>
        <p:nvSpPr>
          <p:cNvPr id="44" name="Text 41"/>
          <p:cNvSpPr txBox="1"/>
          <p:nvPr/>
        </p:nvSpPr>
        <p:spPr>
          <a:xfrm>
            <a:off x="566928" y="4724400"/>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more + noun in -an</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major cities (kubrā)</a:t>
            </a:r>
            <a:endParaRPr lang="en-US" sz="1100" dirty="0"/>
          </a:p>
        </p:txBody>
      </p:sp>
      <p:sp>
        <p:nvSpPr>
          <p:cNvPr id="47" name="Text 44"/>
          <p:cNvSpPr txBox="1"/>
          <p:nvPr/>
        </p:nvSpPr>
        <p:spPr>
          <a:xfrm>
            <a:off x="3291840" y="5338572"/>
            <a:ext cx="45720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الْمُدُنُ الْكُبْرَى</a:t>
            </a:r>
            <a:endParaRPr lang="ar-SA" sz="2400" dirty="0"/>
          </a:p>
        </p:txBody>
      </p:sp>
      <p:sp>
        <p:nvSpPr>
          <p:cNvPr id="48" name="Text 45"/>
          <p:cNvSpPr txBox="1"/>
          <p:nvPr/>
        </p:nvSpPr>
        <p:spPr>
          <a:xfrm>
            <a:off x="566928" y="5338572"/>
            <a:ext cx="25603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recognition: feminine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not every adjective has a simple afʿal (long adjectives, colours). Then use akthar / aqall + a noun ending in -an.</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of </a:t>
            </a:r>
            <a:pPr algn="l" indent="0" marL="0">
              <a:buNone/>
            </a:pPr>
            <a:r>
              <a:rPr lang="ar-SA" altLang="en-US" sz="1650" b="1" dirty="0">
                <a:solidFill>
                  <a:srgbClr val="1B3B6F"/>
                </a:solidFill>
                <a:latin typeface="Amiri" pitchFamily="2" charset="-78"/>
                <a:ea typeface="Amiri" pitchFamily="2" charset="-78"/>
                <a:cs typeface="Amiri" pitchFamily="2" charset="-78"/>
              </a:rPr>
              <a:t>صَغِيرٌ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صُغْرَى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“Fatima is older than Zainab.”</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فَاطِمَةُ أَكْبَرُ مِنْ زَيْنَبَ.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فَاطِمَةُ أَكْبَرَةُ مِنْ زَيْنَبَ.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فَاطِمَةُ كَبِيرَةٌ زَيْنَبَ.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longest river”.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النَّهْرُ أَطْوَلُ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أَطْوَلُ نَهْرٍ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أَطْوَلُ مِنْ نَهْرٍ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useful” (using akthar).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فَائِدَةً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أَكْثَرُ مُفِيدٌ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أَمْفَدُ</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of </a:t>
            </a:r>
            <a:pPr algn="l" indent="0" marL="0">
              <a:buNone/>
            </a:pPr>
            <a:r>
              <a:rPr lang="ar-SA" altLang="en-US" sz="1650" b="1" dirty="0">
                <a:solidFill>
                  <a:srgbClr val="1B3B6F"/>
                </a:solidFill>
                <a:latin typeface="Amiri" pitchFamily="2" charset="-78"/>
                <a:ea typeface="Amiri" pitchFamily="2" charset="-78"/>
                <a:cs typeface="Amiri" pitchFamily="2" charset="-78"/>
              </a:rPr>
              <a:t>صَغِيرٌ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صُغْرَى</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أَصْغَرَةٌ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أَصْغَرُ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Pattern afʿal.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“Fatima is older than Zainab.”</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فَاطِمَةُ أَكْبَرُ مِنْ زَيْنَبَ.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فَاطِمَةُ أَكْبَرَةُ مِنْ زَيْنَبَ.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فَاطِمَةُ كَبِيرَةٌ زَيْنَبَ.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Fixed form + min.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longest river”.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النَّهْرُ أَطْوَلُ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أَطْوَلُ نَهْرٍ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أَطْوَلُ مِنْ نَهْرٍ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Afʿal + indefinite noun.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“more useful” (using akthar).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أَكْثَرُ فَائِدَةً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أَكْثَرُ مُفِيدٌ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أَمْفَدُ</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Akthar + noun in -an.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compare and rank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Adjective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سَرِيعٌ</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root s-r-ʿ.</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Comparative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أَسْرَعُ</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a-s-r-a-ʿ.</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الطَّائِرَةُ أَسْرَعُ مِنَ الْقِطَارِ</a:t>
            </a:r>
            <a:endParaRPr lang="ar-SA" sz="22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fixed + min.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Superlative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الطَّائِرَةُ أَسْرَعُ وَسِيلَةٍ</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afʿal + noun.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COMPARATIVE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SUPERLATIVE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الطَّائِرَةُ </a:t>
            </a:r>
            <a:pPr rtl="1" algn="r" indent="0" marL="0">
              <a:buNone/>
            </a:pPr>
            <a:r>
              <a:rPr lang="ar-SA" altLang="en-US" sz="2600" b="1" dirty="0">
                <a:solidFill>
                  <a:srgbClr val="0E7C86"/>
                </a:solidFill>
                <a:latin typeface="Amiri" pitchFamily="2" charset="-78"/>
                <a:ea typeface="Amiri" pitchFamily="2" charset="-78"/>
                <a:cs typeface="Amiri" pitchFamily="2" charset="-78"/>
              </a:rPr>
              <a:t>أَسْرَعُ</a:t>
            </a:r>
            <a:pPr rtl="1" algn="r" indent="0" marL="0">
              <a:buNone/>
            </a:pPr>
            <a:r>
              <a:rPr lang="ar-SA" altLang="en-US" sz="2600" b="1" dirty="0">
                <a:solidFill>
                  <a:srgbClr val="1B3B6F"/>
                </a:solidFill>
                <a:latin typeface="Amiri" pitchFamily="2" charset="-78"/>
                <a:ea typeface="Amiri" pitchFamily="2" charset="-78"/>
                <a:cs typeface="Amiri" pitchFamily="2" charset="-78"/>
              </a:rPr>
              <a:t> مِنَ الْقِطَارِ، وَالْقِطَارُ </a:t>
            </a:r>
            <a:pPr rtl="1" algn="r" indent="0" marL="0">
              <a:buNone/>
            </a:pPr>
            <a:r>
              <a:rPr lang="ar-SA" altLang="en-US" sz="2600" b="1" dirty="0">
                <a:solidFill>
                  <a:srgbClr val="0E7C86"/>
                </a:solidFill>
                <a:latin typeface="Amiri" pitchFamily="2" charset="-78"/>
                <a:ea typeface="Amiri" pitchFamily="2" charset="-78"/>
                <a:cs typeface="Amiri" pitchFamily="2" charset="-78"/>
              </a:rPr>
              <a:t>أَسْرَعُ</a:t>
            </a:r>
            <a:pPr rtl="1" algn="r" indent="0" marL="0">
              <a:buNone/>
            </a:pPr>
            <a:r>
              <a:rPr lang="ar-SA" altLang="en-US" sz="2600" b="1" dirty="0">
                <a:solidFill>
                  <a:srgbClr val="1B3B6F"/>
                </a:solidFill>
                <a:latin typeface="Amiri" pitchFamily="2" charset="-78"/>
                <a:ea typeface="Amiri" pitchFamily="2" charset="-78"/>
                <a:cs typeface="Amiri" pitchFamily="2" charset="-78"/>
              </a:rPr>
              <a:t> مِنَ الْحَافِلَةِ؛ إِذَنِ الطَّائِرَةُ </a:t>
            </a:r>
            <a:pPr rtl="1" algn="r" indent="0" marL="0">
              <a:buNone/>
            </a:pPr>
            <a:r>
              <a:rPr lang="ar-SA" altLang="en-US" sz="2600" b="1" dirty="0">
                <a:solidFill>
                  <a:srgbClr val="D6336C"/>
                </a:solidFill>
                <a:latin typeface="Amiri" pitchFamily="2" charset="-78"/>
                <a:ea typeface="Amiri" pitchFamily="2" charset="-78"/>
                <a:cs typeface="Amiri" pitchFamily="2" charset="-78"/>
              </a:rPr>
              <a:t>أَسْرَعُ وَسِيلَةِ</a:t>
            </a:r>
            <a:pPr rtl="1" algn="r" indent="0" marL="0">
              <a:buNone/>
            </a:pPr>
            <a:r>
              <a:rPr lang="ar-SA" altLang="en-US" sz="2600" b="1" dirty="0">
                <a:solidFill>
                  <a:srgbClr val="1B3B6F"/>
                </a:solidFill>
                <a:latin typeface="Amiri" pitchFamily="2" charset="-78"/>
                <a:ea typeface="Amiri" pitchFamily="2" charset="-78"/>
                <a:cs typeface="Amiri" pitchFamily="2" charset="-78"/>
              </a:rPr>
              <a:t> نَقْلٍ.</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The plane is faster than the train, and the train is faster than the bus; so the plane is the fastest means of transport.</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أَخِي أَكْبَرُ مِنِّي.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brother is older than me.</a:t>
            </a:r>
            <a:endParaRPr lang="en-US" sz="1250" dirty="0"/>
          </a:p>
          <a:p>
            <a:pPr indent="0" marL="0">
              <a:buNone/>
            </a:pPr>
            <a:r>
              <a:rPr lang="en-US" sz="1050" i="1" dirty="0">
                <a:solidFill>
                  <a:srgbClr val="8A6D1E"/>
                </a:solidFill>
                <a:latin typeface="Calibri" pitchFamily="34" charset="0"/>
                <a:cs typeface="Amiri" pitchFamily="2" charset="-78"/>
              </a:rPr>
              <a:t>min + -nī = than me.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لَنْدَن أَكْبَرُ مَدِينَةٍ فِي بِرِيطَانِيَا.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London is the biggest city in Britain.</a:t>
            </a:r>
            <a:endParaRPr lang="en-US" sz="1250" dirty="0"/>
          </a:p>
          <a:p>
            <a:pPr indent="0" marL="0">
              <a:buNone/>
            </a:pPr>
            <a:r>
              <a:rPr lang="en-US" sz="1050" i="1" dirty="0">
                <a:solidFill>
                  <a:srgbClr val="8A6D1E"/>
                </a:solidFill>
                <a:latin typeface="Calibri" pitchFamily="34" charset="0"/>
                <a:cs typeface="Amiri" pitchFamily="2" charset="-78"/>
              </a:rPr>
              <a:t>Afʿal + indefinite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الرِّيَاضِيَّاتُ هِيَ الْأَصْعَبُ.</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Maths is the hardest.</a:t>
            </a:r>
            <a:endParaRPr lang="en-US" sz="1250" dirty="0"/>
          </a:p>
          <a:p>
            <a:pPr indent="0" marL="0">
              <a:buNone/>
            </a:pPr>
            <a:r>
              <a:rPr lang="en-US" sz="1050" i="1" dirty="0">
                <a:solidFill>
                  <a:srgbClr val="8A6D1E"/>
                </a:solidFill>
                <a:latin typeface="Calibri" pitchFamily="34" charset="0"/>
                <a:cs typeface="Amiri" pitchFamily="2" charset="-78"/>
              </a:rPr>
              <a:t>al- + afʿal.</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الْقِرَاءَةُ أَكْثَرُ فَائِدَةً مِنَ الْأَلْعَابِ.</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Reading is more useful than games.</a:t>
            </a:r>
            <a:endParaRPr lang="en-US" sz="1250" dirty="0"/>
          </a:p>
          <a:p>
            <a:pPr indent="0" marL="0">
              <a:buNone/>
            </a:pPr>
            <a:r>
              <a:rPr lang="en-US" sz="1050" i="1" dirty="0">
                <a:solidFill>
                  <a:srgbClr val="8A6D1E"/>
                </a:solidFill>
                <a:latin typeface="Calibri" pitchFamily="34" charset="0"/>
                <a:cs typeface="Amiri" pitchFamily="2" charset="-78"/>
              </a:rPr>
              <a:t>akthar + noun in -an.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AFʿAL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Make the comparative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كَوِّنْ أَفْعَلَ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7" name="Text 14"/>
          <p:cNvSpPr txBox="1"/>
          <p:nvPr/>
        </p:nvSpPr>
        <p:spPr>
          <a:xfrm>
            <a:off x="565099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Comparative</a:t>
            </a:r>
            <a:endParaRPr lang="en-US" sz="1100" dirty="0"/>
          </a:p>
        </p:txBody>
      </p:sp>
      <p:sp>
        <p:nvSpPr>
          <p:cNvPr id="18" name="Text 15"/>
          <p:cNvSpPr txBox="1"/>
          <p:nvPr/>
        </p:nvSpPr>
        <p:spPr>
          <a:xfrm>
            <a:off x="32735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Adjective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412480" y="2267712"/>
            <a:ext cx="32278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أَقْصَرُ مِنْ أَبِي.</a:t>
            </a:r>
            <a:endParaRPr lang="ar-SA" sz="2000" dirty="0"/>
          </a:p>
        </p:txBody>
      </p:sp>
      <p:sp>
        <p:nvSpPr>
          <p:cNvPr id="22" name="Text 19"/>
          <p:cNvSpPr txBox="1"/>
          <p:nvPr/>
        </p:nvSpPr>
        <p:spPr>
          <a:xfrm>
            <a:off x="566928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أَقْصَرُ</a:t>
            </a:r>
            <a:endParaRPr lang="ar-SA" sz="2400" dirty="0"/>
          </a:p>
        </p:txBody>
      </p:sp>
      <p:sp>
        <p:nvSpPr>
          <p:cNvPr id="23" name="Text 20"/>
          <p:cNvSpPr txBox="1"/>
          <p:nvPr/>
        </p:nvSpPr>
        <p:spPr>
          <a:xfrm>
            <a:off x="33101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a:t>
            </a:r>
            <a:endParaRPr lang="en-US" sz="1100" dirty="0"/>
          </a:p>
        </p:txBody>
      </p:sp>
      <p:sp>
        <p:nvSpPr>
          <p:cNvPr id="24" name="Text 21"/>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قَصِيرٌ</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412480" y="3004718"/>
            <a:ext cx="32278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الرَّبِيعُ أَجْمَلُ فَصْلٍ.</a:t>
            </a:r>
            <a:endParaRPr lang="ar-SA" sz="2000" dirty="0"/>
          </a:p>
        </p:txBody>
      </p:sp>
      <p:sp>
        <p:nvSpPr>
          <p:cNvPr id="29" name="Text 26"/>
          <p:cNvSpPr txBox="1"/>
          <p:nvPr/>
        </p:nvSpPr>
        <p:spPr>
          <a:xfrm>
            <a:off x="566928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أَجْمَلُ</a:t>
            </a:r>
            <a:endParaRPr lang="ar-SA" sz="2400" dirty="0"/>
          </a:p>
        </p:txBody>
      </p:sp>
      <p:sp>
        <p:nvSpPr>
          <p:cNvPr id="30" name="Text 27"/>
          <p:cNvSpPr txBox="1"/>
          <p:nvPr/>
        </p:nvSpPr>
        <p:spPr>
          <a:xfrm>
            <a:off x="33101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beautiful</a:t>
            </a:r>
            <a:endParaRPr lang="en-US" sz="1100" dirty="0"/>
          </a:p>
        </p:txBody>
      </p:sp>
      <p:sp>
        <p:nvSpPr>
          <p:cNvPr id="31" name="Text 28"/>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جَمِيلٌ</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412480" y="3741725"/>
            <a:ext cx="32278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الْعَرَبِيَّةُ أَسْهَلُ مِمَّا أَظُنُّ!</a:t>
            </a:r>
            <a:endParaRPr lang="ar-SA" sz="2000" dirty="0"/>
          </a:p>
        </p:txBody>
      </p:sp>
      <p:sp>
        <p:nvSpPr>
          <p:cNvPr id="36" name="Text 33"/>
          <p:cNvSpPr txBox="1"/>
          <p:nvPr/>
        </p:nvSpPr>
        <p:spPr>
          <a:xfrm>
            <a:off x="566928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أَسْهَلُ</a:t>
            </a:r>
            <a:endParaRPr lang="ar-SA" sz="2400" dirty="0"/>
          </a:p>
        </p:txBody>
      </p:sp>
      <p:sp>
        <p:nvSpPr>
          <p:cNvPr id="37" name="Text 34"/>
          <p:cNvSpPr txBox="1"/>
          <p:nvPr/>
        </p:nvSpPr>
        <p:spPr>
          <a:xfrm>
            <a:off x="33101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easy</a:t>
            </a:r>
            <a:endParaRPr lang="en-US" sz="1100" dirty="0"/>
          </a:p>
        </p:txBody>
      </p:sp>
      <p:sp>
        <p:nvSpPr>
          <p:cNvPr id="38" name="Text 35"/>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سَهْلٌ</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412480" y="4478731"/>
            <a:ext cx="32278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الْمَسْجِدُ أَقْرَبُ مِنَ السُّوقِ.</a:t>
            </a:r>
            <a:endParaRPr lang="ar-SA" sz="2000" dirty="0"/>
          </a:p>
        </p:txBody>
      </p:sp>
      <p:sp>
        <p:nvSpPr>
          <p:cNvPr id="43" name="Text 40"/>
          <p:cNvSpPr txBox="1"/>
          <p:nvPr/>
        </p:nvSpPr>
        <p:spPr>
          <a:xfrm>
            <a:off x="566928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أَقْرَبُ</a:t>
            </a:r>
            <a:endParaRPr lang="ar-SA" sz="2400" dirty="0"/>
          </a:p>
        </p:txBody>
      </p:sp>
      <p:sp>
        <p:nvSpPr>
          <p:cNvPr id="44" name="Text 41"/>
          <p:cNvSpPr txBox="1"/>
          <p:nvPr/>
        </p:nvSpPr>
        <p:spPr>
          <a:xfrm>
            <a:off x="33101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near</a:t>
            </a:r>
            <a:endParaRPr lang="en-US" sz="1100" dirty="0"/>
          </a:p>
        </p:txBody>
      </p:sp>
      <p:sp>
        <p:nvSpPr>
          <p:cNvPr id="45" name="Text 42"/>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قَرِيبٌ</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412480" y="5215738"/>
            <a:ext cx="322783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هَاتِفِي أَحْدَثُ هَاتِفٍ.</a:t>
            </a:r>
            <a:endParaRPr lang="ar-SA" sz="2000" dirty="0"/>
          </a:p>
        </p:txBody>
      </p:sp>
      <p:sp>
        <p:nvSpPr>
          <p:cNvPr id="48" name="Text 45"/>
          <p:cNvSpPr txBox="1"/>
          <p:nvPr/>
        </p:nvSpPr>
        <p:spPr>
          <a:xfrm>
            <a:off x="566928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أَحْدَثُ</a:t>
            </a:r>
            <a:endParaRPr lang="ar-SA" sz="2400" dirty="0"/>
          </a:p>
        </p:txBody>
      </p:sp>
      <p:sp>
        <p:nvSpPr>
          <p:cNvPr id="49" name="Text 46"/>
          <p:cNvSpPr txBox="1"/>
          <p:nvPr/>
        </p:nvSpPr>
        <p:spPr>
          <a:xfrm>
            <a:off x="33101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a:t>
            </a:r>
            <a:endParaRPr lang="en-US" sz="1100" dirty="0"/>
          </a:p>
        </p:txBody>
      </p:sp>
      <p:sp>
        <p:nvSpPr>
          <p:cNvPr id="50" name="Text 47"/>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جَدِيدٌ</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columns 3 and 4; students say the comparative, then make their own sentence.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COMPARING TWO, OR THE MOST OF ALL?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Comparative or superlative?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مُقَارَنَةٌ أَمْ تَفْضِيلٌ؟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مِنْ أَخِي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مَدِينَةٍ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أَسْرَعُ مِنَ الْقِطَارِ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الْأَسْرَعُ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أَطْوَلُ مِنِّي</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أَطْوَلُ نَهْرٍ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مِنْ أَمْسِ</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الْأَفْضَلُ فِي الصَّفِّ</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Comparative (…er than)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Superlative (the …est)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Comparative (…er than)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مِنْ أَخِي</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أَسْرَعُ مِنَ الْقِطَارِ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أَطْوَلُ مِنِّي</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مِنْ أَمْسِ</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Superlative (the …est)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أَكْبَرُ مَدِينَةٍ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الْأَسْرَعُ</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أَطْوَلُ نَهْرٍ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الْأَفْضَلُ فِي الصَّفِّ</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أَطْوَلَةُ مِنِّي.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Does afʿal take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الْقِطَارُ أَسْرَعُ الْحَافِلَةِ.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is “than”?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أَفْضَلُ الْكِتَابِ.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Definite or indefinite?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أَطْوَلَةُ مِنِّي.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أَطْوَلُ مِنِّي.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comparative never takes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الْقِطَارُ أَسْرَعُ الْحَافِلَةِ.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الْقِطَارُ أَسْرَعُ مِنَ الْحَافِلَةِ.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Two items → do not forget min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أَفْضَلُ الْكِتَابِ.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هَذَا أَفْضَلُ كِتَابٍ.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best + singular noun: indefinite.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sea is bigger than the lake.”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الْبَحْرُ كَبِيرٌ مِنَ الْبُحَيْرَةِ.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الْبَحْرُ الْأَكْبَرُ الْبُحَيْرَةِ.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الْبَحْرُ أَكْبَرُ مِنَ الْبُحَيْرَةِ.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the best student.”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أَفْضَلَةُ طَالِبَةٍ.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أَفْضَلُ طَالِبَةٍ.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الطَّالِبَةُ أَفْضَلُ.</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“Summer is hotter than spring.”</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الصَّيْفُ أَحْرَرُ مِنَ الرَّبِيعِ.</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الصَّيْفُ أَحَرُّ مِنَ الرَّبِيعِ.</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الصَّيْفُ حَارٌّ مِنَ الرَّبِيعِ.</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“English is less difficult.”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الْإِنْجِلِيزِيَّةُ أَقَلُّ صَعْبَةٌ.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الْإِنْجِلِيزِيَّةُ أَقَلَّةُ صُعُوبَةٍ.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الْإِنْجِلِيزِيَّةُ أَقَلُّ صُعُوبَةً.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sea is bigger than the lake.”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الْبَحْرُ كَبِيرٌ مِنَ الْبُحَيْرَةِ.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الْبَحْرُ الْأَكْبَرُ الْبُحَيْرَةِ.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الْبَحْرُ أَكْبَرُ مِنَ الْبُحَيْرَةِ.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Afʿal + min.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the best student.”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أَفْضَلَةُ طَالِبَةٍ.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أَفْضَلُ طَالِبَةٍ.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الطَّالِبَةُ أَفْضَلُ.</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Afʿal + indefinite noun — no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on afʿal.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“Summer is hotter than spring.”</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الصَّيْفُ أَحْرَرُ مِنَ الرَّبِيعِ.</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الصَّيْفُ أَحَرُّ مِنَ الرَّبِيعِ.</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الصَّيْفُ حَارٌّ مِنَ الرَّبِيعِ.</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Doubled root → aḥarr.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“English is less difficult.”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الْإِنْجِلِيزِيَّةُ أَقَلُّ صَعْبَةٌ.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الْإِنْجِلِيزِيَّةُ أَقَلَّةُ صُعُوبَةٍ.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الْإِنْجِلِيزِيَّةُ أَقَلُّ صُعُوبَةً.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Aqall + noun in -an.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city is best?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أَمَاكِنُ جَمِيلَةٌ وَشَوَارِعُ وَاسِعَةٌ. هَذِهِ الْمَدْرَسَةُ الْجَدِيدَةُ قَرِيبَةٌ، وَذَلِكَ الْمَتْحَفُ الْقَدِيمُ مُثِيرٌ لِلِاهْتِمَامِ. مَدِينَتِي أَصْغَرُ مِنَ الْعَاصِمَةِ، لَكِنَّهَا أَهْدَأُ وَأَنْظَفُ. الْحَيَاةُ فِي الْعَاصِمَةِ أَكْثَرُ إِثَارَةً، وَلَكِنَّ مَدِينَتِي أَجْمَلُ مَكَانٍ فِي رَأْيِي.</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مُثِيرٌ لِلِاهْتِمَامِ</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الْعَاصِمَةِ</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capital</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أَهْدَأُ</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quieter</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أَنْظَفُ</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cleaner</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إِثَارَةً</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excitement</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رَأْيِي</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my opinion</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bigger, the writer’s city or the capital?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writer’s city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capital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the same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أَصْغَرُ</a:t>
            </a:r>
            <a:pPr algn="l" indent="0" marL="0">
              <a:buNone/>
            </a:pPr>
            <a:r>
              <a:rPr lang="en-US" sz="1250" b="1" dirty="0">
                <a:solidFill>
                  <a:srgbClr val="1B3B6F"/>
                </a:solidFill>
                <a:latin typeface="Calibri" pitchFamily="34" charset="0"/>
                <a:cs typeface="Amiri" pitchFamily="2" charset="-78"/>
              </a:rPr>
              <a:t> and not with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though city is feminine?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City is masculine.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comparative is fixed.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أَكْثَرُ إِثَارَةً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exciting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exciting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most exciting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superlative?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أَصْغَرُ مِنَ الْعَاصِمَةِ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أَجْمَلُ مَكَانٍ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أَهْدَأُ وَأَنْظَفُ</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bigger, the writer’s city or the capital?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writer’s city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capital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the same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أَصْغَرُ مِنَ الْعَاصِمَةِ.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أَصْغَرُ</a:t>
            </a:r>
            <a:pPr algn="l" indent="0" marL="0">
              <a:buNone/>
            </a:pPr>
            <a:r>
              <a:rPr lang="en-US" sz="1250" b="1" dirty="0">
                <a:solidFill>
                  <a:srgbClr val="1B3B6F"/>
                </a:solidFill>
                <a:latin typeface="Calibri" pitchFamily="34" charset="0"/>
                <a:cs typeface="Amiri" pitchFamily="2" charset="-78"/>
              </a:rPr>
              <a:t> and not with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 though city is feminine?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City is masculine.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comparative is fixed.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clinic.</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أَكْثَرُ إِثَارَةً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more exciting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exciting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most exciting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Analytical comparison.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superlative?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أَصْغَرُ مِنَ الْعَاصِمَةِ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أَجْمَلُ مَكَانٍ</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أَهْدَأُ وَأَنْظَفُ</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Afʿal + indefinite noun.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compare and choose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بَيْنَكَ وَبَيْنَ أَخِيكَ أَوْ صَدِيقِكَ.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أَفْضَلُ مَادَّةٍ فِي رَأْيِكَ؟ 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الْمَدِينَةُ أَمِ الرِّيفُ: أَيُّهُمَا أَفْضَلُ لِلْعَيْشِ؟</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أَنَا ___ مِنْ أَخِي، وَأَخِي ___ مِنِّي.</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مَادَّةٍ عِنْدِي ___ لِأَنَّهَا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الرِّيفُ أَهْدَأُ، لَكِنَّ الْمَدِينَةَ أَكْثَرُ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أَفْضَلُ فَصْلٍ فِي رَأْيِكِ؟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best season, in your opinion?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الرَّبِيعُ أَفْضَلُ فَصْلٍ، لِأَنَّهُ أَجْمَلُ مِنَ الشِّتَاءِ وَأَقَلُّ حَرَارَةً مِنَ الصَّيْفِ.</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Spring is the best season, because it is more beautiful than winter and less hot than summer.</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members of your family.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afʿal + min; no ة on afʿal.</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superlatives: al-afḍal and afḍalu +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My best friend, the biggest room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city or countryside? Use akthar / aqall + noun.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more peaceful, less expensive …</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مَادَّةٍ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best subject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أَكْبَرُ مَدِينَةٍ فِي بَلَدِي.</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the biggest city in my country.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أَهَمِّيَّةً مِنْ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more important than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أَفْضَلُ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the best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أَطْوَلُ مِنْ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taller than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أُخْتِي ______ مِنِّي.</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sister is younger than me.</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الْقِطَارُ أَسْرَعُ مِنَ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train is faster than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أَكْبَرُ مِنْ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is older than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أَكْبَرُ  ·  أَصْغَرُ  ·  أَطْوَلُ  ·  أَقْصَرُ  ·  أَسْرَعُ  ·  أَجْمَلُ  ·  أَسْهَلُ  ·  أَصْعَبُ  ·  أَفْضَلُ  ·  أَحَرُّ  ·  أَغْلَى  ·  أَكْثَرُ  ·  أَقَلُّ  ·  مِنْ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comparing two places, people or experiences,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comparatives with min.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comparative with a feminine subject (no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al-afʿal superlative.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afʿal + indefinite noun superlative.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akthar / aqall + noun in -an.</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أَكْبَرُ مِنْ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bigger than</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مَكَانٍ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best place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الْأَجْمَلُ</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 it is the most beautiful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هُدُوءًا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peaceful</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أَقَلُّ ازْدِحَامًا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less crowded</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أَغْلَى مِنْ</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expensive than</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عِشْتُ فِي الْمَدِينَةِ وَفِي الرِّيفِ. الْمَدِينَةُ أَكْبَرُ وَأَسْرَعُ، وَالْمَحَلَّاتُ فِيهَا أَكْثَرُ. لَكِنَّ الرِّيفَ أَهْدَأُ وَأَنْظَفُ، وَالْهَوَاءُ فِيهِ أَنْقَى. الْحَيَاةُ فِي الرِّيفِ أَقَلُّ ازْدِحَامًا وَأَقَلُّ تَكْلِفَةً. فِي رَأْيِي، الرِّيفُ أَفْضَلُ مَكَانٍ لِلْعَائِلَاتِ، أَمَّا الْمَدِينَةُ فَهِيَ الْأَفْضَلُ لِلطُّلَّابِ.</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have lived in the city and in the countryside. The city is bigger and faster, and it has more shops. But the countryside is quieter and cleaner, and the air there is purer. Life in the countryside is less crowded and less expensive. In my opinion, the countryside is the best place for families, while the city is the best for students.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comparatives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fem. subject, no 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superlatives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aqall + noun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comparatives use afʿal + min.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never added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to afʿal.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both superlative routes.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afʿal in a superlative, the noun is indefinite.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akthar / aqall + a noun in -an.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of </a:t>
            </a:r>
            <a:pPr algn="l" indent="0" marL="0">
              <a:buNone/>
            </a:pPr>
            <a:r>
              <a:rPr lang="ar-SA" altLang="en-US" sz="1650" b="1" dirty="0">
                <a:solidFill>
                  <a:srgbClr val="1B3B6F"/>
                </a:solidFill>
                <a:latin typeface="Amiri" pitchFamily="2" charset="-78"/>
                <a:ea typeface="Amiri" pitchFamily="2" charset="-78"/>
                <a:cs typeface="Amiri" pitchFamily="2" charset="-78"/>
              </a:rPr>
              <a:t>قَرِيبٌ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أَقْرَبُ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قُرْبَى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أَقْرَبَةٌ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“Sara is faster than Huda.”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سَارَةُ أَسْرَعَةُ مِنْ هُدَى.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سَارَةُ أَسْرَعُ مِنْ هُدَى.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سَارَةُ سَرِيعَةٌ هُدَى.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beautiful mosque”.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أَجْمَلُ مَسْجِدٍ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أَجْمَلُ الْمَسْجِدِ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الْمَسْجِدُ أَجْمَلُ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Comparative of </a:t>
            </a:r>
            <a:pPr algn="l" indent="0" marL="0">
              <a:buNone/>
            </a:pPr>
            <a:r>
              <a:rPr lang="ar-SA" altLang="en-US" sz="1650" b="1" dirty="0">
                <a:solidFill>
                  <a:srgbClr val="1B3B6F"/>
                </a:solidFill>
                <a:latin typeface="Amiri" pitchFamily="2" charset="-78"/>
                <a:ea typeface="Amiri" pitchFamily="2" charset="-78"/>
                <a:cs typeface="Amiri" pitchFamily="2" charset="-78"/>
              </a:rPr>
              <a:t>قَرِيبٌ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أَقْرَبُ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قُرْبَى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أَقْرَبَةٌ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Pattern afʿal.</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“Sara is faster than Huda.”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سَارَةُ أَسْرَعَةُ مِنْ هُدَى.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سَارَةُ أَسْرَعُ مِنْ هُدَى.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سَارَةُ سَرِيعَةٌ هُدَى.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Fixed form + min.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most beautiful mosque”.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أَجْمَلُ مَسْجِدٍ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أَجْمَلُ الْمَسْجِدِ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الْمَسْجِدُ أَجْمَلُ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Afʿal + indefinite noun.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GM-ADJ-06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GM-ADJ-07: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GM-ADJ-07 · Demonstratives and Agreement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this (m.)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this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ذَلِكَ</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that (m.)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تِلْكَ</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that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هَؤُلَاءِ</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these (people)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is the difference between “this book” and “This is a book”? Try both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هَذَا كِتَابٌ · هَذَا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comparative sentences about your family.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top-five list of the best things in your town with superlatives.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city or countryside?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GM-ADJ-07 · Demonstratives and Agreement</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أَسْمَاءُ الْإِشَارَةِ وَالْمُطَابَقَةُ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afʿal + min = “…er than” · it never takes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 the …est = al-afʿal or afʿalu + indefinite noun · long adjectives: akthar / aqall + noun in -an.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GM-ADJ-06 · Comparative and Superlative</dc:title>
  <dc:subject>PptxGenJS Presentation</dc:subject>
  <dc:creator>Al Madina Online School · Arabic Department</dc:creator>
  <cp:lastModifiedBy>Al Madina Online School · Arabic Department</cp:lastModifiedBy>
  <cp:revision>1</cp:revision>
  <dcterms:created xsi:type="dcterms:W3CDTF">2026-10-11T06:42:02Z</dcterms:created>
  <dcterms:modified xsi:type="dcterms:W3CDTF">2026-10-11T06:42:02Z</dcterms:modified>
</cp:coreProperties>
</file>