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GM-ADJ-06 (“Comparative and Superlative”).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afʿal from common adjectives (كَبِيرٌ أَكْبَرُ · طَوِيلٌ أَطْوَلُ · سَرِيعٌ أَسْرَعُ) and compare with مِنْ. Develop: superlative — هُوَ الْأَفْضَلُ and أَفْضَلُ كِتَابٍ. Stretch: analytical comparison with أَكْثَرُ / أَقَلُّ + noun in -an (أَكْثَرُ أَهَمِّيَّةً); doubled and weak roots (أَحَرُّ · أَغْلَى); recognition of الْكُبْرَى.
• The comparative does NOT agree in gender: مَرْيَمُ أَطْوَلُ مِنْ سَلْمَى (website). Many students add ة — this is the website’s first clinic point.
• Afʿal is a diptote: no tanwīn (أَكْبَرُ, not أَكْبَرٌ) — the same shape as the colours in ADJ-03, but a different meaning.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GM-ADJ-05.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Bigger than = akbaru min — the same for boys and girls. The biggest = al-akbar, or akbaru + an indefinite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1 (3 min) — teacher-added formation table (the website assumes it). Root-letter colouring helps: k-b-r in both كَبِيرٌ and أَكْبَرُ. Good is irregular: afḍal (from faḍl).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“Comparative with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(4 min) — website “Superlative routes” and “Analytical comparison”. The iḍāfa superlative (afḍalu kitābin) is the most useful for exams. Kubrā is for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Write the three transport words on screen; students rank them in Arabic. Point out أَسْرَعُ never changes, even with الطَّائِرَةُ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Last row: newer is usually aḥdath (from ḥadīth “modern”) — a useful Stretch vocabulary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comparative and superlative, and label its type.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Great IGCSE opinion practice: “X is better than 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(GM-ADJ-07 · Demonstratives and Agreement) will spend class time USING this language, so students prepare it tonight — short, simple, easy to access (school guidance: “Simple, Short, Interesting, Relevant, Easy to access”). The five words prepare GM-ADJ-07 (website Adjectives lesson 7: demonstratives).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Comparative and Superlative</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اِسْمُ التَّفْضِيلِ: أَفْعَلُ وَالْأَفْعَلُ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pattern, afʿal, makes “bigger” and “biggest”. Bigger than = akbaru min (never changes for gender). The biggest = al-akbar, or akbaru + an indefinite noun: “the biggest city”.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Comparative + min; superlative routes; analytical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afʿal, compare, rank.</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train is faster than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أَسْرَعَ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أَسْرَعُ مِنَ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السَّرِيعُ مِنَ الْحَافِلَةِ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“Maryam is taller than Salma”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أَطْوَلُ مِنْ سَلْمَى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طَوِيلَةٌ مِنْ سَلْمَى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أَطْوَلَةُ مِنْ سَلْمَى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فَاضِلٌ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الْأَفْضَلُ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الْأَفْضَلُ الْكِتَابُ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مِنْ كِتَابٍ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train is faster than the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أَسْرَعَ الْحَافِلَةِ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الْقِطَارُ أَسْرَعُ مِنَ الْحَافِلَةِ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السَّرِيعُ مِنَ الْحَافِلَةِ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 min.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“Maryam is taller than Salma”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مَرْيَمُ أَطْوَلُ مِنْ سَلْمَى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طَوِيلَةٌ مِنْ سَلْمَى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أَطْوَلَةُ مِنْ سَلْمَى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stays afʿal, even for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مِنْ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فَاضِلٌ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الْأَفْضَلُ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superlative.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الْأَفْضَلُ الْكِتَابُ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مِنْ كِتَابٍ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Superlative as the first word of an iḍāfa.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Bigger than = akbaru min — the same for boys and girls. The biggest = al-akbar, or akbaru + an indefinite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أَكْبَرُ </a:t>
            </a:r>
            <a:pPr rtl="1" algn="ctr" indent="0" marL="0">
              <a:buNone/>
            </a:pPr>
            <a:r>
              <a:rPr lang="ar-SA" altLang="en-US" sz="2400" b="1" dirty="0">
                <a:solidFill>
                  <a:srgbClr val="0E7C86"/>
                </a:solidFill>
                <a:latin typeface="Amiri" pitchFamily="2" charset="-78"/>
                <a:ea typeface="Amiri" pitchFamily="2" charset="-78"/>
                <a:cs typeface="Amiri" pitchFamily="2" charset="-78"/>
              </a:rPr>
              <a:t>مِنْ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أَكْبَرُ مَدِينَةٍ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comparative afʿal from common adjectives.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things with afʿal +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the superlative in two ways.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akthar / aqall for adjectives without a simple afʿal.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make bigger, taller, faster.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compare two people or things with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the best and the best book.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keep the comparative the same for girls.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more important and more helpful.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form hotter, less and more expensive.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comparative / superlative</a:t>
            </a:r>
            <a:endParaRPr lang="en-US" sz="1350" dirty="0"/>
          </a:p>
          <a:p>
            <a:pPr indent="0" marL="0">
              <a:buNone/>
            </a:pPr>
            <a:r>
              <a:rPr lang="en-US" sz="1100" i="1" dirty="0">
                <a:solidFill>
                  <a:srgbClr val="5A6472"/>
                </a:solidFill>
                <a:latin typeface="Calibri" pitchFamily="34" charset="0"/>
                <a:cs typeface="Amiri" pitchFamily="2" charset="-78"/>
              </a:rPr>
              <a:t>as-mu at-taf-ḍī-li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pattern </a:t>
            </a:r>
            <a:pPr algn="l" indent="0" marL="0">
              <a:buNone/>
            </a:pPr>
            <a:r>
              <a:rPr lang="ar-SA" altLang="en-US" sz="1300" dirty="0">
                <a:solidFill>
                  <a:srgbClr val="8A6D1E"/>
                </a:solidFill>
                <a:latin typeface="Amiri" pitchFamily="2" charset="-78"/>
                <a:ea typeface="Amiri" pitchFamily="2" charset="-78"/>
                <a:cs typeface="Amiri" pitchFamily="2" charset="-78"/>
              </a:rPr>
              <a:t>أَفْعَلُ</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afʿal pattern</a:t>
            </a:r>
            <a:endParaRPr lang="en-US" sz="1350" dirty="0"/>
          </a:p>
          <a:p>
            <a:pPr indent="0" marL="0">
              <a:buNone/>
            </a:pPr>
            <a:r>
              <a:rPr lang="en-US" sz="1100" i="1" dirty="0">
                <a:solidFill>
                  <a:srgbClr val="5A6472"/>
                </a:solidFill>
                <a:latin typeface="Calibri" pitchFamily="34" charset="0"/>
                <a:cs typeface="Amiri" pitchFamily="2" charset="-78"/>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أَكْبَرُ · أَسْرَعُ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a:t>
            </a:r>
            <a:endParaRPr lang="en-US" sz="1350" dirty="0"/>
          </a:p>
          <a:p>
            <a:pPr indent="0" marL="0">
              <a:buNone/>
            </a:pPr>
            <a:r>
              <a:rPr lang="en-US" sz="1100" i="1" dirty="0">
                <a:solidFill>
                  <a:srgbClr val="5A6472"/>
                </a:solidFill>
                <a:latin typeface="Calibri" pitchFamily="34" charset="0"/>
                <a:cs typeface="Amiri" pitchFamily="2" charset="-78"/>
              </a:rPr>
              <a:t>min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أَكْبَرُ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الْأَفْضَلُ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a:t>
            </a:r>
            <a:endParaRPr lang="en-US" sz="1350" dirty="0"/>
          </a:p>
          <a:p>
            <a:pPr indent="0" marL="0">
              <a:buNone/>
            </a:pPr>
            <a:r>
              <a:rPr lang="en-US" sz="1100" i="1" dirty="0">
                <a:solidFill>
                  <a:srgbClr val="5A6472"/>
                </a:solidFill>
                <a:latin typeface="Calibri" pitchFamily="34" charset="0"/>
                <a:cs typeface="Amiri" pitchFamily="2" charset="-78"/>
              </a:rPr>
              <a:t>al-af-ḍa-lu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هُوَ الْأَفْضَلُ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(most)</a:t>
            </a:r>
            <a:endParaRPr lang="en-US" sz="1350" dirty="0"/>
          </a:p>
          <a:p>
            <a:pPr indent="0" marL="0">
              <a:buNone/>
            </a:pPr>
            <a:r>
              <a:rPr lang="en-US" sz="1100" i="1" dirty="0">
                <a:solidFill>
                  <a:srgbClr val="5A6472"/>
                </a:solidFill>
                <a:latin typeface="Calibri" pitchFamily="34" charset="0"/>
                <a:cs typeface="Amiri" pitchFamily="2" charset="-78"/>
              </a:rPr>
              <a:t>ak-tha-ru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أَكْثَرُ أَهَمِّيَّةً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(least)</a:t>
            </a:r>
            <a:endParaRPr lang="en-US" sz="1350" dirty="0"/>
          </a:p>
          <a:p>
            <a:pPr indent="0" marL="0">
              <a:buNone/>
            </a:pPr>
            <a:r>
              <a:rPr lang="en-US" sz="1100" i="1" dirty="0">
                <a:solidFill>
                  <a:srgbClr val="5A6472"/>
                </a:solidFill>
                <a:latin typeface="Calibri" pitchFamily="34" charset="0"/>
                <a:cs typeface="Amiri" pitchFamily="2" charset="-78"/>
              </a:rPr>
              <a:t>a-qal-lu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أَقَلُّ صُعُوبَةً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BUILDING AFʿAL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adjective to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bigger / older</a:t>
            </a:r>
            <a:endParaRPr lang="en-US" sz="1100" dirty="0"/>
          </a:p>
        </p:txBody>
      </p:sp>
      <p:sp>
        <p:nvSpPr>
          <p:cNvPr id="22" name="Text 19"/>
          <p:cNvSpPr txBox="1"/>
          <p:nvPr/>
        </p:nvSpPr>
        <p:spPr>
          <a:xfrm>
            <a:off x="58521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أَكْبَرُ</a:t>
            </a:r>
            <a:endParaRPr lang="ar-SA" sz="2400" dirty="0"/>
          </a:p>
        </p:txBody>
      </p:sp>
      <p:sp>
        <p:nvSpPr>
          <p:cNvPr id="23" name="Text 20"/>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24" name="Text 21"/>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كَبِيرٌ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smaller / younger</a:t>
            </a:r>
            <a:endParaRPr lang="en-US" sz="1100" dirty="0"/>
          </a:p>
        </p:txBody>
      </p:sp>
      <p:sp>
        <p:nvSpPr>
          <p:cNvPr id="29" name="Text 26"/>
          <p:cNvSpPr txBox="1"/>
          <p:nvPr/>
        </p:nvSpPr>
        <p:spPr>
          <a:xfrm>
            <a:off x="58521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أَصْغَرُ</a:t>
            </a:r>
            <a:endParaRPr lang="ar-SA" sz="2400" dirty="0"/>
          </a:p>
        </p:txBody>
      </p:sp>
      <p:sp>
        <p:nvSpPr>
          <p:cNvPr id="30" name="Text 27"/>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a:t>
            </a:r>
            <a:endParaRPr lang="en-US" sz="1100" dirty="0"/>
          </a:p>
        </p:txBody>
      </p:sp>
      <p:sp>
        <p:nvSpPr>
          <p:cNvPr id="31" name="Text 28"/>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صَغِيرٌ</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taller, longer</a:t>
            </a:r>
            <a:endParaRPr lang="en-US" sz="1100" dirty="0"/>
          </a:p>
        </p:txBody>
      </p:sp>
      <p:sp>
        <p:nvSpPr>
          <p:cNvPr id="36" name="Text 33"/>
          <p:cNvSpPr txBox="1"/>
          <p:nvPr/>
        </p:nvSpPr>
        <p:spPr>
          <a:xfrm>
            <a:off x="58521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أَطْوَلُ</a:t>
            </a:r>
            <a:endParaRPr lang="ar-SA" sz="2400" dirty="0"/>
          </a:p>
        </p:txBody>
      </p:sp>
      <p:sp>
        <p:nvSpPr>
          <p:cNvPr id="37" name="Text 34"/>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long</a:t>
            </a:r>
            <a:endParaRPr lang="en-US" sz="1100" dirty="0"/>
          </a:p>
        </p:txBody>
      </p:sp>
      <p:sp>
        <p:nvSpPr>
          <p:cNvPr id="38" name="Text 35"/>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طَوِيلٌ</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faster</a:t>
            </a:r>
            <a:endParaRPr lang="en-US" sz="1100" dirty="0"/>
          </a:p>
        </p:txBody>
      </p:sp>
      <p:sp>
        <p:nvSpPr>
          <p:cNvPr id="43" name="Text 40"/>
          <p:cNvSpPr txBox="1"/>
          <p:nvPr/>
        </p:nvSpPr>
        <p:spPr>
          <a:xfrm>
            <a:off x="58521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أَسْرَعُ</a:t>
            </a:r>
            <a:endParaRPr lang="ar-SA" sz="2400" dirty="0"/>
          </a:p>
        </p:txBody>
      </p:sp>
      <p:sp>
        <p:nvSpPr>
          <p:cNvPr id="44" name="Text 41"/>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a:t>
            </a:r>
            <a:endParaRPr lang="en-US" sz="1100" dirty="0"/>
          </a:p>
        </p:txBody>
      </p:sp>
      <p:sp>
        <p:nvSpPr>
          <p:cNvPr id="45" name="Text 42"/>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سَرِيعٌ</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better</a:t>
            </a:r>
            <a:endParaRPr lang="en-US" sz="1100" dirty="0"/>
          </a:p>
        </p:txBody>
      </p:sp>
      <p:sp>
        <p:nvSpPr>
          <p:cNvPr id="50" name="Text 47"/>
          <p:cNvSpPr txBox="1"/>
          <p:nvPr/>
        </p:nvSpPr>
        <p:spPr>
          <a:xfrm>
            <a:off x="58521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أَفْضَلُ / أَحْسَنُ</a:t>
            </a:r>
            <a:endParaRPr lang="ar-SA" sz="2400" dirty="0"/>
          </a:p>
        </p:txBody>
      </p:sp>
      <p:sp>
        <p:nvSpPr>
          <p:cNvPr id="51" name="Text 48"/>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a:t>
            </a:r>
            <a:endParaRPr lang="en-US" sz="1100" dirty="0"/>
          </a:p>
        </p:txBody>
      </p:sp>
      <p:sp>
        <p:nvSpPr>
          <p:cNvPr id="52" name="Text 4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جَيِّدٌ / حَسَنٌ</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 doubled and weak roots</a:t>
            </a:r>
            <a:endParaRPr lang="en-US" sz="1100" dirty="0"/>
          </a:p>
        </p:txBody>
      </p:sp>
      <p:sp>
        <p:nvSpPr>
          <p:cNvPr id="55" name="Text 52"/>
          <p:cNvSpPr txBox="1"/>
          <p:nvPr/>
        </p:nvSpPr>
        <p:spPr>
          <a:xfrm>
            <a:off x="58521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أَحَرُّ · أَقَلُّ · أَغْلَى</a:t>
            </a:r>
            <a:endParaRPr lang="ar-SA" sz="2400" dirty="0"/>
          </a:p>
        </p:txBody>
      </p:sp>
      <p:sp>
        <p:nvSpPr>
          <p:cNvPr id="56" name="Text 53"/>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 · few · expensive</a:t>
            </a:r>
            <a:endParaRPr lang="en-US" sz="1100" dirty="0"/>
          </a:p>
        </p:txBody>
      </p:sp>
      <p:sp>
        <p:nvSpPr>
          <p:cNvPr id="57" name="Text 54"/>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حَارٌّ · قَلِيلٌ · غَالٍ</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Take the three root letters and put them into a-_-_-a-_: k-b-r → akbar. Afʿal never takes tanwīn.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COMPARATIVE WITH MIN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Afʿal + min = “…er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أَفْعَلُ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Most comparisons use afʿal followed by min, “than”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comparative is FIXED: it does not change for a feminine or plural subject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after min is genitive (-i /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forget min in a two-item comparison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min + al- becomes mina l- for easy pronunciation.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أَحْمَدُ أَطْوَلُ مِنْ عَلِيٍّ.</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Ahmad is taller than Ali.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مَرْيَمُ أَطْوَلُ مِنْ سَلْمَى.</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Maryam is taller than Salma.  ·  website — no </a:t>
            </a:r>
            <a:pPr algn="ctr" indent="0" marL="0">
              <a:buNone/>
            </a:pPr>
            <a:r>
              <a:rPr lang="ar-SA" altLang="en-US" sz="1450" dirty="0">
                <a:solidFill>
                  <a:srgbClr val="5A6472"/>
                </a:solidFill>
                <a:latin typeface="Amiri" pitchFamily="2" charset="-78"/>
                <a:ea typeface="Amiri" pitchFamily="2" charset="-78"/>
                <a:cs typeface="Amiri" pitchFamily="2" charset="-78"/>
              </a:rPr>
              <a:t>ة</a:t>
            </a:r>
            <a:pPr algn="ctr" indent="0" marL="0">
              <a:buNone/>
            </a:pPr>
            <a:r>
              <a:rPr lang="en-US" sz="1100" i="1" dirty="0">
                <a:solidFill>
                  <a:srgbClr val="5A6472"/>
                </a:solidFill>
                <a:latin typeface="Calibri" pitchFamily="34" charset="0"/>
                <a:cs typeface="Amiri" pitchFamily="2" charset="-78"/>
              </a:rPr>
              <a:t>!</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الْقِطَارُ أَسْرَعُ مِنَ الْحَافِلَةِ.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train is faster than the bus.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السَّيَّارَاتُ أَغْلَى مِنَ الدَّرَّاجَاتِ.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Cars are more expensive than bikes.  ·  plural — still fixed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add tāʾ marbūṭa to the comparative because the subject is feminine: Maryam is aṭwalu, not “aṭwalatu”.</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STEP 3 · SUPERLATIVE AND ANALYTICAL COMPARISON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best, the most — and “more …”</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الْأَفْضَلُ وَأَكْثَرُ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is the best.</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الْكِتَابُ هُوَ الْأَفْضَلُ.</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afʿal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best book.</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أَفْضَلُ كِتَابٍ.</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 + indefinite noun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the fastest student in the team.</a:t>
            </a:r>
            <a:endParaRPr lang="en-US" sz="1100" dirty="0"/>
          </a:p>
        </p:txBody>
      </p:sp>
      <p:sp>
        <p:nvSpPr>
          <p:cNvPr id="33" name="Text 30"/>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أَسْرَعُ طَالِبَةٍ فِي الْفَرِيقِ.</a:t>
            </a:r>
            <a:endParaRPr lang="ar-SA" sz="24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 + indefinite noun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work is more important.</a:t>
            </a:r>
            <a:endParaRPr lang="en-US" sz="1100" dirty="0"/>
          </a:p>
        </p:txBody>
      </p:sp>
      <p:sp>
        <p:nvSpPr>
          <p:cNvPr id="39" name="Text 36"/>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الْعَمَلُ أَكْثَرُ أَهَمِّيَّةً.</a:t>
            </a:r>
            <a:endParaRPr lang="ar-SA" sz="2400" dirty="0"/>
          </a:p>
        </p:txBody>
      </p:sp>
      <p:sp>
        <p:nvSpPr>
          <p:cNvPr id="40" name="Text 37"/>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noun in -an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more cooperative than her colleague.</a:t>
            </a:r>
            <a:endParaRPr lang="en-US" sz="1100" dirty="0"/>
          </a:p>
        </p:txBody>
      </p:sp>
      <p:sp>
        <p:nvSpPr>
          <p:cNvPr id="43" name="Text 40"/>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أَكْثَرُ تَعَاوُنًا مِنْ زَمِيلَتِهَا.</a:t>
            </a:r>
            <a:endParaRPr lang="ar-SA" sz="2400" dirty="0"/>
          </a:p>
        </p:txBody>
      </p:sp>
      <p:sp>
        <p:nvSpPr>
          <p:cNvPr id="44" name="Text 41"/>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noun in -an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major cities (kubrā)</a:t>
            </a:r>
            <a:endParaRPr lang="en-US" sz="1100" dirty="0"/>
          </a:p>
        </p:txBody>
      </p:sp>
      <p:sp>
        <p:nvSpPr>
          <p:cNvPr id="47" name="Text 44"/>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الْمُدُنُ الْكُبْرَى</a:t>
            </a:r>
            <a:endParaRPr lang="ar-SA" sz="2400" dirty="0"/>
          </a:p>
        </p:txBody>
      </p:sp>
      <p:sp>
        <p:nvSpPr>
          <p:cNvPr id="48" name="Text 45"/>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 feminine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not every adjective has a simple afʿal (long adjectives, colours). Then use akthar / aqall + a noun ending in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ea typeface="Amiri" pitchFamily="2" charset="-78"/>
                <a:cs typeface="Amiri" pitchFamily="2" charset="-78"/>
              </a:rPr>
              <a:t>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“Fatima is older than Zainab.”</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فَاطِمَةُ أَكْبَرُ مِنْ زَيْنَبَ.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فَاطِمَةُ أَكْبَرَةُ مِنْ زَيْنَبَ.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فَاطِمَةُ كَبِيرَةٌ زَيْنَبَ.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longest river”.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النَّهْرُ أَطْوَلُ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 نَهْرٍ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 مِنْ نَهْرٍ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useful” (using akthar).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فَائِدَةً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مُفِيدٌ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أَمْفَدُ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ea typeface="Amiri" pitchFamily="2" charset="-78"/>
                <a:cs typeface="Amiri" pitchFamily="2" charset="-78"/>
              </a:rPr>
              <a:t>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صُغْرَى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أَصْغَرَةٌ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أَصْغَرُ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“Fatima is older than Zainab.”</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فَاطِمَةُ أَكْبَرُ مِنْ زَيْنَبَ.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فَاطِمَةُ أَكْبَرَةُ مِنْ زَيْنَبَ.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فَاطِمَةُ كَبِيرَةٌ زَيْنَبَ.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Fixed form + min.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longest river”.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النَّهْرُ أَطْوَلُ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أَطْوَلُ نَهْرٍ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أَطْوَلُ مِنْ نَهْرٍ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useful” (using akthar).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فَائِدَةً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مُفِيدٌ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أَمْفَدُ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Akthar + noun in -an.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and rank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سَرِيعٌ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s-r-ʿ.</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أَسْرَعُ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a-s-r-a-ʿ.</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الطَّائِرَةُ أَسْرَعُ مِنَ الْقِطَارِ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fixed + min.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Superlative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الطَّائِرَةُ أَسْرَعُ وَسِيلَةٍ</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afʿal +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SUPERLATIVE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الطَّائِرَةُ </a:t>
            </a:r>
            <a:pPr rtl="1" algn="r" indent="0" marL="0">
              <a:buNone/>
            </a:pPr>
            <a:r>
              <a:rPr lang="ar-SA" altLang="en-US" sz="2600" b="1" dirty="0">
                <a:solidFill>
                  <a:srgbClr val="0E7C86"/>
                </a:solidFill>
                <a:latin typeface="Amiri" pitchFamily="2" charset="-78"/>
                <a:ea typeface="Amiri" pitchFamily="2" charset="-78"/>
                <a:cs typeface="Amiri" pitchFamily="2" charset="-78"/>
              </a:rPr>
              <a:t>أَسْرَعُ</a:t>
            </a:r>
            <a:pPr rtl="1" algn="r" indent="0" marL="0">
              <a:buNone/>
            </a:pPr>
            <a:r>
              <a:rPr lang="ar-SA" altLang="en-US" sz="2600" b="1" dirty="0">
                <a:solidFill>
                  <a:srgbClr val="1B3B6F"/>
                </a:solidFill>
                <a:latin typeface="Amiri" pitchFamily="2" charset="-78"/>
                <a:ea typeface="Amiri" pitchFamily="2" charset="-78"/>
                <a:cs typeface="Amiri" pitchFamily="2" charset="-78"/>
              </a:rPr>
              <a:t> مِنَ الْقِطَارِ، وَالْقِطَارُ </a:t>
            </a:r>
            <a:pPr rtl="1" algn="r" indent="0" marL="0">
              <a:buNone/>
            </a:pPr>
            <a:r>
              <a:rPr lang="ar-SA" altLang="en-US" sz="2600" b="1" dirty="0">
                <a:solidFill>
                  <a:srgbClr val="0E7C86"/>
                </a:solidFill>
                <a:latin typeface="Amiri" pitchFamily="2" charset="-78"/>
                <a:ea typeface="Amiri" pitchFamily="2" charset="-78"/>
                <a:cs typeface="Amiri" pitchFamily="2" charset="-78"/>
              </a:rPr>
              <a:t>أَسْرَعُ</a:t>
            </a:r>
            <a:pPr rtl="1" algn="r" indent="0" marL="0">
              <a:buNone/>
            </a:pPr>
            <a:r>
              <a:rPr lang="ar-SA" altLang="en-US" sz="2600" b="1" dirty="0">
                <a:solidFill>
                  <a:srgbClr val="1B3B6F"/>
                </a:solidFill>
                <a:latin typeface="Amiri" pitchFamily="2" charset="-78"/>
                <a:ea typeface="Amiri" pitchFamily="2" charset="-78"/>
                <a:cs typeface="Amiri" pitchFamily="2" charset="-78"/>
              </a:rPr>
              <a:t> مِنَ الْحَافِلَةِ؛ إِذَنِ الطَّائِرَةُ </a:t>
            </a:r>
            <a:pPr rtl="1" algn="r" indent="0" marL="0">
              <a:buNone/>
            </a:pPr>
            <a:r>
              <a:rPr lang="ar-SA" altLang="en-US" sz="2600" b="1" dirty="0">
                <a:solidFill>
                  <a:srgbClr val="D6336C"/>
                </a:solidFill>
                <a:latin typeface="Amiri" pitchFamily="2" charset="-78"/>
                <a:ea typeface="Amiri" pitchFamily="2" charset="-78"/>
                <a:cs typeface="Amiri" pitchFamily="2" charset="-78"/>
              </a:rPr>
              <a:t>أَسْرَعُ وَسِيلَةِ</a:t>
            </a:r>
            <a:pPr rtl="1" algn="r" indent="0" marL="0">
              <a:buNone/>
            </a:pPr>
            <a:r>
              <a:rPr lang="ar-SA" altLang="en-US" sz="2600" b="1" dirty="0">
                <a:solidFill>
                  <a:srgbClr val="1B3B6F"/>
                </a:solidFill>
                <a:latin typeface="Amiri" pitchFamily="2" charset="-78"/>
                <a:ea typeface="Amiri" pitchFamily="2" charset="-78"/>
                <a:cs typeface="Amiri" pitchFamily="2" charset="-78"/>
              </a:rPr>
              <a:t> نَقْلٍ.</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plane is faster than the train, and the train is faster than the bus; so the plane is the fastest means of transport.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أَخِي أَكْبَرُ مِنِّي.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is older than me.</a:t>
            </a:r>
            <a:endParaRPr lang="en-US" sz="1250" dirty="0"/>
          </a:p>
          <a:p>
            <a:pPr indent="0" marL="0">
              <a:buNone/>
            </a:pPr>
            <a:r>
              <a:rPr lang="en-US" sz="1050" i="1" dirty="0">
                <a:solidFill>
                  <a:srgbClr val="8A6D1E"/>
                </a:solidFill>
                <a:latin typeface="Calibri" pitchFamily="34" charset="0"/>
                <a:cs typeface="Amiri" pitchFamily="2" charset="-78"/>
              </a:rPr>
              <a:t>min + -nī = than 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لَنْدَن أَكْبَرُ مَدِينَةٍ فِي بِرِيطَانِيَا.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the biggest city in Britain.</a:t>
            </a:r>
            <a:endParaRPr lang="en-US" sz="1250" dirty="0"/>
          </a:p>
          <a:p>
            <a:pPr indent="0" marL="0">
              <a:buNone/>
            </a:pPr>
            <a:r>
              <a:rPr lang="en-US" sz="1050" i="1" dirty="0">
                <a:solidFill>
                  <a:srgbClr val="8A6D1E"/>
                </a:solidFill>
                <a:latin typeface="Calibri" pitchFamily="34" charset="0"/>
                <a:cs typeface="Amiri" pitchFamily="2" charset="-78"/>
              </a:rPr>
              <a:t>Afʿal + indefinite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الرِّيَاضِيَّاتُ هِيَ الْأَصْعَبُ.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Maths is the hardest.</a:t>
            </a:r>
            <a:endParaRPr lang="en-US" sz="1250" dirty="0"/>
          </a:p>
          <a:p>
            <a:pPr indent="0" marL="0">
              <a:buNone/>
            </a:pPr>
            <a:r>
              <a:rPr lang="en-US" sz="1050" i="1" dirty="0">
                <a:solidFill>
                  <a:srgbClr val="8A6D1E"/>
                </a:solidFill>
                <a:latin typeface="Calibri" pitchFamily="34" charset="0"/>
                <a:cs typeface="Amiri" pitchFamily="2" charset="-78"/>
              </a:rPr>
              <a:t>al- + afʿal.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الْقِرَاءَةُ أَكْثَرُ فَائِدَةً مِنَ الْأَلْعَابِ.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Reading is more useful than games.</a:t>
            </a:r>
            <a:endParaRPr lang="en-US" sz="1250" dirty="0"/>
          </a:p>
          <a:p>
            <a:pPr indent="0" marL="0">
              <a:buNone/>
            </a:pPr>
            <a:r>
              <a:rPr lang="en-US" sz="1050" i="1" dirty="0">
                <a:solidFill>
                  <a:srgbClr val="8A6D1E"/>
                </a:solidFill>
                <a:latin typeface="Calibri" pitchFamily="34" charset="0"/>
                <a:cs typeface="Amiri" pitchFamily="2" charset="-78"/>
              </a:rPr>
              <a:t>akthar + noun in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AFʿAL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كَوِّنْ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a:t>
            </a:r>
            <a:endParaRPr lang="en-US" sz="1100" dirty="0"/>
          </a:p>
        </p:txBody>
      </p:sp>
      <p:sp>
        <p:nvSpPr>
          <p:cNvPr id="18" name="Text 15"/>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أَقْصَرُ مِنْ أَبِي.</a:t>
            </a:r>
            <a:endParaRPr lang="ar-SA" sz="20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أَقْصَرُ</a:t>
            </a:r>
            <a:endParaRPr lang="ar-SA" sz="2400" dirty="0"/>
          </a:p>
        </p:txBody>
      </p:sp>
      <p:sp>
        <p:nvSpPr>
          <p:cNvPr id="23" name="Text 20"/>
          <p:cNvSpPr txBox="1"/>
          <p:nvPr/>
        </p:nvSpPr>
        <p:spPr>
          <a:xfrm>
            <a:off x="33101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قَصِيرٌ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الرَّبِيعُ أَجْمَلُ فَصْلٍ.</a:t>
            </a:r>
            <a:endParaRPr lang="ar-SA" sz="2000" dirty="0"/>
          </a:p>
        </p:txBody>
      </p:sp>
      <p:sp>
        <p:nvSpPr>
          <p:cNvPr id="29" name="Text 26"/>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أَجْمَلُ</a:t>
            </a:r>
            <a:endParaRPr lang="ar-SA" sz="2400" dirty="0"/>
          </a:p>
        </p:txBody>
      </p:sp>
      <p:sp>
        <p:nvSpPr>
          <p:cNvPr id="30" name="Text 27"/>
          <p:cNvSpPr txBox="1"/>
          <p:nvPr/>
        </p:nvSpPr>
        <p:spPr>
          <a:xfrm>
            <a:off x="33101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جَمِيلٌ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الْعَرَبِيَّةُ أَسْهَلُ مِمَّا أَظُنُّ!</a:t>
            </a:r>
            <a:endParaRPr lang="ar-SA" sz="2000" dirty="0"/>
          </a:p>
        </p:txBody>
      </p:sp>
      <p:sp>
        <p:nvSpPr>
          <p:cNvPr id="36" name="Text 33"/>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أَسْهَلُ</a:t>
            </a:r>
            <a:endParaRPr lang="ar-SA" sz="2400" dirty="0"/>
          </a:p>
        </p:txBody>
      </p:sp>
      <p:sp>
        <p:nvSpPr>
          <p:cNvPr id="37" name="Text 34"/>
          <p:cNvSpPr txBox="1"/>
          <p:nvPr/>
        </p:nvSpPr>
        <p:spPr>
          <a:xfrm>
            <a:off x="33101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easy</a:t>
            </a:r>
            <a:endParaRPr lang="en-US" sz="11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سَهْلٌ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الْمَسْجِدُ أَقْرَبُ مِنَ السُّوقِ.</a:t>
            </a:r>
            <a:endParaRPr lang="ar-SA" sz="2000" dirty="0"/>
          </a:p>
        </p:txBody>
      </p:sp>
      <p:sp>
        <p:nvSpPr>
          <p:cNvPr id="43" name="Text 40"/>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أَقْرَبُ</a:t>
            </a:r>
            <a:endParaRPr lang="ar-SA" sz="2400" dirty="0"/>
          </a:p>
        </p:txBody>
      </p:sp>
      <p:sp>
        <p:nvSpPr>
          <p:cNvPr id="44" name="Text 41"/>
          <p:cNvSpPr txBox="1"/>
          <p:nvPr/>
        </p:nvSpPr>
        <p:spPr>
          <a:xfrm>
            <a:off x="33101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a:t>
            </a:r>
            <a:endParaRPr lang="en-US" sz="11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قَرِيبٌ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هَاتِفِي أَحْدَثُ هَاتِفٍ.</a:t>
            </a:r>
            <a:endParaRPr lang="ar-SA" sz="2000" dirty="0"/>
          </a:p>
        </p:txBody>
      </p:sp>
      <p:sp>
        <p:nvSpPr>
          <p:cNvPr id="48" name="Text 45"/>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أَحْدَثُ</a:t>
            </a:r>
            <a:endParaRPr lang="ar-SA" sz="2400" dirty="0"/>
          </a:p>
        </p:txBody>
      </p:sp>
      <p:sp>
        <p:nvSpPr>
          <p:cNvPr id="49" name="Text 46"/>
          <p:cNvSpPr txBox="1"/>
          <p:nvPr/>
        </p:nvSpPr>
        <p:spPr>
          <a:xfrm>
            <a:off x="33101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a:t>
            </a:r>
            <a:endParaRPr lang="en-US" sz="11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جَدِيدٌ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columns 3 and 4; students say the comparative, then make their own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COMPARING TWO, OR THE MOST OF ALL?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or superlative?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مُقَارَنَةٌ أَمْ 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مِنْ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مَدِينَةٍ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أَسْرَعُ مِنَ الْقِطَارِ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الْأَسْرَعُ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أَطْوَلُ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أَطْوَلُ نَهْرٍ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مِنْ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الْأَفْضَلُ فِي الصَّفِّ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Comparative (…er than)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Superlative (the …est)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Comparative (…er than)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مِنْ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أَسْرَعُ مِنَ الْقِطَارِ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أَطْوَلُ مِنِّي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مِنْ أَمْسِ</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Superlative (the …est)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مَدِينَةٍ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الْأَسْرَعُ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أَطْوَلُ نَهْرٍ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الْأَفْضَلُ فِي الصَّفِّ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أَطْوَلَةُ مِنِّي.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afʿal take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الْقِطَارُ أَسْرَعُ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أَفْضَلُ الْكِتَابِ.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Definite or indefinite?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أَطْوَلَةُ مِنِّي.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أَطْوَلُ مِنِّي.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never takes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الْقِطَارُ أَسْرَعُ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items → do not forget min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أَفْضَلُ الْكِتَابِ.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أَفْضَلُ كِتَابٍ.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best + singular noun: indefinite.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sea is bigger than the lake.”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الْبَحْرُ كَبِيرٌ مِنَ الْبُحَيْرَةِ.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الْبَحْرُ الْأَكْبَرُ الْبُحَيْرَةِ.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الْبَحْرُ أَكْبَرُ مِنَ الْبُحَيْرَةِ.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the best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أَفْضَلَةُ 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أَفْضَلُ طَالِبَةٍ.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الطَّالِبَةُ أَفْضَلُ.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“Summer is hotter than spring.”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الصَّيْفُ أَحْرَرُ مِنَ الرَّبِيعِ.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الصَّيْفُ أَحَرُّ مِنَ الرَّبِيعِ.</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الصَّيْفُ حَارٌّ مِنَ الرَّبِيعِ.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“English is less difficult.”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الْإِنْجِلِيزِيَّةُ أَقَلُّ صَعْبَةٌ.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الْإِنْجِلِيزِيَّةُ أَقَلَّةُ صُعُوبَةٍ.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الْإِنْجِلِيزِيَّةُ أَقَلُّ صُعُوبَةً.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sea is bigger than the lake.”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الْبَحْرُ كَبِيرٌ مِنَ الْبُحَيْرَةِ.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الْبَحْرُ الْأَكْبَرُ الْبُحَيْرَةِ.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الْبَحْرُ أَكْبَرُ مِنَ الْبُحَيْرَةِ.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min.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the best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أَفْضَلَةُ 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أَفْضَلُ طَالِبَةٍ.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الطَّالِبَةُ أَفْضَلُ.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 — no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“Summer is hotter than spring.”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الصَّيْفُ أَحْرَرُ مِنَ الرَّبِيعِ.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الصَّيْفُ أَحَرُّ مِنَ الرَّبِيعِ.</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الصَّيْفُ حَارٌّ مِنَ الرَّبِيعِ.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root → aḥarr.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“English is less difficult.”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الْإِنْجِلِيزِيَّةُ أَقَلُّ صَعْبَةٌ.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الْإِنْجِلِيزِيَّةُ أَقَلَّةُ صُعُوبَةٍ.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الْإِنْجِلِيزِيَّةُ أَقَلُّ صُعُوبَةً.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noun in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city is best?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مَدِينَتِي أَصْغَرُ مِنَ الْعَاصِمَةِ، لَكِنَّهَا أَهْدَأُ وَأَنْظَفُ. الْحَيَاةُ فِي الْعَاصِمَةِ أَكْثَرُ إِثَارَةً، وَلَكِنَّ مَدِينَتِي أَجْمَلُ مَكَانٍ فِي رَأْيِي.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الْعَاصِمَةِ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capital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أَهْدَأُ</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quieter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أَنْظَفُ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cleaner</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إِثَارَةً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excitement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رَأْيِي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my opinion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bigger, the writer’s city or the capital?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أَصْغَرُ</a:t>
            </a:r>
            <a:pPr algn="l" indent="0" marL="0">
              <a:buNone/>
            </a:pPr>
            <a:r>
              <a:rPr lang="en-US" sz="1250" b="1" dirty="0">
                <a:solidFill>
                  <a:srgbClr val="1B3B6F"/>
                </a:solidFill>
                <a:latin typeface="Calibri" pitchFamily="34" charset="0"/>
                <a:cs typeface="Amiri" pitchFamily="2" charset="-78"/>
              </a:rPr>
              <a:t> and not with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though city is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comparative is fixed.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أَكْثَرُ إِثَارَةً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exciting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exciting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exciting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superlative?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مِنَ الْعَاصِمَةِ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أَجْمَلُ مَكَانٍ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أَهْدَأُ وَأَنْظَفُ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bigger, the writer’s city or the capital?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أَصْغَرُ مِنَ الْعَاصِمَةِ.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أَصْغَرُ</a:t>
            </a:r>
            <a:pPr algn="l" indent="0" marL="0">
              <a:buNone/>
            </a:pPr>
            <a:r>
              <a:rPr lang="en-US" sz="1250" b="1" dirty="0">
                <a:solidFill>
                  <a:srgbClr val="1B3B6F"/>
                </a:solidFill>
                <a:latin typeface="Calibri" pitchFamily="34" charset="0"/>
                <a:cs typeface="Amiri" pitchFamily="2" charset="-78"/>
              </a:rPr>
              <a:t> and not with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though city is feminine?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City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comparative is fixed.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أَكْثَرُ إِثَارَةً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exciting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exciting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most exciting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Analytical comparison.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superlative?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أَصْغَرُ مِنَ الْعَاصِمَةِ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أَجْمَلُ مَكَانٍ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أَهْدَأُ وَأَنْظَفُ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بَيْنَكَ وَبَيْنَ أَخِيكَ أَوْ صَدِيقِكَ.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أَفْضَلُ مَادَّةٍ فِي رَأْيِكَ؟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الْمَدِينَةُ أَمِ الرِّيفُ: أَيُّهُمَا أَفْضَلُ لِلْعَيْشِ؟</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مِنْ أَخِي، وَأَخِي ___ مِنِّي.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مَادَّةٍ عِنْدِي ___ لِأَنَّهَا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الرِّيفُ أَهْدَأُ، لَكِنَّ الْمَدِينَةَ أَكْثَرُ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أَفْضَلُ فَصْلٍ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best season, in your opinion?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الرَّبِيعُ أَفْضَلُ فَصْلٍ، لِأَنَّهُ أَجْمَلُ مِنَ الشِّتَاءِ وَأَقَلُّ حَرَارَةً مِنَ الصَّيْفِ.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Spring is the best season, because it is more beautiful than winter and less hot than summer.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members of your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afʿal + min; no ة on afʿal.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superlatives: al-afḍal and afḍalu +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My best friend, the biggest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city or countryside? Use akthar / aqall +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more peaceful, less expensive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مَادَّةٍ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best subject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أَكْبَرُ مَدِينَةٍ فِي بَلَدِي.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city in my country.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أَهَمِّيَّةً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أَطْوَلُ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taller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______ مِنِّي.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younger than me.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الْقِطَارُ أَسْرَعُ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is faster than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أَكْبَرُ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older than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أَكْبَرُ  ·  أَصْغَرُ  ·  أَطْوَلُ  ·  أَقْصَرُ  ·  أَسْرَعُ  ·  أَجْمَلُ  ·  أَسْهَلُ  ·  أَصْعَبُ  ·  أَفْضَلُ  ·  أَحَرُّ  ·  أَغْلَى  ·  أَكْثَرُ  ·  أَقَلُّ  ·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comparing two places, people or experiences,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comparatives with min.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comparative with a feminine subject (no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al-afʿal superlative.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afʿal + indefinite noun superlative.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akthar / aqall + noun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أَكْبَرُ مِنْ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bigger than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مَكَانٍ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best place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الْأَجْمَلُ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 it is the most beautiful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هُدُوءًا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peaceful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أَقَلُّ ازْدِحَامًا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crowded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أَغْلَى مِنْ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expensive than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عِشْتُ فِي الْمَدِينَةِ وَفِي الرِّيفِ. الْمَدِينَةُ أَكْبَرُ وَأَسْرَعُ، وَالْمَحَلَّاتُ فِيهَا أَكْثَرُ. لَكِنَّ الرِّيفَ أَهْدَأُ وَأَنْظَفُ، وَالْهَوَاءُ فِيهِ أَنْقَى. الْحَيَاةُ فِي الرِّيفِ أَقَلُّ ازْدِحَامًا وَأَقَلُّ تَكْلِفَةً. فِي رَأْيِي، الرِّيفُ أَفْضَلُ مَكَانٍ لِلْعَائِلَاتِ، أَمَّا الْمَدِينَةُ فَهِيَ الْأَفْضَلُ لِلطُّلَّابِ.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have lived in the city and in the countryside. The city is bigger and faster, and it has more shops. But the countryside is quieter and cleaner, and the air there is purer. Life in the countryside is less crowded and less expensive. In my opinion, the countryside is the best place for families, while the city is the best for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comparatives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fem. subject, no 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superlatives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aqall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comparatives use afʿal + min.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added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afʿal.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superlative routes.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afʿal in a superlative, the noun is indefinite.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akthar / aqall + a noun in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ea typeface="Amiri" pitchFamily="2" charset="-78"/>
                <a:cs typeface="Amiri" pitchFamily="2" charset="-78"/>
              </a:rPr>
              <a:t>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“Sara is faster than Huda.”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سَارَةُ أَسْرَعَةُ مِنْ هُدَى.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سَارَةُ أَسْرَعُ مِنْ هُدَى.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سَارَةُ سَرِيعَةٌ هُدَى.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beautiful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أَجْمَلُ مَسْجِدٍ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أَجْمَلُ الْمَسْجِدِ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الْمَسْجِدُ أَجْمَلُ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ea typeface="Amiri" pitchFamily="2" charset="-78"/>
                <a:cs typeface="Amiri" pitchFamily="2" charset="-78"/>
              </a:rPr>
              <a:t>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أَقْرَبُ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قُرْبَى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أَقْرَبَةٌ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“Sara is faster than Huda.”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سَارَةُ أَسْرَعَةُ مِنْ هُدَى.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سَارَةُ أَسْرَعُ مِنْ هُدَى.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سَارَةُ سَرِيعَةٌ هُدَى.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Fixed form + min.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beautiful mosque”.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أَجْمَلُ مَسْجِدٍ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أَجْمَلُ الْمَسْجِدِ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الْمَسْجِدُ أَجْمَلُ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GM-ADJ-07: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GM-ADJ-07 · Demonstratives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هَؤُلَاءِ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difference between “this book” and “This is a book”? Try both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هَذَا كِتَابٌ · هَذَا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comparative sentences about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top-five list of the best things in your town with superlatives.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city or countryside?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GM-ADJ-07 · Demonstratives and Agreement</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أَسْمَاءُ الْإِشَارَةِ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afʿal + min = “…er than” · it never takes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the …est = al-afʿal or afʿalu + indefinite noun · long adjectives: akthar / aqall + noun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GM-ADJ-06 · Comparative and Superlative</dc:title>
  <dc:subject>PptxGenJS Presentation</dc:subject>
  <dc:creator>Al Madina Online School · Arabic Department</dc:creator>
  <cp:lastModifiedBy>Al Madina Online School · Arabic Department</cp:lastModifiedBy>
  <cp:revision>1</cp:revision>
  <dcterms:created xsi:type="dcterms:W3CDTF">2026-10-11T06:42:02Z</dcterms:created>
  <dcterms:modified xsi:type="dcterms:W3CDTF">2026-10-11T06:42:02Z</dcterms:modified>
</cp:coreProperties>
</file>