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GM-ADJ-06 (“Comparative and Superlative”).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afʿal from common adjectives (كَبِيرٌ أَكْبَرُ · طَوِيلٌ أَطْوَلُ · سَرِيعٌ أَسْرَعُ) and compare with مِنْ. Develop: superlative — هُوَ الْأَفْضَلُ and أَفْضَلُ كِتَابٍ. Stretch: analytical comparison with أَكْثَرُ / أَقَلُّ + noun in -an (أَكْثَرُ أَهَمِّيَّةً); doubled and weak roots (أَحَرُّ · أَغْلَى); recognition of الْكُبْرَى.
• The comparative does NOT agree in gender: مَرْيَمُ أَطْوَلُ مِنْ سَلْمَى (website). Many students add ة — this is the website’s first clinic point.
• Afʿal is a diptote: no tanwīn (أَكْبَرُ, not أَكْبَرٌ) — the same shape as the colours in ADJ-03, but a different meaning.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words prepared at the end of GM-ADJ-05.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Bigger than = akbaru min — the same for boys and girls. The biggest = al-akbar, or akbaru + an indefinite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teacher-added formation table (the website assumes it). Root-letter colouring helps: k-b-r in both كَبِيرٌ and أَكْبَرُ. Good is irregular: afḍal (from faḍl).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“Comparative with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(4 min) — website “Superlative routes” and “Analytical comparison”. The iḍāfa superlative (afḍalu kitābin) is the most useful for exams. Kubrā is for Stretch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Write the three transport words on screen; students rank them in Arabic. Point out أَسْرَعُ never changes, even with الطَّائِرَةُ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Last row: newer is usually aḥdath (from ḥadīth “modern”) — a useful Stretch vocabulary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C or S. The clue: min → comparative; al- or a following indefinite noun → superlative.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C or S. The clue: min → comparative; al- or a following indefinite noun → superlative.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comparative and superlative, and label its type.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Great IGCSE opinion practice: “X is better than Y because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(GM-ADJ-07 · Demonstratives and Agreement) will spend class time USING this language, so students prepare it tonight — short, simple, easy to access (school guidance: “Simple, Short, Interesting, Relevant, Easy to access”). The five words prepare GM-ADJ-07 (website Adjectives lesson 7: demonstratives).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cs typeface="Amiri" pitchFamily="2" charset="-78"/>
              </a:rPr>
              <a:t>Comparative and Superlative</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اِسْمُ التَّفْضِيلِ: أَفْعَلُ وَالْأَفْعَلُ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One pattern, afʿal, makes “bigger” and “biggest”. Bigger than = akbaru min (never changes for gender). The biggest = al-akbar, or akbaru + an indefinite noun: “the biggest city”.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Comparative + min; superlative routes; analytical comparison.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afʿal, compare, rank.</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train is faster than the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الْقِطَارُ أَسْرَعَ الْحَافِلَةِ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الْقِطَارُ أَسْرَعُ مِنَ الْحَافِلَةِ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الْقِطَارُ السَّرِيعُ مِنَ الْحَافِلَةِ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“Maryam is taller than Salma”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 أَطْوَلُ مِنْ سَلْمَى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 طَوِيلَةٌ مِنْ سَلْمَى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مَرْيَمُ أَطْوَلَةُ مِنْ سَلْمَى</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فَاضِلٌ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الْأَفْضَلُ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book”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الْأَفْضَلُ الْكِتَابُ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مِنْ كِتَابٍ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كِتَابٍ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train is faster than the bus.”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الْقِطَارُ أَسْرَعَ الْحَافِلَةِ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الْقِطَارُ أَسْرَعُ مِنَ الْحَافِلَةِ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الْقِطَارُ السَّرِيعُ مِنَ الْحَافِلَةِ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 min.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“Maryam is taller than Salma”</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مَرْيَمُ أَطْوَلُ مِنْ سَلْمَى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مَرْيَمُ طَوِيلَةٌ مِنْ سَلْمَى</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مَرْيَمُ أَطْوَلَةُ مِنْ سَلْمَى</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comparative stays afʿal, even for a woman.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أَفْضَلٌ مِنْ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فَاضِلٌ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الْأَفْضَلُ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definite superlative.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book”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الْأَفْضَلُ الْكِتَابُ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أَفْضَلٌ مِنْ كِتَابٍ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أَفْضَلُ كِتَابٍ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Superlative as the first word of an iḍāfa.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Bigger than = akbaru min — the same for boys and girls. The biggest = al-akbar, or akbaru + an indefinite noun.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أَكْبَرُ </a:t>
            </a:r>
            <a:pPr rtl="1" algn="ctr" indent="0" marL="0">
              <a:buNone/>
            </a:pPr>
            <a:r>
              <a:rPr lang="ar-SA" altLang="en-US" sz="2400" b="1" dirty="0">
                <a:solidFill>
                  <a:srgbClr val="0E7C86"/>
                </a:solidFill>
                <a:latin typeface="Amiri" pitchFamily="2" charset="-78"/>
                <a:cs typeface="Amiri" pitchFamily="2" charset="-78"/>
              </a:rPr>
              <a:t>مِنْ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أَكْبَرُ مَدِينَةٍ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comparative afʿal from common adjectives.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things with afʿal + min.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the superlative in two ways.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akthar / aqall for adjectives without a simple afʿal.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make bigger, taller, faster.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compare two people or things with min.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the best and the best book.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keep the comparative the same for girls.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more important and more helpful.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form hotter, less and more expensive.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اسْمُ التَّفْضِيلِ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comparative / superlative</a:t>
            </a:r>
            <a:endParaRPr lang="en-US" sz="1350" dirty="0"/>
          </a:p>
          <a:p>
            <a:pPr indent="0" marL="0">
              <a:buNone/>
            </a:pPr>
            <a:r>
              <a:rPr lang="en-US" sz="1100" i="1" dirty="0">
                <a:solidFill>
                  <a:srgbClr val="5A6472"/>
                </a:solidFill>
                <a:latin typeface="Calibri" pitchFamily="34" charset="0"/>
                <a:cs typeface="Amiri" pitchFamily="2" charset="-78"/>
              </a:rPr>
              <a:t>as-mu at-taf-ḍī-li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pattern </a:t>
            </a:r>
            <a:pPr algn="l" indent="0" marL="0">
              <a:buNone/>
            </a:pPr>
            <a:r>
              <a:rPr lang="ar-SA" altLang="en-US" sz="1300" dirty="0">
                <a:solidFill>
                  <a:srgbClr val="8A6D1E"/>
                </a:solidFill>
                <a:latin typeface="Amiri" pitchFamily="2" charset="-78"/>
                <a:cs typeface="Amiri" pitchFamily="2" charset="-78"/>
              </a:rPr>
              <a:t>أَفْعَلُ</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أَفْعَلُ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afʿal pattern</a:t>
            </a:r>
            <a:endParaRPr lang="en-US" sz="1350" dirty="0"/>
          </a:p>
          <a:p>
            <a:pPr indent="0" marL="0">
              <a:buNone/>
            </a:pPr>
            <a:r>
              <a:rPr lang="en-US" sz="1100" i="1" dirty="0">
                <a:solidFill>
                  <a:srgbClr val="5A6472"/>
                </a:solidFill>
                <a:latin typeface="Calibri" pitchFamily="34" charset="0"/>
                <a:cs typeface="Amiri" pitchFamily="2" charset="-78"/>
              </a:rPr>
              <a:t>afʿal</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أَكْبَرُ · أَسْرَعُ</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a:t>
            </a:r>
            <a:endParaRPr lang="en-US" sz="1350" dirty="0"/>
          </a:p>
          <a:p>
            <a:pPr indent="0" marL="0">
              <a:buNone/>
            </a:pPr>
            <a:r>
              <a:rPr lang="en-US" sz="1100" i="1" dirty="0">
                <a:solidFill>
                  <a:srgbClr val="5A6472"/>
                </a:solidFill>
                <a:latin typeface="Calibri" pitchFamily="34" charset="0"/>
                <a:cs typeface="Amiri" pitchFamily="2" charset="-78"/>
              </a:rPr>
              <a:t>min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أَكْبَرُ مِنْ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الْأَفْضَلُ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best</a:t>
            </a:r>
            <a:endParaRPr lang="en-US" sz="1350" dirty="0"/>
          </a:p>
          <a:p>
            <a:pPr indent="0" marL="0">
              <a:buNone/>
            </a:pPr>
            <a:r>
              <a:rPr lang="en-US" sz="1100" i="1" dirty="0">
                <a:solidFill>
                  <a:srgbClr val="5A6472"/>
                </a:solidFill>
                <a:latin typeface="Calibri" pitchFamily="34" charset="0"/>
                <a:cs typeface="Amiri" pitchFamily="2" charset="-78"/>
              </a:rPr>
              <a:t>al-af-ḍa-lu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هُوَ الْأَفْضَلُ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(most)</a:t>
            </a:r>
            <a:endParaRPr lang="en-US" sz="1350" dirty="0"/>
          </a:p>
          <a:p>
            <a:pPr indent="0" marL="0">
              <a:buNone/>
            </a:pPr>
            <a:r>
              <a:rPr lang="en-US" sz="1100" i="1" dirty="0">
                <a:solidFill>
                  <a:srgbClr val="5A6472"/>
                </a:solidFill>
                <a:latin typeface="Calibri" pitchFamily="34" charset="0"/>
                <a:cs typeface="Amiri" pitchFamily="2" charset="-78"/>
              </a:rPr>
              <a:t>ak-tha-ru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أَكْثَرُ أَهَمِّيَّةً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(least)</a:t>
            </a:r>
            <a:endParaRPr lang="en-US" sz="1350" dirty="0"/>
          </a:p>
          <a:p>
            <a:pPr indent="0" marL="0">
              <a:buNone/>
            </a:pPr>
            <a:r>
              <a:rPr lang="en-US" sz="1100" i="1" dirty="0">
                <a:solidFill>
                  <a:srgbClr val="5A6472"/>
                </a:solidFill>
                <a:latin typeface="Calibri" pitchFamily="34" charset="0"/>
                <a:cs typeface="Amiri" pitchFamily="2" charset="-78"/>
              </a:rPr>
              <a:t>a-qal-lu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أَقَلُّ صُعُوبَةً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BUILDING AFʿAL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adjective to comparative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بِنَاءُ أَفْعَلَ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833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Comparative</a:t>
            </a:r>
            <a:endParaRPr lang="en-US" sz="1100" dirty="0"/>
          </a:p>
        </p:txBody>
      </p:sp>
      <p:sp>
        <p:nvSpPr>
          <p:cNvPr id="18" name="Text 15"/>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bigger / older</a:t>
            </a:r>
            <a:endParaRPr lang="en-US" sz="1100" dirty="0"/>
          </a:p>
        </p:txBody>
      </p:sp>
      <p:sp>
        <p:nvSpPr>
          <p:cNvPr id="22" name="Text 19"/>
          <p:cNvSpPr txBox="1"/>
          <p:nvPr/>
        </p:nvSpPr>
        <p:spPr>
          <a:xfrm>
            <a:off x="585216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أَكْبَرُ</a:t>
            </a:r>
            <a:endParaRPr lang="ar-SA" sz="2400" dirty="0"/>
          </a:p>
        </p:txBody>
      </p:sp>
      <p:sp>
        <p:nvSpPr>
          <p:cNvPr id="23" name="Text 20"/>
          <p:cNvSpPr txBox="1"/>
          <p:nvPr/>
        </p:nvSpPr>
        <p:spPr>
          <a:xfrm>
            <a:off x="33101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a:t>
            </a:r>
            <a:endParaRPr lang="en-US" sz="1100" dirty="0"/>
          </a:p>
        </p:txBody>
      </p:sp>
      <p:sp>
        <p:nvSpPr>
          <p:cNvPr id="24" name="Text 21"/>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كَبِيرٌ</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smaller / younger</a:t>
            </a:r>
            <a:endParaRPr lang="en-US" sz="1100" dirty="0"/>
          </a:p>
        </p:txBody>
      </p:sp>
      <p:sp>
        <p:nvSpPr>
          <p:cNvPr id="29" name="Text 26"/>
          <p:cNvSpPr txBox="1"/>
          <p:nvPr/>
        </p:nvSpPr>
        <p:spPr>
          <a:xfrm>
            <a:off x="585216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أَصْغَرُ</a:t>
            </a:r>
            <a:endParaRPr lang="ar-SA" sz="2400" dirty="0"/>
          </a:p>
        </p:txBody>
      </p:sp>
      <p:sp>
        <p:nvSpPr>
          <p:cNvPr id="30" name="Text 27"/>
          <p:cNvSpPr txBox="1"/>
          <p:nvPr/>
        </p:nvSpPr>
        <p:spPr>
          <a:xfrm>
            <a:off x="33101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a:t>
            </a:r>
            <a:endParaRPr lang="en-US" sz="1100" dirty="0"/>
          </a:p>
        </p:txBody>
      </p:sp>
      <p:sp>
        <p:nvSpPr>
          <p:cNvPr id="31" name="Text 28"/>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صَغِيرٌ</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taller, longer</a:t>
            </a:r>
            <a:endParaRPr lang="en-US" sz="1100" dirty="0"/>
          </a:p>
        </p:txBody>
      </p:sp>
      <p:sp>
        <p:nvSpPr>
          <p:cNvPr id="36" name="Text 33"/>
          <p:cNvSpPr txBox="1"/>
          <p:nvPr/>
        </p:nvSpPr>
        <p:spPr>
          <a:xfrm>
            <a:off x="585216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أَطْوَلُ</a:t>
            </a:r>
            <a:endParaRPr lang="ar-SA" sz="2400" dirty="0"/>
          </a:p>
        </p:txBody>
      </p:sp>
      <p:sp>
        <p:nvSpPr>
          <p:cNvPr id="37" name="Text 34"/>
          <p:cNvSpPr txBox="1"/>
          <p:nvPr/>
        </p:nvSpPr>
        <p:spPr>
          <a:xfrm>
            <a:off x="33101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tall, long</a:t>
            </a:r>
            <a:endParaRPr lang="en-US" sz="1100" dirty="0"/>
          </a:p>
        </p:txBody>
      </p:sp>
      <p:sp>
        <p:nvSpPr>
          <p:cNvPr id="38" name="Text 35"/>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طَوِيلٌ</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faster</a:t>
            </a:r>
            <a:endParaRPr lang="en-US" sz="1100" dirty="0"/>
          </a:p>
        </p:txBody>
      </p:sp>
      <p:sp>
        <p:nvSpPr>
          <p:cNvPr id="43" name="Text 40"/>
          <p:cNvSpPr txBox="1"/>
          <p:nvPr/>
        </p:nvSpPr>
        <p:spPr>
          <a:xfrm>
            <a:off x="585216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أَسْرَعُ</a:t>
            </a:r>
            <a:endParaRPr lang="ar-SA" sz="2400" dirty="0"/>
          </a:p>
        </p:txBody>
      </p:sp>
      <p:sp>
        <p:nvSpPr>
          <p:cNvPr id="44" name="Text 41"/>
          <p:cNvSpPr txBox="1"/>
          <p:nvPr/>
        </p:nvSpPr>
        <p:spPr>
          <a:xfrm>
            <a:off x="33101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fast</a:t>
            </a:r>
            <a:endParaRPr lang="en-US" sz="1100" dirty="0"/>
          </a:p>
        </p:txBody>
      </p:sp>
      <p:sp>
        <p:nvSpPr>
          <p:cNvPr id="45" name="Text 42"/>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سَرِيعٌ</a:t>
            </a:r>
            <a:endParaRPr lang="ar-SA" sz="24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better</a:t>
            </a:r>
            <a:endParaRPr lang="en-US" sz="1100" dirty="0"/>
          </a:p>
        </p:txBody>
      </p:sp>
      <p:sp>
        <p:nvSpPr>
          <p:cNvPr id="50" name="Text 47"/>
          <p:cNvSpPr txBox="1"/>
          <p:nvPr/>
        </p:nvSpPr>
        <p:spPr>
          <a:xfrm>
            <a:off x="585216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أَفْضَلُ / أَحْسَنُ</a:t>
            </a:r>
            <a:endParaRPr lang="ar-SA" sz="2400" dirty="0"/>
          </a:p>
        </p:txBody>
      </p:sp>
      <p:sp>
        <p:nvSpPr>
          <p:cNvPr id="51" name="Text 48"/>
          <p:cNvSpPr txBox="1"/>
          <p:nvPr/>
        </p:nvSpPr>
        <p:spPr>
          <a:xfrm>
            <a:off x="33101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a:t>
            </a:r>
            <a:endParaRPr lang="en-US" sz="1100" dirty="0"/>
          </a:p>
        </p:txBody>
      </p:sp>
      <p:sp>
        <p:nvSpPr>
          <p:cNvPr id="52" name="Text 49"/>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جَيِّدٌ / حَسَنٌ</a:t>
            </a:r>
            <a:endParaRPr lang="ar-SA" sz="24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 doubled and weak roots</a:t>
            </a:r>
            <a:endParaRPr lang="en-US" sz="1100" dirty="0"/>
          </a:p>
        </p:txBody>
      </p:sp>
      <p:sp>
        <p:nvSpPr>
          <p:cNvPr id="55" name="Text 52"/>
          <p:cNvSpPr txBox="1"/>
          <p:nvPr/>
        </p:nvSpPr>
        <p:spPr>
          <a:xfrm>
            <a:off x="585216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أَحَرُّ · أَقَلُّ · أَغْلَى</a:t>
            </a:r>
            <a:endParaRPr lang="ar-SA" sz="2400" dirty="0"/>
          </a:p>
        </p:txBody>
      </p:sp>
      <p:sp>
        <p:nvSpPr>
          <p:cNvPr id="56" name="Text 53"/>
          <p:cNvSpPr txBox="1"/>
          <p:nvPr/>
        </p:nvSpPr>
        <p:spPr>
          <a:xfrm>
            <a:off x="33101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hot · few · expensive</a:t>
            </a:r>
            <a:endParaRPr lang="en-US" sz="1100" dirty="0"/>
          </a:p>
        </p:txBody>
      </p:sp>
      <p:sp>
        <p:nvSpPr>
          <p:cNvPr id="57" name="Text 54"/>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حَارٌّ · قَلِيلٌ · غَالٍ</a:t>
            </a:r>
            <a:endParaRPr lang="ar-SA" sz="24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Take the three root letters and put them into a-_-_-a-_: k-b-r → akbar. Afʿal never takes tanwīn.</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2 · COMPARATIVE WITH MIN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Afʿal + min = “…er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أَفْعَلُ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Most comparisons use afʿal followed by min, “than”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comparative is FIXED: it does not change for a feminine or plural subject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noun after min is genitive (-i / -in).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Do not forget min in a two-item comparison (website clinic).</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min + al- becomes mina l- for easy pronunciation.</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أَحْمَدُ أَطْوَلُ مِنْ عَلِيٍّ.</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Ahmad is taller than Ali.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مَرْيَمُ أَطْوَلُ مِنْ سَلْمَى.</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Maryam is taller than Salma.  ·  website — no </a:t>
            </a:r>
            <a:pPr algn="ctr" indent="0" marL="0">
              <a:buNone/>
            </a:pPr>
            <a:r>
              <a:rPr lang="ar-SA" altLang="en-US" sz="1450" dirty="0">
                <a:solidFill>
                  <a:srgbClr val="5A6472"/>
                </a:solidFill>
                <a:latin typeface="Amiri" pitchFamily="2" charset="-78"/>
                <a:cs typeface="Amiri" pitchFamily="2" charset="-78"/>
              </a:rPr>
              <a:t>ة</a:t>
            </a:r>
            <a:pPr algn="ctr" indent="0" marL="0">
              <a:buNone/>
            </a:pPr>
            <a:r>
              <a:rPr lang="en-US" sz="1100" i="1" dirty="0">
                <a:solidFill>
                  <a:srgbClr val="5A6472"/>
                </a:solidFill>
                <a:latin typeface="Calibri" pitchFamily="34" charset="0"/>
                <a:cs typeface="Amiri" pitchFamily="2" charset="-78"/>
              </a:rPr>
              <a:t>!</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الْقِطَارُ أَسْرَعُ مِنَ الْحَافِلَةِ.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train is faster than the bus.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السَّيَّارَاتُ أَغْلَى مِنَ الدَّرَّاجَاتِ.</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Cars are more expensive than bikes.  ·  plural — still fixed</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WEBSITE 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add tāʾ marbūṭa to the comparative because the subject is feminine: Maryam is aṭwalu, not “aṭwalatu”.</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STEP 3 · SUPERLATIVE AND ANALYTICAL COMPARISON (WEBSITE)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The best, the most — and “more …”</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الْأَفْضَلُ وَأَكْثَرُ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book is the best.</a:t>
            </a:r>
            <a:endParaRPr lang="en-US" sz="1100" dirty="0"/>
          </a:p>
        </p:txBody>
      </p:sp>
      <p:sp>
        <p:nvSpPr>
          <p:cNvPr id="21" name="Text 18"/>
          <p:cNvSpPr txBox="1"/>
          <p:nvPr/>
        </p:nvSpPr>
        <p:spPr>
          <a:xfrm>
            <a:off x="329184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 الْكِتَابُ هُوَ الْأَفْضَلُ.</a:t>
            </a:r>
            <a:endParaRPr lang="ar-SA" sz="24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 afʿal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the best book.</a:t>
            </a:r>
            <a:endParaRPr lang="en-US" sz="1100" dirty="0"/>
          </a:p>
        </p:txBody>
      </p:sp>
      <p:sp>
        <p:nvSpPr>
          <p:cNvPr id="27" name="Text 24"/>
          <p:cNvSpPr txBox="1"/>
          <p:nvPr/>
        </p:nvSpPr>
        <p:spPr>
          <a:xfrm>
            <a:off x="329184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 أَفْضَلُ كِتَابٍ.</a:t>
            </a:r>
            <a:endParaRPr lang="ar-SA" sz="24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afʿal + indefinite noun</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is the fastest student in the team.</a:t>
            </a:r>
            <a:endParaRPr lang="en-US" sz="1100" dirty="0"/>
          </a:p>
        </p:txBody>
      </p:sp>
      <p:sp>
        <p:nvSpPr>
          <p:cNvPr id="33" name="Text 30"/>
          <p:cNvSpPr txBox="1"/>
          <p:nvPr/>
        </p:nvSpPr>
        <p:spPr>
          <a:xfrm>
            <a:off x="329184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 أَسْرَعُ طَالِبَةٍ فِي الْفَرِيقِ.</a:t>
            </a:r>
            <a:endParaRPr lang="ar-SA" sz="2400" dirty="0"/>
          </a:p>
        </p:txBody>
      </p:sp>
      <p:sp>
        <p:nvSpPr>
          <p:cNvPr id="34" name="Text 31"/>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afʿal + indefinite noun</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work is more important.</a:t>
            </a:r>
            <a:endParaRPr lang="en-US" sz="1100" dirty="0"/>
          </a:p>
        </p:txBody>
      </p:sp>
      <p:sp>
        <p:nvSpPr>
          <p:cNvPr id="39" name="Text 36"/>
          <p:cNvSpPr txBox="1"/>
          <p:nvPr/>
        </p:nvSpPr>
        <p:spPr>
          <a:xfrm>
            <a:off x="329184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 الْعَمَلُ أَكْثَرُ أَهَمِّيَّةً.</a:t>
            </a:r>
            <a:endParaRPr lang="ar-SA" sz="2400" dirty="0"/>
          </a:p>
        </p:txBody>
      </p:sp>
      <p:sp>
        <p:nvSpPr>
          <p:cNvPr id="40" name="Text 37"/>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 noun in -an</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is more cooperative than her colleague.</a:t>
            </a:r>
            <a:endParaRPr lang="en-US" sz="1100" dirty="0"/>
          </a:p>
        </p:txBody>
      </p:sp>
      <p:sp>
        <p:nvSpPr>
          <p:cNvPr id="43" name="Text 40"/>
          <p:cNvSpPr txBox="1"/>
          <p:nvPr/>
        </p:nvSpPr>
        <p:spPr>
          <a:xfrm>
            <a:off x="329184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 أَكْثَرُ تَعَاوُنًا مِنْ زَمِيلَتِهَا.</a:t>
            </a:r>
            <a:endParaRPr lang="ar-SA" sz="2400" dirty="0"/>
          </a:p>
        </p:txBody>
      </p:sp>
      <p:sp>
        <p:nvSpPr>
          <p:cNvPr id="44" name="Text 41"/>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 noun in -an</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major cities (kubrā)</a:t>
            </a:r>
            <a:endParaRPr lang="en-US" sz="1100" dirty="0"/>
          </a:p>
        </p:txBody>
      </p:sp>
      <p:sp>
        <p:nvSpPr>
          <p:cNvPr id="47" name="Text 44"/>
          <p:cNvSpPr txBox="1"/>
          <p:nvPr/>
        </p:nvSpPr>
        <p:spPr>
          <a:xfrm>
            <a:off x="329184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الْمُدُنُ الْكُبْرَى</a:t>
            </a:r>
            <a:endParaRPr lang="ar-SA" sz="2400" dirty="0"/>
          </a:p>
        </p:txBody>
      </p:sp>
      <p:sp>
        <p:nvSpPr>
          <p:cNvPr id="48" name="Text 45"/>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recognition: feminine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not every adjective has a simple afʿal (long adjectives, colours). Then use akthar / aqall + a noun ending in -an.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of </a:t>
            </a:r>
            <a:pPr algn="l" indent="0" marL="0">
              <a:buNone/>
            </a:pPr>
            <a:r>
              <a:rPr lang="ar-SA" altLang="en-US" sz="1650" b="1" dirty="0">
                <a:solidFill>
                  <a:srgbClr val="1B3B6F"/>
                </a:solidFill>
                <a:latin typeface="Amiri" pitchFamily="2" charset="-78"/>
                <a:cs typeface="Amiri" pitchFamily="2" charset="-78"/>
              </a:rPr>
              <a:t>صَغِيرٌ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صُغْرَى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أَصْغَرَةٌ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أَصْغَرُ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“Fatima is older than Zainab.”</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فَاطِمَةُ أَكْبَرُ مِنْ زَيْنَبَ.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فَاطِمَةُ أَكْبَرَةُ مِنْ زَيْنَبَ.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فَاطِمَةُ كَبِيرَةٌ زَيْنَبَ.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longest river”.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النَّهْرُ أَطْوَلُ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أَطْوَلُ نَهْرٍ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أَطْوَلُ مِنْ نَهْرٍ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useful” (using akthar).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فَائِدَةً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مُفِيدٌ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أَمْفَدُ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of </a:t>
            </a:r>
            <a:pPr algn="l" indent="0" marL="0">
              <a:buNone/>
            </a:pPr>
            <a:r>
              <a:rPr lang="ar-SA" altLang="en-US" sz="1650" b="1" dirty="0">
                <a:solidFill>
                  <a:srgbClr val="1B3B6F"/>
                </a:solidFill>
                <a:latin typeface="Amiri" pitchFamily="2" charset="-78"/>
                <a:cs typeface="Amiri" pitchFamily="2" charset="-78"/>
              </a:rPr>
              <a:t>صَغِيرٌ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صُغْرَى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أَصْغَرَةٌ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أَصْغَرُ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Pattern afʿal.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“Fatima is older than Zainab.”</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فَاطِمَةُ أَكْبَرُ مِنْ زَيْنَبَ.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فَاطِمَةُ أَكْبَرَةُ مِنْ زَيْنَبَ.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فَاطِمَةُ كَبِيرَةٌ زَيْنَبَ.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Fixed form + min.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longest river”.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النَّهْرُ أَطْوَلُ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أَطْوَلُ نَهْرٍ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أَطْوَلُ مِنْ نَهْرٍ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 + indefinite noun.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useful” (using akthar).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أَكْثَرُ فَائِدَةً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مُفِيدٌ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أَمْفَدُ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Akthar + noun in -an.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and rank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Adjective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سَرِيعٌ</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root s-r-ʿ.</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Comparative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أَسْرَعُ</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a-s-r-a-ʿ.</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الطَّائِرَةُ أَسْرَعُ مِنَ الْقِطَارِ</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fixed + min.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Superlative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الطَّائِرَةُ أَسْرَعُ وَسِيلَةٍ</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afʿal + noun.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COMPARATIVE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SUPERLATIVE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الطَّائِرَةُ </a:t>
            </a:r>
            <a:pPr rtl="1" algn="r" indent="0" marL="0">
              <a:buNone/>
            </a:pPr>
            <a:r>
              <a:rPr lang="ar-SA" altLang="en-US" sz="2600" b="1" dirty="0">
                <a:solidFill>
                  <a:srgbClr val="0E7C86"/>
                </a:solidFill>
                <a:latin typeface="Amiri" pitchFamily="2" charset="-78"/>
                <a:cs typeface="Amiri" pitchFamily="2" charset="-78"/>
              </a:rPr>
              <a:t>أَسْرَعُ</a:t>
            </a:r>
            <a:pPr rtl="1" algn="r" indent="0" marL="0">
              <a:buNone/>
            </a:pPr>
            <a:r>
              <a:rPr lang="ar-SA" altLang="en-US" sz="2600" b="1" dirty="0">
                <a:solidFill>
                  <a:srgbClr val="1B3B6F"/>
                </a:solidFill>
                <a:latin typeface="Amiri" pitchFamily="2" charset="-78"/>
                <a:cs typeface="Amiri" pitchFamily="2" charset="-78"/>
              </a:rPr>
              <a:t> مِنَ الْقِطَارِ، وَالْقِطَارُ </a:t>
            </a:r>
            <a:pPr rtl="1" algn="r" indent="0" marL="0">
              <a:buNone/>
            </a:pPr>
            <a:r>
              <a:rPr lang="ar-SA" altLang="en-US" sz="2600" b="1" dirty="0">
                <a:solidFill>
                  <a:srgbClr val="0E7C86"/>
                </a:solidFill>
                <a:latin typeface="Amiri" pitchFamily="2" charset="-78"/>
                <a:cs typeface="Amiri" pitchFamily="2" charset="-78"/>
              </a:rPr>
              <a:t>أَسْرَعُ</a:t>
            </a:r>
            <a:pPr rtl="1" algn="r" indent="0" marL="0">
              <a:buNone/>
            </a:pPr>
            <a:r>
              <a:rPr lang="ar-SA" altLang="en-US" sz="2600" b="1" dirty="0">
                <a:solidFill>
                  <a:srgbClr val="1B3B6F"/>
                </a:solidFill>
                <a:latin typeface="Amiri" pitchFamily="2" charset="-78"/>
                <a:cs typeface="Amiri" pitchFamily="2" charset="-78"/>
              </a:rPr>
              <a:t> مِنَ الْحَافِلَةِ؛ إِذَنِ الطَّائِرَةُ </a:t>
            </a:r>
            <a:pPr rtl="1" algn="r" indent="0" marL="0">
              <a:buNone/>
            </a:pPr>
            <a:r>
              <a:rPr lang="ar-SA" altLang="en-US" sz="2600" b="1" dirty="0">
                <a:solidFill>
                  <a:srgbClr val="D6336C"/>
                </a:solidFill>
                <a:latin typeface="Amiri" pitchFamily="2" charset="-78"/>
                <a:cs typeface="Amiri" pitchFamily="2" charset="-78"/>
              </a:rPr>
              <a:t>أَسْرَعُ وَسِيلَةِ</a:t>
            </a:r>
            <a:pPr rtl="1" algn="r" indent="0" marL="0">
              <a:buNone/>
            </a:pPr>
            <a:r>
              <a:rPr lang="ar-SA" altLang="en-US" sz="2600" b="1" dirty="0">
                <a:solidFill>
                  <a:srgbClr val="1B3B6F"/>
                </a:solidFill>
                <a:latin typeface="Amiri" pitchFamily="2" charset="-78"/>
                <a:cs typeface="Amiri" pitchFamily="2" charset="-78"/>
              </a:rPr>
              <a:t> نَقْلٍ.</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plane is faster than the train, and the train is faster than the bus; so the plane is the fastest means of transport.</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أَخِي أَكْبَرُ مِنِّي.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brother is older than me.</a:t>
            </a:r>
            <a:endParaRPr lang="en-US" sz="1250" dirty="0"/>
          </a:p>
          <a:p>
            <a:pPr indent="0" marL="0">
              <a:buNone/>
            </a:pPr>
            <a:r>
              <a:rPr lang="en-US" sz="1050" i="1" dirty="0">
                <a:solidFill>
                  <a:srgbClr val="8A6D1E"/>
                </a:solidFill>
                <a:latin typeface="Calibri" pitchFamily="34" charset="0"/>
                <a:cs typeface="Amiri" pitchFamily="2" charset="-78"/>
              </a:rPr>
              <a:t>min + -nī = than 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لَنْدَن أَكْبَرُ مَدِينَةٍ فِي بِرِيطَانِيَا.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London is the biggest city in Britain.</a:t>
            </a:r>
            <a:endParaRPr lang="en-US" sz="1250" dirty="0"/>
          </a:p>
          <a:p>
            <a:pPr indent="0" marL="0">
              <a:buNone/>
            </a:pPr>
            <a:r>
              <a:rPr lang="en-US" sz="1050" i="1" dirty="0">
                <a:solidFill>
                  <a:srgbClr val="8A6D1E"/>
                </a:solidFill>
                <a:latin typeface="Calibri" pitchFamily="34" charset="0"/>
                <a:cs typeface="Amiri" pitchFamily="2" charset="-78"/>
              </a:rPr>
              <a:t>Afʿal + indefinite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الرِّيَاضِيَّاتُ هِيَ الْأَصْعَبُ.</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Maths is the hardest.</a:t>
            </a:r>
            <a:endParaRPr lang="en-US" sz="1250" dirty="0"/>
          </a:p>
          <a:p>
            <a:pPr indent="0" marL="0">
              <a:buNone/>
            </a:pPr>
            <a:r>
              <a:rPr lang="en-US" sz="1050" i="1" dirty="0">
                <a:solidFill>
                  <a:srgbClr val="8A6D1E"/>
                </a:solidFill>
                <a:latin typeface="Calibri" pitchFamily="34" charset="0"/>
                <a:cs typeface="Amiri" pitchFamily="2" charset="-78"/>
              </a:rPr>
              <a:t>al- + afʿal.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الْقِرَاءَةُ أَكْثَرُ فَائِدَةً مِنَ الْأَلْعَابِ.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Reading is more useful than games.</a:t>
            </a:r>
            <a:endParaRPr lang="en-US" sz="1250" dirty="0"/>
          </a:p>
          <a:p>
            <a:pPr indent="0" marL="0">
              <a:buNone/>
            </a:pPr>
            <a:r>
              <a:rPr lang="en-US" sz="1050" i="1" dirty="0">
                <a:solidFill>
                  <a:srgbClr val="8A6D1E"/>
                </a:solidFill>
                <a:latin typeface="Calibri" pitchFamily="34" charset="0"/>
                <a:cs typeface="Amiri" pitchFamily="2" charset="-78"/>
              </a:rPr>
              <a:t>akthar + noun in -an.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AFʿAL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the comparative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كَوِّنْ أَفْعَلَ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Comparative</a:t>
            </a:r>
            <a:endParaRPr lang="en-US" sz="1100" dirty="0"/>
          </a:p>
        </p:txBody>
      </p:sp>
      <p:sp>
        <p:nvSpPr>
          <p:cNvPr id="18" name="Text 15"/>
          <p:cNvSpPr txBox="1"/>
          <p:nvPr/>
        </p:nvSpPr>
        <p:spPr>
          <a:xfrm>
            <a:off x="3273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12480" y="2267712"/>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أَنَا أَقْصَرُ مِنْ أَبِي.</a:t>
            </a:r>
            <a:endParaRPr lang="ar-SA" sz="2000" dirty="0"/>
          </a:p>
        </p:txBody>
      </p:sp>
      <p:sp>
        <p:nvSpPr>
          <p:cNvPr id="22" name="Text 19"/>
          <p:cNvSpPr txBox="1"/>
          <p:nvPr/>
        </p:nvSpPr>
        <p:spPr>
          <a:xfrm>
            <a:off x="566928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أَقْصَرُ</a:t>
            </a:r>
            <a:endParaRPr lang="ar-SA" sz="2400" dirty="0"/>
          </a:p>
        </p:txBody>
      </p:sp>
      <p:sp>
        <p:nvSpPr>
          <p:cNvPr id="23" name="Text 20"/>
          <p:cNvSpPr txBox="1"/>
          <p:nvPr/>
        </p:nvSpPr>
        <p:spPr>
          <a:xfrm>
            <a:off x="33101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a:t>
            </a:r>
            <a:endParaRPr lang="en-US" sz="11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قَصِيرٌ</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412480" y="3004718"/>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الرَّبِيعُ أَجْمَلُ فَصْلٍ.</a:t>
            </a:r>
            <a:endParaRPr lang="ar-SA" sz="2000" dirty="0"/>
          </a:p>
        </p:txBody>
      </p:sp>
      <p:sp>
        <p:nvSpPr>
          <p:cNvPr id="29" name="Text 26"/>
          <p:cNvSpPr txBox="1"/>
          <p:nvPr/>
        </p:nvSpPr>
        <p:spPr>
          <a:xfrm>
            <a:off x="566928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أَجْمَلُ</a:t>
            </a:r>
            <a:endParaRPr lang="ar-SA" sz="2400" dirty="0"/>
          </a:p>
        </p:txBody>
      </p:sp>
      <p:sp>
        <p:nvSpPr>
          <p:cNvPr id="30" name="Text 27"/>
          <p:cNvSpPr txBox="1"/>
          <p:nvPr/>
        </p:nvSpPr>
        <p:spPr>
          <a:xfrm>
            <a:off x="33101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beautiful</a:t>
            </a:r>
            <a:endParaRPr lang="en-US" sz="11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جَمِيلٌ</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412480" y="3741725"/>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الْعَرَبِيَّةُ أَسْهَلُ مِمَّا أَظُنُّ!</a:t>
            </a:r>
            <a:endParaRPr lang="ar-SA" sz="2000" dirty="0"/>
          </a:p>
        </p:txBody>
      </p:sp>
      <p:sp>
        <p:nvSpPr>
          <p:cNvPr id="36" name="Text 33"/>
          <p:cNvSpPr txBox="1"/>
          <p:nvPr/>
        </p:nvSpPr>
        <p:spPr>
          <a:xfrm>
            <a:off x="566928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أَسْهَلُ</a:t>
            </a:r>
            <a:endParaRPr lang="ar-SA" sz="2400" dirty="0"/>
          </a:p>
        </p:txBody>
      </p:sp>
      <p:sp>
        <p:nvSpPr>
          <p:cNvPr id="37" name="Text 34"/>
          <p:cNvSpPr txBox="1"/>
          <p:nvPr/>
        </p:nvSpPr>
        <p:spPr>
          <a:xfrm>
            <a:off x="33101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easy</a:t>
            </a:r>
            <a:endParaRPr lang="en-US" sz="1100" dirty="0"/>
          </a:p>
        </p:txBody>
      </p:sp>
      <p:sp>
        <p:nvSpPr>
          <p:cNvPr id="38" name="Text 35"/>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سَهْلٌ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412480" y="4478731"/>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الْمَسْجِدُ أَقْرَبُ مِنَ السُّوقِ.</a:t>
            </a:r>
            <a:endParaRPr lang="ar-SA" sz="2000" dirty="0"/>
          </a:p>
        </p:txBody>
      </p:sp>
      <p:sp>
        <p:nvSpPr>
          <p:cNvPr id="43" name="Text 40"/>
          <p:cNvSpPr txBox="1"/>
          <p:nvPr/>
        </p:nvSpPr>
        <p:spPr>
          <a:xfrm>
            <a:off x="566928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أَقْرَبُ</a:t>
            </a:r>
            <a:endParaRPr lang="ar-SA" sz="2400" dirty="0"/>
          </a:p>
        </p:txBody>
      </p:sp>
      <p:sp>
        <p:nvSpPr>
          <p:cNvPr id="44" name="Text 41"/>
          <p:cNvSpPr txBox="1"/>
          <p:nvPr/>
        </p:nvSpPr>
        <p:spPr>
          <a:xfrm>
            <a:off x="33101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a:t>
            </a:r>
            <a:endParaRPr lang="en-US" sz="1100" dirty="0"/>
          </a:p>
        </p:txBody>
      </p:sp>
      <p:sp>
        <p:nvSpPr>
          <p:cNvPr id="45" name="Text 42"/>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قَرِيبٌ</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412480" y="5215738"/>
            <a:ext cx="32278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هَاتِفِي أَحْدَثُ هَاتِفٍ.</a:t>
            </a:r>
            <a:endParaRPr lang="ar-SA" sz="2000" dirty="0"/>
          </a:p>
        </p:txBody>
      </p:sp>
      <p:sp>
        <p:nvSpPr>
          <p:cNvPr id="48" name="Text 45"/>
          <p:cNvSpPr txBox="1"/>
          <p:nvPr/>
        </p:nvSpPr>
        <p:spPr>
          <a:xfrm>
            <a:off x="566928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أَحْدَثُ</a:t>
            </a:r>
            <a:endParaRPr lang="ar-SA" sz="2400" dirty="0"/>
          </a:p>
        </p:txBody>
      </p:sp>
      <p:sp>
        <p:nvSpPr>
          <p:cNvPr id="49" name="Text 46"/>
          <p:cNvSpPr txBox="1"/>
          <p:nvPr/>
        </p:nvSpPr>
        <p:spPr>
          <a:xfrm>
            <a:off x="33101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new</a:t>
            </a:r>
            <a:endParaRPr lang="en-US" sz="1100" dirty="0"/>
          </a:p>
        </p:txBody>
      </p:sp>
      <p:sp>
        <p:nvSpPr>
          <p:cNvPr id="50" name="Text 47"/>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جَدِيدٌ</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columns 3 and 4; students say the comparative, then make their own sentence.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COMPARING TWO, OR THE MOST OF ALL?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Comparative or superlative?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مُقَارَنَةٌ أَمْ 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أَكْبَرُ مِنْ أَخِي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أَكْبَرُ مَدِينَةٍ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أَسْرَعُ مِنَ الْقِطَارِ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الْأَسْرَعُ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أَطْوَلُ مِنِّي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أَطْوَلُ نَهْرٍ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أَفْضَلُ مِنْ أَمْسِ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الْأَفْضَلُ فِي الصَّفِّ</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Comparative (…er than)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Superlative (the …est)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Comparative (…er than)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أَكْبَرُ مِنْ أَخِي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أَسْرَعُ مِنَ الْقِطَارِ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أَطْوَلُ مِنِّي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أَفْضَلُ مِنْ أَمْسِ</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Superlative (the …est)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أَكْبَرُ مَدِينَةٍ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الْأَسْرَعُ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أَطْوَلُ نَهْرٍ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الْأَفْضَلُ فِي الصَّفِّ</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أُخْتِي أَطْوَلَةُ مِنِّي.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afʿal take </a:t>
            </a:r>
            <a:pPr algn="l" indent="0" marL="0">
              <a:buNone/>
            </a:pPr>
            <a:r>
              <a:rPr lang="ar-SA" altLang="en-US" sz="1700" dirty="0">
                <a:solidFill>
                  <a:srgbClr val="5A6472"/>
                </a:solidFill>
                <a:latin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الْقِطَارُ أَسْرَعُ الْحَافِلَةِ.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is “than”?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أَفْضَلُ الْكِتَابِ.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Definite or indefinite?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أُخْتِي أَطْوَلَةُ مِنِّي.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أُخْتِي أَطْوَلُ مِنِّي.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comparative never takes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الْقِطَارُ أَسْرَعُ الْحَافِلَةِ.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الْقِطَارُ أَسْرَعُ مِنَ الْحَافِلَةِ.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items → do not forget min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أَفْضَلُ الْكِتَابِ.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هَذَا أَفْضَلُ كِتَابٍ.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best + singular noun: indefinite.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sea is bigger than the lake.”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الْبَحْرُ كَبِيرٌ مِنَ الْبُحَيْرَةِ.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الْبَحْرُ الْأَكْبَرُ الْبُحَيْرَةِ.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الْبَحْرُ أَكْبَرُ مِنَ الْبُحَيْرَةِ.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the best student.”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أَفْضَلَةُ طَالِبَةٍ.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أَفْضَلُ طَالِبَةٍ.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الطَّالِبَةُ أَفْضَلُ.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“Summer is hotter than spring.”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الصَّيْفُ أَحْرَرُ مِنَ الرَّبِيعِ.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الصَّيْفُ أَحَرُّ مِنَ الرَّبِيعِ.</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الصَّيْفُ حَارٌّ مِنَ الرَّبِيعِ.</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“English is less difficult.”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الْإِنْجِلِيزِيَّةُ أَقَلُّ صَعْبَةٌ.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الْإِنْجِلِيزِيَّةُ أَقَلَّةُ صُعُوبَةٍ.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الْإِنْجِلِيزِيَّةُ أَقَلُّ صُعُوبَةً.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sea is bigger than the lake.”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الْبَحْرُ كَبِيرٌ مِنَ الْبُحَيْرَةِ.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الْبَحْرُ الْأَكْبَرُ الْبُحَيْرَةِ.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الْبَحْرُ أَكْبَرُ مِنَ الْبُحَيْرَةِ.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 + min.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the best student.”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أَفْضَلَةُ طَالِبَةٍ.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أَفْضَلُ طَالِبَةٍ.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الطَّالِبَةُ أَفْضَلُ.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 + indefinite noun — no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on afʿal.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“Summer is hotter than spring.”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الصَّيْفُ أَحْرَرُ مِنَ الرَّبِيعِ.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الصَّيْفُ أَحَرُّ مِنَ الرَّبِيعِ.</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الصَّيْفُ حَارٌّ مِنَ الرَّبِيعِ.</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Doubled root → aḥarr.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“English is less difficult.”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الْإِنْجِلِيزِيَّةُ أَقَلُّ صَعْبَةٌ.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الْإِنْجِلِيزِيَّةُ أَقَلَّةُ صُعُوبَةٍ.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الْإِنْجِلِيزِيَّةُ أَقَلُّ صُعُوبَةً.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Aqall + noun in -an.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city is best?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مَدِينَتِي أَمَاكِنُ جَمِيلَةٌ وَشَوَارِعُ وَاسِعَةٌ. هَذِهِ الْمَدْرَسَةُ الْجَدِيدَةُ قَرِيبَةٌ، وَذَلِكَ الْمَتْحَفُ الْقَدِيمُ مُثِيرٌ لِلِاهْتِمَامِ. مَدِينَتِي أَصْغَرُ مِنَ الْعَاصِمَةِ، لَكِنَّهَا أَهْدَأُ وَأَنْظَفُ. الْحَيَاةُ فِي الْعَاصِمَةِ أَكْثَرُ إِثَارَةً، وَلَكِنَّ مَدِينَتِي أَجْمَلُ مَكَانٍ فِي رَأْيِي.</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مُثِيرٌ لِلِاهْتِمَامِ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الْعَاصِمَةِ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capital</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أَهْدَأُ</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quieter</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أَنْظَفُ</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cleaner</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إِثَارَةً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excitement</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رَأْيِي</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my opinion</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bigger, the writer’s city or the capital?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the same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أَصْغَرُ</a:t>
            </a:r>
            <a:pPr algn="l" indent="0" marL="0">
              <a:buNone/>
            </a:pPr>
            <a:r>
              <a:rPr lang="en-US" sz="1250" b="1" dirty="0">
                <a:solidFill>
                  <a:srgbClr val="1B3B6F"/>
                </a:solidFill>
                <a:latin typeface="Calibri" pitchFamily="34" charset="0"/>
                <a:cs typeface="Amiri" pitchFamily="2" charset="-78"/>
              </a:rPr>
              <a:t> and not with </a:t>
            </a:r>
            <a:pPr algn="l" indent="0" marL="0">
              <a:buNone/>
            </a:pPr>
            <a:r>
              <a:rPr lang="ar-SA" altLang="en-US" sz="1650" b="1" dirty="0">
                <a:solidFill>
                  <a:srgbClr val="1B3B6F"/>
                </a:solidFill>
                <a:latin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though city is feminine?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City is masculine.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comparative is fixed.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أَكْثَرُ إِثَارَةً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exciting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exciting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most exciting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superlative?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أَصْغَرُ مِنَ الْعَاصِمَةِ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أَجْمَلُ مَكَانٍ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أَهْدَأُ وَأَنْظَفُ</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bigger, the writer’s city or the capital?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city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capital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the same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أَصْغَرُ مِنَ الْعَاصِمَةِ.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أَصْغَرُ</a:t>
            </a:r>
            <a:pPr algn="l" indent="0" marL="0">
              <a:buNone/>
            </a:pPr>
            <a:r>
              <a:rPr lang="en-US" sz="1250" b="1" dirty="0">
                <a:solidFill>
                  <a:srgbClr val="1B3B6F"/>
                </a:solidFill>
                <a:latin typeface="Calibri" pitchFamily="34" charset="0"/>
                <a:cs typeface="Amiri" pitchFamily="2" charset="-78"/>
              </a:rPr>
              <a:t> and not with </a:t>
            </a:r>
            <a:pPr algn="l" indent="0" marL="0">
              <a:buNone/>
            </a:pPr>
            <a:r>
              <a:rPr lang="ar-SA" altLang="en-US" sz="1650" b="1" dirty="0">
                <a:solidFill>
                  <a:srgbClr val="1B3B6F"/>
                </a:solidFill>
                <a:latin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 though city is feminine?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City is masculine.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comparative is fixed.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clinic.</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أَكْثَرُ إِثَارَةً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more exciting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exciting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most exciting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Analytical comparison.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superlative?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أَصْغَرُ مِنَ الْعَاصِمَةِ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أَجْمَلُ مَكَانٍ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أَهْدَأُ وَأَنْظَفُ</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 + indefinite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compare and choose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بَيْنَكَ وَبَيْنَ أَخِيكَ أَوْ صَدِيقِكَ.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أَفْضَلُ مَادَّةٍ فِي رَأْيِكَ؟ 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الْمَدِينَةُ أَمِ الرِّيفُ: أَيُّهُمَا أَفْضَلُ لِلْعَيْشِ؟</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أَنَا ___ مِنْ أَخِي، وَأَخِي ___ مِنِّي.</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أَفْضَلُ مَادَّةٍ عِنْدِي ___ لِأَنَّهَا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الرِّيفُ أَهْدَأُ، لَكِنَّ الْمَدِينَةَ أَكْثَرُ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أَفْضَلُ فَصْلٍ فِي رَأْيِكِ؟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best season, in your opinion?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الرَّبِيعُ أَفْضَلُ فَصْلٍ، لِأَنَّهُ أَجْمَلُ مِنَ الشِّتَاءِ وَأَقَلُّ حَرَارَةً مِنَ الصَّيْفِ.</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Spring is the best season, because it is more beautiful than winter and less hot than summer.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members of your family.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afʿal + min; no ة on afʿal.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superlatives: al-afḍal and afḍalu +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My best friend, the biggest room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city or countryside? Use akthar / aqall + noun.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more peaceful, less expensive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مَادَّةٍ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best subject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أَكْبَرُ مَدِينَةٍ فِي بَلَدِي.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the biggest city in my country.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أَكْثَرُ أَهَمِّيَّةً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more important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أَفْضَلُ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the best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أَطْوَلُ مِنْ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taller than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أُخْتِي ______ مِنِّي.</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is younger than me.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الْقِطَارُ أَسْرَعُ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train is faster than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أَبِي أَكْبَرُ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is older than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أَكْبَرُ  ·  أَصْغَرُ  ·  أَطْوَلُ  ·  أَقْصَرُ  ·  أَسْرَعُ  ·  أَجْمَلُ  ·  أَسْهَلُ  ·  أَصْعَبُ  ·  أَفْضَلُ  ·  أَحَرُّ  ·  أَغْلَى  ·  أَكْثَرُ  ·  أَقَلُّ  ·  مِنْ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comparing two places, people or experiences,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comparatives with min.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comparative with a feminine subject (no </a:t>
            </a:r>
            <a:pPr algn="l" indent="0" marL="0">
              <a:buNone/>
            </a:pPr>
            <a:r>
              <a:rPr lang="ar-SA" altLang="en-US" sz="1550" dirty="0">
                <a:solidFill>
                  <a:srgbClr val="1F2A37"/>
                </a:solidFill>
                <a:latin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al-afʿal superlative.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afʿal + indefinite noun superlative.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akthar / aqall + noun in -an.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أَكْبَرُ مِنْ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bigger than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مَكَانٍ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best place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الْأَجْمَلُ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 it is the most beautiful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أَكْثَرُ هُدُوءًا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peaceful</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أَقَلُّ ازْدِحَامًا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less crowded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أَغْلَى مِنْ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expensive than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عِشْتُ فِي الْمَدِينَةِ وَفِي الرِّيفِ. الْمَدِينَةُ أَكْبَرُ وَأَسْرَعُ، وَالْمَحَلَّاتُ فِيهَا أَكْثَرُ. لَكِنَّ الرِّيفَ أَهْدَأُ وَأَنْظَفُ، وَالْهَوَاءُ فِيهِ أَنْقَى. الْحَيَاةُ فِي الرِّيفِ أَقَلُّ ازْدِحَامًا وَأَقَلُّ تَكْلِفَةً. فِي رَأْيِي، الرِّيفُ أَفْضَلُ مَكَانٍ لِلْعَائِلَاتِ، أَمَّا الْمَدِينَةُ فَهِيَ الْأَفْضَلُ لِلطُّلَّابِ.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have lived in the city and in the countryside. The city is bigger and faster, and it has more shops. But the countryside is quieter and cleaner, and the air there is purer. Life in the countryside is less crowded and less expensive. In my opinion, the countryside is the best place for families, while the city is the best for students.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comparatives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 subject, no 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superlatives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aqall + noun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comparatives use afʿal + min.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never added </a:t>
            </a:r>
            <a:pPr algn="l" indent="0" marL="0">
              <a:buNone/>
            </a:pPr>
            <a:r>
              <a:rPr lang="ar-SA" altLang="en-US" sz="1700" dirty="0">
                <a:solidFill>
                  <a:srgbClr val="1F2A37"/>
                </a:solidFill>
                <a:latin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to afʿal.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both superlative routes.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afʿal in a superlative, the noun is indefinite.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akthar / aqall + a noun in -an.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of </a:t>
            </a:r>
            <a:pPr algn="l" indent="0" marL="0">
              <a:buNone/>
            </a:pPr>
            <a:r>
              <a:rPr lang="ar-SA" altLang="en-US" sz="1650" b="1" dirty="0">
                <a:solidFill>
                  <a:srgbClr val="1B3B6F"/>
                </a:solidFill>
                <a:latin typeface="Amiri" pitchFamily="2" charset="-78"/>
                <a:cs typeface="Amiri" pitchFamily="2" charset="-78"/>
              </a:rPr>
              <a:t>قَرِيبٌ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أَقْرَبُ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قُرْبَى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أَقْرَبَةٌ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“Sara is faster than Huda.”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سَارَةُ أَسْرَعَةُ مِنْ هُدَى.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سَارَةُ أَسْرَعُ مِنْ هُدَى.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سَارَةُ سَرِيعَةٌ هُدَى.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beautiful mosque”.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أَجْمَلُ مَسْجِدٍ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أَجْمَلُ الْمَسْجِدِ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الْمَسْجِدُ أَجْمَلُ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of </a:t>
            </a:r>
            <a:pPr algn="l" indent="0" marL="0">
              <a:buNone/>
            </a:pPr>
            <a:r>
              <a:rPr lang="ar-SA" altLang="en-US" sz="1650" b="1" dirty="0">
                <a:solidFill>
                  <a:srgbClr val="1B3B6F"/>
                </a:solidFill>
                <a:latin typeface="Amiri" pitchFamily="2" charset="-78"/>
                <a:cs typeface="Amiri" pitchFamily="2" charset="-78"/>
              </a:rPr>
              <a:t>قَرِيبٌ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أَقْرَبُ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قُرْبَى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أَقْرَبَةٌ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Pattern afʿal.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“Sara is faster than Huda.”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سَارَةُ أَسْرَعَةُ مِنْ هُدَى.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سَارَةُ أَسْرَعُ مِنْ هُدَى.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سَارَةُ سَرِيعَةٌ هُدَى.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Fixed form + min.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beautiful mosque”.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أَجْمَلُ مَسْجِدٍ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أَجْمَلُ الْمَسْجِدِ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الْمَسْجِدُ أَجْمَلُ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 + indefinite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GM-ADJ-06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GM-ADJ-07: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GM-ADJ-07 · Demonstratives and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this (m.)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this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ذَلِكَ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that (m.)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تِلْكَ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that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هَؤُلَاءِ</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these (people)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the difference between “this book” and “This is a book”? Try both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هَذَا كِتَابٌ · هَذَا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comparative sentences about your family.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top-five list of the best things in your town with superlatives.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city or countryside?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GM-ADJ-07 · Demonstratives and Agreement</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أَسْمَاءُ الْإِشَارَةِ وَالْمُطَابَقَةُ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afʿal + min = “…er than” · it never takes </a:t>
            </a:r>
            <a:pPr algn="l" indent="0" marL="0">
              <a:buNone/>
            </a:pPr>
            <a:r>
              <a:rPr lang="ar-SA" altLang="en-US" sz="1700" b="1" dirty="0">
                <a:solidFill>
                  <a:srgbClr val="FFFFFF"/>
                </a:solidFill>
                <a:latin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 the …est = al-afʿal or afʿalu + indefinite noun · long adjectives: akthar / aqall + noun in -an.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GM-ADJ-06 · Comparative and Superlative</dc:title>
  <dc:subject>PptxGenJS Presentation</dc:subject>
  <dc:creator>Al Madina Online School · Arabic Department</dc:creator>
  <cp:lastModifiedBy>Al Madina Online School · Arabic Department</cp:lastModifiedBy>
  <cp:revision>1</cp:revision>
  <dcterms:created xsi:type="dcterms:W3CDTF">2026-10-11T06:42:02Z</dcterms:created>
  <dcterms:modified xsi:type="dcterms:W3CDTF">2026-10-11T06:42:02Z</dcterms:modified>
</cp:coreProperties>
</file>