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GM-ADJ-04 (“Position and Full Adjective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adjective AFTER the noun; al- on both or neither (website clinic). Develop: phrase vs sentence; the four-feature checklist. Stretch: case copying (‑u / ‑a / ‑i), possessive nouns + al- adjective (بَيْتِي الْكَبِيرُ), the dual (الطَّالِبَانِ الْمُجْتَهِدَانِ).
• Website guidance: for Core, focus first on gender, number and definiteness; case is developed in Stretch.
• Use a four-box checklist on screen for every example: G · N · D · C. Students tick each box aloud.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words prepared at the end of GM-ADJ-03.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Adjective AFTER the noun. It copies gender, number, definiteness — and the case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(2 min) — website “Adjective after noun”. Say each English phrase, students rebuild it in Arabic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 website “Four-part agreement”. Tick G-N-D-C aloud for each row. Remind students: non-human plurals use feminine singular (ADJ-02) — that is the one exception to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(3 min) — website “Phrase versus sentence”, plus two teacher-added Stretch rows. Common error: بَيْتِي كَبِيرٌ means “my house IS big” — fine as a sentence, but not “my big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Website model: رَأَيْتُ السَّيَّارَةَ السَّرِيعَةَ. Build it feature by feature. Then show the -i pair after أَمَامَ and the possessive noun صَاحِبُهَا + al- adjective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S. Pairs are deliberately minimal — the only difference is al- on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S. Pairs are deliberately minimal — the only difference is al- on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Stretch focus). Core students say the phrase correctly (G-N-D); Stretch students add the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draw an arrow to its noun, and label the agreement feature (G · N · D · C).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Listen for the case on both words in the Stretch model (-a, -i,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(GM-ADJ-05 · Negative Description with غَيْر) will spend class time USING this language, so students prepare it tonight — short, simple, easy to access (school guidance: “Simple, Short, Interesting, Relevant, Easy to access”). The five words prepare GM-ADJ-05 (website Adjectives lesson 5: negative description with ghayr).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Position and Full Adjective Agreement</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مَوْقِعُ الصِّفَةِ وَالْمُطَابَقَةُ الْكَامِلَةُ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adjective follows its noun and copies FOUR things: gender, number, definiteness and case. Core: gender, number and al-. Stretch: the case ending too — the hard-working student, I saw the hard-working student, with the hard-working student.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Position; four-part agreement; phrase vs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Fix the order, copy the case, build phrases.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الْجَدِيدَةُ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الْجَدِيدَةُ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جَدِيدَةٌ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 is new”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جَدِيدَةٌ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الْجَدِيدَةُ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جَدِيدَةٌ الْمَدْرَسَةُ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adjective normally stand?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the noun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at sentence end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 noun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“with the diligent student”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الطَّالِبُ الْمُجْتَهِدُ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الطَّالِبَ الْمُجْتَهِدَ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الطَّالِبِ الْمُجْتَهِدِ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الْجَدِيدَةُ الْمَدْرَسَةُ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الْمَدْرَسَةُ الْجَدِيدَةُ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الْمَدْرَسَةُ جَدِيدَةٌ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noun and definite adjective.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 is new”</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الْمَدْرَسَةُ جَدِيدَةٌ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الْمَدْرَسَةُ الْجَدِيدَةُ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جَدِيدَةٌ الْمَدْرَسَةُ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indefinite predicate makes a sentence.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adjective normally stand?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the noun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at sentence end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the noun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Arabic descriptive adjective follows its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“with the diligent student”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الطَّالِبُ الْمُجْتَهِدُ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الطَّالِبَ الْمُجْتَهِدَ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الطَّالِبِ الْمُجْتَهِدِ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noun and adjective are genitive after maʿa.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Adjective AFTER the noun. It copies gender, number, definiteness — and the case ending.</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 </a:t>
            </a:r>
            <a:pPr rtl="1" algn="ctr" indent="0" marL="0">
              <a:buNone/>
            </a:pPr>
            <a:r>
              <a:rPr lang="ar-SA" altLang="en-US" sz="2400" b="1" dirty="0">
                <a:solidFill>
                  <a:srgbClr val="0E7C86"/>
                </a:solidFill>
                <a:latin typeface="Amiri" pitchFamily="2" charset="-78"/>
                <a:ea typeface="Amiri" pitchFamily="2" charset="-78"/>
                <a:cs typeface="Amiri" pitchFamily="2" charset="-78"/>
              </a:rPr>
              <a:t>الطَّالِبِ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D6336C"/>
                </a:solidFill>
                <a:latin typeface="Amiri" pitchFamily="2" charset="-78"/>
                <a:ea typeface="Amiri" pitchFamily="2" charset="-78"/>
                <a:cs typeface="Amiri" pitchFamily="2" charset="-78"/>
              </a:rPr>
              <a:t>الْمُجْتَهِدِ</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the adjective after its noun.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noun and adjective agree in gender, number and definiteness.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phrase from a sentence.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Copy the case ending of the noun onto the adjective.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put the adjective after the noun.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put al- on both words or on neither.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check all four features with the G-N-D-C list.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tell “the big house” from “the house is big”.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copy -u, -a and -i onto the adjective.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my big house with al- on the adjective.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النَّعْتُ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adjective (describing word)</a:t>
            </a:r>
            <a:endParaRPr lang="en-US" sz="1350" dirty="0"/>
          </a:p>
          <a:p>
            <a:pPr indent="0" marL="0">
              <a:buNone/>
            </a:pPr>
            <a:r>
              <a:rPr lang="en-US" sz="1100" i="1" dirty="0">
                <a:solidFill>
                  <a:srgbClr val="5A6472"/>
                </a:solidFill>
                <a:latin typeface="Calibri" pitchFamily="34" charset="0"/>
                <a:cs typeface="Amiri" pitchFamily="2" charset="-78"/>
              </a:rPr>
              <a:t>an-naʿ-tu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called </a:t>
            </a:r>
            <a:pPr algn="l" indent="0" marL="0">
              <a:buNone/>
            </a:pPr>
            <a:r>
              <a:rPr lang="ar-SA" altLang="en-US" sz="1300" dirty="0">
                <a:solidFill>
                  <a:srgbClr val="8A6D1E"/>
                </a:solidFill>
                <a:latin typeface="Amiri" pitchFamily="2" charset="-78"/>
                <a:ea typeface="Amiri" pitchFamily="2" charset="-78"/>
                <a:cs typeface="Amiri" pitchFamily="2" charset="-78"/>
              </a:rPr>
              <a:t>صِفَةٌ</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الْمَنْعُوتُ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noun described</a:t>
            </a:r>
            <a:endParaRPr lang="en-US" sz="1350" dirty="0"/>
          </a:p>
          <a:p>
            <a:pPr indent="0" marL="0">
              <a:buNone/>
            </a:pPr>
            <a:r>
              <a:rPr lang="en-US" sz="1100" i="1" dirty="0">
                <a:solidFill>
                  <a:srgbClr val="5A6472"/>
                </a:solidFill>
                <a:latin typeface="Calibri" pitchFamily="34" charset="0"/>
                <a:cs typeface="Amiri" pitchFamily="2" charset="-78"/>
              </a:rPr>
              <a:t>al-man-ʿū-tu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الطَّالِبُ الْمُجْتَهِدُ</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النَّوْعُ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gender</a:t>
            </a:r>
            <a:endParaRPr lang="en-US" sz="1350" dirty="0"/>
          </a:p>
          <a:p>
            <a:pPr indent="0" marL="0">
              <a:buNone/>
            </a:pPr>
            <a:r>
              <a:rPr lang="en-US" sz="1100" i="1" dirty="0">
                <a:solidFill>
                  <a:srgbClr val="5A6472"/>
                </a:solidFill>
                <a:latin typeface="Calibri" pitchFamily="34" charset="0"/>
                <a:cs typeface="Amiri" pitchFamily="2" charset="-78"/>
              </a:rPr>
              <a:t>G</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مُذَكَّرٌ / مُؤَنَّثٌ</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الْعَدَدُ</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number</a:t>
            </a:r>
            <a:endParaRPr lang="en-US" sz="1350" dirty="0"/>
          </a:p>
          <a:p>
            <a:pPr indent="0" marL="0">
              <a:buNone/>
            </a:pPr>
            <a:r>
              <a:rPr lang="en-US" sz="1100" i="1" dirty="0">
                <a:solidFill>
                  <a:srgbClr val="5A6472"/>
                </a:solidFill>
                <a:latin typeface="Calibri" pitchFamily="34" charset="0"/>
                <a:cs typeface="Amiri" pitchFamily="2" charset="-78"/>
              </a:rPr>
              <a:t>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مُفْرَدٌ · مُثَنًّى · جَمْعٌ</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التَّعْرِيفُ</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definiteness</a:t>
            </a:r>
            <a:endParaRPr lang="en-US" sz="1350" dirty="0"/>
          </a:p>
          <a:p>
            <a:pPr indent="0" marL="0">
              <a:buNone/>
            </a:pPr>
            <a:r>
              <a:rPr lang="en-US" sz="1100" i="1" dirty="0">
                <a:solidFill>
                  <a:srgbClr val="5A6472"/>
                </a:solidFill>
                <a:latin typeface="Calibri" pitchFamily="34" charset="0"/>
                <a:cs typeface="Amiri" pitchFamily="2" charset="-78"/>
              </a:rPr>
              <a:t>D</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الـ</a:t>
            </a:r>
            <a:pPr algn="l" indent="0" marL="0">
              <a:buNone/>
            </a:pPr>
            <a:r>
              <a:rPr lang="en-US" sz="1000" i="1" dirty="0">
                <a:solidFill>
                  <a:srgbClr val="8A6D1E"/>
                </a:solidFill>
                <a:latin typeface="Calibri" pitchFamily="34" charset="0"/>
                <a:cs typeface="Amiri" pitchFamily="2" charset="-78"/>
              </a:rPr>
              <a:t> or none</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الْإِعْرَابُ</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case</a:t>
            </a:r>
            <a:endParaRPr lang="en-US" sz="1350" dirty="0"/>
          </a:p>
          <a:p>
            <a:pPr indent="0" marL="0">
              <a:buNone/>
            </a:pPr>
            <a:r>
              <a:rPr lang="en-US" sz="1100" i="1" dirty="0">
                <a:solidFill>
                  <a:srgbClr val="5A6472"/>
                </a:solidFill>
                <a:latin typeface="Calibri" pitchFamily="34" charset="0"/>
                <a:cs typeface="Amiri" pitchFamily="2" charset="-78"/>
              </a:rPr>
              <a:t>C</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الطَّالِبُ · الطَّالِبَ · الطَّالِبِ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ADJECTIVE AFTER NOUN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noun comes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الصِّفَةُ بَعْدَ الْمَوْصُوفِ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an ordinary descriptive phrase, the adjective comes AFTER the noun (website).</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English “a big house” becomes “house big” in Arabic.</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Website clinic: do not copy English word order.</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Two adjectives? Both follow the noun, usually joined by “and” or just side by side.</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1" name="Text 28"/>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بَيْتٌ كَبِيرٌ</a:t>
            </a:r>
            <a:endParaRPr lang="ar-SA" sz="2650" dirty="0"/>
          </a:p>
        </p:txBody>
      </p:sp>
      <p:sp>
        <p:nvSpPr>
          <p:cNvPr id="32" name="Text 29"/>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big house  ·  website</a:t>
            </a:r>
            <a:endParaRPr lang="en-US" sz="1100" dirty="0"/>
          </a:p>
        </p:txBody>
      </p:sp>
      <p:sp>
        <p:nvSpPr>
          <p:cNvPr id="33" name="Shape 30"/>
          <p:cNvSpPr/>
          <p:nvPr/>
        </p:nvSpPr>
        <p:spPr>
          <a:xfrm>
            <a:off x="6995160" y="3195828"/>
            <a:ext cx="4553712" cy="0"/>
          </a:xfrm>
          <a:prstGeom prst="line">
            <a:avLst/>
          </a:prstGeom>
          <a:noFill/>
          <a:ln w="9525">
            <a:solidFill>
              <a:srgbClr val="E4DCCB"/>
            </a:solidFill>
            <a:prstDash val="dash"/>
          </a:ln>
        </p:spPr>
      </p:sp>
      <p:sp>
        <p:nvSpPr>
          <p:cNvPr id="34" name="Text 31"/>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مَدْرَسَةٌ جَدِيدَةٌ</a:t>
            </a:r>
            <a:endParaRPr lang="ar-SA" sz="2650" dirty="0"/>
          </a:p>
        </p:txBody>
      </p:sp>
      <p:sp>
        <p:nvSpPr>
          <p:cNvPr id="35" name="Text 32"/>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new school  ·  website</a:t>
            </a:r>
            <a:endParaRPr lang="en-US" sz="1100" dirty="0"/>
          </a:p>
        </p:txBody>
      </p:sp>
      <p:sp>
        <p:nvSpPr>
          <p:cNvPr id="36" name="Shape 33"/>
          <p:cNvSpPr/>
          <p:nvPr/>
        </p:nvSpPr>
        <p:spPr>
          <a:xfrm>
            <a:off x="6995160" y="4215384"/>
            <a:ext cx="4553712" cy="0"/>
          </a:xfrm>
          <a:prstGeom prst="line">
            <a:avLst/>
          </a:prstGeom>
          <a:noFill/>
          <a:ln w="9525">
            <a:solidFill>
              <a:srgbClr val="E4DCCB"/>
            </a:solidFill>
            <a:prstDash val="dash"/>
          </a:ln>
        </p:spPr>
      </p:sp>
      <p:sp>
        <p:nvSpPr>
          <p:cNvPr id="37" name="Text 34"/>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شَارِعٌ طَوِيلٌ</a:t>
            </a:r>
            <a:endParaRPr lang="ar-SA" sz="2650" dirty="0"/>
          </a:p>
        </p:txBody>
      </p:sp>
      <p:sp>
        <p:nvSpPr>
          <p:cNvPr id="38" name="Text 35"/>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long street  ·  website</a:t>
            </a:r>
            <a:endParaRPr lang="en-US" sz="1100" dirty="0"/>
          </a:p>
        </p:txBody>
      </p:sp>
      <p:sp>
        <p:nvSpPr>
          <p:cNvPr id="39" name="Shape 36"/>
          <p:cNvSpPr/>
          <p:nvPr/>
        </p:nvSpPr>
        <p:spPr>
          <a:xfrm>
            <a:off x="6995160" y="5234940"/>
            <a:ext cx="4553712" cy="0"/>
          </a:xfrm>
          <a:prstGeom prst="line">
            <a:avLst/>
          </a:prstGeom>
          <a:noFill/>
          <a:ln w="9525">
            <a:solidFill>
              <a:srgbClr val="E4DCCB"/>
            </a:solidFill>
            <a:prstDash val="dash"/>
          </a:ln>
        </p:spPr>
      </p:sp>
      <p:sp>
        <p:nvSpPr>
          <p:cNvPr id="40" name="Text 37"/>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غُرْفَةٌ صَغِيرَةٌ وَنَظِيفَةٌ</a:t>
            </a:r>
            <a:endParaRPr lang="ar-SA" sz="2650" dirty="0"/>
          </a:p>
        </p:txBody>
      </p:sp>
      <p:sp>
        <p:nvSpPr>
          <p:cNvPr id="41" name="Text 38"/>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small, clean room  ·  two adjectives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2 · FOUR-PART AGREEMENT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G · N · D · C — the adjective copies all four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الْمُطَابَقَةُ فِي أَرْبَعَةٍ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copied</a:t>
            </a:r>
            <a:endParaRPr lang="en-US" sz="1100" dirty="0"/>
          </a:p>
        </p:txBody>
      </p:sp>
      <p:sp>
        <p:nvSpPr>
          <p:cNvPr id="17" name="Text 14"/>
          <p:cNvSpPr txBox="1"/>
          <p:nvPr/>
        </p:nvSpPr>
        <p:spPr>
          <a:xfrm>
            <a:off x="27249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Feature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333488" y="2267712"/>
            <a:ext cx="43251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 +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21" name="Text 18"/>
          <p:cNvSpPr txBox="1"/>
          <p:nvPr/>
        </p:nvSpPr>
        <p:spPr>
          <a:xfrm>
            <a:off x="2743200" y="226771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طَالِبَةٌ مُجْتَهِدَةٌ</a:t>
            </a:r>
            <a:endParaRPr lang="ar-SA" sz="2400" dirty="0"/>
          </a:p>
        </p:txBody>
      </p:sp>
      <p:sp>
        <p:nvSpPr>
          <p:cNvPr id="22" name="Text 19"/>
          <p:cNvSpPr txBox="1"/>
          <p:nvPr/>
        </p:nvSpPr>
        <p:spPr>
          <a:xfrm>
            <a:off x="56692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Gender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333488" y="2881884"/>
            <a:ext cx="43251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 -āni on both</a:t>
            </a:r>
            <a:endParaRPr lang="en-US" sz="1100" dirty="0"/>
          </a:p>
        </p:txBody>
      </p:sp>
      <p:sp>
        <p:nvSpPr>
          <p:cNvPr id="27" name="Text 24"/>
          <p:cNvSpPr txBox="1"/>
          <p:nvPr/>
        </p:nvSpPr>
        <p:spPr>
          <a:xfrm>
            <a:off x="2743200" y="2881884"/>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الطَّالِبَانِ الْمُجْتَهِدَانِ</a:t>
            </a:r>
            <a:endParaRPr lang="ar-SA" sz="2400" dirty="0"/>
          </a:p>
        </p:txBody>
      </p:sp>
      <p:sp>
        <p:nvSpPr>
          <p:cNvPr id="28" name="Text 25"/>
          <p:cNvSpPr txBox="1"/>
          <p:nvPr/>
        </p:nvSpPr>
        <p:spPr>
          <a:xfrm>
            <a:off x="56692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333488" y="3496056"/>
            <a:ext cx="43251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on both (website)</a:t>
            </a:r>
            <a:endParaRPr lang="en-US" sz="1100" dirty="0"/>
          </a:p>
        </p:txBody>
      </p:sp>
      <p:sp>
        <p:nvSpPr>
          <p:cNvPr id="33" name="Text 30"/>
          <p:cNvSpPr txBox="1"/>
          <p:nvPr/>
        </p:nvSpPr>
        <p:spPr>
          <a:xfrm>
            <a:off x="2743200" y="3496056"/>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 الْمُجْتَهِدُ</a:t>
            </a:r>
            <a:endParaRPr lang="ar-SA" sz="2400" dirty="0"/>
          </a:p>
        </p:txBody>
      </p:sp>
      <p:sp>
        <p:nvSpPr>
          <p:cNvPr id="34" name="Text 31"/>
          <p:cNvSpPr txBox="1"/>
          <p:nvPr/>
        </p:nvSpPr>
        <p:spPr>
          <a:xfrm>
            <a:off x="56692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Definiteness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333488" y="4110228"/>
            <a:ext cx="43251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on both (website)</a:t>
            </a:r>
            <a:endParaRPr lang="en-US" sz="1100" dirty="0"/>
          </a:p>
        </p:txBody>
      </p:sp>
      <p:sp>
        <p:nvSpPr>
          <p:cNvPr id="39" name="Text 36"/>
          <p:cNvSpPr txBox="1"/>
          <p:nvPr/>
        </p:nvSpPr>
        <p:spPr>
          <a:xfrm>
            <a:off x="2743200" y="4110228"/>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جَاءَ الطَّالِبُ الْمُجْتَهِدُ.</a:t>
            </a:r>
            <a:endParaRPr lang="ar-SA" sz="2400" dirty="0"/>
          </a:p>
        </p:txBody>
      </p:sp>
      <p:sp>
        <p:nvSpPr>
          <p:cNvPr id="40" name="Text 37"/>
          <p:cNvSpPr txBox="1"/>
          <p:nvPr/>
        </p:nvSpPr>
        <p:spPr>
          <a:xfrm>
            <a:off x="56692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Case: subject</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333488" y="4724400"/>
            <a:ext cx="43251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on both (website)</a:t>
            </a:r>
            <a:endParaRPr lang="en-US" sz="1100" dirty="0"/>
          </a:p>
        </p:txBody>
      </p:sp>
      <p:sp>
        <p:nvSpPr>
          <p:cNvPr id="43" name="Text 40"/>
          <p:cNvSpPr txBox="1"/>
          <p:nvPr/>
        </p:nvSpPr>
        <p:spPr>
          <a:xfrm>
            <a:off x="2743200" y="4724400"/>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رَأَيْتُ الطَّالِبَ الْمُجْتَهِدَ.</a:t>
            </a:r>
            <a:endParaRPr lang="ar-SA" sz="2400" dirty="0"/>
          </a:p>
        </p:txBody>
      </p:sp>
      <p:sp>
        <p:nvSpPr>
          <p:cNvPr id="44" name="Text 41"/>
          <p:cNvSpPr txBox="1"/>
          <p:nvPr/>
        </p:nvSpPr>
        <p:spPr>
          <a:xfrm>
            <a:off x="56692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Case: object</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333488" y="5338572"/>
            <a:ext cx="43251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on both (website)</a:t>
            </a:r>
            <a:endParaRPr lang="en-US" sz="1100" dirty="0"/>
          </a:p>
        </p:txBody>
      </p:sp>
      <p:sp>
        <p:nvSpPr>
          <p:cNvPr id="47" name="Text 44"/>
          <p:cNvSpPr txBox="1"/>
          <p:nvPr/>
        </p:nvSpPr>
        <p:spPr>
          <a:xfrm>
            <a:off x="2743200" y="533857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تَحَدَّثْتُ مَعَ الطَّالِبِ الْمُجْتَهِدِ.</a:t>
            </a:r>
            <a:endParaRPr lang="ar-SA" sz="2400" dirty="0"/>
          </a:p>
        </p:txBody>
      </p:sp>
      <p:sp>
        <p:nvSpPr>
          <p:cNvPr id="48" name="Text 45"/>
          <p:cNvSpPr txBox="1"/>
          <p:nvPr/>
        </p:nvSpPr>
        <p:spPr>
          <a:xfrm>
            <a:off x="56692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Case: after a preposition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 Core work, focus first on gender, number and definiteness; case endings are developed in Stretch.</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STEP 3 · PHRASE VERSUS SENTENCE (WEBSITE)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Definiteness changes the structure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45537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on both → phrase (website)</a:t>
            </a:r>
            <a:endParaRPr lang="en-US" sz="1100" dirty="0"/>
          </a:p>
        </p:txBody>
      </p:sp>
      <p:sp>
        <p:nvSpPr>
          <p:cNvPr id="21" name="Text 18"/>
          <p:cNvSpPr txBox="1"/>
          <p:nvPr/>
        </p:nvSpPr>
        <p:spPr>
          <a:xfrm>
            <a:off x="459028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small boy</a:t>
            </a:r>
            <a:endParaRPr lang="en-US" sz="1100" dirty="0"/>
          </a:p>
        </p:txBody>
      </p:sp>
      <p:sp>
        <p:nvSpPr>
          <p:cNvPr id="22" name="Text 19"/>
          <p:cNvSpPr txBox="1"/>
          <p:nvPr/>
        </p:nvSpPr>
        <p:spPr>
          <a:xfrm>
            <a:off x="548640" y="2267712"/>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الْوَلَدُ الصَّغِيرُ</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without al- → sentence (website)</a:t>
            </a:r>
            <a:endParaRPr lang="en-US" sz="1100" dirty="0"/>
          </a:p>
        </p:txBody>
      </p:sp>
      <p:sp>
        <p:nvSpPr>
          <p:cNvPr id="27" name="Text 24"/>
          <p:cNvSpPr txBox="1"/>
          <p:nvPr/>
        </p:nvSpPr>
        <p:spPr>
          <a:xfrm>
            <a:off x="459028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boy is small.</a:t>
            </a:r>
            <a:endParaRPr lang="en-US" sz="1100" dirty="0"/>
          </a:p>
        </p:txBody>
      </p:sp>
      <p:sp>
        <p:nvSpPr>
          <p:cNvPr id="28" name="Text 25"/>
          <p:cNvSpPr txBox="1"/>
          <p:nvPr/>
        </p:nvSpPr>
        <p:spPr>
          <a:xfrm>
            <a:off x="548640" y="300471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الْوَلَدُ صَغِيرٌ.</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neither → phrase (website)</a:t>
            </a:r>
            <a:endParaRPr lang="en-US" sz="1100" dirty="0"/>
          </a:p>
        </p:txBody>
      </p:sp>
      <p:sp>
        <p:nvSpPr>
          <p:cNvPr id="33" name="Text 30"/>
          <p:cNvSpPr txBox="1"/>
          <p:nvPr/>
        </p:nvSpPr>
        <p:spPr>
          <a:xfrm>
            <a:off x="459028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small boy</a:t>
            </a:r>
            <a:endParaRPr lang="en-US" sz="1100" dirty="0"/>
          </a:p>
        </p:txBody>
      </p:sp>
      <p:sp>
        <p:nvSpPr>
          <p:cNvPr id="34" name="Text 31"/>
          <p:cNvSpPr txBox="1"/>
          <p:nvPr/>
        </p:nvSpPr>
        <p:spPr>
          <a:xfrm>
            <a:off x="548640" y="3741725"/>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وَلَدٌ صَغِيرٌ</a:t>
            </a:r>
            <a:endParaRPr lang="ar-SA" sz="26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house” is definite → al- on the adjective</a:t>
            </a:r>
            <a:endParaRPr lang="en-US" sz="1100" dirty="0"/>
          </a:p>
        </p:txBody>
      </p:sp>
      <p:sp>
        <p:nvSpPr>
          <p:cNvPr id="39" name="Text 36"/>
          <p:cNvSpPr txBox="1"/>
          <p:nvPr/>
        </p:nvSpPr>
        <p:spPr>
          <a:xfrm>
            <a:off x="459028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big house</a:t>
            </a:r>
            <a:endParaRPr lang="en-US" sz="1100" dirty="0"/>
          </a:p>
        </p:txBody>
      </p:sp>
      <p:sp>
        <p:nvSpPr>
          <p:cNvPr id="40" name="Text 37"/>
          <p:cNvSpPr txBox="1"/>
          <p:nvPr/>
        </p:nvSpPr>
        <p:spPr>
          <a:xfrm>
            <a:off x="548640" y="4478731"/>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بَيْتِي الْكَبِيرُ</a:t>
            </a:r>
            <a:endParaRPr lang="ar-SA" sz="26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iḍāfa is definite → al- on the adjective (N-07)</a:t>
            </a:r>
            <a:endParaRPr lang="en-US" sz="1100" dirty="0"/>
          </a:p>
        </p:txBody>
      </p:sp>
      <p:sp>
        <p:nvSpPr>
          <p:cNvPr id="43" name="Text 40"/>
          <p:cNvSpPr txBox="1"/>
          <p:nvPr/>
        </p:nvSpPr>
        <p:spPr>
          <a:xfrm>
            <a:off x="459028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brother’s new house</a:t>
            </a:r>
            <a:endParaRPr lang="en-US" sz="1100" dirty="0"/>
          </a:p>
        </p:txBody>
      </p:sp>
      <p:sp>
        <p:nvSpPr>
          <p:cNvPr id="44" name="Text 41"/>
          <p:cNvSpPr txBox="1"/>
          <p:nvPr/>
        </p:nvSpPr>
        <p:spPr>
          <a:xfrm>
            <a:off x="548640" y="521573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بَيْتُ أَخِي الْجَدِيدُ</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a noun with a possessive ending or a definite iḍāfa counts as definite — so the adjective needs al-.</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long street”.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 شَارِعٌ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الشَّارِعُ طَوِيلٌ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شَارِعٌ طَوِيلٌ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clean room”.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النَّظِيفَةُ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نَظِيفَةٌ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نَظِيفَةُ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visited the old city.”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الْمَدِينَةَ الْقَدِيمَةُ.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الْمَدِينَةَ الْقَدِيمَةَ.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الْمَدِينَةُ الْقَدِيمَةِ.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بَيْتِي الْجَدِيدُ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new house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house is new.</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house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long street”.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طَوِيلٌ شَارِعٌ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الشَّارِعُ طَوِيلٌ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شَارِعٌ طَوِيلٌ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Adjective after the 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clean room”.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الْغُرْفَةُ النَّظِيفَةُ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الْغُرْفَةُ نَظِيفَةٌ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الْغُرْفَةُ نَظِيفَةُ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 on both.</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visited the old city.”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الْمَدِينَةَ الْقَدِيمَةُ.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 الْمَدِينَةَ الْقَدِيمَةَ.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الْمَدِينَةُ الْقَدِيمَةِ.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-a on both.</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بَيْتِي الْجَدِيدُ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new house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house is new.</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house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possessive noun is definite → al- adjective = phrase.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tick G · N · D · 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السَّيَّارَةَ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 · sing · al- · object.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 · 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سَرِيعَةٌ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singular.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السَّرِيعَةُ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رَأَيْتُ السَّيَّارَةَ السَّرِيعَةَ</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ADJECTIVE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رَأَيْتُ </a:t>
            </a:r>
            <a:pPr rtl="1" algn="r" indent="0" marL="0">
              <a:buNone/>
            </a:pPr>
            <a:r>
              <a:rPr lang="ar-SA" altLang="en-US" sz="2600" b="1" dirty="0">
                <a:solidFill>
                  <a:srgbClr val="0E7C86"/>
                </a:solidFill>
                <a:latin typeface="Amiri" pitchFamily="2" charset="-78"/>
                <a:ea typeface="Amiri" pitchFamily="2" charset="-78"/>
                <a:cs typeface="Amiri" pitchFamily="2" charset="-78"/>
              </a:rPr>
              <a:t>السَّيَّارَةَ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السَّرِيعَةَ</a:t>
            </a:r>
            <a:pPr rtl="1" algn="r" indent="0" marL="0">
              <a:buNone/>
            </a:pPr>
            <a:r>
              <a:rPr lang="ar-SA" altLang="en-US" sz="2600" b="1" dirty="0">
                <a:solidFill>
                  <a:srgbClr val="1B3B6F"/>
                </a:solidFill>
                <a:latin typeface="Amiri" pitchFamily="2" charset="-78"/>
                <a:ea typeface="Amiri" pitchFamily="2" charset="-78"/>
                <a:cs typeface="Amiri" pitchFamily="2" charset="-78"/>
              </a:rPr>
              <a:t> أَمَامَ </a:t>
            </a:r>
            <a:pPr rtl="1" algn="r" indent="0" marL="0">
              <a:buNone/>
            </a:pPr>
            <a:r>
              <a:rPr lang="ar-SA" altLang="en-US" sz="2600" b="1" dirty="0">
                <a:solidFill>
                  <a:srgbClr val="0E7C86"/>
                </a:solidFill>
                <a:latin typeface="Amiri" pitchFamily="2" charset="-78"/>
                <a:ea typeface="Amiri" pitchFamily="2" charset="-78"/>
                <a:cs typeface="Amiri" pitchFamily="2" charset="-78"/>
              </a:rPr>
              <a:t>الْبَيْتِ</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الْكَبِيرِ</a:t>
            </a:r>
            <a:pPr rtl="1" algn="r" indent="0" marL="0">
              <a:buNone/>
            </a:pPr>
            <a:r>
              <a:rPr lang="ar-SA" altLang="en-US" sz="2600" b="1" dirty="0">
                <a:solidFill>
                  <a:srgbClr val="1B3B6F"/>
                </a:solidFill>
                <a:latin typeface="Amiri" pitchFamily="2" charset="-78"/>
                <a:ea typeface="Amiri" pitchFamily="2" charset="-78"/>
                <a:cs typeface="Amiri" pitchFamily="2" charset="-78"/>
              </a:rPr>
              <a:t>، وَ</a:t>
            </a:r>
            <a:pPr rtl="1" algn="r" indent="0" marL="0">
              <a:buNone/>
            </a:pPr>
            <a:r>
              <a:rPr lang="ar-SA" altLang="en-US" sz="2600" b="1" dirty="0">
                <a:solidFill>
                  <a:srgbClr val="0E7C86"/>
                </a:solidFill>
                <a:latin typeface="Amiri" pitchFamily="2" charset="-78"/>
                <a:ea typeface="Amiri" pitchFamily="2" charset="-78"/>
                <a:cs typeface="Amiri" pitchFamily="2" charset="-78"/>
              </a:rPr>
              <a:t>صَاحِبُهَا</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الْجَدِيدُ</a:t>
            </a:r>
            <a:pPr rtl="1" algn="r" indent="0" marL="0">
              <a:buNone/>
            </a:pPr>
            <a:r>
              <a:rPr lang="ar-SA" altLang="en-US" sz="2600" b="1" dirty="0">
                <a:solidFill>
                  <a:srgbClr val="1B3B6F"/>
                </a:solidFill>
                <a:latin typeface="Amiri" pitchFamily="2" charset="-78"/>
                <a:ea typeface="Amiri" pitchFamily="2" charset="-78"/>
                <a:cs typeface="Amiri" pitchFamily="2" charset="-78"/>
              </a:rPr>
              <a:t> لَطِيفٌ.</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saw the fast car in front of the big house, and its new owner is kind.</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الْبَيْتُ الْكَبِيرُ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big house</a:t>
            </a:r>
            <a:endParaRPr lang="en-US" sz="1250" dirty="0"/>
          </a:p>
          <a:p>
            <a:pPr indent="0" marL="0">
              <a:buNone/>
            </a:pPr>
            <a:r>
              <a:rPr lang="en-US" sz="1050" i="1" dirty="0">
                <a:solidFill>
                  <a:srgbClr val="8A6D1E"/>
                </a:solidFill>
                <a:latin typeface="Calibri" pitchFamily="34" charset="0"/>
                <a:cs typeface="Amiri" pitchFamily="2" charset="-78"/>
              </a:rPr>
              <a:t>Website model bank: phrase.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الْبَيْتُ كَبِيرٌ.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house is big.</a:t>
            </a:r>
            <a:endParaRPr lang="en-US" sz="1250" dirty="0"/>
          </a:p>
          <a:p>
            <a:pPr indent="0" marL="0">
              <a:buNone/>
            </a:pPr>
            <a:r>
              <a:rPr lang="en-US" sz="1050" i="1" dirty="0">
                <a:solidFill>
                  <a:srgbClr val="8A6D1E"/>
                </a:solidFill>
                <a:latin typeface="Calibri" pitchFamily="34" charset="0"/>
                <a:cs typeface="Amiri" pitchFamily="2" charset="-78"/>
              </a:rPr>
              <a:t>Website model bank: sentence.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سَكَنْتُ فِي شَقَّةٍ صَغِيرَةٍ.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lived in a small flat.</a:t>
            </a:r>
            <a:endParaRPr lang="en-US" sz="1250" dirty="0"/>
          </a:p>
          <a:p>
            <a:pPr indent="0" marL="0">
              <a:buNone/>
            </a:pPr>
            <a:r>
              <a:rPr lang="en-US" sz="1050" i="1" dirty="0">
                <a:solidFill>
                  <a:srgbClr val="8A6D1E"/>
                </a:solidFill>
                <a:latin typeface="Calibri" pitchFamily="34" charset="0"/>
                <a:cs typeface="Amiri" pitchFamily="2" charset="-78"/>
              </a:rPr>
              <a:t>After a preposition: -in on both.</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الْمُعَلِّمَتَانِ الْجَدِيدَتَانِ لَطِيفَتَانِ.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two new teachers (f.) are kind.</a:t>
            </a:r>
            <a:endParaRPr lang="en-US" sz="1250" dirty="0"/>
          </a:p>
          <a:p>
            <a:pPr indent="0" marL="0">
              <a:buNone/>
            </a:pPr>
            <a:r>
              <a:rPr lang="en-US" sz="1050" i="1" dirty="0">
                <a:solidFill>
                  <a:srgbClr val="8A6D1E"/>
                </a:solidFill>
                <a:latin typeface="Calibri" pitchFamily="34" charset="0"/>
                <a:cs typeface="Amiri" pitchFamily="2" charset="-78"/>
              </a:rPr>
              <a:t>Dual: copied on every word.</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PHRASE OR SENTENCE?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phrase, or a full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الْقَلَمُ الْجَدِيدُ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الْقَلَمُ جَدِيدٌ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قِصَّةٌ طَوِيلَةٌ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الْقِصَّةُ طَوِيلَةٌ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الْوَاسِعَةُ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وَاسِعَةٌ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الْجَوُّ الْبَارِدُ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الْجَوُّ بَارِدٌ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Phrase (“the / a … ”)</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Sentence (“… is …”)</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Phrase (“the / a … ”)</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الْقَلَمُ الْجَدِيدُ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قِصَّةٌ طَوِيلَةٌ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الْوَاسِعَةُ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الْجَوُّ الْبَارِدُ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Sentence (“… is …”)</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الْقَلَمُ جَدِيدٌ</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الْقِصَّةُ طَوِيلَةٌ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وَاسِعَةٌ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الْجَوُّ بَارِدٌ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COPY THE CASE · SAY IT ALOUD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Put the phrase into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ضَعِ الْعِبَارَةَ فِي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a:t>
            </a:r>
            <a:endParaRPr lang="en-US" sz="1100" dirty="0"/>
          </a:p>
        </p:txBody>
      </p:sp>
      <p:sp>
        <p:nvSpPr>
          <p:cNvPr id="17" name="Text 14"/>
          <p:cNvSpPr txBox="1"/>
          <p:nvPr/>
        </p:nvSpPr>
        <p:spPr>
          <a:xfrm>
            <a:off x="38221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949440" y="2267712"/>
            <a:ext cx="4690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جَاءَ الْمُعَلِّمُ الْجَدِيدُ.</a:t>
            </a:r>
            <a:endParaRPr lang="ar-SA" sz="2400" dirty="0"/>
          </a:p>
        </p:txBody>
      </p:sp>
      <p:sp>
        <p:nvSpPr>
          <p:cNvPr id="21" name="Text 18"/>
          <p:cNvSpPr txBox="1"/>
          <p:nvPr/>
        </p:nvSpPr>
        <p:spPr>
          <a:xfrm>
            <a:off x="384048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جَاءَ …</a:t>
            </a:r>
            <a:endParaRPr lang="ar-SA" sz="2200" dirty="0"/>
          </a:p>
        </p:txBody>
      </p:sp>
      <p:sp>
        <p:nvSpPr>
          <p:cNvPr id="22" name="Text 19"/>
          <p:cNvSpPr txBox="1"/>
          <p:nvPr/>
        </p:nvSpPr>
        <p:spPr>
          <a:xfrm>
            <a:off x="54864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الْمُعَلِّمُ الْجَدِيدُ</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949440" y="3004718"/>
            <a:ext cx="4690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شَكَرْتُ الْمُعَلِّمَ الْجَدِيدَ.</a:t>
            </a:r>
            <a:endParaRPr lang="ar-SA" sz="2400" dirty="0"/>
          </a:p>
        </p:txBody>
      </p:sp>
      <p:sp>
        <p:nvSpPr>
          <p:cNvPr id="27" name="Text 24"/>
          <p:cNvSpPr txBox="1"/>
          <p:nvPr/>
        </p:nvSpPr>
        <p:spPr>
          <a:xfrm>
            <a:off x="384048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شَكَرْتُ …</a:t>
            </a:r>
            <a:endParaRPr lang="ar-SA" sz="2200" dirty="0"/>
          </a:p>
        </p:txBody>
      </p:sp>
      <p:sp>
        <p:nvSpPr>
          <p:cNvPr id="28" name="Text 25"/>
          <p:cNvSpPr txBox="1"/>
          <p:nvPr/>
        </p:nvSpPr>
        <p:spPr>
          <a:xfrm>
            <a:off x="54864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الْمُعَلِّمُ الْجَدِيدُ</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949440" y="3741725"/>
            <a:ext cx="4690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سَلَّمْتُ عَلَى الْمُعَلِّمِ الْجَدِيدِ.</a:t>
            </a:r>
            <a:endParaRPr lang="ar-SA" sz="2400" dirty="0"/>
          </a:p>
        </p:txBody>
      </p:sp>
      <p:sp>
        <p:nvSpPr>
          <p:cNvPr id="33" name="Text 30"/>
          <p:cNvSpPr txBox="1"/>
          <p:nvPr/>
        </p:nvSpPr>
        <p:spPr>
          <a:xfrm>
            <a:off x="384048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سَلَّمْتُ عَلَى …</a:t>
            </a:r>
            <a:endParaRPr lang="ar-SA" sz="2200" dirty="0"/>
          </a:p>
        </p:txBody>
      </p:sp>
      <p:sp>
        <p:nvSpPr>
          <p:cNvPr id="34" name="Text 31"/>
          <p:cNvSpPr txBox="1"/>
          <p:nvPr/>
        </p:nvSpPr>
        <p:spPr>
          <a:xfrm>
            <a:off x="54864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الْمُعَلِّمُ الْجَدِيدُ</a:t>
            </a:r>
            <a:endParaRPr lang="ar-SA" sz="22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949440" y="4478731"/>
            <a:ext cx="4690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جَلَسْنَا فِي حَدِيقَةٍ جَمِيلَةٍ.</a:t>
            </a:r>
            <a:endParaRPr lang="ar-SA" sz="2400" dirty="0"/>
          </a:p>
        </p:txBody>
      </p:sp>
      <p:sp>
        <p:nvSpPr>
          <p:cNvPr id="39" name="Text 36"/>
          <p:cNvSpPr txBox="1"/>
          <p:nvPr/>
        </p:nvSpPr>
        <p:spPr>
          <a:xfrm>
            <a:off x="384048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جَلَسْنَا فِي …</a:t>
            </a:r>
            <a:endParaRPr lang="ar-SA" sz="2200" dirty="0"/>
          </a:p>
        </p:txBody>
      </p:sp>
      <p:sp>
        <p:nvSpPr>
          <p:cNvPr id="40" name="Text 37"/>
          <p:cNvSpPr txBox="1"/>
          <p:nvPr/>
        </p:nvSpPr>
        <p:spPr>
          <a:xfrm>
            <a:off x="54864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حَدِيقَةٌ جَمِيلَةٌ</a:t>
            </a:r>
            <a:endParaRPr lang="ar-SA" sz="22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949440" y="5215738"/>
            <a:ext cx="4690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قَرَأْتُ كِتَابًا مُفِيدًا.</a:t>
            </a:r>
            <a:endParaRPr lang="ar-SA" sz="2400" dirty="0"/>
          </a:p>
        </p:txBody>
      </p:sp>
      <p:sp>
        <p:nvSpPr>
          <p:cNvPr id="43" name="Text 40"/>
          <p:cNvSpPr txBox="1"/>
          <p:nvPr/>
        </p:nvSpPr>
        <p:spPr>
          <a:xfrm>
            <a:off x="384048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قَرَأْتُ …</a:t>
            </a:r>
            <a:endParaRPr lang="ar-SA" sz="2200" dirty="0"/>
          </a:p>
        </p:txBody>
      </p:sp>
      <p:sp>
        <p:nvSpPr>
          <p:cNvPr id="44" name="Text 41"/>
          <p:cNvSpPr txBox="1"/>
          <p:nvPr/>
        </p:nvSpPr>
        <p:spPr>
          <a:xfrm>
            <a:off x="54864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كِتَابٌ مُفِيدٌ</a:t>
            </a:r>
            <a:endParaRPr lang="ar-SA" sz="22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same phrase changes its last vowel in each sentence — and the noun and adjective ALWAYS change together.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كَبِيرٌ 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word comes first?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الْمَدْرَسَةُ جَدِيدَةُ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 on both?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رَأَيْتُ الْوَلَدَ الصَّغِيرُ.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case match?</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كَبِيرٌ 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بَيْتٌ كَبِيرٌ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follows the noun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الْمَدْرَسَةُ جَدِيدَةُ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الْمَدْرَسَةُ الْجَدِيدَةُ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 “the new school”, al- on both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رَأَيْتُ الْوَلَدَ الصَّغِيرُ.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رَأَيْتُ الْوَلَدَ الصَّغِيرَ.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copies the case.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hot day”.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حَارٌّ يَوْمٌ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الْيَوْمُ حَارٌّ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 حَارٌّ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street is long.”</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الشَّارِعُ الطَّوِيلُ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الشَّارِعُ طَوِيلٌ.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شَارِعٌ طَوِيلٌ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small garden”.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الْحَدِيقَةِ الصَّغِيرَةُ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الْحَدِيقَةِ الصَّغِيرَةِ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الْحَدِيقَةِ صَغِيرَةٍ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old friend”.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صَدِيقِي قَدِيمٌ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الصَّدِيقِي الْقَدِيمُ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صَدِيقِي الْقَدِيمُ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hot day”.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حَارٌّ يَوْمٌ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الْيَوْمُ حَارٌّ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يَوْمٌ حَارٌّ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Adjective after noun, both indefinite.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street is long.”</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الشَّارِعُ الطَّوِيلُ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الشَّارِعُ طَوِيلٌ.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شَارِعٌ طَوِيلٌ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Sentence: no al- on the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small garden”.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الْحَدِيقَةِ الصَّغِيرَةُ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الْحَدِيقَةِ الصَّغِيرَةِ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الْحَدِيقَةِ صَغِيرَةٍ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Genitive and definite on both.</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old friend”.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صَدِيقِي قَدِيمٌ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الصَّدِيقِي الْقَدِيمُ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صَدِيقِي الْقَدِيمُ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Possessive noun is definite → al- adjective.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walk in my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أَمَاكِنُ جَمِيلَةٌ وَشَوَارِعُ وَاسِعَةٌ. هَذِهِ الْمَدْرَسَةُ الْجَدِيدَةُ قَرِيبَةٌ، وَذَلِكَ الْمَتْحَفُ الْقَدِيمُ مُثِيرٌ لِلِاهْتِمَامِ. أَمْشِي كُلَّ يَوْمٍ فِي الشَّارِعِ الطَّوِيلِ، وَأَرَى الْحَدِيقَةَ الْكَبِيرَةَ. صَدِيقِي الْجَدِيدُ يَسْكُنُ فِي بَيْتٍ قَدِيمٍ.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الْمَتْحَفُ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museum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مُثِيرٌ لِلِاهْتِمَامِ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أَمْشِي</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walk</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أَرَى</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see</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يَسْكُنُ</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lives</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second sentence, the school words form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phrase only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sentence: “The new school is near.”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phrases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adjective of the garden end in -a?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after a preposition.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subject.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garden is the object of </a:t>
            </a:r>
            <a:pPr algn="l" indent="0" marL="0">
              <a:buNone/>
            </a:pPr>
            <a:r>
              <a:rPr lang="ar-SA" altLang="en-US" sz="1650" dirty="0">
                <a:solidFill>
                  <a:srgbClr val="1F2A37"/>
                </a:solidFill>
                <a:latin typeface="Amiri" pitchFamily="2" charset="-78"/>
                <a:ea typeface="Amiri" pitchFamily="2" charset="-78"/>
                <a:cs typeface="Amiri" pitchFamily="2" charset="-78"/>
              </a:rPr>
              <a:t>أَرَى</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adjective of the street end in -i?</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comes after the preposition </a:t>
            </a:r>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object.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feminine.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t>
            </a:r>
            <a:pPr algn="l" indent="0" marL="0">
              <a:buNone/>
            </a:pPr>
            <a:r>
              <a:rPr lang="ar-SA" altLang="en-US" sz="1650" b="1" dirty="0">
                <a:solidFill>
                  <a:srgbClr val="1B3B6F"/>
                </a:solidFill>
                <a:latin typeface="Amiri" pitchFamily="2" charset="-78"/>
                <a:ea typeface="Amiri" pitchFamily="2" charset="-78"/>
                <a:cs typeface="Amiri" pitchFamily="2" charset="-78"/>
              </a:rPr>
              <a:t>الْجَدِيدُ</a:t>
            </a:r>
            <a:pPr algn="l" indent="0" marL="0">
              <a:buNone/>
            </a:pPr>
            <a:r>
              <a:rPr lang="en-US" sz="1250" b="1" dirty="0">
                <a:solidFill>
                  <a:srgbClr val="1B3B6F"/>
                </a:solidFill>
                <a:latin typeface="Calibri" pitchFamily="34" charset="0"/>
                <a:cs typeface="Amiri" pitchFamily="2" charset="-78"/>
              </a:rPr>
              <a:t> have al- after </a:t>
            </a:r>
            <a:pPr algn="l" indent="0" marL="0">
              <a:buNone/>
            </a:pPr>
            <a:r>
              <a:rPr lang="ar-SA" altLang="en-US" sz="1650" b="1" dirty="0">
                <a:solidFill>
                  <a:srgbClr val="1B3B6F"/>
                </a:solidFill>
                <a:latin typeface="Amiri" pitchFamily="2" charset="-78"/>
                <a:ea typeface="Amiri" pitchFamily="2" charset="-78"/>
                <a:cs typeface="Amiri" pitchFamily="2" charset="-78"/>
              </a:rPr>
              <a:t>صَدِيقِي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sentence.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is definite.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second sentence, the school words form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phrase only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sentence: “The new school is near.”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phrases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Phrase + adjective without 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adjective of the garden end in -a?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after a preposition.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subject.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garden is the object of </a:t>
            </a:r>
            <a:pPr algn="l" indent="0" marL="0">
              <a:buNone/>
            </a:pPr>
            <a:r>
              <a:rPr lang="ar-SA" altLang="en-US" sz="1650" b="1" dirty="0">
                <a:solidFill>
                  <a:srgbClr val="1F2A37"/>
                </a:solidFill>
                <a:latin typeface="Amiri" pitchFamily="2" charset="-78"/>
                <a:ea typeface="Amiri" pitchFamily="2" charset="-78"/>
                <a:cs typeface="Amiri" pitchFamily="2" charset="-78"/>
              </a:rPr>
              <a:t>أَرَى</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Case copied: -a.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adjective of the street end in -i?</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comes after the preposition </a:t>
            </a:r>
            <a:pPr algn="l" indent="0" marL="0">
              <a:buNone/>
            </a:pPr>
            <a:r>
              <a:rPr lang="ar-SA" altLang="en-US" sz="1650" b="1" dirty="0">
                <a:solidFill>
                  <a:srgbClr val="1F2A37"/>
                </a:solidFill>
                <a:latin typeface="Amiri" pitchFamily="2" charset="-78"/>
                <a:ea typeface="Amiri" pitchFamily="2" charset="-78"/>
                <a:cs typeface="Amiri" pitchFamily="2" charset="-78"/>
              </a:rPr>
              <a:t>فِي</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object.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feminine.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Case copied: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t>
            </a:r>
            <a:pPr algn="l" indent="0" marL="0">
              <a:buNone/>
            </a:pPr>
            <a:r>
              <a:rPr lang="ar-SA" altLang="en-US" sz="1650" b="1" dirty="0">
                <a:solidFill>
                  <a:srgbClr val="1B3B6F"/>
                </a:solidFill>
                <a:latin typeface="Amiri" pitchFamily="2" charset="-78"/>
                <a:ea typeface="Amiri" pitchFamily="2" charset="-78"/>
                <a:cs typeface="Amiri" pitchFamily="2" charset="-78"/>
              </a:rPr>
              <a:t>الْجَدِيدُ</a:t>
            </a:r>
            <a:pPr algn="l" indent="0" marL="0">
              <a:buNone/>
            </a:pPr>
            <a:r>
              <a:rPr lang="en-US" sz="1250" b="1" dirty="0">
                <a:solidFill>
                  <a:srgbClr val="1B3B6F"/>
                </a:solidFill>
                <a:latin typeface="Calibri" pitchFamily="34" charset="0"/>
                <a:cs typeface="Amiri" pitchFamily="2" charset="-78"/>
              </a:rPr>
              <a:t> have al- after </a:t>
            </a:r>
            <a:pPr algn="l" indent="0" marL="0">
              <a:buNone/>
            </a:pPr>
            <a:r>
              <a:rPr lang="ar-SA" altLang="en-US" sz="1650" b="1" dirty="0">
                <a:solidFill>
                  <a:srgbClr val="1B3B6F"/>
                </a:solidFill>
                <a:latin typeface="Amiri" pitchFamily="2" charset="-78"/>
                <a:ea typeface="Amiri" pitchFamily="2" charset="-78"/>
                <a:cs typeface="Amiri" pitchFamily="2" charset="-78"/>
              </a:rPr>
              <a:t>صَدِيقِي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sentence.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friend” is definite.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Possessive noun → al-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favourite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بَيْتَكَ وَشَارِعَكَ.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الْمَكَانُ الْمُفَضَّلُ فِي مَدِينَتِكَ؟ 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رَأَيْتَ فِي رِحْلَتِكَ الْأَخِيرَةِ؟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أَسْكُنُ فِي بَيْتٍ ___ فِي شَارِعٍ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الْمَكَانُ الْمُفَضَّلُ عِنْدِي ___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رَأَيْتُ ___ ___ ، وَزُرْتُ ___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رَأَيْتَ فِي رِحْلَتِكَ؟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you see on your trip?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رَأَيْتُ الْمَسْجِدَ الْكَبِيرَ، وَمَشَيْتُ فِي السُّوقِ الْقَدِيمِ، وَأَكَلْتُ طَعَامًا لَذِيذًا.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saw the big mosque, walked in the old market and ate delicious food.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phrases or sentences describing your home.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Adjective after noun; al- on both or neither.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Mix phrases and “… is …” sentences.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Tick G-N-D for each pair.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about a trip, with phrases as subject, object and after prepositions.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Tick all four: G-N-D-C.</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 الْمَتْحَفَ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the … museum. (add al-)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جَلَسْنَا فِي الْحَدِيقَةِ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sat in the … garden. (add al-)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الْجَدِيدُ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new friend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قَرَأْتُ كِتَابًا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a … book.</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بَيْتٍ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 house.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الشَّارِعُ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street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weather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كَبِيرٌ  ·  صَغِيرٌ  ·  جَدِيدٌ  ·  قَدِيمٌ  ·  طَوِيلٌ  ·  وَاسِعٌ  ·  نَظِيفٌ  ·  جَمِيلٌ  ·  هَادِئٌ  ·  مُفِيدٌ  ·  لَذِيذٌ  ·  حَارٌّ  ·  بَارِدٌ</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about a trip or a place,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adjective is after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definite phrases (al- on both).</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 is …” sentences.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phrase as object (-a) and one after a preposition (-i).</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possessive noun with an al- adjective (my new friend).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الْمَسْجِدُ الْكَبِيرُ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big mosque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السُّوقِ الْقَدِيمِ</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old market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رَأَيْتُ الْبَحْرَ الْأَزْرَقَ</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saw the blue sea</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طَعَامًا لَذِيذًا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delicious food (object)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الْجَدِيدُ</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new friend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الْجَوُّ حَارٌّ</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weather is hot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الْعُطْلَةِ الْمَاضِيَةِ سَافَرْنَا إِلَى مَدِينَةٍ سَاحِلِيَّةٍ. سَكَنَّا فِي فُنْدُقٍ صَغِيرٍ قُرْبَ الْبَحْرِ الْأَزْرَقِ. زُرْتُ الْمَسْجِدَ الْكَبِيرَ وَالسُّوقَ الْقَدِيمَ، وَاشْتَرَيْتُ هَدِيَّةً جَمِيلَةً لِأُخْتِي الصَّغِيرَةِ. كَانَ الْجَوُّ حَارًّا، لَكِنَّ الْبَحْرَ كَانَ بَارِدًا. رِحْلَتُنَا الْقَصِيرَةُ كَانَتْ مُمْتِعَةً.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holiday we travelled to a coastal city. We stayed in a small hotel near the blue sea. I visited the big mosque and the old market, and bought a beautiful gift for my little sister. The weather was hot, but the sea was cold. Our short trip was enjoyable.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indefinite phrases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definite phrases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case copied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possessive + 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adjective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Al- is on both words or on neither in my phrases.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Gender and number match every time.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sentences and phrases mean what I intended.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adjective copies the case of its noun.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tall man”.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الرَّجُلُ الطَّوِيلُ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الطَّوِيلُ الرَّجُلُ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الرَّجُلُ طَوِيلٌ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room is clean.”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النَّظِيفَةُ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نَظِيفَةٌ.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نَظِيفَةٌ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thanked the kind doctor.”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شَكَرْتُ الطَّبِيبَ اللَّطِيفَ.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شَكَرْتُ الطَّبِيبَ اللَّطِيفُ.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شَكَرْتُ الطَّبِيبُ اللَّطِيفَ.</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tall man”.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الرَّجُلُ الطَّوِيلُ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الطَّوِيلُ الرَّجُلُ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الرَّجُلُ طَوِيلٌ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the noun; al- on both.</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room is clean.”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الْغُرْفَةُ النَّظِيفَةُ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الْغُرْفَةُ نَظِيفَةٌ.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غُرْفَةٌ نَظِيفَةٌ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Sentence: no al- on the adjective.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thanked the kind doctor.”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شَكَرْتُ الطَّبِيبَ اللَّطِيفَ.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شَكَرْتُ الطَّبِيبَ اللَّطِيفُ.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شَكَرْتُ الطَّبِيبُ اللَّطِيفَ.</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-a on both.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GM-ADJ-04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GM-ADJ-05: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ar-SA" sz="1000" dirty="0">
                <a:solidFill>
                  <a:srgbClr val="5A6472"/>
                </a:solidFill>
                <a:latin typeface="Calibri" pitchFamily="34" charset="0"/>
                <a:ea typeface="Amiri" pitchFamily="2" charset="-78"/>
                <a:cs typeface="Amiri" pitchFamily="2" charset="-78"/>
              </a:rPr>
              <a:t>for GM-ADJ-05 · Negative Description with غَيْر</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not, non-, other than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مُمْكِنٌ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possible</a:t>
            </a:r>
            <a:pPr indent="0" marL="0">
              <a:buNone/>
            </a:pPr>
            <a:r>
              <a:rPr lang="ar-SA" sz="1000" i="1" dirty="0">
                <a:solidFill>
                  <a:srgbClr val="5A6472"/>
                </a:solidFill>
                <a:latin typeface="Calibri" pitchFamily="34" charset="0"/>
                <a:ea typeface="Amiri" pitchFamily="2" charset="-78"/>
                <a:cs typeface="Amiri" pitchFamily="2" charset="-78"/>
              </a:rPr>
              <a:t>  غَيْرُ مُمْكِنٍ = impossible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صَحِيحٌ</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correct</a:t>
            </a:r>
            <a:pPr indent="0" marL="0">
              <a:buNone/>
            </a:pPr>
            <a:r>
              <a:rPr lang="ar-SA" sz="1000" i="1" dirty="0">
                <a:solidFill>
                  <a:srgbClr val="5A6472"/>
                </a:solidFill>
                <a:latin typeface="Calibri" pitchFamily="34" charset="0"/>
                <a:ea typeface="Amiri" pitchFamily="2" charset="-78"/>
                <a:cs typeface="Amiri" pitchFamily="2" charset="-78"/>
              </a:rPr>
              <a:t>  غَيْرُ صَحِيحٍ = incorrect</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مُنَاسِبٌ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suitable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comfortable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Ghayr means “not”. How do you think you would say “uncomfortable”?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مُرِيحٌ · غَيْرُ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noun + adjective phrases about your home.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phrases and five matching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about a trip, ticking G-N-D-C.</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GM-ADJ-05 · Negative Description with </a:t>
            </a:r>
            <a:pPr algn="l" indent="0" marL="0">
              <a:buNone/>
            </a:pPr>
            <a:r>
              <a:rPr lang="ar-SA" altLang="en-US" sz="2850" b="1" dirty="0">
                <a:solidFill>
                  <a:srgbClr val="FFFFFF"/>
                </a:solidFill>
                <a:latin typeface="Amiri" pitchFamily="2" charset="-78"/>
                <a:ea typeface="Amiri" pitchFamily="2" charset="-78"/>
                <a:cs typeface="Amiri" pitchFamily="2" charset="-78"/>
              </a:rPr>
              <a:t>غَيْر</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النَّفْيُ الوَصْفِيُّ بِـ«غَيْر»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adjective AFTER the noun · it copies Gender, Number, Definiteness and Case · al- on the adjective = phrase; none = “is” · my house / my brother’s house are definite.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GM-ADJ-04 · Position and Full Adjective Agreement</dc:title>
  <dc:subject>PptxGenJS Presentation</dc:subject>
  <dc:creator>Al Madina Online School · Arabic Department</dc:creator>
  <cp:lastModifiedBy>Al Madina Online School · Arabic Department</cp:lastModifiedBy>
  <cp:revision>1</cp:revision>
  <dcterms:created xsi:type="dcterms:W3CDTF">2026-10-11T06:42:01Z</dcterms:created>
  <dcterms:modified xsi:type="dcterms:W3CDTF">2026-10-11T06:42:01Z</dcterms:modified>
</cp:coreProperties>
</file>