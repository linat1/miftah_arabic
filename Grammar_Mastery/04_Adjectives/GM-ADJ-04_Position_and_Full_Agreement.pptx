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Adjectives › GM-ADJ-04 (“Position and Full Adjective Agreement”).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adjective AFTER the noun; al- on both or neither (website clinic). Develop: phrase vs sentence; the four-feature checklist. Stretch: case copying (‑u / ‑a / ‑i), possessive nouns + al- adjective (بَيْتِي الْكَبِيرُ), the dual (الطَّالِبَانِ الْمُجْتَهِدَانِ).
• Website guidance: for Core, focus first on gender, number and definiteness; case is developed in Stretch.
• Use a four-box checklist on screen for every example: G · N · D · C. Students tick each box aloud.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(all five questions) — it uses the five words prepared at the end of GM-ADJ-03.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Adjective AFTER the noun. It copies gender, number, definiteness — and the case 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(2 min) — website “Adjective after noun”. Say each English phrase, students rebuild it in Arabic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 website “Four-part agreement”. Tick G-N-D-C aloud for each row. Remind students: non-human plurals use feminine singular (ADJ-02) — that is the one exception to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(3 min) — website “Phrase versus sentence”, plus two teacher-added Stretch rows. Common error: بَيْتِي كَبِيرٌ means “my house IS big” — fine as a sentence, but not “my big house”.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teacher-written hinge questions on the website’s three steps.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model: رَأَيْتُ السَّيَّارَةَ السَّرِيعَةَ. Build it feature by feature. Then show the -i pair after أَمَامَ and the possessive noun صَاحِبُهَا + al- adjective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P or S. Pairs are deliberately minimal — the only difference is al- on the adjective.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P or S. Pairs are deliberately minimal — the only difference is al- on the adjective.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Stretch focus). Core students say the phrase correctly (G-N-D); Stretch students add the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teacher-written practice on the website rules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text, extended by the teacher. Read it aloud once while students follow; then they hunt for today’s grammar.
Task: Website: underline each adjective, draw an arrow to its noun, and label the agreement feature (G · N · D · C).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The first two sentences are the website text; the rest is teacher-written.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task (45–60 seconds). Sequence: ● 10s think → ↔ 45s rehearse aloud with mic muted → ◎ two named students on open mic (warned in advance) → + ? the class types one follow-up in chat → ↺ one student summarises.
Routes: Core uses the Core prompt and stem; Develop the Develop prompt; Stretch the last prompt.
Website: 45–60 seconds with six accurate structures. Listen for the case on both words in the Stretch model (-a, -i,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90–120 words describing a person, place, object or experience, with at least eight target adjective structures, underlined.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workshop,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(GM-ADJ-05 · Negative Description with غَيْر) will spend class time USING this language, so students prepare it tonight — short, simple, easy to access (school guidance: “Simple, Short, Interesting, Relevant, Easy to access”). The five words prepare GM-ADJ-05 (website Adjectives lesson 5: negative description with ghayr).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ADJECTIVES  ·  GM-ADJ-04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GM-ADJ-04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50" b="1" dirty="0">
                <a:solidFill>
                  <a:srgbClr val="FFFFFF"/>
                </a:solidFill>
                <a:latin typeface="Cambria" pitchFamily="34" charset="0"/>
                <a:cs typeface="Amiri" pitchFamily="2" charset="-78"/>
              </a:rPr>
              <a:t>Position and Full Adjective Agreement</a:t>
            </a:r>
            <a:endParaRPr lang="en-US" sz="28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مَوْقِعُ الصِّفَةِ وَالْمُطَابَقَةُ الْكَامِلَةُ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The adjective follows its noun and copies FOUR things: gender, number, definiteness and case. Core: gender, number and al-. Stretch: the case ending too — the hard-working student, I saw the hard-working student, with the hard-working student.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GM-ADJ-04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Adjectives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GM-ADJ-04 · Adjectives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GM-ADJ-04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GM-ADJ-04</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Position; four-part agreement; phrase vs sentence.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Fix the order, copy the case, build phrases.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GM-ADJ-05.</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GM-ADJ-04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new school”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الْجَدِيدَةُ الْمَدْرَسَةُ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الْمَدْرَسَةُ الْجَدِيدَةُ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الْمَدْرَسَةُ جَدِيدَةٌ</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school is new”</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الْمَدْرَسَةُ جَدِيدَةٌ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الْمَدْرَسَةُ الْجَدِيدَةُ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جَدِيدَةٌ الْمَدْرَسَةُ</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adjective normally stand?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Before the noun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Always at sentence end</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the noun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“with the diligent student”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 الطَّالِبُ الْمُجْتَهِدُ</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 الطَّالِبَ الْمُجْتَهِدَ</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 الطَّالِبِ الْمُجْتَهِدِ</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principle best supports this lesson?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Check the noun first</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Translate word by word from English</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Ignore definiteness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GM-ADJ-04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new school”</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الْجَدِيدَةُ الْمَدْرَسَةُ</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الْمَدْرَسَةُ الْجَدِيدَةُ</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الْمَدْرَسَةُ جَدِيدَةٌ</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Definite noun and definite adjective.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school is new”</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الْمَدْرَسَةُ جَدِيدَةٌ</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الْمَدْرَسَةُ الْجَدِيدَةُ</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جَدِيدَةٌ الْمَدْرَسَةُ</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 indefinite predicate makes a sentence.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adjective normally stand?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Before the noun</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Always at sentence end</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After the noun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Arabic descriptive adjective follows its noun.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“with the diligent student”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مَعَ الطَّالِبُ الْمُجْتَهِدُ</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مَعَ الطَّالِبَ الْمُجْتَهِدَ</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مَعَ الطَّالِبِ الْمُجْتَهِدِ</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noun and adjective are genitive after maʿa.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principle best supports this lesson?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Check the noun first</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Translate word by word from English</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Ignore definiteness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noun controls adjective agreement.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Adjective AFTER the noun. It copies gender, number, definiteness — and the case ending.</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مَعَ </a:t>
            </a:r>
            <a:pPr rtl="1" algn="ctr" indent="0" marL="0">
              <a:buNone/>
            </a:pPr>
            <a:r>
              <a:rPr lang="ar-SA" altLang="en-US" sz="2400" b="1" dirty="0">
                <a:solidFill>
                  <a:srgbClr val="0E7C86"/>
                </a:solidFill>
                <a:latin typeface="Amiri" pitchFamily="2" charset="-78"/>
                <a:cs typeface="Amiri" pitchFamily="2" charset="-78"/>
              </a:rPr>
              <a:t>الطَّالِبِ</a:t>
            </a:r>
            <a:pPr rtl="1" algn="ctr" indent="0" marL="0">
              <a:buNone/>
            </a:pPr>
            <a:r>
              <a:rPr lang="ar-SA" altLang="en-US" sz="2400" b="1" dirty="0">
                <a:solidFill>
                  <a:srgbClr val="1B3B6F"/>
                </a:solidFill>
                <a:latin typeface="Amiri" pitchFamily="2" charset="-78"/>
                <a:cs typeface="Amiri" pitchFamily="2" charset="-78"/>
              </a:rPr>
              <a:t> </a:t>
            </a:r>
            <a:pPr rtl="1" algn="ctr" indent="0" marL="0">
              <a:buNone/>
            </a:pPr>
            <a:r>
              <a:rPr lang="ar-SA" altLang="en-US" sz="2400" b="1" dirty="0">
                <a:solidFill>
                  <a:srgbClr val="D6336C"/>
                </a:solidFill>
                <a:latin typeface="Amiri" pitchFamily="2" charset="-78"/>
                <a:cs typeface="Amiri" pitchFamily="2" charset="-78"/>
              </a:rPr>
              <a:t>الْمُجْتَهِدِ</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GM-ADJ-04 · Adjectives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Place the adjective after its noun.</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Make noun and adjective agree in gender, number and definiteness.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Tell a phrase from a sentence.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Copy the case ending of the noun onto the adjective.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put the adjective after the noun.</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put al- on both words or on neither.</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check all four features with the G-N-D-C list.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tell “the big house” from “the house is big”.</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copy -u, -a and -i onto the adjective.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write my big house with al- on the adjective.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GM-ADJ-04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النَّعْتُ</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adjective (describing word)</a:t>
            </a:r>
            <a:endParaRPr lang="en-US" sz="1350" dirty="0"/>
          </a:p>
          <a:p>
            <a:pPr indent="0" marL="0">
              <a:buNone/>
            </a:pPr>
            <a:r>
              <a:rPr lang="en-US" sz="1100" i="1" dirty="0">
                <a:solidFill>
                  <a:srgbClr val="5A6472"/>
                </a:solidFill>
                <a:latin typeface="Calibri" pitchFamily="34" charset="0"/>
                <a:cs typeface="Amiri" pitchFamily="2" charset="-78"/>
              </a:rPr>
              <a:t>an-naʿ-tu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also called </a:t>
            </a:r>
            <a:pPr algn="l" indent="0" marL="0">
              <a:buNone/>
            </a:pPr>
            <a:r>
              <a:rPr lang="ar-SA" altLang="en-US" sz="1300" dirty="0">
                <a:solidFill>
                  <a:srgbClr val="8A6D1E"/>
                </a:solidFill>
                <a:latin typeface="Amiri" pitchFamily="2" charset="-78"/>
                <a:cs typeface="Amiri" pitchFamily="2" charset="-78"/>
              </a:rPr>
              <a:t>صِفَةٌ</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الْمَنْعُوتُ</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noun described</a:t>
            </a:r>
            <a:endParaRPr lang="en-US" sz="1350" dirty="0"/>
          </a:p>
          <a:p>
            <a:pPr indent="0" marL="0">
              <a:buNone/>
            </a:pPr>
            <a:r>
              <a:rPr lang="en-US" sz="1100" i="1" dirty="0">
                <a:solidFill>
                  <a:srgbClr val="5A6472"/>
                </a:solidFill>
                <a:latin typeface="Calibri" pitchFamily="34" charset="0"/>
                <a:cs typeface="Amiri" pitchFamily="2" charset="-78"/>
              </a:rPr>
              <a:t>al-man-ʿū-tu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الطَّالِبُ الْمُجْتَهِدُ</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النَّوْعُ</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gender</a:t>
            </a:r>
            <a:endParaRPr lang="en-US" sz="1350" dirty="0"/>
          </a:p>
          <a:p>
            <a:pPr indent="0" marL="0">
              <a:buNone/>
            </a:pPr>
            <a:r>
              <a:rPr lang="en-US" sz="1100" i="1" dirty="0">
                <a:solidFill>
                  <a:srgbClr val="5A6472"/>
                </a:solidFill>
                <a:latin typeface="Calibri" pitchFamily="34" charset="0"/>
                <a:cs typeface="Amiri" pitchFamily="2" charset="-78"/>
              </a:rPr>
              <a:t>G</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مُذَكَّرٌ / مُؤَنَّثٌ</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الْعَدَدُ</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number</a:t>
            </a:r>
            <a:endParaRPr lang="en-US" sz="1350" dirty="0"/>
          </a:p>
          <a:p>
            <a:pPr indent="0" marL="0">
              <a:buNone/>
            </a:pPr>
            <a:r>
              <a:rPr lang="en-US" sz="1100" i="1" dirty="0">
                <a:solidFill>
                  <a:srgbClr val="5A6472"/>
                </a:solidFill>
                <a:latin typeface="Calibri" pitchFamily="34" charset="0"/>
                <a:cs typeface="Amiri" pitchFamily="2" charset="-78"/>
              </a:rPr>
              <a:t>N</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مُفْرَدٌ · مُثَنًّى · جَمْعٌ</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التَّعْرِيفُ</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definiteness</a:t>
            </a:r>
            <a:endParaRPr lang="en-US" sz="1350" dirty="0"/>
          </a:p>
          <a:p>
            <a:pPr indent="0" marL="0">
              <a:buNone/>
            </a:pPr>
            <a:r>
              <a:rPr lang="en-US" sz="1100" i="1" dirty="0">
                <a:solidFill>
                  <a:srgbClr val="5A6472"/>
                </a:solidFill>
                <a:latin typeface="Calibri" pitchFamily="34" charset="0"/>
                <a:cs typeface="Amiri" pitchFamily="2" charset="-78"/>
              </a:rPr>
              <a:t>D</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cs typeface="Amiri" pitchFamily="2" charset="-78"/>
              </a:rPr>
              <a:t>الـ</a:t>
            </a:r>
            <a:pPr algn="l" indent="0" marL="0">
              <a:buNone/>
            </a:pPr>
            <a:r>
              <a:rPr lang="en-US" sz="1000" i="1" dirty="0">
                <a:solidFill>
                  <a:srgbClr val="8A6D1E"/>
                </a:solidFill>
                <a:latin typeface="Calibri" pitchFamily="34" charset="0"/>
                <a:cs typeface="Amiri" pitchFamily="2" charset="-78"/>
              </a:rPr>
              <a:t> or none</a:t>
            </a:r>
            <a:endParaRPr lang="en-US" sz="10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الْإِعْرَابُ</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case</a:t>
            </a:r>
            <a:endParaRPr lang="en-US" sz="1350" dirty="0"/>
          </a:p>
          <a:p>
            <a:pPr indent="0" marL="0">
              <a:buNone/>
            </a:pPr>
            <a:r>
              <a:rPr lang="en-US" sz="1100" i="1" dirty="0">
                <a:solidFill>
                  <a:srgbClr val="5A6472"/>
                </a:solidFill>
                <a:latin typeface="Calibri" pitchFamily="34" charset="0"/>
                <a:cs typeface="Amiri" pitchFamily="2" charset="-78"/>
              </a:rPr>
              <a:t>C</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الطَّالِبُ · الطَّالِبَ · الطَّالِبِ</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GM-ADJ-04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STEP 1 · ADJECTIVE AFTER NOUN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noun comes first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الصِّفَةُ بَعْدَ الْمَوْصُوفِ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GM-ADJ-04</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RULE</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In an ordinary descriptive phrase, the adjective comes AFTER the noun (website).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English “a big house” becomes “house big” in Arabic.</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Website clinic: do not copy English word order.</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Two adjectives? Both follow the noun, usually joined by “and” or just side by side.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WORKED EXAMPLES</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cs typeface="Amiri" pitchFamily="2" charset="-78"/>
              </a:rPr>
              <a:t>بَيْتٌ كَبِيرٌ</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big house  ·  website</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cs typeface="Amiri" pitchFamily="2" charset="-78"/>
              </a:rPr>
              <a:t>مَدْرَسَةٌ جَدِيدَةٌ</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new school  ·  website</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cs typeface="Amiri" pitchFamily="2" charset="-78"/>
              </a:rPr>
              <a:t>شَارِعٌ طَوِيلٌ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long street  ·  website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cs typeface="Amiri" pitchFamily="2" charset="-78"/>
              </a:rPr>
              <a:t>غُرْفَةٌ صَغِيرَةٌ وَنَظِيفَةٌ</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small, clean room  ·  two adjectives</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GM-ADJ-04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STEP 2 · FOUR-PART AGREEMENT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G · N · D · C — the adjective copies all four</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الْمُطَابَقَةُ فِي أَرْبَعَةٍ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296912" y="1810512"/>
            <a:ext cx="43616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is copied</a:t>
            </a:r>
            <a:endParaRPr lang="en-US" sz="1100" dirty="0"/>
          </a:p>
        </p:txBody>
      </p:sp>
      <p:sp>
        <p:nvSpPr>
          <p:cNvPr id="17" name="Text 14"/>
          <p:cNvSpPr txBox="1"/>
          <p:nvPr/>
        </p:nvSpPr>
        <p:spPr>
          <a:xfrm>
            <a:off x="272491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Feature</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333488" y="2267712"/>
            <a:ext cx="43251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feminine → + </a:t>
            </a:r>
            <a:pPr algn="l" indent="0" marL="0">
              <a:buNone/>
            </a:pPr>
            <a:r>
              <a:rPr lang="ar-SA" altLang="en-US" sz="1450" dirty="0">
                <a:solidFill>
                  <a:srgbClr val="5A6472"/>
                </a:solidFill>
                <a:latin typeface="Amiri" pitchFamily="2" charset="-78"/>
                <a:cs typeface="Amiri" pitchFamily="2" charset="-78"/>
              </a:rPr>
              <a:t>ة</a:t>
            </a:r>
            <a:endParaRPr lang="en-US" sz="1100" dirty="0"/>
          </a:p>
        </p:txBody>
      </p:sp>
      <p:sp>
        <p:nvSpPr>
          <p:cNvPr id="21" name="Text 18"/>
          <p:cNvSpPr txBox="1"/>
          <p:nvPr/>
        </p:nvSpPr>
        <p:spPr>
          <a:xfrm>
            <a:off x="2743200" y="2267712"/>
            <a:ext cx="4389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طَالِبَةٌ مُجْتَهِدَةٌ</a:t>
            </a:r>
            <a:endParaRPr lang="ar-SA" sz="2400" dirty="0"/>
          </a:p>
        </p:txBody>
      </p:sp>
      <p:sp>
        <p:nvSpPr>
          <p:cNvPr id="22" name="Text 19"/>
          <p:cNvSpPr txBox="1"/>
          <p:nvPr/>
        </p:nvSpPr>
        <p:spPr>
          <a:xfrm>
            <a:off x="566928" y="2267712"/>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Gender</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7333488" y="2881884"/>
            <a:ext cx="43251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dual → -āni on both</a:t>
            </a:r>
            <a:endParaRPr lang="en-US" sz="1100" dirty="0"/>
          </a:p>
        </p:txBody>
      </p:sp>
      <p:sp>
        <p:nvSpPr>
          <p:cNvPr id="27" name="Text 24"/>
          <p:cNvSpPr txBox="1"/>
          <p:nvPr/>
        </p:nvSpPr>
        <p:spPr>
          <a:xfrm>
            <a:off x="2743200" y="2881884"/>
            <a:ext cx="4389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الطَّالِبَانِ الْمُجْتَهِدَانِ</a:t>
            </a:r>
            <a:endParaRPr lang="ar-SA" sz="2400" dirty="0"/>
          </a:p>
        </p:txBody>
      </p:sp>
      <p:sp>
        <p:nvSpPr>
          <p:cNvPr id="28" name="Text 25"/>
          <p:cNvSpPr txBox="1"/>
          <p:nvPr/>
        </p:nvSpPr>
        <p:spPr>
          <a:xfrm>
            <a:off x="566928" y="2881884"/>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Number</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7333488" y="3496056"/>
            <a:ext cx="43251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 on both (website)</a:t>
            </a:r>
            <a:endParaRPr lang="en-US" sz="1100" dirty="0"/>
          </a:p>
        </p:txBody>
      </p:sp>
      <p:sp>
        <p:nvSpPr>
          <p:cNvPr id="33" name="Text 30"/>
          <p:cNvSpPr txBox="1"/>
          <p:nvPr/>
        </p:nvSpPr>
        <p:spPr>
          <a:xfrm>
            <a:off x="2743200" y="3496056"/>
            <a:ext cx="4389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الطَّالِبُ الْمُجْتَهِدُ</a:t>
            </a:r>
            <a:endParaRPr lang="ar-SA" sz="2400" dirty="0"/>
          </a:p>
        </p:txBody>
      </p:sp>
      <p:sp>
        <p:nvSpPr>
          <p:cNvPr id="34" name="Text 31"/>
          <p:cNvSpPr txBox="1"/>
          <p:nvPr/>
        </p:nvSpPr>
        <p:spPr>
          <a:xfrm>
            <a:off x="566928" y="3496056"/>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Definiteness</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7333488" y="4110228"/>
            <a:ext cx="43251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 on both (website)</a:t>
            </a:r>
            <a:endParaRPr lang="en-US" sz="1100" dirty="0"/>
          </a:p>
        </p:txBody>
      </p:sp>
      <p:sp>
        <p:nvSpPr>
          <p:cNvPr id="39" name="Text 36"/>
          <p:cNvSpPr txBox="1"/>
          <p:nvPr/>
        </p:nvSpPr>
        <p:spPr>
          <a:xfrm>
            <a:off x="2743200" y="4110228"/>
            <a:ext cx="4389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جَاءَ الطَّالِبُ الْمُجْتَهِدُ.</a:t>
            </a:r>
            <a:endParaRPr lang="ar-SA" sz="2400" dirty="0"/>
          </a:p>
        </p:txBody>
      </p:sp>
      <p:sp>
        <p:nvSpPr>
          <p:cNvPr id="40" name="Text 37"/>
          <p:cNvSpPr txBox="1"/>
          <p:nvPr/>
        </p:nvSpPr>
        <p:spPr>
          <a:xfrm>
            <a:off x="566928" y="4110228"/>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Case: subject</a:t>
            </a:r>
            <a:endParaRPr lang="en-US" sz="11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7333488" y="4724400"/>
            <a:ext cx="43251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on both (website)</a:t>
            </a:r>
            <a:endParaRPr lang="en-US" sz="1100" dirty="0"/>
          </a:p>
        </p:txBody>
      </p:sp>
      <p:sp>
        <p:nvSpPr>
          <p:cNvPr id="43" name="Text 40"/>
          <p:cNvSpPr txBox="1"/>
          <p:nvPr/>
        </p:nvSpPr>
        <p:spPr>
          <a:xfrm>
            <a:off x="2743200" y="4724400"/>
            <a:ext cx="4389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رَأَيْتُ الطَّالِبَ الْمُجْتَهِدَ.</a:t>
            </a:r>
            <a:endParaRPr lang="ar-SA" sz="2400" dirty="0"/>
          </a:p>
        </p:txBody>
      </p:sp>
      <p:sp>
        <p:nvSpPr>
          <p:cNvPr id="44" name="Text 41"/>
          <p:cNvSpPr txBox="1"/>
          <p:nvPr/>
        </p:nvSpPr>
        <p:spPr>
          <a:xfrm>
            <a:off x="566928" y="4724400"/>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Case: object</a:t>
            </a:r>
            <a:endParaRPr lang="en-US" sz="11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7333488" y="5338572"/>
            <a:ext cx="43251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on both (website)</a:t>
            </a:r>
            <a:endParaRPr lang="en-US" sz="1100" dirty="0"/>
          </a:p>
        </p:txBody>
      </p:sp>
      <p:sp>
        <p:nvSpPr>
          <p:cNvPr id="47" name="Text 44"/>
          <p:cNvSpPr txBox="1"/>
          <p:nvPr/>
        </p:nvSpPr>
        <p:spPr>
          <a:xfrm>
            <a:off x="2743200" y="5338572"/>
            <a:ext cx="4389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تَحَدَّثْتُ مَعَ الطَّالِبِ الْمُجْتَهِدِ.</a:t>
            </a:r>
            <a:endParaRPr lang="ar-SA" sz="2400" dirty="0"/>
          </a:p>
        </p:txBody>
      </p:sp>
      <p:sp>
        <p:nvSpPr>
          <p:cNvPr id="48" name="Text 45"/>
          <p:cNvSpPr txBox="1"/>
          <p:nvPr/>
        </p:nvSpPr>
        <p:spPr>
          <a:xfrm>
            <a:off x="566928" y="5338572"/>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Case: after a preposition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for Core work, focus first on gender, number and definiteness; case endings are developed in Stretch.</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GM-ADJ-04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STEP 3 · PHRASE VERSUS SENTENCE (WEBSITE) · DEVELOP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Definiteness changes the structure</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عِبَارَةٌ أَمْ 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Why</a:t>
            </a:r>
            <a:endParaRPr lang="en-US" sz="1100" dirty="0"/>
          </a:p>
        </p:txBody>
      </p:sp>
      <p:sp>
        <p:nvSpPr>
          <p:cNvPr id="17" name="Text 14"/>
          <p:cNvSpPr txBox="1"/>
          <p:nvPr/>
        </p:nvSpPr>
        <p:spPr>
          <a:xfrm>
            <a:off x="455371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 on both → phrase (website)</a:t>
            </a:r>
            <a:endParaRPr lang="en-US" sz="1100" dirty="0"/>
          </a:p>
        </p:txBody>
      </p:sp>
      <p:sp>
        <p:nvSpPr>
          <p:cNvPr id="21" name="Text 18"/>
          <p:cNvSpPr txBox="1"/>
          <p:nvPr/>
        </p:nvSpPr>
        <p:spPr>
          <a:xfrm>
            <a:off x="459028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small boy</a:t>
            </a:r>
            <a:endParaRPr lang="en-US" sz="1100" dirty="0"/>
          </a:p>
        </p:txBody>
      </p:sp>
      <p:sp>
        <p:nvSpPr>
          <p:cNvPr id="22" name="Text 19"/>
          <p:cNvSpPr txBox="1"/>
          <p:nvPr/>
        </p:nvSpPr>
        <p:spPr>
          <a:xfrm>
            <a:off x="548640" y="2267712"/>
            <a:ext cx="384048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الْوَلَدُ الصَّغِيرُ</a:t>
            </a:r>
            <a:endParaRPr lang="ar-SA" sz="26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adjective without al- → sentence (website)</a:t>
            </a:r>
            <a:endParaRPr lang="en-US" sz="1100" dirty="0"/>
          </a:p>
        </p:txBody>
      </p:sp>
      <p:sp>
        <p:nvSpPr>
          <p:cNvPr id="27" name="Text 24"/>
          <p:cNvSpPr txBox="1"/>
          <p:nvPr/>
        </p:nvSpPr>
        <p:spPr>
          <a:xfrm>
            <a:off x="459028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boy is small.</a:t>
            </a:r>
            <a:endParaRPr lang="en-US" sz="1100" dirty="0"/>
          </a:p>
        </p:txBody>
      </p:sp>
      <p:sp>
        <p:nvSpPr>
          <p:cNvPr id="28" name="Text 25"/>
          <p:cNvSpPr txBox="1"/>
          <p:nvPr/>
        </p:nvSpPr>
        <p:spPr>
          <a:xfrm>
            <a:off x="548640" y="3004718"/>
            <a:ext cx="384048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الْوَلَدُ صَغِيرٌ.</a:t>
            </a:r>
            <a:endParaRPr lang="ar-SA" sz="26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neither → phrase (website)</a:t>
            </a:r>
            <a:endParaRPr lang="en-US" sz="1100" dirty="0"/>
          </a:p>
        </p:txBody>
      </p:sp>
      <p:sp>
        <p:nvSpPr>
          <p:cNvPr id="33" name="Text 30"/>
          <p:cNvSpPr txBox="1"/>
          <p:nvPr/>
        </p:nvSpPr>
        <p:spPr>
          <a:xfrm>
            <a:off x="459028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small boy</a:t>
            </a:r>
            <a:endParaRPr lang="en-US" sz="1100" dirty="0"/>
          </a:p>
        </p:txBody>
      </p:sp>
      <p:sp>
        <p:nvSpPr>
          <p:cNvPr id="34" name="Text 31"/>
          <p:cNvSpPr txBox="1"/>
          <p:nvPr/>
        </p:nvSpPr>
        <p:spPr>
          <a:xfrm>
            <a:off x="548640" y="3741725"/>
            <a:ext cx="384048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وَلَدٌ صَغِيرٌ</a:t>
            </a:r>
            <a:endParaRPr lang="ar-SA" sz="26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house” is definite → al- on the adjective</a:t>
            </a:r>
            <a:endParaRPr lang="en-US" sz="1100" dirty="0"/>
          </a:p>
        </p:txBody>
      </p:sp>
      <p:sp>
        <p:nvSpPr>
          <p:cNvPr id="39" name="Text 36"/>
          <p:cNvSpPr txBox="1"/>
          <p:nvPr/>
        </p:nvSpPr>
        <p:spPr>
          <a:xfrm>
            <a:off x="459028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big house</a:t>
            </a:r>
            <a:endParaRPr lang="en-US" sz="1100" dirty="0"/>
          </a:p>
        </p:txBody>
      </p:sp>
      <p:sp>
        <p:nvSpPr>
          <p:cNvPr id="40" name="Text 37"/>
          <p:cNvSpPr txBox="1"/>
          <p:nvPr/>
        </p:nvSpPr>
        <p:spPr>
          <a:xfrm>
            <a:off x="548640" y="4478731"/>
            <a:ext cx="384048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بَيْتِي الْكَبِيرُ</a:t>
            </a:r>
            <a:endParaRPr lang="ar-SA" sz="26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iḍāfa is definite → al- on the adjective (N-07)</a:t>
            </a:r>
            <a:endParaRPr lang="en-US" sz="1100" dirty="0"/>
          </a:p>
        </p:txBody>
      </p:sp>
      <p:sp>
        <p:nvSpPr>
          <p:cNvPr id="43" name="Text 40"/>
          <p:cNvSpPr txBox="1"/>
          <p:nvPr/>
        </p:nvSpPr>
        <p:spPr>
          <a:xfrm>
            <a:off x="459028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brother’s new house</a:t>
            </a:r>
            <a:endParaRPr lang="en-US" sz="1100" dirty="0"/>
          </a:p>
        </p:txBody>
      </p:sp>
      <p:sp>
        <p:nvSpPr>
          <p:cNvPr id="44" name="Text 41"/>
          <p:cNvSpPr txBox="1"/>
          <p:nvPr/>
        </p:nvSpPr>
        <p:spPr>
          <a:xfrm>
            <a:off x="548640" y="5215738"/>
            <a:ext cx="384048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بَيْتُ أَخِي الْجَدِيدُ</a:t>
            </a:r>
            <a:endParaRPr lang="ar-SA" sz="26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Stretch: a noun with a possessive ending or a definite iḍāfa counts as definite — so the adjective needs al-.</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GM-ADJ-04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long street”.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طَوِيلٌ شَارِعٌ</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الشَّارِعُ طَوِيلٌ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شَارِعٌ طَوِيلٌ</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clean room”.</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الْغُرْفَةُ النَّظِيفَةُ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الْغُرْفَةُ نَظِيفَةٌ</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الْغُرْفَةُ نَظِيفَةُ</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visited the old city.”</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زُرْتُ الْمَدِينَةَ الْقَدِيمَةُ.</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زُرْتُ الْمَدِينَةَ الْقَدِيمَةَ.</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زُرْتُ الْمَدِينَةُ الْقَدِيمَةِ.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بَيْتِي الْجَدِيدُ</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new house</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house is new.</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new house</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GM-ADJ-04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long street”.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طَوِيلٌ شَارِعٌ</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الشَّارِعُ طَوِيلٌ</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شَارِعٌ طَوِيلٌ</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Adjective after the noun.</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clean room”.</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الْغُرْفَةُ النَّظِيفَةُ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الْغُرْفَةُ نَظِيفَةٌ</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الْغُرْفَةُ نَظِيفَةُ</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 on both.</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visited the old city.”</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زُرْتُ الْمَدِينَةَ الْقَدِيمَةُ.</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زُرْتُ الْمَدِينَةَ الْقَدِيمَةَ.</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زُرْتُ الْمَدِينَةُ الْقَدِيمَةِ.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Object: -a on both.</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بَيْتِي الْجَدِيدُ</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my new house</a:t>
            </a:r>
            <a:endParaRPr lang="en-US" sz="125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My house is new.</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new house</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possessive noun is definite → al- adjective = phrase.</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GM-ADJ-04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tick G · N · D · 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GM-ADJ-04</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Noun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السَّيَّارَةَ</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 · sing · al- · object.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G · 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سَرِيعَةٌ</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feminine, singular.</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D</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السَّرِيعَةُ</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al-.</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رَأَيْتُ السَّيَّارَةَ السَّرِيعَةَ</a:t>
            </a:r>
            <a:endParaRPr lang="ar-SA" sz="24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object → -a.</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NOUN</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ADJECTIVE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رَأَيْتُ </a:t>
            </a:r>
            <a:pPr rtl="1" algn="r" indent="0" marL="0">
              <a:buNone/>
            </a:pPr>
            <a:r>
              <a:rPr lang="ar-SA" altLang="en-US" sz="2600" b="1" dirty="0">
                <a:solidFill>
                  <a:srgbClr val="0E7C86"/>
                </a:solidFill>
                <a:latin typeface="Amiri" pitchFamily="2" charset="-78"/>
                <a:cs typeface="Amiri" pitchFamily="2" charset="-78"/>
              </a:rPr>
              <a:t>السَّيَّارَةَ</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D6336C"/>
                </a:solidFill>
                <a:latin typeface="Amiri" pitchFamily="2" charset="-78"/>
                <a:cs typeface="Amiri" pitchFamily="2" charset="-78"/>
              </a:rPr>
              <a:t>السَّرِيعَةَ</a:t>
            </a:r>
            <a:pPr rtl="1" algn="r" indent="0" marL="0">
              <a:buNone/>
            </a:pPr>
            <a:r>
              <a:rPr lang="ar-SA" altLang="en-US" sz="2600" b="1" dirty="0">
                <a:solidFill>
                  <a:srgbClr val="1B3B6F"/>
                </a:solidFill>
                <a:latin typeface="Amiri" pitchFamily="2" charset="-78"/>
                <a:cs typeface="Amiri" pitchFamily="2" charset="-78"/>
              </a:rPr>
              <a:t> أَمَامَ </a:t>
            </a:r>
            <a:pPr rtl="1" algn="r" indent="0" marL="0">
              <a:buNone/>
            </a:pPr>
            <a:r>
              <a:rPr lang="ar-SA" altLang="en-US" sz="2600" b="1" dirty="0">
                <a:solidFill>
                  <a:srgbClr val="0E7C86"/>
                </a:solidFill>
                <a:latin typeface="Amiri" pitchFamily="2" charset="-78"/>
                <a:cs typeface="Amiri" pitchFamily="2" charset="-78"/>
              </a:rPr>
              <a:t>الْبَيْتِ</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D6336C"/>
                </a:solidFill>
                <a:latin typeface="Amiri" pitchFamily="2" charset="-78"/>
                <a:cs typeface="Amiri" pitchFamily="2" charset="-78"/>
              </a:rPr>
              <a:t>الْكَبِيرِ</a:t>
            </a:r>
            <a:pPr rtl="1" algn="r" indent="0" marL="0">
              <a:buNone/>
            </a:pPr>
            <a:r>
              <a:rPr lang="ar-SA" altLang="en-US" sz="2600" b="1" dirty="0">
                <a:solidFill>
                  <a:srgbClr val="1B3B6F"/>
                </a:solidFill>
                <a:latin typeface="Amiri" pitchFamily="2" charset="-78"/>
                <a:cs typeface="Amiri" pitchFamily="2" charset="-78"/>
              </a:rPr>
              <a:t>، وَ</a:t>
            </a:r>
            <a:pPr rtl="1" algn="r" indent="0" marL="0">
              <a:buNone/>
            </a:pPr>
            <a:r>
              <a:rPr lang="ar-SA" altLang="en-US" sz="2600" b="1" dirty="0">
                <a:solidFill>
                  <a:srgbClr val="0E7C86"/>
                </a:solidFill>
                <a:latin typeface="Amiri" pitchFamily="2" charset="-78"/>
                <a:cs typeface="Amiri" pitchFamily="2" charset="-78"/>
              </a:rPr>
              <a:t>صَاحِبُهَا</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D6336C"/>
                </a:solidFill>
                <a:latin typeface="Amiri" pitchFamily="2" charset="-78"/>
                <a:cs typeface="Amiri" pitchFamily="2" charset="-78"/>
              </a:rPr>
              <a:t>الْجَدِيدُ</a:t>
            </a:r>
            <a:pPr rtl="1" algn="r" indent="0" marL="0">
              <a:buNone/>
            </a:pPr>
            <a:r>
              <a:rPr lang="ar-SA" altLang="en-US" sz="2600" b="1" dirty="0">
                <a:solidFill>
                  <a:srgbClr val="1B3B6F"/>
                </a:solidFill>
                <a:latin typeface="Amiri" pitchFamily="2" charset="-78"/>
                <a:cs typeface="Amiri" pitchFamily="2" charset="-78"/>
              </a:rPr>
              <a:t> لَطِيفٌ.</a:t>
            </a:r>
            <a:endParaRPr lang="ar-SA" sz="2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I saw the fast car in front of the big house, and its new owner is kind.</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GM-ADJ-04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GM-ADJ-04</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الْبَيْتُ الْكَبِيرُ</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big house</a:t>
            </a:r>
            <a:endParaRPr lang="en-US" sz="1250" dirty="0"/>
          </a:p>
          <a:p>
            <a:pPr indent="0" marL="0">
              <a:buNone/>
            </a:pPr>
            <a:r>
              <a:rPr lang="en-US" sz="1050" i="1" dirty="0">
                <a:solidFill>
                  <a:srgbClr val="8A6D1E"/>
                </a:solidFill>
                <a:latin typeface="Calibri" pitchFamily="34" charset="0"/>
                <a:cs typeface="Amiri" pitchFamily="2" charset="-78"/>
              </a:rPr>
              <a:t>Website model bank: phrase.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الْبَيْتُ كَبِيرٌ.</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house is big.</a:t>
            </a:r>
            <a:endParaRPr lang="en-US" sz="1250" dirty="0"/>
          </a:p>
          <a:p>
            <a:pPr indent="0" marL="0">
              <a:buNone/>
            </a:pPr>
            <a:r>
              <a:rPr lang="en-US" sz="1050" i="1" dirty="0">
                <a:solidFill>
                  <a:srgbClr val="8A6D1E"/>
                </a:solidFill>
                <a:latin typeface="Calibri" pitchFamily="34" charset="0"/>
                <a:cs typeface="Amiri" pitchFamily="2" charset="-78"/>
              </a:rPr>
              <a:t>Website model bank: sentence.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سَكَنْتُ فِي شَقَّةٍ صَغِيرَةٍ.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lived in a small flat.</a:t>
            </a:r>
            <a:endParaRPr lang="en-US" sz="1250" dirty="0"/>
          </a:p>
          <a:p>
            <a:pPr indent="0" marL="0">
              <a:buNone/>
            </a:pPr>
            <a:r>
              <a:rPr lang="en-US" sz="1050" i="1" dirty="0">
                <a:solidFill>
                  <a:srgbClr val="8A6D1E"/>
                </a:solidFill>
                <a:latin typeface="Calibri" pitchFamily="34" charset="0"/>
                <a:cs typeface="Amiri" pitchFamily="2" charset="-78"/>
              </a:rPr>
              <a:t>After a preposition: -in on both.</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الْمُعَلِّمَتَانِ الْجَدِيدَتَانِ لَطِيفَتَانِ.</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two new teachers (f.) are kind.</a:t>
            </a:r>
            <a:endParaRPr lang="en-US" sz="1250" dirty="0"/>
          </a:p>
          <a:p>
            <a:pPr indent="0" marL="0">
              <a:buNone/>
            </a:pPr>
            <a:r>
              <a:rPr lang="en-US" sz="1050" i="1" dirty="0">
                <a:solidFill>
                  <a:srgbClr val="8A6D1E"/>
                </a:solidFill>
                <a:latin typeface="Calibri" pitchFamily="34" charset="0"/>
                <a:cs typeface="Amiri" pitchFamily="2" charset="-78"/>
              </a:rPr>
              <a:t>Dual: copied on every word.</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GM-ADJ-04 · Adjectives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PHRASE OR SENTENCE?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phrase, or a full sentence?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عِبَارَةٌ أَمْ 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الْقَلَمُ الْجَدِيدُ</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الْقَلَمُ جَدِيدٌ</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قِصَّةٌ طَوِيلَةٌ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الْقِصَّةُ طَوِيلَةٌ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غُرْفَتِي الْوَاسِعَةُ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غُرْفَتِي وَاسِعَةٌ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الْجَوُّ الْبَارِدُ</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الْجَوُّ بَارِدٌ</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Phrase (“the / a … ”)</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Sentence (“… is …”)</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GM-ADJ-04 · Adjectives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GM-ADJ-04</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Phrase (“the / a … ”)</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الْقَلَمُ الْجَدِيدُ</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قِصَّةٌ طَوِيلَةٌ</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غُرْفَتِي الْوَاسِعَةُ</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الْجَوُّ الْبَارِدُ</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Sentence (“… is …”)</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الْقَلَمُ جَدِيدٌ</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الْقِصَّةُ طَوِيلَةٌ</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غُرْفَتِي وَاسِعَةٌ</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الْجَوُّ بَارِدٌ</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GM-ADJ-04 · Adjectives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COPY THE CASE · SAY IT ALOUD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Put the phrase into the sentence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ضَعِ الْعِبَارَةَ فِي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931152" y="1810512"/>
            <a:ext cx="47274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Result</a:t>
            </a:r>
            <a:endParaRPr lang="en-US" sz="1100" dirty="0"/>
          </a:p>
        </p:txBody>
      </p:sp>
      <p:sp>
        <p:nvSpPr>
          <p:cNvPr id="17" name="Text 14"/>
          <p:cNvSpPr txBox="1"/>
          <p:nvPr/>
        </p:nvSpPr>
        <p:spPr>
          <a:xfrm>
            <a:off x="382219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Phrase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6949440" y="2267712"/>
            <a:ext cx="469087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جَاءَ الْمُعَلِّمُ الْجَدِيدُ.</a:t>
            </a:r>
            <a:endParaRPr lang="ar-SA" sz="2400" dirty="0"/>
          </a:p>
        </p:txBody>
      </p:sp>
      <p:sp>
        <p:nvSpPr>
          <p:cNvPr id="21" name="Text 18"/>
          <p:cNvSpPr txBox="1"/>
          <p:nvPr/>
        </p:nvSpPr>
        <p:spPr>
          <a:xfrm>
            <a:off x="3840480" y="2267712"/>
            <a:ext cx="29260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جَاءَ …</a:t>
            </a:r>
            <a:endParaRPr lang="ar-SA" sz="2200" dirty="0"/>
          </a:p>
        </p:txBody>
      </p:sp>
      <p:sp>
        <p:nvSpPr>
          <p:cNvPr id="22" name="Text 19"/>
          <p:cNvSpPr txBox="1"/>
          <p:nvPr/>
        </p:nvSpPr>
        <p:spPr>
          <a:xfrm>
            <a:off x="548640" y="2267712"/>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الْمُعَلِّمُ الْجَدِيدُ</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6949440" y="3004718"/>
            <a:ext cx="469087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شَكَرْتُ الْمُعَلِّمَ الْجَدِيدَ.</a:t>
            </a:r>
            <a:endParaRPr lang="ar-SA" sz="2400" dirty="0"/>
          </a:p>
        </p:txBody>
      </p:sp>
      <p:sp>
        <p:nvSpPr>
          <p:cNvPr id="27" name="Text 24"/>
          <p:cNvSpPr txBox="1"/>
          <p:nvPr/>
        </p:nvSpPr>
        <p:spPr>
          <a:xfrm>
            <a:off x="3840480" y="3004718"/>
            <a:ext cx="29260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شَكَرْتُ …</a:t>
            </a:r>
            <a:endParaRPr lang="ar-SA" sz="2200" dirty="0"/>
          </a:p>
        </p:txBody>
      </p:sp>
      <p:sp>
        <p:nvSpPr>
          <p:cNvPr id="28" name="Text 25"/>
          <p:cNvSpPr txBox="1"/>
          <p:nvPr/>
        </p:nvSpPr>
        <p:spPr>
          <a:xfrm>
            <a:off x="548640" y="3004718"/>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الْمُعَلِّمُ الْجَدِيدُ</a:t>
            </a:r>
            <a:endParaRPr lang="ar-SA" sz="22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6949440" y="3741725"/>
            <a:ext cx="469087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سَلَّمْتُ عَلَى الْمُعَلِّمِ الْجَدِيدِ.</a:t>
            </a:r>
            <a:endParaRPr lang="ar-SA" sz="2400" dirty="0"/>
          </a:p>
        </p:txBody>
      </p:sp>
      <p:sp>
        <p:nvSpPr>
          <p:cNvPr id="33" name="Text 30"/>
          <p:cNvSpPr txBox="1"/>
          <p:nvPr/>
        </p:nvSpPr>
        <p:spPr>
          <a:xfrm>
            <a:off x="3840480" y="3741725"/>
            <a:ext cx="29260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سَلَّمْتُ عَلَى …</a:t>
            </a:r>
            <a:endParaRPr lang="ar-SA" sz="2200" dirty="0"/>
          </a:p>
        </p:txBody>
      </p:sp>
      <p:sp>
        <p:nvSpPr>
          <p:cNvPr id="34" name="Text 31"/>
          <p:cNvSpPr txBox="1"/>
          <p:nvPr/>
        </p:nvSpPr>
        <p:spPr>
          <a:xfrm>
            <a:off x="548640" y="3741725"/>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الْمُعَلِّمُ الْجَدِيدُ</a:t>
            </a:r>
            <a:endParaRPr lang="ar-SA" sz="22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6949440" y="4478731"/>
            <a:ext cx="469087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جَلَسْنَا فِي حَدِيقَةٍ جَمِيلَةٍ.</a:t>
            </a:r>
            <a:endParaRPr lang="ar-SA" sz="2400" dirty="0"/>
          </a:p>
        </p:txBody>
      </p:sp>
      <p:sp>
        <p:nvSpPr>
          <p:cNvPr id="39" name="Text 36"/>
          <p:cNvSpPr txBox="1"/>
          <p:nvPr/>
        </p:nvSpPr>
        <p:spPr>
          <a:xfrm>
            <a:off x="3840480" y="4478731"/>
            <a:ext cx="29260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جَلَسْنَا فِي …</a:t>
            </a:r>
            <a:endParaRPr lang="ar-SA" sz="2200" dirty="0"/>
          </a:p>
        </p:txBody>
      </p:sp>
      <p:sp>
        <p:nvSpPr>
          <p:cNvPr id="40" name="Text 37"/>
          <p:cNvSpPr txBox="1"/>
          <p:nvPr/>
        </p:nvSpPr>
        <p:spPr>
          <a:xfrm>
            <a:off x="548640" y="4478731"/>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حَدِيقَةٌ جَمِيلَةٌ</a:t>
            </a:r>
            <a:endParaRPr lang="ar-SA" sz="22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6949440" y="5215738"/>
            <a:ext cx="469087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قَرَأْتُ كِتَابًا مُفِيدًا.</a:t>
            </a:r>
            <a:endParaRPr lang="ar-SA" sz="2400" dirty="0"/>
          </a:p>
        </p:txBody>
      </p:sp>
      <p:sp>
        <p:nvSpPr>
          <p:cNvPr id="43" name="Text 40"/>
          <p:cNvSpPr txBox="1"/>
          <p:nvPr/>
        </p:nvSpPr>
        <p:spPr>
          <a:xfrm>
            <a:off x="3840480" y="5215738"/>
            <a:ext cx="29260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قَرَأْتُ …</a:t>
            </a:r>
            <a:endParaRPr lang="ar-SA" sz="2200" dirty="0"/>
          </a:p>
        </p:txBody>
      </p:sp>
      <p:sp>
        <p:nvSpPr>
          <p:cNvPr id="44" name="Text 41"/>
          <p:cNvSpPr txBox="1"/>
          <p:nvPr/>
        </p:nvSpPr>
        <p:spPr>
          <a:xfrm>
            <a:off x="548640" y="5215738"/>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كِتَابٌ مُفِيدٌ</a:t>
            </a:r>
            <a:endParaRPr lang="ar-SA" sz="22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same phrase changes its last vowel in each sentence — and the noun and adjective ALWAYS change together.</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GM-ADJ-04 · Adjectives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كَبِيرٌ بَيْتٌ</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word comes first?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الْمَدْرَسَةُ جَدِيدَةُ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Al- on both?</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رَأَيْتُ الْوَلَدَ الصَّغِيرُ.</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Does the case match?</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GM-ADJ-04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كَبِيرٌ بَيْتٌ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بَيْتٌ كَبِيرٌ</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adjective follows the noun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الْمَدْرَسَةُ جَدِيدَةُ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الْمَدْرَسَةُ الْجَدِيدَةُ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For “the new school”, al- on both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رَأَيْتُ الْوَلَدَ الصَّغِيرُ.</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رَأَيْتُ الْوَلَدَ الصَّغِيرَ.</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adjective copies the case.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GM-ADJ-04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GUIDED PRACTICE · TEACHER-WRITTEN PRACTICE ON THE WEBSITE RULES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hot day”.</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حَارٌّ يَوْمٌ</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الْيَوْمُ حَارٌّ</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يَوْمٌ حَارٌّ</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street is long.”</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الشَّارِعُ الطَّوِيلُ</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الشَّارِعُ طَوِيلٌ.</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شَارِعٌ طَوِيلٌ</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“in the small garden”.</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الْحَدِيقَةِ الصَّغِيرَةُ</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الْحَدِيقَةِ الصَّغِيرَةِ</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الْحَدِيقَةِ صَغِيرَةٍ</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old friend”.</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صَدِيقِي قَدِيمٌ</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الصَّدِيقِي الْقَدِيمُ</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صَدِيقِي الْقَدِيمُ</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GM-ADJ-04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hot day”.</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حَارٌّ يَوْمٌ</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الْيَوْمُ حَارٌّ</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يَوْمٌ حَارٌّ</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Adjective after noun, both indefinite.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street is long.”</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الشَّارِعُ الطَّوِيلُ</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الشَّارِعُ طَوِيلٌ.</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شَارِعٌ طَوِيلٌ</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Sentence: no al- on the adjective.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“in the small garden”.</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الْحَدِيقَةِ الصَّغِيرَةُ</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 الْحَدِيقَةِ الصَّغِيرَةِ</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الْحَدِيقَةِ صَغِيرَةٍ</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Genitive and definite on both.</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old friend”.</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صَدِيقِي قَدِيمٌ</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الصَّدِيقِي الْقَدِيمُ</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صَدِيقِي الْقَدِيمُ</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Possessive noun is definite → al- adjective.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GM-ADJ-04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E6B52"/>
                </a:solidFill>
                <a:latin typeface="Calibri" pitchFamily="34" charset="0"/>
                <a:cs typeface="Amiri" pitchFamily="2" charset="-78"/>
              </a:rPr>
              <a:t>YOU DO · READ AND NOTICE · WEBSITE READING TEXT, EXTENDED BY THE TEACHER</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walk in my city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GM-ADJ-04</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فِي مَدِينَتِي أَمَاكِنُ جَمِيلَةٌ وَشَوَارِعُ وَاسِعَةٌ. هَذِهِ الْمَدْرَسَةُ الْجَدِيدَةُ قَرِيبَةٌ، وَذَلِكَ الْمَتْحَفُ الْقَدِيمُ مُثِيرٌ لِلِاهْتِمَامِ. أَمْشِي كُلَّ يَوْمٍ فِي الشَّارِعِ الطَّوِيلِ، وَأَرَى الْحَدِيقَةَ الْكَبِيرَةَ. صَدِيقِي الْجَدِيدُ يَسْكُنُ فِي بَيْتٍ قَدِيمٍ.</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أَمَاكِنُ</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places</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وَاسِعَةٌ</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wide</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الْمَتْحَفُ</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museum</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مُثِيرٌ لِلِاهْتِمَامِ</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interesting</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أَمْشِي</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walk</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أَرَى</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see</a:t>
            </a:r>
            <a:endParaRPr lang="en-US" sz="1050" dirty="0"/>
          </a:p>
        </p:txBody>
      </p:sp>
      <p:sp>
        <p:nvSpPr>
          <p:cNvPr id="31" name="Text 28"/>
          <p:cNvSpPr txBox="1"/>
          <p:nvPr/>
        </p:nvSpPr>
        <p:spPr>
          <a:xfrm>
            <a:off x="10102291" y="52303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يَسْكُنُ</a:t>
            </a:r>
            <a:endParaRPr lang="ar-SA" sz="1600" dirty="0"/>
          </a:p>
        </p:txBody>
      </p:sp>
      <p:sp>
        <p:nvSpPr>
          <p:cNvPr id="32" name="Text 29"/>
          <p:cNvSpPr txBox="1"/>
          <p:nvPr/>
        </p:nvSpPr>
        <p:spPr>
          <a:xfrm>
            <a:off x="8851392" y="52303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lives</a:t>
            </a:r>
            <a:endParaRPr lang="en-US" sz="10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GM-ADJ-04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the second sentence, the school words form …</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phrase only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sentence: “The new school is near.”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phrases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adjective of the garden end in -a?</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after a preposition.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the subject.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garden is the object of </a:t>
            </a:r>
            <a:pPr algn="l" indent="0" marL="0">
              <a:buNone/>
            </a:pPr>
            <a:r>
              <a:rPr lang="ar-SA" altLang="en-US" sz="1650" dirty="0">
                <a:solidFill>
                  <a:srgbClr val="1F2A37"/>
                </a:solidFill>
                <a:latin typeface="Amiri" pitchFamily="2" charset="-78"/>
                <a:cs typeface="Amiri" pitchFamily="2" charset="-78"/>
              </a:rPr>
              <a:t>أَرَى</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adjective of the street end in -i?</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comes after the preposition </a:t>
            </a:r>
            <a:pPr algn="l" indent="0" marL="0">
              <a:buNone/>
            </a:pPr>
            <a:r>
              <a:rPr lang="ar-SA" altLang="en-US" sz="1650" dirty="0">
                <a:solidFill>
                  <a:srgbClr val="1F2A37"/>
                </a:solidFill>
                <a:latin typeface="Amiri" pitchFamily="2" charset="-78"/>
                <a:cs typeface="Amiri" pitchFamily="2" charset="-78"/>
              </a:rPr>
              <a:t>فِي</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the object.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feminine.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a:t>
            </a:r>
            <a:pPr algn="l" indent="0" marL="0">
              <a:buNone/>
            </a:pPr>
            <a:r>
              <a:rPr lang="ar-SA" altLang="en-US" sz="1650" b="1" dirty="0">
                <a:solidFill>
                  <a:srgbClr val="1B3B6F"/>
                </a:solidFill>
                <a:latin typeface="Amiri" pitchFamily="2" charset="-78"/>
                <a:cs typeface="Amiri" pitchFamily="2" charset="-78"/>
              </a:rPr>
              <a:t>الْجَدِيدُ</a:t>
            </a:r>
            <a:pPr algn="l" indent="0" marL="0">
              <a:buNone/>
            </a:pPr>
            <a:r>
              <a:rPr lang="en-US" sz="1250" b="1" dirty="0">
                <a:solidFill>
                  <a:srgbClr val="1B3B6F"/>
                </a:solidFill>
                <a:latin typeface="Calibri" pitchFamily="34" charset="0"/>
                <a:cs typeface="Amiri" pitchFamily="2" charset="-78"/>
              </a:rPr>
              <a:t> have al- after </a:t>
            </a:r>
            <a:pPr algn="l" indent="0" marL="0">
              <a:buNone/>
            </a:pPr>
            <a:r>
              <a:rPr lang="ar-SA" altLang="en-US" sz="1650" b="1" dirty="0">
                <a:solidFill>
                  <a:srgbClr val="1B3B6F"/>
                </a:solidFill>
                <a:latin typeface="Amiri" pitchFamily="2" charset="-78"/>
                <a:cs typeface="Amiri" pitchFamily="2" charset="-78"/>
              </a:rPr>
              <a:t>صَدِيقِي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sentence.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friend” is definite.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mistake.</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GM-ADJ-04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the second sentence, the school words form …</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phrase only</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sentence: “The new school is near.”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phrases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Phrase + adjective without al-.</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adjective of the garden end in -a?</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after a preposition.</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the subject.</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garden is the object of </a:t>
            </a:r>
            <a:pPr algn="l" indent="0" marL="0">
              <a:buNone/>
            </a:pPr>
            <a:r>
              <a:rPr lang="ar-SA" altLang="en-US" sz="1650" b="1" dirty="0">
                <a:solidFill>
                  <a:srgbClr val="1F2A37"/>
                </a:solidFill>
                <a:latin typeface="Amiri" pitchFamily="2" charset="-78"/>
                <a:cs typeface="Amiri" pitchFamily="2" charset="-78"/>
              </a:rPr>
              <a:t>أَرَى</a:t>
            </a:r>
            <a:pPr algn="l" indent="0" marL="0">
              <a:buNone/>
            </a:pPr>
            <a:r>
              <a:rPr lang="en-US" sz="1250" b="1" dirty="0">
                <a:solidFill>
                  <a:srgbClr val="1F2A37"/>
                </a:solidFill>
                <a:latin typeface="Calibri" pitchFamily="34" charset="0"/>
                <a:cs typeface="Amiri" pitchFamily="2" charset="-78"/>
              </a:rPr>
              <a: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Case copied: -a.</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adjective of the street end in -i?</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comes after the preposition </a:t>
            </a:r>
            <a:pPr algn="l" indent="0" marL="0">
              <a:buNone/>
            </a:pPr>
            <a:r>
              <a:rPr lang="ar-SA" altLang="en-US" sz="1650" b="1" dirty="0">
                <a:solidFill>
                  <a:srgbClr val="1F2A37"/>
                </a:solidFill>
                <a:latin typeface="Amiri" pitchFamily="2" charset="-78"/>
                <a:cs typeface="Amiri" pitchFamily="2" charset="-78"/>
              </a:rPr>
              <a:t>فِي</a:t>
            </a:r>
            <a:pPr algn="l" indent="0" marL="0">
              <a:buNone/>
            </a:pPr>
            <a:r>
              <a:rPr lang="en-US" sz="1250" b="1" dirty="0">
                <a:solidFill>
                  <a:srgbClr val="1F2A37"/>
                </a:solidFill>
                <a:latin typeface="Calibri" pitchFamily="34" charset="0"/>
                <a:cs typeface="Amiri" pitchFamily="2" charset="-78"/>
              </a:rPr>
              <a:t>.</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the object.</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feminine.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Case copied: -i.</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a:t>
            </a:r>
            <a:pPr algn="l" indent="0" marL="0">
              <a:buNone/>
            </a:pPr>
            <a:r>
              <a:rPr lang="ar-SA" altLang="en-US" sz="1650" b="1" dirty="0">
                <a:solidFill>
                  <a:srgbClr val="1B3B6F"/>
                </a:solidFill>
                <a:latin typeface="Amiri" pitchFamily="2" charset="-78"/>
                <a:cs typeface="Amiri" pitchFamily="2" charset="-78"/>
              </a:rPr>
              <a:t>الْجَدِيدُ</a:t>
            </a:r>
            <a:pPr algn="l" indent="0" marL="0">
              <a:buNone/>
            </a:pPr>
            <a:r>
              <a:rPr lang="en-US" sz="1250" b="1" dirty="0">
                <a:solidFill>
                  <a:srgbClr val="1B3B6F"/>
                </a:solidFill>
                <a:latin typeface="Calibri" pitchFamily="34" charset="0"/>
                <a:cs typeface="Amiri" pitchFamily="2" charset="-78"/>
              </a:rPr>
              <a:t> have al- after </a:t>
            </a:r>
            <a:pPr algn="l" indent="0" marL="0">
              <a:buNone/>
            </a:pPr>
            <a:r>
              <a:rPr lang="ar-SA" altLang="en-US" sz="1650" b="1" dirty="0">
                <a:solidFill>
                  <a:srgbClr val="1B3B6F"/>
                </a:solidFill>
                <a:latin typeface="Amiri" pitchFamily="2" charset="-78"/>
                <a:cs typeface="Amiri" pitchFamily="2" charset="-78"/>
              </a:rPr>
              <a:t>صَدِيقِي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sentence.</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“My friend” is definite.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mistake.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Possessive noun → al- adjective.</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GM-ADJ-04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my favourite places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GM-ADJ-04</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بَيْتَكَ وَشَارِعَكَ.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الْمَكَانُ الْمُفَضَّلُ فِي مَدِينَتِكَ؟ لِمَاذَا؟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رَأَيْتَ فِي رِحْلَتِكَ الْأَخِيرَةِ؟</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أَسْكُنُ فِي بَيْتٍ ___ فِي شَارِعٍ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الْمَكَانُ الْمُفَضَّلُ عِنْدِي ___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رَأَيْتُ ___ ___ ، وَزُرْتُ ___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مَاذَا رَأَيْتَ فِي رِحْلَتِكَ؟</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did you see on your trip?</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رَأَيْتُ الْمَسْجِدَ الْكَبِيرَ، وَمَشَيْتُ فِي السُّوقِ الْقَدِيمِ، وَأَكَلْتُ طَعَامًا لَذِيذًا.</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saw the big mosque, walked in the old market and ate delicious food.</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GM-ADJ-04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GM-ADJ-04</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Six phrases or sentences describing your home.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Adjective after noun; al- on both or neither.</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Mix phrases and “… is …” sentences.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Tick G-N-D for each pair.</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90–120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 about a trip, with phrases as subject, object and after prepositions.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Tick all four: G-N-D-C.</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GM-ADJ-04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زُرْتُ الْمَتْحَفَ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visited the … museum. (add al-)</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جَلَسْنَا فِي الْحَدِيقَةِ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sat in the … garden. (add al-)</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صَدِيقِي الْجَدِيدُ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new friend is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قَرَأْتُ كِتَابًا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read a … book.</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أَسْكُنُ فِي بَيْتٍ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live in a … house.</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غُرْفَتِي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room is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الشَّارِعُ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street is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الْجَوُّ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weather is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كَبِيرٌ  ·  صَغِيرٌ  ·  جَدِيدٌ  ·  قَدِيمٌ  ·  طَوِيلٌ  ·  وَاسِعٌ  ·  نَظِيفٌ  ·  جَمِيلٌ  ·  هَادِئٌ  ·  مُفِيدٌ  ·  لَذِيذٌ  ·  حَارٌّ  ·  بَارِدٌ</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GM-ADJ-04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GM-ADJ-04</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extended writing workshop: 90–120 words about a trip or a place, with at least eight target adjective structures.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adjective is after its noun.</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definite phrases (al- on both).</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 is …” sentences.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phrase as object (-a) and one after a preposition (-i).</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possessive noun with an al- adjective (my new friend).</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الْمَسْجِدُ الْكَبِيرُ</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big mosque</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السُّوقِ الْقَدِيمِ</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old market</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رَأَيْتُ الْبَحْرَ الْأَزْرَقَ</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saw the blue sea</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طَعَامًا لَذِيذًا</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delicious food (object)</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صَدِيقِي الْجَدِيدُ</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new friend</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الْجَوُّ حَارٌّ</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weather is hot</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GM-ADJ-04 · Adjectives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فِي الْعُطْلَةِ الْمَاضِيَةِ سَافَرْنَا إِلَى مَدِينَةٍ سَاحِلِيَّةٍ. سَكَنَّا فِي فُنْدُقٍ صَغِيرٍ قُرْبَ الْبَحْرِ الْأَزْرَقِ. زُرْتُ الْمَسْجِدَ الْكَبِيرَ وَالسُّوقَ الْقَدِيمَ، وَاشْتَرَيْتُ هَدِيَّةً جَمِيلَةً لِأُخْتِي الصَّغِيرَةِ. كَانَ الْجَوُّ حَارًّا، لَكِنَّ الْبَحْرَ كَانَ بَارِدًا. رِحْلَتُنَا الْقَصِيرَةُ كَانَتْ مُمْتِعَةً.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Last holiday we travelled to a coastal city. We stayed in a small hotel near the blue sea. I visited the big mosque and the old market, and bought a beautiful gift for my little sister. The weather was hot, but the sea was cold. Our short trip was enjoyable.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indefinite phrases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definite phrases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case copied</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possessive + al-</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GM-ADJ-04 · Adjectives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adjective comes after its noun.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Al- is on both words or on neither in my phrases.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Gender and number match every time.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sentences and phrases mean what I intended.</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adjective copies the case of its noun.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GM-ADJ-04 · Adjectives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tall man”.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الرَّجُلُ الطَّوِيلُ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الطَّوِيلُ الرَّجُلُ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الرَّجُلُ طَوِيلٌ</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room is clean.”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الْغُرْفَةُ النَّظِيفَةُ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الْغُرْفَةُ نَظِيفَةٌ.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غُرْفَةٌ نَظِيفَةٌ</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thanked the kind doctor.”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شَكَرْتُ الطَّبِيبَ اللَّطِيفَ.</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شَكَرْتُ الطَّبِيبَ اللَّطِيفُ.</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شَكَرْتُ الطَّبِيبُ اللَّطِيفَ.</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GM-ADJ-04 · Adjectives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tall man”.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الرَّجُلُ الطَّوِيلُ</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الطَّوِيلُ الرَّجُلُ</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الرَّجُلُ طَوِيلٌ</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the noun; al- on both.</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room is clean.”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الْغُرْفَةُ النَّظِيفَةُ</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الْغُرْفَةُ نَظِيفَةٌ.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غُرْفَةٌ نَظِيفَةٌ</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Sentence: no al- on the adjective.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thanked the kind doctor.”</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شَكَرْتُ الطَّبِيبَ اللَّطِيفَ.</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شَكَرْتُ الطَّبِيبَ اللَّطِيفُ.</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شَكَرْتُ الطَّبِيبُ اللَّطِيفَ.</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Object: -a on both.</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GM-ADJ-04 · Adjectives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Before GM-ADJ-05: get ready at home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GM-ADJ-04</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GM-ADJ-05 · Negative Description with غَيْر</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غَيْرُ</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not, non-, other than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مُمْكِنٌ</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possible</a:t>
            </a:r>
            <a:pPr indent="0" marL="0">
              <a:buNone/>
            </a:pPr>
            <a:r>
              <a:rPr lang="en-US" sz="1000" i="1" dirty="0">
                <a:solidFill>
                  <a:srgbClr val="5A6472"/>
                </a:solidFill>
                <a:latin typeface="Calibri" pitchFamily="34" charset="0"/>
                <a:cs typeface="Amiri" pitchFamily="2" charset="-78"/>
              </a:rPr>
              <a:t>  غَيْرُ مُمْكِنٍ = impossible</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صَحِيحٌ</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correct</a:t>
            </a:r>
            <a:pPr indent="0" marL="0">
              <a:buNone/>
            </a:pPr>
            <a:r>
              <a:rPr lang="en-US" sz="1000" i="1" dirty="0">
                <a:solidFill>
                  <a:srgbClr val="5A6472"/>
                </a:solidFill>
                <a:latin typeface="Calibri" pitchFamily="34" charset="0"/>
                <a:cs typeface="Amiri" pitchFamily="2" charset="-78"/>
              </a:rPr>
              <a:t>  غَيْرُ صَحِيحٍ = incorrect</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مُنَاسِبٌ</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suitable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مُرِيحٌ</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comfortable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Ghayr means “not”. How do you think you would say “uncomfortable”?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مُرِيحٌ · غَيْرُ ______</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ten noun + adjective phrases about your home.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phrases and five matching sentences.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workshop about a trip, ticking G-N-D-C.</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GM-ADJ-04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cs typeface="Amiri" pitchFamily="2" charset="-78"/>
              </a:rPr>
              <a:t>GM-ADJ-05 · Negative Description with </a:t>
            </a:r>
            <a:pPr algn="l" indent="0" marL="0">
              <a:buNone/>
            </a:pPr>
            <a:r>
              <a:rPr lang="ar-SA" altLang="en-US" sz="2850" b="1" dirty="0">
                <a:solidFill>
                  <a:srgbClr val="FFFFFF"/>
                </a:solidFill>
                <a:latin typeface="Amiri" pitchFamily="2" charset="-78"/>
                <a:cs typeface="Amiri" pitchFamily="2" charset="-78"/>
              </a:rPr>
              <a:t>غَيْر</a:t>
            </a:r>
            <a:endParaRPr lang="en-US" sz="22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النَّفْيُ الوَصْفِيُّ بِـ«غَيْر»</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adjective AFTER the noun · it copies Gender, Number, Definiteness and Case · al- on the adjective = phrase; none = “is” · my house / my brother’s house are definite.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GM-ADJ-04 · Position and Full Adjective Agreement</dc:title>
  <dc:subject>PptxGenJS Presentation</dc:subject>
  <dc:creator>Al Madina Online School · Arabic Department</dc:creator>
  <cp:lastModifiedBy>Al Madina Online School · Arabic Department</cp:lastModifiedBy>
  <cp:revision>1</cp:revision>
  <dcterms:created xsi:type="dcterms:W3CDTF">2026-10-11T06:42:01Z</dcterms:created>
  <dcterms:modified xsi:type="dcterms:W3CDTF">2026-10-11T06:42:01Z</dcterms:modified>
</cp:coreProperties>
</file>