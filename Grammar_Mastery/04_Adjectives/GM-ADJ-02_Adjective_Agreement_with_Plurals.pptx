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GM-ADJ-02 (“Adjective Agreement with Plurals”).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decision tree — human or non-human first; then gender and number. Develop: plural adjectives for male and female groups; animals are non-human (الْكِلَابُ صَغِيرَةٌ). Stretch: broken-plural adjectives for people (كِبَارٌ · صِغَارٌ · طِوَالٌ · أَذْكِيَاءُ · كُسَالَى) and mixed groups (masculine plural).
• This consolidates GM-N-03 (‑ūna), GM-N-04 (‑āt) and GM-N-06 (non-human agreement). The NEW danger, flagged by the website: once students learn “plural → feminine singular”, they over-apply it to people (طُلَّابٌ كَسُولَةٌ ✗).
• Classroom routine: thumbs up = person, thumbs down = thing/animal — before every answer.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retrieves GM-N-06 and GM-ADJ-01.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Human or non-human FIRST. People → plural adjective (boys -ūna, girls -āt). Things and animals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“Human plurals”. Thumbs-up routine for every example: “People? Yes →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(2 min) — website “Non-human plurals”. Quick recall of GM-N-06: “two layers — plural noun, feminine singular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(3 min) — website “Correcting a dangerous misconception”, with teacher-added rows. Core: learn rows 1–2. Stretch: learn the broken plurals as vocabulary families (كَبِيرٌ · كِبَارٌ).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Narrate the thumbs routine aloud each time. Point out that مُهَنْدِسَاتٌ نَشِيطَاتٌ and الْآلَاتُ حَدِيثَةٌ both end in -āt nouns — but the agreement is different, because one is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Traps: birds and dogs are animals (non-human); ideas are abstract (non-human).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T. Traps: birds and dogs are animals (non-human); ideas are abstract (non-human).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The last row uses a broken adjective plural (Stretch); accept صَغِيرُونَ from Core, then model صِغَارٌ.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(people / 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six accurate adjective structures. Editing clinic (website): pairs write four deliberately wrong plural phrases and swap to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(GM-ADJ-03 · Colour Adjectives) will spend class time USING this language, so students prepare it tonight — short, simple, easy to access (school guidance: “Simple, Short, Interesting, Relevant, Easy to access”). The five words prepare GM-ADJ-03 (website Adjectives lesson 3: colours).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Adjective Agreement with Plurals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مُطَابَقَةُ الصِّفَةِ مَعَ الْجُمُوعِ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First decide: people or not? People → plural adjective that shows gender (hard-working boys: -ūna; girls: -āt). Things and animals → feminine singular adjective. Never give people a feminine singular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Human plurals; non-human plurals; the dangerous misconception.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transform, repair — people vs things.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مُجْتَهِدَاتٌ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صَغِيرُونَ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صَغِيرَاتٌ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صَغِيرَةٌ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مُجْتَهِدُونَ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مُجْتَهِدَاتٌ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masculine plural.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مُجْتَهِدَاتٌ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feminine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جَدِيدُونَ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صَغِيرُونَ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صَغِيرَاتٌ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صَغِيرَةٌ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are grammatically non-human.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Human or non-human FIRST. People → plural adjective (boys -ūna, girls -āt). Things and animals → feminine singular.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الطُّلَّابُ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مُجْتَهِدُونَ</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 الْكُتُبُ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مُفِيدَةٌ</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Decide whether a plural refers to people or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masculine and feminine plural adjectives for people.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feminine singular adjectives for things and animals.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Avoid feminine singular agreement with human plurals.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“people or not?” before choosing.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the students are hard-working for boys and girls.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treat animals as non-human.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 right agreement in phrases and sentences.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broken-plural adjectives for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masculine plural for mixed groups.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الْعَاقِلِ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 plural</a:t>
            </a:r>
            <a:endParaRPr lang="en-US" sz="1350" dirty="0"/>
          </a:p>
          <a:p>
            <a:pPr indent="0" marL="0">
              <a:buNone/>
            </a:pPr>
            <a:r>
              <a:rPr lang="en-US" sz="1100" i="1" dirty="0">
                <a:solidFill>
                  <a:srgbClr val="5A6472"/>
                </a:solidFill>
                <a:latin typeface="Calibri" pitchFamily="34" charset="0"/>
                <a:cs typeface="Amiri" pitchFamily="2" charset="-78"/>
              </a:rPr>
              <a:t>jam-ʿu al-ʿā-qi-li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طُلَّابٌ · طَالِبَاتٌ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غَيْرِ الْعَاقِلِ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 plural</a:t>
            </a:r>
            <a:endParaRPr lang="en-US" sz="1350" dirty="0"/>
          </a:p>
          <a:p>
            <a:pPr indent="0" marL="0">
              <a:buNone/>
            </a:pPr>
            <a:r>
              <a:rPr lang="en-US" sz="1100" i="1" dirty="0">
                <a:solidFill>
                  <a:srgbClr val="5A6472"/>
                </a:solidFill>
                <a:latin typeface="Calibri" pitchFamily="34" charset="0"/>
                <a:cs typeface="Amiri" pitchFamily="2" charset="-78"/>
              </a:rPr>
              <a:t>jam-ʿu ghay-ri al-ʿā-qi-li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كِلَابٌ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مُذَكَّرٌ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 plural</a:t>
            </a:r>
            <a:endParaRPr lang="en-US" sz="1350" dirty="0"/>
          </a:p>
          <a:p>
            <a:pPr indent="0" marL="0">
              <a:buNone/>
            </a:pPr>
            <a:r>
              <a:rPr lang="en-US" sz="1100" i="1" dirty="0">
                <a:solidFill>
                  <a:srgbClr val="5A6472"/>
                </a:solidFill>
                <a:latin typeface="Calibri" pitchFamily="34" charset="0"/>
                <a:cs typeface="Amiri" pitchFamily="2" charset="-78"/>
              </a:rPr>
              <a:t>-ūna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مُجْتَهِدُونَ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مُؤَنَّثٌ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plural</a:t>
            </a:r>
            <a:endParaRPr lang="en-US" sz="1350" dirty="0"/>
          </a:p>
          <a:p>
            <a:pPr indent="0" marL="0">
              <a:buNone/>
            </a:pPr>
            <a:r>
              <a:rPr lang="en-US" sz="1100" i="1" dirty="0">
                <a:solidFill>
                  <a:srgbClr val="5A6472"/>
                </a:solidFill>
                <a:latin typeface="Calibri" pitchFamily="34" charset="0"/>
                <a:cs typeface="Amiri" pitchFamily="2" charset="-78"/>
              </a:rPr>
              <a:t>-āt</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مُجْتَهِدَاتٌ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مُفْرَدٌ مُؤَنَّثٌ</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singular</a:t>
            </a:r>
            <a:endParaRPr lang="en-US" sz="1350" dirty="0"/>
          </a:p>
          <a:p>
            <a:pPr indent="0" marL="0">
              <a:buNone/>
            </a:pPr>
            <a:r>
              <a:rPr lang="en-US" sz="1100" i="1" dirty="0">
                <a:solidFill>
                  <a:srgbClr val="5A6472"/>
                </a:solidFill>
                <a:latin typeface="Calibri" pitchFamily="34" charset="0"/>
                <a:cs typeface="Amiri" pitchFamily="2" charset="-78"/>
              </a:rPr>
              <a:t>muf-ra-dun mu-ʾan-na-thun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مُفِيدَةٌ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تَكْسِيرٍ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plural (of an adjective)</a:t>
            </a:r>
            <a:endParaRPr lang="en-US" sz="1350" dirty="0"/>
          </a:p>
          <a:p>
            <a:pPr indent="0" marL="0">
              <a:buNone/>
            </a:pPr>
            <a:r>
              <a:rPr lang="en-US" sz="1100" i="1" dirty="0">
                <a:solidFill>
                  <a:srgbClr val="5A6472"/>
                </a:solidFill>
                <a:latin typeface="Calibri" pitchFamily="34" charset="0"/>
                <a:cs typeface="Amiri" pitchFamily="2" charset="-78"/>
              </a:rPr>
              <a:t>jam-ʿu tak-sī-rin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كِبَارٌ · كُسَالَى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HUMAN PLURALS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People: plural adjective that shows gender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جَمْعُ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Human plurals take PLURAL agreement that reflects gender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Male group → masculine plural adjective, usually -ūna (-īna after a preposition or as object).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Female group → feminine plural adjective, -āt.</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Mixed group of men and women → masculine plural.</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copies definiteness and case as well.</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طُلَّابٌ ذَكِيُّونَ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clever (male) students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مُعَلِّمُونَ مُخْلِصُونَ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devoted (male) teachers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طَالِبَاتٌ مُجْتَهِدَاتٌ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hard-working (female) students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رَأَيْتُ لَاعِبِينَ مَشْهُورِينَ.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famous players.  ·  object: -īna on both</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decision: human or non-human FIRST; then choose gender and number.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NON-HUMAN PLURALS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Things and animals: feminine singular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plural of things, animals or abstract ideas is treated as feminine singular (website).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It does not matter whether the plural is broken or sound -āt.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Animals count as non-human — even pets you love!</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same rule applies to “these”, “she” and the verb (GM-N-06).</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1" name="Text 28"/>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كُتُبٌ جَدِيدَةٌ</a:t>
            </a:r>
            <a:endParaRPr lang="ar-SA" sz="2650" dirty="0"/>
          </a:p>
        </p:txBody>
      </p:sp>
      <p:sp>
        <p:nvSpPr>
          <p:cNvPr id="32" name="Text 29"/>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new books  ·  website</a:t>
            </a:r>
            <a:endParaRPr lang="en-US" sz="1100" dirty="0"/>
          </a:p>
        </p:txBody>
      </p:sp>
      <p:sp>
        <p:nvSpPr>
          <p:cNvPr id="33" name="Shape 30"/>
          <p:cNvSpPr/>
          <p:nvPr/>
        </p:nvSpPr>
        <p:spPr>
          <a:xfrm>
            <a:off x="6995160" y="3195828"/>
            <a:ext cx="4553712" cy="0"/>
          </a:xfrm>
          <a:prstGeom prst="line">
            <a:avLst/>
          </a:prstGeom>
          <a:noFill/>
          <a:ln w="9525">
            <a:solidFill>
              <a:srgbClr val="E4DCCB"/>
            </a:solidFill>
            <a:prstDash val="dash"/>
          </a:ln>
        </p:spPr>
      </p:sp>
      <p:sp>
        <p:nvSpPr>
          <p:cNvPr id="34" name="Text 31"/>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مَدَارِسُ كَبِيرَةٌ</a:t>
            </a:r>
            <a:endParaRPr lang="ar-SA" sz="2650" dirty="0"/>
          </a:p>
        </p:txBody>
      </p:sp>
      <p:sp>
        <p:nvSpPr>
          <p:cNvPr id="35" name="Text 32"/>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big schools  ·  website</a:t>
            </a:r>
            <a:endParaRPr lang="en-US" sz="1100" dirty="0"/>
          </a:p>
        </p:txBody>
      </p:sp>
      <p:sp>
        <p:nvSpPr>
          <p:cNvPr id="36" name="Shape 33"/>
          <p:cNvSpPr/>
          <p:nvPr/>
        </p:nvSpPr>
        <p:spPr>
          <a:xfrm>
            <a:off x="6995160" y="4215384"/>
            <a:ext cx="4553712" cy="0"/>
          </a:xfrm>
          <a:prstGeom prst="line">
            <a:avLst/>
          </a:prstGeom>
          <a:noFill/>
          <a:ln w="9525">
            <a:solidFill>
              <a:srgbClr val="E4DCCB"/>
            </a:solidFill>
            <a:prstDash val="dash"/>
          </a:ln>
        </p:spPr>
      </p:sp>
      <p:sp>
        <p:nvSpPr>
          <p:cNvPr id="37" name="Text 34"/>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حَقَائِبُ ثَقِيلَةٌ</a:t>
            </a:r>
            <a:endParaRPr lang="ar-SA" sz="2650" dirty="0"/>
          </a:p>
        </p:txBody>
      </p:sp>
      <p:sp>
        <p:nvSpPr>
          <p:cNvPr id="38" name="Text 35"/>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heavy bags  ·  website</a:t>
            </a:r>
            <a:endParaRPr lang="en-US" sz="1100" dirty="0"/>
          </a:p>
        </p:txBody>
      </p:sp>
      <p:sp>
        <p:nvSpPr>
          <p:cNvPr id="39" name="Shape 36"/>
          <p:cNvSpPr/>
          <p:nvPr/>
        </p:nvSpPr>
        <p:spPr>
          <a:xfrm>
            <a:off x="6995160" y="5234940"/>
            <a:ext cx="4553712" cy="0"/>
          </a:xfrm>
          <a:prstGeom prst="line">
            <a:avLst/>
          </a:prstGeom>
          <a:noFill/>
          <a:ln w="9525">
            <a:solidFill>
              <a:srgbClr val="E4DCCB"/>
            </a:solidFill>
            <a:prstDash val="dash"/>
          </a:ln>
        </p:spPr>
      </p:sp>
      <p:sp>
        <p:nvSpPr>
          <p:cNvPr id="40" name="Text 37"/>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كِلَابٌ صَغِيرَةٌ</a:t>
            </a:r>
            <a:endParaRPr lang="ar-SA" sz="2650" dirty="0"/>
          </a:p>
        </p:txBody>
      </p:sp>
      <p:sp>
        <p:nvSpPr>
          <p:cNvPr id="41" name="Text 38"/>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small dogs  ·  website — animals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3 · THE DANGEROUS MISCONCEPTION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People never take feminine singular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خَطَأٌ خَطِيرٌ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65653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8" name="Text 15"/>
          <p:cNvSpPr txBox="1"/>
          <p:nvPr/>
        </p:nvSpPr>
        <p:spPr>
          <a:xfrm>
            <a:off x="36393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example</a:t>
            </a:r>
            <a:endParaRPr lang="en-US" sz="1100" dirty="0"/>
          </a:p>
        </p:txBody>
      </p:sp>
      <p:sp>
        <p:nvSpPr>
          <p:cNvPr id="22" name="Text 19"/>
          <p:cNvSpPr txBox="1"/>
          <p:nvPr/>
        </p:nvSpPr>
        <p:spPr>
          <a:xfrm>
            <a:off x="65836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طُلَّابٌ كُسَالَى</a:t>
            </a:r>
            <a:endParaRPr lang="ar-SA" sz="2400" dirty="0"/>
          </a:p>
        </p:txBody>
      </p:sp>
      <p:sp>
        <p:nvSpPr>
          <p:cNvPr id="23" name="Text 20"/>
          <p:cNvSpPr txBox="1"/>
          <p:nvPr/>
        </p:nvSpPr>
        <p:spPr>
          <a:xfrm>
            <a:off x="365760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طُلَّابٌ كَسُولَةٌ</a:t>
            </a:r>
            <a:endParaRPr lang="ar-SA" sz="2200" dirty="0"/>
          </a:p>
        </p:txBody>
      </p:sp>
      <p:sp>
        <p:nvSpPr>
          <p:cNvPr id="24" name="Text 21"/>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lazy (male) students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broken plural</a:t>
            </a:r>
            <a:endParaRPr lang="en-US" sz="1100" dirty="0"/>
          </a:p>
        </p:txBody>
      </p:sp>
      <p:sp>
        <p:nvSpPr>
          <p:cNvPr id="29" name="Text 26"/>
          <p:cNvSpPr txBox="1"/>
          <p:nvPr/>
        </p:nvSpPr>
        <p:spPr>
          <a:xfrm>
            <a:off x="65836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رِجَالٌ كِبَارٌ</a:t>
            </a:r>
            <a:endParaRPr lang="ar-SA" sz="2400" dirty="0"/>
          </a:p>
        </p:txBody>
      </p:sp>
      <p:sp>
        <p:nvSpPr>
          <p:cNvPr id="30" name="Text 27"/>
          <p:cNvSpPr txBox="1"/>
          <p:nvPr/>
        </p:nvSpPr>
        <p:spPr>
          <a:xfrm>
            <a:off x="365760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رِجَالٌ كَبِيرَةٌ</a:t>
            </a:r>
            <a:endParaRPr lang="ar-SA" sz="2200" dirty="0"/>
          </a:p>
        </p:txBody>
      </p:sp>
      <p:sp>
        <p:nvSpPr>
          <p:cNvPr id="31" name="Text 28"/>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 (grown-up) men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broken plural</a:t>
            </a:r>
            <a:endParaRPr lang="en-US" sz="1100" dirty="0"/>
          </a:p>
        </p:txBody>
      </p:sp>
      <p:sp>
        <p:nvSpPr>
          <p:cNvPr id="36" name="Text 33"/>
          <p:cNvSpPr txBox="1"/>
          <p:nvPr/>
        </p:nvSpPr>
        <p:spPr>
          <a:xfrm>
            <a:off x="65836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أَطْفَالٌ صِغَارٌ</a:t>
            </a:r>
            <a:endParaRPr lang="ar-SA" sz="2400" dirty="0"/>
          </a:p>
        </p:txBody>
      </p:sp>
      <p:sp>
        <p:nvSpPr>
          <p:cNvPr id="37" name="Text 34"/>
          <p:cNvSpPr txBox="1"/>
          <p:nvPr/>
        </p:nvSpPr>
        <p:spPr>
          <a:xfrm>
            <a:off x="365760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أَطْفَالٌ صَغِيرَةٌ</a:t>
            </a:r>
            <a:endParaRPr lang="ar-SA" sz="2200" dirty="0"/>
          </a:p>
        </p:txBody>
      </p:sp>
      <p:sp>
        <p:nvSpPr>
          <p:cNvPr id="38" name="Text 35"/>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children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 </a:t>
            </a:r>
            <a:pPr algn="l" indent="0" marL="0">
              <a:buNone/>
            </a:pPr>
            <a:r>
              <a:rPr lang="ar-SA" altLang="en-US" sz="1450" dirty="0">
                <a:solidFill>
                  <a:srgbClr val="5A6472"/>
                </a:solidFill>
                <a:latin typeface="Amiri" pitchFamily="2" charset="-78"/>
                <a:ea typeface="Amiri" pitchFamily="2" charset="-78"/>
                <a:cs typeface="Amiri" pitchFamily="2" charset="-78"/>
              </a:rPr>
              <a:t>ذَكِيُّونَ</a:t>
            </a:r>
            <a:pPr algn="l" indent="0" marL="0">
              <a:buNone/>
            </a:pPr>
            <a:r>
              <a:rPr lang="en-US" sz="1100" dirty="0">
                <a:solidFill>
                  <a:srgbClr val="5A6472"/>
                </a:solidFill>
                <a:latin typeface="Calibri" pitchFamily="34" charset="0"/>
                <a:cs typeface="Amiri" pitchFamily="2" charset="-78"/>
              </a:rPr>
              <a:t> (website)</a:t>
            </a:r>
            <a:endParaRPr lang="en-US" sz="1100" dirty="0"/>
          </a:p>
        </p:txBody>
      </p:sp>
      <p:sp>
        <p:nvSpPr>
          <p:cNvPr id="41" name="Text 38"/>
          <p:cNvSpPr txBox="1"/>
          <p:nvPr/>
        </p:nvSpPr>
        <p:spPr>
          <a:xfrm>
            <a:off x="65836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طُلَّابٌ أَذْكِيَاءُ</a:t>
            </a:r>
            <a:endParaRPr lang="ar-SA" sz="2400" dirty="0"/>
          </a:p>
        </p:txBody>
      </p:sp>
      <p:sp>
        <p:nvSpPr>
          <p:cNvPr id="42" name="Text 39"/>
          <p:cNvSpPr txBox="1"/>
          <p:nvPr/>
        </p:nvSpPr>
        <p:spPr>
          <a:xfrm>
            <a:off x="365760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طُلَّابٌ ذَكِيَّةٌ</a:t>
            </a:r>
            <a:endParaRPr lang="ar-SA" sz="2200" dirty="0"/>
          </a:p>
        </p:txBody>
      </p:sp>
      <p:sp>
        <p:nvSpPr>
          <p:cNvPr id="43" name="Text 40"/>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clever students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broken plural</a:t>
            </a:r>
            <a:endParaRPr lang="en-US" sz="1100" dirty="0"/>
          </a:p>
        </p:txBody>
      </p:sp>
      <p:sp>
        <p:nvSpPr>
          <p:cNvPr id="46" name="Text 43"/>
          <p:cNvSpPr txBox="1"/>
          <p:nvPr/>
        </p:nvSpPr>
        <p:spPr>
          <a:xfrm>
            <a:off x="65836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جِيرَانٌ لُطَفَاءُ</a:t>
            </a:r>
            <a:endParaRPr lang="ar-SA" sz="2400" dirty="0"/>
          </a:p>
        </p:txBody>
      </p:sp>
      <p:sp>
        <p:nvSpPr>
          <p:cNvPr id="47" name="Text 44"/>
          <p:cNvSpPr txBox="1"/>
          <p:nvPr/>
        </p:nvSpPr>
        <p:spPr>
          <a:xfrm>
            <a:off x="365760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جِيرَانٌ لَطِيفَةٌ</a:t>
            </a:r>
            <a:endParaRPr lang="ar-SA" sz="2200" dirty="0"/>
          </a:p>
        </p:txBody>
      </p:sp>
      <p:sp>
        <p:nvSpPr>
          <p:cNvPr id="48" name="Text 45"/>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kind neighbours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Many common adjectives have a broken plural used for people. If you are unsure, the sound plural (-ūna / -āt) is usually understood.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الْمُعَلِّمَاتُ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لَطِيفَاتٌ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الْقِطَطُ</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جَمِيلَاتٌ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class of boys AND girls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مُجْتَهِدُونَ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WRONG?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الرِّجَالُ قَوِيَّةٌ.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الرِّجَالُ أَقْوِيَاءُ.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الْجِبَالُ عَالِيَةٌ.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الْمُعَلِّمَاتُ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لَطِيفُونَ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لَطِيفَاتٌ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Women → feminine plural.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الْقِطَطُ</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جَمِيلَةٌ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جَمِيلَاتٌ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 feminine singular.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class of boys AND girls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مُجْتَهِدُونَ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Mixed group → masculine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WRONG?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الرِّجَالُ قَوِيَّةٌ.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الرِّجَالُ أَقْوِيَاءُ.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الْجِبَالُ عَالِيَةٌ.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never take feminine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decide: people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الْمُهَنْدِسُونَ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Plural. People? Yes.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الْمُهَنْدِسُونَ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Masculine → -ūna.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الْمُهَنْدِسُونَ مَاهِرُونَ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Plural, masculine.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الْآلَاتُ حَدِيثَةٌ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Machines: things → fem. sing.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PEOPLE: PLURAL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THINGS: FEM. SING.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الْمَصْنَعِ مُهَنْدِسُونَ </a:t>
            </a:r>
            <a:pPr rtl="1" algn="r" indent="0" marL="0">
              <a:buNone/>
            </a:pPr>
            <a:r>
              <a:rPr lang="ar-SA" altLang="en-US" sz="2600" b="1" dirty="0">
                <a:solidFill>
                  <a:srgbClr val="0E7C86"/>
                </a:solidFill>
                <a:latin typeface="Amiri" pitchFamily="2" charset="-78"/>
                <a:ea typeface="Amiri" pitchFamily="2" charset="-78"/>
                <a:cs typeface="Amiri" pitchFamily="2" charset="-78"/>
              </a:rPr>
              <a:t>مَاهِرُونَ</a:t>
            </a:r>
            <a:pPr rtl="1" algn="r" indent="0" marL="0">
              <a:buNone/>
            </a:pPr>
            <a:r>
              <a:rPr lang="ar-SA" altLang="en-US" sz="2600" b="1" dirty="0">
                <a:solidFill>
                  <a:srgbClr val="1B3B6F"/>
                </a:solidFill>
                <a:latin typeface="Amiri" pitchFamily="2" charset="-78"/>
                <a:ea typeface="Amiri" pitchFamily="2" charset="-78"/>
                <a:cs typeface="Amiri" pitchFamily="2" charset="-78"/>
              </a:rPr>
              <a:t> وَمُهَنْدِسَاتٌ </a:t>
            </a:r>
            <a:pPr rtl="1" algn="r" indent="0" marL="0">
              <a:buNone/>
            </a:pPr>
            <a:r>
              <a:rPr lang="ar-SA" altLang="en-US" sz="2600" b="1" dirty="0">
                <a:solidFill>
                  <a:srgbClr val="0E7C86"/>
                </a:solidFill>
                <a:latin typeface="Amiri" pitchFamily="2" charset="-78"/>
                <a:ea typeface="Amiri" pitchFamily="2" charset="-78"/>
                <a:cs typeface="Amiri" pitchFamily="2" charset="-78"/>
              </a:rPr>
              <a:t>نَشِيطَاتٌ</a:t>
            </a:r>
            <a:pPr rtl="1" algn="r" indent="0" marL="0">
              <a:buNone/>
            </a:pPr>
            <a:r>
              <a:rPr lang="ar-SA" altLang="en-US" sz="2600" b="1" dirty="0">
                <a:solidFill>
                  <a:srgbClr val="1B3B6F"/>
                </a:solidFill>
                <a:latin typeface="Amiri" pitchFamily="2" charset="-78"/>
                <a:ea typeface="Amiri" pitchFamily="2" charset="-78"/>
                <a:cs typeface="Amiri" pitchFamily="2" charset="-78"/>
              </a:rPr>
              <a:t>، وَالْآلَاتُ </a:t>
            </a:r>
            <a:pPr rtl="1" algn="r" indent="0" marL="0">
              <a:buNone/>
            </a:pPr>
            <a:r>
              <a:rPr lang="ar-SA" altLang="en-US" sz="2600" b="1" dirty="0">
                <a:solidFill>
                  <a:srgbClr val="D6336C"/>
                </a:solidFill>
                <a:latin typeface="Amiri" pitchFamily="2" charset="-78"/>
                <a:ea typeface="Amiri" pitchFamily="2" charset="-78"/>
                <a:cs typeface="Amiri" pitchFamily="2" charset="-78"/>
              </a:rPr>
              <a:t>حَدِيثَةٌ</a:t>
            </a:r>
            <a:pPr rtl="1" algn="r" indent="0" marL="0">
              <a:buNone/>
            </a:pPr>
            <a:r>
              <a:rPr lang="ar-SA" altLang="en-US" sz="2600" b="1" dirty="0">
                <a:solidFill>
                  <a:srgbClr val="1B3B6F"/>
                </a:solidFill>
                <a:latin typeface="Amiri" pitchFamily="2" charset="-78"/>
                <a:ea typeface="Amiri" pitchFamily="2" charset="-78"/>
                <a:cs typeface="Amiri" pitchFamily="2" charset="-78"/>
              </a:rPr>
              <a:t> وَ</a:t>
            </a:r>
            <a:pPr rtl="1" algn="r" indent="0" marL="0">
              <a:buNone/>
            </a:pPr>
            <a:r>
              <a:rPr lang="ar-SA" altLang="en-US" sz="2600" b="1" dirty="0">
                <a:solidFill>
                  <a:srgbClr val="D6336C"/>
                </a:solidFill>
                <a:latin typeface="Amiri" pitchFamily="2" charset="-78"/>
                <a:ea typeface="Amiri" pitchFamily="2" charset="-78"/>
                <a:cs typeface="Amiri" pitchFamily="2" charset="-78"/>
              </a:rPr>
              <a:t>سَرِيعَةٌ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the factory there are skilful (male) engineers and active (female) engineers, and the machines are modern and fast.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الطُّلَّابُ مُجْتَهِدُونَ.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(male) students are hard-working.</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الطَّالِبَاتُ مُجْتَهِدَاتٌ.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are hard-working.</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السَّيَّارَاتُ سَرِيعَةٌ.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cars are fast.</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أَوْلَادُ عَمِّي صِغَارٌ، وَقِطَطُهُمْ صَغِيرَةٌ أَيْضًا.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cousins are little, and their cats are small too.</a:t>
            </a:r>
            <a:endParaRPr lang="en-US" sz="1250" dirty="0"/>
          </a:p>
          <a:p>
            <a:pPr indent="0" marL="0">
              <a:buNone/>
            </a:pPr>
            <a:r>
              <a:rPr lang="en-US" sz="1050" i="1" dirty="0">
                <a:solidFill>
                  <a:srgbClr val="8A6D1E"/>
                </a:solidFill>
                <a:latin typeface="Calibri" pitchFamily="34" charset="0"/>
                <a:cs typeface="Amiri" pitchFamily="2" charset="-78"/>
              </a:rPr>
              <a:t>Same adjective, two agreements.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PEOPLE, OR THINGS AND ANIMALS?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agreement?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الْأَطِبَّاءُ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الْكِلَابُ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الْمُمَرِّضَاتُ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الْمَلَابِسُ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اللَّاعِبُونَ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الطُّيُورُ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الْجِيرَانُ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الْأَفْكَارُ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Plural adjective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singular (things / animals)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Plural adjective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الْأَطِبَّاءُ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الْمُمَرِّضَاتُ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اللَّاعِبُونَ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الْجِيرَانُ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singular (things / animals)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الْكِلَابُ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الْمَلَابِسُ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الطُّيُورُ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الْأَفْكَارُ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Make it plural — choose the agreement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40050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People?</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الْأَطِبَّاءُ مَشْغُولُونَ.</a:t>
            </a:r>
            <a:endParaRPr lang="ar-SA" sz="2400" dirty="0"/>
          </a:p>
        </p:txBody>
      </p:sp>
      <p:sp>
        <p:nvSpPr>
          <p:cNvPr id="21" name="Text 18"/>
          <p:cNvSpPr txBox="1"/>
          <p:nvPr/>
        </p:nvSpPr>
        <p:spPr>
          <a:xfrm>
            <a:off x="404164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(m.)</a:t>
            </a:r>
            <a:endParaRPr lang="en-US" sz="11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الطَّبِيبُ مَشْغُولٌ.</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الْمُمَرِّضَاتُ نَشِيطَاتٌ.</a:t>
            </a:r>
            <a:endParaRPr lang="ar-SA" sz="2400" dirty="0"/>
          </a:p>
        </p:txBody>
      </p:sp>
      <p:sp>
        <p:nvSpPr>
          <p:cNvPr id="27" name="Text 24"/>
          <p:cNvSpPr txBox="1"/>
          <p:nvPr/>
        </p:nvSpPr>
        <p:spPr>
          <a:xfrm>
            <a:off x="404164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(f.)</a:t>
            </a:r>
            <a:endParaRPr lang="en-US" sz="11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الْمُمَرِّضَةُ نَشِيطَةٌ.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الْقُمْصَانُ نَظِيفَةٌ.</a:t>
            </a:r>
            <a:endParaRPr lang="ar-SA" sz="2400" dirty="0"/>
          </a:p>
        </p:txBody>
      </p:sp>
      <p:sp>
        <p:nvSpPr>
          <p:cNvPr id="33" name="Text 30"/>
          <p:cNvSpPr txBox="1"/>
          <p:nvPr/>
        </p:nvSpPr>
        <p:spPr>
          <a:xfrm>
            <a:off x="404164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الْقَمِيصُ نَظِيفٌ.</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الطُّيُورُ جَمِيلَةٌ.</a:t>
            </a:r>
            <a:endParaRPr lang="ar-SA" sz="2400" dirty="0"/>
          </a:p>
        </p:txBody>
      </p:sp>
      <p:sp>
        <p:nvSpPr>
          <p:cNvPr id="39" name="Text 36"/>
          <p:cNvSpPr txBox="1"/>
          <p:nvPr/>
        </p:nvSpPr>
        <p:spPr>
          <a:xfrm>
            <a:off x="404164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(animal)</a:t>
            </a:r>
            <a:endParaRPr lang="en-US" sz="11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الطَّائِرُ جَمِيلٌ.</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الْأَطْفَالُ صِغَارٌ.</a:t>
            </a:r>
            <a:endParaRPr lang="ar-SA" sz="2400" dirty="0"/>
          </a:p>
        </p:txBody>
      </p:sp>
      <p:sp>
        <p:nvSpPr>
          <p:cNvPr id="43" name="Text 40"/>
          <p:cNvSpPr txBox="1"/>
          <p:nvPr/>
        </p:nvSpPr>
        <p:spPr>
          <a:xfrm>
            <a:off x="404164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الطِّفْلُ صَغِيرٌ.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drill: change the noun’s number, then change every adjective feature it controls — and say WHY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الطُّلَّابُ كَسُولَةٌ.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الْكِلَابُ صَغِيرُونَ.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dogs people?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الْمُعَلِّمَاتُ لَطِيفُونَ.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Men or women?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الطُّلَّابُ كَسُولَةٌ.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الطُّلَّابُ كُسَالَى.</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never take feminine singular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الْكِلَابُ صَغِيرُونَ.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الْكِلَابُ صَغِيرَةٌ.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Animals are non-human.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الْمُعَلِّمَاتُ لَطِيفُونَ.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الْمُعَلِّمَاتُ لَطِيفَاتٌ.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Women → feminine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are famous.”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اللَّاعِبُونَ مَشْهُورَةٌ.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اللَّاعِبُونَ مَشْهُورٌ.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اللَّاعِبُونَ مَشْهُورُونَ.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clothes are new.”</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الْمَلَابِسُ جُدُدٌ.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الْمَلَابِسُ جَدِيدَةٌ.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الْمَلَابِسُ جَدِيدُونَ.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nurses are tired.”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الْمُمَرِّضَاتُ مُتْعَبَةٌ.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الْمُمَرِّضَاتُ مُتْعَبَاتٌ.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الْمُمَرِّضَاتُ مُتْعَبُونَ.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kind neighbours.”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جِيرَانًا لَطِيفَةً.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جِيرَانٌ لُطَفَاءُ.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جِيرَانًا لُطَفَاءَ.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players are famous.”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اللَّاعِبُونَ مَشْهُورَةٌ.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اللَّاعِبُونَ مَشْهُورٌ.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اللَّاعِبُونَ مَشْهُورُونَ.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masculine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clothes are new.”</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الْمَلَابِسُ جُدُدٌ.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الْمَلَابِسُ جَدِيدَةٌ.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الْمَلَابِسُ جَدِيدُونَ.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nurses are tired.”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الْمُمَرِّضَاتُ مُتْعَبَةٌ.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الْمُمَرِّضَاتُ مُتْعَبَاتٌ.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الْمُمَرِّضَاتُ مُتْعَبُونَ.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Women → feminine plural.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visited kind neighbours.”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جِيرَانًا لَطِيفَةً.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جِيرَانٌ لُطَفَاءُ.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 جِيرَانًا لُطَفَاءَ.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broken-plural adjective; object case.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city and its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النَّاسُ فِي مَدِينَتِي لُطَفَاءُ، وَالْمُعَلِّمُونَ مُخْلِصُونَ. فِي الْحَدِيقَةِ طُيُورٌ مُلَوَّنَةٌ وَأَطْفَالٌ سُعَدَاءُ.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شَوَارِعُ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streets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النَّاسُ</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people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مُخْلِصُونَ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devoted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مُلَوَّنَةٌ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colourful</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سُعَدَاءُ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happy (pl.)</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streets feminine singular?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Streets are women.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Streets are things.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لُطَفَاءُ</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places.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birds.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people.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birds feminine singular?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Birds are animals — non-human.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Birds are feminine people.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singular.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ea typeface="Amiri" pitchFamily="2" charset="-78"/>
                <a:cs typeface="Amiri" pitchFamily="2" charset="-78"/>
              </a:rPr>
              <a:t>سُعَدَاءُ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sound feminine plural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broken plural for people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feminine singular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streets feminine singular?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Streets are women.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Streets are things.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لُطَفَاءُ</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places.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birds.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describes people.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for birds feminine singular?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Birds are animals — non-human.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Birds are feminine people.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singular.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are non-human.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plural is </a:t>
            </a:r>
            <a:pPr algn="l" indent="0" marL="0">
              <a:buNone/>
            </a:pPr>
            <a:r>
              <a:rPr lang="ar-SA" altLang="en-US" sz="1650" b="1" dirty="0">
                <a:solidFill>
                  <a:srgbClr val="1B3B6F"/>
                </a:solidFill>
                <a:latin typeface="Amiri" pitchFamily="2" charset="-78"/>
                <a:ea typeface="Amiri" pitchFamily="2" charset="-78"/>
                <a:cs typeface="Amiri" pitchFamily="2" charset="-78"/>
              </a:rPr>
              <a:t>سُعَدَاءُ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sound feminine plural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broken plural for people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feminine singular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Stretch: broken adjective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people and things in my school</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الْمُعَلِّمِينَ وَالْكُتُبَ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أَصْدِقَاءَكَ وَحَيَوَانَاتِهِمْ.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أُسْرَتَكَ الْكَبِيرَةَ: الْكِبَارُ وَالصِّغَارُ.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الْمُعَلِّمُونَ ___ ، وَالْكُتُبُ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أَصْدِقَائِي ___ ، وَقِطَطُهُمْ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الْكِبَارُ فِي أُسْرَتِي ___ ، وَالْأَطْفَالُ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الطُّلَّابُ فِي صَفِّكَ؟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students in your class like?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الطُّلَّابُ أَذْكِيَاءُ وَمَرِحُونَ، لَكِنَّ الْكُتُبَ ثَقِيلَةٌ جِدًّا!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students are clever and cheerful, but the books are very heavy!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sentences about groups of people, three about things.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Thumbs up / down before every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female groups and animals.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Women: -āt · animals: feminine singular.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two broken-plural adjectives for people.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kibār · ṣighār · luṭafāʾ · adhkiyāʾ.</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الْقِطَطُ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cats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اللَّاعِبِينَ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players.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الْأَطْفَالُ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children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(m.) are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(f.)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الْفُصُولُ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classrooms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مُجْتَهِدُونَ  ·  مُجْتَهِدَاتٌ  ·  لَطِيفُونَ  ·  لَطِيفَاتٌ  ·  نَشِيطُونَ  ·  مَشْهُورِينَ  ·  كِبَارٌ  ·  صِغَارٌ  ·  لُطَفَاءُ  ·  جَدِيدَةٌ  ·  ثَقِيلَةٌ  ·  وَاسِعَةٌ  ·  جَمِيلَةٌ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describing people and places,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male-group plurals with -ūna / -īna adjectives.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female-group plurals with -āt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thing plurals and one animal plural with feminine singular.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broken-plural adjectives for people.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feminine singular adjective after a human plural.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الْمُعَلِّمُونَ مُخْلِصُونَ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teachers are devoted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الطَّالِبَاتُ مُجْتَهِدَاتٌ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students (f.) are hard-working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الْكُتُبُ مُفِيدَةٌ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books are useful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طُيُورٌ مُلَوَّنَةٌ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colourful birds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أَطْفَالٌ صِغَارٌ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small children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جِيرَانٌ لُطَفَاءُ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kind neighbours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مَدْرَسَتِي كَبِيرَةٌ وَجَمِيلَةٌ. الْمُعَلِّمُونَ مُخْلِصُونَ، وَالْمُعَلِّمَاتُ لَطِيفَاتٌ. الطُّلَّابُ أَذْكِيَاءُ، لَكِنَّ بَعْضَهُمْ كُسَالَى! الْفُصُولُ وَاسِعَةٌ، وَالْكُتُبُ جَدِيدَةٌ وَمُفِيدَةٌ. فِي حَدِيقَةِ الْمَدْرَسَةِ أَشْجَارٌ عَالِيَةٌ وَطُيُورٌ مُلَوَّنَةٌ. أُحِبُّ أَصْدِقَائِي لِأَنَّهُمْ مَرِحُونَ.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school is big and beautiful. The (male) teachers are devoted, and the (female) teachers are kind. The students are clever, but some of them are lazy! The classrooms are spacious, and the books are new and useful. In the school garden there are tall trees and colourful birds. I love my friends because they are cheerful.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male people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female people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fem. sing.</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animals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decided “people or not?” for every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have feminine singular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 have -āt adjectives; men have -ūna.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Animals have feminine singular adjectives.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broken-plural adjectives for people.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الْأَطِبَّاءُ</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مَشْغُولُونَ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مَشْغُولَةٌ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مَشْغُولَاتٌ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الْبَنَاتُ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الْأَطِبَّاءُ</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مَشْغُولُونَ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مَشْغُولَةٌ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مَشْغُولَاتٌ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Men → masculine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الْكِلَابُ</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كِبَارٌ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كَبِيرَةٌ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كَبِيرُونَ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Animals → feminine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الْبَنَاتُ</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سَعِيدَاتٌ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سَعِيدَةٌ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سَعِيدُونَ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 feminine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GM-ADJ-02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GM-ADJ-03 · Colour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red (m.)</a:t>
            </a:r>
            <a:pPr indent="0" marL="0">
              <a:buNone/>
            </a:pPr>
            <a:r>
              <a:rPr lang="ar-SA" sz="1000" i="1" dirty="0">
                <a:solidFill>
                  <a:srgbClr val="5A6472"/>
                </a:solidFill>
                <a:latin typeface="Calibri" pitchFamily="34" charset="0"/>
                <a:ea typeface="Amiri" pitchFamily="2" charset="-78"/>
                <a:cs typeface="Amiri" pitchFamily="2" charset="-78"/>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blue (m.)</a:t>
            </a:r>
            <a:pPr indent="0" marL="0">
              <a:buNone/>
            </a:pPr>
            <a:r>
              <a:rPr lang="ar-SA" sz="1000" i="1" dirty="0">
                <a:solidFill>
                  <a:srgbClr val="5A6472"/>
                </a:solidFill>
                <a:latin typeface="Calibri" pitchFamily="34" charset="0"/>
                <a:ea typeface="Amiri" pitchFamily="2" charset="-78"/>
                <a:cs typeface="Amiri" pitchFamily="2" charset="-78"/>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 (m.)</a:t>
            </a:r>
            <a:pPr indent="0" marL="0">
              <a:buNone/>
            </a:pPr>
            <a:r>
              <a:rPr lang="ar-SA" sz="1000" i="1" dirty="0">
                <a:solidFill>
                  <a:srgbClr val="5A6472"/>
                </a:solidFill>
                <a:latin typeface="Calibri" pitchFamily="34" charset="0"/>
                <a:ea typeface="Amiri" pitchFamily="2" charset="-78"/>
                <a:cs typeface="Amiri" pitchFamily="2" charset="-78"/>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white (m.)</a:t>
            </a:r>
            <a:pPr indent="0" marL="0">
              <a:buNone/>
            </a:pPr>
            <a:r>
              <a:rPr lang="ar-SA" sz="1000" i="1" dirty="0">
                <a:solidFill>
                  <a:srgbClr val="5A6472"/>
                </a:solidFill>
                <a:latin typeface="Calibri" pitchFamily="34" charset="0"/>
                <a:ea typeface="Amiri" pitchFamily="2" charset="-78"/>
                <a:cs typeface="Amiri" pitchFamily="2" charset="-78"/>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black (m.)</a:t>
            </a:r>
            <a:pPr indent="0" marL="0">
              <a:buNone/>
            </a:pPr>
            <a:r>
              <a:rPr lang="ar-SA" sz="1000" i="1" dirty="0">
                <a:solidFill>
                  <a:srgbClr val="5A6472"/>
                </a:solidFill>
                <a:latin typeface="Calibri" pitchFamily="34" charset="0"/>
                <a:ea typeface="Amiri" pitchFamily="2" charset="-78"/>
                <a:cs typeface="Amiri" pitchFamily="2" charset="-78"/>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pairs. What pattern do the feminine colour words follow?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أَحْمَرُ · حَمْرَاءُ — أَصْفَرُ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plural phrases: five people, five things.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including women and animals.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with broken-plural adjectives.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GM-ADJ-03 · Colour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أَلْوَانُ أَفْعَلَ وَفَعْلَاءَ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people or not? · people → plural adjective (men -ūna, women -āt, mixed masculine) · things and animals → feminine singular · never feminine singular for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GM-ADJ-02 · Adjective Agreement with Plurals</dc:title>
  <dc:subject>PptxGenJS Presentation</dc:subject>
  <dc:creator>Al Madina Online School · Arabic Department</dc:creator>
  <cp:lastModifiedBy>Al Madina Online School · Arabic Department</cp:lastModifiedBy>
  <cp:revision>1</cp:revision>
  <dcterms:created xsi:type="dcterms:W3CDTF">2026-10-11T06:42:00Z</dcterms:created>
  <dcterms:modified xsi:type="dcterms:W3CDTF">2026-10-11T06:42:00Z</dcterms:modified>
</cp:coreProperties>
</file>