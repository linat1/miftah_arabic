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Adjectives › GM-ADJ-02 (“Adjective Agreement with Plurals”).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the decision tree — human or non-human first; then gender and number. Develop: plural adjectives for male and female groups; animals are non-human (الْكِلَابُ صَغِيرَةٌ). Stretch: broken-plural adjectives for people (كِبَارٌ · صِغَارٌ · طِوَالٌ · أَذْكِيَاءُ · كُسَالَى) and mixed groups (masculine plural).
• This consolidates GM-N-03 (‑ūna), GM-N-04 (‑āt) and GM-N-06 (non-human agreement). The NEW danger, flagged by the website: once students learn “plural → feminine singular”, they over-apply it to people (طُلَّابٌ كَسُولَةٌ ✗).
• Classroom routine: thumbs up = person, thumbs down = thing/animal — before every answer.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(all five questions) — it retrieves GM-N-06 and GM-ADJ-01.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Human or non-human FIRST. People → plural adjective (boys -ūna, girls -āt). Things and animals → feminine singular.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(3 min) — website “Human plurals”. Thumbs-up routine for every example: “People? Yes → plural.”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(2 min) — website “Non-human plurals”. Quick recall of GM-N-06: “two layers — plural noun, feminine singular agreement.”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3 (3 min) — website “Correcting a dangerous misconception”, with teacher-added rows. Core: learn rows 1–2. Stretch: learn the broken plurals as vocabulary families (كَبِيرٌ · كِبَارٌ).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teacher-written hinge questions on the website’s three steps.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Narrate the thumbs routine aloud each time. Point out that مُهَنْدِسَاتٌ نَشِيطَاتٌ and الْآلَاتُ حَدِيثَةٌ both end in -āt nouns — but the agreement is different, because one is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P or T. Traps: birds and dogs are animals (non-human); ideas are abstract (non-human).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P or T. Traps: birds and dogs are animals (non-human); ideas are abstract (non-human).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The last row uses a broken adjective plural (Stretch); accept صَغِيرُونَ from Core, then model صِغَارٌ.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teacher-written practice on the website rules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text, extended by the teacher. Read it aloud once while students follow; then they hunt for today’s grammar.
Task: Website: underline each adjective, draw an arrow to its noun, and label the agreement (people / things).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The first two sentences are the website text; the rest is teacher-written.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task (45–60 seconds). Sequence: ● 10s think → ↔ 45s rehearse aloud with mic muted → ◎ two named students on open mic (warned in advance) → + ? the class types one follow-up in chat → ↺ one student summarises.
Routes: Core uses the Core prompt and stem; Develop the Develop prompt; Stretch the last prompt.
Website: 45–60 seconds, six accurate adjective structures. Editing clinic (website): pairs write four deliberately wrong plural phrases and swap to correct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90–120 words describing a person, place, object or experience, with at least eight target adjective structures, underlined.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workshop,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(GM-ADJ-03 · Colour Adjectives) will spend class time USING this language, so students prepare it tonight — short, simple, easy to access (school guidance: “Simple, Short, Interesting, Relevant, Easy to access”). The five words prepare GM-ADJ-03 (website Adjectives lesson 3: colours).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MIFTAH GRAMMAR MASTERY  ·  ADJECTIVES  ·  GM-ADJ-02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GM-ADJ-02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200" b="1" dirty="0">
                <a:solidFill>
                  <a:srgbClr val="FFFFFF"/>
                </a:solidFill>
                <a:latin typeface="Cambria" pitchFamily="34" charset="0"/>
                <a:ea typeface="Cambria" pitchFamily="34" charset="-122"/>
                <a:cs typeface="Cambria" pitchFamily="34" charset="-120"/>
              </a:rPr>
              <a:t>Adjective Agreement with Plurals</a:t>
            </a:r>
            <a:endParaRPr lang="en-US" sz="32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مُطَابَقَةُ الصِّفَةِ مَعَ الْجُمُوعِ</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First decide: people or not? People → plural adjective that shows gender (hard-working boys: -ūna; girls: -āt). Things and animals → feminine singular adjective. Never give people a feminine singular adjective.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GM-ADJ-02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Grammar › Adjectives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GM-ADJ-02 · Adjectives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GM-ADJ-02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Human plurals; non-human plurals; the dangerous misconception.</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Sort, transform, repair — people vs things.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GM-ADJ-03.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GM-ADJ-02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الطُّلَّابُ</a:t>
            </a:r>
            <a:pPr algn="l" indent="0" marL="0">
              <a:buNone/>
            </a:pPr>
            <a:r>
              <a:rPr lang="en-US" sz="1250" b="1" dirty="0">
                <a:solidFill>
                  <a:srgbClr val="1B3B6F"/>
                </a:solidFill>
                <a:latin typeface="Calibri" pitchFamily="34" charset="0"/>
                <a:ea typeface="Calibri" pitchFamily="34" charset="-122"/>
                <a:cs typeface="Calibri" pitchFamily="34" charset="-120"/>
              </a:rPr>
              <a:t> ...</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مُجْتَهِدَةٌ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مُجْتَهِدُونَ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مُجْتَهِدَاتٌ</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الطَّالِبَاتُ</a:t>
            </a:r>
            <a:pPr algn="l" indent="0" marL="0">
              <a:buNone/>
            </a:pPr>
            <a:r>
              <a:rPr lang="en-US" sz="1250" b="1" dirty="0">
                <a:solidFill>
                  <a:srgbClr val="1B3B6F"/>
                </a:solidFill>
                <a:latin typeface="Calibri" pitchFamily="34" charset="0"/>
                <a:ea typeface="Calibri" pitchFamily="34" charset="-122"/>
                <a:cs typeface="Calibri" pitchFamily="34" charset="-120"/>
              </a:rPr>
              <a:t> ...</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مُجْتَهِدَاتٌ</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مُجْتَهِدُونَ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مُجْتَهِدَةٌ</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الْكُتُبُ</a:t>
            </a:r>
            <a:pPr algn="l" indent="0" marL="0">
              <a:buNone/>
            </a:pPr>
            <a:r>
              <a:rPr lang="en-US" sz="1250" b="1" dirty="0">
                <a:solidFill>
                  <a:srgbClr val="1B3B6F"/>
                </a:solidFill>
                <a:latin typeface="Calibri" pitchFamily="34" charset="0"/>
                <a:ea typeface="Calibri" pitchFamily="34" charset="-122"/>
                <a:cs typeface="Calibri" pitchFamily="34" charset="-120"/>
              </a:rPr>
              <a:t> ...</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جَدِيدُونَ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جَدِيدَاتٌ</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جَدِيدَةٌ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الْكِلَابُ</a:t>
            </a:r>
            <a:pPr algn="l" indent="0" marL="0">
              <a:buNone/>
            </a:pPr>
            <a:r>
              <a:rPr lang="en-US" sz="1250" b="1" dirty="0">
                <a:solidFill>
                  <a:srgbClr val="1B3B6F"/>
                </a:solidFill>
                <a:latin typeface="Calibri" pitchFamily="34" charset="0"/>
                <a:ea typeface="Calibri" pitchFamily="34" charset="-122"/>
                <a:cs typeface="Calibri" pitchFamily="34" charset="-120"/>
              </a:rPr>
              <a:t> ...</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صَغِيرُونَ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صَغِيرَاتٌ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صَغِيرَةٌ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principle best supports this lesson?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Check the noun first</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Translate word by word from English</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Ignore definiteness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GM-ADJ-02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الطُّلَّابُ</a:t>
            </a:r>
            <a:pPr algn="l" indent="0" marL="0">
              <a:buNone/>
            </a:pPr>
            <a:r>
              <a:rPr lang="en-US" sz="1250" b="1" dirty="0">
                <a:solidFill>
                  <a:srgbClr val="1B3B6F"/>
                </a:solidFill>
                <a:latin typeface="Calibri" pitchFamily="34" charset="0"/>
                <a:ea typeface="Calibri" pitchFamily="34" charset="-122"/>
                <a:cs typeface="Calibri" pitchFamily="34" charset="-120"/>
              </a:rPr>
              <a:t> ...</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مُجْتَهِدَةٌ</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مُجْتَهِدُونَ</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مُجْتَهِدَاتٌ</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Human masculine plural.</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الطَّالِبَاتُ</a:t>
            </a:r>
            <a:pPr algn="l" indent="0" marL="0">
              <a:buNone/>
            </a:pPr>
            <a:r>
              <a:rPr lang="en-US" sz="1250" b="1" dirty="0">
                <a:solidFill>
                  <a:srgbClr val="1B3B6F"/>
                </a:solidFill>
                <a:latin typeface="Calibri" pitchFamily="34" charset="0"/>
                <a:ea typeface="Calibri" pitchFamily="34" charset="-122"/>
                <a:cs typeface="Calibri" pitchFamily="34" charset="-120"/>
              </a:rPr>
              <a:t> ...</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مُجْتَهِدَاتٌ</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مُجْتَهِدُونَ</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مُجْتَهِدَةٌ</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Human feminine plural.</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الْكُتُبُ</a:t>
            </a:r>
            <a:pPr algn="l" indent="0" marL="0">
              <a:buNone/>
            </a:pPr>
            <a:r>
              <a:rPr lang="en-US" sz="1250" b="1" dirty="0">
                <a:solidFill>
                  <a:srgbClr val="1B3B6F"/>
                </a:solidFill>
                <a:latin typeface="Calibri" pitchFamily="34" charset="0"/>
                <a:ea typeface="Calibri" pitchFamily="34" charset="-122"/>
                <a:cs typeface="Calibri" pitchFamily="34" charset="-120"/>
              </a:rPr>
              <a:t> ...</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جَدِيدُونَ</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جَدِيدَاتٌ</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جَدِيدَةٌ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Non-human plural → feminine singular.</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الْكِلَابُ</a:t>
            </a:r>
            <a:pPr algn="l" indent="0" marL="0">
              <a:buNone/>
            </a:pPr>
            <a:r>
              <a:rPr lang="en-US" sz="1250" b="1" dirty="0">
                <a:solidFill>
                  <a:srgbClr val="1B3B6F"/>
                </a:solidFill>
                <a:latin typeface="Calibri" pitchFamily="34" charset="0"/>
                <a:ea typeface="Calibri" pitchFamily="34" charset="-122"/>
                <a:cs typeface="Calibri" pitchFamily="34" charset="-120"/>
              </a:rPr>
              <a:t> ...</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صَغِيرُونَ</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صَغِيرَاتٌ</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صَغِيرَةٌ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Animals are grammatically non-human.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principle best supports this lesson?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Check the noun first</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Translate word by word from English</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Ignore definiteness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noun controls adjective agreement.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Human or non-human FIRST. People → plural adjective (boys -ūna, girls -āt). Things and animals → feminine singular.</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300" b="1" dirty="0">
                <a:solidFill>
                  <a:srgbClr val="1B3B6F"/>
                </a:solidFill>
                <a:latin typeface="Amiri" pitchFamily="34" charset="0"/>
                <a:ea typeface="Amiri" pitchFamily="34" charset="-122"/>
                <a:cs typeface="Amiri" pitchFamily="34" charset="-120"/>
              </a:rPr>
              <a:t>الطُّلَّابُ </a:t>
            </a:r>
            <a:pPr rtl="1" algn="ctr" indent="0" marL="0">
              <a:lnSpc>
                <a:spcPct val="120000"/>
              </a:lnSpc>
              <a:buNone/>
            </a:pPr>
            <a:r>
              <a:rPr lang="ar-SA" altLang="en-US" sz="2300" b="1" dirty="0">
                <a:solidFill>
                  <a:srgbClr val="0E7C86"/>
                </a:solidFill>
                <a:latin typeface="Amiri" pitchFamily="34" charset="0"/>
                <a:ea typeface="Amiri" pitchFamily="34" charset="-122"/>
                <a:cs typeface="Amiri" pitchFamily="34" charset="-120"/>
              </a:rPr>
              <a:t>مُجْتَهِدُونَ</a:t>
            </a:r>
            <a:pPr rtl="1" algn="ctr" indent="0" marL="0">
              <a:lnSpc>
                <a:spcPct val="120000"/>
              </a:lnSpc>
              <a:buNone/>
            </a:pPr>
            <a:r>
              <a:rPr lang="ar-SA" altLang="en-US" sz="2300" b="1" dirty="0">
                <a:solidFill>
                  <a:srgbClr val="1B3B6F"/>
                </a:solidFill>
                <a:latin typeface="Amiri" pitchFamily="34" charset="0"/>
                <a:ea typeface="Amiri" pitchFamily="34" charset="-122"/>
                <a:cs typeface="Amiri" pitchFamily="34" charset="-120"/>
              </a:rPr>
              <a:t> ‖ الْكُتُبُ </a:t>
            </a:r>
            <a:pPr rtl="1" algn="ctr" indent="0" marL="0">
              <a:lnSpc>
                <a:spcPct val="120000"/>
              </a:lnSpc>
              <a:buNone/>
            </a:pPr>
            <a:r>
              <a:rPr lang="ar-SA" altLang="en-US" sz="2300" b="1" dirty="0">
                <a:solidFill>
                  <a:srgbClr val="D6336C"/>
                </a:solidFill>
                <a:latin typeface="Amiri" pitchFamily="34" charset="0"/>
                <a:ea typeface="Amiri" pitchFamily="34" charset="-122"/>
                <a:cs typeface="Amiri" pitchFamily="34" charset="-120"/>
              </a:rPr>
              <a:t>مُفِيدَةٌ</a:t>
            </a:r>
            <a:endParaRPr lang="ar-SA" sz="23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GM-ADJ-02 · Adjectives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Decide whether a plural refers to people or not.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masculine and feminine plural adjectives for people.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feminine singular adjectives for things and animals.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Avoid feminine singular agreement with human plurals.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ask “people or not?” before choosing.</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write the students are hard-working for boys and girls.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treat animals as non-human.</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use the right agreement in phrases and sentences.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use broken-plural adjectives for people.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use masculine plural for mixed groups.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GM-ADJ-02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جَمْعُ الْعَاقِلِ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human plural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jam-ʿu al-ʿā-qi-li</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طُلَّابٌ · طَالِبَاتٌ</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جَمْعُ غَيْرِ الْعَاقِلِ</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non-human plural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jam-ʿu ghay-ri al-ʿā-qi-li</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كُتُبٌ · كِلَابٌ</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جَمْعٌ مُذَكَّرٌ</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masculine plural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-ūna</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مُجْتَهِدُونَ</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جَمْعٌ مُؤَنَّثٌ</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feminine plural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-āt</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مُجْتَهِدَاتٌ</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مُفْرَدٌ مُؤَنَّثٌ</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feminine singular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muf-ra-dun mu-ʾan-na-thun</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مُفِيدَةٌ</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جَمْعُ تَكْسِيرٍ</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broken plural (of an adjective)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jam-ʿu tak-sī-rin</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كِبَارٌ · كُسَالَى</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GM-ADJ-02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STEP 1 · HUMAN PLURALS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ea typeface="Cambria" pitchFamily="34" charset="-122"/>
                <a:cs typeface="Cambria" pitchFamily="34" charset="-120"/>
              </a:rPr>
              <a:t>People: plural adjective that shows gender</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جَمْعُ الْعَاقِلِ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GM-ADJ-02</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THE RULE, STEP BY STEP</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1</a:t>
            </a:r>
            <a:endParaRPr lang="en-US" sz="1100" dirty="0"/>
          </a:p>
        </p:txBody>
      </p:sp>
      <p:sp>
        <p:nvSpPr>
          <p:cNvPr id="19" name="Text 16"/>
          <p:cNvSpPr txBox="1"/>
          <p:nvPr/>
        </p:nvSpPr>
        <p:spPr>
          <a:xfrm>
            <a:off x="1078992" y="2176272"/>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Human plurals take PLURAL agreement that reflects gender (website).</a:t>
            </a:r>
            <a:endParaRPr lang="en-US" sz="1300" dirty="0"/>
          </a:p>
        </p:txBody>
      </p:sp>
      <p:sp>
        <p:nvSpPr>
          <p:cNvPr id="20" name="Shape 17"/>
          <p:cNvSpPr/>
          <p:nvPr/>
        </p:nvSpPr>
        <p:spPr>
          <a:xfrm>
            <a:off x="658368" y="288584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288584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2</a:t>
            </a:r>
            <a:endParaRPr lang="en-US" sz="1100" dirty="0"/>
          </a:p>
        </p:txBody>
      </p:sp>
      <p:sp>
        <p:nvSpPr>
          <p:cNvPr id="22" name="Text 19"/>
          <p:cNvSpPr txBox="1"/>
          <p:nvPr/>
        </p:nvSpPr>
        <p:spPr>
          <a:xfrm>
            <a:off x="1078992" y="277611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Male group → masculine plural adjective, usually -ūna (-īna after a preposition or as object).</a:t>
            </a:r>
            <a:endParaRPr lang="en-US" sz="1300" dirty="0"/>
          </a:p>
        </p:txBody>
      </p:sp>
      <p:sp>
        <p:nvSpPr>
          <p:cNvPr id="23" name="Shape 20"/>
          <p:cNvSpPr/>
          <p:nvPr/>
        </p:nvSpPr>
        <p:spPr>
          <a:xfrm>
            <a:off x="658368" y="3485693"/>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485693"/>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3</a:t>
            </a:r>
            <a:endParaRPr lang="en-US" sz="1100" dirty="0"/>
          </a:p>
        </p:txBody>
      </p:sp>
      <p:sp>
        <p:nvSpPr>
          <p:cNvPr id="25" name="Text 22"/>
          <p:cNvSpPr txBox="1"/>
          <p:nvPr/>
        </p:nvSpPr>
        <p:spPr>
          <a:xfrm>
            <a:off x="1078992" y="3375965"/>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Female group → feminine plural adjective, -āt.</a:t>
            </a:r>
            <a:endParaRPr lang="en-US" sz="1300" dirty="0"/>
          </a:p>
        </p:txBody>
      </p:sp>
      <p:sp>
        <p:nvSpPr>
          <p:cNvPr id="26" name="Shape 23"/>
          <p:cNvSpPr/>
          <p:nvPr/>
        </p:nvSpPr>
        <p:spPr>
          <a:xfrm>
            <a:off x="658368" y="4085539"/>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08553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4</a:t>
            </a:r>
            <a:endParaRPr lang="en-US" sz="1100" dirty="0"/>
          </a:p>
        </p:txBody>
      </p:sp>
      <p:sp>
        <p:nvSpPr>
          <p:cNvPr id="28" name="Text 25"/>
          <p:cNvSpPr txBox="1"/>
          <p:nvPr/>
        </p:nvSpPr>
        <p:spPr>
          <a:xfrm>
            <a:off x="1078992" y="3975811"/>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Mixed group of men and women → masculine plural.</a:t>
            </a:r>
            <a:endParaRPr lang="en-US" sz="1300" dirty="0"/>
          </a:p>
        </p:txBody>
      </p:sp>
      <p:sp>
        <p:nvSpPr>
          <p:cNvPr id="29" name="Shape 26"/>
          <p:cNvSpPr/>
          <p:nvPr/>
        </p:nvSpPr>
        <p:spPr>
          <a:xfrm>
            <a:off x="658368" y="4685386"/>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468538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5</a:t>
            </a:r>
            <a:endParaRPr lang="en-US" sz="1100" dirty="0"/>
          </a:p>
        </p:txBody>
      </p:sp>
      <p:sp>
        <p:nvSpPr>
          <p:cNvPr id="31" name="Text 28"/>
          <p:cNvSpPr txBox="1"/>
          <p:nvPr/>
        </p:nvSpPr>
        <p:spPr>
          <a:xfrm>
            <a:off x="1078992" y="457565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The adjective copies definiteness and case as well.</a:t>
            </a:r>
            <a:endParaRPr lang="en-US" sz="1300" dirty="0"/>
          </a:p>
        </p:txBody>
      </p:sp>
      <p:sp>
        <p:nvSpPr>
          <p:cNvPr id="32" name="Shape 29"/>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WORKED EXAMPLES</a:t>
            </a:r>
            <a:endParaRPr lang="en-US" sz="1000" dirty="0"/>
          </a:p>
        </p:txBody>
      </p:sp>
      <p:sp>
        <p:nvSpPr>
          <p:cNvPr id="34" name="Text 31"/>
          <p:cNvSpPr txBox="1"/>
          <p:nvPr/>
        </p:nvSpPr>
        <p:spPr>
          <a:xfrm>
            <a:off x="6949440" y="2194560"/>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طُلَّابٌ ذَكِيُّونَ</a:t>
            </a:r>
            <a:endParaRPr lang="ar-SA" sz="1950" dirty="0"/>
          </a:p>
        </p:txBody>
      </p:sp>
      <p:sp>
        <p:nvSpPr>
          <p:cNvPr id="35" name="Text 32"/>
          <p:cNvSpPr txBox="1"/>
          <p:nvPr/>
        </p:nvSpPr>
        <p:spPr>
          <a:xfrm>
            <a:off x="6949440" y="2619573"/>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clever (male) students  ·  website</a:t>
            </a:r>
            <a:endParaRPr lang="en-US" sz="1100" dirty="0"/>
          </a:p>
        </p:txBody>
      </p:sp>
      <p:sp>
        <p:nvSpPr>
          <p:cNvPr id="36" name="Shape 33"/>
          <p:cNvSpPr/>
          <p:nvPr/>
        </p:nvSpPr>
        <p:spPr>
          <a:xfrm>
            <a:off x="6995160" y="2935224"/>
            <a:ext cx="4553712" cy="0"/>
          </a:xfrm>
          <a:prstGeom prst="line">
            <a:avLst/>
          </a:prstGeom>
          <a:noFill/>
          <a:ln w="9525">
            <a:solidFill>
              <a:srgbClr val="E4DCCB"/>
            </a:solidFill>
            <a:prstDash val="dash"/>
          </a:ln>
        </p:spPr>
      </p:sp>
      <p:sp>
        <p:nvSpPr>
          <p:cNvPr id="37" name="Text 34"/>
          <p:cNvSpPr txBox="1"/>
          <p:nvPr/>
        </p:nvSpPr>
        <p:spPr>
          <a:xfrm>
            <a:off x="6949440" y="2953512"/>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مُعَلِّمُونَ مُخْلِصُونَ</a:t>
            </a:r>
            <a:endParaRPr lang="ar-SA" sz="1950" dirty="0"/>
          </a:p>
        </p:txBody>
      </p:sp>
      <p:sp>
        <p:nvSpPr>
          <p:cNvPr id="38" name="Text 35"/>
          <p:cNvSpPr txBox="1"/>
          <p:nvPr/>
        </p:nvSpPr>
        <p:spPr>
          <a:xfrm>
            <a:off x="6949440" y="3378525"/>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devoted (male) teachers  ·  website</a:t>
            </a:r>
            <a:endParaRPr lang="en-US" sz="1100" dirty="0"/>
          </a:p>
        </p:txBody>
      </p:sp>
      <p:sp>
        <p:nvSpPr>
          <p:cNvPr id="39" name="Shape 36"/>
          <p:cNvSpPr/>
          <p:nvPr/>
        </p:nvSpPr>
        <p:spPr>
          <a:xfrm>
            <a:off x="6995160" y="3694176"/>
            <a:ext cx="4553712" cy="0"/>
          </a:xfrm>
          <a:prstGeom prst="line">
            <a:avLst/>
          </a:prstGeom>
          <a:noFill/>
          <a:ln w="9525">
            <a:solidFill>
              <a:srgbClr val="E4DCCB"/>
            </a:solidFill>
            <a:prstDash val="dash"/>
          </a:ln>
        </p:spPr>
      </p:sp>
      <p:sp>
        <p:nvSpPr>
          <p:cNvPr id="40" name="Text 37"/>
          <p:cNvSpPr txBox="1"/>
          <p:nvPr/>
        </p:nvSpPr>
        <p:spPr>
          <a:xfrm>
            <a:off x="6949440" y="3712464"/>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طَالِبَاتٌ مُجْتَهِدَاتٌ</a:t>
            </a:r>
            <a:endParaRPr lang="ar-SA" sz="1950" dirty="0"/>
          </a:p>
        </p:txBody>
      </p:sp>
      <p:sp>
        <p:nvSpPr>
          <p:cNvPr id="41" name="Text 38"/>
          <p:cNvSpPr txBox="1"/>
          <p:nvPr/>
        </p:nvSpPr>
        <p:spPr>
          <a:xfrm>
            <a:off x="6949440" y="4137477"/>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hard-working (female) students  ·  website</a:t>
            </a:r>
            <a:endParaRPr lang="en-US" sz="1100" dirty="0"/>
          </a:p>
        </p:txBody>
      </p:sp>
      <p:sp>
        <p:nvSpPr>
          <p:cNvPr id="42" name="Shape 39"/>
          <p:cNvSpPr/>
          <p:nvPr/>
        </p:nvSpPr>
        <p:spPr>
          <a:xfrm>
            <a:off x="6995160" y="4453128"/>
            <a:ext cx="4553712" cy="0"/>
          </a:xfrm>
          <a:prstGeom prst="line">
            <a:avLst/>
          </a:prstGeom>
          <a:noFill/>
          <a:ln w="9525">
            <a:solidFill>
              <a:srgbClr val="E4DCCB"/>
            </a:solidFill>
            <a:prstDash val="dash"/>
          </a:ln>
        </p:spPr>
      </p:sp>
      <p:sp>
        <p:nvSpPr>
          <p:cNvPr id="43" name="Text 40"/>
          <p:cNvSpPr txBox="1"/>
          <p:nvPr/>
        </p:nvSpPr>
        <p:spPr>
          <a:xfrm>
            <a:off x="6949440" y="4471416"/>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رَأَيْتُ لَاعِبِينَ مَشْهُورِينَ.</a:t>
            </a:r>
            <a:endParaRPr lang="ar-SA" sz="1950" dirty="0"/>
          </a:p>
        </p:txBody>
      </p:sp>
      <p:sp>
        <p:nvSpPr>
          <p:cNvPr id="44" name="Text 41"/>
          <p:cNvSpPr txBox="1"/>
          <p:nvPr/>
        </p:nvSpPr>
        <p:spPr>
          <a:xfrm>
            <a:off x="6949440" y="4896429"/>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I saw famous players.  ·  object: -īna on both</a:t>
            </a:r>
            <a:endParaRPr lang="en-US" sz="1100" dirty="0"/>
          </a:p>
        </p:txBody>
      </p:sp>
      <p:sp>
        <p:nvSpPr>
          <p:cNvPr id="45" name="Shape 42"/>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ea typeface="Calibri" pitchFamily="34" charset="-122"/>
                <a:cs typeface="Calibri" pitchFamily="34" charset="-120"/>
              </a:rPr>
              <a:t>REMEMBER</a:t>
            </a:r>
            <a:endParaRPr lang="en-US" sz="1100" dirty="0"/>
          </a:p>
        </p:txBody>
      </p:sp>
      <p:sp>
        <p:nvSpPr>
          <p:cNvPr id="47" name="Text 44"/>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Website decision: human or non-human FIRST; then choose gender and number.</a:t>
            </a:r>
            <a:endParaRPr lang="en-US" sz="12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GM-ADJ-02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STEP 2 · NON-HUMAN PLURALS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Things and animals: feminine singular</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جَمْعُ غَيْرِ الْعَاقِلِ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GM-ADJ-02</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THE RULE</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A plural of things, animals or abstract ideas is treated as feminine singular (website).</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It does not matter whether the plural is broken or sound -āt.</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Animals count as non-human — even pets you love!</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The same rule applies to “these”, “she” and the verb (GM-N-06).</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WORKED EXAMPLES</a:t>
            </a:r>
            <a:endParaRPr lang="en-US" sz="1000" dirty="0"/>
          </a:p>
        </p:txBody>
      </p:sp>
      <p:sp>
        <p:nvSpPr>
          <p:cNvPr id="31" name="Text 28"/>
          <p:cNvSpPr txBox="1"/>
          <p:nvPr/>
        </p:nvSpPr>
        <p:spPr>
          <a:xfrm>
            <a:off x="6949440" y="2194560"/>
            <a:ext cx="464515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34" charset="0"/>
                <a:ea typeface="Amiri" pitchFamily="34" charset="-122"/>
                <a:cs typeface="Amiri" pitchFamily="34" charset="-120"/>
              </a:rPr>
              <a:t>كُتُبٌ جَدِيدَةٌ</a:t>
            </a:r>
            <a:endParaRPr lang="ar-SA" sz="2650" dirty="0"/>
          </a:p>
        </p:txBody>
      </p:sp>
      <p:sp>
        <p:nvSpPr>
          <p:cNvPr id="32" name="Text 29"/>
          <p:cNvSpPr txBox="1"/>
          <p:nvPr/>
        </p:nvSpPr>
        <p:spPr>
          <a:xfrm>
            <a:off x="6949440" y="2765511"/>
            <a:ext cx="464515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new books  ·  website</a:t>
            </a:r>
            <a:endParaRPr lang="en-US" sz="1100" dirty="0"/>
          </a:p>
        </p:txBody>
      </p:sp>
      <p:sp>
        <p:nvSpPr>
          <p:cNvPr id="33" name="Shape 30"/>
          <p:cNvSpPr/>
          <p:nvPr/>
        </p:nvSpPr>
        <p:spPr>
          <a:xfrm>
            <a:off x="6995160" y="3195828"/>
            <a:ext cx="4553712" cy="0"/>
          </a:xfrm>
          <a:prstGeom prst="line">
            <a:avLst/>
          </a:prstGeom>
          <a:noFill/>
          <a:ln w="9525">
            <a:solidFill>
              <a:srgbClr val="E4DCCB"/>
            </a:solidFill>
            <a:prstDash val="dash"/>
          </a:ln>
        </p:spPr>
      </p:sp>
      <p:sp>
        <p:nvSpPr>
          <p:cNvPr id="34" name="Text 31"/>
          <p:cNvSpPr txBox="1"/>
          <p:nvPr/>
        </p:nvSpPr>
        <p:spPr>
          <a:xfrm>
            <a:off x="6949440" y="3214116"/>
            <a:ext cx="464515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34" charset="0"/>
                <a:ea typeface="Amiri" pitchFamily="34" charset="-122"/>
                <a:cs typeface="Amiri" pitchFamily="34" charset="-120"/>
              </a:rPr>
              <a:t>مَدَارِسُ كَبِيرَةٌ</a:t>
            </a:r>
            <a:endParaRPr lang="ar-SA" sz="2650" dirty="0"/>
          </a:p>
        </p:txBody>
      </p:sp>
      <p:sp>
        <p:nvSpPr>
          <p:cNvPr id="35" name="Text 32"/>
          <p:cNvSpPr txBox="1"/>
          <p:nvPr/>
        </p:nvSpPr>
        <p:spPr>
          <a:xfrm>
            <a:off x="6949440" y="3785067"/>
            <a:ext cx="464515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big schools  ·  website</a:t>
            </a:r>
            <a:endParaRPr lang="en-US" sz="1100" dirty="0"/>
          </a:p>
        </p:txBody>
      </p:sp>
      <p:sp>
        <p:nvSpPr>
          <p:cNvPr id="36" name="Shape 33"/>
          <p:cNvSpPr/>
          <p:nvPr/>
        </p:nvSpPr>
        <p:spPr>
          <a:xfrm>
            <a:off x="6995160" y="4215384"/>
            <a:ext cx="4553712" cy="0"/>
          </a:xfrm>
          <a:prstGeom prst="line">
            <a:avLst/>
          </a:prstGeom>
          <a:noFill/>
          <a:ln w="9525">
            <a:solidFill>
              <a:srgbClr val="E4DCCB"/>
            </a:solidFill>
            <a:prstDash val="dash"/>
          </a:ln>
        </p:spPr>
      </p:sp>
      <p:sp>
        <p:nvSpPr>
          <p:cNvPr id="37" name="Text 34"/>
          <p:cNvSpPr txBox="1"/>
          <p:nvPr/>
        </p:nvSpPr>
        <p:spPr>
          <a:xfrm>
            <a:off x="6949440" y="4233672"/>
            <a:ext cx="464515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34" charset="0"/>
                <a:ea typeface="Amiri" pitchFamily="34" charset="-122"/>
                <a:cs typeface="Amiri" pitchFamily="34" charset="-120"/>
              </a:rPr>
              <a:t>حَقَائِبُ ثَقِيلَةٌ</a:t>
            </a:r>
            <a:endParaRPr lang="ar-SA" sz="2650" dirty="0"/>
          </a:p>
        </p:txBody>
      </p:sp>
      <p:sp>
        <p:nvSpPr>
          <p:cNvPr id="38" name="Text 35"/>
          <p:cNvSpPr txBox="1"/>
          <p:nvPr/>
        </p:nvSpPr>
        <p:spPr>
          <a:xfrm>
            <a:off x="6949440" y="4804623"/>
            <a:ext cx="464515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heavy bags  ·  website</a:t>
            </a:r>
            <a:endParaRPr lang="en-US" sz="1100" dirty="0"/>
          </a:p>
        </p:txBody>
      </p:sp>
      <p:sp>
        <p:nvSpPr>
          <p:cNvPr id="39" name="Shape 36"/>
          <p:cNvSpPr/>
          <p:nvPr/>
        </p:nvSpPr>
        <p:spPr>
          <a:xfrm>
            <a:off x="6995160" y="5234940"/>
            <a:ext cx="4553712" cy="0"/>
          </a:xfrm>
          <a:prstGeom prst="line">
            <a:avLst/>
          </a:prstGeom>
          <a:noFill/>
          <a:ln w="9525">
            <a:solidFill>
              <a:srgbClr val="E4DCCB"/>
            </a:solidFill>
            <a:prstDash val="dash"/>
          </a:ln>
        </p:spPr>
      </p:sp>
      <p:sp>
        <p:nvSpPr>
          <p:cNvPr id="40" name="Text 37"/>
          <p:cNvSpPr txBox="1"/>
          <p:nvPr/>
        </p:nvSpPr>
        <p:spPr>
          <a:xfrm>
            <a:off x="6949440" y="5253228"/>
            <a:ext cx="464515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34" charset="0"/>
                <a:ea typeface="Amiri" pitchFamily="34" charset="-122"/>
                <a:cs typeface="Amiri" pitchFamily="34" charset="-120"/>
              </a:rPr>
              <a:t>كِلَابٌ صَغِيرَةٌ</a:t>
            </a:r>
            <a:endParaRPr lang="ar-SA" sz="2650" dirty="0"/>
          </a:p>
        </p:txBody>
      </p:sp>
      <p:sp>
        <p:nvSpPr>
          <p:cNvPr id="41" name="Text 38"/>
          <p:cNvSpPr txBox="1"/>
          <p:nvPr/>
        </p:nvSpPr>
        <p:spPr>
          <a:xfrm>
            <a:off x="6949440" y="5824179"/>
            <a:ext cx="464515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small dogs  ·  website — animals</a:t>
            </a:r>
            <a:endParaRPr lang="en-US" sz="11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GM-ADJ-02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STEP 3 · THE DANGEROUS MISCONCEPTION (WEBSITE)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People never take feminine singular</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خَطَأٌ خَطِيرٌ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91472" y="1810512"/>
            <a:ext cx="2167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Note</a:t>
            </a:r>
            <a:endParaRPr lang="en-US" sz="1100" dirty="0"/>
          </a:p>
        </p:txBody>
      </p:sp>
      <p:sp>
        <p:nvSpPr>
          <p:cNvPr id="17" name="Text 14"/>
          <p:cNvSpPr txBox="1"/>
          <p:nvPr/>
        </p:nvSpPr>
        <p:spPr>
          <a:xfrm>
            <a:off x="656539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Right</a:t>
            </a:r>
            <a:endParaRPr lang="en-US" sz="1100" dirty="0"/>
          </a:p>
        </p:txBody>
      </p:sp>
      <p:sp>
        <p:nvSpPr>
          <p:cNvPr id="18" name="Text 15"/>
          <p:cNvSpPr txBox="1"/>
          <p:nvPr/>
        </p:nvSpPr>
        <p:spPr>
          <a:xfrm>
            <a:off x="363931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Wrong</a:t>
            </a:r>
            <a:endParaRPr lang="en-US" sz="1100" dirty="0"/>
          </a:p>
        </p:txBody>
      </p:sp>
      <p:sp>
        <p:nvSpPr>
          <p:cNvPr id="19" name="Text 16"/>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528048" y="2267712"/>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website example</a:t>
            </a:r>
            <a:endParaRPr lang="en-US" sz="1100" dirty="0"/>
          </a:p>
        </p:txBody>
      </p:sp>
      <p:sp>
        <p:nvSpPr>
          <p:cNvPr id="22" name="Text 19"/>
          <p:cNvSpPr txBox="1"/>
          <p:nvPr/>
        </p:nvSpPr>
        <p:spPr>
          <a:xfrm>
            <a:off x="6583680" y="2267712"/>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طُلَّابٌ كُسَالَى</a:t>
            </a:r>
            <a:endParaRPr lang="ar-SA" sz="2400" dirty="0"/>
          </a:p>
        </p:txBody>
      </p:sp>
      <p:sp>
        <p:nvSpPr>
          <p:cNvPr id="23" name="Text 20"/>
          <p:cNvSpPr txBox="1"/>
          <p:nvPr/>
        </p:nvSpPr>
        <p:spPr>
          <a:xfrm>
            <a:off x="3657600" y="2267712"/>
            <a:ext cx="27432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طُلَّابٌ كَسُولَةٌ</a:t>
            </a:r>
            <a:endParaRPr lang="ar-SA" sz="2200" dirty="0"/>
          </a:p>
        </p:txBody>
      </p:sp>
      <p:sp>
        <p:nvSpPr>
          <p:cNvPr id="24" name="Text 21"/>
          <p:cNvSpPr txBox="1"/>
          <p:nvPr/>
        </p:nvSpPr>
        <p:spPr>
          <a:xfrm>
            <a:off x="566928" y="2267712"/>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lazy (male) students</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528048" y="3004718"/>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broken plural</a:t>
            </a:r>
            <a:endParaRPr lang="en-US" sz="1100" dirty="0"/>
          </a:p>
        </p:txBody>
      </p:sp>
      <p:sp>
        <p:nvSpPr>
          <p:cNvPr id="29" name="Text 26"/>
          <p:cNvSpPr txBox="1"/>
          <p:nvPr/>
        </p:nvSpPr>
        <p:spPr>
          <a:xfrm>
            <a:off x="6583680" y="3004718"/>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رِجَالٌ كِبَارٌ</a:t>
            </a:r>
            <a:endParaRPr lang="ar-SA" sz="2400" dirty="0"/>
          </a:p>
        </p:txBody>
      </p:sp>
      <p:sp>
        <p:nvSpPr>
          <p:cNvPr id="30" name="Text 27"/>
          <p:cNvSpPr txBox="1"/>
          <p:nvPr/>
        </p:nvSpPr>
        <p:spPr>
          <a:xfrm>
            <a:off x="3657600" y="3004718"/>
            <a:ext cx="27432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رِجَالٌ كَبِيرَةٌ</a:t>
            </a:r>
            <a:endParaRPr lang="ar-SA" sz="2200" dirty="0"/>
          </a:p>
        </p:txBody>
      </p:sp>
      <p:sp>
        <p:nvSpPr>
          <p:cNvPr id="31" name="Text 28"/>
          <p:cNvSpPr txBox="1"/>
          <p:nvPr/>
        </p:nvSpPr>
        <p:spPr>
          <a:xfrm>
            <a:off x="566928" y="3004718"/>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big (grown-up) men</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9528048" y="3741725"/>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broken plural</a:t>
            </a:r>
            <a:endParaRPr lang="en-US" sz="1100" dirty="0"/>
          </a:p>
        </p:txBody>
      </p:sp>
      <p:sp>
        <p:nvSpPr>
          <p:cNvPr id="36" name="Text 33"/>
          <p:cNvSpPr txBox="1"/>
          <p:nvPr/>
        </p:nvSpPr>
        <p:spPr>
          <a:xfrm>
            <a:off x="6583680" y="3741725"/>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أَطْفَالٌ صِغَارٌ</a:t>
            </a:r>
            <a:endParaRPr lang="ar-SA" sz="2400" dirty="0"/>
          </a:p>
        </p:txBody>
      </p:sp>
      <p:sp>
        <p:nvSpPr>
          <p:cNvPr id="37" name="Text 34"/>
          <p:cNvSpPr txBox="1"/>
          <p:nvPr/>
        </p:nvSpPr>
        <p:spPr>
          <a:xfrm>
            <a:off x="3657600" y="3741725"/>
            <a:ext cx="27432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أَطْفَالٌ صَغِيرَةٌ</a:t>
            </a:r>
            <a:endParaRPr lang="ar-SA" sz="2200" dirty="0"/>
          </a:p>
        </p:txBody>
      </p:sp>
      <p:sp>
        <p:nvSpPr>
          <p:cNvPr id="38" name="Text 35"/>
          <p:cNvSpPr txBox="1"/>
          <p:nvPr/>
        </p:nvSpPr>
        <p:spPr>
          <a:xfrm>
            <a:off x="566928" y="3741725"/>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small children</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9528048" y="4478731"/>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or </a:t>
            </a:r>
            <a:pPr algn="l" indent="0" marL="0">
              <a:buNone/>
            </a:pPr>
            <a:r>
              <a:rPr lang="ar-SA" altLang="en-US" sz="1450" dirty="0">
                <a:solidFill>
                  <a:srgbClr val="5A6472"/>
                </a:solidFill>
                <a:latin typeface="Amiri" pitchFamily="34" charset="0"/>
                <a:ea typeface="Amiri" pitchFamily="34" charset="-122"/>
                <a:cs typeface="Amiri" pitchFamily="34" charset="-120"/>
              </a:rPr>
              <a:t>ذَكِيُّونَ</a:t>
            </a:r>
            <a:pPr algn="l" indent="0" marL="0">
              <a:buNone/>
            </a:pPr>
            <a:r>
              <a:rPr lang="en-US" sz="1100" dirty="0">
                <a:solidFill>
                  <a:srgbClr val="5A6472"/>
                </a:solidFill>
                <a:latin typeface="Calibri" pitchFamily="34" charset="0"/>
                <a:ea typeface="Calibri" pitchFamily="34" charset="-122"/>
                <a:cs typeface="Calibri" pitchFamily="34" charset="-120"/>
              </a:rPr>
              <a:t> (website)</a:t>
            </a:r>
            <a:endParaRPr lang="en-US" sz="1100" dirty="0"/>
          </a:p>
        </p:txBody>
      </p:sp>
      <p:sp>
        <p:nvSpPr>
          <p:cNvPr id="41" name="Text 38"/>
          <p:cNvSpPr txBox="1"/>
          <p:nvPr/>
        </p:nvSpPr>
        <p:spPr>
          <a:xfrm>
            <a:off x="6583680" y="4478731"/>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طُلَّابٌ أَذْكِيَاءُ</a:t>
            </a:r>
            <a:endParaRPr lang="ar-SA" sz="2400" dirty="0"/>
          </a:p>
        </p:txBody>
      </p:sp>
      <p:sp>
        <p:nvSpPr>
          <p:cNvPr id="42" name="Text 39"/>
          <p:cNvSpPr txBox="1"/>
          <p:nvPr/>
        </p:nvSpPr>
        <p:spPr>
          <a:xfrm>
            <a:off x="3657600" y="4478731"/>
            <a:ext cx="27432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طُلَّابٌ ذَكِيَّةٌ</a:t>
            </a:r>
            <a:endParaRPr lang="ar-SA" sz="2200" dirty="0"/>
          </a:p>
        </p:txBody>
      </p:sp>
      <p:sp>
        <p:nvSpPr>
          <p:cNvPr id="43" name="Text 40"/>
          <p:cNvSpPr txBox="1"/>
          <p:nvPr/>
        </p:nvSpPr>
        <p:spPr>
          <a:xfrm>
            <a:off x="566928" y="4478731"/>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clever students</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9528048" y="5215738"/>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broken plural</a:t>
            </a:r>
            <a:endParaRPr lang="en-US" sz="1100" dirty="0"/>
          </a:p>
        </p:txBody>
      </p:sp>
      <p:sp>
        <p:nvSpPr>
          <p:cNvPr id="46" name="Text 43"/>
          <p:cNvSpPr txBox="1"/>
          <p:nvPr/>
        </p:nvSpPr>
        <p:spPr>
          <a:xfrm>
            <a:off x="6583680" y="5215738"/>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جِيرَانٌ لُطَفَاءُ</a:t>
            </a:r>
            <a:endParaRPr lang="ar-SA" sz="2400" dirty="0"/>
          </a:p>
        </p:txBody>
      </p:sp>
      <p:sp>
        <p:nvSpPr>
          <p:cNvPr id="47" name="Text 44"/>
          <p:cNvSpPr txBox="1"/>
          <p:nvPr/>
        </p:nvSpPr>
        <p:spPr>
          <a:xfrm>
            <a:off x="3657600" y="5215738"/>
            <a:ext cx="27432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جِيرَانٌ لَطِيفَةٌ</a:t>
            </a:r>
            <a:endParaRPr lang="ar-SA" sz="2200" dirty="0"/>
          </a:p>
        </p:txBody>
      </p:sp>
      <p:sp>
        <p:nvSpPr>
          <p:cNvPr id="48" name="Text 45"/>
          <p:cNvSpPr txBox="1"/>
          <p:nvPr/>
        </p:nvSpPr>
        <p:spPr>
          <a:xfrm>
            <a:off x="566928" y="5215738"/>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kind neighbours</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Many common adjectives have a broken plural used for people. If you are unsure, the sound plural (-ūna / -āt) is usually understood.</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GM-ADJ-02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الْمُعَلِّمَاتُ</a:t>
            </a:r>
            <a:pPr algn="l" indent="0" marL="0">
              <a:buNone/>
            </a:pPr>
            <a:r>
              <a:rPr lang="en-US" sz="1250" b="1" dirty="0">
                <a:solidFill>
                  <a:srgbClr val="1B3B6F"/>
                </a:solidFill>
                <a:latin typeface="Calibri" pitchFamily="34" charset="0"/>
                <a:ea typeface="Calibri" pitchFamily="34" charset="-122"/>
                <a:cs typeface="Calibri" pitchFamily="34" charset="-120"/>
              </a:rPr>
              <a:t> ______ .</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لَطِيفَةٌ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لَطِيفُونَ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لَطِيفَاتٌ</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الْقِطَطُ</a:t>
            </a:r>
            <a:pPr algn="l" indent="0" marL="0">
              <a:buNone/>
            </a:pPr>
            <a:r>
              <a:rPr lang="en-US" sz="1250" b="1" dirty="0">
                <a:solidFill>
                  <a:srgbClr val="1B3B6F"/>
                </a:solidFill>
                <a:latin typeface="Calibri" pitchFamily="34" charset="0"/>
                <a:ea typeface="Calibri" pitchFamily="34" charset="-122"/>
                <a:cs typeface="Calibri" pitchFamily="34" charset="-120"/>
              </a:rPr>
              <a:t> ______ .</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جَمِيلَةٌ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جَمِيلُونَ</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جَمِيلَاتٌ</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class of boys AND girls is …</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مُجْتَهِدَاتٌ</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مُجْتَهِدُونَ</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مُجْتَهِدَةٌ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WRONG?</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الرِّجَالُ قَوِيَّةٌ.</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الرِّجَالُ أَقْوِيَاءُ.</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الْجِبَالُ عَالِيَةٌ.</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GM-ADJ-02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الْمُعَلِّمَاتُ</a:t>
            </a:r>
            <a:pPr algn="l" indent="0" marL="0">
              <a:buNone/>
            </a:pPr>
            <a:r>
              <a:rPr lang="en-US" sz="1250" b="1" dirty="0">
                <a:solidFill>
                  <a:srgbClr val="1B3B6F"/>
                </a:solidFill>
                <a:latin typeface="Calibri" pitchFamily="34" charset="0"/>
                <a:ea typeface="Calibri" pitchFamily="34" charset="-122"/>
                <a:cs typeface="Calibri" pitchFamily="34" charset="-120"/>
              </a:rPr>
              <a:t> ______ .</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لَطِيفَةٌ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لَطِيفُونَ</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لَطِيفَاتٌ</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Women → feminine plural.</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الْقِطَطُ</a:t>
            </a:r>
            <a:pPr algn="l" indent="0" marL="0">
              <a:buNone/>
            </a:pPr>
            <a:r>
              <a:rPr lang="en-US" sz="1250" b="1" dirty="0">
                <a:solidFill>
                  <a:srgbClr val="1B3B6F"/>
                </a:solidFill>
                <a:latin typeface="Calibri" pitchFamily="34" charset="0"/>
                <a:ea typeface="Calibri" pitchFamily="34" charset="-122"/>
                <a:cs typeface="Calibri" pitchFamily="34" charset="-120"/>
              </a:rPr>
              <a:t> ______ .</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جَمِيلَةٌ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جَمِيلُونَ</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جَمِيلَاتٌ</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Animals → feminine singular.</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class of boys AND girls is …</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مُجْتَهِدَاتٌ</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مُجْتَهِدُونَ</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مُجْتَهِدَةٌ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Mixed group → masculine plural.</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WRONG?</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الرِّجَالُ قَوِيَّةٌ.</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الرِّجَالُ أَقْوِيَاءُ.</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الْجِبَالُ عَالِيَةٌ.</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People never take feminine singular.</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GM-ADJ-02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decide: people or not?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Noun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الْمُهَنْدِسُونَ</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Plural. People? Yes.</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Gender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الْمُهَنْدِسُونَ</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Masculine → -ūna.</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Adjective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الْمُهَنْدِسُونَ مَاهِرُونَ</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Plural, masculine.</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Contrast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الْآلَاتُ حَدِيثَةٌ</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Machines: things → fem. sing.</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PEOPLE: PLURAL</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THINGS: FEM. SING.</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فِي الْمَصْنَعِ مُهَنْدِسُونَ </a:t>
            </a:r>
            <a:pPr rtl="1" algn="r" indent="0" marL="0">
              <a:buNone/>
            </a:pPr>
            <a:r>
              <a:rPr lang="ar-SA" altLang="en-US" sz="2600" b="1" dirty="0">
                <a:solidFill>
                  <a:srgbClr val="0E7C86"/>
                </a:solidFill>
                <a:latin typeface="Amiri" pitchFamily="34" charset="0"/>
                <a:ea typeface="Amiri" pitchFamily="34" charset="-122"/>
                <a:cs typeface="Amiri" pitchFamily="34" charset="-120"/>
              </a:rPr>
              <a:t>مَاهِرُونَ</a:t>
            </a:r>
            <a:pPr rtl="1" algn="r" indent="0" marL="0">
              <a:buNone/>
            </a:pPr>
            <a:r>
              <a:rPr lang="ar-SA" altLang="en-US" sz="2600" b="1" dirty="0">
                <a:solidFill>
                  <a:srgbClr val="1B3B6F"/>
                </a:solidFill>
                <a:latin typeface="Amiri" pitchFamily="34" charset="0"/>
                <a:ea typeface="Amiri" pitchFamily="34" charset="-122"/>
                <a:cs typeface="Amiri" pitchFamily="34" charset="-120"/>
              </a:rPr>
              <a:t> وَمُهَنْدِسَاتٌ </a:t>
            </a:r>
            <a:pPr rtl="1" algn="r" indent="0" marL="0">
              <a:buNone/>
            </a:pPr>
            <a:r>
              <a:rPr lang="ar-SA" altLang="en-US" sz="2600" b="1" dirty="0">
                <a:solidFill>
                  <a:srgbClr val="0E7C86"/>
                </a:solidFill>
                <a:latin typeface="Amiri" pitchFamily="34" charset="0"/>
                <a:ea typeface="Amiri" pitchFamily="34" charset="-122"/>
                <a:cs typeface="Amiri" pitchFamily="34" charset="-120"/>
              </a:rPr>
              <a:t>نَشِيطَاتٌ</a:t>
            </a:r>
            <a:pPr rtl="1" algn="r" indent="0" marL="0">
              <a:buNone/>
            </a:pPr>
            <a:r>
              <a:rPr lang="ar-SA" altLang="en-US" sz="2600" b="1" dirty="0">
                <a:solidFill>
                  <a:srgbClr val="1B3B6F"/>
                </a:solidFill>
                <a:latin typeface="Amiri" pitchFamily="34" charset="0"/>
                <a:ea typeface="Amiri" pitchFamily="34" charset="-122"/>
                <a:cs typeface="Amiri" pitchFamily="34" charset="-120"/>
              </a:rPr>
              <a:t>، وَالْآلَاتُ </a:t>
            </a:r>
            <a:pPr rtl="1" algn="r" indent="0" marL="0">
              <a:buNone/>
            </a:pPr>
            <a:r>
              <a:rPr lang="ar-SA" altLang="en-US" sz="2600" b="1" dirty="0">
                <a:solidFill>
                  <a:srgbClr val="D6336C"/>
                </a:solidFill>
                <a:latin typeface="Amiri" pitchFamily="34" charset="0"/>
                <a:ea typeface="Amiri" pitchFamily="34" charset="-122"/>
                <a:cs typeface="Amiri" pitchFamily="34" charset="-120"/>
              </a:rPr>
              <a:t>حَدِيثَةٌ</a:t>
            </a:r>
            <a:pPr rtl="1" algn="r" indent="0" marL="0">
              <a:buNone/>
            </a:pPr>
            <a:r>
              <a:rPr lang="ar-SA" altLang="en-US" sz="2600" b="1" dirty="0">
                <a:solidFill>
                  <a:srgbClr val="1B3B6F"/>
                </a:solidFill>
                <a:latin typeface="Amiri" pitchFamily="34" charset="0"/>
                <a:ea typeface="Amiri" pitchFamily="34" charset="-122"/>
                <a:cs typeface="Amiri" pitchFamily="34" charset="-120"/>
              </a:rPr>
              <a:t> وَ</a:t>
            </a:r>
            <a:pPr rtl="1" algn="r" indent="0" marL="0">
              <a:buNone/>
            </a:pPr>
            <a:r>
              <a:rPr lang="ar-SA" altLang="en-US" sz="2600" b="1" dirty="0">
                <a:solidFill>
                  <a:srgbClr val="D6336C"/>
                </a:solidFill>
                <a:latin typeface="Amiri" pitchFamily="34" charset="0"/>
                <a:ea typeface="Amiri" pitchFamily="34" charset="-122"/>
                <a:cs typeface="Amiri" pitchFamily="34" charset="-120"/>
              </a:rPr>
              <a:t>سَرِيعَةٌ</a:t>
            </a:r>
            <a:pPr rtl="1" algn="r" indent="0" marL="0">
              <a:buNone/>
            </a:pPr>
            <a:r>
              <a:rPr lang="ar-SA" altLang="en-US" sz="2600" b="1" dirty="0">
                <a:solidFill>
                  <a:srgbClr val="1B3B6F"/>
                </a:solidFill>
                <a:latin typeface="Amiri" pitchFamily="34" charset="0"/>
                <a:ea typeface="Amiri" pitchFamily="34" charset="-122"/>
                <a:cs typeface="Amiri" pitchFamily="34" charset="-120"/>
              </a:rPr>
              <a:t>.</a:t>
            </a:r>
            <a:endParaRPr lang="ar-SA" sz="2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In the factory there are skilful (male) engineers and active (female) engineers, and the machines are modern and fast.</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GM-ADJ-02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GM-ADJ-02</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الطُّلَّابُ مُجْتَهِدُونَ.</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(male) students are hard-working.</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 model bank.</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الطَّالِبَاتُ مُجْتَهِدَاتٌ.</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(female) students are hard-working.</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 model bank.</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السَّيَّارَاتُ سَرِيعَةٌ.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cars are fast.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 model bank.</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أَوْلَادُ عَمِّي صِغَارٌ، وَقِطَطُهُمْ صَغِيرَةٌ أَيْضًا.</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My cousins are little, and their cats are small too.</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Same adjective, two agreements.</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GM-ADJ-02 · Adjectives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 IT · PEOPLE, OR THINGS AND ANIMALS?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Which agreement?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الْأَطِبَّاءُ</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الْكِلَابُ</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الْمُمَرِّضَاتُ</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الْمَلَابِسُ</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اللَّاعِبُونَ</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الطُّيُورُ</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الْجِيرَانُ</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الْأَفْكَارُ</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Plural adjective (people)</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Feminine singular (things / animals)</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GM-ADJ-02 · Adjectives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GM-ADJ-02</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Plural adjective (people)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الْأَطِبَّاءُ</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الْمُمَرِّضَاتُ</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اللَّاعِبُونَ</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الْجِيرَانُ</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Feminine singular (things / animals)</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الْكِلَابُ</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الْمَلَابِسُ</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الطُّيُورُ</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الْأَفْكَارُ</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GM-ADJ-02 · Adjectives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TRANSFORMATION DRILL (WEBSITE)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Make it plural — choose the agreement</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اجْمَعْ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016752" y="1810512"/>
            <a:ext cx="56418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Plural</a:t>
            </a:r>
            <a:endParaRPr lang="en-US" sz="1100" dirty="0"/>
          </a:p>
        </p:txBody>
      </p:sp>
      <p:sp>
        <p:nvSpPr>
          <p:cNvPr id="17" name="Text 14"/>
          <p:cNvSpPr txBox="1"/>
          <p:nvPr/>
        </p:nvSpPr>
        <p:spPr>
          <a:xfrm>
            <a:off x="400507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People?</a:t>
            </a:r>
            <a:endParaRPr lang="en-US" sz="1100" dirty="0"/>
          </a:p>
        </p:txBody>
      </p:sp>
      <p:sp>
        <p:nvSpPr>
          <p:cNvPr id="18" name="Text 15"/>
          <p:cNvSpPr txBox="1"/>
          <p:nvPr/>
        </p:nvSpPr>
        <p:spPr>
          <a:xfrm>
            <a:off x="530352"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Singular</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6035040" y="2267712"/>
            <a:ext cx="560527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الْأَطِبَّاءُ مَشْغُولُونَ.</a:t>
            </a:r>
            <a:endParaRPr lang="ar-SA" sz="2400" dirty="0"/>
          </a:p>
        </p:txBody>
      </p:sp>
      <p:sp>
        <p:nvSpPr>
          <p:cNvPr id="21" name="Text 18"/>
          <p:cNvSpPr txBox="1"/>
          <p:nvPr/>
        </p:nvSpPr>
        <p:spPr>
          <a:xfrm>
            <a:off x="4041648" y="2267712"/>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yes (m.)</a:t>
            </a:r>
            <a:endParaRPr lang="en-US" sz="1100" dirty="0"/>
          </a:p>
        </p:txBody>
      </p:sp>
      <p:sp>
        <p:nvSpPr>
          <p:cNvPr id="22" name="Text 19"/>
          <p:cNvSpPr txBox="1"/>
          <p:nvPr/>
        </p:nvSpPr>
        <p:spPr>
          <a:xfrm>
            <a:off x="548640" y="2267712"/>
            <a:ext cx="32918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الطَّبِيبُ مَشْغُولٌ.</a:t>
            </a:r>
            <a:endParaRPr lang="ar-SA" sz="24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6035040" y="3004718"/>
            <a:ext cx="560527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الْمُمَرِّضَاتُ نَشِيطَاتٌ.</a:t>
            </a:r>
            <a:endParaRPr lang="ar-SA" sz="2400" dirty="0"/>
          </a:p>
        </p:txBody>
      </p:sp>
      <p:sp>
        <p:nvSpPr>
          <p:cNvPr id="27" name="Text 24"/>
          <p:cNvSpPr txBox="1"/>
          <p:nvPr/>
        </p:nvSpPr>
        <p:spPr>
          <a:xfrm>
            <a:off x="4041648" y="300471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yes (f.)</a:t>
            </a:r>
            <a:endParaRPr lang="en-US" sz="1100" dirty="0"/>
          </a:p>
        </p:txBody>
      </p:sp>
      <p:sp>
        <p:nvSpPr>
          <p:cNvPr id="28" name="Text 25"/>
          <p:cNvSpPr txBox="1"/>
          <p:nvPr/>
        </p:nvSpPr>
        <p:spPr>
          <a:xfrm>
            <a:off x="548640" y="3004718"/>
            <a:ext cx="32918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الْمُمَرِّضَةُ نَشِيطَةٌ.</a:t>
            </a:r>
            <a:endParaRPr lang="ar-SA" sz="24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6035040" y="3741725"/>
            <a:ext cx="560527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الْقُمْصَانُ نَظِيفَةٌ.</a:t>
            </a:r>
            <a:endParaRPr lang="ar-SA" sz="2400" dirty="0"/>
          </a:p>
        </p:txBody>
      </p:sp>
      <p:sp>
        <p:nvSpPr>
          <p:cNvPr id="33" name="Text 30"/>
          <p:cNvSpPr txBox="1"/>
          <p:nvPr/>
        </p:nvSpPr>
        <p:spPr>
          <a:xfrm>
            <a:off x="4041648" y="3741725"/>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a:t>
            </a:r>
            <a:endParaRPr lang="en-US" sz="1100" dirty="0"/>
          </a:p>
        </p:txBody>
      </p:sp>
      <p:sp>
        <p:nvSpPr>
          <p:cNvPr id="34" name="Text 31"/>
          <p:cNvSpPr txBox="1"/>
          <p:nvPr/>
        </p:nvSpPr>
        <p:spPr>
          <a:xfrm>
            <a:off x="548640" y="3741725"/>
            <a:ext cx="32918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الْقَمِيصُ نَظِيفٌ.</a:t>
            </a:r>
            <a:endParaRPr lang="ar-SA" sz="24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6035040" y="4478731"/>
            <a:ext cx="560527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الطُّيُورُ جَمِيلَةٌ.</a:t>
            </a:r>
            <a:endParaRPr lang="ar-SA" sz="2400" dirty="0"/>
          </a:p>
        </p:txBody>
      </p:sp>
      <p:sp>
        <p:nvSpPr>
          <p:cNvPr id="39" name="Text 36"/>
          <p:cNvSpPr txBox="1"/>
          <p:nvPr/>
        </p:nvSpPr>
        <p:spPr>
          <a:xfrm>
            <a:off x="4041648" y="4478731"/>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 (animal)</a:t>
            </a:r>
            <a:endParaRPr lang="en-US" sz="1100" dirty="0"/>
          </a:p>
        </p:txBody>
      </p:sp>
      <p:sp>
        <p:nvSpPr>
          <p:cNvPr id="40" name="Text 37"/>
          <p:cNvSpPr txBox="1"/>
          <p:nvPr/>
        </p:nvSpPr>
        <p:spPr>
          <a:xfrm>
            <a:off x="548640" y="4478731"/>
            <a:ext cx="32918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الطَّائِرُ جَمِيلٌ.</a:t>
            </a:r>
            <a:endParaRPr lang="ar-SA" sz="24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6035040" y="5215738"/>
            <a:ext cx="560527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الْأَطْفَالُ صِغَارٌ.</a:t>
            </a:r>
            <a:endParaRPr lang="ar-SA" sz="2400" dirty="0"/>
          </a:p>
        </p:txBody>
      </p:sp>
      <p:sp>
        <p:nvSpPr>
          <p:cNvPr id="43" name="Text 40"/>
          <p:cNvSpPr txBox="1"/>
          <p:nvPr/>
        </p:nvSpPr>
        <p:spPr>
          <a:xfrm>
            <a:off x="4041648" y="521573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yes</a:t>
            </a:r>
            <a:endParaRPr lang="en-US" sz="1100" dirty="0"/>
          </a:p>
        </p:txBody>
      </p:sp>
      <p:sp>
        <p:nvSpPr>
          <p:cNvPr id="44" name="Text 41"/>
          <p:cNvSpPr txBox="1"/>
          <p:nvPr/>
        </p:nvSpPr>
        <p:spPr>
          <a:xfrm>
            <a:off x="548640" y="5215738"/>
            <a:ext cx="32918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الطِّفْلُ صَغِيرٌ.</a:t>
            </a:r>
            <a:endParaRPr lang="ar-SA" sz="24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drill: change the noun’s number, then change every adjective feature it controls — and say WHY in grammar words.</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GM-ADJ-02 · Adjectives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الطُّلَّابُ كَسُولَةٌ.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People or things?</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الْكِلَابُ صَغِيرُونَ.</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Are dogs people?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الْمُعَلِّمَاتُ لَطِيفُونَ.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Men or women?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GM-ADJ-02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الطُّلَّابُ كَسُولَةٌ.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الطُّلَّابُ كُسَالَى.</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People never take feminine singular (website).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الْكِلَابُ صَغِيرُونَ.</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الْكِلَابُ صَغِيرَةٌ.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Animals are non-human.</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الْمُعَلِّمَاتُ لَطِيفُونَ.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الْمُعَلِّمَاتُ لَطِيفَاتٌ.</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Women → feminine plural.</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GM-ADJ-02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GUIDED PRACTICE · TEACHER-WRITTEN PRACTICE ON THE WEBSITE RULES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players are famous.”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اللَّاعِبُونَ مَشْهُورَةٌ.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اللَّاعِبُونَ مَشْهُورٌ.</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اللَّاعِبُونَ مَشْهُورُونَ.</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clothes are new.”</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الْمَلَابِسُ جُدُدٌ.</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الْمَلَابِسُ جَدِيدَةٌ.</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الْمَلَابِسُ جَدِيدُونَ.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nurses are tired.”</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الْمُمَرِّضَاتُ مُتْعَبَةٌ.</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الْمُمَرِّضَاتُ مُتْعَبَاتٌ.</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الْمُمَرِّضَاتُ مُتْعَبُونَ.</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visited kind neighbours.”</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زُرْتُ جِيرَانًا لَطِيفَةً.</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زُرْتُ جِيرَانٌ لُطَفَاءُ.</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زُرْتُ جِيرَانًا لُطَفَاءَ.</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GM-ADJ-02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players are famous.”</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اللَّاعِبُونَ مَشْهُورَةٌ.</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اللَّاعِبُونَ مَشْهُورٌ.</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اللَّاعِبُونَ مَشْهُورُونَ.</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Human masculine plural.</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clothes are new.”</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الْمَلَابِسُ جُدُدٌ.</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الْمَلَابِسُ جَدِيدَةٌ.</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الْمَلَابِسُ جَدِيدُونَ.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Things → feminine singular.</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nurses are tired.”</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الْمُمَرِّضَاتُ مُتْعَبَةٌ.</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الْمُمَرِّضَاتُ مُتْعَبَاتٌ.</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الْمُمَرِّضَاتُ مُتْعَبُونَ.</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Women → feminine plural.</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visited kind neighbours.”</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زُرْتُ جِيرَانًا لَطِيفَةً.</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زُرْتُ جِيرَانٌ لُطَفَاءُ.</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زُرْتُ جِيرَانًا لُطَفَاءَ.</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People: broken-plural adjective; object case.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GM-ADJ-02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E6B52"/>
                </a:solidFill>
                <a:latin typeface="Calibri" pitchFamily="34" charset="0"/>
                <a:ea typeface="Calibri" pitchFamily="34" charset="-122"/>
                <a:cs typeface="Calibri" pitchFamily="34" charset="-120"/>
              </a:rPr>
              <a:t>YOU DO · READ AND NOTICE · WEBSITE READING TEXT, EXTENDED BY THE TEACHER</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My city and its people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GM-ADJ-02</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فِي مَدِينَتِي أَمَاكِنُ جَمِيلَةٌ وَشَوَارِعُ وَاسِعَةٌ. هَذِهِ الْمَدْرَسَةُ الْجَدِيدَةُ قَرِيبَةٌ، وَذَلِكَ الْمَتْحَفُ الْقَدِيمُ مُثِيرٌ لِلِاهْتِمَامِ. النَّاسُ فِي مَدِينَتِي لُطَفَاءُ، وَالْمُعَلِّمُونَ مُخْلِصُونَ. فِي الْحَدِيقَةِ طُيُورٌ مُلَوَّنَةٌ وَأَطْفَالٌ سُعَدَاءُ.</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أَمَاكِنُ</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places</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شَوَارِعُ</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streets</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وَاسِعَةٌ</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wide</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مُثِيرٌ لِلِاهْتِمَامِ</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interesting</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النَّاسُ</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people</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مُخْلِصُونَ</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devoted</a:t>
            </a:r>
            <a:endParaRPr lang="en-US" sz="1050" dirty="0"/>
          </a:p>
        </p:txBody>
      </p:sp>
      <p:sp>
        <p:nvSpPr>
          <p:cNvPr id="31" name="Text 28"/>
          <p:cNvSpPr txBox="1"/>
          <p:nvPr/>
        </p:nvSpPr>
        <p:spPr>
          <a:xfrm>
            <a:off x="10102291" y="52303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مُلَوَّنَةٌ</a:t>
            </a:r>
            <a:endParaRPr lang="ar-SA" sz="1600" dirty="0"/>
          </a:p>
        </p:txBody>
      </p:sp>
      <p:sp>
        <p:nvSpPr>
          <p:cNvPr id="32" name="Text 29"/>
          <p:cNvSpPr txBox="1"/>
          <p:nvPr/>
        </p:nvSpPr>
        <p:spPr>
          <a:xfrm>
            <a:off x="8851392" y="52303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colourful</a:t>
            </a:r>
            <a:endParaRPr lang="en-US" sz="1050" dirty="0"/>
          </a:p>
        </p:txBody>
      </p:sp>
      <p:sp>
        <p:nvSpPr>
          <p:cNvPr id="33" name="Text 30"/>
          <p:cNvSpPr txBox="1"/>
          <p:nvPr/>
        </p:nvSpPr>
        <p:spPr>
          <a:xfrm>
            <a:off x="10102291" y="57332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سُعَدَاءُ</a:t>
            </a:r>
            <a:endParaRPr lang="ar-SA" sz="1600" dirty="0"/>
          </a:p>
        </p:txBody>
      </p:sp>
      <p:sp>
        <p:nvSpPr>
          <p:cNvPr id="34" name="Text 31"/>
          <p:cNvSpPr txBox="1"/>
          <p:nvPr/>
        </p:nvSpPr>
        <p:spPr>
          <a:xfrm>
            <a:off x="8851392" y="57332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happy (pl.)</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GM-ADJ-02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the adjective for streets feminine singular?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Streets are women.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Streets are things.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a mistake.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it </a:t>
            </a:r>
            <a:pPr algn="l" indent="0" marL="0">
              <a:buNone/>
            </a:pPr>
            <a:r>
              <a:rPr lang="ar-SA" altLang="en-US" sz="1650" b="1" dirty="0">
                <a:solidFill>
                  <a:srgbClr val="1B3B6F"/>
                </a:solidFill>
                <a:latin typeface="Amiri" pitchFamily="34" charset="0"/>
                <a:ea typeface="Amiri" pitchFamily="34" charset="-122"/>
                <a:cs typeface="Amiri" pitchFamily="34" charset="-120"/>
              </a:rPr>
              <a:t>لُطَفَاءُ</a:t>
            </a:r>
            <a:pPr algn="l" indent="0" marL="0">
              <a:buNone/>
            </a:pPr>
            <a:r>
              <a:rPr lang="en-US" sz="1250" b="1" dirty="0">
                <a:solidFill>
                  <a:srgbClr val="1B3B6F"/>
                </a:solidFill>
                <a:latin typeface="Calibri" pitchFamily="34" charset="0"/>
                <a:ea typeface="Calibri" pitchFamily="34" charset="-122"/>
                <a:cs typeface="Calibri" pitchFamily="34" charset="-120"/>
              </a:rPr>
              <a:t> (plural)?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describes places.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describes birds.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describes people.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the adjective for birds feminine singular?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Birds are animals — non-human.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Birds are feminine people.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singular.</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kind of plural is </a:t>
            </a:r>
            <a:pPr algn="l" indent="0" marL="0">
              <a:buNone/>
            </a:pPr>
            <a:r>
              <a:rPr lang="ar-SA" altLang="en-US" sz="1650" b="1" dirty="0">
                <a:solidFill>
                  <a:srgbClr val="1B3B6F"/>
                </a:solidFill>
                <a:latin typeface="Amiri" pitchFamily="34" charset="0"/>
                <a:ea typeface="Amiri" pitchFamily="34" charset="-122"/>
                <a:cs typeface="Amiri" pitchFamily="34" charset="-120"/>
              </a:rPr>
              <a:t>سُعَدَاءُ</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sound feminine plural</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broken plural for people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feminine singular</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GM-ADJ-02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the adjective for streets feminine singular?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Streets are women.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Streets are things.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a mistake.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Non-human plural.</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it </a:t>
            </a:r>
            <a:pPr algn="l" indent="0" marL="0">
              <a:buNone/>
            </a:pPr>
            <a:r>
              <a:rPr lang="ar-SA" altLang="en-US" sz="1650" b="1" dirty="0">
                <a:solidFill>
                  <a:srgbClr val="1B3B6F"/>
                </a:solidFill>
                <a:latin typeface="Amiri" pitchFamily="34" charset="0"/>
                <a:ea typeface="Amiri" pitchFamily="34" charset="-122"/>
                <a:cs typeface="Amiri" pitchFamily="34" charset="-120"/>
              </a:rPr>
              <a:t>لُطَفَاءُ</a:t>
            </a:r>
            <a:pPr algn="l" indent="0" marL="0">
              <a:buNone/>
            </a:pPr>
            <a:r>
              <a:rPr lang="en-US" sz="1250" b="1" dirty="0">
                <a:solidFill>
                  <a:srgbClr val="1B3B6F"/>
                </a:solidFill>
                <a:latin typeface="Calibri" pitchFamily="34" charset="0"/>
                <a:ea typeface="Calibri" pitchFamily="34" charset="-122"/>
                <a:cs typeface="Calibri" pitchFamily="34" charset="-120"/>
              </a:rPr>
              <a:t> (plural)?</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describes places.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describes birds.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describes people.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Human → plural.</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the adjective for birds feminine singular?</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Birds are animals — non-human.</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Birds are feminine people.</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singular.</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Animals are non-human.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kind of plural is </a:t>
            </a:r>
            <a:pPr algn="l" indent="0" marL="0">
              <a:buNone/>
            </a:pPr>
            <a:r>
              <a:rPr lang="ar-SA" altLang="en-US" sz="1650" b="1" dirty="0">
                <a:solidFill>
                  <a:srgbClr val="1B3B6F"/>
                </a:solidFill>
                <a:latin typeface="Amiri" pitchFamily="34" charset="0"/>
                <a:ea typeface="Amiri" pitchFamily="34" charset="-122"/>
                <a:cs typeface="Amiri" pitchFamily="34" charset="-120"/>
              </a:rPr>
              <a:t>سُعَدَاءُ</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sound feminine plural</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broken plural for people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feminine singular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Stretch: broken adjective plural.</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GM-ADJ-02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Speaking: people and things in my school</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الْمُعَلِّمِينَ وَالْكُتُبَ فِي مَدْرَسَتِكَ.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أَصْدِقَاءَكَ وَحَيَوَانَاتِهِمْ.</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أُسْرَتَكَ الْكَبِيرَةَ: الْكِبَارُ وَالصِّغَارُ.</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الْمُعَلِّمُونَ ___ ، وَالْكُتُبُ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أَصْدِقَائِي ___ ، وَقِطَطُهُمْ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الْكِبَارُ فِي أُسْرَتِي ___ ، وَالْأَطْفَالُ ___ .</a:t>
            </a:r>
            <a:endParaRPr lang="ar-SA" sz="14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كَيْفَ الطُّلَّابُ فِي صَفِّكَ؟</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are the students in your class like?</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الطُّلَّابُ أَذْكِيَاءُ وَمَرِحُونَ، لَكِنَّ الْكُتُبَ ثَقِيلَةٌ جِدًّا!</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00" i="1" dirty="0">
                <a:solidFill>
                  <a:srgbClr val="5A6472"/>
                </a:solidFill>
                <a:latin typeface="Calibri" pitchFamily="34" charset="0"/>
                <a:ea typeface="Calibri" pitchFamily="34" charset="-122"/>
                <a:cs typeface="Calibri" pitchFamily="34" charset="-120"/>
              </a:rPr>
              <a:t>The students are clever and cheerful, but the books are very heavy!</a:t>
            </a:r>
            <a:endParaRPr lang="en-US" sz="9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GM-ADJ-02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Three sentences about groups of people, three about things.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Thumbs up / down before every adjective.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female groups and animals.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Women: -āt · animals: feminine singular.</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90–120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task with two broken-plural adjectives for people.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kibār · ṣighār · luṭafāʾ · adhkiyāʾ.</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GM-ADJ-02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أَصْدِقَائِي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friends are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الْقِطَطُ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cats are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أُحِبُّ اللَّاعِبِينَ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like … players.</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الْأَطْفَالُ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children are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الْمُعَلِّمُونَ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teachers (m.) are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الْمُعَلِّمَاتُ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teachers (f.) are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الْكُتُبُ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books are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الْفُصُولُ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classrooms are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مُجْتَهِدُونَ  ·  مُجْتَهِدَاتٌ  ·  لَطِيفُونَ  ·  لَطِيفَاتٌ  ·  نَشِيطُونَ  ·  مَشْهُورِينَ  ·  كِبَارٌ  ·  صِغَارٌ  ·  لُطَفَاءُ  ·  جَدِيدَةٌ  ·  ثَقِيلَةٌ  ·  وَاسِعَةٌ  ·  جَمِيلَةٌ</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GM-ADJ-02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Website extended writing workshop: 90–120 words describing people and places, with at least eight target adjective structures.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Two male-group plurals with -ūna / -īna adjectives.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Two female-group plurals with -āt adjectives.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Two thing plurals and one animal plural with feminine singular.</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Two broken-plural adjectives for people.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No feminine singular adjective after a human plural.</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الْمُعَلِّمُونَ مُخْلِصُونَ</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teachers are devoted</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الطَّالِبَاتُ مُجْتَهِدَاتٌ</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students (f.) are hard-working</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الْكُتُبُ مُفِيدَةٌ</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books are useful</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طُيُورٌ مُلَوَّنَةٌ</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colourful birds</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أَطْفَالٌ صِغَارٌ</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small children</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جِيرَانٌ لُطَفَاءُ</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kind neighbours</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GM-ADJ-02 · Adjectives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مَدْرَسَتِي كَبِيرَةٌ وَجَمِيلَةٌ. الْمُعَلِّمُونَ مُخْلِصُونَ، وَالْمُعَلِّمَاتُ لَطِيفَاتٌ. الطُّلَّابُ أَذْكِيَاءُ، لَكِنَّ بَعْضَهُمْ كُسَالَى! الْفُصُولُ وَاسِعَةٌ، وَالْكُتُبُ جَدِيدَةٌ وَمُفِيدَةٌ. فِي حَدِيقَةِ الْمَدْرَسَةِ أَشْجَارٌ عَالِيَةٌ وَطُيُورٌ مُلَوَّنَةٌ. أُحِبُّ أَصْدِقَائِي لِأَنَّهُمْ مَرِحُونَ.</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My school is big and beautiful. The (male) teachers are devoted, and the (female) teachers are kind. The students are clever, but some of them are lazy! The classrooms are spacious, and the books are new and useful. In the school garden there are tall trees and colourful birds. I love my friends because they are cheerful.</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male people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female people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things: fem. sing.</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animals</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GM-ADJ-02 · Adjectives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decided “people or not?” for every plural.</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Things have feminine singular adjectives.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Women have -āt adjectives; men have -ūna.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Animals have feminine singular adjectives.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two broken-plural adjectives for people.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GM-ADJ-02 · Adjectives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الْأَطِبَّاءُ</a:t>
            </a:r>
            <a:pPr algn="l" indent="0" marL="0">
              <a:buNone/>
            </a:pPr>
            <a:r>
              <a:rPr lang="en-US" sz="1250" b="1" dirty="0">
                <a:solidFill>
                  <a:srgbClr val="1B3B6F"/>
                </a:solidFill>
                <a:latin typeface="Calibri" pitchFamily="34" charset="0"/>
                <a:ea typeface="Calibri" pitchFamily="34" charset="-122"/>
                <a:cs typeface="Calibri" pitchFamily="34" charset="-120"/>
              </a:rPr>
              <a:t> ______ .</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مَشْغُولُونَ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مَشْغُولَةٌ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مَشْغُولَاتٌ</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الْكِلَابُ</a:t>
            </a:r>
            <a:pPr algn="l" indent="0" marL="0">
              <a:buNone/>
            </a:pPr>
            <a:r>
              <a:rPr lang="en-US" sz="1250" b="1" dirty="0">
                <a:solidFill>
                  <a:srgbClr val="1B3B6F"/>
                </a:solidFill>
                <a:latin typeface="Calibri" pitchFamily="34" charset="0"/>
                <a:ea typeface="Calibri" pitchFamily="34" charset="-122"/>
                <a:cs typeface="Calibri" pitchFamily="34" charset="-120"/>
              </a:rPr>
              <a:t> ______ .</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كِبَارٌ</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كَبِيرَةٌ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كَبِيرُونَ</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الْبَنَاتُ</a:t>
            </a:r>
            <a:pPr algn="l" indent="0" marL="0">
              <a:buNone/>
            </a:pPr>
            <a:r>
              <a:rPr lang="en-US" sz="1250" b="1" dirty="0">
                <a:solidFill>
                  <a:srgbClr val="1B3B6F"/>
                </a:solidFill>
                <a:latin typeface="Calibri" pitchFamily="34" charset="0"/>
                <a:ea typeface="Calibri" pitchFamily="34" charset="-122"/>
                <a:cs typeface="Calibri" pitchFamily="34" charset="-120"/>
              </a:rPr>
              <a:t> ______ .</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سَعِيدَاتٌ</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سَعِيدَةٌ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سَعِيدُونَ</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GM-ADJ-02 · Adjectives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الْأَطِبَّاءُ</a:t>
            </a:r>
            <a:pPr algn="l" indent="0" marL="0">
              <a:buNone/>
            </a:pPr>
            <a:r>
              <a:rPr lang="en-US" sz="1250" b="1" dirty="0">
                <a:solidFill>
                  <a:srgbClr val="1B3B6F"/>
                </a:solidFill>
                <a:latin typeface="Calibri" pitchFamily="34" charset="0"/>
                <a:ea typeface="Calibri" pitchFamily="34" charset="-122"/>
                <a:cs typeface="Calibri" pitchFamily="34" charset="-120"/>
              </a:rPr>
              <a:t> ______ .</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مَشْغُولُونَ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مَشْغُولَةٌ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مَشْغُولَاتٌ</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Men → masculine plural.</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الْكِلَابُ</a:t>
            </a:r>
            <a:pPr algn="l" indent="0" marL="0">
              <a:buNone/>
            </a:pPr>
            <a:r>
              <a:rPr lang="en-US" sz="1250" b="1" dirty="0">
                <a:solidFill>
                  <a:srgbClr val="1B3B6F"/>
                </a:solidFill>
                <a:latin typeface="Calibri" pitchFamily="34" charset="0"/>
                <a:ea typeface="Calibri" pitchFamily="34" charset="-122"/>
                <a:cs typeface="Calibri" pitchFamily="34" charset="-120"/>
              </a:rPr>
              <a:t> ______ .</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كِبَارٌ</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كَبِيرَةٌ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كَبِيرُونَ</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Animals → feminine singular.</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الْبَنَاتُ</a:t>
            </a:r>
            <a:pPr algn="l" indent="0" marL="0">
              <a:buNone/>
            </a:pPr>
            <a:r>
              <a:rPr lang="en-US" sz="1250" b="1" dirty="0">
                <a:solidFill>
                  <a:srgbClr val="1B3B6F"/>
                </a:solidFill>
                <a:latin typeface="Calibri" pitchFamily="34" charset="0"/>
                <a:ea typeface="Calibri" pitchFamily="34" charset="-122"/>
                <a:cs typeface="Calibri" pitchFamily="34" charset="-120"/>
              </a:rPr>
              <a:t> ______ .</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سَعِيدَاتٌ</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سَعِيدَةٌ</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سَعِيدُونَ</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Girls → feminine plural.</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GM-ADJ-02 · Adjectives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Before GM-ADJ-03: get ready at home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GM-ADJ-03 · Colour Adjectives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أَحْمَرُ</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red (m.)</a:t>
            </a:r>
            <a:pPr indent="0" marL="0">
              <a:buNone/>
            </a:pPr>
            <a:r>
              <a:rPr lang="en-US" sz="1000" i="1" dirty="0">
                <a:solidFill>
                  <a:srgbClr val="5A6472"/>
                </a:solidFill>
                <a:latin typeface="Calibri" pitchFamily="34" charset="0"/>
                <a:ea typeface="Calibri" pitchFamily="34" charset="-122"/>
                <a:cs typeface="Calibri" pitchFamily="34" charset="-120"/>
              </a:rPr>
              <a:t>  f. حَمْرَاءُ</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أَزْرَقُ</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blue (m.)</a:t>
            </a:r>
            <a:pPr indent="0" marL="0">
              <a:buNone/>
            </a:pPr>
            <a:r>
              <a:rPr lang="en-US" sz="1000" i="1" dirty="0">
                <a:solidFill>
                  <a:srgbClr val="5A6472"/>
                </a:solidFill>
                <a:latin typeface="Calibri" pitchFamily="34" charset="0"/>
                <a:ea typeface="Calibri" pitchFamily="34" charset="-122"/>
                <a:cs typeface="Calibri" pitchFamily="34" charset="-120"/>
              </a:rPr>
              <a:t>  f. زَرْقَاءُ</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أَخْضَرُ</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green (m.)</a:t>
            </a:r>
            <a:pPr indent="0" marL="0">
              <a:buNone/>
            </a:pPr>
            <a:r>
              <a:rPr lang="en-US" sz="1000" i="1" dirty="0">
                <a:solidFill>
                  <a:srgbClr val="5A6472"/>
                </a:solidFill>
                <a:latin typeface="Calibri" pitchFamily="34" charset="0"/>
                <a:ea typeface="Calibri" pitchFamily="34" charset="-122"/>
                <a:cs typeface="Calibri" pitchFamily="34" charset="-120"/>
              </a:rPr>
              <a:t>  f. خَضْرَاءُ</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أَبْيَضُ</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white (m.)</a:t>
            </a:r>
            <a:pPr indent="0" marL="0">
              <a:buNone/>
            </a:pPr>
            <a:r>
              <a:rPr lang="en-US" sz="1000" i="1" dirty="0">
                <a:solidFill>
                  <a:srgbClr val="5A6472"/>
                </a:solidFill>
                <a:latin typeface="Calibri" pitchFamily="34" charset="0"/>
                <a:ea typeface="Calibri" pitchFamily="34" charset="-122"/>
                <a:cs typeface="Calibri" pitchFamily="34" charset="-120"/>
              </a:rPr>
              <a:t>  f. بَيْضَاءُ</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أَسْوَدُ</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black (m.)</a:t>
            </a:r>
            <a:pPr indent="0" marL="0">
              <a:buNone/>
            </a:pPr>
            <a:r>
              <a:rPr lang="en-US" sz="1000" i="1" dirty="0">
                <a:solidFill>
                  <a:srgbClr val="5A6472"/>
                </a:solidFill>
                <a:latin typeface="Calibri" pitchFamily="34" charset="0"/>
                <a:ea typeface="Calibri" pitchFamily="34" charset="-122"/>
                <a:cs typeface="Calibri" pitchFamily="34" charset="-120"/>
              </a:rPr>
              <a:t>  f. سَوْدَاءُ</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Look at the pairs. What pattern do the feminine colour words follow?</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أَحْمَرُ · حَمْرَاءُ — أَصْفَرُ · 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ten plural phrases: five people, five things.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eight sentences including women and animals.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workshop with broken-plural adjectives.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GM-ADJ-02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GM-ADJ-03 · Colour Adjectives</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أَلْوَانُ أَفْعَلَ وَفَعْلَاءَ</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people or not? · people → plural adjective (men -ūna, women -āt, mixed masculine) · things and animals → feminine singular · never feminine singular for people.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GM-ADJ-02 · Adjective Agreement with Plurals</dc:title>
  <dc:subject>PptxGenJS Presentation</dc:subject>
  <dc:creator>Al Madina Online School · Arabic Department</dc:creator>
  <cp:lastModifiedBy>Al Madina Online School · Arabic Department</cp:lastModifiedBy>
  <cp:revision>1</cp:revision>
  <dcterms:created xsi:type="dcterms:W3CDTF">2026-10-03T16:08:23Z</dcterms:created>
  <dcterms:modified xsi:type="dcterms:W3CDTF">2026-10-03T16:08:23Z</dcterms:modified>
</cp:coreProperties>
</file>