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Adjectives › GM-ADJ-02 (“Adjective Agreement with Plurals”).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decision tree — human or non-human first; then gender and number. Develop: plural adjectives for male and female groups; animals are non-human (الْكِلَابُ صَغِيرَةٌ). Stretch: broken-plural adjectives for people (كِبَارٌ · صِغَارٌ · طِوَالٌ · أَذْكِيَاءُ · كُسَالَى) and mixed groups (masculine plural).
• This consolidates GM-N-03 (‑ūna), GM-N-04 (‑āt) and GM-N-06 (non-human agreement). The NEW danger, flagged by the website: once students learn “plural → feminine singular”, they over-apply it to people (طُلَّابٌ كَسُولَةٌ ✗).
• Classroom routine: thumbs up = person, thumbs down = thing/animal — before every answer.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(all five questions) — it retrieves GM-N-06 and GM-ADJ-01.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Human or non-human FIRST. People → plural adjective (boys -ūna, girls -āt). Things and animals → feminine singular.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(3 min) — website “Human plurals”. Thumbs-up routine for every example: “People? Yes →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 website “Non-human plurals”. Quick recall of GM-N-06: “two layers — plural noun, feminine singular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(3 min) — website “Correcting a dangerous misconception”, with teacher-added rows. Core: learn rows 1–2. Stretch: learn the broken plurals as vocabulary families (كَبِيرٌ · كِبَارٌ).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three steps.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think aloud at every step: name the rule in English and Arabic as you apply it.
Narrate the thumbs routine aloud each time. Point out that مُهَنْدِسَاتٌ نَشِيطَاتٌ and الْآلَاتُ حَدِيثَةٌ both end in -āt nouns — but the agreement is different, because one is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P or T. Traps: birds and dogs are animals (non-human); ideas are abstract (non-human).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P or T. Traps: birds and dogs are animals (non-human); ideas are abstract (non-human).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(2 min). The last row uses a broken adjective plural (Stretch); accept صَغِيرُونَ from Core, then model صِغَارٌ.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rules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underline each adjective, draw an arrow to its noun, and label the agreement (people / things).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(45–60 seconds). Sequence: ● 10s think → ↔ 45s rehearse aloud with mic muted → ◎ two named students on open mic (warned in advance) → + ? the class types one follow-up in chat → ↺ one student summarises.
Routes: Core uses the Core prompt and stem; Develop the Develop prompt; Stretch the last prompt.
Website: 45–60 seconds, six accurate adjective structures. Editing clinic (website): pairs write four deliberately wrong plural phrases and swap to correct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90–120 words describing a person, place, object or experience, with at least eight target adjective structures, underlined.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(GM-ADJ-03 · Colour Adjectives) will spend class time USING this language, so students prepare it tonight — short, simple, easy to access (school guidance: “Simple, Short, Interesting, Relevant, Easy to access”). The five words prepare GM-ADJ-03 (website Adjectives lesson 3: colours).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ADJECTIVES  ·  GM-ADJ-02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GM-ADJ-02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cs typeface="Amiri" pitchFamily="2" charset="-78"/>
              </a:rPr>
              <a:t>Adjective Agreement with Plurals</a:t>
            </a:r>
            <a:endParaRPr lang="en-US" sz="32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مُطَابَقَةُ الصِّفَةِ مَعَ الْجُمُوعِ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First decide: people or not? People → plural adjective that shows gender (hard-working boys: -ūna; girls: -āt). Things and animals → feminine singular adjective. Never give people a feminine singular adjective.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GM-ADJ-02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Adjectives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Human plurals; non-human plurals; the dangerous misconception.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transform, repair — people vs things.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GM-ADJ-03.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الطُّلَّابُ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مُجْتَهِدَةٌ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مُجْتَهِدُونَ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مُجْتَهِدَاتٌ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مُجْتَهِدَاتٌ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مُجْتَهِدُونَ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مُجْتَهِدَةٌ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الْكُتُبُ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جَدِيدُونَ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جَدِيدَاتٌ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الْكِلَابُ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صَغِيرُونَ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صَغِيرَاتٌ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صَغِيرَةٌ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 the noun first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word by word from English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definiteness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الطُّلَّابُ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مُجْتَهِدَةٌ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مُجْتَهِدُونَ</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مُجْتَهِدَاتٌ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masculine plural.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مُجْتَهِدَاتٌ</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مُجْتَهِدُونَ</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مُجْتَهِدَةٌ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feminine plural.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الْكُتُبُ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جَدِيدُونَ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جَدِيدَاتٌ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جَدِيدَةٌ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feminine singular.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الْكِلَابُ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صَغِيرُونَ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صَغِيرَاتٌ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صَغِيرَةٌ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Animals are grammatically non-human.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Check the noun first</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word by word from English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definiteness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controls adjective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Human or non-human FIRST. People → plural adjective (boys -ūna, girls -āt). Things and animals → feminine singular.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300" b="1" dirty="0">
                <a:solidFill>
                  <a:srgbClr val="1B3B6F"/>
                </a:solidFill>
                <a:latin typeface="Amiri" pitchFamily="2" charset="-78"/>
                <a:ea typeface="Amiri" pitchFamily="2" charset="-78"/>
                <a:cs typeface="Amiri" pitchFamily="2" charset="-78"/>
              </a:rPr>
              <a:t>الطُّلَّابُ </a:t>
            </a:r>
            <a:pPr rtl="1" algn="ctr" indent="0" marL="0">
              <a:lnSpc>
                <a:spcPct val="120000"/>
              </a:lnSpc>
              <a:buNone/>
            </a:pPr>
            <a:r>
              <a:rPr lang="ar-SA" altLang="en-US" sz="2300" b="1" dirty="0">
                <a:solidFill>
                  <a:srgbClr val="0E7C86"/>
                </a:solidFill>
                <a:latin typeface="Amiri" pitchFamily="2" charset="-78"/>
                <a:ea typeface="Amiri" pitchFamily="2" charset="-78"/>
                <a:cs typeface="Amiri" pitchFamily="2" charset="-78"/>
              </a:rPr>
              <a:t>مُجْتَهِدُونَ</a:t>
            </a:r>
            <a:pPr rtl="1" algn="ctr" indent="0" marL="0">
              <a:lnSpc>
                <a:spcPct val="120000"/>
              </a:lnSpc>
              <a:buNone/>
            </a:pPr>
            <a:r>
              <a:rPr lang="ar-SA" altLang="en-US" sz="2300" b="1" dirty="0">
                <a:solidFill>
                  <a:srgbClr val="1B3B6F"/>
                </a:solidFill>
                <a:latin typeface="Amiri" pitchFamily="2" charset="-78"/>
                <a:ea typeface="Amiri" pitchFamily="2" charset="-78"/>
                <a:cs typeface="Amiri" pitchFamily="2" charset="-78"/>
              </a:rPr>
              <a:t> ‖ الْكُتُبُ </a:t>
            </a:r>
            <a:pPr rtl="1" algn="ctr" indent="0" marL="0">
              <a:lnSpc>
                <a:spcPct val="120000"/>
              </a:lnSpc>
              <a:buNone/>
            </a:pPr>
            <a:r>
              <a:rPr lang="ar-SA" altLang="en-US" sz="2300" b="1" dirty="0">
                <a:solidFill>
                  <a:srgbClr val="D6336C"/>
                </a:solidFill>
                <a:latin typeface="Amiri" pitchFamily="2" charset="-78"/>
                <a:ea typeface="Amiri" pitchFamily="2" charset="-78"/>
                <a:cs typeface="Amiri" pitchFamily="2" charset="-78"/>
              </a:rPr>
              <a:t>مُفِيدَةٌ</a:t>
            </a:r>
            <a:endParaRPr lang="ar-SA" sz="23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Decide whether a plural refers to people or not.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masculine and feminine plural adjectives for people.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feminine singular adjectives for things and animals.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Avoid feminine singular agreement with human plurals.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ask “people or not?” before choosing.</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the students are hard-working for boys and girls.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treat animals as non-human.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the right agreement in phrases and sentences.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broken-plural adjectives for people.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masculine plural for mixed groups.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جَمْعُ الْعَاقِلِ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human plural</a:t>
            </a:r>
            <a:endParaRPr lang="en-US" sz="1350" dirty="0"/>
          </a:p>
          <a:p>
            <a:pPr indent="0" marL="0">
              <a:buNone/>
            </a:pPr>
            <a:r>
              <a:rPr lang="en-US" sz="1100" i="1" dirty="0">
                <a:solidFill>
                  <a:srgbClr val="5A6472"/>
                </a:solidFill>
                <a:latin typeface="Calibri" pitchFamily="34" charset="0"/>
                <a:cs typeface="Amiri" pitchFamily="2" charset="-78"/>
              </a:rPr>
              <a:t>jam-ʿu al-ʿā-qi-li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طُلَّابٌ · طَالِبَاتٌ</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جَمْعُ غَيْرِ الْعَاقِلِ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non-human plural</a:t>
            </a:r>
            <a:endParaRPr lang="en-US" sz="1350" dirty="0"/>
          </a:p>
          <a:p>
            <a:pPr indent="0" marL="0">
              <a:buNone/>
            </a:pPr>
            <a:r>
              <a:rPr lang="en-US" sz="1100" i="1" dirty="0">
                <a:solidFill>
                  <a:srgbClr val="5A6472"/>
                </a:solidFill>
                <a:latin typeface="Calibri" pitchFamily="34" charset="0"/>
                <a:cs typeface="Amiri" pitchFamily="2" charset="-78"/>
              </a:rPr>
              <a:t>jam-ʿu ghay-ri al-ʿā-qi-li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 · كِلَابٌ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جَمْعٌ مُذَكَّرٌ</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masculine plural</a:t>
            </a:r>
            <a:endParaRPr lang="en-US" sz="1350" dirty="0"/>
          </a:p>
          <a:p>
            <a:pPr indent="0" marL="0">
              <a:buNone/>
            </a:pPr>
            <a:r>
              <a:rPr lang="en-US" sz="1100" i="1" dirty="0">
                <a:solidFill>
                  <a:srgbClr val="5A6472"/>
                </a:solidFill>
                <a:latin typeface="Calibri" pitchFamily="34" charset="0"/>
                <a:cs typeface="Amiri" pitchFamily="2" charset="-78"/>
              </a:rPr>
              <a:t>-ūna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مُجْتَهِدُونَ</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جَمْعٌ مُؤَنَّثٌ</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feminine plural</a:t>
            </a:r>
            <a:endParaRPr lang="en-US" sz="1350" dirty="0"/>
          </a:p>
          <a:p>
            <a:pPr indent="0" marL="0">
              <a:buNone/>
            </a:pPr>
            <a:r>
              <a:rPr lang="en-US" sz="1100" i="1" dirty="0">
                <a:solidFill>
                  <a:srgbClr val="5A6472"/>
                </a:solidFill>
                <a:latin typeface="Calibri" pitchFamily="34" charset="0"/>
                <a:cs typeface="Amiri" pitchFamily="2" charset="-78"/>
              </a:rPr>
              <a:t>-āt</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مُجْتَهِدَاتٌ</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مُفْرَدٌ مُؤَنَّثٌ</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feminine singular</a:t>
            </a:r>
            <a:endParaRPr lang="en-US" sz="1350" dirty="0"/>
          </a:p>
          <a:p>
            <a:pPr indent="0" marL="0">
              <a:buNone/>
            </a:pPr>
            <a:r>
              <a:rPr lang="en-US" sz="1100" i="1" dirty="0">
                <a:solidFill>
                  <a:srgbClr val="5A6472"/>
                </a:solidFill>
                <a:latin typeface="Calibri" pitchFamily="34" charset="0"/>
                <a:cs typeface="Amiri" pitchFamily="2" charset="-78"/>
              </a:rPr>
              <a:t>muf-ra-dun mu-ʾan-na-thun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مُفِيدَةٌ</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جَمْعُ تَكْسِيرٍ</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broken plural (of an adjective)</a:t>
            </a:r>
            <a:endParaRPr lang="en-US" sz="1350" dirty="0"/>
          </a:p>
          <a:p>
            <a:pPr indent="0" marL="0">
              <a:buNone/>
            </a:pPr>
            <a:r>
              <a:rPr lang="en-US" sz="1100" i="1" dirty="0">
                <a:solidFill>
                  <a:srgbClr val="5A6472"/>
                </a:solidFill>
                <a:latin typeface="Calibri" pitchFamily="34" charset="0"/>
                <a:cs typeface="Amiri" pitchFamily="2" charset="-78"/>
              </a:rPr>
              <a:t>jam-ʿu tak-sī-rin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كِبَارٌ · كُسَالَى</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1 · HUMAN PLURALS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People: plural adjective that shows gender</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جَمْعُ الْعَاقِلِ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Human plurals take PLURAL agreement that reflects gender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Male group → masculine plural adjective, usually -ūna (-īna after a preposition or as object).</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Female group → feminine plural adjective, -āt.</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Mixed group of men and women → masculine plural.</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adjective copies definiteness and case as well.</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طُلَّابٌ ذَكِيُّونَ</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clever (male) students  ·  website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مُعَلِّمُونَ مُخْلِصُونَ</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devoted (male) teachers  ·  website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طَالِبَاتٌ مُجْتَهِدَاتٌ</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hard-working (female) students  ·  website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رَأَيْتُ لَاعِبِينَ مَشْهُورِينَ.</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saw famous players.  ·  object: -īna on both</a:t>
            </a:r>
            <a:endParaRPr lang="en-US" sz="110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Website decision: human or non-human FIRST; then choose gender and number.</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2 · NON-HUMAN PLURALS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Things and animals: feminine singular</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جَمْعُ غَيْرِ الْعَاقِلِ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plural of things, animals or abstract ideas is treated as feminine singular (website).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It does not matter whether the plural is broken or sound -āt.</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Animals count as non-human — even pets you love!</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same rule applies to “these”, “she” and the verb (GM-N-06).</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كُتُبٌ جَدِيدَةٌ</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new books  ·  website</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مَدَارِسُ كَبِيرَةٌ</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big schools  ·  website</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حَقَائِبُ ثَقِيلَةٌ</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heavy bags  ·  website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كِلَابٌ صَغِيرَةٌ</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small dogs  ·  website — animals</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STEP 3 · THE DANGEROUS MISCONCEPTION (WEBSITE)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People never take feminine singular</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خَطَأٌ خَطِيرٌ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656539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Right</a:t>
            </a:r>
            <a:endParaRPr lang="en-US" sz="1100" dirty="0"/>
          </a:p>
        </p:txBody>
      </p:sp>
      <p:sp>
        <p:nvSpPr>
          <p:cNvPr id="18" name="Text 15"/>
          <p:cNvSpPr txBox="1"/>
          <p:nvPr/>
        </p:nvSpPr>
        <p:spPr>
          <a:xfrm>
            <a:off x="36393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Wrong</a:t>
            </a:r>
            <a:endParaRPr lang="en-US" sz="1100" dirty="0"/>
          </a:p>
        </p:txBody>
      </p:sp>
      <p:sp>
        <p:nvSpPr>
          <p:cNvPr id="19" name="Text 16"/>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website example</a:t>
            </a:r>
            <a:endParaRPr lang="en-US" sz="1100" dirty="0"/>
          </a:p>
        </p:txBody>
      </p:sp>
      <p:sp>
        <p:nvSpPr>
          <p:cNvPr id="22" name="Text 19"/>
          <p:cNvSpPr txBox="1"/>
          <p:nvPr/>
        </p:nvSpPr>
        <p:spPr>
          <a:xfrm>
            <a:off x="6583680" y="2267712"/>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طُلَّابٌ كُسَالَى</a:t>
            </a:r>
            <a:endParaRPr lang="ar-SA" sz="2400" dirty="0"/>
          </a:p>
        </p:txBody>
      </p:sp>
      <p:sp>
        <p:nvSpPr>
          <p:cNvPr id="23" name="Text 20"/>
          <p:cNvSpPr txBox="1"/>
          <p:nvPr/>
        </p:nvSpPr>
        <p:spPr>
          <a:xfrm>
            <a:off x="3657600" y="2267712"/>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طُلَّابٌ كَسُولَةٌ</a:t>
            </a:r>
            <a:endParaRPr lang="ar-SA" sz="2200" dirty="0"/>
          </a:p>
        </p:txBody>
      </p:sp>
      <p:sp>
        <p:nvSpPr>
          <p:cNvPr id="24" name="Text 21"/>
          <p:cNvSpPr txBox="1"/>
          <p:nvPr/>
        </p:nvSpPr>
        <p:spPr>
          <a:xfrm>
            <a:off x="56692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lazy (male) students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broken plural</a:t>
            </a:r>
            <a:endParaRPr lang="en-US" sz="1100" dirty="0"/>
          </a:p>
        </p:txBody>
      </p:sp>
      <p:sp>
        <p:nvSpPr>
          <p:cNvPr id="29" name="Text 26"/>
          <p:cNvSpPr txBox="1"/>
          <p:nvPr/>
        </p:nvSpPr>
        <p:spPr>
          <a:xfrm>
            <a:off x="6583680" y="300471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رِجَالٌ كِبَارٌ</a:t>
            </a:r>
            <a:endParaRPr lang="ar-SA" sz="2400" dirty="0"/>
          </a:p>
        </p:txBody>
      </p:sp>
      <p:sp>
        <p:nvSpPr>
          <p:cNvPr id="30" name="Text 27"/>
          <p:cNvSpPr txBox="1"/>
          <p:nvPr/>
        </p:nvSpPr>
        <p:spPr>
          <a:xfrm>
            <a:off x="3657600" y="3004718"/>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رِجَالٌ كَبِيرَةٌ</a:t>
            </a:r>
            <a:endParaRPr lang="ar-SA" sz="2200" dirty="0"/>
          </a:p>
        </p:txBody>
      </p:sp>
      <p:sp>
        <p:nvSpPr>
          <p:cNvPr id="31" name="Text 28"/>
          <p:cNvSpPr txBox="1"/>
          <p:nvPr/>
        </p:nvSpPr>
        <p:spPr>
          <a:xfrm>
            <a:off x="56692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big (grown-up) men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broken plural</a:t>
            </a:r>
            <a:endParaRPr lang="en-US" sz="1100" dirty="0"/>
          </a:p>
        </p:txBody>
      </p:sp>
      <p:sp>
        <p:nvSpPr>
          <p:cNvPr id="36" name="Text 33"/>
          <p:cNvSpPr txBox="1"/>
          <p:nvPr/>
        </p:nvSpPr>
        <p:spPr>
          <a:xfrm>
            <a:off x="6583680" y="3741725"/>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أَطْفَالٌ صِغَارٌ</a:t>
            </a:r>
            <a:endParaRPr lang="ar-SA" sz="2400" dirty="0"/>
          </a:p>
        </p:txBody>
      </p:sp>
      <p:sp>
        <p:nvSpPr>
          <p:cNvPr id="37" name="Text 34"/>
          <p:cNvSpPr txBox="1"/>
          <p:nvPr/>
        </p:nvSpPr>
        <p:spPr>
          <a:xfrm>
            <a:off x="3657600" y="3741725"/>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أَطْفَالٌ صَغِيرَةٌ</a:t>
            </a:r>
            <a:endParaRPr lang="ar-SA" sz="2200" dirty="0"/>
          </a:p>
        </p:txBody>
      </p:sp>
      <p:sp>
        <p:nvSpPr>
          <p:cNvPr id="38" name="Text 35"/>
          <p:cNvSpPr txBox="1"/>
          <p:nvPr/>
        </p:nvSpPr>
        <p:spPr>
          <a:xfrm>
            <a:off x="56692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small children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 </a:t>
            </a:r>
            <a:pPr algn="l" indent="0" marL="0">
              <a:buNone/>
            </a:pPr>
            <a:r>
              <a:rPr lang="ar-SA" altLang="en-US" sz="1450" dirty="0">
                <a:solidFill>
                  <a:srgbClr val="5A6472"/>
                </a:solidFill>
                <a:latin typeface="Amiri" pitchFamily="2" charset="-78"/>
                <a:ea typeface="Amiri" pitchFamily="2" charset="-78"/>
                <a:cs typeface="Amiri" pitchFamily="2" charset="-78"/>
              </a:rPr>
              <a:t>ذَكِيُّونَ</a:t>
            </a:r>
            <a:pPr algn="l" indent="0" marL="0">
              <a:buNone/>
            </a:pPr>
            <a:r>
              <a:rPr lang="en-US" sz="1100" dirty="0">
                <a:solidFill>
                  <a:srgbClr val="5A6472"/>
                </a:solidFill>
                <a:latin typeface="Calibri" pitchFamily="34" charset="0"/>
                <a:cs typeface="Amiri" pitchFamily="2" charset="-78"/>
              </a:rPr>
              <a:t> (website)</a:t>
            </a:r>
            <a:endParaRPr lang="en-US" sz="1100" dirty="0"/>
          </a:p>
        </p:txBody>
      </p:sp>
      <p:sp>
        <p:nvSpPr>
          <p:cNvPr id="41" name="Text 38"/>
          <p:cNvSpPr txBox="1"/>
          <p:nvPr/>
        </p:nvSpPr>
        <p:spPr>
          <a:xfrm>
            <a:off x="6583680" y="4478731"/>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طُلَّابٌ أَذْكِيَاءُ</a:t>
            </a:r>
            <a:endParaRPr lang="ar-SA" sz="2400" dirty="0"/>
          </a:p>
        </p:txBody>
      </p:sp>
      <p:sp>
        <p:nvSpPr>
          <p:cNvPr id="42" name="Text 39"/>
          <p:cNvSpPr txBox="1"/>
          <p:nvPr/>
        </p:nvSpPr>
        <p:spPr>
          <a:xfrm>
            <a:off x="3657600" y="4478731"/>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طُلَّابٌ ذَكِيَّةٌ</a:t>
            </a:r>
            <a:endParaRPr lang="ar-SA" sz="2200" dirty="0"/>
          </a:p>
        </p:txBody>
      </p:sp>
      <p:sp>
        <p:nvSpPr>
          <p:cNvPr id="43" name="Text 40"/>
          <p:cNvSpPr txBox="1"/>
          <p:nvPr/>
        </p:nvSpPr>
        <p:spPr>
          <a:xfrm>
            <a:off x="56692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clever students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broken plural</a:t>
            </a:r>
            <a:endParaRPr lang="en-US" sz="1100" dirty="0"/>
          </a:p>
        </p:txBody>
      </p:sp>
      <p:sp>
        <p:nvSpPr>
          <p:cNvPr id="46" name="Text 43"/>
          <p:cNvSpPr txBox="1"/>
          <p:nvPr/>
        </p:nvSpPr>
        <p:spPr>
          <a:xfrm>
            <a:off x="6583680" y="521573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جِيرَانٌ لُطَفَاءُ</a:t>
            </a:r>
            <a:endParaRPr lang="ar-SA" sz="2400" dirty="0"/>
          </a:p>
        </p:txBody>
      </p:sp>
      <p:sp>
        <p:nvSpPr>
          <p:cNvPr id="47" name="Text 44"/>
          <p:cNvSpPr txBox="1"/>
          <p:nvPr/>
        </p:nvSpPr>
        <p:spPr>
          <a:xfrm>
            <a:off x="3657600" y="5215738"/>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جِيرَانٌ لَطِيفَةٌ</a:t>
            </a:r>
            <a:endParaRPr lang="ar-SA" sz="2200" dirty="0"/>
          </a:p>
        </p:txBody>
      </p:sp>
      <p:sp>
        <p:nvSpPr>
          <p:cNvPr id="48" name="Text 45"/>
          <p:cNvSpPr txBox="1"/>
          <p:nvPr/>
        </p:nvSpPr>
        <p:spPr>
          <a:xfrm>
            <a:off x="56692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kind neighbours</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Many common adjectives have a broken plural used for people. If you are unsure, the sound plural (-ūna / -āt) is usually understood.</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الْمُعَلِّمَاتُ</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لَطِيفَةٌ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لَطِيفُونَ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لَطِيفَاتٌ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الْقِطَطُ</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جَمِيلُونَ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جَمِيلَاتٌ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class of boys AND girls is …</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مُجْتَهِدَاتٌ</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مُجْتَهِدُونَ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مُجْتَهِدَةٌ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WRONG?</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الرِّجَالُ قَوِيَّةٌ.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الرِّجَالُ أَقْوِيَاءُ.</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الْجِبَالُ عَالِيَةٌ.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الْمُعَلِّمَاتُ</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لَطِيفَةٌ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لَطِيفُونَ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لَطِيفَاتٌ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Women → feminine plural.</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الْقِطَطُ</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جَمِيلَةٌ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جَمِيلُونَ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جَمِيلَاتٌ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Animals → feminine singular.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class of boys AND girls is …</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مُجْتَهِدَاتٌ</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مُجْتَهِدُونَ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مُجْتَهِدَةٌ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Mixed group → masculine plural.</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WRONG?</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الرِّجَالُ قَوِيَّةٌ.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الرِّجَالُ أَقْوِيَاءُ.</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الْجِبَالُ عَالِيَةٌ.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never take feminine singular.</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decide: people or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الْمُهَنْدِسُونَ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Plural. People? Yes.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Gender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الْمُهَنْدِسُونَ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Masculine → -ūna.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Adjective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الْمُهَنْدِسُونَ مَاهِرُونَ</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Plural, masculine.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الْآلَاتُ حَدِيثَةٌ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Machines: things → fem. sing.</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PEOPLE: PLURAL</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THINGS: FEM. SING.</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الْمَصْنَعِ مُهَنْدِسُونَ </a:t>
            </a:r>
            <a:pPr rtl="1" algn="r" indent="0" marL="0">
              <a:buNone/>
            </a:pPr>
            <a:r>
              <a:rPr lang="ar-SA" altLang="en-US" sz="2600" b="1" dirty="0">
                <a:solidFill>
                  <a:srgbClr val="0E7C86"/>
                </a:solidFill>
                <a:latin typeface="Amiri" pitchFamily="2" charset="-78"/>
                <a:ea typeface="Amiri" pitchFamily="2" charset="-78"/>
                <a:cs typeface="Amiri" pitchFamily="2" charset="-78"/>
              </a:rPr>
              <a:t>مَاهِرُونَ</a:t>
            </a:r>
            <a:pPr rtl="1" algn="r" indent="0" marL="0">
              <a:buNone/>
            </a:pPr>
            <a:r>
              <a:rPr lang="ar-SA" altLang="en-US" sz="2600" b="1" dirty="0">
                <a:solidFill>
                  <a:srgbClr val="1B3B6F"/>
                </a:solidFill>
                <a:latin typeface="Amiri" pitchFamily="2" charset="-78"/>
                <a:ea typeface="Amiri" pitchFamily="2" charset="-78"/>
                <a:cs typeface="Amiri" pitchFamily="2" charset="-78"/>
              </a:rPr>
              <a:t> وَمُهَنْدِسَاتٌ </a:t>
            </a:r>
            <a:pPr rtl="1" algn="r" indent="0" marL="0">
              <a:buNone/>
            </a:pPr>
            <a:r>
              <a:rPr lang="ar-SA" altLang="en-US" sz="2600" b="1" dirty="0">
                <a:solidFill>
                  <a:srgbClr val="0E7C86"/>
                </a:solidFill>
                <a:latin typeface="Amiri" pitchFamily="2" charset="-78"/>
                <a:ea typeface="Amiri" pitchFamily="2" charset="-78"/>
                <a:cs typeface="Amiri" pitchFamily="2" charset="-78"/>
              </a:rPr>
              <a:t>نَشِيطَاتٌ</a:t>
            </a:r>
            <a:pPr rtl="1" algn="r" indent="0" marL="0">
              <a:buNone/>
            </a:pPr>
            <a:r>
              <a:rPr lang="ar-SA" altLang="en-US" sz="2600" b="1" dirty="0">
                <a:solidFill>
                  <a:srgbClr val="1B3B6F"/>
                </a:solidFill>
                <a:latin typeface="Amiri" pitchFamily="2" charset="-78"/>
                <a:ea typeface="Amiri" pitchFamily="2" charset="-78"/>
                <a:cs typeface="Amiri" pitchFamily="2" charset="-78"/>
              </a:rPr>
              <a:t>، وَالْآلَاتُ </a:t>
            </a:r>
            <a:pPr rtl="1" algn="r" indent="0" marL="0">
              <a:buNone/>
            </a:pPr>
            <a:r>
              <a:rPr lang="ar-SA" altLang="en-US" sz="2600" b="1" dirty="0">
                <a:solidFill>
                  <a:srgbClr val="D6336C"/>
                </a:solidFill>
                <a:latin typeface="Amiri" pitchFamily="2" charset="-78"/>
                <a:ea typeface="Amiri" pitchFamily="2" charset="-78"/>
                <a:cs typeface="Amiri" pitchFamily="2" charset="-78"/>
              </a:rPr>
              <a:t>حَدِيثَةٌ</a:t>
            </a:r>
            <a:pPr rtl="1" algn="r" indent="0" marL="0">
              <a:buNone/>
            </a:pPr>
            <a:r>
              <a:rPr lang="ar-SA" altLang="en-US" sz="2600" b="1" dirty="0">
                <a:solidFill>
                  <a:srgbClr val="1B3B6F"/>
                </a:solidFill>
                <a:latin typeface="Amiri" pitchFamily="2" charset="-78"/>
                <a:ea typeface="Amiri" pitchFamily="2" charset="-78"/>
                <a:cs typeface="Amiri" pitchFamily="2" charset="-78"/>
              </a:rPr>
              <a:t> وَ</a:t>
            </a:r>
            <a:pPr rtl="1" algn="r" indent="0" marL="0">
              <a:buNone/>
            </a:pPr>
            <a:r>
              <a:rPr lang="ar-SA" altLang="en-US" sz="2600" b="1" dirty="0">
                <a:solidFill>
                  <a:srgbClr val="D6336C"/>
                </a:solidFill>
                <a:latin typeface="Amiri" pitchFamily="2" charset="-78"/>
                <a:ea typeface="Amiri" pitchFamily="2" charset="-78"/>
                <a:cs typeface="Amiri" pitchFamily="2" charset="-78"/>
              </a:rPr>
              <a:t>سَرِيعَةٌ</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In the factory there are skilful (male) engineers and active (female) engineers, and the machines are modern and fast.</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الطُّلَّابُ مُجْتَهِدُونَ.</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(male) students are hard-working.</a:t>
            </a:r>
            <a:endParaRPr lang="en-US" sz="1250" dirty="0"/>
          </a:p>
          <a:p>
            <a:pPr indent="0" marL="0">
              <a:buNone/>
            </a:pPr>
            <a:r>
              <a:rPr lang="en-US" sz="1050" i="1" dirty="0">
                <a:solidFill>
                  <a:srgbClr val="8A6D1E"/>
                </a:solidFill>
                <a:latin typeface="Calibri" pitchFamily="34" charset="0"/>
                <a:cs typeface="Amiri" pitchFamily="2" charset="-78"/>
              </a:rPr>
              <a:t>Website model bank.</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الطَّالِبَاتُ مُجْتَهِدَاتٌ.</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(female) students are hard-working.</a:t>
            </a:r>
            <a:endParaRPr lang="en-US" sz="1250" dirty="0"/>
          </a:p>
          <a:p>
            <a:pPr indent="0" marL="0">
              <a:buNone/>
            </a:pPr>
            <a:r>
              <a:rPr lang="en-US" sz="1050" i="1" dirty="0">
                <a:solidFill>
                  <a:srgbClr val="8A6D1E"/>
                </a:solidFill>
                <a:latin typeface="Calibri" pitchFamily="34" charset="0"/>
                <a:cs typeface="Amiri" pitchFamily="2" charset="-78"/>
              </a:rPr>
              <a:t>Website model bank.</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السَّيَّارَاتُ سَرِيعَةٌ.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cars are fast.</a:t>
            </a:r>
            <a:endParaRPr lang="en-US" sz="1250" dirty="0"/>
          </a:p>
          <a:p>
            <a:pPr indent="0" marL="0">
              <a:buNone/>
            </a:pPr>
            <a:r>
              <a:rPr lang="en-US" sz="1050" i="1" dirty="0">
                <a:solidFill>
                  <a:srgbClr val="8A6D1E"/>
                </a:solidFill>
                <a:latin typeface="Calibri" pitchFamily="34" charset="0"/>
                <a:cs typeface="Amiri" pitchFamily="2" charset="-78"/>
              </a:rPr>
              <a:t>Website model bank.</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أَوْلَادُ عَمِّي صِغَارٌ، وَقِطَطُهُمْ صَغِيرَةٌ أَيْضًا.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cousins are little, and their cats are small too.</a:t>
            </a:r>
            <a:endParaRPr lang="en-US" sz="1250" dirty="0"/>
          </a:p>
          <a:p>
            <a:pPr indent="0" marL="0">
              <a:buNone/>
            </a:pPr>
            <a:r>
              <a:rPr lang="en-US" sz="1050" i="1" dirty="0">
                <a:solidFill>
                  <a:srgbClr val="8A6D1E"/>
                </a:solidFill>
                <a:latin typeface="Calibri" pitchFamily="34" charset="0"/>
                <a:cs typeface="Amiri" pitchFamily="2" charset="-78"/>
              </a:rPr>
              <a:t>Same adjective, two agreements.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PEOPLE, OR THINGS AND ANIMALS?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agreement?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الْأَطِبَّاءُ</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الْكِلَابُ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الْمُمَرِّضَاتُ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الْمَلَابِسُ</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اللَّاعِبُونَ</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الطُّيُورُ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الْجِيرَانُ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الْأَفْكَارُ</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Plural adjective (people)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 singular (things / animals)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Plural adjective (people)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الْأَطِبَّاءُ</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الْمُمَرِّضَاتُ</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اللَّاعِبُونَ</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الْجِيرَانُ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 singular (things / animals)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الْكِلَابُ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الْمَلَابِسُ</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الطُّيُورُ</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الْأَفْكَارُ</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TRANSFORMATION DRILL (WEBSITE)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Make it plural — choose the agreement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اجْمَعْ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a:t>
            </a:r>
            <a:endParaRPr lang="en-US" sz="1100" dirty="0"/>
          </a:p>
        </p:txBody>
      </p:sp>
      <p:sp>
        <p:nvSpPr>
          <p:cNvPr id="17" name="Text 14"/>
          <p:cNvSpPr txBox="1"/>
          <p:nvPr/>
        </p:nvSpPr>
        <p:spPr>
          <a:xfrm>
            <a:off x="400507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People?</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Singular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035040" y="2267712"/>
            <a:ext cx="56052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الْأَطِبَّاءُ مَشْغُولُونَ.</a:t>
            </a:r>
            <a:endParaRPr lang="ar-SA" sz="2400" dirty="0"/>
          </a:p>
        </p:txBody>
      </p:sp>
      <p:sp>
        <p:nvSpPr>
          <p:cNvPr id="21" name="Text 18"/>
          <p:cNvSpPr txBox="1"/>
          <p:nvPr/>
        </p:nvSpPr>
        <p:spPr>
          <a:xfrm>
            <a:off x="404164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(m.)</a:t>
            </a:r>
            <a:endParaRPr lang="en-US" sz="1100" dirty="0"/>
          </a:p>
        </p:txBody>
      </p:sp>
      <p:sp>
        <p:nvSpPr>
          <p:cNvPr id="22" name="Text 19"/>
          <p:cNvSpPr txBox="1"/>
          <p:nvPr/>
        </p:nvSpPr>
        <p:spPr>
          <a:xfrm>
            <a:off x="548640" y="2267712"/>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الطَّبِيبُ مَشْغُولٌ.</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035040" y="3004718"/>
            <a:ext cx="56052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الْمُمَرِّضَاتُ نَشِيطَاتٌ.</a:t>
            </a:r>
            <a:endParaRPr lang="ar-SA" sz="2400" dirty="0"/>
          </a:p>
        </p:txBody>
      </p:sp>
      <p:sp>
        <p:nvSpPr>
          <p:cNvPr id="27" name="Text 24"/>
          <p:cNvSpPr txBox="1"/>
          <p:nvPr/>
        </p:nvSpPr>
        <p:spPr>
          <a:xfrm>
            <a:off x="404164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(f.)</a:t>
            </a:r>
            <a:endParaRPr lang="en-US" sz="1100" dirty="0"/>
          </a:p>
        </p:txBody>
      </p:sp>
      <p:sp>
        <p:nvSpPr>
          <p:cNvPr id="28" name="Text 25"/>
          <p:cNvSpPr txBox="1"/>
          <p:nvPr/>
        </p:nvSpPr>
        <p:spPr>
          <a:xfrm>
            <a:off x="548640" y="300471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الْمُمَرِّضَةُ نَشِيطَةٌ.</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035040" y="3741725"/>
            <a:ext cx="56052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الْقُمْصَانُ نَظِيفَةٌ.</a:t>
            </a:r>
            <a:endParaRPr lang="ar-SA" sz="2400" dirty="0"/>
          </a:p>
        </p:txBody>
      </p:sp>
      <p:sp>
        <p:nvSpPr>
          <p:cNvPr id="33" name="Text 30"/>
          <p:cNvSpPr txBox="1"/>
          <p:nvPr/>
        </p:nvSpPr>
        <p:spPr>
          <a:xfrm>
            <a:off x="404164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a:t>
            </a:r>
            <a:endParaRPr lang="en-US" sz="1100" dirty="0"/>
          </a:p>
        </p:txBody>
      </p:sp>
      <p:sp>
        <p:nvSpPr>
          <p:cNvPr id="34" name="Text 31"/>
          <p:cNvSpPr txBox="1"/>
          <p:nvPr/>
        </p:nvSpPr>
        <p:spPr>
          <a:xfrm>
            <a:off x="548640" y="3741725"/>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الْقَمِيصُ نَظِيفٌ.</a:t>
            </a:r>
            <a:endParaRPr lang="ar-SA" sz="24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6035040" y="4478731"/>
            <a:ext cx="56052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الطُّيُورُ جَمِيلَةٌ.</a:t>
            </a:r>
            <a:endParaRPr lang="ar-SA" sz="2400" dirty="0"/>
          </a:p>
        </p:txBody>
      </p:sp>
      <p:sp>
        <p:nvSpPr>
          <p:cNvPr id="39" name="Text 36"/>
          <p:cNvSpPr txBox="1"/>
          <p:nvPr/>
        </p:nvSpPr>
        <p:spPr>
          <a:xfrm>
            <a:off x="404164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(animal)</a:t>
            </a:r>
            <a:endParaRPr lang="en-US" sz="1100" dirty="0"/>
          </a:p>
        </p:txBody>
      </p:sp>
      <p:sp>
        <p:nvSpPr>
          <p:cNvPr id="40" name="Text 37"/>
          <p:cNvSpPr txBox="1"/>
          <p:nvPr/>
        </p:nvSpPr>
        <p:spPr>
          <a:xfrm>
            <a:off x="548640" y="4478731"/>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الطَّائِرُ جَمِيلٌ.</a:t>
            </a:r>
            <a:endParaRPr lang="ar-SA" sz="24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6035040" y="5215738"/>
            <a:ext cx="56052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الْأَطْفَالُ صِغَارٌ.</a:t>
            </a:r>
            <a:endParaRPr lang="ar-SA" sz="2400" dirty="0"/>
          </a:p>
        </p:txBody>
      </p:sp>
      <p:sp>
        <p:nvSpPr>
          <p:cNvPr id="43" name="Text 40"/>
          <p:cNvSpPr txBox="1"/>
          <p:nvPr/>
        </p:nvSpPr>
        <p:spPr>
          <a:xfrm>
            <a:off x="404164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44" name="Text 41"/>
          <p:cNvSpPr txBox="1"/>
          <p:nvPr/>
        </p:nvSpPr>
        <p:spPr>
          <a:xfrm>
            <a:off x="548640" y="521573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الطِّفْلُ صَغِيرٌ.</a:t>
            </a:r>
            <a:endParaRPr lang="ar-SA" sz="24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drill: change the noun’s number, then change every adjective feature it controls — and say WHY in grammar words.</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الطُّلَّابُ كَسُولَةٌ.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People or things?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الْكِلَابُ صَغِيرُونَ.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Are dogs people?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الْمُعَلِّمَاتُ لَطِيفُونَ.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Men or women?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الطُّلَّابُ كَسُولَةٌ.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الطُّلَّابُ كُسَالَى.</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People never take feminine singular (website).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الْكِلَابُ صَغِيرُونَ.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الْكِلَابُ صَغِيرَةٌ.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Animals are non-human.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الْمُعَلِّمَاتُ لَطِيفُونَ.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الْمُعَلِّمَاتُ لَطِيفَاتٌ.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Women → feminine plural.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PRACTICE ON THE WEBSITE RULES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players are famous.”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اللَّاعِبُونَ مَشْهُورَةٌ.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اللَّاعِبُونَ مَشْهُورٌ.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اللَّاعِبُونَ مَشْهُورُونَ.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clothes are new.”</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الْمَلَابِسُ جُدُدٌ.</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الْمَلَابِسُ جَدِيدَةٌ.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الْمَلَابِسُ جَدِيدُونَ.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nurses are tired.”</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الْمُمَرِّضَاتُ مُتْعَبَةٌ.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الْمُمَرِّضَاتُ مُتْعَبَاتٌ.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الْمُمَرِّضَاتُ مُتْعَبُونَ.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visited kind neighbours.”</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جِيرَانًا لَطِيفَةً.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جِيرَانٌ لُطَفَاءُ.</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جِيرَانًا لُطَفَاءَ.</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players are famous.”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اللَّاعِبُونَ مَشْهُورَةٌ.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اللَّاعِبُونَ مَشْهُورٌ.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اللَّاعِبُونَ مَشْهُورُونَ.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masculine plural.</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clothes are new.”</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الْمَلَابِسُ جُدُدٌ.</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الْمَلَابِسُ جَدِيدَةٌ.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الْمَلَابِسُ جَدِيدُونَ.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Things → feminine singular.</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nurses are tired.”</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الْمُمَرِّضَاتُ مُتْعَبَةٌ.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الْمُمَرِّضَاتُ مُتْعَبَاتٌ.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الْمُمَرِّضَاتُ مُتْعَبُونَ.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Women → feminine plural.</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visited kind neighbours.”</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 جِيرَانًا لَطِيفَةً.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 جِيرَانٌ لُطَفَاءُ.</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 جِيرَانًا لُطَفَاءَ.</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broken-plural adjective; object case.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city and its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مَدِينَتِي أَمَاكِنُ جَمِيلَةٌ وَشَوَارِعُ وَاسِعَةٌ. هَذِهِ الْمَدْرَسَةُ الْجَدِيدَةُ قَرِيبَةٌ، وَذَلِكَ الْمَتْحَفُ الْقَدِيمُ مُثِيرٌ لِلِاهْتِمَامِ. النَّاسُ فِي مَدِينَتِي لُطَفَاءُ، وَالْمُعَلِّمُونَ مُخْلِصُونَ. فِي الْحَدِيقَةِ طُيُورٌ مُلَوَّنَةٌ وَأَطْفَالٌ سُعَدَاءُ.</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أَمَاكِنُ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places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شَوَارِعُ</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streets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وَاسِعَةٌ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wide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مُثِيرٌ لِلِاهْتِمَامِ</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interesting</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النَّاسُ</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people</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مُخْلِصُونَ</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devoted</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مُلَوَّنَةٌ</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colourful</a:t>
            </a:r>
            <a:endParaRPr lang="en-US" sz="1050" dirty="0"/>
          </a:p>
        </p:txBody>
      </p:sp>
      <p:sp>
        <p:nvSpPr>
          <p:cNvPr id="33" name="Text 30"/>
          <p:cNvSpPr txBox="1"/>
          <p:nvPr/>
        </p:nvSpPr>
        <p:spPr>
          <a:xfrm>
            <a:off x="10102291" y="57332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سُعَدَاءُ</a:t>
            </a:r>
            <a:endParaRPr lang="ar-SA" sz="1600" dirty="0"/>
          </a:p>
        </p:txBody>
      </p:sp>
      <p:sp>
        <p:nvSpPr>
          <p:cNvPr id="34" name="Text 31"/>
          <p:cNvSpPr txBox="1"/>
          <p:nvPr/>
        </p:nvSpPr>
        <p:spPr>
          <a:xfrm>
            <a:off x="8851392" y="57332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happy (pl.)</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adjective for streets feminine singular?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Streets are women.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Streets are things.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لُطَفَاءُ</a:t>
            </a:r>
            <a:pPr algn="l" indent="0" marL="0">
              <a:buNone/>
            </a:pPr>
            <a:r>
              <a:rPr lang="en-US" sz="1250" b="1" dirty="0">
                <a:solidFill>
                  <a:srgbClr val="1B3B6F"/>
                </a:solidFill>
                <a:latin typeface="Calibri" pitchFamily="34" charset="0"/>
                <a:cs typeface="Amiri" pitchFamily="2" charset="-78"/>
              </a:rPr>
              <a:t> (plural)?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describes places.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describes birds.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describes people.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adjective for birds feminine singular?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Birds are animals — non-human.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Birds are feminine people.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singular.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plural is </a:t>
            </a:r>
            <a:pPr algn="l" indent="0" marL="0">
              <a:buNone/>
            </a:pPr>
            <a:r>
              <a:rPr lang="ar-SA" altLang="en-US" sz="1650" b="1" dirty="0">
                <a:solidFill>
                  <a:srgbClr val="1B3B6F"/>
                </a:solidFill>
                <a:latin typeface="Amiri" pitchFamily="2" charset="-78"/>
                <a:ea typeface="Amiri" pitchFamily="2" charset="-78"/>
                <a:cs typeface="Amiri" pitchFamily="2" charset="-78"/>
              </a:rPr>
              <a:t>سُعَدَاءُ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sound feminine plural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broken plural for people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feminine singular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adjective for streets feminine singular?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Streets are women.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Streets are things.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لُطَفَاءُ</a:t>
            </a:r>
            <a:pPr algn="l" indent="0" marL="0">
              <a:buNone/>
            </a:pPr>
            <a:r>
              <a:rPr lang="en-US" sz="1250" b="1" dirty="0">
                <a:solidFill>
                  <a:srgbClr val="1B3B6F"/>
                </a:solidFill>
                <a:latin typeface="Calibri" pitchFamily="34" charset="0"/>
                <a:cs typeface="Amiri" pitchFamily="2" charset="-78"/>
              </a:rPr>
              <a:t> (plural)?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describes places.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describes birds.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describes people.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 plural.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adjective for birds feminine singular?</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Birds are animals — non-human.</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Birds are feminine people.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singular.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Animals are non-human.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plural is </a:t>
            </a:r>
            <a:pPr algn="l" indent="0" marL="0">
              <a:buNone/>
            </a:pPr>
            <a:r>
              <a:rPr lang="ar-SA" altLang="en-US" sz="1650" b="1" dirty="0">
                <a:solidFill>
                  <a:srgbClr val="1B3B6F"/>
                </a:solidFill>
                <a:latin typeface="Amiri" pitchFamily="2" charset="-78"/>
                <a:ea typeface="Amiri" pitchFamily="2" charset="-78"/>
                <a:cs typeface="Amiri" pitchFamily="2" charset="-78"/>
              </a:rPr>
              <a:t>سُعَدَاءُ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sound feminine plural</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broken plural for people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feminine singular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Stretch: broken adjective plural.</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Speaking: people and things in my school</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الْمُعَلِّمِينَ وَالْكُتُبَ فِي مَدْرَسَتِكَ.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أَصْدِقَاءَكَ وَحَيَوَانَاتِهِمْ.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أُسْرَتَكَ الْكَبِيرَةَ: الْكِبَارُ وَالصِّغَارُ.</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الْمُعَلِّمُونَ ___ ، وَالْكُتُبُ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أَصْدِقَائِي ___ ، وَقِطَطُهُمْ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الْكِبَارُ فِي أُسْرَتِي ___ ، وَالْأَطْفَالُ ___ .</a:t>
            </a:r>
            <a:endParaRPr lang="ar-SA" sz="14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الطُّلَّابُ فِي صَفِّكَ؟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are the students in your class like?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الطُّلَّابُ أَذْكِيَاءُ وَمَرِحُونَ، لَكِنَّ الْكُتُبَ ثَقِيلَةٌ جِدًّا!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The students are clever and cheerful, but the books are very heavy!</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sentences about groups of people, three about things.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Thumbs up / down before every adjective.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female groups and animals.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Women: -āt · animals: feminine singular.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with two broken-plural adjectives for people.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kibār · ṣighār · luṭafāʾ · adhkiyāʾ.</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أَصْدِقَائِي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friends are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الْقِطَطُ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cats are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اللَّاعِبِينَ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players.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الْأَطْفَالُ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children are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الْمُعَلِّمُونَ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teachers (m.) are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الْمُعَلِّمَاتُ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teachers (f.) are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الْكُتُبُ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books are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الْفُصُولُ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classrooms are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مُجْتَهِدُونَ  ·  مُجْتَهِدَاتٌ  ·  لَطِيفُونَ  ·  لَطِيفَاتٌ  ·  نَشِيطُونَ  ·  مَشْهُورِينَ  ·  كِبَارٌ  ·  صِغَارٌ  ·  لُطَفَاءُ  ·  جَدِيدَةٌ  ·  ثَقِيلَةٌ  ·  وَاسِعَةٌ  ·  جَمِيلَةٌ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extended writing workshop: 90–120 words describing people and places, with at least eight target adjective structures.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male-group plurals with -ūna / -īna adjectives.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female-group plurals with -āt adjectives.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thing plurals and one animal plural with feminine singular.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broken-plural adjectives for people.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No feminine singular adjective after a human plural.</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الْمُعَلِّمُونَ مُخْلِصُونَ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teachers are devoted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الطَّالِبَاتُ مُجْتَهِدَاتٌ</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students (f.) are hard-working</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الْكُتُبُ مُفِيدَةٌ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books are useful</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طُيُورٌ مُلَوَّنَةٌ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colourful birds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أَطْفَالٌ صِغَارٌ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small children</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جِيرَانٌ لُطَفَاءُ</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kind neighbours</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مَدْرَسَتِي كَبِيرَةٌ وَجَمِيلَةٌ. الْمُعَلِّمُونَ مُخْلِصُونَ، وَالْمُعَلِّمَاتُ لَطِيفَاتٌ. الطُّلَّابُ أَذْكِيَاءُ، لَكِنَّ بَعْضَهُمْ كُسَالَى! الْفُصُولُ وَاسِعَةٌ، وَالْكُتُبُ جَدِيدَةٌ وَمُفِيدَةٌ. فِي حَدِيقَةِ الْمَدْرَسَةِ أَشْجَارٌ عَالِيَةٌ وَطُيُورٌ مُلَوَّنَةٌ. أُحِبُّ أَصْدِقَائِي لِأَنَّهُمْ مَرِحُونَ.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school is big and beautiful. The (male) teachers are devoted, and the (female) teachers are kind. The students are clever, but some of them are lazy! The classrooms are spacious, and the books are new and useful. In the school garden there are tall trees and colourful birds. I love my friends because they are cheerful.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male people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female people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things: fem. sing.</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animals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decided “people or not?” for every plural.</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Things have feminine singular adjectives.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Women have -āt adjectives; men have -ūna.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Animals have feminine singular adjectives.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two broken-plural adjectives for people.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الْأَطِبَّاءُ</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مَشْغُولُونَ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مَشْغُولَةٌ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مَشْغُولَاتٌ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الْكِلَابُ</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كِبَارٌ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كَبِيرُونَ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الْبَنَاتُ</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سَعِيدَاتٌ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سَعِيدَةٌ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سَعِيدُونَ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الْأَطِبَّاءُ</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مَشْغُولُونَ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مَشْغُولَةٌ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مَشْغُولَاتٌ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Men → masculine plural.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الْكِلَابُ</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كِبَارٌ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كَبِيرَةٌ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كَبِيرُونَ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Animals → feminine singular.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الْبَنَاتُ</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سَعِيدَاتٌ</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سَعِيدَةٌ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سَعِيدُونَ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Girls → feminine plural.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GM-ADJ-02 · Adjectives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GM-ADJ-03: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GM-ADJ-03 · Colour Adjectives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أَحْمَرُ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red (m.)</a:t>
            </a:r>
            <a:pPr indent="0" marL="0">
              <a:buNone/>
            </a:pPr>
            <a:r>
              <a:rPr lang="ar-SA" sz="1000" i="1" dirty="0">
                <a:solidFill>
                  <a:srgbClr val="5A6472"/>
                </a:solidFill>
                <a:latin typeface="Calibri" pitchFamily="34" charset="0"/>
                <a:ea typeface="Amiri" pitchFamily="2" charset="-78"/>
                <a:cs typeface="Amiri" pitchFamily="2" charset="-78"/>
              </a:rPr>
              <a:t>  f. حَمْرَاءُ</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أَزْرَقُ</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blue (m.)</a:t>
            </a:r>
            <a:pPr indent="0" marL="0">
              <a:buNone/>
            </a:pPr>
            <a:r>
              <a:rPr lang="ar-SA" sz="1000" i="1" dirty="0">
                <a:solidFill>
                  <a:srgbClr val="5A6472"/>
                </a:solidFill>
                <a:latin typeface="Calibri" pitchFamily="34" charset="0"/>
                <a:ea typeface="Amiri" pitchFamily="2" charset="-78"/>
                <a:cs typeface="Amiri" pitchFamily="2" charset="-78"/>
              </a:rPr>
              <a:t>  f. زَرْقَاءُ</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أَخْضَرُ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green (m.)</a:t>
            </a:r>
            <a:pPr indent="0" marL="0">
              <a:buNone/>
            </a:pPr>
            <a:r>
              <a:rPr lang="ar-SA" sz="1000" i="1" dirty="0">
                <a:solidFill>
                  <a:srgbClr val="5A6472"/>
                </a:solidFill>
                <a:latin typeface="Calibri" pitchFamily="34" charset="0"/>
                <a:ea typeface="Amiri" pitchFamily="2" charset="-78"/>
                <a:cs typeface="Amiri" pitchFamily="2" charset="-78"/>
              </a:rPr>
              <a:t>  f. خَضْرَاءُ</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أَبْيَضُ</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white (m.)</a:t>
            </a:r>
            <a:pPr indent="0" marL="0">
              <a:buNone/>
            </a:pPr>
            <a:r>
              <a:rPr lang="ar-SA" sz="1000" i="1" dirty="0">
                <a:solidFill>
                  <a:srgbClr val="5A6472"/>
                </a:solidFill>
                <a:latin typeface="Calibri" pitchFamily="34" charset="0"/>
                <a:ea typeface="Amiri" pitchFamily="2" charset="-78"/>
                <a:cs typeface="Amiri" pitchFamily="2" charset="-78"/>
              </a:rPr>
              <a:t>  f. بَيْضَاءُ</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أَسْوَدُ</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black (m.)</a:t>
            </a:r>
            <a:pPr indent="0" marL="0">
              <a:buNone/>
            </a:pPr>
            <a:r>
              <a:rPr lang="ar-SA" sz="1000" i="1" dirty="0">
                <a:solidFill>
                  <a:srgbClr val="5A6472"/>
                </a:solidFill>
                <a:latin typeface="Calibri" pitchFamily="34" charset="0"/>
                <a:ea typeface="Amiri" pitchFamily="2" charset="-78"/>
                <a:cs typeface="Amiri" pitchFamily="2" charset="-78"/>
              </a:rPr>
              <a:t>  f. سَوْدَاءُ</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at the pairs. What pattern do the feminine colour words follow?</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أَحْمَرُ · حَمْرَاءُ — أَصْفَرُ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ten plural phrases: five people, five things.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sentences including women and animals.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with broken-plural adjectives.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GM-ADJ-02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GM-ADJ-03 · Colour Adjectives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أَلْوَانُ أَفْعَلَ وَفَعْلَاءَ</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people or not? · people → plural adjective (men -ūna, women -āt, mixed masculine) · things and animals → feminine singular · never feminine singular for people.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GM-ADJ-02 · Adjective Agreement with Plurals</dc:title>
  <dc:subject>PptxGenJS Presentation</dc:subject>
  <dc:creator>Al Madina Online School · Arabic Department</dc:creator>
  <cp:lastModifiedBy>Al Madina Online School · Arabic Department</cp:lastModifiedBy>
  <cp:revision>1</cp:revision>
  <dcterms:created xsi:type="dcterms:W3CDTF">2026-10-11T06:42:00Z</dcterms:created>
  <dcterms:modified xsi:type="dcterms:W3CDTF">2026-10-11T06:42:00Z</dcterms:modified>
</cp:coreProperties>
</file>