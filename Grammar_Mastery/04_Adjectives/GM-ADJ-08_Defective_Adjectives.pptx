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GM-ADJ-08 (“Defective Adjectives such as غَالٍ and رَاضٍ”).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three shapes of one word — غَالٍ (a … , subject or after a preposition) · الْغَالِي (with al-) · غَالِيَةٌ (feminine). Develop: the accusative brings the yāʾ back (كِتَابًا غَالِيًا). Stretch: the same pattern in nouns (نَادٍ / النَّادِي · وَادٍ / الْوَادِي · الْمَاضِي) and the masculine plural (رَاضُونَ).
• Pronunciation first: say ghālin with a clear -in; then al-ghālī with a long -ī. Students hear the difference before they write it.
• Common vocabulary: غَالٍ expensive · رَاضٍ satisfied · عَالٍ high · مَاضٍ past · بَاقٍ remaining · هَادٍ guiding (recognition).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uses the defective words prepared at the end of GM-ADJ-07.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final yāʾ hides in “a … ” (subject or after a preposition): ghālin. It comes back with al-, in the object, and before tāʾ marbūṭa.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(3 min) — website “What is a defective adjective?”. Say ghālin / rāḍin / ʿālin aloud with a strong final -in before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 website “When the yāʾ returns”. Gesture: hand covering the yāʾ for rows 1–2, hand lifting away for rows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(3 min) — website “Feminine forms”, plus teacher-added nouns and the plural for Stretch recognition.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Colour-code hidden (teal) vs visible (pink). Ask each time: “-un / -in, or al- /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H or V and give the reason: -un/-in → hidden; al-, -an or ة →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H or V and give the reason: -un/-in → hidden; al-, -an or ة →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Row 5: bāqin = remaining (الْوَقْتُ الْبَاقِي = the remaining time) — useful for exams.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every defective adjective and say whether its yāʾ is hidden or visible — and why.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with six accurate structures. Boys: أَنَا رَاضٍ (rāḍin); girls: أَنَا رَاضِيَةٌ.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(GM-ADJ-09 · Nisba Adjectives) will spend class time USING this language, so students prepare it tonight — short, simple, easy to access (school guidance: “Simple, Short, Interesting, Relevant, Easy to access”). The five words prepare GM-ADJ-09 (website Adjectives lesson 9: nisba adjectives).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ADJECTIVES  ·  GM-ADJ-08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GM-ADJ-08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Defective Adjectives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الصِّفَاتُ الْمَنْقُوصَةُ مِثْلُ غَالٍ وَرَاضٍ</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Some adjectives end in a hidden -ī: expensive is ghālin (no yāʾ) in “a … book”, but al-ghālī with al-, ghāliyan as an object, and ghāliya for a feminine noun. The yāʾ hides only in -un and -in positions.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GM-ADJ-08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What “defective” means; when the yāʾ returns; feminine forms.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hidden / visible yāʾ, complete,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GM-ADJ-09.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كِتَابٌ</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غَالِيٌ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غَالِيًا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الْكِتَابُ</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الْغَالِي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اشْتَرَيْتُ كِتَابًا</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الْغَالِي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غَالِيًا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feminine form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غَالِيُونَ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غَالِيَةٌ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كِتَابٌ</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غَالِيٌ</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غَالٍ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غَالِيًا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indefinite nominative drops the yāʾ.</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الْكِتَابُ</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الْغَالِي</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الْغَالِ</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definite form restores the yāʾ.</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اشْتَرَيْتُ كِتَابًا</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الْغَالِي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غَالِيًا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indefinite accusative keeps the yāʾ.</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feminine form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غَالِيُونَ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غَالِيَةٌ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ending follows the yāʾ.</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150" b="1" dirty="0">
                <a:solidFill>
                  <a:srgbClr val="1F2A37"/>
                </a:solidFill>
                <a:latin typeface="Calibri" pitchFamily="34" charset="0"/>
                <a:ea typeface="Calibri" pitchFamily="34" charset="-122"/>
                <a:cs typeface="Calibri" pitchFamily="34" charset="-120"/>
              </a:rPr>
              <a:t>The final yāʾ hides in “a … ” (subject or after a preposition): ghālin. It comes back with al-, in the object, and before tāʾ marbūṭa.</a:t>
            </a:r>
            <a:endParaRPr lang="en-US" sz="11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 </a:t>
            </a:r>
            <a:pPr rtl="1" algn="ctr" indent="0" marL="0">
              <a:buNone/>
            </a:pPr>
            <a:r>
              <a:rPr lang="ar-SA" altLang="en-US" sz="2400" b="1" dirty="0">
                <a:solidFill>
                  <a:srgbClr val="0E7C86"/>
                </a:solidFill>
                <a:latin typeface="Amiri" pitchFamily="34" charset="0"/>
                <a:ea typeface="Amiri" pitchFamily="34" charset="-122"/>
                <a:cs typeface="Amiri" pitchFamily="34" charset="-120"/>
              </a:rPr>
              <a:t>غَالٍ</a:t>
            </a:r>
            <a:pPr rtl="1" algn="ctr" indent="0" marL="0">
              <a:buNone/>
            </a:pPr>
            <a:r>
              <a:rPr lang="ar-SA" altLang="en-US" sz="2400" b="1" dirty="0">
                <a:solidFill>
                  <a:srgbClr val="1B3B6F"/>
                </a:solidFill>
                <a:latin typeface="Amiri" pitchFamily="34" charset="0"/>
                <a:ea typeface="Amiri" pitchFamily="34" charset="-122"/>
                <a:cs typeface="Amiri" pitchFamily="34" charset="-120"/>
              </a:rPr>
              <a:t> ‖ الْكِتَابُ </a:t>
            </a:r>
            <a:pPr rtl="1" algn="ctr" indent="0" marL="0">
              <a:buNone/>
            </a:pPr>
            <a:r>
              <a:rPr lang="ar-SA" altLang="en-US" sz="2400" b="1" dirty="0">
                <a:solidFill>
                  <a:srgbClr val="D6336C"/>
                </a:solidFill>
                <a:latin typeface="Amiri" pitchFamily="34" charset="0"/>
                <a:ea typeface="Amiri" pitchFamily="34" charset="-122"/>
                <a:cs typeface="Amiri" pitchFamily="34" charset="-120"/>
              </a:rPr>
              <a:t>الْغَالِي</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 defective adjective (hidden final yāʾ).</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the indefinite form with -in and no yāʾ.</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Bring the yāʾ back with al-, in the accusative and in the feminine.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Spot the same pattern in common nouns.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and write an expensive book and the expensive book.</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the feminine with the yāʾ.</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write the object with the yāʾ: ghāliyan.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explain when the yāʾ hides.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read nādin / an-nādī and wādin / al-wādī.</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the plural rāḍūna.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الْمَنْقُوصُ</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defective (hidden final yāʾ)</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al-man-qū-ṣu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غَالٍ · رَاضٍ</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غَالٍ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expensive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ghālin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الْغَالِي · غَالِيَةٌ</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رَاضٍ</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satisfied, pleased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rāḍin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رَاضٍ عَنْ …</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ʿālin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جَبَلٌ عَالٍ</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مَاضٍ</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past, last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māḍin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الْأُسْبُوعُ الْمَاضِي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تَنْوِينُ الْكَسْرِ</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kasra tanwīn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tan-wī-nu al-kas-ri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what is left: </a:t>
            </a:r>
            <a:pPr algn="l" indent="0" marL="0">
              <a:buNone/>
            </a:pPr>
            <a:r>
              <a:rPr lang="ar-SA" altLang="en-US" sz="1300" dirty="0">
                <a:solidFill>
                  <a:srgbClr val="8A6D1E"/>
                </a:solidFill>
                <a:latin typeface="Amiri" pitchFamily="34" charset="0"/>
                <a:ea typeface="Amiri" pitchFamily="34" charset="-122"/>
                <a:cs typeface="Amiri" pitchFamily="34" charset="-120"/>
              </a:rPr>
              <a:t>ـٍ</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STEP 1 · WHAT IS A DEFECTIVE ADJECTIVE?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yāʾ that hides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 الْمَنْقُوصُ؟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Some adjectives end in an unstressed yāʾ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In the INDEFINITE nominative and genitive singular, the yāʾ is dropped in writing and speech (website).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Only kasra tanwīn is left: ghālin, rāḍin, ʿālin.</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So “an expensive book” is kitābun ghālin — not “ghāliyun”.</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It is the same word; only the spelling of the ending changes.</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هَذَا كِتَابٌ غَالٍ.</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This is an expensive book.  ·  website · nominative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مَرَرْتُ بِكِتَابٍ غَالٍ.</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 passed an expensive book.  ·  website · genitive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هُوَ رَاضٍ عَنِ النَّتِيجَةِ.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He is satisfied with the result.  ·  website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هَذَا جَبَلٌ عَالٍ.</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This is a high mountain.</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ea typeface="Calibri" pitchFamily="34" charset="-122"/>
                <a:cs typeface="Calibri" pitchFamily="34" charset="-120"/>
              </a:rPr>
              <a:t>WEBSITE CLINIC</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full formal Arabic, never write ghāliyun with the yāʾ in the indefinite nominative: write ghālin.</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STEP 2 · WHEN THE YĀʾ RETURNS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Hidden or visible? Four positions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مَتَى تَعُودُ الْيَاءُ؟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yāʾ?</a:t>
            </a:r>
            <a:endParaRPr lang="en-US" sz="1100" dirty="0"/>
          </a:p>
        </p:txBody>
      </p:sp>
      <p:sp>
        <p:nvSpPr>
          <p:cNvPr id="17" name="Text 14"/>
          <p:cNvSpPr txBox="1"/>
          <p:nvPr/>
        </p:nvSpPr>
        <p:spPr>
          <a:xfrm>
            <a:off x="363931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(website)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hidden: -in</a:t>
            </a:r>
            <a:endParaRPr lang="en-US" sz="1100" dirty="0"/>
          </a:p>
        </p:txBody>
      </p:sp>
      <p:sp>
        <p:nvSpPr>
          <p:cNvPr id="21" name="Text 18"/>
          <p:cNvSpPr txBox="1"/>
          <p:nvPr/>
        </p:nvSpPr>
        <p:spPr>
          <a:xfrm>
            <a:off x="3657600" y="2267712"/>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 غَالٍ</a:t>
            </a:r>
            <a:endParaRPr lang="ar-SA" sz="2400" dirty="0"/>
          </a:p>
        </p:txBody>
      </p:sp>
      <p:sp>
        <p:nvSpPr>
          <p:cNvPr id="22" name="Text 19"/>
          <p:cNvSpPr txBox="1"/>
          <p:nvPr/>
        </p:nvSpPr>
        <p:spPr>
          <a:xfrm>
            <a:off x="56692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indefinite, subject / predicate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hidden: -in</a:t>
            </a:r>
            <a:endParaRPr lang="en-US" sz="1100" dirty="0"/>
          </a:p>
        </p:txBody>
      </p:sp>
      <p:sp>
        <p:nvSpPr>
          <p:cNvPr id="27" name="Text 24"/>
          <p:cNvSpPr txBox="1"/>
          <p:nvPr/>
        </p:nvSpPr>
        <p:spPr>
          <a:xfrm>
            <a:off x="3657600" y="3004718"/>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بِكِتَابٍ غَالٍ</a:t>
            </a:r>
            <a:endParaRPr lang="ar-SA" sz="2400" dirty="0"/>
          </a:p>
        </p:txBody>
      </p:sp>
      <p:sp>
        <p:nvSpPr>
          <p:cNvPr id="28" name="Text 25"/>
          <p:cNvSpPr txBox="1"/>
          <p:nvPr/>
        </p:nvSpPr>
        <p:spPr>
          <a:xfrm>
            <a:off x="56692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indefinite, after a preposition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VISIBLE: -ī</a:t>
            </a:r>
            <a:endParaRPr lang="en-US" sz="1100" dirty="0"/>
          </a:p>
        </p:txBody>
      </p:sp>
      <p:sp>
        <p:nvSpPr>
          <p:cNvPr id="33" name="Text 30"/>
          <p:cNvSpPr txBox="1"/>
          <p:nvPr/>
        </p:nvSpPr>
        <p:spPr>
          <a:xfrm>
            <a:off x="3657600" y="3741725"/>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الْكِتَابُ الْغَالِي</a:t>
            </a:r>
            <a:endParaRPr lang="ar-SA" sz="2400" dirty="0"/>
          </a:p>
        </p:txBody>
      </p:sp>
      <p:sp>
        <p:nvSpPr>
          <p:cNvPr id="34" name="Text 31"/>
          <p:cNvSpPr txBox="1"/>
          <p:nvPr/>
        </p:nvSpPr>
        <p:spPr>
          <a:xfrm>
            <a:off x="56692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definite (al-)</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VISIBLE: -iyan</a:t>
            </a:r>
            <a:endParaRPr lang="en-US" sz="1100" dirty="0"/>
          </a:p>
        </p:txBody>
      </p:sp>
      <p:sp>
        <p:nvSpPr>
          <p:cNvPr id="39" name="Text 36"/>
          <p:cNvSpPr txBox="1"/>
          <p:nvPr/>
        </p:nvSpPr>
        <p:spPr>
          <a:xfrm>
            <a:off x="3657600" y="4478731"/>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اشْتَرَيْتُ كِتَابًا غَالِيًا.</a:t>
            </a:r>
            <a:endParaRPr lang="ar-SA" sz="2400" dirty="0"/>
          </a:p>
        </p:txBody>
      </p:sp>
      <p:sp>
        <p:nvSpPr>
          <p:cNvPr id="40" name="Text 37"/>
          <p:cNvSpPr txBox="1"/>
          <p:nvPr/>
        </p:nvSpPr>
        <p:spPr>
          <a:xfrm>
            <a:off x="56692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indefinite object</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VISIBLE: -iyan</a:t>
            </a:r>
            <a:endParaRPr lang="en-US" sz="1100" dirty="0"/>
          </a:p>
        </p:txBody>
      </p:sp>
      <p:sp>
        <p:nvSpPr>
          <p:cNvPr id="45" name="Text 42"/>
          <p:cNvSpPr txBox="1"/>
          <p:nvPr/>
        </p:nvSpPr>
        <p:spPr>
          <a:xfrm>
            <a:off x="3657600" y="5215738"/>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رَأَيْتُ رَجُلًا رَاضِيًا.</a:t>
            </a:r>
            <a:endParaRPr lang="ar-SA" sz="2400" dirty="0"/>
          </a:p>
        </p:txBody>
      </p:sp>
      <p:sp>
        <p:nvSpPr>
          <p:cNvPr id="46" name="Text 43"/>
          <p:cNvSpPr txBox="1"/>
          <p:nvPr/>
        </p:nvSpPr>
        <p:spPr>
          <a:xfrm>
            <a:off x="56692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indefinite object (person)</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Memory rule: the yāʾ hides only behind -un and -in. With al- or -an, it comes back.</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 STEP 3 · FEMININE FORMS (WEBSITE) · AND THE SAME PATTERN IN NOUNS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Feminine — and nouns that behave the same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الْمُؤَنَّثُ وَأَسْمَاءٌ مِثْلُهُ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363931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yāʾ always visible (website)</a:t>
            </a:r>
            <a:endParaRPr lang="en-US" sz="1100" dirty="0"/>
          </a:p>
        </p:txBody>
      </p:sp>
      <p:sp>
        <p:nvSpPr>
          <p:cNvPr id="21" name="Text 18"/>
          <p:cNvSpPr txBox="1"/>
          <p:nvPr/>
        </p:nvSpPr>
        <p:spPr>
          <a:xfrm>
            <a:off x="3657600" y="226771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حَقِيبَةٌ غَالِيَةٌ</a:t>
            </a:r>
            <a:endParaRPr lang="ar-SA" sz="2400" dirty="0"/>
          </a:p>
        </p:txBody>
      </p:sp>
      <p:sp>
        <p:nvSpPr>
          <p:cNvPr id="22" name="Text 19"/>
          <p:cNvSpPr txBox="1"/>
          <p:nvPr/>
        </p:nvSpPr>
        <p:spPr>
          <a:xfrm>
            <a:off x="566928" y="226771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expensive bag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website</a:t>
            </a:r>
            <a:endParaRPr lang="en-US" sz="1100" dirty="0"/>
          </a:p>
        </p:txBody>
      </p:sp>
      <p:sp>
        <p:nvSpPr>
          <p:cNvPr id="27" name="Text 24"/>
          <p:cNvSpPr txBox="1"/>
          <p:nvPr/>
        </p:nvSpPr>
        <p:spPr>
          <a:xfrm>
            <a:off x="3657600" y="2881884"/>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طَالِبَةٌ رَاضِيَةٌ</a:t>
            </a:r>
            <a:endParaRPr lang="ar-SA" sz="2400" dirty="0"/>
          </a:p>
        </p:txBody>
      </p:sp>
      <p:sp>
        <p:nvSpPr>
          <p:cNvPr id="28" name="Text 25"/>
          <p:cNvSpPr txBox="1"/>
          <p:nvPr/>
        </p:nvSpPr>
        <p:spPr>
          <a:xfrm>
            <a:off x="566928" y="2881884"/>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satisfied student (f.)</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definite → -ī</a:t>
            </a:r>
            <a:endParaRPr lang="en-US" sz="1100" dirty="0"/>
          </a:p>
        </p:txBody>
      </p:sp>
      <p:sp>
        <p:nvSpPr>
          <p:cNvPr id="33" name="Text 30"/>
          <p:cNvSpPr txBox="1"/>
          <p:nvPr/>
        </p:nvSpPr>
        <p:spPr>
          <a:xfrm>
            <a:off x="3657600" y="3496056"/>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الْأُسْبُوعُ الْمَاضِي</a:t>
            </a:r>
            <a:endParaRPr lang="ar-SA" sz="2400" dirty="0"/>
          </a:p>
        </p:txBody>
      </p:sp>
      <p:sp>
        <p:nvSpPr>
          <p:cNvPr id="34" name="Text 31"/>
          <p:cNvSpPr txBox="1"/>
          <p:nvPr/>
        </p:nvSpPr>
        <p:spPr>
          <a:xfrm>
            <a:off x="566928" y="3496056"/>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last week</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noun with the same pattern</a:t>
            </a:r>
            <a:endParaRPr lang="en-US" sz="1100" dirty="0"/>
          </a:p>
        </p:txBody>
      </p:sp>
      <p:sp>
        <p:nvSpPr>
          <p:cNvPr id="39" name="Text 36"/>
          <p:cNvSpPr txBox="1"/>
          <p:nvPr/>
        </p:nvSpPr>
        <p:spPr>
          <a:xfrm>
            <a:off x="3657600" y="4110228"/>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نَادٍ · النَّادِي</a:t>
            </a:r>
            <a:endParaRPr lang="ar-SA" sz="2400" dirty="0"/>
          </a:p>
        </p:txBody>
      </p:sp>
      <p:sp>
        <p:nvSpPr>
          <p:cNvPr id="40" name="Text 37"/>
          <p:cNvSpPr txBox="1"/>
          <p:nvPr/>
        </p:nvSpPr>
        <p:spPr>
          <a:xfrm>
            <a:off x="566928" y="4110228"/>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club / the club</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noun with the same pattern</a:t>
            </a:r>
            <a:endParaRPr lang="en-US" sz="1100" dirty="0"/>
          </a:p>
        </p:txBody>
      </p:sp>
      <p:sp>
        <p:nvSpPr>
          <p:cNvPr id="43" name="Text 40"/>
          <p:cNvSpPr txBox="1"/>
          <p:nvPr/>
        </p:nvSpPr>
        <p:spPr>
          <a:xfrm>
            <a:off x="3657600" y="4724400"/>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وَادٍ · الْوَادِي</a:t>
            </a:r>
            <a:endParaRPr lang="ar-SA" sz="2400" dirty="0"/>
          </a:p>
        </p:txBody>
      </p:sp>
      <p:sp>
        <p:nvSpPr>
          <p:cNvPr id="44" name="Text 41"/>
          <p:cNvSpPr txBox="1"/>
          <p:nvPr/>
        </p:nvSpPr>
        <p:spPr>
          <a:xfrm>
            <a:off x="566928" y="4724400"/>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valley / the valley</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yāʾ disappears before -ūna</a:t>
            </a:r>
            <a:endParaRPr lang="en-US" sz="1100" dirty="0"/>
          </a:p>
        </p:txBody>
      </p:sp>
      <p:sp>
        <p:nvSpPr>
          <p:cNvPr id="47" name="Text 44"/>
          <p:cNvSpPr txBox="1"/>
          <p:nvPr/>
        </p:nvSpPr>
        <p:spPr>
          <a:xfrm>
            <a:off x="3657600" y="5338572"/>
            <a:ext cx="43891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رَاضُونَ</a:t>
            </a:r>
            <a:endParaRPr lang="ar-SA" sz="2400" dirty="0"/>
          </a:p>
        </p:txBody>
      </p:sp>
      <p:sp>
        <p:nvSpPr>
          <p:cNvPr id="48" name="Text 45"/>
          <p:cNvSpPr txBox="1"/>
          <p:nvPr/>
        </p:nvSpPr>
        <p:spPr>
          <a:xfrm>
            <a:off x="566928" y="533857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satisfied (people, plural)</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feminine shows the yāʾ clearly before tāʾ marbūṭa — ghāliya, rāḍiya, ʿāliya.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high building”.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مَبْنًى عَالِيٌ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مَبْنًى الْعَالِي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مَبْنًى عَالٍ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high building”.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الْمَبْنَى الْعَالِي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الْمَبْنَى الْعَالِ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الْمَبْنَى عَالٍ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bought an expensive watch (f.)”.</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اشْتَرَيْتُ سَاعَةً غَالٍ.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اشْتَرَيْتُ سَاعَةً غَالِيَةً.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اشْتَرَيْتُ سَاعَةً غَالِيًا.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saw a satisfied customer (m.)”.</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 زَبُونًا رَاضِيًا.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 زَبُونًا رَاضٍ.</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رَأَيْتُ زَبُونًا رَاضِيٌ.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high building”.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مَبْنًى عَالِيٌ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مَبْنًى الْعَالِي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مَبْنًى عَالٍ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Indefinite nominative → hidden yāʾ.</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high building”.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الْمَبْنَى الْعَالِي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الْمَبْنَى الْعَالِ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الْمَبْنَى عَالٍ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Definite → yāʾ returns.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bought an expensive watch (f.)”.</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اشْتَرَيْتُ سَاعَةً غَالٍ.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اشْتَرَيْتُ سَاعَةً غَالِيَةً.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اشْتَرَيْتُ سَاعَةً غَالِيًا.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yāʾ +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saw a satisfied customer (m.)”.</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رَأَيْتُ زَبُونًا رَاضِيًا.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رَأَيْتُ زَبُونًا رَاضٍ.</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رَأَيْتُ زَبُونًا رَاضِيٌ.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Accusative → yāʾ returns.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follow the yāʾ</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Indefinite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هَاتِفٌ غَالٍ</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subject → -in, no yāʾ.</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Definite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الْهَاتِفُ الْغَالِي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al- → -ī.</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Object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اشْتَرَى هَاتِفًا غَالِيًا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 yāʾ back.</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Feminine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سَاعَةٌ غَالِيَةٌ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yāʾ + </a:t>
            </a:r>
            <a:pPr algn="l" indent="0" marL="0">
              <a:buNone/>
            </a:pPr>
            <a:r>
              <a:rPr lang="ar-SA" altLang="en-US" sz="1500" dirty="0">
                <a:solidFill>
                  <a:srgbClr val="1F2A37"/>
                </a:solidFill>
                <a:latin typeface="Amiri" pitchFamily="34" charset="0"/>
                <a:ea typeface="Amiri" pitchFamily="34" charset="-122"/>
                <a:cs typeface="Amiri" pitchFamily="34" charset="-120"/>
              </a:rPr>
              <a:t>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YĀʾ HIDDEN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YĀʾ VISIBLE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50" b="1" dirty="0">
                <a:solidFill>
                  <a:srgbClr val="1B3B6F"/>
                </a:solidFill>
                <a:latin typeface="Amiri" pitchFamily="34" charset="0"/>
                <a:ea typeface="Amiri" pitchFamily="34" charset="-122"/>
                <a:cs typeface="Amiri" pitchFamily="34" charset="-120"/>
              </a:rPr>
              <a:t>هَذَا هَاتِفٌ </a:t>
            </a:r>
            <a:pPr rtl="1" algn="r" indent="0" marL="0">
              <a:buNone/>
            </a:pPr>
            <a:r>
              <a:rPr lang="ar-SA" altLang="en-US" sz="2050" b="1" dirty="0">
                <a:solidFill>
                  <a:srgbClr val="0E7C86"/>
                </a:solidFill>
                <a:latin typeface="Amiri" pitchFamily="34" charset="0"/>
                <a:ea typeface="Amiri" pitchFamily="34" charset="-122"/>
                <a:cs typeface="Amiri" pitchFamily="34" charset="-120"/>
              </a:rPr>
              <a:t>غَالٍ</a:t>
            </a:r>
            <a:pPr rtl="1" algn="r" indent="0" marL="0">
              <a:buNone/>
            </a:pPr>
            <a:r>
              <a:rPr lang="ar-SA" altLang="en-US" sz="2050" b="1" dirty="0">
                <a:solidFill>
                  <a:srgbClr val="1B3B6F"/>
                </a:solidFill>
                <a:latin typeface="Amiri" pitchFamily="34" charset="0"/>
                <a:ea typeface="Amiri" pitchFamily="34" charset="-122"/>
                <a:cs typeface="Amiri" pitchFamily="34" charset="-120"/>
              </a:rPr>
              <a:t>، لَكِنَّ أَخِي اشْتَرَى هَاتِفًا </a:t>
            </a:r>
            <a:pPr rtl="1" algn="r" indent="0" marL="0">
              <a:buNone/>
            </a:pPr>
            <a:r>
              <a:rPr lang="ar-SA" altLang="en-US" sz="2050" b="1" dirty="0">
                <a:solidFill>
                  <a:srgbClr val="D6336C"/>
                </a:solidFill>
                <a:latin typeface="Amiri" pitchFamily="34" charset="0"/>
                <a:ea typeface="Amiri" pitchFamily="34" charset="-122"/>
                <a:cs typeface="Amiri" pitchFamily="34" charset="-120"/>
              </a:rPr>
              <a:t>غَالِيًا</a:t>
            </a:r>
            <a:pPr rtl="1" algn="r" indent="0" marL="0">
              <a:buNone/>
            </a:pPr>
            <a:r>
              <a:rPr lang="ar-SA" altLang="en-US" sz="2050" b="1" dirty="0">
                <a:solidFill>
                  <a:srgbClr val="1B3B6F"/>
                </a:solidFill>
                <a:latin typeface="Amiri" pitchFamily="34" charset="0"/>
                <a:ea typeface="Amiri" pitchFamily="34" charset="-122"/>
                <a:cs typeface="Amiri" pitchFamily="34" charset="-120"/>
              </a:rPr>
              <a:t> أَيْضًا. الْهَاتِفُ </a:t>
            </a:r>
            <a:pPr rtl="1" algn="r" indent="0" marL="0">
              <a:buNone/>
            </a:pPr>
            <a:r>
              <a:rPr lang="ar-SA" altLang="en-US" sz="2050" b="1" dirty="0">
                <a:solidFill>
                  <a:srgbClr val="D6336C"/>
                </a:solidFill>
                <a:latin typeface="Amiri" pitchFamily="34" charset="0"/>
                <a:ea typeface="Amiri" pitchFamily="34" charset="-122"/>
                <a:cs typeface="Amiri" pitchFamily="34" charset="-120"/>
              </a:rPr>
              <a:t>الْغَالِي</a:t>
            </a:r>
            <a:pPr rtl="1" algn="r" indent="0" marL="0">
              <a:buNone/>
            </a:pPr>
            <a:r>
              <a:rPr lang="ar-SA" altLang="en-US" sz="2050" b="1" dirty="0">
                <a:solidFill>
                  <a:srgbClr val="1B3B6F"/>
                </a:solidFill>
                <a:latin typeface="Amiri" pitchFamily="34" charset="0"/>
                <a:ea typeface="Amiri" pitchFamily="34" charset="-122"/>
                <a:cs typeface="Amiri" pitchFamily="34" charset="-120"/>
              </a:rPr>
              <a:t> لَيْسَ دَائِمًا الْأَفْضَلَ، وَأَنَا </a:t>
            </a:r>
            <a:pPr rtl="1" algn="r" indent="0" marL="0">
              <a:buNone/>
            </a:pPr>
            <a:r>
              <a:rPr lang="ar-SA" altLang="en-US" sz="2050" b="1" dirty="0">
                <a:solidFill>
                  <a:srgbClr val="0E7C86"/>
                </a:solidFill>
                <a:latin typeface="Amiri" pitchFamily="34" charset="0"/>
                <a:ea typeface="Amiri" pitchFamily="34" charset="-122"/>
                <a:cs typeface="Amiri" pitchFamily="34" charset="-120"/>
              </a:rPr>
              <a:t>رَاضٍ</a:t>
            </a:r>
            <a:pPr rtl="1" algn="r" indent="0" marL="0">
              <a:buNone/>
            </a:pPr>
            <a:r>
              <a:rPr lang="ar-SA" altLang="en-US" sz="2050" b="1" dirty="0">
                <a:solidFill>
                  <a:srgbClr val="1B3B6F"/>
                </a:solidFill>
                <a:latin typeface="Amiri" pitchFamily="34" charset="0"/>
                <a:ea typeface="Amiri" pitchFamily="34" charset="-122"/>
                <a:cs typeface="Amiri" pitchFamily="34" charset="-120"/>
              </a:rPr>
              <a:t> عَنْ هَاتِفِي الْقَدِيمِ.</a:t>
            </a:r>
            <a:endParaRPr lang="ar-SA" sz="20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This is an expensive phone, but my brother bought an expensive phone too. The expensive phone is not always the best, and I am satisfied with my old phone.</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الْكِتَابُ الْغَالِي مُفِيدٌ.</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expensive book is useful.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model bank: definite.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أُمِّي رَاضِيَةٌ عَنْ نَتِيجَتِي.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mother is pleased with my result.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yāʾ visible.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سَافَرْنَا فِي الشَّهْرِ الْمَاضِي.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travelled last month.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al-māḍī: definite.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نَزَلْنَا مِنْ جَبَلٍ عَالٍ.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came down from a high mountain.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a preposition: hidden.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IS THE YĀʾ 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Hidden or visible yāʾ?</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الْيَاءُ ظَاهِرَةٌ أَمْ مَحْذُوفَةٌ؟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ثَمَنٌ غَالٍ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الثَّمَنُ الْغَالِي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صَوْتٌ عَالٍ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صَوْتًا عَالِيًا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نَادٍ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النَّادِي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رَجُلٌ رَاضٍ</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امْرَأَةٌ رَاضِيَةٌ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yāʾ hidden (-in)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yāʾ visible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yāʾ hidden (-in)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ثَمَنٌ غَالٍ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صَوْتٌ عَالٍ</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نَادٍ</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رَجُلٌ رَاضٍ</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yāʾ visible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الثَّمَنُ الْغَالِي</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صَوْتًا عَالِيًا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النَّادِي</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امْرَأَةٌ رَاضِيَةٌ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ONE WORD, FOUR SHAPES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أَكْمِلِ الْأَشْكَالَ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34272" y="1810512"/>
            <a:ext cx="2624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a:t>
            </a:r>
            <a:endParaRPr lang="en-US" sz="1100" dirty="0"/>
          </a:p>
        </p:txBody>
      </p:sp>
      <p:sp>
        <p:nvSpPr>
          <p:cNvPr id="17" name="Text 14"/>
          <p:cNvSpPr txBox="1"/>
          <p:nvPr/>
        </p:nvSpPr>
        <p:spPr>
          <a:xfrm>
            <a:off x="6199632"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 … (object)</a:t>
            </a:r>
            <a:endParaRPr lang="en-US" sz="1100" dirty="0"/>
          </a:p>
        </p:txBody>
      </p:sp>
      <p:sp>
        <p:nvSpPr>
          <p:cNvPr id="18" name="Text 15"/>
          <p:cNvSpPr txBox="1"/>
          <p:nvPr/>
        </p:nvSpPr>
        <p:spPr>
          <a:xfrm>
            <a:off x="3364992"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a:t>
            </a:r>
            <a:endParaRPr lang="en-US" sz="1100" dirty="0"/>
          </a:p>
        </p:txBody>
      </p:sp>
      <p:sp>
        <p:nvSpPr>
          <p:cNvPr id="19" name="Text 16"/>
          <p:cNvSpPr txBox="1"/>
          <p:nvPr/>
        </p:nvSpPr>
        <p:spPr>
          <a:xfrm>
            <a:off x="530352"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 … (subject)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052560" y="2267712"/>
            <a:ext cx="2587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غَالِيَةٌ</a:t>
            </a:r>
            <a:endParaRPr lang="ar-SA" sz="2400" dirty="0"/>
          </a:p>
        </p:txBody>
      </p:sp>
      <p:sp>
        <p:nvSpPr>
          <p:cNvPr id="22" name="Text 19"/>
          <p:cNvSpPr txBox="1"/>
          <p:nvPr/>
        </p:nvSpPr>
        <p:spPr>
          <a:xfrm>
            <a:off x="6217920" y="2267712"/>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غَالِيًا</a:t>
            </a:r>
            <a:endParaRPr lang="ar-SA" sz="2400" dirty="0"/>
          </a:p>
        </p:txBody>
      </p:sp>
      <p:sp>
        <p:nvSpPr>
          <p:cNvPr id="23" name="Text 20"/>
          <p:cNvSpPr txBox="1"/>
          <p:nvPr/>
        </p:nvSpPr>
        <p:spPr>
          <a:xfrm>
            <a:off x="3383280" y="2267712"/>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الْغَالِي</a:t>
            </a:r>
            <a:endParaRPr lang="ar-SA" sz="2400" dirty="0"/>
          </a:p>
        </p:txBody>
      </p:sp>
      <p:sp>
        <p:nvSpPr>
          <p:cNvPr id="24" name="Text 21"/>
          <p:cNvSpPr txBox="1"/>
          <p:nvPr/>
        </p:nvSpPr>
        <p:spPr>
          <a:xfrm>
            <a:off x="548640" y="2267712"/>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غَالٍ</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052560" y="3004718"/>
            <a:ext cx="2587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رَاضِيَةٌ</a:t>
            </a:r>
            <a:endParaRPr lang="ar-SA" sz="2400" dirty="0"/>
          </a:p>
        </p:txBody>
      </p:sp>
      <p:sp>
        <p:nvSpPr>
          <p:cNvPr id="29" name="Text 26"/>
          <p:cNvSpPr txBox="1"/>
          <p:nvPr/>
        </p:nvSpPr>
        <p:spPr>
          <a:xfrm>
            <a:off x="6217920" y="3004718"/>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رَاضِيًا</a:t>
            </a:r>
            <a:endParaRPr lang="ar-SA" sz="2400" dirty="0"/>
          </a:p>
        </p:txBody>
      </p:sp>
      <p:sp>
        <p:nvSpPr>
          <p:cNvPr id="30" name="Text 27"/>
          <p:cNvSpPr txBox="1"/>
          <p:nvPr/>
        </p:nvSpPr>
        <p:spPr>
          <a:xfrm>
            <a:off x="3383280" y="3004718"/>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الرَّاضِي</a:t>
            </a:r>
            <a:endParaRPr lang="ar-SA" sz="2400" dirty="0"/>
          </a:p>
        </p:txBody>
      </p:sp>
      <p:sp>
        <p:nvSpPr>
          <p:cNvPr id="31" name="Text 28"/>
          <p:cNvSpPr txBox="1"/>
          <p:nvPr/>
        </p:nvSpPr>
        <p:spPr>
          <a:xfrm>
            <a:off x="548640" y="3004718"/>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رَاضٍ</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052560" y="3741725"/>
            <a:ext cx="2587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عَالِيَةٌ</a:t>
            </a:r>
            <a:endParaRPr lang="ar-SA" sz="2400" dirty="0"/>
          </a:p>
        </p:txBody>
      </p:sp>
      <p:sp>
        <p:nvSpPr>
          <p:cNvPr id="36" name="Text 33"/>
          <p:cNvSpPr txBox="1"/>
          <p:nvPr/>
        </p:nvSpPr>
        <p:spPr>
          <a:xfrm>
            <a:off x="6217920" y="3741725"/>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عَالِيًا</a:t>
            </a:r>
            <a:endParaRPr lang="ar-SA" sz="2400" dirty="0"/>
          </a:p>
        </p:txBody>
      </p:sp>
      <p:sp>
        <p:nvSpPr>
          <p:cNvPr id="37" name="Text 34"/>
          <p:cNvSpPr txBox="1"/>
          <p:nvPr/>
        </p:nvSpPr>
        <p:spPr>
          <a:xfrm>
            <a:off x="3383280" y="3741725"/>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الْعَالِي</a:t>
            </a:r>
            <a:endParaRPr lang="ar-SA" sz="2400" dirty="0"/>
          </a:p>
        </p:txBody>
      </p:sp>
      <p:sp>
        <p:nvSpPr>
          <p:cNvPr id="38" name="Text 35"/>
          <p:cNvSpPr txBox="1"/>
          <p:nvPr/>
        </p:nvSpPr>
        <p:spPr>
          <a:xfrm>
            <a:off x="548640" y="3741725"/>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عَالٍ</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052560" y="4478731"/>
            <a:ext cx="2587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مَاضِيَةٌ</a:t>
            </a:r>
            <a:endParaRPr lang="ar-SA" sz="2400" dirty="0"/>
          </a:p>
        </p:txBody>
      </p:sp>
      <p:sp>
        <p:nvSpPr>
          <p:cNvPr id="43" name="Text 40"/>
          <p:cNvSpPr txBox="1"/>
          <p:nvPr/>
        </p:nvSpPr>
        <p:spPr>
          <a:xfrm>
            <a:off x="6217920" y="4478731"/>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مَاضِيًا</a:t>
            </a:r>
            <a:endParaRPr lang="ar-SA" sz="2400" dirty="0"/>
          </a:p>
        </p:txBody>
      </p:sp>
      <p:sp>
        <p:nvSpPr>
          <p:cNvPr id="44" name="Text 41"/>
          <p:cNvSpPr txBox="1"/>
          <p:nvPr/>
        </p:nvSpPr>
        <p:spPr>
          <a:xfrm>
            <a:off x="3383280" y="4478731"/>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الْمَاضِي</a:t>
            </a:r>
            <a:endParaRPr lang="ar-SA" sz="2400" dirty="0"/>
          </a:p>
        </p:txBody>
      </p:sp>
      <p:sp>
        <p:nvSpPr>
          <p:cNvPr id="45" name="Text 42"/>
          <p:cNvSpPr txBox="1"/>
          <p:nvPr/>
        </p:nvSpPr>
        <p:spPr>
          <a:xfrm>
            <a:off x="548640" y="4478731"/>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مَاضٍ</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052560" y="5215738"/>
            <a:ext cx="2587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بَاقِيَةٌ</a:t>
            </a:r>
            <a:endParaRPr lang="ar-SA" sz="2400" dirty="0"/>
          </a:p>
        </p:txBody>
      </p:sp>
      <p:sp>
        <p:nvSpPr>
          <p:cNvPr id="48" name="Text 45"/>
          <p:cNvSpPr txBox="1"/>
          <p:nvPr/>
        </p:nvSpPr>
        <p:spPr>
          <a:xfrm>
            <a:off x="6217920" y="5215738"/>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بَاقِيًا</a:t>
            </a:r>
            <a:endParaRPr lang="ar-SA" sz="2400" dirty="0"/>
          </a:p>
        </p:txBody>
      </p:sp>
      <p:sp>
        <p:nvSpPr>
          <p:cNvPr id="49" name="Text 46"/>
          <p:cNvSpPr txBox="1"/>
          <p:nvPr/>
        </p:nvSpPr>
        <p:spPr>
          <a:xfrm>
            <a:off x="3383280" y="5215738"/>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الْبَاقِي</a:t>
            </a:r>
            <a:endParaRPr lang="ar-SA" sz="2400" dirty="0"/>
          </a:p>
        </p:txBody>
      </p:sp>
      <p:sp>
        <p:nvSpPr>
          <p:cNvPr id="50" name="Text 47"/>
          <p:cNvSpPr txBox="1"/>
          <p:nvPr/>
        </p:nvSpPr>
        <p:spPr>
          <a:xfrm>
            <a:off x="548640" y="5215738"/>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بَاقٍ</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Cover all but the first column. Students build the other three, saying each aloud.</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قَمِيصٌ غَالِيٌ.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-un or -in?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الْجَبَلُ الْعَالِ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there 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اشْتَرَيْتُ قَمِيصًا غَالٍ.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it an object?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قَمِيصٌ غَالِيٌ.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هَذَا قَمِيصٌ غَالٍ.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Indefinite nominative → hidden yāʾ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الْجَبَلُ الْعَالِ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الْجَبَلُ الْعَالِي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Definite → the yāʾ returns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اشْتَرَيْتُ قَمِيصًا غَالٍ.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اشْتَرَيْتُ قَمِيصًا غَالِيًا.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Accusative → the yāʾ returns.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an expensive hotel”.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فُنْدُقٍ غَالِي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فُنْدُقٍ غَالِيٍ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فُنْدُقٍ غَالٍ</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past year”.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السَّنَةُ الْمَاضِي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السَّنَةُ الْمَاضِيَةُ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السَّنَةُ مَاضٍ</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is satisfied.”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رَاضِيٌ.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رَاضٍ.</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الرَّاضِي.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heard a loud (high) voice.”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سَمِعْتُ صَوْتًا عَالٍ.</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سَمِعْتُ صَوْتٌ عَالٍ.</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سَمِعْتُ صَوْتًا عَالِيًا.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an expensive hotel”.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فُنْدُقٍ غَالِي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فُنْدُقٍ غَالِيٍ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فُنْدُقٍ غَالٍ</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Genitive indefinite → hidden.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past year”.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السَّنَةُ الْمَاضِي</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السَّنَةُ الْمَاضِيَةُ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السَّنَةُ مَاضٍ</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 definite.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is satisfied.”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رَاضِيٌ.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رَاضٍ.</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الرَّاضِي.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Indefinite predicate → hidden.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heard a loud (high) voice.”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سَمِعْتُ صَوْتًا عَالٍ.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سَمِعْتُ صَوْتٌ عَالٍ.</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سَمِعْتُ صَوْتًا عَالِيًا.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Object → yāʾ returns.</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ea typeface="Calibri" pitchFamily="34" charset="-122"/>
                <a:cs typeface="Calibri" pitchFamily="34" charset="-120"/>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Shopping in my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مَدِينَتِي أَمَاكِنُ جَمِيلَةٌ وَشَوَارِعُ وَاسِعَةٌ. هَذِهِ الْمَدْرَسَةُ الْجَدِيدَةُ قَرِيبَةٌ، وَذَلِكَ الْمَتْحَفُ الْقَدِيمُ مُثِيرٌ لِلِاهْتِمَامِ. فِي السُّوقِ مَحَلٌّ غَالٍ، وَفِيهِ الْمَلَابِسُ الْغَالِيَةُ. فِي الشَّهْرِ الْمَاضِي اشْتَرَيْتُ مِنْهُ قَمِيصًا غَالِيًا، لَكِنِّي لَسْتُ رَاضِيًا عَنْهُ!</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مُثِيرٌ لِلِاهْتِمَامِ</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interesting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مَحَلٌّ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shop</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الْمَلَابِسُ</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clothes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اشْتَرَيْتُ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bought</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لَسْتُ</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am not</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عَنْهُ</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 it</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yāʾ hidden in the shop phrase?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feminine.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indefinite and nominative.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yāʾ visible in the clothes phrase?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an object.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plural people.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feminine (and definite).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قَمِيصًا غَالِيًا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object of “I bought”.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after a preposition.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definite.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رَاضِيًا</a:t>
            </a:r>
            <a:pPr algn="l" indent="0" marL="0">
              <a:buNone/>
            </a:pPr>
            <a:r>
              <a:rPr lang="en-US" sz="1250" b="1" dirty="0">
                <a:solidFill>
                  <a:srgbClr val="1B3B6F"/>
                </a:solidFill>
                <a:latin typeface="Calibri" pitchFamily="34" charset="0"/>
                <a:ea typeface="Calibri" pitchFamily="34" charset="-122"/>
                <a:cs typeface="Calibri" pitchFamily="34" charset="-120"/>
              </a:rPr>
              <a:t> after </a:t>
            </a:r>
            <a:pPr algn="l" indent="0" marL="0">
              <a:buNone/>
            </a:pPr>
            <a:r>
              <a:rPr lang="ar-SA" altLang="en-US" sz="1650" b="1" dirty="0">
                <a:solidFill>
                  <a:srgbClr val="1B3B6F"/>
                </a:solidFill>
                <a:latin typeface="Amiri" pitchFamily="34" charset="0"/>
                <a:ea typeface="Amiri" pitchFamily="34" charset="-122"/>
                <a:cs typeface="Amiri" pitchFamily="34" charset="-120"/>
              </a:rPr>
              <a:t>لَسْتُ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feminine.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Laysa makes its predicate accusative.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definite.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yāʾ hidden in the shop phrase?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feminine.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indefinite and nominative.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kitābun ghālin pattern.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yāʾ visible in the clothes phrase?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an object.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plural people.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feminine (and definite).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yāʾ +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قَمِيصًا غَالِيًا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the object of “I bought”.</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after a preposition.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definite.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Accusative → yāʾ visible.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t>
            </a:r>
            <a:pPr algn="l" indent="0" marL="0">
              <a:buNone/>
            </a:pPr>
            <a:r>
              <a:rPr lang="ar-SA" altLang="en-US" sz="1650" b="1" dirty="0">
                <a:solidFill>
                  <a:srgbClr val="1B3B6F"/>
                </a:solidFill>
                <a:latin typeface="Amiri" pitchFamily="34" charset="0"/>
                <a:ea typeface="Amiri" pitchFamily="34" charset="-122"/>
                <a:cs typeface="Amiri" pitchFamily="34" charset="-120"/>
              </a:rPr>
              <a:t>رَاضِيًا</a:t>
            </a:r>
            <a:pPr algn="l" indent="0" marL="0">
              <a:buNone/>
            </a:pPr>
            <a:r>
              <a:rPr lang="en-US" sz="1250" b="1" dirty="0">
                <a:solidFill>
                  <a:srgbClr val="1B3B6F"/>
                </a:solidFill>
                <a:latin typeface="Calibri" pitchFamily="34" charset="0"/>
                <a:ea typeface="Calibri" pitchFamily="34" charset="-122"/>
                <a:cs typeface="Calibri" pitchFamily="34" charset="-120"/>
              </a:rPr>
              <a:t> after </a:t>
            </a:r>
            <a:pPr algn="l" indent="0" marL="0">
              <a:buNone/>
            </a:pPr>
            <a:r>
              <a:rPr lang="ar-SA" altLang="en-US" sz="1650" b="1" dirty="0">
                <a:solidFill>
                  <a:srgbClr val="1B3B6F"/>
                </a:solidFill>
                <a:latin typeface="Amiri" pitchFamily="34" charset="0"/>
                <a:ea typeface="Amiri" pitchFamily="34" charset="-122"/>
                <a:cs typeface="Amiri" pitchFamily="34" charset="-120"/>
              </a:rPr>
              <a:t>لَسْتُ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feminine.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Laysa makes its predicate accusative.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definite.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Stretch: laysa + -an → yāʾ visible.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prices and opinions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الشَّيْءُ الْغَالِي فِي بَيْتِكُمْ؟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اشْتَرَيْتَ فِي الشَّهْرِ الْمَاضِي؟ هَلْ كَانَ غَالِيًا؟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أَنْتَ رَاضٍ عَنْ مُسْتَوَاكَ فِي الْعَرَبِيَّةِ؟ 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الشَّيْءُ الْغَالِي فِي بَيْتِنَا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الشَّهْرِ الْمَاضِي اشْتَرَيْتُ ___ غَالِيًا.</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أَنَا رَاضٍ / رَاضِيَةٌ عَنْ ___ لِأَنَّ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أَنْتِ رَاضِيَةٌ عَنْ نَتِيجَتِكِ؟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Are you pleased with your result?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 أَنَا رَاضِيَةٌ، لَكِنَّ أَبِي يُرِيدُ دَرَجَةً عَالِيَةً جِدًّا!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Yes, I am pleased, but my father wants a very high mark!</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expensive and high things with ghālin / al-ghālī / ʿālin.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Indefinite → -in; with al- → -ī.</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objects (ghāliyan) and feminine nouns (ghāliya).</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four-shape table.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a shopping trip last month, with māḍin / al-māḍī and rāḍin.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Am I satisfied? Was it expensive?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الْأُسْبُوعِ ______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Last week I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اشْتَرَيْتُ ______ غَالِيًا.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bought an expensive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رَاضٍ عَنْ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satisfied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أُمِّي رَاضِيَةٌ عَنْ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mother is satisfied with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هَاتِفٌ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an expensive phone.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الْهَاتِفُ ______ جَمِيلٌ.</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expensive phone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حَقِيبَةٌ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an expensive bag.</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ذَلِكَ جَبَلٌ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That is a high mountain.</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غَالٍ  ·  الْغَالِي  ·  غَالِيًا  ·  غَالِيَةٌ  ·  عَالٍ  ·  الْعَالِي  ·  عَالِيَةٌ  ·  رَاضٍ  ·  رَاضِيَةٌ  ·  الْمَاضِي  ·  الْمَاضِيَةِ  ·  رَخِيصٌ</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extended writing workshop: 90–120 words about a shopping trip or a special purchase, with at least eight target adjective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indefinite defective adjectives with hidden yāʾ (-in).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definite forms with -ī.</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indefinite object with -iyan.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feminine forms with -iya.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Last week / last month with al-māḍī / al-māḍiya.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الشَّهْرِ الْمَاضِي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last month</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السَّنَةِ الْمَاضِيَةِ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last year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الثَّمَنُ غَالِيًا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price was expensive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رَاضٍ عَنْ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am satisfied with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بِصَوْتٍ عَالٍ</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a loud voice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الْوَقْتُ الْبَاقِي</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remaining time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الشَّهْرِ الْمَاضِي ذَهَبْتُ مَعَ أُمِّي إِلَى مَرْكَزِ تَسَوُّقٍ كَبِيرٍ. كُلُّ شَيْءٍ هُنَاكَ غَالٍ! رَأَيْتُ حِذَاءً رِيَاضِيًّا غَالِيًا جِدًّا، وَحَقِيبَةً غَالِيَةً لِأُخْتِي. فِي النِّهَايَةِ اشْتَرَيْتُ الْقَمِيصَ الْأَرْخَصَ، لَا الْقَمِيصَ الْغَالِي. أُمِّي كَانَتْ رَاضِيَةً، وَأَنَا رَاضٍ أَيْضًا.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Last month I went with my mother to a big shopping centre. Everything there is expensive! I saw some very expensive trainers and an expensive bag for my sister. In the end I bought the cheaper shirt, not the expensive shirt. My mother was pleased, and I am pleased too.</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hidden yāʾ (-in)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visible -ī</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-iyan object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feminine -iya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Indefinite subject / after a preposition: -in, no yāʾ.</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With al-: the yāʾ is written.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Indefinite object: -iyan.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Feminine: -iya with tāʾ marbūṭa.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al-māḍī or a noun like an-nādī.</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 expensive car (f.)”.</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سَيَّارَةٌ غَالِيَةٌ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سَيَّارَةٌ غَالٍ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سَيَّارَةٌ غَالِيٌ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high mountain”.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الْجَبَلُ الْعَالِ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الْجَبَلُ الْعَالِي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الْجَبَلُ عَالٍ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an expensive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كِتَابٌ غَالٍ.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كِتَابٌ غَالِيٌ.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كِتَابٌ غَالِيًا.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“an expensive car (f.)”.</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سَيَّارَةٌ غَالِيَةٌ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سَيَّارَةٌ غَالٍ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سَيَّارَةٌ غَالِيٌ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yāʾ +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high mountain”.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الْجَبَلُ الْعَالِ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الْجَبَلُ الْعَالِي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الْجَبَلُ عَالٍ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Definite → -ī.</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is an expensive book.”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هَذَا كِتَابٌ غَالٍ.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كِتَابٌ غَالِيٌ.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كِتَابٌ غَالِيًا.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Indefinite nominative → hidden yāʾ.</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GM-ADJ-08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GM-ADJ-09: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Adjectives · GM-ADJ-08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GM-ADJ-09 · Nisba Adjectives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مِصْرِيٌّ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Egyptian (m.)</a:t>
            </a:r>
            <a:pPr indent="0" marL="0">
              <a:buNone/>
            </a:pPr>
            <a:r>
              <a:rPr lang="en-US" sz="1000" i="1" dirty="0">
                <a:solidFill>
                  <a:srgbClr val="5A6472"/>
                </a:solidFill>
                <a:latin typeface="Calibri" pitchFamily="34" charset="0"/>
                <a:ea typeface="Calibri" pitchFamily="34" charset="-122"/>
                <a:cs typeface="Calibri" pitchFamily="34" charset="-120"/>
              </a:rPr>
              <a:t>  f. مِصْرِيَّةٌ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عَرَبِيٌّ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Arab, Arabic (m.)</a:t>
            </a:r>
            <a:pPr indent="0" marL="0">
              <a:buNone/>
            </a:pPr>
            <a:r>
              <a:rPr lang="en-US" sz="1000" i="1" dirty="0">
                <a:solidFill>
                  <a:srgbClr val="5A6472"/>
                </a:solidFill>
                <a:latin typeface="Calibri" pitchFamily="34" charset="0"/>
                <a:ea typeface="Calibri" pitchFamily="34" charset="-122"/>
                <a:cs typeface="Calibri" pitchFamily="34" charset="-120"/>
              </a:rPr>
              <a:t>  f. عَرَبِيَّةٌ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بِرِيطَانِيٌّ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British (m.)</a:t>
            </a:r>
            <a:pPr indent="0" marL="0">
              <a:buNone/>
            </a:pPr>
            <a:r>
              <a:rPr lang="en-US" sz="1000" i="1" dirty="0">
                <a:solidFill>
                  <a:srgbClr val="5A6472"/>
                </a:solidFill>
                <a:latin typeface="Calibri" pitchFamily="34" charset="0"/>
                <a:ea typeface="Calibri" pitchFamily="34" charset="-122"/>
                <a:cs typeface="Calibri" pitchFamily="34" charset="-120"/>
              </a:rPr>
              <a:t>  f. بِرِيطَانِيَّةٌ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شَمَالِيٌّ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northern</a:t>
            </a:r>
            <a:pPr indent="0" marL="0">
              <a:buNone/>
            </a:pPr>
            <a:r>
              <a:rPr lang="en-US" sz="1000" i="1" dirty="0">
                <a:solidFill>
                  <a:srgbClr val="5A6472"/>
                </a:solidFill>
                <a:latin typeface="Calibri" pitchFamily="34" charset="0"/>
                <a:ea typeface="Calibri" pitchFamily="34" charset="-122"/>
                <a:cs typeface="Calibri" pitchFamily="34" charset="-120"/>
              </a:rPr>
              <a:t>  from شَمَالٌ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تَارِيخِيٌّ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historical</a:t>
            </a:r>
            <a:pPr indent="0" marL="0">
              <a:buNone/>
            </a:pPr>
            <a:r>
              <a:rPr lang="en-US" sz="1000" i="1" dirty="0">
                <a:solidFill>
                  <a:srgbClr val="5A6472"/>
                </a:solidFill>
                <a:latin typeface="Calibri" pitchFamily="34" charset="0"/>
                <a:ea typeface="Calibri" pitchFamily="34" charset="-122"/>
                <a:cs typeface="Calibri" pitchFamily="34" charset="-120"/>
              </a:rPr>
              <a:t>  from تَارِيخٌ</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From Miṣr (Egypt) we get miṣriyy (Egyptian). What is the ending? How would you say “Pakistani” or “Moroccan”?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مِصْرُ · مِصْرِيٌّ — بَاكِسْتَانُ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the four shapes of ghālin, rāḍin and ʿālin.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eight sentences using the four shapes.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workshop about a shopping trip.</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GM-ADJ-08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GM-ADJ-09 · Nisba Adjectives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صِفَاتُ النِّسْبَةِ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 yāʾ hides behind -un / -in (ghālin) · it comes back with al- (al-ghālī), with -an (ghāliyan) and before </a:t>
            </a:r>
            <a:pPr algn="l" indent="0" marL="0">
              <a:buNone/>
            </a:pPr>
            <a:r>
              <a:rPr lang="ar-SA" altLang="en-US" sz="1700" b="1" dirty="0">
                <a:solidFill>
                  <a:srgbClr val="FFFFFF"/>
                </a:solidFill>
                <a:latin typeface="Amiri" pitchFamily="34" charset="0"/>
                <a:ea typeface="Amiri" pitchFamily="34" charset="-122"/>
                <a:cs typeface="Amiri" pitchFamily="34" charset="-120"/>
              </a:rPr>
              <a:t>ة</a:t>
            </a:r>
            <a:pPr algn="l" indent="0" marL="0">
              <a:buNone/>
            </a:pPr>
            <a:r>
              <a:rPr lang="en-US" sz="1300" b="1" dirty="0">
                <a:solidFill>
                  <a:srgbClr val="FFFFFF"/>
                </a:solidFill>
                <a:latin typeface="Calibri" pitchFamily="34" charset="0"/>
                <a:ea typeface="Calibri" pitchFamily="34" charset="-122"/>
                <a:cs typeface="Calibri" pitchFamily="34" charset="-120"/>
              </a:rPr>
              <a:t> (ghāliya).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GM-ADJ-08 · Defective Adjectives</dc:title>
  <dc:subject>PptxGenJS Presentation</dc:subject>
  <dc:creator>Al Madina Online School · Arabic Department</dc:creator>
  <cp:lastModifiedBy>Al Madina Online School · Arabic Department</cp:lastModifiedBy>
  <cp:revision>1</cp:revision>
  <dcterms:created xsi:type="dcterms:W3CDTF">2026-10-03T16:20:36Z</dcterms:created>
  <dcterms:modified xsi:type="dcterms:W3CDTF">2026-10-03T16:20:36Z</dcterms:modified>
</cp:coreProperties>
</file>