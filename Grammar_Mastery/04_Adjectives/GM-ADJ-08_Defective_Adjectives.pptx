
<file path=[Content_Types].xml><?xml version="1.0" encoding="utf-8"?>
<Types xmlns="http://schemas.openxmlformats.org/package/2006/content-types">
  <Default Extension="fntdata" ContentType="application/x-fontdata"/>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Lst>
  <p:notesMasterIdLst>
    <p:notesMasterId r:id="rId36"/>
  </p:notesMasterIdLst>
  <p:sldSz cx="12192000" cy="6858000"/>
  <p:notesSz cx="6858000" cy="12192000"/>
  <p:embeddedFontLst>
    <p:embeddedFont>
      <p:font typeface="Amiri" pitchFamily="2" charset="-78"/>
      <p:regular r:id="rIdFont1"/>
      <p:bold r:id="rIdFont2"/>
    </p:embeddedFont>
  </p:embeddedFontLst>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notesMaster" Target="notesMasters/notesMaster1.xml"/><Relationship Id="rId37" Type="http://schemas.openxmlformats.org/officeDocument/2006/relationships/presProps" Target="presProps.xml"/><Relationship Id="rId38" Type="http://schemas.openxmlformats.org/officeDocument/2006/relationships/viewProps" Target="viewProps.xml"/><Relationship Id="rId39" Type="http://schemas.openxmlformats.org/officeDocument/2006/relationships/theme" Target="theme/theme1.xml"/><Relationship Id="rId40" Type="http://schemas.openxmlformats.org/officeDocument/2006/relationships/tableStyles" Target="tableStyles.xml"/><Relationship Id="rIdFont1" Type="http://schemas.openxmlformats.org/officeDocument/2006/relationships/font" Target="fonts/font1.fntdata"/><Relationship Id="rIdFont2" Type="http://schemas.openxmlformats.org/officeDocument/2006/relationships/font" Target="fonts/font2.fntdata"/></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cs typeface="Amiri" pitchFamily="2" charset="-78"/>
      </a:defRPr>
    </a:lvl1pPr>
    <a:lvl2pPr marL="457200" algn="l" defTabSz="914400" rtl="0" eaLnBrk="1" latinLnBrk="0" hangingPunct="1">
      <a:defRPr sz="1200" kern="1200">
        <a:solidFill>
          <a:schemeClr val="tx1"/>
        </a:solidFill>
        <a:latin typeface="+mn-lt"/>
        <a:cs typeface="Amiri" pitchFamily="2" charset="-78"/>
      </a:defRPr>
    </a:lvl2pPr>
    <a:lvl3pPr marL="914400" algn="l" defTabSz="914400" rtl="0" eaLnBrk="1" latinLnBrk="0" hangingPunct="1">
      <a:defRPr sz="1200" kern="1200">
        <a:solidFill>
          <a:schemeClr val="tx1"/>
        </a:solidFill>
        <a:latin typeface="+mn-lt"/>
        <a:cs typeface="Amiri" pitchFamily="2" charset="-78"/>
      </a:defRPr>
    </a:lvl3pPr>
    <a:lvl4pPr marL="1371600" algn="l" defTabSz="914400" rtl="0" eaLnBrk="1" latinLnBrk="0" hangingPunct="1">
      <a:defRPr sz="1200" kern="1200">
        <a:solidFill>
          <a:schemeClr val="tx1"/>
        </a:solidFill>
        <a:latin typeface="+mn-lt"/>
        <a:cs typeface="Amiri" pitchFamily="2" charset="-78"/>
      </a:defRPr>
    </a:lvl4pPr>
    <a:lvl5pPr marL="1828800" algn="l" defTabSz="914400" rtl="0" eaLnBrk="1" latinLnBrk="0" hangingPunct="1">
      <a:defRPr sz="1200" kern="1200">
        <a:solidFill>
          <a:schemeClr val="tx1"/>
        </a:solidFill>
        <a:latin typeface="+mn-lt"/>
        <a:cs typeface="Amiri" pitchFamily="2" charset="-78"/>
      </a:defRPr>
    </a:lvl5pPr>
    <a:lvl6pPr marL="2286000" algn="l" defTabSz="914400" rtl="0" eaLnBrk="1" latinLnBrk="0" hangingPunct="1">
      <a:defRPr sz="1200" kern="1200">
        <a:solidFill>
          <a:schemeClr val="tx1"/>
        </a:solidFill>
        <a:latin typeface="+mn-lt"/>
        <a:cs typeface="Amiri" pitchFamily="2" charset="-78"/>
      </a:defRPr>
    </a:lvl6pPr>
    <a:lvl7pPr marL="2743200" algn="l" defTabSz="914400" rtl="0" eaLnBrk="1" latinLnBrk="0" hangingPunct="1">
      <a:defRPr sz="1200" kern="1200">
        <a:solidFill>
          <a:schemeClr val="tx1"/>
        </a:solidFill>
        <a:latin typeface="+mn-lt"/>
        <a:cs typeface="Amiri" pitchFamily="2" charset="-78"/>
      </a:defRPr>
    </a:lvl7pPr>
    <a:lvl8pPr marL="3200400" algn="l" defTabSz="914400" rtl="0" eaLnBrk="1" latinLnBrk="0" hangingPunct="1">
      <a:defRPr sz="1200" kern="1200">
        <a:solidFill>
          <a:schemeClr val="tx1"/>
        </a:solidFill>
        <a:latin typeface="+mn-lt"/>
        <a:cs typeface="Amiri" pitchFamily="2" charset="-78"/>
      </a:defRPr>
    </a:lvl8pPr>
    <a:lvl9pPr marL="3657600" algn="l" defTabSz="914400" rtl="0" eaLnBrk="1" latinLnBrk="0" hangingPunct="1">
      <a:defRPr sz="1200" kern="1200">
        <a:solidFill>
          <a:schemeClr val="tx1"/>
        </a:solidFill>
        <a:latin typeface="+mn-lt"/>
        <a:cs typeface="Amiri" pitchFamily="2" charset="-78"/>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LESSON AT A GLANCE — planned for 56 minutes, leaving about 4 minutes for Teams delays.
0–1 Welcome · 1–2 Lesson map · 2–9 Do Now + answers · 9–10 Objectives · 10–13 Grammar words · 13–24 The grammar, step by step · 24–26 Quick check · 26–29 I Do · 29–38 We Do (sort, repair, practise) · 38–49 You Do (read, speak, write on your route) · 49–54 Feedback (model, self-check, exit ticket) · 54–56 Preparation.
FLEX slides are optional: use them if the class is moving quickly; otherwise the same activities are on the website for homework.
Content source: Miftah Arabic website, Mastery &amp; Revision › Grammar › Adjectives › GM-ADJ-08 (“Defective Adjectives such as غَالٍ and رَاضٍ”). The Do Now, quick check, game practice, exit ticket and mastery check are the website’s own quizzes; the reading text, speaking and writing tasks are the website’s four-skills application. Explanation slides, worked examples, sorter, repair items, frames and model translations are teacher-made on the website rules and labelled in the notes.
SUPPORT FOR THIS CLASS (Arabic not yet secure; mixed levels):
• Core: three shapes of one word — غَالٍ (a … , subject or after a preposition) · الْغَالِي (with al-) · غَالِيَةٌ (feminine). Develop: the accusative brings the yāʾ back (كِتَابًا غَالِيًا). Stretch: the same pattern in nouns (نَادٍ / النَّادِي · وَادٍ / الْوَادِي · الْمَاضِي) and the masculine plural (رَاضُونَ).
• Pronunciation first: say ghālin with a clear -in; then al-ghālī with a long -ī. Students hear the difference before they write it.
• Common vocabulary: غَالٍ expensive · رَاضٍ satisfied · عَالٍ high · مَاضٍ past · بَاقٍ remaining · هَادٍ guiding (recognition).
• Grammar words are always given in English AND Arabic: students should be able to name the rule, not just apply it.
• Colour code (same as all Miftah lessons): WHO = blue, MEANING = purple, ENDING = pink, PATTERN = orange, KEY WORD = teal.
• SEND “automatic doors”: lesson map, chunked tasks, worked examples before practice, cover-the-text reading and “pass” for reading aloud are built in for everyone.
ROUTES: Core (green) = students whose Arabic is not yet secure; Develop (amber) = on track; Stretch (red) = confident. Same objective for everyone — the task changes, not the goal.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WELCOME (1 min) — while students join.
• Greet each student by name as they arrive: السَّلَامُ عَلَيْكُمْ. Take the register (Pastoral Tracker: attendance 0/1).
• 2-MINUTE CHECK-IN (SEND training): a private chat to any student who seemed unsettled last lesson — “Are you okay today? 👍 / 👎”.
• Point to the four expectations — brief and positive: this is our class agreement.
• Talk code: “I will always give you thinking and practice time before I ask anyone.” Reading aloud is by invitation — a student may say “pass” and you return to them later.
• Follow-up on preparation: who learnt the five words? Quick private reminder to anyone who did not (Flipped Learning: follow up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MAP (30 seconds) — SEND training: “absolute predictability”. Show the whole journey so students know what is coming and when they will be asked to speak or write. Point to the green box: using the Core supports is normal and expected (“automatic doors”).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(5 min independent + 2 min going through answers).
The website Entry Check (all five questions) — it uses the defective words prepared at the end of GM-ADJ-07.
• Students work silently. Answers go in the chat as five letters only when the timer ends.
• Core students may answer in English and use their book.
• While they work: register, note late joiners, note anyone not attempting (Self-Management).
• Go THROUGH the answers on the next slide — ask one student (after thinking time) to explain WHY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(2 min). Reveal and ask “why?” for each (● 10s think → named student, warned in advance).
Key idea for today (bottom-right card): The final yāʾ hides in “a … ” (subject or after a preposition): ghālin. It comes back with al-, in the object, and before tāʾ marbūṭa.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OBJECTIVES (1 min).
Left: the lesson objectives exactly as they appear on the website.
Right: the same objectives broken into three routes. Everyone starts with Core; most students reach Develop; confident students aim for Stretch. Students decide privately which route they are aiming for (● Think 10s) — revisit in Feedback.
Objectives are drawn from the website lesson purpose and its Core / Develop / Stretch routes.
EAL: read the Core statements aloud, pointing to the Arabic as you say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WORDS (3 min). These are the words we use to TALK ABOUT the grammar. Hear → Say → See → Use:
say each term twice, class repeats, point to the example on the card, then ask “Which word means …?” (chat the number).
Core students learn the English name and recognise the Arabic; Develop/Stretch use the Arabic term when explaining a rule.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1 (3 min) — website “What is a defective adjective?”. Say ghālin / rāḍin / ʿālin aloud with a strong final -in before writing.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2 (4 min) — website “When the yāʾ returns”. Gesture: hand covering the yāʾ for rows 1–2, hand lifting away for rows 3–5.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3 (3 min) — website “Feminine forms”, plus teacher-added nouns and the plural for Stretch recognition.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CHECK FOR UNDERSTANDING (2 min) — teacher-written hinge questions on the website’s three steps.
● Think 20s silently → everyone types four letters in chat together on “3-2-1-go”. “Show me” alternative: A/B/C fingers to camera (EAL: show, not tell).
Read the chat: if more than a quarter of the class misses a question, re-teach that rule with its grammar slide before moving on (Live feedback: correct misconceptions immediately).
Use the results to confirm routes for the You Do task.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each answer. Ask “Who can build on that?” (+) — a student explains why one wrong option is wrong.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DO (3 min) — think aloud at every step: name the rule in English and Arabic as you apply it.
Colour-code hidden (teal) vs visible (pink). Ask each time: “-un / -in, or al- / -an?”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SENTENCES (1 min). Students copy TWO that are useful for them.
• Core: copy one and change one word. • Develop: copy two and change the noun. • Stretch: combine two into one longer sentence.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 DO (2 min). Students type H or V and give the reason: -un/-in → hidden; al-, -an or ة → visible.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 DO (2 min). Students type H or V and give the reason: -un/-in → hidden; al-, -an or ة → visible.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 DO (2 min). Row 5: bāqin = remaining (الْوَقْتُ الْبَاقِي = the remaining time) — useful for exams.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teacher-written practice on the website rules (FLEX, 2 min). If time is short these are homework on the website.
“Show me” alternative: students hold up A/B/C fingers to camera.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link each to the grammar rule or vocabulary card it tests.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AND NOTICE (3 min) — website reading text, extended by the teacher. Read it aloud once while students follow; then they hunt for today’s grammar.
Task: Website: underline every defective adjective and say whether its yāʾ is hidden or visible — and why.
SEND reading strategy: cover the text and uncover one sentence at a time. Core: use the green glossary.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READING QUESTIONS (3 min). The first two sentences are the website text; the rest is teacher-written. Questions teacher-written.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each answer: a student reads the phrase aloud and names the rule (in English or Arabic).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SPEAKING (3 min) — website speaking task (45–60 seconds). Sequence: ● 10s think → ↔ 45s rehearse aloud with mic muted → ◎ two named students on open mic (warned in advance) → + ? the class types one follow-up in chat → ↺ one student summarises.
Routes: Core uses the Core prompt and stem; Develop the Develop prompt; Stretch the last prompt.
Website: 45–60 seconds with six accurate structures. Boys: أَنَا رَاضٍ (rāḍin); girls: أَنَا رَاضِيَةٌ.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 DO (9 min writing). Steer routes using the Do Now and quick-check results.
Website writing task: Write 90–120 words describing a person, place, object or experience, with at least eight target adjective structures, underlined.
LIVE FEEDBACK: students post their first two sentences in the chat after 3 minutes. Scan and correct the target rule immediately (private chat for individual corrections).
Work with the less able: stay with Core students for the first 3 minutes. SEND: chunk the Core task — “two sentences, then show me”.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on screen during writing — Core students complete the frames on the right; Develop students use the frames on the left.
Frames and word bank use only this lesson’s website language (EAL: sentence frame + word bank scaffold; same objective, adapted task).
EAL Band A–B students: complete three frames, then copy and adapt one model sentence.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Stretch students work from this slide. Checklist = website writing checklist; phrase bank = phrases built on today’s rule.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FEEDBACK (1 min) — teacher model on the website writing workshop, with an English translation for Core students.
Students find in the model (● 20s → ◎) the items on the chips. 
Then each student chooses ONE thing from the model to add to their own writing.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SELF-CHECK (1 min) against the website success criteria. Students tick privately, then type one WWW and one EBI in the chat (English is fine).
Teacher: one whole-class feedback point from live feedback. Pastoral: Curiosity &amp; Growth for honest reflection and a harder target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(2 min) — 3 of the website’s 3 end-of-lesson questions (“Final self-marking check”). The rest are on the website for homework.
Anyone scoring low → Core route next lesson and a check-in during the Do Now. Record Pastoral Tracker points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reveal. Students self-mark and type their score out of 3 in the chat.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PREPARATION — flipped learning (2 min to explain).
Next lesson (GM-ADJ-09 · Nisba Adjectives) will spend class time USING this language, so students prepare it tonight — short, simple, easy to access (school guidance: “Simple, Short, Interesting, Relevant, Easy to access”). The five words prepare GM-ADJ-09 (website Adjectives lesson 9: nisba adjectives).
Follow-up: the next Do Now tests two of these words (Flipped Learning: keep it short AND follow up).
Homework by route (website tasks). No internet? Students copy the five words from this slide into their book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 thank students, dismiss calmly. After the lesson: complete the Pastoral Tracker (attendance, character, self-management, curiosity; demerits only for the five listed concerns). Note any student below 2/3 on the exit ticket for a Do Now check-in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cs typeface="Amiri" pitchFamily="2" charset="-78"/>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cs typeface="Amiri" pitchFamily="2" charset="-78"/>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cs typeface="Amiri" pitchFamily="2" charset="-78"/>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cs typeface="Amiri" pitchFamily="2" charset="-78"/>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9pPr>
    </p:bodyStyle>
    <p:otherStyle>
      <a:defPPr>
        <a:defRPr lang="en-US"/>
      </a:defPPr>
      <a:lvl1pPr marL="0" algn="l" defTabSz="914400" rtl="0" eaLnBrk="1" latinLnBrk="0" hangingPunct="1">
        <a:defRPr sz="1800" kern="1200">
          <a:solidFill>
            <a:schemeClr val="tx1"/>
          </a:solidFill>
          <a:latin typeface="+mn-lt"/>
          <a:cs typeface="Amiri" pitchFamily="2" charset="-78"/>
        </a:defRPr>
      </a:lvl1pPr>
      <a:lvl2pPr marL="457200" algn="l" defTabSz="914400" rtl="0" eaLnBrk="1" latinLnBrk="0" hangingPunct="1">
        <a:defRPr sz="1800" kern="1200">
          <a:solidFill>
            <a:schemeClr val="tx1"/>
          </a:solidFill>
          <a:latin typeface="+mn-lt"/>
          <a:cs typeface="Amiri" pitchFamily="2" charset="-78"/>
        </a:defRPr>
      </a:lvl2pPr>
      <a:lvl3pPr marL="914400" algn="l" defTabSz="914400" rtl="0" eaLnBrk="1" latinLnBrk="0" hangingPunct="1">
        <a:defRPr sz="1800" kern="1200">
          <a:solidFill>
            <a:schemeClr val="tx1"/>
          </a:solidFill>
          <a:latin typeface="+mn-lt"/>
          <a:cs typeface="Amiri" pitchFamily="2" charset="-78"/>
        </a:defRPr>
      </a:lvl3pPr>
      <a:lvl4pPr marL="1371600" algn="l" defTabSz="914400" rtl="0" eaLnBrk="1" latinLnBrk="0" hangingPunct="1">
        <a:defRPr sz="1800" kern="1200">
          <a:solidFill>
            <a:schemeClr val="tx1"/>
          </a:solidFill>
          <a:latin typeface="+mn-lt"/>
          <a:cs typeface="Amiri" pitchFamily="2" charset="-78"/>
        </a:defRPr>
      </a:lvl4pPr>
      <a:lvl5pPr marL="1828800" algn="l" defTabSz="914400" rtl="0" eaLnBrk="1" latinLnBrk="0" hangingPunct="1">
        <a:defRPr sz="1800" kern="1200">
          <a:solidFill>
            <a:schemeClr val="tx1"/>
          </a:solidFill>
          <a:latin typeface="+mn-lt"/>
          <a:cs typeface="Amiri" pitchFamily="2" charset="-78"/>
        </a:defRPr>
      </a:lvl5pPr>
      <a:lvl6pPr marL="2286000" algn="l" defTabSz="914400" rtl="0" eaLnBrk="1" latinLnBrk="0" hangingPunct="1">
        <a:defRPr sz="1800" kern="1200">
          <a:solidFill>
            <a:schemeClr val="tx1"/>
          </a:solidFill>
          <a:latin typeface="+mn-lt"/>
          <a:cs typeface="Amiri" pitchFamily="2" charset="-78"/>
        </a:defRPr>
      </a:lvl6pPr>
      <a:lvl7pPr marL="2743200" algn="l" defTabSz="914400" rtl="0" eaLnBrk="1" latinLnBrk="0" hangingPunct="1">
        <a:defRPr sz="1800" kern="1200">
          <a:solidFill>
            <a:schemeClr val="tx1"/>
          </a:solidFill>
          <a:latin typeface="+mn-lt"/>
          <a:cs typeface="Amiri" pitchFamily="2" charset="-78"/>
        </a:defRPr>
      </a:lvl7pPr>
      <a:lvl8pPr marL="3200400" algn="l" defTabSz="914400" rtl="0" eaLnBrk="1" latinLnBrk="0" hangingPunct="1">
        <a:defRPr sz="1800" kern="1200">
          <a:solidFill>
            <a:schemeClr val="tx1"/>
          </a:solidFill>
          <a:latin typeface="+mn-lt"/>
          <a:cs typeface="Amiri" pitchFamily="2" charset="-78"/>
        </a:defRPr>
      </a:lvl8pPr>
      <a:lvl9pPr marL="3657600" algn="l" defTabSz="914400" rtl="0" eaLnBrk="1" latinLnBrk="0" hangingPunct="1">
        <a:defRPr sz="1800" kern="1200">
          <a:solidFill>
            <a:schemeClr val="tx1"/>
          </a:solidFill>
          <a:latin typeface="+mn-lt"/>
          <a:cs typeface="Amiri" pitchFamily="2" charset="-78"/>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1.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1.xml"/><Relationship Id="rId3" Type="http://schemas.openxmlformats.org/officeDocument/2006/relationships/notesSlide" Target="../notesSlides/notesSlide3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463040"/>
            <a:ext cx="5852160" cy="5852160"/>
          </a:xfrm>
          <a:prstGeom prst="ellipse">
            <a:avLst/>
          </a:prstGeom>
          <a:solidFill>
            <a:srgbClr val="14315C"/>
          </a:solidFill>
          <a:ln w="12700">
            <a:solidFill>
              <a:srgbClr val="14315C"/>
            </a:solidFill>
            <a:prstDash val="solid"/>
          </a:ln>
        </p:spPr>
      </p:sp>
      <p:sp>
        <p:nvSpPr>
          <p:cNvPr id="3" name="Shape 1"/>
          <p:cNvSpPr/>
          <p:nvPr/>
        </p:nvSpPr>
        <p:spPr>
          <a:xfrm>
            <a:off x="8778240" y="-548640"/>
            <a:ext cx="4023360" cy="4023360"/>
          </a:xfrm>
          <a:prstGeom prst="ellipse">
            <a:avLst/>
          </a:prstGeom>
          <a:solidFill>
            <a:srgbClr val="1B3B6F"/>
          </a:solidFill>
          <a:ln w="12700">
            <a:solidFill>
              <a:srgbClr val="1B3B6F"/>
            </a:solidFill>
            <a:prstDash val="solid"/>
          </a:ln>
        </p:spPr>
      </p:sp>
      <p:pic>
        <p:nvPicPr>
          <p:cNvPr id="4" name="Image 0" descr="preencoded.png">    </p:cNvPr>
          <p:cNvPicPr>
            <a:picLocks noChangeAspect="1"/>
          </p:cNvPicPr>
          <p:nvPr/>
        </p:nvPicPr>
        <p:blipFill>
          <a:blip r:embed="rId1"/>
          <a:stretch>
            <a:fillRect/>
          </a:stretch>
        </p:blipFill>
        <p:spPr>
          <a:xfrm>
            <a:off x="10012680" y="685800"/>
            <a:ext cx="1554480" cy="1554480"/>
          </a:xfrm>
          <a:prstGeom prst="rect">
            <a:avLst/>
          </a:prstGeom>
        </p:spPr>
      </p:pic>
      <p:sp>
        <p:nvSpPr>
          <p:cNvPr id="5" name="Shape 2"/>
          <p:cNvSpPr/>
          <p:nvPr/>
        </p:nvSpPr>
        <p:spPr>
          <a:xfrm>
            <a:off x="457200" y="411480"/>
            <a:ext cx="502920" cy="502920"/>
          </a:xfrm>
          <a:prstGeom prst="ellipse">
            <a:avLst/>
          </a:prstGeom>
          <a:solidFill>
            <a:srgbClr val="1B3B6F"/>
          </a:solidFill>
          <a:ln w="15875">
            <a:solidFill>
              <a:srgbClr val="D4AF37"/>
            </a:solidFill>
            <a:prstDash val="solid"/>
          </a:ln>
        </p:spPr>
      </p:sp>
      <p:sp>
        <p:nvSpPr>
          <p:cNvPr id="6" name="Text 3"/>
          <p:cNvSpPr txBox="1"/>
          <p:nvPr/>
        </p:nvSpPr>
        <p:spPr>
          <a:xfrm>
            <a:off x="457200" y="393192"/>
            <a:ext cx="502920" cy="502920"/>
          </a:xfrm>
          <a:prstGeom prst="rect">
            <a:avLst/>
          </a:prstGeom>
          <a:noFill/>
          <a:ln/>
        </p:spPr>
        <p:txBody>
          <a:bodyPr wrap="square" lIns="0" tIns="0" rIns="0" bIns="0" rtlCol="0" anchor="ctr"/>
          <a:lstStyle/>
          <a:p>
            <a:pPr rtl="1" algn="ctr" indent="0" marL="0">
              <a:buNone/>
            </a:pPr>
            <a:r>
              <a:rPr lang="ar-SA" altLang="en-US" sz="2200" b="1" dirty="0">
                <a:solidFill>
                  <a:srgbClr val="D4AF37"/>
                </a:solidFill>
                <a:latin typeface="Amiri" pitchFamily="2" charset="-78"/>
                <a:ea typeface="Amiri" pitchFamily="2" charset="-78"/>
                <a:cs typeface="Amiri" pitchFamily="2" charset="-78"/>
              </a:rPr>
              <a:t>م</a:t>
            </a:r>
            <a:endParaRPr lang="ar-SA" sz="2200" dirty="0"/>
          </a:p>
        </p:txBody>
      </p:sp>
      <p:sp>
        <p:nvSpPr>
          <p:cNvPr id="7" name="Text 4"/>
          <p:cNvSpPr txBox="1"/>
          <p:nvPr/>
        </p:nvSpPr>
        <p:spPr>
          <a:xfrm>
            <a:off x="1078992" y="384048"/>
            <a:ext cx="5486400" cy="566928"/>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cs typeface="Amiri" pitchFamily="2" charset="-78"/>
              </a:rPr>
              <a:t>Al Madina Online School</a:t>
            </a:r>
            <a:endParaRPr lang="en-US" sz="1400" dirty="0"/>
          </a:p>
          <a:p>
            <a:pPr indent="0" marL="0">
              <a:buNone/>
            </a:pPr>
            <a:r>
              <a:rPr lang="en-US" sz="800" b="1" spc="200" kern="0" dirty="0">
                <a:solidFill>
                  <a:srgbClr val="D4AF37"/>
                </a:solidFill>
                <a:latin typeface="Calibri" pitchFamily="34" charset="0"/>
                <a:cs typeface="Amiri" pitchFamily="2" charset="-78"/>
              </a:rPr>
              <a:t>ARABIC DEPARTMENT · MIFTAH ARABIC</a:t>
            </a:r>
            <a:endParaRPr lang="en-US" sz="1400" dirty="0"/>
          </a:p>
        </p:txBody>
      </p:sp>
      <p:sp>
        <p:nvSpPr>
          <p:cNvPr id="8" name="Text 5"/>
          <p:cNvSpPr txBox="1"/>
          <p:nvPr/>
        </p:nvSpPr>
        <p:spPr>
          <a:xfrm>
            <a:off x="457200" y="1600200"/>
            <a:ext cx="8686800" cy="274320"/>
          </a:xfrm>
          <a:prstGeom prst="rect">
            <a:avLst/>
          </a:prstGeom>
          <a:noFill/>
          <a:ln/>
        </p:spPr>
        <p:txBody>
          <a:bodyPr wrap="square" lIns="0" tIns="0" rIns="0" bIns="0" rtlCol="0" anchor="ctr"/>
          <a:lstStyle/>
          <a:p>
            <a:pPr algn="l" indent="0" marL="0">
              <a:buNone/>
            </a:pPr>
            <a:r>
              <a:rPr lang="en-US" sz="1100" b="1" spc="200" kern="0" dirty="0">
                <a:solidFill>
                  <a:srgbClr val="D4AF37"/>
                </a:solidFill>
                <a:latin typeface="Calibri" pitchFamily="34" charset="0"/>
                <a:cs typeface="Amiri" pitchFamily="2" charset="-78"/>
              </a:rPr>
              <a:t>MIFTAH GRAMMAR MASTERY  ·  ADJECTIVES  ·  GM-ADJ-08</a:t>
            </a:r>
            <a:endParaRPr lang="en-US" sz="1100" dirty="0"/>
          </a:p>
        </p:txBody>
      </p:sp>
      <p:sp>
        <p:nvSpPr>
          <p:cNvPr id="9" name="Text 6"/>
          <p:cNvSpPr txBox="1"/>
          <p:nvPr/>
        </p:nvSpPr>
        <p:spPr>
          <a:xfrm>
            <a:off x="457200" y="1965960"/>
            <a:ext cx="7315200" cy="548640"/>
          </a:xfrm>
          <a:prstGeom prst="rect">
            <a:avLst/>
          </a:prstGeom>
          <a:noFill/>
          <a:ln/>
        </p:spPr>
        <p:txBody>
          <a:bodyPr wrap="square" lIns="0" tIns="0" rIns="0" bIns="0" rtlCol="0" anchor="ctr"/>
          <a:lstStyle/>
          <a:p>
            <a:pPr algn="l" indent="0" marL="0">
              <a:buNone/>
            </a:pPr>
            <a:r>
              <a:rPr lang="en-US" sz="2600" b="1" dirty="0">
                <a:solidFill>
                  <a:srgbClr val="9FB3D1"/>
                </a:solidFill>
                <a:latin typeface="Cambria" pitchFamily="34" charset="0"/>
                <a:cs typeface="Amiri" pitchFamily="2" charset="-78"/>
              </a:rPr>
              <a:t>GM-ADJ-08</a:t>
            </a:r>
            <a:endParaRPr lang="en-US" sz="2600" dirty="0"/>
          </a:p>
        </p:txBody>
      </p:sp>
      <p:sp>
        <p:nvSpPr>
          <p:cNvPr id="10" name="Text 7"/>
          <p:cNvSpPr txBox="1"/>
          <p:nvPr/>
        </p:nvSpPr>
        <p:spPr>
          <a:xfrm>
            <a:off x="457200" y="2487168"/>
            <a:ext cx="8046720" cy="868680"/>
          </a:xfrm>
          <a:prstGeom prst="rect">
            <a:avLst/>
          </a:prstGeom>
          <a:noFill/>
          <a:ln/>
        </p:spPr>
        <p:txBody>
          <a:bodyPr wrap="square" lIns="0" tIns="0" rIns="0" bIns="0" rtlCol="0" anchor="ctr"/>
          <a:lstStyle/>
          <a:p>
            <a:pPr algn="l" indent="0" marL="0">
              <a:buNone/>
            </a:pPr>
            <a:r>
              <a:rPr lang="en-US" sz="4000" b="1" dirty="0">
                <a:solidFill>
                  <a:srgbClr val="FFFFFF"/>
                </a:solidFill>
                <a:latin typeface="Cambria" pitchFamily="34" charset="0"/>
                <a:cs typeface="Amiri" pitchFamily="2" charset="-78"/>
              </a:rPr>
              <a:t>Defective Adjectives</a:t>
            </a:r>
            <a:endParaRPr lang="en-US" sz="4000" dirty="0"/>
          </a:p>
        </p:txBody>
      </p:sp>
      <p:sp>
        <p:nvSpPr>
          <p:cNvPr id="11" name="Text 8"/>
          <p:cNvSpPr txBox="1"/>
          <p:nvPr/>
        </p:nvSpPr>
        <p:spPr>
          <a:xfrm>
            <a:off x="457200" y="3310128"/>
            <a:ext cx="8046720" cy="868680"/>
          </a:xfrm>
          <a:prstGeom prst="rect">
            <a:avLst/>
          </a:prstGeom>
          <a:noFill/>
          <a:ln/>
        </p:spPr>
        <p:txBody>
          <a:bodyPr wrap="square" lIns="0" tIns="0" rIns="0" bIns="0" rtlCol="0" anchor="ctr"/>
          <a:lstStyle/>
          <a:p>
            <a:pPr rtl="1" algn="l" indent="0" marL="0">
              <a:buNone/>
            </a:pPr>
            <a:r>
              <a:rPr lang="ar-SA" altLang="en-US" sz="3600" b="1" dirty="0">
                <a:solidFill>
                  <a:srgbClr val="D4AF37"/>
                </a:solidFill>
                <a:latin typeface="Amiri" pitchFamily="2" charset="-78"/>
                <a:ea typeface="Amiri" pitchFamily="2" charset="-78"/>
                <a:cs typeface="Amiri" pitchFamily="2" charset="-78"/>
              </a:rPr>
              <a:t>الصِّفَاتُ الْمَنْقُوصَةُ مِثْلُ غَالٍ وَرَاضٍ</a:t>
            </a:r>
            <a:endParaRPr lang="ar-SA" sz="3600" dirty="0"/>
          </a:p>
        </p:txBody>
      </p:sp>
      <p:sp>
        <p:nvSpPr>
          <p:cNvPr id="12" name="Text 9"/>
          <p:cNvSpPr txBox="1"/>
          <p:nvPr/>
        </p:nvSpPr>
        <p:spPr>
          <a:xfrm>
            <a:off x="457200" y="4224528"/>
            <a:ext cx="7863840" cy="731520"/>
          </a:xfrm>
          <a:prstGeom prst="rect">
            <a:avLst/>
          </a:prstGeom>
          <a:noFill/>
          <a:ln/>
        </p:spPr>
        <p:txBody>
          <a:bodyPr wrap="square" lIns="0" tIns="0" rIns="0" bIns="0" rtlCol="0" anchor="t"/>
          <a:lstStyle/>
          <a:p>
            <a:pPr algn="l" indent="0" marL="0">
              <a:buNone/>
            </a:pPr>
            <a:r>
              <a:rPr lang="en-US" sz="1400" dirty="0">
                <a:solidFill>
                  <a:srgbClr val="C6D2E6"/>
                </a:solidFill>
                <a:latin typeface="Calibri" pitchFamily="34" charset="0"/>
                <a:cs typeface="Amiri" pitchFamily="2" charset="-78"/>
              </a:rPr>
              <a:t>Some adjectives end in a hidden -ī: expensive is ghālin (no yāʾ) in “a … book”, but al-ghālī with al-, ghāliyan as an object, and ghāliya for a feminine noun. The yāʾ hides only in -un and -in positions.</a:t>
            </a:r>
            <a:endParaRPr lang="en-US" sz="1400" dirty="0"/>
          </a:p>
        </p:txBody>
      </p:sp>
      <p:sp>
        <p:nvSpPr>
          <p:cNvPr id="13" name="Shape 10"/>
          <p:cNvSpPr/>
          <p:nvPr/>
        </p:nvSpPr>
        <p:spPr>
          <a:xfrm>
            <a:off x="457200" y="5166360"/>
            <a:ext cx="2651760" cy="868680"/>
          </a:xfrm>
          <a:prstGeom prst="roundRect">
            <a:avLst>
              <a:gd name="adj" fmla="val 8421"/>
            </a:avLst>
          </a:prstGeom>
          <a:solidFill>
            <a:srgbClr val="16335F"/>
          </a:solidFill>
          <a:ln w="12700">
            <a:solidFill>
              <a:srgbClr val="2A4B7C"/>
            </a:solidFill>
            <a:prstDash val="solid"/>
          </a:ln>
        </p:spPr>
      </p:sp>
      <p:sp>
        <p:nvSpPr>
          <p:cNvPr id="14" name="Text 11"/>
          <p:cNvSpPr txBox="1"/>
          <p:nvPr/>
        </p:nvSpPr>
        <p:spPr>
          <a:xfrm>
            <a:off x="621792"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LESSON</a:t>
            </a:r>
            <a:endParaRPr lang="en-US" sz="850" dirty="0"/>
          </a:p>
          <a:p>
            <a:pPr indent="0" marL="0">
              <a:buNone/>
            </a:pPr>
            <a:r>
              <a:rPr lang="en-US" sz="1200" b="1" dirty="0">
                <a:solidFill>
                  <a:srgbClr val="FFFFFF"/>
                </a:solidFill>
                <a:latin typeface="Calibri" pitchFamily="34" charset="0"/>
                <a:cs typeface="Amiri" pitchFamily="2" charset="-78"/>
              </a:rPr>
              <a:t>GM-ADJ-08 · Grammar Mastery</a:t>
            </a:r>
            <a:endParaRPr lang="en-US" sz="850" dirty="0"/>
          </a:p>
        </p:txBody>
      </p:sp>
      <p:sp>
        <p:nvSpPr>
          <p:cNvPr id="15" name="Shape 12"/>
          <p:cNvSpPr/>
          <p:nvPr/>
        </p:nvSpPr>
        <p:spPr>
          <a:xfrm>
            <a:off x="3273552" y="5166360"/>
            <a:ext cx="2651760" cy="868680"/>
          </a:xfrm>
          <a:prstGeom prst="roundRect">
            <a:avLst>
              <a:gd name="adj" fmla="val 8421"/>
            </a:avLst>
          </a:prstGeom>
          <a:solidFill>
            <a:srgbClr val="16335F"/>
          </a:solidFill>
          <a:ln w="12700">
            <a:solidFill>
              <a:srgbClr val="2A4B7C"/>
            </a:solidFill>
            <a:prstDash val="solid"/>
          </a:ln>
        </p:spPr>
      </p:sp>
      <p:sp>
        <p:nvSpPr>
          <p:cNvPr id="16" name="Text 13"/>
          <p:cNvSpPr txBox="1"/>
          <p:nvPr/>
        </p:nvSpPr>
        <p:spPr>
          <a:xfrm>
            <a:off x="3438144"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DURATION</a:t>
            </a:r>
            <a:endParaRPr lang="en-US" sz="850" dirty="0"/>
          </a:p>
          <a:p>
            <a:pPr indent="0" marL="0">
              <a:buNone/>
            </a:pPr>
            <a:r>
              <a:rPr lang="en-US" sz="1200" b="1" dirty="0">
                <a:solidFill>
                  <a:srgbClr val="FFFFFF"/>
                </a:solidFill>
                <a:latin typeface="Calibri" pitchFamily="34" charset="0"/>
                <a:cs typeface="Amiri" pitchFamily="2" charset="-78"/>
              </a:rPr>
              <a:t>60 minutes · Teams</a:t>
            </a:r>
            <a:endParaRPr lang="en-US" sz="850" dirty="0"/>
          </a:p>
        </p:txBody>
      </p:sp>
      <p:sp>
        <p:nvSpPr>
          <p:cNvPr id="17" name="Shape 14"/>
          <p:cNvSpPr/>
          <p:nvPr/>
        </p:nvSpPr>
        <p:spPr>
          <a:xfrm>
            <a:off x="6089904" y="5166360"/>
            <a:ext cx="2651760" cy="868680"/>
          </a:xfrm>
          <a:prstGeom prst="roundRect">
            <a:avLst>
              <a:gd name="adj" fmla="val 8421"/>
            </a:avLst>
          </a:prstGeom>
          <a:solidFill>
            <a:srgbClr val="16335F"/>
          </a:solidFill>
          <a:ln w="12700">
            <a:solidFill>
              <a:srgbClr val="2A4B7C"/>
            </a:solidFill>
            <a:prstDash val="solid"/>
          </a:ln>
        </p:spPr>
      </p:sp>
      <p:sp>
        <p:nvSpPr>
          <p:cNvPr id="18" name="Text 15"/>
          <p:cNvSpPr txBox="1"/>
          <p:nvPr/>
        </p:nvSpPr>
        <p:spPr>
          <a:xfrm>
            <a:off x="6254496"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LEVEL</a:t>
            </a:r>
            <a:endParaRPr lang="en-US" sz="850" dirty="0"/>
          </a:p>
          <a:p>
            <a:pPr indent="0" marL="0">
              <a:buNone/>
            </a:pPr>
            <a:r>
              <a:rPr lang="en-US" sz="1200" b="1" dirty="0">
                <a:solidFill>
                  <a:srgbClr val="FFFFFF"/>
                </a:solidFill>
                <a:latin typeface="Calibri" pitchFamily="34" charset="0"/>
                <a:cs typeface="Amiri" pitchFamily="2" charset="-78"/>
              </a:rPr>
              <a:t>All pathways · revision</a:t>
            </a:r>
            <a:endParaRPr lang="en-US" sz="850" dirty="0"/>
          </a:p>
        </p:txBody>
      </p:sp>
      <p:sp>
        <p:nvSpPr>
          <p:cNvPr id="19" name="Shape 16"/>
          <p:cNvSpPr/>
          <p:nvPr/>
        </p:nvSpPr>
        <p:spPr>
          <a:xfrm>
            <a:off x="8906256" y="5166360"/>
            <a:ext cx="2651760" cy="868680"/>
          </a:xfrm>
          <a:prstGeom prst="roundRect">
            <a:avLst>
              <a:gd name="adj" fmla="val 8421"/>
            </a:avLst>
          </a:prstGeom>
          <a:solidFill>
            <a:srgbClr val="16335F"/>
          </a:solidFill>
          <a:ln w="12700">
            <a:solidFill>
              <a:srgbClr val="2A4B7C"/>
            </a:solidFill>
            <a:prstDash val="solid"/>
          </a:ln>
        </p:spPr>
      </p:sp>
      <p:sp>
        <p:nvSpPr>
          <p:cNvPr id="20" name="Text 17"/>
          <p:cNvSpPr txBox="1"/>
          <p:nvPr/>
        </p:nvSpPr>
        <p:spPr>
          <a:xfrm>
            <a:off x="9070848"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ON THE WEBSITE</a:t>
            </a:r>
            <a:endParaRPr lang="en-US" sz="850" dirty="0"/>
          </a:p>
          <a:p>
            <a:pPr indent="0" marL="0">
              <a:buNone/>
            </a:pPr>
            <a:r>
              <a:rPr lang="en-US" sz="1200" b="1" dirty="0">
                <a:solidFill>
                  <a:srgbClr val="FFFFFF"/>
                </a:solidFill>
                <a:latin typeface="Calibri" pitchFamily="34" charset="0"/>
                <a:cs typeface="Amiri" pitchFamily="2" charset="-78"/>
              </a:rPr>
              <a:t>Grammar › Adjectives</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GM-ADJ-08 · Adjectives</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BEFORE WE BEGIN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online classroom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آدَابُ الصَّفِّ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Adjectives · GM-ADJ-08</a:t>
            </a:r>
            <a:endParaRPr lang="en-US" sz="850" dirty="0"/>
          </a:p>
        </p:txBody>
      </p:sp>
      <p:sp>
        <p:nvSpPr>
          <p:cNvPr id="15" name="Shape 12"/>
          <p:cNvSpPr/>
          <p:nvPr/>
        </p:nvSpPr>
        <p:spPr>
          <a:xfrm>
            <a:off x="457200" y="1828800"/>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2002536"/>
            <a:ext cx="585216" cy="585216"/>
          </a:xfrm>
          <a:prstGeom prst="ellipse">
            <a:avLst/>
          </a:prstGeom>
          <a:solidFill>
            <a:srgbClr val="EEF3FA"/>
          </a:solidFill>
          <a:ln w="12700">
            <a:solidFill>
              <a:srgbClr val="EEF3FA"/>
            </a:solidFill>
            <a:prstDash val="solid"/>
          </a:ln>
        </p:spPr>
      </p:sp>
      <p:pic>
        <p:nvPicPr>
          <p:cNvPr id="17" name="Image 0" descr="preencoded.png">    </p:cNvPr>
          <p:cNvPicPr>
            <a:picLocks noChangeAspect="1"/>
          </p:cNvPicPr>
          <p:nvPr/>
        </p:nvPicPr>
        <p:blipFill>
          <a:blip r:embed="rId1"/>
          <a:stretch>
            <a:fillRect/>
          </a:stretch>
        </p:blipFill>
        <p:spPr>
          <a:xfrm>
            <a:off x="777240" y="2139696"/>
            <a:ext cx="310896" cy="310896"/>
          </a:xfrm>
          <a:prstGeom prst="rect">
            <a:avLst/>
          </a:prstGeom>
        </p:spPr>
      </p:pic>
      <p:sp>
        <p:nvSpPr>
          <p:cNvPr id="18" name="Text 14"/>
          <p:cNvSpPr txBox="1"/>
          <p:nvPr/>
        </p:nvSpPr>
        <p:spPr>
          <a:xfrm>
            <a:off x="1371600" y="1901952"/>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Camera on</a:t>
            </a:r>
            <a:endParaRPr lang="en-US" sz="1500" dirty="0"/>
          </a:p>
          <a:p>
            <a:pPr indent="0" marL="0">
              <a:buNone/>
            </a:pPr>
            <a:r>
              <a:rPr lang="en-US" sz="1150" dirty="0">
                <a:solidFill>
                  <a:srgbClr val="5A6472"/>
                </a:solidFill>
                <a:latin typeface="Calibri" pitchFamily="34" charset="0"/>
                <a:cs typeface="Amiri" pitchFamily="2" charset="-78"/>
              </a:rPr>
              <a:t>So I can see you learning and help you quickly.</a:t>
            </a:r>
            <a:endParaRPr lang="en-US" sz="1500" dirty="0"/>
          </a:p>
        </p:txBody>
      </p:sp>
      <p:sp>
        <p:nvSpPr>
          <p:cNvPr id="19" name="Shape 15"/>
          <p:cNvSpPr/>
          <p:nvPr/>
        </p:nvSpPr>
        <p:spPr>
          <a:xfrm>
            <a:off x="457200" y="2907792"/>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0" name="Shape 16"/>
          <p:cNvSpPr/>
          <p:nvPr/>
        </p:nvSpPr>
        <p:spPr>
          <a:xfrm>
            <a:off x="640080" y="3081528"/>
            <a:ext cx="585216" cy="585216"/>
          </a:xfrm>
          <a:prstGeom prst="ellipse">
            <a:avLst/>
          </a:prstGeom>
          <a:solidFill>
            <a:srgbClr val="EEF3FA"/>
          </a:solidFill>
          <a:ln w="12700">
            <a:solidFill>
              <a:srgbClr val="EEF3FA"/>
            </a:solidFill>
            <a:prstDash val="solid"/>
          </a:ln>
        </p:spPr>
      </p:sp>
      <p:pic>
        <p:nvPicPr>
          <p:cNvPr id="21" name="Image 1" descr="preencoded.png">    </p:cNvPr>
          <p:cNvPicPr>
            <a:picLocks noChangeAspect="1"/>
          </p:cNvPicPr>
          <p:nvPr/>
        </p:nvPicPr>
        <p:blipFill>
          <a:blip r:embed="rId2"/>
          <a:stretch>
            <a:fillRect/>
          </a:stretch>
        </p:blipFill>
        <p:spPr>
          <a:xfrm>
            <a:off x="777240" y="3218688"/>
            <a:ext cx="310896" cy="310896"/>
          </a:xfrm>
          <a:prstGeom prst="rect">
            <a:avLst/>
          </a:prstGeom>
        </p:spPr>
      </p:pic>
      <p:sp>
        <p:nvSpPr>
          <p:cNvPr id="22" name="Text 17"/>
          <p:cNvSpPr txBox="1"/>
          <p:nvPr/>
        </p:nvSpPr>
        <p:spPr>
          <a:xfrm>
            <a:off x="1371600" y="2980944"/>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Mic muted</a:t>
            </a:r>
            <a:endParaRPr lang="en-US" sz="1500" dirty="0"/>
          </a:p>
          <a:p>
            <a:pPr indent="0" marL="0">
              <a:buNone/>
            </a:pPr>
            <a:r>
              <a:rPr lang="en-US" sz="1150" dirty="0">
                <a:solidFill>
                  <a:srgbClr val="5A6472"/>
                </a:solidFill>
                <a:latin typeface="Calibri" pitchFamily="34" charset="0"/>
                <a:cs typeface="Amiri" pitchFamily="2" charset="-78"/>
              </a:rPr>
              <a:t>Unmute only when invited to speak.</a:t>
            </a:r>
            <a:endParaRPr lang="en-US" sz="1500" dirty="0"/>
          </a:p>
        </p:txBody>
      </p:sp>
      <p:sp>
        <p:nvSpPr>
          <p:cNvPr id="23" name="Shape 18"/>
          <p:cNvSpPr/>
          <p:nvPr/>
        </p:nvSpPr>
        <p:spPr>
          <a:xfrm>
            <a:off x="457200" y="3986784"/>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640080" y="4160520"/>
            <a:ext cx="585216" cy="585216"/>
          </a:xfrm>
          <a:prstGeom prst="ellipse">
            <a:avLst/>
          </a:prstGeom>
          <a:solidFill>
            <a:srgbClr val="EEF3FA"/>
          </a:solidFill>
          <a:ln w="12700">
            <a:solidFill>
              <a:srgbClr val="EEF3FA"/>
            </a:solidFill>
            <a:prstDash val="solid"/>
          </a:ln>
        </p:spPr>
      </p:sp>
      <p:pic>
        <p:nvPicPr>
          <p:cNvPr id="25" name="Image 2" descr="preencoded.png">    </p:cNvPr>
          <p:cNvPicPr>
            <a:picLocks noChangeAspect="1"/>
          </p:cNvPicPr>
          <p:nvPr/>
        </p:nvPicPr>
        <p:blipFill>
          <a:blip r:embed="rId3"/>
          <a:stretch>
            <a:fillRect/>
          </a:stretch>
        </p:blipFill>
        <p:spPr>
          <a:xfrm>
            <a:off x="777240" y="4297680"/>
            <a:ext cx="310896" cy="310896"/>
          </a:xfrm>
          <a:prstGeom prst="rect">
            <a:avLst/>
          </a:prstGeom>
        </p:spPr>
      </p:pic>
      <p:sp>
        <p:nvSpPr>
          <p:cNvPr id="26" name="Text 20"/>
          <p:cNvSpPr txBox="1"/>
          <p:nvPr/>
        </p:nvSpPr>
        <p:spPr>
          <a:xfrm>
            <a:off x="1371600" y="4059936"/>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Chat for learning</a:t>
            </a:r>
            <a:endParaRPr lang="en-US" sz="1500" dirty="0"/>
          </a:p>
          <a:p>
            <a:pPr indent="0" marL="0">
              <a:buNone/>
            </a:pPr>
            <a:r>
              <a:rPr lang="en-US" sz="1150" dirty="0">
                <a:solidFill>
                  <a:srgbClr val="5A6472"/>
                </a:solidFill>
                <a:latin typeface="Calibri" pitchFamily="34" charset="0"/>
                <a:cs typeface="Amiri" pitchFamily="2" charset="-78"/>
              </a:rPr>
              <a:t>Answers, questions and Arabic only.</a:t>
            </a:r>
            <a:endParaRPr lang="en-US" sz="1500" dirty="0"/>
          </a:p>
        </p:txBody>
      </p:sp>
      <p:sp>
        <p:nvSpPr>
          <p:cNvPr id="27" name="Shape 21"/>
          <p:cNvSpPr/>
          <p:nvPr/>
        </p:nvSpPr>
        <p:spPr>
          <a:xfrm>
            <a:off x="457200" y="5065776"/>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2"/>
          <p:cNvSpPr/>
          <p:nvPr/>
        </p:nvSpPr>
        <p:spPr>
          <a:xfrm>
            <a:off x="640080" y="5239512"/>
            <a:ext cx="585216" cy="585216"/>
          </a:xfrm>
          <a:prstGeom prst="ellipse">
            <a:avLst/>
          </a:prstGeom>
          <a:solidFill>
            <a:srgbClr val="EEF3FA"/>
          </a:solidFill>
          <a:ln w="12700">
            <a:solidFill>
              <a:srgbClr val="EEF3FA"/>
            </a:solidFill>
            <a:prstDash val="solid"/>
          </a:ln>
        </p:spPr>
      </p:sp>
      <p:pic>
        <p:nvPicPr>
          <p:cNvPr id="29" name="Image 3" descr="preencoded.png">    </p:cNvPr>
          <p:cNvPicPr>
            <a:picLocks noChangeAspect="1"/>
          </p:cNvPicPr>
          <p:nvPr/>
        </p:nvPicPr>
        <p:blipFill>
          <a:blip r:embed="rId4"/>
          <a:stretch>
            <a:fillRect/>
          </a:stretch>
        </p:blipFill>
        <p:spPr>
          <a:xfrm>
            <a:off x="777240" y="5376672"/>
            <a:ext cx="310896" cy="310896"/>
          </a:xfrm>
          <a:prstGeom prst="rect">
            <a:avLst/>
          </a:prstGeom>
        </p:spPr>
      </p:pic>
      <p:sp>
        <p:nvSpPr>
          <p:cNvPr id="30" name="Text 23"/>
          <p:cNvSpPr txBox="1"/>
          <p:nvPr/>
        </p:nvSpPr>
        <p:spPr>
          <a:xfrm>
            <a:off x="1371600" y="5138928"/>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Raise your hand</a:t>
            </a:r>
            <a:endParaRPr lang="en-US" sz="1500" dirty="0"/>
          </a:p>
          <a:p>
            <a:pPr indent="0" marL="0">
              <a:buNone/>
            </a:pPr>
            <a:r>
              <a:rPr lang="en-US" sz="1150" dirty="0">
                <a:solidFill>
                  <a:srgbClr val="5A6472"/>
                </a:solidFill>
                <a:latin typeface="Calibri" pitchFamily="34" charset="0"/>
                <a:cs typeface="Amiri" pitchFamily="2" charset="-78"/>
              </a:rPr>
              <a:t>Use the hand button to ask for help.</a:t>
            </a:r>
            <a:endParaRPr lang="en-US" sz="1500" dirty="0"/>
          </a:p>
        </p:txBody>
      </p:sp>
      <p:sp>
        <p:nvSpPr>
          <p:cNvPr id="31" name="Shape 24"/>
          <p:cNvSpPr/>
          <p:nvPr/>
        </p:nvSpPr>
        <p:spPr>
          <a:xfrm>
            <a:off x="6172200" y="1828800"/>
            <a:ext cx="5559552" cy="4169664"/>
          </a:xfrm>
          <a:prstGeom prst="roundRect">
            <a:avLst>
              <a:gd name="adj" fmla="val 1754"/>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32" name="Text 25"/>
          <p:cNvSpPr txBox="1"/>
          <p:nvPr/>
        </p:nvSpPr>
        <p:spPr>
          <a:xfrm>
            <a:off x="6400800" y="1938528"/>
            <a:ext cx="5102352" cy="310896"/>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HOW WE TALK — THE ORACY CODE</a:t>
            </a:r>
            <a:endParaRPr lang="en-US" sz="1100" dirty="0"/>
          </a:p>
        </p:txBody>
      </p:sp>
      <p:sp>
        <p:nvSpPr>
          <p:cNvPr id="33" name="Shape 26"/>
          <p:cNvSpPr/>
          <p:nvPr/>
        </p:nvSpPr>
        <p:spPr>
          <a:xfrm>
            <a:off x="6400800" y="2450592"/>
            <a:ext cx="548640" cy="548640"/>
          </a:xfrm>
          <a:prstGeom prst="ellipse">
            <a:avLst/>
          </a:prstGeom>
          <a:solidFill>
            <a:srgbClr val="1B3B6F"/>
          </a:solidFill>
          <a:ln w="12700">
            <a:solidFill>
              <a:srgbClr val="1B3B6F"/>
            </a:solidFill>
            <a:prstDash val="solid"/>
          </a:ln>
        </p:spPr>
      </p:sp>
      <p:sp>
        <p:nvSpPr>
          <p:cNvPr id="34" name="Text 27"/>
          <p:cNvSpPr txBox="1"/>
          <p:nvPr/>
        </p:nvSpPr>
        <p:spPr>
          <a:xfrm>
            <a:off x="6400800"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5" name="Text 28"/>
          <p:cNvSpPr txBox="1"/>
          <p:nvPr/>
        </p:nvSpPr>
        <p:spPr>
          <a:xfrm>
            <a:off x="7059168"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Think</a:t>
            </a:r>
            <a:endParaRPr lang="en-US" sz="1400" dirty="0"/>
          </a:p>
          <a:p>
            <a:pPr indent="0" marL="0">
              <a:buNone/>
            </a:pPr>
            <a:r>
              <a:rPr lang="en-US" sz="1100" dirty="0">
                <a:solidFill>
                  <a:srgbClr val="5A6472"/>
                </a:solidFill>
                <a:latin typeface="Calibri" pitchFamily="34" charset="0"/>
                <a:cs typeface="Amiri" pitchFamily="2" charset="-78"/>
              </a:rPr>
              <a:t>silent preparation</a:t>
            </a:r>
            <a:endParaRPr lang="en-US" sz="1400" dirty="0"/>
          </a:p>
        </p:txBody>
      </p:sp>
      <p:sp>
        <p:nvSpPr>
          <p:cNvPr id="36" name="Shape 29"/>
          <p:cNvSpPr/>
          <p:nvPr/>
        </p:nvSpPr>
        <p:spPr>
          <a:xfrm>
            <a:off x="8997696" y="2450592"/>
            <a:ext cx="548640" cy="548640"/>
          </a:xfrm>
          <a:prstGeom prst="ellipse">
            <a:avLst/>
          </a:prstGeom>
          <a:solidFill>
            <a:srgbClr val="1B3B6F"/>
          </a:solidFill>
          <a:ln w="12700">
            <a:solidFill>
              <a:srgbClr val="1B3B6F"/>
            </a:solidFill>
            <a:prstDash val="solid"/>
          </a:ln>
        </p:spPr>
      </p:sp>
      <p:sp>
        <p:nvSpPr>
          <p:cNvPr id="37" name="Text 30"/>
          <p:cNvSpPr txBox="1"/>
          <p:nvPr/>
        </p:nvSpPr>
        <p:spPr>
          <a:xfrm>
            <a:off x="8997696"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8" name="Text 31"/>
          <p:cNvSpPr txBox="1"/>
          <p:nvPr/>
        </p:nvSpPr>
        <p:spPr>
          <a:xfrm>
            <a:off x="9656064"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Rehearse</a:t>
            </a:r>
            <a:endParaRPr lang="en-US" sz="1400" dirty="0"/>
          </a:p>
          <a:p>
            <a:pPr indent="0" marL="0">
              <a:buNone/>
            </a:pPr>
            <a:r>
              <a:rPr lang="en-US" sz="1100" dirty="0">
                <a:solidFill>
                  <a:srgbClr val="5A6472"/>
                </a:solidFill>
                <a:latin typeface="Calibri" pitchFamily="34" charset="0"/>
                <a:cs typeface="Amiri" pitchFamily="2" charset="-78"/>
              </a:rPr>
              <a:t>both partners speak</a:t>
            </a:r>
            <a:endParaRPr lang="en-US" sz="1400" dirty="0"/>
          </a:p>
        </p:txBody>
      </p:sp>
      <p:sp>
        <p:nvSpPr>
          <p:cNvPr id="39" name="Shape 32"/>
          <p:cNvSpPr/>
          <p:nvPr/>
        </p:nvSpPr>
        <p:spPr>
          <a:xfrm>
            <a:off x="6400800" y="3364992"/>
            <a:ext cx="548640" cy="548640"/>
          </a:xfrm>
          <a:prstGeom prst="ellipse">
            <a:avLst/>
          </a:prstGeom>
          <a:solidFill>
            <a:srgbClr val="1B3B6F"/>
          </a:solidFill>
          <a:ln w="12700">
            <a:solidFill>
              <a:srgbClr val="1B3B6F"/>
            </a:solidFill>
            <a:prstDash val="solid"/>
          </a:ln>
        </p:spPr>
      </p:sp>
      <p:sp>
        <p:nvSpPr>
          <p:cNvPr id="40" name="Text 33"/>
          <p:cNvSpPr txBox="1"/>
          <p:nvPr/>
        </p:nvSpPr>
        <p:spPr>
          <a:xfrm>
            <a:off x="6400800"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1" name="Text 34"/>
          <p:cNvSpPr txBox="1"/>
          <p:nvPr/>
        </p:nvSpPr>
        <p:spPr>
          <a:xfrm>
            <a:off x="7059168"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Build</a:t>
            </a:r>
            <a:endParaRPr lang="en-US" sz="1400" dirty="0"/>
          </a:p>
          <a:p>
            <a:pPr indent="0" marL="0">
              <a:buNone/>
            </a:pPr>
            <a:r>
              <a:rPr lang="en-US" sz="1100" dirty="0">
                <a:solidFill>
                  <a:srgbClr val="5A6472"/>
                </a:solidFill>
                <a:latin typeface="Calibri" pitchFamily="34" charset="0"/>
                <a:cs typeface="Amiri" pitchFamily="2" charset="-78"/>
              </a:rPr>
              <a:t>add a reason or detail</a:t>
            </a:r>
            <a:endParaRPr lang="en-US" sz="1400" dirty="0"/>
          </a:p>
        </p:txBody>
      </p:sp>
      <p:sp>
        <p:nvSpPr>
          <p:cNvPr id="42" name="Shape 35"/>
          <p:cNvSpPr/>
          <p:nvPr/>
        </p:nvSpPr>
        <p:spPr>
          <a:xfrm>
            <a:off x="8997696" y="3364992"/>
            <a:ext cx="548640" cy="548640"/>
          </a:xfrm>
          <a:prstGeom prst="ellipse">
            <a:avLst/>
          </a:prstGeom>
          <a:solidFill>
            <a:srgbClr val="1B3B6F"/>
          </a:solidFill>
          <a:ln w="12700">
            <a:solidFill>
              <a:srgbClr val="1B3B6F"/>
            </a:solidFill>
            <a:prstDash val="solid"/>
          </a:ln>
        </p:spPr>
      </p:sp>
      <p:sp>
        <p:nvSpPr>
          <p:cNvPr id="43" name="Text 36"/>
          <p:cNvSpPr txBox="1"/>
          <p:nvPr/>
        </p:nvSpPr>
        <p:spPr>
          <a:xfrm>
            <a:off x="8997696"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4" name="Text 37"/>
          <p:cNvSpPr txBox="1"/>
          <p:nvPr/>
        </p:nvSpPr>
        <p:spPr>
          <a:xfrm>
            <a:off x="9656064"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Challenge</a:t>
            </a:r>
            <a:endParaRPr lang="en-US" sz="1400" dirty="0"/>
          </a:p>
          <a:p>
            <a:pPr indent="0" marL="0">
              <a:buNone/>
            </a:pPr>
            <a:r>
              <a:rPr lang="en-US" sz="1100" dirty="0">
                <a:solidFill>
                  <a:srgbClr val="5A6472"/>
                </a:solidFill>
                <a:latin typeface="Calibri" pitchFamily="34" charset="0"/>
                <a:cs typeface="Amiri" pitchFamily="2" charset="-78"/>
              </a:rPr>
              <a:t>question respectfully</a:t>
            </a:r>
            <a:endParaRPr lang="en-US" sz="1400" dirty="0"/>
          </a:p>
        </p:txBody>
      </p:sp>
      <p:sp>
        <p:nvSpPr>
          <p:cNvPr id="45" name="Shape 38"/>
          <p:cNvSpPr/>
          <p:nvPr/>
        </p:nvSpPr>
        <p:spPr>
          <a:xfrm>
            <a:off x="6400800" y="4279392"/>
            <a:ext cx="548640" cy="548640"/>
          </a:xfrm>
          <a:prstGeom prst="ellipse">
            <a:avLst/>
          </a:prstGeom>
          <a:solidFill>
            <a:srgbClr val="1B3B6F"/>
          </a:solidFill>
          <a:ln w="12700">
            <a:solidFill>
              <a:srgbClr val="1B3B6F"/>
            </a:solidFill>
            <a:prstDash val="solid"/>
          </a:ln>
        </p:spPr>
      </p:sp>
      <p:sp>
        <p:nvSpPr>
          <p:cNvPr id="46" name="Text 39"/>
          <p:cNvSpPr txBox="1"/>
          <p:nvPr/>
        </p:nvSpPr>
        <p:spPr>
          <a:xfrm>
            <a:off x="6400800"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7" name="Text 40"/>
          <p:cNvSpPr txBox="1"/>
          <p:nvPr/>
        </p:nvSpPr>
        <p:spPr>
          <a:xfrm>
            <a:off x="7059168"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Share</a:t>
            </a:r>
            <a:endParaRPr lang="en-US" sz="1400" dirty="0"/>
          </a:p>
          <a:p>
            <a:pPr indent="0" marL="0">
              <a:buNone/>
            </a:pPr>
            <a:r>
              <a:rPr lang="en-US" sz="1100" dirty="0">
                <a:solidFill>
                  <a:srgbClr val="5A6472"/>
                </a:solidFill>
                <a:latin typeface="Calibri" pitchFamily="34" charset="0"/>
                <a:cs typeface="Amiri" pitchFamily="2" charset="-78"/>
              </a:rPr>
              <a:t>anyone may be invited</a:t>
            </a:r>
            <a:endParaRPr lang="en-US" sz="1400" dirty="0"/>
          </a:p>
        </p:txBody>
      </p:sp>
      <p:sp>
        <p:nvSpPr>
          <p:cNvPr id="48" name="Shape 41"/>
          <p:cNvSpPr/>
          <p:nvPr/>
        </p:nvSpPr>
        <p:spPr>
          <a:xfrm>
            <a:off x="8997696" y="4279392"/>
            <a:ext cx="548640" cy="548640"/>
          </a:xfrm>
          <a:prstGeom prst="ellipse">
            <a:avLst/>
          </a:prstGeom>
          <a:solidFill>
            <a:srgbClr val="1B3B6F"/>
          </a:solidFill>
          <a:ln w="12700">
            <a:solidFill>
              <a:srgbClr val="1B3B6F"/>
            </a:solidFill>
            <a:prstDash val="solid"/>
          </a:ln>
        </p:spPr>
      </p:sp>
      <p:sp>
        <p:nvSpPr>
          <p:cNvPr id="49" name="Text 42"/>
          <p:cNvSpPr txBox="1"/>
          <p:nvPr/>
        </p:nvSpPr>
        <p:spPr>
          <a:xfrm>
            <a:off x="8997696"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50" name="Text 43"/>
          <p:cNvSpPr txBox="1"/>
          <p:nvPr/>
        </p:nvSpPr>
        <p:spPr>
          <a:xfrm>
            <a:off x="9656064"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Summarise</a:t>
            </a:r>
            <a:endParaRPr lang="en-US" sz="1400" dirty="0"/>
          </a:p>
          <a:p>
            <a:pPr indent="0" marL="0">
              <a:buNone/>
            </a:pPr>
            <a:r>
              <a:rPr lang="en-US" sz="1100" dirty="0">
                <a:solidFill>
                  <a:srgbClr val="5A6472"/>
                </a:solidFill>
                <a:latin typeface="Calibri" pitchFamily="34" charset="0"/>
                <a:cs typeface="Amiri" pitchFamily="2" charset="-78"/>
              </a:rPr>
              <a:t>say it more precisely</a:t>
            </a:r>
            <a:endParaRPr lang="en-US" sz="1400" dirty="0"/>
          </a:p>
        </p:txBody>
      </p:sp>
      <p:sp>
        <p:nvSpPr>
          <p:cNvPr id="51" name="Text 44"/>
          <p:cNvSpPr txBox="1"/>
          <p:nvPr/>
        </p:nvSpPr>
        <p:spPr>
          <a:xfrm>
            <a:off x="6400800" y="5230368"/>
            <a:ext cx="5102352" cy="694944"/>
          </a:xfrm>
          <a:prstGeom prst="rect">
            <a:avLst/>
          </a:prstGeom>
          <a:noFill/>
          <a:ln/>
        </p:spPr>
        <p:txBody>
          <a:bodyPr wrap="square" lIns="0" tIns="0" rIns="0" bIns="0" rtlCol="0" anchor="ctr"/>
          <a:lstStyle/>
          <a:p>
            <a:pPr algn="l" indent="0" marL="0">
              <a:buNone/>
            </a:pPr>
            <a:r>
              <a:rPr lang="en-US" sz="1150" i="1" dirty="0">
                <a:solidFill>
                  <a:srgbClr val="8A6D1E"/>
                </a:solidFill>
                <a:latin typeface="Calibri" pitchFamily="34" charset="0"/>
                <a:cs typeface="Amiri" pitchFamily="2" charset="-78"/>
              </a:rPr>
              <a:t>I will always give you thinking and practice time before I ask anyone. Reading aloud is by invitation — you can always say “pass, please come back to me”.</a:t>
            </a:r>
            <a:endParaRPr lang="en-US" sz="1150" dirty="0"/>
          </a:p>
        </p:txBody>
      </p:sp>
      <p:sp>
        <p:nvSpPr>
          <p:cNvPr id="52"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 / 34</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GM-ADJ-08 · Adjectives</a:t>
            </a:r>
            <a:endParaRPr lang="en-US" sz="950" dirty="0"/>
          </a:p>
        </p:txBody>
      </p:sp>
      <p:sp>
        <p:nvSpPr>
          <p:cNvPr id="8" name="Shape 6"/>
          <p:cNvSpPr/>
          <p:nvPr/>
        </p:nvSpPr>
        <p:spPr>
          <a:xfrm>
            <a:off x="7388352" y="274320"/>
            <a:ext cx="1371600"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TODAY’S LESSON MAP</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lesson today, step by step</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خَرِيطَةُ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Adjectives · GM-ADJ-08</a:t>
            </a:r>
            <a:endParaRPr lang="en-US" sz="850" dirty="0"/>
          </a:p>
        </p:txBody>
      </p:sp>
      <p:sp>
        <p:nvSpPr>
          <p:cNvPr id="15" name="Shape 12"/>
          <p:cNvSpPr/>
          <p:nvPr/>
        </p:nvSpPr>
        <p:spPr>
          <a:xfrm>
            <a:off x="45720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66928" y="1938528"/>
            <a:ext cx="1281466" cy="566928"/>
          </a:xfrm>
          <a:prstGeom prst="roundRect">
            <a:avLst>
              <a:gd name="adj" fmla="val 9677"/>
            </a:avLst>
          </a:prstGeom>
          <a:solidFill>
            <a:srgbClr val="0E7C86"/>
          </a:solidFill>
          <a:ln w="12700">
            <a:solidFill>
              <a:srgbClr val="0E7C86"/>
            </a:solidFill>
            <a:prstDash val="solid"/>
          </a:ln>
        </p:spPr>
      </p:sp>
      <p:sp>
        <p:nvSpPr>
          <p:cNvPr id="17" name="Text 14"/>
          <p:cNvSpPr txBox="1"/>
          <p:nvPr/>
        </p:nvSpPr>
        <p:spPr>
          <a:xfrm>
            <a:off x="60350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DO NOW</a:t>
            </a:r>
            <a:endParaRPr lang="en-US" sz="1000" dirty="0"/>
          </a:p>
        </p:txBody>
      </p:sp>
      <p:sp>
        <p:nvSpPr>
          <p:cNvPr id="18" name="Text 15"/>
          <p:cNvSpPr txBox="1"/>
          <p:nvPr/>
        </p:nvSpPr>
        <p:spPr>
          <a:xfrm>
            <a:off x="60350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7 min</a:t>
            </a:r>
            <a:endParaRPr lang="en-US" sz="1000" dirty="0"/>
          </a:p>
        </p:txBody>
      </p:sp>
      <p:sp>
        <p:nvSpPr>
          <p:cNvPr id="19" name="Shape 16"/>
          <p:cNvSpPr/>
          <p:nvPr/>
        </p:nvSpPr>
        <p:spPr>
          <a:xfrm>
            <a:off x="1006493" y="2651760"/>
            <a:ext cx="402336" cy="402336"/>
          </a:xfrm>
          <a:prstGeom prst="ellipse">
            <a:avLst/>
          </a:prstGeom>
          <a:solidFill>
            <a:srgbClr val="F4F1EA"/>
          </a:solidFill>
          <a:ln w="12700">
            <a:solidFill>
              <a:srgbClr val="F4F1EA"/>
            </a:solidFill>
            <a:prstDash val="solid"/>
          </a:ln>
        </p:spPr>
      </p:sp>
      <p:sp>
        <p:nvSpPr>
          <p:cNvPr id="20" name="Text 17"/>
          <p:cNvSpPr txBox="1"/>
          <p:nvPr/>
        </p:nvSpPr>
        <p:spPr>
          <a:xfrm>
            <a:off x="100649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1</a:t>
            </a:r>
            <a:endParaRPr lang="en-US" sz="1300" dirty="0"/>
          </a:p>
        </p:txBody>
      </p:sp>
      <p:sp>
        <p:nvSpPr>
          <p:cNvPr id="21" name="Text 18"/>
          <p:cNvSpPr txBox="1"/>
          <p:nvPr/>
        </p:nvSpPr>
        <p:spPr>
          <a:xfrm>
            <a:off x="58521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Retrieval quiz on your own, then we check together.</a:t>
            </a:r>
            <a:endParaRPr lang="en-US" sz="1200" dirty="0"/>
          </a:p>
        </p:txBody>
      </p:sp>
      <p:sp>
        <p:nvSpPr>
          <p:cNvPr id="22" name="Text 19"/>
          <p:cNvSpPr txBox="1"/>
          <p:nvPr/>
        </p:nvSpPr>
        <p:spPr>
          <a:xfrm>
            <a:off x="54864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0E7C86"/>
                </a:solidFill>
                <a:latin typeface="Amiri" pitchFamily="2" charset="-78"/>
                <a:ea typeface="Amiri" pitchFamily="2" charset="-78"/>
                <a:cs typeface="Amiri" pitchFamily="2" charset="-78"/>
              </a:rPr>
              <a:t>اِبْدَأِ الآنَ</a:t>
            </a:r>
            <a:endParaRPr lang="ar-SA" sz="1500" dirty="0"/>
          </a:p>
        </p:txBody>
      </p:sp>
      <p:sp>
        <p:nvSpPr>
          <p:cNvPr id="23" name="Shape 20"/>
          <p:cNvSpPr/>
          <p:nvPr/>
        </p:nvSpPr>
        <p:spPr>
          <a:xfrm>
            <a:off x="2086138"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2195866" y="1938528"/>
            <a:ext cx="1281466" cy="566928"/>
          </a:xfrm>
          <a:prstGeom prst="roundRect">
            <a:avLst>
              <a:gd name="adj" fmla="val 9677"/>
            </a:avLst>
          </a:prstGeom>
          <a:solidFill>
            <a:srgbClr val="1B3B6F"/>
          </a:solidFill>
          <a:ln w="12700">
            <a:solidFill>
              <a:srgbClr val="1B3B6F"/>
            </a:solidFill>
            <a:prstDash val="solid"/>
          </a:ln>
        </p:spPr>
      </p:sp>
      <p:sp>
        <p:nvSpPr>
          <p:cNvPr id="25" name="Text 22"/>
          <p:cNvSpPr txBox="1"/>
          <p:nvPr/>
        </p:nvSpPr>
        <p:spPr>
          <a:xfrm>
            <a:off x="2232442"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TEACHER INSTRUCTION</a:t>
            </a:r>
            <a:endParaRPr lang="en-US" sz="1000" dirty="0"/>
          </a:p>
        </p:txBody>
      </p:sp>
      <p:sp>
        <p:nvSpPr>
          <p:cNvPr id="26" name="Text 23"/>
          <p:cNvSpPr txBox="1"/>
          <p:nvPr/>
        </p:nvSpPr>
        <p:spPr>
          <a:xfrm>
            <a:off x="2232442"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14 min</a:t>
            </a:r>
            <a:endParaRPr lang="en-US" sz="1000" dirty="0"/>
          </a:p>
        </p:txBody>
      </p:sp>
      <p:sp>
        <p:nvSpPr>
          <p:cNvPr id="27" name="Shape 24"/>
          <p:cNvSpPr/>
          <p:nvPr/>
        </p:nvSpPr>
        <p:spPr>
          <a:xfrm>
            <a:off x="2635431" y="2651760"/>
            <a:ext cx="402336" cy="402336"/>
          </a:xfrm>
          <a:prstGeom prst="ellipse">
            <a:avLst/>
          </a:prstGeom>
          <a:solidFill>
            <a:srgbClr val="F4F1EA"/>
          </a:solidFill>
          <a:ln w="12700">
            <a:solidFill>
              <a:srgbClr val="F4F1EA"/>
            </a:solidFill>
            <a:prstDash val="solid"/>
          </a:ln>
        </p:spPr>
      </p:sp>
      <p:sp>
        <p:nvSpPr>
          <p:cNvPr id="28" name="Text 25"/>
          <p:cNvSpPr txBox="1"/>
          <p:nvPr/>
        </p:nvSpPr>
        <p:spPr>
          <a:xfrm>
            <a:off x="2635431"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2</a:t>
            </a:r>
            <a:endParaRPr lang="en-US" sz="1300" dirty="0"/>
          </a:p>
        </p:txBody>
      </p:sp>
      <p:sp>
        <p:nvSpPr>
          <p:cNvPr id="29" name="Text 26"/>
          <p:cNvSpPr txBox="1"/>
          <p:nvPr/>
        </p:nvSpPr>
        <p:spPr>
          <a:xfrm>
            <a:off x="2214154"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What “defective” means; when the yāʾ returns; feminine forms.</a:t>
            </a:r>
            <a:endParaRPr lang="en-US" sz="1200" dirty="0"/>
          </a:p>
        </p:txBody>
      </p:sp>
      <p:sp>
        <p:nvSpPr>
          <p:cNvPr id="30" name="Text 27"/>
          <p:cNvSpPr txBox="1"/>
          <p:nvPr/>
        </p:nvSpPr>
        <p:spPr>
          <a:xfrm>
            <a:off x="2177578"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كَلِمَاتٌ وَقَوَاعِدُ</a:t>
            </a:r>
            <a:endParaRPr lang="ar-SA" sz="1500" dirty="0"/>
          </a:p>
        </p:txBody>
      </p:sp>
      <p:sp>
        <p:nvSpPr>
          <p:cNvPr id="31" name="Shape 28"/>
          <p:cNvSpPr/>
          <p:nvPr/>
        </p:nvSpPr>
        <p:spPr>
          <a:xfrm>
            <a:off x="3715077"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3824805" y="1938528"/>
            <a:ext cx="1281466" cy="566928"/>
          </a:xfrm>
          <a:prstGeom prst="roundRect">
            <a:avLst>
              <a:gd name="adj" fmla="val 9677"/>
            </a:avLst>
          </a:prstGeom>
          <a:solidFill>
            <a:srgbClr val="6B4C9A"/>
          </a:solidFill>
          <a:ln w="12700">
            <a:solidFill>
              <a:srgbClr val="6B4C9A"/>
            </a:solidFill>
            <a:prstDash val="solid"/>
          </a:ln>
        </p:spPr>
      </p:sp>
      <p:sp>
        <p:nvSpPr>
          <p:cNvPr id="33" name="Text 30"/>
          <p:cNvSpPr txBox="1"/>
          <p:nvPr/>
        </p:nvSpPr>
        <p:spPr>
          <a:xfrm>
            <a:off x="3861381"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I DO</a:t>
            </a:r>
            <a:endParaRPr lang="en-US" sz="1000" dirty="0"/>
          </a:p>
        </p:txBody>
      </p:sp>
      <p:sp>
        <p:nvSpPr>
          <p:cNvPr id="34" name="Text 31"/>
          <p:cNvSpPr txBox="1"/>
          <p:nvPr/>
        </p:nvSpPr>
        <p:spPr>
          <a:xfrm>
            <a:off x="3861381"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3 min</a:t>
            </a:r>
            <a:endParaRPr lang="en-US" sz="1000" dirty="0"/>
          </a:p>
        </p:txBody>
      </p:sp>
      <p:sp>
        <p:nvSpPr>
          <p:cNvPr id="35" name="Shape 32"/>
          <p:cNvSpPr/>
          <p:nvPr/>
        </p:nvSpPr>
        <p:spPr>
          <a:xfrm>
            <a:off x="4264370" y="2651760"/>
            <a:ext cx="402336" cy="402336"/>
          </a:xfrm>
          <a:prstGeom prst="ellipse">
            <a:avLst/>
          </a:prstGeom>
          <a:solidFill>
            <a:srgbClr val="F4F1EA"/>
          </a:solidFill>
          <a:ln w="12700">
            <a:solidFill>
              <a:srgbClr val="F4F1EA"/>
            </a:solidFill>
            <a:prstDash val="solid"/>
          </a:ln>
        </p:spPr>
      </p:sp>
      <p:sp>
        <p:nvSpPr>
          <p:cNvPr id="36" name="Text 33"/>
          <p:cNvSpPr txBox="1"/>
          <p:nvPr/>
        </p:nvSpPr>
        <p:spPr>
          <a:xfrm>
            <a:off x="4264370"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3</a:t>
            </a:r>
            <a:endParaRPr lang="en-US" sz="1300" dirty="0"/>
          </a:p>
        </p:txBody>
      </p:sp>
      <p:sp>
        <p:nvSpPr>
          <p:cNvPr id="37" name="Text 34"/>
          <p:cNvSpPr txBox="1"/>
          <p:nvPr/>
        </p:nvSpPr>
        <p:spPr>
          <a:xfrm>
            <a:off x="3843093"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Watch me build one sentence. Copy it into your book.</a:t>
            </a:r>
            <a:endParaRPr lang="en-US" sz="1200" dirty="0"/>
          </a:p>
        </p:txBody>
      </p:sp>
      <p:sp>
        <p:nvSpPr>
          <p:cNvPr id="38" name="Text 35"/>
          <p:cNvSpPr txBox="1"/>
          <p:nvPr/>
        </p:nvSpPr>
        <p:spPr>
          <a:xfrm>
            <a:off x="3806517"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6B4C9A"/>
                </a:solidFill>
                <a:latin typeface="Amiri" pitchFamily="2" charset="-78"/>
                <a:ea typeface="Amiri" pitchFamily="2" charset="-78"/>
                <a:cs typeface="Amiri" pitchFamily="2" charset="-78"/>
              </a:rPr>
              <a:t>شَاهِدْ</a:t>
            </a:r>
            <a:endParaRPr lang="ar-SA" sz="1500" dirty="0"/>
          </a:p>
        </p:txBody>
      </p:sp>
      <p:sp>
        <p:nvSpPr>
          <p:cNvPr id="39" name="Shape 36"/>
          <p:cNvSpPr/>
          <p:nvPr/>
        </p:nvSpPr>
        <p:spPr>
          <a:xfrm>
            <a:off x="5344015"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5453743" y="1938528"/>
            <a:ext cx="1281466" cy="566928"/>
          </a:xfrm>
          <a:prstGeom prst="roundRect">
            <a:avLst>
              <a:gd name="adj" fmla="val 9677"/>
            </a:avLst>
          </a:prstGeom>
          <a:solidFill>
            <a:srgbClr val="2F6FB0"/>
          </a:solidFill>
          <a:ln w="12700">
            <a:solidFill>
              <a:srgbClr val="2F6FB0"/>
            </a:solidFill>
            <a:prstDash val="solid"/>
          </a:ln>
        </p:spPr>
      </p:sp>
      <p:sp>
        <p:nvSpPr>
          <p:cNvPr id="41" name="Text 38"/>
          <p:cNvSpPr txBox="1"/>
          <p:nvPr/>
        </p:nvSpPr>
        <p:spPr>
          <a:xfrm>
            <a:off x="5490319"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WE DO</a:t>
            </a:r>
            <a:endParaRPr lang="en-US" sz="1000" dirty="0"/>
          </a:p>
        </p:txBody>
      </p:sp>
      <p:sp>
        <p:nvSpPr>
          <p:cNvPr id="42" name="Text 39"/>
          <p:cNvSpPr txBox="1"/>
          <p:nvPr/>
        </p:nvSpPr>
        <p:spPr>
          <a:xfrm>
            <a:off x="5490319"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9 min</a:t>
            </a:r>
            <a:endParaRPr lang="en-US" sz="1000" dirty="0"/>
          </a:p>
        </p:txBody>
      </p:sp>
      <p:sp>
        <p:nvSpPr>
          <p:cNvPr id="43" name="Shape 40"/>
          <p:cNvSpPr/>
          <p:nvPr/>
        </p:nvSpPr>
        <p:spPr>
          <a:xfrm>
            <a:off x="5893308" y="2651760"/>
            <a:ext cx="402336" cy="402336"/>
          </a:xfrm>
          <a:prstGeom prst="ellipse">
            <a:avLst/>
          </a:prstGeom>
          <a:solidFill>
            <a:srgbClr val="F4F1EA"/>
          </a:solidFill>
          <a:ln w="12700">
            <a:solidFill>
              <a:srgbClr val="F4F1EA"/>
            </a:solidFill>
            <a:prstDash val="solid"/>
          </a:ln>
        </p:spPr>
      </p:sp>
      <p:sp>
        <p:nvSpPr>
          <p:cNvPr id="44" name="Text 41"/>
          <p:cNvSpPr txBox="1"/>
          <p:nvPr/>
        </p:nvSpPr>
        <p:spPr>
          <a:xfrm>
            <a:off x="5893308"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4</a:t>
            </a:r>
            <a:endParaRPr lang="en-US" sz="1300" dirty="0"/>
          </a:p>
        </p:txBody>
      </p:sp>
      <p:sp>
        <p:nvSpPr>
          <p:cNvPr id="45" name="Text 42"/>
          <p:cNvSpPr txBox="1"/>
          <p:nvPr/>
        </p:nvSpPr>
        <p:spPr>
          <a:xfrm>
            <a:off x="5472031"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Sort hidden / visible yāʾ, complete, repair.</a:t>
            </a:r>
            <a:endParaRPr lang="en-US" sz="1200" dirty="0"/>
          </a:p>
        </p:txBody>
      </p:sp>
      <p:sp>
        <p:nvSpPr>
          <p:cNvPr id="46" name="Text 43"/>
          <p:cNvSpPr txBox="1"/>
          <p:nvPr/>
        </p:nvSpPr>
        <p:spPr>
          <a:xfrm>
            <a:off x="5435455"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2F6FB0"/>
                </a:solidFill>
                <a:latin typeface="Amiri" pitchFamily="2" charset="-78"/>
                <a:ea typeface="Amiri" pitchFamily="2" charset="-78"/>
                <a:cs typeface="Amiri" pitchFamily="2" charset="-78"/>
              </a:rPr>
              <a:t>مَعًا</a:t>
            </a:r>
            <a:endParaRPr lang="ar-SA" sz="1500" dirty="0"/>
          </a:p>
        </p:txBody>
      </p:sp>
      <p:sp>
        <p:nvSpPr>
          <p:cNvPr id="47" name="Shape 44"/>
          <p:cNvSpPr/>
          <p:nvPr/>
        </p:nvSpPr>
        <p:spPr>
          <a:xfrm>
            <a:off x="6972953"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7082681" y="1938528"/>
            <a:ext cx="1281466" cy="566928"/>
          </a:xfrm>
          <a:prstGeom prst="roundRect">
            <a:avLst>
              <a:gd name="adj" fmla="val 9677"/>
            </a:avLst>
          </a:prstGeom>
          <a:solidFill>
            <a:srgbClr val="1E6B52"/>
          </a:solidFill>
          <a:ln w="12700">
            <a:solidFill>
              <a:srgbClr val="1E6B52"/>
            </a:solidFill>
            <a:prstDash val="solid"/>
          </a:ln>
        </p:spPr>
      </p:sp>
      <p:sp>
        <p:nvSpPr>
          <p:cNvPr id="49" name="Text 46"/>
          <p:cNvSpPr txBox="1"/>
          <p:nvPr/>
        </p:nvSpPr>
        <p:spPr>
          <a:xfrm>
            <a:off x="7119257"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YOU DO</a:t>
            </a:r>
            <a:endParaRPr lang="en-US" sz="1000" dirty="0"/>
          </a:p>
        </p:txBody>
      </p:sp>
      <p:sp>
        <p:nvSpPr>
          <p:cNvPr id="50" name="Text 47"/>
          <p:cNvSpPr txBox="1"/>
          <p:nvPr/>
        </p:nvSpPr>
        <p:spPr>
          <a:xfrm>
            <a:off x="7119257"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12 min</a:t>
            </a:r>
            <a:endParaRPr lang="en-US" sz="1000" dirty="0"/>
          </a:p>
        </p:txBody>
      </p:sp>
      <p:sp>
        <p:nvSpPr>
          <p:cNvPr id="51" name="Shape 48"/>
          <p:cNvSpPr/>
          <p:nvPr/>
        </p:nvSpPr>
        <p:spPr>
          <a:xfrm>
            <a:off x="7522246" y="2651760"/>
            <a:ext cx="402336" cy="402336"/>
          </a:xfrm>
          <a:prstGeom prst="ellipse">
            <a:avLst/>
          </a:prstGeom>
          <a:solidFill>
            <a:srgbClr val="F4F1EA"/>
          </a:solidFill>
          <a:ln w="12700">
            <a:solidFill>
              <a:srgbClr val="F4F1EA"/>
            </a:solidFill>
            <a:prstDash val="solid"/>
          </a:ln>
        </p:spPr>
      </p:sp>
      <p:sp>
        <p:nvSpPr>
          <p:cNvPr id="52" name="Text 49"/>
          <p:cNvSpPr txBox="1"/>
          <p:nvPr/>
        </p:nvSpPr>
        <p:spPr>
          <a:xfrm>
            <a:off x="7522246"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5</a:t>
            </a:r>
            <a:endParaRPr lang="en-US" sz="1300" dirty="0"/>
          </a:p>
        </p:txBody>
      </p:sp>
      <p:sp>
        <p:nvSpPr>
          <p:cNvPr id="53" name="Text 50"/>
          <p:cNvSpPr txBox="1"/>
          <p:nvPr/>
        </p:nvSpPr>
        <p:spPr>
          <a:xfrm>
            <a:off x="7100969"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Speak first, then write on your route.</a:t>
            </a:r>
            <a:endParaRPr lang="en-US" sz="1200" dirty="0"/>
          </a:p>
        </p:txBody>
      </p:sp>
      <p:sp>
        <p:nvSpPr>
          <p:cNvPr id="54" name="Text 51"/>
          <p:cNvSpPr txBox="1"/>
          <p:nvPr/>
        </p:nvSpPr>
        <p:spPr>
          <a:xfrm>
            <a:off x="7064393"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2" charset="-78"/>
                <a:ea typeface="Amiri" pitchFamily="2" charset="-78"/>
                <a:cs typeface="Amiri" pitchFamily="2" charset="-78"/>
              </a:rPr>
              <a:t>وَحْدَكَ</a:t>
            </a:r>
            <a:endParaRPr lang="ar-SA" sz="1500" dirty="0"/>
          </a:p>
        </p:txBody>
      </p:sp>
      <p:sp>
        <p:nvSpPr>
          <p:cNvPr id="55" name="Shape 52"/>
          <p:cNvSpPr/>
          <p:nvPr/>
        </p:nvSpPr>
        <p:spPr>
          <a:xfrm>
            <a:off x="8601891"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8711619" y="1938528"/>
            <a:ext cx="1281466" cy="566928"/>
          </a:xfrm>
          <a:prstGeom prst="roundRect">
            <a:avLst>
              <a:gd name="adj" fmla="val 9677"/>
            </a:avLst>
          </a:prstGeom>
          <a:solidFill>
            <a:srgbClr val="8A6D1E"/>
          </a:solidFill>
          <a:ln w="12700">
            <a:solidFill>
              <a:srgbClr val="8A6D1E"/>
            </a:solidFill>
            <a:prstDash val="solid"/>
          </a:ln>
        </p:spPr>
      </p:sp>
      <p:sp>
        <p:nvSpPr>
          <p:cNvPr id="57" name="Text 54"/>
          <p:cNvSpPr txBox="1"/>
          <p:nvPr/>
        </p:nvSpPr>
        <p:spPr>
          <a:xfrm>
            <a:off x="8748195"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FEEDBACK</a:t>
            </a:r>
            <a:endParaRPr lang="en-US" sz="1000" dirty="0"/>
          </a:p>
        </p:txBody>
      </p:sp>
      <p:sp>
        <p:nvSpPr>
          <p:cNvPr id="58" name="Text 55"/>
          <p:cNvSpPr txBox="1"/>
          <p:nvPr/>
        </p:nvSpPr>
        <p:spPr>
          <a:xfrm>
            <a:off x="8748195"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5 min</a:t>
            </a:r>
            <a:endParaRPr lang="en-US" sz="1000" dirty="0"/>
          </a:p>
        </p:txBody>
      </p:sp>
      <p:sp>
        <p:nvSpPr>
          <p:cNvPr id="59" name="Shape 56"/>
          <p:cNvSpPr/>
          <p:nvPr/>
        </p:nvSpPr>
        <p:spPr>
          <a:xfrm>
            <a:off x="9151185" y="2651760"/>
            <a:ext cx="402336" cy="402336"/>
          </a:xfrm>
          <a:prstGeom prst="ellipse">
            <a:avLst/>
          </a:prstGeom>
          <a:solidFill>
            <a:srgbClr val="F4F1EA"/>
          </a:solidFill>
          <a:ln w="12700">
            <a:solidFill>
              <a:srgbClr val="F4F1EA"/>
            </a:solidFill>
            <a:prstDash val="solid"/>
          </a:ln>
        </p:spPr>
      </p:sp>
      <p:sp>
        <p:nvSpPr>
          <p:cNvPr id="60" name="Text 57"/>
          <p:cNvSpPr txBox="1"/>
          <p:nvPr/>
        </p:nvSpPr>
        <p:spPr>
          <a:xfrm>
            <a:off x="9151185"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6</a:t>
            </a:r>
            <a:endParaRPr lang="en-US" sz="1300" dirty="0"/>
          </a:p>
        </p:txBody>
      </p:sp>
      <p:sp>
        <p:nvSpPr>
          <p:cNvPr id="61" name="Text 58"/>
          <p:cNvSpPr txBox="1"/>
          <p:nvPr/>
        </p:nvSpPr>
        <p:spPr>
          <a:xfrm>
            <a:off x="8729907"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Compare with a model and complete the exit ticket.</a:t>
            </a:r>
            <a:endParaRPr lang="en-US" sz="1200" dirty="0"/>
          </a:p>
        </p:txBody>
      </p:sp>
      <p:sp>
        <p:nvSpPr>
          <p:cNvPr id="62" name="Text 59"/>
          <p:cNvSpPr txBox="1"/>
          <p:nvPr/>
        </p:nvSpPr>
        <p:spPr>
          <a:xfrm>
            <a:off x="8693331"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8A6D1E"/>
                </a:solidFill>
                <a:latin typeface="Amiri" pitchFamily="2" charset="-78"/>
                <a:ea typeface="Amiri" pitchFamily="2" charset="-78"/>
                <a:cs typeface="Amiri" pitchFamily="2" charset="-78"/>
              </a:rPr>
              <a:t>قَيِّمْ عَمَلَكَ</a:t>
            </a:r>
            <a:endParaRPr lang="ar-SA" sz="1500" dirty="0"/>
          </a:p>
        </p:txBody>
      </p:sp>
      <p:sp>
        <p:nvSpPr>
          <p:cNvPr id="63" name="Shape 60"/>
          <p:cNvSpPr/>
          <p:nvPr/>
        </p:nvSpPr>
        <p:spPr>
          <a:xfrm>
            <a:off x="1023083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10340558" y="1938528"/>
            <a:ext cx="1281466" cy="566928"/>
          </a:xfrm>
          <a:prstGeom prst="roundRect">
            <a:avLst>
              <a:gd name="adj" fmla="val 9677"/>
            </a:avLst>
          </a:prstGeom>
          <a:solidFill>
            <a:srgbClr val="C45A3C"/>
          </a:solidFill>
          <a:ln w="12700">
            <a:solidFill>
              <a:srgbClr val="C45A3C"/>
            </a:solidFill>
            <a:prstDash val="solid"/>
          </a:ln>
        </p:spPr>
      </p:sp>
      <p:sp>
        <p:nvSpPr>
          <p:cNvPr id="65" name="Text 62"/>
          <p:cNvSpPr txBox="1"/>
          <p:nvPr/>
        </p:nvSpPr>
        <p:spPr>
          <a:xfrm>
            <a:off x="1037713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PREPARATION</a:t>
            </a:r>
            <a:endParaRPr lang="en-US" sz="1000" dirty="0"/>
          </a:p>
        </p:txBody>
      </p:sp>
      <p:sp>
        <p:nvSpPr>
          <p:cNvPr id="66" name="Text 63"/>
          <p:cNvSpPr txBox="1"/>
          <p:nvPr/>
        </p:nvSpPr>
        <p:spPr>
          <a:xfrm>
            <a:off x="1037713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2 min</a:t>
            </a:r>
            <a:endParaRPr lang="en-US" sz="1000" dirty="0"/>
          </a:p>
        </p:txBody>
      </p:sp>
      <p:sp>
        <p:nvSpPr>
          <p:cNvPr id="67" name="Shape 64"/>
          <p:cNvSpPr/>
          <p:nvPr/>
        </p:nvSpPr>
        <p:spPr>
          <a:xfrm>
            <a:off x="10780123" y="2651760"/>
            <a:ext cx="402336" cy="402336"/>
          </a:xfrm>
          <a:prstGeom prst="ellipse">
            <a:avLst/>
          </a:prstGeom>
          <a:solidFill>
            <a:srgbClr val="F4F1EA"/>
          </a:solidFill>
          <a:ln w="12700">
            <a:solidFill>
              <a:srgbClr val="F4F1EA"/>
            </a:solidFill>
            <a:prstDash val="solid"/>
          </a:ln>
        </p:spPr>
      </p:sp>
      <p:sp>
        <p:nvSpPr>
          <p:cNvPr id="68" name="Text 65"/>
          <p:cNvSpPr txBox="1"/>
          <p:nvPr/>
        </p:nvSpPr>
        <p:spPr>
          <a:xfrm>
            <a:off x="1078012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7</a:t>
            </a:r>
            <a:endParaRPr lang="en-US" sz="1300" dirty="0"/>
          </a:p>
        </p:txBody>
      </p:sp>
      <p:sp>
        <p:nvSpPr>
          <p:cNvPr id="69" name="Text 66"/>
          <p:cNvSpPr txBox="1"/>
          <p:nvPr/>
        </p:nvSpPr>
        <p:spPr>
          <a:xfrm>
            <a:off x="1035884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Get ready at home for GM-ADJ-09.</a:t>
            </a:r>
            <a:endParaRPr lang="en-US" sz="1200" dirty="0"/>
          </a:p>
        </p:txBody>
      </p:sp>
      <p:sp>
        <p:nvSpPr>
          <p:cNvPr id="70" name="Text 67"/>
          <p:cNvSpPr txBox="1"/>
          <p:nvPr/>
        </p:nvSpPr>
        <p:spPr>
          <a:xfrm>
            <a:off x="1032227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C45A3C"/>
                </a:solidFill>
                <a:latin typeface="Amiri" pitchFamily="2" charset="-78"/>
                <a:ea typeface="Amiri" pitchFamily="2" charset="-78"/>
                <a:cs typeface="Amiri" pitchFamily="2" charset="-78"/>
              </a:rPr>
              <a:t>اِسْتَعِدَّ</a:t>
            </a:r>
            <a:endParaRPr lang="ar-SA" sz="1500" dirty="0"/>
          </a:p>
        </p:txBody>
      </p:sp>
      <p:sp>
        <p:nvSpPr>
          <p:cNvPr id="71" name="Shape 68"/>
          <p:cNvSpPr/>
          <p:nvPr/>
        </p:nvSpPr>
        <p:spPr>
          <a:xfrm>
            <a:off x="457200" y="5285232"/>
            <a:ext cx="11274552" cy="1024128"/>
          </a:xfrm>
          <a:prstGeom prst="roundRect">
            <a:avLst>
              <a:gd name="adj" fmla="val 7143"/>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72" name="Text 69"/>
          <p:cNvSpPr txBox="1"/>
          <p:nvPr/>
        </p:nvSpPr>
        <p:spPr>
          <a:xfrm>
            <a:off x="685800" y="5358384"/>
            <a:ext cx="4572000"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IF ARABIC FEELS HARD TODAY</a:t>
            </a:r>
            <a:endParaRPr lang="en-US" sz="1000" dirty="0"/>
          </a:p>
        </p:txBody>
      </p:sp>
      <p:sp>
        <p:nvSpPr>
          <p:cNvPr id="73" name="Text 70"/>
          <p:cNvSpPr txBox="1"/>
          <p:nvPr/>
        </p:nvSpPr>
        <p:spPr>
          <a:xfrm>
            <a:off x="685800" y="5632704"/>
            <a:ext cx="10881360" cy="621792"/>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Look for the green CORE boxes: they give you transliteration, English meanings and sentence frames. You never need every word — find the key word first. You can answer in the chat, in English, or by holding up A / B / C to your camera.</a:t>
            </a:r>
            <a:endParaRPr lang="en-US" sz="1250" dirty="0"/>
          </a:p>
        </p:txBody>
      </p:sp>
      <p:sp>
        <p:nvSpPr>
          <p:cNvPr id="74" name="Text 7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 / 34</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GM-ADJ-08 · Adjectives</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DO NOW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cs typeface="Amiri" pitchFamily="2" charset="-78"/>
              </a:rPr>
              <a:t>DO NOW · ON YOUR OWN · 5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cs typeface="Amiri" pitchFamily="2" charset="-78"/>
              </a:rPr>
              <a:t>Retrieval: what do you remember?</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اِبْدَأِ الآنَ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Adjectives · GM-ADJ-08</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Complete </a:t>
            </a:r>
            <a:pPr algn="l" indent="0" marL="0">
              <a:buNone/>
            </a:pPr>
            <a:r>
              <a:rPr lang="ar-SA" altLang="en-US" sz="1650" b="1" dirty="0">
                <a:solidFill>
                  <a:srgbClr val="1B3B6F"/>
                </a:solidFill>
                <a:latin typeface="Amiri" pitchFamily="2" charset="-78"/>
                <a:ea typeface="Amiri" pitchFamily="2" charset="-78"/>
                <a:cs typeface="Amiri" pitchFamily="2" charset="-78"/>
              </a:rPr>
              <a:t>كِتَابٌ</a:t>
            </a:r>
            <a:pPr algn="l" indent="0" marL="0">
              <a:buNone/>
            </a:pPr>
            <a:r>
              <a:rPr lang="en-US" sz="1250" b="1" dirty="0">
                <a:solidFill>
                  <a:srgbClr val="1B3B6F"/>
                </a:solidFill>
                <a:latin typeface="Calibri" pitchFamily="34" charset="0"/>
                <a:cs typeface="Amiri" pitchFamily="2" charset="-78"/>
              </a:rPr>
              <a:t> ...</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غَالِيٌ</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غَالٍ</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غَالِيًا</a:t>
            </a:r>
            <a:endParaRPr lang="ar-SA" sz="20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Complete </a:t>
            </a:r>
            <a:pPr algn="l" indent="0" marL="0">
              <a:buNone/>
            </a:pPr>
            <a:r>
              <a:rPr lang="ar-SA" altLang="en-US" sz="1650" b="1" dirty="0">
                <a:solidFill>
                  <a:srgbClr val="1B3B6F"/>
                </a:solidFill>
                <a:latin typeface="Amiri" pitchFamily="2" charset="-78"/>
                <a:ea typeface="Amiri" pitchFamily="2" charset="-78"/>
                <a:cs typeface="Amiri" pitchFamily="2" charset="-78"/>
              </a:rPr>
              <a:t>الْكِتَابُ</a:t>
            </a:r>
            <a:pPr algn="l" indent="0" marL="0">
              <a:buNone/>
            </a:pPr>
            <a:r>
              <a:rPr lang="en-US" sz="1250" b="1" dirty="0">
                <a:solidFill>
                  <a:srgbClr val="1B3B6F"/>
                </a:solidFill>
                <a:latin typeface="Calibri" pitchFamily="34" charset="0"/>
                <a:cs typeface="Amiri" pitchFamily="2" charset="-78"/>
              </a:rPr>
              <a:t> ...</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الْغَالِي</a:t>
            </a:r>
            <a:endParaRPr lang="ar-SA" sz="20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الْغَالِ</a:t>
            </a:r>
            <a:endParaRPr lang="ar-SA" sz="20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غَالٍ</a:t>
            </a:r>
            <a:endParaRPr lang="ar-SA" sz="20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Complete </a:t>
            </a:r>
            <a:pPr algn="l" indent="0" marL="0">
              <a:buNone/>
            </a:pPr>
            <a:r>
              <a:rPr lang="ar-SA" altLang="en-US" sz="1650" b="1" dirty="0">
                <a:solidFill>
                  <a:srgbClr val="1B3B6F"/>
                </a:solidFill>
                <a:latin typeface="Amiri" pitchFamily="2" charset="-78"/>
                <a:ea typeface="Amiri" pitchFamily="2" charset="-78"/>
                <a:cs typeface="Amiri" pitchFamily="2" charset="-78"/>
              </a:rPr>
              <a:t>اشْتَرَيْتُ كِتَابًا</a:t>
            </a:r>
            <a:pPr algn="l" indent="0" marL="0">
              <a:buNone/>
            </a:pPr>
            <a:r>
              <a:rPr lang="en-US" sz="1250" b="1" dirty="0">
                <a:solidFill>
                  <a:srgbClr val="1B3B6F"/>
                </a:solidFill>
                <a:latin typeface="Calibri" pitchFamily="34" charset="0"/>
                <a:cs typeface="Amiri" pitchFamily="2" charset="-78"/>
              </a:rPr>
              <a:t> ...</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غَالٍ</a:t>
            </a:r>
            <a:endParaRPr lang="ar-SA" sz="20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الْغَالِي</a:t>
            </a:r>
            <a:endParaRPr lang="ar-SA" sz="20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غَالِيًا</a:t>
            </a:r>
            <a:endParaRPr lang="ar-SA" sz="20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feminine form</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غَالٍ</a:t>
            </a:r>
            <a:endParaRPr lang="ar-SA" sz="20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غَالِيُونَ</a:t>
            </a:r>
            <a:endParaRPr lang="ar-SA" sz="20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غَالِيَةٌ</a:t>
            </a:r>
            <a:endParaRPr lang="ar-SA" sz="20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principle best supports this lesson?</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Check the noun first</a:t>
            </a:r>
            <a:endParaRPr lang="en-US" sz="12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Translate word by word from English</a:t>
            </a:r>
            <a:endParaRPr lang="en-US" sz="12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Ignore definiteness</a:t>
            </a:r>
            <a:endParaRPr lang="en-US" sz="1250" dirty="0"/>
          </a:p>
        </p:txBody>
      </p:sp>
      <p:sp>
        <p:nvSpPr>
          <p:cNvPr id="80" name="Shape 77"/>
          <p:cNvSpPr/>
          <p:nvPr/>
        </p:nvSpPr>
        <p:spPr>
          <a:xfrm>
            <a:off x="8095488" y="4151376"/>
            <a:ext cx="3636264" cy="2157984"/>
          </a:xfrm>
          <a:prstGeom prst="roundRect">
            <a:avLst>
              <a:gd name="adj" fmla="val 3390"/>
            </a:avLst>
          </a:prstGeom>
          <a:solidFill>
            <a:srgbClr val="E8F4F5"/>
          </a:solidFill>
          <a:ln w="9525">
            <a:solidFill>
              <a:srgbClr val="9CCFD4"/>
            </a:solidFill>
            <a:prstDash val="solid"/>
          </a:ln>
          <a:effectLst>
            <a:outerShdw sx="100000" sy="100000" kx="0" ky="0" algn="bl" rotWithShape="0" blurRad="50800" dist="19050" dir="5400000">
              <a:srgbClr val="000000">
                <a:alpha val="10000"/>
              </a:srgbClr>
            </a:outerShdw>
          </a:effectLst>
        </p:spPr>
      </p:sp>
      <p:sp>
        <p:nvSpPr>
          <p:cNvPr id="81" name="Text 78"/>
          <p:cNvSpPr txBox="1"/>
          <p:nvPr/>
        </p:nvSpPr>
        <p:spPr>
          <a:xfrm>
            <a:off x="8296656" y="4471416"/>
            <a:ext cx="3270504" cy="274320"/>
          </a:xfrm>
          <a:prstGeom prst="rect">
            <a:avLst/>
          </a:prstGeom>
          <a:noFill/>
          <a:ln/>
        </p:spPr>
        <p:txBody>
          <a:bodyPr wrap="square" lIns="0" tIns="0" rIns="0" bIns="0" rtlCol="0" anchor="ctr"/>
          <a:lstStyle/>
          <a:p>
            <a:pPr algn="l" indent="0" marL="0">
              <a:buNone/>
            </a:pPr>
            <a:r>
              <a:rPr lang="en-US" sz="1100" b="1" spc="200" kern="0" dirty="0">
                <a:solidFill>
                  <a:srgbClr val="0E7C86"/>
                </a:solidFill>
                <a:latin typeface="Calibri" pitchFamily="34" charset="0"/>
                <a:cs typeface="Amiri" pitchFamily="2" charset="-78"/>
              </a:rPr>
              <a:t>HOW TO ANSWER</a:t>
            </a:r>
            <a:endParaRPr lang="en-US" sz="1100" dirty="0"/>
          </a:p>
        </p:txBody>
      </p:sp>
      <p:sp>
        <p:nvSpPr>
          <p:cNvPr id="82" name="Text 79"/>
          <p:cNvSpPr txBox="1"/>
          <p:nvPr/>
        </p:nvSpPr>
        <p:spPr>
          <a:xfrm>
            <a:off x="8296656" y="4754880"/>
            <a:ext cx="3270504" cy="82296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cs typeface="Amiri" pitchFamily="2" charset="-78"/>
              </a:rPr>
              <a:t>Work on your own in silence.</a:t>
            </a:r>
            <a:endParaRPr lang="en-US" sz="1350" dirty="0"/>
          </a:p>
          <a:p>
            <a:pPr algn="l" indent="0" marL="0">
              <a:buNone/>
            </a:pPr>
            <a:r>
              <a:rPr lang="en-US" sz="1350" dirty="0">
                <a:solidFill>
                  <a:srgbClr val="1F2A37"/>
                </a:solidFill>
                <a:latin typeface="Calibri" pitchFamily="34" charset="0"/>
                <a:cs typeface="Amiri" pitchFamily="2" charset="-78"/>
              </a:rPr>
              <a:t>When the timer ends, type in the chat:</a:t>
            </a:r>
            <a:endParaRPr lang="en-US" sz="1350" dirty="0"/>
          </a:p>
        </p:txBody>
      </p:sp>
      <p:sp>
        <p:nvSpPr>
          <p:cNvPr id="83" name="Text 80"/>
          <p:cNvSpPr txBox="1"/>
          <p:nvPr/>
        </p:nvSpPr>
        <p:spPr>
          <a:xfrm>
            <a:off x="8296656" y="5522976"/>
            <a:ext cx="3270504" cy="310896"/>
          </a:xfrm>
          <a:prstGeom prst="rect">
            <a:avLst/>
          </a:prstGeom>
          <a:noFill/>
          <a:ln/>
        </p:spPr>
        <p:txBody>
          <a:bodyPr wrap="square" lIns="0" tIns="0" rIns="0" bIns="0" rtlCol="0" anchor="ctr"/>
          <a:lstStyle/>
          <a:p>
            <a:pPr algn="l" indent="0" marL="0">
              <a:buNone/>
            </a:pPr>
            <a:r>
              <a:rPr lang="en-US" sz="1400" b="1" dirty="0">
                <a:solidFill>
                  <a:srgbClr val="1B3B6F"/>
                </a:solidFill>
                <a:latin typeface="Consolas" pitchFamily="34" charset="0"/>
                <a:cs typeface="Amiri" pitchFamily="2" charset="-78"/>
              </a:rPr>
              <a:t>1_  2_  3_  4_  5_</a:t>
            </a:r>
            <a:endParaRPr lang="en-US" sz="1400" dirty="0"/>
          </a:p>
        </p:txBody>
      </p:sp>
      <p:sp>
        <p:nvSpPr>
          <p:cNvPr id="84" name="Text 81"/>
          <p:cNvSpPr txBox="1"/>
          <p:nvPr/>
        </p:nvSpPr>
        <p:spPr>
          <a:xfrm>
            <a:off x="8296656" y="5742432"/>
            <a:ext cx="3270504" cy="402336"/>
          </a:xfrm>
          <a:prstGeom prst="rect">
            <a:avLst/>
          </a:prstGeom>
          <a:noFill/>
          <a:ln/>
        </p:spPr>
        <p:txBody>
          <a:bodyPr wrap="square" lIns="0" tIns="0" rIns="0" bIns="0" rtlCol="0" anchor="ctr"/>
          <a:lstStyle/>
          <a:p>
            <a:pPr algn="l" indent="0" marL="0">
              <a:buNone/>
            </a:pPr>
            <a:r>
              <a:rPr lang="en-US" sz="1800" b="1" dirty="0">
                <a:solidFill>
                  <a:srgbClr val="0E7C86"/>
                </a:solidFill>
                <a:latin typeface="Calibri" pitchFamily="34" charset="0"/>
                <a:cs typeface="Amiri" pitchFamily="2" charset="-78"/>
              </a:rPr>
              <a:t>⏱  5 : 00</a:t>
            </a:r>
            <a:endParaRPr lang="en-US" sz="1800" dirty="0"/>
          </a:p>
        </p:txBody>
      </p:sp>
      <p:sp>
        <p:nvSpPr>
          <p:cNvPr id="85" name="Text 8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 / 34</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GM-ADJ-08 · Adjectives</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DO NOW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cs typeface="Amiri" pitchFamily="2" charset="-78"/>
              </a:rPr>
              <a:t>DO NOW · ANSWERS AND REASONS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Let’s check — and explain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Adjectives · GM-ADJ-08</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Complete </a:t>
            </a:r>
            <a:pPr algn="l" indent="0" marL="0">
              <a:buNone/>
            </a:pPr>
            <a:r>
              <a:rPr lang="ar-SA" altLang="en-US" sz="1650" b="1" dirty="0">
                <a:solidFill>
                  <a:srgbClr val="1B3B6F"/>
                </a:solidFill>
                <a:latin typeface="Amiri" pitchFamily="2" charset="-78"/>
                <a:ea typeface="Amiri" pitchFamily="2" charset="-78"/>
                <a:cs typeface="Amiri" pitchFamily="2" charset="-78"/>
              </a:rPr>
              <a:t>كِتَابٌ</a:t>
            </a:r>
            <a:pPr algn="l" indent="0" marL="0">
              <a:buNone/>
            </a:pPr>
            <a:r>
              <a:rPr lang="en-US" sz="1250" b="1" dirty="0">
                <a:solidFill>
                  <a:srgbClr val="1B3B6F"/>
                </a:solidFill>
                <a:latin typeface="Calibri" pitchFamily="34" charset="0"/>
                <a:cs typeface="Amiri" pitchFamily="2" charset="-78"/>
              </a:rPr>
              <a:t> ...</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غَالِيٌ</a:t>
            </a:r>
            <a:endParaRPr lang="ar-SA" sz="170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غَالٍ</a:t>
            </a:r>
            <a:endParaRPr lang="ar-SA" sz="170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غَالِيًا</a:t>
            </a:r>
            <a:endParaRPr lang="ar-SA" sz="170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indefinite nominative drops the yāʾ.</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Complete </a:t>
            </a:r>
            <a:pPr algn="l" indent="0" marL="0">
              <a:buNone/>
            </a:pPr>
            <a:r>
              <a:rPr lang="ar-SA" altLang="en-US" sz="1650" b="1" dirty="0">
                <a:solidFill>
                  <a:srgbClr val="1B3B6F"/>
                </a:solidFill>
                <a:latin typeface="Amiri" pitchFamily="2" charset="-78"/>
                <a:ea typeface="Amiri" pitchFamily="2" charset="-78"/>
                <a:cs typeface="Amiri" pitchFamily="2" charset="-78"/>
              </a:rPr>
              <a:t>الْكِتَابُ</a:t>
            </a:r>
            <a:pPr algn="l" indent="0" marL="0">
              <a:buNone/>
            </a:pPr>
            <a:r>
              <a:rPr lang="en-US" sz="1250" b="1" dirty="0">
                <a:solidFill>
                  <a:srgbClr val="1B3B6F"/>
                </a:solidFill>
                <a:latin typeface="Calibri" pitchFamily="34" charset="0"/>
                <a:cs typeface="Amiri" pitchFamily="2" charset="-78"/>
              </a:rPr>
              <a:t> ...</a:t>
            </a:r>
            <a:endParaRPr lang="en-US" sz="1250" dirty="0"/>
          </a:p>
        </p:txBody>
      </p:sp>
      <p:sp>
        <p:nvSpPr>
          <p:cNvPr id="34" name="Shape 31"/>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4459224"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7" name="Text 34"/>
          <p:cNvSpPr txBox="1"/>
          <p:nvPr/>
        </p:nvSpPr>
        <p:spPr>
          <a:xfrm>
            <a:off x="4788408" y="243230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الْغَالِي</a:t>
            </a:r>
            <a:endParaRPr lang="ar-SA" sz="1700" dirty="0"/>
          </a:p>
        </p:txBody>
      </p:sp>
      <p:sp>
        <p:nvSpPr>
          <p:cNvPr id="38" name="Shape 35"/>
          <p:cNvSpPr/>
          <p:nvPr/>
        </p:nvSpPr>
        <p:spPr>
          <a:xfrm>
            <a:off x="4459224"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0" name="Text 37"/>
          <p:cNvSpPr txBox="1"/>
          <p:nvPr/>
        </p:nvSpPr>
        <p:spPr>
          <a:xfrm>
            <a:off x="4788408"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الْغَالِ</a:t>
            </a:r>
            <a:endParaRPr lang="ar-SA" sz="1700" dirty="0"/>
          </a:p>
        </p:txBody>
      </p:sp>
      <p:sp>
        <p:nvSpPr>
          <p:cNvPr id="41" name="Shape 38"/>
          <p:cNvSpPr/>
          <p:nvPr/>
        </p:nvSpPr>
        <p:spPr>
          <a:xfrm>
            <a:off x="4459224"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غَالٍ</a:t>
            </a:r>
            <a:endParaRPr lang="ar-SA" sz="170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definite form restores the yāʾ.</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Complete </a:t>
            </a:r>
            <a:pPr algn="l" indent="0" marL="0">
              <a:buNone/>
            </a:pPr>
            <a:r>
              <a:rPr lang="ar-SA" altLang="en-US" sz="1650" b="1" dirty="0">
                <a:solidFill>
                  <a:srgbClr val="1B3B6F"/>
                </a:solidFill>
                <a:latin typeface="Amiri" pitchFamily="2" charset="-78"/>
                <a:ea typeface="Amiri" pitchFamily="2" charset="-78"/>
                <a:cs typeface="Amiri" pitchFamily="2" charset="-78"/>
              </a:rPr>
              <a:t>اشْتَرَيْتُ كِتَابًا</a:t>
            </a:r>
            <a:pPr algn="l" indent="0" marL="0">
              <a:buNone/>
            </a:pPr>
            <a:r>
              <a:rPr lang="en-US" sz="1250" b="1" dirty="0">
                <a:solidFill>
                  <a:srgbClr val="1B3B6F"/>
                </a:solidFill>
                <a:latin typeface="Calibri" pitchFamily="34" charset="0"/>
                <a:cs typeface="Amiri" pitchFamily="2" charset="-78"/>
              </a:rPr>
              <a:t> ...</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غَالٍ</a:t>
            </a:r>
            <a:endParaRPr lang="ar-SA" sz="170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الْغَالِي</a:t>
            </a:r>
            <a:endParaRPr lang="ar-SA" sz="170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غَالِيًا</a:t>
            </a:r>
            <a:endParaRPr lang="ar-SA" sz="170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indefinite accusative keeps the yāʾ.</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feminine form</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غَالٍ</a:t>
            </a:r>
            <a:endParaRPr lang="ar-SA" sz="1700" dirty="0"/>
          </a:p>
        </p:txBody>
      </p:sp>
      <p:sp>
        <p:nvSpPr>
          <p:cNvPr id="67" name="Shape 64"/>
          <p:cNvSpPr/>
          <p:nvPr/>
        </p:nvSpPr>
        <p:spPr>
          <a:xfrm>
            <a:off x="640080" y="5202936"/>
            <a:ext cx="256032" cy="256032"/>
          </a:xfrm>
          <a:prstGeom prst="ellipse">
            <a:avLst/>
          </a:prstGeom>
          <a:solidFill>
            <a:srgbClr val="C9CED6"/>
          </a:solidFill>
          <a:ln w="12700">
            <a:solidFill>
              <a:srgbClr val="C9CED6"/>
            </a:solidFill>
            <a:prstDash val="solid"/>
          </a:ln>
        </p:spPr>
      </p:sp>
      <p:sp>
        <p:nvSpPr>
          <p:cNvPr id="68" name="Text 65"/>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9" name="Text 66"/>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غَالِيُونَ</a:t>
            </a:r>
            <a:endParaRPr lang="ar-SA" sz="1700" dirty="0"/>
          </a:p>
        </p:txBody>
      </p:sp>
      <p:sp>
        <p:nvSpPr>
          <p:cNvPr id="70" name="Shape 67"/>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1" name="Shape 68"/>
          <p:cNvSpPr/>
          <p:nvPr/>
        </p:nvSpPr>
        <p:spPr>
          <a:xfrm>
            <a:off x="640080" y="5574792"/>
            <a:ext cx="256032" cy="256032"/>
          </a:xfrm>
          <a:prstGeom prst="ellipse">
            <a:avLst/>
          </a:prstGeom>
          <a:solidFill>
            <a:srgbClr val="2E8B57"/>
          </a:solidFill>
          <a:ln w="12700">
            <a:solidFill>
              <a:srgbClr val="2E8B57"/>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غَالِيَةٌ</a:t>
            </a:r>
            <a:endParaRPr lang="ar-SA" sz="170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feminine ending follows the yāʾ.</a:t>
            </a:r>
            <a:endParaRPr lang="en-US" sz="10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principle best supports this lesson?</a:t>
            </a:r>
            <a:endParaRPr lang="en-US" sz="1250" dirty="0"/>
          </a:p>
        </p:txBody>
      </p:sp>
      <p:sp>
        <p:nvSpPr>
          <p:cNvPr id="79" name="Shape 76"/>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0" name="Shape 77"/>
          <p:cNvSpPr/>
          <p:nvPr/>
        </p:nvSpPr>
        <p:spPr>
          <a:xfrm>
            <a:off x="4459224" y="4831080"/>
            <a:ext cx="256032" cy="256032"/>
          </a:xfrm>
          <a:prstGeom prst="ellipse">
            <a:avLst/>
          </a:prstGeom>
          <a:solidFill>
            <a:srgbClr val="2E8B57"/>
          </a:solidFill>
          <a:ln w="12700">
            <a:solidFill>
              <a:srgbClr val="2E8B57"/>
            </a:solidFill>
            <a:prstDash val="solid"/>
          </a:ln>
        </p:spPr>
      </p:sp>
      <p:sp>
        <p:nvSpPr>
          <p:cNvPr id="81" name="Text 78"/>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82" name="Text 79"/>
          <p:cNvSpPr txBox="1"/>
          <p:nvPr/>
        </p:nvSpPr>
        <p:spPr>
          <a:xfrm>
            <a:off x="4788408" y="4773168"/>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Check the noun first</a:t>
            </a:r>
            <a:endParaRPr lang="en-US" sz="1250" dirty="0"/>
          </a:p>
        </p:txBody>
      </p:sp>
      <p:sp>
        <p:nvSpPr>
          <p:cNvPr id="83" name="Shape 80"/>
          <p:cNvSpPr/>
          <p:nvPr/>
        </p:nvSpPr>
        <p:spPr>
          <a:xfrm>
            <a:off x="4459224" y="5202936"/>
            <a:ext cx="256032" cy="256032"/>
          </a:xfrm>
          <a:prstGeom prst="ellipse">
            <a:avLst/>
          </a:prstGeom>
          <a:solidFill>
            <a:srgbClr val="C9CED6"/>
          </a:solidFill>
          <a:ln w="12700">
            <a:solidFill>
              <a:srgbClr val="C9CED6"/>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Translate word by word from English</a:t>
            </a:r>
            <a:endParaRPr lang="en-US" sz="125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Ignore definiteness</a:t>
            </a:r>
            <a:endParaRPr lang="en-US" sz="125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noun controls adjective agreement.</a:t>
            </a:r>
            <a:endParaRPr lang="en-US" sz="1050" dirty="0"/>
          </a:p>
        </p:txBody>
      </p:sp>
      <p:sp>
        <p:nvSpPr>
          <p:cNvPr id="90" name="Shape 87"/>
          <p:cNvSpPr/>
          <p:nvPr/>
        </p:nvSpPr>
        <p:spPr>
          <a:xfrm>
            <a:off x="8095488" y="4151376"/>
            <a:ext cx="3636264" cy="2157984"/>
          </a:xfrm>
          <a:prstGeom prst="roundRect">
            <a:avLst>
              <a:gd name="adj" fmla="val 3390"/>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91" name="Text 88"/>
          <p:cNvSpPr txBox="1"/>
          <p:nvPr/>
        </p:nvSpPr>
        <p:spPr>
          <a:xfrm>
            <a:off x="8278368" y="4279392"/>
            <a:ext cx="3270504" cy="256032"/>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cs typeface="Amiri" pitchFamily="2" charset="-78"/>
              </a:rPr>
              <a:t>THE KEY IDEA FOR TODAY</a:t>
            </a:r>
            <a:endParaRPr lang="en-US" sz="1000" dirty="0"/>
          </a:p>
        </p:txBody>
      </p:sp>
      <p:sp>
        <p:nvSpPr>
          <p:cNvPr id="92" name="Text 89"/>
          <p:cNvSpPr txBox="1"/>
          <p:nvPr/>
        </p:nvSpPr>
        <p:spPr>
          <a:xfrm>
            <a:off x="8278368" y="4553712"/>
            <a:ext cx="3270504" cy="640080"/>
          </a:xfrm>
          <a:prstGeom prst="rect">
            <a:avLst/>
          </a:prstGeom>
          <a:noFill/>
          <a:ln/>
        </p:spPr>
        <p:txBody>
          <a:bodyPr wrap="square" lIns="0" tIns="0" rIns="0" bIns="0" rtlCol="0" anchor="t"/>
          <a:lstStyle/>
          <a:p>
            <a:pPr algn="l" indent="0" marL="0">
              <a:buNone/>
            </a:pPr>
            <a:r>
              <a:rPr lang="en-US" sz="1150" b="1" dirty="0">
                <a:solidFill>
                  <a:srgbClr val="1F2A37"/>
                </a:solidFill>
                <a:latin typeface="Calibri" pitchFamily="34" charset="0"/>
                <a:cs typeface="Amiri" pitchFamily="2" charset="-78"/>
              </a:rPr>
              <a:t>The final yāʾ hides in “a … ” (subject or after a preposition): ghālin. It comes back with al-, in the object, and before tāʾ marbūṭa.</a:t>
            </a:r>
            <a:endParaRPr lang="en-US" sz="1150" dirty="0"/>
          </a:p>
        </p:txBody>
      </p:sp>
      <p:sp>
        <p:nvSpPr>
          <p:cNvPr id="93" name="Text 90"/>
          <p:cNvSpPr txBox="1"/>
          <p:nvPr/>
        </p:nvSpPr>
        <p:spPr>
          <a:xfrm>
            <a:off x="8278368" y="5202936"/>
            <a:ext cx="3270504" cy="1014984"/>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كِتَابٌ </a:t>
            </a:r>
            <a:pPr rtl="1" algn="ctr" indent="0" marL="0">
              <a:buNone/>
            </a:pPr>
            <a:r>
              <a:rPr lang="ar-SA" altLang="en-US" sz="2400" b="1" dirty="0">
                <a:solidFill>
                  <a:srgbClr val="0E7C86"/>
                </a:solidFill>
                <a:latin typeface="Amiri" pitchFamily="2" charset="-78"/>
                <a:ea typeface="Amiri" pitchFamily="2" charset="-78"/>
                <a:cs typeface="Amiri" pitchFamily="2" charset="-78"/>
              </a:rPr>
              <a:t>غَالٍ</a:t>
            </a:r>
            <a:pPr rtl="1" algn="ctr" indent="0" marL="0">
              <a:buNone/>
            </a:pPr>
            <a:r>
              <a:rPr lang="ar-SA" altLang="en-US" sz="2400" b="1" dirty="0">
                <a:solidFill>
                  <a:srgbClr val="1B3B6F"/>
                </a:solidFill>
                <a:latin typeface="Amiri" pitchFamily="2" charset="-78"/>
                <a:ea typeface="Amiri" pitchFamily="2" charset="-78"/>
                <a:cs typeface="Amiri" pitchFamily="2" charset="-78"/>
              </a:rPr>
              <a:t> ‖ الْكِتَابُ </a:t>
            </a:r>
            <a:pPr rtl="1" algn="ctr" indent="0" marL="0">
              <a:buNone/>
            </a:pPr>
            <a:r>
              <a:rPr lang="ar-SA" altLang="en-US" sz="2400" b="1" dirty="0">
                <a:solidFill>
                  <a:srgbClr val="D6336C"/>
                </a:solidFill>
                <a:latin typeface="Amiri" pitchFamily="2" charset="-78"/>
                <a:ea typeface="Amiri" pitchFamily="2" charset="-78"/>
                <a:cs typeface="Amiri" pitchFamily="2" charset="-78"/>
              </a:rPr>
              <a:t>الْغَالِي</a:t>
            </a:r>
            <a:endParaRPr lang="ar-SA" sz="240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5 / 34</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GM-ADJ-08 · Adjectives</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LESSON OBJECTIVES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Objectives and success criteria</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الأَهْدَافُ وَمَعَايِيرُ النَّجَاحِ</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Adjectives · GM-ADJ-08</a:t>
            </a:r>
            <a:endParaRPr lang="en-US" sz="850" dirty="0"/>
          </a:p>
        </p:txBody>
      </p:sp>
      <p:sp>
        <p:nvSpPr>
          <p:cNvPr id="15" name="Shape 12"/>
          <p:cNvSpPr/>
          <p:nvPr/>
        </p:nvSpPr>
        <p:spPr>
          <a:xfrm>
            <a:off x="457200" y="1810512"/>
            <a:ext cx="4663440" cy="4315968"/>
          </a:xfrm>
          <a:prstGeom prst="roundRect">
            <a:avLst>
              <a:gd name="adj" fmla="val 1695"/>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20240"/>
            <a:ext cx="2743200" cy="292608"/>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TODAY YOU WILL</a:t>
            </a:r>
            <a:endParaRPr lang="en-US" sz="1100" dirty="0"/>
          </a:p>
        </p:txBody>
      </p:sp>
      <p:sp>
        <p:nvSpPr>
          <p:cNvPr id="17" name="Text 14"/>
          <p:cNvSpPr txBox="1"/>
          <p:nvPr/>
        </p:nvSpPr>
        <p:spPr>
          <a:xfrm>
            <a:off x="2834640" y="1874520"/>
            <a:ext cx="2103120" cy="365760"/>
          </a:xfrm>
          <a:prstGeom prst="rect">
            <a:avLst/>
          </a:prstGeom>
          <a:noFill/>
          <a:ln/>
        </p:spPr>
        <p:txBody>
          <a:bodyPr wrap="square" lIns="0" tIns="0" rIns="0" bIns="0" rtlCol="0" anchor="ctr"/>
          <a:lstStyle/>
          <a:p>
            <a:pPr rtl="1" algn="r" indent="0" marL="0">
              <a:buNone/>
            </a:pPr>
            <a:r>
              <a:rPr lang="ar-SA" altLang="en-US" sz="1600" dirty="0">
                <a:solidFill>
                  <a:srgbClr val="8A6D1E"/>
                </a:solidFill>
                <a:latin typeface="Amiri" pitchFamily="2" charset="-78"/>
                <a:ea typeface="Amiri" pitchFamily="2" charset="-78"/>
                <a:cs typeface="Amiri" pitchFamily="2" charset="-78"/>
              </a:rPr>
              <a:t>سَتَتَعَلَّمُ اليَوْمَ</a:t>
            </a:r>
            <a:endParaRPr lang="ar-SA" sz="1600" dirty="0"/>
          </a:p>
        </p:txBody>
      </p:sp>
      <p:sp>
        <p:nvSpPr>
          <p:cNvPr id="18" name="Shape 15"/>
          <p:cNvSpPr/>
          <p:nvPr/>
        </p:nvSpPr>
        <p:spPr>
          <a:xfrm>
            <a:off x="685800" y="2395728"/>
            <a:ext cx="365760" cy="365760"/>
          </a:xfrm>
          <a:prstGeom prst="ellipse">
            <a:avLst/>
          </a:prstGeom>
          <a:solidFill>
            <a:srgbClr val="1B3B6F"/>
          </a:solidFill>
          <a:ln w="12700">
            <a:solidFill>
              <a:srgbClr val="1B3B6F"/>
            </a:solidFill>
            <a:prstDash val="solid"/>
          </a:ln>
        </p:spPr>
      </p:sp>
      <p:sp>
        <p:nvSpPr>
          <p:cNvPr id="19" name="Text 16"/>
          <p:cNvSpPr txBox="1"/>
          <p:nvPr/>
        </p:nvSpPr>
        <p:spPr>
          <a:xfrm>
            <a:off x="685800" y="2395728"/>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1</a:t>
            </a:r>
            <a:endParaRPr lang="en-US" sz="1200" dirty="0"/>
          </a:p>
        </p:txBody>
      </p:sp>
      <p:sp>
        <p:nvSpPr>
          <p:cNvPr id="20" name="Text 17"/>
          <p:cNvSpPr txBox="1"/>
          <p:nvPr/>
        </p:nvSpPr>
        <p:spPr>
          <a:xfrm>
            <a:off x="1188720" y="2286000"/>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Recognise a defective adjective (hidden final yāʾ).</a:t>
            </a:r>
            <a:endParaRPr lang="en-US" sz="1300" dirty="0"/>
          </a:p>
        </p:txBody>
      </p:sp>
      <p:sp>
        <p:nvSpPr>
          <p:cNvPr id="21" name="Shape 18"/>
          <p:cNvSpPr/>
          <p:nvPr/>
        </p:nvSpPr>
        <p:spPr>
          <a:xfrm>
            <a:off x="685800" y="3291840"/>
            <a:ext cx="365760" cy="365760"/>
          </a:xfrm>
          <a:prstGeom prst="ellipse">
            <a:avLst/>
          </a:prstGeom>
          <a:solidFill>
            <a:srgbClr val="1B3B6F"/>
          </a:solidFill>
          <a:ln w="12700">
            <a:solidFill>
              <a:srgbClr val="1B3B6F"/>
            </a:solidFill>
            <a:prstDash val="solid"/>
          </a:ln>
        </p:spPr>
      </p:sp>
      <p:sp>
        <p:nvSpPr>
          <p:cNvPr id="22" name="Text 19"/>
          <p:cNvSpPr txBox="1"/>
          <p:nvPr/>
        </p:nvSpPr>
        <p:spPr>
          <a:xfrm>
            <a:off x="685800" y="3291840"/>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2</a:t>
            </a:r>
            <a:endParaRPr lang="en-US" sz="1200" dirty="0"/>
          </a:p>
        </p:txBody>
      </p:sp>
      <p:sp>
        <p:nvSpPr>
          <p:cNvPr id="23" name="Text 20"/>
          <p:cNvSpPr txBox="1"/>
          <p:nvPr/>
        </p:nvSpPr>
        <p:spPr>
          <a:xfrm>
            <a:off x="1188720" y="3182112"/>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Write the indefinite form with -in and no yāʾ.</a:t>
            </a:r>
            <a:endParaRPr lang="en-US" sz="1300" dirty="0"/>
          </a:p>
        </p:txBody>
      </p:sp>
      <p:sp>
        <p:nvSpPr>
          <p:cNvPr id="24" name="Shape 21"/>
          <p:cNvSpPr/>
          <p:nvPr/>
        </p:nvSpPr>
        <p:spPr>
          <a:xfrm>
            <a:off x="685800" y="4187952"/>
            <a:ext cx="365760" cy="365760"/>
          </a:xfrm>
          <a:prstGeom prst="ellipse">
            <a:avLst/>
          </a:prstGeom>
          <a:solidFill>
            <a:srgbClr val="1B3B6F"/>
          </a:solidFill>
          <a:ln w="12700">
            <a:solidFill>
              <a:srgbClr val="1B3B6F"/>
            </a:solidFill>
            <a:prstDash val="solid"/>
          </a:ln>
        </p:spPr>
      </p:sp>
      <p:sp>
        <p:nvSpPr>
          <p:cNvPr id="25" name="Text 22"/>
          <p:cNvSpPr txBox="1"/>
          <p:nvPr/>
        </p:nvSpPr>
        <p:spPr>
          <a:xfrm>
            <a:off x="685800" y="4187952"/>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3</a:t>
            </a:r>
            <a:endParaRPr lang="en-US" sz="1200" dirty="0"/>
          </a:p>
        </p:txBody>
      </p:sp>
      <p:sp>
        <p:nvSpPr>
          <p:cNvPr id="26" name="Text 23"/>
          <p:cNvSpPr txBox="1"/>
          <p:nvPr/>
        </p:nvSpPr>
        <p:spPr>
          <a:xfrm>
            <a:off x="1188720" y="4078224"/>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Bring the yāʾ back with al-, in the accusative and in the feminine.</a:t>
            </a:r>
            <a:endParaRPr lang="en-US" sz="1300" dirty="0"/>
          </a:p>
        </p:txBody>
      </p:sp>
      <p:sp>
        <p:nvSpPr>
          <p:cNvPr id="27" name="Shape 24"/>
          <p:cNvSpPr/>
          <p:nvPr/>
        </p:nvSpPr>
        <p:spPr>
          <a:xfrm>
            <a:off x="685800" y="5084064"/>
            <a:ext cx="365760" cy="365760"/>
          </a:xfrm>
          <a:prstGeom prst="ellipse">
            <a:avLst/>
          </a:prstGeom>
          <a:solidFill>
            <a:srgbClr val="1B3B6F"/>
          </a:solidFill>
          <a:ln w="12700">
            <a:solidFill>
              <a:srgbClr val="1B3B6F"/>
            </a:solidFill>
            <a:prstDash val="solid"/>
          </a:ln>
        </p:spPr>
      </p:sp>
      <p:sp>
        <p:nvSpPr>
          <p:cNvPr id="28" name="Text 25"/>
          <p:cNvSpPr txBox="1"/>
          <p:nvPr/>
        </p:nvSpPr>
        <p:spPr>
          <a:xfrm>
            <a:off x="685800" y="5084064"/>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4</a:t>
            </a:r>
            <a:endParaRPr lang="en-US" sz="1200" dirty="0"/>
          </a:p>
        </p:txBody>
      </p:sp>
      <p:sp>
        <p:nvSpPr>
          <p:cNvPr id="29" name="Text 26"/>
          <p:cNvSpPr txBox="1"/>
          <p:nvPr/>
        </p:nvSpPr>
        <p:spPr>
          <a:xfrm>
            <a:off x="1188720" y="4974336"/>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Spot the same pattern in common nouns.</a:t>
            </a:r>
            <a:endParaRPr lang="en-US" sz="1300" dirty="0"/>
          </a:p>
        </p:txBody>
      </p:sp>
      <p:sp>
        <p:nvSpPr>
          <p:cNvPr id="30" name="Shape 27"/>
          <p:cNvSpPr/>
          <p:nvPr/>
        </p:nvSpPr>
        <p:spPr>
          <a:xfrm>
            <a:off x="5349240" y="1810512"/>
            <a:ext cx="6382512" cy="1353312"/>
          </a:xfrm>
          <a:prstGeom prst="roundRect">
            <a:avLst>
              <a:gd name="adj" fmla="val 5405"/>
            </a:avLst>
          </a:prstGeom>
          <a:solidFill>
            <a:srgbClr val="E9F5EE"/>
          </a:solidFill>
          <a:ln w="9525">
            <a:solidFill>
              <a:srgbClr val="2E8B57"/>
            </a:solidFill>
            <a:prstDash val="solid"/>
          </a:ln>
        </p:spPr>
      </p:sp>
      <p:sp>
        <p:nvSpPr>
          <p:cNvPr id="31" name="Shape 28"/>
          <p:cNvSpPr/>
          <p:nvPr/>
        </p:nvSpPr>
        <p:spPr>
          <a:xfrm>
            <a:off x="5532120" y="1947672"/>
            <a:ext cx="1143000" cy="292608"/>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5532120" y="194767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CORE</a:t>
            </a:r>
            <a:endParaRPr lang="en-US" sz="950" dirty="0"/>
          </a:p>
        </p:txBody>
      </p:sp>
      <p:sp>
        <p:nvSpPr>
          <p:cNvPr id="33" name="Text 30"/>
          <p:cNvSpPr txBox="1"/>
          <p:nvPr/>
        </p:nvSpPr>
        <p:spPr>
          <a:xfrm>
            <a:off x="6766560" y="1947672"/>
            <a:ext cx="1828800" cy="292608"/>
          </a:xfrm>
          <a:prstGeom prst="rect">
            <a:avLst/>
          </a:prstGeom>
          <a:noFill/>
          <a:ln/>
        </p:spPr>
        <p:txBody>
          <a:bodyPr wrap="square" lIns="0" tIns="0" rIns="0" bIns="0" rtlCol="0" anchor="ctr"/>
          <a:lstStyle/>
          <a:p>
            <a:pPr algn="l" indent="0" marL="0">
              <a:buNone/>
            </a:pPr>
            <a:r>
              <a:rPr lang="en-US" sz="1050" b="1" i="1" dirty="0">
                <a:solidFill>
                  <a:srgbClr val="2E8B57"/>
                </a:solidFill>
                <a:latin typeface="Calibri" pitchFamily="34" charset="0"/>
                <a:cs typeface="Amiri" pitchFamily="2" charset="-78"/>
              </a:rPr>
              <a:t>Everyone</a:t>
            </a:r>
            <a:endParaRPr lang="en-US" sz="1050" dirty="0"/>
          </a:p>
        </p:txBody>
      </p:sp>
      <p:sp>
        <p:nvSpPr>
          <p:cNvPr id="34" name="Text 31"/>
          <p:cNvSpPr txBox="1"/>
          <p:nvPr/>
        </p:nvSpPr>
        <p:spPr>
          <a:xfrm>
            <a:off x="5532120" y="228600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cs typeface="Amiri" pitchFamily="2" charset="-78"/>
              </a:rPr>
              <a:t>☐  I say and write an expensive book and the expensive book.</a:t>
            </a:r>
            <a:endParaRPr lang="en-US" sz="1300" dirty="0"/>
          </a:p>
        </p:txBody>
      </p:sp>
      <p:sp>
        <p:nvSpPr>
          <p:cNvPr id="35" name="Text 32"/>
          <p:cNvSpPr txBox="1"/>
          <p:nvPr/>
        </p:nvSpPr>
        <p:spPr>
          <a:xfrm>
            <a:off x="5532120" y="269748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cs typeface="Amiri" pitchFamily="2" charset="-78"/>
              </a:rPr>
              <a:t>☐  I write the feminine with the yāʾ.</a:t>
            </a:r>
            <a:endParaRPr lang="en-US" sz="1300" dirty="0"/>
          </a:p>
        </p:txBody>
      </p:sp>
      <p:sp>
        <p:nvSpPr>
          <p:cNvPr id="36" name="Shape 33"/>
          <p:cNvSpPr/>
          <p:nvPr/>
        </p:nvSpPr>
        <p:spPr>
          <a:xfrm>
            <a:off x="5349240" y="3273552"/>
            <a:ext cx="6382512" cy="1353312"/>
          </a:xfrm>
          <a:prstGeom prst="roundRect">
            <a:avLst>
              <a:gd name="adj" fmla="val 5405"/>
            </a:avLst>
          </a:prstGeom>
          <a:solidFill>
            <a:srgbClr val="FCF1E0"/>
          </a:solidFill>
          <a:ln w="9525">
            <a:solidFill>
              <a:srgbClr val="C9780A"/>
            </a:solidFill>
            <a:prstDash val="solid"/>
          </a:ln>
        </p:spPr>
      </p:sp>
      <p:sp>
        <p:nvSpPr>
          <p:cNvPr id="37" name="Shape 34"/>
          <p:cNvSpPr/>
          <p:nvPr/>
        </p:nvSpPr>
        <p:spPr>
          <a:xfrm>
            <a:off x="5532120" y="3410712"/>
            <a:ext cx="1143000" cy="292608"/>
          </a:xfrm>
          <a:prstGeom prst="roundRect">
            <a:avLst>
              <a:gd name="adj" fmla="val 50000"/>
            </a:avLst>
          </a:prstGeom>
          <a:solidFill>
            <a:srgbClr val="C9780A"/>
          </a:solidFill>
          <a:ln w="12700">
            <a:solidFill>
              <a:srgbClr val="C9780A"/>
            </a:solidFill>
            <a:prstDash val="solid"/>
          </a:ln>
        </p:spPr>
      </p:sp>
      <p:sp>
        <p:nvSpPr>
          <p:cNvPr id="38" name="Text 35"/>
          <p:cNvSpPr txBox="1"/>
          <p:nvPr/>
        </p:nvSpPr>
        <p:spPr>
          <a:xfrm>
            <a:off x="5532120" y="341071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DEVELOP</a:t>
            </a:r>
            <a:endParaRPr lang="en-US" sz="950" dirty="0"/>
          </a:p>
        </p:txBody>
      </p:sp>
      <p:sp>
        <p:nvSpPr>
          <p:cNvPr id="39" name="Text 36"/>
          <p:cNvSpPr txBox="1"/>
          <p:nvPr/>
        </p:nvSpPr>
        <p:spPr>
          <a:xfrm>
            <a:off x="6766560" y="3410712"/>
            <a:ext cx="1828800" cy="292608"/>
          </a:xfrm>
          <a:prstGeom prst="rect">
            <a:avLst/>
          </a:prstGeom>
          <a:noFill/>
          <a:ln/>
        </p:spPr>
        <p:txBody>
          <a:bodyPr wrap="square" lIns="0" tIns="0" rIns="0" bIns="0" rtlCol="0" anchor="ctr"/>
          <a:lstStyle/>
          <a:p>
            <a:pPr algn="l" indent="0" marL="0">
              <a:buNone/>
            </a:pPr>
            <a:r>
              <a:rPr lang="en-US" sz="1050" b="1" i="1" dirty="0">
                <a:solidFill>
                  <a:srgbClr val="C9780A"/>
                </a:solidFill>
                <a:latin typeface="Calibri" pitchFamily="34" charset="0"/>
                <a:cs typeface="Amiri" pitchFamily="2" charset="-78"/>
              </a:rPr>
              <a:t>Most of us</a:t>
            </a:r>
            <a:endParaRPr lang="en-US" sz="1050" dirty="0"/>
          </a:p>
        </p:txBody>
      </p:sp>
      <p:sp>
        <p:nvSpPr>
          <p:cNvPr id="40" name="Text 37"/>
          <p:cNvSpPr txBox="1"/>
          <p:nvPr/>
        </p:nvSpPr>
        <p:spPr>
          <a:xfrm>
            <a:off x="5532120" y="374904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cs typeface="Amiri" pitchFamily="2" charset="-78"/>
              </a:rPr>
              <a:t>☐  I write the object with the yāʾ: ghāliyan.</a:t>
            </a:r>
            <a:endParaRPr lang="en-US" sz="1300" dirty="0"/>
          </a:p>
        </p:txBody>
      </p:sp>
      <p:sp>
        <p:nvSpPr>
          <p:cNvPr id="41" name="Text 38"/>
          <p:cNvSpPr txBox="1"/>
          <p:nvPr/>
        </p:nvSpPr>
        <p:spPr>
          <a:xfrm>
            <a:off x="5532120" y="416052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cs typeface="Amiri" pitchFamily="2" charset="-78"/>
              </a:rPr>
              <a:t>☐  I explain when the yāʾ hides.</a:t>
            </a:r>
            <a:endParaRPr lang="en-US" sz="1300" dirty="0"/>
          </a:p>
        </p:txBody>
      </p:sp>
      <p:sp>
        <p:nvSpPr>
          <p:cNvPr id="42" name="Shape 39"/>
          <p:cNvSpPr/>
          <p:nvPr/>
        </p:nvSpPr>
        <p:spPr>
          <a:xfrm>
            <a:off x="5349240" y="4736592"/>
            <a:ext cx="6382512" cy="1353312"/>
          </a:xfrm>
          <a:prstGeom prst="roundRect">
            <a:avLst>
              <a:gd name="adj" fmla="val 5405"/>
            </a:avLst>
          </a:prstGeom>
          <a:solidFill>
            <a:srgbClr val="FBEAEA"/>
          </a:solidFill>
          <a:ln w="9525">
            <a:solidFill>
              <a:srgbClr val="B83227"/>
            </a:solidFill>
            <a:prstDash val="solid"/>
          </a:ln>
        </p:spPr>
      </p:sp>
      <p:sp>
        <p:nvSpPr>
          <p:cNvPr id="43" name="Shape 40"/>
          <p:cNvSpPr/>
          <p:nvPr/>
        </p:nvSpPr>
        <p:spPr>
          <a:xfrm>
            <a:off x="5532120" y="4873752"/>
            <a:ext cx="1143000" cy="292608"/>
          </a:xfrm>
          <a:prstGeom prst="roundRect">
            <a:avLst>
              <a:gd name="adj" fmla="val 50000"/>
            </a:avLst>
          </a:prstGeom>
          <a:solidFill>
            <a:srgbClr val="B83227"/>
          </a:solidFill>
          <a:ln w="12700">
            <a:solidFill>
              <a:srgbClr val="B83227"/>
            </a:solidFill>
            <a:prstDash val="solid"/>
          </a:ln>
        </p:spPr>
      </p:sp>
      <p:sp>
        <p:nvSpPr>
          <p:cNvPr id="44" name="Text 41"/>
          <p:cNvSpPr txBox="1"/>
          <p:nvPr/>
        </p:nvSpPr>
        <p:spPr>
          <a:xfrm>
            <a:off x="5532120" y="487375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STRETCH</a:t>
            </a:r>
            <a:endParaRPr lang="en-US" sz="950" dirty="0"/>
          </a:p>
        </p:txBody>
      </p:sp>
      <p:sp>
        <p:nvSpPr>
          <p:cNvPr id="45" name="Text 42"/>
          <p:cNvSpPr txBox="1"/>
          <p:nvPr/>
        </p:nvSpPr>
        <p:spPr>
          <a:xfrm>
            <a:off x="6766560" y="4873752"/>
            <a:ext cx="1828800" cy="292608"/>
          </a:xfrm>
          <a:prstGeom prst="rect">
            <a:avLst/>
          </a:prstGeom>
          <a:noFill/>
          <a:ln/>
        </p:spPr>
        <p:txBody>
          <a:bodyPr wrap="square" lIns="0" tIns="0" rIns="0" bIns="0" rtlCol="0" anchor="ctr"/>
          <a:lstStyle/>
          <a:p>
            <a:pPr algn="l" indent="0" marL="0">
              <a:buNone/>
            </a:pPr>
            <a:r>
              <a:rPr lang="en-US" sz="1050" b="1" i="1" dirty="0">
                <a:solidFill>
                  <a:srgbClr val="B83227"/>
                </a:solidFill>
                <a:latin typeface="Calibri" pitchFamily="34" charset="0"/>
                <a:cs typeface="Amiri" pitchFamily="2" charset="-78"/>
              </a:rPr>
              <a:t>Aim high</a:t>
            </a:r>
            <a:endParaRPr lang="en-US" sz="1050" dirty="0"/>
          </a:p>
        </p:txBody>
      </p:sp>
      <p:sp>
        <p:nvSpPr>
          <p:cNvPr id="46" name="Text 43"/>
          <p:cNvSpPr txBox="1"/>
          <p:nvPr/>
        </p:nvSpPr>
        <p:spPr>
          <a:xfrm>
            <a:off x="5532120" y="521208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cs typeface="Amiri" pitchFamily="2" charset="-78"/>
              </a:rPr>
              <a:t>☐  I read nādin / an-nādī and wādin / al-wādī.</a:t>
            </a:r>
            <a:endParaRPr lang="en-US" sz="1300" dirty="0"/>
          </a:p>
        </p:txBody>
      </p:sp>
      <p:sp>
        <p:nvSpPr>
          <p:cNvPr id="47" name="Text 44"/>
          <p:cNvSpPr txBox="1"/>
          <p:nvPr/>
        </p:nvSpPr>
        <p:spPr>
          <a:xfrm>
            <a:off x="5532120" y="562356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cs typeface="Amiri" pitchFamily="2" charset="-78"/>
              </a:rPr>
              <a:t>☐  I use the plural rāḍūna.</a:t>
            </a:r>
            <a:endParaRPr lang="en-US" sz="1300" dirty="0"/>
          </a:p>
        </p:txBody>
      </p:sp>
      <p:sp>
        <p:nvSpPr>
          <p:cNvPr id="48"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6 / 34</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GM-ADJ-08 · Adjectives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THE GRAMMAR WORDS WE WILL USE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Grammar words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مُصْطَلَحَاتُ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Adjectives · GM-ADJ-08</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a:t>
            </a:r>
            <a:endParaRPr lang="en-US" sz="1000" dirty="0"/>
          </a:p>
        </p:txBody>
      </p:sp>
      <p:sp>
        <p:nvSpPr>
          <p:cNvPr id="18" name="Shape 15"/>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الْمَنْقُوصُ</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defective (hidden final yāʾ)</a:t>
            </a:r>
            <a:endParaRPr lang="en-US" sz="1350" dirty="0"/>
          </a:p>
          <a:p>
            <a:pPr indent="0" marL="0">
              <a:buNone/>
            </a:pPr>
            <a:r>
              <a:rPr lang="en-US" sz="1100" i="1" dirty="0">
                <a:solidFill>
                  <a:srgbClr val="5A6472"/>
                </a:solidFill>
                <a:latin typeface="Calibri" pitchFamily="34" charset="0"/>
                <a:cs typeface="Amiri" pitchFamily="2" charset="-78"/>
              </a:rPr>
              <a:t>al-man-qū-ṣu</a:t>
            </a:r>
            <a:endParaRPr lang="en-US" sz="1350" dirty="0"/>
          </a:p>
        </p:txBody>
      </p:sp>
      <p:sp>
        <p:nvSpPr>
          <p:cNvPr id="22" name="Text 19"/>
          <p:cNvSpPr txBox="1"/>
          <p:nvPr/>
        </p:nvSpPr>
        <p:spPr>
          <a:xfrm>
            <a:off x="8238744" y="3621024"/>
            <a:ext cx="3364992" cy="292608"/>
          </a:xfrm>
          <a:prstGeom prst="rect">
            <a:avLst/>
          </a:prstGeom>
          <a:noFill/>
          <a:ln/>
        </p:spPr>
        <p:txBody>
          <a:bodyPr wrap="square" lIns="0" tIns="0" rIns="0" bIns="0" rtlCol="0" anchor="ctr"/>
          <a:lstStyle/>
          <a:p>
            <a:pPr rtl="1" algn="r" indent="0" marL="0">
              <a:buNone/>
            </a:pPr>
            <a:r>
              <a:rPr lang="ar-SA" altLang="en-US" sz="1300" dirty="0">
                <a:solidFill>
                  <a:srgbClr val="8A6D1E"/>
                </a:solidFill>
                <a:latin typeface="Amiri" pitchFamily="2" charset="-78"/>
                <a:ea typeface="Amiri" pitchFamily="2" charset="-78"/>
                <a:cs typeface="Amiri" pitchFamily="2" charset="-78"/>
              </a:rPr>
              <a:t>غَالٍ · رَاضٍ</a:t>
            </a:r>
            <a:endParaRPr lang="ar-SA" sz="1300" dirty="0"/>
          </a:p>
        </p:txBody>
      </p:sp>
      <p:sp>
        <p:nvSpPr>
          <p:cNvPr id="23" name="Shape 20"/>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389120" y="1920240"/>
            <a:ext cx="310896" cy="310896"/>
          </a:xfrm>
          <a:prstGeom prst="ellipse">
            <a:avLst/>
          </a:prstGeom>
          <a:solidFill>
            <a:srgbClr val="F4F1EA"/>
          </a:solidFill>
          <a:ln w="12700">
            <a:solidFill>
              <a:srgbClr val="F4F1EA"/>
            </a:solidFill>
            <a:prstDash val="solid"/>
          </a:ln>
        </p:spPr>
      </p:sp>
      <p:sp>
        <p:nvSpPr>
          <p:cNvPr id="25" name="Text 22"/>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a:t>
            </a:r>
            <a:endParaRPr lang="en-US" sz="1000" dirty="0"/>
          </a:p>
        </p:txBody>
      </p:sp>
      <p:sp>
        <p:nvSpPr>
          <p:cNvPr id="26" name="Shape 23"/>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27" name="Text 24"/>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8" name="Text 25"/>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غَالٍ</a:t>
            </a:r>
            <a:endParaRPr lang="ar-SA" sz="3000" dirty="0"/>
          </a:p>
        </p:txBody>
      </p:sp>
      <p:sp>
        <p:nvSpPr>
          <p:cNvPr id="29" name="Text 26"/>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expensive</a:t>
            </a:r>
            <a:endParaRPr lang="en-US" sz="1350" dirty="0"/>
          </a:p>
          <a:p>
            <a:pPr indent="0" marL="0">
              <a:buNone/>
            </a:pPr>
            <a:r>
              <a:rPr lang="en-US" sz="1100" i="1" dirty="0">
                <a:solidFill>
                  <a:srgbClr val="5A6472"/>
                </a:solidFill>
                <a:latin typeface="Calibri" pitchFamily="34" charset="0"/>
                <a:cs typeface="Amiri" pitchFamily="2" charset="-78"/>
              </a:rPr>
              <a:t>ghālin</a:t>
            </a:r>
            <a:endParaRPr lang="en-US" sz="1350" dirty="0"/>
          </a:p>
        </p:txBody>
      </p:sp>
      <p:sp>
        <p:nvSpPr>
          <p:cNvPr id="30" name="Text 27"/>
          <p:cNvSpPr txBox="1"/>
          <p:nvPr/>
        </p:nvSpPr>
        <p:spPr>
          <a:xfrm>
            <a:off x="4416552" y="3621024"/>
            <a:ext cx="3364992" cy="292608"/>
          </a:xfrm>
          <a:prstGeom prst="rect">
            <a:avLst/>
          </a:prstGeom>
          <a:noFill/>
          <a:ln/>
        </p:spPr>
        <p:txBody>
          <a:bodyPr wrap="square" lIns="0" tIns="0" rIns="0" bIns="0" rtlCol="0" anchor="ctr"/>
          <a:lstStyle/>
          <a:p>
            <a:pPr rtl="1" algn="r" indent="0" marL="0">
              <a:buNone/>
            </a:pPr>
            <a:r>
              <a:rPr lang="ar-SA" altLang="en-US" sz="1300" dirty="0">
                <a:solidFill>
                  <a:srgbClr val="8A6D1E"/>
                </a:solidFill>
                <a:latin typeface="Amiri" pitchFamily="2" charset="-78"/>
                <a:ea typeface="Amiri" pitchFamily="2" charset="-78"/>
                <a:cs typeface="Amiri" pitchFamily="2" charset="-78"/>
              </a:rPr>
              <a:t>الْغَالِي · غَالِيَةٌ</a:t>
            </a:r>
            <a:endParaRPr lang="ar-SA" sz="1300" dirty="0"/>
          </a:p>
        </p:txBody>
      </p:sp>
      <p:sp>
        <p:nvSpPr>
          <p:cNvPr id="31" name="Shape 28"/>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566928" y="1920240"/>
            <a:ext cx="310896" cy="310896"/>
          </a:xfrm>
          <a:prstGeom prst="ellipse">
            <a:avLst/>
          </a:prstGeom>
          <a:solidFill>
            <a:srgbClr val="F4F1EA"/>
          </a:solidFill>
          <a:ln w="12700">
            <a:solidFill>
              <a:srgbClr val="F4F1EA"/>
            </a:solidFill>
            <a:prstDash val="solid"/>
          </a:ln>
        </p:spPr>
      </p:sp>
      <p:sp>
        <p:nvSpPr>
          <p:cNvPr id="33" name="Text 30"/>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3</a:t>
            </a:r>
            <a:endParaRPr lang="en-US" sz="1000" dirty="0"/>
          </a:p>
        </p:txBody>
      </p:sp>
      <p:sp>
        <p:nvSpPr>
          <p:cNvPr id="34" name="Shape 31"/>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35" name="Text 32"/>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6" name="Text 33"/>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رَاضٍ</a:t>
            </a:r>
            <a:endParaRPr lang="ar-SA" sz="3000" dirty="0"/>
          </a:p>
        </p:txBody>
      </p:sp>
      <p:sp>
        <p:nvSpPr>
          <p:cNvPr id="37" name="Text 34"/>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satisfied, pleased</a:t>
            </a:r>
            <a:endParaRPr lang="en-US" sz="1350" dirty="0"/>
          </a:p>
          <a:p>
            <a:pPr indent="0" marL="0">
              <a:buNone/>
            </a:pPr>
            <a:r>
              <a:rPr lang="en-US" sz="1100" i="1" dirty="0">
                <a:solidFill>
                  <a:srgbClr val="5A6472"/>
                </a:solidFill>
                <a:latin typeface="Calibri" pitchFamily="34" charset="0"/>
                <a:cs typeface="Amiri" pitchFamily="2" charset="-78"/>
              </a:rPr>
              <a:t>rāḍin</a:t>
            </a:r>
            <a:endParaRPr lang="en-US" sz="1350" dirty="0"/>
          </a:p>
        </p:txBody>
      </p:sp>
      <p:sp>
        <p:nvSpPr>
          <p:cNvPr id="38" name="Text 35"/>
          <p:cNvSpPr txBox="1"/>
          <p:nvPr/>
        </p:nvSpPr>
        <p:spPr>
          <a:xfrm>
            <a:off x="594360" y="3621024"/>
            <a:ext cx="3364992" cy="292608"/>
          </a:xfrm>
          <a:prstGeom prst="rect">
            <a:avLst/>
          </a:prstGeom>
          <a:noFill/>
          <a:ln/>
        </p:spPr>
        <p:txBody>
          <a:bodyPr wrap="square" lIns="0" tIns="0" rIns="0" bIns="0" rtlCol="0" anchor="ctr"/>
          <a:lstStyle/>
          <a:p>
            <a:pPr rtl="1" algn="r" indent="0" marL="0">
              <a:buNone/>
            </a:pPr>
            <a:r>
              <a:rPr lang="ar-SA" altLang="en-US" sz="1300" dirty="0">
                <a:solidFill>
                  <a:srgbClr val="8A6D1E"/>
                </a:solidFill>
                <a:latin typeface="Amiri" pitchFamily="2" charset="-78"/>
                <a:ea typeface="Amiri" pitchFamily="2" charset="-78"/>
                <a:cs typeface="Amiri" pitchFamily="2" charset="-78"/>
              </a:rPr>
              <a:t>رَاضٍ عَنْ …</a:t>
            </a:r>
            <a:endParaRPr lang="ar-SA" sz="1300" dirty="0"/>
          </a:p>
        </p:txBody>
      </p:sp>
      <p:sp>
        <p:nvSpPr>
          <p:cNvPr id="39" name="Shape 36"/>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8211312" y="4261104"/>
            <a:ext cx="310896" cy="310896"/>
          </a:xfrm>
          <a:prstGeom prst="ellipse">
            <a:avLst/>
          </a:prstGeom>
          <a:solidFill>
            <a:srgbClr val="F4F1EA"/>
          </a:solidFill>
          <a:ln w="12700">
            <a:solidFill>
              <a:srgbClr val="F4F1EA"/>
            </a:solidFill>
            <a:prstDash val="solid"/>
          </a:ln>
        </p:spPr>
      </p:sp>
      <p:sp>
        <p:nvSpPr>
          <p:cNvPr id="41" name="Text 38"/>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4</a:t>
            </a:r>
            <a:endParaRPr lang="en-US" sz="1000" dirty="0"/>
          </a:p>
        </p:txBody>
      </p:sp>
      <p:sp>
        <p:nvSpPr>
          <p:cNvPr id="42" name="Shape 39"/>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43" name="Text 40"/>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44" name="Text 41"/>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عَالٍ</a:t>
            </a:r>
            <a:endParaRPr lang="ar-SA" sz="3000" dirty="0"/>
          </a:p>
        </p:txBody>
      </p:sp>
      <p:sp>
        <p:nvSpPr>
          <p:cNvPr id="45" name="Text 42"/>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high</a:t>
            </a:r>
            <a:endParaRPr lang="en-US" sz="1350" dirty="0"/>
          </a:p>
          <a:p>
            <a:pPr indent="0" marL="0">
              <a:buNone/>
            </a:pPr>
            <a:r>
              <a:rPr lang="en-US" sz="1100" i="1" dirty="0">
                <a:solidFill>
                  <a:srgbClr val="5A6472"/>
                </a:solidFill>
                <a:latin typeface="Calibri" pitchFamily="34" charset="0"/>
                <a:cs typeface="Amiri" pitchFamily="2" charset="-78"/>
              </a:rPr>
              <a:t>ʿālin</a:t>
            </a:r>
            <a:endParaRPr lang="en-US" sz="1350" dirty="0"/>
          </a:p>
        </p:txBody>
      </p:sp>
      <p:sp>
        <p:nvSpPr>
          <p:cNvPr id="46" name="Text 43"/>
          <p:cNvSpPr txBox="1"/>
          <p:nvPr/>
        </p:nvSpPr>
        <p:spPr>
          <a:xfrm>
            <a:off x="8238744" y="5961888"/>
            <a:ext cx="3364992" cy="292608"/>
          </a:xfrm>
          <a:prstGeom prst="rect">
            <a:avLst/>
          </a:prstGeom>
          <a:noFill/>
          <a:ln/>
        </p:spPr>
        <p:txBody>
          <a:bodyPr wrap="square" lIns="0" tIns="0" rIns="0" bIns="0" rtlCol="0" anchor="ctr"/>
          <a:lstStyle/>
          <a:p>
            <a:pPr rtl="1" algn="r" indent="0" marL="0">
              <a:buNone/>
            </a:pPr>
            <a:r>
              <a:rPr lang="ar-SA" altLang="en-US" sz="1300" dirty="0">
                <a:solidFill>
                  <a:srgbClr val="8A6D1E"/>
                </a:solidFill>
                <a:latin typeface="Amiri" pitchFamily="2" charset="-78"/>
                <a:ea typeface="Amiri" pitchFamily="2" charset="-78"/>
                <a:cs typeface="Amiri" pitchFamily="2" charset="-78"/>
              </a:rPr>
              <a:t>جَبَلٌ عَالٍ</a:t>
            </a:r>
            <a:endParaRPr lang="ar-SA" sz="1300" dirty="0"/>
          </a:p>
        </p:txBody>
      </p:sp>
      <p:sp>
        <p:nvSpPr>
          <p:cNvPr id="47" name="Shape 44"/>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4389120" y="4261104"/>
            <a:ext cx="310896" cy="310896"/>
          </a:xfrm>
          <a:prstGeom prst="ellipse">
            <a:avLst/>
          </a:prstGeom>
          <a:solidFill>
            <a:srgbClr val="F4F1EA"/>
          </a:solidFill>
          <a:ln w="12700">
            <a:solidFill>
              <a:srgbClr val="F4F1EA"/>
            </a:solidFill>
            <a:prstDash val="solid"/>
          </a:ln>
        </p:spPr>
      </p:sp>
      <p:sp>
        <p:nvSpPr>
          <p:cNvPr id="49" name="Text 46"/>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5</a:t>
            </a:r>
            <a:endParaRPr lang="en-US" sz="1000" dirty="0"/>
          </a:p>
        </p:txBody>
      </p:sp>
      <p:sp>
        <p:nvSpPr>
          <p:cNvPr id="50" name="Shape 47"/>
          <p:cNvSpPr/>
          <p:nvPr/>
        </p:nvSpPr>
        <p:spPr>
          <a:xfrm>
            <a:off x="7050024" y="4279392"/>
            <a:ext cx="731520" cy="256032"/>
          </a:xfrm>
          <a:prstGeom prst="roundRect">
            <a:avLst>
              <a:gd name="adj" fmla="val 50000"/>
            </a:avLst>
          </a:prstGeom>
          <a:solidFill>
            <a:srgbClr val="2E8B57"/>
          </a:solidFill>
          <a:ln w="12700">
            <a:solidFill>
              <a:srgbClr val="2E8B57"/>
            </a:solidFill>
            <a:prstDash val="solid"/>
          </a:ln>
        </p:spPr>
      </p:sp>
      <p:sp>
        <p:nvSpPr>
          <p:cNvPr id="51" name="Text 48"/>
          <p:cNvSpPr txBox="1"/>
          <p:nvPr/>
        </p:nvSpPr>
        <p:spPr>
          <a:xfrm>
            <a:off x="7050024"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52" name="Text 49"/>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مَاضٍ</a:t>
            </a:r>
            <a:endParaRPr lang="ar-SA" sz="3000" dirty="0"/>
          </a:p>
        </p:txBody>
      </p:sp>
      <p:sp>
        <p:nvSpPr>
          <p:cNvPr id="53" name="Text 50"/>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past, last</a:t>
            </a:r>
            <a:endParaRPr lang="en-US" sz="1350" dirty="0"/>
          </a:p>
          <a:p>
            <a:pPr indent="0" marL="0">
              <a:buNone/>
            </a:pPr>
            <a:r>
              <a:rPr lang="en-US" sz="1100" i="1" dirty="0">
                <a:solidFill>
                  <a:srgbClr val="5A6472"/>
                </a:solidFill>
                <a:latin typeface="Calibri" pitchFamily="34" charset="0"/>
                <a:cs typeface="Amiri" pitchFamily="2" charset="-78"/>
              </a:rPr>
              <a:t>māḍin</a:t>
            </a:r>
            <a:endParaRPr lang="en-US" sz="1350" dirty="0"/>
          </a:p>
        </p:txBody>
      </p:sp>
      <p:sp>
        <p:nvSpPr>
          <p:cNvPr id="54" name="Text 51"/>
          <p:cNvSpPr txBox="1"/>
          <p:nvPr/>
        </p:nvSpPr>
        <p:spPr>
          <a:xfrm>
            <a:off x="4416552" y="5961888"/>
            <a:ext cx="3364992" cy="292608"/>
          </a:xfrm>
          <a:prstGeom prst="rect">
            <a:avLst/>
          </a:prstGeom>
          <a:noFill/>
          <a:ln/>
        </p:spPr>
        <p:txBody>
          <a:bodyPr wrap="square" lIns="0" tIns="0" rIns="0" bIns="0" rtlCol="0" anchor="ctr"/>
          <a:lstStyle/>
          <a:p>
            <a:pPr rtl="1" algn="r" indent="0" marL="0">
              <a:buNone/>
            </a:pPr>
            <a:r>
              <a:rPr lang="ar-SA" altLang="en-US" sz="1300" dirty="0">
                <a:solidFill>
                  <a:srgbClr val="8A6D1E"/>
                </a:solidFill>
                <a:latin typeface="Amiri" pitchFamily="2" charset="-78"/>
                <a:ea typeface="Amiri" pitchFamily="2" charset="-78"/>
                <a:cs typeface="Amiri" pitchFamily="2" charset="-78"/>
              </a:rPr>
              <a:t>الْأُسْبُوعُ الْمَاضِي</a:t>
            </a:r>
            <a:endParaRPr lang="ar-SA" sz="1300" dirty="0"/>
          </a:p>
        </p:txBody>
      </p:sp>
      <p:sp>
        <p:nvSpPr>
          <p:cNvPr id="55" name="Shape 52"/>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566928" y="4261104"/>
            <a:ext cx="310896" cy="310896"/>
          </a:xfrm>
          <a:prstGeom prst="ellipse">
            <a:avLst/>
          </a:prstGeom>
          <a:solidFill>
            <a:srgbClr val="F4F1EA"/>
          </a:solidFill>
          <a:ln w="12700">
            <a:solidFill>
              <a:srgbClr val="F4F1EA"/>
            </a:solidFill>
            <a:prstDash val="solid"/>
          </a:ln>
        </p:spPr>
      </p:sp>
      <p:sp>
        <p:nvSpPr>
          <p:cNvPr id="57" name="Text 54"/>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6</a:t>
            </a:r>
            <a:endParaRPr lang="en-US" sz="1000" dirty="0"/>
          </a:p>
        </p:txBody>
      </p:sp>
      <p:sp>
        <p:nvSpPr>
          <p:cNvPr id="58" name="Shape 55"/>
          <p:cNvSpPr/>
          <p:nvPr/>
        </p:nvSpPr>
        <p:spPr>
          <a:xfrm>
            <a:off x="3227832" y="4279392"/>
            <a:ext cx="731520" cy="256032"/>
          </a:xfrm>
          <a:prstGeom prst="roundRect">
            <a:avLst>
              <a:gd name="adj" fmla="val 50000"/>
            </a:avLst>
          </a:prstGeom>
          <a:solidFill>
            <a:srgbClr val="2E8B57"/>
          </a:solidFill>
          <a:ln w="12700">
            <a:solidFill>
              <a:srgbClr val="2E8B57"/>
            </a:solidFill>
            <a:prstDash val="solid"/>
          </a:ln>
        </p:spPr>
      </p:sp>
      <p:sp>
        <p:nvSpPr>
          <p:cNvPr id="59" name="Text 56"/>
          <p:cNvSpPr txBox="1"/>
          <p:nvPr/>
        </p:nvSpPr>
        <p:spPr>
          <a:xfrm>
            <a:off x="3227832"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60" name="Text 57"/>
          <p:cNvSpPr txBox="1"/>
          <p:nvPr/>
        </p:nvSpPr>
        <p:spPr>
          <a:xfrm>
            <a:off x="566928"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تَنْوِينُ الْكَسْرِ</a:t>
            </a:r>
            <a:endParaRPr lang="ar-SA" sz="3000" dirty="0"/>
          </a:p>
        </p:txBody>
      </p:sp>
      <p:sp>
        <p:nvSpPr>
          <p:cNvPr id="61" name="Text 58"/>
          <p:cNvSpPr txBox="1"/>
          <p:nvPr/>
        </p:nvSpPr>
        <p:spPr>
          <a:xfrm>
            <a:off x="594360"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kasra tanwīn (-in)</a:t>
            </a:r>
            <a:endParaRPr lang="en-US" sz="1350" dirty="0"/>
          </a:p>
          <a:p>
            <a:pPr indent="0" marL="0">
              <a:buNone/>
            </a:pPr>
            <a:r>
              <a:rPr lang="en-US" sz="1100" i="1" dirty="0">
                <a:solidFill>
                  <a:srgbClr val="5A6472"/>
                </a:solidFill>
                <a:latin typeface="Calibri" pitchFamily="34" charset="0"/>
                <a:cs typeface="Amiri" pitchFamily="2" charset="-78"/>
              </a:rPr>
              <a:t>tan-wī-nu al-kas-ri</a:t>
            </a:r>
            <a:endParaRPr lang="en-US" sz="1350" dirty="0"/>
          </a:p>
        </p:txBody>
      </p:sp>
      <p:sp>
        <p:nvSpPr>
          <p:cNvPr id="62" name="Text 59"/>
          <p:cNvSpPr txBox="1"/>
          <p:nvPr/>
        </p:nvSpPr>
        <p:spPr>
          <a:xfrm>
            <a:off x="594360" y="5961888"/>
            <a:ext cx="3364992" cy="292608"/>
          </a:xfrm>
          <a:prstGeom prst="rect">
            <a:avLst/>
          </a:prstGeom>
          <a:noFill/>
          <a:ln/>
        </p:spPr>
        <p:txBody>
          <a:bodyPr wrap="square" lIns="0" tIns="0" rIns="0" bIns="0" rtlCol="0" anchor="ctr"/>
          <a:lstStyle/>
          <a:p>
            <a:pPr algn="l" indent="0" marL="0">
              <a:buNone/>
            </a:pPr>
            <a:r>
              <a:rPr lang="en-US" sz="1000" i="1" dirty="0">
                <a:solidFill>
                  <a:srgbClr val="8A6D1E"/>
                </a:solidFill>
                <a:latin typeface="Calibri" pitchFamily="34" charset="0"/>
                <a:cs typeface="Amiri" pitchFamily="2" charset="-78"/>
              </a:rPr>
              <a:t>what is left: </a:t>
            </a:r>
            <a:pPr algn="l" indent="0" marL="0">
              <a:buNone/>
            </a:pPr>
            <a:r>
              <a:rPr lang="ar-SA" altLang="en-US" sz="1300" dirty="0">
                <a:solidFill>
                  <a:srgbClr val="8A6D1E"/>
                </a:solidFill>
                <a:latin typeface="Amiri" pitchFamily="2" charset="-78"/>
                <a:ea typeface="Amiri" pitchFamily="2" charset="-78"/>
                <a:cs typeface="Amiri" pitchFamily="2" charset="-78"/>
              </a:rPr>
              <a:t>ـٍ</a:t>
            </a:r>
            <a:endParaRPr lang="en-US" sz="100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7 / 34</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GM-ADJ-08 · Adjectives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GRAMMAR · STEP 1 · WHAT IS A DEFECTIVE ADJECTIVE?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 yāʾ that hides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مَا الْمَنْقُوصُ؟</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Adjectives · GM-ADJ-08</a:t>
            </a:r>
            <a:endParaRPr lang="en-US" sz="850" dirty="0"/>
          </a:p>
        </p:txBody>
      </p:sp>
      <p:sp>
        <p:nvSpPr>
          <p:cNvPr id="15" name="Shape 12"/>
          <p:cNvSpPr/>
          <p:nvPr/>
        </p:nvSpPr>
        <p:spPr>
          <a:xfrm>
            <a:off x="457200" y="1810512"/>
            <a:ext cx="6172200" cy="3456432"/>
          </a:xfrm>
          <a:prstGeom prst="roundRect">
            <a:avLst>
              <a:gd name="adj" fmla="val 2116"/>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58368" y="1883664"/>
            <a:ext cx="580644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THE RULE, STEP BY STEP</a:t>
            </a:r>
            <a:endParaRPr lang="en-US" sz="1000" dirty="0"/>
          </a:p>
        </p:txBody>
      </p:sp>
      <p:sp>
        <p:nvSpPr>
          <p:cNvPr id="17" name="Shape 14"/>
          <p:cNvSpPr/>
          <p:nvPr/>
        </p:nvSpPr>
        <p:spPr>
          <a:xfrm>
            <a:off x="658368" y="2286000"/>
            <a:ext cx="310896" cy="310896"/>
          </a:xfrm>
          <a:prstGeom prst="ellipse">
            <a:avLst/>
          </a:prstGeom>
          <a:solidFill>
            <a:srgbClr val="1B3B6F"/>
          </a:solidFill>
          <a:ln w="12700">
            <a:solidFill>
              <a:srgbClr val="1B3B6F"/>
            </a:solidFill>
            <a:prstDash val="solid"/>
          </a:ln>
        </p:spPr>
      </p:sp>
      <p:sp>
        <p:nvSpPr>
          <p:cNvPr id="18" name="Text 15"/>
          <p:cNvSpPr txBox="1"/>
          <p:nvPr/>
        </p:nvSpPr>
        <p:spPr>
          <a:xfrm>
            <a:off x="658368" y="2286000"/>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1</a:t>
            </a:r>
            <a:endParaRPr lang="en-US" sz="1100" dirty="0"/>
          </a:p>
        </p:txBody>
      </p:sp>
      <p:sp>
        <p:nvSpPr>
          <p:cNvPr id="19" name="Text 16"/>
          <p:cNvSpPr txBox="1"/>
          <p:nvPr/>
        </p:nvSpPr>
        <p:spPr>
          <a:xfrm>
            <a:off x="1078992" y="2176272"/>
            <a:ext cx="5394960" cy="563270"/>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Some adjectives end in an unstressed yāʾ (website).</a:t>
            </a:r>
            <a:endParaRPr lang="en-US" sz="1300" dirty="0"/>
          </a:p>
        </p:txBody>
      </p:sp>
      <p:sp>
        <p:nvSpPr>
          <p:cNvPr id="20" name="Shape 17"/>
          <p:cNvSpPr/>
          <p:nvPr/>
        </p:nvSpPr>
        <p:spPr>
          <a:xfrm>
            <a:off x="658368" y="2885846"/>
            <a:ext cx="310896" cy="310896"/>
          </a:xfrm>
          <a:prstGeom prst="ellipse">
            <a:avLst/>
          </a:prstGeom>
          <a:solidFill>
            <a:srgbClr val="1B3B6F"/>
          </a:solidFill>
          <a:ln w="12700">
            <a:solidFill>
              <a:srgbClr val="1B3B6F"/>
            </a:solidFill>
            <a:prstDash val="solid"/>
          </a:ln>
        </p:spPr>
      </p:sp>
      <p:sp>
        <p:nvSpPr>
          <p:cNvPr id="21" name="Text 18"/>
          <p:cNvSpPr txBox="1"/>
          <p:nvPr/>
        </p:nvSpPr>
        <p:spPr>
          <a:xfrm>
            <a:off x="658368" y="2885846"/>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2</a:t>
            </a:r>
            <a:endParaRPr lang="en-US" sz="1100" dirty="0"/>
          </a:p>
        </p:txBody>
      </p:sp>
      <p:sp>
        <p:nvSpPr>
          <p:cNvPr id="22" name="Text 19"/>
          <p:cNvSpPr txBox="1"/>
          <p:nvPr/>
        </p:nvSpPr>
        <p:spPr>
          <a:xfrm>
            <a:off x="1078992" y="2776118"/>
            <a:ext cx="5394960" cy="563270"/>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In the INDEFINITE nominative and genitive singular, the yāʾ is dropped in writing and speech (website).</a:t>
            </a:r>
            <a:endParaRPr lang="en-US" sz="1300" dirty="0"/>
          </a:p>
        </p:txBody>
      </p:sp>
      <p:sp>
        <p:nvSpPr>
          <p:cNvPr id="23" name="Shape 20"/>
          <p:cNvSpPr/>
          <p:nvPr/>
        </p:nvSpPr>
        <p:spPr>
          <a:xfrm>
            <a:off x="658368" y="3485693"/>
            <a:ext cx="310896" cy="310896"/>
          </a:xfrm>
          <a:prstGeom prst="ellipse">
            <a:avLst/>
          </a:prstGeom>
          <a:solidFill>
            <a:srgbClr val="1B3B6F"/>
          </a:solidFill>
          <a:ln w="12700">
            <a:solidFill>
              <a:srgbClr val="1B3B6F"/>
            </a:solidFill>
            <a:prstDash val="solid"/>
          </a:ln>
        </p:spPr>
      </p:sp>
      <p:sp>
        <p:nvSpPr>
          <p:cNvPr id="24" name="Text 21"/>
          <p:cNvSpPr txBox="1"/>
          <p:nvPr/>
        </p:nvSpPr>
        <p:spPr>
          <a:xfrm>
            <a:off x="658368" y="3485693"/>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3</a:t>
            </a:r>
            <a:endParaRPr lang="en-US" sz="1100" dirty="0"/>
          </a:p>
        </p:txBody>
      </p:sp>
      <p:sp>
        <p:nvSpPr>
          <p:cNvPr id="25" name="Text 22"/>
          <p:cNvSpPr txBox="1"/>
          <p:nvPr/>
        </p:nvSpPr>
        <p:spPr>
          <a:xfrm>
            <a:off x="1078992" y="3375965"/>
            <a:ext cx="5394960" cy="563270"/>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Only kasra tanwīn is left: ghālin, rāḍin, ʿālin.</a:t>
            </a:r>
            <a:endParaRPr lang="en-US" sz="1300" dirty="0"/>
          </a:p>
        </p:txBody>
      </p:sp>
      <p:sp>
        <p:nvSpPr>
          <p:cNvPr id="26" name="Shape 23"/>
          <p:cNvSpPr/>
          <p:nvPr/>
        </p:nvSpPr>
        <p:spPr>
          <a:xfrm>
            <a:off x="658368" y="4085539"/>
            <a:ext cx="310896" cy="310896"/>
          </a:xfrm>
          <a:prstGeom prst="ellipse">
            <a:avLst/>
          </a:prstGeom>
          <a:solidFill>
            <a:srgbClr val="1B3B6F"/>
          </a:solidFill>
          <a:ln w="12700">
            <a:solidFill>
              <a:srgbClr val="1B3B6F"/>
            </a:solidFill>
            <a:prstDash val="solid"/>
          </a:ln>
        </p:spPr>
      </p:sp>
      <p:sp>
        <p:nvSpPr>
          <p:cNvPr id="27" name="Text 24"/>
          <p:cNvSpPr txBox="1"/>
          <p:nvPr/>
        </p:nvSpPr>
        <p:spPr>
          <a:xfrm>
            <a:off x="658368" y="4085539"/>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4</a:t>
            </a:r>
            <a:endParaRPr lang="en-US" sz="1100" dirty="0"/>
          </a:p>
        </p:txBody>
      </p:sp>
      <p:sp>
        <p:nvSpPr>
          <p:cNvPr id="28" name="Text 25"/>
          <p:cNvSpPr txBox="1"/>
          <p:nvPr/>
        </p:nvSpPr>
        <p:spPr>
          <a:xfrm>
            <a:off x="1078992" y="3975811"/>
            <a:ext cx="5394960" cy="563270"/>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So “an expensive book” is kitābun ghālin — not “ghāliyun”.</a:t>
            </a:r>
            <a:endParaRPr lang="en-US" sz="1300" dirty="0"/>
          </a:p>
        </p:txBody>
      </p:sp>
      <p:sp>
        <p:nvSpPr>
          <p:cNvPr id="29" name="Shape 26"/>
          <p:cNvSpPr/>
          <p:nvPr/>
        </p:nvSpPr>
        <p:spPr>
          <a:xfrm>
            <a:off x="658368" y="4685386"/>
            <a:ext cx="310896" cy="310896"/>
          </a:xfrm>
          <a:prstGeom prst="ellipse">
            <a:avLst/>
          </a:prstGeom>
          <a:solidFill>
            <a:srgbClr val="1B3B6F"/>
          </a:solidFill>
          <a:ln w="12700">
            <a:solidFill>
              <a:srgbClr val="1B3B6F"/>
            </a:solidFill>
            <a:prstDash val="solid"/>
          </a:ln>
        </p:spPr>
      </p:sp>
      <p:sp>
        <p:nvSpPr>
          <p:cNvPr id="30" name="Text 27"/>
          <p:cNvSpPr txBox="1"/>
          <p:nvPr/>
        </p:nvSpPr>
        <p:spPr>
          <a:xfrm>
            <a:off x="658368" y="4685386"/>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5</a:t>
            </a:r>
            <a:endParaRPr lang="en-US" sz="1100" dirty="0"/>
          </a:p>
        </p:txBody>
      </p:sp>
      <p:sp>
        <p:nvSpPr>
          <p:cNvPr id="31" name="Text 28"/>
          <p:cNvSpPr txBox="1"/>
          <p:nvPr/>
        </p:nvSpPr>
        <p:spPr>
          <a:xfrm>
            <a:off x="1078992" y="4575658"/>
            <a:ext cx="5394960" cy="563270"/>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It is the same word; only the spelling of the ending changes.</a:t>
            </a:r>
            <a:endParaRPr lang="en-US" sz="1300" dirty="0"/>
          </a:p>
        </p:txBody>
      </p:sp>
      <p:sp>
        <p:nvSpPr>
          <p:cNvPr id="32" name="Shape 29"/>
          <p:cNvSpPr/>
          <p:nvPr/>
        </p:nvSpPr>
        <p:spPr>
          <a:xfrm>
            <a:off x="6812280" y="1810512"/>
            <a:ext cx="4919472" cy="3456432"/>
          </a:xfrm>
          <a:prstGeom prst="roundRect">
            <a:avLst>
              <a:gd name="adj" fmla="val 211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Text 30"/>
          <p:cNvSpPr txBox="1"/>
          <p:nvPr/>
        </p:nvSpPr>
        <p:spPr>
          <a:xfrm>
            <a:off x="6995160" y="1883664"/>
            <a:ext cx="4553712" cy="274320"/>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cs typeface="Amiri" pitchFamily="2" charset="-78"/>
              </a:rPr>
              <a:t>WORKED EXAMPLES</a:t>
            </a:r>
            <a:endParaRPr lang="en-US" sz="1000" dirty="0"/>
          </a:p>
        </p:txBody>
      </p:sp>
      <p:sp>
        <p:nvSpPr>
          <p:cNvPr id="34" name="Text 31"/>
          <p:cNvSpPr txBox="1"/>
          <p:nvPr/>
        </p:nvSpPr>
        <p:spPr>
          <a:xfrm>
            <a:off x="6949440" y="2194560"/>
            <a:ext cx="4645152" cy="425013"/>
          </a:xfrm>
          <a:prstGeom prst="rect">
            <a:avLst/>
          </a:prstGeom>
          <a:noFill/>
          <a:ln/>
        </p:spPr>
        <p:txBody>
          <a:bodyPr wrap="square" lIns="0" tIns="0" rIns="0" bIns="0" rtlCol="0" anchor="ctr"/>
          <a:lstStyle/>
          <a:p>
            <a:pPr rtl="1" algn="ctr" indent="0" marL="0">
              <a:buNone/>
            </a:pPr>
            <a:r>
              <a:rPr lang="ar-SA" altLang="en-US" sz="1950" b="1" dirty="0">
                <a:solidFill>
                  <a:srgbClr val="1B3B6F"/>
                </a:solidFill>
                <a:latin typeface="Amiri" pitchFamily="2" charset="-78"/>
                <a:ea typeface="Amiri" pitchFamily="2" charset="-78"/>
                <a:cs typeface="Amiri" pitchFamily="2" charset="-78"/>
              </a:rPr>
              <a:t>هَذَا كِتَابٌ غَالٍ.</a:t>
            </a:r>
            <a:endParaRPr lang="ar-SA" sz="1950" dirty="0"/>
          </a:p>
        </p:txBody>
      </p:sp>
      <p:sp>
        <p:nvSpPr>
          <p:cNvPr id="35" name="Text 32"/>
          <p:cNvSpPr txBox="1"/>
          <p:nvPr/>
        </p:nvSpPr>
        <p:spPr>
          <a:xfrm>
            <a:off x="6949440" y="2619573"/>
            <a:ext cx="4645152" cy="303581"/>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This is an expensive book.  ·  website · nominative</a:t>
            </a:r>
            <a:endParaRPr lang="en-US" sz="1100" dirty="0"/>
          </a:p>
        </p:txBody>
      </p:sp>
      <p:sp>
        <p:nvSpPr>
          <p:cNvPr id="36" name="Shape 33"/>
          <p:cNvSpPr/>
          <p:nvPr/>
        </p:nvSpPr>
        <p:spPr>
          <a:xfrm>
            <a:off x="6995160" y="2935224"/>
            <a:ext cx="4553712" cy="0"/>
          </a:xfrm>
          <a:prstGeom prst="line">
            <a:avLst/>
          </a:prstGeom>
          <a:noFill/>
          <a:ln w="9525">
            <a:solidFill>
              <a:srgbClr val="E4DCCB"/>
            </a:solidFill>
            <a:prstDash val="dash"/>
          </a:ln>
        </p:spPr>
      </p:sp>
      <p:sp>
        <p:nvSpPr>
          <p:cNvPr id="37" name="Text 34"/>
          <p:cNvSpPr txBox="1"/>
          <p:nvPr/>
        </p:nvSpPr>
        <p:spPr>
          <a:xfrm>
            <a:off x="6949440" y="2953512"/>
            <a:ext cx="4645152" cy="425013"/>
          </a:xfrm>
          <a:prstGeom prst="rect">
            <a:avLst/>
          </a:prstGeom>
          <a:noFill/>
          <a:ln/>
        </p:spPr>
        <p:txBody>
          <a:bodyPr wrap="square" lIns="0" tIns="0" rIns="0" bIns="0" rtlCol="0" anchor="ctr"/>
          <a:lstStyle/>
          <a:p>
            <a:pPr rtl="1" algn="ctr" indent="0" marL="0">
              <a:buNone/>
            </a:pPr>
            <a:r>
              <a:rPr lang="ar-SA" altLang="en-US" sz="1950" b="1" dirty="0">
                <a:solidFill>
                  <a:srgbClr val="1B3B6F"/>
                </a:solidFill>
                <a:latin typeface="Amiri" pitchFamily="2" charset="-78"/>
                <a:ea typeface="Amiri" pitchFamily="2" charset="-78"/>
                <a:cs typeface="Amiri" pitchFamily="2" charset="-78"/>
              </a:rPr>
              <a:t>مَرَرْتُ بِكِتَابٍ غَالٍ.</a:t>
            </a:r>
            <a:endParaRPr lang="ar-SA" sz="1950" dirty="0"/>
          </a:p>
        </p:txBody>
      </p:sp>
      <p:sp>
        <p:nvSpPr>
          <p:cNvPr id="38" name="Text 35"/>
          <p:cNvSpPr txBox="1"/>
          <p:nvPr/>
        </p:nvSpPr>
        <p:spPr>
          <a:xfrm>
            <a:off x="6949440" y="3378525"/>
            <a:ext cx="4645152" cy="303581"/>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I passed an expensive book.  ·  website · genitive</a:t>
            </a:r>
            <a:endParaRPr lang="en-US" sz="1100" dirty="0"/>
          </a:p>
        </p:txBody>
      </p:sp>
      <p:sp>
        <p:nvSpPr>
          <p:cNvPr id="39" name="Shape 36"/>
          <p:cNvSpPr/>
          <p:nvPr/>
        </p:nvSpPr>
        <p:spPr>
          <a:xfrm>
            <a:off x="6995160" y="3694176"/>
            <a:ext cx="4553712" cy="0"/>
          </a:xfrm>
          <a:prstGeom prst="line">
            <a:avLst/>
          </a:prstGeom>
          <a:noFill/>
          <a:ln w="9525">
            <a:solidFill>
              <a:srgbClr val="E4DCCB"/>
            </a:solidFill>
            <a:prstDash val="dash"/>
          </a:ln>
        </p:spPr>
      </p:sp>
      <p:sp>
        <p:nvSpPr>
          <p:cNvPr id="40" name="Text 37"/>
          <p:cNvSpPr txBox="1"/>
          <p:nvPr/>
        </p:nvSpPr>
        <p:spPr>
          <a:xfrm>
            <a:off x="6949440" y="3712464"/>
            <a:ext cx="4645152" cy="425013"/>
          </a:xfrm>
          <a:prstGeom prst="rect">
            <a:avLst/>
          </a:prstGeom>
          <a:noFill/>
          <a:ln/>
        </p:spPr>
        <p:txBody>
          <a:bodyPr wrap="square" lIns="0" tIns="0" rIns="0" bIns="0" rtlCol="0" anchor="ctr"/>
          <a:lstStyle/>
          <a:p>
            <a:pPr rtl="1" algn="ctr" indent="0" marL="0">
              <a:buNone/>
            </a:pPr>
            <a:r>
              <a:rPr lang="ar-SA" altLang="en-US" sz="1950" b="1" dirty="0">
                <a:solidFill>
                  <a:srgbClr val="1B3B6F"/>
                </a:solidFill>
                <a:latin typeface="Amiri" pitchFamily="2" charset="-78"/>
                <a:ea typeface="Amiri" pitchFamily="2" charset="-78"/>
                <a:cs typeface="Amiri" pitchFamily="2" charset="-78"/>
              </a:rPr>
              <a:t>هُوَ رَاضٍ عَنِ النَّتِيجَةِ.</a:t>
            </a:r>
            <a:endParaRPr lang="ar-SA" sz="1950" dirty="0"/>
          </a:p>
        </p:txBody>
      </p:sp>
      <p:sp>
        <p:nvSpPr>
          <p:cNvPr id="41" name="Text 38"/>
          <p:cNvSpPr txBox="1"/>
          <p:nvPr/>
        </p:nvSpPr>
        <p:spPr>
          <a:xfrm>
            <a:off x="6949440" y="4137477"/>
            <a:ext cx="4645152" cy="303581"/>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He is satisfied with the result.  ·  website</a:t>
            </a:r>
            <a:endParaRPr lang="en-US" sz="1100" dirty="0"/>
          </a:p>
        </p:txBody>
      </p:sp>
      <p:sp>
        <p:nvSpPr>
          <p:cNvPr id="42" name="Shape 39"/>
          <p:cNvSpPr/>
          <p:nvPr/>
        </p:nvSpPr>
        <p:spPr>
          <a:xfrm>
            <a:off x="6995160" y="4453128"/>
            <a:ext cx="4553712" cy="0"/>
          </a:xfrm>
          <a:prstGeom prst="line">
            <a:avLst/>
          </a:prstGeom>
          <a:noFill/>
          <a:ln w="9525">
            <a:solidFill>
              <a:srgbClr val="E4DCCB"/>
            </a:solidFill>
            <a:prstDash val="dash"/>
          </a:ln>
        </p:spPr>
      </p:sp>
      <p:sp>
        <p:nvSpPr>
          <p:cNvPr id="43" name="Text 40"/>
          <p:cNvSpPr txBox="1"/>
          <p:nvPr/>
        </p:nvSpPr>
        <p:spPr>
          <a:xfrm>
            <a:off x="6949440" y="4471416"/>
            <a:ext cx="4645152" cy="425013"/>
          </a:xfrm>
          <a:prstGeom prst="rect">
            <a:avLst/>
          </a:prstGeom>
          <a:noFill/>
          <a:ln/>
        </p:spPr>
        <p:txBody>
          <a:bodyPr wrap="square" lIns="0" tIns="0" rIns="0" bIns="0" rtlCol="0" anchor="ctr"/>
          <a:lstStyle/>
          <a:p>
            <a:pPr rtl="1" algn="ctr" indent="0" marL="0">
              <a:buNone/>
            </a:pPr>
            <a:r>
              <a:rPr lang="ar-SA" altLang="en-US" sz="1950" b="1" dirty="0">
                <a:solidFill>
                  <a:srgbClr val="1B3B6F"/>
                </a:solidFill>
                <a:latin typeface="Amiri" pitchFamily="2" charset="-78"/>
                <a:ea typeface="Amiri" pitchFamily="2" charset="-78"/>
                <a:cs typeface="Amiri" pitchFamily="2" charset="-78"/>
              </a:rPr>
              <a:t>هَذَا جَبَلٌ عَالٍ.</a:t>
            </a:r>
            <a:endParaRPr lang="ar-SA" sz="1950" dirty="0"/>
          </a:p>
        </p:txBody>
      </p:sp>
      <p:sp>
        <p:nvSpPr>
          <p:cNvPr id="44" name="Text 41"/>
          <p:cNvSpPr txBox="1"/>
          <p:nvPr/>
        </p:nvSpPr>
        <p:spPr>
          <a:xfrm>
            <a:off x="6949440" y="4896429"/>
            <a:ext cx="4645152" cy="303581"/>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This is a high mountain.</a:t>
            </a:r>
            <a:endParaRPr lang="en-US" sz="1100" dirty="0"/>
          </a:p>
        </p:txBody>
      </p:sp>
      <p:sp>
        <p:nvSpPr>
          <p:cNvPr id="45" name="Shape 42"/>
          <p:cNvSpPr/>
          <p:nvPr/>
        </p:nvSpPr>
        <p:spPr>
          <a:xfrm>
            <a:off x="457200" y="5394960"/>
            <a:ext cx="11274552" cy="914400"/>
          </a:xfrm>
          <a:prstGeom prst="roundRect">
            <a:avLst>
              <a:gd name="adj" fmla="val 8000"/>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46" name="Text 43"/>
          <p:cNvSpPr txBox="1"/>
          <p:nvPr/>
        </p:nvSpPr>
        <p:spPr>
          <a:xfrm>
            <a:off x="658368" y="5468112"/>
            <a:ext cx="1920240" cy="768096"/>
          </a:xfrm>
          <a:prstGeom prst="rect">
            <a:avLst/>
          </a:prstGeom>
          <a:noFill/>
          <a:ln/>
        </p:spPr>
        <p:txBody>
          <a:bodyPr wrap="square" lIns="0" tIns="0" rIns="0" bIns="0" rtlCol="0" anchor="ctr"/>
          <a:lstStyle/>
          <a:p>
            <a:pPr algn="l" indent="0" marL="0">
              <a:buNone/>
            </a:pPr>
            <a:r>
              <a:rPr lang="en-US" sz="1100" b="1" spc="100" kern="0" dirty="0">
                <a:solidFill>
                  <a:srgbClr val="B83227"/>
                </a:solidFill>
                <a:latin typeface="Calibri" pitchFamily="34" charset="0"/>
                <a:cs typeface="Amiri" pitchFamily="2" charset="-78"/>
              </a:rPr>
              <a:t>WEBSITE CLINIC</a:t>
            </a:r>
            <a:endParaRPr lang="en-US" sz="1100" dirty="0"/>
          </a:p>
        </p:txBody>
      </p:sp>
      <p:sp>
        <p:nvSpPr>
          <p:cNvPr id="47" name="Text 44"/>
          <p:cNvSpPr txBox="1"/>
          <p:nvPr/>
        </p:nvSpPr>
        <p:spPr>
          <a:xfrm>
            <a:off x="2606040" y="5449824"/>
            <a:ext cx="89611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In full formal Arabic, never write ghāliyun with the yāʾ in the indefinite nominative: write ghālin.</a:t>
            </a:r>
            <a:endParaRPr lang="en-US" sz="1250" dirty="0"/>
          </a:p>
        </p:txBody>
      </p:sp>
      <p:sp>
        <p:nvSpPr>
          <p:cNvPr id="48"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8 / 34</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GM-ADJ-08 · Adjectives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GRAMMAR · STEP 2 · WHEN THE YĀʾ RETURNS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Hidden or visible? Four positions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مَتَى تَعُودُ الْيَاءُ؟</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Adjectives · GM-ADJ-08</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8211312" y="1810512"/>
            <a:ext cx="344728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yāʾ?</a:t>
            </a:r>
            <a:endParaRPr lang="en-US" sz="1100" dirty="0"/>
          </a:p>
        </p:txBody>
      </p:sp>
      <p:sp>
        <p:nvSpPr>
          <p:cNvPr id="17" name="Text 14"/>
          <p:cNvSpPr txBox="1"/>
          <p:nvPr/>
        </p:nvSpPr>
        <p:spPr>
          <a:xfrm>
            <a:off x="3639312" y="1810512"/>
            <a:ext cx="44256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Arabic (website)</a:t>
            </a:r>
            <a:endParaRPr lang="en-US" sz="1100" dirty="0"/>
          </a:p>
        </p:txBody>
      </p:sp>
      <p:sp>
        <p:nvSpPr>
          <p:cNvPr id="18" name="Text 15"/>
          <p:cNvSpPr txBox="1"/>
          <p:nvPr/>
        </p:nvSpPr>
        <p:spPr>
          <a:xfrm>
            <a:off x="530352" y="1810512"/>
            <a:ext cx="29626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Position</a:t>
            </a:r>
            <a:endParaRPr lang="en-US" sz="1100" dirty="0"/>
          </a:p>
        </p:txBody>
      </p:sp>
      <p:sp>
        <p:nvSpPr>
          <p:cNvPr id="19" name="Shape 16"/>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0" name="Text 17"/>
          <p:cNvSpPr txBox="1"/>
          <p:nvPr/>
        </p:nvSpPr>
        <p:spPr>
          <a:xfrm>
            <a:off x="8247888" y="2267712"/>
            <a:ext cx="341071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hidden: -in</a:t>
            </a:r>
            <a:endParaRPr lang="en-US" sz="1100" dirty="0"/>
          </a:p>
        </p:txBody>
      </p:sp>
      <p:sp>
        <p:nvSpPr>
          <p:cNvPr id="21" name="Text 18"/>
          <p:cNvSpPr txBox="1"/>
          <p:nvPr/>
        </p:nvSpPr>
        <p:spPr>
          <a:xfrm>
            <a:off x="3657600" y="2267712"/>
            <a:ext cx="438912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كِتَابٌ غَالٍ</a:t>
            </a:r>
            <a:endParaRPr lang="ar-SA" sz="2400" dirty="0"/>
          </a:p>
        </p:txBody>
      </p:sp>
      <p:sp>
        <p:nvSpPr>
          <p:cNvPr id="22" name="Text 19"/>
          <p:cNvSpPr txBox="1"/>
          <p:nvPr/>
        </p:nvSpPr>
        <p:spPr>
          <a:xfrm>
            <a:off x="566928" y="2267712"/>
            <a:ext cx="29260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indefinite, subject / predicate</a:t>
            </a:r>
            <a:endParaRPr lang="en-US" sz="1100" dirty="0"/>
          </a:p>
        </p:txBody>
      </p:sp>
      <p:sp>
        <p:nvSpPr>
          <p:cNvPr id="23" name="Shape 20"/>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5" name="Shape 22"/>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6" name="Text 23"/>
          <p:cNvSpPr txBox="1"/>
          <p:nvPr/>
        </p:nvSpPr>
        <p:spPr>
          <a:xfrm>
            <a:off x="8247888" y="3004718"/>
            <a:ext cx="341071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hidden: -in</a:t>
            </a:r>
            <a:endParaRPr lang="en-US" sz="1100" dirty="0"/>
          </a:p>
        </p:txBody>
      </p:sp>
      <p:sp>
        <p:nvSpPr>
          <p:cNvPr id="27" name="Text 24"/>
          <p:cNvSpPr txBox="1"/>
          <p:nvPr/>
        </p:nvSpPr>
        <p:spPr>
          <a:xfrm>
            <a:off x="3657600" y="3004718"/>
            <a:ext cx="438912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بِكِتَابٍ غَالٍ</a:t>
            </a:r>
            <a:endParaRPr lang="ar-SA" sz="2400" dirty="0"/>
          </a:p>
        </p:txBody>
      </p:sp>
      <p:sp>
        <p:nvSpPr>
          <p:cNvPr id="28" name="Text 25"/>
          <p:cNvSpPr txBox="1"/>
          <p:nvPr/>
        </p:nvSpPr>
        <p:spPr>
          <a:xfrm>
            <a:off x="566928" y="3004718"/>
            <a:ext cx="29260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indefinite, after a preposition</a:t>
            </a:r>
            <a:endParaRPr lang="en-US" sz="1100" dirty="0"/>
          </a:p>
        </p:txBody>
      </p:sp>
      <p:sp>
        <p:nvSpPr>
          <p:cNvPr id="29" name="Shape 26"/>
          <p:cNvSpPr/>
          <p:nvPr/>
        </p:nvSpPr>
        <p:spPr>
          <a:xfrm>
            <a:off x="11091672" y="3050438"/>
            <a:ext cx="548640" cy="18288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1091672" y="305043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1" name="Shape 28"/>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32" name="Text 29"/>
          <p:cNvSpPr txBox="1"/>
          <p:nvPr/>
        </p:nvSpPr>
        <p:spPr>
          <a:xfrm>
            <a:off x="8247888" y="3741725"/>
            <a:ext cx="341071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VISIBLE: -ī</a:t>
            </a:r>
            <a:endParaRPr lang="en-US" sz="1100" dirty="0"/>
          </a:p>
        </p:txBody>
      </p:sp>
      <p:sp>
        <p:nvSpPr>
          <p:cNvPr id="33" name="Text 30"/>
          <p:cNvSpPr txBox="1"/>
          <p:nvPr/>
        </p:nvSpPr>
        <p:spPr>
          <a:xfrm>
            <a:off x="3657600" y="3741725"/>
            <a:ext cx="438912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الْكِتَابُ الْغَالِي</a:t>
            </a:r>
            <a:endParaRPr lang="ar-SA" sz="2400" dirty="0"/>
          </a:p>
        </p:txBody>
      </p:sp>
      <p:sp>
        <p:nvSpPr>
          <p:cNvPr id="34" name="Text 31"/>
          <p:cNvSpPr txBox="1"/>
          <p:nvPr/>
        </p:nvSpPr>
        <p:spPr>
          <a:xfrm>
            <a:off x="566928" y="3741725"/>
            <a:ext cx="29260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definite (al-)</a:t>
            </a:r>
            <a:endParaRPr lang="en-US" sz="1100" dirty="0"/>
          </a:p>
        </p:txBody>
      </p:sp>
      <p:sp>
        <p:nvSpPr>
          <p:cNvPr id="35" name="Shape 32"/>
          <p:cNvSpPr/>
          <p:nvPr/>
        </p:nvSpPr>
        <p:spPr>
          <a:xfrm>
            <a:off x="11091672" y="3787445"/>
            <a:ext cx="548640" cy="182880"/>
          </a:xfrm>
          <a:prstGeom prst="roundRect">
            <a:avLst>
              <a:gd name="adj" fmla="val 50000"/>
            </a:avLst>
          </a:prstGeom>
          <a:solidFill>
            <a:srgbClr val="2E8B57"/>
          </a:solidFill>
          <a:ln w="12700">
            <a:solidFill>
              <a:srgbClr val="2E8B57"/>
            </a:solidFill>
            <a:prstDash val="solid"/>
          </a:ln>
        </p:spPr>
      </p:sp>
      <p:sp>
        <p:nvSpPr>
          <p:cNvPr id="36" name="Text 33"/>
          <p:cNvSpPr txBox="1"/>
          <p:nvPr/>
        </p:nvSpPr>
        <p:spPr>
          <a:xfrm>
            <a:off x="11091672" y="3787445"/>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7" name="Shape 34"/>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38" name="Text 35"/>
          <p:cNvSpPr txBox="1"/>
          <p:nvPr/>
        </p:nvSpPr>
        <p:spPr>
          <a:xfrm>
            <a:off x="8247888" y="4478731"/>
            <a:ext cx="341071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VISIBLE: -iyan</a:t>
            </a:r>
            <a:endParaRPr lang="en-US" sz="1100" dirty="0"/>
          </a:p>
        </p:txBody>
      </p:sp>
      <p:sp>
        <p:nvSpPr>
          <p:cNvPr id="39" name="Text 36"/>
          <p:cNvSpPr txBox="1"/>
          <p:nvPr/>
        </p:nvSpPr>
        <p:spPr>
          <a:xfrm>
            <a:off x="3657600" y="4478731"/>
            <a:ext cx="438912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اشْتَرَيْتُ كِتَابًا غَالِيًا.</a:t>
            </a:r>
            <a:endParaRPr lang="ar-SA" sz="2400" dirty="0"/>
          </a:p>
        </p:txBody>
      </p:sp>
      <p:sp>
        <p:nvSpPr>
          <p:cNvPr id="40" name="Text 37"/>
          <p:cNvSpPr txBox="1"/>
          <p:nvPr/>
        </p:nvSpPr>
        <p:spPr>
          <a:xfrm>
            <a:off x="566928" y="4478731"/>
            <a:ext cx="29260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indefinite object</a:t>
            </a:r>
            <a:endParaRPr lang="en-US" sz="1100" dirty="0"/>
          </a:p>
        </p:txBody>
      </p:sp>
      <p:sp>
        <p:nvSpPr>
          <p:cNvPr id="41" name="Shape 38"/>
          <p:cNvSpPr/>
          <p:nvPr/>
        </p:nvSpPr>
        <p:spPr>
          <a:xfrm>
            <a:off x="11091672" y="4524451"/>
            <a:ext cx="548640" cy="182880"/>
          </a:xfrm>
          <a:prstGeom prst="roundRect">
            <a:avLst>
              <a:gd name="adj" fmla="val 50000"/>
            </a:avLst>
          </a:prstGeom>
          <a:solidFill>
            <a:srgbClr val="2E8B57"/>
          </a:solidFill>
          <a:ln w="12700">
            <a:solidFill>
              <a:srgbClr val="2E8B57"/>
            </a:solidFill>
            <a:prstDash val="solid"/>
          </a:ln>
        </p:spPr>
      </p:sp>
      <p:sp>
        <p:nvSpPr>
          <p:cNvPr id="42" name="Text 39"/>
          <p:cNvSpPr txBox="1"/>
          <p:nvPr/>
        </p:nvSpPr>
        <p:spPr>
          <a:xfrm>
            <a:off x="11091672" y="4524451"/>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3" name="Shape 40"/>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44" name="Text 41"/>
          <p:cNvSpPr txBox="1"/>
          <p:nvPr/>
        </p:nvSpPr>
        <p:spPr>
          <a:xfrm>
            <a:off x="8247888" y="5215738"/>
            <a:ext cx="341071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VISIBLE: -iyan</a:t>
            </a:r>
            <a:endParaRPr lang="en-US" sz="1100" dirty="0"/>
          </a:p>
        </p:txBody>
      </p:sp>
      <p:sp>
        <p:nvSpPr>
          <p:cNvPr id="45" name="Text 42"/>
          <p:cNvSpPr txBox="1"/>
          <p:nvPr/>
        </p:nvSpPr>
        <p:spPr>
          <a:xfrm>
            <a:off x="3657600" y="5215738"/>
            <a:ext cx="438912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رَأَيْتُ رَجُلًا رَاضِيًا.</a:t>
            </a:r>
            <a:endParaRPr lang="ar-SA" sz="2400" dirty="0"/>
          </a:p>
        </p:txBody>
      </p:sp>
      <p:sp>
        <p:nvSpPr>
          <p:cNvPr id="46" name="Text 43"/>
          <p:cNvSpPr txBox="1"/>
          <p:nvPr/>
        </p:nvSpPr>
        <p:spPr>
          <a:xfrm>
            <a:off x="566928" y="5215738"/>
            <a:ext cx="29260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indefinite object (person)</a:t>
            </a:r>
            <a:endParaRPr lang="en-US" sz="1100" dirty="0"/>
          </a:p>
        </p:txBody>
      </p:sp>
      <p:sp>
        <p:nvSpPr>
          <p:cNvPr id="47" name="Text 44"/>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Memory rule: the yāʾ hides only behind -un and -in. With al- or -an, it comes back.</a:t>
            </a:r>
            <a:endParaRPr lang="en-US" sz="1150" dirty="0"/>
          </a:p>
        </p:txBody>
      </p:sp>
      <p:sp>
        <p:nvSpPr>
          <p:cNvPr id="48"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9 / 34</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GM-ADJ-08 · Adjectives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00" b="1" spc="150" kern="0" dirty="0">
                <a:solidFill>
                  <a:srgbClr val="1B3B6F"/>
                </a:solidFill>
                <a:latin typeface="Calibri" pitchFamily="34" charset="0"/>
                <a:cs typeface="Amiri" pitchFamily="2" charset="-78"/>
              </a:rPr>
              <a:t>GRAMMAR · STEP 3 · FEMININE FORMS (WEBSITE) · AND THE SAME PATTERN IN NOUNS · STRETCH</a:t>
            </a:r>
            <a:endParaRPr lang="en-US" sz="8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200" b="1" dirty="0">
                <a:solidFill>
                  <a:srgbClr val="1B3B6F"/>
                </a:solidFill>
                <a:latin typeface="Cambria" pitchFamily="34" charset="0"/>
                <a:cs typeface="Amiri" pitchFamily="2" charset="-78"/>
              </a:rPr>
              <a:t>Feminine — and nouns that behave the same</a:t>
            </a:r>
            <a:endParaRPr lang="en-US" sz="22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الْمُؤَنَّثُ وَأَسْمَاءٌ مِثْلُهُ</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Adjectives · GM-ADJ-08</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8211312" y="1810512"/>
            <a:ext cx="344728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Notice</a:t>
            </a:r>
            <a:endParaRPr lang="en-US" sz="1100" dirty="0"/>
          </a:p>
        </p:txBody>
      </p:sp>
      <p:sp>
        <p:nvSpPr>
          <p:cNvPr id="17" name="Text 14"/>
          <p:cNvSpPr txBox="1"/>
          <p:nvPr/>
        </p:nvSpPr>
        <p:spPr>
          <a:xfrm>
            <a:off x="3639312" y="1810512"/>
            <a:ext cx="44256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Arabic</a:t>
            </a:r>
            <a:endParaRPr lang="en-US" sz="1100" dirty="0"/>
          </a:p>
        </p:txBody>
      </p:sp>
      <p:sp>
        <p:nvSpPr>
          <p:cNvPr id="18" name="Text 15"/>
          <p:cNvSpPr txBox="1"/>
          <p:nvPr/>
        </p:nvSpPr>
        <p:spPr>
          <a:xfrm>
            <a:off x="530352" y="1810512"/>
            <a:ext cx="29626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Meaning</a:t>
            </a:r>
            <a:endParaRPr lang="en-US" sz="1100" dirty="0"/>
          </a:p>
        </p:txBody>
      </p:sp>
      <p:sp>
        <p:nvSpPr>
          <p:cNvPr id="19" name="Shape 16"/>
          <p:cNvSpPr/>
          <p:nvPr/>
        </p:nvSpPr>
        <p:spPr>
          <a:xfrm>
            <a:off x="457200" y="2267712"/>
            <a:ext cx="11274552" cy="559308"/>
          </a:xfrm>
          <a:prstGeom prst="roundRect">
            <a:avLst>
              <a:gd name="adj" fmla="val 8174"/>
            </a:avLst>
          </a:prstGeom>
          <a:solidFill>
            <a:srgbClr val="FFFFFF"/>
          </a:solidFill>
          <a:ln w="9525">
            <a:solidFill>
              <a:srgbClr val="D8D0BF"/>
            </a:solidFill>
            <a:prstDash val="solid"/>
          </a:ln>
        </p:spPr>
      </p:sp>
      <p:sp>
        <p:nvSpPr>
          <p:cNvPr id="20" name="Text 17"/>
          <p:cNvSpPr txBox="1"/>
          <p:nvPr/>
        </p:nvSpPr>
        <p:spPr>
          <a:xfrm>
            <a:off x="8247888" y="2267712"/>
            <a:ext cx="341071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feminine: yāʾ always visible (website)</a:t>
            </a:r>
            <a:endParaRPr lang="en-US" sz="1100" dirty="0"/>
          </a:p>
        </p:txBody>
      </p:sp>
      <p:sp>
        <p:nvSpPr>
          <p:cNvPr id="21" name="Text 18"/>
          <p:cNvSpPr txBox="1"/>
          <p:nvPr/>
        </p:nvSpPr>
        <p:spPr>
          <a:xfrm>
            <a:off x="3657600" y="2267712"/>
            <a:ext cx="438912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حَقِيبَةٌ غَالِيَةٌ</a:t>
            </a:r>
            <a:endParaRPr lang="ar-SA" sz="2400" dirty="0"/>
          </a:p>
        </p:txBody>
      </p:sp>
      <p:sp>
        <p:nvSpPr>
          <p:cNvPr id="22" name="Text 19"/>
          <p:cNvSpPr txBox="1"/>
          <p:nvPr/>
        </p:nvSpPr>
        <p:spPr>
          <a:xfrm>
            <a:off x="566928" y="2267712"/>
            <a:ext cx="292608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an expensive bag</a:t>
            </a:r>
            <a:endParaRPr lang="en-US" sz="1100" dirty="0"/>
          </a:p>
        </p:txBody>
      </p:sp>
      <p:sp>
        <p:nvSpPr>
          <p:cNvPr id="23" name="Shape 20"/>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5" name="Shape 22"/>
          <p:cNvSpPr/>
          <p:nvPr/>
        </p:nvSpPr>
        <p:spPr>
          <a:xfrm>
            <a:off x="457200" y="2881884"/>
            <a:ext cx="11274552" cy="559308"/>
          </a:xfrm>
          <a:prstGeom prst="roundRect">
            <a:avLst>
              <a:gd name="adj" fmla="val 8174"/>
            </a:avLst>
          </a:prstGeom>
          <a:solidFill>
            <a:srgbClr val="F4F1EA"/>
          </a:solidFill>
          <a:ln w="9525">
            <a:solidFill>
              <a:srgbClr val="D8D0BF"/>
            </a:solidFill>
            <a:prstDash val="solid"/>
          </a:ln>
        </p:spPr>
      </p:sp>
      <p:sp>
        <p:nvSpPr>
          <p:cNvPr id="26" name="Text 23"/>
          <p:cNvSpPr txBox="1"/>
          <p:nvPr/>
        </p:nvSpPr>
        <p:spPr>
          <a:xfrm>
            <a:off x="8247888" y="2881884"/>
            <a:ext cx="341071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website</a:t>
            </a:r>
            <a:endParaRPr lang="en-US" sz="1100" dirty="0"/>
          </a:p>
        </p:txBody>
      </p:sp>
      <p:sp>
        <p:nvSpPr>
          <p:cNvPr id="27" name="Text 24"/>
          <p:cNvSpPr txBox="1"/>
          <p:nvPr/>
        </p:nvSpPr>
        <p:spPr>
          <a:xfrm>
            <a:off x="3657600" y="2881884"/>
            <a:ext cx="438912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طَالِبَةٌ رَاضِيَةٌ</a:t>
            </a:r>
            <a:endParaRPr lang="ar-SA" sz="2400" dirty="0"/>
          </a:p>
        </p:txBody>
      </p:sp>
      <p:sp>
        <p:nvSpPr>
          <p:cNvPr id="28" name="Text 25"/>
          <p:cNvSpPr txBox="1"/>
          <p:nvPr/>
        </p:nvSpPr>
        <p:spPr>
          <a:xfrm>
            <a:off x="566928" y="2881884"/>
            <a:ext cx="292608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 satisfied student (f.)</a:t>
            </a:r>
            <a:endParaRPr lang="en-US" sz="1100" dirty="0"/>
          </a:p>
        </p:txBody>
      </p:sp>
      <p:sp>
        <p:nvSpPr>
          <p:cNvPr id="29" name="Shape 26"/>
          <p:cNvSpPr/>
          <p:nvPr/>
        </p:nvSpPr>
        <p:spPr>
          <a:xfrm>
            <a:off x="11091672" y="2927604"/>
            <a:ext cx="548640" cy="18288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1091672" y="2927604"/>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1" name="Shape 28"/>
          <p:cNvSpPr/>
          <p:nvPr/>
        </p:nvSpPr>
        <p:spPr>
          <a:xfrm>
            <a:off x="457200" y="3496056"/>
            <a:ext cx="11274552" cy="559308"/>
          </a:xfrm>
          <a:prstGeom prst="roundRect">
            <a:avLst>
              <a:gd name="adj" fmla="val 8174"/>
            </a:avLst>
          </a:prstGeom>
          <a:solidFill>
            <a:srgbClr val="FFFFFF"/>
          </a:solidFill>
          <a:ln w="9525">
            <a:solidFill>
              <a:srgbClr val="D8D0BF"/>
            </a:solidFill>
            <a:prstDash val="solid"/>
          </a:ln>
        </p:spPr>
      </p:sp>
      <p:sp>
        <p:nvSpPr>
          <p:cNvPr id="32" name="Text 29"/>
          <p:cNvSpPr txBox="1"/>
          <p:nvPr/>
        </p:nvSpPr>
        <p:spPr>
          <a:xfrm>
            <a:off x="8247888" y="3496056"/>
            <a:ext cx="341071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definite → -ī</a:t>
            </a:r>
            <a:endParaRPr lang="en-US" sz="1100" dirty="0"/>
          </a:p>
        </p:txBody>
      </p:sp>
      <p:sp>
        <p:nvSpPr>
          <p:cNvPr id="33" name="Text 30"/>
          <p:cNvSpPr txBox="1"/>
          <p:nvPr/>
        </p:nvSpPr>
        <p:spPr>
          <a:xfrm>
            <a:off x="3657600" y="3496056"/>
            <a:ext cx="438912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الْأُسْبُوعُ الْمَاضِي</a:t>
            </a:r>
            <a:endParaRPr lang="ar-SA" sz="2400" dirty="0"/>
          </a:p>
        </p:txBody>
      </p:sp>
      <p:sp>
        <p:nvSpPr>
          <p:cNvPr id="34" name="Text 31"/>
          <p:cNvSpPr txBox="1"/>
          <p:nvPr/>
        </p:nvSpPr>
        <p:spPr>
          <a:xfrm>
            <a:off x="566928" y="3496056"/>
            <a:ext cx="292608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last week</a:t>
            </a:r>
            <a:endParaRPr lang="en-US" sz="1100" dirty="0"/>
          </a:p>
        </p:txBody>
      </p:sp>
      <p:sp>
        <p:nvSpPr>
          <p:cNvPr id="35" name="Shape 32"/>
          <p:cNvSpPr/>
          <p:nvPr/>
        </p:nvSpPr>
        <p:spPr>
          <a:xfrm>
            <a:off x="11091672" y="3541776"/>
            <a:ext cx="548640" cy="182880"/>
          </a:xfrm>
          <a:prstGeom prst="roundRect">
            <a:avLst>
              <a:gd name="adj" fmla="val 50000"/>
            </a:avLst>
          </a:prstGeom>
          <a:solidFill>
            <a:srgbClr val="2E8B57"/>
          </a:solidFill>
          <a:ln w="12700">
            <a:solidFill>
              <a:srgbClr val="2E8B57"/>
            </a:solidFill>
            <a:prstDash val="solid"/>
          </a:ln>
        </p:spPr>
      </p:sp>
      <p:sp>
        <p:nvSpPr>
          <p:cNvPr id="36" name="Text 33"/>
          <p:cNvSpPr txBox="1"/>
          <p:nvPr/>
        </p:nvSpPr>
        <p:spPr>
          <a:xfrm>
            <a:off x="11091672" y="354177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7" name="Shape 34"/>
          <p:cNvSpPr/>
          <p:nvPr/>
        </p:nvSpPr>
        <p:spPr>
          <a:xfrm>
            <a:off x="457200" y="4110228"/>
            <a:ext cx="11274552" cy="559308"/>
          </a:xfrm>
          <a:prstGeom prst="roundRect">
            <a:avLst>
              <a:gd name="adj" fmla="val 8174"/>
            </a:avLst>
          </a:prstGeom>
          <a:solidFill>
            <a:srgbClr val="F4F1EA"/>
          </a:solidFill>
          <a:ln w="9525">
            <a:solidFill>
              <a:srgbClr val="D8D0BF"/>
            </a:solidFill>
            <a:prstDash val="solid"/>
          </a:ln>
        </p:spPr>
      </p:sp>
      <p:sp>
        <p:nvSpPr>
          <p:cNvPr id="38" name="Text 35"/>
          <p:cNvSpPr txBox="1"/>
          <p:nvPr/>
        </p:nvSpPr>
        <p:spPr>
          <a:xfrm>
            <a:off x="8247888" y="4110228"/>
            <a:ext cx="341071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 noun with the same pattern</a:t>
            </a:r>
            <a:endParaRPr lang="en-US" sz="1100" dirty="0"/>
          </a:p>
        </p:txBody>
      </p:sp>
      <p:sp>
        <p:nvSpPr>
          <p:cNvPr id="39" name="Text 36"/>
          <p:cNvSpPr txBox="1"/>
          <p:nvPr/>
        </p:nvSpPr>
        <p:spPr>
          <a:xfrm>
            <a:off x="3657600" y="4110228"/>
            <a:ext cx="438912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نَادٍ · النَّادِي</a:t>
            </a:r>
            <a:endParaRPr lang="ar-SA" sz="2400" dirty="0"/>
          </a:p>
        </p:txBody>
      </p:sp>
      <p:sp>
        <p:nvSpPr>
          <p:cNvPr id="40" name="Text 37"/>
          <p:cNvSpPr txBox="1"/>
          <p:nvPr/>
        </p:nvSpPr>
        <p:spPr>
          <a:xfrm>
            <a:off x="566928" y="4110228"/>
            <a:ext cx="292608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 club / the club</a:t>
            </a:r>
            <a:endParaRPr lang="en-US" sz="1100" dirty="0"/>
          </a:p>
        </p:txBody>
      </p:sp>
      <p:sp>
        <p:nvSpPr>
          <p:cNvPr id="41" name="Shape 38"/>
          <p:cNvSpPr/>
          <p:nvPr/>
        </p:nvSpPr>
        <p:spPr>
          <a:xfrm>
            <a:off x="457200" y="4724400"/>
            <a:ext cx="11274552" cy="559308"/>
          </a:xfrm>
          <a:prstGeom prst="roundRect">
            <a:avLst>
              <a:gd name="adj" fmla="val 8174"/>
            </a:avLst>
          </a:prstGeom>
          <a:solidFill>
            <a:srgbClr val="FFFFFF"/>
          </a:solidFill>
          <a:ln w="9525">
            <a:solidFill>
              <a:srgbClr val="D8D0BF"/>
            </a:solidFill>
            <a:prstDash val="solid"/>
          </a:ln>
        </p:spPr>
      </p:sp>
      <p:sp>
        <p:nvSpPr>
          <p:cNvPr id="42" name="Text 39"/>
          <p:cNvSpPr txBox="1"/>
          <p:nvPr/>
        </p:nvSpPr>
        <p:spPr>
          <a:xfrm>
            <a:off x="8247888" y="4724400"/>
            <a:ext cx="341071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 noun with the same pattern</a:t>
            </a:r>
            <a:endParaRPr lang="en-US" sz="1100" dirty="0"/>
          </a:p>
        </p:txBody>
      </p:sp>
      <p:sp>
        <p:nvSpPr>
          <p:cNvPr id="43" name="Text 40"/>
          <p:cNvSpPr txBox="1"/>
          <p:nvPr/>
        </p:nvSpPr>
        <p:spPr>
          <a:xfrm>
            <a:off x="3657600" y="4724400"/>
            <a:ext cx="438912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وَادٍ · الْوَادِي</a:t>
            </a:r>
            <a:endParaRPr lang="ar-SA" sz="2400" dirty="0"/>
          </a:p>
        </p:txBody>
      </p:sp>
      <p:sp>
        <p:nvSpPr>
          <p:cNvPr id="44" name="Text 41"/>
          <p:cNvSpPr txBox="1"/>
          <p:nvPr/>
        </p:nvSpPr>
        <p:spPr>
          <a:xfrm>
            <a:off x="566928" y="4724400"/>
            <a:ext cx="292608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 valley / the valley</a:t>
            </a:r>
            <a:endParaRPr lang="en-US" sz="1100" dirty="0"/>
          </a:p>
        </p:txBody>
      </p:sp>
      <p:sp>
        <p:nvSpPr>
          <p:cNvPr id="45" name="Shape 42"/>
          <p:cNvSpPr/>
          <p:nvPr/>
        </p:nvSpPr>
        <p:spPr>
          <a:xfrm>
            <a:off x="457200" y="5338572"/>
            <a:ext cx="11274552" cy="559308"/>
          </a:xfrm>
          <a:prstGeom prst="roundRect">
            <a:avLst>
              <a:gd name="adj" fmla="val 8174"/>
            </a:avLst>
          </a:prstGeom>
          <a:solidFill>
            <a:srgbClr val="F4F1EA"/>
          </a:solidFill>
          <a:ln w="9525">
            <a:solidFill>
              <a:srgbClr val="D8D0BF"/>
            </a:solidFill>
            <a:prstDash val="solid"/>
          </a:ln>
        </p:spPr>
      </p:sp>
      <p:sp>
        <p:nvSpPr>
          <p:cNvPr id="46" name="Text 43"/>
          <p:cNvSpPr txBox="1"/>
          <p:nvPr/>
        </p:nvSpPr>
        <p:spPr>
          <a:xfrm>
            <a:off x="8247888" y="5338572"/>
            <a:ext cx="341071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the yāʾ disappears before -ūna</a:t>
            </a:r>
            <a:endParaRPr lang="en-US" sz="1100" dirty="0"/>
          </a:p>
        </p:txBody>
      </p:sp>
      <p:sp>
        <p:nvSpPr>
          <p:cNvPr id="47" name="Text 44"/>
          <p:cNvSpPr txBox="1"/>
          <p:nvPr/>
        </p:nvSpPr>
        <p:spPr>
          <a:xfrm>
            <a:off x="3657600" y="5338572"/>
            <a:ext cx="438912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رَاضُونَ</a:t>
            </a:r>
            <a:endParaRPr lang="ar-SA" sz="2400" dirty="0"/>
          </a:p>
        </p:txBody>
      </p:sp>
      <p:sp>
        <p:nvSpPr>
          <p:cNvPr id="48" name="Text 45"/>
          <p:cNvSpPr txBox="1"/>
          <p:nvPr/>
        </p:nvSpPr>
        <p:spPr>
          <a:xfrm>
            <a:off x="566928" y="5338572"/>
            <a:ext cx="292608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satisfied (people, plural)</a:t>
            </a:r>
            <a:endParaRPr lang="en-US" sz="1100" dirty="0"/>
          </a:p>
        </p:txBody>
      </p:sp>
      <p:sp>
        <p:nvSpPr>
          <p:cNvPr id="49" name="Text 46"/>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Website: the feminine shows the yāʾ clearly before tāʾ marbūṭa — ghāliya, rāḍiya, ʿāliya.</a:t>
            </a:r>
            <a:endParaRPr lang="en-US" sz="1150" dirty="0"/>
          </a:p>
        </p:txBody>
      </p:sp>
      <p:sp>
        <p:nvSpPr>
          <p:cNvPr id="50" name="Text 4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10 / 34</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GM-ADJ-08 · Adjectives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CHECK FOR UNDERSTANDING · HINGE QUESTIONS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Quick check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فَحْصٌ سَرِيعٌ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Adjectives · GM-ADJ-08</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“a high building”.</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مَبْنًى عَالِيٌ</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مَبْنًى الْعَالِي</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مَبْنًى عَالٍ</a:t>
            </a:r>
            <a:endParaRPr lang="ar-SA" sz="2050" dirty="0"/>
          </a:p>
        </p:txBody>
      </p:sp>
      <p:sp>
        <p:nvSpPr>
          <p:cNvPr id="28" name="Shape 25"/>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6313932"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high building”.</a:t>
            </a:r>
            <a:endParaRPr lang="en-US" sz="1250" dirty="0"/>
          </a:p>
        </p:txBody>
      </p:sp>
      <p:sp>
        <p:nvSpPr>
          <p:cNvPr id="32" name="Shape 29"/>
          <p:cNvSpPr/>
          <p:nvPr/>
        </p:nvSpPr>
        <p:spPr>
          <a:xfrm>
            <a:off x="6368796"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الْمَبْنَى الْعَالِي</a:t>
            </a:r>
            <a:endParaRPr lang="ar-SA" sz="2050" dirty="0"/>
          </a:p>
        </p:txBody>
      </p:sp>
      <p:sp>
        <p:nvSpPr>
          <p:cNvPr id="35" name="Shape 32"/>
          <p:cNvSpPr/>
          <p:nvPr/>
        </p:nvSpPr>
        <p:spPr>
          <a:xfrm>
            <a:off x="6368796"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الْمَبْنَى الْعَالِ</a:t>
            </a:r>
            <a:endParaRPr lang="ar-SA" sz="2050" dirty="0"/>
          </a:p>
        </p:txBody>
      </p:sp>
      <p:sp>
        <p:nvSpPr>
          <p:cNvPr id="38" name="Shape 35"/>
          <p:cNvSpPr/>
          <p:nvPr/>
        </p:nvSpPr>
        <p:spPr>
          <a:xfrm>
            <a:off x="6368796"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الْمَبْنَى عَالٍ</a:t>
            </a:r>
            <a:endParaRPr lang="ar-SA" sz="2050" dirty="0"/>
          </a:p>
        </p:txBody>
      </p:sp>
      <p:sp>
        <p:nvSpPr>
          <p:cNvPr id="41" name="Shape 38"/>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585216" y="4288536"/>
            <a:ext cx="310896" cy="310896"/>
          </a:xfrm>
          <a:prstGeom prst="ellipse">
            <a:avLst/>
          </a:prstGeom>
          <a:solidFill>
            <a:srgbClr val="1B3B6F"/>
          </a:solidFill>
          <a:ln w="12700">
            <a:solidFill>
              <a:srgbClr val="1B3B6F"/>
            </a:solidFill>
            <a:prstDash val="solid"/>
          </a:ln>
        </p:spPr>
      </p:sp>
      <p:sp>
        <p:nvSpPr>
          <p:cNvPr id="43" name="Text 40"/>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“I bought an expensive watch (f.)”.</a:t>
            </a:r>
            <a:endParaRPr lang="en-US" sz="1250" dirty="0"/>
          </a:p>
        </p:txBody>
      </p:sp>
      <p:sp>
        <p:nvSpPr>
          <p:cNvPr id="45" name="Shape 42"/>
          <p:cNvSpPr/>
          <p:nvPr/>
        </p:nvSpPr>
        <p:spPr>
          <a:xfrm>
            <a:off x="640080" y="4873752"/>
            <a:ext cx="256032" cy="256032"/>
          </a:xfrm>
          <a:prstGeom prst="ellipse">
            <a:avLst/>
          </a:prstGeom>
          <a:solidFill>
            <a:srgbClr val="F4F1EA"/>
          </a:solidFill>
          <a:ln w="12700">
            <a:solidFill>
              <a:srgbClr val="F4F1EA"/>
            </a:solidFill>
            <a:prstDash val="solid"/>
          </a:ln>
        </p:spPr>
      </p:sp>
      <p:sp>
        <p:nvSpPr>
          <p:cNvPr id="46" name="Text 43"/>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اشْتَرَيْتُ سَاعَةً غَالٍ.</a:t>
            </a:r>
            <a:endParaRPr lang="ar-SA" sz="2050" dirty="0"/>
          </a:p>
        </p:txBody>
      </p:sp>
      <p:sp>
        <p:nvSpPr>
          <p:cNvPr id="48" name="Shape 45"/>
          <p:cNvSpPr/>
          <p:nvPr/>
        </p:nvSpPr>
        <p:spPr>
          <a:xfrm>
            <a:off x="640080" y="5330952"/>
            <a:ext cx="256032" cy="256032"/>
          </a:xfrm>
          <a:prstGeom prst="ellipse">
            <a:avLst/>
          </a:prstGeom>
          <a:solidFill>
            <a:srgbClr val="F4F1EA"/>
          </a:solidFill>
          <a:ln w="12700">
            <a:solidFill>
              <a:srgbClr val="F4F1EA"/>
            </a:solidFill>
            <a:prstDash val="solid"/>
          </a:ln>
        </p:spPr>
      </p:sp>
      <p:sp>
        <p:nvSpPr>
          <p:cNvPr id="49" name="Text 46"/>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اشْتَرَيْتُ سَاعَةً غَالِيَةً.</a:t>
            </a:r>
            <a:endParaRPr lang="ar-SA" sz="2050" dirty="0"/>
          </a:p>
        </p:txBody>
      </p:sp>
      <p:sp>
        <p:nvSpPr>
          <p:cNvPr id="51" name="Shape 48"/>
          <p:cNvSpPr/>
          <p:nvPr/>
        </p:nvSpPr>
        <p:spPr>
          <a:xfrm>
            <a:off x="640080" y="5788152"/>
            <a:ext cx="256032" cy="256032"/>
          </a:xfrm>
          <a:prstGeom prst="ellipse">
            <a:avLst/>
          </a:prstGeom>
          <a:solidFill>
            <a:srgbClr val="F4F1EA"/>
          </a:solidFill>
          <a:ln w="12700">
            <a:solidFill>
              <a:srgbClr val="F4F1EA"/>
            </a:solidFill>
            <a:prstDash val="solid"/>
          </a:ln>
        </p:spPr>
      </p:sp>
      <p:sp>
        <p:nvSpPr>
          <p:cNvPr id="52" name="Text 49"/>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اشْتَرَيْتُ سَاعَةً غَالِيًا.</a:t>
            </a:r>
            <a:endParaRPr lang="ar-SA" sz="2050" dirty="0"/>
          </a:p>
        </p:txBody>
      </p:sp>
      <p:sp>
        <p:nvSpPr>
          <p:cNvPr id="54" name="Shape 51"/>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6313932"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“I saw a satisfied customer (m.)”.</a:t>
            </a:r>
            <a:endParaRPr lang="en-US" sz="1250" dirty="0"/>
          </a:p>
        </p:txBody>
      </p:sp>
      <p:sp>
        <p:nvSpPr>
          <p:cNvPr id="58" name="Shape 55"/>
          <p:cNvSpPr/>
          <p:nvPr/>
        </p:nvSpPr>
        <p:spPr>
          <a:xfrm>
            <a:off x="6368796"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رَأَيْتُ زَبُونًا رَاضِيًا.</a:t>
            </a:r>
            <a:endParaRPr lang="ar-SA" sz="2050" dirty="0"/>
          </a:p>
        </p:txBody>
      </p:sp>
      <p:sp>
        <p:nvSpPr>
          <p:cNvPr id="61" name="Shape 58"/>
          <p:cNvSpPr/>
          <p:nvPr/>
        </p:nvSpPr>
        <p:spPr>
          <a:xfrm>
            <a:off x="6368796"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رَأَيْتُ زَبُونًا رَاضٍ.</a:t>
            </a:r>
            <a:endParaRPr lang="ar-SA" sz="2050" dirty="0"/>
          </a:p>
        </p:txBody>
      </p:sp>
      <p:sp>
        <p:nvSpPr>
          <p:cNvPr id="64" name="Shape 61"/>
          <p:cNvSpPr/>
          <p:nvPr/>
        </p:nvSpPr>
        <p:spPr>
          <a:xfrm>
            <a:off x="6368796"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رَأَيْتُ زَبُونًا رَاضِيٌ.</a:t>
            </a:r>
            <a:endParaRPr lang="ar-SA" sz="2050" dirty="0"/>
          </a:p>
        </p:txBody>
      </p:sp>
      <p:sp>
        <p:nvSpPr>
          <p:cNvPr id="67" name="Text 6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11 / 34</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GM-ADJ-08 · Adjectives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CHECK FOR UNDERSTANDING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Answers and reasons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Adjectives · GM-ADJ-08</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“a high building”.</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مَبْنًى عَالِيٌ</a:t>
            </a:r>
            <a:endParaRPr lang="ar-SA" sz="1700" dirty="0"/>
          </a:p>
        </p:txBody>
      </p:sp>
      <p:sp>
        <p:nvSpPr>
          <p:cNvPr id="22" name="Shape 19"/>
          <p:cNvSpPr/>
          <p:nvPr/>
        </p:nvSpPr>
        <p:spPr>
          <a:xfrm>
            <a:off x="640080" y="2862072"/>
            <a:ext cx="256032" cy="256032"/>
          </a:xfrm>
          <a:prstGeom prst="ellipse">
            <a:avLst/>
          </a:prstGeom>
          <a:solidFill>
            <a:srgbClr val="C9CED6"/>
          </a:solidFill>
          <a:ln w="12700">
            <a:solidFill>
              <a:srgbClr val="C9CED6"/>
            </a:solidFill>
            <a:prstDash val="solid"/>
          </a:ln>
        </p:spPr>
      </p:sp>
      <p:sp>
        <p:nvSpPr>
          <p:cNvPr id="23" name="Text 20"/>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مَبْنًى الْعَالِي</a:t>
            </a:r>
            <a:endParaRPr lang="ar-SA" sz="1700" dirty="0"/>
          </a:p>
        </p:txBody>
      </p:sp>
      <p:sp>
        <p:nvSpPr>
          <p:cNvPr id="25" name="Shape 22"/>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6" name="Shape 23"/>
          <p:cNvSpPr/>
          <p:nvPr/>
        </p:nvSpPr>
        <p:spPr>
          <a:xfrm>
            <a:off x="640080" y="3233928"/>
            <a:ext cx="256032" cy="256032"/>
          </a:xfrm>
          <a:prstGeom prst="ellipse">
            <a:avLst/>
          </a:prstGeom>
          <a:solidFill>
            <a:srgbClr val="2E8B57"/>
          </a:solidFill>
          <a:ln w="12700">
            <a:solidFill>
              <a:srgbClr val="2E8B57"/>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28" name="Text 25"/>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مَبْنًى عَالٍ</a:t>
            </a:r>
            <a:endParaRPr lang="ar-SA" sz="1700" dirty="0"/>
          </a:p>
        </p:txBody>
      </p:sp>
      <p:sp>
        <p:nvSpPr>
          <p:cNvPr id="29" name="Text 26"/>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Indefinite nominative → hidden yāʾ.</a:t>
            </a:r>
            <a:endParaRPr lang="en-US" sz="10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high building”.</a:t>
            </a:r>
            <a:endParaRPr lang="en-US" sz="1250" dirty="0"/>
          </a:p>
        </p:txBody>
      </p:sp>
      <p:sp>
        <p:nvSpPr>
          <p:cNvPr id="34" name="Shape 31"/>
          <p:cNvSpPr/>
          <p:nvPr/>
        </p:nvSpPr>
        <p:spPr>
          <a:xfrm>
            <a:off x="6277356" y="2453640"/>
            <a:ext cx="5362956"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6368796"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7" name="Text 34"/>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الْمَبْنَى الْعَالِي</a:t>
            </a:r>
            <a:endParaRPr lang="ar-SA" sz="1700" dirty="0"/>
          </a:p>
        </p:txBody>
      </p:sp>
      <p:sp>
        <p:nvSpPr>
          <p:cNvPr id="38" name="Shape 35"/>
          <p:cNvSpPr/>
          <p:nvPr/>
        </p:nvSpPr>
        <p:spPr>
          <a:xfrm>
            <a:off x="6368796"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0" name="Text 37"/>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الْمَبْنَى الْعَالِ</a:t>
            </a:r>
            <a:endParaRPr lang="ar-SA" sz="1700" dirty="0"/>
          </a:p>
        </p:txBody>
      </p:sp>
      <p:sp>
        <p:nvSpPr>
          <p:cNvPr id="41" name="Shape 38"/>
          <p:cNvSpPr/>
          <p:nvPr/>
        </p:nvSpPr>
        <p:spPr>
          <a:xfrm>
            <a:off x="6368796"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الْمَبْنَى عَالٍ</a:t>
            </a:r>
            <a:endParaRPr lang="ar-SA" sz="1700" dirty="0"/>
          </a:p>
        </p:txBody>
      </p:sp>
      <p:sp>
        <p:nvSpPr>
          <p:cNvPr id="44" name="Text 41"/>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Definite → yāʾ returns.</a:t>
            </a:r>
            <a:endParaRPr lang="en-US" sz="1050" dirty="0"/>
          </a:p>
        </p:txBody>
      </p:sp>
      <p:sp>
        <p:nvSpPr>
          <p:cNvPr id="45" name="Shape 42"/>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585216" y="4288536"/>
            <a:ext cx="310896" cy="310896"/>
          </a:xfrm>
          <a:prstGeom prst="ellipse">
            <a:avLst/>
          </a:prstGeom>
          <a:solidFill>
            <a:srgbClr val="1B3B6F"/>
          </a:solidFill>
          <a:ln w="12700">
            <a:solidFill>
              <a:srgbClr val="1B3B6F"/>
            </a:solidFill>
            <a:prstDash val="solid"/>
          </a:ln>
        </p:spPr>
      </p:sp>
      <p:sp>
        <p:nvSpPr>
          <p:cNvPr id="47" name="Text 44"/>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“I bought an expensive watch (f.)”.</a:t>
            </a:r>
            <a:endParaRPr lang="en-US" sz="1250" dirty="0"/>
          </a:p>
        </p:txBody>
      </p:sp>
      <p:sp>
        <p:nvSpPr>
          <p:cNvPr id="49" name="Shape 46"/>
          <p:cNvSpPr/>
          <p:nvPr/>
        </p:nvSpPr>
        <p:spPr>
          <a:xfrm>
            <a:off x="640080" y="4831080"/>
            <a:ext cx="256032" cy="256032"/>
          </a:xfrm>
          <a:prstGeom prst="ellipse">
            <a:avLst/>
          </a:prstGeom>
          <a:solidFill>
            <a:srgbClr val="C9CED6"/>
          </a:solidFill>
          <a:ln w="12700">
            <a:solidFill>
              <a:srgbClr val="C9CED6"/>
            </a:solidFill>
            <a:prstDash val="solid"/>
          </a:ln>
        </p:spPr>
      </p:sp>
      <p:sp>
        <p:nvSpPr>
          <p:cNvPr id="50" name="Text 47"/>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اشْتَرَيْتُ سَاعَةً غَالٍ.</a:t>
            </a:r>
            <a:endParaRPr lang="ar-SA" sz="1700" dirty="0"/>
          </a:p>
        </p:txBody>
      </p:sp>
      <p:sp>
        <p:nvSpPr>
          <p:cNvPr id="52" name="Shape 49"/>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3" name="Shape 50"/>
          <p:cNvSpPr/>
          <p:nvPr/>
        </p:nvSpPr>
        <p:spPr>
          <a:xfrm>
            <a:off x="640080" y="5202936"/>
            <a:ext cx="256032" cy="256032"/>
          </a:xfrm>
          <a:prstGeom prst="ellipse">
            <a:avLst/>
          </a:prstGeom>
          <a:solidFill>
            <a:srgbClr val="2E8B57"/>
          </a:solidFill>
          <a:ln w="12700">
            <a:solidFill>
              <a:srgbClr val="2E8B57"/>
            </a:solidFill>
            <a:prstDash val="solid"/>
          </a:ln>
        </p:spPr>
      </p:sp>
      <p:sp>
        <p:nvSpPr>
          <p:cNvPr id="54" name="Text 51"/>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55" name="Text 52"/>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اشْتَرَيْتُ سَاعَةً غَالِيَةً.</a:t>
            </a:r>
            <a:endParaRPr lang="ar-SA" sz="1700" dirty="0"/>
          </a:p>
        </p:txBody>
      </p:sp>
      <p:sp>
        <p:nvSpPr>
          <p:cNvPr id="56" name="Shape 53"/>
          <p:cNvSpPr/>
          <p:nvPr/>
        </p:nvSpPr>
        <p:spPr>
          <a:xfrm>
            <a:off x="640080" y="5574792"/>
            <a:ext cx="256032" cy="256032"/>
          </a:xfrm>
          <a:prstGeom prst="ellipse">
            <a:avLst/>
          </a:prstGeom>
          <a:solidFill>
            <a:srgbClr val="C9CED6"/>
          </a:solidFill>
          <a:ln w="12700">
            <a:solidFill>
              <a:srgbClr val="C9CED6"/>
            </a:solidFill>
            <a:prstDash val="solid"/>
          </a:ln>
        </p:spPr>
      </p:sp>
      <p:sp>
        <p:nvSpPr>
          <p:cNvPr id="57" name="Text 54"/>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8" name="Text 55"/>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اشْتَرَيْتُ سَاعَةً غَالِيًا.</a:t>
            </a:r>
            <a:endParaRPr lang="ar-SA" sz="1700" dirty="0"/>
          </a:p>
        </p:txBody>
      </p:sp>
      <p:sp>
        <p:nvSpPr>
          <p:cNvPr id="59" name="Text 56"/>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Feminine: yāʾ + </a:t>
            </a:r>
            <a:pPr algn="l" indent="0" marL="0">
              <a:buNone/>
            </a:pPr>
            <a:r>
              <a:rPr lang="ar-SA" altLang="en-US" sz="1350" dirty="0">
                <a:solidFill>
                  <a:srgbClr val="8A6D1E"/>
                </a:solidFill>
                <a:latin typeface="Amiri" pitchFamily="2" charset="-78"/>
                <a:ea typeface="Amiri" pitchFamily="2" charset="-78"/>
                <a:cs typeface="Amiri" pitchFamily="2" charset="-78"/>
              </a:rPr>
              <a:t>ة</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60" name="Shape 57"/>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6313932"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“I saw a satisfied customer (m.)”.</a:t>
            </a:r>
            <a:endParaRPr lang="en-US" sz="1250" dirty="0"/>
          </a:p>
        </p:txBody>
      </p:sp>
      <p:sp>
        <p:nvSpPr>
          <p:cNvPr id="64" name="Shape 61"/>
          <p:cNvSpPr/>
          <p:nvPr/>
        </p:nvSpPr>
        <p:spPr>
          <a:xfrm>
            <a:off x="6277356" y="4794504"/>
            <a:ext cx="5362956" cy="347472"/>
          </a:xfrm>
          <a:prstGeom prst="roundRect">
            <a:avLst>
              <a:gd name="adj" fmla="val 15789"/>
            </a:avLst>
          </a:prstGeom>
          <a:solidFill>
            <a:srgbClr val="E6F4EC"/>
          </a:solidFill>
          <a:ln w="9525">
            <a:solidFill>
              <a:srgbClr val="2E8B57"/>
            </a:solidFill>
            <a:prstDash val="solid"/>
          </a:ln>
        </p:spPr>
      </p:sp>
      <p:sp>
        <p:nvSpPr>
          <p:cNvPr id="65" name="Shape 62"/>
          <p:cNvSpPr/>
          <p:nvPr/>
        </p:nvSpPr>
        <p:spPr>
          <a:xfrm>
            <a:off x="6368796" y="4831080"/>
            <a:ext cx="256032" cy="256032"/>
          </a:xfrm>
          <a:prstGeom prst="ellipse">
            <a:avLst/>
          </a:prstGeom>
          <a:solidFill>
            <a:srgbClr val="2E8B57"/>
          </a:solidFill>
          <a:ln w="12700">
            <a:solidFill>
              <a:srgbClr val="2E8B57"/>
            </a:solidFill>
            <a:prstDash val="solid"/>
          </a:ln>
        </p:spPr>
      </p:sp>
      <p:sp>
        <p:nvSpPr>
          <p:cNvPr id="66" name="Text 63"/>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67" name="Text 64"/>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رَأَيْتُ زَبُونًا رَاضِيًا.</a:t>
            </a:r>
            <a:endParaRPr lang="ar-SA" sz="1700" dirty="0"/>
          </a:p>
        </p:txBody>
      </p:sp>
      <p:sp>
        <p:nvSpPr>
          <p:cNvPr id="68" name="Shape 65"/>
          <p:cNvSpPr/>
          <p:nvPr/>
        </p:nvSpPr>
        <p:spPr>
          <a:xfrm>
            <a:off x="6368796" y="5202936"/>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0" name="Text 67"/>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رَأَيْتُ زَبُونًا رَاضٍ.</a:t>
            </a:r>
            <a:endParaRPr lang="ar-SA" sz="1700" dirty="0"/>
          </a:p>
        </p:txBody>
      </p:sp>
      <p:sp>
        <p:nvSpPr>
          <p:cNvPr id="71" name="Shape 68"/>
          <p:cNvSpPr/>
          <p:nvPr/>
        </p:nvSpPr>
        <p:spPr>
          <a:xfrm>
            <a:off x="6368796"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3" name="Text 70"/>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رَأَيْتُ زَبُونًا رَاضِيٌ.</a:t>
            </a:r>
            <a:endParaRPr lang="ar-SA" sz="1700" dirty="0"/>
          </a:p>
        </p:txBody>
      </p:sp>
      <p:sp>
        <p:nvSpPr>
          <p:cNvPr id="74" name="Text 71"/>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Accusative → yāʾ returns.</a:t>
            </a:r>
            <a:endParaRPr lang="en-US" sz="1050" dirty="0"/>
          </a:p>
        </p:txBody>
      </p:sp>
      <p:sp>
        <p:nvSpPr>
          <p:cNvPr id="75" name="Text 7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12 / 34</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GM-ADJ-08 · Adjectives</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I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cs typeface="Amiri" pitchFamily="2" charset="-78"/>
              </a:rPr>
              <a:t>I DO · WATCH, THEN COPY</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Watch me follow the yāʾ</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شَاهِدْ ثُمَّ 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Adjectives · GM-ADJ-08</a:t>
            </a:r>
            <a:endParaRPr lang="en-US" sz="850" dirty="0"/>
          </a:p>
        </p:txBody>
      </p:sp>
      <p:sp>
        <p:nvSpPr>
          <p:cNvPr id="15" name="Shape 12"/>
          <p:cNvSpPr/>
          <p:nvPr/>
        </p:nvSpPr>
        <p:spPr>
          <a:xfrm>
            <a:off x="9050274"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19688" y="1938528"/>
            <a:ext cx="384048" cy="384048"/>
          </a:xfrm>
          <a:prstGeom prst="ellipse">
            <a:avLst/>
          </a:prstGeom>
          <a:solidFill>
            <a:srgbClr val="6B4C9A"/>
          </a:solidFill>
          <a:ln w="12700">
            <a:solidFill>
              <a:srgbClr val="6B4C9A"/>
            </a:solidFill>
            <a:prstDash val="solid"/>
          </a:ln>
        </p:spPr>
      </p:sp>
      <p:sp>
        <p:nvSpPr>
          <p:cNvPr id="17" name="Text 14"/>
          <p:cNvSpPr txBox="1"/>
          <p:nvPr/>
        </p:nvSpPr>
        <p:spPr>
          <a:xfrm>
            <a:off x="11219688"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1</a:t>
            </a:r>
            <a:endParaRPr lang="en-US" sz="1400" dirty="0"/>
          </a:p>
        </p:txBody>
      </p:sp>
      <p:sp>
        <p:nvSpPr>
          <p:cNvPr id="18" name="Text 15"/>
          <p:cNvSpPr txBox="1"/>
          <p:nvPr/>
        </p:nvSpPr>
        <p:spPr>
          <a:xfrm>
            <a:off x="9187434"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Indefinite</a:t>
            </a:r>
            <a:endParaRPr lang="en-US" sz="1250" dirty="0"/>
          </a:p>
        </p:txBody>
      </p:sp>
      <p:sp>
        <p:nvSpPr>
          <p:cNvPr id="19" name="Text 16"/>
          <p:cNvSpPr txBox="1"/>
          <p:nvPr/>
        </p:nvSpPr>
        <p:spPr>
          <a:xfrm>
            <a:off x="9160002"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2" charset="-78"/>
                <a:ea typeface="Amiri" pitchFamily="2" charset="-78"/>
                <a:cs typeface="Amiri" pitchFamily="2" charset="-78"/>
              </a:rPr>
              <a:t>هَاتِفٌ غَالٍ</a:t>
            </a:r>
            <a:endParaRPr lang="ar-SA" sz="2800" dirty="0"/>
          </a:p>
        </p:txBody>
      </p:sp>
      <p:sp>
        <p:nvSpPr>
          <p:cNvPr id="20" name="Text 17"/>
          <p:cNvSpPr txBox="1"/>
          <p:nvPr/>
        </p:nvSpPr>
        <p:spPr>
          <a:xfrm>
            <a:off x="9187434"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subject → -in, no yāʾ.</a:t>
            </a:r>
            <a:endParaRPr lang="en-US" sz="1150" dirty="0"/>
          </a:p>
        </p:txBody>
      </p:sp>
      <p:sp>
        <p:nvSpPr>
          <p:cNvPr id="21" name="Text 18"/>
          <p:cNvSpPr txBox="1"/>
          <p:nvPr/>
        </p:nvSpPr>
        <p:spPr>
          <a:xfrm>
            <a:off x="8867394"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22" name="Shape 19"/>
          <p:cNvSpPr/>
          <p:nvPr/>
        </p:nvSpPr>
        <p:spPr>
          <a:xfrm>
            <a:off x="6185916"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8355330" y="1938528"/>
            <a:ext cx="384048" cy="384048"/>
          </a:xfrm>
          <a:prstGeom prst="ellipse">
            <a:avLst/>
          </a:prstGeom>
          <a:solidFill>
            <a:srgbClr val="6B4C9A"/>
          </a:solidFill>
          <a:ln w="12700">
            <a:solidFill>
              <a:srgbClr val="6B4C9A"/>
            </a:solidFill>
            <a:prstDash val="solid"/>
          </a:ln>
        </p:spPr>
      </p:sp>
      <p:sp>
        <p:nvSpPr>
          <p:cNvPr id="24" name="Text 21"/>
          <p:cNvSpPr txBox="1"/>
          <p:nvPr/>
        </p:nvSpPr>
        <p:spPr>
          <a:xfrm>
            <a:off x="8355330"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2</a:t>
            </a:r>
            <a:endParaRPr lang="en-US" sz="1400" dirty="0"/>
          </a:p>
        </p:txBody>
      </p:sp>
      <p:sp>
        <p:nvSpPr>
          <p:cNvPr id="25" name="Text 22"/>
          <p:cNvSpPr txBox="1"/>
          <p:nvPr/>
        </p:nvSpPr>
        <p:spPr>
          <a:xfrm>
            <a:off x="6323076"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Definite</a:t>
            </a:r>
            <a:endParaRPr lang="en-US" sz="1250" dirty="0"/>
          </a:p>
        </p:txBody>
      </p:sp>
      <p:sp>
        <p:nvSpPr>
          <p:cNvPr id="26" name="Text 23"/>
          <p:cNvSpPr txBox="1"/>
          <p:nvPr/>
        </p:nvSpPr>
        <p:spPr>
          <a:xfrm>
            <a:off x="6295644"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2" charset="-78"/>
                <a:ea typeface="Amiri" pitchFamily="2" charset="-78"/>
                <a:cs typeface="Amiri" pitchFamily="2" charset="-78"/>
              </a:rPr>
              <a:t>الْهَاتِفُ الْغَالِي</a:t>
            </a:r>
            <a:endParaRPr lang="ar-SA" sz="2800" dirty="0"/>
          </a:p>
        </p:txBody>
      </p:sp>
      <p:sp>
        <p:nvSpPr>
          <p:cNvPr id="27" name="Text 24"/>
          <p:cNvSpPr txBox="1"/>
          <p:nvPr/>
        </p:nvSpPr>
        <p:spPr>
          <a:xfrm>
            <a:off x="6323076"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al- → -ī.</a:t>
            </a:r>
            <a:endParaRPr lang="en-US" sz="1150" dirty="0"/>
          </a:p>
        </p:txBody>
      </p:sp>
      <p:sp>
        <p:nvSpPr>
          <p:cNvPr id="28" name="Text 25"/>
          <p:cNvSpPr txBox="1"/>
          <p:nvPr/>
        </p:nvSpPr>
        <p:spPr>
          <a:xfrm>
            <a:off x="6003036"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29" name="Shape 26"/>
          <p:cNvSpPr/>
          <p:nvPr/>
        </p:nvSpPr>
        <p:spPr>
          <a:xfrm>
            <a:off x="3321558"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490972" y="1938528"/>
            <a:ext cx="384048" cy="384048"/>
          </a:xfrm>
          <a:prstGeom prst="ellipse">
            <a:avLst/>
          </a:prstGeom>
          <a:solidFill>
            <a:srgbClr val="6B4C9A"/>
          </a:solidFill>
          <a:ln w="12700">
            <a:solidFill>
              <a:srgbClr val="6B4C9A"/>
            </a:solidFill>
            <a:prstDash val="solid"/>
          </a:ln>
        </p:spPr>
      </p:sp>
      <p:sp>
        <p:nvSpPr>
          <p:cNvPr id="31" name="Text 28"/>
          <p:cNvSpPr txBox="1"/>
          <p:nvPr/>
        </p:nvSpPr>
        <p:spPr>
          <a:xfrm>
            <a:off x="5490972"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3</a:t>
            </a:r>
            <a:endParaRPr lang="en-US" sz="1400" dirty="0"/>
          </a:p>
        </p:txBody>
      </p:sp>
      <p:sp>
        <p:nvSpPr>
          <p:cNvPr id="32" name="Text 29"/>
          <p:cNvSpPr txBox="1"/>
          <p:nvPr/>
        </p:nvSpPr>
        <p:spPr>
          <a:xfrm>
            <a:off x="3458718"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Object</a:t>
            </a:r>
            <a:endParaRPr lang="en-US" sz="1250" dirty="0"/>
          </a:p>
        </p:txBody>
      </p:sp>
      <p:sp>
        <p:nvSpPr>
          <p:cNvPr id="33" name="Text 30"/>
          <p:cNvSpPr txBox="1"/>
          <p:nvPr/>
        </p:nvSpPr>
        <p:spPr>
          <a:xfrm>
            <a:off x="3431286"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2" charset="-78"/>
                <a:ea typeface="Amiri" pitchFamily="2" charset="-78"/>
                <a:cs typeface="Amiri" pitchFamily="2" charset="-78"/>
              </a:rPr>
              <a:t>اشْتَرَى هَاتِفًا غَالِيًا</a:t>
            </a:r>
            <a:endParaRPr lang="ar-SA" sz="2800" dirty="0"/>
          </a:p>
        </p:txBody>
      </p:sp>
      <p:sp>
        <p:nvSpPr>
          <p:cNvPr id="34" name="Text 31"/>
          <p:cNvSpPr txBox="1"/>
          <p:nvPr/>
        </p:nvSpPr>
        <p:spPr>
          <a:xfrm>
            <a:off x="3458718"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-an → yāʾ back.</a:t>
            </a:r>
            <a:endParaRPr lang="en-US" sz="1150" dirty="0"/>
          </a:p>
        </p:txBody>
      </p:sp>
      <p:sp>
        <p:nvSpPr>
          <p:cNvPr id="35" name="Text 32"/>
          <p:cNvSpPr txBox="1"/>
          <p:nvPr/>
        </p:nvSpPr>
        <p:spPr>
          <a:xfrm>
            <a:off x="3138678"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36" name="Shape 33"/>
          <p:cNvSpPr/>
          <p:nvPr/>
        </p:nvSpPr>
        <p:spPr>
          <a:xfrm>
            <a:off x="457200"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2626614" y="1938528"/>
            <a:ext cx="384048" cy="384048"/>
          </a:xfrm>
          <a:prstGeom prst="ellipse">
            <a:avLst/>
          </a:prstGeom>
          <a:solidFill>
            <a:srgbClr val="6B4C9A"/>
          </a:solidFill>
          <a:ln w="12700">
            <a:solidFill>
              <a:srgbClr val="6B4C9A"/>
            </a:solidFill>
            <a:prstDash val="solid"/>
          </a:ln>
        </p:spPr>
      </p:sp>
      <p:sp>
        <p:nvSpPr>
          <p:cNvPr id="38" name="Text 35"/>
          <p:cNvSpPr txBox="1"/>
          <p:nvPr/>
        </p:nvSpPr>
        <p:spPr>
          <a:xfrm>
            <a:off x="2626614"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4</a:t>
            </a:r>
            <a:endParaRPr lang="en-US" sz="1400" dirty="0"/>
          </a:p>
        </p:txBody>
      </p:sp>
      <p:sp>
        <p:nvSpPr>
          <p:cNvPr id="39" name="Text 36"/>
          <p:cNvSpPr txBox="1"/>
          <p:nvPr/>
        </p:nvSpPr>
        <p:spPr>
          <a:xfrm>
            <a:off x="594360"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Feminine</a:t>
            </a:r>
            <a:endParaRPr lang="en-US" sz="1250" dirty="0"/>
          </a:p>
        </p:txBody>
      </p:sp>
      <p:sp>
        <p:nvSpPr>
          <p:cNvPr id="40" name="Text 37"/>
          <p:cNvSpPr txBox="1"/>
          <p:nvPr/>
        </p:nvSpPr>
        <p:spPr>
          <a:xfrm>
            <a:off x="566928"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2" charset="-78"/>
                <a:ea typeface="Amiri" pitchFamily="2" charset="-78"/>
                <a:cs typeface="Amiri" pitchFamily="2" charset="-78"/>
              </a:rPr>
              <a:t>سَاعَةٌ غَالِيَةٌ</a:t>
            </a:r>
            <a:endParaRPr lang="ar-SA" sz="2800" dirty="0"/>
          </a:p>
        </p:txBody>
      </p:sp>
      <p:sp>
        <p:nvSpPr>
          <p:cNvPr id="41" name="Text 38"/>
          <p:cNvSpPr txBox="1"/>
          <p:nvPr/>
        </p:nvSpPr>
        <p:spPr>
          <a:xfrm>
            <a:off x="594360"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yāʾ + </a:t>
            </a:r>
            <a:pPr algn="l" indent="0" marL="0">
              <a:buNone/>
            </a:pPr>
            <a:r>
              <a:rPr lang="ar-SA" altLang="en-US" sz="1500" dirty="0">
                <a:solidFill>
                  <a:srgbClr val="1F2A37"/>
                </a:solidFill>
                <a:latin typeface="Amiri" pitchFamily="2" charset="-78"/>
                <a:ea typeface="Amiri" pitchFamily="2" charset="-78"/>
                <a:cs typeface="Amiri" pitchFamily="2" charset="-78"/>
              </a:rPr>
              <a:t>ة</a:t>
            </a:r>
            <a:pPr algn="l" indent="0" marL="0">
              <a:buNone/>
            </a:pPr>
            <a:r>
              <a:rPr lang="en-US" sz="1150" dirty="0">
                <a:solidFill>
                  <a:srgbClr val="1F2A37"/>
                </a:solidFill>
                <a:latin typeface="Calibri" pitchFamily="34" charset="0"/>
                <a:cs typeface="Amiri" pitchFamily="2" charset="-78"/>
              </a:rPr>
              <a:t>.</a:t>
            </a:r>
            <a:endParaRPr lang="en-US" sz="1150" dirty="0"/>
          </a:p>
        </p:txBody>
      </p:sp>
      <p:sp>
        <p:nvSpPr>
          <p:cNvPr id="42" name="Shape 39"/>
          <p:cNvSpPr/>
          <p:nvPr/>
        </p:nvSpPr>
        <p:spPr>
          <a:xfrm>
            <a:off x="457200" y="4480560"/>
            <a:ext cx="11274552" cy="1828800"/>
          </a:xfrm>
          <a:prstGeom prst="roundRect">
            <a:avLst>
              <a:gd name="adj" fmla="val 4000"/>
            </a:avLst>
          </a:prstGeom>
          <a:solidFill>
            <a:srgbClr val="F1ECF8"/>
          </a:solidFill>
          <a:ln w="9525">
            <a:solidFill>
              <a:srgbClr val="CFC2E3"/>
            </a:solidFill>
            <a:prstDash val="solid"/>
          </a:ln>
          <a:effectLst>
            <a:outerShdw sx="100000" sy="100000" kx="0" ky="0" algn="bl" rotWithShape="0" blurRad="50800" dist="19050" dir="5400000">
              <a:srgbClr val="000000">
                <a:alpha val="10000"/>
              </a:srgbClr>
            </a:outerShdw>
          </a:effectLst>
        </p:spPr>
      </p:sp>
      <p:pic>
        <p:nvPicPr>
          <p:cNvPr id="43" name="Image 0" descr="preencoded.png">    </p:cNvPr>
          <p:cNvPicPr>
            <a:picLocks noChangeAspect="1"/>
          </p:cNvPicPr>
          <p:nvPr/>
        </p:nvPicPr>
        <p:blipFill>
          <a:blip r:embed="rId1"/>
          <a:stretch>
            <a:fillRect/>
          </a:stretch>
        </p:blipFill>
        <p:spPr>
          <a:xfrm>
            <a:off x="685800" y="4663440"/>
            <a:ext cx="457200" cy="457200"/>
          </a:xfrm>
          <a:prstGeom prst="rect">
            <a:avLst/>
          </a:prstGeom>
        </p:spPr>
      </p:pic>
      <p:sp>
        <p:nvSpPr>
          <p:cNvPr id="44" name="Text 40"/>
          <p:cNvSpPr txBox="1"/>
          <p:nvPr/>
        </p:nvSpPr>
        <p:spPr>
          <a:xfrm>
            <a:off x="1280160" y="4736592"/>
            <a:ext cx="3657600" cy="310896"/>
          </a:xfrm>
          <a:prstGeom prst="rect">
            <a:avLst/>
          </a:prstGeom>
          <a:noFill/>
          <a:ln/>
        </p:spPr>
        <p:txBody>
          <a:bodyPr wrap="square" lIns="0" tIns="0" rIns="0" bIns="0" rtlCol="0" anchor="ctr"/>
          <a:lstStyle/>
          <a:p>
            <a:pPr algn="l" indent="0" marL="0">
              <a:buNone/>
            </a:pPr>
            <a:r>
              <a:rPr lang="en-US" sz="1200" b="1" spc="200" kern="0" dirty="0">
                <a:solidFill>
                  <a:srgbClr val="6B4C9A"/>
                </a:solidFill>
                <a:latin typeface="Calibri" pitchFamily="34" charset="0"/>
                <a:cs typeface="Amiri" pitchFamily="2" charset="-78"/>
              </a:rPr>
              <a:t>COPY THIS INTO YOUR BOOK</a:t>
            </a:r>
            <a:endParaRPr lang="en-US" sz="1200" dirty="0"/>
          </a:p>
        </p:txBody>
      </p:sp>
      <p:sp>
        <p:nvSpPr>
          <p:cNvPr id="45" name="Shape 41"/>
          <p:cNvSpPr/>
          <p:nvPr/>
        </p:nvSpPr>
        <p:spPr>
          <a:xfrm>
            <a:off x="9528048" y="4736592"/>
            <a:ext cx="914400" cy="237744"/>
          </a:xfrm>
          <a:prstGeom prst="roundRect">
            <a:avLst>
              <a:gd name="adj" fmla="val 50000"/>
            </a:avLst>
          </a:prstGeom>
          <a:solidFill>
            <a:srgbClr val="0E7C86"/>
          </a:solidFill>
          <a:ln w="12700">
            <a:solidFill>
              <a:srgbClr val="0E7C86"/>
            </a:solidFill>
            <a:prstDash val="solid"/>
          </a:ln>
        </p:spPr>
      </p:sp>
      <p:sp>
        <p:nvSpPr>
          <p:cNvPr id="46" name="Text 42"/>
          <p:cNvSpPr txBox="1"/>
          <p:nvPr/>
        </p:nvSpPr>
        <p:spPr>
          <a:xfrm>
            <a:off x="9528048"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YĀʾ HIDDEN</a:t>
            </a:r>
            <a:endParaRPr lang="en-US" sz="800" dirty="0"/>
          </a:p>
        </p:txBody>
      </p:sp>
      <p:sp>
        <p:nvSpPr>
          <p:cNvPr id="47" name="Shape 43"/>
          <p:cNvSpPr/>
          <p:nvPr/>
        </p:nvSpPr>
        <p:spPr>
          <a:xfrm>
            <a:off x="10515600" y="4736592"/>
            <a:ext cx="914400" cy="237744"/>
          </a:xfrm>
          <a:prstGeom prst="roundRect">
            <a:avLst>
              <a:gd name="adj" fmla="val 50000"/>
            </a:avLst>
          </a:prstGeom>
          <a:solidFill>
            <a:srgbClr val="D6336C"/>
          </a:solidFill>
          <a:ln w="12700">
            <a:solidFill>
              <a:srgbClr val="D6336C"/>
            </a:solidFill>
            <a:prstDash val="solid"/>
          </a:ln>
        </p:spPr>
      </p:sp>
      <p:sp>
        <p:nvSpPr>
          <p:cNvPr id="48" name="Text 44"/>
          <p:cNvSpPr txBox="1"/>
          <p:nvPr/>
        </p:nvSpPr>
        <p:spPr>
          <a:xfrm>
            <a:off x="10515600"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YĀʾ VISIBLE</a:t>
            </a:r>
            <a:endParaRPr lang="en-US" sz="800" dirty="0"/>
          </a:p>
        </p:txBody>
      </p:sp>
      <p:sp>
        <p:nvSpPr>
          <p:cNvPr id="49" name="Text 45"/>
          <p:cNvSpPr txBox="1"/>
          <p:nvPr/>
        </p:nvSpPr>
        <p:spPr>
          <a:xfrm>
            <a:off x="685800" y="5029200"/>
            <a:ext cx="10817352" cy="731520"/>
          </a:xfrm>
          <a:prstGeom prst="rect">
            <a:avLst/>
          </a:prstGeom>
          <a:noFill/>
          <a:ln/>
        </p:spPr>
        <p:txBody>
          <a:bodyPr wrap="square" lIns="0" tIns="0" rIns="0" bIns="0" rtlCol="0" anchor="ctr"/>
          <a:lstStyle/>
          <a:p>
            <a:pPr rtl="1" algn="r" indent="0" marL="0">
              <a:buNone/>
            </a:pPr>
            <a:r>
              <a:rPr lang="ar-SA" altLang="en-US" sz="2050" b="1" dirty="0">
                <a:solidFill>
                  <a:srgbClr val="1B3B6F"/>
                </a:solidFill>
                <a:latin typeface="Amiri" pitchFamily="2" charset="-78"/>
                <a:ea typeface="Amiri" pitchFamily="2" charset="-78"/>
                <a:cs typeface="Amiri" pitchFamily="2" charset="-78"/>
              </a:rPr>
              <a:t>هَذَا هَاتِفٌ </a:t>
            </a:r>
            <a:pPr rtl="1" algn="r" indent="0" marL="0">
              <a:buNone/>
            </a:pPr>
            <a:r>
              <a:rPr lang="ar-SA" altLang="en-US" sz="2050" b="1" dirty="0">
                <a:solidFill>
                  <a:srgbClr val="0E7C86"/>
                </a:solidFill>
                <a:latin typeface="Amiri" pitchFamily="2" charset="-78"/>
                <a:ea typeface="Amiri" pitchFamily="2" charset="-78"/>
                <a:cs typeface="Amiri" pitchFamily="2" charset="-78"/>
              </a:rPr>
              <a:t>غَالٍ</a:t>
            </a:r>
            <a:pPr rtl="1" algn="r" indent="0" marL="0">
              <a:buNone/>
            </a:pPr>
            <a:r>
              <a:rPr lang="ar-SA" altLang="en-US" sz="2050" b="1" dirty="0">
                <a:solidFill>
                  <a:srgbClr val="1B3B6F"/>
                </a:solidFill>
                <a:latin typeface="Amiri" pitchFamily="2" charset="-78"/>
                <a:ea typeface="Amiri" pitchFamily="2" charset="-78"/>
                <a:cs typeface="Amiri" pitchFamily="2" charset="-78"/>
              </a:rPr>
              <a:t>، لَكِنَّ أَخِي اشْتَرَى هَاتِفًا </a:t>
            </a:r>
            <a:pPr rtl="1" algn="r" indent="0" marL="0">
              <a:buNone/>
            </a:pPr>
            <a:r>
              <a:rPr lang="ar-SA" altLang="en-US" sz="2050" b="1" dirty="0">
                <a:solidFill>
                  <a:srgbClr val="D6336C"/>
                </a:solidFill>
                <a:latin typeface="Amiri" pitchFamily="2" charset="-78"/>
                <a:ea typeface="Amiri" pitchFamily="2" charset="-78"/>
                <a:cs typeface="Amiri" pitchFamily="2" charset="-78"/>
              </a:rPr>
              <a:t>غَالِيًا</a:t>
            </a:r>
            <a:pPr rtl="1" algn="r" indent="0" marL="0">
              <a:buNone/>
            </a:pPr>
            <a:r>
              <a:rPr lang="ar-SA" altLang="en-US" sz="2050" b="1" dirty="0">
                <a:solidFill>
                  <a:srgbClr val="1B3B6F"/>
                </a:solidFill>
                <a:latin typeface="Amiri" pitchFamily="2" charset="-78"/>
                <a:ea typeface="Amiri" pitchFamily="2" charset="-78"/>
                <a:cs typeface="Amiri" pitchFamily="2" charset="-78"/>
              </a:rPr>
              <a:t> أَيْضًا. الْهَاتِفُ </a:t>
            </a:r>
            <a:pPr rtl="1" algn="r" indent="0" marL="0">
              <a:buNone/>
            </a:pPr>
            <a:r>
              <a:rPr lang="ar-SA" altLang="en-US" sz="2050" b="1" dirty="0">
                <a:solidFill>
                  <a:srgbClr val="D6336C"/>
                </a:solidFill>
                <a:latin typeface="Amiri" pitchFamily="2" charset="-78"/>
                <a:ea typeface="Amiri" pitchFamily="2" charset="-78"/>
                <a:cs typeface="Amiri" pitchFamily="2" charset="-78"/>
              </a:rPr>
              <a:t>الْغَالِي</a:t>
            </a:r>
            <a:pPr rtl="1" algn="r" indent="0" marL="0">
              <a:buNone/>
            </a:pPr>
            <a:r>
              <a:rPr lang="ar-SA" altLang="en-US" sz="2050" b="1" dirty="0">
                <a:solidFill>
                  <a:srgbClr val="1B3B6F"/>
                </a:solidFill>
                <a:latin typeface="Amiri" pitchFamily="2" charset="-78"/>
                <a:ea typeface="Amiri" pitchFamily="2" charset="-78"/>
                <a:cs typeface="Amiri" pitchFamily="2" charset="-78"/>
              </a:rPr>
              <a:t> لَيْسَ دَائِمًا الْأَفْضَلَ، وَأَنَا </a:t>
            </a:r>
            <a:pPr rtl="1" algn="r" indent="0" marL="0">
              <a:buNone/>
            </a:pPr>
            <a:r>
              <a:rPr lang="ar-SA" altLang="en-US" sz="2050" b="1" dirty="0">
                <a:solidFill>
                  <a:srgbClr val="0E7C86"/>
                </a:solidFill>
                <a:latin typeface="Amiri" pitchFamily="2" charset="-78"/>
                <a:ea typeface="Amiri" pitchFamily="2" charset="-78"/>
                <a:cs typeface="Amiri" pitchFamily="2" charset="-78"/>
              </a:rPr>
              <a:t>رَاضٍ</a:t>
            </a:r>
            <a:pPr rtl="1" algn="r" indent="0" marL="0">
              <a:buNone/>
            </a:pPr>
            <a:r>
              <a:rPr lang="ar-SA" altLang="en-US" sz="2050" b="1" dirty="0">
                <a:solidFill>
                  <a:srgbClr val="1B3B6F"/>
                </a:solidFill>
                <a:latin typeface="Amiri" pitchFamily="2" charset="-78"/>
                <a:ea typeface="Amiri" pitchFamily="2" charset="-78"/>
                <a:cs typeface="Amiri" pitchFamily="2" charset="-78"/>
              </a:rPr>
              <a:t> عَنْ هَاتِفِي الْقَدِيمِ.</a:t>
            </a:r>
            <a:endParaRPr lang="ar-SA" sz="2050" dirty="0"/>
          </a:p>
        </p:txBody>
      </p:sp>
      <p:sp>
        <p:nvSpPr>
          <p:cNvPr id="50" name="Text 46"/>
          <p:cNvSpPr txBox="1"/>
          <p:nvPr/>
        </p:nvSpPr>
        <p:spPr>
          <a:xfrm>
            <a:off x="685800" y="5760720"/>
            <a:ext cx="10817352" cy="365760"/>
          </a:xfrm>
          <a:prstGeom prst="rect">
            <a:avLst/>
          </a:prstGeom>
          <a:noFill/>
          <a:ln/>
        </p:spPr>
        <p:txBody>
          <a:bodyPr wrap="square" lIns="0" tIns="0" rIns="0" bIns="0" rtlCol="0" anchor="ctr"/>
          <a:lstStyle/>
          <a:p>
            <a:pPr algn="r" indent="0" marL="0">
              <a:buNone/>
            </a:pPr>
            <a:r>
              <a:rPr lang="en-US" sz="1150" i="1" dirty="0">
                <a:solidFill>
                  <a:srgbClr val="5A6472"/>
                </a:solidFill>
                <a:latin typeface="Calibri" pitchFamily="34" charset="0"/>
                <a:cs typeface="Amiri" pitchFamily="2" charset="-78"/>
              </a:rPr>
              <a:t>This is an expensive phone, but my brother bought an expensive phone too. The expensive phone is not always the best, and I am satisfied with my old phone.</a:t>
            </a:r>
            <a:endParaRPr lang="en-US" sz="1150" dirty="0"/>
          </a:p>
        </p:txBody>
      </p:sp>
      <p:sp>
        <p:nvSpPr>
          <p:cNvPr id="51" name="Text 4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13 / 34</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GM-ADJ-08 · Adjectives</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I DO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cs typeface="Amiri" pitchFamily="2" charset="-78"/>
              </a:rPr>
              <a:t>I DO · MODEL SENTENCES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Sentences to borrow</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جُمَلٌ نَمُوذَجِيَّةٌ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Adjectives · GM-ADJ-08</a:t>
            </a:r>
            <a:endParaRPr lang="en-US" sz="850" dirty="0"/>
          </a:p>
        </p:txBody>
      </p:sp>
      <p:sp>
        <p:nvSpPr>
          <p:cNvPr id="15" name="Shape 12"/>
          <p:cNvSpPr/>
          <p:nvPr/>
        </p:nvSpPr>
        <p:spPr>
          <a:xfrm>
            <a:off x="457200" y="1810512"/>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01400" y="2123694"/>
            <a:ext cx="402336" cy="402336"/>
          </a:xfrm>
          <a:prstGeom prst="ellipse">
            <a:avLst/>
          </a:prstGeom>
          <a:solidFill>
            <a:srgbClr val="1B3B6F"/>
          </a:solidFill>
          <a:ln w="12700">
            <a:solidFill>
              <a:srgbClr val="1B3B6F"/>
            </a:solidFill>
            <a:prstDash val="solid"/>
          </a:ln>
        </p:spPr>
      </p:sp>
      <p:sp>
        <p:nvSpPr>
          <p:cNvPr id="17" name="Text 14"/>
          <p:cNvSpPr txBox="1"/>
          <p:nvPr/>
        </p:nvSpPr>
        <p:spPr>
          <a:xfrm>
            <a:off x="11201400" y="212369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1</a:t>
            </a:r>
            <a:endParaRPr lang="en-US" sz="1300" dirty="0"/>
          </a:p>
        </p:txBody>
      </p:sp>
      <p:sp>
        <p:nvSpPr>
          <p:cNvPr id="18" name="Text 15"/>
          <p:cNvSpPr txBox="1"/>
          <p:nvPr/>
        </p:nvSpPr>
        <p:spPr>
          <a:xfrm>
            <a:off x="4572000" y="1847088"/>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ea typeface="Amiri" pitchFamily="2" charset="-78"/>
                <a:cs typeface="Amiri" pitchFamily="2" charset="-78"/>
              </a:rPr>
              <a:t>الْكِتَابُ الْغَالِي مُفِيدٌ.</a:t>
            </a:r>
            <a:endParaRPr lang="ar-SA" sz="2600" dirty="0"/>
          </a:p>
        </p:txBody>
      </p:sp>
      <p:sp>
        <p:nvSpPr>
          <p:cNvPr id="19" name="Text 16"/>
          <p:cNvSpPr txBox="1"/>
          <p:nvPr/>
        </p:nvSpPr>
        <p:spPr>
          <a:xfrm>
            <a:off x="685800" y="1856232"/>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The expensive book is useful.</a:t>
            </a:r>
            <a:endParaRPr lang="en-US" sz="1250" dirty="0"/>
          </a:p>
          <a:p>
            <a:pPr indent="0" marL="0">
              <a:buNone/>
            </a:pPr>
            <a:r>
              <a:rPr lang="en-US" sz="1050" i="1" dirty="0">
                <a:solidFill>
                  <a:srgbClr val="8A6D1E"/>
                </a:solidFill>
                <a:latin typeface="Calibri" pitchFamily="34" charset="0"/>
                <a:cs typeface="Amiri" pitchFamily="2" charset="-78"/>
              </a:rPr>
              <a:t>Website model bank: definite.</a:t>
            </a:r>
            <a:endParaRPr lang="en-US" sz="1250" dirty="0"/>
          </a:p>
        </p:txBody>
      </p:sp>
      <p:sp>
        <p:nvSpPr>
          <p:cNvPr id="20" name="Shape 17"/>
          <p:cNvSpPr/>
          <p:nvPr/>
        </p:nvSpPr>
        <p:spPr>
          <a:xfrm>
            <a:off x="457200" y="2967228"/>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201400" y="3280410"/>
            <a:ext cx="402336" cy="402336"/>
          </a:xfrm>
          <a:prstGeom prst="ellipse">
            <a:avLst/>
          </a:prstGeom>
          <a:solidFill>
            <a:srgbClr val="1B3B6F"/>
          </a:solidFill>
          <a:ln w="12700">
            <a:solidFill>
              <a:srgbClr val="1B3B6F"/>
            </a:solidFill>
            <a:prstDash val="solid"/>
          </a:ln>
        </p:spPr>
      </p:sp>
      <p:sp>
        <p:nvSpPr>
          <p:cNvPr id="22" name="Text 19"/>
          <p:cNvSpPr txBox="1"/>
          <p:nvPr/>
        </p:nvSpPr>
        <p:spPr>
          <a:xfrm>
            <a:off x="11201400" y="3280410"/>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2</a:t>
            </a:r>
            <a:endParaRPr lang="en-US" sz="1300" dirty="0"/>
          </a:p>
        </p:txBody>
      </p:sp>
      <p:sp>
        <p:nvSpPr>
          <p:cNvPr id="23" name="Text 20"/>
          <p:cNvSpPr txBox="1"/>
          <p:nvPr/>
        </p:nvSpPr>
        <p:spPr>
          <a:xfrm>
            <a:off x="4572000" y="3003804"/>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ea typeface="Amiri" pitchFamily="2" charset="-78"/>
                <a:cs typeface="Amiri" pitchFamily="2" charset="-78"/>
              </a:rPr>
              <a:t>أُمِّي رَاضِيَةٌ عَنْ نَتِيجَتِي.</a:t>
            </a:r>
            <a:endParaRPr lang="ar-SA" sz="2600" dirty="0"/>
          </a:p>
        </p:txBody>
      </p:sp>
      <p:sp>
        <p:nvSpPr>
          <p:cNvPr id="24" name="Text 21"/>
          <p:cNvSpPr txBox="1"/>
          <p:nvPr/>
        </p:nvSpPr>
        <p:spPr>
          <a:xfrm>
            <a:off x="685800" y="3012948"/>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My mother is pleased with my result.</a:t>
            </a:r>
            <a:endParaRPr lang="en-US" sz="1250" dirty="0"/>
          </a:p>
          <a:p>
            <a:pPr indent="0" marL="0">
              <a:buNone/>
            </a:pPr>
            <a:r>
              <a:rPr lang="en-US" sz="1050" i="1" dirty="0">
                <a:solidFill>
                  <a:srgbClr val="8A6D1E"/>
                </a:solidFill>
                <a:latin typeface="Calibri" pitchFamily="34" charset="0"/>
                <a:cs typeface="Amiri" pitchFamily="2" charset="-78"/>
              </a:rPr>
              <a:t>Feminine: yāʾ visible.</a:t>
            </a:r>
            <a:endParaRPr lang="en-US" sz="1250" dirty="0"/>
          </a:p>
        </p:txBody>
      </p:sp>
      <p:sp>
        <p:nvSpPr>
          <p:cNvPr id="25" name="Shape 22"/>
          <p:cNvSpPr/>
          <p:nvPr/>
        </p:nvSpPr>
        <p:spPr>
          <a:xfrm>
            <a:off x="457200" y="4123944"/>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201400" y="4437126"/>
            <a:ext cx="402336" cy="402336"/>
          </a:xfrm>
          <a:prstGeom prst="ellipse">
            <a:avLst/>
          </a:prstGeom>
          <a:solidFill>
            <a:srgbClr val="1B3B6F"/>
          </a:solidFill>
          <a:ln w="12700">
            <a:solidFill>
              <a:srgbClr val="1B3B6F"/>
            </a:solidFill>
            <a:prstDash val="solid"/>
          </a:ln>
        </p:spPr>
      </p:sp>
      <p:sp>
        <p:nvSpPr>
          <p:cNvPr id="27" name="Text 24"/>
          <p:cNvSpPr txBox="1"/>
          <p:nvPr/>
        </p:nvSpPr>
        <p:spPr>
          <a:xfrm>
            <a:off x="11201400" y="443712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3</a:t>
            </a:r>
            <a:endParaRPr lang="en-US" sz="1300" dirty="0"/>
          </a:p>
        </p:txBody>
      </p:sp>
      <p:sp>
        <p:nvSpPr>
          <p:cNvPr id="28" name="Text 25"/>
          <p:cNvSpPr txBox="1"/>
          <p:nvPr/>
        </p:nvSpPr>
        <p:spPr>
          <a:xfrm>
            <a:off x="4572000" y="4160520"/>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ea typeface="Amiri" pitchFamily="2" charset="-78"/>
                <a:cs typeface="Amiri" pitchFamily="2" charset="-78"/>
              </a:rPr>
              <a:t>سَافَرْنَا فِي الشَّهْرِ الْمَاضِي.</a:t>
            </a:r>
            <a:endParaRPr lang="ar-SA" sz="2600" dirty="0"/>
          </a:p>
        </p:txBody>
      </p:sp>
      <p:sp>
        <p:nvSpPr>
          <p:cNvPr id="29" name="Text 26"/>
          <p:cNvSpPr txBox="1"/>
          <p:nvPr/>
        </p:nvSpPr>
        <p:spPr>
          <a:xfrm>
            <a:off x="685800" y="4169664"/>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We travelled last month.</a:t>
            </a:r>
            <a:endParaRPr lang="en-US" sz="1250" dirty="0"/>
          </a:p>
          <a:p>
            <a:pPr indent="0" marL="0">
              <a:buNone/>
            </a:pPr>
            <a:r>
              <a:rPr lang="en-US" sz="1050" i="1" dirty="0">
                <a:solidFill>
                  <a:srgbClr val="8A6D1E"/>
                </a:solidFill>
                <a:latin typeface="Calibri" pitchFamily="34" charset="0"/>
                <a:cs typeface="Amiri" pitchFamily="2" charset="-78"/>
              </a:rPr>
              <a:t>al-māḍī: definite.</a:t>
            </a:r>
            <a:endParaRPr lang="en-US" sz="1250" dirty="0"/>
          </a:p>
        </p:txBody>
      </p:sp>
      <p:sp>
        <p:nvSpPr>
          <p:cNvPr id="30" name="Shape 27"/>
          <p:cNvSpPr/>
          <p:nvPr/>
        </p:nvSpPr>
        <p:spPr>
          <a:xfrm>
            <a:off x="457200" y="5280660"/>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11201400" y="5593842"/>
            <a:ext cx="402336" cy="402336"/>
          </a:xfrm>
          <a:prstGeom prst="ellipse">
            <a:avLst/>
          </a:prstGeom>
          <a:solidFill>
            <a:srgbClr val="1B3B6F"/>
          </a:solidFill>
          <a:ln w="12700">
            <a:solidFill>
              <a:srgbClr val="1B3B6F"/>
            </a:solidFill>
            <a:prstDash val="solid"/>
          </a:ln>
        </p:spPr>
      </p:sp>
      <p:sp>
        <p:nvSpPr>
          <p:cNvPr id="32" name="Text 29"/>
          <p:cNvSpPr txBox="1"/>
          <p:nvPr/>
        </p:nvSpPr>
        <p:spPr>
          <a:xfrm>
            <a:off x="11201400" y="5593842"/>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4</a:t>
            </a:r>
            <a:endParaRPr lang="en-US" sz="1300" dirty="0"/>
          </a:p>
        </p:txBody>
      </p:sp>
      <p:sp>
        <p:nvSpPr>
          <p:cNvPr id="33" name="Text 30"/>
          <p:cNvSpPr txBox="1"/>
          <p:nvPr/>
        </p:nvSpPr>
        <p:spPr>
          <a:xfrm>
            <a:off x="4572000" y="5317236"/>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ea typeface="Amiri" pitchFamily="2" charset="-78"/>
                <a:cs typeface="Amiri" pitchFamily="2" charset="-78"/>
              </a:rPr>
              <a:t>نَزَلْنَا مِنْ جَبَلٍ عَالٍ.</a:t>
            </a:r>
            <a:endParaRPr lang="ar-SA" sz="2600" dirty="0"/>
          </a:p>
        </p:txBody>
      </p:sp>
      <p:sp>
        <p:nvSpPr>
          <p:cNvPr id="34" name="Text 31"/>
          <p:cNvSpPr txBox="1"/>
          <p:nvPr/>
        </p:nvSpPr>
        <p:spPr>
          <a:xfrm>
            <a:off x="685800" y="5326380"/>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We came down from a high mountain.</a:t>
            </a:r>
            <a:endParaRPr lang="en-US" sz="1250" dirty="0"/>
          </a:p>
          <a:p>
            <a:pPr indent="0" marL="0">
              <a:buNone/>
            </a:pPr>
            <a:r>
              <a:rPr lang="en-US" sz="1050" i="1" dirty="0">
                <a:solidFill>
                  <a:srgbClr val="8A6D1E"/>
                </a:solidFill>
                <a:latin typeface="Calibri" pitchFamily="34" charset="0"/>
                <a:cs typeface="Amiri" pitchFamily="2" charset="-78"/>
              </a:rPr>
              <a:t>After a preposition: hidden.</a:t>
            </a:r>
            <a:endParaRPr lang="en-US" sz="1250" dirty="0"/>
          </a:p>
        </p:txBody>
      </p:sp>
      <p:sp>
        <p:nvSpPr>
          <p:cNvPr id="35" name="Text 3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14 / 34</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GM-ADJ-08 · Adjectives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SORT IT · IS THE YĀʾ WRITTEN?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Hidden or visible yāʾ?</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الْيَاءُ ظَاهِرَةٌ أَمْ مَحْذُوفَةٌ؟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Adjectives · GM-ADJ-08</a:t>
            </a:r>
            <a:endParaRPr lang="en-US" sz="850" dirty="0"/>
          </a:p>
        </p:txBody>
      </p:sp>
      <p:sp>
        <p:nvSpPr>
          <p:cNvPr id="15" name="Shape 12"/>
          <p:cNvSpPr/>
          <p:nvPr/>
        </p:nvSpPr>
        <p:spPr>
          <a:xfrm>
            <a:off x="9015984"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9107424"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ثَمَنٌ غَالٍ</a:t>
            </a:r>
            <a:endParaRPr lang="ar-SA" sz="1800" dirty="0"/>
          </a:p>
        </p:txBody>
      </p:sp>
      <p:sp>
        <p:nvSpPr>
          <p:cNvPr id="17" name="Shape 14"/>
          <p:cNvSpPr/>
          <p:nvPr/>
        </p:nvSpPr>
        <p:spPr>
          <a:xfrm>
            <a:off x="6163056"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254496"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الثَّمَنُ الْغَالِي</a:t>
            </a:r>
            <a:endParaRPr lang="ar-SA" sz="1800" dirty="0"/>
          </a:p>
        </p:txBody>
      </p:sp>
      <p:sp>
        <p:nvSpPr>
          <p:cNvPr id="19" name="Shape 16"/>
          <p:cNvSpPr/>
          <p:nvPr/>
        </p:nvSpPr>
        <p:spPr>
          <a:xfrm>
            <a:off x="3310128"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3401568"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صَوْتٌ عَالٍ</a:t>
            </a:r>
            <a:endParaRPr lang="ar-SA" sz="1800" dirty="0"/>
          </a:p>
        </p:txBody>
      </p:sp>
      <p:sp>
        <p:nvSpPr>
          <p:cNvPr id="21" name="Shape 18"/>
          <p:cNvSpPr/>
          <p:nvPr/>
        </p:nvSpPr>
        <p:spPr>
          <a:xfrm>
            <a:off x="457200"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548640"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صَوْتًا عَالِيًا</a:t>
            </a:r>
            <a:endParaRPr lang="ar-SA" sz="1800" dirty="0"/>
          </a:p>
        </p:txBody>
      </p:sp>
      <p:sp>
        <p:nvSpPr>
          <p:cNvPr id="23" name="Shape 20"/>
          <p:cNvSpPr/>
          <p:nvPr/>
        </p:nvSpPr>
        <p:spPr>
          <a:xfrm>
            <a:off x="9015984"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9107424"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فِي نَادٍ</a:t>
            </a:r>
            <a:endParaRPr lang="ar-SA" sz="1800" dirty="0"/>
          </a:p>
        </p:txBody>
      </p:sp>
      <p:sp>
        <p:nvSpPr>
          <p:cNvPr id="25" name="Shape 22"/>
          <p:cNvSpPr/>
          <p:nvPr/>
        </p:nvSpPr>
        <p:spPr>
          <a:xfrm>
            <a:off x="6163056"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254496"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فِي النَّادِي</a:t>
            </a:r>
            <a:endParaRPr lang="ar-SA" sz="1800" dirty="0"/>
          </a:p>
        </p:txBody>
      </p:sp>
      <p:sp>
        <p:nvSpPr>
          <p:cNvPr id="27" name="Shape 24"/>
          <p:cNvSpPr/>
          <p:nvPr/>
        </p:nvSpPr>
        <p:spPr>
          <a:xfrm>
            <a:off x="3310128"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3401568"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رَجُلٌ رَاضٍ</a:t>
            </a:r>
            <a:endParaRPr lang="ar-SA" sz="1800" dirty="0"/>
          </a:p>
        </p:txBody>
      </p:sp>
      <p:sp>
        <p:nvSpPr>
          <p:cNvPr id="29" name="Shape 26"/>
          <p:cNvSpPr/>
          <p:nvPr/>
        </p:nvSpPr>
        <p:spPr>
          <a:xfrm>
            <a:off x="457200"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548640"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امْرَأَةٌ رَاضِيَةٌ</a:t>
            </a:r>
            <a:endParaRPr lang="ar-SA" sz="1800" dirty="0"/>
          </a:p>
        </p:txBody>
      </p:sp>
      <p:sp>
        <p:nvSpPr>
          <p:cNvPr id="31" name="Shape 28"/>
          <p:cNvSpPr/>
          <p:nvPr/>
        </p:nvSpPr>
        <p:spPr>
          <a:xfrm>
            <a:off x="6185916" y="3017520"/>
            <a:ext cx="5545836" cy="3291840"/>
          </a:xfrm>
          <a:prstGeom prst="roundRect">
            <a:avLst>
              <a:gd name="adj" fmla="val 2222"/>
            </a:avLst>
          </a:prstGeom>
          <a:solidFill>
            <a:srgbClr val="EEF3FA"/>
          </a:solidFill>
          <a:ln w="9525">
            <a:solidFill>
              <a:srgbClr val="C9D6EA"/>
            </a:solidFill>
            <a:prstDash val="solid"/>
          </a:ln>
        </p:spPr>
      </p:sp>
      <p:sp>
        <p:nvSpPr>
          <p:cNvPr id="32" name="Shape 29"/>
          <p:cNvSpPr/>
          <p:nvPr/>
        </p:nvSpPr>
        <p:spPr>
          <a:xfrm>
            <a:off x="6323076" y="3127248"/>
            <a:ext cx="5271516" cy="310896"/>
          </a:xfrm>
          <a:prstGeom prst="roundRect">
            <a:avLst>
              <a:gd name="adj" fmla="val 50000"/>
            </a:avLst>
          </a:prstGeom>
          <a:solidFill>
            <a:srgbClr val="2F6FB0"/>
          </a:solidFill>
          <a:ln w="12700">
            <a:solidFill>
              <a:srgbClr val="2F6FB0"/>
            </a:solidFill>
            <a:prstDash val="solid"/>
          </a:ln>
        </p:spPr>
      </p:sp>
      <p:sp>
        <p:nvSpPr>
          <p:cNvPr id="33" name="Text 30"/>
          <p:cNvSpPr txBox="1"/>
          <p:nvPr/>
        </p:nvSpPr>
        <p:spPr>
          <a:xfrm>
            <a:off x="6323076" y="3127248"/>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1 · yāʾ hidden (-in)</a:t>
            </a:r>
            <a:endParaRPr lang="en-US" sz="950" dirty="0"/>
          </a:p>
        </p:txBody>
      </p:sp>
      <p:sp>
        <p:nvSpPr>
          <p:cNvPr id="34" name="Shape 31"/>
          <p:cNvSpPr/>
          <p:nvPr/>
        </p:nvSpPr>
        <p:spPr>
          <a:xfrm>
            <a:off x="457200" y="3017520"/>
            <a:ext cx="5545836" cy="3291840"/>
          </a:xfrm>
          <a:prstGeom prst="roundRect">
            <a:avLst>
              <a:gd name="adj" fmla="val 2222"/>
            </a:avLst>
          </a:prstGeom>
          <a:solidFill>
            <a:srgbClr val="EEF3FA"/>
          </a:solidFill>
          <a:ln w="9525">
            <a:solidFill>
              <a:srgbClr val="C9D6EA"/>
            </a:solidFill>
            <a:prstDash val="solid"/>
          </a:ln>
        </p:spPr>
      </p:sp>
      <p:sp>
        <p:nvSpPr>
          <p:cNvPr id="35" name="Shape 32"/>
          <p:cNvSpPr/>
          <p:nvPr/>
        </p:nvSpPr>
        <p:spPr>
          <a:xfrm>
            <a:off x="594360" y="3127248"/>
            <a:ext cx="5271516" cy="310896"/>
          </a:xfrm>
          <a:prstGeom prst="roundRect">
            <a:avLst>
              <a:gd name="adj" fmla="val 50000"/>
            </a:avLst>
          </a:prstGeom>
          <a:solidFill>
            <a:srgbClr val="2F6FB0"/>
          </a:solidFill>
          <a:ln w="12700">
            <a:solidFill>
              <a:srgbClr val="2F6FB0"/>
            </a:solidFill>
            <a:prstDash val="solid"/>
          </a:ln>
        </p:spPr>
      </p:sp>
      <p:sp>
        <p:nvSpPr>
          <p:cNvPr id="36" name="Text 33"/>
          <p:cNvSpPr txBox="1"/>
          <p:nvPr/>
        </p:nvSpPr>
        <p:spPr>
          <a:xfrm>
            <a:off x="594360" y="3127248"/>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2 · yāʾ visible</a:t>
            </a:r>
            <a:endParaRPr lang="en-US" sz="950" dirty="0"/>
          </a:p>
        </p:txBody>
      </p:sp>
      <p:sp>
        <p:nvSpPr>
          <p:cNvPr id="37" name="Text 3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15 / 34</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GM-ADJ-08 · Adjectives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SORTER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Sorted</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Adjectives · GM-ADJ-08</a:t>
            </a:r>
            <a:endParaRPr lang="en-US" sz="850" dirty="0"/>
          </a:p>
        </p:txBody>
      </p:sp>
      <p:sp>
        <p:nvSpPr>
          <p:cNvPr id="15" name="Shape 12"/>
          <p:cNvSpPr/>
          <p:nvPr/>
        </p:nvSpPr>
        <p:spPr>
          <a:xfrm>
            <a:off x="6185916" y="1810512"/>
            <a:ext cx="5545836" cy="4498848"/>
          </a:xfrm>
          <a:prstGeom prst="roundRect">
            <a:avLst>
              <a:gd name="adj" fmla="val 1626"/>
            </a:avLst>
          </a:prstGeom>
          <a:solidFill>
            <a:srgbClr val="EEF3FA"/>
          </a:solidFill>
          <a:ln w="9525">
            <a:solidFill>
              <a:srgbClr val="C9D6EA"/>
            </a:solidFill>
            <a:prstDash val="solid"/>
          </a:ln>
        </p:spPr>
      </p:sp>
      <p:sp>
        <p:nvSpPr>
          <p:cNvPr id="16" name="Shape 13"/>
          <p:cNvSpPr/>
          <p:nvPr/>
        </p:nvSpPr>
        <p:spPr>
          <a:xfrm>
            <a:off x="6323076" y="1920240"/>
            <a:ext cx="5271516" cy="310896"/>
          </a:xfrm>
          <a:prstGeom prst="roundRect">
            <a:avLst>
              <a:gd name="adj" fmla="val 50000"/>
            </a:avLst>
          </a:prstGeom>
          <a:solidFill>
            <a:srgbClr val="2F6FB0"/>
          </a:solidFill>
          <a:ln w="12700">
            <a:solidFill>
              <a:srgbClr val="2F6FB0"/>
            </a:solidFill>
            <a:prstDash val="solid"/>
          </a:ln>
        </p:spPr>
      </p:sp>
      <p:sp>
        <p:nvSpPr>
          <p:cNvPr id="17" name="Text 14"/>
          <p:cNvSpPr txBox="1"/>
          <p:nvPr/>
        </p:nvSpPr>
        <p:spPr>
          <a:xfrm>
            <a:off x="6323076" y="1920240"/>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1 · yāʾ hidden (-in)</a:t>
            </a:r>
            <a:endParaRPr lang="en-US" sz="950" dirty="0"/>
          </a:p>
        </p:txBody>
      </p:sp>
      <p:sp>
        <p:nvSpPr>
          <p:cNvPr id="18" name="Shape 15"/>
          <p:cNvSpPr/>
          <p:nvPr/>
        </p:nvSpPr>
        <p:spPr>
          <a:xfrm>
            <a:off x="6323076" y="2377440"/>
            <a:ext cx="5271516" cy="438912"/>
          </a:xfrm>
          <a:prstGeom prst="roundRect">
            <a:avLst>
              <a:gd name="adj" fmla="val 12500"/>
            </a:avLst>
          </a:prstGeom>
          <a:solidFill>
            <a:srgbClr val="FFF4DC"/>
          </a:solidFill>
          <a:ln w="9525">
            <a:solidFill>
              <a:srgbClr val="E6C98A"/>
            </a:solidFill>
            <a:prstDash val="solid"/>
          </a:ln>
        </p:spPr>
      </p:sp>
      <p:sp>
        <p:nvSpPr>
          <p:cNvPr id="19" name="Text 16"/>
          <p:cNvSpPr txBox="1"/>
          <p:nvPr/>
        </p:nvSpPr>
        <p:spPr>
          <a:xfrm>
            <a:off x="6414516" y="2377440"/>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ثَمَنٌ غَالٍ</a:t>
            </a:r>
            <a:endParaRPr lang="ar-SA" sz="1800" dirty="0"/>
          </a:p>
        </p:txBody>
      </p:sp>
      <p:sp>
        <p:nvSpPr>
          <p:cNvPr id="20" name="Shape 17"/>
          <p:cNvSpPr/>
          <p:nvPr/>
        </p:nvSpPr>
        <p:spPr>
          <a:xfrm>
            <a:off x="6323076" y="2889504"/>
            <a:ext cx="5271516" cy="438912"/>
          </a:xfrm>
          <a:prstGeom prst="roundRect">
            <a:avLst>
              <a:gd name="adj" fmla="val 12500"/>
            </a:avLst>
          </a:prstGeom>
          <a:solidFill>
            <a:srgbClr val="FFF4DC"/>
          </a:solidFill>
          <a:ln w="9525">
            <a:solidFill>
              <a:srgbClr val="E6C98A"/>
            </a:solidFill>
            <a:prstDash val="solid"/>
          </a:ln>
        </p:spPr>
      </p:sp>
      <p:sp>
        <p:nvSpPr>
          <p:cNvPr id="21" name="Text 18"/>
          <p:cNvSpPr txBox="1"/>
          <p:nvPr/>
        </p:nvSpPr>
        <p:spPr>
          <a:xfrm>
            <a:off x="6414516" y="2889504"/>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صَوْتٌ عَالٍ</a:t>
            </a:r>
            <a:endParaRPr lang="ar-SA" sz="1800" dirty="0"/>
          </a:p>
        </p:txBody>
      </p:sp>
      <p:sp>
        <p:nvSpPr>
          <p:cNvPr id="22" name="Shape 19"/>
          <p:cNvSpPr/>
          <p:nvPr/>
        </p:nvSpPr>
        <p:spPr>
          <a:xfrm>
            <a:off x="6323076" y="3401568"/>
            <a:ext cx="5271516" cy="438912"/>
          </a:xfrm>
          <a:prstGeom prst="roundRect">
            <a:avLst>
              <a:gd name="adj" fmla="val 12500"/>
            </a:avLst>
          </a:prstGeom>
          <a:solidFill>
            <a:srgbClr val="FFF4DC"/>
          </a:solidFill>
          <a:ln w="9525">
            <a:solidFill>
              <a:srgbClr val="E6C98A"/>
            </a:solidFill>
            <a:prstDash val="solid"/>
          </a:ln>
        </p:spPr>
      </p:sp>
      <p:sp>
        <p:nvSpPr>
          <p:cNvPr id="23" name="Text 20"/>
          <p:cNvSpPr txBox="1"/>
          <p:nvPr/>
        </p:nvSpPr>
        <p:spPr>
          <a:xfrm>
            <a:off x="6414516" y="3401568"/>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فِي نَادٍ</a:t>
            </a:r>
            <a:endParaRPr lang="ar-SA" sz="1800" dirty="0"/>
          </a:p>
        </p:txBody>
      </p:sp>
      <p:sp>
        <p:nvSpPr>
          <p:cNvPr id="24" name="Shape 21"/>
          <p:cNvSpPr/>
          <p:nvPr/>
        </p:nvSpPr>
        <p:spPr>
          <a:xfrm>
            <a:off x="6323076" y="3913632"/>
            <a:ext cx="5271516" cy="438912"/>
          </a:xfrm>
          <a:prstGeom prst="roundRect">
            <a:avLst>
              <a:gd name="adj" fmla="val 12500"/>
            </a:avLst>
          </a:prstGeom>
          <a:solidFill>
            <a:srgbClr val="FFF4DC"/>
          </a:solidFill>
          <a:ln w="9525">
            <a:solidFill>
              <a:srgbClr val="E6C98A"/>
            </a:solidFill>
            <a:prstDash val="solid"/>
          </a:ln>
        </p:spPr>
      </p:sp>
      <p:sp>
        <p:nvSpPr>
          <p:cNvPr id="25" name="Text 22"/>
          <p:cNvSpPr txBox="1"/>
          <p:nvPr/>
        </p:nvSpPr>
        <p:spPr>
          <a:xfrm>
            <a:off x="6414516" y="3913632"/>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رَجُلٌ رَاضٍ</a:t>
            </a:r>
            <a:endParaRPr lang="ar-SA" sz="1800" dirty="0"/>
          </a:p>
        </p:txBody>
      </p:sp>
      <p:sp>
        <p:nvSpPr>
          <p:cNvPr id="26" name="Shape 23"/>
          <p:cNvSpPr/>
          <p:nvPr/>
        </p:nvSpPr>
        <p:spPr>
          <a:xfrm>
            <a:off x="457200" y="1810512"/>
            <a:ext cx="5545836" cy="4498848"/>
          </a:xfrm>
          <a:prstGeom prst="roundRect">
            <a:avLst>
              <a:gd name="adj" fmla="val 1626"/>
            </a:avLst>
          </a:prstGeom>
          <a:solidFill>
            <a:srgbClr val="EEF3FA"/>
          </a:solidFill>
          <a:ln w="9525">
            <a:solidFill>
              <a:srgbClr val="C9D6EA"/>
            </a:solidFill>
            <a:prstDash val="solid"/>
          </a:ln>
        </p:spPr>
      </p:sp>
      <p:sp>
        <p:nvSpPr>
          <p:cNvPr id="27" name="Shape 24"/>
          <p:cNvSpPr/>
          <p:nvPr/>
        </p:nvSpPr>
        <p:spPr>
          <a:xfrm>
            <a:off x="594360" y="1920240"/>
            <a:ext cx="5271516" cy="310896"/>
          </a:xfrm>
          <a:prstGeom prst="roundRect">
            <a:avLst>
              <a:gd name="adj" fmla="val 50000"/>
            </a:avLst>
          </a:prstGeom>
          <a:solidFill>
            <a:srgbClr val="2F6FB0"/>
          </a:solidFill>
          <a:ln w="12700">
            <a:solidFill>
              <a:srgbClr val="2F6FB0"/>
            </a:solidFill>
            <a:prstDash val="solid"/>
          </a:ln>
        </p:spPr>
      </p:sp>
      <p:sp>
        <p:nvSpPr>
          <p:cNvPr id="28" name="Text 25"/>
          <p:cNvSpPr txBox="1"/>
          <p:nvPr/>
        </p:nvSpPr>
        <p:spPr>
          <a:xfrm>
            <a:off x="594360" y="1920240"/>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2 · yāʾ visible</a:t>
            </a:r>
            <a:endParaRPr lang="en-US" sz="950" dirty="0"/>
          </a:p>
        </p:txBody>
      </p:sp>
      <p:sp>
        <p:nvSpPr>
          <p:cNvPr id="29" name="Shape 26"/>
          <p:cNvSpPr/>
          <p:nvPr/>
        </p:nvSpPr>
        <p:spPr>
          <a:xfrm>
            <a:off x="594360" y="2377440"/>
            <a:ext cx="5271516" cy="438912"/>
          </a:xfrm>
          <a:prstGeom prst="roundRect">
            <a:avLst>
              <a:gd name="adj" fmla="val 12500"/>
            </a:avLst>
          </a:prstGeom>
          <a:solidFill>
            <a:srgbClr val="FFF4DC"/>
          </a:solidFill>
          <a:ln w="9525">
            <a:solidFill>
              <a:srgbClr val="E6C98A"/>
            </a:solidFill>
            <a:prstDash val="solid"/>
          </a:ln>
        </p:spPr>
      </p:sp>
      <p:sp>
        <p:nvSpPr>
          <p:cNvPr id="30" name="Text 27"/>
          <p:cNvSpPr txBox="1"/>
          <p:nvPr/>
        </p:nvSpPr>
        <p:spPr>
          <a:xfrm>
            <a:off x="685800" y="2377440"/>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الثَّمَنُ الْغَالِي</a:t>
            </a:r>
            <a:endParaRPr lang="ar-SA" sz="1800" dirty="0"/>
          </a:p>
        </p:txBody>
      </p:sp>
      <p:sp>
        <p:nvSpPr>
          <p:cNvPr id="31" name="Shape 28"/>
          <p:cNvSpPr/>
          <p:nvPr/>
        </p:nvSpPr>
        <p:spPr>
          <a:xfrm>
            <a:off x="594360" y="2889504"/>
            <a:ext cx="5271516" cy="438912"/>
          </a:xfrm>
          <a:prstGeom prst="roundRect">
            <a:avLst>
              <a:gd name="adj" fmla="val 12500"/>
            </a:avLst>
          </a:prstGeom>
          <a:solidFill>
            <a:srgbClr val="FFF4DC"/>
          </a:solidFill>
          <a:ln w="9525">
            <a:solidFill>
              <a:srgbClr val="E6C98A"/>
            </a:solidFill>
            <a:prstDash val="solid"/>
          </a:ln>
        </p:spPr>
      </p:sp>
      <p:sp>
        <p:nvSpPr>
          <p:cNvPr id="32" name="Text 29"/>
          <p:cNvSpPr txBox="1"/>
          <p:nvPr/>
        </p:nvSpPr>
        <p:spPr>
          <a:xfrm>
            <a:off x="685800" y="2889504"/>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صَوْتًا عَالِيًا</a:t>
            </a:r>
            <a:endParaRPr lang="ar-SA" sz="1800" dirty="0"/>
          </a:p>
        </p:txBody>
      </p:sp>
      <p:sp>
        <p:nvSpPr>
          <p:cNvPr id="33" name="Shape 30"/>
          <p:cNvSpPr/>
          <p:nvPr/>
        </p:nvSpPr>
        <p:spPr>
          <a:xfrm>
            <a:off x="594360" y="3401568"/>
            <a:ext cx="5271516" cy="438912"/>
          </a:xfrm>
          <a:prstGeom prst="roundRect">
            <a:avLst>
              <a:gd name="adj" fmla="val 12500"/>
            </a:avLst>
          </a:prstGeom>
          <a:solidFill>
            <a:srgbClr val="FFF4DC"/>
          </a:solidFill>
          <a:ln w="9525">
            <a:solidFill>
              <a:srgbClr val="E6C98A"/>
            </a:solidFill>
            <a:prstDash val="solid"/>
          </a:ln>
        </p:spPr>
      </p:sp>
      <p:sp>
        <p:nvSpPr>
          <p:cNvPr id="34" name="Text 31"/>
          <p:cNvSpPr txBox="1"/>
          <p:nvPr/>
        </p:nvSpPr>
        <p:spPr>
          <a:xfrm>
            <a:off x="685800" y="3401568"/>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فِي النَّادِي</a:t>
            </a:r>
            <a:endParaRPr lang="ar-SA" sz="1800" dirty="0"/>
          </a:p>
        </p:txBody>
      </p:sp>
      <p:sp>
        <p:nvSpPr>
          <p:cNvPr id="35" name="Shape 32"/>
          <p:cNvSpPr/>
          <p:nvPr/>
        </p:nvSpPr>
        <p:spPr>
          <a:xfrm>
            <a:off x="594360" y="3913632"/>
            <a:ext cx="5271516" cy="438912"/>
          </a:xfrm>
          <a:prstGeom prst="roundRect">
            <a:avLst>
              <a:gd name="adj" fmla="val 12500"/>
            </a:avLst>
          </a:prstGeom>
          <a:solidFill>
            <a:srgbClr val="FFF4DC"/>
          </a:solidFill>
          <a:ln w="9525">
            <a:solidFill>
              <a:srgbClr val="E6C98A"/>
            </a:solidFill>
            <a:prstDash val="solid"/>
          </a:ln>
        </p:spPr>
      </p:sp>
      <p:sp>
        <p:nvSpPr>
          <p:cNvPr id="36" name="Text 33"/>
          <p:cNvSpPr txBox="1"/>
          <p:nvPr/>
        </p:nvSpPr>
        <p:spPr>
          <a:xfrm>
            <a:off x="685800" y="3913632"/>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امْرَأَةٌ رَاضِيَةٌ</a:t>
            </a:r>
            <a:endParaRPr lang="ar-SA" sz="1800" dirty="0"/>
          </a:p>
        </p:txBody>
      </p:sp>
      <p:sp>
        <p:nvSpPr>
          <p:cNvPr id="37" name="Text 3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16 / 34</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GM-ADJ-08 · Adjectives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ONE WORD, FOUR SHAPES · SAY IT ALOUD</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Complete the family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أَكْمِلِ الْأَشْكَالَ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Adjectives · GM-ADJ-08</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9034272" y="1810512"/>
            <a:ext cx="262432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feminine</a:t>
            </a:r>
            <a:endParaRPr lang="en-US" sz="1100" dirty="0"/>
          </a:p>
        </p:txBody>
      </p:sp>
      <p:sp>
        <p:nvSpPr>
          <p:cNvPr id="17" name="Text 14"/>
          <p:cNvSpPr txBox="1"/>
          <p:nvPr/>
        </p:nvSpPr>
        <p:spPr>
          <a:xfrm>
            <a:off x="6199632" y="1810512"/>
            <a:ext cx="26883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 … (object)</a:t>
            </a:r>
            <a:endParaRPr lang="en-US" sz="1100" dirty="0"/>
          </a:p>
        </p:txBody>
      </p:sp>
      <p:sp>
        <p:nvSpPr>
          <p:cNvPr id="18" name="Text 15"/>
          <p:cNvSpPr txBox="1"/>
          <p:nvPr/>
        </p:nvSpPr>
        <p:spPr>
          <a:xfrm>
            <a:off x="3364992" y="1810512"/>
            <a:ext cx="26883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the …</a:t>
            </a:r>
            <a:endParaRPr lang="en-US" sz="1100" dirty="0"/>
          </a:p>
        </p:txBody>
      </p:sp>
      <p:sp>
        <p:nvSpPr>
          <p:cNvPr id="19" name="Text 16"/>
          <p:cNvSpPr txBox="1"/>
          <p:nvPr/>
        </p:nvSpPr>
        <p:spPr>
          <a:xfrm>
            <a:off x="530352" y="1810512"/>
            <a:ext cx="26883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 … (subject)</a:t>
            </a:r>
            <a:endParaRPr lang="en-US" sz="1100" dirty="0"/>
          </a:p>
        </p:txBody>
      </p:sp>
      <p:sp>
        <p:nvSpPr>
          <p:cNvPr id="20" name="Shape 17"/>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1" name="Text 18"/>
          <p:cNvSpPr txBox="1"/>
          <p:nvPr/>
        </p:nvSpPr>
        <p:spPr>
          <a:xfrm>
            <a:off x="9052560" y="2267712"/>
            <a:ext cx="2587752"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غَالِيَةٌ</a:t>
            </a:r>
            <a:endParaRPr lang="ar-SA" sz="2400" dirty="0"/>
          </a:p>
        </p:txBody>
      </p:sp>
      <p:sp>
        <p:nvSpPr>
          <p:cNvPr id="22" name="Text 19"/>
          <p:cNvSpPr txBox="1"/>
          <p:nvPr/>
        </p:nvSpPr>
        <p:spPr>
          <a:xfrm>
            <a:off x="6217920" y="2267712"/>
            <a:ext cx="265176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غَالِيًا</a:t>
            </a:r>
            <a:endParaRPr lang="ar-SA" sz="2400" dirty="0"/>
          </a:p>
        </p:txBody>
      </p:sp>
      <p:sp>
        <p:nvSpPr>
          <p:cNvPr id="23" name="Text 20"/>
          <p:cNvSpPr txBox="1"/>
          <p:nvPr/>
        </p:nvSpPr>
        <p:spPr>
          <a:xfrm>
            <a:off x="3383280" y="2267712"/>
            <a:ext cx="265176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الْغَالِي</a:t>
            </a:r>
            <a:endParaRPr lang="ar-SA" sz="2400" dirty="0"/>
          </a:p>
        </p:txBody>
      </p:sp>
      <p:sp>
        <p:nvSpPr>
          <p:cNvPr id="24" name="Text 21"/>
          <p:cNvSpPr txBox="1"/>
          <p:nvPr/>
        </p:nvSpPr>
        <p:spPr>
          <a:xfrm>
            <a:off x="548640" y="2267712"/>
            <a:ext cx="265176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غَالٍ</a:t>
            </a:r>
            <a:endParaRPr lang="ar-SA" sz="2400" dirty="0"/>
          </a:p>
        </p:txBody>
      </p:sp>
      <p:sp>
        <p:nvSpPr>
          <p:cNvPr id="25" name="Shape 22"/>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7" name="Shape 24"/>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8" name="Text 25"/>
          <p:cNvSpPr txBox="1"/>
          <p:nvPr/>
        </p:nvSpPr>
        <p:spPr>
          <a:xfrm>
            <a:off x="9052560" y="3004718"/>
            <a:ext cx="2587752"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رَاضِيَةٌ</a:t>
            </a:r>
            <a:endParaRPr lang="ar-SA" sz="2400" dirty="0"/>
          </a:p>
        </p:txBody>
      </p:sp>
      <p:sp>
        <p:nvSpPr>
          <p:cNvPr id="29" name="Text 26"/>
          <p:cNvSpPr txBox="1"/>
          <p:nvPr/>
        </p:nvSpPr>
        <p:spPr>
          <a:xfrm>
            <a:off x="6217920" y="3004718"/>
            <a:ext cx="265176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رَاضِيًا</a:t>
            </a:r>
            <a:endParaRPr lang="ar-SA" sz="2400" dirty="0"/>
          </a:p>
        </p:txBody>
      </p:sp>
      <p:sp>
        <p:nvSpPr>
          <p:cNvPr id="30" name="Text 27"/>
          <p:cNvSpPr txBox="1"/>
          <p:nvPr/>
        </p:nvSpPr>
        <p:spPr>
          <a:xfrm>
            <a:off x="3383280" y="3004718"/>
            <a:ext cx="265176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الرَّاضِي</a:t>
            </a:r>
            <a:endParaRPr lang="ar-SA" sz="2400" dirty="0"/>
          </a:p>
        </p:txBody>
      </p:sp>
      <p:sp>
        <p:nvSpPr>
          <p:cNvPr id="31" name="Text 28"/>
          <p:cNvSpPr txBox="1"/>
          <p:nvPr/>
        </p:nvSpPr>
        <p:spPr>
          <a:xfrm>
            <a:off x="548640" y="3004718"/>
            <a:ext cx="265176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رَاضٍ</a:t>
            </a:r>
            <a:endParaRPr lang="ar-SA" sz="2400" dirty="0"/>
          </a:p>
        </p:txBody>
      </p:sp>
      <p:sp>
        <p:nvSpPr>
          <p:cNvPr id="32" name="Shape 29"/>
          <p:cNvSpPr/>
          <p:nvPr/>
        </p:nvSpPr>
        <p:spPr>
          <a:xfrm>
            <a:off x="11091672" y="3050438"/>
            <a:ext cx="548640" cy="182880"/>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11091672" y="305043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4" name="Shape 31"/>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35" name="Text 32"/>
          <p:cNvSpPr txBox="1"/>
          <p:nvPr/>
        </p:nvSpPr>
        <p:spPr>
          <a:xfrm>
            <a:off x="9052560" y="3741725"/>
            <a:ext cx="2587752"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عَالِيَةٌ</a:t>
            </a:r>
            <a:endParaRPr lang="ar-SA" sz="2400" dirty="0"/>
          </a:p>
        </p:txBody>
      </p:sp>
      <p:sp>
        <p:nvSpPr>
          <p:cNvPr id="36" name="Text 33"/>
          <p:cNvSpPr txBox="1"/>
          <p:nvPr/>
        </p:nvSpPr>
        <p:spPr>
          <a:xfrm>
            <a:off x="6217920" y="3741725"/>
            <a:ext cx="265176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عَالِيًا</a:t>
            </a:r>
            <a:endParaRPr lang="ar-SA" sz="2400" dirty="0"/>
          </a:p>
        </p:txBody>
      </p:sp>
      <p:sp>
        <p:nvSpPr>
          <p:cNvPr id="37" name="Text 34"/>
          <p:cNvSpPr txBox="1"/>
          <p:nvPr/>
        </p:nvSpPr>
        <p:spPr>
          <a:xfrm>
            <a:off x="3383280" y="3741725"/>
            <a:ext cx="265176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الْعَالِي</a:t>
            </a:r>
            <a:endParaRPr lang="ar-SA" sz="2400" dirty="0"/>
          </a:p>
        </p:txBody>
      </p:sp>
      <p:sp>
        <p:nvSpPr>
          <p:cNvPr id="38" name="Text 35"/>
          <p:cNvSpPr txBox="1"/>
          <p:nvPr/>
        </p:nvSpPr>
        <p:spPr>
          <a:xfrm>
            <a:off x="548640" y="3741725"/>
            <a:ext cx="265176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عَالٍ</a:t>
            </a:r>
            <a:endParaRPr lang="ar-SA" sz="2400" dirty="0"/>
          </a:p>
        </p:txBody>
      </p:sp>
      <p:sp>
        <p:nvSpPr>
          <p:cNvPr id="39" name="Shape 36"/>
          <p:cNvSpPr/>
          <p:nvPr/>
        </p:nvSpPr>
        <p:spPr>
          <a:xfrm>
            <a:off x="11091672" y="3787445"/>
            <a:ext cx="548640" cy="182880"/>
          </a:xfrm>
          <a:prstGeom prst="roundRect">
            <a:avLst>
              <a:gd name="adj" fmla="val 50000"/>
            </a:avLst>
          </a:prstGeom>
          <a:solidFill>
            <a:srgbClr val="2E8B57"/>
          </a:solidFill>
          <a:ln w="12700">
            <a:solidFill>
              <a:srgbClr val="2E8B57"/>
            </a:solidFill>
            <a:prstDash val="solid"/>
          </a:ln>
        </p:spPr>
      </p:sp>
      <p:sp>
        <p:nvSpPr>
          <p:cNvPr id="40" name="Text 37"/>
          <p:cNvSpPr txBox="1"/>
          <p:nvPr/>
        </p:nvSpPr>
        <p:spPr>
          <a:xfrm>
            <a:off x="11091672" y="3787445"/>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1" name="Shape 38"/>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42" name="Text 39"/>
          <p:cNvSpPr txBox="1"/>
          <p:nvPr/>
        </p:nvSpPr>
        <p:spPr>
          <a:xfrm>
            <a:off x="9052560" y="4478731"/>
            <a:ext cx="2587752"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مَاضِيَةٌ</a:t>
            </a:r>
            <a:endParaRPr lang="ar-SA" sz="2400" dirty="0"/>
          </a:p>
        </p:txBody>
      </p:sp>
      <p:sp>
        <p:nvSpPr>
          <p:cNvPr id="43" name="Text 40"/>
          <p:cNvSpPr txBox="1"/>
          <p:nvPr/>
        </p:nvSpPr>
        <p:spPr>
          <a:xfrm>
            <a:off x="6217920" y="4478731"/>
            <a:ext cx="265176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مَاضِيًا</a:t>
            </a:r>
            <a:endParaRPr lang="ar-SA" sz="2400" dirty="0"/>
          </a:p>
        </p:txBody>
      </p:sp>
      <p:sp>
        <p:nvSpPr>
          <p:cNvPr id="44" name="Text 41"/>
          <p:cNvSpPr txBox="1"/>
          <p:nvPr/>
        </p:nvSpPr>
        <p:spPr>
          <a:xfrm>
            <a:off x="3383280" y="4478731"/>
            <a:ext cx="265176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الْمَاضِي</a:t>
            </a:r>
            <a:endParaRPr lang="ar-SA" sz="2400" dirty="0"/>
          </a:p>
        </p:txBody>
      </p:sp>
      <p:sp>
        <p:nvSpPr>
          <p:cNvPr id="45" name="Text 42"/>
          <p:cNvSpPr txBox="1"/>
          <p:nvPr/>
        </p:nvSpPr>
        <p:spPr>
          <a:xfrm>
            <a:off x="548640" y="4478731"/>
            <a:ext cx="265176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مَاضٍ</a:t>
            </a:r>
            <a:endParaRPr lang="ar-SA" sz="2400" dirty="0"/>
          </a:p>
        </p:txBody>
      </p:sp>
      <p:sp>
        <p:nvSpPr>
          <p:cNvPr id="46" name="Shape 43"/>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47" name="Text 44"/>
          <p:cNvSpPr txBox="1"/>
          <p:nvPr/>
        </p:nvSpPr>
        <p:spPr>
          <a:xfrm>
            <a:off x="9052560" y="5215738"/>
            <a:ext cx="2587752"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بَاقِيَةٌ</a:t>
            </a:r>
            <a:endParaRPr lang="ar-SA" sz="2400" dirty="0"/>
          </a:p>
        </p:txBody>
      </p:sp>
      <p:sp>
        <p:nvSpPr>
          <p:cNvPr id="48" name="Text 45"/>
          <p:cNvSpPr txBox="1"/>
          <p:nvPr/>
        </p:nvSpPr>
        <p:spPr>
          <a:xfrm>
            <a:off x="6217920" y="5215738"/>
            <a:ext cx="265176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بَاقِيًا</a:t>
            </a:r>
            <a:endParaRPr lang="ar-SA" sz="2400" dirty="0"/>
          </a:p>
        </p:txBody>
      </p:sp>
      <p:sp>
        <p:nvSpPr>
          <p:cNvPr id="49" name="Text 46"/>
          <p:cNvSpPr txBox="1"/>
          <p:nvPr/>
        </p:nvSpPr>
        <p:spPr>
          <a:xfrm>
            <a:off x="3383280" y="5215738"/>
            <a:ext cx="265176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الْبَاقِي</a:t>
            </a:r>
            <a:endParaRPr lang="ar-SA" sz="2400" dirty="0"/>
          </a:p>
        </p:txBody>
      </p:sp>
      <p:sp>
        <p:nvSpPr>
          <p:cNvPr id="50" name="Text 47"/>
          <p:cNvSpPr txBox="1"/>
          <p:nvPr/>
        </p:nvSpPr>
        <p:spPr>
          <a:xfrm>
            <a:off x="548640" y="5215738"/>
            <a:ext cx="265176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بَاقٍ</a:t>
            </a:r>
            <a:endParaRPr lang="ar-SA" sz="2400" dirty="0"/>
          </a:p>
        </p:txBody>
      </p:sp>
      <p:sp>
        <p:nvSpPr>
          <p:cNvPr id="51" name="Text 48"/>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Cover all but the first column. Students build the other three, saying each aloud.</a:t>
            </a:r>
            <a:endParaRPr lang="en-US" sz="1150" dirty="0"/>
          </a:p>
        </p:txBody>
      </p:sp>
      <p:sp>
        <p:nvSpPr>
          <p:cNvPr id="52" name="Text 4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17 / 34</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GM-ADJ-08 · Adjectives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SPOT AND FIX</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Repair the mistake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صَحِّحِ الخَطَأَ</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Adjectives · GM-ADJ-08</a:t>
            </a:r>
            <a:endParaRPr lang="en-US" sz="850" dirty="0"/>
          </a:p>
        </p:txBody>
      </p:sp>
      <p:sp>
        <p:nvSpPr>
          <p:cNvPr id="15" name="Shape 12"/>
          <p:cNvSpPr/>
          <p:nvPr/>
        </p:nvSpPr>
        <p:spPr>
          <a:xfrm>
            <a:off x="457200" y="18105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183112" y="2249424"/>
            <a:ext cx="402336" cy="402336"/>
          </a:xfrm>
          <a:prstGeom prst="ellipse">
            <a:avLst/>
          </a:prstGeom>
          <a:solidFill>
            <a:srgbClr val="B83227"/>
          </a:solidFill>
          <a:ln w="12700">
            <a:solidFill>
              <a:srgbClr val="B83227"/>
            </a:solidFill>
            <a:prstDash val="solid"/>
          </a:ln>
        </p:spPr>
      </p:sp>
      <p:sp>
        <p:nvSpPr>
          <p:cNvPr id="17" name="Text 14"/>
          <p:cNvSpPr txBox="1"/>
          <p:nvPr/>
        </p:nvSpPr>
        <p:spPr>
          <a:xfrm>
            <a:off x="11183112" y="224942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1</a:t>
            </a:r>
            <a:endParaRPr lang="en-US" sz="1300" dirty="0"/>
          </a:p>
        </p:txBody>
      </p:sp>
      <p:sp>
        <p:nvSpPr>
          <p:cNvPr id="18" name="Text 15"/>
          <p:cNvSpPr txBox="1"/>
          <p:nvPr/>
        </p:nvSpPr>
        <p:spPr>
          <a:xfrm>
            <a:off x="4023360" y="1901952"/>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ea typeface="Amiri" pitchFamily="2" charset="-78"/>
                <a:cs typeface="Amiri" pitchFamily="2" charset="-78"/>
              </a:rPr>
              <a:t>هَذَا قَمِيصٌ غَالِيٌ.</a:t>
            </a:r>
            <a:endParaRPr lang="ar-SA" sz="3000" dirty="0"/>
          </a:p>
        </p:txBody>
      </p:sp>
      <p:sp>
        <p:nvSpPr>
          <p:cNvPr id="19" name="Text 16"/>
          <p:cNvSpPr txBox="1"/>
          <p:nvPr/>
        </p:nvSpPr>
        <p:spPr>
          <a:xfrm>
            <a:off x="731520" y="1901952"/>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-un or -in?</a:t>
            </a:r>
            <a:endParaRPr lang="en-US" sz="1300" dirty="0"/>
          </a:p>
        </p:txBody>
      </p:sp>
      <p:sp>
        <p:nvSpPr>
          <p:cNvPr id="20" name="Shape 17"/>
          <p:cNvSpPr/>
          <p:nvPr/>
        </p:nvSpPr>
        <p:spPr>
          <a:xfrm>
            <a:off x="457200" y="3255264"/>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183112" y="3694176"/>
            <a:ext cx="402336" cy="402336"/>
          </a:xfrm>
          <a:prstGeom prst="ellipse">
            <a:avLst/>
          </a:prstGeom>
          <a:solidFill>
            <a:srgbClr val="B83227"/>
          </a:solidFill>
          <a:ln w="12700">
            <a:solidFill>
              <a:srgbClr val="B83227"/>
            </a:solidFill>
            <a:prstDash val="solid"/>
          </a:ln>
        </p:spPr>
      </p:sp>
      <p:sp>
        <p:nvSpPr>
          <p:cNvPr id="22" name="Text 19"/>
          <p:cNvSpPr txBox="1"/>
          <p:nvPr/>
        </p:nvSpPr>
        <p:spPr>
          <a:xfrm>
            <a:off x="11183112" y="369417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2</a:t>
            </a:r>
            <a:endParaRPr lang="en-US" sz="1300" dirty="0"/>
          </a:p>
        </p:txBody>
      </p:sp>
      <p:sp>
        <p:nvSpPr>
          <p:cNvPr id="23" name="Text 20"/>
          <p:cNvSpPr txBox="1"/>
          <p:nvPr/>
        </p:nvSpPr>
        <p:spPr>
          <a:xfrm>
            <a:off x="4023360" y="3346704"/>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ea typeface="Amiri" pitchFamily="2" charset="-78"/>
                <a:cs typeface="Amiri" pitchFamily="2" charset="-78"/>
              </a:rPr>
              <a:t>الْجَبَلُ الْعَالِ</a:t>
            </a:r>
            <a:endParaRPr lang="ar-SA" sz="3000" dirty="0"/>
          </a:p>
        </p:txBody>
      </p:sp>
      <p:sp>
        <p:nvSpPr>
          <p:cNvPr id="24" name="Text 21"/>
          <p:cNvSpPr txBox="1"/>
          <p:nvPr/>
        </p:nvSpPr>
        <p:spPr>
          <a:xfrm>
            <a:off x="731520" y="3346704"/>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Is there al-?</a:t>
            </a:r>
            <a:endParaRPr lang="en-US" sz="1300" dirty="0"/>
          </a:p>
        </p:txBody>
      </p:sp>
      <p:sp>
        <p:nvSpPr>
          <p:cNvPr id="25" name="Shape 22"/>
          <p:cNvSpPr/>
          <p:nvPr/>
        </p:nvSpPr>
        <p:spPr>
          <a:xfrm>
            <a:off x="457200" y="4700016"/>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183112" y="5138928"/>
            <a:ext cx="402336" cy="402336"/>
          </a:xfrm>
          <a:prstGeom prst="ellipse">
            <a:avLst/>
          </a:prstGeom>
          <a:solidFill>
            <a:srgbClr val="B83227"/>
          </a:solidFill>
          <a:ln w="12700">
            <a:solidFill>
              <a:srgbClr val="B83227"/>
            </a:solidFill>
            <a:prstDash val="solid"/>
          </a:ln>
        </p:spPr>
      </p:sp>
      <p:sp>
        <p:nvSpPr>
          <p:cNvPr id="27" name="Text 24"/>
          <p:cNvSpPr txBox="1"/>
          <p:nvPr/>
        </p:nvSpPr>
        <p:spPr>
          <a:xfrm>
            <a:off x="11183112" y="513892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3</a:t>
            </a:r>
            <a:endParaRPr lang="en-US" sz="1300" dirty="0"/>
          </a:p>
        </p:txBody>
      </p:sp>
      <p:sp>
        <p:nvSpPr>
          <p:cNvPr id="28" name="Text 25"/>
          <p:cNvSpPr txBox="1"/>
          <p:nvPr/>
        </p:nvSpPr>
        <p:spPr>
          <a:xfrm>
            <a:off x="4023360" y="4791456"/>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ea typeface="Amiri" pitchFamily="2" charset="-78"/>
                <a:cs typeface="Amiri" pitchFamily="2" charset="-78"/>
              </a:rPr>
              <a:t>اشْتَرَيْتُ قَمِيصًا غَالٍ.</a:t>
            </a:r>
            <a:endParaRPr lang="ar-SA" sz="3000" dirty="0"/>
          </a:p>
        </p:txBody>
      </p:sp>
      <p:sp>
        <p:nvSpPr>
          <p:cNvPr id="29" name="Text 26"/>
          <p:cNvSpPr txBox="1"/>
          <p:nvPr/>
        </p:nvSpPr>
        <p:spPr>
          <a:xfrm>
            <a:off x="731520" y="4791456"/>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Is it an object?</a:t>
            </a:r>
            <a:endParaRPr lang="en-US" sz="130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18 / 34</a:t>
            </a:r>
            <a:endParaRPr lang="en-US" sz="8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GM-ADJ-08 · Adjectives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CORRECTIONS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Fixed — and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التَّصْحِيحُ وَالسَّبَبُ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Adjectives · GM-ADJ-08</a:t>
            </a:r>
            <a:endParaRPr lang="en-US" sz="850" dirty="0"/>
          </a:p>
        </p:txBody>
      </p:sp>
      <p:sp>
        <p:nvSpPr>
          <p:cNvPr id="15" name="Shape 12"/>
          <p:cNvSpPr/>
          <p:nvPr/>
        </p:nvSpPr>
        <p:spPr>
          <a:xfrm>
            <a:off x="457200" y="1810512"/>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8503920" y="1901952"/>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هَذَا قَمِيصٌ غَالِيٌ.</a:t>
            </a:r>
            <a:endParaRPr lang="ar-SA" sz="1800" dirty="0"/>
          </a:p>
        </p:txBody>
      </p:sp>
      <p:sp>
        <p:nvSpPr>
          <p:cNvPr id="17" name="Shape 14"/>
          <p:cNvSpPr/>
          <p:nvPr/>
        </p:nvSpPr>
        <p:spPr>
          <a:xfrm>
            <a:off x="8641080" y="2459736"/>
            <a:ext cx="2834640" cy="0"/>
          </a:xfrm>
          <a:prstGeom prst="line">
            <a:avLst/>
          </a:prstGeom>
          <a:noFill/>
          <a:ln w="15875">
            <a:solidFill>
              <a:srgbClr val="B83227"/>
            </a:solidFill>
            <a:prstDash val="solid"/>
          </a:ln>
        </p:spPr>
      </p:sp>
      <p:sp>
        <p:nvSpPr>
          <p:cNvPr id="18" name="Text 15"/>
          <p:cNvSpPr txBox="1"/>
          <p:nvPr/>
        </p:nvSpPr>
        <p:spPr>
          <a:xfrm>
            <a:off x="8138160" y="1901952"/>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19" name="Text 16"/>
          <p:cNvSpPr txBox="1"/>
          <p:nvPr/>
        </p:nvSpPr>
        <p:spPr>
          <a:xfrm>
            <a:off x="3566160" y="1901952"/>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ea typeface="Amiri" pitchFamily="2" charset="-78"/>
                <a:cs typeface="Amiri" pitchFamily="2" charset="-78"/>
              </a:rPr>
              <a:t>هَذَا قَمِيصٌ غَالٍ.</a:t>
            </a:r>
            <a:endParaRPr lang="ar-SA" sz="2400" dirty="0"/>
          </a:p>
        </p:txBody>
      </p:sp>
      <p:sp>
        <p:nvSpPr>
          <p:cNvPr id="20" name="Text 17"/>
          <p:cNvSpPr txBox="1"/>
          <p:nvPr/>
        </p:nvSpPr>
        <p:spPr>
          <a:xfrm>
            <a:off x="685800" y="1901952"/>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Indefinite nominative → hidden yāʾ (website clinic).</a:t>
            </a:r>
            <a:endParaRPr lang="en-US" sz="1150" dirty="0"/>
          </a:p>
        </p:txBody>
      </p:sp>
      <p:sp>
        <p:nvSpPr>
          <p:cNvPr id="21" name="Shape 18"/>
          <p:cNvSpPr/>
          <p:nvPr/>
        </p:nvSpPr>
        <p:spPr>
          <a:xfrm>
            <a:off x="457200" y="3255264"/>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8503920" y="3346704"/>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الْجَبَلُ الْعَالِ</a:t>
            </a:r>
            <a:endParaRPr lang="ar-SA" sz="1800" dirty="0"/>
          </a:p>
        </p:txBody>
      </p:sp>
      <p:sp>
        <p:nvSpPr>
          <p:cNvPr id="23" name="Shape 20"/>
          <p:cNvSpPr/>
          <p:nvPr/>
        </p:nvSpPr>
        <p:spPr>
          <a:xfrm>
            <a:off x="8641080" y="3904488"/>
            <a:ext cx="2834640" cy="0"/>
          </a:xfrm>
          <a:prstGeom prst="line">
            <a:avLst/>
          </a:prstGeom>
          <a:noFill/>
          <a:ln w="15875">
            <a:solidFill>
              <a:srgbClr val="B83227"/>
            </a:solidFill>
            <a:prstDash val="solid"/>
          </a:ln>
        </p:spPr>
      </p:sp>
      <p:sp>
        <p:nvSpPr>
          <p:cNvPr id="24" name="Text 21"/>
          <p:cNvSpPr txBox="1"/>
          <p:nvPr/>
        </p:nvSpPr>
        <p:spPr>
          <a:xfrm>
            <a:off x="8138160" y="3346704"/>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25" name="Text 22"/>
          <p:cNvSpPr txBox="1"/>
          <p:nvPr/>
        </p:nvSpPr>
        <p:spPr>
          <a:xfrm>
            <a:off x="3566160" y="3346704"/>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ea typeface="Amiri" pitchFamily="2" charset="-78"/>
                <a:cs typeface="Amiri" pitchFamily="2" charset="-78"/>
              </a:rPr>
              <a:t>الْجَبَلُ الْعَالِي</a:t>
            </a:r>
            <a:endParaRPr lang="ar-SA" sz="2400" dirty="0"/>
          </a:p>
        </p:txBody>
      </p:sp>
      <p:sp>
        <p:nvSpPr>
          <p:cNvPr id="26" name="Text 23"/>
          <p:cNvSpPr txBox="1"/>
          <p:nvPr/>
        </p:nvSpPr>
        <p:spPr>
          <a:xfrm>
            <a:off x="685800" y="3346704"/>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Definite → the yāʾ returns (website clinic).</a:t>
            </a:r>
            <a:endParaRPr lang="en-US" sz="1150" dirty="0"/>
          </a:p>
        </p:txBody>
      </p:sp>
      <p:sp>
        <p:nvSpPr>
          <p:cNvPr id="27" name="Shape 24"/>
          <p:cNvSpPr/>
          <p:nvPr/>
        </p:nvSpPr>
        <p:spPr>
          <a:xfrm>
            <a:off x="457200" y="4700016"/>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8503920" y="4791456"/>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اشْتَرَيْتُ قَمِيصًا غَالٍ.</a:t>
            </a:r>
            <a:endParaRPr lang="ar-SA" sz="1800" dirty="0"/>
          </a:p>
        </p:txBody>
      </p:sp>
      <p:sp>
        <p:nvSpPr>
          <p:cNvPr id="29" name="Shape 26"/>
          <p:cNvSpPr/>
          <p:nvPr/>
        </p:nvSpPr>
        <p:spPr>
          <a:xfrm>
            <a:off x="8641080" y="5349240"/>
            <a:ext cx="2834640" cy="0"/>
          </a:xfrm>
          <a:prstGeom prst="line">
            <a:avLst/>
          </a:prstGeom>
          <a:noFill/>
          <a:ln w="15875">
            <a:solidFill>
              <a:srgbClr val="B83227"/>
            </a:solidFill>
            <a:prstDash val="solid"/>
          </a:ln>
        </p:spPr>
      </p:sp>
      <p:sp>
        <p:nvSpPr>
          <p:cNvPr id="30" name="Text 27"/>
          <p:cNvSpPr txBox="1"/>
          <p:nvPr/>
        </p:nvSpPr>
        <p:spPr>
          <a:xfrm>
            <a:off x="8138160" y="4791456"/>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31" name="Text 28"/>
          <p:cNvSpPr txBox="1"/>
          <p:nvPr/>
        </p:nvSpPr>
        <p:spPr>
          <a:xfrm>
            <a:off x="3566160" y="4791456"/>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ea typeface="Amiri" pitchFamily="2" charset="-78"/>
                <a:cs typeface="Amiri" pitchFamily="2" charset="-78"/>
              </a:rPr>
              <a:t>اشْتَرَيْتُ قَمِيصًا غَالِيًا.</a:t>
            </a:r>
            <a:endParaRPr lang="ar-SA" sz="2400" dirty="0"/>
          </a:p>
        </p:txBody>
      </p:sp>
      <p:sp>
        <p:nvSpPr>
          <p:cNvPr id="32" name="Text 29"/>
          <p:cNvSpPr txBox="1"/>
          <p:nvPr/>
        </p:nvSpPr>
        <p:spPr>
          <a:xfrm>
            <a:off x="685800" y="4791456"/>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Accusative → the yāʾ returns.</a:t>
            </a:r>
            <a:endParaRPr lang="en-US" sz="115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19 / 34</a:t>
            </a:r>
            <a:endParaRPr lang="en-US" sz="8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GM-ADJ-08 · Adjectives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2F6FB0"/>
                </a:solidFill>
                <a:latin typeface="Calibri" pitchFamily="34" charset="0"/>
                <a:cs typeface="Amiri" pitchFamily="2" charset="-78"/>
              </a:rPr>
              <a:t>WE DO · GUIDED PRACTICE · TEACHER-WRITTEN PRACTICE ON THE WEBSITE RULES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More practice</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تَدْرِيبٌ إِضَافِيٌّ</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Adjectives · GM-ADJ-08</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20" name="Text 17"/>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“in an expensive hotel”.</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فِي فُنْدُقٍ غَالِي</a:t>
            </a:r>
            <a:endParaRPr lang="ar-SA" sz="20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6" name="Text 23"/>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فِي فُنْدُقٍ غَالِيٍ</a:t>
            </a:r>
            <a:endParaRPr lang="ar-SA" sz="20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9" name="Text 26"/>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فِي فُنْدُقٍ غَالٍ</a:t>
            </a:r>
            <a:endParaRPr lang="ar-SA" sz="20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past year”.</a:t>
            </a:r>
            <a:endParaRPr lang="en-US" sz="1250" dirty="0"/>
          </a:p>
        </p:txBody>
      </p:sp>
      <p:sp>
        <p:nvSpPr>
          <p:cNvPr id="34" name="Shape 31"/>
          <p:cNvSpPr/>
          <p:nvPr/>
        </p:nvSpPr>
        <p:spPr>
          <a:xfrm>
            <a:off x="6368796"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السَّنَةُ الْمَاضِي</a:t>
            </a:r>
            <a:endParaRPr lang="ar-SA" sz="2050" dirty="0"/>
          </a:p>
        </p:txBody>
      </p:sp>
      <p:sp>
        <p:nvSpPr>
          <p:cNvPr id="37" name="Shape 34"/>
          <p:cNvSpPr/>
          <p:nvPr/>
        </p:nvSpPr>
        <p:spPr>
          <a:xfrm>
            <a:off x="6368796"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السَّنَةُ الْمَاضِيَةُ</a:t>
            </a:r>
            <a:endParaRPr lang="ar-SA" sz="2050" dirty="0"/>
          </a:p>
        </p:txBody>
      </p:sp>
      <p:sp>
        <p:nvSpPr>
          <p:cNvPr id="40" name="Shape 37"/>
          <p:cNvSpPr/>
          <p:nvPr/>
        </p:nvSpPr>
        <p:spPr>
          <a:xfrm>
            <a:off x="6368796"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2" name="Text 39"/>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السَّنَةُ مَاضٍ</a:t>
            </a:r>
            <a:endParaRPr lang="ar-SA" sz="2050" dirty="0"/>
          </a:p>
        </p:txBody>
      </p:sp>
      <p:sp>
        <p:nvSpPr>
          <p:cNvPr id="43" name="Shape 40"/>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585216" y="4288536"/>
            <a:ext cx="310896" cy="310896"/>
          </a:xfrm>
          <a:prstGeom prst="ellipse">
            <a:avLst/>
          </a:prstGeom>
          <a:solidFill>
            <a:srgbClr val="1B3B6F"/>
          </a:solidFill>
          <a:ln w="12700">
            <a:solidFill>
              <a:srgbClr val="1B3B6F"/>
            </a:solidFill>
            <a:prstDash val="solid"/>
          </a:ln>
        </p:spPr>
      </p:sp>
      <p:sp>
        <p:nvSpPr>
          <p:cNvPr id="45" name="Text 42"/>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6" name="Text 43"/>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“He is satisfied.”</a:t>
            </a:r>
            <a:endParaRPr lang="en-US" sz="1250" dirty="0"/>
          </a:p>
        </p:txBody>
      </p:sp>
      <p:sp>
        <p:nvSpPr>
          <p:cNvPr id="47" name="Shape 44"/>
          <p:cNvSpPr/>
          <p:nvPr/>
        </p:nvSpPr>
        <p:spPr>
          <a:xfrm>
            <a:off x="640080" y="4873752"/>
            <a:ext cx="256032" cy="256032"/>
          </a:xfrm>
          <a:prstGeom prst="ellipse">
            <a:avLst/>
          </a:prstGeom>
          <a:solidFill>
            <a:srgbClr val="F4F1EA"/>
          </a:solidFill>
          <a:ln w="12700">
            <a:solidFill>
              <a:srgbClr val="F4F1EA"/>
            </a:solidFill>
            <a:prstDash val="solid"/>
          </a:ln>
        </p:spPr>
      </p:sp>
      <p:sp>
        <p:nvSpPr>
          <p:cNvPr id="48" name="Text 45"/>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9" name="Text 46"/>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هُوَ رَاضِيٌ.</a:t>
            </a:r>
            <a:endParaRPr lang="ar-SA" sz="2050" dirty="0"/>
          </a:p>
        </p:txBody>
      </p:sp>
      <p:sp>
        <p:nvSpPr>
          <p:cNvPr id="50" name="Shape 47"/>
          <p:cNvSpPr/>
          <p:nvPr/>
        </p:nvSpPr>
        <p:spPr>
          <a:xfrm>
            <a:off x="640080" y="5330952"/>
            <a:ext cx="256032" cy="256032"/>
          </a:xfrm>
          <a:prstGeom prst="ellipse">
            <a:avLst/>
          </a:prstGeom>
          <a:solidFill>
            <a:srgbClr val="F4F1EA"/>
          </a:solidFill>
          <a:ln w="12700">
            <a:solidFill>
              <a:srgbClr val="F4F1EA"/>
            </a:solidFill>
            <a:prstDash val="solid"/>
          </a:ln>
        </p:spPr>
      </p:sp>
      <p:sp>
        <p:nvSpPr>
          <p:cNvPr id="51" name="Text 48"/>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2" name="Text 49"/>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هُوَ رَاضٍ.</a:t>
            </a:r>
            <a:endParaRPr lang="ar-SA" sz="2050" dirty="0"/>
          </a:p>
        </p:txBody>
      </p:sp>
      <p:sp>
        <p:nvSpPr>
          <p:cNvPr id="53" name="Shape 50"/>
          <p:cNvSpPr/>
          <p:nvPr/>
        </p:nvSpPr>
        <p:spPr>
          <a:xfrm>
            <a:off x="640080" y="5788152"/>
            <a:ext cx="256032" cy="256032"/>
          </a:xfrm>
          <a:prstGeom prst="ellipse">
            <a:avLst/>
          </a:prstGeom>
          <a:solidFill>
            <a:srgbClr val="F4F1EA"/>
          </a:solidFill>
          <a:ln w="12700">
            <a:solidFill>
              <a:srgbClr val="F4F1EA"/>
            </a:solidFill>
            <a:prstDash val="solid"/>
          </a:ln>
        </p:spPr>
      </p:sp>
      <p:sp>
        <p:nvSpPr>
          <p:cNvPr id="54" name="Text 51"/>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5" name="Text 52"/>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هُوَ الرَّاضِي.</a:t>
            </a:r>
            <a:endParaRPr lang="ar-SA" sz="2050" dirty="0"/>
          </a:p>
        </p:txBody>
      </p:sp>
      <p:sp>
        <p:nvSpPr>
          <p:cNvPr id="56" name="Shape 53"/>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6313932" y="4288536"/>
            <a:ext cx="310896" cy="310896"/>
          </a:xfrm>
          <a:prstGeom prst="ellipse">
            <a:avLst/>
          </a:prstGeom>
          <a:solidFill>
            <a:srgbClr val="1B3B6F"/>
          </a:solidFill>
          <a:ln w="12700">
            <a:solidFill>
              <a:srgbClr val="1B3B6F"/>
            </a:solidFill>
            <a:prstDash val="solid"/>
          </a:ln>
        </p:spPr>
      </p:sp>
      <p:sp>
        <p:nvSpPr>
          <p:cNvPr id="58" name="Text 55"/>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9" name="Text 56"/>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“I heard a loud (high) voice.”</a:t>
            </a:r>
            <a:endParaRPr lang="en-US" sz="1250" dirty="0"/>
          </a:p>
        </p:txBody>
      </p:sp>
      <p:sp>
        <p:nvSpPr>
          <p:cNvPr id="60" name="Shape 57"/>
          <p:cNvSpPr/>
          <p:nvPr/>
        </p:nvSpPr>
        <p:spPr>
          <a:xfrm>
            <a:off x="6368796" y="4873752"/>
            <a:ext cx="256032" cy="256032"/>
          </a:xfrm>
          <a:prstGeom prst="ellipse">
            <a:avLst/>
          </a:prstGeom>
          <a:solidFill>
            <a:srgbClr val="F4F1EA"/>
          </a:solidFill>
          <a:ln w="12700">
            <a:solidFill>
              <a:srgbClr val="F4F1EA"/>
            </a:solidFill>
            <a:prstDash val="solid"/>
          </a:ln>
        </p:spPr>
      </p:sp>
      <p:sp>
        <p:nvSpPr>
          <p:cNvPr id="61" name="Text 58"/>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2" name="Text 59"/>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سَمِعْتُ صَوْتًا عَالٍ.</a:t>
            </a:r>
            <a:endParaRPr lang="ar-SA" sz="2050" dirty="0"/>
          </a:p>
        </p:txBody>
      </p:sp>
      <p:sp>
        <p:nvSpPr>
          <p:cNvPr id="63" name="Shape 60"/>
          <p:cNvSpPr/>
          <p:nvPr/>
        </p:nvSpPr>
        <p:spPr>
          <a:xfrm>
            <a:off x="6368796" y="5330952"/>
            <a:ext cx="256032" cy="256032"/>
          </a:xfrm>
          <a:prstGeom prst="ellipse">
            <a:avLst/>
          </a:prstGeom>
          <a:solidFill>
            <a:srgbClr val="F4F1EA"/>
          </a:solidFill>
          <a:ln w="12700">
            <a:solidFill>
              <a:srgbClr val="F4F1EA"/>
            </a:solidFill>
            <a:prstDash val="solid"/>
          </a:ln>
        </p:spPr>
      </p:sp>
      <p:sp>
        <p:nvSpPr>
          <p:cNvPr id="64" name="Text 61"/>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5" name="Text 62"/>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سَمِعْتُ صَوْتٌ عَالٍ.</a:t>
            </a:r>
            <a:endParaRPr lang="ar-SA" sz="2050" dirty="0"/>
          </a:p>
        </p:txBody>
      </p:sp>
      <p:sp>
        <p:nvSpPr>
          <p:cNvPr id="66" name="Shape 63"/>
          <p:cNvSpPr/>
          <p:nvPr/>
        </p:nvSpPr>
        <p:spPr>
          <a:xfrm>
            <a:off x="6368796" y="5788152"/>
            <a:ext cx="256032" cy="256032"/>
          </a:xfrm>
          <a:prstGeom prst="ellipse">
            <a:avLst/>
          </a:prstGeom>
          <a:solidFill>
            <a:srgbClr val="F4F1EA"/>
          </a:solidFill>
          <a:ln w="12700">
            <a:solidFill>
              <a:srgbClr val="F4F1EA"/>
            </a:solidFill>
            <a:prstDash val="solid"/>
          </a:ln>
        </p:spPr>
      </p:sp>
      <p:sp>
        <p:nvSpPr>
          <p:cNvPr id="67" name="Text 64"/>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8" name="Text 65"/>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سَمِعْتُ صَوْتًا عَالِيًا.</a:t>
            </a:r>
            <a:endParaRPr lang="ar-SA" sz="2050" dirty="0"/>
          </a:p>
        </p:txBody>
      </p:sp>
      <p:sp>
        <p:nvSpPr>
          <p:cNvPr id="69" name="Text 6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20 / 34</a:t>
            </a:r>
            <a:endParaRPr lang="en-US" sz="8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GM-ADJ-08 · Adjectives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Answers and reasons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 وَالتَّعْلِيلُ</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Adjectives · GM-ADJ-08</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20" name="Text 17"/>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“in an expensive hotel”.</a:t>
            </a:r>
            <a:endParaRPr lang="en-US" sz="1250" dirty="0"/>
          </a:p>
        </p:txBody>
      </p:sp>
      <p:sp>
        <p:nvSpPr>
          <p:cNvPr id="21"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2"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فِي فُنْدُقٍ غَالِي</a:t>
            </a:r>
            <a:endParaRPr lang="ar-SA" sz="1700" dirty="0"/>
          </a:p>
        </p:txBody>
      </p:sp>
      <p:sp>
        <p:nvSpPr>
          <p:cNvPr id="24" name="Shape 21"/>
          <p:cNvSpPr/>
          <p:nvPr/>
        </p:nvSpPr>
        <p:spPr>
          <a:xfrm>
            <a:off x="640080" y="2862072"/>
            <a:ext cx="256032" cy="256032"/>
          </a:xfrm>
          <a:prstGeom prst="ellipse">
            <a:avLst/>
          </a:prstGeom>
          <a:solidFill>
            <a:srgbClr val="C9CED6"/>
          </a:solidFill>
          <a:ln w="12700">
            <a:solidFill>
              <a:srgbClr val="C9CED6"/>
            </a:solidFill>
            <a:prstDash val="solid"/>
          </a:ln>
        </p:spPr>
      </p:sp>
      <p:sp>
        <p:nvSpPr>
          <p:cNvPr id="25" name="Text 22"/>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6" name="Text 23"/>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فِي فُنْدُقٍ غَالِيٍ</a:t>
            </a:r>
            <a:endParaRPr lang="ar-SA" sz="1700" dirty="0"/>
          </a:p>
        </p:txBody>
      </p:sp>
      <p:sp>
        <p:nvSpPr>
          <p:cNvPr id="27" name="Shape 24"/>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8" name="Shape 25"/>
          <p:cNvSpPr/>
          <p:nvPr/>
        </p:nvSpPr>
        <p:spPr>
          <a:xfrm>
            <a:off x="640080" y="3233928"/>
            <a:ext cx="256032" cy="256032"/>
          </a:xfrm>
          <a:prstGeom prst="ellipse">
            <a:avLst/>
          </a:prstGeom>
          <a:solidFill>
            <a:srgbClr val="2E8B57"/>
          </a:solidFill>
          <a:ln w="12700">
            <a:solidFill>
              <a:srgbClr val="2E8B57"/>
            </a:solidFill>
            <a:prstDash val="solid"/>
          </a:ln>
        </p:spPr>
      </p:sp>
      <p:sp>
        <p:nvSpPr>
          <p:cNvPr id="29"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30" name="Text 27"/>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فِي فُنْدُقٍ غَالٍ</a:t>
            </a:r>
            <a:endParaRPr lang="ar-SA" sz="1700" dirty="0"/>
          </a:p>
        </p:txBody>
      </p:sp>
      <p:sp>
        <p:nvSpPr>
          <p:cNvPr id="31" name="Text 28"/>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Genitive indefinite → hidden.</a:t>
            </a:r>
            <a:endParaRPr lang="en-US" sz="1050" dirty="0"/>
          </a:p>
        </p:txBody>
      </p:sp>
      <p:sp>
        <p:nvSpPr>
          <p:cNvPr id="32" name="Shape 29"/>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6313932" y="1947672"/>
            <a:ext cx="310896" cy="310896"/>
          </a:xfrm>
          <a:prstGeom prst="ellipse">
            <a:avLst/>
          </a:prstGeom>
          <a:solidFill>
            <a:srgbClr val="1B3B6F"/>
          </a:solidFill>
          <a:ln w="12700">
            <a:solidFill>
              <a:srgbClr val="1B3B6F"/>
            </a:solidFill>
            <a:prstDash val="solid"/>
          </a:ln>
        </p:spPr>
      </p:sp>
      <p:sp>
        <p:nvSpPr>
          <p:cNvPr id="34" name="Text 31"/>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5" name="Text 32"/>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past year”.</a:t>
            </a:r>
            <a:endParaRPr lang="en-US" sz="1250" dirty="0"/>
          </a:p>
        </p:txBody>
      </p:sp>
      <p:sp>
        <p:nvSpPr>
          <p:cNvPr id="36" name="Shape 33"/>
          <p:cNvSpPr/>
          <p:nvPr/>
        </p:nvSpPr>
        <p:spPr>
          <a:xfrm>
            <a:off x="6368796" y="2490216"/>
            <a:ext cx="256032" cy="256032"/>
          </a:xfrm>
          <a:prstGeom prst="ellipse">
            <a:avLst/>
          </a:prstGeom>
          <a:solidFill>
            <a:srgbClr val="C9CED6"/>
          </a:solidFill>
          <a:ln w="12700">
            <a:solidFill>
              <a:srgbClr val="C9CED6"/>
            </a:solidFill>
            <a:prstDash val="solid"/>
          </a:ln>
        </p:spPr>
      </p:sp>
      <p:sp>
        <p:nvSpPr>
          <p:cNvPr id="37" name="Text 34"/>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8" name="Text 35"/>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السَّنَةُ الْمَاضِي</a:t>
            </a:r>
            <a:endParaRPr lang="ar-SA" sz="1700" dirty="0"/>
          </a:p>
        </p:txBody>
      </p:sp>
      <p:sp>
        <p:nvSpPr>
          <p:cNvPr id="39" name="Shape 36"/>
          <p:cNvSpPr/>
          <p:nvPr/>
        </p:nvSpPr>
        <p:spPr>
          <a:xfrm>
            <a:off x="6277356" y="2825496"/>
            <a:ext cx="5362956" cy="347472"/>
          </a:xfrm>
          <a:prstGeom prst="roundRect">
            <a:avLst>
              <a:gd name="adj" fmla="val 15789"/>
            </a:avLst>
          </a:prstGeom>
          <a:solidFill>
            <a:srgbClr val="E6F4EC"/>
          </a:solidFill>
          <a:ln w="9525">
            <a:solidFill>
              <a:srgbClr val="2E8B57"/>
            </a:solidFill>
            <a:prstDash val="solid"/>
          </a:ln>
        </p:spPr>
      </p:sp>
      <p:sp>
        <p:nvSpPr>
          <p:cNvPr id="40" name="Shape 37"/>
          <p:cNvSpPr/>
          <p:nvPr/>
        </p:nvSpPr>
        <p:spPr>
          <a:xfrm>
            <a:off x="6368796" y="2862072"/>
            <a:ext cx="256032" cy="256032"/>
          </a:xfrm>
          <a:prstGeom prst="ellipse">
            <a:avLst/>
          </a:prstGeom>
          <a:solidFill>
            <a:srgbClr val="2E8B57"/>
          </a:solidFill>
          <a:ln w="12700">
            <a:solidFill>
              <a:srgbClr val="2E8B57"/>
            </a:solidFill>
            <a:prstDash val="solid"/>
          </a:ln>
        </p:spPr>
      </p:sp>
      <p:sp>
        <p:nvSpPr>
          <p:cNvPr id="41" name="Text 38"/>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42" name="Text 39"/>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السَّنَةُ الْمَاضِيَةُ</a:t>
            </a:r>
            <a:endParaRPr lang="ar-SA" sz="1700" dirty="0"/>
          </a:p>
        </p:txBody>
      </p:sp>
      <p:sp>
        <p:nvSpPr>
          <p:cNvPr id="43" name="Shape 40"/>
          <p:cNvSpPr/>
          <p:nvPr/>
        </p:nvSpPr>
        <p:spPr>
          <a:xfrm>
            <a:off x="6368796" y="3233928"/>
            <a:ext cx="256032" cy="256032"/>
          </a:xfrm>
          <a:prstGeom prst="ellipse">
            <a:avLst/>
          </a:prstGeom>
          <a:solidFill>
            <a:srgbClr val="C9CED6"/>
          </a:solidFill>
          <a:ln w="12700">
            <a:solidFill>
              <a:srgbClr val="C9CED6"/>
            </a:solidFill>
            <a:prstDash val="solid"/>
          </a:ln>
        </p:spPr>
      </p:sp>
      <p:sp>
        <p:nvSpPr>
          <p:cNvPr id="44" name="Text 41"/>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5" name="Text 42"/>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السَّنَةُ مَاضٍ</a:t>
            </a:r>
            <a:endParaRPr lang="ar-SA" sz="1700" dirty="0"/>
          </a:p>
        </p:txBody>
      </p:sp>
      <p:sp>
        <p:nvSpPr>
          <p:cNvPr id="46" name="Text 43"/>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Feminine + definite.</a:t>
            </a:r>
            <a:endParaRPr lang="en-US" sz="1050" dirty="0"/>
          </a:p>
        </p:txBody>
      </p:sp>
      <p:sp>
        <p:nvSpPr>
          <p:cNvPr id="47" name="Shape 44"/>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585216" y="4288536"/>
            <a:ext cx="310896" cy="310896"/>
          </a:xfrm>
          <a:prstGeom prst="ellipse">
            <a:avLst/>
          </a:prstGeom>
          <a:solidFill>
            <a:srgbClr val="1B3B6F"/>
          </a:solidFill>
          <a:ln w="12700">
            <a:solidFill>
              <a:srgbClr val="1B3B6F"/>
            </a:solidFill>
            <a:prstDash val="solid"/>
          </a:ln>
        </p:spPr>
      </p:sp>
      <p:sp>
        <p:nvSpPr>
          <p:cNvPr id="49" name="Text 46"/>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50" name="Text 47"/>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“He is satisfied.”</a:t>
            </a:r>
            <a:endParaRPr lang="en-US" sz="1250" dirty="0"/>
          </a:p>
        </p:txBody>
      </p:sp>
      <p:sp>
        <p:nvSpPr>
          <p:cNvPr id="51" name="Shape 48"/>
          <p:cNvSpPr/>
          <p:nvPr/>
        </p:nvSpPr>
        <p:spPr>
          <a:xfrm>
            <a:off x="640080" y="4831080"/>
            <a:ext cx="256032" cy="256032"/>
          </a:xfrm>
          <a:prstGeom prst="ellipse">
            <a:avLst/>
          </a:prstGeom>
          <a:solidFill>
            <a:srgbClr val="C9CED6"/>
          </a:solidFill>
          <a:ln w="12700">
            <a:solidFill>
              <a:srgbClr val="C9CED6"/>
            </a:solidFill>
            <a:prstDash val="solid"/>
          </a:ln>
        </p:spPr>
      </p:sp>
      <p:sp>
        <p:nvSpPr>
          <p:cNvPr id="52" name="Text 49"/>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3" name="Text 50"/>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هُوَ رَاضِيٌ.</a:t>
            </a:r>
            <a:endParaRPr lang="ar-SA" sz="1700" dirty="0"/>
          </a:p>
        </p:txBody>
      </p:sp>
      <p:sp>
        <p:nvSpPr>
          <p:cNvPr id="54" name="Shape 51"/>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5" name="Shape 52"/>
          <p:cNvSpPr/>
          <p:nvPr/>
        </p:nvSpPr>
        <p:spPr>
          <a:xfrm>
            <a:off x="640080" y="5202936"/>
            <a:ext cx="256032" cy="256032"/>
          </a:xfrm>
          <a:prstGeom prst="ellipse">
            <a:avLst/>
          </a:prstGeom>
          <a:solidFill>
            <a:srgbClr val="2E8B57"/>
          </a:solidFill>
          <a:ln w="12700">
            <a:solidFill>
              <a:srgbClr val="2E8B57"/>
            </a:solidFill>
            <a:prstDash val="solid"/>
          </a:ln>
        </p:spPr>
      </p:sp>
      <p:sp>
        <p:nvSpPr>
          <p:cNvPr id="56" name="Text 53"/>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57" name="Text 54"/>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هُوَ رَاضٍ.</a:t>
            </a:r>
            <a:endParaRPr lang="ar-SA" sz="1700" dirty="0"/>
          </a:p>
        </p:txBody>
      </p:sp>
      <p:sp>
        <p:nvSpPr>
          <p:cNvPr id="58" name="Shape 55"/>
          <p:cNvSpPr/>
          <p:nvPr/>
        </p:nvSpPr>
        <p:spPr>
          <a:xfrm>
            <a:off x="640080" y="5574792"/>
            <a:ext cx="256032" cy="256032"/>
          </a:xfrm>
          <a:prstGeom prst="ellipse">
            <a:avLst/>
          </a:prstGeom>
          <a:solidFill>
            <a:srgbClr val="C9CED6"/>
          </a:solidFill>
          <a:ln w="12700">
            <a:solidFill>
              <a:srgbClr val="C9CED6"/>
            </a:solidFill>
            <a:prstDash val="solid"/>
          </a:ln>
        </p:spPr>
      </p:sp>
      <p:sp>
        <p:nvSpPr>
          <p:cNvPr id="59" name="Text 56"/>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0" name="Text 57"/>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هُوَ الرَّاضِي.</a:t>
            </a:r>
            <a:endParaRPr lang="ar-SA" sz="1700" dirty="0"/>
          </a:p>
        </p:txBody>
      </p:sp>
      <p:sp>
        <p:nvSpPr>
          <p:cNvPr id="61" name="Text 58"/>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Indefinite predicate → hidden.</a:t>
            </a:r>
            <a:endParaRPr lang="en-US" sz="1050" dirty="0"/>
          </a:p>
        </p:txBody>
      </p:sp>
      <p:sp>
        <p:nvSpPr>
          <p:cNvPr id="62" name="Shape 59"/>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3" name="Shape 60"/>
          <p:cNvSpPr/>
          <p:nvPr/>
        </p:nvSpPr>
        <p:spPr>
          <a:xfrm>
            <a:off x="6313932" y="4288536"/>
            <a:ext cx="310896" cy="310896"/>
          </a:xfrm>
          <a:prstGeom prst="ellipse">
            <a:avLst/>
          </a:prstGeom>
          <a:solidFill>
            <a:srgbClr val="1B3B6F"/>
          </a:solidFill>
          <a:ln w="12700">
            <a:solidFill>
              <a:srgbClr val="1B3B6F"/>
            </a:solidFill>
            <a:prstDash val="solid"/>
          </a:ln>
        </p:spPr>
      </p:sp>
      <p:sp>
        <p:nvSpPr>
          <p:cNvPr id="64" name="Text 61"/>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5" name="Text 62"/>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“I heard a loud (high) voice.”</a:t>
            </a:r>
            <a:endParaRPr lang="en-US" sz="1250" dirty="0"/>
          </a:p>
        </p:txBody>
      </p:sp>
      <p:sp>
        <p:nvSpPr>
          <p:cNvPr id="66" name="Shape 63"/>
          <p:cNvSpPr/>
          <p:nvPr/>
        </p:nvSpPr>
        <p:spPr>
          <a:xfrm>
            <a:off x="6368796" y="4831080"/>
            <a:ext cx="256032" cy="256032"/>
          </a:xfrm>
          <a:prstGeom prst="ellipse">
            <a:avLst/>
          </a:prstGeom>
          <a:solidFill>
            <a:srgbClr val="C9CED6"/>
          </a:solidFill>
          <a:ln w="12700">
            <a:solidFill>
              <a:srgbClr val="C9CED6"/>
            </a:solidFill>
            <a:prstDash val="solid"/>
          </a:ln>
        </p:spPr>
      </p:sp>
      <p:sp>
        <p:nvSpPr>
          <p:cNvPr id="67" name="Text 64"/>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8" name="Text 65"/>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سَمِعْتُ صَوْتًا عَالٍ.</a:t>
            </a:r>
            <a:endParaRPr lang="ar-SA" sz="1700" dirty="0"/>
          </a:p>
        </p:txBody>
      </p:sp>
      <p:sp>
        <p:nvSpPr>
          <p:cNvPr id="69" name="Shape 66"/>
          <p:cNvSpPr/>
          <p:nvPr/>
        </p:nvSpPr>
        <p:spPr>
          <a:xfrm>
            <a:off x="6368796" y="5202936"/>
            <a:ext cx="256032" cy="256032"/>
          </a:xfrm>
          <a:prstGeom prst="ellipse">
            <a:avLst/>
          </a:prstGeom>
          <a:solidFill>
            <a:srgbClr val="C9CED6"/>
          </a:solidFill>
          <a:ln w="12700">
            <a:solidFill>
              <a:srgbClr val="C9CED6"/>
            </a:solidFill>
            <a:prstDash val="solid"/>
          </a:ln>
        </p:spPr>
      </p:sp>
      <p:sp>
        <p:nvSpPr>
          <p:cNvPr id="70" name="Text 67"/>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1" name="Text 68"/>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سَمِعْتُ صَوْتٌ عَالٍ.</a:t>
            </a:r>
            <a:endParaRPr lang="ar-SA" sz="1700" dirty="0"/>
          </a:p>
        </p:txBody>
      </p:sp>
      <p:sp>
        <p:nvSpPr>
          <p:cNvPr id="72" name="Shape 69"/>
          <p:cNvSpPr/>
          <p:nvPr/>
        </p:nvSpPr>
        <p:spPr>
          <a:xfrm>
            <a:off x="6277356" y="5538216"/>
            <a:ext cx="5362956" cy="347472"/>
          </a:xfrm>
          <a:prstGeom prst="roundRect">
            <a:avLst>
              <a:gd name="adj" fmla="val 15789"/>
            </a:avLst>
          </a:prstGeom>
          <a:solidFill>
            <a:srgbClr val="E6F4EC"/>
          </a:solidFill>
          <a:ln w="9525">
            <a:solidFill>
              <a:srgbClr val="2E8B57"/>
            </a:solidFill>
            <a:prstDash val="solid"/>
          </a:ln>
        </p:spPr>
      </p:sp>
      <p:sp>
        <p:nvSpPr>
          <p:cNvPr id="73" name="Shape 70"/>
          <p:cNvSpPr/>
          <p:nvPr/>
        </p:nvSpPr>
        <p:spPr>
          <a:xfrm>
            <a:off x="6368796" y="5574792"/>
            <a:ext cx="256032" cy="256032"/>
          </a:xfrm>
          <a:prstGeom prst="ellipse">
            <a:avLst/>
          </a:prstGeom>
          <a:solidFill>
            <a:srgbClr val="2E8B57"/>
          </a:solidFill>
          <a:ln w="12700">
            <a:solidFill>
              <a:srgbClr val="2E8B57"/>
            </a:solidFill>
            <a:prstDash val="solid"/>
          </a:ln>
        </p:spPr>
      </p:sp>
      <p:sp>
        <p:nvSpPr>
          <p:cNvPr id="74" name="Text 71"/>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75" name="Text 72"/>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سَمِعْتُ صَوْتًا عَالِيًا.</a:t>
            </a:r>
            <a:endParaRPr lang="ar-SA" sz="1700" dirty="0"/>
          </a:p>
        </p:txBody>
      </p:sp>
      <p:sp>
        <p:nvSpPr>
          <p:cNvPr id="76" name="Text 73"/>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Object → yāʾ returns.</a:t>
            </a:r>
            <a:endParaRPr lang="en-US" sz="1050" dirty="0"/>
          </a:p>
        </p:txBody>
      </p:sp>
      <p:sp>
        <p:nvSpPr>
          <p:cNvPr id="77" name="Text 7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21 / 34</a:t>
            </a:r>
            <a:endParaRPr lang="en-US" sz="8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GM-ADJ-08 · Adjectives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983" b="1" spc="150" kern="0" dirty="0">
                <a:solidFill>
                  <a:srgbClr val="1E6B52"/>
                </a:solidFill>
                <a:latin typeface="Calibri" pitchFamily="34" charset="0"/>
                <a:cs typeface="Amiri" pitchFamily="2" charset="-78"/>
              </a:rPr>
              <a:t>YOU DO · READ AND NOTICE · WEBSITE READING TEXT, EXTENDED BY THE TEACHER</a:t>
            </a:r>
            <a:endParaRPr lang="en-US" sz="983"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Shopping in my city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اِقْرَأْ وَلَاحِظْ</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Adjectives · GM-ADJ-08</a:t>
            </a:r>
            <a:endParaRPr lang="en-US" sz="850" dirty="0"/>
          </a:p>
        </p:txBody>
      </p:sp>
      <p:sp>
        <p:nvSpPr>
          <p:cNvPr id="15" name="Shape 12"/>
          <p:cNvSpPr/>
          <p:nvPr/>
        </p:nvSpPr>
        <p:spPr>
          <a:xfrm>
            <a:off x="457200" y="1810512"/>
            <a:ext cx="807415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65960"/>
            <a:ext cx="7616952" cy="4206240"/>
          </a:xfrm>
          <a:prstGeom prst="rect">
            <a:avLst/>
          </a:prstGeom>
          <a:noFill/>
          <a:ln/>
        </p:spPr>
        <p:txBody>
          <a:bodyPr wrap="square" lIns="0" tIns="0" rIns="0" bIns="0" rtlCol="0" anchor="t"/>
          <a:lstStyle/>
          <a:p>
            <a:pPr rtl="1" algn="r" indent="0" marL="0">
              <a:lnSpc>
                <a:spcPct val="120000"/>
              </a:lnSpc>
              <a:buNone/>
            </a:pPr>
            <a:r>
              <a:rPr lang="ar-SA" altLang="en-US" sz="2600" dirty="0">
                <a:solidFill>
                  <a:srgbClr val="1F2A37"/>
                </a:solidFill>
                <a:latin typeface="Amiri" pitchFamily="2" charset="-78"/>
                <a:ea typeface="Amiri" pitchFamily="2" charset="-78"/>
                <a:cs typeface="Amiri" pitchFamily="2" charset="-78"/>
              </a:rPr>
              <a:t>فِي مَدِينَتِي أَمَاكِنُ جَمِيلَةٌ وَشَوَارِعُ وَاسِعَةٌ. هَذِهِ الْمَدْرَسَةُ الْجَدِيدَةُ قَرِيبَةٌ، وَذَلِكَ الْمَتْحَفُ الْقَدِيمُ مُثِيرٌ لِلِاهْتِمَامِ. فِي السُّوقِ مَحَلٌّ غَالٍ، وَفِيهِ الْمَلَابِسُ الْغَالِيَةُ. فِي الشَّهْرِ الْمَاضِي اشْتَرَيْتُ مِنْهُ قَمِيصًا غَالِيًا، لَكِنِّي لَسْتُ رَاضِيًا عَنْهُ!</a:t>
            </a:r>
            <a:endParaRPr lang="ar-SA" sz="2600" dirty="0"/>
          </a:p>
        </p:txBody>
      </p:sp>
      <p:sp>
        <p:nvSpPr>
          <p:cNvPr id="17" name="Shape 14"/>
          <p:cNvSpPr/>
          <p:nvPr/>
        </p:nvSpPr>
        <p:spPr>
          <a:xfrm>
            <a:off x="8714232" y="1810512"/>
            <a:ext cx="3017520" cy="4498848"/>
          </a:xfrm>
          <a:prstGeom prst="roundRect">
            <a:avLst>
              <a:gd name="adj" fmla="val 2424"/>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8897112" y="1883664"/>
            <a:ext cx="2651760" cy="292608"/>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KEY WORDS</a:t>
            </a:r>
            <a:endParaRPr lang="en-US" sz="1000" dirty="0"/>
          </a:p>
        </p:txBody>
      </p:sp>
      <p:sp>
        <p:nvSpPr>
          <p:cNvPr id="19" name="Text 16"/>
          <p:cNvSpPr txBox="1"/>
          <p:nvPr/>
        </p:nvSpPr>
        <p:spPr>
          <a:xfrm>
            <a:off x="10102291" y="2212848"/>
            <a:ext cx="1508760" cy="50292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أَمَاكِنُ</a:t>
            </a:r>
            <a:endParaRPr lang="ar-SA" sz="1600" dirty="0"/>
          </a:p>
        </p:txBody>
      </p:sp>
      <p:sp>
        <p:nvSpPr>
          <p:cNvPr id="20" name="Text 17"/>
          <p:cNvSpPr txBox="1"/>
          <p:nvPr/>
        </p:nvSpPr>
        <p:spPr>
          <a:xfrm>
            <a:off x="8851392" y="2212848"/>
            <a:ext cx="1388059" cy="50292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places</a:t>
            </a:r>
            <a:endParaRPr lang="en-US" sz="1050" dirty="0"/>
          </a:p>
        </p:txBody>
      </p:sp>
      <p:sp>
        <p:nvSpPr>
          <p:cNvPr id="21" name="Text 18"/>
          <p:cNvSpPr txBox="1"/>
          <p:nvPr/>
        </p:nvSpPr>
        <p:spPr>
          <a:xfrm>
            <a:off x="10102291" y="2715768"/>
            <a:ext cx="1508760" cy="50292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مُثِيرٌ لِلِاهْتِمَامِ</a:t>
            </a:r>
            <a:endParaRPr lang="ar-SA" sz="1600" dirty="0"/>
          </a:p>
        </p:txBody>
      </p:sp>
      <p:sp>
        <p:nvSpPr>
          <p:cNvPr id="22" name="Text 19"/>
          <p:cNvSpPr txBox="1"/>
          <p:nvPr/>
        </p:nvSpPr>
        <p:spPr>
          <a:xfrm>
            <a:off x="8851392" y="2715768"/>
            <a:ext cx="1388059" cy="50292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interesting</a:t>
            </a:r>
            <a:endParaRPr lang="en-US" sz="1050" dirty="0"/>
          </a:p>
        </p:txBody>
      </p:sp>
      <p:sp>
        <p:nvSpPr>
          <p:cNvPr id="23" name="Text 20"/>
          <p:cNvSpPr txBox="1"/>
          <p:nvPr/>
        </p:nvSpPr>
        <p:spPr>
          <a:xfrm>
            <a:off x="10102291" y="3218688"/>
            <a:ext cx="1508760" cy="50292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مَحَلٌّ</a:t>
            </a:r>
            <a:endParaRPr lang="ar-SA" sz="1600" dirty="0"/>
          </a:p>
        </p:txBody>
      </p:sp>
      <p:sp>
        <p:nvSpPr>
          <p:cNvPr id="24" name="Text 21"/>
          <p:cNvSpPr txBox="1"/>
          <p:nvPr/>
        </p:nvSpPr>
        <p:spPr>
          <a:xfrm>
            <a:off x="8851392" y="3218688"/>
            <a:ext cx="1388059" cy="50292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shop</a:t>
            </a:r>
            <a:endParaRPr lang="en-US" sz="1050" dirty="0"/>
          </a:p>
        </p:txBody>
      </p:sp>
      <p:sp>
        <p:nvSpPr>
          <p:cNvPr id="25" name="Text 22"/>
          <p:cNvSpPr txBox="1"/>
          <p:nvPr/>
        </p:nvSpPr>
        <p:spPr>
          <a:xfrm>
            <a:off x="10102291" y="3721608"/>
            <a:ext cx="1508760" cy="50292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الْمَلَابِسُ</a:t>
            </a:r>
            <a:endParaRPr lang="ar-SA" sz="1600" dirty="0"/>
          </a:p>
        </p:txBody>
      </p:sp>
      <p:sp>
        <p:nvSpPr>
          <p:cNvPr id="26" name="Text 23"/>
          <p:cNvSpPr txBox="1"/>
          <p:nvPr/>
        </p:nvSpPr>
        <p:spPr>
          <a:xfrm>
            <a:off x="8851392" y="3721608"/>
            <a:ext cx="1388059" cy="50292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the clothes</a:t>
            </a:r>
            <a:endParaRPr lang="en-US" sz="1050" dirty="0"/>
          </a:p>
        </p:txBody>
      </p:sp>
      <p:sp>
        <p:nvSpPr>
          <p:cNvPr id="27" name="Text 24"/>
          <p:cNvSpPr txBox="1"/>
          <p:nvPr/>
        </p:nvSpPr>
        <p:spPr>
          <a:xfrm>
            <a:off x="10102291" y="4224528"/>
            <a:ext cx="1508760" cy="50292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اشْتَرَيْتُ</a:t>
            </a:r>
            <a:endParaRPr lang="ar-SA" sz="1600" dirty="0"/>
          </a:p>
        </p:txBody>
      </p:sp>
      <p:sp>
        <p:nvSpPr>
          <p:cNvPr id="28" name="Text 25"/>
          <p:cNvSpPr txBox="1"/>
          <p:nvPr/>
        </p:nvSpPr>
        <p:spPr>
          <a:xfrm>
            <a:off x="8851392" y="4224528"/>
            <a:ext cx="1388059" cy="50292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I bought</a:t>
            </a:r>
            <a:endParaRPr lang="en-US" sz="1050" dirty="0"/>
          </a:p>
        </p:txBody>
      </p:sp>
      <p:sp>
        <p:nvSpPr>
          <p:cNvPr id="29" name="Text 26"/>
          <p:cNvSpPr txBox="1"/>
          <p:nvPr/>
        </p:nvSpPr>
        <p:spPr>
          <a:xfrm>
            <a:off x="10102291" y="4727448"/>
            <a:ext cx="1508760" cy="50292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لَسْتُ</a:t>
            </a:r>
            <a:endParaRPr lang="ar-SA" sz="1600" dirty="0"/>
          </a:p>
        </p:txBody>
      </p:sp>
      <p:sp>
        <p:nvSpPr>
          <p:cNvPr id="30" name="Text 27"/>
          <p:cNvSpPr txBox="1"/>
          <p:nvPr/>
        </p:nvSpPr>
        <p:spPr>
          <a:xfrm>
            <a:off x="8851392" y="4727448"/>
            <a:ext cx="1388059" cy="50292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I am not</a:t>
            </a:r>
            <a:endParaRPr lang="en-US" sz="1050" dirty="0"/>
          </a:p>
        </p:txBody>
      </p:sp>
      <p:sp>
        <p:nvSpPr>
          <p:cNvPr id="31" name="Text 28"/>
          <p:cNvSpPr txBox="1"/>
          <p:nvPr/>
        </p:nvSpPr>
        <p:spPr>
          <a:xfrm>
            <a:off x="10102291" y="5230368"/>
            <a:ext cx="1508760" cy="50292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عَنْهُ</a:t>
            </a:r>
            <a:endParaRPr lang="ar-SA" sz="1600" dirty="0"/>
          </a:p>
        </p:txBody>
      </p:sp>
      <p:sp>
        <p:nvSpPr>
          <p:cNvPr id="32" name="Text 29"/>
          <p:cNvSpPr txBox="1"/>
          <p:nvPr/>
        </p:nvSpPr>
        <p:spPr>
          <a:xfrm>
            <a:off x="8851392" y="5230368"/>
            <a:ext cx="1388059" cy="50292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with it</a:t>
            </a:r>
            <a:endParaRPr lang="en-US" sz="105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22 / 34</a:t>
            </a:r>
            <a:endParaRPr lang="en-US" sz="8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GM-ADJ-08 · Adjectives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READING QUESTIONS · FIND THE GRAMMAR</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Reading: notice the grammar</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أَسْئِلَةُ القِرَاءَةِ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Adjectives · GM-ADJ-08</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Why is the yāʾ hidden in the shop phrase?</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It is feminine.</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It is indefinite and nominative.</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It has al-.</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Why is the yāʾ visible in the clothes phrase?</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It is an object.</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It is plural people.</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It is feminine (and definite).</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Why is it </a:t>
            </a:r>
            <a:pPr algn="l" indent="0" marL="0">
              <a:buNone/>
            </a:pPr>
            <a:r>
              <a:rPr lang="ar-SA" altLang="en-US" sz="1650" b="1" dirty="0">
                <a:solidFill>
                  <a:srgbClr val="1B3B6F"/>
                </a:solidFill>
                <a:latin typeface="Amiri" pitchFamily="2" charset="-78"/>
                <a:ea typeface="Amiri" pitchFamily="2" charset="-78"/>
                <a:cs typeface="Amiri" pitchFamily="2" charset="-78"/>
              </a:rPr>
              <a:t>قَمِيصًا غَالِيًا</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It is the object of “I bought”.</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It is after a preposition.</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It is definite.</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Why is it </a:t>
            </a:r>
            <a:pPr algn="l" indent="0" marL="0">
              <a:buNone/>
            </a:pPr>
            <a:r>
              <a:rPr lang="ar-SA" altLang="en-US" sz="1650" b="1" dirty="0">
                <a:solidFill>
                  <a:srgbClr val="1B3B6F"/>
                </a:solidFill>
                <a:latin typeface="Amiri" pitchFamily="2" charset="-78"/>
                <a:ea typeface="Amiri" pitchFamily="2" charset="-78"/>
                <a:cs typeface="Amiri" pitchFamily="2" charset="-78"/>
              </a:rPr>
              <a:t>رَاضِيًا</a:t>
            </a:r>
            <a:pPr algn="l" indent="0" marL="0">
              <a:buNone/>
            </a:pPr>
            <a:r>
              <a:rPr lang="en-US" sz="1250" b="1" dirty="0">
                <a:solidFill>
                  <a:srgbClr val="1B3B6F"/>
                </a:solidFill>
                <a:latin typeface="Calibri" pitchFamily="34" charset="0"/>
                <a:cs typeface="Amiri" pitchFamily="2" charset="-78"/>
              </a:rPr>
              <a:t> after </a:t>
            </a:r>
            <a:pPr algn="l" indent="0" marL="0">
              <a:buNone/>
            </a:pPr>
            <a:r>
              <a:rPr lang="ar-SA" altLang="en-US" sz="1650" b="1" dirty="0">
                <a:solidFill>
                  <a:srgbClr val="1B3B6F"/>
                </a:solidFill>
                <a:latin typeface="Amiri" pitchFamily="2" charset="-78"/>
                <a:ea typeface="Amiri" pitchFamily="2" charset="-78"/>
                <a:cs typeface="Amiri" pitchFamily="2" charset="-78"/>
              </a:rPr>
              <a:t>لَسْتُ</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It is feminine.</a:t>
            </a:r>
            <a:endParaRPr lang="en-US" sz="12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Laysa makes its predicate accusative.</a:t>
            </a:r>
            <a:endParaRPr lang="en-US" sz="12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It is definite.</a:t>
            </a:r>
            <a:endParaRPr lang="en-US" sz="1250" dirty="0"/>
          </a:p>
        </p:txBody>
      </p:sp>
      <p:sp>
        <p:nvSpPr>
          <p:cNvPr id="67" name="Shape 64"/>
          <p:cNvSpPr/>
          <p:nvPr/>
        </p:nvSpPr>
        <p:spPr>
          <a:xfrm>
            <a:off x="4276344"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68" name="Text 65"/>
          <p:cNvSpPr txBox="1"/>
          <p:nvPr/>
        </p:nvSpPr>
        <p:spPr>
          <a:xfrm>
            <a:off x="4459224"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GRAMMAR DETECTIVE</a:t>
            </a:r>
            <a:endParaRPr lang="en-US" sz="1000" dirty="0"/>
          </a:p>
        </p:txBody>
      </p:sp>
      <p:sp>
        <p:nvSpPr>
          <p:cNvPr id="69" name="Text 66"/>
          <p:cNvSpPr txBox="1"/>
          <p:nvPr/>
        </p:nvSpPr>
        <p:spPr>
          <a:xfrm>
            <a:off x="4459224"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1. Read the question first.</a:t>
            </a:r>
            <a:endParaRPr lang="en-US" sz="1250" dirty="0"/>
          </a:p>
          <a:p>
            <a:pPr algn="l" indent="0" marL="0">
              <a:buNone/>
            </a:pPr>
            <a:r>
              <a:rPr lang="en-US" sz="1250" dirty="0">
                <a:solidFill>
                  <a:srgbClr val="1F2A37"/>
                </a:solidFill>
                <a:latin typeface="Calibri" pitchFamily="34" charset="0"/>
                <a:cs typeface="Amiri" pitchFamily="2" charset="-78"/>
              </a:rPr>
              <a:t>2. Find the phrase in the text.</a:t>
            </a:r>
            <a:endParaRPr lang="en-US" sz="1250" dirty="0"/>
          </a:p>
          <a:p>
            <a:pPr algn="l" indent="0" marL="0">
              <a:buNone/>
            </a:pPr>
            <a:r>
              <a:rPr lang="en-US" sz="1250" dirty="0">
                <a:solidFill>
                  <a:srgbClr val="1F2A37"/>
                </a:solidFill>
                <a:latin typeface="Calibri" pitchFamily="34" charset="0"/>
                <a:cs typeface="Amiri" pitchFamily="2" charset="-78"/>
              </a:rPr>
              <a:t>3. Name the rule that explains it.</a:t>
            </a:r>
            <a:endParaRPr lang="en-US" sz="1250" dirty="0"/>
          </a:p>
        </p:txBody>
      </p:sp>
      <p:sp>
        <p:nvSpPr>
          <p:cNvPr id="70" name="Text 6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23 / 34</a:t>
            </a:r>
            <a:endParaRPr lang="en-US" sz="8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GM-ADJ-08 · Adjectives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READING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Reading: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إِجَابَاتُ القِرَاءَةِ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Adjectives · GM-ADJ-08</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Why is the yāʾ hidden in the shop phrase?</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It is feminine.</a:t>
            </a:r>
            <a:endParaRPr lang="en-US" sz="125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It is indefinite and nominative.</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It has al-.</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kitābun ghālin pattern.</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Why is the yāʾ visible in the clothes phrase?</a:t>
            </a:r>
            <a:endParaRPr lang="en-US" sz="1250" dirty="0"/>
          </a:p>
        </p:txBody>
      </p:sp>
      <p:sp>
        <p:nvSpPr>
          <p:cNvPr id="34" name="Shape 31"/>
          <p:cNvSpPr/>
          <p:nvPr/>
        </p:nvSpPr>
        <p:spPr>
          <a:xfrm>
            <a:off x="4459224"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It is an object.</a:t>
            </a:r>
            <a:endParaRPr lang="en-US" sz="1250" dirty="0"/>
          </a:p>
        </p:txBody>
      </p:sp>
      <p:sp>
        <p:nvSpPr>
          <p:cNvPr id="37" name="Shape 34"/>
          <p:cNvSpPr/>
          <p:nvPr/>
        </p:nvSpPr>
        <p:spPr>
          <a:xfrm>
            <a:off x="4459224" y="2862072"/>
            <a:ext cx="256032" cy="256032"/>
          </a:xfrm>
          <a:prstGeom prst="ellipse">
            <a:avLst/>
          </a:prstGeom>
          <a:solidFill>
            <a:srgbClr val="C9CED6"/>
          </a:solidFill>
          <a:ln w="12700">
            <a:solidFill>
              <a:srgbClr val="C9CED6"/>
            </a:solidFill>
            <a:prstDash val="solid"/>
          </a:ln>
        </p:spPr>
      </p:sp>
      <p:sp>
        <p:nvSpPr>
          <p:cNvPr id="38" name="Text 35"/>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It is plural people.</a:t>
            </a:r>
            <a:endParaRPr lang="en-US" sz="1250" dirty="0"/>
          </a:p>
        </p:txBody>
      </p:sp>
      <p:sp>
        <p:nvSpPr>
          <p:cNvPr id="40" name="Shape 37"/>
          <p:cNvSpPr/>
          <p:nvPr/>
        </p:nvSpPr>
        <p:spPr>
          <a:xfrm>
            <a:off x="4367784" y="3197352"/>
            <a:ext cx="3453384"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4459224" y="3233928"/>
            <a:ext cx="256032" cy="256032"/>
          </a:xfrm>
          <a:prstGeom prst="ellipse">
            <a:avLst/>
          </a:prstGeom>
          <a:solidFill>
            <a:srgbClr val="2E8B57"/>
          </a:solidFill>
          <a:ln w="12700">
            <a:solidFill>
              <a:srgbClr val="2E8B57"/>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It is feminine (and definite).</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Feminine: yāʾ + </a:t>
            </a:r>
            <a:pPr algn="l" indent="0" marL="0">
              <a:buNone/>
            </a:pPr>
            <a:r>
              <a:rPr lang="ar-SA" altLang="en-US" sz="1350" dirty="0">
                <a:solidFill>
                  <a:srgbClr val="8A6D1E"/>
                </a:solidFill>
                <a:latin typeface="Amiri" pitchFamily="2" charset="-78"/>
                <a:ea typeface="Amiri" pitchFamily="2" charset="-78"/>
                <a:cs typeface="Amiri" pitchFamily="2" charset="-78"/>
              </a:rPr>
              <a:t>ة</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Why is it </a:t>
            </a:r>
            <a:pPr algn="l" indent="0" marL="0">
              <a:buNone/>
            </a:pPr>
            <a:r>
              <a:rPr lang="ar-SA" altLang="en-US" sz="1650" b="1" dirty="0">
                <a:solidFill>
                  <a:srgbClr val="1B3B6F"/>
                </a:solidFill>
                <a:latin typeface="Amiri" pitchFamily="2" charset="-78"/>
                <a:ea typeface="Amiri" pitchFamily="2" charset="-78"/>
                <a:cs typeface="Amiri" pitchFamily="2" charset="-78"/>
              </a:rPr>
              <a:t>قَمِيصًا غَالِيًا</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49" name="Shape 46"/>
          <p:cNvSpPr/>
          <p:nvPr/>
        </p:nvSpPr>
        <p:spPr>
          <a:xfrm>
            <a:off x="8186928" y="2453640"/>
            <a:ext cx="3453384" cy="347472"/>
          </a:xfrm>
          <a:prstGeom prst="roundRect">
            <a:avLst>
              <a:gd name="adj" fmla="val 15789"/>
            </a:avLst>
          </a:prstGeom>
          <a:solidFill>
            <a:srgbClr val="E6F4EC"/>
          </a:solidFill>
          <a:ln w="9525">
            <a:solidFill>
              <a:srgbClr val="2E8B57"/>
            </a:solidFill>
            <a:prstDash val="solid"/>
          </a:ln>
        </p:spPr>
      </p:sp>
      <p:sp>
        <p:nvSpPr>
          <p:cNvPr id="50" name="Shape 47"/>
          <p:cNvSpPr/>
          <p:nvPr/>
        </p:nvSpPr>
        <p:spPr>
          <a:xfrm>
            <a:off x="8278368" y="2490216"/>
            <a:ext cx="256032" cy="256032"/>
          </a:xfrm>
          <a:prstGeom prst="ellipse">
            <a:avLst/>
          </a:prstGeom>
          <a:solidFill>
            <a:srgbClr val="2E8B57"/>
          </a:solidFill>
          <a:ln w="12700">
            <a:solidFill>
              <a:srgbClr val="2E8B57"/>
            </a:solidFill>
            <a:prstDash val="solid"/>
          </a:ln>
        </p:spPr>
      </p:sp>
      <p:sp>
        <p:nvSpPr>
          <p:cNvPr id="51" name="Text 48"/>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52" name="Text 49"/>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It is the object of “I bought”.</a:t>
            </a:r>
            <a:endParaRPr lang="en-US" sz="1250" dirty="0"/>
          </a:p>
        </p:txBody>
      </p:sp>
      <p:sp>
        <p:nvSpPr>
          <p:cNvPr id="53" name="Shape 50"/>
          <p:cNvSpPr/>
          <p:nvPr/>
        </p:nvSpPr>
        <p:spPr>
          <a:xfrm>
            <a:off x="8278368" y="2862072"/>
            <a:ext cx="256032" cy="256032"/>
          </a:xfrm>
          <a:prstGeom prst="ellipse">
            <a:avLst/>
          </a:prstGeom>
          <a:solidFill>
            <a:srgbClr val="C9CED6"/>
          </a:solidFill>
          <a:ln w="12700">
            <a:solidFill>
              <a:srgbClr val="C9CED6"/>
            </a:solidFill>
            <a:prstDash val="solid"/>
          </a:ln>
        </p:spPr>
      </p:sp>
      <p:sp>
        <p:nvSpPr>
          <p:cNvPr id="54" name="Text 51"/>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5" name="Text 52"/>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It is after a preposition.</a:t>
            </a:r>
            <a:endParaRPr lang="en-US" sz="1250" dirty="0"/>
          </a:p>
        </p:txBody>
      </p:sp>
      <p:sp>
        <p:nvSpPr>
          <p:cNvPr id="56" name="Shape 53"/>
          <p:cNvSpPr/>
          <p:nvPr/>
        </p:nvSpPr>
        <p:spPr>
          <a:xfrm>
            <a:off x="8278368" y="323392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It is definite.</a:t>
            </a:r>
            <a:endParaRPr lang="en-US" sz="12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Accusative → yāʾ visible.</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Why is it </a:t>
            </a:r>
            <a:pPr algn="l" indent="0" marL="0">
              <a:buNone/>
            </a:pPr>
            <a:r>
              <a:rPr lang="ar-SA" altLang="en-US" sz="1650" b="1" dirty="0">
                <a:solidFill>
                  <a:srgbClr val="1B3B6F"/>
                </a:solidFill>
                <a:latin typeface="Amiri" pitchFamily="2" charset="-78"/>
                <a:ea typeface="Amiri" pitchFamily="2" charset="-78"/>
                <a:cs typeface="Amiri" pitchFamily="2" charset="-78"/>
              </a:rPr>
              <a:t>رَاضِيًا</a:t>
            </a:r>
            <a:pPr algn="l" indent="0" marL="0">
              <a:buNone/>
            </a:pPr>
            <a:r>
              <a:rPr lang="en-US" sz="1250" b="1" dirty="0">
                <a:solidFill>
                  <a:srgbClr val="1B3B6F"/>
                </a:solidFill>
                <a:latin typeface="Calibri" pitchFamily="34" charset="0"/>
                <a:cs typeface="Amiri" pitchFamily="2" charset="-78"/>
              </a:rPr>
              <a:t> after </a:t>
            </a:r>
            <a:pPr algn="l" indent="0" marL="0">
              <a:buNone/>
            </a:pPr>
            <a:r>
              <a:rPr lang="ar-SA" altLang="en-US" sz="1650" b="1" dirty="0">
                <a:solidFill>
                  <a:srgbClr val="1B3B6F"/>
                </a:solidFill>
                <a:latin typeface="Amiri" pitchFamily="2" charset="-78"/>
                <a:ea typeface="Amiri" pitchFamily="2" charset="-78"/>
                <a:cs typeface="Amiri" pitchFamily="2" charset="-78"/>
              </a:rPr>
              <a:t>لَسْتُ</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It is feminine.</a:t>
            </a:r>
            <a:endParaRPr lang="en-US" sz="1250" dirty="0"/>
          </a:p>
        </p:txBody>
      </p:sp>
      <p:sp>
        <p:nvSpPr>
          <p:cNvPr id="67" name="Shape 64"/>
          <p:cNvSpPr/>
          <p:nvPr/>
        </p:nvSpPr>
        <p:spPr>
          <a:xfrm>
            <a:off x="548640" y="5166360"/>
            <a:ext cx="3453384" cy="347472"/>
          </a:xfrm>
          <a:prstGeom prst="roundRect">
            <a:avLst>
              <a:gd name="adj" fmla="val 15789"/>
            </a:avLst>
          </a:prstGeom>
          <a:solidFill>
            <a:srgbClr val="E6F4EC"/>
          </a:solidFill>
          <a:ln w="9525">
            <a:solidFill>
              <a:srgbClr val="2E8B57"/>
            </a:solidFill>
            <a:prstDash val="solid"/>
          </a:ln>
        </p:spPr>
      </p:sp>
      <p:sp>
        <p:nvSpPr>
          <p:cNvPr id="68" name="Shape 65"/>
          <p:cNvSpPr/>
          <p:nvPr/>
        </p:nvSpPr>
        <p:spPr>
          <a:xfrm>
            <a:off x="640080" y="5202936"/>
            <a:ext cx="256032" cy="256032"/>
          </a:xfrm>
          <a:prstGeom prst="ellipse">
            <a:avLst/>
          </a:prstGeom>
          <a:solidFill>
            <a:srgbClr val="2E8B57"/>
          </a:solidFill>
          <a:ln w="12700">
            <a:solidFill>
              <a:srgbClr val="2E8B57"/>
            </a:solidFill>
            <a:prstDash val="solid"/>
          </a:ln>
        </p:spPr>
      </p:sp>
      <p:sp>
        <p:nvSpPr>
          <p:cNvPr id="69" name="Text 66"/>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70" name="Text 67"/>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Laysa makes its predicate accusative.</a:t>
            </a:r>
            <a:endParaRPr lang="en-US" sz="1250" dirty="0"/>
          </a:p>
        </p:txBody>
      </p:sp>
      <p:sp>
        <p:nvSpPr>
          <p:cNvPr id="71" name="Shape 68"/>
          <p:cNvSpPr/>
          <p:nvPr/>
        </p:nvSpPr>
        <p:spPr>
          <a:xfrm>
            <a:off x="640080"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It is definite.</a:t>
            </a:r>
            <a:endParaRPr lang="en-US" sz="125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Stretch: laysa + -an → yāʾ visible.</a:t>
            </a:r>
            <a:endParaRPr lang="en-US" sz="1050" dirty="0"/>
          </a:p>
        </p:txBody>
      </p:sp>
      <p:sp>
        <p:nvSpPr>
          <p:cNvPr id="75" name="Shape 72"/>
          <p:cNvSpPr/>
          <p:nvPr/>
        </p:nvSpPr>
        <p:spPr>
          <a:xfrm>
            <a:off x="4276344"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76" name="Text 73"/>
          <p:cNvSpPr txBox="1"/>
          <p:nvPr/>
        </p:nvSpPr>
        <p:spPr>
          <a:xfrm>
            <a:off x="4459224"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GRAMMAR DETECTIVE</a:t>
            </a:r>
            <a:endParaRPr lang="en-US" sz="1000" dirty="0"/>
          </a:p>
        </p:txBody>
      </p:sp>
      <p:sp>
        <p:nvSpPr>
          <p:cNvPr id="77" name="Text 74"/>
          <p:cNvSpPr txBox="1"/>
          <p:nvPr/>
        </p:nvSpPr>
        <p:spPr>
          <a:xfrm>
            <a:off x="4459224"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1. Read the question first.</a:t>
            </a:r>
            <a:endParaRPr lang="en-US" sz="1250" dirty="0"/>
          </a:p>
          <a:p>
            <a:pPr algn="l" indent="0" marL="0">
              <a:buNone/>
            </a:pPr>
            <a:r>
              <a:rPr lang="en-US" sz="1250" dirty="0">
                <a:solidFill>
                  <a:srgbClr val="1F2A37"/>
                </a:solidFill>
                <a:latin typeface="Calibri" pitchFamily="34" charset="0"/>
                <a:cs typeface="Amiri" pitchFamily="2" charset="-78"/>
              </a:rPr>
              <a:t>2. Find the phrase in the text.</a:t>
            </a:r>
            <a:endParaRPr lang="en-US" sz="1250" dirty="0"/>
          </a:p>
          <a:p>
            <a:pPr algn="l" indent="0" marL="0">
              <a:buNone/>
            </a:pPr>
            <a:r>
              <a:rPr lang="en-US" sz="1250" dirty="0">
                <a:solidFill>
                  <a:srgbClr val="1F2A37"/>
                </a:solidFill>
                <a:latin typeface="Calibri" pitchFamily="34" charset="0"/>
                <a:cs typeface="Amiri" pitchFamily="2" charset="-78"/>
              </a:rPr>
              <a:t>3. Name the rule that explains it.</a:t>
            </a:r>
            <a:endParaRPr lang="en-US" sz="1250" dirty="0"/>
          </a:p>
        </p:txBody>
      </p:sp>
      <p:sp>
        <p:nvSpPr>
          <p:cNvPr id="78" name="Text 7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24 / 34</a:t>
            </a:r>
            <a:endParaRPr lang="en-US" sz="8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GM-ADJ-08 · Adjectives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SAY IT BEFORE YOU WRITE IT</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Speaking: prices and opinions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التَّحَدُّثُ</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Adjectives · GM-ADJ-08</a:t>
            </a:r>
            <a:endParaRPr lang="en-US" sz="850" dirty="0"/>
          </a:p>
        </p:txBody>
      </p:sp>
      <p:sp>
        <p:nvSpPr>
          <p:cNvPr id="15" name="Shape 12"/>
          <p:cNvSpPr/>
          <p:nvPr/>
        </p:nvSpPr>
        <p:spPr>
          <a:xfrm>
            <a:off x="457200" y="1810512"/>
            <a:ext cx="2185416" cy="566928"/>
          </a:xfrm>
          <a:prstGeom prst="roundRect">
            <a:avLst>
              <a:gd name="adj" fmla="val 12903"/>
            </a:avLst>
          </a:prstGeom>
          <a:solidFill>
            <a:srgbClr val="EEF3FA"/>
          </a:solidFill>
          <a:ln w="9525">
            <a:solidFill>
              <a:srgbClr val="C9D6EA"/>
            </a:solidFill>
            <a:prstDash val="solid"/>
          </a:ln>
        </p:spPr>
      </p:sp>
      <p:sp>
        <p:nvSpPr>
          <p:cNvPr id="16" name="Text 13"/>
          <p:cNvSpPr txBox="1"/>
          <p:nvPr/>
        </p:nvSpPr>
        <p:spPr>
          <a:xfrm>
            <a:off x="512064"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17" name="Text 14"/>
          <p:cNvSpPr txBox="1"/>
          <p:nvPr/>
        </p:nvSpPr>
        <p:spPr>
          <a:xfrm>
            <a:off x="914400"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Think</a:t>
            </a:r>
            <a:endParaRPr lang="en-US" sz="1050" dirty="0"/>
          </a:p>
          <a:p>
            <a:pPr indent="0" marL="0">
              <a:buNone/>
            </a:pPr>
            <a:r>
              <a:rPr lang="en-US" sz="950" dirty="0">
                <a:solidFill>
                  <a:srgbClr val="5A6472"/>
                </a:solidFill>
                <a:latin typeface="Calibri" pitchFamily="34" charset="0"/>
                <a:cs typeface="Amiri" pitchFamily="2" charset="-78"/>
              </a:rPr>
              <a:t>10 seconds</a:t>
            </a:r>
            <a:endParaRPr lang="en-US" sz="1050" dirty="0"/>
          </a:p>
        </p:txBody>
      </p:sp>
      <p:sp>
        <p:nvSpPr>
          <p:cNvPr id="18" name="Shape 15"/>
          <p:cNvSpPr/>
          <p:nvPr/>
        </p:nvSpPr>
        <p:spPr>
          <a:xfrm>
            <a:off x="2729484" y="1810512"/>
            <a:ext cx="2185416" cy="566928"/>
          </a:xfrm>
          <a:prstGeom prst="roundRect">
            <a:avLst>
              <a:gd name="adj" fmla="val 12903"/>
            </a:avLst>
          </a:prstGeom>
          <a:solidFill>
            <a:srgbClr val="EEF3FA"/>
          </a:solidFill>
          <a:ln w="9525">
            <a:solidFill>
              <a:srgbClr val="C9D6EA"/>
            </a:solidFill>
            <a:prstDash val="solid"/>
          </a:ln>
        </p:spPr>
      </p:sp>
      <p:sp>
        <p:nvSpPr>
          <p:cNvPr id="19" name="Text 16"/>
          <p:cNvSpPr txBox="1"/>
          <p:nvPr/>
        </p:nvSpPr>
        <p:spPr>
          <a:xfrm>
            <a:off x="2784348"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0" name="Text 17"/>
          <p:cNvSpPr txBox="1"/>
          <p:nvPr/>
        </p:nvSpPr>
        <p:spPr>
          <a:xfrm>
            <a:off x="3186684"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Rehearse</a:t>
            </a:r>
            <a:endParaRPr lang="en-US" sz="1050" dirty="0"/>
          </a:p>
          <a:p>
            <a:pPr indent="0" marL="0">
              <a:buNone/>
            </a:pPr>
            <a:r>
              <a:rPr lang="en-US" sz="950" dirty="0">
                <a:solidFill>
                  <a:srgbClr val="5A6472"/>
                </a:solidFill>
                <a:latin typeface="Calibri" pitchFamily="34" charset="0"/>
                <a:cs typeface="Amiri" pitchFamily="2" charset="-78"/>
              </a:rPr>
              <a:t>muted · 45 s</a:t>
            </a:r>
            <a:endParaRPr lang="en-US" sz="1050" dirty="0"/>
          </a:p>
        </p:txBody>
      </p:sp>
      <p:sp>
        <p:nvSpPr>
          <p:cNvPr id="21" name="Shape 18"/>
          <p:cNvSpPr/>
          <p:nvPr/>
        </p:nvSpPr>
        <p:spPr>
          <a:xfrm>
            <a:off x="5001768" y="1810512"/>
            <a:ext cx="2185416" cy="566928"/>
          </a:xfrm>
          <a:prstGeom prst="roundRect">
            <a:avLst>
              <a:gd name="adj" fmla="val 12903"/>
            </a:avLst>
          </a:prstGeom>
          <a:solidFill>
            <a:srgbClr val="EEF3FA"/>
          </a:solidFill>
          <a:ln w="9525">
            <a:solidFill>
              <a:srgbClr val="C9D6EA"/>
            </a:solidFill>
            <a:prstDash val="solid"/>
          </a:ln>
        </p:spPr>
      </p:sp>
      <p:sp>
        <p:nvSpPr>
          <p:cNvPr id="22" name="Text 19"/>
          <p:cNvSpPr txBox="1"/>
          <p:nvPr/>
        </p:nvSpPr>
        <p:spPr>
          <a:xfrm>
            <a:off x="5056632"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3" name="Text 20"/>
          <p:cNvSpPr txBox="1"/>
          <p:nvPr/>
        </p:nvSpPr>
        <p:spPr>
          <a:xfrm>
            <a:off x="5458968"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Pairs share</a:t>
            </a:r>
            <a:endParaRPr lang="en-US" sz="1050" dirty="0"/>
          </a:p>
          <a:p>
            <a:pPr indent="0" marL="0">
              <a:buNone/>
            </a:pPr>
            <a:r>
              <a:rPr lang="en-US" sz="950" dirty="0">
                <a:solidFill>
                  <a:srgbClr val="5A6472"/>
                </a:solidFill>
                <a:latin typeface="Calibri" pitchFamily="34" charset="0"/>
                <a:cs typeface="Amiri" pitchFamily="2" charset="-78"/>
              </a:rPr>
              <a:t>open mic</a:t>
            </a:r>
            <a:endParaRPr lang="en-US" sz="1050" dirty="0"/>
          </a:p>
        </p:txBody>
      </p:sp>
      <p:sp>
        <p:nvSpPr>
          <p:cNvPr id="24" name="Shape 21"/>
          <p:cNvSpPr/>
          <p:nvPr/>
        </p:nvSpPr>
        <p:spPr>
          <a:xfrm>
            <a:off x="7274052" y="1810512"/>
            <a:ext cx="2185416" cy="566928"/>
          </a:xfrm>
          <a:prstGeom prst="roundRect">
            <a:avLst>
              <a:gd name="adj" fmla="val 12903"/>
            </a:avLst>
          </a:prstGeom>
          <a:solidFill>
            <a:srgbClr val="EEF3FA"/>
          </a:solidFill>
          <a:ln w="9525">
            <a:solidFill>
              <a:srgbClr val="C9D6EA"/>
            </a:solidFill>
            <a:prstDash val="solid"/>
          </a:ln>
        </p:spPr>
      </p:sp>
      <p:sp>
        <p:nvSpPr>
          <p:cNvPr id="25" name="Text 22"/>
          <p:cNvSpPr txBox="1"/>
          <p:nvPr/>
        </p:nvSpPr>
        <p:spPr>
          <a:xfrm>
            <a:off x="7328916"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 ?</a:t>
            </a:r>
            <a:endParaRPr lang="en-US" sz="1800" dirty="0"/>
          </a:p>
        </p:txBody>
      </p:sp>
      <p:sp>
        <p:nvSpPr>
          <p:cNvPr id="26" name="Text 23"/>
          <p:cNvSpPr txBox="1"/>
          <p:nvPr/>
        </p:nvSpPr>
        <p:spPr>
          <a:xfrm>
            <a:off x="7731252"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Build / ask</a:t>
            </a:r>
            <a:endParaRPr lang="en-US" sz="1050" dirty="0"/>
          </a:p>
          <a:p>
            <a:pPr indent="0" marL="0">
              <a:buNone/>
            </a:pPr>
            <a:r>
              <a:rPr lang="en-US" sz="950" dirty="0">
                <a:solidFill>
                  <a:srgbClr val="5A6472"/>
                </a:solidFill>
                <a:latin typeface="Calibri" pitchFamily="34" charset="0"/>
                <a:cs typeface="Amiri" pitchFamily="2" charset="-78"/>
              </a:rPr>
              <a:t>in the chat</a:t>
            </a:r>
            <a:endParaRPr lang="en-US" sz="1050" dirty="0"/>
          </a:p>
        </p:txBody>
      </p:sp>
      <p:sp>
        <p:nvSpPr>
          <p:cNvPr id="27" name="Shape 24"/>
          <p:cNvSpPr/>
          <p:nvPr/>
        </p:nvSpPr>
        <p:spPr>
          <a:xfrm>
            <a:off x="9546336" y="1810512"/>
            <a:ext cx="2185416" cy="566928"/>
          </a:xfrm>
          <a:prstGeom prst="roundRect">
            <a:avLst>
              <a:gd name="adj" fmla="val 12903"/>
            </a:avLst>
          </a:prstGeom>
          <a:solidFill>
            <a:srgbClr val="EEF3FA"/>
          </a:solidFill>
          <a:ln w="9525">
            <a:solidFill>
              <a:srgbClr val="C9D6EA"/>
            </a:solidFill>
            <a:prstDash val="solid"/>
          </a:ln>
        </p:spPr>
      </p:sp>
      <p:sp>
        <p:nvSpPr>
          <p:cNvPr id="28" name="Text 25"/>
          <p:cNvSpPr txBox="1"/>
          <p:nvPr/>
        </p:nvSpPr>
        <p:spPr>
          <a:xfrm>
            <a:off x="9601200"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9" name="Text 26"/>
          <p:cNvSpPr txBox="1"/>
          <p:nvPr/>
        </p:nvSpPr>
        <p:spPr>
          <a:xfrm>
            <a:off x="10003536"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Summarise</a:t>
            </a:r>
            <a:endParaRPr lang="en-US" sz="1050" dirty="0"/>
          </a:p>
          <a:p>
            <a:pPr indent="0" marL="0">
              <a:buNone/>
            </a:pPr>
            <a:r>
              <a:rPr lang="en-US" sz="950" dirty="0">
                <a:solidFill>
                  <a:srgbClr val="5A6472"/>
                </a:solidFill>
                <a:latin typeface="Calibri" pitchFamily="34" charset="0"/>
                <a:cs typeface="Amiri" pitchFamily="2" charset="-78"/>
              </a:rPr>
              <a:t>he / she …</a:t>
            </a:r>
            <a:endParaRPr lang="en-US" sz="1050" dirty="0"/>
          </a:p>
        </p:txBody>
      </p:sp>
      <p:sp>
        <p:nvSpPr>
          <p:cNvPr id="30" name="Shape 27"/>
          <p:cNvSpPr/>
          <p:nvPr/>
        </p:nvSpPr>
        <p:spPr>
          <a:xfrm>
            <a:off x="4754880" y="2487168"/>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846320" y="2642616"/>
            <a:ext cx="960120" cy="256032"/>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4846320" y="2642616"/>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3" name="Text 30"/>
          <p:cNvSpPr txBox="1"/>
          <p:nvPr/>
        </p:nvSpPr>
        <p:spPr>
          <a:xfrm>
            <a:off x="5897880" y="2487168"/>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مَا الشَّيْءُ الْغَالِي فِي بَيْتِكُمْ؟</a:t>
            </a:r>
            <a:endParaRPr lang="ar-SA" sz="1800" dirty="0"/>
          </a:p>
        </p:txBody>
      </p:sp>
      <p:sp>
        <p:nvSpPr>
          <p:cNvPr id="34" name="Shape 31"/>
          <p:cNvSpPr/>
          <p:nvPr/>
        </p:nvSpPr>
        <p:spPr>
          <a:xfrm>
            <a:off x="4754880" y="3108960"/>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5" name="Shape 32"/>
          <p:cNvSpPr/>
          <p:nvPr/>
        </p:nvSpPr>
        <p:spPr>
          <a:xfrm>
            <a:off x="4846320" y="3264408"/>
            <a:ext cx="960120" cy="256032"/>
          </a:xfrm>
          <a:prstGeom prst="roundRect">
            <a:avLst>
              <a:gd name="adj" fmla="val 50000"/>
            </a:avLst>
          </a:prstGeom>
          <a:solidFill>
            <a:srgbClr val="C9780A"/>
          </a:solidFill>
          <a:ln w="12700">
            <a:solidFill>
              <a:srgbClr val="C9780A"/>
            </a:solidFill>
            <a:prstDash val="solid"/>
          </a:ln>
        </p:spPr>
      </p:sp>
      <p:sp>
        <p:nvSpPr>
          <p:cNvPr id="36" name="Text 33"/>
          <p:cNvSpPr txBox="1"/>
          <p:nvPr/>
        </p:nvSpPr>
        <p:spPr>
          <a:xfrm>
            <a:off x="4846320" y="3264408"/>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7" name="Text 34"/>
          <p:cNvSpPr txBox="1"/>
          <p:nvPr/>
        </p:nvSpPr>
        <p:spPr>
          <a:xfrm>
            <a:off x="5897880" y="3108960"/>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مَاذَا اشْتَرَيْتَ فِي الشَّهْرِ الْمَاضِي؟ هَلْ كَانَ غَالِيًا؟</a:t>
            </a:r>
            <a:endParaRPr lang="ar-SA" sz="1800" dirty="0"/>
          </a:p>
        </p:txBody>
      </p:sp>
      <p:sp>
        <p:nvSpPr>
          <p:cNvPr id="38" name="Shape 35"/>
          <p:cNvSpPr/>
          <p:nvPr/>
        </p:nvSpPr>
        <p:spPr>
          <a:xfrm>
            <a:off x="4754880" y="3730752"/>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9" name="Shape 36"/>
          <p:cNvSpPr/>
          <p:nvPr/>
        </p:nvSpPr>
        <p:spPr>
          <a:xfrm>
            <a:off x="4846320" y="3886200"/>
            <a:ext cx="960120" cy="256032"/>
          </a:xfrm>
          <a:prstGeom prst="roundRect">
            <a:avLst>
              <a:gd name="adj" fmla="val 50000"/>
            </a:avLst>
          </a:prstGeom>
          <a:solidFill>
            <a:srgbClr val="B83227"/>
          </a:solidFill>
          <a:ln w="12700">
            <a:solidFill>
              <a:srgbClr val="B83227"/>
            </a:solidFill>
            <a:prstDash val="solid"/>
          </a:ln>
        </p:spPr>
      </p:sp>
      <p:sp>
        <p:nvSpPr>
          <p:cNvPr id="40" name="Text 37"/>
          <p:cNvSpPr txBox="1"/>
          <p:nvPr/>
        </p:nvSpPr>
        <p:spPr>
          <a:xfrm>
            <a:off x="4846320" y="3886200"/>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41" name="Text 38"/>
          <p:cNvSpPr txBox="1"/>
          <p:nvPr/>
        </p:nvSpPr>
        <p:spPr>
          <a:xfrm>
            <a:off x="5897880" y="3730752"/>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هَلْ أَنْتَ رَاضٍ عَنْ مُسْتَوَاكَ فِي الْعَرَبِيَّةِ؟ لِمَاذَا؟</a:t>
            </a:r>
            <a:endParaRPr lang="ar-SA" sz="1800" dirty="0"/>
          </a:p>
        </p:txBody>
      </p:sp>
      <p:sp>
        <p:nvSpPr>
          <p:cNvPr id="42" name="Shape 39"/>
          <p:cNvSpPr/>
          <p:nvPr/>
        </p:nvSpPr>
        <p:spPr>
          <a:xfrm>
            <a:off x="457200" y="2487168"/>
            <a:ext cx="4114800" cy="2651760"/>
          </a:xfrm>
          <a:prstGeom prst="roundRect">
            <a:avLst>
              <a:gd name="adj" fmla="val 2759"/>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640080" y="2542032"/>
            <a:ext cx="27432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SENTENCE STEMS</a:t>
            </a:r>
            <a:endParaRPr lang="en-US" sz="1000" dirty="0"/>
          </a:p>
        </p:txBody>
      </p:sp>
      <p:sp>
        <p:nvSpPr>
          <p:cNvPr id="44" name="Shape 41"/>
          <p:cNvSpPr/>
          <p:nvPr/>
        </p:nvSpPr>
        <p:spPr>
          <a:xfrm>
            <a:off x="640080" y="3008376"/>
            <a:ext cx="1051560" cy="256032"/>
          </a:xfrm>
          <a:prstGeom prst="roundRect">
            <a:avLst>
              <a:gd name="adj" fmla="val 50000"/>
            </a:avLst>
          </a:prstGeom>
          <a:solidFill>
            <a:srgbClr val="2E8B57"/>
          </a:solidFill>
          <a:ln w="12700">
            <a:solidFill>
              <a:srgbClr val="2E8B57"/>
            </a:solidFill>
            <a:prstDash val="solid"/>
          </a:ln>
        </p:spPr>
      </p:sp>
      <p:sp>
        <p:nvSpPr>
          <p:cNvPr id="45" name="Text 42"/>
          <p:cNvSpPr txBox="1"/>
          <p:nvPr/>
        </p:nvSpPr>
        <p:spPr>
          <a:xfrm>
            <a:off x="640080" y="3008376"/>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46" name="Text 43"/>
          <p:cNvSpPr txBox="1"/>
          <p:nvPr/>
        </p:nvSpPr>
        <p:spPr>
          <a:xfrm>
            <a:off x="1783080" y="2852928"/>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D5FBF"/>
                </a:solidFill>
                <a:latin typeface="Amiri" pitchFamily="2" charset="-78"/>
                <a:ea typeface="Amiri" pitchFamily="2" charset="-78"/>
                <a:cs typeface="Amiri" pitchFamily="2" charset="-78"/>
              </a:rPr>
              <a:t>الشَّيْءُ الْغَالِي فِي بَيْتِنَا ___ .</a:t>
            </a:r>
            <a:endParaRPr lang="ar-SA" sz="1600" dirty="0"/>
          </a:p>
        </p:txBody>
      </p:sp>
      <p:sp>
        <p:nvSpPr>
          <p:cNvPr id="47" name="Shape 44"/>
          <p:cNvSpPr/>
          <p:nvPr/>
        </p:nvSpPr>
        <p:spPr>
          <a:xfrm>
            <a:off x="640080" y="3566160"/>
            <a:ext cx="1051560" cy="256032"/>
          </a:xfrm>
          <a:prstGeom prst="roundRect">
            <a:avLst>
              <a:gd name="adj" fmla="val 50000"/>
            </a:avLst>
          </a:prstGeom>
          <a:solidFill>
            <a:srgbClr val="C9780A"/>
          </a:solidFill>
          <a:ln w="12700">
            <a:solidFill>
              <a:srgbClr val="C9780A"/>
            </a:solidFill>
            <a:prstDash val="solid"/>
          </a:ln>
        </p:spPr>
      </p:sp>
      <p:sp>
        <p:nvSpPr>
          <p:cNvPr id="48" name="Text 45"/>
          <p:cNvSpPr txBox="1"/>
          <p:nvPr/>
        </p:nvSpPr>
        <p:spPr>
          <a:xfrm>
            <a:off x="640080" y="3566160"/>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49" name="Text 46"/>
          <p:cNvSpPr txBox="1"/>
          <p:nvPr/>
        </p:nvSpPr>
        <p:spPr>
          <a:xfrm>
            <a:off x="1783080" y="3410712"/>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2" charset="-78"/>
                <a:ea typeface="Amiri" pitchFamily="2" charset="-78"/>
                <a:cs typeface="Amiri" pitchFamily="2" charset="-78"/>
              </a:rPr>
              <a:t>فِي الشَّهْرِ الْمَاضِي اشْتَرَيْتُ ___ غَالِيًا.</a:t>
            </a:r>
            <a:endParaRPr lang="ar-SA" sz="1600" dirty="0"/>
          </a:p>
        </p:txBody>
      </p:sp>
      <p:sp>
        <p:nvSpPr>
          <p:cNvPr id="50" name="Shape 47"/>
          <p:cNvSpPr/>
          <p:nvPr/>
        </p:nvSpPr>
        <p:spPr>
          <a:xfrm>
            <a:off x="640080" y="4123944"/>
            <a:ext cx="1051560" cy="256032"/>
          </a:xfrm>
          <a:prstGeom prst="roundRect">
            <a:avLst>
              <a:gd name="adj" fmla="val 50000"/>
            </a:avLst>
          </a:prstGeom>
          <a:solidFill>
            <a:srgbClr val="B83227"/>
          </a:solidFill>
          <a:ln w="12700">
            <a:solidFill>
              <a:srgbClr val="B83227"/>
            </a:solidFill>
            <a:prstDash val="solid"/>
          </a:ln>
        </p:spPr>
      </p:sp>
      <p:sp>
        <p:nvSpPr>
          <p:cNvPr id="51" name="Text 48"/>
          <p:cNvSpPr txBox="1"/>
          <p:nvPr/>
        </p:nvSpPr>
        <p:spPr>
          <a:xfrm>
            <a:off x="640080" y="4123944"/>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52" name="Text 49"/>
          <p:cNvSpPr txBox="1"/>
          <p:nvPr/>
        </p:nvSpPr>
        <p:spPr>
          <a:xfrm>
            <a:off x="1783080" y="3968496"/>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2" charset="-78"/>
                <a:ea typeface="Amiri" pitchFamily="2" charset="-78"/>
                <a:cs typeface="Amiri" pitchFamily="2" charset="-78"/>
              </a:rPr>
              <a:t>أَنَا رَاضٍ / رَاضِيَةٌ عَنْ ___ لِأَنَّ ___ .</a:t>
            </a:r>
            <a:endParaRPr lang="ar-SA" sz="1600" dirty="0"/>
          </a:p>
        </p:txBody>
      </p:sp>
      <p:sp>
        <p:nvSpPr>
          <p:cNvPr id="53" name="Shape 50"/>
          <p:cNvSpPr/>
          <p:nvPr/>
        </p:nvSpPr>
        <p:spPr>
          <a:xfrm>
            <a:off x="457200" y="5248656"/>
            <a:ext cx="11274552" cy="1060704"/>
          </a:xfrm>
          <a:prstGeom prst="roundRect">
            <a:avLst>
              <a:gd name="adj" fmla="val 6897"/>
            </a:avLst>
          </a:prstGeom>
          <a:solidFill>
            <a:srgbClr val="EAF3EF"/>
          </a:solidFill>
          <a:ln w="9525">
            <a:solidFill>
              <a:srgbClr val="A8CDB9"/>
            </a:solidFill>
            <a:prstDash val="solid"/>
          </a:ln>
          <a:effectLst>
            <a:outerShdw sx="100000" sy="100000" kx="0" ky="0" algn="bl" rotWithShape="0" blurRad="50800" dist="19050" dir="5400000">
              <a:srgbClr val="000000">
                <a:alpha val="10000"/>
              </a:srgbClr>
            </a:outerShdw>
          </a:effectLst>
        </p:spPr>
      </p:sp>
      <p:sp>
        <p:nvSpPr>
          <p:cNvPr id="54" name="Text 51"/>
          <p:cNvSpPr txBox="1"/>
          <p:nvPr/>
        </p:nvSpPr>
        <p:spPr>
          <a:xfrm>
            <a:off x="640080" y="5285232"/>
            <a:ext cx="2011680" cy="256032"/>
          </a:xfrm>
          <a:prstGeom prst="rect">
            <a:avLst/>
          </a:prstGeom>
          <a:noFill/>
          <a:ln/>
        </p:spPr>
        <p:txBody>
          <a:bodyPr wrap="square" lIns="0" tIns="0" rIns="0" bIns="0" rtlCol="0" anchor="ctr"/>
          <a:lstStyle/>
          <a:p>
            <a:pPr algn="l" indent="0" marL="0">
              <a:buNone/>
            </a:pPr>
            <a:r>
              <a:rPr lang="en-US" sz="950" b="1" spc="100" kern="0" dirty="0">
                <a:solidFill>
                  <a:srgbClr val="1E6B52"/>
                </a:solidFill>
                <a:latin typeface="Calibri" pitchFamily="34" charset="0"/>
                <a:cs typeface="Amiri" pitchFamily="2" charset="-78"/>
              </a:rPr>
              <a:t>MODEL (WEBSITE)</a:t>
            </a:r>
            <a:endParaRPr lang="en-US" sz="950" dirty="0"/>
          </a:p>
        </p:txBody>
      </p:sp>
      <p:sp>
        <p:nvSpPr>
          <p:cNvPr id="55" name="Shape 52"/>
          <p:cNvSpPr/>
          <p:nvPr/>
        </p:nvSpPr>
        <p:spPr>
          <a:xfrm>
            <a:off x="11274552" y="5559552"/>
            <a:ext cx="292608" cy="292608"/>
          </a:xfrm>
          <a:prstGeom prst="ellipse">
            <a:avLst/>
          </a:prstGeom>
          <a:solidFill>
            <a:srgbClr val="1E6B52"/>
          </a:solidFill>
          <a:ln w="12700">
            <a:solidFill>
              <a:srgbClr val="1E6B52"/>
            </a:solidFill>
            <a:prstDash val="solid"/>
          </a:ln>
        </p:spPr>
      </p:sp>
      <p:sp>
        <p:nvSpPr>
          <p:cNvPr id="56" name="Text 53"/>
          <p:cNvSpPr txBox="1"/>
          <p:nvPr/>
        </p:nvSpPr>
        <p:spPr>
          <a:xfrm>
            <a:off x="11274552" y="555955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A</a:t>
            </a:r>
            <a:endParaRPr lang="en-US" sz="1000" dirty="0"/>
          </a:p>
        </p:txBody>
      </p:sp>
      <p:sp>
        <p:nvSpPr>
          <p:cNvPr id="57" name="Text 54"/>
          <p:cNvSpPr txBox="1"/>
          <p:nvPr/>
        </p:nvSpPr>
        <p:spPr>
          <a:xfrm>
            <a:off x="2834640" y="552297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2" charset="-78"/>
                <a:ea typeface="Amiri" pitchFamily="2" charset="-78"/>
                <a:cs typeface="Amiri" pitchFamily="2" charset="-78"/>
              </a:rPr>
              <a:t>هَلْ أَنْتِ رَاضِيَةٌ عَنْ نَتِيجَتِكِ؟</a:t>
            </a:r>
            <a:endParaRPr lang="ar-SA" sz="1550" dirty="0"/>
          </a:p>
        </p:txBody>
      </p:sp>
      <p:sp>
        <p:nvSpPr>
          <p:cNvPr id="58" name="Text 55"/>
          <p:cNvSpPr txBox="1"/>
          <p:nvPr/>
        </p:nvSpPr>
        <p:spPr>
          <a:xfrm>
            <a:off x="640080" y="552297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cs typeface="Amiri" pitchFamily="2" charset="-78"/>
              </a:rPr>
              <a:t>Are you pleased with your result? (to a girl)</a:t>
            </a:r>
            <a:endParaRPr lang="en-US" sz="950" dirty="0"/>
          </a:p>
        </p:txBody>
      </p:sp>
      <p:sp>
        <p:nvSpPr>
          <p:cNvPr id="59" name="Shape 56"/>
          <p:cNvSpPr/>
          <p:nvPr/>
        </p:nvSpPr>
        <p:spPr>
          <a:xfrm>
            <a:off x="11274552" y="5925312"/>
            <a:ext cx="292608" cy="292608"/>
          </a:xfrm>
          <a:prstGeom prst="ellipse">
            <a:avLst/>
          </a:prstGeom>
          <a:solidFill>
            <a:srgbClr val="1E6B52"/>
          </a:solidFill>
          <a:ln w="12700">
            <a:solidFill>
              <a:srgbClr val="1E6B52"/>
            </a:solidFill>
            <a:prstDash val="solid"/>
          </a:ln>
        </p:spPr>
      </p:sp>
      <p:sp>
        <p:nvSpPr>
          <p:cNvPr id="60" name="Text 57"/>
          <p:cNvSpPr txBox="1"/>
          <p:nvPr/>
        </p:nvSpPr>
        <p:spPr>
          <a:xfrm>
            <a:off x="11274552" y="592531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B</a:t>
            </a:r>
            <a:endParaRPr lang="en-US" sz="1000" dirty="0"/>
          </a:p>
        </p:txBody>
      </p:sp>
      <p:sp>
        <p:nvSpPr>
          <p:cNvPr id="61" name="Text 58"/>
          <p:cNvSpPr txBox="1"/>
          <p:nvPr/>
        </p:nvSpPr>
        <p:spPr>
          <a:xfrm>
            <a:off x="2834640" y="588873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2" charset="-78"/>
                <a:ea typeface="Amiri" pitchFamily="2" charset="-78"/>
                <a:cs typeface="Amiri" pitchFamily="2" charset="-78"/>
              </a:rPr>
              <a:t>نَعَمْ، أَنَا رَاضِيَةٌ، لَكِنَّ أَبِي يُرِيدُ دَرَجَةً عَالِيَةً جِدًّا!</a:t>
            </a:r>
            <a:endParaRPr lang="ar-SA" sz="1550" dirty="0"/>
          </a:p>
        </p:txBody>
      </p:sp>
      <p:sp>
        <p:nvSpPr>
          <p:cNvPr id="62" name="Text 59"/>
          <p:cNvSpPr txBox="1"/>
          <p:nvPr/>
        </p:nvSpPr>
        <p:spPr>
          <a:xfrm>
            <a:off x="640080" y="588873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cs typeface="Amiri" pitchFamily="2" charset="-78"/>
              </a:rPr>
              <a:t>Yes, I am pleased, but my father wants a very high mark!</a:t>
            </a:r>
            <a:endParaRPr lang="en-US" sz="95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25 / 34</a:t>
            </a:r>
            <a:endParaRPr lang="en-US" sz="8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GM-ADJ-08 · Adjectives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9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INDEPENDENT PRACTICE · 9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Write: choose your route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Adjectives · GM-ADJ-08</a:t>
            </a:r>
            <a:endParaRPr lang="en-US" sz="850" dirty="0"/>
          </a:p>
        </p:txBody>
      </p:sp>
      <p:sp>
        <p:nvSpPr>
          <p:cNvPr id="15" name="Shape 12"/>
          <p:cNvSpPr/>
          <p:nvPr/>
        </p:nvSpPr>
        <p:spPr>
          <a:xfrm>
            <a:off x="457200" y="1810512"/>
            <a:ext cx="3639312" cy="4315968"/>
          </a:xfrm>
          <a:prstGeom prst="roundRect">
            <a:avLst>
              <a:gd name="adj" fmla="val 2010"/>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310896"/>
          </a:xfrm>
          <a:prstGeom prst="roundRect">
            <a:avLst>
              <a:gd name="adj" fmla="val 50000"/>
            </a:avLst>
          </a:prstGeom>
          <a:solidFill>
            <a:srgbClr val="2E8B57"/>
          </a:solidFill>
          <a:ln w="12700">
            <a:solidFill>
              <a:srgbClr val="2E8B57"/>
            </a:solidFill>
            <a:prstDash val="solid"/>
          </a:ln>
        </p:spPr>
      </p:sp>
      <p:sp>
        <p:nvSpPr>
          <p:cNvPr id="17" name="Text 14"/>
          <p:cNvSpPr txBox="1"/>
          <p:nvPr/>
        </p:nvSpPr>
        <p:spPr>
          <a:xfrm>
            <a:off x="640080"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CORE</a:t>
            </a:r>
            <a:endParaRPr lang="en-US" sz="1000" dirty="0"/>
          </a:p>
        </p:txBody>
      </p:sp>
      <p:sp>
        <p:nvSpPr>
          <p:cNvPr id="18" name="Text 15"/>
          <p:cNvSpPr txBox="1"/>
          <p:nvPr/>
        </p:nvSpPr>
        <p:spPr>
          <a:xfrm>
            <a:off x="2450592"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2E8B57"/>
                </a:solidFill>
                <a:latin typeface="Amiri" pitchFamily="2" charset="-78"/>
                <a:ea typeface="Amiri" pitchFamily="2" charset="-78"/>
                <a:cs typeface="Amiri" pitchFamily="2" charset="-78"/>
              </a:rPr>
              <a:t>الأَسَاسُ</a:t>
            </a:r>
            <a:endParaRPr lang="ar-SA" sz="1800" dirty="0"/>
          </a:p>
        </p:txBody>
      </p:sp>
      <p:sp>
        <p:nvSpPr>
          <p:cNvPr id="19" name="Text 16"/>
          <p:cNvSpPr txBox="1"/>
          <p:nvPr/>
        </p:nvSpPr>
        <p:spPr>
          <a:xfrm>
            <a:off x="640080" y="2377440"/>
            <a:ext cx="3273552" cy="457200"/>
          </a:xfrm>
          <a:prstGeom prst="rect">
            <a:avLst/>
          </a:prstGeom>
          <a:noFill/>
          <a:ln/>
        </p:spPr>
        <p:txBody>
          <a:bodyPr wrap="square" lIns="0" tIns="0" rIns="0" bIns="0" rtlCol="0" anchor="ctr"/>
          <a:lstStyle/>
          <a:p>
            <a:pPr algn="l" indent="0" marL="0">
              <a:buNone/>
            </a:pPr>
            <a:r>
              <a:rPr lang="en-US" sz="2200" b="1" dirty="0">
                <a:solidFill>
                  <a:srgbClr val="2E8B57"/>
                </a:solidFill>
                <a:latin typeface="Cambria" pitchFamily="34" charset="0"/>
                <a:cs typeface="Amiri" pitchFamily="2" charset="-78"/>
              </a:rPr>
              <a:t>6 sentences</a:t>
            </a:r>
            <a:endParaRPr lang="en-US" sz="2200" dirty="0"/>
          </a:p>
        </p:txBody>
      </p:sp>
      <p:sp>
        <p:nvSpPr>
          <p:cNvPr id="20" name="Text 17"/>
          <p:cNvSpPr txBox="1"/>
          <p:nvPr/>
        </p:nvSpPr>
        <p:spPr>
          <a:xfrm>
            <a:off x="640080"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Describe expensive and high things with ghālin / al-ghālī / ʿālin.</a:t>
            </a:r>
            <a:endParaRPr lang="en-US" sz="1400" dirty="0"/>
          </a:p>
        </p:txBody>
      </p:sp>
      <p:sp>
        <p:nvSpPr>
          <p:cNvPr id="21" name="Shape 18"/>
          <p:cNvSpPr/>
          <p:nvPr/>
        </p:nvSpPr>
        <p:spPr>
          <a:xfrm>
            <a:off x="640080" y="4160520"/>
            <a:ext cx="3273552" cy="1783080"/>
          </a:xfrm>
          <a:prstGeom prst="roundRect">
            <a:avLst>
              <a:gd name="adj" fmla="val 4103"/>
            </a:avLst>
          </a:prstGeom>
          <a:solidFill>
            <a:srgbClr val="FFFFFF"/>
          </a:solidFill>
          <a:ln w="9525">
            <a:solidFill>
              <a:srgbClr val="FFFFFF"/>
            </a:solidFill>
            <a:prstDash val="solid"/>
          </a:ln>
        </p:spPr>
      </p:sp>
      <p:sp>
        <p:nvSpPr>
          <p:cNvPr id="22" name="Text 19"/>
          <p:cNvSpPr txBox="1"/>
          <p:nvPr/>
        </p:nvSpPr>
        <p:spPr>
          <a:xfrm>
            <a:off x="731520" y="4224528"/>
            <a:ext cx="3090672" cy="1645920"/>
          </a:xfrm>
          <a:prstGeom prst="rect">
            <a:avLst/>
          </a:prstGeom>
          <a:noFill/>
          <a:ln/>
        </p:spPr>
        <p:txBody>
          <a:bodyPr wrap="square" lIns="0" tIns="0" rIns="0" bIns="0" rtlCol="0" anchor="t"/>
          <a:lstStyle/>
          <a:p>
            <a:pPr indent="0" marL="0">
              <a:buNone/>
            </a:pPr>
            <a:r>
              <a:rPr lang="en-US" sz="900" b="1" spc="200" kern="0" dirty="0">
                <a:solidFill>
                  <a:srgbClr val="2E8B57"/>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Indefinite → -in; with al- → -ī.</a:t>
            </a:r>
            <a:endParaRPr lang="en-US" sz="900" dirty="0"/>
          </a:p>
        </p:txBody>
      </p:sp>
      <p:sp>
        <p:nvSpPr>
          <p:cNvPr id="23" name="Shape 20"/>
          <p:cNvSpPr/>
          <p:nvPr/>
        </p:nvSpPr>
        <p:spPr>
          <a:xfrm>
            <a:off x="4279392" y="1810512"/>
            <a:ext cx="3639312" cy="4315968"/>
          </a:xfrm>
          <a:prstGeom prst="roundRect">
            <a:avLst>
              <a:gd name="adj" fmla="val 2010"/>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62272" y="1938528"/>
            <a:ext cx="1188720" cy="310896"/>
          </a:xfrm>
          <a:prstGeom prst="roundRect">
            <a:avLst>
              <a:gd name="adj" fmla="val 50000"/>
            </a:avLst>
          </a:prstGeom>
          <a:solidFill>
            <a:srgbClr val="C9780A"/>
          </a:solidFill>
          <a:ln w="12700">
            <a:solidFill>
              <a:srgbClr val="C9780A"/>
            </a:solidFill>
            <a:prstDash val="solid"/>
          </a:ln>
        </p:spPr>
      </p:sp>
      <p:sp>
        <p:nvSpPr>
          <p:cNvPr id="25" name="Text 22"/>
          <p:cNvSpPr txBox="1"/>
          <p:nvPr/>
        </p:nvSpPr>
        <p:spPr>
          <a:xfrm>
            <a:off x="4462272"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DEVELOP</a:t>
            </a:r>
            <a:endParaRPr lang="en-US" sz="1000" dirty="0"/>
          </a:p>
        </p:txBody>
      </p:sp>
      <p:sp>
        <p:nvSpPr>
          <p:cNvPr id="26" name="Text 23"/>
          <p:cNvSpPr txBox="1"/>
          <p:nvPr/>
        </p:nvSpPr>
        <p:spPr>
          <a:xfrm>
            <a:off x="6272784"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C9780A"/>
                </a:solidFill>
                <a:latin typeface="Amiri" pitchFamily="2" charset="-78"/>
                <a:ea typeface="Amiri" pitchFamily="2" charset="-78"/>
                <a:cs typeface="Amiri" pitchFamily="2" charset="-78"/>
              </a:rPr>
              <a:t>التَّطْوِيرُ</a:t>
            </a:r>
            <a:endParaRPr lang="ar-SA" sz="1800" dirty="0"/>
          </a:p>
        </p:txBody>
      </p:sp>
      <p:sp>
        <p:nvSpPr>
          <p:cNvPr id="27" name="Text 24"/>
          <p:cNvSpPr txBox="1"/>
          <p:nvPr/>
        </p:nvSpPr>
        <p:spPr>
          <a:xfrm>
            <a:off x="4462272" y="2377440"/>
            <a:ext cx="3273552" cy="457200"/>
          </a:xfrm>
          <a:prstGeom prst="rect">
            <a:avLst/>
          </a:prstGeom>
          <a:noFill/>
          <a:ln/>
        </p:spPr>
        <p:txBody>
          <a:bodyPr wrap="square" lIns="0" tIns="0" rIns="0" bIns="0" rtlCol="0" anchor="ctr"/>
          <a:lstStyle/>
          <a:p>
            <a:pPr algn="l" indent="0" marL="0">
              <a:buNone/>
            </a:pPr>
            <a:r>
              <a:rPr lang="en-US" sz="2200" b="1" dirty="0">
                <a:solidFill>
                  <a:srgbClr val="C9780A"/>
                </a:solidFill>
                <a:latin typeface="Cambria" pitchFamily="34" charset="0"/>
                <a:cs typeface="Amiri" pitchFamily="2" charset="-78"/>
              </a:rPr>
              <a:t>8 sentences</a:t>
            </a:r>
            <a:endParaRPr lang="en-US" sz="2200" dirty="0"/>
          </a:p>
        </p:txBody>
      </p:sp>
      <p:sp>
        <p:nvSpPr>
          <p:cNvPr id="28" name="Text 25"/>
          <p:cNvSpPr txBox="1"/>
          <p:nvPr/>
        </p:nvSpPr>
        <p:spPr>
          <a:xfrm>
            <a:off x="4462272"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Add objects (ghāliyan) and feminine nouns (ghāliya).</a:t>
            </a:r>
            <a:endParaRPr lang="en-US" sz="1400" dirty="0"/>
          </a:p>
        </p:txBody>
      </p:sp>
      <p:sp>
        <p:nvSpPr>
          <p:cNvPr id="29" name="Shape 26"/>
          <p:cNvSpPr/>
          <p:nvPr/>
        </p:nvSpPr>
        <p:spPr>
          <a:xfrm>
            <a:off x="4462272" y="4160520"/>
            <a:ext cx="3273552" cy="1783080"/>
          </a:xfrm>
          <a:prstGeom prst="roundRect">
            <a:avLst>
              <a:gd name="adj" fmla="val 4103"/>
            </a:avLst>
          </a:prstGeom>
          <a:solidFill>
            <a:srgbClr val="FFFFFF"/>
          </a:solidFill>
          <a:ln w="9525">
            <a:solidFill>
              <a:srgbClr val="FFFFFF"/>
            </a:solidFill>
            <a:prstDash val="solid"/>
          </a:ln>
        </p:spPr>
      </p:sp>
      <p:sp>
        <p:nvSpPr>
          <p:cNvPr id="30" name="Text 27"/>
          <p:cNvSpPr txBox="1"/>
          <p:nvPr/>
        </p:nvSpPr>
        <p:spPr>
          <a:xfrm>
            <a:off x="4553712" y="4224528"/>
            <a:ext cx="3090672" cy="1645920"/>
          </a:xfrm>
          <a:prstGeom prst="rect">
            <a:avLst/>
          </a:prstGeom>
          <a:noFill/>
          <a:ln/>
        </p:spPr>
        <p:txBody>
          <a:bodyPr wrap="square" lIns="0" tIns="0" rIns="0" bIns="0" rtlCol="0" anchor="t"/>
          <a:lstStyle/>
          <a:p>
            <a:pPr indent="0" marL="0">
              <a:buNone/>
            </a:pPr>
            <a:r>
              <a:rPr lang="en-US" sz="900" b="1" spc="200" kern="0" dirty="0">
                <a:solidFill>
                  <a:srgbClr val="C9780A"/>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Use the four-shape table.</a:t>
            </a:r>
            <a:endParaRPr lang="en-US" sz="900" dirty="0"/>
          </a:p>
        </p:txBody>
      </p:sp>
      <p:sp>
        <p:nvSpPr>
          <p:cNvPr id="31" name="Shape 28"/>
          <p:cNvSpPr/>
          <p:nvPr/>
        </p:nvSpPr>
        <p:spPr>
          <a:xfrm>
            <a:off x="8101584" y="1810512"/>
            <a:ext cx="3639312" cy="4315968"/>
          </a:xfrm>
          <a:prstGeom prst="roundRect">
            <a:avLst>
              <a:gd name="adj" fmla="val 2010"/>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8284464" y="1938528"/>
            <a:ext cx="1188720" cy="310896"/>
          </a:xfrm>
          <a:prstGeom prst="roundRect">
            <a:avLst>
              <a:gd name="adj" fmla="val 50000"/>
            </a:avLst>
          </a:prstGeom>
          <a:solidFill>
            <a:srgbClr val="B83227"/>
          </a:solidFill>
          <a:ln w="12700">
            <a:solidFill>
              <a:srgbClr val="B83227"/>
            </a:solidFill>
            <a:prstDash val="solid"/>
          </a:ln>
        </p:spPr>
      </p:sp>
      <p:sp>
        <p:nvSpPr>
          <p:cNvPr id="33" name="Text 30"/>
          <p:cNvSpPr txBox="1"/>
          <p:nvPr/>
        </p:nvSpPr>
        <p:spPr>
          <a:xfrm>
            <a:off x="8284464"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STRETCH</a:t>
            </a:r>
            <a:endParaRPr lang="en-US" sz="1000" dirty="0"/>
          </a:p>
        </p:txBody>
      </p:sp>
      <p:sp>
        <p:nvSpPr>
          <p:cNvPr id="34" name="Text 31"/>
          <p:cNvSpPr txBox="1"/>
          <p:nvPr/>
        </p:nvSpPr>
        <p:spPr>
          <a:xfrm>
            <a:off x="10094976"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التَّحَدِّي</a:t>
            </a:r>
            <a:endParaRPr lang="ar-SA" sz="1800" dirty="0"/>
          </a:p>
        </p:txBody>
      </p:sp>
      <p:sp>
        <p:nvSpPr>
          <p:cNvPr id="35" name="Text 32"/>
          <p:cNvSpPr txBox="1"/>
          <p:nvPr/>
        </p:nvSpPr>
        <p:spPr>
          <a:xfrm>
            <a:off x="8284464" y="2377440"/>
            <a:ext cx="3273552" cy="457200"/>
          </a:xfrm>
          <a:prstGeom prst="rect">
            <a:avLst/>
          </a:prstGeom>
          <a:noFill/>
          <a:ln/>
        </p:spPr>
        <p:txBody>
          <a:bodyPr wrap="square" lIns="0" tIns="0" rIns="0" bIns="0" rtlCol="0" anchor="ctr"/>
          <a:lstStyle/>
          <a:p>
            <a:pPr algn="l" indent="0" marL="0">
              <a:buNone/>
            </a:pPr>
            <a:r>
              <a:rPr lang="en-US" sz="2200" b="1" dirty="0">
                <a:solidFill>
                  <a:srgbClr val="B83227"/>
                </a:solidFill>
                <a:latin typeface="Cambria" pitchFamily="34" charset="0"/>
                <a:cs typeface="Amiri" pitchFamily="2" charset="-78"/>
              </a:rPr>
              <a:t>90–120 words</a:t>
            </a:r>
            <a:endParaRPr lang="en-US" sz="2200" dirty="0"/>
          </a:p>
        </p:txBody>
      </p:sp>
      <p:sp>
        <p:nvSpPr>
          <p:cNvPr id="36" name="Text 33"/>
          <p:cNvSpPr txBox="1"/>
          <p:nvPr/>
        </p:nvSpPr>
        <p:spPr>
          <a:xfrm>
            <a:off x="8284464"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Website task: a shopping trip last month, with māḍin / al-māḍī and rāḍin.</a:t>
            </a:r>
            <a:endParaRPr lang="en-US" sz="1400" dirty="0"/>
          </a:p>
        </p:txBody>
      </p:sp>
      <p:sp>
        <p:nvSpPr>
          <p:cNvPr id="37" name="Shape 34"/>
          <p:cNvSpPr/>
          <p:nvPr/>
        </p:nvSpPr>
        <p:spPr>
          <a:xfrm>
            <a:off x="8284464" y="4160520"/>
            <a:ext cx="3273552" cy="1783080"/>
          </a:xfrm>
          <a:prstGeom prst="roundRect">
            <a:avLst>
              <a:gd name="adj" fmla="val 4103"/>
            </a:avLst>
          </a:prstGeom>
          <a:solidFill>
            <a:srgbClr val="FFFFFF"/>
          </a:solidFill>
          <a:ln w="9525">
            <a:solidFill>
              <a:srgbClr val="FFFFFF"/>
            </a:solidFill>
            <a:prstDash val="solid"/>
          </a:ln>
        </p:spPr>
      </p:sp>
      <p:sp>
        <p:nvSpPr>
          <p:cNvPr id="38" name="Text 35"/>
          <p:cNvSpPr txBox="1"/>
          <p:nvPr/>
        </p:nvSpPr>
        <p:spPr>
          <a:xfrm>
            <a:off x="8375904" y="4224528"/>
            <a:ext cx="3090672" cy="1645920"/>
          </a:xfrm>
          <a:prstGeom prst="rect">
            <a:avLst/>
          </a:prstGeom>
          <a:noFill/>
          <a:ln/>
        </p:spPr>
        <p:txBody>
          <a:bodyPr wrap="square" lIns="0" tIns="0" rIns="0" bIns="0" rtlCol="0" anchor="t"/>
          <a:lstStyle/>
          <a:p>
            <a:pPr indent="0" marL="0">
              <a:buNone/>
            </a:pPr>
            <a:r>
              <a:rPr lang="en-US" sz="900" b="1" spc="200" kern="0" dirty="0">
                <a:solidFill>
                  <a:srgbClr val="B83227"/>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Am I satisfied? Was it expensive?</a:t>
            </a:r>
            <a:endParaRPr lang="en-US" sz="90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26 / 34</a:t>
            </a:r>
            <a:endParaRPr lang="en-US" sz="8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GM-ADJ-08 · Adjectives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SUPPORT · CORE AND DEVELOP FRAMES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Sentence frames and word bank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قَوَالِبُ الجُمَلِ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Adjectives · GM-ADJ-08</a:t>
            </a:r>
            <a:endParaRPr lang="en-US" sz="850" dirty="0"/>
          </a:p>
        </p:txBody>
      </p:sp>
      <p:sp>
        <p:nvSpPr>
          <p:cNvPr id="15" name="Shape 12"/>
          <p:cNvSpPr/>
          <p:nvPr/>
        </p:nvSpPr>
        <p:spPr>
          <a:xfrm>
            <a:off x="457200" y="1810512"/>
            <a:ext cx="5541264" cy="3566160"/>
          </a:xfrm>
          <a:prstGeom prst="roundRect">
            <a:avLst>
              <a:gd name="adj" fmla="val 2051"/>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94360" y="1901952"/>
            <a:ext cx="1051560" cy="274320"/>
          </a:xfrm>
          <a:prstGeom prst="roundRect">
            <a:avLst>
              <a:gd name="adj" fmla="val 50000"/>
            </a:avLst>
          </a:prstGeom>
          <a:solidFill>
            <a:srgbClr val="C9780A"/>
          </a:solidFill>
          <a:ln w="12700">
            <a:solidFill>
              <a:srgbClr val="C9780A"/>
            </a:solidFill>
            <a:prstDash val="solid"/>
          </a:ln>
        </p:spPr>
      </p:sp>
      <p:sp>
        <p:nvSpPr>
          <p:cNvPr id="17" name="Text 14"/>
          <p:cNvSpPr txBox="1"/>
          <p:nvPr/>
        </p:nvSpPr>
        <p:spPr>
          <a:xfrm>
            <a:off x="594360"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18" name="Text 15"/>
          <p:cNvSpPr txBox="1"/>
          <p:nvPr/>
        </p:nvSpPr>
        <p:spPr>
          <a:xfrm>
            <a:off x="2468880"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فِي الْأُسْبُوعِ ______ ______ .</a:t>
            </a:r>
            <a:endParaRPr lang="ar-SA" sz="1800" dirty="0"/>
          </a:p>
        </p:txBody>
      </p:sp>
      <p:sp>
        <p:nvSpPr>
          <p:cNvPr id="19" name="Text 16"/>
          <p:cNvSpPr txBox="1"/>
          <p:nvPr/>
        </p:nvSpPr>
        <p:spPr>
          <a:xfrm>
            <a:off x="594360"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Last week I …</a:t>
            </a:r>
            <a:endParaRPr lang="en-US" sz="1050" dirty="0"/>
          </a:p>
        </p:txBody>
      </p:sp>
      <p:sp>
        <p:nvSpPr>
          <p:cNvPr id="20" name="Text 17"/>
          <p:cNvSpPr txBox="1"/>
          <p:nvPr/>
        </p:nvSpPr>
        <p:spPr>
          <a:xfrm>
            <a:off x="2468880"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اشْتَرَيْتُ ______ غَالِيًا.</a:t>
            </a:r>
            <a:endParaRPr lang="ar-SA" sz="1800" dirty="0"/>
          </a:p>
        </p:txBody>
      </p:sp>
      <p:sp>
        <p:nvSpPr>
          <p:cNvPr id="21" name="Text 18"/>
          <p:cNvSpPr txBox="1"/>
          <p:nvPr/>
        </p:nvSpPr>
        <p:spPr>
          <a:xfrm>
            <a:off x="594360"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 bought an expensive …</a:t>
            </a:r>
            <a:endParaRPr lang="en-US" sz="1050" dirty="0"/>
          </a:p>
        </p:txBody>
      </p:sp>
      <p:sp>
        <p:nvSpPr>
          <p:cNvPr id="22" name="Text 19"/>
          <p:cNvSpPr txBox="1"/>
          <p:nvPr/>
        </p:nvSpPr>
        <p:spPr>
          <a:xfrm>
            <a:off x="2468880"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أَنَا رَاضٍ عَنْ ______ .</a:t>
            </a:r>
            <a:endParaRPr lang="ar-SA" sz="1800" dirty="0"/>
          </a:p>
        </p:txBody>
      </p:sp>
      <p:sp>
        <p:nvSpPr>
          <p:cNvPr id="23" name="Text 20"/>
          <p:cNvSpPr txBox="1"/>
          <p:nvPr/>
        </p:nvSpPr>
        <p:spPr>
          <a:xfrm>
            <a:off x="594360"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 am satisfied with …</a:t>
            </a:r>
            <a:endParaRPr lang="en-US" sz="1050" dirty="0"/>
          </a:p>
        </p:txBody>
      </p:sp>
      <p:sp>
        <p:nvSpPr>
          <p:cNvPr id="24" name="Text 21"/>
          <p:cNvSpPr txBox="1"/>
          <p:nvPr/>
        </p:nvSpPr>
        <p:spPr>
          <a:xfrm>
            <a:off x="2468880"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أُمِّي رَاضِيَةٌ عَنْ ______ .</a:t>
            </a:r>
            <a:endParaRPr lang="ar-SA" sz="1800" dirty="0"/>
          </a:p>
        </p:txBody>
      </p:sp>
      <p:sp>
        <p:nvSpPr>
          <p:cNvPr id="25" name="Text 22"/>
          <p:cNvSpPr txBox="1"/>
          <p:nvPr/>
        </p:nvSpPr>
        <p:spPr>
          <a:xfrm>
            <a:off x="594360"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My mother is satisfied with …</a:t>
            </a:r>
            <a:endParaRPr lang="en-US" sz="1050" dirty="0"/>
          </a:p>
        </p:txBody>
      </p:sp>
      <p:sp>
        <p:nvSpPr>
          <p:cNvPr id="26" name="Shape 23"/>
          <p:cNvSpPr/>
          <p:nvPr/>
        </p:nvSpPr>
        <p:spPr>
          <a:xfrm>
            <a:off x="6190488" y="1810512"/>
            <a:ext cx="5541264" cy="3566160"/>
          </a:xfrm>
          <a:prstGeom prst="roundRect">
            <a:avLst>
              <a:gd name="adj" fmla="val 2051"/>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27" name="Shape 24"/>
          <p:cNvSpPr/>
          <p:nvPr/>
        </p:nvSpPr>
        <p:spPr>
          <a:xfrm>
            <a:off x="10543032" y="1901952"/>
            <a:ext cx="1051560" cy="274320"/>
          </a:xfrm>
          <a:prstGeom prst="roundRect">
            <a:avLst>
              <a:gd name="adj" fmla="val 50000"/>
            </a:avLst>
          </a:prstGeom>
          <a:solidFill>
            <a:srgbClr val="2E8B57"/>
          </a:solidFill>
          <a:ln w="12700">
            <a:solidFill>
              <a:srgbClr val="2E8B57"/>
            </a:solidFill>
            <a:prstDash val="solid"/>
          </a:ln>
        </p:spPr>
      </p:sp>
      <p:sp>
        <p:nvSpPr>
          <p:cNvPr id="28" name="Text 25"/>
          <p:cNvSpPr txBox="1"/>
          <p:nvPr/>
        </p:nvSpPr>
        <p:spPr>
          <a:xfrm>
            <a:off x="10543032"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29" name="Text 26"/>
          <p:cNvSpPr txBox="1"/>
          <p:nvPr/>
        </p:nvSpPr>
        <p:spPr>
          <a:xfrm>
            <a:off x="8202168"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هَذَا هَاتِفٌ ______ .</a:t>
            </a:r>
            <a:endParaRPr lang="ar-SA" sz="1800" dirty="0"/>
          </a:p>
        </p:txBody>
      </p:sp>
      <p:sp>
        <p:nvSpPr>
          <p:cNvPr id="30" name="Text 27"/>
          <p:cNvSpPr txBox="1"/>
          <p:nvPr/>
        </p:nvSpPr>
        <p:spPr>
          <a:xfrm>
            <a:off x="6327648"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This is an expensive phone.</a:t>
            </a:r>
            <a:endParaRPr lang="en-US" sz="1050" dirty="0"/>
          </a:p>
        </p:txBody>
      </p:sp>
      <p:sp>
        <p:nvSpPr>
          <p:cNvPr id="31" name="Text 28"/>
          <p:cNvSpPr txBox="1"/>
          <p:nvPr/>
        </p:nvSpPr>
        <p:spPr>
          <a:xfrm>
            <a:off x="8202168"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الْهَاتِفُ ______ جَمِيلٌ.</a:t>
            </a:r>
            <a:endParaRPr lang="ar-SA" sz="1800" dirty="0"/>
          </a:p>
        </p:txBody>
      </p:sp>
      <p:sp>
        <p:nvSpPr>
          <p:cNvPr id="32" name="Text 29"/>
          <p:cNvSpPr txBox="1"/>
          <p:nvPr/>
        </p:nvSpPr>
        <p:spPr>
          <a:xfrm>
            <a:off x="6327648"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The expensive phone is …</a:t>
            </a:r>
            <a:endParaRPr lang="en-US" sz="1050" dirty="0"/>
          </a:p>
        </p:txBody>
      </p:sp>
      <p:sp>
        <p:nvSpPr>
          <p:cNvPr id="33" name="Text 30"/>
          <p:cNvSpPr txBox="1"/>
          <p:nvPr/>
        </p:nvSpPr>
        <p:spPr>
          <a:xfrm>
            <a:off x="8202168"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هَذِهِ حَقِيبَةٌ ______ .</a:t>
            </a:r>
            <a:endParaRPr lang="ar-SA" sz="1800" dirty="0"/>
          </a:p>
        </p:txBody>
      </p:sp>
      <p:sp>
        <p:nvSpPr>
          <p:cNvPr id="34" name="Text 31"/>
          <p:cNvSpPr txBox="1"/>
          <p:nvPr/>
        </p:nvSpPr>
        <p:spPr>
          <a:xfrm>
            <a:off x="6327648"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This is an expensive bag.</a:t>
            </a:r>
            <a:endParaRPr lang="en-US" sz="1050" dirty="0"/>
          </a:p>
        </p:txBody>
      </p:sp>
      <p:sp>
        <p:nvSpPr>
          <p:cNvPr id="35" name="Text 32"/>
          <p:cNvSpPr txBox="1"/>
          <p:nvPr/>
        </p:nvSpPr>
        <p:spPr>
          <a:xfrm>
            <a:off x="8202168"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ذَلِكَ جَبَلٌ ______ .</a:t>
            </a:r>
            <a:endParaRPr lang="ar-SA" sz="1800" dirty="0"/>
          </a:p>
        </p:txBody>
      </p:sp>
      <p:sp>
        <p:nvSpPr>
          <p:cNvPr id="36" name="Text 33"/>
          <p:cNvSpPr txBox="1"/>
          <p:nvPr/>
        </p:nvSpPr>
        <p:spPr>
          <a:xfrm>
            <a:off x="6327648"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That is a high mountain.</a:t>
            </a:r>
            <a:endParaRPr lang="en-US" sz="1050" dirty="0"/>
          </a:p>
        </p:txBody>
      </p:sp>
      <p:sp>
        <p:nvSpPr>
          <p:cNvPr id="37" name="Shape 34"/>
          <p:cNvSpPr/>
          <p:nvPr/>
        </p:nvSpPr>
        <p:spPr>
          <a:xfrm>
            <a:off x="457200" y="5504688"/>
            <a:ext cx="11274552" cy="804672"/>
          </a:xfrm>
          <a:prstGeom prst="roundRect">
            <a:avLst>
              <a:gd name="adj" fmla="val 909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8" name="Text 35"/>
          <p:cNvSpPr txBox="1"/>
          <p:nvPr/>
        </p:nvSpPr>
        <p:spPr>
          <a:xfrm>
            <a:off x="640080" y="5541264"/>
            <a:ext cx="18288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WORD BANK</a:t>
            </a:r>
            <a:endParaRPr lang="en-US" sz="950" dirty="0"/>
          </a:p>
        </p:txBody>
      </p:sp>
      <p:sp>
        <p:nvSpPr>
          <p:cNvPr id="39" name="Text 36"/>
          <p:cNvSpPr txBox="1"/>
          <p:nvPr/>
        </p:nvSpPr>
        <p:spPr>
          <a:xfrm>
            <a:off x="640080" y="5760720"/>
            <a:ext cx="10908792" cy="512064"/>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غَالٍ  ·  الْغَالِي  ·  غَالِيًا  ·  غَالِيَةٌ  ·  عَالٍ  ·  الْعَالِي  ·  عَالِيَةٌ  ·  رَاضٍ  ·  رَاضِيَةٌ  ·  الْمَاضِي  ·  الْمَاضِيَةِ  ·  رَخِيصٌ</a:t>
            </a:r>
            <a:endParaRPr lang="ar-SA" sz="1600" dirty="0"/>
          </a:p>
        </p:txBody>
      </p:sp>
      <p:sp>
        <p:nvSpPr>
          <p:cNvPr id="40" name="Text 3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27 / 34</a:t>
            </a:r>
            <a:endParaRPr lang="en-US" sz="8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GM-ADJ-08 · Adjectives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STRETCH · THE WEBSITE WRITING TASK</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Stretch: the full writing task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مُهِمَّةُ التَّحَدِّي</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Adjectives · GM-ADJ-08</a:t>
            </a:r>
            <a:endParaRPr lang="en-US" sz="850" dirty="0"/>
          </a:p>
        </p:txBody>
      </p:sp>
      <p:sp>
        <p:nvSpPr>
          <p:cNvPr id="15" name="Shape 12"/>
          <p:cNvSpPr/>
          <p:nvPr/>
        </p:nvSpPr>
        <p:spPr>
          <a:xfrm>
            <a:off x="457200" y="1810512"/>
            <a:ext cx="5577840" cy="4498848"/>
          </a:xfrm>
          <a:prstGeom prst="roundRect">
            <a:avLst>
              <a:gd name="adj" fmla="val 1626"/>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292608"/>
          </a:xfrm>
          <a:prstGeom prst="roundRect">
            <a:avLst>
              <a:gd name="adj" fmla="val 50000"/>
            </a:avLst>
          </a:prstGeom>
          <a:solidFill>
            <a:srgbClr val="B83227"/>
          </a:solidFill>
          <a:ln w="12700">
            <a:solidFill>
              <a:srgbClr val="B83227"/>
            </a:solidFill>
            <a:prstDash val="solid"/>
          </a:ln>
        </p:spPr>
      </p:sp>
      <p:sp>
        <p:nvSpPr>
          <p:cNvPr id="17" name="Text 14"/>
          <p:cNvSpPr txBox="1"/>
          <p:nvPr/>
        </p:nvSpPr>
        <p:spPr>
          <a:xfrm>
            <a:off x="640080" y="1938528"/>
            <a:ext cx="118872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STRETCH</a:t>
            </a:r>
            <a:endParaRPr lang="en-US" sz="950" dirty="0"/>
          </a:p>
        </p:txBody>
      </p:sp>
      <p:sp>
        <p:nvSpPr>
          <p:cNvPr id="18" name="Text 15"/>
          <p:cNvSpPr txBox="1"/>
          <p:nvPr/>
        </p:nvSpPr>
        <p:spPr>
          <a:xfrm>
            <a:off x="640080" y="2331720"/>
            <a:ext cx="5212080" cy="914400"/>
          </a:xfrm>
          <a:prstGeom prst="rect">
            <a:avLst/>
          </a:prstGeom>
          <a:noFill/>
          <a:ln/>
        </p:spPr>
        <p:txBody>
          <a:bodyPr wrap="square" lIns="0" tIns="0" rIns="0" bIns="0" rtlCol="0" anchor="ctr"/>
          <a:lstStyle/>
          <a:p>
            <a:pPr algn="l" indent="0" marL="0">
              <a:buNone/>
            </a:pPr>
            <a:r>
              <a:rPr lang="en-US" sz="1350" b="1" dirty="0">
                <a:solidFill>
                  <a:srgbClr val="1F2A37"/>
                </a:solidFill>
                <a:latin typeface="Calibri" pitchFamily="34" charset="0"/>
                <a:cs typeface="Amiri" pitchFamily="2" charset="-78"/>
              </a:rPr>
              <a:t>Website extended writing workshop: 90–120 words about a shopping trip or a special purchase, with at least eight target adjective structures.</a:t>
            </a:r>
            <a:endParaRPr lang="en-US" sz="1350" dirty="0"/>
          </a:p>
        </p:txBody>
      </p:sp>
      <p:sp>
        <p:nvSpPr>
          <p:cNvPr id="19" name="Text 16"/>
          <p:cNvSpPr txBox="1"/>
          <p:nvPr/>
        </p:nvSpPr>
        <p:spPr>
          <a:xfrm>
            <a:off x="685800" y="3310128"/>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Two indefinite defective adjectives with hidden yāʾ (-in).</a:t>
            </a:r>
            <a:endParaRPr lang="en-US" sz="1200" dirty="0"/>
          </a:p>
        </p:txBody>
      </p:sp>
      <p:sp>
        <p:nvSpPr>
          <p:cNvPr id="20" name="Text 17"/>
          <p:cNvSpPr txBox="1"/>
          <p:nvPr/>
        </p:nvSpPr>
        <p:spPr>
          <a:xfrm>
            <a:off x="685800" y="3840480"/>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Two definite forms with -ī.</a:t>
            </a:r>
            <a:endParaRPr lang="en-US" sz="1200" dirty="0"/>
          </a:p>
        </p:txBody>
      </p:sp>
      <p:sp>
        <p:nvSpPr>
          <p:cNvPr id="21" name="Text 18"/>
          <p:cNvSpPr txBox="1"/>
          <p:nvPr/>
        </p:nvSpPr>
        <p:spPr>
          <a:xfrm>
            <a:off x="685800" y="4370832"/>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One indefinite object with -iyan.</a:t>
            </a:r>
            <a:endParaRPr lang="en-US" sz="1200" dirty="0"/>
          </a:p>
        </p:txBody>
      </p:sp>
      <p:sp>
        <p:nvSpPr>
          <p:cNvPr id="22" name="Text 19"/>
          <p:cNvSpPr txBox="1"/>
          <p:nvPr/>
        </p:nvSpPr>
        <p:spPr>
          <a:xfrm>
            <a:off x="685800" y="4901184"/>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Two feminine forms with -iya.</a:t>
            </a:r>
            <a:endParaRPr lang="en-US" sz="1200" dirty="0"/>
          </a:p>
        </p:txBody>
      </p:sp>
      <p:sp>
        <p:nvSpPr>
          <p:cNvPr id="23" name="Text 20"/>
          <p:cNvSpPr txBox="1"/>
          <p:nvPr/>
        </p:nvSpPr>
        <p:spPr>
          <a:xfrm>
            <a:off x="685800" y="5431536"/>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Last week / last month with al-māḍī / al-māḍiya.</a:t>
            </a:r>
            <a:endParaRPr lang="en-US" sz="1200" dirty="0"/>
          </a:p>
        </p:txBody>
      </p:sp>
      <p:sp>
        <p:nvSpPr>
          <p:cNvPr id="24" name="Shape 21"/>
          <p:cNvSpPr/>
          <p:nvPr/>
        </p:nvSpPr>
        <p:spPr>
          <a:xfrm>
            <a:off x="6217920" y="1810512"/>
            <a:ext cx="551383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5" name="Text 22"/>
          <p:cNvSpPr txBox="1"/>
          <p:nvPr/>
        </p:nvSpPr>
        <p:spPr>
          <a:xfrm>
            <a:off x="6400800" y="1901952"/>
            <a:ext cx="5120640" cy="274320"/>
          </a:xfrm>
          <a:prstGeom prst="rect">
            <a:avLst/>
          </a:prstGeom>
          <a:noFill/>
          <a:ln/>
        </p:spPr>
        <p:txBody>
          <a:bodyPr wrap="square" lIns="0" tIns="0" rIns="0" bIns="0" rtlCol="0" anchor="ctr"/>
          <a:lstStyle/>
          <a:p>
            <a:pPr algn="l" indent="0" marL="0">
              <a:buNone/>
            </a:pPr>
            <a:r>
              <a:rPr lang="en-US" sz="950" b="1" spc="100" kern="0" dirty="0">
                <a:solidFill>
                  <a:srgbClr val="8A6D1E"/>
                </a:solidFill>
                <a:latin typeface="Calibri" pitchFamily="34" charset="0"/>
                <a:cs typeface="Amiri" pitchFamily="2" charset="-78"/>
              </a:rPr>
              <a:t>PHRASE BANK — USEFUL FOR THIS TASK</a:t>
            </a:r>
            <a:endParaRPr lang="en-US" sz="950" dirty="0"/>
          </a:p>
        </p:txBody>
      </p:sp>
      <p:sp>
        <p:nvSpPr>
          <p:cNvPr id="26" name="Text 23"/>
          <p:cNvSpPr txBox="1"/>
          <p:nvPr/>
        </p:nvSpPr>
        <p:spPr>
          <a:xfrm>
            <a:off x="8412480" y="2231136"/>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فِي الشَّهْرِ الْمَاضِي</a:t>
            </a:r>
            <a:endParaRPr lang="ar-SA" sz="1800" dirty="0"/>
          </a:p>
        </p:txBody>
      </p:sp>
      <p:sp>
        <p:nvSpPr>
          <p:cNvPr id="27" name="Text 24"/>
          <p:cNvSpPr txBox="1"/>
          <p:nvPr/>
        </p:nvSpPr>
        <p:spPr>
          <a:xfrm>
            <a:off x="6400800" y="2560320"/>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last month</a:t>
            </a:r>
            <a:endParaRPr lang="en-US" sz="1050" dirty="0"/>
          </a:p>
        </p:txBody>
      </p:sp>
      <p:sp>
        <p:nvSpPr>
          <p:cNvPr id="28" name="Text 25"/>
          <p:cNvSpPr txBox="1"/>
          <p:nvPr/>
        </p:nvSpPr>
        <p:spPr>
          <a:xfrm>
            <a:off x="8412480" y="2889504"/>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فِي السَّنَةِ الْمَاضِيَةِ</a:t>
            </a:r>
            <a:endParaRPr lang="ar-SA" sz="1800" dirty="0"/>
          </a:p>
        </p:txBody>
      </p:sp>
      <p:sp>
        <p:nvSpPr>
          <p:cNvPr id="29" name="Text 26"/>
          <p:cNvSpPr txBox="1"/>
          <p:nvPr/>
        </p:nvSpPr>
        <p:spPr>
          <a:xfrm>
            <a:off x="6400800" y="3218688"/>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last year</a:t>
            </a:r>
            <a:endParaRPr lang="en-US" sz="1050" dirty="0"/>
          </a:p>
        </p:txBody>
      </p:sp>
      <p:sp>
        <p:nvSpPr>
          <p:cNvPr id="30" name="Text 27"/>
          <p:cNvSpPr txBox="1"/>
          <p:nvPr/>
        </p:nvSpPr>
        <p:spPr>
          <a:xfrm>
            <a:off x="8412480" y="3547872"/>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كَانَ الثَّمَنُ غَالِيًا</a:t>
            </a:r>
            <a:endParaRPr lang="ar-SA" sz="1800" dirty="0"/>
          </a:p>
        </p:txBody>
      </p:sp>
      <p:sp>
        <p:nvSpPr>
          <p:cNvPr id="31" name="Text 28"/>
          <p:cNvSpPr txBox="1"/>
          <p:nvPr/>
        </p:nvSpPr>
        <p:spPr>
          <a:xfrm>
            <a:off x="6400800" y="3877056"/>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the price was expensive</a:t>
            </a:r>
            <a:endParaRPr lang="en-US" sz="1050" dirty="0"/>
          </a:p>
        </p:txBody>
      </p:sp>
      <p:sp>
        <p:nvSpPr>
          <p:cNvPr id="32" name="Text 29"/>
          <p:cNvSpPr txBox="1"/>
          <p:nvPr/>
        </p:nvSpPr>
        <p:spPr>
          <a:xfrm>
            <a:off x="8412480" y="4206240"/>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أَنَا رَاضٍ عَنْ …</a:t>
            </a:r>
            <a:endParaRPr lang="ar-SA" sz="1800" dirty="0"/>
          </a:p>
        </p:txBody>
      </p:sp>
      <p:sp>
        <p:nvSpPr>
          <p:cNvPr id="33" name="Text 30"/>
          <p:cNvSpPr txBox="1"/>
          <p:nvPr/>
        </p:nvSpPr>
        <p:spPr>
          <a:xfrm>
            <a:off x="6400800" y="4535424"/>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I am satisfied with …</a:t>
            </a:r>
            <a:endParaRPr lang="en-US" sz="1050" dirty="0"/>
          </a:p>
        </p:txBody>
      </p:sp>
      <p:sp>
        <p:nvSpPr>
          <p:cNvPr id="34" name="Text 31"/>
          <p:cNvSpPr txBox="1"/>
          <p:nvPr/>
        </p:nvSpPr>
        <p:spPr>
          <a:xfrm>
            <a:off x="8412480" y="4864608"/>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بِصَوْتٍ عَالٍ</a:t>
            </a:r>
            <a:endParaRPr lang="ar-SA" sz="1800" dirty="0"/>
          </a:p>
        </p:txBody>
      </p:sp>
      <p:sp>
        <p:nvSpPr>
          <p:cNvPr id="35" name="Text 32"/>
          <p:cNvSpPr txBox="1"/>
          <p:nvPr/>
        </p:nvSpPr>
        <p:spPr>
          <a:xfrm>
            <a:off x="6400800" y="5193792"/>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in a loud voice</a:t>
            </a:r>
            <a:endParaRPr lang="en-US" sz="1050" dirty="0"/>
          </a:p>
        </p:txBody>
      </p:sp>
      <p:sp>
        <p:nvSpPr>
          <p:cNvPr id="36" name="Text 33"/>
          <p:cNvSpPr txBox="1"/>
          <p:nvPr/>
        </p:nvSpPr>
        <p:spPr>
          <a:xfrm>
            <a:off x="8412480" y="5522976"/>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الْوَقْتُ الْبَاقِي</a:t>
            </a:r>
            <a:endParaRPr lang="ar-SA" sz="1800" dirty="0"/>
          </a:p>
        </p:txBody>
      </p:sp>
      <p:sp>
        <p:nvSpPr>
          <p:cNvPr id="37" name="Text 34"/>
          <p:cNvSpPr txBox="1"/>
          <p:nvPr/>
        </p:nvSpPr>
        <p:spPr>
          <a:xfrm>
            <a:off x="6400800" y="5852160"/>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the remaining time</a:t>
            </a:r>
            <a:endParaRPr lang="en-US" sz="1050" dirty="0"/>
          </a:p>
        </p:txBody>
      </p:sp>
      <p:sp>
        <p:nvSpPr>
          <p:cNvPr id="38" name="Text 3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28 / 34</a:t>
            </a:r>
            <a:endParaRPr lang="en-US" sz="8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GM-ADJ-08 · Adjectives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COMPARE WITH THE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What a strong answer looks like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Adjectives · GM-ADJ-08</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2600" dirty="0">
                <a:solidFill>
                  <a:srgbClr val="1F2A37"/>
                </a:solidFill>
                <a:latin typeface="Amiri" pitchFamily="2" charset="-78"/>
                <a:ea typeface="Amiri" pitchFamily="2" charset="-78"/>
                <a:cs typeface="Amiri" pitchFamily="2" charset="-78"/>
              </a:rPr>
              <a:t>فِي الشَّهْرِ الْمَاضِي ذَهَبْتُ مَعَ أُمِّي إِلَى مَرْكَزِ تَسَوُّقٍ كَبِيرٍ. كُلُّ شَيْءٍ هُنَاكَ غَالٍ! رَأَيْتُ حِذَاءً رِيَاضِيًّا غَالِيًا جِدًّا، وَحَقِيبَةً غَالِيَةً لِأُخْتِي. فِي النِّهَايَةِ اشْتَرَيْتُ الْقَمِيصَ الْأَرْخَصَ، لَا الْقَمِيصَ الْغَالِي. أُمِّي كَانَتْ رَاضِيَةً، وَأَنَا رَاضٍ أَيْضًا.</a:t>
            </a:r>
            <a:endParaRPr lang="ar-SA" sz="260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cs typeface="Amiri" pitchFamily="2" charset="-78"/>
              </a:rPr>
              <a:t>Last month I went with my mother to a big shopping centre. Everything there is expensive! I saw some very expensive trainers and an expensive bag for my sister. In the end I bought the cheaper shirt, not the expensive shirt. My mother was pleased, and I am pleased too.</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hidden yāʾ (-in)</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visible -ī</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-iyan object</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feminine -iya</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29 / 34</a:t>
            </a:r>
            <a:endParaRPr lang="en-US" sz="85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GM-ADJ-08 · Adjectives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SUCCESS CRITERIA</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Check your work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قَيِّمْ عَمَلَكَ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Adjectives · GM-ADJ-08</a:t>
            </a:r>
            <a:endParaRPr lang="en-US" sz="850" dirty="0"/>
          </a:p>
        </p:txBody>
      </p:sp>
      <p:sp>
        <p:nvSpPr>
          <p:cNvPr id="15" name="Shape 12"/>
          <p:cNvSpPr/>
          <p:nvPr/>
        </p:nvSpPr>
        <p:spPr>
          <a:xfrm>
            <a:off x="457200" y="181051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85800" y="2086661"/>
            <a:ext cx="219456" cy="219456"/>
          </a:xfrm>
          <a:prstGeom prst="rect">
            <a:avLst/>
          </a:prstGeom>
          <a:solidFill>
            <a:srgbClr val="FFFFFF"/>
          </a:solidFill>
          <a:ln w="19050">
            <a:solidFill>
              <a:srgbClr val="2E8B57"/>
            </a:solidFill>
            <a:prstDash val="solid"/>
          </a:ln>
        </p:spPr>
      </p:sp>
      <p:sp>
        <p:nvSpPr>
          <p:cNvPr id="17" name="Text 14"/>
          <p:cNvSpPr txBox="1"/>
          <p:nvPr/>
        </p:nvSpPr>
        <p:spPr>
          <a:xfrm>
            <a:off x="1097280" y="181051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Indefinite subject / after a preposition: -in, no yāʾ.</a:t>
            </a:r>
            <a:endParaRPr lang="en-US" sz="1300" dirty="0"/>
          </a:p>
        </p:txBody>
      </p:sp>
      <p:sp>
        <p:nvSpPr>
          <p:cNvPr id="18" name="Shape 15"/>
          <p:cNvSpPr/>
          <p:nvPr/>
        </p:nvSpPr>
        <p:spPr>
          <a:xfrm>
            <a:off x="6583680" y="2068373"/>
            <a:ext cx="109728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6583680" y="2068373"/>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Shape 17"/>
          <p:cNvSpPr/>
          <p:nvPr/>
        </p:nvSpPr>
        <p:spPr>
          <a:xfrm>
            <a:off x="457200" y="271028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685800" y="2986430"/>
            <a:ext cx="219456" cy="219456"/>
          </a:xfrm>
          <a:prstGeom prst="rect">
            <a:avLst/>
          </a:prstGeom>
          <a:solidFill>
            <a:srgbClr val="FFFFFF"/>
          </a:solidFill>
          <a:ln w="19050">
            <a:solidFill>
              <a:srgbClr val="2E8B57"/>
            </a:solidFill>
            <a:prstDash val="solid"/>
          </a:ln>
        </p:spPr>
      </p:sp>
      <p:sp>
        <p:nvSpPr>
          <p:cNvPr id="22" name="Text 19"/>
          <p:cNvSpPr txBox="1"/>
          <p:nvPr/>
        </p:nvSpPr>
        <p:spPr>
          <a:xfrm>
            <a:off x="1097280" y="271028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With al-: the yāʾ is written.</a:t>
            </a:r>
            <a:endParaRPr lang="en-US" sz="1300" dirty="0"/>
          </a:p>
        </p:txBody>
      </p:sp>
      <p:sp>
        <p:nvSpPr>
          <p:cNvPr id="23" name="Shape 20"/>
          <p:cNvSpPr/>
          <p:nvPr/>
        </p:nvSpPr>
        <p:spPr>
          <a:xfrm>
            <a:off x="6583680" y="2968142"/>
            <a:ext cx="1097280" cy="256032"/>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6583680" y="296814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5" name="Shape 22"/>
          <p:cNvSpPr/>
          <p:nvPr/>
        </p:nvSpPr>
        <p:spPr>
          <a:xfrm>
            <a:off x="457200" y="361005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685800" y="3886200"/>
            <a:ext cx="219456" cy="219456"/>
          </a:xfrm>
          <a:prstGeom prst="rect">
            <a:avLst/>
          </a:prstGeom>
          <a:solidFill>
            <a:srgbClr val="FFFFFF"/>
          </a:solidFill>
          <a:ln w="19050">
            <a:solidFill>
              <a:srgbClr val="C9780A"/>
            </a:solidFill>
            <a:prstDash val="solid"/>
          </a:ln>
        </p:spPr>
      </p:sp>
      <p:sp>
        <p:nvSpPr>
          <p:cNvPr id="27" name="Text 24"/>
          <p:cNvSpPr txBox="1"/>
          <p:nvPr/>
        </p:nvSpPr>
        <p:spPr>
          <a:xfrm>
            <a:off x="1097280" y="361005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Indefinite object: -iyan.</a:t>
            </a:r>
            <a:endParaRPr lang="en-US" sz="1300" dirty="0"/>
          </a:p>
        </p:txBody>
      </p:sp>
      <p:sp>
        <p:nvSpPr>
          <p:cNvPr id="28" name="Shape 25"/>
          <p:cNvSpPr/>
          <p:nvPr/>
        </p:nvSpPr>
        <p:spPr>
          <a:xfrm>
            <a:off x="6583680" y="3867912"/>
            <a:ext cx="1097280" cy="256032"/>
          </a:xfrm>
          <a:prstGeom prst="roundRect">
            <a:avLst>
              <a:gd name="adj" fmla="val 50000"/>
            </a:avLst>
          </a:prstGeom>
          <a:solidFill>
            <a:srgbClr val="C9780A"/>
          </a:solidFill>
          <a:ln w="12700">
            <a:solidFill>
              <a:srgbClr val="C9780A"/>
            </a:solidFill>
            <a:prstDash val="solid"/>
          </a:ln>
        </p:spPr>
      </p:sp>
      <p:sp>
        <p:nvSpPr>
          <p:cNvPr id="29" name="Text 26"/>
          <p:cNvSpPr txBox="1"/>
          <p:nvPr/>
        </p:nvSpPr>
        <p:spPr>
          <a:xfrm>
            <a:off x="6583680" y="386791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0" name="Shape 27"/>
          <p:cNvSpPr/>
          <p:nvPr/>
        </p:nvSpPr>
        <p:spPr>
          <a:xfrm>
            <a:off x="457200" y="450982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85800" y="4785970"/>
            <a:ext cx="219456" cy="219456"/>
          </a:xfrm>
          <a:prstGeom prst="rect">
            <a:avLst/>
          </a:prstGeom>
          <a:solidFill>
            <a:srgbClr val="FFFFFF"/>
          </a:solidFill>
          <a:ln w="19050">
            <a:solidFill>
              <a:srgbClr val="C9780A"/>
            </a:solidFill>
            <a:prstDash val="solid"/>
          </a:ln>
        </p:spPr>
      </p:sp>
      <p:sp>
        <p:nvSpPr>
          <p:cNvPr id="32" name="Text 29"/>
          <p:cNvSpPr txBox="1"/>
          <p:nvPr/>
        </p:nvSpPr>
        <p:spPr>
          <a:xfrm>
            <a:off x="1097280" y="450982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Feminine: -iya with tāʾ marbūṭa.</a:t>
            </a:r>
            <a:endParaRPr lang="en-US" sz="1300" dirty="0"/>
          </a:p>
        </p:txBody>
      </p:sp>
      <p:sp>
        <p:nvSpPr>
          <p:cNvPr id="33" name="Shape 30"/>
          <p:cNvSpPr/>
          <p:nvPr/>
        </p:nvSpPr>
        <p:spPr>
          <a:xfrm>
            <a:off x="6583680" y="4767682"/>
            <a:ext cx="1097280" cy="256032"/>
          </a:xfrm>
          <a:prstGeom prst="roundRect">
            <a:avLst>
              <a:gd name="adj" fmla="val 50000"/>
            </a:avLst>
          </a:prstGeom>
          <a:solidFill>
            <a:srgbClr val="C9780A"/>
          </a:solidFill>
          <a:ln w="12700">
            <a:solidFill>
              <a:srgbClr val="C9780A"/>
            </a:solidFill>
            <a:prstDash val="solid"/>
          </a:ln>
        </p:spPr>
      </p:sp>
      <p:sp>
        <p:nvSpPr>
          <p:cNvPr id="34" name="Text 31"/>
          <p:cNvSpPr txBox="1"/>
          <p:nvPr/>
        </p:nvSpPr>
        <p:spPr>
          <a:xfrm>
            <a:off x="6583680" y="476768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5" name="Shape 32"/>
          <p:cNvSpPr/>
          <p:nvPr/>
        </p:nvSpPr>
        <p:spPr>
          <a:xfrm>
            <a:off x="457200" y="5409590"/>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685800" y="5685739"/>
            <a:ext cx="219456" cy="219456"/>
          </a:xfrm>
          <a:prstGeom prst="rect">
            <a:avLst/>
          </a:prstGeom>
          <a:solidFill>
            <a:srgbClr val="FFFFFF"/>
          </a:solidFill>
          <a:ln w="19050">
            <a:solidFill>
              <a:srgbClr val="B83227"/>
            </a:solidFill>
            <a:prstDash val="solid"/>
          </a:ln>
        </p:spPr>
      </p:sp>
      <p:sp>
        <p:nvSpPr>
          <p:cNvPr id="37" name="Text 34"/>
          <p:cNvSpPr txBox="1"/>
          <p:nvPr/>
        </p:nvSpPr>
        <p:spPr>
          <a:xfrm>
            <a:off x="1097280" y="5409590"/>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used al-māḍī or a noun like an-nādī.</a:t>
            </a:r>
            <a:endParaRPr lang="en-US" sz="1300" dirty="0"/>
          </a:p>
        </p:txBody>
      </p:sp>
      <p:sp>
        <p:nvSpPr>
          <p:cNvPr id="38" name="Shape 35"/>
          <p:cNvSpPr/>
          <p:nvPr/>
        </p:nvSpPr>
        <p:spPr>
          <a:xfrm>
            <a:off x="6583680" y="5667451"/>
            <a:ext cx="1097280" cy="256032"/>
          </a:xfrm>
          <a:prstGeom prst="roundRect">
            <a:avLst>
              <a:gd name="adj" fmla="val 50000"/>
            </a:avLst>
          </a:prstGeom>
          <a:solidFill>
            <a:srgbClr val="B83227"/>
          </a:solidFill>
          <a:ln w="12700">
            <a:solidFill>
              <a:srgbClr val="B83227"/>
            </a:solidFill>
            <a:prstDash val="solid"/>
          </a:ln>
        </p:spPr>
      </p:sp>
      <p:sp>
        <p:nvSpPr>
          <p:cNvPr id="39" name="Text 36"/>
          <p:cNvSpPr txBox="1"/>
          <p:nvPr/>
        </p:nvSpPr>
        <p:spPr>
          <a:xfrm>
            <a:off x="6583680" y="5667451"/>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40" name="Shape 37"/>
          <p:cNvSpPr/>
          <p:nvPr/>
        </p:nvSpPr>
        <p:spPr>
          <a:xfrm>
            <a:off x="8092440" y="1810512"/>
            <a:ext cx="3639312" cy="2084832"/>
          </a:xfrm>
          <a:prstGeom prst="roundRect">
            <a:avLst>
              <a:gd name="adj" fmla="val 3509"/>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1" name="Text 38"/>
          <p:cNvSpPr txBox="1"/>
          <p:nvPr/>
        </p:nvSpPr>
        <p:spPr>
          <a:xfrm>
            <a:off x="8275320" y="1920240"/>
            <a:ext cx="3273552" cy="1828800"/>
          </a:xfrm>
          <a:prstGeom prst="rect">
            <a:avLst/>
          </a:prstGeom>
          <a:noFill/>
          <a:ln/>
        </p:spPr>
        <p:txBody>
          <a:bodyPr wrap="square" lIns="0" tIns="0" rIns="0" bIns="0" rtlCol="0" anchor="ctr"/>
          <a:lstStyle/>
          <a:p>
            <a:pPr indent="0" marL="0">
              <a:buNone/>
            </a:pPr>
            <a:r>
              <a:rPr lang="en-US" sz="1800" b="1" dirty="0">
                <a:solidFill>
                  <a:srgbClr val="2E8B57"/>
                </a:solidFill>
                <a:latin typeface="Calibri" pitchFamily="34" charset="0"/>
                <a:cs typeface="Amiri" pitchFamily="2" charset="-78"/>
              </a:rPr>
              <a:t>WWW</a:t>
            </a:r>
            <a:endParaRPr lang="en-US" sz="1800" dirty="0"/>
          </a:p>
          <a:p>
            <a:pPr indent="0" marL="0">
              <a:buNone/>
            </a:pPr>
            <a:r>
              <a:rPr lang="en-US" sz="1200" dirty="0">
                <a:solidFill>
                  <a:srgbClr val="1F2A37"/>
                </a:solidFill>
                <a:latin typeface="Calibri" pitchFamily="34" charset="0"/>
                <a:cs typeface="Amiri" pitchFamily="2" charset="-78"/>
              </a:rPr>
              <a:t>What went well? One thing you did accurately.</a:t>
            </a:r>
            <a:endParaRPr lang="en-US" sz="1800" dirty="0"/>
          </a:p>
        </p:txBody>
      </p:sp>
      <p:sp>
        <p:nvSpPr>
          <p:cNvPr id="42" name="Shape 39"/>
          <p:cNvSpPr/>
          <p:nvPr/>
        </p:nvSpPr>
        <p:spPr>
          <a:xfrm>
            <a:off x="8092440" y="4041648"/>
            <a:ext cx="3639312" cy="2084832"/>
          </a:xfrm>
          <a:prstGeom prst="roundRect">
            <a:avLst>
              <a:gd name="adj" fmla="val 3509"/>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8275320" y="4151376"/>
            <a:ext cx="3273552" cy="1828800"/>
          </a:xfrm>
          <a:prstGeom prst="rect">
            <a:avLst/>
          </a:prstGeom>
          <a:noFill/>
          <a:ln/>
        </p:spPr>
        <p:txBody>
          <a:bodyPr wrap="square" lIns="0" tIns="0" rIns="0" bIns="0" rtlCol="0" anchor="ctr"/>
          <a:lstStyle/>
          <a:p>
            <a:pPr indent="0" marL="0">
              <a:buNone/>
            </a:pPr>
            <a:r>
              <a:rPr lang="en-US" sz="1800" b="1" dirty="0">
                <a:solidFill>
                  <a:srgbClr val="C9780A"/>
                </a:solidFill>
                <a:latin typeface="Calibri" pitchFamily="34" charset="0"/>
                <a:cs typeface="Amiri" pitchFamily="2" charset="-78"/>
              </a:rPr>
              <a:t>EBI</a:t>
            </a:r>
            <a:endParaRPr lang="en-US" sz="1800" dirty="0"/>
          </a:p>
          <a:p>
            <a:pPr indent="0" marL="0">
              <a:buNone/>
            </a:pPr>
            <a:r>
              <a:rPr lang="en-US" sz="1200" dirty="0">
                <a:solidFill>
                  <a:srgbClr val="1F2A37"/>
                </a:solidFill>
                <a:latin typeface="Calibri" pitchFamily="34" charset="0"/>
                <a:cs typeface="Amiri" pitchFamily="2" charset="-78"/>
              </a:rPr>
              <a:t>Even better if… One thing you will fix or add.</a:t>
            </a:r>
            <a:endParaRPr lang="en-US" sz="18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30 / 34</a:t>
            </a:r>
            <a:endParaRPr lang="en-US" sz="8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GM-ADJ-08 · Adjectives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EXIT TICKET · ON YOUR OWN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Exit ticket: three questions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Adjectives · GM-ADJ-08</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“an expensive car (f.)”.</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سَيَّارَةٌ غَالِيَةٌ</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سَيَّارَةٌ غَالٍ</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سَيَّارَةٌ غَالِيٌ</a:t>
            </a:r>
            <a:endParaRPr lang="ar-SA" sz="2050" dirty="0"/>
          </a:p>
        </p:txBody>
      </p:sp>
      <p:sp>
        <p:nvSpPr>
          <p:cNvPr id="28" name="Shape 25"/>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high mountain”.</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الْجَبَلُ الْعَالِ</a:t>
            </a:r>
            <a:endParaRPr lang="ar-SA" sz="20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الْجَبَلُ الْعَالِي</a:t>
            </a:r>
            <a:endParaRPr lang="ar-SA" sz="20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الْجَبَلُ عَالٍ</a:t>
            </a:r>
            <a:endParaRPr lang="ar-SA" sz="2050" dirty="0"/>
          </a:p>
        </p:txBody>
      </p:sp>
      <p:sp>
        <p:nvSpPr>
          <p:cNvPr id="41" name="Shape 38"/>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“This is an expensive book.”</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هَذَا كِتَابٌ غَالٍ.</a:t>
            </a:r>
            <a:endParaRPr lang="ar-SA" sz="20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هَذَا كِتَابٌ غَالِيٌ.</a:t>
            </a:r>
            <a:endParaRPr lang="ar-SA" sz="20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هَذَا كِتَابٌ غَالِيًا.</a:t>
            </a:r>
            <a:endParaRPr lang="ar-SA" sz="2050" dirty="0"/>
          </a:p>
        </p:txBody>
      </p:sp>
      <p:sp>
        <p:nvSpPr>
          <p:cNvPr id="54" name="Shape 51"/>
          <p:cNvSpPr/>
          <p:nvPr/>
        </p:nvSpPr>
        <p:spPr>
          <a:xfrm>
            <a:off x="457200" y="5532120"/>
            <a:ext cx="11274552" cy="777240"/>
          </a:xfrm>
          <a:prstGeom prst="roundRect">
            <a:avLst>
              <a:gd name="adj" fmla="val 9412"/>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55" name="Text 52"/>
          <p:cNvSpPr txBox="1"/>
          <p:nvPr/>
        </p:nvSpPr>
        <p:spPr>
          <a:xfrm>
            <a:off x="685800" y="5577840"/>
            <a:ext cx="2830068" cy="685800"/>
          </a:xfrm>
          <a:prstGeom prst="rect">
            <a:avLst/>
          </a:prstGeom>
          <a:noFill/>
          <a:ln/>
        </p:spPr>
        <p:txBody>
          <a:bodyPr wrap="square" lIns="0" tIns="0" rIns="0" bIns="0" rtlCol="0" anchor="ctr"/>
          <a:lstStyle/>
          <a:p>
            <a:pPr algn="l" indent="0" marL="0">
              <a:buNone/>
            </a:pPr>
            <a:r>
              <a:rPr lang="en-US" sz="1200" b="1" spc="100" kern="0" dirty="0">
                <a:solidFill>
                  <a:srgbClr val="8A6D1E"/>
                </a:solidFill>
                <a:latin typeface="Calibri" pitchFamily="34" charset="0"/>
                <a:cs typeface="Amiri" pitchFamily="2" charset="-78"/>
              </a:rPr>
              <a:t>ON YOUR OWN · 2 MINUTES</a:t>
            </a:r>
            <a:endParaRPr lang="en-US" sz="1200" dirty="0"/>
          </a:p>
        </p:txBody>
      </p:sp>
      <p:sp>
        <p:nvSpPr>
          <p:cNvPr id="56" name="Text 53"/>
          <p:cNvSpPr txBox="1"/>
          <p:nvPr/>
        </p:nvSpPr>
        <p:spPr>
          <a:xfrm>
            <a:off x="3515868" y="5577840"/>
            <a:ext cx="8051292"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Answer silently. When the timer ends, type your three letters in the chat: 1_ 2_ 3_. The other end-of-lesson questions are on the website.</a:t>
            </a:r>
            <a:endParaRPr lang="en-US" sz="1250" dirty="0"/>
          </a:p>
        </p:txBody>
      </p:sp>
      <p:sp>
        <p:nvSpPr>
          <p:cNvPr id="57" name="Text 5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31 / 34</a:t>
            </a:r>
            <a:endParaRPr lang="en-US" sz="85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GM-ADJ-08 · Adjectives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EXIT TICKET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Exit ticket: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إِجَابَاتُ 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Adjectives · GM-ADJ-08</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“an expensive car (f.)”.</a:t>
            </a:r>
            <a:endParaRPr lang="en-US" sz="1250" dirty="0"/>
          </a:p>
        </p:txBody>
      </p:sp>
      <p:sp>
        <p:nvSpPr>
          <p:cNvPr id="19" name="Shape 16"/>
          <p:cNvSpPr/>
          <p:nvPr/>
        </p:nvSpPr>
        <p:spPr>
          <a:xfrm>
            <a:off x="548640" y="2496312"/>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532888"/>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22" name="Text 19"/>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ea typeface="Amiri" pitchFamily="2" charset="-78"/>
                <a:cs typeface="Amiri" pitchFamily="2" charset="-78"/>
              </a:rPr>
              <a:t>سَيَّارَةٌ غَالِيَةٌ</a:t>
            </a:r>
            <a:endParaRPr lang="ar-SA" sz="2050" dirty="0"/>
          </a:p>
        </p:txBody>
      </p:sp>
      <p:sp>
        <p:nvSpPr>
          <p:cNvPr id="23" name="Shape 20"/>
          <p:cNvSpPr/>
          <p:nvPr/>
        </p:nvSpPr>
        <p:spPr>
          <a:xfrm>
            <a:off x="640080" y="2990088"/>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5" name="Text 22"/>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سَيَّارَةٌ غَالٍ</a:t>
            </a:r>
            <a:endParaRPr lang="ar-SA" sz="2050" dirty="0"/>
          </a:p>
        </p:txBody>
      </p:sp>
      <p:sp>
        <p:nvSpPr>
          <p:cNvPr id="26" name="Shape 23"/>
          <p:cNvSpPr/>
          <p:nvPr/>
        </p:nvSpPr>
        <p:spPr>
          <a:xfrm>
            <a:off x="640080" y="344728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سَيَّارَةٌ غَالِيٌ</a:t>
            </a:r>
            <a:endParaRPr lang="ar-SA" sz="2050" dirty="0"/>
          </a:p>
        </p:txBody>
      </p:sp>
      <p:sp>
        <p:nvSpPr>
          <p:cNvPr id="29" name="Text 26"/>
          <p:cNvSpPr txBox="1"/>
          <p:nvPr/>
        </p:nvSpPr>
        <p:spPr>
          <a:xfrm>
            <a:off x="585216"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Feminine: yāʾ + </a:t>
            </a:r>
            <a:pPr algn="l" indent="0" marL="0">
              <a:buNone/>
            </a:pPr>
            <a:r>
              <a:rPr lang="ar-SA" altLang="en-US" sz="1350" dirty="0">
                <a:solidFill>
                  <a:srgbClr val="8A6D1E"/>
                </a:solidFill>
                <a:latin typeface="Amiri" pitchFamily="2" charset="-78"/>
                <a:ea typeface="Amiri" pitchFamily="2" charset="-78"/>
                <a:cs typeface="Amiri" pitchFamily="2" charset="-78"/>
              </a:rPr>
              <a:t>ة</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30" name="Shape 27"/>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high mountain”.</a:t>
            </a:r>
            <a:endParaRPr lang="en-US" sz="1250" dirty="0"/>
          </a:p>
        </p:txBody>
      </p:sp>
      <p:sp>
        <p:nvSpPr>
          <p:cNvPr id="34" name="Shape 31"/>
          <p:cNvSpPr/>
          <p:nvPr/>
        </p:nvSpPr>
        <p:spPr>
          <a:xfrm>
            <a:off x="4459224" y="2532888"/>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الْجَبَلُ الْعَالِ</a:t>
            </a:r>
            <a:endParaRPr lang="ar-SA" sz="2050" dirty="0"/>
          </a:p>
        </p:txBody>
      </p:sp>
      <p:sp>
        <p:nvSpPr>
          <p:cNvPr id="37" name="Shape 34"/>
          <p:cNvSpPr/>
          <p:nvPr/>
        </p:nvSpPr>
        <p:spPr>
          <a:xfrm>
            <a:off x="4367784" y="2953512"/>
            <a:ext cx="3453384" cy="347472"/>
          </a:xfrm>
          <a:prstGeom prst="roundRect">
            <a:avLst>
              <a:gd name="adj" fmla="val 15789"/>
            </a:avLst>
          </a:prstGeom>
          <a:solidFill>
            <a:srgbClr val="E6F4EC"/>
          </a:solidFill>
          <a:ln w="9525">
            <a:solidFill>
              <a:srgbClr val="2E8B57"/>
            </a:solidFill>
            <a:prstDash val="solid"/>
          </a:ln>
        </p:spPr>
      </p:sp>
      <p:sp>
        <p:nvSpPr>
          <p:cNvPr id="38" name="Shape 35"/>
          <p:cNvSpPr/>
          <p:nvPr/>
        </p:nvSpPr>
        <p:spPr>
          <a:xfrm>
            <a:off x="4459224" y="2990088"/>
            <a:ext cx="256032" cy="256032"/>
          </a:xfrm>
          <a:prstGeom prst="ellipse">
            <a:avLst/>
          </a:prstGeom>
          <a:solidFill>
            <a:srgbClr val="2E8B57"/>
          </a:solidFill>
          <a:ln w="12700">
            <a:solidFill>
              <a:srgbClr val="2E8B57"/>
            </a:solidFill>
            <a:prstDash val="solid"/>
          </a:ln>
        </p:spPr>
      </p:sp>
      <p:sp>
        <p:nvSpPr>
          <p:cNvPr id="39" name="Text 36"/>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40" name="Text 37"/>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ea typeface="Amiri" pitchFamily="2" charset="-78"/>
                <a:cs typeface="Amiri" pitchFamily="2" charset="-78"/>
              </a:rPr>
              <a:t>الْجَبَلُ الْعَالِي</a:t>
            </a:r>
            <a:endParaRPr lang="ar-SA" sz="2050" dirty="0"/>
          </a:p>
        </p:txBody>
      </p:sp>
      <p:sp>
        <p:nvSpPr>
          <p:cNvPr id="41" name="Shape 38"/>
          <p:cNvSpPr/>
          <p:nvPr/>
        </p:nvSpPr>
        <p:spPr>
          <a:xfrm>
            <a:off x="4459224" y="344728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الْجَبَلُ عَالٍ</a:t>
            </a:r>
            <a:endParaRPr lang="ar-SA" sz="2050" dirty="0"/>
          </a:p>
        </p:txBody>
      </p:sp>
      <p:sp>
        <p:nvSpPr>
          <p:cNvPr id="44" name="Text 41"/>
          <p:cNvSpPr txBox="1"/>
          <p:nvPr/>
        </p:nvSpPr>
        <p:spPr>
          <a:xfrm>
            <a:off x="4404360"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Definite → -ī.</a:t>
            </a:r>
            <a:endParaRPr lang="en-US" sz="1050" dirty="0"/>
          </a:p>
        </p:txBody>
      </p:sp>
      <p:sp>
        <p:nvSpPr>
          <p:cNvPr id="45" name="Shape 42"/>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“This is an expensive book.”</a:t>
            </a:r>
            <a:endParaRPr lang="en-US" sz="1250" dirty="0"/>
          </a:p>
        </p:txBody>
      </p:sp>
      <p:sp>
        <p:nvSpPr>
          <p:cNvPr id="49" name="Shape 46"/>
          <p:cNvSpPr/>
          <p:nvPr/>
        </p:nvSpPr>
        <p:spPr>
          <a:xfrm>
            <a:off x="8186928" y="2496312"/>
            <a:ext cx="3453384" cy="347472"/>
          </a:xfrm>
          <a:prstGeom prst="roundRect">
            <a:avLst>
              <a:gd name="adj" fmla="val 15789"/>
            </a:avLst>
          </a:prstGeom>
          <a:solidFill>
            <a:srgbClr val="E6F4EC"/>
          </a:solidFill>
          <a:ln w="9525">
            <a:solidFill>
              <a:srgbClr val="2E8B57"/>
            </a:solidFill>
            <a:prstDash val="solid"/>
          </a:ln>
        </p:spPr>
      </p:sp>
      <p:sp>
        <p:nvSpPr>
          <p:cNvPr id="50" name="Shape 47"/>
          <p:cNvSpPr/>
          <p:nvPr/>
        </p:nvSpPr>
        <p:spPr>
          <a:xfrm>
            <a:off x="8278368" y="2532888"/>
            <a:ext cx="256032" cy="256032"/>
          </a:xfrm>
          <a:prstGeom prst="ellipse">
            <a:avLst/>
          </a:prstGeom>
          <a:solidFill>
            <a:srgbClr val="2E8B57"/>
          </a:solidFill>
          <a:ln w="12700">
            <a:solidFill>
              <a:srgbClr val="2E8B57"/>
            </a:solidFill>
            <a:prstDash val="solid"/>
          </a:ln>
        </p:spPr>
      </p:sp>
      <p:sp>
        <p:nvSpPr>
          <p:cNvPr id="51" name="Text 48"/>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52" name="Text 49"/>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ea typeface="Amiri" pitchFamily="2" charset="-78"/>
                <a:cs typeface="Amiri" pitchFamily="2" charset="-78"/>
              </a:rPr>
              <a:t>هَذَا كِتَابٌ غَالٍ.</a:t>
            </a:r>
            <a:endParaRPr lang="ar-SA" sz="2050" dirty="0"/>
          </a:p>
        </p:txBody>
      </p:sp>
      <p:sp>
        <p:nvSpPr>
          <p:cNvPr id="53" name="Shape 50"/>
          <p:cNvSpPr/>
          <p:nvPr/>
        </p:nvSpPr>
        <p:spPr>
          <a:xfrm>
            <a:off x="8278368" y="2990088"/>
            <a:ext cx="256032" cy="256032"/>
          </a:xfrm>
          <a:prstGeom prst="ellipse">
            <a:avLst/>
          </a:prstGeom>
          <a:solidFill>
            <a:srgbClr val="C9CED6"/>
          </a:solidFill>
          <a:ln w="12700">
            <a:solidFill>
              <a:srgbClr val="C9CED6"/>
            </a:solidFill>
            <a:prstDash val="solid"/>
          </a:ln>
        </p:spPr>
      </p:sp>
      <p:sp>
        <p:nvSpPr>
          <p:cNvPr id="54" name="Text 51"/>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5" name="Text 52"/>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هَذَا كِتَابٌ غَالِيٌ.</a:t>
            </a:r>
            <a:endParaRPr lang="ar-SA" sz="2050" dirty="0"/>
          </a:p>
        </p:txBody>
      </p:sp>
      <p:sp>
        <p:nvSpPr>
          <p:cNvPr id="56" name="Shape 53"/>
          <p:cNvSpPr/>
          <p:nvPr/>
        </p:nvSpPr>
        <p:spPr>
          <a:xfrm>
            <a:off x="8278368" y="344728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8" name="Text 55"/>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هَذَا كِتَابٌ غَالِيًا.</a:t>
            </a:r>
            <a:endParaRPr lang="ar-SA" sz="2050" dirty="0"/>
          </a:p>
        </p:txBody>
      </p:sp>
      <p:sp>
        <p:nvSpPr>
          <p:cNvPr id="59" name="Text 56"/>
          <p:cNvSpPr txBox="1"/>
          <p:nvPr/>
        </p:nvSpPr>
        <p:spPr>
          <a:xfrm>
            <a:off x="8223504"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Indefinite nominative → hidden yāʾ.</a:t>
            </a:r>
            <a:endParaRPr lang="en-US" sz="1050" dirty="0"/>
          </a:p>
        </p:txBody>
      </p:sp>
      <p:sp>
        <p:nvSpPr>
          <p:cNvPr id="60" name="Shape 57"/>
          <p:cNvSpPr/>
          <p:nvPr/>
        </p:nvSpPr>
        <p:spPr>
          <a:xfrm>
            <a:off x="457200" y="5532120"/>
            <a:ext cx="11274552" cy="777240"/>
          </a:xfrm>
          <a:prstGeom prst="roundRect">
            <a:avLst>
              <a:gd name="adj" fmla="val 9412"/>
            </a:avLst>
          </a:prstGeom>
          <a:solidFill>
            <a:srgbClr val="EEF3FA"/>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61" name="Text 58"/>
          <p:cNvSpPr txBox="1"/>
          <p:nvPr/>
        </p:nvSpPr>
        <p:spPr>
          <a:xfrm>
            <a:off x="685800" y="5577840"/>
            <a:ext cx="937260" cy="685800"/>
          </a:xfrm>
          <a:prstGeom prst="rect">
            <a:avLst/>
          </a:prstGeom>
          <a:noFill/>
          <a:ln/>
        </p:spPr>
        <p:txBody>
          <a:bodyPr wrap="square" lIns="0" tIns="0" rIns="0" bIns="0" rtlCol="0" anchor="ctr"/>
          <a:lstStyle/>
          <a:p>
            <a:pPr algn="l" indent="0" marL="0">
              <a:buNone/>
            </a:pPr>
            <a:r>
              <a:rPr lang="en-US" sz="1200" b="1" spc="100" kern="0" dirty="0">
                <a:solidFill>
                  <a:srgbClr val="1B3B6F"/>
                </a:solidFill>
                <a:latin typeface="Calibri" pitchFamily="34" charset="0"/>
                <a:cs typeface="Amiri" pitchFamily="2" charset="-78"/>
              </a:rPr>
              <a:t>SCORE</a:t>
            </a:r>
            <a:endParaRPr lang="en-US" sz="1200" dirty="0"/>
          </a:p>
        </p:txBody>
      </p:sp>
      <p:sp>
        <p:nvSpPr>
          <p:cNvPr id="62" name="Text 59"/>
          <p:cNvSpPr txBox="1"/>
          <p:nvPr/>
        </p:nvSpPr>
        <p:spPr>
          <a:xfrm>
            <a:off x="1623060" y="5577840"/>
            <a:ext cx="9944100"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3/3 → aim for Stretch next lesson  ·  2/3 → Develop  ·  0–1 → Core route and a quick check-in during the next Do Now.</a:t>
            </a:r>
            <a:endParaRPr lang="en-US" sz="125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32 / 34</a:t>
            </a:r>
            <a:endParaRPr lang="en-US" sz="85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GM-ADJ-08 · Adjectives</a:t>
            </a:r>
            <a:endParaRPr lang="en-US" sz="950" dirty="0"/>
          </a:p>
        </p:txBody>
      </p:sp>
      <p:sp>
        <p:nvSpPr>
          <p:cNvPr id="8" name="Shape 6"/>
          <p:cNvSpPr/>
          <p:nvPr/>
        </p:nvSpPr>
        <p:spPr>
          <a:xfrm>
            <a:off x="6915607" y="274320"/>
            <a:ext cx="1844345" cy="329184"/>
          </a:xfrm>
          <a:prstGeom prst="roundRect">
            <a:avLst>
              <a:gd name="adj" fmla="val 50000"/>
            </a:avLst>
          </a:prstGeom>
          <a:solidFill>
            <a:srgbClr val="C45A3C"/>
          </a:solidFill>
          <a:ln w="12700">
            <a:solidFill>
              <a:srgbClr val="C45A3C"/>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PREPARATION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C45A3C"/>
                </a:solidFill>
                <a:latin typeface="Calibri" pitchFamily="34" charset="0"/>
                <a:cs typeface="Amiri" pitchFamily="2" charset="-78"/>
              </a:rPr>
              <a:t>PREPARATION FOR NEXT LESSON · ABOUT 10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450" b="1" dirty="0">
                <a:solidFill>
                  <a:srgbClr val="1B3B6F"/>
                </a:solidFill>
                <a:latin typeface="Cambria" pitchFamily="34" charset="0"/>
                <a:cs typeface="Amiri" pitchFamily="2" charset="-78"/>
              </a:rPr>
              <a:t>Before GM-ADJ-09: get ready at home</a:t>
            </a:r>
            <a:endParaRPr lang="en-US" sz="24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التَّحْضِيرُ لِلدَّرْسِ القَادِمِ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Adjectives · GM-ADJ-08</a:t>
            </a:r>
            <a:endParaRPr lang="en-US" sz="850" dirty="0"/>
          </a:p>
        </p:txBody>
      </p:sp>
      <p:sp>
        <p:nvSpPr>
          <p:cNvPr id="15" name="Shape 12"/>
          <p:cNvSpPr/>
          <p:nvPr/>
        </p:nvSpPr>
        <p:spPr>
          <a:xfrm>
            <a:off x="457200" y="1810512"/>
            <a:ext cx="5394960" cy="4498848"/>
          </a:xfrm>
          <a:prstGeom prst="roundRect">
            <a:avLst>
              <a:gd name="adj" fmla="val 1626"/>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475488" cy="475488"/>
          </a:xfrm>
          <a:prstGeom prst="ellipse">
            <a:avLst/>
          </a:prstGeom>
          <a:solidFill>
            <a:srgbClr val="C45A3C"/>
          </a:solidFill>
          <a:ln w="12700">
            <a:solidFill>
              <a:srgbClr val="C45A3C"/>
            </a:solidFill>
            <a:prstDash val="solid"/>
          </a:ln>
        </p:spPr>
      </p:sp>
      <p:pic>
        <p:nvPicPr>
          <p:cNvPr id="17" name="Image 0" descr="preencoded.png">    </p:cNvPr>
          <p:cNvPicPr>
            <a:picLocks noChangeAspect="1"/>
          </p:cNvPicPr>
          <p:nvPr/>
        </p:nvPicPr>
        <p:blipFill>
          <a:blip r:embed="rId1"/>
          <a:stretch>
            <a:fillRect/>
          </a:stretch>
        </p:blipFill>
        <p:spPr>
          <a:xfrm>
            <a:off x="731520" y="2029968"/>
            <a:ext cx="292608" cy="292608"/>
          </a:xfrm>
          <a:prstGeom prst="rect">
            <a:avLst/>
          </a:prstGeom>
        </p:spPr>
      </p:pic>
      <p:sp>
        <p:nvSpPr>
          <p:cNvPr id="18" name="Text 14"/>
          <p:cNvSpPr txBox="1"/>
          <p:nvPr/>
        </p:nvSpPr>
        <p:spPr>
          <a:xfrm>
            <a:off x="1207008" y="1920240"/>
            <a:ext cx="4480560" cy="512064"/>
          </a:xfrm>
          <a:prstGeom prst="rect">
            <a:avLst/>
          </a:prstGeom>
          <a:noFill/>
          <a:ln/>
        </p:spPr>
        <p:txBody>
          <a:bodyPr wrap="square" lIns="0" tIns="0" rIns="0" bIns="0" rtlCol="0" anchor="ctr"/>
          <a:lstStyle/>
          <a:p>
            <a:pPr indent="0" marL="0">
              <a:buNone/>
            </a:pPr>
            <a:r>
              <a:rPr lang="en-US" sz="1100" b="1" spc="200" kern="0" dirty="0">
                <a:solidFill>
                  <a:srgbClr val="C45A3C"/>
                </a:solidFill>
                <a:latin typeface="Calibri" pitchFamily="34" charset="0"/>
                <a:cs typeface="Amiri" pitchFamily="2" charset="-78"/>
              </a:rPr>
              <a:t>LEARN THESE 5 WORDS</a:t>
            </a:r>
            <a:endParaRPr lang="en-US" sz="1100" dirty="0"/>
          </a:p>
          <a:p>
            <a:pPr indent="0" marL="0">
              <a:buNone/>
            </a:pPr>
            <a:r>
              <a:rPr lang="en-US" sz="1000" dirty="0">
                <a:solidFill>
                  <a:srgbClr val="5A6472"/>
                </a:solidFill>
                <a:latin typeface="Calibri" pitchFamily="34" charset="0"/>
                <a:cs typeface="Amiri" pitchFamily="2" charset="-78"/>
              </a:rPr>
              <a:t>for GM-ADJ-09 · Nisba Adjectives</a:t>
            </a:r>
            <a:endParaRPr lang="en-US" sz="1100" dirty="0"/>
          </a:p>
        </p:txBody>
      </p:sp>
      <p:sp>
        <p:nvSpPr>
          <p:cNvPr id="19" name="Text 15"/>
          <p:cNvSpPr txBox="1"/>
          <p:nvPr/>
        </p:nvSpPr>
        <p:spPr>
          <a:xfrm>
            <a:off x="3017520" y="25603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مِصْرِيٌّ</a:t>
            </a:r>
            <a:endParaRPr lang="ar-SA" sz="2000" dirty="0"/>
          </a:p>
        </p:txBody>
      </p:sp>
      <p:sp>
        <p:nvSpPr>
          <p:cNvPr id="20" name="Text 16"/>
          <p:cNvSpPr txBox="1"/>
          <p:nvPr/>
        </p:nvSpPr>
        <p:spPr>
          <a:xfrm>
            <a:off x="685800" y="25603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Egyptian (m.)</a:t>
            </a:r>
            <a:pPr indent="0" marL="0">
              <a:buNone/>
            </a:pPr>
            <a:r>
              <a:rPr lang="ar-SA" sz="1000" i="1" dirty="0">
                <a:solidFill>
                  <a:srgbClr val="5A6472"/>
                </a:solidFill>
                <a:latin typeface="Calibri" pitchFamily="34" charset="0"/>
                <a:ea typeface="Amiri" pitchFamily="2" charset="-78"/>
                <a:cs typeface="Amiri" pitchFamily="2" charset="-78"/>
              </a:rPr>
              <a:t>  f. مِصْرِيَّةٌ</a:t>
            </a:r>
            <a:endParaRPr lang="en-US" sz="1200" dirty="0"/>
          </a:p>
        </p:txBody>
      </p:sp>
      <p:sp>
        <p:nvSpPr>
          <p:cNvPr id="21" name="Text 17"/>
          <p:cNvSpPr txBox="1"/>
          <p:nvPr/>
        </p:nvSpPr>
        <p:spPr>
          <a:xfrm>
            <a:off x="3017520" y="30175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عَرَبِيٌّ</a:t>
            </a:r>
            <a:endParaRPr lang="ar-SA" sz="2000" dirty="0"/>
          </a:p>
        </p:txBody>
      </p:sp>
      <p:sp>
        <p:nvSpPr>
          <p:cNvPr id="22" name="Text 18"/>
          <p:cNvSpPr txBox="1"/>
          <p:nvPr/>
        </p:nvSpPr>
        <p:spPr>
          <a:xfrm>
            <a:off x="685800" y="30175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Arab, Arabic (m.)</a:t>
            </a:r>
            <a:pPr indent="0" marL="0">
              <a:buNone/>
            </a:pPr>
            <a:r>
              <a:rPr lang="ar-SA" sz="1000" i="1" dirty="0">
                <a:solidFill>
                  <a:srgbClr val="5A6472"/>
                </a:solidFill>
                <a:latin typeface="Calibri" pitchFamily="34" charset="0"/>
                <a:ea typeface="Amiri" pitchFamily="2" charset="-78"/>
                <a:cs typeface="Amiri" pitchFamily="2" charset="-78"/>
              </a:rPr>
              <a:t>  f. عَرَبِيَّةٌ</a:t>
            </a:r>
            <a:endParaRPr lang="en-US" sz="1200" dirty="0"/>
          </a:p>
        </p:txBody>
      </p:sp>
      <p:sp>
        <p:nvSpPr>
          <p:cNvPr id="23" name="Text 19"/>
          <p:cNvSpPr txBox="1"/>
          <p:nvPr/>
        </p:nvSpPr>
        <p:spPr>
          <a:xfrm>
            <a:off x="3017520" y="34747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بِرِيطَانِيٌّ</a:t>
            </a:r>
            <a:endParaRPr lang="ar-SA" sz="2000" dirty="0"/>
          </a:p>
        </p:txBody>
      </p:sp>
      <p:sp>
        <p:nvSpPr>
          <p:cNvPr id="24" name="Text 20"/>
          <p:cNvSpPr txBox="1"/>
          <p:nvPr/>
        </p:nvSpPr>
        <p:spPr>
          <a:xfrm>
            <a:off x="685800" y="34747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British (m.)</a:t>
            </a:r>
            <a:pPr indent="0" marL="0">
              <a:buNone/>
            </a:pPr>
            <a:r>
              <a:rPr lang="ar-SA" sz="1000" i="1" dirty="0">
                <a:solidFill>
                  <a:srgbClr val="5A6472"/>
                </a:solidFill>
                <a:latin typeface="Calibri" pitchFamily="34" charset="0"/>
                <a:ea typeface="Amiri" pitchFamily="2" charset="-78"/>
                <a:cs typeface="Amiri" pitchFamily="2" charset="-78"/>
              </a:rPr>
              <a:t>  f. بِرِيطَانِيَّةٌ</a:t>
            </a:r>
            <a:endParaRPr lang="en-US" sz="1200" dirty="0"/>
          </a:p>
        </p:txBody>
      </p:sp>
      <p:sp>
        <p:nvSpPr>
          <p:cNvPr id="25" name="Text 21"/>
          <p:cNvSpPr txBox="1"/>
          <p:nvPr/>
        </p:nvSpPr>
        <p:spPr>
          <a:xfrm>
            <a:off x="3017520" y="39319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شَمَالِيٌّ</a:t>
            </a:r>
            <a:endParaRPr lang="ar-SA" sz="2000" dirty="0"/>
          </a:p>
        </p:txBody>
      </p:sp>
      <p:sp>
        <p:nvSpPr>
          <p:cNvPr id="26" name="Text 22"/>
          <p:cNvSpPr txBox="1"/>
          <p:nvPr/>
        </p:nvSpPr>
        <p:spPr>
          <a:xfrm>
            <a:off x="685800" y="39319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northern</a:t>
            </a:r>
            <a:pPr indent="0" marL="0">
              <a:buNone/>
            </a:pPr>
            <a:r>
              <a:rPr lang="ar-SA" sz="1000" i="1" dirty="0">
                <a:solidFill>
                  <a:srgbClr val="5A6472"/>
                </a:solidFill>
                <a:latin typeface="Calibri" pitchFamily="34" charset="0"/>
                <a:ea typeface="Amiri" pitchFamily="2" charset="-78"/>
                <a:cs typeface="Amiri" pitchFamily="2" charset="-78"/>
              </a:rPr>
              <a:t>  from شَمَالٌ</a:t>
            </a:r>
            <a:endParaRPr lang="en-US" sz="1200" dirty="0"/>
          </a:p>
        </p:txBody>
      </p:sp>
      <p:sp>
        <p:nvSpPr>
          <p:cNvPr id="27" name="Text 23"/>
          <p:cNvSpPr txBox="1"/>
          <p:nvPr/>
        </p:nvSpPr>
        <p:spPr>
          <a:xfrm>
            <a:off x="3017520" y="43891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تَارِيخِيٌّ</a:t>
            </a:r>
            <a:endParaRPr lang="ar-SA" sz="2000" dirty="0"/>
          </a:p>
        </p:txBody>
      </p:sp>
      <p:sp>
        <p:nvSpPr>
          <p:cNvPr id="28" name="Text 24"/>
          <p:cNvSpPr txBox="1"/>
          <p:nvPr/>
        </p:nvSpPr>
        <p:spPr>
          <a:xfrm>
            <a:off x="685800" y="43891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historical</a:t>
            </a:r>
            <a:pPr indent="0" marL="0">
              <a:buNone/>
            </a:pPr>
            <a:r>
              <a:rPr lang="ar-SA" sz="1000" i="1" dirty="0">
                <a:solidFill>
                  <a:srgbClr val="5A6472"/>
                </a:solidFill>
                <a:latin typeface="Calibri" pitchFamily="34" charset="0"/>
                <a:ea typeface="Amiri" pitchFamily="2" charset="-78"/>
                <a:cs typeface="Amiri" pitchFamily="2" charset="-78"/>
              </a:rPr>
              <a:t>  from تَارِيخٌ</a:t>
            </a:r>
            <a:endParaRPr lang="en-US" sz="1200" dirty="0"/>
          </a:p>
        </p:txBody>
      </p:sp>
      <p:sp>
        <p:nvSpPr>
          <p:cNvPr id="29" name="Text 25"/>
          <p:cNvSpPr txBox="1"/>
          <p:nvPr/>
        </p:nvSpPr>
        <p:spPr>
          <a:xfrm>
            <a:off x="685800" y="4892040"/>
            <a:ext cx="2743200" cy="237744"/>
          </a:xfrm>
          <a:prstGeom prst="rect">
            <a:avLst/>
          </a:prstGeom>
          <a:noFill/>
          <a:ln/>
        </p:spPr>
        <p:txBody>
          <a:bodyPr wrap="square" lIns="0" tIns="0" rIns="0" bIns="0" rtlCol="0" anchor="ctr"/>
          <a:lstStyle/>
          <a:p>
            <a:pPr algn="l" indent="0" marL="0">
              <a:buNone/>
            </a:pPr>
            <a:r>
              <a:rPr lang="en-US" sz="900" b="1" spc="200" kern="0" dirty="0">
                <a:solidFill>
                  <a:srgbClr val="C45A3C"/>
                </a:solidFill>
                <a:latin typeface="Calibri" pitchFamily="34" charset="0"/>
                <a:cs typeface="Amiri" pitchFamily="2" charset="-78"/>
              </a:rPr>
              <a:t>AND ANSWER ONE QUESTION</a:t>
            </a:r>
            <a:endParaRPr lang="en-US" sz="900" dirty="0"/>
          </a:p>
        </p:txBody>
      </p:sp>
      <p:sp>
        <p:nvSpPr>
          <p:cNvPr id="30" name="Text 26"/>
          <p:cNvSpPr txBox="1"/>
          <p:nvPr/>
        </p:nvSpPr>
        <p:spPr>
          <a:xfrm>
            <a:off x="685800" y="5129784"/>
            <a:ext cx="2194560" cy="1005840"/>
          </a:xfrm>
          <a:prstGeom prst="rect">
            <a:avLst/>
          </a:prstGeom>
          <a:noFill/>
          <a:ln/>
        </p:spPr>
        <p:txBody>
          <a:bodyPr wrap="square" lIns="0" tIns="0" rIns="0" bIns="0" rtlCol="0" anchor="t"/>
          <a:lstStyle/>
          <a:p>
            <a:pPr algn="l" indent="0" marL="0">
              <a:buNone/>
            </a:pPr>
            <a:r>
              <a:rPr lang="en-US" sz="1050" dirty="0">
                <a:solidFill>
                  <a:srgbClr val="1F2A37"/>
                </a:solidFill>
                <a:latin typeface="Calibri" pitchFamily="34" charset="0"/>
                <a:cs typeface="Amiri" pitchFamily="2" charset="-78"/>
              </a:rPr>
              <a:t>From Miṣr (Egypt) we get miṣriyy (Egyptian). What is the ending? How would you say “Pakistani” or “Moroccan”?</a:t>
            </a:r>
            <a:endParaRPr lang="en-US" sz="1050" dirty="0"/>
          </a:p>
        </p:txBody>
      </p:sp>
      <p:sp>
        <p:nvSpPr>
          <p:cNvPr id="31" name="Text 27"/>
          <p:cNvSpPr txBox="1"/>
          <p:nvPr/>
        </p:nvSpPr>
        <p:spPr>
          <a:xfrm>
            <a:off x="2926080" y="5074920"/>
            <a:ext cx="2743200" cy="1051560"/>
          </a:xfrm>
          <a:prstGeom prst="rect">
            <a:avLst/>
          </a:prstGeom>
          <a:noFill/>
          <a:ln/>
        </p:spPr>
        <p:txBody>
          <a:bodyPr wrap="square" lIns="0" tIns="0" rIns="0" bIns="0" rtlCol="0" anchor="ctr"/>
          <a:lstStyle/>
          <a:p>
            <a:pPr rtl="1" algn="r" indent="0" marL="0">
              <a:buNone/>
            </a:pPr>
            <a:r>
              <a:rPr lang="ar-SA" altLang="en-US" sz="1700" b="1" dirty="0">
                <a:solidFill>
                  <a:srgbClr val="1B3B6F"/>
                </a:solidFill>
                <a:latin typeface="Amiri" pitchFamily="2" charset="-78"/>
                <a:ea typeface="Amiri" pitchFamily="2" charset="-78"/>
                <a:cs typeface="Amiri" pitchFamily="2" charset="-78"/>
              </a:rPr>
              <a:t>مِصْرُ · مِصْرِيٌّ — بَاكِسْتَانُ · ______</a:t>
            </a:r>
            <a:endParaRPr lang="ar-SA" sz="1700" dirty="0"/>
          </a:p>
        </p:txBody>
      </p:sp>
      <p:sp>
        <p:nvSpPr>
          <p:cNvPr id="32" name="Text 28"/>
          <p:cNvSpPr txBox="1"/>
          <p:nvPr/>
        </p:nvSpPr>
        <p:spPr>
          <a:xfrm>
            <a:off x="6126480" y="1828800"/>
            <a:ext cx="54864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HOMEWORK — CHOOSE YOUR ROUTE</a:t>
            </a:r>
            <a:endParaRPr lang="en-US" sz="1000" dirty="0"/>
          </a:p>
        </p:txBody>
      </p:sp>
      <p:sp>
        <p:nvSpPr>
          <p:cNvPr id="33" name="Shape 29"/>
          <p:cNvSpPr/>
          <p:nvPr/>
        </p:nvSpPr>
        <p:spPr>
          <a:xfrm>
            <a:off x="6126480" y="2194560"/>
            <a:ext cx="5605272" cy="1243584"/>
          </a:xfrm>
          <a:prstGeom prst="roundRect">
            <a:avLst>
              <a:gd name="adj" fmla="val 5882"/>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0"/>
          <p:cNvSpPr/>
          <p:nvPr/>
        </p:nvSpPr>
        <p:spPr>
          <a:xfrm>
            <a:off x="6309360" y="2322576"/>
            <a:ext cx="1051560" cy="274320"/>
          </a:xfrm>
          <a:prstGeom prst="roundRect">
            <a:avLst>
              <a:gd name="adj" fmla="val 50000"/>
            </a:avLst>
          </a:prstGeom>
          <a:solidFill>
            <a:srgbClr val="2E8B57"/>
          </a:solidFill>
          <a:ln w="12700">
            <a:solidFill>
              <a:srgbClr val="2E8B57"/>
            </a:solidFill>
            <a:prstDash val="solid"/>
          </a:ln>
        </p:spPr>
      </p:sp>
      <p:sp>
        <p:nvSpPr>
          <p:cNvPr id="35" name="Text 31"/>
          <p:cNvSpPr txBox="1"/>
          <p:nvPr/>
        </p:nvSpPr>
        <p:spPr>
          <a:xfrm>
            <a:off x="6309360" y="23225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36" name="Text 32"/>
          <p:cNvSpPr txBox="1"/>
          <p:nvPr/>
        </p:nvSpPr>
        <p:spPr>
          <a:xfrm>
            <a:off x="6309360" y="26517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Write the four shapes of ghālin, rāḍin and ʿālin.</a:t>
            </a:r>
            <a:endParaRPr lang="en-US" sz="1200" dirty="0"/>
          </a:p>
        </p:txBody>
      </p:sp>
      <p:sp>
        <p:nvSpPr>
          <p:cNvPr id="37" name="Shape 33"/>
          <p:cNvSpPr/>
          <p:nvPr/>
        </p:nvSpPr>
        <p:spPr>
          <a:xfrm>
            <a:off x="6126480" y="3566160"/>
            <a:ext cx="5605272" cy="1243584"/>
          </a:xfrm>
          <a:prstGeom prst="roundRect">
            <a:avLst>
              <a:gd name="adj" fmla="val 5882"/>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4"/>
          <p:cNvSpPr/>
          <p:nvPr/>
        </p:nvSpPr>
        <p:spPr>
          <a:xfrm>
            <a:off x="6309360" y="3694176"/>
            <a:ext cx="1051560" cy="274320"/>
          </a:xfrm>
          <a:prstGeom prst="roundRect">
            <a:avLst>
              <a:gd name="adj" fmla="val 50000"/>
            </a:avLst>
          </a:prstGeom>
          <a:solidFill>
            <a:srgbClr val="C9780A"/>
          </a:solidFill>
          <a:ln w="12700">
            <a:solidFill>
              <a:srgbClr val="C9780A"/>
            </a:solidFill>
            <a:prstDash val="solid"/>
          </a:ln>
        </p:spPr>
      </p:sp>
      <p:sp>
        <p:nvSpPr>
          <p:cNvPr id="39" name="Text 35"/>
          <p:cNvSpPr txBox="1"/>
          <p:nvPr/>
        </p:nvSpPr>
        <p:spPr>
          <a:xfrm>
            <a:off x="6309360" y="36941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40" name="Text 36"/>
          <p:cNvSpPr txBox="1"/>
          <p:nvPr/>
        </p:nvSpPr>
        <p:spPr>
          <a:xfrm>
            <a:off x="6309360" y="40233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Write eight sentences using the four shapes.</a:t>
            </a:r>
            <a:endParaRPr lang="en-US" sz="1200" dirty="0"/>
          </a:p>
        </p:txBody>
      </p:sp>
      <p:sp>
        <p:nvSpPr>
          <p:cNvPr id="41" name="Shape 37"/>
          <p:cNvSpPr/>
          <p:nvPr/>
        </p:nvSpPr>
        <p:spPr>
          <a:xfrm>
            <a:off x="6126480" y="4937760"/>
            <a:ext cx="5605272" cy="1243584"/>
          </a:xfrm>
          <a:prstGeom prst="roundRect">
            <a:avLst>
              <a:gd name="adj" fmla="val 5882"/>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8"/>
          <p:cNvSpPr/>
          <p:nvPr/>
        </p:nvSpPr>
        <p:spPr>
          <a:xfrm>
            <a:off x="6309360" y="5065776"/>
            <a:ext cx="1051560" cy="274320"/>
          </a:xfrm>
          <a:prstGeom prst="roundRect">
            <a:avLst>
              <a:gd name="adj" fmla="val 50000"/>
            </a:avLst>
          </a:prstGeom>
          <a:solidFill>
            <a:srgbClr val="B83227"/>
          </a:solidFill>
          <a:ln w="12700">
            <a:solidFill>
              <a:srgbClr val="B83227"/>
            </a:solidFill>
            <a:prstDash val="solid"/>
          </a:ln>
        </p:spPr>
      </p:sp>
      <p:sp>
        <p:nvSpPr>
          <p:cNvPr id="43" name="Text 39"/>
          <p:cNvSpPr txBox="1"/>
          <p:nvPr/>
        </p:nvSpPr>
        <p:spPr>
          <a:xfrm>
            <a:off x="6309360" y="50657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STRETCH</a:t>
            </a:r>
            <a:endParaRPr lang="en-US" sz="850" dirty="0"/>
          </a:p>
        </p:txBody>
      </p:sp>
      <p:sp>
        <p:nvSpPr>
          <p:cNvPr id="44" name="Text 40"/>
          <p:cNvSpPr txBox="1"/>
          <p:nvPr/>
        </p:nvSpPr>
        <p:spPr>
          <a:xfrm>
            <a:off x="6309360" y="53949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Website writing workshop about a shopping trip.</a:t>
            </a:r>
            <a:endParaRPr lang="en-US" sz="1200" dirty="0"/>
          </a:p>
        </p:txBody>
      </p:sp>
      <p:sp>
        <p:nvSpPr>
          <p:cNvPr id="45"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33 / 34</a:t>
            </a:r>
            <a:endParaRPr lang="en-US" sz="85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097280"/>
            <a:ext cx="5852160" cy="5852160"/>
          </a:xfrm>
          <a:prstGeom prst="ellipse">
            <a:avLst/>
          </a:prstGeom>
          <a:solidFill>
            <a:srgbClr val="14315C"/>
          </a:solidFill>
          <a:ln w="12700">
            <a:solidFill>
              <a:srgbClr val="14315C"/>
            </a:solidFill>
            <a:prstDash val="solid"/>
          </a:ln>
        </p:spPr>
      </p:sp>
      <p:sp>
        <p:nvSpPr>
          <p:cNvPr id="3" name="Shape 1"/>
          <p:cNvSpPr/>
          <p:nvPr/>
        </p:nvSpPr>
        <p:spPr>
          <a:xfrm>
            <a:off x="9372600" y="2606040"/>
            <a:ext cx="1737360" cy="1737360"/>
          </a:xfrm>
          <a:prstGeom prst="ellipse">
            <a:avLst/>
          </a:prstGeom>
          <a:solidFill>
            <a:srgbClr val="D4AF37"/>
          </a:solidFill>
          <a:ln w="12700">
            <a:solidFill>
              <a:srgbClr val="D4AF37"/>
            </a:solidFill>
            <a:prstDash val="solid"/>
          </a:ln>
        </p:spPr>
      </p:sp>
      <p:pic>
        <p:nvPicPr>
          <p:cNvPr id="4" name="Image 0" descr="preencoded.png">    </p:cNvPr>
          <p:cNvPicPr>
            <a:picLocks noChangeAspect="1"/>
          </p:cNvPicPr>
          <p:nvPr/>
        </p:nvPicPr>
        <p:blipFill>
          <a:blip r:embed="rId1"/>
          <a:stretch>
            <a:fillRect/>
          </a:stretch>
        </p:blipFill>
        <p:spPr>
          <a:xfrm>
            <a:off x="9710928" y="2944368"/>
            <a:ext cx="1060704" cy="1060704"/>
          </a:xfrm>
          <a:prstGeom prst="rect">
            <a:avLst/>
          </a:prstGeom>
        </p:spPr>
      </p:pic>
      <p:sp>
        <p:nvSpPr>
          <p:cNvPr id="5" name="Text 2"/>
          <p:cNvSpPr txBox="1"/>
          <p:nvPr/>
        </p:nvSpPr>
        <p:spPr>
          <a:xfrm>
            <a:off x="457200" y="1280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GM-ADJ-08 COMPLETE</a:t>
            </a:r>
            <a:endParaRPr lang="en-US" sz="1100" dirty="0"/>
          </a:p>
        </p:txBody>
      </p:sp>
      <p:sp>
        <p:nvSpPr>
          <p:cNvPr id="6" name="Text 3"/>
          <p:cNvSpPr txBox="1"/>
          <p:nvPr/>
        </p:nvSpPr>
        <p:spPr>
          <a:xfrm>
            <a:off x="457200" y="1691640"/>
            <a:ext cx="7315200" cy="914400"/>
          </a:xfrm>
          <a:prstGeom prst="rect">
            <a:avLst/>
          </a:prstGeom>
          <a:noFill/>
          <a:ln/>
        </p:spPr>
        <p:txBody>
          <a:bodyPr wrap="square" lIns="0" tIns="0" rIns="0" bIns="0" rtlCol="0" anchor="ctr"/>
          <a:lstStyle/>
          <a:p>
            <a:pPr rtl="1" algn="l" indent="0" marL="0">
              <a:buNone/>
            </a:pPr>
            <a:r>
              <a:rPr lang="ar-SA" altLang="en-US" sz="4000" b="1" dirty="0">
                <a:solidFill>
                  <a:srgbClr val="FFFFFF"/>
                </a:solidFill>
                <a:latin typeface="Amiri" pitchFamily="2" charset="-78"/>
                <a:ea typeface="Amiri" pitchFamily="2" charset="-78"/>
                <a:cs typeface="Amiri" pitchFamily="2" charset="-78"/>
              </a:rPr>
              <a:t>أَحْسَنْتُمْ! إِلَى اللِّقَاءِ</a:t>
            </a:r>
            <a:endParaRPr lang="ar-SA" sz="4000" dirty="0"/>
          </a:p>
        </p:txBody>
      </p:sp>
      <p:sp>
        <p:nvSpPr>
          <p:cNvPr id="7" name="Text 4"/>
          <p:cNvSpPr txBox="1"/>
          <p:nvPr/>
        </p:nvSpPr>
        <p:spPr>
          <a:xfrm>
            <a:off x="457200" y="2606040"/>
            <a:ext cx="7315200" cy="411480"/>
          </a:xfrm>
          <a:prstGeom prst="rect">
            <a:avLst/>
          </a:prstGeom>
          <a:noFill/>
          <a:ln/>
        </p:spPr>
        <p:txBody>
          <a:bodyPr wrap="square" lIns="0" tIns="0" rIns="0" bIns="0" rtlCol="0" anchor="ctr"/>
          <a:lstStyle/>
          <a:p>
            <a:pPr algn="l" indent="0" marL="0">
              <a:buNone/>
            </a:pPr>
            <a:r>
              <a:rPr lang="en-US" sz="1600" i="1" dirty="0">
                <a:solidFill>
                  <a:srgbClr val="C6D2E6"/>
                </a:solidFill>
                <a:latin typeface="Calibri" pitchFamily="34" charset="0"/>
                <a:cs typeface="Amiri" pitchFamily="2" charset="-78"/>
              </a:rPr>
              <a:t>Well done — see you next lesson.</a:t>
            </a:r>
            <a:endParaRPr lang="en-US" sz="1600" dirty="0"/>
          </a:p>
        </p:txBody>
      </p:sp>
      <p:sp>
        <p:nvSpPr>
          <p:cNvPr id="8" name="Text 5"/>
          <p:cNvSpPr txBox="1"/>
          <p:nvPr/>
        </p:nvSpPr>
        <p:spPr>
          <a:xfrm>
            <a:off x="457200" y="3566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NEXT LESSON</a:t>
            </a:r>
            <a:endParaRPr lang="en-US" sz="1100" dirty="0"/>
          </a:p>
        </p:txBody>
      </p:sp>
      <p:sp>
        <p:nvSpPr>
          <p:cNvPr id="9" name="Text 6"/>
          <p:cNvSpPr txBox="1"/>
          <p:nvPr/>
        </p:nvSpPr>
        <p:spPr>
          <a:xfrm>
            <a:off x="457200" y="3886200"/>
            <a:ext cx="7315200" cy="548640"/>
          </a:xfrm>
          <a:prstGeom prst="rect">
            <a:avLst/>
          </a:prstGeom>
          <a:noFill/>
          <a:ln/>
        </p:spPr>
        <p:txBody>
          <a:bodyPr wrap="square" lIns="0" tIns="0" rIns="0" bIns="0" rtlCol="0" anchor="ctr"/>
          <a:lstStyle/>
          <a:p>
            <a:pPr algn="l" indent="0" marL="0">
              <a:buNone/>
            </a:pPr>
            <a:r>
              <a:rPr lang="en-US" sz="2800" b="1" dirty="0">
                <a:solidFill>
                  <a:srgbClr val="FFFFFF"/>
                </a:solidFill>
                <a:latin typeface="Cambria" pitchFamily="34" charset="0"/>
                <a:cs typeface="Amiri" pitchFamily="2" charset="-78"/>
              </a:rPr>
              <a:t>GM-ADJ-09 · Nisba Adjectives</a:t>
            </a:r>
            <a:endParaRPr lang="en-US" sz="2800" dirty="0"/>
          </a:p>
        </p:txBody>
      </p:sp>
      <p:sp>
        <p:nvSpPr>
          <p:cNvPr id="10" name="Text 7"/>
          <p:cNvSpPr txBox="1"/>
          <p:nvPr/>
        </p:nvSpPr>
        <p:spPr>
          <a:xfrm>
            <a:off x="457200" y="4434840"/>
            <a:ext cx="7315200" cy="548640"/>
          </a:xfrm>
          <a:prstGeom prst="rect">
            <a:avLst/>
          </a:prstGeom>
          <a:noFill/>
          <a:ln/>
        </p:spPr>
        <p:txBody>
          <a:bodyPr wrap="square" lIns="0" tIns="0" rIns="0" bIns="0" rtlCol="0" anchor="ctr"/>
          <a:lstStyle/>
          <a:p>
            <a:pPr rtl="1" algn="l" indent="0" marL="0">
              <a:buNone/>
            </a:pPr>
            <a:r>
              <a:rPr lang="ar-SA" altLang="en-US" sz="2400" b="1" dirty="0">
                <a:solidFill>
                  <a:srgbClr val="D4AF37"/>
                </a:solidFill>
                <a:latin typeface="Amiri" pitchFamily="2" charset="-78"/>
                <a:ea typeface="Amiri" pitchFamily="2" charset="-78"/>
                <a:cs typeface="Amiri" pitchFamily="2" charset="-78"/>
              </a:rPr>
              <a:t>صِفَاتُ النِّسْبَةِ</a:t>
            </a:r>
            <a:endParaRPr lang="ar-SA" sz="2400" dirty="0"/>
          </a:p>
        </p:txBody>
      </p:sp>
      <p:sp>
        <p:nvSpPr>
          <p:cNvPr id="11" name="Text 8"/>
          <p:cNvSpPr txBox="1"/>
          <p:nvPr/>
        </p:nvSpPr>
        <p:spPr>
          <a:xfrm>
            <a:off x="457200" y="5303520"/>
            <a:ext cx="7315200" cy="365760"/>
          </a:xfrm>
          <a:prstGeom prst="rect">
            <a:avLst/>
          </a:prstGeom>
          <a:noFill/>
          <a:ln/>
        </p:spPr>
        <p:txBody>
          <a:bodyPr wrap="square" lIns="0" tIns="0" rIns="0" bIns="0" rtlCol="0" anchor="ctr"/>
          <a:lstStyle/>
          <a:p>
            <a:pPr algn="l" indent="0" marL="0">
              <a:buNone/>
            </a:pPr>
            <a:r>
              <a:rPr lang="en-US" sz="1300" b="1" dirty="0">
                <a:solidFill>
                  <a:srgbClr val="FFFFFF"/>
                </a:solidFill>
                <a:latin typeface="Calibri" pitchFamily="34" charset="0"/>
                <a:cs typeface="Amiri" pitchFamily="2" charset="-78"/>
              </a:rPr>
              <a:t>Remember: the yāʾ hides behind -un / -in (ghālin) · it comes back with al- (al-ghālī), with -an (ghāliyan) and before </a:t>
            </a:r>
            <a:pPr algn="l" indent="0" marL="0">
              <a:buNone/>
            </a:pPr>
            <a:r>
              <a:rPr lang="ar-SA" altLang="en-US" sz="1700" b="1" dirty="0">
                <a:solidFill>
                  <a:srgbClr val="FFFFFF"/>
                </a:solidFill>
                <a:latin typeface="Amiri" pitchFamily="2" charset="-78"/>
                <a:ea typeface="Amiri" pitchFamily="2" charset="-78"/>
                <a:cs typeface="Amiri" pitchFamily="2" charset="-78"/>
              </a:rPr>
              <a:t>ة</a:t>
            </a:r>
            <a:pPr algn="l" indent="0" marL="0">
              <a:buNone/>
            </a:pPr>
            <a:r>
              <a:rPr lang="en-US" sz="1300" b="1" dirty="0">
                <a:solidFill>
                  <a:srgbClr val="FFFFFF"/>
                </a:solidFill>
                <a:latin typeface="Calibri" pitchFamily="34" charset="0"/>
                <a:cs typeface="Amiri" pitchFamily="2" charset="-78"/>
              </a:rPr>
              <a:t> (ghāliya).</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Amiri" pitchFamily="2" charset="-78"/>
        <a:cs typeface="Amiri" pitchFamily="2" charset="-78"/>
        <a:font script="Arab" typeface="Amiri"/>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Amiri" pitchFamily="2" charset="-78"/>
        <a:cs typeface="Amiri" pitchFamily="2" charset="-78"/>
        <a:font script="Arab" typeface="Amiri"/>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34</Slides>
  <Notes>34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34</vt:i4>
      </vt:variant>
    </vt:vector>
  </HeadingPairs>
  <TitlesOfParts>
    <vt:vector size="3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vector>
  </TitlesOfParts>
  <Company>Al Madina Online School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GM-ADJ-08 · Defective Adjectives</dc:title>
  <dc:subject>PptxGenJS Presentation</dc:subject>
  <dc:creator>Al Madina Online School · Arabic Department</dc:creator>
  <cp:lastModifiedBy>Al Madina Online School · Arabic Department</cp:lastModifiedBy>
  <cp:revision>1</cp:revision>
  <dcterms:created xsi:type="dcterms:W3CDTF">2026-10-11T06:42:03Z</dcterms:created>
  <dcterms:modified xsi:type="dcterms:W3CDTF">2026-10-11T06:42:03Z</dcterms:modified>
</cp:coreProperties>
</file>